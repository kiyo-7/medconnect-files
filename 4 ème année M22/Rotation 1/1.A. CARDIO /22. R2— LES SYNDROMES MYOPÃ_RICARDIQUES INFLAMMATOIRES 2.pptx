
<file path=[Content_Types].xml><?xml version="1.0" encoding="utf-8"?>
<Types xmlns="http://schemas.openxmlformats.org/package/2006/content-types">
  <Default Extension="rels" ContentType="application/vnd.openxmlformats-package.relationships+xml"/>
  <Default Extension="xml" ContentType="application/xml"/>
  <Default Extension="gif" ContentType="image/gif"/>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16.xml" ContentType="application/vnd.openxmlformats-officedocument.presentationml.notes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19.xml" ContentType="application/vnd.openxmlformats-officedocument.presentationml.slide+xml"/>
  <Override PartName="/ppt/notesSlides/notesSlide18.xml" ContentType="application/vnd.openxmlformats-officedocument.presentationml.notesSlide+xml"/>
  <Override PartName="/ppt/slides/slide20.xml" ContentType="application/vnd.openxmlformats-officedocument.presentationml.slide+xml"/>
  <Override PartName="/ppt/notesSlides/notesSlide19.xml" ContentType="application/vnd.openxmlformats-officedocument.presentationml.notesSlide+xml"/>
  <Override PartName="/ppt/slides/slide21.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24.xml" ContentType="application/vnd.openxmlformats-officedocument.presentationml.notesSlide+xml"/>
  <Override PartName="/ppt/slides/slide26.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26.xml" ContentType="application/vnd.openxmlformats-officedocument.presentationml.notesSlide+xml"/>
  <Override PartName="/ppt/slides/slide28.xml" ContentType="application/vnd.openxmlformats-officedocument.presentationml.slide+xml"/>
  <Override PartName="/ppt/notesSlides/notesSlide27.xml" ContentType="application/vnd.openxmlformats-officedocument.presentationml.notesSlide+xml"/>
  <Override PartName="/ppt/slides/slide29.xml" ContentType="application/vnd.openxmlformats-officedocument.presentationml.slide+xml"/>
  <Override PartName="/ppt/notesSlides/notesSlide28.xml" ContentType="application/vnd.openxmlformats-officedocument.presentationml.notesSlide+xml"/>
  <Override PartName="/ppt/slides/slide30.xml" ContentType="application/vnd.openxmlformats-officedocument.presentationml.slide+xml"/>
  <Override PartName="/ppt/notesSlides/notesSlide29.xml" ContentType="application/vnd.openxmlformats-officedocument.presentationml.notesSlide+xml"/>
  <Override PartName="/ppt/slides/slide31.xml" ContentType="application/vnd.openxmlformats-officedocument.presentationml.slide+xml"/>
  <Override PartName="/ppt/notesSlides/notesSlide30.xml" ContentType="application/vnd.openxmlformats-officedocument.presentationml.notesSlide+xml"/>
  <Override PartName="/ppt/slides/slide32.xml" ContentType="application/vnd.openxmlformats-officedocument.presentationml.slide+xml"/>
  <Override PartName="/ppt/notesSlides/notesSlide31.xml" ContentType="application/vnd.openxmlformats-officedocument.presentationml.notesSlide+xml"/>
  <Override PartName="/ppt/slides/slide33.xml" ContentType="application/vnd.openxmlformats-officedocument.presentationml.slide+xml"/>
  <Override PartName="/ppt/notesSlides/notesSlide32.xml" ContentType="application/vnd.openxmlformats-officedocument.presentationml.notesSlide+xml"/>
  <Override PartName="/ppt/slides/slide34.xml" ContentType="application/vnd.openxmlformats-officedocument.presentationml.slide+xml"/>
  <Override PartName="/ppt/notesSlides/notesSlide33.xml" ContentType="application/vnd.openxmlformats-officedocument.presentationml.notesSlide+xml"/>
  <Override PartName="/ppt/slides/slide35.xml" ContentType="application/vnd.openxmlformats-officedocument.presentationml.slide+xml"/>
  <Override PartName="/ppt/notesSlides/notesSlide34.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notesSlides/notesSlide35.xml" ContentType="application/vnd.openxmlformats-officedocument.presentationml.notesSlide+xml"/>
  <Override PartName="/ppt/slides/slide38.xml" ContentType="application/vnd.openxmlformats-officedocument.presentationml.slide+xml"/>
  <Override PartName="/ppt/notesSlides/notesSlide36.xml" ContentType="application/vnd.openxmlformats-officedocument.presentationml.notesSlide+xml"/>
  <Override PartName="/ppt/slides/slide39.xml" ContentType="application/vnd.openxmlformats-officedocument.presentationml.slide+xml"/>
  <Override PartName="/ppt/notesSlides/notesSlide37.xml" ContentType="application/vnd.openxmlformats-officedocument.presentationml.notesSlide+xml"/>
  <Override PartName="/ppt/slides/slide40.xml" ContentType="application/vnd.openxmlformats-officedocument.presentationml.slide+xml"/>
  <Override PartName="/ppt/slides/slide41.xml" ContentType="application/vnd.openxmlformats-officedocument.presentationml.slide+xml"/>
  <Override PartName="/ppt/notesSlides/notesSlide38.xml" ContentType="application/vnd.openxmlformats-officedocument.presentationml.notesSlide+xml"/>
  <Override PartName="/ppt/slides/slide42.xml" ContentType="application/vnd.openxmlformats-officedocument.presentationml.slide+xml"/>
  <Override PartName="/ppt/notesSlides/notesSlide39.xml" ContentType="application/vnd.openxmlformats-officedocument.presentationml.notesSlide+xml"/>
  <Override PartName="/ppt/slides/slide43.xml" ContentType="application/vnd.openxmlformats-officedocument.presentationml.slide+xml"/>
  <Override PartName="/ppt/notesSlides/notesSlide4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Lst>
  <p:sldSz type="screen4x3" cy="6858000" cx="9144000"/>
  <p:notesSz cx="6858000" cy="9144000"/>
  <p:defaultTextStyle>
    <a:defPPr>
      <a:defRPr lang="fr-FR"/>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FFCF37"/>
    <a:srgbClr val="800000"/>
    <a:srgbClr val="FF9900"/>
    <a:srgbClr val="006600"/>
    <a:srgbClr val="FF5050"/>
    <a:srgbClr val="339966"/>
    <a:srgbClr val="99FF99"/>
    <a:srgbClr val="CCCCFF"/>
  </p:clrMru>
</p:presentationPr>
</file>

<file path=ppt/tableStyles.xml><?xml version="1.0" encoding="utf-8"?>
<a:tblStyleLst xmlns:a="http://schemas.openxmlformats.org/drawingml/2006/main" def="{5C22544A-7EE6-4342-B048-85BDC9FD1C3A}">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Style moyen 3 - Accentuation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rgbClr val="00000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fill>
          <a:solidFill>
            <a:schemeClr val="accent1">
              <a:alpha val="20000"/>
            </a:schemeClr>
          </a:solidFill>
        </a:fill>
      </a:tcStyle>
    </a:band1H>
    <a:band1V>
      <a:tcStyle>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4201" autoAdjust="0"/>
    <p:restoredTop sz="68254" autoAdjust="0"/>
  </p:normalViewPr>
  <p:slideViewPr>
    <p:cSldViewPr>
      <p:cViewPr>
        <p:scale>
          <a:sx n="60" d="100"/>
          <a:sy n="60" d="100"/>
        </p:scale>
        <p:origin x="-776" y="29"/>
      </p:cViewPr>
      <p:guideLst>
        <p:guide orient="horz" pos="2160"/>
        <p:guide pos="2880"/>
      </p:guideLst>
    </p:cSldViewPr>
  </p:slideViewPr>
  <p:outlineViewPr>
    <p:cViewPr>
      <p:scale>
        <a:sx n="33" d="100"/>
        <a:sy n="33" d="100"/>
      </p:scale>
      <p:origin x="35" y="2904"/>
    </p:cViewPr>
  </p:outlineViewPr>
  <p:notesTextViewPr>
    <p:cViewPr>
      <p:scale>
        <a:sx n="100" d="100"/>
        <a:sy n="100" d="100"/>
      </p:scale>
      <p:origin x="0" y="0"/>
    </p:cViewPr>
  </p:notesTextViewPr>
  <p:sorterViewPr>
    <p:cViewPr>
      <p:scale>
        <a:sx n="40" d="100"/>
        <a:sy n="40" d="100"/>
      </p:scale>
      <p:origin x="0" y="0"/>
    </p:cViewPr>
  </p:sorterViewPr>
  <p:notesViewPr>
    <p:cSldViewPr>
      <p:cViewPr>
        <p:scale>
          <a:sx n="110" d="100"/>
          <a:sy n="110" d="100"/>
        </p:scale>
        <p:origin x="-570" y="2621"/>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tableStyles" Target="tableStyles.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91" name=""/>
        <p:cNvGrpSpPr/>
        <p:nvPr/>
      </p:nvGrpSpPr>
      <p:grpSpPr>
        <a:xfrm>
          <a:off x="0" y="0"/>
          <a:ext cx="0" cy="0"/>
          <a:chOff x="0" y="0"/>
          <a:chExt cx="0" cy="0"/>
        </a:xfrm>
      </p:grpSpPr>
      <p:sp>
        <p:nvSpPr>
          <p:cNvPr id="1048915" name="Espace réservé de l'en-tête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fr-FR"/>
          </a:p>
        </p:txBody>
      </p:sp>
      <p:sp>
        <p:nvSpPr>
          <p:cNvPr id="1048916" name="Espace réservé de la date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EE583529-1E0F-47B6-A862-7FC56FEA180A}" type="datetimeFigureOut">
              <a:rPr lang="fr-FR" smtClean="0"/>
              <a:t>30/04/2026</a:t>
            </a:fld>
            <a:endParaRPr lang="fr-FR"/>
          </a:p>
        </p:txBody>
      </p:sp>
      <p:sp>
        <p:nvSpPr>
          <p:cNvPr id="1048917" name="Espace réservé de l'image des diapositives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fr-FR"/>
          </a:p>
        </p:txBody>
      </p:sp>
      <p:sp>
        <p:nvSpPr>
          <p:cNvPr id="1048918" name="Espace réservé des commentaires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1048919" name="Espace réservé du pied de page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fr-FR"/>
          </a:p>
        </p:txBody>
      </p:sp>
      <p:sp>
        <p:nvSpPr>
          <p:cNvPr id="1048920" name="Espace réservé du numéro de diapositive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F267D614-A403-4847-9522-E840C6A8F7A8}" type="slidenum">
              <a:rPr lang="fr-FR" smtClean="0"/>
              <a:t>‹N°›</a:t>
            </a:fld>
            <a:endParaRPr lang="fr-FR"/>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2"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593" name="Espace réservé des commentaires 2"/>
          <p:cNvSpPr>
            <a:spLocks noGrp="1"/>
          </p:cNvSpPr>
          <p:nvPr>
            <p:ph type="body" idx="1"/>
          </p:nvPr>
        </p:nvSpPr>
        <p:spPr bwMode="auto">
          <a:noFill/>
        </p:spPr>
        <p:txBody>
          <a:bodyPr anchor="t" anchorCtr="0" compatLnSpc="1" numCol="1" wrap="square">
            <a:prstTxWarp prst="textNoShape"/>
          </a:bodyPr>
          <a:p>
            <a:pPr eaLnBrk="1" hangingPunct="1">
              <a:spcBef>
                <a:spcPct val="0"/>
              </a:spcBef>
            </a:pPr>
            <a:endParaRPr dirty="0" lang="fr-FR" smtClean="0"/>
          </a:p>
        </p:txBody>
      </p:sp>
      <p:sp>
        <p:nvSpPr>
          <p:cNvPr id="1048594" name="Espace réservé du numéro de diapositive 3"/>
          <p:cNvSpPr>
            <a:spLocks noGrp="1"/>
          </p:cNvSpPr>
          <p:nvPr>
            <p:ph type="sldNum" sz="quarter" idx="5"/>
          </p:nvPr>
        </p:nvSpPr>
        <p:spPr bwMode="auto">
          <a:ln>
            <a:miter lim="800000"/>
            <a:headEnd/>
            <a:tailEnd/>
          </a:ln>
        </p:spPr>
        <p:txBody>
          <a:bodyPr anchorCtr="0" compatLnSpc="1" numCol="1" wrap="square">
            <a:prstTxWarp prst="textNoShape"/>
          </a:bodyPr>
          <a:p>
            <a:pPr fontAlgn="base">
              <a:spcBef>
                <a:spcPct val="0"/>
              </a:spcBef>
              <a:spcAft>
                <a:spcPct val="0"/>
              </a:spcAft>
            </a:pPr>
            <a:fld id="{CD88A63C-E82C-4FB2-A89B-95B5BB55C7DC}" type="slidenum">
              <a:rPr lang="fr-FR" smtClean="0"/>
              <a:pPr fontAlgn="base">
                <a:spcBef>
                  <a:spcPct val="0"/>
                </a:spcBef>
                <a:spcAft>
                  <a:spcPct val="0"/>
                </a:spcAft>
              </a:pPr>
              <a:t>1</a:t>
            </a:fld>
            <a:endParaRPr lang="fr-F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06"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07" name="Espace réservé des commentaires 2"/>
          <p:cNvSpPr>
            <a:spLocks noGrp="1"/>
          </p:cNvSpPr>
          <p:nvPr>
            <p:ph type="body" idx="1"/>
          </p:nvPr>
        </p:nvSpPr>
        <p:spPr bwMode="auto">
          <a:noFill/>
        </p:spPr>
        <p:txBody>
          <a:bodyPr anchor="t" anchorCtr="0" compatLnSpc="1" numCol="1" wrap="square">
            <a:prstTxWarp prst="textNoShape"/>
          </a:bodyPr>
          <a:p>
            <a:r>
              <a:rPr b="1" dirty="0" lang="fr-FR" smtClean="0"/>
              <a:t>I- Rappel anatomique</a:t>
            </a:r>
            <a:r>
              <a:rPr dirty="0" lang="fr-FR" smtClean="0"/>
              <a:t>: le péricarde est un sac contenant le cœur et la racine des gros vaisseaux avec les hiles.</a:t>
            </a:r>
          </a:p>
          <a:p>
            <a:r>
              <a:rPr dirty="0" lang="fr-FR" smtClean="0"/>
              <a:t>Ce sac est constitué de 2 feuillets:</a:t>
            </a:r>
          </a:p>
          <a:p>
            <a:r>
              <a:rPr dirty="0" lang="fr-FR" smtClean="0"/>
              <a:t> - un feuillet viscéral ou épicarde, séreux, au contact du myocarde sous jacent.</a:t>
            </a:r>
          </a:p>
          <a:p>
            <a:r>
              <a:rPr dirty="0" lang="fr-FR" smtClean="0"/>
              <a:t> - un feuillet pariétal, fibreux</a:t>
            </a:r>
          </a:p>
          <a:p>
            <a:r>
              <a:rPr dirty="0" lang="fr-FR" smtClean="0"/>
              <a:t>Ils délimitent la cavité péricardique contenant à l’état physiologique 10 à 50 ml de liquide péricardique qui est un </a:t>
            </a:r>
            <a:r>
              <a:rPr dirty="0" lang="fr-FR" err="1" smtClean="0"/>
              <a:t>ultrafiltrat</a:t>
            </a:r>
            <a:r>
              <a:rPr dirty="0" lang="fr-FR" smtClean="0"/>
              <a:t> plasmatique agissant comme un lubrifiant entre les feuillets. </a:t>
            </a:r>
          </a:p>
          <a:p>
            <a:r>
              <a:rPr dirty="0" lang="fr-FR" smtClean="0"/>
              <a:t>Le péricarde à un rôle:</a:t>
            </a:r>
          </a:p>
          <a:p>
            <a:r>
              <a:rPr dirty="0" lang="fr-FR" smtClean="0"/>
              <a:t> - de lubrification du cœur</a:t>
            </a:r>
          </a:p>
          <a:p>
            <a:r>
              <a:rPr dirty="0" lang="fr-FR" smtClean="0"/>
              <a:t> - de fixation du cœur au médiastin</a:t>
            </a:r>
          </a:p>
          <a:p>
            <a:r>
              <a:rPr dirty="0" lang="fr-FR" smtClean="0"/>
              <a:t> - de protection contre les infections, les envahissements néoplasiques et les traumatismes</a:t>
            </a:r>
          </a:p>
        </p:txBody>
      </p:sp>
      <p:sp>
        <p:nvSpPr>
          <p:cNvPr id="1048608"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684F20E7-BCDC-4305-BC80-6EC64750E53A}" type="slidenum">
              <a:rPr lang="fr-FR" smtClean="0"/>
              <a:t>2</a:t>
            </a:fld>
            <a:endParaRPr lang="fr-F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1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19" name="Espace réservé des commentaires 2"/>
          <p:cNvSpPr>
            <a:spLocks noGrp="1"/>
          </p:cNvSpPr>
          <p:nvPr>
            <p:ph type="body" idx="1"/>
          </p:nvPr>
        </p:nvSpPr>
        <p:spPr bwMode="auto">
          <a:noFill/>
        </p:spPr>
        <p:txBody>
          <a:bodyPr anchor="t" anchorCtr="0" compatLnSpc="1" numCol="1" wrap="square">
            <a:prstTxWarp prst="textNoShape"/>
            <a:normAutofit fontScale="92500" lnSpcReduction="10000"/>
          </a:bodyPr>
          <a:p>
            <a:r>
              <a:rPr b="1" dirty="0" lang="fr-FR" smtClean="0"/>
              <a:t>II-Introduction,</a:t>
            </a:r>
            <a:r>
              <a:rPr baseline="0" b="1" dirty="0" lang="fr-FR" smtClean="0"/>
              <a:t> épidémiologie</a:t>
            </a:r>
            <a:r>
              <a:rPr b="1" dirty="0" lang="fr-FR" smtClean="0"/>
              <a:t>:</a:t>
            </a:r>
          </a:p>
          <a:p>
            <a:r>
              <a:rPr dirty="0" lang="fr-FR" smtClean="0"/>
              <a:t>Les myocardites et les péricardites sont des maladies inflammatoires du myocarde et du péricarde avec des possibilités de chevauchement entre les 2 atteintes. Le terme d’IMPS, en anglo-saxon « </a:t>
            </a:r>
            <a:r>
              <a:rPr dirty="0" lang="fr-FR" err="1" smtClean="0"/>
              <a:t>inflammatory</a:t>
            </a:r>
            <a:r>
              <a:rPr dirty="0" lang="fr-FR" smtClean="0"/>
              <a:t> </a:t>
            </a:r>
            <a:r>
              <a:rPr dirty="0" lang="fr-FR" err="1" smtClean="0"/>
              <a:t>myopericardial</a:t>
            </a:r>
            <a:r>
              <a:rPr baseline="0" dirty="0" lang="fr-FR" smtClean="0"/>
              <a:t> syndrome » englobe donc les myocardites isolées, les péricardites isolées et tous les degrés de combinaisons entre les deux. </a:t>
            </a:r>
          </a:p>
          <a:p>
            <a:pPr algn="l" defTabSz="914400" eaLnBrk="1" fontAlgn="auto" hangingPunct="1" indent="0" latinLnBrk="0" lvl="0" marL="0" marR="0" rtl="0">
              <a:lnSpc>
                <a:spcPct val="100000"/>
              </a:lnSpc>
              <a:spcBef>
                <a:spcPts val="0"/>
              </a:spcBef>
              <a:spcAft>
                <a:spcPts val="0"/>
              </a:spcAft>
              <a:buClrTx/>
              <a:buSzTx/>
              <a:buFontTx/>
              <a:buNone/>
            </a:pPr>
            <a:r>
              <a:rPr dirty="0" sz="1200" kern="1200" lang="fr-FR" smtClean="0">
                <a:solidFill>
                  <a:schemeClr val="tx1"/>
                </a:solidFill>
                <a:latin typeface="+mn-lt"/>
                <a:ea typeface="+mn-ea"/>
                <a:cs typeface="+mn-cs"/>
              </a:rPr>
              <a:t>La clinique ne permet souvent pas d’exclure une atteinte myocardique: on parle désormais de syndrome myopéricardique inflammatoire (</a:t>
            </a:r>
            <a:r>
              <a:rPr b="1" dirty="0" sz="1200" kern="1200" lang="fr-FR" smtClean="0">
                <a:solidFill>
                  <a:schemeClr val="tx1"/>
                </a:solidFill>
                <a:latin typeface="+mn-lt"/>
                <a:ea typeface="+mn-ea"/>
                <a:cs typeface="+mn-cs"/>
              </a:rPr>
              <a:t>SMPI</a:t>
            </a:r>
            <a:r>
              <a:rPr dirty="0" sz="1200" kern="1200" lang="fr-FR" smtClean="0">
                <a:solidFill>
                  <a:schemeClr val="tx1"/>
                </a:solidFill>
                <a:latin typeface="+mn-lt"/>
                <a:ea typeface="+mn-ea"/>
                <a:cs typeface="+mn-cs"/>
              </a:rPr>
              <a:t>) jusqu’au</a:t>
            </a:r>
            <a:r>
              <a:rPr baseline="0" dirty="0" sz="1200" kern="1200" lang="fr-FR" smtClean="0">
                <a:solidFill>
                  <a:schemeClr val="tx1"/>
                </a:solidFill>
                <a:latin typeface="+mn-lt"/>
                <a:ea typeface="+mn-ea"/>
                <a:cs typeface="+mn-cs"/>
              </a:rPr>
              <a:t> </a:t>
            </a:r>
            <a:r>
              <a:rPr dirty="0" sz="1200" kern="1200" lang="fr-FR" smtClean="0">
                <a:solidFill>
                  <a:schemeClr val="tx1"/>
                </a:solidFill>
                <a:latin typeface="+mn-lt"/>
                <a:ea typeface="+mn-ea"/>
                <a:cs typeface="+mn-cs"/>
              </a:rPr>
              <a:t>diagnostique définitif.</a:t>
            </a:r>
          </a:p>
          <a:p>
            <a:endParaRPr baseline="0" dirty="0" lang="fr-FR" smtClean="0"/>
          </a:p>
          <a:p>
            <a:r>
              <a:rPr dirty="0" lang="fr-FR" smtClean="0"/>
              <a:t>Les étiologies sont nombreuses et sont classées en 2 groupes:</a:t>
            </a:r>
          </a:p>
          <a:p>
            <a:r>
              <a:rPr dirty="0" lang="fr-FR" smtClean="0"/>
              <a:t> - causes infectieuses</a:t>
            </a:r>
          </a:p>
          <a:p>
            <a:r>
              <a:rPr dirty="0" lang="fr-FR" smtClean="0"/>
              <a:t> - causes non infectieuses </a:t>
            </a:r>
          </a:p>
          <a:p>
            <a:r>
              <a:rPr dirty="0" lang="fr-FR" smtClean="0"/>
              <a:t>Ces situations</a:t>
            </a:r>
            <a:r>
              <a:rPr baseline="0" dirty="0" lang="fr-FR" smtClean="0"/>
              <a:t> peuvent déclencher un IMPS chez des individu génétiquement prédisposés, par un mécanisme inflammatoire ou auto-immun.</a:t>
            </a:r>
          </a:p>
          <a:p>
            <a:endParaRPr dirty="0" lang="ar-DZ" smtClean="0"/>
          </a:p>
          <a:p>
            <a:r>
              <a:rPr dirty="0" lang="fr-FR" smtClean="0"/>
              <a:t>La conduite</a:t>
            </a:r>
            <a:r>
              <a:rPr baseline="0" dirty="0" lang="fr-FR" smtClean="0"/>
              <a:t> diagnostique doit être personnalisée et adaptée à la sévérité de la présentation clinique, et guidée par le symptôme clinique dominant, la réponse au traitement, l’évaluation du risque individuel de chaque patient. </a:t>
            </a:r>
          </a:p>
          <a:p>
            <a:pPr>
              <a:buFontTx/>
              <a:buChar char="-"/>
            </a:pPr>
            <a:endParaRPr dirty="0" lang="fr-FR" smtClean="0"/>
          </a:p>
          <a:p>
            <a:r>
              <a:rPr dirty="0" lang="fr-FR" smtClean="0"/>
              <a:t>Une imagerie multimodale (téléthorax, ECG, échocardiographie</a:t>
            </a:r>
            <a:r>
              <a:rPr baseline="0" dirty="0" lang="fr-FR" smtClean="0"/>
              <a:t> avec étude du strain myocardique</a:t>
            </a:r>
            <a:r>
              <a:rPr dirty="0" lang="fr-FR" smtClean="0"/>
              <a:t>, scanner et IRM) est, par ailleurs, indispensable pour la stratégie diagnostique, et pour la conduite du traitement qui nécessite le suivi des paramètres cliniques et para cliniques initialement perturbés.</a:t>
            </a:r>
          </a:p>
          <a:p>
            <a:r>
              <a:rPr dirty="0" lang="fr-FR" smtClean="0"/>
              <a:t>L’IRM occupe désormais</a:t>
            </a:r>
            <a:r>
              <a:rPr baseline="0" dirty="0" lang="fr-FR" smtClean="0"/>
              <a:t> une place importante pour le diagnostic ce qui a limité les indications de la biopsie endomyocardique à des situations particulières: myocardite fulminante, myocardites compliquées. Elle est également indiquée pour le suivi des patients (guérison, complications).</a:t>
            </a:r>
            <a:endParaRPr dirty="0" lang="fr-FR" smtClean="0"/>
          </a:p>
          <a:p>
            <a:endParaRPr dirty="0" lang="fr-FR" noProof="0" smtClean="0">
              <a:latin typeface="+mn-lt"/>
            </a:endParaRPr>
          </a:p>
          <a:p>
            <a:r>
              <a:rPr dirty="0" lang="fr-FR" smtClean="0"/>
              <a:t>Le but principal du traitement est de réduire</a:t>
            </a:r>
            <a:r>
              <a:rPr baseline="0" dirty="0" lang="fr-FR" smtClean="0"/>
              <a:t> les symptômes et de prévenir les complications, en particuliers les récidives et la mortalité dans les formes compliquées. Le repos est un volet important du traitement non pharmacologique.</a:t>
            </a:r>
          </a:p>
          <a:p>
            <a:endParaRPr baseline="0" dirty="0" lang="fr-FR" smtClean="0"/>
          </a:p>
          <a:p>
            <a:r>
              <a:rPr baseline="0" b="1" dirty="0" lang="fr-FR" smtClean="0"/>
              <a:t>Epidémiologie:</a:t>
            </a:r>
          </a:p>
          <a:p>
            <a:r>
              <a:rPr baseline="0" b="0" dirty="0" lang="fr-FR" smtClean="0"/>
              <a:t>Les études épidémiologiques des syndromes myopéricardiques inflammatoires sont limitées et réalisées pour la plupart dans des groupes sélectionnés de patients tels que des malades hospitalisés. Elles sous estiment l’incidence et la prévalence réelles de cette maladie.</a:t>
            </a:r>
          </a:p>
          <a:p>
            <a:r>
              <a:rPr baseline="0" b="0" dirty="0" lang="fr-FR" smtClean="0"/>
              <a:t>Ainsi la fréquences des myocardites aigues augmente de 5% à 13% dès lors qu’on fait appel à l’IRM cardiaque face à une douleur pseudo angineuse  avec troponine élevée. </a:t>
            </a:r>
          </a:p>
          <a:p>
            <a:r>
              <a:rPr baseline="0" b="0" dirty="0" lang="fr-FR" smtClean="0"/>
              <a:t>La prévalence serait de 4,2-2,7/100 000 dans la tranche d’âge 35-39 ans, avec une prévalence masculine qui suggère le rôle du facteur hormonal.</a:t>
            </a:r>
          </a:p>
          <a:p>
            <a:r>
              <a:rPr baseline="0" b="0" dirty="0" lang="fr-FR" smtClean="0"/>
              <a:t>L’incidence de la péricardite aigue est estimée à 3-32 cas/100 000-année. Comme pour les myocardites elles est plus souvent diagnostiquée chez les hommes et les sujets jeunes. Une récidive survient dans 20 à 30% des cas après un premiers épisode aigu.</a:t>
            </a:r>
          </a:p>
          <a:p>
            <a:r>
              <a:rPr baseline="0" b="0" dirty="0" lang="fr-FR" smtClean="0"/>
              <a:t>La péricardite aigue est à l’origine de 5% des admissions pour douleur thoracique des services d’urgences. </a:t>
            </a:r>
            <a:endParaRPr b="0" dirty="0" lang="fr-FR" smtClean="0"/>
          </a:p>
        </p:txBody>
      </p:sp>
      <p:sp>
        <p:nvSpPr>
          <p:cNvPr id="104862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970263BC-FE74-4A5A-A9BE-31E027B4F844}" type="slidenum">
              <a:rPr lang="fr-FR" smtClean="0"/>
              <a:t>3</a:t>
            </a:fld>
            <a:endParaRPr dirty="0" lang="fr-F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49"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50" name="Espace réservé des commentaires 2"/>
          <p:cNvSpPr>
            <a:spLocks noGrp="1"/>
          </p:cNvSpPr>
          <p:nvPr>
            <p:ph type="body" idx="1"/>
          </p:nvPr>
        </p:nvSpPr>
        <p:spPr bwMode="auto">
          <a:noFill/>
        </p:spPr>
        <p:txBody>
          <a:bodyPr anchor="t" anchorCtr="0" compatLnSpc="1" numCol="1" wrap="square">
            <a:prstTxWarp prst="textNoShape"/>
            <a:normAutofit fontScale="92500" lnSpcReduction="10000"/>
          </a:bodyPr>
          <a:p>
            <a:r>
              <a:rPr b="1" dirty="0" lang="fr-FR" smtClean="0"/>
              <a:t>III- Etiologies:</a:t>
            </a:r>
            <a:r>
              <a:rPr dirty="0" lang="fr-FR" smtClean="0"/>
              <a:t> </a:t>
            </a:r>
          </a:p>
          <a:p>
            <a:r>
              <a:rPr dirty="0" lang="fr-FR" smtClean="0"/>
              <a:t>Myocardites et péricardites partagent des étiologies similaires. selon une classification simple elles sont soit de cause infectieuse soit de cause non infectieuse</a:t>
            </a:r>
            <a:r>
              <a:rPr baseline="0" dirty="0" lang="fr-FR" smtClean="0"/>
              <a:t> et  peuvent déclencher un SIMP en cas de prédisposition génétique. </a:t>
            </a:r>
          </a:p>
          <a:p>
            <a:r>
              <a:rPr baseline="0" dirty="0" lang="fr-FR" smtClean="0"/>
              <a:t> </a:t>
            </a:r>
            <a:r>
              <a:rPr baseline="0" b="1" dirty="0" lang="fr-FR" smtClean="0">
                <a:solidFill>
                  <a:srgbClr val="FF0000"/>
                </a:solidFill>
              </a:rPr>
              <a:t>&gt;</a:t>
            </a:r>
            <a:r>
              <a:rPr baseline="0" dirty="0" lang="fr-FR" smtClean="0"/>
              <a:t> Les causes infectieuses des myocardites sont le plus souvent d’origine virale: entérovirus, adénovirus, parvovirus, herpes virus, grippe et coronavirus. </a:t>
            </a:r>
          </a:p>
          <a:p>
            <a:r>
              <a:rPr baseline="0" dirty="0" lang="fr-FR" smtClean="0"/>
              <a:t> </a:t>
            </a:r>
            <a:r>
              <a:rPr baseline="0" b="1" dirty="0" lang="fr-FR" smtClean="0"/>
              <a:t>&gt;</a:t>
            </a:r>
            <a:r>
              <a:rPr baseline="0" dirty="0" lang="fr-FR" smtClean="0"/>
              <a:t> Les étiologies non infectieuses comprennent les maladies de système, les désordres auto immuns (lupus systémique, polyarthrite rhumatoïde, sclérodermie, sarcoïdose, myocardite à éosinophile, ainsi que la radiothérapie thoracique, etc..), les toxiques cardiaques (alcool et certaines chimiothérapies), les myocardites induites par les inhibiteurs des check-points immunitaires utilisés dans le traitement de certains cancers.</a:t>
            </a:r>
          </a:p>
          <a:p>
            <a:r>
              <a:rPr baseline="0" dirty="0" lang="fr-FR" smtClean="0"/>
              <a:t>  Les étiologies des péricardites dépendent largement du contexte </a:t>
            </a:r>
            <a:r>
              <a:rPr dirty="0" lang="fr-FR" smtClean="0"/>
              <a:t>épidémiologique, de la population à laquelle appartient le patient et de la présentation clinique. Ainsi les formes idiopathiques et virales sont les plus fréquentes dans les pays développés, alors que la tuberculose est le plus fréquemment en cause dans les</a:t>
            </a:r>
            <a:r>
              <a:rPr baseline="0" dirty="0" lang="fr-FR" smtClean="0"/>
              <a:t> </a:t>
            </a:r>
            <a:r>
              <a:rPr dirty="0" lang="fr-FR" smtClean="0"/>
              <a:t>pays en voie de développement, où elle peut être également associée au virus VIH.</a:t>
            </a:r>
          </a:p>
          <a:p>
            <a:r>
              <a:rPr baseline="0" dirty="0" lang="fr-FR" smtClean="0"/>
              <a:t> Les formes post procédures interventionnelles et post chirurgicales sont en augmentation (plus de procédures chez les sujets âgés). </a:t>
            </a:r>
            <a:endParaRPr dirty="0" lang="fr-FR" smtClean="0"/>
          </a:p>
          <a:p>
            <a:r>
              <a:rPr dirty="0" lang="fr-FR" smtClean="0"/>
              <a:t>Les néoplasies primitives péricardiques, en particulier le mésothélium, sont rares; le plus souvent il s’agit de localisations métastatiques ayant pour pôle primitif le sein, le poumon, un lymphome ou une leucose</a:t>
            </a:r>
            <a:r>
              <a:rPr baseline="0" dirty="0" lang="fr-FR" smtClean="0"/>
              <a:t> à l’origine d’épanchements péricardiques.</a:t>
            </a:r>
            <a:endParaRPr dirty="0" lang="fr-FR" smtClean="0"/>
          </a:p>
          <a:p>
            <a:r>
              <a:rPr dirty="0" lang="fr-FR" smtClean="0"/>
              <a:t>Les antimitotiques peuvent être incriminés avec souvent association d’une atteinte myocardique.</a:t>
            </a:r>
          </a:p>
          <a:p>
            <a:r>
              <a:rPr dirty="0" lang="fr-FR" smtClean="0"/>
              <a:t>5</a:t>
            </a:r>
            <a:r>
              <a:rPr baseline="0" dirty="0" lang="fr-FR" smtClean="0"/>
              <a:t> à 15% des formes récidivantes sont liées à une mutation génétique telle que celle de la fièvre méditerranéenne familiale.</a:t>
            </a:r>
            <a:endParaRPr dirty="0" lang="fr-FR" smtClean="0"/>
          </a:p>
          <a:p>
            <a:r>
              <a:rPr dirty="0" lang="fr-FR" smtClean="0"/>
              <a:t>La dissection de l’aorte peut occasionner un hémopéricarde par fissuration ou rupture de la paroi disséquée dans le péricarde, pouvant être à l’origine de tableau de tamponnade foudroyante.</a:t>
            </a:r>
          </a:p>
          <a:p>
            <a:r>
              <a:rPr dirty="0" lang="fr-FR" smtClean="0"/>
              <a:t>L’insuffisance cardiaque chronique et les HTP quant à elles peuvent être à l’origine d’épanchements péricardiques de type mécanique ou transsudats, dus à un ralentissement du ‘’</a:t>
            </a:r>
            <a:r>
              <a:rPr dirty="0" lang="fr-FR" err="1" smtClean="0"/>
              <a:t>turn</a:t>
            </a:r>
            <a:r>
              <a:rPr dirty="0" lang="fr-FR" smtClean="0"/>
              <a:t> over’’ physiologique du liquide péricardique avec ralentissement de sa réabsorption. </a:t>
            </a:r>
          </a:p>
          <a:p>
            <a:r>
              <a:rPr dirty="0" lang="fr-FR" smtClean="0"/>
              <a:t>Les anticoagulants peuvent favoriser la transformation hémorragique d’un épanchement péricardique préexistant.</a:t>
            </a:r>
          </a:p>
          <a:p>
            <a:endParaRPr dirty="0" lang="fr-FR" smtClean="0"/>
          </a:p>
        </p:txBody>
      </p:sp>
      <p:sp>
        <p:nvSpPr>
          <p:cNvPr id="1048651"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20A5B8A4-88C3-435E-9518-95DA7C79B37A}" type="slidenum">
              <a:rPr lang="fr-FR" smtClean="0"/>
              <a:t>5</a:t>
            </a:fld>
            <a:endParaRPr lang="fr-F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54" name="Espace réservé de l'image des diapositives 1"/>
          <p:cNvSpPr>
            <a:spLocks noChangeAspect="1" noRot="1" noGrp="1"/>
          </p:cNvSpPr>
          <p:nvPr>
            <p:ph type="sldImg"/>
          </p:nvPr>
        </p:nvSpPr>
        <p:spPr/>
      </p:sp>
      <p:sp>
        <p:nvSpPr>
          <p:cNvPr id="1048655" name="Espace réservé des commentaires 2"/>
          <p:cNvSpPr>
            <a:spLocks noGrp="1"/>
          </p:cNvSpPr>
          <p:nvPr>
            <p:ph type="body" idx="1"/>
          </p:nvPr>
        </p:nvSpPr>
        <p:spPr/>
        <p:txBody>
          <a:bodyPr>
            <a:normAutofit/>
          </a:bodyPr>
          <a:p>
            <a:r>
              <a:rPr b="1" dirty="0" lang="fr-FR" smtClean="0"/>
              <a:t>IV-</a:t>
            </a:r>
            <a:r>
              <a:rPr baseline="0" b="1" dirty="0" lang="fr-FR" smtClean="0"/>
              <a:t> </a:t>
            </a:r>
            <a:r>
              <a:rPr b="1" dirty="0" lang="fr-FR" smtClean="0"/>
              <a:t>Symptômes généraux et diagnostic clinique des SMPI, signes d’alerte:</a:t>
            </a:r>
          </a:p>
          <a:p>
            <a:r>
              <a:rPr dirty="0" lang="fr-FR" smtClean="0"/>
              <a:t>La principale difficulté est de</a:t>
            </a:r>
            <a:r>
              <a:rPr baseline="0" dirty="0" lang="fr-FR" smtClean="0"/>
              <a:t> reconnaitre et d’évoquer un SMPI. Les sociétés savantes ont regroupé des signes d’alerte (red flags)</a:t>
            </a:r>
            <a:r>
              <a:rPr dirty="0" lang="fr-FR" smtClean="0"/>
              <a:t> pour les myocardites et les péricardites, destinés à déclencher</a:t>
            </a:r>
            <a:r>
              <a:rPr baseline="0" dirty="0" lang="fr-FR" smtClean="0"/>
              <a:t> la suspicion  clinique chez le médecin</a:t>
            </a:r>
            <a:r>
              <a:rPr dirty="0" lang="fr-FR" smtClean="0"/>
              <a:t>. Ce sont principalement des </a:t>
            </a:r>
            <a:r>
              <a:rPr dirty="0" lang="fr-FR" u="sng" smtClean="0"/>
              <a:t>signes cliniques</a:t>
            </a:r>
            <a:r>
              <a:rPr dirty="0" lang="fr-FR" smtClean="0"/>
              <a:t> accompagnés de </a:t>
            </a:r>
            <a:r>
              <a:rPr dirty="0" lang="fr-FR" u="sng" smtClean="0"/>
              <a:t>marqueurs</a:t>
            </a:r>
            <a:r>
              <a:rPr baseline="0" dirty="0" lang="fr-FR" u="sng" smtClean="0"/>
              <a:t> sérologiques</a:t>
            </a:r>
            <a:r>
              <a:rPr baseline="0" dirty="0" lang="fr-FR" smtClean="0"/>
              <a:t> et/ou d</a:t>
            </a:r>
            <a:r>
              <a:rPr baseline="0" dirty="0" lang="fr-FR" u="sng" smtClean="0"/>
              <a:t>’imagerie</a:t>
            </a:r>
            <a:r>
              <a:rPr baseline="0" dirty="0" lang="fr-FR" smtClean="0"/>
              <a:t>, qui vont conduire à une enquête et permettre un dgc rapide et fiable. Ceci est crucial pour une prise en charge adaptée et personnalisée et pour limiter le risque d’évolution vers les complications. Ces signes d’alerte peuvent être: une douleur thoracique prolongée ou récidivante, troponine élevée, élévation persistante de la CRP, anomalies ECG significatives (sous décalage diffus de ST / PR), BAV, TV), hypotension, insuffisance cardiaque aigue, syncope, épanchement péricardique abondant, antécédents familiaux de maladie auto-immune, grossesse, immunothérapie anticancéreuse…</a:t>
            </a:r>
          </a:p>
          <a:p>
            <a:endParaRPr baseline="0" dirty="0" lang="fr-FR" smtClean="0"/>
          </a:p>
          <a:p>
            <a:r>
              <a:rPr baseline="0" dirty="0" lang="fr-FR" smtClean="0"/>
              <a:t>Le symptôme le plus fréquent des péricardites et des myocardites est la douleur thoracique. Elle peut être pseudo angineuse surtout pour les myocardites, ou de type pleural sensible aux mouvements respiratoires particulièrement pour les péricardites.</a:t>
            </a:r>
          </a:p>
          <a:p>
            <a:r>
              <a:rPr baseline="0" dirty="0" i="0" lang="fr-FR" smtClean="0"/>
              <a:t>Les autres présentations cliniques courantes comportent une dyspnée qui fait craindre une défaillance cardiaque en cas de myocardite, une arythmie, principalement ventriculaire en cas de myocardite, plutôt supraventriculaire pour les péricardites; plus rarement il peut y avoir une syncope.</a:t>
            </a:r>
          </a:p>
          <a:p>
            <a:endParaRPr baseline="0" dirty="0" lang="fr-FR" smtClean="0"/>
          </a:p>
          <a:p>
            <a:r>
              <a:rPr baseline="0" dirty="0" lang="fr-FR" smtClean="0"/>
              <a:t>La conduite diagnostique se basera sur:</a:t>
            </a:r>
          </a:p>
          <a:p>
            <a:pPr>
              <a:buFontTx/>
              <a:buNone/>
            </a:pPr>
            <a:r>
              <a:rPr baseline="0" dirty="0" lang="fr-FR" smtClean="0"/>
              <a:t> </a:t>
            </a:r>
            <a:r>
              <a:rPr baseline="0" b="1" dirty="0" lang="fr-FR" smtClean="0"/>
              <a:t>-</a:t>
            </a:r>
            <a:r>
              <a:rPr baseline="0" dirty="0" lang="fr-FR" smtClean="0"/>
              <a:t> l’historique: contexte infectieux viral respiratoire ou gastro-intestinal, exposition à des toxiques cardiaques (alcool, certaines chimiothérapie), traitements en cours (anticoagulants, inhibiteurs des check point immunitaires..), symptômes récurrents.</a:t>
            </a:r>
          </a:p>
          <a:p>
            <a:pPr>
              <a:buFontTx/>
              <a:buNone/>
            </a:pPr>
            <a:r>
              <a:rPr baseline="0" dirty="0" lang="fr-FR" smtClean="0"/>
              <a:t> </a:t>
            </a:r>
            <a:r>
              <a:rPr baseline="0" b="1" dirty="0" lang="fr-FR" smtClean="0"/>
              <a:t>- </a:t>
            </a:r>
            <a:r>
              <a:rPr baseline="0" dirty="0" lang="fr-FR" smtClean="0"/>
              <a:t>les ATCD personnels et familiaux: ATCD familiaux de SMPI, de cardiomyopathie, de mort subite, de maladies auto-immunes, de maladies inflammatoires systémiques. Rechercher un contage tuberculeux, un contexte de maladie thrombo embolique, des FRCV.</a:t>
            </a:r>
          </a:p>
          <a:p>
            <a:r>
              <a:rPr baseline="0" dirty="0" lang="fr-FR" smtClean="0"/>
              <a:t>  </a:t>
            </a:r>
            <a:r>
              <a:rPr baseline="0" b="1" dirty="0" lang="fr-FR" smtClean="0"/>
              <a:t>- </a:t>
            </a:r>
            <a:r>
              <a:rPr baseline="0" dirty="0" lang="fr-FR" smtClean="0"/>
              <a:t>un examen clinique approfondi: type de symptômes </a:t>
            </a:r>
            <a:r>
              <a:rPr baseline="0" dirty="0" i="1" lang="fr-FR" smtClean="0"/>
              <a:t>(douleur, tableau d’insuffisance cardiaque, palpitations, syncope)</a:t>
            </a:r>
            <a:r>
              <a:rPr baseline="0" dirty="0" i="0" lang="fr-FR" smtClean="0"/>
              <a:t>, </a:t>
            </a:r>
            <a:r>
              <a:rPr baseline="0" dirty="0" lang="fr-FR" smtClean="0"/>
              <a:t>recherche d’une instabilité hémodynamique, signes de tamponnade, </a:t>
            </a:r>
            <a:r>
              <a:rPr baseline="0" dirty="0" i="0" lang="fr-FR" smtClean="0"/>
              <a:t>auscultation d’un frottement.</a:t>
            </a:r>
          </a:p>
          <a:p>
            <a:pPr>
              <a:buFontTx/>
              <a:buNone/>
            </a:pPr>
            <a:r>
              <a:rPr baseline="0" dirty="0" i="0" lang="fr-FR" smtClean="0"/>
              <a:t>  </a:t>
            </a:r>
            <a:r>
              <a:rPr baseline="0" b="1" dirty="0" i="0" lang="fr-FR" smtClean="0"/>
              <a:t>- </a:t>
            </a:r>
            <a:r>
              <a:rPr baseline="0" dirty="0" i="0" lang="fr-FR" smtClean="0"/>
              <a:t>et le recueil de biomarqueurs: de l’inflammation (CRP)</a:t>
            </a:r>
            <a:r>
              <a:rPr baseline="0" dirty="0" lang="fr-FR" smtClean="0"/>
              <a:t>, de l’atteinte myocardique (troponine/CPK-MB) et de l’insuffisance cardiaque (NT-</a:t>
            </a:r>
            <a:r>
              <a:rPr baseline="0" dirty="0" lang="fr-FR" err="1" smtClean="0"/>
              <a:t>proBNP</a:t>
            </a:r>
            <a:r>
              <a:rPr baseline="0" dirty="0" lang="fr-FR" smtClean="0"/>
              <a:t>).</a:t>
            </a:r>
          </a:p>
          <a:p>
            <a:pPr>
              <a:buFontTx/>
              <a:buNone/>
            </a:pPr>
            <a:endParaRPr baseline="0" dirty="0" lang="fr-FR" smtClean="0"/>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la présentation clinique étant souvent une douleur thoracique pseudo angineuse, la première étape sera de trier les patients en procédant à une évaluation des FRCV afin d’éliminer un SCA, et à un bilan d’urgence pour éliminer les autres diagnostics différentiels graves (embolie pulmonaire, dissection aortique) ou des complications (rythmiques, hémodynamiques, évolution chronique).</a:t>
            </a:r>
          </a:p>
          <a:p>
            <a:pPr>
              <a:buFontTx/>
              <a:buNone/>
            </a:pPr>
            <a:endParaRPr baseline="0" dirty="0" lang="fr-FR" smtClean="0"/>
          </a:p>
        </p:txBody>
      </p:sp>
      <p:sp>
        <p:nvSpPr>
          <p:cNvPr id="1048656" name="Espace réservé du numéro de diapositive 3"/>
          <p:cNvSpPr>
            <a:spLocks noGrp="1"/>
          </p:cNvSpPr>
          <p:nvPr>
            <p:ph type="sldNum" sz="quarter" idx="10"/>
          </p:nvPr>
        </p:nvSpPr>
        <p:spPr/>
        <p:txBody>
          <a:bodyPr/>
          <a:p>
            <a:fld id="{F267D614-A403-4847-9522-E840C6A8F7A8}" type="slidenum">
              <a:rPr lang="fr-FR" smtClean="0"/>
              <a:t>6</a:t>
            </a:fld>
            <a:endParaRPr dirty="0"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659" name="Espace réservé de l'image des diapositives 1"/>
          <p:cNvSpPr>
            <a:spLocks noChangeAspect="1" noRot="1" noGrp="1"/>
          </p:cNvSpPr>
          <p:nvPr>
            <p:ph type="sldImg"/>
          </p:nvPr>
        </p:nvSpPr>
        <p:spPr/>
      </p:sp>
      <p:sp>
        <p:nvSpPr>
          <p:cNvPr id="1048660" name="Espace réservé des commentaires 2"/>
          <p:cNvSpPr>
            <a:spLocks noGrp="1"/>
          </p:cNvSpPr>
          <p:nvPr>
            <p:ph type="body" idx="1"/>
          </p:nvPr>
        </p:nvSpPr>
        <p:spPr/>
        <p:txBody>
          <a:bodyPr>
            <a:normAutofit fontScale="47500" lnSpcReduction="20000"/>
          </a:bodyPr>
          <a:p>
            <a:pPr algn="l" defTabSz="914400" eaLnBrk="1" fontAlgn="auto" hangingPunct="1" indent="0" latinLnBrk="0" marL="0" marR="0" rtl="0">
              <a:lnSpc>
                <a:spcPct val="100000"/>
              </a:lnSpc>
              <a:spcBef>
                <a:spcPts val="0"/>
              </a:spcBef>
              <a:spcAft>
                <a:spcPts val="0"/>
              </a:spcAft>
              <a:buClrTx/>
              <a:buSzTx/>
              <a:buFontTx/>
              <a:buNone/>
            </a:pPr>
            <a:r>
              <a:rPr b="1" dirty="0" lang="fr-FR" smtClean="0"/>
              <a:t>V-</a:t>
            </a:r>
            <a:r>
              <a:rPr baseline="0" b="1" dirty="0" lang="fr-FR" smtClean="0"/>
              <a:t> Stratification du risque: </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Dès la suspicion diagnostique (red flags) une stratification du risque doit être faite, avec individualisation de 3 niveau de risque pour les péricardites et les myocardites: élevé, intermédiaire et bas risque.</a:t>
            </a:r>
          </a:p>
          <a:p>
            <a:pPr algn="l" defTabSz="914400" eaLnBrk="1" fontAlgn="auto" hangingPunct="1" indent="0" latinLnBrk="0" marL="0" marR="0" rtl="0">
              <a:lnSpc>
                <a:spcPct val="100000"/>
              </a:lnSpc>
              <a:spcBef>
                <a:spcPts val="0"/>
              </a:spcBef>
              <a:spcAft>
                <a:spcPts val="0"/>
              </a:spcAft>
              <a:buClrTx/>
              <a:buSzTx/>
              <a:buFontTx/>
              <a:buNone/>
            </a:pPr>
            <a:endParaRPr dirty="0" lang="fr-FR" smtClean="0"/>
          </a:p>
          <a:p>
            <a:r>
              <a:rPr dirty="0" lang="fr-FR" smtClean="0"/>
              <a:t>A- Stratification du risque myocardites:</a:t>
            </a:r>
          </a:p>
          <a:p>
            <a:r>
              <a:rPr b="1" dirty="0" lang="fr-FR" smtClean="0"/>
              <a:t>1-</a:t>
            </a:r>
            <a:r>
              <a:rPr baseline="0" b="1" dirty="0" lang="fr-FR" smtClean="0"/>
              <a:t> risque élevé:</a:t>
            </a:r>
          </a:p>
          <a:p>
            <a:r>
              <a:rPr baseline="0" dirty="0" lang="fr-FR" smtClean="0"/>
              <a:t>   a- critères cliniques: </a:t>
            </a:r>
          </a:p>
          <a:p>
            <a:r>
              <a:rPr baseline="0" dirty="0" lang="fr-FR" smtClean="0"/>
              <a:t>       .défaillance cardiaque aigue ou choc cardiogénique,</a:t>
            </a:r>
          </a:p>
          <a:p>
            <a:r>
              <a:rPr baseline="0" dirty="0" lang="fr-FR" smtClean="0"/>
              <a:t>       .dyspnée stade III-IV de la NYHA réfractaire au traitement médical</a:t>
            </a:r>
          </a:p>
          <a:p>
            <a:r>
              <a:rPr baseline="0" dirty="0" lang="fr-FR" smtClean="0"/>
              <a:t>       .arrêt cardiaque ou syncope,</a:t>
            </a:r>
          </a:p>
          <a:p>
            <a:r>
              <a:rPr baseline="0" dirty="0" lang="fr-FR" smtClean="0"/>
              <a:t>       .fibrillation ventriculaire, tachycardie ventriculaire soutenue</a:t>
            </a:r>
          </a:p>
          <a:p>
            <a:r>
              <a:rPr baseline="0" dirty="0" lang="fr-FR" smtClean="0"/>
              <a:t>       .BAV de haut degré</a:t>
            </a:r>
          </a:p>
          <a:p>
            <a:r>
              <a:rPr baseline="0" dirty="0" lang="fr-FR" smtClean="0"/>
              <a:t>   b- critères d’imagerie:</a:t>
            </a:r>
          </a:p>
          <a:p>
            <a:r>
              <a:rPr baseline="0" dirty="0" lang="fr-FR" smtClean="0"/>
              <a:t>       .apparition d’une dysfonction ventriculaire gauche (DVG) avec FEVG&lt;40%</a:t>
            </a:r>
          </a:p>
          <a:p>
            <a:r>
              <a:rPr dirty="0" lang="fr-FR" smtClean="0"/>
              <a:t>       .</a:t>
            </a:r>
            <a:r>
              <a:rPr dirty="0" lang="fr-FR" err="1" smtClean="0"/>
              <a:t>réhaussement</a:t>
            </a:r>
            <a:r>
              <a:rPr baseline="0" dirty="0" lang="fr-FR" smtClean="0"/>
              <a:t> </a:t>
            </a:r>
            <a:r>
              <a:rPr dirty="0" lang="fr-FR" smtClean="0"/>
              <a:t>tardif étendu après injection</a:t>
            </a:r>
            <a:r>
              <a:rPr baseline="0" dirty="0" lang="fr-FR" smtClean="0"/>
              <a:t> de Gadolinium </a:t>
            </a:r>
            <a:r>
              <a:rPr dirty="0" lang="fr-FR" smtClean="0"/>
              <a:t>à l’IRM cardiaque</a:t>
            </a:r>
          </a:p>
          <a:p>
            <a:r>
              <a:rPr dirty="0" lang="fr-FR" smtClean="0"/>
              <a:t> </a:t>
            </a:r>
            <a:r>
              <a:rPr b="1" dirty="0" lang="fr-FR" smtClean="0"/>
              <a:t>2- risque intermédiaire:</a:t>
            </a:r>
          </a:p>
          <a:p>
            <a:r>
              <a:rPr b="1" dirty="0" lang="fr-FR" smtClean="0"/>
              <a:t>    </a:t>
            </a:r>
            <a:r>
              <a:rPr b="0" dirty="0" lang="fr-FR" smtClean="0"/>
              <a:t>a- critères cliniques:</a:t>
            </a:r>
          </a:p>
          <a:p>
            <a:r>
              <a:rPr b="0" dirty="0" lang="fr-FR" smtClean="0"/>
              <a:t>        .dyspnée récente ou progressive</a:t>
            </a:r>
          </a:p>
          <a:p>
            <a:r>
              <a:rPr b="0" dirty="0" lang="fr-FR" smtClean="0"/>
              <a:t>        .arythmie ventriculaire non soutenue</a:t>
            </a:r>
          </a:p>
          <a:p>
            <a:r>
              <a:rPr b="0" dirty="0" lang="fr-FR" smtClean="0"/>
              <a:t>        .persistance d’un taux de troponine élevé ou réascension</a:t>
            </a:r>
            <a:r>
              <a:rPr baseline="0" b="0" dirty="0" lang="fr-FR" smtClean="0"/>
              <a:t> du taux</a:t>
            </a:r>
          </a:p>
          <a:p>
            <a:r>
              <a:rPr baseline="0" b="0" dirty="0" lang="fr-FR" smtClean="0"/>
              <a:t>    b- critères d’imagerie:</a:t>
            </a:r>
          </a:p>
          <a:p>
            <a:r>
              <a:rPr baseline="0" b="0" dirty="0" lang="fr-FR" smtClean="0"/>
              <a:t>        .apparition d’une DVG légère avec FEVG 41% à 49% </a:t>
            </a:r>
          </a:p>
          <a:p>
            <a:r>
              <a:rPr baseline="0" b="0" dirty="0" lang="fr-FR" smtClean="0"/>
              <a:t>        .FEVG préservée avec à l’IRM un rehaussement tardif </a:t>
            </a:r>
            <a:r>
              <a:rPr baseline="0" b="0" dirty="0" lang="fr-FR" smtClean="0">
                <a:latin typeface="Calibri"/>
              </a:rPr>
              <a:t>≥</a:t>
            </a:r>
            <a:r>
              <a:rPr baseline="0" b="0" dirty="0" lang="fr-FR" smtClean="0"/>
              <a:t> 2 segments</a:t>
            </a:r>
          </a:p>
          <a:p>
            <a:r>
              <a:rPr baseline="0" b="0" dirty="0" lang="fr-FR" smtClean="0"/>
              <a:t>  </a:t>
            </a:r>
            <a:r>
              <a:rPr baseline="0" b="1" dirty="0" lang="fr-FR" smtClean="0"/>
              <a:t>3- risque bas:</a:t>
            </a:r>
          </a:p>
          <a:p>
            <a:r>
              <a:rPr baseline="0" b="0" dirty="0" lang="fr-FR" smtClean="0"/>
              <a:t>     a- critères cliniques:</a:t>
            </a:r>
            <a:r>
              <a:rPr baseline="0" b="0" dirty="0" lang="fr-FR"/>
              <a:t> </a:t>
            </a:r>
            <a:r>
              <a:rPr baseline="0" b="0" dirty="0" lang="fr-FR" smtClean="0"/>
              <a:t>patient stable ou paucisymtomatique</a:t>
            </a:r>
          </a:p>
          <a:p>
            <a:r>
              <a:rPr baseline="0" b="0" dirty="0" lang="fr-FR" smtClean="0"/>
              <a:t>     b- critères d’imagerie: FEVG préservée sans rehaussement tardif ou sur moins de 2 segments à l’IRM</a:t>
            </a:r>
          </a:p>
          <a:p>
            <a:endParaRPr baseline="0" b="0" dirty="0" lang="fr-FR" smtClean="0"/>
          </a:p>
          <a:p>
            <a:r>
              <a:rPr baseline="0" b="0" dirty="0" lang="fr-FR" smtClean="0"/>
              <a:t>B- Stratification du risque des péricardites:</a:t>
            </a:r>
          </a:p>
          <a:p>
            <a:r>
              <a:rPr baseline="0" b="0" dirty="0" lang="fr-FR" smtClean="0"/>
              <a:t>   </a:t>
            </a:r>
            <a:r>
              <a:rPr baseline="0" b="1" dirty="0" lang="fr-FR" smtClean="0"/>
              <a:t>1- risque élevé:</a:t>
            </a:r>
          </a:p>
          <a:p>
            <a:r>
              <a:rPr baseline="0" b="0" dirty="0" lang="fr-FR" smtClean="0"/>
              <a:t>    a- critères cliniques:</a:t>
            </a:r>
          </a:p>
          <a:p>
            <a:r>
              <a:rPr baseline="0" b="0" dirty="0" lang="fr-FR" smtClean="0"/>
              <a:t>        .signes cliniques et symptômes de tamponnade cardiaque</a:t>
            </a:r>
          </a:p>
          <a:p>
            <a:r>
              <a:rPr baseline="0" b="0" dirty="0" lang="fr-FR" smtClean="0"/>
              <a:t>        .fièvre avec température &gt; 38°C</a:t>
            </a:r>
          </a:p>
          <a:p>
            <a:r>
              <a:rPr baseline="0" b="0" dirty="0" lang="fr-FR" smtClean="0"/>
              <a:t>        .péricardite liquidienne-constrictive</a:t>
            </a:r>
          </a:p>
          <a:p>
            <a:r>
              <a:rPr baseline="0" b="0" dirty="0" lang="fr-FR" smtClean="0"/>
              <a:t>        .échec du traitement anti-inflammatoire</a:t>
            </a:r>
          </a:p>
          <a:p>
            <a:r>
              <a:rPr baseline="0" b="0" dirty="0" lang="fr-FR" smtClean="0"/>
              <a:t>        .péricardite subaigüe </a:t>
            </a:r>
          </a:p>
          <a:p>
            <a:r>
              <a:rPr baseline="0" b="0" dirty="0" lang="fr-FR" smtClean="0"/>
              <a:t>    b- critères d’imagerie:</a:t>
            </a:r>
          </a:p>
          <a:p>
            <a:r>
              <a:rPr baseline="0" b="0" dirty="0" lang="fr-FR" smtClean="0"/>
              <a:t>        .épanchement péricardique de grande abondance (&gt;20mm)</a:t>
            </a:r>
          </a:p>
          <a:p>
            <a:r>
              <a:rPr baseline="0" b="0" dirty="0" lang="fr-FR" smtClean="0"/>
              <a:t>        .tamponnade cardiaque</a:t>
            </a:r>
          </a:p>
          <a:p>
            <a:r>
              <a:rPr baseline="0" b="0" dirty="0" lang="fr-FR" smtClean="0"/>
              <a:t>        .rehaussement tardif péricardique étendu à l’IRM</a:t>
            </a:r>
          </a:p>
          <a:p>
            <a:r>
              <a:rPr baseline="0" b="0" dirty="0" lang="fr-FR" smtClean="0"/>
              <a:t>    </a:t>
            </a:r>
            <a:r>
              <a:rPr baseline="0" b="1" dirty="0" lang="fr-FR" smtClean="0"/>
              <a:t>2- risque intermédiaire:</a:t>
            </a:r>
          </a:p>
          <a:p>
            <a:r>
              <a:rPr baseline="0" b="1" dirty="0" lang="fr-FR" smtClean="0"/>
              <a:t>     </a:t>
            </a:r>
            <a:r>
              <a:rPr baseline="0" b="0" dirty="0" lang="fr-FR" smtClean="0"/>
              <a:t>a- critères cliniques: symptômes et signes cliniques d‘insuffisance cardiaque droite</a:t>
            </a:r>
          </a:p>
          <a:p>
            <a:r>
              <a:rPr baseline="0" b="0" dirty="0" lang="fr-FR" smtClean="0"/>
              <a:t>     b- critères d’imagerie:</a:t>
            </a:r>
          </a:p>
          <a:p>
            <a:r>
              <a:rPr baseline="0" b="0" dirty="0" lang="fr-FR" smtClean="0"/>
              <a:t>         .épanchement péricardique de moyenne à grande abondance (10 à 20 mm)</a:t>
            </a:r>
          </a:p>
          <a:p>
            <a:r>
              <a:rPr baseline="0" b="0" dirty="0" lang="fr-FR" smtClean="0"/>
              <a:t>         .signes de constriction péricardique quelque soit l’abondance de l’épanchement</a:t>
            </a:r>
          </a:p>
          <a:p>
            <a:r>
              <a:rPr baseline="0" b="0" dirty="0" lang="fr-FR" smtClean="0"/>
              <a:t>    </a:t>
            </a:r>
            <a:r>
              <a:rPr baseline="0" b="1" dirty="0" lang="fr-FR" smtClean="0"/>
              <a:t>3- risque bas:</a:t>
            </a:r>
          </a:p>
          <a:p>
            <a:r>
              <a:rPr baseline="0" b="1" dirty="0" lang="fr-FR" smtClean="0"/>
              <a:t>      </a:t>
            </a:r>
            <a:r>
              <a:rPr baseline="0" b="0" dirty="0" lang="fr-FR" smtClean="0"/>
              <a:t>a- critères cliniques: réponse au traitement médical adéquat en 1 à 2 semaines</a:t>
            </a:r>
          </a:p>
          <a:p>
            <a:r>
              <a:rPr baseline="0" b="0" dirty="0" lang="fr-FR" smtClean="0"/>
              <a:t>     b- critères d’imagerie: </a:t>
            </a:r>
          </a:p>
          <a:p>
            <a:r>
              <a:rPr baseline="0" b="0" dirty="0" lang="fr-FR" smtClean="0"/>
              <a:t>         .épanchement absent ou de faible abondance</a:t>
            </a:r>
          </a:p>
          <a:p>
            <a:r>
              <a:rPr baseline="0" b="0" dirty="0" lang="fr-FR" smtClean="0"/>
              <a:t>         .absence de rehaussement tardif à l’IRM</a:t>
            </a:r>
          </a:p>
          <a:p>
            <a:r>
              <a:rPr baseline="0" b="0" dirty="0" lang="fr-FR" smtClean="0"/>
              <a:t>   </a:t>
            </a:r>
          </a:p>
        </p:txBody>
      </p:sp>
      <p:sp>
        <p:nvSpPr>
          <p:cNvPr id="1048661" name="Espace réservé du numéro de diapositive 3"/>
          <p:cNvSpPr>
            <a:spLocks noGrp="1"/>
          </p:cNvSpPr>
          <p:nvPr>
            <p:ph type="sldNum" sz="quarter" idx="10"/>
          </p:nvPr>
        </p:nvSpPr>
        <p:spPr/>
        <p:txBody>
          <a:bodyPr/>
          <a:p>
            <a:fld id="{F267D614-A403-4847-9522-E840C6A8F7A8}" type="slidenum">
              <a:rPr lang="fr-FR" smtClean="0"/>
              <a:t>7</a:t>
            </a:fld>
            <a:endParaRPr dirty="0"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663" name="Espace réservé de l'image des diapositives 1"/>
          <p:cNvSpPr>
            <a:spLocks noChangeAspect="1" noRot="1" noGrp="1"/>
          </p:cNvSpPr>
          <p:nvPr>
            <p:ph type="sldImg"/>
          </p:nvPr>
        </p:nvSpPr>
        <p:spPr/>
      </p:sp>
      <p:sp>
        <p:nvSpPr>
          <p:cNvPr id="1048664" name="Espace réservé des commentaires 2"/>
          <p:cNvSpPr>
            <a:spLocks noGrp="1"/>
          </p:cNvSpPr>
          <p:nvPr>
            <p:ph type="body" idx="1"/>
          </p:nvPr>
        </p:nvSpPr>
        <p:spPr/>
        <p:txBody>
          <a:bodyPr>
            <a:normAutofit/>
          </a:bodyPr>
          <a:p>
            <a:r>
              <a:rPr dirty="0" lang="fr-FR" smtClean="0"/>
              <a:t>C- Classification</a:t>
            </a:r>
            <a:r>
              <a:rPr baseline="0" dirty="0" lang="fr-FR" smtClean="0"/>
              <a:t> et stades </a:t>
            </a:r>
            <a:r>
              <a:rPr dirty="0" lang="fr-FR" smtClean="0"/>
              <a:t>évolutifs:</a:t>
            </a:r>
          </a:p>
          <a:p>
            <a:r>
              <a:rPr dirty="0" lang="fr-FR" smtClean="0"/>
              <a:t>Les</a:t>
            </a:r>
            <a:r>
              <a:rPr baseline="0" dirty="0" lang="fr-FR" smtClean="0"/>
              <a:t> syndromes myopéricardiques inflammatoires sont caractérisés par différents stades évolutifs. L’évolution diffère d’un patient à l’autre. Certains évoluent vers une guérison totale sans séquelles. Des complications peuvent survenir chez d’autres patients conduisant parfois au décès.</a:t>
            </a:r>
          </a:p>
          <a:p>
            <a:r>
              <a:rPr baseline="0" dirty="0" lang="fr-FR" smtClean="0"/>
              <a:t>Une classification clinique commune aux péricardites et aux myocardites est établie dans le but de guider la prise en charge de chaque malade. </a:t>
            </a:r>
            <a:endParaRPr dirty="0" lang="fr-FR"/>
          </a:p>
        </p:txBody>
      </p:sp>
      <p:sp>
        <p:nvSpPr>
          <p:cNvPr id="1048665" name="Espace réservé du numéro de diapositive 3"/>
          <p:cNvSpPr>
            <a:spLocks noGrp="1"/>
          </p:cNvSpPr>
          <p:nvPr>
            <p:ph type="sldNum" sz="quarter" idx="10"/>
          </p:nvPr>
        </p:nvSpPr>
        <p:spPr/>
        <p:txBody>
          <a:bodyPr/>
          <a:p>
            <a:fld id="{F267D614-A403-4847-9522-E840C6A8F7A8}" type="slidenum">
              <a:rPr lang="fr-FR" smtClean="0"/>
              <a:t>8</a:t>
            </a:fld>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66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69" name="Espace réservé des commentaires 2"/>
          <p:cNvSpPr>
            <a:spLocks noGrp="1"/>
          </p:cNvSpPr>
          <p:nvPr>
            <p:ph type="body" idx="1"/>
          </p:nvPr>
        </p:nvSpPr>
        <p:spPr bwMode="auto">
          <a:noFill/>
        </p:spPr>
        <p:txBody>
          <a:bodyPr anchor="t" anchorCtr="0" compatLnSpc="1" numCol="1" wrap="square">
            <a:prstTxWarp prst="textNoShape"/>
          </a:bodyPr>
          <a:p>
            <a:pPr>
              <a:buFontTx/>
              <a:buNone/>
            </a:pPr>
            <a:r>
              <a:rPr b="1" dirty="0" lang="fr-FR" smtClean="0"/>
              <a:t>VI-</a:t>
            </a:r>
            <a:r>
              <a:rPr baseline="0" b="1" dirty="0" lang="fr-FR" smtClean="0"/>
              <a:t> </a:t>
            </a:r>
            <a:r>
              <a:rPr dirty="0" lang="fr-FR" smtClean="0"/>
              <a:t>Examens complémentaires: En cas de suspicion de SMPI le bilan initial comporte systématiquement</a:t>
            </a:r>
            <a:r>
              <a:rPr baseline="0" dirty="0" lang="fr-FR" smtClean="0"/>
              <a:t> </a:t>
            </a:r>
            <a:r>
              <a:rPr dirty="0" lang="fr-FR" smtClean="0"/>
              <a:t>après évaluation</a:t>
            </a:r>
            <a:r>
              <a:rPr baseline="0" dirty="0" lang="fr-FR" smtClean="0"/>
              <a:t> </a:t>
            </a:r>
            <a:r>
              <a:rPr dirty="0" lang="fr-FR" smtClean="0"/>
              <a:t>clinique complète incluant examen physique et historique du malade: </a:t>
            </a:r>
          </a:p>
          <a:p>
            <a:pPr>
              <a:buFontTx/>
              <a:buNone/>
            </a:pPr>
            <a:r>
              <a:rPr dirty="0" lang="fr-FR" smtClean="0"/>
              <a:t> -</a:t>
            </a:r>
            <a:r>
              <a:rPr baseline="0" dirty="0" lang="fr-FR" smtClean="0"/>
              <a:t> </a:t>
            </a:r>
            <a:r>
              <a:rPr dirty="0" lang="fr-FR" smtClean="0"/>
              <a:t>un </a:t>
            </a:r>
            <a:r>
              <a:rPr b="1" dirty="0" lang="fr-FR" smtClean="0"/>
              <a:t>ECG</a:t>
            </a:r>
            <a:r>
              <a:rPr dirty="0" lang="fr-FR" smtClean="0"/>
              <a:t>, </a:t>
            </a:r>
          </a:p>
          <a:p>
            <a:pPr>
              <a:buFontTx/>
              <a:buNone/>
            </a:pPr>
            <a:r>
              <a:rPr dirty="0" lang="fr-FR" smtClean="0"/>
              <a:t> - une </a:t>
            </a:r>
            <a:r>
              <a:rPr b="1" dirty="0" lang="fr-FR" smtClean="0"/>
              <a:t>radiographie du thorax</a:t>
            </a:r>
            <a:r>
              <a:rPr dirty="0" lang="fr-FR" smtClean="0"/>
              <a:t>, </a:t>
            </a:r>
          </a:p>
          <a:p>
            <a:pPr>
              <a:buFontTx/>
              <a:buNone/>
            </a:pPr>
            <a:r>
              <a:rPr dirty="0" lang="fr-FR" smtClean="0"/>
              <a:t> - une </a:t>
            </a:r>
            <a:r>
              <a:rPr b="1" dirty="0" lang="fr-FR" smtClean="0"/>
              <a:t>échocardiographie</a:t>
            </a:r>
            <a:r>
              <a:rPr dirty="0" lang="fr-FR" smtClean="0"/>
              <a:t>, </a:t>
            </a:r>
          </a:p>
          <a:p>
            <a:pPr>
              <a:buFontTx/>
              <a:buNone/>
            </a:pPr>
            <a:r>
              <a:rPr baseline="0" dirty="0" lang="fr-FR" smtClean="0"/>
              <a:t> - une imagerie par résonnance magnétique nucléaire </a:t>
            </a:r>
            <a:r>
              <a:rPr baseline="0" b="1" dirty="0" lang="fr-FR" smtClean="0"/>
              <a:t>(IRM) cardiaque</a:t>
            </a:r>
            <a:r>
              <a:rPr baseline="0" dirty="0" lang="fr-FR" smtClean="0"/>
              <a:t>,</a:t>
            </a:r>
            <a:endParaRPr dirty="0" lang="fr-FR" smtClean="0"/>
          </a:p>
          <a:p>
            <a:pPr>
              <a:buFontTx/>
              <a:buNone/>
            </a:pPr>
            <a:r>
              <a:rPr dirty="0" lang="fr-FR" smtClean="0"/>
              <a:t> - un dosage de la </a:t>
            </a:r>
            <a:r>
              <a:rPr b="1" dirty="0" lang="fr-FR" smtClean="0"/>
              <a:t>CRP: </a:t>
            </a:r>
            <a:r>
              <a:rPr b="0" dirty="0" lang="fr-FR" smtClean="0"/>
              <a:t>c’est un</a:t>
            </a:r>
            <a:r>
              <a:rPr dirty="0" lang="fr-FR" smtClean="0"/>
              <a:t> marqueur</a:t>
            </a:r>
            <a:r>
              <a:rPr baseline="0" dirty="0" lang="fr-FR" smtClean="0"/>
              <a:t> de l’inflammation qui est élevé chez 80% des patients avec péricardite et contribue au diagnostic. Elle aide à guider la durée du traitement anti inflammatoire des péricardites. </a:t>
            </a:r>
            <a:r>
              <a:rPr baseline="0" dirty="0" lang="fr-FR" u="sng" smtClean="0"/>
              <a:t>Un résultat négatif n’exclut pas le diagnostic</a:t>
            </a:r>
            <a:r>
              <a:rPr baseline="0" dirty="0" lang="fr-FR" smtClean="0"/>
              <a:t>.</a:t>
            </a:r>
            <a:endParaRPr dirty="0" lang="fr-FR" smtClean="0"/>
          </a:p>
          <a:p>
            <a:pPr>
              <a:buFontTx/>
              <a:buNone/>
            </a:pPr>
            <a:r>
              <a:rPr dirty="0" lang="fr-FR" smtClean="0"/>
              <a:t> - un dosage de la </a:t>
            </a:r>
            <a:r>
              <a:rPr b="1" dirty="0" lang="fr-FR" smtClean="0"/>
              <a:t>troponine</a:t>
            </a:r>
            <a:r>
              <a:rPr dirty="0" lang="fr-FR" smtClean="0"/>
              <a:t> est nécessaire. elle est élevée en cas</a:t>
            </a:r>
            <a:r>
              <a:rPr baseline="0" dirty="0" lang="fr-FR" smtClean="0"/>
              <a:t> de myocardite particulièrement dans la forme avec douleur pseudo-angineuse. Elle </a:t>
            </a:r>
            <a:r>
              <a:rPr dirty="0" lang="fr-FR" smtClean="0"/>
              <a:t> permet de quantifier la</a:t>
            </a:r>
            <a:r>
              <a:rPr baseline="0" dirty="0" lang="fr-FR" smtClean="0"/>
              <a:t> </a:t>
            </a:r>
            <a:r>
              <a:rPr dirty="0" lang="fr-FR" smtClean="0"/>
              <a:t>sévérité de la myocardite</a:t>
            </a:r>
            <a:r>
              <a:rPr baseline="0" dirty="0" lang="fr-FR" smtClean="0"/>
              <a:t>.</a:t>
            </a:r>
            <a:endParaRPr dirty="0" lang="fr-FR" smtClean="0"/>
          </a:p>
          <a:p>
            <a:pPr>
              <a:buFontTx/>
              <a:buNone/>
            </a:pPr>
            <a:r>
              <a:rPr dirty="0" lang="fr-FR" smtClean="0"/>
              <a:t> - un taux de </a:t>
            </a:r>
            <a:r>
              <a:rPr b="1" dirty="0" lang="fr-FR" smtClean="0"/>
              <a:t>NT-</a:t>
            </a:r>
            <a:r>
              <a:rPr b="1" dirty="0" lang="fr-FR" err="1" smtClean="0"/>
              <a:t>proBNP</a:t>
            </a:r>
            <a:r>
              <a:rPr b="1" dirty="0" lang="fr-FR" smtClean="0"/>
              <a:t> </a:t>
            </a:r>
            <a:r>
              <a:rPr b="0" dirty="0" lang="fr-FR" smtClean="0"/>
              <a:t>est recommandé en cas de suspicion de myocardite;</a:t>
            </a:r>
            <a:r>
              <a:rPr baseline="0" b="0" dirty="0" lang="fr-FR" smtClean="0"/>
              <a:t> il permet de stratifier le risque de défaillance cardiaque initiale et durant le suivi ambulatoire. </a:t>
            </a:r>
            <a:endParaRPr dirty="0" lang="fr-FR" smtClean="0"/>
          </a:p>
          <a:p>
            <a:r>
              <a:rPr dirty="0" lang="fr-FR" smtClean="0"/>
              <a:t> - Une </a:t>
            </a:r>
            <a:r>
              <a:rPr b="1" dirty="0" lang="fr-FR" smtClean="0"/>
              <a:t>NFS</a:t>
            </a:r>
            <a:r>
              <a:rPr dirty="0" lang="fr-FR" smtClean="0"/>
              <a:t> avec taux d’éosinophiles et de  plaquettes et une créatininémie sont aussi souhaitables.</a:t>
            </a:r>
          </a:p>
          <a:p>
            <a:r>
              <a:rPr dirty="0" lang="fr-FR" smtClean="0"/>
              <a:t> - Le bilan thyroïdien peut être utile pour rechercher une éventuelle hypothyroïdie face à un épanchement péricardique sans critères de péricardite aigue. </a:t>
            </a:r>
          </a:p>
          <a:p>
            <a:r>
              <a:rPr dirty="0" lang="fr-FR" smtClean="0"/>
              <a:t> - les sérologies virales ne sont</a:t>
            </a:r>
            <a:r>
              <a:rPr baseline="0" dirty="0" lang="fr-FR" smtClean="0"/>
              <a:t> pas systématiques sauf pour l’hépatite C, la sérologie HIV et la maladie de Lyme.</a:t>
            </a:r>
            <a:endParaRPr dirty="0" lang="fr-FR" smtClean="0"/>
          </a:p>
          <a:p>
            <a:endParaRPr dirty="0" lang="fr-FR" smtClean="0"/>
          </a:p>
          <a:p>
            <a:r>
              <a:rPr dirty="0" lang="fr-FR" smtClean="0"/>
              <a:t> Plus récemment</a:t>
            </a:r>
            <a:r>
              <a:rPr baseline="0" dirty="0" lang="fr-FR" smtClean="0"/>
              <a:t> des</a:t>
            </a:r>
            <a:r>
              <a:rPr b="1" dirty="0" lang="fr-FR" smtClean="0"/>
              <a:t> tests génétiques </a:t>
            </a:r>
            <a:r>
              <a:rPr b="0" dirty="0" lang="fr-FR" smtClean="0"/>
              <a:t>ont été proposés. En effet</a:t>
            </a:r>
            <a:r>
              <a:rPr baseline="0" b="0" dirty="0" lang="fr-FR" smtClean="0"/>
              <a:t> des anomalies touchant les gènes codant pour des protéines desmosomales et sarcomériques pourraient se chevaucher avec des cardiomyopathie héréditaires et avec des myocardites  aigues et récidivantes et conditionner la sévérité de la maladie.</a:t>
            </a:r>
          </a:p>
          <a:p>
            <a:r>
              <a:rPr baseline="0" b="0" dirty="0" lang="fr-FR" smtClean="0"/>
              <a:t>Des péricardites récidivantes ont par ailleurs été associée à des anomalies génétiques causant des maladies auto immunes inflammatoires </a:t>
            </a:r>
            <a:r>
              <a:rPr baseline="0" b="0" dirty="0" lang="fr-FR" err="1" smtClean="0"/>
              <a:t>monogéniques</a:t>
            </a:r>
            <a:r>
              <a:rPr baseline="0" b="0" dirty="0" lang="fr-FR" smtClean="0"/>
              <a:t> (fièvre méditerranéenne familiale, maladie périodique).</a:t>
            </a:r>
          </a:p>
          <a:p>
            <a:r>
              <a:rPr baseline="0" b="0" dirty="0" lang="fr-FR" smtClean="0"/>
              <a:t>Ces tests ne sont à envisager que dans les formes familiales de SMPI, les formes sévères, ou récidivantes.</a:t>
            </a:r>
          </a:p>
          <a:p>
            <a:r>
              <a:rPr baseline="0" b="0" dirty="0" lang="fr-FR" smtClean="0"/>
              <a:t>La biopsie endomyocardique n’est indiquée qu’en cas de myocardite à risque élevé, d’instabilité hémodynamique, et de myocardite à risque intermédiaire ne répondant pas au traitement conventionnel. </a:t>
            </a:r>
            <a:endParaRPr b="1" dirty="0" lang="fr-FR" smtClean="0"/>
          </a:p>
        </p:txBody>
      </p:sp>
      <p:sp>
        <p:nvSpPr>
          <p:cNvPr id="104867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E7FDDE55-ADBE-4DB5-A02D-541F52DB45A4}" type="slidenum">
              <a:rPr lang="fr-FR" smtClean="0"/>
              <a:t>9</a:t>
            </a:fld>
            <a:endParaRPr lang="fr-FR"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84"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85" name="Espace réservé des commentaires 2"/>
          <p:cNvSpPr>
            <a:spLocks noGrp="1"/>
          </p:cNvSpPr>
          <p:nvPr>
            <p:ph type="body" idx="1"/>
          </p:nvPr>
        </p:nvSpPr>
        <p:spPr/>
        <p:txBody>
          <a:bodyPr>
            <a:normAutofit fontScale="25000" lnSpcReduction="20000"/>
          </a:bodyPr>
          <a:p>
            <a:pPr eaLnBrk="1" fontAlgn="auto" hangingPunct="1">
              <a:spcBef>
                <a:spcPts val="0"/>
              </a:spcBef>
              <a:spcAft>
                <a:spcPts val="0"/>
              </a:spcAft>
              <a:buFont typeface="Arial" pitchFamily="34" charset="0"/>
              <a:buChar char="•"/>
            </a:pPr>
            <a:r>
              <a:rPr dirty="0" lang="fr-FR" smtClean="0"/>
              <a:t>ECG: Dans la péricardite aiguë, des ECG répétés montrent dans 20 à 60% des cas l'apparition précoce d'anomalies du segment ST de</a:t>
            </a:r>
            <a:r>
              <a:rPr baseline="0" dirty="0" lang="fr-FR" smtClean="0"/>
              <a:t> type sus décalage diffus concave</a:t>
            </a:r>
            <a:r>
              <a:rPr dirty="0" lang="fr-FR" smtClean="0"/>
              <a:t>. Ils évoquent</a:t>
            </a:r>
            <a:r>
              <a:rPr baseline="0" dirty="0" lang="fr-FR" smtClean="0"/>
              <a:t> une myocardite associée et une inflammation de l’épicarde. </a:t>
            </a:r>
          </a:p>
          <a:p>
            <a:pPr algn="l" defTabSz="914400" eaLnBrk="1" fontAlgn="auto" hangingPunct="1" indent="0" latinLnBrk="0" marL="0" marR="0" rtl="0">
              <a:lnSpc>
                <a:spcPct val="100000"/>
              </a:lnSpc>
              <a:spcBef>
                <a:spcPts val="0"/>
              </a:spcBef>
              <a:spcAft>
                <a:spcPts val="0"/>
              </a:spcAft>
              <a:buClrTx/>
              <a:buSzTx/>
              <a:buFont typeface="Arial" pitchFamily="34" charset="0"/>
              <a:buNone/>
            </a:pPr>
            <a:r>
              <a:rPr baseline="0" dirty="0" lang="fr-FR" smtClean="0"/>
              <a:t> Un sous décalage de ST et des ondes T inversées peuvent également être présents (bien que moins fréquents que dans les SCA) et peuvent être en rapport avec des dégâts myocardiques étendus.</a:t>
            </a:r>
            <a:endParaRPr dirty="0" lang="fr-FR" smtClean="0"/>
          </a:p>
          <a:p>
            <a:pPr eaLnBrk="1" fontAlgn="auto" hangingPunct="1">
              <a:spcBef>
                <a:spcPts val="0"/>
              </a:spcBef>
              <a:spcAft>
                <a:spcPts val="0"/>
              </a:spcAft>
            </a:pPr>
            <a:r>
              <a:rPr dirty="0" lang="fr-FR" smtClean="0"/>
              <a:t>Un diagnostic différentiel avec un STEMI peut se poser au stade de sus décalage du ST;</a:t>
            </a:r>
          </a:p>
          <a:p>
            <a:pPr algn="l" defTabSz="914400" eaLnBrk="1" fontAlgn="auto" hangingPunct="1" indent="0" latinLnBrk="0" marL="0" marR="0" rtl="0">
              <a:lnSpc>
                <a:spcPct val="100000"/>
              </a:lnSpc>
              <a:spcBef>
                <a:spcPts val="0"/>
              </a:spcBef>
              <a:spcAft>
                <a:spcPts val="0"/>
              </a:spcAft>
              <a:buClrTx/>
              <a:buSzTx/>
              <a:buFontTx/>
              <a:buNone/>
            </a:pPr>
            <a:endParaRPr dirty="0" lang="fr-FR" smtClean="0"/>
          </a:p>
          <a:p>
            <a:pPr eaLnBrk="1" fontAlgn="auto" hangingPunct="1">
              <a:spcBef>
                <a:spcPts val="0"/>
              </a:spcBef>
              <a:spcAft>
                <a:spcPts val="0"/>
              </a:spcAft>
            </a:pPr>
            <a:endParaRPr dirty="0" lang="fr-FR" smtClean="0"/>
          </a:p>
        </p:txBody>
      </p:sp>
      <p:sp>
        <p:nvSpPr>
          <p:cNvPr id="1048686"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F5D73914-D1E3-479E-8839-B5B50335C409}" type="slidenum">
              <a:rPr lang="fr-FR" smtClean="0"/>
              <a:t>10</a:t>
            </a:fld>
            <a:endParaRPr lang="fr-F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95"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696" name="Espace réservé des commentaires 2"/>
          <p:cNvSpPr>
            <a:spLocks noGrp="1"/>
          </p:cNvSpPr>
          <p:nvPr>
            <p:ph type="body" idx="1"/>
          </p:nvPr>
        </p:nvSpPr>
        <p:spPr bwMode="auto">
          <a:noFill/>
        </p:spPr>
        <p:txBody>
          <a:bodyPr anchor="t" anchorCtr="0" compatLnSpc="1" numCol="1" wrap="square">
            <a:prstTxWarp prst="textNoShape"/>
          </a:bodyPr>
          <a:p>
            <a:r>
              <a:rPr dirty="0" lang="fr-FR" smtClean="0"/>
              <a:t>Contrairement à l'infarctus du myocarde (IDM), il n'y a pas d’image </a:t>
            </a:r>
            <a:r>
              <a:rPr dirty="0" lang="fr-FR" u="none" smtClean="0"/>
              <a:t>en miroir </a:t>
            </a:r>
            <a:r>
              <a:rPr dirty="0" lang="fr-FR" smtClean="0"/>
              <a:t>du segment ST (sauf en </a:t>
            </a:r>
            <a:r>
              <a:rPr dirty="0" lang="fr-FR" err="1" smtClean="0"/>
              <a:t>aVR</a:t>
            </a:r>
            <a:r>
              <a:rPr dirty="0" lang="fr-FR" smtClean="0"/>
              <a:t> et </a:t>
            </a:r>
            <a:r>
              <a:rPr dirty="0" lang="fr-FR" err="1" smtClean="0"/>
              <a:t>Vl</a:t>
            </a:r>
            <a:r>
              <a:rPr dirty="0" lang="fr-FR" smtClean="0"/>
              <a:t>), ni d'ondes Q de nécrose. Les anomalies de la repolarisation sont diffuses c’est-à-dire non systématisées à un territoire coronaire. </a:t>
            </a:r>
          </a:p>
          <a:p>
            <a:pPr eaLnBrk="1" fontAlgn="auto" hangingPunct="1">
              <a:spcBef>
                <a:spcPts val="0"/>
              </a:spcBef>
              <a:spcAft>
                <a:spcPts val="0"/>
              </a:spcAft>
            </a:pPr>
            <a:r>
              <a:rPr dirty="0" lang="fr-FR" smtClean="0"/>
              <a:t>Un sous décalage diffus de l’intervalle PR est également un signe classique</a:t>
            </a:r>
            <a:r>
              <a:rPr baseline="0" dirty="0" lang="fr-FR" smtClean="0"/>
              <a:t> observé dans les stades précoces.</a:t>
            </a:r>
            <a:endParaRPr dirty="0" lang="fr-FR" smtClean="0"/>
          </a:p>
          <a:p>
            <a:pPr eaLnBrk="1" fontAlgn="auto" hangingPunct="1">
              <a:spcBef>
                <a:spcPts val="0"/>
              </a:spcBef>
              <a:spcAft>
                <a:spcPts val="0"/>
              </a:spcAft>
            </a:pPr>
            <a:endParaRPr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smtClean="0"/>
              <a:t>Un bas voltage des QRS peut être enregistré en cas de péricardite</a:t>
            </a:r>
            <a:r>
              <a:rPr baseline="0" dirty="0" lang="fr-FR" smtClean="0"/>
              <a:t> aigue et/ou de myocardite aigue, en cas d’épanchement abondant ou de lésion myocardique étendue.</a:t>
            </a:r>
          </a:p>
          <a:p>
            <a:pPr algn="l" defTabSz="914400" eaLnBrk="1" fontAlgn="auto" hangingPunct="1" indent="0" latinLnBrk="0" marL="0" marR="0" rtl="0">
              <a:lnSpc>
                <a:spcPct val="100000"/>
              </a:lnSpc>
              <a:spcBef>
                <a:spcPts val="0"/>
              </a:spcBef>
              <a:spcAft>
                <a:spcPts val="0"/>
              </a:spcAft>
              <a:buClrTx/>
              <a:buSzTx/>
              <a:buFontTx/>
              <a:buNone/>
            </a:pPr>
            <a:endParaRPr baseline="0" dirty="0" lang="fr-FR" smtClean="0"/>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L’alternance électrique est attribuée aux mouvement pendulaires du cœur en cas d’épanchement de grande abondance.</a:t>
            </a:r>
          </a:p>
          <a:p>
            <a:pPr algn="l" defTabSz="914400" eaLnBrk="1" fontAlgn="auto" hangingPunct="1" indent="0" latinLnBrk="0" marL="0" marR="0" rtl="0">
              <a:lnSpc>
                <a:spcPct val="100000"/>
              </a:lnSpc>
              <a:spcBef>
                <a:spcPts val="0"/>
              </a:spcBef>
              <a:spcAft>
                <a:spcPts val="0"/>
              </a:spcAft>
              <a:buClrTx/>
              <a:buSzTx/>
              <a:buFontTx/>
              <a:buNone/>
            </a:pPr>
            <a:endParaRPr baseline="0" dirty="0" lang="fr-FR" smtClean="0"/>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Une fibrillation atriale peut survenir en cas de péricardite aigue. Une arythmie ventriculaire est plus fréquente en cas de myocardite. Les troubles conductifs auriculo ventriculaire et intra ventriculaires (BBD) peuvent être associés aux formes sévères.</a:t>
            </a:r>
          </a:p>
          <a:p>
            <a:pPr algn="l" defTabSz="914400" eaLnBrk="1" fontAlgn="auto" hangingPunct="1" indent="0" latinLnBrk="0" marL="0" marR="0" rtl="0">
              <a:lnSpc>
                <a:spcPct val="100000"/>
              </a:lnSpc>
              <a:spcBef>
                <a:spcPts val="0"/>
              </a:spcBef>
              <a:spcAft>
                <a:spcPts val="0"/>
              </a:spcAft>
              <a:buClrTx/>
              <a:buSzTx/>
              <a:buFontTx/>
              <a:buNone/>
            </a:pPr>
            <a:endParaRPr baseline="0"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smtClean="0"/>
              <a:t>Les anomalies ECG sont influencées par le traitement et varient d’un patient à un autre,</a:t>
            </a:r>
            <a:r>
              <a:rPr baseline="0" dirty="0" lang="fr-FR" smtClean="0"/>
              <a:t> et l’aspect ECG peut changer en quelques heures ou quelques jours. </a:t>
            </a:r>
          </a:p>
          <a:p>
            <a:pPr algn="l" defTabSz="914400" eaLnBrk="1" fontAlgn="auto" hangingPunct="1" indent="0" latinLnBrk="0" marL="0" marR="0" rtl="0">
              <a:lnSpc>
                <a:spcPct val="100000"/>
              </a:lnSpc>
              <a:spcBef>
                <a:spcPts val="0"/>
              </a:spcBef>
              <a:spcAft>
                <a:spcPts val="0"/>
              </a:spcAft>
              <a:buClrTx/>
              <a:buSzTx/>
              <a:buFontTx/>
              <a:buNone/>
            </a:pPr>
            <a:r>
              <a:rPr dirty="0" lang="fr-FR" smtClean="0"/>
              <a:t>Après guérison il doit y avoir </a:t>
            </a:r>
            <a:r>
              <a:rPr b="0" dirty="0" lang="fr-FR" smtClean="0"/>
              <a:t>normalisation </a:t>
            </a:r>
            <a:r>
              <a:rPr dirty="0" lang="fr-FR" smtClean="0"/>
              <a:t>totale de l’ECG, avec retour à son aspect antérieur.</a:t>
            </a:r>
          </a:p>
          <a:p>
            <a:pPr algn="l" defTabSz="914400" eaLnBrk="1" fontAlgn="auto" hangingPunct="1" indent="0" latinLnBrk="0" marL="0" marR="0" rtl="0">
              <a:lnSpc>
                <a:spcPct val="100000"/>
              </a:lnSpc>
              <a:spcBef>
                <a:spcPts val="0"/>
              </a:spcBef>
              <a:spcAft>
                <a:spcPts val="0"/>
              </a:spcAft>
              <a:buClrTx/>
              <a:buSzTx/>
              <a:buFontTx/>
              <a:buNone/>
            </a:pPr>
            <a:endParaRPr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smtClean="0"/>
              <a:t>Il est à</a:t>
            </a:r>
            <a:r>
              <a:rPr baseline="0" dirty="0" lang="fr-FR" smtClean="0"/>
              <a:t> noter qu’un ECG normal lors de la consultation n’exclut pas le diagnostic de SMPI.</a:t>
            </a:r>
            <a:r>
              <a:rPr dirty="0" lang="fr-FR" smtClean="0"/>
              <a:t> </a:t>
            </a:r>
          </a:p>
          <a:p>
            <a:endParaRPr dirty="0" lang="fr-FR" smtClean="0"/>
          </a:p>
        </p:txBody>
      </p:sp>
      <p:sp>
        <p:nvSpPr>
          <p:cNvPr id="1048697"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BD6165C7-A672-426C-9D1E-57AD6BC84538}" type="slidenum">
              <a:rPr lang="fr-FR" smtClean="0"/>
              <a:t>11</a:t>
            </a:fld>
            <a:endParaRPr lang="fr-F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98" name="Espace réservé de l'image des diapositives 1"/>
          <p:cNvSpPr>
            <a:spLocks noChangeAspect="1" noRot="1" noGrp="1"/>
          </p:cNvSpPr>
          <p:nvPr>
            <p:ph type="sldImg"/>
          </p:nvPr>
        </p:nvSpPr>
        <p:spPr/>
      </p:sp>
      <p:sp>
        <p:nvSpPr>
          <p:cNvPr id="1048699" name="Espace réservé des commentaires 2"/>
          <p:cNvSpPr>
            <a:spLocks noGrp="1"/>
          </p:cNvSpPr>
          <p:nvPr>
            <p:ph type="body" idx="1"/>
          </p:nvPr>
        </p:nvSpPr>
        <p:spPr/>
        <p:txBody>
          <a:bodyPr>
            <a:normAutofit/>
          </a:bodyPr>
          <a:p>
            <a:pPr algn="l" defTabSz="914400" eaLnBrk="1" fontAlgn="auto" hangingPunct="1" indent="0" latinLnBrk="0" marL="0" marR="0" rtl="0">
              <a:lnSpc>
                <a:spcPct val="100000"/>
              </a:lnSpc>
              <a:spcBef>
                <a:spcPts val="0"/>
              </a:spcBef>
              <a:spcAft>
                <a:spcPts val="0"/>
              </a:spcAft>
              <a:buClrTx/>
              <a:buSzTx/>
              <a:buFontTx/>
              <a:buNone/>
            </a:pPr>
            <a:r>
              <a:rPr dirty="0" lang="fr-FR" smtClean="0"/>
              <a:t>Sus décalage du segment ST diffus, concave, non systématisé, sans images en miroir;</a:t>
            </a:r>
          </a:p>
          <a:p>
            <a:pPr algn="l" defTabSz="914400" eaLnBrk="1" fontAlgn="auto" hangingPunct="1" indent="0" latinLnBrk="0" marL="0" marR="0" rtl="0">
              <a:lnSpc>
                <a:spcPct val="100000"/>
              </a:lnSpc>
              <a:spcBef>
                <a:spcPts val="0"/>
              </a:spcBef>
              <a:spcAft>
                <a:spcPts val="0"/>
              </a:spcAft>
              <a:buClrTx/>
              <a:buSzTx/>
              <a:buFontTx/>
              <a:buNone/>
            </a:pPr>
            <a:r>
              <a:rPr dirty="0" lang="fr-FR" smtClean="0"/>
              <a:t>Sous décalage du PQ ou PR :</a:t>
            </a:r>
            <a:r>
              <a:rPr baseline="0" dirty="0" lang="fr-FR" smtClean="0"/>
              <a:t> l</a:t>
            </a:r>
            <a:r>
              <a:rPr dirty="0" lang="fr-FR" smtClean="0"/>
              <a:t>e signe de </a:t>
            </a:r>
            <a:r>
              <a:rPr dirty="0" lang="fr-FR" err="1" smtClean="0"/>
              <a:t>Spodick</a:t>
            </a:r>
            <a:r>
              <a:rPr baseline="0" dirty="0" lang="fr-FR" smtClean="0"/>
              <a:t> est très évocateur de péricardite aigue: sous décalage de PR diffus à pente descendante, sauf en AVR. Il est précoce et précède les modifications de ST</a:t>
            </a:r>
            <a:endParaRPr dirty="0" lang="fr-FR"/>
          </a:p>
        </p:txBody>
      </p:sp>
      <p:sp>
        <p:nvSpPr>
          <p:cNvPr id="1048700" name="Espace réservé du numéro de diapositive 3"/>
          <p:cNvSpPr>
            <a:spLocks noGrp="1"/>
          </p:cNvSpPr>
          <p:nvPr>
            <p:ph type="sldNum" sz="quarter" idx="10"/>
          </p:nvPr>
        </p:nvSpPr>
        <p:spPr/>
        <p:txBody>
          <a:bodyPr/>
          <a:p>
            <a:fld id="{F267D614-A403-4847-9522-E840C6A8F7A8}" type="slidenum">
              <a:rPr lang="fr-FR" smtClean="0"/>
              <a:t>12</a:t>
            </a:fld>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702"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03" name="Espace réservé des commentaires 2"/>
          <p:cNvSpPr>
            <a:spLocks noGrp="1"/>
          </p:cNvSpPr>
          <p:nvPr>
            <p:ph type="body" idx="1"/>
          </p:nvPr>
        </p:nvSpPr>
        <p:spPr bwMode="auto">
          <a:noFill/>
        </p:spPr>
        <p:txBody>
          <a:bodyPr anchor="t" anchorCtr="0" compatLnSpc="1" numCol="1" wrap="square">
            <a:prstTxWarp prst="textNoShape"/>
          </a:bodyPr>
          <a:p>
            <a:r>
              <a:rPr dirty="0" lang="fr-FR" smtClean="0"/>
              <a:t>Sus décalage du segment ST diffus, concave </a:t>
            </a:r>
          </a:p>
        </p:txBody>
      </p:sp>
      <p:sp>
        <p:nvSpPr>
          <p:cNvPr id="1048704"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E7B8E5EB-F6A8-4C8D-A08E-1AF8FA693009}" type="slidenum">
              <a:rPr lang="fr-FR" smtClean="0"/>
              <a:t>13</a:t>
            </a:fld>
            <a:endParaRPr lang="fr-F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706"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07" name="Espace réservé des commentaires 2"/>
          <p:cNvSpPr>
            <a:spLocks noGrp="1"/>
          </p:cNvSpPr>
          <p:nvPr>
            <p:ph type="body" idx="1"/>
          </p:nvPr>
        </p:nvSpPr>
        <p:spPr bwMode="auto">
          <a:noFill/>
        </p:spPr>
        <p:txBody>
          <a:bodyPr anchor="t" anchorCtr="0" compatLnSpc="1" numCol="1" wrap="square">
            <a:prstTxWarp prst="textNoShape"/>
          </a:bodyPr>
          <a:p>
            <a:r>
              <a:rPr dirty="0" lang="fr-FR" smtClean="0"/>
              <a:t>Bas voltage; Ondes T plates voire inversées, sous décalage de PQ.</a:t>
            </a:r>
          </a:p>
        </p:txBody>
      </p:sp>
      <p:sp>
        <p:nvSpPr>
          <p:cNvPr id="1048708"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0630288B-E87D-4909-86A6-12D165161AED}" type="slidenum">
              <a:rPr lang="fr-FR" smtClean="0"/>
              <a:t>14</a:t>
            </a:fld>
            <a:endParaRPr lang="fr-F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710"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11" name="Espace réservé des commentaires 2"/>
          <p:cNvSpPr>
            <a:spLocks noGrp="1"/>
          </p:cNvSpPr>
          <p:nvPr>
            <p:ph type="body" idx="1"/>
          </p:nvPr>
        </p:nvSpPr>
        <p:spPr bwMode="auto">
          <a:noFill/>
        </p:spPr>
        <p:txBody>
          <a:bodyPr anchor="t" anchorCtr="0" compatLnSpc="1" numCol="1" wrap="square">
            <a:prstTxWarp prst="textNoShape"/>
          </a:bodyPr>
          <a:p>
            <a:r>
              <a:rPr lang="fr-FR" smtClean="0"/>
              <a:t>Exemple d’alternance électrique à l’ECG sur tamponnade.</a:t>
            </a:r>
          </a:p>
        </p:txBody>
      </p:sp>
      <p:sp>
        <p:nvSpPr>
          <p:cNvPr id="1048712"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0873469D-7F39-4E93-92D6-BFDF6B0F0A2D}" type="slidenum">
              <a:rPr lang="fr-FR" smtClean="0"/>
              <a:t>15</a:t>
            </a:fld>
            <a:endParaRPr lang="fr-F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71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19" name="Espace réservé des commentaires 2"/>
          <p:cNvSpPr>
            <a:spLocks noGrp="1"/>
          </p:cNvSpPr>
          <p:nvPr>
            <p:ph type="body" idx="1"/>
          </p:nvPr>
        </p:nvSpPr>
        <p:spPr bwMode="auto">
          <a:noFill/>
        </p:spPr>
        <p:txBody>
          <a:bodyPr anchor="t" anchorCtr="0" compatLnSpc="1" numCol="1" wrap="square">
            <a:prstTxWarp prst="textNoShape"/>
          </a:bodyPr>
          <a:p>
            <a:pPr>
              <a:buFontTx/>
              <a:buChar char="•"/>
            </a:pPr>
            <a:r>
              <a:rPr dirty="0" lang="fr-FR" smtClean="0"/>
              <a:t>Le téléthorax en cas de péricardite aigue est généralement normal. </a:t>
            </a:r>
          </a:p>
          <a:p>
            <a:r>
              <a:rPr dirty="0" lang="fr-FR" smtClean="0"/>
              <a:t>Une augmentation de l’index </a:t>
            </a:r>
            <a:r>
              <a:rPr dirty="0" lang="fr-FR" err="1" smtClean="0"/>
              <a:t>cardio</a:t>
            </a:r>
            <a:r>
              <a:rPr dirty="0" lang="fr-FR" smtClean="0"/>
              <a:t> thoracique apparait en cas d’épanchement de plus de 300 ml. Les hiles et les arcs des bords du cœur sont recouverts par l’épanchement d’où l’aspect de cardiomégalie </a:t>
            </a:r>
            <a:r>
              <a:rPr dirty="0" lang="fr-FR" u="sng" smtClean="0"/>
              <a:t>symétrique</a:t>
            </a:r>
            <a:r>
              <a:rPr dirty="0" lang="fr-FR" smtClean="0"/>
              <a:t> avec cœur en ‘’carafe’’, signe de recouvrement hilaires et rectitude du bord gauche.</a:t>
            </a:r>
          </a:p>
          <a:p>
            <a:r>
              <a:rPr dirty="0" lang="fr-FR" smtClean="0"/>
              <a:t>Le téléthorax est mis à contribution pour rechercher une éventuel épanchement pleural ou des anomalies du médiastin, du parenchyme pulmonaire, des coupoles diaphragmatiques</a:t>
            </a:r>
            <a:r>
              <a:rPr baseline="0" dirty="0" lang="fr-FR" smtClean="0"/>
              <a:t> ou </a:t>
            </a:r>
            <a:r>
              <a:rPr dirty="0" lang="fr-FR" smtClean="0"/>
              <a:t>du squelette en rapport avec une pathologie sous jacente.</a:t>
            </a:r>
          </a:p>
          <a:p>
            <a:r>
              <a:rPr dirty="0" lang="fr-FR" smtClean="0"/>
              <a:t>Il peut</a:t>
            </a:r>
            <a:r>
              <a:rPr baseline="0" dirty="0" lang="fr-FR" smtClean="0"/>
              <a:t> exister des signes de surcharge vasculaire en cas d’insuffisance cardiaque sur myocardite.</a:t>
            </a:r>
            <a:endParaRPr dirty="0" lang="fr-FR" smtClean="0"/>
          </a:p>
          <a:p>
            <a:endParaRPr dirty="0" lang="fr-FR" smtClean="0"/>
          </a:p>
        </p:txBody>
      </p:sp>
      <p:sp>
        <p:nvSpPr>
          <p:cNvPr id="104872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B85E94AE-7FFD-468E-9326-D4465C4C7655}" type="slidenum">
              <a:rPr lang="fr-FR" smtClean="0"/>
              <a:t>16</a:t>
            </a:fld>
            <a:endParaRPr lang="fr-FR"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723"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24" name="Espace réservé des commentaires 2"/>
          <p:cNvSpPr>
            <a:spLocks noGrp="1"/>
          </p:cNvSpPr>
          <p:nvPr>
            <p:ph type="body" idx="1"/>
          </p:nvPr>
        </p:nvSpPr>
        <p:spPr bwMode="auto">
          <a:noFill/>
        </p:spPr>
        <p:txBody>
          <a:bodyPr anchor="t" anchorCtr="0" compatLnSpc="1" numCol="1" wrap="square">
            <a:prstTxWarp prst="textNoShape"/>
          </a:bodyPr>
          <a:p>
            <a:pPr>
              <a:buFontTx/>
              <a:buChar char="•"/>
            </a:pPr>
            <a:r>
              <a:rPr dirty="0" lang="fr-FR" smtClean="0"/>
              <a:t>L’échocardiographie transthoracique associée à un doppler tissulaire et une étude du strain</a:t>
            </a:r>
            <a:r>
              <a:rPr baseline="0" dirty="0" lang="fr-FR" smtClean="0"/>
              <a:t> myocardique</a:t>
            </a:r>
            <a:r>
              <a:rPr dirty="0" lang="fr-FR" smtClean="0"/>
              <a:t> est l’examen non invasif à réaliser en première intention;</a:t>
            </a:r>
            <a:r>
              <a:rPr baseline="0" dirty="0" lang="fr-FR" smtClean="0"/>
              <a:t> il fournira des information morphologiques et fonctionnelles</a:t>
            </a:r>
            <a:r>
              <a:rPr dirty="0" lang="fr-FR" smtClean="0"/>
              <a:t>. Il permet de mettre en évidence un épanchement péricardique et d’en évaluer la sévérité à travers son abondance et sa tolérance. </a:t>
            </a:r>
          </a:p>
          <a:p>
            <a:pPr>
              <a:buFontTx/>
              <a:buNone/>
            </a:pPr>
            <a:r>
              <a:rPr dirty="0" lang="fr-FR" smtClean="0"/>
              <a:t>L’absence d’épanchement ne permet pas d’éliminer le diagnostic de péricardite aigue lorsqu’il s’agit d’une péricardite dite sèche (faux négatif).</a:t>
            </a:r>
          </a:p>
          <a:p>
            <a:r>
              <a:rPr dirty="0" lang="fr-FR" smtClean="0"/>
              <a:t>L’examen recherchera</a:t>
            </a:r>
            <a:r>
              <a:rPr baseline="0" dirty="0" lang="fr-FR" smtClean="0"/>
              <a:t> des signes de myocardite associée par l’évaluation de la fonction systolique, diastolique et l’étude du strain ventriculaire gauche qui peut être altérée sans que la FEVG ne soit réduite. Il permet le monitorage des modifications de la taille des cavités cardiaques, de la fonction ventriculaire gauche et de l’épaisseur des parois.</a:t>
            </a:r>
          </a:p>
          <a:p>
            <a:r>
              <a:rPr baseline="0" dirty="0" lang="fr-FR" smtClean="0"/>
              <a:t>Il pourra mettre en évidence un valvulopathie associée.</a:t>
            </a:r>
          </a:p>
          <a:p>
            <a:r>
              <a:rPr baseline="0" dirty="0" lang="fr-FR" smtClean="0"/>
              <a:t>L’échocardiographie sera répétée au cours du suivi pour vérifier la stabilité du patient, la régression d’un épanchement, l’amélioration ou l’aggravation d’une dysfonction ventriculaire.</a:t>
            </a:r>
            <a:endParaRPr dirty="0" lang="fr-FR" smtClean="0"/>
          </a:p>
        </p:txBody>
      </p:sp>
      <p:sp>
        <p:nvSpPr>
          <p:cNvPr id="1048725"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C988C371-E60B-4722-9A2A-3CF33A5A6177}" type="slidenum">
              <a:rPr lang="fr-FR" smtClean="0"/>
              <a:t>17</a:t>
            </a:fld>
            <a:endParaRPr lang="fr-FR"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728" name="Espace réservé de l'image des diapositives 1"/>
          <p:cNvSpPr>
            <a:spLocks noChangeAspect="1" noRot="1" noGrp="1"/>
          </p:cNvSpPr>
          <p:nvPr>
            <p:ph type="sldImg"/>
          </p:nvPr>
        </p:nvSpPr>
        <p:spPr/>
      </p:sp>
      <p:sp>
        <p:nvSpPr>
          <p:cNvPr id="1048729" name="Espace réservé des commentaires 2"/>
          <p:cNvSpPr>
            <a:spLocks noGrp="1"/>
          </p:cNvSpPr>
          <p:nvPr>
            <p:ph type="body" idx="1"/>
          </p:nvPr>
        </p:nvSpPr>
        <p:spPr/>
        <p:txBody>
          <a:bodyPr>
            <a:normAutofit/>
          </a:bodyPr>
          <a:p>
            <a:pPr>
              <a:buFont typeface="Arial" pitchFamily="34" charset="0"/>
              <a:buChar char="•"/>
            </a:pPr>
            <a:r>
              <a:rPr dirty="0" lang="fr-FR" smtClean="0"/>
              <a:t>L’imagerie par résonnance magnétique nucléaire (IRM cardiaque) est recommandée devant</a:t>
            </a:r>
            <a:r>
              <a:rPr baseline="0" dirty="0" lang="fr-FR" smtClean="0"/>
              <a:t> toute suspicion de myocardite. Elle a remplacé la biopsie endomyocardique qui sera réservée aux formes à haut risque ou en cas de suspicion de forme spécifique (sarcoïdose, myocardite à cellules géantes, à éosinophiles..) pour guider la thérapeutique.</a:t>
            </a:r>
          </a:p>
          <a:p>
            <a:r>
              <a:rPr baseline="0" dirty="0" lang="fr-FR" smtClean="0"/>
              <a:t>Elle permet un diagnostic clinique en mettant en évidence l’œdème et les lésions myocardiques non ischémiques (rehaussement tardif). Elle permet également d’orienter la prise en charge en distinguant une activité inflammatoire ou des lésions de type cicatriciel (fibrose).</a:t>
            </a:r>
          </a:p>
          <a:p>
            <a:r>
              <a:rPr baseline="0" dirty="0" lang="fr-FR" smtClean="0"/>
              <a:t>L’IRM cardiaque aide au diagnostic de péricardite lorsqu’il est difficile ou que les signes persistent; on recherchera un épaississement, un œdème ou un rehaussement tardif du péricarde.</a:t>
            </a:r>
          </a:p>
          <a:p>
            <a:r>
              <a:rPr baseline="0" dirty="0" lang="fr-FR" smtClean="0"/>
              <a:t>L’IRM de contrôle dans les 6 mois aidera à stratifier le risque et à autoriser ou non la reprise d’activité.</a:t>
            </a:r>
          </a:p>
        </p:txBody>
      </p:sp>
      <p:sp>
        <p:nvSpPr>
          <p:cNvPr id="1048730" name="Espace réservé du numéro de diapositive 3"/>
          <p:cNvSpPr>
            <a:spLocks noGrp="1"/>
          </p:cNvSpPr>
          <p:nvPr>
            <p:ph type="sldNum" sz="quarter" idx="10"/>
          </p:nvPr>
        </p:nvSpPr>
        <p:spPr/>
        <p:txBody>
          <a:bodyPr/>
          <a:p>
            <a:fld id="{F267D614-A403-4847-9522-E840C6A8F7A8}" type="slidenum">
              <a:rPr lang="fr-FR" smtClean="0"/>
              <a:t>18</a:t>
            </a:fld>
            <a:endParaRPr lang="fr-F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8733" name="Espace réservé de l'image des diapositives 1"/>
          <p:cNvSpPr>
            <a:spLocks noChangeAspect="1" noRot="1" noGrp="1"/>
          </p:cNvSpPr>
          <p:nvPr>
            <p:ph type="sldImg"/>
          </p:nvPr>
        </p:nvSpPr>
        <p:spPr/>
      </p:sp>
      <p:sp>
        <p:nvSpPr>
          <p:cNvPr id="1048734" name="Espace réservé des commentaires 2"/>
          <p:cNvSpPr>
            <a:spLocks noGrp="1"/>
          </p:cNvSpPr>
          <p:nvPr>
            <p:ph type="body" idx="1"/>
          </p:nvPr>
        </p:nvSpPr>
        <p:spPr/>
        <p:txBody>
          <a:bodyPr>
            <a:normAutofit/>
          </a:bodyPr>
          <a:p>
            <a:pPr>
              <a:buFont typeface="Arial" pitchFamily="34" charset="0"/>
              <a:buChar char="•"/>
            </a:pPr>
            <a:r>
              <a:rPr dirty="0" lang="fr-FR" smtClean="0"/>
              <a:t>Dans</a:t>
            </a:r>
            <a:r>
              <a:rPr baseline="0" dirty="0" lang="fr-FR" smtClean="0"/>
              <a:t> les présentations cliniques avec douleur pseudo angineuse (infarctus-</a:t>
            </a:r>
            <a:r>
              <a:rPr baseline="0" dirty="0" lang="fr-FR" err="1" smtClean="0"/>
              <a:t>like</a:t>
            </a:r>
            <a:r>
              <a:rPr baseline="0" dirty="0" lang="fr-FR" smtClean="0"/>
              <a:t>), un coroscanner ou une coronarographie sont réalisés si une maladie coronaire est suspectée en raison de la présence de facteurs de risque.</a:t>
            </a:r>
          </a:p>
          <a:p>
            <a:pPr>
              <a:buFont typeface="Arial" pitchFamily="34" charset="0"/>
              <a:buNone/>
            </a:pPr>
            <a:endParaRPr dirty="0" lang="fr-FR"/>
          </a:p>
        </p:txBody>
      </p:sp>
      <p:sp>
        <p:nvSpPr>
          <p:cNvPr id="1048735" name="Espace réservé du numéro de diapositive 3"/>
          <p:cNvSpPr>
            <a:spLocks noGrp="1"/>
          </p:cNvSpPr>
          <p:nvPr>
            <p:ph type="sldNum" sz="quarter" idx="10"/>
          </p:nvPr>
        </p:nvSpPr>
        <p:spPr/>
        <p:txBody>
          <a:bodyPr/>
          <a:p>
            <a:fld id="{F267D614-A403-4847-9522-E840C6A8F7A8}" type="slidenum">
              <a:rPr lang="fr-FR" smtClean="0"/>
              <a:t>19</a:t>
            </a:fld>
            <a:endParaRPr lang="fr-F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73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39" name="Espace réservé des commentaires 2"/>
          <p:cNvSpPr>
            <a:spLocks noGrp="1"/>
          </p:cNvSpPr>
          <p:nvPr>
            <p:ph type="body" idx="1"/>
          </p:nvPr>
        </p:nvSpPr>
        <p:spPr bwMode="auto">
          <a:noFill/>
        </p:spPr>
        <p:txBody>
          <a:bodyPr anchor="t" anchorCtr="0" compatLnSpc="1" numCol="1" wrap="square">
            <a:prstTxWarp prst="textNoShape"/>
          </a:bodyPr>
          <a:p>
            <a:r>
              <a:rPr b="1" dirty="0" lang="fr-FR" smtClean="0">
                <a:solidFill>
                  <a:srgbClr val="C00000"/>
                </a:solidFill>
              </a:rPr>
              <a:t> VII- LES  PÉRICARDITES</a:t>
            </a:r>
            <a:r>
              <a:rPr dirty="0" lang="fr-FR" smtClean="0"/>
              <a:t>.</a:t>
            </a:r>
          </a:p>
          <a:p>
            <a:pPr algn="l" defTabSz="914400" eaLnBrk="1" fontAlgn="auto" hangingPunct="1" indent="0" latinLnBrk="0" lvl="0" marL="0" marR="0" rtl="0">
              <a:lnSpc>
                <a:spcPct val="100000"/>
              </a:lnSpc>
              <a:spcBef>
                <a:spcPts val="0"/>
              </a:spcBef>
              <a:spcAft>
                <a:spcPts val="0"/>
              </a:spcAft>
              <a:buClrTx/>
              <a:buSzTx/>
              <a:buFontTx/>
              <a:buNone/>
            </a:pPr>
            <a:r>
              <a:rPr dirty="0" i="1" lang="fr-FR" smtClean="0"/>
              <a:t>A. Définition, épidémiologie </a:t>
            </a:r>
            <a:r>
              <a:rPr dirty="0" lang="fr-FR" smtClean="0"/>
              <a:t>: </a:t>
            </a:r>
            <a:r>
              <a:rPr dirty="0" sz="1200" kern="1200" lang="fr-FR" smtClean="0">
                <a:solidFill>
                  <a:schemeClr val="tx1"/>
                </a:solidFill>
                <a:latin typeface="+mn-lt"/>
                <a:ea typeface="+mn-ea"/>
                <a:cs typeface="+mn-cs"/>
              </a:rPr>
              <a:t>La péricardite aiguë est une inflammation du péricarde,</a:t>
            </a:r>
            <a:r>
              <a:rPr baseline="0" dirty="0" sz="1200" kern="1200" lang="fr-FR" smtClean="0">
                <a:solidFill>
                  <a:schemeClr val="tx1"/>
                </a:solidFill>
                <a:latin typeface="+mn-lt"/>
                <a:ea typeface="+mn-ea"/>
                <a:cs typeface="+mn-cs"/>
              </a:rPr>
              <a:t> </a:t>
            </a:r>
            <a:r>
              <a:rPr dirty="0" lang="fr-FR" smtClean="0"/>
              <a:t>avec ou sans épanchement.</a:t>
            </a:r>
          </a:p>
          <a:p>
            <a:r>
              <a:rPr dirty="0" sz="1200" kern="1200" lang="fr-FR" smtClean="0">
                <a:solidFill>
                  <a:schemeClr val="tx1"/>
                </a:solidFill>
                <a:latin typeface="+mn-lt"/>
                <a:ea typeface="+mn-ea"/>
                <a:cs typeface="+mn-cs"/>
              </a:rPr>
              <a:t>Elle atteint 2 fois plus les hommes (18-65 ans).</a:t>
            </a:r>
            <a:endParaRPr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smtClean="0"/>
              <a:t>Elle sont fréquentes</a:t>
            </a:r>
            <a:r>
              <a:rPr baseline="0" dirty="0" lang="fr-FR" smtClean="0"/>
              <a:t>: 0,2% des patients admis dans un service de maladies cardiovasculaires.</a:t>
            </a:r>
            <a:endParaRPr baseline="0" dirty="0" lang="ar-DZ" smtClean="0"/>
          </a:p>
          <a:p>
            <a:pPr algn="l" defTabSz="914400" eaLnBrk="1" fontAlgn="auto" hangingPunct="1" indent="0" latinLnBrk="0" marL="0" marR="0" rtl="0">
              <a:lnSpc>
                <a:spcPct val="100000"/>
              </a:lnSpc>
              <a:spcBef>
                <a:spcPts val="0"/>
              </a:spcBef>
              <a:spcAft>
                <a:spcPts val="0"/>
              </a:spcAft>
              <a:buClrTx/>
              <a:buSzTx/>
              <a:buFontTx/>
              <a:buNone/>
            </a:pPr>
            <a:r>
              <a:rPr dirty="0" sz="1200" kern="1200" lang="fr-FR" smtClean="0">
                <a:solidFill>
                  <a:schemeClr val="tx1"/>
                </a:solidFill>
                <a:latin typeface="+mn-lt"/>
                <a:ea typeface="+mn-ea"/>
                <a:cs typeface="+mn-cs"/>
              </a:rPr>
              <a:t>L’évolution de la péricardite aiguë idiopathique est le plus souvent bénigne</a:t>
            </a:r>
            <a:r>
              <a:rPr baseline="0" dirty="0" sz="1200" kern="1200" lang="fr-FR" smtClean="0">
                <a:solidFill>
                  <a:schemeClr val="tx1"/>
                </a:solidFill>
                <a:latin typeface="+mn-lt"/>
                <a:ea typeface="+mn-ea"/>
                <a:cs typeface="+mn-cs"/>
              </a:rPr>
              <a:t>, mais elle expose à des risques de complications à court terme (tamponnade) et à distance (formes chroniques, constriction péricardique) </a:t>
            </a:r>
            <a:endParaRPr dirty="0" sz="1200" kern="1200" lang="fr-FR" smtClean="0">
              <a:solidFill>
                <a:schemeClr val="tx1"/>
              </a:solidFill>
              <a:latin typeface="+mn-lt"/>
              <a:ea typeface="+mn-ea"/>
              <a:cs typeface="+mn-cs"/>
            </a:endParaRPr>
          </a:p>
        </p:txBody>
      </p:sp>
      <p:sp>
        <p:nvSpPr>
          <p:cNvPr id="104874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109323FC-2D83-4D87-8D70-332B8AF02F03}" type="slidenum">
              <a:rPr lang="fr-FR" smtClean="0"/>
              <a:t>20</a:t>
            </a:fld>
            <a:endParaRPr dirty="0" lang="fr-F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744" name="Espace réservé de l'image des diapositives 1"/>
          <p:cNvSpPr>
            <a:spLocks noChangeAspect="1" noRot="1" noGrp="1"/>
          </p:cNvSpPr>
          <p:nvPr>
            <p:ph type="sldImg"/>
          </p:nvPr>
        </p:nvSpPr>
        <p:spPr/>
      </p:sp>
      <p:sp>
        <p:nvSpPr>
          <p:cNvPr id="1048745" name="Espace réservé des commentaires 2"/>
          <p:cNvSpPr>
            <a:spLocks noGrp="1"/>
          </p:cNvSpPr>
          <p:nvPr>
            <p:ph type="body" idx="1"/>
          </p:nvPr>
        </p:nvSpPr>
        <p:spPr/>
        <p:txBody>
          <a:bodyPr>
            <a:normAutofit/>
          </a:bodyPr>
          <a:p>
            <a:pPr algn="l" defTabSz="914400" eaLnBrk="1" fontAlgn="auto" hangingPunct="1" indent="0" latinLnBrk="0" marL="0" marR="0" rtl="0">
              <a:lnSpc>
                <a:spcPct val="100000"/>
              </a:lnSpc>
              <a:spcBef>
                <a:spcPts val="0"/>
              </a:spcBef>
              <a:spcAft>
                <a:spcPts val="0"/>
              </a:spcAft>
              <a:buClrTx/>
              <a:buSzTx/>
              <a:buFontTx/>
              <a:buNone/>
            </a:pPr>
            <a:r>
              <a:rPr b="1" dirty="0" sz="1200" kern="1200" lang="fr-FR" smtClean="0">
                <a:solidFill>
                  <a:schemeClr val="tx1"/>
                </a:solidFill>
                <a:latin typeface="+mn-lt"/>
                <a:ea typeface="+mn-ea"/>
                <a:cs typeface="+mn-cs"/>
              </a:rPr>
              <a:t>A- Présentation clinique:</a:t>
            </a:r>
          </a:p>
          <a:p>
            <a:pPr>
              <a:buFontTx/>
              <a:buNone/>
            </a:pPr>
            <a:r>
              <a:rPr dirty="0" lang="fr-FR" smtClean="0"/>
              <a:t>1- </a:t>
            </a:r>
            <a:r>
              <a:rPr dirty="0" lang="fr-FR" u="sng" smtClean="0"/>
              <a:t>signes d’alerte</a:t>
            </a:r>
            <a:r>
              <a:rPr dirty="0" lang="fr-FR" smtClean="0"/>
              <a:t>:</a:t>
            </a:r>
          </a:p>
          <a:p>
            <a:pPr>
              <a:buFontTx/>
              <a:buNone/>
            </a:pPr>
            <a:r>
              <a:rPr dirty="0" lang="fr-FR" smtClean="0"/>
              <a:t>Le</a:t>
            </a:r>
            <a:r>
              <a:rPr baseline="0" dirty="0" lang="fr-FR" smtClean="0"/>
              <a:t> tableau typique associe un contexte pseudo grippal avec une douleur thoracique de repos antérieure, </a:t>
            </a:r>
            <a:r>
              <a:rPr dirty="0" lang="fr-FR" smtClean="0"/>
              <a:t>vive,</a:t>
            </a:r>
            <a:r>
              <a:rPr baseline="0" dirty="0" lang="fr-FR" smtClean="0"/>
              <a:t> aigue, </a:t>
            </a:r>
            <a:r>
              <a:rPr dirty="0" lang="fr-FR" smtClean="0"/>
              <a:t>sensible aux changements de position,</a:t>
            </a:r>
            <a:r>
              <a:rPr baseline="0" dirty="0" lang="fr-FR" smtClean="0"/>
              <a:t> résistant à la trinitrine. L’irradiation au trapèze gauche est caractéristique de cette douleur.</a:t>
            </a:r>
          </a:p>
          <a:p>
            <a:pPr>
              <a:buFontTx/>
              <a:buNone/>
            </a:pPr>
            <a:r>
              <a:rPr baseline="0" dirty="0" lang="fr-FR" smtClean="0"/>
              <a:t>Il peut s’agir de symptômes plus rares faits de dyspnée, fièvre, asthénie, arythmie sur FA. </a:t>
            </a:r>
            <a:endParaRPr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smtClean="0"/>
              <a:t>Dès la suspicion clinique, l’interrogatoire</a:t>
            </a:r>
            <a:r>
              <a:rPr baseline="0" dirty="0" lang="fr-FR" smtClean="0"/>
              <a:t> et l’examen clinique devront </a:t>
            </a:r>
            <a:r>
              <a:rPr dirty="0" lang="fr-FR" smtClean="0"/>
              <a:t>être minutieux.</a:t>
            </a:r>
            <a:r>
              <a:rPr dirty="0" sz="1200" kern="1200" lang="fr-FR" smtClean="0">
                <a:solidFill>
                  <a:schemeClr val="tx1"/>
                </a:solidFill>
                <a:latin typeface="+mn-lt"/>
                <a:ea typeface="+mn-ea"/>
                <a:cs typeface="+mn-cs"/>
              </a:rPr>
              <a:t> L’examen clinique d’une suspicion de péricardite recherche une orientation devant la douleur thoracique et évalue la gravité clinique. Les enjeux sont liés à la gravité des diagnostics différentiels possible devant</a:t>
            </a:r>
            <a:r>
              <a:rPr baseline="0" dirty="0" sz="1200" kern="1200" lang="fr-FR" smtClean="0">
                <a:solidFill>
                  <a:schemeClr val="tx1"/>
                </a:solidFill>
                <a:latin typeface="+mn-lt"/>
                <a:ea typeface="+mn-ea"/>
                <a:cs typeface="+mn-cs"/>
              </a:rPr>
              <a:t> </a:t>
            </a:r>
            <a:r>
              <a:rPr dirty="0" sz="1200" kern="1200" lang="fr-FR" smtClean="0">
                <a:solidFill>
                  <a:schemeClr val="tx1"/>
                </a:solidFill>
                <a:latin typeface="+mn-lt"/>
                <a:ea typeface="+mn-ea"/>
                <a:cs typeface="+mn-cs"/>
              </a:rPr>
              <a:t>cette douleur thoracique (SCA, embolie</a:t>
            </a:r>
            <a:r>
              <a:rPr baseline="0" dirty="0" sz="1200" kern="1200" lang="fr-FR" smtClean="0">
                <a:solidFill>
                  <a:schemeClr val="tx1"/>
                </a:solidFill>
                <a:latin typeface="+mn-lt"/>
                <a:ea typeface="+mn-ea"/>
                <a:cs typeface="+mn-cs"/>
              </a:rPr>
              <a:t> pulmonaire</a:t>
            </a:r>
            <a:r>
              <a:rPr dirty="0" sz="1200" kern="1200" lang="fr-FR" smtClean="0">
                <a:solidFill>
                  <a:schemeClr val="tx1"/>
                </a:solidFill>
                <a:latin typeface="+mn-lt"/>
                <a:ea typeface="+mn-ea"/>
                <a:cs typeface="+mn-cs"/>
              </a:rPr>
              <a:t>, dissection aortique), au risque de tamponnade et de formes chroniques. Ceci impose une </a:t>
            </a:r>
            <a:r>
              <a:rPr b="0" dirty="0" sz="1200" kern="1200" lang="fr-FR" smtClean="0">
                <a:solidFill>
                  <a:schemeClr val="tx1"/>
                </a:solidFill>
                <a:latin typeface="+mn-lt"/>
                <a:ea typeface="+mn-ea"/>
                <a:cs typeface="+mn-cs"/>
              </a:rPr>
              <a:t>prise en charge urgente.</a:t>
            </a:r>
            <a:endParaRPr dirty="0" sz="1200" kern="1200" lang="fr-FR" smtClean="0">
              <a:solidFill>
                <a:schemeClr val="tx1"/>
              </a:solidFill>
              <a:latin typeface="+mn-lt"/>
              <a:ea typeface="+mn-ea"/>
              <a:cs typeface="+mn-cs"/>
            </a:endParaRPr>
          </a:p>
          <a:p>
            <a:r>
              <a:rPr dirty="0" lang="fr-FR" smtClean="0"/>
              <a:t>On recherchera un frottement péricardique</a:t>
            </a:r>
          </a:p>
          <a:p>
            <a:pPr algn="l" defTabSz="914400" eaLnBrk="1" fontAlgn="auto" hangingPunct="1" indent="0" latinLnBrk="0" marL="0" marR="0" rtl="0">
              <a:lnSpc>
                <a:spcPct val="100000"/>
              </a:lnSpc>
              <a:spcBef>
                <a:spcPts val="0"/>
              </a:spcBef>
              <a:spcAft>
                <a:spcPts val="0"/>
              </a:spcAft>
              <a:buClrTx/>
              <a:buSzTx/>
              <a:buFontTx/>
              <a:buNone/>
            </a:pPr>
            <a:r>
              <a:rPr dirty="0" lang="fr-FR" smtClean="0"/>
              <a:t>D’autres signes cliniques peuvent exister en fonction de l’étiologie sous jacente du syndrome péricardique. Il faudra vérifier et quantifier la température, rechercher des adénopathies, une splénomégalie, des signes de collagénose </a:t>
            </a:r>
            <a:r>
              <a:rPr dirty="0" lang="fr-FR" err="1" smtClean="0"/>
              <a:t>etc</a:t>
            </a:r>
            <a:r>
              <a:rPr dirty="0" lang="fr-FR" smtClean="0"/>
              <a:t>…</a:t>
            </a:r>
          </a:p>
          <a:p>
            <a:pPr algn="l" defTabSz="914400" eaLnBrk="1" fontAlgn="auto" hangingPunct="1" indent="0" latinLnBrk="0" marL="0" marR="0" rtl="0">
              <a:lnSpc>
                <a:spcPct val="100000"/>
              </a:lnSpc>
              <a:spcBef>
                <a:spcPts val="0"/>
              </a:spcBef>
              <a:spcAft>
                <a:spcPts val="0"/>
              </a:spcAft>
              <a:buClrTx/>
              <a:buSzTx/>
              <a:buFontTx/>
              <a:buNone/>
            </a:pPr>
            <a:r>
              <a:rPr dirty="0" lang="fr-FR" smtClean="0"/>
              <a:t> </a:t>
            </a:r>
            <a:endParaRPr dirty="0" lang="fr-FR"/>
          </a:p>
        </p:txBody>
      </p:sp>
      <p:sp>
        <p:nvSpPr>
          <p:cNvPr id="1048746" name="Espace réservé du numéro de diapositive 3"/>
          <p:cNvSpPr>
            <a:spLocks noGrp="1"/>
          </p:cNvSpPr>
          <p:nvPr>
            <p:ph type="sldNum" sz="quarter" idx="10"/>
          </p:nvPr>
        </p:nvSpPr>
        <p:spPr/>
        <p:txBody>
          <a:bodyPr/>
          <a:p>
            <a:fld id="{F267D614-A403-4847-9522-E840C6A8F7A8}" type="slidenum">
              <a:rPr lang="fr-FR" smtClean="0"/>
              <a:t>21</a:t>
            </a:fld>
            <a:endParaRPr lang="fr-F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74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49" name="Espace réservé des commentaires 2"/>
          <p:cNvSpPr>
            <a:spLocks noGrp="1"/>
          </p:cNvSpPr>
          <p:nvPr>
            <p:ph type="body" idx="1"/>
          </p:nvPr>
        </p:nvSpPr>
        <p:spPr bwMode="auto">
          <a:noFill/>
        </p:spPr>
        <p:txBody>
          <a:bodyPr anchor="t" anchorCtr="0" compatLnSpc="1" numCol="1" wrap="square">
            <a:prstTxWarp prst="textNoShape"/>
          </a:bodyPr>
          <a:p>
            <a:pPr algn="l" defTabSz="914400" eaLnBrk="1" fontAlgn="auto" hangingPunct="1" indent="0" latinLnBrk="0" marL="0" marR="0" rtl="0">
              <a:lnSpc>
                <a:spcPct val="100000"/>
              </a:lnSpc>
              <a:spcBef>
                <a:spcPts val="0"/>
              </a:spcBef>
              <a:spcAft>
                <a:spcPts val="0"/>
              </a:spcAft>
              <a:buClrTx/>
              <a:buSzTx/>
              <a:buFontTx/>
              <a:buNone/>
            </a:pPr>
            <a:r>
              <a:rPr dirty="0" sz="1200" kern="1200" lang="fr-FR" smtClean="0">
                <a:solidFill>
                  <a:schemeClr val="tx1"/>
                </a:solidFill>
                <a:latin typeface="+mn-lt"/>
                <a:ea typeface="+mn-ea"/>
                <a:cs typeface="+mn-cs"/>
              </a:rPr>
              <a:t>La péricardite est caractérisée par un large spectre de présentations cliniques, le principal</a:t>
            </a:r>
            <a:r>
              <a:rPr baseline="0" dirty="0" sz="1200" kern="1200" lang="fr-FR" smtClean="0">
                <a:solidFill>
                  <a:schemeClr val="tx1"/>
                </a:solidFill>
                <a:latin typeface="+mn-lt"/>
                <a:ea typeface="+mn-ea"/>
                <a:cs typeface="+mn-cs"/>
              </a:rPr>
              <a:t> symptôme évocateur étant la douleur de type péricarditique, sensible aux changements de position</a:t>
            </a:r>
            <a:r>
              <a:rPr dirty="0" sz="1200" kern="1200" lang="fr-FR" smtClean="0">
                <a:solidFill>
                  <a:schemeClr val="tx1"/>
                </a:solidFill>
                <a:latin typeface="+mn-lt"/>
                <a:ea typeface="+mn-ea"/>
                <a:cs typeface="+mn-cs"/>
              </a:rPr>
              <a:t> et aux mouvements</a:t>
            </a:r>
            <a:r>
              <a:rPr baseline="0" dirty="0" sz="1200" kern="1200" lang="fr-FR" smtClean="0">
                <a:solidFill>
                  <a:schemeClr val="tx1"/>
                </a:solidFill>
                <a:latin typeface="+mn-lt"/>
                <a:ea typeface="+mn-ea"/>
                <a:cs typeface="+mn-cs"/>
              </a:rPr>
              <a:t> respiratoires. </a:t>
            </a:r>
            <a:endParaRPr b="0" dirty="0" sz="1200" kern="1200" lang="fr-FR" smtClean="0">
              <a:solidFill>
                <a:schemeClr val="tx1"/>
              </a:solidFill>
              <a:latin typeface="+mn-lt"/>
              <a:ea typeface="+mn-ea"/>
              <a:cs typeface="+mn-cs"/>
            </a:endParaRPr>
          </a:p>
          <a:p>
            <a:pPr algn="l" defTabSz="914400" eaLnBrk="1" fontAlgn="auto" hangingPunct="1" indent="0" latinLnBrk="0" marL="0" marR="0" rtl="0">
              <a:lnSpc>
                <a:spcPct val="100000"/>
              </a:lnSpc>
              <a:spcBef>
                <a:spcPts val="0"/>
              </a:spcBef>
              <a:spcAft>
                <a:spcPts val="0"/>
              </a:spcAft>
              <a:buClrTx/>
              <a:buSzTx/>
              <a:buFontTx/>
              <a:buNone/>
            </a:pPr>
            <a:r>
              <a:rPr dirty="0" lang="fr-FR" smtClean="0"/>
              <a:t>La péricardite peut s’exprimer par:</a:t>
            </a:r>
          </a:p>
          <a:p>
            <a:pPr algn="l" defTabSz="914400" eaLnBrk="1" fontAlgn="auto" hangingPunct="1" indent="0" latinLnBrk="0" marL="0" marR="0" rtl="0">
              <a:lnSpc>
                <a:spcPct val="100000"/>
              </a:lnSpc>
              <a:spcBef>
                <a:spcPts val="0"/>
              </a:spcBef>
              <a:spcAft>
                <a:spcPts val="0"/>
              </a:spcAft>
              <a:buClrTx/>
              <a:buSzTx/>
              <a:buFontTx/>
              <a:buNone/>
            </a:pPr>
            <a:r>
              <a:rPr dirty="0" lang="fr-FR" smtClean="0"/>
              <a:t>1-</a:t>
            </a:r>
            <a:r>
              <a:rPr baseline="0" dirty="0" lang="fr-FR" smtClean="0"/>
              <a:t> </a:t>
            </a:r>
            <a:r>
              <a:rPr baseline="0" dirty="0" i="1" lang="fr-FR" smtClean="0"/>
              <a:t>une péricardite sèche:</a:t>
            </a:r>
            <a:r>
              <a:rPr baseline="0" dirty="0" lang="fr-FR" smtClean="0"/>
              <a:t> péricardite sans épanchement liquidien, généralement sans étiologie spécifique et de bon pronostic.</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2- </a:t>
            </a:r>
            <a:r>
              <a:rPr baseline="0" dirty="0" i="1" lang="fr-FR" smtClean="0"/>
              <a:t>une péricardite liquidienne ou avec épanchement:</a:t>
            </a:r>
            <a:r>
              <a:rPr baseline="0" dirty="0" lang="fr-FR" smtClean="0"/>
              <a:t> dans 50 à 60% des cas présence d’un épanchement de moyenne (10 à 20 mm) à grande abondance (&gt; à 20 mm)</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3- </a:t>
            </a:r>
            <a:r>
              <a:rPr baseline="0" dirty="0" i="1" lang="fr-FR" smtClean="0"/>
              <a:t>une péricardite constrictive liquidienne:</a:t>
            </a:r>
            <a:r>
              <a:rPr baseline="0" dirty="0" lang="fr-FR" smtClean="0"/>
              <a:t> associe un épanchement et un épaississement des feuillets péricardiques avec constriction. Elle est découverte au décours d’un drainage péricardique pour tamponnade mais où persiste un phénomène physiopathologique de constriction et une pression auriculaire droite qui ne baisse pas après drainage. Actuellement l’imagerie multimodale permet le diagnostic sans recours au cathétérisme cardiaque </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4- </a:t>
            </a:r>
            <a:r>
              <a:rPr baseline="0" dirty="0" i="1" lang="fr-FR" smtClean="0"/>
              <a:t>une péricardite avec tamponnade cardiaque:</a:t>
            </a:r>
            <a:r>
              <a:rPr baseline="0" dirty="0" i="0" lang="fr-FR" smtClean="0"/>
              <a:t> où l’inflammation du péricarde conduit à l’accumulation d’un épanchement liquidien compressif. Elle engage le pronostic vital et sera </a:t>
            </a:r>
            <a:r>
              <a:rPr baseline="0" dirty="0" lang="fr-FR" smtClean="0"/>
              <a:t>évoquée devant la triade de  Beck qui associe hypotension-turgescence des jugulaire-bruits cardiaques assourdis, avec pouls paradoxal, alternance électrique et bas voltage à l’ECG.</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5- </a:t>
            </a:r>
            <a:r>
              <a:rPr baseline="0" dirty="0" i="1" lang="fr-FR" smtClean="0"/>
              <a:t>une constriction péricardique:</a:t>
            </a:r>
            <a:r>
              <a:rPr baseline="0" dirty="0" lang="fr-FR" smtClean="0"/>
              <a:t> due à des feuillets péricardiques épaissis et fibrosés voire calcifiés, créant une gêne au remplissage du cœur (adiastolie) responsable d’un tableau d’insuffisance cardiaque droite avec dilatation des jugulaires, œdèmes distaux et ascite, pleurésie récidivante, dyspnée, asthénie. Le scanner ou l’IRM cardiaque confirment l’épaississement du péricarde.</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6- </a:t>
            </a:r>
            <a:r>
              <a:rPr baseline="0" dirty="0" i="1" lang="fr-FR" smtClean="0"/>
              <a:t>une constriction péricardique transitoire:</a:t>
            </a:r>
            <a:r>
              <a:rPr baseline="0" dirty="0" lang="fr-FR" smtClean="0"/>
              <a:t> où il existe une constriction péricardique avec biomarqueurs de l’inflammation positifs; ce tableau est potentiellement réversible (50% des cas) sous traitement anti-inflammatoire qui doit être maintenu pendant 3 à 6 mois avant de conclure à une forme constrictive définitive relevant de la chirurgie (péricardectomie)</a:t>
            </a:r>
            <a:endParaRPr dirty="0" lang="fr-FR" smtClean="0"/>
          </a:p>
          <a:p>
            <a:pPr>
              <a:buFontTx/>
              <a:buNone/>
            </a:pPr>
            <a:endParaRPr dirty="0" lang="fr-FR" smtClean="0"/>
          </a:p>
          <a:p>
            <a:endParaRPr dirty="0" lang="fr-FR" smtClean="0"/>
          </a:p>
          <a:p>
            <a:endParaRPr dirty="0" lang="fr-FR" smtClean="0"/>
          </a:p>
        </p:txBody>
      </p:sp>
      <p:sp>
        <p:nvSpPr>
          <p:cNvPr id="104875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6CA76EB0-2CDA-4241-A30C-0E5306D15FC3}" type="slidenum">
              <a:rPr lang="fr-FR" smtClean="0"/>
              <a:t>22</a:t>
            </a:fld>
            <a:endParaRPr lang="fr-F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753"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54" name="Espace réservé des commentaires 2"/>
          <p:cNvSpPr>
            <a:spLocks noGrp="1"/>
          </p:cNvSpPr>
          <p:nvPr>
            <p:ph type="body" idx="1"/>
          </p:nvPr>
        </p:nvSpPr>
        <p:spPr bwMode="auto">
          <a:noFill/>
        </p:spPr>
        <p:txBody>
          <a:bodyPr anchor="t" anchorCtr="0" compatLnSpc="1" numCol="1" wrap="square">
            <a:prstTxWarp prst="textNoShape"/>
          </a:bodyPr>
          <a:p>
            <a:pPr algn="l" defTabSz="914400" eaLnBrk="1" fontAlgn="auto" hangingPunct="1" indent="0" latinLnBrk="0" marL="0" marR="0" rtl="0">
              <a:lnSpc>
                <a:spcPct val="100000"/>
              </a:lnSpc>
              <a:spcBef>
                <a:spcPts val="0"/>
              </a:spcBef>
              <a:spcAft>
                <a:spcPts val="0"/>
              </a:spcAft>
              <a:buClrTx/>
              <a:buSzTx/>
              <a:buFontTx/>
              <a:buNone/>
            </a:pPr>
            <a:r>
              <a:rPr dirty="0" sz="1200" kern="1200" lang="fr-FR" smtClean="0">
                <a:solidFill>
                  <a:schemeClr val="tx1"/>
                </a:solidFill>
                <a:latin typeface="+mn-lt"/>
                <a:ea typeface="+mn-ea"/>
                <a:cs typeface="+mn-cs"/>
              </a:rPr>
              <a:t>2- </a:t>
            </a:r>
            <a:r>
              <a:rPr dirty="0" sz="1200" kern="1200" lang="fr-FR" u="sng" smtClean="0">
                <a:solidFill>
                  <a:schemeClr val="tx1"/>
                </a:solidFill>
                <a:latin typeface="+mn-lt"/>
                <a:ea typeface="+mn-ea"/>
                <a:cs typeface="+mn-cs"/>
              </a:rPr>
              <a:t>formes cliniques et complications</a:t>
            </a:r>
            <a:r>
              <a:rPr dirty="0" sz="1200" kern="1200" lang="fr-FR" smtClean="0">
                <a:solidFill>
                  <a:schemeClr val="tx1"/>
                </a:solidFill>
                <a:latin typeface="+mn-lt"/>
                <a:ea typeface="+mn-ea"/>
                <a:cs typeface="+mn-cs"/>
              </a:rPr>
              <a:t>:</a:t>
            </a:r>
          </a:p>
          <a:p>
            <a:pPr algn="l" defTabSz="914400" eaLnBrk="1" fontAlgn="auto" hangingPunct="1" indent="0" latinLnBrk="0" marL="0" marR="0" rtl="0">
              <a:lnSpc>
                <a:spcPct val="100000"/>
              </a:lnSpc>
              <a:spcBef>
                <a:spcPts val="0"/>
              </a:spcBef>
              <a:spcAft>
                <a:spcPts val="0"/>
              </a:spcAft>
              <a:buClrTx/>
              <a:buSzTx/>
              <a:buFontTx/>
              <a:buNone/>
            </a:pPr>
            <a:r>
              <a:rPr dirty="0" sz="1200" kern="1200" lang="fr-FR" smtClean="0">
                <a:solidFill>
                  <a:schemeClr val="tx1"/>
                </a:solidFill>
                <a:latin typeface="+mn-lt"/>
                <a:ea typeface="+mn-ea"/>
                <a:cs typeface="+mn-cs"/>
              </a:rPr>
              <a:t>La péricardite est caractérisée par un large spectre de présentations cliniques, le principal</a:t>
            </a:r>
            <a:r>
              <a:rPr baseline="0" dirty="0" sz="1200" kern="1200" lang="fr-FR" smtClean="0">
                <a:solidFill>
                  <a:schemeClr val="tx1"/>
                </a:solidFill>
                <a:latin typeface="+mn-lt"/>
                <a:ea typeface="+mn-ea"/>
                <a:cs typeface="+mn-cs"/>
              </a:rPr>
              <a:t> symptôme évocateur étant la douleur de type péricarditique, sensible aux changements de position</a:t>
            </a:r>
            <a:r>
              <a:rPr dirty="0" sz="1200" kern="1200" lang="fr-FR" smtClean="0">
                <a:solidFill>
                  <a:schemeClr val="tx1"/>
                </a:solidFill>
                <a:latin typeface="+mn-lt"/>
                <a:ea typeface="+mn-ea"/>
                <a:cs typeface="+mn-cs"/>
              </a:rPr>
              <a:t> et aux mouvements</a:t>
            </a:r>
            <a:r>
              <a:rPr baseline="0" dirty="0" sz="1200" kern="1200" lang="fr-FR" smtClean="0">
                <a:solidFill>
                  <a:schemeClr val="tx1"/>
                </a:solidFill>
                <a:latin typeface="+mn-lt"/>
                <a:ea typeface="+mn-ea"/>
                <a:cs typeface="+mn-cs"/>
              </a:rPr>
              <a:t> respiratoires. </a:t>
            </a:r>
            <a:endParaRPr b="0" dirty="0" sz="1200" kern="1200" lang="fr-FR" smtClean="0">
              <a:solidFill>
                <a:schemeClr val="tx1"/>
              </a:solidFill>
              <a:latin typeface="+mn-lt"/>
              <a:ea typeface="+mn-ea"/>
              <a:cs typeface="+mn-cs"/>
            </a:endParaRPr>
          </a:p>
          <a:p>
            <a:pPr algn="l" defTabSz="914400" eaLnBrk="1" fontAlgn="auto" hangingPunct="1" indent="0" latinLnBrk="0" marL="0" marR="0" rtl="0">
              <a:lnSpc>
                <a:spcPct val="100000"/>
              </a:lnSpc>
              <a:spcBef>
                <a:spcPts val="0"/>
              </a:spcBef>
              <a:spcAft>
                <a:spcPts val="0"/>
              </a:spcAft>
              <a:buClrTx/>
              <a:buSzTx/>
              <a:buFontTx/>
              <a:buNone/>
            </a:pPr>
            <a:r>
              <a:rPr dirty="0" lang="fr-FR" smtClean="0"/>
              <a:t>La péricardite peut s’exprimer par:</a:t>
            </a:r>
          </a:p>
          <a:p>
            <a:pPr algn="l" defTabSz="914400" eaLnBrk="1" fontAlgn="auto" hangingPunct="1" indent="0" latinLnBrk="0" marL="0" marR="0" rtl="0">
              <a:lnSpc>
                <a:spcPct val="100000"/>
              </a:lnSpc>
              <a:spcBef>
                <a:spcPts val="0"/>
              </a:spcBef>
              <a:spcAft>
                <a:spcPts val="0"/>
              </a:spcAft>
              <a:buClrTx/>
              <a:buSzTx/>
              <a:buFontTx/>
              <a:buNone/>
            </a:pPr>
            <a:r>
              <a:rPr dirty="0" lang="fr-FR" smtClean="0"/>
              <a:t>1-</a:t>
            </a:r>
            <a:r>
              <a:rPr baseline="0" dirty="0" lang="fr-FR" smtClean="0"/>
              <a:t> </a:t>
            </a:r>
            <a:r>
              <a:rPr baseline="0" dirty="0" i="1" lang="fr-FR" smtClean="0"/>
              <a:t>une péricardite sèche:</a:t>
            </a:r>
            <a:r>
              <a:rPr baseline="0" dirty="0" lang="fr-FR" smtClean="0"/>
              <a:t> péricardite sans épanchement liquidien, généralement sans étiologie spécifique et de bon pronostic.</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2- </a:t>
            </a:r>
            <a:r>
              <a:rPr baseline="0" dirty="0" i="1" lang="fr-FR" smtClean="0"/>
              <a:t>une péricardite liquidienne ou avec épanchement:</a:t>
            </a:r>
            <a:r>
              <a:rPr baseline="0" dirty="0" lang="fr-FR" smtClean="0"/>
              <a:t> dans 50 à 60% des cas présence d’un épanchement de moyenne (10 à 20 mm) à grande abondance (&gt; à 20 mm)</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3- </a:t>
            </a:r>
            <a:r>
              <a:rPr baseline="0" dirty="0" i="1" lang="fr-FR" smtClean="0"/>
              <a:t>une péricardite constrictive liquidienne:</a:t>
            </a:r>
            <a:r>
              <a:rPr baseline="0" dirty="0" lang="fr-FR" smtClean="0"/>
              <a:t> associe un épanchement et un épaississement des feuillets péricardiques avec constriction. Elle est découverte au décours d’un drainage péricardique pour tamponnade mais où persiste un phénomène physiopathologique de constriction et une pression auriculaire droite qui ne baisse pas après drainage. Actuellement l’imagerie multimodale permet le diagnostic sans recours au cathétérisme cardiaque. L’étiologie tuberculeuse est à évoquer.</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4- </a:t>
            </a:r>
            <a:r>
              <a:rPr baseline="0" dirty="0" i="1" lang="fr-FR" smtClean="0"/>
              <a:t>une péricardite avec tamponnade cardiaque:</a:t>
            </a:r>
            <a:r>
              <a:rPr baseline="0" dirty="0" i="0" lang="fr-FR" smtClean="0"/>
              <a:t> où l’inflammation du péricarde conduit à l’accumulation d’un épanchement liquidien compressif. Elle engage le pronostic vital et sera </a:t>
            </a:r>
            <a:r>
              <a:rPr baseline="0" dirty="0" lang="fr-FR" smtClean="0"/>
              <a:t>évoquée devant la triade de  Beck qui associe hypotension-turgescence des jugulaire-bruits cardiaques assourdis, avec pouls paradoxal, alternance électrique et bas voltage à l’ECG.</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5- </a:t>
            </a:r>
            <a:r>
              <a:rPr baseline="0" dirty="0" i="1" lang="fr-FR" smtClean="0"/>
              <a:t>une constriction péricardique:</a:t>
            </a:r>
            <a:r>
              <a:rPr baseline="0" dirty="0" lang="fr-FR" smtClean="0"/>
              <a:t> due à des feuillets péricardiques épaissis et fibrosés voire calcifiés, créant une gêne au remplissage du cœur (adiastolie) responsable d’un tableau d’insuffisance cardiaque droite avec dilatation des jugulaires, œdèmes distaux et ascite, pleurésie récidivante, dyspnée, asthénie. Le scanner ou l’IRM cardiaque confirment l’épaississement du péricarde. Un cathétérisme cardiaque peut parfois être indiqué pour éliminer une cardiomyopathie restrictive (CMR) si les autres examens sont non concluants.</a:t>
            </a:r>
          </a:p>
          <a:p>
            <a:pPr algn="l" defTabSz="914400" eaLnBrk="1" fontAlgn="auto" hangingPunct="1" indent="0" latinLnBrk="0" marL="0" marR="0" rtl="0">
              <a:lnSpc>
                <a:spcPct val="100000"/>
              </a:lnSpc>
              <a:spcBef>
                <a:spcPts val="0"/>
              </a:spcBef>
              <a:spcAft>
                <a:spcPts val="0"/>
              </a:spcAft>
              <a:buClrTx/>
              <a:buSzTx/>
              <a:buFontTx/>
              <a:buNone/>
            </a:pPr>
            <a:r>
              <a:rPr baseline="0" dirty="0" lang="fr-FR" smtClean="0"/>
              <a:t> 6- </a:t>
            </a:r>
            <a:r>
              <a:rPr baseline="0" dirty="0" i="1" lang="fr-FR" smtClean="0"/>
              <a:t>une constriction péricardique transitoire:</a:t>
            </a:r>
            <a:r>
              <a:rPr baseline="0" dirty="0" lang="fr-FR" smtClean="0"/>
              <a:t> où il existe une constriction péricardique avec biomarqueurs de l’inflammation positifs; ce tableau est potentiellement réversible (50% des cas) sous traitement anti-inflammatoire qui doit être maintenu pendant 3 à 6 mois avant de conclure à une forme constrictive définitive relevant de la chirurgie (</a:t>
            </a:r>
            <a:r>
              <a:rPr baseline="0" lang="fr-FR" smtClean="0"/>
              <a:t>péricardectomie)</a:t>
            </a:r>
          </a:p>
          <a:p>
            <a:endParaRPr dirty="0" lang="fr-FR" smtClean="0"/>
          </a:p>
        </p:txBody>
      </p:sp>
      <p:sp>
        <p:nvSpPr>
          <p:cNvPr id="1048755"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6CA76EB0-2CDA-4241-A30C-0E5306D15FC3}" type="slidenum">
              <a:rPr lang="fr-FR" smtClean="0"/>
              <a:t>23</a:t>
            </a:fld>
            <a:endParaRPr lang="fr-F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75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59" name="Espace réservé des commentaires 2"/>
          <p:cNvSpPr>
            <a:spLocks noGrp="1"/>
          </p:cNvSpPr>
          <p:nvPr>
            <p:ph type="body" idx="1"/>
          </p:nvPr>
        </p:nvSpPr>
        <p:spPr bwMode="auto"/>
        <p:txBody>
          <a:bodyPr anchor="t" anchorCtr="0" compatLnSpc="1" numCol="1" wrap="square">
            <a:prstTxWarp prst="textNoShape"/>
          </a:bodyPr>
          <a:p>
            <a:r>
              <a:rPr b="1" dirty="0" lang="fr-FR" smtClean="0"/>
              <a:t>VIII- LA PERICARDITE CHRONIQUE CONSTRICTIVE:</a:t>
            </a:r>
          </a:p>
          <a:p>
            <a:pPr indent="-228600" marL="228600">
              <a:buFontTx/>
              <a:buAutoNum type="alphaUcPeriod"/>
            </a:pPr>
            <a:r>
              <a:rPr b="1" dirty="0" lang="fr-FR" smtClean="0"/>
              <a:t>Définition: </a:t>
            </a:r>
            <a:r>
              <a:rPr dirty="0" lang="fr-FR" smtClean="0"/>
              <a:t>la PCC est une pathologie rare causée par une altération fibrino-calcique du péricarde formant une coque rigide autour du cœur limitant  le remplissage ventriculaire. C’est une adiastolie </a:t>
            </a:r>
            <a:r>
              <a:rPr dirty="0" lang="fr-FR" u="sng" smtClean="0"/>
              <a:t>chronique</a:t>
            </a:r>
            <a:r>
              <a:rPr dirty="0" lang="fr-FR" smtClean="0"/>
              <a:t>.</a:t>
            </a:r>
          </a:p>
          <a:p>
            <a:pPr indent="-228600" marL="228600">
              <a:buFontTx/>
              <a:buAutoNum type="alphaUcPeriod"/>
            </a:pPr>
            <a:r>
              <a:rPr b="1" dirty="0" lang="fr-FR" smtClean="0"/>
              <a:t>Anatomopathologie:</a:t>
            </a:r>
            <a:r>
              <a:rPr dirty="0" lang="fr-FR" smtClean="0"/>
              <a:t> le péricarde est épais, fibreux voire calcifié, réalisant dans les cas extrêmes une coque qui enserre le cœur.</a:t>
            </a:r>
          </a:p>
          <a:p>
            <a:pPr indent="-228600" marL="228600">
              <a:buFontTx/>
              <a:buAutoNum type="alphaUcPeriod"/>
            </a:pPr>
            <a:r>
              <a:rPr b="1" dirty="0" lang="fr-FR" smtClean="0"/>
              <a:t>Physiopathologie: </a:t>
            </a:r>
            <a:r>
              <a:rPr dirty="0" lang="fr-FR" smtClean="0"/>
              <a:t>le péricarde rigide empêche la transmission des pressions intra thoraciques aux cavités cardiaques, créant une dissociation des pressions intra thoraciques et intracardiaques</a:t>
            </a:r>
            <a:r>
              <a:rPr b="1" dirty="0" lang="fr-FR" smtClean="0"/>
              <a:t> </a:t>
            </a:r>
            <a:r>
              <a:rPr dirty="0" lang="fr-FR" smtClean="0"/>
              <a:t>et une interdépendance ventriculaire, chaque ventricule se remplissant au détriment de l’autre avec mouvement paradoxal du septum.</a:t>
            </a:r>
          </a:p>
          <a:p>
            <a:pPr indent="-228600" marL="228600">
              <a:buFontTx/>
              <a:buNone/>
            </a:pPr>
            <a:r>
              <a:rPr dirty="0" lang="fr-FR" smtClean="0"/>
              <a:t>     [La constriction entraine une gêne permanente et </a:t>
            </a:r>
            <a:r>
              <a:rPr dirty="0" lang="fr-FR" u="sng" smtClean="0"/>
              <a:t>fixe</a:t>
            </a:r>
            <a:r>
              <a:rPr baseline="0" dirty="0" lang="fr-FR" smtClean="0"/>
              <a:t> du remplissage du VD sans arriver au collapsus des cavités droites (adiastolie chronique), à l’inverse de la tamponnade qui provoque une gêne au remplissage évolutive, d’aggravation progressive jusqu’au collapsus VD (adiastolie aigue).]</a:t>
            </a:r>
            <a:endParaRPr dirty="0" lang="fr-FR" smtClean="0"/>
          </a:p>
          <a:p>
            <a:r>
              <a:rPr b="1" dirty="0" lang="fr-FR" smtClean="0"/>
              <a:t>D. Etiologies:</a:t>
            </a:r>
            <a:r>
              <a:rPr dirty="0" lang="fr-FR" smtClean="0"/>
              <a:t> toutes les causes peuvent être incriminées mais l’évolution vers une constriction péricardique est exceptionnelle (&lt; 1 %) après une péricardite aiguë banale, plus fréquente (2-5 %) après une péricardite auto-immune ou cancéreuse, post </a:t>
            </a:r>
            <a:r>
              <a:rPr dirty="0" lang="fr-FR" err="1" smtClean="0"/>
              <a:t>radique</a:t>
            </a:r>
            <a:r>
              <a:rPr dirty="0" lang="fr-FR" smtClean="0"/>
              <a:t> ou après chirurgie cardiaque, et très fréquente (20 %) après une péricardite tuberculeuse ou purulente.</a:t>
            </a:r>
          </a:p>
          <a:p>
            <a:r>
              <a:rPr b="1" dirty="0" lang="fr-FR" smtClean="0"/>
              <a:t>E. Diagnostic positif:</a:t>
            </a:r>
          </a:p>
          <a:p>
            <a:pPr>
              <a:buFont typeface="Wingdings" pitchFamily="2" charset="2"/>
              <a:buNone/>
            </a:pPr>
            <a:r>
              <a:rPr dirty="0" lang="fr-FR" smtClean="0"/>
              <a:t>   - le tableau clinique est fait d’une dyspnée avec un épanchement pleural récidivant et de signes d’insuffisance cardiaque droite, avec souvent un tableau d’anasarque, évoluant parfois depuis plusieurs années avant le diagnostic.</a:t>
            </a:r>
          </a:p>
          <a:p>
            <a:pPr>
              <a:buFont typeface="Wingdings" pitchFamily="2" charset="2"/>
              <a:buNone/>
            </a:pPr>
            <a:r>
              <a:rPr dirty="0" lang="fr-FR" smtClean="0"/>
              <a:t>   - un téléthorax face et profil doit être réalisé à la recherche de calcifications plus ou moins étendue; il n’y a pas de cardiomégalie;(</a:t>
            </a:r>
            <a:r>
              <a:rPr baseline="0" dirty="0" lang="fr-FR" smtClean="0"/>
              <a:t>contraste entre tableau de décompensation droite sévère et « petit cœur radiologique »).</a:t>
            </a:r>
            <a:endParaRPr dirty="0" lang="fr-FR" smtClean="0"/>
          </a:p>
          <a:p>
            <a:r>
              <a:rPr dirty="0" lang="fr-FR" smtClean="0"/>
              <a:t>   - l’imagerie par échocardiographie, ou par cathétérisme cardiaque si nécessaire, apporte la preuve d’une altération du remplissage diastolique avec un profil de type restrictif; Il existe des variations respiratoires exagérées des flux de remplissage mitral et tricuspide. La fraction d’éjection est conservée.</a:t>
            </a:r>
          </a:p>
          <a:p>
            <a:r>
              <a:rPr dirty="0" lang="fr-FR" smtClean="0"/>
              <a:t>   - Un scanner thoracique et/ou une IRM sont indiqués comme technique d’imagerie</a:t>
            </a:r>
            <a:r>
              <a:rPr baseline="0" dirty="0" lang="fr-FR" smtClean="0"/>
              <a:t> </a:t>
            </a:r>
            <a:r>
              <a:rPr dirty="0" lang="fr-FR" smtClean="0"/>
              <a:t>de 2</a:t>
            </a:r>
            <a:r>
              <a:rPr baseline="30000" dirty="0" lang="fr-FR" smtClean="0"/>
              <a:t>ème</a:t>
            </a:r>
            <a:r>
              <a:rPr baseline="0" dirty="0" lang="fr-FR" smtClean="0"/>
              <a:t> </a:t>
            </a:r>
            <a:r>
              <a:rPr dirty="0" lang="fr-FR" smtClean="0"/>
              <a:t>niveau pour évaluer les calcifications, l’épaisseur péricardique qui dépasse 3 à 4 mm, le degré et l’étendue de l’atteinte péricardique. </a:t>
            </a:r>
          </a:p>
          <a:p>
            <a:r>
              <a:rPr dirty="0" lang="fr-FR" smtClean="0"/>
              <a:t>L’absence d’épaississement n’exclut pas le diagnostic.</a:t>
            </a:r>
          </a:p>
        </p:txBody>
      </p:sp>
      <p:sp>
        <p:nvSpPr>
          <p:cNvPr id="104876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2B86DA73-454C-4BB4-BF25-5E5CECBFA26A}" type="slidenum">
              <a:rPr lang="fr-FR" smtClean="0"/>
              <a:t>24</a:t>
            </a:fld>
            <a:endParaRPr lang="fr-F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768"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69" name="Espace réservé des commentaires 2"/>
          <p:cNvSpPr>
            <a:spLocks noGrp="1"/>
          </p:cNvSpPr>
          <p:nvPr>
            <p:ph type="body" idx="1"/>
          </p:nvPr>
        </p:nvSpPr>
        <p:spPr bwMode="auto">
          <a:noFill/>
        </p:spPr>
        <p:txBody>
          <a:bodyPr anchor="t" anchorCtr="0" compatLnSpc="1" numCol="1" wrap="square">
            <a:prstTxWarp prst="textNoShape"/>
          </a:bodyPr>
          <a:p>
            <a:r>
              <a:rPr b="1" dirty="0" lang="fr-FR" smtClean="0"/>
              <a:t>C- Physiopathologie</a:t>
            </a:r>
            <a:r>
              <a:rPr dirty="0" lang="fr-FR" smtClean="0"/>
              <a:t>: Il s’agit d’un tableau hémodynamique mortel réalisant un état de choc du à une compression lente ou rapide du cœur, lorsque la pression </a:t>
            </a:r>
            <a:r>
              <a:rPr dirty="0" lang="fr-FR" err="1" smtClean="0"/>
              <a:t>intrapéricardique</a:t>
            </a:r>
            <a:r>
              <a:rPr dirty="0" lang="fr-FR" smtClean="0"/>
              <a:t> dépasse la pression diastolique intra cardiaque, les cavités droites étant les premières à subir cette compression du fait du niveau de pression plus bas qui règne dans ces cavités. La pression intra VD diastolique augmente pour assurer un remplissage diastolique, de même que les pressions OD et veineuses caves. A mesure que la pression extracardiaque augmente le volume télédiastolique du VD diminue et par conséquent son volume d’éjection systolique, avec pour conséquence une baisse du débit cardiaque donc état de choc, et dans les cas extrêmes un désamorçage de la pompe cardiaque par collapsus total de la cavité VD.</a:t>
            </a:r>
          </a:p>
        </p:txBody>
      </p:sp>
      <p:sp>
        <p:nvSpPr>
          <p:cNvPr id="1048770"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B1E67C46-7A06-40A1-9578-882D2165B22E}" type="slidenum">
              <a:rPr lang="fr-FR" smtClean="0"/>
              <a:t>25</a:t>
            </a:fld>
            <a:endParaRPr lang="fr-FR"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773"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74" name="Espace réservé des commentaires 2"/>
          <p:cNvSpPr>
            <a:spLocks noGrp="1"/>
          </p:cNvSpPr>
          <p:nvPr>
            <p:ph type="body" idx="1"/>
          </p:nvPr>
        </p:nvSpPr>
        <p:spPr bwMode="auto">
          <a:noFill/>
        </p:spPr>
        <p:txBody>
          <a:bodyPr anchor="t" anchorCtr="0" compatLnSpc="1" numCol="1" wrap="square">
            <a:prstTxWarp prst="textNoShape"/>
          </a:bodyPr>
          <a:p>
            <a:r>
              <a:rPr baseline="0" b="1" dirty="0" lang="fr-FR" smtClean="0">
                <a:sym typeface="Symbol" pitchFamily="18" charset="2"/>
              </a:rPr>
              <a:t>B- Critères diagnostiques des péricardites aigues</a:t>
            </a:r>
            <a:r>
              <a:rPr baseline="0" dirty="0" lang="fr-FR" smtClean="0">
                <a:sym typeface="Symbol" pitchFamily="18" charset="2"/>
              </a:rPr>
              <a:t>	 </a:t>
            </a:r>
            <a:endParaRPr dirty="0" lang="fr-FR" smtClean="0">
              <a:sym typeface="Symbol" pitchFamily="18" charset="2"/>
            </a:endParaRPr>
          </a:p>
          <a:p>
            <a:r>
              <a:rPr dirty="0" sz="1200" i="0" kern="1200" lang="fr-FR" smtClean="0">
                <a:solidFill>
                  <a:schemeClr val="tx1"/>
                </a:solidFill>
                <a:latin typeface="+mn-lt"/>
                <a:ea typeface="+mn-ea"/>
                <a:cs typeface="+mn-cs"/>
              </a:rPr>
              <a:t>En</a:t>
            </a:r>
            <a:r>
              <a:rPr baseline="0" dirty="0" sz="1200" i="0" kern="1200" lang="fr-FR" smtClean="0">
                <a:solidFill>
                  <a:schemeClr val="tx1"/>
                </a:solidFill>
                <a:latin typeface="+mn-lt"/>
                <a:ea typeface="+mn-ea"/>
                <a:cs typeface="+mn-cs"/>
              </a:rPr>
              <a:t> présence d’une présentation clinique évocatrice on recherchera des critères additionnels:</a:t>
            </a:r>
            <a:endParaRPr dirty="0" sz="1200" i="0" kern="1200" lang="fr-FR" smtClean="0">
              <a:solidFill>
                <a:schemeClr val="tx1"/>
              </a:solidFill>
              <a:latin typeface="+mn-lt"/>
              <a:ea typeface="+mn-ea"/>
              <a:cs typeface="+mn-cs"/>
            </a:endParaRPr>
          </a:p>
          <a:p>
            <a:pPr lvl="0"/>
            <a:r>
              <a:rPr dirty="0" sz="1200" i="0" kern="1200" lang="fr-FR" smtClean="0">
                <a:solidFill>
                  <a:schemeClr val="tx1"/>
                </a:solidFill>
                <a:latin typeface="+mn-lt"/>
                <a:ea typeface="+mn-ea"/>
                <a:cs typeface="+mn-cs"/>
              </a:rPr>
              <a:t>  - clinique:</a:t>
            </a:r>
            <a:r>
              <a:rPr baseline="0" dirty="0" sz="1200" i="0" kern="1200" lang="fr-FR" smtClean="0">
                <a:solidFill>
                  <a:schemeClr val="tx1"/>
                </a:solidFill>
                <a:latin typeface="+mn-lt"/>
                <a:ea typeface="+mn-ea"/>
                <a:cs typeface="+mn-cs"/>
              </a:rPr>
              <a:t> </a:t>
            </a:r>
            <a:r>
              <a:rPr dirty="0" sz="1200" i="0" kern="1200" lang="fr-FR" smtClean="0">
                <a:solidFill>
                  <a:schemeClr val="tx1"/>
                </a:solidFill>
                <a:latin typeface="+mn-lt"/>
                <a:ea typeface="+mn-ea"/>
                <a:cs typeface="+mn-cs"/>
              </a:rPr>
              <a:t>Frottement péricardique;</a:t>
            </a:r>
          </a:p>
          <a:p>
            <a:pPr lvl="0"/>
            <a:r>
              <a:rPr baseline="0" dirty="0" sz="1200" i="1" kern="1200" lang="fr-FR" smtClean="0">
                <a:solidFill>
                  <a:schemeClr val="tx1"/>
                </a:solidFill>
                <a:latin typeface="+mn-lt"/>
                <a:ea typeface="+mn-ea"/>
                <a:cs typeface="+mn-cs"/>
              </a:rPr>
              <a:t>  - </a:t>
            </a:r>
            <a:r>
              <a:rPr dirty="0" sz="1200" i="0" kern="1200" lang="fr-FR" smtClean="0">
                <a:solidFill>
                  <a:schemeClr val="tx1"/>
                </a:solidFill>
                <a:latin typeface="+mn-lt"/>
                <a:ea typeface="+mn-ea"/>
                <a:cs typeface="+mn-cs"/>
              </a:rPr>
              <a:t>ECG: apparition d’un sus-décalage</a:t>
            </a:r>
            <a:r>
              <a:rPr baseline="0" dirty="0" sz="1200" i="0" kern="1200" lang="fr-FR" smtClean="0">
                <a:solidFill>
                  <a:schemeClr val="tx1"/>
                </a:solidFill>
                <a:latin typeface="+mn-lt"/>
                <a:ea typeface="+mn-ea"/>
                <a:cs typeface="+mn-cs"/>
              </a:rPr>
              <a:t> récent </a:t>
            </a:r>
            <a:r>
              <a:rPr dirty="0" sz="1200" i="0" kern="1200" lang="fr-FR" smtClean="0">
                <a:solidFill>
                  <a:schemeClr val="tx1"/>
                </a:solidFill>
                <a:latin typeface="+mn-lt"/>
                <a:ea typeface="+mn-ea"/>
                <a:cs typeface="+mn-cs"/>
              </a:rPr>
              <a:t>du segment ST diffus ou sous-décalage du segment PR;</a:t>
            </a:r>
          </a:p>
          <a:p>
            <a:pPr lvl="0"/>
            <a:r>
              <a:rPr dirty="0" sz="1200" i="0" kern="1200" lang="fr-FR" smtClean="0">
                <a:solidFill>
                  <a:schemeClr val="tx1"/>
                </a:solidFill>
                <a:latin typeface="+mn-lt"/>
                <a:ea typeface="+mn-ea"/>
                <a:cs typeface="+mn-cs"/>
              </a:rPr>
              <a:t>  - biomarqueurs de l’inflammation: élévation de la CRP;</a:t>
            </a:r>
          </a:p>
          <a:p>
            <a:r>
              <a:rPr dirty="0" sz="1200" i="0" kern="1200" lang="fr-FR" smtClean="0">
                <a:solidFill>
                  <a:schemeClr val="tx1"/>
                </a:solidFill>
                <a:latin typeface="+mn-lt"/>
                <a:ea typeface="+mn-ea"/>
                <a:cs typeface="+mn-cs"/>
              </a:rPr>
              <a:t>  - imagerie:</a:t>
            </a:r>
          </a:p>
          <a:p>
            <a:r>
              <a:rPr dirty="0" sz="1200" i="0" kern="1200" lang="fr-FR" smtClean="0">
                <a:solidFill>
                  <a:schemeClr val="tx1"/>
                </a:solidFill>
                <a:latin typeface="+mn-lt"/>
                <a:ea typeface="+mn-ea"/>
                <a:cs typeface="+mn-cs"/>
              </a:rPr>
              <a:t>      -</a:t>
            </a:r>
            <a:r>
              <a:rPr baseline="0" dirty="0" sz="1200" i="0" kern="1200" lang="fr-FR" smtClean="0">
                <a:solidFill>
                  <a:schemeClr val="tx1"/>
                </a:solidFill>
                <a:latin typeface="+mn-lt"/>
                <a:ea typeface="+mn-ea"/>
                <a:cs typeface="+mn-cs"/>
              </a:rPr>
              <a:t> présence d’un épanchement péricardique nouveau ou d’abondance croissante à  l’échocardiographie;</a:t>
            </a:r>
          </a:p>
          <a:p>
            <a:r>
              <a:rPr baseline="0" dirty="0" sz="1200" i="0" kern="1200" lang="fr-FR" smtClean="0">
                <a:solidFill>
                  <a:schemeClr val="tx1"/>
                </a:solidFill>
                <a:latin typeface="+mn-lt"/>
                <a:ea typeface="+mn-ea"/>
                <a:cs typeface="+mn-cs"/>
              </a:rPr>
              <a:t>      - présence d’un œdème péricardique et/ou un rehaussement tardif à l’IRM;</a:t>
            </a:r>
            <a:endParaRPr dirty="0" sz="1200" i="0" kern="1200" lang="fr-FR" smtClean="0">
              <a:solidFill>
                <a:schemeClr val="tx1"/>
              </a:solidFill>
              <a:latin typeface="+mn-lt"/>
              <a:ea typeface="+mn-ea"/>
              <a:cs typeface="+mn-cs"/>
            </a:endParaRPr>
          </a:p>
          <a:p>
            <a:r>
              <a:rPr dirty="0" sz="1200" kern="1200" lang="fr-FR" smtClean="0">
                <a:solidFill>
                  <a:schemeClr val="tx1"/>
                </a:solidFill>
                <a:latin typeface="+mn-lt"/>
                <a:ea typeface="+mn-ea"/>
                <a:cs typeface="+mn-cs"/>
              </a:rPr>
              <a:t>Le diagnostic de péricardite est:</a:t>
            </a:r>
          </a:p>
          <a:p>
            <a:r>
              <a:rPr baseline="0" dirty="0" lang="fr-FR" smtClean="0">
                <a:solidFill>
                  <a:srgbClr val="C00000"/>
                </a:solidFill>
                <a:latin typeface="Calibri" pitchFamily="34" charset="0"/>
              </a:rPr>
              <a:t> - certain</a:t>
            </a:r>
            <a:r>
              <a:rPr baseline="0" dirty="0" lang="fr-FR" smtClean="0">
                <a:latin typeface="Calibri" pitchFamily="34" charset="0"/>
              </a:rPr>
              <a:t> </a:t>
            </a:r>
            <a:r>
              <a:rPr baseline="0" b="0" dirty="0" lang="fr-FR" smtClean="0">
                <a:latin typeface="Calibri" pitchFamily="34" charset="0"/>
              </a:rPr>
              <a:t>s’il y a une présentation clinique avec </a:t>
            </a:r>
            <a:r>
              <a:rPr baseline="0" b="0" dirty="0" lang="fr-FR" smtClean="0">
                <a:latin typeface="+mn-lt"/>
              </a:rPr>
              <a:t>plus d’1 critère additionnel</a:t>
            </a:r>
          </a:p>
          <a:p>
            <a:r>
              <a:rPr baseline="0" dirty="0" lang="fr-FR" smtClean="0">
                <a:solidFill>
                  <a:srgbClr val="FA8006"/>
                </a:solidFill>
                <a:latin typeface="+mn-lt"/>
              </a:rPr>
              <a:t> - possible </a:t>
            </a:r>
            <a:r>
              <a:rPr baseline="0" b="0" dirty="0" lang="fr-FR" smtClean="0">
                <a:latin typeface="Calibri" pitchFamily="34" charset="0"/>
              </a:rPr>
              <a:t>s’il y a une</a:t>
            </a:r>
            <a:r>
              <a:rPr baseline="0" dirty="0" lang="fr-FR" smtClean="0">
                <a:latin typeface="+mn-lt"/>
              </a:rPr>
              <a:t> </a:t>
            </a:r>
            <a:r>
              <a:rPr baseline="0" b="0" dirty="0" lang="fr-FR" smtClean="0">
                <a:latin typeface="+mn-lt"/>
              </a:rPr>
              <a:t>présentation</a:t>
            </a:r>
            <a:r>
              <a:rPr baseline="0" dirty="0" lang="fr-FR" smtClean="0">
                <a:latin typeface="+mn-lt"/>
              </a:rPr>
              <a:t> </a:t>
            </a:r>
            <a:r>
              <a:rPr baseline="0" b="0" dirty="0" lang="fr-FR" smtClean="0">
                <a:latin typeface="+mn-lt"/>
              </a:rPr>
              <a:t>clinique avec 1 seul critère additionnel</a:t>
            </a:r>
          </a:p>
          <a:p>
            <a:pPr>
              <a:spcAft>
                <a:spcPts val="600"/>
              </a:spcAft>
            </a:pPr>
            <a:r>
              <a:rPr baseline="0" dirty="0" lang="fr-FR" smtClean="0">
                <a:solidFill>
                  <a:srgbClr val="0070C0"/>
                </a:solidFill>
                <a:latin typeface="+mn-lt"/>
              </a:rPr>
              <a:t> - peu probable, rejeté,</a:t>
            </a:r>
            <a:r>
              <a:rPr baseline="0" dirty="0" lang="fr-FR" smtClean="0">
                <a:latin typeface="+mn-lt"/>
              </a:rPr>
              <a:t> </a:t>
            </a:r>
            <a:r>
              <a:rPr baseline="0" b="0" dirty="0" lang="fr-FR" smtClean="0">
                <a:latin typeface="+mn-lt"/>
              </a:rPr>
              <a:t>face à une</a:t>
            </a:r>
            <a:r>
              <a:rPr baseline="0" dirty="0" lang="fr-FR" smtClean="0">
                <a:latin typeface="+mn-lt"/>
              </a:rPr>
              <a:t> </a:t>
            </a:r>
            <a:r>
              <a:rPr baseline="0" b="0" dirty="0" lang="fr-FR" smtClean="0">
                <a:latin typeface="+mn-lt"/>
              </a:rPr>
              <a:t>présentation clinique seule</a:t>
            </a:r>
          </a:p>
          <a:p>
            <a:pPr>
              <a:spcAft>
                <a:spcPts val="600"/>
              </a:spcAft>
            </a:pPr>
            <a:endParaRPr baseline="0" b="0" dirty="0" lang="fr-FR" smtClean="0">
              <a:latin typeface="+mn-lt"/>
            </a:endParaRPr>
          </a:p>
          <a:p>
            <a:pPr>
              <a:spcAft>
                <a:spcPts val="600"/>
              </a:spcAft>
            </a:pPr>
            <a:r>
              <a:rPr baseline="0" b="0" dirty="0" lang="fr-FR" smtClean="0">
                <a:latin typeface="+mn-lt"/>
              </a:rPr>
              <a:t>Formes évolutives:</a:t>
            </a:r>
          </a:p>
          <a:p>
            <a:r>
              <a:rPr dirty="0" sz="1200" i="0" lang="fr-FR" smtClean="0">
                <a:sym typeface="Symbol" pitchFamily="18" charset="2"/>
              </a:rPr>
              <a:t>Selon la durée de l’épisode initial, ou la réapparition d’un nouvel épisode après guérison,</a:t>
            </a:r>
            <a:r>
              <a:rPr baseline="0" dirty="0" sz="1200" i="0" lang="fr-FR" smtClean="0">
                <a:sym typeface="Symbol" pitchFamily="18" charset="2"/>
              </a:rPr>
              <a:t> </a:t>
            </a:r>
            <a:r>
              <a:rPr dirty="0" sz="1200" i="0" lang="fr-FR" smtClean="0">
                <a:sym typeface="Symbol" pitchFamily="18" charset="2"/>
              </a:rPr>
              <a:t>on distinguera</a:t>
            </a:r>
          </a:p>
          <a:p>
            <a:r>
              <a:rPr dirty="0" sz="1200" i="0" lang="fr-FR" smtClean="0">
                <a:sym typeface="Symbol" pitchFamily="18" charset="2"/>
              </a:rPr>
              <a:t>- La forme aigue qui dure moins de 4 semaines</a:t>
            </a:r>
          </a:p>
          <a:p>
            <a:r>
              <a:rPr dirty="0" sz="1200" i="0" lang="fr-FR" smtClean="0">
                <a:sym typeface="Symbol" pitchFamily="18" charset="2"/>
              </a:rPr>
              <a:t>- La formes </a:t>
            </a:r>
            <a:r>
              <a:rPr dirty="0" sz="1200" i="0" lang="fr-FR" err="1" smtClean="0">
                <a:sym typeface="Symbol" pitchFamily="18" charset="2"/>
              </a:rPr>
              <a:t>sub</a:t>
            </a:r>
            <a:r>
              <a:rPr dirty="0" sz="1200" i="0" lang="fr-FR" smtClean="0">
                <a:sym typeface="Symbol" pitchFamily="18" charset="2"/>
              </a:rPr>
              <a:t> aigue qui dure entre 4 semaines et 3 mois</a:t>
            </a:r>
          </a:p>
          <a:p>
            <a:r>
              <a:rPr dirty="0" sz="1200" i="0" lang="fr-FR" smtClean="0">
                <a:sym typeface="Symbol" pitchFamily="18" charset="2"/>
              </a:rPr>
              <a:t>- La forme récidivante qui survient après rémission d’un 1</a:t>
            </a:r>
            <a:r>
              <a:rPr baseline="30000" dirty="0" sz="1200" i="0" lang="fr-FR" smtClean="0">
                <a:sym typeface="Symbol" pitchFamily="18" charset="2"/>
              </a:rPr>
              <a:t>er</a:t>
            </a:r>
            <a:r>
              <a:rPr dirty="0" sz="1200" i="0" lang="fr-FR" smtClean="0">
                <a:sym typeface="Symbol" pitchFamily="18" charset="2"/>
              </a:rPr>
              <a:t> épisode</a:t>
            </a:r>
          </a:p>
          <a:p>
            <a:r>
              <a:rPr dirty="0" sz="1200" i="0" lang="fr-FR" smtClean="0">
                <a:sym typeface="Symbol" pitchFamily="18" charset="2"/>
              </a:rPr>
              <a:t>- La</a:t>
            </a:r>
            <a:r>
              <a:rPr baseline="0" dirty="0" sz="1200" i="0" lang="fr-FR" smtClean="0">
                <a:sym typeface="Symbol" pitchFamily="18" charset="2"/>
              </a:rPr>
              <a:t> forme </a:t>
            </a:r>
            <a:r>
              <a:rPr dirty="0" sz="1200" i="0" lang="fr-FR" smtClean="0">
                <a:sym typeface="Symbol" pitchFamily="18" charset="2"/>
              </a:rPr>
              <a:t>chronique qui persiste au-delà de 3 mois</a:t>
            </a:r>
          </a:p>
          <a:p>
            <a:r>
              <a:rPr dirty="0" sz="1200" i="0" lang="fr-FR" smtClean="0">
                <a:sym typeface="Symbol" pitchFamily="18" charset="2"/>
              </a:rPr>
              <a:t>La</a:t>
            </a:r>
            <a:r>
              <a:rPr baseline="0" dirty="0" sz="1200" i="0" lang="fr-FR" smtClean="0">
                <a:sym typeface="Symbol" pitchFamily="18" charset="2"/>
              </a:rPr>
              <a:t> récidive se produit généralement dans les 18 mois après un 1</a:t>
            </a:r>
            <a:r>
              <a:rPr baseline="30000" dirty="0" sz="1200" i="0" lang="fr-FR" smtClean="0">
                <a:sym typeface="Symbol" pitchFamily="18" charset="2"/>
              </a:rPr>
              <a:t>er</a:t>
            </a:r>
            <a:r>
              <a:rPr baseline="0" dirty="0" sz="1200" i="0" lang="fr-FR" smtClean="0">
                <a:sym typeface="Symbol" pitchFamily="18" charset="2"/>
              </a:rPr>
              <a:t> épisode, et est favorisée par un traitement inadéquat: phase de dégression trop rapide, non association de colchicine, corticothérapie.</a:t>
            </a:r>
            <a:endParaRPr baseline="0" b="0" dirty="0" i="0" lang="fr-FR" smtClean="0">
              <a:latin typeface="+mn-lt"/>
            </a:endParaRPr>
          </a:p>
          <a:p>
            <a:endParaRPr dirty="0" i="0" lang="fr-FR" smtClean="0"/>
          </a:p>
        </p:txBody>
      </p:sp>
      <p:sp>
        <p:nvSpPr>
          <p:cNvPr id="1048775"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8742C672-9501-4827-BF74-31AD52066E90}" type="slidenum">
              <a:rPr lang="fr-FR" smtClean="0"/>
              <a:t>26</a:t>
            </a:fld>
            <a:endParaRPr dirty="0" lang="fr-F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778" name="Espace réservé de l'image des diapositives 1"/>
          <p:cNvSpPr>
            <a:spLocks noChangeAspect="1" noRot="1" noGrp="1"/>
          </p:cNvSpPr>
          <p:nvPr>
            <p:ph type="sldImg"/>
          </p:nvPr>
        </p:nvSpPr>
        <p:spPr/>
      </p:sp>
      <p:sp>
        <p:nvSpPr>
          <p:cNvPr id="1048779" name="Espace réservé des commentaires 2"/>
          <p:cNvSpPr>
            <a:spLocks noGrp="1"/>
          </p:cNvSpPr>
          <p:nvPr>
            <p:ph type="body" idx="1"/>
          </p:nvPr>
        </p:nvSpPr>
        <p:spPr/>
        <p:txBody>
          <a:bodyPr>
            <a:normAutofit/>
          </a:bodyPr>
          <a:p>
            <a:r>
              <a:rPr dirty="0" lang="fr-FR" smtClean="0"/>
              <a:t>VIII-</a:t>
            </a:r>
            <a:r>
              <a:rPr baseline="0" dirty="0" lang="fr-FR" smtClean="0"/>
              <a:t> LES MYOCARDITES</a:t>
            </a:r>
          </a:p>
          <a:p>
            <a:r>
              <a:rPr dirty="0" lang="fr-FR" smtClean="0"/>
              <a:t>La myocardite correspond à un état inflammatoire du myocarde avec des manifestations et des implications pronostiques variables.</a:t>
            </a:r>
          </a:p>
          <a:p>
            <a:r>
              <a:rPr baseline="0" dirty="0" lang="fr-FR" smtClean="0"/>
              <a:t>La présentation clinique initiale est un des principaux facteur pronostic.</a:t>
            </a:r>
            <a:endParaRPr dirty="0" lang="fr-FR" smtClean="0"/>
          </a:p>
          <a:p>
            <a:endParaRPr dirty="0" lang="fr-FR"/>
          </a:p>
        </p:txBody>
      </p:sp>
      <p:sp>
        <p:nvSpPr>
          <p:cNvPr id="1048780" name="Espace réservé du numéro de diapositive 3"/>
          <p:cNvSpPr>
            <a:spLocks noGrp="1"/>
          </p:cNvSpPr>
          <p:nvPr>
            <p:ph type="sldNum" sz="quarter" idx="10"/>
          </p:nvPr>
        </p:nvSpPr>
        <p:spPr/>
        <p:txBody>
          <a:bodyPr/>
          <a:p>
            <a:fld id="{F267D614-A403-4847-9522-E840C6A8F7A8}" type="slidenum">
              <a:rPr lang="fr-FR" smtClean="0"/>
              <a:t>27</a:t>
            </a:fld>
            <a:endParaRPr lang="fr-F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784" name="Espace réservé de l'image des diapositives 1"/>
          <p:cNvSpPr>
            <a:spLocks noChangeAspect="1" noRot="1" noGrp="1"/>
          </p:cNvSpPr>
          <p:nvPr>
            <p:ph type="sldImg"/>
          </p:nvPr>
        </p:nvSpPr>
        <p:spPr/>
      </p:sp>
      <p:sp>
        <p:nvSpPr>
          <p:cNvPr id="1048785" name="Espace réservé des commentaires 2"/>
          <p:cNvSpPr>
            <a:spLocks noGrp="1"/>
          </p:cNvSpPr>
          <p:nvPr>
            <p:ph type="body" idx="1"/>
          </p:nvPr>
        </p:nvSpPr>
        <p:spPr/>
        <p:txBody>
          <a:bodyPr>
            <a:normAutofit/>
          </a:bodyPr>
          <a:p>
            <a:pPr algn="l" defTabSz="914400" eaLnBrk="0" fontAlgn="base" hangingPunct="0" indent="0" latinLnBrk="0" marL="0" marR="0" rtl="0">
              <a:lnSpc>
                <a:spcPct val="100000"/>
              </a:lnSpc>
              <a:spcBef>
                <a:spcPct val="30000"/>
              </a:spcBef>
              <a:spcAft>
                <a:spcPct val="0"/>
              </a:spcAft>
              <a:buClrTx/>
              <a:buSzTx/>
              <a:buFontTx/>
              <a:buNone/>
            </a:pPr>
            <a:r>
              <a:rPr b="1" dirty="0" lang="fr-FR" smtClean="0"/>
              <a:t>A-Présentation clinique:</a:t>
            </a:r>
          </a:p>
          <a:p>
            <a:pPr algn="l" defTabSz="914400" eaLnBrk="0" fontAlgn="base" hangingPunct="0" indent="0" latinLnBrk="0" marL="0" marR="0" rtl="0">
              <a:lnSpc>
                <a:spcPct val="100000"/>
              </a:lnSpc>
              <a:spcBef>
                <a:spcPct val="30000"/>
              </a:spcBef>
              <a:spcAft>
                <a:spcPct val="0"/>
              </a:spcAft>
              <a:buClrTx/>
              <a:buSzTx/>
              <a:buFontTx/>
              <a:buNone/>
            </a:pPr>
            <a:r>
              <a:rPr b="0" dirty="0" lang="fr-FR" u="none" smtClean="0"/>
              <a:t>1- </a:t>
            </a:r>
            <a:r>
              <a:rPr b="0" dirty="0" lang="fr-FR" u="sng" smtClean="0"/>
              <a:t>signes</a:t>
            </a:r>
            <a:r>
              <a:rPr baseline="0" b="0" dirty="0" lang="fr-FR" u="sng" smtClean="0"/>
              <a:t> d’alerte (red flags)</a:t>
            </a:r>
            <a:r>
              <a:rPr baseline="0" b="0" dirty="0" lang="fr-FR" u="none" smtClean="0"/>
              <a:t>:</a:t>
            </a:r>
            <a:endParaRPr b="0" dirty="0" lang="fr-FR" u="none" smtClean="0"/>
          </a:p>
          <a:p>
            <a:r>
              <a:rPr baseline="0" dirty="0" lang="fr-FR" smtClean="0"/>
              <a:t> La myocardite est caractérisée par l’hétérogénéité de ses manifestations cliniques. Le plus souvent c’est un tableau de douleur thoracique pseudo angineuse (symptôme le plus fréquent), d’insuffisance cardiaque ou de trouble rythmique (palpitations, syncope).</a:t>
            </a:r>
          </a:p>
          <a:p>
            <a:pPr algn="l" defTabSz="914400" eaLnBrk="0" fontAlgn="base" hangingPunct="0" indent="0" latinLnBrk="0" marL="0" marR="0" rtl="0">
              <a:lnSpc>
                <a:spcPct val="100000"/>
              </a:lnSpc>
              <a:spcBef>
                <a:spcPct val="30000"/>
              </a:spcBef>
              <a:spcAft>
                <a:spcPct val="0"/>
              </a:spcAft>
              <a:buClrTx/>
              <a:buSzTx/>
              <a:buFontTx/>
              <a:buNone/>
            </a:pPr>
            <a:r>
              <a:rPr baseline="0" dirty="0" lang="fr-FR" smtClean="0"/>
              <a:t> Une interaction complexe entre un contexte génétique et l’inflammation cardiaque pourrait expliquer l’</a:t>
            </a:r>
            <a:r>
              <a:rPr baseline="0" dirty="0" lang="fr-FR" err="1" smtClean="0"/>
              <a:t>hétérogénéïté</a:t>
            </a:r>
            <a:r>
              <a:rPr baseline="0" dirty="0" lang="fr-FR" smtClean="0"/>
              <a:t> du tableau clinique des myocardites et ses expressions phénotypiques différentes, hémodynamique ou rythmique. Il est important de rechercher des éléments en faveur du contexte génétique tels qu’une histoire familiale de myocardite, péricardite, mort subite, cardiomyopathie.</a:t>
            </a:r>
          </a:p>
          <a:p>
            <a:r>
              <a:rPr baseline="0" dirty="0" lang="fr-FR" smtClean="0"/>
              <a:t> La présentation clinique va des symptômes modérés jusqu’aux formes graves mettant en jeu le pronostic vital: douleurs thoraciques le plus souvent, dyspnée, plus rarement fatigue, palpitations ou syncopes, précédés dans 80% des cas de troubles </a:t>
            </a:r>
            <a:r>
              <a:rPr baseline="0" dirty="0" lang="fr-FR" err="1" smtClean="0"/>
              <a:t>gastro</a:t>
            </a:r>
            <a:r>
              <a:rPr baseline="0" dirty="0" lang="fr-FR" smtClean="0"/>
              <a:t> intestinaux ou respiratoires.</a:t>
            </a:r>
          </a:p>
          <a:p>
            <a:r>
              <a:rPr baseline="0" dirty="0" lang="fr-FR" smtClean="0"/>
              <a:t> L’ECG est habituellement anormal: sus décalage de ST, anomalies de ST-T, voire troubles conductifs.</a:t>
            </a:r>
          </a:p>
          <a:p>
            <a:r>
              <a:rPr baseline="0" dirty="0" lang="fr-FR" smtClean="0"/>
              <a:t> Les enzymes cardiaques (troponine T-I, CPK-MB) sont élevées chez la majorité des patients</a:t>
            </a:r>
          </a:p>
          <a:p>
            <a:r>
              <a:rPr baseline="0" dirty="0" lang="fr-FR" smtClean="0"/>
              <a:t> L’échocardiographie peut révéler des signes en faveur d’une myocardite: troubles de la cinétique segmentaire  du ventricule gauche, épaississement et </a:t>
            </a:r>
            <a:r>
              <a:rPr baseline="0" dirty="0" lang="fr-FR" err="1" smtClean="0"/>
              <a:t>hyperéchogénicité</a:t>
            </a:r>
            <a:r>
              <a:rPr baseline="0" dirty="0" lang="fr-FR" smtClean="0"/>
              <a:t> d’une paroi liée à l’œdème myocardique. Un épanchement péricardique peut être présent (25% des cas) en cas de péricardite associée. </a:t>
            </a:r>
          </a:p>
          <a:p>
            <a:r>
              <a:rPr baseline="0" dirty="0" lang="fr-FR" smtClean="0"/>
              <a:t>L’IRM cardiaque est désormais l’outil de référence pour le diagnostic de myocardite aigue ou chronique, et retrouvera des critères d’inflammation du myocarde ou des lésions cicatricielles.</a:t>
            </a:r>
          </a:p>
          <a:p>
            <a:pPr algn="l" defTabSz="914400" eaLnBrk="0" fontAlgn="base" hangingPunct="0" indent="0" latinLnBrk="0" marL="0" marR="0" rtl="0">
              <a:lnSpc>
                <a:spcPct val="100000"/>
              </a:lnSpc>
              <a:spcBef>
                <a:spcPct val="30000"/>
              </a:spcBef>
              <a:spcAft>
                <a:spcPct val="0"/>
              </a:spcAft>
              <a:buClrTx/>
              <a:buSzTx/>
              <a:buFontTx/>
              <a:buNone/>
            </a:pPr>
            <a:endParaRPr baseline="0" dirty="0" lang="fr-FR" smtClean="0"/>
          </a:p>
          <a:p>
            <a:endParaRPr dirty="0" lang="fr-FR"/>
          </a:p>
        </p:txBody>
      </p:sp>
      <p:sp>
        <p:nvSpPr>
          <p:cNvPr id="1048786" name="Espace réservé du numéro de diapositive 3"/>
          <p:cNvSpPr>
            <a:spLocks noGrp="1"/>
          </p:cNvSpPr>
          <p:nvPr>
            <p:ph type="sldNum" sz="quarter" idx="10"/>
          </p:nvPr>
        </p:nvSpPr>
        <p:spPr/>
        <p:txBody>
          <a:bodyPr/>
          <a:p>
            <a:fld id="{E6EBECD1-B7A2-420F-A371-7414549FD1BB}" type="slidenum">
              <a:rPr lang="fr-FR" smtClean="0"/>
              <a:t>28</a:t>
            </a:fld>
            <a:endParaRPr lang="fr-F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790" name="Espace réservé de l'image des diapositives 1"/>
          <p:cNvSpPr>
            <a:spLocks noChangeAspect="1" noRot="1" noGrp="1"/>
          </p:cNvSpPr>
          <p:nvPr>
            <p:ph type="sldImg"/>
          </p:nvPr>
        </p:nvSpPr>
        <p:spPr/>
      </p:sp>
      <p:sp>
        <p:nvSpPr>
          <p:cNvPr id="1048791" name="Espace réservé des commentaires 2"/>
          <p:cNvSpPr>
            <a:spLocks noGrp="1"/>
          </p:cNvSpPr>
          <p:nvPr>
            <p:ph type="body" idx="1"/>
          </p:nvPr>
        </p:nvSpPr>
        <p:spPr/>
        <p:txBody>
          <a:bodyPr>
            <a:normAutofit lnSpcReduction="10000"/>
          </a:bodyPr>
          <a:p>
            <a:pPr algn="l" defTabSz="914400" eaLnBrk="0" fontAlgn="base" hangingPunct="0" indent="0" latinLnBrk="0" marL="0" marR="0" rtl="0">
              <a:lnSpc>
                <a:spcPct val="100000"/>
              </a:lnSpc>
              <a:spcBef>
                <a:spcPct val="30000"/>
              </a:spcBef>
              <a:spcAft>
                <a:spcPct val="0"/>
              </a:spcAft>
              <a:buClrTx/>
              <a:buSzTx/>
              <a:buFontTx/>
              <a:buNone/>
            </a:pPr>
            <a:r>
              <a:rPr baseline="0" dirty="0" lang="fr-FR" smtClean="0"/>
              <a:t>2- </a:t>
            </a:r>
            <a:r>
              <a:rPr baseline="0" dirty="0" lang="fr-FR" u="sng" smtClean="0"/>
              <a:t>formes cliniques </a:t>
            </a:r>
            <a:r>
              <a:rPr baseline="0" dirty="0" lang="fr-FR" smtClean="0"/>
              <a:t>:</a:t>
            </a:r>
          </a:p>
          <a:p>
            <a:pPr algn="l" defTabSz="914400" eaLnBrk="0" fontAlgn="base" hangingPunct="0" indent="0" latinLnBrk="0" marL="0" marR="0" rtl="0">
              <a:lnSpc>
                <a:spcPct val="100000"/>
              </a:lnSpc>
              <a:spcBef>
                <a:spcPct val="30000"/>
              </a:spcBef>
              <a:spcAft>
                <a:spcPct val="0"/>
              </a:spcAft>
              <a:buClrTx/>
              <a:buSzTx/>
              <a:buFontTx/>
              <a:buNone/>
            </a:pPr>
            <a:r>
              <a:rPr baseline="0" dirty="0" lang="fr-FR" smtClean="0"/>
              <a:t>Le tableau clinique est de gravité variable avec des formes asymptomatiques, pauci symptomatiques, et des manifestations hémodynamiques ou rythmiques. Il est important d’évoquer le diagnostic en présence de signes d’alerte (red flags). </a:t>
            </a:r>
          </a:p>
          <a:p>
            <a:endParaRPr baseline="0" dirty="0" lang="fr-FR" smtClean="0"/>
          </a:p>
          <a:p>
            <a:r>
              <a:rPr baseline="0" dirty="0" lang="fr-FR" smtClean="0"/>
              <a:t>La présentation clinique peut être:</a:t>
            </a:r>
          </a:p>
          <a:p>
            <a:r>
              <a:rPr baseline="0" dirty="0" lang="fr-FR" smtClean="0"/>
              <a:t>1- </a:t>
            </a:r>
            <a:r>
              <a:rPr baseline="0" b="1" dirty="0" i="1" lang="fr-FR" smtClean="0"/>
              <a:t>une douleur thoracique</a:t>
            </a:r>
            <a:r>
              <a:rPr baseline="0" dirty="0" i="1" lang="fr-FR" smtClean="0"/>
              <a:t>: </a:t>
            </a:r>
            <a:r>
              <a:rPr baseline="0" dirty="0" lang="fr-FR" smtClean="0"/>
              <a:t>forme clinique la plus commune, habituellement associé à une élévation des biomarqueurs de nécrose myocardique tel que la troponine, et des anomalies ECG type sus décalage du segment ST, réalisant un tableau pseudo-angineux, posant un problème de diagnostic différentiel avec un syndrome coronaire aigu qui devra être écarté grâce à une imagerie des coronaires. L’interrogatoire retrouve une notion d’infection virale pulmonaire ou gastro-intestinale concomitante ou récente. Un FEVG préservée avec normalisation ECG est associée à un pronostic favorable.</a:t>
            </a:r>
          </a:p>
          <a:p>
            <a:r>
              <a:rPr baseline="0" dirty="0" lang="fr-FR" smtClean="0"/>
              <a:t>2- </a:t>
            </a:r>
            <a:r>
              <a:rPr baseline="0" b="1" dirty="0" i="1" lang="fr-FR" smtClean="0"/>
              <a:t>une défaillance cardiaque</a:t>
            </a:r>
            <a:r>
              <a:rPr baseline="0" dirty="0" i="1" lang="fr-FR" smtClean="0"/>
              <a:t>: </a:t>
            </a:r>
            <a:r>
              <a:rPr baseline="0" dirty="0" i="0" lang="fr-FR" smtClean="0"/>
              <a:t>ces patients font partie du groupe à risque élevé et leur pronostic dépend largement de la réponse au traitement de la défaillance cardiaque. Le tableau clinique va de la dysfonction ventriculaire gauche inexpliquée, l’apparition ou l’aggravation d’une insuffisance cardiaque, jusqu’à l’insuffisance cardiaque réfractaire et au choc cardiogénique. L’IRM cardiaque devra être réalisée sans délai, et une biopsie endomyocardique si nécessaire.</a:t>
            </a:r>
          </a:p>
          <a:p>
            <a:r>
              <a:rPr baseline="0" dirty="0" i="0" lang="fr-FR" smtClean="0"/>
              <a:t>Les formes fulminantes avec insuffisance cardiaque ont une fréquence de décès élevé.</a:t>
            </a:r>
          </a:p>
          <a:p>
            <a:r>
              <a:rPr baseline="0" dirty="0" i="0" lang="fr-FR" smtClean="0"/>
              <a:t>3- </a:t>
            </a:r>
            <a:r>
              <a:rPr baseline="0" b="1" dirty="0" i="1" lang="fr-FR" smtClean="0"/>
              <a:t>un trouble du rythme</a:t>
            </a:r>
            <a:r>
              <a:rPr baseline="0" dirty="0" i="1" lang="fr-FR" smtClean="0"/>
              <a:t>: </a:t>
            </a:r>
            <a:r>
              <a:rPr baseline="0" dirty="0" i="0" lang="fr-FR" smtClean="0"/>
              <a:t>une myocardite aigue peut s’accompagner de la survenue ou la récidive d’un trouble rythmique ou d’une arythmie inexpliquée, et s’exprimer par des palpitations, une syncope ou une mort subite récupérée. </a:t>
            </a:r>
          </a:p>
          <a:p>
            <a:r>
              <a:rPr baseline="0" dirty="0" i="0" lang="fr-FR" smtClean="0"/>
              <a:t>La fibrillation atriale est plus commune aux formes avec péricardite  et épanchement associés. </a:t>
            </a:r>
          </a:p>
          <a:p>
            <a:r>
              <a:rPr baseline="0" dirty="0" i="0" lang="fr-FR" smtClean="0"/>
              <a:t>Les BAV et les TV soutenues sont généralement associées à une dysfonction ventriculaire gauche et à une insuffisance cardiaque.</a:t>
            </a:r>
            <a:endParaRPr baseline="0" dirty="0" i="1" lang="fr-FR" smtClean="0"/>
          </a:p>
          <a:p>
            <a:endParaRPr dirty="0" lang="fr-FR"/>
          </a:p>
        </p:txBody>
      </p:sp>
      <p:sp>
        <p:nvSpPr>
          <p:cNvPr id="1048792" name="Espace réservé du numéro de diapositive 3"/>
          <p:cNvSpPr>
            <a:spLocks noGrp="1"/>
          </p:cNvSpPr>
          <p:nvPr>
            <p:ph type="sldNum" sz="quarter" idx="10"/>
          </p:nvPr>
        </p:nvSpPr>
        <p:spPr/>
        <p:txBody>
          <a:bodyPr/>
          <a:p>
            <a:fld id="{E6EBECD1-B7A2-420F-A371-7414549FD1BB}" type="slidenum">
              <a:rPr lang="fr-FR" smtClean="0"/>
              <a:t>29</a:t>
            </a:fld>
            <a:endParaRPr lang="fr-F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796"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797" name="Espace réservé des commentaires 2"/>
          <p:cNvSpPr>
            <a:spLocks noGrp="1"/>
          </p:cNvSpPr>
          <p:nvPr>
            <p:ph type="body" idx="1"/>
          </p:nvPr>
        </p:nvSpPr>
        <p:spPr bwMode="auto">
          <a:noFill/>
        </p:spPr>
        <p:txBody>
          <a:bodyPr anchor="t" anchorCtr="0" compatLnSpc="1" numCol="1" wrap="square">
            <a:prstTxWarp prst="textNoShape"/>
          </a:bodyPr>
          <a:p>
            <a:r>
              <a:rPr b="1" dirty="0" lang="fr-FR" smtClean="0"/>
              <a:t>B- CRITERES</a:t>
            </a:r>
            <a:r>
              <a:rPr baseline="0" b="1" dirty="0" lang="fr-FR" smtClean="0"/>
              <a:t> DIAGNOSTIQUES DES MYOCARDITES:</a:t>
            </a:r>
            <a:endParaRPr baseline="0" dirty="0" lang="fr-FR" smtClean="0"/>
          </a:p>
          <a:p>
            <a:pPr algn="l" defTabSz="914400" eaLnBrk="0" fontAlgn="base" hangingPunct="0" indent="0" latinLnBrk="0" marL="0" marR="0" rtl="0">
              <a:lnSpc>
                <a:spcPct val="100000"/>
              </a:lnSpc>
              <a:spcBef>
                <a:spcPct val="30000"/>
              </a:spcBef>
              <a:spcAft>
                <a:spcPct val="0"/>
              </a:spcAft>
              <a:buClrTx/>
              <a:buSzTx/>
              <a:buFontTx/>
              <a:buNone/>
            </a:pPr>
            <a:r>
              <a:rPr dirty="0" lang="fr-FR" smtClean="0"/>
              <a:t>Face à</a:t>
            </a:r>
            <a:r>
              <a:rPr baseline="0" dirty="0" lang="fr-FR" smtClean="0"/>
              <a:t> une</a:t>
            </a:r>
            <a:r>
              <a:rPr dirty="0" lang="fr-FR" smtClean="0"/>
              <a:t> présentation clinique initiale on recherchera des critères additionnels</a:t>
            </a:r>
            <a:r>
              <a:rPr baseline="0" dirty="0" lang="fr-FR" smtClean="0"/>
              <a:t>.</a:t>
            </a:r>
          </a:p>
          <a:p>
            <a:r>
              <a:rPr baseline="0" dirty="0" lang="fr-FR" smtClean="0"/>
              <a:t>Les critères additionnels retenus sont:</a:t>
            </a:r>
          </a:p>
          <a:p>
            <a:r>
              <a:rPr baseline="0" dirty="0" lang="fr-FR" smtClean="0"/>
              <a:t>  - un critère clinique: absence d’éléments en faveur d’un diagnostic différentiel</a:t>
            </a:r>
          </a:p>
          <a:p>
            <a:r>
              <a:rPr baseline="0" dirty="0" lang="fr-FR" smtClean="0"/>
              <a:t>  - un critère ECG: modifications du segment ST et de l’onde T</a:t>
            </a:r>
          </a:p>
          <a:p>
            <a:r>
              <a:rPr baseline="0" dirty="0" lang="fr-FR" smtClean="0"/>
              <a:t>  - un critère biologique (biomarqueurs): élévation de la troponine</a:t>
            </a:r>
          </a:p>
          <a:p>
            <a:r>
              <a:rPr baseline="0" dirty="0" lang="fr-FR" smtClean="0"/>
              <a:t>  - un critère d’imagerie cardiaque:</a:t>
            </a:r>
          </a:p>
          <a:p>
            <a:r>
              <a:rPr baseline="0" dirty="0" lang="fr-FR" smtClean="0"/>
              <a:t>      &gt; à l’échocardiographie: anomalies de la cinétique segmentaire du VG ou anomalies du strain myocardique, altération de la FEVG</a:t>
            </a:r>
          </a:p>
          <a:p>
            <a:r>
              <a:rPr baseline="0" dirty="0" lang="fr-FR" smtClean="0"/>
              <a:t>      &gt;à L’IRM: présence d’un œdème myocardique et/ou d’un rehaussement tardif.</a:t>
            </a:r>
          </a:p>
          <a:p>
            <a:pPr algn="l" defTabSz="914400" eaLnBrk="0" fontAlgn="base" hangingPunct="0" indent="0" latinLnBrk="0" marL="0" marR="0" rtl="0">
              <a:lnSpc>
                <a:spcPct val="100000"/>
              </a:lnSpc>
              <a:spcBef>
                <a:spcPct val="30000"/>
              </a:spcBef>
              <a:spcAft>
                <a:spcPct val="0"/>
              </a:spcAft>
              <a:buClrTx/>
              <a:buSzTx/>
              <a:buFontTx/>
              <a:buNone/>
            </a:pPr>
            <a:endParaRPr dirty="0" lang="fr-FR" smtClean="0"/>
          </a:p>
          <a:p>
            <a:r>
              <a:rPr baseline="0" dirty="0" lang="fr-FR" smtClean="0"/>
              <a:t>- Le diagnostic de myocardite est certain en présence d’un tableau clinique évocateur et un examen IRM ou des résultats de biopsie endomyocardique confirmant la myocardite.</a:t>
            </a:r>
          </a:p>
          <a:p>
            <a:r>
              <a:rPr baseline="0" dirty="0" lang="fr-FR" smtClean="0"/>
              <a:t>- Le diagnostic de myocardite sera possible si la présentation clinique est évocatrice et associée à au moins 1 critère additionnel.</a:t>
            </a:r>
          </a:p>
          <a:p>
            <a:r>
              <a:rPr baseline="0" dirty="0" lang="fr-FR" smtClean="0"/>
              <a:t>- Le diagnostic est peu probable, rejeté, en cas de présentation clinique isolée sans critères additionnels.</a:t>
            </a:r>
          </a:p>
          <a:p>
            <a:endParaRPr baseline="0" dirty="0" lang="fr-FR" smtClean="0"/>
          </a:p>
          <a:p>
            <a:r>
              <a:rPr baseline="0" b="0" dirty="0" lang="fr-FR" u="sng" smtClean="0"/>
              <a:t>Formes évolutives</a:t>
            </a:r>
            <a:r>
              <a:rPr baseline="0" dirty="0" lang="fr-FR" smtClean="0"/>
              <a:t>: 3 stades évolutifs peuvent être retrouvés</a:t>
            </a:r>
          </a:p>
          <a:p>
            <a:r>
              <a:rPr baseline="0" dirty="0" lang="fr-FR" smtClean="0"/>
              <a:t> - </a:t>
            </a:r>
            <a:r>
              <a:rPr baseline="0" dirty="0" i="1" lang="fr-FR" smtClean="0"/>
              <a:t>une forme aigue </a:t>
            </a:r>
            <a:r>
              <a:rPr baseline="0" dirty="0" lang="fr-FR" smtClean="0"/>
              <a:t>avec tableau clinique qui dure moins de 4 semaines, de gravité variable avec parfois des formes compliquées, et qui inclut également les formes fulminantes. La forme fulminante est caractérisée par un tableau clinique initial de choc cardiogénique; une tachycardie ventriculaire soutenue voire une mort subite peuvent également être observées dans cette forme.</a:t>
            </a:r>
          </a:p>
          <a:p>
            <a:r>
              <a:rPr baseline="0" dirty="0" lang="fr-FR" smtClean="0"/>
              <a:t> - </a:t>
            </a:r>
            <a:r>
              <a:rPr baseline="0" dirty="0" i="1" lang="fr-FR" smtClean="0"/>
              <a:t>une forme subaigüe:</a:t>
            </a:r>
            <a:r>
              <a:rPr baseline="0" dirty="0" lang="fr-FR" smtClean="0"/>
              <a:t> avec symptômes qui durent plus d’1 mois et moins de 3 mois; les symptômes ne sont pas spécifiques et les patient peuvent évoluer vers la guérison sans séquelles ou progresser vers une forme chronique ou une cardiomyopathie inflammatoire</a:t>
            </a:r>
          </a:p>
          <a:p>
            <a:r>
              <a:rPr baseline="0" dirty="0" lang="fr-FR" smtClean="0"/>
              <a:t> - </a:t>
            </a:r>
            <a:r>
              <a:rPr baseline="0" dirty="0" i="1" lang="fr-FR" smtClean="0"/>
              <a:t>une forme chronique: </a:t>
            </a:r>
            <a:r>
              <a:rPr baseline="0" dirty="0" i="0" lang="fr-FR" smtClean="0"/>
              <a:t>myocardite persistant au-delà de 3 mois, aboutissant à un tableau de cardiomyopathie avec VG hypokinétique, la fibrose myocardique pouvant réaliser un substrat </a:t>
            </a:r>
            <a:r>
              <a:rPr baseline="0" dirty="0" i="0" lang="fr-FR" err="1" smtClean="0"/>
              <a:t>arythmogène</a:t>
            </a:r>
            <a:r>
              <a:rPr baseline="0" dirty="0" i="0" lang="fr-FR" smtClean="0"/>
              <a:t>. Dyspnée et palpitations peuvent être les symptômes qui conduisent au diagnostic. Les biomarqueurs de lésion myocardique sont souvent dans les limites de la normale.</a:t>
            </a:r>
            <a:r>
              <a:rPr baseline="0" dirty="0" lang="fr-FR" smtClean="0"/>
              <a:t> </a:t>
            </a:r>
          </a:p>
        </p:txBody>
      </p:sp>
      <p:sp>
        <p:nvSpPr>
          <p:cNvPr id="1048798"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8742C672-9501-4827-BF74-31AD52066E90}" type="slidenum">
              <a:rPr lang="fr-FR" smtClean="0"/>
              <a:t>30</a:t>
            </a:fld>
            <a:endParaRPr lang="fr-F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801" name="Espace réservé de l'image des diapositives 1"/>
          <p:cNvSpPr>
            <a:spLocks noChangeAspect="1" noRot="1" noGrp="1"/>
          </p:cNvSpPr>
          <p:nvPr>
            <p:ph type="sldImg"/>
          </p:nvPr>
        </p:nvSpPr>
        <p:spPr/>
      </p:sp>
      <p:sp>
        <p:nvSpPr>
          <p:cNvPr id="1048802" name="Espace réservé des commentaires 2"/>
          <p:cNvSpPr>
            <a:spLocks noGrp="1"/>
          </p:cNvSpPr>
          <p:nvPr>
            <p:ph type="body" idx="1"/>
          </p:nvPr>
        </p:nvSpPr>
        <p:spPr/>
        <p:txBody>
          <a:bodyPr>
            <a:normAutofit/>
          </a:bodyPr>
          <a:p>
            <a:r>
              <a:rPr dirty="0" lang="fr-FR" smtClean="0"/>
              <a:t>On parle de myocardite</a:t>
            </a:r>
            <a:r>
              <a:rPr baseline="0" dirty="0" lang="fr-FR" smtClean="0"/>
              <a:t> compliquée en présence d’une myocardite aigue avec 1 ou plus des critères suivants;</a:t>
            </a:r>
          </a:p>
          <a:p>
            <a:r>
              <a:rPr baseline="0" dirty="0" lang="fr-FR" smtClean="0"/>
              <a:t> . FEVG inférieure à 50% à l’échocardiographie</a:t>
            </a:r>
          </a:p>
          <a:p>
            <a:r>
              <a:rPr baseline="0" dirty="0" lang="fr-FR" smtClean="0"/>
              <a:t> . Troubles du rythme ventriculaires soutenus</a:t>
            </a:r>
          </a:p>
          <a:p>
            <a:r>
              <a:rPr baseline="0" dirty="0" lang="fr-FR" smtClean="0"/>
              <a:t> . BAV de haut degré</a:t>
            </a:r>
          </a:p>
          <a:p>
            <a:r>
              <a:rPr baseline="0" dirty="0" lang="fr-FR" smtClean="0"/>
              <a:t> . Défaillance cardiaque</a:t>
            </a:r>
          </a:p>
          <a:p>
            <a:r>
              <a:rPr baseline="0" dirty="0" lang="fr-FR" smtClean="0"/>
              <a:t> . </a:t>
            </a:r>
            <a:r>
              <a:rPr baseline="0" dirty="0" lang="fr-FR" err="1" smtClean="0"/>
              <a:t>Chàc</a:t>
            </a:r>
            <a:r>
              <a:rPr baseline="0" dirty="0" lang="fr-FR" smtClean="0"/>
              <a:t> cardiogénique</a:t>
            </a:r>
            <a:endParaRPr dirty="0" lang="fr-FR"/>
          </a:p>
        </p:txBody>
      </p:sp>
      <p:sp>
        <p:nvSpPr>
          <p:cNvPr id="1048803" name="Espace réservé du numéro de diapositive 3"/>
          <p:cNvSpPr>
            <a:spLocks noGrp="1"/>
          </p:cNvSpPr>
          <p:nvPr>
            <p:ph type="sldNum" sz="quarter" idx="10"/>
          </p:nvPr>
        </p:nvSpPr>
        <p:spPr/>
        <p:txBody>
          <a:bodyPr/>
          <a:p>
            <a:fld id="{F267D614-A403-4847-9522-E840C6A8F7A8}" type="slidenum">
              <a:rPr lang="fr-FR" smtClean="0"/>
              <a:t>31</a:t>
            </a:fld>
            <a:endParaRPr lang="fr-F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806" name="Espace réservé de l'image des diapositives 1"/>
          <p:cNvSpPr>
            <a:spLocks noChangeAspect="1" noRot="1" noGrp="1"/>
          </p:cNvSpPr>
          <p:nvPr>
            <p:ph type="sldImg"/>
          </p:nvPr>
        </p:nvSpPr>
        <p:spPr/>
      </p:sp>
      <p:sp>
        <p:nvSpPr>
          <p:cNvPr id="1048807" name="Espace réservé des commentaires 2"/>
          <p:cNvSpPr>
            <a:spLocks noGrp="1"/>
          </p:cNvSpPr>
          <p:nvPr>
            <p:ph type="body" idx="1"/>
          </p:nvPr>
        </p:nvSpPr>
        <p:spPr/>
        <p:txBody>
          <a:bodyPr>
            <a:normAutofit/>
          </a:bodyPr>
          <a:p>
            <a:r>
              <a:rPr b="1" dirty="0" lang="fr-FR" smtClean="0"/>
              <a:t>IX- TRAITEMENT:</a:t>
            </a:r>
          </a:p>
          <a:p>
            <a:r>
              <a:rPr b="0" dirty="0" lang="fr-FR" smtClean="0"/>
              <a:t>L’objectif</a:t>
            </a:r>
            <a:r>
              <a:rPr baseline="0" b="0" dirty="0" lang="fr-FR" smtClean="0"/>
              <a:t> du traitement des syndromes myopéricardiques inflammatoires est de contrôler les symptômes et de prévenir les complications, surtout les récidives et la mortalité dans les formes compliquées.</a:t>
            </a:r>
          </a:p>
          <a:p>
            <a:r>
              <a:rPr baseline="0" b="0" dirty="0" lang="fr-FR" smtClean="0"/>
              <a:t>Le traitement médical va cibler: les agents infectieux, l’inflammation, les troubles </a:t>
            </a:r>
            <a:r>
              <a:rPr baseline="0" b="0" dirty="0" lang="fr-FR" err="1" smtClean="0"/>
              <a:t>immuno</a:t>
            </a:r>
            <a:r>
              <a:rPr baseline="0" b="0" dirty="0" lang="fr-FR" smtClean="0"/>
              <a:t>-induits, la dysfonction ventriculaire ou l’insuffisance cardiaque en cas de myocardite, les arythmies, et une éventuelle tamponnade ou une constriction péricardique.</a:t>
            </a:r>
          </a:p>
        </p:txBody>
      </p:sp>
      <p:sp>
        <p:nvSpPr>
          <p:cNvPr id="1048808" name="Espace réservé du numéro de diapositive 3"/>
          <p:cNvSpPr>
            <a:spLocks noGrp="1"/>
          </p:cNvSpPr>
          <p:nvPr>
            <p:ph type="sldNum" sz="quarter" idx="10"/>
          </p:nvPr>
        </p:nvSpPr>
        <p:spPr/>
        <p:txBody>
          <a:bodyPr/>
          <a:p>
            <a:fld id="{F267D614-A403-4847-9522-E840C6A8F7A8}" type="slidenum">
              <a:rPr lang="fr-FR" smtClean="0"/>
              <a:t>32</a:t>
            </a:fld>
            <a:endParaRPr lang="fr-F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811" name="Espace réservé de l'image des diapositives 1"/>
          <p:cNvSpPr>
            <a:spLocks noChangeAspect="1" noRot="1" noGrp="1"/>
          </p:cNvSpPr>
          <p:nvPr>
            <p:ph type="sldImg"/>
          </p:nvPr>
        </p:nvSpPr>
        <p:spPr/>
      </p:sp>
      <p:sp>
        <p:nvSpPr>
          <p:cNvPr id="1048812" name="Espace réservé des commentaires 2"/>
          <p:cNvSpPr>
            <a:spLocks noGrp="1"/>
          </p:cNvSpPr>
          <p:nvPr>
            <p:ph type="body" idx="1"/>
          </p:nvPr>
        </p:nvSpPr>
        <p:spPr/>
        <p:txBody>
          <a:bodyPr>
            <a:normAutofit/>
          </a:bodyPr>
          <a:p>
            <a:r>
              <a:rPr dirty="0" lang="fr-FR" smtClean="0"/>
              <a:t>A- Mesures</a:t>
            </a:r>
            <a:r>
              <a:rPr baseline="0" dirty="0" lang="fr-FR" smtClean="0"/>
              <a:t> générales communes:</a:t>
            </a:r>
          </a:p>
          <a:p>
            <a:r>
              <a:rPr baseline="0" dirty="0" lang="fr-FR" smtClean="0"/>
              <a:t>-La restriction physique est un volet important du traitement non pharmacologique des SMPI et le repos sera indispensable durant la phase aigue. </a:t>
            </a:r>
          </a:p>
          <a:p>
            <a:r>
              <a:rPr baseline="0" dirty="0" lang="fr-FR" smtClean="0"/>
              <a:t>La rémission nécessite au moins 1 mois de repos mais parfois plus et la durée devra être adaptée à chaque cas selon la gravité et l’évolution.</a:t>
            </a:r>
          </a:p>
          <a:p>
            <a:r>
              <a:rPr baseline="0" dirty="0" lang="fr-FR" smtClean="0"/>
              <a:t>En cas de myocardite la pratique de sport intensif est contre indiquée pendant 3 à 6 mois.</a:t>
            </a:r>
          </a:p>
          <a:p>
            <a:r>
              <a:rPr dirty="0" lang="fr-FR" smtClean="0"/>
              <a:t>-Un contrôle est programmé</a:t>
            </a:r>
            <a:r>
              <a:rPr baseline="0" dirty="0" lang="fr-FR" smtClean="0"/>
              <a:t> dans les 6 mois pour vérifier l’évolution des paramètres cliniques et paracliniques, avec test d’effort selon l’indication, et IRM cardiaque, et confirmer la guérison ou la persistance de l’activité inflammatoire avant de décider la reprise de toute activité.</a:t>
            </a:r>
          </a:p>
          <a:p>
            <a:r>
              <a:rPr baseline="0" dirty="0" lang="fr-FR" smtClean="0"/>
              <a:t>Le suivi peut être prolongé au-delà de 6 mois dans les formes récidivantes, incessantes ou compliquées.</a:t>
            </a:r>
            <a:endParaRPr dirty="0" lang="fr-FR"/>
          </a:p>
        </p:txBody>
      </p:sp>
      <p:sp>
        <p:nvSpPr>
          <p:cNvPr id="1048813" name="Espace réservé du numéro de diapositive 3"/>
          <p:cNvSpPr>
            <a:spLocks noGrp="1"/>
          </p:cNvSpPr>
          <p:nvPr>
            <p:ph type="sldNum" sz="quarter" idx="10"/>
          </p:nvPr>
        </p:nvSpPr>
        <p:spPr/>
        <p:txBody>
          <a:bodyPr/>
          <a:p>
            <a:fld id="{F267D614-A403-4847-9522-E840C6A8F7A8}" type="slidenum">
              <a:rPr lang="fr-FR" smtClean="0"/>
              <a:t>33</a:t>
            </a:fld>
            <a:endParaRPr lang="fr-F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815"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816" name="Espace réservé des commentaires 2"/>
          <p:cNvSpPr>
            <a:spLocks noGrp="1"/>
          </p:cNvSpPr>
          <p:nvPr>
            <p:ph type="body" idx="1"/>
          </p:nvPr>
        </p:nvSpPr>
        <p:spPr bwMode="auto">
          <a:noFill/>
        </p:spPr>
        <p:txBody>
          <a:bodyPr anchor="t" anchorCtr="0" compatLnSpc="1" numCol="1" wrap="square">
            <a:prstTxWarp prst="textNoShape"/>
          </a:bodyPr>
          <a:p>
            <a:r>
              <a:rPr b="0" dirty="0" i="0" lang="fr-FR" smtClean="0"/>
              <a:t>B- Traitement des péricardites</a:t>
            </a:r>
          </a:p>
          <a:p>
            <a:r>
              <a:rPr b="0" dirty="0" i="0" lang="fr-FR" smtClean="0"/>
              <a:t>Le but du traitement des péricardites est d’assurer le contrôle</a:t>
            </a:r>
            <a:r>
              <a:rPr baseline="0" b="0" dirty="0" i="0" lang="fr-FR" smtClean="0"/>
              <a:t> de la douleur, d’</a:t>
            </a:r>
            <a:r>
              <a:rPr baseline="0" b="0" dirty="0" i="0" lang="fr-FR" err="1" smtClean="0"/>
              <a:t>accélerer</a:t>
            </a:r>
            <a:r>
              <a:rPr baseline="0" b="0" dirty="0" i="0" lang="fr-FR" smtClean="0"/>
              <a:t> la </a:t>
            </a:r>
            <a:r>
              <a:rPr baseline="0" b="0" dirty="0" i="0" lang="fr-FR" err="1" smtClean="0"/>
              <a:t>remission</a:t>
            </a:r>
            <a:r>
              <a:rPr baseline="0" b="0" dirty="0" i="0" lang="fr-FR" smtClean="0"/>
              <a:t>, et d’éviter les complications en particulier les récidives et la constriction.</a:t>
            </a:r>
            <a:endParaRPr b="0" dirty="0" i="0" lang="fr-FR" smtClean="0"/>
          </a:p>
          <a:p>
            <a:r>
              <a:rPr b="1" dirty="0" lang="fr-FR" smtClean="0"/>
              <a:t>1- Tri des patients</a:t>
            </a:r>
          </a:p>
          <a:p>
            <a:r>
              <a:rPr dirty="0" lang="fr-FR" smtClean="0"/>
              <a:t>Si on hospitalise un patient présentant une suspicion de péricardite aiguë c’est parce qu’on craint une évolution rapidement défavorable (tamponnade),</a:t>
            </a:r>
            <a:r>
              <a:rPr baseline="0" dirty="0" lang="fr-FR" smtClean="0"/>
              <a:t> le développement d’une constriction, </a:t>
            </a:r>
            <a:r>
              <a:rPr dirty="0" lang="fr-FR" smtClean="0"/>
              <a:t>et/ou parce qu’on suspecte une étiologie inhabituelle.</a:t>
            </a:r>
          </a:p>
        </p:txBody>
      </p:sp>
      <p:sp>
        <p:nvSpPr>
          <p:cNvPr id="1048817"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1BF13586-5662-40F4-8AC2-D9931B7D1A11}" type="slidenum">
              <a:rPr lang="fr-FR" smtClean="0"/>
              <a:t>34</a:t>
            </a:fld>
            <a:endParaRPr lang="fr-F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836" name="Espace réservé de l'image des diapositives 1"/>
          <p:cNvSpPr>
            <a:spLocks noChangeAspect="1" noRot="1" noGrp="1"/>
          </p:cNvSpPr>
          <p:nvPr>
            <p:ph type="sldImg"/>
          </p:nvPr>
        </p:nvSpPr>
        <p:spPr/>
      </p:sp>
      <p:sp>
        <p:nvSpPr>
          <p:cNvPr id="1048837" name="Espace réservé des commentaires 2"/>
          <p:cNvSpPr>
            <a:spLocks noGrp="1"/>
          </p:cNvSpPr>
          <p:nvPr>
            <p:ph type="body" idx="1"/>
          </p:nvPr>
        </p:nvSpPr>
        <p:spPr/>
        <p:txBody>
          <a:bodyPr>
            <a:normAutofit/>
          </a:bodyPr>
          <a:p>
            <a:r>
              <a:rPr dirty="0" lang="fr-FR" smtClean="0"/>
              <a:t>Algorithme pour le diagnostic et le tri des patients avec suspicion de péricardite.</a:t>
            </a:r>
          </a:p>
          <a:p>
            <a:r>
              <a:rPr lang="fr-FR" smtClean="0"/>
              <a:t>Un</a:t>
            </a:r>
            <a:r>
              <a:rPr baseline="0" lang="fr-FR" smtClean="0"/>
              <a:t> </a:t>
            </a:r>
            <a:r>
              <a:rPr baseline="0" dirty="0" lang="fr-FR" smtClean="0"/>
              <a:t>patient à haut risque doit être hospitalisé et une enquête </a:t>
            </a:r>
            <a:r>
              <a:rPr baseline="0" lang="fr-FR" smtClean="0"/>
              <a:t>étiologique devra </a:t>
            </a:r>
            <a:r>
              <a:rPr baseline="0" dirty="0" lang="fr-FR" smtClean="0"/>
              <a:t>être menée.</a:t>
            </a:r>
          </a:p>
          <a:p>
            <a:r>
              <a:rPr baseline="0" dirty="0" lang="fr-FR" smtClean="0"/>
              <a:t>En l’absence de situation à haut risque un traitement ambulatoire peut être conduit, et il n’y a pas </a:t>
            </a:r>
            <a:r>
              <a:rPr baseline="0" lang="fr-FR" smtClean="0"/>
              <a:t>nécessité d’envisager une </a:t>
            </a:r>
            <a:r>
              <a:rPr baseline="0" dirty="0" lang="fr-FR" smtClean="0"/>
              <a:t>enquête étiologique si le patient répond au traitement anti-inflammatoire empirique.</a:t>
            </a:r>
            <a:endParaRPr dirty="0" lang="fr-FR"/>
          </a:p>
        </p:txBody>
      </p:sp>
      <p:sp>
        <p:nvSpPr>
          <p:cNvPr id="1048838" name="Espace réservé du numéro de diapositive 3"/>
          <p:cNvSpPr>
            <a:spLocks noGrp="1"/>
          </p:cNvSpPr>
          <p:nvPr>
            <p:ph type="sldNum" sz="quarter" idx="10"/>
          </p:nvPr>
        </p:nvSpPr>
        <p:spPr/>
        <p:txBody>
          <a:bodyPr/>
          <a:p>
            <a:fld id="{F267D614-A403-4847-9522-E840C6A8F7A8}" type="slidenum">
              <a:rPr lang="fr-FR" smtClean="0"/>
              <a:t>35</a:t>
            </a:fld>
            <a:endParaRPr lang="fr-F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69" name=""/>
        <p:cNvGrpSpPr/>
        <p:nvPr/>
      </p:nvGrpSpPr>
      <p:grpSpPr>
        <a:xfrm>
          <a:off x="0" y="0"/>
          <a:ext cx="0" cy="0"/>
          <a:chOff x="0" y="0"/>
          <a:chExt cx="0" cy="0"/>
        </a:xfrm>
      </p:grpSpPr>
      <p:sp>
        <p:nvSpPr>
          <p:cNvPr id="1048846"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847" name="Espace réservé des commentaires 2"/>
          <p:cNvSpPr>
            <a:spLocks noGrp="1"/>
          </p:cNvSpPr>
          <p:nvPr>
            <p:ph type="body" idx="1"/>
          </p:nvPr>
        </p:nvSpPr>
        <p:spPr bwMode="auto">
          <a:noFill/>
        </p:spPr>
        <p:txBody>
          <a:bodyPr anchor="t" anchorCtr="0" compatLnSpc="1" numCol="1" wrap="square">
            <a:prstTxWarp prst="textNoShape"/>
          </a:bodyPr>
          <a:p>
            <a:r>
              <a:rPr b="1" dirty="0" lang="fr-FR" smtClean="0"/>
              <a:t>2-Traitement pharmacologique:</a:t>
            </a:r>
          </a:p>
          <a:p>
            <a:r>
              <a:rPr b="1" dirty="0" lang="fr-FR" smtClean="0"/>
              <a:t>   a-Traitement</a:t>
            </a:r>
            <a:r>
              <a:rPr baseline="0" b="1" dirty="0" lang="fr-FR" smtClean="0"/>
              <a:t> de première ligne de la péricardite aigue:</a:t>
            </a:r>
            <a:endParaRPr b="1" dirty="0" lang="fr-FR" smtClean="0"/>
          </a:p>
          <a:p>
            <a:r>
              <a:rPr b="0" dirty="0" lang="fr-FR" smtClean="0"/>
              <a:t>Le</a:t>
            </a:r>
            <a:r>
              <a:rPr baseline="0" b="0" dirty="0" lang="fr-FR" smtClean="0"/>
              <a:t> but du traitement est d’assurer un contrôle de la douleur, accélérer la rémission clinique, et prévenir les complications en particulier les récidives et la constriction péricardique.</a:t>
            </a:r>
            <a:endParaRPr b="0" dirty="0" lang="fr-FR" smtClean="0"/>
          </a:p>
          <a:p>
            <a:endParaRPr dirty="0" lang="fr-FR" smtClean="0"/>
          </a:p>
          <a:p>
            <a:r>
              <a:rPr dirty="0" lang="fr-FR" smtClean="0"/>
              <a:t>L’aspirine et les autres anti-inflammatoires non stéroïdiens (AINS) sont les médicaments principaux de la péricardite aiguë, recommandés en traitement de première intention , associés à une protection gastrique par IPP.</a:t>
            </a:r>
            <a:r>
              <a:rPr b="1" dirty="0" i="1" lang="fr-FR" smtClean="0"/>
              <a:t> </a:t>
            </a:r>
          </a:p>
          <a:p>
            <a:r>
              <a:rPr dirty="0" lang="fr-FR" smtClean="0"/>
              <a:t>La dose initiale doit être poursuivie jusqu’à la résolution des symptômes</a:t>
            </a:r>
            <a:r>
              <a:rPr baseline="0" dirty="0" lang="fr-FR" smtClean="0"/>
              <a:t> </a:t>
            </a:r>
            <a:r>
              <a:rPr dirty="0" lang="fr-FR" smtClean="0"/>
              <a:t>et la normalisation de la CRP, puis une décroissance posologique doit être envisagée.</a:t>
            </a:r>
          </a:p>
          <a:p>
            <a:r>
              <a:rPr dirty="0" lang="fr-FR" smtClean="0"/>
              <a:t>La colchicine, est recommandée en traitement de </a:t>
            </a:r>
            <a:r>
              <a:rPr dirty="0" lang="fr-FR" u="sng" smtClean="0"/>
              <a:t>première intention en association au traitement par aspirine</a:t>
            </a:r>
            <a:r>
              <a:rPr baseline="0" dirty="0" lang="fr-FR" u="sng" smtClean="0"/>
              <a:t> ou </a:t>
            </a:r>
            <a:r>
              <a:rPr dirty="0" lang="fr-FR" u="sng" smtClean="0"/>
              <a:t>AINS</a:t>
            </a:r>
            <a:r>
              <a:rPr baseline="0" dirty="0" lang="fr-FR" u="sng" smtClean="0"/>
              <a:t>.</a:t>
            </a:r>
            <a:endParaRPr dirty="0" lang="fr-FR" smtClean="0"/>
          </a:p>
          <a:p>
            <a:r>
              <a:rPr dirty="0" lang="fr-FR" smtClean="0"/>
              <a:t>Le traitement d’une péricardite aiguë repose donc aujourd’hui systématiquement sur l’association d’un AINS ou d’aspirine pendant </a:t>
            </a:r>
            <a:r>
              <a:rPr b="1" dirty="0" lang="fr-FR" smtClean="0"/>
              <a:t>4 à 8 semaines </a:t>
            </a:r>
            <a:r>
              <a:rPr dirty="0" lang="fr-FR" smtClean="0"/>
              <a:t>avec de la colchicine pendant 3 mois.</a:t>
            </a:r>
          </a:p>
          <a:p>
            <a:endParaRPr dirty="0" lang="fr-FR" smtClean="0"/>
          </a:p>
          <a:p>
            <a:pPr algn="l" defTabSz="914400" eaLnBrk="1" fontAlgn="auto" hangingPunct="1" indent="0" latinLnBrk="0" marL="0" marR="0" rtl="0">
              <a:lnSpc>
                <a:spcPct val="100000"/>
              </a:lnSpc>
              <a:spcBef>
                <a:spcPts val="0"/>
              </a:spcBef>
              <a:spcAft>
                <a:spcPts val="0"/>
              </a:spcAft>
              <a:buClrTx/>
              <a:buSzTx/>
              <a:buFontTx/>
              <a:buNone/>
            </a:pPr>
            <a:r>
              <a:rPr dirty="0" lang="fr-FR" u="none" smtClean="0"/>
              <a:t>Un</a:t>
            </a:r>
            <a:r>
              <a:rPr baseline="0" dirty="0" lang="fr-FR" u="none" smtClean="0"/>
              <a:t> traitement beta bloqueur peut être utile pour réduire la fréquence cardiaque et le frottement péricardique en cas de pouls supérieur à 75/minute avec douleur persistante.</a:t>
            </a:r>
            <a:endParaRPr dirty="0" lang="fr-FR" u="sng" smtClean="0"/>
          </a:p>
          <a:p>
            <a:endParaRPr dirty="0" lang="fr-FR" smtClean="0"/>
          </a:p>
          <a:p>
            <a:r>
              <a:rPr b="1" dirty="0" lang="fr-FR" smtClean="0"/>
              <a:t>Les corticoïdes ne sont pas recommandés en traitement de première intention de la péricardite aiguë. Il est bien démontré qu’ils favorisent les récidives et le passage à la chronicité</a:t>
            </a:r>
            <a:r>
              <a:rPr b="0" dirty="0" lang="fr-FR" smtClean="0"/>
              <a:t>.</a:t>
            </a:r>
            <a:endParaRPr dirty="0" lang="fr-FR" smtClean="0"/>
          </a:p>
          <a:p>
            <a:r>
              <a:rPr dirty="0" lang="fr-FR" smtClean="0"/>
              <a:t>Des corticoïdes à dose</a:t>
            </a:r>
            <a:r>
              <a:rPr baseline="0" dirty="0" lang="fr-FR" smtClean="0"/>
              <a:t> faible à modérée</a:t>
            </a:r>
            <a:r>
              <a:rPr dirty="0" lang="fr-FR" smtClean="0"/>
              <a:t>, </a:t>
            </a:r>
            <a:r>
              <a:rPr dirty="0" lang="fr-FR" u="sng" smtClean="0"/>
              <a:t>associés à la colchicine</a:t>
            </a:r>
            <a:r>
              <a:rPr dirty="0" lang="fr-FR" smtClean="0"/>
              <a:t>, seront envisagés en 1</a:t>
            </a:r>
            <a:r>
              <a:rPr baseline="30000" dirty="0" lang="fr-FR" smtClean="0"/>
              <a:t>ère</a:t>
            </a:r>
            <a:r>
              <a:rPr dirty="0" lang="fr-FR" smtClean="0"/>
              <a:t> intention en cas de péricardite aiguë avec une contre-indication ou une intolérance à l’aspirine</a:t>
            </a:r>
            <a:r>
              <a:rPr baseline="0" dirty="0" lang="fr-FR" smtClean="0"/>
              <a:t> ou aux</a:t>
            </a:r>
            <a:r>
              <a:rPr dirty="0" lang="fr-FR" smtClean="0"/>
              <a:t> AINS, et quand une cause infectieuse a été exclue; ils seront également prescrits quand il y a une indication spécifique telle qu’une maladie auto immune, et chez</a:t>
            </a:r>
            <a:r>
              <a:rPr baseline="0" dirty="0" lang="fr-FR" smtClean="0"/>
              <a:t> la femme enceinte</a:t>
            </a:r>
            <a:r>
              <a:rPr dirty="0" sz="1200" kern="1200" lang="fr-FR" smtClean="0">
                <a:solidFill>
                  <a:schemeClr val="tx1"/>
                </a:solidFill>
                <a:latin typeface="+mn-lt"/>
                <a:ea typeface="+mn-ea"/>
                <a:cs typeface="+mn-cs"/>
              </a:rPr>
              <a:t>. Il faut</a:t>
            </a:r>
            <a:r>
              <a:rPr baseline="0" dirty="0" sz="1200" kern="1200" lang="fr-FR" smtClean="0">
                <a:solidFill>
                  <a:schemeClr val="tx1"/>
                </a:solidFill>
                <a:latin typeface="+mn-lt"/>
                <a:ea typeface="+mn-ea"/>
                <a:cs typeface="+mn-cs"/>
              </a:rPr>
              <a:t> e</a:t>
            </a:r>
            <a:r>
              <a:rPr dirty="0" sz="1200" kern="1200" lang="fr-FR" smtClean="0">
                <a:solidFill>
                  <a:schemeClr val="tx1"/>
                </a:solidFill>
                <a:latin typeface="+mn-lt"/>
                <a:ea typeface="+mn-ea"/>
                <a:cs typeface="+mn-cs"/>
              </a:rPr>
              <a:t>nvisager leur décroissance dès la normalisation de la CRP.</a:t>
            </a:r>
          </a:p>
          <a:p>
            <a:endParaRPr dirty="0" sz="1200" kern="1200" lang="fr-FR" smtClean="0">
              <a:solidFill>
                <a:schemeClr val="tx1"/>
              </a:solidFill>
              <a:latin typeface="+mn-lt"/>
              <a:ea typeface="+mn-ea"/>
              <a:cs typeface="+mn-cs"/>
            </a:endParaRPr>
          </a:p>
          <a:p>
            <a:pPr algn="l" defTabSz="914400" eaLnBrk="1" fontAlgn="auto" hangingPunct="1" indent="0" latinLnBrk="0" marL="0" marR="0" rtl="0">
              <a:lnSpc>
                <a:spcPct val="100000"/>
              </a:lnSpc>
              <a:spcBef>
                <a:spcPts val="0"/>
              </a:spcBef>
              <a:spcAft>
                <a:spcPts val="0"/>
              </a:spcAft>
              <a:buClrTx/>
              <a:buSzTx/>
              <a:buFontTx/>
              <a:buNone/>
            </a:pPr>
            <a:r>
              <a:rPr dirty="0" lang="fr-FR" smtClean="0"/>
              <a:t>Il est utile de revoir le patient au 7e jour puis à 1, 3 et 6 mois, pour vérifier l’absence de symptômes, la normalité de la CRP et de l’échographie, et organiser le sevrage en AINS et colchicine. Toute anomalie détectée dans ce cadre pourra justifier un bilan étiologique plus complet.</a:t>
            </a:r>
          </a:p>
        </p:txBody>
      </p:sp>
      <p:sp>
        <p:nvSpPr>
          <p:cNvPr id="1048848"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5A4736C7-0E92-4C0A-B2E9-C1BE7006642D}" type="slidenum">
              <a:rPr lang="fr-FR" smtClean="0"/>
              <a:t>37</a:t>
            </a:fld>
            <a:endParaRPr lang="fr-F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72" name=""/>
        <p:cNvGrpSpPr/>
        <p:nvPr/>
      </p:nvGrpSpPr>
      <p:grpSpPr>
        <a:xfrm>
          <a:off x="0" y="0"/>
          <a:ext cx="0" cy="0"/>
          <a:chOff x="0" y="0"/>
          <a:chExt cx="0" cy="0"/>
        </a:xfrm>
      </p:grpSpPr>
      <p:sp>
        <p:nvSpPr>
          <p:cNvPr id="1048850" name="Espace réservé de l'image des diapositives 1"/>
          <p:cNvSpPr>
            <a:spLocks noChangeAspect="1" noRot="1" noGrp="1" noTextEdit="1"/>
          </p:cNvSpPr>
          <p:nvPr>
            <p:ph type="sldImg"/>
          </p:nvPr>
        </p:nvSpPr>
        <p:spPr bwMode="auto">
          <a:noFill/>
          <a:ln>
            <a:solidFill>
              <a:srgbClr val="000000"/>
            </a:solidFill>
            <a:miter lim="800000"/>
            <a:headEnd/>
            <a:tailEnd/>
          </a:ln>
        </p:spPr>
      </p:sp>
      <p:sp>
        <p:nvSpPr>
          <p:cNvPr id="1048851" name="Espace réservé des commentaires 2"/>
          <p:cNvSpPr>
            <a:spLocks noGrp="1"/>
          </p:cNvSpPr>
          <p:nvPr>
            <p:ph type="body" idx="1"/>
          </p:nvPr>
        </p:nvSpPr>
        <p:spPr/>
        <p:txBody>
          <a:bodyPr>
            <a:normAutofit fontScale="85000" lnSpcReduction="20000"/>
          </a:bodyPr>
          <a:p>
            <a:r>
              <a:rPr b="1" dirty="0" lang="fr-FR" smtClean="0"/>
              <a:t>b-Traitement de la forme récidivante</a:t>
            </a:r>
            <a:r>
              <a:rPr dirty="0" lang="fr-FR" smtClean="0"/>
              <a:t>:</a:t>
            </a:r>
          </a:p>
          <a:p>
            <a:r>
              <a:rPr dirty="0" lang="fr-FR" smtClean="0"/>
              <a:t>En cas d’échec à l’association AINS/colchicine les corticoïdes sont envisagés toujours  à des doses faibles et associés à la colchicine ou à la bithérapie initiale (</a:t>
            </a:r>
            <a:r>
              <a:rPr dirty="0" lang="fr-FR" u="sng" smtClean="0"/>
              <a:t>0,2 à 0,5 mg/kg/j</a:t>
            </a:r>
            <a:r>
              <a:rPr dirty="0" lang="fr-FR" smtClean="0"/>
              <a:t> de prednisone). Cette dose initiale est maintenue jusqu’à disparition des symptômes et normalisation de la CRP. On procède</a:t>
            </a:r>
            <a:r>
              <a:rPr baseline="0" dirty="0" lang="fr-FR" smtClean="0"/>
              <a:t> ensuite à un sevrage très progressif afin d’éviter l’effet rebond.</a:t>
            </a:r>
            <a:endParaRPr dirty="0" lang="fr-FR" smtClean="0"/>
          </a:p>
          <a:p>
            <a:r>
              <a:rPr dirty="0" lang="fr-FR" smtClean="0"/>
              <a:t>Exceptionnellement, en cas de formes réfractaires ou cortico-dépendantes, ou si les AINS</a:t>
            </a:r>
            <a:r>
              <a:rPr baseline="0" dirty="0" lang="fr-FR" smtClean="0"/>
              <a:t> ou les corticoïdes sont contre indiqués ou mal tolérés,</a:t>
            </a:r>
            <a:r>
              <a:rPr dirty="0" lang="fr-FR" smtClean="0"/>
              <a:t> des antagonistes de</a:t>
            </a:r>
            <a:r>
              <a:rPr baseline="0" dirty="0" lang="fr-FR" smtClean="0"/>
              <a:t> l’interleukine-1 sont envisagés pour contrôler l’inflammation.</a:t>
            </a:r>
          </a:p>
          <a:p>
            <a:r>
              <a:rPr baseline="0" dirty="0" lang="fr-FR" smtClean="0"/>
              <a:t>En dernier recours l’</a:t>
            </a:r>
            <a:r>
              <a:rPr baseline="0" dirty="0" lang="fr-FR" err="1" smtClean="0"/>
              <a:t>hydroxychloroquine</a:t>
            </a:r>
            <a:r>
              <a:rPr baseline="0" dirty="0" lang="fr-FR" smtClean="0"/>
              <a:t> peut être envisagée dans les formes récurrentes résistantes aux thérapeutiques sus citées.</a:t>
            </a:r>
          </a:p>
          <a:p>
            <a:r>
              <a:rPr dirty="0" lang="fr-FR" smtClean="0"/>
              <a:t>Dans</a:t>
            </a:r>
            <a:r>
              <a:rPr baseline="0" dirty="0" lang="fr-FR" smtClean="0"/>
              <a:t> les formes ‘’post lésion cardiaque’’ ( procédure interventionnelle, chirurgie, infarctus) la conduite est la même.</a:t>
            </a:r>
          </a:p>
        </p:txBody>
      </p:sp>
      <p:sp>
        <p:nvSpPr>
          <p:cNvPr id="1048852" name="Espace réservé du numéro de diapositive 3"/>
          <p:cNvSpPr>
            <a:spLocks noGrp="1"/>
          </p:cNvSpPr>
          <p:nvPr>
            <p:ph type="sldNum" sz="quarter" idx="5"/>
          </p:nvPr>
        </p:nvSpPr>
        <p:spPr bwMode="auto">
          <a:noFill/>
          <a:ln>
            <a:miter lim="800000"/>
            <a:headEnd/>
            <a:tailEnd/>
          </a:ln>
        </p:spPr>
        <p:txBody>
          <a:bodyPr anchorCtr="0" compatLnSpc="1" numCol="1" wrap="square">
            <a:prstTxWarp prst="textNoShape"/>
          </a:bodyPr>
          <a:p>
            <a:fld id="{BC320A95-70AC-4262-9365-C881978875A0}" type="slidenum">
              <a:rPr lang="fr-FR" smtClean="0"/>
              <a:t>38</a:t>
            </a:fld>
            <a:endParaRPr lang="fr-FR"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75" name=""/>
        <p:cNvGrpSpPr/>
        <p:nvPr/>
      </p:nvGrpSpPr>
      <p:grpSpPr>
        <a:xfrm>
          <a:off x="0" y="0"/>
          <a:ext cx="0" cy="0"/>
          <a:chOff x="0" y="0"/>
          <a:chExt cx="0" cy="0"/>
        </a:xfrm>
      </p:grpSpPr>
      <p:sp>
        <p:nvSpPr>
          <p:cNvPr id="1048865" name="Espace réservé de l'image des diapositives 1"/>
          <p:cNvSpPr>
            <a:spLocks noChangeAspect="1" noRot="1" noGrp="1"/>
          </p:cNvSpPr>
          <p:nvPr>
            <p:ph type="sldImg"/>
          </p:nvPr>
        </p:nvSpPr>
        <p:spPr/>
      </p:sp>
      <p:sp>
        <p:nvSpPr>
          <p:cNvPr id="1048866" name="Espace réservé des commentaires 2"/>
          <p:cNvSpPr>
            <a:spLocks noGrp="1"/>
          </p:cNvSpPr>
          <p:nvPr>
            <p:ph type="body" idx="1"/>
          </p:nvPr>
        </p:nvSpPr>
        <p:spPr/>
        <p:txBody>
          <a:bodyPr>
            <a:normAutofit fontScale="85000" lnSpcReduction="10000"/>
          </a:bodyPr>
          <a:p>
            <a:r>
              <a:rPr b="1" dirty="0" lang="fr-FR" smtClean="0"/>
              <a:t>b-Traitement de la forme récidivante</a:t>
            </a:r>
            <a:r>
              <a:rPr dirty="0" lang="fr-FR" smtClean="0"/>
              <a:t>:</a:t>
            </a:r>
          </a:p>
          <a:p>
            <a:r>
              <a:rPr dirty="0" lang="fr-FR" smtClean="0"/>
              <a:t>En cas d’échec à l’association AINS/colchicine les corticoïdes sont envisagés toujours  à des doses faibles et associés à la colchicine ou à la bithérapie initiale (</a:t>
            </a:r>
            <a:r>
              <a:rPr dirty="0" lang="fr-FR" u="sng" smtClean="0"/>
              <a:t>0,2 à 0,5 mg/kg/j</a:t>
            </a:r>
            <a:r>
              <a:rPr dirty="0" lang="fr-FR" smtClean="0"/>
              <a:t> de prednisone). Cette dose initiale est maintenue jusqu’à disparition des symptômes et normalisation de la CRP. On procède</a:t>
            </a:r>
            <a:r>
              <a:rPr baseline="0" dirty="0" lang="fr-FR" smtClean="0"/>
              <a:t> ensuite à un sevrage très progressif afin d’éviter l’effet rebond.</a:t>
            </a:r>
            <a:endParaRPr dirty="0" lang="fr-FR" smtClean="0"/>
          </a:p>
          <a:p>
            <a:r>
              <a:rPr dirty="0" lang="fr-FR" smtClean="0"/>
              <a:t>Exceptionnellement, en cas de formes réfractaires ou cortico-dépendantes, ou si les AINS</a:t>
            </a:r>
            <a:r>
              <a:rPr baseline="0" dirty="0" lang="fr-FR" smtClean="0"/>
              <a:t> ou les corticoïdes sont contre indiqués ou mal tolérés,</a:t>
            </a:r>
            <a:r>
              <a:rPr dirty="0" lang="fr-FR" smtClean="0"/>
              <a:t> des antagonistes de</a:t>
            </a:r>
            <a:r>
              <a:rPr baseline="0" dirty="0" lang="fr-FR" smtClean="0"/>
              <a:t> l’interleukine-1 sont envisagés pour contrôler l’inflammation.</a:t>
            </a:r>
          </a:p>
          <a:p>
            <a:r>
              <a:rPr baseline="0" dirty="0" lang="fr-FR" smtClean="0"/>
              <a:t>En dernier recours l’</a:t>
            </a:r>
            <a:r>
              <a:rPr baseline="0" dirty="0" lang="fr-FR" err="1" smtClean="0"/>
              <a:t>hydroxychloroquine</a:t>
            </a:r>
            <a:r>
              <a:rPr baseline="0" dirty="0" lang="fr-FR" smtClean="0"/>
              <a:t> peut être envisagée dans les formes récurrentes résistantes aux thérapeutiques sus citées.</a:t>
            </a:r>
          </a:p>
          <a:p>
            <a:r>
              <a:rPr dirty="0" lang="fr-FR" smtClean="0"/>
              <a:t>Dans</a:t>
            </a:r>
            <a:r>
              <a:rPr baseline="0" dirty="0" lang="fr-FR" smtClean="0"/>
              <a:t> les formes ‘’post lésion cardiaque’’ ( procédure interventionnelle, chirurgie, infarctus) la conduite est la même.</a:t>
            </a:r>
          </a:p>
        </p:txBody>
      </p:sp>
      <p:sp>
        <p:nvSpPr>
          <p:cNvPr id="1048867" name="Espace réservé du numéro de diapositive 3"/>
          <p:cNvSpPr>
            <a:spLocks noGrp="1"/>
          </p:cNvSpPr>
          <p:nvPr>
            <p:ph type="sldNum" sz="quarter" idx="10"/>
          </p:nvPr>
        </p:nvSpPr>
        <p:spPr/>
        <p:txBody>
          <a:bodyPr/>
          <a:p>
            <a:fld id="{F267D614-A403-4847-9522-E840C6A8F7A8}" type="slidenum">
              <a:rPr lang="fr-FR" smtClean="0"/>
              <a:t>39</a:t>
            </a:fld>
            <a:endParaRPr lang="fr-F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79" name=""/>
        <p:cNvGrpSpPr/>
        <p:nvPr/>
      </p:nvGrpSpPr>
      <p:grpSpPr>
        <a:xfrm>
          <a:off x="0" y="0"/>
          <a:ext cx="0" cy="0"/>
          <a:chOff x="0" y="0"/>
          <a:chExt cx="0" cy="0"/>
        </a:xfrm>
      </p:grpSpPr>
      <p:sp>
        <p:nvSpPr>
          <p:cNvPr id="1048872" name="Espace réservé de l'image des diapositives 1"/>
          <p:cNvSpPr>
            <a:spLocks noChangeAspect="1" noRot="1" noGrp="1"/>
          </p:cNvSpPr>
          <p:nvPr>
            <p:ph type="sldImg"/>
          </p:nvPr>
        </p:nvSpPr>
        <p:spPr/>
      </p:sp>
      <p:sp>
        <p:nvSpPr>
          <p:cNvPr id="1048873" name="Espace réservé des commentaires 2"/>
          <p:cNvSpPr>
            <a:spLocks noGrp="1"/>
          </p:cNvSpPr>
          <p:nvPr>
            <p:ph type="body" idx="1"/>
          </p:nvPr>
        </p:nvSpPr>
        <p:spPr/>
        <p:txBody>
          <a:bodyPr>
            <a:normAutofit/>
          </a:bodyPr>
          <a:p>
            <a:r>
              <a:rPr dirty="0" lang="fr-FR" smtClean="0"/>
              <a:t>C-</a:t>
            </a:r>
            <a:r>
              <a:rPr baseline="0" dirty="0" lang="fr-FR" smtClean="0"/>
              <a:t> Traitement de la myocardite:</a:t>
            </a:r>
            <a:endParaRPr dirty="0" lang="fr-FR" smtClean="0"/>
          </a:p>
          <a:p>
            <a:r>
              <a:rPr dirty="0" lang="fr-FR" smtClean="0"/>
              <a:t> Le</a:t>
            </a:r>
            <a:r>
              <a:rPr baseline="0" dirty="0" lang="fr-FR" smtClean="0"/>
              <a:t> but du traitement est de contrôler les symptômes, surtout la douleur, et d’éviter la survenue de complications.</a:t>
            </a:r>
          </a:p>
          <a:p>
            <a:r>
              <a:rPr dirty="0" lang="fr-FR" smtClean="0"/>
              <a:t>Il dépendra de</a:t>
            </a:r>
            <a:r>
              <a:rPr baseline="0" dirty="0" lang="fr-FR" smtClean="0"/>
              <a:t> la présentation clinique, de la sévérité du tableau clinique et de l’étiologie.</a:t>
            </a:r>
          </a:p>
          <a:p>
            <a:r>
              <a:rPr baseline="0" dirty="0" lang="fr-FR" smtClean="0"/>
              <a:t>     1- </a:t>
            </a:r>
            <a:r>
              <a:rPr baseline="0" dirty="0" lang="fr-FR" u="sng" smtClean="0"/>
              <a:t>traitement pharmacologique</a:t>
            </a:r>
            <a:r>
              <a:rPr baseline="0" dirty="0" lang="fr-FR" smtClean="0"/>
              <a:t>: il comporte plusieurs volets:</a:t>
            </a:r>
          </a:p>
          <a:p>
            <a:r>
              <a:rPr baseline="0" dirty="0" lang="fr-FR" smtClean="0"/>
              <a:t>  a- un traitement sans rapport avec une étiologie spécifique tel que le traitement d’une défaillance cardiaque. Les formes sévères relèvent de l’assistance circulatoire voire de la transplantation cardiaque.</a:t>
            </a:r>
          </a:p>
          <a:p>
            <a:r>
              <a:rPr baseline="0" dirty="0" lang="fr-FR" smtClean="0"/>
              <a:t>  b- un traitement antiarythmique dans les formes compliquées de troubles rythmiques.</a:t>
            </a:r>
          </a:p>
          <a:p>
            <a:r>
              <a:rPr baseline="0" dirty="0" lang="fr-FR" smtClean="0"/>
              <a:t>  c- un traitement étiologique dans les formes à étiologie spécifiques: corticothérapie pour les formes auto-immunes, immunosuppresseurs, antibiotiques…</a:t>
            </a:r>
          </a:p>
          <a:p>
            <a:r>
              <a:rPr baseline="0" dirty="0" lang="fr-FR" smtClean="0"/>
              <a:t>  d- les formes non compliquées: un traitement par aspirine ou anti-inflammatoire non stéroïdien avec protection gastrique pour contrôler la douleur peut être indiqué si nécessaire, en association à la colchicine pour éviter les récidives. Les béta bloquants sont souvent prescrits pour une durée de 6 mois minimum pour prévenir les arythmies et limiter le risque de décès d’origine cardiaque. </a:t>
            </a:r>
          </a:p>
          <a:p>
            <a:endParaRPr dirty="0" lang="fr-FR"/>
          </a:p>
        </p:txBody>
      </p:sp>
      <p:sp>
        <p:nvSpPr>
          <p:cNvPr id="1048874" name="Espace réservé du numéro de diapositive 3"/>
          <p:cNvSpPr>
            <a:spLocks noGrp="1"/>
          </p:cNvSpPr>
          <p:nvPr>
            <p:ph type="sldNum" sz="quarter" idx="10"/>
          </p:nvPr>
        </p:nvSpPr>
        <p:spPr/>
        <p:txBody>
          <a:bodyPr/>
          <a:p>
            <a:fld id="{F267D614-A403-4847-9522-E840C6A8F7A8}" type="slidenum">
              <a:rPr lang="fr-FR" smtClean="0"/>
              <a:t>41</a:t>
            </a:fld>
            <a:endParaRPr lang="fr-F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82" name=""/>
        <p:cNvGrpSpPr/>
        <p:nvPr/>
      </p:nvGrpSpPr>
      <p:grpSpPr>
        <a:xfrm>
          <a:off x="0" y="0"/>
          <a:ext cx="0" cy="0"/>
          <a:chOff x="0" y="0"/>
          <a:chExt cx="0" cy="0"/>
        </a:xfrm>
      </p:grpSpPr>
      <p:sp>
        <p:nvSpPr>
          <p:cNvPr id="1048876" name="Espace réservé de l'image des diapositives 1"/>
          <p:cNvSpPr>
            <a:spLocks noChangeAspect="1" noRot="1" noGrp="1"/>
          </p:cNvSpPr>
          <p:nvPr>
            <p:ph type="sldImg"/>
          </p:nvPr>
        </p:nvSpPr>
        <p:spPr/>
      </p:sp>
      <p:sp>
        <p:nvSpPr>
          <p:cNvPr id="1048877" name="Espace réservé des commentaires 2"/>
          <p:cNvSpPr>
            <a:spLocks noGrp="1"/>
          </p:cNvSpPr>
          <p:nvPr>
            <p:ph type="body" idx="1"/>
          </p:nvPr>
        </p:nvSpPr>
        <p:spPr/>
        <p:txBody>
          <a:bodyPr>
            <a:normAutofit/>
          </a:bodyPr>
          <a:p>
            <a:r>
              <a:rPr dirty="0" lang="fr-FR" smtClean="0"/>
              <a:t>    2- </a:t>
            </a:r>
            <a:r>
              <a:rPr dirty="0" lang="fr-FR" u="sng" smtClean="0"/>
              <a:t>traitement non pharmacologique:</a:t>
            </a:r>
            <a:endParaRPr baseline="0" dirty="0" lang="fr-FR" smtClean="0"/>
          </a:p>
          <a:p>
            <a:r>
              <a:rPr baseline="0" dirty="0" lang="fr-FR" smtClean="0"/>
              <a:t> les patients souffrant de myocardite sont exposés aux troubles rythmiques potentiellement mortels et à la défaillance cardiaque. Selon les cas différentes thérapeutiques peuvent être envisagées </a:t>
            </a:r>
            <a:r>
              <a:rPr dirty="0" lang="fr-FR" smtClean="0"/>
              <a:t>pour la</a:t>
            </a:r>
            <a:r>
              <a:rPr baseline="0" dirty="0" lang="fr-FR" smtClean="0"/>
              <a:t> prise en charge des arythmies et la prévention de la mort subite cardiaque:</a:t>
            </a:r>
          </a:p>
          <a:p>
            <a:r>
              <a:rPr baseline="0" dirty="0" lang="fr-FR" smtClean="0"/>
              <a:t>a- prévention de la mort subite:</a:t>
            </a:r>
          </a:p>
          <a:p>
            <a:r>
              <a:rPr baseline="0" dirty="0" lang="fr-FR" smtClean="0"/>
              <a:t>  </a:t>
            </a:r>
            <a:r>
              <a:rPr baseline="0" dirty="0" lang="fr-FR" smtClean="0">
                <a:sym typeface="Symbol"/>
              </a:rPr>
              <a:t></a:t>
            </a:r>
            <a:r>
              <a:rPr baseline="0" dirty="0" lang="fr-FR" smtClean="0"/>
              <a:t> en cas de trouble conductif un entrainement électro-systolique, temporaire ou définitif selon l’évolution, est proposé.</a:t>
            </a:r>
          </a:p>
          <a:p>
            <a:r>
              <a:rPr baseline="0" dirty="0" lang="fr-FR" smtClean="0"/>
              <a:t>  </a:t>
            </a:r>
            <a:r>
              <a:rPr baseline="0" dirty="0" lang="fr-FR" smtClean="0">
                <a:sym typeface="Symbol"/>
              </a:rPr>
              <a:t></a:t>
            </a:r>
            <a:r>
              <a:rPr baseline="0" dirty="0" lang="fr-FR" smtClean="0"/>
              <a:t> en présence myocardite aigue avec tachycardie ventriculaire en présentation clinique initiale le port d’un gilet défibrillateur pour une durée de 3 à 6 mois est recommandée.</a:t>
            </a:r>
          </a:p>
          <a:p>
            <a:r>
              <a:rPr baseline="0" dirty="0" lang="fr-FR" smtClean="0"/>
              <a:t>  </a:t>
            </a:r>
            <a:r>
              <a:rPr baseline="0" dirty="0" lang="fr-FR" smtClean="0">
                <a:sym typeface="Symbol"/>
              </a:rPr>
              <a:t></a:t>
            </a:r>
            <a:r>
              <a:rPr baseline="0" dirty="0" lang="fr-FR" smtClean="0"/>
              <a:t> en cas de TV soutenue sur myocardite non active avec mauvaise tolérance hémodynamique, l’implantation d’un défibrillateur automatique cardiaque est recommandée.</a:t>
            </a:r>
          </a:p>
          <a:p>
            <a:endParaRPr baseline="0" dirty="0" lang="fr-FR" smtClean="0"/>
          </a:p>
          <a:p>
            <a:r>
              <a:rPr baseline="0" dirty="0" lang="fr-FR" smtClean="0"/>
              <a:t> b- prise en charge de la défaillance cardiaque par assistance circulatoire mécanique:</a:t>
            </a:r>
          </a:p>
          <a:p>
            <a:r>
              <a:rPr baseline="0" dirty="0" lang="fr-FR" smtClean="0"/>
              <a:t>  </a:t>
            </a:r>
            <a:r>
              <a:rPr baseline="0" dirty="0" lang="fr-FR" smtClean="0">
                <a:sym typeface="Symbol"/>
              </a:rPr>
              <a:t> pour les myocardites aigues avec choc cardiogénique</a:t>
            </a:r>
          </a:p>
          <a:p>
            <a:r>
              <a:rPr baseline="0" dirty="0" lang="fr-FR" smtClean="0">
                <a:sym typeface="Symbol"/>
              </a:rPr>
              <a:t>   en cas de décompensation cardiaque aigue des myocardites chroniques</a:t>
            </a:r>
          </a:p>
          <a:p>
            <a:r>
              <a:rPr baseline="0" dirty="0" lang="fr-FR" smtClean="0">
                <a:sym typeface="Symbol"/>
              </a:rPr>
              <a:t>  </a:t>
            </a:r>
          </a:p>
          <a:p>
            <a:r>
              <a:rPr baseline="0" dirty="0" lang="fr-FR" smtClean="0">
                <a:sym typeface="Symbol"/>
              </a:rPr>
              <a:t> c- Transplantation cardiaque </a:t>
            </a:r>
            <a:endParaRPr dirty="0" lang="fr-FR"/>
          </a:p>
        </p:txBody>
      </p:sp>
      <p:sp>
        <p:nvSpPr>
          <p:cNvPr id="1048878" name="Espace réservé du numéro de diapositive 3"/>
          <p:cNvSpPr>
            <a:spLocks noGrp="1"/>
          </p:cNvSpPr>
          <p:nvPr>
            <p:ph type="sldNum" sz="quarter" idx="10"/>
          </p:nvPr>
        </p:nvSpPr>
        <p:spPr/>
        <p:txBody>
          <a:bodyPr/>
          <a:p>
            <a:fld id="{F267D614-A403-4847-9522-E840C6A8F7A8}" type="slidenum">
              <a:rPr lang="fr-FR" smtClean="0"/>
              <a:t>42</a:t>
            </a:fld>
            <a:endParaRPr lang="fr-F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85" name=""/>
        <p:cNvGrpSpPr/>
        <p:nvPr/>
      </p:nvGrpSpPr>
      <p:grpSpPr>
        <a:xfrm>
          <a:off x="0" y="0"/>
          <a:ext cx="0" cy="0"/>
          <a:chOff x="0" y="0"/>
          <a:chExt cx="0" cy="0"/>
        </a:xfrm>
      </p:grpSpPr>
      <p:sp>
        <p:nvSpPr>
          <p:cNvPr id="1048881" name="Espace réservé de l'image des diapositives 1"/>
          <p:cNvSpPr>
            <a:spLocks noChangeAspect="1" noRot="1" noGrp="1"/>
          </p:cNvSpPr>
          <p:nvPr>
            <p:ph type="sldImg"/>
          </p:nvPr>
        </p:nvSpPr>
        <p:spPr/>
      </p:sp>
      <p:sp>
        <p:nvSpPr>
          <p:cNvPr id="1048882" name="Espace réservé des commentaires 2"/>
          <p:cNvSpPr>
            <a:spLocks noGrp="1"/>
          </p:cNvSpPr>
          <p:nvPr>
            <p:ph type="body" idx="1"/>
          </p:nvPr>
        </p:nvSpPr>
        <p:spPr/>
        <p:txBody>
          <a:bodyPr>
            <a:normAutofit/>
          </a:bodyPr>
          <a:p>
            <a:r>
              <a:rPr b="1" dirty="0" lang="fr-FR" smtClean="0"/>
              <a:t>X- PRONOSTIC:</a:t>
            </a:r>
          </a:p>
          <a:p>
            <a:r>
              <a:rPr b="0" dirty="0" lang="fr-FR" smtClean="0"/>
              <a:t>La</a:t>
            </a:r>
            <a:r>
              <a:rPr baseline="0" b="0" dirty="0" lang="fr-FR" smtClean="0"/>
              <a:t> présentation clinique initiale représente un des principaux facteurs pronostique.</a:t>
            </a:r>
          </a:p>
          <a:p>
            <a:r>
              <a:rPr baseline="0" b="0" dirty="0" lang="fr-FR" smtClean="0"/>
              <a:t>Les myocardites à faible risque se présentent généralement avec douleur thoracique et fonction biventriculaire préservée, avec bon pronostic à court et à long terme.</a:t>
            </a:r>
          </a:p>
          <a:p>
            <a:r>
              <a:rPr baseline="0" b="0" dirty="0" lang="fr-FR" smtClean="0"/>
              <a:t>Les myocardites avec complications aigue à type de défaillance cardiaque et trouble rythmique ont le plus mauvais pronostic. </a:t>
            </a:r>
          </a:p>
          <a:p>
            <a:pPr algn="l" defTabSz="914400" eaLnBrk="1" fontAlgn="auto" hangingPunct="1" indent="0" latinLnBrk="0" marL="0" marR="0" rtl="0">
              <a:lnSpc>
                <a:spcPct val="100000"/>
              </a:lnSpc>
              <a:spcBef>
                <a:spcPts val="0"/>
              </a:spcBef>
              <a:spcAft>
                <a:spcPts val="0"/>
              </a:spcAft>
              <a:buClrTx/>
              <a:buSzTx/>
              <a:buFontTx/>
              <a:buNone/>
            </a:pPr>
            <a:r>
              <a:rPr baseline="0" b="0" dirty="0" lang="fr-FR" smtClean="0"/>
              <a:t>-Suivi: les patients avec myocardites à faible risque (douleur thoracique) peuvent être libérés de l’hôpital dès que le taux des enzymes cardiaques tend à devenir normal. Le délai de guérison d’une myocardite aigue va de quelques jours à quelques mois, avec rechute dans 10% des cas. </a:t>
            </a:r>
          </a:p>
          <a:p>
            <a:pPr algn="l" defTabSz="914400" eaLnBrk="1" fontAlgn="auto" hangingPunct="1" indent="0" latinLnBrk="0" marL="0" marR="0" rtl="0">
              <a:lnSpc>
                <a:spcPct val="100000"/>
              </a:lnSpc>
              <a:spcBef>
                <a:spcPts val="0"/>
              </a:spcBef>
              <a:spcAft>
                <a:spcPts val="0"/>
              </a:spcAft>
              <a:buClrTx/>
              <a:buSzTx/>
              <a:buFontTx/>
              <a:buNone/>
            </a:pPr>
            <a:r>
              <a:rPr baseline="0" b="0" dirty="0" lang="fr-FR" smtClean="0"/>
              <a:t>Un suivi est recommandé pour toutes les myocardites avec évaluation clinique, biologique, ECG, test d’effort, enregistrement Holter ECG, échocardiographie et IRM cardiaque dans les 6 mois pour décider de la reprise de l’activité et dépister les complications. </a:t>
            </a:r>
          </a:p>
          <a:p>
            <a:endParaRPr b="0" dirty="0" lang="fr-FR"/>
          </a:p>
        </p:txBody>
      </p:sp>
      <p:sp>
        <p:nvSpPr>
          <p:cNvPr id="1048883" name="Espace réservé du numéro de diapositive 3"/>
          <p:cNvSpPr>
            <a:spLocks noGrp="1"/>
          </p:cNvSpPr>
          <p:nvPr>
            <p:ph type="sldNum" sz="quarter" idx="10"/>
          </p:nvPr>
        </p:nvSpPr>
        <p:spPr/>
        <p:txBody>
          <a:bodyPr/>
          <a:p>
            <a:fld id="{F267D614-A403-4847-9522-E840C6A8F7A8}" type="slidenum">
              <a:rPr lang="fr-FR" smtClean="0"/>
              <a:t>43</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Diapositive de titre">
    <p:spTree>
      <p:nvGrpSpPr>
        <p:cNvPr id="24" name=""/>
        <p:cNvGrpSpPr/>
        <p:nvPr/>
      </p:nvGrpSpPr>
      <p:grpSpPr>
        <a:xfrm>
          <a:off x="0" y="0"/>
          <a:ext cx="0" cy="0"/>
          <a:chOff x="0" y="0"/>
          <a:chExt cx="0" cy="0"/>
        </a:xfrm>
      </p:grpSpPr>
      <p:sp>
        <p:nvSpPr>
          <p:cNvPr id="1048584" name="Connecteur droit 6"/>
          <p:cNvSpPr>
            <a:spLocks noChangeShapeType="1"/>
          </p:cNvSpPr>
          <p:nvPr/>
        </p:nvSpPr>
        <p:spPr bwMode="auto">
          <a:xfrm>
            <a:off x="514350" y="5349902"/>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585" name="Titre 28"/>
          <p:cNvSpPr>
            <a:spLocks noGrp="1"/>
          </p:cNvSpPr>
          <p:nvPr>
            <p:ph type="ctrTitle"/>
          </p:nvPr>
        </p:nvSpPr>
        <p:spPr>
          <a:xfrm>
            <a:off x="381000" y="4853411"/>
            <a:ext cx="8458200" cy="1222375"/>
          </a:xfrm>
        </p:spPr>
        <p:txBody>
          <a:bodyPr anchor="t"/>
          <a:p>
            <a:r>
              <a:rPr kumimoji="0" lang="fr-FR" smtClean="0"/>
              <a:t>Cliquez pour modifier le style du titre</a:t>
            </a:r>
            <a:endParaRPr kumimoji="0" lang="en-US"/>
          </a:p>
        </p:txBody>
      </p:sp>
      <p:sp>
        <p:nvSpPr>
          <p:cNvPr id="1048586" name="Sous-titre 8"/>
          <p:cNvSpPr>
            <a:spLocks noGrp="1"/>
          </p:cNvSpPr>
          <p:nvPr>
            <p:ph type="subTitle" idx="1"/>
          </p:nvPr>
        </p:nvSpPr>
        <p:spPr>
          <a:xfrm>
            <a:off x="381000" y="3886200"/>
            <a:ext cx="8458200" cy="914400"/>
          </a:xfrm>
        </p:spPr>
        <p:txBody>
          <a:bodyPr anchor="b"/>
          <a:lstStyle>
            <a:lvl1pPr algn="l" indent="0" marL="0">
              <a:buNone/>
              <a:defRPr sz="2400">
                <a:solidFill>
                  <a:schemeClr val="tx2">
                    <a:shade val="75000"/>
                  </a:schemeClr>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fr-FR" smtClean="0"/>
              <a:t>Cliquez pour modifier le style des sous-titres du masque</a:t>
            </a:r>
            <a:endParaRPr kumimoji="0" lang="en-US"/>
          </a:p>
        </p:txBody>
      </p:sp>
      <p:sp>
        <p:nvSpPr>
          <p:cNvPr id="1048587" name="Espace réservé de la date 15"/>
          <p:cNvSpPr>
            <a:spLocks noGrp="1"/>
          </p:cNvSpPr>
          <p:nvPr>
            <p:ph type="dt" sz="half" idx="10"/>
          </p:nvPr>
        </p:nvSpPr>
        <p:spPr/>
        <p:txBody>
          <a:bodyPr/>
          <a:p>
            <a:fld id="{8227CEB7-12A7-4457-ABFF-2AD32696A89C}" type="datetimeFigureOut">
              <a:rPr lang="fr-FR" smtClean="0"/>
              <a:t>30/04/2026</a:t>
            </a:fld>
            <a:endParaRPr lang="fr-FR"/>
          </a:p>
        </p:txBody>
      </p:sp>
      <p:sp>
        <p:nvSpPr>
          <p:cNvPr id="1048588" name="Espace réservé du pied de page 1"/>
          <p:cNvSpPr>
            <a:spLocks noGrp="1"/>
          </p:cNvSpPr>
          <p:nvPr>
            <p:ph type="ftr" sz="quarter" idx="11"/>
          </p:nvPr>
        </p:nvSpPr>
        <p:spPr/>
        <p:txBody>
          <a:bodyPr/>
          <a:p>
            <a:endParaRPr lang="fr-FR"/>
          </a:p>
        </p:txBody>
      </p:sp>
      <p:sp>
        <p:nvSpPr>
          <p:cNvPr id="1048589" name="Espace réservé du numéro de diapositive 14"/>
          <p:cNvSpPr>
            <a:spLocks noGrp="1"/>
          </p:cNvSpPr>
          <p:nvPr>
            <p:ph type="sldNum" sz="quarter" idx="12"/>
          </p:nvPr>
        </p:nvSpPr>
        <p:spPr>
          <a:xfrm>
            <a:off x="8229600" y="6473952"/>
            <a:ext cx="758952" cy="246888"/>
          </a:xfrm>
        </p:spPr>
        <p:txBody>
          <a:bodyPr/>
          <a:p>
            <a:fld id="{550B675B-B0F0-42B9-8884-1E7161FF5852}" type="slidenum">
              <a:rPr lang="fr-FR" smtClean="0"/>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re et contenu">
    <p:spTree>
      <p:nvGrpSpPr>
        <p:cNvPr id="65" name=""/>
        <p:cNvGrpSpPr/>
        <p:nvPr/>
      </p:nvGrpSpPr>
      <p:grpSpPr>
        <a:xfrm>
          <a:off x="0" y="0"/>
          <a:ext cx="0" cy="0"/>
          <a:chOff x="0" y="0"/>
          <a:chExt cx="0" cy="0"/>
        </a:xfrm>
      </p:grpSpPr>
      <p:sp>
        <p:nvSpPr>
          <p:cNvPr id="1048609" name="Titre 21"/>
          <p:cNvSpPr>
            <a:spLocks noGrp="1"/>
          </p:cNvSpPr>
          <p:nvPr>
            <p:ph type="title"/>
          </p:nvPr>
        </p:nvSpPr>
        <p:spPr/>
        <p:txBody>
          <a:bodyPr/>
          <a:p>
            <a:r>
              <a:rPr kumimoji="0" lang="fr-FR" smtClean="0"/>
              <a:t>Cliquez pour modifier le style du titre</a:t>
            </a:r>
            <a:endParaRPr kumimoji="0" lang="en-US"/>
          </a:p>
        </p:txBody>
      </p:sp>
      <p:sp>
        <p:nvSpPr>
          <p:cNvPr id="1048610" name="Espace réservé du contenu 26"/>
          <p:cNvSpPr>
            <a:spLocks noGrp="1"/>
          </p:cNvSpPr>
          <p:nvPr>
            <p:ph idx="1"/>
          </p:nvPr>
        </p:nvSpPr>
        <p:spPr/>
        <p:txBody>
          <a:bodyPr/>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611" name="Espace réservé de la date 24"/>
          <p:cNvSpPr>
            <a:spLocks noGrp="1"/>
          </p:cNvSpPr>
          <p:nvPr>
            <p:ph type="dt" sz="half" idx="10"/>
          </p:nvPr>
        </p:nvSpPr>
        <p:spPr/>
        <p:txBody>
          <a:bodyPr/>
          <a:p>
            <a:fld id="{8227CEB7-12A7-4457-ABFF-2AD32696A89C}" type="datetimeFigureOut">
              <a:rPr lang="fr-FR" smtClean="0"/>
              <a:t>30/04/2026</a:t>
            </a:fld>
            <a:endParaRPr lang="fr-FR"/>
          </a:p>
        </p:txBody>
      </p:sp>
      <p:sp>
        <p:nvSpPr>
          <p:cNvPr id="1048612" name="Espace réservé du pied de page 18"/>
          <p:cNvSpPr>
            <a:spLocks noGrp="1"/>
          </p:cNvSpPr>
          <p:nvPr>
            <p:ph type="ftr" sz="quarter" idx="11"/>
          </p:nvPr>
        </p:nvSpPr>
        <p:spPr>
          <a:xfrm>
            <a:off x="3581400" y="76200"/>
            <a:ext cx="2895600" cy="288925"/>
          </a:xfrm>
        </p:spPr>
        <p:txBody>
          <a:bodyPr/>
          <a:p>
            <a:endParaRPr lang="fr-FR"/>
          </a:p>
        </p:txBody>
      </p:sp>
      <p:sp>
        <p:nvSpPr>
          <p:cNvPr id="1048613" name="Espace réservé du numéro de diapositive 15"/>
          <p:cNvSpPr>
            <a:spLocks noGrp="1"/>
          </p:cNvSpPr>
          <p:nvPr>
            <p:ph type="sldNum" sz="quarter" idx="12"/>
          </p:nvPr>
        </p:nvSpPr>
        <p:spPr>
          <a:xfrm>
            <a:off x="8229600" y="6473952"/>
            <a:ext cx="758952" cy="246888"/>
          </a:xfrm>
        </p:spPr>
        <p:txBody>
          <a:bodyPr/>
          <a:p>
            <a:fld id="{550B675B-B0F0-42B9-8884-1E7161FF5852}"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type="secHead">
  <p:cSld name="Titre de section">
    <p:spTree>
      <p:nvGrpSpPr>
        <p:cNvPr id="189" name=""/>
        <p:cNvGrpSpPr/>
        <p:nvPr/>
      </p:nvGrpSpPr>
      <p:grpSpPr>
        <a:xfrm>
          <a:off x="0" y="0"/>
          <a:ext cx="0" cy="0"/>
          <a:chOff x="0" y="0"/>
          <a:chExt cx="0" cy="0"/>
        </a:xfrm>
      </p:grpSpPr>
      <p:sp>
        <p:nvSpPr>
          <p:cNvPr id="1048900" name="Connecteur droit 6"/>
          <p:cNvSpPr>
            <a:spLocks noChangeShapeType="1"/>
          </p:cNvSpPr>
          <p:nvPr/>
        </p:nvSpPr>
        <p:spPr bwMode="auto">
          <a:xfrm>
            <a:off x="514350" y="3444902"/>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901" name="Espace réservé du texte 5"/>
          <p:cNvSpPr>
            <a:spLocks noGrp="1"/>
          </p:cNvSpPr>
          <p:nvPr>
            <p:ph type="body" idx="1"/>
          </p:nvPr>
        </p:nvSpPr>
        <p:spPr>
          <a:xfrm>
            <a:off x="381000" y="1676400"/>
            <a:ext cx="8458200" cy="1219200"/>
          </a:xfrm>
        </p:spPr>
        <p:txBody>
          <a:bodyPr anchor="b"/>
          <a:lstStyle>
            <a:lvl1pPr algn="r" indent="0" marL="0">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fr-FR" smtClean="0"/>
              <a:t>Cliquez pour modifier les styles du texte du masque</a:t>
            </a:r>
          </a:p>
        </p:txBody>
      </p:sp>
      <p:sp>
        <p:nvSpPr>
          <p:cNvPr id="1048902" name="Espace réservé de la date 18"/>
          <p:cNvSpPr>
            <a:spLocks noGrp="1"/>
          </p:cNvSpPr>
          <p:nvPr>
            <p:ph type="dt" sz="half" idx="10"/>
          </p:nvPr>
        </p:nvSpPr>
        <p:spPr/>
        <p:txBody>
          <a:bodyPr/>
          <a:p>
            <a:fld id="{8227CEB7-12A7-4457-ABFF-2AD32696A89C}" type="datetimeFigureOut">
              <a:rPr lang="fr-FR" smtClean="0"/>
              <a:t>30/04/2026</a:t>
            </a:fld>
            <a:endParaRPr lang="fr-FR"/>
          </a:p>
        </p:txBody>
      </p:sp>
      <p:sp>
        <p:nvSpPr>
          <p:cNvPr id="1048903" name="Espace réservé du pied de page 10"/>
          <p:cNvSpPr>
            <a:spLocks noGrp="1"/>
          </p:cNvSpPr>
          <p:nvPr>
            <p:ph type="ftr" sz="quarter" idx="11"/>
          </p:nvPr>
        </p:nvSpPr>
        <p:spPr/>
        <p:txBody>
          <a:bodyPr/>
          <a:p>
            <a:endParaRPr lang="fr-FR"/>
          </a:p>
        </p:txBody>
      </p:sp>
      <p:sp>
        <p:nvSpPr>
          <p:cNvPr id="1048904" name="Espace réservé du numéro de diapositive 15"/>
          <p:cNvSpPr>
            <a:spLocks noGrp="1"/>
          </p:cNvSpPr>
          <p:nvPr>
            <p:ph type="sldNum" sz="quarter" idx="12"/>
          </p:nvPr>
        </p:nvSpPr>
        <p:spPr/>
        <p:txBody>
          <a:bodyPr/>
          <a:p>
            <a:fld id="{550B675B-B0F0-42B9-8884-1E7161FF5852}" type="slidenum">
              <a:rPr lang="fr-FR" smtClean="0"/>
              <a:t>‹N°›</a:t>
            </a:fld>
            <a:endParaRPr lang="fr-FR"/>
          </a:p>
        </p:txBody>
      </p:sp>
      <p:sp>
        <p:nvSpPr>
          <p:cNvPr id="1048905" name="Titre 7"/>
          <p:cNvSpPr>
            <a:spLocks noGrp="1"/>
          </p:cNvSpPr>
          <p:nvPr>
            <p:ph type="title"/>
          </p:nvPr>
        </p:nvSpPr>
        <p:spPr>
          <a:xfrm>
            <a:off x="180475" y="2947085"/>
            <a:ext cx="8686800" cy="1184825"/>
          </a:xfrm>
        </p:spPr>
        <p:txBody>
          <a:bodyPr anchor="t" rtlCol="0"/>
          <a:lstStyle>
            <a:lvl1pPr algn="r"/>
          </a:lstStyle>
          <a:p>
            <a:r>
              <a:rPr kumimoji="0" lang="fr-FR" smtClean="0"/>
              <a:t>Cliquez pour modifier le style du titre</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Deux contenus">
    <p:spTree>
      <p:nvGrpSpPr>
        <p:cNvPr id="87" name=""/>
        <p:cNvGrpSpPr/>
        <p:nvPr/>
      </p:nvGrpSpPr>
      <p:grpSpPr>
        <a:xfrm>
          <a:off x="0" y="0"/>
          <a:ext cx="0" cy="0"/>
          <a:chOff x="0" y="0"/>
          <a:chExt cx="0" cy="0"/>
        </a:xfrm>
      </p:grpSpPr>
      <p:sp>
        <p:nvSpPr>
          <p:cNvPr id="1048671" name="Titre 19"/>
          <p:cNvSpPr>
            <a:spLocks noGrp="1"/>
          </p:cNvSpPr>
          <p:nvPr>
            <p:ph type="title"/>
          </p:nvPr>
        </p:nvSpPr>
        <p:spPr>
          <a:xfrm>
            <a:off x="301752" y="457200"/>
            <a:ext cx="8686800" cy="841248"/>
          </a:xfrm>
        </p:spPr>
        <p:txBody>
          <a:bodyPr/>
          <a:p>
            <a:r>
              <a:rPr kumimoji="0" lang="fr-FR" smtClean="0"/>
              <a:t>Cliquez pour modifier le style du titre</a:t>
            </a:r>
            <a:endParaRPr kumimoji="0" lang="en-US"/>
          </a:p>
        </p:txBody>
      </p:sp>
      <p:sp>
        <p:nvSpPr>
          <p:cNvPr id="1048672" name="Espace réservé du contenu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673" name="Espace réservé du contenu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674" name="Espace réservé de la date 20"/>
          <p:cNvSpPr>
            <a:spLocks noGrp="1"/>
          </p:cNvSpPr>
          <p:nvPr>
            <p:ph type="dt" sz="half" idx="10"/>
          </p:nvPr>
        </p:nvSpPr>
        <p:spPr/>
        <p:txBody>
          <a:bodyPr/>
          <a:p>
            <a:fld id="{8227CEB7-12A7-4457-ABFF-2AD32696A89C}" type="datetimeFigureOut">
              <a:rPr lang="fr-FR" smtClean="0"/>
              <a:t>30/04/2026</a:t>
            </a:fld>
            <a:endParaRPr lang="fr-FR"/>
          </a:p>
        </p:txBody>
      </p:sp>
      <p:sp>
        <p:nvSpPr>
          <p:cNvPr id="1048675" name="Espace réservé du pied de page 9"/>
          <p:cNvSpPr>
            <a:spLocks noGrp="1"/>
          </p:cNvSpPr>
          <p:nvPr>
            <p:ph type="ftr" sz="quarter" idx="11"/>
          </p:nvPr>
        </p:nvSpPr>
        <p:spPr/>
        <p:txBody>
          <a:bodyPr/>
          <a:p>
            <a:endParaRPr lang="fr-FR"/>
          </a:p>
        </p:txBody>
      </p:sp>
      <p:sp>
        <p:nvSpPr>
          <p:cNvPr id="1048676" name="Espace réservé du numéro de diapositive 30"/>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type="twoTxTwoObj">
  <p:cSld name="Comparaison">
    <p:spTree>
      <p:nvGrpSpPr>
        <p:cNvPr id="190" name=""/>
        <p:cNvGrpSpPr/>
        <p:nvPr/>
      </p:nvGrpSpPr>
      <p:grpSpPr>
        <a:xfrm>
          <a:off x="0" y="0"/>
          <a:ext cx="0" cy="0"/>
          <a:chOff x="0" y="0"/>
          <a:chExt cx="0" cy="0"/>
        </a:xfrm>
      </p:grpSpPr>
      <p:sp>
        <p:nvSpPr>
          <p:cNvPr id="1048906" name="Titre 28"/>
          <p:cNvSpPr>
            <a:spLocks noGrp="1"/>
          </p:cNvSpPr>
          <p:nvPr>
            <p:ph type="title"/>
          </p:nvPr>
        </p:nvSpPr>
        <p:spPr>
          <a:xfrm>
            <a:off x="304800" y="5410200"/>
            <a:ext cx="8610600" cy="882650"/>
          </a:xfrm>
        </p:spPr>
        <p:txBody>
          <a:bodyPr anchor="ctr"/>
          <a:p>
            <a:r>
              <a:rPr kumimoji="0" lang="fr-FR" smtClean="0"/>
              <a:t>Cliquez pour modifier le style du titre</a:t>
            </a:r>
            <a:endParaRPr kumimoji="0" lang="en-US"/>
          </a:p>
        </p:txBody>
      </p:sp>
      <p:sp>
        <p:nvSpPr>
          <p:cNvPr id="1048907" name="Espace réservé du texte 12"/>
          <p:cNvSpPr>
            <a:spLocks noGrp="1"/>
          </p:cNvSpPr>
          <p:nvPr>
            <p:ph type="body" idx="1"/>
          </p:nvPr>
        </p:nvSpPr>
        <p:spPr>
          <a:xfrm>
            <a:off x="281444" y="666750"/>
            <a:ext cx="4290556" cy="639762"/>
          </a:xfrm>
        </p:spPr>
        <p:txBody>
          <a:bodyPr anchor="ctr"/>
          <a:lstStyle>
            <a:lvl1pPr indent="0" marL="0">
              <a:buNone/>
              <a:defRPr baseline="0" b="0" cap="all" sz="1800">
                <a:solidFill>
                  <a:schemeClr val="accent1">
                    <a:shade val="50000"/>
                  </a:schemeClr>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fr-FR" smtClean="0"/>
              <a:t>Cliquez pour modifier les styles du texte du masque</a:t>
            </a:r>
          </a:p>
        </p:txBody>
      </p:sp>
      <p:sp>
        <p:nvSpPr>
          <p:cNvPr id="1048908" name="Espace réservé du texte 24"/>
          <p:cNvSpPr>
            <a:spLocks noGrp="1"/>
          </p:cNvSpPr>
          <p:nvPr>
            <p:ph type="body" sz="half" idx="3"/>
          </p:nvPr>
        </p:nvSpPr>
        <p:spPr>
          <a:xfrm>
            <a:off x="4645025" y="666750"/>
            <a:ext cx="4292241" cy="639762"/>
          </a:xfrm>
        </p:spPr>
        <p:txBody>
          <a:bodyPr anchor="ctr"/>
          <a:lstStyle>
            <a:lvl1pPr indent="0" marL="0">
              <a:buNone/>
              <a:defRPr baseline="0" b="0" cap="all" sz="1800">
                <a:solidFill>
                  <a:schemeClr val="accent1">
                    <a:shade val="50000"/>
                  </a:schemeClr>
                </a:solidFill>
                <a:latin typeface="+mj-lt"/>
                <a:ea typeface="+mj-ea"/>
                <a:cs typeface="+mj-cs"/>
              </a:defRPr>
            </a:lvl1pPr>
            <a:lvl2pPr>
              <a:buNone/>
              <a:defRPr b="1" sz="2000"/>
            </a:lvl2pPr>
            <a:lvl3pPr>
              <a:buNone/>
              <a:defRPr b="1" sz="1800"/>
            </a:lvl3pPr>
            <a:lvl4pPr>
              <a:buNone/>
              <a:defRPr b="1" sz="1600"/>
            </a:lvl4pPr>
            <a:lvl5pPr>
              <a:buNone/>
              <a:defRPr b="1" sz="1600"/>
            </a:lvl5pPr>
          </a:lstStyle>
          <a:p>
            <a:pPr eaLnBrk="1" hangingPunct="1" latinLnBrk="0" lvl="0"/>
            <a:r>
              <a:rPr kumimoji="0" lang="fr-FR" smtClean="0"/>
              <a:t>Cliquez pour modifier les styles du texte du masque</a:t>
            </a:r>
          </a:p>
        </p:txBody>
      </p:sp>
      <p:sp>
        <p:nvSpPr>
          <p:cNvPr id="1048909" name="Espace réservé du contenu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910" name="Espace réservé du contenu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911" name="Espace réservé de la date 9"/>
          <p:cNvSpPr>
            <a:spLocks noGrp="1"/>
          </p:cNvSpPr>
          <p:nvPr>
            <p:ph type="dt" sz="half" idx="10"/>
          </p:nvPr>
        </p:nvSpPr>
        <p:spPr/>
        <p:txBody>
          <a:bodyPr/>
          <a:p>
            <a:fld id="{8227CEB7-12A7-4457-ABFF-2AD32696A89C}" type="datetimeFigureOut">
              <a:rPr lang="fr-FR" smtClean="0"/>
              <a:t>30/04/2026</a:t>
            </a:fld>
            <a:endParaRPr lang="fr-FR"/>
          </a:p>
        </p:txBody>
      </p:sp>
      <p:sp>
        <p:nvSpPr>
          <p:cNvPr id="1048912" name="Espace réservé du pied de page 5"/>
          <p:cNvSpPr>
            <a:spLocks noGrp="1"/>
          </p:cNvSpPr>
          <p:nvPr>
            <p:ph type="ftr" sz="quarter" idx="11"/>
          </p:nvPr>
        </p:nvSpPr>
        <p:spPr/>
        <p:txBody>
          <a:bodyPr/>
          <a:p>
            <a:endParaRPr lang="fr-FR"/>
          </a:p>
        </p:txBody>
      </p:sp>
      <p:sp>
        <p:nvSpPr>
          <p:cNvPr id="1048913" name="Espace réservé du numéro de diapositive 6"/>
          <p:cNvSpPr>
            <a:spLocks noGrp="1"/>
          </p:cNvSpPr>
          <p:nvPr>
            <p:ph type="sldNum" sz="quarter" idx="12"/>
          </p:nvPr>
        </p:nvSpPr>
        <p:spPr>
          <a:xfrm>
            <a:off x="8229600" y="6477000"/>
            <a:ext cx="762000" cy="246888"/>
          </a:xfrm>
        </p:spPr>
        <p:txBody>
          <a:bodyPr/>
          <a:p>
            <a:fld id="{550B675B-B0F0-42B9-8884-1E7161FF5852}" type="slidenum">
              <a:rPr lang="fr-FR" smtClean="0"/>
              <a:t>‹N°›</a:t>
            </a:fld>
            <a:endParaRPr lang="fr-FR"/>
          </a:p>
        </p:txBody>
      </p:sp>
      <p:sp>
        <p:nvSpPr>
          <p:cNvPr id="1048914" name="Connecteur droit 10"/>
          <p:cNvSpPr>
            <a:spLocks noChangeShapeType="1"/>
          </p:cNvSpPr>
          <p:nvPr/>
        </p:nvSpPr>
        <p:spPr bwMode="auto">
          <a:xfrm>
            <a:off x="514350" y="6019800"/>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re seul">
    <p:spTree>
      <p:nvGrpSpPr>
        <p:cNvPr id="69" name=""/>
        <p:cNvGrpSpPr/>
        <p:nvPr/>
      </p:nvGrpSpPr>
      <p:grpSpPr>
        <a:xfrm>
          <a:off x="0" y="0"/>
          <a:ext cx="0" cy="0"/>
          <a:chOff x="0" y="0"/>
          <a:chExt cx="0" cy="0"/>
        </a:xfrm>
      </p:grpSpPr>
      <p:sp>
        <p:nvSpPr>
          <p:cNvPr id="1048621" name="Titre 29"/>
          <p:cNvSpPr>
            <a:spLocks noGrp="1"/>
          </p:cNvSpPr>
          <p:nvPr>
            <p:ph type="title"/>
          </p:nvPr>
        </p:nvSpPr>
        <p:spPr>
          <a:xfrm>
            <a:off x="301752" y="457200"/>
            <a:ext cx="8686800" cy="841248"/>
          </a:xfrm>
        </p:spPr>
        <p:txBody>
          <a:bodyPr/>
          <a:p>
            <a:r>
              <a:rPr kumimoji="0" lang="fr-FR" smtClean="0"/>
              <a:t>Cliquez pour modifier le style du titre</a:t>
            </a:r>
            <a:endParaRPr kumimoji="0" lang="en-US"/>
          </a:p>
        </p:txBody>
      </p:sp>
      <p:sp>
        <p:nvSpPr>
          <p:cNvPr id="1048622" name="Espace réservé de la date 11"/>
          <p:cNvSpPr>
            <a:spLocks noGrp="1"/>
          </p:cNvSpPr>
          <p:nvPr>
            <p:ph type="dt" sz="half" idx="10"/>
          </p:nvPr>
        </p:nvSpPr>
        <p:spPr/>
        <p:txBody>
          <a:bodyPr/>
          <a:p>
            <a:fld id="{8227CEB7-12A7-4457-ABFF-2AD32696A89C}" type="datetimeFigureOut">
              <a:rPr lang="fr-FR" smtClean="0"/>
              <a:t>30/04/2026</a:t>
            </a:fld>
            <a:endParaRPr lang="fr-FR"/>
          </a:p>
        </p:txBody>
      </p:sp>
      <p:sp>
        <p:nvSpPr>
          <p:cNvPr id="1048623" name="Espace réservé du pied de page 20"/>
          <p:cNvSpPr>
            <a:spLocks noGrp="1"/>
          </p:cNvSpPr>
          <p:nvPr>
            <p:ph type="ftr" sz="quarter" idx="11"/>
          </p:nvPr>
        </p:nvSpPr>
        <p:spPr/>
        <p:txBody>
          <a:bodyPr/>
          <a:p>
            <a:endParaRPr lang="fr-FR"/>
          </a:p>
        </p:txBody>
      </p:sp>
      <p:sp>
        <p:nvSpPr>
          <p:cNvPr id="1048624" name="Espace réservé du numéro de diapositive 5"/>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type="blank">
  <p:cSld name="Vide">
    <p:spTree>
      <p:nvGrpSpPr>
        <p:cNvPr id="71" name=""/>
        <p:cNvGrpSpPr/>
        <p:nvPr/>
      </p:nvGrpSpPr>
      <p:grpSpPr>
        <a:xfrm>
          <a:off x="0" y="0"/>
          <a:ext cx="0" cy="0"/>
          <a:chOff x="0" y="0"/>
          <a:chExt cx="0" cy="0"/>
        </a:xfrm>
      </p:grpSpPr>
      <p:sp>
        <p:nvSpPr>
          <p:cNvPr id="1048629" name="Espace réservé de la date 2"/>
          <p:cNvSpPr>
            <a:spLocks noGrp="1"/>
          </p:cNvSpPr>
          <p:nvPr>
            <p:ph type="dt" sz="half" idx="10"/>
          </p:nvPr>
        </p:nvSpPr>
        <p:spPr/>
        <p:txBody>
          <a:bodyPr/>
          <a:p>
            <a:fld id="{8227CEB7-12A7-4457-ABFF-2AD32696A89C}" type="datetimeFigureOut">
              <a:rPr lang="fr-FR" smtClean="0"/>
              <a:t>30/04/2026</a:t>
            </a:fld>
            <a:endParaRPr lang="fr-FR"/>
          </a:p>
        </p:txBody>
      </p:sp>
      <p:sp>
        <p:nvSpPr>
          <p:cNvPr id="1048630" name="Espace réservé du pied de page 23"/>
          <p:cNvSpPr>
            <a:spLocks noGrp="1"/>
          </p:cNvSpPr>
          <p:nvPr>
            <p:ph type="ftr" sz="quarter" idx="11"/>
          </p:nvPr>
        </p:nvSpPr>
        <p:spPr/>
        <p:txBody>
          <a:bodyPr/>
          <a:p>
            <a:endParaRPr lang="fr-FR"/>
          </a:p>
        </p:txBody>
      </p:sp>
      <p:sp>
        <p:nvSpPr>
          <p:cNvPr id="1048631" name="Espace réservé du numéro de diapositive 6"/>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type="objTx">
  <p:cSld name="Contenu avec légende">
    <p:spTree>
      <p:nvGrpSpPr>
        <p:cNvPr id="61" name=""/>
        <p:cNvGrpSpPr/>
        <p:nvPr/>
      </p:nvGrpSpPr>
      <p:grpSpPr>
        <a:xfrm>
          <a:off x="0" y="0"/>
          <a:ext cx="0" cy="0"/>
          <a:chOff x="0" y="0"/>
          <a:chExt cx="0" cy="0"/>
        </a:xfrm>
      </p:grpSpPr>
      <p:sp>
        <p:nvSpPr>
          <p:cNvPr id="1048595" name="Connecteur droit 7"/>
          <p:cNvSpPr>
            <a:spLocks noChangeShapeType="1"/>
          </p:cNvSpPr>
          <p:nvPr/>
        </p:nvSpPr>
        <p:spPr bwMode="auto">
          <a:xfrm>
            <a:off x="514350" y="5849117"/>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596" name="Titre 11"/>
          <p:cNvSpPr>
            <a:spLocks noGrp="1"/>
          </p:cNvSpPr>
          <p:nvPr>
            <p:ph type="title"/>
          </p:nvPr>
        </p:nvSpPr>
        <p:spPr>
          <a:xfrm>
            <a:off x="457200" y="5486400"/>
            <a:ext cx="8458200" cy="520700"/>
          </a:xfrm>
        </p:spPr>
        <p:txBody>
          <a:bodyPr anchor="ctr"/>
          <a:lstStyle>
            <a:lvl1pPr algn="l">
              <a:buNone/>
              <a:defRPr b="1" sz="2000"/>
            </a:lvl1pPr>
          </a:lstStyle>
          <a:p>
            <a:r>
              <a:rPr kumimoji="0" lang="fr-FR" smtClean="0"/>
              <a:t>Cliquez pour modifier le style du titre</a:t>
            </a:r>
            <a:endParaRPr kumimoji="0" lang="en-US"/>
          </a:p>
        </p:txBody>
      </p:sp>
      <p:sp>
        <p:nvSpPr>
          <p:cNvPr id="1048597" name="Espace réservé du texte 25"/>
          <p:cNvSpPr>
            <a:spLocks noGrp="1"/>
          </p:cNvSpPr>
          <p:nvPr>
            <p:ph type="body" idx="2"/>
          </p:nvPr>
        </p:nvSpPr>
        <p:spPr>
          <a:xfrm>
            <a:off x="457200" y="609600"/>
            <a:ext cx="3008313" cy="4800600"/>
          </a:xfrm>
        </p:spPr>
        <p:txBody>
          <a:bodyPr/>
          <a:lstStyle>
            <a:lvl1pPr indent="0" marL="0">
              <a:buNone/>
              <a:defRPr sz="1400"/>
            </a:lvl1pPr>
            <a:lvl2pPr>
              <a:buNone/>
              <a:defRPr sz="1200"/>
            </a:lvl2pPr>
            <a:lvl3pPr>
              <a:buNone/>
              <a:defRPr sz="1000"/>
            </a:lvl3pPr>
            <a:lvl4pPr>
              <a:buNone/>
              <a:defRPr sz="900"/>
            </a:lvl4pPr>
            <a:lvl5pPr>
              <a:buNone/>
              <a:defRPr sz="900"/>
            </a:lvl5pPr>
          </a:lstStyle>
          <a:p>
            <a:pPr eaLnBrk="1" hangingPunct="1" latinLnBrk="0" lvl="0"/>
            <a:r>
              <a:rPr kumimoji="0" lang="fr-FR" smtClean="0"/>
              <a:t>Cliquez pour modifier les styles du texte du masque</a:t>
            </a:r>
          </a:p>
        </p:txBody>
      </p:sp>
      <p:sp>
        <p:nvSpPr>
          <p:cNvPr id="1048598" name="Espace réservé du contenu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599" name="Espace réservé de la date 24"/>
          <p:cNvSpPr>
            <a:spLocks noGrp="1"/>
          </p:cNvSpPr>
          <p:nvPr>
            <p:ph type="dt" sz="half" idx="10"/>
          </p:nvPr>
        </p:nvSpPr>
        <p:spPr/>
        <p:txBody>
          <a:bodyPr/>
          <a:p>
            <a:fld id="{8227CEB7-12A7-4457-ABFF-2AD32696A89C}" type="datetimeFigureOut">
              <a:rPr lang="fr-FR" smtClean="0"/>
              <a:t>30/04/2026</a:t>
            </a:fld>
            <a:endParaRPr lang="fr-FR"/>
          </a:p>
        </p:txBody>
      </p:sp>
      <p:sp>
        <p:nvSpPr>
          <p:cNvPr id="1048600" name="Espace réservé du pied de page 28"/>
          <p:cNvSpPr>
            <a:spLocks noGrp="1"/>
          </p:cNvSpPr>
          <p:nvPr>
            <p:ph type="ftr" sz="quarter" idx="11"/>
          </p:nvPr>
        </p:nvSpPr>
        <p:spPr/>
        <p:txBody>
          <a:bodyPr/>
          <a:p>
            <a:endParaRPr lang="fr-FR"/>
          </a:p>
        </p:txBody>
      </p:sp>
      <p:sp>
        <p:nvSpPr>
          <p:cNvPr id="1048601" name="Espace réservé du numéro de diapositive 6"/>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Image avec légende">
    <p:spTree>
      <p:nvGrpSpPr>
        <p:cNvPr id="187" name=""/>
        <p:cNvGrpSpPr/>
        <p:nvPr/>
      </p:nvGrpSpPr>
      <p:grpSpPr>
        <a:xfrm>
          <a:off x="0" y="0"/>
          <a:ext cx="0" cy="0"/>
          <a:chOff x="0" y="0"/>
          <a:chExt cx="0" cy="0"/>
        </a:xfrm>
      </p:grpSpPr>
      <p:sp>
        <p:nvSpPr>
          <p:cNvPr id="1048889" name="Espace réservé pour une image  12"/>
          <p:cNvSpPr>
            <a:spLocks noGrp="1"/>
          </p:cNvSpPr>
          <p:nvPr>
            <p:ph type="pic" idx="1"/>
          </p:nvPr>
        </p:nvSpPr>
        <p:spPr>
          <a:xfrm>
            <a:off x="3505200" y="616634"/>
            <a:ext cx="5029200" cy="3657600"/>
          </a:xfrm>
          <a:solidFill>
            <a:schemeClr val="bg1"/>
          </a:solidFill>
          <a:ln w="6350">
            <a:solidFill>
              <a:schemeClr val="accent1"/>
            </a:solidFill>
          </a:ln>
          <a:effectLst>
            <a:reflection algn="bl" blurRad="1000" dir="5400000" dist="900" endA="500" endPos="10000" rotWithShape="0" stA="49000" sy="-90000"/>
          </a:effectLst>
        </p:spPr>
        <p:txBody>
          <a:bodyPr/>
          <a:lstStyle>
            <a:lvl1pPr indent="0" marL="0">
              <a:buNone/>
              <a:defRPr sz="3200"/>
            </a:lvl1pPr>
          </a:lstStyle>
          <a:p>
            <a:r>
              <a:rPr kumimoji="0" lang="fr-FR" smtClean="0"/>
              <a:t>Cliquez sur l'icône pour ajouter une image</a:t>
            </a:r>
            <a:endParaRPr dirty="0" kumimoji="0" lang="en-US"/>
          </a:p>
        </p:txBody>
      </p:sp>
      <p:sp>
        <p:nvSpPr>
          <p:cNvPr id="1048890" name="Espace réservé de la date 6"/>
          <p:cNvSpPr>
            <a:spLocks noGrp="1"/>
          </p:cNvSpPr>
          <p:nvPr>
            <p:ph type="dt" sz="half" idx="10"/>
          </p:nvPr>
        </p:nvSpPr>
        <p:spPr/>
        <p:txBody>
          <a:bodyPr/>
          <a:p>
            <a:fld id="{8227CEB7-12A7-4457-ABFF-2AD32696A89C}" type="datetimeFigureOut">
              <a:rPr lang="fr-FR" smtClean="0"/>
              <a:t>30/04/2026</a:t>
            </a:fld>
            <a:endParaRPr lang="fr-FR"/>
          </a:p>
        </p:txBody>
      </p:sp>
      <p:sp>
        <p:nvSpPr>
          <p:cNvPr id="1048891" name="Espace réservé du pied de page 4"/>
          <p:cNvSpPr>
            <a:spLocks noGrp="1"/>
          </p:cNvSpPr>
          <p:nvPr>
            <p:ph type="ftr" sz="quarter" idx="11"/>
          </p:nvPr>
        </p:nvSpPr>
        <p:spPr/>
        <p:txBody>
          <a:bodyPr/>
          <a:p>
            <a:endParaRPr lang="fr-FR"/>
          </a:p>
        </p:txBody>
      </p:sp>
      <p:sp>
        <p:nvSpPr>
          <p:cNvPr id="1048892" name="Espace réservé du numéro de diapositive 30"/>
          <p:cNvSpPr>
            <a:spLocks noGrp="1"/>
          </p:cNvSpPr>
          <p:nvPr>
            <p:ph type="sldNum" sz="quarter" idx="12"/>
          </p:nvPr>
        </p:nvSpPr>
        <p:spPr/>
        <p:txBody>
          <a:bodyPr/>
          <a:p>
            <a:fld id="{550B675B-B0F0-42B9-8884-1E7161FF5852}" type="slidenum">
              <a:rPr lang="fr-FR" smtClean="0"/>
              <a:t>‹N°›</a:t>
            </a:fld>
            <a:endParaRPr lang="fr-FR"/>
          </a:p>
        </p:txBody>
      </p:sp>
      <p:sp>
        <p:nvSpPr>
          <p:cNvPr id="1048893" name="Titre 16"/>
          <p:cNvSpPr>
            <a:spLocks noGrp="1"/>
          </p:cNvSpPr>
          <p:nvPr>
            <p:ph type="title"/>
          </p:nvPr>
        </p:nvSpPr>
        <p:spPr>
          <a:xfrm>
            <a:off x="381000" y="4993760"/>
            <a:ext cx="5867400" cy="522288"/>
          </a:xfrm>
        </p:spPr>
        <p:txBody>
          <a:bodyPr anchor="ctr"/>
          <a:lstStyle>
            <a:lvl1pPr algn="l">
              <a:buNone/>
              <a:defRPr b="1" sz="2000"/>
            </a:lvl1pPr>
          </a:lstStyle>
          <a:p>
            <a:r>
              <a:rPr kumimoji="0" lang="fr-FR" smtClean="0"/>
              <a:t>Cliquez pour modifier le style du titre</a:t>
            </a:r>
            <a:endParaRPr kumimoji="0" lang="en-US"/>
          </a:p>
        </p:txBody>
      </p:sp>
      <p:sp>
        <p:nvSpPr>
          <p:cNvPr id="1048894" name="Espace réservé du texte 25"/>
          <p:cNvSpPr>
            <a:spLocks noGrp="1"/>
          </p:cNvSpPr>
          <p:nvPr>
            <p:ph type="body" sz="half" idx="2"/>
          </p:nvPr>
        </p:nvSpPr>
        <p:spPr>
          <a:xfrm>
            <a:off x="381000" y="5533218"/>
            <a:ext cx="5867400" cy="768350"/>
          </a:xfrm>
        </p:spPr>
        <p:txBody>
          <a:bodyPr lIns="109728" tIns="0"/>
          <a:lstStyle>
            <a:lvl1pPr indent="0" marL="0">
              <a:buNone/>
              <a:defRPr sz="1400"/>
            </a:lvl1pPr>
            <a:lvl2pPr>
              <a:defRPr sz="1200"/>
            </a:lvl2pPr>
            <a:lvl3pPr>
              <a:defRPr sz="1000"/>
            </a:lvl3pPr>
            <a:lvl4pPr>
              <a:defRPr sz="900"/>
            </a:lvl4pPr>
            <a:lvl5pPr>
              <a:defRPr sz="900"/>
            </a:lvl5pPr>
          </a:lstStyle>
          <a:p>
            <a:pPr eaLnBrk="1" hangingPunct="1" latinLnBrk="0" lvl="0"/>
            <a:r>
              <a:rPr kumimoji="0" lang="fr-FR" smtClean="0"/>
              <a:t>Cliquez pour modifier les styles du texte du masque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re et texte vertical">
    <p:spTree>
      <p:nvGrpSpPr>
        <p:cNvPr id="188" name=""/>
        <p:cNvGrpSpPr/>
        <p:nvPr/>
      </p:nvGrpSpPr>
      <p:grpSpPr>
        <a:xfrm>
          <a:off x="0" y="0"/>
          <a:ext cx="0" cy="0"/>
          <a:chOff x="0" y="0"/>
          <a:chExt cx="0" cy="0"/>
        </a:xfrm>
      </p:grpSpPr>
      <p:sp>
        <p:nvSpPr>
          <p:cNvPr id="1048895" name="Titre 1"/>
          <p:cNvSpPr>
            <a:spLocks noGrp="1"/>
          </p:cNvSpPr>
          <p:nvPr>
            <p:ph type="title"/>
          </p:nvPr>
        </p:nvSpPr>
        <p:spPr/>
        <p:txBody>
          <a:bodyPr/>
          <a:p>
            <a:r>
              <a:rPr kumimoji="0" lang="fr-FR" smtClean="0"/>
              <a:t>Cliquez pour modifier le style du titre</a:t>
            </a:r>
            <a:endParaRPr kumimoji="0" lang="en-US"/>
          </a:p>
        </p:txBody>
      </p:sp>
      <p:sp>
        <p:nvSpPr>
          <p:cNvPr id="1048896" name="Espace réservé du texte vertical 2"/>
          <p:cNvSpPr>
            <a:spLocks noGrp="1"/>
          </p:cNvSpPr>
          <p:nvPr>
            <p:ph type="body" orient="vert" idx="1"/>
          </p:nvPr>
        </p:nvSpPr>
        <p:spPr/>
        <p:txBody>
          <a:bodyPr vert="eaVert"/>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897" name="Espace réservé de la date 3"/>
          <p:cNvSpPr>
            <a:spLocks noGrp="1"/>
          </p:cNvSpPr>
          <p:nvPr>
            <p:ph type="dt" sz="half" idx="10"/>
          </p:nvPr>
        </p:nvSpPr>
        <p:spPr/>
        <p:txBody>
          <a:bodyPr/>
          <a:p>
            <a:fld id="{8227CEB7-12A7-4457-ABFF-2AD32696A89C}" type="datetimeFigureOut">
              <a:rPr lang="fr-FR" smtClean="0"/>
              <a:t>30/04/2026</a:t>
            </a:fld>
            <a:endParaRPr lang="fr-FR"/>
          </a:p>
        </p:txBody>
      </p:sp>
      <p:sp>
        <p:nvSpPr>
          <p:cNvPr id="1048898" name="Espace réservé du pied de page 4"/>
          <p:cNvSpPr>
            <a:spLocks noGrp="1"/>
          </p:cNvSpPr>
          <p:nvPr>
            <p:ph type="ftr" sz="quarter" idx="11"/>
          </p:nvPr>
        </p:nvSpPr>
        <p:spPr/>
        <p:txBody>
          <a:bodyPr/>
          <a:p>
            <a:endParaRPr lang="fr-FR"/>
          </a:p>
        </p:txBody>
      </p:sp>
      <p:sp>
        <p:nvSpPr>
          <p:cNvPr id="1048899" name="Espace réservé du numéro de diapositive 5"/>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Titre vertical et texte">
    <p:spTree>
      <p:nvGrpSpPr>
        <p:cNvPr id="186" name=""/>
        <p:cNvGrpSpPr/>
        <p:nvPr/>
      </p:nvGrpSpPr>
      <p:grpSpPr>
        <a:xfrm>
          <a:off x="0" y="0"/>
          <a:ext cx="0" cy="0"/>
          <a:chOff x="0" y="0"/>
          <a:chExt cx="0" cy="0"/>
        </a:xfrm>
      </p:grpSpPr>
      <p:sp>
        <p:nvSpPr>
          <p:cNvPr id="1048884" name="Titre vertical 1"/>
          <p:cNvSpPr>
            <a:spLocks noGrp="1"/>
          </p:cNvSpPr>
          <p:nvPr>
            <p:ph type="title" orient="vert"/>
          </p:nvPr>
        </p:nvSpPr>
        <p:spPr>
          <a:xfrm>
            <a:off x="6858000" y="549276"/>
            <a:ext cx="1828800" cy="5851525"/>
          </a:xfrm>
        </p:spPr>
        <p:txBody>
          <a:bodyPr vert="eaVert"/>
          <a:p>
            <a:r>
              <a:rPr kumimoji="0" lang="fr-FR" smtClean="0"/>
              <a:t>Cliquez pour modifier le style du titre</a:t>
            </a:r>
            <a:endParaRPr kumimoji="0" lang="en-US"/>
          </a:p>
        </p:txBody>
      </p:sp>
      <p:sp>
        <p:nvSpPr>
          <p:cNvPr id="1048885" name="Espace réservé du texte vertical 2"/>
          <p:cNvSpPr>
            <a:spLocks noGrp="1"/>
          </p:cNvSpPr>
          <p:nvPr>
            <p:ph type="body" orient="vert" idx="1"/>
          </p:nvPr>
        </p:nvSpPr>
        <p:spPr>
          <a:xfrm>
            <a:off x="457200" y="549276"/>
            <a:ext cx="6248400" cy="5851525"/>
          </a:xfrm>
        </p:spPr>
        <p:txBody>
          <a:bodyPr vert="eaVert"/>
          <a:p>
            <a:pPr eaLnBrk="1" hangingPunct="1" latinLnBrk="0" lvl="0"/>
            <a:r>
              <a:rPr lang="fr-FR" smtClean="0"/>
              <a:t>Cliquez pour modifier les styles du texte du masque</a:t>
            </a:r>
          </a:p>
          <a:p>
            <a:pPr eaLnBrk="1" hangingPunct="1" latinLnBrk="0" lvl="1"/>
            <a:r>
              <a:rPr lang="fr-FR" smtClean="0"/>
              <a:t>Deuxième niveau</a:t>
            </a:r>
          </a:p>
          <a:p>
            <a:pPr eaLnBrk="1" hangingPunct="1" latinLnBrk="0" lvl="2"/>
            <a:r>
              <a:rPr lang="fr-FR" smtClean="0"/>
              <a:t>Troisième niveau</a:t>
            </a:r>
          </a:p>
          <a:p>
            <a:pPr eaLnBrk="1" hangingPunct="1" latinLnBrk="0" lvl="3"/>
            <a:r>
              <a:rPr lang="fr-FR" smtClean="0"/>
              <a:t>Quatrième niveau</a:t>
            </a:r>
          </a:p>
          <a:p>
            <a:pPr eaLnBrk="1" hangingPunct="1" latinLnBrk="0" lvl="4"/>
            <a:r>
              <a:rPr lang="fr-FR" smtClean="0"/>
              <a:t>Cinquième niveau</a:t>
            </a:r>
            <a:endParaRPr kumimoji="0" lang="en-US"/>
          </a:p>
        </p:txBody>
      </p:sp>
      <p:sp>
        <p:nvSpPr>
          <p:cNvPr id="1048886" name="Espace réservé de la date 3"/>
          <p:cNvSpPr>
            <a:spLocks noGrp="1"/>
          </p:cNvSpPr>
          <p:nvPr>
            <p:ph type="dt" sz="half" idx="10"/>
          </p:nvPr>
        </p:nvSpPr>
        <p:spPr/>
        <p:txBody>
          <a:bodyPr/>
          <a:p>
            <a:fld id="{8227CEB7-12A7-4457-ABFF-2AD32696A89C}" type="datetimeFigureOut">
              <a:rPr lang="fr-FR" smtClean="0"/>
              <a:t>30/04/2026</a:t>
            </a:fld>
            <a:endParaRPr lang="fr-FR"/>
          </a:p>
        </p:txBody>
      </p:sp>
      <p:sp>
        <p:nvSpPr>
          <p:cNvPr id="1048887" name="Espace réservé du pied de page 4"/>
          <p:cNvSpPr>
            <a:spLocks noGrp="1"/>
          </p:cNvSpPr>
          <p:nvPr>
            <p:ph type="ftr" sz="quarter" idx="11"/>
          </p:nvPr>
        </p:nvSpPr>
        <p:spPr/>
        <p:txBody>
          <a:bodyPr/>
          <a:p>
            <a:endParaRPr lang="fr-FR"/>
          </a:p>
        </p:txBody>
      </p:sp>
      <p:sp>
        <p:nvSpPr>
          <p:cNvPr id="1048888" name="Espace réservé du numéro de diapositive 5"/>
          <p:cNvSpPr>
            <a:spLocks noGrp="1"/>
          </p:cNvSpPr>
          <p:nvPr>
            <p:ph type="sldNum" sz="quarter" idx="12"/>
          </p:nvPr>
        </p:nvSpPr>
        <p:spPr/>
        <p:txBody>
          <a:bodyPr/>
          <a:p>
            <a:fld id="{550B675B-B0F0-42B9-8884-1E7161FF5852}"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Connecteur droit 6"/>
          <p:cNvSpPr>
            <a:spLocks noChangeShapeType="1"/>
          </p:cNvSpPr>
          <p:nvPr/>
        </p:nvSpPr>
        <p:spPr bwMode="auto">
          <a:xfrm>
            <a:off x="514350" y="1050898"/>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577" name="Espace réservé du texte 7"/>
          <p:cNvSpPr>
            <a:spLocks noGrp="1"/>
          </p:cNvSpPr>
          <p:nvPr>
            <p:ph type="body" idx="1"/>
          </p:nvPr>
        </p:nvSpPr>
        <p:spPr>
          <a:xfrm>
            <a:off x="304800" y="1554162"/>
            <a:ext cx="8686800" cy="4525963"/>
          </a:xfrm>
          <a:prstGeom prst="rect"/>
        </p:spPr>
        <p:txBody>
          <a:bodyPr vert="horz">
            <a:normAutofit/>
          </a:bodyPr>
          <a:p>
            <a:pPr eaLnBrk="1" hangingPunct="1" latinLnBrk="0" lvl="0"/>
            <a:r>
              <a:rPr kumimoji="0" lang="fr-FR" smtClean="0"/>
              <a:t>Cliquez pour modifier les styles du texte du masque</a:t>
            </a:r>
          </a:p>
          <a:p>
            <a:pPr eaLnBrk="1" hangingPunct="1" latinLnBrk="0" lvl="1"/>
            <a:r>
              <a:rPr kumimoji="0" lang="fr-FR" smtClean="0"/>
              <a:t>Deuxième niveau</a:t>
            </a:r>
          </a:p>
          <a:p>
            <a:pPr eaLnBrk="1" hangingPunct="1" latinLnBrk="0" lvl="2"/>
            <a:r>
              <a:rPr kumimoji="0" lang="fr-FR" smtClean="0"/>
              <a:t>Troisième niveau</a:t>
            </a:r>
          </a:p>
          <a:p>
            <a:pPr eaLnBrk="1" hangingPunct="1" latinLnBrk="0" lvl="3"/>
            <a:r>
              <a:rPr kumimoji="0" lang="fr-FR" smtClean="0"/>
              <a:t>Quatrième niveau</a:t>
            </a:r>
          </a:p>
          <a:p>
            <a:pPr eaLnBrk="1" hangingPunct="1" latinLnBrk="0" lvl="4"/>
            <a:r>
              <a:rPr kumimoji="0" lang="fr-FR" smtClean="0"/>
              <a:t>Cinquième niveau</a:t>
            </a:r>
            <a:endParaRPr kumimoji="0" lang="en-US"/>
          </a:p>
        </p:txBody>
      </p:sp>
      <p:sp>
        <p:nvSpPr>
          <p:cNvPr id="1048578" name="Espace réservé de la date 10"/>
          <p:cNvSpPr>
            <a:spLocks noGrp="1"/>
          </p:cNvSpPr>
          <p:nvPr>
            <p:ph type="dt" sz="half" idx="2"/>
          </p:nvPr>
        </p:nvSpPr>
        <p:spPr>
          <a:xfrm>
            <a:off x="6477000" y="76200"/>
            <a:ext cx="2514600" cy="288925"/>
          </a:xfrm>
          <a:prstGeom prst="rect"/>
        </p:spPr>
        <p:txBody>
          <a:bodyPr vert="horz"/>
          <a:lstStyle>
            <a:lvl1pPr algn="l" eaLnBrk="1" hangingPunct="1" latinLnBrk="0">
              <a:defRPr sz="1200" kumimoji="0">
                <a:solidFill>
                  <a:schemeClr val="accent1">
                    <a:shade val="75000"/>
                  </a:schemeClr>
                </a:solidFill>
              </a:defRPr>
            </a:lvl1pPr>
          </a:lstStyle>
          <a:p>
            <a:fld id="{8227CEB7-12A7-4457-ABFF-2AD32696A89C}" type="datetimeFigureOut">
              <a:rPr lang="fr-FR" smtClean="0"/>
              <a:t>30/04/2026</a:t>
            </a:fld>
            <a:endParaRPr lang="fr-FR"/>
          </a:p>
        </p:txBody>
      </p:sp>
      <p:sp>
        <p:nvSpPr>
          <p:cNvPr id="1048579" name="Espace réservé du pied de page 27"/>
          <p:cNvSpPr>
            <a:spLocks noGrp="1"/>
          </p:cNvSpPr>
          <p:nvPr>
            <p:ph type="ftr" sz="quarter" idx="3"/>
          </p:nvPr>
        </p:nvSpPr>
        <p:spPr>
          <a:xfrm>
            <a:off x="3124200" y="76200"/>
            <a:ext cx="3352800" cy="288925"/>
          </a:xfrm>
          <a:prstGeom prst="rect"/>
        </p:spPr>
        <p:txBody>
          <a:bodyPr vert="horz"/>
          <a:lstStyle>
            <a:lvl1pPr algn="r" eaLnBrk="1" hangingPunct="1" latinLnBrk="0">
              <a:defRPr sz="1200" kumimoji="0">
                <a:solidFill>
                  <a:schemeClr val="accent1">
                    <a:shade val="75000"/>
                  </a:schemeClr>
                </a:solidFill>
              </a:defRPr>
            </a:lvl1pPr>
          </a:lstStyle>
          <a:p>
            <a:endParaRPr lang="fr-FR"/>
          </a:p>
        </p:txBody>
      </p:sp>
      <p:sp>
        <p:nvSpPr>
          <p:cNvPr id="1048580" name="Espace réservé du numéro de diapositive 4"/>
          <p:cNvSpPr>
            <a:spLocks noGrp="1"/>
          </p:cNvSpPr>
          <p:nvPr>
            <p:ph type="sldNum" sz="quarter" idx="4"/>
          </p:nvPr>
        </p:nvSpPr>
        <p:spPr>
          <a:xfrm>
            <a:off x="8229600" y="6477000"/>
            <a:ext cx="762000" cy="244475"/>
          </a:xfrm>
          <a:prstGeom prst="rect"/>
        </p:spPr>
        <p:txBody>
          <a:bodyPr vert="horz"/>
          <a:lstStyle>
            <a:lvl1pPr algn="r" eaLnBrk="1" hangingPunct="1" latinLnBrk="0">
              <a:defRPr sz="1200" kumimoji="0">
                <a:solidFill>
                  <a:schemeClr val="accent1">
                    <a:shade val="75000"/>
                  </a:schemeClr>
                </a:solidFill>
              </a:defRPr>
            </a:lvl1pPr>
          </a:lstStyle>
          <a:p>
            <a:fld id="{550B675B-B0F0-42B9-8884-1E7161FF5852}" type="slidenum">
              <a:rPr lang="fr-FR" smtClean="0"/>
              <a:t>‹N°›</a:t>
            </a:fld>
            <a:endParaRPr lang="fr-FR"/>
          </a:p>
        </p:txBody>
      </p:sp>
      <p:sp>
        <p:nvSpPr>
          <p:cNvPr id="1048581" name="Espace réservé du titre 9"/>
          <p:cNvSpPr>
            <a:spLocks noGrp="1"/>
          </p:cNvSpPr>
          <p:nvPr>
            <p:ph type="title"/>
          </p:nvPr>
        </p:nvSpPr>
        <p:spPr>
          <a:xfrm>
            <a:off x="304800" y="457200"/>
            <a:ext cx="8686800" cy="838200"/>
          </a:xfrm>
          <a:prstGeom prst="rect"/>
        </p:spPr>
        <p:txBody>
          <a:bodyPr anchor="ctr" vert="horz">
            <a:normAutofit/>
          </a:bodyPr>
          <a:p>
            <a:r>
              <a:rPr kumimoji="0" lang="fr-FR" smtClean="0"/>
              <a:t>Cliquez pour modifier le style du titre</a:t>
            </a:r>
            <a:endParaRPr kumimoji="0" lang="en-US"/>
          </a:p>
        </p:txBody>
      </p:sp>
      <p:sp>
        <p:nvSpPr>
          <p:cNvPr id="1048582" name="Connecteur droit 8"/>
          <p:cNvSpPr>
            <a:spLocks noChangeShapeType="1"/>
          </p:cNvSpPr>
          <p:nvPr/>
        </p:nvSpPr>
        <p:spPr bwMode="auto">
          <a:xfrm>
            <a:off x="514350" y="1050898"/>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583" name="Connecteur droit 11"/>
          <p:cNvSpPr>
            <a:spLocks noChangeShapeType="1"/>
          </p:cNvSpPr>
          <p:nvPr/>
        </p:nvSpPr>
        <p:spPr bwMode="auto">
          <a:xfrm>
            <a:off x="514350" y="1057986"/>
            <a:ext cx="8629650" cy="2381"/>
          </a:xfrm>
          <a:prstGeom prst="line"/>
          <a:noFill/>
          <a:ln w="9525" cap="flat" cmpd="sng" algn="ctr">
            <a:gradFill flip="none" rotWithShape="1">
              <a:gsLst>
                <a:gs pos="0">
                  <a:schemeClr val="accent1">
                    <a:alpha val="0"/>
                  </a:schemeClr>
                </a:gs>
                <a:gs pos="17000">
                  <a:schemeClr val="accent1"/>
                </a:gs>
                <a:gs pos="100000">
                  <a:schemeClr val="accent1"/>
                </a:gs>
              </a:gsLst>
              <a:lin ang="0" scaled="1"/>
            </a:gradFill>
            <a:prstDash val="solid"/>
            <a:round/>
            <a:headEnd type="none" w="med" len="med"/>
            <a:tailEnd type="none" w="med" len="med"/>
          </a:ln>
          <a:effectLst/>
        </p:spPr>
        <p:txBody>
          <a:bodyPr anchor="t" bIns="45720" compatLnSpc="1" lIns="91440" rIns="91440" tIns="45720" vert="horz" wrap="square"/>
          <a:p>
            <a:endParaRPr kumimoji="0"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eaLnBrk="1" hangingPunct="1" latinLnBrk="0" rtl="0">
        <a:spcBef>
          <a:spcPct val="0"/>
        </a:spcBef>
        <a:buNone/>
        <a:defRPr baseline="0" cap="all" sz="3600" kern="1200" kumimoji="0">
          <a:solidFill>
            <a:schemeClr val="tx2"/>
          </a:solidFill>
          <a:effectLst>
            <a:reflection algn="bl" blurRad="12700" dir="5400000" endA="300" endPos="55000" rotWithShape="0" stA="48000" sy="-90000"/>
          </a:effectLst>
          <a:latin typeface="+mj-lt"/>
          <a:ea typeface="+mj-ea"/>
          <a:cs typeface="+mj-cs"/>
        </a:defRPr>
      </a:lvl1pPr>
    </p:titleStyle>
    <p:bodyStyle>
      <a:lvl1pPr algn="l" eaLnBrk="1" hangingPunct="1" indent="-342900" latinLnBrk="0" marL="342900" rtl="0">
        <a:spcBef>
          <a:spcPct val="20000"/>
        </a:spcBef>
        <a:buClr>
          <a:schemeClr val="accent1"/>
        </a:buClr>
        <a:buSzPct val="70000"/>
        <a:buFont typeface="Wingdings 2"/>
        <a:buChar char=""/>
        <a:defRPr sz="3200" kern="1200" kumimoji="0">
          <a:solidFill>
            <a:schemeClr val="tx2"/>
          </a:solidFill>
          <a:latin typeface="+mn-lt"/>
          <a:ea typeface="+mn-ea"/>
          <a:cs typeface="+mn-cs"/>
        </a:defRPr>
      </a:lvl1pPr>
      <a:lvl2pPr algn="l" eaLnBrk="1" hangingPunct="1" indent="-285750" latinLnBrk="0" marL="742950" rtl="0">
        <a:spcBef>
          <a:spcPct val="20000"/>
        </a:spcBef>
        <a:buClr>
          <a:schemeClr val="accent1"/>
        </a:buClr>
        <a:buSzPct val="70000"/>
        <a:buFont typeface="Wingdings 2"/>
        <a:buChar char=""/>
        <a:defRPr sz="2800" kern="1200" kumimoji="0">
          <a:solidFill>
            <a:schemeClr val="tx2"/>
          </a:solidFill>
          <a:latin typeface="+mn-lt"/>
          <a:ea typeface="+mn-ea"/>
          <a:cs typeface="+mn-cs"/>
        </a:defRPr>
      </a:lvl2pPr>
      <a:lvl3pPr algn="l" eaLnBrk="1" hangingPunct="1" indent="-228600" latinLnBrk="0" marL="1143000" rtl="0">
        <a:spcBef>
          <a:spcPct val="20000"/>
        </a:spcBef>
        <a:buClr>
          <a:schemeClr val="accent1"/>
        </a:buClr>
        <a:buSzPct val="70000"/>
        <a:buFont typeface="Wingdings 2"/>
        <a:buChar char=""/>
        <a:defRPr sz="2400" kern="1200" kumimoji="0">
          <a:solidFill>
            <a:schemeClr val="tx2"/>
          </a:solidFill>
          <a:latin typeface="+mn-lt"/>
          <a:ea typeface="+mn-ea"/>
          <a:cs typeface="+mn-cs"/>
        </a:defRPr>
      </a:lvl3pPr>
      <a:lvl4pPr algn="l" eaLnBrk="1" hangingPunct="1" indent="-228600" latinLnBrk="0" marL="1600200" rtl="0">
        <a:spcBef>
          <a:spcPct val="20000"/>
        </a:spcBef>
        <a:buClr>
          <a:schemeClr val="accent1"/>
        </a:buClr>
        <a:buSzPct val="70000"/>
        <a:buFont typeface="Wingdings 2"/>
        <a:buChar char=""/>
        <a:defRPr sz="2000" kern="1200" kumimoji="0">
          <a:solidFill>
            <a:schemeClr val="tx2"/>
          </a:solidFill>
          <a:latin typeface="+mn-lt"/>
          <a:ea typeface="+mn-ea"/>
          <a:cs typeface="+mn-cs"/>
        </a:defRPr>
      </a:lvl4pPr>
      <a:lvl5pPr algn="l" eaLnBrk="1" hangingPunct="1" indent="-228600" latinLnBrk="0" marL="2057400" rtl="0">
        <a:spcBef>
          <a:spcPct val="20000"/>
        </a:spcBef>
        <a:buClr>
          <a:schemeClr val="accent1"/>
        </a:buClr>
        <a:buSzPct val="60000"/>
        <a:buFont typeface="Wingdings 2"/>
        <a:buChar char=""/>
        <a:defRPr sz="1800" kern="1200" kumimoji="0">
          <a:solidFill>
            <a:schemeClr val="tx2"/>
          </a:solidFill>
          <a:latin typeface="+mn-lt"/>
          <a:ea typeface="+mn-ea"/>
          <a:cs typeface="+mn-cs"/>
        </a:defRPr>
      </a:lvl5pPr>
      <a:lvl6pPr algn="l" eaLnBrk="1" hangingPunct="1" indent="-228600" latinLnBrk="0" marL="2514600" rtl="0">
        <a:spcBef>
          <a:spcPct val="20000"/>
        </a:spcBef>
        <a:buClr>
          <a:schemeClr val="accent1"/>
        </a:buClr>
        <a:buSzPct val="60000"/>
        <a:buFont typeface="Wingdings 2"/>
        <a:buChar char=""/>
        <a:defRPr sz="1800" kern="1200" kumimoji="0">
          <a:solidFill>
            <a:schemeClr val="tx2"/>
          </a:solidFill>
          <a:latin typeface="+mn-lt"/>
          <a:ea typeface="+mn-ea"/>
          <a:cs typeface="+mn-cs"/>
        </a:defRPr>
      </a:lvl6pPr>
      <a:lvl7pPr algn="l" eaLnBrk="1" hangingPunct="1" indent="-228600" latinLnBrk="0" marL="2971800" rtl="0">
        <a:spcBef>
          <a:spcPct val="20000"/>
        </a:spcBef>
        <a:buClr>
          <a:schemeClr val="accent1"/>
        </a:buClr>
        <a:buSzPct val="60000"/>
        <a:buFont typeface="Wingdings 2"/>
        <a:buChar char=""/>
        <a:defRPr sz="1600" kern="1200" kumimoji="0">
          <a:solidFill>
            <a:schemeClr val="tx2"/>
          </a:solidFill>
          <a:latin typeface="+mn-lt"/>
          <a:ea typeface="+mn-ea"/>
          <a:cs typeface="+mn-cs"/>
        </a:defRPr>
      </a:lvl7pPr>
      <a:lvl8pPr algn="l" eaLnBrk="1" hangingPunct="1" indent="-228600" latinLnBrk="0" marL="3429000" rtl="0">
        <a:spcBef>
          <a:spcPct val="20000"/>
        </a:spcBef>
        <a:buClr>
          <a:schemeClr val="accent1"/>
        </a:buClr>
        <a:buSzPct val="60000"/>
        <a:buFont typeface="Wingdings 2"/>
        <a:buChar char=""/>
        <a:defRPr baseline="0" sz="1600" kern="1200" kumimoji="0">
          <a:solidFill>
            <a:schemeClr val="tx2"/>
          </a:solidFill>
          <a:latin typeface="+mn-lt"/>
          <a:ea typeface="+mn-ea"/>
          <a:cs typeface="+mn-cs"/>
        </a:defRPr>
      </a:lvl8pPr>
      <a:lvl9pPr algn="l" eaLnBrk="1" hangingPunct="1" indent="-228600" latinLnBrk="0" marL="3886200" rtl="0">
        <a:spcBef>
          <a:spcPct val="20000"/>
        </a:spcBef>
        <a:buClr>
          <a:schemeClr val="accent1"/>
        </a:buClr>
        <a:buSzPct val="60000"/>
        <a:buFont typeface="Wingdings 2"/>
        <a:buChar char=""/>
        <a:defRPr baseline="0" sz="1400" kern="1200" kumimoji="0">
          <a:solidFill>
            <a:schemeClr val="tx2"/>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8.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7.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gif"/><Relationship Id="rId6" Type="http://schemas.openxmlformats.org/officeDocument/2006/relationships/slideLayout" Target="../slideLayouts/slideLayout7.xml"/><Relationship Id="rId7"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7.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6.xml"/><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0" name="Titre 1"/>
          <p:cNvSpPr>
            <a:spLocks noGrp="1"/>
          </p:cNvSpPr>
          <p:nvPr>
            <p:ph type="ctrTitle"/>
          </p:nvPr>
        </p:nvSpPr>
        <p:spPr>
          <a:xfrm>
            <a:off x="381000" y="3717032"/>
            <a:ext cx="8458200" cy="1222375"/>
          </a:xfrm>
        </p:spPr>
        <p:txBody>
          <a:bodyPr>
            <a:normAutofit fontScale="90000"/>
          </a:bodyPr>
          <a:p>
            <a:pPr algn="ctr"/>
            <a:r>
              <a:rPr dirty="0" sz="4000" lang="fr-FR" smtClean="0"/>
              <a:t>LES SYNDROMES MYOPÉRICARDIQUES INFLAMMATOIRES </a:t>
            </a:r>
            <a:br>
              <a:rPr dirty="0" sz="4000" lang="fr-FR" smtClean="0"/>
            </a:br>
            <a:endParaRPr dirty="0" sz="4000" i="1" lang="fr-FR"/>
          </a:p>
        </p:txBody>
      </p:sp>
      <p:sp>
        <p:nvSpPr>
          <p:cNvPr id="1048591" name="Sous-titre 2"/>
          <p:cNvSpPr>
            <a:spLocks noGrp="1"/>
          </p:cNvSpPr>
          <p:nvPr>
            <p:ph type="subTitle" idx="1"/>
          </p:nvPr>
        </p:nvSpPr>
        <p:spPr>
          <a:xfrm>
            <a:off x="395536" y="2636912"/>
            <a:ext cx="8458200" cy="914400"/>
          </a:xfrm>
        </p:spPr>
        <p:txBody>
          <a:bodyPr>
            <a:normAutofit/>
          </a:bodyPr>
          <a:p>
            <a:pPr eaLnBrk="1" fontAlgn="auto" hangingPunct="1">
              <a:spcAft>
                <a:spcPts val="0"/>
              </a:spcAft>
              <a:buFont typeface="Wingdings 2"/>
              <a:buNone/>
            </a:pPr>
            <a:r>
              <a:rPr dirty="0" sz="1600" lang="fr-FR" smtClean="0">
                <a:latin typeface="Comic Sans MS" pitchFamily="66" charset="0"/>
              </a:rPr>
              <a:t>DR. </a:t>
            </a:r>
            <a:r>
              <a:rPr dirty="0" sz="1600" lang="fr-FR" smtClean="0">
                <a:latin typeface="Brush Script MT" pitchFamily="66" charset="0"/>
              </a:rPr>
              <a:t>R</a:t>
            </a:r>
            <a:r>
              <a:rPr dirty="0" sz="1600" lang="fr-FR" smtClean="0">
                <a:latin typeface="Comic Sans MS" pitchFamily="66" charset="0"/>
              </a:rPr>
              <a:t> BELGUEDJ</a:t>
            </a:r>
          </a:p>
          <a:p>
            <a:pPr eaLnBrk="1" fontAlgn="auto" hangingPunct="1">
              <a:spcAft>
                <a:spcPts val="0"/>
              </a:spcAft>
              <a:buFont typeface="Wingdings 2"/>
              <a:buNone/>
            </a:pPr>
            <a:r>
              <a:rPr dirty="0" sz="1600" lang="fr-FR" err="1" smtClean="0">
                <a:latin typeface="Comic Sans MS" pitchFamily="66" charset="0"/>
              </a:rPr>
              <a:t>Sce</a:t>
            </a:r>
            <a:r>
              <a:rPr dirty="0" sz="1600" lang="fr-FR" smtClean="0">
                <a:latin typeface="Comic Sans MS" pitchFamily="66" charset="0"/>
              </a:rPr>
              <a:t> Cardiologie</a:t>
            </a:r>
          </a:p>
          <a:p>
            <a:pPr eaLnBrk="1" fontAlgn="auto" hangingPunct="1">
              <a:spcAft>
                <a:spcPts val="0"/>
              </a:spcAft>
              <a:buFont typeface="Wingdings 2"/>
              <a:buNone/>
            </a:pPr>
            <a:r>
              <a:rPr dirty="0" sz="900" lang="fr-FR" smtClean="0">
                <a:latin typeface="Arial" pitchFamily="34" charset="0"/>
                <a:cs typeface="Arial" pitchFamily="34" charset="0"/>
              </a:rPr>
              <a:t>cardiochuc25@gmail.com</a:t>
            </a:r>
          </a:p>
          <a:p>
            <a:pPr eaLnBrk="1" fontAlgn="auto" hangingPunct="1">
              <a:spcAft>
                <a:spcPts val="0"/>
              </a:spcAft>
              <a:buFont typeface="Wingdings 2"/>
              <a:buNone/>
            </a:pPr>
            <a:endParaRPr dirty="0" sz="1800" lang="fr-FR" smtClean="0"/>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62" name=""/>
        <p:cNvGrpSpPr/>
        <p:nvPr/>
      </p:nvGrpSpPr>
      <p:grpSpPr>
        <a:xfrm>
          <a:off x="0" y="0"/>
          <a:ext cx="0" cy="0"/>
          <a:chOff x="0" y="0"/>
          <a:chExt cx="0" cy="0"/>
        </a:xfrm>
      </p:grpSpPr>
      <p:sp>
        <p:nvSpPr>
          <p:cNvPr id="1048602" name="Titre 1"/>
          <p:cNvSpPr>
            <a:spLocks noGrp="1"/>
          </p:cNvSpPr>
          <p:nvPr>
            <p:ph type="title"/>
          </p:nvPr>
        </p:nvSpPr>
        <p:spPr>
          <a:xfrm>
            <a:off x="1500188" y="110778"/>
            <a:ext cx="5500687" cy="869950"/>
          </a:xfrm>
        </p:spPr>
        <p:txBody>
          <a:bodyPr>
            <a:normAutofit/>
          </a:bodyPr>
          <a:p>
            <a:pPr algn="ctr"/>
            <a:r>
              <a:rPr b="0" dirty="0" sz="3200" lang="fr-FR" smtClean="0">
                <a:solidFill>
                  <a:srgbClr val="FF9900"/>
                </a:solidFill>
                <a:effectLst/>
                <a:latin typeface="+mn-lt"/>
              </a:rPr>
              <a:t>I- ANATOMIE-FONCTION</a:t>
            </a:r>
            <a:endParaRPr b="0" dirty="0" sz="3200" lang="fr-FR">
              <a:solidFill>
                <a:srgbClr val="FF9900"/>
              </a:solidFill>
              <a:effectLst/>
              <a:latin typeface="+mn-lt"/>
            </a:endParaRPr>
          </a:p>
        </p:txBody>
      </p:sp>
      <p:pic>
        <p:nvPicPr>
          <p:cNvPr id="2097152" name="Espace réservé du contenu 4" descr="shema anat pericarde.jpg"/>
          <p:cNvPicPr>
            <a:picLocks noChangeAspect="1" noGrp="1"/>
          </p:cNvPicPr>
          <p:nvPr>
            <p:ph idx="1"/>
          </p:nvPr>
        </p:nvPicPr>
        <p:blipFill>
          <a:blip xmlns:r="http://schemas.openxmlformats.org/officeDocument/2006/relationships" r:embed="rId1" cstate="print">
            <a:lum bright="-20000" contrast="10000"/>
          </a:blip>
          <a:srcRect t="3078" r="3146" b="3078"/>
          <a:stretch>
            <a:fillRect/>
          </a:stretch>
        </p:blipFill>
        <p:spPr>
          <a:xfrm>
            <a:off x="5219700" y="1376363"/>
            <a:ext cx="3673475" cy="3852862"/>
          </a:xfrm>
          <a:ln>
            <a:solidFill>
              <a:schemeClr val="tx1"/>
            </a:solidFill>
          </a:ln>
          <a:effectLst>
            <a:outerShdw algn="tl" blurRad="292100" dir="2700000" dist="139700" rotWithShape="0">
              <a:srgbClr val="333333">
                <a:alpha val="65000"/>
              </a:srgbClr>
            </a:outerShdw>
          </a:effectLst>
        </p:spPr>
      </p:pic>
      <p:sp>
        <p:nvSpPr>
          <p:cNvPr id="1048603" name="Espace réservé du texte 3"/>
          <p:cNvSpPr>
            <a:spLocks noGrp="1"/>
          </p:cNvSpPr>
          <p:nvPr>
            <p:ph type="body" sz="half" idx="2"/>
          </p:nvPr>
        </p:nvSpPr>
        <p:spPr>
          <a:xfrm>
            <a:off x="107950" y="1071563"/>
            <a:ext cx="5616575" cy="5286375"/>
          </a:xfrm>
        </p:spPr>
        <p:txBody>
          <a:bodyPr/>
          <a:p>
            <a:pPr eaLnBrk="1" hangingPunct="1">
              <a:lnSpc>
                <a:spcPct val="90000"/>
              </a:lnSpc>
            </a:pPr>
            <a:r>
              <a:rPr dirty="0" sz="2400" lang="fr-FR" smtClean="0">
                <a:solidFill>
                  <a:srgbClr val="CCFFCC"/>
                </a:solidFill>
              </a:rPr>
              <a:t>                </a:t>
            </a:r>
            <a:r>
              <a:rPr dirty="0" sz="3200" lang="fr-FR" smtClean="0">
                <a:solidFill>
                  <a:srgbClr val="C00000"/>
                </a:solidFill>
              </a:rPr>
              <a:t>2 feuillets</a:t>
            </a:r>
          </a:p>
          <a:p>
            <a:pPr eaLnBrk="1" hangingPunct="1">
              <a:lnSpc>
                <a:spcPct val="90000"/>
              </a:lnSpc>
            </a:pPr>
            <a:r>
              <a:rPr dirty="0" sz="2400" lang="fr-FR" smtClean="0"/>
              <a:t>    </a:t>
            </a:r>
            <a:r>
              <a:rPr dirty="0" sz="2800" lang="fr-FR" smtClean="0">
                <a:solidFill>
                  <a:schemeClr val="tx1"/>
                </a:solidFill>
              </a:rPr>
              <a:t>Viscéral               Pariétal</a:t>
            </a:r>
          </a:p>
          <a:p>
            <a:pPr eaLnBrk="1" hangingPunct="1">
              <a:lnSpc>
                <a:spcPct val="90000"/>
              </a:lnSpc>
            </a:pPr>
            <a:r>
              <a:rPr dirty="0" sz="2400" lang="fr-FR" smtClean="0">
                <a:solidFill>
                  <a:schemeClr val="tx1"/>
                </a:solidFill>
              </a:rPr>
              <a:t> </a:t>
            </a:r>
          </a:p>
          <a:p>
            <a:pPr eaLnBrk="1" hangingPunct="1">
              <a:lnSpc>
                <a:spcPct val="90000"/>
              </a:lnSpc>
            </a:pPr>
            <a:r>
              <a:rPr dirty="0" sz="2400" lang="fr-FR" smtClean="0">
                <a:solidFill>
                  <a:schemeClr val="tx1"/>
                </a:solidFill>
              </a:rPr>
              <a:t>             </a:t>
            </a:r>
            <a:r>
              <a:rPr dirty="0" sz="2400" lang="en-US" smtClean="0">
                <a:solidFill>
                  <a:schemeClr val="tx1"/>
                </a:solidFill>
                <a:cs typeface="Tahoma" pitchFamily="34" charset="0"/>
              </a:rPr>
              <a:t>10–50 ml liquide </a:t>
            </a:r>
          </a:p>
          <a:p>
            <a:pPr eaLnBrk="1" hangingPunct="1">
              <a:lnSpc>
                <a:spcPct val="90000"/>
              </a:lnSpc>
            </a:pPr>
            <a:endParaRPr dirty="0" lang="en-US" smtClean="0">
              <a:solidFill>
                <a:schemeClr val="tx1"/>
              </a:solidFill>
              <a:cs typeface="Tahoma" pitchFamily="34" charset="0"/>
            </a:endParaRPr>
          </a:p>
          <a:p>
            <a:pPr eaLnBrk="1" hangingPunct="1">
              <a:lnSpc>
                <a:spcPct val="90000"/>
              </a:lnSpc>
            </a:pPr>
            <a:r>
              <a:rPr dirty="0" sz="2800" lang="en-US" smtClean="0">
                <a:solidFill>
                  <a:schemeClr val="tx1"/>
                </a:solidFill>
                <a:cs typeface="Tahoma" pitchFamily="34" charset="0"/>
              </a:rPr>
              <a:t>                                                          	     </a:t>
            </a:r>
            <a:r>
              <a:rPr dirty="0" sz="3200" lang="fr-FR" smtClean="0">
                <a:solidFill>
                  <a:schemeClr val="tx1"/>
                </a:solidFill>
                <a:cs typeface="Tahoma" pitchFamily="34" charset="0"/>
              </a:rPr>
              <a:t>Fonctions</a:t>
            </a:r>
            <a:r>
              <a:rPr dirty="0" sz="2800" lang="en-US" smtClean="0">
                <a:solidFill>
                  <a:schemeClr val="tx1"/>
                </a:solidFill>
                <a:cs typeface="Tahoma" pitchFamily="34" charset="0"/>
              </a:rPr>
              <a:t>   </a:t>
            </a:r>
          </a:p>
          <a:p>
            <a:pPr eaLnBrk="1" hangingPunct="1">
              <a:lnSpc>
                <a:spcPct val="90000"/>
              </a:lnSpc>
            </a:pPr>
            <a:r>
              <a:rPr dirty="0" lang="en-US" smtClean="0">
                <a:solidFill>
                  <a:schemeClr val="tx1"/>
                </a:solidFill>
                <a:cs typeface="Tahoma" pitchFamily="34" charset="0"/>
              </a:rPr>
              <a:t>  </a:t>
            </a:r>
            <a:r>
              <a:rPr dirty="0" sz="2400" lang="en-US" smtClean="0">
                <a:solidFill>
                  <a:schemeClr val="tx1"/>
                </a:solidFill>
                <a:cs typeface="Tahoma" pitchFamily="34" charset="0"/>
              </a:rPr>
              <a:t> </a:t>
            </a:r>
            <a:r>
              <a:rPr b="1" dirty="0" sz="2400" lang="en-US" smtClean="0">
                <a:solidFill>
                  <a:schemeClr val="tx1"/>
                </a:solidFill>
                <a:cs typeface="Tahoma" pitchFamily="34" charset="0"/>
              </a:rPr>
              <a:t>Protection -</a:t>
            </a:r>
            <a:r>
              <a:rPr b="1" dirty="0" sz="2400" lang="fr-FR" smtClean="0">
                <a:solidFill>
                  <a:schemeClr val="tx1"/>
                </a:solidFill>
                <a:cs typeface="Tahoma" pitchFamily="34" charset="0"/>
              </a:rPr>
              <a:t> Maintien - </a:t>
            </a:r>
            <a:r>
              <a:rPr b="1" dirty="0" sz="2400" lang="en-US" smtClean="0">
                <a:solidFill>
                  <a:schemeClr val="tx1"/>
                </a:solidFill>
                <a:cs typeface="Tahoma" pitchFamily="34" charset="0"/>
              </a:rPr>
              <a:t>Lubrification</a:t>
            </a:r>
            <a:r>
              <a:rPr dirty="0" sz="2800" lang="fr-FR" smtClean="0">
                <a:solidFill>
                  <a:schemeClr val="tx1"/>
                </a:solidFill>
                <a:cs typeface="Tahoma" pitchFamily="34" charset="0"/>
              </a:rPr>
              <a:t>                       </a:t>
            </a:r>
          </a:p>
          <a:p>
            <a:pPr eaLnBrk="1" hangingPunct="1">
              <a:lnSpc>
                <a:spcPct val="90000"/>
              </a:lnSpc>
            </a:pPr>
            <a:r>
              <a:rPr dirty="0" sz="2800" lang="en-US" smtClean="0">
                <a:solidFill>
                  <a:schemeClr val="tx1"/>
                </a:solidFill>
                <a:cs typeface="Tahoma" pitchFamily="34" charset="0"/>
              </a:rPr>
              <a:t>                                          </a:t>
            </a:r>
          </a:p>
          <a:p>
            <a:pPr eaLnBrk="1" hangingPunct="1">
              <a:lnSpc>
                <a:spcPct val="90000"/>
              </a:lnSpc>
            </a:pPr>
            <a:r>
              <a:rPr dirty="0" sz="2400" lang="en-US" smtClean="0">
                <a:solidFill>
                  <a:schemeClr val="tx1"/>
                </a:solidFill>
                <a:cs typeface="Tahoma" pitchFamily="34" charset="0"/>
              </a:rPr>
              <a:t>    infections</a:t>
            </a:r>
          </a:p>
          <a:p>
            <a:pPr eaLnBrk="1" hangingPunct="1">
              <a:lnSpc>
                <a:spcPct val="90000"/>
              </a:lnSpc>
            </a:pPr>
            <a:r>
              <a:rPr dirty="0" sz="2400" lang="en-US" smtClean="0">
                <a:solidFill>
                  <a:schemeClr val="tx1"/>
                </a:solidFill>
                <a:cs typeface="Tahoma" pitchFamily="34" charset="0"/>
              </a:rPr>
              <a:t>    néoplasies</a:t>
            </a:r>
          </a:p>
          <a:p>
            <a:pPr eaLnBrk="1" hangingPunct="1">
              <a:lnSpc>
                <a:spcPct val="90000"/>
              </a:lnSpc>
            </a:pPr>
            <a:r>
              <a:rPr dirty="0" sz="2400" lang="en-US" smtClean="0">
                <a:solidFill>
                  <a:schemeClr val="tx1"/>
                </a:solidFill>
                <a:cs typeface="Tahoma" pitchFamily="34" charset="0"/>
              </a:rPr>
              <a:t>    </a:t>
            </a:r>
            <a:r>
              <a:rPr dirty="0" sz="2400" lang="fr-FR" smtClean="0">
                <a:solidFill>
                  <a:schemeClr val="tx1"/>
                </a:solidFill>
                <a:cs typeface="Tahoma" pitchFamily="34" charset="0"/>
              </a:rPr>
              <a:t>traumatismes</a:t>
            </a:r>
          </a:p>
          <a:p>
            <a:pPr eaLnBrk="1" hangingPunct="1">
              <a:lnSpc>
                <a:spcPct val="90000"/>
              </a:lnSpc>
            </a:pPr>
            <a:endParaRPr dirty="0" lang="fr-FR" smtClean="0">
              <a:cs typeface="Tahoma" pitchFamily="34" charset="0"/>
            </a:endParaRPr>
          </a:p>
          <a:p>
            <a:pPr eaLnBrk="1" hangingPunct="1">
              <a:lnSpc>
                <a:spcPct val="90000"/>
              </a:lnSpc>
            </a:pPr>
            <a:endParaRPr dirty="0" lang="fr-FR" smtClean="0"/>
          </a:p>
        </p:txBody>
      </p:sp>
      <p:sp>
        <p:nvSpPr>
          <p:cNvPr id="1048604" name="AutoShape 7"/>
          <p:cNvSpPr/>
          <p:nvPr/>
        </p:nvSpPr>
        <p:spPr bwMode="auto">
          <a:xfrm rot="5400000">
            <a:off x="2159794" y="1600994"/>
            <a:ext cx="358775" cy="1296987"/>
          </a:xfrm>
          <a:prstGeom prst="rightBrace">
            <a:avLst>
              <a:gd name="adj1" fmla="val 61506"/>
              <a:gd name="adj2" fmla="val 50000"/>
            </a:avLst>
          </a:prstGeom>
          <a:noFill/>
          <a:ln w="25400">
            <a:solidFill>
              <a:srgbClr val="FFCC00"/>
            </a:solidFill>
            <a:round/>
            <a:headEnd/>
            <a:tailEnd/>
          </a:ln>
        </p:spPr>
        <p:txBody>
          <a:bodyPr anchor="ctr" wrap="none"/>
          <a:p>
            <a:pPr algn="ctr"/>
            <a:r>
              <a:rPr lang="fr-FR">
                <a:latin typeface="Tahoma" pitchFamily="34" charset="0"/>
              </a:rPr>
              <a:t> </a:t>
            </a:r>
          </a:p>
        </p:txBody>
      </p:sp>
      <p:sp>
        <p:nvSpPr>
          <p:cNvPr id="1048605" name="AutoShape 7"/>
          <p:cNvSpPr/>
          <p:nvPr/>
        </p:nvSpPr>
        <p:spPr bwMode="auto">
          <a:xfrm rot="5400000">
            <a:off x="819151" y="4076700"/>
            <a:ext cx="368300" cy="1216025"/>
          </a:xfrm>
          <a:prstGeom prst="rightBrace">
            <a:avLst>
              <a:gd name="adj1" fmla="val 32375"/>
              <a:gd name="adj2" fmla="val 47713"/>
            </a:avLst>
          </a:prstGeom>
          <a:noFill/>
          <a:ln w="25400">
            <a:solidFill>
              <a:srgbClr val="FFCC00"/>
            </a:solidFill>
            <a:round/>
            <a:headEnd/>
            <a:tailEnd/>
          </a:ln>
        </p:spPr>
        <p:txBody>
          <a:bodyPr anchor="ctr" wrap="none"/>
          <a:p>
            <a:pPr algn="ctr"/>
            <a:r>
              <a:rPr lang="fr-FR">
                <a:latin typeface="Tahoma" pitchFamily="34" charset="0"/>
              </a:rPr>
              <a:t> </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048603">
                                            <p:txEl>
                                              <p:pRg st="5" end="5"/>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1048603">
                                            <p:txEl>
                                              <p:pRg st="6" end="6"/>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1048603">
                                            <p:txEl>
                                              <p:pRg st="7" end="7"/>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1048603">
                                            <p:txEl>
                                              <p:pRg st="8" end="8"/>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048603">
                                            <p:txEl>
                                              <p:pRg st="9" end="9"/>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1048603">
                                            <p:txEl>
                                              <p:pRg st="10" end="10"/>
                                            </p:txEl>
                                          </p:spTgt>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1048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5"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66" name=""/>
        <p:cNvGrpSpPr/>
        <p:nvPr/>
      </p:nvGrpSpPr>
      <p:grpSpPr>
        <a:xfrm>
          <a:off x="0" y="0"/>
          <a:ext cx="0" cy="0"/>
          <a:chOff x="0" y="0"/>
          <a:chExt cx="0" cy="0"/>
        </a:xfrm>
      </p:grpSpPr>
      <p:sp>
        <p:nvSpPr>
          <p:cNvPr id="1048614" name="Titre 1"/>
          <p:cNvSpPr>
            <a:spLocks noGrp="1"/>
          </p:cNvSpPr>
          <p:nvPr>
            <p:ph type="title"/>
          </p:nvPr>
        </p:nvSpPr>
        <p:spPr>
          <a:xfrm>
            <a:off x="179512" y="116632"/>
            <a:ext cx="8686800" cy="838200"/>
          </a:xfrm>
        </p:spPr>
        <p:txBody>
          <a:bodyPr/>
          <a:p>
            <a:pPr algn="ctr" eaLnBrk="1" fontAlgn="auto" hangingPunct="1">
              <a:spcAft>
                <a:spcPts val="0"/>
              </a:spcAft>
            </a:pPr>
            <a:r>
              <a:rPr dirty="0" sz="3200" lang="fr-FR" smtClean="0">
                <a:solidFill>
                  <a:srgbClr val="FF9900"/>
                </a:solidFill>
                <a:effectLst/>
                <a:latin typeface="+mn-lt"/>
              </a:rPr>
              <a:t>II-</a:t>
            </a:r>
            <a:r>
              <a:rPr dirty="0" sz="3200" lang="fr-FR" smtClean="0">
                <a:solidFill>
                  <a:srgbClr val="FF9900"/>
                </a:solidFill>
                <a:effectLst/>
              </a:rPr>
              <a:t> </a:t>
            </a:r>
            <a:r>
              <a:rPr dirty="0" sz="3200" lang="fr-FR" smtClean="0">
                <a:solidFill>
                  <a:srgbClr val="FF9900"/>
                </a:solidFill>
                <a:effectLst/>
                <a:latin typeface="+mn-lt"/>
              </a:rPr>
              <a:t>INTRODUCTION</a:t>
            </a:r>
            <a:endParaRPr dirty="0" sz="3200" lang="fr-FR">
              <a:solidFill>
                <a:srgbClr val="FF9900"/>
              </a:solidFill>
              <a:effectLst/>
              <a:latin typeface="+mn-lt"/>
            </a:endParaRPr>
          </a:p>
        </p:txBody>
      </p:sp>
      <p:sp>
        <p:nvSpPr>
          <p:cNvPr id="1048615" name="Espace réservé du contenu 2"/>
          <p:cNvSpPr>
            <a:spLocks noGrp="1"/>
          </p:cNvSpPr>
          <p:nvPr>
            <p:ph idx="1"/>
          </p:nvPr>
        </p:nvSpPr>
        <p:spPr>
          <a:xfrm>
            <a:off x="144016" y="764704"/>
            <a:ext cx="8964488" cy="5472608"/>
          </a:xfrm>
        </p:spPr>
        <p:txBody>
          <a:bodyPr>
            <a:noAutofit/>
          </a:bodyPr>
          <a:p>
            <a:r>
              <a:rPr dirty="0" sz="2400" lang="fr-FR" smtClean="0">
                <a:solidFill>
                  <a:srgbClr val="C00000"/>
                </a:solidFill>
              </a:rPr>
              <a:t>IMPS</a:t>
            </a:r>
            <a:r>
              <a:rPr dirty="0" sz="2400" lang="fr-FR" smtClean="0">
                <a:solidFill>
                  <a:schemeClr val="bg2">
                    <a:lumMod val="10000"/>
                  </a:schemeClr>
                </a:solidFill>
              </a:rPr>
              <a:t> : spectre de maladies inflammatoires englobant les myocardites isolées, les péricardites isolées et une combinaison des 2 atteintes</a:t>
            </a:r>
          </a:p>
          <a:p>
            <a:r>
              <a:rPr dirty="0" sz="2400" lang="fr-FR" smtClean="0">
                <a:solidFill>
                  <a:schemeClr val="bg2">
                    <a:lumMod val="10000"/>
                  </a:schemeClr>
                </a:solidFill>
              </a:rPr>
              <a:t>Etiologies nombreuses et communes aux 2 atteintes</a:t>
            </a:r>
          </a:p>
          <a:p>
            <a:pPr lvl="1">
              <a:buNone/>
            </a:pPr>
            <a:r>
              <a:rPr dirty="0" sz="2400" lang="fr-FR" smtClean="0">
                <a:solidFill>
                  <a:schemeClr val="bg2">
                    <a:lumMod val="10000"/>
                  </a:schemeClr>
                </a:solidFill>
              </a:rPr>
              <a:t>  - infectieuses</a:t>
            </a:r>
          </a:p>
          <a:p>
            <a:pPr lvl="1">
              <a:buNone/>
            </a:pPr>
            <a:r>
              <a:rPr dirty="0" sz="2400" lang="fr-FR" smtClean="0">
                <a:solidFill>
                  <a:schemeClr val="bg2">
                    <a:lumMod val="10000"/>
                  </a:schemeClr>
                </a:solidFill>
              </a:rPr>
              <a:t>  - non infectieuses </a:t>
            </a:r>
          </a:p>
          <a:p>
            <a:pPr eaLnBrk="1" hangingPunct="1">
              <a:spcAft>
                <a:spcPts val="600"/>
              </a:spcAft>
            </a:pPr>
            <a:r>
              <a:rPr dirty="0" sz="2400" lang="fr-FR" smtClean="0">
                <a:solidFill>
                  <a:schemeClr val="bg2">
                    <a:lumMod val="10000"/>
                  </a:schemeClr>
                </a:solidFill>
              </a:rPr>
              <a:t>Dgc repose sur la présentation clinique  et les biomarqueurs (conduite personnalisée) </a:t>
            </a:r>
          </a:p>
          <a:p>
            <a:pPr eaLnBrk="1" hangingPunct="1">
              <a:spcAft>
                <a:spcPts val="600"/>
              </a:spcAft>
            </a:pPr>
            <a:r>
              <a:rPr dirty="0" sz="2400" lang="fr-FR" smtClean="0">
                <a:solidFill>
                  <a:schemeClr val="bg2">
                    <a:lumMod val="10000"/>
                  </a:schemeClr>
                </a:solidFill>
              </a:rPr>
              <a:t>Nécessité d’évaluer le risque dès la suspicion clinique (</a:t>
            </a:r>
            <a:r>
              <a:rPr dirty="0" sz="2400" i="1" lang="fr-FR" smtClean="0">
                <a:solidFill>
                  <a:srgbClr val="FF0000"/>
                </a:solidFill>
              </a:rPr>
              <a:t>red flags</a:t>
            </a:r>
            <a:r>
              <a:rPr dirty="0" sz="2400" lang="fr-FR" smtClean="0">
                <a:solidFill>
                  <a:schemeClr val="bg2">
                    <a:lumMod val="10000"/>
                  </a:schemeClr>
                </a:solidFill>
              </a:rPr>
              <a:t>)</a:t>
            </a:r>
          </a:p>
          <a:p>
            <a:pPr eaLnBrk="1" hangingPunct="1"/>
            <a:r>
              <a:rPr dirty="0" sz="2400" lang="fr-FR" smtClean="0">
                <a:solidFill>
                  <a:schemeClr val="bg2">
                    <a:lumMod val="10000"/>
                  </a:schemeClr>
                </a:solidFill>
              </a:rPr>
              <a:t>Intérêt d’une imagerie multimodale:</a:t>
            </a:r>
          </a:p>
          <a:p>
            <a:pPr eaLnBrk="1" hangingPunct="1">
              <a:buFont typeface="Wingdings 2" pitchFamily="18" charset="2"/>
              <a:buNone/>
            </a:pPr>
            <a:r>
              <a:rPr dirty="0" sz="2400" lang="fr-FR" smtClean="0">
                <a:solidFill>
                  <a:schemeClr val="bg2">
                    <a:lumMod val="10000"/>
                  </a:schemeClr>
                </a:solidFill>
              </a:rPr>
              <a:t>      - téléthorax, ECG, échocardiographie, TDM / </a:t>
            </a:r>
            <a:r>
              <a:rPr dirty="0" lang="fr-FR" smtClean="0">
                <a:solidFill>
                  <a:srgbClr val="FF0000"/>
                </a:solidFill>
              </a:rPr>
              <a:t>IRM</a:t>
            </a:r>
            <a:r>
              <a:rPr dirty="0" sz="2400" lang="fr-FR" smtClean="0">
                <a:solidFill>
                  <a:schemeClr val="bg2">
                    <a:lumMod val="10000"/>
                  </a:schemeClr>
                </a:solidFill>
              </a:rPr>
              <a:t> </a:t>
            </a:r>
          </a:p>
          <a:p>
            <a:pPr eaLnBrk="1" hangingPunct="1"/>
            <a:r>
              <a:rPr dirty="0" sz="2400" lang="fr-FR" smtClean="0">
                <a:solidFill>
                  <a:schemeClr val="bg2">
                    <a:lumMod val="10000"/>
                  </a:schemeClr>
                </a:solidFill>
              </a:rPr>
              <a:t>TRT: réduction des symptômes, prévention des complications</a:t>
            </a:r>
          </a:p>
          <a:p>
            <a:pPr eaLnBrk="1" hangingPunct="1"/>
            <a:r>
              <a:rPr dirty="0" sz="2400" lang="fr-FR" smtClean="0">
                <a:solidFill>
                  <a:schemeClr val="bg2">
                    <a:lumMod val="10000"/>
                  </a:schemeClr>
                </a:solidFill>
              </a:rPr>
              <a:t>Récidive: 20 à 30% des cas (mutation génétique?)</a:t>
            </a:r>
          </a:p>
          <a:p>
            <a:pPr eaLnBrk="1" hangingPunct="1"/>
            <a:endParaRPr dirty="0" sz="2400" lang="fr-FR" smtClean="0"/>
          </a:p>
          <a:p>
            <a:pPr eaLnBrk="1" hangingPunct="1"/>
            <a:endParaRPr dirty="0" sz="2400" lang="fr-FR" smtClean="0"/>
          </a:p>
        </p:txBody>
      </p:sp>
      <p:sp>
        <p:nvSpPr>
          <p:cNvPr id="1048616" name="Accolade fermante 3"/>
          <p:cNvSpPr/>
          <p:nvPr/>
        </p:nvSpPr>
        <p:spPr>
          <a:xfrm>
            <a:off x="3275856" y="2492896"/>
            <a:ext cx="360040" cy="720080"/>
          </a:xfrm>
          <a:prstGeom prst="rightBrace"/>
          <a:noFill/>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rtlCol="0"/>
          <a:p>
            <a:pPr algn="ctr"/>
            <a:endParaRPr dirty="0" lang="fr-FR"/>
          </a:p>
        </p:txBody>
      </p:sp>
      <p:sp>
        <p:nvSpPr>
          <p:cNvPr id="1048617" name="ZoneTexte 4"/>
          <p:cNvSpPr txBox="1"/>
          <p:nvPr/>
        </p:nvSpPr>
        <p:spPr>
          <a:xfrm>
            <a:off x="3707904" y="2627620"/>
            <a:ext cx="2952328" cy="400110"/>
          </a:xfrm>
          <a:prstGeom prst="rect"/>
          <a:noFill/>
        </p:spPr>
        <p:txBody>
          <a:bodyPr rtlCol="0" wrap="square">
            <a:spAutoFit/>
          </a:bodyPr>
          <a:p>
            <a:r>
              <a:rPr b="1" dirty="0" sz="2000" i="1" lang="fr-FR" smtClean="0"/>
              <a:t>±</a:t>
            </a:r>
            <a:r>
              <a:rPr b="1" dirty="0" i="1" lang="fr-FR" smtClean="0"/>
              <a:t> Prédisposition génétique</a:t>
            </a:r>
            <a:endParaRPr b="1" dirty="0" i="1" lang="fr-FR"/>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70" name=""/>
        <p:cNvGrpSpPr/>
        <p:nvPr/>
      </p:nvGrpSpPr>
      <p:grpSpPr>
        <a:xfrm>
          <a:off x="0" y="0"/>
          <a:ext cx="0" cy="0"/>
          <a:chOff x="0" y="0"/>
          <a:chExt cx="0" cy="0"/>
        </a:xfrm>
      </p:grpSpPr>
      <p:sp>
        <p:nvSpPr>
          <p:cNvPr id="1048625" name="Titre 1"/>
          <p:cNvSpPr>
            <a:spLocks noGrp="1"/>
          </p:cNvSpPr>
          <p:nvPr>
            <p:ph type="title"/>
          </p:nvPr>
        </p:nvSpPr>
        <p:spPr>
          <a:xfrm>
            <a:off x="251520" y="787552"/>
            <a:ext cx="8686800" cy="841248"/>
          </a:xfrm>
          <a:effectLst/>
        </p:spPr>
        <p:txBody>
          <a:bodyPr>
            <a:noAutofit/>
          </a:bodyPr>
          <a:p>
            <a:pPr algn="ctr"/>
            <a:r>
              <a:rPr cap="none" dirty="0" sz="2400" lang="fr-FR" smtClean="0">
                <a:effectLst/>
              </a:rPr>
              <a:t>Spectre des Syndromes Myopéricardiques Inflammatoires</a:t>
            </a:r>
            <a:endParaRPr cap="none" dirty="0" sz="2400" lang="fr-FR">
              <a:effectLst/>
            </a:endParaRPr>
          </a:p>
        </p:txBody>
      </p:sp>
      <p:pic>
        <p:nvPicPr>
          <p:cNvPr id="2097153" name="Picture 3"/>
          <p:cNvPicPr>
            <a:picLocks noChangeAspect="1" noChangeArrowheads="1"/>
          </p:cNvPicPr>
          <p:nvPr/>
        </p:nvPicPr>
        <p:blipFill>
          <a:blip xmlns:r="http://schemas.openxmlformats.org/officeDocument/2006/relationships" r:embed="rId1" cstate="print"/>
          <a:srcRect l="196" r="916"/>
          <a:stretch>
            <a:fillRect/>
          </a:stretch>
        </p:blipFill>
        <p:spPr bwMode="auto">
          <a:xfrm>
            <a:off x="755576" y="2132856"/>
            <a:ext cx="7776864" cy="3845703"/>
          </a:xfrm>
          <a:prstGeom prst="rect"/>
          <a:ln>
            <a:noFill/>
          </a:ln>
          <a:effectLst>
            <a:outerShdw algn="tl" blurRad="292100" dir="2700000" dist="139700" rotWithShape="0">
              <a:srgbClr val="333333">
                <a:alpha val="65000"/>
              </a:srgbClr>
            </a:outerShdw>
          </a:effectLst>
        </p:spPr>
      </p:pic>
      <p:sp>
        <p:nvSpPr>
          <p:cNvPr id="1048626" name="ZoneTexte 4"/>
          <p:cNvSpPr txBox="1"/>
          <p:nvPr/>
        </p:nvSpPr>
        <p:spPr>
          <a:xfrm>
            <a:off x="2843808" y="1772816"/>
            <a:ext cx="3744416" cy="369332"/>
          </a:xfrm>
          <a:prstGeom prst="rect"/>
          <a:noFill/>
        </p:spPr>
        <p:txBody>
          <a:bodyPr rtlCol="0" wrap="square">
            <a:spAutoFit/>
          </a:bodyPr>
          <a:p>
            <a:pPr algn="ctr"/>
            <a:r>
              <a:rPr b="1" dirty="0" lang="fr-FR" smtClean="0"/>
              <a:t>Myopéricardite / périmyocardite</a:t>
            </a:r>
            <a:endParaRPr b="1" dirty="0" lang="fr-FR"/>
          </a:p>
        </p:txBody>
      </p:sp>
      <p:sp>
        <p:nvSpPr>
          <p:cNvPr id="1048627" name="ZoneTexte 5"/>
          <p:cNvSpPr txBox="1"/>
          <p:nvPr/>
        </p:nvSpPr>
        <p:spPr>
          <a:xfrm>
            <a:off x="-180528" y="3842464"/>
            <a:ext cx="1656184" cy="369332"/>
          </a:xfrm>
          <a:prstGeom prst="rect"/>
          <a:noFill/>
        </p:spPr>
        <p:txBody>
          <a:bodyPr rtlCol="0" wrap="square">
            <a:spAutoFit/>
          </a:bodyPr>
          <a:p>
            <a:pPr algn="ctr"/>
            <a:r>
              <a:rPr b="1" dirty="0" lang="fr-FR" smtClean="0"/>
              <a:t>Péricardite</a:t>
            </a:r>
            <a:endParaRPr b="1" dirty="0" lang="fr-FR"/>
          </a:p>
        </p:txBody>
      </p:sp>
      <p:sp>
        <p:nvSpPr>
          <p:cNvPr id="1048628" name="ZoneTexte 6"/>
          <p:cNvSpPr txBox="1"/>
          <p:nvPr/>
        </p:nvSpPr>
        <p:spPr>
          <a:xfrm>
            <a:off x="7668344" y="3881035"/>
            <a:ext cx="1656184" cy="369332"/>
          </a:xfrm>
          <a:prstGeom prst="rect"/>
          <a:noFill/>
        </p:spPr>
        <p:txBody>
          <a:bodyPr rtlCol="0" wrap="square">
            <a:spAutoFit/>
          </a:bodyPr>
          <a:p>
            <a:pPr algn="ctr"/>
            <a:r>
              <a:rPr b="1" dirty="0" lang="fr-FR" smtClean="0"/>
              <a:t>Myocardite</a:t>
            </a:r>
            <a:endParaRPr b="1" dirty="0" lang="fr-FR"/>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32" name="ZoneTexte 3"/>
          <p:cNvSpPr txBox="1"/>
          <p:nvPr/>
        </p:nvSpPr>
        <p:spPr>
          <a:xfrm>
            <a:off x="179512" y="1596857"/>
            <a:ext cx="2736304" cy="4193540"/>
          </a:xfrm>
          <a:prstGeom prst="rect"/>
          <a:solidFill>
            <a:srgbClr val="FFFF66"/>
          </a:solidFill>
          <a:ln w="28575">
            <a:solidFill>
              <a:srgbClr val="FFFF66"/>
            </a:solidFill>
          </a:ln>
          <a:effectLst/>
          <a:scene3d>
            <a:camera prst="orthographicFront"/>
            <a:lightRig dir="t" rig="threePt"/>
          </a:scene3d>
          <a:sp3d>
            <a:bevelT prst="convex"/>
          </a:sp3d>
        </p:spPr>
        <p:txBody>
          <a:bodyPr wrap="square">
            <a:spAutoFit/>
          </a:bodyPr>
          <a:p>
            <a:pPr algn="ctr" fontAlgn="auto">
              <a:spcBef>
                <a:spcPts val="0"/>
              </a:spcBef>
              <a:spcAft>
                <a:spcPts val="0"/>
              </a:spcAft>
            </a:pPr>
            <a:r>
              <a:rPr b="1" dirty="0" sz="1600" i="1" lang="fr-FR">
                <a:solidFill>
                  <a:schemeClr val="accent4">
                    <a:lumMod val="10000"/>
                  </a:schemeClr>
                </a:solidFill>
                <a:latin typeface="+mn-lt"/>
                <a:cs typeface="+mn-cs"/>
              </a:rPr>
              <a:t>Virales</a:t>
            </a:r>
          </a:p>
          <a:p>
            <a:pPr fontAlgn="auto">
              <a:spcBef>
                <a:spcPts val="0"/>
              </a:spcBef>
              <a:spcAft>
                <a:spcPts val="0"/>
              </a:spcAft>
            </a:pPr>
            <a:r>
              <a:rPr dirty="0" sz="1600" lang="fr-FR">
                <a:latin typeface="+mn-lt"/>
                <a:cs typeface="+mn-cs"/>
              </a:rPr>
              <a:t>Hte C, Coxsakies, </a:t>
            </a:r>
            <a:r>
              <a:rPr dirty="0" sz="1600" lang="fr-FR" err="1">
                <a:latin typeface="+mn-lt"/>
                <a:cs typeface="+mn-cs"/>
              </a:rPr>
              <a:t>échoV</a:t>
            </a:r>
            <a:endParaRPr dirty="0" sz="1600" lang="fr-FR">
              <a:latin typeface="+mn-lt"/>
              <a:cs typeface="+mn-cs"/>
            </a:endParaRPr>
          </a:p>
          <a:p>
            <a:pPr fontAlgn="auto">
              <a:spcBef>
                <a:spcPts val="0"/>
              </a:spcBef>
              <a:spcAft>
                <a:spcPts val="0"/>
              </a:spcAft>
            </a:pPr>
            <a:r>
              <a:rPr dirty="0" sz="1600" lang="fr-FR">
                <a:latin typeface="+mn-lt"/>
                <a:cs typeface="+mn-cs"/>
              </a:rPr>
              <a:t>Epstein-Barr, oreillons, </a:t>
            </a:r>
            <a:r>
              <a:rPr b="1" dirty="0" sz="1600" lang="fr-FR">
                <a:latin typeface="+mn-lt"/>
                <a:cs typeface="+mn-cs"/>
              </a:rPr>
              <a:t>herpes </a:t>
            </a:r>
            <a:r>
              <a:rPr dirty="0" sz="1600" lang="fr-FR">
                <a:latin typeface="+mn-lt"/>
                <a:cs typeface="+mn-cs"/>
              </a:rPr>
              <a:t>(EBV, CMV</a:t>
            </a:r>
            <a:r>
              <a:rPr dirty="0" sz="1600" lang="fr-FR" smtClean="0">
                <a:latin typeface="+mn-lt"/>
                <a:cs typeface="+mn-cs"/>
              </a:rPr>
              <a:t>) </a:t>
            </a:r>
            <a:r>
              <a:rPr b="1" dirty="0" sz="1600" lang="fr-FR" err="1" smtClean="0">
                <a:latin typeface="+mn-lt"/>
                <a:cs typeface="+mn-cs"/>
              </a:rPr>
              <a:t>enteroV</a:t>
            </a:r>
            <a:r>
              <a:rPr dirty="0" sz="1600" lang="fr-FR" smtClean="0">
                <a:latin typeface="+mn-lt"/>
                <a:cs typeface="+mn-cs"/>
              </a:rPr>
              <a:t>, </a:t>
            </a:r>
            <a:r>
              <a:rPr b="1" dirty="0" sz="1600" lang="fr-FR" err="1" smtClean="0">
                <a:latin typeface="+mn-lt"/>
                <a:cs typeface="+mn-cs"/>
              </a:rPr>
              <a:t>adénoV</a:t>
            </a:r>
            <a:r>
              <a:rPr dirty="0" sz="1600" lang="fr-FR" smtClean="0">
                <a:latin typeface="+mn-lt"/>
                <a:cs typeface="+mn-cs"/>
              </a:rPr>
              <a:t>, </a:t>
            </a:r>
            <a:r>
              <a:rPr b="1" dirty="0" sz="1600" lang="fr-FR" smtClean="0">
                <a:latin typeface="+mn-lt"/>
                <a:cs typeface="+mn-cs"/>
              </a:rPr>
              <a:t>grippe et </a:t>
            </a:r>
            <a:r>
              <a:rPr b="1" dirty="0" sz="1600" lang="fr-FR" err="1" smtClean="0">
                <a:latin typeface="+mn-lt"/>
                <a:cs typeface="+mn-cs"/>
              </a:rPr>
              <a:t>coronaV</a:t>
            </a:r>
            <a:endParaRPr b="1" dirty="0" sz="1600" lang="fr-FR">
              <a:latin typeface="+mn-lt"/>
              <a:cs typeface="+mn-cs"/>
            </a:endParaRPr>
          </a:p>
          <a:p>
            <a:pPr fontAlgn="auto">
              <a:spcBef>
                <a:spcPts val="0"/>
              </a:spcBef>
              <a:spcAft>
                <a:spcPts val="0"/>
              </a:spcAft>
            </a:pPr>
            <a:endParaRPr dirty="0" sz="1600" lang="fr-FR">
              <a:latin typeface="+mn-lt"/>
              <a:cs typeface="+mn-cs"/>
            </a:endParaRPr>
          </a:p>
          <a:p>
            <a:pPr algn="ctr" fontAlgn="auto">
              <a:spcBef>
                <a:spcPts val="0"/>
              </a:spcBef>
              <a:spcAft>
                <a:spcPts val="0"/>
              </a:spcAft>
            </a:pPr>
            <a:r>
              <a:rPr b="1" dirty="0" sz="1600" i="1" lang="fr-FR">
                <a:solidFill>
                  <a:schemeClr val="accent4">
                    <a:lumMod val="10000"/>
                  </a:schemeClr>
                </a:solidFill>
                <a:latin typeface="+mn-lt"/>
                <a:cs typeface="+mn-cs"/>
              </a:rPr>
              <a:t>Bactériennes</a:t>
            </a:r>
          </a:p>
          <a:p>
            <a:pPr fontAlgn="auto">
              <a:spcBef>
                <a:spcPts val="0"/>
              </a:spcBef>
              <a:spcAft>
                <a:spcPts val="0"/>
              </a:spcAft>
            </a:pPr>
            <a:r>
              <a:rPr b="1" dirty="0" sz="1600" lang="fr-FR">
                <a:latin typeface="+mn-lt"/>
                <a:cs typeface="+mn-cs"/>
              </a:rPr>
              <a:t>TBC</a:t>
            </a:r>
            <a:r>
              <a:rPr dirty="0" sz="1600" lang="fr-FR">
                <a:latin typeface="+mn-lt"/>
                <a:cs typeface="+mn-cs"/>
              </a:rPr>
              <a:t>, Pneumo, </a:t>
            </a:r>
            <a:r>
              <a:rPr dirty="0" sz="1600" lang="fr-FR" err="1">
                <a:latin typeface="+mn-lt"/>
                <a:cs typeface="+mn-cs"/>
              </a:rPr>
              <a:t>staphylo</a:t>
            </a:r>
            <a:r>
              <a:rPr dirty="0" sz="1600" lang="fr-FR">
                <a:latin typeface="+mn-lt"/>
                <a:cs typeface="+mn-cs"/>
              </a:rPr>
              <a:t>, </a:t>
            </a:r>
            <a:r>
              <a:rPr dirty="0" sz="1600" lang="fr-FR" err="1">
                <a:latin typeface="+mn-lt"/>
                <a:cs typeface="+mn-cs"/>
              </a:rPr>
              <a:t>strepto</a:t>
            </a:r>
            <a:r>
              <a:rPr dirty="0" sz="1600" lang="fr-FR">
                <a:latin typeface="+mn-lt"/>
                <a:cs typeface="+mn-cs"/>
              </a:rPr>
              <a:t>, </a:t>
            </a:r>
            <a:r>
              <a:rPr dirty="0" sz="1600" lang="fr-FR" smtClean="0">
                <a:latin typeface="+mn-lt"/>
                <a:cs typeface="+mn-cs"/>
              </a:rPr>
              <a:t>gonocoque, </a:t>
            </a:r>
            <a:r>
              <a:rPr b="1" dirty="0" sz="1600" lang="fr-FR" smtClean="0">
                <a:latin typeface="+mn-lt"/>
                <a:cs typeface="+mn-cs"/>
              </a:rPr>
              <a:t>Lyme</a:t>
            </a:r>
            <a:endParaRPr b="1" dirty="0" sz="1600" lang="fr-FR">
              <a:latin typeface="+mn-lt"/>
              <a:cs typeface="+mn-cs"/>
            </a:endParaRPr>
          </a:p>
          <a:p>
            <a:pPr fontAlgn="auto">
              <a:spcBef>
                <a:spcPts val="0"/>
              </a:spcBef>
              <a:spcAft>
                <a:spcPts val="0"/>
              </a:spcAft>
            </a:pPr>
            <a:endParaRPr dirty="0" sz="1600" lang="fr-FR">
              <a:latin typeface="+mn-lt"/>
              <a:cs typeface="+mn-cs"/>
            </a:endParaRPr>
          </a:p>
          <a:p>
            <a:pPr algn="ctr" fontAlgn="auto">
              <a:spcBef>
                <a:spcPts val="0"/>
              </a:spcBef>
              <a:spcAft>
                <a:spcPts val="0"/>
              </a:spcAft>
            </a:pPr>
            <a:r>
              <a:rPr b="1" dirty="0" sz="1600" i="1" lang="fr-FR">
                <a:solidFill>
                  <a:schemeClr val="accent4">
                    <a:lumMod val="10000"/>
                  </a:schemeClr>
                </a:solidFill>
                <a:latin typeface="+mn-lt"/>
                <a:cs typeface="+mn-cs"/>
              </a:rPr>
              <a:t>Fungiques</a:t>
            </a:r>
          </a:p>
          <a:p>
            <a:pPr fontAlgn="auto">
              <a:spcBef>
                <a:spcPts val="0"/>
              </a:spcBef>
              <a:spcAft>
                <a:spcPts val="0"/>
              </a:spcAft>
            </a:pPr>
            <a:r>
              <a:rPr dirty="0" sz="1600" lang="fr-FR">
                <a:latin typeface="+mn-lt"/>
                <a:cs typeface="+mn-cs"/>
              </a:rPr>
              <a:t>Histoplasmose, champignons (candida, aspergillus</a:t>
            </a:r>
            <a:r>
              <a:rPr dirty="0" sz="1600" lang="fr-FR" smtClean="0">
                <a:latin typeface="+mn-lt"/>
                <a:cs typeface="+mn-cs"/>
              </a:rPr>
              <a:t>)</a:t>
            </a:r>
          </a:p>
          <a:p>
            <a:pPr fontAlgn="auto">
              <a:spcBef>
                <a:spcPts val="0"/>
              </a:spcBef>
              <a:spcAft>
                <a:spcPts val="0"/>
              </a:spcAft>
            </a:pPr>
            <a:endParaRPr dirty="0" sz="1600" lang="fr-FR" smtClean="0"/>
          </a:p>
          <a:p>
            <a:pPr algn="ctr" fontAlgn="auto">
              <a:spcBef>
                <a:spcPts val="0"/>
              </a:spcBef>
              <a:spcAft>
                <a:spcPts val="0"/>
              </a:spcAft>
            </a:pPr>
            <a:r>
              <a:rPr b="1" dirty="0" sz="1600" i="1" lang="fr-FR" smtClean="0">
                <a:latin typeface="+mn-lt"/>
                <a:cs typeface="+mn-cs"/>
              </a:rPr>
              <a:t>Parasitaires</a:t>
            </a:r>
          </a:p>
          <a:p>
            <a:pPr fontAlgn="auto">
              <a:spcBef>
                <a:spcPts val="0"/>
              </a:spcBef>
              <a:spcAft>
                <a:spcPts val="0"/>
              </a:spcAft>
            </a:pPr>
            <a:r>
              <a:rPr dirty="0" sz="1600" lang="fr-FR" err="1" smtClean="0"/>
              <a:t>Tripanosomiase</a:t>
            </a:r>
            <a:endParaRPr dirty="0" sz="1400" lang="fr-FR">
              <a:latin typeface="+mn-lt"/>
              <a:cs typeface="+mn-cs"/>
            </a:endParaRPr>
          </a:p>
        </p:txBody>
      </p:sp>
      <p:sp>
        <p:nvSpPr>
          <p:cNvPr id="1048633" name="ZoneTexte 5"/>
          <p:cNvSpPr txBox="1"/>
          <p:nvPr/>
        </p:nvSpPr>
        <p:spPr>
          <a:xfrm>
            <a:off x="6372200" y="1538789"/>
            <a:ext cx="2592288" cy="830997"/>
          </a:xfrm>
          <a:prstGeom prst="rect"/>
          <a:noFill/>
          <a:ln w="28575">
            <a:solidFill>
              <a:srgbClr val="9933FF"/>
            </a:solidFill>
          </a:ln>
          <a:scene3d>
            <a:camera prst="orthographicFront"/>
            <a:lightRig dir="t" rig="threePt"/>
          </a:scene3d>
          <a:sp3d>
            <a:bevelT w="139700" prst="cross"/>
          </a:sp3d>
        </p:spPr>
        <p:txBody>
          <a:bodyPr wrap="square">
            <a:spAutoFit/>
          </a:bodyPr>
          <a:p>
            <a:pPr fontAlgn="auto">
              <a:spcBef>
                <a:spcPts val="0"/>
              </a:spcBef>
              <a:spcAft>
                <a:spcPts val="0"/>
              </a:spcAft>
            </a:pPr>
            <a:r>
              <a:rPr dirty="0" sz="1600" lang="fr-FR">
                <a:latin typeface="+mn-lt"/>
                <a:cs typeface="+mn-cs"/>
              </a:rPr>
              <a:t>RAA, </a:t>
            </a:r>
            <a:r>
              <a:rPr b="1" dirty="0" sz="1600" lang="fr-FR">
                <a:latin typeface="+mn-lt"/>
                <a:cs typeface="+mn-cs"/>
              </a:rPr>
              <a:t>sarcoïdose, </a:t>
            </a:r>
            <a:r>
              <a:rPr b="1" dirty="0" sz="1600" lang="fr-FR" smtClean="0">
                <a:latin typeface="+mn-lt"/>
                <a:cs typeface="+mn-cs"/>
              </a:rPr>
              <a:t>PR, lupus</a:t>
            </a:r>
            <a:r>
              <a:rPr b="1" dirty="0" sz="1600" lang="fr-FR">
                <a:latin typeface="+mn-lt"/>
                <a:cs typeface="+mn-cs"/>
              </a:rPr>
              <a:t>, sclérodermie, </a:t>
            </a:r>
            <a:r>
              <a:rPr dirty="0" sz="1600" lang="fr-FR" err="1">
                <a:latin typeface="+mn-lt"/>
                <a:cs typeface="+mn-cs"/>
              </a:rPr>
              <a:t>Still</a:t>
            </a:r>
            <a:r>
              <a:rPr dirty="0" sz="1600" lang="fr-FR">
                <a:latin typeface="+mn-lt"/>
                <a:cs typeface="+mn-cs"/>
              </a:rPr>
              <a:t>, </a:t>
            </a:r>
            <a:r>
              <a:rPr dirty="0" sz="1600" lang="fr-FR" smtClean="0">
                <a:latin typeface="+mn-lt"/>
                <a:cs typeface="+mn-cs"/>
              </a:rPr>
              <a:t> </a:t>
            </a:r>
            <a:r>
              <a:rPr dirty="0" sz="1600" lang="fr-FR" err="1" smtClean="0">
                <a:latin typeface="+mn-lt"/>
                <a:cs typeface="+mn-cs"/>
              </a:rPr>
              <a:t>éosino</a:t>
            </a:r>
            <a:r>
              <a:rPr dirty="0" sz="1600" lang="fr-FR" smtClean="0">
                <a:latin typeface="+mn-lt"/>
                <a:cs typeface="+mn-cs"/>
              </a:rPr>
              <a:t>, Takayasu</a:t>
            </a:r>
            <a:r>
              <a:rPr dirty="0" sz="1600" lang="fr-FR">
                <a:latin typeface="+mn-lt"/>
                <a:cs typeface="+mn-cs"/>
              </a:rPr>
              <a:t>… </a:t>
            </a:r>
          </a:p>
        </p:txBody>
      </p:sp>
      <p:sp>
        <p:nvSpPr>
          <p:cNvPr id="1048634" name="ZoneTexte 6"/>
          <p:cNvSpPr txBox="1"/>
          <p:nvPr/>
        </p:nvSpPr>
        <p:spPr>
          <a:xfrm>
            <a:off x="6732240" y="2636912"/>
            <a:ext cx="1728192" cy="338554"/>
          </a:xfrm>
          <a:prstGeom prst="rect"/>
          <a:solidFill>
            <a:srgbClr val="FFFF00"/>
          </a:solidFill>
          <a:ln w="38100">
            <a:solidFill>
              <a:srgbClr val="FFFF00"/>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a:latin typeface="+mn-lt"/>
                <a:cs typeface="+mn-cs"/>
              </a:rPr>
              <a:t>Métaboliques</a:t>
            </a:r>
            <a:endParaRPr dirty="0" i="1" lang="fr-FR">
              <a:latin typeface="+mn-lt"/>
              <a:cs typeface="+mn-cs"/>
            </a:endParaRPr>
          </a:p>
        </p:txBody>
      </p:sp>
      <p:sp>
        <p:nvSpPr>
          <p:cNvPr id="1048635" name="ZoneTexte 7"/>
          <p:cNvSpPr txBox="1"/>
          <p:nvPr/>
        </p:nvSpPr>
        <p:spPr>
          <a:xfrm>
            <a:off x="3923928" y="3063151"/>
            <a:ext cx="1872208" cy="584775"/>
          </a:xfrm>
          <a:prstGeom prst="rect"/>
          <a:solidFill>
            <a:srgbClr val="99FF33"/>
          </a:solidFill>
          <a:ln w="38100">
            <a:solidFill>
              <a:srgbClr val="99FF33"/>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a:latin typeface="+mn-lt"/>
                <a:cs typeface="+mn-cs"/>
              </a:rPr>
              <a:t>Traumatiques &amp; iatrogènes</a:t>
            </a:r>
          </a:p>
        </p:txBody>
      </p:sp>
      <p:sp>
        <p:nvSpPr>
          <p:cNvPr id="1048636" name="ZoneTexte 8"/>
          <p:cNvSpPr txBox="1"/>
          <p:nvPr/>
        </p:nvSpPr>
        <p:spPr>
          <a:xfrm>
            <a:off x="3131840" y="3771037"/>
            <a:ext cx="3096344" cy="1297940"/>
          </a:xfrm>
          <a:prstGeom prst="rect"/>
          <a:noFill/>
          <a:ln w="28575">
            <a:solidFill>
              <a:srgbClr val="99FF33"/>
            </a:solidFill>
          </a:ln>
          <a:scene3d>
            <a:camera prst="orthographicFront"/>
            <a:lightRig dir="t" rig="threePt"/>
          </a:scene3d>
          <a:sp3d>
            <a:bevelT prst="convex"/>
          </a:sp3d>
        </p:spPr>
        <p:txBody>
          <a:bodyPr>
            <a:spAutoFit/>
          </a:bodyPr>
          <a:p>
            <a:pPr fontAlgn="auto">
              <a:spcBef>
                <a:spcPts val="0"/>
              </a:spcBef>
              <a:spcAft>
                <a:spcPts val="0"/>
              </a:spcAft>
            </a:pPr>
            <a:r>
              <a:rPr b="1" dirty="0" sz="1600" i="1" lang="fr-FR">
                <a:latin typeface="+mn-lt"/>
                <a:cs typeface="+mn-cs"/>
              </a:rPr>
              <a:t>Précoces</a:t>
            </a:r>
            <a:r>
              <a:rPr dirty="0" sz="1600" lang="fr-FR">
                <a:latin typeface="+mn-lt"/>
                <a:cs typeface="+mn-cs"/>
              </a:rPr>
              <a:t>: traumatisme pénétrant ou non, </a:t>
            </a:r>
            <a:r>
              <a:rPr b="1" dirty="0" sz="1600" lang="fr-FR">
                <a:latin typeface="+mn-lt"/>
                <a:cs typeface="+mn-cs"/>
              </a:rPr>
              <a:t>radiations</a:t>
            </a:r>
            <a:r>
              <a:rPr dirty="0" sz="1600" lang="fr-FR">
                <a:latin typeface="+mn-lt"/>
                <a:cs typeface="+mn-cs"/>
              </a:rPr>
              <a:t>, perforation œsophage</a:t>
            </a:r>
          </a:p>
          <a:p>
            <a:pPr fontAlgn="auto">
              <a:spcBef>
                <a:spcPts val="0"/>
              </a:spcBef>
              <a:spcAft>
                <a:spcPts val="0"/>
              </a:spcAft>
            </a:pPr>
            <a:r>
              <a:rPr b="1" dirty="0" sz="1600" i="1" lang="fr-FR">
                <a:latin typeface="+mn-lt"/>
                <a:cs typeface="+mn-cs"/>
              </a:rPr>
              <a:t>Tardifs</a:t>
            </a:r>
            <a:r>
              <a:rPr dirty="0" sz="1600" lang="fr-FR">
                <a:latin typeface="+mn-lt"/>
                <a:cs typeface="+mn-cs"/>
              </a:rPr>
              <a:t>:  Dressler, trauma, </a:t>
            </a:r>
            <a:r>
              <a:rPr b="1" dirty="0" sz="1600" lang="fr-FR">
                <a:latin typeface="+mn-lt"/>
                <a:cs typeface="+mn-cs"/>
              </a:rPr>
              <a:t>post </a:t>
            </a:r>
            <a:r>
              <a:rPr b="1" dirty="0" sz="1600" lang="fr-FR" err="1" smtClean="0">
                <a:latin typeface="+mn-lt"/>
                <a:cs typeface="+mn-cs"/>
              </a:rPr>
              <a:t>péricardiotomie</a:t>
            </a:r>
            <a:r>
              <a:rPr dirty="0" sz="1600" lang="fr-FR">
                <a:latin typeface="+mn-lt"/>
                <a:cs typeface="+mn-cs"/>
              </a:rPr>
              <a:t>, </a:t>
            </a:r>
            <a:r>
              <a:rPr b="1" dirty="0" sz="1600" lang="fr-FR">
                <a:latin typeface="+mn-lt"/>
                <a:cs typeface="+mn-cs"/>
              </a:rPr>
              <a:t>KT</a:t>
            </a:r>
          </a:p>
        </p:txBody>
      </p:sp>
      <p:sp>
        <p:nvSpPr>
          <p:cNvPr id="1048637" name="ZoneTexte 9"/>
          <p:cNvSpPr txBox="1"/>
          <p:nvPr/>
        </p:nvSpPr>
        <p:spPr>
          <a:xfrm>
            <a:off x="251520" y="980728"/>
            <a:ext cx="2448272" cy="400110"/>
          </a:xfrm>
          <a:prstGeom prst="rect"/>
          <a:noFill/>
          <a:ln w="38100">
            <a:solidFill>
              <a:srgbClr val="C00000"/>
            </a:solidFill>
          </a:ln>
          <a:scene3d>
            <a:camera prst="orthographicFront"/>
            <a:lightRig dir="t" rig="threePt"/>
          </a:scene3d>
          <a:sp3d>
            <a:bevelT w="152400" h="50800" prst="softRound"/>
          </a:sp3d>
        </p:spPr>
        <p:txBody>
          <a:bodyPr>
            <a:spAutoFit/>
          </a:bodyPr>
          <a:p>
            <a:pPr algn="ctr" fontAlgn="auto">
              <a:spcBef>
                <a:spcPts val="0"/>
              </a:spcBef>
              <a:spcAft>
                <a:spcPts val="0"/>
              </a:spcAft>
            </a:pPr>
            <a:r>
              <a:rPr b="1" dirty="0" sz="2000" lang="fr-FR">
                <a:solidFill>
                  <a:srgbClr val="C00000"/>
                </a:solidFill>
                <a:latin typeface="+mn-lt"/>
                <a:cs typeface="+mn-cs"/>
              </a:rPr>
              <a:t>Infectieuses</a:t>
            </a:r>
          </a:p>
        </p:txBody>
      </p:sp>
      <p:sp>
        <p:nvSpPr>
          <p:cNvPr id="1048638" name="ZoneTexte 10"/>
          <p:cNvSpPr txBox="1"/>
          <p:nvPr/>
        </p:nvSpPr>
        <p:spPr>
          <a:xfrm>
            <a:off x="6588224" y="1106741"/>
            <a:ext cx="2016224" cy="338554"/>
          </a:xfrm>
          <a:prstGeom prst="rect"/>
          <a:solidFill>
            <a:srgbClr val="FF0000"/>
          </a:solidFill>
          <a:ln w="38100">
            <a:solidFill>
              <a:srgbClr val="9933FF"/>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a:latin typeface="+mn-lt"/>
                <a:cs typeface="+mn-cs"/>
              </a:rPr>
              <a:t>Auto-immunes</a:t>
            </a:r>
          </a:p>
        </p:txBody>
      </p:sp>
      <p:sp>
        <p:nvSpPr>
          <p:cNvPr id="1048639" name="ZoneTexte 11"/>
          <p:cNvSpPr txBox="1"/>
          <p:nvPr/>
        </p:nvSpPr>
        <p:spPr>
          <a:xfrm>
            <a:off x="6516216" y="3122965"/>
            <a:ext cx="2160240" cy="1077218"/>
          </a:xfrm>
          <a:prstGeom prst="rect"/>
          <a:noFill/>
          <a:ln w="28575">
            <a:solidFill>
              <a:srgbClr val="FFFF00"/>
            </a:solidFill>
          </a:ln>
          <a:scene3d>
            <a:camera prst="orthographicFront"/>
            <a:lightRig dir="t" rig="threePt"/>
          </a:scene3d>
          <a:sp3d>
            <a:bevelT w="101600" prst="riblet"/>
          </a:sp3d>
        </p:spPr>
        <p:txBody>
          <a:bodyPr>
            <a:spAutoFit/>
          </a:bodyPr>
          <a:p>
            <a:pPr fontAlgn="auto">
              <a:spcBef>
                <a:spcPts val="0"/>
              </a:spcBef>
              <a:spcAft>
                <a:spcPts val="0"/>
              </a:spcAft>
            </a:pPr>
            <a:r>
              <a:rPr dirty="0" sz="1600" lang="fr-FR">
                <a:latin typeface="+mn-lt"/>
                <a:cs typeface="+mn-cs"/>
              </a:rPr>
              <a:t>Hyperurémie</a:t>
            </a:r>
          </a:p>
          <a:p>
            <a:pPr fontAlgn="auto">
              <a:spcBef>
                <a:spcPts val="0"/>
              </a:spcBef>
              <a:spcAft>
                <a:spcPts val="0"/>
              </a:spcAft>
            </a:pPr>
            <a:r>
              <a:rPr dirty="0" sz="1600" lang="fr-FR">
                <a:latin typeface="+mn-lt"/>
                <a:cs typeface="+mn-cs"/>
              </a:rPr>
              <a:t>Hypothyroïdie</a:t>
            </a:r>
          </a:p>
          <a:p>
            <a:pPr fontAlgn="auto">
              <a:spcBef>
                <a:spcPts val="0"/>
              </a:spcBef>
              <a:spcAft>
                <a:spcPts val="0"/>
              </a:spcAft>
            </a:pPr>
            <a:r>
              <a:rPr dirty="0" sz="1600" lang="fr-FR">
                <a:latin typeface="+mn-lt"/>
                <a:cs typeface="+mn-cs"/>
              </a:rPr>
              <a:t>Anorexie mentale</a:t>
            </a:r>
          </a:p>
          <a:p>
            <a:pPr fontAlgn="auto">
              <a:spcBef>
                <a:spcPts val="0"/>
              </a:spcBef>
              <a:spcAft>
                <a:spcPts val="0"/>
              </a:spcAft>
            </a:pPr>
            <a:r>
              <a:rPr dirty="0" sz="1600" lang="fr-FR" smtClean="0">
                <a:latin typeface="+mn-lt"/>
                <a:cs typeface="+mn-cs"/>
              </a:rPr>
              <a:t>Idiopathique, </a:t>
            </a:r>
            <a:endParaRPr dirty="0" sz="1600" lang="fr-FR">
              <a:latin typeface="+mn-lt"/>
              <a:cs typeface="+mn-cs"/>
            </a:endParaRPr>
          </a:p>
        </p:txBody>
      </p:sp>
      <p:sp>
        <p:nvSpPr>
          <p:cNvPr id="1048640" name="ZoneTexte 12"/>
          <p:cNvSpPr txBox="1"/>
          <p:nvPr/>
        </p:nvSpPr>
        <p:spPr>
          <a:xfrm>
            <a:off x="3059832" y="188640"/>
            <a:ext cx="2376264" cy="461665"/>
          </a:xfrm>
          <a:prstGeom prst="rect"/>
          <a:solidFill>
            <a:srgbClr val="D9F5FF"/>
          </a:solidFill>
          <a:ln w="38100">
            <a:solidFill>
              <a:srgbClr val="6D98DD"/>
            </a:solidFill>
          </a:ln>
        </p:spPr>
        <p:txBody>
          <a:bodyPr wrap="square">
            <a:spAutoFit/>
          </a:bodyPr>
          <a:p>
            <a:pPr algn="ctr" fontAlgn="auto">
              <a:spcBef>
                <a:spcPts val="0"/>
              </a:spcBef>
              <a:spcAft>
                <a:spcPts val="0"/>
              </a:spcAft>
            </a:pPr>
            <a:r>
              <a:rPr dirty="0" sz="2400" lang="fr-FR" smtClean="0">
                <a:solidFill>
                  <a:srgbClr val="FF9900"/>
                </a:solidFill>
                <a:latin typeface="+mn-lt"/>
                <a:cs typeface="Times New Roman" pitchFamily="18" charset="0"/>
              </a:rPr>
              <a:t>III- ÉTIOLOGIES</a:t>
            </a:r>
          </a:p>
        </p:txBody>
      </p:sp>
      <p:sp>
        <p:nvSpPr>
          <p:cNvPr id="1048641" name="ZoneTexte 14"/>
          <p:cNvSpPr txBox="1"/>
          <p:nvPr/>
        </p:nvSpPr>
        <p:spPr>
          <a:xfrm>
            <a:off x="6228184" y="404664"/>
            <a:ext cx="2448272" cy="400110"/>
          </a:xfrm>
          <a:prstGeom prst="rect"/>
          <a:noFill/>
          <a:ln w="38100">
            <a:solidFill>
              <a:srgbClr val="C00000"/>
            </a:solidFill>
          </a:ln>
          <a:scene3d>
            <a:camera prst="orthographicFront"/>
            <a:lightRig dir="t" rig="threePt"/>
          </a:scene3d>
          <a:sp3d>
            <a:bevelT w="152400" h="50800" prst="softRound"/>
          </a:sp3d>
        </p:spPr>
        <p:txBody>
          <a:bodyPr>
            <a:spAutoFit/>
          </a:bodyPr>
          <a:p>
            <a:pPr algn="ctr" fontAlgn="auto">
              <a:spcBef>
                <a:spcPts val="0"/>
              </a:spcBef>
              <a:spcAft>
                <a:spcPts val="0"/>
              </a:spcAft>
            </a:pPr>
            <a:r>
              <a:rPr b="1" dirty="0" sz="2000" lang="fr-FR">
                <a:solidFill>
                  <a:srgbClr val="C00000"/>
                </a:solidFill>
                <a:latin typeface="+mn-lt"/>
                <a:cs typeface="+mn-cs"/>
              </a:rPr>
              <a:t>Non Infectieuses</a:t>
            </a:r>
          </a:p>
        </p:txBody>
      </p:sp>
      <p:sp>
        <p:nvSpPr>
          <p:cNvPr id="1048642" name="ZoneTexte 15"/>
          <p:cNvSpPr txBox="1"/>
          <p:nvPr/>
        </p:nvSpPr>
        <p:spPr>
          <a:xfrm>
            <a:off x="3995936" y="1466781"/>
            <a:ext cx="1728192" cy="338554"/>
          </a:xfrm>
          <a:prstGeom prst="rect"/>
          <a:solidFill>
            <a:srgbClr val="FF9900"/>
          </a:solidFill>
          <a:ln w="38100">
            <a:solidFill>
              <a:srgbClr val="FF9900"/>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a:latin typeface="+mn-lt"/>
                <a:cs typeface="+mn-cs"/>
              </a:rPr>
              <a:t>Néoplasiques</a:t>
            </a:r>
          </a:p>
        </p:txBody>
      </p:sp>
      <p:sp>
        <p:nvSpPr>
          <p:cNvPr id="1048643" name="ZoneTexte 16"/>
          <p:cNvSpPr txBox="1"/>
          <p:nvPr/>
        </p:nvSpPr>
        <p:spPr>
          <a:xfrm>
            <a:off x="3131840" y="1898829"/>
            <a:ext cx="3096344" cy="830997"/>
          </a:xfrm>
          <a:prstGeom prst="rect"/>
          <a:noFill/>
          <a:ln w="28575">
            <a:solidFill>
              <a:srgbClr val="FF9900"/>
            </a:solidFill>
          </a:ln>
          <a:scene3d>
            <a:camera prst="orthographicFront"/>
            <a:lightRig dir="t" rig="threePt"/>
          </a:scene3d>
          <a:sp3d>
            <a:bevelT prst="convex"/>
          </a:sp3d>
        </p:spPr>
        <p:txBody>
          <a:bodyPr>
            <a:spAutoFit/>
          </a:bodyPr>
          <a:p>
            <a:pPr fontAlgn="auto">
              <a:spcBef>
                <a:spcPts val="0"/>
              </a:spcBef>
              <a:spcAft>
                <a:spcPts val="0"/>
              </a:spcAft>
            </a:pPr>
            <a:r>
              <a:rPr dirty="0" sz="1600" lang="fr-FR">
                <a:latin typeface="+mn-lt"/>
                <a:cs typeface="+mn-cs"/>
              </a:rPr>
              <a:t>Primitives (rares)</a:t>
            </a:r>
          </a:p>
          <a:p>
            <a:pPr fontAlgn="auto">
              <a:spcBef>
                <a:spcPts val="0"/>
              </a:spcBef>
              <a:spcAft>
                <a:spcPts val="0"/>
              </a:spcAft>
            </a:pPr>
            <a:r>
              <a:rPr dirty="0" sz="1600" lang="fr-FR" u="sng">
                <a:latin typeface="+mn-lt"/>
                <a:cs typeface="+mn-cs"/>
              </a:rPr>
              <a:t>Métastatiques</a:t>
            </a:r>
            <a:r>
              <a:rPr dirty="0" sz="1600" lang="fr-FR">
                <a:latin typeface="+mn-lt"/>
                <a:cs typeface="+mn-cs"/>
              </a:rPr>
              <a:t>: sein, poumon, lymphome, leucémie</a:t>
            </a:r>
          </a:p>
        </p:txBody>
      </p:sp>
      <p:sp>
        <p:nvSpPr>
          <p:cNvPr id="1048644" name="ZoneTexte 18"/>
          <p:cNvSpPr txBox="1"/>
          <p:nvPr/>
        </p:nvSpPr>
        <p:spPr>
          <a:xfrm>
            <a:off x="6588224" y="4491117"/>
            <a:ext cx="2232248" cy="574039"/>
          </a:xfrm>
          <a:prstGeom prst="rect"/>
          <a:solidFill>
            <a:srgbClr val="FF7C80"/>
          </a:solidFill>
          <a:ln w="38100">
            <a:solidFill>
              <a:srgbClr val="FF7C80"/>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smtClean="0">
                <a:latin typeface="+mn-lt"/>
                <a:cs typeface="+mn-cs"/>
              </a:rPr>
              <a:t>Médicaments, toxiques</a:t>
            </a:r>
            <a:endParaRPr dirty="0" sz="1600" i="1" lang="fr-FR">
              <a:latin typeface="+mn-lt"/>
              <a:cs typeface="+mn-cs"/>
            </a:endParaRPr>
          </a:p>
        </p:txBody>
      </p:sp>
      <p:sp>
        <p:nvSpPr>
          <p:cNvPr id="1048645" name="ZoneTexte 19"/>
          <p:cNvSpPr txBox="1"/>
          <p:nvPr/>
        </p:nvSpPr>
        <p:spPr>
          <a:xfrm>
            <a:off x="6516216" y="4923165"/>
            <a:ext cx="2376264" cy="1158240"/>
          </a:xfrm>
          <a:prstGeom prst="rect"/>
          <a:noFill/>
          <a:ln w="28575">
            <a:solidFill>
              <a:srgbClr val="FF7C80"/>
            </a:solidFill>
          </a:ln>
          <a:scene3d>
            <a:camera prst="orthographicFront"/>
            <a:lightRig dir="t" rig="threePt"/>
          </a:scene3d>
          <a:sp3d>
            <a:bevelT prst="convex"/>
          </a:sp3d>
        </p:spPr>
        <p:txBody>
          <a:bodyPr>
            <a:spAutoFit/>
          </a:bodyPr>
          <a:p>
            <a:r>
              <a:rPr dirty="0" lang="fr-FR" smtClean="0">
                <a:latin typeface="+mn-lt"/>
                <a:cs typeface="+mn-cs"/>
              </a:rPr>
              <a:t>INH</a:t>
            </a:r>
            <a:r>
              <a:rPr dirty="0" lang="fr-FR">
                <a:latin typeface="+mn-lt"/>
                <a:cs typeface="+mn-cs"/>
              </a:rPr>
              <a:t>, antimitotiques, amiodarone, vaccins, </a:t>
            </a:r>
            <a:r>
              <a:rPr dirty="0" sz="1600" lang="fr-FR">
                <a:latin typeface="+mn-lt"/>
                <a:cs typeface="+mn-cs"/>
              </a:rPr>
              <a:t>phénylbutazone</a:t>
            </a:r>
            <a:r>
              <a:rPr dirty="0" lang="fr-FR">
                <a:latin typeface="+mn-lt"/>
                <a:cs typeface="+mn-cs"/>
              </a:rPr>
              <a:t> </a:t>
            </a:r>
            <a:r>
              <a:rPr dirty="0" lang="fr-FR" smtClean="0"/>
              <a:t>alcool ..</a:t>
            </a:r>
          </a:p>
        </p:txBody>
      </p:sp>
      <p:sp>
        <p:nvSpPr>
          <p:cNvPr id="1048646" name="ZoneTexte 20"/>
          <p:cNvSpPr txBox="1"/>
          <p:nvPr/>
        </p:nvSpPr>
        <p:spPr>
          <a:xfrm>
            <a:off x="3779912" y="5713512"/>
            <a:ext cx="2088232" cy="891540"/>
          </a:xfrm>
          <a:prstGeom prst="rect"/>
          <a:noFill/>
          <a:ln w="28575">
            <a:solidFill>
              <a:srgbClr val="66FFCC"/>
            </a:solidFill>
          </a:ln>
          <a:scene3d>
            <a:camera prst="orthographicFront"/>
            <a:lightRig dir="t" rig="threePt"/>
          </a:scene3d>
          <a:sp3d>
            <a:bevelT prst="convex"/>
          </a:sp3d>
        </p:spPr>
        <p:txBody>
          <a:bodyPr>
            <a:spAutoFit/>
          </a:bodyPr>
          <a:p>
            <a:pPr fontAlgn="auto">
              <a:spcBef>
                <a:spcPts val="0"/>
              </a:spcBef>
              <a:spcAft>
                <a:spcPts val="0"/>
              </a:spcAft>
            </a:pPr>
            <a:r>
              <a:rPr dirty="0" lang="fr-FR">
                <a:latin typeface="+mn-lt"/>
                <a:cs typeface="+mn-cs"/>
              </a:rPr>
              <a:t>Dissection </a:t>
            </a:r>
            <a:r>
              <a:rPr dirty="0" sz="1600" lang="fr-FR">
                <a:latin typeface="+mn-lt"/>
                <a:cs typeface="+mn-cs"/>
              </a:rPr>
              <a:t>aorte</a:t>
            </a:r>
            <a:endParaRPr dirty="0" lang="fr-FR">
              <a:latin typeface="+mn-lt"/>
              <a:cs typeface="+mn-cs"/>
            </a:endParaRPr>
          </a:p>
          <a:p>
            <a:pPr fontAlgn="auto">
              <a:spcBef>
                <a:spcPts val="0"/>
              </a:spcBef>
              <a:spcAft>
                <a:spcPts val="0"/>
              </a:spcAft>
            </a:pPr>
            <a:r>
              <a:rPr dirty="0" lang="fr-FR">
                <a:latin typeface="+mn-lt"/>
                <a:cs typeface="+mn-cs"/>
              </a:rPr>
              <a:t>HTAP, IC chronique</a:t>
            </a:r>
          </a:p>
        </p:txBody>
      </p:sp>
      <p:sp>
        <p:nvSpPr>
          <p:cNvPr id="1048647" name="ZoneTexte 21"/>
          <p:cNvSpPr txBox="1"/>
          <p:nvPr/>
        </p:nvSpPr>
        <p:spPr>
          <a:xfrm>
            <a:off x="4283968" y="5301208"/>
            <a:ext cx="1080120" cy="338554"/>
          </a:xfrm>
          <a:prstGeom prst="rect"/>
          <a:solidFill>
            <a:srgbClr val="66FFCC"/>
          </a:solidFill>
          <a:ln w="38100">
            <a:solidFill>
              <a:srgbClr val="66FFCC"/>
            </a:solidFill>
          </a:ln>
          <a:scene3d>
            <a:camera prst="orthographicFront"/>
            <a:lightRig dir="t" rig="threePt"/>
          </a:scene3d>
          <a:sp3d>
            <a:bevelT w="114300" prst="hardEdge"/>
          </a:sp3d>
        </p:spPr>
        <p:txBody>
          <a:bodyPr>
            <a:spAutoFit/>
          </a:bodyPr>
          <a:p>
            <a:pPr algn="ctr" fontAlgn="auto">
              <a:spcBef>
                <a:spcPts val="0"/>
              </a:spcBef>
              <a:spcAft>
                <a:spcPts val="0"/>
              </a:spcAft>
            </a:pPr>
            <a:r>
              <a:rPr dirty="0" sz="1600" i="1" lang="fr-FR">
                <a:latin typeface="+mn-lt"/>
                <a:cs typeface="+mn-cs"/>
              </a:rPr>
              <a:t>Autres</a:t>
            </a:r>
          </a:p>
        </p:txBody>
      </p:sp>
      <p:cxnSp>
        <p:nvCxnSpPr>
          <p:cNvPr id="3145728" name="Connecteur en angle 29"/>
          <p:cNvCxnSpPr>
            <a:cxnSpLocks/>
          </p:cNvCxnSpPr>
          <p:nvPr/>
        </p:nvCxnSpPr>
        <p:spPr bwMode="auto">
          <a:xfrm rot="5400000">
            <a:off x="2484438" y="404664"/>
            <a:ext cx="503386" cy="503386"/>
          </a:xfrm>
          <a:prstGeom prst="bentConnector3">
            <a:avLst>
              <a:gd name="adj1" fmla="val -1901"/>
            </a:avLst>
          </a:prstGeom>
          <a:noFill/>
          <a:ln w="28575" cap="flat" cmpd="sng" algn="ctr">
            <a:solidFill>
              <a:schemeClr val="accent4">
                <a:lumMod val="10000"/>
              </a:schemeClr>
            </a:solidFill>
            <a:prstDash val="sysDash"/>
            <a:round/>
            <a:headEnd type="none" w="med" len="med"/>
            <a:tailEnd type="arrow"/>
          </a:ln>
          <a:effectLst/>
        </p:spPr>
      </p:cxnSp>
      <p:cxnSp>
        <p:nvCxnSpPr>
          <p:cNvPr id="3145729" name="Connecteur en angle 34"/>
          <p:cNvCxnSpPr>
            <a:cxnSpLocks/>
          </p:cNvCxnSpPr>
          <p:nvPr/>
        </p:nvCxnSpPr>
        <p:spPr bwMode="auto">
          <a:xfrm>
            <a:off x="5508625" y="549275"/>
            <a:ext cx="647700" cy="0"/>
          </a:xfrm>
          <a:prstGeom prst="bentConnector3">
            <a:avLst>
              <a:gd name="adj1" fmla="val 50000"/>
            </a:avLst>
          </a:prstGeom>
          <a:noFill/>
          <a:ln w="28575" cap="flat" cmpd="sng" algn="ctr">
            <a:solidFill>
              <a:schemeClr val="accent4">
                <a:lumMod val="10000"/>
              </a:schemeClr>
            </a:solidFill>
            <a:prstDash val="sysDash"/>
            <a:round/>
            <a:headEnd type="none" w="med" len="med"/>
            <a:tailEnd type="arrow"/>
          </a:ln>
          <a:effectLst/>
        </p:spPr>
      </p:cxnSp>
      <p:sp>
        <p:nvSpPr>
          <p:cNvPr id="1048648" name="ZoneTexte 22"/>
          <p:cNvSpPr txBox="1"/>
          <p:nvPr/>
        </p:nvSpPr>
        <p:spPr>
          <a:xfrm>
            <a:off x="3131840" y="653787"/>
            <a:ext cx="2592288" cy="1056640"/>
          </a:xfrm>
          <a:prstGeom prst="rect"/>
          <a:noFill/>
        </p:spPr>
        <p:txBody>
          <a:bodyPr rtlCol="0" wrap="square">
            <a:spAutoFit/>
          </a:bodyPr>
          <a:p>
            <a:r>
              <a:rPr b="1" dirty="0" sz="1600" i="1" lang="fr-FR" smtClean="0">
                <a:solidFill>
                  <a:schemeClr val="tx1">
                    <a:lumMod val="95000"/>
                    <a:lumOff val="5000"/>
                  </a:schemeClr>
                </a:solidFill>
                <a:cs typeface="Times New Roman" pitchFamily="18" charset="0"/>
              </a:rPr>
              <a:t> - Contexte </a:t>
            </a:r>
            <a:r>
              <a:rPr b="1" dirty="0" sz="1600" i="1" lang="fr-FR" err="1" smtClean="0">
                <a:solidFill>
                  <a:schemeClr val="tx1">
                    <a:lumMod val="95000"/>
                    <a:lumOff val="5000"/>
                  </a:schemeClr>
                </a:solidFill>
                <a:cs typeface="Times New Roman" pitchFamily="18" charset="0"/>
              </a:rPr>
              <a:t>épidémio</a:t>
            </a:r>
            <a:r>
              <a:rPr b="1" dirty="0" sz="1600" i="1" lang="fr-FR" smtClean="0">
                <a:solidFill>
                  <a:schemeClr val="tx1">
                    <a:lumMod val="95000"/>
                    <a:lumOff val="5000"/>
                  </a:schemeClr>
                </a:solidFill>
                <a:cs typeface="Times New Roman" pitchFamily="18" charset="0"/>
              </a:rPr>
              <a:t> – </a:t>
            </a:r>
          </a:p>
          <a:p>
            <a:r>
              <a:rPr b="1" dirty="0" sz="1600" i="1" lang="fr-FR" smtClean="0">
                <a:solidFill>
                  <a:schemeClr val="tx1">
                    <a:lumMod val="95000"/>
                    <a:lumOff val="5000"/>
                  </a:schemeClr>
                </a:solidFill>
                <a:cs typeface="Times New Roman" pitchFamily="18" charset="0"/>
              </a:rPr>
              <a:t> - prédisposition génétique- </a:t>
            </a:r>
            <a:endParaRPr dirty="0" sz="1600" i="1" lang="fr-FR" smtClean="0">
              <a:solidFill>
                <a:schemeClr val="tx1">
                  <a:lumMod val="95000"/>
                  <a:lumOff val="5000"/>
                </a:schemeClr>
              </a:solidFill>
            </a:endParaRPr>
          </a:p>
          <a:p>
            <a:endParaRPr dirty="0" sz="1600" lang="fr-FR"/>
          </a:p>
        </p:txBody>
      </p:sp>
    </p:spTree>
  </p:cSld>
  <p:clrMapOvr>
    <a:masterClrMapping/>
  </p:clrMapOvr>
  <p:transition>
    <p:dissolve/>
  </p:transition>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pic>
        <p:nvPicPr>
          <p:cNvPr id="2097154" name="Picture 2"/>
          <p:cNvPicPr>
            <a:picLocks noChangeAspect="1" noChangeArrowheads="1"/>
          </p:cNvPicPr>
          <p:nvPr/>
        </p:nvPicPr>
        <p:blipFill>
          <a:blip xmlns:r="http://schemas.openxmlformats.org/officeDocument/2006/relationships" r:embed="rId1" cstate="print"/>
          <a:srcRect/>
          <a:stretch>
            <a:fillRect/>
          </a:stretch>
        </p:blipFill>
        <p:spPr bwMode="auto">
          <a:xfrm>
            <a:off x="119063" y="908720"/>
            <a:ext cx="8905875" cy="5472608"/>
          </a:xfrm>
          <a:prstGeom prst="rect"/>
          <a:ln>
            <a:noFill/>
          </a:ln>
          <a:effectLst>
            <a:outerShdw algn="tl" blurRad="292100" dir="2700000" dist="139700" rotWithShape="0">
              <a:srgbClr val="333333">
                <a:alpha val="65000"/>
              </a:srgbClr>
            </a:outerShdw>
          </a:effectLst>
        </p:spPr>
      </p:pic>
      <p:sp>
        <p:nvSpPr>
          <p:cNvPr id="1048652" name="ZoneTexte 4"/>
          <p:cNvSpPr txBox="1"/>
          <p:nvPr/>
        </p:nvSpPr>
        <p:spPr>
          <a:xfrm>
            <a:off x="7431111" y="6433591"/>
            <a:ext cx="957313" cy="307777"/>
          </a:xfrm>
          <a:prstGeom prst="rect"/>
          <a:noFill/>
        </p:spPr>
        <p:txBody>
          <a:bodyPr rtlCol="0" wrap="none">
            <a:spAutoFit/>
          </a:bodyPr>
          <a:p>
            <a:r>
              <a:rPr b="1" dirty="0" sz="1400" lang="fr-FR" smtClean="0"/>
              <a:t>ESC 2025</a:t>
            </a:r>
            <a:endParaRPr b="1" dirty="0" sz="1400" lang="fr-FR"/>
          </a:p>
        </p:txBody>
      </p:sp>
      <p:sp>
        <p:nvSpPr>
          <p:cNvPr id="1048653" name="Titre 1"/>
          <p:cNvSpPr>
            <a:spLocks noGrp="1"/>
          </p:cNvSpPr>
          <p:nvPr>
            <p:ph type="title"/>
          </p:nvPr>
        </p:nvSpPr>
        <p:spPr>
          <a:xfrm>
            <a:off x="301625" y="44624"/>
            <a:ext cx="8686800" cy="841375"/>
          </a:xfrm>
        </p:spPr>
        <p:txBody>
          <a:bodyPr>
            <a:normAutofit fontScale="95833"/>
          </a:bodyPr>
          <a:p>
            <a:pPr algn="ctr" eaLnBrk="1" fontAlgn="auto" hangingPunct="1">
              <a:spcAft>
                <a:spcPts val="0"/>
              </a:spcAft>
            </a:pPr>
            <a:r>
              <a:rPr dirty="0" sz="2400" lang="fr-FR" smtClean="0">
                <a:solidFill>
                  <a:srgbClr val="FF9900"/>
                </a:solidFill>
                <a:effectLst/>
                <a:latin typeface="+mn-lt"/>
              </a:rPr>
              <a:t>IV- SYMPTÔMES GÉNÉRAUX - diagnostic CLINIQUE des SMPI</a:t>
            </a:r>
            <a:br>
              <a:rPr dirty="0" sz="2400" lang="fr-FR" smtClean="0">
                <a:solidFill>
                  <a:srgbClr val="FF9900"/>
                </a:solidFill>
                <a:effectLst/>
                <a:latin typeface="+mn-lt"/>
              </a:rPr>
            </a:br>
            <a:r>
              <a:rPr dirty="0" sz="2400" lang="fr-FR" smtClean="0">
                <a:solidFill>
                  <a:srgbClr val="FF9900"/>
                </a:solidFill>
                <a:effectLst/>
                <a:latin typeface="+mn-lt"/>
              </a:rPr>
              <a:t>« red flags »</a:t>
            </a:r>
            <a:endParaRPr dirty="0" sz="2400" lang="fr-FR">
              <a:solidFill>
                <a:srgbClr val="FF9900"/>
              </a:solidFill>
              <a:effectLst/>
              <a:latin typeface="+mn-lt"/>
            </a:endParaRPr>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pic>
        <p:nvPicPr>
          <p:cNvPr id="2097155" name="Picture 2"/>
          <p:cNvPicPr>
            <a:picLocks noChangeAspect="1" noChangeArrowheads="1"/>
          </p:cNvPicPr>
          <p:nvPr/>
        </p:nvPicPr>
        <p:blipFill>
          <a:blip xmlns:r="http://schemas.openxmlformats.org/officeDocument/2006/relationships" r:embed="rId1" cstate="print">
            <a:lum bright="-10000"/>
          </a:blip>
          <a:srcRect/>
          <a:stretch>
            <a:fillRect/>
          </a:stretch>
        </p:blipFill>
        <p:spPr bwMode="auto">
          <a:xfrm>
            <a:off x="107504" y="692696"/>
            <a:ext cx="8945438" cy="5832648"/>
          </a:xfrm>
          <a:prstGeom prst="rect"/>
          <a:ln>
            <a:noFill/>
          </a:ln>
          <a:effectLst>
            <a:outerShdw algn="tl" blurRad="292100" dir="2700000" dist="139700" rotWithShape="0">
              <a:srgbClr val="333333">
                <a:alpha val="65000"/>
              </a:srgbClr>
            </a:outerShdw>
          </a:effectLst>
        </p:spPr>
      </p:pic>
      <p:sp>
        <p:nvSpPr>
          <p:cNvPr id="1048657" name="ZoneTexte 3"/>
          <p:cNvSpPr txBox="1"/>
          <p:nvPr/>
        </p:nvSpPr>
        <p:spPr>
          <a:xfrm>
            <a:off x="7452320" y="6546830"/>
            <a:ext cx="1064715" cy="338554"/>
          </a:xfrm>
          <a:prstGeom prst="rect"/>
          <a:noFill/>
        </p:spPr>
        <p:txBody>
          <a:bodyPr rtlCol="0" wrap="none">
            <a:spAutoFit/>
          </a:bodyPr>
          <a:p>
            <a:r>
              <a:rPr b="1" dirty="0" sz="1600" lang="fr-FR" smtClean="0"/>
              <a:t>ESC 2025</a:t>
            </a:r>
            <a:endParaRPr b="1" dirty="0" sz="1600" lang="fr-FR"/>
          </a:p>
        </p:txBody>
      </p:sp>
      <p:sp>
        <p:nvSpPr>
          <p:cNvPr id="1048658" name="Titre 1"/>
          <p:cNvSpPr>
            <a:spLocks noGrp="1"/>
          </p:cNvSpPr>
          <p:nvPr>
            <p:ph type="title"/>
          </p:nvPr>
        </p:nvSpPr>
        <p:spPr>
          <a:xfrm>
            <a:off x="301625" y="-100013"/>
            <a:ext cx="8686800" cy="841376"/>
          </a:xfrm>
        </p:spPr>
        <p:txBody>
          <a:bodyPr>
            <a:normAutofit/>
          </a:bodyPr>
          <a:p>
            <a:pPr algn="ctr" eaLnBrk="1" fontAlgn="auto" hangingPunct="1">
              <a:spcAft>
                <a:spcPts val="0"/>
              </a:spcAft>
            </a:pPr>
            <a:r>
              <a:rPr dirty="0" sz="2800" lang="fr-FR" smtClean="0">
                <a:solidFill>
                  <a:srgbClr val="FF9900"/>
                </a:solidFill>
                <a:effectLst/>
                <a:latin typeface="+mn-lt"/>
              </a:rPr>
              <a:t>V- STRATIFICATION DU RISQUE</a:t>
            </a:r>
            <a:endParaRPr dirty="0" sz="2800" lang="fr-FR">
              <a:solidFill>
                <a:srgbClr val="FF9900"/>
              </a:solidFill>
              <a:effectLst/>
              <a:latin typeface="+mn-lt"/>
            </a:endParaRPr>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81" name=""/>
        <p:cNvGrpSpPr/>
        <p:nvPr/>
      </p:nvGrpSpPr>
      <p:grpSpPr>
        <a:xfrm>
          <a:off x="0" y="0"/>
          <a:ext cx="0" cy="0"/>
          <a:chOff x="0" y="0"/>
          <a:chExt cx="0" cy="0"/>
        </a:xfrm>
      </p:grpSpPr>
      <p:sp>
        <p:nvSpPr>
          <p:cNvPr id="1048662" name="Titre 1"/>
          <p:cNvSpPr>
            <a:spLocks noGrp="1"/>
          </p:cNvSpPr>
          <p:nvPr>
            <p:ph type="title"/>
          </p:nvPr>
        </p:nvSpPr>
        <p:spPr>
          <a:xfrm>
            <a:off x="251520" y="44624"/>
            <a:ext cx="8686800" cy="841248"/>
          </a:xfrm>
        </p:spPr>
        <p:txBody>
          <a:bodyPr/>
          <a:p>
            <a:r>
              <a:rPr dirty="0" lang="fr-FR" smtClean="0"/>
              <a:t> 3 mi</a:t>
            </a:r>
            <a:endParaRPr dirty="0" lang="fr-FR"/>
          </a:p>
        </p:txBody>
      </p:sp>
      <p:graphicFrame>
        <p:nvGraphicFramePr>
          <p:cNvPr id="4194304" name="Tableau 2"/>
          <p:cNvGraphicFramePr>
            <a:graphicFrameLocks noGrp="1"/>
          </p:cNvGraphicFramePr>
          <p:nvPr/>
        </p:nvGraphicFramePr>
        <p:xfrm>
          <a:off x="35496" y="69696"/>
          <a:ext cx="9036496" cy="6599664"/>
        </p:xfrm>
        <a:graphic>
          <a:graphicData uri="http://schemas.openxmlformats.org/drawingml/2006/table">
            <a:tbl>
              <a:tblPr firstRow="1" bandRow="1">
                <a:effectLst>
                  <a:outerShdw algn="bl" blurRad="50800" dir="18900000" dist="38100" rotWithShape="0">
                    <a:prstClr val="black">
                      <a:alpha val="40000"/>
                    </a:prstClr>
                  </a:outerShdw>
                </a:effectLst>
                <a:tableStyleId>{6E25E649-3F16-4E02-A733-19D2CDBF48F0}</a:tableStyleId>
              </a:tblPr>
              <a:tblGrid>
                <a:gridCol w="1975703"/>
                <a:gridCol w="7060793"/>
              </a:tblGrid>
              <a:tr h="432048">
                <a:tc>
                  <a:txBody>
                    <a:bodyPr/>
                    <a:p>
                      <a:pPr algn="ctr"/>
                      <a:r>
                        <a:rPr dirty="0" lang="fr-FR" smtClean="0"/>
                        <a:t>TERMINOLOGIE</a:t>
                      </a:r>
                      <a:endParaRPr dirty="0" lang="fr-FR"/>
                    </a:p>
                  </a:txBody>
                </a:tc>
                <a:tc>
                  <a:txBody>
                    <a:bodyPr/>
                    <a:p>
                      <a:pPr algn="ctr"/>
                      <a:r>
                        <a:rPr dirty="0" lang="fr-FR" smtClean="0"/>
                        <a:t>DÉFINITION (formes évolutives)</a:t>
                      </a:r>
                      <a:endParaRPr dirty="0" lang="fr-FR"/>
                    </a:p>
                  </a:txBody>
                </a:tc>
              </a:tr>
              <a:tr h="432048">
                <a:tc>
                  <a:txBody>
                    <a:bodyPr/>
                    <a:p>
                      <a:r>
                        <a:rPr dirty="0" sz="1400" lang="fr-FR" smtClean="0"/>
                        <a:t>Myopéricardite</a:t>
                      </a:r>
                      <a:endParaRPr dirty="0" sz="1400" lang="fr-FR"/>
                    </a:p>
                  </a:txBody>
                </a:tc>
                <a:tc>
                  <a:txBody>
                    <a:bodyPr/>
                    <a:p>
                      <a:r>
                        <a:rPr dirty="0" sz="1400" lang="fr-FR" smtClean="0"/>
                        <a:t>Péricardite prédominante</a:t>
                      </a:r>
                      <a:endParaRPr dirty="0" sz="1400" lang="fr-FR"/>
                    </a:p>
                  </a:txBody>
                </a:tc>
              </a:tr>
              <a:tr h="432048">
                <a:tc>
                  <a:txBody>
                    <a:bodyPr/>
                    <a:p>
                      <a:r>
                        <a:rPr dirty="0" sz="1400" lang="fr-FR" smtClean="0"/>
                        <a:t>Périmyocardite</a:t>
                      </a:r>
                      <a:endParaRPr dirty="0" sz="1400" lang="fr-FR"/>
                    </a:p>
                  </a:txBody>
                </a:tc>
                <a:tc>
                  <a:txBody>
                    <a:bodyPr/>
                    <a:p>
                      <a:r>
                        <a:rPr dirty="0" sz="1400" lang="fr-FR" smtClean="0"/>
                        <a:t>Myocardite prédominante</a:t>
                      </a:r>
                      <a:endParaRPr dirty="0" sz="1400" lang="fr-FR"/>
                    </a:p>
                  </a:txBody>
                </a:tc>
              </a:tr>
              <a:tr h="553656">
                <a:tc>
                  <a:txBody>
                    <a:bodyPr/>
                    <a:p>
                      <a:r>
                        <a:rPr dirty="0" sz="1400" lang="fr-FR" smtClean="0"/>
                        <a:t>Myocardite aigue (MA)</a:t>
                      </a:r>
                      <a:endParaRPr dirty="0" sz="1400" lang="fr-FR"/>
                    </a:p>
                  </a:txBody>
                </a:tc>
                <a:tc>
                  <a:txBody>
                    <a:bodyPr/>
                    <a:p>
                      <a:r>
                        <a:rPr dirty="0" sz="1400" lang="fr-FR" smtClean="0"/>
                        <a:t>Durée</a:t>
                      </a:r>
                      <a:r>
                        <a:rPr baseline="0" dirty="0" sz="1400" lang="fr-FR" smtClean="0"/>
                        <a:t> symptômes ≤ 4 semaines</a:t>
                      </a:r>
                    </a:p>
                    <a:p>
                      <a:r>
                        <a:rPr baseline="0" dirty="0" sz="1400" lang="fr-FR" smtClean="0"/>
                        <a:t>*</a:t>
                      </a:r>
                      <a:r>
                        <a:rPr baseline="0" b="1" dirty="0" sz="1400" lang="fr-FR" smtClean="0"/>
                        <a:t>Fulminante</a:t>
                      </a:r>
                      <a:r>
                        <a:rPr baseline="0" dirty="0" sz="1400" lang="fr-FR" smtClean="0"/>
                        <a:t> si instabilité hémodynamique nécessitant inotropes ou assistance circulatoire</a:t>
                      </a:r>
                      <a:endParaRPr dirty="0" sz="1400" lang="fr-FR"/>
                    </a:p>
                  </a:txBody>
                </a:tc>
              </a:tr>
              <a:tr h="432048">
                <a:tc>
                  <a:txBody>
                    <a:bodyPr/>
                    <a:p>
                      <a:r>
                        <a:rPr dirty="0" sz="1400" lang="fr-FR" smtClean="0"/>
                        <a:t>Myocardite compliquée</a:t>
                      </a:r>
                      <a:endParaRPr dirty="0" sz="1400" lang="fr-FR"/>
                    </a:p>
                  </a:txBody>
                </a:tc>
                <a:tc>
                  <a:txBody>
                    <a:bodyPr/>
                    <a:p>
                      <a:r>
                        <a:rPr dirty="0" sz="1400" lang="fr-FR" smtClean="0"/>
                        <a:t>MA +</a:t>
                      </a:r>
                      <a:r>
                        <a:rPr baseline="0" dirty="0" sz="1400" lang="fr-FR" smtClean="0"/>
                        <a:t> FEVG&lt;50% / arythmie V soutenue/ BAV haut degré/ IC/ choc cardiogénique</a:t>
                      </a:r>
                      <a:endParaRPr dirty="0" sz="1400" lang="fr-FR"/>
                    </a:p>
                  </a:txBody>
                </a:tc>
              </a:tr>
              <a:tr h="432048">
                <a:tc>
                  <a:txBody>
                    <a:bodyPr/>
                    <a:p>
                      <a:r>
                        <a:rPr dirty="0" sz="1400" lang="fr-FR" smtClean="0"/>
                        <a:t>Péricardite aigue</a:t>
                      </a:r>
                      <a:endParaRPr dirty="0" sz="140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Durée</a:t>
                      </a:r>
                      <a:r>
                        <a:rPr baseline="0" dirty="0" sz="1400" lang="fr-FR" smtClean="0"/>
                        <a:t> symptômes ≤ 4 semaines</a:t>
                      </a:r>
                      <a:endParaRPr dirty="0" sz="1400" lang="fr-FR"/>
                    </a:p>
                  </a:txBody>
                </a:tc>
              </a:tr>
              <a:tr h="432048">
                <a:tc>
                  <a:txBody>
                    <a:bodyPr/>
                    <a:p>
                      <a:r>
                        <a:rPr dirty="0" sz="1400" lang="fr-FR" smtClean="0"/>
                        <a:t>Myocardite subaigüe/persistante</a:t>
                      </a:r>
                      <a:endParaRPr dirty="0" sz="140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Durée</a:t>
                      </a:r>
                      <a:r>
                        <a:rPr baseline="0" dirty="0" sz="1400" lang="fr-FR" smtClean="0"/>
                        <a:t> symptômes &gt; 4 semaines à ≤ 3 mois</a:t>
                      </a:r>
                    </a:p>
                    <a:p>
                      <a:endParaRPr dirty="0" sz="1400" lang="fr-FR"/>
                    </a:p>
                  </a:txBody>
                </a:tc>
              </a:tr>
              <a:tr h="432048">
                <a:tc>
                  <a:txBody>
                    <a:bodyPr/>
                    <a:p>
                      <a:r>
                        <a:rPr dirty="0" sz="1400" lang="fr-FR" smtClean="0"/>
                        <a:t>Péricardite subaigüe/incessante</a:t>
                      </a:r>
                      <a:endParaRPr dirty="0" sz="140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Durée</a:t>
                      </a:r>
                      <a:r>
                        <a:rPr baseline="0" dirty="0" sz="1400" lang="fr-FR" smtClean="0"/>
                        <a:t> symptômes &gt; 4 semaines à ≤ 3 mois</a:t>
                      </a:r>
                    </a:p>
                    <a:p>
                      <a:endParaRPr dirty="0" sz="1400" lang="fr-FR"/>
                    </a:p>
                  </a:txBody>
                </a:tc>
              </a:tr>
              <a:tr h="432048">
                <a:tc>
                  <a:txBody>
                    <a:bodyPr/>
                    <a:p>
                      <a:r>
                        <a:rPr dirty="0" sz="1400" lang="fr-FR" smtClean="0"/>
                        <a:t>Myocardite/péricardite chronique</a:t>
                      </a:r>
                      <a:endParaRPr dirty="0" sz="140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Durée</a:t>
                      </a:r>
                      <a:r>
                        <a:rPr baseline="0" dirty="0" sz="1400" lang="fr-FR" smtClean="0"/>
                        <a:t> symptômes &gt; 3 mois</a:t>
                      </a:r>
                    </a:p>
                    <a:p>
                      <a:endParaRPr dirty="0" sz="1400" lang="fr-FR"/>
                    </a:p>
                  </a:txBody>
                </a:tc>
              </a:tr>
              <a:tr h="432048">
                <a:tc>
                  <a:txBody>
                    <a:bodyPr/>
                    <a:p>
                      <a:r>
                        <a:rPr dirty="0" sz="1400" lang="fr-FR" smtClean="0"/>
                        <a:t>Cardiomyopathie inflammatoire</a:t>
                      </a:r>
                      <a:endParaRPr dirty="0" sz="1400" lang="fr-FR"/>
                    </a:p>
                  </a:txBody>
                </a:tc>
                <a:tc>
                  <a:txBody>
                    <a:bodyPr/>
                    <a:p>
                      <a:r>
                        <a:rPr dirty="0" sz="1400" lang="fr-FR" smtClean="0"/>
                        <a:t>Myocardite</a:t>
                      </a:r>
                      <a:r>
                        <a:rPr baseline="0" dirty="0" sz="1400" lang="fr-FR" smtClean="0"/>
                        <a:t> chronique avec aspect de cardiomyopathie dilatée ou non ± arythmie</a:t>
                      </a:r>
                      <a:endParaRPr dirty="0" sz="1400" lang="fr-FR"/>
                    </a:p>
                  </a:txBody>
                </a:tc>
              </a:tr>
              <a:tr h="613048">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Myocardite/péricardite récidivante</a:t>
                      </a:r>
                      <a:endParaRPr dirty="0" sz="1400" lang="fr-FR"/>
                    </a:p>
                  </a:txBody>
                </a:tc>
                <a:tc>
                  <a:txBody>
                    <a:bodyPr/>
                    <a:p>
                      <a:r>
                        <a:rPr dirty="0" sz="1400" lang="fr-FR" smtClean="0"/>
                        <a:t>Réapparition de symptômes ou maladie après guérison clinique</a:t>
                      </a:r>
                      <a:endParaRPr dirty="0" sz="1400" lang="fr-FR"/>
                    </a:p>
                  </a:txBody>
                </a:tc>
              </a:tr>
              <a:tr h="432048">
                <a:tc>
                  <a:txBody>
                    <a:bodyPr/>
                    <a:p>
                      <a:r>
                        <a:rPr dirty="0" sz="1400" lang="fr-FR" smtClean="0"/>
                        <a:t>Guérison sans séquelles </a:t>
                      </a:r>
                      <a:endParaRPr dirty="0" sz="1400" lang="fr-FR"/>
                    </a:p>
                  </a:txBody>
                </a:tc>
                <a:tc>
                  <a:txBody>
                    <a:bodyPr/>
                    <a:p>
                      <a:r>
                        <a:rPr dirty="0" sz="1400" lang="fr-FR" smtClean="0"/>
                        <a:t>disparition</a:t>
                      </a:r>
                      <a:r>
                        <a:rPr baseline="0" dirty="0" sz="1400" lang="fr-FR" smtClean="0"/>
                        <a:t> des symptômes et normalisation des biomarqueurs et de l’imagerie</a:t>
                      </a:r>
                      <a:endParaRPr dirty="0" sz="1400" lang="fr-FR"/>
                    </a:p>
                  </a:txBody>
                </a:tc>
              </a:tr>
              <a:tr h="681920">
                <a:tc>
                  <a:txBody>
                    <a:bodyPr/>
                    <a:p>
                      <a:r>
                        <a:rPr dirty="0" sz="1400" lang="fr-FR" smtClean="0"/>
                        <a:t>Guérison avec séquelles</a:t>
                      </a:r>
                      <a:endParaRPr dirty="0" sz="140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dirty="0" sz="1400" lang="fr-FR" smtClean="0"/>
                        <a:t>disparition</a:t>
                      </a:r>
                      <a:r>
                        <a:rPr baseline="0" dirty="0" sz="1400" lang="fr-FR" smtClean="0"/>
                        <a:t> des symptômes et persistance d’anomalies des biomarqueurs et/ou d’imagerie</a:t>
                      </a:r>
                      <a:endParaRPr dirty="0" sz="1400" lang="fr-FR"/>
                    </a:p>
                  </a:txBody>
                </a:tc>
              </a:tr>
            </a:tbl>
          </a:graphicData>
        </a:graphic>
      </p:graphicFrame>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84" name=""/>
        <p:cNvGrpSpPr/>
        <p:nvPr/>
      </p:nvGrpSpPr>
      <p:grpSpPr>
        <a:xfrm>
          <a:off x="0" y="0"/>
          <a:ext cx="0" cy="0"/>
          <a:chOff x="0" y="0"/>
          <a:chExt cx="0" cy="0"/>
        </a:xfrm>
      </p:grpSpPr>
      <p:sp>
        <p:nvSpPr>
          <p:cNvPr id="1048666" name="Espace réservé du contenu 2"/>
          <p:cNvSpPr>
            <a:spLocks noGrp="1"/>
          </p:cNvSpPr>
          <p:nvPr>
            <p:ph idx="1"/>
          </p:nvPr>
        </p:nvSpPr>
        <p:spPr>
          <a:xfrm>
            <a:off x="35496" y="548680"/>
            <a:ext cx="9108504" cy="6165304"/>
          </a:xfrm>
        </p:spPr>
        <p:txBody>
          <a:bodyPr>
            <a:noAutofit/>
          </a:bodyPr>
          <a:p>
            <a:pPr>
              <a:lnSpc>
                <a:spcPct val="120000"/>
              </a:lnSpc>
              <a:spcBef>
                <a:spcPts val="0"/>
              </a:spcBef>
              <a:buFont typeface="Wingdings 2" pitchFamily="18" charset="2"/>
              <a:buNone/>
            </a:pPr>
            <a:r>
              <a:rPr dirty="0" sz="2400" lang="fr-FR" smtClean="0"/>
              <a:t>   </a:t>
            </a:r>
            <a:r>
              <a:rPr dirty="0" sz="2400" lang="fr-FR" smtClean="0">
                <a:solidFill>
                  <a:schemeClr val="tx1">
                    <a:lumMod val="95000"/>
                    <a:lumOff val="5000"/>
                  </a:schemeClr>
                </a:solidFill>
              </a:rPr>
              <a:t>-</a:t>
            </a:r>
            <a:r>
              <a:rPr dirty="0" sz="2400" lang="fr-FR" smtClean="0"/>
              <a:t> </a:t>
            </a:r>
            <a:r>
              <a:rPr b="1" dirty="0" sz="2400" lang="fr-FR" smtClean="0">
                <a:solidFill>
                  <a:schemeClr val="tx1">
                    <a:lumMod val="95000"/>
                    <a:lumOff val="5000"/>
                  </a:schemeClr>
                </a:solidFill>
              </a:rPr>
              <a:t>ECG</a:t>
            </a:r>
          </a:p>
          <a:p>
            <a:pPr>
              <a:lnSpc>
                <a:spcPct val="120000"/>
              </a:lnSpc>
              <a:spcBef>
                <a:spcPts val="0"/>
              </a:spcBef>
              <a:buFont typeface="Wingdings 2" pitchFamily="18" charset="2"/>
              <a:buNone/>
            </a:pPr>
            <a:r>
              <a:rPr b="1" dirty="0" sz="2400" lang="fr-FR" smtClean="0">
                <a:solidFill>
                  <a:schemeClr val="tx1">
                    <a:lumMod val="95000"/>
                    <a:lumOff val="5000"/>
                  </a:schemeClr>
                </a:solidFill>
              </a:rPr>
              <a:t>   - Téléthorax face</a:t>
            </a:r>
          </a:p>
          <a:p>
            <a:pPr>
              <a:lnSpc>
                <a:spcPct val="120000"/>
              </a:lnSpc>
              <a:spcBef>
                <a:spcPts val="0"/>
              </a:spcBef>
              <a:buFont typeface="Wingdings 2" pitchFamily="18" charset="2"/>
              <a:buNone/>
            </a:pPr>
            <a:r>
              <a:rPr b="1" dirty="0" sz="2400" lang="fr-FR" smtClean="0">
                <a:solidFill>
                  <a:schemeClr val="tx1">
                    <a:lumMod val="95000"/>
                    <a:lumOff val="5000"/>
                  </a:schemeClr>
                </a:solidFill>
              </a:rPr>
              <a:t>   - Echocardiographie transthoracique</a:t>
            </a:r>
          </a:p>
          <a:p>
            <a:pPr>
              <a:lnSpc>
                <a:spcPct val="120000"/>
              </a:lnSpc>
              <a:spcBef>
                <a:spcPts val="0"/>
              </a:spcBef>
              <a:buFont typeface="Wingdings 2" pitchFamily="18" charset="2"/>
              <a:buNone/>
            </a:pPr>
            <a:r>
              <a:rPr b="1" dirty="0" sz="2400" lang="fr-FR" smtClean="0">
                <a:solidFill>
                  <a:schemeClr val="tx1">
                    <a:lumMod val="95000"/>
                    <a:lumOff val="5000"/>
                  </a:schemeClr>
                </a:solidFill>
              </a:rPr>
              <a:t>   - </a:t>
            </a:r>
            <a:r>
              <a:rPr b="1" dirty="0" sz="2400" lang="fr-FR" smtClean="0">
                <a:solidFill>
                  <a:srgbClr val="800000"/>
                </a:solidFill>
              </a:rPr>
              <a:t>IRM cardiaque</a:t>
            </a:r>
            <a:r>
              <a:rPr b="1" dirty="0" sz="2400" lang="fr-FR" smtClean="0">
                <a:solidFill>
                  <a:schemeClr val="tx1">
                    <a:lumMod val="95000"/>
                    <a:lumOff val="5000"/>
                  </a:schemeClr>
                </a:solidFill>
              </a:rPr>
              <a:t> / TDM cardiaque</a:t>
            </a:r>
          </a:p>
          <a:p>
            <a:pPr>
              <a:lnSpc>
                <a:spcPct val="120000"/>
              </a:lnSpc>
              <a:buFont typeface="Wingdings 2" pitchFamily="18" charset="2"/>
              <a:buNone/>
            </a:pPr>
            <a:r>
              <a:rPr b="1" dirty="0" sz="2400" lang="fr-FR" smtClean="0">
                <a:solidFill>
                  <a:schemeClr val="tx1">
                    <a:lumMod val="95000"/>
                    <a:lumOff val="5000"/>
                  </a:schemeClr>
                </a:solidFill>
              </a:rPr>
              <a:t>   - Examens biologiques: </a:t>
            </a:r>
            <a:r>
              <a:rPr dirty="0" sz="2400" lang="fr-FR" smtClean="0">
                <a:solidFill>
                  <a:srgbClr val="C00000"/>
                </a:solidFill>
              </a:rPr>
              <a:t>&gt; </a:t>
            </a:r>
            <a:r>
              <a:rPr dirty="0" sz="2400" lang="fr-FR" smtClean="0"/>
              <a:t>inflammation: </a:t>
            </a:r>
            <a:r>
              <a:rPr dirty="0" sz="2400" lang="fr-FR" smtClean="0">
                <a:solidFill>
                  <a:schemeClr val="tx1"/>
                </a:solidFill>
              </a:rPr>
              <a:t>CRP</a:t>
            </a:r>
            <a:r>
              <a:rPr b="1" dirty="0" sz="2400" lang="fr-FR" smtClean="0">
                <a:solidFill>
                  <a:schemeClr val="tx1"/>
                </a:solidFill>
                <a:sym typeface="Symbol" pitchFamily="18" charset="2"/>
              </a:rPr>
              <a:t></a:t>
            </a:r>
            <a:r>
              <a:rPr dirty="0" sz="2400" lang="fr-FR" smtClean="0">
                <a:solidFill>
                  <a:schemeClr val="tx1"/>
                </a:solidFill>
              </a:rPr>
              <a:t>, VS</a:t>
            </a:r>
            <a:r>
              <a:rPr b="1" dirty="0" sz="2400" lang="fr-FR" smtClean="0">
                <a:solidFill>
                  <a:schemeClr val="tx1"/>
                </a:solidFill>
                <a:sym typeface="Symbol" pitchFamily="18" charset="2"/>
              </a:rPr>
              <a:t></a:t>
            </a:r>
            <a:r>
              <a:rPr dirty="0" sz="2400" lang="fr-FR" smtClean="0">
                <a:solidFill>
                  <a:schemeClr val="tx1"/>
                </a:solidFill>
              </a:rPr>
              <a:t> , GB</a:t>
            </a:r>
            <a:r>
              <a:rPr b="1" dirty="0" sz="2400" lang="fr-FR" smtClean="0">
                <a:solidFill>
                  <a:schemeClr val="tx1"/>
                </a:solidFill>
                <a:sym typeface="Symbol" pitchFamily="18" charset="2"/>
              </a:rPr>
              <a:t></a:t>
            </a:r>
            <a:endParaRPr dirty="0" sz="2400" lang="fr-FR" smtClean="0"/>
          </a:p>
          <a:p>
            <a:pPr>
              <a:lnSpc>
                <a:spcPct val="120000"/>
              </a:lnSpc>
              <a:buFont typeface="Wingdings 2" pitchFamily="18" charset="2"/>
              <a:buNone/>
            </a:pPr>
            <a:r>
              <a:rPr dirty="0" sz="2400" lang="fr-FR" smtClean="0"/>
              <a:t>                                           </a:t>
            </a:r>
            <a:r>
              <a:rPr dirty="0" sz="2400" lang="fr-FR" smtClean="0">
                <a:solidFill>
                  <a:srgbClr val="C00000"/>
                </a:solidFill>
              </a:rPr>
              <a:t>&gt; </a:t>
            </a:r>
            <a:r>
              <a:rPr dirty="0" sz="2400" lang="fr-FR" smtClean="0"/>
              <a:t>lésion myocardique? </a:t>
            </a:r>
            <a:r>
              <a:rPr dirty="0" sz="2400" lang="fr-FR" smtClean="0">
                <a:solidFill>
                  <a:schemeClr val="tx1"/>
                </a:solidFill>
              </a:rPr>
              <a:t>CPK</a:t>
            </a:r>
            <a:r>
              <a:rPr b="1" dirty="0" sz="2400" lang="fr-FR" smtClean="0">
                <a:solidFill>
                  <a:schemeClr val="tx1"/>
                </a:solidFill>
                <a:sym typeface="Symbol" pitchFamily="18" charset="2"/>
              </a:rPr>
              <a:t></a:t>
            </a:r>
            <a:r>
              <a:rPr dirty="0" sz="2400" lang="fr-FR" smtClean="0">
                <a:solidFill>
                  <a:schemeClr val="tx1"/>
                </a:solidFill>
                <a:sym typeface="Symbol" pitchFamily="18" charset="2"/>
              </a:rPr>
              <a:t>- </a:t>
            </a:r>
            <a:r>
              <a:rPr dirty="0" sz="2400" lang="fr-FR" smtClean="0">
                <a:solidFill>
                  <a:schemeClr val="tx1"/>
                </a:solidFill>
              </a:rPr>
              <a:t>Troponine</a:t>
            </a:r>
            <a:r>
              <a:rPr b="1" dirty="0" sz="2400" lang="fr-FR" smtClean="0">
                <a:solidFill>
                  <a:schemeClr val="tx1"/>
                </a:solidFill>
                <a:sym typeface="Symbol" pitchFamily="18" charset="2"/>
              </a:rPr>
              <a:t>   </a:t>
            </a:r>
          </a:p>
          <a:p>
            <a:pPr>
              <a:lnSpc>
                <a:spcPct val="120000"/>
              </a:lnSpc>
              <a:buFont typeface="Wingdings 2" pitchFamily="18" charset="2"/>
              <a:buNone/>
            </a:pPr>
            <a:r>
              <a:rPr b="1" dirty="0" sz="2400" lang="fr-FR" smtClean="0">
                <a:solidFill>
                  <a:schemeClr val="tx1"/>
                </a:solidFill>
                <a:sym typeface="Symbol" pitchFamily="18" charset="2"/>
              </a:rPr>
              <a:t>                                           </a:t>
            </a:r>
            <a:r>
              <a:rPr dirty="0" sz="2400" lang="fr-FR" smtClean="0">
                <a:solidFill>
                  <a:srgbClr val="C00000"/>
                </a:solidFill>
              </a:rPr>
              <a:t>&gt; </a:t>
            </a:r>
            <a:r>
              <a:rPr dirty="0" sz="2400" lang="fr-FR" smtClean="0"/>
              <a:t>défaillance cardiaque? </a:t>
            </a:r>
            <a:r>
              <a:rPr dirty="0" sz="2400" lang="fr-FR" smtClean="0">
                <a:solidFill>
                  <a:schemeClr val="tx1"/>
                </a:solidFill>
              </a:rPr>
              <a:t>NT-pro BNP</a:t>
            </a:r>
          </a:p>
          <a:p>
            <a:pPr>
              <a:lnSpc>
                <a:spcPct val="120000"/>
              </a:lnSpc>
              <a:buFont typeface="Wingdings 2" pitchFamily="18" charset="2"/>
              <a:buNone/>
            </a:pPr>
            <a:r>
              <a:rPr dirty="0" sz="2400" lang="fr-FR" smtClean="0"/>
              <a:t> </a:t>
            </a:r>
            <a:r>
              <a:rPr dirty="0" sz="2400" lang="fr-FR" smtClean="0">
                <a:solidFill>
                  <a:srgbClr val="00B050"/>
                </a:solidFill>
              </a:rPr>
              <a:t>                                          &gt;</a:t>
            </a:r>
            <a:r>
              <a:rPr dirty="0" sz="2400" lang="fr-FR" smtClean="0"/>
              <a:t> fonction rénale et hépatique, NFS</a:t>
            </a:r>
          </a:p>
          <a:p>
            <a:pPr>
              <a:lnSpc>
                <a:spcPct val="120000"/>
              </a:lnSpc>
              <a:buFont typeface="Wingdings 2" pitchFamily="18" charset="2"/>
              <a:buNone/>
            </a:pPr>
            <a:r>
              <a:rPr dirty="0" sz="2400" lang="fr-FR" smtClean="0"/>
              <a:t>                                           </a:t>
            </a:r>
            <a:r>
              <a:rPr dirty="0" sz="2400" lang="fr-FR" smtClean="0">
                <a:solidFill>
                  <a:srgbClr val="00B050"/>
                </a:solidFill>
              </a:rPr>
              <a:t>&gt; </a:t>
            </a:r>
            <a:r>
              <a:rPr dirty="0" sz="2400" lang="fr-FR" smtClean="0"/>
              <a:t>bilan thyroïde (myxœdème ?) </a:t>
            </a:r>
          </a:p>
          <a:p>
            <a:pPr>
              <a:lnSpc>
                <a:spcPct val="120000"/>
              </a:lnSpc>
              <a:spcBef>
                <a:spcPts val="0"/>
              </a:spcBef>
              <a:buFont typeface="Wingdings 2" pitchFamily="18" charset="2"/>
              <a:buNone/>
            </a:pPr>
            <a:r>
              <a:rPr b="1" dirty="0" sz="2400" lang="fr-FR" smtClean="0">
                <a:solidFill>
                  <a:schemeClr val="tx1">
                    <a:lumMod val="95000"/>
                    <a:lumOff val="5000"/>
                  </a:schemeClr>
                </a:solidFill>
              </a:rPr>
              <a:t>                                           </a:t>
            </a:r>
            <a:r>
              <a:rPr dirty="0" sz="2400" lang="fr-FR" smtClean="0">
                <a:solidFill>
                  <a:srgbClr val="00B050"/>
                </a:solidFill>
              </a:rPr>
              <a:t>&gt; </a:t>
            </a:r>
            <a:r>
              <a:rPr dirty="0" sz="2400" lang="fr-FR" smtClean="0"/>
              <a:t>virologie: Hte C, HIV maladie de Lyme</a:t>
            </a:r>
            <a:endParaRPr b="1" dirty="0" sz="2400" lang="fr-FR" smtClean="0"/>
          </a:p>
          <a:p>
            <a:pPr>
              <a:lnSpc>
                <a:spcPct val="120000"/>
              </a:lnSpc>
              <a:buFont typeface="Wingdings 2" pitchFamily="18" charset="2"/>
              <a:buNone/>
            </a:pPr>
            <a:r>
              <a:rPr dirty="0" sz="2400" lang="fr-FR" smtClean="0">
                <a:solidFill>
                  <a:schemeClr val="tx1">
                    <a:lumMod val="95000"/>
                    <a:lumOff val="5000"/>
                  </a:schemeClr>
                </a:solidFill>
              </a:rPr>
              <a:t>  - Tests génétiques: </a:t>
            </a:r>
            <a:r>
              <a:rPr dirty="0" sz="2000" lang="fr-FR" smtClean="0">
                <a:solidFill>
                  <a:schemeClr val="tx1">
                    <a:lumMod val="95000"/>
                    <a:lumOff val="5000"/>
                  </a:schemeClr>
                </a:solidFill>
              </a:rPr>
              <a:t>formes sévères, récidivantes, familiales</a:t>
            </a:r>
            <a:endParaRPr dirty="0" sz="2400" lang="fr-FR" smtClean="0">
              <a:solidFill>
                <a:schemeClr val="tx1">
                  <a:lumMod val="95000"/>
                  <a:lumOff val="5000"/>
                </a:schemeClr>
              </a:solidFill>
            </a:endParaRPr>
          </a:p>
          <a:p>
            <a:pPr>
              <a:lnSpc>
                <a:spcPct val="120000"/>
              </a:lnSpc>
              <a:buFont typeface="Wingdings 2" pitchFamily="18" charset="2"/>
              <a:buNone/>
            </a:pPr>
            <a:r>
              <a:rPr dirty="0" sz="2400" lang="fr-FR" smtClean="0">
                <a:solidFill>
                  <a:schemeClr val="tx1">
                    <a:lumMod val="95000"/>
                    <a:lumOff val="5000"/>
                  </a:schemeClr>
                </a:solidFill>
              </a:rPr>
              <a:t>  - Biopsie endomyocardique: </a:t>
            </a:r>
            <a:r>
              <a:rPr dirty="0" sz="2000" lang="fr-FR" smtClean="0">
                <a:solidFill>
                  <a:schemeClr val="tx1">
                    <a:lumMod val="95000"/>
                    <a:lumOff val="5000"/>
                  </a:schemeClr>
                </a:solidFill>
              </a:rPr>
              <a:t>risque élevé, instabilité HD, non réponse au TRT</a:t>
            </a:r>
            <a:endParaRPr dirty="0" sz="2400" lang="fr-FR" smtClean="0">
              <a:solidFill>
                <a:schemeClr val="tx1">
                  <a:lumMod val="95000"/>
                  <a:lumOff val="5000"/>
                </a:schemeClr>
              </a:solidFill>
            </a:endParaRPr>
          </a:p>
          <a:p>
            <a:pPr>
              <a:buFont typeface="Wingdings 2" pitchFamily="18" charset="2"/>
              <a:buNone/>
            </a:pPr>
            <a:endParaRPr dirty="0" sz="1400" lang="fr-FR" smtClean="0"/>
          </a:p>
          <a:p>
            <a:pPr>
              <a:buFont typeface="Wingdings 2" pitchFamily="18" charset="2"/>
              <a:buNone/>
            </a:pPr>
            <a:r>
              <a:rPr dirty="0" sz="1400" lang="fr-FR" smtClean="0"/>
              <a:t>           </a:t>
            </a:r>
          </a:p>
          <a:p>
            <a:pPr>
              <a:buFont typeface="Wingdings 2" pitchFamily="18" charset="2"/>
              <a:buNone/>
            </a:pPr>
            <a:r>
              <a:rPr dirty="0" sz="1400" lang="fr-FR" smtClean="0"/>
              <a:t>      </a:t>
            </a:r>
          </a:p>
        </p:txBody>
      </p:sp>
      <p:sp>
        <p:nvSpPr>
          <p:cNvPr id="1048667" name="Titre 1"/>
          <p:cNvSpPr txBox="1"/>
          <p:nvPr/>
        </p:nvSpPr>
        <p:spPr>
          <a:xfrm>
            <a:off x="301625" y="44625"/>
            <a:ext cx="8686800" cy="648072"/>
          </a:xfrm>
          <a:prstGeom prst="rect"/>
        </p:spPr>
        <p:txBody>
          <a:bodyPr anchor="ctr" vert="horz">
            <a:normAutofit/>
          </a:bodyPr>
          <a:p>
            <a:pPr algn="ctr" defTabSz="914400" eaLnBrk="1" fontAlgn="auto" hangingPunct="1" indent="0" latinLnBrk="0" lvl="0" marL="0" marR="0" rtl="0">
              <a:lnSpc>
                <a:spcPct val="100000"/>
              </a:lnSpc>
              <a:spcBef>
                <a:spcPct val="0"/>
              </a:spcBef>
              <a:spcAft>
                <a:spcPts val="0"/>
              </a:spcAft>
              <a:buClrTx/>
              <a:buSzTx/>
              <a:buFontTx/>
              <a:buNone/>
            </a:pPr>
            <a:r>
              <a:rPr baseline="0" b="0" cap="all" dirty="0" sz="2800" i="0" kern="1200" kumimoji="0" lang="fr-FR" noProof="0" normalizeH="0" spc="0" strike="noStrike" u="none" smtClean="0">
                <a:ln>
                  <a:noFill/>
                </a:ln>
                <a:solidFill>
                  <a:srgbClr val="FF9900"/>
                </a:solidFill>
                <a:effectLst/>
                <a:uLnTx/>
                <a:uFillTx/>
                <a:latin typeface="+mn-lt"/>
                <a:ea typeface="+mj-ea"/>
                <a:cs typeface="+mj-cs"/>
              </a:rPr>
              <a:t>VI- EXAMENS</a:t>
            </a:r>
            <a:r>
              <a:rPr b="0" cap="all" dirty="0" sz="2800" i="0" kern="1200" kumimoji="0" lang="fr-FR" noProof="0" normalizeH="0" spc="0" strike="noStrike" u="none" smtClean="0">
                <a:ln>
                  <a:noFill/>
                </a:ln>
                <a:solidFill>
                  <a:srgbClr val="FF9900"/>
                </a:solidFill>
                <a:effectLst/>
                <a:uLnTx/>
                <a:uFillTx/>
                <a:latin typeface="+mn-lt"/>
                <a:ea typeface="+mj-ea"/>
                <a:cs typeface="+mj-cs"/>
              </a:rPr>
              <a:t> COMPLÉMENTAIRES</a:t>
            </a:r>
            <a:endParaRPr baseline="0" b="0" cap="all" dirty="0" sz="2800" i="0" kern="1200" kumimoji="0" lang="fr-FR" noProof="0" normalizeH="0" spc="0" strike="noStrike" u="none">
              <a:ln>
                <a:noFill/>
              </a:ln>
              <a:solidFill>
                <a:srgbClr val="FF9900"/>
              </a:solidFill>
              <a:effectLst/>
              <a:uLnTx/>
              <a:uFillTx/>
              <a:latin typeface="+mn-lt"/>
              <a:ea typeface="+mj-ea"/>
              <a:cs typeface="+mj-cs"/>
            </a:endParaRPr>
          </a:p>
        </p:txBody>
      </p:sp>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88" name=""/>
        <p:cNvGrpSpPr/>
        <p:nvPr/>
      </p:nvGrpSpPr>
      <p:grpSpPr>
        <a:xfrm>
          <a:off x="0" y="0"/>
          <a:ext cx="0" cy="0"/>
          <a:chOff x="0" y="0"/>
          <a:chExt cx="0" cy="0"/>
        </a:xfrm>
      </p:grpSpPr>
      <p:sp>
        <p:nvSpPr>
          <p:cNvPr id="1048677" name="Rectangle 3"/>
          <p:cNvSpPr>
            <a:spLocks noRot="1" noGrp="1" noChangeArrowheads="1"/>
          </p:cNvSpPr>
          <p:nvPr>
            <p:ph type="body" idx="4294967295"/>
          </p:nvPr>
        </p:nvSpPr>
        <p:spPr>
          <a:xfrm>
            <a:off x="107950" y="404813"/>
            <a:ext cx="9036050" cy="6096000"/>
          </a:xfrm>
        </p:spPr>
        <p:txBody>
          <a:bodyPr>
            <a:normAutofit fontScale="95833" lnSpcReduction="10000"/>
          </a:bodyPr>
          <a:p>
            <a:pPr eaLnBrk="1" hangingPunct="1" lvl="1">
              <a:buClr>
                <a:srgbClr val="FF9900"/>
              </a:buClr>
              <a:buSzPct val="105000"/>
              <a:buFontTx/>
              <a:buChar char="•"/>
            </a:pPr>
            <a:r>
              <a:rPr dirty="0" sz="3200" lang="fr-FR" smtClean="0">
                <a:solidFill>
                  <a:srgbClr val="C00000"/>
                </a:solidFill>
              </a:rPr>
              <a:t>  </a:t>
            </a:r>
            <a:r>
              <a:rPr b="1" dirty="0" sz="3200" lang="fr-FR" smtClean="0">
                <a:solidFill>
                  <a:srgbClr val="C00000"/>
                </a:solidFill>
              </a:rPr>
              <a:t>ECG</a:t>
            </a:r>
            <a:r>
              <a:rPr dirty="0" sz="3200" lang="fr-FR" smtClean="0">
                <a:solidFill>
                  <a:srgbClr val="C00000"/>
                </a:solidFill>
              </a:rPr>
              <a:t>:  </a:t>
            </a:r>
            <a:r>
              <a:rPr dirty="0" sz="3200" lang="fr-FR" smtClean="0"/>
              <a:t>troubles de repolarisation: </a:t>
            </a:r>
            <a:r>
              <a:rPr b="1" dirty="0" lang="fr-FR" smtClean="0">
                <a:solidFill>
                  <a:srgbClr val="FF9900"/>
                </a:solidFill>
              </a:rPr>
              <a:t>4 phases</a:t>
            </a:r>
            <a:r>
              <a:rPr dirty="0" lang="fr-FR" smtClean="0">
                <a:solidFill>
                  <a:srgbClr val="FF9900"/>
                </a:solidFill>
              </a:rPr>
              <a:t> </a:t>
            </a:r>
          </a:p>
          <a:p>
            <a:pPr eaLnBrk="1" hangingPunct="1">
              <a:buFont typeface="Arial" charset="0"/>
              <a:buNone/>
            </a:pPr>
            <a:endParaRPr dirty="0" sz="2800" lang="fr-FR" smtClean="0"/>
          </a:p>
          <a:p>
            <a:pPr eaLnBrk="1" hangingPunct="1">
              <a:buFont typeface="Arial" charset="0"/>
              <a:buNone/>
            </a:pPr>
            <a:r>
              <a:rPr dirty="0" sz="2800" lang="fr-FR" smtClean="0"/>
              <a:t>   Stade 1:                                 Stade 3:</a:t>
            </a:r>
          </a:p>
          <a:p>
            <a:pPr eaLnBrk="1" hangingPunct="1">
              <a:buFont typeface="Arial" charset="0"/>
              <a:buNone/>
            </a:pPr>
            <a:r>
              <a:rPr dirty="0" sz="2800" lang="fr-FR" smtClean="0"/>
              <a:t> </a:t>
            </a:r>
            <a:r>
              <a:rPr dirty="0" sz="2400" lang="fr-FR" smtClean="0"/>
              <a:t>   1ères H                                      2</a:t>
            </a:r>
            <a:r>
              <a:rPr baseline="30000" dirty="0" sz="2400" lang="fr-FR" smtClean="0"/>
              <a:t>ème</a:t>
            </a:r>
            <a:r>
              <a:rPr dirty="0" sz="2400" lang="fr-FR" smtClean="0"/>
              <a:t> semaine</a:t>
            </a:r>
            <a:endParaRPr dirty="0" sz="2800" lang="fr-FR" smtClean="0"/>
          </a:p>
          <a:p>
            <a:pPr eaLnBrk="1" hangingPunct="1">
              <a:buFont typeface="Arial" charset="0"/>
              <a:buNone/>
            </a:pPr>
            <a:endParaRPr dirty="0" sz="2800" lang="fr-FR" smtClean="0"/>
          </a:p>
          <a:p>
            <a:pPr eaLnBrk="1" hangingPunct="1">
              <a:buFont typeface="Arial" charset="0"/>
              <a:buNone/>
            </a:pPr>
            <a:endParaRPr dirty="0" sz="2800" lang="fr-FR" smtClean="0"/>
          </a:p>
          <a:p>
            <a:pPr eaLnBrk="1" hangingPunct="1">
              <a:buFont typeface="Arial" charset="0"/>
              <a:buNone/>
            </a:pPr>
            <a:r>
              <a:rPr dirty="0" sz="2800" lang="fr-FR" smtClean="0"/>
              <a:t>  Stade 2:                                  Stade 4:</a:t>
            </a:r>
          </a:p>
          <a:p>
            <a:pPr eaLnBrk="1" hangingPunct="1">
              <a:buFont typeface="Arial" charset="0"/>
              <a:buNone/>
            </a:pPr>
            <a:r>
              <a:rPr dirty="0" sz="2800" lang="fr-FR" smtClean="0"/>
              <a:t>   </a:t>
            </a:r>
            <a:r>
              <a:rPr dirty="0" sz="2400" lang="fr-FR" smtClean="0"/>
              <a:t>24-48 H                                       </a:t>
            </a:r>
            <a:r>
              <a:rPr b="1" dirty="0" sz="2400" i="1" lang="fr-FR" u="sng" smtClean="0">
                <a:solidFill>
                  <a:schemeClr val="tx1">
                    <a:lumMod val="95000"/>
                    <a:lumOff val="5000"/>
                  </a:schemeClr>
                </a:solidFill>
              </a:rPr>
              <a:t>normalisation</a:t>
            </a:r>
          </a:p>
          <a:p>
            <a:pPr eaLnBrk="1" hangingPunct="1">
              <a:buFont typeface="Arial" charset="0"/>
              <a:buNone/>
            </a:pPr>
            <a:endParaRPr dirty="0" sz="2400" lang="fr-FR" smtClean="0">
              <a:solidFill>
                <a:srgbClr val="C00000"/>
              </a:solidFill>
            </a:endParaRPr>
          </a:p>
          <a:p>
            <a:pPr eaLnBrk="1" hangingPunct="1">
              <a:buFont typeface="Arial" charset="0"/>
              <a:buNone/>
            </a:pPr>
            <a:endParaRPr dirty="0" sz="2400" lang="fr-FR" smtClean="0">
              <a:solidFill>
                <a:srgbClr val="C00000"/>
              </a:solidFill>
            </a:endParaRPr>
          </a:p>
          <a:p>
            <a:pPr eaLnBrk="1" hangingPunct="1">
              <a:buFont typeface="Arial" charset="0"/>
              <a:buNone/>
            </a:pPr>
            <a:r>
              <a:rPr dirty="0" sz="2400" lang="fr-FR" smtClean="0">
                <a:solidFill>
                  <a:schemeClr val="tx1">
                    <a:lumMod val="95000"/>
                    <a:lumOff val="5000"/>
                  </a:schemeClr>
                </a:solidFill>
              </a:rPr>
              <a:t>       </a:t>
            </a:r>
            <a:r>
              <a:rPr b="1" dirty="0" sz="2400" i="1" lang="fr-FR" smtClean="0">
                <a:solidFill>
                  <a:srgbClr val="C00000"/>
                </a:solidFill>
              </a:rPr>
              <a:t>&gt;</a:t>
            </a:r>
            <a:r>
              <a:rPr dirty="0" sz="2400" lang="fr-FR" smtClean="0">
                <a:solidFill>
                  <a:schemeClr val="tx1">
                    <a:lumMod val="95000"/>
                    <a:lumOff val="5000"/>
                  </a:schemeClr>
                </a:solidFill>
              </a:rPr>
              <a:t> </a:t>
            </a:r>
            <a:r>
              <a:rPr b="1" dirty="0" sz="2400" i="1" lang="fr-FR" smtClean="0">
                <a:solidFill>
                  <a:srgbClr val="C00000"/>
                </a:solidFill>
              </a:rPr>
              <a:t>Variables d’un sujet à l’autre</a:t>
            </a:r>
          </a:p>
          <a:p>
            <a:pPr eaLnBrk="1" hangingPunct="1">
              <a:buFont typeface="Arial" charset="0"/>
              <a:buNone/>
            </a:pPr>
            <a:r>
              <a:rPr b="1" dirty="0" sz="2400" i="1" lang="fr-FR" smtClean="0">
                <a:solidFill>
                  <a:srgbClr val="C00000"/>
                </a:solidFill>
              </a:rPr>
              <a:t>       &gt; Dynamique dans le temps (heures, jours)</a:t>
            </a:r>
          </a:p>
          <a:p>
            <a:pPr eaLnBrk="1" hangingPunct="1">
              <a:buFont typeface="Arial" charset="0"/>
              <a:buNone/>
            </a:pPr>
            <a:r>
              <a:rPr b="1" dirty="0" sz="2400" i="1" lang="fr-FR" smtClean="0">
                <a:solidFill>
                  <a:srgbClr val="C00000"/>
                </a:solidFill>
              </a:rPr>
              <a:t>       &gt; Influencés par le TRT</a:t>
            </a:r>
          </a:p>
        </p:txBody>
      </p:sp>
      <p:pic>
        <p:nvPicPr>
          <p:cNvPr id="2097156" name="Picture 6"/>
          <p:cNvPicPr>
            <a:picLocks noChangeAspect="1" noChangeArrowheads="1"/>
          </p:cNvPicPr>
          <p:nvPr/>
        </p:nvPicPr>
        <p:blipFill>
          <a:blip xmlns:r="http://schemas.openxmlformats.org/officeDocument/2006/relationships" r:embed="rId1" cstate="print"/>
          <a:srcRect/>
          <a:stretch>
            <a:fillRect/>
          </a:stretch>
        </p:blipFill>
        <p:spPr bwMode="auto">
          <a:xfrm>
            <a:off x="1936750" y="1052736"/>
            <a:ext cx="2073275" cy="1673225"/>
          </a:xfrm>
          <a:prstGeom prst="rect"/>
          <a:ln>
            <a:noFill/>
          </a:ln>
          <a:effectLst>
            <a:outerShdw algn="tl" blurRad="292100" dir="2700000" dist="139700" rotWithShape="0">
              <a:srgbClr val="333333">
                <a:alpha val="65000"/>
              </a:srgbClr>
            </a:outerShdw>
          </a:effectLst>
        </p:spPr>
      </p:pic>
      <p:sp>
        <p:nvSpPr>
          <p:cNvPr id="1048678" name="Line 17"/>
          <p:cNvSpPr>
            <a:spLocks noChangeShapeType="1"/>
          </p:cNvSpPr>
          <p:nvPr/>
        </p:nvSpPr>
        <p:spPr bwMode="auto">
          <a:xfrm>
            <a:off x="3059113" y="1413098"/>
            <a:ext cx="71437" cy="433388"/>
          </a:xfrm>
          <a:prstGeom prst="line"/>
          <a:noFill/>
          <a:ln w="44450">
            <a:solidFill>
              <a:srgbClr val="FFCC00"/>
            </a:solidFill>
            <a:round/>
            <a:headEnd/>
            <a:tailEnd type="triangle" w="med" len="med"/>
          </a:ln>
        </p:spPr>
        <p:txBody>
          <a:bodyPr/>
          <a:p>
            <a:endParaRPr lang="fr-FR"/>
          </a:p>
        </p:txBody>
      </p:sp>
      <p:pic>
        <p:nvPicPr>
          <p:cNvPr id="2097157" name="Picture 18"/>
          <p:cNvPicPr>
            <a:picLocks noChangeAspect="1" noGrp="1" noChangeArrowheads="1"/>
          </p:cNvPicPr>
          <p:nvPr>
            <p:ph sz="half" idx="1"/>
          </p:nvPr>
        </p:nvPicPr>
        <p:blipFill>
          <a:blip xmlns:r="http://schemas.openxmlformats.org/officeDocument/2006/relationships" r:embed="rId1" cstate="print"/>
          <a:srcRect/>
          <a:stretch>
            <a:fillRect/>
          </a:stretch>
        </p:blipFill>
        <p:spPr>
          <a:xfrm>
            <a:off x="1835150" y="3213323"/>
            <a:ext cx="2089150" cy="1635125"/>
          </a:xfrm>
          <a:effectLst>
            <a:outerShdw algn="tl" blurRad="292100" dir="2700000" dist="139700" rotWithShape="0">
              <a:srgbClr val="333333">
                <a:alpha val="65000"/>
              </a:srgbClr>
            </a:outerShdw>
          </a:effectLst>
        </p:spPr>
      </p:pic>
      <p:sp>
        <p:nvSpPr>
          <p:cNvPr id="1048679" name="Line 23"/>
          <p:cNvSpPr>
            <a:spLocks noChangeShapeType="1"/>
          </p:cNvSpPr>
          <p:nvPr/>
        </p:nvSpPr>
        <p:spPr bwMode="auto">
          <a:xfrm>
            <a:off x="2843213" y="4200748"/>
            <a:ext cx="360362" cy="0"/>
          </a:xfrm>
          <a:prstGeom prst="line"/>
          <a:noFill/>
          <a:ln w="38100">
            <a:solidFill>
              <a:srgbClr val="FFCC00"/>
            </a:solidFill>
            <a:prstDash val="sysDot"/>
            <a:round/>
            <a:headEnd/>
            <a:tailEnd/>
          </a:ln>
        </p:spPr>
        <p:txBody>
          <a:bodyPr/>
          <a:p>
            <a:endParaRPr lang="fr-FR"/>
          </a:p>
        </p:txBody>
      </p:sp>
      <p:sp>
        <p:nvSpPr>
          <p:cNvPr id="1048680" name="Freeform 28"/>
          <p:cNvSpPr/>
          <p:nvPr/>
        </p:nvSpPr>
        <p:spPr bwMode="auto">
          <a:xfrm>
            <a:off x="3203575" y="4149948"/>
            <a:ext cx="504825" cy="144463"/>
          </a:xfrm>
          <a:custGeom>
            <a:avLst/>
            <a:gdLst>
              <a:gd name="T0" fmla="*/ 0 w 409"/>
              <a:gd name="T1" fmla="*/ 2147483647 h 106"/>
              <a:gd name="T2" fmla="*/ 2147483647 w 409"/>
              <a:gd name="T3" fmla="*/ 2147483647 h 106"/>
              <a:gd name="T4" fmla="*/ 2147483647 w 409"/>
              <a:gd name="T5" fmla="*/ 2147483647 h 106"/>
              <a:gd name="T6" fmla="*/ 2147483647 w 409"/>
              <a:gd name="T7" fmla="*/ 2147483647 h 106"/>
              <a:gd name="T8" fmla="*/ 0 60000 65536"/>
              <a:gd name="T9" fmla="*/ 0 60000 65536"/>
              <a:gd name="T10" fmla="*/ 0 60000 65536"/>
              <a:gd name="T11" fmla="*/ 0 60000 65536"/>
              <a:gd name="T12" fmla="*/ 0 w 409"/>
              <a:gd name="T13" fmla="*/ 0 h 106"/>
              <a:gd name="T14" fmla="*/ 409 w 409"/>
              <a:gd name="T15" fmla="*/ 106 h 106"/>
            </a:gdLst>
            <a:ahLst/>
            <a:cxnLst>
              <a:cxn ang="T8">
                <a:pos x="T0" y="T1"/>
              </a:cxn>
              <a:cxn ang="T9">
                <a:pos x="T2" y="T3"/>
              </a:cxn>
              <a:cxn ang="T10">
                <a:pos x="T4" y="T5"/>
              </a:cxn>
              <a:cxn ang="T11">
                <a:pos x="T6" y="T7"/>
              </a:cxn>
            </a:cxnLst>
            <a:rect l="T12" t="T13" r="T14" b="T15"/>
            <a:pathLst>
              <a:path w="409" h="106">
                <a:moveTo>
                  <a:pt x="0" y="53"/>
                </a:moveTo>
                <a:cubicBezTo>
                  <a:pt x="38" y="26"/>
                  <a:pt x="77" y="0"/>
                  <a:pt x="137" y="8"/>
                </a:cubicBezTo>
                <a:cubicBezTo>
                  <a:pt x="197" y="16"/>
                  <a:pt x="318" y="92"/>
                  <a:pt x="363" y="99"/>
                </a:cubicBezTo>
                <a:cubicBezTo>
                  <a:pt x="408" y="106"/>
                  <a:pt x="401" y="61"/>
                  <a:pt x="409" y="53"/>
                </a:cubicBezTo>
              </a:path>
            </a:pathLst>
          </a:custGeom>
          <a:noFill/>
          <a:ln w="38100">
            <a:solidFill>
              <a:srgbClr val="FFCC00"/>
            </a:solidFill>
            <a:prstDash val="sysDot"/>
            <a:round/>
            <a:headEnd/>
            <a:tailEnd/>
          </a:ln>
        </p:spPr>
        <p:txBody>
          <a:bodyPr/>
          <a:p>
            <a:endParaRPr lang="fr-FR"/>
          </a:p>
        </p:txBody>
      </p:sp>
      <p:pic>
        <p:nvPicPr>
          <p:cNvPr id="2097158" name="Picture 29"/>
          <p:cNvPicPr>
            <a:picLocks noChangeAspect="1" noGrp="1" noChangeArrowheads="1"/>
          </p:cNvPicPr>
          <p:nvPr>
            <p:ph sz="half" idx="2"/>
          </p:nvPr>
        </p:nvPicPr>
        <p:blipFill>
          <a:blip xmlns:r="http://schemas.openxmlformats.org/officeDocument/2006/relationships" r:embed="rId1" cstate="print"/>
          <a:srcRect/>
          <a:stretch>
            <a:fillRect/>
          </a:stretch>
        </p:blipFill>
        <p:spPr>
          <a:xfrm>
            <a:off x="6586538" y="1052736"/>
            <a:ext cx="2089150" cy="1655762"/>
          </a:xfrm>
          <a:effectLst>
            <a:outerShdw algn="tl" blurRad="292100" dir="2700000" dist="139700" rotWithShape="0">
              <a:srgbClr val="333333">
                <a:alpha val="65000"/>
              </a:srgbClr>
            </a:outerShdw>
          </a:effectLst>
        </p:spPr>
      </p:pic>
      <p:sp>
        <p:nvSpPr>
          <p:cNvPr id="1048681" name="Freeform 30"/>
          <p:cNvSpPr/>
          <p:nvPr/>
        </p:nvSpPr>
        <p:spPr bwMode="auto">
          <a:xfrm>
            <a:off x="7594600" y="2008411"/>
            <a:ext cx="1081088" cy="334962"/>
          </a:xfrm>
          <a:custGeom>
            <a:avLst/>
            <a:gdLst>
              <a:gd name="T0" fmla="*/ 0 w 681"/>
              <a:gd name="T1" fmla="*/ 2147483647 h 211"/>
              <a:gd name="T2" fmla="*/ 2147483647 w 681"/>
              <a:gd name="T3" fmla="*/ 2147483647 h 211"/>
              <a:gd name="T4" fmla="*/ 2147483647 w 681"/>
              <a:gd name="T5" fmla="*/ 2147483647 h 211"/>
              <a:gd name="T6" fmla="*/ 2147483647 w 681"/>
              <a:gd name="T7" fmla="*/ 2147483647 h 211"/>
              <a:gd name="T8" fmla="*/ 2147483647 w 681"/>
              <a:gd name="T9" fmla="*/ 2147483647 h 211"/>
              <a:gd name="T10" fmla="*/ 0 60000 65536"/>
              <a:gd name="T11" fmla="*/ 0 60000 65536"/>
              <a:gd name="T12" fmla="*/ 0 60000 65536"/>
              <a:gd name="T13" fmla="*/ 0 60000 65536"/>
              <a:gd name="T14" fmla="*/ 0 60000 65536"/>
              <a:gd name="T15" fmla="*/ 0 w 681"/>
              <a:gd name="T16" fmla="*/ 0 h 211"/>
              <a:gd name="T17" fmla="*/ 681 w 681"/>
              <a:gd name="T18" fmla="*/ 211 h 211"/>
            </a:gdLst>
            <a:ahLst/>
            <a:cxnLst>
              <a:cxn ang="T10">
                <a:pos x="T0" y="T1"/>
              </a:cxn>
              <a:cxn ang="T11">
                <a:pos x="T2" y="T3"/>
              </a:cxn>
              <a:cxn ang="T12">
                <a:pos x="T4" y="T5"/>
              </a:cxn>
              <a:cxn ang="T13">
                <a:pos x="T6" y="T7"/>
              </a:cxn>
              <a:cxn ang="T14">
                <a:pos x="T8" y="T9"/>
              </a:cxn>
            </a:cxnLst>
            <a:rect l="T15" t="T16" r="T17" b="T18"/>
            <a:pathLst>
              <a:path w="681" h="211">
                <a:moveTo>
                  <a:pt x="0" y="30"/>
                </a:moveTo>
                <a:cubicBezTo>
                  <a:pt x="83" y="15"/>
                  <a:pt x="167" y="0"/>
                  <a:pt x="227" y="30"/>
                </a:cubicBezTo>
                <a:cubicBezTo>
                  <a:pt x="287" y="60"/>
                  <a:pt x="318" y="211"/>
                  <a:pt x="363" y="211"/>
                </a:cubicBezTo>
                <a:cubicBezTo>
                  <a:pt x="408" y="211"/>
                  <a:pt x="446" y="60"/>
                  <a:pt x="499" y="30"/>
                </a:cubicBezTo>
                <a:cubicBezTo>
                  <a:pt x="552" y="0"/>
                  <a:pt x="651" y="30"/>
                  <a:pt x="681" y="30"/>
                </a:cubicBezTo>
              </a:path>
            </a:pathLst>
          </a:custGeom>
          <a:noFill/>
          <a:ln w="38100">
            <a:solidFill>
              <a:srgbClr val="FFCC00"/>
            </a:solidFill>
            <a:prstDash val="sysDot"/>
            <a:round/>
            <a:headEnd/>
            <a:tailEnd/>
          </a:ln>
        </p:spPr>
        <p:txBody>
          <a:bodyPr/>
          <a:p>
            <a:endParaRPr lang="fr-FR"/>
          </a:p>
        </p:txBody>
      </p:sp>
      <p:pic>
        <p:nvPicPr>
          <p:cNvPr id="2097159" name="Picture 31"/>
          <p:cNvPicPr>
            <a:picLocks noChangeAspect="1" noChangeArrowheads="1"/>
          </p:cNvPicPr>
          <p:nvPr/>
        </p:nvPicPr>
        <p:blipFill>
          <a:blip xmlns:r="http://schemas.openxmlformats.org/officeDocument/2006/relationships" r:embed="rId1" cstate="print"/>
          <a:srcRect/>
          <a:stretch>
            <a:fillRect/>
          </a:stretch>
        </p:blipFill>
        <p:spPr bwMode="auto">
          <a:xfrm>
            <a:off x="6602413" y="3141886"/>
            <a:ext cx="2073275" cy="1673225"/>
          </a:xfrm>
          <a:prstGeom prst="rect"/>
          <a:ln>
            <a:noFill/>
          </a:ln>
          <a:effectLst>
            <a:outerShdw algn="tl" blurRad="292100" dir="2700000" dist="139700" rotWithShape="0">
              <a:srgbClr val="333333">
                <a:alpha val="65000"/>
              </a:srgbClr>
            </a:outerShdw>
          </a:effectLst>
        </p:spPr>
      </p:pic>
      <p:sp>
        <p:nvSpPr>
          <p:cNvPr id="1048682" name="Freeform 34"/>
          <p:cNvSpPr/>
          <p:nvPr/>
        </p:nvSpPr>
        <p:spPr bwMode="auto">
          <a:xfrm>
            <a:off x="7594600" y="3749898"/>
            <a:ext cx="1008063" cy="417513"/>
          </a:xfrm>
          <a:custGeom>
            <a:avLst/>
            <a:gdLst>
              <a:gd name="T0" fmla="*/ 0 w 635"/>
              <a:gd name="T1" fmla="*/ 2147483647 h 264"/>
              <a:gd name="T2" fmla="*/ 2147483647 w 635"/>
              <a:gd name="T3" fmla="*/ 2147483647 h 264"/>
              <a:gd name="T4" fmla="*/ 2147483647 w 635"/>
              <a:gd name="T5" fmla="*/ 0 h 264"/>
              <a:gd name="T6" fmla="*/ 2147483647 w 635"/>
              <a:gd name="T7" fmla="*/ 2147483647 h 264"/>
              <a:gd name="T8" fmla="*/ 2147483647 w 635"/>
              <a:gd name="T9" fmla="*/ 2147483647 h 264"/>
              <a:gd name="T10" fmla="*/ 0 60000 65536"/>
              <a:gd name="T11" fmla="*/ 0 60000 65536"/>
              <a:gd name="T12" fmla="*/ 0 60000 65536"/>
              <a:gd name="T13" fmla="*/ 0 60000 65536"/>
              <a:gd name="T14" fmla="*/ 0 60000 65536"/>
              <a:gd name="T15" fmla="*/ 0 w 635"/>
              <a:gd name="T16" fmla="*/ 0 h 264"/>
              <a:gd name="T17" fmla="*/ 635 w 635"/>
              <a:gd name="T18" fmla="*/ 264 h 264"/>
            </a:gdLst>
            <a:ahLst/>
            <a:cxnLst>
              <a:cxn ang="T10">
                <a:pos x="T0" y="T1"/>
              </a:cxn>
              <a:cxn ang="T11">
                <a:pos x="T2" y="T3"/>
              </a:cxn>
              <a:cxn ang="T12">
                <a:pos x="T4" y="T5"/>
              </a:cxn>
              <a:cxn ang="T13">
                <a:pos x="T6" y="T7"/>
              </a:cxn>
              <a:cxn ang="T14">
                <a:pos x="T8" y="T9"/>
              </a:cxn>
            </a:cxnLst>
            <a:rect l="T15" t="T16" r="T17" b="T18"/>
            <a:pathLst>
              <a:path w="635" h="264">
                <a:moveTo>
                  <a:pt x="0" y="226"/>
                </a:moveTo>
                <a:cubicBezTo>
                  <a:pt x="64" y="245"/>
                  <a:pt x="129" y="264"/>
                  <a:pt x="182" y="226"/>
                </a:cubicBezTo>
                <a:cubicBezTo>
                  <a:pt x="235" y="188"/>
                  <a:pt x="280" y="0"/>
                  <a:pt x="318" y="0"/>
                </a:cubicBezTo>
                <a:cubicBezTo>
                  <a:pt x="356" y="0"/>
                  <a:pt x="356" y="188"/>
                  <a:pt x="409" y="226"/>
                </a:cubicBezTo>
                <a:cubicBezTo>
                  <a:pt x="462" y="264"/>
                  <a:pt x="597" y="226"/>
                  <a:pt x="635" y="226"/>
                </a:cubicBezTo>
              </a:path>
            </a:pathLst>
          </a:custGeom>
          <a:noFill/>
          <a:ln w="38100">
            <a:solidFill>
              <a:srgbClr val="FFCC00"/>
            </a:solidFill>
            <a:round/>
            <a:headEnd/>
            <a:tailEnd/>
          </a:ln>
        </p:spPr>
        <p:txBody>
          <a:bodyPr/>
          <a:p>
            <a:endParaRPr lang="fr-FR"/>
          </a:p>
        </p:txBody>
      </p:sp>
      <p:sp>
        <p:nvSpPr>
          <p:cNvPr id="1048683" name="Freeform 34"/>
          <p:cNvSpPr/>
          <p:nvPr/>
        </p:nvSpPr>
        <p:spPr bwMode="auto">
          <a:xfrm>
            <a:off x="2916238" y="1628998"/>
            <a:ext cx="1008062" cy="417513"/>
          </a:xfrm>
          <a:custGeom>
            <a:avLst/>
            <a:gdLst>
              <a:gd name="T0" fmla="*/ 0 w 635"/>
              <a:gd name="T1" fmla="*/ 2147483647 h 264"/>
              <a:gd name="T2" fmla="*/ 2147483647 w 635"/>
              <a:gd name="T3" fmla="*/ 2147483647 h 264"/>
              <a:gd name="T4" fmla="*/ 2147483647 w 635"/>
              <a:gd name="T5" fmla="*/ 0 h 264"/>
              <a:gd name="T6" fmla="*/ 2147483647 w 635"/>
              <a:gd name="T7" fmla="*/ 2147483647 h 264"/>
              <a:gd name="T8" fmla="*/ 2147483647 w 635"/>
              <a:gd name="T9" fmla="*/ 2147483647 h 264"/>
              <a:gd name="T10" fmla="*/ 0 60000 65536"/>
              <a:gd name="T11" fmla="*/ 0 60000 65536"/>
              <a:gd name="T12" fmla="*/ 0 60000 65536"/>
              <a:gd name="T13" fmla="*/ 0 60000 65536"/>
              <a:gd name="T14" fmla="*/ 0 60000 65536"/>
              <a:gd name="T15" fmla="*/ 0 w 635"/>
              <a:gd name="T16" fmla="*/ 0 h 264"/>
              <a:gd name="T17" fmla="*/ 635 w 635"/>
              <a:gd name="T18" fmla="*/ 264 h 264"/>
            </a:gdLst>
            <a:ahLst/>
            <a:cxnLst>
              <a:cxn ang="T10">
                <a:pos x="T0" y="T1"/>
              </a:cxn>
              <a:cxn ang="T11">
                <a:pos x="T2" y="T3"/>
              </a:cxn>
              <a:cxn ang="T12">
                <a:pos x="T4" y="T5"/>
              </a:cxn>
              <a:cxn ang="T13">
                <a:pos x="T6" y="T7"/>
              </a:cxn>
              <a:cxn ang="T14">
                <a:pos x="T8" y="T9"/>
              </a:cxn>
            </a:cxnLst>
            <a:rect l="T15" t="T16" r="T17" b="T18"/>
            <a:pathLst>
              <a:path w="635" h="264">
                <a:moveTo>
                  <a:pt x="0" y="226"/>
                </a:moveTo>
                <a:cubicBezTo>
                  <a:pt x="64" y="245"/>
                  <a:pt x="129" y="264"/>
                  <a:pt x="182" y="226"/>
                </a:cubicBezTo>
                <a:cubicBezTo>
                  <a:pt x="235" y="188"/>
                  <a:pt x="280" y="0"/>
                  <a:pt x="318" y="0"/>
                </a:cubicBezTo>
                <a:cubicBezTo>
                  <a:pt x="356" y="0"/>
                  <a:pt x="356" y="188"/>
                  <a:pt x="409" y="226"/>
                </a:cubicBezTo>
                <a:cubicBezTo>
                  <a:pt x="462" y="264"/>
                  <a:pt x="597" y="226"/>
                  <a:pt x="635" y="226"/>
                </a:cubicBezTo>
              </a:path>
            </a:pathLst>
          </a:custGeom>
          <a:noFill/>
          <a:ln w="38100">
            <a:solidFill>
              <a:srgbClr val="FFCC00"/>
            </a:solidFill>
            <a:prstDash val="sysDot"/>
            <a:round/>
            <a:headEnd/>
            <a:tailEnd/>
          </a:ln>
        </p:spPr>
        <p:txBody>
          <a:bodyPr/>
          <a:p>
            <a:endParaRPr lang="fr-F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5" presetSubtype="10">
                                  <p:stCondLst>
                                    <p:cond delay="0"/>
                                  </p:stCondLst>
                                  <p:childTnLst>
                                    <p:set>
                                      <p:cBhvr>
                                        <p:cTn dur="1" fill="hold" id="6">
                                          <p:stCondLst>
                                            <p:cond delay="0"/>
                                          </p:stCondLst>
                                        </p:cTn>
                                        <p:tgtEl>
                                          <p:spTgt spid="1048677">
                                            <p:txEl>
                                              <p:pRg st="2" end="2"/>
                                            </p:txEl>
                                          </p:spTgt>
                                        </p:tgtEl>
                                        <p:attrNameLst>
                                          <p:attrName>style.visibility</p:attrName>
                                        </p:attrNameLst>
                                      </p:cBhvr>
                                      <p:to>
                                        <p:strVal val="visible"/>
                                      </p:to>
                                    </p:set>
                                    <p:animEffect transition="in" filter="checkerboard(across)">
                                      <p:cBhvr>
                                        <p:cTn dur="500" id="7"/>
                                        <p:tgtEl>
                                          <p:spTgt spid="1048677">
                                            <p:txEl>
                                              <p:pRg st="2" end="2"/>
                                            </p:txEl>
                                          </p:spTgt>
                                        </p:tgtEl>
                                      </p:cBhvr>
                                    </p:animEffect>
                                  </p:childTnLst>
                                </p:cTn>
                              </p:par>
                              <p:par>
                                <p:cTn fill="hold" id="8" nodeType="withEffect" presetClass="entr" presetID="5" presetSubtype="10">
                                  <p:stCondLst>
                                    <p:cond delay="0"/>
                                  </p:stCondLst>
                                  <p:childTnLst>
                                    <p:set>
                                      <p:cBhvr>
                                        <p:cTn dur="1" fill="hold" id="9">
                                          <p:stCondLst>
                                            <p:cond delay="0"/>
                                          </p:stCondLst>
                                        </p:cTn>
                                        <p:tgtEl>
                                          <p:spTgt spid="1048677">
                                            <p:txEl>
                                              <p:pRg st="3" end="3"/>
                                            </p:txEl>
                                          </p:spTgt>
                                        </p:tgtEl>
                                        <p:attrNameLst>
                                          <p:attrName>style.visibility</p:attrName>
                                        </p:attrNameLst>
                                      </p:cBhvr>
                                      <p:to>
                                        <p:strVal val="visible"/>
                                      </p:to>
                                    </p:set>
                                    <p:animEffect transition="in" filter="checkerboard(across)">
                                      <p:cBhvr>
                                        <p:cTn dur="500" id="10"/>
                                        <p:tgtEl>
                                          <p:spTgt spid="1048677">
                                            <p:txEl>
                                              <p:pRg st="3" end="3"/>
                                            </p:txEl>
                                          </p:spTgt>
                                        </p:tgtEl>
                                      </p:cBhvr>
                                    </p:animEffect>
                                  </p:childTnLst>
                                </p:cTn>
                              </p:par>
                              <p:par>
                                <p:cTn fill="hold" id="11" nodeType="withEffect" presetClass="entr" presetID="5" presetSubtype="10">
                                  <p:stCondLst>
                                    <p:cond delay="0"/>
                                  </p:stCondLst>
                                  <p:childTnLst>
                                    <p:set>
                                      <p:cBhvr>
                                        <p:cTn dur="1" fill="hold" id="12">
                                          <p:stCondLst>
                                            <p:cond delay="0"/>
                                          </p:stCondLst>
                                        </p:cTn>
                                        <p:tgtEl>
                                          <p:spTgt spid="1048677">
                                            <p:txEl>
                                              <p:pRg st="6" end="6"/>
                                            </p:txEl>
                                          </p:spTgt>
                                        </p:tgtEl>
                                        <p:attrNameLst>
                                          <p:attrName>style.visibility</p:attrName>
                                        </p:attrNameLst>
                                      </p:cBhvr>
                                      <p:to>
                                        <p:strVal val="visible"/>
                                      </p:to>
                                    </p:set>
                                    <p:animEffect transition="in" filter="checkerboard(across)">
                                      <p:cBhvr>
                                        <p:cTn dur="500" id="13"/>
                                        <p:tgtEl>
                                          <p:spTgt spid="1048677">
                                            <p:txEl>
                                              <p:pRg st="6" end="6"/>
                                            </p:txEl>
                                          </p:spTgt>
                                        </p:tgtEl>
                                      </p:cBhvr>
                                    </p:animEffect>
                                  </p:childTnLst>
                                </p:cTn>
                              </p:par>
                              <p:par>
                                <p:cTn fill="hold" id="14" nodeType="withEffect" presetClass="entr" presetID="5" presetSubtype="10">
                                  <p:stCondLst>
                                    <p:cond delay="0"/>
                                  </p:stCondLst>
                                  <p:childTnLst>
                                    <p:set>
                                      <p:cBhvr>
                                        <p:cTn dur="1" fill="hold" id="15">
                                          <p:stCondLst>
                                            <p:cond delay="0"/>
                                          </p:stCondLst>
                                        </p:cTn>
                                        <p:tgtEl>
                                          <p:spTgt spid="1048677">
                                            <p:txEl>
                                              <p:pRg st="7" end="7"/>
                                            </p:txEl>
                                          </p:spTgt>
                                        </p:tgtEl>
                                        <p:attrNameLst>
                                          <p:attrName>style.visibility</p:attrName>
                                        </p:attrNameLst>
                                      </p:cBhvr>
                                      <p:to>
                                        <p:strVal val="visible"/>
                                      </p:to>
                                    </p:set>
                                    <p:animEffect transition="in" filter="checkerboard(across)">
                                      <p:cBhvr>
                                        <p:cTn dur="500" id="16"/>
                                        <p:tgtEl>
                                          <p:spTgt spid="1048677">
                                            <p:txEl>
                                              <p:pRg st="7" end="7"/>
                                            </p:txEl>
                                          </p:spTgt>
                                        </p:tgtEl>
                                      </p:cBhvr>
                                    </p:animEffect>
                                  </p:childTnLst>
                                </p:cTn>
                              </p:par>
                            </p:childTnLst>
                          </p:cTn>
                        </p:par>
                      </p:childTnLst>
                    </p:cTn>
                  </p:par>
                  <p:par>
                    <p:cTn fill="hold" id="17">
                      <p:stCondLst>
                        <p:cond delay="indefinite"/>
                      </p:stCondLst>
                      <p:childTnLst>
                        <p:par>
                          <p:cTn fill="hold" id="18">
                            <p:stCondLst>
                              <p:cond delay="0"/>
                            </p:stCondLst>
                            <p:childTnLst>
                              <p:par>
                                <p:cTn fill="hold" id="19" nodeType="clickEffect" presetClass="entr" presetID="1" presetSubtype="0">
                                  <p:stCondLst>
                                    <p:cond delay="0"/>
                                  </p:stCondLst>
                                  <p:childTnLst>
                                    <p:set>
                                      <p:cBhvr>
                                        <p:cTn dur="1" fill="hold" id="20">
                                          <p:stCondLst>
                                            <p:cond delay="0"/>
                                          </p:stCondLst>
                                        </p:cTn>
                                        <p:tgtEl>
                                          <p:spTgt spid="2097156"/>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1048678"/>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id="25" nodeType="clickEffect" presetClass="entr" presetID="1" presetSubtype="0">
                                  <p:stCondLst>
                                    <p:cond delay="0"/>
                                  </p:stCondLst>
                                  <p:childTnLst>
                                    <p:set>
                                      <p:cBhvr>
                                        <p:cTn dur="1" fill="hold" id="26">
                                          <p:stCondLst>
                                            <p:cond delay="0"/>
                                          </p:stCondLst>
                                        </p:cTn>
                                        <p:tgtEl>
                                          <p:spTgt spid="2097157"/>
                                        </p:tgtEl>
                                        <p:attrNameLst>
                                          <p:attrName>style.visibility</p:attrName>
                                        </p:attrNameLst>
                                      </p:cBhvr>
                                      <p:to>
                                        <p:strVal val="visible"/>
                                      </p:to>
                                    </p:set>
                                  </p:childTnLst>
                                </p:cTn>
                              </p:par>
                              <p:par>
                                <p:cTn fill="hold" grpId="0" id="27" nodeType="withEffect" presetClass="entr" presetID="1" presetSubtype="0">
                                  <p:stCondLst>
                                    <p:cond delay="0"/>
                                  </p:stCondLst>
                                  <p:childTnLst>
                                    <p:set>
                                      <p:cBhvr>
                                        <p:cTn dur="1" fill="hold" id="28">
                                          <p:stCondLst>
                                            <p:cond delay="0"/>
                                          </p:stCondLst>
                                        </p:cTn>
                                        <p:tgtEl>
                                          <p:spTgt spid="1048679"/>
                                        </p:tgtEl>
                                        <p:attrNameLst>
                                          <p:attrName>style.visibility</p:attrName>
                                        </p:attrNameLst>
                                      </p:cBhvr>
                                      <p:to>
                                        <p:strVal val="visible"/>
                                      </p:to>
                                    </p:set>
                                  </p:childTnLst>
                                </p:cTn>
                              </p:par>
                              <p:par>
                                <p:cTn fill="hold" grpId="0" id="29" nodeType="withEffect" presetClass="entr" presetID="1" presetSubtype="0">
                                  <p:stCondLst>
                                    <p:cond delay="0"/>
                                  </p:stCondLst>
                                  <p:childTnLst>
                                    <p:set>
                                      <p:cBhvr>
                                        <p:cTn dur="1" fill="hold" id="30">
                                          <p:stCondLst>
                                            <p:cond delay="0"/>
                                          </p:stCondLst>
                                        </p:cTn>
                                        <p:tgtEl>
                                          <p:spTgt spid="1048680"/>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2097158"/>
                                        </p:tgtEl>
                                        <p:attrNameLst>
                                          <p:attrName>style.visibility</p:attrName>
                                        </p:attrNameLst>
                                      </p:cBhvr>
                                      <p:to>
                                        <p:strVal val="visible"/>
                                      </p:to>
                                    </p:set>
                                  </p:childTnLst>
                                </p:cTn>
                              </p:par>
                              <p:par>
                                <p:cTn fill="hold" grpId="0" id="35" nodeType="withEffect" presetClass="entr" presetID="1" presetSubtype="0">
                                  <p:stCondLst>
                                    <p:cond delay="0"/>
                                  </p:stCondLst>
                                  <p:childTnLst>
                                    <p:set>
                                      <p:cBhvr>
                                        <p:cTn dur="1" fill="hold" id="36">
                                          <p:stCondLst>
                                            <p:cond delay="0"/>
                                          </p:stCondLst>
                                        </p:cTn>
                                        <p:tgtEl>
                                          <p:spTgt spid="1048681"/>
                                        </p:tgtEl>
                                        <p:attrNameLst>
                                          <p:attrName>style.visibility</p:attrName>
                                        </p:attrNameLst>
                                      </p:cBhvr>
                                      <p:to>
                                        <p:strVal val="visible"/>
                                      </p:to>
                                    </p:set>
                                  </p:childTnLst>
                                </p:cTn>
                              </p:par>
                            </p:childTnLst>
                          </p:cTn>
                        </p:par>
                      </p:childTnLst>
                    </p:cTn>
                  </p:par>
                  <p:par>
                    <p:cTn fill="hold" id="37">
                      <p:stCondLst>
                        <p:cond delay="indefinite"/>
                      </p:stCondLst>
                      <p:childTnLst>
                        <p:par>
                          <p:cTn fill="hold" id="38">
                            <p:stCondLst>
                              <p:cond delay="0"/>
                            </p:stCondLst>
                            <p:childTnLst>
                              <p:par>
                                <p:cTn fill="hold" id="39" nodeType="clickEffect" presetClass="entr" presetID="1" presetSubtype="0">
                                  <p:stCondLst>
                                    <p:cond delay="0"/>
                                  </p:stCondLst>
                                  <p:childTnLst>
                                    <p:set>
                                      <p:cBhvr>
                                        <p:cTn dur="1" fill="hold" id="40">
                                          <p:stCondLst>
                                            <p:cond delay="0"/>
                                          </p:stCondLst>
                                        </p:cTn>
                                        <p:tgtEl>
                                          <p:spTgt spid="2097159"/>
                                        </p:tgtEl>
                                        <p:attrNameLst>
                                          <p:attrName>style.visibility</p:attrName>
                                        </p:attrNameLst>
                                      </p:cBhvr>
                                      <p:to>
                                        <p:strVal val="visible"/>
                                      </p:to>
                                    </p:set>
                                  </p:childTnLst>
                                </p:cTn>
                              </p:par>
                              <p:par>
                                <p:cTn fill="hold" grpId="0" id="41" nodeType="withEffect" presetClass="entr" presetID="1" presetSubtype="0">
                                  <p:stCondLst>
                                    <p:cond delay="0"/>
                                  </p:stCondLst>
                                  <p:childTnLst>
                                    <p:set>
                                      <p:cBhvr>
                                        <p:cTn dur="1" fill="hold" id="42">
                                          <p:stCondLst>
                                            <p:cond delay="0"/>
                                          </p:stCondLst>
                                        </p:cTn>
                                        <p:tgtEl>
                                          <p:spTgt spid="1048682"/>
                                        </p:tgtEl>
                                        <p:attrNameLst>
                                          <p:attrName>style.visibility</p:attrName>
                                        </p:attrNameLst>
                                      </p:cBhvr>
                                      <p:to>
                                        <p:strVal val="visible"/>
                                      </p:to>
                                    </p:set>
                                  </p:childTnLst>
                                </p:cTn>
                              </p:par>
                              <p:par>
                                <p:cTn fill="hold" grpId="0" id="43" nodeType="withEffect" presetClass="entr" presetID="1" presetSubtype="0">
                                  <p:stCondLst>
                                    <p:cond delay="0"/>
                                  </p:stCondLst>
                                  <p:childTnLst>
                                    <p:set>
                                      <p:cBhvr>
                                        <p:cTn dur="1" fill="hold" id="44">
                                          <p:stCondLst>
                                            <p:cond delay="0"/>
                                          </p:stCondLst>
                                        </p:cTn>
                                        <p:tgtEl>
                                          <p:spTgt spid="1048683"/>
                                        </p:tgtEl>
                                        <p:attrNameLst>
                                          <p:attrName>style.visibility</p:attrName>
                                        </p:attrNameLst>
                                      </p:cBhvr>
                                      <p:to>
                                        <p:strVal val="visible"/>
                                      </p:to>
                                    </p:set>
                                  </p:childTnLst>
                                </p:cTn>
                              </p:par>
                            </p:childTnLst>
                          </p:cTn>
                        </p:par>
                        <p:par>
                          <p:cTn fill="hold" id="45">
                            <p:stCondLst>
                              <p:cond delay="0"/>
                            </p:stCondLst>
                            <p:childTnLst>
                              <p:par>
                                <p:cTn fill="hold" id="46" nodeType="afterEffect" presetClass="entr" presetID="5" presetSubtype="10">
                                  <p:stCondLst>
                                    <p:cond delay="1000"/>
                                  </p:stCondLst>
                                  <p:childTnLst>
                                    <p:set>
                                      <p:cBhvr>
                                        <p:cTn dur="1" fill="hold" id="47">
                                          <p:stCondLst>
                                            <p:cond delay="0"/>
                                          </p:stCondLst>
                                        </p:cTn>
                                        <p:tgtEl>
                                          <p:spTgt spid="1048677">
                                            <p:txEl>
                                              <p:pRg st="10" end="10"/>
                                            </p:txEl>
                                          </p:spTgt>
                                        </p:tgtEl>
                                        <p:attrNameLst>
                                          <p:attrName>style.visibility</p:attrName>
                                        </p:attrNameLst>
                                      </p:cBhvr>
                                      <p:to>
                                        <p:strVal val="visible"/>
                                      </p:to>
                                    </p:set>
                                    <p:animEffect transition="in" filter="checkerboard(across)">
                                      <p:cBhvr>
                                        <p:cTn dur="500" id="48"/>
                                        <p:tgtEl>
                                          <p:spTgt spid="1048677">
                                            <p:txEl>
                                              <p:pRg st="10" end="10"/>
                                            </p:txEl>
                                          </p:spTgt>
                                        </p:tgtEl>
                                      </p:cBhvr>
                                    </p:animEffect>
                                  </p:childTnLst>
                                </p:cTn>
                              </p:par>
                            </p:childTnLst>
                          </p:cTn>
                        </p:par>
                        <p:par>
                          <p:cTn fill="hold" id="49">
                            <p:stCondLst>
                              <p:cond delay="1500"/>
                            </p:stCondLst>
                            <p:childTnLst>
                              <p:par>
                                <p:cTn fill="hold" id="50" nodeType="afterEffect" presetClass="entr" presetID="5" presetSubtype="10">
                                  <p:stCondLst>
                                    <p:cond delay="1000"/>
                                  </p:stCondLst>
                                  <p:childTnLst>
                                    <p:set>
                                      <p:cBhvr>
                                        <p:cTn dur="1" fill="hold" id="51">
                                          <p:stCondLst>
                                            <p:cond delay="0"/>
                                          </p:stCondLst>
                                        </p:cTn>
                                        <p:tgtEl>
                                          <p:spTgt spid="1048677">
                                            <p:txEl>
                                              <p:pRg st="11" end="11"/>
                                            </p:txEl>
                                          </p:spTgt>
                                        </p:tgtEl>
                                        <p:attrNameLst>
                                          <p:attrName>style.visibility</p:attrName>
                                        </p:attrNameLst>
                                      </p:cBhvr>
                                      <p:to>
                                        <p:strVal val="visible"/>
                                      </p:to>
                                    </p:set>
                                    <p:animEffect transition="in" filter="checkerboard(across)">
                                      <p:cBhvr>
                                        <p:cTn dur="500" id="52"/>
                                        <p:tgtEl>
                                          <p:spTgt spid="1048677">
                                            <p:txEl>
                                              <p:pRg st="11" end="11"/>
                                            </p:txEl>
                                          </p:spTgt>
                                        </p:tgtEl>
                                      </p:cBhvr>
                                    </p:animEffect>
                                  </p:childTnLst>
                                </p:cTn>
                              </p:par>
                              <p:par>
                                <p:cTn fill="hold" id="53" nodeType="withEffect" presetClass="entr" presetID="5" presetSubtype="10">
                                  <p:stCondLst>
                                    <p:cond delay="1500"/>
                                  </p:stCondLst>
                                  <p:childTnLst>
                                    <p:set>
                                      <p:cBhvr>
                                        <p:cTn dur="1" fill="hold" id="54">
                                          <p:stCondLst>
                                            <p:cond delay="0"/>
                                          </p:stCondLst>
                                        </p:cTn>
                                        <p:tgtEl>
                                          <p:spTgt spid="1048677">
                                            <p:txEl>
                                              <p:pRg st="12" end="12"/>
                                            </p:txEl>
                                          </p:spTgt>
                                        </p:tgtEl>
                                        <p:attrNameLst>
                                          <p:attrName>style.visibility</p:attrName>
                                        </p:attrNameLst>
                                      </p:cBhvr>
                                      <p:to>
                                        <p:strVal val="visible"/>
                                      </p:to>
                                    </p:set>
                                    <p:animEffect transition="in" filter="checkerboard(across)">
                                      <p:cBhvr>
                                        <p:cTn dur="500" id="55"/>
                                        <p:tgtEl>
                                          <p:spTgt spid="104867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8" grpId="0" animBg="1"/>
      <p:bldP spid="1048679" grpId="0" animBg="1"/>
      <p:bldP spid="1048680" grpId="0" animBg="1"/>
      <p:bldP spid="1048681" grpId="0" animBg="1"/>
      <p:bldP spid="1048682" grpId="0" animBg="1"/>
      <p:bldP spid="104868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91" name=""/>
        <p:cNvGrpSpPr/>
        <p:nvPr/>
      </p:nvGrpSpPr>
      <p:grpSpPr>
        <a:xfrm>
          <a:off x="0" y="0"/>
          <a:ext cx="0" cy="0"/>
          <a:chOff x="0" y="0"/>
          <a:chExt cx="0" cy="0"/>
        </a:xfrm>
      </p:grpSpPr>
      <p:sp>
        <p:nvSpPr>
          <p:cNvPr id="1048687" name="Titre 1"/>
          <p:cNvSpPr>
            <a:spLocks noGrp="1"/>
          </p:cNvSpPr>
          <p:nvPr>
            <p:ph type="title"/>
          </p:nvPr>
        </p:nvSpPr>
        <p:spPr>
          <a:xfrm>
            <a:off x="301625" y="0"/>
            <a:ext cx="8540750" cy="1143000"/>
          </a:xfrm>
        </p:spPr>
        <p:txBody>
          <a:bodyPr/>
          <a:p>
            <a:pPr algn="ctr" eaLnBrk="1" hangingPunct="1"/>
            <a:r>
              <a:rPr cap="none" dirty="0" sz="2800" lang="fr-FR" smtClean="0">
                <a:solidFill>
                  <a:srgbClr val="FF9900"/>
                </a:solidFill>
                <a:effectLst/>
                <a:latin typeface="+mn-lt"/>
              </a:rPr>
              <a:t>Particularités des anomalies </a:t>
            </a:r>
            <a:r>
              <a:rPr dirty="0" sz="2800" lang="fr-FR" smtClean="0">
                <a:solidFill>
                  <a:srgbClr val="FF9900"/>
                </a:solidFill>
                <a:effectLst/>
                <a:latin typeface="+mn-lt"/>
              </a:rPr>
              <a:t>ECG</a:t>
            </a:r>
          </a:p>
        </p:txBody>
      </p:sp>
      <p:sp>
        <p:nvSpPr>
          <p:cNvPr id="1048688" name="Espace réservé du contenu 2"/>
          <p:cNvSpPr>
            <a:spLocks noGrp="1"/>
          </p:cNvSpPr>
          <p:nvPr>
            <p:ph idx="1"/>
          </p:nvPr>
        </p:nvSpPr>
        <p:spPr>
          <a:xfrm>
            <a:off x="71438" y="1285875"/>
            <a:ext cx="9215437" cy="5214938"/>
          </a:xfrm>
        </p:spPr>
        <p:txBody>
          <a:bodyPr/>
          <a:p>
            <a:pPr eaLnBrk="1" hangingPunct="1">
              <a:buClr>
                <a:srgbClr val="FFC000"/>
              </a:buClr>
              <a:buFont typeface="Wingdings" pitchFamily="2" charset="2"/>
              <a:buChar char="Ø"/>
            </a:pPr>
            <a:r>
              <a:rPr dirty="0" sz="2800" lang="fr-FR" smtClean="0">
                <a:solidFill>
                  <a:schemeClr val="tx1">
                    <a:lumMod val="95000"/>
                    <a:lumOff val="5000"/>
                  </a:schemeClr>
                </a:solidFill>
              </a:rPr>
              <a:t>Concordantes:</a:t>
            </a:r>
            <a:r>
              <a:rPr dirty="0" sz="2800" lang="fr-FR" smtClean="0"/>
              <a:t> pas d’image en miroir</a:t>
            </a:r>
          </a:p>
          <a:p>
            <a:pPr eaLnBrk="1" hangingPunct="1">
              <a:buClr>
                <a:srgbClr val="FFC000"/>
              </a:buClr>
              <a:buFont typeface="Wingdings" pitchFamily="2" charset="2"/>
              <a:buChar char="Ø"/>
            </a:pPr>
            <a:r>
              <a:rPr dirty="0" sz="2800" lang="fr-FR" smtClean="0">
                <a:solidFill>
                  <a:schemeClr val="tx1">
                    <a:lumMod val="95000"/>
                    <a:lumOff val="5000"/>
                  </a:schemeClr>
                </a:solidFill>
              </a:rPr>
              <a:t>Diffuses:</a:t>
            </a:r>
            <a:r>
              <a:rPr dirty="0" sz="2800" lang="fr-FR" smtClean="0"/>
              <a:t> non systématisées                          </a:t>
            </a:r>
            <a:r>
              <a:rPr dirty="0" sz="2800" lang="fr-FR" err="1" smtClean="0"/>
              <a:t>Dgc</a:t>
            </a:r>
            <a:r>
              <a:rPr dirty="0" sz="2800" lang="fr-FR" smtClean="0"/>
              <a:t> # IDM </a:t>
            </a:r>
          </a:p>
          <a:p>
            <a:pPr eaLnBrk="1" hangingPunct="1">
              <a:buClr>
                <a:srgbClr val="FFC000"/>
              </a:buClr>
              <a:buFont typeface="Wingdings" pitchFamily="2" charset="2"/>
              <a:buChar char="Ø"/>
            </a:pPr>
            <a:r>
              <a:rPr dirty="0" sz="2800" lang="fr-FR" smtClean="0">
                <a:solidFill>
                  <a:schemeClr val="tx1">
                    <a:lumMod val="95000"/>
                    <a:lumOff val="5000"/>
                  </a:schemeClr>
                </a:solidFill>
              </a:rPr>
              <a:t>Sans ondes Q </a:t>
            </a:r>
          </a:p>
          <a:p>
            <a:pPr eaLnBrk="1" hangingPunct="1">
              <a:buClr>
                <a:srgbClr val="FFFF00"/>
              </a:buClr>
              <a:buFont typeface="Arial" charset="0"/>
              <a:buNone/>
            </a:pPr>
            <a:endParaRPr dirty="0" sz="2800" lang="fr-FR" smtClean="0">
              <a:solidFill>
                <a:schemeClr val="tx2">
                  <a:lumMod val="90000"/>
                </a:schemeClr>
              </a:solidFill>
            </a:endParaRPr>
          </a:p>
          <a:p>
            <a:pPr eaLnBrk="1" hangingPunct="1">
              <a:buClr>
                <a:srgbClr val="FFFF00"/>
              </a:buClr>
              <a:buFont typeface="Arial" charset="0"/>
              <a:buNone/>
            </a:pPr>
            <a:r>
              <a:rPr dirty="0" sz="2800" lang="fr-FR" smtClean="0">
                <a:solidFill>
                  <a:schemeClr val="tx2">
                    <a:lumMod val="90000"/>
                  </a:schemeClr>
                </a:solidFill>
              </a:rPr>
              <a:t>                             </a:t>
            </a:r>
            <a:r>
              <a:rPr dirty="0" sz="2800" lang="fr-FR" smtClean="0">
                <a:solidFill>
                  <a:schemeClr val="bg2">
                    <a:lumMod val="10000"/>
                  </a:schemeClr>
                </a:solidFill>
              </a:rPr>
              <a:t>AUTRES</a:t>
            </a:r>
          </a:p>
          <a:p>
            <a:pPr eaLnBrk="1" hangingPunct="1">
              <a:buClr>
                <a:srgbClr val="FFC000"/>
              </a:buClr>
              <a:buFont typeface="Wingdings" pitchFamily="2" charset="2"/>
              <a:buChar char="Ø"/>
            </a:pPr>
            <a:r>
              <a:rPr dirty="0" sz="2800" lang="fr-FR" smtClean="0"/>
              <a:t> </a:t>
            </a:r>
            <a:r>
              <a:rPr dirty="0" sz="2800" lang="fr-FR" smtClean="0">
                <a:solidFill>
                  <a:srgbClr val="C00000"/>
                </a:solidFill>
              </a:rPr>
              <a:t>sous décalage PQ</a:t>
            </a:r>
            <a:r>
              <a:rPr dirty="0" sz="2800" lang="fr-FR" smtClean="0"/>
              <a:t>                                      </a:t>
            </a:r>
            <a:r>
              <a:rPr dirty="0" sz="2800" lang="fr-FR" smtClean="0">
                <a:solidFill>
                  <a:schemeClr val="accent4">
                    <a:lumMod val="10000"/>
                  </a:schemeClr>
                </a:solidFill>
              </a:rPr>
              <a:t>------------------</a:t>
            </a:r>
            <a:r>
              <a:rPr dirty="0" sz="2800" lang="fr-FR" smtClean="0"/>
              <a:t>  </a:t>
            </a:r>
          </a:p>
          <a:p>
            <a:pPr eaLnBrk="1" hangingPunct="1">
              <a:buClr>
                <a:srgbClr val="FFC000"/>
              </a:buClr>
              <a:buFont typeface="Wingdings" pitchFamily="2" charset="2"/>
              <a:buChar char="Ø"/>
            </a:pPr>
            <a:r>
              <a:rPr dirty="0" sz="2800" lang="fr-FR" smtClean="0"/>
              <a:t> microvoltage: R </a:t>
            </a:r>
            <a:r>
              <a:rPr dirty="0" sz="3600" lang="fr-FR" smtClean="0"/>
              <a:t>&lt;</a:t>
            </a:r>
            <a:r>
              <a:rPr dirty="0" sz="2800" lang="fr-FR" smtClean="0"/>
              <a:t> 5 mm</a:t>
            </a:r>
          </a:p>
          <a:p>
            <a:pPr eaLnBrk="1" hangingPunct="1">
              <a:buClr>
                <a:srgbClr val="FFC000"/>
              </a:buClr>
              <a:buFont typeface="Wingdings" pitchFamily="2" charset="2"/>
              <a:buChar char="Ø"/>
            </a:pPr>
            <a:r>
              <a:rPr dirty="0" sz="2800" lang="fr-FR" smtClean="0"/>
              <a:t> troubles rythmiques supra-V: FA</a:t>
            </a:r>
          </a:p>
          <a:p>
            <a:pPr eaLnBrk="1" hangingPunct="1">
              <a:buClr>
                <a:srgbClr val="FFC000"/>
              </a:buClr>
              <a:buFont typeface="Wingdings" pitchFamily="2" charset="2"/>
              <a:buChar char="Ø"/>
            </a:pPr>
            <a:r>
              <a:rPr dirty="0" sz="2800" lang="fr-FR" smtClean="0"/>
              <a:t> </a:t>
            </a:r>
            <a:r>
              <a:rPr dirty="0" sz="2800" lang="fr-FR" smtClean="0">
                <a:solidFill>
                  <a:schemeClr val="bg2">
                    <a:lumMod val="10000"/>
                  </a:schemeClr>
                </a:solidFill>
              </a:rPr>
              <a:t>si ESV/ TV/ BAV =&gt; myocardite associée</a:t>
            </a:r>
          </a:p>
        </p:txBody>
      </p:sp>
      <p:sp>
        <p:nvSpPr>
          <p:cNvPr id="1048689" name="AutoShape 7"/>
          <p:cNvSpPr/>
          <p:nvPr/>
        </p:nvSpPr>
        <p:spPr bwMode="auto">
          <a:xfrm>
            <a:off x="6429375" y="1285875"/>
            <a:ext cx="500063" cy="1571625"/>
          </a:xfrm>
          <a:prstGeom prst="rightBrace">
            <a:avLst>
              <a:gd name="adj1" fmla="val 61504"/>
              <a:gd name="adj2" fmla="val 50000"/>
            </a:avLst>
          </a:prstGeom>
          <a:noFill/>
          <a:ln w="25400">
            <a:solidFill>
              <a:srgbClr val="FFCC00"/>
            </a:solidFill>
            <a:round/>
            <a:headEnd/>
            <a:tailEnd/>
          </a:ln>
        </p:spPr>
        <p:txBody>
          <a:bodyPr anchor="ctr" wrap="none"/>
          <a:p>
            <a:pPr algn="ctr"/>
            <a:r>
              <a:rPr lang="fr-FR">
                <a:latin typeface="Tahoma" pitchFamily="34" charset="0"/>
              </a:rPr>
              <a:t> </a:t>
            </a:r>
          </a:p>
        </p:txBody>
      </p:sp>
      <p:sp>
        <p:nvSpPr>
          <p:cNvPr id="1048690" name="Forme libre 4"/>
          <p:cNvSpPr>
            <a:spLocks noChangeArrowheads="1"/>
          </p:cNvSpPr>
          <p:nvPr/>
        </p:nvSpPr>
        <p:spPr bwMode="auto">
          <a:xfrm>
            <a:off x="6643688" y="3419475"/>
            <a:ext cx="1549400" cy="1152525"/>
          </a:xfrm>
          <a:custGeom>
            <a:avLst/>
            <a:gdLst>
              <a:gd name="T0" fmla="*/ 0 w 2090057"/>
              <a:gd name="T1" fmla="*/ 1 h 1719943"/>
              <a:gd name="T2" fmla="*/ 1 w 2090057"/>
              <a:gd name="T3" fmla="*/ 1 h 1719943"/>
              <a:gd name="T4" fmla="*/ 1 w 2090057"/>
              <a:gd name="T5" fmla="*/ 1 h 1719943"/>
              <a:gd name="T6" fmla="*/ 1 w 2090057"/>
              <a:gd name="T7" fmla="*/ 1 h 1719943"/>
              <a:gd name="T8" fmla="*/ 1 w 2090057"/>
              <a:gd name="T9" fmla="*/ 1 h 1719943"/>
              <a:gd name="T10" fmla="*/ 2 w 2090057"/>
              <a:gd name="T11" fmla="*/ 1 h 1719943"/>
              <a:gd name="T12" fmla="*/ 2 w 2090057"/>
              <a:gd name="T13" fmla="*/ 1 h 1719943"/>
              <a:gd name="T14" fmla="*/ 3 w 2090057"/>
              <a:gd name="T15" fmla="*/ 1 h 1719943"/>
              <a:gd name="T16" fmla="*/ 3 w 2090057"/>
              <a:gd name="T17" fmla="*/ 1 h 1719943"/>
              <a:gd name="T18" fmla="*/ 4 w 2090057"/>
              <a:gd name="T19" fmla="*/ 1 h 1719943"/>
              <a:gd name="T20" fmla="*/ 4 w 2090057"/>
              <a:gd name="T21" fmla="*/ 1 h 1719943"/>
              <a:gd name="T22" fmla="*/ 5 w 2090057"/>
              <a:gd name="T23" fmla="*/ 1 h 1719943"/>
              <a:gd name="T24" fmla="*/ 5 w 2090057"/>
              <a:gd name="T25" fmla="*/ 1 h 17199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90057"/>
              <a:gd name="T40" fmla="*/ 0 h 1719943"/>
              <a:gd name="T41" fmla="*/ 2090057 w 2090057"/>
              <a:gd name="T42" fmla="*/ 1719943 h 171994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90057" h="1719943">
                <a:moveTo>
                  <a:pt x="0" y="1021080"/>
                </a:moveTo>
                <a:cubicBezTo>
                  <a:pt x="58783" y="907869"/>
                  <a:pt x="117566" y="794658"/>
                  <a:pt x="182880" y="799012"/>
                </a:cubicBezTo>
                <a:cubicBezTo>
                  <a:pt x="248194" y="803366"/>
                  <a:pt x="341812" y="1005840"/>
                  <a:pt x="391886" y="1047206"/>
                </a:cubicBezTo>
                <a:cubicBezTo>
                  <a:pt x="441960" y="1088572"/>
                  <a:pt x="431075" y="1016726"/>
                  <a:pt x="483326" y="1047206"/>
                </a:cubicBezTo>
                <a:cubicBezTo>
                  <a:pt x="535577" y="1077686"/>
                  <a:pt x="646611" y="1186543"/>
                  <a:pt x="705394" y="1230086"/>
                </a:cubicBezTo>
                <a:cubicBezTo>
                  <a:pt x="764177" y="1273629"/>
                  <a:pt x="801189" y="1506583"/>
                  <a:pt x="836023" y="1308463"/>
                </a:cubicBezTo>
                <a:cubicBezTo>
                  <a:pt x="870857" y="1110343"/>
                  <a:pt x="886097" y="0"/>
                  <a:pt x="914400" y="41366"/>
                </a:cubicBezTo>
                <a:cubicBezTo>
                  <a:pt x="942703" y="82732"/>
                  <a:pt x="977537" y="1393371"/>
                  <a:pt x="1005840" y="1556657"/>
                </a:cubicBezTo>
                <a:cubicBezTo>
                  <a:pt x="1034143" y="1719943"/>
                  <a:pt x="1016726" y="1114697"/>
                  <a:pt x="1084217" y="1021080"/>
                </a:cubicBezTo>
                <a:cubicBezTo>
                  <a:pt x="1151708" y="927463"/>
                  <a:pt x="1332411" y="1049384"/>
                  <a:pt x="1410788" y="994955"/>
                </a:cubicBezTo>
                <a:cubicBezTo>
                  <a:pt x="1489165" y="940527"/>
                  <a:pt x="1482634" y="692332"/>
                  <a:pt x="1554480" y="694509"/>
                </a:cubicBezTo>
                <a:cubicBezTo>
                  <a:pt x="1626326" y="696686"/>
                  <a:pt x="1752600" y="951411"/>
                  <a:pt x="1841863" y="1008017"/>
                </a:cubicBezTo>
                <a:cubicBezTo>
                  <a:pt x="1931126" y="1064623"/>
                  <a:pt x="2090057" y="1034143"/>
                  <a:pt x="2090057" y="1034143"/>
                </a:cubicBezTo>
              </a:path>
            </a:pathLst>
          </a:custGeom>
          <a:noFill/>
          <a:ln w="38100" algn="ctr">
            <a:solidFill>
              <a:schemeClr val="accent2">
                <a:lumMod val="50000"/>
              </a:schemeClr>
            </a:solidFill>
            <a:round/>
            <a:headEnd/>
            <a:tailEnd/>
          </a:ln>
        </p:spPr>
        <p:txBody>
          <a:bodyPr/>
          <a:p>
            <a:endParaRPr lang="fr-FR"/>
          </a:p>
        </p:txBody>
      </p:sp>
      <p:cxnSp>
        <p:nvCxnSpPr>
          <p:cNvPr id="3145730" name="Connecteur droit avec flèche 6"/>
          <p:cNvCxnSpPr>
            <a:cxnSpLocks noChangeShapeType="1"/>
          </p:cNvCxnSpPr>
          <p:nvPr/>
        </p:nvCxnSpPr>
        <p:spPr bwMode="auto">
          <a:xfrm rot="5400000" flipH="1" flipV="1">
            <a:off x="6665120" y="4336256"/>
            <a:ext cx="442912" cy="200025"/>
          </a:xfrm>
          <a:prstGeom prst="straightConnector1"/>
          <a:noFill/>
          <a:ln w="38100" algn="ctr">
            <a:solidFill>
              <a:srgbClr val="C00000"/>
            </a:solidFill>
            <a:round/>
            <a:headEnd/>
            <a:tailEnd type="arrow" w="med" len="med"/>
          </a:ln>
        </p:spPr>
      </p:cxnSp>
      <p:sp>
        <p:nvSpPr>
          <p:cNvPr id="1048691" name="ZoneTexte 6"/>
          <p:cNvSpPr txBox="1">
            <a:spLocks noChangeArrowheads="1"/>
          </p:cNvSpPr>
          <p:nvPr/>
        </p:nvSpPr>
        <p:spPr bwMode="auto">
          <a:xfrm>
            <a:off x="6429375" y="3643313"/>
            <a:ext cx="469900" cy="461962"/>
          </a:xfrm>
          <a:prstGeom prst="rect"/>
          <a:noFill/>
          <a:ln w="9525">
            <a:noFill/>
            <a:miter lim="800000"/>
            <a:headEnd/>
            <a:tailEnd/>
          </a:ln>
        </p:spPr>
        <p:txBody>
          <a:bodyPr>
            <a:spAutoFit/>
          </a:bodyPr>
          <a:p>
            <a:r>
              <a:rPr sz="2400" lang="fr-FR">
                <a:solidFill>
                  <a:srgbClr val="C00000"/>
                </a:solidFill>
              </a:rPr>
              <a:t>p</a:t>
            </a:r>
          </a:p>
        </p:txBody>
      </p:sp>
      <p:sp>
        <p:nvSpPr>
          <p:cNvPr id="1048692" name="ZoneTexte 8"/>
          <p:cNvSpPr txBox="1">
            <a:spLocks noChangeArrowheads="1"/>
          </p:cNvSpPr>
          <p:nvPr/>
        </p:nvSpPr>
        <p:spPr bwMode="auto">
          <a:xfrm>
            <a:off x="7000875" y="4314825"/>
            <a:ext cx="384175" cy="400050"/>
          </a:xfrm>
          <a:prstGeom prst="rect"/>
          <a:noFill/>
          <a:ln w="9525">
            <a:noFill/>
            <a:miter lim="800000"/>
            <a:headEnd/>
            <a:tailEnd/>
          </a:ln>
        </p:spPr>
        <p:txBody>
          <a:bodyPr wrap="none">
            <a:spAutoFit/>
          </a:bodyPr>
          <a:p>
            <a:r>
              <a:rPr b="1" sz="2000" lang="fr-FR">
                <a:solidFill>
                  <a:srgbClr val="C00000"/>
                </a:solidFill>
              </a:rPr>
              <a:t>Q</a:t>
            </a:r>
          </a:p>
        </p:txBody>
      </p:sp>
      <p:sp>
        <p:nvSpPr>
          <p:cNvPr id="1048693" name="ZoneTexte 9"/>
          <p:cNvSpPr txBox="1">
            <a:spLocks noChangeArrowheads="1"/>
          </p:cNvSpPr>
          <p:nvPr/>
        </p:nvSpPr>
        <p:spPr bwMode="auto">
          <a:xfrm>
            <a:off x="7286625" y="3143250"/>
            <a:ext cx="411163" cy="461963"/>
          </a:xfrm>
          <a:prstGeom prst="rect"/>
          <a:noFill/>
          <a:ln w="9525">
            <a:noFill/>
            <a:miter lim="800000"/>
            <a:headEnd/>
            <a:tailEnd/>
          </a:ln>
        </p:spPr>
        <p:txBody>
          <a:bodyPr>
            <a:spAutoFit/>
          </a:bodyPr>
          <a:p>
            <a:r>
              <a:rPr sz="2400" lang="fr-FR">
                <a:solidFill>
                  <a:srgbClr val="C00000"/>
                </a:solidFill>
              </a:rPr>
              <a:t>R</a:t>
            </a:r>
          </a:p>
        </p:txBody>
      </p:sp>
      <p:sp>
        <p:nvSpPr>
          <p:cNvPr id="1048694" name="ZoneTexte 10"/>
          <p:cNvSpPr txBox="1">
            <a:spLocks noChangeArrowheads="1"/>
          </p:cNvSpPr>
          <p:nvPr/>
        </p:nvSpPr>
        <p:spPr bwMode="auto">
          <a:xfrm>
            <a:off x="7786688" y="3600450"/>
            <a:ext cx="341312" cy="400050"/>
          </a:xfrm>
          <a:prstGeom prst="rect"/>
          <a:noFill/>
          <a:ln w="9525">
            <a:noFill/>
            <a:miter lim="800000"/>
            <a:headEnd/>
            <a:tailEnd/>
          </a:ln>
        </p:spPr>
        <p:txBody>
          <a:bodyPr wrap="none">
            <a:spAutoFit/>
          </a:bodyPr>
          <a:p>
            <a:r>
              <a:rPr sz="2000" lang="fr-FR">
                <a:solidFill>
                  <a:srgbClr val="C00000"/>
                </a:solidFill>
              </a:rPr>
              <a:t>T</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1048688">
                                            <p:txEl>
                                              <p:pRg st="4" end="4"/>
                                            </p:txEl>
                                          </p:spTgt>
                                        </p:tgtEl>
                                        <p:attrNameLst>
                                          <p:attrName>style.visibility</p:attrName>
                                        </p:attrNameLst>
                                      </p:cBhvr>
                                      <p:to>
                                        <p:strVal val="visible"/>
                                      </p:to>
                                    </p:set>
                                  </p:childTnLst>
                                </p:cTn>
                              </p:par>
                              <p:par>
                                <p:cTn fill="hold" id="7" nodeType="withEffect" presetClass="entr" presetID="1" presetSubtype="0">
                                  <p:stCondLst>
                                    <p:cond delay="0"/>
                                  </p:stCondLst>
                                  <p:childTnLst>
                                    <p:set>
                                      <p:cBhvr>
                                        <p:cTn dur="1" fill="hold" id="8">
                                          <p:stCondLst>
                                            <p:cond delay="0"/>
                                          </p:stCondLst>
                                        </p:cTn>
                                        <p:tgtEl>
                                          <p:spTgt spid="1048688">
                                            <p:txEl>
                                              <p:pRg st="5" end="5"/>
                                            </p:txEl>
                                          </p:spTgt>
                                        </p:tgtEl>
                                        <p:attrNameLst>
                                          <p:attrName>style.visibility</p:attrName>
                                        </p:attrNameLst>
                                      </p:cBhvr>
                                      <p:to>
                                        <p:strVal val="visible"/>
                                      </p:to>
                                    </p:set>
                                  </p:childTnLst>
                                </p:cTn>
                              </p:par>
                              <p:par>
                                <p:cTn fill="hold" id="9" nodeType="withEffect" presetClass="entr" presetID="1" presetSubtype="0">
                                  <p:stCondLst>
                                    <p:cond delay="0"/>
                                  </p:stCondLst>
                                  <p:childTnLst>
                                    <p:set>
                                      <p:cBhvr>
                                        <p:cTn dur="1" fill="hold" id="10">
                                          <p:stCondLst>
                                            <p:cond delay="0"/>
                                          </p:stCondLst>
                                        </p:cTn>
                                        <p:tgtEl>
                                          <p:spTgt spid="1048688">
                                            <p:txEl>
                                              <p:pRg st="6" end="6"/>
                                            </p:txEl>
                                          </p:spTgt>
                                        </p:tgtEl>
                                        <p:attrNameLst>
                                          <p:attrName>style.visibility</p:attrName>
                                        </p:attrNameLst>
                                      </p:cBhvr>
                                      <p:to>
                                        <p:strVal val="visible"/>
                                      </p:to>
                                    </p:set>
                                  </p:childTnLst>
                                </p:cTn>
                              </p:par>
                              <p:par>
                                <p:cTn fill="hold" id="11" nodeType="withEffect" presetClass="entr" presetID="1" presetSubtype="0">
                                  <p:stCondLst>
                                    <p:cond delay="0"/>
                                  </p:stCondLst>
                                  <p:childTnLst>
                                    <p:set>
                                      <p:cBhvr>
                                        <p:cTn dur="1" fill="hold" id="12">
                                          <p:stCondLst>
                                            <p:cond delay="0"/>
                                          </p:stCondLst>
                                        </p:cTn>
                                        <p:tgtEl>
                                          <p:spTgt spid="1048688">
                                            <p:txEl>
                                              <p:pRg st="7" end="7"/>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048688">
                                            <p:txEl>
                                              <p:pRg st="8" end="8"/>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1048690"/>
                                        </p:tgtEl>
                                        <p:attrNameLst>
                                          <p:attrName>style.visibility</p:attrName>
                                        </p:attrNameLst>
                                      </p:cBhvr>
                                      <p:to>
                                        <p:strVal val="visible"/>
                                      </p:to>
                                    </p:set>
                                  </p:childTnLst>
                                </p:cTn>
                              </p:par>
                              <p:par>
                                <p:cTn fill="hold" id="17" nodeType="withEffect" presetClass="entr" presetID="2" presetSubtype="4">
                                  <p:stCondLst>
                                    <p:cond delay="0"/>
                                  </p:stCondLst>
                                  <p:childTnLst>
                                    <p:set>
                                      <p:cBhvr>
                                        <p:cTn dur="1" fill="hold" id="18">
                                          <p:stCondLst>
                                            <p:cond delay="0"/>
                                          </p:stCondLst>
                                        </p:cTn>
                                        <p:tgtEl>
                                          <p:spTgt spid="3145730"/>
                                        </p:tgtEl>
                                        <p:attrNameLst>
                                          <p:attrName>style.visibility</p:attrName>
                                        </p:attrNameLst>
                                      </p:cBhvr>
                                      <p:to>
                                        <p:strVal val="visible"/>
                                      </p:to>
                                    </p:set>
                                    <p:anim calcmode="lin" valueType="num">
                                      <p:cBhvr additive="base">
                                        <p:cTn dur="500" fill="hold" id="19"/>
                                        <p:tgtEl>
                                          <p:spTgt spid="3145730"/>
                                        </p:tgtEl>
                                        <p:attrNameLst>
                                          <p:attrName>ppt_x</p:attrName>
                                        </p:attrNameLst>
                                      </p:cBhvr>
                                      <p:tavLst>
                                        <p:tav tm="0">
                                          <p:val>
                                            <p:strVal val="#ppt_x"/>
                                          </p:val>
                                        </p:tav>
                                        <p:tav tm="100000">
                                          <p:val>
                                            <p:strVal val="#ppt_x"/>
                                          </p:val>
                                        </p:tav>
                                      </p:tavLst>
                                    </p:anim>
                                    <p:anim calcmode="lin" valueType="num">
                                      <p:cBhvr additive="base">
                                        <p:cTn dur="500" fill="hold" id="20"/>
                                        <p:tgtEl>
                                          <p:spTgt spid="3145730"/>
                                        </p:tgtEl>
                                        <p:attrNameLst>
                                          <p:attrName>ppt_y</p:attrName>
                                        </p:attrNameLst>
                                      </p:cBhvr>
                                      <p:tavLst>
                                        <p:tav tm="0">
                                          <p:val>
                                            <p:strVal val="1+#ppt_h/2"/>
                                          </p:val>
                                        </p:tav>
                                        <p:tav tm="100000">
                                          <p:val>
                                            <p:strVal val="#ppt_y"/>
                                          </p:val>
                                        </p:tav>
                                      </p:tavLst>
                                    </p:anim>
                                  </p:childTnLst>
                                </p:cTn>
                              </p:par>
                              <p:par>
                                <p:cTn fill="hold" id="21" nodeType="withEffect" presetClass="entr" presetID="1" presetSubtype="0">
                                  <p:stCondLst>
                                    <p:cond delay="0"/>
                                  </p:stCondLst>
                                  <p:childTnLst>
                                    <p:set>
                                      <p:cBhvr>
                                        <p:cTn dur="1" fill="hold" id="22">
                                          <p:stCondLst>
                                            <p:cond delay="0"/>
                                          </p:stCondLst>
                                        </p:cTn>
                                        <p:tgtEl>
                                          <p:spTgt spid="1048693">
                                            <p:txEl>
                                              <p:pRg st="0" end="0"/>
                                            </p:txEl>
                                          </p:spTgt>
                                        </p:tgtEl>
                                        <p:attrNameLst>
                                          <p:attrName>style.visibility</p:attrName>
                                        </p:attrNameLst>
                                      </p:cBhvr>
                                      <p:to>
                                        <p:strVal val="visible"/>
                                      </p:to>
                                    </p:set>
                                  </p:childTnLst>
                                </p:cTn>
                              </p:par>
                              <p:par>
                                <p:cTn fill="hold" grpId="0" id="23" nodeType="withEffect" presetClass="entr" presetID="1" presetSubtype="0">
                                  <p:stCondLst>
                                    <p:cond delay="0"/>
                                  </p:stCondLst>
                                  <p:childTnLst>
                                    <p:set>
                                      <p:cBhvr>
                                        <p:cTn dur="1" fill="hold" id="24">
                                          <p:stCondLst>
                                            <p:cond delay="0"/>
                                          </p:stCondLst>
                                        </p:cTn>
                                        <p:tgtEl>
                                          <p:spTgt spid="1048694"/>
                                        </p:tgtEl>
                                        <p:attrNameLst>
                                          <p:attrName>style.visibility</p:attrName>
                                        </p:attrNameLst>
                                      </p:cBhvr>
                                      <p:to>
                                        <p:strVal val="visible"/>
                                      </p:to>
                                    </p:set>
                                  </p:childTnLst>
                                </p:cTn>
                              </p:par>
                              <p:par>
                                <p:cTn fill="hold" grpId="0" id="25" nodeType="withEffect" presetClass="entr" presetID="1" presetSubtype="0">
                                  <p:stCondLst>
                                    <p:cond delay="0"/>
                                  </p:stCondLst>
                                  <p:childTnLst>
                                    <p:set>
                                      <p:cBhvr>
                                        <p:cTn dur="1" fill="hold" id="26">
                                          <p:stCondLst>
                                            <p:cond delay="0"/>
                                          </p:stCondLst>
                                        </p:cTn>
                                        <p:tgtEl>
                                          <p:spTgt spid="1048692"/>
                                        </p:tgtEl>
                                        <p:attrNameLst>
                                          <p:attrName>style.visibility</p:attrName>
                                        </p:attrNameLst>
                                      </p:cBhvr>
                                      <p:to>
                                        <p:strVal val="visible"/>
                                      </p:to>
                                    </p:set>
                                  </p:childTnLst>
                                </p:cTn>
                              </p:par>
                              <p:par>
                                <p:cTn fill="hold" grpId="0" id="27" nodeType="withEffect" presetClass="entr" presetID="1" presetSubtype="0">
                                  <p:stCondLst>
                                    <p:cond delay="0"/>
                                  </p:stCondLst>
                                  <p:childTnLst>
                                    <p:set>
                                      <p:cBhvr>
                                        <p:cTn dur="1" fill="hold" id="28">
                                          <p:stCondLst>
                                            <p:cond delay="0"/>
                                          </p:stCondLst>
                                        </p:cTn>
                                        <p:tgtEl>
                                          <p:spTgt spid="1048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91" grpId="0"/>
      <p:bldP spid="1048692" grpId="0"/>
      <p:bldP spid="1048694"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94" name=""/>
        <p:cNvGrpSpPr/>
        <p:nvPr/>
      </p:nvGrpSpPr>
      <p:grpSpPr>
        <a:xfrm>
          <a:off x="0" y="0"/>
          <a:ext cx="0" cy="0"/>
          <a:chOff x="0" y="0"/>
          <a:chExt cx="0" cy="0"/>
        </a:xfrm>
      </p:grpSpPr>
      <p:pic>
        <p:nvPicPr>
          <p:cNvPr id="2097160" name="Image 4"/>
          <p:cNvPicPr>
            <a:picLocks/>
          </p:cNvPicPr>
          <p:nvPr/>
        </p:nvPicPr>
        <p:blipFill>
          <a:blip xmlns:r="http://schemas.openxmlformats.org/officeDocument/2006/relationships" r:embed="rId1" cstate="print"/>
          <a:srcRect/>
          <a:stretch>
            <a:fillRect/>
          </a:stretch>
        </p:blipFill>
        <p:spPr bwMode="auto">
          <a:xfrm>
            <a:off x="179512" y="44624"/>
            <a:ext cx="8712968" cy="6480720"/>
          </a:xfrm>
          <a:prstGeom prst="rect"/>
          <a:ln>
            <a:noFill/>
          </a:ln>
          <a:effectLst>
            <a:outerShdw algn="tl" blurRad="292100" dir="2700000" dist="139700" rotWithShape="0">
              <a:srgbClr val="333333">
                <a:alpha val="65000"/>
              </a:srgbClr>
            </a:outerShdw>
          </a:effectLst>
        </p:spPr>
      </p:pic>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pic>
        <p:nvPicPr>
          <p:cNvPr id="2097161" name="Picture 2" descr="C:\Users\DADY COOL\Documents\Dossier cours ECG\ECG\péricardite.jpg"/>
          <p:cNvPicPr>
            <a:picLocks noChangeAspect="1" noChangeArrowheads="1"/>
          </p:cNvPicPr>
          <p:nvPr/>
        </p:nvPicPr>
        <p:blipFill>
          <a:blip xmlns:r="http://schemas.openxmlformats.org/officeDocument/2006/relationships" r:embed="rId1" cstate="print"/>
          <a:srcRect t="1402" b="1380"/>
          <a:stretch>
            <a:fillRect/>
          </a:stretch>
        </p:blipFill>
        <p:spPr bwMode="auto">
          <a:xfrm>
            <a:off x="217488" y="981075"/>
            <a:ext cx="8747125" cy="5040313"/>
          </a:xfrm>
          <a:prstGeom prst="rect"/>
          <a:ln>
            <a:noFill/>
          </a:ln>
          <a:effectLst>
            <a:outerShdw algn="tl" blurRad="292100" dir="2700000" dist="139700" rotWithShape="0">
              <a:srgbClr val="333333">
                <a:alpha val="65000"/>
              </a:srgbClr>
            </a:outerShdw>
          </a:effectLst>
        </p:spPr>
      </p:pic>
      <p:sp>
        <p:nvSpPr>
          <p:cNvPr id="1048701" name="ZoneTexte 2"/>
          <p:cNvSpPr txBox="1">
            <a:spLocks noChangeArrowheads="1"/>
          </p:cNvSpPr>
          <p:nvPr/>
        </p:nvSpPr>
        <p:spPr bwMode="auto">
          <a:xfrm>
            <a:off x="7812088" y="6289675"/>
            <a:ext cx="1152525" cy="307975"/>
          </a:xfrm>
          <a:prstGeom prst="rect"/>
          <a:noFill/>
          <a:ln w="9525">
            <a:noFill/>
            <a:miter lim="800000"/>
            <a:headEnd/>
            <a:tailEnd/>
          </a:ln>
        </p:spPr>
        <p:txBody>
          <a:bodyPr>
            <a:spAutoFit/>
          </a:bodyPr>
          <a:p>
            <a:r>
              <a:rPr dirty="0" sz="1400" lang="fr-FR" smtClean="0"/>
              <a:t>figure II</a:t>
            </a:r>
            <a:endParaRPr dirty="0" sz="1400" lang="fr-FR"/>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pic>
        <p:nvPicPr>
          <p:cNvPr id="2097162" name="Picture 2" descr="C:\Users\DADY COOL\Documents\Dossier cours ECG\ECG\péric..jpg"/>
          <p:cNvPicPr>
            <a:picLocks noChangeAspect="1" noChangeArrowheads="1"/>
          </p:cNvPicPr>
          <p:nvPr/>
        </p:nvPicPr>
        <p:blipFill>
          <a:blip xmlns:r="http://schemas.openxmlformats.org/officeDocument/2006/relationships" r:embed="rId1" cstate="print">
            <a:lum bright="-10000"/>
          </a:blip>
          <a:srcRect b="6409"/>
          <a:stretch>
            <a:fillRect/>
          </a:stretch>
        </p:blipFill>
        <p:spPr bwMode="auto">
          <a:xfrm>
            <a:off x="219075" y="476250"/>
            <a:ext cx="8705850" cy="5543550"/>
          </a:xfrm>
          <a:prstGeom prst="rect"/>
          <a:ln>
            <a:noFill/>
          </a:ln>
          <a:effectLst>
            <a:outerShdw algn="tl" blurRad="292100" dir="2700000" dist="139700" rotWithShape="0">
              <a:srgbClr val="333333">
                <a:alpha val="65000"/>
              </a:srgbClr>
            </a:outerShdw>
          </a:effectLst>
        </p:spPr>
      </p:pic>
      <p:sp>
        <p:nvSpPr>
          <p:cNvPr id="1048705" name="ZoneTexte 6"/>
          <p:cNvSpPr txBox="1">
            <a:spLocks noChangeArrowheads="1"/>
          </p:cNvSpPr>
          <p:nvPr/>
        </p:nvSpPr>
        <p:spPr bwMode="auto">
          <a:xfrm>
            <a:off x="7740650" y="6299200"/>
            <a:ext cx="1152525" cy="307975"/>
          </a:xfrm>
          <a:prstGeom prst="rect"/>
          <a:noFill/>
          <a:ln w="9525">
            <a:noFill/>
            <a:miter lim="800000"/>
            <a:headEnd/>
            <a:tailEnd/>
          </a:ln>
        </p:spPr>
        <p:txBody>
          <a:bodyPr>
            <a:spAutoFit/>
          </a:bodyPr>
          <a:p>
            <a:r>
              <a:rPr dirty="0" sz="1400" lang="fr-FR" smtClean="0"/>
              <a:t>figure III</a:t>
            </a:r>
            <a:endParaRPr dirty="0" sz="1400" lang="fr-F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pic>
        <p:nvPicPr>
          <p:cNvPr id="2097163" name="Picture 4"/>
          <p:cNvPicPr>
            <a:picLocks noChangeAspect="1" noChangeArrowheads="1"/>
          </p:cNvPicPr>
          <p:nvPr/>
        </p:nvPicPr>
        <p:blipFill>
          <a:blip xmlns:r="http://schemas.openxmlformats.org/officeDocument/2006/relationships" r:embed="rId1" cstate="print">
            <a:lum bright="-10000" contrast="30000"/>
          </a:blip>
          <a:srcRect/>
          <a:stretch>
            <a:fillRect/>
          </a:stretch>
        </p:blipFill>
        <p:spPr bwMode="auto">
          <a:xfrm>
            <a:off x="1331913" y="214313"/>
            <a:ext cx="6169025" cy="6429375"/>
          </a:xfrm>
          <a:prstGeom prst="rect"/>
          <a:ln>
            <a:noFill/>
          </a:ln>
          <a:effectLst>
            <a:outerShdw algn="tl" blurRad="292100" dir="2700000" dist="139700" rotWithShape="0">
              <a:srgbClr val="333333">
                <a:alpha val="65000"/>
              </a:srgbClr>
            </a:outerShdw>
          </a:effectLst>
        </p:spPr>
      </p:pic>
      <p:sp>
        <p:nvSpPr>
          <p:cNvPr id="1048709" name="ZoneTexte 3"/>
          <p:cNvSpPr txBox="1">
            <a:spLocks noChangeArrowheads="1"/>
          </p:cNvSpPr>
          <p:nvPr/>
        </p:nvSpPr>
        <p:spPr bwMode="auto">
          <a:xfrm>
            <a:off x="7667625" y="5949950"/>
            <a:ext cx="1225550" cy="307777"/>
          </a:xfrm>
          <a:prstGeom prst="rect"/>
          <a:noFill/>
          <a:ln w="9525">
            <a:noFill/>
            <a:miter lim="800000"/>
            <a:headEnd/>
            <a:tailEnd/>
          </a:ln>
        </p:spPr>
        <p:txBody>
          <a:bodyPr>
            <a:spAutoFit/>
          </a:bodyPr>
          <a:p>
            <a:r>
              <a:rPr dirty="0" sz="1400" lang="fr-FR" smtClean="0"/>
              <a:t>figure </a:t>
            </a:r>
            <a:r>
              <a:rPr dirty="0" sz="1400" lang="fr-FR"/>
              <a:t>VIII</a:t>
            </a:r>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06" name=""/>
        <p:cNvGrpSpPr/>
        <p:nvPr/>
      </p:nvGrpSpPr>
      <p:grpSpPr>
        <a:xfrm>
          <a:off x="0" y="0"/>
          <a:ext cx="0" cy="0"/>
          <a:chOff x="0" y="0"/>
          <a:chExt cx="0" cy="0"/>
        </a:xfrm>
      </p:grpSpPr>
      <p:sp>
        <p:nvSpPr>
          <p:cNvPr id="1048713" name="Titre 3"/>
          <p:cNvSpPr>
            <a:spLocks noGrp="1"/>
          </p:cNvSpPr>
          <p:nvPr>
            <p:ph type="title"/>
          </p:nvPr>
        </p:nvSpPr>
        <p:spPr>
          <a:xfrm flipV="1">
            <a:off x="357188" y="-571500"/>
            <a:ext cx="8540750" cy="142875"/>
          </a:xfrm>
        </p:spPr>
        <p:txBody>
          <a:bodyPr>
            <a:normAutofit fontScale="90000"/>
          </a:bodyPr>
          <a:p>
            <a:pPr eaLnBrk="1" hangingPunct="1"/>
            <a:endParaRPr dirty="0" lang="fr-FR"/>
          </a:p>
        </p:txBody>
      </p:sp>
      <p:sp>
        <p:nvSpPr>
          <p:cNvPr id="1048714" name="Espace réservé du contenu 4"/>
          <p:cNvSpPr>
            <a:spLocks noGrp="1"/>
          </p:cNvSpPr>
          <p:nvPr>
            <p:ph idx="1"/>
          </p:nvPr>
        </p:nvSpPr>
        <p:spPr>
          <a:xfrm>
            <a:off x="0" y="214313"/>
            <a:ext cx="9215438" cy="6643687"/>
          </a:xfrm>
        </p:spPr>
        <p:txBody>
          <a:bodyPr>
            <a:normAutofit/>
          </a:bodyPr>
          <a:p>
            <a:pPr algn="ctr" eaLnBrk="1" hangingPunct="1">
              <a:buClr>
                <a:srgbClr val="FF9900"/>
              </a:buClr>
              <a:buSzPct val="90000"/>
              <a:buFont typeface="Arial" charset="0"/>
              <a:buChar char="•"/>
            </a:pPr>
            <a:r>
              <a:rPr dirty="0" lang="fr-FR" smtClean="0">
                <a:solidFill>
                  <a:srgbClr val="C00000"/>
                </a:solidFill>
              </a:rPr>
              <a:t>Signes radiographiques </a:t>
            </a:r>
          </a:p>
          <a:p>
            <a:pPr eaLnBrk="1" hangingPunct="1">
              <a:buClr>
                <a:srgbClr val="FF9900"/>
              </a:buClr>
              <a:buFont typeface="Wingdings" pitchFamily="2" charset="2"/>
              <a:buChar char="Ø"/>
            </a:pPr>
            <a:r>
              <a:rPr dirty="0" sz="2800" lang="fr-FR" smtClean="0">
                <a:solidFill>
                  <a:schemeClr val="tx1"/>
                </a:solidFill>
              </a:rPr>
              <a:t>Péricardite sèche = volume cœur normal </a:t>
            </a:r>
          </a:p>
          <a:p>
            <a:pPr eaLnBrk="1" hangingPunct="1">
              <a:buClr>
                <a:srgbClr val="FF9900"/>
              </a:buClr>
              <a:buFont typeface="Arial" charset="0"/>
              <a:buNone/>
            </a:pPr>
            <a:r>
              <a:rPr dirty="0" sz="2800" lang="fr-FR" smtClean="0">
                <a:solidFill>
                  <a:schemeClr val="tx1"/>
                </a:solidFill>
              </a:rPr>
              <a:t>                               =&gt; </a:t>
            </a:r>
            <a:r>
              <a:rPr dirty="0" sz="2800" lang="fr-FR" err="1" smtClean="0">
                <a:solidFill>
                  <a:schemeClr val="tx1"/>
                </a:solidFill>
              </a:rPr>
              <a:t>Dgc</a:t>
            </a:r>
            <a:r>
              <a:rPr dirty="0" sz="2800" lang="fr-FR" smtClean="0">
                <a:solidFill>
                  <a:schemeClr val="tx1"/>
                </a:solidFill>
              </a:rPr>
              <a:t> non éliminé</a:t>
            </a:r>
          </a:p>
          <a:p>
            <a:pPr eaLnBrk="1" hangingPunct="1">
              <a:buClr>
                <a:srgbClr val="FF9900"/>
              </a:buClr>
              <a:buFont typeface="Wingdings" pitchFamily="2" charset="2"/>
              <a:buChar char="Ø"/>
            </a:pPr>
            <a:r>
              <a:rPr dirty="0" sz="2800" lang="fr-FR" smtClean="0">
                <a:solidFill>
                  <a:schemeClr val="tx1"/>
                </a:solidFill>
              </a:rPr>
              <a:t>Liquide &gt; 300 ml = cardiomégalie symétrique:</a:t>
            </a:r>
          </a:p>
          <a:p>
            <a:pPr eaLnBrk="1" hangingPunct="1">
              <a:buClr>
                <a:srgbClr val="FF9900"/>
              </a:buClr>
              <a:buFont typeface="Arial" charset="0"/>
              <a:buNone/>
            </a:pPr>
            <a:r>
              <a:rPr dirty="0" sz="2800" lang="fr-FR" smtClean="0">
                <a:solidFill>
                  <a:schemeClr val="tx1"/>
                </a:solidFill>
              </a:rPr>
              <a:t>   - rectitude bord gauche</a:t>
            </a:r>
          </a:p>
          <a:p>
            <a:pPr eaLnBrk="1" hangingPunct="1">
              <a:buClr>
                <a:srgbClr val="FF9900"/>
              </a:buClr>
              <a:buFont typeface="Arial" charset="0"/>
              <a:buNone/>
            </a:pPr>
            <a:r>
              <a:rPr dirty="0" sz="2800" lang="fr-FR" smtClean="0">
                <a:solidFill>
                  <a:schemeClr val="tx1"/>
                </a:solidFill>
              </a:rPr>
              <a:t>   - recouvrement hilaire</a:t>
            </a:r>
          </a:p>
          <a:p>
            <a:pPr eaLnBrk="1" hangingPunct="1">
              <a:buClr>
                <a:srgbClr val="FF9900"/>
              </a:buClr>
              <a:buFont typeface="Arial" charset="0"/>
              <a:buNone/>
            </a:pPr>
            <a:r>
              <a:rPr dirty="0" sz="2800" lang="fr-FR" smtClean="0"/>
              <a:t>                                                  </a:t>
            </a:r>
            <a:endParaRPr dirty="0" sz="2800" lang="fr-FR" smtClean="0">
              <a:solidFill>
                <a:srgbClr val="6D98DD"/>
              </a:solidFill>
            </a:endParaRPr>
          </a:p>
          <a:p>
            <a:pPr eaLnBrk="1" hangingPunct="1">
              <a:buClr>
                <a:srgbClr val="FF9900"/>
              </a:buClr>
              <a:buFont typeface="Wingdings" pitchFamily="2" charset="2"/>
              <a:buChar char="Ø"/>
            </a:pPr>
            <a:r>
              <a:rPr dirty="0" sz="2800" lang="fr-FR" smtClean="0">
                <a:solidFill>
                  <a:srgbClr val="FA8006"/>
                </a:solidFill>
              </a:rPr>
              <a:t>Vérifier:</a:t>
            </a:r>
          </a:p>
          <a:p>
            <a:pPr eaLnBrk="1" hangingPunct="1">
              <a:buClr>
                <a:srgbClr val="FF9900"/>
              </a:buClr>
              <a:buFont typeface="Arial" charset="0"/>
              <a:buNone/>
            </a:pPr>
            <a:r>
              <a:rPr dirty="0" sz="2800" lang="fr-FR" smtClean="0"/>
              <a:t>  </a:t>
            </a:r>
            <a:r>
              <a:rPr dirty="0" sz="2800" lang="fr-FR" smtClean="0">
                <a:solidFill>
                  <a:schemeClr val="tx1"/>
                </a:solidFill>
              </a:rPr>
              <a:t>-</a:t>
            </a:r>
            <a:r>
              <a:rPr dirty="0" sz="2800" lang="fr-FR" smtClean="0">
                <a:solidFill>
                  <a:srgbClr val="FFFF00"/>
                </a:solidFill>
              </a:rPr>
              <a:t> </a:t>
            </a:r>
            <a:r>
              <a:rPr dirty="0" sz="2800" lang="fr-FR" smtClean="0">
                <a:solidFill>
                  <a:schemeClr val="tx1"/>
                </a:solidFill>
              </a:rPr>
              <a:t>plèvre</a:t>
            </a:r>
          </a:p>
          <a:p>
            <a:pPr eaLnBrk="1" hangingPunct="1">
              <a:buClr>
                <a:srgbClr val="FF9900"/>
              </a:buClr>
              <a:buFont typeface="Arial" charset="0"/>
              <a:buNone/>
            </a:pPr>
            <a:r>
              <a:rPr dirty="0" sz="2800" lang="fr-FR" smtClean="0">
                <a:solidFill>
                  <a:schemeClr val="tx1"/>
                </a:solidFill>
              </a:rPr>
              <a:t>  - parenchyme </a:t>
            </a:r>
          </a:p>
          <a:p>
            <a:pPr eaLnBrk="1" hangingPunct="1">
              <a:buClr>
                <a:srgbClr val="FF9900"/>
              </a:buClr>
              <a:buFont typeface="Arial" charset="0"/>
              <a:buNone/>
            </a:pPr>
            <a:r>
              <a:rPr dirty="0" sz="2800" lang="fr-FR" smtClean="0">
                <a:solidFill>
                  <a:schemeClr val="tx1"/>
                </a:solidFill>
              </a:rPr>
              <a:t>  - médiastin, os, diaphragme…</a:t>
            </a:r>
          </a:p>
          <a:p>
            <a:pPr eaLnBrk="1" hangingPunct="1">
              <a:buClr>
                <a:srgbClr val="FF9900"/>
              </a:buClr>
              <a:buFont typeface="Arial" charset="0"/>
              <a:buNone/>
            </a:pPr>
            <a:r>
              <a:rPr dirty="0" sz="2800" lang="fr-FR" smtClean="0">
                <a:solidFill>
                  <a:schemeClr val="tx1"/>
                </a:solidFill>
              </a:rPr>
              <a:t>   pour l’enquête étiologique </a:t>
            </a:r>
          </a:p>
          <a:p>
            <a:pPr eaLnBrk="1" hangingPunct="1">
              <a:buClr>
                <a:srgbClr val="FF9900"/>
              </a:buClr>
              <a:buFont typeface="Arial" charset="0"/>
              <a:buNone/>
            </a:pPr>
            <a:r>
              <a:rPr dirty="0" sz="2800" lang="fr-FR" smtClean="0">
                <a:solidFill>
                  <a:schemeClr val="tx1"/>
                </a:solidFill>
              </a:rPr>
              <a:t>  - signes d’IC en cas de myocardite                           </a:t>
            </a:r>
          </a:p>
          <a:p>
            <a:pPr eaLnBrk="1" hangingPunct="1">
              <a:buClr>
                <a:srgbClr val="FF9900"/>
              </a:buClr>
              <a:buFont typeface="Arial" charset="0"/>
              <a:buNone/>
            </a:pPr>
            <a:endParaRPr dirty="0" sz="2800" lang="fr-FR" smtClean="0"/>
          </a:p>
          <a:p>
            <a:pPr eaLnBrk="1" hangingPunct="1">
              <a:buClr>
                <a:srgbClr val="FF9900"/>
              </a:buClr>
              <a:buFont typeface="Arial" charset="0"/>
              <a:buNone/>
            </a:pPr>
            <a:r>
              <a:rPr dirty="0" sz="2800" lang="fr-FR" smtClean="0"/>
              <a:t>                                               </a:t>
            </a:r>
            <a:endParaRPr dirty="0" sz="2800" lang="fr-FR" smtClean="0">
              <a:solidFill>
                <a:srgbClr val="CCFFCC"/>
              </a:solidFill>
            </a:endParaRPr>
          </a:p>
        </p:txBody>
      </p:sp>
      <p:pic>
        <p:nvPicPr>
          <p:cNvPr id="2097164" name="Image 21" descr="TDM coeur coronale.jpg"/>
          <p:cNvPicPr>
            <a:picLocks noChangeAspect="1"/>
          </p:cNvPicPr>
          <p:nvPr/>
        </p:nvPicPr>
        <p:blipFill>
          <a:blip xmlns:r="http://schemas.openxmlformats.org/officeDocument/2006/relationships" r:embed="rId1" cstate="print">
            <a:duotone>
              <a:prstClr val="black"/>
              <a:schemeClr val="tx2">
                <a:tint val="45000"/>
                <a:satMod val="400000"/>
              </a:schemeClr>
            </a:duotone>
          </a:blip>
          <a:srcRect l="11914" t="1660" r="11914" b="49454"/>
          <a:stretch>
            <a:fillRect/>
          </a:stretch>
        </p:blipFill>
        <p:spPr>
          <a:xfrm>
            <a:off x="5004048" y="3284984"/>
            <a:ext cx="4065062" cy="3430734"/>
          </a:xfrm>
          <a:prstGeom prst="rect"/>
          <a:ln>
            <a:solidFill>
              <a:schemeClr val="tx1"/>
            </a:solidFill>
          </a:ln>
          <a:effectLst>
            <a:outerShdw algn="tl" blurRad="292100" dir="2700000" dist="139700" rotWithShape="0">
              <a:srgbClr val="333333">
                <a:alpha val="65000"/>
              </a:srgbClr>
            </a:outerShdw>
          </a:effectLst>
        </p:spPr>
      </p:pic>
      <p:sp>
        <p:nvSpPr>
          <p:cNvPr id="1048715" name="Forme libre 23"/>
          <p:cNvSpPr/>
          <p:nvPr/>
        </p:nvSpPr>
        <p:spPr bwMode="auto">
          <a:xfrm rot="173817">
            <a:off x="7541199" y="5010124"/>
            <a:ext cx="956882" cy="1616667"/>
          </a:xfrm>
          <a:custGeom>
            <a:avLst/>
            <a:gdLst>
              <a:gd name="connsiteX0" fmla="*/ 0 w 1018903"/>
              <a:gd name="connsiteY0" fmla="*/ 0 h 1410789"/>
              <a:gd name="connsiteX1" fmla="*/ 457200 w 1018903"/>
              <a:gd name="connsiteY1" fmla="*/ 209006 h 1410789"/>
              <a:gd name="connsiteX2" fmla="*/ 822960 w 1018903"/>
              <a:gd name="connsiteY2" fmla="*/ 640080 h 1410789"/>
              <a:gd name="connsiteX3" fmla="*/ 1018903 w 1018903"/>
              <a:gd name="connsiteY3" fmla="*/ 1410789 h 1410789"/>
              <a:gd name="connsiteX4" fmla="*/ 1018903 w 1018903"/>
              <a:gd name="connsiteY4" fmla="*/ 1410789 h 1410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903" h="1410789">
                <a:moveTo>
                  <a:pt x="0" y="0"/>
                </a:moveTo>
                <a:cubicBezTo>
                  <a:pt x="160020" y="51163"/>
                  <a:pt x="320040" y="102326"/>
                  <a:pt x="457200" y="209006"/>
                </a:cubicBezTo>
                <a:cubicBezTo>
                  <a:pt x="594360" y="315686"/>
                  <a:pt x="729343" y="439783"/>
                  <a:pt x="822960" y="640080"/>
                </a:cubicBezTo>
                <a:cubicBezTo>
                  <a:pt x="916577" y="840377"/>
                  <a:pt x="1018903" y="1410789"/>
                  <a:pt x="1018903" y="1410789"/>
                </a:cubicBezTo>
                <a:lnTo>
                  <a:pt x="1018903" y="1410789"/>
                </a:lnTo>
              </a:path>
            </a:pathLst>
          </a:custGeom>
          <a:blipFill rotWithShape="1" dpi="0">
            <a:blip xmlns:r="http://schemas.openxmlformats.org/officeDocument/2006/relationships" r:embed="rId2" cstate="print">
              <a:alphaModFix amt="60000"/>
            </a:blip>
            <a:srcRect/>
            <a:tile algn="br" flip="none" sx="100000" sy="100000" tx="0" ty="0"/>
          </a:blipFill>
          <a:ln w="38100" cap="flat" cmpd="sng" algn="ctr">
            <a:solidFill>
              <a:srgbClr val="FFCC00"/>
            </a:solidFill>
            <a:prstDash val="solid"/>
            <a:round/>
            <a:headEnd type="none" w="med" len="med"/>
            <a:tailEnd type="none" w="med" len="med"/>
          </a:ln>
          <a:effectLst/>
        </p:spPr>
        <p:txBody>
          <a:bodyPr/>
          <a:p>
            <a:endParaRPr lang="fr-FR"/>
          </a:p>
        </p:txBody>
      </p:sp>
      <p:sp>
        <p:nvSpPr>
          <p:cNvPr id="1048716" name="Forme libre 7"/>
          <p:cNvSpPr/>
          <p:nvPr/>
        </p:nvSpPr>
        <p:spPr bwMode="auto">
          <a:xfrm>
            <a:off x="6477557" y="5164777"/>
            <a:ext cx="326691" cy="979437"/>
          </a:xfrm>
          <a:custGeom>
            <a:avLst/>
            <a:gdLst>
              <a:gd name="connsiteX0" fmla="*/ 324394 w 324394"/>
              <a:gd name="connsiteY0" fmla="*/ 0 h 864326"/>
              <a:gd name="connsiteX1" fmla="*/ 50074 w 324394"/>
              <a:gd name="connsiteY1" fmla="*/ 300446 h 864326"/>
              <a:gd name="connsiteX2" fmla="*/ 23948 w 324394"/>
              <a:gd name="connsiteY2" fmla="*/ 783772 h 864326"/>
              <a:gd name="connsiteX3" fmla="*/ 37011 w 324394"/>
              <a:gd name="connsiteY3" fmla="*/ 783772 h 864326"/>
              <a:gd name="connsiteX4" fmla="*/ 37011 w 324394"/>
              <a:gd name="connsiteY4" fmla="*/ 783772 h 864326"/>
              <a:gd name="connsiteX5" fmla="*/ 37011 w 324394"/>
              <a:gd name="connsiteY5" fmla="*/ 796835 h 864326"/>
              <a:gd name="connsiteX0" fmla="*/ 324394 w 324394"/>
              <a:gd name="connsiteY0" fmla="*/ 0 h 864326"/>
              <a:gd name="connsiteX1" fmla="*/ 50074 w 324394"/>
              <a:gd name="connsiteY1" fmla="*/ 300446 h 864326"/>
              <a:gd name="connsiteX2" fmla="*/ 23948 w 324394"/>
              <a:gd name="connsiteY2" fmla="*/ 783772 h 864326"/>
              <a:gd name="connsiteX3" fmla="*/ 37011 w 324394"/>
              <a:gd name="connsiteY3" fmla="*/ 783772 h 864326"/>
              <a:gd name="connsiteX4" fmla="*/ 37011 w 324394"/>
              <a:gd name="connsiteY4" fmla="*/ 783772 h 864326"/>
              <a:gd name="connsiteX5" fmla="*/ 37011 w 324394"/>
              <a:gd name="connsiteY5" fmla="*/ 796835 h 864326"/>
              <a:gd name="connsiteX0" fmla="*/ 324394 w 324394"/>
              <a:gd name="connsiteY0" fmla="*/ 66546 h 930872"/>
              <a:gd name="connsiteX1" fmla="*/ 50074 w 324394"/>
              <a:gd name="connsiteY1" fmla="*/ 366992 h 930872"/>
              <a:gd name="connsiteX2" fmla="*/ 23948 w 324394"/>
              <a:gd name="connsiteY2" fmla="*/ 850318 h 930872"/>
              <a:gd name="connsiteX3" fmla="*/ 37011 w 324394"/>
              <a:gd name="connsiteY3" fmla="*/ 850318 h 930872"/>
              <a:gd name="connsiteX4" fmla="*/ 37011 w 324394"/>
              <a:gd name="connsiteY4" fmla="*/ 850318 h 930872"/>
              <a:gd name="connsiteX5" fmla="*/ 37011 w 324394"/>
              <a:gd name="connsiteY5" fmla="*/ 863381 h 930872"/>
              <a:gd name="connsiteX0" fmla="*/ 307973 w 307973"/>
              <a:gd name="connsiteY0" fmla="*/ 0 h 864326"/>
              <a:gd name="connsiteX1" fmla="*/ 209443 w 307973"/>
              <a:gd name="connsiteY1" fmla="*/ 52252 h 864326"/>
              <a:gd name="connsiteX2" fmla="*/ 33653 w 307973"/>
              <a:gd name="connsiteY2" fmla="*/ 300446 h 864326"/>
              <a:gd name="connsiteX3" fmla="*/ 7527 w 307973"/>
              <a:gd name="connsiteY3" fmla="*/ 783772 h 864326"/>
              <a:gd name="connsiteX4" fmla="*/ 20590 w 307973"/>
              <a:gd name="connsiteY4" fmla="*/ 783772 h 864326"/>
              <a:gd name="connsiteX5" fmla="*/ 20590 w 307973"/>
              <a:gd name="connsiteY5" fmla="*/ 783772 h 864326"/>
              <a:gd name="connsiteX6" fmla="*/ 20590 w 307973"/>
              <a:gd name="connsiteY6" fmla="*/ 796835 h 8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7973" h="864326">
                <a:moveTo>
                  <a:pt x="307973" y="0"/>
                </a:moveTo>
                <a:cubicBezTo>
                  <a:pt x="291551" y="8709"/>
                  <a:pt x="255163" y="2178"/>
                  <a:pt x="209443" y="52252"/>
                </a:cubicBezTo>
                <a:cubicBezTo>
                  <a:pt x="163723" y="102326"/>
                  <a:pt x="67306" y="178526"/>
                  <a:pt x="33653" y="300446"/>
                </a:cubicBezTo>
                <a:cubicBezTo>
                  <a:pt x="0" y="422366"/>
                  <a:pt x="9704" y="703218"/>
                  <a:pt x="7527" y="783772"/>
                </a:cubicBezTo>
                <a:cubicBezTo>
                  <a:pt x="5350" y="864326"/>
                  <a:pt x="20590" y="783772"/>
                  <a:pt x="20590" y="783772"/>
                </a:cubicBezTo>
                <a:lnTo>
                  <a:pt x="20590" y="783772"/>
                </a:lnTo>
                <a:lnTo>
                  <a:pt x="20590" y="796835"/>
                </a:lnTo>
              </a:path>
            </a:pathLst>
          </a:custGeom>
          <a:blipFill rotWithShape="1" dpi="0">
            <a:blip xmlns:r="http://schemas.openxmlformats.org/officeDocument/2006/relationships" r:embed="rId2" cstate="print">
              <a:alphaModFix amt="60000"/>
            </a:blip>
            <a:srcRect/>
            <a:tile algn="br" flip="none" sx="100000" sy="100000" tx="0" ty="0"/>
          </a:blipFill>
          <a:ln w="38100" cap="flat" cmpd="sng" algn="ctr">
            <a:solidFill>
              <a:srgbClr val="FFCC00"/>
            </a:solidFill>
            <a:prstDash val="solid"/>
            <a:round/>
            <a:headEnd type="none" w="med" len="med"/>
            <a:tailEnd type="none" w="med" len="med"/>
          </a:ln>
          <a:effectLst/>
        </p:spPr>
        <p:txBody>
          <a:bodyPr/>
          <a:p>
            <a:endParaRPr lang="fr-FR"/>
          </a:p>
        </p:txBody>
      </p:sp>
      <p:sp>
        <p:nvSpPr>
          <p:cNvPr id="1048717" name="ZoneTexte 8"/>
          <p:cNvSpPr txBox="1"/>
          <p:nvPr/>
        </p:nvSpPr>
        <p:spPr>
          <a:xfrm>
            <a:off x="5357813" y="2781300"/>
            <a:ext cx="3357562" cy="369888"/>
          </a:xfrm>
          <a:prstGeom prst="rect"/>
          <a:noFill/>
        </p:spPr>
        <p:txBody>
          <a:bodyPr>
            <a:spAutoFit/>
          </a:bodyPr>
          <a:p>
            <a:r>
              <a:rPr dirty="0" lang="fr-FR">
                <a:effectLst>
                  <a:outerShdw algn="tl" blurRad="38100" dir="2700000" dist="38100">
                    <a:srgbClr val="000000">
                      <a:alpha val="43137"/>
                    </a:srgbClr>
                  </a:outerShdw>
                </a:effectLst>
              </a:rPr>
              <a:t>( cœur en ‘‘carafe’’)</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4">
                                  <p:stCondLst>
                                    <p:cond delay="0"/>
                                  </p:stCondLst>
                                  <p:childTnLst>
                                    <p:set>
                                      <p:cBhvr>
                                        <p:cTn dur="1" fill="hold" id="6">
                                          <p:stCondLst>
                                            <p:cond delay="0"/>
                                          </p:stCondLst>
                                        </p:cTn>
                                        <p:tgtEl>
                                          <p:spTgt spid="1048715"/>
                                        </p:tgtEl>
                                        <p:attrNameLst>
                                          <p:attrName>style.visibility</p:attrName>
                                        </p:attrNameLst>
                                      </p:cBhvr>
                                      <p:to>
                                        <p:strVal val="visible"/>
                                      </p:to>
                                    </p:set>
                                    <p:animEffect transition="in" filter="wipe(down)">
                                      <p:cBhvr>
                                        <p:cTn dur="500" id="7"/>
                                        <p:tgtEl>
                                          <p:spTgt spid="1048715"/>
                                        </p:tgtEl>
                                      </p:cBhvr>
                                    </p:animEffect>
                                  </p:childTnLst>
                                </p:cTn>
                              </p:par>
                              <p:par>
                                <p:cTn fill="hold" id="8" nodeType="withEffect" presetClass="entr" presetID="22" presetSubtype="4">
                                  <p:stCondLst>
                                    <p:cond delay="0"/>
                                  </p:stCondLst>
                                  <p:childTnLst>
                                    <p:set>
                                      <p:cBhvr>
                                        <p:cTn dur="1" fill="hold" id="9">
                                          <p:stCondLst>
                                            <p:cond delay="0"/>
                                          </p:stCondLst>
                                        </p:cTn>
                                        <p:tgtEl>
                                          <p:spTgt spid="1048716"/>
                                        </p:tgtEl>
                                        <p:attrNameLst>
                                          <p:attrName>style.visibility</p:attrName>
                                        </p:attrNameLst>
                                      </p:cBhvr>
                                      <p:to>
                                        <p:strVal val="visible"/>
                                      </p:to>
                                    </p:set>
                                    <p:animEffect transition="in" filter="wipe(down)">
                                      <p:cBhvr>
                                        <p:cTn dur="500" id="10"/>
                                        <p:tgtEl>
                                          <p:spTgt spid="1048716"/>
                                        </p:tgtEl>
                                      </p:cBhvr>
                                    </p:animEffect>
                                  </p:childTnLst>
                                </p:cTn>
                              </p:par>
                              <p:par>
                                <p:cTn fill="hold" id="11" nodeType="withEffect" presetClass="entr" presetID="1" presetSubtype="0">
                                  <p:stCondLst>
                                    <p:cond delay="0"/>
                                  </p:stCondLst>
                                  <p:childTnLst>
                                    <p:set>
                                      <p:cBhvr>
                                        <p:cTn dur="1" fill="hold" id="12">
                                          <p:stCondLst>
                                            <p:cond delay="0"/>
                                          </p:stCondLst>
                                        </p:cTn>
                                        <p:tgtEl>
                                          <p:spTgt spid="1048714">
                                            <p:txEl>
                                              <p:pRg st="6" end="6"/>
                                            </p:txEl>
                                          </p:spTgt>
                                        </p:tgtEl>
                                        <p:attrNameLst>
                                          <p:attrName>style.visibility</p:attrName>
                                        </p:attrNameLst>
                                      </p:cBhvr>
                                      <p:to>
                                        <p:strVal val="visible"/>
                                      </p:to>
                                    </p:set>
                                  </p:childTnLst>
                                </p:cTn>
                              </p:par>
                              <p:par>
                                <p:cTn fill="hold" id="13" nodeType="withEffect" presetClass="entr" presetID="1" presetSubtype="0">
                                  <p:stCondLst>
                                    <p:cond delay="0"/>
                                  </p:stCondLst>
                                  <p:childTnLst>
                                    <p:set>
                                      <p:cBhvr>
                                        <p:cTn dur="1" fill="hold" id="14">
                                          <p:stCondLst>
                                            <p:cond delay="0"/>
                                          </p:stCondLst>
                                        </p:cTn>
                                        <p:tgtEl>
                                          <p:spTgt spid="1048714">
                                            <p:txEl>
                                              <p:pRg st="3" end="3"/>
                                            </p:txEl>
                                          </p:spTgt>
                                        </p:tgtEl>
                                        <p:attrNameLst>
                                          <p:attrName>style.visibility</p:attrName>
                                        </p:attrNameLst>
                                      </p:cBhvr>
                                      <p:to>
                                        <p:strVal val="visible"/>
                                      </p:to>
                                    </p:set>
                                  </p:childTnLst>
                                </p:cTn>
                              </p:par>
                              <p:par>
                                <p:cTn fill="hold" id="15" nodeType="withEffect" presetClass="entr" presetID="1" presetSubtype="0">
                                  <p:stCondLst>
                                    <p:cond delay="0"/>
                                  </p:stCondLst>
                                  <p:childTnLst>
                                    <p:set>
                                      <p:cBhvr>
                                        <p:cTn dur="1" fill="hold" id="16">
                                          <p:stCondLst>
                                            <p:cond delay="0"/>
                                          </p:stCondLst>
                                        </p:cTn>
                                        <p:tgtEl>
                                          <p:spTgt spid="1048714">
                                            <p:txEl>
                                              <p:pRg st="4" end="4"/>
                                            </p:txEl>
                                          </p:spTgt>
                                        </p:tgtEl>
                                        <p:attrNameLst>
                                          <p:attrName>style.visibility</p:attrName>
                                        </p:attrNameLst>
                                      </p:cBhvr>
                                      <p:to>
                                        <p:strVal val="visible"/>
                                      </p:to>
                                    </p:set>
                                  </p:childTnLst>
                                </p:cTn>
                              </p:par>
                              <p:par>
                                <p:cTn fill="hold" id="17" nodeType="withEffect" presetClass="entr" presetID="1" presetSubtype="0">
                                  <p:stCondLst>
                                    <p:cond delay="0"/>
                                  </p:stCondLst>
                                  <p:childTnLst>
                                    <p:set>
                                      <p:cBhvr>
                                        <p:cTn dur="1" fill="hold" id="18">
                                          <p:stCondLst>
                                            <p:cond delay="0"/>
                                          </p:stCondLst>
                                        </p:cTn>
                                        <p:tgtEl>
                                          <p:spTgt spid="1048714">
                                            <p:txEl>
                                              <p:pRg st="5" end="5"/>
                                            </p:txEl>
                                          </p:spTgt>
                                        </p:tgtEl>
                                        <p:attrNameLst>
                                          <p:attrName>style.visibility</p:attrName>
                                        </p:attrNameLst>
                                      </p:cBhvr>
                                      <p:to>
                                        <p:strVal val="visible"/>
                                      </p:to>
                                    </p:set>
                                  </p:childTnLst>
                                </p:cTn>
                              </p:par>
                              <p:par>
                                <p:cTn fill="hold" id="19" nodeType="withEffect" presetClass="entr" presetID="1" presetSubtype="0">
                                  <p:stCondLst>
                                    <p:cond delay="0"/>
                                  </p:stCondLst>
                                  <p:childTnLst>
                                    <p:set>
                                      <p:cBhvr>
                                        <p:cTn dur="1" fill="hold" id="20">
                                          <p:stCondLst>
                                            <p:cond delay="0"/>
                                          </p:stCondLst>
                                        </p:cTn>
                                        <p:tgtEl>
                                          <p:spTgt spid="1048717">
                                            <p:txEl>
                                              <p:pRg st="0" end="0"/>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id="23" nodeType="clickEffect" presetClass="entr" presetID="1" presetSubtype="0">
                                  <p:stCondLst>
                                    <p:cond delay="0"/>
                                  </p:stCondLst>
                                  <p:childTnLst>
                                    <p:set>
                                      <p:cBhvr>
                                        <p:cTn dur="1" fill="hold" id="24">
                                          <p:stCondLst>
                                            <p:cond delay="0"/>
                                          </p:stCondLst>
                                        </p:cTn>
                                        <p:tgtEl>
                                          <p:spTgt spid="1048714">
                                            <p:txEl>
                                              <p:pRg st="7" end="7"/>
                                            </p:txEl>
                                          </p:spTgt>
                                        </p:tgtEl>
                                        <p:attrNameLst>
                                          <p:attrName>style.visibility</p:attrName>
                                        </p:attrNameLst>
                                      </p:cBhvr>
                                      <p:to>
                                        <p:strVal val="visible"/>
                                      </p:to>
                                    </p:set>
                                  </p:childTnLst>
                                </p:cTn>
                              </p:par>
                              <p:par>
                                <p:cTn fill="hold" id="25" nodeType="withEffect" presetClass="entr" presetID="1" presetSubtype="0">
                                  <p:stCondLst>
                                    <p:cond delay="0"/>
                                  </p:stCondLst>
                                  <p:childTnLst>
                                    <p:set>
                                      <p:cBhvr>
                                        <p:cTn dur="1" fill="hold" id="26">
                                          <p:stCondLst>
                                            <p:cond delay="0"/>
                                          </p:stCondLst>
                                        </p:cTn>
                                        <p:tgtEl>
                                          <p:spTgt spid="1048714">
                                            <p:txEl>
                                              <p:pRg st="8" end="8"/>
                                            </p:txEl>
                                          </p:spTgt>
                                        </p:tgtEl>
                                        <p:attrNameLst>
                                          <p:attrName>style.visibility</p:attrName>
                                        </p:attrNameLst>
                                      </p:cBhvr>
                                      <p:to>
                                        <p:strVal val="visible"/>
                                      </p:to>
                                    </p:set>
                                  </p:childTnLst>
                                </p:cTn>
                              </p:par>
                              <p:par>
                                <p:cTn fill="hold" id="27" nodeType="withEffect" presetClass="entr" presetID="1" presetSubtype="0">
                                  <p:stCondLst>
                                    <p:cond delay="0"/>
                                  </p:stCondLst>
                                  <p:childTnLst>
                                    <p:set>
                                      <p:cBhvr>
                                        <p:cTn dur="1" fill="hold" id="28">
                                          <p:stCondLst>
                                            <p:cond delay="0"/>
                                          </p:stCondLst>
                                        </p:cTn>
                                        <p:tgtEl>
                                          <p:spTgt spid="1048714">
                                            <p:txEl>
                                              <p:pRg st="9" end="9"/>
                                            </p:txEl>
                                          </p:spTgt>
                                        </p:tgtEl>
                                        <p:attrNameLst>
                                          <p:attrName>style.visibility</p:attrName>
                                        </p:attrNameLst>
                                      </p:cBhvr>
                                      <p:to>
                                        <p:strVal val="visible"/>
                                      </p:to>
                                    </p:set>
                                  </p:childTnLst>
                                </p:cTn>
                              </p:par>
                              <p:par>
                                <p:cTn fill="hold" id="29" nodeType="withEffect" presetClass="entr" presetID="1" presetSubtype="0">
                                  <p:stCondLst>
                                    <p:cond delay="0"/>
                                  </p:stCondLst>
                                  <p:childTnLst>
                                    <p:set>
                                      <p:cBhvr>
                                        <p:cTn dur="1" fill="hold" id="30">
                                          <p:stCondLst>
                                            <p:cond delay="0"/>
                                          </p:stCondLst>
                                        </p:cTn>
                                        <p:tgtEl>
                                          <p:spTgt spid="1048714">
                                            <p:txEl>
                                              <p:pRg st="10" end="10"/>
                                            </p:txEl>
                                          </p:spTgt>
                                        </p:tgtEl>
                                        <p:attrNameLst>
                                          <p:attrName>style.visibility</p:attrName>
                                        </p:attrNameLst>
                                      </p:cBhvr>
                                      <p:to>
                                        <p:strVal val="visible"/>
                                      </p:to>
                                    </p:set>
                                  </p:childTnLst>
                                </p:cTn>
                              </p:par>
                              <p:par>
                                <p:cTn fill="hold" id="31" nodeType="withEffect" presetClass="entr" presetID="1" presetSubtype="0">
                                  <p:stCondLst>
                                    <p:cond delay="0"/>
                                  </p:stCondLst>
                                  <p:childTnLst>
                                    <p:set>
                                      <p:cBhvr>
                                        <p:cTn dur="1" fill="hold" id="32">
                                          <p:stCondLst>
                                            <p:cond delay="0"/>
                                          </p:stCondLst>
                                        </p:cTn>
                                        <p:tgtEl>
                                          <p:spTgt spid="1048714">
                                            <p:txEl>
                                              <p:pRg st="11" end="11"/>
                                            </p:txEl>
                                          </p:spTgt>
                                        </p:tgtEl>
                                        <p:attrNameLst>
                                          <p:attrName>style.visibility</p:attrName>
                                        </p:attrNameLst>
                                      </p:cBhvr>
                                      <p:to>
                                        <p:strVal val="visible"/>
                                      </p:to>
                                    </p:set>
                                  </p:childTnLst>
                                </p:cTn>
                              </p:par>
                              <p:par>
                                <p:cTn fill="hold" id="33" nodeType="withEffect" presetClass="entr" presetID="1" presetSubtype="0">
                                  <p:stCondLst>
                                    <p:cond delay="0"/>
                                  </p:stCondLst>
                                  <p:childTnLst>
                                    <p:set>
                                      <p:cBhvr>
                                        <p:cTn dur="1" fill="hold" id="34">
                                          <p:stCondLst>
                                            <p:cond delay="0"/>
                                          </p:stCondLst>
                                        </p:cTn>
                                        <p:tgtEl>
                                          <p:spTgt spid="104871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09" name=""/>
        <p:cNvGrpSpPr/>
        <p:nvPr/>
      </p:nvGrpSpPr>
      <p:grpSpPr>
        <a:xfrm>
          <a:off x="0" y="0"/>
          <a:ext cx="0" cy="0"/>
          <a:chOff x="0" y="0"/>
          <a:chExt cx="0" cy="0"/>
        </a:xfrm>
      </p:grpSpPr>
      <p:sp>
        <p:nvSpPr>
          <p:cNvPr id="1048721" name="Titre 1"/>
          <p:cNvSpPr>
            <a:spLocks noGrp="1"/>
          </p:cNvSpPr>
          <p:nvPr>
            <p:ph type="title"/>
          </p:nvPr>
        </p:nvSpPr>
        <p:spPr>
          <a:xfrm>
            <a:off x="301625" y="404664"/>
            <a:ext cx="8540750" cy="648072"/>
          </a:xfrm>
        </p:spPr>
        <p:txBody>
          <a:bodyPr>
            <a:normAutofit fontScale="90000"/>
          </a:bodyPr>
          <a:p>
            <a:pPr algn="ctr">
              <a:buClr>
                <a:srgbClr val="FFC000"/>
              </a:buClr>
              <a:buSzPct val="80000"/>
              <a:buFont typeface="Arial" pitchFamily="34" charset="0"/>
              <a:buChar char="•"/>
            </a:pPr>
            <a:r>
              <a:rPr dirty="0" lang="fr-FR" smtClean="0">
                <a:effectLst/>
                <a:latin typeface="+mn-lt"/>
              </a:rPr>
              <a:t>  </a:t>
            </a:r>
            <a:r>
              <a:rPr dirty="0" lang="fr-FR" smtClean="0">
                <a:solidFill>
                  <a:srgbClr val="C00000"/>
                </a:solidFill>
                <a:effectLst/>
                <a:latin typeface="+mn-lt"/>
              </a:rPr>
              <a:t>É</a:t>
            </a:r>
            <a:r>
              <a:rPr cap="none" dirty="0" lang="fr-FR" smtClean="0">
                <a:solidFill>
                  <a:srgbClr val="C00000"/>
                </a:solidFill>
                <a:effectLst/>
                <a:latin typeface="+mn-lt"/>
              </a:rPr>
              <a:t>chocardiographie</a:t>
            </a:r>
            <a:r>
              <a:rPr dirty="0" lang="fr-FR" smtClean="0">
                <a:solidFill>
                  <a:srgbClr val="6D98DD"/>
                </a:solidFill>
                <a:effectLst/>
                <a:latin typeface="+mn-lt"/>
              </a:rPr>
              <a:t/>
            </a:r>
            <a:br>
              <a:rPr dirty="0" lang="fr-FR" smtClean="0">
                <a:solidFill>
                  <a:srgbClr val="6D98DD"/>
                </a:solidFill>
                <a:effectLst/>
                <a:latin typeface="+mn-lt"/>
              </a:rPr>
            </a:br>
            <a:endParaRPr dirty="0" lang="fr-FR">
              <a:effectLst/>
              <a:latin typeface="+mn-lt"/>
            </a:endParaRPr>
          </a:p>
        </p:txBody>
      </p:sp>
      <p:sp>
        <p:nvSpPr>
          <p:cNvPr id="1048722" name="Espace réservé du contenu 2"/>
          <p:cNvSpPr>
            <a:spLocks noGrp="1"/>
          </p:cNvSpPr>
          <p:nvPr>
            <p:ph sz="half" idx="1"/>
          </p:nvPr>
        </p:nvSpPr>
        <p:spPr>
          <a:xfrm>
            <a:off x="107504" y="836712"/>
            <a:ext cx="8856984" cy="5688632"/>
          </a:xfrm>
        </p:spPr>
        <p:txBody>
          <a:bodyPr>
            <a:noAutofit/>
          </a:bodyPr>
          <a:p>
            <a:pPr>
              <a:buClr>
                <a:srgbClr val="FFC000"/>
              </a:buClr>
              <a:buFont typeface="Wingdings" pitchFamily="2" charset="2"/>
              <a:buChar char="Ø"/>
            </a:pPr>
            <a:r>
              <a:rPr dirty="0" sz="2000" lang="fr-FR" smtClean="0">
                <a:solidFill>
                  <a:schemeClr val="tx1"/>
                </a:solidFill>
              </a:rPr>
              <a:t>Examen non invasif, rapide</a:t>
            </a:r>
          </a:p>
          <a:p>
            <a:pPr>
              <a:buClr>
                <a:srgbClr val="FFC000"/>
              </a:buClr>
            </a:pPr>
            <a:endParaRPr dirty="0" sz="2000" lang="fr-FR" smtClean="0">
              <a:solidFill>
                <a:schemeClr val="tx1"/>
              </a:solidFill>
            </a:endParaRPr>
          </a:p>
          <a:p>
            <a:pPr>
              <a:lnSpc>
                <a:spcPct val="120000"/>
              </a:lnSpc>
              <a:spcBef>
                <a:spcPts val="0"/>
              </a:spcBef>
              <a:buClr>
                <a:srgbClr val="FFC000"/>
              </a:buClr>
              <a:buFont typeface="Wingdings" pitchFamily="2" charset="2"/>
              <a:buChar char="Ø"/>
            </a:pPr>
            <a:r>
              <a:rPr dirty="0" sz="2000" lang="fr-FR" smtClean="0">
                <a:solidFill>
                  <a:schemeClr val="tx1"/>
                </a:solidFill>
              </a:rPr>
              <a:t>Recherche un épanchement péricardique (faux négatif si péricardite sèche)</a:t>
            </a:r>
          </a:p>
          <a:p>
            <a:pPr marL="0">
              <a:spcBef>
                <a:spcPts val="0"/>
              </a:spcBef>
            </a:pPr>
            <a:endParaRPr dirty="0" sz="2000" lang="fr-FR" smtClean="0">
              <a:solidFill>
                <a:schemeClr val="tx1"/>
              </a:solidFill>
            </a:endParaRPr>
          </a:p>
          <a:p>
            <a:pPr>
              <a:buClr>
                <a:srgbClr val="FFC000"/>
              </a:buClr>
              <a:buFont typeface="Wingdings" pitchFamily="2" charset="2"/>
              <a:buChar char="Ø"/>
            </a:pPr>
            <a:r>
              <a:rPr dirty="0" sz="2000" lang="fr-FR" smtClean="0">
                <a:solidFill>
                  <a:schemeClr val="tx1"/>
                </a:solidFill>
              </a:rPr>
              <a:t>Évalue la sévérité de l’épanchement:</a:t>
            </a:r>
          </a:p>
          <a:p>
            <a:pPr>
              <a:buClr>
                <a:srgbClr val="FFC000"/>
              </a:buClr>
              <a:buFont typeface="Wingdings 2" pitchFamily="18" charset="2"/>
              <a:buNone/>
            </a:pPr>
            <a:r>
              <a:rPr dirty="0" sz="2000" lang="fr-FR" smtClean="0">
                <a:solidFill>
                  <a:schemeClr val="tx1"/>
                </a:solidFill>
              </a:rPr>
              <a:t>              - abondance du liquide</a:t>
            </a:r>
          </a:p>
          <a:p>
            <a:pPr>
              <a:buFont typeface="Arial" charset="0"/>
              <a:buNone/>
            </a:pPr>
            <a:r>
              <a:rPr dirty="0" sz="2000" lang="fr-FR" smtClean="0">
                <a:solidFill>
                  <a:schemeClr val="tx1"/>
                </a:solidFill>
              </a:rPr>
              <a:t>              - tolérance: collapsus des cavités droites, Ø VCI…</a:t>
            </a:r>
          </a:p>
          <a:p>
            <a:pPr>
              <a:buFont typeface="Arial" charset="0"/>
              <a:buNone/>
            </a:pPr>
            <a:endParaRPr dirty="0" sz="2000" lang="fr-FR" smtClean="0">
              <a:solidFill>
                <a:srgbClr val="C00000"/>
              </a:solidFill>
            </a:endParaRPr>
          </a:p>
          <a:p>
            <a:pPr>
              <a:buFont typeface="Wingdings" pitchFamily="2" charset="2"/>
              <a:buChar char="Ø"/>
            </a:pPr>
            <a:r>
              <a:rPr dirty="0" sz="2000" lang="fr-FR" smtClean="0">
                <a:solidFill>
                  <a:schemeClr val="tx1"/>
                </a:solidFill>
              </a:rPr>
              <a:t>Recherche des signes de constriction péricardique</a:t>
            </a:r>
          </a:p>
          <a:p>
            <a:pPr>
              <a:spcBef>
                <a:spcPts val="0"/>
              </a:spcBef>
              <a:buFont typeface="Arial" charset="0"/>
              <a:buNone/>
            </a:pPr>
            <a:r>
              <a:rPr dirty="0" sz="2000" lang="fr-FR" smtClean="0">
                <a:solidFill>
                  <a:srgbClr val="C00000"/>
                </a:solidFill>
              </a:rPr>
              <a:t> </a:t>
            </a:r>
            <a:r>
              <a:rPr dirty="0" sz="2000" lang="fr-FR" smtClean="0"/>
              <a:t>              </a:t>
            </a:r>
          </a:p>
          <a:p>
            <a:pPr>
              <a:buClr>
                <a:srgbClr val="FFC000"/>
              </a:buClr>
              <a:buFont typeface="Wingdings" pitchFamily="2" charset="2"/>
              <a:buChar char="Ø"/>
            </a:pPr>
            <a:r>
              <a:rPr dirty="0" sz="2000" lang="fr-FR" smtClean="0">
                <a:solidFill>
                  <a:schemeClr val="tx1"/>
                </a:solidFill>
              </a:rPr>
              <a:t>Recherche une myocardite associée (FEVG, doppler tissulaire, strain myocardique)</a:t>
            </a:r>
          </a:p>
          <a:p>
            <a:pPr>
              <a:buClr>
                <a:srgbClr val="FFC000"/>
              </a:buClr>
              <a:buFont typeface="Wingdings" pitchFamily="2" charset="2"/>
              <a:buChar char="Ø"/>
            </a:pPr>
            <a:endParaRPr dirty="0" sz="2000" lang="fr-FR" smtClean="0">
              <a:solidFill>
                <a:schemeClr val="tx1"/>
              </a:solidFill>
            </a:endParaRPr>
          </a:p>
          <a:p>
            <a:pPr>
              <a:buClr>
                <a:srgbClr val="FFC000"/>
              </a:buClr>
              <a:buFont typeface="Wingdings" pitchFamily="2" charset="2"/>
              <a:buChar char="Ø"/>
            </a:pPr>
            <a:r>
              <a:rPr dirty="0" sz="2000" lang="fr-FR" smtClean="0">
                <a:solidFill>
                  <a:schemeClr val="tx1"/>
                </a:solidFill>
              </a:rPr>
              <a:t>Examen à répéter durant le suivi : monitorage des anomalies cardiaques (stabilité? aggravation?)</a:t>
            </a:r>
          </a:p>
        </p:txBody>
      </p:sp>
    </p:spTree>
  </p:cSld>
  <p:clrMapOvr>
    <a:masterClrMapping/>
  </p:clrMapOvr>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12" name=""/>
        <p:cNvGrpSpPr/>
        <p:nvPr/>
      </p:nvGrpSpPr>
      <p:grpSpPr>
        <a:xfrm>
          <a:off x="0" y="0"/>
          <a:ext cx="0" cy="0"/>
          <a:chOff x="0" y="0"/>
          <a:chExt cx="0" cy="0"/>
        </a:xfrm>
      </p:grpSpPr>
      <p:sp>
        <p:nvSpPr>
          <p:cNvPr id="1048726" name="Titre 4"/>
          <p:cNvSpPr>
            <a:spLocks noGrp="1"/>
          </p:cNvSpPr>
          <p:nvPr>
            <p:ph type="title"/>
          </p:nvPr>
        </p:nvSpPr>
        <p:spPr>
          <a:xfrm>
            <a:off x="179512" y="116632"/>
            <a:ext cx="8686800" cy="838200"/>
          </a:xfrm>
        </p:spPr>
        <p:txBody>
          <a:bodyPr>
            <a:normAutofit/>
          </a:bodyPr>
          <a:p>
            <a:pPr algn="ctr">
              <a:buClr>
                <a:srgbClr val="FFC000"/>
              </a:buClr>
              <a:buSzPct val="80000"/>
              <a:buFont typeface="Arial" pitchFamily="34" charset="0"/>
              <a:buChar char="•"/>
            </a:pPr>
            <a:r>
              <a:rPr dirty="0" lang="fr-FR" smtClean="0">
                <a:solidFill>
                  <a:srgbClr val="C00000"/>
                </a:solidFill>
                <a:effectLst/>
              </a:rPr>
              <a:t>  </a:t>
            </a:r>
            <a:r>
              <a:rPr dirty="0" lang="fr-FR" smtClean="0">
                <a:solidFill>
                  <a:srgbClr val="C00000"/>
                </a:solidFill>
                <a:effectLst/>
                <a:latin typeface="+mn-lt"/>
              </a:rPr>
              <a:t>IRM Cardiaque</a:t>
            </a:r>
            <a:endParaRPr dirty="0" sz="4000" lang="fr-FR">
              <a:latin typeface="+mn-lt"/>
            </a:endParaRPr>
          </a:p>
        </p:txBody>
      </p:sp>
      <p:sp>
        <p:nvSpPr>
          <p:cNvPr id="1048727" name="Espace réservé du contenu 5"/>
          <p:cNvSpPr>
            <a:spLocks noGrp="1"/>
          </p:cNvSpPr>
          <p:nvPr>
            <p:ph idx="1"/>
          </p:nvPr>
        </p:nvSpPr>
        <p:spPr>
          <a:xfrm>
            <a:off x="179512" y="980728"/>
            <a:ext cx="8812088" cy="5544616"/>
          </a:xfrm>
        </p:spPr>
        <p:txBody>
          <a:bodyPr>
            <a:noAutofit/>
          </a:bodyPr>
          <a:p>
            <a:r>
              <a:rPr dirty="0" sz="2400" lang="fr-FR" smtClean="0">
                <a:solidFill>
                  <a:schemeClr val="tx1"/>
                </a:solidFill>
              </a:rPr>
              <a:t>Recommandée devant toute suspicion de myocardite</a:t>
            </a:r>
          </a:p>
          <a:p>
            <a:pPr>
              <a:buNone/>
            </a:pPr>
            <a:endParaRPr dirty="0" sz="2400" lang="fr-FR" smtClean="0">
              <a:solidFill>
                <a:schemeClr val="tx1"/>
              </a:solidFill>
            </a:endParaRPr>
          </a:p>
          <a:p>
            <a:r>
              <a:rPr dirty="0" sz="2400" lang="fr-FR" smtClean="0">
                <a:solidFill>
                  <a:schemeClr val="tx1"/>
                </a:solidFill>
              </a:rPr>
              <a:t>Dgc positif et caractère des lésions, oriente la thérapeutique:</a:t>
            </a:r>
          </a:p>
          <a:p>
            <a:pPr>
              <a:buNone/>
            </a:pPr>
            <a:r>
              <a:rPr dirty="0" sz="2400" lang="fr-FR" smtClean="0">
                <a:solidFill>
                  <a:schemeClr val="tx1"/>
                </a:solidFill>
              </a:rPr>
              <a:t>     œdème, fibrose, nécrose , inflammation active?, Cicatrice?</a:t>
            </a:r>
          </a:p>
          <a:p>
            <a:pPr>
              <a:buNone/>
            </a:pPr>
            <a:endParaRPr dirty="0" sz="2400" lang="fr-FR" smtClean="0">
              <a:solidFill>
                <a:schemeClr val="tx1"/>
              </a:solidFill>
            </a:endParaRPr>
          </a:p>
          <a:p>
            <a:r>
              <a:rPr dirty="0" sz="2400" lang="fr-FR" smtClean="0">
                <a:solidFill>
                  <a:schemeClr val="tx1"/>
                </a:solidFill>
              </a:rPr>
              <a:t>Utile pour le dgc des péricardites si clinique insuffisante:</a:t>
            </a:r>
          </a:p>
          <a:p>
            <a:pPr>
              <a:buNone/>
            </a:pPr>
            <a:r>
              <a:rPr dirty="0" sz="2400" lang="fr-FR" smtClean="0"/>
              <a:t>    </a:t>
            </a:r>
            <a:r>
              <a:rPr b="1" dirty="0" sz="2400" lang="fr-FR" smtClean="0">
                <a:solidFill>
                  <a:srgbClr val="FF0000"/>
                </a:solidFill>
              </a:rPr>
              <a:t>-</a:t>
            </a:r>
            <a:r>
              <a:rPr dirty="0" sz="2400" lang="fr-FR" smtClean="0"/>
              <a:t> </a:t>
            </a:r>
            <a:r>
              <a:rPr dirty="0" sz="2400" lang="fr-FR" smtClean="0">
                <a:solidFill>
                  <a:schemeClr val="tx1"/>
                </a:solidFill>
              </a:rPr>
              <a:t>œdème </a:t>
            </a:r>
          </a:p>
          <a:p>
            <a:pPr>
              <a:buNone/>
            </a:pPr>
            <a:r>
              <a:rPr dirty="0" sz="2400" lang="fr-FR" smtClean="0"/>
              <a:t>    </a:t>
            </a:r>
            <a:r>
              <a:rPr b="1" dirty="0" sz="2400" lang="fr-FR" smtClean="0">
                <a:solidFill>
                  <a:srgbClr val="FF0000"/>
                </a:solidFill>
              </a:rPr>
              <a:t>- </a:t>
            </a:r>
            <a:r>
              <a:rPr dirty="0" sz="2400" lang="fr-FR" smtClean="0">
                <a:solidFill>
                  <a:schemeClr val="tx1"/>
                </a:solidFill>
              </a:rPr>
              <a:t>épaississement</a:t>
            </a:r>
          </a:p>
          <a:p>
            <a:pPr>
              <a:buNone/>
            </a:pPr>
            <a:r>
              <a:rPr dirty="0" sz="2400" lang="fr-FR" smtClean="0"/>
              <a:t>    </a:t>
            </a:r>
            <a:r>
              <a:rPr b="1" dirty="0" sz="2400" lang="fr-FR" smtClean="0">
                <a:solidFill>
                  <a:srgbClr val="FF0000"/>
                </a:solidFill>
              </a:rPr>
              <a:t>-</a:t>
            </a:r>
            <a:r>
              <a:rPr dirty="0" sz="2400" lang="fr-FR" smtClean="0"/>
              <a:t> </a:t>
            </a:r>
            <a:r>
              <a:rPr dirty="0" sz="2400" lang="fr-FR" smtClean="0">
                <a:solidFill>
                  <a:schemeClr val="tx1"/>
                </a:solidFill>
              </a:rPr>
              <a:t>rehaussement tardif</a:t>
            </a:r>
          </a:p>
          <a:p>
            <a:pPr>
              <a:buNone/>
            </a:pPr>
            <a:endParaRPr dirty="0" sz="2400" lang="fr-FR" smtClean="0">
              <a:solidFill>
                <a:schemeClr val="tx1"/>
              </a:solidFill>
            </a:endParaRPr>
          </a:p>
          <a:p>
            <a:r>
              <a:rPr dirty="0" sz="2400" lang="fr-FR" smtClean="0">
                <a:solidFill>
                  <a:schemeClr val="tx1"/>
                </a:solidFill>
              </a:rPr>
              <a:t>Pour le contrôle à 6 mois:  </a:t>
            </a:r>
            <a:r>
              <a:rPr b="1" dirty="0" sz="2400" lang="fr-FR" smtClean="0">
                <a:solidFill>
                  <a:srgbClr val="FF0000"/>
                </a:solidFill>
              </a:rPr>
              <a:t>-</a:t>
            </a:r>
            <a:r>
              <a:rPr dirty="0" sz="2400" lang="fr-FR" smtClean="0">
                <a:solidFill>
                  <a:schemeClr val="tx1"/>
                </a:solidFill>
              </a:rPr>
              <a:t> avant reprise de l’activité</a:t>
            </a:r>
          </a:p>
          <a:p>
            <a:pPr>
              <a:buNone/>
            </a:pPr>
            <a:r>
              <a:rPr dirty="0" sz="2400" lang="fr-FR" smtClean="0">
                <a:solidFill>
                  <a:schemeClr val="tx1"/>
                </a:solidFill>
              </a:rPr>
              <a:t>                                                 </a:t>
            </a:r>
            <a:r>
              <a:rPr b="1" dirty="0" sz="2400" lang="fr-FR" smtClean="0">
                <a:solidFill>
                  <a:srgbClr val="FF0000"/>
                </a:solidFill>
              </a:rPr>
              <a:t>- </a:t>
            </a:r>
            <a:r>
              <a:rPr dirty="0" sz="2400" lang="fr-FR" smtClean="0">
                <a:solidFill>
                  <a:schemeClr val="tx1"/>
                </a:solidFill>
              </a:rPr>
              <a:t>stratification du risque</a:t>
            </a:r>
          </a:p>
          <a:p>
            <a:endParaRPr dirty="0" sz="2400" lang="fr-FR" smtClean="0">
              <a:solidFill>
                <a:schemeClr val="tx1"/>
              </a:solidFill>
            </a:endParaRPr>
          </a:p>
          <a:p>
            <a:pPr>
              <a:buNone/>
            </a:pPr>
            <a:r>
              <a:rPr dirty="0" sz="2400" lang="fr-FR" smtClean="0"/>
              <a:t> </a:t>
            </a:r>
          </a:p>
          <a:p>
            <a:pPr>
              <a:buNone/>
            </a:pPr>
            <a:r>
              <a:rPr dirty="0" sz="2400" lang="fr-FR" smtClean="0"/>
              <a:t>  </a:t>
            </a:r>
            <a:endParaRPr dirty="0" sz="2400" lang="fr-FR"/>
          </a:p>
        </p:txBody>
      </p:sp>
    </p:spTree>
  </p:cSld>
  <p:clrMapOvr>
    <a:masterClrMapping/>
  </p:clrMapOvr>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15" name=""/>
        <p:cNvGrpSpPr/>
        <p:nvPr/>
      </p:nvGrpSpPr>
      <p:grpSpPr>
        <a:xfrm>
          <a:off x="0" y="0"/>
          <a:ext cx="0" cy="0"/>
          <a:chOff x="0" y="0"/>
          <a:chExt cx="0" cy="0"/>
        </a:xfrm>
      </p:grpSpPr>
      <p:sp>
        <p:nvSpPr>
          <p:cNvPr id="1048731" name="Titre 4"/>
          <p:cNvSpPr>
            <a:spLocks noGrp="1"/>
          </p:cNvSpPr>
          <p:nvPr>
            <p:ph type="title"/>
          </p:nvPr>
        </p:nvSpPr>
        <p:spPr>
          <a:xfrm>
            <a:off x="179512" y="502568"/>
            <a:ext cx="8686800" cy="838200"/>
          </a:xfrm>
        </p:spPr>
        <p:txBody>
          <a:bodyPr>
            <a:normAutofit/>
          </a:bodyPr>
          <a:p>
            <a:pPr algn="ctr">
              <a:buClr>
                <a:srgbClr val="FFC000"/>
              </a:buClr>
              <a:buSzPct val="80000"/>
              <a:buFont typeface="Arial" pitchFamily="34" charset="0"/>
              <a:buChar char="•"/>
            </a:pPr>
            <a:r>
              <a:rPr dirty="0" lang="fr-FR" smtClean="0">
                <a:solidFill>
                  <a:srgbClr val="C00000"/>
                </a:solidFill>
                <a:effectLst/>
              </a:rPr>
              <a:t>  </a:t>
            </a:r>
            <a:r>
              <a:rPr dirty="0" lang="fr-FR" smtClean="0">
                <a:solidFill>
                  <a:srgbClr val="C00000"/>
                </a:solidFill>
                <a:effectLst/>
                <a:latin typeface="+mn-lt"/>
              </a:rPr>
              <a:t>COROSCANNER/CORONAROGRAPHIE</a:t>
            </a:r>
            <a:endParaRPr dirty="0" sz="4000" lang="fr-FR">
              <a:latin typeface="+mn-lt"/>
            </a:endParaRPr>
          </a:p>
        </p:txBody>
      </p:sp>
      <p:sp>
        <p:nvSpPr>
          <p:cNvPr id="1048732" name="Espace réservé du contenu 5"/>
          <p:cNvSpPr>
            <a:spLocks noGrp="1"/>
          </p:cNvSpPr>
          <p:nvPr>
            <p:ph idx="1"/>
          </p:nvPr>
        </p:nvSpPr>
        <p:spPr>
          <a:xfrm>
            <a:off x="179512" y="1713979"/>
            <a:ext cx="8812088" cy="4667349"/>
          </a:xfrm>
        </p:spPr>
        <p:txBody>
          <a:bodyPr>
            <a:normAutofit/>
          </a:bodyPr>
          <a:p>
            <a:r>
              <a:rPr dirty="0" sz="2800" lang="fr-FR" smtClean="0">
                <a:solidFill>
                  <a:schemeClr val="tx1"/>
                </a:solidFill>
              </a:rPr>
              <a:t>Pour exclure une maladie coronaire  si tableau clinique initial évoquant un SCA</a:t>
            </a:r>
          </a:p>
          <a:p>
            <a:endParaRPr dirty="0" sz="2800" lang="fr-FR" smtClean="0">
              <a:solidFill>
                <a:schemeClr val="tx1"/>
              </a:solidFill>
            </a:endParaRPr>
          </a:p>
          <a:p>
            <a:pPr>
              <a:buNone/>
            </a:pPr>
            <a:r>
              <a:rPr dirty="0" sz="2800" lang="fr-FR" smtClean="0"/>
              <a:t> </a:t>
            </a:r>
          </a:p>
          <a:p>
            <a:pPr>
              <a:buNone/>
            </a:pPr>
            <a:r>
              <a:rPr dirty="0" sz="2800" lang="fr-FR" smtClean="0"/>
              <a:t>  </a:t>
            </a:r>
            <a:endParaRPr dirty="0" sz="2800" lang="fr-FR"/>
          </a:p>
        </p:txBody>
      </p:sp>
    </p:spTree>
  </p:cSld>
  <p:clrMapOvr>
    <a:masterClrMapping/>
  </p:clrMapOvr>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736" name="Rectangle 2"/>
          <p:cNvSpPr>
            <a:spLocks noRot="1" noGrp="1" noChangeArrowheads="1"/>
          </p:cNvSpPr>
          <p:nvPr>
            <p:ph type="title"/>
          </p:nvPr>
        </p:nvSpPr>
        <p:spPr>
          <a:xfrm>
            <a:off x="133672" y="332656"/>
            <a:ext cx="8686800" cy="838200"/>
          </a:xfrm>
        </p:spPr>
        <p:txBody>
          <a:bodyPr/>
          <a:p>
            <a:pPr algn="ctr" eaLnBrk="1" hangingPunct="1"/>
            <a:r>
              <a:rPr b="1" dirty="0" lang="fr-FR" smtClean="0">
                <a:solidFill>
                  <a:srgbClr val="800000"/>
                </a:solidFill>
                <a:effectLst/>
                <a:latin typeface="+mn-lt"/>
              </a:rPr>
              <a:t> VII- PÉRICARDITES</a:t>
            </a:r>
          </a:p>
        </p:txBody>
      </p:sp>
      <p:sp>
        <p:nvSpPr>
          <p:cNvPr id="1048737" name="Rectangle 3"/>
          <p:cNvSpPr>
            <a:spLocks noRot="1" noGrp="1" noChangeArrowheads="1"/>
          </p:cNvSpPr>
          <p:nvPr>
            <p:ph type="body" idx="1"/>
          </p:nvPr>
        </p:nvSpPr>
        <p:spPr>
          <a:xfrm>
            <a:off x="107504" y="1268760"/>
            <a:ext cx="8748712" cy="4968552"/>
          </a:xfrm>
        </p:spPr>
        <p:txBody>
          <a:bodyPr>
            <a:normAutofit fontScale="95833"/>
          </a:bodyPr>
          <a:p>
            <a:pPr eaLnBrk="1" hangingPunct="1">
              <a:buClr>
                <a:srgbClr val="FF9900"/>
              </a:buClr>
            </a:pPr>
            <a:r>
              <a:rPr dirty="0" sz="2400" lang="fr-FR" smtClean="0">
                <a:solidFill>
                  <a:schemeClr val="tx1"/>
                </a:solidFill>
              </a:rPr>
              <a:t>Inflammation de l’enveloppe +/- épanchement liquidien </a:t>
            </a:r>
          </a:p>
          <a:p>
            <a:pPr eaLnBrk="1" hangingPunct="1">
              <a:buClr>
                <a:srgbClr val="FF9900"/>
              </a:buClr>
            </a:pPr>
            <a:endParaRPr dirty="0" sz="2400" lang="fr-FR" smtClean="0">
              <a:solidFill>
                <a:schemeClr val="tx1"/>
              </a:solidFill>
            </a:endParaRPr>
          </a:p>
          <a:p>
            <a:pPr eaLnBrk="1" hangingPunct="1">
              <a:buClr>
                <a:srgbClr val="FF9900"/>
              </a:buClr>
            </a:pPr>
            <a:r>
              <a:rPr dirty="0" sz="2400" lang="fr-FR" smtClean="0">
                <a:solidFill>
                  <a:schemeClr val="tx1"/>
                </a:solidFill>
              </a:rPr>
              <a:t>Généralement bénigne dans sa forme aigue idiopathique</a:t>
            </a:r>
          </a:p>
          <a:p>
            <a:pPr eaLnBrk="1" hangingPunct="1">
              <a:buClr>
                <a:srgbClr val="FF9900"/>
              </a:buClr>
              <a:buNone/>
            </a:pPr>
            <a:endParaRPr dirty="0" sz="2400" lang="fr-FR" smtClean="0">
              <a:solidFill>
                <a:schemeClr val="tx1"/>
              </a:solidFill>
            </a:endParaRPr>
          </a:p>
          <a:p>
            <a:pPr eaLnBrk="1" hangingPunct="1">
              <a:buClr>
                <a:srgbClr val="FF9900"/>
              </a:buClr>
            </a:pPr>
            <a:r>
              <a:rPr dirty="0" sz="2400" lang="fr-FR" smtClean="0">
                <a:solidFill>
                  <a:schemeClr val="tx1"/>
                </a:solidFill>
              </a:rPr>
              <a:t>Récidives fréquentes: 30% à 18 mois, 50% après 1</a:t>
            </a:r>
            <a:r>
              <a:rPr baseline="30000" dirty="0" sz="2400" lang="fr-FR" smtClean="0">
                <a:solidFill>
                  <a:schemeClr val="tx1"/>
                </a:solidFill>
              </a:rPr>
              <a:t>ère</a:t>
            </a:r>
            <a:r>
              <a:rPr dirty="0" sz="2400" lang="fr-FR" smtClean="0">
                <a:solidFill>
                  <a:schemeClr val="tx1"/>
                </a:solidFill>
              </a:rPr>
              <a:t> récidive</a:t>
            </a:r>
          </a:p>
          <a:p>
            <a:pPr eaLnBrk="1" hangingPunct="1">
              <a:buClr>
                <a:srgbClr val="FF9900"/>
              </a:buClr>
            </a:pPr>
            <a:endParaRPr dirty="0" sz="2400" lang="fr-FR" smtClean="0">
              <a:solidFill>
                <a:schemeClr val="tx1"/>
              </a:solidFill>
            </a:endParaRPr>
          </a:p>
          <a:p>
            <a:pPr eaLnBrk="1" hangingPunct="1">
              <a:buClr>
                <a:srgbClr val="FF9900"/>
              </a:buClr>
            </a:pPr>
            <a:r>
              <a:rPr dirty="0" sz="2400" lang="fr-FR" smtClean="0">
                <a:solidFill>
                  <a:schemeClr val="tx1"/>
                </a:solidFill>
              </a:rPr>
              <a:t>Dgc différentiel de la douleur thoracique: EP, SCA, dissection </a:t>
            </a:r>
            <a:r>
              <a:rPr dirty="0" sz="2400" lang="fr-FR" err="1" smtClean="0">
                <a:solidFill>
                  <a:schemeClr val="tx1"/>
                </a:solidFill>
              </a:rPr>
              <a:t>Ao</a:t>
            </a:r>
            <a:endParaRPr dirty="0" sz="2400" lang="fr-FR" smtClean="0">
              <a:solidFill>
                <a:schemeClr val="tx1"/>
              </a:solidFill>
            </a:endParaRPr>
          </a:p>
          <a:p>
            <a:pPr eaLnBrk="1" hangingPunct="1">
              <a:buClr>
                <a:srgbClr val="FF9900"/>
              </a:buClr>
            </a:pPr>
            <a:endParaRPr dirty="0" sz="2400" lang="fr-FR" smtClean="0">
              <a:solidFill>
                <a:schemeClr val="tx1"/>
              </a:solidFill>
            </a:endParaRPr>
          </a:p>
          <a:p>
            <a:pPr eaLnBrk="1" hangingPunct="1">
              <a:buClr>
                <a:srgbClr val="FF9900"/>
              </a:buClr>
            </a:pPr>
            <a:r>
              <a:rPr dirty="0" sz="2400" lang="fr-FR" smtClean="0">
                <a:solidFill>
                  <a:schemeClr val="tx1"/>
                </a:solidFill>
              </a:rPr>
              <a:t>Importance du Dgc lié au risque de complications: </a:t>
            </a:r>
          </a:p>
          <a:p>
            <a:pPr eaLnBrk="1" hangingPunct="1">
              <a:buClr>
                <a:srgbClr val="FF9900"/>
              </a:buClr>
              <a:buNone/>
            </a:pPr>
            <a:r>
              <a:rPr dirty="0" sz="2400" lang="fr-FR" smtClean="0">
                <a:solidFill>
                  <a:schemeClr val="tx1"/>
                </a:solidFill>
              </a:rPr>
              <a:t>    </a:t>
            </a:r>
            <a:r>
              <a:rPr dirty="0" sz="2400" lang="fr-FR" smtClean="0">
                <a:solidFill>
                  <a:schemeClr val="tx1"/>
                </a:solidFill>
                <a:sym typeface="Symbol"/>
              </a:rPr>
              <a:t> court terme: tamponnade </a:t>
            </a:r>
          </a:p>
          <a:p>
            <a:pPr eaLnBrk="1" hangingPunct="1">
              <a:buClr>
                <a:srgbClr val="FF9900"/>
              </a:buClr>
              <a:buNone/>
            </a:pPr>
            <a:r>
              <a:rPr dirty="0" sz="2400" lang="fr-FR" smtClean="0">
                <a:solidFill>
                  <a:schemeClr val="tx1"/>
                </a:solidFill>
                <a:sym typeface="Symbol"/>
              </a:rPr>
              <a:t>     moyen/long terme: formes chroniques, constriction</a:t>
            </a:r>
            <a:endParaRPr dirty="0" sz="2400" lang="fr-FR" smtClean="0">
              <a:solidFill>
                <a:schemeClr val="tx1"/>
              </a:solidFill>
            </a:endParaRPr>
          </a:p>
          <a:p>
            <a:pPr eaLnBrk="1" hangingPunct="1">
              <a:buClr>
                <a:srgbClr val="FF9900"/>
              </a:buClr>
              <a:buNone/>
            </a:pPr>
            <a:endParaRPr dirty="0" sz="2400" lang="fr-FR" smtClean="0">
              <a:solidFill>
                <a:schemeClr val="bg2">
                  <a:lumMod val="10000"/>
                </a:schemeClr>
              </a:solidFill>
            </a:endParaRPr>
          </a:p>
          <a:p>
            <a:pPr eaLnBrk="1" hangingPunct="1">
              <a:buClr>
                <a:srgbClr val="FF9900"/>
              </a:buClr>
            </a:pPr>
            <a:endParaRPr dirty="0" sz="2400" lang="fr-FR" smtClean="0">
              <a:solidFill>
                <a:schemeClr val="bg2">
                  <a:lumMod val="10000"/>
                </a:schemeClr>
              </a:solidFill>
            </a:endParaRPr>
          </a:p>
        </p:txBody>
      </p:sp>
    </p:spTree>
  </p:cSld>
  <p:clrMapOvr>
    <a:masterClrMapping/>
  </p:clrMapOvr>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741" name="Titre 1"/>
          <p:cNvSpPr txBox="1"/>
          <p:nvPr/>
        </p:nvSpPr>
        <p:spPr>
          <a:xfrm>
            <a:off x="304800" y="116632"/>
            <a:ext cx="8686800" cy="648072"/>
          </a:xfrm>
          <a:prstGeom prst="rect"/>
        </p:spPr>
        <p:txBody>
          <a:bodyPr>
            <a:noAutofit/>
          </a:bodyPr>
          <a:p>
            <a:pPr algn="ctr" defTabSz="914400" eaLnBrk="1" fontAlgn="auto" hangingPunct="1" indent="0" latinLnBrk="0" lvl="0" marL="0" marR="0" rtl="0">
              <a:lnSpc>
                <a:spcPct val="100000"/>
              </a:lnSpc>
              <a:spcBef>
                <a:spcPct val="0"/>
              </a:spcBef>
              <a:spcAft>
                <a:spcPts val="0"/>
              </a:spcAft>
              <a:buClrTx/>
              <a:buSzTx/>
              <a:buFontTx/>
              <a:buNone/>
            </a:pPr>
            <a:r>
              <a:rPr baseline="0" b="0" cap="all" dirty="0" sz="2400" i="0" kern="1200" kumimoji="0" lang="fr-FR" noProof="0" normalizeH="0" spc="0" strike="noStrike" u="none" smtClean="0">
                <a:ln>
                  <a:noFill/>
                </a:ln>
                <a:solidFill>
                  <a:srgbClr val="FF9900"/>
                </a:solidFill>
                <a:effectLst/>
                <a:uLnTx/>
                <a:uFillTx/>
                <a:latin typeface="+mn-lt"/>
                <a:ea typeface="+mj-ea"/>
                <a:cs typeface="+mj-cs"/>
              </a:rPr>
              <a:t>A- PRESENTATIONS CLINIQUES</a:t>
            </a:r>
          </a:p>
          <a:p>
            <a:pPr algn="ctr" defTabSz="914400" eaLnBrk="1" fontAlgn="auto" hangingPunct="1" indent="0" latinLnBrk="0" lvl="0" marL="0" marR="0" rtl="0">
              <a:lnSpc>
                <a:spcPct val="100000"/>
              </a:lnSpc>
              <a:spcBef>
                <a:spcPct val="0"/>
              </a:spcBef>
              <a:spcAft>
                <a:spcPts val="0"/>
              </a:spcAft>
              <a:buClrTx/>
              <a:buSzTx/>
              <a:buFontTx/>
              <a:buNone/>
            </a:pPr>
            <a:r>
              <a:rPr cap="all" dirty="0" sz="2000" i="1" lang="fr-FR" noProof="0" smtClean="0">
                <a:solidFill>
                  <a:srgbClr val="800000"/>
                </a:solidFill>
                <a:ea typeface="+mj-ea"/>
                <a:cs typeface="+mj-cs"/>
              </a:rPr>
              <a:t>1- « </a:t>
            </a:r>
            <a:r>
              <a:rPr dirty="0" sz="2000" i="1" lang="fr-FR" smtClean="0">
                <a:solidFill>
                  <a:srgbClr val="800000"/>
                </a:solidFill>
                <a:ea typeface="+mj-ea"/>
                <a:cs typeface="+mj-cs"/>
              </a:rPr>
              <a:t>R</a:t>
            </a:r>
            <a:r>
              <a:rPr b="0" dirty="0" sz="2000" i="1" kern="1200" kumimoji="0" lang="fr-FR" noProof="0" normalizeH="0" spc="0" err="1" strike="noStrike" u="none" smtClean="0">
                <a:ln>
                  <a:noFill/>
                </a:ln>
                <a:solidFill>
                  <a:srgbClr val="800000"/>
                </a:solidFill>
                <a:effectLst/>
                <a:uLnTx/>
                <a:uFillTx/>
                <a:latin typeface="+mn-lt"/>
                <a:ea typeface="+mj-ea"/>
                <a:cs typeface="+mj-cs"/>
              </a:rPr>
              <a:t>ed</a:t>
            </a:r>
            <a:r>
              <a:rPr b="0" dirty="0" sz="2000" i="1" kern="1200" kumimoji="0" lang="fr-FR" noProof="0" normalizeH="0" spc="0" strike="noStrike" u="none" smtClean="0">
                <a:ln>
                  <a:noFill/>
                </a:ln>
                <a:solidFill>
                  <a:srgbClr val="800000"/>
                </a:solidFill>
                <a:effectLst/>
                <a:uLnTx/>
                <a:uFillTx/>
                <a:latin typeface="+mn-lt"/>
                <a:ea typeface="+mj-ea"/>
                <a:cs typeface="+mj-cs"/>
              </a:rPr>
              <a:t> Flags</a:t>
            </a:r>
            <a:r>
              <a:rPr b="0" cap="all" dirty="0" sz="2000" i="1" kern="1200" kumimoji="0" lang="fr-FR" noProof="0" normalizeH="0" spc="0" strike="noStrike" u="none" smtClean="0">
                <a:ln>
                  <a:noFill/>
                </a:ln>
                <a:solidFill>
                  <a:srgbClr val="800000"/>
                </a:solidFill>
                <a:effectLst/>
                <a:uLnTx/>
                <a:uFillTx/>
                <a:latin typeface="+mn-lt"/>
                <a:ea typeface="+mj-ea"/>
                <a:cs typeface="+mj-cs"/>
              </a:rPr>
              <a:t> »</a:t>
            </a:r>
            <a:endParaRPr baseline="0" b="0" cap="all" dirty="0" sz="2000" i="1" kern="1200" kumimoji="0" lang="fr-FR" noProof="0" normalizeH="0" spc="0" strike="noStrike" u="none">
              <a:ln>
                <a:noFill/>
              </a:ln>
              <a:solidFill>
                <a:srgbClr val="800000"/>
              </a:solidFill>
              <a:effectLst/>
              <a:uLnTx/>
              <a:uFillTx/>
              <a:latin typeface="+mn-lt"/>
              <a:ea typeface="+mj-ea"/>
              <a:cs typeface="+mj-cs"/>
            </a:endParaRPr>
          </a:p>
        </p:txBody>
      </p:sp>
      <p:pic>
        <p:nvPicPr>
          <p:cNvPr id="2097165" name="Picture 2"/>
          <p:cNvPicPr>
            <a:picLocks noChangeAspect="1" noChangeArrowheads="1"/>
          </p:cNvPicPr>
          <p:nvPr/>
        </p:nvPicPr>
        <p:blipFill>
          <a:blip xmlns:r="http://schemas.openxmlformats.org/officeDocument/2006/relationships" r:embed="rId1" cstate="print"/>
          <a:srcRect/>
          <a:stretch>
            <a:fillRect/>
          </a:stretch>
        </p:blipFill>
        <p:spPr bwMode="auto">
          <a:xfrm>
            <a:off x="119063" y="980728"/>
            <a:ext cx="8905875" cy="5184576"/>
          </a:xfrm>
          <a:prstGeom prst="rect"/>
          <a:ln>
            <a:noFill/>
          </a:ln>
          <a:effectLst>
            <a:outerShdw algn="tl" blurRad="292100" dir="2700000" dist="139700" rotWithShape="0">
              <a:srgbClr val="333333">
                <a:alpha val="65000"/>
              </a:srgbClr>
            </a:outerShdw>
          </a:effectLst>
        </p:spPr>
      </p:pic>
      <p:pic>
        <p:nvPicPr>
          <p:cNvPr id="2097166" name="Picture 2"/>
          <p:cNvPicPr>
            <a:picLocks noChangeAspect="1" noChangeArrowheads="1"/>
          </p:cNvPicPr>
          <p:nvPr/>
        </p:nvPicPr>
        <p:blipFill>
          <a:blip xmlns:r="http://schemas.openxmlformats.org/officeDocument/2006/relationships" r:embed="rId1" cstate="print"/>
          <a:srcRect l="52426" t="12121" r="4441" b="10606"/>
          <a:stretch>
            <a:fillRect/>
          </a:stretch>
        </p:blipFill>
        <p:spPr bwMode="auto">
          <a:xfrm>
            <a:off x="2314798" y="1799000"/>
            <a:ext cx="3841378" cy="4006264"/>
          </a:xfrm>
          <a:prstGeom prst="rect"/>
          <a:ln>
            <a:noFill/>
          </a:ln>
          <a:effectLst>
            <a:outerShdw algn="tl" blurRad="292100" dir="2700000" dist="139700" rotWithShape="0">
              <a:srgbClr val="333333">
                <a:alpha val="65000"/>
              </a:srgbClr>
            </a:outerShdw>
          </a:effectLst>
        </p:spPr>
      </p:pic>
      <p:sp>
        <p:nvSpPr>
          <p:cNvPr id="1048742" name="ZoneTexte 4"/>
          <p:cNvSpPr txBox="1"/>
          <p:nvPr/>
        </p:nvSpPr>
        <p:spPr>
          <a:xfrm>
            <a:off x="7308304" y="6258798"/>
            <a:ext cx="1064715" cy="338554"/>
          </a:xfrm>
          <a:prstGeom prst="rect"/>
          <a:noFill/>
        </p:spPr>
        <p:txBody>
          <a:bodyPr rtlCol="0" wrap="none">
            <a:spAutoFit/>
          </a:bodyPr>
          <a:p>
            <a:r>
              <a:rPr b="1" dirty="0" sz="1600" lang="fr-FR" smtClean="0"/>
              <a:t>ESC 2025</a:t>
            </a:r>
            <a:endParaRPr b="1" dirty="0" sz="1600" lang="fr-FR"/>
          </a:p>
        </p:txBody>
      </p:sp>
      <p:sp>
        <p:nvSpPr>
          <p:cNvPr id="1048743" name="ZoneTexte 5"/>
          <p:cNvSpPr txBox="1"/>
          <p:nvPr/>
        </p:nvSpPr>
        <p:spPr>
          <a:xfrm>
            <a:off x="395536" y="413077"/>
            <a:ext cx="7416824" cy="5209540"/>
          </a:xfrm>
          <a:prstGeom prst="rect"/>
          <a:solidFill>
            <a:schemeClr val="bg1">
              <a:lumMod val="85000"/>
            </a:schemeClr>
          </a:solidFill>
          <a:ln>
            <a:solidFill>
              <a:schemeClr val="bg1"/>
            </a:solidFill>
          </a:ln>
        </p:spPr>
        <p:txBody>
          <a:bodyPr rtlCol="0" wrap="square">
            <a:spAutoFit/>
          </a:bodyPr>
          <a:p>
            <a:r>
              <a:rPr dirty="0" sz="2800" lang="fr-FR" smtClean="0">
                <a:latin typeface="Calibri" pitchFamily="34" charset="0"/>
                <a:cs typeface="Arial" pitchFamily="34" charset="0"/>
              </a:rPr>
              <a:t>Péricardites</a:t>
            </a:r>
          </a:p>
          <a:p>
            <a:pPr>
              <a:spcBef>
                <a:spcPts val="600"/>
              </a:spcBef>
            </a:pPr>
            <a:r>
              <a:rPr dirty="0" sz="2400" lang="fr-FR" smtClean="0">
                <a:latin typeface="Calibri" pitchFamily="34" charset="0"/>
                <a:cs typeface="Arial" pitchFamily="34" charset="0"/>
              </a:rPr>
              <a:t>Syndrome pseudo grippal ou </a:t>
            </a:r>
            <a:r>
              <a:rPr dirty="0" sz="2400" lang="fr-FR" err="1" smtClean="0">
                <a:latin typeface="Calibri" pitchFamily="34" charset="0"/>
                <a:cs typeface="Arial" pitchFamily="34" charset="0"/>
              </a:rPr>
              <a:t>gastro</a:t>
            </a:r>
            <a:r>
              <a:rPr dirty="0" sz="2400" lang="fr-FR" smtClean="0">
                <a:latin typeface="Calibri" pitchFamily="34" charset="0"/>
                <a:cs typeface="Arial" pitchFamily="34" charset="0"/>
              </a:rPr>
              <a:t> entérite récents ou concomitants</a:t>
            </a:r>
          </a:p>
          <a:p>
            <a:r>
              <a:rPr dirty="0" sz="2400" lang="fr-FR" smtClean="0">
                <a:latin typeface="Calibri" pitchFamily="34" charset="0"/>
                <a:cs typeface="Arial" pitchFamily="34" charset="0"/>
              </a:rPr>
              <a:t>Douleur thoracique pseudo angineuse ou de type pleural</a:t>
            </a:r>
            <a:r>
              <a:rPr dirty="0" sz="2400" lang="fr-FR" smtClean="0">
                <a:solidFill>
                  <a:srgbClr val="FF0000"/>
                </a:solidFill>
                <a:latin typeface="Calibri" pitchFamily="34" charset="0"/>
                <a:cs typeface="Arial" pitchFamily="34" charset="0"/>
              </a:rPr>
              <a:t>*</a:t>
            </a:r>
            <a:endParaRPr dirty="0" sz="2400" lang="fr-FR" smtClean="0">
              <a:latin typeface="Calibri" pitchFamily="34" charset="0"/>
              <a:cs typeface="Arial" pitchFamily="34" charset="0"/>
            </a:endParaRPr>
          </a:p>
          <a:p>
            <a:r>
              <a:rPr dirty="0" sz="2400" lang="fr-FR" smtClean="0">
                <a:latin typeface="Calibri" pitchFamily="34" charset="0"/>
                <a:cs typeface="Arial" pitchFamily="34" charset="0"/>
              </a:rPr>
              <a:t>Symptômes d’IC droite et signes de constriction</a:t>
            </a:r>
          </a:p>
          <a:p>
            <a:r>
              <a:rPr dirty="0" sz="2400" lang="fr-FR" smtClean="0">
                <a:latin typeface="Calibri" pitchFamily="34" charset="0"/>
                <a:cs typeface="Arial" pitchFamily="34" charset="0"/>
              </a:rPr>
              <a:t>Fièvre</a:t>
            </a:r>
          </a:p>
          <a:p>
            <a:r>
              <a:rPr dirty="0" sz="2400" lang="fr-FR" smtClean="0">
                <a:latin typeface="Calibri" pitchFamily="34" charset="0"/>
                <a:cs typeface="Arial" pitchFamily="34" charset="0"/>
              </a:rPr>
              <a:t>Frottement péricardique</a:t>
            </a:r>
          </a:p>
          <a:p>
            <a:r>
              <a:rPr dirty="0" sz="2400" lang="fr-FR" smtClean="0">
                <a:latin typeface="Calibri" pitchFamily="34" charset="0"/>
                <a:cs typeface="Arial" pitchFamily="34" charset="0"/>
              </a:rPr>
              <a:t>Élévation du taux de CRP</a:t>
            </a:r>
          </a:p>
          <a:p>
            <a:r>
              <a:rPr dirty="0" sz="2400" lang="fr-FR" smtClean="0">
                <a:latin typeface="Calibri" pitchFamily="34" charset="0"/>
                <a:cs typeface="Arial" pitchFamily="34" charset="0"/>
              </a:rPr>
              <a:t>Épanchement péricardique </a:t>
            </a:r>
          </a:p>
          <a:p>
            <a:r>
              <a:rPr dirty="0" sz="2400" lang="fr-FR" smtClean="0">
                <a:latin typeface="Calibri" pitchFamily="34" charset="0"/>
                <a:cs typeface="Arial" pitchFamily="34" charset="0"/>
              </a:rPr>
              <a:t>Épanchement pleural</a:t>
            </a:r>
          </a:p>
          <a:p>
            <a:r>
              <a:rPr dirty="0" sz="2400" lang="fr-FR" smtClean="0">
                <a:latin typeface="Calibri" pitchFamily="34" charset="0"/>
                <a:cs typeface="Arial" pitchFamily="34" charset="0"/>
              </a:rPr>
              <a:t>Polysérite</a:t>
            </a:r>
          </a:p>
          <a:p>
            <a:r>
              <a:rPr dirty="0" sz="2400" lang="fr-FR" smtClean="0">
                <a:latin typeface="Calibri" pitchFamily="34" charset="0"/>
                <a:cs typeface="Arial" pitchFamily="34" charset="0"/>
              </a:rPr>
              <a:t>IRM avec œdème péricardique et/ou rehaussement tardif du </a:t>
            </a:r>
            <a:r>
              <a:rPr dirty="0" sz="2400" lang="fr-FR" err="1" smtClean="0">
                <a:latin typeface="Calibri" pitchFamily="34" charset="0"/>
                <a:cs typeface="Arial" pitchFamily="34" charset="0"/>
              </a:rPr>
              <a:t>gadolinum</a:t>
            </a:r>
            <a:r>
              <a:rPr dirty="0" lang="fr-FR" smtClean="0">
                <a:latin typeface="Calibri" pitchFamily="34" charset="0"/>
                <a:cs typeface="Arial" pitchFamily="34" charset="0"/>
              </a:rPr>
              <a:t> </a:t>
            </a:r>
            <a:endParaRPr dirty="0" lang="fr-FR">
              <a:latin typeface="Calibri" pitchFamily="34" charset="0"/>
              <a:cs typeface="Arial" pitchFamily="34" charset="0"/>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66"/>
                                        </p:tgtEl>
                                        <p:attrNameLst>
                                          <p:attrName>style.visibility</p:attrName>
                                        </p:attrNameLst>
                                      </p:cBhvr>
                                      <p:to>
                                        <p:strVal val="visible"/>
                                      </p:to>
                                    </p:set>
                                  </p:childTnLst>
                                </p:cTn>
                              </p:par>
                              <p:par>
                                <p:cTn fill="hold" id="7" nodeType="withEffect" presetClass="emph" presetID="6" presetSubtype="0">
                                  <p:stCondLst>
                                    <p:cond delay="0"/>
                                  </p:stCondLst>
                                  <p:childTnLst>
                                    <p:animScale>
                                      <p:cBhvr>
                                        <p:cTn dur="500" fill="hold" id="8"/>
                                        <p:tgtEl>
                                          <p:spTgt spid="2097166"/>
                                        </p:tgtEl>
                                      </p:cBhvr>
                                      <p:by x="200000" y="200000"/>
                                    </p:animScale>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1" presetSubtype="0">
                                  <p:stCondLst>
                                    <p:cond delay="0"/>
                                  </p:stCondLst>
                                  <p:childTnLst>
                                    <p:set>
                                      <p:cBhvr>
                                        <p:cTn dur="1" fill="hold" id="12">
                                          <p:stCondLst>
                                            <p:cond delay="0"/>
                                          </p:stCondLst>
                                        </p:cTn>
                                        <p:tgtEl>
                                          <p:spTgt spid="10487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4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1">
  <p:cSld>
    <p:spTree>
      <p:nvGrpSpPr>
        <p:cNvPr id="124" name=""/>
        <p:cNvGrpSpPr/>
        <p:nvPr/>
      </p:nvGrpSpPr>
      <p:grpSpPr>
        <a:xfrm>
          <a:off x="0" y="0"/>
          <a:ext cx="0" cy="0"/>
          <a:chOff x="0" y="0"/>
          <a:chExt cx="0" cy="0"/>
        </a:xfrm>
      </p:grpSpPr>
      <p:sp>
        <p:nvSpPr>
          <p:cNvPr id="1048747" name="Rectangle 3"/>
          <p:cNvSpPr>
            <a:spLocks noRot="1" noGrp="1" noChangeArrowheads="1"/>
          </p:cNvSpPr>
          <p:nvPr>
            <p:ph type="body" idx="4294967295"/>
          </p:nvPr>
        </p:nvSpPr>
        <p:spPr>
          <a:xfrm>
            <a:off x="-72008" y="548680"/>
            <a:ext cx="9252520" cy="5976664"/>
          </a:xfrm>
        </p:spPr>
        <p:txBody>
          <a:bodyPr>
            <a:normAutofit/>
          </a:bodyPr>
          <a:p>
            <a:pPr algn="ctr" indent="-288000" marL="360000">
              <a:lnSpc>
                <a:spcPct val="90000"/>
              </a:lnSpc>
              <a:spcBef>
                <a:spcPts val="0"/>
              </a:spcBef>
              <a:spcAft>
                <a:spcPts val="1800"/>
              </a:spcAft>
              <a:buClr>
                <a:srgbClr val="FF9900"/>
              </a:buClr>
              <a:buFont typeface="Arial" charset="0"/>
              <a:buChar char="•"/>
            </a:pPr>
            <a:r>
              <a:rPr dirty="0" sz="3600" lang="fr-FR" smtClean="0">
                <a:solidFill>
                  <a:srgbClr val="C00000"/>
                </a:solidFill>
              </a:rPr>
              <a:t>Présentations cliniques</a:t>
            </a:r>
          </a:p>
          <a:p>
            <a:pPr algn="ctr" indent="-288000" marL="360000">
              <a:lnSpc>
                <a:spcPct val="90000"/>
              </a:lnSpc>
              <a:spcBef>
                <a:spcPts val="0"/>
              </a:spcBef>
              <a:spcAft>
                <a:spcPts val="600"/>
              </a:spcAft>
              <a:buClr>
                <a:srgbClr val="FF9900"/>
              </a:buClr>
              <a:buNone/>
            </a:pPr>
            <a:r>
              <a:rPr dirty="0" sz="3600" lang="fr-FR" smtClean="0">
                <a:solidFill>
                  <a:srgbClr val="C00000"/>
                </a:solidFill>
              </a:rPr>
              <a:t> </a:t>
            </a:r>
            <a:r>
              <a:rPr dirty="0" lang="fr-FR" smtClean="0">
                <a:solidFill>
                  <a:srgbClr val="C00000"/>
                </a:solidFill>
              </a:rPr>
              <a:t> </a:t>
            </a:r>
            <a:r>
              <a:rPr dirty="0" sz="2800" lang="fr-FR" smtClean="0">
                <a:solidFill>
                  <a:schemeClr val="tx1"/>
                </a:solidFill>
              </a:rPr>
              <a:t>principal symptôme = douleur </a:t>
            </a:r>
            <a:r>
              <a:rPr dirty="0" sz="2800" lang="fr-FR" u="sng" smtClean="0">
                <a:solidFill>
                  <a:schemeClr val="tx1"/>
                </a:solidFill>
              </a:rPr>
              <a:t>péricarditique</a:t>
            </a:r>
            <a:endParaRPr dirty="0" sz="2800" lang="fr-FR" smtClean="0">
              <a:solidFill>
                <a:schemeClr val="tx1"/>
              </a:solidFill>
            </a:endParaRPr>
          </a:p>
          <a:p>
            <a:pPr indent="-288000" marL="360000">
              <a:lnSpc>
                <a:spcPct val="90000"/>
              </a:lnSpc>
              <a:spcBef>
                <a:spcPts val="0"/>
              </a:spcBef>
              <a:buClr>
                <a:srgbClr val="FF9900"/>
              </a:buClr>
              <a:buNone/>
            </a:pPr>
            <a:r>
              <a:rPr dirty="0" sz="2800" lang="fr-FR" smtClean="0">
                <a:solidFill>
                  <a:schemeClr val="tx1"/>
                </a:solidFill>
              </a:rPr>
              <a:t> </a:t>
            </a:r>
            <a:endParaRPr dirty="0" sz="2800" lang="fr-FR" smtClean="0"/>
          </a:p>
          <a:p>
            <a:pPr indent="-288000" marL="360000">
              <a:spcBef>
                <a:spcPts val="0"/>
              </a:spcBef>
              <a:buClr>
                <a:srgbClr val="FF9900"/>
              </a:buClr>
              <a:buNone/>
            </a:pPr>
            <a:r>
              <a:rPr dirty="0" sz="2000" lang="fr-FR" smtClean="0"/>
              <a:t>   </a:t>
            </a:r>
            <a:r>
              <a:rPr dirty="0" lang="fr-FR" smtClean="0">
                <a:solidFill>
                  <a:srgbClr val="C00000"/>
                </a:solidFill>
              </a:rPr>
              <a:t>- </a:t>
            </a:r>
            <a:r>
              <a:rPr dirty="0" sz="2800" lang="fr-FR" smtClean="0">
                <a:solidFill>
                  <a:schemeClr val="tx1"/>
                </a:solidFill>
              </a:rPr>
              <a:t>péricardite sèche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rgbClr val="C00000"/>
                </a:solidFill>
              </a:rPr>
              <a:t>-</a:t>
            </a:r>
            <a:r>
              <a:rPr dirty="0" sz="2800" lang="fr-FR" smtClean="0">
                <a:solidFill>
                  <a:schemeClr val="tx1"/>
                </a:solidFill>
              </a:rPr>
              <a:t> péricardite liquidienne (avec épanchement)</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000" lang="fr-FR" smtClean="0">
                <a:solidFill>
                  <a:srgbClr val="C00000"/>
                </a:solidFill>
              </a:rPr>
              <a:t>  </a:t>
            </a:r>
            <a:r>
              <a:rPr dirty="0" lang="fr-FR" smtClean="0">
                <a:solidFill>
                  <a:srgbClr val="C00000"/>
                </a:solidFill>
              </a:rPr>
              <a:t>-</a:t>
            </a:r>
            <a:r>
              <a:rPr dirty="0" sz="3600" lang="fr-FR" smtClean="0">
                <a:solidFill>
                  <a:srgbClr val="C00000"/>
                </a:solidFill>
              </a:rPr>
              <a:t> </a:t>
            </a:r>
            <a:r>
              <a:rPr dirty="0" sz="2800" lang="fr-FR" smtClean="0">
                <a:solidFill>
                  <a:schemeClr val="tx1"/>
                </a:solidFill>
              </a:rPr>
              <a:t>péricardite constrictive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000" lang="fr-FR" smtClean="0">
                <a:solidFill>
                  <a:schemeClr val="tx1"/>
                </a:solidFill>
              </a:rPr>
              <a:t>  </a:t>
            </a:r>
            <a:r>
              <a:rPr dirty="0" lang="fr-FR" smtClean="0">
                <a:solidFill>
                  <a:srgbClr val="C00000"/>
                </a:solidFill>
              </a:rPr>
              <a:t>-</a:t>
            </a:r>
            <a:r>
              <a:rPr dirty="0" sz="3600" lang="fr-FR" smtClean="0">
                <a:solidFill>
                  <a:srgbClr val="C00000"/>
                </a:solidFill>
              </a:rPr>
              <a:t> </a:t>
            </a:r>
            <a:r>
              <a:rPr dirty="0" sz="2800" lang="fr-FR" smtClean="0">
                <a:solidFill>
                  <a:schemeClr val="tx1"/>
                </a:solidFill>
              </a:rPr>
              <a:t>péricardite liquidienne constrictive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rgbClr val="C00000"/>
                </a:solidFill>
              </a:rPr>
              <a:t>- </a:t>
            </a:r>
            <a:r>
              <a:rPr dirty="0" sz="2800" lang="fr-FR" smtClean="0">
                <a:solidFill>
                  <a:schemeClr val="tx1"/>
                </a:solidFill>
              </a:rPr>
              <a:t>péricardite avec tamponnade (triade de Beck)</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chemeClr val="tx1"/>
                </a:solidFill>
              </a:rPr>
              <a:t> </a:t>
            </a:r>
            <a:r>
              <a:rPr dirty="0" lang="fr-FR" smtClean="0">
                <a:solidFill>
                  <a:srgbClr val="C00000"/>
                </a:solidFill>
              </a:rPr>
              <a:t>- </a:t>
            </a:r>
            <a:r>
              <a:rPr dirty="0" sz="2800" lang="fr-FR" smtClean="0">
                <a:solidFill>
                  <a:schemeClr val="tx1"/>
                </a:solidFill>
              </a:rPr>
              <a:t>constriction péricardique transitoire</a:t>
            </a:r>
            <a:endParaRPr dirty="0" sz="2000" lang="fr-FR" smtClean="0">
              <a:solidFill>
                <a:schemeClr val="tx1"/>
              </a:solidFill>
            </a:endParaRPr>
          </a:p>
          <a:p>
            <a:pPr indent="-533400" lvl="1" marL="720000">
              <a:lnSpc>
                <a:spcPct val="90000"/>
              </a:lnSpc>
              <a:spcAft>
                <a:spcPts val="1200"/>
              </a:spcAft>
              <a:buClr>
                <a:srgbClr val="FF9900"/>
              </a:buClr>
              <a:buNone/>
            </a:pPr>
            <a:r>
              <a:rPr dirty="0" sz="2000" lang="fr-FR" smtClean="0"/>
              <a:t>   </a:t>
            </a:r>
            <a:endParaRPr dirty="0" lang="fr-FR" smtClean="0">
              <a:solidFill>
                <a:schemeClr val="tx1"/>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1" presetSubtype="0">
                                  <p:stCondLst>
                                    <p:cond delay="0"/>
                                  </p:stCondLst>
                                  <p:childTnLst>
                                    <p:set>
                                      <p:cBhvr>
                                        <p:cTn dur="1" fill="hold" id="6">
                                          <p:stCondLst>
                                            <p:cond delay="0"/>
                                          </p:stCondLst>
                                        </p:cTn>
                                        <p:tgtEl>
                                          <p:spTgt spid="104874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751" name="Titre 1"/>
          <p:cNvSpPr txBox="1"/>
          <p:nvPr/>
        </p:nvSpPr>
        <p:spPr>
          <a:xfrm>
            <a:off x="304800" y="116632"/>
            <a:ext cx="8686800" cy="648072"/>
          </a:xfrm>
          <a:prstGeom prst="rect"/>
        </p:spPr>
        <p:txBody>
          <a:bodyPr>
            <a:noAutofit/>
          </a:bodyPr>
          <a:p>
            <a:pPr algn="ctr" defTabSz="914400" eaLnBrk="1" fontAlgn="auto" hangingPunct="1" indent="0" latinLnBrk="0" lvl="0" marL="0" marR="0" rtl="0">
              <a:lnSpc>
                <a:spcPct val="100000"/>
              </a:lnSpc>
              <a:spcBef>
                <a:spcPct val="0"/>
              </a:spcBef>
              <a:spcAft>
                <a:spcPts val="0"/>
              </a:spcAft>
              <a:buClrTx/>
              <a:buSzTx/>
              <a:buFontTx/>
              <a:buNone/>
            </a:pPr>
            <a:r>
              <a:rPr baseline="0" b="0" cap="all" dirty="0" sz="2400" i="0" kern="1200" kumimoji="0" lang="fr-FR" noProof="0" normalizeH="0" spc="0" strike="noStrike" u="none" smtClean="0">
                <a:ln>
                  <a:noFill/>
                </a:ln>
                <a:solidFill>
                  <a:srgbClr val="FF9900"/>
                </a:solidFill>
                <a:effectLst/>
                <a:uLnTx/>
                <a:uFillTx/>
                <a:latin typeface="+mn-lt"/>
                <a:ea typeface="+mj-ea"/>
                <a:cs typeface="+mj-cs"/>
              </a:rPr>
              <a:t>A- PRESENTATIONS CLINIQUES</a:t>
            </a:r>
            <a:br>
              <a:rPr baseline="0" b="0" cap="all" dirty="0" sz="2400" i="0" kern="1200" kumimoji="0" lang="fr-FR" noProof="0" normalizeH="0" spc="0" strike="noStrike" u="none" smtClean="0">
                <a:ln>
                  <a:noFill/>
                </a:ln>
                <a:solidFill>
                  <a:srgbClr val="FF9900"/>
                </a:solidFill>
                <a:effectLst/>
                <a:uLnTx/>
                <a:uFillTx/>
                <a:latin typeface="+mn-lt"/>
                <a:ea typeface="+mj-ea"/>
                <a:cs typeface="+mj-cs"/>
              </a:rPr>
            </a:br>
            <a:r>
              <a:rPr baseline="0" b="0" cap="all" dirty="0" sz="2000" i="1" kern="1200" kumimoji="0" lang="fr-FR" noProof="0" normalizeH="0" spc="0" strike="noStrike" u="none" smtClean="0">
                <a:ln>
                  <a:noFill/>
                </a:ln>
                <a:solidFill>
                  <a:srgbClr val="800000"/>
                </a:solidFill>
                <a:effectLst/>
                <a:uLnTx/>
                <a:uFillTx/>
                <a:latin typeface="+mn-lt"/>
                <a:ea typeface="+mj-ea"/>
                <a:cs typeface="+mj-cs"/>
              </a:rPr>
              <a:t>2- « </a:t>
            </a:r>
            <a:r>
              <a:rPr baseline="0" b="0" cap="none" dirty="0" sz="2000" i="1" kern="1200" kumimoji="0" lang="fr-FR" noProof="0" normalizeH="0" spc="0" strike="noStrike" u="none" smtClean="0">
                <a:ln>
                  <a:noFill/>
                </a:ln>
                <a:solidFill>
                  <a:srgbClr val="800000"/>
                </a:solidFill>
                <a:effectLst/>
                <a:uLnTx/>
                <a:uFillTx/>
                <a:latin typeface="+mn-lt"/>
                <a:ea typeface="+mj-ea"/>
                <a:cs typeface="+mj-cs"/>
              </a:rPr>
              <a:t>Formes </a:t>
            </a:r>
            <a:r>
              <a:rPr dirty="0" sz="2000" i="1" lang="fr-FR" err="1" smtClean="0">
                <a:solidFill>
                  <a:srgbClr val="800000"/>
                </a:solidFill>
                <a:ea typeface="+mj-ea"/>
                <a:cs typeface="+mj-cs"/>
              </a:rPr>
              <a:t>cliniqu</a:t>
            </a:r>
            <a:r>
              <a:rPr baseline="0" b="0" cap="none" dirty="0" sz="2000" i="1" kern="1200" kumimoji="0" lang="fr-FR" noProof="0" normalizeH="0" spc="0" strike="noStrike" u="none" smtClean="0">
                <a:ln>
                  <a:noFill/>
                </a:ln>
                <a:solidFill>
                  <a:srgbClr val="800000"/>
                </a:solidFill>
                <a:effectLst/>
                <a:uLnTx/>
                <a:uFillTx/>
                <a:latin typeface="+mn-lt"/>
                <a:ea typeface="+mj-ea"/>
                <a:cs typeface="+mj-cs"/>
              </a:rPr>
              <a:t>es et complications </a:t>
            </a:r>
            <a:r>
              <a:rPr baseline="0" b="0" cap="all" dirty="0" sz="2000" i="1" kern="1200" kumimoji="0" lang="fr-FR" noProof="0" normalizeH="0" spc="0" strike="noStrike" u="none" smtClean="0">
                <a:ln>
                  <a:noFill/>
                </a:ln>
                <a:solidFill>
                  <a:srgbClr val="800000"/>
                </a:solidFill>
                <a:effectLst/>
                <a:uLnTx/>
                <a:uFillTx/>
                <a:latin typeface="+mn-lt"/>
                <a:ea typeface="+mj-ea"/>
                <a:cs typeface="+mj-cs"/>
              </a:rPr>
              <a:t>»</a:t>
            </a:r>
            <a:endParaRPr baseline="0" b="0" cap="all" dirty="0" sz="2400" i="1" kern="1200" kumimoji="0" lang="fr-FR" noProof="0" normalizeH="0" spc="0" strike="noStrike" u="none">
              <a:ln>
                <a:noFill/>
              </a:ln>
              <a:solidFill>
                <a:srgbClr val="800000"/>
              </a:solidFill>
              <a:effectLst/>
              <a:uLnTx/>
              <a:uFillTx/>
              <a:latin typeface="+mn-lt"/>
              <a:ea typeface="+mj-ea"/>
              <a:cs typeface="+mj-cs"/>
            </a:endParaRPr>
          </a:p>
        </p:txBody>
      </p:sp>
      <p:sp>
        <p:nvSpPr>
          <p:cNvPr id="1048752" name="Rectangle 3"/>
          <p:cNvSpPr>
            <a:spLocks noRot="1" noGrp="1" noChangeArrowheads="1"/>
          </p:cNvSpPr>
          <p:nvPr>
            <p:ph type="body" idx="4294967295"/>
          </p:nvPr>
        </p:nvSpPr>
        <p:spPr>
          <a:xfrm>
            <a:off x="-72008" y="548680"/>
            <a:ext cx="9252520" cy="5976664"/>
          </a:xfrm>
        </p:spPr>
        <p:txBody>
          <a:bodyPr>
            <a:normAutofit/>
          </a:bodyPr>
          <a:p>
            <a:pPr algn="ctr" indent="-288000" marL="360000">
              <a:lnSpc>
                <a:spcPct val="90000"/>
              </a:lnSpc>
              <a:spcBef>
                <a:spcPts val="0"/>
              </a:spcBef>
              <a:spcAft>
                <a:spcPts val="1800"/>
              </a:spcAft>
              <a:buClr>
                <a:srgbClr val="FF9900"/>
              </a:buClr>
              <a:buNone/>
            </a:pPr>
            <a:endParaRPr dirty="0" sz="2800" lang="fr-FR" smtClean="0">
              <a:solidFill>
                <a:schemeClr val="tx1"/>
              </a:solidFill>
            </a:endParaRPr>
          </a:p>
          <a:p>
            <a:pPr algn="ctr" indent="-288000" marL="360000">
              <a:lnSpc>
                <a:spcPct val="90000"/>
              </a:lnSpc>
              <a:spcBef>
                <a:spcPts val="0"/>
              </a:spcBef>
              <a:spcAft>
                <a:spcPts val="1800"/>
              </a:spcAft>
              <a:buClr>
                <a:srgbClr val="FF9900"/>
              </a:buClr>
              <a:buNone/>
            </a:pPr>
            <a:r>
              <a:rPr dirty="0" sz="2800" lang="fr-FR" smtClean="0">
                <a:solidFill>
                  <a:schemeClr val="tx1"/>
                </a:solidFill>
              </a:rPr>
              <a:t>principal symptôme = douleur </a:t>
            </a:r>
            <a:r>
              <a:rPr dirty="0" sz="2800" lang="fr-FR" u="sng" smtClean="0">
                <a:solidFill>
                  <a:schemeClr val="tx1"/>
                </a:solidFill>
              </a:rPr>
              <a:t>péricarditique</a:t>
            </a:r>
            <a:endParaRPr dirty="0" sz="2800" lang="fr-FR" smtClean="0">
              <a:solidFill>
                <a:schemeClr val="tx1"/>
              </a:solidFill>
            </a:endParaRPr>
          </a:p>
          <a:p>
            <a:pPr indent="-288000" marL="360000">
              <a:lnSpc>
                <a:spcPct val="90000"/>
              </a:lnSpc>
              <a:spcBef>
                <a:spcPts val="0"/>
              </a:spcBef>
              <a:buClr>
                <a:srgbClr val="FF9900"/>
              </a:buClr>
              <a:buNone/>
            </a:pPr>
            <a:r>
              <a:rPr dirty="0" sz="2800" lang="fr-FR" smtClean="0">
                <a:solidFill>
                  <a:schemeClr val="tx1"/>
                </a:solidFill>
              </a:rPr>
              <a:t> </a:t>
            </a:r>
            <a:endParaRPr dirty="0" sz="2800" lang="fr-FR" smtClean="0"/>
          </a:p>
          <a:p>
            <a:pPr indent="-288000" marL="360000">
              <a:spcBef>
                <a:spcPts val="0"/>
              </a:spcBef>
              <a:buClr>
                <a:srgbClr val="FF9900"/>
              </a:buClr>
              <a:buNone/>
            </a:pPr>
            <a:r>
              <a:rPr dirty="0" sz="2000" lang="fr-FR" smtClean="0"/>
              <a:t>   </a:t>
            </a:r>
            <a:r>
              <a:rPr dirty="0" lang="fr-FR" smtClean="0">
                <a:solidFill>
                  <a:srgbClr val="C00000"/>
                </a:solidFill>
              </a:rPr>
              <a:t>- </a:t>
            </a:r>
            <a:r>
              <a:rPr dirty="0" sz="2800" lang="fr-FR" smtClean="0">
                <a:solidFill>
                  <a:schemeClr val="tx1"/>
                </a:solidFill>
              </a:rPr>
              <a:t>péricardite sèche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rgbClr val="C00000"/>
                </a:solidFill>
              </a:rPr>
              <a:t>-</a:t>
            </a:r>
            <a:r>
              <a:rPr dirty="0" sz="2800" lang="fr-FR" smtClean="0">
                <a:solidFill>
                  <a:schemeClr val="tx1"/>
                </a:solidFill>
              </a:rPr>
              <a:t> péricardite liquidienne (avec épanchement)</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000" lang="fr-FR" smtClean="0">
                <a:solidFill>
                  <a:srgbClr val="C00000"/>
                </a:solidFill>
              </a:rPr>
              <a:t>  </a:t>
            </a:r>
            <a:r>
              <a:rPr dirty="0" lang="fr-FR" smtClean="0">
                <a:solidFill>
                  <a:srgbClr val="C00000"/>
                </a:solidFill>
              </a:rPr>
              <a:t>-</a:t>
            </a:r>
            <a:r>
              <a:rPr dirty="0" sz="3600" lang="fr-FR" smtClean="0">
                <a:solidFill>
                  <a:srgbClr val="C00000"/>
                </a:solidFill>
              </a:rPr>
              <a:t> </a:t>
            </a:r>
            <a:r>
              <a:rPr dirty="0" sz="2800" lang="fr-FR" smtClean="0">
                <a:solidFill>
                  <a:schemeClr val="tx1"/>
                </a:solidFill>
              </a:rPr>
              <a:t>péricardite constrictive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000" lang="fr-FR" smtClean="0">
                <a:solidFill>
                  <a:schemeClr val="tx1"/>
                </a:solidFill>
              </a:rPr>
              <a:t>  </a:t>
            </a:r>
            <a:r>
              <a:rPr dirty="0" lang="fr-FR" smtClean="0">
                <a:solidFill>
                  <a:srgbClr val="C00000"/>
                </a:solidFill>
              </a:rPr>
              <a:t>-</a:t>
            </a:r>
            <a:r>
              <a:rPr dirty="0" sz="3600" lang="fr-FR" smtClean="0">
                <a:solidFill>
                  <a:srgbClr val="C00000"/>
                </a:solidFill>
              </a:rPr>
              <a:t> </a:t>
            </a:r>
            <a:r>
              <a:rPr dirty="0" sz="2800" lang="fr-FR" smtClean="0">
                <a:solidFill>
                  <a:schemeClr val="tx1"/>
                </a:solidFill>
              </a:rPr>
              <a:t>péricardite liquidienne constrictive</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rgbClr val="C00000"/>
                </a:solidFill>
              </a:rPr>
              <a:t>- </a:t>
            </a:r>
            <a:r>
              <a:rPr dirty="0" sz="2800" lang="fr-FR" smtClean="0">
                <a:solidFill>
                  <a:schemeClr val="tx1"/>
                </a:solidFill>
              </a:rPr>
              <a:t>péricardite avec tamponnade (triade de Beck)</a:t>
            </a:r>
          </a:p>
          <a:p>
            <a:pPr indent="-288000" marL="360000">
              <a:spcBef>
                <a:spcPts val="0"/>
              </a:spcBef>
              <a:buClr>
                <a:srgbClr val="FF9900"/>
              </a:buClr>
              <a:buNone/>
            </a:pPr>
            <a:endParaRPr dirty="0" sz="2800" lang="fr-FR" smtClean="0">
              <a:solidFill>
                <a:schemeClr val="tx1"/>
              </a:solidFill>
            </a:endParaRPr>
          </a:p>
          <a:p>
            <a:pPr indent="-288000" marL="360000">
              <a:spcBef>
                <a:spcPts val="0"/>
              </a:spcBef>
              <a:buClr>
                <a:srgbClr val="FF9900"/>
              </a:buClr>
              <a:buNone/>
            </a:pPr>
            <a:r>
              <a:rPr dirty="0" sz="2800" lang="fr-FR" smtClean="0">
                <a:solidFill>
                  <a:schemeClr val="tx1"/>
                </a:solidFill>
              </a:rPr>
              <a:t> </a:t>
            </a:r>
            <a:r>
              <a:rPr dirty="0" lang="fr-FR" smtClean="0">
                <a:solidFill>
                  <a:schemeClr val="tx1"/>
                </a:solidFill>
              </a:rPr>
              <a:t> </a:t>
            </a:r>
            <a:r>
              <a:rPr dirty="0" lang="fr-FR" smtClean="0">
                <a:solidFill>
                  <a:srgbClr val="C00000"/>
                </a:solidFill>
              </a:rPr>
              <a:t>- </a:t>
            </a:r>
            <a:r>
              <a:rPr dirty="0" sz="2800" lang="fr-FR" smtClean="0">
                <a:solidFill>
                  <a:schemeClr val="tx1"/>
                </a:solidFill>
              </a:rPr>
              <a:t>constriction péricardique transitoire</a:t>
            </a:r>
            <a:endParaRPr dirty="0" sz="2000" lang="fr-FR" smtClean="0">
              <a:solidFill>
                <a:schemeClr val="tx1"/>
              </a:solidFill>
            </a:endParaRPr>
          </a:p>
          <a:p>
            <a:pPr indent="-533400" lvl="1" marL="720000">
              <a:lnSpc>
                <a:spcPct val="90000"/>
              </a:lnSpc>
              <a:spcAft>
                <a:spcPts val="1200"/>
              </a:spcAft>
              <a:buClr>
                <a:srgbClr val="FF9900"/>
              </a:buClr>
              <a:buNone/>
            </a:pPr>
            <a:r>
              <a:rPr dirty="0" sz="2000" lang="fr-FR" smtClean="0"/>
              <a:t>   </a:t>
            </a:r>
            <a:endParaRPr dirty="0" lang="fr-FR" smtClean="0">
              <a:solidFill>
                <a:schemeClr val="tx1"/>
              </a:solidFill>
            </a:endParaRPr>
          </a:p>
        </p:txBody>
      </p:sp>
      <p:pic>
        <p:nvPicPr>
          <p:cNvPr id="2097167" name="Picture 2"/>
          <p:cNvPicPr>
            <a:picLocks noChangeAspect="1" noChangeArrowheads="1"/>
          </p:cNvPicPr>
          <p:nvPr/>
        </p:nvPicPr>
        <p:blipFill>
          <a:blip xmlns:r="http://schemas.openxmlformats.org/officeDocument/2006/relationships" r:embed="rId1" cstate="print">
            <a:lum bright="-10000" contrast="10000"/>
          </a:blip>
          <a:srcRect/>
          <a:stretch>
            <a:fillRect/>
          </a:stretch>
        </p:blipFill>
        <p:spPr bwMode="auto">
          <a:xfrm>
            <a:off x="797195" y="-1528"/>
            <a:ext cx="7555699" cy="6886912"/>
          </a:xfrm>
          <a:prstGeom prst="rect"/>
          <a:ln>
            <a:noFill/>
          </a:ln>
          <a:effectLst>
            <a:outerShdw algn="tl" blurRad="292100" dir="2700000" dist="139700" rotWithShape="0">
              <a:srgbClr val="333333">
                <a:alpha val="65000"/>
              </a:srgbClr>
            </a:outerShdw>
          </a:effectLst>
        </p:spPr>
      </p:pic>
      <p:pic>
        <p:nvPicPr>
          <p:cNvPr id="2097168" name="Picture 2"/>
          <p:cNvPicPr>
            <a:picLocks noChangeAspect="1" noChangeArrowheads="1"/>
          </p:cNvPicPr>
          <p:nvPr/>
        </p:nvPicPr>
        <p:blipFill>
          <a:blip xmlns:r="http://schemas.openxmlformats.org/officeDocument/2006/relationships" r:embed="rId2" cstate="print">
            <a:lum contrast="10000"/>
          </a:blip>
          <a:srcRect/>
          <a:stretch>
            <a:fillRect/>
          </a:stretch>
        </p:blipFill>
        <p:spPr bwMode="auto">
          <a:xfrm>
            <a:off x="1046298" y="52210"/>
            <a:ext cx="6370492" cy="6833338"/>
          </a:xfrm>
          <a:prstGeom prst="rect"/>
          <a:ln>
            <a:noFill/>
          </a:ln>
          <a:effectLst>
            <a:outerShdw algn="tl" blurRad="292100" dir="2700000" dist="139700" rotWithShape="0">
              <a:srgbClr val="333333">
                <a:alpha val="65000"/>
              </a:srgbClr>
            </a:outerShdw>
          </a:effectLst>
        </p:spPr>
      </p:pic>
      <p:pic>
        <p:nvPicPr>
          <p:cNvPr id="2097169" name="Picture 2"/>
          <p:cNvPicPr>
            <a:picLocks noChangeAspect="1" noChangeArrowheads="1"/>
          </p:cNvPicPr>
          <p:nvPr/>
        </p:nvPicPr>
        <p:blipFill>
          <a:blip xmlns:r="http://schemas.openxmlformats.org/officeDocument/2006/relationships" r:embed="rId3" cstate="print"/>
          <a:srcRect/>
          <a:stretch>
            <a:fillRect/>
          </a:stretch>
        </p:blipFill>
        <p:spPr>
          <a:xfrm>
            <a:off x="911306" y="152785"/>
            <a:ext cx="7320205" cy="6444567"/>
          </a:xfrm>
          <a:prstGeom prst="rect"/>
          <a:effectLst>
            <a:outerShdw algn="tl" blurRad="292100" dir="2700000" dist="139700" rotWithShape="0">
              <a:srgbClr val="333333">
                <a:alpha val="65000"/>
              </a:srgbClr>
            </a:outerShdw>
          </a:effectLst>
        </p:spPr>
      </p:pic>
      <p:pic>
        <p:nvPicPr>
          <p:cNvPr id="2097170" name="Picture 2"/>
          <p:cNvPicPr>
            <a:picLocks noChangeAspect="1" noChangeArrowheads="1"/>
          </p:cNvPicPr>
          <p:nvPr/>
        </p:nvPicPr>
        <p:blipFill>
          <a:blip xmlns:r="http://schemas.openxmlformats.org/officeDocument/2006/relationships" r:embed="rId4" cstate="print"/>
          <a:srcRect/>
          <a:stretch>
            <a:fillRect/>
          </a:stretch>
        </p:blipFill>
        <p:spPr bwMode="auto">
          <a:xfrm>
            <a:off x="539551" y="104722"/>
            <a:ext cx="8227497" cy="6577593"/>
          </a:xfrm>
          <a:prstGeom prst="rect"/>
          <a:noFill/>
          <a:ln w="9525">
            <a:noFill/>
            <a:miter lim="800000"/>
            <a:headEnd/>
            <a:tailEnd/>
          </a:ln>
        </p:spPr>
      </p:pic>
      <p:graphicFrame>
        <p:nvGraphicFramePr>
          <p:cNvPr id="4194305" name="Espace réservé du contenu 3"/>
          <p:cNvGraphicFramePr>
            <a:graphicFrameLocks/>
          </p:cNvGraphicFramePr>
          <p:nvPr/>
        </p:nvGraphicFramePr>
        <p:xfrm>
          <a:off x="542684" y="469214"/>
          <a:ext cx="7953532" cy="5555662"/>
        </p:xfrm>
        <a:graphic>
          <a:graphicData uri="http://schemas.openxmlformats.org/drawingml/2006/table">
            <a:tbl>
              <a:tblPr firstRow="1" bandRow="1">
                <a:tableStyleId>{3C2FFA5D-87B4-456A-9821-1D502468CF0F}</a:tableStyleId>
              </a:tblPr>
              <a:tblGrid>
                <a:gridCol w="3976766"/>
                <a:gridCol w="3976766"/>
              </a:tblGrid>
              <a:tr h="1002928">
                <a:tc gridSpan="2">
                  <a:txBody>
                    <a:bodyPr/>
                    <a:p>
                      <a:pPr algn="ctr">
                        <a:buClr>
                          <a:srgbClr val="FA8006"/>
                        </a:buClr>
                        <a:buFontTx/>
                        <a:buBlip>
                          <a:blip xmlns:r="http://schemas.openxmlformats.org/officeDocument/2006/relationships" r:embed="rId5"/>
                        </a:buBlip>
                      </a:pPr>
                      <a:r>
                        <a:rPr dirty="0" sz="2400" lang="fr-FR" smtClean="0"/>
                        <a:t>  CLASSIFICATION</a:t>
                      </a:r>
                      <a:r>
                        <a:rPr baseline="0" dirty="0" sz="2400" lang="fr-FR" smtClean="0"/>
                        <a:t> DES EPANCHEMENTS PERICARDIQUES</a:t>
                      </a:r>
                      <a:endParaRPr dirty="0" sz="2400" lang="fr-FR">
                        <a:solidFill>
                          <a:srgbClr val="FA8006"/>
                        </a:solidFill>
                      </a:endParaRPr>
                    </a:p>
                  </a:txBody>
                </a:tc>
                <a:tc hMerge="1">
                  <a:txBody>
                    <a:bodyPr/>
                    <a:p>
                      <a:endParaRPr dirty="0" lang="fr-FR"/>
                    </a:p>
                  </a:txBody>
                </a:tc>
              </a:tr>
              <a:tr h="1273439">
                <a:tc>
                  <a:txBody>
                    <a:bodyPr/>
                    <a:p>
                      <a:r>
                        <a:rPr dirty="0" lang="fr-FR" smtClean="0"/>
                        <a:t>Evolution</a:t>
                      </a:r>
                      <a:endParaRPr dirty="0" lang="fr-FR"/>
                    </a:p>
                  </a:txBody>
                </a:tc>
                <a:tc>
                  <a:txBody>
                    <a:bodyPr/>
                    <a:p>
                      <a:r>
                        <a:rPr dirty="0" sz="1600" lang="fr-FR" smtClean="0"/>
                        <a:t>Aiguë</a:t>
                      </a:r>
                    </a:p>
                    <a:p>
                      <a:r>
                        <a:rPr dirty="0" sz="1600" lang="fr-FR" smtClean="0"/>
                        <a:t>Subaiguë</a:t>
                      </a:r>
                    </a:p>
                    <a:p>
                      <a:r>
                        <a:rPr dirty="0" sz="1600" lang="fr-FR" smtClean="0"/>
                        <a:t>Chronique (&gt;3 mois)</a:t>
                      </a:r>
                      <a:endParaRPr dirty="0" sz="1600" i="1" lang="fr-FR"/>
                    </a:p>
                  </a:txBody>
                </a:tc>
              </a:tr>
              <a:tr h="1273439">
                <a:tc>
                  <a:txBody>
                    <a:bodyPr/>
                    <a:p>
                      <a:r>
                        <a:rPr dirty="0" lang="fr-FR" smtClean="0"/>
                        <a:t>Abondance</a:t>
                      </a:r>
                      <a:endParaRPr b="1" dirty="0" lang="fr-FR"/>
                    </a:p>
                  </a:txBody>
                </a:tc>
                <a:tc>
                  <a:txBody>
                    <a:bodyPr/>
                    <a:p>
                      <a:r>
                        <a:rPr dirty="0" sz="1600" lang="fr-FR" smtClean="0"/>
                        <a:t>Faible         &lt; 10 mm</a:t>
                      </a:r>
                    </a:p>
                    <a:p>
                      <a:r>
                        <a:rPr dirty="0" sz="1600" lang="fr-FR" smtClean="0"/>
                        <a:t>Modérée    10-20 mm</a:t>
                      </a:r>
                    </a:p>
                    <a:p>
                      <a:r>
                        <a:rPr dirty="0" sz="1600" lang="fr-FR" smtClean="0"/>
                        <a:t>Abondant</a:t>
                      </a:r>
                      <a:r>
                        <a:rPr baseline="0" dirty="0" sz="1600" lang="fr-FR" smtClean="0"/>
                        <a:t>    &gt; 20 mm</a:t>
                      </a:r>
                      <a:endParaRPr dirty="0" sz="1600" i="1" lang="fr-FR"/>
                    </a:p>
                  </a:txBody>
                </a:tc>
              </a:tr>
              <a:tr h="1002928">
                <a:tc>
                  <a:txBody>
                    <a:bodyPr/>
                    <a:p>
                      <a:r>
                        <a:rPr dirty="0" lang="fr-FR" smtClean="0"/>
                        <a:t>Localisation</a:t>
                      </a:r>
                      <a:endParaRPr dirty="0" lang="fr-FR"/>
                    </a:p>
                  </a:txBody>
                </a:tc>
                <a:tc>
                  <a:txBody>
                    <a:bodyPr/>
                    <a:p>
                      <a:r>
                        <a:rPr dirty="0" sz="1600" lang="fr-FR" smtClean="0"/>
                        <a:t>Circonférentiel</a:t>
                      </a:r>
                    </a:p>
                    <a:p>
                      <a:r>
                        <a:rPr dirty="0" sz="1600" lang="fr-FR" smtClean="0"/>
                        <a:t>Localisé</a:t>
                      </a:r>
                      <a:endParaRPr dirty="0" sz="1600" i="1" lang="fr-FR"/>
                    </a:p>
                  </a:txBody>
                </a:tc>
              </a:tr>
              <a:tr h="1002928">
                <a:tc>
                  <a:txBody>
                    <a:bodyPr/>
                    <a:p>
                      <a:r>
                        <a:rPr dirty="0" lang="fr-FR" smtClean="0"/>
                        <a:t>Composition</a:t>
                      </a:r>
                      <a:endParaRPr b="1" dirty="0" lang="fr-FR"/>
                    </a:p>
                  </a:txBody>
                </a:tc>
                <a:tc>
                  <a:txBody>
                    <a:bodyPr/>
                    <a:p>
                      <a:r>
                        <a:rPr dirty="0" sz="1600" lang="fr-FR" smtClean="0"/>
                        <a:t>Transsudat</a:t>
                      </a:r>
                    </a:p>
                    <a:p>
                      <a:r>
                        <a:rPr dirty="0" sz="1600" lang="fr-FR" smtClean="0"/>
                        <a:t>Exsudat </a:t>
                      </a:r>
                      <a:endParaRPr dirty="0" sz="1600" i="1" lang="fr-FR"/>
                    </a:p>
                  </a:txBody>
                </a:tc>
              </a:tr>
            </a:tbl>
          </a:graphicData>
        </a:graphic>
      </p:graphicFrame>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id="5" nodeType="withEffect" presetClass="entr" presetID="1" presetSubtype="0">
                                  <p:stCondLst>
                                    <p:cond delay="0"/>
                                  </p:stCondLst>
                                  <p:childTnLst>
                                    <p:set>
                                      <p:cBhvr>
                                        <p:cTn dur="1" fill="hold" id="6">
                                          <p:stCondLst>
                                            <p:cond delay="0"/>
                                          </p:stCondLst>
                                        </p:cTn>
                                        <p:tgtEl>
                                          <p:spTgt spid="1048752">
                                            <p:txEl>
                                              <p:pRg st="14" end="14"/>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id="9" nodeType="clickEffect" presetClass="entr" presetID="1" presetSubtype="0">
                                  <p:stCondLst>
                                    <p:cond delay="0"/>
                                  </p:stCondLst>
                                  <p:childTnLst>
                                    <p:set>
                                      <p:cBhvr>
                                        <p:cTn dur="1" fill="hold" id="10">
                                          <p:stCondLst>
                                            <p:cond delay="0"/>
                                          </p:stCondLst>
                                        </p:cTn>
                                        <p:tgtEl>
                                          <p:spTgt spid="2097167"/>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 presetSubtype="0">
                                  <p:stCondLst>
                                    <p:cond delay="0"/>
                                  </p:stCondLst>
                                  <p:childTnLst>
                                    <p:set>
                                      <p:cBhvr>
                                        <p:cTn dur="1" fill="hold" id="14">
                                          <p:stCondLst>
                                            <p:cond delay="0"/>
                                          </p:stCondLst>
                                        </p:cTn>
                                        <p:tgtEl>
                                          <p:spTgt spid="2097170"/>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id="17" nodeType="clickEffect" presetClass="entr" presetID="1" presetSubtype="0">
                                  <p:stCondLst>
                                    <p:cond delay="0"/>
                                  </p:stCondLst>
                                  <p:childTnLst>
                                    <p:set>
                                      <p:cBhvr>
                                        <p:cTn dur="1" fill="hold" id="18">
                                          <p:stCondLst>
                                            <p:cond delay="0"/>
                                          </p:stCondLst>
                                        </p:cTn>
                                        <p:tgtEl>
                                          <p:spTgt spid="4194305"/>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id="21" nodeType="clickEffect" presetClass="exit" presetID="1" presetSubtype="0">
                                  <p:stCondLst>
                                    <p:cond delay="0"/>
                                  </p:stCondLst>
                                  <p:childTnLst>
                                    <p:set>
                                      <p:cBhvr>
                                        <p:cTn dur="1" fill="hold" id="22">
                                          <p:stCondLst>
                                            <p:cond delay="0"/>
                                          </p:stCondLst>
                                        </p:cTn>
                                        <p:tgtEl>
                                          <p:spTgt spid="4194305"/>
                                        </p:tgtEl>
                                        <p:attrNameLst>
                                          <p:attrName>style.visibility</p:attrName>
                                        </p:attrNameLst>
                                      </p:cBhvr>
                                      <p:to>
                                        <p:strVal val="hidden"/>
                                      </p:to>
                                    </p:set>
                                  </p:childTnLst>
                                </p:cTn>
                              </p:par>
                              <p:par>
                                <p:cTn fill="hold" id="23" nodeType="withEffect" presetClass="exit" presetID="1" presetSubtype="0">
                                  <p:stCondLst>
                                    <p:cond delay="0"/>
                                  </p:stCondLst>
                                  <p:childTnLst>
                                    <p:set>
                                      <p:cBhvr>
                                        <p:cTn dur="1" fill="hold" id="24">
                                          <p:stCondLst>
                                            <p:cond delay="0"/>
                                          </p:stCondLst>
                                        </p:cTn>
                                        <p:tgtEl>
                                          <p:spTgt spid="2097167"/>
                                        </p:tgtEl>
                                        <p:attrNameLst>
                                          <p:attrName>style.visibility</p:attrName>
                                        </p:attrNameLst>
                                      </p:cBhvr>
                                      <p:to>
                                        <p:strVal val="hidden"/>
                                      </p:to>
                                    </p:set>
                                  </p:childTnLst>
                                </p:cTn>
                              </p:par>
                              <p:par>
                                <p:cTn fill="hold" id="25" nodeType="withEffect" presetClass="exit" presetID="1" presetSubtype="0">
                                  <p:stCondLst>
                                    <p:cond delay="0"/>
                                  </p:stCondLst>
                                  <p:childTnLst>
                                    <p:set>
                                      <p:cBhvr>
                                        <p:cTn dur="1" fill="hold" id="26">
                                          <p:stCondLst>
                                            <p:cond delay="0"/>
                                          </p:stCondLst>
                                        </p:cTn>
                                        <p:tgtEl>
                                          <p:spTgt spid="2097170"/>
                                        </p:tgtEl>
                                        <p:attrNameLst>
                                          <p:attrName>style.visibility</p:attrName>
                                        </p:attrNameLst>
                                      </p:cBhvr>
                                      <p:to>
                                        <p:strVal val="hidden"/>
                                      </p:to>
                                    </p:set>
                                  </p:childTnLst>
                                </p:cTn>
                              </p:par>
                            </p:childTnLst>
                          </p:cTn>
                        </p:par>
                      </p:childTnLst>
                    </p:cTn>
                  </p:par>
                  <p:par>
                    <p:cTn fill="hold" id="27">
                      <p:stCondLst>
                        <p:cond delay="indefinite"/>
                      </p:stCondLst>
                      <p:childTnLst>
                        <p:par>
                          <p:cTn fill="hold" id="28">
                            <p:stCondLst>
                              <p:cond delay="0"/>
                            </p:stCondLst>
                            <p:childTnLst>
                              <p:par>
                                <p:cTn fill="hold" id="29" nodeType="clickEffect" presetClass="entr" presetID="1" presetSubtype="0">
                                  <p:stCondLst>
                                    <p:cond delay="0"/>
                                  </p:stCondLst>
                                  <p:childTnLst>
                                    <p:set>
                                      <p:cBhvr>
                                        <p:cTn dur="1" fill="hold" id="30">
                                          <p:stCondLst>
                                            <p:cond delay="0"/>
                                          </p:stCondLst>
                                        </p:cTn>
                                        <p:tgtEl>
                                          <p:spTgt spid="2097168"/>
                                        </p:tgtEl>
                                        <p:attrNameLst>
                                          <p:attrName>style.visibility</p:attrName>
                                        </p:attrNameLst>
                                      </p:cBhvr>
                                      <p:to>
                                        <p:strVal val="visible"/>
                                      </p:to>
                                    </p:set>
                                  </p:childTnLst>
                                </p:cTn>
                              </p:par>
                            </p:childTnLst>
                          </p:cTn>
                        </p:par>
                      </p:childTnLst>
                    </p:cTn>
                  </p:par>
                  <p:par>
                    <p:cTn fill="hold" id="31">
                      <p:stCondLst>
                        <p:cond delay="indefinite"/>
                      </p:stCondLst>
                      <p:childTnLst>
                        <p:par>
                          <p:cTn fill="hold" id="32">
                            <p:stCondLst>
                              <p:cond delay="0"/>
                            </p:stCondLst>
                            <p:childTnLst>
                              <p:par>
                                <p:cTn fill="hold" id="33" nodeType="clickEffect" presetClass="entr" presetID="1" presetSubtype="0">
                                  <p:stCondLst>
                                    <p:cond delay="0"/>
                                  </p:stCondLst>
                                  <p:childTnLst>
                                    <p:set>
                                      <p:cBhvr>
                                        <p:cTn dur="1" fill="hold" id="34">
                                          <p:stCondLst>
                                            <p:cond delay="0"/>
                                          </p:stCondLst>
                                        </p:cTn>
                                        <p:tgtEl>
                                          <p:spTgt spid="2097169"/>
                                        </p:tgtEl>
                                        <p:attrNameLst>
                                          <p:attrName>style.visibility</p:attrName>
                                        </p:attrNameLst>
                                      </p:cBhvr>
                                      <p:to>
                                        <p:strVal val="visible"/>
                                      </p:to>
                                    </p:set>
                                  </p:childTnLst>
                                </p:cTn>
                              </p:par>
                            </p:childTnLst>
                          </p:cTn>
                        </p:par>
                      </p:childTnLst>
                    </p:cTn>
                  </p:par>
                  <p:par>
                    <p:cTn fill="hold" id="35">
                      <p:stCondLst>
                        <p:cond delay="indefinite"/>
                      </p:stCondLst>
                      <p:childTnLst>
                        <p:par>
                          <p:cTn fill="hold" id="36">
                            <p:stCondLst>
                              <p:cond delay="0"/>
                            </p:stCondLst>
                            <p:childTnLst>
                              <p:par>
                                <p:cTn fill="hold" id="37" nodeType="clickEffect" presetClass="exit" presetID="1" presetSubtype="0">
                                  <p:stCondLst>
                                    <p:cond delay="0"/>
                                  </p:stCondLst>
                                  <p:childTnLst>
                                    <p:set>
                                      <p:cBhvr>
                                        <p:cTn dur="1" fill="hold" id="38">
                                          <p:stCondLst>
                                            <p:cond delay="0"/>
                                          </p:stCondLst>
                                        </p:cTn>
                                        <p:tgtEl>
                                          <p:spTgt spid="2097169"/>
                                        </p:tgtEl>
                                        <p:attrNameLst>
                                          <p:attrName>style.visibility</p:attrName>
                                        </p:attrNameLst>
                                      </p:cBhvr>
                                      <p:to>
                                        <p:strVal val="hidden"/>
                                      </p:to>
                                    </p:set>
                                  </p:childTnLst>
                                </p:cTn>
                              </p:par>
                              <p:par>
                                <p:cTn fill="hold" id="39" nodeType="withEffect" presetClass="exit" presetID="1" presetSubtype="0">
                                  <p:stCondLst>
                                    <p:cond delay="0"/>
                                  </p:stCondLst>
                                  <p:childTnLst>
                                    <p:set>
                                      <p:cBhvr>
                                        <p:cTn dur="1" fill="hold" id="40">
                                          <p:stCondLst>
                                            <p:cond delay="0"/>
                                          </p:stCondLst>
                                        </p:cTn>
                                        <p:tgtEl>
                                          <p:spTgt spid="20971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1">
  <p:cSld>
    <p:spTree>
      <p:nvGrpSpPr>
        <p:cNvPr id="130" name=""/>
        <p:cNvGrpSpPr/>
        <p:nvPr/>
      </p:nvGrpSpPr>
      <p:grpSpPr>
        <a:xfrm>
          <a:off x="0" y="0"/>
          <a:ext cx="0" cy="0"/>
          <a:chOff x="0" y="0"/>
          <a:chExt cx="0" cy="0"/>
        </a:xfrm>
      </p:grpSpPr>
      <p:sp>
        <p:nvSpPr>
          <p:cNvPr id="1048756" name="Titre 1"/>
          <p:cNvSpPr>
            <a:spLocks noGrp="1"/>
          </p:cNvSpPr>
          <p:nvPr>
            <p:ph type="title"/>
          </p:nvPr>
        </p:nvSpPr>
        <p:spPr>
          <a:xfrm>
            <a:off x="304800" y="142528"/>
            <a:ext cx="8686800" cy="838200"/>
          </a:xfrm>
        </p:spPr>
        <p:txBody>
          <a:bodyPr/>
          <a:p>
            <a:pPr algn="ctr"/>
            <a:r>
              <a:rPr dirty="0" sz="2800" lang="fr-FR" smtClean="0">
                <a:solidFill>
                  <a:srgbClr val="800000"/>
                </a:solidFill>
                <a:effectLst/>
              </a:rPr>
              <a:t> </a:t>
            </a:r>
            <a:r>
              <a:rPr dirty="0" sz="2400" lang="fr-FR" smtClean="0">
                <a:solidFill>
                  <a:schemeClr val="tx1"/>
                </a:solidFill>
                <a:effectLst/>
              </a:rPr>
              <a:t>LA PERICARDITE CHRONIQUE CONSTRICTIVE</a:t>
            </a:r>
            <a:endParaRPr dirty="0" sz="2800" lang="fr-FR">
              <a:solidFill>
                <a:schemeClr val="tx1"/>
              </a:solidFill>
              <a:effectLst/>
            </a:endParaRPr>
          </a:p>
        </p:txBody>
      </p:sp>
      <p:sp>
        <p:nvSpPr>
          <p:cNvPr id="1048757" name="Espace réservé du contenu 2"/>
          <p:cNvSpPr>
            <a:spLocks noGrp="1"/>
          </p:cNvSpPr>
          <p:nvPr>
            <p:ph idx="1"/>
          </p:nvPr>
        </p:nvSpPr>
        <p:spPr>
          <a:xfrm>
            <a:off x="44450" y="981075"/>
            <a:ext cx="8991600" cy="5472113"/>
          </a:xfrm>
        </p:spPr>
        <p:txBody>
          <a:bodyPr>
            <a:normAutofit/>
          </a:bodyPr>
          <a:p>
            <a:pPr>
              <a:buFont typeface="Wingdings" pitchFamily="2" charset="2"/>
              <a:buChar char="Ø"/>
            </a:pPr>
            <a:r>
              <a:rPr dirty="0" sz="2800" lang="fr-FR" smtClean="0">
                <a:solidFill>
                  <a:srgbClr val="FF0000"/>
                </a:solidFill>
                <a:latin typeface="+mj-lt"/>
              </a:rPr>
              <a:t>Définition: </a:t>
            </a:r>
            <a:r>
              <a:rPr dirty="0" sz="2400" lang="fr-FR" smtClean="0">
                <a:solidFill>
                  <a:schemeClr val="tx1"/>
                </a:solidFill>
                <a:latin typeface="+mj-lt"/>
              </a:rPr>
              <a:t>adiastolie chronique. Rare</a:t>
            </a:r>
            <a:endParaRPr dirty="0" sz="2800" lang="fr-FR" smtClean="0">
              <a:solidFill>
                <a:schemeClr val="tx1"/>
              </a:solidFill>
              <a:latin typeface="+mj-lt"/>
            </a:endParaRPr>
          </a:p>
          <a:p>
            <a:pPr>
              <a:buFont typeface="Wingdings" pitchFamily="2" charset="2"/>
              <a:buChar char="Ø"/>
            </a:pPr>
            <a:r>
              <a:rPr dirty="0" sz="2800" lang="fr-FR" smtClean="0">
                <a:solidFill>
                  <a:srgbClr val="FF0000"/>
                </a:solidFill>
                <a:latin typeface="+mj-lt"/>
              </a:rPr>
              <a:t>Etiologies:</a:t>
            </a:r>
            <a:r>
              <a:rPr dirty="0" sz="2800" lang="fr-FR" smtClean="0">
                <a:solidFill>
                  <a:schemeClr val="tx1"/>
                </a:solidFill>
                <a:latin typeface="+mj-lt"/>
              </a:rPr>
              <a:t> </a:t>
            </a:r>
            <a:r>
              <a:rPr dirty="0" sz="2400" lang="fr-FR" u="sng" smtClean="0">
                <a:solidFill>
                  <a:schemeClr val="tx1"/>
                </a:solidFill>
                <a:latin typeface="+mj-lt"/>
              </a:rPr>
              <a:t>toutes</a:t>
            </a:r>
            <a:r>
              <a:rPr dirty="0" sz="2400" lang="fr-FR" smtClean="0">
                <a:solidFill>
                  <a:schemeClr val="tx1"/>
                </a:solidFill>
                <a:latin typeface="+mj-lt"/>
              </a:rPr>
              <a:t> mais les plus courantes sont: </a:t>
            </a:r>
          </a:p>
          <a:p>
            <a:pPr>
              <a:buFont typeface="Wingdings 2" pitchFamily="18" charset="2"/>
              <a:buNone/>
            </a:pPr>
            <a:r>
              <a:rPr dirty="0" sz="2400" lang="fr-FR" smtClean="0">
                <a:solidFill>
                  <a:schemeClr val="tx1"/>
                </a:solidFill>
                <a:latin typeface="+mj-lt"/>
              </a:rPr>
              <a:t>                      </a:t>
            </a:r>
            <a:r>
              <a:rPr dirty="0" sz="2400" lang="fr-FR" smtClean="0">
                <a:latin typeface="+mj-lt"/>
              </a:rPr>
              <a:t>infections, radiothérapie, chirurgie</a:t>
            </a:r>
          </a:p>
          <a:p>
            <a:pPr>
              <a:buFont typeface="Wingdings" pitchFamily="2" charset="2"/>
              <a:buChar char="Ø"/>
            </a:pPr>
            <a:r>
              <a:rPr dirty="0" sz="2800" lang="fr-FR" err="1" smtClean="0">
                <a:solidFill>
                  <a:srgbClr val="FF0000"/>
                </a:solidFill>
                <a:latin typeface="+mj-lt"/>
              </a:rPr>
              <a:t>Anapath</a:t>
            </a:r>
            <a:r>
              <a:rPr dirty="0" sz="2800" lang="fr-FR" smtClean="0">
                <a:solidFill>
                  <a:srgbClr val="FF0000"/>
                </a:solidFill>
                <a:latin typeface="+mj-lt"/>
              </a:rPr>
              <a:t>:</a:t>
            </a:r>
            <a:r>
              <a:rPr dirty="0" sz="2800" lang="fr-FR" smtClean="0">
                <a:solidFill>
                  <a:schemeClr val="tx1"/>
                </a:solidFill>
                <a:latin typeface="+mj-lt"/>
              </a:rPr>
              <a:t> </a:t>
            </a:r>
            <a:r>
              <a:rPr dirty="0" sz="2400" lang="fr-FR" smtClean="0">
                <a:solidFill>
                  <a:schemeClr val="tx1"/>
                </a:solidFill>
                <a:latin typeface="+mj-lt"/>
              </a:rPr>
              <a:t>péricarde fibreux cicatriciel et épais</a:t>
            </a:r>
          </a:p>
          <a:p>
            <a:pPr>
              <a:buFont typeface="Wingdings 2" pitchFamily="18" charset="2"/>
              <a:buNone/>
            </a:pPr>
            <a:r>
              <a:rPr dirty="0" sz="2400" lang="fr-FR" smtClean="0">
                <a:solidFill>
                  <a:schemeClr val="tx1"/>
                </a:solidFill>
                <a:latin typeface="+mj-lt"/>
              </a:rPr>
              <a:t>                    A long terme: calcifications </a:t>
            </a:r>
            <a:r>
              <a:rPr dirty="0" sz="2400" lang="fr-FR" smtClean="0">
                <a:solidFill>
                  <a:schemeClr val="tx1"/>
                </a:solidFill>
                <a:latin typeface="+mj-lt"/>
                <a:sym typeface="Symbol"/>
              </a:rPr>
              <a:t></a:t>
            </a:r>
            <a:r>
              <a:rPr dirty="0" sz="2400" lang="fr-FR" smtClean="0">
                <a:solidFill>
                  <a:schemeClr val="tx1"/>
                </a:solidFill>
                <a:latin typeface="+mj-lt"/>
              </a:rPr>
              <a:t> péricarde rigide</a:t>
            </a:r>
          </a:p>
          <a:p>
            <a:pPr marL="0">
              <a:lnSpc>
                <a:spcPct val="150000"/>
              </a:lnSpc>
              <a:spcBef>
                <a:spcPts val="0"/>
              </a:spcBef>
              <a:buFont typeface="Wingdings" pitchFamily="2" charset="2"/>
              <a:buChar char="Ø"/>
            </a:pPr>
            <a:r>
              <a:rPr dirty="0" sz="2800" lang="fr-FR" err="1" smtClean="0">
                <a:solidFill>
                  <a:srgbClr val="FF0000"/>
                </a:solidFill>
                <a:latin typeface="+mj-lt"/>
              </a:rPr>
              <a:t>Dgc</a:t>
            </a:r>
            <a:r>
              <a:rPr dirty="0" sz="2800" lang="fr-FR" smtClean="0">
                <a:solidFill>
                  <a:schemeClr val="tx1"/>
                </a:solidFill>
                <a:latin typeface="+mj-lt"/>
              </a:rPr>
              <a:t>: </a:t>
            </a:r>
            <a:r>
              <a:rPr dirty="0" sz="2800" i="1" lang="fr-FR" smtClean="0">
                <a:latin typeface="+mj-lt"/>
              </a:rPr>
              <a:t>.</a:t>
            </a:r>
            <a:r>
              <a:rPr dirty="0" sz="2400" i="1" lang="fr-FR" smtClean="0">
                <a:latin typeface="+mj-lt"/>
              </a:rPr>
              <a:t>clinique</a:t>
            </a:r>
            <a:r>
              <a:rPr dirty="0" sz="2800" lang="fr-FR" smtClean="0">
                <a:latin typeface="+mj-lt"/>
              </a:rPr>
              <a:t>: </a:t>
            </a:r>
            <a:r>
              <a:rPr dirty="0" sz="2400" lang="fr-FR" smtClean="0">
                <a:solidFill>
                  <a:schemeClr val="tx1"/>
                </a:solidFill>
                <a:latin typeface="+mj-lt"/>
              </a:rPr>
              <a:t>tableau d’insuffisance cardiaque </a:t>
            </a:r>
            <a:r>
              <a:rPr dirty="0" sz="2400" lang="fr-FR" u="sng" smtClean="0">
                <a:solidFill>
                  <a:schemeClr val="tx1"/>
                </a:solidFill>
                <a:latin typeface="+mj-lt"/>
              </a:rPr>
              <a:t>droite</a:t>
            </a:r>
            <a:r>
              <a:rPr dirty="0" sz="2400" lang="fr-FR" smtClean="0">
                <a:solidFill>
                  <a:schemeClr val="tx1"/>
                </a:solidFill>
                <a:latin typeface="+mj-lt"/>
              </a:rPr>
              <a:t> + </a:t>
            </a:r>
          </a:p>
          <a:p>
            <a:pPr marL="0">
              <a:spcBef>
                <a:spcPts val="0"/>
              </a:spcBef>
              <a:buFont typeface="Wingdings 2" pitchFamily="18" charset="2"/>
              <a:buNone/>
            </a:pPr>
            <a:r>
              <a:rPr dirty="0" sz="2400" i="1" lang="fr-FR" smtClean="0">
                <a:solidFill>
                  <a:schemeClr val="tx1"/>
                </a:solidFill>
                <a:latin typeface="+mj-lt"/>
              </a:rPr>
              <a:t>            </a:t>
            </a:r>
            <a:r>
              <a:rPr dirty="0" sz="2400" i="1" lang="fr-FR" smtClean="0">
                <a:latin typeface="+mj-lt"/>
              </a:rPr>
              <a:t>.téléthorax F/P</a:t>
            </a:r>
            <a:r>
              <a:rPr dirty="0" sz="2400" lang="fr-FR" smtClean="0">
                <a:latin typeface="+mj-lt"/>
              </a:rPr>
              <a:t>: « </a:t>
            </a:r>
            <a:r>
              <a:rPr dirty="0" sz="2400" lang="fr-FR" u="sng" smtClean="0">
                <a:solidFill>
                  <a:schemeClr val="tx1"/>
                </a:solidFill>
                <a:latin typeface="+mj-lt"/>
              </a:rPr>
              <a:t>petit cœur </a:t>
            </a:r>
            <a:r>
              <a:rPr dirty="0" sz="2400" lang="fr-FR" smtClean="0">
                <a:solidFill>
                  <a:schemeClr val="tx1"/>
                </a:solidFill>
                <a:latin typeface="+mj-lt"/>
              </a:rPr>
              <a:t>», calcifications</a:t>
            </a:r>
            <a:endParaRPr dirty="0" sz="2400" lang="fr-FR" smtClean="0">
              <a:latin typeface="+mj-lt"/>
            </a:endParaRPr>
          </a:p>
          <a:p>
            <a:pPr lvl="1">
              <a:buClr>
                <a:srgbClr val="009900"/>
              </a:buClr>
              <a:buFont typeface="Wingdings 2" pitchFamily="18" charset="2"/>
              <a:buNone/>
            </a:pPr>
            <a:r>
              <a:rPr dirty="0" i="1" lang="fr-FR" smtClean="0">
                <a:latin typeface="+mj-lt"/>
              </a:rPr>
              <a:t>      .</a:t>
            </a:r>
            <a:r>
              <a:rPr dirty="0" sz="2400" i="1" lang="fr-FR" smtClean="0">
                <a:latin typeface="+mj-lt"/>
              </a:rPr>
              <a:t>échocardio ± cathétérisme</a:t>
            </a:r>
            <a:r>
              <a:rPr dirty="0" lang="fr-FR" smtClean="0">
                <a:latin typeface="+mj-lt"/>
              </a:rPr>
              <a:t>: -</a:t>
            </a:r>
            <a:r>
              <a:rPr dirty="0" sz="2400" lang="fr-FR" smtClean="0">
                <a:solidFill>
                  <a:schemeClr val="tx1"/>
                </a:solidFill>
                <a:latin typeface="+mj-lt"/>
              </a:rPr>
              <a:t>altération du remplissage</a:t>
            </a:r>
          </a:p>
          <a:p>
            <a:pPr lvl="1">
              <a:buClr>
                <a:srgbClr val="009900"/>
              </a:buClr>
              <a:buFont typeface="Wingdings 2" pitchFamily="18" charset="2"/>
              <a:buNone/>
            </a:pPr>
            <a:r>
              <a:rPr dirty="0" sz="2400" lang="fr-FR" smtClean="0">
                <a:solidFill>
                  <a:schemeClr val="tx1"/>
                </a:solidFill>
                <a:latin typeface="+mj-lt"/>
              </a:rPr>
              <a:t>                                                               -FE conservée</a:t>
            </a:r>
            <a:endParaRPr dirty="0" lang="fr-FR" smtClean="0">
              <a:solidFill>
                <a:schemeClr val="tx1"/>
              </a:solidFill>
              <a:latin typeface="+mj-lt"/>
            </a:endParaRPr>
          </a:p>
          <a:p>
            <a:pPr lvl="1">
              <a:buClr>
                <a:srgbClr val="009900"/>
              </a:buClr>
              <a:buFont typeface="Wingdings 2" pitchFamily="18" charset="2"/>
              <a:buNone/>
            </a:pPr>
            <a:r>
              <a:rPr dirty="0" i="1" lang="fr-FR" smtClean="0">
                <a:latin typeface="+mj-lt"/>
              </a:rPr>
              <a:t>      .</a:t>
            </a:r>
            <a:r>
              <a:rPr dirty="0" sz="2400" i="1" lang="fr-FR" smtClean="0">
                <a:latin typeface="+mj-lt"/>
              </a:rPr>
              <a:t>TDM/IRM</a:t>
            </a:r>
            <a:r>
              <a:rPr dirty="0" sz="2400" lang="fr-FR" smtClean="0">
                <a:solidFill>
                  <a:schemeClr val="tx1"/>
                </a:solidFill>
                <a:latin typeface="+mj-lt"/>
              </a:rPr>
              <a:t>:   - épaisseur péricarde &gt; 3-4 mm</a:t>
            </a:r>
          </a:p>
          <a:p>
            <a:pPr lvl="1">
              <a:buClr>
                <a:srgbClr val="009900"/>
              </a:buClr>
              <a:buFont typeface="Wingdings 2" pitchFamily="18" charset="2"/>
              <a:buNone/>
            </a:pPr>
            <a:r>
              <a:rPr dirty="0" sz="2400" lang="fr-FR" smtClean="0">
                <a:solidFill>
                  <a:schemeClr val="tx1"/>
                </a:solidFill>
                <a:latin typeface="+mj-lt"/>
              </a:rPr>
              <a:t>                            - calcifications (visible sur RX)</a:t>
            </a:r>
          </a:p>
          <a:p>
            <a:pPr>
              <a:buFont typeface="Wingdings 2" pitchFamily="18" charset="2"/>
              <a:buNone/>
            </a:pPr>
            <a:endParaRPr dirty="0" sz="2800" lang="fr-FR" smtClean="0">
              <a:solidFill>
                <a:schemeClr val="tx1"/>
              </a:solidFill>
              <a:latin typeface="+mj-lt"/>
            </a:endParaRPr>
          </a:p>
        </p:txBody>
      </p:sp>
    </p:spTree>
  </p:cSld>
  <p:clrMapOvr>
    <a:masterClrMapping/>
  </p:clrMapOvr>
  <p:timing/>
</p:sld>
</file>

<file path=ppt/slides/slide25.xml><?xml version="1.0" encoding="utf-8"?>
<p:sld xmlns:a="http://schemas.openxmlformats.org/drawingml/2006/main" xmlns:r="http://schemas.openxmlformats.org/officeDocument/2006/relationships" xmlns:p="http://schemas.openxmlformats.org/presentationml/2006/main" show="1" showMasterSp="0">
  <p:cSld>
    <p:spTree>
      <p:nvGrpSpPr>
        <p:cNvPr id="133" name=""/>
        <p:cNvGrpSpPr/>
        <p:nvPr/>
      </p:nvGrpSpPr>
      <p:grpSpPr>
        <a:xfrm>
          <a:off x="0" y="0"/>
          <a:ext cx="0" cy="0"/>
          <a:chOff x="0" y="0"/>
          <a:chExt cx="0" cy="0"/>
        </a:xfrm>
      </p:grpSpPr>
      <p:sp>
        <p:nvSpPr>
          <p:cNvPr id="1048761" name="Espace réservé du contenu 2"/>
          <p:cNvSpPr>
            <a:spLocks noGrp="1"/>
          </p:cNvSpPr>
          <p:nvPr>
            <p:ph idx="1"/>
          </p:nvPr>
        </p:nvSpPr>
        <p:spPr>
          <a:xfrm>
            <a:off x="179512" y="260648"/>
            <a:ext cx="8686800" cy="6120953"/>
          </a:xfrm>
        </p:spPr>
        <p:txBody>
          <a:bodyPr>
            <a:noAutofit/>
          </a:bodyPr>
          <a:p>
            <a:pPr algn="ctr">
              <a:buClr>
                <a:srgbClr val="FFC000"/>
              </a:buClr>
              <a:buNone/>
            </a:pPr>
            <a:r>
              <a:rPr dirty="0" sz="2400" lang="fr-FR" smtClean="0">
                <a:solidFill>
                  <a:srgbClr val="C00000"/>
                </a:solidFill>
                <a:latin typeface="+mj-lt"/>
              </a:rPr>
              <a:t>Physiopathologie  de la tamponnade</a:t>
            </a:r>
          </a:p>
          <a:p>
            <a:pPr algn="ctr">
              <a:lnSpc>
                <a:spcPct val="150000"/>
              </a:lnSpc>
              <a:buClr>
                <a:srgbClr val="FFC000"/>
              </a:buClr>
              <a:buFont typeface="Wingdings 2" pitchFamily="18" charset="2"/>
              <a:buNone/>
            </a:pPr>
            <a:r>
              <a:rPr dirty="0" sz="2400" lang="fr-FR" smtClean="0">
                <a:latin typeface="+mj-lt"/>
              </a:rPr>
              <a:t>compression aigue du cœur par:</a:t>
            </a:r>
          </a:p>
          <a:p>
            <a:pPr algn="ctr">
              <a:lnSpc>
                <a:spcPct val="150000"/>
              </a:lnSpc>
              <a:buClr>
                <a:srgbClr val="92D050"/>
              </a:buClr>
              <a:buSzPct val="105000"/>
              <a:buFont typeface="Arial" charset="0"/>
              <a:buNone/>
            </a:pPr>
            <a:r>
              <a:rPr dirty="0" sz="2000" lang="fr-FR" smtClean="0">
                <a:latin typeface="+mj-lt"/>
              </a:rPr>
              <a:t>          accumulation rapide          </a:t>
            </a:r>
            <a:r>
              <a:rPr b="1" dirty="0" sz="2000" i="1" lang="fr-FR" smtClean="0">
                <a:solidFill>
                  <a:srgbClr val="800000"/>
                </a:solidFill>
                <a:latin typeface="+mj-lt"/>
              </a:rPr>
              <a:t>OU</a:t>
            </a:r>
            <a:r>
              <a:rPr dirty="0" sz="2000" lang="fr-FR" smtClean="0">
                <a:latin typeface="+mj-lt"/>
              </a:rPr>
              <a:t>             épanchement abondant</a:t>
            </a:r>
          </a:p>
          <a:p>
            <a:pPr>
              <a:lnSpc>
                <a:spcPct val="150000"/>
              </a:lnSpc>
              <a:buClr>
                <a:srgbClr val="92D050"/>
              </a:buClr>
              <a:buSzPct val="105000"/>
              <a:buFont typeface="Arial" charset="0"/>
              <a:buNone/>
            </a:pPr>
            <a:endParaRPr dirty="0" sz="2000" lang="fr-FR" smtClean="0">
              <a:latin typeface="+mj-lt"/>
            </a:endParaRPr>
          </a:p>
          <a:p>
            <a:pPr marL="216000">
              <a:spcBef>
                <a:spcPts val="0"/>
              </a:spcBef>
              <a:buClr>
                <a:srgbClr val="92D050"/>
              </a:buClr>
              <a:buSzPct val="105000"/>
              <a:buFont typeface="Arial" charset="0"/>
              <a:buNone/>
            </a:pPr>
            <a:endParaRPr dirty="0" sz="2000" lang="fr-FR" smtClean="0">
              <a:latin typeface="+mj-lt"/>
            </a:endParaRPr>
          </a:p>
          <a:p>
            <a:pPr>
              <a:buClr>
                <a:srgbClr val="92D050"/>
              </a:buClr>
              <a:buSzPct val="105000"/>
              <a:buFont typeface="Arial" charset="0"/>
              <a:buNone/>
            </a:pPr>
            <a:r>
              <a:rPr dirty="0" sz="2000" lang="fr-FR" smtClean="0">
                <a:latin typeface="+mj-lt"/>
              </a:rPr>
              <a:t>                                            Pression intra péricardique </a:t>
            </a: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r>
              <a:rPr dirty="0" sz="2000" lang="fr-FR" smtClean="0">
                <a:latin typeface="+mj-lt"/>
              </a:rPr>
              <a:t>                                Pression Diastolique V, A, et Pr. veineuse     </a:t>
            </a: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endParaRPr dirty="0" sz="2000" lang="fr-FR" smtClean="0">
              <a:latin typeface="+mj-lt"/>
            </a:endParaRPr>
          </a:p>
          <a:p>
            <a:pPr>
              <a:buClr>
                <a:srgbClr val="92D050"/>
              </a:buClr>
              <a:buSzPct val="105000"/>
              <a:buFont typeface="Arial" charset="0"/>
              <a:buNone/>
            </a:pPr>
            <a:r>
              <a:rPr dirty="0" sz="2000" lang="fr-FR" smtClean="0">
                <a:latin typeface="+mj-lt"/>
              </a:rPr>
              <a:t>                                     VTD VD                                   VES</a:t>
            </a:r>
          </a:p>
          <a:p>
            <a:pPr>
              <a:buClr>
                <a:srgbClr val="92D050"/>
              </a:buClr>
              <a:buSzPct val="105000"/>
              <a:buFont typeface="Arial" charset="0"/>
              <a:buNone/>
            </a:pPr>
            <a:endParaRPr dirty="0" sz="2000" lang="fr-FR" smtClean="0">
              <a:latin typeface="+mj-lt"/>
            </a:endParaRPr>
          </a:p>
          <a:p>
            <a:pPr>
              <a:spcBef>
                <a:spcPts val="0"/>
              </a:spcBef>
              <a:buClr>
                <a:srgbClr val="92D050"/>
              </a:buClr>
              <a:buSzPct val="105000"/>
              <a:buFont typeface="Arial" charset="0"/>
              <a:buNone/>
            </a:pPr>
            <a:endParaRPr dirty="0" sz="2000" lang="fr-FR" smtClean="0">
              <a:latin typeface="+mj-lt"/>
            </a:endParaRPr>
          </a:p>
          <a:p>
            <a:pPr>
              <a:buClr>
                <a:srgbClr val="92D050"/>
              </a:buClr>
              <a:buSzPct val="105000"/>
              <a:buFont typeface="Arial" charset="0"/>
              <a:buNone/>
            </a:pPr>
            <a:r>
              <a:rPr dirty="0" sz="2000" lang="fr-FR" smtClean="0">
                <a:latin typeface="+mj-lt"/>
              </a:rPr>
              <a:t>                          </a:t>
            </a:r>
            <a:r>
              <a:rPr b="1" dirty="0" sz="2400" lang="fr-FR" smtClean="0">
                <a:solidFill>
                  <a:srgbClr val="C00000"/>
                </a:solidFill>
                <a:latin typeface="+mj-lt"/>
              </a:rPr>
              <a:t>QC </a:t>
            </a:r>
            <a:r>
              <a:rPr b="1" dirty="0" sz="2400" lang="fr-FR" smtClean="0">
                <a:solidFill>
                  <a:srgbClr val="C00000"/>
                </a:solidFill>
                <a:latin typeface="+mj-lt"/>
                <a:sym typeface="Symbol" pitchFamily="18" charset="2"/>
              </a:rPr>
              <a:t> </a:t>
            </a:r>
            <a:r>
              <a:rPr dirty="0" sz="2400" lang="fr-FR" smtClean="0">
                <a:solidFill>
                  <a:srgbClr val="C00000"/>
                </a:solidFill>
                <a:latin typeface="+mj-lt"/>
                <a:sym typeface="Symbol" pitchFamily="18" charset="2"/>
              </a:rPr>
              <a:t>choc cardiogénique + Kussmaul</a:t>
            </a:r>
            <a:endParaRPr b="1" dirty="0" sz="2000" lang="fr-FR" smtClean="0">
              <a:solidFill>
                <a:srgbClr val="C00000"/>
              </a:solidFill>
              <a:latin typeface="+mj-lt"/>
            </a:endParaRP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endParaRPr dirty="0" sz="2000" lang="fr-FR" smtClean="0">
              <a:latin typeface="+mj-lt"/>
            </a:endParaRP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r>
              <a:rPr dirty="0" sz="2000" lang="fr-FR" smtClean="0">
                <a:latin typeface="+mj-lt"/>
              </a:rPr>
              <a:t>                                 </a:t>
            </a:r>
          </a:p>
          <a:p>
            <a:pPr>
              <a:buClr>
                <a:srgbClr val="92D050"/>
              </a:buClr>
              <a:buSzPct val="105000"/>
              <a:buFont typeface="Arial" charset="0"/>
              <a:buNone/>
            </a:pPr>
            <a:r>
              <a:rPr dirty="0" sz="2000" lang="fr-FR" smtClean="0">
                <a:latin typeface="+mj-lt"/>
              </a:rPr>
              <a:t>                                      </a:t>
            </a:r>
            <a:endParaRPr dirty="0" sz="2000" lang="fr-FR" smtClean="0">
              <a:solidFill>
                <a:srgbClr val="99FF99"/>
              </a:solidFill>
              <a:latin typeface="+mj-lt"/>
            </a:endParaRPr>
          </a:p>
        </p:txBody>
      </p:sp>
      <p:cxnSp>
        <p:nvCxnSpPr>
          <p:cNvPr id="3145731" name="Connecteur droit avec flèche 6"/>
          <p:cNvCxnSpPr>
            <a:cxnSpLocks/>
          </p:cNvCxnSpPr>
          <p:nvPr/>
        </p:nvCxnSpPr>
        <p:spPr bwMode="auto">
          <a:xfrm rot="5400000" flipH="1" flipV="1">
            <a:off x="2667496" y="2456036"/>
            <a:ext cx="571500" cy="357188"/>
          </a:xfrm>
          <a:prstGeom prst="straightConnector1"/>
          <a:noFill/>
          <a:ln w="50800" cap="flat" cmpd="sng" algn="ctr">
            <a:solidFill>
              <a:srgbClr val="FFC000"/>
            </a:solidFill>
            <a:prstDash val="solid"/>
            <a:round/>
            <a:headEnd type="none" w="med" len="med"/>
            <a:tailEnd type="arrow"/>
          </a:ln>
          <a:effectLst>
            <a:outerShdw algn="tr" blurRad="50800" dir="8100000" dist="38100" rotWithShape="0">
              <a:prstClr val="black">
                <a:alpha val="40000"/>
              </a:prstClr>
            </a:outerShdw>
          </a:effectLst>
        </p:spPr>
      </p:cxnSp>
      <p:cxnSp>
        <p:nvCxnSpPr>
          <p:cNvPr id="3145732" name="Connecteur droit avec flèche 13"/>
          <p:cNvCxnSpPr>
            <a:cxnSpLocks/>
          </p:cNvCxnSpPr>
          <p:nvPr/>
        </p:nvCxnSpPr>
        <p:spPr bwMode="auto">
          <a:xfrm rot="5400000" flipH="1" flipV="1">
            <a:off x="1947416" y="3536157"/>
            <a:ext cx="571500" cy="357187"/>
          </a:xfrm>
          <a:prstGeom prst="straightConnector1"/>
          <a:noFill/>
          <a:ln w="50800" cap="flat" cmpd="sng" algn="ctr">
            <a:solidFill>
              <a:srgbClr val="FFC000"/>
            </a:solidFill>
            <a:prstDash val="solid"/>
            <a:round/>
            <a:headEnd type="none" w="med" len="med"/>
            <a:tailEnd type="arrow"/>
          </a:ln>
          <a:effectLst>
            <a:outerShdw algn="tr" blurRad="50800" dir="8100000" dist="38100" rotWithShape="0">
              <a:prstClr val="black">
                <a:alpha val="40000"/>
              </a:prstClr>
            </a:outerShdw>
          </a:effectLst>
        </p:spPr>
      </p:cxnSp>
      <p:cxnSp>
        <p:nvCxnSpPr>
          <p:cNvPr id="3145733" name="Connecteur droit avec flèche 16"/>
          <p:cNvCxnSpPr>
            <a:cxnSpLocks/>
          </p:cNvCxnSpPr>
          <p:nvPr/>
        </p:nvCxnSpPr>
        <p:spPr bwMode="auto">
          <a:xfrm rot="16200000" flipH="1">
            <a:off x="2091432" y="4692848"/>
            <a:ext cx="571500" cy="357188"/>
          </a:xfrm>
          <a:prstGeom prst="straightConnector1"/>
          <a:noFill/>
          <a:ln w="50800" cap="flat" cmpd="sng" algn="ctr">
            <a:solidFill>
              <a:srgbClr val="FFC000"/>
            </a:solidFill>
            <a:prstDash val="solid"/>
            <a:round/>
            <a:headEnd type="none" w="med" len="med"/>
            <a:tailEnd type="arrow"/>
          </a:ln>
          <a:effectLst>
            <a:outerShdw algn="tr" blurRad="50800" dir="8100000" dist="38100" rotWithShape="0">
              <a:prstClr val="black">
                <a:alpha val="40000"/>
              </a:prstClr>
            </a:outerShdw>
          </a:effectLst>
        </p:spPr>
      </p:cxnSp>
      <p:cxnSp>
        <p:nvCxnSpPr>
          <p:cNvPr id="3145734" name="Connecteur droit avec flèche 19"/>
          <p:cNvCxnSpPr>
            <a:cxnSpLocks/>
          </p:cNvCxnSpPr>
          <p:nvPr/>
        </p:nvCxnSpPr>
        <p:spPr bwMode="auto">
          <a:xfrm rot="16200000" flipH="1">
            <a:off x="5115768" y="4692848"/>
            <a:ext cx="571500" cy="357187"/>
          </a:xfrm>
          <a:prstGeom prst="straightConnector1"/>
          <a:noFill/>
          <a:ln w="50800" cap="flat" cmpd="sng" algn="ctr">
            <a:solidFill>
              <a:srgbClr val="FFC000"/>
            </a:solidFill>
            <a:prstDash val="solid"/>
            <a:round/>
            <a:headEnd type="none" w="med" len="med"/>
            <a:tailEnd type="arrow"/>
          </a:ln>
          <a:effectLst>
            <a:outerShdw algn="tr" blurRad="50800" dir="8100000" dist="38100" rotWithShape="0">
              <a:prstClr val="black">
                <a:alpha val="40000"/>
              </a:prstClr>
            </a:outerShdw>
          </a:effectLst>
        </p:spPr>
      </p:cxnSp>
      <p:cxnSp>
        <p:nvCxnSpPr>
          <p:cNvPr id="3145735" name="Connecteur droit avec flèche 22"/>
          <p:cNvCxnSpPr>
            <a:cxnSpLocks noChangeShapeType="1"/>
          </p:cNvCxnSpPr>
          <p:nvPr/>
        </p:nvCxnSpPr>
        <p:spPr bwMode="auto">
          <a:xfrm>
            <a:off x="3861618" y="5085184"/>
            <a:ext cx="1214438" cy="1588"/>
          </a:xfrm>
          <a:prstGeom prst="straightConnector1"/>
          <a:noFill/>
          <a:ln w="50800" algn="ctr">
            <a:solidFill>
              <a:schemeClr val="tx2"/>
            </a:solidFill>
            <a:round/>
            <a:headEnd/>
            <a:tailEnd type="arrow" w="med" len="med"/>
          </a:ln>
        </p:spPr>
      </p:cxnSp>
      <p:cxnSp>
        <p:nvCxnSpPr>
          <p:cNvPr id="3145736" name="Connecteur droit avec flèche 28"/>
          <p:cNvCxnSpPr>
            <a:cxnSpLocks/>
          </p:cNvCxnSpPr>
          <p:nvPr/>
        </p:nvCxnSpPr>
        <p:spPr bwMode="auto">
          <a:xfrm rot="16200000" flipH="1">
            <a:off x="1371352" y="5772968"/>
            <a:ext cx="571500" cy="357187"/>
          </a:xfrm>
          <a:prstGeom prst="straightConnector1"/>
          <a:noFill/>
          <a:ln w="50800" cap="flat" cmpd="sng" algn="ctr">
            <a:solidFill>
              <a:srgbClr val="C00000"/>
            </a:solidFill>
            <a:prstDash val="solid"/>
            <a:round/>
            <a:headEnd type="none" w="med" len="med"/>
            <a:tailEnd type="arrow"/>
          </a:ln>
          <a:effectLst>
            <a:outerShdw algn="tr" blurRad="50800" dir="8100000" dist="38100" rotWithShape="0">
              <a:prstClr val="black">
                <a:alpha val="40000"/>
              </a:prstClr>
            </a:outerShdw>
          </a:effectLst>
        </p:spPr>
      </p:cxnSp>
      <p:sp>
        <p:nvSpPr>
          <p:cNvPr id="1048762" name="Forme en L 32"/>
          <p:cNvSpPr/>
          <p:nvPr/>
        </p:nvSpPr>
        <p:spPr bwMode="auto">
          <a:xfrm rot="18975846">
            <a:off x="4255624" y="3082892"/>
            <a:ext cx="433388" cy="460375"/>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algn="tr" blurRad="50800" dir="8100000" dist="38100" rotWithShape="0">
              <a:prstClr val="black">
                <a:alpha val="40000"/>
              </a:prstClr>
            </a:outerShdw>
          </a:effectLst>
        </p:spPr>
        <p:txBody>
          <a:bodyPr/>
          <a:p>
            <a:endParaRPr lang="fr-FR"/>
          </a:p>
        </p:txBody>
      </p:sp>
      <p:sp>
        <p:nvSpPr>
          <p:cNvPr id="1048763" name="Forme en L 34"/>
          <p:cNvSpPr/>
          <p:nvPr/>
        </p:nvSpPr>
        <p:spPr bwMode="auto">
          <a:xfrm rot="18975846">
            <a:off x="4148310" y="5215835"/>
            <a:ext cx="444399" cy="422410"/>
          </a:xfrm>
          <a:prstGeom prst="corner">
            <a:avLst>
              <a:gd name="adj1" fmla="val 29435"/>
              <a:gd name="adj2" fmla="val 30816"/>
            </a:avLst>
          </a:prstGeom>
          <a:noFill/>
          <a:ln w="57150" cap="flat" cmpd="sng" algn="ctr">
            <a:solidFill>
              <a:srgbClr val="C00000"/>
            </a:solidFill>
            <a:prstDash val="solid"/>
            <a:round/>
            <a:headEnd type="none" w="med" len="med"/>
            <a:tailEnd type="none" w="med" len="med"/>
          </a:ln>
          <a:effectLst>
            <a:outerShdw algn="l" blurRad="50800" dist="38100" rotWithShape="0">
              <a:schemeClr val="accent4">
                <a:lumMod val="10000"/>
                <a:alpha val="40000"/>
              </a:schemeClr>
            </a:outerShdw>
          </a:effectLst>
        </p:spPr>
        <p:txBody>
          <a:bodyPr/>
          <a:p>
            <a:endParaRPr lang="fr-FR">
              <a:effectLst>
                <a:outerShdw algn="tl" blurRad="38100" dir="2700000" dist="38100">
                  <a:srgbClr val="000000">
                    <a:alpha val="43137"/>
                  </a:srgbClr>
                </a:outerShdw>
              </a:effectLst>
            </a:endParaRPr>
          </a:p>
        </p:txBody>
      </p:sp>
      <p:sp>
        <p:nvSpPr>
          <p:cNvPr id="1048764" name="Rectangle à coins arrondis 35"/>
          <p:cNvSpPr>
            <a:spLocks noChangeArrowheads="1"/>
          </p:cNvSpPr>
          <p:nvPr/>
        </p:nvSpPr>
        <p:spPr bwMode="auto">
          <a:xfrm>
            <a:off x="1475656" y="1416199"/>
            <a:ext cx="2376264" cy="428625"/>
          </a:xfrm>
          <a:prstGeom prst="roundRect">
            <a:avLst>
              <a:gd name="adj" fmla="val 16667"/>
            </a:avLst>
          </a:prstGeom>
          <a:noFill/>
          <a:ln w="25400" algn="ctr">
            <a:solidFill>
              <a:srgbClr val="FFCC00"/>
            </a:solidFill>
            <a:round/>
            <a:headEnd/>
            <a:tailEnd/>
          </a:ln>
        </p:spPr>
        <p:txBody>
          <a:bodyPr/>
          <a:p>
            <a:endParaRPr lang="fr-FR"/>
          </a:p>
        </p:txBody>
      </p:sp>
      <p:sp>
        <p:nvSpPr>
          <p:cNvPr id="1048765" name="Rectangle à coins arrondis 36"/>
          <p:cNvSpPr>
            <a:spLocks noChangeArrowheads="1"/>
          </p:cNvSpPr>
          <p:nvPr/>
        </p:nvSpPr>
        <p:spPr bwMode="auto">
          <a:xfrm>
            <a:off x="5436096" y="1416199"/>
            <a:ext cx="2880320" cy="428625"/>
          </a:xfrm>
          <a:prstGeom prst="roundRect">
            <a:avLst>
              <a:gd name="adj" fmla="val 16667"/>
            </a:avLst>
          </a:prstGeom>
          <a:noFill/>
          <a:ln w="25400" algn="ctr">
            <a:solidFill>
              <a:srgbClr val="FFCC00"/>
            </a:solidFill>
            <a:round/>
            <a:headEnd/>
            <a:tailEnd/>
          </a:ln>
        </p:spPr>
        <p:txBody>
          <a:bodyPr/>
          <a:p>
            <a:endParaRPr dirty="0" lang="fr-FR"/>
          </a:p>
        </p:txBody>
      </p:sp>
      <p:sp>
        <p:nvSpPr>
          <p:cNvPr id="1048766" name="Forme en L 15"/>
          <p:cNvSpPr/>
          <p:nvPr/>
        </p:nvSpPr>
        <p:spPr bwMode="auto">
          <a:xfrm rot="18975846">
            <a:off x="4331204" y="1814323"/>
            <a:ext cx="434975" cy="446087"/>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algn="tr" blurRad="50800" dir="8100000" dist="38100" rotWithShape="0">
              <a:prstClr val="black">
                <a:alpha val="40000"/>
              </a:prstClr>
            </a:outerShdw>
          </a:effectLst>
        </p:spPr>
        <p:txBody>
          <a:bodyPr/>
          <a:p>
            <a:endParaRPr lang="fr-FR"/>
          </a:p>
        </p:txBody>
      </p:sp>
      <p:sp>
        <p:nvSpPr>
          <p:cNvPr id="1048767" name="Forme en L 17"/>
          <p:cNvSpPr/>
          <p:nvPr/>
        </p:nvSpPr>
        <p:spPr bwMode="auto">
          <a:xfrm rot="18975846">
            <a:off x="4222225" y="4297363"/>
            <a:ext cx="406400" cy="415925"/>
          </a:xfrm>
          <a:prstGeom prst="corner">
            <a:avLst>
              <a:gd name="adj1" fmla="val 27062"/>
              <a:gd name="adj2" fmla="val 27062"/>
            </a:avLst>
          </a:prstGeom>
          <a:noFill/>
          <a:ln w="38100" cap="flat" cmpd="sng" algn="ctr">
            <a:solidFill>
              <a:srgbClr val="FFCC00"/>
            </a:solidFill>
            <a:prstDash val="solid"/>
            <a:round/>
            <a:headEnd type="none" w="med" len="med"/>
            <a:tailEnd type="none" w="med" len="med"/>
          </a:ln>
          <a:effectLst>
            <a:outerShdw algn="tr" blurRad="50800" dir="8100000" dist="38100" rotWithShape="0">
              <a:prstClr val="black">
                <a:alpha val="40000"/>
              </a:prstClr>
            </a:outerShdw>
          </a:effectLst>
        </p:spPr>
        <p:txBody>
          <a:bodyPr/>
          <a:p>
            <a:endParaRPr lang="fr-F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9" presetSubtype="0">
                                  <p:stCondLst>
                                    <p:cond delay="0"/>
                                  </p:stCondLst>
                                  <p:childTnLst>
                                    <p:set>
                                      <p:cBhvr>
                                        <p:cTn dur="1" fill="hold" id="6">
                                          <p:stCondLst>
                                            <p:cond delay="0"/>
                                          </p:stCondLst>
                                        </p:cTn>
                                        <p:tgtEl>
                                          <p:spTgt spid="1048761">
                                            <p:txEl>
                                              <p:pRg st="2" end="2"/>
                                            </p:txEl>
                                          </p:spTgt>
                                        </p:tgtEl>
                                        <p:attrNameLst>
                                          <p:attrName>style.visibility</p:attrName>
                                        </p:attrNameLst>
                                      </p:cBhvr>
                                      <p:to>
                                        <p:strVal val="visible"/>
                                      </p:to>
                                    </p:set>
                                    <p:animEffect transition="in" filter="dissolve">
                                      <p:cBhvr>
                                        <p:cTn dur="500" id="7"/>
                                        <p:tgtEl>
                                          <p:spTgt spid="1048761">
                                            <p:txEl>
                                              <p:pRg st="2" end="2"/>
                                            </p:txEl>
                                          </p:spTgt>
                                        </p:tgtEl>
                                      </p:cBhvr>
                                    </p:animEffect>
                                  </p:childTnLst>
                                </p:cTn>
                              </p:par>
                              <p:par>
                                <p:cTn fill="hold" id="8" nodeType="withEffect" presetClass="entr" presetID="1" presetSubtype="0">
                                  <p:stCondLst>
                                    <p:cond delay="0"/>
                                  </p:stCondLst>
                                  <p:childTnLst>
                                    <p:set>
                                      <p:cBhvr>
                                        <p:cTn dur="1" fill="hold" id="9">
                                          <p:stCondLst>
                                            <p:cond delay="0"/>
                                          </p:stCondLst>
                                        </p:cTn>
                                        <p:tgtEl>
                                          <p:spTgt spid="1048766"/>
                                        </p:tgtEl>
                                        <p:attrNameLst>
                                          <p:attrName>style.visibility</p:attrName>
                                        </p:attrNameLst>
                                      </p:cBhvr>
                                      <p:to>
                                        <p:strVal val="visible"/>
                                      </p:to>
                                    </p:set>
                                  </p:childTnLst>
                                </p:cTn>
                              </p:par>
                              <p:par>
                                <p:cTn fill="hold" id="10" nodeType="withEffect" presetClass="entr" presetID="1" presetSubtype="0">
                                  <p:stCondLst>
                                    <p:cond delay="0"/>
                                  </p:stCondLst>
                                  <p:childTnLst>
                                    <p:set>
                                      <p:cBhvr>
                                        <p:cTn dur="1" fill="hold" id="11">
                                          <p:stCondLst>
                                            <p:cond delay="0"/>
                                          </p:stCondLst>
                                        </p:cTn>
                                        <p:tgtEl>
                                          <p:spTgt spid="3145731"/>
                                        </p:tgtEl>
                                        <p:attrNameLst>
                                          <p:attrName>style.visibility</p:attrName>
                                        </p:attrNameLst>
                                      </p:cBhvr>
                                      <p:to>
                                        <p:strVal val="visible"/>
                                      </p:to>
                                    </p:set>
                                  </p:childTnLst>
                                </p:cTn>
                              </p:par>
                              <p:par>
                                <p:cTn fill="hold" id="12" nodeType="withEffect" presetClass="entr" presetID="9" presetSubtype="0">
                                  <p:stCondLst>
                                    <p:cond delay="0"/>
                                  </p:stCondLst>
                                  <p:childTnLst>
                                    <p:set>
                                      <p:cBhvr>
                                        <p:cTn dur="1" fill="hold" id="13">
                                          <p:stCondLst>
                                            <p:cond delay="0"/>
                                          </p:stCondLst>
                                        </p:cTn>
                                        <p:tgtEl>
                                          <p:spTgt spid="1048761">
                                            <p:txEl>
                                              <p:pRg st="5" end="5"/>
                                            </p:txEl>
                                          </p:spTgt>
                                        </p:tgtEl>
                                        <p:attrNameLst>
                                          <p:attrName>style.visibility</p:attrName>
                                        </p:attrNameLst>
                                      </p:cBhvr>
                                      <p:to>
                                        <p:strVal val="visible"/>
                                      </p:to>
                                    </p:set>
                                    <p:animEffect transition="in" filter="dissolve">
                                      <p:cBhvr>
                                        <p:cTn dur="500" id="14"/>
                                        <p:tgtEl>
                                          <p:spTgt spid="1048761">
                                            <p:txEl>
                                              <p:pRg st="5" end="5"/>
                                            </p:txEl>
                                          </p:spTgt>
                                        </p:tgtEl>
                                      </p:cBhvr>
                                    </p:animEffect>
                                  </p:childTnLst>
                                </p:cTn>
                              </p:par>
                              <p:par>
                                <p:cTn fill="hold" id="15" nodeType="withEffect" presetClass="entr" presetID="9" presetSubtype="0">
                                  <p:stCondLst>
                                    <p:cond delay="0"/>
                                  </p:stCondLst>
                                  <p:childTnLst>
                                    <p:set>
                                      <p:cBhvr>
                                        <p:cTn dur="1" fill="hold" id="16">
                                          <p:stCondLst>
                                            <p:cond delay="0"/>
                                          </p:stCondLst>
                                        </p:cTn>
                                        <p:tgtEl>
                                          <p:spTgt spid="1048761">
                                            <p:txEl>
                                              <p:pRg st="6" end="6"/>
                                            </p:txEl>
                                          </p:spTgt>
                                        </p:tgtEl>
                                        <p:attrNameLst>
                                          <p:attrName>style.visibility</p:attrName>
                                        </p:attrNameLst>
                                      </p:cBhvr>
                                      <p:to>
                                        <p:strVal val="visible"/>
                                      </p:to>
                                    </p:set>
                                    <p:animEffect transition="in" filter="dissolve">
                                      <p:cBhvr>
                                        <p:cTn dur="500" id="17"/>
                                        <p:tgtEl>
                                          <p:spTgt spid="1048761">
                                            <p:txEl>
                                              <p:pRg st="6" end="6"/>
                                            </p:txEl>
                                          </p:spTgt>
                                        </p:tgtEl>
                                      </p:cBhvr>
                                    </p:animEffect>
                                  </p:childTnLst>
                                </p:cTn>
                              </p:par>
                            </p:childTnLst>
                          </p:cTn>
                        </p:par>
                        <p:par>
                          <p:cTn fill="hold" id="18">
                            <p:stCondLst>
                              <p:cond delay="500"/>
                            </p:stCondLst>
                            <p:childTnLst>
                              <p:par>
                                <p:cTn fill="hold" id="19" nodeType="afterEffect" presetClass="entr" presetID="1" presetSubtype="0">
                                  <p:stCondLst>
                                    <p:cond delay="0"/>
                                  </p:stCondLst>
                                  <p:childTnLst>
                                    <p:set>
                                      <p:cBhvr>
                                        <p:cTn dur="1" fill="hold" id="20">
                                          <p:stCondLst>
                                            <p:cond delay="0"/>
                                          </p:stCondLst>
                                        </p:cTn>
                                        <p:tgtEl>
                                          <p:spTgt spid="1048762"/>
                                        </p:tgtEl>
                                        <p:attrNameLst>
                                          <p:attrName>style.visibility</p:attrName>
                                        </p:attrNameLst>
                                      </p:cBhvr>
                                      <p:to>
                                        <p:strVal val="visible"/>
                                      </p:to>
                                    </p:set>
                                  </p:childTnLst>
                                </p:cTn>
                              </p:par>
                            </p:childTnLst>
                          </p:cTn>
                        </p:par>
                        <p:par>
                          <p:cTn fill="hold" id="21">
                            <p:stCondLst>
                              <p:cond delay="500"/>
                            </p:stCondLst>
                            <p:childTnLst>
                              <p:par>
                                <p:cTn fill="hold" id="22" nodeType="afterEffect" presetClass="entr" presetID="1" presetSubtype="0">
                                  <p:stCondLst>
                                    <p:cond delay="0"/>
                                  </p:stCondLst>
                                  <p:childTnLst>
                                    <p:set>
                                      <p:cBhvr>
                                        <p:cTn dur="1" fill="hold" id="23">
                                          <p:stCondLst>
                                            <p:cond delay="0"/>
                                          </p:stCondLst>
                                        </p:cTn>
                                        <p:tgtEl>
                                          <p:spTgt spid="3145732"/>
                                        </p:tgtEl>
                                        <p:attrNameLst>
                                          <p:attrName>style.visibility</p:attrName>
                                        </p:attrNameLst>
                                      </p:cBhvr>
                                      <p:to>
                                        <p:strVal val="visible"/>
                                      </p:to>
                                    </p:set>
                                  </p:childTnLst>
                                </p:cTn>
                              </p:par>
                            </p:childTnLst>
                          </p:cTn>
                        </p:par>
                        <p:par>
                          <p:cTn fill="hold" id="24">
                            <p:stCondLst>
                              <p:cond delay="500"/>
                            </p:stCondLst>
                            <p:childTnLst>
                              <p:par>
                                <p:cTn fill="hold" id="25" nodeType="afterEffect" presetClass="entr" presetID="9" presetSubtype="0">
                                  <p:stCondLst>
                                    <p:cond delay="0"/>
                                  </p:stCondLst>
                                  <p:childTnLst>
                                    <p:set>
                                      <p:cBhvr>
                                        <p:cTn dur="1" fill="hold" id="26">
                                          <p:stCondLst>
                                            <p:cond delay="0"/>
                                          </p:stCondLst>
                                        </p:cTn>
                                        <p:tgtEl>
                                          <p:spTgt spid="1048761">
                                            <p:txEl>
                                              <p:pRg st="8" end="8"/>
                                            </p:txEl>
                                          </p:spTgt>
                                        </p:tgtEl>
                                        <p:attrNameLst>
                                          <p:attrName>style.visibility</p:attrName>
                                        </p:attrNameLst>
                                      </p:cBhvr>
                                      <p:to>
                                        <p:strVal val="visible"/>
                                      </p:to>
                                    </p:set>
                                    <p:animEffect transition="in" filter="dissolve">
                                      <p:cBhvr>
                                        <p:cTn dur="500" id="27"/>
                                        <p:tgtEl>
                                          <p:spTgt spid="1048761">
                                            <p:txEl>
                                              <p:pRg st="8" end="8"/>
                                            </p:txEl>
                                          </p:spTgt>
                                        </p:tgtEl>
                                      </p:cBhvr>
                                    </p:animEffect>
                                  </p:childTnLst>
                                </p:cTn>
                              </p:par>
                            </p:childTnLst>
                          </p:cTn>
                        </p:par>
                        <p:par>
                          <p:cTn fill="hold" id="28">
                            <p:stCondLst>
                              <p:cond delay="1000"/>
                            </p:stCondLst>
                            <p:childTnLst>
                              <p:par>
                                <p:cTn fill="hold" id="29" nodeType="afterEffect" presetClass="entr" presetID="9" presetSubtype="0">
                                  <p:stCondLst>
                                    <p:cond delay="0"/>
                                  </p:stCondLst>
                                  <p:childTnLst>
                                    <p:set>
                                      <p:cBhvr>
                                        <p:cTn dur="1" fill="hold" id="30">
                                          <p:stCondLst>
                                            <p:cond delay="0"/>
                                          </p:stCondLst>
                                        </p:cTn>
                                        <p:tgtEl>
                                          <p:spTgt spid="1048761">
                                            <p:txEl>
                                              <p:pRg st="9" end="9"/>
                                            </p:txEl>
                                          </p:spTgt>
                                        </p:tgtEl>
                                        <p:attrNameLst>
                                          <p:attrName>style.visibility</p:attrName>
                                        </p:attrNameLst>
                                      </p:cBhvr>
                                      <p:to>
                                        <p:strVal val="visible"/>
                                      </p:to>
                                    </p:set>
                                    <p:animEffect transition="in" filter="dissolve">
                                      <p:cBhvr>
                                        <p:cTn dur="500" id="31"/>
                                        <p:tgtEl>
                                          <p:spTgt spid="1048761">
                                            <p:txEl>
                                              <p:pRg st="9" end="9"/>
                                            </p:txEl>
                                          </p:spTgt>
                                        </p:tgtEl>
                                      </p:cBhvr>
                                    </p:animEffect>
                                  </p:childTnLst>
                                </p:cTn>
                              </p:par>
                            </p:childTnLst>
                          </p:cTn>
                        </p:par>
                      </p:childTnLst>
                    </p:cTn>
                  </p:par>
                  <p:par>
                    <p:cTn fill="hold" id="32">
                      <p:stCondLst>
                        <p:cond delay="indefinite"/>
                      </p:stCondLst>
                      <p:childTnLst>
                        <p:par>
                          <p:cTn fill="hold" id="33">
                            <p:stCondLst>
                              <p:cond delay="0"/>
                            </p:stCondLst>
                            <p:childTnLst>
                              <p:par>
                                <p:cTn fill="hold" id="34" nodeType="clickEffect" presetClass="entr" presetID="1" presetSubtype="0">
                                  <p:stCondLst>
                                    <p:cond delay="0"/>
                                  </p:stCondLst>
                                  <p:childTnLst>
                                    <p:set>
                                      <p:cBhvr>
                                        <p:cTn dur="1" fill="hold" id="35">
                                          <p:stCondLst>
                                            <p:cond delay="0"/>
                                          </p:stCondLst>
                                        </p:cTn>
                                        <p:tgtEl>
                                          <p:spTgt spid="1048767"/>
                                        </p:tgtEl>
                                        <p:attrNameLst>
                                          <p:attrName>style.visibility</p:attrName>
                                        </p:attrNameLst>
                                      </p:cBhvr>
                                      <p:to>
                                        <p:strVal val="visible"/>
                                      </p:to>
                                    </p:set>
                                  </p:childTnLst>
                                </p:cTn>
                              </p:par>
                              <p:par>
                                <p:cTn fill="hold" id="36" nodeType="withEffect" presetClass="entr" presetID="1" presetSubtype="0">
                                  <p:stCondLst>
                                    <p:cond delay="0"/>
                                  </p:stCondLst>
                                  <p:childTnLst>
                                    <p:set>
                                      <p:cBhvr>
                                        <p:cTn dur="1" fill="hold" id="37">
                                          <p:stCondLst>
                                            <p:cond delay="0"/>
                                          </p:stCondLst>
                                        </p:cTn>
                                        <p:tgtEl>
                                          <p:spTgt spid="3145733"/>
                                        </p:tgtEl>
                                        <p:attrNameLst>
                                          <p:attrName>style.visibility</p:attrName>
                                        </p:attrNameLst>
                                      </p:cBhvr>
                                      <p:to>
                                        <p:strVal val="visible"/>
                                      </p:to>
                                    </p:set>
                                  </p:childTnLst>
                                </p:cTn>
                              </p:par>
                              <p:par>
                                <p:cTn fill="hold" id="38" nodeType="withEffect" presetClass="entr" presetID="21" presetSubtype="8">
                                  <p:stCondLst>
                                    <p:cond delay="0"/>
                                  </p:stCondLst>
                                  <p:childTnLst>
                                    <p:set>
                                      <p:cBhvr>
                                        <p:cTn dur="1" fill="hold" id="39">
                                          <p:stCondLst>
                                            <p:cond delay="0"/>
                                          </p:stCondLst>
                                        </p:cTn>
                                        <p:tgtEl>
                                          <p:spTgt spid="3145735"/>
                                        </p:tgtEl>
                                        <p:attrNameLst>
                                          <p:attrName>style.visibility</p:attrName>
                                        </p:attrNameLst>
                                      </p:cBhvr>
                                      <p:to>
                                        <p:strVal val="visible"/>
                                      </p:to>
                                    </p:set>
                                    <p:animEffect transition="in" filter="wheel(8)">
                                      <p:cBhvr>
                                        <p:cTn dur="500" id="40"/>
                                        <p:tgtEl>
                                          <p:spTgt spid="3145735"/>
                                        </p:tgtEl>
                                      </p:cBhvr>
                                    </p:animEffect>
                                  </p:childTnLst>
                                </p:cTn>
                              </p:par>
                              <p:par>
                                <p:cTn fill="hold" id="41" nodeType="withEffect" presetClass="entr" presetID="1" presetSubtype="0">
                                  <p:stCondLst>
                                    <p:cond delay="0"/>
                                  </p:stCondLst>
                                  <p:childTnLst>
                                    <p:set>
                                      <p:cBhvr>
                                        <p:cTn dur="1" fill="hold" id="42">
                                          <p:stCondLst>
                                            <p:cond delay="0"/>
                                          </p:stCondLst>
                                        </p:cTn>
                                        <p:tgtEl>
                                          <p:spTgt spid="3145734"/>
                                        </p:tgtEl>
                                        <p:attrNameLst>
                                          <p:attrName>style.visibility</p:attrName>
                                        </p:attrNameLst>
                                      </p:cBhvr>
                                      <p:to>
                                        <p:strVal val="visible"/>
                                      </p:to>
                                    </p:set>
                                  </p:childTnLst>
                                </p:cTn>
                              </p:par>
                              <p:par>
                                <p:cTn fill="hold" id="43" nodeType="withEffect" presetClass="entr" presetID="9" presetSubtype="0">
                                  <p:stCondLst>
                                    <p:cond delay="0"/>
                                  </p:stCondLst>
                                  <p:childTnLst>
                                    <p:set>
                                      <p:cBhvr>
                                        <p:cTn dur="1" fill="hold" id="44">
                                          <p:stCondLst>
                                            <p:cond delay="0"/>
                                          </p:stCondLst>
                                        </p:cTn>
                                        <p:tgtEl>
                                          <p:spTgt spid="1048761">
                                            <p:txEl>
                                              <p:pRg st="11" end="11"/>
                                            </p:txEl>
                                          </p:spTgt>
                                        </p:tgtEl>
                                        <p:attrNameLst>
                                          <p:attrName>style.visibility</p:attrName>
                                        </p:attrNameLst>
                                      </p:cBhvr>
                                      <p:to>
                                        <p:strVal val="visible"/>
                                      </p:to>
                                    </p:set>
                                    <p:animEffect transition="in" filter="dissolve">
                                      <p:cBhvr>
                                        <p:cTn dur="500" id="45"/>
                                        <p:tgtEl>
                                          <p:spTgt spid="1048761">
                                            <p:txEl>
                                              <p:pRg st="11" end="11"/>
                                            </p:txEl>
                                          </p:spTgt>
                                        </p:tgtEl>
                                      </p:cBhvr>
                                    </p:animEffect>
                                  </p:childTnLst>
                                </p:cTn>
                              </p:par>
                              <p:par>
                                <p:cTn fill="hold" id="46" nodeType="withEffect" presetClass="entr" presetID="1" presetSubtype="0">
                                  <p:stCondLst>
                                    <p:cond delay="0"/>
                                  </p:stCondLst>
                                  <p:childTnLst>
                                    <p:set>
                                      <p:cBhvr>
                                        <p:cTn dur="1" fill="hold" id="47">
                                          <p:stCondLst>
                                            <p:cond delay="0"/>
                                          </p:stCondLst>
                                        </p:cTn>
                                        <p:tgtEl>
                                          <p:spTgt spid="1048763"/>
                                        </p:tgtEl>
                                        <p:attrNameLst>
                                          <p:attrName>style.visibility</p:attrName>
                                        </p:attrNameLst>
                                      </p:cBhvr>
                                      <p:to>
                                        <p:strVal val="visible"/>
                                      </p:to>
                                    </p:set>
                                  </p:childTnLst>
                                </p:cTn>
                              </p:par>
                              <p:par>
                                <p:cTn fill="hold" id="48" nodeType="withEffect" presetClass="entr" presetID="21" presetSubtype="8">
                                  <p:stCondLst>
                                    <p:cond delay="0"/>
                                  </p:stCondLst>
                                  <p:childTnLst>
                                    <p:set>
                                      <p:cBhvr>
                                        <p:cTn dur="1" fill="hold" id="49">
                                          <p:stCondLst>
                                            <p:cond delay="0"/>
                                          </p:stCondLst>
                                        </p:cTn>
                                        <p:tgtEl>
                                          <p:spTgt spid="3145736"/>
                                        </p:tgtEl>
                                        <p:attrNameLst>
                                          <p:attrName>style.visibility</p:attrName>
                                        </p:attrNameLst>
                                      </p:cBhvr>
                                      <p:to>
                                        <p:strVal val="visible"/>
                                      </p:to>
                                    </p:set>
                                    <p:animEffect transition="in" filter="wheel(8)">
                                      <p:cBhvr>
                                        <p:cTn dur="500" id="50"/>
                                        <p:tgtEl>
                                          <p:spTgt spid="3145736"/>
                                        </p:tgtEl>
                                      </p:cBhvr>
                                    </p:animEffect>
                                  </p:childTnLst>
                                </p:cTn>
                              </p:par>
                              <p:par>
                                <p:cTn fill="hold" id="51" nodeType="withEffect" presetClass="entr" presetID="9" presetSubtype="0">
                                  <p:stCondLst>
                                    <p:cond delay="0"/>
                                  </p:stCondLst>
                                  <p:childTnLst>
                                    <p:set>
                                      <p:cBhvr>
                                        <p:cTn dur="1" fill="hold" id="52">
                                          <p:stCondLst>
                                            <p:cond delay="0"/>
                                          </p:stCondLst>
                                        </p:cTn>
                                        <p:tgtEl>
                                          <p:spTgt spid="1048761">
                                            <p:txEl>
                                              <p:pRg st="14" end="14"/>
                                            </p:txEl>
                                          </p:spTgt>
                                        </p:tgtEl>
                                        <p:attrNameLst>
                                          <p:attrName>style.visibility</p:attrName>
                                        </p:attrNameLst>
                                      </p:cBhvr>
                                      <p:to>
                                        <p:strVal val="visible"/>
                                      </p:to>
                                    </p:set>
                                    <p:animEffect transition="in" filter="dissolve">
                                      <p:cBhvr>
                                        <p:cTn dur="500" id="53"/>
                                        <p:tgtEl>
                                          <p:spTgt spid="104876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36" name=""/>
        <p:cNvGrpSpPr/>
        <p:nvPr/>
      </p:nvGrpSpPr>
      <p:grpSpPr>
        <a:xfrm>
          <a:off x="0" y="0"/>
          <a:ext cx="0" cy="0"/>
          <a:chOff x="0" y="0"/>
          <a:chExt cx="0" cy="0"/>
        </a:xfrm>
      </p:grpSpPr>
      <p:sp>
        <p:nvSpPr>
          <p:cNvPr id="1048771" name="Titre 1"/>
          <p:cNvSpPr>
            <a:spLocks noGrp="1"/>
          </p:cNvSpPr>
          <p:nvPr>
            <p:ph type="title"/>
          </p:nvPr>
        </p:nvSpPr>
        <p:spPr>
          <a:xfrm>
            <a:off x="304800" y="116632"/>
            <a:ext cx="8686800" cy="838200"/>
          </a:xfrm>
        </p:spPr>
        <p:txBody>
          <a:bodyPr>
            <a:noAutofit/>
          </a:bodyPr>
          <a:p>
            <a:pPr algn="ctr"/>
            <a:r>
              <a:rPr dirty="0" sz="2800" lang="fr-FR" smtClean="0">
                <a:solidFill>
                  <a:srgbClr val="FF9900"/>
                </a:solidFill>
                <a:effectLst/>
                <a:latin typeface="+mn-lt"/>
              </a:rPr>
              <a:t>B- CRIT</a:t>
            </a:r>
            <a:r>
              <a:rPr dirty="0" sz="2800" lang="fr-FR" smtClean="0">
                <a:solidFill>
                  <a:srgbClr val="FF9900"/>
                </a:solidFill>
                <a:effectLst/>
                <a:latin typeface="+mn-lt"/>
                <a:cs typeface="Arial"/>
              </a:rPr>
              <a:t>È</a:t>
            </a:r>
            <a:r>
              <a:rPr dirty="0" sz="2800" lang="fr-FR" smtClean="0">
                <a:solidFill>
                  <a:srgbClr val="FF9900"/>
                </a:solidFill>
                <a:effectLst/>
                <a:latin typeface="+mn-lt"/>
              </a:rPr>
              <a:t>RES DGC DES PÉRICARDITES</a:t>
            </a:r>
            <a:endParaRPr dirty="0" sz="2800" lang="fr-FR">
              <a:solidFill>
                <a:srgbClr val="FF9900"/>
              </a:solidFill>
              <a:effectLst/>
              <a:latin typeface="+mn-lt"/>
            </a:endParaRPr>
          </a:p>
        </p:txBody>
      </p:sp>
      <p:graphicFrame>
        <p:nvGraphicFramePr>
          <p:cNvPr id="4194306" name="Espace réservé du contenu 3"/>
          <p:cNvGraphicFramePr>
            <a:graphicFrameLocks noGrp="1"/>
          </p:cNvGraphicFramePr>
          <p:nvPr>
            <p:ph idx="1"/>
          </p:nvPr>
        </p:nvGraphicFramePr>
        <p:xfrm>
          <a:off x="179512" y="1053082"/>
          <a:ext cx="8856000" cy="5517700"/>
        </p:xfrm>
        <a:graphic>
          <a:graphicData uri="http://schemas.openxmlformats.org/drawingml/2006/table">
            <a:tbl>
              <a:tblPr firstRow="1" bandRow="1">
                <a:tableStyleId>{BC89EF96-8CEA-46FF-86C4-4CE0E7609802}</a:tableStyleId>
              </a:tblPr>
              <a:tblGrid>
                <a:gridCol w="1440000"/>
                <a:gridCol w="7416000"/>
              </a:tblGrid>
              <a:tr h="2995462">
                <a:tc>
                  <a:txBody>
                    <a:bodyPr/>
                    <a:p>
                      <a:endParaRPr b="0" dirty="0" sz="2000" lang="fr-FR" smtClean="0"/>
                    </a:p>
                    <a:p>
                      <a:endParaRPr b="0" dirty="0" sz="2000" lang="fr-FR" smtClean="0"/>
                    </a:p>
                    <a:p>
                      <a:endParaRPr b="0" dirty="0" sz="2000" lang="fr-FR" smtClean="0"/>
                    </a:p>
                    <a:p>
                      <a:endParaRPr b="0" dirty="0" sz="2000" lang="fr-FR" smtClean="0"/>
                    </a:p>
                    <a:p>
                      <a:pPr algn="ctr"/>
                      <a:r>
                        <a:rPr b="1" dirty="0" sz="2400" lang="fr-FR" smtClean="0"/>
                        <a:t>Dgc</a:t>
                      </a:r>
                      <a:endParaRPr b="1" dirty="0" sz="2400" lang="fr-FR"/>
                    </a:p>
                  </a:txBody>
                </a:tc>
                <a:tc>
                  <a:txBody>
                    <a:bodyPr/>
                    <a:p>
                      <a:pPr algn="ctr"/>
                      <a:r>
                        <a:rPr baseline="0" dirty="0" i="1" lang="fr-FR" smtClean="0">
                          <a:solidFill>
                            <a:srgbClr val="800000"/>
                          </a:solidFill>
                        </a:rPr>
                        <a:t>Critères additionnels</a:t>
                      </a:r>
                      <a:endParaRPr baseline="0" dirty="0" lang="fr-FR" smtClean="0">
                        <a:latin typeface="Calibri"/>
                      </a:endParaRPr>
                    </a:p>
                    <a:p>
                      <a:pPr>
                        <a:lnSpc>
                          <a:spcPct val="100000"/>
                        </a:lnSpc>
                      </a:pPr>
                      <a:r>
                        <a:rPr baseline="0" dirty="0" sz="1600" i="1" lang="fr-FR" smtClean="0">
                          <a:solidFill>
                            <a:srgbClr val="C00000"/>
                          </a:solidFill>
                        </a:rPr>
                        <a:t> </a:t>
                      </a:r>
                      <a:r>
                        <a:rPr baseline="0" b="0" dirty="0" sz="1600" i="1" lang="fr-FR" smtClean="0">
                          <a:solidFill>
                            <a:srgbClr val="C00000"/>
                          </a:solidFill>
                        </a:rPr>
                        <a:t>Clinique: </a:t>
                      </a:r>
                      <a:r>
                        <a:rPr b="0" dirty="0" lang="fr-FR" smtClean="0"/>
                        <a:t>frottement</a:t>
                      </a:r>
                    </a:p>
                    <a:p>
                      <a:pPr>
                        <a:lnSpc>
                          <a:spcPct val="100000"/>
                        </a:lnSpc>
                      </a:pPr>
                      <a:r>
                        <a:rPr baseline="0" b="0" dirty="0" lang="fr-FR" smtClean="0"/>
                        <a:t> </a:t>
                      </a:r>
                      <a:r>
                        <a:rPr baseline="0" b="0" dirty="0" sz="1600" i="1" lang="fr-FR" smtClean="0">
                          <a:solidFill>
                            <a:srgbClr val="C00000"/>
                          </a:solidFill>
                        </a:rPr>
                        <a:t>ECG</a:t>
                      </a:r>
                      <a:r>
                        <a:rPr baseline="0" b="0" dirty="0" lang="fr-FR" smtClean="0"/>
                        <a:t>: sus ST diffus récent ou sous décalage PR</a:t>
                      </a:r>
                    </a:p>
                    <a:p>
                      <a:pPr>
                        <a:lnSpc>
                          <a:spcPct val="100000"/>
                        </a:lnSpc>
                      </a:pPr>
                      <a:r>
                        <a:rPr baseline="0" b="0" dirty="0" sz="1800" lang="fr-FR" smtClean="0">
                          <a:solidFill>
                            <a:srgbClr val="C00000"/>
                          </a:solidFill>
                        </a:rPr>
                        <a:t> </a:t>
                      </a:r>
                      <a:r>
                        <a:rPr baseline="0" b="0" dirty="0" sz="1600" i="1" lang="fr-FR" smtClean="0">
                          <a:solidFill>
                            <a:srgbClr val="C00000"/>
                          </a:solidFill>
                        </a:rPr>
                        <a:t>Biomarqueurs:</a:t>
                      </a:r>
                      <a:r>
                        <a:rPr baseline="0" b="0" dirty="0" sz="1600" lang="fr-FR" smtClean="0">
                          <a:solidFill>
                            <a:srgbClr val="C00000"/>
                          </a:solidFill>
                        </a:rPr>
                        <a:t> </a:t>
                      </a:r>
                      <a:r>
                        <a:rPr baseline="0" b="0" dirty="0" lang="fr-FR" smtClean="0"/>
                        <a:t>CRP </a:t>
                      </a:r>
                      <a:r>
                        <a:rPr b="1" dirty="0" sz="1800" lang="fr-FR" smtClean="0">
                          <a:solidFill>
                            <a:schemeClr val="tx1"/>
                          </a:solidFill>
                          <a:sym typeface="Symbol" pitchFamily="18" charset="2"/>
                        </a:rPr>
                        <a:t></a:t>
                      </a:r>
                      <a:endParaRPr baseline="0" b="0" dirty="0" lang="fr-FR" smtClean="0"/>
                    </a:p>
                    <a:p>
                      <a:pPr>
                        <a:lnSpc>
                          <a:spcPct val="100000"/>
                        </a:lnSpc>
                      </a:pPr>
                      <a:r>
                        <a:rPr baseline="0" b="0" dirty="0" lang="fr-FR" smtClean="0"/>
                        <a:t> </a:t>
                      </a:r>
                      <a:r>
                        <a:rPr baseline="0" b="0" dirty="0" sz="1600" i="1" lang="fr-FR" smtClean="0">
                          <a:solidFill>
                            <a:srgbClr val="C00000"/>
                          </a:solidFill>
                        </a:rPr>
                        <a:t>Imagerie: </a:t>
                      </a:r>
                      <a:r>
                        <a:rPr baseline="0" b="0" dirty="0" lang="fr-FR" smtClean="0"/>
                        <a:t>épanchement péricardique (nouveau / abondance croissante)</a:t>
                      </a:r>
                    </a:p>
                    <a:p>
                      <a:pPr>
                        <a:lnSpc>
                          <a:spcPct val="100000"/>
                        </a:lnSpc>
                      </a:pPr>
                      <a:r>
                        <a:rPr baseline="0" b="0" dirty="0" lang="fr-FR" smtClean="0"/>
                        <a:t>                 IRM: œdème péricardique et/ou rehaussement tardif  </a:t>
                      </a:r>
                      <a:r>
                        <a:rPr baseline="0" dirty="0" lang="fr-FR" smtClean="0"/>
                        <a:t>  </a:t>
                      </a:r>
                    </a:p>
                    <a:p>
                      <a:pPr>
                        <a:lnSpc>
                          <a:spcPct val="100000"/>
                        </a:lnSpc>
                      </a:pPr>
                      <a:endParaRPr baseline="0" dirty="0" lang="fr-FR" smtClean="0"/>
                    </a:p>
                    <a:p>
                      <a:r>
                        <a:rPr baseline="0" dirty="0" lang="fr-FR" smtClean="0"/>
                        <a:t>     </a:t>
                      </a:r>
                      <a:r>
                        <a:rPr dirty="0" lang="fr-FR" smtClean="0">
                          <a:solidFill>
                            <a:srgbClr val="C00000"/>
                          </a:solidFill>
                          <a:latin typeface="Calibri" pitchFamily="34" charset="0"/>
                        </a:rPr>
                        <a:t>Dgc</a:t>
                      </a:r>
                      <a:r>
                        <a:rPr baseline="0" dirty="0" lang="fr-FR" smtClean="0">
                          <a:solidFill>
                            <a:srgbClr val="C00000"/>
                          </a:solidFill>
                          <a:latin typeface="Calibri" pitchFamily="34" charset="0"/>
                        </a:rPr>
                        <a:t> certain</a:t>
                      </a:r>
                      <a:r>
                        <a:rPr baseline="0" dirty="0" lang="fr-FR" smtClean="0">
                          <a:latin typeface="Calibri" pitchFamily="34" charset="0"/>
                        </a:rPr>
                        <a:t> </a:t>
                      </a:r>
                      <a:r>
                        <a:rPr baseline="0" b="0" dirty="0" lang="fr-FR" smtClean="0">
                          <a:latin typeface="Calibri" pitchFamily="34" charset="0"/>
                        </a:rPr>
                        <a:t>si clinique avec </a:t>
                      </a:r>
                      <a:r>
                        <a:rPr baseline="0" b="0" dirty="0" lang="fr-FR" smtClean="0">
                          <a:latin typeface="Calibri"/>
                        </a:rPr>
                        <a:t>&gt; 1 critère additionnel</a:t>
                      </a:r>
                    </a:p>
                    <a:p>
                      <a:r>
                        <a:rPr baseline="0" dirty="0" lang="fr-FR" smtClean="0">
                          <a:solidFill>
                            <a:srgbClr val="FA8006"/>
                          </a:solidFill>
                          <a:latin typeface="Calibri"/>
                        </a:rPr>
                        <a:t>      Dgc possible </a:t>
                      </a:r>
                      <a:r>
                        <a:rPr baseline="0" dirty="0" lang="fr-FR" smtClean="0">
                          <a:latin typeface="Calibri"/>
                        </a:rPr>
                        <a:t> </a:t>
                      </a:r>
                      <a:r>
                        <a:rPr baseline="0" b="0" dirty="0" lang="fr-FR" smtClean="0">
                          <a:latin typeface="Calibri"/>
                        </a:rPr>
                        <a:t>si</a:t>
                      </a:r>
                      <a:r>
                        <a:rPr baseline="0" dirty="0" lang="fr-FR" smtClean="0">
                          <a:latin typeface="Calibri"/>
                        </a:rPr>
                        <a:t>  </a:t>
                      </a:r>
                      <a:r>
                        <a:rPr baseline="0" b="0" dirty="0" lang="fr-FR" smtClean="0">
                          <a:latin typeface="Calibri"/>
                        </a:rPr>
                        <a:t>clinique avec 1 seul critère additionnel</a:t>
                      </a:r>
                    </a:p>
                    <a:p>
                      <a:pPr>
                        <a:spcAft>
                          <a:spcPts val="600"/>
                        </a:spcAft>
                      </a:pPr>
                      <a:r>
                        <a:rPr baseline="0" dirty="0" lang="fr-FR" smtClean="0">
                          <a:solidFill>
                            <a:srgbClr val="0070C0"/>
                          </a:solidFill>
                          <a:latin typeface="Calibri"/>
                        </a:rPr>
                        <a:t>      Dgc peu probable/rejeté </a:t>
                      </a:r>
                      <a:r>
                        <a:rPr baseline="0" dirty="0" lang="fr-FR" smtClean="0">
                          <a:latin typeface="Calibri"/>
                        </a:rPr>
                        <a:t> </a:t>
                      </a:r>
                      <a:r>
                        <a:rPr baseline="0" b="0" dirty="0" lang="fr-FR" smtClean="0">
                          <a:latin typeface="Calibri"/>
                        </a:rPr>
                        <a:t>si</a:t>
                      </a:r>
                      <a:r>
                        <a:rPr baseline="0" dirty="0" lang="fr-FR" smtClean="0">
                          <a:latin typeface="Calibri"/>
                        </a:rPr>
                        <a:t> </a:t>
                      </a:r>
                      <a:r>
                        <a:rPr baseline="0" b="0" dirty="0" lang="fr-FR" smtClean="0">
                          <a:latin typeface="Calibri"/>
                        </a:rPr>
                        <a:t>présentation clinique seule</a:t>
                      </a:r>
                    </a:p>
                    <a:p>
                      <a:pPr>
                        <a:lnSpc>
                          <a:spcPct val="100000"/>
                        </a:lnSpc>
                      </a:pPr>
                      <a:endParaRPr baseline="0" dirty="0" lang="fr-FR" smtClean="0">
                        <a:latin typeface="Calibri"/>
                      </a:endParaRPr>
                    </a:p>
                  </a:txBody>
                </a:tc>
              </a:tr>
              <a:tr h="570630">
                <a:tc>
                  <a:txBody>
                    <a:bodyPr/>
                    <a:p>
                      <a:endParaRPr b="0" dirty="0" sz="2000" lang="fr-FR" smtClean="0"/>
                    </a:p>
                  </a:txBody>
                  <a:tcPr>
                    <a:lnB w="12700" cap="flat" cmpd="sng" algn="ctr">
                      <a:noFill/>
                      <a:prstDash val="solid"/>
                      <a:round/>
                      <a:headEnd type="none" w="med" len="med"/>
                      <a:tailEnd type="none" w="med" len="med"/>
                    </a:lnB>
                    <a:solidFill>
                      <a:schemeClr val="bg2">
                        <a:alpha val="20000"/>
                      </a:schemeClr>
                    </a:solidFill>
                  </a:tcPr>
                </a:tc>
                <a:tc>
                  <a:txBody>
                    <a:bodyPr/>
                    <a:p>
                      <a:pPr algn="l" defTabSz="914400" eaLnBrk="1" fontAlgn="auto" hangingPunct="1" indent="0" latinLnBrk="0" marL="0" marR="0" rtl="0">
                        <a:lnSpc>
                          <a:spcPct val="150000"/>
                        </a:lnSpc>
                        <a:spcBef>
                          <a:spcPts val="0"/>
                        </a:spcBef>
                        <a:spcAft>
                          <a:spcPts val="0"/>
                        </a:spcAft>
                        <a:buClrTx/>
                        <a:buSzTx/>
                        <a:buFontTx/>
                        <a:buNone/>
                      </a:pPr>
                      <a:r>
                        <a:rPr b="0" dirty="0" sz="1800" lang="fr-FR" smtClean="0"/>
                        <a:t>Aiguë:</a:t>
                      </a:r>
                      <a:r>
                        <a:rPr baseline="0" b="0" dirty="0" sz="1800" lang="fr-FR" smtClean="0"/>
                        <a:t> </a:t>
                      </a:r>
                      <a:r>
                        <a:rPr b="0" dirty="0" sz="1800" lang="fr-FR" smtClean="0">
                          <a:latin typeface="Calibri"/>
                        </a:rPr>
                        <a:t>≤ 4 semaines</a:t>
                      </a:r>
                      <a:endParaRPr b="0" dirty="0" sz="1800" lang="fr-FR" smtClean="0"/>
                    </a:p>
                  </a:txBody>
                </a:tc>
              </a:tr>
              <a:tr h="570630">
                <a:tc>
                  <a:txBody>
                    <a:bodyPr/>
                    <a:p>
                      <a:r>
                        <a:rPr dirty="0" sz="2000" lang="fr-FR" smtClean="0"/>
                        <a:t> </a:t>
                      </a:r>
                      <a:endParaRPr dirty="0" sz="2000" lang="fr-F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a:lnSpc>
                          <a:spcPct val="150000"/>
                        </a:lnSpc>
                      </a:pPr>
                      <a:r>
                        <a:rPr dirty="0" sz="1800" lang="fr-FR" smtClean="0"/>
                        <a:t>Subaigüe; </a:t>
                      </a:r>
                      <a:r>
                        <a:rPr b="1" dirty="0" lang="fr-FR" smtClean="0">
                          <a:sym typeface="Symbol"/>
                        </a:rPr>
                        <a:t></a:t>
                      </a:r>
                      <a:r>
                        <a:rPr dirty="0" lang="fr-FR" smtClean="0">
                          <a:sym typeface="Symbol"/>
                        </a:rPr>
                        <a:t> </a:t>
                      </a:r>
                      <a:r>
                        <a:rPr baseline="0" dirty="0" lang="fr-FR" smtClean="0"/>
                        <a:t>4 semaines et </a:t>
                      </a:r>
                      <a:r>
                        <a:rPr baseline="0" b="1" dirty="0" lang="fr-FR" smtClean="0">
                          <a:latin typeface="Calibri"/>
                        </a:rPr>
                        <a:t>≤</a:t>
                      </a:r>
                      <a:r>
                        <a:rPr baseline="0" dirty="0" lang="fr-FR" smtClean="0"/>
                        <a:t> 3 mois, sans rémission</a:t>
                      </a:r>
                      <a:endParaRPr dirty="0" lang="fr-FR"/>
                    </a:p>
                  </a:txBody>
                </a:tc>
              </a:tr>
              <a:tr h="570630">
                <a:tc>
                  <a:txBody>
                    <a:bodyPr/>
                    <a:p>
                      <a:endParaRPr dirty="0" sz="1800" lang="fr-F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alpha val="20000"/>
                      </a:schemeClr>
                    </a:solidFill>
                  </a:tcPr>
                </a:tc>
                <a:tc>
                  <a:txBody>
                    <a:bodyPr/>
                    <a:p>
                      <a:pPr algn="l" defTabSz="914400" eaLnBrk="1" fontAlgn="auto" hangingPunct="1" indent="0" latinLnBrk="0" marL="0" marR="0" rtl="0">
                        <a:lnSpc>
                          <a:spcPct val="150000"/>
                        </a:lnSpc>
                        <a:spcBef>
                          <a:spcPts val="0"/>
                        </a:spcBef>
                        <a:spcAft>
                          <a:spcPts val="0"/>
                        </a:spcAft>
                        <a:buClrTx/>
                        <a:buSzTx/>
                        <a:buFontTx/>
                        <a:buNone/>
                      </a:pPr>
                      <a:r>
                        <a:rPr dirty="0" sz="1800" lang="fr-FR" smtClean="0"/>
                        <a:t>Récidivante: récidive</a:t>
                      </a:r>
                      <a:r>
                        <a:rPr dirty="0" lang="fr-FR" smtClean="0"/>
                        <a:t> après rémission clinique d’un 1</a:t>
                      </a:r>
                      <a:r>
                        <a:rPr baseline="30000" dirty="0" lang="fr-FR" smtClean="0"/>
                        <a:t>er</a:t>
                      </a:r>
                      <a:r>
                        <a:rPr dirty="0" lang="fr-FR" smtClean="0"/>
                        <a:t> épisode (</a:t>
                      </a:r>
                      <a:r>
                        <a:rPr b="0" dirty="0" lang="fr-FR" smtClean="0"/>
                        <a:t>~</a:t>
                      </a:r>
                      <a:r>
                        <a:rPr dirty="0" lang="fr-FR" smtClean="0"/>
                        <a:t> 18</a:t>
                      </a:r>
                      <a:r>
                        <a:rPr baseline="0" dirty="0" lang="fr-FR" smtClean="0"/>
                        <a:t> </a:t>
                      </a:r>
                      <a:r>
                        <a:rPr dirty="0" lang="fr-FR" smtClean="0"/>
                        <a:t>mois)</a:t>
                      </a:r>
                      <a:endParaRPr dirty="0" lang="fr-FR"/>
                    </a:p>
                  </a:txBody>
                </a:tc>
              </a:tr>
              <a:tr h="620650">
                <a:tc>
                  <a:txBody>
                    <a:bodyPr/>
                    <a:p>
                      <a:endParaRPr dirty="0" sz="2000" lang="fr-FR"/>
                    </a:p>
                  </a:txBody>
                  <a:tcPr>
                    <a:lnT w="12700" cap="flat" cmpd="sng" algn="ctr">
                      <a:noFill/>
                      <a:prstDash val="solid"/>
                      <a:round/>
                      <a:headEnd type="none" w="med" len="med"/>
                      <a:tailEnd type="none" w="med" len="med"/>
                    </a:lnT>
                  </a:tcPr>
                </a:tc>
                <a:tc>
                  <a:txBody>
                    <a:bodyPr/>
                    <a:p>
                      <a:pPr algn="l" defTabSz="914400" eaLnBrk="1" fontAlgn="auto" hangingPunct="1" indent="0" latinLnBrk="0" marL="0" marR="0" rtl="0">
                        <a:lnSpc>
                          <a:spcPct val="150000"/>
                        </a:lnSpc>
                        <a:spcBef>
                          <a:spcPts val="0"/>
                        </a:spcBef>
                        <a:spcAft>
                          <a:spcPts val="0"/>
                        </a:spcAft>
                        <a:buClrTx/>
                        <a:buSzTx/>
                        <a:buFontTx/>
                        <a:buNone/>
                      </a:pPr>
                      <a:r>
                        <a:rPr dirty="0" sz="1800" lang="fr-FR" smtClean="0"/>
                        <a:t>Chronique: </a:t>
                      </a:r>
                      <a:r>
                        <a:rPr dirty="0" lang="fr-FR" smtClean="0"/>
                        <a:t>Evolution &gt; </a:t>
                      </a:r>
                      <a:r>
                        <a:rPr baseline="0" dirty="0" lang="fr-FR" smtClean="0"/>
                        <a:t>3 mois</a:t>
                      </a:r>
                      <a:endParaRPr dirty="0" lang="fr-FR"/>
                    </a:p>
                  </a:txBody>
                </a:tc>
              </a:tr>
            </a:tbl>
          </a:graphicData>
        </a:graphic>
      </p:graphicFrame>
      <p:sp>
        <p:nvSpPr>
          <p:cNvPr id="1048772" name="ZoneTexte 4"/>
          <p:cNvSpPr txBox="1"/>
          <p:nvPr/>
        </p:nvSpPr>
        <p:spPr>
          <a:xfrm>
            <a:off x="107504" y="4830251"/>
            <a:ext cx="1584176" cy="802640"/>
          </a:xfrm>
          <a:prstGeom prst="rect"/>
          <a:noFill/>
        </p:spPr>
        <p:txBody>
          <a:bodyPr rtlCol="0" wrap="square">
            <a:spAutoFit/>
          </a:bodyPr>
          <a:p>
            <a:pPr algn="ctr"/>
            <a:r>
              <a:rPr b="1" dirty="0" sz="2400" lang="fr-FR" smtClean="0"/>
              <a:t>Stades évolutifs</a:t>
            </a:r>
            <a:endParaRPr b="1" dirty="0" sz="2400" lang="fr-FR"/>
          </a:p>
        </p:txBody>
      </p:sp>
    </p:spTree>
  </p:cSld>
  <p:clrMapOvr>
    <a:masterClrMapping/>
  </p:clrMapOvr>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776" name="Titre 1"/>
          <p:cNvSpPr>
            <a:spLocks noGrp="1"/>
          </p:cNvSpPr>
          <p:nvPr>
            <p:ph type="title"/>
          </p:nvPr>
        </p:nvSpPr>
        <p:spPr/>
        <p:txBody>
          <a:bodyPr/>
          <a:p>
            <a:pPr algn="ctr"/>
            <a:r>
              <a:rPr dirty="0" lang="fr-FR" smtClean="0">
                <a:solidFill>
                  <a:srgbClr val="800000"/>
                </a:solidFill>
                <a:effectLst/>
              </a:rPr>
              <a:t>VIII- LES MYOCARDITES</a:t>
            </a:r>
            <a:endParaRPr dirty="0" lang="fr-FR"/>
          </a:p>
        </p:txBody>
      </p:sp>
      <p:sp>
        <p:nvSpPr>
          <p:cNvPr id="1048777" name="Espace réservé du contenu 2"/>
          <p:cNvSpPr>
            <a:spLocks noGrp="1"/>
          </p:cNvSpPr>
          <p:nvPr>
            <p:ph idx="1"/>
          </p:nvPr>
        </p:nvSpPr>
        <p:spPr>
          <a:xfrm>
            <a:off x="251520" y="1412776"/>
            <a:ext cx="8686800" cy="4525963"/>
          </a:xfrm>
        </p:spPr>
        <p:txBody>
          <a:bodyPr/>
          <a:p>
            <a:pPr>
              <a:lnSpc>
                <a:spcPct val="150000"/>
              </a:lnSpc>
            </a:pPr>
            <a:r>
              <a:rPr dirty="0" lang="fr-FR" smtClean="0">
                <a:solidFill>
                  <a:schemeClr val="tx1"/>
                </a:solidFill>
              </a:rPr>
              <a:t>Etat inflammatoire du myocarde</a:t>
            </a:r>
          </a:p>
          <a:p>
            <a:pPr>
              <a:lnSpc>
                <a:spcPct val="150000"/>
              </a:lnSpc>
            </a:pPr>
            <a:r>
              <a:rPr dirty="0" lang="fr-FR" smtClean="0">
                <a:solidFill>
                  <a:schemeClr val="tx1"/>
                </a:solidFill>
              </a:rPr>
              <a:t>Expressions cliniques hétérogènes:</a:t>
            </a:r>
          </a:p>
          <a:p>
            <a:pPr>
              <a:spcBef>
                <a:spcPts val="0"/>
              </a:spcBef>
              <a:buNone/>
            </a:pPr>
            <a:r>
              <a:rPr dirty="0" lang="fr-FR" smtClean="0">
                <a:solidFill>
                  <a:schemeClr val="tx1"/>
                </a:solidFill>
              </a:rPr>
              <a:t> </a:t>
            </a:r>
            <a:r>
              <a:rPr dirty="0" sz="2800" lang="fr-FR" smtClean="0">
                <a:solidFill>
                  <a:schemeClr val="tx1"/>
                </a:solidFill>
              </a:rPr>
              <a:t>asymptomatiques         choc cardiogénique, mort subite</a:t>
            </a:r>
            <a:endParaRPr dirty="0" lang="fr-FR" smtClean="0">
              <a:solidFill>
                <a:schemeClr val="tx1"/>
              </a:solidFill>
            </a:endParaRPr>
          </a:p>
          <a:p>
            <a:pPr>
              <a:lnSpc>
                <a:spcPct val="150000"/>
              </a:lnSpc>
            </a:pPr>
            <a:r>
              <a:rPr dirty="0" lang="fr-FR" smtClean="0">
                <a:solidFill>
                  <a:schemeClr val="tx1"/>
                </a:solidFill>
              </a:rPr>
              <a:t>Implications pronostiques variables:</a:t>
            </a:r>
          </a:p>
          <a:p>
            <a:pPr>
              <a:spcBef>
                <a:spcPts val="0"/>
              </a:spcBef>
              <a:buNone/>
            </a:pPr>
            <a:r>
              <a:rPr dirty="0" lang="fr-FR" smtClean="0">
                <a:solidFill>
                  <a:schemeClr val="tx1"/>
                </a:solidFill>
              </a:rPr>
              <a:t> </a:t>
            </a:r>
            <a:r>
              <a:rPr dirty="0" sz="2800" lang="fr-FR" smtClean="0">
                <a:solidFill>
                  <a:schemeClr val="tx1"/>
                </a:solidFill>
              </a:rPr>
              <a:t>guérison sans séquelles         CMD, décès</a:t>
            </a:r>
          </a:p>
          <a:p>
            <a:pPr>
              <a:spcBef>
                <a:spcPts val="0"/>
              </a:spcBef>
              <a:buNone/>
            </a:pPr>
            <a:endParaRPr dirty="0" sz="2800" lang="fr-FR" smtClean="0">
              <a:solidFill>
                <a:schemeClr val="tx1"/>
              </a:solidFill>
            </a:endParaRPr>
          </a:p>
          <a:p>
            <a:pPr>
              <a:spcBef>
                <a:spcPts val="0"/>
              </a:spcBef>
            </a:pPr>
            <a:r>
              <a:rPr dirty="0" lang="fr-FR" smtClean="0">
                <a:solidFill>
                  <a:srgbClr val="C00000"/>
                </a:solidFill>
              </a:rPr>
              <a:t>Présentation clinique initiale </a:t>
            </a:r>
            <a:r>
              <a:rPr dirty="0" sz="2800" lang="fr-FR" smtClean="0">
                <a:solidFill>
                  <a:srgbClr val="C00000"/>
                </a:solidFill>
              </a:rPr>
              <a:t>= </a:t>
            </a:r>
            <a:r>
              <a:rPr dirty="0" lang="fr-FR" smtClean="0">
                <a:solidFill>
                  <a:srgbClr val="C00000"/>
                </a:solidFill>
              </a:rPr>
              <a:t>facteur pronostic</a:t>
            </a:r>
            <a:endParaRPr dirty="0" lang="fr-FR">
              <a:solidFill>
                <a:srgbClr val="C00000"/>
              </a:solidFill>
            </a:endParaRPr>
          </a:p>
        </p:txBody>
      </p:sp>
      <p:cxnSp>
        <p:nvCxnSpPr>
          <p:cNvPr id="3145737" name="Connecteur droit avec flèche 4"/>
          <p:cNvCxnSpPr>
            <a:cxnSpLocks/>
          </p:cNvCxnSpPr>
          <p:nvPr/>
        </p:nvCxnSpPr>
        <p:spPr>
          <a:xfrm>
            <a:off x="3203848" y="3287614"/>
            <a:ext cx="576064" cy="0"/>
          </a:xfrm>
          <a:prstGeom prst="straightConnector1"/>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45738" name="Connecteur droit avec flèche 6"/>
          <p:cNvCxnSpPr>
            <a:cxnSpLocks/>
          </p:cNvCxnSpPr>
          <p:nvPr/>
        </p:nvCxnSpPr>
        <p:spPr>
          <a:xfrm>
            <a:off x="4139952" y="4581128"/>
            <a:ext cx="576064" cy="0"/>
          </a:xfrm>
          <a:prstGeom prst="straightConnector1"/>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42" name=""/>
        <p:cNvGrpSpPr/>
        <p:nvPr/>
      </p:nvGrpSpPr>
      <p:grpSpPr>
        <a:xfrm>
          <a:off x="0" y="0"/>
          <a:ext cx="0" cy="0"/>
          <a:chOff x="0" y="0"/>
          <a:chExt cx="0" cy="0"/>
        </a:xfrm>
      </p:grpSpPr>
      <p:sp>
        <p:nvSpPr>
          <p:cNvPr id="1048781" name="Titre 1"/>
          <p:cNvSpPr txBox="1"/>
          <p:nvPr/>
        </p:nvSpPr>
        <p:spPr>
          <a:xfrm>
            <a:off x="304800" y="116632"/>
            <a:ext cx="8686800" cy="648072"/>
          </a:xfrm>
          <a:prstGeom prst="rect"/>
        </p:spPr>
        <p:txBody>
          <a:bodyPr>
            <a:noAutofit/>
          </a:bodyPr>
          <a:p>
            <a:pPr algn="ctr" defTabSz="914400" eaLnBrk="1" fontAlgn="auto" hangingPunct="1" indent="0" latinLnBrk="0" lvl="0" marL="0" marR="0" rtl="0">
              <a:lnSpc>
                <a:spcPct val="100000"/>
              </a:lnSpc>
              <a:spcBef>
                <a:spcPct val="0"/>
              </a:spcBef>
              <a:spcAft>
                <a:spcPts val="0"/>
              </a:spcAft>
              <a:buClrTx/>
              <a:buSzTx/>
              <a:buFontTx/>
              <a:buNone/>
            </a:pPr>
            <a:r>
              <a:rPr baseline="0" b="0" cap="all" dirty="0" sz="2400" i="0" kern="1200" kumimoji="0" lang="fr-FR" noProof="0" normalizeH="0" spc="0" strike="noStrike" u="none" smtClean="0">
                <a:ln>
                  <a:noFill/>
                </a:ln>
                <a:solidFill>
                  <a:srgbClr val="FF9900"/>
                </a:solidFill>
                <a:effectLst/>
                <a:uLnTx/>
                <a:uFillTx/>
                <a:latin typeface="+mn-lt"/>
                <a:ea typeface="+mj-ea"/>
                <a:cs typeface="+mj-cs"/>
              </a:rPr>
              <a:t>A- PRESENTATIONS CLINIQUES</a:t>
            </a:r>
          </a:p>
          <a:p>
            <a:pPr algn="ctr" defTabSz="914400" eaLnBrk="1" fontAlgn="auto" hangingPunct="1" indent="0" latinLnBrk="0" lvl="0" marL="0" marR="0" rtl="0">
              <a:lnSpc>
                <a:spcPct val="100000"/>
              </a:lnSpc>
              <a:spcBef>
                <a:spcPct val="0"/>
              </a:spcBef>
              <a:spcAft>
                <a:spcPts val="0"/>
              </a:spcAft>
              <a:buClrTx/>
              <a:buSzTx/>
              <a:buFontTx/>
              <a:buNone/>
            </a:pPr>
            <a:r>
              <a:rPr cap="all" dirty="0" sz="2000" i="1" lang="fr-FR" noProof="0" smtClean="0">
                <a:solidFill>
                  <a:srgbClr val="800000"/>
                </a:solidFill>
                <a:ea typeface="+mj-ea"/>
                <a:cs typeface="+mj-cs"/>
              </a:rPr>
              <a:t>1- « </a:t>
            </a:r>
            <a:r>
              <a:rPr dirty="0" sz="2000" i="1" lang="fr-FR" smtClean="0">
                <a:solidFill>
                  <a:srgbClr val="800000"/>
                </a:solidFill>
                <a:ea typeface="+mj-ea"/>
                <a:cs typeface="+mj-cs"/>
              </a:rPr>
              <a:t>R</a:t>
            </a:r>
            <a:r>
              <a:rPr b="0" dirty="0" sz="2000" i="1" kern="1200" kumimoji="0" lang="fr-FR" noProof="0" normalizeH="0" spc="0" err="1" strike="noStrike" u="none" smtClean="0">
                <a:ln>
                  <a:noFill/>
                </a:ln>
                <a:solidFill>
                  <a:srgbClr val="800000"/>
                </a:solidFill>
                <a:effectLst/>
                <a:uLnTx/>
                <a:uFillTx/>
                <a:latin typeface="+mn-lt"/>
                <a:ea typeface="+mj-ea"/>
                <a:cs typeface="+mj-cs"/>
              </a:rPr>
              <a:t>ed</a:t>
            </a:r>
            <a:r>
              <a:rPr b="0" dirty="0" sz="2000" i="1" kern="1200" kumimoji="0" lang="fr-FR" noProof="0" normalizeH="0" spc="0" strike="noStrike" u="none" smtClean="0">
                <a:ln>
                  <a:noFill/>
                </a:ln>
                <a:solidFill>
                  <a:srgbClr val="800000"/>
                </a:solidFill>
                <a:effectLst/>
                <a:uLnTx/>
                <a:uFillTx/>
                <a:latin typeface="+mn-lt"/>
                <a:ea typeface="+mj-ea"/>
                <a:cs typeface="+mj-cs"/>
              </a:rPr>
              <a:t> Flags</a:t>
            </a:r>
            <a:r>
              <a:rPr b="0" cap="all" dirty="0" sz="2000" i="1" kern="1200" kumimoji="0" lang="fr-FR" noProof="0" normalizeH="0" spc="0" strike="noStrike" u="none" smtClean="0">
                <a:ln>
                  <a:noFill/>
                </a:ln>
                <a:solidFill>
                  <a:srgbClr val="800000"/>
                </a:solidFill>
                <a:effectLst/>
                <a:uLnTx/>
                <a:uFillTx/>
                <a:latin typeface="+mn-lt"/>
                <a:ea typeface="+mj-ea"/>
                <a:cs typeface="+mj-cs"/>
              </a:rPr>
              <a:t> »</a:t>
            </a:r>
            <a:endParaRPr baseline="0" b="0" cap="all" dirty="0" sz="2000" i="1" kern="1200" kumimoji="0" lang="fr-FR" noProof="0" normalizeH="0" spc="0" strike="noStrike" u="none">
              <a:ln>
                <a:noFill/>
              </a:ln>
              <a:solidFill>
                <a:srgbClr val="800000"/>
              </a:solidFill>
              <a:effectLst/>
              <a:uLnTx/>
              <a:uFillTx/>
              <a:latin typeface="+mn-lt"/>
              <a:ea typeface="+mj-ea"/>
              <a:cs typeface="+mj-cs"/>
            </a:endParaRPr>
          </a:p>
        </p:txBody>
      </p:sp>
      <p:pic>
        <p:nvPicPr>
          <p:cNvPr id="2097171" name="Picture 2"/>
          <p:cNvPicPr>
            <a:picLocks noChangeAspect="1" noChangeArrowheads="1"/>
          </p:cNvPicPr>
          <p:nvPr/>
        </p:nvPicPr>
        <p:blipFill>
          <a:blip xmlns:r="http://schemas.openxmlformats.org/officeDocument/2006/relationships" r:embed="rId1" cstate="print"/>
          <a:srcRect/>
          <a:stretch>
            <a:fillRect/>
          </a:stretch>
        </p:blipFill>
        <p:spPr bwMode="auto">
          <a:xfrm>
            <a:off x="119063" y="980728"/>
            <a:ext cx="8905875" cy="4752527"/>
          </a:xfrm>
          <a:prstGeom prst="rect"/>
          <a:ln>
            <a:noFill/>
          </a:ln>
          <a:effectLst>
            <a:outerShdw algn="tl" blurRad="292100" dir="2700000" dist="139700" rotWithShape="0">
              <a:srgbClr val="333333">
                <a:alpha val="65000"/>
              </a:srgbClr>
            </a:outerShdw>
          </a:effectLst>
        </p:spPr>
      </p:pic>
      <p:pic>
        <p:nvPicPr>
          <p:cNvPr id="2097172" name="Picture 2"/>
          <p:cNvPicPr>
            <a:picLocks noChangeAspect="1" noChangeArrowheads="1"/>
          </p:cNvPicPr>
          <p:nvPr/>
        </p:nvPicPr>
        <p:blipFill>
          <a:blip xmlns:r="http://schemas.openxmlformats.org/officeDocument/2006/relationships" r:embed="rId1" cstate="print"/>
          <a:srcRect t="13636" r="47574" b="10606"/>
          <a:stretch>
            <a:fillRect/>
          </a:stretch>
        </p:blipFill>
        <p:spPr bwMode="auto">
          <a:xfrm>
            <a:off x="2267744" y="1700808"/>
            <a:ext cx="4668961" cy="3600400"/>
          </a:xfrm>
          <a:prstGeom prst="rect"/>
          <a:ln>
            <a:noFill/>
          </a:ln>
          <a:effectLst>
            <a:outerShdw algn="tl" blurRad="292100" dir="2700000" dist="139700" rotWithShape="0">
              <a:srgbClr val="333333">
                <a:alpha val="65000"/>
              </a:srgbClr>
            </a:outerShdw>
          </a:effectLst>
        </p:spPr>
      </p:pic>
      <p:sp>
        <p:nvSpPr>
          <p:cNvPr id="1048782" name="ZoneTexte 3"/>
          <p:cNvSpPr txBox="1"/>
          <p:nvPr/>
        </p:nvSpPr>
        <p:spPr>
          <a:xfrm>
            <a:off x="6804248" y="6093296"/>
            <a:ext cx="1064715" cy="338554"/>
          </a:xfrm>
          <a:prstGeom prst="rect"/>
          <a:noFill/>
        </p:spPr>
        <p:txBody>
          <a:bodyPr rtlCol="0" wrap="none">
            <a:spAutoFit/>
          </a:bodyPr>
          <a:p>
            <a:r>
              <a:rPr b="1" dirty="0" sz="1600" lang="fr-FR" smtClean="0"/>
              <a:t>ESC 2025</a:t>
            </a:r>
            <a:endParaRPr b="1" dirty="0" sz="1600" lang="fr-FR"/>
          </a:p>
        </p:txBody>
      </p:sp>
      <p:sp>
        <p:nvSpPr>
          <p:cNvPr id="1048783" name="ZoneTexte 5"/>
          <p:cNvSpPr txBox="1"/>
          <p:nvPr/>
        </p:nvSpPr>
        <p:spPr>
          <a:xfrm>
            <a:off x="323528" y="413077"/>
            <a:ext cx="8640960" cy="6276340"/>
          </a:xfrm>
          <a:prstGeom prst="rect"/>
          <a:solidFill>
            <a:schemeClr val="bg1">
              <a:lumMod val="85000"/>
            </a:schemeClr>
          </a:solidFill>
          <a:ln>
            <a:solidFill>
              <a:schemeClr val="bg1"/>
            </a:solidFill>
          </a:ln>
        </p:spPr>
        <p:txBody>
          <a:bodyPr rtlCol="0" wrap="square">
            <a:spAutoFit/>
          </a:bodyPr>
          <a:p>
            <a:r>
              <a:rPr dirty="0" sz="2800" lang="fr-FR" smtClean="0">
                <a:latin typeface="Calibri" pitchFamily="34" charset="0"/>
                <a:cs typeface="Arial" pitchFamily="34" charset="0"/>
              </a:rPr>
              <a:t>Myocardites</a:t>
            </a:r>
          </a:p>
          <a:p>
            <a:pPr>
              <a:spcBef>
                <a:spcPts val="600"/>
              </a:spcBef>
            </a:pPr>
            <a:r>
              <a:rPr dirty="0" sz="2400" lang="fr-FR" smtClean="0">
                <a:latin typeface="Calibri" pitchFamily="34" charset="0"/>
                <a:cs typeface="Arial" pitchFamily="34" charset="0"/>
              </a:rPr>
              <a:t>Syndrome pseudo grippal ou </a:t>
            </a:r>
            <a:r>
              <a:rPr dirty="0" sz="2400" lang="fr-FR" err="1" smtClean="0">
                <a:latin typeface="Calibri" pitchFamily="34" charset="0"/>
                <a:cs typeface="Arial" pitchFamily="34" charset="0"/>
              </a:rPr>
              <a:t>gastro</a:t>
            </a:r>
            <a:r>
              <a:rPr dirty="0" sz="2400" lang="fr-FR" smtClean="0">
                <a:latin typeface="Calibri" pitchFamily="34" charset="0"/>
                <a:cs typeface="Arial" pitchFamily="34" charset="0"/>
              </a:rPr>
              <a:t> entérite récents ou concomitants (80%)</a:t>
            </a:r>
          </a:p>
          <a:p>
            <a:r>
              <a:rPr dirty="0" sz="2400" lang="fr-FR" smtClean="0">
                <a:latin typeface="Calibri" pitchFamily="34" charset="0"/>
                <a:cs typeface="Arial" pitchFamily="34" charset="0"/>
              </a:rPr>
              <a:t>Douleur thoracique pseudo angineuse </a:t>
            </a:r>
            <a:r>
              <a:rPr dirty="0" sz="2400" lang="fr-FR" smtClean="0">
                <a:solidFill>
                  <a:srgbClr val="C00000"/>
                </a:solidFill>
                <a:latin typeface="Calibri" pitchFamily="34" charset="0"/>
                <a:cs typeface="Arial" pitchFamily="34" charset="0"/>
              </a:rPr>
              <a:t>**</a:t>
            </a:r>
            <a:endParaRPr dirty="0" sz="2400" lang="fr-FR" smtClean="0">
              <a:latin typeface="Calibri" pitchFamily="34" charset="0"/>
              <a:cs typeface="Arial" pitchFamily="34" charset="0"/>
            </a:endParaRPr>
          </a:p>
          <a:p>
            <a:r>
              <a:rPr dirty="0" sz="2400" lang="fr-FR" smtClean="0">
                <a:latin typeface="Calibri" pitchFamily="34" charset="0"/>
                <a:cs typeface="Arial" pitchFamily="34" charset="0"/>
              </a:rPr>
              <a:t>Palpitations </a:t>
            </a:r>
            <a:r>
              <a:rPr dirty="0" sz="2400" lang="fr-FR" smtClean="0">
                <a:solidFill>
                  <a:srgbClr val="C00000"/>
                </a:solidFill>
                <a:latin typeface="Calibri" pitchFamily="34" charset="0"/>
                <a:cs typeface="Arial" pitchFamily="34" charset="0"/>
              </a:rPr>
              <a:t>*</a:t>
            </a:r>
            <a:endParaRPr dirty="0" sz="2400" lang="fr-FR" smtClean="0">
              <a:latin typeface="Calibri" pitchFamily="34" charset="0"/>
              <a:cs typeface="Arial" pitchFamily="34" charset="0"/>
            </a:endParaRPr>
          </a:p>
          <a:p>
            <a:r>
              <a:rPr dirty="0" sz="2400" lang="fr-FR" smtClean="0">
                <a:latin typeface="Calibri" pitchFamily="34" charset="0"/>
                <a:cs typeface="Arial" pitchFamily="34" charset="0"/>
              </a:rPr>
              <a:t>Symptômes d’IC </a:t>
            </a:r>
            <a:r>
              <a:rPr dirty="0" sz="2400" lang="fr-FR" smtClean="0">
                <a:solidFill>
                  <a:srgbClr val="C00000"/>
                </a:solidFill>
                <a:latin typeface="Calibri" pitchFamily="34" charset="0"/>
                <a:cs typeface="Arial" pitchFamily="34" charset="0"/>
              </a:rPr>
              <a:t>*</a:t>
            </a:r>
            <a:endParaRPr dirty="0" sz="2400" lang="fr-FR" smtClean="0">
              <a:latin typeface="Calibri" pitchFamily="34" charset="0"/>
              <a:cs typeface="Arial" pitchFamily="34" charset="0"/>
            </a:endParaRPr>
          </a:p>
          <a:p>
            <a:r>
              <a:rPr dirty="0" sz="2400" lang="fr-FR" smtClean="0">
                <a:latin typeface="Calibri" pitchFamily="34" charset="0"/>
                <a:cs typeface="Arial" pitchFamily="34" charset="0"/>
              </a:rPr>
              <a:t>Modifications ECG</a:t>
            </a:r>
            <a:r>
              <a:rPr dirty="0" sz="2400" lang="fr-FR" smtClean="0">
                <a:solidFill>
                  <a:srgbClr val="C00000"/>
                </a:solidFill>
                <a:latin typeface="Calibri" pitchFamily="34" charset="0"/>
                <a:cs typeface="Arial" pitchFamily="34" charset="0"/>
              </a:rPr>
              <a:t>**</a:t>
            </a:r>
          </a:p>
          <a:p>
            <a:r>
              <a:rPr dirty="0" sz="2400" lang="fr-FR" smtClean="0">
                <a:latin typeface="Calibri" pitchFamily="34" charset="0"/>
                <a:cs typeface="Arial" pitchFamily="34" charset="0"/>
              </a:rPr>
              <a:t>Arythmie ventriculaire </a:t>
            </a:r>
          </a:p>
          <a:p>
            <a:r>
              <a:rPr dirty="0" sz="2400" lang="fr-FR" smtClean="0">
                <a:latin typeface="Calibri" pitchFamily="34" charset="0"/>
                <a:cs typeface="Arial" pitchFamily="34" charset="0"/>
              </a:rPr>
              <a:t>Syncope</a:t>
            </a:r>
          </a:p>
          <a:p>
            <a:r>
              <a:rPr dirty="0" sz="2400" lang="fr-FR" smtClean="0">
                <a:latin typeface="Calibri" pitchFamily="34" charset="0"/>
                <a:cs typeface="Arial" pitchFamily="34" charset="0"/>
              </a:rPr>
              <a:t>Instabilité hémodynamique</a:t>
            </a:r>
          </a:p>
          <a:p>
            <a:r>
              <a:rPr dirty="0" sz="2400" lang="fr-FR" smtClean="0">
                <a:latin typeface="Calibri" pitchFamily="34" charset="0"/>
                <a:cs typeface="Arial" pitchFamily="34" charset="0"/>
              </a:rPr>
              <a:t>Élévation des marqueurs de lésion myocardique (</a:t>
            </a:r>
            <a:r>
              <a:rPr dirty="0" sz="2400" lang="fr-FR" err="1" smtClean="0">
                <a:latin typeface="Calibri" pitchFamily="34" charset="0"/>
                <a:cs typeface="Arial" pitchFamily="34" charset="0"/>
              </a:rPr>
              <a:t>Tpn</a:t>
            </a:r>
            <a:r>
              <a:rPr dirty="0" sz="2400" lang="fr-FR" smtClean="0">
                <a:latin typeface="Calibri" pitchFamily="34" charset="0"/>
                <a:cs typeface="Arial" pitchFamily="34" charset="0"/>
              </a:rPr>
              <a:t> US/CPK MB)</a:t>
            </a:r>
            <a:r>
              <a:rPr dirty="0" sz="2400" lang="fr-FR" smtClean="0">
                <a:solidFill>
                  <a:srgbClr val="C00000"/>
                </a:solidFill>
                <a:latin typeface="Calibri" pitchFamily="34" charset="0"/>
                <a:cs typeface="Arial" pitchFamily="34" charset="0"/>
              </a:rPr>
              <a:t>**</a:t>
            </a:r>
            <a:endParaRPr dirty="0" sz="2400" lang="fr-FR" smtClean="0">
              <a:latin typeface="Calibri" pitchFamily="34" charset="0"/>
              <a:cs typeface="Arial" pitchFamily="34" charset="0"/>
            </a:endParaRPr>
          </a:p>
          <a:p>
            <a:r>
              <a:rPr dirty="0" sz="2400" lang="fr-FR" smtClean="0">
                <a:latin typeface="Calibri" pitchFamily="34" charset="0"/>
                <a:cs typeface="Arial" pitchFamily="34" charset="0"/>
              </a:rPr>
              <a:t>Élévation des marqueurs d’IC (NT-</a:t>
            </a:r>
            <a:r>
              <a:rPr dirty="0" sz="2400" lang="fr-FR" err="1" smtClean="0">
                <a:latin typeface="Calibri" pitchFamily="34" charset="0"/>
                <a:cs typeface="Arial" pitchFamily="34" charset="0"/>
              </a:rPr>
              <a:t>proBNP</a:t>
            </a:r>
            <a:r>
              <a:rPr dirty="0" sz="2400" lang="fr-FR" smtClean="0">
                <a:latin typeface="Calibri" pitchFamily="34" charset="0"/>
                <a:cs typeface="Arial" pitchFamily="34" charset="0"/>
              </a:rPr>
              <a:t>)</a:t>
            </a:r>
          </a:p>
          <a:p>
            <a:r>
              <a:rPr dirty="0" sz="2400" lang="fr-FR" smtClean="0">
                <a:latin typeface="Calibri" pitchFamily="34" charset="0"/>
                <a:cs typeface="Arial" pitchFamily="34" charset="0"/>
              </a:rPr>
              <a:t>Troubles de la cinétique myocardique, augmentation de   l’épaisseur pariétale et/ou DVG systolique</a:t>
            </a:r>
          </a:p>
          <a:p>
            <a:r>
              <a:rPr dirty="0" sz="2400" lang="fr-FR" smtClean="0">
                <a:solidFill>
                  <a:srgbClr val="C00000"/>
                </a:solidFill>
                <a:latin typeface="Calibri" pitchFamily="34" charset="0"/>
                <a:cs typeface="Arial" pitchFamily="34" charset="0"/>
              </a:rPr>
              <a:t>IRM</a:t>
            </a:r>
            <a:r>
              <a:rPr dirty="0" sz="2400" lang="fr-FR" smtClean="0">
                <a:latin typeface="Calibri" pitchFamily="34" charset="0"/>
                <a:cs typeface="Arial" pitchFamily="34" charset="0"/>
              </a:rPr>
              <a:t>: œdème myocardique et/ou rehaussement tardif du </a:t>
            </a:r>
            <a:r>
              <a:rPr dirty="0" sz="2400" lang="fr-FR" err="1" smtClean="0">
                <a:latin typeface="Calibri" pitchFamily="34" charset="0"/>
                <a:cs typeface="Arial" pitchFamily="34" charset="0"/>
              </a:rPr>
              <a:t>gadolinum</a:t>
            </a:r>
            <a:r>
              <a:rPr dirty="0" lang="fr-FR" smtClean="0">
                <a:latin typeface="Calibri" pitchFamily="34" charset="0"/>
                <a:cs typeface="Arial" pitchFamily="34" charset="0"/>
              </a:rPr>
              <a:t> </a:t>
            </a:r>
            <a:endParaRPr dirty="0" lang="fr-FR">
              <a:latin typeface="Calibri" pitchFamily="34" charset="0"/>
              <a:cs typeface="Arial" pitchFamily="34" charset="0"/>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72"/>
                                        </p:tgtEl>
                                        <p:attrNameLst>
                                          <p:attrName>style.visibility</p:attrName>
                                        </p:attrNameLst>
                                      </p:cBhvr>
                                      <p:to>
                                        <p:strVal val="visible"/>
                                      </p:to>
                                    </p:set>
                                  </p:childTnLst>
                                </p:cTn>
                              </p:par>
                              <p:par>
                                <p:cTn fill="hold" id="7" nodeType="withEffect" presetClass="emph" presetID="6" presetSubtype="0">
                                  <p:stCondLst>
                                    <p:cond delay="0"/>
                                  </p:stCondLst>
                                  <p:childTnLst>
                                    <p:animScale>
                                      <p:cBhvr>
                                        <p:cTn dur="500" fill="hold" id="8"/>
                                        <p:tgtEl>
                                          <p:spTgt spid="2097172"/>
                                        </p:tgtEl>
                                      </p:cBhvr>
                                      <p:by x="190000" y="190000"/>
                                    </p:animScale>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1" presetSubtype="0">
                                  <p:stCondLst>
                                    <p:cond delay="0"/>
                                  </p:stCondLst>
                                  <p:childTnLst>
                                    <p:set>
                                      <p:cBhvr>
                                        <p:cTn dur="1" fill="hold" id="12">
                                          <p:stCondLst>
                                            <p:cond delay="0"/>
                                          </p:stCondLst>
                                        </p:cTn>
                                        <p:tgtEl>
                                          <p:spTgt spid="10487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78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8787" name="Espace réservé du contenu 2"/>
          <p:cNvSpPr>
            <a:spLocks noGrp="1"/>
          </p:cNvSpPr>
          <p:nvPr>
            <p:ph idx="1"/>
          </p:nvPr>
        </p:nvSpPr>
        <p:spPr>
          <a:xfrm>
            <a:off x="251520" y="1052736"/>
            <a:ext cx="8740080" cy="5688632"/>
          </a:xfrm>
        </p:spPr>
        <p:txBody>
          <a:bodyPr>
            <a:normAutofit fontScale="95833"/>
          </a:bodyPr>
          <a:p>
            <a:pPr>
              <a:lnSpc>
                <a:spcPct val="150000"/>
              </a:lnSpc>
              <a:buNone/>
            </a:pPr>
            <a:r>
              <a:rPr dirty="0" sz="2400" lang="fr-FR" smtClean="0">
                <a:solidFill>
                  <a:schemeClr val="tx1"/>
                </a:solidFill>
              </a:rPr>
              <a:t>1- </a:t>
            </a:r>
            <a:r>
              <a:rPr b="1" dirty="0" sz="2400" i="1" lang="fr-FR" smtClean="0">
                <a:solidFill>
                  <a:schemeClr val="tx1"/>
                </a:solidFill>
              </a:rPr>
              <a:t>Douleur thoracique</a:t>
            </a:r>
            <a:r>
              <a:rPr b="1" dirty="0" sz="2400" lang="fr-FR" smtClean="0">
                <a:solidFill>
                  <a:schemeClr val="tx1"/>
                </a:solidFill>
              </a:rPr>
              <a:t>: </a:t>
            </a:r>
          </a:p>
          <a:p>
            <a:pPr>
              <a:spcBef>
                <a:spcPts val="0"/>
              </a:spcBef>
              <a:buNone/>
            </a:pPr>
            <a:r>
              <a:rPr dirty="0" sz="2400" lang="fr-FR" smtClean="0">
                <a:solidFill>
                  <a:schemeClr val="tx1"/>
                </a:solidFill>
              </a:rPr>
              <a:t>   .la plus fréquente, avec sus-ST et TPN</a:t>
            </a:r>
            <a:r>
              <a:rPr b="1" dirty="0" sz="2400" lang="fr-FR" smtClean="0">
                <a:solidFill>
                  <a:schemeClr val="tx1"/>
                </a:solidFill>
                <a:sym typeface="Symbol" pitchFamily="18" charset="2"/>
              </a:rPr>
              <a:t> </a:t>
            </a:r>
            <a:r>
              <a:rPr baseline="-25000" dirty="0" sz="2400" lang="fr-FR" smtClean="0">
                <a:solidFill>
                  <a:schemeClr val="tx1"/>
                </a:solidFill>
                <a:sym typeface="Symbol" pitchFamily="18" charset="2"/>
              </a:rPr>
              <a:t>,</a:t>
            </a:r>
            <a:r>
              <a:rPr b="1" dirty="0" sz="2400" lang="fr-FR" smtClean="0">
                <a:solidFill>
                  <a:schemeClr val="tx1"/>
                </a:solidFill>
                <a:sym typeface="Symbol" pitchFamily="18" charset="2"/>
              </a:rPr>
              <a:t> </a:t>
            </a:r>
            <a:r>
              <a:rPr dirty="0" sz="2400" lang="fr-FR" smtClean="0">
                <a:solidFill>
                  <a:schemeClr val="tx1"/>
                </a:solidFill>
                <a:sym typeface="Symbol" pitchFamily="18" charset="2"/>
              </a:rPr>
              <a:t>notion de virose </a:t>
            </a:r>
          </a:p>
          <a:p>
            <a:pPr>
              <a:spcBef>
                <a:spcPts val="0"/>
              </a:spcBef>
              <a:buNone/>
            </a:pPr>
            <a:r>
              <a:rPr dirty="0" sz="2400" lang="fr-FR" smtClean="0">
                <a:solidFill>
                  <a:schemeClr val="tx1"/>
                </a:solidFill>
                <a:sym typeface="Symbol" pitchFamily="18" charset="2"/>
              </a:rPr>
              <a:t>   .éliminer SCA</a:t>
            </a:r>
          </a:p>
          <a:p>
            <a:pPr>
              <a:spcBef>
                <a:spcPts val="0"/>
              </a:spcBef>
              <a:buNone/>
            </a:pPr>
            <a:r>
              <a:rPr dirty="0" sz="2400" lang="fr-FR" smtClean="0">
                <a:solidFill>
                  <a:schemeClr val="tx1"/>
                </a:solidFill>
                <a:sym typeface="Symbol" pitchFamily="18" charset="2"/>
              </a:rPr>
              <a:t>   . Bon pronostic si FEVG préservée et ECG normalisé</a:t>
            </a:r>
          </a:p>
          <a:p>
            <a:pPr>
              <a:lnSpc>
                <a:spcPct val="150000"/>
              </a:lnSpc>
              <a:buNone/>
            </a:pPr>
            <a:r>
              <a:rPr dirty="0" sz="2400" lang="fr-FR" smtClean="0">
                <a:solidFill>
                  <a:schemeClr val="tx1"/>
                </a:solidFill>
                <a:sym typeface="Symbol" pitchFamily="18" charset="2"/>
              </a:rPr>
              <a:t>2- </a:t>
            </a:r>
            <a:r>
              <a:rPr b="1" dirty="0" sz="2400" i="1" lang="fr-FR" smtClean="0">
                <a:solidFill>
                  <a:schemeClr val="tx1"/>
                </a:solidFill>
                <a:sym typeface="Symbol" pitchFamily="18" charset="2"/>
              </a:rPr>
              <a:t>Défaillance cardiaque</a:t>
            </a:r>
            <a:r>
              <a:rPr b="1" dirty="0" sz="2400" lang="fr-FR" smtClean="0">
                <a:solidFill>
                  <a:schemeClr val="tx1"/>
                </a:solidFill>
                <a:sym typeface="Symbol" pitchFamily="18" charset="2"/>
              </a:rPr>
              <a:t>: </a:t>
            </a:r>
            <a:r>
              <a:rPr dirty="0" sz="2400" lang="fr-FR" smtClean="0">
                <a:solidFill>
                  <a:schemeClr val="tx1"/>
                </a:solidFill>
                <a:sym typeface="Symbol" pitchFamily="18" charset="2"/>
              </a:rPr>
              <a:t>groupe à risque élevé</a:t>
            </a:r>
          </a:p>
          <a:p>
            <a:pPr>
              <a:spcBef>
                <a:spcPts val="0"/>
              </a:spcBef>
              <a:buNone/>
            </a:pPr>
            <a:r>
              <a:rPr dirty="0" sz="2400" lang="fr-FR" smtClean="0">
                <a:solidFill>
                  <a:schemeClr val="tx1"/>
                </a:solidFill>
                <a:sym typeface="Symbol" pitchFamily="18" charset="2"/>
              </a:rPr>
              <a:t>   .DVG inexpliquée           IC réfractaire          choc cardiogénique</a:t>
            </a:r>
          </a:p>
          <a:p>
            <a:pPr>
              <a:spcBef>
                <a:spcPts val="0"/>
              </a:spcBef>
              <a:buNone/>
            </a:pPr>
            <a:r>
              <a:rPr dirty="0" sz="2400" lang="fr-FR" smtClean="0">
                <a:solidFill>
                  <a:schemeClr val="tx1"/>
                </a:solidFill>
                <a:sym typeface="Symbol" pitchFamily="18" charset="2"/>
              </a:rPr>
              <a:t>   .insuffisance cardiaque aigue avec FEVG réduite </a:t>
            </a:r>
            <a:r>
              <a:rPr dirty="0" sz="2400" lang="fr-FR" smtClean="0">
                <a:solidFill>
                  <a:schemeClr val="tx1"/>
                </a:solidFill>
                <a:sym typeface="Symbol"/>
              </a:rPr>
              <a:t> risque élevé</a:t>
            </a:r>
          </a:p>
          <a:p>
            <a:pPr>
              <a:spcBef>
                <a:spcPts val="0"/>
              </a:spcBef>
              <a:buNone/>
            </a:pPr>
            <a:r>
              <a:rPr dirty="0" sz="2400" lang="fr-FR" smtClean="0">
                <a:solidFill>
                  <a:schemeClr val="tx1"/>
                </a:solidFill>
                <a:sym typeface="Symbol"/>
              </a:rPr>
              <a:t>   .IRM sans délai, ± biopsie</a:t>
            </a:r>
          </a:p>
          <a:p>
            <a:pPr>
              <a:spcBef>
                <a:spcPts val="0"/>
              </a:spcBef>
              <a:buNone/>
            </a:pPr>
            <a:r>
              <a:rPr dirty="0" sz="2400" lang="fr-FR" smtClean="0">
                <a:solidFill>
                  <a:schemeClr val="tx1"/>
                </a:solidFill>
                <a:sym typeface="Symbol"/>
              </a:rPr>
              <a:t>   .pronostic dépend de la réponse au TRT</a:t>
            </a:r>
          </a:p>
          <a:p>
            <a:pPr>
              <a:lnSpc>
                <a:spcPct val="150000"/>
              </a:lnSpc>
              <a:buNone/>
            </a:pPr>
            <a:r>
              <a:rPr dirty="0" sz="2400" lang="fr-FR" smtClean="0">
                <a:solidFill>
                  <a:schemeClr val="tx1"/>
                </a:solidFill>
                <a:sym typeface="Symbol"/>
              </a:rPr>
              <a:t>3- </a:t>
            </a:r>
            <a:r>
              <a:rPr b="1" dirty="0" sz="2400" i="1" lang="fr-FR" smtClean="0">
                <a:solidFill>
                  <a:schemeClr val="tx1"/>
                </a:solidFill>
                <a:sym typeface="Symbol"/>
              </a:rPr>
              <a:t>Troubles du rythme</a:t>
            </a:r>
            <a:r>
              <a:rPr b="1" dirty="0" sz="2400" lang="fr-FR" smtClean="0">
                <a:solidFill>
                  <a:schemeClr val="tx1"/>
                </a:solidFill>
                <a:sym typeface="Symbol"/>
              </a:rPr>
              <a:t>:</a:t>
            </a:r>
            <a:endParaRPr dirty="0" sz="2400" lang="fr-FR" smtClean="0">
              <a:solidFill>
                <a:schemeClr val="tx1"/>
              </a:solidFill>
              <a:sym typeface="Symbol"/>
            </a:endParaRPr>
          </a:p>
          <a:p>
            <a:pPr>
              <a:spcBef>
                <a:spcPts val="0"/>
              </a:spcBef>
              <a:buNone/>
            </a:pPr>
            <a:r>
              <a:rPr dirty="0" sz="2400" lang="fr-FR" smtClean="0">
                <a:solidFill>
                  <a:schemeClr val="tx1"/>
                </a:solidFill>
                <a:sym typeface="Symbol"/>
              </a:rPr>
              <a:t>   .trouble rythmique inexpliqué: TV, BAV, FA si péricardite</a:t>
            </a:r>
          </a:p>
          <a:p>
            <a:pPr>
              <a:spcBef>
                <a:spcPts val="0"/>
              </a:spcBef>
              <a:buNone/>
            </a:pPr>
            <a:r>
              <a:rPr dirty="0" sz="2400" lang="fr-FR" smtClean="0">
                <a:solidFill>
                  <a:schemeClr val="tx1"/>
                </a:solidFill>
              </a:rPr>
              <a:t>   .palpitations, syncope, mort subite</a:t>
            </a:r>
          </a:p>
          <a:p>
            <a:pPr>
              <a:spcBef>
                <a:spcPts val="0"/>
              </a:spcBef>
              <a:buNone/>
            </a:pPr>
            <a:r>
              <a:rPr dirty="0" sz="2400" lang="fr-FR" smtClean="0">
                <a:solidFill>
                  <a:schemeClr val="tx1"/>
                </a:solidFill>
              </a:rPr>
              <a:t>   .TV et BAV généralement associés à un FEVG réduite et une IC</a:t>
            </a:r>
            <a:endParaRPr dirty="0" sz="2400" lang="fr-FR">
              <a:solidFill>
                <a:schemeClr val="tx1"/>
              </a:solidFill>
            </a:endParaRPr>
          </a:p>
        </p:txBody>
      </p:sp>
      <p:sp>
        <p:nvSpPr>
          <p:cNvPr id="1048788" name="Titre 1"/>
          <p:cNvSpPr>
            <a:spLocks noGrp="1"/>
          </p:cNvSpPr>
          <p:nvPr>
            <p:ph type="title"/>
          </p:nvPr>
        </p:nvSpPr>
        <p:spPr>
          <a:xfrm>
            <a:off x="304800" y="332656"/>
            <a:ext cx="8686800" cy="648072"/>
          </a:xfrm>
        </p:spPr>
        <p:txBody>
          <a:bodyPr>
            <a:noAutofit/>
          </a:bodyPr>
          <a:p>
            <a:pPr algn="ctr"/>
            <a:r>
              <a:rPr dirty="0" sz="2800" lang="fr-FR" smtClean="0">
                <a:solidFill>
                  <a:srgbClr val="FF9900"/>
                </a:solidFill>
                <a:effectLst/>
                <a:latin typeface="+mn-lt"/>
              </a:rPr>
              <a:t>A- PRESENTATIONS CLINIQUES</a:t>
            </a:r>
            <a:br>
              <a:rPr dirty="0" sz="2800" lang="fr-FR" smtClean="0">
                <a:solidFill>
                  <a:srgbClr val="FF9900"/>
                </a:solidFill>
                <a:effectLst/>
                <a:latin typeface="+mn-lt"/>
              </a:rPr>
            </a:br>
            <a:r>
              <a:rPr dirty="0" sz="2400" i="1" lang="fr-FR" smtClean="0">
                <a:solidFill>
                  <a:srgbClr val="800000"/>
                </a:solidFill>
                <a:effectLst/>
                <a:latin typeface="+mn-lt"/>
              </a:rPr>
              <a:t>2- « </a:t>
            </a:r>
            <a:r>
              <a:rPr cap="none" dirty="0" sz="2400" i="1" lang="fr-FR" smtClean="0">
                <a:solidFill>
                  <a:srgbClr val="800000"/>
                </a:solidFill>
                <a:effectLst/>
                <a:latin typeface="+mn-lt"/>
              </a:rPr>
              <a:t>Formes Cliniques </a:t>
            </a:r>
            <a:r>
              <a:rPr dirty="0" sz="2400" i="1" lang="fr-FR" smtClean="0">
                <a:solidFill>
                  <a:srgbClr val="800000"/>
                </a:solidFill>
                <a:effectLst/>
                <a:latin typeface="+mn-lt"/>
              </a:rPr>
              <a:t>»</a:t>
            </a:r>
            <a:endParaRPr dirty="0" sz="2800" i="1" lang="fr-FR">
              <a:solidFill>
                <a:srgbClr val="800000"/>
              </a:solidFill>
              <a:effectLst/>
              <a:latin typeface="+mn-lt"/>
            </a:endParaRPr>
          </a:p>
        </p:txBody>
      </p:sp>
      <p:cxnSp>
        <p:nvCxnSpPr>
          <p:cNvPr id="3145739" name="Connecteur droit avec flèche 4"/>
          <p:cNvCxnSpPr>
            <a:cxnSpLocks/>
          </p:cNvCxnSpPr>
          <p:nvPr/>
        </p:nvCxnSpPr>
        <p:spPr>
          <a:xfrm>
            <a:off x="2915816" y="3573016"/>
            <a:ext cx="504056" cy="0"/>
          </a:xfrm>
          <a:prstGeom prst="straightConnector1"/>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45740" name="Connecteur droit avec flèche 5"/>
          <p:cNvCxnSpPr>
            <a:cxnSpLocks/>
          </p:cNvCxnSpPr>
          <p:nvPr/>
        </p:nvCxnSpPr>
        <p:spPr>
          <a:xfrm>
            <a:off x="5364088" y="3573016"/>
            <a:ext cx="504056" cy="0"/>
          </a:xfrm>
          <a:prstGeom prst="straightConnector1"/>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8789" name="Flèche courbée vers la gauche 6"/>
          <p:cNvSpPr/>
          <p:nvPr/>
        </p:nvSpPr>
        <p:spPr>
          <a:xfrm>
            <a:off x="7668344" y="5589240"/>
            <a:ext cx="288032" cy="504056"/>
          </a:xfrm>
          <a:prstGeom prst="curvedLeftArrow">
            <a:avLst>
              <a:gd name="adj1" fmla="val 25000"/>
              <a:gd name="adj2" fmla="val 77763"/>
              <a:gd name="adj3" fmla="val 2500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FR">
              <a:solidFill>
                <a:schemeClr val="tx1"/>
              </a:solidFill>
            </a:endParaRPr>
          </a:p>
        </p:txBody>
      </p:sp>
    </p:spTree>
  </p:cSld>
  <p:clrMapOvr>
    <a:masterClrMapping/>
  </p:clrMapOvr>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48" name=""/>
        <p:cNvGrpSpPr/>
        <p:nvPr/>
      </p:nvGrpSpPr>
      <p:grpSpPr>
        <a:xfrm>
          <a:off x="0" y="0"/>
          <a:ext cx="0" cy="0"/>
          <a:chOff x="0" y="0"/>
          <a:chExt cx="0" cy="0"/>
        </a:xfrm>
      </p:grpSpPr>
      <p:sp>
        <p:nvSpPr>
          <p:cNvPr id="1048793" name="Titre 1"/>
          <p:cNvSpPr>
            <a:spLocks noGrp="1"/>
          </p:cNvSpPr>
          <p:nvPr>
            <p:ph type="title"/>
          </p:nvPr>
        </p:nvSpPr>
        <p:spPr>
          <a:xfrm>
            <a:off x="304800" y="44624"/>
            <a:ext cx="8686800" cy="838200"/>
          </a:xfrm>
        </p:spPr>
        <p:txBody>
          <a:bodyPr>
            <a:noAutofit/>
          </a:bodyPr>
          <a:p>
            <a:pPr algn="ctr"/>
            <a:r>
              <a:rPr dirty="0" sz="2800" lang="fr-FR" smtClean="0">
                <a:solidFill>
                  <a:srgbClr val="FF9900"/>
                </a:solidFill>
                <a:effectLst/>
                <a:latin typeface="+mn-lt"/>
              </a:rPr>
              <a:t>B- CRIT</a:t>
            </a:r>
            <a:r>
              <a:rPr dirty="0" sz="2800" lang="fr-FR" smtClean="0">
                <a:solidFill>
                  <a:srgbClr val="FF9900"/>
                </a:solidFill>
                <a:effectLst/>
                <a:latin typeface="+mn-lt"/>
                <a:cs typeface="Arial"/>
              </a:rPr>
              <a:t>È</a:t>
            </a:r>
            <a:r>
              <a:rPr dirty="0" sz="2800" lang="fr-FR" smtClean="0">
                <a:solidFill>
                  <a:srgbClr val="FF9900"/>
                </a:solidFill>
                <a:effectLst/>
                <a:latin typeface="+mn-lt"/>
              </a:rPr>
              <a:t>RES DGC DES MYOCARDITES</a:t>
            </a:r>
            <a:endParaRPr dirty="0" sz="2800" lang="fr-FR">
              <a:solidFill>
                <a:srgbClr val="FF9900"/>
              </a:solidFill>
              <a:effectLst/>
              <a:latin typeface="+mn-lt"/>
            </a:endParaRPr>
          </a:p>
        </p:txBody>
      </p:sp>
      <p:graphicFrame>
        <p:nvGraphicFramePr>
          <p:cNvPr id="4194307" name="Espace réservé du contenu 3"/>
          <p:cNvGraphicFramePr>
            <a:graphicFrameLocks noGrp="1"/>
          </p:cNvGraphicFramePr>
          <p:nvPr>
            <p:ph idx="1"/>
          </p:nvPr>
        </p:nvGraphicFramePr>
        <p:xfrm>
          <a:off x="179512" y="836712"/>
          <a:ext cx="8784976" cy="5637958"/>
        </p:xfrm>
        <a:graphic>
          <a:graphicData uri="http://schemas.openxmlformats.org/drawingml/2006/table">
            <a:tbl>
              <a:tblPr firstRow="1" bandRow="1">
                <a:tableStyleId>{BC89EF96-8CEA-46FF-86C4-4CE0E7609802}</a:tableStyleId>
              </a:tblPr>
              <a:tblGrid>
                <a:gridCol w="1728192"/>
                <a:gridCol w="7056784"/>
              </a:tblGrid>
              <a:tr h="3220984">
                <a:tc>
                  <a:txBody>
                    <a:bodyPr/>
                    <a:p>
                      <a:endParaRPr b="0" dirty="0" sz="2000" lang="fr-FR" smtClean="0"/>
                    </a:p>
                    <a:p>
                      <a:endParaRPr b="0" dirty="0" sz="2000" lang="fr-FR" smtClean="0"/>
                    </a:p>
                    <a:p>
                      <a:endParaRPr b="0" dirty="0" sz="2000" lang="fr-FR" smtClean="0"/>
                    </a:p>
                    <a:p>
                      <a:endParaRPr b="0" dirty="0" sz="2000" lang="fr-FR" smtClean="0"/>
                    </a:p>
                    <a:p>
                      <a:pPr algn="ctr"/>
                      <a:r>
                        <a:rPr b="1" dirty="0" sz="2400" lang="fr-FR" smtClean="0">
                          <a:latin typeface="+mn-lt"/>
                          <a:cs typeface="Arial" pitchFamily="34" charset="0"/>
                        </a:rPr>
                        <a:t>Dgc</a:t>
                      </a:r>
                      <a:endParaRPr b="1" dirty="0" sz="2400" lang="fr-FR">
                        <a:latin typeface="+mn-lt"/>
                        <a:cs typeface="Arial" pitchFamily="34" charset="0"/>
                      </a:endParaRPr>
                    </a:p>
                  </a:txBody>
                </a:tc>
                <a:tc>
                  <a:txBody>
                    <a:bodyPr/>
                    <a:p>
                      <a:pPr algn="ctr"/>
                      <a:r>
                        <a:rPr baseline="0" dirty="0" i="1" lang="fr-FR" smtClean="0">
                          <a:solidFill>
                            <a:srgbClr val="800000"/>
                          </a:solidFill>
                        </a:rPr>
                        <a:t>Critères additionnels</a:t>
                      </a:r>
                      <a:endParaRPr baseline="0" dirty="0" lang="fr-FR" smtClean="0">
                        <a:latin typeface="Calibri"/>
                      </a:endParaRPr>
                    </a:p>
                    <a:p>
                      <a:pPr>
                        <a:lnSpc>
                          <a:spcPct val="100000"/>
                        </a:lnSpc>
                      </a:pPr>
                      <a:r>
                        <a:rPr baseline="0" dirty="0" sz="1600" i="1" lang="fr-FR" smtClean="0">
                          <a:solidFill>
                            <a:srgbClr val="C00000"/>
                          </a:solidFill>
                        </a:rPr>
                        <a:t> </a:t>
                      </a:r>
                      <a:r>
                        <a:rPr baseline="0" b="0" dirty="0" sz="1600" i="1" lang="fr-FR" smtClean="0">
                          <a:solidFill>
                            <a:srgbClr val="C00000"/>
                          </a:solidFill>
                        </a:rPr>
                        <a:t>Clinique: </a:t>
                      </a:r>
                      <a:r>
                        <a:rPr baseline="0" b="0" dirty="0" sz="1800" i="0" lang="fr-FR" smtClean="0">
                          <a:solidFill>
                            <a:schemeClr val="tx1"/>
                          </a:solidFill>
                        </a:rPr>
                        <a:t>absence d’éléments de dgc différentiel</a:t>
                      </a:r>
                      <a:endParaRPr b="0" dirty="0" lang="fr-FR" smtClean="0"/>
                    </a:p>
                    <a:p>
                      <a:pPr>
                        <a:lnSpc>
                          <a:spcPct val="100000"/>
                        </a:lnSpc>
                      </a:pPr>
                      <a:r>
                        <a:rPr baseline="0" b="0" dirty="0" lang="fr-FR" smtClean="0"/>
                        <a:t> </a:t>
                      </a:r>
                      <a:r>
                        <a:rPr baseline="0" b="0" dirty="0" sz="1600" i="1" lang="fr-FR" smtClean="0">
                          <a:solidFill>
                            <a:srgbClr val="C00000"/>
                          </a:solidFill>
                        </a:rPr>
                        <a:t>ECG</a:t>
                      </a:r>
                      <a:r>
                        <a:rPr baseline="0" b="0" dirty="0" lang="fr-FR" smtClean="0"/>
                        <a:t>: modification de ST-T</a:t>
                      </a:r>
                    </a:p>
                    <a:p>
                      <a:pPr>
                        <a:lnSpc>
                          <a:spcPct val="100000"/>
                        </a:lnSpc>
                      </a:pPr>
                      <a:r>
                        <a:rPr baseline="0" b="0" dirty="0" sz="1800" lang="fr-FR" smtClean="0">
                          <a:solidFill>
                            <a:srgbClr val="C00000"/>
                          </a:solidFill>
                        </a:rPr>
                        <a:t> </a:t>
                      </a:r>
                      <a:r>
                        <a:rPr baseline="0" b="0" dirty="0" sz="1600" i="1" lang="fr-FR" smtClean="0">
                          <a:solidFill>
                            <a:srgbClr val="C00000"/>
                          </a:solidFill>
                        </a:rPr>
                        <a:t>Biomarqueurs:</a:t>
                      </a:r>
                      <a:r>
                        <a:rPr baseline="0" b="0" dirty="0" sz="1600" lang="fr-FR" smtClean="0">
                          <a:solidFill>
                            <a:srgbClr val="C00000"/>
                          </a:solidFill>
                        </a:rPr>
                        <a:t> </a:t>
                      </a:r>
                      <a:r>
                        <a:rPr baseline="0" b="0" dirty="0" sz="1800" lang="fr-FR" smtClean="0">
                          <a:solidFill>
                            <a:schemeClr val="tx1"/>
                          </a:solidFill>
                        </a:rPr>
                        <a:t>troponine </a:t>
                      </a:r>
                      <a:r>
                        <a:rPr b="1" dirty="0" sz="1800" lang="fr-FR" smtClean="0">
                          <a:solidFill>
                            <a:schemeClr val="tx1"/>
                          </a:solidFill>
                          <a:sym typeface="Symbol" pitchFamily="18" charset="2"/>
                        </a:rPr>
                        <a:t></a:t>
                      </a:r>
                      <a:endParaRPr baseline="0" b="0" dirty="0" lang="fr-FR" smtClean="0"/>
                    </a:p>
                    <a:p>
                      <a:pPr>
                        <a:lnSpc>
                          <a:spcPct val="100000"/>
                        </a:lnSpc>
                      </a:pPr>
                      <a:r>
                        <a:rPr baseline="0" b="0" dirty="0" lang="fr-FR" smtClean="0"/>
                        <a:t> </a:t>
                      </a:r>
                      <a:r>
                        <a:rPr baseline="0" b="0" dirty="0" sz="1600" i="1" lang="fr-FR" smtClean="0">
                          <a:solidFill>
                            <a:srgbClr val="C00000"/>
                          </a:solidFill>
                        </a:rPr>
                        <a:t>Imagerie: </a:t>
                      </a:r>
                      <a:r>
                        <a:rPr baseline="0" b="0" dirty="0" lang="fr-FR" smtClean="0"/>
                        <a:t>anomalie strain ou cinétique segmentaire, FEVG réduite</a:t>
                      </a:r>
                    </a:p>
                    <a:p>
                      <a:pPr>
                        <a:lnSpc>
                          <a:spcPct val="100000"/>
                        </a:lnSpc>
                      </a:pPr>
                      <a:r>
                        <a:rPr baseline="0" b="0" dirty="0" lang="fr-FR" smtClean="0"/>
                        <a:t>                 IRM: œdème myocardique et/ou rehaussement tardif  </a:t>
                      </a:r>
                    </a:p>
                    <a:p>
                      <a:pPr>
                        <a:lnSpc>
                          <a:spcPct val="100000"/>
                        </a:lnSpc>
                      </a:pPr>
                      <a:r>
                        <a:rPr baseline="0" dirty="0" lang="fr-FR" smtClean="0"/>
                        <a:t>  </a:t>
                      </a:r>
                    </a:p>
                    <a:p>
                      <a:r>
                        <a:rPr dirty="0" lang="fr-FR" smtClean="0">
                          <a:solidFill>
                            <a:srgbClr val="C00000"/>
                          </a:solidFill>
                          <a:latin typeface="Calibri" pitchFamily="34" charset="0"/>
                        </a:rPr>
                        <a:t>Dgc</a:t>
                      </a:r>
                      <a:r>
                        <a:rPr baseline="0" dirty="0" lang="fr-FR" smtClean="0">
                          <a:solidFill>
                            <a:srgbClr val="C00000"/>
                          </a:solidFill>
                          <a:latin typeface="Calibri" pitchFamily="34" charset="0"/>
                        </a:rPr>
                        <a:t> certain </a:t>
                      </a:r>
                      <a:r>
                        <a:rPr baseline="0" b="0" dirty="0" lang="fr-FR" smtClean="0">
                          <a:latin typeface="Calibri" pitchFamily="34" charset="0"/>
                        </a:rPr>
                        <a:t>si clinique + preuve IRM ou biopsie endomyocardique (BEM)</a:t>
                      </a:r>
                      <a:endParaRPr baseline="0" b="0" dirty="0" lang="fr-FR" smtClean="0">
                        <a:latin typeface="Calibri"/>
                      </a:endParaRPr>
                    </a:p>
                    <a:p>
                      <a:r>
                        <a:rPr baseline="0" dirty="0" lang="fr-FR" smtClean="0">
                          <a:solidFill>
                            <a:srgbClr val="FA8006"/>
                          </a:solidFill>
                          <a:latin typeface="Calibri"/>
                        </a:rPr>
                        <a:t>Dgc probable </a:t>
                      </a:r>
                      <a:r>
                        <a:rPr baseline="0" b="0" dirty="0" lang="fr-FR" smtClean="0">
                          <a:latin typeface="Calibri"/>
                        </a:rPr>
                        <a:t>si</a:t>
                      </a:r>
                      <a:r>
                        <a:rPr baseline="0" dirty="0" lang="fr-FR" smtClean="0">
                          <a:latin typeface="Calibri"/>
                        </a:rPr>
                        <a:t>  </a:t>
                      </a:r>
                      <a:r>
                        <a:rPr baseline="0" b="0" dirty="0" lang="fr-FR" smtClean="0">
                          <a:latin typeface="Calibri"/>
                        </a:rPr>
                        <a:t>clinique avec au moins 1 critère additionnel</a:t>
                      </a:r>
                    </a:p>
                    <a:p>
                      <a:r>
                        <a:rPr baseline="0" b="0" dirty="0" lang="fr-FR" smtClean="0">
                          <a:latin typeface="Calibri"/>
                        </a:rPr>
                        <a:t>    IRM ou BEM douteuse ou non disponible                   </a:t>
                      </a:r>
                    </a:p>
                    <a:p>
                      <a:pPr>
                        <a:spcAft>
                          <a:spcPts val="600"/>
                        </a:spcAft>
                      </a:pPr>
                      <a:r>
                        <a:rPr baseline="0" dirty="0" lang="fr-FR" smtClean="0">
                          <a:solidFill>
                            <a:srgbClr val="0070C0"/>
                          </a:solidFill>
                          <a:latin typeface="Calibri"/>
                        </a:rPr>
                        <a:t>Dgc peu probable</a:t>
                      </a:r>
                      <a:r>
                        <a:rPr baseline="0" dirty="0" lang="fr-FR" smtClean="0">
                          <a:latin typeface="Calibri"/>
                        </a:rPr>
                        <a:t> </a:t>
                      </a:r>
                      <a:r>
                        <a:rPr baseline="0" b="0" dirty="0" lang="fr-FR" smtClean="0">
                          <a:latin typeface="Calibri"/>
                        </a:rPr>
                        <a:t>si</a:t>
                      </a:r>
                      <a:r>
                        <a:rPr baseline="0" dirty="0" lang="fr-FR" smtClean="0">
                          <a:latin typeface="Calibri"/>
                        </a:rPr>
                        <a:t> </a:t>
                      </a:r>
                      <a:r>
                        <a:rPr baseline="0" b="0" dirty="0" lang="fr-FR" smtClean="0">
                          <a:latin typeface="Calibri"/>
                        </a:rPr>
                        <a:t>présentation clinique seule</a:t>
                      </a:r>
                    </a:p>
                  </a:txBody>
                </a:tc>
              </a:tr>
              <a:tr h="811464">
                <a:tc>
                  <a:txBody>
                    <a:bodyPr/>
                    <a:p>
                      <a:endParaRPr b="0" dirty="0" sz="2000" lang="fr-FR" smtClean="0"/>
                    </a:p>
                  </a:txBody>
                  <a:tcPr>
                    <a:lnB w="12700" cap="flat" cmpd="sng" algn="ctr">
                      <a:noFill/>
                      <a:prstDash val="solid"/>
                      <a:round/>
                      <a:headEnd type="none" w="med" len="med"/>
                      <a:tailEnd type="none" w="med" len="med"/>
                    </a:lnB>
                    <a:solidFill>
                      <a:schemeClr val="bg2">
                        <a:alpha val="20000"/>
                      </a:schemeClr>
                    </a:solidFill>
                  </a:tcPr>
                </a:tc>
                <a:tc>
                  <a:txBody>
                    <a:bodyPr/>
                    <a:p>
                      <a:pPr algn="l" defTabSz="914400" eaLnBrk="1" fontAlgn="auto" hangingPunct="1" indent="0" latinLnBrk="0" marL="0" marR="0" rtl="0">
                        <a:lnSpc>
                          <a:spcPct val="150000"/>
                        </a:lnSpc>
                        <a:spcBef>
                          <a:spcPts val="0"/>
                        </a:spcBef>
                        <a:spcAft>
                          <a:spcPts val="0"/>
                        </a:spcAft>
                        <a:buClrTx/>
                        <a:buSzTx/>
                        <a:buFontTx/>
                        <a:buNone/>
                      </a:pPr>
                      <a:r>
                        <a:rPr b="0" dirty="0" sz="1800" lang="fr-FR" smtClean="0"/>
                        <a:t>Aiguë:</a:t>
                      </a:r>
                      <a:r>
                        <a:rPr baseline="0" b="0" dirty="0" sz="1800" lang="fr-FR" smtClean="0"/>
                        <a:t> </a:t>
                      </a:r>
                      <a:r>
                        <a:rPr b="0" dirty="0" sz="1800" lang="fr-FR" smtClean="0">
                          <a:latin typeface="Calibri"/>
                        </a:rPr>
                        <a:t>≤ 4 semaines</a:t>
                      </a:r>
                    </a:p>
                    <a:p>
                      <a:pPr algn="l" defTabSz="914400" eaLnBrk="1" fontAlgn="auto" hangingPunct="1" indent="0" latinLnBrk="0" marL="0" marR="0" rtl="0">
                        <a:lnSpc>
                          <a:spcPct val="100000"/>
                        </a:lnSpc>
                        <a:spcBef>
                          <a:spcPts val="0"/>
                        </a:spcBef>
                        <a:spcAft>
                          <a:spcPts val="0"/>
                        </a:spcAft>
                        <a:buClrTx/>
                        <a:buSzTx/>
                        <a:buFontTx/>
                        <a:buNone/>
                      </a:pPr>
                      <a:r>
                        <a:rPr b="0" dirty="0" sz="1800" i="1" lang="fr-FR" smtClean="0">
                          <a:solidFill>
                            <a:srgbClr val="FF0000"/>
                          </a:solidFill>
                          <a:latin typeface="Calibri"/>
                        </a:rPr>
                        <a:t>Fulminante</a:t>
                      </a:r>
                      <a:r>
                        <a:rPr b="0" dirty="0" sz="1800" lang="fr-FR" smtClean="0">
                          <a:latin typeface="Calibri"/>
                        </a:rPr>
                        <a:t>: installation</a:t>
                      </a:r>
                      <a:r>
                        <a:rPr baseline="0" b="0" dirty="0" sz="1800" lang="fr-FR" smtClean="0">
                          <a:latin typeface="Calibri"/>
                        </a:rPr>
                        <a:t>  aigue + instabilité HD (TRT inotrope) ± TV/ MS</a:t>
                      </a:r>
                      <a:endParaRPr b="0" dirty="0" sz="1800" lang="fr-FR" smtClean="0"/>
                    </a:p>
                  </a:txBody>
                </a:tc>
              </a:tr>
              <a:tr h="551295">
                <a:tc>
                  <a:txBody>
                    <a:bodyPr/>
                    <a:p>
                      <a:r>
                        <a:rPr dirty="0" sz="2000" lang="fr-FR" smtClean="0"/>
                        <a:t> </a:t>
                      </a:r>
                      <a:endParaRPr dirty="0" sz="2000" lang="fr-F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p>
                      <a:pPr>
                        <a:lnSpc>
                          <a:spcPct val="150000"/>
                        </a:lnSpc>
                      </a:pPr>
                      <a:r>
                        <a:rPr dirty="0" sz="1800" lang="fr-FR" smtClean="0"/>
                        <a:t>Subaigüe; persistante: </a:t>
                      </a:r>
                      <a:r>
                        <a:rPr b="1" dirty="0" lang="fr-FR" smtClean="0">
                          <a:sym typeface="Symbol"/>
                        </a:rPr>
                        <a:t></a:t>
                      </a:r>
                      <a:r>
                        <a:rPr dirty="0" lang="fr-FR" smtClean="0">
                          <a:sym typeface="Symbol"/>
                        </a:rPr>
                        <a:t> </a:t>
                      </a:r>
                      <a:r>
                        <a:rPr baseline="0" dirty="0" lang="fr-FR" smtClean="0"/>
                        <a:t>4 semaines et </a:t>
                      </a:r>
                      <a:r>
                        <a:rPr baseline="0" b="1" dirty="0" lang="fr-FR" smtClean="0">
                          <a:latin typeface="Calibri"/>
                        </a:rPr>
                        <a:t>≤</a:t>
                      </a:r>
                      <a:r>
                        <a:rPr baseline="0" dirty="0" lang="fr-FR" smtClean="0"/>
                        <a:t> 3 mois, sans rémission</a:t>
                      </a:r>
                      <a:endParaRPr dirty="0" lang="fr-FR"/>
                    </a:p>
                  </a:txBody>
                </a:tc>
              </a:tr>
              <a:tr h="499966">
                <a:tc>
                  <a:txBody>
                    <a:bodyPr/>
                    <a:p>
                      <a:endParaRPr dirty="0" sz="1800" lang="fr-F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alpha val="20000"/>
                      </a:schemeClr>
                    </a:solidFill>
                  </a:tcPr>
                </a:tc>
                <a:tc>
                  <a:txBody>
                    <a:bodyPr/>
                    <a:p>
                      <a:pPr algn="l" defTabSz="914400" eaLnBrk="1" fontAlgn="auto" hangingPunct="1" indent="0" latinLnBrk="0" marL="0" marR="0" rtl="0">
                        <a:lnSpc>
                          <a:spcPct val="150000"/>
                        </a:lnSpc>
                        <a:spcBef>
                          <a:spcPts val="0"/>
                        </a:spcBef>
                        <a:spcAft>
                          <a:spcPts val="0"/>
                        </a:spcAft>
                        <a:buClrTx/>
                        <a:buSzTx/>
                        <a:buFontTx/>
                        <a:buNone/>
                      </a:pPr>
                      <a:r>
                        <a:rPr dirty="0" sz="1800" lang="fr-FR" smtClean="0"/>
                        <a:t>Récidivante: récidive</a:t>
                      </a:r>
                      <a:r>
                        <a:rPr dirty="0" lang="fr-FR" smtClean="0"/>
                        <a:t> après rémission clinique d’un 1</a:t>
                      </a:r>
                      <a:r>
                        <a:rPr baseline="30000" dirty="0" lang="fr-FR" smtClean="0"/>
                        <a:t>er</a:t>
                      </a:r>
                      <a:r>
                        <a:rPr dirty="0" lang="fr-FR" smtClean="0"/>
                        <a:t> épisode</a:t>
                      </a:r>
                      <a:endParaRPr dirty="0" lang="fr-FR"/>
                    </a:p>
                  </a:txBody>
                </a:tc>
              </a:tr>
              <a:tr h="551295">
                <a:tc>
                  <a:txBody>
                    <a:bodyPr/>
                    <a:p>
                      <a:endParaRPr dirty="0" sz="2000" lang="fr-FR"/>
                    </a:p>
                  </a:txBody>
                  <a:tcPr>
                    <a:lnT w="12700" cap="flat" cmpd="sng" algn="ctr">
                      <a:noFill/>
                      <a:prstDash val="solid"/>
                      <a:round/>
                      <a:headEnd type="none" w="med" len="med"/>
                      <a:tailEnd type="none" w="med" len="med"/>
                    </a:lnT>
                  </a:tcPr>
                </a:tc>
                <a:tc>
                  <a:txBody>
                    <a:bodyPr/>
                    <a:p>
                      <a:pPr algn="l" defTabSz="914400" eaLnBrk="1" fontAlgn="auto" hangingPunct="1" indent="0" latinLnBrk="0" marL="0" marR="0" rtl="0">
                        <a:lnSpc>
                          <a:spcPct val="150000"/>
                        </a:lnSpc>
                        <a:spcBef>
                          <a:spcPts val="0"/>
                        </a:spcBef>
                        <a:spcAft>
                          <a:spcPts val="0"/>
                        </a:spcAft>
                        <a:buClrTx/>
                        <a:buSzTx/>
                        <a:buFontTx/>
                        <a:buNone/>
                      </a:pPr>
                      <a:r>
                        <a:rPr dirty="0" sz="1800" lang="fr-FR" smtClean="0"/>
                        <a:t>Chronique: </a:t>
                      </a:r>
                      <a:r>
                        <a:rPr dirty="0" lang="fr-FR" smtClean="0"/>
                        <a:t>Evolution &gt; </a:t>
                      </a:r>
                      <a:r>
                        <a:rPr baseline="0" dirty="0" lang="fr-FR" smtClean="0"/>
                        <a:t>3 mois          CMD (fibrose) (</a:t>
                      </a:r>
                      <a:r>
                        <a:rPr baseline="0" dirty="0" lang="fr-FR" err="1" smtClean="0"/>
                        <a:t>Tpn</a:t>
                      </a:r>
                      <a:r>
                        <a:rPr baseline="0" dirty="0" lang="fr-FR" smtClean="0"/>
                        <a:t> non élevée)</a:t>
                      </a:r>
                      <a:endParaRPr dirty="0" lang="fr-FR"/>
                    </a:p>
                  </a:txBody>
                </a:tc>
              </a:tr>
            </a:tbl>
          </a:graphicData>
        </a:graphic>
      </p:graphicFrame>
      <p:sp>
        <p:nvSpPr>
          <p:cNvPr id="1048794" name="ZoneTexte 4"/>
          <p:cNvSpPr txBox="1"/>
          <p:nvPr/>
        </p:nvSpPr>
        <p:spPr>
          <a:xfrm>
            <a:off x="179512" y="4830251"/>
            <a:ext cx="1800200" cy="802640"/>
          </a:xfrm>
          <a:prstGeom prst="rect"/>
          <a:noFill/>
        </p:spPr>
        <p:txBody>
          <a:bodyPr rtlCol="0" wrap="square">
            <a:spAutoFit/>
          </a:bodyPr>
          <a:p>
            <a:pPr algn="ctr"/>
            <a:r>
              <a:rPr b="1" dirty="0" sz="2400" lang="fr-FR" smtClean="0">
                <a:latin typeface="+mn-lt"/>
              </a:rPr>
              <a:t>Stades évolutifs</a:t>
            </a:r>
            <a:endParaRPr b="1" dirty="0" sz="2400" lang="fr-FR">
              <a:latin typeface="+mn-lt"/>
            </a:endParaRPr>
          </a:p>
        </p:txBody>
      </p:sp>
      <p:sp>
        <p:nvSpPr>
          <p:cNvPr id="1048795" name="ZoneTexte 30"/>
          <p:cNvSpPr txBox="1">
            <a:spLocks noChangeArrowheads="1"/>
          </p:cNvSpPr>
          <p:nvPr/>
        </p:nvSpPr>
        <p:spPr bwMode="auto">
          <a:xfrm>
            <a:off x="7308850" y="6433591"/>
            <a:ext cx="1079573" cy="307777"/>
          </a:xfrm>
          <a:prstGeom prst="rect"/>
          <a:noFill/>
          <a:ln w="9525">
            <a:noFill/>
            <a:miter lim="800000"/>
            <a:headEnd/>
            <a:tailEnd/>
          </a:ln>
        </p:spPr>
        <p:txBody>
          <a:bodyPr wrap="square">
            <a:spAutoFit/>
          </a:bodyPr>
          <a:p>
            <a:r>
              <a:rPr dirty="0" sz="1400" lang="fr-FR"/>
              <a:t>Tableau </a:t>
            </a:r>
            <a:r>
              <a:rPr dirty="0" sz="1400" lang="fr-FR" smtClean="0"/>
              <a:t>V</a:t>
            </a:r>
            <a:endParaRPr dirty="0" sz="1400" lang="fr-FR"/>
          </a:p>
        </p:txBody>
      </p:sp>
      <p:cxnSp>
        <p:nvCxnSpPr>
          <p:cNvPr id="3145741" name="Connecteur droit avec flèche 6"/>
          <p:cNvCxnSpPr>
            <a:cxnSpLocks/>
          </p:cNvCxnSpPr>
          <p:nvPr/>
        </p:nvCxnSpPr>
        <p:spPr>
          <a:xfrm>
            <a:off x="5004048" y="6237312"/>
            <a:ext cx="360040" cy="0"/>
          </a:xfrm>
          <a:prstGeom prst="straightConnector1"/>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799" name="ZoneTexte 2"/>
          <p:cNvSpPr txBox="1"/>
          <p:nvPr/>
        </p:nvSpPr>
        <p:spPr>
          <a:xfrm>
            <a:off x="7020272" y="6330806"/>
            <a:ext cx="1064715" cy="338554"/>
          </a:xfrm>
          <a:prstGeom prst="rect"/>
          <a:noFill/>
        </p:spPr>
        <p:txBody>
          <a:bodyPr rtlCol="0" wrap="none">
            <a:spAutoFit/>
          </a:bodyPr>
          <a:p>
            <a:r>
              <a:rPr b="1" dirty="0" sz="1600" lang="fr-FR" smtClean="0"/>
              <a:t>ESC 2025</a:t>
            </a:r>
            <a:endParaRPr b="1" dirty="0" sz="1600" lang="fr-FR"/>
          </a:p>
        </p:txBody>
      </p:sp>
      <p:pic>
        <p:nvPicPr>
          <p:cNvPr id="2097173" name="Picture 3"/>
          <p:cNvPicPr>
            <a:picLocks noChangeAspect="1" noChangeArrowheads="1"/>
          </p:cNvPicPr>
          <p:nvPr/>
        </p:nvPicPr>
        <p:blipFill>
          <a:blip xmlns:r="http://schemas.openxmlformats.org/officeDocument/2006/relationships" r:embed="rId1" cstate="print"/>
          <a:srcRect/>
          <a:stretch>
            <a:fillRect/>
          </a:stretch>
        </p:blipFill>
        <p:spPr bwMode="auto">
          <a:xfrm>
            <a:off x="899592" y="116632"/>
            <a:ext cx="7504986" cy="6204295"/>
          </a:xfrm>
          <a:prstGeom prst="rect"/>
          <a:ln>
            <a:noFill/>
          </a:ln>
          <a:effectLst>
            <a:outerShdw algn="tl" blurRad="292100" dir="2700000" dist="139700" rotWithShape="0">
              <a:srgbClr val="333333">
                <a:alpha val="65000"/>
              </a:srgbClr>
            </a:outerShdw>
          </a:effectLst>
        </p:spPr>
      </p:pic>
      <p:sp>
        <p:nvSpPr>
          <p:cNvPr id="1048800" name="Rectangle à coins arrondis 3"/>
          <p:cNvSpPr/>
          <p:nvPr/>
        </p:nvSpPr>
        <p:spPr>
          <a:xfrm>
            <a:off x="971600" y="4077072"/>
            <a:ext cx="7200800" cy="2232248"/>
          </a:xfrm>
          <a:prstGeom prst="roundRect"/>
          <a:noFill/>
          <a:ln w="38100">
            <a:solidFill>
              <a:srgbClr val="FF9900"/>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lang="fr-F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cond evt="onBegin" delay="0">
                          <p:tn val="2"/>
                        </p:cond>
                      </p:stCondLst>
                      <p:childTnLst>
                        <p:par>
                          <p:cTn fill="hold" id="4">
                            <p:stCondLst>
                              <p:cond delay="0"/>
                            </p:stCondLst>
                            <p:childTnLst>
                              <p:par>
                                <p:cTn fill="hold" grpId="0" id="5" nodeType="withEffect" presetClass="entr" presetID="1" presetSubtype="0">
                                  <p:stCondLst>
                                    <p:cond delay="0"/>
                                  </p:stCondLst>
                                  <p:childTnLst>
                                    <p:set>
                                      <p:cBhvr>
                                        <p:cTn dur="1" fill="hold" id="6">
                                          <p:stCondLst>
                                            <p:cond delay="0"/>
                                          </p:stCondLst>
                                        </p:cTn>
                                        <p:tgtEl>
                                          <p:spTgt spid="1048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0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8804" name="Titre 1"/>
          <p:cNvSpPr>
            <a:spLocks noGrp="1"/>
          </p:cNvSpPr>
          <p:nvPr>
            <p:ph type="title"/>
          </p:nvPr>
        </p:nvSpPr>
        <p:spPr/>
        <p:txBody>
          <a:bodyPr/>
          <a:p>
            <a:pPr algn="ctr"/>
            <a:r>
              <a:rPr dirty="0" lang="fr-FR" smtClean="0">
                <a:solidFill>
                  <a:srgbClr val="800000"/>
                </a:solidFill>
                <a:effectLst/>
              </a:rPr>
              <a:t>IX- TRAITEMENT</a:t>
            </a:r>
            <a:endParaRPr dirty="0" lang="fr-FR"/>
          </a:p>
        </p:txBody>
      </p:sp>
      <p:sp>
        <p:nvSpPr>
          <p:cNvPr id="1048805" name="Espace réservé du contenu 2"/>
          <p:cNvSpPr>
            <a:spLocks noGrp="1"/>
          </p:cNvSpPr>
          <p:nvPr>
            <p:ph idx="1"/>
          </p:nvPr>
        </p:nvSpPr>
        <p:spPr>
          <a:xfrm>
            <a:off x="179512" y="1554162"/>
            <a:ext cx="8686800" cy="4525963"/>
          </a:xfrm>
        </p:spPr>
        <p:txBody>
          <a:bodyPr>
            <a:normAutofit fontScale="93750" lnSpcReduction="20000"/>
          </a:bodyPr>
          <a:p>
            <a:r>
              <a:rPr dirty="0" lang="fr-FR" smtClean="0">
                <a:solidFill>
                  <a:schemeClr val="tx1"/>
                </a:solidFill>
              </a:rPr>
              <a:t>Objectifs: </a:t>
            </a:r>
          </a:p>
          <a:p>
            <a:pPr>
              <a:spcBef>
                <a:spcPts val="0"/>
              </a:spcBef>
              <a:buNone/>
            </a:pPr>
            <a:r>
              <a:rPr dirty="0" lang="fr-FR" smtClean="0">
                <a:solidFill>
                  <a:schemeClr val="tx1"/>
                </a:solidFill>
              </a:rPr>
              <a:t>   - contrôle des symptômes</a:t>
            </a:r>
          </a:p>
          <a:p>
            <a:pPr>
              <a:buNone/>
            </a:pPr>
            <a:r>
              <a:rPr dirty="0" lang="fr-FR" smtClean="0">
                <a:solidFill>
                  <a:schemeClr val="tx1"/>
                </a:solidFill>
              </a:rPr>
              <a:t>   - prévention des complications: récidives, décès</a:t>
            </a:r>
          </a:p>
          <a:p>
            <a:pPr>
              <a:lnSpc>
                <a:spcPct val="150000"/>
              </a:lnSpc>
            </a:pPr>
            <a:r>
              <a:rPr dirty="0" lang="fr-FR" smtClean="0">
                <a:solidFill>
                  <a:schemeClr val="tx1"/>
                </a:solidFill>
              </a:rPr>
              <a:t>Cibles: </a:t>
            </a:r>
          </a:p>
          <a:p>
            <a:pPr>
              <a:spcBef>
                <a:spcPts val="0"/>
              </a:spcBef>
              <a:buNone/>
            </a:pPr>
            <a:r>
              <a:rPr dirty="0" lang="fr-FR" smtClean="0">
                <a:solidFill>
                  <a:schemeClr val="tx1"/>
                </a:solidFill>
              </a:rPr>
              <a:t>   - agents infectieux, inflammation</a:t>
            </a:r>
          </a:p>
          <a:p>
            <a:pPr>
              <a:buNone/>
            </a:pPr>
            <a:r>
              <a:rPr dirty="0" lang="fr-FR" smtClean="0">
                <a:solidFill>
                  <a:schemeClr val="tx1"/>
                </a:solidFill>
              </a:rPr>
              <a:t>   - désordres immunitaires</a:t>
            </a:r>
          </a:p>
          <a:p>
            <a:pPr>
              <a:buNone/>
            </a:pPr>
            <a:r>
              <a:rPr dirty="0" lang="fr-FR" smtClean="0">
                <a:solidFill>
                  <a:schemeClr val="tx1"/>
                </a:solidFill>
              </a:rPr>
              <a:t>   - DVG, arythmies, IC si myocardite</a:t>
            </a:r>
          </a:p>
          <a:p>
            <a:pPr>
              <a:buNone/>
            </a:pPr>
            <a:r>
              <a:rPr dirty="0" lang="fr-FR" smtClean="0">
                <a:solidFill>
                  <a:schemeClr val="tx1"/>
                </a:solidFill>
              </a:rPr>
              <a:t>   - récidives, tamponnade, constriction si péricardite</a:t>
            </a:r>
          </a:p>
        </p:txBody>
      </p:sp>
    </p:spTree>
  </p:cSld>
  <p:clrMapOvr>
    <a:masterClrMapping/>
  </p:clrMapOvr>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57" name=""/>
        <p:cNvGrpSpPr/>
        <p:nvPr/>
      </p:nvGrpSpPr>
      <p:grpSpPr>
        <a:xfrm>
          <a:off x="0" y="0"/>
          <a:ext cx="0" cy="0"/>
          <a:chOff x="0" y="0"/>
          <a:chExt cx="0" cy="0"/>
        </a:xfrm>
      </p:grpSpPr>
      <p:sp>
        <p:nvSpPr>
          <p:cNvPr id="1048809" name="Titre 1"/>
          <p:cNvSpPr>
            <a:spLocks noGrp="1"/>
          </p:cNvSpPr>
          <p:nvPr>
            <p:ph type="title"/>
          </p:nvPr>
        </p:nvSpPr>
        <p:spPr>
          <a:xfrm>
            <a:off x="304800" y="260648"/>
            <a:ext cx="8686800" cy="720080"/>
          </a:xfrm>
        </p:spPr>
        <p:txBody>
          <a:bodyPr>
            <a:noAutofit/>
          </a:bodyPr>
          <a:p>
            <a:pPr algn="ctr"/>
            <a:r>
              <a:rPr cap="none" dirty="0" sz="2800" lang="fr-FR" smtClean="0">
                <a:solidFill>
                  <a:srgbClr val="FA8006"/>
                </a:solidFill>
                <a:effectLst/>
                <a:latin typeface="+mn-lt"/>
              </a:rPr>
              <a:t>A- Mesures générales communes</a:t>
            </a:r>
            <a:endParaRPr cap="none" dirty="0" sz="2800" lang="fr-FR">
              <a:latin typeface="+mn-lt"/>
            </a:endParaRPr>
          </a:p>
        </p:txBody>
      </p:sp>
      <p:sp>
        <p:nvSpPr>
          <p:cNvPr id="1048810" name="Espace réservé du contenu 2"/>
          <p:cNvSpPr>
            <a:spLocks noGrp="1"/>
          </p:cNvSpPr>
          <p:nvPr>
            <p:ph idx="1"/>
          </p:nvPr>
        </p:nvSpPr>
        <p:spPr>
          <a:xfrm>
            <a:off x="179512" y="1137915"/>
            <a:ext cx="8812088" cy="5099397"/>
          </a:xfrm>
        </p:spPr>
        <p:txBody>
          <a:bodyPr>
            <a:normAutofit/>
          </a:bodyPr>
          <a:p>
            <a:r>
              <a:rPr b="1" dirty="0" sz="2400" lang="fr-FR" smtClean="0">
                <a:solidFill>
                  <a:srgbClr val="C00000"/>
                </a:solidFill>
              </a:rPr>
              <a:t>Repos:</a:t>
            </a:r>
            <a:r>
              <a:rPr dirty="0" sz="2400" lang="fr-FR" smtClean="0">
                <a:solidFill>
                  <a:srgbClr val="C00000"/>
                </a:solidFill>
              </a:rPr>
              <a:t> </a:t>
            </a:r>
            <a:r>
              <a:rPr dirty="0" sz="2400" lang="fr-FR" smtClean="0">
                <a:solidFill>
                  <a:schemeClr val="tx1"/>
                </a:solidFill>
              </a:rPr>
              <a:t> jusqu’à normalisation clinique, ECG, CRP et écho, et adapté selon la gravité</a:t>
            </a:r>
          </a:p>
          <a:p>
            <a:pPr>
              <a:buNone/>
            </a:pPr>
            <a:r>
              <a:rPr dirty="0" sz="2400" lang="fr-FR" smtClean="0">
                <a:solidFill>
                  <a:schemeClr val="tx1"/>
                </a:solidFill>
              </a:rPr>
              <a:t>  </a:t>
            </a:r>
            <a:r>
              <a:rPr dirty="0" sz="2400" lang="fr-FR" smtClean="0">
                <a:solidFill>
                  <a:schemeClr val="tx1"/>
                </a:solidFill>
                <a:sym typeface="Symbol"/>
              </a:rPr>
              <a:t></a:t>
            </a:r>
            <a:r>
              <a:rPr dirty="0" sz="2400" lang="fr-FR" smtClean="0">
                <a:solidFill>
                  <a:srgbClr val="C00000"/>
                </a:solidFill>
                <a:sym typeface="Symbol"/>
              </a:rPr>
              <a:t> </a:t>
            </a:r>
            <a:r>
              <a:rPr dirty="0" sz="2400" lang="fr-FR" smtClean="0">
                <a:solidFill>
                  <a:schemeClr val="tx1"/>
                </a:solidFill>
              </a:rPr>
              <a:t>repos 1 mois minimum, reprise progressive individualisée</a:t>
            </a:r>
          </a:p>
          <a:p>
            <a:pPr>
              <a:buNone/>
            </a:pPr>
            <a:r>
              <a:rPr dirty="0" sz="2400" lang="fr-FR" smtClean="0">
                <a:solidFill>
                  <a:schemeClr val="tx1"/>
                </a:solidFill>
              </a:rPr>
              <a:t>  </a:t>
            </a:r>
            <a:r>
              <a:rPr dirty="0" sz="2400" lang="fr-FR" smtClean="0">
                <a:solidFill>
                  <a:schemeClr val="tx1"/>
                </a:solidFill>
                <a:sym typeface="Symbol"/>
              </a:rPr>
              <a:t> myocardite: pas de sport intensif avant 3 à 6 mois </a:t>
            </a:r>
          </a:p>
          <a:p>
            <a:pPr>
              <a:buNone/>
            </a:pPr>
            <a:r>
              <a:rPr dirty="0" sz="2400" lang="fr-FR" smtClean="0">
                <a:solidFill>
                  <a:schemeClr val="tx1"/>
                </a:solidFill>
                <a:sym typeface="Symbol"/>
              </a:rPr>
              <a:t> </a:t>
            </a:r>
          </a:p>
          <a:p>
            <a:r>
              <a:rPr b="1" dirty="0" sz="2400" lang="fr-FR" smtClean="0">
                <a:solidFill>
                  <a:srgbClr val="C00000"/>
                </a:solidFill>
              </a:rPr>
              <a:t>Contrôle : </a:t>
            </a:r>
          </a:p>
          <a:p>
            <a:pPr>
              <a:buNone/>
            </a:pPr>
            <a:r>
              <a:rPr b="1" dirty="0" sz="2400" lang="fr-FR" smtClean="0">
                <a:solidFill>
                  <a:schemeClr val="tx1"/>
                </a:solidFill>
                <a:latin typeface="Calibri"/>
                <a:sym typeface="Symbol"/>
              </a:rPr>
              <a:t>   </a:t>
            </a:r>
            <a:r>
              <a:rPr dirty="0" sz="2400" lang="fr-FR" smtClean="0">
                <a:solidFill>
                  <a:schemeClr val="tx1"/>
                </a:solidFill>
                <a:latin typeface="Calibri"/>
                <a:sym typeface="Symbol"/>
              </a:rPr>
              <a:t>≤ 6 mois: clinique, biomarqueurs, ECG, échocardio, Holter, test d’effort selon indication, </a:t>
            </a:r>
            <a:r>
              <a:rPr b="1" dirty="0" sz="2400" lang="fr-FR" smtClean="0">
                <a:solidFill>
                  <a:schemeClr val="tx1"/>
                </a:solidFill>
                <a:latin typeface="Calibri"/>
                <a:sym typeface="Symbol"/>
              </a:rPr>
              <a:t>IRM</a:t>
            </a:r>
            <a:r>
              <a:rPr dirty="0" sz="2400" lang="fr-FR" smtClean="0">
                <a:solidFill>
                  <a:schemeClr val="tx1"/>
                </a:solidFill>
                <a:latin typeface="Calibri"/>
                <a:sym typeface="Symbol"/>
              </a:rPr>
              <a:t> (guérison? activité  inflammatoire?)  </a:t>
            </a:r>
          </a:p>
          <a:p>
            <a:pPr>
              <a:buNone/>
            </a:pPr>
            <a:r>
              <a:rPr dirty="0" sz="2400" lang="fr-FR" smtClean="0">
                <a:solidFill>
                  <a:schemeClr val="tx1"/>
                </a:solidFill>
                <a:latin typeface="Calibri"/>
                <a:sym typeface="Symbol"/>
              </a:rPr>
              <a:t>   suivi &gt; 6 mois:</a:t>
            </a:r>
          </a:p>
          <a:p>
            <a:pPr>
              <a:buNone/>
            </a:pPr>
            <a:r>
              <a:rPr dirty="0" sz="2400" lang="fr-FR" smtClean="0">
                <a:solidFill>
                  <a:schemeClr val="tx1"/>
                </a:solidFill>
                <a:latin typeface="Calibri"/>
                <a:sym typeface="Symbol"/>
              </a:rPr>
              <a:t>        - formes compliquées</a:t>
            </a:r>
          </a:p>
          <a:p>
            <a:pPr>
              <a:buNone/>
            </a:pPr>
            <a:r>
              <a:rPr dirty="0" sz="2400" lang="fr-FR" smtClean="0">
                <a:solidFill>
                  <a:schemeClr val="tx1"/>
                </a:solidFill>
                <a:latin typeface="Calibri"/>
                <a:sym typeface="Symbol"/>
              </a:rPr>
              <a:t>        - péricardite incessante/récidivante</a:t>
            </a:r>
          </a:p>
          <a:p>
            <a:pPr>
              <a:buNone/>
            </a:pPr>
            <a:endParaRPr dirty="0" sz="2400" lang="fr-FR" smtClean="0">
              <a:solidFill>
                <a:schemeClr val="tx1"/>
              </a:solidFill>
              <a:latin typeface="Calibri"/>
              <a:sym typeface="Symbol"/>
            </a:endParaRPr>
          </a:p>
          <a:p>
            <a:pPr>
              <a:buNone/>
            </a:pPr>
            <a:endParaRPr dirty="0" sz="2400" lang="fr-FR" smtClean="0">
              <a:solidFill>
                <a:schemeClr val="tx1"/>
              </a:solidFill>
              <a:sym typeface="Symbol"/>
            </a:endParaRPr>
          </a:p>
          <a:p>
            <a:pPr>
              <a:buNone/>
            </a:pPr>
            <a:endParaRPr dirty="0" sz="2400" lang="fr-FR" smtClean="0">
              <a:solidFill>
                <a:schemeClr val="tx1"/>
              </a:solidFill>
              <a:sym typeface="Symbol"/>
            </a:endParaRPr>
          </a:p>
        </p:txBody>
      </p:sp>
    </p:spTree>
  </p:cSld>
  <p:clrMapOvr>
    <a:masterClrMapping/>
  </p:clrMapOvr>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60" name=""/>
        <p:cNvGrpSpPr/>
        <p:nvPr/>
      </p:nvGrpSpPr>
      <p:grpSpPr>
        <a:xfrm>
          <a:off x="0" y="0"/>
          <a:ext cx="0" cy="0"/>
          <a:chOff x="0" y="0"/>
          <a:chExt cx="0" cy="0"/>
        </a:xfrm>
      </p:grpSpPr>
      <p:sp>
        <p:nvSpPr>
          <p:cNvPr id="1048814" name="Titre 1"/>
          <p:cNvSpPr>
            <a:spLocks noGrp="1"/>
          </p:cNvSpPr>
          <p:nvPr>
            <p:ph type="title"/>
          </p:nvPr>
        </p:nvSpPr>
        <p:spPr>
          <a:xfrm>
            <a:off x="304800" y="1366664"/>
            <a:ext cx="8686800" cy="838200"/>
          </a:xfrm>
        </p:spPr>
        <p:txBody>
          <a:bodyPr>
            <a:normAutofit fontScale="90323"/>
          </a:bodyPr>
          <a:p>
            <a:pPr algn="ctr"/>
            <a:r>
              <a:rPr b="1" dirty="0" lang="fr-FR" smtClean="0">
                <a:solidFill>
                  <a:srgbClr val="FF9900"/>
                </a:solidFill>
                <a:effectLst/>
                <a:latin typeface="+mn-lt"/>
              </a:rPr>
              <a:t> B- TRAITEMENT des péricardites</a:t>
            </a:r>
            <a:br>
              <a:rPr b="1" dirty="0" lang="fr-FR" smtClean="0">
                <a:solidFill>
                  <a:srgbClr val="FF9900"/>
                </a:solidFill>
                <a:effectLst/>
                <a:latin typeface="+mn-lt"/>
              </a:rPr>
            </a:br>
            <a:r>
              <a:rPr b="1" dirty="0" lang="fr-FR" smtClean="0">
                <a:solidFill>
                  <a:srgbClr val="FF9900"/>
                </a:solidFill>
                <a:effectLst/>
                <a:latin typeface="+mn-lt"/>
              </a:rPr>
              <a:t/>
            </a:r>
            <a:br>
              <a:rPr b="1" dirty="0" lang="fr-FR" smtClean="0">
                <a:solidFill>
                  <a:srgbClr val="FF9900"/>
                </a:solidFill>
                <a:effectLst/>
                <a:latin typeface="+mn-lt"/>
              </a:rPr>
            </a:br>
            <a:r>
              <a:rPr b="1" dirty="0" lang="fr-FR" smtClean="0">
                <a:solidFill>
                  <a:srgbClr val="FF9900"/>
                </a:solidFill>
                <a:effectLst/>
                <a:latin typeface="+mn-lt"/>
              </a:rPr>
              <a:t/>
            </a:r>
            <a:br>
              <a:rPr b="1" dirty="0" lang="fr-FR" smtClean="0">
                <a:solidFill>
                  <a:srgbClr val="FF9900"/>
                </a:solidFill>
                <a:effectLst/>
                <a:latin typeface="+mn-lt"/>
              </a:rPr>
            </a:br>
            <a:r>
              <a:rPr b="1" dirty="0" sz="3100" i="1" lang="fr-FR" smtClean="0">
                <a:solidFill>
                  <a:srgbClr val="FF9900"/>
                </a:solidFill>
                <a:effectLst/>
                <a:latin typeface="+mn-lt"/>
              </a:rPr>
              <a:t>1- tri des patients</a:t>
            </a:r>
            <a:endParaRPr b="1" dirty="0" sz="3200" i="1" lang="fr-FR">
              <a:solidFill>
                <a:srgbClr val="FF9900"/>
              </a:solidFill>
              <a:effectLst/>
              <a:latin typeface="+mn-lt"/>
            </a:endParaRPr>
          </a:p>
        </p:txBody>
      </p:sp>
    </p:spTree>
  </p:cSld>
  <p:clrMapOvr>
    <a:masterClrMapping/>
  </p:clrMapOvr>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cxnSp>
        <p:nvCxnSpPr>
          <p:cNvPr id="3145742" name="Connecteur en angle 114"/>
          <p:cNvCxnSpPr>
            <a:cxnSpLocks/>
            <a:stCxn id="1048819" idx="3"/>
          </p:cNvCxnSpPr>
          <p:nvPr/>
        </p:nvCxnSpPr>
        <p:spPr>
          <a:xfrm>
            <a:off x="5364088" y="2204864"/>
            <a:ext cx="2304256" cy="3024336"/>
          </a:xfrm>
          <a:prstGeom prst="bentConnector2"/>
          <a:ln w="285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48818" name="ZoneTexte 4"/>
          <p:cNvSpPr txBox="1"/>
          <p:nvPr/>
        </p:nvSpPr>
        <p:spPr>
          <a:xfrm>
            <a:off x="1547664" y="332655"/>
            <a:ext cx="6048672" cy="358140"/>
          </a:xfrm>
          <a:prstGeom prst="rect"/>
          <a:solidFill>
            <a:schemeClr val="tx2">
              <a:lumMod val="20000"/>
              <a:lumOff val="80000"/>
            </a:schemeClr>
          </a:solidFill>
          <a:effectLst>
            <a:outerShdw algn="br" blurRad="50800" dir="13500000" dist="38100" rotWithShape="0">
              <a:prstClr val="black">
                <a:alpha val="40000"/>
              </a:prstClr>
            </a:outerShdw>
            <a:softEdge rad="12700"/>
          </a:effectLst>
        </p:spPr>
        <p:txBody>
          <a:bodyPr rtlCol="0" wrap="square">
            <a:spAutoFit/>
          </a:bodyPr>
          <a:p>
            <a:pPr algn="ctr"/>
            <a:r>
              <a:rPr dirty="0" lang="fr-FR" smtClean="0"/>
              <a:t>Patient avec symptômes de péricardite</a:t>
            </a:r>
            <a:endParaRPr dirty="0" lang="fr-FR"/>
          </a:p>
        </p:txBody>
      </p:sp>
      <p:sp>
        <p:nvSpPr>
          <p:cNvPr id="1048819" name="ZoneTexte 6"/>
          <p:cNvSpPr txBox="1"/>
          <p:nvPr/>
        </p:nvSpPr>
        <p:spPr>
          <a:xfrm>
            <a:off x="3707904" y="2060848"/>
            <a:ext cx="1656184" cy="44704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200" lang="fr-FR" smtClean="0"/>
              <a:t>Critères de haut risque</a:t>
            </a:r>
            <a:endParaRPr dirty="0" sz="1200" lang="fr-FR"/>
          </a:p>
        </p:txBody>
      </p:sp>
      <p:sp>
        <p:nvSpPr>
          <p:cNvPr id="1048820" name="ZoneTexte 7"/>
          <p:cNvSpPr txBox="1"/>
          <p:nvPr/>
        </p:nvSpPr>
        <p:spPr>
          <a:xfrm>
            <a:off x="3923928" y="2852936"/>
            <a:ext cx="184731" cy="369332"/>
          </a:xfrm>
          <a:prstGeom prst="rect"/>
          <a:noFill/>
        </p:spPr>
        <p:txBody>
          <a:bodyPr rtlCol="0" wrap="none">
            <a:spAutoFit/>
          </a:bodyPr>
          <a:p>
            <a:endParaRPr dirty="0" lang="fr-FR"/>
          </a:p>
        </p:txBody>
      </p:sp>
      <p:sp>
        <p:nvSpPr>
          <p:cNvPr id="1048821" name="ZoneTexte 9"/>
          <p:cNvSpPr txBox="1"/>
          <p:nvPr/>
        </p:nvSpPr>
        <p:spPr>
          <a:xfrm>
            <a:off x="3131840" y="3429000"/>
            <a:ext cx="2880320" cy="276999"/>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200" lang="fr-FR" smtClean="0"/>
              <a:t>Réponse au TRT après 1 à 2 semaine</a:t>
            </a:r>
            <a:endParaRPr dirty="0" sz="1200" lang="fr-FR"/>
          </a:p>
        </p:txBody>
      </p:sp>
      <p:sp>
        <p:nvSpPr>
          <p:cNvPr id="1048822" name="ZoneTexte 12"/>
          <p:cNvSpPr txBox="1"/>
          <p:nvPr/>
        </p:nvSpPr>
        <p:spPr>
          <a:xfrm>
            <a:off x="3203848" y="5013176"/>
            <a:ext cx="1728192" cy="276999"/>
          </a:xfrm>
          <a:prstGeom prst="rect"/>
          <a:solidFill>
            <a:srgbClr val="FFC000"/>
          </a:solidFill>
          <a:ln>
            <a:solidFill>
              <a:srgbClr val="FFC000"/>
            </a:solidFill>
          </a:ln>
          <a:effectLst/>
          <a:scene3d>
            <a:camera prst="orthographicFront"/>
            <a:lightRig dir="t" rig="threePt"/>
          </a:scene3d>
          <a:sp3d/>
        </p:spPr>
        <p:txBody>
          <a:bodyPr rtlCol="0" wrap="square">
            <a:spAutoFit/>
          </a:bodyPr>
          <a:p>
            <a:pPr algn="ctr"/>
            <a:r>
              <a:rPr b="1" dirty="0" sz="1200" lang="fr-FR" smtClean="0"/>
              <a:t>Risque intermédiaire</a:t>
            </a:r>
            <a:endParaRPr b="1" dirty="0" sz="1200" lang="fr-FR"/>
          </a:p>
        </p:txBody>
      </p:sp>
      <p:sp>
        <p:nvSpPr>
          <p:cNvPr id="1048823" name="ZoneTexte 13"/>
          <p:cNvSpPr txBox="1"/>
          <p:nvPr/>
        </p:nvSpPr>
        <p:spPr>
          <a:xfrm>
            <a:off x="1187624" y="5013176"/>
            <a:ext cx="1728192" cy="288032"/>
          </a:xfrm>
          <a:prstGeom prst="rect"/>
          <a:solidFill>
            <a:srgbClr val="00B050"/>
          </a:solidFill>
          <a:ln>
            <a:solidFill>
              <a:srgbClr val="339966"/>
            </a:solidFill>
          </a:ln>
          <a:effectLst/>
          <a:scene3d>
            <a:camera prst="orthographicFront"/>
            <a:lightRig dir="t" rig="threePt"/>
          </a:scene3d>
          <a:sp3d/>
        </p:spPr>
        <p:txBody>
          <a:bodyPr rtlCol="0" wrap="square">
            <a:spAutoFit/>
          </a:bodyPr>
          <a:p>
            <a:pPr algn="ctr"/>
            <a:r>
              <a:rPr b="1" dirty="0" sz="1200" lang="fr-FR" smtClean="0"/>
              <a:t>Bas risque</a:t>
            </a:r>
            <a:endParaRPr b="1" dirty="0" sz="1200" lang="fr-FR"/>
          </a:p>
        </p:txBody>
      </p:sp>
      <p:sp>
        <p:nvSpPr>
          <p:cNvPr id="1048824" name="ZoneTexte 14"/>
          <p:cNvSpPr txBox="1"/>
          <p:nvPr/>
        </p:nvSpPr>
        <p:spPr>
          <a:xfrm>
            <a:off x="1331640" y="5703639"/>
            <a:ext cx="1512168" cy="523220"/>
          </a:xfrm>
          <a:prstGeom prst="rect"/>
          <a:solidFill>
            <a:srgbClr val="CCCCFF"/>
          </a:solidFill>
          <a:ln>
            <a:solidFill>
              <a:srgbClr val="00B050"/>
            </a:solidFill>
          </a:ln>
        </p:spPr>
        <p:txBody>
          <a:bodyPr rtlCol="0" wrap="square">
            <a:spAutoFit/>
          </a:bodyPr>
          <a:p>
            <a:pPr algn="ctr"/>
            <a:r>
              <a:rPr dirty="0" sz="1400" lang="fr-FR" smtClean="0"/>
              <a:t>Traitement ambulatoire</a:t>
            </a:r>
            <a:endParaRPr dirty="0" sz="1400" lang="fr-FR"/>
          </a:p>
        </p:txBody>
      </p:sp>
      <p:sp>
        <p:nvSpPr>
          <p:cNvPr id="1048825" name="ZoneTexte 15"/>
          <p:cNvSpPr txBox="1"/>
          <p:nvPr/>
        </p:nvSpPr>
        <p:spPr>
          <a:xfrm>
            <a:off x="3203848" y="5662989"/>
            <a:ext cx="1800200" cy="701040"/>
          </a:xfrm>
          <a:prstGeom prst="rect"/>
          <a:solidFill>
            <a:srgbClr val="CCCCFF"/>
          </a:solidFill>
          <a:ln>
            <a:solidFill>
              <a:srgbClr val="FFC000"/>
            </a:solidFill>
          </a:ln>
        </p:spPr>
        <p:txBody>
          <a:bodyPr rtlCol="0" wrap="square">
            <a:spAutoFit/>
          </a:bodyPr>
          <a:p>
            <a:r>
              <a:rPr dirty="0" sz="1400" lang="fr-FR" smtClean="0"/>
              <a:t>Hospitalisation ou suivi rapproché + enquête étiologique</a:t>
            </a:r>
            <a:endParaRPr dirty="0" sz="1400" lang="fr-FR"/>
          </a:p>
        </p:txBody>
      </p:sp>
      <p:sp>
        <p:nvSpPr>
          <p:cNvPr id="1048826" name="ZoneTexte 16"/>
          <p:cNvSpPr txBox="1"/>
          <p:nvPr/>
        </p:nvSpPr>
        <p:spPr>
          <a:xfrm>
            <a:off x="5580112" y="5589241"/>
            <a:ext cx="1728192" cy="904241"/>
          </a:xfrm>
          <a:prstGeom prst="rect"/>
          <a:solidFill>
            <a:srgbClr val="CCCCFF"/>
          </a:solidFill>
          <a:ln>
            <a:solidFill>
              <a:srgbClr val="FF0000"/>
            </a:solidFill>
          </a:ln>
        </p:spPr>
        <p:txBody>
          <a:bodyPr rtlCol="0" wrap="square">
            <a:spAutoFit/>
          </a:bodyPr>
          <a:p>
            <a:pPr algn="ctr"/>
            <a:r>
              <a:rPr dirty="0" sz="1400" lang="fr-FR" smtClean="0"/>
              <a:t>Hospitalisation  enquête étiologique et TRT anti inflammatoire</a:t>
            </a:r>
            <a:endParaRPr dirty="0" sz="1400" lang="fr-FR"/>
          </a:p>
        </p:txBody>
      </p:sp>
      <p:cxnSp>
        <p:nvCxnSpPr>
          <p:cNvPr id="3145743" name="Connecteur droit avec flèche 23"/>
          <p:cNvCxnSpPr>
            <a:cxnSpLocks/>
          </p:cNvCxnSpPr>
          <p:nvPr/>
        </p:nvCxnSpPr>
        <p:spPr>
          <a:xfrm>
            <a:off x="4499992" y="1700808"/>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4" name="Connecteur droit avec flèche 38"/>
          <p:cNvCxnSpPr>
            <a:cxnSpLocks/>
          </p:cNvCxnSpPr>
          <p:nvPr/>
        </p:nvCxnSpPr>
        <p:spPr>
          <a:xfrm>
            <a:off x="4499992" y="2564904"/>
            <a:ext cx="0" cy="288032"/>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5" name="Connecteur droit avec flèche 40"/>
          <p:cNvCxnSpPr>
            <a:cxnSpLocks/>
          </p:cNvCxnSpPr>
          <p:nvPr/>
        </p:nvCxnSpPr>
        <p:spPr>
          <a:xfrm>
            <a:off x="4499992" y="3068960"/>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6" name="Connecteur droit avec flèche 41"/>
          <p:cNvCxnSpPr>
            <a:cxnSpLocks/>
          </p:cNvCxnSpPr>
          <p:nvPr/>
        </p:nvCxnSpPr>
        <p:spPr>
          <a:xfrm>
            <a:off x="2051720" y="5301208"/>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7" name="Connecteur droit avec flèche 42"/>
          <p:cNvCxnSpPr>
            <a:cxnSpLocks/>
          </p:cNvCxnSpPr>
          <p:nvPr/>
        </p:nvCxnSpPr>
        <p:spPr>
          <a:xfrm>
            <a:off x="4067944" y="5301208"/>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8" name="Connecteur droit avec flèche 43"/>
          <p:cNvCxnSpPr>
            <a:cxnSpLocks/>
          </p:cNvCxnSpPr>
          <p:nvPr/>
        </p:nvCxnSpPr>
        <p:spPr>
          <a:xfrm>
            <a:off x="6372200" y="5229200"/>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49" name="Connecteur droit avec flèche 44"/>
          <p:cNvCxnSpPr>
            <a:cxnSpLocks/>
          </p:cNvCxnSpPr>
          <p:nvPr/>
        </p:nvCxnSpPr>
        <p:spPr>
          <a:xfrm>
            <a:off x="6372200" y="4581128"/>
            <a:ext cx="0" cy="36004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48827" name="Ellipse 112"/>
          <p:cNvSpPr/>
          <p:nvPr/>
        </p:nvSpPr>
        <p:spPr>
          <a:xfrm>
            <a:off x="6012160" y="1988840"/>
            <a:ext cx="288032" cy="288032"/>
          </a:xfrm>
          <a:prstGeom prst="ellipse"/>
          <a:solidFill>
            <a:srgbClr val="99FF99"/>
          </a:solidFill>
          <a:ln>
            <a:solidFill>
              <a:srgbClr val="92D050"/>
            </a:solidFill>
          </a:ln>
          <a:effectLst>
            <a:outerShdw algn="tl" blurRad="50800" dir="27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1600" lang="fr-FR" smtClean="0">
                <a:solidFill>
                  <a:schemeClr val="tx1"/>
                </a:solidFill>
              </a:rPr>
              <a:t>O</a:t>
            </a:r>
            <a:endParaRPr dirty="0" sz="1600" lang="fr-FR">
              <a:solidFill>
                <a:schemeClr val="tx1"/>
              </a:solidFill>
            </a:endParaRPr>
          </a:p>
        </p:txBody>
      </p:sp>
      <p:cxnSp>
        <p:nvCxnSpPr>
          <p:cNvPr id="3145750" name="Connecteur en angle 114"/>
          <p:cNvCxnSpPr>
            <a:cxnSpLocks/>
            <a:endCxn id="1048822" idx="0"/>
          </p:cNvCxnSpPr>
          <p:nvPr/>
        </p:nvCxnSpPr>
        <p:spPr>
          <a:xfrm rot="10800000" flipV="1">
            <a:off x="4067944" y="4514636"/>
            <a:ext cx="1584176" cy="498540"/>
          </a:xfrm>
          <a:prstGeom prst="bentConnector2"/>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51" name="Connecteur en angle 114"/>
          <p:cNvCxnSpPr>
            <a:cxnSpLocks/>
          </p:cNvCxnSpPr>
          <p:nvPr/>
        </p:nvCxnSpPr>
        <p:spPr>
          <a:xfrm rot="5400000">
            <a:off x="1979712" y="3861048"/>
            <a:ext cx="1152128" cy="1152128"/>
          </a:xfrm>
          <a:prstGeom prst="bentConnector3">
            <a:avLst>
              <a:gd name="adj1" fmla="val 50000"/>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145752" name="Connecteur en angle 114"/>
          <p:cNvCxnSpPr>
            <a:cxnSpLocks/>
          </p:cNvCxnSpPr>
          <p:nvPr/>
        </p:nvCxnSpPr>
        <p:spPr>
          <a:xfrm rot="16200000" flipH="1">
            <a:off x="6012160" y="3645024"/>
            <a:ext cx="792088" cy="792088"/>
          </a:xfrm>
          <a:prstGeom prst="bentConnector3">
            <a:avLst>
              <a:gd name="adj1" fmla="val 50000"/>
            </a:avLst>
          </a:prstGeom>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48828" name="Ellipse 192"/>
          <p:cNvSpPr/>
          <p:nvPr/>
        </p:nvSpPr>
        <p:spPr>
          <a:xfrm>
            <a:off x="5868144" y="3645024"/>
            <a:ext cx="288032" cy="288032"/>
          </a:xfrm>
          <a:prstGeom prst="ellipse"/>
          <a:solidFill>
            <a:srgbClr val="FF5050"/>
          </a:solidFill>
          <a:ln>
            <a:solidFill>
              <a:srgbClr val="92D050"/>
            </a:solidFill>
          </a:ln>
          <a:effectLst>
            <a:outerShdw algn="tl" blurRad="50800" dir="27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1600" lang="fr-FR" smtClean="0">
                <a:solidFill>
                  <a:schemeClr val="tx1"/>
                </a:solidFill>
              </a:rPr>
              <a:t>N</a:t>
            </a:r>
            <a:endParaRPr dirty="0" sz="1600" lang="fr-FR">
              <a:solidFill>
                <a:schemeClr val="tx1"/>
              </a:solidFill>
            </a:endParaRPr>
          </a:p>
        </p:txBody>
      </p:sp>
      <p:sp>
        <p:nvSpPr>
          <p:cNvPr id="1048829" name="Ellipse 193"/>
          <p:cNvSpPr/>
          <p:nvPr/>
        </p:nvSpPr>
        <p:spPr>
          <a:xfrm>
            <a:off x="2987824" y="3645024"/>
            <a:ext cx="288032" cy="288032"/>
          </a:xfrm>
          <a:prstGeom prst="ellipse"/>
          <a:solidFill>
            <a:srgbClr val="99FF99"/>
          </a:solidFill>
          <a:ln>
            <a:solidFill>
              <a:srgbClr val="92D050"/>
            </a:solidFill>
          </a:ln>
          <a:effectLst>
            <a:outerShdw algn="tl" blurRad="50800" dir="27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1600" lang="fr-FR" smtClean="0">
                <a:solidFill>
                  <a:schemeClr val="tx1"/>
                </a:solidFill>
              </a:rPr>
              <a:t>O</a:t>
            </a:r>
            <a:endParaRPr dirty="0" sz="1600" lang="fr-FR">
              <a:solidFill>
                <a:schemeClr val="tx1"/>
              </a:solidFill>
            </a:endParaRPr>
          </a:p>
        </p:txBody>
      </p:sp>
      <p:cxnSp>
        <p:nvCxnSpPr>
          <p:cNvPr id="3145753" name="Connecteur droit avec flèche 198"/>
          <p:cNvCxnSpPr>
            <a:cxnSpLocks/>
          </p:cNvCxnSpPr>
          <p:nvPr/>
        </p:nvCxnSpPr>
        <p:spPr>
          <a:xfrm flipH="1">
            <a:off x="7236296" y="5229200"/>
            <a:ext cx="432048" cy="0"/>
          </a:xfrm>
          <a:prstGeom prst="straightConnector1"/>
          <a:ln w="28575">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1048830" name="ZoneTexte 202"/>
          <p:cNvSpPr txBox="1"/>
          <p:nvPr/>
        </p:nvSpPr>
        <p:spPr>
          <a:xfrm>
            <a:off x="5580112" y="4993431"/>
            <a:ext cx="1656184" cy="307777"/>
          </a:xfrm>
          <a:prstGeom prst="rect"/>
          <a:solidFill>
            <a:srgbClr val="FF5050"/>
          </a:solidFill>
          <a:ln>
            <a:solidFill>
              <a:srgbClr val="FF5050"/>
            </a:solidFill>
          </a:ln>
          <a:effectLst/>
          <a:scene3d>
            <a:camera prst="orthographicFront"/>
            <a:lightRig dir="t" rig="threePt"/>
          </a:scene3d>
          <a:sp3d/>
        </p:spPr>
        <p:txBody>
          <a:bodyPr rtlCol="0" wrap="square">
            <a:spAutoFit/>
          </a:bodyPr>
          <a:p>
            <a:pPr algn="ctr"/>
            <a:r>
              <a:rPr b="1" dirty="0" sz="1400" lang="fr-FR" smtClean="0"/>
              <a:t>Risque élevé</a:t>
            </a:r>
            <a:endParaRPr b="1" dirty="0" sz="1400" lang="fr-FR"/>
          </a:p>
        </p:txBody>
      </p:sp>
      <p:sp>
        <p:nvSpPr>
          <p:cNvPr id="1048831" name="ZoneTexte 204"/>
          <p:cNvSpPr txBox="1"/>
          <p:nvPr/>
        </p:nvSpPr>
        <p:spPr>
          <a:xfrm>
            <a:off x="5652120" y="4376136"/>
            <a:ext cx="1512168" cy="447039"/>
          </a:xfrm>
          <a:prstGeom prst="rect"/>
          <a:solidFill>
            <a:schemeClr val="bg1">
              <a:lumMod val="85000"/>
            </a:schemeClr>
          </a:solidFill>
        </p:spPr>
        <p:txBody>
          <a:bodyPr rtlCol="0" wrap="square">
            <a:spAutoFit/>
          </a:bodyPr>
          <a:p>
            <a:pPr algn="ctr"/>
            <a:r>
              <a:rPr dirty="0" sz="1200" lang="fr-FR" smtClean="0"/>
              <a:t>Évaluation du risque</a:t>
            </a:r>
            <a:endParaRPr dirty="0" sz="1200" lang="fr-FR"/>
          </a:p>
        </p:txBody>
      </p:sp>
      <p:sp>
        <p:nvSpPr>
          <p:cNvPr id="1048832" name="ZoneTexte 205"/>
          <p:cNvSpPr txBox="1"/>
          <p:nvPr/>
        </p:nvSpPr>
        <p:spPr>
          <a:xfrm>
            <a:off x="2339752" y="908720"/>
            <a:ext cx="4464496" cy="815340"/>
          </a:xfrm>
          <a:prstGeom prst="rect"/>
          <a:solidFill>
            <a:srgbClr val="92D050"/>
          </a:solidFill>
          <a:effectLst>
            <a:outerShdw algn="br" blurRad="50800" dir="13500000" dist="38100" rotWithShape="0">
              <a:prstClr val="black">
                <a:alpha val="40000"/>
              </a:prstClr>
            </a:outerShdw>
          </a:effectLst>
        </p:spPr>
        <p:txBody>
          <a:bodyPr rtlCol="0" wrap="square">
            <a:spAutoFit/>
          </a:bodyPr>
          <a:p>
            <a:pPr algn="ctr"/>
            <a:r>
              <a:rPr dirty="0" sz="1600" lang="fr-FR" smtClean="0"/>
              <a:t>Evaluation 1</a:t>
            </a:r>
            <a:r>
              <a:rPr baseline="30000" dirty="0" sz="1600" lang="fr-FR" smtClean="0"/>
              <a:t>ère</a:t>
            </a:r>
            <a:r>
              <a:rPr dirty="0" sz="1600" lang="fr-FR" smtClean="0"/>
              <a:t> ligne: historique, examen physique, ECG, ETT, RX thorax, bilan </a:t>
            </a:r>
            <a:r>
              <a:rPr dirty="0" sz="1600" lang="fr-FR" err="1" smtClean="0"/>
              <a:t>sg</a:t>
            </a:r>
            <a:r>
              <a:rPr dirty="0" sz="1600" lang="fr-FR" smtClean="0"/>
              <a:t> standard avec CRP et TPN</a:t>
            </a:r>
            <a:endParaRPr dirty="0" sz="1600" lang="fr-FR"/>
          </a:p>
        </p:txBody>
      </p:sp>
      <p:sp>
        <p:nvSpPr>
          <p:cNvPr id="1048833" name="Ellipse 206"/>
          <p:cNvSpPr/>
          <p:nvPr/>
        </p:nvSpPr>
        <p:spPr>
          <a:xfrm>
            <a:off x="4355976" y="2348880"/>
            <a:ext cx="288032" cy="288032"/>
          </a:xfrm>
          <a:prstGeom prst="ellipse"/>
          <a:solidFill>
            <a:srgbClr val="FF5050"/>
          </a:solidFill>
          <a:ln>
            <a:solidFill>
              <a:srgbClr val="92D050"/>
            </a:solidFill>
          </a:ln>
          <a:effectLst>
            <a:outerShdw algn="tl" blurRad="50800" dir="27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dirty="0" sz="1600" lang="fr-FR" smtClean="0">
                <a:solidFill>
                  <a:schemeClr val="tx1"/>
                </a:solidFill>
              </a:rPr>
              <a:t>N</a:t>
            </a:r>
            <a:endParaRPr dirty="0" sz="1600" lang="fr-FR">
              <a:solidFill>
                <a:schemeClr val="tx1"/>
              </a:solidFill>
            </a:endParaRPr>
          </a:p>
        </p:txBody>
      </p:sp>
      <p:sp>
        <p:nvSpPr>
          <p:cNvPr id="1048834" name="ZoneTexte 207"/>
          <p:cNvSpPr txBox="1"/>
          <p:nvPr/>
        </p:nvSpPr>
        <p:spPr>
          <a:xfrm>
            <a:off x="3635896" y="2852936"/>
            <a:ext cx="1872208" cy="276999"/>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200" lang="fr-FR" smtClean="0"/>
              <a:t>Suivi ambulatoire</a:t>
            </a:r>
            <a:endParaRPr dirty="0" sz="1200" lang="fr-FR"/>
          </a:p>
        </p:txBody>
      </p:sp>
      <p:sp>
        <p:nvSpPr>
          <p:cNvPr id="1048835" name="ZoneTexte 208"/>
          <p:cNvSpPr txBox="1"/>
          <p:nvPr/>
        </p:nvSpPr>
        <p:spPr>
          <a:xfrm>
            <a:off x="35496" y="980728"/>
            <a:ext cx="2160239" cy="891540"/>
          </a:xfrm>
          <a:prstGeom prst="rect"/>
          <a:solidFill>
            <a:schemeClr val="bg1">
              <a:lumMod val="95000"/>
            </a:schemeClr>
          </a:solidFill>
        </p:spPr>
        <p:txBody>
          <a:bodyPr rtlCol="0" wrap="square">
            <a:spAutoFit/>
          </a:bodyPr>
          <a:p>
            <a:r>
              <a:rPr dirty="0" lang="fr-FR" smtClean="0"/>
              <a:t>Tri des patients /</a:t>
            </a:r>
          </a:p>
          <a:p>
            <a:r>
              <a:rPr dirty="0" lang="fr-FR" smtClean="0"/>
              <a:t>évaluation du risque</a:t>
            </a:r>
            <a:endParaRPr dirty="0" lang="fr-FR"/>
          </a:p>
        </p:txBody>
      </p:sp>
    </p:spTree>
  </p:cSld>
  <p:clrMapOvr>
    <a:masterClrMapping/>
  </p:clrMapOvr>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66" name=""/>
        <p:cNvGrpSpPr/>
        <p:nvPr/>
      </p:nvGrpSpPr>
      <p:grpSpPr>
        <a:xfrm>
          <a:off x="0" y="0"/>
          <a:ext cx="0" cy="0"/>
          <a:chOff x="0" y="0"/>
          <a:chExt cx="0" cy="0"/>
        </a:xfrm>
      </p:grpSpPr>
      <p:sp>
        <p:nvSpPr>
          <p:cNvPr id="1048839" name="Titre 3"/>
          <p:cNvSpPr>
            <a:spLocks noGrp="1"/>
          </p:cNvSpPr>
          <p:nvPr>
            <p:ph type="title"/>
          </p:nvPr>
        </p:nvSpPr>
        <p:spPr>
          <a:xfrm>
            <a:off x="304800" y="1582688"/>
            <a:ext cx="8686800" cy="838200"/>
          </a:xfrm>
        </p:spPr>
        <p:txBody>
          <a:bodyPr>
            <a:normAutofit fontScale="90323"/>
          </a:bodyPr>
          <a:p>
            <a:pPr algn="ctr"/>
            <a:r>
              <a:rPr b="1" dirty="0" sz="3100" i="1" lang="fr-FR" smtClean="0">
                <a:solidFill>
                  <a:srgbClr val="FF9900"/>
                </a:solidFill>
                <a:effectLst/>
                <a:latin typeface="+mn-lt"/>
              </a:rPr>
              <a:t>2- TRAITEMENT PHARMACOLOGIQUE</a:t>
            </a:r>
            <a:r>
              <a:rPr b="1" dirty="0" lang="fr-FR" smtClean="0">
                <a:solidFill>
                  <a:srgbClr val="FF9900"/>
                </a:solidFill>
                <a:effectLst/>
              </a:rPr>
              <a:t/>
            </a:r>
            <a:br>
              <a:rPr b="1" dirty="0" lang="fr-FR" smtClean="0">
                <a:solidFill>
                  <a:srgbClr val="FF9900"/>
                </a:solidFill>
                <a:effectLst/>
              </a:rPr>
            </a:br>
            <a:endParaRPr dirty="0" lang="fr-FR">
              <a:effectLst/>
            </a:endParaRPr>
          </a:p>
        </p:txBody>
      </p:sp>
    </p:spTree>
  </p:cSld>
  <p:clrMapOvr>
    <a:masterClrMapping/>
  </p:clrMapOvr>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67" name=""/>
        <p:cNvGrpSpPr/>
        <p:nvPr/>
      </p:nvGrpSpPr>
      <p:grpSpPr>
        <a:xfrm>
          <a:off x="0" y="0"/>
          <a:ext cx="0" cy="0"/>
          <a:chOff x="0" y="0"/>
          <a:chExt cx="0" cy="0"/>
        </a:xfrm>
      </p:grpSpPr>
      <p:sp>
        <p:nvSpPr>
          <p:cNvPr id="1048840" name="Titre 4"/>
          <p:cNvSpPr>
            <a:spLocks noGrp="1"/>
          </p:cNvSpPr>
          <p:nvPr>
            <p:ph type="title"/>
          </p:nvPr>
        </p:nvSpPr>
        <p:spPr>
          <a:xfrm>
            <a:off x="0" y="260648"/>
            <a:ext cx="9144000" cy="720080"/>
          </a:xfrm>
        </p:spPr>
        <p:txBody>
          <a:bodyPr>
            <a:noAutofit/>
          </a:bodyPr>
          <a:p>
            <a:pPr algn="ctr"/>
            <a:r>
              <a:rPr dirty="0" sz="2400" i="1" lang="fr-FR" smtClean="0">
                <a:solidFill>
                  <a:srgbClr val="FA8006"/>
                </a:solidFill>
                <a:effectLst/>
                <a:latin typeface="+mn-lt"/>
              </a:rPr>
              <a:t>  </a:t>
            </a:r>
            <a:r>
              <a:rPr cap="none" dirty="0" sz="2400" i="1" lang="fr-FR" smtClean="0">
                <a:solidFill>
                  <a:srgbClr val="FA8006"/>
                </a:solidFill>
                <a:effectLst/>
                <a:latin typeface="+mn-lt"/>
              </a:rPr>
              <a:t>a</a:t>
            </a:r>
            <a:r>
              <a:rPr dirty="0" sz="2400" i="1" lang="fr-FR" smtClean="0">
                <a:solidFill>
                  <a:srgbClr val="FA8006"/>
                </a:solidFill>
                <a:effectLst/>
                <a:latin typeface="+mn-lt"/>
              </a:rPr>
              <a:t>- TRAITEMENT DE 1</a:t>
            </a:r>
            <a:r>
              <a:rPr baseline="30000" dirty="0" sz="2400" i="1" lang="fr-FR" smtClean="0">
                <a:solidFill>
                  <a:srgbClr val="FA8006"/>
                </a:solidFill>
                <a:effectLst/>
                <a:latin typeface="+mn-lt"/>
              </a:rPr>
              <a:t>ère</a:t>
            </a:r>
            <a:r>
              <a:rPr dirty="0" sz="2400" i="1" lang="fr-FR" smtClean="0">
                <a:solidFill>
                  <a:srgbClr val="FA8006"/>
                </a:solidFill>
                <a:effectLst/>
                <a:latin typeface="+mn-lt"/>
              </a:rPr>
              <a:t> LIGNE DE LA PÉRICARDITE AIGUE</a:t>
            </a:r>
            <a:endParaRPr dirty="0" sz="2400" i="1" lang="fr-FR">
              <a:solidFill>
                <a:srgbClr val="FA8006"/>
              </a:solidFill>
              <a:effectLst/>
              <a:latin typeface="+mn-lt"/>
            </a:endParaRPr>
          </a:p>
        </p:txBody>
      </p:sp>
      <p:graphicFrame>
        <p:nvGraphicFramePr>
          <p:cNvPr id="4194308" name="Espace réservé du contenu 3"/>
          <p:cNvGraphicFramePr>
            <a:graphicFrameLocks noGrp="1"/>
          </p:cNvGraphicFramePr>
          <p:nvPr>
            <p:ph idx="1"/>
          </p:nvPr>
        </p:nvGraphicFramePr>
        <p:xfrm>
          <a:off x="467544" y="1052225"/>
          <a:ext cx="8460680" cy="5545127"/>
        </p:xfrm>
        <a:graphic>
          <a:graphicData uri="http://schemas.openxmlformats.org/drawingml/2006/table">
            <a:tbl>
              <a:tblPr firstRow="1" bandRow="1">
                <a:tableStyleId>{BC89EF96-8CEA-46FF-86C4-4CE0E7609802}</a:tableStyleId>
              </a:tblPr>
              <a:tblGrid>
                <a:gridCol w="1728192"/>
                <a:gridCol w="2304256"/>
                <a:gridCol w="1656184"/>
                <a:gridCol w="2772048"/>
              </a:tblGrid>
              <a:tr h="432519">
                <a:tc>
                  <a:txBody>
                    <a:bodyPr/>
                    <a:p>
                      <a:pPr algn="ctr"/>
                      <a:r>
                        <a:rPr b="0" dirty="0" i="1" lang="fr-FR" smtClean="0">
                          <a:solidFill>
                            <a:schemeClr val="tx2"/>
                          </a:solidFill>
                        </a:rPr>
                        <a:t>Médicament</a:t>
                      </a:r>
                      <a:endParaRPr b="0" dirty="0" i="1" lang="fr-FR">
                        <a:solidFill>
                          <a:schemeClr val="tx2"/>
                        </a:solidFill>
                      </a:endParaRPr>
                    </a:p>
                  </a:txBody>
                </a:tc>
                <a:tc>
                  <a:txBody>
                    <a:bodyPr/>
                    <a:p>
                      <a:pPr algn="ctr"/>
                      <a:r>
                        <a:rPr b="0" dirty="0" i="1" lang="fr-FR" smtClean="0">
                          <a:solidFill>
                            <a:schemeClr val="tx2"/>
                          </a:solidFill>
                        </a:rPr>
                        <a:t>Posologie initiale</a:t>
                      </a:r>
                      <a:endParaRPr b="0" dirty="0" i="1" lang="fr-FR">
                        <a:solidFill>
                          <a:schemeClr val="tx2"/>
                        </a:solidFill>
                      </a:endParaRPr>
                    </a:p>
                  </a:txBody>
                </a:tc>
                <a:tc>
                  <a:txBody>
                    <a:bodyPr/>
                    <a:p>
                      <a:pPr algn="ctr"/>
                      <a:r>
                        <a:rPr b="0" dirty="0" i="1" lang="fr-FR" smtClean="0">
                          <a:solidFill>
                            <a:schemeClr val="tx2"/>
                          </a:solidFill>
                        </a:rPr>
                        <a:t>Durée</a:t>
                      </a:r>
                      <a:endParaRPr b="0" dirty="0" i="1" lang="fr-FR">
                        <a:solidFill>
                          <a:schemeClr val="tx2"/>
                        </a:solidFill>
                      </a:endParaRPr>
                    </a:p>
                  </a:txBody>
                </a:tc>
                <a:tc>
                  <a:txBody>
                    <a:bodyPr/>
                    <a:p>
                      <a:pPr algn="ctr"/>
                      <a:r>
                        <a:rPr b="0" dirty="0" i="1" lang="fr-FR" smtClean="0">
                          <a:solidFill>
                            <a:schemeClr val="tx2"/>
                          </a:solidFill>
                        </a:rPr>
                        <a:t>Décroissance</a:t>
                      </a:r>
                      <a:endParaRPr b="0" dirty="0" i="1" lang="fr-FR">
                        <a:solidFill>
                          <a:schemeClr val="tx2"/>
                        </a:solidFill>
                      </a:endParaRPr>
                    </a:p>
                  </a:txBody>
                </a:tc>
              </a:tr>
              <a:tr h="792088">
                <a:tc>
                  <a:txBody>
                    <a:bodyPr/>
                    <a:p>
                      <a:pPr algn="ctr">
                        <a:lnSpc>
                          <a:spcPct val="200000"/>
                        </a:lnSpc>
                      </a:pPr>
                      <a:r>
                        <a:rPr dirty="0" lang="fr-FR" smtClean="0"/>
                        <a:t>Aspirine</a:t>
                      </a:r>
                      <a:endParaRPr dirty="0" lang="fr-FR"/>
                    </a:p>
                  </a:txBody>
                </a:tc>
                <a:tc>
                  <a:txBody>
                    <a:bodyPr/>
                    <a:p>
                      <a:pPr algn="ctr">
                        <a:lnSpc>
                          <a:spcPct val="200000"/>
                        </a:lnSpc>
                      </a:pPr>
                      <a:r>
                        <a:rPr dirty="0" lang="fr-FR" smtClean="0"/>
                        <a:t>750 - 1000</a:t>
                      </a:r>
                      <a:r>
                        <a:rPr baseline="0" dirty="0" lang="fr-FR" smtClean="0"/>
                        <a:t> mg / </a:t>
                      </a:r>
                      <a:r>
                        <a:rPr baseline="0" b="1" dirty="0" lang="fr-FR" smtClean="0">
                          <a:solidFill>
                            <a:srgbClr val="C00000"/>
                          </a:solidFill>
                        </a:rPr>
                        <a:t>8h</a:t>
                      </a:r>
                      <a:endParaRPr b="1" dirty="0" lang="fr-FR">
                        <a:solidFill>
                          <a:srgbClr val="C00000"/>
                        </a:solidFill>
                      </a:endParaRPr>
                    </a:p>
                  </a:txBody>
                </a:tc>
                <a:tc>
                  <a:txBody>
                    <a:bodyPr/>
                    <a:p>
                      <a:pPr algn="ctr">
                        <a:lnSpc>
                          <a:spcPct val="200000"/>
                        </a:lnSpc>
                      </a:pPr>
                      <a:r>
                        <a:rPr dirty="0" lang="fr-FR" smtClean="0"/>
                        <a:t>1-2 semaines</a:t>
                      </a:r>
                    </a:p>
                  </a:txBody>
                </a:tc>
                <a:tc>
                  <a:txBody>
                    <a:bodyPr/>
                    <a:p>
                      <a:pPr algn="ctr">
                        <a:lnSpc>
                          <a:spcPct val="200000"/>
                        </a:lnSpc>
                      </a:pPr>
                      <a:r>
                        <a:rPr dirty="0" lang="fr-FR" smtClean="0"/>
                        <a:t>250</a:t>
                      </a:r>
                      <a:r>
                        <a:rPr baseline="0" dirty="0" lang="fr-FR" smtClean="0"/>
                        <a:t> </a:t>
                      </a:r>
                      <a:r>
                        <a:rPr dirty="0" lang="fr-FR" smtClean="0"/>
                        <a:t>mg / 1 à 2 semaines</a:t>
                      </a:r>
                    </a:p>
                  </a:txBody>
                </a:tc>
              </a:tr>
              <a:tr h="840252">
                <a:tc>
                  <a:txBody>
                    <a:bodyPr/>
                    <a:p>
                      <a:pPr algn="ctr">
                        <a:lnSpc>
                          <a:spcPct val="200000"/>
                        </a:lnSpc>
                      </a:pPr>
                      <a:r>
                        <a:rPr dirty="0" lang="fr-FR" smtClean="0"/>
                        <a:t>Ibuprofène</a:t>
                      </a:r>
                      <a:endParaRPr dirty="0" lang="fr-FR"/>
                    </a:p>
                  </a:txBody>
                </a:tc>
                <a:tc>
                  <a:txBody>
                    <a:bodyPr/>
                    <a:p>
                      <a:pPr algn="ctr">
                        <a:lnSpc>
                          <a:spcPct val="200000"/>
                        </a:lnSpc>
                      </a:pPr>
                      <a:r>
                        <a:rPr dirty="0" lang="fr-FR" smtClean="0"/>
                        <a:t>600 - 800 mg / </a:t>
                      </a:r>
                      <a:r>
                        <a:rPr b="1" dirty="0" lang="fr-FR" smtClean="0">
                          <a:solidFill>
                            <a:srgbClr val="C00000"/>
                          </a:solidFill>
                        </a:rPr>
                        <a:t>8h</a:t>
                      </a:r>
                      <a:endParaRPr b="1" dirty="0" lang="fr-FR">
                        <a:solidFill>
                          <a:srgbClr val="C00000"/>
                        </a:solidFill>
                      </a:endParaRPr>
                    </a:p>
                  </a:txBody>
                </a:tc>
                <a:tc>
                  <a:txBody>
                    <a:bodyPr/>
                    <a:p>
                      <a:pPr algn="ctr" defTabSz="914400" eaLnBrk="1" fontAlgn="auto" hangingPunct="1" indent="0" latinLnBrk="0" marL="0" marR="0" rtl="0">
                        <a:lnSpc>
                          <a:spcPct val="200000"/>
                        </a:lnSpc>
                        <a:spcBef>
                          <a:spcPts val="0"/>
                        </a:spcBef>
                        <a:spcAft>
                          <a:spcPts val="0"/>
                        </a:spcAft>
                        <a:buClrTx/>
                        <a:buSzTx/>
                        <a:buFontTx/>
                        <a:buNone/>
                      </a:pPr>
                      <a:r>
                        <a:rPr dirty="0" lang="fr-FR" smtClean="0"/>
                        <a:t>1-2 semaines</a:t>
                      </a:r>
                    </a:p>
                    <a:p>
                      <a:endParaRPr dirty="0" lang="fr-FR"/>
                    </a:p>
                  </a:txBody>
                </a:tc>
                <a:tc>
                  <a:txBody>
                    <a:bodyPr/>
                    <a:p>
                      <a:pPr algn="ctr" defTabSz="914400" eaLnBrk="1" fontAlgn="auto" hangingPunct="1" indent="0" latinLnBrk="0" marL="0" marR="0" rtl="0">
                        <a:lnSpc>
                          <a:spcPct val="200000"/>
                        </a:lnSpc>
                        <a:spcBef>
                          <a:spcPts val="0"/>
                        </a:spcBef>
                        <a:spcAft>
                          <a:spcPts val="0"/>
                        </a:spcAft>
                        <a:buClrTx/>
                        <a:buSzTx/>
                        <a:buFontTx/>
                        <a:buNone/>
                      </a:pPr>
                      <a:r>
                        <a:rPr dirty="0" lang="fr-FR" smtClean="0"/>
                        <a:t>200</a:t>
                      </a:r>
                      <a:r>
                        <a:rPr baseline="0" dirty="0" lang="fr-FR" smtClean="0"/>
                        <a:t> </a:t>
                      </a:r>
                      <a:r>
                        <a:rPr dirty="0" lang="fr-FR" smtClean="0"/>
                        <a:t>mg / 1 à 2 semaines</a:t>
                      </a:r>
                    </a:p>
                    <a:p>
                      <a:endParaRPr dirty="0" lang="fr-FR"/>
                    </a:p>
                  </a:txBody>
                </a:tc>
              </a:tr>
              <a:tr h="741784">
                <a:tc>
                  <a:txBody>
                    <a:bodyPr/>
                    <a:p>
                      <a:pPr algn="ctr">
                        <a:lnSpc>
                          <a:spcPct val="200000"/>
                        </a:lnSpc>
                      </a:pPr>
                      <a:r>
                        <a:rPr b="0" dirty="0" lang="fr-FR" err="1" smtClean="0">
                          <a:solidFill>
                            <a:srgbClr val="006600"/>
                          </a:solidFill>
                        </a:rPr>
                        <a:t>Indomethacine</a:t>
                      </a:r>
                      <a:endParaRPr b="0" dirty="0" lang="fr-FR">
                        <a:solidFill>
                          <a:srgbClr val="006600"/>
                        </a:solidFill>
                      </a:endParaRPr>
                    </a:p>
                  </a:txBody>
                </a:tc>
                <a:tc>
                  <a:txBody>
                    <a:bodyPr/>
                    <a:p>
                      <a:pPr algn="ctr">
                        <a:lnSpc>
                          <a:spcPct val="200000"/>
                        </a:lnSpc>
                      </a:pPr>
                      <a:r>
                        <a:rPr dirty="0" lang="fr-FR" smtClean="0"/>
                        <a:t>25-50</a:t>
                      </a:r>
                      <a:r>
                        <a:rPr baseline="0" dirty="0" lang="fr-FR" smtClean="0"/>
                        <a:t> mg / </a:t>
                      </a:r>
                      <a:r>
                        <a:rPr b="1" dirty="0" lang="fr-FR" smtClean="0">
                          <a:solidFill>
                            <a:srgbClr val="C00000"/>
                          </a:solidFill>
                        </a:rPr>
                        <a:t>8h</a:t>
                      </a:r>
                      <a:endParaRPr dirty="0" lang="fr-FR"/>
                    </a:p>
                  </a:txBody>
                </a:tc>
                <a:tc>
                  <a:txBody>
                    <a:bodyPr/>
                    <a:p>
                      <a:pPr algn="ctr" defTabSz="914400" eaLnBrk="1" fontAlgn="auto" hangingPunct="1" indent="0" latinLnBrk="0" marL="0" marR="0" rtl="0">
                        <a:lnSpc>
                          <a:spcPct val="200000"/>
                        </a:lnSpc>
                        <a:spcBef>
                          <a:spcPts val="0"/>
                        </a:spcBef>
                        <a:spcAft>
                          <a:spcPts val="0"/>
                        </a:spcAft>
                        <a:buClrTx/>
                        <a:buSzTx/>
                        <a:buFontTx/>
                        <a:buNone/>
                      </a:pPr>
                      <a:r>
                        <a:rPr dirty="0" lang="fr-FR" smtClean="0"/>
                        <a:t>1-2 semaines</a:t>
                      </a:r>
                    </a:p>
                    <a:p>
                      <a:pPr algn="ctr">
                        <a:lnSpc>
                          <a:spcPct val="150000"/>
                        </a:lnSpc>
                      </a:pPr>
                      <a:endParaRPr dirty="0" lang="fr-FR"/>
                    </a:p>
                  </a:txBody>
                </a:tc>
                <a:tc>
                  <a:txBody>
                    <a:bodyPr/>
                    <a:p>
                      <a:pPr algn="ctr">
                        <a:lnSpc>
                          <a:spcPct val="200000"/>
                        </a:lnSpc>
                      </a:pPr>
                      <a:r>
                        <a:rPr dirty="0" lang="fr-FR" smtClean="0"/>
                        <a:t>25</a:t>
                      </a:r>
                      <a:r>
                        <a:rPr baseline="0" dirty="0" lang="fr-FR" smtClean="0"/>
                        <a:t> </a:t>
                      </a:r>
                      <a:r>
                        <a:rPr dirty="0" lang="fr-FR" smtClean="0"/>
                        <a:t>mg / 1 à 2 semaines</a:t>
                      </a:r>
                    </a:p>
                    <a:p>
                      <a:pPr algn="ctr">
                        <a:lnSpc>
                          <a:spcPct val="150000"/>
                        </a:lnSpc>
                      </a:pPr>
                      <a:endParaRPr dirty="0" lang="fr-FR"/>
                    </a:p>
                  </a:txBody>
                </a:tc>
              </a:tr>
              <a:tr h="720080">
                <a:tc>
                  <a:txBody>
                    <a:bodyPr/>
                    <a:p>
                      <a:pPr algn="ctr" defTabSz="914400" eaLnBrk="1" fontAlgn="auto" hangingPunct="1" indent="0" latinLnBrk="0" marL="0" marR="0" rtl="0">
                        <a:lnSpc>
                          <a:spcPct val="100000"/>
                        </a:lnSpc>
                        <a:spcBef>
                          <a:spcPts val="0"/>
                        </a:spcBef>
                        <a:spcAft>
                          <a:spcPts val="0"/>
                        </a:spcAft>
                        <a:buClrTx/>
                        <a:buSzTx/>
                        <a:buFontTx/>
                        <a:buNone/>
                      </a:pPr>
                      <a:endParaRPr b="1" dirty="0" lang="fr-FR" smtClean="0"/>
                    </a:p>
                    <a:p>
                      <a:pPr algn="ctr" defTabSz="914400" eaLnBrk="1" fontAlgn="auto" hangingPunct="1" indent="0" latinLnBrk="0" marL="0" marR="0" rtl="0">
                        <a:lnSpc>
                          <a:spcPct val="100000"/>
                        </a:lnSpc>
                        <a:spcBef>
                          <a:spcPts val="0"/>
                        </a:spcBef>
                        <a:spcAft>
                          <a:spcPts val="0"/>
                        </a:spcAft>
                        <a:buClrTx/>
                        <a:buSzTx/>
                        <a:buFontTx/>
                        <a:buNone/>
                      </a:pPr>
                      <a:r>
                        <a:rPr b="1" dirty="0" lang="fr-FR" smtClean="0"/>
                        <a:t>Colchicine</a:t>
                      </a:r>
                    </a:p>
                    <a:p>
                      <a:endParaRPr dirty="0" lang="fr-FR"/>
                    </a:p>
                  </a:txBody>
                </a:tc>
                <a:tc>
                  <a:txBody>
                    <a:bodyPr/>
                    <a:p>
                      <a:pPr algn="ctr"/>
                      <a:r>
                        <a:rPr dirty="0" lang="fr-FR" smtClean="0"/>
                        <a:t>&lt; 70 Kg: 0,5 mg / j</a:t>
                      </a:r>
                    </a:p>
                    <a:p>
                      <a:pPr algn="ctr"/>
                      <a:r>
                        <a:rPr dirty="0" lang="fr-FR" smtClean="0"/>
                        <a:t>≥ 70 Kg: 0,5 mg x2 / j</a:t>
                      </a:r>
                    </a:p>
                    <a:p>
                      <a:endParaRPr dirty="0" lang="fr-FR"/>
                    </a:p>
                  </a:txBody>
                </a:tc>
                <a:tc>
                  <a:txBody>
                    <a:bodyPr/>
                    <a:p>
                      <a:pPr algn="ctr" defTabSz="914400" eaLnBrk="1" fontAlgn="auto" hangingPunct="1" indent="0" latinLnBrk="0" marL="0" marR="0" rtl="0">
                        <a:lnSpc>
                          <a:spcPct val="100000"/>
                        </a:lnSpc>
                        <a:spcBef>
                          <a:spcPts val="0"/>
                        </a:spcBef>
                        <a:spcAft>
                          <a:spcPts val="0"/>
                        </a:spcAft>
                        <a:buClrTx/>
                        <a:buSzTx/>
                        <a:buFontTx/>
                        <a:buNone/>
                      </a:pPr>
                      <a:endParaRPr dirty="0" lang="fr-FR" smtClean="0"/>
                    </a:p>
                    <a:p>
                      <a:pPr algn="ctr" defTabSz="914400" eaLnBrk="1" fontAlgn="auto" hangingPunct="1" indent="0" latinLnBrk="0" marL="0" marR="0" rtl="0">
                        <a:lnSpc>
                          <a:spcPct val="100000"/>
                        </a:lnSpc>
                        <a:spcBef>
                          <a:spcPts val="0"/>
                        </a:spcBef>
                        <a:spcAft>
                          <a:spcPts val="0"/>
                        </a:spcAft>
                        <a:buClrTx/>
                        <a:buSzTx/>
                        <a:buFontTx/>
                        <a:buNone/>
                      </a:pPr>
                      <a:r>
                        <a:rPr dirty="0" lang="fr-FR" smtClean="0"/>
                        <a:t>3 à 6 mois</a:t>
                      </a:r>
                    </a:p>
                    <a:p>
                      <a:pPr algn="ctr"/>
                      <a:endParaRPr dirty="0" lang="fr-FR"/>
                    </a:p>
                  </a:txBody>
                </a:tc>
                <a:tc>
                  <a:txBody>
                    <a:bodyPr/>
                    <a:p>
                      <a:pPr algn="ctr" defTabSz="914400" eaLnBrk="1" fontAlgn="auto" hangingPunct="1" indent="0" latinLnBrk="0" marL="0" marR="0" rtl="0">
                        <a:lnSpc>
                          <a:spcPct val="100000"/>
                        </a:lnSpc>
                        <a:spcBef>
                          <a:spcPts val="0"/>
                        </a:spcBef>
                        <a:spcAft>
                          <a:spcPts val="0"/>
                        </a:spcAft>
                        <a:buClrTx/>
                        <a:buSzTx/>
                        <a:buFontTx/>
                        <a:buNone/>
                      </a:pPr>
                      <a:endParaRPr dirty="0" lang="fr-FR" smtClean="0"/>
                    </a:p>
                    <a:p>
                      <a:pPr algn="ctr" defTabSz="914400" eaLnBrk="1" fontAlgn="auto" hangingPunct="1" indent="0" latinLnBrk="0" marL="0" marR="0" rtl="0">
                        <a:lnSpc>
                          <a:spcPct val="100000"/>
                        </a:lnSpc>
                        <a:spcBef>
                          <a:spcPts val="0"/>
                        </a:spcBef>
                        <a:spcAft>
                          <a:spcPts val="0"/>
                        </a:spcAft>
                        <a:buClrTx/>
                        <a:buSzTx/>
                        <a:buFontTx/>
                        <a:buNone/>
                      </a:pPr>
                      <a:r>
                        <a:rPr dirty="0" lang="fr-FR" smtClean="0"/>
                        <a:t>facultative</a:t>
                      </a:r>
                    </a:p>
                    <a:p>
                      <a:endParaRPr dirty="0" lang="fr-FR"/>
                    </a:p>
                  </a:txBody>
                </a:tc>
              </a:tr>
              <a:tr h="720080">
                <a:tc>
                  <a:txBody>
                    <a:bodyPr/>
                    <a:p>
                      <a:pPr algn="ctr">
                        <a:lnSpc>
                          <a:spcPct val="150000"/>
                        </a:lnSpc>
                      </a:pPr>
                      <a:r>
                        <a:rPr b="1" dirty="0" lang="fr-FR" smtClean="0"/>
                        <a:t>Prednisone </a:t>
                      </a:r>
                      <a:r>
                        <a:rPr b="1" dirty="0" sz="2400" lang="fr-FR" smtClean="0">
                          <a:solidFill>
                            <a:srgbClr val="FF0000"/>
                          </a:solidFill>
                          <a:sym typeface="Symbol"/>
                        </a:rPr>
                        <a:t></a:t>
                      </a:r>
                      <a:endParaRPr b="1" dirty="0" sz="2400" lang="fr-FR">
                        <a:solidFill>
                          <a:srgbClr val="FF0000"/>
                        </a:solidFill>
                      </a:endParaRPr>
                    </a:p>
                  </a:txBody>
                </a:tc>
                <a:tc>
                  <a:txBody>
                    <a:bodyPr/>
                    <a:p>
                      <a:pPr algn="ctr">
                        <a:lnSpc>
                          <a:spcPct val="150000"/>
                        </a:lnSpc>
                      </a:pPr>
                      <a:r>
                        <a:rPr dirty="0" lang="fr-FR" smtClean="0"/>
                        <a:t>0,2</a:t>
                      </a:r>
                      <a:r>
                        <a:rPr baseline="0" dirty="0" lang="fr-FR" smtClean="0"/>
                        <a:t> – O,5 mg /Kg/ j</a:t>
                      </a:r>
                      <a:endParaRPr dirty="0" lang="fr-FR"/>
                    </a:p>
                  </a:txBody>
                </a:tc>
                <a:tc>
                  <a:txBody>
                    <a:bodyPr/>
                    <a:p>
                      <a:pPr algn="ctr"/>
                      <a:r>
                        <a:rPr dirty="0" lang="fr-FR" smtClean="0"/>
                        <a:t>2 à 4 semaines</a:t>
                      </a:r>
                      <a:endParaRPr dirty="0" lang="fr-FR"/>
                    </a:p>
                  </a:txBody>
                </a:tc>
                <a:tc>
                  <a:txBody>
                    <a:bodyPr/>
                    <a:p>
                      <a:pPr algn="ctr">
                        <a:lnSpc>
                          <a:spcPct val="150000"/>
                        </a:lnSpc>
                      </a:pPr>
                      <a:r>
                        <a:rPr dirty="0" lang="fr-FR" smtClean="0"/>
                        <a:t>Plusieurs mois</a:t>
                      </a:r>
                      <a:endParaRPr dirty="0" lang="fr-FR"/>
                    </a:p>
                  </a:txBody>
                </a:tc>
              </a:tr>
              <a:tr h="720080">
                <a:tc>
                  <a:txBody>
                    <a:bodyPr/>
                    <a:p>
                      <a:pPr algn="ctr">
                        <a:lnSpc>
                          <a:spcPct val="150000"/>
                        </a:lnSpc>
                      </a:pPr>
                      <a:r>
                        <a:rPr b="1" dirty="0" lang="fr-FR" smtClean="0"/>
                        <a:t>Bêta (-)</a:t>
                      </a:r>
                      <a:endParaRPr b="1" dirty="0" lang="fr-FR"/>
                    </a:p>
                  </a:txBody>
                </a:tc>
                <a:tc>
                  <a:txBody>
                    <a:bodyPr/>
                    <a:p>
                      <a:pPr algn="ctr">
                        <a:lnSpc>
                          <a:spcPct val="150000"/>
                        </a:lnSpc>
                      </a:pPr>
                      <a:r>
                        <a:rPr dirty="0" lang="fr-FR" smtClean="0"/>
                        <a:t>Si FC &gt; 75 + douleurs</a:t>
                      </a:r>
                      <a:endParaRPr dirty="0" lang="fr-FR"/>
                    </a:p>
                  </a:txBody>
                </a:tc>
                <a:tc>
                  <a:txBody>
                    <a:bodyPr/>
                    <a:p>
                      <a:pPr algn="ctr"/>
                      <a:endParaRPr dirty="0" lang="fr-FR"/>
                    </a:p>
                  </a:txBody>
                </a:tc>
                <a:tc>
                  <a:txBody>
                    <a:bodyPr/>
                    <a:p>
                      <a:pPr algn="ctr">
                        <a:lnSpc>
                          <a:spcPct val="150000"/>
                        </a:lnSpc>
                      </a:pPr>
                      <a:endParaRPr dirty="0" lang="fr-FR"/>
                    </a:p>
                  </a:txBody>
                </a:tc>
              </a:tr>
            </a:tbl>
          </a:graphicData>
        </a:graphic>
      </p:graphicFrame>
      <p:sp>
        <p:nvSpPr>
          <p:cNvPr id="1048841" name="Flèche courbée vers la gauche 5"/>
          <p:cNvSpPr/>
          <p:nvPr/>
        </p:nvSpPr>
        <p:spPr>
          <a:xfrm rot="10524751">
            <a:off x="181658" y="2615140"/>
            <a:ext cx="611858" cy="1800387"/>
          </a:xfrm>
          <a:prstGeom prst="curvedLeftArrow">
            <a:avLst>
              <a:gd name="adj1" fmla="val 7950"/>
              <a:gd name="adj2" fmla="val 50244"/>
              <a:gd name="adj3" fmla="val 34651"/>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fr-FR">
              <a:ln>
                <a:solidFill>
                  <a:sysClr lastClr="000000" val="windowText"/>
                </a:solidFill>
              </a:ln>
              <a:solidFill>
                <a:schemeClr val="tx1"/>
              </a:solidFill>
            </a:endParaRPr>
          </a:p>
        </p:txBody>
      </p:sp>
      <p:sp>
        <p:nvSpPr>
          <p:cNvPr id="1048842" name="Flèche courbée vers la gauche 6"/>
          <p:cNvSpPr/>
          <p:nvPr/>
        </p:nvSpPr>
        <p:spPr>
          <a:xfrm rot="10524751">
            <a:off x="239103" y="3262726"/>
            <a:ext cx="572040" cy="1110315"/>
          </a:xfrm>
          <a:prstGeom prst="curvedLeftArrow">
            <a:avLst>
              <a:gd name="adj1" fmla="val 2911"/>
              <a:gd name="adj2" fmla="val 50244"/>
              <a:gd name="adj3" fmla="val 34651"/>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fr-FR">
              <a:ln>
                <a:solidFill>
                  <a:sysClr lastClr="000000" val="windowText"/>
                </a:solidFill>
              </a:ln>
              <a:solidFill>
                <a:schemeClr val="tx1"/>
              </a:solidFill>
            </a:endParaRPr>
          </a:p>
        </p:txBody>
      </p:sp>
      <p:sp>
        <p:nvSpPr>
          <p:cNvPr id="1048843" name="ZoneTexte 7"/>
          <p:cNvSpPr txBox="1">
            <a:spLocks noChangeArrowheads="1"/>
          </p:cNvSpPr>
          <p:nvPr/>
        </p:nvSpPr>
        <p:spPr bwMode="auto">
          <a:xfrm>
            <a:off x="824086" y="4149080"/>
            <a:ext cx="394660" cy="523220"/>
          </a:xfrm>
          <a:prstGeom prst="rect"/>
          <a:noFill/>
          <a:ln w="9525">
            <a:noFill/>
            <a:miter lim="800000"/>
            <a:headEnd/>
            <a:tailEnd/>
          </a:ln>
        </p:spPr>
        <p:txBody>
          <a:bodyPr wrap="none">
            <a:spAutoFit/>
          </a:bodyPr>
          <a:p>
            <a:r>
              <a:rPr b="1" dirty="0" sz="2800" lang="fr-FR">
                <a:solidFill>
                  <a:srgbClr val="C00000"/>
                </a:solidFill>
              </a:rPr>
              <a:t>+</a:t>
            </a:r>
          </a:p>
        </p:txBody>
      </p:sp>
      <p:sp>
        <p:nvSpPr>
          <p:cNvPr id="1048844" name="Flèche courbée vers la gauche 9"/>
          <p:cNvSpPr/>
          <p:nvPr/>
        </p:nvSpPr>
        <p:spPr>
          <a:xfrm rot="10591782">
            <a:off x="274464" y="4663759"/>
            <a:ext cx="374284" cy="769403"/>
          </a:xfrm>
          <a:prstGeom prst="curvedLeftArrow">
            <a:avLst>
              <a:gd name="adj1" fmla="val 19776"/>
              <a:gd name="adj2" fmla="val 59466"/>
              <a:gd name="adj3" fmla="val 34159"/>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fr-FR">
              <a:ln>
                <a:solidFill>
                  <a:sysClr lastClr="000000" val="windowText"/>
                </a:solidFill>
              </a:ln>
              <a:solidFill>
                <a:schemeClr val="tx1"/>
              </a:solidFill>
            </a:endParaRPr>
          </a:p>
        </p:txBody>
      </p:sp>
      <p:sp>
        <p:nvSpPr>
          <p:cNvPr id="1048845" name="Flèche courbée vers la gauche 11"/>
          <p:cNvSpPr/>
          <p:nvPr/>
        </p:nvSpPr>
        <p:spPr>
          <a:xfrm rot="10524751">
            <a:off x="65721" y="1728565"/>
            <a:ext cx="800331" cy="2652137"/>
          </a:xfrm>
          <a:prstGeom prst="curvedLeftArrow">
            <a:avLst>
              <a:gd name="adj1" fmla="val 10862"/>
              <a:gd name="adj2" fmla="val 50244"/>
              <a:gd name="adj3" fmla="val 26060"/>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p>
            <a:pPr algn="ctr"/>
            <a:endParaRPr lang="fr-FR">
              <a:ln>
                <a:solidFill>
                  <a:sysClr lastClr="000000" val="windowText"/>
                </a:solidFill>
              </a:ln>
              <a:solidFill>
                <a:schemeClr val="tx1"/>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2" presetSubtype="4">
                                  <p:stCondLst>
                                    <p:cond delay="0"/>
                                  </p:stCondLst>
                                  <p:childTnLst>
                                    <p:set>
                                      <p:cBhvr>
                                        <p:cTn dur="1" fill="hold" id="6">
                                          <p:stCondLst>
                                            <p:cond delay="0"/>
                                          </p:stCondLst>
                                        </p:cTn>
                                        <p:tgtEl>
                                          <p:spTgt spid="1048845"/>
                                        </p:tgtEl>
                                        <p:attrNameLst>
                                          <p:attrName>style.visibility</p:attrName>
                                        </p:attrNameLst>
                                      </p:cBhvr>
                                      <p:to>
                                        <p:strVal val="visible"/>
                                      </p:to>
                                    </p:set>
                                    <p:animEffect transition="in" filter="wipe(down)">
                                      <p:cBhvr>
                                        <p:cTn dur="500" id="7"/>
                                        <p:tgtEl>
                                          <p:spTgt spid="1048845"/>
                                        </p:tgtEl>
                                      </p:cBhvr>
                                    </p:animEffect>
                                  </p:childTnLst>
                                </p:cTn>
                              </p:par>
                              <p:par>
                                <p:cTn fill="hold" id="8" nodeType="withEffect" presetClass="entr" presetID="1" presetSubtype="0">
                                  <p:stCondLst>
                                    <p:cond delay="0"/>
                                  </p:stCondLst>
                                  <p:childTnLst>
                                    <p:set>
                                      <p:cBhvr>
                                        <p:cTn dur="1" fill="hold" id="9">
                                          <p:stCondLst>
                                            <p:cond delay="0"/>
                                          </p:stCondLst>
                                        </p:cTn>
                                        <p:tgtEl>
                                          <p:spTgt spid="1048843">
                                            <p:txEl>
                                              <p:pRg st="0" end="0"/>
                                            </p:txEl>
                                          </p:spTgt>
                                        </p:tgtEl>
                                        <p:attrNameLst>
                                          <p:attrName>style.visibility</p:attrName>
                                        </p:attrNameLst>
                                      </p:cBhvr>
                                      <p:to>
                                        <p:strVal val="visible"/>
                                      </p:to>
                                    </p:set>
                                  </p:childTnLst>
                                </p:cTn>
                              </p:par>
                            </p:childTnLst>
                          </p:cTn>
                        </p:par>
                        <p:par>
                          <p:cTn fill="hold" id="10">
                            <p:stCondLst>
                              <p:cond delay="500"/>
                            </p:stCondLst>
                            <p:childTnLst>
                              <p:par>
                                <p:cTn fill="hold" grpId="0" id="11" nodeType="afterEffect" presetClass="entr" presetID="22" presetSubtype="4">
                                  <p:stCondLst>
                                    <p:cond delay="0"/>
                                  </p:stCondLst>
                                  <p:childTnLst>
                                    <p:set>
                                      <p:cBhvr>
                                        <p:cTn dur="1" fill="hold" id="12">
                                          <p:stCondLst>
                                            <p:cond delay="0"/>
                                          </p:stCondLst>
                                        </p:cTn>
                                        <p:tgtEl>
                                          <p:spTgt spid="1048841"/>
                                        </p:tgtEl>
                                        <p:attrNameLst>
                                          <p:attrName>style.visibility</p:attrName>
                                        </p:attrNameLst>
                                      </p:cBhvr>
                                      <p:to>
                                        <p:strVal val="visible"/>
                                      </p:to>
                                    </p:set>
                                    <p:animEffect transition="in" filter="wipe(down)">
                                      <p:cBhvr>
                                        <p:cTn dur="500" id="13"/>
                                        <p:tgtEl>
                                          <p:spTgt spid="1048841"/>
                                        </p:tgtEl>
                                      </p:cBhvr>
                                    </p:animEffect>
                                  </p:childTnLst>
                                </p:cTn>
                              </p:par>
                            </p:childTnLst>
                          </p:cTn>
                        </p:par>
                        <p:par>
                          <p:cTn fill="hold" id="14">
                            <p:stCondLst>
                              <p:cond delay="1000"/>
                            </p:stCondLst>
                            <p:childTnLst>
                              <p:par>
                                <p:cTn fill="hold" grpId="0" id="15" nodeType="afterEffect" presetClass="entr" presetID="22" presetSubtype="4">
                                  <p:stCondLst>
                                    <p:cond delay="0"/>
                                  </p:stCondLst>
                                  <p:childTnLst>
                                    <p:set>
                                      <p:cBhvr>
                                        <p:cTn dur="1" fill="hold" id="16">
                                          <p:stCondLst>
                                            <p:cond delay="0"/>
                                          </p:stCondLst>
                                        </p:cTn>
                                        <p:tgtEl>
                                          <p:spTgt spid="1048842"/>
                                        </p:tgtEl>
                                        <p:attrNameLst>
                                          <p:attrName>style.visibility</p:attrName>
                                        </p:attrNameLst>
                                      </p:cBhvr>
                                      <p:to>
                                        <p:strVal val="visible"/>
                                      </p:to>
                                    </p:set>
                                    <p:animEffect transition="in" filter="wipe(down)">
                                      <p:cBhvr>
                                        <p:cTn dur="500" id="17"/>
                                        <p:tgtEl>
                                          <p:spTgt spid="1048842"/>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22" presetSubtype="4">
                                  <p:stCondLst>
                                    <p:cond delay="0"/>
                                  </p:stCondLst>
                                  <p:childTnLst>
                                    <p:set>
                                      <p:cBhvr>
                                        <p:cTn dur="1" fill="hold" id="21">
                                          <p:stCondLst>
                                            <p:cond delay="0"/>
                                          </p:stCondLst>
                                        </p:cTn>
                                        <p:tgtEl>
                                          <p:spTgt spid="1048844"/>
                                        </p:tgtEl>
                                        <p:attrNameLst>
                                          <p:attrName>style.visibility</p:attrName>
                                        </p:attrNameLst>
                                      </p:cBhvr>
                                      <p:to>
                                        <p:strVal val="visible"/>
                                      </p:to>
                                    </p:set>
                                    <p:animEffect transition="in" filter="wipe(down)">
                                      <p:cBhvr>
                                        <p:cTn dur="500" id="22"/>
                                        <p:tgtEl>
                                          <p:spTgt spid="1048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841" grpId="0" animBg="1"/>
      <p:bldP spid="1048842" grpId="0" animBg="1"/>
      <p:bldP spid="1048844" grpId="0" animBg="1"/>
      <p:bldP spid="1048845"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1" showMasterSp="0">
  <p:cSld>
    <p:spTree>
      <p:nvGrpSpPr>
        <p:cNvPr id="170" name=""/>
        <p:cNvGrpSpPr/>
        <p:nvPr/>
      </p:nvGrpSpPr>
      <p:grpSpPr>
        <a:xfrm>
          <a:off x="0" y="0"/>
          <a:ext cx="0" cy="0"/>
          <a:chOff x="0" y="0"/>
          <a:chExt cx="0" cy="0"/>
        </a:xfrm>
      </p:grpSpPr>
      <p:sp>
        <p:nvSpPr>
          <p:cNvPr id="1048849" name="Titre 4"/>
          <p:cNvSpPr>
            <a:spLocks noGrp="1"/>
          </p:cNvSpPr>
          <p:nvPr>
            <p:ph type="title"/>
          </p:nvPr>
        </p:nvSpPr>
        <p:spPr>
          <a:xfrm>
            <a:off x="0" y="142528"/>
            <a:ext cx="9144000" cy="766192"/>
          </a:xfrm>
        </p:spPr>
        <p:txBody>
          <a:bodyPr>
            <a:noAutofit/>
          </a:bodyPr>
          <a:p>
            <a:pPr algn="ctr"/>
            <a:r>
              <a:rPr cap="none" dirty="0" sz="2400" i="1" lang="fr-FR" smtClean="0">
                <a:solidFill>
                  <a:srgbClr val="FA8006"/>
                </a:solidFill>
                <a:effectLst/>
                <a:latin typeface="+mn-lt"/>
              </a:rPr>
              <a:t>b</a:t>
            </a:r>
            <a:r>
              <a:rPr dirty="0" sz="2400" i="1" lang="fr-FR" smtClean="0">
                <a:solidFill>
                  <a:srgbClr val="FA8006"/>
                </a:solidFill>
                <a:effectLst/>
                <a:latin typeface="+mn-lt"/>
              </a:rPr>
              <a:t>-TRT DE LA PÉRICARDITE RÉCIDIVANTE</a:t>
            </a:r>
            <a:endParaRPr dirty="0" sz="2400" i="1" lang="fr-FR">
              <a:solidFill>
                <a:srgbClr val="FA8006"/>
              </a:solidFill>
              <a:effectLst/>
              <a:latin typeface="+mn-lt"/>
            </a:endParaRPr>
          </a:p>
        </p:txBody>
      </p:sp>
      <p:graphicFrame>
        <p:nvGraphicFramePr>
          <p:cNvPr id="4194309" name="Espace réservé du contenu 3"/>
          <p:cNvGraphicFramePr>
            <a:graphicFrameLocks noGrp="1"/>
          </p:cNvGraphicFramePr>
          <p:nvPr>
            <p:ph idx="1"/>
          </p:nvPr>
        </p:nvGraphicFramePr>
        <p:xfrm>
          <a:off x="304800" y="1122363"/>
          <a:ext cx="8686800" cy="4895772"/>
        </p:xfrm>
        <a:graphic>
          <a:graphicData uri="http://schemas.openxmlformats.org/drawingml/2006/table">
            <a:tbl>
              <a:tblPr firstRow="1" bandRow="1">
                <a:tableStyleId>{BC89EF96-8CEA-46FF-86C4-4CE0E7609802}</a:tableStyleId>
              </a:tblPr>
              <a:tblGrid>
                <a:gridCol w="1674912"/>
                <a:gridCol w="2448272"/>
                <a:gridCol w="1728192"/>
                <a:gridCol w="2835424"/>
              </a:tblGrid>
              <a:tr h="434429">
                <a:tc>
                  <a:txBody>
                    <a:bodyPr/>
                    <a:p>
                      <a:pPr algn="ctr"/>
                      <a:r>
                        <a:rPr b="1" dirty="0" i="1" lang="fr-FR" smtClean="0">
                          <a:solidFill>
                            <a:schemeClr val="accent6">
                              <a:lumMod val="50000"/>
                            </a:schemeClr>
                          </a:solidFill>
                        </a:rPr>
                        <a:t>Médicament</a:t>
                      </a:r>
                      <a:endParaRPr b="1" dirty="0" i="1" lang="fr-FR">
                        <a:solidFill>
                          <a:schemeClr val="accent6">
                            <a:lumMod val="50000"/>
                          </a:schemeClr>
                        </a:solidFill>
                      </a:endParaRPr>
                    </a:p>
                  </a:txBody>
                </a:tc>
                <a:tc>
                  <a:txBody>
                    <a:bodyPr/>
                    <a:p>
                      <a:pPr algn="ctr"/>
                      <a:r>
                        <a:rPr b="1" dirty="0" i="1" lang="fr-FR" smtClean="0">
                          <a:solidFill>
                            <a:schemeClr val="accent6">
                              <a:lumMod val="50000"/>
                            </a:schemeClr>
                          </a:solidFill>
                        </a:rPr>
                        <a:t>Posologie initiale</a:t>
                      </a:r>
                      <a:endParaRPr b="1" dirty="0" i="1" lang="fr-FR">
                        <a:solidFill>
                          <a:schemeClr val="accent6">
                            <a:lumMod val="50000"/>
                          </a:schemeClr>
                        </a:solidFill>
                      </a:endParaRPr>
                    </a:p>
                  </a:txBody>
                </a:tc>
                <a:tc>
                  <a:txBody>
                    <a:bodyPr/>
                    <a:p>
                      <a:pPr algn="ctr"/>
                      <a:r>
                        <a:rPr b="1" dirty="0" i="1" lang="fr-FR" smtClean="0">
                          <a:solidFill>
                            <a:schemeClr val="accent6">
                              <a:lumMod val="50000"/>
                            </a:schemeClr>
                          </a:solidFill>
                        </a:rPr>
                        <a:t>Durée</a:t>
                      </a:r>
                      <a:endParaRPr b="1" dirty="0" i="1" lang="fr-FR">
                        <a:solidFill>
                          <a:schemeClr val="accent6">
                            <a:lumMod val="50000"/>
                          </a:schemeClr>
                        </a:solidFill>
                      </a:endParaRPr>
                    </a:p>
                  </a:txBody>
                </a:tc>
                <a:tc>
                  <a:txBody>
                    <a:bodyPr/>
                    <a:p>
                      <a:pPr algn="ctr"/>
                      <a:r>
                        <a:rPr b="1" dirty="0" i="1" lang="fr-FR" smtClean="0">
                          <a:solidFill>
                            <a:schemeClr val="accent6">
                              <a:lumMod val="50000"/>
                            </a:schemeClr>
                          </a:solidFill>
                        </a:rPr>
                        <a:t>Décroissance</a:t>
                      </a:r>
                      <a:endParaRPr b="1" dirty="0" i="1" lang="fr-FR">
                        <a:solidFill>
                          <a:schemeClr val="accent6">
                            <a:lumMod val="50000"/>
                          </a:schemeClr>
                        </a:solidFill>
                      </a:endParaRPr>
                    </a:p>
                  </a:txBody>
                </a:tc>
              </a:tr>
              <a:tr h="623491">
                <a:tc>
                  <a:txBody>
                    <a:bodyPr/>
                    <a:p>
                      <a:pPr algn="ctr"/>
                      <a:r>
                        <a:rPr dirty="0" lang="fr-FR" smtClean="0"/>
                        <a:t>Aspirine</a:t>
                      </a:r>
                      <a:endParaRPr dirty="0" lang="fr-FR"/>
                    </a:p>
                  </a:txBody>
                </a:tc>
                <a:tc>
                  <a:txBody>
                    <a:bodyPr/>
                    <a:p>
                      <a:pPr algn="ctr"/>
                      <a:r>
                        <a:rPr dirty="0" lang="fr-FR" smtClean="0"/>
                        <a:t>750 - 1000</a:t>
                      </a:r>
                      <a:r>
                        <a:rPr baseline="0" dirty="0" lang="fr-FR" smtClean="0"/>
                        <a:t> mg /</a:t>
                      </a:r>
                      <a:r>
                        <a:rPr baseline="0" b="1" dirty="0" lang="fr-FR" smtClean="0">
                          <a:solidFill>
                            <a:srgbClr val="C00000"/>
                          </a:solidFill>
                        </a:rPr>
                        <a:t>8h</a:t>
                      </a:r>
                    </a:p>
                  </a:txBody>
                </a:tc>
                <a:tc>
                  <a:txBody>
                    <a:bodyPr/>
                    <a:p>
                      <a:pPr algn="ctr"/>
                      <a:r>
                        <a:rPr dirty="0" lang="fr-FR" smtClean="0"/>
                        <a:t>Semaines-mois</a:t>
                      </a:r>
                      <a:endParaRPr dirty="0" lang="fr-FR"/>
                    </a:p>
                  </a:txBody>
                </a:tc>
                <a:tc>
                  <a:txBody>
                    <a:bodyPr/>
                    <a:p>
                      <a:pPr algn="ctr"/>
                      <a:r>
                        <a:rPr dirty="0" lang="fr-FR" smtClean="0"/>
                        <a:t>250 mg / 1</a:t>
                      </a:r>
                      <a:r>
                        <a:rPr baseline="0" dirty="0" lang="fr-FR" smtClean="0"/>
                        <a:t> à </a:t>
                      </a:r>
                      <a:r>
                        <a:rPr dirty="0" lang="fr-FR" smtClean="0"/>
                        <a:t>2 semaines</a:t>
                      </a:r>
                      <a:endParaRPr dirty="0" lang="fr-FR"/>
                    </a:p>
                  </a:txBody>
                </a:tc>
              </a:tr>
              <a:tr h="623491">
                <a:tc>
                  <a:txBody>
                    <a:bodyPr/>
                    <a:p>
                      <a:pPr algn="ctr"/>
                      <a:r>
                        <a:rPr dirty="0" lang="fr-FR" smtClean="0"/>
                        <a:t>Ibuprofène</a:t>
                      </a:r>
                      <a:endParaRPr dirty="0" lang="fr-FR"/>
                    </a:p>
                  </a:txBody>
                </a:tc>
                <a:tc>
                  <a:txBody>
                    <a:bodyPr/>
                    <a:p>
                      <a:pPr algn="ctr"/>
                      <a:r>
                        <a:rPr dirty="0" lang="fr-FR" smtClean="0"/>
                        <a:t>600 - 800 mg / </a:t>
                      </a:r>
                      <a:r>
                        <a:rPr b="1" dirty="0" lang="fr-FR" smtClean="0">
                          <a:solidFill>
                            <a:srgbClr val="C00000"/>
                          </a:solidFill>
                        </a:rPr>
                        <a:t>8h</a:t>
                      </a:r>
                      <a:endParaRPr b="1" dirty="0" lang="fr-FR">
                        <a:solidFill>
                          <a:srgbClr val="C00000"/>
                        </a:solidFill>
                      </a:endParaRPr>
                    </a:p>
                  </a:txBody>
                </a:tc>
                <a:tc>
                  <a:txBody>
                    <a:bodyPr/>
                    <a:p>
                      <a:pPr algn="ctr"/>
                      <a:r>
                        <a:rPr dirty="0" lang="fr-FR" smtClean="0"/>
                        <a:t>Semaines-mois</a:t>
                      </a:r>
                    </a:p>
                    <a:p>
                      <a:endParaRPr dirty="0" lang="fr-FR"/>
                    </a:p>
                  </a:txBody>
                </a:tc>
                <a:tc>
                  <a:txBody>
                    <a:bodyPr/>
                    <a:p>
                      <a:pPr algn="ctr" defTabSz="914400" eaLnBrk="1" fontAlgn="auto" hangingPunct="1" indent="0" latinLnBrk="0" marL="0" marR="0" rtl="0">
                        <a:lnSpc>
                          <a:spcPct val="100000"/>
                        </a:lnSpc>
                        <a:spcBef>
                          <a:spcPts val="0"/>
                        </a:spcBef>
                        <a:spcAft>
                          <a:spcPts val="0"/>
                        </a:spcAft>
                        <a:buClrTx/>
                        <a:buSzTx/>
                        <a:buFontTx/>
                        <a:buNone/>
                      </a:pPr>
                      <a:r>
                        <a:rPr dirty="0" lang="fr-FR" smtClean="0"/>
                        <a:t>200</a:t>
                      </a:r>
                      <a:r>
                        <a:rPr baseline="0" dirty="0" lang="fr-FR" smtClean="0"/>
                        <a:t> </a:t>
                      </a:r>
                      <a:r>
                        <a:rPr dirty="0" lang="fr-FR" smtClean="0"/>
                        <a:t>mg / 1 à 2 semaines</a:t>
                      </a:r>
                    </a:p>
                    <a:p>
                      <a:endParaRPr dirty="0" lang="fr-FR"/>
                    </a:p>
                  </a:txBody>
                </a:tc>
              </a:tr>
              <a:tr h="623491">
                <a:tc>
                  <a:txBody>
                    <a:bodyPr/>
                    <a:p>
                      <a:pPr algn="ctr"/>
                      <a:r>
                        <a:rPr b="1" dirty="0" lang="fr-FR" err="1" smtClean="0"/>
                        <a:t>Indométhacine</a:t>
                      </a:r>
                      <a:endParaRPr b="1" dirty="0" lang="fr-FR"/>
                    </a:p>
                  </a:txBody>
                </a:tc>
                <a:tc>
                  <a:txBody>
                    <a:bodyPr/>
                    <a:p>
                      <a:pPr algn="ctr" defTabSz="914400" eaLnBrk="1" fontAlgn="auto" hangingPunct="1" indent="0" latinLnBrk="0" marL="0" marR="0" rtl="0">
                        <a:lnSpc>
                          <a:spcPct val="100000"/>
                        </a:lnSpc>
                        <a:spcBef>
                          <a:spcPts val="0"/>
                        </a:spcBef>
                        <a:spcAft>
                          <a:spcPts val="0"/>
                        </a:spcAft>
                        <a:buClrTx/>
                        <a:buSzTx/>
                        <a:buFontTx/>
                        <a:buNone/>
                      </a:pPr>
                      <a:r>
                        <a:rPr b="0" dirty="0" lang="fr-FR" smtClean="0"/>
                        <a:t>25 - 50</a:t>
                      </a:r>
                      <a:r>
                        <a:rPr baseline="0" b="0" dirty="0" lang="fr-FR" smtClean="0"/>
                        <a:t> mg /</a:t>
                      </a:r>
                      <a:r>
                        <a:rPr baseline="0" b="1" dirty="0" lang="fr-FR" smtClean="0">
                          <a:solidFill>
                            <a:srgbClr val="C00000"/>
                          </a:solidFill>
                        </a:rPr>
                        <a:t>8h</a:t>
                      </a:r>
                      <a:r>
                        <a:rPr baseline="0" b="1" dirty="0" lang="fr-FR" smtClean="0"/>
                        <a:t> </a:t>
                      </a:r>
                      <a:endParaRPr b="1" dirty="0" lang="fr-FR" smtClean="0"/>
                    </a:p>
                    <a:p>
                      <a:endParaRPr b="1" dirty="0" lang="fr-FR"/>
                    </a:p>
                  </a:txBody>
                </a:tc>
                <a:tc>
                  <a:txBody>
                    <a:bodyPr/>
                    <a:p>
                      <a:pPr algn="l" defTabSz="914400" eaLnBrk="1" fontAlgn="auto" hangingPunct="1" indent="0" latinLnBrk="0" marL="0" marR="0" rtl="0">
                        <a:lnSpc>
                          <a:spcPct val="100000"/>
                        </a:lnSpc>
                        <a:spcBef>
                          <a:spcPts val="0"/>
                        </a:spcBef>
                        <a:spcAft>
                          <a:spcPts val="0"/>
                        </a:spcAft>
                        <a:buClrTx/>
                        <a:buSzTx/>
                        <a:buFontTx/>
                        <a:buNone/>
                      </a:pPr>
                      <a:r>
                        <a:rPr b="0" dirty="0" lang="fr-FR" smtClean="0"/>
                        <a:t>Semaines-mois</a:t>
                      </a:r>
                    </a:p>
                    <a:p>
                      <a:endParaRPr b="0" dirty="0" lang="fr-FR"/>
                    </a:p>
                  </a:txBody>
                </a:tc>
                <a:tc>
                  <a:txBody>
                    <a:bodyPr/>
                    <a:p>
                      <a:pPr algn="ctr"/>
                      <a:r>
                        <a:rPr b="0" dirty="0" lang="fr-FR" smtClean="0"/>
                        <a:t>25 mg / 1-2 semaines</a:t>
                      </a:r>
                      <a:endParaRPr b="0" dirty="0" lang="fr-FR"/>
                    </a:p>
                  </a:txBody>
                </a:tc>
              </a:tr>
              <a:tr h="697760">
                <a:tc>
                  <a:txBody>
                    <a:bodyPr/>
                    <a:p>
                      <a:pPr algn="ctr" defTabSz="914400" eaLnBrk="1" fontAlgn="auto" hangingPunct="1" indent="0" latinLnBrk="0" marL="0" marR="0" rtl="0">
                        <a:lnSpc>
                          <a:spcPct val="100000"/>
                        </a:lnSpc>
                        <a:spcBef>
                          <a:spcPts val="0"/>
                        </a:spcBef>
                        <a:spcAft>
                          <a:spcPts val="0"/>
                        </a:spcAft>
                        <a:buClrTx/>
                        <a:buSzTx/>
                        <a:buFontTx/>
                        <a:buNone/>
                      </a:pPr>
                      <a:r>
                        <a:rPr dirty="0" lang="fr-FR" smtClean="0"/>
                        <a:t>Colchicine</a:t>
                      </a:r>
                    </a:p>
                    <a:p>
                      <a:pPr algn="ctr"/>
                      <a:endParaRPr dirty="0" lang="fr-FR"/>
                    </a:p>
                  </a:txBody>
                </a:tc>
                <a:tc>
                  <a:txBody>
                    <a:bodyPr/>
                    <a:p>
                      <a:pPr algn="ctr"/>
                      <a:r>
                        <a:rPr dirty="0" lang="fr-FR" smtClean="0">
                          <a:sym typeface="Symbol"/>
                        </a:rPr>
                        <a:t></a:t>
                      </a:r>
                      <a:r>
                        <a:rPr dirty="0" lang="fr-FR" smtClean="0"/>
                        <a:t>70 Kg: 0,5 mg/jr</a:t>
                      </a:r>
                    </a:p>
                    <a:p>
                      <a:pPr algn="ctr"/>
                      <a:r>
                        <a:rPr dirty="0" lang="fr-FR" smtClean="0">
                          <a:sym typeface="Symbol"/>
                        </a:rPr>
                        <a:t></a:t>
                      </a:r>
                      <a:r>
                        <a:rPr dirty="0" lang="fr-FR" smtClean="0"/>
                        <a:t> 70 Kg: 0,5 mg x2 / jr</a:t>
                      </a:r>
                      <a:endParaRPr dirty="0" lang="fr-FR"/>
                    </a:p>
                  </a:txBody>
                </a:tc>
                <a:tc>
                  <a:txBody>
                    <a:bodyPr/>
                    <a:p>
                      <a:pPr algn="ctr"/>
                      <a:r>
                        <a:rPr b="1" dirty="0" lang="fr-FR" smtClean="0">
                          <a:sym typeface="Symbol"/>
                        </a:rPr>
                        <a:t> </a:t>
                      </a:r>
                      <a:r>
                        <a:rPr dirty="0" lang="fr-FR" smtClean="0">
                          <a:sym typeface="Symbol"/>
                        </a:rPr>
                        <a:t>6 </a:t>
                      </a:r>
                      <a:r>
                        <a:rPr dirty="0" lang="fr-FR" smtClean="0"/>
                        <a:t>mois</a:t>
                      </a:r>
                      <a:endParaRPr dirty="0" lang="fr-FR"/>
                    </a:p>
                  </a:txBody>
                </a:tc>
                <a:tc>
                  <a:txBody>
                    <a:bodyPr/>
                    <a:p>
                      <a:pPr algn="ctr"/>
                      <a:r>
                        <a:rPr dirty="0" lang="fr-FR" smtClean="0"/>
                        <a:t>facultative</a:t>
                      </a:r>
                      <a:endParaRPr dirty="0" lang="fr-FR"/>
                    </a:p>
                  </a:txBody>
                </a:tc>
              </a:tr>
              <a:tr h="522092">
                <a:tc gridSpan="4">
                  <a:txBody>
                    <a:bodyPr/>
                    <a:p>
                      <a:pPr algn="ctr"/>
                      <a:r>
                        <a:rPr b="1" dirty="0" i="1" lang="fr-FR" smtClean="0">
                          <a:solidFill>
                            <a:srgbClr val="FF0000"/>
                          </a:solidFill>
                        </a:rPr>
                        <a:t>TRAITEMENT DE 2</a:t>
                      </a:r>
                      <a:r>
                        <a:rPr baseline="30000" b="1" dirty="0" i="1" lang="fr-FR" smtClean="0">
                          <a:solidFill>
                            <a:srgbClr val="FF0000"/>
                          </a:solidFill>
                        </a:rPr>
                        <a:t>ème</a:t>
                      </a:r>
                      <a:r>
                        <a:rPr baseline="0" b="1" dirty="0" i="1" lang="fr-FR" smtClean="0">
                          <a:solidFill>
                            <a:srgbClr val="FF0000"/>
                          </a:solidFill>
                        </a:rPr>
                        <a:t> LIGNE</a:t>
                      </a:r>
                      <a:r>
                        <a:rPr baseline="0" b="1" dirty="0" i="1" lang="fr-FR" smtClean="0">
                          <a:solidFill>
                            <a:schemeClr val="tx1"/>
                          </a:solidFill>
                        </a:rPr>
                        <a:t>: CORTICOÏDES  0,2-0,5 mg/Kg/jr </a:t>
                      </a:r>
                      <a:r>
                        <a:rPr baseline="0" b="1" dirty="0" i="1" lang="fr-FR" u="sng" smtClean="0">
                          <a:solidFill>
                            <a:srgbClr val="800000"/>
                          </a:solidFill>
                        </a:rPr>
                        <a:t>+</a:t>
                      </a:r>
                      <a:r>
                        <a:rPr baseline="0" b="1" dirty="0" i="1" lang="fr-FR" u="sng" smtClean="0">
                          <a:solidFill>
                            <a:schemeClr val="tx1"/>
                          </a:solidFill>
                        </a:rPr>
                        <a:t> colchicine ± AINS</a:t>
                      </a:r>
                      <a:endParaRPr b="1" dirty="0" lang="fr-FR" u="sng">
                        <a:solidFill>
                          <a:schemeClr val="tx1"/>
                        </a:solidFill>
                      </a:endParaRPr>
                    </a:p>
                  </a:txBody>
                </a:tc>
                <a:tc hMerge="1">
                  <a:txBody>
                    <a:bodyPr/>
                    <a:p>
                      <a:pPr algn="ctr"/>
                      <a:endParaRPr dirty="0" lang="fr-FR"/>
                    </a:p>
                  </a:txBody>
                </a:tc>
                <a:tc hMerge="1">
                  <a:txBody>
                    <a:bodyPr/>
                    <a:p>
                      <a:pPr algn="ctr"/>
                      <a:endParaRPr dirty="0" lang="fr-FR"/>
                    </a:p>
                  </a:txBody>
                </a:tc>
                <a:tc hMerge="1">
                  <a:txBody>
                    <a:bodyPr/>
                    <a:p>
                      <a:pPr algn="ctr"/>
                      <a:endParaRPr dirty="0" lang="fr-FR"/>
                    </a:p>
                  </a:txBody>
                </a:tc>
              </a:tr>
              <a:tr h="623491">
                <a:tc gridSpan="4">
                  <a:txBody>
                    <a:bodyPr/>
                    <a:p>
                      <a:pPr algn="ctr" defTabSz="914400" eaLnBrk="1" fontAlgn="auto" hangingPunct="1" indent="0" latinLnBrk="0" marL="0" marR="0" rtl="0">
                        <a:lnSpc>
                          <a:spcPct val="100000"/>
                        </a:lnSpc>
                        <a:spcBef>
                          <a:spcPts val="0"/>
                        </a:spcBef>
                        <a:spcAft>
                          <a:spcPts val="0"/>
                        </a:spcAft>
                        <a:buClrTx/>
                        <a:buSzTx/>
                        <a:buFontTx/>
                        <a:buNone/>
                      </a:pPr>
                      <a:r>
                        <a:rPr b="1" dirty="0" i="1" lang="fr-FR" smtClean="0">
                          <a:solidFill>
                            <a:srgbClr val="C00000"/>
                          </a:solidFill>
                        </a:rPr>
                        <a:t>TRAITEMENT DE 3</a:t>
                      </a:r>
                      <a:r>
                        <a:rPr baseline="30000" b="1" dirty="0" i="1" lang="fr-FR" smtClean="0">
                          <a:solidFill>
                            <a:srgbClr val="C00000"/>
                          </a:solidFill>
                        </a:rPr>
                        <a:t>ème</a:t>
                      </a:r>
                      <a:r>
                        <a:rPr b="1" dirty="0" i="1" lang="fr-FR" smtClean="0">
                          <a:solidFill>
                            <a:srgbClr val="C00000"/>
                          </a:solidFill>
                        </a:rPr>
                        <a:t> </a:t>
                      </a:r>
                      <a:r>
                        <a:rPr baseline="0" b="1" dirty="0" i="1" lang="fr-FR" smtClean="0">
                          <a:solidFill>
                            <a:srgbClr val="C00000"/>
                          </a:solidFill>
                        </a:rPr>
                        <a:t>LIGNE</a:t>
                      </a:r>
                      <a:r>
                        <a:rPr baseline="0" b="1" dirty="0" i="1" lang="fr-FR" smtClean="0">
                          <a:solidFill>
                            <a:schemeClr val="tx1"/>
                          </a:solidFill>
                        </a:rPr>
                        <a:t>: antagonistes des IL-1 (</a:t>
                      </a:r>
                      <a:r>
                        <a:rPr baseline="0" b="1" dirty="0" i="1" lang="fr-FR" err="1" smtClean="0">
                          <a:solidFill>
                            <a:schemeClr val="tx1"/>
                          </a:solidFill>
                        </a:rPr>
                        <a:t>anakinra</a:t>
                      </a:r>
                      <a:r>
                        <a:rPr baseline="0" b="1" dirty="0" i="1" lang="fr-FR" smtClean="0">
                          <a:solidFill>
                            <a:schemeClr val="tx1"/>
                          </a:solidFill>
                        </a:rPr>
                        <a:t>, </a:t>
                      </a:r>
                      <a:r>
                        <a:rPr baseline="0" b="1" dirty="0" i="1" lang="fr-FR" err="1" smtClean="0">
                          <a:solidFill>
                            <a:schemeClr val="tx1"/>
                          </a:solidFill>
                        </a:rPr>
                        <a:t>rilonacept</a:t>
                      </a:r>
                      <a:r>
                        <a:rPr baseline="0" b="1" dirty="0" i="1" lang="fr-FR" smtClean="0">
                          <a:solidFill>
                            <a:schemeClr val="tx1"/>
                          </a:solidFill>
                        </a:rPr>
                        <a:t>)</a:t>
                      </a:r>
                      <a:endParaRPr b="1" dirty="0" lang="fr-FR" smtClean="0">
                        <a:solidFill>
                          <a:schemeClr val="tx1"/>
                        </a:solidFill>
                      </a:endParaRPr>
                    </a:p>
                    <a:p>
                      <a:pPr algn="ctr"/>
                      <a:endParaRPr dirty="0" lang="fr-FR"/>
                    </a:p>
                  </a:txBody>
                </a:tc>
                <a:tc hMerge="1">
                  <a:txBody>
                    <a:bodyPr/>
                    <a:p>
                      <a:pPr algn="ctr"/>
                      <a:endParaRPr dirty="0" lang="fr-FR"/>
                    </a:p>
                  </a:txBody>
                </a:tc>
                <a:tc hMerge="1">
                  <a:txBody>
                    <a:bodyPr/>
                    <a:p>
                      <a:pPr algn="ctr"/>
                      <a:endParaRPr dirty="0" lang="fr-FR"/>
                    </a:p>
                  </a:txBody>
                </a:tc>
                <a:tc hMerge="1">
                  <a:txBody>
                    <a:bodyPr/>
                    <a:p>
                      <a:pPr algn="ctr"/>
                      <a:endParaRPr dirty="0" lang="fr-FR"/>
                    </a:p>
                  </a:txBody>
                </a:tc>
              </a:tr>
              <a:tr h="697760">
                <a:tc gridSpan="4">
                  <a:txBody>
                    <a:bodyPr/>
                    <a:p>
                      <a:pPr algn="ctr" defTabSz="914400" eaLnBrk="1" fontAlgn="auto" hangingPunct="1" indent="0" latinLnBrk="0" marL="0" marR="0" rtl="0">
                        <a:lnSpc>
                          <a:spcPct val="100000"/>
                        </a:lnSpc>
                        <a:spcBef>
                          <a:spcPts val="0"/>
                        </a:spcBef>
                        <a:spcAft>
                          <a:spcPts val="0"/>
                        </a:spcAft>
                        <a:buClrTx/>
                        <a:buSzTx/>
                        <a:buFontTx/>
                        <a:buNone/>
                      </a:pPr>
                      <a:r>
                        <a:rPr b="1" dirty="0" i="1" lang="fr-FR" smtClean="0">
                          <a:solidFill>
                            <a:srgbClr val="800000"/>
                          </a:solidFill>
                        </a:rPr>
                        <a:t>TRAITEMENT DE 4</a:t>
                      </a:r>
                      <a:r>
                        <a:rPr baseline="30000" b="1" dirty="0" i="1" lang="fr-FR" smtClean="0">
                          <a:solidFill>
                            <a:srgbClr val="800000"/>
                          </a:solidFill>
                        </a:rPr>
                        <a:t>ème</a:t>
                      </a:r>
                      <a:r>
                        <a:rPr b="1" dirty="0" i="1" lang="fr-FR" smtClean="0">
                          <a:solidFill>
                            <a:srgbClr val="800000"/>
                          </a:solidFill>
                        </a:rPr>
                        <a:t> </a:t>
                      </a:r>
                      <a:r>
                        <a:rPr baseline="0" b="1" dirty="0" i="1" lang="fr-FR" smtClean="0">
                          <a:solidFill>
                            <a:srgbClr val="800000"/>
                          </a:solidFill>
                        </a:rPr>
                        <a:t>LIGNE</a:t>
                      </a:r>
                      <a:r>
                        <a:rPr baseline="0" b="1" dirty="0" i="1" lang="fr-FR" smtClean="0">
                          <a:solidFill>
                            <a:schemeClr val="tx1"/>
                          </a:solidFill>
                        </a:rPr>
                        <a:t>:  </a:t>
                      </a:r>
                      <a:r>
                        <a:rPr baseline="0" b="1" dirty="0" i="1" lang="fr-FR" err="1" smtClean="0">
                          <a:solidFill>
                            <a:schemeClr val="tx1"/>
                          </a:solidFill>
                        </a:rPr>
                        <a:t>Hydroxychloroquine</a:t>
                      </a:r>
                      <a:endParaRPr dirty="0" lang="fr-FR" smtClean="0"/>
                    </a:p>
                    <a:p>
                      <a:pPr algn="ctr"/>
                      <a:endParaRPr dirty="0" lang="fr-FR"/>
                    </a:p>
                  </a:txBody>
                </a:tc>
                <a:tc hMerge="1">
                  <a:txBody>
                    <a:bodyPr/>
                    <a:p>
                      <a:endParaRPr lang="fr-FR"/>
                    </a:p>
                  </a:txBody>
                </a:tc>
                <a:tc hMerge="1">
                  <a:txBody>
                    <a:bodyPr/>
                    <a:p>
                      <a:endParaRPr lang="fr-FR"/>
                    </a:p>
                  </a:txBody>
                </a:tc>
                <a:tc hMerge="1">
                  <a:txBody>
                    <a:bodyPr/>
                    <a:p>
                      <a:endParaRPr lang="fr-FR"/>
                    </a:p>
                  </a:txBody>
                </a:tc>
              </a:tr>
            </a:tbl>
          </a:graphicData>
        </a:graphic>
      </p:graphicFrame>
    </p:spTree>
  </p:cSld>
  <p:clrMapOvr>
    <a:masterClrMapping/>
  </p:clrMapOvr>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73" name=""/>
        <p:cNvGrpSpPr/>
        <p:nvPr/>
      </p:nvGrpSpPr>
      <p:grpSpPr>
        <a:xfrm>
          <a:off x="0" y="0"/>
          <a:ext cx="0" cy="0"/>
          <a:chOff x="0" y="0"/>
          <a:chExt cx="0" cy="0"/>
        </a:xfrm>
      </p:grpSpPr>
      <p:pic>
        <p:nvPicPr>
          <p:cNvPr id="2097174" name="Picture 2"/>
          <p:cNvPicPr>
            <a:picLocks noChangeAspect="1" noChangeArrowheads="1"/>
          </p:cNvPicPr>
          <p:nvPr/>
        </p:nvPicPr>
        <p:blipFill>
          <a:blip xmlns:r="http://schemas.openxmlformats.org/officeDocument/2006/relationships" r:embed="rId1" cstate="print"/>
          <a:srcRect l="2114" t="1142" b="1788"/>
          <a:stretch>
            <a:fillRect/>
          </a:stretch>
        </p:blipFill>
        <p:spPr bwMode="auto">
          <a:xfrm>
            <a:off x="1187624" y="620688"/>
            <a:ext cx="6668641" cy="6120680"/>
          </a:xfrm>
          <a:prstGeom prst="rect"/>
          <a:ln>
            <a:noFill/>
          </a:ln>
          <a:effectLst>
            <a:outerShdw algn="bl" blurRad="50800" dir="18900000" dist="38100" rotWithShape="0">
              <a:prstClr val="black">
                <a:alpha val="40000"/>
              </a:prstClr>
            </a:outerShdw>
          </a:effectLst>
        </p:spPr>
      </p:pic>
      <p:sp>
        <p:nvSpPr>
          <p:cNvPr id="1048853" name="ZoneTexte 5"/>
          <p:cNvSpPr txBox="1"/>
          <p:nvPr/>
        </p:nvSpPr>
        <p:spPr>
          <a:xfrm>
            <a:off x="1475656" y="683985"/>
            <a:ext cx="5184576" cy="584775"/>
          </a:xfrm>
          <a:prstGeom prst="rect"/>
          <a:solidFill>
            <a:srgbClr val="92D050"/>
          </a:solidFill>
          <a:effectLst>
            <a:outerShdw algn="br" blurRad="50800" dir="13500000" dist="38100" rotWithShape="0">
              <a:prstClr val="black">
                <a:alpha val="40000"/>
              </a:prstClr>
            </a:outerShdw>
          </a:effectLst>
        </p:spPr>
        <p:txBody>
          <a:bodyPr rtlCol="0" wrap="square">
            <a:spAutoFit/>
          </a:bodyPr>
          <a:p>
            <a:pPr algn="ctr"/>
            <a:r>
              <a:rPr dirty="0" sz="1600" lang="fr-FR" smtClean="0"/>
              <a:t>Repos + TRT de </a:t>
            </a:r>
            <a:r>
              <a:rPr dirty="0" sz="1600" lang="fr-FR" u="sng" smtClean="0"/>
              <a:t>1</a:t>
            </a:r>
            <a:r>
              <a:rPr baseline="30000" dirty="0" sz="1600" lang="fr-FR" u="sng" smtClean="0"/>
              <a:t>ère</a:t>
            </a:r>
            <a:r>
              <a:rPr dirty="0" sz="1600" lang="fr-FR" u="sng" smtClean="0"/>
              <a:t> ligne</a:t>
            </a:r>
          </a:p>
          <a:p>
            <a:pPr algn="ctr"/>
            <a:r>
              <a:rPr dirty="0" sz="1600" lang="fr-FR" smtClean="0"/>
              <a:t>Aspirine/ AINS + Colchicine</a:t>
            </a:r>
            <a:endParaRPr dirty="0" sz="1600" lang="fr-FR"/>
          </a:p>
        </p:txBody>
      </p:sp>
      <p:sp>
        <p:nvSpPr>
          <p:cNvPr id="1048854" name="ZoneTexte 6"/>
          <p:cNvSpPr txBox="1"/>
          <p:nvPr/>
        </p:nvSpPr>
        <p:spPr>
          <a:xfrm>
            <a:off x="2267744" y="1628800"/>
            <a:ext cx="2304256" cy="307777"/>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Réponse au TRT</a:t>
            </a:r>
            <a:endParaRPr dirty="0" sz="1400" lang="fr-FR"/>
          </a:p>
        </p:txBody>
      </p:sp>
      <p:sp>
        <p:nvSpPr>
          <p:cNvPr id="1048855" name="ZoneTexte 15"/>
          <p:cNvSpPr txBox="1"/>
          <p:nvPr/>
        </p:nvSpPr>
        <p:spPr>
          <a:xfrm>
            <a:off x="3563888" y="2647945"/>
            <a:ext cx="2160240" cy="57404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600" lang="fr-FR" smtClean="0"/>
              <a:t>Incessante/récidivante</a:t>
            </a:r>
            <a:endParaRPr dirty="0" sz="1600" lang="fr-FR"/>
          </a:p>
        </p:txBody>
      </p:sp>
      <p:sp>
        <p:nvSpPr>
          <p:cNvPr id="1048856" name="ZoneTexte 16"/>
          <p:cNvSpPr txBox="1"/>
          <p:nvPr/>
        </p:nvSpPr>
        <p:spPr>
          <a:xfrm>
            <a:off x="1259632" y="2545740"/>
            <a:ext cx="2088232" cy="52322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Sevrage AINS /colchicine sur 6 mois </a:t>
            </a:r>
            <a:endParaRPr dirty="0" sz="1400" lang="fr-FR"/>
          </a:p>
        </p:txBody>
      </p:sp>
      <p:sp>
        <p:nvSpPr>
          <p:cNvPr id="1048857" name="ZoneTexte 17"/>
          <p:cNvSpPr txBox="1"/>
          <p:nvPr/>
        </p:nvSpPr>
        <p:spPr>
          <a:xfrm>
            <a:off x="6300192" y="1916832"/>
            <a:ext cx="1512168" cy="52322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Si  Aspirine/AINS </a:t>
            </a:r>
          </a:p>
          <a:p>
            <a:pPr algn="ctr"/>
            <a:r>
              <a:rPr dirty="0" sz="1400" lang="fr-FR" smtClean="0"/>
              <a:t>non tolérés ou CI</a:t>
            </a:r>
            <a:endParaRPr dirty="0" sz="1400" lang="fr-FR"/>
          </a:p>
        </p:txBody>
      </p:sp>
      <p:sp>
        <p:nvSpPr>
          <p:cNvPr id="1048858" name="ZoneTexte 18"/>
          <p:cNvSpPr txBox="1"/>
          <p:nvPr/>
        </p:nvSpPr>
        <p:spPr>
          <a:xfrm>
            <a:off x="3131840" y="4376137"/>
            <a:ext cx="2304256" cy="307777"/>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Réponse au TRT</a:t>
            </a:r>
            <a:endParaRPr dirty="0" sz="1400" lang="fr-FR"/>
          </a:p>
        </p:txBody>
      </p:sp>
      <p:sp>
        <p:nvSpPr>
          <p:cNvPr id="1048859" name="ZoneTexte 19"/>
          <p:cNvSpPr txBox="1"/>
          <p:nvPr/>
        </p:nvSpPr>
        <p:spPr>
          <a:xfrm>
            <a:off x="1331640" y="5354052"/>
            <a:ext cx="2592288" cy="52322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Sevrage des corticoïdes et colchicine sur </a:t>
            </a:r>
            <a:r>
              <a:rPr dirty="0" sz="1400" lang="fr-FR" u="sng" smtClean="0"/>
              <a:t>au moins </a:t>
            </a:r>
            <a:r>
              <a:rPr dirty="0" sz="1400" lang="fr-FR" smtClean="0"/>
              <a:t>6 mois</a:t>
            </a:r>
            <a:endParaRPr dirty="0" sz="1400" lang="fr-FR"/>
          </a:p>
        </p:txBody>
      </p:sp>
      <p:sp>
        <p:nvSpPr>
          <p:cNvPr id="1048860" name="ZoneTexte 21"/>
          <p:cNvSpPr txBox="1"/>
          <p:nvPr/>
        </p:nvSpPr>
        <p:spPr>
          <a:xfrm>
            <a:off x="6300192" y="4705980"/>
            <a:ext cx="1440160" cy="52322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Si corticoïdes CI</a:t>
            </a:r>
          </a:p>
          <a:p>
            <a:pPr algn="ctr"/>
            <a:r>
              <a:rPr dirty="0" sz="1400" lang="fr-FR" smtClean="0"/>
              <a:t>ou non tolérés</a:t>
            </a:r>
            <a:endParaRPr dirty="0" sz="1400" lang="fr-FR"/>
          </a:p>
        </p:txBody>
      </p:sp>
      <p:sp>
        <p:nvSpPr>
          <p:cNvPr id="1048861" name="ZoneTexte 22"/>
          <p:cNvSpPr txBox="1"/>
          <p:nvPr/>
        </p:nvSpPr>
        <p:spPr>
          <a:xfrm>
            <a:off x="1979712" y="3420289"/>
            <a:ext cx="4824536" cy="584775"/>
          </a:xfrm>
          <a:prstGeom prst="rect"/>
          <a:solidFill>
            <a:srgbClr val="FFCF37"/>
          </a:solidFill>
          <a:effectLst>
            <a:outerShdw algn="br" blurRad="50800" dir="13500000" dist="38100" rotWithShape="0">
              <a:prstClr val="black">
                <a:alpha val="40000"/>
              </a:prstClr>
            </a:outerShdw>
          </a:effectLst>
        </p:spPr>
        <p:txBody>
          <a:bodyPr rtlCol="0" wrap="square">
            <a:spAutoFit/>
          </a:bodyPr>
          <a:p>
            <a:pPr algn="ctr"/>
            <a:r>
              <a:rPr dirty="0" sz="1600" lang="fr-FR" smtClean="0"/>
              <a:t>Dose faible à modérée de corticoïdes + colchicine</a:t>
            </a:r>
          </a:p>
          <a:p>
            <a:pPr algn="ctr"/>
            <a:r>
              <a:rPr dirty="0" sz="1600" lang="fr-FR" smtClean="0"/>
              <a:t>Ou Trithérapie AINS/colchicine/corticoïdes</a:t>
            </a:r>
            <a:endParaRPr dirty="0" sz="1600" lang="fr-FR"/>
          </a:p>
        </p:txBody>
      </p:sp>
      <p:sp>
        <p:nvSpPr>
          <p:cNvPr id="1048862" name="ZoneTexte 23"/>
          <p:cNvSpPr txBox="1"/>
          <p:nvPr/>
        </p:nvSpPr>
        <p:spPr>
          <a:xfrm>
            <a:off x="4139952" y="5425479"/>
            <a:ext cx="1944216" cy="497840"/>
          </a:xfrm>
          <a:prstGeom prst="rect"/>
          <a:solidFill>
            <a:schemeClr val="bg1">
              <a:lumMod val="85000"/>
            </a:schemeClr>
          </a:solidFill>
          <a:effectLst>
            <a:outerShdw algn="br" blurRad="50800" dir="13500000" dist="38100" rotWithShape="0">
              <a:prstClr val="black">
                <a:alpha val="40000"/>
              </a:prstClr>
            </a:outerShdw>
          </a:effectLst>
        </p:spPr>
        <p:txBody>
          <a:bodyPr rtlCol="0" wrap="square">
            <a:spAutoFit/>
          </a:bodyPr>
          <a:p>
            <a:pPr algn="ctr"/>
            <a:r>
              <a:rPr dirty="0" sz="1400" lang="fr-FR" smtClean="0"/>
              <a:t>Incessante/récidivante</a:t>
            </a:r>
            <a:endParaRPr dirty="0" sz="1400" lang="fr-FR"/>
          </a:p>
        </p:txBody>
      </p:sp>
      <p:sp>
        <p:nvSpPr>
          <p:cNvPr id="1048863" name="ZoneTexte 24"/>
          <p:cNvSpPr txBox="1"/>
          <p:nvPr/>
        </p:nvSpPr>
        <p:spPr>
          <a:xfrm>
            <a:off x="3419872" y="6021288"/>
            <a:ext cx="3312368" cy="646331"/>
          </a:xfrm>
          <a:prstGeom prst="rect"/>
          <a:solidFill>
            <a:srgbClr val="92D050"/>
          </a:solidFill>
          <a:effectLst>
            <a:outerShdw algn="br" blurRad="50800" dir="13500000" dist="38100" rotWithShape="0">
              <a:prstClr val="black">
                <a:alpha val="40000"/>
              </a:prstClr>
            </a:outerShdw>
          </a:effectLst>
        </p:spPr>
        <p:txBody>
          <a:bodyPr rtlCol="0" wrap="square">
            <a:spAutoFit/>
          </a:bodyPr>
          <a:p>
            <a:pPr algn="ctr"/>
            <a:r>
              <a:rPr dirty="0" lang="fr-FR" smtClean="0"/>
              <a:t>Agents ANTI-IL-1</a:t>
            </a:r>
          </a:p>
          <a:p>
            <a:pPr algn="ctr"/>
            <a:r>
              <a:rPr dirty="0" lang="fr-FR" smtClean="0"/>
              <a:t>(</a:t>
            </a:r>
            <a:r>
              <a:rPr dirty="0" lang="fr-FR" err="1" smtClean="0"/>
              <a:t>Anakinra</a:t>
            </a:r>
            <a:r>
              <a:rPr dirty="0" lang="fr-FR" smtClean="0"/>
              <a:t> ou </a:t>
            </a:r>
            <a:r>
              <a:rPr dirty="0" lang="fr-FR" err="1" smtClean="0"/>
              <a:t>Rilonacept</a:t>
            </a:r>
            <a:r>
              <a:rPr dirty="0" lang="fr-FR" smtClean="0"/>
              <a:t>)</a:t>
            </a:r>
            <a:endParaRPr dirty="0" lang="fr-FR"/>
          </a:p>
        </p:txBody>
      </p:sp>
      <p:sp>
        <p:nvSpPr>
          <p:cNvPr id="1048864" name="ZoneTexte 25"/>
          <p:cNvSpPr txBox="1"/>
          <p:nvPr/>
        </p:nvSpPr>
        <p:spPr>
          <a:xfrm>
            <a:off x="1475656" y="188640"/>
            <a:ext cx="6048672" cy="400110"/>
          </a:xfrm>
          <a:prstGeom prst="rect"/>
          <a:solidFill>
            <a:schemeClr val="tx2">
              <a:lumMod val="20000"/>
              <a:lumOff val="80000"/>
            </a:schemeClr>
          </a:solidFill>
          <a:effectLst>
            <a:outerShdw algn="bl" blurRad="50800" dir="18900000" dist="38100" rotWithShape="0">
              <a:prstClr val="black">
                <a:alpha val="40000"/>
              </a:prstClr>
            </a:outerShdw>
            <a:softEdge rad="12700"/>
          </a:effectLst>
        </p:spPr>
        <p:txBody>
          <a:bodyPr rtlCol="0" wrap="square">
            <a:spAutoFit/>
          </a:bodyPr>
          <a:p>
            <a:pPr algn="ctr"/>
            <a:r>
              <a:rPr dirty="0" sz="2000" lang="fr-FR" smtClean="0"/>
              <a:t>Patient avec symptômes de péricardite aigue</a:t>
            </a:r>
            <a:endParaRPr dirty="0" sz="2000" lang="fr-FR"/>
          </a:p>
        </p:txBody>
      </p:sp>
    </p:spTree>
  </p:cSld>
  <p:clrMapOvr>
    <a:masterClrMapping/>
  </p:clrMapOvr>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76" name=""/>
        <p:cNvGrpSpPr/>
        <p:nvPr/>
      </p:nvGrpSpPr>
      <p:grpSpPr>
        <a:xfrm>
          <a:off x="0" y="0"/>
          <a:ext cx="0" cy="0"/>
          <a:chOff x="0" y="0"/>
          <a:chExt cx="0" cy="0"/>
        </a:xfrm>
      </p:grpSpPr>
      <p:sp>
        <p:nvSpPr>
          <p:cNvPr id="1048868" name="Titre 3"/>
          <p:cNvSpPr>
            <a:spLocks noGrp="1"/>
          </p:cNvSpPr>
          <p:nvPr>
            <p:ph type="title"/>
          </p:nvPr>
        </p:nvSpPr>
        <p:spPr>
          <a:xfrm>
            <a:off x="304800" y="601216"/>
            <a:ext cx="8686800" cy="595536"/>
          </a:xfrm>
          <a:effectLst/>
        </p:spPr>
        <p:txBody>
          <a:bodyPr>
            <a:normAutofit fontScale="90323"/>
          </a:bodyPr>
          <a:p>
            <a:pPr algn="ctr"/>
            <a:r>
              <a:rPr b="1" dirty="0" sz="3100" i="1" lang="fr-FR" smtClean="0">
                <a:solidFill>
                  <a:srgbClr val="FF9900"/>
                </a:solidFill>
                <a:effectLst/>
                <a:latin typeface="+mn-lt"/>
              </a:rPr>
              <a:t>3- TRAITEMENT non PHARMACOLOGIQUE</a:t>
            </a:r>
            <a:r>
              <a:rPr b="1" dirty="0" lang="fr-FR" smtClean="0">
                <a:solidFill>
                  <a:srgbClr val="FF9900"/>
                </a:solidFill>
                <a:effectLst/>
              </a:rPr>
              <a:t/>
            </a:r>
            <a:br>
              <a:rPr b="1" dirty="0" lang="fr-FR" smtClean="0">
                <a:solidFill>
                  <a:srgbClr val="FF9900"/>
                </a:solidFill>
                <a:effectLst/>
              </a:rPr>
            </a:br>
            <a:endParaRPr dirty="0" lang="fr-FR">
              <a:effectLst/>
            </a:endParaRPr>
          </a:p>
        </p:txBody>
      </p:sp>
      <p:sp>
        <p:nvSpPr>
          <p:cNvPr id="1048869" name="Espace réservé du contenu 6"/>
          <p:cNvSpPr>
            <a:spLocks noGrp="1"/>
          </p:cNvSpPr>
          <p:nvPr>
            <p:ph idx="1"/>
          </p:nvPr>
        </p:nvSpPr>
        <p:spPr>
          <a:xfrm>
            <a:off x="179512" y="1196752"/>
            <a:ext cx="8686800" cy="5040560"/>
          </a:xfrm>
        </p:spPr>
        <p:txBody>
          <a:bodyPr>
            <a:normAutofit/>
          </a:bodyPr>
          <a:p>
            <a:pPr>
              <a:buNone/>
            </a:pPr>
            <a:r>
              <a:rPr b="1" dirty="0" sz="2400" lang="fr-FR" smtClean="0">
                <a:solidFill>
                  <a:srgbClr val="C00000"/>
                </a:solidFill>
              </a:rPr>
              <a:t>&gt;</a:t>
            </a:r>
            <a:r>
              <a:rPr dirty="0" sz="2400" lang="fr-FR" smtClean="0">
                <a:solidFill>
                  <a:schemeClr val="tx1"/>
                </a:solidFill>
              </a:rPr>
              <a:t> Péricardiocentèse  percutanée ou drainage si :</a:t>
            </a:r>
          </a:p>
          <a:p>
            <a:pPr lvl="2" marL="540000">
              <a:buClr>
                <a:srgbClr val="800000"/>
              </a:buClr>
              <a:buSzPct val="80000"/>
              <a:buNone/>
            </a:pPr>
            <a:r>
              <a:rPr dirty="0" sz="2000" lang="fr-FR" smtClean="0">
                <a:solidFill>
                  <a:schemeClr val="tx1"/>
                </a:solidFill>
              </a:rPr>
              <a:t>- </a:t>
            </a:r>
            <a:r>
              <a:rPr dirty="0" lang="fr-FR" smtClean="0">
                <a:solidFill>
                  <a:schemeClr val="tx1"/>
                </a:solidFill>
              </a:rPr>
              <a:t>liquide moyen-abondant mal toléré, tamponnade</a:t>
            </a:r>
          </a:p>
          <a:p>
            <a:pPr lvl="2" marL="540000">
              <a:buClr>
                <a:srgbClr val="800000"/>
              </a:buClr>
              <a:buSzPct val="80000"/>
              <a:buNone/>
            </a:pPr>
            <a:r>
              <a:rPr dirty="0" lang="fr-FR" smtClean="0">
                <a:solidFill>
                  <a:schemeClr val="tx1"/>
                </a:solidFill>
              </a:rPr>
              <a:t>- absence de cause évidente </a:t>
            </a:r>
            <a:r>
              <a:rPr dirty="0" sz="2000" lang="fr-FR" smtClean="0">
                <a:solidFill>
                  <a:schemeClr val="tx1"/>
                </a:solidFill>
              </a:rPr>
              <a:t>(néoplasie, infection, collagénose) </a:t>
            </a:r>
          </a:p>
          <a:p>
            <a:pPr lvl="2" marL="540000">
              <a:spcBef>
                <a:spcPts val="0"/>
              </a:spcBef>
              <a:buClr>
                <a:srgbClr val="800000"/>
              </a:buClr>
              <a:buSzPct val="80000"/>
              <a:buNone/>
            </a:pPr>
            <a:r>
              <a:rPr dirty="0" lang="fr-FR" smtClean="0">
                <a:solidFill>
                  <a:schemeClr val="tx1"/>
                </a:solidFill>
              </a:rPr>
              <a:t>- non réponse au TRT</a:t>
            </a:r>
          </a:p>
          <a:p>
            <a:pPr lvl="2" marL="540000">
              <a:spcBef>
                <a:spcPts val="0"/>
              </a:spcBef>
              <a:buClr>
                <a:srgbClr val="800000"/>
              </a:buClr>
              <a:buSzPct val="80000"/>
              <a:buNone/>
            </a:pPr>
            <a:r>
              <a:rPr dirty="0" lang="fr-FR" smtClean="0">
                <a:solidFill>
                  <a:schemeClr val="tx1"/>
                </a:solidFill>
              </a:rPr>
              <a:t>- suspicion infection ou néoplasie </a:t>
            </a:r>
          </a:p>
          <a:p>
            <a:pPr lvl="2" marL="540000">
              <a:spcBef>
                <a:spcPts val="0"/>
              </a:spcBef>
              <a:buClr>
                <a:srgbClr val="800000"/>
              </a:buClr>
              <a:buSzPct val="80000"/>
              <a:buNone/>
            </a:pPr>
            <a:r>
              <a:rPr dirty="0" lang="fr-FR" smtClean="0">
                <a:solidFill>
                  <a:schemeClr val="tx1"/>
                </a:solidFill>
              </a:rPr>
              <a:t>- pour l’administration de TRT intra péricardique: ATB, </a:t>
            </a:r>
            <a:r>
              <a:rPr dirty="0" lang="fr-FR" err="1" smtClean="0">
                <a:solidFill>
                  <a:schemeClr val="tx1"/>
                </a:solidFill>
              </a:rPr>
              <a:t>chimioth</a:t>
            </a:r>
            <a:endParaRPr dirty="0" lang="fr-FR" smtClean="0">
              <a:solidFill>
                <a:schemeClr val="tx1"/>
              </a:solidFill>
            </a:endParaRPr>
          </a:p>
          <a:p>
            <a:pPr lvl="2" marL="719138">
              <a:spcBef>
                <a:spcPts val="0"/>
              </a:spcBef>
              <a:buClr>
                <a:srgbClr val="800000"/>
              </a:buClr>
              <a:buSzPct val="80000"/>
              <a:buNone/>
            </a:pPr>
            <a:endParaRPr dirty="0" lang="fr-FR" smtClean="0">
              <a:solidFill>
                <a:schemeClr val="tx1"/>
              </a:solidFill>
            </a:endParaRPr>
          </a:p>
          <a:p>
            <a:pPr lvl="4" marL="0">
              <a:spcBef>
                <a:spcPts val="0"/>
              </a:spcBef>
              <a:buClr>
                <a:srgbClr val="800000"/>
              </a:buClr>
              <a:buSzPct val="80000"/>
              <a:buNone/>
            </a:pPr>
            <a:r>
              <a:rPr dirty="0" lang="fr-FR" smtClean="0">
                <a:solidFill>
                  <a:schemeClr val="tx1"/>
                </a:solidFill>
              </a:rPr>
              <a:t>  </a:t>
            </a:r>
            <a:r>
              <a:rPr b="1" dirty="0" sz="2400" lang="fr-FR" smtClean="0">
                <a:solidFill>
                  <a:srgbClr val="C00000"/>
                </a:solidFill>
              </a:rPr>
              <a:t>&gt;</a:t>
            </a:r>
            <a:r>
              <a:rPr dirty="0" lang="fr-FR" smtClean="0">
                <a:solidFill>
                  <a:schemeClr val="tx1"/>
                </a:solidFill>
              </a:rPr>
              <a:t> </a:t>
            </a:r>
            <a:r>
              <a:rPr dirty="0" sz="2400" lang="fr-FR" smtClean="0">
                <a:solidFill>
                  <a:schemeClr val="tx1"/>
                </a:solidFill>
              </a:rPr>
              <a:t>Péricardectomie chirurgicale:</a:t>
            </a:r>
          </a:p>
          <a:p>
            <a:pPr lvl="4" marL="0">
              <a:spcBef>
                <a:spcPts val="0"/>
              </a:spcBef>
              <a:buClr>
                <a:srgbClr val="800000"/>
              </a:buClr>
              <a:buSzPct val="80000"/>
              <a:buNone/>
            </a:pPr>
            <a:r>
              <a:rPr dirty="0" sz="2400" lang="fr-FR" smtClean="0">
                <a:solidFill>
                  <a:schemeClr val="tx1"/>
                </a:solidFill>
              </a:rPr>
              <a:t>       - si péricardite chronique constrictive persistante (PCC)</a:t>
            </a:r>
          </a:p>
          <a:p>
            <a:pPr lvl="4" marL="0">
              <a:spcBef>
                <a:spcPts val="0"/>
              </a:spcBef>
              <a:buClr>
                <a:srgbClr val="800000"/>
              </a:buClr>
              <a:buSzPct val="80000"/>
              <a:buNone/>
            </a:pPr>
            <a:r>
              <a:rPr dirty="0" sz="2400" lang="fr-FR" smtClean="0">
                <a:solidFill>
                  <a:schemeClr val="tx1"/>
                </a:solidFill>
              </a:rPr>
              <a:t>       - certaine péricardites récidivantes réfractaires</a:t>
            </a:r>
            <a:endParaRPr dirty="0" lang="fr-FR" smtClean="0">
              <a:solidFill>
                <a:schemeClr val="tx1"/>
              </a:solidFill>
            </a:endParaRPr>
          </a:p>
          <a:p>
            <a:pPr lvl="4" marL="1633538">
              <a:spcBef>
                <a:spcPts val="0"/>
              </a:spcBef>
              <a:buNone/>
            </a:pPr>
            <a:r>
              <a:rPr dirty="0" lang="fr-FR" smtClean="0">
                <a:solidFill>
                  <a:schemeClr val="tx1"/>
                </a:solidFill>
              </a:rPr>
              <a:t> </a:t>
            </a:r>
          </a:p>
          <a:p>
            <a:pPr lvl="3" marL="1176338">
              <a:spcBef>
                <a:spcPts val="0"/>
              </a:spcBef>
              <a:buNone/>
            </a:pPr>
            <a:endParaRPr dirty="0" lang="fr-FR" smtClean="0">
              <a:solidFill>
                <a:schemeClr val="tx1"/>
              </a:solidFill>
            </a:endParaRPr>
          </a:p>
        </p:txBody>
      </p:sp>
    </p:spTree>
  </p:cSld>
  <p:clrMapOvr>
    <a:masterClrMapping/>
  </p:clrMapOvr>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77" name=""/>
        <p:cNvGrpSpPr/>
        <p:nvPr/>
      </p:nvGrpSpPr>
      <p:grpSpPr>
        <a:xfrm>
          <a:off x="0" y="0"/>
          <a:ext cx="0" cy="0"/>
          <a:chOff x="0" y="0"/>
          <a:chExt cx="0" cy="0"/>
        </a:xfrm>
      </p:grpSpPr>
      <p:sp>
        <p:nvSpPr>
          <p:cNvPr id="1048870" name="Espace réservé du contenu 2"/>
          <p:cNvSpPr>
            <a:spLocks noGrp="1"/>
          </p:cNvSpPr>
          <p:nvPr>
            <p:ph idx="1"/>
          </p:nvPr>
        </p:nvSpPr>
        <p:spPr>
          <a:xfrm>
            <a:off x="44896" y="1052736"/>
            <a:ext cx="8991600" cy="5184576"/>
          </a:xfrm>
        </p:spPr>
        <p:txBody>
          <a:bodyPr>
            <a:normAutofit fontScale="95000"/>
          </a:bodyPr>
          <a:p>
            <a:pPr>
              <a:spcBef>
                <a:spcPts val="0"/>
              </a:spcBef>
            </a:pPr>
            <a:r>
              <a:rPr dirty="0" sz="2400" lang="fr-FR" smtClean="0">
                <a:solidFill>
                  <a:srgbClr val="C00000"/>
                </a:solidFill>
              </a:rPr>
              <a:t>Objectifs: </a:t>
            </a:r>
            <a:r>
              <a:rPr dirty="0" sz="2400" lang="fr-FR" smtClean="0">
                <a:solidFill>
                  <a:schemeClr val="tx1"/>
                </a:solidFill>
              </a:rPr>
              <a:t>contrôler la douleur, éviter les complications</a:t>
            </a:r>
          </a:p>
          <a:p>
            <a:pPr>
              <a:lnSpc>
                <a:spcPct val="150000"/>
              </a:lnSpc>
            </a:pPr>
            <a:r>
              <a:rPr dirty="0" sz="2400" lang="fr-FR" smtClean="0">
                <a:solidFill>
                  <a:srgbClr val="C00000"/>
                </a:solidFill>
              </a:rPr>
              <a:t>TRT pharmacologique: </a:t>
            </a:r>
            <a:r>
              <a:rPr dirty="0" sz="2400" lang="fr-FR" smtClean="0">
                <a:solidFill>
                  <a:schemeClr val="tx1"/>
                </a:solidFill>
              </a:rPr>
              <a:t>basé sur </a:t>
            </a:r>
          </a:p>
          <a:p>
            <a:pPr>
              <a:lnSpc>
                <a:spcPct val="110000"/>
              </a:lnSpc>
              <a:spcBef>
                <a:spcPts val="0"/>
              </a:spcBef>
              <a:buNone/>
            </a:pPr>
            <a:r>
              <a:rPr dirty="0" sz="2000" lang="fr-FR" smtClean="0">
                <a:solidFill>
                  <a:schemeClr val="tx1"/>
                </a:solidFill>
              </a:rPr>
              <a:t>           -la présentation clinique</a:t>
            </a:r>
          </a:p>
          <a:p>
            <a:pPr>
              <a:lnSpc>
                <a:spcPct val="110000"/>
              </a:lnSpc>
              <a:spcBef>
                <a:spcPts val="0"/>
              </a:spcBef>
              <a:buNone/>
            </a:pPr>
            <a:r>
              <a:rPr dirty="0" sz="2000" lang="fr-FR" smtClean="0">
                <a:solidFill>
                  <a:schemeClr val="tx1"/>
                </a:solidFill>
              </a:rPr>
              <a:t>           -la sévérité</a:t>
            </a:r>
          </a:p>
          <a:p>
            <a:pPr>
              <a:lnSpc>
                <a:spcPct val="110000"/>
              </a:lnSpc>
              <a:spcBef>
                <a:spcPts val="0"/>
              </a:spcBef>
              <a:buNone/>
            </a:pPr>
            <a:r>
              <a:rPr dirty="0" sz="2000" lang="fr-FR" smtClean="0">
                <a:solidFill>
                  <a:schemeClr val="tx1"/>
                </a:solidFill>
              </a:rPr>
              <a:t>           -l’étiologie</a:t>
            </a:r>
          </a:p>
          <a:p>
            <a:pPr>
              <a:buNone/>
            </a:pPr>
            <a:r>
              <a:rPr dirty="0" sz="2400" lang="fr-FR" smtClean="0">
                <a:solidFill>
                  <a:schemeClr val="tx1"/>
                </a:solidFill>
              </a:rPr>
              <a:t>   </a:t>
            </a:r>
            <a:r>
              <a:rPr dirty="0" sz="2000" i="1" lang="fr-FR" smtClean="0">
                <a:solidFill>
                  <a:srgbClr val="006600"/>
                </a:solidFill>
              </a:rPr>
              <a:t>a- </a:t>
            </a:r>
            <a:r>
              <a:rPr dirty="0" sz="2400" i="1" lang="fr-FR" smtClean="0">
                <a:solidFill>
                  <a:srgbClr val="006600"/>
                </a:solidFill>
              </a:rPr>
              <a:t>TRT non étiologique </a:t>
            </a:r>
            <a:r>
              <a:rPr dirty="0" sz="2000" lang="fr-FR" smtClean="0">
                <a:solidFill>
                  <a:schemeClr val="tx1"/>
                </a:solidFill>
              </a:rPr>
              <a:t>: TRT de l’IC </a:t>
            </a:r>
            <a:r>
              <a:rPr dirty="0" sz="2000" lang="fr-FR" smtClean="0">
                <a:solidFill>
                  <a:schemeClr val="tx1"/>
                </a:solidFill>
                <a:sym typeface="Symbol"/>
              </a:rPr>
              <a:t></a:t>
            </a:r>
            <a:r>
              <a:rPr dirty="0" sz="2000" lang="fr-FR" smtClean="0">
                <a:solidFill>
                  <a:schemeClr val="tx1"/>
                </a:solidFill>
              </a:rPr>
              <a:t> stabilisation et/ou récupération FEVG</a:t>
            </a:r>
          </a:p>
          <a:p>
            <a:pPr>
              <a:buNone/>
            </a:pPr>
            <a:r>
              <a:rPr dirty="0" sz="2000" lang="fr-FR" smtClean="0">
                <a:solidFill>
                  <a:schemeClr val="tx1"/>
                </a:solidFill>
              </a:rPr>
              <a:t>    </a:t>
            </a:r>
            <a:r>
              <a:rPr dirty="0" sz="2000" i="1" lang="fr-FR" smtClean="0">
                <a:solidFill>
                  <a:srgbClr val="006600"/>
                </a:solidFill>
              </a:rPr>
              <a:t>b- </a:t>
            </a:r>
            <a:r>
              <a:rPr dirty="0" sz="2400" i="1" lang="fr-FR" smtClean="0">
                <a:solidFill>
                  <a:srgbClr val="006600"/>
                </a:solidFill>
              </a:rPr>
              <a:t>TRT antiarythmique: </a:t>
            </a:r>
            <a:r>
              <a:rPr dirty="0" sz="2000" lang="fr-FR" smtClean="0">
                <a:solidFill>
                  <a:schemeClr val="tx1"/>
                </a:solidFill>
              </a:rPr>
              <a:t>TV symptomatique récidivante</a:t>
            </a:r>
            <a:endParaRPr dirty="0" sz="2400" lang="fr-FR" smtClean="0">
              <a:solidFill>
                <a:schemeClr val="tx1"/>
              </a:solidFill>
            </a:endParaRPr>
          </a:p>
          <a:p>
            <a:pPr>
              <a:buNone/>
            </a:pPr>
            <a:r>
              <a:rPr dirty="0" sz="2400" lang="fr-FR" smtClean="0">
                <a:solidFill>
                  <a:schemeClr val="tx1"/>
                </a:solidFill>
              </a:rPr>
              <a:t>   </a:t>
            </a:r>
            <a:r>
              <a:rPr dirty="0" sz="2000" i="1" lang="fr-FR" smtClean="0">
                <a:solidFill>
                  <a:srgbClr val="006600"/>
                </a:solidFill>
              </a:rPr>
              <a:t>c- </a:t>
            </a:r>
            <a:r>
              <a:rPr dirty="0" sz="2400" i="1" lang="fr-FR" smtClean="0">
                <a:solidFill>
                  <a:srgbClr val="006600"/>
                </a:solidFill>
              </a:rPr>
              <a:t>TRT spécifique selon étiologie</a:t>
            </a:r>
            <a:r>
              <a:rPr dirty="0" sz="2400" lang="fr-FR" smtClean="0">
                <a:solidFill>
                  <a:schemeClr val="tx1"/>
                </a:solidFill>
              </a:rPr>
              <a:t>: </a:t>
            </a:r>
            <a:r>
              <a:rPr dirty="0" sz="2000" lang="fr-FR" smtClean="0">
                <a:solidFill>
                  <a:schemeClr val="tx1"/>
                </a:solidFill>
              </a:rPr>
              <a:t>immunosuppresseurs, corticoïdes, ATB</a:t>
            </a:r>
          </a:p>
          <a:p>
            <a:pPr>
              <a:buNone/>
            </a:pPr>
            <a:r>
              <a:rPr dirty="0" sz="2400" lang="fr-FR" smtClean="0">
                <a:solidFill>
                  <a:schemeClr val="tx1"/>
                </a:solidFill>
              </a:rPr>
              <a:t>   </a:t>
            </a:r>
            <a:r>
              <a:rPr dirty="0" sz="2000" i="1" lang="fr-FR" smtClean="0">
                <a:solidFill>
                  <a:srgbClr val="006600"/>
                </a:solidFill>
              </a:rPr>
              <a:t>d- </a:t>
            </a:r>
            <a:r>
              <a:rPr dirty="0" sz="2400" i="1" lang="fr-FR" smtClean="0">
                <a:solidFill>
                  <a:srgbClr val="006600"/>
                </a:solidFill>
              </a:rPr>
              <a:t>formes non compliquées</a:t>
            </a:r>
            <a:r>
              <a:rPr dirty="0" sz="2400" lang="fr-FR" smtClean="0">
                <a:solidFill>
                  <a:schemeClr val="tx1"/>
                </a:solidFill>
              </a:rPr>
              <a:t>: </a:t>
            </a:r>
          </a:p>
          <a:p>
            <a:pPr>
              <a:buNone/>
            </a:pPr>
            <a:r>
              <a:rPr dirty="0" sz="2000" lang="fr-FR" smtClean="0">
                <a:solidFill>
                  <a:schemeClr val="tx1"/>
                </a:solidFill>
              </a:rPr>
              <a:t>       &gt; Aspirine/AINS: si nécessité de contrôler la douleur</a:t>
            </a:r>
          </a:p>
          <a:p>
            <a:pPr>
              <a:buNone/>
            </a:pPr>
            <a:r>
              <a:rPr dirty="0" sz="2000" lang="fr-FR" smtClean="0">
                <a:solidFill>
                  <a:schemeClr val="tx1"/>
                </a:solidFill>
              </a:rPr>
              <a:t>       &gt; Colchicine: prévient les récidives</a:t>
            </a:r>
          </a:p>
          <a:p>
            <a:pPr>
              <a:buNone/>
            </a:pPr>
            <a:r>
              <a:rPr dirty="0" sz="2000" lang="fr-FR" smtClean="0">
                <a:solidFill>
                  <a:schemeClr val="tx1"/>
                </a:solidFill>
              </a:rPr>
              <a:t>       &gt; Béta bloqueurs: 6 mois minimum en prévention des arythmies</a:t>
            </a:r>
          </a:p>
        </p:txBody>
      </p:sp>
      <p:sp>
        <p:nvSpPr>
          <p:cNvPr id="1048871" name="Titre 1"/>
          <p:cNvSpPr>
            <a:spLocks noGrp="1"/>
          </p:cNvSpPr>
          <p:nvPr>
            <p:ph type="title"/>
          </p:nvPr>
        </p:nvSpPr>
        <p:spPr>
          <a:xfrm>
            <a:off x="251520" y="70520"/>
            <a:ext cx="8686800" cy="838200"/>
          </a:xfrm>
        </p:spPr>
        <p:txBody>
          <a:bodyPr>
            <a:noAutofit/>
          </a:bodyPr>
          <a:p>
            <a:pPr algn="ctr"/>
            <a:r>
              <a:rPr dirty="0" sz="2800" lang="fr-FR" smtClean="0">
                <a:solidFill>
                  <a:srgbClr val="FF9900"/>
                </a:solidFill>
                <a:effectLst/>
                <a:latin typeface="+mn-lt"/>
              </a:rPr>
              <a:t>C- TRAITEMENT DE la myocardite</a:t>
            </a:r>
            <a:endParaRPr dirty="0" sz="2800" lang="fr-FR">
              <a:solidFill>
                <a:srgbClr val="FF9900"/>
              </a:solidFill>
              <a:effectLst/>
              <a:latin typeface="+mn-lt"/>
            </a:endParaRPr>
          </a:p>
        </p:txBody>
      </p:sp>
    </p:spTree>
  </p:cSld>
  <p:clrMapOvr>
    <a:masterClrMapping/>
  </p:clrMapOvr>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80" name=""/>
        <p:cNvGrpSpPr/>
        <p:nvPr/>
      </p:nvGrpSpPr>
      <p:grpSpPr>
        <a:xfrm>
          <a:off x="0" y="0"/>
          <a:ext cx="0" cy="0"/>
          <a:chOff x="0" y="0"/>
          <a:chExt cx="0" cy="0"/>
        </a:xfrm>
      </p:grpSpPr>
      <p:sp>
        <p:nvSpPr>
          <p:cNvPr id="1048875" name="Espace réservé du contenu 2"/>
          <p:cNvSpPr>
            <a:spLocks noGrp="1"/>
          </p:cNvSpPr>
          <p:nvPr>
            <p:ph idx="1"/>
          </p:nvPr>
        </p:nvSpPr>
        <p:spPr>
          <a:xfrm>
            <a:off x="304800" y="260648"/>
            <a:ext cx="8686800" cy="5760640"/>
          </a:xfrm>
        </p:spPr>
        <p:txBody>
          <a:bodyPr>
            <a:noAutofit/>
          </a:bodyPr>
          <a:p>
            <a:r>
              <a:rPr dirty="0" sz="2800" lang="fr-FR" smtClean="0">
                <a:solidFill>
                  <a:srgbClr val="C00000"/>
                </a:solidFill>
              </a:rPr>
              <a:t>TRT non pharmacologique: </a:t>
            </a:r>
          </a:p>
          <a:p>
            <a:pPr>
              <a:buNone/>
            </a:pPr>
            <a:r>
              <a:rPr dirty="0" sz="2800" lang="fr-FR" smtClean="0">
                <a:solidFill>
                  <a:srgbClr val="C00000"/>
                </a:solidFill>
              </a:rPr>
              <a:t>   </a:t>
            </a:r>
            <a:r>
              <a:rPr dirty="0" sz="2400" lang="fr-FR" smtClean="0">
                <a:solidFill>
                  <a:srgbClr val="006600"/>
                </a:solidFill>
              </a:rPr>
              <a:t>a-</a:t>
            </a:r>
            <a:r>
              <a:rPr dirty="0" sz="2800" lang="fr-FR" smtClean="0">
                <a:solidFill>
                  <a:srgbClr val="C00000"/>
                </a:solidFill>
              </a:rPr>
              <a:t> </a:t>
            </a:r>
            <a:r>
              <a:rPr dirty="0" sz="2400" lang="fr-FR" smtClean="0">
                <a:solidFill>
                  <a:schemeClr val="tx1"/>
                </a:solidFill>
              </a:rPr>
              <a:t>prévention de la mort subite</a:t>
            </a:r>
          </a:p>
          <a:p>
            <a:pPr>
              <a:buNone/>
            </a:pPr>
            <a:r>
              <a:rPr dirty="0" sz="2400" lang="fr-FR" smtClean="0">
                <a:solidFill>
                  <a:schemeClr val="tx1"/>
                </a:solidFill>
              </a:rPr>
              <a:t>  </a:t>
            </a:r>
            <a:r>
              <a:rPr dirty="0" sz="2400" lang="fr-FR" smtClean="0">
                <a:solidFill>
                  <a:schemeClr val="tx1"/>
                </a:solidFill>
                <a:sym typeface="Symbol"/>
              </a:rPr>
              <a:t> stimulation cardiaque temporaire ou définitive</a:t>
            </a:r>
          </a:p>
          <a:p>
            <a:pPr>
              <a:buNone/>
            </a:pPr>
            <a:r>
              <a:rPr dirty="0" sz="2400" lang="fr-FR" smtClean="0">
                <a:solidFill>
                  <a:schemeClr val="tx1"/>
                </a:solidFill>
                <a:sym typeface="Symbol"/>
              </a:rPr>
              <a:t>   ablation d’un foyer de TV monomorphe soutenue </a:t>
            </a:r>
          </a:p>
          <a:p>
            <a:pPr>
              <a:buNone/>
            </a:pPr>
            <a:r>
              <a:rPr dirty="0" sz="2400" lang="fr-FR" smtClean="0">
                <a:solidFill>
                  <a:schemeClr val="tx1"/>
                </a:solidFill>
                <a:sym typeface="Symbol"/>
              </a:rPr>
              <a:t>   défibrillateur:</a:t>
            </a:r>
          </a:p>
          <a:p>
            <a:pPr>
              <a:buNone/>
            </a:pPr>
            <a:r>
              <a:rPr dirty="0" sz="2400" lang="fr-FR" smtClean="0">
                <a:solidFill>
                  <a:schemeClr val="tx1"/>
                </a:solidFill>
                <a:sym typeface="Symbol"/>
              </a:rPr>
              <a:t>     -par gilet défibrillateur pendant 3 à 6 mois si MA + TV</a:t>
            </a:r>
          </a:p>
          <a:p>
            <a:pPr>
              <a:buNone/>
            </a:pPr>
            <a:r>
              <a:rPr dirty="0" sz="2400" lang="fr-FR" smtClean="0">
                <a:solidFill>
                  <a:schemeClr val="tx1"/>
                </a:solidFill>
                <a:sym typeface="Symbol"/>
              </a:rPr>
              <a:t>     -par DAI au-delà de 6 mois si indication</a:t>
            </a:r>
          </a:p>
          <a:p>
            <a:pPr>
              <a:buNone/>
            </a:pPr>
            <a:r>
              <a:rPr dirty="0" sz="2400" lang="fr-FR" smtClean="0">
                <a:solidFill>
                  <a:schemeClr val="tx1"/>
                </a:solidFill>
                <a:sym typeface="Symbol"/>
              </a:rPr>
              <a:t>   </a:t>
            </a:r>
          </a:p>
          <a:p>
            <a:pPr>
              <a:buNone/>
            </a:pPr>
            <a:r>
              <a:rPr dirty="0" sz="2400" lang="fr-FR" smtClean="0">
                <a:solidFill>
                  <a:schemeClr val="tx1"/>
                </a:solidFill>
                <a:sym typeface="Symbol"/>
              </a:rPr>
              <a:t>    </a:t>
            </a:r>
            <a:r>
              <a:rPr dirty="0" sz="2400" lang="fr-FR" smtClean="0">
                <a:solidFill>
                  <a:srgbClr val="006600"/>
                </a:solidFill>
              </a:rPr>
              <a:t>b-</a:t>
            </a:r>
            <a:r>
              <a:rPr dirty="0" sz="2400" lang="fr-FR" smtClean="0">
                <a:solidFill>
                  <a:srgbClr val="C00000"/>
                </a:solidFill>
              </a:rPr>
              <a:t> </a:t>
            </a:r>
            <a:r>
              <a:rPr dirty="0" sz="2400" lang="fr-FR" smtClean="0">
                <a:solidFill>
                  <a:schemeClr val="tx1"/>
                </a:solidFill>
              </a:rPr>
              <a:t>Assistance circulatoire mécanique (VA-ECMO)</a:t>
            </a:r>
          </a:p>
          <a:p>
            <a:pPr>
              <a:buNone/>
            </a:pPr>
            <a:r>
              <a:rPr dirty="0" sz="2400" lang="fr-FR" smtClean="0">
                <a:solidFill>
                  <a:schemeClr val="tx1"/>
                </a:solidFill>
              </a:rPr>
              <a:t>     - myocardite avec choc cardiogénique </a:t>
            </a:r>
          </a:p>
          <a:p>
            <a:pPr>
              <a:buNone/>
            </a:pPr>
            <a:r>
              <a:rPr dirty="0" sz="2400" lang="fr-FR" smtClean="0">
                <a:solidFill>
                  <a:schemeClr val="tx1"/>
                </a:solidFill>
              </a:rPr>
              <a:t>     - décompensation cardiaque aigue des myocardite chroniques</a:t>
            </a:r>
          </a:p>
          <a:p>
            <a:pPr>
              <a:buNone/>
            </a:pPr>
            <a:endParaRPr dirty="0" sz="2400" lang="fr-FR" smtClean="0">
              <a:solidFill>
                <a:schemeClr val="tx1"/>
              </a:solidFill>
            </a:endParaRPr>
          </a:p>
          <a:p>
            <a:pPr>
              <a:buNone/>
            </a:pPr>
            <a:r>
              <a:rPr dirty="0" sz="2400" lang="fr-FR" smtClean="0">
                <a:solidFill>
                  <a:schemeClr val="tx1"/>
                </a:solidFill>
              </a:rPr>
              <a:t>    </a:t>
            </a:r>
            <a:r>
              <a:rPr dirty="0" sz="2400" lang="fr-FR" smtClean="0">
                <a:solidFill>
                  <a:srgbClr val="006600"/>
                </a:solidFill>
              </a:rPr>
              <a:t>c- </a:t>
            </a:r>
            <a:r>
              <a:rPr dirty="0" sz="2400" lang="fr-FR" smtClean="0">
                <a:solidFill>
                  <a:schemeClr val="tx1"/>
                </a:solidFill>
              </a:rPr>
              <a:t>Transplantation cardiaque</a:t>
            </a:r>
            <a:endParaRPr dirty="0" sz="2800" lang="fr-FR" smtClean="0">
              <a:solidFill>
                <a:schemeClr val="tx1"/>
              </a:solidFill>
            </a:endParaRPr>
          </a:p>
          <a:p>
            <a:pPr>
              <a:buNone/>
            </a:pPr>
            <a:r>
              <a:rPr dirty="0" sz="2800" lang="fr-FR" smtClean="0">
                <a:solidFill>
                  <a:srgbClr val="C00000"/>
                </a:solidFill>
              </a:rPr>
              <a:t>    </a:t>
            </a:r>
            <a:endParaRPr dirty="0" sz="2800" lang="fr-FR"/>
          </a:p>
        </p:txBody>
      </p:sp>
    </p:spTree>
  </p:cSld>
  <p:clrMapOvr>
    <a:masterClrMapping/>
  </p:clrMapOvr>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879" name="Espace réservé du contenu 2"/>
          <p:cNvSpPr>
            <a:spLocks noGrp="1"/>
          </p:cNvSpPr>
          <p:nvPr>
            <p:ph idx="1"/>
          </p:nvPr>
        </p:nvSpPr>
        <p:spPr>
          <a:xfrm>
            <a:off x="304800" y="980728"/>
            <a:ext cx="8686800" cy="5400600"/>
          </a:xfrm>
        </p:spPr>
        <p:txBody>
          <a:bodyPr>
            <a:noAutofit/>
          </a:bodyPr>
          <a:p>
            <a:pPr>
              <a:lnSpc>
                <a:spcPct val="150000"/>
              </a:lnSpc>
              <a:spcAft>
                <a:spcPts val="600"/>
              </a:spcAft>
            </a:pPr>
            <a:r>
              <a:rPr dirty="0" sz="2400" lang="fr-FR" smtClean="0">
                <a:solidFill>
                  <a:schemeClr val="tx1"/>
                </a:solidFill>
              </a:rPr>
              <a:t>Tributaire de la présentation initiale</a:t>
            </a:r>
          </a:p>
          <a:p>
            <a:pPr>
              <a:lnSpc>
                <a:spcPct val="150000"/>
              </a:lnSpc>
              <a:spcAft>
                <a:spcPts val="1200"/>
              </a:spcAft>
            </a:pPr>
            <a:r>
              <a:rPr dirty="0" sz="2400" lang="fr-FR" smtClean="0">
                <a:solidFill>
                  <a:schemeClr val="tx1"/>
                </a:solidFill>
              </a:rPr>
              <a:t>Formes non compliquées de SMPI: pronostic favorable</a:t>
            </a:r>
          </a:p>
          <a:p>
            <a:pPr>
              <a:spcAft>
                <a:spcPts val="1200"/>
              </a:spcAft>
            </a:pPr>
            <a:r>
              <a:rPr dirty="0" sz="2400" lang="fr-FR" smtClean="0">
                <a:solidFill>
                  <a:schemeClr val="tx1"/>
                </a:solidFill>
              </a:rPr>
              <a:t>Formes avec présentation initiale type IC / arythmie: pronostic défavorable</a:t>
            </a:r>
          </a:p>
          <a:p>
            <a:r>
              <a:rPr dirty="0" sz="2400" lang="fr-FR" smtClean="0">
                <a:solidFill>
                  <a:schemeClr val="tx1"/>
                </a:solidFill>
              </a:rPr>
              <a:t>Suivi sur 6 mois, voire &gt; 1 an pour les formes compliquées, récidivantes/incessantes:</a:t>
            </a:r>
          </a:p>
          <a:p>
            <a:pPr>
              <a:spcBef>
                <a:spcPts val="0"/>
              </a:spcBef>
              <a:buNone/>
            </a:pPr>
            <a:r>
              <a:rPr dirty="0" sz="2400" lang="fr-FR" smtClean="0">
                <a:solidFill>
                  <a:schemeClr val="tx1"/>
                </a:solidFill>
              </a:rPr>
              <a:t>     </a:t>
            </a:r>
            <a:r>
              <a:rPr dirty="0" sz="2400" lang="fr-FR" smtClean="0"/>
              <a:t>clinique, ECG, biomarqueurs, échocardio, test d’effort, holter  ECG, IRM cardiaque </a:t>
            </a:r>
            <a:r>
              <a:rPr dirty="0" sz="2400" lang="fr-FR" u="sng" smtClean="0"/>
              <a:t>dans les 6 mois</a:t>
            </a:r>
          </a:p>
          <a:p>
            <a:pPr>
              <a:spcBef>
                <a:spcPts val="0"/>
              </a:spcBef>
              <a:buNone/>
            </a:pPr>
            <a:endParaRPr dirty="0" sz="2400" lang="fr-FR" smtClean="0">
              <a:solidFill>
                <a:schemeClr val="tx1"/>
              </a:solidFill>
            </a:endParaRPr>
          </a:p>
          <a:p>
            <a:pPr>
              <a:spcBef>
                <a:spcPts val="0"/>
              </a:spcBef>
            </a:pPr>
            <a:r>
              <a:rPr dirty="0" sz="2400" lang="fr-FR" smtClean="0">
                <a:solidFill>
                  <a:schemeClr val="tx1"/>
                </a:solidFill>
              </a:rPr>
              <a:t>Délai de guérison: </a:t>
            </a:r>
            <a:r>
              <a:rPr dirty="0" sz="2400" lang="fr-FR" err="1" smtClean="0">
                <a:solidFill>
                  <a:schemeClr val="tx1"/>
                </a:solidFill>
              </a:rPr>
              <a:t>qques</a:t>
            </a:r>
            <a:r>
              <a:rPr dirty="0" sz="2400" lang="fr-FR" smtClean="0">
                <a:solidFill>
                  <a:schemeClr val="tx1"/>
                </a:solidFill>
              </a:rPr>
              <a:t> jrs à </a:t>
            </a:r>
            <a:r>
              <a:rPr dirty="0" sz="2400" lang="fr-FR" err="1" smtClean="0">
                <a:solidFill>
                  <a:schemeClr val="tx1"/>
                </a:solidFill>
              </a:rPr>
              <a:t>qques</a:t>
            </a:r>
            <a:r>
              <a:rPr dirty="0" sz="2400" lang="fr-FR" smtClean="0">
                <a:solidFill>
                  <a:schemeClr val="tx1"/>
                </a:solidFill>
              </a:rPr>
              <a:t> mois</a:t>
            </a:r>
          </a:p>
          <a:p>
            <a:pPr>
              <a:spcBef>
                <a:spcPts val="0"/>
              </a:spcBef>
              <a:buNone/>
            </a:pPr>
            <a:endParaRPr dirty="0" sz="2400" lang="fr-FR" smtClean="0">
              <a:solidFill>
                <a:schemeClr val="tx1"/>
              </a:solidFill>
            </a:endParaRPr>
          </a:p>
          <a:p>
            <a:pPr>
              <a:spcBef>
                <a:spcPts val="0"/>
              </a:spcBef>
            </a:pPr>
            <a:r>
              <a:rPr dirty="0" sz="2400" lang="fr-FR" smtClean="0">
                <a:solidFill>
                  <a:schemeClr val="tx1"/>
                </a:solidFill>
              </a:rPr>
              <a:t>Rechute dans 10% des cas</a:t>
            </a:r>
          </a:p>
          <a:p>
            <a:pPr>
              <a:spcBef>
                <a:spcPts val="0"/>
              </a:spcBef>
              <a:buNone/>
            </a:pPr>
            <a:endParaRPr dirty="0" sz="2400" lang="fr-FR" smtClean="0">
              <a:solidFill>
                <a:schemeClr val="tx1"/>
              </a:solidFill>
            </a:endParaRPr>
          </a:p>
          <a:p>
            <a:endParaRPr dirty="0" sz="2000" lang="fr-FR" smtClean="0"/>
          </a:p>
          <a:p>
            <a:pPr>
              <a:buNone/>
            </a:pPr>
            <a:r>
              <a:rPr dirty="0" sz="2000" lang="fr-FR" smtClean="0"/>
              <a:t>     </a:t>
            </a:r>
          </a:p>
          <a:p>
            <a:pPr>
              <a:buNone/>
            </a:pPr>
            <a:r>
              <a:rPr dirty="0" sz="2000" lang="fr-FR" smtClean="0"/>
              <a:t>     </a:t>
            </a:r>
            <a:endParaRPr dirty="0" sz="2000" lang="fr-FR"/>
          </a:p>
        </p:txBody>
      </p:sp>
      <p:sp>
        <p:nvSpPr>
          <p:cNvPr id="1048880" name="Rectangle 2"/>
          <p:cNvSpPr>
            <a:spLocks noRot="1" noGrp="1" noChangeArrowheads="1"/>
          </p:cNvSpPr>
          <p:nvPr>
            <p:ph type="title"/>
          </p:nvPr>
        </p:nvSpPr>
        <p:spPr>
          <a:xfrm>
            <a:off x="304800" y="260648"/>
            <a:ext cx="8686800" cy="838200"/>
          </a:xfrm>
        </p:spPr>
        <p:txBody>
          <a:bodyPr/>
          <a:p>
            <a:pPr algn="ctr" eaLnBrk="1" hangingPunct="1"/>
            <a:r>
              <a:rPr b="1" dirty="0" lang="fr-FR" smtClean="0">
                <a:solidFill>
                  <a:srgbClr val="800000"/>
                </a:solidFill>
                <a:effectLst/>
                <a:latin typeface="+mn-lt"/>
              </a:rPr>
              <a:t> X- PRONOSTIC</a:t>
            </a:r>
          </a:p>
        </p:txBody>
      </p:sp>
    </p:spTree>
  </p:cSld>
  <p:clrMapOvr>
    <a:masterClrMapping/>
  </p:clrMapOvr>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Promenade">
  <a:themeElements>
    <a:clrScheme name="Promenade">
      <a:dk1>
        <a:sysClr lastClr="000000" val="windowText"/>
      </a:dk1>
      <a:lt1>
        <a:sysClr lastClr="FFFFFF" val="window"/>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Promenade">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Promenade">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r="5400000" dist="50800" rotWithShape="0">
              <a:srgbClr val="4E3B30">
                <a:alpha val="60000"/>
              </a:srgbClr>
            </a:outerShdw>
          </a:effectLst>
        </a:effectStyle>
        <a:effectStyle>
          <a:effectLst>
            <a:outerShdw blurRad="76200" dir="5400000" dist="50800" rotWithShape="0">
              <a:srgbClr val="4E3B30">
                <a:alpha val="60000"/>
              </a:srgbClr>
            </a:outerShdw>
          </a:effectLst>
          <a:scene3d>
            <a:camera prst="orthographicFront">
              <a:rot lat="0" lon="0" rev="0"/>
            </a:camera>
            <a:lightRig dir="tl" rig="threePt">
              <a:rot lat="0" lon="0" rev="0"/>
            </a:lightRig>
          </a:scene3d>
          <a:sp3d prstMaterial="metal">
            <a:bevelT w="10000" h="10000"/>
          </a:sp3d>
        </a:effectStyle>
        <a:effectStyle>
          <a:effectLst>
            <a:outerShdw blurRad="76200" dir="5400000" dist="50800" rotWithShape="0">
              <a:srgbClr val="4E3B30">
                <a:alpha val="60000"/>
              </a:srgbClr>
            </a:outerShdw>
          </a:effectLst>
          <a:scene3d>
            <a:camera prst="obliqueTopLeft" fov="600000">
              <a:rot lat="0" lon="0" rev="0"/>
            </a:camera>
            <a:lightRig dir="t" rig="balanced">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algn="t" flip="none" sx="95000" sy="95000" tx="0" ty="0"/>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theme>
</file>

<file path=ppt/theme/theme2.xml><?xml version="1.0" encoding="utf-8"?>
<a:theme xmlns:a="http://schemas.openxmlformats.org/drawingml/2006/main" name="Thème Offic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Company>TOSHIBA</Company>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LES SYNDROMES PÉRICARDIQUES                                                    Partie 2</dc:title>
  <dc:creator>DADY COOL</dc:creator>
  <cp:lastModifiedBy>DADY COOL</cp:lastModifiedBy>
  <dcterms:created xsi:type="dcterms:W3CDTF">2020-04-19T06:05:45Z</dcterms:created>
  <dcterms:modified xsi:type="dcterms:W3CDTF">2026-05-04T14:00:17Z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6519ec6b9c824c469fa7f8a024bbe9f9</vt:lpwstr>
  </property>
</Properties>
</file>