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docProps/custom.xml" ContentType="application/vnd.openxmlformats-officedocument.custom-propertie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Default Extension="gif" ContentType="image/gif"/>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292" r:id="rId2"/>
    <p:sldId id="260" r:id="rId3"/>
    <p:sldId id="259" r:id="rId4"/>
    <p:sldId id="332" r:id="rId5"/>
    <p:sldId id="273" r:id="rId6"/>
    <p:sldId id="303" r:id="rId7"/>
    <p:sldId id="302" r:id="rId8"/>
    <p:sldId id="316" r:id="rId9"/>
    <p:sldId id="328" r:id="rId10"/>
    <p:sldId id="279" r:id="rId11"/>
    <p:sldId id="280" r:id="rId12"/>
    <p:sldId id="293" r:id="rId13"/>
    <p:sldId id="281" r:id="rId14"/>
    <p:sldId id="282" r:id="rId15"/>
    <p:sldId id="320" r:id="rId16"/>
    <p:sldId id="283" r:id="rId17"/>
    <p:sldId id="285" r:id="rId18"/>
    <p:sldId id="300" r:id="rId19"/>
    <p:sldId id="327" r:id="rId20"/>
    <p:sldId id="274" r:id="rId21"/>
    <p:sldId id="313" r:id="rId22"/>
    <p:sldId id="317" r:id="rId23"/>
    <p:sldId id="329" r:id="rId24"/>
    <p:sldId id="319" r:id="rId25"/>
    <p:sldId id="321" r:id="rId26"/>
    <p:sldId id="296" r:id="rId27"/>
    <p:sldId id="305" r:id="rId28"/>
    <p:sldId id="314" r:id="rId29"/>
    <p:sldId id="309" r:id="rId30"/>
    <p:sldId id="308" r:id="rId31"/>
    <p:sldId id="306" r:id="rId32"/>
    <p:sldId id="326" r:id="rId33"/>
    <p:sldId id="325" r:id="rId34"/>
    <p:sldId id="331" r:id="rId35"/>
    <p:sldId id="324" r:id="rId36"/>
    <p:sldId id="334" r:id="rId37"/>
    <p:sldId id="289" r:id="rId38"/>
    <p:sldId id="290" r:id="rId39"/>
    <p:sldId id="333" r:id="rId40"/>
    <p:sldId id="310" r:id="rId41"/>
    <p:sldId id="330" r:id="rId42"/>
    <p:sldId id="312" r:id="rId43"/>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800000"/>
    <a:srgbClr val="FF9900"/>
    <a:srgbClr val="FF5050"/>
    <a:srgbClr val="339966"/>
    <a:srgbClr val="99FF99"/>
    <a:srgbClr val="CCCCFF"/>
  </p:clrMru>
</p:presentationPr>
</file>

<file path=ppt/tableStyles.xml><?xml version="1.0" encoding="utf-8"?>
<a:tblStyleLst xmlns:a="http://schemas.openxmlformats.org/drawingml/2006/main" def="{5C22544A-7EE6-4342-B048-85BDC9FD1C3A}">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9631B5-78F2-41C9-869B-9F39066F8104}" styleName="Style moyen 3 - Accentuation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2" autoAdjust="0"/>
    <p:restoredTop sz="72487" autoAdjust="0"/>
  </p:normalViewPr>
  <p:slideViewPr>
    <p:cSldViewPr>
      <p:cViewPr>
        <p:scale>
          <a:sx n="60" d="100"/>
          <a:sy n="60" d="100"/>
        </p:scale>
        <p:origin x="-735" y="141"/>
      </p:cViewPr>
      <p:guideLst>
        <p:guide orient="horz" pos="2160"/>
        <p:guide pos="2880"/>
      </p:guideLst>
    </p:cSldViewPr>
  </p:slideViewPr>
  <p:outlineViewPr>
    <p:cViewPr>
      <p:scale>
        <a:sx n="33" d="100"/>
        <a:sy n="33" d="100"/>
      </p:scale>
      <p:origin x="35" y="2904"/>
    </p:cViewPr>
  </p:outlineViewPr>
  <p:notesTextViewPr>
    <p:cViewPr>
      <p:scale>
        <a:sx n="100" d="100"/>
        <a:sy n="100" d="100"/>
      </p:scale>
      <p:origin x="0" y="0"/>
    </p:cViewPr>
  </p:notesTextViewPr>
  <p:sorterViewPr>
    <p:cViewPr>
      <p:scale>
        <a:sx n="80" d="100"/>
        <a:sy n="80" d="100"/>
      </p:scale>
      <p:origin x="0" y="0"/>
    </p:cViewPr>
  </p:sorterViewPr>
  <p:notesViewPr>
    <p:cSldViewPr>
      <p:cViewPr>
        <p:scale>
          <a:sx n="110" d="100"/>
          <a:sy n="110" d="100"/>
        </p:scale>
        <p:origin x="-570" y="2621"/>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E583529-1E0F-47B6-A862-7FC56FEA180A}" type="datetimeFigureOut">
              <a:rPr lang="fr-FR" smtClean="0"/>
              <a:pPr/>
              <a:t>17/01/2026</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67D614-A403-4847-9522-E840C6A8F7A8}" type="slidenum">
              <a:rPr lang="fr-FR" smtClean="0"/>
              <a:pPr/>
              <a:t>‹N°›</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47107"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fr-FR" dirty="0" smtClean="0"/>
          </a:p>
        </p:txBody>
      </p:sp>
      <p:sp>
        <p:nvSpPr>
          <p:cNvPr id="47108" name="Espace réservé du numéro de diapositive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CD88A63C-E82C-4FB2-A89B-95B5BB55C7DC}" type="slidenum">
              <a:rPr lang="fr-FR" smtClean="0"/>
              <a:pPr fontAlgn="base">
                <a:spcBef>
                  <a:spcPct val="0"/>
                </a:spcBef>
                <a:spcAft>
                  <a:spcPct val="0"/>
                </a:spcAft>
                <a:defRPr/>
              </a:pPr>
              <a:t>1</a:t>
            </a:fld>
            <a:endParaRPr lang="fr-FR"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69635"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r>
              <a:rPr lang="fr-FR" b="1" dirty="0" smtClean="0"/>
              <a:t>I- Rappel anatomique</a:t>
            </a:r>
            <a:r>
              <a:rPr lang="fr-FR" dirty="0" smtClean="0"/>
              <a:t>: le péricarde est un sac contenant le cœur et la racine des gros vaisseaux avec les hiles.</a:t>
            </a:r>
          </a:p>
          <a:p>
            <a:r>
              <a:rPr lang="fr-FR" dirty="0" smtClean="0"/>
              <a:t>Ce sac est constitué de 2 feuillets:</a:t>
            </a:r>
          </a:p>
          <a:p>
            <a:r>
              <a:rPr lang="fr-FR" dirty="0" smtClean="0"/>
              <a:t> - un feuillet viscéral ou épicarde, séreux, au contact du myocarde sous jacent.</a:t>
            </a:r>
          </a:p>
          <a:p>
            <a:r>
              <a:rPr lang="fr-FR" dirty="0" smtClean="0"/>
              <a:t> - un feuillet pariétal, fibreux</a:t>
            </a:r>
          </a:p>
          <a:p>
            <a:r>
              <a:rPr lang="fr-FR" dirty="0" smtClean="0"/>
              <a:t>Ils délimitent la cavité péricardique contenant à l’état physiologique 10 à 50 ml de liquide péricardique qui est un </a:t>
            </a:r>
            <a:r>
              <a:rPr lang="fr-FR" dirty="0" err="1" smtClean="0"/>
              <a:t>ultrafiltrat</a:t>
            </a:r>
            <a:r>
              <a:rPr lang="fr-FR" dirty="0" smtClean="0"/>
              <a:t> plasmatique agissant comme un lubrifiant entre les feuillets. </a:t>
            </a:r>
          </a:p>
          <a:p>
            <a:r>
              <a:rPr lang="fr-FR" dirty="0" smtClean="0"/>
              <a:t>Le péricarde à un rôle:</a:t>
            </a:r>
          </a:p>
          <a:p>
            <a:r>
              <a:rPr lang="fr-FR" dirty="0" smtClean="0"/>
              <a:t> - de lubrification du cœur</a:t>
            </a:r>
          </a:p>
          <a:p>
            <a:r>
              <a:rPr lang="fr-FR" dirty="0" smtClean="0"/>
              <a:t> - de fixation du cœur au médiastin</a:t>
            </a:r>
          </a:p>
          <a:p>
            <a:r>
              <a:rPr lang="fr-FR" dirty="0" smtClean="0"/>
              <a:t> - de protection contre les infections, les envahissements néoplasiques et les traumatismes</a:t>
            </a:r>
          </a:p>
        </p:txBody>
      </p:sp>
      <p:sp>
        <p:nvSpPr>
          <p:cNvPr id="69636"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84F20E7-BCDC-4305-BC80-6EC64750E53A}" type="slidenum">
              <a:rPr lang="fr-FR" smtClean="0"/>
              <a:pPr/>
              <a:t>2</a:t>
            </a:fld>
            <a:endParaRPr lang="fr-FR"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68611" name="Espace réservé des commentaires 2"/>
          <p:cNvSpPr>
            <a:spLocks noGrp="1"/>
          </p:cNvSpPr>
          <p:nvPr>
            <p:ph type="body" idx="1"/>
          </p:nvPr>
        </p:nvSpPr>
        <p:spPr bwMode="auto">
          <a:noFill/>
        </p:spPr>
        <p:txBody>
          <a:bodyPr wrap="square" numCol="1" anchor="t" anchorCtr="0" compatLnSpc="1">
            <a:prstTxWarp prst="textNoShape">
              <a:avLst/>
            </a:prstTxWarp>
            <a:normAutofit fontScale="92500" lnSpcReduction="10000"/>
          </a:bodyPr>
          <a:lstStyle/>
          <a:p>
            <a:r>
              <a:rPr lang="fr-FR" b="1" dirty="0" smtClean="0"/>
              <a:t>II-Introduction,</a:t>
            </a:r>
            <a:r>
              <a:rPr lang="fr-FR" b="1" baseline="0" dirty="0" smtClean="0"/>
              <a:t> épidémiologie</a:t>
            </a:r>
            <a:r>
              <a:rPr lang="fr-FR" b="1" dirty="0" smtClean="0"/>
              <a:t>:</a:t>
            </a:r>
          </a:p>
          <a:p>
            <a:r>
              <a:rPr lang="fr-FR" dirty="0" smtClean="0"/>
              <a:t>Les myocardites et les péricardites sont des maladies inflammatoires du myocarde et du péricarde avec des possibilités de chevauchement entre les 2 atteintes. Le terme d’IMPS, en anglo-saxon « </a:t>
            </a:r>
            <a:r>
              <a:rPr lang="fr-FR" dirty="0" err="1" smtClean="0"/>
              <a:t>inflammatory</a:t>
            </a:r>
            <a:r>
              <a:rPr lang="fr-FR" dirty="0" smtClean="0"/>
              <a:t> </a:t>
            </a:r>
            <a:r>
              <a:rPr lang="fr-FR" dirty="0" err="1" smtClean="0"/>
              <a:t>myopericardial</a:t>
            </a:r>
            <a:r>
              <a:rPr lang="fr-FR" baseline="0" dirty="0" smtClean="0"/>
              <a:t> syndrome » englobe donc les myocardites isolées, les péricardites isolées et tous les degrés de combinaisons entre les deux.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latin typeface="+mn-lt"/>
                <a:ea typeface="+mn-ea"/>
                <a:cs typeface="+mn-cs"/>
              </a:rPr>
              <a:t>La clinique ne permet souvent pas d’exclure une atteinte myocardique: on parle désormais de syndrome myopéricardique inflammatoire (</a:t>
            </a:r>
            <a:r>
              <a:rPr lang="fr-FR" sz="1200" b="1" kern="1200" dirty="0" smtClean="0">
                <a:solidFill>
                  <a:schemeClr val="tx1"/>
                </a:solidFill>
                <a:latin typeface="+mn-lt"/>
                <a:ea typeface="+mn-ea"/>
                <a:cs typeface="+mn-cs"/>
              </a:rPr>
              <a:t>SMPI</a:t>
            </a:r>
            <a:r>
              <a:rPr lang="fr-FR" sz="1200" kern="1200" dirty="0" smtClean="0">
                <a:solidFill>
                  <a:schemeClr val="tx1"/>
                </a:solidFill>
                <a:latin typeface="+mn-lt"/>
                <a:ea typeface="+mn-ea"/>
                <a:cs typeface="+mn-cs"/>
              </a:rPr>
              <a:t>) jusqu’au</a:t>
            </a:r>
            <a:r>
              <a:rPr lang="fr-FR" sz="1200" kern="1200" baseline="0" dirty="0" smtClean="0">
                <a:solidFill>
                  <a:schemeClr val="tx1"/>
                </a:solidFill>
                <a:latin typeface="+mn-lt"/>
                <a:ea typeface="+mn-ea"/>
                <a:cs typeface="+mn-cs"/>
              </a:rPr>
              <a:t> </a:t>
            </a:r>
            <a:r>
              <a:rPr lang="fr-FR" sz="1200" kern="1200" dirty="0" smtClean="0">
                <a:solidFill>
                  <a:schemeClr val="tx1"/>
                </a:solidFill>
                <a:latin typeface="+mn-lt"/>
                <a:ea typeface="+mn-ea"/>
                <a:cs typeface="+mn-cs"/>
              </a:rPr>
              <a:t>diagnostique définitif.</a:t>
            </a:r>
          </a:p>
          <a:p>
            <a:endParaRPr lang="fr-FR" baseline="0" dirty="0" smtClean="0"/>
          </a:p>
          <a:p>
            <a:r>
              <a:rPr lang="fr-FR" dirty="0" smtClean="0"/>
              <a:t>Les étiologies sont nombreuses et sont classées en 2 groupes:</a:t>
            </a:r>
          </a:p>
          <a:p>
            <a:r>
              <a:rPr lang="fr-FR" dirty="0" smtClean="0"/>
              <a:t> - causes infectieuses</a:t>
            </a:r>
          </a:p>
          <a:p>
            <a:r>
              <a:rPr lang="fr-FR" dirty="0" smtClean="0"/>
              <a:t> - causes non infectieuses </a:t>
            </a:r>
          </a:p>
          <a:p>
            <a:r>
              <a:rPr lang="fr-FR" dirty="0" smtClean="0"/>
              <a:t>Ces situations</a:t>
            </a:r>
            <a:r>
              <a:rPr lang="fr-FR" baseline="0" dirty="0" smtClean="0"/>
              <a:t> peuvent déclencher un IMPS chez des individu génétiquement prédisposés, par un mécanisme inflammatoire ou auto-immun.</a:t>
            </a:r>
          </a:p>
          <a:p>
            <a:endParaRPr lang="ar-DZ" dirty="0" smtClean="0"/>
          </a:p>
          <a:p>
            <a:r>
              <a:rPr lang="fr-FR" dirty="0" smtClean="0"/>
              <a:t>La conduite</a:t>
            </a:r>
            <a:r>
              <a:rPr lang="fr-FR" baseline="0" dirty="0" smtClean="0"/>
              <a:t> diagnostique doit être personnalisée et adaptée à la sévérité de la présentation clinique, et guidée par le symptôme clinique dominant, la réponse au traitement, l’évaluation du risque individuel de chaque patient. </a:t>
            </a:r>
          </a:p>
          <a:p>
            <a:pPr>
              <a:buFontTx/>
              <a:buChar char="-"/>
            </a:pPr>
            <a:endParaRPr lang="fr-FR" dirty="0" smtClean="0"/>
          </a:p>
          <a:p>
            <a:r>
              <a:rPr lang="fr-FR" dirty="0" smtClean="0"/>
              <a:t>Une imagerie multimodale (téléthorax, ECG, échocardiographie</a:t>
            </a:r>
            <a:r>
              <a:rPr lang="fr-FR" baseline="0" dirty="0" smtClean="0"/>
              <a:t> avec étude du strain myocardique</a:t>
            </a:r>
            <a:r>
              <a:rPr lang="fr-FR" dirty="0" smtClean="0"/>
              <a:t>, scanner et IRM) est, par ailleurs, indispensable pour la stratégie diagnostique, et pour la conduite du traitement qui nécessite le suivi des paramètres cliniques et para cliniques initialement perturbés.</a:t>
            </a:r>
          </a:p>
          <a:p>
            <a:r>
              <a:rPr lang="fr-FR" dirty="0" smtClean="0"/>
              <a:t>L’IRM occupe désormais</a:t>
            </a:r>
            <a:r>
              <a:rPr lang="fr-FR" baseline="0" dirty="0" smtClean="0"/>
              <a:t> une place importante pour le diagnostic ce qui a limité les indications de la biopsie endomyocardique à des situations particulières: myocardite fulminante, myocardites compliquées. Elle est également indiquée pour le suivi des patients (guérison, complications).</a:t>
            </a:r>
            <a:endParaRPr lang="fr-FR" dirty="0" smtClean="0"/>
          </a:p>
          <a:p>
            <a:endParaRPr lang="fr-FR" noProof="0" dirty="0" smtClean="0">
              <a:latin typeface="+mn-lt"/>
            </a:endParaRPr>
          </a:p>
          <a:p>
            <a:r>
              <a:rPr lang="fr-FR" dirty="0" smtClean="0"/>
              <a:t>Le but principal du traitement est de réduire</a:t>
            </a:r>
            <a:r>
              <a:rPr lang="fr-FR" baseline="0" dirty="0" smtClean="0"/>
              <a:t> les symptômes et de prévenir les complications, en particuliers les récidives et la mortalité dans les formes compliquées. Le repos est un volet important du traitement non pharmacologique.</a:t>
            </a:r>
          </a:p>
          <a:p>
            <a:endParaRPr lang="fr-FR" baseline="0" dirty="0" smtClean="0"/>
          </a:p>
          <a:p>
            <a:r>
              <a:rPr lang="fr-FR" b="1" baseline="0" dirty="0" smtClean="0"/>
              <a:t>Epidémiologie:</a:t>
            </a:r>
          </a:p>
          <a:p>
            <a:r>
              <a:rPr lang="fr-FR" b="0" baseline="0" dirty="0" smtClean="0"/>
              <a:t>Les études épidémiologiques des syndromes myopéricardiques inflammatoires sont limitées et réalisées pour la plupart dans des groupes sélectionnés de patients tels que des malades hospitalisés. Elles sous estiment l’incidence et la prévalence réelles de cette maladie.</a:t>
            </a:r>
          </a:p>
          <a:p>
            <a:r>
              <a:rPr lang="fr-FR" b="0" baseline="0" dirty="0" smtClean="0"/>
              <a:t>Ainsi la fréquences des myocardites aigues augmente de 5% à 13% dès lors qu’on fait appel à l’IRM cardiaque face à une douleur pseudo angineuse  avec troponine élevée. </a:t>
            </a:r>
          </a:p>
          <a:p>
            <a:r>
              <a:rPr lang="fr-FR" b="0" baseline="0" dirty="0" smtClean="0"/>
              <a:t>La prévalence serait de 4,2-2,7/100 000 dans la tranche d’âge 35-39 ans, avec une prévalence masculine qui suggère le rôle du facteur hormonal.</a:t>
            </a:r>
          </a:p>
          <a:p>
            <a:r>
              <a:rPr lang="fr-FR" b="0" baseline="0" dirty="0" smtClean="0"/>
              <a:t>L’incidence de la péricardite aigue est estimée à 3-32 cas/100 000-année. Comme pour les myocardites elles est plus souvent diagnostiquée chez les hommes et les sujets jeunes. Une récidive survient dans 20 à 30% des cas après un premiers épisode aigu.</a:t>
            </a:r>
          </a:p>
          <a:p>
            <a:r>
              <a:rPr lang="fr-FR" b="0" baseline="0" dirty="0" smtClean="0"/>
              <a:t>La péricardite aigue est à l’origine de 5% des admissions pour douleur thoracique des services d’urgences. </a:t>
            </a:r>
            <a:endParaRPr lang="fr-FR" b="0" dirty="0" smtClean="0"/>
          </a:p>
        </p:txBody>
      </p:sp>
      <p:sp>
        <p:nvSpPr>
          <p:cNvPr id="68612"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70263BC-FE74-4A5A-A9BE-31E027B4F844}" type="slidenum">
              <a:rPr lang="fr-FR" smtClean="0"/>
              <a:pPr/>
              <a:t>3</a:t>
            </a:fld>
            <a:endParaRPr lang="fr-FR"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81923" name="Espace réservé des commentaires 2"/>
          <p:cNvSpPr>
            <a:spLocks noGrp="1"/>
          </p:cNvSpPr>
          <p:nvPr>
            <p:ph type="body" idx="1"/>
          </p:nvPr>
        </p:nvSpPr>
        <p:spPr bwMode="auto">
          <a:noFill/>
        </p:spPr>
        <p:txBody>
          <a:bodyPr wrap="square" numCol="1" anchor="t" anchorCtr="0" compatLnSpc="1">
            <a:prstTxWarp prst="textNoShape">
              <a:avLst/>
            </a:prstTxWarp>
            <a:normAutofit fontScale="92500" lnSpcReduction="10000"/>
          </a:bodyPr>
          <a:lstStyle/>
          <a:p>
            <a:r>
              <a:rPr lang="fr-FR" b="1" dirty="0" smtClean="0"/>
              <a:t>III- Etiologies:</a:t>
            </a:r>
            <a:r>
              <a:rPr lang="fr-FR" dirty="0" smtClean="0"/>
              <a:t> </a:t>
            </a:r>
          </a:p>
          <a:p>
            <a:r>
              <a:rPr lang="fr-FR" dirty="0" smtClean="0"/>
              <a:t>Myocardites et péricardites partagent des étiologies similaires. selon une classification simple elles sont soit de cause infectieuse soit de cause non infectieuse</a:t>
            </a:r>
            <a:r>
              <a:rPr lang="fr-FR" baseline="0" dirty="0" smtClean="0"/>
              <a:t> et  peuvent déclencher un SIMP en cas de prédisposition génétique. </a:t>
            </a:r>
          </a:p>
          <a:p>
            <a:r>
              <a:rPr lang="fr-FR" baseline="0" dirty="0" smtClean="0"/>
              <a:t> &gt; Les causes infectieuses des myocardites sont le plus souvent d’origine virale: entérovirus, adénovirus, parvovirus, herpes virus, grippe et coronavirus. </a:t>
            </a:r>
          </a:p>
          <a:p>
            <a:r>
              <a:rPr lang="fr-FR" baseline="0" dirty="0" smtClean="0"/>
              <a:t> &gt; Les étiologies non infectieuses comprennent les maladies de systèmes, les désordres auto immuns (lupus systémique, polyarthrite rhumatoïde, sclérodermie, sarcoïdose, myocardite à éosinophile, ainsi que la radiothérapie thoracique, etc..), les toxiques cardiaques (alcool et certaines chimiothérapies), les myocardites induites par les inhibiteurs des </a:t>
            </a:r>
            <a:r>
              <a:rPr lang="fr-FR" baseline="0" dirty="0" err="1" smtClean="0"/>
              <a:t>checkpoints</a:t>
            </a:r>
            <a:r>
              <a:rPr lang="fr-FR" baseline="0" dirty="0" smtClean="0"/>
              <a:t> immunitaires utilisés dans le traitement de certains cancers.</a:t>
            </a:r>
          </a:p>
          <a:p>
            <a:r>
              <a:rPr lang="fr-FR" baseline="0" dirty="0" smtClean="0"/>
              <a:t>  Les étiologies des péricardites dépendent largement du contexte </a:t>
            </a:r>
            <a:r>
              <a:rPr lang="fr-FR" dirty="0" smtClean="0"/>
              <a:t>épidémiologique, de la population à laquelle appartient le patient et de la présentation clinique. Ainsi les formes idiopathiques et virales sont les plus fréquentes dans les pays développés, alors que la tuberculose est le plus fréquemment en cause dans les pathologies du péricarde des pays en voie de développement, où elle peut être également associée au virus VIH.</a:t>
            </a:r>
          </a:p>
          <a:p>
            <a:r>
              <a:rPr lang="fr-FR" baseline="0" dirty="0" smtClean="0"/>
              <a:t> Les formes post procédures interventionnelles et post chirurgicales sont en augmentation (plus de procédures chez les sujets âgés). </a:t>
            </a:r>
            <a:endParaRPr lang="fr-FR" dirty="0" smtClean="0"/>
          </a:p>
          <a:p>
            <a:r>
              <a:rPr lang="fr-FR" dirty="0" smtClean="0"/>
              <a:t>Les néoplasies primitives péricardiques, en particulier le mésothélium, sont rares; le plus souvent il s’agit de localisations métastatiques ayant pour pôle primitif le sein, le poumon, un lymphome ou une leucose</a:t>
            </a:r>
            <a:r>
              <a:rPr lang="fr-FR" baseline="0" dirty="0" smtClean="0"/>
              <a:t> à l’origine d’épanchements péricardiques.</a:t>
            </a:r>
            <a:endParaRPr lang="fr-FR" dirty="0" smtClean="0"/>
          </a:p>
          <a:p>
            <a:r>
              <a:rPr lang="fr-FR" dirty="0" smtClean="0"/>
              <a:t>Les antimitotiques peuvent être incriminés avec souvent association d’une atteinte myocardique.</a:t>
            </a:r>
          </a:p>
          <a:p>
            <a:r>
              <a:rPr lang="fr-FR" dirty="0" smtClean="0"/>
              <a:t>5</a:t>
            </a:r>
            <a:r>
              <a:rPr lang="fr-FR" baseline="0" dirty="0" smtClean="0"/>
              <a:t> à 15% des formes récidivantes sont liées à une mutation génétiques telle que celle de la fièvre méditerranéenne familiale.</a:t>
            </a:r>
            <a:endParaRPr lang="fr-FR" dirty="0" smtClean="0"/>
          </a:p>
          <a:p>
            <a:r>
              <a:rPr lang="fr-FR" dirty="0" smtClean="0"/>
              <a:t>La dissection de l’aorte peut occasionner un hémopéricarde par fissuration ou rupture de la paroi disséquée dans le péricarde, pouvant être à l’origine de tableau de tamponnade foudroyante.</a:t>
            </a:r>
          </a:p>
          <a:p>
            <a:r>
              <a:rPr lang="fr-FR" dirty="0" smtClean="0"/>
              <a:t>L’insuffisance cardiaque chronique et les HTP quant à elles peuvent être à l’origine d’épanchements péricardiques de type mécanique ou transsudats, dus à un ralentissement du ‘’</a:t>
            </a:r>
            <a:r>
              <a:rPr lang="fr-FR" dirty="0" err="1" smtClean="0"/>
              <a:t>turn</a:t>
            </a:r>
            <a:r>
              <a:rPr lang="fr-FR" dirty="0" smtClean="0"/>
              <a:t> over’’ physiologique du liquide péricardique avec ralentissement de sa réabsorption. </a:t>
            </a:r>
          </a:p>
          <a:p>
            <a:r>
              <a:rPr lang="fr-FR" dirty="0" smtClean="0"/>
              <a:t>Les anticoagulants peuvent favoriser la transformation hémorragique d’un épanchement péricardique préexistant.</a:t>
            </a:r>
          </a:p>
          <a:p>
            <a:endParaRPr lang="fr-FR" dirty="0" smtClean="0"/>
          </a:p>
          <a:p>
            <a:r>
              <a:rPr lang="fr-FR" dirty="0" smtClean="0"/>
              <a:t>Il n’est pas obligatoire de rechercher la cause de la péricardite chez tous les patients, en particulier dans les pays à faible prévalence de la tuberculose, du fait de l’évolution relativement bénigne des péricardites dues aux causes les plus fréquentes, et de la performance relativement faible des investigations diagnostiques. Il doit donc y avoir un tri des patients. Toute présentation clinique</a:t>
            </a:r>
            <a:r>
              <a:rPr lang="fr-FR" baseline="0" dirty="0" smtClean="0"/>
              <a:t> </a:t>
            </a:r>
            <a:r>
              <a:rPr lang="fr-FR" dirty="0" smtClean="0"/>
              <a:t>suggérant une cause sous-jacente (par exemple une maladie inflammatoire systémique) ou avec au moins un prédicteur (majeur ou mineur) de mauvais pronostic justifie une hospitalisation et une recherche étiologique.</a:t>
            </a:r>
          </a:p>
        </p:txBody>
      </p:sp>
      <p:sp>
        <p:nvSpPr>
          <p:cNvPr id="81924"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0A5B8A4-88C3-435E-9518-95DA7C79B37A}" type="slidenum">
              <a:rPr lang="fr-FR" smtClean="0"/>
              <a:pPr/>
              <a:t>5</a:t>
            </a:fld>
            <a:endParaRPr lang="fr-FR"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b="1" dirty="0" smtClean="0"/>
              <a:t>IV-</a:t>
            </a:r>
            <a:r>
              <a:rPr lang="fr-FR" b="1" baseline="0" dirty="0" smtClean="0"/>
              <a:t> </a:t>
            </a:r>
            <a:r>
              <a:rPr lang="fr-FR" b="1" dirty="0" smtClean="0"/>
              <a:t>Symptômes généraux et signes cliniques des IMPS, présentation clinique:</a:t>
            </a:r>
          </a:p>
          <a:p>
            <a:r>
              <a:rPr lang="fr-FR" dirty="0" smtClean="0"/>
              <a:t>La principale difficulté est de</a:t>
            </a:r>
            <a:r>
              <a:rPr lang="fr-FR" baseline="0" dirty="0" smtClean="0"/>
              <a:t> reconnaitre et d’évoquer un SMPI. Les sociétés savantes ont regroupé des signes d’alerte (red flags)</a:t>
            </a:r>
            <a:r>
              <a:rPr lang="fr-FR" dirty="0" smtClean="0"/>
              <a:t> pour les myocardites et les péricardites, destinés à déclencher</a:t>
            </a:r>
            <a:r>
              <a:rPr lang="fr-FR" baseline="0" dirty="0" smtClean="0"/>
              <a:t> la suspicion  clinique chez le médecin</a:t>
            </a:r>
            <a:r>
              <a:rPr lang="fr-FR" dirty="0" smtClean="0"/>
              <a:t>. Ce sont principalement des signes cliniques accompagnés de marqueurs</a:t>
            </a:r>
            <a:r>
              <a:rPr lang="fr-FR" baseline="0" dirty="0" smtClean="0"/>
              <a:t> sérologiques et/ou d’imagerie, qui vont conduire à une enquête et permettre un dgc rapide et fiable. Ceci est crucial pour une prise en charge adaptée et personnalisée et pour limiter le risque d’évolution vers les complications. Ces signes d’alerte peuvent être: une douleur thoracique prolongée ou récidivante, troponine élevée, élévation persistante de la CRP, anomalies ECG significatives (sous décalage diffus de ST / PR), BAV, TV), hypotension, insuffisance cardiaque aigue, syncope, épanchement péricardique abondant, antécédents familiaux de maladie auto-immune, grossesse, immunothérapie anticancéreuse…</a:t>
            </a:r>
          </a:p>
          <a:p>
            <a:endParaRPr lang="fr-FR" baseline="0" dirty="0" smtClean="0"/>
          </a:p>
          <a:p>
            <a:r>
              <a:rPr lang="fr-FR" baseline="0" dirty="0" smtClean="0"/>
              <a:t>Le symptôme le plus fréquent des péricardites et des myocardites est la douleur thoracique. Elle peut être pseudo angineuse surtout pour les myocardites, ou de type pleural sensible aux mouvements respiratoires particulièrement pour les péricardites.</a:t>
            </a:r>
          </a:p>
          <a:p>
            <a:r>
              <a:rPr lang="fr-FR" i="0" baseline="0" dirty="0" smtClean="0"/>
              <a:t>Les autres présentations cliniques courantes comportent une dyspnée qui fait craindre une défaillance cardiaque en cas de myocardite, une arythmie, principalement ventriculaire en cas de myocardite, plutôt supraventriculaire pour les péricardites; plus rarement il peut y avoir une syncope.</a:t>
            </a:r>
          </a:p>
          <a:p>
            <a:endParaRPr lang="fr-FR" baseline="0" dirty="0" smtClean="0"/>
          </a:p>
          <a:p>
            <a:r>
              <a:rPr lang="fr-FR" baseline="0" dirty="0" smtClean="0"/>
              <a:t>La conduite diagnostique se basera sur:</a:t>
            </a:r>
          </a:p>
          <a:p>
            <a:pPr>
              <a:buFontTx/>
              <a:buChar char="-"/>
            </a:pPr>
            <a:r>
              <a:rPr lang="fr-FR" baseline="0" dirty="0" smtClean="0"/>
              <a:t>l’historique: contexte infectieux viral respiratoire ou gastro-intestinal, exposition à des toxiques cardiaques (alcool, certaines chimiothérapie), traitements en cours (anticoagulants, inhibiteurs des </a:t>
            </a:r>
            <a:r>
              <a:rPr lang="fr-FR" baseline="0" dirty="0" err="1" smtClean="0"/>
              <a:t>checkpoint</a:t>
            </a:r>
            <a:r>
              <a:rPr lang="fr-FR" baseline="0" dirty="0" smtClean="0"/>
              <a:t> immunitaires..), symptômes récurrents.</a:t>
            </a:r>
          </a:p>
          <a:p>
            <a:pPr>
              <a:buFontTx/>
              <a:buChar char="-"/>
            </a:pPr>
            <a:r>
              <a:rPr lang="fr-FR" baseline="0" dirty="0" smtClean="0"/>
              <a:t>les ATCD personnels et familiaux: ATCD familiaux de SMPI, de cardiomyopathie, de mort subite, de maladies auto-immunes, de maladies inflammatoires systémiques. Rechercher un contage tuberculeux, un contexte de maladie thrombo embolique, des FRCV.</a:t>
            </a:r>
          </a:p>
          <a:p>
            <a:r>
              <a:rPr lang="fr-FR" baseline="0" dirty="0" smtClean="0"/>
              <a:t> -un examen clinique approfondi: recherche d’une instabilité hémodynamique, signes de tamponnade, type de symptômes </a:t>
            </a:r>
            <a:r>
              <a:rPr lang="fr-FR" i="1" baseline="0" dirty="0" smtClean="0"/>
              <a:t>(douleur, tableau d’insuffisance cardiaque, palpitations, syncope)</a:t>
            </a:r>
            <a:r>
              <a:rPr lang="fr-FR" i="0" baseline="0" dirty="0" smtClean="0"/>
              <a:t>,</a:t>
            </a:r>
            <a:r>
              <a:rPr lang="fr-FR" i="1" baseline="0" dirty="0" smtClean="0"/>
              <a:t> </a:t>
            </a:r>
            <a:r>
              <a:rPr lang="fr-FR" i="0" baseline="0" dirty="0" smtClean="0"/>
              <a:t>auscultation d’un frottement.</a:t>
            </a:r>
          </a:p>
          <a:p>
            <a:pPr>
              <a:buFontTx/>
              <a:buChar char="-"/>
            </a:pPr>
            <a:r>
              <a:rPr lang="fr-FR" i="0" baseline="0" dirty="0" smtClean="0"/>
              <a:t> et le recueil de biomarqueurs: de l’inflammation (CRP)</a:t>
            </a:r>
            <a:r>
              <a:rPr lang="fr-FR" baseline="0" dirty="0" smtClean="0"/>
              <a:t>, de l’atteinte myocardique (troponine/CPK-MB) et de l’insuffisance cardiaque (NT-</a:t>
            </a:r>
            <a:r>
              <a:rPr lang="fr-FR" baseline="0" dirty="0" err="1" smtClean="0"/>
              <a:t>proBNP</a:t>
            </a:r>
            <a:r>
              <a:rPr lang="fr-FR" baseline="0" dirty="0" smtClean="0"/>
              <a:t>).</a:t>
            </a:r>
          </a:p>
          <a:p>
            <a:pPr>
              <a:buFontTx/>
              <a:buNone/>
            </a:pPr>
            <a:endParaRPr lang="fr-FR" baseline="0" dirty="0" smtClean="0"/>
          </a:p>
        </p:txBody>
      </p:sp>
      <p:sp>
        <p:nvSpPr>
          <p:cNvPr id="4" name="Espace réservé du numéro de diapositive 3"/>
          <p:cNvSpPr>
            <a:spLocks noGrp="1"/>
          </p:cNvSpPr>
          <p:nvPr>
            <p:ph type="sldNum" sz="quarter" idx="10"/>
          </p:nvPr>
        </p:nvSpPr>
        <p:spPr/>
        <p:txBody>
          <a:bodyPr/>
          <a:lstStyle/>
          <a:p>
            <a:fld id="{F267D614-A403-4847-9522-E840C6A8F7A8}" type="slidenum">
              <a:rPr lang="fr-FR" smtClean="0"/>
              <a:pPr/>
              <a:t>6</a:t>
            </a:fld>
            <a:endParaRPr lang="fr-F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fontScale="47500" lnSpcReduction="2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b="1" dirty="0" smtClean="0"/>
              <a:t>V-</a:t>
            </a:r>
            <a:r>
              <a:rPr lang="fr-FR" b="1" baseline="0" dirty="0" smtClean="0"/>
              <a:t> Stratification du risque: </a:t>
            </a:r>
          </a:p>
          <a:p>
            <a:pPr marL="0" marR="0" indent="0" algn="l" defTabSz="914400" rtl="0" eaLnBrk="1" fontAlgn="auto" latinLnBrk="0" hangingPunct="1">
              <a:lnSpc>
                <a:spcPct val="100000"/>
              </a:lnSpc>
              <a:spcBef>
                <a:spcPts val="0"/>
              </a:spcBef>
              <a:spcAft>
                <a:spcPts val="0"/>
              </a:spcAft>
              <a:buClrTx/>
              <a:buSzTx/>
              <a:buFontTx/>
              <a:buNone/>
              <a:tabLst/>
              <a:defRPr/>
            </a:pPr>
            <a:r>
              <a:rPr lang="fr-FR" baseline="0" dirty="0" smtClean="0"/>
              <a:t>Dès la suspicion diagnostique (red flags) une stratification du risque doit être faite, avec individualisation de 3 niveau de risque pour les péricardites et les myocardites: élevé, intermédiaire et bas risque.</a:t>
            </a:r>
          </a:p>
          <a:p>
            <a:pPr marL="0" marR="0" indent="0" algn="l" defTabSz="914400" rtl="0" eaLnBrk="1" fontAlgn="auto" latinLnBrk="0" hangingPunct="1">
              <a:lnSpc>
                <a:spcPct val="100000"/>
              </a:lnSpc>
              <a:spcBef>
                <a:spcPts val="0"/>
              </a:spcBef>
              <a:spcAft>
                <a:spcPts val="0"/>
              </a:spcAft>
              <a:buClrTx/>
              <a:buSzTx/>
              <a:buFontTx/>
              <a:buNone/>
              <a:tabLst/>
              <a:defRPr/>
            </a:pPr>
            <a:r>
              <a:rPr lang="fr-FR" baseline="0" dirty="0" smtClean="0"/>
              <a:t>la présentation clinique étant souvent une douleur thoracique pseudo angineuse, la première étape sera de trier les patients en procédant à une évaluation des FRCV afin d’éliminer un SCA, et à un bilan d’urgence pour éliminer les autres diagnostics différentiels graves (embolie pulmonaire dissection aortique) ou des complications (rythmiques, hémodynamiques, évolution chronique).</a:t>
            </a:r>
          </a:p>
          <a:p>
            <a:pPr marL="0" marR="0" indent="0" algn="l" defTabSz="914400" rtl="0" eaLnBrk="1" fontAlgn="auto" latinLnBrk="0" hangingPunct="1">
              <a:lnSpc>
                <a:spcPct val="100000"/>
              </a:lnSpc>
              <a:spcBef>
                <a:spcPts val="0"/>
              </a:spcBef>
              <a:spcAft>
                <a:spcPts val="0"/>
              </a:spcAft>
              <a:buClrTx/>
              <a:buSzTx/>
              <a:buFontTx/>
              <a:buNone/>
              <a:tabLst/>
              <a:defRPr/>
            </a:pPr>
            <a:endParaRPr lang="fr-FR"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fr-FR" dirty="0" smtClean="0"/>
          </a:p>
          <a:p>
            <a:r>
              <a:rPr lang="fr-FR" dirty="0" smtClean="0"/>
              <a:t>A- Stratification du risque myocardites:</a:t>
            </a:r>
          </a:p>
          <a:p>
            <a:r>
              <a:rPr lang="fr-FR" b="1" dirty="0" smtClean="0"/>
              <a:t>1-</a:t>
            </a:r>
            <a:r>
              <a:rPr lang="fr-FR" b="1" baseline="0" dirty="0" smtClean="0"/>
              <a:t> risque élevé:</a:t>
            </a:r>
          </a:p>
          <a:p>
            <a:r>
              <a:rPr lang="fr-FR" baseline="0" dirty="0" smtClean="0"/>
              <a:t>   a- critères cliniques: </a:t>
            </a:r>
          </a:p>
          <a:p>
            <a:r>
              <a:rPr lang="fr-FR" baseline="0" dirty="0" smtClean="0"/>
              <a:t>       .défaillance cardiaque aigue ou choc cardiogénique,</a:t>
            </a:r>
          </a:p>
          <a:p>
            <a:r>
              <a:rPr lang="fr-FR" baseline="0" dirty="0" smtClean="0"/>
              <a:t>       .dyspnée stade III-IV de la NYHA réfractaire au traitement médical</a:t>
            </a:r>
          </a:p>
          <a:p>
            <a:r>
              <a:rPr lang="fr-FR" baseline="0" dirty="0" smtClean="0"/>
              <a:t>       .arrêt cardiaque ou syncope,</a:t>
            </a:r>
          </a:p>
          <a:p>
            <a:r>
              <a:rPr lang="fr-FR" baseline="0" dirty="0" smtClean="0"/>
              <a:t>       .fibrillation ventriculaire, tachycardie ventriculaire soutenue</a:t>
            </a:r>
          </a:p>
          <a:p>
            <a:r>
              <a:rPr lang="fr-FR" baseline="0" dirty="0" smtClean="0"/>
              <a:t>       .BAV de haut degré</a:t>
            </a:r>
          </a:p>
          <a:p>
            <a:r>
              <a:rPr lang="fr-FR" baseline="0" dirty="0" smtClean="0"/>
              <a:t>   b- critères d’imagerie:</a:t>
            </a:r>
          </a:p>
          <a:p>
            <a:r>
              <a:rPr lang="fr-FR" baseline="0" dirty="0" smtClean="0"/>
              <a:t>       .apparition d’une dysfonction ventriculaire gauche (DVG) avec FEVG&lt;40%</a:t>
            </a:r>
          </a:p>
          <a:p>
            <a:r>
              <a:rPr lang="fr-FR" dirty="0" smtClean="0"/>
              <a:t>       .</a:t>
            </a:r>
            <a:r>
              <a:rPr lang="fr-FR" dirty="0" err="1" smtClean="0"/>
              <a:t>réhaussement</a:t>
            </a:r>
            <a:r>
              <a:rPr lang="fr-FR" baseline="0" dirty="0" smtClean="0"/>
              <a:t> </a:t>
            </a:r>
            <a:r>
              <a:rPr lang="fr-FR" dirty="0" smtClean="0"/>
              <a:t>tardif étendu après injection</a:t>
            </a:r>
            <a:r>
              <a:rPr lang="fr-FR" baseline="0" dirty="0" smtClean="0"/>
              <a:t> de Gadolinium </a:t>
            </a:r>
            <a:r>
              <a:rPr lang="fr-FR" dirty="0" smtClean="0"/>
              <a:t>à l’IRM cardiaque</a:t>
            </a:r>
          </a:p>
          <a:p>
            <a:r>
              <a:rPr lang="fr-FR" dirty="0" smtClean="0"/>
              <a:t> </a:t>
            </a:r>
            <a:r>
              <a:rPr lang="fr-FR" b="1" dirty="0" smtClean="0"/>
              <a:t>2- risque intermédiaire:</a:t>
            </a:r>
          </a:p>
          <a:p>
            <a:r>
              <a:rPr lang="fr-FR" b="1" dirty="0" smtClean="0"/>
              <a:t>    </a:t>
            </a:r>
            <a:r>
              <a:rPr lang="fr-FR" b="0" dirty="0" smtClean="0"/>
              <a:t>a- critères cliniques:</a:t>
            </a:r>
          </a:p>
          <a:p>
            <a:r>
              <a:rPr lang="fr-FR" b="0" dirty="0" smtClean="0"/>
              <a:t>        .dyspnée récente ou progressive</a:t>
            </a:r>
          </a:p>
          <a:p>
            <a:r>
              <a:rPr lang="fr-FR" b="0" dirty="0" smtClean="0"/>
              <a:t>        .arythmie ventriculaire non soutenue</a:t>
            </a:r>
          </a:p>
          <a:p>
            <a:r>
              <a:rPr lang="fr-FR" b="0" dirty="0" smtClean="0"/>
              <a:t>        .persistance d’un taux de troponine élevé ou réascension</a:t>
            </a:r>
            <a:r>
              <a:rPr lang="fr-FR" b="0" baseline="0" dirty="0" smtClean="0"/>
              <a:t> du taux</a:t>
            </a:r>
          </a:p>
          <a:p>
            <a:r>
              <a:rPr lang="fr-FR" b="0" baseline="0" dirty="0" smtClean="0"/>
              <a:t>    b- critères d’imagerie:</a:t>
            </a:r>
          </a:p>
          <a:p>
            <a:r>
              <a:rPr lang="fr-FR" b="0" baseline="0" dirty="0" smtClean="0"/>
              <a:t>        .apparition d’une DVG légère avec FEVG 41% à 49% </a:t>
            </a:r>
          </a:p>
          <a:p>
            <a:r>
              <a:rPr lang="fr-FR" b="0" baseline="0" dirty="0" smtClean="0"/>
              <a:t>        .FEVG préservée avec à l’IRM un rehaussement tardif </a:t>
            </a:r>
            <a:r>
              <a:rPr lang="fr-FR" b="0" baseline="0" dirty="0" smtClean="0">
                <a:latin typeface="Calibri"/>
              </a:rPr>
              <a:t>≥</a:t>
            </a:r>
            <a:r>
              <a:rPr lang="fr-FR" b="0" baseline="0" dirty="0" smtClean="0"/>
              <a:t> 2 segments</a:t>
            </a:r>
          </a:p>
          <a:p>
            <a:r>
              <a:rPr lang="fr-FR" b="0" baseline="0" dirty="0" smtClean="0"/>
              <a:t>  </a:t>
            </a:r>
            <a:r>
              <a:rPr lang="fr-FR" b="1" baseline="0" dirty="0" smtClean="0"/>
              <a:t>3- risque bas:</a:t>
            </a:r>
          </a:p>
          <a:p>
            <a:r>
              <a:rPr lang="fr-FR" b="0" baseline="0" dirty="0" smtClean="0"/>
              <a:t>     a- critères cliniques:</a:t>
            </a:r>
            <a:r>
              <a:rPr lang="fr-FR" b="0" baseline="0" dirty="0"/>
              <a:t> </a:t>
            </a:r>
            <a:r>
              <a:rPr lang="fr-FR" b="0" baseline="0" dirty="0" smtClean="0"/>
              <a:t>patient stable ou paucisymtomatique</a:t>
            </a:r>
          </a:p>
          <a:p>
            <a:r>
              <a:rPr lang="fr-FR" b="0" baseline="0" dirty="0" smtClean="0"/>
              <a:t>     b- critères d’imagerie: FEVG préservée sans rehaussement tardif ou sur moins de 2 segments à l’IRM</a:t>
            </a:r>
          </a:p>
          <a:p>
            <a:endParaRPr lang="fr-FR" b="0" baseline="0" dirty="0" smtClean="0"/>
          </a:p>
          <a:p>
            <a:r>
              <a:rPr lang="fr-FR" b="0" baseline="0" dirty="0" smtClean="0"/>
              <a:t>B- Stratification du risque des péricardites:</a:t>
            </a:r>
          </a:p>
          <a:p>
            <a:r>
              <a:rPr lang="fr-FR" b="0" baseline="0" dirty="0" smtClean="0"/>
              <a:t>   </a:t>
            </a:r>
            <a:r>
              <a:rPr lang="fr-FR" b="1" baseline="0" dirty="0" smtClean="0"/>
              <a:t>1- risque élevé:</a:t>
            </a:r>
          </a:p>
          <a:p>
            <a:r>
              <a:rPr lang="fr-FR" b="0" baseline="0" dirty="0" smtClean="0"/>
              <a:t>    a- critères cliniques:</a:t>
            </a:r>
          </a:p>
          <a:p>
            <a:r>
              <a:rPr lang="fr-FR" b="0" baseline="0" dirty="0" smtClean="0"/>
              <a:t>        .signes cliniques et symptômes de tamponnade cardiaque</a:t>
            </a:r>
          </a:p>
          <a:p>
            <a:r>
              <a:rPr lang="fr-FR" b="0" baseline="0" dirty="0" smtClean="0"/>
              <a:t>        .fièvre avec température &gt; 38°C</a:t>
            </a:r>
          </a:p>
          <a:p>
            <a:r>
              <a:rPr lang="fr-FR" b="0" baseline="0" dirty="0" smtClean="0"/>
              <a:t>        .péricardite liquidienne-constrictive</a:t>
            </a:r>
          </a:p>
          <a:p>
            <a:r>
              <a:rPr lang="fr-FR" b="0" baseline="0" dirty="0" smtClean="0"/>
              <a:t>        .échec du traitement anti-inflammatoire</a:t>
            </a:r>
          </a:p>
          <a:p>
            <a:r>
              <a:rPr lang="fr-FR" b="0" baseline="0" dirty="0" smtClean="0"/>
              <a:t>        .péricardite subaigüe </a:t>
            </a:r>
          </a:p>
          <a:p>
            <a:r>
              <a:rPr lang="fr-FR" b="0" baseline="0" dirty="0" smtClean="0"/>
              <a:t>    b- critères d’imagerie:</a:t>
            </a:r>
          </a:p>
          <a:p>
            <a:r>
              <a:rPr lang="fr-FR" b="0" baseline="0" dirty="0" smtClean="0"/>
              <a:t>        .épanchement péricardique de grande abondance (&gt;20mm)</a:t>
            </a:r>
          </a:p>
          <a:p>
            <a:r>
              <a:rPr lang="fr-FR" b="0" baseline="0" dirty="0" smtClean="0"/>
              <a:t>        .tamponnade cardiaque</a:t>
            </a:r>
          </a:p>
          <a:p>
            <a:r>
              <a:rPr lang="fr-FR" b="0" baseline="0" dirty="0" smtClean="0"/>
              <a:t>        .rehaussement tardif péricardique étendu à l’IRM</a:t>
            </a:r>
          </a:p>
          <a:p>
            <a:r>
              <a:rPr lang="fr-FR" b="0" baseline="0" dirty="0" smtClean="0"/>
              <a:t>    </a:t>
            </a:r>
            <a:r>
              <a:rPr lang="fr-FR" b="1" baseline="0" dirty="0" smtClean="0"/>
              <a:t>2- risque intermédiaire:</a:t>
            </a:r>
          </a:p>
          <a:p>
            <a:r>
              <a:rPr lang="fr-FR" b="1" baseline="0" dirty="0" smtClean="0"/>
              <a:t>     </a:t>
            </a:r>
            <a:r>
              <a:rPr lang="fr-FR" b="0" baseline="0" dirty="0" smtClean="0"/>
              <a:t>a- critères cliniques: symptômes et signes cliniques d‘insuffisance cardiaque droite</a:t>
            </a:r>
          </a:p>
          <a:p>
            <a:r>
              <a:rPr lang="fr-FR" b="0" baseline="0" dirty="0" smtClean="0"/>
              <a:t>     b- critères d’imagerie:</a:t>
            </a:r>
          </a:p>
          <a:p>
            <a:r>
              <a:rPr lang="fr-FR" b="0" baseline="0" dirty="0" smtClean="0"/>
              <a:t>         .épanchement péricardique de moyenne à grande abondance (10 à 20 mm)</a:t>
            </a:r>
          </a:p>
          <a:p>
            <a:r>
              <a:rPr lang="fr-FR" b="0" baseline="0" dirty="0" smtClean="0"/>
              <a:t>         .signes de constriction péricardique quelque soit l’abondance de l’épanchement</a:t>
            </a:r>
          </a:p>
          <a:p>
            <a:r>
              <a:rPr lang="fr-FR" b="0" baseline="0" dirty="0" smtClean="0"/>
              <a:t>    </a:t>
            </a:r>
            <a:r>
              <a:rPr lang="fr-FR" b="1" baseline="0" dirty="0" smtClean="0"/>
              <a:t>3- risque bas:</a:t>
            </a:r>
          </a:p>
          <a:p>
            <a:r>
              <a:rPr lang="fr-FR" b="1" baseline="0" dirty="0" smtClean="0"/>
              <a:t>      </a:t>
            </a:r>
            <a:r>
              <a:rPr lang="fr-FR" b="0" baseline="0" dirty="0" smtClean="0"/>
              <a:t>a- critères cliniques: réponse au traitement médical adéquat en 1 à 2 semaines</a:t>
            </a:r>
          </a:p>
          <a:p>
            <a:r>
              <a:rPr lang="fr-FR" b="0" baseline="0" dirty="0" smtClean="0"/>
              <a:t>     b- critères d’imagerie: </a:t>
            </a:r>
          </a:p>
          <a:p>
            <a:r>
              <a:rPr lang="fr-FR" b="0" baseline="0" dirty="0" smtClean="0"/>
              <a:t>         .épanchement absent ou de faible abondance</a:t>
            </a:r>
          </a:p>
          <a:p>
            <a:r>
              <a:rPr lang="fr-FR" b="0" baseline="0" dirty="0" smtClean="0"/>
              <a:t>         .absence de rehaussement tardif à l’IRM</a:t>
            </a:r>
          </a:p>
          <a:p>
            <a:r>
              <a:rPr lang="fr-FR" b="0" baseline="0" dirty="0" smtClean="0"/>
              <a:t>   </a:t>
            </a:r>
          </a:p>
        </p:txBody>
      </p:sp>
      <p:sp>
        <p:nvSpPr>
          <p:cNvPr id="4" name="Espace réservé du numéro de diapositive 3"/>
          <p:cNvSpPr>
            <a:spLocks noGrp="1"/>
          </p:cNvSpPr>
          <p:nvPr>
            <p:ph type="sldNum" sz="quarter" idx="10"/>
          </p:nvPr>
        </p:nvSpPr>
        <p:spPr/>
        <p:txBody>
          <a:bodyPr/>
          <a:lstStyle/>
          <a:p>
            <a:fld id="{F267D614-A403-4847-9522-E840C6A8F7A8}" type="slidenum">
              <a:rPr lang="fr-FR" smtClean="0"/>
              <a:pPr/>
              <a:t>7</a:t>
            </a:fld>
            <a:endParaRPr lang="fr-F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C- Classification</a:t>
            </a:r>
            <a:r>
              <a:rPr lang="fr-FR" baseline="0" dirty="0" smtClean="0"/>
              <a:t> et stades </a:t>
            </a:r>
            <a:r>
              <a:rPr lang="fr-FR" dirty="0" smtClean="0"/>
              <a:t>évolutifs:</a:t>
            </a:r>
          </a:p>
          <a:p>
            <a:r>
              <a:rPr lang="fr-FR" dirty="0" smtClean="0"/>
              <a:t>Les</a:t>
            </a:r>
            <a:r>
              <a:rPr lang="fr-FR" baseline="0" dirty="0" smtClean="0"/>
              <a:t> syndromes myopéricardiques inflammatoires sont caractérisés par différents stades évolutifs. L’évolution diffère d’un patient à l’autre les patients. Certains évoluent vers une guérison totale sans séquelles. Des complications peuvent survenir chez d’autres patients conduisant parfois au décès.</a:t>
            </a:r>
          </a:p>
          <a:p>
            <a:r>
              <a:rPr lang="fr-FR" baseline="0" dirty="0" smtClean="0"/>
              <a:t>Une classification clinique commune aux péricardites et aux myocardites est établie dans le but de guider la prise en charge de chaque malade. </a:t>
            </a:r>
            <a:endParaRPr lang="fr-FR" dirty="0"/>
          </a:p>
        </p:txBody>
      </p:sp>
      <p:sp>
        <p:nvSpPr>
          <p:cNvPr id="4" name="Espace réservé du numéro de diapositive 3"/>
          <p:cNvSpPr>
            <a:spLocks noGrp="1"/>
          </p:cNvSpPr>
          <p:nvPr>
            <p:ph type="sldNum" sz="quarter" idx="10"/>
          </p:nvPr>
        </p:nvSpPr>
        <p:spPr/>
        <p:txBody>
          <a:bodyPr/>
          <a:lstStyle/>
          <a:p>
            <a:fld id="{F267D614-A403-4847-9522-E840C6A8F7A8}" type="slidenum">
              <a:rPr lang="fr-FR" smtClean="0"/>
              <a:pPr/>
              <a:t>8</a:t>
            </a:fld>
            <a:endParaRPr lang="fr-F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87043"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pPr>
              <a:buFontTx/>
              <a:buNone/>
            </a:pPr>
            <a:r>
              <a:rPr lang="fr-FR" b="1" dirty="0" smtClean="0"/>
              <a:t>VI-</a:t>
            </a:r>
            <a:r>
              <a:rPr lang="fr-FR" b="1" baseline="0" dirty="0" smtClean="0"/>
              <a:t> </a:t>
            </a:r>
            <a:r>
              <a:rPr lang="fr-FR" dirty="0" smtClean="0"/>
              <a:t>Examens complémentaires: En cas de suspicion de SMPI le bilan initial comporte systématiquement</a:t>
            </a:r>
            <a:r>
              <a:rPr lang="fr-FR" baseline="0" dirty="0" smtClean="0"/>
              <a:t> </a:t>
            </a:r>
            <a:r>
              <a:rPr lang="fr-FR" dirty="0" smtClean="0"/>
              <a:t>après évaluation</a:t>
            </a:r>
            <a:r>
              <a:rPr lang="fr-FR" baseline="0" dirty="0" smtClean="0"/>
              <a:t> </a:t>
            </a:r>
            <a:r>
              <a:rPr lang="fr-FR" dirty="0" smtClean="0"/>
              <a:t>clinique complète incluant examen physique et historique du malade: </a:t>
            </a:r>
          </a:p>
          <a:p>
            <a:pPr>
              <a:buFontTx/>
              <a:buNone/>
            </a:pPr>
            <a:r>
              <a:rPr lang="fr-FR" dirty="0" smtClean="0"/>
              <a:t> -</a:t>
            </a:r>
            <a:r>
              <a:rPr lang="fr-FR" baseline="0" dirty="0" smtClean="0"/>
              <a:t> </a:t>
            </a:r>
            <a:r>
              <a:rPr lang="fr-FR" dirty="0" smtClean="0"/>
              <a:t>un </a:t>
            </a:r>
            <a:r>
              <a:rPr lang="fr-FR" b="1" dirty="0" smtClean="0"/>
              <a:t>ECG</a:t>
            </a:r>
            <a:r>
              <a:rPr lang="fr-FR" dirty="0" smtClean="0"/>
              <a:t>, </a:t>
            </a:r>
          </a:p>
          <a:p>
            <a:pPr>
              <a:buFontTx/>
              <a:buNone/>
            </a:pPr>
            <a:r>
              <a:rPr lang="fr-FR" dirty="0" smtClean="0"/>
              <a:t> - une </a:t>
            </a:r>
            <a:r>
              <a:rPr lang="fr-FR" b="1" dirty="0" smtClean="0"/>
              <a:t>radiographie du thorax</a:t>
            </a:r>
            <a:r>
              <a:rPr lang="fr-FR" dirty="0" smtClean="0"/>
              <a:t>, </a:t>
            </a:r>
          </a:p>
          <a:p>
            <a:pPr>
              <a:buFontTx/>
              <a:buNone/>
            </a:pPr>
            <a:r>
              <a:rPr lang="fr-FR" dirty="0" smtClean="0"/>
              <a:t> - une </a:t>
            </a:r>
            <a:r>
              <a:rPr lang="fr-FR" b="1" dirty="0" smtClean="0"/>
              <a:t>échocardiographie</a:t>
            </a:r>
            <a:r>
              <a:rPr lang="fr-FR" dirty="0" smtClean="0"/>
              <a:t>, </a:t>
            </a:r>
          </a:p>
          <a:p>
            <a:pPr>
              <a:buFontTx/>
              <a:buNone/>
            </a:pPr>
            <a:r>
              <a:rPr lang="fr-FR" baseline="0" dirty="0" smtClean="0"/>
              <a:t> - une imagerie par résonnance magnétique nucléaire </a:t>
            </a:r>
            <a:r>
              <a:rPr lang="fr-FR" b="1" baseline="0" dirty="0" smtClean="0"/>
              <a:t>(IRM) cardiaque</a:t>
            </a:r>
            <a:r>
              <a:rPr lang="fr-FR" baseline="0" dirty="0" smtClean="0"/>
              <a:t>,</a:t>
            </a:r>
            <a:endParaRPr lang="fr-FR" dirty="0" smtClean="0"/>
          </a:p>
          <a:p>
            <a:pPr>
              <a:buFontTx/>
              <a:buNone/>
            </a:pPr>
            <a:r>
              <a:rPr lang="fr-FR" dirty="0" smtClean="0"/>
              <a:t> - un dosage de la </a:t>
            </a:r>
            <a:r>
              <a:rPr lang="fr-FR" b="1" dirty="0" smtClean="0"/>
              <a:t>CRP: </a:t>
            </a:r>
            <a:r>
              <a:rPr lang="fr-FR" b="0" dirty="0" smtClean="0"/>
              <a:t>c’est un</a:t>
            </a:r>
            <a:r>
              <a:rPr lang="fr-FR" dirty="0" smtClean="0"/>
              <a:t> marqueur</a:t>
            </a:r>
            <a:r>
              <a:rPr lang="fr-FR" baseline="0" dirty="0" smtClean="0"/>
              <a:t> de l’inflammation qui est élevé chez 80% des patients avec péricardite et contribue au diagnostic. Elle aide à guider la durée du traitement anti inflammatoire des péricardite. Un résultat négatif n’exclut pas le diagnostic.</a:t>
            </a:r>
            <a:endParaRPr lang="fr-FR" dirty="0" smtClean="0"/>
          </a:p>
          <a:p>
            <a:pPr>
              <a:buFontTx/>
              <a:buNone/>
            </a:pPr>
            <a:r>
              <a:rPr lang="fr-FR" dirty="0" smtClean="0"/>
              <a:t> - un dosage de la </a:t>
            </a:r>
            <a:r>
              <a:rPr lang="fr-FR" b="1" dirty="0" smtClean="0"/>
              <a:t>troponine</a:t>
            </a:r>
            <a:r>
              <a:rPr lang="fr-FR" dirty="0" smtClean="0"/>
              <a:t> est nécessaire. elle est élevée en cas</a:t>
            </a:r>
            <a:r>
              <a:rPr lang="fr-FR" baseline="0" dirty="0" smtClean="0"/>
              <a:t> de myocardite particulièrement en cas de forme avec douleur pseudo-angineuse. Elle </a:t>
            </a:r>
            <a:r>
              <a:rPr lang="fr-FR" dirty="0" smtClean="0"/>
              <a:t> permet de quantifier la</a:t>
            </a:r>
            <a:r>
              <a:rPr lang="fr-FR" baseline="0" dirty="0" smtClean="0"/>
              <a:t> </a:t>
            </a:r>
            <a:r>
              <a:rPr lang="fr-FR" dirty="0" smtClean="0"/>
              <a:t>sévérité de la myocardite</a:t>
            </a:r>
            <a:r>
              <a:rPr lang="fr-FR" baseline="0" dirty="0" smtClean="0"/>
              <a:t>.</a:t>
            </a:r>
            <a:endParaRPr lang="fr-FR" dirty="0" smtClean="0"/>
          </a:p>
          <a:p>
            <a:pPr>
              <a:buFontTx/>
              <a:buNone/>
            </a:pPr>
            <a:r>
              <a:rPr lang="fr-FR" dirty="0" smtClean="0"/>
              <a:t> - un taux de </a:t>
            </a:r>
            <a:r>
              <a:rPr lang="fr-FR" b="1" dirty="0" smtClean="0"/>
              <a:t>NT-</a:t>
            </a:r>
            <a:r>
              <a:rPr lang="fr-FR" b="1" dirty="0" err="1" smtClean="0"/>
              <a:t>proBNP</a:t>
            </a:r>
            <a:r>
              <a:rPr lang="fr-FR" b="1" dirty="0" smtClean="0"/>
              <a:t> </a:t>
            </a:r>
            <a:r>
              <a:rPr lang="fr-FR" b="0" dirty="0" smtClean="0"/>
              <a:t>est recommandé en cas de suspicion de myocardite;</a:t>
            </a:r>
            <a:r>
              <a:rPr lang="fr-FR" b="0" baseline="0" dirty="0" smtClean="0"/>
              <a:t> il permet de stratifier le risque de défaillance cardiaque initiale et durant le suivi ambulatoire. </a:t>
            </a:r>
            <a:endParaRPr lang="fr-FR" dirty="0" smtClean="0"/>
          </a:p>
          <a:p>
            <a:r>
              <a:rPr lang="fr-FR" dirty="0" smtClean="0"/>
              <a:t> - Une </a:t>
            </a:r>
            <a:r>
              <a:rPr lang="fr-FR" b="1" dirty="0" smtClean="0"/>
              <a:t>NFS</a:t>
            </a:r>
            <a:r>
              <a:rPr lang="fr-FR" dirty="0" smtClean="0"/>
              <a:t> avec taux d’éosinophiles et de  plaquettes et une créatininémie sont aussi souhaitables.</a:t>
            </a:r>
          </a:p>
          <a:p>
            <a:r>
              <a:rPr lang="fr-FR" dirty="0" smtClean="0"/>
              <a:t> - Le bilan thyroïdien peut être utile pour rechercher une éventuelle hypothyroïdie face à un épanchement péricardique sans critères de péricardite aigue. </a:t>
            </a:r>
          </a:p>
          <a:p>
            <a:r>
              <a:rPr lang="fr-FR" dirty="0" smtClean="0"/>
              <a:t> - les sérologies virales ne sont</a:t>
            </a:r>
            <a:r>
              <a:rPr lang="fr-FR" baseline="0" dirty="0" smtClean="0"/>
              <a:t> pas systématiques sauf pour l’hépatite C, la sérologie HIV et la maladie de Lyme.</a:t>
            </a:r>
            <a:endParaRPr lang="fr-FR" dirty="0" smtClean="0"/>
          </a:p>
          <a:p>
            <a:endParaRPr lang="fr-FR" dirty="0" smtClean="0"/>
          </a:p>
          <a:p>
            <a:r>
              <a:rPr lang="fr-FR" dirty="0" smtClean="0"/>
              <a:t> Plus récemment</a:t>
            </a:r>
            <a:r>
              <a:rPr lang="fr-FR" baseline="0" dirty="0" smtClean="0"/>
              <a:t> des</a:t>
            </a:r>
            <a:r>
              <a:rPr lang="fr-FR" b="1" dirty="0" smtClean="0"/>
              <a:t> tests génétiques </a:t>
            </a:r>
            <a:r>
              <a:rPr lang="fr-FR" b="0" dirty="0" smtClean="0"/>
              <a:t>ont été proposés. En effet</a:t>
            </a:r>
            <a:r>
              <a:rPr lang="fr-FR" b="0" baseline="0" dirty="0" smtClean="0"/>
              <a:t> des anomalies touchant les gènes codant pour des protéines desmosomales et sarcomériques pourraient se chevaucher des cardiomyopathie héréditaires et avec des myocardites  aigues et récidivantes et conditionner la sévérité de la maladie.</a:t>
            </a:r>
          </a:p>
          <a:p>
            <a:r>
              <a:rPr lang="fr-FR" b="0" baseline="0" dirty="0" smtClean="0"/>
              <a:t>Des péricardites récidivantes ont par ailleurs été associée à des anomalies génétiques causant des maladies auto immunes inflammatoires </a:t>
            </a:r>
            <a:r>
              <a:rPr lang="fr-FR" b="0" baseline="0" dirty="0" err="1" smtClean="0"/>
              <a:t>monogéniques</a:t>
            </a:r>
            <a:r>
              <a:rPr lang="fr-FR" b="0" baseline="0" dirty="0" smtClean="0"/>
              <a:t> (fièvre méditerranéenne familiale, maladie périodique).</a:t>
            </a:r>
          </a:p>
          <a:p>
            <a:r>
              <a:rPr lang="fr-FR" b="0" baseline="0" dirty="0" smtClean="0"/>
              <a:t>Ces tests ne sont envisager que dans les formes familiale de SMPI, les formes sévères, ou récidivantes.</a:t>
            </a:r>
          </a:p>
          <a:p>
            <a:r>
              <a:rPr lang="fr-FR" b="0" baseline="0" dirty="0" smtClean="0"/>
              <a:t>La biopsie endomyocardique n’est indiquée qu’en cas de myocardite à risque élevé, d’instabilité hémodynamique, et de myocardite  à risque intermédiaire ne répondant pas au traitement conventionnel. </a:t>
            </a:r>
            <a:endParaRPr lang="fr-FR" b="1" dirty="0" smtClean="0"/>
          </a:p>
        </p:txBody>
      </p:sp>
      <p:sp>
        <p:nvSpPr>
          <p:cNvPr id="87044"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7FDDE55-ADBE-4DB5-A02D-541F52DB45A4}" type="slidenum">
              <a:rPr lang="fr-FR" smtClean="0"/>
              <a:pPr/>
              <a:t>9</a:t>
            </a:fld>
            <a:endParaRPr lang="fr-FR"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3" name="Espace réservé des commentaires 2"/>
          <p:cNvSpPr>
            <a:spLocks noGrp="1"/>
          </p:cNvSpPr>
          <p:nvPr>
            <p:ph type="body" idx="1"/>
          </p:nvPr>
        </p:nvSpPr>
        <p:spPr/>
        <p:txBody>
          <a:bodyPr>
            <a:normAutofit fontScale="25000" lnSpcReduction="20000"/>
          </a:bodyPr>
          <a:lstStyle/>
          <a:p>
            <a:pPr eaLnBrk="1" fontAlgn="auto" hangingPunct="1">
              <a:spcBef>
                <a:spcPts val="0"/>
              </a:spcBef>
              <a:spcAft>
                <a:spcPts val="0"/>
              </a:spcAft>
              <a:buFont typeface="Arial" pitchFamily="34" charset="0"/>
              <a:buChar char="•"/>
              <a:defRPr/>
            </a:pPr>
            <a:r>
              <a:rPr lang="fr-FR" dirty="0" smtClean="0"/>
              <a:t>ECG: Dans la péricardite aiguë, des ECG répétés montrent dans 20 à 60% des cas l'apparition précoce d'anomalies du segment ST de</a:t>
            </a:r>
            <a:r>
              <a:rPr lang="fr-FR" baseline="0" dirty="0" smtClean="0"/>
              <a:t> type sus décalage diffus concave</a:t>
            </a:r>
            <a:r>
              <a:rPr lang="fr-FR" dirty="0" smtClean="0"/>
              <a:t>. Ils évoquent</a:t>
            </a:r>
            <a:r>
              <a:rPr lang="fr-FR" baseline="0" dirty="0" smtClean="0"/>
              <a:t> une myocardite associée et une inflammation de l’épicarde.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fr-FR" baseline="0" dirty="0" smtClean="0"/>
              <a:t> Un sous décalage de ST et des ondes T inversées peuvent également être présents (bien que moins fréquents que dans les SCA) et peuvent être en rapport avec des dégâts myocardiques étendus.</a:t>
            </a:r>
            <a:endParaRPr lang="fr-FR" dirty="0" smtClean="0"/>
          </a:p>
          <a:p>
            <a:pPr eaLnBrk="1" fontAlgn="auto" hangingPunct="1">
              <a:spcBef>
                <a:spcPts val="0"/>
              </a:spcBef>
              <a:spcAft>
                <a:spcPts val="0"/>
              </a:spcAft>
              <a:defRPr/>
            </a:pPr>
            <a:r>
              <a:rPr lang="fr-FR" dirty="0" smtClean="0"/>
              <a:t>Un diagnostic différentiel avec un STEMI peut se poser au stade de sus décalage du ST;</a:t>
            </a:r>
          </a:p>
          <a:p>
            <a:pPr eaLnBrk="1" fontAlgn="auto" hangingPunct="1">
              <a:spcBef>
                <a:spcPts val="0"/>
              </a:spcBef>
              <a:spcAft>
                <a:spcPts val="0"/>
              </a:spcAft>
              <a:defRPr/>
            </a:pPr>
            <a:r>
              <a:rPr lang="fr-FR" dirty="0" smtClean="0"/>
              <a:t>Un sous décalage diffus de l’intervalle PR est également un signe classique</a:t>
            </a:r>
            <a:r>
              <a:rPr lang="fr-FR" baseline="0" dirty="0" smtClean="0"/>
              <a:t> observé dans les stades précoces.</a:t>
            </a:r>
            <a:endParaRPr lang="fr-FR" dirty="0" smtClean="0"/>
          </a:p>
          <a:p>
            <a:pPr eaLnBrk="1" fontAlgn="auto" hangingPunct="1">
              <a:spcBef>
                <a:spcPts val="0"/>
              </a:spcBef>
              <a:spcAft>
                <a:spcPts val="0"/>
              </a:spcAft>
              <a:defRPr/>
            </a:pPr>
            <a:endParaRPr lang="fr-FR"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Un bas voltage des QRS peut être enregistré en cas de péricardite</a:t>
            </a:r>
            <a:r>
              <a:rPr lang="fr-FR" baseline="0" dirty="0" smtClean="0"/>
              <a:t> aigue et/ou de myocardite aigue, en cas d’épanchement abondant ou de lésion myocardique étendue.</a:t>
            </a:r>
          </a:p>
          <a:p>
            <a:pPr marL="0" marR="0" indent="0" algn="l" defTabSz="914400" rtl="0" eaLnBrk="1" fontAlgn="auto" latinLnBrk="0" hangingPunct="1">
              <a:lnSpc>
                <a:spcPct val="100000"/>
              </a:lnSpc>
              <a:spcBef>
                <a:spcPts val="0"/>
              </a:spcBef>
              <a:spcAft>
                <a:spcPts val="0"/>
              </a:spcAft>
              <a:buClrTx/>
              <a:buSzTx/>
              <a:buFontTx/>
              <a:buNone/>
              <a:tabLst/>
              <a:defRPr/>
            </a:pPr>
            <a:endParaRPr lang="fr-FR"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baseline="0" dirty="0" smtClean="0"/>
              <a:t>L’alternance électrique est attribuée aux mouvement pendulaires du cœur en cas d’épanchement de grande abondance.</a:t>
            </a:r>
          </a:p>
          <a:p>
            <a:pPr marL="0" marR="0" indent="0" algn="l" defTabSz="914400" rtl="0" eaLnBrk="1" fontAlgn="auto" latinLnBrk="0" hangingPunct="1">
              <a:lnSpc>
                <a:spcPct val="100000"/>
              </a:lnSpc>
              <a:spcBef>
                <a:spcPts val="0"/>
              </a:spcBef>
              <a:spcAft>
                <a:spcPts val="0"/>
              </a:spcAft>
              <a:buClrTx/>
              <a:buSzTx/>
              <a:buFontTx/>
              <a:buNone/>
              <a:tabLst/>
              <a:defRPr/>
            </a:pPr>
            <a:endParaRPr lang="fr-FR"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baseline="0" dirty="0" smtClean="0"/>
              <a:t>Une fibrillation atriale peut survenir en cas de péricardite aigue. Une arythmie ventriculaire est plus fréquente en cas de myocardite. Les troubles conductifs auriculo ventriculaire et intra ventriculaires (BBD) peuvent être associés aux formes sévères.</a:t>
            </a:r>
          </a:p>
          <a:p>
            <a:pPr marL="0" marR="0" indent="0" algn="l" defTabSz="914400" rtl="0" eaLnBrk="1" fontAlgn="auto" latinLnBrk="0" hangingPunct="1">
              <a:lnSpc>
                <a:spcPct val="100000"/>
              </a:lnSpc>
              <a:spcBef>
                <a:spcPts val="0"/>
              </a:spcBef>
              <a:spcAft>
                <a:spcPts val="0"/>
              </a:spcAft>
              <a:buClrTx/>
              <a:buSzTx/>
              <a:buFontTx/>
              <a:buNone/>
              <a:tabLst/>
              <a:defRPr/>
            </a:pPr>
            <a:endParaRPr lang="fr-FR"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Les anomalies ECG sont influencées par le traitement et varient d’un patient à un autre,</a:t>
            </a:r>
            <a:r>
              <a:rPr lang="fr-FR" baseline="0" dirty="0" smtClean="0"/>
              <a:t> et l’aspect ECG peut changer en quelques heures ou quelques jours. </a:t>
            </a:r>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Après guérison il doit y avoir </a:t>
            </a:r>
            <a:r>
              <a:rPr lang="fr-FR" b="0" dirty="0" smtClean="0"/>
              <a:t>normalisation </a:t>
            </a:r>
            <a:r>
              <a:rPr lang="fr-FR" dirty="0" smtClean="0"/>
              <a:t>totale de l’ECG, avec retour à son aspect antérieur.</a:t>
            </a:r>
          </a:p>
          <a:p>
            <a:pPr marL="0" marR="0" indent="0" algn="l" defTabSz="914400" rtl="0" eaLnBrk="1" fontAlgn="auto" latinLnBrk="0" hangingPunct="1">
              <a:lnSpc>
                <a:spcPct val="100000"/>
              </a:lnSpc>
              <a:spcBef>
                <a:spcPts val="0"/>
              </a:spcBef>
              <a:spcAft>
                <a:spcPts val="0"/>
              </a:spcAft>
              <a:buClrTx/>
              <a:buSzTx/>
              <a:buFontTx/>
              <a:buNone/>
              <a:tabLst/>
              <a:defRPr/>
            </a:pPr>
            <a:endParaRPr lang="fr-FR"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Il est à</a:t>
            </a:r>
            <a:r>
              <a:rPr lang="fr-FR" baseline="0" dirty="0" smtClean="0"/>
              <a:t> noter qu’un ECG normal lors de la consultation n’exclut pas le diagnostic de SMPI.</a:t>
            </a:r>
            <a:r>
              <a:rPr lang="fr-FR"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fr-FR" dirty="0" smtClean="0"/>
          </a:p>
          <a:p>
            <a:pPr eaLnBrk="1" fontAlgn="auto" hangingPunct="1">
              <a:spcBef>
                <a:spcPts val="0"/>
              </a:spcBef>
              <a:spcAft>
                <a:spcPts val="0"/>
              </a:spcAft>
              <a:defRPr/>
            </a:pPr>
            <a:endParaRPr lang="fr-FR" dirty="0" smtClean="0"/>
          </a:p>
        </p:txBody>
      </p:sp>
      <p:sp>
        <p:nvSpPr>
          <p:cNvPr id="88068"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5D73914-D1E3-479E-8839-B5B50335C409}" type="slidenum">
              <a:rPr lang="fr-FR" smtClean="0"/>
              <a:pPr/>
              <a:t>10</a:t>
            </a:fld>
            <a:endParaRPr lang="fr-FR"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89091"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r>
              <a:rPr lang="fr-FR" dirty="0" smtClean="0"/>
              <a:t>Contrairement à l'infarctus du myocarde (IDM), il n'y a pas d’image </a:t>
            </a:r>
            <a:r>
              <a:rPr lang="fr-FR" u="none" dirty="0" smtClean="0"/>
              <a:t>en miroir </a:t>
            </a:r>
            <a:r>
              <a:rPr lang="fr-FR" dirty="0" smtClean="0"/>
              <a:t>du segment ST (sauf en </a:t>
            </a:r>
            <a:r>
              <a:rPr lang="fr-FR" dirty="0" err="1" smtClean="0"/>
              <a:t>aVR</a:t>
            </a:r>
            <a:r>
              <a:rPr lang="fr-FR" dirty="0" smtClean="0"/>
              <a:t> et </a:t>
            </a:r>
            <a:r>
              <a:rPr lang="fr-FR" dirty="0" err="1" smtClean="0"/>
              <a:t>Vl</a:t>
            </a:r>
            <a:r>
              <a:rPr lang="fr-FR" dirty="0" smtClean="0"/>
              <a:t>), ni d'ondes Q de nécrose. Les anomalies de la repolarisation sont diffuses c’est-à-dire non systématisées à un territoire coronaire. </a:t>
            </a:r>
          </a:p>
        </p:txBody>
      </p:sp>
      <p:sp>
        <p:nvSpPr>
          <p:cNvPr id="89092"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D6165C7-A672-426C-9D1E-57AD6BC84538}" type="slidenum">
              <a:rPr lang="fr-FR" smtClean="0"/>
              <a:pPr/>
              <a:t>11</a:t>
            </a:fld>
            <a:endParaRPr lang="fr-FR"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Sus décalage du segment ST diffus, concave, non systématisé, sans images en miroir;</a:t>
            </a:r>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Sous décalage du PQ ou PR :</a:t>
            </a:r>
            <a:r>
              <a:rPr lang="fr-FR" baseline="0" dirty="0" smtClean="0"/>
              <a:t> l</a:t>
            </a:r>
            <a:r>
              <a:rPr lang="fr-FR" dirty="0" smtClean="0"/>
              <a:t>e signe de </a:t>
            </a:r>
            <a:r>
              <a:rPr lang="fr-FR" dirty="0" err="1" smtClean="0"/>
              <a:t>Spodick</a:t>
            </a:r>
            <a:r>
              <a:rPr lang="fr-FR" baseline="0" dirty="0" smtClean="0"/>
              <a:t> est très évocateur de péricardite aigue: sous décalage de PR diffus à pente descendante, sauf en AVR. Il est précoce et précède les modifications de ST</a:t>
            </a:r>
            <a:endParaRPr lang="fr-FR" dirty="0"/>
          </a:p>
        </p:txBody>
      </p:sp>
      <p:sp>
        <p:nvSpPr>
          <p:cNvPr id="4" name="Espace réservé du numéro de diapositive 3"/>
          <p:cNvSpPr>
            <a:spLocks noGrp="1"/>
          </p:cNvSpPr>
          <p:nvPr>
            <p:ph type="sldNum" sz="quarter" idx="10"/>
          </p:nvPr>
        </p:nvSpPr>
        <p:spPr/>
        <p:txBody>
          <a:bodyPr/>
          <a:lstStyle/>
          <a:p>
            <a:fld id="{F267D614-A403-4847-9522-E840C6A8F7A8}" type="slidenum">
              <a:rPr lang="fr-FR" smtClean="0"/>
              <a:pPr/>
              <a:t>12</a:t>
            </a:fld>
            <a:endParaRPr lang="fr-F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90115"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r>
              <a:rPr lang="fr-FR" dirty="0" smtClean="0"/>
              <a:t>Sus décalage du segment ST diffus, concave </a:t>
            </a:r>
          </a:p>
        </p:txBody>
      </p:sp>
      <p:sp>
        <p:nvSpPr>
          <p:cNvPr id="90116"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7B8E5EB-F6A8-4C8D-A08E-1AF8FA693009}" type="slidenum">
              <a:rPr lang="fr-FR" smtClean="0"/>
              <a:pPr/>
              <a:t>13</a:t>
            </a:fld>
            <a:endParaRPr lang="fr-FR"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91139"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r>
              <a:rPr lang="fr-FR" dirty="0" smtClean="0"/>
              <a:t>Bas voltage; Ondes T plates voire inversées, sous décalage de PQ.</a:t>
            </a:r>
          </a:p>
        </p:txBody>
      </p:sp>
      <p:sp>
        <p:nvSpPr>
          <p:cNvPr id="91140"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630288B-E87D-4909-86A6-12D165161AED}" type="slidenum">
              <a:rPr lang="fr-FR" smtClean="0"/>
              <a:pPr/>
              <a:t>14</a:t>
            </a:fld>
            <a:endParaRPr lang="fr-FR"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111619"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r>
              <a:rPr lang="fr-FR" smtClean="0"/>
              <a:t>Exemple d’alternance électrique à l’ECG sur tamponnade.</a:t>
            </a:r>
          </a:p>
        </p:txBody>
      </p:sp>
      <p:sp>
        <p:nvSpPr>
          <p:cNvPr id="111620"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873469D-7F39-4E93-92D6-BFDF6B0F0A2D}" type="slidenum">
              <a:rPr lang="fr-FR" smtClean="0"/>
              <a:pPr/>
              <a:t>15</a:t>
            </a:fld>
            <a:endParaRPr lang="fr-FR"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92163"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pPr>
              <a:buFontTx/>
              <a:buChar char="•"/>
            </a:pPr>
            <a:r>
              <a:rPr lang="fr-FR" dirty="0" smtClean="0"/>
              <a:t>Le téléthorax en cas de péricardite aigue est généralement normal. </a:t>
            </a:r>
          </a:p>
          <a:p>
            <a:r>
              <a:rPr lang="fr-FR" dirty="0" smtClean="0"/>
              <a:t>Une augmentation de l’index </a:t>
            </a:r>
            <a:r>
              <a:rPr lang="fr-FR" dirty="0" err="1" smtClean="0"/>
              <a:t>cardio</a:t>
            </a:r>
            <a:r>
              <a:rPr lang="fr-FR" dirty="0" smtClean="0"/>
              <a:t> thoracique apparait en cas d’épanchement de plus de 300 ml. Les hiles et les arcs des bords du cœur sont recouverts par l’épanchement d’où l’aspect de cardiomégalie </a:t>
            </a:r>
            <a:r>
              <a:rPr lang="fr-FR" u="sng" dirty="0" smtClean="0"/>
              <a:t>symétrique</a:t>
            </a:r>
            <a:r>
              <a:rPr lang="fr-FR" dirty="0" smtClean="0"/>
              <a:t> avec cœur en ‘’carafe’’, signe de recouvrement hilaires et rectitude du bord gauche.</a:t>
            </a:r>
          </a:p>
          <a:p>
            <a:r>
              <a:rPr lang="fr-FR" dirty="0" smtClean="0"/>
              <a:t>Le téléthorax est mis à contribution pour rechercher une éventuel épanchement pleural ou des anomalies du médiastin, du parenchyme pulmonaire, des coupoles diaphragmatiques</a:t>
            </a:r>
            <a:r>
              <a:rPr lang="fr-FR" baseline="0" dirty="0" smtClean="0"/>
              <a:t> ou </a:t>
            </a:r>
            <a:r>
              <a:rPr lang="fr-FR" dirty="0" smtClean="0"/>
              <a:t>du squelette en rapport avec une pathologie sous jacente.</a:t>
            </a:r>
          </a:p>
          <a:p>
            <a:r>
              <a:rPr lang="fr-FR" dirty="0" smtClean="0"/>
              <a:t>Il peut</a:t>
            </a:r>
            <a:r>
              <a:rPr lang="fr-FR" baseline="0" dirty="0" smtClean="0"/>
              <a:t> exister des signes de surcharge vasculaire en cas d’insuffisance cardiaque sur myocardite.</a:t>
            </a:r>
            <a:endParaRPr lang="fr-FR" dirty="0" smtClean="0"/>
          </a:p>
          <a:p>
            <a:endParaRPr lang="fr-FR" dirty="0" smtClean="0"/>
          </a:p>
        </p:txBody>
      </p:sp>
      <p:sp>
        <p:nvSpPr>
          <p:cNvPr id="92164"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85E94AE-7FFD-468E-9326-D4465C4C7655}" type="slidenum">
              <a:rPr lang="fr-FR" smtClean="0"/>
              <a:pPr/>
              <a:t>16</a:t>
            </a:fld>
            <a:endParaRPr lang="fr-FR"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94211"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pPr>
              <a:buFontTx/>
              <a:buChar char="•"/>
            </a:pPr>
            <a:r>
              <a:rPr lang="fr-FR" dirty="0" smtClean="0"/>
              <a:t>L’échocardiographie transthoracique associée à un doppler tissulaire et une étude du strain</a:t>
            </a:r>
            <a:r>
              <a:rPr lang="fr-FR" baseline="0" dirty="0" smtClean="0"/>
              <a:t> myocardique</a:t>
            </a:r>
            <a:r>
              <a:rPr lang="fr-FR" dirty="0" smtClean="0"/>
              <a:t> est l’examen non invasif à réaliser en première intention;</a:t>
            </a:r>
            <a:r>
              <a:rPr lang="fr-FR" baseline="0" dirty="0" smtClean="0"/>
              <a:t> il fournira des information morphologiques et fonctionnelles</a:t>
            </a:r>
            <a:r>
              <a:rPr lang="fr-FR" dirty="0" smtClean="0"/>
              <a:t>. Il permet de mettre en évidence un épanchement péricardique et d’en évaluer la sévérité à travers son abondance et sa tolérance. </a:t>
            </a:r>
          </a:p>
          <a:p>
            <a:pPr>
              <a:buFontTx/>
              <a:buNone/>
            </a:pPr>
            <a:r>
              <a:rPr lang="fr-FR" dirty="0" smtClean="0"/>
              <a:t>L’absence d’épanchement ne permet pas d’éliminer le diagnostic de péricardite aigue lorsqu’il s’agit d’une péricardite dite sèche (faux négatif).</a:t>
            </a:r>
          </a:p>
          <a:p>
            <a:r>
              <a:rPr lang="fr-FR" dirty="0" smtClean="0"/>
              <a:t>L’examen recherchera</a:t>
            </a:r>
            <a:r>
              <a:rPr lang="fr-FR" baseline="0" dirty="0" smtClean="0"/>
              <a:t> des signes de myocardite associée par l’évaluation de la fonction systolique, diastolique et l’étude du strain ventriculaire gauche qui peut être altérée sans que la FEVG ne soit réduite. Il permet le monitorage des modifications de la taille des cavités cardiaques, de la fonction ventriculaire gauche et de l’épaisseur des parois.</a:t>
            </a:r>
          </a:p>
          <a:p>
            <a:r>
              <a:rPr lang="fr-FR" baseline="0" dirty="0" smtClean="0"/>
              <a:t>Il pourra mettre en évidence un valvulopathie associée.</a:t>
            </a:r>
          </a:p>
          <a:p>
            <a:r>
              <a:rPr lang="fr-FR" baseline="0" dirty="0" smtClean="0"/>
              <a:t>L’échocardiographie sera répétée au cours du suivi pour vérifier la stabilité du patient, la régression d’un épanchement, l’amélioration ou l’aggravation d’une dysfonction ventriculaire.</a:t>
            </a:r>
            <a:endParaRPr lang="fr-FR" dirty="0" smtClean="0"/>
          </a:p>
        </p:txBody>
      </p:sp>
      <p:sp>
        <p:nvSpPr>
          <p:cNvPr id="94212"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988C371-E60B-4722-9A2A-3CF33A5A6177}" type="slidenum">
              <a:rPr lang="fr-FR" smtClean="0"/>
              <a:pPr/>
              <a:t>17</a:t>
            </a:fld>
            <a:endParaRPr lang="fr-FR"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a:buFont typeface="Arial" pitchFamily="34" charset="0"/>
              <a:buChar char="•"/>
            </a:pPr>
            <a:r>
              <a:rPr lang="fr-FR" dirty="0" smtClean="0"/>
              <a:t>L’imagerie par résonnance magnétique nucléaire (IRM cardiaque) est recommandée devant</a:t>
            </a:r>
            <a:r>
              <a:rPr lang="fr-FR" baseline="0" dirty="0" smtClean="0"/>
              <a:t> toute suspicion de myocardite. Elle a remplacé la biopsie endomyocardique qui sera réservée aux formes à haut risque ou en cas de suspicion de forme spécifique (sarcoïdose, myocardite à cellules géantes, à éosinophiles..) pour guider la thérapeutique.</a:t>
            </a:r>
          </a:p>
          <a:p>
            <a:r>
              <a:rPr lang="fr-FR" baseline="0" dirty="0" smtClean="0"/>
              <a:t>Elle permet un diagnostic clinique en mettant en évidence l’œdème et les lésions myocardiques non ischémiques (rehaussement tardif). Elle permet également d’orienter la prise en charge en en distinguant une activité inflammatoire ou des lésions de type cicatriciel (fibrose).</a:t>
            </a:r>
          </a:p>
          <a:p>
            <a:r>
              <a:rPr lang="fr-FR" baseline="0" dirty="0" smtClean="0"/>
              <a:t>L’IRM cardiaque aide au diagnostic de péricardite lorsqu’il est difficile ou que les signes persistent; on recherchera un épaississement, un œdème ou un rehaussement tardif du péricarde.</a:t>
            </a:r>
          </a:p>
          <a:p>
            <a:r>
              <a:rPr lang="fr-FR" baseline="0" dirty="0" smtClean="0"/>
              <a:t>L’IRM de contrôle dans les 6 mois aidera à stratifier le risque et à autoriser ou non la reprise d’activité.</a:t>
            </a:r>
          </a:p>
        </p:txBody>
      </p:sp>
      <p:sp>
        <p:nvSpPr>
          <p:cNvPr id="4" name="Espace réservé du numéro de diapositive 3"/>
          <p:cNvSpPr>
            <a:spLocks noGrp="1"/>
          </p:cNvSpPr>
          <p:nvPr>
            <p:ph type="sldNum" sz="quarter" idx="10"/>
          </p:nvPr>
        </p:nvSpPr>
        <p:spPr/>
        <p:txBody>
          <a:bodyPr/>
          <a:lstStyle/>
          <a:p>
            <a:fld id="{F267D614-A403-4847-9522-E840C6A8F7A8}" type="slidenum">
              <a:rPr lang="fr-FR" smtClean="0"/>
              <a:pPr/>
              <a:t>18</a:t>
            </a:fld>
            <a:endParaRPr lang="fr-F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a:buFont typeface="Arial" pitchFamily="34" charset="0"/>
              <a:buChar char="•"/>
            </a:pPr>
            <a:r>
              <a:rPr lang="fr-FR" dirty="0" smtClean="0"/>
              <a:t>Dans</a:t>
            </a:r>
            <a:r>
              <a:rPr lang="fr-FR" baseline="0" dirty="0" smtClean="0"/>
              <a:t> les présentations cliniques avec douleur pseudo angineuse (infarctus-</a:t>
            </a:r>
            <a:r>
              <a:rPr lang="fr-FR" baseline="0" dirty="0" err="1" smtClean="0"/>
              <a:t>like</a:t>
            </a:r>
            <a:r>
              <a:rPr lang="fr-FR" baseline="0" dirty="0" smtClean="0"/>
              <a:t>), un coroscanner ou une coronarographie sont réalisés si une maladie coronaire est suspectée en raison de la présence de facteurs de risque.</a:t>
            </a:r>
            <a:endParaRPr lang="fr-FR" dirty="0"/>
          </a:p>
        </p:txBody>
      </p:sp>
      <p:sp>
        <p:nvSpPr>
          <p:cNvPr id="4" name="Espace réservé du numéro de diapositive 3"/>
          <p:cNvSpPr>
            <a:spLocks noGrp="1"/>
          </p:cNvSpPr>
          <p:nvPr>
            <p:ph type="sldNum" sz="quarter" idx="10"/>
          </p:nvPr>
        </p:nvSpPr>
        <p:spPr/>
        <p:txBody>
          <a:bodyPr/>
          <a:lstStyle/>
          <a:p>
            <a:fld id="{F267D614-A403-4847-9522-E840C6A8F7A8}" type="slidenum">
              <a:rPr lang="fr-FR" smtClean="0"/>
              <a:pPr/>
              <a:t>19</a:t>
            </a:fld>
            <a:endParaRPr lang="fr-F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82947"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r>
              <a:rPr lang="fr-FR" b="1" dirty="0" smtClean="0">
                <a:solidFill>
                  <a:srgbClr val="C00000"/>
                </a:solidFill>
              </a:rPr>
              <a:t> VII- LES  PÉRICARDITES</a:t>
            </a:r>
            <a:r>
              <a:rPr lang="fr-FR" dirty="0" smtClean="0"/>
              <a:t>.</a:t>
            </a:r>
          </a:p>
          <a:p>
            <a:pPr marL="0" marR="0" lvl="0" indent="0" algn="l" defTabSz="914400" rtl="0" eaLnBrk="1" fontAlgn="auto" latinLnBrk="0" hangingPunct="1">
              <a:lnSpc>
                <a:spcPct val="100000"/>
              </a:lnSpc>
              <a:spcBef>
                <a:spcPts val="0"/>
              </a:spcBef>
              <a:spcAft>
                <a:spcPts val="0"/>
              </a:spcAft>
              <a:buClrTx/>
              <a:buSzTx/>
              <a:buFontTx/>
              <a:buNone/>
              <a:tabLst/>
              <a:defRPr/>
            </a:pPr>
            <a:r>
              <a:rPr lang="fr-FR" i="1" dirty="0" smtClean="0"/>
              <a:t>A. Définition, épidémiologie </a:t>
            </a:r>
            <a:r>
              <a:rPr lang="fr-FR" dirty="0" smtClean="0"/>
              <a:t>: </a:t>
            </a:r>
            <a:r>
              <a:rPr lang="fr-FR" sz="1200" kern="1200" dirty="0" smtClean="0">
                <a:solidFill>
                  <a:schemeClr val="tx1"/>
                </a:solidFill>
                <a:latin typeface="+mn-lt"/>
                <a:ea typeface="+mn-ea"/>
                <a:cs typeface="+mn-cs"/>
              </a:rPr>
              <a:t>La péricardite aiguë est une inflammation du péricarde,</a:t>
            </a:r>
            <a:r>
              <a:rPr lang="fr-FR" sz="1200" kern="1200" baseline="0" dirty="0" smtClean="0">
                <a:solidFill>
                  <a:schemeClr val="tx1"/>
                </a:solidFill>
                <a:latin typeface="+mn-lt"/>
                <a:ea typeface="+mn-ea"/>
                <a:cs typeface="+mn-cs"/>
              </a:rPr>
              <a:t> </a:t>
            </a:r>
            <a:r>
              <a:rPr lang="fr-FR" dirty="0" smtClean="0"/>
              <a:t>avec ou sans épanchement.</a:t>
            </a:r>
          </a:p>
          <a:p>
            <a:r>
              <a:rPr lang="fr-FR" sz="1200" kern="1200" dirty="0" smtClean="0">
                <a:solidFill>
                  <a:schemeClr val="tx1"/>
                </a:solidFill>
                <a:latin typeface="+mn-lt"/>
                <a:ea typeface="+mn-ea"/>
                <a:cs typeface="+mn-cs"/>
              </a:rPr>
              <a:t>Elle atteint 2 fois plus les hommes (18-65 ans).</a:t>
            </a:r>
            <a:endParaRPr lang="fr-FR"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Elle sont fréquentes</a:t>
            </a:r>
            <a:r>
              <a:rPr lang="fr-FR" baseline="0" dirty="0" smtClean="0"/>
              <a:t>: 0,2% des patients admis dans un service de maladies cardiovasculaires.</a:t>
            </a:r>
            <a:endParaRPr lang="ar-DZ"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latin typeface="+mn-lt"/>
                <a:ea typeface="+mn-ea"/>
                <a:cs typeface="+mn-cs"/>
              </a:rPr>
              <a:t>L’évolution de la péricardite aiguë idiopathique est le plus souvent bénigne.</a:t>
            </a:r>
          </a:p>
          <a:p>
            <a:pPr marL="0" marR="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latin typeface="+mn-lt"/>
                <a:ea typeface="+mn-ea"/>
                <a:cs typeface="+mn-cs"/>
              </a:rPr>
              <a:t>Les enjeux sont liés à la gravité des diagnostics différentiels (embolie</a:t>
            </a:r>
            <a:r>
              <a:rPr lang="fr-FR" sz="1200" kern="1200" baseline="0" dirty="0" smtClean="0">
                <a:solidFill>
                  <a:schemeClr val="tx1"/>
                </a:solidFill>
                <a:latin typeface="+mn-lt"/>
                <a:ea typeface="+mn-ea"/>
                <a:cs typeface="+mn-cs"/>
              </a:rPr>
              <a:t> pulmonaire, syndrome coronaire aigu, dissection aortique), et aux risques de complications (tamponnade cardiaque, formes chroniques, constriction péricardique)</a:t>
            </a:r>
            <a:endParaRPr lang="fr-FR" dirty="0" smtClean="0"/>
          </a:p>
        </p:txBody>
      </p:sp>
      <p:sp>
        <p:nvSpPr>
          <p:cNvPr id="82948"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09323FC-2D83-4D87-8D70-332B8AF02F03}" type="slidenum">
              <a:rPr lang="fr-FR" smtClean="0"/>
              <a:pPr/>
              <a:t>20</a:t>
            </a:fld>
            <a:endParaRPr lang="fr-FR" dirty="0"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b="1" kern="1200" dirty="0" smtClean="0">
                <a:solidFill>
                  <a:schemeClr val="tx1"/>
                </a:solidFill>
                <a:latin typeface="+mn-lt"/>
                <a:ea typeface="+mn-ea"/>
                <a:cs typeface="+mn-cs"/>
              </a:rPr>
              <a:t>A- Présentation clinique:</a:t>
            </a:r>
          </a:p>
          <a:p>
            <a:pPr>
              <a:buFontTx/>
              <a:buNone/>
            </a:pPr>
            <a:r>
              <a:rPr lang="fr-FR" dirty="0" smtClean="0"/>
              <a:t>1- </a:t>
            </a:r>
            <a:r>
              <a:rPr lang="fr-FR" u="sng" dirty="0" smtClean="0"/>
              <a:t>signes d’alerte</a:t>
            </a:r>
            <a:r>
              <a:rPr lang="fr-FR" dirty="0" smtClean="0"/>
              <a:t>:</a:t>
            </a:r>
          </a:p>
          <a:p>
            <a:pPr>
              <a:buFontTx/>
              <a:buNone/>
            </a:pPr>
            <a:r>
              <a:rPr lang="fr-FR" dirty="0" smtClean="0"/>
              <a:t>Le</a:t>
            </a:r>
            <a:r>
              <a:rPr lang="fr-FR" baseline="0" dirty="0" smtClean="0"/>
              <a:t> tableau typique associe un contexte pseudo grippal avec une douleur thoracique de repos antérieure, </a:t>
            </a:r>
            <a:r>
              <a:rPr lang="fr-FR" dirty="0" smtClean="0"/>
              <a:t>vive,</a:t>
            </a:r>
            <a:r>
              <a:rPr lang="fr-FR" baseline="0" dirty="0" smtClean="0"/>
              <a:t> aigue, </a:t>
            </a:r>
            <a:r>
              <a:rPr lang="fr-FR" dirty="0" smtClean="0"/>
              <a:t>sensible aux changements de position,</a:t>
            </a:r>
            <a:r>
              <a:rPr lang="fr-FR" baseline="0" dirty="0" smtClean="0"/>
              <a:t> résistant à la trinitrine. L’irradiation au trapèze gauche est caractéristique de cette douleur.</a:t>
            </a:r>
          </a:p>
          <a:p>
            <a:pPr>
              <a:buFontTx/>
              <a:buNone/>
            </a:pPr>
            <a:r>
              <a:rPr lang="fr-FR" baseline="0" dirty="0" smtClean="0"/>
              <a:t>Il peut s’agir de symptômes plus rares faits de dyspnée, fièvre, asthénie, arythmie sur FA. </a:t>
            </a:r>
            <a:endParaRPr lang="fr-FR"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Dès la suspicion clinique, l’interrogatoire</a:t>
            </a:r>
            <a:r>
              <a:rPr lang="fr-FR" baseline="0" dirty="0" smtClean="0"/>
              <a:t> et l’examen clinique devront </a:t>
            </a:r>
            <a:r>
              <a:rPr lang="fr-FR" dirty="0" smtClean="0"/>
              <a:t>être minutieux.</a:t>
            </a:r>
            <a:r>
              <a:rPr lang="fr-FR" sz="1200" kern="1200" dirty="0" smtClean="0">
                <a:solidFill>
                  <a:schemeClr val="tx1"/>
                </a:solidFill>
                <a:latin typeface="+mn-lt"/>
                <a:ea typeface="+mn-ea"/>
                <a:cs typeface="+mn-cs"/>
              </a:rPr>
              <a:t> L’examen clinique d’une suspicion de péricardite recherche une orientation devant la douleur thoracique et évalue la gravité clinique. Les enjeux sont liés à la gravité des diagnostics différentiels possible devant</a:t>
            </a:r>
            <a:r>
              <a:rPr lang="fr-FR" sz="1200" kern="1200" baseline="0" dirty="0" smtClean="0">
                <a:solidFill>
                  <a:schemeClr val="tx1"/>
                </a:solidFill>
                <a:latin typeface="+mn-lt"/>
                <a:ea typeface="+mn-ea"/>
                <a:cs typeface="+mn-cs"/>
              </a:rPr>
              <a:t> </a:t>
            </a:r>
            <a:r>
              <a:rPr lang="fr-FR" sz="1200" kern="1200" dirty="0" smtClean="0">
                <a:solidFill>
                  <a:schemeClr val="tx1"/>
                </a:solidFill>
                <a:latin typeface="+mn-lt"/>
                <a:ea typeface="+mn-ea"/>
                <a:cs typeface="+mn-cs"/>
              </a:rPr>
              <a:t>cette douleur thoracique (SCA, embolie</a:t>
            </a:r>
            <a:r>
              <a:rPr lang="fr-FR" sz="1200" kern="1200" baseline="0" dirty="0" smtClean="0">
                <a:solidFill>
                  <a:schemeClr val="tx1"/>
                </a:solidFill>
                <a:latin typeface="+mn-lt"/>
                <a:ea typeface="+mn-ea"/>
                <a:cs typeface="+mn-cs"/>
              </a:rPr>
              <a:t> pulmonaire</a:t>
            </a:r>
            <a:r>
              <a:rPr lang="fr-FR" sz="1200" kern="1200" dirty="0" smtClean="0">
                <a:solidFill>
                  <a:schemeClr val="tx1"/>
                </a:solidFill>
                <a:latin typeface="+mn-lt"/>
                <a:ea typeface="+mn-ea"/>
                <a:cs typeface="+mn-cs"/>
              </a:rPr>
              <a:t>, dissection aortique), au risque de tamponnade et de formes chroniques. Ceci impose une </a:t>
            </a:r>
            <a:r>
              <a:rPr lang="fr-FR" sz="1200" b="0" kern="1200" dirty="0" smtClean="0">
                <a:solidFill>
                  <a:schemeClr val="tx1"/>
                </a:solidFill>
                <a:latin typeface="+mn-lt"/>
                <a:ea typeface="+mn-ea"/>
                <a:cs typeface="+mn-cs"/>
              </a:rPr>
              <a:t>prise en charge urgente.</a:t>
            </a:r>
            <a:endParaRPr lang="fr-FR" sz="1200" kern="1200" dirty="0" smtClean="0">
              <a:solidFill>
                <a:schemeClr val="tx1"/>
              </a:solidFill>
              <a:latin typeface="+mn-lt"/>
              <a:ea typeface="+mn-ea"/>
              <a:cs typeface="+mn-cs"/>
            </a:endParaRPr>
          </a:p>
          <a:p>
            <a:r>
              <a:rPr lang="fr-FR" dirty="0" smtClean="0"/>
              <a:t>On recherchera un frottement péricardique</a:t>
            </a:r>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D’autres signes cliniques peuvent exister en fonction de l’étiologie sous jacente du syndrome péricardique. Il faudra vérifier et quantifier la température, rechercher des adénopathies, une splénomégalie, des signes de collagénose </a:t>
            </a:r>
            <a:r>
              <a:rPr lang="fr-FR" dirty="0" err="1" smtClean="0"/>
              <a:t>etc</a:t>
            </a:r>
            <a:r>
              <a:rPr lang="fr-FR"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 </a:t>
            </a:r>
            <a:endParaRPr lang="fr-FR" dirty="0"/>
          </a:p>
        </p:txBody>
      </p:sp>
      <p:sp>
        <p:nvSpPr>
          <p:cNvPr id="4" name="Espace réservé du numéro de diapositive 3"/>
          <p:cNvSpPr>
            <a:spLocks noGrp="1"/>
          </p:cNvSpPr>
          <p:nvPr>
            <p:ph type="sldNum" sz="quarter" idx="10"/>
          </p:nvPr>
        </p:nvSpPr>
        <p:spPr/>
        <p:txBody>
          <a:bodyPr/>
          <a:lstStyle/>
          <a:p>
            <a:fld id="{F267D614-A403-4847-9522-E840C6A8F7A8}" type="slidenum">
              <a:rPr lang="fr-FR" smtClean="0"/>
              <a:pPr/>
              <a:t>21</a:t>
            </a:fld>
            <a:endParaRPr lang="fr-F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84995"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latin typeface="+mn-lt"/>
                <a:ea typeface="+mn-ea"/>
                <a:cs typeface="+mn-cs"/>
              </a:rPr>
              <a:t>La péricardite est caractérisée par un large spectre de présentations cliniques, le principal</a:t>
            </a:r>
            <a:r>
              <a:rPr lang="fr-FR" sz="1200" kern="1200" baseline="0" dirty="0" smtClean="0">
                <a:solidFill>
                  <a:schemeClr val="tx1"/>
                </a:solidFill>
                <a:latin typeface="+mn-lt"/>
                <a:ea typeface="+mn-ea"/>
                <a:cs typeface="+mn-cs"/>
              </a:rPr>
              <a:t> symptôme évocateur étant la douleur de type péricarditique, sensible aux changements de position</a:t>
            </a:r>
            <a:r>
              <a:rPr lang="fr-FR" sz="1200" kern="1200" dirty="0" smtClean="0">
                <a:solidFill>
                  <a:schemeClr val="tx1"/>
                </a:solidFill>
                <a:latin typeface="+mn-lt"/>
                <a:ea typeface="+mn-ea"/>
                <a:cs typeface="+mn-cs"/>
              </a:rPr>
              <a:t> et aux mouvements</a:t>
            </a:r>
            <a:r>
              <a:rPr lang="fr-FR" sz="1200" kern="1200" baseline="0" dirty="0" smtClean="0">
                <a:solidFill>
                  <a:schemeClr val="tx1"/>
                </a:solidFill>
                <a:latin typeface="+mn-lt"/>
                <a:ea typeface="+mn-ea"/>
                <a:cs typeface="+mn-cs"/>
              </a:rPr>
              <a:t> respiratoires. </a:t>
            </a:r>
            <a:endParaRPr lang="fr-FR"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La péricardite peut s’exprimer par:</a:t>
            </a:r>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1-</a:t>
            </a:r>
            <a:r>
              <a:rPr lang="fr-FR" baseline="0" dirty="0" smtClean="0"/>
              <a:t> </a:t>
            </a:r>
            <a:r>
              <a:rPr lang="fr-FR" i="1" baseline="0" dirty="0" smtClean="0"/>
              <a:t>une péricardite sèche:</a:t>
            </a:r>
            <a:r>
              <a:rPr lang="fr-FR" baseline="0" dirty="0" smtClean="0"/>
              <a:t> péricardite sans épanchement liquidien, généralement sans étiologie spécifique et de bon pronostic.</a:t>
            </a:r>
          </a:p>
          <a:p>
            <a:pPr marL="0" marR="0" indent="0" algn="l" defTabSz="914400" rtl="0" eaLnBrk="1" fontAlgn="auto" latinLnBrk="0" hangingPunct="1">
              <a:lnSpc>
                <a:spcPct val="100000"/>
              </a:lnSpc>
              <a:spcBef>
                <a:spcPts val="0"/>
              </a:spcBef>
              <a:spcAft>
                <a:spcPts val="0"/>
              </a:spcAft>
              <a:buClrTx/>
              <a:buSzTx/>
              <a:buFontTx/>
              <a:buNone/>
              <a:tabLst/>
              <a:defRPr/>
            </a:pPr>
            <a:r>
              <a:rPr lang="fr-FR" baseline="0" dirty="0" smtClean="0"/>
              <a:t> 2- </a:t>
            </a:r>
            <a:r>
              <a:rPr lang="fr-FR" i="1" baseline="0" dirty="0" smtClean="0"/>
              <a:t>une péricardite liquidienne ou avec épanchement:</a:t>
            </a:r>
            <a:r>
              <a:rPr lang="fr-FR" baseline="0" dirty="0" smtClean="0"/>
              <a:t> dans 50 à 60% des cas présence d’un épanchement de moyenne (10 à 20 mm) à grande abondance (&gt; à 20 mm)</a:t>
            </a:r>
          </a:p>
          <a:p>
            <a:pPr marL="0" marR="0" indent="0" algn="l" defTabSz="914400" rtl="0" eaLnBrk="1" fontAlgn="auto" latinLnBrk="0" hangingPunct="1">
              <a:lnSpc>
                <a:spcPct val="100000"/>
              </a:lnSpc>
              <a:spcBef>
                <a:spcPts val="0"/>
              </a:spcBef>
              <a:spcAft>
                <a:spcPts val="0"/>
              </a:spcAft>
              <a:buClrTx/>
              <a:buSzTx/>
              <a:buFontTx/>
              <a:buNone/>
              <a:tabLst/>
              <a:defRPr/>
            </a:pPr>
            <a:r>
              <a:rPr lang="fr-FR" baseline="0" dirty="0" smtClean="0"/>
              <a:t> 3- </a:t>
            </a:r>
            <a:r>
              <a:rPr lang="fr-FR" i="1" baseline="0" dirty="0" smtClean="0"/>
              <a:t>une péricardite constrictive liquidienne:</a:t>
            </a:r>
            <a:r>
              <a:rPr lang="fr-FR" baseline="0" dirty="0" smtClean="0"/>
              <a:t> associe un épanchement et un épaississement des feuillets péricardiques avec constriction. Elle est découverte au décours d’un drainage péricardique pour tamponnade mais où persiste un phénomène physiopathologique de constriction et une pression auriculaire droite qui ne baisse pas après drainage. Actuellement l’imagerie multimodale permet le diagnostic sans recours au cathétérisme cardiaque </a:t>
            </a:r>
          </a:p>
          <a:p>
            <a:pPr marL="0" marR="0" indent="0" algn="l" defTabSz="914400" rtl="0" eaLnBrk="1" fontAlgn="auto" latinLnBrk="0" hangingPunct="1">
              <a:lnSpc>
                <a:spcPct val="100000"/>
              </a:lnSpc>
              <a:spcBef>
                <a:spcPts val="0"/>
              </a:spcBef>
              <a:spcAft>
                <a:spcPts val="0"/>
              </a:spcAft>
              <a:buClrTx/>
              <a:buSzTx/>
              <a:buFontTx/>
              <a:buNone/>
              <a:tabLst/>
              <a:defRPr/>
            </a:pPr>
            <a:r>
              <a:rPr lang="fr-FR" baseline="0" dirty="0" smtClean="0"/>
              <a:t> 4- </a:t>
            </a:r>
            <a:r>
              <a:rPr lang="fr-FR" i="1" baseline="0" dirty="0" smtClean="0"/>
              <a:t>une péricardite avec tamponnade cardiaque:</a:t>
            </a:r>
            <a:r>
              <a:rPr lang="fr-FR" i="0" baseline="0" dirty="0" smtClean="0"/>
              <a:t> où l’inflammation du péricarde conduit à l’accumulation d’un épanchement liquidien compressif. Elle engage le pronostic vital et sera </a:t>
            </a:r>
            <a:r>
              <a:rPr lang="fr-FR" baseline="0" dirty="0" smtClean="0"/>
              <a:t>évoquée devant la triade de  Beck qui associe hypotension-turgescence des jugulaire-bruits cardiaques assourdis, avec pouls paradoxal, alternance électrique et bas voltage à l’ECG.</a:t>
            </a:r>
          </a:p>
          <a:p>
            <a:pPr marL="0" marR="0" indent="0" algn="l" defTabSz="914400" rtl="0" eaLnBrk="1" fontAlgn="auto" latinLnBrk="0" hangingPunct="1">
              <a:lnSpc>
                <a:spcPct val="100000"/>
              </a:lnSpc>
              <a:spcBef>
                <a:spcPts val="0"/>
              </a:spcBef>
              <a:spcAft>
                <a:spcPts val="0"/>
              </a:spcAft>
              <a:buClrTx/>
              <a:buSzTx/>
              <a:buFontTx/>
              <a:buNone/>
              <a:tabLst/>
              <a:defRPr/>
            </a:pPr>
            <a:r>
              <a:rPr lang="fr-FR" baseline="0" dirty="0" smtClean="0"/>
              <a:t> 5- </a:t>
            </a:r>
            <a:r>
              <a:rPr lang="fr-FR" i="1" baseline="0" dirty="0" smtClean="0"/>
              <a:t>une constriction péricardique:</a:t>
            </a:r>
            <a:r>
              <a:rPr lang="fr-FR" baseline="0" dirty="0" smtClean="0"/>
              <a:t> due à des feuillets péricardiques épaissis et fibrosés voire calcifiés, créant une gêne au remplissage du cœur (adiastolie) responsable d’un tableau d’insuffisance cardiaque droite avec dilatation des jugulaires, œdèmes distaux et ascite, pleurésie récidivante, dyspnée, asthénie. Le scanner ou l’IRM cardiaque confirment l’épaississement du péricarde.</a:t>
            </a:r>
          </a:p>
          <a:p>
            <a:pPr marL="0" marR="0" indent="0" algn="l" defTabSz="914400" rtl="0" eaLnBrk="1" fontAlgn="auto" latinLnBrk="0" hangingPunct="1">
              <a:lnSpc>
                <a:spcPct val="100000"/>
              </a:lnSpc>
              <a:spcBef>
                <a:spcPts val="0"/>
              </a:spcBef>
              <a:spcAft>
                <a:spcPts val="0"/>
              </a:spcAft>
              <a:buClrTx/>
              <a:buSzTx/>
              <a:buFontTx/>
              <a:buNone/>
              <a:tabLst/>
              <a:defRPr/>
            </a:pPr>
            <a:r>
              <a:rPr lang="fr-FR" baseline="0" dirty="0" smtClean="0"/>
              <a:t> 6- </a:t>
            </a:r>
            <a:r>
              <a:rPr lang="fr-FR" i="1" baseline="0" dirty="0" smtClean="0"/>
              <a:t>une constriction péricardique transitoire:</a:t>
            </a:r>
            <a:r>
              <a:rPr lang="fr-FR" baseline="0" dirty="0" smtClean="0"/>
              <a:t> où il existe une constriction péricardique avec biomarqueurs de l’inflammation positifs; ce tableau est potentiellement réversible (50% des cas) sous traitement anti-inflammatoire qui doit être maintenu pendant 3 à 6 mois avant de conclure à une forme constrictive définitive relevant de la chirurgie (péricardectomie)</a:t>
            </a:r>
            <a:endParaRPr lang="fr-FR" dirty="0" smtClean="0"/>
          </a:p>
          <a:p>
            <a:pPr>
              <a:buFontTx/>
              <a:buNone/>
            </a:pPr>
            <a:endParaRPr lang="fr-FR" dirty="0" smtClean="0"/>
          </a:p>
          <a:p>
            <a:endParaRPr lang="fr-FR" dirty="0" smtClean="0"/>
          </a:p>
          <a:p>
            <a:endParaRPr lang="fr-FR" dirty="0" smtClean="0"/>
          </a:p>
        </p:txBody>
      </p:sp>
      <p:sp>
        <p:nvSpPr>
          <p:cNvPr id="84996"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CA76EB0-2CDA-4241-A30C-0E5306D15FC3}" type="slidenum">
              <a:rPr lang="fr-FR" smtClean="0"/>
              <a:pPr/>
              <a:t>22</a:t>
            </a:fld>
            <a:endParaRPr lang="fr-FR"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84995"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latin typeface="+mn-lt"/>
                <a:ea typeface="+mn-ea"/>
                <a:cs typeface="+mn-cs"/>
              </a:rPr>
              <a:t>2- </a:t>
            </a:r>
            <a:r>
              <a:rPr lang="fr-FR" sz="1200" u="sng" kern="1200" dirty="0" smtClean="0">
                <a:solidFill>
                  <a:schemeClr val="tx1"/>
                </a:solidFill>
                <a:latin typeface="+mn-lt"/>
                <a:ea typeface="+mn-ea"/>
                <a:cs typeface="+mn-cs"/>
              </a:rPr>
              <a:t>formes cliniques et complications</a:t>
            </a:r>
            <a:r>
              <a:rPr lang="fr-FR" sz="1200" kern="1200" dirty="0" smtClean="0">
                <a:solidFill>
                  <a:schemeClr val="tx1"/>
                </a:solidFill>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latin typeface="+mn-lt"/>
                <a:ea typeface="+mn-ea"/>
                <a:cs typeface="+mn-cs"/>
              </a:rPr>
              <a:t>La péricardite est caractérisée par un large spectre de présentations cliniques, le principal</a:t>
            </a:r>
            <a:r>
              <a:rPr lang="fr-FR" sz="1200" kern="1200" baseline="0" dirty="0" smtClean="0">
                <a:solidFill>
                  <a:schemeClr val="tx1"/>
                </a:solidFill>
                <a:latin typeface="+mn-lt"/>
                <a:ea typeface="+mn-ea"/>
                <a:cs typeface="+mn-cs"/>
              </a:rPr>
              <a:t> symptôme évocateur étant la douleur de type péricarditique, sensible aux changements de position</a:t>
            </a:r>
            <a:r>
              <a:rPr lang="fr-FR" sz="1200" kern="1200" dirty="0" smtClean="0">
                <a:solidFill>
                  <a:schemeClr val="tx1"/>
                </a:solidFill>
                <a:latin typeface="+mn-lt"/>
                <a:ea typeface="+mn-ea"/>
                <a:cs typeface="+mn-cs"/>
              </a:rPr>
              <a:t> et aux mouvements</a:t>
            </a:r>
            <a:r>
              <a:rPr lang="fr-FR" sz="1200" kern="1200" baseline="0" dirty="0" smtClean="0">
                <a:solidFill>
                  <a:schemeClr val="tx1"/>
                </a:solidFill>
                <a:latin typeface="+mn-lt"/>
                <a:ea typeface="+mn-ea"/>
                <a:cs typeface="+mn-cs"/>
              </a:rPr>
              <a:t> respiratoires. </a:t>
            </a:r>
            <a:endParaRPr lang="fr-FR"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La péricardite peut s’exprimer par:</a:t>
            </a:r>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1-</a:t>
            </a:r>
            <a:r>
              <a:rPr lang="fr-FR" baseline="0" dirty="0" smtClean="0"/>
              <a:t> </a:t>
            </a:r>
            <a:r>
              <a:rPr lang="fr-FR" i="1" baseline="0" dirty="0" smtClean="0"/>
              <a:t>une péricardite sèche:</a:t>
            </a:r>
            <a:r>
              <a:rPr lang="fr-FR" baseline="0" dirty="0" smtClean="0"/>
              <a:t> péricardite sans épanchement liquidien, généralement sans étiologie spécifique et de bon pronostic.</a:t>
            </a:r>
          </a:p>
          <a:p>
            <a:pPr marL="0" marR="0" indent="0" algn="l" defTabSz="914400" rtl="0" eaLnBrk="1" fontAlgn="auto" latinLnBrk="0" hangingPunct="1">
              <a:lnSpc>
                <a:spcPct val="100000"/>
              </a:lnSpc>
              <a:spcBef>
                <a:spcPts val="0"/>
              </a:spcBef>
              <a:spcAft>
                <a:spcPts val="0"/>
              </a:spcAft>
              <a:buClrTx/>
              <a:buSzTx/>
              <a:buFontTx/>
              <a:buNone/>
              <a:tabLst/>
              <a:defRPr/>
            </a:pPr>
            <a:r>
              <a:rPr lang="fr-FR" baseline="0" dirty="0" smtClean="0"/>
              <a:t> 2- </a:t>
            </a:r>
            <a:r>
              <a:rPr lang="fr-FR" i="1" baseline="0" dirty="0" smtClean="0"/>
              <a:t>une péricardite liquidienne ou avec épanchement:</a:t>
            </a:r>
            <a:r>
              <a:rPr lang="fr-FR" baseline="0" dirty="0" smtClean="0"/>
              <a:t> dans 50 à 60% des cas présence d’un épanchement de moyenne (10 à 20 mm) à grande abondance (&gt; à 20 mm)</a:t>
            </a:r>
          </a:p>
          <a:p>
            <a:pPr marL="0" marR="0" indent="0" algn="l" defTabSz="914400" rtl="0" eaLnBrk="1" fontAlgn="auto" latinLnBrk="0" hangingPunct="1">
              <a:lnSpc>
                <a:spcPct val="100000"/>
              </a:lnSpc>
              <a:spcBef>
                <a:spcPts val="0"/>
              </a:spcBef>
              <a:spcAft>
                <a:spcPts val="0"/>
              </a:spcAft>
              <a:buClrTx/>
              <a:buSzTx/>
              <a:buFontTx/>
              <a:buNone/>
              <a:tabLst/>
              <a:defRPr/>
            </a:pPr>
            <a:r>
              <a:rPr lang="fr-FR" baseline="0" dirty="0" smtClean="0"/>
              <a:t> 3- </a:t>
            </a:r>
            <a:r>
              <a:rPr lang="fr-FR" i="1" baseline="0" dirty="0" smtClean="0"/>
              <a:t>une péricardite constrictive liquidienne:</a:t>
            </a:r>
            <a:r>
              <a:rPr lang="fr-FR" baseline="0" dirty="0" smtClean="0"/>
              <a:t> associe un épanchement et un épaississement des feuillets péricardiques avec constriction. Elle est découverte au décours d’un drainage péricardique pour tamponnade mais où persiste un phénomène physiopathologique de constriction et une pression auriculaire droite qui ne baisse pas après drainage. Actuellement l’imagerie multimodale permet le diagnostic sans recours au cathétérisme cardiaque. L’étiologie tuberculeuse est à évoquer.</a:t>
            </a:r>
          </a:p>
          <a:p>
            <a:pPr marL="0" marR="0" indent="0" algn="l" defTabSz="914400" rtl="0" eaLnBrk="1" fontAlgn="auto" latinLnBrk="0" hangingPunct="1">
              <a:lnSpc>
                <a:spcPct val="100000"/>
              </a:lnSpc>
              <a:spcBef>
                <a:spcPts val="0"/>
              </a:spcBef>
              <a:spcAft>
                <a:spcPts val="0"/>
              </a:spcAft>
              <a:buClrTx/>
              <a:buSzTx/>
              <a:buFontTx/>
              <a:buNone/>
              <a:tabLst/>
              <a:defRPr/>
            </a:pPr>
            <a:r>
              <a:rPr lang="fr-FR" baseline="0" dirty="0" smtClean="0"/>
              <a:t> 4- </a:t>
            </a:r>
            <a:r>
              <a:rPr lang="fr-FR" i="1" baseline="0" dirty="0" smtClean="0"/>
              <a:t>une péricardite avec tamponnade cardiaque:</a:t>
            </a:r>
            <a:r>
              <a:rPr lang="fr-FR" i="0" baseline="0" dirty="0" smtClean="0"/>
              <a:t> où l’inflammation du péricarde conduit à l’accumulation d’un épanchement liquidien compressif. Elle engage le pronostic vital et sera </a:t>
            </a:r>
            <a:r>
              <a:rPr lang="fr-FR" baseline="0" dirty="0" smtClean="0"/>
              <a:t>évoquée devant la triade de  Beck qui associe hypotension-turgescence des jugulaire-bruits-cardiaques assourdis, avec pouls paradoxal, alternance électrique et bas voltage à l’ECG.</a:t>
            </a:r>
          </a:p>
          <a:p>
            <a:pPr marL="0" marR="0" indent="0" algn="l" defTabSz="914400" rtl="0" eaLnBrk="1" fontAlgn="auto" latinLnBrk="0" hangingPunct="1">
              <a:lnSpc>
                <a:spcPct val="100000"/>
              </a:lnSpc>
              <a:spcBef>
                <a:spcPts val="0"/>
              </a:spcBef>
              <a:spcAft>
                <a:spcPts val="0"/>
              </a:spcAft>
              <a:buClrTx/>
              <a:buSzTx/>
              <a:buFontTx/>
              <a:buNone/>
              <a:tabLst/>
              <a:defRPr/>
            </a:pPr>
            <a:r>
              <a:rPr lang="fr-FR" baseline="0" dirty="0" smtClean="0"/>
              <a:t> 5- </a:t>
            </a:r>
            <a:r>
              <a:rPr lang="fr-FR" i="1" baseline="0" dirty="0" smtClean="0"/>
              <a:t>une constriction péricardique:</a:t>
            </a:r>
            <a:r>
              <a:rPr lang="fr-FR" baseline="0" dirty="0" smtClean="0"/>
              <a:t> due à des feuillets péricardiques épaissis et fibrosés voire calcifiés, créant une gêne au remplissage du cœur (adiastolie) responsable d’un tableau d’insuffisance cardiaque droite avec dilatation des jugulaires, œdèmes distaux et ascite, pleurésie récidivante, dyspnée, asthénie. Le scanner ou l’IRM cardiaque confirment l’épaississement du péricarde. Un cathétérisme cardiaque peut parfois être indiqué pour éliminer une cardiomyopathie restrictive (CMR) si les autres examens sont non concluants.</a:t>
            </a:r>
          </a:p>
          <a:p>
            <a:pPr marL="0" marR="0" indent="0" algn="l" defTabSz="914400" rtl="0" eaLnBrk="1" fontAlgn="auto" latinLnBrk="0" hangingPunct="1">
              <a:lnSpc>
                <a:spcPct val="100000"/>
              </a:lnSpc>
              <a:spcBef>
                <a:spcPts val="0"/>
              </a:spcBef>
              <a:spcAft>
                <a:spcPts val="0"/>
              </a:spcAft>
              <a:buClrTx/>
              <a:buSzTx/>
              <a:buFontTx/>
              <a:buNone/>
              <a:tabLst/>
              <a:defRPr/>
            </a:pPr>
            <a:r>
              <a:rPr lang="fr-FR" baseline="0" dirty="0" smtClean="0"/>
              <a:t> 6- </a:t>
            </a:r>
            <a:r>
              <a:rPr lang="fr-FR" i="1" baseline="0" dirty="0" smtClean="0"/>
              <a:t>une constriction péricardique transitoire:</a:t>
            </a:r>
            <a:r>
              <a:rPr lang="fr-FR" baseline="0" dirty="0" smtClean="0"/>
              <a:t> où il existe une constriction péricardique avec biomarqueurs de l’inflammation positifs; ce tableau est potentiellement réversible (50% des cas) sous traitement anti-inflammatoire qui doit être maintenu pendant 3 à 6 mois avant de conclure à une forme constrictive définitive relevant de la chirurgie (péricardectomie)</a:t>
            </a:r>
            <a:endParaRPr lang="fr-FR" dirty="0" smtClean="0"/>
          </a:p>
          <a:p>
            <a:pPr>
              <a:buFontTx/>
              <a:buNone/>
            </a:pPr>
            <a:endParaRPr lang="fr-FR" dirty="0" smtClean="0"/>
          </a:p>
          <a:p>
            <a:endParaRPr lang="fr-FR" dirty="0" smtClean="0"/>
          </a:p>
          <a:p>
            <a:endParaRPr lang="fr-FR" dirty="0" smtClean="0"/>
          </a:p>
        </p:txBody>
      </p:sp>
      <p:sp>
        <p:nvSpPr>
          <p:cNvPr id="84996"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CA76EB0-2CDA-4241-A30C-0E5306D15FC3}" type="slidenum">
              <a:rPr lang="fr-FR" smtClean="0"/>
              <a:pPr/>
              <a:t>23</a:t>
            </a:fld>
            <a:endParaRPr lang="fr-FR"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111619" name="Espace réservé des commentaires 2"/>
          <p:cNvSpPr>
            <a:spLocks noGrp="1"/>
          </p:cNvSpPr>
          <p:nvPr>
            <p:ph type="body" idx="1"/>
          </p:nvPr>
        </p:nvSpPr>
        <p:spPr bwMode="auto"/>
        <p:txBody>
          <a:bodyPr wrap="square" numCol="1" anchor="t" anchorCtr="0" compatLnSpc="1">
            <a:prstTxWarp prst="textNoShape">
              <a:avLst/>
            </a:prstTxWarp>
          </a:bodyPr>
          <a:lstStyle/>
          <a:p>
            <a:pPr>
              <a:defRPr/>
            </a:pPr>
            <a:r>
              <a:rPr lang="fr-FR" b="1" dirty="0" smtClean="0"/>
              <a:t>VIII- LA PERICARDITE CHRONIQUE CONSTRICTIVE:</a:t>
            </a:r>
          </a:p>
          <a:p>
            <a:pPr marL="228600" indent="-228600">
              <a:buFontTx/>
              <a:buAutoNum type="alphaUcPeriod"/>
              <a:defRPr/>
            </a:pPr>
            <a:r>
              <a:rPr lang="fr-FR" b="1" dirty="0" smtClean="0"/>
              <a:t>Définition: </a:t>
            </a:r>
            <a:r>
              <a:rPr lang="fr-FR" dirty="0" smtClean="0"/>
              <a:t>la PCC est une pathologie rare causée par une altération fibrino-calcique du péricarde formant une coque rigide autour du cœur limitant  le remplissage ventriculaire. C’est une adiastolie </a:t>
            </a:r>
            <a:r>
              <a:rPr lang="fr-FR" u="sng" dirty="0" smtClean="0"/>
              <a:t>chronique</a:t>
            </a:r>
            <a:r>
              <a:rPr lang="fr-FR" dirty="0" smtClean="0"/>
              <a:t>.</a:t>
            </a:r>
          </a:p>
          <a:p>
            <a:pPr marL="228600" indent="-228600">
              <a:buFontTx/>
              <a:buAutoNum type="alphaUcPeriod"/>
              <a:defRPr/>
            </a:pPr>
            <a:r>
              <a:rPr lang="fr-FR" b="1" dirty="0" smtClean="0"/>
              <a:t>Anatomopathologie:</a:t>
            </a:r>
            <a:r>
              <a:rPr lang="fr-FR" dirty="0" smtClean="0"/>
              <a:t> le péricarde est épais, fibreux voire calcifié, réalisant dans les cas extrêmes une coque qui enserre le cœur.</a:t>
            </a:r>
          </a:p>
          <a:p>
            <a:pPr marL="228600" indent="-228600">
              <a:buFontTx/>
              <a:buAutoNum type="alphaUcPeriod"/>
              <a:defRPr/>
            </a:pPr>
            <a:r>
              <a:rPr lang="fr-FR" b="1" dirty="0" smtClean="0"/>
              <a:t>Physiopathologie: </a:t>
            </a:r>
            <a:r>
              <a:rPr lang="fr-FR" dirty="0" smtClean="0"/>
              <a:t>le péricarde rigide empêche la transmission des pressions intra thoraciques aux cavités cardiaques, créant une dissociation des pressions intra thoraciques et intracardiaques</a:t>
            </a:r>
            <a:r>
              <a:rPr lang="fr-FR" b="1" dirty="0" smtClean="0"/>
              <a:t> </a:t>
            </a:r>
            <a:r>
              <a:rPr lang="fr-FR" dirty="0" smtClean="0"/>
              <a:t>et une interdépendance ventriculaire, chaque ventricule se remplissant au détriment de l’autre avec mouvement paradoxal du septum.</a:t>
            </a:r>
          </a:p>
          <a:p>
            <a:pPr marL="228600" indent="-228600">
              <a:buFontTx/>
              <a:buNone/>
              <a:defRPr/>
            </a:pPr>
            <a:r>
              <a:rPr lang="fr-FR" dirty="0" smtClean="0"/>
              <a:t>     [La constriction entraine une gêne permanente et </a:t>
            </a:r>
            <a:r>
              <a:rPr lang="fr-FR" u="sng" dirty="0" smtClean="0"/>
              <a:t>fixe</a:t>
            </a:r>
            <a:r>
              <a:rPr lang="fr-FR" baseline="0" dirty="0" smtClean="0"/>
              <a:t> du remplissage du VD sans arriver au collapsus des cavités droites (adiastolie chronique), à l’inverse de la tamponnade qui provoque une gêne au remplissage évolutive, d’aggravation progressive jusqu’au collapsus VD (adiastolie aigue).]</a:t>
            </a:r>
            <a:endParaRPr lang="fr-FR" dirty="0" smtClean="0"/>
          </a:p>
          <a:p>
            <a:pPr>
              <a:defRPr/>
            </a:pPr>
            <a:r>
              <a:rPr lang="fr-FR" b="1" dirty="0" smtClean="0"/>
              <a:t>D. Etiologies:</a:t>
            </a:r>
            <a:r>
              <a:rPr lang="fr-FR" dirty="0" smtClean="0"/>
              <a:t> toutes les causes peuvent être incriminées mais l’évolution vers une constriction péricardique est exceptionnelle (&lt; 1 %) après une péricardite aiguë banale, plus fréquente (2-5 %) après une péricardite auto-immune ou cancéreuse, post </a:t>
            </a:r>
            <a:r>
              <a:rPr lang="fr-FR" dirty="0" err="1" smtClean="0"/>
              <a:t>radique</a:t>
            </a:r>
            <a:r>
              <a:rPr lang="fr-FR" dirty="0" smtClean="0"/>
              <a:t> ou après chirurgie cardiaque, et très fréquente (20 %) après une péricardite tuberculeuse ou purulente.</a:t>
            </a:r>
          </a:p>
          <a:p>
            <a:pPr>
              <a:defRPr/>
            </a:pPr>
            <a:r>
              <a:rPr lang="fr-FR" b="1" dirty="0" smtClean="0"/>
              <a:t>E. Diagnostic positif:</a:t>
            </a:r>
          </a:p>
          <a:p>
            <a:pPr>
              <a:buFont typeface="Wingdings" pitchFamily="2" charset="2"/>
              <a:buNone/>
              <a:defRPr/>
            </a:pPr>
            <a:r>
              <a:rPr lang="fr-FR" dirty="0" smtClean="0"/>
              <a:t>   - le tableau clinique est fait d’une dyspnée avec un épanchement pleural récidivant et de signes d’insuffisance cardiaque droite, avec souvent un tableau d’anasarque, évoluant parfois depuis plusieurs années avant le diagnostic.</a:t>
            </a:r>
          </a:p>
          <a:p>
            <a:pPr>
              <a:buFont typeface="Wingdings" pitchFamily="2" charset="2"/>
              <a:buNone/>
              <a:defRPr/>
            </a:pPr>
            <a:r>
              <a:rPr lang="fr-FR" dirty="0" smtClean="0"/>
              <a:t>   - un téléthorax face et profil doit être réalisé à la recherche de calcifications plus ou moins étendue; il n’y a pas de cardiomégalie;(</a:t>
            </a:r>
            <a:r>
              <a:rPr lang="fr-FR" baseline="0" dirty="0" smtClean="0"/>
              <a:t>contraste entre tableau de décompensation droite sévère et « petit cœur radiologique »).</a:t>
            </a:r>
            <a:endParaRPr lang="fr-FR" dirty="0" smtClean="0"/>
          </a:p>
          <a:p>
            <a:pPr>
              <a:defRPr/>
            </a:pPr>
            <a:r>
              <a:rPr lang="fr-FR" dirty="0" smtClean="0"/>
              <a:t>   - l’imagerie par échocardiographie, ou par cathétérisme cardiaque si nécessaire, apporte la preuve d’une altération du remplissage diastolique avec un profil de type restrictif; Il existe des variations respiratoires exagérées des flux de remplissage mitral et tricuspide. La fraction d’éjection est conservée.</a:t>
            </a:r>
          </a:p>
          <a:p>
            <a:pPr>
              <a:defRPr/>
            </a:pPr>
            <a:r>
              <a:rPr lang="fr-FR" dirty="0" smtClean="0"/>
              <a:t>   - Un scanner thoracique et/ou une IRM sont indiqués comme technique d’imagerie</a:t>
            </a:r>
            <a:r>
              <a:rPr lang="fr-FR" baseline="0" dirty="0" smtClean="0"/>
              <a:t> </a:t>
            </a:r>
            <a:r>
              <a:rPr lang="fr-FR" dirty="0" smtClean="0"/>
              <a:t>de 2</a:t>
            </a:r>
            <a:r>
              <a:rPr lang="fr-FR" baseline="30000" dirty="0" smtClean="0"/>
              <a:t>ème</a:t>
            </a:r>
            <a:r>
              <a:rPr lang="fr-FR" baseline="0" dirty="0" smtClean="0"/>
              <a:t> </a:t>
            </a:r>
            <a:r>
              <a:rPr lang="fr-FR" dirty="0" smtClean="0"/>
              <a:t>niveau pour évaluer les calcifications, l’épaisseur péricardique qui dépasse 3 à 4 mm, le degré et l’étendue de l’atteinte péricardique. </a:t>
            </a:r>
          </a:p>
          <a:p>
            <a:pPr>
              <a:defRPr/>
            </a:pPr>
            <a:r>
              <a:rPr lang="fr-FR" dirty="0" smtClean="0"/>
              <a:t>L’absence d’épaississement n’exclut pas le diagnostic.</a:t>
            </a:r>
          </a:p>
        </p:txBody>
      </p:sp>
      <p:sp>
        <p:nvSpPr>
          <p:cNvPr id="114692"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B86DA73-454C-4BB4-BF25-5E5CECBFA26A}" type="slidenum">
              <a:rPr lang="fr-FR" smtClean="0"/>
              <a:pPr/>
              <a:t>24</a:t>
            </a:fld>
            <a:endParaRPr lang="fr-FR"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107523"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r>
              <a:rPr lang="fr-FR" b="1" dirty="0" smtClean="0"/>
              <a:t>C- Physiopathologie</a:t>
            </a:r>
            <a:r>
              <a:rPr lang="fr-FR" dirty="0" smtClean="0"/>
              <a:t>: Il s’agit d’un tableau hémodynamique mortel réalisant un état de choc du à une compression lente ou rapide du cœur, lorsque la pression </a:t>
            </a:r>
            <a:r>
              <a:rPr lang="fr-FR" dirty="0" err="1" smtClean="0"/>
              <a:t>intrapéricardique</a:t>
            </a:r>
            <a:r>
              <a:rPr lang="fr-FR" dirty="0" smtClean="0"/>
              <a:t> dépasse la pression diastolique intra cardiaque, les cavités droites étant les premières à subir cette compression du fait du niveau de pression plus bas qui règne dans ces cavités. La pression intra VD diastolique augmente pour assurer un remplissage diastolique, de même que les pressions OD et veineuses caves. A mesure que la pression extracardiaque augmente le volume télédiastolique du VD diminue et par conséquent son volume d’éjection systolique, avec pour conséquence une baisse du débit cardiaque donc état de choc, et dans les cas extrêmes un désamorçage de la pompe cardiaque par collapsus total de la cavité VD.</a:t>
            </a:r>
          </a:p>
        </p:txBody>
      </p:sp>
      <p:sp>
        <p:nvSpPr>
          <p:cNvPr id="107524"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1E67C46-7A06-40A1-9578-882D2165B22E}" type="slidenum">
              <a:rPr lang="fr-FR" smtClean="0"/>
              <a:pPr/>
              <a:t>25</a:t>
            </a:fld>
            <a:endParaRPr lang="fr-FR"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83971"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r>
              <a:rPr lang="fr-FR" b="1" baseline="0" dirty="0" smtClean="0">
                <a:sym typeface="Symbol" pitchFamily="18" charset="2"/>
              </a:rPr>
              <a:t>B- Critères diagnostiques des péricardites aigues</a:t>
            </a:r>
            <a:r>
              <a:rPr lang="fr-FR" baseline="0" dirty="0" smtClean="0">
                <a:sym typeface="Symbol" pitchFamily="18" charset="2"/>
              </a:rPr>
              <a:t>	 </a:t>
            </a:r>
            <a:endParaRPr lang="fr-FR" dirty="0" smtClean="0">
              <a:sym typeface="Symbol" pitchFamily="18" charset="2"/>
            </a:endParaRPr>
          </a:p>
          <a:p>
            <a:r>
              <a:rPr lang="fr-FR" sz="1200" i="0" kern="1200" dirty="0" smtClean="0">
                <a:solidFill>
                  <a:schemeClr val="tx1"/>
                </a:solidFill>
                <a:latin typeface="+mn-lt"/>
                <a:ea typeface="+mn-ea"/>
                <a:cs typeface="+mn-cs"/>
              </a:rPr>
              <a:t>En</a:t>
            </a:r>
            <a:r>
              <a:rPr lang="fr-FR" sz="1200" i="0" kern="1200" baseline="0" dirty="0" smtClean="0">
                <a:solidFill>
                  <a:schemeClr val="tx1"/>
                </a:solidFill>
                <a:latin typeface="+mn-lt"/>
                <a:ea typeface="+mn-ea"/>
                <a:cs typeface="+mn-cs"/>
              </a:rPr>
              <a:t> présence d’une présentation clinique évocatrice on recherchera des critères additionnels:</a:t>
            </a:r>
            <a:endParaRPr lang="fr-FR" sz="1200" i="0" kern="1200" dirty="0" smtClean="0">
              <a:solidFill>
                <a:schemeClr val="tx1"/>
              </a:solidFill>
              <a:latin typeface="+mn-lt"/>
              <a:ea typeface="+mn-ea"/>
              <a:cs typeface="+mn-cs"/>
            </a:endParaRPr>
          </a:p>
          <a:p>
            <a:pPr lvl="0"/>
            <a:r>
              <a:rPr lang="fr-FR" sz="1200" i="0" kern="1200" dirty="0" smtClean="0">
                <a:solidFill>
                  <a:schemeClr val="tx1"/>
                </a:solidFill>
                <a:latin typeface="+mn-lt"/>
                <a:ea typeface="+mn-ea"/>
                <a:cs typeface="+mn-cs"/>
              </a:rPr>
              <a:t>  - clinique:</a:t>
            </a:r>
            <a:r>
              <a:rPr lang="fr-FR" sz="1200" i="0" kern="1200" baseline="0" dirty="0" smtClean="0">
                <a:solidFill>
                  <a:schemeClr val="tx1"/>
                </a:solidFill>
                <a:latin typeface="+mn-lt"/>
                <a:ea typeface="+mn-ea"/>
                <a:cs typeface="+mn-cs"/>
              </a:rPr>
              <a:t> </a:t>
            </a:r>
            <a:r>
              <a:rPr lang="fr-FR" sz="1200" i="0" kern="1200" dirty="0" smtClean="0">
                <a:solidFill>
                  <a:schemeClr val="tx1"/>
                </a:solidFill>
                <a:latin typeface="+mn-lt"/>
                <a:ea typeface="+mn-ea"/>
                <a:cs typeface="+mn-cs"/>
              </a:rPr>
              <a:t>Frottement péricardique;</a:t>
            </a:r>
          </a:p>
          <a:p>
            <a:pPr lvl="0"/>
            <a:r>
              <a:rPr lang="fr-FR" sz="1200" i="1" kern="1200" baseline="0" dirty="0" smtClean="0">
                <a:solidFill>
                  <a:schemeClr val="tx1"/>
                </a:solidFill>
                <a:latin typeface="+mn-lt"/>
                <a:ea typeface="+mn-ea"/>
                <a:cs typeface="+mn-cs"/>
              </a:rPr>
              <a:t>  - </a:t>
            </a:r>
            <a:r>
              <a:rPr lang="fr-FR" sz="1200" i="0" kern="1200" dirty="0" smtClean="0">
                <a:solidFill>
                  <a:schemeClr val="tx1"/>
                </a:solidFill>
                <a:latin typeface="+mn-lt"/>
                <a:ea typeface="+mn-ea"/>
                <a:cs typeface="+mn-cs"/>
              </a:rPr>
              <a:t>ECG: apparition d’un sus-décalage</a:t>
            </a:r>
            <a:r>
              <a:rPr lang="fr-FR" sz="1200" i="0" kern="1200" baseline="0" dirty="0" smtClean="0">
                <a:solidFill>
                  <a:schemeClr val="tx1"/>
                </a:solidFill>
                <a:latin typeface="+mn-lt"/>
                <a:ea typeface="+mn-ea"/>
                <a:cs typeface="+mn-cs"/>
              </a:rPr>
              <a:t> récent </a:t>
            </a:r>
            <a:r>
              <a:rPr lang="fr-FR" sz="1200" i="0" kern="1200" dirty="0" smtClean="0">
                <a:solidFill>
                  <a:schemeClr val="tx1"/>
                </a:solidFill>
                <a:latin typeface="+mn-lt"/>
                <a:ea typeface="+mn-ea"/>
                <a:cs typeface="+mn-cs"/>
              </a:rPr>
              <a:t>du segment ST diffus ou sous-décalage du segment PR;</a:t>
            </a:r>
          </a:p>
          <a:p>
            <a:pPr lvl="0"/>
            <a:r>
              <a:rPr lang="fr-FR" sz="1200" i="0" kern="1200" dirty="0" smtClean="0">
                <a:solidFill>
                  <a:schemeClr val="tx1"/>
                </a:solidFill>
                <a:latin typeface="+mn-lt"/>
                <a:ea typeface="+mn-ea"/>
                <a:cs typeface="+mn-cs"/>
              </a:rPr>
              <a:t>  - biomarqueurs de l’inflammation: élévation de la CRP;</a:t>
            </a:r>
          </a:p>
          <a:p>
            <a:r>
              <a:rPr lang="fr-FR" sz="1200" i="0" kern="1200" dirty="0" smtClean="0">
                <a:solidFill>
                  <a:schemeClr val="tx1"/>
                </a:solidFill>
                <a:latin typeface="+mn-lt"/>
                <a:ea typeface="+mn-ea"/>
                <a:cs typeface="+mn-cs"/>
              </a:rPr>
              <a:t>  - imagerie:</a:t>
            </a:r>
          </a:p>
          <a:p>
            <a:r>
              <a:rPr lang="fr-FR" sz="1200" i="0" kern="1200" dirty="0" smtClean="0">
                <a:solidFill>
                  <a:schemeClr val="tx1"/>
                </a:solidFill>
                <a:latin typeface="+mn-lt"/>
                <a:ea typeface="+mn-ea"/>
                <a:cs typeface="+mn-cs"/>
              </a:rPr>
              <a:t>      -</a:t>
            </a:r>
            <a:r>
              <a:rPr lang="fr-FR" sz="1200" i="0" kern="1200" baseline="0" dirty="0" smtClean="0">
                <a:solidFill>
                  <a:schemeClr val="tx1"/>
                </a:solidFill>
                <a:latin typeface="+mn-lt"/>
                <a:ea typeface="+mn-ea"/>
                <a:cs typeface="+mn-cs"/>
              </a:rPr>
              <a:t> présence d’un épanchement péricardique nouveau ou d’abondance croissante à  l’échocardiographie;</a:t>
            </a:r>
          </a:p>
          <a:p>
            <a:r>
              <a:rPr lang="fr-FR" sz="1200" i="0" kern="1200" baseline="0" dirty="0" smtClean="0">
                <a:solidFill>
                  <a:schemeClr val="tx1"/>
                </a:solidFill>
                <a:latin typeface="+mn-lt"/>
                <a:ea typeface="+mn-ea"/>
                <a:cs typeface="+mn-cs"/>
              </a:rPr>
              <a:t>      - présence d’un œdème péricardique et/ou un rehaussement tardif à l’IRM;</a:t>
            </a:r>
            <a:endParaRPr lang="fr-FR" sz="1200" i="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Le diagnostic de péricardite est:</a:t>
            </a:r>
          </a:p>
          <a:p>
            <a:r>
              <a:rPr lang="fr-FR" baseline="0" dirty="0" smtClean="0">
                <a:solidFill>
                  <a:srgbClr val="C00000"/>
                </a:solidFill>
                <a:latin typeface="Calibri" pitchFamily="34" charset="0"/>
              </a:rPr>
              <a:t> - certain</a:t>
            </a:r>
            <a:r>
              <a:rPr lang="fr-FR" baseline="0" dirty="0" smtClean="0">
                <a:latin typeface="Calibri" pitchFamily="34" charset="0"/>
              </a:rPr>
              <a:t> </a:t>
            </a:r>
            <a:r>
              <a:rPr lang="fr-FR" b="0" baseline="0" dirty="0" smtClean="0">
                <a:latin typeface="Calibri" pitchFamily="34" charset="0"/>
              </a:rPr>
              <a:t>s’il y a une présentation clinique avec </a:t>
            </a:r>
            <a:r>
              <a:rPr lang="fr-FR" b="0" baseline="0" dirty="0" smtClean="0">
                <a:latin typeface="+mn-lt"/>
              </a:rPr>
              <a:t>plus d’1 critère additionnel</a:t>
            </a:r>
          </a:p>
          <a:p>
            <a:r>
              <a:rPr lang="fr-FR" baseline="0" dirty="0" smtClean="0">
                <a:solidFill>
                  <a:srgbClr val="FA8006"/>
                </a:solidFill>
                <a:latin typeface="+mn-lt"/>
              </a:rPr>
              <a:t> - possible </a:t>
            </a:r>
            <a:r>
              <a:rPr lang="fr-FR" b="0" baseline="0" dirty="0" smtClean="0">
                <a:latin typeface="Calibri" pitchFamily="34" charset="0"/>
              </a:rPr>
              <a:t>s’il y a une</a:t>
            </a:r>
            <a:r>
              <a:rPr lang="fr-FR" baseline="0" dirty="0" smtClean="0">
                <a:latin typeface="+mn-lt"/>
              </a:rPr>
              <a:t> </a:t>
            </a:r>
            <a:r>
              <a:rPr lang="fr-FR" b="0" baseline="0" dirty="0" smtClean="0">
                <a:latin typeface="+mn-lt"/>
              </a:rPr>
              <a:t>présentation</a:t>
            </a:r>
            <a:r>
              <a:rPr lang="fr-FR" baseline="0" dirty="0" smtClean="0">
                <a:latin typeface="+mn-lt"/>
              </a:rPr>
              <a:t> </a:t>
            </a:r>
            <a:r>
              <a:rPr lang="fr-FR" b="0" baseline="0" dirty="0" smtClean="0">
                <a:latin typeface="+mn-lt"/>
              </a:rPr>
              <a:t>clinique avec 1 seul critère additionnel</a:t>
            </a:r>
          </a:p>
          <a:p>
            <a:pPr>
              <a:spcAft>
                <a:spcPts val="600"/>
              </a:spcAft>
            </a:pPr>
            <a:r>
              <a:rPr lang="fr-FR" baseline="0" dirty="0" smtClean="0">
                <a:solidFill>
                  <a:srgbClr val="0070C0"/>
                </a:solidFill>
                <a:latin typeface="+mn-lt"/>
              </a:rPr>
              <a:t> - peu probable, rejeté,</a:t>
            </a:r>
            <a:r>
              <a:rPr lang="fr-FR" baseline="0" dirty="0" smtClean="0">
                <a:latin typeface="+mn-lt"/>
              </a:rPr>
              <a:t> </a:t>
            </a:r>
            <a:r>
              <a:rPr lang="fr-FR" b="0" baseline="0" dirty="0" smtClean="0">
                <a:latin typeface="+mn-lt"/>
              </a:rPr>
              <a:t>face à une</a:t>
            </a:r>
            <a:r>
              <a:rPr lang="fr-FR" baseline="0" dirty="0" smtClean="0">
                <a:latin typeface="+mn-lt"/>
              </a:rPr>
              <a:t> </a:t>
            </a:r>
            <a:r>
              <a:rPr lang="fr-FR" b="0" baseline="0" dirty="0" smtClean="0">
                <a:latin typeface="+mn-lt"/>
              </a:rPr>
              <a:t>présentation clinique seule</a:t>
            </a:r>
          </a:p>
          <a:p>
            <a:pPr>
              <a:spcAft>
                <a:spcPts val="600"/>
              </a:spcAft>
            </a:pPr>
            <a:endParaRPr lang="fr-FR" b="0" baseline="0" dirty="0" smtClean="0">
              <a:latin typeface="+mn-lt"/>
            </a:endParaRPr>
          </a:p>
          <a:p>
            <a:pPr>
              <a:spcAft>
                <a:spcPts val="600"/>
              </a:spcAft>
            </a:pPr>
            <a:r>
              <a:rPr lang="fr-FR" b="0" baseline="0" dirty="0" smtClean="0">
                <a:latin typeface="+mn-lt"/>
              </a:rPr>
              <a:t>Formes évolutives:</a:t>
            </a:r>
          </a:p>
          <a:p>
            <a:r>
              <a:rPr lang="fr-FR" sz="1200" i="0" dirty="0" smtClean="0">
                <a:sym typeface="Symbol" pitchFamily="18" charset="2"/>
              </a:rPr>
              <a:t>Selon la durée de l’épisode initial, ou la réapparition d’un nouvel épisode après guérison,</a:t>
            </a:r>
            <a:r>
              <a:rPr lang="fr-FR" sz="1200" i="0" baseline="0" dirty="0" smtClean="0">
                <a:sym typeface="Symbol" pitchFamily="18" charset="2"/>
              </a:rPr>
              <a:t> </a:t>
            </a:r>
            <a:r>
              <a:rPr lang="fr-FR" sz="1200" i="0" dirty="0" smtClean="0">
                <a:sym typeface="Symbol" pitchFamily="18" charset="2"/>
              </a:rPr>
              <a:t>on distinguera</a:t>
            </a:r>
          </a:p>
          <a:p>
            <a:r>
              <a:rPr lang="fr-FR" sz="1200" i="0" dirty="0" smtClean="0">
                <a:sym typeface="Symbol" pitchFamily="18" charset="2"/>
              </a:rPr>
              <a:t>- La forme aigue qui dure moins de 4 semaines</a:t>
            </a:r>
          </a:p>
          <a:p>
            <a:r>
              <a:rPr lang="fr-FR" sz="1200" i="0" dirty="0" smtClean="0">
                <a:sym typeface="Symbol" pitchFamily="18" charset="2"/>
              </a:rPr>
              <a:t>- La formes </a:t>
            </a:r>
            <a:r>
              <a:rPr lang="fr-FR" sz="1200" i="0" dirty="0" err="1" smtClean="0">
                <a:sym typeface="Symbol" pitchFamily="18" charset="2"/>
              </a:rPr>
              <a:t>sub</a:t>
            </a:r>
            <a:r>
              <a:rPr lang="fr-FR" sz="1200" i="0" dirty="0" smtClean="0">
                <a:sym typeface="Symbol" pitchFamily="18" charset="2"/>
              </a:rPr>
              <a:t> aigue qui dure entre 4 semaines et 3 mois</a:t>
            </a:r>
          </a:p>
          <a:p>
            <a:r>
              <a:rPr lang="fr-FR" sz="1200" i="0" dirty="0" smtClean="0">
                <a:sym typeface="Symbol" pitchFamily="18" charset="2"/>
              </a:rPr>
              <a:t>- La forme récidivante qui survient après rémission d’un 1</a:t>
            </a:r>
            <a:r>
              <a:rPr lang="fr-FR" sz="1200" i="0" baseline="30000" dirty="0" smtClean="0">
                <a:sym typeface="Symbol" pitchFamily="18" charset="2"/>
              </a:rPr>
              <a:t>er</a:t>
            </a:r>
            <a:r>
              <a:rPr lang="fr-FR" sz="1200" i="0" dirty="0" smtClean="0">
                <a:sym typeface="Symbol" pitchFamily="18" charset="2"/>
              </a:rPr>
              <a:t> épisode</a:t>
            </a:r>
          </a:p>
          <a:p>
            <a:r>
              <a:rPr lang="fr-FR" sz="1200" i="0" dirty="0" smtClean="0">
                <a:sym typeface="Symbol" pitchFamily="18" charset="2"/>
              </a:rPr>
              <a:t>- La</a:t>
            </a:r>
            <a:r>
              <a:rPr lang="fr-FR" sz="1200" i="0" baseline="0" dirty="0" smtClean="0">
                <a:sym typeface="Symbol" pitchFamily="18" charset="2"/>
              </a:rPr>
              <a:t> forme </a:t>
            </a:r>
            <a:r>
              <a:rPr lang="fr-FR" sz="1200" i="0" dirty="0" smtClean="0">
                <a:sym typeface="Symbol" pitchFamily="18" charset="2"/>
              </a:rPr>
              <a:t>chronique qui persiste au-delà de 3 mois</a:t>
            </a:r>
          </a:p>
          <a:p>
            <a:r>
              <a:rPr lang="fr-FR" sz="1200" i="0" dirty="0" smtClean="0">
                <a:sym typeface="Symbol" pitchFamily="18" charset="2"/>
              </a:rPr>
              <a:t>La</a:t>
            </a:r>
            <a:r>
              <a:rPr lang="fr-FR" sz="1200" i="0" baseline="0" dirty="0" smtClean="0">
                <a:sym typeface="Symbol" pitchFamily="18" charset="2"/>
              </a:rPr>
              <a:t> récidive se produit généralement dans les 18 mois après un 1</a:t>
            </a:r>
            <a:r>
              <a:rPr lang="fr-FR" sz="1200" i="0" baseline="30000" dirty="0" smtClean="0">
                <a:sym typeface="Symbol" pitchFamily="18" charset="2"/>
              </a:rPr>
              <a:t>er</a:t>
            </a:r>
            <a:r>
              <a:rPr lang="fr-FR" sz="1200" i="0" baseline="0" dirty="0" smtClean="0">
                <a:sym typeface="Symbol" pitchFamily="18" charset="2"/>
              </a:rPr>
              <a:t> épisode, et est favorisée par un traitement inadéquat: phase de dégression trop rapide, non association de colchicine, corticothérapie.</a:t>
            </a:r>
            <a:endParaRPr lang="fr-FR" b="0" i="0" baseline="0" dirty="0" smtClean="0">
              <a:latin typeface="+mn-lt"/>
            </a:endParaRPr>
          </a:p>
          <a:p>
            <a:endParaRPr lang="fr-FR" i="0" dirty="0" smtClean="0"/>
          </a:p>
        </p:txBody>
      </p:sp>
      <p:sp>
        <p:nvSpPr>
          <p:cNvPr id="83972"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742C672-9501-4827-BF74-31AD52066E90}" type="slidenum">
              <a:rPr lang="fr-FR" smtClean="0"/>
              <a:pPr/>
              <a:t>26</a:t>
            </a:fld>
            <a:endParaRPr lang="fr-FR" dirty="0"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82947"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r>
              <a:rPr lang="fr-FR" dirty="0" smtClean="0"/>
              <a:t>VIII-</a:t>
            </a:r>
            <a:r>
              <a:rPr lang="fr-FR" baseline="0" dirty="0" smtClean="0"/>
              <a:t> LES MYOCARDITES</a:t>
            </a:r>
          </a:p>
          <a:p>
            <a:r>
              <a:rPr lang="fr-FR" dirty="0" smtClean="0"/>
              <a:t>La myocardite correspond à un état inflammatoire du myocarde avec des manifestations et des implications pronostiques variables.</a:t>
            </a:r>
          </a:p>
        </p:txBody>
      </p:sp>
      <p:sp>
        <p:nvSpPr>
          <p:cNvPr id="82948"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09323FC-2D83-4D87-8D70-332B8AF02F03}" type="slidenum">
              <a:rPr lang="fr-FR" smtClean="0"/>
              <a:pPr/>
              <a:t>27</a:t>
            </a:fld>
            <a:endParaRPr lang="fr-FR"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fr-FR" b="1" dirty="0" smtClean="0"/>
              <a:t>A-Présentation clinique:</a:t>
            </a:r>
          </a:p>
          <a:p>
            <a:pPr marL="0" marR="0" indent="0" algn="l" defTabSz="914400" rtl="0" eaLnBrk="0" fontAlgn="base" latinLnBrk="0" hangingPunct="0">
              <a:lnSpc>
                <a:spcPct val="100000"/>
              </a:lnSpc>
              <a:spcBef>
                <a:spcPct val="30000"/>
              </a:spcBef>
              <a:spcAft>
                <a:spcPct val="0"/>
              </a:spcAft>
              <a:buClrTx/>
              <a:buSzTx/>
              <a:buFontTx/>
              <a:buNone/>
              <a:tabLst/>
              <a:defRPr/>
            </a:pPr>
            <a:r>
              <a:rPr lang="fr-FR" b="0" u="none" dirty="0" smtClean="0"/>
              <a:t>1- </a:t>
            </a:r>
            <a:r>
              <a:rPr lang="fr-FR" b="0" u="sng" dirty="0" smtClean="0"/>
              <a:t>signes</a:t>
            </a:r>
            <a:r>
              <a:rPr lang="fr-FR" b="0" u="sng" baseline="0" dirty="0" smtClean="0"/>
              <a:t> d’alerte (red flags)</a:t>
            </a:r>
            <a:r>
              <a:rPr lang="fr-FR" b="0" u="none" baseline="0" dirty="0" smtClean="0"/>
              <a:t>:</a:t>
            </a:r>
            <a:endParaRPr lang="fr-FR" b="0" u="none" dirty="0" smtClean="0"/>
          </a:p>
          <a:p>
            <a:r>
              <a:rPr lang="fr-FR" baseline="0" dirty="0" smtClean="0"/>
              <a:t> La myocardite est caractérisée par l’hétérogénéité de ses manifestations cliniques. Le plus souvent c’est un tableau de douleur thoracique pseudo angineuse (symptôme le plus fréquent), d’insuffisance cardiaque ou de trouble rythmique (palpitations, syncope).</a:t>
            </a:r>
          </a:p>
          <a:p>
            <a:pPr marL="0" marR="0" indent="0" algn="l" defTabSz="914400" rtl="0" eaLnBrk="0" fontAlgn="base" latinLnBrk="0" hangingPunct="0">
              <a:lnSpc>
                <a:spcPct val="100000"/>
              </a:lnSpc>
              <a:spcBef>
                <a:spcPct val="30000"/>
              </a:spcBef>
              <a:spcAft>
                <a:spcPct val="0"/>
              </a:spcAft>
              <a:buClrTx/>
              <a:buSzTx/>
              <a:buFontTx/>
              <a:buNone/>
              <a:tabLst/>
              <a:defRPr/>
            </a:pPr>
            <a:r>
              <a:rPr lang="fr-FR" baseline="0" dirty="0" smtClean="0"/>
              <a:t> Une interaction complexe entre un contexte génétique et l’inflammation cardiaque pourrait expliquer l’</a:t>
            </a:r>
            <a:r>
              <a:rPr lang="fr-FR" baseline="0" dirty="0" err="1" smtClean="0"/>
              <a:t>hétérogénéïté</a:t>
            </a:r>
            <a:r>
              <a:rPr lang="fr-FR" baseline="0" dirty="0" smtClean="0"/>
              <a:t> du tableau clinique des myocardites et ses expressions phénotypiques différentes, hémodynamique ou rythmique. Il est important de rechercher des éléments en faveur du contexte génétique tels qu’une histoire familiale de myocardite, péricardite, mort subite, cardiomyopathie.</a:t>
            </a:r>
          </a:p>
          <a:p>
            <a:r>
              <a:rPr lang="fr-FR" baseline="0" dirty="0" smtClean="0"/>
              <a:t> La présentation clinique va des symptômes modérés jusqu’aux formes graves mettant en jeu le pronostic vital: douleurs thoraciques le plus souvent, dyspnée, plus rarement fatigue, palpitations ou syncopes, précédés dans 80% des cas de troubles </a:t>
            </a:r>
            <a:r>
              <a:rPr lang="fr-FR" baseline="0" dirty="0" err="1" smtClean="0"/>
              <a:t>gastro</a:t>
            </a:r>
            <a:r>
              <a:rPr lang="fr-FR" baseline="0" dirty="0" smtClean="0"/>
              <a:t> intestinaux ou respiratoires.</a:t>
            </a:r>
          </a:p>
          <a:p>
            <a:r>
              <a:rPr lang="fr-FR" baseline="0" dirty="0" smtClean="0"/>
              <a:t> L’ECG est habituellement anormal: sus décalage de ST, anomalies de ST-T, voire troubles conductifs.</a:t>
            </a:r>
          </a:p>
          <a:p>
            <a:r>
              <a:rPr lang="fr-FR" baseline="0" dirty="0" smtClean="0"/>
              <a:t> Les enzymes cardiaques (troponine T-I, CPK-MB) sont élevées chez la majorité des patients</a:t>
            </a:r>
          </a:p>
          <a:p>
            <a:r>
              <a:rPr lang="fr-FR" baseline="0" dirty="0" smtClean="0"/>
              <a:t> L’échocardiographie peut révéler des signes en faveur d’une myocardite: épaississement et </a:t>
            </a:r>
            <a:r>
              <a:rPr lang="fr-FR" baseline="0" dirty="0" err="1" smtClean="0"/>
              <a:t>hyperéchogénicité</a:t>
            </a:r>
            <a:r>
              <a:rPr lang="fr-FR" baseline="0" dirty="0" smtClean="0"/>
              <a:t> d’une paroi liée à l’œdème myocardique. un épanchement péricardique peut être présent (25% des cas) en cas de péricardite associée. </a:t>
            </a:r>
          </a:p>
          <a:p>
            <a:r>
              <a:rPr lang="fr-FR" baseline="0" dirty="0" smtClean="0"/>
              <a:t>L’IRM cardiaque est désormais l’outil de référence pour le diagnostic de myocardite aigue ou chronique., et retrouvera des critères d’inflammation du myocarde ou des lésions cicatricielles.</a:t>
            </a:r>
          </a:p>
          <a:p>
            <a:pPr marL="0" marR="0" indent="0" algn="l" defTabSz="914400" rtl="0" eaLnBrk="0" fontAlgn="base" latinLnBrk="0" hangingPunct="0">
              <a:lnSpc>
                <a:spcPct val="100000"/>
              </a:lnSpc>
              <a:spcBef>
                <a:spcPct val="30000"/>
              </a:spcBef>
              <a:spcAft>
                <a:spcPct val="0"/>
              </a:spcAft>
              <a:buClrTx/>
              <a:buSzTx/>
              <a:buFontTx/>
              <a:buNone/>
              <a:tabLst/>
              <a:defRPr/>
            </a:pPr>
            <a:endParaRPr lang="fr-FR" baseline="0" dirty="0" smtClean="0"/>
          </a:p>
          <a:p>
            <a:endParaRPr lang="fr-FR" dirty="0"/>
          </a:p>
        </p:txBody>
      </p:sp>
      <p:sp>
        <p:nvSpPr>
          <p:cNvPr id="4" name="Espace réservé du numéro de diapositive 3"/>
          <p:cNvSpPr>
            <a:spLocks noGrp="1"/>
          </p:cNvSpPr>
          <p:nvPr>
            <p:ph type="sldNum" sz="quarter" idx="10"/>
          </p:nvPr>
        </p:nvSpPr>
        <p:spPr/>
        <p:txBody>
          <a:bodyPr/>
          <a:lstStyle/>
          <a:p>
            <a:pPr>
              <a:defRPr/>
            </a:pPr>
            <a:fld id="{E6EBECD1-B7A2-420F-A371-7414549FD1BB}" type="slidenum">
              <a:rPr lang="fr-FR" smtClean="0"/>
              <a:pPr>
                <a:defRPr/>
              </a:pPr>
              <a:t>28</a:t>
            </a:fld>
            <a:endParaRPr lang="fr-F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lnSpcReduction="1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fr-FR" baseline="0" dirty="0" smtClean="0"/>
              <a:t>2- </a:t>
            </a:r>
            <a:r>
              <a:rPr lang="fr-FR" u="sng" baseline="0" dirty="0" smtClean="0"/>
              <a:t>formes cliniques </a:t>
            </a:r>
            <a:r>
              <a:rPr lang="fr-FR" baseline="0" dirty="0" smtClean="0"/>
              <a:t>:</a:t>
            </a:r>
          </a:p>
          <a:p>
            <a:pPr marL="0" marR="0" indent="0" algn="l" defTabSz="914400" rtl="0" eaLnBrk="0" fontAlgn="base" latinLnBrk="0" hangingPunct="0">
              <a:lnSpc>
                <a:spcPct val="100000"/>
              </a:lnSpc>
              <a:spcBef>
                <a:spcPct val="30000"/>
              </a:spcBef>
              <a:spcAft>
                <a:spcPct val="0"/>
              </a:spcAft>
              <a:buClrTx/>
              <a:buSzTx/>
              <a:buFontTx/>
              <a:buNone/>
              <a:tabLst/>
              <a:defRPr/>
            </a:pPr>
            <a:r>
              <a:rPr lang="fr-FR" baseline="0" dirty="0" smtClean="0"/>
              <a:t>Le tableau clinique est de gravité variable avec des formes asymptomatiques, pauci symptomatiques, et des manifestations hémodynamiques ou rythmiques. Il est important d’évoquer le diagnostic en présence de signes évocateurs (red flags). La présentation clinique initiale est un des principaux facteur pronostic.</a:t>
            </a:r>
          </a:p>
          <a:p>
            <a:endParaRPr lang="fr-FR" baseline="0" dirty="0" smtClean="0"/>
          </a:p>
          <a:p>
            <a:r>
              <a:rPr lang="fr-FR" baseline="0" dirty="0" smtClean="0"/>
              <a:t>La présentation clinique peut être:</a:t>
            </a:r>
          </a:p>
          <a:p>
            <a:r>
              <a:rPr lang="fr-FR" baseline="0" dirty="0" smtClean="0"/>
              <a:t>1- </a:t>
            </a:r>
            <a:r>
              <a:rPr lang="fr-FR" b="1" i="1" baseline="0" dirty="0" smtClean="0"/>
              <a:t>une douleur thoracique</a:t>
            </a:r>
            <a:r>
              <a:rPr lang="fr-FR" i="1" baseline="0" dirty="0" smtClean="0"/>
              <a:t>: </a:t>
            </a:r>
            <a:r>
              <a:rPr lang="fr-FR" baseline="0" dirty="0" smtClean="0"/>
              <a:t>forme clinique la plus commune, habituellement associé à une élévation des biomarqueurs de nécrose myocardique tel que la troponine, et des anomalies ECG type sus décalage du segment ST, réalisant un tableau pseudo-angineux, posant un problème de diagnostic différentiel avec un syndrome coronaire aigu qui devra être écarté grâce à une imagerie des coronaires. L’interrogatoire retrouve une notion d’infection virale pulmonaire ou gastro-intestinale concomitante ou récente. Un FEVG préservée avec normalisation ECG est associée à un pronostic favorable.</a:t>
            </a:r>
          </a:p>
          <a:p>
            <a:r>
              <a:rPr lang="fr-FR" baseline="0" dirty="0" smtClean="0"/>
              <a:t>2- </a:t>
            </a:r>
            <a:r>
              <a:rPr lang="fr-FR" b="1" i="1" baseline="0" dirty="0" smtClean="0"/>
              <a:t>une défaillance cardiaque</a:t>
            </a:r>
            <a:r>
              <a:rPr lang="fr-FR" i="1" baseline="0" dirty="0" smtClean="0"/>
              <a:t>: </a:t>
            </a:r>
            <a:r>
              <a:rPr lang="fr-FR" i="0" baseline="0" dirty="0" smtClean="0"/>
              <a:t>ces patient font partie du groupe à risque élevé et leur pronostic dépend largement de la réponse au traitement de la défaillance cardiaque. Le tableau clinique va de la dysfonction ventriculaire gauche inexpliquée, l’apparition ou l’aggravation d’une insuffisance cardiaque, jusqu’à l’insuffisance cardiaque réfractaire et au choc cardiogénique. L’IRM cardiaque devra être réalisée sans délai, et une biopsie endomyocardique si nécessaire.</a:t>
            </a:r>
          </a:p>
          <a:p>
            <a:r>
              <a:rPr lang="fr-FR" i="0" baseline="0" dirty="0" smtClean="0"/>
              <a:t>Les formes fulminantes avec insuffisance cardiaque ont une fréquence de décès élevé.</a:t>
            </a:r>
          </a:p>
          <a:p>
            <a:r>
              <a:rPr lang="fr-FR" i="0" baseline="0" dirty="0" smtClean="0"/>
              <a:t>3- </a:t>
            </a:r>
            <a:r>
              <a:rPr lang="fr-FR" b="1" i="1" baseline="0" dirty="0" smtClean="0"/>
              <a:t>un trouble du rythme</a:t>
            </a:r>
            <a:r>
              <a:rPr lang="fr-FR" i="1" baseline="0" dirty="0" smtClean="0"/>
              <a:t>: </a:t>
            </a:r>
            <a:r>
              <a:rPr lang="fr-FR" i="0" baseline="0" dirty="0" smtClean="0"/>
              <a:t>une myocardite aigue peut s’accompagner de la survenue ou la récidive d’un trouble rythmique ou d’une arythmie inexpliquée, et s’exprimer par des palpitations, une syncope ou une mort subite récupérée. </a:t>
            </a:r>
          </a:p>
          <a:p>
            <a:r>
              <a:rPr lang="fr-FR" i="0" baseline="0" dirty="0" smtClean="0"/>
              <a:t>La fibrillation atriale est plus commune aux formes avec péricardite  et épanchement associés. </a:t>
            </a:r>
          </a:p>
          <a:p>
            <a:r>
              <a:rPr lang="fr-FR" i="0" baseline="0" dirty="0" smtClean="0"/>
              <a:t>Les BAV et les TV soutenues sont généralement associées à une dysfonction ventriculaire gauche et à une insuffisance cardiaque.</a:t>
            </a:r>
            <a:endParaRPr lang="fr-FR" i="1" baseline="0" dirty="0" smtClean="0"/>
          </a:p>
          <a:p>
            <a:endParaRPr lang="fr-FR" dirty="0"/>
          </a:p>
        </p:txBody>
      </p:sp>
      <p:sp>
        <p:nvSpPr>
          <p:cNvPr id="4" name="Espace réservé du numéro de diapositive 3"/>
          <p:cNvSpPr>
            <a:spLocks noGrp="1"/>
          </p:cNvSpPr>
          <p:nvPr>
            <p:ph type="sldNum" sz="quarter" idx="10"/>
          </p:nvPr>
        </p:nvSpPr>
        <p:spPr/>
        <p:txBody>
          <a:bodyPr/>
          <a:lstStyle/>
          <a:p>
            <a:pPr>
              <a:defRPr/>
            </a:pPr>
            <a:fld id="{E6EBECD1-B7A2-420F-A371-7414549FD1BB}" type="slidenum">
              <a:rPr lang="fr-FR" smtClean="0"/>
              <a:pPr>
                <a:defRPr/>
              </a:pPr>
              <a:t>29</a:t>
            </a:fld>
            <a:endParaRPr lang="fr-F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83971"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r>
              <a:rPr lang="fr-FR" b="1" dirty="0" smtClean="0"/>
              <a:t>B- CRITERES</a:t>
            </a:r>
            <a:r>
              <a:rPr lang="fr-FR" b="1" baseline="0" dirty="0" smtClean="0"/>
              <a:t> DIAGNOSTIQUES DES MYOCARDITES:</a:t>
            </a:r>
            <a:endParaRPr lang="fr-FR"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fr-FR" dirty="0" smtClean="0"/>
              <a:t>Face à</a:t>
            </a:r>
            <a:r>
              <a:rPr lang="fr-FR" baseline="0" dirty="0" smtClean="0"/>
              <a:t> une</a:t>
            </a:r>
            <a:r>
              <a:rPr lang="fr-FR" dirty="0" smtClean="0"/>
              <a:t> présentation clinique initiale on recherchera des critères additionnels</a:t>
            </a:r>
            <a:r>
              <a:rPr lang="fr-FR" baseline="0" dirty="0" smtClean="0"/>
              <a:t>.</a:t>
            </a:r>
          </a:p>
          <a:p>
            <a:r>
              <a:rPr lang="fr-FR" baseline="0" dirty="0" smtClean="0"/>
              <a:t>Les critères additionnels retenus sont:</a:t>
            </a:r>
          </a:p>
          <a:p>
            <a:r>
              <a:rPr lang="fr-FR" baseline="0" dirty="0" smtClean="0"/>
              <a:t>  - un critère clinique: absence d’éléments en faveur d’un diagnostic différentiel</a:t>
            </a:r>
          </a:p>
          <a:p>
            <a:r>
              <a:rPr lang="fr-FR" baseline="0" dirty="0" smtClean="0"/>
              <a:t>  - un critère ECG: modifications du segment ST et de l’onde T</a:t>
            </a:r>
          </a:p>
          <a:p>
            <a:r>
              <a:rPr lang="fr-FR" baseline="0" dirty="0" smtClean="0"/>
              <a:t>  - un critère biologique (biomarqueurs): élévation de la troponine</a:t>
            </a:r>
          </a:p>
          <a:p>
            <a:r>
              <a:rPr lang="fr-FR" baseline="0" dirty="0" smtClean="0"/>
              <a:t>  - un critère d’imagerie cardiaque:</a:t>
            </a:r>
          </a:p>
          <a:p>
            <a:r>
              <a:rPr lang="fr-FR" baseline="0" dirty="0" smtClean="0"/>
              <a:t>      &gt; à l’échocardiographie: anomalies de la cinétique segmentaire du VG ou anomalies du strain myocardique, altération de la FEVG</a:t>
            </a:r>
          </a:p>
          <a:p>
            <a:r>
              <a:rPr lang="fr-FR" baseline="0" dirty="0" smtClean="0"/>
              <a:t>      &gt;à L’IRM: présence d’un œdème myocardique et/ou d’un rehaussement tardif.</a:t>
            </a:r>
          </a:p>
          <a:p>
            <a:pPr marL="0" marR="0" indent="0" algn="l" defTabSz="914400" rtl="0" eaLnBrk="0" fontAlgn="base" latinLnBrk="0" hangingPunct="0">
              <a:lnSpc>
                <a:spcPct val="100000"/>
              </a:lnSpc>
              <a:spcBef>
                <a:spcPct val="30000"/>
              </a:spcBef>
              <a:spcAft>
                <a:spcPct val="0"/>
              </a:spcAft>
              <a:buClrTx/>
              <a:buSzTx/>
              <a:buFontTx/>
              <a:buNone/>
              <a:tabLst/>
              <a:defRPr/>
            </a:pPr>
            <a:endParaRPr lang="fr-FR" dirty="0" smtClean="0"/>
          </a:p>
          <a:p>
            <a:r>
              <a:rPr lang="fr-FR" baseline="0" dirty="0" smtClean="0"/>
              <a:t>- Le diagnostic de myocardite est certain en présence d’un tableau clinique évocateur et un examen IRM ou des résultats de biopsie endomyocardique confirmant la myocardite.</a:t>
            </a:r>
          </a:p>
          <a:p>
            <a:r>
              <a:rPr lang="fr-FR" baseline="0" dirty="0" smtClean="0"/>
              <a:t>- Le diagnostic de myocardite sera possible si la présentation clinique est évocatrice et associée à au moins 1 critère additionnel.</a:t>
            </a:r>
          </a:p>
          <a:p>
            <a:r>
              <a:rPr lang="fr-FR" baseline="0" dirty="0" smtClean="0"/>
              <a:t>- Le diagnostic est peu probable, rejeté, en cas de présentation clinique isolée sans critères additionnels.</a:t>
            </a:r>
          </a:p>
          <a:p>
            <a:endParaRPr lang="fr-FR" baseline="0" dirty="0" smtClean="0"/>
          </a:p>
          <a:p>
            <a:r>
              <a:rPr lang="fr-FR" b="0" u="sng" baseline="0" dirty="0" smtClean="0"/>
              <a:t>Formes évolutives</a:t>
            </a:r>
            <a:r>
              <a:rPr lang="fr-FR" baseline="0" dirty="0" smtClean="0"/>
              <a:t>: 3 stades évolutifs peuvent être retrouvés</a:t>
            </a:r>
          </a:p>
          <a:p>
            <a:r>
              <a:rPr lang="fr-FR" baseline="0" dirty="0" smtClean="0"/>
              <a:t> - </a:t>
            </a:r>
            <a:r>
              <a:rPr lang="fr-FR" i="1" baseline="0" dirty="0" smtClean="0"/>
              <a:t>une forme aigue </a:t>
            </a:r>
            <a:r>
              <a:rPr lang="fr-FR" baseline="0" dirty="0" smtClean="0"/>
              <a:t>avec tableau clinique qui dure moins de 4 semaines, de gravité variable avec parfois des formes compliquées, et qui inclut également les formes fulminantes. La forme fulminante est caractérisée par un tableau clinique initial de choc cardiogénique; une tachycardie ventriculaire soutenue voire une mort subite peuvent également être observées dans cette forme.</a:t>
            </a:r>
          </a:p>
          <a:p>
            <a:r>
              <a:rPr lang="fr-FR" baseline="0" dirty="0" smtClean="0"/>
              <a:t> - </a:t>
            </a:r>
            <a:r>
              <a:rPr lang="fr-FR" i="1" baseline="0" dirty="0" smtClean="0"/>
              <a:t>une forme subaigüe:</a:t>
            </a:r>
            <a:r>
              <a:rPr lang="fr-FR" baseline="0" dirty="0" smtClean="0"/>
              <a:t> avec symptômes qui durent plus d’1 mois et moins de 3 mois; les symptômes ne sont pas spécifiques et les patient peuvent évoluer vers la guérison sans séquelles ou progresser vers une forme chronique ou une cardiomyopathie inflammatoire</a:t>
            </a:r>
          </a:p>
          <a:p>
            <a:r>
              <a:rPr lang="fr-FR" baseline="0" dirty="0" smtClean="0"/>
              <a:t> - </a:t>
            </a:r>
            <a:r>
              <a:rPr lang="fr-FR" i="1" baseline="0" dirty="0" smtClean="0"/>
              <a:t>une forme chronique: </a:t>
            </a:r>
            <a:r>
              <a:rPr lang="fr-FR" i="0" baseline="0" dirty="0" smtClean="0"/>
              <a:t>myocardite persistant au-delà de 3 mois, aboutissant à un tableau de cardiomyopathie avec VG hypokinétique, la fibrose myocardique pouvant réaliser un substrat </a:t>
            </a:r>
            <a:r>
              <a:rPr lang="fr-FR" i="0" baseline="0" dirty="0" err="1" smtClean="0"/>
              <a:t>arythmogène</a:t>
            </a:r>
            <a:r>
              <a:rPr lang="fr-FR" i="0" baseline="0" dirty="0" smtClean="0"/>
              <a:t>. Dyspnée et palpitations peuvent être les symptômes qui conduisent au diagnostic. Les biomarqueurs de lésion myocardique sont souvent dans les limites de la normale.</a:t>
            </a:r>
          </a:p>
          <a:p>
            <a:endParaRPr lang="fr-FR" i="0" baseline="0" dirty="0" smtClean="0"/>
          </a:p>
          <a:p>
            <a:r>
              <a:rPr lang="fr-FR" i="0" baseline="0" dirty="0" smtClean="0"/>
              <a:t> </a:t>
            </a:r>
          </a:p>
          <a:p>
            <a:r>
              <a:rPr lang="fr-FR" baseline="0" dirty="0" smtClean="0"/>
              <a:t>   </a:t>
            </a:r>
          </a:p>
          <a:p>
            <a:endParaRPr lang="fr-FR" dirty="0" smtClean="0"/>
          </a:p>
        </p:txBody>
      </p:sp>
      <p:sp>
        <p:nvSpPr>
          <p:cNvPr id="83972"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742C672-9501-4827-BF74-31AD52066E90}" type="slidenum">
              <a:rPr lang="fr-FR" smtClean="0"/>
              <a:pPr/>
              <a:t>30</a:t>
            </a:fld>
            <a:endParaRPr lang="fr-FR"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b="1" dirty="0" smtClean="0"/>
              <a:t>IX- TRAITEMENT:</a:t>
            </a:r>
          </a:p>
          <a:p>
            <a:r>
              <a:rPr lang="fr-FR" b="0" dirty="0" smtClean="0"/>
              <a:t>L’objectif</a:t>
            </a:r>
            <a:r>
              <a:rPr lang="fr-FR" b="0" baseline="0" dirty="0" smtClean="0"/>
              <a:t> du traitement des syndromes myopéricardiques inflammatoires est de contrôler les symptômes et de prévenir les complications, surtout les récidives et la mortalité dans les formes compliquées.</a:t>
            </a:r>
          </a:p>
          <a:p>
            <a:r>
              <a:rPr lang="fr-FR" b="0" baseline="0" dirty="0" smtClean="0"/>
              <a:t>Le traitement médical va cibler: les agents infectieux, l’inflammation, les troubles </a:t>
            </a:r>
            <a:r>
              <a:rPr lang="fr-FR" b="0" baseline="0" dirty="0" err="1" smtClean="0"/>
              <a:t>immuno</a:t>
            </a:r>
            <a:r>
              <a:rPr lang="fr-FR" b="0" baseline="0" dirty="0" smtClean="0"/>
              <a:t>-induits, la dysfonction ventriculaire ou l’insuffisance cardiaque en cas de myocardite, les arythmies, et une éventuelle tamponnade ou une constriction péricardique.</a:t>
            </a:r>
          </a:p>
          <a:p>
            <a:endParaRPr lang="fr-FR" b="0" dirty="0"/>
          </a:p>
        </p:txBody>
      </p:sp>
      <p:sp>
        <p:nvSpPr>
          <p:cNvPr id="4" name="Espace réservé du numéro de diapositive 3"/>
          <p:cNvSpPr>
            <a:spLocks noGrp="1"/>
          </p:cNvSpPr>
          <p:nvPr>
            <p:ph type="sldNum" sz="quarter" idx="10"/>
          </p:nvPr>
        </p:nvSpPr>
        <p:spPr/>
        <p:txBody>
          <a:bodyPr/>
          <a:lstStyle/>
          <a:p>
            <a:fld id="{F267D614-A403-4847-9522-E840C6A8F7A8}" type="slidenum">
              <a:rPr lang="fr-FR" smtClean="0"/>
              <a:pPr/>
              <a:t>32</a:t>
            </a:fld>
            <a:endParaRPr lang="fr-F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A- Mesures</a:t>
            </a:r>
            <a:r>
              <a:rPr lang="fr-FR" baseline="0" dirty="0" smtClean="0"/>
              <a:t> générales communes:</a:t>
            </a:r>
          </a:p>
          <a:p>
            <a:r>
              <a:rPr lang="fr-FR" baseline="0" dirty="0" smtClean="0"/>
              <a:t>La restriction physique est un volet important du traitement non pharmacologique des SMPI et le repos sera indispensable durant la phase aigue. </a:t>
            </a:r>
          </a:p>
          <a:p>
            <a:r>
              <a:rPr lang="fr-FR" baseline="0" dirty="0" smtClean="0"/>
              <a:t>La rémission nécessite au moins 1 mois de repos mais parfois plus et la durée devra être adaptée à chaque cas selon la gravité et l’évolution.</a:t>
            </a:r>
          </a:p>
          <a:p>
            <a:r>
              <a:rPr lang="fr-FR" baseline="0" dirty="0" smtClean="0"/>
              <a:t>En cas de myocardite la pratique de sport intensif est contre indiquée pendant 3 à </a:t>
            </a:r>
            <a:r>
              <a:rPr lang="fr-FR" baseline="0" smtClean="0"/>
              <a:t>6 mois.</a:t>
            </a:r>
            <a:endParaRPr lang="fr-FR" dirty="0"/>
          </a:p>
        </p:txBody>
      </p:sp>
      <p:sp>
        <p:nvSpPr>
          <p:cNvPr id="4" name="Espace réservé du numéro de diapositive 3"/>
          <p:cNvSpPr>
            <a:spLocks noGrp="1"/>
          </p:cNvSpPr>
          <p:nvPr>
            <p:ph type="sldNum" sz="quarter" idx="10"/>
          </p:nvPr>
        </p:nvSpPr>
        <p:spPr/>
        <p:txBody>
          <a:bodyPr/>
          <a:lstStyle/>
          <a:p>
            <a:fld id="{F267D614-A403-4847-9522-E840C6A8F7A8}" type="slidenum">
              <a:rPr lang="fr-FR" smtClean="0"/>
              <a:pPr/>
              <a:t>33</a:t>
            </a:fld>
            <a:endParaRPr lang="fr-F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96259"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r>
              <a:rPr lang="fr-FR" b="0" i="0" dirty="0" smtClean="0"/>
              <a:t>B- Traitement des péricardites</a:t>
            </a:r>
          </a:p>
          <a:p>
            <a:r>
              <a:rPr lang="fr-FR" b="0" i="0" dirty="0" smtClean="0"/>
              <a:t>Le but du traitement des péricardites est d’assurer le contrôle</a:t>
            </a:r>
            <a:r>
              <a:rPr lang="fr-FR" b="0" i="0" baseline="0" dirty="0" smtClean="0"/>
              <a:t> de la douleur, d’</a:t>
            </a:r>
            <a:r>
              <a:rPr lang="fr-FR" b="0" i="0" baseline="0" dirty="0" err="1" smtClean="0"/>
              <a:t>accélerer</a:t>
            </a:r>
            <a:r>
              <a:rPr lang="fr-FR" b="0" i="0" baseline="0" dirty="0" smtClean="0"/>
              <a:t> la </a:t>
            </a:r>
            <a:r>
              <a:rPr lang="fr-FR" b="0" i="0" baseline="0" dirty="0" err="1" smtClean="0"/>
              <a:t>remission</a:t>
            </a:r>
            <a:r>
              <a:rPr lang="fr-FR" b="0" i="0" baseline="0" dirty="0" smtClean="0"/>
              <a:t>, et d’éviter les complications en particulier les récidives et la constriction.</a:t>
            </a:r>
            <a:endParaRPr lang="fr-FR" b="0" i="0" dirty="0" smtClean="0"/>
          </a:p>
          <a:p>
            <a:r>
              <a:rPr lang="fr-FR" b="1" dirty="0" smtClean="0"/>
              <a:t>1- Tri des patients</a:t>
            </a:r>
          </a:p>
          <a:p>
            <a:r>
              <a:rPr lang="fr-FR" dirty="0" smtClean="0"/>
              <a:t>Si on hospitalise un patient présentant une suspicion de péricardite aiguë c’est parce qu’on craint une évolution rapidement défavorable (tamponnade),</a:t>
            </a:r>
            <a:r>
              <a:rPr lang="fr-FR" baseline="0" dirty="0" smtClean="0"/>
              <a:t> le développement d’une constriction, </a:t>
            </a:r>
            <a:r>
              <a:rPr lang="fr-FR" dirty="0" smtClean="0"/>
              <a:t>et/ou parce qu’on suspecte une étiologie inhabituelle.</a:t>
            </a:r>
          </a:p>
        </p:txBody>
      </p:sp>
      <p:sp>
        <p:nvSpPr>
          <p:cNvPr id="96260"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BF13586-5662-40F4-8AC2-D9931B7D1A11}" type="slidenum">
              <a:rPr lang="fr-FR" smtClean="0"/>
              <a:pPr/>
              <a:t>34</a:t>
            </a:fld>
            <a:endParaRPr lang="fr-FR"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Algorithme pour le diagnostic et le tri des patients avec suspicion de péricardite.</a:t>
            </a:r>
          </a:p>
          <a:p>
            <a:r>
              <a:rPr lang="fr-FR" smtClean="0"/>
              <a:t>Un</a:t>
            </a:r>
            <a:r>
              <a:rPr lang="fr-FR" baseline="0" smtClean="0"/>
              <a:t> </a:t>
            </a:r>
            <a:r>
              <a:rPr lang="fr-FR" baseline="0" dirty="0" smtClean="0"/>
              <a:t>patient à haut risque doit être hospitalisé et une enquête </a:t>
            </a:r>
            <a:r>
              <a:rPr lang="fr-FR" baseline="0" smtClean="0"/>
              <a:t>étiologique devra </a:t>
            </a:r>
            <a:r>
              <a:rPr lang="fr-FR" baseline="0" dirty="0" smtClean="0"/>
              <a:t>être menée.</a:t>
            </a:r>
          </a:p>
          <a:p>
            <a:r>
              <a:rPr lang="fr-FR" baseline="0" dirty="0" smtClean="0"/>
              <a:t>En l’absence de situation à haut risque un traitement ambulatoire peut être conduit, et il n’y a pas </a:t>
            </a:r>
            <a:r>
              <a:rPr lang="fr-FR" baseline="0" smtClean="0"/>
              <a:t>nécessité d’envisager une </a:t>
            </a:r>
            <a:r>
              <a:rPr lang="fr-FR" baseline="0" dirty="0" smtClean="0"/>
              <a:t>enquête étiologique si le patient répond au traitement anti-inflammatoire empirique.</a:t>
            </a:r>
            <a:endParaRPr lang="fr-FR" dirty="0"/>
          </a:p>
        </p:txBody>
      </p:sp>
      <p:sp>
        <p:nvSpPr>
          <p:cNvPr id="4" name="Espace réservé du numéro de diapositive 3"/>
          <p:cNvSpPr>
            <a:spLocks noGrp="1"/>
          </p:cNvSpPr>
          <p:nvPr>
            <p:ph type="sldNum" sz="quarter" idx="10"/>
          </p:nvPr>
        </p:nvSpPr>
        <p:spPr/>
        <p:txBody>
          <a:bodyPr/>
          <a:lstStyle/>
          <a:p>
            <a:fld id="{F267D614-A403-4847-9522-E840C6A8F7A8}" type="slidenum">
              <a:rPr lang="fr-FR" smtClean="0"/>
              <a:pPr/>
              <a:t>35</a:t>
            </a:fld>
            <a:endParaRPr lang="fr-F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98307"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r>
              <a:rPr lang="fr-FR" b="1" dirty="0" smtClean="0"/>
              <a:t>2-Traitement pharmacologique:</a:t>
            </a:r>
          </a:p>
          <a:p>
            <a:r>
              <a:rPr lang="fr-FR" b="1" dirty="0" smtClean="0"/>
              <a:t>   a-Traitement</a:t>
            </a:r>
            <a:r>
              <a:rPr lang="fr-FR" b="1" baseline="0" dirty="0" smtClean="0"/>
              <a:t> de première ligne de la péricardite aigue:</a:t>
            </a:r>
            <a:endParaRPr lang="fr-FR" b="1" dirty="0" smtClean="0"/>
          </a:p>
          <a:p>
            <a:r>
              <a:rPr lang="fr-FR" b="0" dirty="0" smtClean="0"/>
              <a:t>Le</a:t>
            </a:r>
            <a:r>
              <a:rPr lang="fr-FR" b="0" baseline="0" dirty="0" smtClean="0"/>
              <a:t> but du traitement est d’assurer un contrôle de la douleur, accélérer la rémission clinique, et prévenir les complications en particulier les récidives et la constriction péricardique.</a:t>
            </a:r>
            <a:endParaRPr lang="fr-FR" b="0" dirty="0" smtClean="0"/>
          </a:p>
          <a:p>
            <a:endParaRPr lang="fr-FR" dirty="0" smtClean="0"/>
          </a:p>
          <a:p>
            <a:r>
              <a:rPr lang="fr-FR" dirty="0" smtClean="0"/>
              <a:t>L’aspirine et les autres anti-inflammatoires non stéroïdiens (AINS) sont les médicaments principaux de la péricardite aiguë, recommandés en traitement de première intention , associés à une protection gastrique par IPP.</a:t>
            </a:r>
            <a:r>
              <a:rPr lang="fr-FR" b="1" i="1" dirty="0" smtClean="0"/>
              <a:t> </a:t>
            </a:r>
          </a:p>
          <a:p>
            <a:r>
              <a:rPr lang="fr-FR" dirty="0" smtClean="0"/>
              <a:t>La dose initiale doit être poursuivie jusqu’à la résolution des symptômes</a:t>
            </a:r>
            <a:r>
              <a:rPr lang="fr-FR" baseline="0" dirty="0" smtClean="0"/>
              <a:t> </a:t>
            </a:r>
            <a:r>
              <a:rPr lang="fr-FR" dirty="0" smtClean="0"/>
              <a:t>et la normalisation de la CRP, puis une décroissance posologique doit être envisagée.</a:t>
            </a:r>
          </a:p>
          <a:p>
            <a:r>
              <a:rPr lang="fr-FR" dirty="0" smtClean="0"/>
              <a:t>La colchicine, est recommandée en traitement de </a:t>
            </a:r>
            <a:r>
              <a:rPr lang="fr-FR" u="sng" dirty="0" smtClean="0"/>
              <a:t>première intention en association au traitement par aspirine</a:t>
            </a:r>
            <a:r>
              <a:rPr lang="fr-FR" u="sng" baseline="0" dirty="0" smtClean="0"/>
              <a:t> ou </a:t>
            </a:r>
            <a:r>
              <a:rPr lang="fr-FR" u="sng" dirty="0" smtClean="0"/>
              <a:t>AINS</a:t>
            </a:r>
            <a:r>
              <a:rPr lang="fr-FR" u="sng" baseline="0" dirty="0" smtClean="0"/>
              <a:t>.</a:t>
            </a:r>
            <a:endParaRPr lang="fr-FR" dirty="0" smtClean="0"/>
          </a:p>
          <a:p>
            <a:r>
              <a:rPr lang="fr-FR" dirty="0" smtClean="0"/>
              <a:t>Le traitement d’une péricardite aiguë repose donc aujourd’hui systématiquement sur l’association d’un AINS ou d’aspirine pendant </a:t>
            </a:r>
            <a:r>
              <a:rPr lang="fr-FR" b="1" dirty="0" smtClean="0"/>
              <a:t>4 à 8 semaines </a:t>
            </a:r>
            <a:r>
              <a:rPr lang="fr-FR" dirty="0" smtClean="0"/>
              <a:t>avec de la colchicine pendant 3 mois.</a:t>
            </a:r>
          </a:p>
          <a:p>
            <a:endParaRPr lang="fr-FR"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u="none" dirty="0" smtClean="0"/>
              <a:t>Un</a:t>
            </a:r>
            <a:r>
              <a:rPr lang="fr-FR" u="none" baseline="0" dirty="0" smtClean="0"/>
              <a:t> traitement beta bloqueur peut être utile pour ralentir la fréquence cardiaque et le frottement péricardique en cas de pouls supérieur à 75/minute avec douleur persistante.</a:t>
            </a:r>
            <a:endParaRPr lang="fr-FR" u="sng" dirty="0" smtClean="0"/>
          </a:p>
          <a:p>
            <a:endParaRPr lang="fr-FR" dirty="0" smtClean="0"/>
          </a:p>
          <a:p>
            <a:r>
              <a:rPr lang="fr-FR" b="1" dirty="0" smtClean="0"/>
              <a:t>Les corticoïdes ne sont pas recommandés en traitement de première intention de la péricardite aiguë. Il est bien démontré qu’ils favorisent les récidives et le passage à la chronicité</a:t>
            </a:r>
            <a:r>
              <a:rPr lang="fr-FR" b="0" dirty="0" smtClean="0"/>
              <a:t>.</a:t>
            </a:r>
            <a:endParaRPr lang="fr-FR" dirty="0" smtClean="0"/>
          </a:p>
          <a:p>
            <a:r>
              <a:rPr lang="fr-FR" dirty="0" smtClean="0"/>
              <a:t>Des corticoïdes à dose</a:t>
            </a:r>
            <a:r>
              <a:rPr lang="fr-FR" baseline="0" dirty="0" smtClean="0"/>
              <a:t> faible à modérée</a:t>
            </a:r>
            <a:r>
              <a:rPr lang="fr-FR" dirty="0" smtClean="0"/>
              <a:t>, </a:t>
            </a:r>
            <a:r>
              <a:rPr lang="fr-FR" u="sng" dirty="0" smtClean="0"/>
              <a:t>associés à la colchicine</a:t>
            </a:r>
            <a:r>
              <a:rPr lang="fr-FR" dirty="0" smtClean="0"/>
              <a:t>, seront envisagés en 1</a:t>
            </a:r>
            <a:r>
              <a:rPr lang="fr-FR" baseline="30000" dirty="0" smtClean="0"/>
              <a:t>ère</a:t>
            </a:r>
            <a:r>
              <a:rPr lang="fr-FR" dirty="0" smtClean="0"/>
              <a:t> intention en cas de péricardite aiguë avec une contre-indication ou une intolérance à l’aspirine</a:t>
            </a:r>
            <a:r>
              <a:rPr lang="fr-FR" baseline="0" dirty="0" smtClean="0"/>
              <a:t> ou aux</a:t>
            </a:r>
            <a:r>
              <a:rPr lang="fr-FR" dirty="0" smtClean="0"/>
              <a:t> AINS, et quand une cause infectieuse a été exclue; ils seront également prescrits quand il y a une indication spécifique telle qu’une maladie auto immune, et chez</a:t>
            </a:r>
            <a:r>
              <a:rPr lang="fr-FR" baseline="0" dirty="0" smtClean="0"/>
              <a:t> la femme enceinte</a:t>
            </a:r>
            <a:r>
              <a:rPr lang="fr-FR" sz="1200" kern="1200" dirty="0" smtClean="0">
                <a:solidFill>
                  <a:schemeClr val="tx1"/>
                </a:solidFill>
                <a:latin typeface="+mn-lt"/>
                <a:ea typeface="+mn-ea"/>
                <a:cs typeface="+mn-cs"/>
              </a:rPr>
              <a:t>. Envisager leur décroissance dès la normalisation de la CRP.</a:t>
            </a:r>
          </a:p>
          <a:p>
            <a:endParaRPr lang="fr-FR"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Il est utile de revoir le patient au 7e jour puis à 1, 3 et 6 mois, pour vérifier l’absence de symptômes, la normalité de la CRP et de l’échographie, et organiser le sevrage en AINS et colchicine. Toute anomalie détectée dans ce cadre pourra justifier un bilan étiologique plus complet.</a:t>
            </a:r>
          </a:p>
          <a:p>
            <a:pPr marL="0" marR="0" indent="0" algn="l" defTabSz="914400" rtl="0" eaLnBrk="1" fontAlgn="auto" latinLnBrk="0" hangingPunct="1">
              <a:lnSpc>
                <a:spcPct val="100000"/>
              </a:lnSpc>
              <a:spcBef>
                <a:spcPts val="0"/>
              </a:spcBef>
              <a:spcAft>
                <a:spcPts val="0"/>
              </a:spcAft>
              <a:buClrTx/>
              <a:buSzTx/>
              <a:buFontTx/>
              <a:buNone/>
              <a:tabLst/>
              <a:defRPr/>
            </a:pPr>
            <a:endParaRPr lang="fr-FR" dirty="0" smtClean="0"/>
          </a:p>
          <a:p>
            <a:endParaRPr lang="fr-FR" dirty="0" smtClean="0"/>
          </a:p>
          <a:p>
            <a:endParaRPr lang="fr-FR" dirty="0" smtClean="0"/>
          </a:p>
          <a:p>
            <a:endParaRPr lang="fr-FR" dirty="0" smtClean="0"/>
          </a:p>
        </p:txBody>
      </p:sp>
      <p:sp>
        <p:nvSpPr>
          <p:cNvPr id="98308"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A4736C7-0E92-4C0A-B2E9-C1BE7006642D}" type="slidenum">
              <a:rPr lang="fr-FR" smtClean="0"/>
              <a:pPr/>
              <a:t>37</a:t>
            </a:fld>
            <a:endParaRPr lang="fr-FR"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3" name="Espace réservé des commentaires 2"/>
          <p:cNvSpPr>
            <a:spLocks noGrp="1"/>
          </p:cNvSpPr>
          <p:nvPr>
            <p:ph type="body" idx="1"/>
          </p:nvPr>
        </p:nvSpPr>
        <p:spPr/>
        <p:txBody>
          <a:bodyPr>
            <a:normAutofit fontScale="85000" lnSpcReduction="20000"/>
          </a:bodyPr>
          <a:lstStyle/>
          <a:p>
            <a:pPr>
              <a:defRPr/>
            </a:pPr>
            <a:r>
              <a:rPr lang="fr-FR" b="1" dirty="0" smtClean="0"/>
              <a:t>b-Traitement de la forme récidivante</a:t>
            </a:r>
            <a:r>
              <a:rPr lang="fr-FR" dirty="0" smtClean="0"/>
              <a:t>:</a:t>
            </a:r>
          </a:p>
          <a:p>
            <a:pPr>
              <a:defRPr/>
            </a:pPr>
            <a:r>
              <a:rPr lang="fr-FR" dirty="0" smtClean="0"/>
              <a:t>En cas d’échec à l’association AINS/colchicine les corticoïdes sont envisagés toujours  à des doses faibles et associés à la colchicine ou à la bithérapie initiale et à doses faible à modérée: </a:t>
            </a:r>
            <a:r>
              <a:rPr lang="fr-FR" u="sng" dirty="0" smtClean="0"/>
              <a:t>0,2 à 0,5 mg/kg/j</a:t>
            </a:r>
            <a:r>
              <a:rPr lang="fr-FR" dirty="0" smtClean="0"/>
              <a:t> de prednisone. Cette dose initiale est maintenue jusqu’à disparition des symptômes et normalisation de la CRP. On procède</a:t>
            </a:r>
            <a:r>
              <a:rPr lang="fr-FR" baseline="0" dirty="0" smtClean="0"/>
              <a:t> ensuite à un sevrage très progressif afin d’éviter l’effet rebond.</a:t>
            </a:r>
            <a:endParaRPr lang="fr-FR" dirty="0" smtClean="0"/>
          </a:p>
          <a:p>
            <a:pPr>
              <a:defRPr/>
            </a:pPr>
            <a:r>
              <a:rPr lang="fr-FR" dirty="0" smtClean="0"/>
              <a:t>Exceptionnellement, en cas de formes réfractaires ou cortico-dépendantes, ou si les AINS</a:t>
            </a:r>
            <a:r>
              <a:rPr lang="fr-FR" baseline="0" dirty="0" smtClean="0"/>
              <a:t> ou les corticoïdes sont contre indiqués ou mal tolérés,</a:t>
            </a:r>
            <a:r>
              <a:rPr lang="fr-FR" dirty="0" smtClean="0"/>
              <a:t> des antagonistes de</a:t>
            </a:r>
            <a:r>
              <a:rPr lang="fr-FR" baseline="0" dirty="0" smtClean="0"/>
              <a:t> l’interleukine-1 sont envisagés pour contrôler l’inflammation.</a:t>
            </a:r>
          </a:p>
          <a:p>
            <a:pPr>
              <a:defRPr/>
            </a:pPr>
            <a:r>
              <a:rPr lang="fr-FR" baseline="0" dirty="0" smtClean="0"/>
              <a:t>En dernier recours l’</a:t>
            </a:r>
            <a:r>
              <a:rPr lang="fr-FR" baseline="0" dirty="0" err="1" smtClean="0"/>
              <a:t>hydroxychloroquine</a:t>
            </a:r>
            <a:r>
              <a:rPr lang="fr-FR" baseline="0" dirty="0" smtClean="0"/>
              <a:t> peut être envisagée dans les formes </a:t>
            </a:r>
            <a:r>
              <a:rPr lang="fr-FR" baseline="0" dirty="0" err="1" smtClean="0"/>
              <a:t>recurrentes</a:t>
            </a:r>
            <a:r>
              <a:rPr lang="fr-FR" baseline="0" dirty="0" smtClean="0"/>
              <a:t> résistantes aux thérapeutiques sus citées.</a:t>
            </a:r>
          </a:p>
          <a:p>
            <a:pPr>
              <a:defRPr/>
            </a:pPr>
            <a:r>
              <a:rPr lang="fr-FR" dirty="0" smtClean="0"/>
              <a:t>Dans</a:t>
            </a:r>
            <a:r>
              <a:rPr lang="fr-FR" baseline="0" dirty="0" smtClean="0"/>
              <a:t> les post lésion cardiaque ( procédure interventionnelle, chirurgie, infarctus) la conduite est la même.</a:t>
            </a:r>
          </a:p>
        </p:txBody>
      </p:sp>
      <p:sp>
        <p:nvSpPr>
          <p:cNvPr id="99332"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C320A95-70AC-4262-9365-C881978875A0}" type="slidenum">
              <a:rPr lang="fr-FR" smtClean="0"/>
              <a:pPr/>
              <a:t>38</a:t>
            </a:fld>
            <a:endParaRPr lang="fr-FR"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C-</a:t>
            </a:r>
            <a:r>
              <a:rPr lang="fr-FR" baseline="0" dirty="0" smtClean="0"/>
              <a:t> Traitement de la myocardite:</a:t>
            </a:r>
            <a:endParaRPr lang="fr-FR" dirty="0" smtClean="0"/>
          </a:p>
          <a:p>
            <a:r>
              <a:rPr lang="fr-FR" dirty="0" smtClean="0"/>
              <a:t> Le</a:t>
            </a:r>
            <a:r>
              <a:rPr lang="fr-FR" baseline="0" dirty="0" smtClean="0"/>
              <a:t> but du traitement est de contrôler les symptômes, surtout la douleur, et d’éviter la survenue de complications.</a:t>
            </a:r>
          </a:p>
          <a:p>
            <a:r>
              <a:rPr lang="fr-FR" dirty="0" smtClean="0"/>
              <a:t>Il dépendra de</a:t>
            </a:r>
            <a:r>
              <a:rPr lang="fr-FR" baseline="0" dirty="0" smtClean="0"/>
              <a:t> la présentation clinique, de la sévérité du tableau clinique et de l’étiologie.</a:t>
            </a:r>
          </a:p>
          <a:p>
            <a:r>
              <a:rPr lang="fr-FR" baseline="0" dirty="0" smtClean="0"/>
              <a:t>     1- </a:t>
            </a:r>
            <a:r>
              <a:rPr lang="fr-FR" u="sng" baseline="0" dirty="0" smtClean="0"/>
              <a:t>traitement pharmacologique</a:t>
            </a:r>
            <a:r>
              <a:rPr lang="fr-FR" baseline="0" dirty="0" smtClean="0"/>
              <a:t>: il comporte plusieurs volets:</a:t>
            </a:r>
          </a:p>
          <a:p>
            <a:r>
              <a:rPr lang="fr-FR" baseline="0" dirty="0" smtClean="0"/>
              <a:t>  a- un traitement sans rapport avec une étiologie spécifique tel que le traitement d’une défaillance cardiaque. Les formes sévères relèvent de l’assistance circulatoire voire de la transplantation cardiaque.</a:t>
            </a:r>
          </a:p>
          <a:p>
            <a:r>
              <a:rPr lang="fr-FR" baseline="0" dirty="0" smtClean="0"/>
              <a:t>  b- un traitement antiarythmique dans les formes compliquées de troubles rythmiques.</a:t>
            </a:r>
          </a:p>
          <a:p>
            <a:r>
              <a:rPr lang="fr-FR" baseline="0" dirty="0" smtClean="0"/>
              <a:t>  c- un traitement étiologique dans les formes à étiologie spécifiques: corticothérapie pour les formes auto-immunes, immunosuppresseurs, antibiotiques…</a:t>
            </a:r>
          </a:p>
          <a:p>
            <a:r>
              <a:rPr lang="fr-FR" baseline="0" dirty="0" smtClean="0"/>
              <a:t>  d- les formes non compliquées: un traitement par aspirine ou anti-inflammatoire non stéroïdien avec protection gastrique pour contrôler la douleur peut être indiqué si nécessaire, en association à la colchicine pour éviter les récidives. Les béta bloquants sont souvent prescrits pour une durée de 6 mois minimum pour prévenir les arythmies et limiter le risque de décès d’origine cardiaque. L’association de colchicine est envisagée pour prévenir les récidives.</a:t>
            </a:r>
          </a:p>
          <a:p>
            <a:endParaRPr lang="fr-FR" dirty="0"/>
          </a:p>
        </p:txBody>
      </p:sp>
      <p:sp>
        <p:nvSpPr>
          <p:cNvPr id="4" name="Espace réservé du numéro de diapositive 3"/>
          <p:cNvSpPr>
            <a:spLocks noGrp="1"/>
          </p:cNvSpPr>
          <p:nvPr>
            <p:ph type="sldNum" sz="quarter" idx="10"/>
          </p:nvPr>
        </p:nvSpPr>
        <p:spPr/>
        <p:txBody>
          <a:bodyPr/>
          <a:lstStyle/>
          <a:p>
            <a:fld id="{F267D614-A403-4847-9522-E840C6A8F7A8}" type="slidenum">
              <a:rPr lang="fr-FR" smtClean="0"/>
              <a:pPr/>
              <a:t>40</a:t>
            </a:fld>
            <a:endParaRPr lang="fr-F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    2- </a:t>
            </a:r>
            <a:r>
              <a:rPr lang="fr-FR" u="sng" dirty="0" smtClean="0"/>
              <a:t>traitement non pharmacologique</a:t>
            </a:r>
            <a:r>
              <a:rPr lang="fr-FR" dirty="0" smtClean="0"/>
              <a:t> pour la</a:t>
            </a:r>
            <a:r>
              <a:rPr lang="fr-FR" baseline="0" dirty="0" smtClean="0"/>
              <a:t> prise en charge des arythmies et la prévention de la mort subite cardiaque:</a:t>
            </a:r>
          </a:p>
          <a:p>
            <a:r>
              <a:rPr lang="fr-FR" baseline="0" dirty="0" smtClean="0"/>
              <a:t> les patients souffrant de myocardite sont exposés aux troubles rythmiques potentiellement mortels et à la défaillance cardiaque. Selon les cas différentes thérapeutiques peuvent être envisagées.</a:t>
            </a:r>
          </a:p>
          <a:p>
            <a:r>
              <a:rPr lang="fr-FR" baseline="0" dirty="0" smtClean="0"/>
              <a:t>a- prévention de la mort subite:</a:t>
            </a:r>
          </a:p>
          <a:p>
            <a:r>
              <a:rPr lang="fr-FR" baseline="0" dirty="0" smtClean="0"/>
              <a:t>  </a:t>
            </a:r>
            <a:r>
              <a:rPr lang="fr-FR" baseline="0" dirty="0" smtClean="0">
                <a:sym typeface="Symbol"/>
              </a:rPr>
              <a:t></a:t>
            </a:r>
            <a:r>
              <a:rPr lang="fr-FR" baseline="0" dirty="0" smtClean="0"/>
              <a:t> en cas de trouble conductif un entrainement </a:t>
            </a:r>
            <a:r>
              <a:rPr lang="fr-FR" baseline="0" dirty="0" smtClean="0"/>
              <a:t>électro-systolique, </a:t>
            </a:r>
            <a:r>
              <a:rPr lang="fr-FR" baseline="0" dirty="0" smtClean="0"/>
              <a:t>temporaire ou définitif </a:t>
            </a:r>
            <a:r>
              <a:rPr lang="fr-FR" baseline="0" dirty="0" smtClean="0"/>
              <a:t>selon l’évolution, est </a:t>
            </a:r>
            <a:r>
              <a:rPr lang="fr-FR" baseline="0" dirty="0" smtClean="0"/>
              <a:t>proposé.</a:t>
            </a:r>
          </a:p>
          <a:p>
            <a:r>
              <a:rPr lang="fr-FR" baseline="0" dirty="0" smtClean="0"/>
              <a:t>  </a:t>
            </a:r>
            <a:r>
              <a:rPr lang="fr-FR" baseline="0" dirty="0" smtClean="0">
                <a:sym typeface="Symbol"/>
              </a:rPr>
              <a:t></a:t>
            </a:r>
            <a:r>
              <a:rPr lang="fr-FR" baseline="0" dirty="0" smtClean="0"/>
              <a:t> en présence </a:t>
            </a:r>
            <a:r>
              <a:rPr lang="fr-FR" baseline="0" dirty="0" smtClean="0"/>
              <a:t>myocardite aigue avec tachycardie ventriculaire en présentation clinique initiale le port d’un gilet défibrillateur pour une durée de 3 à 6 mois est recommandée.</a:t>
            </a:r>
            <a:endParaRPr lang="fr-FR" baseline="0" dirty="0" smtClean="0"/>
          </a:p>
          <a:p>
            <a:r>
              <a:rPr lang="fr-FR" baseline="0" dirty="0" smtClean="0"/>
              <a:t>  </a:t>
            </a:r>
            <a:r>
              <a:rPr lang="fr-FR" baseline="0" dirty="0" smtClean="0">
                <a:sym typeface="Symbol"/>
              </a:rPr>
              <a:t></a:t>
            </a:r>
            <a:r>
              <a:rPr lang="fr-FR" baseline="0" dirty="0" smtClean="0"/>
              <a:t> en cas de </a:t>
            </a:r>
            <a:r>
              <a:rPr lang="fr-FR" baseline="0" dirty="0" smtClean="0"/>
              <a:t>TV soutenue sur myocardite non active avec mauvaise tolérance hémodynamique, l’implantation d’un défibrillateur automatique cardiaque est recommandée.</a:t>
            </a:r>
          </a:p>
          <a:p>
            <a:endParaRPr lang="fr-FR" baseline="0" dirty="0" smtClean="0"/>
          </a:p>
          <a:p>
            <a:r>
              <a:rPr lang="fr-FR" baseline="0" dirty="0" smtClean="0"/>
              <a:t> b- prise en charge de la défaillance cardiaque par assistance circulatoire mécanique:</a:t>
            </a:r>
          </a:p>
          <a:p>
            <a:r>
              <a:rPr lang="fr-FR" baseline="0" dirty="0" smtClean="0"/>
              <a:t>  </a:t>
            </a:r>
            <a:r>
              <a:rPr lang="fr-FR" baseline="0" dirty="0" smtClean="0">
                <a:sym typeface="Symbol"/>
              </a:rPr>
              <a:t> pour les myocardites aigues avec choc cardiogénique</a:t>
            </a:r>
          </a:p>
          <a:p>
            <a:r>
              <a:rPr lang="fr-FR" baseline="0" dirty="0" smtClean="0">
                <a:sym typeface="Symbol"/>
              </a:rPr>
              <a:t>   en cas de décompensation cardiaque aigue des myocardites chroniques</a:t>
            </a:r>
          </a:p>
          <a:p>
            <a:r>
              <a:rPr lang="fr-FR" baseline="0" dirty="0" smtClean="0">
                <a:sym typeface="Symbol"/>
              </a:rPr>
              <a:t>  </a:t>
            </a:r>
          </a:p>
          <a:p>
            <a:r>
              <a:rPr lang="fr-FR" baseline="0" dirty="0" smtClean="0">
                <a:sym typeface="Symbol"/>
              </a:rPr>
              <a:t> c- Transplantation cardiaque </a:t>
            </a:r>
            <a:endParaRPr lang="fr-FR" dirty="0"/>
          </a:p>
        </p:txBody>
      </p:sp>
      <p:sp>
        <p:nvSpPr>
          <p:cNvPr id="4" name="Espace réservé du numéro de diapositive 3"/>
          <p:cNvSpPr>
            <a:spLocks noGrp="1"/>
          </p:cNvSpPr>
          <p:nvPr>
            <p:ph type="sldNum" sz="quarter" idx="10"/>
          </p:nvPr>
        </p:nvSpPr>
        <p:spPr/>
        <p:txBody>
          <a:bodyPr/>
          <a:lstStyle/>
          <a:p>
            <a:fld id="{F267D614-A403-4847-9522-E840C6A8F7A8}" type="slidenum">
              <a:rPr lang="fr-FR" smtClean="0"/>
              <a:pPr/>
              <a:t>41</a:t>
            </a:fld>
            <a:endParaRPr lang="fr-F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b="1" dirty="0" smtClean="0"/>
              <a:t>X- PRONOSTIC</a:t>
            </a:r>
            <a:r>
              <a:rPr lang="fr-FR" b="1" dirty="0" smtClean="0"/>
              <a:t>:</a:t>
            </a:r>
          </a:p>
          <a:p>
            <a:r>
              <a:rPr lang="fr-FR" b="0" dirty="0" smtClean="0"/>
              <a:t>La</a:t>
            </a:r>
            <a:r>
              <a:rPr lang="fr-FR" b="0" baseline="0" dirty="0" smtClean="0"/>
              <a:t> présentation clinique initiale représente un des principaux facteurs pronostique.</a:t>
            </a:r>
          </a:p>
          <a:p>
            <a:r>
              <a:rPr lang="fr-FR" b="0" baseline="0" dirty="0" smtClean="0"/>
              <a:t>Les myocardites à faible risque se présentent généralement avec douleur thoracique et fonction biventriculaire préservée, avec bon pronostic à court et à long terme.</a:t>
            </a:r>
          </a:p>
          <a:p>
            <a:r>
              <a:rPr lang="fr-FR" b="0" baseline="0" dirty="0" smtClean="0"/>
              <a:t>Les myocardites avec complications aigue à type de défaillance cardiaque et trouble rythmique ont le plus mauvais pronostic. </a:t>
            </a:r>
          </a:p>
          <a:p>
            <a:pPr marL="0" marR="0" indent="0" algn="l" defTabSz="914400" rtl="0" eaLnBrk="1" fontAlgn="auto" latinLnBrk="0" hangingPunct="1">
              <a:lnSpc>
                <a:spcPct val="100000"/>
              </a:lnSpc>
              <a:spcBef>
                <a:spcPts val="0"/>
              </a:spcBef>
              <a:spcAft>
                <a:spcPts val="0"/>
              </a:spcAft>
              <a:buClrTx/>
              <a:buSzTx/>
              <a:buFontTx/>
              <a:buNone/>
              <a:tabLst/>
              <a:defRPr/>
            </a:pPr>
            <a:r>
              <a:rPr lang="fr-FR" b="0" baseline="0" dirty="0" smtClean="0"/>
              <a:t>-Suivi: les patients avec myocardites à faibles risque (douleur thoracique) peuvent être libérés de l’hôpital dès que le taux des enzymes cardiaques tendent à devenir normal. Le délai de guérison d’une myocardite aigue va de quelques jours à quelques mois, avec rechute dans 10% des cas. </a:t>
            </a:r>
          </a:p>
          <a:p>
            <a:pPr marL="0" marR="0" indent="0" algn="l" defTabSz="914400" rtl="0" eaLnBrk="1" fontAlgn="auto" latinLnBrk="0" hangingPunct="1">
              <a:lnSpc>
                <a:spcPct val="100000"/>
              </a:lnSpc>
              <a:spcBef>
                <a:spcPts val="0"/>
              </a:spcBef>
              <a:spcAft>
                <a:spcPts val="0"/>
              </a:spcAft>
              <a:buClrTx/>
              <a:buSzTx/>
              <a:buFontTx/>
              <a:buNone/>
              <a:tabLst/>
              <a:defRPr/>
            </a:pPr>
            <a:r>
              <a:rPr lang="fr-FR" b="0" baseline="0" dirty="0" smtClean="0"/>
              <a:t>Un suivi est recommandé pour toutes les myocardites avec évaluation clinique, biologique, ECG, test d’effort, enregistrement Holter ECG, échocardiographie et IRM cardiaque dans les 6 mois pour décider de la reprise de l’activité et dépister les complications. </a:t>
            </a:r>
          </a:p>
          <a:p>
            <a:endParaRPr lang="fr-FR" b="0" dirty="0"/>
          </a:p>
        </p:txBody>
      </p:sp>
      <p:sp>
        <p:nvSpPr>
          <p:cNvPr id="4" name="Espace réservé du numéro de diapositive 3"/>
          <p:cNvSpPr>
            <a:spLocks noGrp="1"/>
          </p:cNvSpPr>
          <p:nvPr>
            <p:ph type="sldNum" sz="quarter" idx="10"/>
          </p:nvPr>
        </p:nvSpPr>
        <p:spPr/>
        <p:txBody>
          <a:bodyPr/>
          <a:lstStyle/>
          <a:p>
            <a:fld id="{F267D614-A403-4847-9522-E840C6A8F7A8}" type="slidenum">
              <a:rPr lang="fr-FR" smtClean="0"/>
              <a:pPr/>
              <a:t>42</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Connecteur droit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9" name="Titre 28"/>
          <p:cNvSpPr>
            <a:spLocks noGrp="1"/>
          </p:cNvSpPr>
          <p:nvPr>
            <p:ph type="ctrTitle"/>
          </p:nvPr>
        </p:nvSpPr>
        <p:spPr>
          <a:xfrm>
            <a:off x="381000" y="4853411"/>
            <a:ext cx="8458200" cy="1222375"/>
          </a:xfrm>
        </p:spPr>
        <p:txBody>
          <a:bodyPr anchor="t"/>
          <a:lstStyle/>
          <a:p>
            <a:r>
              <a:rPr kumimoji="0" lang="fr-FR" smtClean="0"/>
              <a:t>Cliquez pour modifier le style du titre</a:t>
            </a:r>
            <a:endParaRPr kumimoji="0" lang="en-US"/>
          </a:p>
        </p:txBody>
      </p:sp>
      <p:sp>
        <p:nvSpPr>
          <p:cNvPr id="9" name="Sous-titre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16" name="Espace réservé de la date 15"/>
          <p:cNvSpPr>
            <a:spLocks noGrp="1"/>
          </p:cNvSpPr>
          <p:nvPr>
            <p:ph type="dt" sz="half" idx="10"/>
          </p:nvPr>
        </p:nvSpPr>
        <p:spPr/>
        <p:txBody>
          <a:bodyPr/>
          <a:lstStyle/>
          <a:p>
            <a:fld id="{8227CEB7-12A7-4457-ABFF-2AD32696A89C}" type="datetimeFigureOut">
              <a:rPr lang="fr-FR" smtClean="0"/>
              <a:pPr/>
              <a:t>17/01/2026</a:t>
            </a:fld>
            <a:endParaRPr lang="fr-FR"/>
          </a:p>
        </p:txBody>
      </p:sp>
      <p:sp>
        <p:nvSpPr>
          <p:cNvPr id="2" name="Espace réservé du pied de page 1"/>
          <p:cNvSpPr>
            <a:spLocks noGrp="1"/>
          </p:cNvSpPr>
          <p:nvPr>
            <p:ph type="ftr" sz="quarter" idx="11"/>
          </p:nvPr>
        </p:nvSpPr>
        <p:spPr/>
        <p:txBody>
          <a:bodyPr/>
          <a:lstStyle/>
          <a:p>
            <a:endParaRPr lang="fr-FR"/>
          </a:p>
        </p:txBody>
      </p:sp>
      <p:sp>
        <p:nvSpPr>
          <p:cNvPr id="15" name="Espace réservé du numéro de diapositive 14"/>
          <p:cNvSpPr>
            <a:spLocks noGrp="1"/>
          </p:cNvSpPr>
          <p:nvPr>
            <p:ph type="sldNum" sz="quarter" idx="12"/>
          </p:nvPr>
        </p:nvSpPr>
        <p:spPr>
          <a:xfrm>
            <a:off x="8229600" y="6473952"/>
            <a:ext cx="758952" cy="246888"/>
          </a:xfrm>
        </p:spPr>
        <p:txBody>
          <a:bodyPr/>
          <a:lstStyle/>
          <a:p>
            <a:fld id="{550B675B-B0F0-42B9-8884-1E7161FF5852}"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2" name="Titre 21"/>
          <p:cNvSpPr>
            <a:spLocks noGrp="1"/>
          </p:cNvSpPr>
          <p:nvPr>
            <p:ph type="title"/>
          </p:nvPr>
        </p:nvSpPr>
        <p:spPr/>
        <p:txBody>
          <a:bodyPr/>
          <a:lstStyle/>
          <a:p>
            <a:r>
              <a:rPr kumimoji="0" lang="fr-FR" smtClean="0"/>
              <a:t>Cliquez pour modifier le style du titre</a:t>
            </a:r>
            <a:endParaRPr kumimoji="0" lang="en-US"/>
          </a:p>
        </p:txBody>
      </p:sp>
      <p:sp>
        <p:nvSpPr>
          <p:cNvPr id="27" name="Espace réservé du contenu 26"/>
          <p:cNvSpPr>
            <a:spLocks noGrp="1"/>
          </p:cNvSpPr>
          <p:nvPr>
            <p:ph idx="1"/>
          </p:nvPr>
        </p:nvSpPr>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5" name="Espace réservé de la date 24"/>
          <p:cNvSpPr>
            <a:spLocks noGrp="1"/>
          </p:cNvSpPr>
          <p:nvPr>
            <p:ph type="dt" sz="half" idx="10"/>
          </p:nvPr>
        </p:nvSpPr>
        <p:spPr/>
        <p:txBody>
          <a:bodyPr/>
          <a:lstStyle/>
          <a:p>
            <a:fld id="{8227CEB7-12A7-4457-ABFF-2AD32696A89C}" type="datetimeFigureOut">
              <a:rPr lang="fr-FR" smtClean="0"/>
              <a:pPr/>
              <a:t>17/01/2026</a:t>
            </a:fld>
            <a:endParaRPr lang="fr-FR"/>
          </a:p>
        </p:txBody>
      </p:sp>
      <p:sp>
        <p:nvSpPr>
          <p:cNvPr id="19" name="Espace réservé du pied de page 18"/>
          <p:cNvSpPr>
            <a:spLocks noGrp="1"/>
          </p:cNvSpPr>
          <p:nvPr>
            <p:ph type="ftr" sz="quarter" idx="11"/>
          </p:nvPr>
        </p:nvSpPr>
        <p:spPr>
          <a:xfrm>
            <a:off x="3581400" y="76200"/>
            <a:ext cx="2895600" cy="288925"/>
          </a:xfrm>
        </p:spPr>
        <p:txBody>
          <a:bodyPr/>
          <a:lstStyle/>
          <a:p>
            <a:endParaRPr lang="fr-FR"/>
          </a:p>
        </p:txBody>
      </p:sp>
      <p:sp>
        <p:nvSpPr>
          <p:cNvPr id="16" name="Espace réservé du numéro de diapositive 15"/>
          <p:cNvSpPr>
            <a:spLocks noGrp="1"/>
          </p:cNvSpPr>
          <p:nvPr>
            <p:ph type="sldNum" sz="quarter" idx="12"/>
          </p:nvPr>
        </p:nvSpPr>
        <p:spPr>
          <a:xfrm>
            <a:off x="8229600" y="6473952"/>
            <a:ext cx="758952" cy="246888"/>
          </a:xfrm>
        </p:spPr>
        <p:txBody>
          <a:bodyPr/>
          <a:lstStyle/>
          <a:p>
            <a:fld id="{550B675B-B0F0-42B9-8884-1E7161FF5852}"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7" name="Connecteur droit 6"/>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Espace réservé du texte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19" name="Espace réservé de la date 18"/>
          <p:cNvSpPr>
            <a:spLocks noGrp="1"/>
          </p:cNvSpPr>
          <p:nvPr>
            <p:ph type="dt" sz="half" idx="10"/>
          </p:nvPr>
        </p:nvSpPr>
        <p:spPr/>
        <p:txBody>
          <a:bodyPr/>
          <a:lstStyle/>
          <a:p>
            <a:fld id="{8227CEB7-12A7-4457-ABFF-2AD32696A89C}" type="datetimeFigureOut">
              <a:rPr lang="fr-FR" smtClean="0"/>
              <a:pPr/>
              <a:t>17/01/2026</a:t>
            </a:fld>
            <a:endParaRPr lang="fr-FR"/>
          </a:p>
        </p:txBody>
      </p:sp>
      <p:sp>
        <p:nvSpPr>
          <p:cNvPr id="11" name="Espace réservé du pied de page 10"/>
          <p:cNvSpPr>
            <a:spLocks noGrp="1"/>
          </p:cNvSpPr>
          <p:nvPr>
            <p:ph type="ftr" sz="quarter" idx="11"/>
          </p:nvPr>
        </p:nvSpPr>
        <p:spPr/>
        <p:txBody>
          <a:bodyPr/>
          <a:lstStyle/>
          <a:p>
            <a:endParaRPr lang="fr-FR"/>
          </a:p>
        </p:txBody>
      </p:sp>
      <p:sp>
        <p:nvSpPr>
          <p:cNvPr id="16" name="Espace réservé du numéro de diapositive 15"/>
          <p:cNvSpPr>
            <a:spLocks noGrp="1"/>
          </p:cNvSpPr>
          <p:nvPr>
            <p:ph type="sldNum" sz="quarter" idx="12"/>
          </p:nvPr>
        </p:nvSpPr>
        <p:spPr/>
        <p:txBody>
          <a:bodyPr/>
          <a:lstStyle/>
          <a:p>
            <a:fld id="{550B675B-B0F0-42B9-8884-1E7161FF5852}" type="slidenum">
              <a:rPr lang="fr-FR" smtClean="0"/>
              <a:pPr/>
              <a:t>‹N°›</a:t>
            </a:fld>
            <a:endParaRPr lang="fr-FR"/>
          </a:p>
        </p:txBody>
      </p:sp>
      <p:sp>
        <p:nvSpPr>
          <p:cNvPr id="8" name="Titre 7"/>
          <p:cNvSpPr>
            <a:spLocks noGrp="1"/>
          </p:cNvSpPr>
          <p:nvPr>
            <p:ph type="title"/>
          </p:nvPr>
        </p:nvSpPr>
        <p:spPr>
          <a:xfrm>
            <a:off x="180475" y="2947085"/>
            <a:ext cx="8686800" cy="1184825"/>
          </a:xfrm>
        </p:spPr>
        <p:txBody>
          <a:bodyPr rtlCol="0" anchor="t"/>
          <a:lstStyle>
            <a:lvl1pPr algn="r">
              <a:defRPr/>
            </a:lvl1pPr>
          </a:lstStyle>
          <a:p>
            <a:r>
              <a:rPr kumimoji="0" lang="fr-FR" smtClean="0"/>
              <a:t>Cliquez pour modifier le style du titre</a:t>
            </a:r>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0" name="Titre 19"/>
          <p:cNvSpPr>
            <a:spLocks noGrp="1"/>
          </p:cNvSpPr>
          <p:nvPr>
            <p:ph type="title"/>
          </p:nvPr>
        </p:nvSpPr>
        <p:spPr>
          <a:xfrm>
            <a:off x="301752" y="457200"/>
            <a:ext cx="8686800" cy="841248"/>
          </a:xfrm>
        </p:spPr>
        <p:txBody>
          <a:bodyPr/>
          <a:lstStyle/>
          <a:p>
            <a:r>
              <a:rPr kumimoji="0" lang="fr-FR" smtClean="0"/>
              <a:t>Cliquez pour modifier le style du titre</a:t>
            </a:r>
            <a:endParaRPr kumimoji="0" lang="en-US"/>
          </a:p>
        </p:txBody>
      </p:sp>
      <p:sp>
        <p:nvSpPr>
          <p:cNvPr id="14" name="Espace réservé du contenu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3" name="Espace réservé du contenu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1" name="Espace réservé de la date 20"/>
          <p:cNvSpPr>
            <a:spLocks noGrp="1"/>
          </p:cNvSpPr>
          <p:nvPr>
            <p:ph type="dt" sz="half" idx="10"/>
          </p:nvPr>
        </p:nvSpPr>
        <p:spPr/>
        <p:txBody>
          <a:bodyPr/>
          <a:lstStyle/>
          <a:p>
            <a:fld id="{8227CEB7-12A7-4457-ABFF-2AD32696A89C}" type="datetimeFigureOut">
              <a:rPr lang="fr-FR" smtClean="0"/>
              <a:pPr/>
              <a:t>17/01/2026</a:t>
            </a:fld>
            <a:endParaRPr lang="fr-FR"/>
          </a:p>
        </p:txBody>
      </p:sp>
      <p:sp>
        <p:nvSpPr>
          <p:cNvPr id="10" name="Espace réservé du pied de page 9"/>
          <p:cNvSpPr>
            <a:spLocks noGrp="1"/>
          </p:cNvSpPr>
          <p:nvPr>
            <p:ph type="ftr" sz="quarter" idx="11"/>
          </p:nvPr>
        </p:nvSpPr>
        <p:spPr/>
        <p:txBody>
          <a:bodyPr/>
          <a:lstStyle/>
          <a:p>
            <a:endParaRPr lang="fr-FR"/>
          </a:p>
        </p:txBody>
      </p:sp>
      <p:sp>
        <p:nvSpPr>
          <p:cNvPr id="31" name="Espace réservé du numéro de diapositive 30"/>
          <p:cNvSpPr>
            <a:spLocks noGrp="1"/>
          </p:cNvSpPr>
          <p:nvPr>
            <p:ph type="sldNum" sz="quarter" idx="12"/>
          </p:nvPr>
        </p:nvSpPr>
        <p:spPr/>
        <p:txBody>
          <a:bodyPr/>
          <a:lstStyle/>
          <a:p>
            <a:fld id="{550B675B-B0F0-42B9-8884-1E7161FF5852}"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9" name="Titre 28"/>
          <p:cNvSpPr>
            <a:spLocks noGrp="1"/>
          </p:cNvSpPr>
          <p:nvPr>
            <p:ph type="title"/>
          </p:nvPr>
        </p:nvSpPr>
        <p:spPr>
          <a:xfrm>
            <a:off x="304800" y="5410200"/>
            <a:ext cx="8610600" cy="882650"/>
          </a:xfrm>
        </p:spPr>
        <p:txBody>
          <a:bodyPr anchor="ctr"/>
          <a:lstStyle>
            <a:lvl1pPr>
              <a:defRPr/>
            </a:lvl1p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25" name="Espace réservé du texte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contenu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8" name="Espace réservé du contenu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0" name="Espace réservé de la date 9"/>
          <p:cNvSpPr>
            <a:spLocks noGrp="1"/>
          </p:cNvSpPr>
          <p:nvPr>
            <p:ph type="dt" sz="half" idx="10"/>
          </p:nvPr>
        </p:nvSpPr>
        <p:spPr/>
        <p:txBody>
          <a:bodyPr/>
          <a:lstStyle/>
          <a:p>
            <a:fld id="{8227CEB7-12A7-4457-ABFF-2AD32696A89C}" type="datetimeFigureOut">
              <a:rPr lang="fr-FR" smtClean="0"/>
              <a:pPr/>
              <a:t>17/01/2026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a:xfrm>
            <a:off x="8229600" y="6477000"/>
            <a:ext cx="762000" cy="246888"/>
          </a:xfrm>
        </p:spPr>
        <p:txBody>
          <a:bodyPr/>
          <a:lstStyle/>
          <a:p>
            <a:fld id="{550B675B-B0F0-42B9-8884-1E7161FF5852}" type="slidenum">
              <a:rPr lang="fr-FR" smtClean="0"/>
              <a:pPr/>
              <a:t>‹N°›</a:t>
            </a:fld>
            <a:endParaRPr lang="fr-FR"/>
          </a:p>
        </p:txBody>
      </p:sp>
      <p:sp>
        <p:nvSpPr>
          <p:cNvPr id="11" name="Connecteur droit 10"/>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30" name="Titre 29"/>
          <p:cNvSpPr>
            <a:spLocks noGrp="1"/>
          </p:cNvSpPr>
          <p:nvPr>
            <p:ph type="title"/>
          </p:nvPr>
        </p:nvSpPr>
        <p:spPr>
          <a:xfrm>
            <a:off x="301752" y="457200"/>
            <a:ext cx="8686800" cy="841248"/>
          </a:xfrm>
        </p:spPr>
        <p:txBody>
          <a:bodyPr/>
          <a:lstStyle/>
          <a:p>
            <a:r>
              <a:rPr kumimoji="0" lang="fr-FR" smtClean="0"/>
              <a:t>Cliquez pour modifier le style du titre</a:t>
            </a:r>
            <a:endParaRPr kumimoji="0" lang="en-US"/>
          </a:p>
        </p:txBody>
      </p:sp>
      <p:sp>
        <p:nvSpPr>
          <p:cNvPr id="12" name="Espace réservé de la date 11"/>
          <p:cNvSpPr>
            <a:spLocks noGrp="1"/>
          </p:cNvSpPr>
          <p:nvPr>
            <p:ph type="dt" sz="half" idx="10"/>
          </p:nvPr>
        </p:nvSpPr>
        <p:spPr/>
        <p:txBody>
          <a:bodyPr/>
          <a:lstStyle/>
          <a:p>
            <a:fld id="{8227CEB7-12A7-4457-ABFF-2AD32696A89C}" type="datetimeFigureOut">
              <a:rPr lang="fr-FR" smtClean="0"/>
              <a:pPr/>
              <a:t>17/01/2026</a:t>
            </a:fld>
            <a:endParaRPr lang="fr-FR"/>
          </a:p>
        </p:txBody>
      </p:sp>
      <p:sp>
        <p:nvSpPr>
          <p:cNvPr id="21" name="Espace réservé du pied de page 20"/>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0B675B-B0F0-42B9-8884-1E7161FF5852}"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3" name="Espace réservé de la date 2"/>
          <p:cNvSpPr>
            <a:spLocks noGrp="1"/>
          </p:cNvSpPr>
          <p:nvPr>
            <p:ph type="dt" sz="half" idx="10"/>
          </p:nvPr>
        </p:nvSpPr>
        <p:spPr/>
        <p:txBody>
          <a:bodyPr/>
          <a:lstStyle/>
          <a:p>
            <a:fld id="{8227CEB7-12A7-4457-ABFF-2AD32696A89C}" type="datetimeFigureOut">
              <a:rPr lang="fr-FR" smtClean="0"/>
              <a:pPr/>
              <a:t>17/01/2026</a:t>
            </a:fld>
            <a:endParaRPr lang="fr-FR"/>
          </a:p>
        </p:txBody>
      </p:sp>
      <p:sp>
        <p:nvSpPr>
          <p:cNvPr id="24" name="Espace réservé du pied de page 23"/>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0B675B-B0F0-42B9-8884-1E7161FF5852}"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Connecteur droit 7"/>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Titre 11"/>
          <p:cNvSpPr>
            <a:spLocks noGrp="1"/>
          </p:cNvSpPr>
          <p:nvPr>
            <p:ph type="title"/>
          </p:nvPr>
        </p:nvSpPr>
        <p:spPr>
          <a:xfrm>
            <a:off x="457200" y="5486400"/>
            <a:ext cx="8458200" cy="520700"/>
          </a:xfrm>
        </p:spPr>
        <p:txBody>
          <a:bodyPr anchor="ctr"/>
          <a:lstStyle>
            <a:lvl1pPr algn="l">
              <a:buNone/>
              <a:defRPr sz="2000" b="1"/>
            </a:lvl1pPr>
          </a:lstStyle>
          <a:p>
            <a:r>
              <a:rPr kumimoji="0" lang="fr-FR" smtClean="0"/>
              <a:t>Cliquez pour modifier le style du titre</a:t>
            </a:r>
            <a:endParaRPr kumimoji="0" lang="en-US"/>
          </a:p>
        </p:txBody>
      </p:sp>
      <p:sp>
        <p:nvSpPr>
          <p:cNvPr id="26" name="Espace réservé du texte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14" name="Espace réservé du contenu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5" name="Espace réservé de la date 24"/>
          <p:cNvSpPr>
            <a:spLocks noGrp="1"/>
          </p:cNvSpPr>
          <p:nvPr>
            <p:ph type="dt" sz="half" idx="10"/>
          </p:nvPr>
        </p:nvSpPr>
        <p:spPr/>
        <p:txBody>
          <a:bodyPr/>
          <a:lstStyle/>
          <a:p>
            <a:fld id="{8227CEB7-12A7-4457-ABFF-2AD32696A89C}" type="datetimeFigureOut">
              <a:rPr lang="fr-FR" smtClean="0"/>
              <a:pPr/>
              <a:t>17/01/2026</a:t>
            </a:fld>
            <a:endParaRPr lang="fr-FR"/>
          </a:p>
        </p:txBody>
      </p:sp>
      <p:sp>
        <p:nvSpPr>
          <p:cNvPr id="29" name="Espace réservé du pied de page 28"/>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0B675B-B0F0-42B9-8884-1E7161FF5852}"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13" name="Espace réservé pour une image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fr-FR" smtClean="0"/>
              <a:t>Cliquez sur l'icône pour ajouter une image</a:t>
            </a:r>
            <a:endParaRPr kumimoji="0" lang="en-US" dirty="0"/>
          </a:p>
        </p:txBody>
      </p:sp>
      <p:sp>
        <p:nvSpPr>
          <p:cNvPr id="7" name="Espace réservé de la date 6"/>
          <p:cNvSpPr>
            <a:spLocks noGrp="1"/>
          </p:cNvSpPr>
          <p:nvPr>
            <p:ph type="dt" sz="half" idx="10"/>
          </p:nvPr>
        </p:nvSpPr>
        <p:spPr/>
        <p:txBody>
          <a:bodyPr/>
          <a:lstStyle/>
          <a:p>
            <a:fld id="{8227CEB7-12A7-4457-ABFF-2AD32696A89C}" type="datetimeFigureOut">
              <a:rPr lang="fr-FR" smtClean="0"/>
              <a:pPr/>
              <a:t>17/01/2026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31" name="Espace réservé du numéro de diapositive 30"/>
          <p:cNvSpPr>
            <a:spLocks noGrp="1"/>
          </p:cNvSpPr>
          <p:nvPr>
            <p:ph type="sldNum" sz="quarter" idx="12"/>
          </p:nvPr>
        </p:nvSpPr>
        <p:spPr/>
        <p:txBody>
          <a:bodyPr/>
          <a:lstStyle/>
          <a:p>
            <a:fld id="{550B675B-B0F0-42B9-8884-1E7161FF5852}" type="slidenum">
              <a:rPr lang="fr-FR" smtClean="0"/>
              <a:pPr/>
              <a:t>‹N°›</a:t>
            </a:fld>
            <a:endParaRPr lang="fr-FR"/>
          </a:p>
        </p:txBody>
      </p:sp>
      <p:sp>
        <p:nvSpPr>
          <p:cNvPr id="17" name="Titre 16"/>
          <p:cNvSpPr>
            <a:spLocks noGrp="1"/>
          </p:cNvSpPr>
          <p:nvPr>
            <p:ph type="title"/>
          </p:nvPr>
        </p:nvSpPr>
        <p:spPr>
          <a:xfrm>
            <a:off x="381000" y="4993760"/>
            <a:ext cx="5867400" cy="522288"/>
          </a:xfrm>
        </p:spPr>
        <p:txBody>
          <a:bodyPr anchor="ctr"/>
          <a:lstStyle>
            <a:lvl1pPr algn="l">
              <a:buNone/>
              <a:defRPr sz="2000" b="1"/>
            </a:lvl1pPr>
          </a:lstStyle>
          <a:p>
            <a:r>
              <a:rPr kumimoji="0" lang="fr-FR" smtClean="0"/>
              <a:t>Cliquez pour modifier le style du titre</a:t>
            </a:r>
            <a:endParaRPr kumimoji="0" lang="en-US"/>
          </a:p>
        </p:txBody>
      </p:sp>
      <p:sp>
        <p:nvSpPr>
          <p:cNvPr id="26" name="Espace réservé du texte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8227CEB7-12A7-4457-ABFF-2AD32696A89C}" type="datetimeFigureOut">
              <a:rPr lang="fr-FR" smtClean="0"/>
              <a:pPr/>
              <a:t>17/01/2026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0B675B-B0F0-42B9-8884-1E7161FF5852}"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858000" y="549276"/>
            <a:ext cx="1828800" cy="5851525"/>
          </a:xfrm>
        </p:spPr>
        <p:txBody>
          <a:bodyPr vert="eaVer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457200" y="549276"/>
            <a:ext cx="6248400" cy="5851525"/>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8227CEB7-12A7-4457-ABFF-2AD32696A89C}" type="datetimeFigureOut">
              <a:rPr lang="fr-FR" smtClean="0"/>
              <a:pPr/>
              <a:t>17/01/2026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0B675B-B0F0-42B9-8884-1E7161FF5852}"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Connecteur droit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Espace réservé du texte 7"/>
          <p:cNvSpPr>
            <a:spLocks noGrp="1"/>
          </p:cNvSpPr>
          <p:nvPr>
            <p:ph type="body" idx="1"/>
          </p:nvPr>
        </p:nvSpPr>
        <p:spPr>
          <a:xfrm>
            <a:off x="304800" y="1554162"/>
            <a:ext cx="8686800" cy="4525963"/>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1" name="Espace réservé de la date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fld id="{8227CEB7-12A7-4457-ABFF-2AD32696A89C}" type="datetimeFigureOut">
              <a:rPr lang="fr-FR" smtClean="0"/>
              <a:pPr/>
              <a:t>17/01/2026</a:t>
            </a:fld>
            <a:endParaRPr lang="fr-FR"/>
          </a:p>
        </p:txBody>
      </p:sp>
      <p:sp>
        <p:nvSpPr>
          <p:cNvPr id="28" name="Espace réservé du pied de page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endParaRPr lang="fr-FR"/>
          </a:p>
        </p:txBody>
      </p:sp>
      <p:sp>
        <p:nvSpPr>
          <p:cNvPr id="5" name="Espace réservé du numéro de diapositive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fld id="{550B675B-B0F0-42B9-8884-1E7161FF5852}" type="slidenum">
              <a:rPr lang="fr-FR" smtClean="0"/>
              <a:pPr/>
              <a:t>‹N°›</a:t>
            </a:fld>
            <a:endParaRPr lang="fr-FR"/>
          </a:p>
        </p:txBody>
      </p:sp>
      <p:sp>
        <p:nvSpPr>
          <p:cNvPr id="10" name="Espace réservé du titre 9"/>
          <p:cNvSpPr>
            <a:spLocks noGrp="1"/>
          </p:cNvSpPr>
          <p:nvPr>
            <p:ph type="title"/>
          </p:nvPr>
        </p:nvSpPr>
        <p:spPr>
          <a:xfrm>
            <a:off x="304800" y="457200"/>
            <a:ext cx="8686800" cy="838200"/>
          </a:xfrm>
          <a:prstGeom prst="rect">
            <a:avLst/>
          </a:prstGeom>
        </p:spPr>
        <p:txBody>
          <a:bodyPr vert="horz" anchor="ctr">
            <a:normAutofit/>
          </a:bodyPr>
          <a:lstStyle/>
          <a:p>
            <a:r>
              <a:rPr kumimoji="0" lang="fr-FR" smtClean="0"/>
              <a:t>Cliquez pour modifier le style du titre</a:t>
            </a:r>
            <a:endParaRPr kumimoji="0" lang="en-US"/>
          </a:p>
        </p:txBody>
      </p:sp>
      <p:sp>
        <p:nvSpPr>
          <p:cNvPr id="9" name="Connecteur droit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Connecteur droit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gif"/><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381000" y="3717032"/>
            <a:ext cx="8458200" cy="1222375"/>
          </a:xfrm>
        </p:spPr>
        <p:txBody>
          <a:bodyPr>
            <a:normAutofit fontScale="90000"/>
          </a:bodyPr>
          <a:lstStyle/>
          <a:p>
            <a:pPr algn="ctr">
              <a:defRPr/>
            </a:pPr>
            <a:r>
              <a:rPr lang="fr-FR" sz="4000" dirty="0" smtClean="0"/>
              <a:t>LES SYNDROMES MYOPÉRICARDIQUES INFLAMMATOIRES </a:t>
            </a:r>
            <a:br>
              <a:rPr lang="fr-FR" sz="4000" dirty="0" smtClean="0"/>
            </a:br>
            <a:endParaRPr lang="fr-FR" sz="4000" i="1" dirty="0"/>
          </a:p>
        </p:txBody>
      </p:sp>
      <p:sp>
        <p:nvSpPr>
          <p:cNvPr id="3" name="Sous-titre 2"/>
          <p:cNvSpPr>
            <a:spLocks noGrp="1"/>
          </p:cNvSpPr>
          <p:nvPr>
            <p:ph type="subTitle" idx="1"/>
          </p:nvPr>
        </p:nvSpPr>
        <p:spPr>
          <a:xfrm>
            <a:off x="395536" y="2636912"/>
            <a:ext cx="8458200" cy="914400"/>
          </a:xfrm>
        </p:spPr>
        <p:txBody>
          <a:bodyPr>
            <a:normAutofit/>
          </a:bodyPr>
          <a:lstStyle/>
          <a:p>
            <a:pPr eaLnBrk="1" fontAlgn="auto" hangingPunct="1">
              <a:spcAft>
                <a:spcPts val="0"/>
              </a:spcAft>
              <a:buFont typeface="Wingdings 2"/>
              <a:buNone/>
              <a:defRPr/>
            </a:pPr>
            <a:r>
              <a:rPr lang="fr-FR" sz="1600" dirty="0" smtClean="0">
                <a:latin typeface="Comic Sans MS" pitchFamily="66" charset="0"/>
              </a:rPr>
              <a:t>DR. </a:t>
            </a:r>
            <a:r>
              <a:rPr lang="fr-FR" sz="1600" dirty="0" smtClean="0">
                <a:latin typeface="Brush Script MT" pitchFamily="66" charset="0"/>
              </a:rPr>
              <a:t>R</a:t>
            </a:r>
            <a:r>
              <a:rPr lang="fr-FR" sz="1600" dirty="0" smtClean="0">
                <a:latin typeface="Comic Sans MS" pitchFamily="66" charset="0"/>
              </a:rPr>
              <a:t> BELGUEDJ</a:t>
            </a:r>
          </a:p>
          <a:p>
            <a:pPr eaLnBrk="1" fontAlgn="auto" hangingPunct="1">
              <a:spcAft>
                <a:spcPts val="0"/>
              </a:spcAft>
              <a:buFont typeface="Wingdings 2"/>
              <a:buNone/>
              <a:defRPr/>
            </a:pPr>
            <a:r>
              <a:rPr lang="fr-FR" sz="1600" dirty="0" err="1" smtClean="0">
                <a:latin typeface="Comic Sans MS" pitchFamily="66" charset="0"/>
              </a:rPr>
              <a:t>Sce</a:t>
            </a:r>
            <a:r>
              <a:rPr lang="fr-FR" sz="1600" dirty="0" smtClean="0">
                <a:latin typeface="Comic Sans MS" pitchFamily="66" charset="0"/>
              </a:rPr>
              <a:t> Cardiologie</a:t>
            </a:r>
          </a:p>
          <a:p>
            <a:pPr eaLnBrk="1" fontAlgn="auto" hangingPunct="1">
              <a:spcAft>
                <a:spcPts val="0"/>
              </a:spcAft>
              <a:buFont typeface="Wingdings 2"/>
              <a:buNone/>
              <a:defRPr/>
            </a:pPr>
            <a:r>
              <a:rPr lang="fr-FR" sz="900" dirty="0" smtClean="0">
                <a:latin typeface="Arial" pitchFamily="34" charset="0"/>
                <a:cs typeface="Arial" pitchFamily="34" charset="0"/>
              </a:rPr>
              <a:t>cardiochuc25@gmail.com</a:t>
            </a:r>
          </a:p>
          <a:p>
            <a:pPr eaLnBrk="1" fontAlgn="auto" hangingPunct="1">
              <a:spcAft>
                <a:spcPts val="0"/>
              </a:spcAft>
              <a:buFont typeface="Wingdings 2"/>
              <a:buNone/>
              <a:defRPr/>
            </a:pPr>
            <a:endParaRPr lang="fr-FR" sz="18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p:cNvSpPr>
            <a:spLocks noGrp="1"/>
          </p:cNvSpPr>
          <p:nvPr>
            <p:ph type="title"/>
          </p:nvPr>
        </p:nvSpPr>
        <p:spPr>
          <a:xfrm>
            <a:off x="1500188" y="110778"/>
            <a:ext cx="5500687" cy="869950"/>
          </a:xfrm>
        </p:spPr>
        <p:txBody>
          <a:bodyPr>
            <a:normAutofit/>
          </a:bodyPr>
          <a:lstStyle/>
          <a:p>
            <a:pPr algn="ctr">
              <a:defRPr/>
            </a:pPr>
            <a:r>
              <a:rPr lang="fr-FR" sz="3200" b="0" dirty="0" smtClean="0">
                <a:solidFill>
                  <a:srgbClr val="FF9900"/>
                </a:solidFill>
                <a:effectLst/>
                <a:latin typeface="+mn-lt"/>
              </a:rPr>
              <a:t>I- ANATOMIE-FONCTION</a:t>
            </a:r>
            <a:endParaRPr lang="fr-FR" sz="3200" b="0" dirty="0">
              <a:solidFill>
                <a:srgbClr val="FF9900"/>
              </a:solidFill>
              <a:effectLst/>
              <a:latin typeface="+mn-lt"/>
            </a:endParaRPr>
          </a:p>
        </p:txBody>
      </p:sp>
      <p:pic>
        <p:nvPicPr>
          <p:cNvPr id="5123" name="Espace réservé du contenu 4" descr="shema anat pericarde.jpg"/>
          <p:cNvPicPr>
            <a:picLocks noGrp="1" noChangeAspect="1"/>
          </p:cNvPicPr>
          <p:nvPr>
            <p:ph idx="1"/>
          </p:nvPr>
        </p:nvPicPr>
        <p:blipFill>
          <a:blip r:embed="rId3" cstate="print">
            <a:lum bright="-20000" contrast="10000"/>
          </a:blip>
          <a:srcRect t="3078" r="3146" b="3078"/>
          <a:stretch>
            <a:fillRect/>
          </a:stretch>
        </p:blipFill>
        <p:spPr>
          <a:xfrm>
            <a:off x="5219700" y="1376363"/>
            <a:ext cx="3673475" cy="3852862"/>
          </a:xfrm>
          <a:ln>
            <a:solidFill>
              <a:schemeClr val="tx1"/>
            </a:solidFill>
          </a:ln>
          <a:effectLst>
            <a:outerShdw blurRad="292100" dist="139700" dir="2700000" algn="tl" rotWithShape="0">
              <a:srgbClr val="333333">
                <a:alpha val="65000"/>
              </a:srgbClr>
            </a:outerShdw>
          </a:effectLst>
        </p:spPr>
      </p:pic>
      <p:sp>
        <p:nvSpPr>
          <p:cNvPr id="4" name="Espace réservé du texte 3"/>
          <p:cNvSpPr>
            <a:spLocks noGrp="1"/>
          </p:cNvSpPr>
          <p:nvPr>
            <p:ph type="body" sz="half" idx="2"/>
          </p:nvPr>
        </p:nvSpPr>
        <p:spPr>
          <a:xfrm>
            <a:off x="107950" y="1071563"/>
            <a:ext cx="5616575" cy="5286375"/>
          </a:xfrm>
        </p:spPr>
        <p:txBody>
          <a:bodyPr/>
          <a:lstStyle/>
          <a:p>
            <a:pPr eaLnBrk="1" hangingPunct="1">
              <a:lnSpc>
                <a:spcPct val="90000"/>
              </a:lnSpc>
            </a:pPr>
            <a:r>
              <a:rPr lang="fr-FR" sz="2400" dirty="0" smtClean="0">
                <a:solidFill>
                  <a:srgbClr val="CCFFCC"/>
                </a:solidFill>
              </a:rPr>
              <a:t>                </a:t>
            </a:r>
            <a:r>
              <a:rPr lang="fr-FR" sz="3200" dirty="0" smtClean="0">
                <a:solidFill>
                  <a:srgbClr val="C00000"/>
                </a:solidFill>
              </a:rPr>
              <a:t>2 feuillets</a:t>
            </a:r>
          </a:p>
          <a:p>
            <a:pPr eaLnBrk="1" hangingPunct="1">
              <a:lnSpc>
                <a:spcPct val="90000"/>
              </a:lnSpc>
            </a:pPr>
            <a:r>
              <a:rPr lang="fr-FR" sz="2400" dirty="0" smtClean="0"/>
              <a:t>    </a:t>
            </a:r>
            <a:r>
              <a:rPr lang="fr-FR" sz="2800" dirty="0" smtClean="0">
                <a:solidFill>
                  <a:schemeClr val="tx1"/>
                </a:solidFill>
              </a:rPr>
              <a:t>Viscéral               Pariétal</a:t>
            </a:r>
          </a:p>
          <a:p>
            <a:pPr eaLnBrk="1" hangingPunct="1">
              <a:lnSpc>
                <a:spcPct val="90000"/>
              </a:lnSpc>
            </a:pPr>
            <a:r>
              <a:rPr lang="fr-FR" sz="2400" dirty="0" smtClean="0">
                <a:solidFill>
                  <a:schemeClr val="tx1"/>
                </a:solidFill>
              </a:rPr>
              <a:t> </a:t>
            </a:r>
          </a:p>
          <a:p>
            <a:pPr eaLnBrk="1" hangingPunct="1">
              <a:lnSpc>
                <a:spcPct val="90000"/>
              </a:lnSpc>
            </a:pPr>
            <a:r>
              <a:rPr lang="fr-FR" sz="2400" dirty="0" smtClean="0">
                <a:solidFill>
                  <a:schemeClr val="tx1"/>
                </a:solidFill>
              </a:rPr>
              <a:t>             </a:t>
            </a:r>
            <a:r>
              <a:rPr lang="en-US" sz="2400" dirty="0" smtClean="0">
                <a:solidFill>
                  <a:schemeClr val="tx1"/>
                </a:solidFill>
                <a:cs typeface="Tahoma" pitchFamily="34" charset="0"/>
              </a:rPr>
              <a:t>10–50 ml liquide </a:t>
            </a:r>
          </a:p>
          <a:p>
            <a:pPr eaLnBrk="1" hangingPunct="1">
              <a:lnSpc>
                <a:spcPct val="90000"/>
              </a:lnSpc>
            </a:pPr>
            <a:endParaRPr lang="en-US" dirty="0" smtClean="0">
              <a:solidFill>
                <a:schemeClr val="tx1"/>
              </a:solidFill>
              <a:cs typeface="Tahoma" pitchFamily="34" charset="0"/>
            </a:endParaRPr>
          </a:p>
          <a:p>
            <a:pPr eaLnBrk="1" hangingPunct="1">
              <a:lnSpc>
                <a:spcPct val="90000"/>
              </a:lnSpc>
            </a:pPr>
            <a:r>
              <a:rPr lang="en-US" sz="2800" dirty="0" smtClean="0">
                <a:solidFill>
                  <a:schemeClr val="tx1"/>
                </a:solidFill>
                <a:cs typeface="Tahoma" pitchFamily="34" charset="0"/>
              </a:rPr>
              <a:t>                                                          	     </a:t>
            </a:r>
            <a:r>
              <a:rPr lang="fr-FR" sz="3200" dirty="0" smtClean="0">
                <a:solidFill>
                  <a:schemeClr val="tx1"/>
                </a:solidFill>
                <a:cs typeface="Tahoma" pitchFamily="34" charset="0"/>
              </a:rPr>
              <a:t>Fonctions</a:t>
            </a:r>
            <a:r>
              <a:rPr lang="en-US" sz="2800" dirty="0" smtClean="0">
                <a:solidFill>
                  <a:schemeClr val="tx1"/>
                </a:solidFill>
                <a:cs typeface="Tahoma" pitchFamily="34" charset="0"/>
              </a:rPr>
              <a:t>   </a:t>
            </a:r>
          </a:p>
          <a:p>
            <a:pPr eaLnBrk="1" hangingPunct="1">
              <a:lnSpc>
                <a:spcPct val="90000"/>
              </a:lnSpc>
            </a:pPr>
            <a:r>
              <a:rPr lang="en-US" dirty="0" smtClean="0">
                <a:solidFill>
                  <a:schemeClr val="tx1"/>
                </a:solidFill>
                <a:cs typeface="Tahoma" pitchFamily="34" charset="0"/>
              </a:rPr>
              <a:t>  </a:t>
            </a:r>
            <a:r>
              <a:rPr lang="en-US" sz="2400" dirty="0" smtClean="0">
                <a:solidFill>
                  <a:schemeClr val="tx1"/>
                </a:solidFill>
                <a:cs typeface="Tahoma" pitchFamily="34" charset="0"/>
              </a:rPr>
              <a:t> </a:t>
            </a:r>
            <a:r>
              <a:rPr lang="en-US" sz="2400" b="1" dirty="0" smtClean="0">
                <a:solidFill>
                  <a:schemeClr val="tx1"/>
                </a:solidFill>
                <a:cs typeface="Tahoma" pitchFamily="34" charset="0"/>
              </a:rPr>
              <a:t>Protection -</a:t>
            </a:r>
            <a:r>
              <a:rPr lang="fr-FR" sz="2400" b="1" dirty="0" smtClean="0">
                <a:solidFill>
                  <a:schemeClr val="tx1"/>
                </a:solidFill>
                <a:cs typeface="Tahoma" pitchFamily="34" charset="0"/>
              </a:rPr>
              <a:t> Maintien - </a:t>
            </a:r>
            <a:r>
              <a:rPr lang="en-US" sz="2400" b="1" dirty="0" smtClean="0">
                <a:solidFill>
                  <a:schemeClr val="tx1"/>
                </a:solidFill>
                <a:cs typeface="Tahoma" pitchFamily="34" charset="0"/>
              </a:rPr>
              <a:t>Lubrification</a:t>
            </a:r>
            <a:r>
              <a:rPr lang="fr-FR" sz="2800" dirty="0" smtClean="0">
                <a:solidFill>
                  <a:schemeClr val="tx1"/>
                </a:solidFill>
                <a:cs typeface="Tahoma" pitchFamily="34" charset="0"/>
              </a:rPr>
              <a:t>                       </a:t>
            </a:r>
          </a:p>
          <a:p>
            <a:pPr eaLnBrk="1" hangingPunct="1">
              <a:lnSpc>
                <a:spcPct val="90000"/>
              </a:lnSpc>
            </a:pPr>
            <a:r>
              <a:rPr lang="en-US" sz="2800" dirty="0" smtClean="0">
                <a:solidFill>
                  <a:schemeClr val="tx1"/>
                </a:solidFill>
                <a:cs typeface="Tahoma" pitchFamily="34" charset="0"/>
              </a:rPr>
              <a:t>                                          </a:t>
            </a:r>
          </a:p>
          <a:p>
            <a:pPr eaLnBrk="1" hangingPunct="1">
              <a:lnSpc>
                <a:spcPct val="90000"/>
              </a:lnSpc>
            </a:pPr>
            <a:r>
              <a:rPr lang="en-US" sz="2400" dirty="0" smtClean="0">
                <a:solidFill>
                  <a:schemeClr val="tx1"/>
                </a:solidFill>
                <a:cs typeface="Tahoma" pitchFamily="34" charset="0"/>
              </a:rPr>
              <a:t>    infections</a:t>
            </a:r>
          </a:p>
          <a:p>
            <a:pPr eaLnBrk="1" hangingPunct="1">
              <a:lnSpc>
                <a:spcPct val="90000"/>
              </a:lnSpc>
            </a:pPr>
            <a:r>
              <a:rPr lang="en-US" sz="2400" dirty="0" smtClean="0">
                <a:solidFill>
                  <a:schemeClr val="tx1"/>
                </a:solidFill>
                <a:cs typeface="Tahoma" pitchFamily="34" charset="0"/>
              </a:rPr>
              <a:t>    néoplasies</a:t>
            </a:r>
          </a:p>
          <a:p>
            <a:pPr eaLnBrk="1" hangingPunct="1">
              <a:lnSpc>
                <a:spcPct val="90000"/>
              </a:lnSpc>
            </a:pPr>
            <a:r>
              <a:rPr lang="en-US" sz="2400" dirty="0" smtClean="0">
                <a:solidFill>
                  <a:schemeClr val="tx1"/>
                </a:solidFill>
                <a:cs typeface="Tahoma" pitchFamily="34" charset="0"/>
              </a:rPr>
              <a:t>    </a:t>
            </a:r>
            <a:r>
              <a:rPr lang="fr-FR" sz="2400" dirty="0" smtClean="0">
                <a:solidFill>
                  <a:schemeClr val="tx1"/>
                </a:solidFill>
                <a:cs typeface="Tahoma" pitchFamily="34" charset="0"/>
              </a:rPr>
              <a:t>traumatismes</a:t>
            </a:r>
          </a:p>
          <a:p>
            <a:pPr eaLnBrk="1" hangingPunct="1">
              <a:lnSpc>
                <a:spcPct val="90000"/>
              </a:lnSpc>
            </a:pPr>
            <a:endParaRPr lang="fr-FR" dirty="0" smtClean="0">
              <a:cs typeface="Tahoma" pitchFamily="34" charset="0"/>
            </a:endParaRPr>
          </a:p>
          <a:p>
            <a:pPr eaLnBrk="1" hangingPunct="1">
              <a:lnSpc>
                <a:spcPct val="90000"/>
              </a:lnSpc>
            </a:pPr>
            <a:endParaRPr lang="fr-FR" dirty="0" smtClean="0"/>
          </a:p>
        </p:txBody>
      </p:sp>
      <p:sp>
        <p:nvSpPr>
          <p:cNvPr id="13317" name="AutoShape 7"/>
          <p:cNvSpPr>
            <a:spLocks/>
          </p:cNvSpPr>
          <p:nvPr/>
        </p:nvSpPr>
        <p:spPr bwMode="auto">
          <a:xfrm rot="5400000">
            <a:off x="2159794" y="1600994"/>
            <a:ext cx="358775" cy="1296987"/>
          </a:xfrm>
          <a:prstGeom prst="rightBrace">
            <a:avLst>
              <a:gd name="adj1" fmla="val 61506"/>
              <a:gd name="adj2" fmla="val 50000"/>
            </a:avLst>
          </a:prstGeom>
          <a:noFill/>
          <a:ln w="25400">
            <a:solidFill>
              <a:srgbClr val="FFCC00"/>
            </a:solidFill>
            <a:round/>
            <a:headEnd/>
            <a:tailEnd/>
          </a:ln>
        </p:spPr>
        <p:txBody>
          <a:bodyPr wrap="none" anchor="ctr"/>
          <a:lstStyle/>
          <a:p>
            <a:pPr algn="ctr"/>
            <a:r>
              <a:rPr lang="fr-FR">
                <a:latin typeface="Tahoma" pitchFamily="34" charset="0"/>
              </a:rPr>
              <a:t> </a:t>
            </a:r>
          </a:p>
        </p:txBody>
      </p:sp>
      <p:sp>
        <p:nvSpPr>
          <p:cNvPr id="11" name="AutoShape 7"/>
          <p:cNvSpPr>
            <a:spLocks/>
          </p:cNvSpPr>
          <p:nvPr/>
        </p:nvSpPr>
        <p:spPr bwMode="auto">
          <a:xfrm rot="5400000">
            <a:off x="819151" y="4076700"/>
            <a:ext cx="368300" cy="1216025"/>
          </a:xfrm>
          <a:prstGeom prst="rightBrace">
            <a:avLst>
              <a:gd name="adj1" fmla="val 32375"/>
              <a:gd name="adj2" fmla="val 47713"/>
            </a:avLst>
          </a:prstGeom>
          <a:noFill/>
          <a:ln w="25400">
            <a:solidFill>
              <a:srgbClr val="FFCC00"/>
            </a:solidFill>
            <a:round/>
            <a:headEnd/>
            <a:tailEnd/>
          </a:ln>
        </p:spPr>
        <p:txBody>
          <a:bodyPr wrap="none" anchor="ctr"/>
          <a:lstStyle/>
          <a:p>
            <a:pPr algn="ctr"/>
            <a:r>
              <a:rPr lang="fr-FR">
                <a:latin typeface="Tahoma"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0" end="1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142528"/>
            <a:ext cx="8686800" cy="838200"/>
          </a:xfrm>
        </p:spPr>
        <p:txBody>
          <a:bodyPr/>
          <a:lstStyle/>
          <a:p>
            <a:pPr algn="ctr" eaLnBrk="1" fontAlgn="auto" hangingPunct="1">
              <a:spcAft>
                <a:spcPts val="0"/>
              </a:spcAft>
              <a:defRPr/>
            </a:pPr>
            <a:r>
              <a:rPr lang="fr-FR" sz="3200" dirty="0" smtClean="0">
                <a:solidFill>
                  <a:srgbClr val="FF9900"/>
                </a:solidFill>
                <a:effectLst/>
                <a:latin typeface="+mn-lt"/>
              </a:rPr>
              <a:t>II-</a:t>
            </a:r>
            <a:r>
              <a:rPr lang="fr-FR" sz="3200" dirty="0" smtClean="0">
                <a:solidFill>
                  <a:srgbClr val="FF9900"/>
                </a:solidFill>
                <a:effectLst/>
              </a:rPr>
              <a:t> </a:t>
            </a:r>
            <a:r>
              <a:rPr lang="fr-FR" sz="3200" dirty="0" smtClean="0">
                <a:solidFill>
                  <a:srgbClr val="FF9900"/>
                </a:solidFill>
                <a:effectLst/>
                <a:latin typeface="+mn-lt"/>
              </a:rPr>
              <a:t>INTRODUCTION</a:t>
            </a:r>
            <a:endParaRPr lang="fr-FR" sz="3200" dirty="0">
              <a:solidFill>
                <a:srgbClr val="FF9900"/>
              </a:solidFill>
              <a:effectLst/>
              <a:latin typeface="+mn-lt"/>
            </a:endParaRPr>
          </a:p>
        </p:txBody>
      </p:sp>
      <p:sp>
        <p:nvSpPr>
          <p:cNvPr id="11267" name="Espace réservé du contenu 2"/>
          <p:cNvSpPr>
            <a:spLocks noGrp="1"/>
          </p:cNvSpPr>
          <p:nvPr>
            <p:ph idx="1"/>
          </p:nvPr>
        </p:nvSpPr>
        <p:spPr>
          <a:xfrm>
            <a:off x="144016" y="980728"/>
            <a:ext cx="8964488" cy="5472608"/>
          </a:xfrm>
        </p:spPr>
        <p:txBody>
          <a:bodyPr>
            <a:noAutofit/>
          </a:bodyPr>
          <a:lstStyle/>
          <a:p>
            <a:pPr>
              <a:defRPr/>
            </a:pPr>
            <a:r>
              <a:rPr lang="fr-FR" sz="2400" dirty="0" smtClean="0">
                <a:solidFill>
                  <a:srgbClr val="C00000"/>
                </a:solidFill>
              </a:rPr>
              <a:t>IMPS</a:t>
            </a:r>
            <a:r>
              <a:rPr lang="fr-FR" sz="2400" dirty="0" smtClean="0">
                <a:solidFill>
                  <a:schemeClr val="bg2">
                    <a:lumMod val="10000"/>
                  </a:schemeClr>
                </a:solidFill>
              </a:rPr>
              <a:t> : spectre de maladies inflammatoires englobant les myocardites isolées, les péricardites isolées et une combinaison des 2 atteintes</a:t>
            </a:r>
          </a:p>
          <a:p>
            <a:pPr>
              <a:defRPr/>
            </a:pPr>
            <a:r>
              <a:rPr lang="fr-FR" sz="2400" dirty="0" smtClean="0">
                <a:solidFill>
                  <a:schemeClr val="bg2">
                    <a:lumMod val="10000"/>
                  </a:schemeClr>
                </a:solidFill>
              </a:rPr>
              <a:t>Etiologies nombreuses et communes aux 2 atteintes</a:t>
            </a:r>
          </a:p>
          <a:p>
            <a:pPr lvl="1">
              <a:buNone/>
              <a:defRPr/>
            </a:pPr>
            <a:r>
              <a:rPr lang="fr-FR" sz="2400" dirty="0" smtClean="0">
                <a:solidFill>
                  <a:schemeClr val="bg2">
                    <a:lumMod val="10000"/>
                  </a:schemeClr>
                </a:solidFill>
              </a:rPr>
              <a:t>  - infectieuses</a:t>
            </a:r>
          </a:p>
          <a:p>
            <a:pPr lvl="1">
              <a:buNone/>
              <a:defRPr/>
            </a:pPr>
            <a:r>
              <a:rPr lang="fr-FR" sz="2400" dirty="0" smtClean="0">
                <a:solidFill>
                  <a:schemeClr val="bg2">
                    <a:lumMod val="10000"/>
                  </a:schemeClr>
                </a:solidFill>
              </a:rPr>
              <a:t>  - non infectieuses </a:t>
            </a:r>
          </a:p>
          <a:p>
            <a:pPr eaLnBrk="1" hangingPunct="1">
              <a:spcAft>
                <a:spcPts val="600"/>
              </a:spcAft>
              <a:defRPr/>
            </a:pPr>
            <a:r>
              <a:rPr lang="fr-FR" sz="2400" dirty="0" smtClean="0">
                <a:solidFill>
                  <a:schemeClr val="bg2">
                    <a:lumMod val="10000"/>
                  </a:schemeClr>
                </a:solidFill>
              </a:rPr>
              <a:t>Dgc repose sur la présentation clinique  et les biomarqueurs</a:t>
            </a:r>
          </a:p>
          <a:p>
            <a:pPr eaLnBrk="1" hangingPunct="1">
              <a:spcAft>
                <a:spcPts val="600"/>
              </a:spcAft>
              <a:defRPr/>
            </a:pPr>
            <a:r>
              <a:rPr lang="fr-FR" sz="2400" dirty="0" smtClean="0">
                <a:solidFill>
                  <a:schemeClr val="bg2">
                    <a:lumMod val="10000"/>
                  </a:schemeClr>
                </a:solidFill>
              </a:rPr>
              <a:t>Nécessité d’évaluer le risque dès la suspicion clinique (</a:t>
            </a:r>
            <a:r>
              <a:rPr lang="fr-FR" sz="2400" i="1" dirty="0" smtClean="0">
                <a:solidFill>
                  <a:srgbClr val="FF0000"/>
                </a:solidFill>
              </a:rPr>
              <a:t>red flags</a:t>
            </a:r>
            <a:r>
              <a:rPr lang="fr-FR" sz="2400" dirty="0" smtClean="0">
                <a:solidFill>
                  <a:schemeClr val="bg2">
                    <a:lumMod val="10000"/>
                  </a:schemeClr>
                </a:solidFill>
              </a:rPr>
              <a:t>)</a:t>
            </a:r>
          </a:p>
          <a:p>
            <a:pPr eaLnBrk="1" hangingPunct="1">
              <a:defRPr/>
            </a:pPr>
            <a:r>
              <a:rPr lang="fr-FR" sz="2400" dirty="0" smtClean="0">
                <a:solidFill>
                  <a:schemeClr val="bg2">
                    <a:lumMod val="10000"/>
                  </a:schemeClr>
                </a:solidFill>
              </a:rPr>
              <a:t>Intérêt d’une imagerie multimodale:</a:t>
            </a:r>
          </a:p>
          <a:p>
            <a:pPr eaLnBrk="1" hangingPunct="1">
              <a:buFont typeface="Wingdings 2" pitchFamily="18" charset="2"/>
              <a:buNone/>
              <a:defRPr/>
            </a:pPr>
            <a:r>
              <a:rPr lang="fr-FR" sz="2400" dirty="0" smtClean="0">
                <a:solidFill>
                  <a:schemeClr val="bg2">
                    <a:lumMod val="10000"/>
                  </a:schemeClr>
                </a:solidFill>
              </a:rPr>
              <a:t>      - téléthorax, ECG, échocardiographie, TDM / </a:t>
            </a:r>
            <a:r>
              <a:rPr lang="fr-FR" sz="2400" dirty="0" smtClean="0">
                <a:solidFill>
                  <a:srgbClr val="FF0000"/>
                </a:solidFill>
              </a:rPr>
              <a:t>IRM</a:t>
            </a:r>
            <a:r>
              <a:rPr lang="fr-FR" sz="2400" dirty="0" smtClean="0">
                <a:solidFill>
                  <a:schemeClr val="bg2">
                    <a:lumMod val="10000"/>
                  </a:schemeClr>
                </a:solidFill>
              </a:rPr>
              <a:t> </a:t>
            </a:r>
          </a:p>
          <a:p>
            <a:pPr eaLnBrk="1" hangingPunct="1">
              <a:defRPr/>
            </a:pPr>
            <a:r>
              <a:rPr lang="fr-FR" sz="2400" dirty="0" smtClean="0">
                <a:solidFill>
                  <a:schemeClr val="bg2">
                    <a:lumMod val="10000"/>
                  </a:schemeClr>
                </a:solidFill>
              </a:rPr>
              <a:t>TRT: réduction des symptômes, prévention des complications</a:t>
            </a:r>
          </a:p>
          <a:p>
            <a:pPr eaLnBrk="1" hangingPunct="1">
              <a:defRPr/>
            </a:pPr>
            <a:r>
              <a:rPr lang="fr-FR" sz="2400" dirty="0" smtClean="0">
                <a:solidFill>
                  <a:schemeClr val="bg2">
                    <a:lumMod val="10000"/>
                  </a:schemeClr>
                </a:solidFill>
              </a:rPr>
              <a:t>Récidive: 20 à 30% des cas</a:t>
            </a:r>
          </a:p>
          <a:p>
            <a:pPr eaLnBrk="1" hangingPunct="1">
              <a:defRPr/>
            </a:pPr>
            <a:endParaRPr lang="fr-FR" sz="2400" dirty="0" smtClean="0"/>
          </a:p>
          <a:p>
            <a:pPr eaLnBrk="1" hangingPunct="1">
              <a:defRPr/>
            </a:pPr>
            <a:endParaRPr lang="fr-FR" sz="2400" dirty="0" smtClean="0"/>
          </a:p>
        </p:txBody>
      </p:sp>
      <p:sp>
        <p:nvSpPr>
          <p:cNvPr id="4" name="Accolade fermante 3"/>
          <p:cNvSpPr/>
          <p:nvPr/>
        </p:nvSpPr>
        <p:spPr>
          <a:xfrm>
            <a:off x="3275856" y="2636912"/>
            <a:ext cx="360040" cy="720080"/>
          </a:xfrm>
          <a:prstGeom prst="rightBrace">
            <a:avLst/>
          </a:prstGeom>
          <a:noFill/>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dirty="0"/>
          </a:p>
        </p:txBody>
      </p:sp>
      <p:sp>
        <p:nvSpPr>
          <p:cNvPr id="5" name="ZoneTexte 4"/>
          <p:cNvSpPr txBox="1"/>
          <p:nvPr/>
        </p:nvSpPr>
        <p:spPr>
          <a:xfrm>
            <a:off x="3707904" y="2771636"/>
            <a:ext cx="2952328" cy="400110"/>
          </a:xfrm>
          <a:prstGeom prst="rect">
            <a:avLst/>
          </a:prstGeom>
          <a:noFill/>
        </p:spPr>
        <p:txBody>
          <a:bodyPr wrap="square" rtlCol="0">
            <a:spAutoFit/>
          </a:bodyPr>
          <a:lstStyle/>
          <a:p>
            <a:r>
              <a:rPr lang="fr-FR" sz="2000" b="1" i="1" dirty="0" smtClean="0"/>
              <a:t>±</a:t>
            </a:r>
            <a:r>
              <a:rPr lang="fr-FR" b="1" i="1" dirty="0" smtClean="0"/>
              <a:t> Prédisposition génétique</a:t>
            </a:r>
            <a:endParaRPr lang="fr-FR" b="1" i="1" dirty="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p:cNvSpPr>
            <a:spLocks noGrp="1"/>
          </p:cNvSpPr>
          <p:nvPr>
            <p:ph type="title"/>
          </p:nvPr>
        </p:nvSpPr>
        <p:spPr>
          <a:xfrm>
            <a:off x="251520" y="787552"/>
            <a:ext cx="8686800" cy="841248"/>
          </a:xfrm>
        </p:spPr>
        <p:txBody>
          <a:bodyPr>
            <a:noAutofit/>
          </a:bodyPr>
          <a:lstStyle/>
          <a:p>
            <a:pPr algn="ctr"/>
            <a:r>
              <a:rPr lang="fr-FR" sz="2400" cap="none" dirty="0" smtClean="0"/>
              <a:t>Spectre des Syndromes Myopéricardiques Inflammatoires</a:t>
            </a:r>
            <a:endParaRPr lang="fr-FR" sz="2400" cap="none" dirty="0"/>
          </a:p>
        </p:txBody>
      </p:sp>
      <p:pic>
        <p:nvPicPr>
          <p:cNvPr id="1027" name="Picture 3"/>
          <p:cNvPicPr>
            <a:picLocks noChangeAspect="1" noChangeArrowheads="1"/>
          </p:cNvPicPr>
          <p:nvPr/>
        </p:nvPicPr>
        <p:blipFill>
          <a:blip r:embed="rId2" cstate="print"/>
          <a:srcRect l="196" r="916"/>
          <a:stretch>
            <a:fillRect/>
          </a:stretch>
        </p:blipFill>
        <p:spPr bwMode="auto">
          <a:xfrm>
            <a:off x="755576" y="2132856"/>
            <a:ext cx="7776864" cy="3845703"/>
          </a:xfrm>
          <a:prstGeom prst="rect">
            <a:avLst/>
          </a:prstGeom>
          <a:ln>
            <a:noFill/>
          </a:ln>
          <a:effectLst>
            <a:outerShdw blurRad="292100" dist="139700" dir="2700000" algn="tl" rotWithShape="0">
              <a:srgbClr val="333333">
                <a:alpha val="65000"/>
              </a:srgbClr>
            </a:outerShdw>
          </a:effectLst>
        </p:spPr>
      </p:pic>
      <p:sp>
        <p:nvSpPr>
          <p:cNvPr id="5" name="ZoneTexte 4"/>
          <p:cNvSpPr txBox="1"/>
          <p:nvPr/>
        </p:nvSpPr>
        <p:spPr>
          <a:xfrm>
            <a:off x="3851921" y="1772816"/>
            <a:ext cx="1656184" cy="369332"/>
          </a:xfrm>
          <a:prstGeom prst="rect">
            <a:avLst/>
          </a:prstGeom>
          <a:noFill/>
        </p:spPr>
        <p:txBody>
          <a:bodyPr wrap="square" rtlCol="0">
            <a:spAutoFit/>
          </a:bodyPr>
          <a:lstStyle/>
          <a:p>
            <a:pPr algn="ctr"/>
            <a:r>
              <a:rPr lang="fr-FR" dirty="0" smtClean="0"/>
              <a:t>Myopéricardite</a:t>
            </a:r>
            <a:endParaRPr lang="fr-FR" dirty="0"/>
          </a:p>
        </p:txBody>
      </p:sp>
      <p:sp>
        <p:nvSpPr>
          <p:cNvPr id="6" name="ZoneTexte 5"/>
          <p:cNvSpPr txBox="1"/>
          <p:nvPr/>
        </p:nvSpPr>
        <p:spPr>
          <a:xfrm>
            <a:off x="-180528" y="3842464"/>
            <a:ext cx="1656184" cy="369332"/>
          </a:xfrm>
          <a:prstGeom prst="rect">
            <a:avLst/>
          </a:prstGeom>
          <a:noFill/>
        </p:spPr>
        <p:txBody>
          <a:bodyPr wrap="square" rtlCol="0">
            <a:spAutoFit/>
          </a:bodyPr>
          <a:lstStyle/>
          <a:p>
            <a:pPr algn="ctr"/>
            <a:r>
              <a:rPr lang="fr-FR" dirty="0" smtClean="0"/>
              <a:t>Péricardite</a:t>
            </a:r>
            <a:endParaRPr lang="fr-FR" dirty="0"/>
          </a:p>
        </p:txBody>
      </p:sp>
      <p:sp>
        <p:nvSpPr>
          <p:cNvPr id="7" name="ZoneTexte 6"/>
          <p:cNvSpPr txBox="1"/>
          <p:nvPr/>
        </p:nvSpPr>
        <p:spPr>
          <a:xfrm>
            <a:off x="7668344" y="3881035"/>
            <a:ext cx="1656184" cy="369332"/>
          </a:xfrm>
          <a:prstGeom prst="rect">
            <a:avLst/>
          </a:prstGeom>
          <a:noFill/>
        </p:spPr>
        <p:txBody>
          <a:bodyPr wrap="square" rtlCol="0">
            <a:spAutoFit/>
          </a:bodyPr>
          <a:lstStyle/>
          <a:p>
            <a:pPr algn="ctr"/>
            <a:r>
              <a:rPr lang="fr-FR" dirty="0" smtClean="0"/>
              <a:t>Myocardite</a:t>
            </a:r>
            <a:endParaRPr lang="fr-F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79512" y="1596857"/>
            <a:ext cx="2736304" cy="4124206"/>
          </a:xfrm>
          <a:prstGeom prst="rect">
            <a:avLst/>
          </a:prstGeom>
          <a:solidFill>
            <a:srgbClr val="FFFF66"/>
          </a:solidFill>
          <a:ln w="28575">
            <a:solidFill>
              <a:srgbClr val="FFFF66"/>
            </a:solidFill>
          </a:ln>
          <a:effectLst/>
          <a:scene3d>
            <a:camera prst="orthographicFront"/>
            <a:lightRig rig="threePt" dir="t"/>
          </a:scene3d>
          <a:sp3d>
            <a:bevelT prst="convex"/>
          </a:sp3d>
        </p:spPr>
        <p:txBody>
          <a:bodyPr wrap="square">
            <a:spAutoFit/>
          </a:bodyPr>
          <a:lstStyle/>
          <a:p>
            <a:pPr algn="ctr" fontAlgn="auto">
              <a:spcBef>
                <a:spcPts val="0"/>
              </a:spcBef>
              <a:spcAft>
                <a:spcPts val="0"/>
              </a:spcAft>
              <a:defRPr/>
            </a:pPr>
            <a:r>
              <a:rPr lang="fr-FR" sz="1600" b="1" i="1" dirty="0">
                <a:solidFill>
                  <a:schemeClr val="accent4">
                    <a:lumMod val="10000"/>
                  </a:schemeClr>
                </a:solidFill>
                <a:latin typeface="+mn-lt"/>
                <a:cs typeface="+mn-cs"/>
              </a:rPr>
              <a:t>Virales</a:t>
            </a:r>
          </a:p>
          <a:p>
            <a:pPr fontAlgn="auto">
              <a:spcBef>
                <a:spcPts val="0"/>
              </a:spcBef>
              <a:spcAft>
                <a:spcPts val="0"/>
              </a:spcAft>
              <a:defRPr/>
            </a:pPr>
            <a:r>
              <a:rPr lang="fr-FR" sz="1600" dirty="0">
                <a:latin typeface="+mn-lt"/>
                <a:cs typeface="+mn-cs"/>
              </a:rPr>
              <a:t>Hte C, Coxsakies, </a:t>
            </a:r>
            <a:r>
              <a:rPr lang="fr-FR" sz="1600" dirty="0" err="1">
                <a:latin typeface="+mn-lt"/>
                <a:cs typeface="+mn-cs"/>
              </a:rPr>
              <a:t>échoV</a:t>
            </a:r>
            <a:endParaRPr lang="fr-FR" sz="1600" dirty="0">
              <a:latin typeface="+mn-lt"/>
              <a:cs typeface="+mn-cs"/>
            </a:endParaRPr>
          </a:p>
          <a:p>
            <a:pPr fontAlgn="auto">
              <a:spcBef>
                <a:spcPts val="0"/>
              </a:spcBef>
              <a:spcAft>
                <a:spcPts val="0"/>
              </a:spcAft>
              <a:defRPr/>
            </a:pPr>
            <a:r>
              <a:rPr lang="fr-FR" sz="1600" dirty="0">
                <a:latin typeface="+mn-lt"/>
                <a:cs typeface="+mn-cs"/>
              </a:rPr>
              <a:t>Epstein-Barr, oreillons, </a:t>
            </a:r>
            <a:r>
              <a:rPr lang="fr-FR" sz="1600" b="1" dirty="0">
                <a:latin typeface="+mn-lt"/>
                <a:cs typeface="+mn-cs"/>
              </a:rPr>
              <a:t>herpes </a:t>
            </a:r>
            <a:r>
              <a:rPr lang="fr-FR" sz="1600" dirty="0">
                <a:latin typeface="+mn-lt"/>
                <a:cs typeface="+mn-cs"/>
              </a:rPr>
              <a:t>(EBV, CMV</a:t>
            </a:r>
            <a:r>
              <a:rPr lang="fr-FR" sz="1600" dirty="0" smtClean="0">
                <a:latin typeface="+mn-lt"/>
                <a:cs typeface="+mn-cs"/>
              </a:rPr>
              <a:t>) </a:t>
            </a:r>
            <a:r>
              <a:rPr lang="fr-FR" sz="1600" b="1" dirty="0" err="1" smtClean="0">
                <a:latin typeface="+mn-lt"/>
                <a:cs typeface="+mn-cs"/>
              </a:rPr>
              <a:t>enteroV</a:t>
            </a:r>
            <a:r>
              <a:rPr lang="fr-FR" sz="1600" dirty="0" smtClean="0">
                <a:latin typeface="+mn-lt"/>
                <a:cs typeface="+mn-cs"/>
              </a:rPr>
              <a:t>, </a:t>
            </a:r>
            <a:r>
              <a:rPr lang="fr-FR" sz="1600" b="1" dirty="0" err="1" smtClean="0">
                <a:latin typeface="+mn-lt"/>
                <a:cs typeface="+mn-cs"/>
              </a:rPr>
              <a:t>adénoV</a:t>
            </a:r>
            <a:r>
              <a:rPr lang="fr-FR" sz="1600" dirty="0" smtClean="0">
                <a:latin typeface="+mn-lt"/>
                <a:cs typeface="+mn-cs"/>
              </a:rPr>
              <a:t>, </a:t>
            </a:r>
            <a:r>
              <a:rPr lang="fr-FR" sz="1600" b="1" dirty="0" smtClean="0">
                <a:latin typeface="+mn-lt"/>
                <a:cs typeface="+mn-cs"/>
              </a:rPr>
              <a:t>grippe et </a:t>
            </a:r>
            <a:r>
              <a:rPr lang="fr-FR" sz="1600" b="1" dirty="0" err="1" smtClean="0">
                <a:latin typeface="+mn-lt"/>
                <a:cs typeface="+mn-cs"/>
              </a:rPr>
              <a:t>coronaV</a:t>
            </a:r>
            <a:endParaRPr lang="fr-FR" sz="1600" b="1" dirty="0">
              <a:latin typeface="+mn-lt"/>
              <a:cs typeface="+mn-cs"/>
            </a:endParaRPr>
          </a:p>
          <a:p>
            <a:pPr fontAlgn="auto">
              <a:spcBef>
                <a:spcPts val="0"/>
              </a:spcBef>
              <a:spcAft>
                <a:spcPts val="0"/>
              </a:spcAft>
              <a:defRPr/>
            </a:pPr>
            <a:endParaRPr lang="fr-FR" sz="1600" dirty="0">
              <a:latin typeface="+mn-lt"/>
              <a:cs typeface="+mn-cs"/>
            </a:endParaRPr>
          </a:p>
          <a:p>
            <a:pPr algn="ctr" fontAlgn="auto">
              <a:spcBef>
                <a:spcPts val="0"/>
              </a:spcBef>
              <a:spcAft>
                <a:spcPts val="0"/>
              </a:spcAft>
              <a:defRPr/>
            </a:pPr>
            <a:r>
              <a:rPr lang="fr-FR" sz="1600" b="1" i="1" dirty="0">
                <a:solidFill>
                  <a:schemeClr val="accent4">
                    <a:lumMod val="10000"/>
                  </a:schemeClr>
                </a:solidFill>
                <a:latin typeface="+mn-lt"/>
                <a:cs typeface="+mn-cs"/>
              </a:rPr>
              <a:t>Bactériennes</a:t>
            </a:r>
          </a:p>
          <a:p>
            <a:pPr fontAlgn="auto">
              <a:spcBef>
                <a:spcPts val="0"/>
              </a:spcBef>
              <a:spcAft>
                <a:spcPts val="0"/>
              </a:spcAft>
              <a:defRPr/>
            </a:pPr>
            <a:r>
              <a:rPr lang="fr-FR" sz="1600" b="1" dirty="0">
                <a:latin typeface="+mn-lt"/>
                <a:cs typeface="+mn-cs"/>
              </a:rPr>
              <a:t>TBC</a:t>
            </a:r>
            <a:r>
              <a:rPr lang="fr-FR" sz="1600" dirty="0">
                <a:latin typeface="+mn-lt"/>
                <a:cs typeface="+mn-cs"/>
              </a:rPr>
              <a:t>, Pneumo, </a:t>
            </a:r>
            <a:r>
              <a:rPr lang="fr-FR" sz="1600" dirty="0" err="1">
                <a:latin typeface="+mn-lt"/>
                <a:cs typeface="+mn-cs"/>
              </a:rPr>
              <a:t>staphylo</a:t>
            </a:r>
            <a:r>
              <a:rPr lang="fr-FR" sz="1600" dirty="0">
                <a:latin typeface="+mn-lt"/>
                <a:cs typeface="+mn-cs"/>
              </a:rPr>
              <a:t>, </a:t>
            </a:r>
            <a:r>
              <a:rPr lang="fr-FR" sz="1600" dirty="0" err="1">
                <a:latin typeface="+mn-lt"/>
                <a:cs typeface="+mn-cs"/>
              </a:rPr>
              <a:t>strepto</a:t>
            </a:r>
            <a:r>
              <a:rPr lang="fr-FR" sz="1600" dirty="0">
                <a:latin typeface="+mn-lt"/>
                <a:cs typeface="+mn-cs"/>
              </a:rPr>
              <a:t>, </a:t>
            </a:r>
            <a:r>
              <a:rPr lang="fr-FR" sz="1600" dirty="0" smtClean="0">
                <a:latin typeface="+mn-lt"/>
                <a:cs typeface="+mn-cs"/>
              </a:rPr>
              <a:t>gonocoque, </a:t>
            </a:r>
            <a:r>
              <a:rPr lang="fr-FR" sz="1600" b="1" dirty="0" smtClean="0">
                <a:latin typeface="+mn-lt"/>
                <a:cs typeface="+mn-cs"/>
              </a:rPr>
              <a:t>Lyme</a:t>
            </a:r>
            <a:endParaRPr lang="fr-FR" sz="1600" b="1" dirty="0">
              <a:latin typeface="+mn-lt"/>
              <a:cs typeface="+mn-cs"/>
            </a:endParaRPr>
          </a:p>
          <a:p>
            <a:pPr fontAlgn="auto">
              <a:spcBef>
                <a:spcPts val="0"/>
              </a:spcBef>
              <a:spcAft>
                <a:spcPts val="0"/>
              </a:spcAft>
              <a:defRPr/>
            </a:pPr>
            <a:endParaRPr lang="fr-FR" sz="1600" dirty="0">
              <a:latin typeface="+mn-lt"/>
              <a:cs typeface="+mn-cs"/>
            </a:endParaRPr>
          </a:p>
          <a:p>
            <a:pPr algn="ctr" fontAlgn="auto">
              <a:spcBef>
                <a:spcPts val="0"/>
              </a:spcBef>
              <a:spcAft>
                <a:spcPts val="0"/>
              </a:spcAft>
              <a:defRPr/>
            </a:pPr>
            <a:r>
              <a:rPr lang="fr-FR" sz="1600" b="1" i="1" dirty="0">
                <a:solidFill>
                  <a:schemeClr val="accent4">
                    <a:lumMod val="10000"/>
                  </a:schemeClr>
                </a:solidFill>
                <a:latin typeface="+mn-lt"/>
                <a:cs typeface="+mn-cs"/>
              </a:rPr>
              <a:t>Fungiques</a:t>
            </a:r>
          </a:p>
          <a:p>
            <a:pPr fontAlgn="auto">
              <a:spcBef>
                <a:spcPts val="0"/>
              </a:spcBef>
              <a:spcAft>
                <a:spcPts val="0"/>
              </a:spcAft>
              <a:defRPr/>
            </a:pPr>
            <a:r>
              <a:rPr lang="fr-FR" sz="1600" dirty="0">
                <a:latin typeface="+mn-lt"/>
                <a:cs typeface="+mn-cs"/>
              </a:rPr>
              <a:t>Histoplasmose, champignons (candida, aspergillus</a:t>
            </a:r>
            <a:r>
              <a:rPr lang="fr-FR" sz="1600" dirty="0" smtClean="0">
                <a:latin typeface="+mn-lt"/>
                <a:cs typeface="+mn-cs"/>
              </a:rPr>
              <a:t>)</a:t>
            </a:r>
          </a:p>
          <a:p>
            <a:pPr fontAlgn="auto">
              <a:spcBef>
                <a:spcPts val="0"/>
              </a:spcBef>
              <a:spcAft>
                <a:spcPts val="0"/>
              </a:spcAft>
              <a:defRPr/>
            </a:pPr>
            <a:endParaRPr lang="fr-FR" sz="1600" dirty="0" smtClean="0"/>
          </a:p>
          <a:p>
            <a:pPr algn="ctr" fontAlgn="auto">
              <a:spcBef>
                <a:spcPts val="0"/>
              </a:spcBef>
              <a:spcAft>
                <a:spcPts val="0"/>
              </a:spcAft>
              <a:defRPr/>
            </a:pPr>
            <a:r>
              <a:rPr lang="fr-FR" sz="1600" b="1" i="1" dirty="0" smtClean="0">
                <a:latin typeface="+mn-lt"/>
                <a:cs typeface="+mn-cs"/>
              </a:rPr>
              <a:t>Parasitaires</a:t>
            </a:r>
          </a:p>
          <a:p>
            <a:pPr fontAlgn="auto">
              <a:spcBef>
                <a:spcPts val="0"/>
              </a:spcBef>
              <a:spcAft>
                <a:spcPts val="0"/>
              </a:spcAft>
              <a:defRPr/>
            </a:pPr>
            <a:r>
              <a:rPr lang="fr-FR" sz="1600" dirty="0" err="1" smtClean="0"/>
              <a:t>Tripanosomiase</a:t>
            </a:r>
            <a:endParaRPr lang="fr-FR" sz="1400" dirty="0">
              <a:latin typeface="+mn-lt"/>
              <a:cs typeface="+mn-cs"/>
            </a:endParaRPr>
          </a:p>
        </p:txBody>
      </p:sp>
      <p:sp>
        <p:nvSpPr>
          <p:cNvPr id="6" name="ZoneTexte 5"/>
          <p:cNvSpPr txBox="1"/>
          <p:nvPr/>
        </p:nvSpPr>
        <p:spPr>
          <a:xfrm>
            <a:off x="6372200" y="1538789"/>
            <a:ext cx="2520280" cy="830997"/>
          </a:xfrm>
          <a:prstGeom prst="rect">
            <a:avLst/>
          </a:prstGeom>
          <a:noFill/>
          <a:ln w="28575">
            <a:solidFill>
              <a:srgbClr val="9933FF"/>
            </a:solidFill>
          </a:ln>
          <a:scene3d>
            <a:camera prst="orthographicFront"/>
            <a:lightRig rig="threePt" dir="t"/>
          </a:scene3d>
          <a:sp3d>
            <a:bevelT w="139700" prst="cross"/>
          </a:sp3d>
        </p:spPr>
        <p:txBody>
          <a:bodyPr>
            <a:spAutoFit/>
          </a:bodyPr>
          <a:lstStyle/>
          <a:p>
            <a:pPr fontAlgn="auto">
              <a:spcBef>
                <a:spcPts val="0"/>
              </a:spcBef>
              <a:spcAft>
                <a:spcPts val="0"/>
              </a:spcAft>
              <a:defRPr/>
            </a:pPr>
            <a:r>
              <a:rPr lang="fr-FR" sz="1600" dirty="0">
                <a:latin typeface="+mn-lt"/>
                <a:cs typeface="+mn-cs"/>
              </a:rPr>
              <a:t>RAA, </a:t>
            </a:r>
            <a:r>
              <a:rPr lang="fr-FR" sz="1600" b="1" dirty="0">
                <a:latin typeface="+mn-lt"/>
                <a:cs typeface="+mn-cs"/>
              </a:rPr>
              <a:t>sarcoïdose, PR lupus, sclérodermie, </a:t>
            </a:r>
            <a:r>
              <a:rPr lang="fr-FR" sz="1600" dirty="0" err="1">
                <a:latin typeface="+mn-lt"/>
                <a:cs typeface="+mn-cs"/>
              </a:rPr>
              <a:t>Still</a:t>
            </a:r>
            <a:r>
              <a:rPr lang="fr-FR" sz="1600" dirty="0">
                <a:latin typeface="+mn-lt"/>
                <a:cs typeface="+mn-cs"/>
              </a:rPr>
              <a:t>, Takayasu… </a:t>
            </a:r>
          </a:p>
        </p:txBody>
      </p:sp>
      <p:sp>
        <p:nvSpPr>
          <p:cNvPr id="7" name="ZoneTexte 6"/>
          <p:cNvSpPr txBox="1"/>
          <p:nvPr/>
        </p:nvSpPr>
        <p:spPr>
          <a:xfrm>
            <a:off x="6732240" y="2690917"/>
            <a:ext cx="1728192" cy="338554"/>
          </a:xfrm>
          <a:prstGeom prst="rect">
            <a:avLst/>
          </a:prstGeom>
          <a:solidFill>
            <a:srgbClr val="FFFF00"/>
          </a:solidFill>
          <a:ln w="38100">
            <a:solidFill>
              <a:srgbClr val="FFFF00"/>
            </a:solidFill>
          </a:ln>
          <a:scene3d>
            <a:camera prst="orthographicFront"/>
            <a:lightRig rig="threePt" dir="t"/>
          </a:scene3d>
          <a:sp3d>
            <a:bevelT w="114300" prst="hardEdge"/>
          </a:sp3d>
        </p:spPr>
        <p:txBody>
          <a:bodyPr>
            <a:spAutoFit/>
          </a:bodyPr>
          <a:lstStyle/>
          <a:p>
            <a:pPr algn="ctr" fontAlgn="auto">
              <a:spcBef>
                <a:spcPts val="0"/>
              </a:spcBef>
              <a:spcAft>
                <a:spcPts val="0"/>
              </a:spcAft>
              <a:defRPr/>
            </a:pPr>
            <a:r>
              <a:rPr lang="fr-FR" sz="1600" i="1" dirty="0">
                <a:latin typeface="+mn-lt"/>
                <a:cs typeface="+mn-cs"/>
              </a:rPr>
              <a:t>Métaboliques</a:t>
            </a:r>
            <a:endParaRPr lang="fr-FR" i="1" dirty="0">
              <a:latin typeface="+mn-lt"/>
              <a:cs typeface="+mn-cs"/>
            </a:endParaRPr>
          </a:p>
        </p:txBody>
      </p:sp>
      <p:sp>
        <p:nvSpPr>
          <p:cNvPr id="8" name="ZoneTexte 7"/>
          <p:cNvSpPr txBox="1"/>
          <p:nvPr/>
        </p:nvSpPr>
        <p:spPr>
          <a:xfrm>
            <a:off x="3923928" y="3063151"/>
            <a:ext cx="1872208" cy="584775"/>
          </a:xfrm>
          <a:prstGeom prst="rect">
            <a:avLst/>
          </a:prstGeom>
          <a:solidFill>
            <a:srgbClr val="99FF33"/>
          </a:solidFill>
          <a:ln w="38100">
            <a:solidFill>
              <a:srgbClr val="99FF33"/>
            </a:solidFill>
          </a:ln>
          <a:scene3d>
            <a:camera prst="orthographicFront"/>
            <a:lightRig rig="threePt" dir="t"/>
          </a:scene3d>
          <a:sp3d>
            <a:bevelT w="114300" prst="hardEdge"/>
          </a:sp3d>
        </p:spPr>
        <p:txBody>
          <a:bodyPr>
            <a:spAutoFit/>
          </a:bodyPr>
          <a:lstStyle/>
          <a:p>
            <a:pPr algn="ctr" fontAlgn="auto">
              <a:spcBef>
                <a:spcPts val="0"/>
              </a:spcBef>
              <a:spcAft>
                <a:spcPts val="0"/>
              </a:spcAft>
              <a:defRPr/>
            </a:pPr>
            <a:r>
              <a:rPr lang="fr-FR" sz="1600" i="1" dirty="0">
                <a:latin typeface="+mn-lt"/>
                <a:cs typeface="+mn-cs"/>
              </a:rPr>
              <a:t>Traumatiques &amp; iatrogènes</a:t>
            </a:r>
          </a:p>
        </p:txBody>
      </p:sp>
      <p:sp>
        <p:nvSpPr>
          <p:cNvPr id="9" name="ZoneTexte 8"/>
          <p:cNvSpPr txBox="1"/>
          <p:nvPr/>
        </p:nvSpPr>
        <p:spPr>
          <a:xfrm>
            <a:off x="3131840" y="3771037"/>
            <a:ext cx="3096344" cy="1323439"/>
          </a:xfrm>
          <a:prstGeom prst="rect">
            <a:avLst/>
          </a:prstGeom>
          <a:noFill/>
          <a:ln w="28575">
            <a:solidFill>
              <a:srgbClr val="99FF33"/>
            </a:solidFill>
          </a:ln>
          <a:scene3d>
            <a:camera prst="orthographicFront"/>
            <a:lightRig rig="threePt" dir="t"/>
          </a:scene3d>
          <a:sp3d>
            <a:bevelT prst="convex"/>
          </a:sp3d>
        </p:spPr>
        <p:txBody>
          <a:bodyPr>
            <a:spAutoFit/>
          </a:bodyPr>
          <a:lstStyle/>
          <a:p>
            <a:pPr fontAlgn="auto">
              <a:spcBef>
                <a:spcPts val="0"/>
              </a:spcBef>
              <a:spcAft>
                <a:spcPts val="0"/>
              </a:spcAft>
              <a:defRPr/>
            </a:pPr>
            <a:r>
              <a:rPr lang="fr-FR" sz="1600" b="1" i="1" dirty="0">
                <a:latin typeface="+mn-lt"/>
                <a:cs typeface="+mn-cs"/>
              </a:rPr>
              <a:t>Précoces</a:t>
            </a:r>
            <a:r>
              <a:rPr lang="fr-FR" sz="1600" dirty="0">
                <a:latin typeface="+mn-lt"/>
                <a:cs typeface="+mn-cs"/>
              </a:rPr>
              <a:t>: traumatisme pénétrant ou non, </a:t>
            </a:r>
            <a:r>
              <a:rPr lang="fr-FR" sz="1600" b="1" dirty="0">
                <a:latin typeface="+mn-lt"/>
                <a:cs typeface="+mn-cs"/>
              </a:rPr>
              <a:t>radiations</a:t>
            </a:r>
            <a:r>
              <a:rPr lang="fr-FR" sz="1600" dirty="0">
                <a:latin typeface="+mn-lt"/>
                <a:cs typeface="+mn-cs"/>
              </a:rPr>
              <a:t>, perforation œsophage</a:t>
            </a:r>
          </a:p>
          <a:p>
            <a:pPr fontAlgn="auto">
              <a:spcBef>
                <a:spcPts val="0"/>
              </a:spcBef>
              <a:spcAft>
                <a:spcPts val="0"/>
              </a:spcAft>
              <a:defRPr/>
            </a:pPr>
            <a:r>
              <a:rPr lang="fr-FR" sz="1600" b="1" i="1" dirty="0">
                <a:latin typeface="+mn-lt"/>
                <a:cs typeface="+mn-cs"/>
              </a:rPr>
              <a:t>Tardifs</a:t>
            </a:r>
            <a:r>
              <a:rPr lang="fr-FR" sz="1600" dirty="0">
                <a:latin typeface="+mn-lt"/>
                <a:cs typeface="+mn-cs"/>
              </a:rPr>
              <a:t>:  Dressler, trauma, </a:t>
            </a:r>
            <a:r>
              <a:rPr lang="fr-FR" sz="1600" b="1" dirty="0">
                <a:latin typeface="+mn-lt"/>
                <a:cs typeface="+mn-cs"/>
              </a:rPr>
              <a:t>post </a:t>
            </a:r>
            <a:r>
              <a:rPr lang="fr-FR" sz="1600" b="1" dirty="0" err="1" smtClean="0">
                <a:latin typeface="+mn-lt"/>
                <a:cs typeface="+mn-cs"/>
              </a:rPr>
              <a:t>péricardiotomie</a:t>
            </a:r>
            <a:r>
              <a:rPr lang="fr-FR" sz="1600" dirty="0">
                <a:latin typeface="+mn-lt"/>
                <a:cs typeface="+mn-cs"/>
              </a:rPr>
              <a:t>, </a:t>
            </a:r>
            <a:r>
              <a:rPr lang="fr-FR" sz="1600" b="1" dirty="0">
                <a:latin typeface="+mn-lt"/>
                <a:cs typeface="+mn-cs"/>
              </a:rPr>
              <a:t>KT</a:t>
            </a:r>
          </a:p>
        </p:txBody>
      </p:sp>
      <p:sp>
        <p:nvSpPr>
          <p:cNvPr id="10" name="ZoneTexte 9"/>
          <p:cNvSpPr txBox="1"/>
          <p:nvPr/>
        </p:nvSpPr>
        <p:spPr>
          <a:xfrm>
            <a:off x="251520" y="980728"/>
            <a:ext cx="2448272" cy="400110"/>
          </a:xfrm>
          <a:prstGeom prst="rect">
            <a:avLst/>
          </a:prstGeom>
          <a:noFill/>
          <a:ln w="38100">
            <a:solidFill>
              <a:srgbClr val="C00000"/>
            </a:solidFill>
          </a:ln>
          <a:scene3d>
            <a:camera prst="orthographicFront"/>
            <a:lightRig rig="threePt" dir="t"/>
          </a:scene3d>
          <a:sp3d>
            <a:bevelT w="152400" h="50800" prst="softRound"/>
          </a:sp3d>
        </p:spPr>
        <p:txBody>
          <a:bodyPr>
            <a:spAutoFit/>
          </a:bodyPr>
          <a:lstStyle/>
          <a:p>
            <a:pPr algn="ctr" fontAlgn="auto">
              <a:spcBef>
                <a:spcPts val="0"/>
              </a:spcBef>
              <a:spcAft>
                <a:spcPts val="0"/>
              </a:spcAft>
              <a:defRPr/>
            </a:pPr>
            <a:r>
              <a:rPr lang="fr-FR" sz="2000" b="1" dirty="0">
                <a:solidFill>
                  <a:srgbClr val="C00000"/>
                </a:solidFill>
                <a:latin typeface="+mn-lt"/>
                <a:cs typeface="+mn-cs"/>
              </a:rPr>
              <a:t>Infectieuses</a:t>
            </a:r>
          </a:p>
        </p:txBody>
      </p:sp>
      <p:sp>
        <p:nvSpPr>
          <p:cNvPr id="11" name="ZoneTexte 10"/>
          <p:cNvSpPr txBox="1"/>
          <p:nvPr/>
        </p:nvSpPr>
        <p:spPr>
          <a:xfrm>
            <a:off x="6588224" y="1106741"/>
            <a:ext cx="2016224" cy="338554"/>
          </a:xfrm>
          <a:prstGeom prst="rect">
            <a:avLst/>
          </a:prstGeom>
          <a:solidFill>
            <a:srgbClr val="FF0000"/>
          </a:solidFill>
          <a:ln w="38100">
            <a:solidFill>
              <a:srgbClr val="9933FF"/>
            </a:solidFill>
          </a:ln>
          <a:scene3d>
            <a:camera prst="orthographicFront"/>
            <a:lightRig rig="threePt" dir="t"/>
          </a:scene3d>
          <a:sp3d>
            <a:bevelT w="114300" prst="hardEdge"/>
          </a:sp3d>
        </p:spPr>
        <p:txBody>
          <a:bodyPr>
            <a:spAutoFit/>
          </a:bodyPr>
          <a:lstStyle/>
          <a:p>
            <a:pPr algn="ctr" fontAlgn="auto">
              <a:spcBef>
                <a:spcPts val="0"/>
              </a:spcBef>
              <a:spcAft>
                <a:spcPts val="0"/>
              </a:spcAft>
              <a:defRPr/>
            </a:pPr>
            <a:r>
              <a:rPr lang="fr-FR" sz="1600" i="1" dirty="0">
                <a:latin typeface="+mn-lt"/>
                <a:cs typeface="+mn-cs"/>
              </a:rPr>
              <a:t>Auto-immunes</a:t>
            </a:r>
          </a:p>
        </p:txBody>
      </p:sp>
      <p:sp>
        <p:nvSpPr>
          <p:cNvPr id="12" name="ZoneTexte 11"/>
          <p:cNvSpPr txBox="1"/>
          <p:nvPr/>
        </p:nvSpPr>
        <p:spPr>
          <a:xfrm>
            <a:off x="6516216" y="3122965"/>
            <a:ext cx="2160240" cy="1077218"/>
          </a:xfrm>
          <a:prstGeom prst="rect">
            <a:avLst/>
          </a:prstGeom>
          <a:noFill/>
          <a:ln w="28575">
            <a:solidFill>
              <a:srgbClr val="FFFF00"/>
            </a:solidFill>
          </a:ln>
          <a:scene3d>
            <a:camera prst="orthographicFront"/>
            <a:lightRig rig="threePt" dir="t"/>
          </a:scene3d>
          <a:sp3d>
            <a:bevelT w="101600" prst="riblet"/>
          </a:sp3d>
        </p:spPr>
        <p:txBody>
          <a:bodyPr>
            <a:spAutoFit/>
          </a:bodyPr>
          <a:lstStyle/>
          <a:p>
            <a:pPr fontAlgn="auto">
              <a:spcBef>
                <a:spcPts val="0"/>
              </a:spcBef>
              <a:spcAft>
                <a:spcPts val="0"/>
              </a:spcAft>
              <a:defRPr/>
            </a:pPr>
            <a:r>
              <a:rPr lang="fr-FR" sz="1600" dirty="0">
                <a:latin typeface="+mn-lt"/>
                <a:cs typeface="+mn-cs"/>
              </a:rPr>
              <a:t>Hyperurémie</a:t>
            </a:r>
          </a:p>
          <a:p>
            <a:pPr fontAlgn="auto">
              <a:spcBef>
                <a:spcPts val="0"/>
              </a:spcBef>
              <a:spcAft>
                <a:spcPts val="0"/>
              </a:spcAft>
              <a:defRPr/>
            </a:pPr>
            <a:r>
              <a:rPr lang="fr-FR" sz="1600" dirty="0">
                <a:latin typeface="+mn-lt"/>
                <a:cs typeface="+mn-cs"/>
              </a:rPr>
              <a:t>Hypothyroïdie</a:t>
            </a:r>
          </a:p>
          <a:p>
            <a:pPr fontAlgn="auto">
              <a:spcBef>
                <a:spcPts val="0"/>
              </a:spcBef>
              <a:spcAft>
                <a:spcPts val="0"/>
              </a:spcAft>
              <a:defRPr/>
            </a:pPr>
            <a:r>
              <a:rPr lang="fr-FR" sz="1600" dirty="0">
                <a:latin typeface="+mn-lt"/>
                <a:cs typeface="+mn-cs"/>
              </a:rPr>
              <a:t>Anorexie mentale</a:t>
            </a:r>
          </a:p>
          <a:p>
            <a:pPr fontAlgn="auto">
              <a:spcBef>
                <a:spcPts val="0"/>
              </a:spcBef>
              <a:spcAft>
                <a:spcPts val="0"/>
              </a:spcAft>
              <a:defRPr/>
            </a:pPr>
            <a:r>
              <a:rPr lang="fr-FR" sz="1600" dirty="0">
                <a:latin typeface="+mn-lt"/>
                <a:cs typeface="+mn-cs"/>
              </a:rPr>
              <a:t>Idiopathique </a:t>
            </a:r>
          </a:p>
        </p:txBody>
      </p:sp>
      <p:sp>
        <p:nvSpPr>
          <p:cNvPr id="13" name="ZoneTexte 12"/>
          <p:cNvSpPr txBox="1"/>
          <p:nvPr/>
        </p:nvSpPr>
        <p:spPr>
          <a:xfrm>
            <a:off x="3059832" y="188640"/>
            <a:ext cx="2376264" cy="461665"/>
          </a:xfrm>
          <a:prstGeom prst="rect">
            <a:avLst/>
          </a:prstGeom>
          <a:solidFill>
            <a:srgbClr val="D9F5FF"/>
          </a:solidFill>
          <a:ln w="38100">
            <a:solidFill>
              <a:srgbClr val="6D98DD"/>
            </a:solidFill>
          </a:ln>
        </p:spPr>
        <p:txBody>
          <a:bodyPr wrap="square">
            <a:spAutoFit/>
          </a:bodyPr>
          <a:lstStyle/>
          <a:p>
            <a:pPr algn="ctr" fontAlgn="auto">
              <a:spcBef>
                <a:spcPts val="0"/>
              </a:spcBef>
              <a:spcAft>
                <a:spcPts val="0"/>
              </a:spcAft>
              <a:defRPr/>
            </a:pPr>
            <a:r>
              <a:rPr lang="fr-FR" sz="2400" dirty="0" smtClean="0">
                <a:solidFill>
                  <a:srgbClr val="FF9900"/>
                </a:solidFill>
                <a:latin typeface="+mn-lt"/>
                <a:cs typeface="Times New Roman" pitchFamily="18" charset="0"/>
              </a:rPr>
              <a:t>III- ÉTIOLOGIES</a:t>
            </a:r>
          </a:p>
        </p:txBody>
      </p:sp>
      <p:sp>
        <p:nvSpPr>
          <p:cNvPr id="15" name="ZoneTexte 14"/>
          <p:cNvSpPr txBox="1"/>
          <p:nvPr/>
        </p:nvSpPr>
        <p:spPr>
          <a:xfrm>
            <a:off x="6228184" y="404664"/>
            <a:ext cx="2448272" cy="400110"/>
          </a:xfrm>
          <a:prstGeom prst="rect">
            <a:avLst/>
          </a:prstGeom>
          <a:noFill/>
          <a:ln w="38100">
            <a:solidFill>
              <a:srgbClr val="C00000"/>
            </a:solidFill>
          </a:ln>
          <a:scene3d>
            <a:camera prst="orthographicFront"/>
            <a:lightRig rig="threePt" dir="t"/>
          </a:scene3d>
          <a:sp3d>
            <a:bevelT w="152400" h="50800" prst="softRound"/>
          </a:sp3d>
        </p:spPr>
        <p:txBody>
          <a:bodyPr>
            <a:spAutoFit/>
          </a:bodyPr>
          <a:lstStyle/>
          <a:p>
            <a:pPr algn="ctr" fontAlgn="auto">
              <a:spcBef>
                <a:spcPts val="0"/>
              </a:spcBef>
              <a:spcAft>
                <a:spcPts val="0"/>
              </a:spcAft>
              <a:defRPr/>
            </a:pPr>
            <a:r>
              <a:rPr lang="fr-FR" sz="2000" b="1" dirty="0">
                <a:solidFill>
                  <a:srgbClr val="C00000"/>
                </a:solidFill>
                <a:latin typeface="+mn-lt"/>
                <a:cs typeface="+mn-cs"/>
              </a:rPr>
              <a:t>Non Infectieuses</a:t>
            </a:r>
          </a:p>
        </p:txBody>
      </p:sp>
      <p:sp>
        <p:nvSpPr>
          <p:cNvPr id="16" name="ZoneTexte 15"/>
          <p:cNvSpPr txBox="1"/>
          <p:nvPr/>
        </p:nvSpPr>
        <p:spPr>
          <a:xfrm>
            <a:off x="3995936" y="1466781"/>
            <a:ext cx="1728192" cy="338554"/>
          </a:xfrm>
          <a:prstGeom prst="rect">
            <a:avLst/>
          </a:prstGeom>
          <a:solidFill>
            <a:srgbClr val="FF9900"/>
          </a:solidFill>
          <a:ln w="38100">
            <a:solidFill>
              <a:srgbClr val="FF9900"/>
            </a:solidFill>
          </a:ln>
          <a:scene3d>
            <a:camera prst="orthographicFront"/>
            <a:lightRig rig="threePt" dir="t"/>
          </a:scene3d>
          <a:sp3d>
            <a:bevelT w="114300" prst="hardEdge"/>
          </a:sp3d>
        </p:spPr>
        <p:txBody>
          <a:bodyPr>
            <a:spAutoFit/>
          </a:bodyPr>
          <a:lstStyle/>
          <a:p>
            <a:pPr algn="ctr" fontAlgn="auto">
              <a:spcBef>
                <a:spcPts val="0"/>
              </a:spcBef>
              <a:spcAft>
                <a:spcPts val="0"/>
              </a:spcAft>
              <a:defRPr/>
            </a:pPr>
            <a:r>
              <a:rPr lang="fr-FR" sz="1600" i="1" dirty="0">
                <a:latin typeface="+mn-lt"/>
                <a:cs typeface="+mn-cs"/>
              </a:rPr>
              <a:t>Néoplasiques</a:t>
            </a:r>
          </a:p>
        </p:txBody>
      </p:sp>
      <p:sp>
        <p:nvSpPr>
          <p:cNvPr id="17" name="ZoneTexte 16"/>
          <p:cNvSpPr txBox="1"/>
          <p:nvPr/>
        </p:nvSpPr>
        <p:spPr>
          <a:xfrm>
            <a:off x="3131840" y="1898829"/>
            <a:ext cx="3096344" cy="830997"/>
          </a:xfrm>
          <a:prstGeom prst="rect">
            <a:avLst/>
          </a:prstGeom>
          <a:noFill/>
          <a:ln w="28575">
            <a:solidFill>
              <a:srgbClr val="FF9900"/>
            </a:solidFill>
          </a:ln>
          <a:scene3d>
            <a:camera prst="orthographicFront"/>
            <a:lightRig rig="threePt" dir="t"/>
          </a:scene3d>
          <a:sp3d>
            <a:bevelT prst="convex"/>
          </a:sp3d>
        </p:spPr>
        <p:txBody>
          <a:bodyPr>
            <a:spAutoFit/>
          </a:bodyPr>
          <a:lstStyle/>
          <a:p>
            <a:pPr fontAlgn="auto">
              <a:spcBef>
                <a:spcPts val="0"/>
              </a:spcBef>
              <a:spcAft>
                <a:spcPts val="0"/>
              </a:spcAft>
              <a:defRPr/>
            </a:pPr>
            <a:r>
              <a:rPr lang="fr-FR" sz="1600" dirty="0">
                <a:latin typeface="+mn-lt"/>
                <a:cs typeface="+mn-cs"/>
              </a:rPr>
              <a:t>Primitives (rares)</a:t>
            </a:r>
          </a:p>
          <a:p>
            <a:pPr fontAlgn="auto">
              <a:spcBef>
                <a:spcPts val="0"/>
              </a:spcBef>
              <a:spcAft>
                <a:spcPts val="0"/>
              </a:spcAft>
              <a:defRPr/>
            </a:pPr>
            <a:r>
              <a:rPr lang="fr-FR" sz="1600" u="sng" dirty="0">
                <a:latin typeface="+mn-lt"/>
                <a:cs typeface="+mn-cs"/>
              </a:rPr>
              <a:t>Métastatiques</a:t>
            </a:r>
            <a:r>
              <a:rPr lang="fr-FR" sz="1600" dirty="0">
                <a:latin typeface="+mn-lt"/>
                <a:cs typeface="+mn-cs"/>
              </a:rPr>
              <a:t>: sein, poumon, lymphome, leucémie</a:t>
            </a:r>
          </a:p>
        </p:txBody>
      </p:sp>
      <p:sp>
        <p:nvSpPr>
          <p:cNvPr id="19" name="ZoneTexte 18"/>
          <p:cNvSpPr txBox="1"/>
          <p:nvPr/>
        </p:nvSpPr>
        <p:spPr>
          <a:xfrm>
            <a:off x="6588224" y="4491117"/>
            <a:ext cx="2232248" cy="338554"/>
          </a:xfrm>
          <a:prstGeom prst="rect">
            <a:avLst/>
          </a:prstGeom>
          <a:solidFill>
            <a:srgbClr val="FF7C80"/>
          </a:solidFill>
          <a:ln w="38100">
            <a:solidFill>
              <a:srgbClr val="FF7C80"/>
            </a:solidFill>
          </a:ln>
          <a:scene3d>
            <a:camera prst="orthographicFront"/>
            <a:lightRig rig="threePt" dir="t"/>
          </a:scene3d>
          <a:sp3d>
            <a:bevelT w="114300" prst="hardEdge"/>
          </a:sp3d>
        </p:spPr>
        <p:txBody>
          <a:bodyPr>
            <a:spAutoFit/>
          </a:bodyPr>
          <a:lstStyle/>
          <a:p>
            <a:pPr algn="ctr" fontAlgn="auto">
              <a:spcBef>
                <a:spcPts val="0"/>
              </a:spcBef>
              <a:spcAft>
                <a:spcPts val="0"/>
              </a:spcAft>
              <a:defRPr/>
            </a:pPr>
            <a:r>
              <a:rPr lang="fr-FR" sz="1600" i="1" dirty="0">
                <a:latin typeface="+mn-lt"/>
                <a:cs typeface="+mn-cs"/>
              </a:rPr>
              <a:t>Médicamenteuses</a:t>
            </a:r>
          </a:p>
        </p:txBody>
      </p:sp>
      <p:sp>
        <p:nvSpPr>
          <p:cNvPr id="20" name="ZoneTexte 19"/>
          <p:cNvSpPr txBox="1"/>
          <p:nvPr/>
        </p:nvSpPr>
        <p:spPr>
          <a:xfrm>
            <a:off x="6516216" y="4923165"/>
            <a:ext cx="2376264" cy="954107"/>
          </a:xfrm>
          <a:prstGeom prst="rect">
            <a:avLst/>
          </a:prstGeom>
          <a:noFill/>
          <a:ln w="28575">
            <a:solidFill>
              <a:srgbClr val="FF7C80"/>
            </a:solidFill>
          </a:ln>
          <a:scene3d>
            <a:camera prst="orthographicFront"/>
            <a:lightRig rig="threePt" dir="t"/>
          </a:scene3d>
          <a:sp3d>
            <a:bevelT prst="convex"/>
          </a:sp3d>
        </p:spPr>
        <p:txBody>
          <a:bodyPr>
            <a:spAutoFit/>
          </a:bodyPr>
          <a:lstStyle/>
          <a:p>
            <a:pPr fontAlgn="auto">
              <a:spcBef>
                <a:spcPts val="0"/>
              </a:spcBef>
              <a:spcAft>
                <a:spcPts val="0"/>
              </a:spcAft>
              <a:defRPr/>
            </a:pPr>
            <a:r>
              <a:rPr lang="fr-FR" dirty="0" smtClean="0">
                <a:latin typeface="+mn-lt"/>
                <a:cs typeface="+mn-cs"/>
              </a:rPr>
              <a:t>INH</a:t>
            </a:r>
            <a:r>
              <a:rPr lang="fr-FR" dirty="0">
                <a:latin typeface="+mn-lt"/>
                <a:cs typeface="+mn-cs"/>
              </a:rPr>
              <a:t>, antimitotiques, amiodarone, vaccins, </a:t>
            </a:r>
            <a:r>
              <a:rPr lang="fr-FR" sz="1600" dirty="0">
                <a:latin typeface="+mn-lt"/>
                <a:cs typeface="+mn-cs"/>
              </a:rPr>
              <a:t>phénylbutazone</a:t>
            </a:r>
            <a:r>
              <a:rPr lang="fr-FR" dirty="0">
                <a:latin typeface="+mn-lt"/>
                <a:cs typeface="+mn-cs"/>
              </a:rPr>
              <a:t> ……</a:t>
            </a:r>
            <a:r>
              <a:rPr lang="fr-FR" sz="2000" b="1" u="sng" dirty="0">
                <a:latin typeface="+mn-lt"/>
                <a:cs typeface="+mn-cs"/>
              </a:rPr>
              <a:t> </a:t>
            </a:r>
          </a:p>
        </p:txBody>
      </p:sp>
      <p:sp>
        <p:nvSpPr>
          <p:cNvPr id="21" name="ZoneTexte 20"/>
          <p:cNvSpPr txBox="1"/>
          <p:nvPr/>
        </p:nvSpPr>
        <p:spPr>
          <a:xfrm>
            <a:off x="3779912" y="5713512"/>
            <a:ext cx="2088232" cy="646331"/>
          </a:xfrm>
          <a:prstGeom prst="rect">
            <a:avLst/>
          </a:prstGeom>
          <a:noFill/>
          <a:ln w="28575">
            <a:solidFill>
              <a:srgbClr val="66FFCC"/>
            </a:solidFill>
          </a:ln>
          <a:scene3d>
            <a:camera prst="orthographicFront"/>
            <a:lightRig rig="threePt" dir="t"/>
          </a:scene3d>
          <a:sp3d>
            <a:bevelT prst="convex"/>
          </a:sp3d>
        </p:spPr>
        <p:txBody>
          <a:bodyPr>
            <a:spAutoFit/>
          </a:bodyPr>
          <a:lstStyle/>
          <a:p>
            <a:pPr fontAlgn="auto">
              <a:spcBef>
                <a:spcPts val="0"/>
              </a:spcBef>
              <a:spcAft>
                <a:spcPts val="0"/>
              </a:spcAft>
              <a:defRPr/>
            </a:pPr>
            <a:r>
              <a:rPr lang="fr-FR" dirty="0">
                <a:latin typeface="+mn-lt"/>
                <a:cs typeface="+mn-cs"/>
              </a:rPr>
              <a:t>Dissection </a:t>
            </a:r>
            <a:r>
              <a:rPr lang="fr-FR" sz="1600" dirty="0">
                <a:latin typeface="+mn-lt"/>
                <a:cs typeface="+mn-cs"/>
              </a:rPr>
              <a:t>aorte</a:t>
            </a:r>
            <a:endParaRPr lang="fr-FR" dirty="0">
              <a:latin typeface="+mn-lt"/>
              <a:cs typeface="+mn-cs"/>
            </a:endParaRPr>
          </a:p>
          <a:p>
            <a:pPr fontAlgn="auto">
              <a:spcBef>
                <a:spcPts val="0"/>
              </a:spcBef>
              <a:spcAft>
                <a:spcPts val="0"/>
              </a:spcAft>
              <a:defRPr/>
            </a:pPr>
            <a:r>
              <a:rPr lang="fr-FR" dirty="0">
                <a:latin typeface="+mn-lt"/>
                <a:cs typeface="+mn-cs"/>
              </a:rPr>
              <a:t>HTAP, IC chronique</a:t>
            </a:r>
          </a:p>
        </p:txBody>
      </p:sp>
      <p:sp>
        <p:nvSpPr>
          <p:cNvPr id="22" name="ZoneTexte 21"/>
          <p:cNvSpPr txBox="1"/>
          <p:nvPr/>
        </p:nvSpPr>
        <p:spPr>
          <a:xfrm>
            <a:off x="4283968" y="5301208"/>
            <a:ext cx="1080120" cy="338554"/>
          </a:xfrm>
          <a:prstGeom prst="rect">
            <a:avLst/>
          </a:prstGeom>
          <a:solidFill>
            <a:srgbClr val="66FFCC"/>
          </a:solidFill>
          <a:ln w="38100">
            <a:solidFill>
              <a:srgbClr val="66FFCC"/>
            </a:solidFill>
          </a:ln>
          <a:scene3d>
            <a:camera prst="orthographicFront"/>
            <a:lightRig rig="threePt" dir="t"/>
          </a:scene3d>
          <a:sp3d>
            <a:bevelT w="114300" prst="hardEdge"/>
          </a:sp3d>
        </p:spPr>
        <p:txBody>
          <a:bodyPr>
            <a:spAutoFit/>
          </a:bodyPr>
          <a:lstStyle/>
          <a:p>
            <a:pPr algn="ctr" fontAlgn="auto">
              <a:spcBef>
                <a:spcPts val="0"/>
              </a:spcBef>
              <a:spcAft>
                <a:spcPts val="0"/>
              </a:spcAft>
              <a:defRPr/>
            </a:pPr>
            <a:r>
              <a:rPr lang="fr-FR" sz="1600" i="1" dirty="0">
                <a:latin typeface="+mn-lt"/>
                <a:cs typeface="+mn-cs"/>
              </a:rPr>
              <a:t>Autres</a:t>
            </a:r>
          </a:p>
        </p:txBody>
      </p:sp>
      <p:cxnSp>
        <p:nvCxnSpPr>
          <p:cNvPr id="30" name="Connecteur en angle 29"/>
          <p:cNvCxnSpPr/>
          <p:nvPr/>
        </p:nvCxnSpPr>
        <p:spPr bwMode="auto">
          <a:xfrm rot="5400000">
            <a:off x="2484438" y="404664"/>
            <a:ext cx="503386" cy="503386"/>
          </a:xfrm>
          <a:prstGeom prst="bentConnector3">
            <a:avLst>
              <a:gd name="adj1" fmla="val -1901"/>
            </a:avLst>
          </a:prstGeom>
          <a:noFill/>
          <a:ln w="28575" cap="flat" cmpd="sng" algn="ctr">
            <a:solidFill>
              <a:schemeClr val="accent4">
                <a:lumMod val="10000"/>
              </a:schemeClr>
            </a:solidFill>
            <a:prstDash val="sysDash"/>
            <a:round/>
            <a:headEnd type="none" w="med" len="med"/>
            <a:tailEnd type="arrow"/>
          </a:ln>
          <a:effectLst/>
        </p:spPr>
      </p:cxnSp>
      <p:cxnSp>
        <p:nvCxnSpPr>
          <p:cNvPr id="35" name="Connecteur en angle 34"/>
          <p:cNvCxnSpPr/>
          <p:nvPr/>
        </p:nvCxnSpPr>
        <p:spPr bwMode="auto">
          <a:xfrm>
            <a:off x="5508625" y="549275"/>
            <a:ext cx="647700" cy="0"/>
          </a:xfrm>
          <a:prstGeom prst="bentConnector3">
            <a:avLst>
              <a:gd name="adj1" fmla="val 50000"/>
            </a:avLst>
          </a:prstGeom>
          <a:noFill/>
          <a:ln w="28575" cap="flat" cmpd="sng" algn="ctr">
            <a:solidFill>
              <a:schemeClr val="accent4">
                <a:lumMod val="10000"/>
              </a:schemeClr>
            </a:solidFill>
            <a:prstDash val="sysDash"/>
            <a:round/>
            <a:headEnd type="none" w="med" len="med"/>
            <a:tailEnd type="arrow"/>
          </a:ln>
          <a:effectLst/>
        </p:spPr>
      </p:cxnSp>
      <p:sp>
        <p:nvSpPr>
          <p:cNvPr id="26676" name="ZoneTexte 30"/>
          <p:cNvSpPr txBox="1">
            <a:spLocks noChangeArrowheads="1"/>
          </p:cNvSpPr>
          <p:nvPr/>
        </p:nvSpPr>
        <p:spPr bwMode="auto">
          <a:xfrm>
            <a:off x="7235825" y="6237288"/>
            <a:ext cx="1584325" cy="338137"/>
          </a:xfrm>
          <a:prstGeom prst="rect">
            <a:avLst/>
          </a:prstGeom>
          <a:noFill/>
          <a:ln w="9525">
            <a:noFill/>
            <a:miter lim="800000"/>
            <a:headEnd/>
            <a:tailEnd/>
          </a:ln>
        </p:spPr>
        <p:txBody>
          <a:bodyPr>
            <a:spAutoFit/>
          </a:bodyPr>
          <a:lstStyle/>
          <a:p>
            <a:r>
              <a:rPr lang="fr-FR" sz="1600"/>
              <a:t>-Tableau I-</a:t>
            </a:r>
          </a:p>
        </p:txBody>
      </p:sp>
      <p:sp>
        <p:nvSpPr>
          <p:cNvPr id="23" name="ZoneTexte 22"/>
          <p:cNvSpPr txBox="1"/>
          <p:nvPr/>
        </p:nvSpPr>
        <p:spPr>
          <a:xfrm>
            <a:off x="3131840" y="653787"/>
            <a:ext cx="2592288" cy="830997"/>
          </a:xfrm>
          <a:prstGeom prst="rect">
            <a:avLst/>
          </a:prstGeom>
          <a:noFill/>
        </p:spPr>
        <p:txBody>
          <a:bodyPr wrap="square" rtlCol="0">
            <a:spAutoFit/>
          </a:bodyPr>
          <a:lstStyle/>
          <a:p>
            <a:r>
              <a:rPr lang="fr-FR" sz="1600" b="1" i="1" dirty="0" smtClean="0">
                <a:solidFill>
                  <a:schemeClr val="tx1">
                    <a:lumMod val="95000"/>
                    <a:lumOff val="5000"/>
                  </a:schemeClr>
                </a:solidFill>
                <a:cs typeface="Times New Roman" pitchFamily="18" charset="0"/>
              </a:rPr>
              <a:t> - Contexte </a:t>
            </a:r>
            <a:r>
              <a:rPr lang="fr-FR" sz="1600" b="1" i="1" dirty="0" err="1" smtClean="0">
                <a:solidFill>
                  <a:schemeClr val="tx1">
                    <a:lumMod val="95000"/>
                    <a:lumOff val="5000"/>
                  </a:schemeClr>
                </a:solidFill>
                <a:cs typeface="Times New Roman" pitchFamily="18" charset="0"/>
              </a:rPr>
              <a:t>épidémio</a:t>
            </a:r>
            <a:r>
              <a:rPr lang="fr-FR" sz="1600" b="1" i="1" dirty="0" smtClean="0">
                <a:solidFill>
                  <a:schemeClr val="tx1">
                    <a:lumMod val="95000"/>
                    <a:lumOff val="5000"/>
                  </a:schemeClr>
                </a:solidFill>
                <a:cs typeface="Times New Roman" pitchFamily="18" charset="0"/>
              </a:rPr>
              <a:t> – </a:t>
            </a:r>
          </a:p>
          <a:p>
            <a:r>
              <a:rPr lang="fr-FR" sz="1600" b="1" i="1" dirty="0" smtClean="0">
                <a:solidFill>
                  <a:schemeClr val="tx1">
                    <a:lumMod val="95000"/>
                    <a:lumOff val="5000"/>
                  </a:schemeClr>
                </a:solidFill>
                <a:cs typeface="Times New Roman" pitchFamily="18" charset="0"/>
              </a:rPr>
              <a:t> - prédisposition génétique- </a:t>
            </a:r>
            <a:endParaRPr lang="fr-FR" sz="1600" i="1" dirty="0" smtClean="0">
              <a:solidFill>
                <a:schemeClr val="tx1">
                  <a:lumMod val="95000"/>
                  <a:lumOff val="5000"/>
                </a:schemeClr>
              </a:solidFill>
            </a:endParaRPr>
          </a:p>
          <a:p>
            <a:endParaRPr lang="fr-FR" sz="1600" dirty="0"/>
          </a:p>
        </p:txBody>
      </p:sp>
    </p:spTree>
  </p:cSld>
  <p:clrMapOvr>
    <a:masterClrMapping/>
  </p:clrMapOvr>
  <p:transition>
    <p:dissolv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srcRect/>
          <a:stretch>
            <a:fillRect/>
          </a:stretch>
        </p:blipFill>
        <p:spPr bwMode="auto">
          <a:xfrm>
            <a:off x="119063" y="908720"/>
            <a:ext cx="8905875" cy="5472608"/>
          </a:xfrm>
          <a:prstGeom prst="rect">
            <a:avLst/>
          </a:prstGeom>
          <a:ln>
            <a:noFill/>
          </a:ln>
          <a:effectLst>
            <a:outerShdw blurRad="292100" dist="139700" dir="2700000" algn="tl" rotWithShape="0">
              <a:srgbClr val="333333">
                <a:alpha val="65000"/>
              </a:srgbClr>
            </a:outerShdw>
          </a:effectLst>
        </p:spPr>
      </p:pic>
      <p:sp>
        <p:nvSpPr>
          <p:cNvPr id="5" name="ZoneTexte 4"/>
          <p:cNvSpPr txBox="1"/>
          <p:nvPr/>
        </p:nvSpPr>
        <p:spPr>
          <a:xfrm>
            <a:off x="7431111" y="6433591"/>
            <a:ext cx="957313" cy="307777"/>
          </a:xfrm>
          <a:prstGeom prst="rect">
            <a:avLst/>
          </a:prstGeom>
          <a:noFill/>
        </p:spPr>
        <p:txBody>
          <a:bodyPr wrap="none" rtlCol="0">
            <a:spAutoFit/>
          </a:bodyPr>
          <a:lstStyle/>
          <a:p>
            <a:r>
              <a:rPr lang="fr-FR" sz="1400" b="1" dirty="0" smtClean="0"/>
              <a:t>ESC 2025</a:t>
            </a:r>
            <a:endParaRPr lang="fr-FR" sz="1400" b="1" dirty="0"/>
          </a:p>
        </p:txBody>
      </p:sp>
      <p:sp>
        <p:nvSpPr>
          <p:cNvPr id="6" name="Titre 1"/>
          <p:cNvSpPr>
            <a:spLocks noGrp="1"/>
          </p:cNvSpPr>
          <p:nvPr>
            <p:ph type="title"/>
          </p:nvPr>
        </p:nvSpPr>
        <p:spPr>
          <a:xfrm>
            <a:off x="301625" y="44624"/>
            <a:ext cx="8686800" cy="841375"/>
          </a:xfrm>
        </p:spPr>
        <p:txBody>
          <a:bodyPr>
            <a:normAutofit/>
          </a:bodyPr>
          <a:lstStyle/>
          <a:p>
            <a:pPr algn="ctr" eaLnBrk="1" fontAlgn="auto" hangingPunct="1">
              <a:spcAft>
                <a:spcPts val="0"/>
              </a:spcAft>
              <a:defRPr/>
            </a:pPr>
            <a:r>
              <a:rPr lang="fr-FR" sz="2400" dirty="0" smtClean="0">
                <a:solidFill>
                  <a:srgbClr val="FF9900"/>
                </a:solidFill>
                <a:effectLst/>
                <a:latin typeface="+mn-lt"/>
              </a:rPr>
              <a:t>IV- SYMPTÔMES GÉNÉRAUX - SIGNES CLINIQUES des SMPI</a:t>
            </a:r>
            <a:br>
              <a:rPr lang="fr-FR" sz="2400" dirty="0" smtClean="0">
                <a:solidFill>
                  <a:srgbClr val="FF9900"/>
                </a:solidFill>
                <a:effectLst/>
                <a:latin typeface="+mn-lt"/>
              </a:rPr>
            </a:br>
            <a:r>
              <a:rPr lang="fr-FR" sz="2400" dirty="0" smtClean="0">
                <a:solidFill>
                  <a:srgbClr val="FF9900"/>
                </a:solidFill>
                <a:effectLst/>
                <a:latin typeface="+mn-lt"/>
              </a:rPr>
              <a:t>PRESENTATION CLINIQUE</a:t>
            </a:r>
            <a:endParaRPr lang="fr-FR" sz="2400" dirty="0">
              <a:solidFill>
                <a:srgbClr val="FF9900"/>
              </a:solidFill>
              <a:effectLst/>
              <a:latin typeface="+mn-lt"/>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lum bright="-10000"/>
          </a:blip>
          <a:srcRect/>
          <a:stretch>
            <a:fillRect/>
          </a:stretch>
        </p:blipFill>
        <p:spPr bwMode="auto">
          <a:xfrm>
            <a:off x="107504" y="692696"/>
            <a:ext cx="8945438" cy="5832648"/>
          </a:xfrm>
          <a:prstGeom prst="rect">
            <a:avLst/>
          </a:prstGeom>
          <a:ln>
            <a:noFill/>
          </a:ln>
          <a:effectLst>
            <a:outerShdw blurRad="292100" dist="139700" dir="2700000" algn="tl" rotWithShape="0">
              <a:srgbClr val="333333">
                <a:alpha val="65000"/>
              </a:srgbClr>
            </a:outerShdw>
          </a:effectLst>
        </p:spPr>
      </p:pic>
      <p:sp>
        <p:nvSpPr>
          <p:cNvPr id="4" name="ZoneTexte 3"/>
          <p:cNvSpPr txBox="1"/>
          <p:nvPr/>
        </p:nvSpPr>
        <p:spPr>
          <a:xfrm>
            <a:off x="7452320" y="6546830"/>
            <a:ext cx="1064715" cy="338554"/>
          </a:xfrm>
          <a:prstGeom prst="rect">
            <a:avLst/>
          </a:prstGeom>
          <a:noFill/>
        </p:spPr>
        <p:txBody>
          <a:bodyPr wrap="none" rtlCol="0">
            <a:spAutoFit/>
          </a:bodyPr>
          <a:lstStyle/>
          <a:p>
            <a:r>
              <a:rPr lang="fr-FR" sz="1600" b="1" dirty="0" smtClean="0"/>
              <a:t>ESC 2025</a:t>
            </a:r>
            <a:endParaRPr lang="fr-FR" sz="1600" b="1" dirty="0"/>
          </a:p>
        </p:txBody>
      </p:sp>
      <p:sp>
        <p:nvSpPr>
          <p:cNvPr id="6" name="Titre 1"/>
          <p:cNvSpPr>
            <a:spLocks noGrp="1"/>
          </p:cNvSpPr>
          <p:nvPr>
            <p:ph type="title"/>
          </p:nvPr>
        </p:nvSpPr>
        <p:spPr>
          <a:xfrm>
            <a:off x="301625" y="-100013"/>
            <a:ext cx="8686800" cy="841376"/>
          </a:xfrm>
        </p:spPr>
        <p:txBody>
          <a:bodyPr>
            <a:normAutofit/>
          </a:bodyPr>
          <a:lstStyle/>
          <a:p>
            <a:pPr algn="ctr" eaLnBrk="1" fontAlgn="auto" hangingPunct="1">
              <a:spcAft>
                <a:spcPts val="0"/>
              </a:spcAft>
              <a:defRPr/>
            </a:pPr>
            <a:r>
              <a:rPr lang="fr-FR" sz="2800" dirty="0" smtClean="0">
                <a:solidFill>
                  <a:srgbClr val="FF9900"/>
                </a:solidFill>
                <a:effectLst/>
                <a:latin typeface="+mn-lt"/>
              </a:rPr>
              <a:t>V- STRATIFICATION DU RISQUE</a:t>
            </a:r>
            <a:endParaRPr lang="fr-FR" sz="2800" dirty="0">
              <a:solidFill>
                <a:srgbClr val="FF9900"/>
              </a:solidFill>
              <a:effectLst/>
              <a:latin typeface="+mn-lt"/>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p:cNvSpPr>
            <a:spLocks noGrp="1"/>
          </p:cNvSpPr>
          <p:nvPr>
            <p:ph type="title"/>
          </p:nvPr>
        </p:nvSpPr>
        <p:spPr>
          <a:xfrm>
            <a:off x="251520" y="44624"/>
            <a:ext cx="8686800" cy="841248"/>
          </a:xfrm>
        </p:spPr>
        <p:txBody>
          <a:bodyPr/>
          <a:lstStyle/>
          <a:p>
            <a:r>
              <a:rPr lang="fr-FR" dirty="0" smtClean="0"/>
              <a:t> 3 mi</a:t>
            </a:r>
            <a:endParaRPr lang="fr-FR" dirty="0"/>
          </a:p>
        </p:txBody>
      </p:sp>
      <p:graphicFrame>
        <p:nvGraphicFramePr>
          <p:cNvPr id="3" name="Tableau 2"/>
          <p:cNvGraphicFramePr>
            <a:graphicFrameLocks noGrp="1"/>
          </p:cNvGraphicFramePr>
          <p:nvPr/>
        </p:nvGraphicFramePr>
        <p:xfrm>
          <a:off x="35496" y="69696"/>
          <a:ext cx="9036496" cy="6599664"/>
        </p:xfrm>
        <a:graphic>
          <a:graphicData uri="http://schemas.openxmlformats.org/drawingml/2006/table">
            <a:tbl>
              <a:tblPr firstRow="1" bandRow="1">
                <a:effectLst>
                  <a:outerShdw blurRad="50800" dist="38100" dir="18900000" algn="bl" rotWithShape="0">
                    <a:prstClr val="black">
                      <a:alpha val="40000"/>
                    </a:prstClr>
                  </a:outerShdw>
                </a:effectLst>
                <a:tableStyleId>{6E25E649-3F16-4E02-A733-19D2CDBF48F0}</a:tableStyleId>
              </a:tblPr>
              <a:tblGrid>
                <a:gridCol w="1975703"/>
                <a:gridCol w="7060793"/>
              </a:tblGrid>
              <a:tr h="432048">
                <a:tc>
                  <a:txBody>
                    <a:bodyPr/>
                    <a:lstStyle/>
                    <a:p>
                      <a:pPr algn="ctr"/>
                      <a:r>
                        <a:rPr lang="fr-FR" dirty="0" smtClean="0"/>
                        <a:t>TERMINOLOGIE</a:t>
                      </a:r>
                      <a:endParaRPr lang="fr-FR" dirty="0"/>
                    </a:p>
                  </a:txBody>
                  <a:tcPr/>
                </a:tc>
                <a:tc>
                  <a:txBody>
                    <a:bodyPr/>
                    <a:lstStyle/>
                    <a:p>
                      <a:pPr algn="ctr"/>
                      <a:r>
                        <a:rPr lang="fr-FR" dirty="0" smtClean="0"/>
                        <a:t>DÉFINITION (formes évolutives)</a:t>
                      </a:r>
                      <a:endParaRPr lang="fr-FR" dirty="0"/>
                    </a:p>
                  </a:txBody>
                  <a:tcPr/>
                </a:tc>
              </a:tr>
              <a:tr h="432048">
                <a:tc>
                  <a:txBody>
                    <a:bodyPr/>
                    <a:lstStyle/>
                    <a:p>
                      <a:r>
                        <a:rPr lang="fr-FR" sz="1400" dirty="0" smtClean="0"/>
                        <a:t>Myopéricardite</a:t>
                      </a:r>
                      <a:endParaRPr lang="fr-FR" sz="1400" dirty="0"/>
                    </a:p>
                  </a:txBody>
                  <a:tcPr/>
                </a:tc>
                <a:tc>
                  <a:txBody>
                    <a:bodyPr/>
                    <a:lstStyle/>
                    <a:p>
                      <a:r>
                        <a:rPr lang="fr-FR" sz="1400" dirty="0" smtClean="0"/>
                        <a:t>Péricardite prédominante</a:t>
                      </a:r>
                      <a:endParaRPr lang="fr-FR" sz="1400" dirty="0"/>
                    </a:p>
                  </a:txBody>
                  <a:tcPr/>
                </a:tc>
              </a:tr>
              <a:tr h="432048">
                <a:tc>
                  <a:txBody>
                    <a:bodyPr/>
                    <a:lstStyle/>
                    <a:p>
                      <a:r>
                        <a:rPr lang="fr-FR" sz="1400" dirty="0" smtClean="0"/>
                        <a:t>Périmyocardite</a:t>
                      </a:r>
                      <a:endParaRPr lang="fr-FR" sz="1400" dirty="0"/>
                    </a:p>
                  </a:txBody>
                  <a:tcPr/>
                </a:tc>
                <a:tc>
                  <a:txBody>
                    <a:bodyPr/>
                    <a:lstStyle/>
                    <a:p>
                      <a:r>
                        <a:rPr lang="fr-FR" sz="1400" dirty="0" smtClean="0"/>
                        <a:t>Myocardite prédominante</a:t>
                      </a:r>
                      <a:endParaRPr lang="fr-FR" sz="1400" dirty="0"/>
                    </a:p>
                  </a:txBody>
                  <a:tcPr/>
                </a:tc>
              </a:tr>
              <a:tr h="553656">
                <a:tc>
                  <a:txBody>
                    <a:bodyPr/>
                    <a:lstStyle/>
                    <a:p>
                      <a:r>
                        <a:rPr lang="fr-FR" sz="1400" dirty="0" smtClean="0"/>
                        <a:t>Myocardite aigue (MA)</a:t>
                      </a:r>
                      <a:endParaRPr lang="fr-FR" sz="1400" dirty="0"/>
                    </a:p>
                  </a:txBody>
                  <a:tcPr/>
                </a:tc>
                <a:tc>
                  <a:txBody>
                    <a:bodyPr/>
                    <a:lstStyle/>
                    <a:p>
                      <a:r>
                        <a:rPr lang="fr-FR" sz="1400" dirty="0" smtClean="0"/>
                        <a:t>Durée</a:t>
                      </a:r>
                      <a:r>
                        <a:rPr lang="fr-FR" sz="1400" baseline="0" dirty="0" smtClean="0"/>
                        <a:t> symptômes ≤ 4 semaines</a:t>
                      </a:r>
                    </a:p>
                    <a:p>
                      <a:r>
                        <a:rPr lang="fr-FR" sz="1400" baseline="0" dirty="0" smtClean="0"/>
                        <a:t>*</a:t>
                      </a:r>
                      <a:r>
                        <a:rPr lang="fr-FR" sz="1400" b="1" baseline="0" dirty="0" smtClean="0"/>
                        <a:t>Fulminante</a:t>
                      </a:r>
                      <a:r>
                        <a:rPr lang="fr-FR" sz="1400" baseline="0" dirty="0" smtClean="0"/>
                        <a:t> si instabilité hémodynamique nécessitant inotropes ou assistance circulatoire</a:t>
                      </a:r>
                      <a:endParaRPr lang="fr-FR" sz="1400" dirty="0"/>
                    </a:p>
                  </a:txBody>
                  <a:tcPr/>
                </a:tc>
              </a:tr>
              <a:tr h="432048">
                <a:tc>
                  <a:txBody>
                    <a:bodyPr/>
                    <a:lstStyle/>
                    <a:p>
                      <a:r>
                        <a:rPr lang="fr-FR" sz="1400" dirty="0" smtClean="0"/>
                        <a:t>Myocardite compliquée</a:t>
                      </a:r>
                      <a:endParaRPr lang="fr-FR" sz="1400" dirty="0"/>
                    </a:p>
                  </a:txBody>
                  <a:tcPr/>
                </a:tc>
                <a:tc>
                  <a:txBody>
                    <a:bodyPr/>
                    <a:lstStyle/>
                    <a:p>
                      <a:r>
                        <a:rPr lang="fr-FR" sz="1400" dirty="0" smtClean="0"/>
                        <a:t>MA +</a:t>
                      </a:r>
                      <a:r>
                        <a:rPr lang="fr-FR" sz="1400" baseline="0" dirty="0" smtClean="0"/>
                        <a:t> FEVG&lt;50% / arythmie V soutenue/ BAV haut degré/ IC/ choc cardiogénique</a:t>
                      </a:r>
                      <a:endParaRPr lang="fr-FR" sz="1400" dirty="0"/>
                    </a:p>
                  </a:txBody>
                  <a:tcPr/>
                </a:tc>
              </a:tr>
              <a:tr h="432048">
                <a:tc>
                  <a:txBody>
                    <a:bodyPr/>
                    <a:lstStyle/>
                    <a:p>
                      <a:r>
                        <a:rPr lang="fr-FR" sz="1400" dirty="0" smtClean="0"/>
                        <a:t>Péricardite aigue</a:t>
                      </a:r>
                      <a:endParaRPr lang="fr-FR"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t>Durée</a:t>
                      </a:r>
                      <a:r>
                        <a:rPr lang="fr-FR" sz="1400" baseline="0" dirty="0" smtClean="0"/>
                        <a:t> symptômes ≤ 4 semaines</a:t>
                      </a:r>
                      <a:endParaRPr lang="fr-FR" sz="1400" dirty="0"/>
                    </a:p>
                  </a:txBody>
                  <a:tcPr/>
                </a:tc>
              </a:tr>
              <a:tr h="432048">
                <a:tc>
                  <a:txBody>
                    <a:bodyPr/>
                    <a:lstStyle/>
                    <a:p>
                      <a:r>
                        <a:rPr lang="fr-FR" sz="1400" dirty="0" smtClean="0"/>
                        <a:t>Myocardite subaigüe/persistante</a:t>
                      </a:r>
                      <a:endParaRPr lang="fr-FR"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t>Durée</a:t>
                      </a:r>
                      <a:r>
                        <a:rPr lang="fr-FR" sz="1400" baseline="0" dirty="0" smtClean="0"/>
                        <a:t> symptômes &gt; 4 semaines à ≤ 3 mois</a:t>
                      </a:r>
                    </a:p>
                    <a:p>
                      <a:endParaRPr lang="fr-FR" sz="1400" dirty="0"/>
                    </a:p>
                  </a:txBody>
                  <a:tcPr/>
                </a:tc>
              </a:tr>
              <a:tr h="432048">
                <a:tc>
                  <a:txBody>
                    <a:bodyPr/>
                    <a:lstStyle/>
                    <a:p>
                      <a:r>
                        <a:rPr lang="fr-FR" sz="1400" dirty="0" smtClean="0"/>
                        <a:t>Péricardite subaigüe/incessante</a:t>
                      </a:r>
                      <a:endParaRPr lang="fr-FR"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t>Durée</a:t>
                      </a:r>
                      <a:r>
                        <a:rPr lang="fr-FR" sz="1400" baseline="0" dirty="0" smtClean="0"/>
                        <a:t> symptômes &gt; 4 semaines à ≤ 3 mois</a:t>
                      </a:r>
                    </a:p>
                    <a:p>
                      <a:endParaRPr lang="fr-FR" sz="1400" dirty="0"/>
                    </a:p>
                  </a:txBody>
                  <a:tcPr/>
                </a:tc>
              </a:tr>
              <a:tr h="432048">
                <a:tc>
                  <a:txBody>
                    <a:bodyPr/>
                    <a:lstStyle/>
                    <a:p>
                      <a:r>
                        <a:rPr lang="fr-FR" sz="1400" dirty="0" smtClean="0"/>
                        <a:t>Myocardite/péricardite chronique</a:t>
                      </a:r>
                      <a:endParaRPr lang="fr-FR"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t>Durée</a:t>
                      </a:r>
                      <a:r>
                        <a:rPr lang="fr-FR" sz="1400" baseline="0" dirty="0" smtClean="0"/>
                        <a:t> symptômes &gt; 3 mois</a:t>
                      </a:r>
                    </a:p>
                    <a:p>
                      <a:endParaRPr lang="fr-FR" sz="1400" dirty="0"/>
                    </a:p>
                  </a:txBody>
                  <a:tcPr/>
                </a:tc>
              </a:tr>
              <a:tr h="432048">
                <a:tc>
                  <a:txBody>
                    <a:bodyPr/>
                    <a:lstStyle/>
                    <a:p>
                      <a:r>
                        <a:rPr lang="fr-FR" sz="1400" dirty="0" smtClean="0"/>
                        <a:t>Cardiomyopathie inflammatoire</a:t>
                      </a:r>
                      <a:endParaRPr lang="fr-FR" sz="1400" dirty="0"/>
                    </a:p>
                  </a:txBody>
                  <a:tcPr/>
                </a:tc>
                <a:tc>
                  <a:txBody>
                    <a:bodyPr/>
                    <a:lstStyle/>
                    <a:p>
                      <a:r>
                        <a:rPr lang="fr-FR" sz="1400" dirty="0" smtClean="0"/>
                        <a:t>Myocardite</a:t>
                      </a:r>
                      <a:r>
                        <a:rPr lang="fr-FR" sz="1400" baseline="0" dirty="0" smtClean="0"/>
                        <a:t> chronique avec aspect de cardiomyopathie dilatée ou non ± arythmie</a:t>
                      </a:r>
                      <a:endParaRPr lang="fr-FR" sz="1400" dirty="0"/>
                    </a:p>
                  </a:txBody>
                  <a:tcPr/>
                </a:tc>
              </a:tr>
              <a:tr h="61304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t>Myocardite/péricardite récidivante</a:t>
                      </a:r>
                      <a:endParaRPr lang="fr-FR" sz="1400" dirty="0"/>
                    </a:p>
                  </a:txBody>
                  <a:tcPr/>
                </a:tc>
                <a:tc>
                  <a:txBody>
                    <a:bodyPr/>
                    <a:lstStyle/>
                    <a:p>
                      <a:r>
                        <a:rPr lang="fr-FR" sz="1400" dirty="0" smtClean="0"/>
                        <a:t>Réapparition de symptômes ou maladie après guérison clinique</a:t>
                      </a:r>
                      <a:endParaRPr lang="fr-FR" sz="1400" dirty="0"/>
                    </a:p>
                  </a:txBody>
                  <a:tcPr/>
                </a:tc>
              </a:tr>
              <a:tr h="432048">
                <a:tc>
                  <a:txBody>
                    <a:bodyPr/>
                    <a:lstStyle/>
                    <a:p>
                      <a:r>
                        <a:rPr lang="fr-FR" sz="1400" dirty="0" smtClean="0"/>
                        <a:t>Guérison sans séquelles </a:t>
                      </a:r>
                      <a:endParaRPr lang="fr-FR" sz="1400" dirty="0"/>
                    </a:p>
                  </a:txBody>
                  <a:tcPr/>
                </a:tc>
                <a:tc>
                  <a:txBody>
                    <a:bodyPr/>
                    <a:lstStyle/>
                    <a:p>
                      <a:r>
                        <a:rPr lang="fr-FR" sz="1400" dirty="0" smtClean="0"/>
                        <a:t>disparition</a:t>
                      </a:r>
                      <a:r>
                        <a:rPr lang="fr-FR" sz="1400" baseline="0" dirty="0" smtClean="0"/>
                        <a:t> des symptômes et normalisation des biomarqueurs et de l’imagerie</a:t>
                      </a:r>
                      <a:endParaRPr lang="fr-FR" sz="1400" dirty="0"/>
                    </a:p>
                  </a:txBody>
                  <a:tcPr/>
                </a:tc>
              </a:tr>
              <a:tr h="681920">
                <a:tc>
                  <a:txBody>
                    <a:bodyPr/>
                    <a:lstStyle/>
                    <a:p>
                      <a:r>
                        <a:rPr lang="fr-FR" sz="1400" dirty="0" smtClean="0"/>
                        <a:t>Guérison avec séquelles</a:t>
                      </a:r>
                      <a:endParaRPr lang="fr-FR"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t>disparition</a:t>
                      </a:r>
                      <a:r>
                        <a:rPr lang="fr-FR" sz="1400" baseline="0" dirty="0" smtClean="0"/>
                        <a:t> des symptômes et persistance d’anomalies des biomarqueurs et/ou d’imagerie</a:t>
                      </a:r>
                      <a:endParaRPr lang="fr-FR" sz="1400" dirty="0"/>
                    </a:p>
                  </a:txBody>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5496" y="548680"/>
            <a:ext cx="9108504" cy="6165304"/>
          </a:xfrm>
        </p:spPr>
        <p:txBody>
          <a:bodyPr>
            <a:noAutofit/>
          </a:bodyPr>
          <a:lstStyle/>
          <a:p>
            <a:pPr>
              <a:lnSpc>
                <a:spcPct val="120000"/>
              </a:lnSpc>
              <a:spcBef>
                <a:spcPts val="0"/>
              </a:spcBef>
              <a:buFont typeface="Wingdings 2" pitchFamily="18" charset="2"/>
              <a:buNone/>
              <a:defRPr/>
            </a:pPr>
            <a:r>
              <a:rPr lang="fr-FR" sz="2400" dirty="0" smtClean="0"/>
              <a:t>   </a:t>
            </a:r>
            <a:r>
              <a:rPr lang="fr-FR" sz="2400" dirty="0" smtClean="0">
                <a:solidFill>
                  <a:schemeClr val="tx1">
                    <a:lumMod val="95000"/>
                    <a:lumOff val="5000"/>
                  </a:schemeClr>
                </a:solidFill>
              </a:rPr>
              <a:t>-</a:t>
            </a:r>
            <a:r>
              <a:rPr lang="fr-FR" sz="2400" dirty="0" smtClean="0"/>
              <a:t> </a:t>
            </a:r>
            <a:r>
              <a:rPr lang="fr-FR" sz="2400" b="1" dirty="0" smtClean="0">
                <a:solidFill>
                  <a:schemeClr val="tx1">
                    <a:lumMod val="95000"/>
                    <a:lumOff val="5000"/>
                  </a:schemeClr>
                </a:solidFill>
              </a:rPr>
              <a:t>ECG</a:t>
            </a:r>
          </a:p>
          <a:p>
            <a:pPr>
              <a:lnSpc>
                <a:spcPct val="120000"/>
              </a:lnSpc>
              <a:spcBef>
                <a:spcPts val="0"/>
              </a:spcBef>
              <a:buFont typeface="Wingdings 2" pitchFamily="18" charset="2"/>
              <a:buNone/>
              <a:defRPr/>
            </a:pPr>
            <a:r>
              <a:rPr lang="fr-FR" sz="2400" b="1" dirty="0" smtClean="0">
                <a:solidFill>
                  <a:schemeClr val="tx1">
                    <a:lumMod val="95000"/>
                    <a:lumOff val="5000"/>
                  </a:schemeClr>
                </a:solidFill>
              </a:rPr>
              <a:t>   - Téléthorax face</a:t>
            </a:r>
          </a:p>
          <a:p>
            <a:pPr>
              <a:lnSpc>
                <a:spcPct val="120000"/>
              </a:lnSpc>
              <a:spcBef>
                <a:spcPts val="0"/>
              </a:spcBef>
              <a:buFont typeface="Wingdings 2" pitchFamily="18" charset="2"/>
              <a:buNone/>
              <a:defRPr/>
            </a:pPr>
            <a:r>
              <a:rPr lang="fr-FR" sz="2400" b="1" dirty="0" smtClean="0">
                <a:solidFill>
                  <a:schemeClr val="tx1">
                    <a:lumMod val="95000"/>
                    <a:lumOff val="5000"/>
                  </a:schemeClr>
                </a:solidFill>
              </a:rPr>
              <a:t>   - Echocardiographie transthoracique</a:t>
            </a:r>
          </a:p>
          <a:p>
            <a:pPr>
              <a:lnSpc>
                <a:spcPct val="120000"/>
              </a:lnSpc>
              <a:spcBef>
                <a:spcPts val="0"/>
              </a:spcBef>
              <a:buFont typeface="Wingdings 2" pitchFamily="18" charset="2"/>
              <a:buNone/>
              <a:defRPr/>
            </a:pPr>
            <a:r>
              <a:rPr lang="fr-FR" sz="2400" b="1" dirty="0" smtClean="0">
                <a:solidFill>
                  <a:schemeClr val="tx1">
                    <a:lumMod val="95000"/>
                    <a:lumOff val="5000"/>
                  </a:schemeClr>
                </a:solidFill>
              </a:rPr>
              <a:t>   - </a:t>
            </a:r>
            <a:r>
              <a:rPr lang="fr-FR" sz="2400" b="1" dirty="0" smtClean="0">
                <a:solidFill>
                  <a:srgbClr val="800000"/>
                </a:solidFill>
              </a:rPr>
              <a:t>IRM cardiaque</a:t>
            </a:r>
            <a:r>
              <a:rPr lang="fr-FR" sz="2400" b="1" dirty="0" smtClean="0">
                <a:solidFill>
                  <a:schemeClr val="tx1">
                    <a:lumMod val="95000"/>
                    <a:lumOff val="5000"/>
                  </a:schemeClr>
                </a:solidFill>
              </a:rPr>
              <a:t> / TDM cardiaque</a:t>
            </a:r>
          </a:p>
          <a:p>
            <a:pPr>
              <a:lnSpc>
                <a:spcPct val="120000"/>
              </a:lnSpc>
              <a:buFont typeface="Wingdings 2" pitchFamily="18" charset="2"/>
              <a:buNone/>
              <a:defRPr/>
            </a:pPr>
            <a:r>
              <a:rPr lang="fr-FR" sz="2400" b="1" dirty="0" smtClean="0">
                <a:solidFill>
                  <a:schemeClr val="tx1">
                    <a:lumMod val="95000"/>
                    <a:lumOff val="5000"/>
                  </a:schemeClr>
                </a:solidFill>
              </a:rPr>
              <a:t>   - Examens biologiques: </a:t>
            </a:r>
            <a:r>
              <a:rPr lang="fr-FR" sz="2400" dirty="0" smtClean="0">
                <a:solidFill>
                  <a:srgbClr val="C00000"/>
                </a:solidFill>
              </a:rPr>
              <a:t>&gt; </a:t>
            </a:r>
            <a:r>
              <a:rPr lang="fr-FR" sz="2400" dirty="0" smtClean="0"/>
              <a:t>inflammation: </a:t>
            </a:r>
            <a:r>
              <a:rPr lang="fr-FR" sz="2400" dirty="0" smtClean="0">
                <a:solidFill>
                  <a:schemeClr val="tx1"/>
                </a:solidFill>
              </a:rPr>
              <a:t>CRP</a:t>
            </a:r>
            <a:r>
              <a:rPr lang="fr-FR" sz="2400" b="1" dirty="0" smtClean="0">
                <a:solidFill>
                  <a:schemeClr val="tx1"/>
                </a:solidFill>
                <a:sym typeface="Symbol" pitchFamily="18" charset="2"/>
              </a:rPr>
              <a:t></a:t>
            </a:r>
            <a:r>
              <a:rPr lang="fr-FR" sz="2400" dirty="0" smtClean="0">
                <a:solidFill>
                  <a:schemeClr val="tx1"/>
                </a:solidFill>
              </a:rPr>
              <a:t>, VS</a:t>
            </a:r>
            <a:r>
              <a:rPr lang="fr-FR" sz="2400" b="1" dirty="0" smtClean="0">
                <a:solidFill>
                  <a:schemeClr val="tx1"/>
                </a:solidFill>
                <a:sym typeface="Symbol" pitchFamily="18" charset="2"/>
              </a:rPr>
              <a:t></a:t>
            </a:r>
            <a:r>
              <a:rPr lang="fr-FR" sz="2400" dirty="0" smtClean="0">
                <a:solidFill>
                  <a:schemeClr val="tx1"/>
                </a:solidFill>
              </a:rPr>
              <a:t> , GB</a:t>
            </a:r>
            <a:r>
              <a:rPr lang="fr-FR" sz="2400" b="1" dirty="0" smtClean="0">
                <a:solidFill>
                  <a:schemeClr val="tx1"/>
                </a:solidFill>
                <a:sym typeface="Symbol" pitchFamily="18" charset="2"/>
              </a:rPr>
              <a:t></a:t>
            </a:r>
            <a:endParaRPr lang="fr-FR" sz="2400" dirty="0" smtClean="0"/>
          </a:p>
          <a:p>
            <a:pPr>
              <a:lnSpc>
                <a:spcPct val="120000"/>
              </a:lnSpc>
              <a:buFont typeface="Wingdings 2" pitchFamily="18" charset="2"/>
              <a:buNone/>
              <a:defRPr/>
            </a:pPr>
            <a:r>
              <a:rPr lang="fr-FR" sz="2400" dirty="0" smtClean="0"/>
              <a:t>                                           </a:t>
            </a:r>
            <a:r>
              <a:rPr lang="fr-FR" sz="2400" dirty="0" smtClean="0">
                <a:solidFill>
                  <a:srgbClr val="C00000"/>
                </a:solidFill>
              </a:rPr>
              <a:t>&gt; </a:t>
            </a:r>
            <a:r>
              <a:rPr lang="fr-FR" sz="2400" dirty="0" smtClean="0"/>
              <a:t>lésion myocardique? </a:t>
            </a:r>
            <a:r>
              <a:rPr lang="fr-FR" sz="2400" dirty="0" smtClean="0">
                <a:solidFill>
                  <a:schemeClr val="tx1"/>
                </a:solidFill>
              </a:rPr>
              <a:t>CPK</a:t>
            </a:r>
            <a:r>
              <a:rPr lang="fr-FR" sz="2400" b="1" dirty="0" smtClean="0">
                <a:solidFill>
                  <a:schemeClr val="tx1"/>
                </a:solidFill>
                <a:sym typeface="Symbol" pitchFamily="18" charset="2"/>
              </a:rPr>
              <a:t></a:t>
            </a:r>
            <a:r>
              <a:rPr lang="fr-FR" sz="2400" dirty="0" smtClean="0">
                <a:solidFill>
                  <a:schemeClr val="tx1"/>
                </a:solidFill>
                <a:sym typeface="Symbol" pitchFamily="18" charset="2"/>
              </a:rPr>
              <a:t>- </a:t>
            </a:r>
            <a:r>
              <a:rPr lang="fr-FR" sz="2400" dirty="0" smtClean="0">
                <a:solidFill>
                  <a:schemeClr val="tx1"/>
                </a:solidFill>
              </a:rPr>
              <a:t>Troponine</a:t>
            </a:r>
            <a:r>
              <a:rPr lang="fr-FR" sz="2400" b="1" dirty="0" smtClean="0">
                <a:solidFill>
                  <a:schemeClr val="tx1"/>
                </a:solidFill>
                <a:sym typeface="Symbol" pitchFamily="18" charset="2"/>
              </a:rPr>
              <a:t>   </a:t>
            </a:r>
          </a:p>
          <a:p>
            <a:pPr>
              <a:lnSpc>
                <a:spcPct val="120000"/>
              </a:lnSpc>
              <a:buFont typeface="Wingdings 2" pitchFamily="18" charset="2"/>
              <a:buNone/>
              <a:defRPr/>
            </a:pPr>
            <a:r>
              <a:rPr lang="fr-FR" sz="2400" b="1" dirty="0" smtClean="0">
                <a:solidFill>
                  <a:schemeClr val="tx1"/>
                </a:solidFill>
                <a:sym typeface="Symbol" pitchFamily="18" charset="2"/>
              </a:rPr>
              <a:t>                                           </a:t>
            </a:r>
            <a:r>
              <a:rPr lang="fr-FR" sz="2400" dirty="0" smtClean="0">
                <a:solidFill>
                  <a:srgbClr val="C00000"/>
                </a:solidFill>
              </a:rPr>
              <a:t>&gt; </a:t>
            </a:r>
            <a:r>
              <a:rPr lang="fr-FR" sz="2400" dirty="0" smtClean="0"/>
              <a:t>défaillance cardiaque? </a:t>
            </a:r>
            <a:r>
              <a:rPr lang="fr-FR" sz="2400" dirty="0" smtClean="0">
                <a:solidFill>
                  <a:schemeClr val="tx1"/>
                </a:solidFill>
              </a:rPr>
              <a:t>NT-pro BNP</a:t>
            </a:r>
          </a:p>
          <a:p>
            <a:pPr>
              <a:lnSpc>
                <a:spcPct val="120000"/>
              </a:lnSpc>
              <a:buFont typeface="Wingdings 2" pitchFamily="18" charset="2"/>
              <a:buNone/>
              <a:defRPr/>
            </a:pPr>
            <a:r>
              <a:rPr lang="fr-FR" sz="2400" dirty="0" smtClean="0"/>
              <a:t> </a:t>
            </a:r>
            <a:r>
              <a:rPr lang="fr-FR" sz="2400" dirty="0" smtClean="0">
                <a:solidFill>
                  <a:srgbClr val="00B050"/>
                </a:solidFill>
              </a:rPr>
              <a:t>                                          &gt;</a:t>
            </a:r>
            <a:r>
              <a:rPr lang="fr-FR" sz="2400" dirty="0" smtClean="0"/>
              <a:t> fonction rénale et hépatique, NFS</a:t>
            </a:r>
          </a:p>
          <a:p>
            <a:pPr>
              <a:lnSpc>
                <a:spcPct val="120000"/>
              </a:lnSpc>
              <a:buFont typeface="Wingdings 2" pitchFamily="18" charset="2"/>
              <a:buNone/>
              <a:defRPr/>
            </a:pPr>
            <a:r>
              <a:rPr lang="fr-FR" sz="2400" dirty="0" smtClean="0"/>
              <a:t>                                           </a:t>
            </a:r>
            <a:r>
              <a:rPr lang="fr-FR" sz="2400" dirty="0" smtClean="0">
                <a:solidFill>
                  <a:srgbClr val="00B050"/>
                </a:solidFill>
              </a:rPr>
              <a:t>&gt; </a:t>
            </a:r>
            <a:r>
              <a:rPr lang="fr-FR" sz="2400" dirty="0" smtClean="0"/>
              <a:t>bilan thyroïde (myxœdème ?) </a:t>
            </a:r>
          </a:p>
          <a:p>
            <a:pPr>
              <a:lnSpc>
                <a:spcPct val="120000"/>
              </a:lnSpc>
              <a:spcBef>
                <a:spcPts val="0"/>
              </a:spcBef>
              <a:buFont typeface="Wingdings 2" pitchFamily="18" charset="2"/>
              <a:buNone/>
              <a:defRPr/>
            </a:pPr>
            <a:r>
              <a:rPr lang="fr-FR" sz="2400" b="1" dirty="0" smtClean="0">
                <a:solidFill>
                  <a:schemeClr val="tx1">
                    <a:lumMod val="95000"/>
                    <a:lumOff val="5000"/>
                  </a:schemeClr>
                </a:solidFill>
              </a:rPr>
              <a:t>                                           </a:t>
            </a:r>
            <a:r>
              <a:rPr lang="fr-FR" sz="2400" dirty="0" smtClean="0">
                <a:solidFill>
                  <a:srgbClr val="00B050"/>
                </a:solidFill>
              </a:rPr>
              <a:t>&gt; </a:t>
            </a:r>
            <a:r>
              <a:rPr lang="fr-FR" sz="2400" dirty="0" smtClean="0"/>
              <a:t>virologie: Hte C, HIV maladie de Lyme</a:t>
            </a:r>
            <a:endParaRPr lang="fr-FR" sz="2400" b="1" dirty="0" smtClean="0"/>
          </a:p>
          <a:p>
            <a:pPr>
              <a:lnSpc>
                <a:spcPct val="120000"/>
              </a:lnSpc>
              <a:buFont typeface="Wingdings 2" pitchFamily="18" charset="2"/>
              <a:buNone/>
              <a:defRPr/>
            </a:pPr>
            <a:r>
              <a:rPr lang="fr-FR" sz="2400" dirty="0" smtClean="0">
                <a:solidFill>
                  <a:schemeClr val="tx1">
                    <a:lumMod val="95000"/>
                    <a:lumOff val="5000"/>
                  </a:schemeClr>
                </a:solidFill>
              </a:rPr>
              <a:t>  - Tests génétiques: </a:t>
            </a:r>
            <a:r>
              <a:rPr lang="fr-FR" sz="2000" dirty="0" smtClean="0">
                <a:solidFill>
                  <a:schemeClr val="tx1">
                    <a:lumMod val="95000"/>
                    <a:lumOff val="5000"/>
                  </a:schemeClr>
                </a:solidFill>
              </a:rPr>
              <a:t>formes sévères, récidivantes, familiales</a:t>
            </a:r>
            <a:endParaRPr lang="fr-FR" sz="2400" dirty="0" smtClean="0">
              <a:solidFill>
                <a:schemeClr val="tx1">
                  <a:lumMod val="95000"/>
                  <a:lumOff val="5000"/>
                </a:schemeClr>
              </a:solidFill>
            </a:endParaRPr>
          </a:p>
          <a:p>
            <a:pPr>
              <a:lnSpc>
                <a:spcPct val="120000"/>
              </a:lnSpc>
              <a:buFont typeface="Wingdings 2" pitchFamily="18" charset="2"/>
              <a:buNone/>
              <a:defRPr/>
            </a:pPr>
            <a:r>
              <a:rPr lang="fr-FR" sz="2400" dirty="0" smtClean="0">
                <a:solidFill>
                  <a:schemeClr val="tx1">
                    <a:lumMod val="95000"/>
                    <a:lumOff val="5000"/>
                  </a:schemeClr>
                </a:solidFill>
              </a:rPr>
              <a:t>  - Biopsie endomyocardique: </a:t>
            </a:r>
            <a:r>
              <a:rPr lang="fr-FR" sz="2000" dirty="0" smtClean="0">
                <a:solidFill>
                  <a:schemeClr val="tx1">
                    <a:lumMod val="95000"/>
                    <a:lumOff val="5000"/>
                  </a:schemeClr>
                </a:solidFill>
              </a:rPr>
              <a:t>risque élevé, instabilité HD, non réponse au TRT</a:t>
            </a:r>
            <a:endParaRPr lang="fr-FR" sz="2400" dirty="0" smtClean="0">
              <a:solidFill>
                <a:schemeClr val="tx1">
                  <a:lumMod val="95000"/>
                  <a:lumOff val="5000"/>
                </a:schemeClr>
              </a:solidFill>
            </a:endParaRPr>
          </a:p>
          <a:p>
            <a:pPr>
              <a:buFont typeface="Wingdings 2" pitchFamily="18" charset="2"/>
              <a:buNone/>
              <a:defRPr/>
            </a:pPr>
            <a:endParaRPr lang="fr-FR" sz="1400" dirty="0" smtClean="0"/>
          </a:p>
          <a:p>
            <a:pPr>
              <a:buFont typeface="Wingdings 2" pitchFamily="18" charset="2"/>
              <a:buNone/>
              <a:defRPr/>
            </a:pPr>
            <a:r>
              <a:rPr lang="fr-FR" sz="1400" dirty="0" smtClean="0"/>
              <a:t>           </a:t>
            </a:r>
          </a:p>
          <a:p>
            <a:pPr>
              <a:buFont typeface="Wingdings 2" pitchFamily="18" charset="2"/>
              <a:buNone/>
              <a:defRPr/>
            </a:pPr>
            <a:r>
              <a:rPr lang="fr-FR" sz="1400" dirty="0" smtClean="0"/>
              <a:t>      </a:t>
            </a:r>
          </a:p>
        </p:txBody>
      </p:sp>
      <p:sp>
        <p:nvSpPr>
          <p:cNvPr id="5" name="Titre 1"/>
          <p:cNvSpPr txBox="1">
            <a:spLocks/>
          </p:cNvSpPr>
          <p:nvPr/>
        </p:nvSpPr>
        <p:spPr>
          <a:xfrm>
            <a:off x="301625" y="44625"/>
            <a:ext cx="8686800" cy="648072"/>
          </a:xfrm>
          <a:prstGeom prst="rect">
            <a:avLst/>
          </a:prstGeom>
        </p:spPr>
        <p:txBody>
          <a:bodyPr vert="horz"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sz="2800" b="0" i="0" u="none" strike="noStrike" kern="1200" cap="all" spc="0" normalizeH="0" baseline="0" noProof="0" dirty="0" smtClean="0">
                <a:ln>
                  <a:noFill/>
                </a:ln>
                <a:solidFill>
                  <a:srgbClr val="FF9900"/>
                </a:solidFill>
                <a:effectLst/>
                <a:uLnTx/>
                <a:uFillTx/>
                <a:latin typeface="+mn-lt"/>
                <a:ea typeface="+mj-ea"/>
                <a:cs typeface="+mj-cs"/>
              </a:rPr>
              <a:t>VI- EXAMENS</a:t>
            </a:r>
            <a:r>
              <a:rPr kumimoji="0" lang="fr-FR" sz="2800" b="0" i="0" u="none" strike="noStrike" kern="1200" cap="all" spc="0" normalizeH="0" noProof="0" dirty="0" smtClean="0">
                <a:ln>
                  <a:noFill/>
                </a:ln>
                <a:solidFill>
                  <a:srgbClr val="FF9900"/>
                </a:solidFill>
                <a:effectLst/>
                <a:uLnTx/>
                <a:uFillTx/>
                <a:latin typeface="+mn-lt"/>
                <a:ea typeface="+mj-ea"/>
                <a:cs typeface="+mj-cs"/>
              </a:rPr>
              <a:t> COMPLÉMENTAIRES</a:t>
            </a:r>
            <a:endParaRPr kumimoji="0" lang="fr-FR" sz="2800" b="0" i="0" u="none" strike="noStrike" kern="1200" cap="all" spc="0" normalizeH="0" baseline="0" noProof="0" dirty="0">
              <a:ln>
                <a:noFill/>
              </a:ln>
              <a:solidFill>
                <a:srgbClr val="FF9900"/>
              </a:solidFill>
              <a:effectLst/>
              <a:uLnTx/>
              <a:uFillTx/>
              <a:latin typeface="+mn-lt"/>
              <a:ea typeface="+mj-ea"/>
              <a:cs typeface="+mj-cs"/>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3" name="Rectangle 3"/>
          <p:cNvSpPr>
            <a:spLocks noGrp="1" noRot="1" noChangeArrowheads="1"/>
          </p:cNvSpPr>
          <p:nvPr>
            <p:ph type="body" idx="4294967295"/>
          </p:nvPr>
        </p:nvSpPr>
        <p:spPr>
          <a:xfrm>
            <a:off x="107950" y="404813"/>
            <a:ext cx="9036050" cy="6096000"/>
          </a:xfrm>
        </p:spPr>
        <p:txBody>
          <a:bodyPr>
            <a:normAutofit lnSpcReduction="10000"/>
          </a:bodyPr>
          <a:lstStyle/>
          <a:p>
            <a:pPr lvl="1" eaLnBrk="1" hangingPunct="1">
              <a:buClr>
                <a:srgbClr val="FF9900"/>
              </a:buClr>
              <a:buSzPct val="105000"/>
              <a:buFontTx/>
              <a:buChar char="•"/>
              <a:defRPr/>
            </a:pPr>
            <a:r>
              <a:rPr lang="fr-FR" sz="3200" dirty="0" smtClean="0">
                <a:solidFill>
                  <a:srgbClr val="C00000"/>
                </a:solidFill>
              </a:rPr>
              <a:t>  </a:t>
            </a:r>
            <a:r>
              <a:rPr lang="fr-FR" sz="3200" b="1" dirty="0" smtClean="0">
                <a:solidFill>
                  <a:srgbClr val="C00000"/>
                </a:solidFill>
              </a:rPr>
              <a:t>ECG</a:t>
            </a:r>
            <a:r>
              <a:rPr lang="fr-FR" sz="3200" dirty="0" smtClean="0">
                <a:solidFill>
                  <a:srgbClr val="C00000"/>
                </a:solidFill>
              </a:rPr>
              <a:t>:  </a:t>
            </a:r>
            <a:r>
              <a:rPr lang="fr-FR" sz="3200" dirty="0" smtClean="0"/>
              <a:t>troubles de repolarisation: </a:t>
            </a:r>
            <a:r>
              <a:rPr lang="fr-FR" b="1" dirty="0" smtClean="0">
                <a:solidFill>
                  <a:srgbClr val="FF9900"/>
                </a:solidFill>
              </a:rPr>
              <a:t>4 phases</a:t>
            </a:r>
            <a:r>
              <a:rPr lang="fr-FR" dirty="0" smtClean="0">
                <a:solidFill>
                  <a:srgbClr val="FF9900"/>
                </a:solidFill>
              </a:rPr>
              <a:t> </a:t>
            </a:r>
          </a:p>
          <a:p>
            <a:pPr eaLnBrk="1" hangingPunct="1">
              <a:buFont typeface="Arial" charset="0"/>
              <a:buNone/>
              <a:defRPr/>
            </a:pPr>
            <a:endParaRPr lang="fr-FR" sz="2800" dirty="0" smtClean="0"/>
          </a:p>
          <a:p>
            <a:pPr eaLnBrk="1" hangingPunct="1">
              <a:buFont typeface="Arial" charset="0"/>
              <a:buNone/>
              <a:defRPr/>
            </a:pPr>
            <a:r>
              <a:rPr lang="fr-FR" sz="2800" dirty="0" smtClean="0"/>
              <a:t>   Stade 1:                                 Stade 3:</a:t>
            </a:r>
          </a:p>
          <a:p>
            <a:pPr eaLnBrk="1" hangingPunct="1">
              <a:buFont typeface="Arial" charset="0"/>
              <a:buNone/>
              <a:defRPr/>
            </a:pPr>
            <a:r>
              <a:rPr lang="fr-FR" sz="2800" dirty="0" smtClean="0"/>
              <a:t> </a:t>
            </a:r>
            <a:r>
              <a:rPr lang="fr-FR" sz="2400" dirty="0" smtClean="0"/>
              <a:t>   1ères H                                      2</a:t>
            </a:r>
            <a:r>
              <a:rPr lang="fr-FR" sz="2400" baseline="30000" dirty="0" smtClean="0"/>
              <a:t>ème</a:t>
            </a:r>
            <a:r>
              <a:rPr lang="fr-FR" sz="2400" dirty="0" smtClean="0"/>
              <a:t> semaine</a:t>
            </a:r>
            <a:endParaRPr lang="fr-FR" sz="2800" dirty="0" smtClean="0"/>
          </a:p>
          <a:p>
            <a:pPr eaLnBrk="1" hangingPunct="1">
              <a:buFont typeface="Arial" charset="0"/>
              <a:buNone/>
              <a:defRPr/>
            </a:pPr>
            <a:endParaRPr lang="fr-FR" sz="2800" dirty="0" smtClean="0"/>
          </a:p>
          <a:p>
            <a:pPr eaLnBrk="1" hangingPunct="1">
              <a:buFont typeface="Arial" charset="0"/>
              <a:buNone/>
              <a:defRPr/>
            </a:pPr>
            <a:endParaRPr lang="fr-FR" sz="2800" dirty="0" smtClean="0"/>
          </a:p>
          <a:p>
            <a:pPr eaLnBrk="1" hangingPunct="1">
              <a:buFont typeface="Arial" charset="0"/>
              <a:buNone/>
              <a:defRPr/>
            </a:pPr>
            <a:r>
              <a:rPr lang="fr-FR" sz="2800" dirty="0" smtClean="0"/>
              <a:t>  Stade 2:                                  Stade 4:</a:t>
            </a:r>
          </a:p>
          <a:p>
            <a:pPr eaLnBrk="1" hangingPunct="1">
              <a:buFont typeface="Arial" charset="0"/>
              <a:buNone/>
              <a:defRPr/>
            </a:pPr>
            <a:r>
              <a:rPr lang="fr-FR" sz="2800" dirty="0" smtClean="0"/>
              <a:t>   </a:t>
            </a:r>
            <a:r>
              <a:rPr lang="fr-FR" sz="2400" dirty="0" smtClean="0"/>
              <a:t>24-48 H                                       </a:t>
            </a:r>
            <a:r>
              <a:rPr lang="fr-FR" sz="2400" b="1" i="1" u="sng" dirty="0" smtClean="0">
                <a:solidFill>
                  <a:schemeClr val="tx1">
                    <a:lumMod val="95000"/>
                    <a:lumOff val="5000"/>
                  </a:schemeClr>
                </a:solidFill>
              </a:rPr>
              <a:t>normalisation</a:t>
            </a:r>
          </a:p>
          <a:p>
            <a:pPr eaLnBrk="1" hangingPunct="1">
              <a:buFont typeface="Arial" charset="0"/>
              <a:buNone/>
              <a:defRPr/>
            </a:pPr>
            <a:endParaRPr lang="fr-FR" sz="2400" dirty="0" smtClean="0">
              <a:solidFill>
                <a:srgbClr val="C00000"/>
              </a:solidFill>
            </a:endParaRPr>
          </a:p>
          <a:p>
            <a:pPr eaLnBrk="1" hangingPunct="1">
              <a:buFont typeface="Arial" charset="0"/>
              <a:buNone/>
              <a:defRPr/>
            </a:pPr>
            <a:endParaRPr lang="fr-FR" sz="2400" dirty="0" smtClean="0">
              <a:solidFill>
                <a:srgbClr val="C00000"/>
              </a:solidFill>
            </a:endParaRPr>
          </a:p>
          <a:p>
            <a:pPr eaLnBrk="1" hangingPunct="1">
              <a:buFont typeface="Arial" charset="0"/>
              <a:buNone/>
              <a:defRPr/>
            </a:pPr>
            <a:r>
              <a:rPr lang="fr-FR" sz="2400" dirty="0" smtClean="0">
                <a:solidFill>
                  <a:schemeClr val="tx1">
                    <a:lumMod val="95000"/>
                    <a:lumOff val="5000"/>
                  </a:schemeClr>
                </a:solidFill>
              </a:rPr>
              <a:t>       </a:t>
            </a:r>
            <a:r>
              <a:rPr lang="fr-FR" sz="2400" b="1" i="1" dirty="0" smtClean="0">
                <a:solidFill>
                  <a:srgbClr val="C00000"/>
                </a:solidFill>
              </a:rPr>
              <a:t>&gt;</a:t>
            </a:r>
            <a:r>
              <a:rPr lang="fr-FR" sz="2400" dirty="0" smtClean="0">
                <a:solidFill>
                  <a:schemeClr val="tx1">
                    <a:lumMod val="95000"/>
                    <a:lumOff val="5000"/>
                  </a:schemeClr>
                </a:solidFill>
              </a:rPr>
              <a:t> </a:t>
            </a:r>
            <a:r>
              <a:rPr lang="fr-FR" sz="2400" b="1" i="1" dirty="0" smtClean="0">
                <a:solidFill>
                  <a:srgbClr val="C00000"/>
                </a:solidFill>
              </a:rPr>
              <a:t>Variables d’un sujet à l’autre</a:t>
            </a:r>
          </a:p>
          <a:p>
            <a:pPr eaLnBrk="1" hangingPunct="1">
              <a:buFont typeface="Arial" charset="0"/>
              <a:buNone/>
              <a:defRPr/>
            </a:pPr>
            <a:r>
              <a:rPr lang="fr-FR" sz="2400" b="1" i="1" dirty="0" smtClean="0">
                <a:solidFill>
                  <a:srgbClr val="C00000"/>
                </a:solidFill>
              </a:rPr>
              <a:t>       &gt; Dynamique dans le temps (heures, jours)</a:t>
            </a:r>
          </a:p>
          <a:p>
            <a:pPr eaLnBrk="1" hangingPunct="1">
              <a:buFont typeface="Arial" charset="0"/>
              <a:buNone/>
              <a:defRPr/>
            </a:pPr>
            <a:r>
              <a:rPr lang="fr-FR" sz="2400" b="1" i="1" dirty="0" smtClean="0">
                <a:solidFill>
                  <a:srgbClr val="C00000"/>
                </a:solidFill>
              </a:rPr>
              <a:t>       &gt; Influencés par le TRT</a:t>
            </a:r>
          </a:p>
        </p:txBody>
      </p:sp>
      <p:pic>
        <p:nvPicPr>
          <p:cNvPr id="40966" name="Picture 6"/>
          <p:cNvPicPr>
            <a:picLocks noChangeAspect="1" noChangeArrowheads="1"/>
          </p:cNvPicPr>
          <p:nvPr/>
        </p:nvPicPr>
        <p:blipFill>
          <a:blip r:embed="rId3" cstate="print"/>
          <a:srcRect/>
          <a:stretch>
            <a:fillRect/>
          </a:stretch>
        </p:blipFill>
        <p:spPr bwMode="auto">
          <a:xfrm>
            <a:off x="1936750" y="1052736"/>
            <a:ext cx="2073275" cy="1673225"/>
          </a:xfrm>
          <a:prstGeom prst="rect">
            <a:avLst/>
          </a:prstGeom>
          <a:ln>
            <a:noFill/>
          </a:ln>
          <a:effectLst>
            <a:outerShdw blurRad="292100" dist="139700" dir="2700000" algn="tl" rotWithShape="0">
              <a:srgbClr val="333333">
                <a:alpha val="65000"/>
              </a:srgbClr>
            </a:outerShdw>
          </a:effectLst>
        </p:spPr>
      </p:pic>
      <p:sp>
        <p:nvSpPr>
          <p:cNvPr id="40977" name="Line 17"/>
          <p:cNvSpPr>
            <a:spLocks noChangeShapeType="1"/>
          </p:cNvSpPr>
          <p:nvPr/>
        </p:nvSpPr>
        <p:spPr bwMode="auto">
          <a:xfrm>
            <a:off x="3059113" y="1413098"/>
            <a:ext cx="71437" cy="433388"/>
          </a:xfrm>
          <a:prstGeom prst="line">
            <a:avLst/>
          </a:prstGeom>
          <a:noFill/>
          <a:ln w="44450">
            <a:solidFill>
              <a:srgbClr val="FFCC00"/>
            </a:solidFill>
            <a:round/>
            <a:headEnd/>
            <a:tailEnd type="triangle" w="med" len="med"/>
          </a:ln>
        </p:spPr>
        <p:txBody>
          <a:bodyPr/>
          <a:lstStyle/>
          <a:p>
            <a:endParaRPr lang="fr-FR"/>
          </a:p>
        </p:txBody>
      </p:sp>
      <p:pic>
        <p:nvPicPr>
          <p:cNvPr id="40978" name="Picture 18"/>
          <p:cNvPicPr>
            <a:picLocks noGrp="1" noChangeAspect="1" noChangeArrowheads="1"/>
          </p:cNvPicPr>
          <p:nvPr>
            <p:ph sz="half" idx="1"/>
          </p:nvPr>
        </p:nvPicPr>
        <p:blipFill>
          <a:blip r:embed="rId3" cstate="print"/>
          <a:srcRect/>
          <a:stretch>
            <a:fillRect/>
          </a:stretch>
        </p:blipFill>
        <p:spPr>
          <a:xfrm>
            <a:off x="1835150" y="3213323"/>
            <a:ext cx="2089150" cy="1635125"/>
          </a:xfrm>
          <a:effectLst>
            <a:outerShdw blurRad="292100" dist="139700" dir="2700000" algn="tl" rotWithShape="0">
              <a:srgbClr val="333333">
                <a:alpha val="65000"/>
              </a:srgbClr>
            </a:outerShdw>
          </a:effectLst>
        </p:spPr>
      </p:pic>
      <p:sp>
        <p:nvSpPr>
          <p:cNvPr id="40983" name="Line 23"/>
          <p:cNvSpPr>
            <a:spLocks noChangeShapeType="1"/>
          </p:cNvSpPr>
          <p:nvPr/>
        </p:nvSpPr>
        <p:spPr bwMode="auto">
          <a:xfrm>
            <a:off x="2843213" y="4200748"/>
            <a:ext cx="360362" cy="0"/>
          </a:xfrm>
          <a:prstGeom prst="line">
            <a:avLst/>
          </a:prstGeom>
          <a:noFill/>
          <a:ln w="38100">
            <a:solidFill>
              <a:srgbClr val="FFCC00"/>
            </a:solidFill>
            <a:prstDash val="sysDot"/>
            <a:round/>
            <a:headEnd/>
            <a:tailEnd/>
          </a:ln>
        </p:spPr>
        <p:txBody>
          <a:bodyPr/>
          <a:lstStyle/>
          <a:p>
            <a:endParaRPr lang="fr-FR"/>
          </a:p>
        </p:txBody>
      </p:sp>
      <p:sp>
        <p:nvSpPr>
          <p:cNvPr id="40988" name="Freeform 28"/>
          <p:cNvSpPr>
            <a:spLocks/>
          </p:cNvSpPr>
          <p:nvPr/>
        </p:nvSpPr>
        <p:spPr bwMode="auto">
          <a:xfrm>
            <a:off x="3203575" y="4149948"/>
            <a:ext cx="504825" cy="144463"/>
          </a:xfrm>
          <a:custGeom>
            <a:avLst/>
            <a:gdLst>
              <a:gd name="T0" fmla="*/ 0 w 409"/>
              <a:gd name="T1" fmla="*/ 2147483647 h 106"/>
              <a:gd name="T2" fmla="*/ 2147483647 w 409"/>
              <a:gd name="T3" fmla="*/ 2147483647 h 106"/>
              <a:gd name="T4" fmla="*/ 2147483647 w 409"/>
              <a:gd name="T5" fmla="*/ 2147483647 h 106"/>
              <a:gd name="T6" fmla="*/ 2147483647 w 409"/>
              <a:gd name="T7" fmla="*/ 2147483647 h 106"/>
              <a:gd name="T8" fmla="*/ 0 60000 65536"/>
              <a:gd name="T9" fmla="*/ 0 60000 65536"/>
              <a:gd name="T10" fmla="*/ 0 60000 65536"/>
              <a:gd name="T11" fmla="*/ 0 60000 65536"/>
              <a:gd name="T12" fmla="*/ 0 w 409"/>
              <a:gd name="T13" fmla="*/ 0 h 106"/>
              <a:gd name="T14" fmla="*/ 409 w 409"/>
              <a:gd name="T15" fmla="*/ 106 h 106"/>
            </a:gdLst>
            <a:ahLst/>
            <a:cxnLst>
              <a:cxn ang="T8">
                <a:pos x="T0" y="T1"/>
              </a:cxn>
              <a:cxn ang="T9">
                <a:pos x="T2" y="T3"/>
              </a:cxn>
              <a:cxn ang="T10">
                <a:pos x="T4" y="T5"/>
              </a:cxn>
              <a:cxn ang="T11">
                <a:pos x="T6" y="T7"/>
              </a:cxn>
            </a:cxnLst>
            <a:rect l="T12" t="T13" r="T14" b="T15"/>
            <a:pathLst>
              <a:path w="409" h="106">
                <a:moveTo>
                  <a:pt x="0" y="53"/>
                </a:moveTo>
                <a:cubicBezTo>
                  <a:pt x="38" y="26"/>
                  <a:pt x="77" y="0"/>
                  <a:pt x="137" y="8"/>
                </a:cubicBezTo>
                <a:cubicBezTo>
                  <a:pt x="197" y="16"/>
                  <a:pt x="318" y="92"/>
                  <a:pt x="363" y="99"/>
                </a:cubicBezTo>
                <a:cubicBezTo>
                  <a:pt x="408" y="106"/>
                  <a:pt x="401" y="61"/>
                  <a:pt x="409" y="53"/>
                </a:cubicBezTo>
              </a:path>
            </a:pathLst>
          </a:custGeom>
          <a:noFill/>
          <a:ln w="38100">
            <a:solidFill>
              <a:srgbClr val="FFCC00"/>
            </a:solidFill>
            <a:prstDash val="sysDot"/>
            <a:round/>
            <a:headEnd/>
            <a:tailEnd/>
          </a:ln>
        </p:spPr>
        <p:txBody>
          <a:bodyPr/>
          <a:lstStyle/>
          <a:p>
            <a:endParaRPr lang="fr-FR"/>
          </a:p>
        </p:txBody>
      </p:sp>
      <p:pic>
        <p:nvPicPr>
          <p:cNvPr id="40989" name="Picture 29"/>
          <p:cNvPicPr>
            <a:picLocks noGrp="1" noChangeAspect="1" noChangeArrowheads="1"/>
          </p:cNvPicPr>
          <p:nvPr>
            <p:ph sz="half" idx="2"/>
          </p:nvPr>
        </p:nvPicPr>
        <p:blipFill>
          <a:blip r:embed="rId3" cstate="print"/>
          <a:srcRect/>
          <a:stretch>
            <a:fillRect/>
          </a:stretch>
        </p:blipFill>
        <p:spPr>
          <a:xfrm>
            <a:off x="6586538" y="1052736"/>
            <a:ext cx="2089150" cy="1655762"/>
          </a:xfrm>
          <a:effectLst>
            <a:outerShdw blurRad="292100" dist="139700" dir="2700000" algn="tl" rotWithShape="0">
              <a:srgbClr val="333333">
                <a:alpha val="65000"/>
              </a:srgbClr>
            </a:outerShdw>
          </a:effectLst>
        </p:spPr>
      </p:pic>
      <p:sp>
        <p:nvSpPr>
          <p:cNvPr id="40990" name="Freeform 30"/>
          <p:cNvSpPr>
            <a:spLocks/>
          </p:cNvSpPr>
          <p:nvPr/>
        </p:nvSpPr>
        <p:spPr bwMode="auto">
          <a:xfrm>
            <a:off x="7594600" y="2008411"/>
            <a:ext cx="1081088" cy="334962"/>
          </a:xfrm>
          <a:custGeom>
            <a:avLst/>
            <a:gdLst>
              <a:gd name="T0" fmla="*/ 0 w 681"/>
              <a:gd name="T1" fmla="*/ 2147483647 h 211"/>
              <a:gd name="T2" fmla="*/ 2147483647 w 681"/>
              <a:gd name="T3" fmla="*/ 2147483647 h 211"/>
              <a:gd name="T4" fmla="*/ 2147483647 w 681"/>
              <a:gd name="T5" fmla="*/ 2147483647 h 211"/>
              <a:gd name="T6" fmla="*/ 2147483647 w 681"/>
              <a:gd name="T7" fmla="*/ 2147483647 h 211"/>
              <a:gd name="T8" fmla="*/ 2147483647 w 681"/>
              <a:gd name="T9" fmla="*/ 2147483647 h 211"/>
              <a:gd name="T10" fmla="*/ 0 60000 65536"/>
              <a:gd name="T11" fmla="*/ 0 60000 65536"/>
              <a:gd name="T12" fmla="*/ 0 60000 65536"/>
              <a:gd name="T13" fmla="*/ 0 60000 65536"/>
              <a:gd name="T14" fmla="*/ 0 60000 65536"/>
              <a:gd name="T15" fmla="*/ 0 w 681"/>
              <a:gd name="T16" fmla="*/ 0 h 211"/>
              <a:gd name="T17" fmla="*/ 681 w 681"/>
              <a:gd name="T18" fmla="*/ 211 h 211"/>
            </a:gdLst>
            <a:ahLst/>
            <a:cxnLst>
              <a:cxn ang="T10">
                <a:pos x="T0" y="T1"/>
              </a:cxn>
              <a:cxn ang="T11">
                <a:pos x="T2" y="T3"/>
              </a:cxn>
              <a:cxn ang="T12">
                <a:pos x="T4" y="T5"/>
              </a:cxn>
              <a:cxn ang="T13">
                <a:pos x="T6" y="T7"/>
              </a:cxn>
              <a:cxn ang="T14">
                <a:pos x="T8" y="T9"/>
              </a:cxn>
            </a:cxnLst>
            <a:rect l="T15" t="T16" r="T17" b="T18"/>
            <a:pathLst>
              <a:path w="681" h="211">
                <a:moveTo>
                  <a:pt x="0" y="30"/>
                </a:moveTo>
                <a:cubicBezTo>
                  <a:pt x="83" y="15"/>
                  <a:pt x="167" y="0"/>
                  <a:pt x="227" y="30"/>
                </a:cubicBezTo>
                <a:cubicBezTo>
                  <a:pt x="287" y="60"/>
                  <a:pt x="318" y="211"/>
                  <a:pt x="363" y="211"/>
                </a:cubicBezTo>
                <a:cubicBezTo>
                  <a:pt x="408" y="211"/>
                  <a:pt x="446" y="60"/>
                  <a:pt x="499" y="30"/>
                </a:cubicBezTo>
                <a:cubicBezTo>
                  <a:pt x="552" y="0"/>
                  <a:pt x="651" y="30"/>
                  <a:pt x="681" y="30"/>
                </a:cubicBezTo>
              </a:path>
            </a:pathLst>
          </a:custGeom>
          <a:noFill/>
          <a:ln w="38100">
            <a:solidFill>
              <a:srgbClr val="FFCC00"/>
            </a:solidFill>
            <a:prstDash val="sysDot"/>
            <a:round/>
            <a:headEnd/>
            <a:tailEnd/>
          </a:ln>
        </p:spPr>
        <p:txBody>
          <a:bodyPr/>
          <a:lstStyle/>
          <a:p>
            <a:endParaRPr lang="fr-FR"/>
          </a:p>
        </p:txBody>
      </p:sp>
      <p:pic>
        <p:nvPicPr>
          <p:cNvPr id="40991" name="Picture 31"/>
          <p:cNvPicPr>
            <a:picLocks noChangeAspect="1" noChangeArrowheads="1"/>
          </p:cNvPicPr>
          <p:nvPr/>
        </p:nvPicPr>
        <p:blipFill>
          <a:blip r:embed="rId3" cstate="print"/>
          <a:srcRect/>
          <a:stretch>
            <a:fillRect/>
          </a:stretch>
        </p:blipFill>
        <p:spPr bwMode="auto">
          <a:xfrm>
            <a:off x="6602413" y="3141886"/>
            <a:ext cx="2073275" cy="1673225"/>
          </a:xfrm>
          <a:prstGeom prst="rect">
            <a:avLst/>
          </a:prstGeom>
          <a:ln>
            <a:noFill/>
          </a:ln>
          <a:effectLst>
            <a:outerShdw blurRad="292100" dist="139700" dir="2700000" algn="tl" rotWithShape="0">
              <a:srgbClr val="333333">
                <a:alpha val="65000"/>
              </a:srgbClr>
            </a:outerShdw>
          </a:effectLst>
        </p:spPr>
      </p:pic>
      <p:sp>
        <p:nvSpPr>
          <p:cNvPr id="40994" name="Freeform 34"/>
          <p:cNvSpPr>
            <a:spLocks/>
          </p:cNvSpPr>
          <p:nvPr/>
        </p:nvSpPr>
        <p:spPr bwMode="auto">
          <a:xfrm>
            <a:off x="7594600" y="3749898"/>
            <a:ext cx="1008063" cy="417513"/>
          </a:xfrm>
          <a:custGeom>
            <a:avLst/>
            <a:gdLst>
              <a:gd name="T0" fmla="*/ 0 w 635"/>
              <a:gd name="T1" fmla="*/ 2147483647 h 264"/>
              <a:gd name="T2" fmla="*/ 2147483647 w 635"/>
              <a:gd name="T3" fmla="*/ 2147483647 h 264"/>
              <a:gd name="T4" fmla="*/ 2147483647 w 635"/>
              <a:gd name="T5" fmla="*/ 0 h 264"/>
              <a:gd name="T6" fmla="*/ 2147483647 w 635"/>
              <a:gd name="T7" fmla="*/ 2147483647 h 264"/>
              <a:gd name="T8" fmla="*/ 2147483647 w 635"/>
              <a:gd name="T9" fmla="*/ 2147483647 h 264"/>
              <a:gd name="T10" fmla="*/ 0 60000 65536"/>
              <a:gd name="T11" fmla="*/ 0 60000 65536"/>
              <a:gd name="T12" fmla="*/ 0 60000 65536"/>
              <a:gd name="T13" fmla="*/ 0 60000 65536"/>
              <a:gd name="T14" fmla="*/ 0 60000 65536"/>
              <a:gd name="T15" fmla="*/ 0 w 635"/>
              <a:gd name="T16" fmla="*/ 0 h 264"/>
              <a:gd name="T17" fmla="*/ 635 w 635"/>
              <a:gd name="T18" fmla="*/ 264 h 264"/>
            </a:gdLst>
            <a:ahLst/>
            <a:cxnLst>
              <a:cxn ang="T10">
                <a:pos x="T0" y="T1"/>
              </a:cxn>
              <a:cxn ang="T11">
                <a:pos x="T2" y="T3"/>
              </a:cxn>
              <a:cxn ang="T12">
                <a:pos x="T4" y="T5"/>
              </a:cxn>
              <a:cxn ang="T13">
                <a:pos x="T6" y="T7"/>
              </a:cxn>
              <a:cxn ang="T14">
                <a:pos x="T8" y="T9"/>
              </a:cxn>
            </a:cxnLst>
            <a:rect l="T15" t="T16" r="T17" b="T18"/>
            <a:pathLst>
              <a:path w="635" h="264">
                <a:moveTo>
                  <a:pt x="0" y="226"/>
                </a:moveTo>
                <a:cubicBezTo>
                  <a:pt x="64" y="245"/>
                  <a:pt x="129" y="264"/>
                  <a:pt x="182" y="226"/>
                </a:cubicBezTo>
                <a:cubicBezTo>
                  <a:pt x="235" y="188"/>
                  <a:pt x="280" y="0"/>
                  <a:pt x="318" y="0"/>
                </a:cubicBezTo>
                <a:cubicBezTo>
                  <a:pt x="356" y="0"/>
                  <a:pt x="356" y="188"/>
                  <a:pt x="409" y="226"/>
                </a:cubicBezTo>
                <a:cubicBezTo>
                  <a:pt x="462" y="264"/>
                  <a:pt x="597" y="226"/>
                  <a:pt x="635" y="226"/>
                </a:cubicBezTo>
              </a:path>
            </a:pathLst>
          </a:custGeom>
          <a:noFill/>
          <a:ln w="38100">
            <a:solidFill>
              <a:srgbClr val="FFCC00"/>
            </a:solidFill>
            <a:round/>
            <a:headEnd/>
            <a:tailEnd/>
          </a:ln>
        </p:spPr>
        <p:txBody>
          <a:bodyPr/>
          <a:lstStyle/>
          <a:p>
            <a:endParaRPr lang="fr-FR"/>
          </a:p>
        </p:txBody>
      </p:sp>
      <p:sp>
        <p:nvSpPr>
          <p:cNvPr id="14" name="Freeform 34"/>
          <p:cNvSpPr>
            <a:spLocks/>
          </p:cNvSpPr>
          <p:nvPr/>
        </p:nvSpPr>
        <p:spPr bwMode="auto">
          <a:xfrm>
            <a:off x="2916238" y="1628998"/>
            <a:ext cx="1008062" cy="417513"/>
          </a:xfrm>
          <a:custGeom>
            <a:avLst/>
            <a:gdLst>
              <a:gd name="T0" fmla="*/ 0 w 635"/>
              <a:gd name="T1" fmla="*/ 2147483647 h 264"/>
              <a:gd name="T2" fmla="*/ 2147483647 w 635"/>
              <a:gd name="T3" fmla="*/ 2147483647 h 264"/>
              <a:gd name="T4" fmla="*/ 2147483647 w 635"/>
              <a:gd name="T5" fmla="*/ 0 h 264"/>
              <a:gd name="T6" fmla="*/ 2147483647 w 635"/>
              <a:gd name="T7" fmla="*/ 2147483647 h 264"/>
              <a:gd name="T8" fmla="*/ 2147483647 w 635"/>
              <a:gd name="T9" fmla="*/ 2147483647 h 264"/>
              <a:gd name="T10" fmla="*/ 0 60000 65536"/>
              <a:gd name="T11" fmla="*/ 0 60000 65536"/>
              <a:gd name="T12" fmla="*/ 0 60000 65536"/>
              <a:gd name="T13" fmla="*/ 0 60000 65536"/>
              <a:gd name="T14" fmla="*/ 0 60000 65536"/>
              <a:gd name="T15" fmla="*/ 0 w 635"/>
              <a:gd name="T16" fmla="*/ 0 h 264"/>
              <a:gd name="T17" fmla="*/ 635 w 635"/>
              <a:gd name="T18" fmla="*/ 264 h 264"/>
            </a:gdLst>
            <a:ahLst/>
            <a:cxnLst>
              <a:cxn ang="T10">
                <a:pos x="T0" y="T1"/>
              </a:cxn>
              <a:cxn ang="T11">
                <a:pos x="T2" y="T3"/>
              </a:cxn>
              <a:cxn ang="T12">
                <a:pos x="T4" y="T5"/>
              </a:cxn>
              <a:cxn ang="T13">
                <a:pos x="T6" y="T7"/>
              </a:cxn>
              <a:cxn ang="T14">
                <a:pos x="T8" y="T9"/>
              </a:cxn>
            </a:cxnLst>
            <a:rect l="T15" t="T16" r="T17" b="T18"/>
            <a:pathLst>
              <a:path w="635" h="264">
                <a:moveTo>
                  <a:pt x="0" y="226"/>
                </a:moveTo>
                <a:cubicBezTo>
                  <a:pt x="64" y="245"/>
                  <a:pt x="129" y="264"/>
                  <a:pt x="182" y="226"/>
                </a:cubicBezTo>
                <a:cubicBezTo>
                  <a:pt x="235" y="188"/>
                  <a:pt x="280" y="0"/>
                  <a:pt x="318" y="0"/>
                </a:cubicBezTo>
                <a:cubicBezTo>
                  <a:pt x="356" y="0"/>
                  <a:pt x="356" y="188"/>
                  <a:pt x="409" y="226"/>
                </a:cubicBezTo>
                <a:cubicBezTo>
                  <a:pt x="462" y="264"/>
                  <a:pt x="597" y="226"/>
                  <a:pt x="635" y="226"/>
                </a:cubicBezTo>
              </a:path>
            </a:pathLst>
          </a:custGeom>
          <a:noFill/>
          <a:ln w="38100">
            <a:solidFill>
              <a:srgbClr val="FFCC00"/>
            </a:solidFill>
            <a:prstDash val="sysDot"/>
            <a:round/>
            <a:headEnd/>
            <a:tailEnd/>
          </a:ln>
        </p:spPr>
        <p:txBody>
          <a:bodyPr/>
          <a:lstStyle/>
          <a:p>
            <a:endParaRPr lang="fr-F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0963">
                                            <p:txEl>
                                              <p:pRg st="2" end="2"/>
                                            </p:txEl>
                                          </p:spTgt>
                                        </p:tgtEl>
                                        <p:attrNameLst>
                                          <p:attrName>style.visibility</p:attrName>
                                        </p:attrNameLst>
                                      </p:cBhvr>
                                      <p:to>
                                        <p:strVal val="visible"/>
                                      </p:to>
                                    </p:set>
                                    <p:animEffect transition="in" filter="checkerboard(across)">
                                      <p:cBhvr>
                                        <p:cTn id="7" dur="500"/>
                                        <p:tgtEl>
                                          <p:spTgt spid="40963">
                                            <p:txEl>
                                              <p:pRg st="2" end="2"/>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40963">
                                            <p:txEl>
                                              <p:pRg st="3" end="3"/>
                                            </p:txEl>
                                          </p:spTgt>
                                        </p:tgtEl>
                                        <p:attrNameLst>
                                          <p:attrName>style.visibility</p:attrName>
                                        </p:attrNameLst>
                                      </p:cBhvr>
                                      <p:to>
                                        <p:strVal val="visible"/>
                                      </p:to>
                                    </p:set>
                                    <p:animEffect transition="in" filter="checkerboard(across)">
                                      <p:cBhvr>
                                        <p:cTn id="10" dur="500"/>
                                        <p:tgtEl>
                                          <p:spTgt spid="40963">
                                            <p:txEl>
                                              <p:pRg st="3" end="3"/>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40963">
                                            <p:txEl>
                                              <p:pRg st="6" end="6"/>
                                            </p:txEl>
                                          </p:spTgt>
                                        </p:tgtEl>
                                        <p:attrNameLst>
                                          <p:attrName>style.visibility</p:attrName>
                                        </p:attrNameLst>
                                      </p:cBhvr>
                                      <p:to>
                                        <p:strVal val="visible"/>
                                      </p:to>
                                    </p:set>
                                    <p:animEffect transition="in" filter="checkerboard(across)">
                                      <p:cBhvr>
                                        <p:cTn id="13" dur="500"/>
                                        <p:tgtEl>
                                          <p:spTgt spid="40963">
                                            <p:txEl>
                                              <p:pRg st="6" end="6"/>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40963">
                                            <p:txEl>
                                              <p:pRg st="7" end="7"/>
                                            </p:txEl>
                                          </p:spTgt>
                                        </p:tgtEl>
                                        <p:attrNameLst>
                                          <p:attrName>style.visibility</p:attrName>
                                        </p:attrNameLst>
                                      </p:cBhvr>
                                      <p:to>
                                        <p:strVal val="visible"/>
                                      </p:to>
                                    </p:set>
                                    <p:animEffect transition="in" filter="checkerboard(across)">
                                      <p:cBhvr>
                                        <p:cTn id="16" dur="500"/>
                                        <p:tgtEl>
                                          <p:spTgt spid="40963">
                                            <p:txEl>
                                              <p:pRg st="7" end="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096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97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97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098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098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098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099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099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099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par>
                          <p:cTn id="45" fill="hold">
                            <p:stCondLst>
                              <p:cond delay="0"/>
                            </p:stCondLst>
                            <p:childTnLst>
                              <p:par>
                                <p:cTn id="46" presetID="5" presetClass="entr" presetSubtype="10" fill="hold" nodeType="afterEffect">
                                  <p:stCondLst>
                                    <p:cond delay="1000"/>
                                  </p:stCondLst>
                                  <p:childTnLst>
                                    <p:set>
                                      <p:cBhvr>
                                        <p:cTn id="47" dur="1" fill="hold">
                                          <p:stCondLst>
                                            <p:cond delay="0"/>
                                          </p:stCondLst>
                                        </p:cTn>
                                        <p:tgtEl>
                                          <p:spTgt spid="40963">
                                            <p:txEl>
                                              <p:pRg st="10" end="10"/>
                                            </p:txEl>
                                          </p:spTgt>
                                        </p:tgtEl>
                                        <p:attrNameLst>
                                          <p:attrName>style.visibility</p:attrName>
                                        </p:attrNameLst>
                                      </p:cBhvr>
                                      <p:to>
                                        <p:strVal val="visible"/>
                                      </p:to>
                                    </p:set>
                                    <p:animEffect transition="in" filter="checkerboard(across)">
                                      <p:cBhvr>
                                        <p:cTn id="48" dur="500"/>
                                        <p:tgtEl>
                                          <p:spTgt spid="40963">
                                            <p:txEl>
                                              <p:pRg st="10" end="10"/>
                                            </p:txEl>
                                          </p:spTgt>
                                        </p:tgtEl>
                                      </p:cBhvr>
                                    </p:animEffect>
                                  </p:childTnLst>
                                </p:cTn>
                              </p:par>
                            </p:childTnLst>
                          </p:cTn>
                        </p:par>
                        <p:par>
                          <p:cTn id="49" fill="hold">
                            <p:stCondLst>
                              <p:cond delay="1500"/>
                            </p:stCondLst>
                            <p:childTnLst>
                              <p:par>
                                <p:cTn id="50" presetID="5" presetClass="entr" presetSubtype="10" fill="hold" nodeType="afterEffect">
                                  <p:stCondLst>
                                    <p:cond delay="1000"/>
                                  </p:stCondLst>
                                  <p:childTnLst>
                                    <p:set>
                                      <p:cBhvr>
                                        <p:cTn id="51" dur="1" fill="hold">
                                          <p:stCondLst>
                                            <p:cond delay="0"/>
                                          </p:stCondLst>
                                        </p:cTn>
                                        <p:tgtEl>
                                          <p:spTgt spid="40963">
                                            <p:txEl>
                                              <p:pRg st="11" end="11"/>
                                            </p:txEl>
                                          </p:spTgt>
                                        </p:tgtEl>
                                        <p:attrNameLst>
                                          <p:attrName>style.visibility</p:attrName>
                                        </p:attrNameLst>
                                      </p:cBhvr>
                                      <p:to>
                                        <p:strVal val="visible"/>
                                      </p:to>
                                    </p:set>
                                    <p:animEffect transition="in" filter="checkerboard(across)">
                                      <p:cBhvr>
                                        <p:cTn id="52" dur="500"/>
                                        <p:tgtEl>
                                          <p:spTgt spid="40963">
                                            <p:txEl>
                                              <p:pRg st="11" end="11"/>
                                            </p:txEl>
                                          </p:spTgt>
                                        </p:tgtEl>
                                      </p:cBhvr>
                                    </p:animEffect>
                                  </p:childTnLst>
                                </p:cTn>
                              </p:par>
                              <p:par>
                                <p:cTn id="53" presetID="5" presetClass="entr" presetSubtype="10" fill="hold" nodeType="withEffect">
                                  <p:stCondLst>
                                    <p:cond delay="1500"/>
                                  </p:stCondLst>
                                  <p:childTnLst>
                                    <p:set>
                                      <p:cBhvr>
                                        <p:cTn id="54" dur="1" fill="hold">
                                          <p:stCondLst>
                                            <p:cond delay="0"/>
                                          </p:stCondLst>
                                        </p:cTn>
                                        <p:tgtEl>
                                          <p:spTgt spid="40963">
                                            <p:txEl>
                                              <p:pRg st="12" end="12"/>
                                            </p:txEl>
                                          </p:spTgt>
                                        </p:tgtEl>
                                        <p:attrNameLst>
                                          <p:attrName>style.visibility</p:attrName>
                                        </p:attrNameLst>
                                      </p:cBhvr>
                                      <p:to>
                                        <p:strVal val="visible"/>
                                      </p:to>
                                    </p:set>
                                    <p:animEffect transition="in" filter="checkerboard(across)">
                                      <p:cBhvr>
                                        <p:cTn id="55" dur="500"/>
                                        <p:tgtEl>
                                          <p:spTgt spid="4096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77" grpId="0" animBg="1"/>
      <p:bldP spid="40983" grpId="0" animBg="1"/>
      <p:bldP spid="40988" grpId="0" animBg="1"/>
      <p:bldP spid="40990" grpId="0" animBg="1"/>
      <p:bldP spid="40994"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p:cNvSpPr>
            <a:spLocks noGrp="1"/>
          </p:cNvSpPr>
          <p:nvPr>
            <p:ph type="title"/>
          </p:nvPr>
        </p:nvSpPr>
        <p:spPr>
          <a:xfrm>
            <a:off x="301625" y="0"/>
            <a:ext cx="8540750" cy="1143000"/>
          </a:xfrm>
        </p:spPr>
        <p:txBody>
          <a:bodyPr/>
          <a:lstStyle/>
          <a:p>
            <a:pPr algn="ctr" eaLnBrk="1" hangingPunct="1">
              <a:defRPr/>
            </a:pPr>
            <a:r>
              <a:rPr lang="fr-FR" sz="2800" cap="none" dirty="0" smtClean="0">
                <a:solidFill>
                  <a:srgbClr val="FF9900"/>
                </a:solidFill>
                <a:effectLst/>
                <a:latin typeface="+mn-lt"/>
              </a:rPr>
              <a:t>Particularités des anomalies </a:t>
            </a:r>
            <a:r>
              <a:rPr lang="fr-FR" sz="2800" dirty="0" smtClean="0">
                <a:solidFill>
                  <a:srgbClr val="FF9900"/>
                </a:solidFill>
                <a:effectLst/>
                <a:latin typeface="+mn-lt"/>
              </a:rPr>
              <a:t>ECG</a:t>
            </a:r>
          </a:p>
        </p:txBody>
      </p:sp>
      <p:sp>
        <p:nvSpPr>
          <p:cNvPr id="3" name="Espace réservé du contenu 2"/>
          <p:cNvSpPr>
            <a:spLocks noGrp="1"/>
          </p:cNvSpPr>
          <p:nvPr>
            <p:ph idx="1"/>
          </p:nvPr>
        </p:nvSpPr>
        <p:spPr>
          <a:xfrm>
            <a:off x="71438" y="1285875"/>
            <a:ext cx="9215437" cy="5214938"/>
          </a:xfrm>
        </p:spPr>
        <p:txBody>
          <a:bodyPr/>
          <a:lstStyle/>
          <a:p>
            <a:pPr eaLnBrk="1" hangingPunct="1">
              <a:buClr>
                <a:srgbClr val="FFC000"/>
              </a:buClr>
              <a:buFont typeface="Wingdings" pitchFamily="2" charset="2"/>
              <a:buChar char="Ø"/>
              <a:defRPr/>
            </a:pPr>
            <a:r>
              <a:rPr lang="fr-FR" sz="2800" dirty="0" smtClean="0">
                <a:solidFill>
                  <a:schemeClr val="tx1">
                    <a:lumMod val="95000"/>
                    <a:lumOff val="5000"/>
                  </a:schemeClr>
                </a:solidFill>
              </a:rPr>
              <a:t>Concordantes:</a:t>
            </a:r>
            <a:r>
              <a:rPr lang="fr-FR" sz="2800" dirty="0" smtClean="0"/>
              <a:t> pas d’image en miroir</a:t>
            </a:r>
          </a:p>
          <a:p>
            <a:pPr eaLnBrk="1" hangingPunct="1">
              <a:buClr>
                <a:srgbClr val="FFC000"/>
              </a:buClr>
              <a:buFont typeface="Wingdings" pitchFamily="2" charset="2"/>
              <a:buChar char="Ø"/>
              <a:defRPr/>
            </a:pPr>
            <a:r>
              <a:rPr lang="fr-FR" sz="2800" dirty="0" smtClean="0">
                <a:solidFill>
                  <a:schemeClr val="tx1">
                    <a:lumMod val="95000"/>
                    <a:lumOff val="5000"/>
                  </a:schemeClr>
                </a:solidFill>
              </a:rPr>
              <a:t>Diffuses:</a:t>
            </a:r>
            <a:r>
              <a:rPr lang="fr-FR" sz="2800" dirty="0" smtClean="0"/>
              <a:t> non systématisées                          </a:t>
            </a:r>
            <a:r>
              <a:rPr lang="fr-FR" sz="2800" dirty="0" err="1" smtClean="0"/>
              <a:t>Dgc</a:t>
            </a:r>
            <a:r>
              <a:rPr lang="fr-FR" sz="2800" dirty="0" smtClean="0"/>
              <a:t> # IDM </a:t>
            </a:r>
          </a:p>
          <a:p>
            <a:pPr eaLnBrk="1" hangingPunct="1">
              <a:buClr>
                <a:srgbClr val="FFC000"/>
              </a:buClr>
              <a:buFont typeface="Wingdings" pitchFamily="2" charset="2"/>
              <a:buChar char="Ø"/>
              <a:defRPr/>
            </a:pPr>
            <a:r>
              <a:rPr lang="fr-FR" sz="2800" dirty="0" smtClean="0">
                <a:solidFill>
                  <a:schemeClr val="tx1">
                    <a:lumMod val="95000"/>
                    <a:lumOff val="5000"/>
                  </a:schemeClr>
                </a:solidFill>
              </a:rPr>
              <a:t>Sans ondes Q </a:t>
            </a:r>
          </a:p>
          <a:p>
            <a:pPr eaLnBrk="1" hangingPunct="1">
              <a:buClr>
                <a:srgbClr val="FFFF00"/>
              </a:buClr>
              <a:buFont typeface="Arial" charset="0"/>
              <a:buNone/>
              <a:defRPr/>
            </a:pPr>
            <a:endParaRPr lang="fr-FR" sz="2800" dirty="0" smtClean="0">
              <a:solidFill>
                <a:schemeClr val="tx2">
                  <a:lumMod val="90000"/>
                </a:schemeClr>
              </a:solidFill>
            </a:endParaRPr>
          </a:p>
          <a:p>
            <a:pPr eaLnBrk="1" hangingPunct="1">
              <a:buClr>
                <a:srgbClr val="FFFF00"/>
              </a:buClr>
              <a:buFont typeface="Arial" charset="0"/>
              <a:buNone/>
              <a:defRPr/>
            </a:pPr>
            <a:r>
              <a:rPr lang="fr-FR" sz="2800" dirty="0" smtClean="0">
                <a:solidFill>
                  <a:schemeClr val="tx2">
                    <a:lumMod val="90000"/>
                  </a:schemeClr>
                </a:solidFill>
              </a:rPr>
              <a:t>                             </a:t>
            </a:r>
            <a:r>
              <a:rPr lang="fr-FR" sz="2800" dirty="0" smtClean="0">
                <a:solidFill>
                  <a:schemeClr val="bg2">
                    <a:lumMod val="10000"/>
                  </a:schemeClr>
                </a:solidFill>
              </a:rPr>
              <a:t>AUTRES</a:t>
            </a:r>
          </a:p>
          <a:p>
            <a:pPr eaLnBrk="1" hangingPunct="1">
              <a:buClr>
                <a:srgbClr val="FFC000"/>
              </a:buClr>
              <a:buFont typeface="Wingdings" pitchFamily="2" charset="2"/>
              <a:buChar char="Ø"/>
              <a:defRPr/>
            </a:pPr>
            <a:r>
              <a:rPr lang="fr-FR" sz="2800" dirty="0" smtClean="0"/>
              <a:t> </a:t>
            </a:r>
            <a:r>
              <a:rPr lang="fr-FR" sz="2800" dirty="0" smtClean="0">
                <a:solidFill>
                  <a:srgbClr val="C00000"/>
                </a:solidFill>
              </a:rPr>
              <a:t>sous décalage PQ</a:t>
            </a:r>
            <a:r>
              <a:rPr lang="fr-FR" sz="2800" dirty="0" smtClean="0"/>
              <a:t>                                      </a:t>
            </a:r>
            <a:r>
              <a:rPr lang="fr-FR" sz="2800" dirty="0" smtClean="0">
                <a:solidFill>
                  <a:schemeClr val="accent4">
                    <a:lumMod val="10000"/>
                  </a:schemeClr>
                </a:solidFill>
              </a:rPr>
              <a:t>------------------</a:t>
            </a:r>
            <a:r>
              <a:rPr lang="fr-FR" sz="2800" dirty="0" smtClean="0"/>
              <a:t>  </a:t>
            </a:r>
          </a:p>
          <a:p>
            <a:pPr eaLnBrk="1" hangingPunct="1">
              <a:buClr>
                <a:srgbClr val="FFC000"/>
              </a:buClr>
              <a:buFont typeface="Wingdings" pitchFamily="2" charset="2"/>
              <a:buChar char="Ø"/>
              <a:defRPr/>
            </a:pPr>
            <a:r>
              <a:rPr lang="fr-FR" sz="2800" dirty="0" smtClean="0"/>
              <a:t> microvoltage: R </a:t>
            </a:r>
            <a:r>
              <a:rPr lang="fr-FR" sz="3600" dirty="0" smtClean="0"/>
              <a:t>&lt;</a:t>
            </a:r>
            <a:r>
              <a:rPr lang="fr-FR" sz="2800" dirty="0" smtClean="0"/>
              <a:t> 5 mm</a:t>
            </a:r>
          </a:p>
          <a:p>
            <a:pPr eaLnBrk="1" hangingPunct="1">
              <a:buClr>
                <a:srgbClr val="FFC000"/>
              </a:buClr>
              <a:buFont typeface="Wingdings" pitchFamily="2" charset="2"/>
              <a:buChar char="Ø"/>
              <a:defRPr/>
            </a:pPr>
            <a:r>
              <a:rPr lang="fr-FR" sz="2800" dirty="0" smtClean="0"/>
              <a:t> troubles rythmiques supra-V: FA</a:t>
            </a:r>
          </a:p>
          <a:p>
            <a:pPr eaLnBrk="1" hangingPunct="1">
              <a:buClr>
                <a:srgbClr val="FFC000"/>
              </a:buClr>
              <a:buFont typeface="Wingdings" pitchFamily="2" charset="2"/>
              <a:buChar char="Ø"/>
              <a:defRPr/>
            </a:pPr>
            <a:r>
              <a:rPr lang="fr-FR" sz="2800" dirty="0" smtClean="0"/>
              <a:t> </a:t>
            </a:r>
            <a:r>
              <a:rPr lang="fr-FR" sz="2800" dirty="0" smtClean="0">
                <a:solidFill>
                  <a:schemeClr val="bg2">
                    <a:lumMod val="10000"/>
                  </a:schemeClr>
                </a:solidFill>
              </a:rPr>
              <a:t>si ESV/ TV/ BAV =&gt; myocardite associée</a:t>
            </a:r>
          </a:p>
        </p:txBody>
      </p:sp>
      <p:sp>
        <p:nvSpPr>
          <p:cNvPr id="33796" name="AutoShape 7"/>
          <p:cNvSpPr>
            <a:spLocks/>
          </p:cNvSpPr>
          <p:nvPr/>
        </p:nvSpPr>
        <p:spPr bwMode="auto">
          <a:xfrm>
            <a:off x="6429375" y="1285875"/>
            <a:ext cx="500063" cy="1571625"/>
          </a:xfrm>
          <a:prstGeom prst="rightBrace">
            <a:avLst>
              <a:gd name="adj1" fmla="val 61504"/>
              <a:gd name="adj2" fmla="val 50000"/>
            </a:avLst>
          </a:prstGeom>
          <a:noFill/>
          <a:ln w="25400">
            <a:solidFill>
              <a:srgbClr val="FFCC00"/>
            </a:solidFill>
            <a:round/>
            <a:headEnd/>
            <a:tailEnd/>
          </a:ln>
        </p:spPr>
        <p:txBody>
          <a:bodyPr wrap="none" anchor="ctr"/>
          <a:lstStyle/>
          <a:p>
            <a:pPr algn="ctr"/>
            <a:r>
              <a:rPr lang="fr-FR">
                <a:latin typeface="Tahoma" pitchFamily="34" charset="0"/>
              </a:rPr>
              <a:t> </a:t>
            </a:r>
          </a:p>
        </p:txBody>
      </p:sp>
      <p:sp>
        <p:nvSpPr>
          <p:cNvPr id="19461" name="Forme libre 4"/>
          <p:cNvSpPr>
            <a:spLocks noChangeArrowheads="1"/>
          </p:cNvSpPr>
          <p:nvPr/>
        </p:nvSpPr>
        <p:spPr bwMode="auto">
          <a:xfrm>
            <a:off x="6643688" y="3419475"/>
            <a:ext cx="1549400" cy="1152525"/>
          </a:xfrm>
          <a:custGeom>
            <a:avLst/>
            <a:gdLst>
              <a:gd name="T0" fmla="*/ 0 w 2090057"/>
              <a:gd name="T1" fmla="*/ 1 h 1719943"/>
              <a:gd name="T2" fmla="*/ 1 w 2090057"/>
              <a:gd name="T3" fmla="*/ 1 h 1719943"/>
              <a:gd name="T4" fmla="*/ 1 w 2090057"/>
              <a:gd name="T5" fmla="*/ 1 h 1719943"/>
              <a:gd name="T6" fmla="*/ 1 w 2090057"/>
              <a:gd name="T7" fmla="*/ 1 h 1719943"/>
              <a:gd name="T8" fmla="*/ 1 w 2090057"/>
              <a:gd name="T9" fmla="*/ 1 h 1719943"/>
              <a:gd name="T10" fmla="*/ 2 w 2090057"/>
              <a:gd name="T11" fmla="*/ 1 h 1719943"/>
              <a:gd name="T12" fmla="*/ 2 w 2090057"/>
              <a:gd name="T13" fmla="*/ 1 h 1719943"/>
              <a:gd name="T14" fmla="*/ 3 w 2090057"/>
              <a:gd name="T15" fmla="*/ 1 h 1719943"/>
              <a:gd name="T16" fmla="*/ 3 w 2090057"/>
              <a:gd name="T17" fmla="*/ 1 h 1719943"/>
              <a:gd name="T18" fmla="*/ 4 w 2090057"/>
              <a:gd name="T19" fmla="*/ 1 h 1719943"/>
              <a:gd name="T20" fmla="*/ 4 w 2090057"/>
              <a:gd name="T21" fmla="*/ 1 h 1719943"/>
              <a:gd name="T22" fmla="*/ 5 w 2090057"/>
              <a:gd name="T23" fmla="*/ 1 h 1719943"/>
              <a:gd name="T24" fmla="*/ 5 w 2090057"/>
              <a:gd name="T25" fmla="*/ 1 h 171994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90057"/>
              <a:gd name="T40" fmla="*/ 0 h 1719943"/>
              <a:gd name="T41" fmla="*/ 2090057 w 2090057"/>
              <a:gd name="T42" fmla="*/ 1719943 h 171994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90057" h="1719943">
                <a:moveTo>
                  <a:pt x="0" y="1021080"/>
                </a:moveTo>
                <a:cubicBezTo>
                  <a:pt x="58783" y="907869"/>
                  <a:pt x="117566" y="794658"/>
                  <a:pt x="182880" y="799012"/>
                </a:cubicBezTo>
                <a:cubicBezTo>
                  <a:pt x="248194" y="803366"/>
                  <a:pt x="341812" y="1005840"/>
                  <a:pt x="391886" y="1047206"/>
                </a:cubicBezTo>
                <a:cubicBezTo>
                  <a:pt x="441960" y="1088572"/>
                  <a:pt x="431075" y="1016726"/>
                  <a:pt x="483326" y="1047206"/>
                </a:cubicBezTo>
                <a:cubicBezTo>
                  <a:pt x="535577" y="1077686"/>
                  <a:pt x="646611" y="1186543"/>
                  <a:pt x="705394" y="1230086"/>
                </a:cubicBezTo>
                <a:cubicBezTo>
                  <a:pt x="764177" y="1273629"/>
                  <a:pt x="801189" y="1506583"/>
                  <a:pt x="836023" y="1308463"/>
                </a:cubicBezTo>
                <a:cubicBezTo>
                  <a:pt x="870857" y="1110343"/>
                  <a:pt x="886097" y="0"/>
                  <a:pt x="914400" y="41366"/>
                </a:cubicBezTo>
                <a:cubicBezTo>
                  <a:pt x="942703" y="82732"/>
                  <a:pt x="977537" y="1393371"/>
                  <a:pt x="1005840" y="1556657"/>
                </a:cubicBezTo>
                <a:cubicBezTo>
                  <a:pt x="1034143" y="1719943"/>
                  <a:pt x="1016726" y="1114697"/>
                  <a:pt x="1084217" y="1021080"/>
                </a:cubicBezTo>
                <a:cubicBezTo>
                  <a:pt x="1151708" y="927463"/>
                  <a:pt x="1332411" y="1049384"/>
                  <a:pt x="1410788" y="994955"/>
                </a:cubicBezTo>
                <a:cubicBezTo>
                  <a:pt x="1489165" y="940527"/>
                  <a:pt x="1482634" y="692332"/>
                  <a:pt x="1554480" y="694509"/>
                </a:cubicBezTo>
                <a:cubicBezTo>
                  <a:pt x="1626326" y="696686"/>
                  <a:pt x="1752600" y="951411"/>
                  <a:pt x="1841863" y="1008017"/>
                </a:cubicBezTo>
                <a:cubicBezTo>
                  <a:pt x="1931126" y="1064623"/>
                  <a:pt x="2090057" y="1034143"/>
                  <a:pt x="2090057" y="1034143"/>
                </a:cubicBezTo>
              </a:path>
            </a:pathLst>
          </a:custGeom>
          <a:noFill/>
          <a:ln w="38100" algn="ctr">
            <a:solidFill>
              <a:schemeClr val="accent2">
                <a:lumMod val="50000"/>
              </a:schemeClr>
            </a:solidFill>
            <a:round/>
            <a:headEnd/>
            <a:tailEnd/>
          </a:ln>
        </p:spPr>
        <p:txBody>
          <a:bodyPr/>
          <a:lstStyle/>
          <a:p>
            <a:pPr>
              <a:defRPr/>
            </a:pPr>
            <a:endParaRPr lang="fr-FR"/>
          </a:p>
        </p:txBody>
      </p:sp>
      <p:cxnSp>
        <p:nvCxnSpPr>
          <p:cNvPr id="19462" name="Connecteur droit avec flèche 6"/>
          <p:cNvCxnSpPr>
            <a:cxnSpLocks noChangeShapeType="1"/>
          </p:cNvCxnSpPr>
          <p:nvPr/>
        </p:nvCxnSpPr>
        <p:spPr bwMode="auto">
          <a:xfrm rot="5400000" flipH="1" flipV="1">
            <a:off x="6665120" y="4336256"/>
            <a:ext cx="442912" cy="200025"/>
          </a:xfrm>
          <a:prstGeom prst="straightConnector1">
            <a:avLst/>
          </a:prstGeom>
          <a:noFill/>
          <a:ln w="38100" algn="ctr">
            <a:solidFill>
              <a:srgbClr val="C00000"/>
            </a:solidFill>
            <a:round/>
            <a:headEnd/>
            <a:tailEnd type="arrow" w="med" len="med"/>
          </a:ln>
        </p:spPr>
      </p:cxnSp>
      <p:sp>
        <p:nvSpPr>
          <p:cNvPr id="7" name="ZoneTexte 6"/>
          <p:cNvSpPr txBox="1">
            <a:spLocks noChangeArrowheads="1"/>
          </p:cNvSpPr>
          <p:nvPr/>
        </p:nvSpPr>
        <p:spPr bwMode="auto">
          <a:xfrm>
            <a:off x="6429375" y="3643313"/>
            <a:ext cx="469900" cy="461962"/>
          </a:xfrm>
          <a:prstGeom prst="rect">
            <a:avLst/>
          </a:prstGeom>
          <a:noFill/>
          <a:ln w="9525">
            <a:noFill/>
            <a:miter lim="800000"/>
            <a:headEnd/>
            <a:tailEnd/>
          </a:ln>
        </p:spPr>
        <p:txBody>
          <a:bodyPr>
            <a:spAutoFit/>
          </a:bodyPr>
          <a:lstStyle/>
          <a:p>
            <a:r>
              <a:rPr lang="fr-FR" sz="2400">
                <a:solidFill>
                  <a:srgbClr val="C00000"/>
                </a:solidFill>
              </a:rPr>
              <a:t>p</a:t>
            </a:r>
          </a:p>
        </p:txBody>
      </p:sp>
      <p:sp>
        <p:nvSpPr>
          <p:cNvPr id="9" name="ZoneTexte 8"/>
          <p:cNvSpPr txBox="1">
            <a:spLocks noChangeArrowheads="1"/>
          </p:cNvSpPr>
          <p:nvPr/>
        </p:nvSpPr>
        <p:spPr bwMode="auto">
          <a:xfrm>
            <a:off x="7000875" y="4314825"/>
            <a:ext cx="384175" cy="400050"/>
          </a:xfrm>
          <a:prstGeom prst="rect">
            <a:avLst/>
          </a:prstGeom>
          <a:noFill/>
          <a:ln w="9525">
            <a:noFill/>
            <a:miter lim="800000"/>
            <a:headEnd/>
            <a:tailEnd/>
          </a:ln>
        </p:spPr>
        <p:txBody>
          <a:bodyPr wrap="none">
            <a:spAutoFit/>
          </a:bodyPr>
          <a:lstStyle/>
          <a:p>
            <a:r>
              <a:rPr lang="fr-FR" sz="2000" b="1">
                <a:solidFill>
                  <a:srgbClr val="C00000"/>
                </a:solidFill>
              </a:rPr>
              <a:t>Q</a:t>
            </a:r>
          </a:p>
        </p:txBody>
      </p:sp>
      <p:sp>
        <p:nvSpPr>
          <p:cNvPr id="10" name="ZoneTexte 9"/>
          <p:cNvSpPr txBox="1">
            <a:spLocks noChangeArrowheads="1"/>
          </p:cNvSpPr>
          <p:nvPr/>
        </p:nvSpPr>
        <p:spPr bwMode="auto">
          <a:xfrm>
            <a:off x="7286625" y="3143250"/>
            <a:ext cx="411163" cy="461963"/>
          </a:xfrm>
          <a:prstGeom prst="rect">
            <a:avLst/>
          </a:prstGeom>
          <a:noFill/>
          <a:ln w="9525">
            <a:noFill/>
            <a:miter lim="800000"/>
            <a:headEnd/>
            <a:tailEnd/>
          </a:ln>
        </p:spPr>
        <p:txBody>
          <a:bodyPr>
            <a:spAutoFit/>
          </a:bodyPr>
          <a:lstStyle/>
          <a:p>
            <a:r>
              <a:rPr lang="fr-FR" sz="2400">
                <a:solidFill>
                  <a:srgbClr val="C00000"/>
                </a:solidFill>
              </a:rPr>
              <a:t>R</a:t>
            </a:r>
          </a:p>
        </p:txBody>
      </p:sp>
      <p:sp>
        <p:nvSpPr>
          <p:cNvPr id="11" name="ZoneTexte 10"/>
          <p:cNvSpPr txBox="1">
            <a:spLocks noChangeArrowheads="1"/>
          </p:cNvSpPr>
          <p:nvPr/>
        </p:nvSpPr>
        <p:spPr bwMode="auto">
          <a:xfrm>
            <a:off x="7786688" y="3600450"/>
            <a:ext cx="341312" cy="400050"/>
          </a:xfrm>
          <a:prstGeom prst="rect">
            <a:avLst/>
          </a:prstGeom>
          <a:noFill/>
          <a:ln w="9525">
            <a:noFill/>
            <a:miter lim="800000"/>
            <a:headEnd/>
            <a:tailEnd/>
          </a:ln>
        </p:spPr>
        <p:txBody>
          <a:bodyPr wrap="none">
            <a:spAutoFit/>
          </a:bodyPr>
          <a:lstStyle/>
          <a:p>
            <a:r>
              <a:rPr lang="fr-FR" sz="2000">
                <a:solidFill>
                  <a:srgbClr val="C00000"/>
                </a:solidFill>
              </a:rPr>
              <a:t>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461"/>
                                        </p:tgtEl>
                                        <p:attrNameLst>
                                          <p:attrName>style.visibility</p:attrName>
                                        </p:attrNameLst>
                                      </p:cBhvr>
                                      <p:to>
                                        <p:strVal val="visible"/>
                                      </p:to>
                                    </p:set>
                                  </p:childTnLst>
                                </p:cTn>
                              </p:par>
                              <p:par>
                                <p:cTn id="17" presetID="2" presetClass="entr" presetSubtype="4" fill="hold" nodeType="withEffect">
                                  <p:stCondLst>
                                    <p:cond delay="0"/>
                                  </p:stCondLst>
                                  <p:childTnLst>
                                    <p:set>
                                      <p:cBhvr>
                                        <p:cTn id="18" dur="1" fill="hold">
                                          <p:stCondLst>
                                            <p:cond delay="0"/>
                                          </p:stCondLst>
                                        </p:cTn>
                                        <p:tgtEl>
                                          <p:spTgt spid="19462"/>
                                        </p:tgtEl>
                                        <p:attrNameLst>
                                          <p:attrName>style.visibility</p:attrName>
                                        </p:attrNameLst>
                                      </p:cBhvr>
                                      <p:to>
                                        <p:strVal val="visible"/>
                                      </p:to>
                                    </p:set>
                                    <p:anim calcmode="lin" valueType="num">
                                      <p:cBhvr additive="base">
                                        <p:cTn id="19" dur="500" fill="hold"/>
                                        <p:tgtEl>
                                          <p:spTgt spid="19462"/>
                                        </p:tgtEl>
                                        <p:attrNameLst>
                                          <p:attrName>ppt_x</p:attrName>
                                        </p:attrNameLst>
                                      </p:cBhvr>
                                      <p:tavLst>
                                        <p:tav tm="0">
                                          <p:val>
                                            <p:strVal val="#ppt_x"/>
                                          </p:val>
                                        </p:tav>
                                        <p:tav tm="100000">
                                          <p:val>
                                            <p:strVal val="#ppt_x"/>
                                          </p:val>
                                        </p:tav>
                                      </p:tavLst>
                                    </p:anim>
                                    <p:anim calcmode="lin" valueType="num">
                                      <p:cBhvr additive="base">
                                        <p:cTn id="20" dur="500" fill="hold"/>
                                        <p:tgtEl>
                                          <p:spTgt spid="19462"/>
                                        </p:tgtEl>
                                        <p:attrNameLst>
                                          <p:attrName>ppt_y</p:attrName>
                                        </p:attrNameLst>
                                      </p:cBhvr>
                                      <p:tavLst>
                                        <p:tav tm="0">
                                          <p:val>
                                            <p:strVal val="1+#ppt_h/2"/>
                                          </p:val>
                                        </p:tav>
                                        <p:tav tm="100000">
                                          <p:val>
                                            <p:strVal val="#ppt_y"/>
                                          </p:val>
                                        </p:tav>
                                      </p:tavLst>
                                    </p:anim>
                                  </p:childTnLst>
                                </p:cTn>
                              </p:par>
                              <p:par>
                                <p:cTn id="21" presetID="1" presetClass="entr" presetSubtype="0" fill="hold" nodeType="with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Image 4"/>
          <p:cNvPicPr/>
          <p:nvPr/>
        </p:nvPicPr>
        <p:blipFill>
          <a:blip r:embed="rId3" cstate="print"/>
          <a:srcRect/>
          <a:stretch>
            <a:fillRect/>
          </a:stretch>
        </p:blipFill>
        <p:spPr bwMode="auto">
          <a:xfrm>
            <a:off x="179512" y="44624"/>
            <a:ext cx="8712968" cy="6480720"/>
          </a:xfrm>
          <a:prstGeom prst="rect">
            <a:avLst/>
          </a:prstGeom>
          <a:ln>
            <a:noFill/>
          </a:ln>
          <a:effectLst>
            <a:outerShdw blurRad="292100" dist="139700" dir="2700000" algn="tl" rotWithShape="0">
              <a:srgbClr val="333333">
                <a:alpha val="65000"/>
              </a:srgbClr>
            </a:outerShdw>
          </a:effectLst>
        </p:spPr>
      </p:pic>
      <p:sp>
        <p:nvSpPr>
          <p:cNvPr id="3" name="ZoneTexte 5"/>
          <p:cNvSpPr txBox="1">
            <a:spLocks noChangeArrowheads="1"/>
          </p:cNvSpPr>
          <p:nvPr/>
        </p:nvSpPr>
        <p:spPr bwMode="auto">
          <a:xfrm>
            <a:off x="7452320" y="6505599"/>
            <a:ext cx="1152525" cy="307777"/>
          </a:xfrm>
          <a:prstGeom prst="rect">
            <a:avLst/>
          </a:prstGeom>
          <a:noFill/>
          <a:ln w="9525">
            <a:noFill/>
            <a:miter lim="800000"/>
            <a:headEnd/>
            <a:tailEnd/>
          </a:ln>
        </p:spPr>
        <p:txBody>
          <a:bodyPr>
            <a:spAutoFit/>
          </a:bodyPr>
          <a:lstStyle/>
          <a:p>
            <a:r>
              <a:rPr lang="fr-FR" sz="1400" dirty="0" smtClean="0"/>
              <a:t>figure I</a:t>
            </a:r>
            <a:endParaRPr lang="fr-FR" sz="1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2" descr="C:\Users\DADY COOL\Documents\Dossier cours ECG\ECG\péricardite.jpg"/>
          <p:cNvPicPr>
            <a:picLocks noChangeAspect="1" noChangeArrowheads="1"/>
          </p:cNvPicPr>
          <p:nvPr/>
        </p:nvPicPr>
        <p:blipFill>
          <a:blip r:embed="rId3" cstate="print"/>
          <a:srcRect t="1402" b="1380"/>
          <a:stretch>
            <a:fillRect/>
          </a:stretch>
        </p:blipFill>
        <p:spPr bwMode="auto">
          <a:xfrm>
            <a:off x="217488" y="981075"/>
            <a:ext cx="8747125" cy="5040313"/>
          </a:xfrm>
          <a:prstGeom prst="rect">
            <a:avLst/>
          </a:prstGeom>
          <a:ln>
            <a:noFill/>
          </a:ln>
          <a:effectLst>
            <a:outerShdw blurRad="292100" dist="139700" dir="2700000" algn="tl" rotWithShape="0">
              <a:srgbClr val="333333">
                <a:alpha val="65000"/>
              </a:srgbClr>
            </a:outerShdw>
          </a:effectLst>
        </p:spPr>
      </p:pic>
      <p:sp>
        <p:nvSpPr>
          <p:cNvPr id="34819" name="ZoneTexte 2"/>
          <p:cNvSpPr txBox="1">
            <a:spLocks noChangeArrowheads="1"/>
          </p:cNvSpPr>
          <p:nvPr/>
        </p:nvSpPr>
        <p:spPr bwMode="auto">
          <a:xfrm>
            <a:off x="7812088" y="6289675"/>
            <a:ext cx="1152525" cy="307975"/>
          </a:xfrm>
          <a:prstGeom prst="rect">
            <a:avLst/>
          </a:prstGeom>
          <a:noFill/>
          <a:ln w="9525">
            <a:noFill/>
            <a:miter lim="800000"/>
            <a:headEnd/>
            <a:tailEnd/>
          </a:ln>
        </p:spPr>
        <p:txBody>
          <a:bodyPr>
            <a:spAutoFit/>
          </a:bodyPr>
          <a:lstStyle/>
          <a:p>
            <a:r>
              <a:rPr lang="fr-FR" sz="1400" dirty="0" smtClean="0"/>
              <a:t>figure II</a:t>
            </a:r>
            <a:endParaRPr lang="fr-FR" sz="1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C:\Users\DADY COOL\Documents\Dossier cours ECG\ECG\péric..jpg"/>
          <p:cNvPicPr>
            <a:picLocks noChangeAspect="1" noChangeArrowheads="1"/>
          </p:cNvPicPr>
          <p:nvPr/>
        </p:nvPicPr>
        <p:blipFill>
          <a:blip r:embed="rId3" cstate="print">
            <a:lum bright="-10000"/>
          </a:blip>
          <a:srcRect b="6409"/>
          <a:stretch>
            <a:fillRect/>
          </a:stretch>
        </p:blipFill>
        <p:spPr bwMode="auto">
          <a:xfrm>
            <a:off x="219075" y="476250"/>
            <a:ext cx="8705850" cy="5543550"/>
          </a:xfrm>
          <a:prstGeom prst="rect">
            <a:avLst/>
          </a:prstGeom>
          <a:ln>
            <a:noFill/>
          </a:ln>
          <a:effectLst>
            <a:outerShdw blurRad="292100" dist="139700" dir="2700000" algn="tl" rotWithShape="0">
              <a:srgbClr val="333333">
                <a:alpha val="65000"/>
              </a:srgbClr>
            </a:outerShdw>
          </a:effectLst>
        </p:spPr>
      </p:pic>
      <p:sp>
        <p:nvSpPr>
          <p:cNvPr id="35843" name="ZoneTexte 6"/>
          <p:cNvSpPr txBox="1">
            <a:spLocks noChangeArrowheads="1"/>
          </p:cNvSpPr>
          <p:nvPr/>
        </p:nvSpPr>
        <p:spPr bwMode="auto">
          <a:xfrm>
            <a:off x="7740650" y="6299200"/>
            <a:ext cx="1152525" cy="307975"/>
          </a:xfrm>
          <a:prstGeom prst="rect">
            <a:avLst/>
          </a:prstGeom>
          <a:noFill/>
          <a:ln w="9525">
            <a:noFill/>
            <a:miter lim="800000"/>
            <a:headEnd/>
            <a:tailEnd/>
          </a:ln>
        </p:spPr>
        <p:txBody>
          <a:bodyPr>
            <a:spAutoFit/>
          </a:bodyPr>
          <a:lstStyle/>
          <a:p>
            <a:r>
              <a:rPr lang="fr-FR" sz="1400" dirty="0" smtClean="0"/>
              <a:t>figure III</a:t>
            </a:r>
            <a:endParaRPr lang="fr-FR" sz="14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p:cNvPicPr>
            <a:picLocks noChangeAspect="1" noChangeArrowheads="1"/>
          </p:cNvPicPr>
          <p:nvPr/>
        </p:nvPicPr>
        <p:blipFill>
          <a:blip r:embed="rId3" cstate="print">
            <a:lum bright="-10000" contrast="30000"/>
          </a:blip>
          <a:srcRect/>
          <a:stretch>
            <a:fillRect/>
          </a:stretch>
        </p:blipFill>
        <p:spPr bwMode="auto">
          <a:xfrm>
            <a:off x="1331913" y="214313"/>
            <a:ext cx="6169025" cy="6429375"/>
          </a:xfrm>
          <a:prstGeom prst="rect">
            <a:avLst/>
          </a:prstGeom>
          <a:ln>
            <a:noFill/>
          </a:ln>
          <a:effectLst>
            <a:outerShdw blurRad="292100" dist="139700" dir="2700000" algn="tl" rotWithShape="0">
              <a:srgbClr val="333333">
                <a:alpha val="65000"/>
              </a:srgbClr>
            </a:outerShdw>
          </a:effectLst>
        </p:spPr>
      </p:pic>
      <p:sp>
        <p:nvSpPr>
          <p:cNvPr id="57347" name="ZoneTexte 3"/>
          <p:cNvSpPr txBox="1">
            <a:spLocks noChangeArrowheads="1"/>
          </p:cNvSpPr>
          <p:nvPr/>
        </p:nvSpPr>
        <p:spPr bwMode="auto">
          <a:xfrm>
            <a:off x="7667625" y="5949950"/>
            <a:ext cx="1225550" cy="307777"/>
          </a:xfrm>
          <a:prstGeom prst="rect">
            <a:avLst/>
          </a:prstGeom>
          <a:noFill/>
          <a:ln w="9525">
            <a:noFill/>
            <a:miter lim="800000"/>
            <a:headEnd/>
            <a:tailEnd/>
          </a:ln>
        </p:spPr>
        <p:txBody>
          <a:bodyPr>
            <a:spAutoFit/>
          </a:bodyPr>
          <a:lstStyle/>
          <a:p>
            <a:r>
              <a:rPr lang="fr-FR" sz="1400" dirty="0" smtClean="0"/>
              <a:t>figure </a:t>
            </a:r>
            <a:r>
              <a:rPr lang="fr-FR" sz="1400" dirty="0"/>
              <a:t>VIII</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re 3"/>
          <p:cNvSpPr>
            <a:spLocks noGrp="1"/>
          </p:cNvSpPr>
          <p:nvPr>
            <p:ph type="title"/>
          </p:nvPr>
        </p:nvSpPr>
        <p:spPr>
          <a:xfrm flipV="1">
            <a:off x="357188" y="-571500"/>
            <a:ext cx="8540750" cy="142875"/>
          </a:xfrm>
        </p:spPr>
        <p:txBody>
          <a:bodyPr>
            <a:normAutofit fontScale="90000"/>
          </a:bodyPr>
          <a:lstStyle/>
          <a:p>
            <a:pPr eaLnBrk="1" hangingPunct="1">
              <a:defRPr/>
            </a:pPr>
            <a:endParaRPr lang="fr-FR" dirty="0"/>
          </a:p>
        </p:txBody>
      </p:sp>
      <p:sp>
        <p:nvSpPr>
          <p:cNvPr id="5" name="Espace réservé du contenu 4"/>
          <p:cNvSpPr>
            <a:spLocks noGrp="1"/>
          </p:cNvSpPr>
          <p:nvPr>
            <p:ph idx="1"/>
          </p:nvPr>
        </p:nvSpPr>
        <p:spPr>
          <a:xfrm>
            <a:off x="0" y="214313"/>
            <a:ext cx="9215438" cy="6643687"/>
          </a:xfrm>
        </p:spPr>
        <p:txBody>
          <a:bodyPr>
            <a:normAutofit lnSpcReduction="10000"/>
          </a:bodyPr>
          <a:lstStyle/>
          <a:p>
            <a:pPr algn="ctr" eaLnBrk="1" hangingPunct="1">
              <a:buClr>
                <a:srgbClr val="FF9900"/>
              </a:buClr>
              <a:buSzPct val="90000"/>
              <a:buFont typeface="Arial" charset="0"/>
              <a:buChar char="•"/>
            </a:pPr>
            <a:r>
              <a:rPr lang="fr-FR" dirty="0" smtClean="0">
                <a:solidFill>
                  <a:srgbClr val="C00000"/>
                </a:solidFill>
              </a:rPr>
              <a:t>Signes radiographiques </a:t>
            </a:r>
          </a:p>
          <a:p>
            <a:pPr eaLnBrk="1" hangingPunct="1">
              <a:buClr>
                <a:srgbClr val="FF9900"/>
              </a:buClr>
              <a:buFont typeface="Wingdings" pitchFamily="2" charset="2"/>
              <a:buChar char="Ø"/>
            </a:pPr>
            <a:r>
              <a:rPr lang="fr-FR" sz="2800" dirty="0" smtClean="0">
                <a:solidFill>
                  <a:schemeClr val="tx1"/>
                </a:solidFill>
              </a:rPr>
              <a:t>Péricardite sèche = volume cœur normal </a:t>
            </a:r>
          </a:p>
          <a:p>
            <a:pPr eaLnBrk="1" hangingPunct="1">
              <a:buClr>
                <a:srgbClr val="FF9900"/>
              </a:buClr>
              <a:buFont typeface="Arial" charset="0"/>
              <a:buNone/>
            </a:pPr>
            <a:r>
              <a:rPr lang="fr-FR" sz="2800" dirty="0" smtClean="0">
                <a:solidFill>
                  <a:schemeClr val="tx1"/>
                </a:solidFill>
              </a:rPr>
              <a:t>                               =&gt; </a:t>
            </a:r>
            <a:r>
              <a:rPr lang="fr-FR" sz="2800" dirty="0" err="1" smtClean="0">
                <a:solidFill>
                  <a:schemeClr val="tx1"/>
                </a:solidFill>
              </a:rPr>
              <a:t>Dgc</a:t>
            </a:r>
            <a:r>
              <a:rPr lang="fr-FR" sz="2800" dirty="0" smtClean="0">
                <a:solidFill>
                  <a:schemeClr val="tx1"/>
                </a:solidFill>
              </a:rPr>
              <a:t> non éliminé</a:t>
            </a:r>
          </a:p>
          <a:p>
            <a:pPr eaLnBrk="1" hangingPunct="1">
              <a:buClr>
                <a:srgbClr val="FF9900"/>
              </a:buClr>
              <a:buFont typeface="Wingdings" pitchFamily="2" charset="2"/>
              <a:buChar char="Ø"/>
            </a:pPr>
            <a:r>
              <a:rPr lang="fr-FR" sz="2800" dirty="0" smtClean="0">
                <a:solidFill>
                  <a:schemeClr val="tx1"/>
                </a:solidFill>
              </a:rPr>
              <a:t>Liquide &gt; 300 ml = cardiomégalie symétrique:</a:t>
            </a:r>
          </a:p>
          <a:p>
            <a:pPr eaLnBrk="1" hangingPunct="1">
              <a:buClr>
                <a:srgbClr val="FF9900"/>
              </a:buClr>
              <a:buFont typeface="Arial" charset="0"/>
              <a:buNone/>
            </a:pPr>
            <a:r>
              <a:rPr lang="fr-FR" sz="2800" dirty="0" smtClean="0">
                <a:solidFill>
                  <a:schemeClr val="tx1"/>
                </a:solidFill>
              </a:rPr>
              <a:t>   - rectitude bord gauche</a:t>
            </a:r>
          </a:p>
          <a:p>
            <a:pPr eaLnBrk="1" hangingPunct="1">
              <a:buClr>
                <a:srgbClr val="FF9900"/>
              </a:buClr>
              <a:buFont typeface="Arial" charset="0"/>
              <a:buNone/>
            </a:pPr>
            <a:r>
              <a:rPr lang="fr-FR" sz="2800" dirty="0" smtClean="0">
                <a:solidFill>
                  <a:schemeClr val="tx1"/>
                </a:solidFill>
              </a:rPr>
              <a:t>   - recouvrement hilaire</a:t>
            </a:r>
          </a:p>
          <a:p>
            <a:pPr eaLnBrk="1" hangingPunct="1">
              <a:buClr>
                <a:srgbClr val="FF9900"/>
              </a:buClr>
              <a:buFont typeface="Arial" charset="0"/>
              <a:buNone/>
            </a:pPr>
            <a:r>
              <a:rPr lang="fr-FR" sz="2800" dirty="0" smtClean="0"/>
              <a:t>                                                  </a:t>
            </a:r>
            <a:endParaRPr lang="fr-FR" sz="2800" dirty="0" smtClean="0">
              <a:solidFill>
                <a:srgbClr val="6D98DD"/>
              </a:solidFill>
            </a:endParaRPr>
          </a:p>
          <a:p>
            <a:pPr eaLnBrk="1" hangingPunct="1">
              <a:buClr>
                <a:srgbClr val="FF9900"/>
              </a:buClr>
              <a:buFont typeface="Wingdings" pitchFamily="2" charset="2"/>
              <a:buChar char="Ø"/>
            </a:pPr>
            <a:r>
              <a:rPr lang="fr-FR" sz="2800" dirty="0" smtClean="0">
                <a:solidFill>
                  <a:srgbClr val="FA8006"/>
                </a:solidFill>
              </a:rPr>
              <a:t>Vérifier:</a:t>
            </a:r>
          </a:p>
          <a:p>
            <a:pPr eaLnBrk="1" hangingPunct="1">
              <a:buClr>
                <a:srgbClr val="FF9900"/>
              </a:buClr>
              <a:buFont typeface="Arial" charset="0"/>
              <a:buNone/>
            </a:pPr>
            <a:r>
              <a:rPr lang="fr-FR" sz="2800" dirty="0" smtClean="0"/>
              <a:t>   </a:t>
            </a:r>
            <a:r>
              <a:rPr lang="fr-FR" sz="2800" dirty="0" smtClean="0">
                <a:solidFill>
                  <a:schemeClr val="tx1"/>
                </a:solidFill>
              </a:rPr>
              <a:t>-</a:t>
            </a:r>
            <a:r>
              <a:rPr lang="fr-FR" sz="2800" dirty="0" smtClean="0">
                <a:solidFill>
                  <a:srgbClr val="FFFF00"/>
                </a:solidFill>
              </a:rPr>
              <a:t> </a:t>
            </a:r>
            <a:r>
              <a:rPr lang="fr-FR" sz="2800" dirty="0" smtClean="0">
                <a:solidFill>
                  <a:schemeClr val="tx1"/>
                </a:solidFill>
              </a:rPr>
              <a:t>plèvre</a:t>
            </a:r>
          </a:p>
          <a:p>
            <a:pPr eaLnBrk="1" hangingPunct="1">
              <a:buClr>
                <a:srgbClr val="FF9900"/>
              </a:buClr>
              <a:buFont typeface="Arial" charset="0"/>
              <a:buNone/>
            </a:pPr>
            <a:r>
              <a:rPr lang="fr-FR" sz="2800" dirty="0" smtClean="0">
                <a:solidFill>
                  <a:schemeClr val="tx1"/>
                </a:solidFill>
              </a:rPr>
              <a:t>   - parenchyme </a:t>
            </a:r>
          </a:p>
          <a:p>
            <a:pPr eaLnBrk="1" hangingPunct="1">
              <a:buClr>
                <a:srgbClr val="FF9900"/>
              </a:buClr>
              <a:buFont typeface="Arial" charset="0"/>
              <a:buNone/>
            </a:pPr>
            <a:r>
              <a:rPr lang="fr-FR" sz="2800" dirty="0" smtClean="0">
                <a:solidFill>
                  <a:schemeClr val="tx1"/>
                </a:solidFill>
              </a:rPr>
              <a:t>   - médiastin, os, diaphragme…</a:t>
            </a:r>
          </a:p>
          <a:p>
            <a:pPr eaLnBrk="1" hangingPunct="1">
              <a:buClr>
                <a:srgbClr val="FF9900"/>
              </a:buClr>
              <a:buFont typeface="Arial" charset="0"/>
              <a:buNone/>
            </a:pPr>
            <a:r>
              <a:rPr lang="fr-FR" sz="2800" dirty="0" smtClean="0">
                <a:solidFill>
                  <a:schemeClr val="tx1"/>
                </a:solidFill>
              </a:rPr>
              <a:t>   pour l’enquête étiologique                            </a:t>
            </a:r>
          </a:p>
          <a:p>
            <a:pPr eaLnBrk="1" hangingPunct="1">
              <a:buClr>
                <a:srgbClr val="FF9900"/>
              </a:buClr>
              <a:buFont typeface="Arial" charset="0"/>
              <a:buNone/>
            </a:pPr>
            <a:endParaRPr lang="fr-FR" sz="2800" dirty="0" smtClean="0"/>
          </a:p>
          <a:p>
            <a:pPr eaLnBrk="1" hangingPunct="1">
              <a:buClr>
                <a:srgbClr val="FF9900"/>
              </a:buClr>
              <a:buFont typeface="Arial" charset="0"/>
              <a:buNone/>
            </a:pPr>
            <a:r>
              <a:rPr lang="fr-FR" sz="2800" dirty="0" smtClean="0"/>
              <a:t>                                               </a:t>
            </a:r>
            <a:endParaRPr lang="fr-FR" sz="2800" dirty="0" smtClean="0">
              <a:solidFill>
                <a:srgbClr val="CCFFCC"/>
              </a:solidFill>
            </a:endParaRPr>
          </a:p>
        </p:txBody>
      </p:sp>
      <p:pic>
        <p:nvPicPr>
          <p:cNvPr id="22" name="Image 21" descr="TDM coeur coronale.jpg"/>
          <p:cNvPicPr>
            <a:picLocks noChangeAspect="1"/>
          </p:cNvPicPr>
          <p:nvPr/>
        </p:nvPicPr>
        <p:blipFill>
          <a:blip r:embed="rId3" cstate="print">
            <a:duotone>
              <a:prstClr val="black"/>
              <a:schemeClr val="tx2">
                <a:tint val="45000"/>
                <a:satMod val="400000"/>
              </a:schemeClr>
            </a:duotone>
          </a:blip>
          <a:srcRect l="11914" t="1660" r="11914" b="49454"/>
          <a:stretch>
            <a:fillRect/>
          </a:stretch>
        </p:blipFill>
        <p:spPr>
          <a:xfrm>
            <a:off x="5004048" y="3284984"/>
            <a:ext cx="4065062" cy="3430734"/>
          </a:xfrm>
          <a:prstGeom prst="rect">
            <a:avLst/>
          </a:prstGeom>
          <a:ln>
            <a:solidFill>
              <a:schemeClr val="tx1"/>
            </a:solidFill>
          </a:ln>
          <a:effectLst>
            <a:outerShdw blurRad="292100" dist="139700" dir="2700000" algn="tl" rotWithShape="0">
              <a:srgbClr val="333333">
                <a:alpha val="65000"/>
              </a:srgbClr>
            </a:outerShdw>
          </a:effectLst>
        </p:spPr>
      </p:pic>
      <p:sp>
        <p:nvSpPr>
          <p:cNvPr id="24" name="Forme libre 23"/>
          <p:cNvSpPr/>
          <p:nvPr/>
        </p:nvSpPr>
        <p:spPr bwMode="auto">
          <a:xfrm rot="173817">
            <a:off x="7541199" y="5010124"/>
            <a:ext cx="956882" cy="1616667"/>
          </a:xfrm>
          <a:custGeom>
            <a:avLst/>
            <a:gdLst>
              <a:gd name="connsiteX0" fmla="*/ 0 w 1018903"/>
              <a:gd name="connsiteY0" fmla="*/ 0 h 1410789"/>
              <a:gd name="connsiteX1" fmla="*/ 457200 w 1018903"/>
              <a:gd name="connsiteY1" fmla="*/ 209006 h 1410789"/>
              <a:gd name="connsiteX2" fmla="*/ 822960 w 1018903"/>
              <a:gd name="connsiteY2" fmla="*/ 640080 h 1410789"/>
              <a:gd name="connsiteX3" fmla="*/ 1018903 w 1018903"/>
              <a:gd name="connsiteY3" fmla="*/ 1410789 h 1410789"/>
              <a:gd name="connsiteX4" fmla="*/ 1018903 w 1018903"/>
              <a:gd name="connsiteY4" fmla="*/ 1410789 h 1410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8903" h="1410789">
                <a:moveTo>
                  <a:pt x="0" y="0"/>
                </a:moveTo>
                <a:cubicBezTo>
                  <a:pt x="160020" y="51163"/>
                  <a:pt x="320040" y="102326"/>
                  <a:pt x="457200" y="209006"/>
                </a:cubicBezTo>
                <a:cubicBezTo>
                  <a:pt x="594360" y="315686"/>
                  <a:pt x="729343" y="439783"/>
                  <a:pt x="822960" y="640080"/>
                </a:cubicBezTo>
                <a:cubicBezTo>
                  <a:pt x="916577" y="840377"/>
                  <a:pt x="1018903" y="1410789"/>
                  <a:pt x="1018903" y="1410789"/>
                </a:cubicBezTo>
                <a:lnTo>
                  <a:pt x="1018903" y="1410789"/>
                </a:lnTo>
              </a:path>
            </a:pathLst>
          </a:custGeom>
          <a:blipFill dpi="0" rotWithShape="1">
            <a:blip r:embed="rId4" cstate="print">
              <a:alphaModFix amt="60000"/>
            </a:blip>
            <a:srcRect/>
            <a:tile tx="0" ty="0" sx="100000" sy="100000" flip="none" algn="br"/>
          </a:blipFill>
          <a:ln w="38100" cap="flat" cmpd="sng" algn="ctr">
            <a:solidFill>
              <a:srgbClr val="FFCC00"/>
            </a:solidFill>
            <a:prstDash val="solid"/>
            <a:round/>
            <a:headEnd type="none" w="med" len="med"/>
            <a:tailEnd type="none" w="med" len="med"/>
          </a:ln>
          <a:effectLst/>
        </p:spPr>
        <p:txBody>
          <a:bodyPr/>
          <a:lstStyle/>
          <a:p>
            <a:pPr>
              <a:defRPr/>
            </a:pPr>
            <a:endParaRPr lang="fr-FR"/>
          </a:p>
        </p:txBody>
      </p:sp>
      <p:sp>
        <p:nvSpPr>
          <p:cNvPr id="8" name="Forme libre 7"/>
          <p:cNvSpPr/>
          <p:nvPr/>
        </p:nvSpPr>
        <p:spPr bwMode="auto">
          <a:xfrm>
            <a:off x="6477557" y="5164777"/>
            <a:ext cx="326691" cy="979437"/>
          </a:xfrm>
          <a:custGeom>
            <a:avLst/>
            <a:gdLst>
              <a:gd name="connsiteX0" fmla="*/ 324394 w 324394"/>
              <a:gd name="connsiteY0" fmla="*/ 0 h 864326"/>
              <a:gd name="connsiteX1" fmla="*/ 50074 w 324394"/>
              <a:gd name="connsiteY1" fmla="*/ 300446 h 864326"/>
              <a:gd name="connsiteX2" fmla="*/ 23948 w 324394"/>
              <a:gd name="connsiteY2" fmla="*/ 783772 h 864326"/>
              <a:gd name="connsiteX3" fmla="*/ 37011 w 324394"/>
              <a:gd name="connsiteY3" fmla="*/ 783772 h 864326"/>
              <a:gd name="connsiteX4" fmla="*/ 37011 w 324394"/>
              <a:gd name="connsiteY4" fmla="*/ 783772 h 864326"/>
              <a:gd name="connsiteX5" fmla="*/ 37011 w 324394"/>
              <a:gd name="connsiteY5" fmla="*/ 796835 h 864326"/>
              <a:gd name="connsiteX0" fmla="*/ 324394 w 324394"/>
              <a:gd name="connsiteY0" fmla="*/ 0 h 864326"/>
              <a:gd name="connsiteX1" fmla="*/ 50074 w 324394"/>
              <a:gd name="connsiteY1" fmla="*/ 300446 h 864326"/>
              <a:gd name="connsiteX2" fmla="*/ 23948 w 324394"/>
              <a:gd name="connsiteY2" fmla="*/ 783772 h 864326"/>
              <a:gd name="connsiteX3" fmla="*/ 37011 w 324394"/>
              <a:gd name="connsiteY3" fmla="*/ 783772 h 864326"/>
              <a:gd name="connsiteX4" fmla="*/ 37011 w 324394"/>
              <a:gd name="connsiteY4" fmla="*/ 783772 h 864326"/>
              <a:gd name="connsiteX5" fmla="*/ 37011 w 324394"/>
              <a:gd name="connsiteY5" fmla="*/ 796835 h 864326"/>
              <a:gd name="connsiteX0" fmla="*/ 324394 w 324394"/>
              <a:gd name="connsiteY0" fmla="*/ 66546 h 930872"/>
              <a:gd name="connsiteX1" fmla="*/ 50074 w 324394"/>
              <a:gd name="connsiteY1" fmla="*/ 366992 h 930872"/>
              <a:gd name="connsiteX2" fmla="*/ 23948 w 324394"/>
              <a:gd name="connsiteY2" fmla="*/ 850318 h 930872"/>
              <a:gd name="connsiteX3" fmla="*/ 37011 w 324394"/>
              <a:gd name="connsiteY3" fmla="*/ 850318 h 930872"/>
              <a:gd name="connsiteX4" fmla="*/ 37011 w 324394"/>
              <a:gd name="connsiteY4" fmla="*/ 850318 h 930872"/>
              <a:gd name="connsiteX5" fmla="*/ 37011 w 324394"/>
              <a:gd name="connsiteY5" fmla="*/ 863381 h 930872"/>
              <a:gd name="connsiteX0" fmla="*/ 307973 w 307973"/>
              <a:gd name="connsiteY0" fmla="*/ 0 h 864326"/>
              <a:gd name="connsiteX1" fmla="*/ 209443 w 307973"/>
              <a:gd name="connsiteY1" fmla="*/ 52252 h 864326"/>
              <a:gd name="connsiteX2" fmla="*/ 33653 w 307973"/>
              <a:gd name="connsiteY2" fmla="*/ 300446 h 864326"/>
              <a:gd name="connsiteX3" fmla="*/ 7527 w 307973"/>
              <a:gd name="connsiteY3" fmla="*/ 783772 h 864326"/>
              <a:gd name="connsiteX4" fmla="*/ 20590 w 307973"/>
              <a:gd name="connsiteY4" fmla="*/ 783772 h 864326"/>
              <a:gd name="connsiteX5" fmla="*/ 20590 w 307973"/>
              <a:gd name="connsiteY5" fmla="*/ 783772 h 864326"/>
              <a:gd name="connsiteX6" fmla="*/ 20590 w 307973"/>
              <a:gd name="connsiteY6" fmla="*/ 796835 h 864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7973" h="864326">
                <a:moveTo>
                  <a:pt x="307973" y="0"/>
                </a:moveTo>
                <a:cubicBezTo>
                  <a:pt x="291551" y="8709"/>
                  <a:pt x="255163" y="2178"/>
                  <a:pt x="209443" y="52252"/>
                </a:cubicBezTo>
                <a:cubicBezTo>
                  <a:pt x="163723" y="102326"/>
                  <a:pt x="67306" y="178526"/>
                  <a:pt x="33653" y="300446"/>
                </a:cubicBezTo>
                <a:cubicBezTo>
                  <a:pt x="0" y="422366"/>
                  <a:pt x="9704" y="703218"/>
                  <a:pt x="7527" y="783772"/>
                </a:cubicBezTo>
                <a:cubicBezTo>
                  <a:pt x="5350" y="864326"/>
                  <a:pt x="20590" y="783772"/>
                  <a:pt x="20590" y="783772"/>
                </a:cubicBezTo>
                <a:lnTo>
                  <a:pt x="20590" y="783772"/>
                </a:lnTo>
                <a:lnTo>
                  <a:pt x="20590" y="796835"/>
                </a:lnTo>
              </a:path>
            </a:pathLst>
          </a:custGeom>
          <a:blipFill dpi="0" rotWithShape="1">
            <a:blip r:embed="rId4" cstate="print">
              <a:alphaModFix amt="60000"/>
            </a:blip>
            <a:srcRect/>
            <a:tile tx="0" ty="0" sx="100000" sy="100000" flip="none" algn="br"/>
          </a:blipFill>
          <a:ln w="38100" cap="flat" cmpd="sng" algn="ctr">
            <a:solidFill>
              <a:srgbClr val="FFCC00"/>
            </a:solidFill>
            <a:prstDash val="solid"/>
            <a:round/>
            <a:headEnd type="none" w="med" len="med"/>
            <a:tailEnd type="none" w="med" len="med"/>
          </a:ln>
          <a:effectLst/>
        </p:spPr>
        <p:txBody>
          <a:bodyPr/>
          <a:lstStyle/>
          <a:p>
            <a:pPr>
              <a:defRPr/>
            </a:pPr>
            <a:endParaRPr lang="fr-FR"/>
          </a:p>
        </p:txBody>
      </p:sp>
      <p:sp>
        <p:nvSpPr>
          <p:cNvPr id="9" name="ZoneTexte 8"/>
          <p:cNvSpPr txBox="1"/>
          <p:nvPr/>
        </p:nvSpPr>
        <p:spPr>
          <a:xfrm>
            <a:off x="5357813" y="2781300"/>
            <a:ext cx="3357562" cy="369888"/>
          </a:xfrm>
          <a:prstGeom prst="rect">
            <a:avLst/>
          </a:prstGeom>
          <a:noFill/>
        </p:spPr>
        <p:txBody>
          <a:bodyPr>
            <a:spAutoFit/>
          </a:bodyPr>
          <a:lstStyle/>
          <a:p>
            <a:pPr>
              <a:defRPr/>
            </a:pPr>
            <a:r>
              <a:rPr lang="fr-FR" dirty="0">
                <a:effectLst>
                  <a:outerShdw blurRad="38100" dist="38100" dir="2700000" algn="tl">
                    <a:srgbClr val="000000">
                      <a:alpha val="43137"/>
                    </a:srgbClr>
                  </a:outerShdw>
                </a:effectLst>
              </a:rPr>
              <a:t>( cœur en ‘‘carafe’’)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down)">
                                      <p:cBhvr>
                                        <p:cTn id="7" dur="500"/>
                                        <p:tgtEl>
                                          <p:spTgt spid="24"/>
                                        </p:tgtEl>
                                      </p:cBhvr>
                                    </p:animEffect>
                                  </p:childTnLst>
                                </p:cTn>
                              </p:par>
                              <p:par>
                                <p:cTn id="8" presetID="22" presetClass="entr" presetSubtype="4"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par>
                                <p:cTn id="11" presetID="1" presetClass="entr" presetSubtype="0" fill="hold" nodeType="with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p:cNvSpPr>
            <a:spLocks noGrp="1"/>
          </p:cNvSpPr>
          <p:nvPr>
            <p:ph type="title"/>
          </p:nvPr>
        </p:nvSpPr>
        <p:spPr>
          <a:xfrm>
            <a:off x="301625" y="578346"/>
            <a:ext cx="8540750" cy="906438"/>
          </a:xfrm>
        </p:spPr>
        <p:txBody>
          <a:bodyPr>
            <a:normAutofit fontScale="90000"/>
          </a:bodyPr>
          <a:lstStyle/>
          <a:p>
            <a:pPr algn="ctr">
              <a:buClr>
                <a:srgbClr val="FFC000"/>
              </a:buClr>
              <a:buSzPct val="80000"/>
              <a:buFont typeface="Arial" pitchFamily="34" charset="0"/>
              <a:buChar char="•"/>
              <a:defRPr/>
            </a:pPr>
            <a:r>
              <a:rPr lang="fr-FR" dirty="0" smtClean="0">
                <a:effectLst/>
                <a:latin typeface="+mn-lt"/>
              </a:rPr>
              <a:t>  </a:t>
            </a:r>
            <a:r>
              <a:rPr lang="fr-FR" dirty="0" smtClean="0">
                <a:solidFill>
                  <a:srgbClr val="C00000"/>
                </a:solidFill>
                <a:effectLst/>
                <a:latin typeface="+mn-lt"/>
              </a:rPr>
              <a:t>É</a:t>
            </a:r>
            <a:r>
              <a:rPr lang="fr-FR" cap="none" dirty="0" smtClean="0">
                <a:solidFill>
                  <a:srgbClr val="C00000"/>
                </a:solidFill>
                <a:effectLst/>
                <a:latin typeface="+mn-lt"/>
              </a:rPr>
              <a:t>chocardiographie</a:t>
            </a:r>
            <a:r>
              <a:rPr lang="fr-FR" dirty="0" smtClean="0">
                <a:solidFill>
                  <a:srgbClr val="6D98DD"/>
                </a:solidFill>
                <a:effectLst/>
                <a:latin typeface="+mn-lt"/>
              </a:rPr>
              <a:t/>
            </a:r>
            <a:br>
              <a:rPr lang="fr-FR" dirty="0" smtClean="0">
                <a:solidFill>
                  <a:srgbClr val="6D98DD"/>
                </a:solidFill>
                <a:effectLst/>
                <a:latin typeface="+mn-lt"/>
              </a:rPr>
            </a:br>
            <a:endParaRPr lang="fr-FR" dirty="0">
              <a:effectLst/>
              <a:latin typeface="+mn-lt"/>
            </a:endParaRPr>
          </a:p>
        </p:txBody>
      </p:sp>
      <p:sp>
        <p:nvSpPr>
          <p:cNvPr id="3" name="Espace réservé du contenu 2"/>
          <p:cNvSpPr>
            <a:spLocks noGrp="1"/>
          </p:cNvSpPr>
          <p:nvPr>
            <p:ph sz="half" idx="1"/>
          </p:nvPr>
        </p:nvSpPr>
        <p:spPr>
          <a:xfrm>
            <a:off x="107504" y="1268760"/>
            <a:ext cx="8856984" cy="4786312"/>
          </a:xfrm>
        </p:spPr>
        <p:txBody>
          <a:bodyPr>
            <a:normAutofit fontScale="85000" lnSpcReduction="20000"/>
          </a:bodyPr>
          <a:lstStyle/>
          <a:p>
            <a:pPr>
              <a:buClr>
                <a:srgbClr val="FFC000"/>
              </a:buClr>
              <a:buFont typeface="Wingdings" pitchFamily="2" charset="2"/>
              <a:buChar char="Ø"/>
              <a:defRPr/>
            </a:pPr>
            <a:r>
              <a:rPr lang="fr-FR" dirty="0" smtClean="0">
                <a:solidFill>
                  <a:schemeClr val="tx1"/>
                </a:solidFill>
              </a:rPr>
              <a:t>Examen non invasif, rapide</a:t>
            </a:r>
          </a:p>
          <a:p>
            <a:pPr>
              <a:buClr>
                <a:srgbClr val="FFC000"/>
              </a:buClr>
              <a:defRPr/>
            </a:pPr>
            <a:endParaRPr lang="fr-FR" dirty="0" smtClean="0">
              <a:solidFill>
                <a:schemeClr val="tx1"/>
              </a:solidFill>
            </a:endParaRPr>
          </a:p>
          <a:p>
            <a:pPr>
              <a:lnSpc>
                <a:spcPct val="120000"/>
              </a:lnSpc>
              <a:buClr>
                <a:srgbClr val="FFC000"/>
              </a:buClr>
              <a:buFont typeface="Wingdings" pitchFamily="2" charset="2"/>
              <a:buChar char="Ø"/>
              <a:defRPr/>
            </a:pPr>
            <a:r>
              <a:rPr lang="fr-FR" dirty="0" smtClean="0">
                <a:solidFill>
                  <a:schemeClr val="tx1"/>
                </a:solidFill>
              </a:rPr>
              <a:t>Recherche un épanchement péricardique (faux négatif si péricardite sèche)</a:t>
            </a:r>
          </a:p>
          <a:p>
            <a:pPr marL="0">
              <a:spcBef>
                <a:spcPts val="0"/>
              </a:spcBef>
              <a:defRPr/>
            </a:pPr>
            <a:endParaRPr lang="fr-FR" dirty="0" smtClean="0">
              <a:solidFill>
                <a:schemeClr val="tx1"/>
              </a:solidFill>
            </a:endParaRPr>
          </a:p>
          <a:p>
            <a:pPr>
              <a:buClr>
                <a:srgbClr val="FFC000"/>
              </a:buClr>
              <a:buFont typeface="Wingdings" pitchFamily="2" charset="2"/>
              <a:buChar char="Ø"/>
              <a:defRPr/>
            </a:pPr>
            <a:r>
              <a:rPr lang="fr-FR" dirty="0" smtClean="0">
                <a:solidFill>
                  <a:schemeClr val="tx1"/>
                </a:solidFill>
              </a:rPr>
              <a:t>Évalue la sévérité de l’épanchement:</a:t>
            </a:r>
          </a:p>
          <a:p>
            <a:pPr>
              <a:buClr>
                <a:srgbClr val="FFC000"/>
              </a:buClr>
              <a:buFont typeface="Wingdings 2" pitchFamily="18" charset="2"/>
              <a:buNone/>
              <a:defRPr/>
            </a:pPr>
            <a:r>
              <a:rPr lang="fr-FR" dirty="0" smtClean="0">
                <a:solidFill>
                  <a:schemeClr val="tx1"/>
                </a:solidFill>
              </a:rPr>
              <a:t>              - abondance du liquide</a:t>
            </a:r>
          </a:p>
          <a:p>
            <a:pPr>
              <a:buFont typeface="Arial" charset="0"/>
              <a:buNone/>
              <a:defRPr/>
            </a:pPr>
            <a:r>
              <a:rPr lang="fr-FR" dirty="0" smtClean="0">
                <a:solidFill>
                  <a:schemeClr val="tx1"/>
                </a:solidFill>
              </a:rPr>
              <a:t>              - tolérance: collapsus des cavités droites, Ø VCI…</a:t>
            </a:r>
          </a:p>
          <a:p>
            <a:pPr>
              <a:buFont typeface="Arial" charset="0"/>
              <a:buNone/>
              <a:defRPr/>
            </a:pPr>
            <a:endParaRPr lang="fr-FR" dirty="0" smtClean="0">
              <a:solidFill>
                <a:srgbClr val="C00000"/>
              </a:solidFill>
            </a:endParaRPr>
          </a:p>
          <a:p>
            <a:pPr>
              <a:buFont typeface="Wingdings" pitchFamily="2" charset="2"/>
              <a:buChar char="Ø"/>
              <a:defRPr/>
            </a:pPr>
            <a:r>
              <a:rPr lang="fr-FR" dirty="0" smtClean="0">
                <a:solidFill>
                  <a:schemeClr val="tx1"/>
                </a:solidFill>
              </a:rPr>
              <a:t>Recherche des signes de constriction péricardique</a:t>
            </a:r>
          </a:p>
          <a:p>
            <a:pPr>
              <a:spcBef>
                <a:spcPts val="0"/>
              </a:spcBef>
              <a:buFont typeface="Arial" charset="0"/>
              <a:buNone/>
              <a:defRPr/>
            </a:pPr>
            <a:r>
              <a:rPr lang="fr-FR" dirty="0" smtClean="0">
                <a:solidFill>
                  <a:srgbClr val="C00000"/>
                </a:solidFill>
              </a:rPr>
              <a:t> </a:t>
            </a:r>
            <a:r>
              <a:rPr lang="fr-FR" dirty="0" smtClean="0"/>
              <a:t>              </a:t>
            </a:r>
          </a:p>
          <a:p>
            <a:pPr>
              <a:buClr>
                <a:srgbClr val="FFC000"/>
              </a:buClr>
              <a:buFont typeface="Wingdings" pitchFamily="2" charset="2"/>
              <a:buChar char="Ø"/>
              <a:defRPr/>
            </a:pPr>
            <a:r>
              <a:rPr lang="fr-FR" dirty="0" smtClean="0">
                <a:solidFill>
                  <a:schemeClr val="tx1"/>
                </a:solidFill>
              </a:rPr>
              <a:t>Recherche une myocardite associée (FEVG, doppler tissulaire, strain myocardique)</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re 4"/>
          <p:cNvSpPr>
            <a:spLocks noGrp="1"/>
          </p:cNvSpPr>
          <p:nvPr>
            <p:ph type="title"/>
          </p:nvPr>
        </p:nvSpPr>
        <p:spPr>
          <a:xfrm>
            <a:off x="179512" y="116632"/>
            <a:ext cx="8686800" cy="838200"/>
          </a:xfrm>
        </p:spPr>
        <p:txBody>
          <a:bodyPr>
            <a:normAutofit/>
          </a:bodyPr>
          <a:lstStyle/>
          <a:p>
            <a:pPr algn="ctr">
              <a:buClr>
                <a:srgbClr val="FFC000"/>
              </a:buClr>
              <a:buSzPct val="80000"/>
              <a:buFont typeface="Arial" pitchFamily="34" charset="0"/>
              <a:buChar char="•"/>
            </a:pPr>
            <a:r>
              <a:rPr lang="fr-FR" dirty="0" smtClean="0">
                <a:solidFill>
                  <a:srgbClr val="C00000"/>
                </a:solidFill>
                <a:effectLst/>
              </a:rPr>
              <a:t>  </a:t>
            </a:r>
            <a:r>
              <a:rPr lang="fr-FR" dirty="0" smtClean="0">
                <a:solidFill>
                  <a:srgbClr val="C00000"/>
                </a:solidFill>
                <a:effectLst/>
                <a:latin typeface="+mn-lt"/>
              </a:rPr>
              <a:t>IRM Cardiaque</a:t>
            </a:r>
            <a:endParaRPr lang="fr-FR" sz="4000" dirty="0">
              <a:latin typeface="+mn-lt"/>
            </a:endParaRPr>
          </a:p>
        </p:txBody>
      </p:sp>
      <p:sp>
        <p:nvSpPr>
          <p:cNvPr id="6" name="Espace réservé du contenu 5"/>
          <p:cNvSpPr>
            <a:spLocks noGrp="1"/>
          </p:cNvSpPr>
          <p:nvPr>
            <p:ph idx="1"/>
          </p:nvPr>
        </p:nvSpPr>
        <p:spPr>
          <a:xfrm>
            <a:off x="179512" y="980728"/>
            <a:ext cx="8812088" cy="5544616"/>
          </a:xfrm>
        </p:spPr>
        <p:txBody>
          <a:bodyPr>
            <a:noAutofit/>
          </a:bodyPr>
          <a:lstStyle/>
          <a:p>
            <a:r>
              <a:rPr lang="fr-FR" sz="2400" dirty="0" smtClean="0">
                <a:solidFill>
                  <a:schemeClr val="tx1"/>
                </a:solidFill>
              </a:rPr>
              <a:t>Recommandée devant toute suspicion de myocardite</a:t>
            </a:r>
          </a:p>
          <a:p>
            <a:pPr>
              <a:buNone/>
            </a:pPr>
            <a:endParaRPr lang="fr-FR" sz="2400" dirty="0" smtClean="0">
              <a:solidFill>
                <a:schemeClr val="tx1"/>
              </a:solidFill>
            </a:endParaRPr>
          </a:p>
          <a:p>
            <a:r>
              <a:rPr lang="fr-FR" sz="2400" dirty="0" smtClean="0">
                <a:solidFill>
                  <a:schemeClr val="tx1"/>
                </a:solidFill>
              </a:rPr>
              <a:t>Dgc positif et caractère des lésions: </a:t>
            </a:r>
          </a:p>
          <a:p>
            <a:pPr>
              <a:buNone/>
            </a:pPr>
            <a:r>
              <a:rPr lang="fr-FR" sz="2400" dirty="0" smtClean="0">
                <a:solidFill>
                  <a:schemeClr val="tx1"/>
                </a:solidFill>
              </a:rPr>
              <a:t>     œdème, fibrose, nécrose</a:t>
            </a:r>
          </a:p>
          <a:p>
            <a:pPr>
              <a:buNone/>
            </a:pPr>
            <a:endParaRPr lang="fr-FR" sz="2400" dirty="0" smtClean="0">
              <a:solidFill>
                <a:schemeClr val="tx1"/>
              </a:solidFill>
            </a:endParaRPr>
          </a:p>
          <a:p>
            <a:r>
              <a:rPr lang="fr-FR" sz="2400" dirty="0" smtClean="0">
                <a:solidFill>
                  <a:schemeClr val="tx1"/>
                </a:solidFill>
              </a:rPr>
              <a:t>Utile pour le dgc des péricardites si clinique insuffisante:</a:t>
            </a:r>
          </a:p>
          <a:p>
            <a:pPr>
              <a:buNone/>
            </a:pPr>
            <a:r>
              <a:rPr lang="fr-FR" sz="2400" dirty="0" smtClean="0"/>
              <a:t>    </a:t>
            </a:r>
            <a:r>
              <a:rPr lang="fr-FR" sz="2400" b="1" dirty="0" smtClean="0">
                <a:solidFill>
                  <a:srgbClr val="FF0000"/>
                </a:solidFill>
              </a:rPr>
              <a:t>-</a:t>
            </a:r>
            <a:r>
              <a:rPr lang="fr-FR" sz="2400" dirty="0" smtClean="0"/>
              <a:t> </a:t>
            </a:r>
            <a:r>
              <a:rPr lang="fr-FR" sz="2400" dirty="0" smtClean="0">
                <a:solidFill>
                  <a:schemeClr val="tx1"/>
                </a:solidFill>
              </a:rPr>
              <a:t>œdème </a:t>
            </a:r>
          </a:p>
          <a:p>
            <a:pPr>
              <a:buNone/>
            </a:pPr>
            <a:r>
              <a:rPr lang="fr-FR" sz="2400" dirty="0" smtClean="0"/>
              <a:t>    </a:t>
            </a:r>
            <a:r>
              <a:rPr lang="fr-FR" sz="2400" b="1" dirty="0" smtClean="0">
                <a:solidFill>
                  <a:srgbClr val="FF0000"/>
                </a:solidFill>
              </a:rPr>
              <a:t>- </a:t>
            </a:r>
            <a:r>
              <a:rPr lang="fr-FR" sz="2400" dirty="0" smtClean="0">
                <a:solidFill>
                  <a:schemeClr val="tx1"/>
                </a:solidFill>
              </a:rPr>
              <a:t>épaississement</a:t>
            </a:r>
          </a:p>
          <a:p>
            <a:pPr>
              <a:buNone/>
            </a:pPr>
            <a:r>
              <a:rPr lang="fr-FR" sz="2400" dirty="0" smtClean="0"/>
              <a:t>    </a:t>
            </a:r>
            <a:r>
              <a:rPr lang="fr-FR" sz="2400" b="1" dirty="0" smtClean="0">
                <a:solidFill>
                  <a:srgbClr val="FF0000"/>
                </a:solidFill>
              </a:rPr>
              <a:t>-</a:t>
            </a:r>
            <a:r>
              <a:rPr lang="fr-FR" sz="2400" dirty="0" smtClean="0"/>
              <a:t> </a:t>
            </a:r>
            <a:r>
              <a:rPr lang="fr-FR" sz="2400" dirty="0" smtClean="0">
                <a:solidFill>
                  <a:schemeClr val="tx1"/>
                </a:solidFill>
              </a:rPr>
              <a:t>rehaussement tardif</a:t>
            </a:r>
          </a:p>
          <a:p>
            <a:pPr>
              <a:buNone/>
            </a:pPr>
            <a:endParaRPr lang="fr-FR" sz="2400" dirty="0" smtClean="0">
              <a:solidFill>
                <a:schemeClr val="tx1"/>
              </a:solidFill>
            </a:endParaRPr>
          </a:p>
          <a:p>
            <a:r>
              <a:rPr lang="fr-FR" sz="2400" dirty="0" smtClean="0">
                <a:solidFill>
                  <a:schemeClr val="tx1"/>
                </a:solidFill>
              </a:rPr>
              <a:t>Pour le contrôle à 6 mois: avant reprise de l’activité</a:t>
            </a:r>
          </a:p>
          <a:p>
            <a:endParaRPr lang="fr-FR" sz="2400" dirty="0" smtClean="0">
              <a:solidFill>
                <a:schemeClr val="tx1"/>
              </a:solidFill>
            </a:endParaRPr>
          </a:p>
          <a:p>
            <a:pPr>
              <a:buNone/>
            </a:pPr>
            <a:r>
              <a:rPr lang="fr-FR" sz="2400" dirty="0" smtClean="0"/>
              <a:t> </a:t>
            </a:r>
          </a:p>
          <a:p>
            <a:pPr>
              <a:buNone/>
            </a:pPr>
            <a:r>
              <a:rPr lang="fr-FR" sz="2400" dirty="0" smtClean="0"/>
              <a:t>  </a:t>
            </a:r>
            <a:endParaRPr lang="fr-FR" sz="24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re 4"/>
          <p:cNvSpPr>
            <a:spLocks noGrp="1"/>
          </p:cNvSpPr>
          <p:nvPr>
            <p:ph type="title"/>
          </p:nvPr>
        </p:nvSpPr>
        <p:spPr>
          <a:xfrm>
            <a:off x="179512" y="502568"/>
            <a:ext cx="8686800" cy="838200"/>
          </a:xfrm>
        </p:spPr>
        <p:txBody>
          <a:bodyPr>
            <a:normAutofit/>
          </a:bodyPr>
          <a:lstStyle/>
          <a:p>
            <a:pPr algn="ctr">
              <a:buClr>
                <a:srgbClr val="FFC000"/>
              </a:buClr>
              <a:buSzPct val="80000"/>
              <a:buFont typeface="Arial" pitchFamily="34" charset="0"/>
              <a:buChar char="•"/>
            </a:pPr>
            <a:r>
              <a:rPr lang="fr-FR" dirty="0" smtClean="0">
                <a:solidFill>
                  <a:srgbClr val="C00000"/>
                </a:solidFill>
                <a:effectLst/>
              </a:rPr>
              <a:t>  </a:t>
            </a:r>
            <a:r>
              <a:rPr lang="fr-FR" dirty="0" smtClean="0">
                <a:solidFill>
                  <a:srgbClr val="C00000"/>
                </a:solidFill>
                <a:effectLst/>
                <a:latin typeface="+mn-lt"/>
              </a:rPr>
              <a:t>COROSCANNER/CORONAROGRAPHIE</a:t>
            </a:r>
            <a:endParaRPr lang="fr-FR" sz="4000" dirty="0">
              <a:latin typeface="+mn-lt"/>
            </a:endParaRPr>
          </a:p>
        </p:txBody>
      </p:sp>
      <p:sp>
        <p:nvSpPr>
          <p:cNvPr id="6" name="Espace réservé du contenu 5"/>
          <p:cNvSpPr>
            <a:spLocks noGrp="1"/>
          </p:cNvSpPr>
          <p:nvPr>
            <p:ph idx="1"/>
          </p:nvPr>
        </p:nvSpPr>
        <p:spPr>
          <a:xfrm>
            <a:off x="179512" y="1713979"/>
            <a:ext cx="8812088" cy="4667349"/>
          </a:xfrm>
        </p:spPr>
        <p:txBody>
          <a:bodyPr>
            <a:normAutofit/>
          </a:bodyPr>
          <a:lstStyle/>
          <a:p>
            <a:r>
              <a:rPr lang="fr-FR" sz="2800" dirty="0" smtClean="0">
                <a:solidFill>
                  <a:schemeClr val="tx1"/>
                </a:solidFill>
              </a:rPr>
              <a:t>Pour exclure une maladie coronaire  si tableau clinique initial évoquant un SCA</a:t>
            </a:r>
          </a:p>
          <a:p>
            <a:endParaRPr lang="fr-FR" sz="2800" dirty="0" smtClean="0">
              <a:solidFill>
                <a:schemeClr val="tx1"/>
              </a:solidFill>
            </a:endParaRPr>
          </a:p>
          <a:p>
            <a:pPr>
              <a:buNone/>
            </a:pPr>
            <a:r>
              <a:rPr lang="fr-FR" sz="2800" dirty="0" smtClean="0"/>
              <a:t> </a:t>
            </a:r>
          </a:p>
          <a:p>
            <a:pPr>
              <a:buNone/>
            </a:pPr>
            <a:r>
              <a:rPr lang="fr-FR" sz="2800" dirty="0" smtClean="0"/>
              <a:t>  </a:t>
            </a:r>
            <a:endParaRPr lang="fr-FR" sz="28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Rot="1" noChangeArrowheads="1"/>
          </p:cNvSpPr>
          <p:nvPr>
            <p:ph type="title"/>
          </p:nvPr>
        </p:nvSpPr>
        <p:spPr>
          <a:xfrm>
            <a:off x="133672" y="332656"/>
            <a:ext cx="8686800" cy="838200"/>
          </a:xfrm>
        </p:spPr>
        <p:txBody>
          <a:bodyPr/>
          <a:lstStyle/>
          <a:p>
            <a:pPr algn="ctr" eaLnBrk="1" hangingPunct="1">
              <a:defRPr/>
            </a:pPr>
            <a:r>
              <a:rPr lang="fr-FR" b="1" dirty="0" smtClean="0">
                <a:solidFill>
                  <a:srgbClr val="800000"/>
                </a:solidFill>
                <a:effectLst/>
                <a:latin typeface="+mn-lt"/>
              </a:rPr>
              <a:t> VII- PÉRICARDITES</a:t>
            </a:r>
          </a:p>
        </p:txBody>
      </p:sp>
      <p:sp>
        <p:nvSpPr>
          <p:cNvPr id="3075" name="Rectangle 3"/>
          <p:cNvSpPr>
            <a:spLocks noGrp="1" noRot="1" noChangeArrowheads="1"/>
          </p:cNvSpPr>
          <p:nvPr>
            <p:ph type="body" idx="1"/>
          </p:nvPr>
        </p:nvSpPr>
        <p:spPr>
          <a:xfrm>
            <a:off x="107504" y="1268760"/>
            <a:ext cx="8748712" cy="4968552"/>
          </a:xfrm>
        </p:spPr>
        <p:txBody>
          <a:bodyPr/>
          <a:lstStyle/>
          <a:p>
            <a:pPr eaLnBrk="1" hangingPunct="1">
              <a:buClr>
                <a:srgbClr val="FF9900"/>
              </a:buClr>
              <a:defRPr/>
            </a:pPr>
            <a:r>
              <a:rPr lang="fr-FR" sz="2400" dirty="0" smtClean="0">
                <a:solidFill>
                  <a:schemeClr val="tx1"/>
                </a:solidFill>
              </a:rPr>
              <a:t>Inflammation de l’enveloppe +/- épanchement liquidien </a:t>
            </a:r>
          </a:p>
          <a:p>
            <a:pPr eaLnBrk="1" hangingPunct="1">
              <a:buClr>
                <a:srgbClr val="FF9900"/>
              </a:buClr>
              <a:buNone/>
              <a:defRPr/>
            </a:pPr>
            <a:endParaRPr lang="fr-FR" sz="2400" dirty="0" smtClean="0">
              <a:solidFill>
                <a:schemeClr val="tx1"/>
              </a:solidFill>
            </a:endParaRPr>
          </a:p>
          <a:p>
            <a:pPr eaLnBrk="1" hangingPunct="1">
              <a:buClr>
                <a:srgbClr val="FF9900"/>
              </a:buClr>
              <a:defRPr/>
            </a:pPr>
            <a:r>
              <a:rPr lang="fr-FR" sz="2400" dirty="0" smtClean="0">
                <a:solidFill>
                  <a:schemeClr val="tx1"/>
                </a:solidFill>
              </a:rPr>
              <a:t>Récidives fréquentes: 30% à 18 mois, 50% après 1</a:t>
            </a:r>
            <a:r>
              <a:rPr lang="fr-FR" sz="2400" baseline="30000" dirty="0" smtClean="0">
                <a:solidFill>
                  <a:schemeClr val="tx1"/>
                </a:solidFill>
              </a:rPr>
              <a:t>ère</a:t>
            </a:r>
            <a:r>
              <a:rPr lang="fr-FR" sz="2400" dirty="0" smtClean="0">
                <a:solidFill>
                  <a:schemeClr val="tx1"/>
                </a:solidFill>
              </a:rPr>
              <a:t> récidive</a:t>
            </a:r>
          </a:p>
          <a:p>
            <a:pPr eaLnBrk="1" hangingPunct="1">
              <a:buClr>
                <a:srgbClr val="FF9900"/>
              </a:buClr>
              <a:defRPr/>
            </a:pPr>
            <a:endParaRPr lang="fr-FR" sz="2400" dirty="0" smtClean="0">
              <a:solidFill>
                <a:schemeClr val="tx1"/>
              </a:solidFill>
            </a:endParaRPr>
          </a:p>
          <a:p>
            <a:pPr eaLnBrk="1" hangingPunct="1">
              <a:buClr>
                <a:srgbClr val="FF9900"/>
              </a:buClr>
              <a:defRPr/>
            </a:pPr>
            <a:r>
              <a:rPr lang="fr-FR" sz="2400" dirty="0" smtClean="0">
                <a:solidFill>
                  <a:schemeClr val="tx1"/>
                </a:solidFill>
              </a:rPr>
              <a:t>Dgc différentiel de la douleur thoracique: EP, SCA, dissection </a:t>
            </a:r>
            <a:r>
              <a:rPr lang="fr-FR" sz="2400" dirty="0" err="1" smtClean="0">
                <a:solidFill>
                  <a:schemeClr val="tx1"/>
                </a:solidFill>
              </a:rPr>
              <a:t>Ao</a:t>
            </a:r>
            <a:endParaRPr lang="fr-FR" sz="2400" dirty="0" smtClean="0">
              <a:solidFill>
                <a:schemeClr val="tx1"/>
              </a:solidFill>
            </a:endParaRPr>
          </a:p>
          <a:p>
            <a:pPr eaLnBrk="1" hangingPunct="1">
              <a:buClr>
                <a:srgbClr val="FF9900"/>
              </a:buClr>
              <a:defRPr/>
            </a:pPr>
            <a:endParaRPr lang="fr-FR" sz="2400" dirty="0" smtClean="0">
              <a:solidFill>
                <a:schemeClr val="tx1"/>
              </a:solidFill>
            </a:endParaRPr>
          </a:p>
          <a:p>
            <a:pPr eaLnBrk="1" hangingPunct="1">
              <a:buClr>
                <a:srgbClr val="FF9900"/>
              </a:buClr>
              <a:defRPr/>
            </a:pPr>
            <a:r>
              <a:rPr lang="fr-FR" sz="2400" dirty="0" smtClean="0">
                <a:solidFill>
                  <a:schemeClr val="tx1"/>
                </a:solidFill>
              </a:rPr>
              <a:t>Importance du Dgc lié au risque de complications: </a:t>
            </a:r>
          </a:p>
          <a:p>
            <a:pPr eaLnBrk="1" hangingPunct="1">
              <a:buClr>
                <a:srgbClr val="FF9900"/>
              </a:buClr>
              <a:buNone/>
              <a:defRPr/>
            </a:pPr>
            <a:r>
              <a:rPr lang="fr-FR" sz="2400" dirty="0" smtClean="0">
                <a:solidFill>
                  <a:schemeClr val="tx1"/>
                </a:solidFill>
              </a:rPr>
              <a:t>    </a:t>
            </a:r>
            <a:r>
              <a:rPr lang="fr-FR" sz="2400" dirty="0" smtClean="0">
                <a:solidFill>
                  <a:schemeClr val="tx1"/>
                </a:solidFill>
                <a:sym typeface="Symbol"/>
              </a:rPr>
              <a:t> court terme: tamponnade </a:t>
            </a:r>
          </a:p>
          <a:p>
            <a:pPr eaLnBrk="1" hangingPunct="1">
              <a:buClr>
                <a:srgbClr val="FF9900"/>
              </a:buClr>
              <a:buNone/>
              <a:defRPr/>
            </a:pPr>
            <a:r>
              <a:rPr lang="fr-FR" sz="2400" dirty="0" smtClean="0">
                <a:solidFill>
                  <a:schemeClr val="tx1"/>
                </a:solidFill>
                <a:sym typeface="Symbol"/>
              </a:rPr>
              <a:t>     moyen/long terme: formes chronique, constriction</a:t>
            </a:r>
            <a:endParaRPr lang="fr-FR" sz="2400" dirty="0" smtClean="0">
              <a:solidFill>
                <a:schemeClr val="tx1"/>
              </a:solidFill>
            </a:endParaRPr>
          </a:p>
          <a:p>
            <a:pPr eaLnBrk="1" hangingPunct="1">
              <a:buClr>
                <a:srgbClr val="FF9900"/>
              </a:buClr>
              <a:buNone/>
              <a:defRPr/>
            </a:pPr>
            <a:endParaRPr lang="fr-FR" sz="2400" dirty="0" smtClean="0">
              <a:solidFill>
                <a:schemeClr val="bg2">
                  <a:lumMod val="10000"/>
                </a:schemeClr>
              </a:solidFill>
            </a:endParaRPr>
          </a:p>
          <a:p>
            <a:pPr eaLnBrk="1" hangingPunct="1">
              <a:buClr>
                <a:srgbClr val="FF9900"/>
              </a:buClr>
              <a:defRPr/>
            </a:pPr>
            <a:endParaRPr lang="fr-FR" sz="2400" dirty="0" smtClean="0">
              <a:solidFill>
                <a:schemeClr val="bg2">
                  <a:lumMod val="10000"/>
                </a:schemeClr>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1"/>
          <p:cNvSpPr txBox="1">
            <a:spLocks/>
          </p:cNvSpPr>
          <p:nvPr/>
        </p:nvSpPr>
        <p:spPr>
          <a:xfrm>
            <a:off x="304800" y="116632"/>
            <a:ext cx="8686800" cy="648072"/>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sz="2400" b="0" i="0" u="none" strike="noStrike" kern="1200" cap="all" spc="0" normalizeH="0" baseline="0" noProof="0" dirty="0" smtClean="0">
                <a:ln>
                  <a:noFill/>
                </a:ln>
                <a:solidFill>
                  <a:srgbClr val="FF9900"/>
                </a:solidFill>
                <a:effectLst/>
                <a:uLnTx/>
                <a:uFillTx/>
                <a:latin typeface="+mn-lt"/>
                <a:ea typeface="+mj-ea"/>
                <a:cs typeface="+mj-cs"/>
              </a:rPr>
              <a:t>A- PRESENTATIONS CLINIQUES</a:t>
            </a:r>
          </a:p>
          <a:p>
            <a:pPr marL="0" marR="0" lvl="0" indent="0" algn="ctr" defTabSz="914400" rtl="0" eaLnBrk="1" fontAlgn="auto" latinLnBrk="0" hangingPunct="1">
              <a:lnSpc>
                <a:spcPct val="100000"/>
              </a:lnSpc>
              <a:spcBef>
                <a:spcPct val="0"/>
              </a:spcBef>
              <a:spcAft>
                <a:spcPts val="0"/>
              </a:spcAft>
              <a:buClrTx/>
              <a:buSzTx/>
              <a:buFontTx/>
              <a:buNone/>
              <a:tabLst/>
              <a:defRPr/>
            </a:pPr>
            <a:r>
              <a:rPr lang="fr-FR" sz="2000" i="1" cap="all" noProof="0" dirty="0" smtClean="0">
                <a:solidFill>
                  <a:srgbClr val="800000"/>
                </a:solidFill>
                <a:ea typeface="+mj-ea"/>
                <a:cs typeface="+mj-cs"/>
              </a:rPr>
              <a:t>1- « </a:t>
            </a:r>
            <a:r>
              <a:rPr lang="fr-FR" sz="2000" i="1" dirty="0" smtClean="0">
                <a:solidFill>
                  <a:srgbClr val="800000"/>
                </a:solidFill>
                <a:ea typeface="+mj-ea"/>
                <a:cs typeface="+mj-cs"/>
              </a:rPr>
              <a:t>R</a:t>
            </a:r>
            <a:r>
              <a:rPr kumimoji="0" lang="fr-FR" sz="2000" b="0" i="1" u="none" strike="noStrike" kern="1200" spc="0" normalizeH="0" noProof="0" dirty="0" err="1" smtClean="0">
                <a:ln>
                  <a:noFill/>
                </a:ln>
                <a:solidFill>
                  <a:srgbClr val="800000"/>
                </a:solidFill>
                <a:effectLst/>
                <a:uLnTx/>
                <a:uFillTx/>
                <a:latin typeface="+mn-lt"/>
                <a:ea typeface="+mj-ea"/>
                <a:cs typeface="+mj-cs"/>
              </a:rPr>
              <a:t>ed</a:t>
            </a:r>
            <a:r>
              <a:rPr kumimoji="0" lang="fr-FR" sz="2000" b="0" i="1" u="none" strike="noStrike" kern="1200" spc="0" normalizeH="0" noProof="0" dirty="0" smtClean="0">
                <a:ln>
                  <a:noFill/>
                </a:ln>
                <a:solidFill>
                  <a:srgbClr val="800000"/>
                </a:solidFill>
                <a:effectLst/>
                <a:uLnTx/>
                <a:uFillTx/>
                <a:latin typeface="+mn-lt"/>
                <a:ea typeface="+mj-ea"/>
                <a:cs typeface="+mj-cs"/>
              </a:rPr>
              <a:t> Flags</a:t>
            </a:r>
            <a:r>
              <a:rPr kumimoji="0" lang="fr-FR" sz="2000" b="0" i="1" u="none" strike="noStrike" kern="1200" cap="all" spc="0" normalizeH="0" noProof="0" dirty="0" smtClean="0">
                <a:ln>
                  <a:noFill/>
                </a:ln>
                <a:solidFill>
                  <a:srgbClr val="800000"/>
                </a:solidFill>
                <a:effectLst/>
                <a:uLnTx/>
                <a:uFillTx/>
                <a:latin typeface="+mn-lt"/>
                <a:ea typeface="+mj-ea"/>
                <a:cs typeface="+mj-cs"/>
              </a:rPr>
              <a:t> »</a:t>
            </a:r>
            <a:endParaRPr kumimoji="0" lang="fr-FR" sz="2000" b="0" i="1" u="none" strike="noStrike" kern="1200" cap="all" spc="0" normalizeH="0" baseline="0" noProof="0" dirty="0">
              <a:ln>
                <a:noFill/>
              </a:ln>
              <a:solidFill>
                <a:srgbClr val="800000"/>
              </a:solidFill>
              <a:effectLst/>
              <a:uLnTx/>
              <a:uFillTx/>
              <a:latin typeface="+mn-lt"/>
              <a:ea typeface="+mj-ea"/>
              <a:cs typeface="+mj-cs"/>
            </a:endParaRPr>
          </a:p>
        </p:txBody>
      </p:sp>
      <p:pic>
        <p:nvPicPr>
          <p:cNvPr id="2050" name="Picture 2"/>
          <p:cNvPicPr>
            <a:picLocks noChangeAspect="1" noChangeArrowheads="1"/>
          </p:cNvPicPr>
          <p:nvPr/>
        </p:nvPicPr>
        <p:blipFill>
          <a:blip r:embed="rId3" cstate="print"/>
          <a:srcRect/>
          <a:stretch>
            <a:fillRect/>
          </a:stretch>
        </p:blipFill>
        <p:spPr bwMode="auto">
          <a:xfrm>
            <a:off x="119063" y="980728"/>
            <a:ext cx="8905875" cy="5184576"/>
          </a:xfrm>
          <a:prstGeom prst="rect">
            <a:avLst/>
          </a:prstGeom>
          <a:ln>
            <a:noFill/>
          </a:ln>
          <a:effectLst>
            <a:outerShdw blurRad="292100" dist="139700" dir="2700000" algn="tl" rotWithShape="0">
              <a:srgbClr val="333333">
                <a:alpha val="65000"/>
              </a:srgbClr>
            </a:outerShdw>
          </a:effectLst>
        </p:spPr>
      </p:pic>
      <p:pic>
        <p:nvPicPr>
          <p:cNvPr id="4" name="Picture 2"/>
          <p:cNvPicPr>
            <a:picLocks noChangeAspect="1" noChangeArrowheads="1"/>
          </p:cNvPicPr>
          <p:nvPr/>
        </p:nvPicPr>
        <p:blipFill>
          <a:blip r:embed="rId3" cstate="print"/>
          <a:srcRect l="52426" t="12121" r="4441" b="10606"/>
          <a:stretch>
            <a:fillRect/>
          </a:stretch>
        </p:blipFill>
        <p:spPr bwMode="auto">
          <a:xfrm>
            <a:off x="2314798" y="1799000"/>
            <a:ext cx="3841378" cy="4006264"/>
          </a:xfrm>
          <a:prstGeom prst="rect">
            <a:avLst/>
          </a:prstGeom>
          <a:ln>
            <a:noFill/>
          </a:ln>
          <a:effectLst>
            <a:outerShdw blurRad="292100" dist="139700" dir="2700000" algn="tl" rotWithShape="0">
              <a:srgbClr val="333333">
                <a:alpha val="65000"/>
              </a:srgbClr>
            </a:outerShdw>
          </a:effectLst>
        </p:spPr>
      </p:pic>
      <p:sp>
        <p:nvSpPr>
          <p:cNvPr id="5" name="ZoneTexte 4"/>
          <p:cNvSpPr txBox="1"/>
          <p:nvPr/>
        </p:nvSpPr>
        <p:spPr>
          <a:xfrm>
            <a:off x="7308304" y="6258798"/>
            <a:ext cx="1064715" cy="338554"/>
          </a:xfrm>
          <a:prstGeom prst="rect">
            <a:avLst/>
          </a:prstGeom>
          <a:noFill/>
        </p:spPr>
        <p:txBody>
          <a:bodyPr wrap="none" rtlCol="0">
            <a:spAutoFit/>
          </a:bodyPr>
          <a:lstStyle/>
          <a:p>
            <a:r>
              <a:rPr lang="fr-FR" sz="1600" b="1" dirty="0" smtClean="0"/>
              <a:t>ESC 2025</a:t>
            </a:r>
            <a:endParaRPr lang="fr-FR" sz="1600" b="1" dirty="0"/>
          </a:p>
        </p:txBody>
      </p:sp>
      <p:sp>
        <p:nvSpPr>
          <p:cNvPr id="6" name="ZoneTexte 5"/>
          <p:cNvSpPr txBox="1"/>
          <p:nvPr/>
        </p:nvSpPr>
        <p:spPr>
          <a:xfrm>
            <a:off x="395536" y="413077"/>
            <a:ext cx="7272808" cy="5032147"/>
          </a:xfrm>
          <a:prstGeom prst="rect">
            <a:avLst/>
          </a:prstGeom>
          <a:solidFill>
            <a:schemeClr val="bg1">
              <a:lumMod val="85000"/>
            </a:schemeClr>
          </a:solidFill>
          <a:ln>
            <a:solidFill>
              <a:schemeClr val="bg1"/>
            </a:solidFill>
          </a:ln>
        </p:spPr>
        <p:txBody>
          <a:bodyPr wrap="square" rtlCol="0">
            <a:spAutoFit/>
          </a:bodyPr>
          <a:lstStyle/>
          <a:p>
            <a:r>
              <a:rPr lang="fr-FR" sz="2800" dirty="0" smtClean="0">
                <a:latin typeface="Calibri" pitchFamily="34" charset="0"/>
                <a:cs typeface="Arial" pitchFamily="34" charset="0"/>
              </a:rPr>
              <a:t>Péricardites</a:t>
            </a:r>
          </a:p>
          <a:p>
            <a:pPr>
              <a:spcBef>
                <a:spcPts val="600"/>
              </a:spcBef>
            </a:pPr>
            <a:r>
              <a:rPr lang="fr-FR" sz="2400" dirty="0" smtClean="0">
                <a:latin typeface="Calibri" pitchFamily="34" charset="0"/>
                <a:cs typeface="Arial" pitchFamily="34" charset="0"/>
              </a:rPr>
              <a:t>Syndrome pseudo grippal ou </a:t>
            </a:r>
            <a:r>
              <a:rPr lang="fr-FR" sz="2400" dirty="0" err="1" smtClean="0">
                <a:latin typeface="Calibri" pitchFamily="34" charset="0"/>
                <a:cs typeface="Arial" pitchFamily="34" charset="0"/>
              </a:rPr>
              <a:t>gastro</a:t>
            </a:r>
            <a:r>
              <a:rPr lang="fr-FR" sz="2400" dirty="0" smtClean="0">
                <a:latin typeface="Calibri" pitchFamily="34" charset="0"/>
                <a:cs typeface="Arial" pitchFamily="34" charset="0"/>
              </a:rPr>
              <a:t> entérite récents ou concomitants</a:t>
            </a:r>
          </a:p>
          <a:p>
            <a:r>
              <a:rPr lang="fr-FR" sz="2400" dirty="0" smtClean="0">
                <a:latin typeface="Calibri" pitchFamily="34" charset="0"/>
                <a:cs typeface="Arial" pitchFamily="34" charset="0"/>
              </a:rPr>
              <a:t>Douleur thoracique pseudo angineuse ou de type pleural</a:t>
            </a:r>
          </a:p>
          <a:p>
            <a:r>
              <a:rPr lang="fr-FR" sz="2400" dirty="0" smtClean="0">
                <a:latin typeface="Calibri" pitchFamily="34" charset="0"/>
                <a:cs typeface="Arial" pitchFamily="34" charset="0"/>
              </a:rPr>
              <a:t>Symptômes d’IC droite et signes de constriction</a:t>
            </a:r>
          </a:p>
          <a:p>
            <a:r>
              <a:rPr lang="fr-FR" sz="2400" dirty="0" smtClean="0">
                <a:latin typeface="Calibri" pitchFamily="34" charset="0"/>
                <a:cs typeface="Arial" pitchFamily="34" charset="0"/>
              </a:rPr>
              <a:t>Fièvre</a:t>
            </a:r>
          </a:p>
          <a:p>
            <a:r>
              <a:rPr lang="fr-FR" sz="2400" dirty="0" smtClean="0">
                <a:latin typeface="Calibri" pitchFamily="34" charset="0"/>
                <a:cs typeface="Arial" pitchFamily="34" charset="0"/>
              </a:rPr>
              <a:t>Frottement péricardique</a:t>
            </a:r>
          </a:p>
          <a:p>
            <a:r>
              <a:rPr lang="fr-FR" sz="2400" dirty="0" smtClean="0">
                <a:latin typeface="Calibri" pitchFamily="34" charset="0"/>
                <a:cs typeface="Arial" pitchFamily="34" charset="0"/>
              </a:rPr>
              <a:t>Élévation du taux de CRP</a:t>
            </a:r>
          </a:p>
          <a:p>
            <a:r>
              <a:rPr lang="fr-FR" sz="2400" dirty="0" smtClean="0">
                <a:latin typeface="Calibri" pitchFamily="34" charset="0"/>
                <a:cs typeface="Arial" pitchFamily="34" charset="0"/>
              </a:rPr>
              <a:t>Épanchement péricardique </a:t>
            </a:r>
          </a:p>
          <a:p>
            <a:r>
              <a:rPr lang="fr-FR" sz="2400" dirty="0" smtClean="0">
                <a:latin typeface="Calibri" pitchFamily="34" charset="0"/>
                <a:cs typeface="Arial" pitchFamily="34" charset="0"/>
              </a:rPr>
              <a:t>Épanchement pleural</a:t>
            </a:r>
          </a:p>
          <a:p>
            <a:r>
              <a:rPr lang="fr-FR" sz="2400" dirty="0" smtClean="0">
                <a:latin typeface="Calibri" pitchFamily="34" charset="0"/>
                <a:cs typeface="Arial" pitchFamily="34" charset="0"/>
              </a:rPr>
              <a:t>Polysérite</a:t>
            </a:r>
          </a:p>
          <a:p>
            <a:r>
              <a:rPr lang="fr-FR" sz="2400" dirty="0" smtClean="0">
                <a:latin typeface="Calibri" pitchFamily="34" charset="0"/>
                <a:cs typeface="Arial" pitchFamily="34" charset="0"/>
              </a:rPr>
              <a:t>IRM avec œdème péricardique et/ou rehaussement tardif du </a:t>
            </a:r>
            <a:r>
              <a:rPr lang="fr-FR" sz="2400" dirty="0" err="1" smtClean="0">
                <a:latin typeface="Calibri" pitchFamily="34" charset="0"/>
                <a:cs typeface="Arial" pitchFamily="34" charset="0"/>
              </a:rPr>
              <a:t>gadolinum</a:t>
            </a:r>
            <a:r>
              <a:rPr lang="fr-FR" dirty="0" smtClean="0">
                <a:latin typeface="Calibri" pitchFamily="34" charset="0"/>
                <a:cs typeface="Arial" pitchFamily="34" charset="0"/>
              </a:rPr>
              <a:t> </a:t>
            </a:r>
            <a:endParaRPr lang="fr-FR" dirty="0">
              <a:latin typeface="Calibri" pitchFamily="34" charset="0"/>
              <a:cs typeface="Arial"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6" presetClass="emph" presetSubtype="0" fill="hold" nodeType="withEffect">
                                  <p:stCondLst>
                                    <p:cond delay="0"/>
                                  </p:stCondLst>
                                  <p:childTnLst>
                                    <p:animScale>
                                      <p:cBhvr>
                                        <p:cTn id="8" dur="500" fill="hold"/>
                                        <p:tgtEl>
                                          <p:spTgt spid="4"/>
                                        </p:tgtEl>
                                      </p:cBhvr>
                                      <p:by x="200000" y="200000"/>
                                    </p:animScale>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843" name="Rectangle 3"/>
          <p:cNvSpPr>
            <a:spLocks noGrp="1" noRot="1" noChangeArrowheads="1"/>
          </p:cNvSpPr>
          <p:nvPr>
            <p:ph type="body" idx="4294967295"/>
          </p:nvPr>
        </p:nvSpPr>
        <p:spPr>
          <a:xfrm>
            <a:off x="-72008" y="548680"/>
            <a:ext cx="9252520" cy="5976664"/>
          </a:xfrm>
        </p:spPr>
        <p:txBody>
          <a:bodyPr>
            <a:normAutofit fontScale="92500" lnSpcReduction="20000"/>
          </a:bodyPr>
          <a:lstStyle/>
          <a:p>
            <a:pPr marL="360000" indent="-288000" algn="ctr">
              <a:lnSpc>
                <a:spcPct val="90000"/>
              </a:lnSpc>
              <a:spcBef>
                <a:spcPts val="0"/>
              </a:spcBef>
              <a:spcAft>
                <a:spcPts val="1800"/>
              </a:spcAft>
              <a:buClr>
                <a:srgbClr val="FF9900"/>
              </a:buClr>
              <a:buFont typeface="Arial" charset="0"/>
              <a:buChar char="•"/>
              <a:defRPr/>
            </a:pPr>
            <a:r>
              <a:rPr lang="fr-FR" sz="3600" dirty="0" smtClean="0">
                <a:solidFill>
                  <a:srgbClr val="C00000"/>
                </a:solidFill>
              </a:rPr>
              <a:t>Présentations cliniques</a:t>
            </a:r>
          </a:p>
          <a:p>
            <a:pPr marL="360000" indent="-288000" algn="ctr">
              <a:lnSpc>
                <a:spcPct val="90000"/>
              </a:lnSpc>
              <a:spcBef>
                <a:spcPts val="0"/>
              </a:spcBef>
              <a:spcAft>
                <a:spcPts val="600"/>
              </a:spcAft>
              <a:buClr>
                <a:srgbClr val="FF9900"/>
              </a:buClr>
              <a:buNone/>
              <a:defRPr/>
            </a:pPr>
            <a:r>
              <a:rPr lang="fr-FR" sz="3600" dirty="0" smtClean="0">
                <a:solidFill>
                  <a:srgbClr val="C00000"/>
                </a:solidFill>
              </a:rPr>
              <a:t> </a:t>
            </a:r>
            <a:r>
              <a:rPr lang="fr-FR" dirty="0" smtClean="0">
                <a:solidFill>
                  <a:srgbClr val="C00000"/>
                </a:solidFill>
              </a:rPr>
              <a:t> </a:t>
            </a:r>
            <a:r>
              <a:rPr lang="fr-FR" sz="2800" dirty="0" smtClean="0">
                <a:solidFill>
                  <a:schemeClr val="tx1"/>
                </a:solidFill>
              </a:rPr>
              <a:t>principal symptôme = douleur </a:t>
            </a:r>
            <a:r>
              <a:rPr lang="fr-FR" sz="2800" u="sng" dirty="0" smtClean="0">
                <a:solidFill>
                  <a:schemeClr val="tx1"/>
                </a:solidFill>
              </a:rPr>
              <a:t>péricarditique</a:t>
            </a:r>
            <a:endParaRPr lang="fr-FR" sz="2800" dirty="0" smtClean="0">
              <a:solidFill>
                <a:schemeClr val="tx1"/>
              </a:solidFill>
            </a:endParaRPr>
          </a:p>
          <a:p>
            <a:pPr marL="360000" indent="-288000">
              <a:lnSpc>
                <a:spcPct val="90000"/>
              </a:lnSpc>
              <a:spcBef>
                <a:spcPts val="0"/>
              </a:spcBef>
              <a:buClr>
                <a:srgbClr val="FF9900"/>
              </a:buClr>
              <a:buNone/>
              <a:defRPr/>
            </a:pPr>
            <a:r>
              <a:rPr lang="fr-FR" sz="2800" dirty="0" smtClean="0">
                <a:solidFill>
                  <a:schemeClr val="tx1"/>
                </a:solidFill>
              </a:rPr>
              <a:t> </a:t>
            </a:r>
            <a:endParaRPr lang="fr-FR" sz="2800" dirty="0" smtClean="0"/>
          </a:p>
          <a:p>
            <a:pPr marL="360000" indent="-288000">
              <a:spcBef>
                <a:spcPts val="0"/>
              </a:spcBef>
              <a:buClr>
                <a:srgbClr val="FF9900"/>
              </a:buClr>
              <a:buNone/>
              <a:defRPr/>
            </a:pPr>
            <a:r>
              <a:rPr lang="fr-FR" sz="2000" dirty="0" smtClean="0"/>
              <a:t>   </a:t>
            </a:r>
            <a:r>
              <a:rPr lang="fr-FR" dirty="0" smtClean="0">
                <a:solidFill>
                  <a:srgbClr val="C00000"/>
                </a:solidFill>
              </a:rPr>
              <a:t>- </a:t>
            </a:r>
            <a:r>
              <a:rPr lang="fr-FR" sz="2800" dirty="0" smtClean="0">
                <a:solidFill>
                  <a:schemeClr val="tx1"/>
                </a:solidFill>
              </a:rPr>
              <a:t>péricardite sèche</a:t>
            </a:r>
          </a:p>
          <a:p>
            <a:pPr marL="360000" indent="-288000">
              <a:spcBef>
                <a:spcPts val="0"/>
              </a:spcBef>
              <a:buClr>
                <a:srgbClr val="FF9900"/>
              </a:buClr>
              <a:buNone/>
              <a:defRPr/>
            </a:pPr>
            <a:endParaRPr lang="fr-FR" sz="2800" dirty="0" smtClean="0">
              <a:solidFill>
                <a:schemeClr val="tx1"/>
              </a:solidFill>
            </a:endParaRPr>
          </a:p>
          <a:p>
            <a:pPr marL="360000" indent="-288000">
              <a:spcBef>
                <a:spcPts val="0"/>
              </a:spcBef>
              <a:buClr>
                <a:srgbClr val="FF9900"/>
              </a:buClr>
              <a:buNone/>
              <a:defRPr/>
            </a:pPr>
            <a:r>
              <a:rPr lang="fr-FR" sz="2800" dirty="0" smtClean="0">
                <a:solidFill>
                  <a:schemeClr val="tx1"/>
                </a:solidFill>
              </a:rPr>
              <a:t>  </a:t>
            </a:r>
            <a:r>
              <a:rPr lang="fr-FR" dirty="0" smtClean="0">
                <a:solidFill>
                  <a:srgbClr val="C00000"/>
                </a:solidFill>
              </a:rPr>
              <a:t>-</a:t>
            </a:r>
            <a:r>
              <a:rPr lang="fr-FR" sz="2800" dirty="0" smtClean="0">
                <a:solidFill>
                  <a:schemeClr val="tx1"/>
                </a:solidFill>
              </a:rPr>
              <a:t> péricardite liquidienne (avec épanchement)</a:t>
            </a:r>
          </a:p>
          <a:p>
            <a:pPr marL="360000" indent="-288000">
              <a:spcBef>
                <a:spcPts val="0"/>
              </a:spcBef>
              <a:buClr>
                <a:srgbClr val="FF9900"/>
              </a:buClr>
              <a:buNone/>
              <a:defRPr/>
            </a:pPr>
            <a:endParaRPr lang="fr-FR" sz="2800" dirty="0" smtClean="0">
              <a:solidFill>
                <a:schemeClr val="tx1"/>
              </a:solidFill>
            </a:endParaRPr>
          </a:p>
          <a:p>
            <a:pPr marL="360000" indent="-288000">
              <a:spcBef>
                <a:spcPts val="0"/>
              </a:spcBef>
              <a:buClr>
                <a:srgbClr val="FF9900"/>
              </a:buClr>
              <a:buNone/>
              <a:defRPr/>
            </a:pPr>
            <a:r>
              <a:rPr lang="fr-FR" sz="2000" dirty="0" smtClean="0">
                <a:solidFill>
                  <a:srgbClr val="C00000"/>
                </a:solidFill>
              </a:rPr>
              <a:t>  </a:t>
            </a:r>
            <a:r>
              <a:rPr lang="fr-FR" dirty="0" smtClean="0">
                <a:solidFill>
                  <a:srgbClr val="C00000"/>
                </a:solidFill>
              </a:rPr>
              <a:t>-</a:t>
            </a:r>
            <a:r>
              <a:rPr lang="fr-FR" sz="3600" dirty="0" smtClean="0">
                <a:solidFill>
                  <a:srgbClr val="C00000"/>
                </a:solidFill>
              </a:rPr>
              <a:t> </a:t>
            </a:r>
            <a:r>
              <a:rPr lang="fr-FR" sz="2800" dirty="0" smtClean="0">
                <a:solidFill>
                  <a:schemeClr val="tx1"/>
                </a:solidFill>
              </a:rPr>
              <a:t>péricardite constrictive</a:t>
            </a:r>
          </a:p>
          <a:p>
            <a:pPr marL="360000" indent="-288000">
              <a:spcBef>
                <a:spcPts val="0"/>
              </a:spcBef>
              <a:buClr>
                <a:srgbClr val="FF9900"/>
              </a:buClr>
              <a:buNone/>
              <a:defRPr/>
            </a:pPr>
            <a:endParaRPr lang="fr-FR" sz="2800" dirty="0" smtClean="0">
              <a:solidFill>
                <a:schemeClr val="tx1"/>
              </a:solidFill>
            </a:endParaRPr>
          </a:p>
          <a:p>
            <a:pPr marL="360000" indent="-288000">
              <a:spcBef>
                <a:spcPts val="0"/>
              </a:spcBef>
              <a:buClr>
                <a:srgbClr val="FF9900"/>
              </a:buClr>
              <a:buNone/>
              <a:defRPr/>
            </a:pPr>
            <a:r>
              <a:rPr lang="fr-FR" sz="2000" dirty="0" smtClean="0">
                <a:solidFill>
                  <a:schemeClr val="tx1"/>
                </a:solidFill>
              </a:rPr>
              <a:t>  </a:t>
            </a:r>
            <a:r>
              <a:rPr lang="fr-FR" dirty="0" smtClean="0">
                <a:solidFill>
                  <a:srgbClr val="C00000"/>
                </a:solidFill>
              </a:rPr>
              <a:t>-</a:t>
            </a:r>
            <a:r>
              <a:rPr lang="fr-FR" sz="3600" dirty="0" smtClean="0">
                <a:solidFill>
                  <a:srgbClr val="C00000"/>
                </a:solidFill>
              </a:rPr>
              <a:t> </a:t>
            </a:r>
            <a:r>
              <a:rPr lang="fr-FR" sz="2800" dirty="0" smtClean="0">
                <a:solidFill>
                  <a:schemeClr val="tx1"/>
                </a:solidFill>
              </a:rPr>
              <a:t>péricardite liquidienne constrictive</a:t>
            </a:r>
          </a:p>
          <a:p>
            <a:pPr marL="360000" indent="-288000">
              <a:spcBef>
                <a:spcPts val="0"/>
              </a:spcBef>
              <a:buClr>
                <a:srgbClr val="FF9900"/>
              </a:buClr>
              <a:buNone/>
              <a:defRPr/>
            </a:pPr>
            <a:endParaRPr lang="fr-FR" sz="2800" dirty="0" smtClean="0">
              <a:solidFill>
                <a:schemeClr val="tx1"/>
              </a:solidFill>
            </a:endParaRPr>
          </a:p>
          <a:p>
            <a:pPr marL="360000" indent="-288000">
              <a:spcBef>
                <a:spcPts val="0"/>
              </a:spcBef>
              <a:buClr>
                <a:srgbClr val="FF9900"/>
              </a:buClr>
              <a:buNone/>
              <a:defRPr/>
            </a:pPr>
            <a:r>
              <a:rPr lang="fr-FR" sz="2800" dirty="0" smtClean="0">
                <a:solidFill>
                  <a:schemeClr val="tx1"/>
                </a:solidFill>
              </a:rPr>
              <a:t>  </a:t>
            </a:r>
            <a:r>
              <a:rPr lang="fr-FR" dirty="0" smtClean="0">
                <a:solidFill>
                  <a:srgbClr val="C00000"/>
                </a:solidFill>
              </a:rPr>
              <a:t>- </a:t>
            </a:r>
            <a:r>
              <a:rPr lang="fr-FR" sz="2800" dirty="0" smtClean="0">
                <a:solidFill>
                  <a:schemeClr val="tx1"/>
                </a:solidFill>
              </a:rPr>
              <a:t>péricardite avec tamponnade (triade de Beck)</a:t>
            </a:r>
          </a:p>
          <a:p>
            <a:pPr marL="360000" indent="-288000">
              <a:spcBef>
                <a:spcPts val="0"/>
              </a:spcBef>
              <a:buClr>
                <a:srgbClr val="FF9900"/>
              </a:buClr>
              <a:buNone/>
              <a:defRPr/>
            </a:pPr>
            <a:endParaRPr lang="fr-FR" sz="2800" dirty="0" smtClean="0">
              <a:solidFill>
                <a:schemeClr val="tx1"/>
              </a:solidFill>
            </a:endParaRPr>
          </a:p>
          <a:p>
            <a:pPr marL="360000" indent="-288000">
              <a:spcBef>
                <a:spcPts val="0"/>
              </a:spcBef>
              <a:buClr>
                <a:srgbClr val="FF9900"/>
              </a:buClr>
              <a:buNone/>
              <a:defRPr/>
            </a:pPr>
            <a:r>
              <a:rPr lang="fr-FR" sz="2800" dirty="0" smtClean="0">
                <a:solidFill>
                  <a:schemeClr val="tx1"/>
                </a:solidFill>
              </a:rPr>
              <a:t> </a:t>
            </a:r>
            <a:r>
              <a:rPr lang="fr-FR" dirty="0" smtClean="0">
                <a:solidFill>
                  <a:schemeClr val="tx1"/>
                </a:solidFill>
              </a:rPr>
              <a:t> </a:t>
            </a:r>
            <a:r>
              <a:rPr lang="fr-FR" dirty="0" smtClean="0">
                <a:solidFill>
                  <a:srgbClr val="C00000"/>
                </a:solidFill>
              </a:rPr>
              <a:t>- </a:t>
            </a:r>
            <a:r>
              <a:rPr lang="fr-FR" sz="2800" dirty="0" smtClean="0">
                <a:solidFill>
                  <a:schemeClr val="tx1"/>
                </a:solidFill>
              </a:rPr>
              <a:t>constriction péricardique transitoire</a:t>
            </a:r>
            <a:endParaRPr lang="fr-FR" sz="2000" dirty="0" smtClean="0">
              <a:solidFill>
                <a:schemeClr val="tx1"/>
              </a:solidFill>
            </a:endParaRPr>
          </a:p>
          <a:p>
            <a:pPr marL="720000" lvl="1" indent="-533400">
              <a:lnSpc>
                <a:spcPct val="90000"/>
              </a:lnSpc>
              <a:spcAft>
                <a:spcPts val="1200"/>
              </a:spcAft>
              <a:buClr>
                <a:srgbClr val="FF9900"/>
              </a:buClr>
              <a:buNone/>
              <a:defRPr/>
            </a:pPr>
            <a:r>
              <a:rPr lang="fr-FR" sz="2000" dirty="0" smtClean="0"/>
              <a:t>   </a:t>
            </a:r>
            <a:endParaRPr lang="fr-FR" dirty="0" smtClean="0">
              <a:solidFill>
                <a:schemeClr val="tx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584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1"/>
          <p:cNvSpPr txBox="1">
            <a:spLocks/>
          </p:cNvSpPr>
          <p:nvPr/>
        </p:nvSpPr>
        <p:spPr>
          <a:xfrm>
            <a:off x="304800" y="116632"/>
            <a:ext cx="8686800" cy="648072"/>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sz="2400" b="0" i="0" u="none" strike="noStrike" kern="1200" cap="all" spc="0" normalizeH="0" baseline="0" noProof="0" dirty="0" smtClean="0">
                <a:ln>
                  <a:noFill/>
                </a:ln>
                <a:solidFill>
                  <a:srgbClr val="FF9900"/>
                </a:solidFill>
                <a:effectLst/>
                <a:uLnTx/>
                <a:uFillTx/>
                <a:latin typeface="+mn-lt"/>
                <a:ea typeface="+mj-ea"/>
                <a:cs typeface="+mj-cs"/>
              </a:rPr>
              <a:t>A- PRESENTATIONS CLINIQUES</a:t>
            </a:r>
            <a:br>
              <a:rPr kumimoji="0" lang="fr-FR" sz="2400" b="0" i="0" u="none" strike="noStrike" kern="1200" cap="all" spc="0" normalizeH="0" baseline="0" noProof="0" dirty="0" smtClean="0">
                <a:ln>
                  <a:noFill/>
                </a:ln>
                <a:solidFill>
                  <a:srgbClr val="FF9900"/>
                </a:solidFill>
                <a:effectLst/>
                <a:uLnTx/>
                <a:uFillTx/>
                <a:latin typeface="+mn-lt"/>
                <a:ea typeface="+mj-ea"/>
                <a:cs typeface="+mj-cs"/>
              </a:rPr>
            </a:br>
            <a:r>
              <a:rPr kumimoji="0" lang="fr-FR" sz="2000" b="0" i="1" u="none" strike="noStrike" kern="1200" cap="all" spc="0" normalizeH="0" baseline="0" noProof="0" dirty="0" smtClean="0">
                <a:ln>
                  <a:noFill/>
                </a:ln>
                <a:solidFill>
                  <a:srgbClr val="800000"/>
                </a:solidFill>
                <a:effectLst/>
                <a:uLnTx/>
                <a:uFillTx/>
                <a:latin typeface="+mn-lt"/>
                <a:ea typeface="+mj-ea"/>
                <a:cs typeface="+mj-cs"/>
              </a:rPr>
              <a:t>2- « </a:t>
            </a:r>
            <a:r>
              <a:rPr kumimoji="0" lang="fr-FR" sz="2000" b="0" i="1" u="none" strike="noStrike" kern="1200" cap="none" spc="0" normalizeH="0" baseline="0" noProof="0" dirty="0" smtClean="0">
                <a:ln>
                  <a:noFill/>
                </a:ln>
                <a:solidFill>
                  <a:srgbClr val="800000"/>
                </a:solidFill>
                <a:effectLst/>
                <a:uLnTx/>
                <a:uFillTx/>
                <a:latin typeface="+mn-lt"/>
                <a:ea typeface="+mj-ea"/>
                <a:cs typeface="+mj-cs"/>
              </a:rPr>
              <a:t>Formes </a:t>
            </a:r>
            <a:r>
              <a:rPr lang="fr-FR" sz="2000" i="1" dirty="0" err="1" smtClean="0">
                <a:solidFill>
                  <a:srgbClr val="800000"/>
                </a:solidFill>
                <a:ea typeface="+mj-ea"/>
                <a:cs typeface="+mj-cs"/>
              </a:rPr>
              <a:t>cliniqu</a:t>
            </a:r>
            <a:r>
              <a:rPr kumimoji="0" lang="fr-FR" sz="2000" b="0" i="1" u="none" strike="noStrike" kern="1200" cap="none" spc="0" normalizeH="0" baseline="0" noProof="0" dirty="0" smtClean="0">
                <a:ln>
                  <a:noFill/>
                </a:ln>
                <a:solidFill>
                  <a:srgbClr val="800000"/>
                </a:solidFill>
                <a:effectLst/>
                <a:uLnTx/>
                <a:uFillTx/>
                <a:latin typeface="+mn-lt"/>
                <a:ea typeface="+mj-ea"/>
                <a:cs typeface="+mj-cs"/>
              </a:rPr>
              <a:t>es et complications </a:t>
            </a:r>
            <a:r>
              <a:rPr kumimoji="0" lang="fr-FR" sz="2000" b="0" i="1" u="none" strike="noStrike" kern="1200" cap="all" spc="0" normalizeH="0" baseline="0" noProof="0" dirty="0" smtClean="0">
                <a:ln>
                  <a:noFill/>
                </a:ln>
                <a:solidFill>
                  <a:srgbClr val="800000"/>
                </a:solidFill>
                <a:effectLst/>
                <a:uLnTx/>
                <a:uFillTx/>
                <a:latin typeface="+mn-lt"/>
                <a:ea typeface="+mj-ea"/>
                <a:cs typeface="+mj-cs"/>
              </a:rPr>
              <a:t>»</a:t>
            </a:r>
            <a:endParaRPr kumimoji="0" lang="fr-FR" sz="2400" b="0" i="1" u="none" strike="noStrike" kern="1200" cap="all" spc="0" normalizeH="0" baseline="0" noProof="0" dirty="0">
              <a:ln>
                <a:noFill/>
              </a:ln>
              <a:solidFill>
                <a:srgbClr val="800000"/>
              </a:solidFill>
              <a:effectLst/>
              <a:uLnTx/>
              <a:uFillTx/>
              <a:latin typeface="+mn-lt"/>
              <a:ea typeface="+mj-ea"/>
              <a:cs typeface="+mj-cs"/>
            </a:endParaRPr>
          </a:p>
        </p:txBody>
      </p:sp>
      <p:sp>
        <p:nvSpPr>
          <p:cNvPr id="35843" name="Rectangle 3"/>
          <p:cNvSpPr>
            <a:spLocks noGrp="1" noRot="1" noChangeArrowheads="1"/>
          </p:cNvSpPr>
          <p:nvPr>
            <p:ph type="body" idx="4294967295"/>
          </p:nvPr>
        </p:nvSpPr>
        <p:spPr>
          <a:xfrm>
            <a:off x="-72008" y="548680"/>
            <a:ext cx="9252520" cy="5976664"/>
          </a:xfrm>
        </p:spPr>
        <p:txBody>
          <a:bodyPr>
            <a:normAutofit fontScale="92500" lnSpcReduction="20000"/>
          </a:bodyPr>
          <a:lstStyle/>
          <a:p>
            <a:pPr marL="360000" indent="-288000" algn="ctr">
              <a:lnSpc>
                <a:spcPct val="90000"/>
              </a:lnSpc>
              <a:spcBef>
                <a:spcPts val="0"/>
              </a:spcBef>
              <a:spcAft>
                <a:spcPts val="1800"/>
              </a:spcAft>
              <a:buClr>
                <a:srgbClr val="FF9900"/>
              </a:buClr>
              <a:buNone/>
              <a:defRPr/>
            </a:pPr>
            <a:endParaRPr lang="fr-FR" sz="2800" dirty="0" smtClean="0">
              <a:solidFill>
                <a:schemeClr val="tx1"/>
              </a:solidFill>
            </a:endParaRPr>
          </a:p>
          <a:p>
            <a:pPr marL="360000" indent="-288000" algn="ctr">
              <a:lnSpc>
                <a:spcPct val="90000"/>
              </a:lnSpc>
              <a:spcBef>
                <a:spcPts val="0"/>
              </a:spcBef>
              <a:spcAft>
                <a:spcPts val="1800"/>
              </a:spcAft>
              <a:buClr>
                <a:srgbClr val="FF9900"/>
              </a:buClr>
              <a:buNone/>
              <a:defRPr/>
            </a:pPr>
            <a:r>
              <a:rPr lang="fr-FR" sz="2800" dirty="0" smtClean="0">
                <a:solidFill>
                  <a:schemeClr val="tx1"/>
                </a:solidFill>
              </a:rPr>
              <a:t>principal symptôme = douleur </a:t>
            </a:r>
            <a:r>
              <a:rPr lang="fr-FR" sz="2800" u="sng" dirty="0" smtClean="0">
                <a:solidFill>
                  <a:schemeClr val="tx1"/>
                </a:solidFill>
              </a:rPr>
              <a:t>péricarditique</a:t>
            </a:r>
            <a:endParaRPr lang="fr-FR" sz="2800" dirty="0" smtClean="0">
              <a:solidFill>
                <a:schemeClr val="tx1"/>
              </a:solidFill>
            </a:endParaRPr>
          </a:p>
          <a:p>
            <a:pPr marL="360000" indent="-288000">
              <a:lnSpc>
                <a:spcPct val="90000"/>
              </a:lnSpc>
              <a:spcBef>
                <a:spcPts val="0"/>
              </a:spcBef>
              <a:buClr>
                <a:srgbClr val="FF9900"/>
              </a:buClr>
              <a:buNone/>
              <a:defRPr/>
            </a:pPr>
            <a:r>
              <a:rPr lang="fr-FR" sz="2800" dirty="0" smtClean="0">
                <a:solidFill>
                  <a:schemeClr val="tx1"/>
                </a:solidFill>
              </a:rPr>
              <a:t> </a:t>
            </a:r>
            <a:endParaRPr lang="fr-FR" sz="2800" dirty="0" smtClean="0"/>
          </a:p>
          <a:p>
            <a:pPr marL="360000" indent="-288000">
              <a:spcBef>
                <a:spcPts val="0"/>
              </a:spcBef>
              <a:buClr>
                <a:srgbClr val="FF9900"/>
              </a:buClr>
              <a:buNone/>
              <a:defRPr/>
            </a:pPr>
            <a:r>
              <a:rPr lang="fr-FR" sz="2000" dirty="0" smtClean="0"/>
              <a:t>   </a:t>
            </a:r>
            <a:r>
              <a:rPr lang="fr-FR" dirty="0" smtClean="0">
                <a:solidFill>
                  <a:srgbClr val="C00000"/>
                </a:solidFill>
              </a:rPr>
              <a:t>- </a:t>
            </a:r>
            <a:r>
              <a:rPr lang="fr-FR" sz="2800" dirty="0" smtClean="0">
                <a:solidFill>
                  <a:schemeClr val="tx1"/>
                </a:solidFill>
              </a:rPr>
              <a:t>péricardite sèche</a:t>
            </a:r>
          </a:p>
          <a:p>
            <a:pPr marL="360000" indent="-288000">
              <a:spcBef>
                <a:spcPts val="0"/>
              </a:spcBef>
              <a:buClr>
                <a:srgbClr val="FF9900"/>
              </a:buClr>
              <a:buNone/>
              <a:defRPr/>
            </a:pPr>
            <a:endParaRPr lang="fr-FR" sz="2800" dirty="0" smtClean="0">
              <a:solidFill>
                <a:schemeClr val="tx1"/>
              </a:solidFill>
            </a:endParaRPr>
          </a:p>
          <a:p>
            <a:pPr marL="360000" indent="-288000">
              <a:spcBef>
                <a:spcPts val="0"/>
              </a:spcBef>
              <a:buClr>
                <a:srgbClr val="FF9900"/>
              </a:buClr>
              <a:buNone/>
              <a:defRPr/>
            </a:pPr>
            <a:r>
              <a:rPr lang="fr-FR" sz="2800" dirty="0" smtClean="0">
                <a:solidFill>
                  <a:schemeClr val="tx1"/>
                </a:solidFill>
              </a:rPr>
              <a:t>  </a:t>
            </a:r>
            <a:r>
              <a:rPr lang="fr-FR" dirty="0" smtClean="0">
                <a:solidFill>
                  <a:srgbClr val="C00000"/>
                </a:solidFill>
              </a:rPr>
              <a:t>-</a:t>
            </a:r>
            <a:r>
              <a:rPr lang="fr-FR" sz="2800" dirty="0" smtClean="0">
                <a:solidFill>
                  <a:schemeClr val="tx1"/>
                </a:solidFill>
              </a:rPr>
              <a:t> péricardite liquidienne (avec épanchement)</a:t>
            </a:r>
          </a:p>
          <a:p>
            <a:pPr marL="360000" indent="-288000">
              <a:spcBef>
                <a:spcPts val="0"/>
              </a:spcBef>
              <a:buClr>
                <a:srgbClr val="FF9900"/>
              </a:buClr>
              <a:buNone/>
              <a:defRPr/>
            </a:pPr>
            <a:endParaRPr lang="fr-FR" sz="2800" dirty="0" smtClean="0">
              <a:solidFill>
                <a:schemeClr val="tx1"/>
              </a:solidFill>
            </a:endParaRPr>
          </a:p>
          <a:p>
            <a:pPr marL="360000" indent="-288000">
              <a:spcBef>
                <a:spcPts val="0"/>
              </a:spcBef>
              <a:buClr>
                <a:srgbClr val="FF9900"/>
              </a:buClr>
              <a:buNone/>
              <a:defRPr/>
            </a:pPr>
            <a:r>
              <a:rPr lang="fr-FR" sz="2000" dirty="0" smtClean="0">
                <a:solidFill>
                  <a:srgbClr val="C00000"/>
                </a:solidFill>
              </a:rPr>
              <a:t>  </a:t>
            </a:r>
            <a:r>
              <a:rPr lang="fr-FR" dirty="0" smtClean="0">
                <a:solidFill>
                  <a:srgbClr val="C00000"/>
                </a:solidFill>
              </a:rPr>
              <a:t>-</a:t>
            </a:r>
            <a:r>
              <a:rPr lang="fr-FR" sz="3600" dirty="0" smtClean="0">
                <a:solidFill>
                  <a:srgbClr val="C00000"/>
                </a:solidFill>
              </a:rPr>
              <a:t> </a:t>
            </a:r>
            <a:r>
              <a:rPr lang="fr-FR" sz="2800" dirty="0" smtClean="0">
                <a:solidFill>
                  <a:schemeClr val="tx1"/>
                </a:solidFill>
              </a:rPr>
              <a:t>péricardite constrictive</a:t>
            </a:r>
          </a:p>
          <a:p>
            <a:pPr marL="360000" indent="-288000">
              <a:spcBef>
                <a:spcPts val="0"/>
              </a:spcBef>
              <a:buClr>
                <a:srgbClr val="FF9900"/>
              </a:buClr>
              <a:buNone/>
              <a:defRPr/>
            </a:pPr>
            <a:endParaRPr lang="fr-FR" sz="2800" dirty="0" smtClean="0">
              <a:solidFill>
                <a:schemeClr val="tx1"/>
              </a:solidFill>
            </a:endParaRPr>
          </a:p>
          <a:p>
            <a:pPr marL="360000" indent="-288000">
              <a:spcBef>
                <a:spcPts val="0"/>
              </a:spcBef>
              <a:buClr>
                <a:srgbClr val="FF9900"/>
              </a:buClr>
              <a:buNone/>
              <a:defRPr/>
            </a:pPr>
            <a:r>
              <a:rPr lang="fr-FR" sz="2000" dirty="0" smtClean="0">
                <a:solidFill>
                  <a:schemeClr val="tx1"/>
                </a:solidFill>
              </a:rPr>
              <a:t>  </a:t>
            </a:r>
            <a:r>
              <a:rPr lang="fr-FR" dirty="0" smtClean="0">
                <a:solidFill>
                  <a:srgbClr val="C00000"/>
                </a:solidFill>
              </a:rPr>
              <a:t>-</a:t>
            </a:r>
            <a:r>
              <a:rPr lang="fr-FR" sz="3600" dirty="0" smtClean="0">
                <a:solidFill>
                  <a:srgbClr val="C00000"/>
                </a:solidFill>
              </a:rPr>
              <a:t> </a:t>
            </a:r>
            <a:r>
              <a:rPr lang="fr-FR" sz="2800" dirty="0" smtClean="0">
                <a:solidFill>
                  <a:schemeClr val="tx1"/>
                </a:solidFill>
              </a:rPr>
              <a:t>péricardite liquidienne constrictive</a:t>
            </a:r>
          </a:p>
          <a:p>
            <a:pPr marL="360000" indent="-288000">
              <a:spcBef>
                <a:spcPts val="0"/>
              </a:spcBef>
              <a:buClr>
                <a:srgbClr val="FF9900"/>
              </a:buClr>
              <a:buNone/>
              <a:defRPr/>
            </a:pPr>
            <a:endParaRPr lang="fr-FR" sz="2800" dirty="0" smtClean="0">
              <a:solidFill>
                <a:schemeClr val="tx1"/>
              </a:solidFill>
            </a:endParaRPr>
          </a:p>
          <a:p>
            <a:pPr marL="360000" indent="-288000">
              <a:spcBef>
                <a:spcPts val="0"/>
              </a:spcBef>
              <a:buClr>
                <a:srgbClr val="FF9900"/>
              </a:buClr>
              <a:buNone/>
              <a:defRPr/>
            </a:pPr>
            <a:r>
              <a:rPr lang="fr-FR" sz="2800" dirty="0" smtClean="0">
                <a:solidFill>
                  <a:schemeClr val="tx1"/>
                </a:solidFill>
              </a:rPr>
              <a:t>  </a:t>
            </a:r>
            <a:r>
              <a:rPr lang="fr-FR" dirty="0" smtClean="0">
                <a:solidFill>
                  <a:srgbClr val="C00000"/>
                </a:solidFill>
              </a:rPr>
              <a:t>- </a:t>
            </a:r>
            <a:r>
              <a:rPr lang="fr-FR" sz="2800" dirty="0" smtClean="0">
                <a:solidFill>
                  <a:schemeClr val="tx1"/>
                </a:solidFill>
              </a:rPr>
              <a:t>péricardite avec tamponnade (triade de Beck)</a:t>
            </a:r>
          </a:p>
          <a:p>
            <a:pPr marL="360000" indent="-288000">
              <a:spcBef>
                <a:spcPts val="0"/>
              </a:spcBef>
              <a:buClr>
                <a:srgbClr val="FF9900"/>
              </a:buClr>
              <a:buNone/>
              <a:defRPr/>
            </a:pPr>
            <a:endParaRPr lang="fr-FR" sz="2800" dirty="0" smtClean="0">
              <a:solidFill>
                <a:schemeClr val="tx1"/>
              </a:solidFill>
            </a:endParaRPr>
          </a:p>
          <a:p>
            <a:pPr marL="360000" indent="-288000">
              <a:spcBef>
                <a:spcPts val="0"/>
              </a:spcBef>
              <a:buClr>
                <a:srgbClr val="FF9900"/>
              </a:buClr>
              <a:buNone/>
              <a:defRPr/>
            </a:pPr>
            <a:r>
              <a:rPr lang="fr-FR" sz="2800" dirty="0" smtClean="0">
                <a:solidFill>
                  <a:schemeClr val="tx1"/>
                </a:solidFill>
              </a:rPr>
              <a:t> </a:t>
            </a:r>
            <a:r>
              <a:rPr lang="fr-FR" dirty="0" smtClean="0">
                <a:solidFill>
                  <a:schemeClr val="tx1"/>
                </a:solidFill>
              </a:rPr>
              <a:t> </a:t>
            </a:r>
            <a:r>
              <a:rPr lang="fr-FR" dirty="0" smtClean="0">
                <a:solidFill>
                  <a:srgbClr val="C00000"/>
                </a:solidFill>
              </a:rPr>
              <a:t>- </a:t>
            </a:r>
            <a:r>
              <a:rPr lang="fr-FR" sz="2800" dirty="0" smtClean="0">
                <a:solidFill>
                  <a:schemeClr val="tx1"/>
                </a:solidFill>
              </a:rPr>
              <a:t>constriction péricardique transitoire</a:t>
            </a:r>
            <a:endParaRPr lang="fr-FR" sz="2000" dirty="0" smtClean="0">
              <a:solidFill>
                <a:schemeClr val="tx1"/>
              </a:solidFill>
            </a:endParaRPr>
          </a:p>
          <a:p>
            <a:pPr marL="720000" lvl="1" indent="-533400">
              <a:lnSpc>
                <a:spcPct val="90000"/>
              </a:lnSpc>
              <a:spcAft>
                <a:spcPts val="1200"/>
              </a:spcAft>
              <a:buClr>
                <a:srgbClr val="FF9900"/>
              </a:buClr>
              <a:buNone/>
              <a:defRPr/>
            </a:pPr>
            <a:r>
              <a:rPr lang="fr-FR" sz="2000" dirty="0" smtClean="0"/>
              <a:t>   </a:t>
            </a:r>
            <a:endParaRPr lang="fr-FR" dirty="0" smtClean="0">
              <a:solidFill>
                <a:schemeClr val="tx1"/>
              </a:solidFill>
            </a:endParaRPr>
          </a:p>
        </p:txBody>
      </p:sp>
      <p:pic>
        <p:nvPicPr>
          <p:cNvPr id="8" name="Picture 2"/>
          <p:cNvPicPr>
            <a:picLocks noChangeAspect="1" noChangeArrowheads="1"/>
          </p:cNvPicPr>
          <p:nvPr/>
        </p:nvPicPr>
        <p:blipFill>
          <a:blip r:embed="rId3" cstate="print">
            <a:lum bright="-10000" contrast="10000"/>
          </a:blip>
          <a:srcRect/>
          <a:stretch>
            <a:fillRect/>
          </a:stretch>
        </p:blipFill>
        <p:spPr bwMode="auto">
          <a:xfrm>
            <a:off x="797195" y="-1528"/>
            <a:ext cx="7555699" cy="6886912"/>
          </a:xfrm>
          <a:prstGeom prst="rect">
            <a:avLst/>
          </a:prstGeom>
          <a:ln>
            <a:noFill/>
          </a:ln>
          <a:effectLst>
            <a:outerShdw blurRad="292100" dist="139700" dir="2700000" algn="tl" rotWithShape="0">
              <a:srgbClr val="333333">
                <a:alpha val="65000"/>
              </a:srgbClr>
            </a:outerShdw>
          </a:effectLst>
        </p:spPr>
      </p:pic>
      <p:pic>
        <p:nvPicPr>
          <p:cNvPr id="9" name="Picture 2"/>
          <p:cNvPicPr>
            <a:picLocks noChangeAspect="1" noChangeArrowheads="1"/>
          </p:cNvPicPr>
          <p:nvPr/>
        </p:nvPicPr>
        <p:blipFill>
          <a:blip r:embed="rId4" cstate="print">
            <a:lum contrast="10000"/>
          </a:blip>
          <a:srcRect/>
          <a:stretch>
            <a:fillRect/>
          </a:stretch>
        </p:blipFill>
        <p:spPr bwMode="auto">
          <a:xfrm>
            <a:off x="1046298" y="52210"/>
            <a:ext cx="6370492" cy="6833338"/>
          </a:xfrm>
          <a:prstGeom prst="rect">
            <a:avLst/>
          </a:prstGeom>
          <a:ln>
            <a:noFill/>
          </a:ln>
          <a:effectLst>
            <a:outerShdw blurRad="292100" dist="139700" dir="2700000" algn="tl" rotWithShape="0">
              <a:srgbClr val="333333">
                <a:alpha val="65000"/>
              </a:srgbClr>
            </a:outerShdw>
          </a:effectLst>
        </p:spPr>
      </p:pic>
      <p:pic>
        <p:nvPicPr>
          <p:cNvPr id="10" name="Picture 2"/>
          <p:cNvPicPr>
            <a:picLocks noChangeAspect="1" noChangeArrowheads="1"/>
          </p:cNvPicPr>
          <p:nvPr/>
        </p:nvPicPr>
        <p:blipFill>
          <a:blip r:embed="rId5" cstate="print"/>
          <a:srcRect/>
          <a:stretch>
            <a:fillRect/>
          </a:stretch>
        </p:blipFill>
        <p:spPr>
          <a:xfrm>
            <a:off x="911306" y="152785"/>
            <a:ext cx="7320205" cy="6444567"/>
          </a:xfrm>
          <a:prstGeom prst="rect">
            <a:avLst/>
          </a:prstGeom>
          <a:effectLst>
            <a:outerShdw blurRad="292100" dist="139700" dir="2700000" algn="tl" rotWithShape="0">
              <a:srgbClr val="333333">
                <a:alpha val="65000"/>
              </a:srgbClr>
            </a:outerShdw>
          </a:effectLst>
        </p:spPr>
      </p:pic>
      <p:pic>
        <p:nvPicPr>
          <p:cNvPr id="11" name="Picture 2"/>
          <p:cNvPicPr>
            <a:picLocks noChangeAspect="1" noChangeArrowheads="1"/>
          </p:cNvPicPr>
          <p:nvPr/>
        </p:nvPicPr>
        <p:blipFill>
          <a:blip r:embed="rId6" cstate="print"/>
          <a:srcRect/>
          <a:stretch>
            <a:fillRect/>
          </a:stretch>
        </p:blipFill>
        <p:spPr bwMode="auto">
          <a:xfrm>
            <a:off x="539551" y="104722"/>
            <a:ext cx="8227497" cy="6577593"/>
          </a:xfrm>
          <a:prstGeom prst="rect">
            <a:avLst/>
          </a:prstGeom>
          <a:noFill/>
          <a:ln w="9525">
            <a:noFill/>
            <a:miter lim="800000"/>
            <a:headEnd/>
            <a:tailEnd/>
          </a:ln>
        </p:spPr>
      </p:pic>
      <p:graphicFrame>
        <p:nvGraphicFramePr>
          <p:cNvPr id="12" name="Espace réservé du contenu 3"/>
          <p:cNvGraphicFramePr>
            <a:graphicFrameLocks/>
          </p:cNvGraphicFramePr>
          <p:nvPr/>
        </p:nvGraphicFramePr>
        <p:xfrm>
          <a:off x="542684" y="469214"/>
          <a:ext cx="7953532" cy="5555662"/>
        </p:xfrm>
        <a:graphic>
          <a:graphicData uri="http://schemas.openxmlformats.org/drawingml/2006/table">
            <a:tbl>
              <a:tblPr firstRow="1" bandRow="1">
                <a:tableStyleId>{3C2FFA5D-87B4-456A-9821-1D502468CF0F}</a:tableStyleId>
              </a:tblPr>
              <a:tblGrid>
                <a:gridCol w="3976766"/>
                <a:gridCol w="3976766"/>
              </a:tblGrid>
              <a:tr h="1002928">
                <a:tc gridSpan="2">
                  <a:txBody>
                    <a:bodyPr/>
                    <a:lstStyle/>
                    <a:p>
                      <a:pPr algn="ctr">
                        <a:buClr>
                          <a:srgbClr val="FA8006"/>
                        </a:buClr>
                        <a:buFontTx/>
                        <a:buBlip>
                          <a:blip r:embed="rId7"/>
                        </a:buBlip>
                      </a:pPr>
                      <a:r>
                        <a:rPr lang="fr-FR" sz="2400" dirty="0" smtClean="0"/>
                        <a:t>  CLASSIFICATION</a:t>
                      </a:r>
                      <a:r>
                        <a:rPr lang="fr-FR" sz="2400" baseline="0" dirty="0" smtClean="0"/>
                        <a:t> DES EPANCHEMENTS PERICARDIQUES</a:t>
                      </a:r>
                      <a:endParaRPr lang="fr-FR" sz="2400" dirty="0">
                        <a:solidFill>
                          <a:srgbClr val="FA8006"/>
                        </a:solidFill>
                      </a:endParaRPr>
                    </a:p>
                  </a:txBody>
                  <a:tcPr/>
                </a:tc>
                <a:tc hMerge="1">
                  <a:txBody>
                    <a:bodyPr/>
                    <a:lstStyle/>
                    <a:p>
                      <a:endParaRPr lang="fr-FR" dirty="0"/>
                    </a:p>
                  </a:txBody>
                  <a:tcPr/>
                </a:tc>
              </a:tr>
              <a:tr h="1273439">
                <a:tc>
                  <a:txBody>
                    <a:bodyPr/>
                    <a:lstStyle/>
                    <a:p>
                      <a:r>
                        <a:rPr lang="fr-FR" dirty="0" smtClean="0"/>
                        <a:t>Evolution</a:t>
                      </a:r>
                      <a:endParaRPr lang="fr-FR" dirty="0"/>
                    </a:p>
                  </a:txBody>
                  <a:tcPr/>
                </a:tc>
                <a:tc>
                  <a:txBody>
                    <a:bodyPr/>
                    <a:lstStyle/>
                    <a:p>
                      <a:r>
                        <a:rPr lang="fr-FR" sz="1600" dirty="0" smtClean="0"/>
                        <a:t>Aiguë</a:t>
                      </a:r>
                    </a:p>
                    <a:p>
                      <a:r>
                        <a:rPr lang="fr-FR" sz="1600" dirty="0" smtClean="0"/>
                        <a:t>Subaiguë</a:t>
                      </a:r>
                    </a:p>
                    <a:p>
                      <a:r>
                        <a:rPr lang="fr-FR" sz="1600" dirty="0" smtClean="0"/>
                        <a:t>Chronique (&gt;3 mois)</a:t>
                      </a:r>
                      <a:endParaRPr lang="fr-FR" sz="1600" i="1" dirty="0"/>
                    </a:p>
                  </a:txBody>
                  <a:tcPr/>
                </a:tc>
              </a:tr>
              <a:tr h="1273439">
                <a:tc>
                  <a:txBody>
                    <a:bodyPr/>
                    <a:lstStyle/>
                    <a:p>
                      <a:r>
                        <a:rPr lang="fr-FR" dirty="0" smtClean="0"/>
                        <a:t>Abondance</a:t>
                      </a:r>
                      <a:endParaRPr lang="fr-FR" b="1" dirty="0"/>
                    </a:p>
                  </a:txBody>
                  <a:tcPr/>
                </a:tc>
                <a:tc>
                  <a:txBody>
                    <a:bodyPr/>
                    <a:lstStyle/>
                    <a:p>
                      <a:r>
                        <a:rPr lang="fr-FR" sz="1600" dirty="0" smtClean="0"/>
                        <a:t>Faible         &lt; 10 mm</a:t>
                      </a:r>
                    </a:p>
                    <a:p>
                      <a:r>
                        <a:rPr lang="fr-FR" sz="1600" dirty="0" smtClean="0"/>
                        <a:t>Modérée    10-20 mm</a:t>
                      </a:r>
                    </a:p>
                    <a:p>
                      <a:r>
                        <a:rPr lang="fr-FR" sz="1600" dirty="0" smtClean="0"/>
                        <a:t>Abondant</a:t>
                      </a:r>
                      <a:r>
                        <a:rPr lang="fr-FR" sz="1600" baseline="0" dirty="0" smtClean="0"/>
                        <a:t>    &gt; 20 mm</a:t>
                      </a:r>
                      <a:endParaRPr lang="fr-FR" sz="1600" i="1" dirty="0"/>
                    </a:p>
                  </a:txBody>
                  <a:tcPr/>
                </a:tc>
              </a:tr>
              <a:tr h="1002928">
                <a:tc>
                  <a:txBody>
                    <a:bodyPr/>
                    <a:lstStyle/>
                    <a:p>
                      <a:r>
                        <a:rPr lang="fr-FR" dirty="0" smtClean="0"/>
                        <a:t>Localisation</a:t>
                      </a:r>
                      <a:endParaRPr lang="fr-FR" dirty="0"/>
                    </a:p>
                  </a:txBody>
                  <a:tcPr/>
                </a:tc>
                <a:tc>
                  <a:txBody>
                    <a:bodyPr/>
                    <a:lstStyle/>
                    <a:p>
                      <a:r>
                        <a:rPr lang="fr-FR" sz="1600" dirty="0" smtClean="0"/>
                        <a:t>Circonférentiel</a:t>
                      </a:r>
                    </a:p>
                    <a:p>
                      <a:r>
                        <a:rPr lang="fr-FR" sz="1600" dirty="0" smtClean="0"/>
                        <a:t>Localisé</a:t>
                      </a:r>
                      <a:endParaRPr lang="fr-FR" sz="1600" i="1" dirty="0"/>
                    </a:p>
                  </a:txBody>
                  <a:tcPr/>
                </a:tc>
              </a:tr>
              <a:tr h="1002928">
                <a:tc>
                  <a:txBody>
                    <a:bodyPr/>
                    <a:lstStyle/>
                    <a:p>
                      <a:r>
                        <a:rPr lang="fr-FR" dirty="0" smtClean="0"/>
                        <a:t>Composition</a:t>
                      </a:r>
                      <a:endParaRPr lang="fr-FR" b="1" dirty="0"/>
                    </a:p>
                  </a:txBody>
                  <a:tcPr/>
                </a:tc>
                <a:tc>
                  <a:txBody>
                    <a:bodyPr/>
                    <a:lstStyle/>
                    <a:p>
                      <a:r>
                        <a:rPr lang="fr-FR" sz="1600" dirty="0" smtClean="0"/>
                        <a:t>Transsudat</a:t>
                      </a:r>
                    </a:p>
                    <a:p>
                      <a:r>
                        <a:rPr lang="fr-FR" sz="1600" dirty="0" smtClean="0"/>
                        <a:t>Exsudat </a:t>
                      </a:r>
                      <a:endParaRPr lang="fr-FR" sz="1600" i="1" dirty="0"/>
                    </a:p>
                  </a:txBody>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5843">
                                            <p:txEl>
                                              <p:pRg st="14" end="1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2"/>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8"/>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1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10"/>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p:cNvSpPr>
            <a:spLocks noGrp="1"/>
          </p:cNvSpPr>
          <p:nvPr>
            <p:ph type="title"/>
          </p:nvPr>
        </p:nvSpPr>
        <p:spPr>
          <a:xfrm>
            <a:off x="304800" y="142528"/>
            <a:ext cx="8686800" cy="838200"/>
          </a:xfrm>
        </p:spPr>
        <p:txBody>
          <a:bodyPr/>
          <a:lstStyle/>
          <a:p>
            <a:pPr algn="ctr">
              <a:defRPr/>
            </a:pPr>
            <a:r>
              <a:rPr lang="fr-FR" sz="2800" dirty="0" smtClean="0">
                <a:solidFill>
                  <a:srgbClr val="800000"/>
                </a:solidFill>
                <a:effectLst/>
              </a:rPr>
              <a:t> </a:t>
            </a:r>
            <a:r>
              <a:rPr lang="fr-FR" sz="2400" dirty="0" smtClean="0">
                <a:solidFill>
                  <a:schemeClr val="tx1"/>
                </a:solidFill>
                <a:effectLst/>
              </a:rPr>
              <a:t>LA PERICARDITE CHRONIQUE CONSTRICTIVE</a:t>
            </a:r>
            <a:endParaRPr lang="fr-FR" sz="2800" dirty="0">
              <a:solidFill>
                <a:schemeClr val="tx1"/>
              </a:solidFill>
              <a:effectLst/>
            </a:endParaRPr>
          </a:p>
        </p:txBody>
      </p:sp>
      <p:sp>
        <p:nvSpPr>
          <p:cNvPr id="61443" name="Espace réservé du contenu 2"/>
          <p:cNvSpPr>
            <a:spLocks noGrp="1"/>
          </p:cNvSpPr>
          <p:nvPr>
            <p:ph idx="1"/>
          </p:nvPr>
        </p:nvSpPr>
        <p:spPr>
          <a:xfrm>
            <a:off x="44450" y="981075"/>
            <a:ext cx="8991600" cy="5472113"/>
          </a:xfrm>
        </p:spPr>
        <p:txBody>
          <a:bodyPr>
            <a:normAutofit/>
          </a:bodyPr>
          <a:lstStyle/>
          <a:p>
            <a:pPr>
              <a:buFont typeface="Wingdings" pitchFamily="2" charset="2"/>
              <a:buChar char="Ø"/>
              <a:defRPr/>
            </a:pPr>
            <a:r>
              <a:rPr lang="fr-FR" sz="2800" dirty="0" smtClean="0">
                <a:solidFill>
                  <a:srgbClr val="FF0000"/>
                </a:solidFill>
                <a:latin typeface="+mj-lt"/>
              </a:rPr>
              <a:t>Définition: </a:t>
            </a:r>
            <a:r>
              <a:rPr lang="fr-FR" sz="2400" dirty="0" smtClean="0">
                <a:solidFill>
                  <a:schemeClr val="tx1"/>
                </a:solidFill>
                <a:latin typeface="+mj-lt"/>
              </a:rPr>
              <a:t>adiastolie chronique. Rare</a:t>
            </a:r>
            <a:endParaRPr lang="fr-FR" sz="2800" dirty="0" smtClean="0">
              <a:solidFill>
                <a:schemeClr val="tx1"/>
              </a:solidFill>
              <a:latin typeface="+mj-lt"/>
            </a:endParaRPr>
          </a:p>
          <a:p>
            <a:pPr>
              <a:buFont typeface="Wingdings" pitchFamily="2" charset="2"/>
              <a:buChar char="Ø"/>
              <a:defRPr/>
            </a:pPr>
            <a:r>
              <a:rPr lang="fr-FR" sz="2800" dirty="0" smtClean="0">
                <a:solidFill>
                  <a:srgbClr val="FF0000"/>
                </a:solidFill>
                <a:latin typeface="+mj-lt"/>
              </a:rPr>
              <a:t>Etiologies:</a:t>
            </a:r>
            <a:r>
              <a:rPr lang="fr-FR" sz="2800" dirty="0" smtClean="0">
                <a:solidFill>
                  <a:schemeClr val="tx1"/>
                </a:solidFill>
                <a:latin typeface="+mj-lt"/>
              </a:rPr>
              <a:t> </a:t>
            </a:r>
            <a:r>
              <a:rPr lang="fr-FR" sz="2400" u="sng" dirty="0" smtClean="0">
                <a:solidFill>
                  <a:schemeClr val="tx1"/>
                </a:solidFill>
                <a:latin typeface="+mj-lt"/>
              </a:rPr>
              <a:t>toutes</a:t>
            </a:r>
            <a:r>
              <a:rPr lang="fr-FR" sz="2400" dirty="0" smtClean="0">
                <a:solidFill>
                  <a:schemeClr val="tx1"/>
                </a:solidFill>
                <a:latin typeface="+mj-lt"/>
              </a:rPr>
              <a:t> mais les plus courantes sont: </a:t>
            </a:r>
          </a:p>
          <a:p>
            <a:pPr>
              <a:buFont typeface="Wingdings 2" pitchFamily="18" charset="2"/>
              <a:buNone/>
              <a:defRPr/>
            </a:pPr>
            <a:r>
              <a:rPr lang="fr-FR" sz="2400" dirty="0" smtClean="0">
                <a:solidFill>
                  <a:schemeClr val="tx1"/>
                </a:solidFill>
                <a:latin typeface="+mj-lt"/>
              </a:rPr>
              <a:t>                      </a:t>
            </a:r>
            <a:r>
              <a:rPr lang="fr-FR" sz="2400" dirty="0" smtClean="0">
                <a:latin typeface="+mj-lt"/>
              </a:rPr>
              <a:t>infections, radiothérapie, chirurgie</a:t>
            </a:r>
          </a:p>
          <a:p>
            <a:pPr>
              <a:buFont typeface="Wingdings" pitchFamily="2" charset="2"/>
              <a:buChar char="Ø"/>
              <a:defRPr/>
            </a:pPr>
            <a:r>
              <a:rPr lang="fr-FR" sz="2800" dirty="0" err="1" smtClean="0">
                <a:solidFill>
                  <a:srgbClr val="FF0000"/>
                </a:solidFill>
                <a:latin typeface="+mj-lt"/>
              </a:rPr>
              <a:t>Anapath</a:t>
            </a:r>
            <a:r>
              <a:rPr lang="fr-FR" sz="2800" dirty="0" smtClean="0">
                <a:solidFill>
                  <a:srgbClr val="FF0000"/>
                </a:solidFill>
                <a:latin typeface="+mj-lt"/>
              </a:rPr>
              <a:t>:</a:t>
            </a:r>
            <a:r>
              <a:rPr lang="fr-FR" sz="2800" dirty="0" smtClean="0">
                <a:solidFill>
                  <a:schemeClr val="tx1"/>
                </a:solidFill>
                <a:latin typeface="+mj-lt"/>
              </a:rPr>
              <a:t> </a:t>
            </a:r>
            <a:r>
              <a:rPr lang="fr-FR" sz="2400" dirty="0" smtClean="0">
                <a:solidFill>
                  <a:schemeClr val="tx1"/>
                </a:solidFill>
                <a:latin typeface="+mj-lt"/>
              </a:rPr>
              <a:t>péricarde fibreux cicatriciel et épais</a:t>
            </a:r>
          </a:p>
          <a:p>
            <a:pPr>
              <a:buFont typeface="Wingdings 2" pitchFamily="18" charset="2"/>
              <a:buNone/>
              <a:defRPr/>
            </a:pPr>
            <a:r>
              <a:rPr lang="fr-FR" sz="2400" dirty="0" smtClean="0">
                <a:solidFill>
                  <a:schemeClr val="tx1"/>
                </a:solidFill>
                <a:latin typeface="+mj-lt"/>
              </a:rPr>
              <a:t>                    A long terme: calcifications </a:t>
            </a:r>
            <a:r>
              <a:rPr lang="fr-FR" sz="2400" dirty="0" smtClean="0">
                <a:solidFill>
                  <a:schemeClr val="tx1"/>
                </a:solidFill>
                <a:latin typeface="+mj-lt"/>
                <a:sym typeface="Symbol"/>
              </a:rPr>
              <a:t></a:t>
            </a:r>
            <a:r>
              <a:rPr lang="fr-FR" sz="2400" dirty="0" smtClean="0">
                <a:solidFill>
                  <a:schemeClr val="tx1"/>
                </a:solidFill>
                <a:latin typeface="+mj-lt"/>
              </a:rPr>
              <a:t> péricarde rigide</a:t>
            </a:r>
          </a:p>
          <a:p>
            <a:pPr marL="0">
              <a:lnSpc>
                <a:spcPct val="150000"/>
              </a:lnSpc>
              <a:spcBef>
                <a:spcPts val="0"/>
              </a:spcBef>
              <a:buFont typeface="Wingdings" pitchFamily="2" charset="2"/>
              <a:buChar char="Ø"/>
              <a:defRPr/>
            </a:pPr>
            <a:r>
              <a:rPr lang="fr-FR" sz="2800" dirty="0" err="1" smtClean="0">
                <a:solidFill>
                  <a:srgbClr val="FF0000"/>
                </a:solidFill>
                <a:latin typeface="+mj-lt"/>
              </a:rPr>
              <a:t>Dgc</a:t>
            </a:r>
            <a:r>
              <a:rPr lang="fr-FR" sz="2800" dirty="0" smtClean="0">
                <a:solidFill>
                  <a:schemeClr val="tx1"/>
                </a:solidFill>
                <a:latin typeface="+mj-lt"/>
              </a:rPr>
              <a:t>: </a:t>
            </a:r>
            <a:r>
              <a:rPr lang="fr-FR" sz="2800" i="1" dirty="0" smtClean="0">
                <a:latin typeface="+mj-lt"/>
              </a:rPr>
              <a:t>.</a:t>
            </a:r>
            <a:r>
              <a:rPr lang="fr-FR" sz="2400" i="1" dirty="0" smtClean="0">
                <a:latin typeface="+mj-lt"/>
              </a:rPr>
              <a:t>clinique</a:t>
            </a:r>
            <a:r>
              <a:rPr lang="fr-FR" sz="2800" dirty="0" smtClean="0">
                <a:latin typeface="+mj-lt"/>
              </a:rPr>
              <a:t>: </a:t>
            </a:r>
            <a:r>
              <a:rPr lang="fr-FR" sz="2400" dirty="0" smtClean="0">
                <a:solidFill>
                  <a:schemeClr val="tx1"/>
                </a:solidFill>
                <a:latin typeface="+mj-lt"/>
              </a:rPr>
              <a:t>tableau d’insuffisance cardiaque </a:t>
            </a:r>
            <a:r>
              <a:rPr lang="fr-FR" sz="2400" u="sng" dirty="0" smtClean="0">
                <a:solidFill>
                  <a:schemeClr val="tx1"/>
                </a:solidFill>
                <a:latin typeface="+mj-lt"/>
              </a:rPr>
              <a:t>droite</a:t>
            </a:r>
            <a:r>
              <a:rPr lang="fr-FR" sz="2400" dirty="0" smtClean="0">
                <a:solidFill>
                  <a:schemeClr val="tx1"/>
                </a:solidFill>
                <a:latin typeface="+mj-lt"/>
              </a:rPr>
              <a:t> + </a:t>
            </a:r>
          </a:p>
          <a:p>
            <a:pPr marL="0">
              <a:spcBef>
                <a:spcPts val="0"/>
              </a:spcBef>
              <a:buFont typeface="Wingdings 2" pitchFamily="18" charset="2"/>
              <a:buNone/>
              <a:defRPr/>
            </a:pPr>
            <a:r>
              <a:rPr lang="fr-FR" sz="2400" i="1" dirty="0" smtClean="0">
                <a:solidFill>
                  <a:schemeClr val="tx1"/>
                </a:solidFill>
                <a:latin typeface="+mj-lt"/>
              </a:rPr>
              <a:t>            </a:t>
            </a:r>
            <a:r>
              <a:rPr lang="fr-FR" sz="2400" i="1" dirty="0" smtClean="0">
                <a:latin typeface="+mj-lt"/>
              </a:rPr>
              <a:t>.téléthorax F/P</a:t>
            </a:r>
            <a:r>
              <a:rPr lang="fr-FR" sz="2400" dirty="0" smtClean="0">
                <a:latin typeface="+mj-lt"/>
              </a:rPr>
              <a:t>: « </a:t>
            </a:r>
            <a:r>
              <a:rPr lang="fr-FR" sz="2400" u="sng" dirty="0" smtClean="0">
                <a:solidFill>
                  <a:schemeClr val="tx1"/>
                </a:solidFill>
                <a:latin typeface="+mj-lt"/>
              </a:rPr>
              <a:t>petit cœur </a:t>
            </a:r>
            <a:r>
              <a:rPr lang="fr-FR" sz="2400" dirty="0" smtClean="0">
                <a:solidFill>
                  <a:schemeClr val="tx1"/>
                </a:solidFill>
                <a:latin typeface="+mj-lt"/>
              </a:rPr>
              <a:t>», calcifications</a:t>
            </a:r>
            <a:endParaRPr lang="fr-FR" sz="2400" dirty="0" smtClean="0">
              <a:latin typeface="+mj-lt"/>
            </a:endParaRPr>
          </a:p>
          <a:p>
            <a:pPr lvl="1">
              <a:buClr>
                <a:srgbClr val="009900"/>
              </a:buClr>
              <a:buFont typeface="Wingdings 2" pitchFamily="18" charset="2"/>
              <a:buNone/>
              <a:defRPr/>
            </a:pPr>
            <a:r>
              <a:rPr lang="fr-FR" i="1" dirty="0" smtClean="0">
                <a:latin typeface="+mj-lt"/>
              </a:rPr>
              <a:t>      .</a:t>
            </a:r>
            <a:r>
              <a:rPr lang="fr-FR" sz="2400" i="1" dirty="0" smtClean="0">
                <a:latin typeface="+mj-lt"/>
              </a:rPr>
              <a:t>échocardio ± cathétérisme</a:t>
            </a:r>
            <a:r>
              <a:rPr lang="fr-FR" dirty="0" smtClean="0">
                <a:latin typeface="+mj-lt"/>
              </a:rPr>
              <a:t>: -</a:t>
            </a:r>
            <a:r>
              <a:rPr lang="fr-FR" sz="2400" dirty="0" smtClean="0">
                <a:solidFill>
                  <a:schemeClr val="tx1"/>
                </a:solidFill>
                <a:latin typeface="+mj-lt"/>
              </a:rPr>
              <a:t>altération du remplissage</a:t>
            </a:r>
          </a:p>
          <a:p>
            <a:pPr lvl="1">
              <a:buClr>
                <a:srgbClr val="009900"/>
              </a:buClr>
              <a:buFont typeface="Wingdings 2" pitchFamily="18" charset="2"/>
              <a:buNone/>
              <a:defRPr/>
            </a:pPr>
            <a:r>
              <a:rPr lang="fr-FR" sz="2400" dirty="0" smtClean="0">
                <a:solidFill>
                  <a:schemeClr val="tx1"/>
                </a:solidFill>
                <a:latin typeface="+mj-lt"/>
              </a:rPr>
              <a:t>                                                               -FE conservée</a:t>
            </a:r>
            <a:endParaRPr lang="fr-FR" dirty="0" smtClean="0">
              <a:solidFill>
                <a:schemeClr val="tx1"/>
              </a:solidFill>
              <a:latin typeface="+mj-lt"/>
            </a:endParaRPr>
          </a:p>
          <a:p>
            <a:pPr lvl="1">
              <a:buClr>
                <a:srgbClr val="009900"/>
              </a:buClr>
              <a:buFont typeface="Wingdings 2" pitchFamily="18" charset="2"/>
              <a:buNone/>
              <a:defRPr/>
            </a:pPr>
            <a:r>
              <a:rPr lang="fr-FR" i="1" dirty="0" smtClean="0">
                <a:latin typeface="+mj-lt"/>
              </a:rPr>
              <a:t>      .</a:t>
            </a:r>
            <a:r>
              <a:rPr lang="fr-FR" sz="2400" i="1" dirty="0" smtClean="0">
                <a:latin typeface="+mj-lt"/>
              </a:rPr>
              <a:t>TDM/IRM</a:t>
            </a:r>
            <a:r>
              <a:rPr lang="fr-FR" sz="2400" dirty="0" smtClean="0">
                <a:solidFill>
                  <a:schemeClr val="tx1"/>
                </a:solidFill>
                <a:latin typeface="+mj-lt"/>
              </a:rPr>
              <a:t>:   - épaisseur péricarde &gt; 3-4 mm</a:t>
            </a:r>
          </a:p>
          <a:p>
            <a:pPr lvl="1">
              <a:buClr>
                <a:srgbClr val="009900"/>
              </a:buClr>
              <a:buFont typeface="Wingdings 2" pitchFamily="18" charset="2"/>
              <a:buNone/>
              <a:defRPr/>
            </a:pPr>
            <a:r>
              <a:rPr lang="fr-FR" sz="2400" dirty="0" smtClean="0">
                <a:solidFill>
                  <a:schemeClr val="tx1"/>
                </a:solidFill>
                <a:latin typeface="+mj-lt"/>
              </a:rPr>
              <a:t>                            - calcifications (visible sur RX)</a:t>
            </a:r>
          </a:p>
          <a:p>
            <a:pPr>
              <a:buFont typeface="Wingdings 2" pitchFamily="18" charset="2"/>
              <a:buNone/>
              <a:defRPr/>
            </a:pPr>
            <a:endParaRPr lang="fr-FR" sz="2800" dirty="0" smtClean="0">
              <a:solidFill>
                <a:schemeClr val="tx1"/>
              </a:solidFill>
              <a:latin typeface="+mj-lt"/>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260648"/>
            <a:ext cx="8686800" cy="6120953"/>
          </a:xfrm>
        </p:spPr>
        <p:txBody>
          <a:bodyPr>
            <a:noAutofit/>
          </a:bodyPr>
          <a:lstStyle/>
          <a:p>
            <a:pPr algn="ctr">
              <a:buClr>
                <a:srgbClr val="FFC000"/>
              </a:buClr>
              <a:buNone/>
            </a:pPr>
            <a:r>
              <a:rPr lang="fr-FR" sz="2400" dirty="0" smtClean="0">
                <a:solidFill>
                  <a:srgbClr val="C00000"/>
                </a:solidFill>
                <a:latin typeface="+mj-lt"/>
              </a:rPr>
              <a:t>Physiopathologie  de la tamponnade</a:t>
            </a:r>
          </a:p>
          <a:p>
            <a:pPr algn="ctr">
              <a:lnSpc>
                <a:spcPct val="150000"/>
              </a:lnSpc>
              <a:buClr>
                <a:srgbClr val="FFC000"/>
              </a:buClr>
              <a:buFont typeface="Wingdings 2" pitchFamily="18" charset="2"/>
              <a:buNone/>
            </a:pPr>
            <a:r>
              <a:rPr lang="fr-FR" sz="2400" dirty="0" smtClean="0">
                <a:latin typeface="+mj-lt"/>
              </a:rPr>
              <a:t>compression aigue du cœur par:</a:t>
            </a:r>
          </a:p>
          <a:p>
            <a:pPr algn="ctr">
              <a:lnSpc>
                <a:spcPct val="150000"/>
              </a:lnSpc>
              <a:buClr>
                <a:srgbClr val="92D050"/>
              </a:buClr>
              <a:buSzPct val="105000"/>
              <a:buFont typeface="Arial" charset="0"/>
              <a:buNone/>
            </a:pPr>
            <a:r>
              <a:rPr lang="fr-FR" sz="2000" dirty="0" smtClean="0">
                <a:latin typeface="+mj-lt"/>
              </a:rPr>
              <a:t>          accumulation rapide          </a:t>
            </a:r>
            <a:r>
              <a:rPr lang="fr-FR" sz="2000" b="1" i="1" dirty="0" smtClean="0">
                <a:solidFill>
                  <a:srgbClr val="800000"/>
                </a:solidFill>
                <a:latin typeface="+mj-lt"/>
              </a:rPr>
              <a:t>OU</a:t>
            </a:r>
            <a:r>
              <a:rPr lang="fr-FR" sz="2000" dirty="0" smtClean="0">
                <a:latin typeface="+mj-lt"/>
              </a:rPr>
              <a:t>             épanchement abondant</a:t>
            </a:r>
          </a:p>
          <a:p>
            <a:pPr>
              <a:lnSpc>
                <a:spcPct val="150000"/>
              </a:lnSpc>
              <a:buClr>
                <a:srgbClr val="92D050"/>
              </a:buClr>
              <a:buSzPct val="105000"/>
              <a:buFont typeface="Arial" charset="0"/>
              <a:buNone/>
            </a:pPr>
            <a:endParaRPr lang="fr-FR" sz="2000" dirty="0" smtClean="0">
              <a:latin typeface="+mj-lt"/>
            </a:endParaRPr>
          </a:p>
          <a:p>
            <a:pPr marL="216000">
              <a:spcBef>
                <a:spcPts val="0"/>
              </a:spcBef>
              <a:buClr>
                <a:srgbClr val="92D050"/>
              </a:buClr>
              <a:buSzPct val="105000"/>
              <a:buFont typeface="Arial" charset="0"/>
              <a:buNone/>
            </a:pPr>
            <a:endParaRPr lang="fr-FR" sz="2000" dirty="0" smtClean="0">
              <a:latin typeface="+mj-lt"/>
            </a:endParaRPr>
          </a:p>
          <a:p>
            <a:pPr>
              <a:buClr>
                <a:srgbClr val="92D050"/>
              </a:buClr>
              <a:buSzPct val="105000"/>
              <a:buFont typeface="Arial" charset="0"/>
              <a:buNone/>
            </a:pPr>
            <a:r>
              <a:rPr lang="fr-FR" sz="2000" dirty="0" smtClean="0">
                <a:latin typeface="+mj-lt"/>
              </a:rPr>
              <a:t>                                            Pression intra péricardique </a:t>
            </a:r>
          </a:p>
          <a:p>
            <a:pPr>
              <a:buClr>
                <a:srgbClr val="92D050"/>
              </a:buClr>
              <a:buSzPct val="105000"/>
              <a:buFont typeface="Arial" charset="0"/>
              <a:buNone/>
            </a:pPr>
            <a:r>
              <a:rPr lang="fr-FR" sz="2000" dirty="0" smtClean="0">
                <a:latin typeface="+mj-lt"/>
              </a:rPr>
              <a:t> </a:t>
            </a:r>
          </a:p>
          <a:p>
            <a:pPr>
              <a:buClr>
                <a:srgbClr val="92D050"/>
              </a:buClr>
              <a:buSzPct val="105000"/>
              <a:buFont typeface="Arial" charset="0"/>
              <a:buNone/>
            </a:pPr>
            <a:r>
              <a:rPr lang="fr-FR" sz="2000" dirty="0" smtClean="0">
                <a:latin typeface="+mj-lt"/>
              </a:rPr>
              <a:t>   </a:t>
            </a:r>
          </a:p>
          <a:p>
            <a:pPr>
              <a:buClr>
                <a:srgbClr val="92D050"/>
              </a:buClr>
              <a:buSzPct val="105000"/>
              <a:buFont typeface="Arial" charset="0"/>
              <a:buNone/>
            </a:pPr>
            <a:r>
              <a:rPr lang="fr-FR" sz="2000" dirty="0" smtClean="0">
                <a:latin typeface="+mj-lt"/>
              </a:rPr>
              <a:t>                                Pression Diastolique V, A, et Pr. veineuse     </a:t>
            </a:r>
          </a:p>
          <a:p>
            <a:pPr>
              <a:buClr>
                <a:srgbClr val="92D050"/>
              </a:buClr>
              <a:buSzPct val="105000"/>
              <a:buFont typeface="Arial" charset="0"/>
              <a:buNone/>
            </a:pPr>
            <a:r>
              <a:rPr lang="fr-FR" sz="2000" dirty="0" smtClean="0">
                <a:latin typeface="+mj-lt"/>
              </a:rPr>
              <a:t>                      </a:t>
            </a:r>
          </a:p>
          <a:p>
            <a:pPr>
              <a:buClr>
                <a:srgbClr val="92D050"/>
              </a:buClr>
              <a:buSzPct val="105000"/>
              <a:buFont typeface="Arial" charset="0"/>
              <a:buNone/>
            </a:pPr>
            <a:endParaRPr lang="fr-FR" sz="2000" dirty="0" smtClean="0">
              <a:latin typeface="+mj-lt"/>
            </a:endParaRPr>
          </a:p>
          <a:p>
            <a:pPr>
              <a:buClr>
                <a:srgbClr val="92D050"/>
              </a:buClr>
              <a:buSzPct val="105000"/>
              <a:buFont typeface="Arial" charset="0"/>
              <a:buNone/>
            </a:pPr>
            <a:r>
              <a:rPr lang="fr-FR" sz="2000" dirty="0" smtClean="0">
                <a:latin typeface="+mj-lt"/>
              </a:rPr>
              <a:t>                                     VTD VD                                   VES</a:t>
            </a:r>
          </a:p>
          <a:p>
            <a:pPr>
              <a:buClr>
                <a:srgbClr val="92D050"/>
              </a:buClr>
              <a:buSzPct val="105000"/>
              <a:buFont typeface="Arial" charset="0"/>
              <a:buNone/>
            </a:pPr>
            <a:endParaRPr lang="fr-FR" sz="2000" dirty="0" smtClean="0">
              <a:latin typeface="+mj-lt"/>
            </a:endParaRPr>
          </a:p>
          <a:p>
            <a:pPr>
              <a:spcBef>
                <a:spcPts val="0"/>
              </a:spcBef>
              <a:buClr>
                <a:srgbClr val="92D050"/>
              </a:buClr>
              <a:buSzPct val="105000"/>
              <a:buFont typeface="Arial" charset="0"/>
              <a:buNone/>
            </a:pPr>
            <a:endParaRPr lang="fr-FR" sz="2000" dirty="0" smtClean="0">
              <a:latin typeface="+mj-lt"/>
            </a:endParaRPr>
          </a:p>
          <a:p>
            <a:pPr>
              <a:buClr>
                <a:srgbClr val="92D050"/>
              </a:buClr>
              <a:buSzPct val="105000"/>
              <a:buFont typeface="Arial" charset="0"/>
              <a:buNone/>
            </a:pPr>
            <a:r>
              <a:rPr lang="fr-FR" sz="2000" dirty="0" smtClean="0">
                <a:latin typeface="+mj-lt"/>
              </a:rPr>
              <a:t>                          </a:t>
            </a:r>
            <a:r>
              <a:rPr lang="fr-FR" sz="2400" b="1" dirty="0" smtClean="0">
                <a:solidFill>
                  <a:srgbClr val="C00000"/>
                </a:solidFill>
                <a:latin typeface="+mj-lt"/>
              </a:rPr>
              <a:t>QC </a:t>
            </a:r>
            <a:r>
              <a:rPr lang="fr-FR" sz="2400" b="1" dirty="0" smtClean="0">
                <a:solidFill>
                  <a:srgbClr val="C00000"/>
                </a:solidFill>
                <a:latin typeface="+mj-lt"/>
                <a:sym typeface="Symbol" pitchFamily="18" charset="2"/>
              </a:rPr>
              <a:t> </a:t>
            </a:r>
            <a:r>
              <a:rPr lang="fr-FR" sz="2400" dirty="0" smtClean="0">
                <a:solidFill>
                  <a:srgbClr val="C00000"/>
                </a:solidFill>
                <a:latin typeface="+mj-lt"/>
                <a:sym typeface="Symbol" pitchFamily="18" charset="2"/>
              </a:rPr>
              <a:t>choc cardiogénique + Kussmaul</a:t>
            </a:r>
            <a:endParaRPr lang="fr-FR" sz="2000" b="1" dirty="0" smtClean="0">
              <a:solidFill>
                <a:srgbClr val="C00000"/>
              </a:solidFill>
              <a:latin typeface="+mj-lt"/>
            </a:endParaRPr>
          </a:p>
          <a:p>
            <a:pPr>
              <a:buClr>
                <a:srgbClr val="92D050"/>
              </a:buClr>
              <a:buSzPct val="105000"/>
              <a:buFont typeface="Arial" charset="0"/>
              <a:buNone/>
            </a:pPr>
            <a:r>
              <a:rPr lang="fr-FR" sz="2000" dirty="0" smtClean="0">
                <a:latin typeface="+mj-lt"/>
              </a:rPr>
              <a:t>                  </a:t>
            </a:r>
          </a:p>
          <a:p>
            <a:pPr>
              <a:buClr>
                <a:srgbClr val="92D050"/>
              </a:buClr>
              <a:buSzPct val="105000"/>
              <a:buFont typeface="Arial" charset="0"/>
              <a:buNone/>
            </a:pPr>
            <a:endParaRPr lang="fr-FR" sz="2000" dirty="0" smtClean="0">
              <a:latin typeface="+mj-lt"/>
            </a:endParaRPr>
          </a:p>
          <a:p>
            <a:pPr>
              <a:buClr>
                <a:srgbClr val="92D050"/>
              </a:buClr>
              <a:buSzPct val="105000"/>
              <a:buFont typeface="Arial" charset="0"/>
              <a:buNone/>
            </a:pPr>
            <a:r>
              <a:rPr lang="fr-FR" sz="2000" dirty="0" smtClean="0">
                <a:latin typeface="+mj-lt"/>
              </a:rPr>
              <a:t>                             </a:t>
            </a:r>
          </a:p>
          <a:p>
            <a:pPr>
              <a:buClr>
                <a:srgbClr val="92D050"/>
              </a:buClr>
              <a:buSzPct val="105000"/>
              <a:buFont typeface="Arial" charset="0"/>
              <a:buNone/>
            </a:pPr>
            <a:r>
              <a:rPr lang="fr-FR" sz="2000" dirty="0" smtClean="0">
                <a:latin typeface="+mj-lt"/>
              </a:rPr>
              <a:t>                                 </a:t>
            </a:r>
          </a:p>
          <a:p>
            <a:pPr>
              <a:buClr>
                <a:srgbClr val="92D050"/>
              </a:buClr>
              <a:buSzPct val="105000"/>
              <a:buFont typeface="Arial" charset="0"/>
              <a:buNone/>
            </a:pPr>
            <a:r>
              <a:rPr lang="fr-FR" sz="2000" dirty="0" smtClean="0">
                <a:latin typeface="+mj-lt"/>
              </a:rPr>
              <a:t>                                      </a:t>
            </a:r>
            <a:endParaRPr lang="fr-FR" sz="2000" dirty="0" smtClean="0">
              <a:solidFill>
                <a:srgbClr val="99FF99"/>
              </a:solidFill>
              <a:latin typeface="+mj-lt"/>
            </a:endParaRPr>
          </a:p>
        </p:txBody>
      </p:sp>
      <p:cxnSp>
        <p:nvCxnSpPr>
          <p:cNvPr id="7" name="Connecteur droit avec flèche 6"/>
          <p:cNvCxnSpPr/>
          <p:nvPr/>
        </p:nvCxnSpPr>
        <p:spPr bwMode="auto">
          <a:xfrm rot="5400000" flipH="1" flipV="1">
            <a:off x="2667496" y="2456036"/>
            <a:ext cx="571500" cy="357188"/>
          </a:xfrm>
          <a:prstGeom prst="straightConnector1">
            <a:avLst/>
          </a:prstGeom>
          <a:noFill/>
          <a:ln w="50800" cap="flat" cmpd="sng" algn="ctr">
            <a:solidFill>
              <a:srgbClr val="FFC000"/>
            </a:solidFill>
            <a:prstDash val="solid"/>
            <a:round/>
            <a:headEnd type="none" w="med" len="med"/>
            <a:tailEnd type="arrow"/>
          </a:ln>
          <a:effectLst>
            <a:outerShdw blurRad="50800" dist="38100" dir="8100000" algn="tr" rotWithShape="0">
              <a:prstClr val="black">
                <a:alpha val="40000"/>
              </a:prstClr>
            </a:outerShdw>
          </a:effectLst>
        </p:spPr>
      </p:cxnSp>
      <p:cxnSp>
        <p:nvCxnSpPr>
          <p:cNvPr id="14" name="Connecteur droit avec flèche 13"/>
          <p:cNvCxnSpPr/>
          <p:nvPr/>
        </p:nvCxnSpPr>
        <p:spPr bwMode="auto">
          <a:xfrm rot="5400000" flipH="1" flipV="1">
            <a:off x="1947416" y="3536157"/>
            <a:ext cx="571500" cy="357187"/>
          </a:xfrm>
          <a:prstGeom prst="straightConnector1">
            <a:avLst/>
          </a:prstGeom>
          <a:noFill/>
          <a:ln w="50800" cap="flat" cmpd="sng" algn="ctr">
            <a:solidFill>
              <a:srgbClr val="FFC000"/>
            </a:solidFill>
            <a:prstDash val="solid"/>
            <a:round/>
            <a:headEnd type="none" w="med" len="med"/>
            <a:tailEnd type="arrow"/>
          </a:ln>
          <a:effectLst>
            <a:outerShdw blurRad="50800" dist="38100" dir="8100000" algn="tr" rotWithShape="0">
              <a:prstClr val="black">
                <a:alpha val="40000"/>
              </a:prstClr>
            </a:outerShdw>
          </a:effectLst>
        </p:spPr>
      </p:cxnSp>
      <p:cxnSp>
        <p:nvCxnSpPr>
          <p:cNvPr id="17" name="Connecteur droit avec flèche 16"/>
          <p:cNvCxnSpPr/>
          <p:nvPr/>
        </p:nvCxnSpPr>
        <p:spPr bwMode="auto">
          <a:xfrm rot="16200000" flipH="1">
            <a:off x="2091432" y="4692848"/>
            <a:ext cx="571500" cy="357188"/>
          </a:xfrm>
          <a:prstGeom prst="straightConnector1">
            <a:avLst/>
          </a:prstGeom>
          <a:noFill/>
          <a:ln w="50800" cap="flat" cmpd="sng" algn="ctr">
            <a:solidFill>
              <a:srgbClr val="FFC000"/>
            </a:solidFill>
            <a:prstDash val="solid"/>
            <a:round/>
            <a:headEnd type="none" w="med" len="med"/>
            <a:tailEnd type="arrow"/>
          </a:ln>
          <a:effectLst>
            <a:outerShdw blurRad="50800" dist="38100" dir="8100000" algn="tr" rotWithShape="0">
              <a:prstClr val="black">
                <a:alpha val="40000"/>
              </a:prstClr>
            </a:outerShdw>
          </a:effectLst>
        </p:spPr>
      </p:cxnSp>
      <p:cxnSp>
        <p:nvCxnSpPr>
          <p:cNvPr id="20" name="Connecteur droit avec flèche 19"/>
          <p:cNvCxnSpPr/>
          <p:nvPr/>
        </p:nvCxnSpPr>
        <p:spPr bwMode="auto">
          <a:xfrm rot="16200000" flipH="1">
            <a:off x="5115768" y="4692848"/>
            <a:ext cx="571500" cy="357187"/>
          </a:xfrm>
          <a:prstGeom prst="straightConnector1">
            <a:avLst/>
          </a:prstGeom>
          <a:noFill/>
          <a:ln w="50800" cap="flat" cmpd="sng" algn="ctr">
            <a:solidFill>
              <a:srgbClr val="FFC000"/>
            </a:solidFill>
            <a:prstDash val="solid"/>
            <a:round/>
            <a:headEnd type="none" w="med" len="med"/>
            <a:tailEnd type="arrow"/>
          </a:ln>
          <a:effectLst>
            <a:outerShdw blurRad="50800" dist="38100" dir="8100000" algn="tr" rotWithShape="0">
              <a:prstClr val="black">
                <a:alpha val="40000"/>
              </a:prstClr>
            </a:outerShdw>
          </a:effectLst>
        </p:spPr>
      </p:cxnSp>
      <p:cxnSp>
        <p:nvCxnSpPr>
          <p:cNvPr id="23" name="Connecteur droit avec flèche 22"/>
          <p:cNvCxnSpPr>
            <a:cxnSpLocks noChangeShapeType="1"/>
          </p:cNvCxnSpPr>
          <p:nvPr/>
        </p:nvCxnSpPr>
        <p:spPr bwMode="auto">
          <a:xfrm>
            <a:off x="3861618" y="5085184"/>
            <a:ext cx="1214438" cy="1588"/>
          </a:xfrm>
          <a:prstGeom prst="straightConnector1">
            <a:avLst/>
          </a:prstGeom>
          <a:noFill/>
          <a:ln w="50800" algn="ctr">
            <a:solidFill>
              <a:schemeClr val="tx2"/>
            </a:solidFill>
            <a:round/>
            <a:headEnd/>
            <a:tailEnd type="arrow" w="med" len="med"/>
          </a:ln>
        </p:spPr>
      </p:cxnSp>
      <p:cxnSp>
        <p:nvCxnSpPr>
          <p:cNvPr id="29" name="Connecteur droit avec flèche 28"/>
          <p:cNvCxnSpPr/>
          <p:nvPr/>
        </p:nvCxnSpPr>
        <p:spPr bwMode="auto">
          <a:xfrm rot="16200000" flipH="1">
            <a:off x="1371352" y="5772968"/>
            <a:ext cx="571500" cy="357187"/>
          </a:xfrm>
          <a:prstGeom prst="straightConnector1">
            <a:avLst/>
          </a:prstGeom>
          <a:noFill/>
          <a:ln w="50800" cap="flat" cmpd="sng" algn="ctr">
            <a:solidFill>
              <a:srgbClr val="C00000"/>
            </a:solidFill>
            <a:prstDash val="solid"/>
            <a:round/>
            <a:headEnd type="none" w="med" len="med"/>
            <a:tailEnd type="arrow"/>
          </a:ln>
          <a:effectLst>
            <a:outerShdw blurRad="50800" dist="38100" dir="8100000" algn="tr" rotWithShape="0">
              <a:prstClr val="black">
                <a:alpha val="40000"/>
              </a:prstClr>
            </a:outerShdw>
          </a:effectLst>
        </p:spPr>
      </p:cxnSp>
      <p:sp>
        <p:nvSpPr>
          <p:cNvPr id="33" name="Forme en L 32"/>
          <p:cNvSpPr/>
          <p:nvPr/>
        </p:nvSpPr>
        <p:spPr bwMode="auto">
          <a:xfrm rot="18975846">
            <a:off x="4255624" y="3082892"/>
            <a:ext cx="433388" cy="460375"/>
          </a:xfrm>
          <a:prstGeom prst="corner">
            <a:avLst>
              <a:gd name="adj1" fmla="val 27062"/>
              <a:gd name="adj2" fmla="val 27062"/>
            </a:avLst>
          </a:prstGeom>
          <a:noFill/>
          <a:ln w="38100" cap="flat" cmpd="sng" algn="ctr">
            <a:solidFill>
              <a:srgbClr val="FFCC00"/>
            </a:solidFill>
            <a:prstDash val="solid"/>
            <a:round/>
            <a:headEnd type="none" w="med" len="med"/>
            <a:tailEnd type="none" w="med" len="med"/>
          </a:ln>
          <a:effectLst>
            <a:outerShdw blurRad="50800" dist="38100" dir="8100000" algn="tr" rotWithShape="0">
              <a:prstClr val="black">
                <a:alpha val="40000"/>
              </a:prstClr>
            </a:outerShdw>
          </a:effectLst>
        </p:spPr>
        <p:txBody>
          <a:bodyPr/>
          <a:lstStyle/>
          <a:p>
            <a:pPr>
              <a:defRPr/>
            </a:pPr>
            <a:endParaRPr lang="fr-FR"/>
          </a:p>
        </p:txBody>
      </p:sp>
      <p:sp>
        <p:nvSpPr>
          <p:cNvPr id="35" name="Forme en L 34"/>
          <p:cNvSpPr/>
          <p:nvPr/>
        </p:nvSpPr>
        <p:spPr bwMode="auto">
          <a:xfrm rot="18975846">
            <a:off x="4148310" y="5215835"/>
            <a:ext cx="444399" cy="422410"/>
          </a:xfrm>
          <a:prstGeom prst="corner">
            <a:avLst>
              <a:gd name="adj1" fmla="val 29435"/>
              <a:gd name="adj2" fmla="val 30816"/>
            </a:avLst>
          </a:prstGeom>
          <a:noFill/>
          <a:ln w="57150" cap="flat" cmpd="sng" algn="ctr">
            <a:solidFill>
              <a:srgbClr val="C00000"/>
            </a:solidFill>
            <a:prstDash val="solid"/>
            <a:round/>
            <a:headEnd type="none" w="med" len="med"/>
            <a:tailEnd type="none" w="med" len="med"/>
          </a:ln>
          <a:effectLst>
            <a:outerShdw blurRad="50800" dist="38100" algn="l" rotWithShape="0">
              <a:schemeClr val="accent4">
                <a:lumMod val="10000"/>
                <a:alpha val="40000"/>
              </a:schemeClr>
            </a:outerShdw>
          </a:effectLst>
        </p:spPr>
        <p:txBody>
          <a:bodyPr/>
          <a:lstStyle/>
          <a:p>
            <a:pPr>
              <a:defRPr/>
            </a:pPr>
            <a:endParaRPr lang="fr-FR">
              <a:effectLst>
                <a:outerShdw blurRad="38100" dist="38100" dir="2700000" algn="tl">
                  <a:srgbClr val="000000">
                    <a:alpha val="43137"/>
                  </a:srgbClr>
                </a:outerShdw>
              </a:effectLst>
            </a:endParaRPr>
          </a:p>
        </p:txBody>
      </p:sp>
      <p:sp>
        <p:nvSpPr>
          <p:cNvPr id="52235" name="Rectangle à coins arrondis 35"/>
          <p:cNvSpPr>
            <a:spLocks noChangeArrowheads="1"/>
          </p:cNvSpPr>
          <p:nvPr/>
        </p:nvSpPr>
        <p:spPr bwMode="auto">
          <a:xfrm>
            <a:off x="1475656" y="1416199"/>
            <a:ext cx="2376264" cy="428625"/>
          </a:xfrm>
          <a:prstGeom prst="roundRect">
            <a:avLst>
              <a:gd name="adj" fmla="val 16667"/>
            </a:avLst>
          </a:prstGeom>
          <a:noFill/>
          <a:ln w="25400" algn="ctr">
            <a:solidFill>
              <a:srgbClr val="FFCC00"/>
            </a:solidFill>
            <a:round/>
            <a:headEnd/>
            <a:tailEnd/>
          </a:ln>
        </p:spPr>
        <p:txBody>
          <a:bodyPr/>
          <a:lstStyle/>
          <a:p>
            <a:endParaRPr lang="fr-FR"/>
          </a:p>
        </p:txBody>
      </p:sp>
      <p:sp>
        <p:nvSpPr>
          <p:cNvPr id="52236" name="Rectangle à coins arrondis 36"/>
          <p:cNvSpPr>
            <a:spLocks noChangeArrowheads="1"/>
          </p:cNvSpPr>
          <p:nvPr/>
        </p:nvSpPr>
        <p:spPr bwMode="auto">
          <a:xfrm>
            <a:off x="5436096" y="1416199"/>
            <a:ext cx="2880320" cy="428625"/>
          </a:xfrm>
          <a:prstGeom prst="roundRect">
            <a:avLst>
              <a:gd name="adj" fmla="val 16667"/>
            </a:avLst>
          </a:prstGeom>
          <a:noFill/>
          <a:ln w="25400" algn="ctr">
            <a:solidFill>
              <a:srgbClr val="FFCC00"/>
            </a:solidFill>
            <a:round/>
            <a:headEnd/>
            <a:tailEnd/>
          </a:ln>
        </p:spPr>
        <p:txBody>
          <a:bodyPr/>
          <a:lstStyle/>
          <a:p>
            <a:endParaRPr lang="fr-FR" dirty="0"/>
          </a:p>
        </p:txBody>
      </p:sp>
      <p:sp>
        <p:nvSpPr>
          <p:cNvPr id="16" name="Forme en L 15"/>
          <p:cNvSpPr/>
          <p:nvPr/>
        </p:nvSpPr>
        <p:spPr bwMode="auto">
          <a:xfrm rot="18975846">
            <a:off x="4331204" y="1814323"/>
            <a:ext cx="434975" cy="446087"/>
          </a:xfrm>
          <a:prstGeom prst="corner">
            <a:avLst>
              <a:gd name="adj1" fmla="val 27062"/>
              <a:gd name="adj2" fmla="val 27062"/>
            </a:avLst>
          </a:prstGeom>
          <a:noFill/>
          <a:ln w="38100" cap="flat" cmpd="sng" algn="ctr">
            <a:solidFill>
              <a:srgbClr val="FFCC00"/>
            </a:solidFill>
            <a:prstDash val="solid"/>
            <a:round/>
            <a:headEnd type="none" w="med" len="med"/>
            <a:tailEnd type="none" w="med" len="med"/>
          </a:ln>
          <a:effectLst>
            <a:outerShdw blurRad="50800" dist="38100" dir="8100000" algn="tr" rotWithShape="0">
              <a:prstClr val="black">
                <a:alpha val="40000"/>
              </a:prstClr>
            </a:outerShdw>
          </a:effectLst>
        </p:spPr>
        <p:txBody>
          <a:bodyPr/>
          <a:lstStyle/>
          <a:p>
            <a:pPr>
              <a:defRPr/>
            </a:pPr>
            <a:endParaRPr lang="fr-FR"/>
          </a:p>
        </p:txBody>
      </p:sp>
      <p:sp>
        <p:nvSpPr>
          <p:cNvPr id="18" name="Forme en L 17"/>
          <p:cNvSpPr/>
          <p:nvPr/>
        </p:nvSpPr>
        <p:spPr bwMode="auto">
          <a:xfrm rot="18975846">
            <a:off x="4222225" y="4297363"/>
            <a:ext cx="406400" cy="415925"/>
          </a:xfrm>
          <a:prstGeom prst="corner">
            <a:avLst>
              <a:gd name="adj1" fmla="val 27062"/>
              <a:gd name="adj2" fmla="val 27062"/>
            </a:avLst>
          </a:prstGeom>
          <a:noFill/>
          <a:ln w="38100" cap="flat" cmpd="sng" algn="ctr">
            <a:solidFill>
              <a:srgbClr val="FFCC00"/>
            </a:solidFill>
            <a:prstDash val="solid"/>
            <a:round/>
            <a:headEnd type="none" w="med" len="med"/>
            <a:tailEnd type="none" w="med" len="med"/>
          </a:ln>
          <a:effectLst>
            <a:outerShdw blurRad="50800" dist="38100" dir="8100000" algn="tr" rotWithShape="0">
              <a:prstClr val="black">
                <a:alpha val="40000"/>
              </a:prstClr>
            </a:outerShdw>
          </a:effectLst>
        </p:spPr>
        <p:txBody>
          <a:bodyPr/>
          <a:lstStyle/>
          <a:p>
            <a:pPr>
              <a:defRPr/>
            </a:pPr>
            <a:endParaRPr lang="fr-F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par>
                                <p:cTn id="8" presetID="1"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childTnLst>
                                </p:cTn>
                              </p:par>
                              <p:par>
                                <p:cTn id="12" presetID="9" presetClass="entr" presetSubtype="0" fill="hold" nodeType="withEffect">
                                  <p:stCondLst>
                                    <p:cond delay="0"/>
                                  </p:stCondLst>
                                  <p:childTnLst>
                                    <p:set>
                                      <p:cBhvr>
                                        <p:cTn id="13" dur="1" fill="hold">
                                          <p:stCondLst>
                                            <p:cond delay="0"/>
                                          </p:stCondLst>
                                        </p:cTn>
                                        <p:tgtEl>
                                          <p:spTgt spid="3">
                                            <p:txEl>
                                              <p:pRg st="5" end="5"/>
                                            </p:txEl>
                                          </p:spTgt>
                                        </p:tgtEl>
                                        <p:attrNameLst>
                                          <p:attrName>style.visibility</p:attrName>
                                        </p:attrNameLst>
                                      </p:cBhvr>
                                      <p:to>
                                        <p:strVal val="visible"/>
                                      </p:to>
                                    </p:set>
                                    <p:animEffect transition="in" filter="dissolve">
                                      <p:cBhvr>
                                        <p:cTn id="14" dur="500"/>
                                        <p:tgtEl>
                                          <p:spTgt spid="3">
                                            <p:txEl>
                                              <p:pRg st="5" end="5"/>
                                            </p:txEl>
                                          </p:spTgt>
                                        </p:tgtEl>
                                      </p:cBhvr>
                                    </p:animEffect>
                                  </p:childTnLst>
                                </p:cTn>
                              </p:par>
                              <p:par>
                                <p:cTn id="15" presetID="9"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dissolve">
                                      <p:cBhvr>
                                        <p:cTn id="17" dur="500"/>
                                        <p:tgtEl>
                                          <p:spTgt spid="3">
                                            <p:txEl>
                                              <p:pRg st="6" end="6"/>
                                            </p:txEl>
                                          </p:spTgt>
                                        </p:tgtEl>
                                      </p:cBhvr>
                                    </p:animEffect>
                                  </p:childTnLst>
                                </p:cTn>
                              </p:par>
                            </p:childTnLst>
                          </p:cTn>
                        </p:par>
                        <p:par>
                          <p:cTn id="18" fill="hold">
                            <p:stCondLst>
                              <p:cond delay="500"/>
                            </p:stCondLst>
                            <p:childTnLst>
                              <p:par>
                                <p:cTn id="19" presetID="1" presetClass="entr" presetSubtype="0" fill="hold" nodeType="after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par>
                          <p:cTn id="21" fill="hold">
                            <p:stCondLst>
                              <p:cond delay="500"/>
                            </p:stCondLst>
                            <p:childTnLst>
                              <p:par>
                                <p:cTn id="22" presetID="1" presetClass="entr" presetSubtype="0" fill="hold" nodeType="afterEffect">
                                  <p:stCondLst>
                                    <p:cond delay="0"/>
                                  </p:stCondLst>
                                  <p:childTnLst>
                                    <p:set>
                                      <p:cBhvr>
                                        <p:cTn id="23" dur="1" fill="hold">
                                          <p:stCondLst>
                                            <p:cond delay="0"/>
                                          </p:stCondLst>
                                        </p:cTn>
                                        <p:tgtEl>
                                          <p:spTgt spid="14"/>
                                        </p:tgtEl>
                                        <p:attrNameLst>
                                          <p:attrName>style.visibility</p:attrName>
                                        </p:attrNameLst>
                                      </p:cBhvr>
                                      <p:to>
                                        <p:strVal val="visible"/>
                                      </p:to>
                                    </p:set>
                                  </p:childTnLst>
                                </p:cTn>
                              </p:par>
                            </p:childTnLst>
                          </p:cTn>
                        </p:par>
                        <p:par>
                          <p:cTn id="24" fill="hold">
                            <p:stCondLst>
                              <p:cond delay="500"/>
                            </p:stCondLst>
                            <p:childTnLst>
                              <p:par>
                                <p:cTn id="25" presetID="9" presetClass="entr" presetSubtype="0" fill="hold" nodeType="after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dissolve">
                                      <p:cBhvr>
                                        <p:cTn id="27" dur="500"/>
                                        <p:tgtEl>
                                          <p:spTgt spid="3">
                                            <p:txEl>
                                              <p:pRg st="8" end="8"/>
                                            </p:txEl>
                                          </p:spTgt>
                                        </p:tgtEl>
                                      </p:cBhvr>
                                    </p:animEffect>
                                  </p:childTnLst>
                                </p:cTn>
                              </p:par>
                            </p:childTnLst>
                          </p:cTn>
                        </p:par>
                        <p:par>
                          <p:cTn id="28" fill="hold">
                            <p:stCondLst>
                              <p:cond delay="1000"/>
                            </p:stCondLst>
                            <p:childTnLst>
                              <p:par>
                                <p:cTn id="29" presetID="9" presetClass="entr" presetSubtype="0" fill="hold" nodeType="after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dissolve">
                                      <p:cBhvr>
                                        <p:cTn id="31" dur="500"/>
                                        <p:tgtEl>
                                          <p:spTgt spid="3">
                                            <p:txEl>
                                              <p:pRg st="9" end="9"/>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8"/>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childTnLst>
                                </p:cTn>
                              </p:par>
                              <p:par>
                                <p:cTn id="38" presetID="21" presetClass="entr" presetSubtype="8" fill="hold"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wheel(8)">
                                      <p:cBhvr>
                                        <p:cTn id="40" dur="500"/>
                                        <p:tgtEl>
                                          <p:spTgt spid="23"/>
                                        </p:tgtEl>
                                      </p:cBhvr>
                                    </p:animEffec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9" presetClass="entr" presetSubtype="0" fill="hold" nodeType="with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animEffect transition="in" filter="dissolve">
                                      <p:cBhvr>
                                        <p:cTn id="45" dur="500"/>
                                        <p:tgtEl>
                                          <p:spTgt spid="3">
                                            <p:txEl>
                                              <p:pRg st="11" end="11"/>
                                            </p:txEl>
                                          </p:spTgt>
                                        </p:tgtEl>
                                      </p:cBhvr>
                                    </p:animEffect>
                                  </p:childTnLst>
                                </p:cTn>
                              </p:par>
                              <p:par>
                                <p:cTn id="46" presetID="1" presetClass="entr" presetSubtype="0" fill="hold" nodeType="withEffect">
                                  <p:stCondLst>
                                    <p:cond delay="0"/>
                                  </p:stCondLst>
                                  <p:childTnLst>
                                    <p:set>
                                      <p:cBhvr>
                                        <p:cTn id="47" dur="1" fill="hold">
                                          <p:stCondLst>
                                            <p:cond delay="0"/>
                                          </p:stCondLst>
                                        </p:cTn>
                                        <p:tgtEl>
                                          <p:spTgt spid="35"/>
                                        </p:tgtEl>
                                        <p:attrNameLst>
                                          <p:attrName>style.visibility</p:attrName>
                                        </p:attrNameLst>
                                      </p:cBhvr>
                                      <p:to>
                                        <p:strVal val="visible"/>
                                      </p:to>
                                    </p:set>
                                  </p:childTnLst>
                                </p:cTn>
                              </p:par>
                              <p:par>
                                <p:cTn id="48" presetID="21" presetClass="entr" presetSubtype="8" fill="hold" nodeType="with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wheel(8)">
                                      <p:cBhvr>
                                        <p:cTn id="50" dur="500"/>
                                        <p:tgtEl>
                                          <p:spTgt spid="29"/>
                                        </p:tgtEl>
                                      </p:cBhvr>
                                    </p:animEffect>
                                  </p:childTnLst>
                                </p:cTn>
                              </p:par>
                              <p:par>
                                <p:cTn id="51" presetID="9" presetClass="entr" presetSubtype="0" fill="hold" nodeType="withEffect">
                                  <p:stCondLst>
                                    <p:cond delay="0"/>
                                  </p:stCondLst>
                                  <p:childTnLst>
                                    <p:set>
                                      <p:cBhvr>
                                        <p:cTn id="52" dur="1" fill="hold">
                                          <p:stCondLst>
                                            <p:cond delay="0"/>
                                          </p:stCondLst>
                                        </p:cTn>
                                        <p:tgtEl>
                                          <p:spTgt spid="3">
                                            <p:txEl>
                                              <p:pRg st="14" end="14"/>
                                            </p:txEl>
                                          </p:spTgt>
                                        </p:tgtEl>
                                        <p:attrNameLst>
                                          <p:attrName>style.visibility</p:attrName>
                                        </p:attrNameLst>
                                      </p:cBhvr>
                                      <p:to>
                                        <p:strVal val="visible"/>
                                      </p:to>
                                    </p:set>
                                    <p:animEffect transition="in" filter="dissolve">
                                      <p:cBhvr>
                                        <p:cTn id="53"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p:cNvSpPr>
            <a:spLocks noGrp="1"/>
          </p:cNvSpPr>
          <p:nvPr>
            <p:ph type="title"/>
          </p:nvPr>
        </p:nvSpPr>
        <p:spPr>
          <a:xfrm>
            <a:off x="304800" y="116632"/>
            <a:ext cx="8686800" cy="838200"/>
          </a:xfrm>
        </p:spPr>
        <p:txBody>
          <a:bodyPr>
            <a:noAutofit/>
          </a:bodyPr>
          <a:lstStyle/>
          <a:p>
            <a:pPr algn="ctr">
              <a:defRPr/>
            </a:pPr>
            <a:r>
              <a:rPr lang="fr-FR" sz="2800" dirty="0" smtClean="0">
                <a:solidFill>
                  <a:srgbClr val="FF9900"/>
                </a:solidFill>
                <a:effectLst/>
                <a:latin typeface="+mn-lt"/>
              </a:rPr>
              <a:t>B- CRIT</a:t>
            </a:r>
            <a:r>
              <a:rPr lang="fr-FR" sz="2800" dirty="0" smtClean="0">
                <a:solidFill>
                  <a:srgbClr val="FF9900"/>
                </a:solidFill>
                <a:effectLst/>
                <a:latin typeface="+mn-lt"/>
                <a:cs typeface="Arial"/>
              </a:rPr>
              <a:t>È</a:t>
            </a:r>
            <a:r>
              <a:rPr lang="fr-FR" sz="2800" dirty="0" smtClean="0">
                <a:solidFill>
                  <a:srgbClr val="FF9900"/>
                </a:solidFill>
                <a:effectLst/>
                <a:latin typeface="+mn-lt"/>
              </a:rPr>
              <a:t>RES DGC DES PÉRICARDITES</a:t>
            </a:r>
            <a:endParaRPr lang="fr-FR" sz="2800" dirty="0">
              <a:solidFill>
                <a:srgbClr val="FF9900"/>
              </a:solidFill>
              <a:effectLst/>
              <a:latin typeface="+mn-lt"/>
            </a:endParaRPr>
          </a:p>
        </p:txBody>
      </p:sp>
      <p:graphicFrame>
        <p:nvGraphicFramePr>
          <p:cNvPr id="4" name="Espace réservé du contenu 3"/>
          <p:cNvGraphicFramePr>
            <a:graphicFrameLocks noGrp="1"/>
          </p:cNvGraphicFramePr>
          <p:nvPr>
            <p:ph idx="1"/>
          </p:nvPr>
        </p:nvGraphicFramePr>
        <p:xfrm>
          <a:off x="179512" y="1053082"/>
          <a:ext cx="8856000" cy="5328002"/>
        </p:xfrm>
        <a:graphic>
          <a:graphicData uri="http://schemas.openxmlformats.org/drawingml/2006/table">
            <a:tbl>
              <a:tblPr firstRow="1" bandRow="1">
                <a:tableStyleId>{BC89EF96-8CEA-46FF-86C4-4CE0E7609802}</a:tableStyleId>
              </a:tblPr>
              <a:tblGrid>
                <a:gridCol w="1440000"/>
                <a:gridCol w="7416000"/>
              </a:tblGrid>
              <a:tr h="2995462">
                <a:tc>
                  <a:txBody>
                    <a:bodyPr/>
                    <a:lstStyle/>
                    <a:p>
                      <a:endParaRPr lang="fr-FR" sz="2000" b="0" dirty="0" smtClean="0"/>
                    </a:p>
                    <a:p>
                      <a:endParaRPr lang="fr-FR" sz="2000" b="0" dirty="0" smtClean="0"/>
                    </a:p>
                    <a:p>
                      <a:endParaRPr lang="fr-FR" sz="2000" b="0" dirty="0" smtClean="0"/>
                    </a:p>
                    <a:p>
                      <a:endParaRPr lang="fr-FR" sz="2000" b="0" dirty="0" smtClean="0"/>
                    </a:p>
                    <a:p>
                      <a:pPr algn="ctr"/>
                      <a:r>
                        <a:rPr lang="fr-FR" sz="2400" b="1" dirty="0" smtClean="0"/>
                        <a:t>Dgc</a:t>
                      </a:r>
                      <a:endParaRPr lang="fr-FR" sz="2400" b="1" dirty="0"/>
                    </a:p>
                  </a:txBody>
                  <a:tcPr/>
                </a:tc>
                <a:tc>
                  <a:txBody>
                    <a:bodyPr/>
                    <a:lstStyle/>
                    <a:p>
                      <a:r>
                        <a:rPr lang="fr-FR" dirty="0" smtClean="0">
                          <a:solidFill>
                            <a:srgbClr val="C00000"/>
                          </a:solidFill>
                          <a:latin typeface="Calibri" pitchFamily="34" charset="0"/>
                        </a:rPr>
                        <a:t>Dgc</a:t>
                      </a:r>
                      <a:r>
                        <a:rPr lang="fr-FR" baseline="0" dirty="0" smtClean="0">
                          <a:solidFill>
                            <a:srgbClr val="C00000"/>
                          </a:solidFill>
                          <a:latin typeface="Calibri" pitchFamily="34" charset="0"/>
                        </a:rPr>
                        <a:t> certain</a:t>
                      </a:r>
                      <a:r>
                        <a:rPr lang="fr-FR" baseline="0" dirty="0" smtClean="0">
                          <a:latin typeface="Calibri" pitchFamily="34" charset="0"/>
                        </a:rPr>
                        <a:t> </a:t>
                      </a:r>
                      <a:r>
                        <a:rPr lang="fr-FR" b="0" baseline="0" dirty="0" smtClean="0">
                          <a:latin typeface="Calibri" pitchFamily="34" charset="0"/>
                        </a:rPr>
                        <a:t>si clinique avec </a:t>
                      </a:r>
                      <a:r>
                        <a:rPr lang="fr-FR" b="0" baseline="0" dirty="0" smtClean="0">
                          <a:latin typeface="Calibri"/>
                        </a:rPr>
                        <a:t>&gt; 1 critère additionnel</a:t>
                      </a:r>
                    </a:p>
                    <a:p>
                      <a:r>
                        <a:rPr lang="fr-FR" baseline="0" dirty="0" smtClean="0">
                          <a:solidFill>
                            <a:srgbClr val="FA8006"/>
                          </a:solidFill>
                          <a:latin typeface="Calibri"/>
                        </a:rPr>
                        <a:t>Dgc possible </a:t>
                      </a:r>
                      <a:r>
                        <a:rPr lang="fr-FR" baseline="0" dirty="0" smtClean="0">
                          <a:latin typeface="Calibri"/>
                        </a:rPr>
                        <a:t> </a:t>
                      </a:r>
                      <a:r>
                        <a:rPr lang="fr-FR" b="0" baseline="0" dirty="0" smtClean="0">
                          <a:latin typeface="Calibri"/>
                        </a:rPr>
                        <a:t>si</a:t>
                      </a:r>
                      <a:r>
                        <a:rPr lang="fr-FR" baseline="0" dirty="0" smtClean="0">
                          <a:latin typeface="Calibri"/>
                        </a:rPr>
                        <a:t>  </a:t>
                      </a:r>
                      <a:r>
                        <a:rPr lang="fr-FR" b="0" baseline="0" dirty="0" smtClean="0">
                          <a:latin typeface="Calibri"/>
                        </a:rPr>
                        <a:t>clinique avec 1 seul critère additionnel</a:t>
                      </a:r>
                    </a:p>
                    <a:p>
                      <a:pPr>
                        <a:spcAft>
                          <a:spcPts val="600"/>
                        </a:spcAft>
                      </a:pPr>
                      <a:r>
                        <a:rPr lang="fr-FR" baseline="0" dirty="0" smtClean="0">
                          <a:solidFill>
                            <a:srgbClr val="0070C0"/>
                          </a:solidFill>
                          <a:latin typeface="Calibri"/>
                        </a:rPr>
                        <a:t>Dgc peu probable/rejeté </a:t>
                      </a:r>
                      <a:r>
                        <a:rPr lang="fr-FR" baseline="0" dirty="0" smtClean="0">
                          <a:latin typeface="Calibri"/>
                        </a:rPr>
                        <a:t> </a:t>
                      </a:r>
                      <a:r>
                        <a:rPr lang="fr-FR" b="0" baseline="0" dirty="0" smtClean="0">
                          <a:latin typeface="Calibri"/>
                        </a:rPr>
                        <a:t>si</a:t>
                      </a:r>
                      <a:r>
                        <a:rPr lang="fr-FR" baseline="0" dirty="0" smtClean="0">
                          <a:latin typeface="Calibri"/>
                        </a:rPr>
                        <a:t> </a:t>
                      </a:r>
                      <a:r>
                        <a:rPr lang="fr-FR" b="0" baseline="0" dirty="0" smtClean="0">
                          <a:latin typeface="Calibri"/>
                        </a:rPr>
                        <a:t>présentation clinique seule</a:t>
                      </a:r>
                    </a:p>
                    <a:p>
                      <a:pPr>
                        <a:lnSpc>
                          <a:spcPct val="150000"/>
                        </a:lnSpc>
                      </a:pPr>
                      <a:r>
                        <a:rPr lang="fr-FR" i="1" baseline="0" dirty="0" smtClean="0">
                          <a:solidFill>
                            <a:srgbClr val="800000"/>
                          </a:solidFill>
                        </a:rPr>
                        <a:t>                           Critères additionnels</a:t>
                      </a:r>
                      <a:endParaRPr lang="fr-FR" baseline="0" dirty="0" smtClean="0">
                        <a:latin typeface="Calibri"/>
                      </a:endParaRPr>
                    </a:p>
                    <a:p>
                      <a:pPr>
                        <a:lnSpc>
                          <a:spcPct val="100000"/>
                        </a:lnSpc>
                      </a:pPr>
                      <a:r>
                        <a:rPr lang="fr-FR" sz="1600" i="1" baseline="0" dirty="0" smtClean="0">
                          <a:solidFill>
                            <a:srgbClr val="C00000"/>
                          </a:solidFill>
                        </a:rPr>
                        <a:t> </a:t>
                      </a:r>
                      <a:r>
                        <a:rPr lang="fr-FR" sz="1600" b="0" i="1" baseline="0" dirty="0" smtClean="0">
                          <a:solidFill>
                            <a:srgbClr val="C00000"/>
                          </a:solidFill>
                        </a:rPr>
                        <a:t>Clinique: </a:t>
                      </a:r>
                      <a:r>
                        <a:rPr lang="fr-FR" b="0" dirty="0" smtClean="0"/>
                        <a:t>frottement</a:t>
                      </a:r>
                    </a:p>
                    <a:p>
                      <a:pPr>
                        <a:lnSpc>
                          <a:spcPct val="100000"/>
                        </a:lnSpc>
                      </a:pPr>
                      <a:r>
                        <a:rPr lang="fr-FR" b="0" baseline="0" dirty="0" smtClean="0"/>
                        <a:t> </a:t>
                      </a:r>
                      <a:r>
                        <a:rPr lang="fr-FR" sz="1600" b="0" i="1" baseline="0" dirty="0" smtClean="0">
                          <a:solidFill>
                            <a:srgbClr val="C00000"/>
                          </a:solidFill>
                        </a:rPr>
                        <a:t>ECG</a:t>
                      </a:r>
                      <a:r>
                        <a:rPr lang="fr-FR" b="0" baseline="0" dirty="0" smtClean="0"/>
                        <a:t>: sus ST diffus récent ou sous décalage PR</a:t>
                      </a:r>
                    </a:p>
                    <a:p>
                      <a:pPr>
                        <a:lnSpc>
                          <a:spcPct val="100000"/>
                        </a:lnSpc>
                      </a:pPr>
                      <a:r>
                        <a:rPr lang="fr-FR" sz="1800" b="0" baseline="0" dirty="0" smtClean="0">
                          <a:solidFill>
                            <a:srgbClr val="C00000"/>
                          </a:solidFill>
                        </a:rPr>
                        <a:t> </a:t>
                      </a:r>
                      <a:r>
                        <a:rPr lang="fr-FR" sz="1600" b="0" i="1" baseline="0" dirty="0" smtClean="0">
                          <a:solidFill>
                            <a:srgbClr val="C00000"/>
                          </a:solidFill>
                        </a:rPr>
                        <a:t>Biomarqueurs:</a:t>
                      </a:r>
                      <a:r>
                        <a:rPr lang="fr-FR" sz="1600" b="0" baseline="0" dirty="0" smtClean="0">
                          <a:solidFill>
                            <a:srgbClr val="C00000"/>
                          </a:solidFill>
                        </a:rPr>
                        <a:t> </a:t>
                      </a:r>
                      <a:r>
                        <a:rPr lang="fr-FR" b="0" baseline="0" dirty="0" smtClean="0"/>
                        <a:t>CRP </a:t>
                      </a:r>
                      <a:r>
                        <a:rPr lang="fr-FR" sz="1800" b="1" dirty="0" smtClean="0">
                          <a:solidFill>
                            <a:schemeClr val="tx1"/>
                          </a:solidFill>
                          <a:sym typeface="Symbol" pitchFamily="18" charset="2"/>
                        </a:rPr>
                        <a:t></a:t>
                      </a:r>
                      <a:endParaRPr lang="fr-FR" b="0" baseline="0" dirty="0" smtClean="0"/>
                    </a:p>
                    <a:p>
                      <a:pPr>
                        <a:lnSpc>
                          <a:spcPct val="100000"/>
                        </a:lnSpc>
                      </a:pPr>
                      <a:r>
                        <a:rPr lang="fr-FR" b="0" baseline="0" dirty="0" smtClean="0"/>
                        <a:t> </a:t>
                      </a:r>
                      <a:r>
                        <a:rPr lang="fr-FR" sz="1600" b="0" i="1" baseline="0" dirty="0" smtClean="0">
                          <a:solidFill>
                            <a:srgbClr val="C00000"/>
                          </a:solidFill>
                        </a:rPr>
                        <a:t>Imagerie: </a:t>
                      </a:r>
                      <a:r>
                        <a:rPr lang="fr-FR" b="0" baseline="0" dirty="0" smtClean="0"/>
                        <a:t>épanchement péricardique (nouveau / abondance croissante)</a:t>
                      </a:r>
                    </a:p>
                    <a:p>
                      <a:pPr>
                        <a:lnSpc>
                          <a:spcPct val="100000"/>
                        </a:lnSpc>
                      </a:pPr>
                      <a:r>
                        <a:rPr lang="fr-FR" b="0" baseline="0" dirty="0" smtClean="0"/>
                        <a:t>                 IRM: œdème péricardique et/ou rehaussement tardif  </a:t>
                      </a:r>
                      <a:r>
                        <a:rPr lang="fr-FR" baseline="0" dirty="0" smtClean="0"/>
                        <a:t>       </a:t>
                      </a:r>
                      <a:endParaRPr lang="fr-FR" baseline="0" dirty="0" smtClean="0">
                        <a:latin typeface="Calibri"/>
                      </a:endParaRPr>
                    </a:p>
                  </a:txBody>
                  <a:tcPr/>
                </a:tc>
              </a:tr>
              <a:tr h="570630">
                <a:tc>
                  <a:txBody>
                    <a:bodyPr/>
                    <a:lstStyle/>
                    <a:p>
                      <a:endParaRPr lang="fr-FR" sz="2000" b="0" dirty="0" smtClean="0"/>
                    </a:p>
                  </a:txBody>
                  <a:tcPr>
                    <a:lnB w="12700" cap="flat" cmpd="sng" algn="ctr">
                      <a:noFill/>
                      <a:prstDash val="solid"/>
                      <a:round/>
                      <a:headEnd type="none" w="med" len="med"/>
                      <a:tailEnd type="none" w="med" len="med"/>
                    </a:lnB>
                    <a:solidFill>
                      <a:schemeClr val="bg2">
                        <a:alpha val="20000"/>
                      </a:schemeClr>
                    </a:solid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fr-FR" sz="1800" b="0" dirty="0" smtClean="0"/>
                        <a:t>Aiguë:</a:t>
                      </a:r>
                      <a:r>
                        <a:rPr lang="fr-FR" sz="1800" b="0" baseline="0" dirty="0" smtClean="0"/>
                        <a:t> </a:t>
                      </a:r>
                      <a:r>
                        <a:rPr lang="fr-FR" sz="1800" b="0" dirty="0" smtClean="0">
                          <a:latin typeface="Calibri"/>
                        </a:rPr>
                        <a:t>≤ 4 semaines</a:t>
                      </a:r>
                      <a:endParaRPr lang="fr-FR" sz="1800" b="0" dirty="0" smtClean="0"/>
                    </a:p>
                  </a:txBody>
                  <a:tcPr/>
                </a:tc>
              </a:tr>
              <a:tr h="570630">
                <a:tc>
                  <a:txBody>
                    <a:bodyPr/>
                    <a:lstStyle/>
                    <a:p>
                      <a:r>
                        <a:rPr lang="fr-FR" sz="2000" dirty="0" smtClean="0"/>
                        <a:t> </a:t>
                      </a:r>
                      <a:endParaRPr lang="fr-FR" sz="2000" dirty="0"/>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50000"/>
                        </a:lnSpc>
                      </a:pPr>
                      <a:r>
                        <a:rPr lang="fr-FR" sz="1800" dirty="0" smtClean="0"/>
                        <a:t>Subaigüe; </a:t>
                      </a:r>
                      <a:r>
                        <a:rPr lang="fr-FR" b="1" dirty="0" smtClean="0">
                          <a:sym typeface="Symbol"/>
                        </a:rPr>
                        <a:t></a:t>
                      </a:r>
                      <a:r>
                        <a:rPr lang="fr-FR" dirty="0" smtClean="0">
                          <a:sym typeface="Symbol"/>
                        </a:rPr>
                        <a:t> </a:t>
                      </a:r>
                      <a:r>
                        <a:rPr lang="fr-FR" baseline="0" dirty="0" smtClean="0"/>
                        <a:t>4 semaines et </a:t>
                      </a:r>
                      <a:r>
                        <a:rPr lang="fr-FR" b="1" baseline="0" dirty="0" smtClean="0">
                          <a:latin typeface="Calibri"/>
                        </a:rPr>
                        <a:t>≤</a:t>
                      </a:r>
                      <a:r>
                        <a:rPr lang="fr-FR" baseline="0" dirty="0" smtClean="0"/>
                        <a:t> 3 mois, sans rémission</a:t>
                      </a:r>
                      <a:endParaRPr lang="fr-FR" dirty="0"/>
                    </a:p>
                  </a:txBody>
                  <a:tcPr/>
                </a:tc>
              </a:tr>
              <a:tr h="570630">
                <a:tc>
                  <a:txBody>
                    <a:bodyPr/>
                    <a:lstStyle/>
                    <a:p>
                      <a:endParaRPr lang="fr-FR" sz="1800" dirty="0"/>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alpha val="20000"/>
                      </a:schemeClr>
                    </a:solid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fr-FR" sz="1800" dirty="0" smtClean="0"/>
                        <a:t>Récidivante: récidive</a:t>
                      </a:r>
                      <a:r>
                        <a:rPr lang="fr-FR" dirty="0" smtClean="0"/>
                        <a:t> après rémission clinique d’un 1</a:t>
                      </a:r>
                      <a:r>
                        <a:rPr lang="fr-FR" baseline="30000" dirty="0" smtClean="0"/>
                        <a:t>er</a:t>
                      </a:r>
                      <a:r>
                        <a:rPr lang="fr-FR" dirty="0" smtClean="0"/>
                        <a:t> épisode (</a:t>
                      </a:r>
                      <a:r>
                        <a:rPr lang="fr-FR" b="0" dirty="0" smtClean="0"/>
                        <a:t>~</a:t>
                      </a:r>
                      <a:r>
                        <a:rPr lang="fr-FR" dirty="0" smtClean="0"/>
                        <a:t> 18</a:t>
                      </a:r>
                      <a:r>
                        <a:rPr lang="fr-FR" baseline="0" dirty="0" smtClean="0"/>
                        <a:t> </a:t>
                      </a:r>
                      <a:r>
                        <a:rPr lang="fr-FR" dirty="0" smtClean="0"/>
                        <a:t>mois)</a:t>
                      </a:r>
                      <a:endParaRPr lang="fr-FR" dirty="0"/>
                    </a:p>
                  </a:txBody>
                  <a:tcPr/>
                </a:tc>
              </a:tr>
              <a:tr h="620650">
                <a:tc>
                  <a:txBody>
                    <a:bodyPr/>
                    <a:lstStyle/>
                    <a:p>
                      <a:endParaRPr lang="fr-FR" sz="2000" dirty="0"/>
                    </a:p>
                  </a:txBody>
                  <a:tcPr>
                    <a:lnT w="12700" cap="flat" cmpd="sng" algn="ctr">
                      <a:noFill/>
                      <a:prstDash val="solid"/>
                      <a:round/>
                      <a:headEnd type="none" w="med" len="med"/>
                      <a:tailEnd type="none" w="med" len="med"/>
                    </a:lnT>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fr-FR" sz="1800" dirty="0" smtClean="0"/>
                        <a:t>Chronique: </a:t>
                      </a:r>
                      <a:r>
                        <a:rPr lang="fr-FR" dirty="0" smtClean="0"/>
                        <a:t>Evolution &gt; </a:t>
                      </a:r>
                      <a:r>
                        <a:rPr lang="fr-FR" baseline="0" dirty="0" smtClean="0"/>
                        <a:t>3 mois</a:t>
                      </a:r>
                      <a:endParaRPr lang="fr-FR" dirty="0"/>
                    </a:p>
                  </a:txBody>
                  <a:tcPr/>
                </a:tc>
              </a:tr>
            </a:tbl>
          </a:graphicData>
        </a:graphic>
      </p:graphicFrame>
      <p:sp>
        <p:nvSpPr>
          <p:cNvPr id="5" name="ZoneTexte 4"/>
          <p:cNvSpPr txBox="1"/>
          <p:nvPr/>
        </p:nvSpPr>
        <p:spPr>
          <a:xfrm>
            <a:off x="107504" y="4830251"/>
            <a:ext cx="1584176" cy="830997"/>
          </a:xfrm>
          <a:prstGeom prst="rect">
            <a:avLst/>
          </a:prstGeom>
          <a:noFill/>
        </p:spPr>
        <p:txBody>
          <a:bodyPr wrap="square" rtlCol="0">
            <a:spAutoFit/>
          </a:bodyPr>
          <a:lstStyle/>
          <a:p>
            <a:pPr algn="ctr"/>
            <a:r>
              <a:rPr lang="fr-FR" sz="2400" b="1" dirty="0" smtClean="0"/>
              <a:t>Stades évolutifs</a:t>
            </a:r>
            <a:endParaRPr lang="fr-FR" sz="2400" b="1"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Rot="1" noChangeArrowheads="1"/>
          </p:cNvSpPr>
          <p:nvPr>
            <p:ph type="body" idx="1"/>
          </p:nvPr>
        </p:nvSpPr>
        <p:spPr>
          <a:xfrm>
            <a:off x="251520" y="1096963"/>
            <a:ext cx="8748712" cy="5140325"/>
          </a:xfrm>
        </p:spPr>
        <p:txBody>
          <a:bodyPr>
            <a:normAutofit/>
          </a:bodyPr>
          <a:lstStyle/>
          <a:p>
            <a:pPr eaLnBrk="1" hangingPunct="1">
              <a:defRPr/>
            </a:pPr>
            <a:endParaRPr lang="fr-FR" sz="2400" dirty="0" smtClean="0"/>
          </a:p>
          <a:p>
            <a:pPr eaLnBrk="1" hangingPunct="1">
              <a:buClr>
                <a:srgbClr val="FF9900"/>
              </a:buClr>
              <a:buNone/>
              <a:defRPr/>
            </a:pPr>
            <a:r>
              <a:rPr lang="fr-FR" sz="2400" b="1" dirty="0" smtClean="0">
                <a:solidFill>
                  <a:schemeClr val="bg2">
                    <a:lumMod val="10000"/>
                  </a:schemeClr>
                </a:solidFill>
              </a:rPr>
              <a:t> </a:t>
            </a:r>
          </a:p>
          <a:p>
            <a:pPr eaLnBrk="1" hangingPunct="1">
              <a:buClr>
                <a:srgbClr val="FF9900"/>
              </a:buClr>
              <a:defRPr/>
            </a:pPr>
            <a:endParaRPr lang="fr-FR" sz="2400" dirty="0" smtClean="0">
              <a:solidFill>
                <a:schemeClr val="bg2">
                  <a:lumMod val="10000"/>
                </a:schemeClr>
              </a:solidFill>
            </a:endParaRPr>
          </a:p>
          <a:p>
            <a:pPr eaLnBrk="1" hangingPunct="1">
              <a:buClr>
                <a:srgbClr val="FF9900"/>
              </a:buClr>
              <a:defRPr/>
            </a:pPr>
            <a:endParaRPr lang="fr-FR" sz="2400" dirty="0" smtClean="0">
              <a:solidFill>
                <a:schemeClr val="bg2">
                  <a:lumMod val="10000"/>
                </a:schemeClr>
              </a:solidFill>
            </a:endParaRPr>
          </a:p>
        </p:txBody>
      </p:sp>
      <p:sp>
        <p:nvSpPr>
          <p:cNvPr id="6" name="Titre 5"/>
          <p:cNvSpPr>
            <a:spLocks noGrp="1"/>
          </p:cNvSpPr>
          <p:nvPr>
            <p:ph type="title"/>
          </p:nvPr>
        </p:nvSpPr>
        <p:spPr>
          <a:xfrm>
            <a:off x="304800" y="260648"/>
            <a:ext cx="8686800" cy="838200"/>
          </a:xfrm>
        </p:spPr>
        <p:txBody>
          <a:bodyPr/>
          <a:lstStyle/>
          <a:p>
            <a:pPr algn="ctr"/>
            <a:r>
              <a:rPr lang="fr-FR" dirty="0" smtClean="0">
                <a:solidFill>
                  <a:srgbClr val="800000"/>
                </a:solidFill>
              </a:rPr>
              <a:t>VIII- LES MYOCARDITES</a:t>
            </a:r>
            <a:endParaRPr lang="fr-FR" dirty="0">
              <a:solidFill>
                <a:srgbClr val="800000"/>
              </a:solidFil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1"/>
          <p:cNvSpPr txBox="1">
            <a:spLocks/>
          </p:cNvSpPr>
          <p:nvPr/>
        </p:nvSpPr>
        <p:spPr>
          <a:xfrm>
            <a:off x="304800" y="116632"/>
            <a:ext cx="8686800" cy="648072"/>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sz="2400" b="0" i="0" u="none" strike="noStrike" kern="1200" cap="all" spc="0" normalizeH="0" baseline="0" noProof="0" dirty="0" smtClean="0">
                <a:ln>
                  <a:noFill/>
                </a:ln>
                <a:solidFill>
                  <a:srgbClr val="FF9900"/>
                </a:solidFill>
                <a:effectLst/>
                <a:uLnTx/>
                <a:uFillTx/>
                <a:latin typeface="+mn-lt"/>
                <a:ea typeface="+mj-ea"/>
                <a:cs typeface="+mj-cs"/>
              </a:rPr>
              <a:t>A- PRESENTATIONS CLINIQUES</a:t>
            </a:r>
          </a:p>
          <a:p>
            <a:pPr marL="0" marR="0" lvl="0" indent="0" algn="ctr" defTabSz="914400" rtl="0" eaLnBrk="1" fontAlgn="auto" latinLnBrk="0" hangingPunct="1">
              <a:lnSpc>
                <a:spcPct val="100000"/>
              </a:lnSpc>
              <a:spcBef>
                <a:spcPct val="0"/>
              </a:spcBef>
              <a:spcAft>
                <a:spcPts val="0"/>
              </a:spcAft>
              <a:buClrTx/>
              <a:buSzTx/>
              <a:buFontTx/>
              <a:buNone/>
              <a:tabLst/>
              <a:defRPr/>
            </a:pPr>
            <a:r>
              <a:rPr lang="fr-FR" sz="2000" i="1" cap="all" noProof="0" dirty="0" smtClean="0">
                <a:solidFill>
                  <a:srgbClr val="800000"/>
                </a:solidFill>
                <a:ea typeface="+mj-ea"/>
                <a:cs typeface="+mj-cs"/>
              </a:rPr>
              <a:t>1- « </a:t>
            </a:r>
            <a:r>
              <a:rPr lang="fr-FR" sz="2000" i="1" dirty="0" smtClean="0">
                <a:solidFill>
                  <a:srgbClr val="800000"/>
                </a:solidFill>
                <a:ea typeface="+mj-ea"/>
                <a:cs typeface="+mj-cs"/>
              </a:rPr>
              <a:t>R</a:t>
            </a:r>
            <a:r>
              <a:rPr kumimoji="0" lang="fr-FR" sz="2000" b="0" i="1" u="none" strike="noStrike" kern="1200" spc="0" normalizeH="0" noProof="0" dirty="0" err="1" smtClean="0">
                <a:ln>
                  <a:noFill/>
                </a:ln>
                <a:solidFill>
                  <a:srgbClr val="800000"/>
                </a:solidFill>
                <a:effectLst/>
                <a:uLnTx/>
                <a:uFillTx/>
                <a:latin typeface="+mn-lt"/>
                <a:ea typeface="+mj-ea"/>
                <a:cs typeface="+mj-cs"/>
              </a:rPr>
              <a:t>ed</a:t>
            </a:r>
            <a:r>
              <a:rPr kumimoji="0" lang="fr-FR" sz="2000" b="0" i="1" u="none" strike="noStrike" kern="1200" spc="0" normalizeH="0" noProof="0" dirty="0" smtClean="0">
                <a:ln>
                  <a:noFill/>
                </a:ln>
                <a:solidFill>
                  <a:srgbClr val="800000"/>
                </a:solidFill>
                <a:effectLst/>
                <a:uLnTx/>
                <a:uFillTx/>
                <a:latin typeface="+mn-lt"/>
                <a:ea typeface="+mj-ea"/>
                <a:cs typeface="+mj-cs"/>
              </a:rPr>
              <a:t> Flags</a:t>
            </a:r>
            <a:r>
              <a:rPr kumimoji="0" lang="fr-FR" sz="2000" b="0" i="1" u="none" strike="noStrike" kern="1200" cap="all" spc="0" normalizeH="0" noProof="0" dirty="0" smtClean="0">
                <a:ln>
                  <a:noFill/>
                </a:ln>
                <a:solidFill>
                  <a:srgbClr val="800000"/>
                </a:solidFill>
                <a:effectLst/>
                <a:uLnTx/>
                <a:uFillTx/>
                <a:latin typeface="+mn-lt"/>
                <a:ea typeface="+mj-ea"/>
                <a:cs typeface="+mj-cs"/>
              </a:rPr>
              <a:t> »</a:t>
            </a:r>
            <a:endParaRPr kumimoji="0" lang="fr-FR" sz="2000" b="0" i="1" u="none" strike="noStrike" kern="1200" cap="all" spc="0" normalizeH="0" baseline="0" noProof="0" dirty="0">
              <a:ln>
                <a:noFill/>
              </a:ln>
              <a:solidFill>
                <a:srgbClr val="800000"/>
              </a:solidFill>
              <a:effectLst/>
              <a:uLnTx/>
              <a:uFillTx/>
              <a:latin typeface="+mn-lt"/>
              <a:ea typeface="+mj-ea"/>
              <a:cs typeface="+mj-cs"/>
            </a:endParaRPr>
          </a:p>
        </p:txBody>
      </p:sp>
      <p:pic>
        <p:nvPicPr>
          <p:cNvPr id="2050" name="Picture 2"/>
          <p:cNvPicPr>
            <a:picLocks noChangeAspect="1" noChangeArrowheads="1"/>
          </p:cNvPicPr>
          <p:nvPr/>
        </p:nvPicPr>
        <p:blipFill>
          <a:blip r:embed="rId3" cstate="print"/>
          <a:srcRect/>
          <a:stretch>
            <a:fillRect/>
          </a:stretch>
        </p:blipFill>
        <p:spPr bwMode="auto">
          <a:xfrm>
            <a:off x="119063" y="980728"/>
            <a:ext cx="8905875" cy="4752527"/>
          </a:xfrm>
          <a:prstGeom prst="rect">
            <a:avLst/>
          </a:prstGeom>
          <a:ln>
            <a:noFill/>
          </a:ln>
          <a:effectLst>
            <a:outerShdw blurRad="292100" dist="139700" dir="2700000" algn="tl" rotWithShape="0">
              <a:srgbClr val="333333">
                <a:alpha val="65000"/>
              </a:srgbClr>
            </a:outerShdw>
          </a:effectLst>
        </p:spPr>
      </p:pic>
      <p:pic>
        <p:nvPicPr>
          <p:cNvPr id="5" name="Picture 2"/>
          <p:cNvPicPr>
            <a:picLocks noChangeAspect="1" noChangeArrowheads="1"/>
          </p:cNvPicPr>
          <p:nvPr/>
        </p:nvPicPr>
        <p:blipFill>
          <a:blip r:embed="rId3" cstate="print"/>
          <a:srcRect t="13636" r="47574" b="10606"/>
          <a:stretch>
            <a:fillRect/>
          </a:stretch>
        </p:blipFill>
        <p:spPr bwMode="auto">
          <a:xfrm>
            <a:off x="2267744" y="1700808"/>
            <a:ext cx="4668961" cy="3600400"/>
          </a:xfrm>
          <a:prstGeom prst="rect">
            <a:avLst/>
          </a:prstGeom>
          <a:ln>
            <a:noFill/>
          </a:ln>
          <a:effectLst>
            <a:outerShdw blurRad="292100" dist="139700" dir="2700000" algn="tl" rotWithShape="0">
              <a:srgbClr val="333333">
                <a:alpha val="65000"/>
              </a:srgbClr>
            </a:outerShdw>
          </a:effectLst>
        </p:spPr>
      </p:pic>
      <p:sp>
        <p:nvSpPr>
          <p:cNvPr id="4" name="ZoneTexte 3"/>
          <p:cNvSpPr txBox="1"/>
          <p:nvPr/>
        </p:nvSpPr>
        <p:spPr>
          <a:xfrm>
            <a:off x="6804248" y="6093296"/>
            <a:ext cx="1064715" cy="338554"/>
          </a:xfrm>
          <a:prstGeom prst="rect">
            <a:avLst/>
          </a:prstGeom>
          <a:noFill/>
        </p:spPr>
        <p:txBody>
          <a:bodyPr wrap="none" rtlCol="0">
            <a:spAutoFit/>
          </a:bodyPr>
          <a:lstStyle/>
          <a:p>
            <a:r>
              <a:rPr lang="fr-FR" sz="1600" b="1" dirty="0" smtClean="0"/>
              <a:t>ESC 2025</a:t>
            </a:r>
            <a:endParaRPr lang="fr-FR" sz="1600" b="1" dirty="0"/>
          </a:p>
        </p:txBody>
      </p:sp>
      <p:sp>
        <p:nvSpPr>
          <p:cNvPr id="6" name="ZoneTexte 5"/>
          <p:cNvSpPr txBox="1"/>
          <p:nvPr/>
        </p:nvSpPr>
        <p:spPr>
          <a:xfrm>
            <a:off x="395536" y="413077"/>
            <a:ext cx="8568952" cy="6140142"/>
          </a:xfrm>
          <a:prstGeom prst="rect">
            <a:avLst/>
          </a:prstGeom>
          <a:solidFill>
            <a:schemeClr val="bg1">
              <a:lumMod val="85000"/>
            </a:schemeClr>
          </a:solidFill>
          <a:ln>
            <a:solidFill>
              <a:schemeClr val="bg1"/>
            </a:solidFill>
          </a:ln>
        </p:spPr>
        <p:txBody>
          <a:bodyPr wrap="square" rtlCol="0">
            <a:spAutoFit/>
          </a:bodyPr>
          <a:lstStyle/>
          <a:p>
            <a:r>
              <a:rPr lang="fr-FR" sz="2800" dirty="0" smtClean="0">
                <a:latin typeface="Calibri" pitchFamily="34" charset="0"/>
                <a:cs typeface="Arial" pitchFamily="34" charset="0"/>
              </a:rPr>
              <a:t>Myocardites</a:t>
            </a:r>
          </a:p>
          <a:p>
            <a:pPr>
              <a:spcBef>
                <a:spcPts val="600"/>
              </a:spcBef>
            </a:pPr>
            <a:r>
              <a:rPr lang="fr-FR" sz="2400" dirty="0" smtClean="0">
                <a:latin typeface="Calibri" pitchFamily="34" charset="0"/>
                <a:cs typeface="Arial" pitchFamily="34" charset="0"/>
              </a:rPr>
              <a:t>Syndrome pseudo grippal ou </a:t>
            </a:r>
            <a:r>
              <a:rPr lang="fr-FR" sz="2400" dirty="0" err="1" smtClean="0">
                <a:latin typeface="Calibri" pitchFamily="34" charset="0"/>
                <a:cs typeface="Arial" pitchFamily="34" charset="0"/>
              </a:rPr>
              <a:t>gastro</a:t>
            </a:r>
            <a:r>
              <a:rPr lang="fr-FR" sz="2400" dirty="0" smtClean="0">
                <a:latin typeface="Calibri" pitchFamily="34" charset="0"/>
                <a:cs typeface="Arial" pitchFamily="34" charset="0"/>
              </a:rPr>
              <a:t> entérite récents ou concomitants</a:t>
            </a:r>
          </a:p>
          <a:p>
            <a:r>
              <a:rPr lang="fr-FR" sz="2400" dirty="0" smtClean="0">
                <a:latin typeface="Calibri" pitchFamily="34" charset="0"/>
                <a:cs typeface="Arial" pitchFamily="34" charset="0"/>
              </a:rPr>
              <a:t>Douleur thoracique pseudo angineuse</a:t>
            </a:r>
          </a:p>
          <a:p>
            <a:r>
              <a:rPr lang="fr-FR" sz="2400" dirty="0" smtClean="0">
                <a:latin typeface="Calibri" pitchFamily="34" charset="0"/>
                <a:cs typeface="Arial" pitchFamily="34" charset="0"/>
              </a:rPr>
              <a:t>Palpitations</a:t>
            </a:r>
          </a:p>
          <a:p>
            <a:r>
              <a:rPr lang="fr-FR" sz="2400" dirty="0" smtClean="0">
                <a:latin typeface="Calibri" pitchFamily="34" charset="0"/>
                <a:cs typeface="Arial" pitchFamily="34" charset="0"/>
              </a:rPr>
              <a:t>Symptômes d’IC</a:t>
            </a:r>
          </a:p>
          <a:p>
            <a:r>
              <a:rPr lang="fr-FR" sz="2400" dirty="0" smtClean="0">
                <a:latin typeface="Calibri" pitchFamily="34" charset="0"/>
                <a:cs typeface="Arial" pitchFamily="34" charset="0"/>
              </a:rPr>
              <a:t>Modifications ECG</a:t>
            </a:r>
          </a:p>
          <a:p>
            <a:r>
              <a:rPr lang="fr-FR" sz="2400" dirty="0" smtClean="0">
                <a:latin typeface="Calibri" pitchFamily="34" charset="0"/>
                <a:cs typeface="Arial" pitchFamily="34" charset="0"/>
              </a:rPr>
              <a:t>Arythmie ventriculaire</a:t>
            </a:r>
          </a:p>
          <a:p>
            <a:r>
              <a:rPr lang="fr-FR" sz="2400" dirty="0" smtClean="0">
                <a:latin typeface="Calibri" pitchFamily="34" charset="0"/>
                <a:cs typeface="Arial" pitchFamily="34" charset="0"/>
              </a:rPr>
              <a:t>Syncope</a:t>
            </a:r>
          </a:p>
          <a:p>
            <a:r>
              <a:rPr lang="fr-FR" sz="2400" dirty="0" smtClean="0">
                <a:latin typeface="Calibri" pitchFamily="34" charset="0"/>
                <a:cs typeface="Arial" pitchFamily="34" charset="0"/>
              </a:rPr>
              <a:t>Instabilité hémodynamique</a:t>
            </a:r>
          </a:p>
          <a:p>
            <a:r>
              <a:rPr lang="fr-FR" sz="2400" dirty="0" smtClean="0">
                <a:latin typeface="Calibri" pitchFamily="34" charset="0"/>
                <a:cs typeface="Arial" pitchFamily="34" charset="0"/>
              </a:rPr>
              <a:t>Élévation des marqueurs de lésion myocardique (</a:t>
            </a:r>
            <a:r>
              <a:rPr lang="fr-FR" sz="2400" dirty="0" err="1" smtClean="0">
                <a:latin typeface="Calibri" pitchFamily="34" charset="0"/>
                <a:cs typeface="Arial" pitchFamily="34" charset="0"/>
              </a:rPr>
              <a:t>Tpn</a:t>
            </a:r>
            <a:r>
              <a:rPr lang="fr-FR" sz="2400" dirty="0" smtClean="0">
                <a:latin typeface="Calibri" pitchFamily="34" charset="0"/>
                <a:cs typeface="Arial" pitchFamily="34" charset="0"/>
              </a:rPr>
              <a:t> US/CPK MB)</a:t>
            </a:r>
          </a:p>
          <a:p>
            <a:r>
              <a:rPr lang="fr-FR" sz="2400" dirty="0" smtClean="0">
                <a:latin typeface="Calibri" pitchFamily="34" charset="0"/>
                <a:cs typeface="Arial" pitchFamily="34" charset="0"/>
              </a:rPr>
              <a:t>Élévation des marqueurs d’IC (NT-</a:t>
            </a:r>
            <a:r>
              <a:rPr lang="fr-FR" sz="2400" dirty="0" err="1" smtClean="0">
                <a:latin typeface="Calibri" pitchFamily="34" charset="0"/>
                <a:cs typeface="Arial" pitchFamily="34" charset="0"/>
              </a:rPr>
              <a:t>proBNP</a:t>
            </a:r>
            <a:r>
              <a:rPr lang="fr-FR" sz="2400" dirty="0" smtClean="0">
                <a:latin typeface="Calibri" pitchFamily="34" charset="0"/>
                <a:cs typeface="Arial" pitchFamily="34" charset="0"/>
              </a:rPr>
              <a:t>)</a:t>
            </a:r>
          </a:p>
          <a:p>
            <a:r>
              <a:rPr lang="fr-FR" sz="2400" dirty="0" smtClean="0">
                <a:latin typeface="Calibri" pitchFamily="34" charset="0"/>
                <a:cs typeface="Arial" pitchFamily="34" charset="0"/>
              </a:rPr>
              <a:t>Troubles de la cinétique myocardique, augmentation de   l’épaisseur pariétale et/ou DVG systolique</a:t>
            </a:r>
          </a:p>
          <a:p>
            <a:r>
              <a:rPr lang="fr-FR" sz="2400" dirty="0" smtClean="0">
                <a:latin typeface="Calibri" pitchFamily="34" charset="0"/>
                <a:cs typeface="Arial" pitchFamily="34" charset="0"/>
              </a:rPr>
              <a:t>IRM: œdème myocardique et/ou rehaussement tardif du </a:t>
            </a:r>
            <a:r>
              <a:rPr lang="fr-FR" sz="2400" dirty="0" err="1" smtClean="0">
                <a:latin typeface="Calibri" pitchFamily="34" charset="0"/>
                <a:cs typeface="Arial" pitchFamily="34" charset="0"/>
              </a:rPr>
              <a:t>gadolinum</a:t>
            </a:r>
            <a:r>
              <a:rPr lang="fr-FR" dirty="0" smtClean="0">
                <a:latin typeface="Calibri" pitchFamily="34" charset="0"/>
                <a:cs typeface="Arial" pitchFamily="34" charset="0"/>
              </a:rPr>
              <a:t> </a:t>
            </a:r>
            <a:endParaRPr lang="fr-FR" dirty="0">
              <a:latin typeface="Calibri" pitchFamily="34" charset="0"/>
              <a:cs typeface="Arial"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6" presetClass="emph" presetSubtype="0" fill="hold" nodeType="withEffect">
                                  <p:stCondLst>
                                    <p:cond delay="0"/>
                                  </p:stCondLst>
                                  <p:childTnLst>
                                    <p:animScale>
                                      <p:cBhvr>
                                        <p:cTn id="8" dur="500" fill="hold"/>
                                        <p:tgtEl>
                                          <p:spTgt spid="5"/>
                                        </p:tgtEl>
                                      </p:cBhvr>
                                      <p:by x="190000" y="190000"/>
                                    </p:animScale>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1052736"/>
            <a:ext cx="8740080" cy="5688632"/>
          </a:xfrm>
        </p:spPr>
        <p:txBody>
          <a:bodyPr/>
          <a:lstStyle/>
          <a:p>
            <a:pPr>
              <a:lnSpc>
                <a:spcPct val="150000"/>
              </a:lnSpc>
              <a:buNone/>
            </a:pPr>
            <a:r>
              <a:rPr lang="fr-FR" sz="2400" dirty="0" smtClean="0">
                <a:solidFill>
                  <a:schemeClr val="tx1"/>
                </a:solidFill>
              </a:rPr>
              <a:t>1- </a:t>
            </a:r>
            <a:r>
              <a:rPr lang="fr-FR" sz="2400" b="1" i="1" dirty="0" smtClean="0">
                <a:solidFill>
                  <a:schemeClr val="tx1"/>
                </a:solidFill>
              </a:rPr>
              <a:t>Douleur thoracique</a:t>
            </a:r>
            <a:r>
              <a:rPr lang="fr-FR" sz="2400" b="1" dirty="0" smtClean="0">
                <a:solidFill>
                  <a:schemeClr val="tx1"/>
                </a:solidFill>
              </a:rPr>
              <a:t>: </a:t>
            </a:r>
          </a:p>
          <a:p>
            <a:pPr>
              <a:lnSpc>
                <a:spcPct val="150000"/>
              </a:lnSpc>
              <a:buNone/>
            </a:pPr>
            <a:r>
              <a:rPr lang="fr-FR" sz="2400" dirty="0" smtClean="0">
                <a:solidFill>
                  <a:schemeClr val="tx1"/>
                </a:solidFill>
              </a:rPr>
              <a:t>   .la plus fréquente, avec sus-ST et TPN</a:t>
            </a:r>
            <a:r>
              <a:rPr lang="fr-FR" sz="2400" b="1" dirty="0" smtClean="0">
                <a:solidFill>
                  <a:schemeClr val="tx1"/>
                </a:solidFill>
                <a:sym typeface="Symbol" pitchFamily="18" charset="2"/>
              </a:rPr>
              <a:t> </a:t>
            </a:r>
            <a:r>
              <a:rPr lang="fr-FR" sz="2400" baseline="-25000" dirty="0" smtClean="0">
                <a:solidFill>
                  <a:schemeClr val="tx1"/>
                </a:solidFill>
                <a:sym typeface="Symbol" pitchFamily="18" charset="2"/>
              </a:rPr>
              <a:t>,</a:t>
            </a:r>
            <a:r>
              <a:rPr lang="fr-FR" sz="2400" b="1" dirty="0" smtClean="0">
                <a:solidFill>
                  <a:schemeClr val="tx1"/>
                </a:solidFill>
                <a:sym typeface="Symbol" pitchFamily="18" charset="2"/>
              </a:rPr>
              <a:t> </a:t>
            </a:r>
            <a:r>
              <a:rPr lang="fr-FR" sz="2400" dirty="0" smtClean="0">
                <a:solidFill>
                  <a:schemeClr val="tx1"/>
                </a:solidFill>
                <a:sym typeface="Symbol" pitchFamily="18" charset="2"/>
              </a:rPr>
              <a:t>notion de virose </a:t>
            </a:r>
          </a:p>
          <a:p>
            <a:pPr>
              <a:buNone/>
            </a:pPr>
            <a:r>
              <a:rPr lang="fr-FR" sz="2400" dirty="0" smtClean="0">
                <a:solidFill>
                  <a:schemeClr val="tx1"/>
                </a:solidFill>
                <a:sym typeface="Symbol" pitchFamily="18" charset="2"/>
              </a:rPr>
              <a:t>   .éliminer SCA</a:t>
            </a:r>
          </a:p>
          <a:p>
            <a:pPr>
              <a:lnSpc>
                <a:spcPct val="200000"/>
              </a:lnSpc>
              <a:buNone/>
            </a:pPr>
            <a:r>
              <a:rPr lang="fr-FR" sz="2400" dirty="0" smtClean="0">
                <a:solidFill>
                  <a:schemeClr val="tx1"/>
                </a:solidFill>
                <a:sym typeface="Symbol" pitchFamily="18" charset="2"/>
              </a:rPr>
              <a:t>2- </a:t>
            </a:r>
            <a:r>
              <a:rPr lang="fr-FR" sz="2400" b="1" i="1" dirty="0" smtClean="0">
                <a:solidFill>
                  <a:schemeClr val="tx1"/>
                </a:solidFill>
                <a:sym typeface="Symbol" pitchFamily="18" charset="2"/>
              </a:rPr>
              <a:t>Défaillance cardiaque</a:t>
            </a:r>
            <a:r>
              <a:rPr lang="fr-FR" sz="2400" b="1" dirty="0" smtClean="0">
                <a:solidFill>
                  <a:schemeClr val="tx1"/>
                </a:solidFill>
                <a:sym typeface="Symbol" pitchFamily="18" charset="2"/>
              </a:rPr>
              <a:t>: </a:t>
            </a:r>
          </a:p>
          <a:p>
            <a:pPr>
              <a:buNone/>
            </a:pPr>
            <a:r>
              <a:rPr lang="fr-FR" sz="2400" dirty="0" smtClean="0">
                <a:solidFill>
                  <a:schemeClr val="tx1"/>
                </a:solidFill>
                <a:sym typeface="Symbol" pitchFamily="18" charset="2"/>
              </a:rPr>
              <a:t>   .insuffisance cardiaque aigue avec FEVG réduite </a:t>
            </a:r>
            <a:r>
              <a:rPr lang="fr-FR" sz="2400" dirty="0" smtClean="0">
                <a:solidFill>
                  <a:schemeClr val="tx1"/>
                </a:solidFill>
                <a:sym typeface="Symbol"/>
              </a:rPr>
              <a:t> risque élevé</a:t>
            </a:r>
          </a:p>
          <a:p>
            <a:pPr>
              <a:buNone/>
            </a:pPr>
            <a:r>
              <a:rPr lang="fr-FR" sz="2400" dirty="0" smtClean="0">
                <a:solidFill>
                  <a:schemeClr val="tx1"/>
                </a:solidFill>
                <a:sym typeface="Symbol"/>
              </a:rPr>
              <a:t>   .pronostic dépend de la réponse au TRT</a:t>
            </a:r>
          </a:p>
          <a:p>
            <a:pPr>
              <a:lnSpc>
                <a:spcPct val="200000"/>
              </a:lnSpc>
              <a:buNone/>
            </a:pPr>
            <a:r>
              <a:rPr lang="fr-FR" sz="2400" dirty="0" smtClean="0">
                <a:solidFill>
                  <a:schemeClr val="tx1"/>
                </a:solidFill>
                <a:sym typeface="Symbol"/>
              </a:rPr>
              <a:t>3- </a:t>
            </a:r>
            <a:r>
              <a:rPr lang="fr-FR" sz="2400" b="1" i="1" dirty="0" smtClean="0">
                <a:solidFill>
                  <a:schemeClr val="tx1"/>
                </a:solidFill>
                <a:sym typeface="Symbol"/>
              </a:rPr>
              <a:t>Troubles du rythme</a:t>
            </a:r>
            <a:r>
              <a:rPr lang="fr-FR" sz="2400" b="1" dirty="0" smtClean="0">
                <a:solidFill>
                  <a:schemeClr val="tx1"/>
                </a:solidFill>
                <a:sym typeface="Symbol"/>
              </a:rPr>
              <a:t>: </a:t>
            </a:r>
            <a:r>
              <a:rPr lang="fr-FR" sz="2400" dirty="0" smtClean="0">
                <a:solidFill>
                  <a:schemeClr val="tx1"/>
                </a:solidFill>
                <a:sym typeface="Symbol"/>
              </a:rPr>
              <a:t>TV, BAV, FA si péricardite</a:t>
            </a:r>
          </a:p>
          <a:p>
            <a:pPr>
              <a:buNone/>
            </a:pPr>
            <a:r>
              <a:rPr lang="fr-FR" sz="2400" dirty="0" smtClean="0">
                <a:solidFill>
                  <a:schemeClr val="tx1"/>
                </a:solidFill>
              </a:rPr>
              <a:t>   .palpitations, syncope, mort subite</a:t>
            </a:r>
          </a:p>
          <a:p>
            <a:pPr>
              <a:buNone/>
            </a:pPr>
            <a:r>
              <a:rPr lang="fr-FR" sz="2400" dirty="0" smtClean="0">
                <a:solidFill>
                  <a:schemeClr val="tx1"/>
                </a:solidFill>
              </a:rPr>
              <a:t>   .TV et BAV généralement associés à un FEVG réduite et une IC</a:t>
            </a:r>
            <a:endParaRPr lang="fr-FR" sz="2400" dirty="0">
              <a:solidFill>
                <a:schemeClr val="tx1"/>
              </a:solidFill>
            </a:endParaRPr>
          </a:p>
        </p:txBody>
      </p:sp>
      <p:sp>
        <p:nvSpPr>
          <p:cNvPr id="4" name="Titre 1"/>
          <p:cNvSpPr>
            <a:spLocks noGrp="1"/>
          </p:cNvSpPr>
          <p:nvPr>
            <p:ph type="title"/>
          </p:nvPr>
        </p:nvSpPr>
        <p:spPr>
          <a:xfrm>
            <a:off x="304800" y="332656"/>
            <a:ext cx="8686800" cy="648072"/>
          </a:xfrm>
        </p:spPr>
        <p:txBody>
          <a:bodyPr>
            <a:noAutofit/>
          </a:bodyPr>
          <a:lstStyle/>
          <a:p>
            <a:pPr algn="ctr">
              <a:defRPr/>
            </a:pPr>
            <a:r>
              <a:rPr lang="fr-FR" sz="2800" dirty="0" smtClean="0">
                <a:solidFill>
                  <a:srgbClr val="FF9900"/>
                </a:solidFill>
                <a:effectLst/>
                <a:latin typeface="+mn-lt"/>
              </a:rPr>
              <a:t>A- PRESENTATIONS CLINIQUES</a:t>
            </a:r>
            <a:br>
              <a:rPr lang="fr-FR" sz="2800" dirty="0" smtClean="0">
                <a:solidFill>
                  <a:srgbClr val="FF9900"/>
                </a:solidFill>
                <a:effectLst/>
                <a:latin typeface="+mn-lt"/>
              </a:rPr>
            </a:br>
            <a:r>
              <a:rPr lang="fr-FR" sz="2400" i="1" dirty="0" smtClean="0">
                <a:solidFill>
                  <a:srgbClr val="800000"/>
                </a:solidFill>
                <a:effectLst/>
                <a:latin typeface="+mn-lt"/>
              </a:rPr>
              <a:t>2- « </a:t>
            </a:r>
            <a:r>
              <a:rPr lang="fr-FR" sz="2400" i="1" cap="none" dirty="0" smtClean="0">
                <a:solidFill>
                  <a:srgbClr val="800000"/>
                </a:solidFill>
                <a:effectLst/>
                <a:latin typeface="+mn-lt"/>
              </a:rPr>
              <a:t>Formes Cliniques </a:t>
            </a:r>
            <a:r>
              <a:rPr lang="fr-FR" sz="2400" i="1" dirty="0" smtClean="0">
                <a:solidFill>
                  <a:srgbClr val="800000"/>
                </a:solidFill>
                <a:effectLst/>
                <a:latin typeface="+mn-lt"/>
              </a:rPr>
              <a:t>»</a:t>
            </a:r>
            <a:endParaRPr lang="fr-FR" sz="2800" i="1" dirty="0">
              <a:solidFill>
                <a:srgbClr val="800000"/>
              </a:solidFill>
              <a:effectLst/>
              <a:latin typeface="+mn-lt"/>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p:cNvSpPr>
            <a:spLocks noGrp="1"/>
          </p:cNvSpPr>
          <p:nvPr>
            <p:ph type="title"/>
          </p:nvPr>
        </p:nvSpPr>
        <p:spPr>
          <a:xfrm>
            <a:off x="304800" y="44624"/>
            <a:ext cx="8686800" cy="838200"/>
          </a:xfrm>
        </p:spPr>
        <p:txBody>
          <a:bodyPr>
            <a:noAutofit/>
          </a:bodyPr>
          <a:lstStyle/>
          <a:p>
            <a:pPr algn="ctr">
              <a:defRPr/>
            </a:pPr>
            <a:r>
              <a:rPr lang="fr-FR" sz="2800" dirty="0" smtClean="0">
                <a:solidFill>
                  <a:srgbClr val="FF9900"/>
                </a:solidFill>
                <a:effectLst/>
                <a:latin typeface="+mn-lt"/>
              </a:rPr>
              <a:t>B- CRIT</a:t>
            </a:r>
            <a:r>
              <a:rPr lang="fr-FR" sz="2800" dirty="0" smtClean="0">
                <a:solidFill>
                  <a:srgbClr val="FF9900"/>
                </a:solidFill>
                <a:effectLst/>
                <a:latin typeface="+mn-lt"/>
                <a:cs typeface="Arial"/>
              </a:rPr>
              <a:t>È</a:t>
            </a:r>
            <a:r>
              <a:rPr lang="fr-FR" sz="2800" dirty="0" smtClean="0">
                <a:solidFill>
                  <a:srgbClr val="FF9900"/>
                </a:solidFill>
                <a:effectLst/>
                <a:latin typeface="+mn-lt"/>
              </a:rPr>
              <a:t>RES DGC DES MYOCARDITES</a:t>
            </a:r>
            <a:endParaRPr lang="fr-FR" sz="2800" dirty="0">
              <a:solidFill>
                <a:srgbClr val="FF9900"/>
              </a:solidFill>
              <a:effectLst/>
              <a:latin typeface="+mn-lt"/>
            </a:endParaRPr>
          </a:p>
        </p:txBody>
      </p:sp>
      <p:graphicFrame>
        <p:nvGraphicFramePr>
          <p:cNvPr id="4" name="Espace réservé du contenu 3"/>
          <p:cNvGraphicFramePr>
            <a:graphicFrameLocks noGrp="1"/>
          </p:cNvGraphicFramePr>
          <p:nvPr>
            <p:ph idx="1"/>
          </p:nvPr>
        </p:nvGraphicFramePr>
        <p:xfrm>
          <a:off x="179512" y="836712"/>
          <a:ext cx="8784976" cy="5635004"/>
        </p:xfrm>
        <a:graphic>
          <a:graphicData uri="http://schemas.openxmlformats.org/drawingml/2006/table">
            <a:tbl>
              <a:tblPr firstRow="1" bandRow="1">
                <a:tableStyleId>{BC89EF96-8CEA-46FF-86C4-4CE0E7609802}</a:tableStyleId>
              </a:tblPr>
              <a:tblGrid>
                <a:gridCol w="1728192"/>
                <a:gridCol w="7056784"/>
              </a:tblGrid>
              <a:tr h="3220984">
                <a:tc>
                  <a:txBody>
                    <a:bodyPr/>
                    <a:lstStyle/>
                    <a:p>
                      <a:endParaRPr lang="fr-FR" sz="2000" b="0" dirty="0" smtClean="0"/>
                    </a:p>
                    <a:p>
                      <a:endParaRPr lang="fr-FR" sz="2000" b="0" dirty="0" smtClean="0"/>
                    </a:p>
                    <a:p>
                      <a:endParaRPr lang="fr-FR" sz="2000" b="0" dirty="0" smtClean="0"/>
                    </a:p>
                    <a:p>
                      <a:endParaRPr lang="fr-FR" sz="2000" b="0" dirty="0" smtClean="0"/>
                    </a:p>
                    <a:p>
                      <a:pPr algn="ctr"/>
                      <a:r>
                        <a:rPr lang="fr-FR" sz="2400" b="1" dirty="0" smtClean="0">
                          <a:latin typeface="+mn-lt"/>
                          <a:cs typeface="Arial" pitchFamily="34" charset="0"/>
                        </a:rPr>
                        <a:t>Dgc</a:t>
                      </a:r>
                      <a:endParaRPr lang="fr-FR" sz="2400" b="1" dirty="0">
                        <a:latin typeface="+mn-lt"/>
                        <a:cs typeface="Arial" pitchFamily="34" charset="0"/>
                      </a:endParaRPr>
                    </a:p>
                  </a:txBody>
                  <a:tcPr/>
                </a:tc>
                <a:tc>
                  <a:txBody>
                    <a:bodyPr/>
                    <a:lstStyle/>
                    <a:p>
                      <a:r>
                        <a:rPr lang="fr-FR" dirty="0" smtClean="0">
                          <a:solidFill>
                            <a:srgbClr val="C00000"/>
                          </a:solidFill>
                          <a:latin typeface="Calibri" pitchFamily="34" charset="0"/>
                        </a:rPr>
                        <a:t>Dgc</a:t>
                      </a:r>
                      <a:r>
                        <a:rPr lang="fr-FR" baseline="0" dirty="0" smtClean="0">
                          <a:solidFill>
                            <a:srgbClr val="C00000"/>
                          </a:solidFill>
                          <a:latin typeface="Calibri" pitchFamily="34" charset="0"/>
                        </a:rPr>
                        <a:t> certain </a:t>
                      </a:r>
                      <a:r>
                        <a:rPr lang="fr-FR" b="0" baseline="0" dirty="0" smtClean="0">
                          <a:latin typeface="Calibri" pitchFamily="34" charset="0"/>
                        </a:rPr>
                        <a:t>si clinique preuve IRM ou biopsie endomyocardique (BEM)</a:t>
                      </a:r>
                      <a:endParaRPr lang="fr-FR" b="0" baseline="0" dirty="0" smtClean="0">
                        <a:latin typeface="Calibri"/>
                      </a:endParaRPr>
                    </a:p>
                    <a:p>
                      <a:r>
                        <a:rPr lang="fr-FR" baseline="0" dirty="0" smtClean="0">
                          <a:solidFill>
                            <a:srgbClr val="FA8006"/>
                          </a:solidFill>
                          <a:latin typeface="Calibri"/>
                        </a:rPr>
                        <a:t>Dgc probable </a:t>
                      </a:r>
                      <a:r>
                        <a:rPr lang="fr-FR" b="0" baseline="0" dirty="0" smtClean="0">
                          <a:latin typeface="Calibri"/>
                        </a:rPr>
                        <a:t>si</a:t>
                      </a:r>
                      <a:r>
                        <a:rPr lang="fr-FR" baseline="0" dirty="0" smtClean="0">
                          <a:latin typeface="Calibri"/>
                        </a:rPr>
                        <a:t>  </a:t>
                      </a:r>
                      <a:r>
                        <a:rPr lang="fr-FR" b="0" baseline="0" dirty="0" smtClean="0">
                          <a:latin typeface="Calibri"/>
                        </a:rPr>
                        <a:t>clinique avec au moins 1 critère additionnel</a:t>
                      </a:r>
                    </a:p>
                    <a:p>
                      <a:r>
                        <a:rPr lang="fr-FR" b="0" baseline="0" dirty="0" smtClean="0">
                          <a:latin typeface="Calibri"/>
                        </a:rPr>
                        <a:t>    IRM ou BEM douteuse ou non disponible                   </a:t>
                      </a:r>
                    </a:p>
                    <a:p>
                      <a:pPr>
                        <a:spcAft>
                          <a:spcPts val="600"/>
                        </a:spcAft>
                      </a:pPr>
                      <a:r>
                        <a:rPr lang="fr-FR" baseline="0" dirty="0" smtClean="0">
                          <a:solidFill>
                            <a:srgbClr val="0070C0"/>
                          </a:solidFill>
                          <a:latin typeface="Calibri"/>
                        </a:rPr>
                        <a:t>Dgc peu probable</a:t>
                      </a:r>
                      <a:r>
                        <a:rPr lang="fr-FR" baseline="0" dirty="0" smtClean="0">
                          <a:latin typeface="Calibri"/>
                        </a:rPr>
                        <a:t> </a:t>
                      </a:r>
                      <a:r>
                        <a:rPr lang="fr-FR" b="0" baseline="0" dirty="0" smtClean="0">
                          <a:latin typeface="Calibri"/>
                        </a:rPr>
                        <a:t>si</a:t>
                      </a:r>
                      <a:r>
                        <a:rPr lang="fr-FR" baseline="0" dirty="0" smtClean="0">
                          <a:latin typeface="Calibri"/>
                        </a:rPr>
                        <a:t> </a:t>
                      </a:r>
                      <a:r>
                        <a:rPr lang="fr-FR" b="0" baseline="0" dirty="0" smtClean="0">
                          <a:latin typeface="Calibri"/>
                        </a:rPr>
                        <a:t>présentation clinique seule</a:t>
                      </a:r>
                    </a:p>
                    <a:p>
                      <a:pPr>
                        <a:lnSpc>
                          <a:spcPct val="150000"/>
                        </a:lnSpc>
                      </a:pPr>
                      <a:r>
                        <a:rPr lang="fr-FR" i="1" baseline="0" dirty="0" smtClean="0">
                          <a:solidFill>
                            <a:srgbClr val="800000"/>
                          </a:solidFill>
                        </a:rPr>
                        <a:t>                           Critères additionnels</a:t>
                      </a:r>
                      <a:endParaRPr lang="fr-FR" baseline="0" dirty="0" smtClean="0">
                        <a:latin typeface="Calibri"/>
                      </a:endParaRPr>
                    </a:p>
                    <a:p>
                      <a:pPr>
                        <a:lnSpc>
                          <a:spcPct val="100000"/>
                        </a:lnSpc>
                      </a:pPr>
                      <a:r>
                        <a:rPr lang="fr-FR" sz="1600" i="1" baseline="0" dirty="0" smtClean="0">
                          <a:solidFill>
                            <a:srgbClr val="C00000"/>
                          </a:solidFill>
                        </a:rPr>
                        <a:t> </a:t>
                      </a:r>
                      <a:r>
                        <a:rPr lang="fr-FR" sz="1600" b="0" i="1" baseline="0" dirty="0" smtClean="0">
                          <a:solidFill>
                            <a:srgbClr val="C00000"/>
                          </a:solidFill>
                        </a:rPr>
                        <a:t>Clinique: </a:t>
                      </a:r>
                      <a:r>
                        <a:rPr lang="fr-FR" sz="1800" b="0" i="0" baseline="0" dirty="0" smtClean="0">
                          <a:solidFill>
                            <a:schemeClr val="tx1"/>
                          </a:solidFill>
                        </a:rPr>
                        <a:t>absence d’éléments de dgc différentiel</a:t>
                      </a:r>
                      <a:endParaRPr lang="fr-FR" b="0" dirty="0" smtClean="0"/>
                    </a:p>
                    <a:p>
                      <a:pPr>
                        <a:lnSpc>
                          <a:spcPct val="100000"/>
                        </a:lnSpc>
                      </a:pPr>
                      <a:r>
                        <a:rPr lang="fr-FR" b="0" baseline="0" dirty="0" smtClean="0"/>
                        <a:t> </a:t>
                      </a:r>
                      <a:r>
                        <a:rPr lang="fr-FR" sz="1600" b="0" i="1" baseline="0" dirty="0" smtClean="0">
                          <a:solidFill>
                            <a:srgbClr val="C00000"/>
                          </a:solidFill>
                        </a:rPr>
                        <a:t>ECG</a:t>
                      </a:r>
                      <a:r>
                        <a:rPr lang="fr-FR" b="0" baseline="0" dirty="0" smtClean="0"/>
                        <a:t>: modification de ST-T</a:t>
                      </a:r>
                    </a:p>
                    <a:p>
                      <a:pPr>
                        <a:lnSpc>
                          <a:spcPct val="100000"/>
                        </a:lnSpc>
                      </a:pPr>
                      <a:r>
                        <a:rPr lang="fr-FR" sz="1800" b="0" baseline="0" dirty="0" smtClean="0">
                          <a:solidFill>
                            <a:srgbClr val="C00000"/>
                          </a:solidFill>
                        </a:rPr>
                        <a:t> </a:t>
                      </a:r>
                      <a:r>
                        <a:rPr lang="fr-FR" sz="1600" b="0" i="1" baseline="0" dirty="0" smtClean="0">
                          <a:solidFill>
                            <a:srgbClr val="C00000"/>
                          </a:solidFill>
                        </a:rPr>
                        <a:t>Biomarqueurs:</a:t>
                      </a:r>
                      <a:r>
                        <a:rPr lang="fr-FR" sz="1600" b="0" baseline="0" dirty="0" smtClean="0">
                          <a:solidFill>
                            <a:srgbClr val="C00000"/>
                          </a:solidFill>
                        </a:rPr>
                        <a:t> </a:t>
                      </a:r>
                      <a:r>
                        <a:rPr lang="fr-FR" sz="1800" b="0" baseline="0" dirty="0" smtClean="0">
                          <a:solidFill>
                            <a:schemeClr val="tx1"/>
                          </a:solidFill>
                        </a:rPr>
                        <a:t>troponine </a:t>
                      </a:r>
                      <a:r>
                        <a:rPr lang="fr-FR" sz="1800" b="1" dirty="0" smtClean="0">
                          <a:solidFill>
                            <a:schemeClr val="tx1"/>
                          </a:solidFill>
                          <a:sym typeface="Symbol" pitchFamily="18" charset="2"/>
                        </a:rPr>
                        <a:t></a:t>
                      </a:r>
                      <a:endParaRPr lang="fr-FR" b="0" baseline="0" dirty="0" smtClean="0"/>
                    </a:p>
                    <a:p>
                      <a:pPr>
                        <a:lnSpc>
                          <a:spcPct val="100000"/>
                        </a:lnSpc>
                      </a:pPr>
                      <a:r>
                        <a:rPr lang="fr-FR" b="0" baseline="0" dirty="0" smtClean="0"/>
                        <a:t> </a:t>
                      </a:r>
                      <a:r>
                        <a:rPr lang="fr-FR" sz="1600" b="0" i="1" baseline="0" dirty="0" smtClean="0">
                          <a:solidFill>
                            <a:srgbClr val="C00000"/>
                          </a:solidFill>
                        </a:rPr>
                        <a:t>Imagerie: </a:t>
                      </a:r>
                      <a:r>
                        <a:rPr lang="fr-FR" b="0" baseline="0" dirty="0" smtClean="0"/>
                        <a:t>anomalie strain ou cinétique segmentaire, FEVG réduite</a:t>
                      </a:r>
                    </a:p>
                    <a:p>
                      <a:pPr>
                        <a:lnSpc>
                          <a:spcPct val="100000"/>
                        </a:lnSpc>
                      </a:pPr>
                      <a:r>
                        <a:rPr lang="fr-FR" b="0" baseline="0" dirty="0" smtClean="0"/>
                        <a:t>                 IRM: œdème myocardique et/ou rehaussement tardif  </a:t>
                      </a:r>
                      <a:r>
                        <a:rPr lang="fr-FR" baseline="0" dirty="0" smtClean="0"/>
                        <a:t>       </a:t>
                      </a:r>
                      <a:endParaRPr lang="fr-FR" baseline="0" dirty="0" smtClean="0">
                        <a:latin typeface="Calibri"/>
                      </a:endParaRPr>
                    </a:p>
                  </a:txBody>
                  <a:tcPr/>
                </a:tc>
              </a:tr>
              <a:tr h="811464">
                <a:tc>
                  <a:txBody>
                    <a:bodyPr/>
                    <a:lstStyle/>
                    <a:p>
                      <a:endParaRPr lang="fr-FR" sz="2000" b="0" dirty="0" smtClean="0"/>
                    </a:p>
                  </a:txBody>
                  <a:tcPr>
                    <a:lnB w="12700" cap="flat" cmpd="sng" algn="ctr">
                      <a:noFill/>
                      <a:prstDash val="solid"/>
                      <a:round/>
                      <a:headEnd type="none" w="med" len="med"/>
                      <a:tailEnd type="none" w="med" len="med"/>
                    </a:lnB>
                    <a:solidFill>
                      <a:schemeClr val="bg2">
                        <a:alpha val="20000"/>
                      </a:schemeClr>
                    </a:solid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fr-FR" sz="1800" b="0" dirty="0" smtClean="0"/>
                        <a:t>Aiguë:</a:t>
                      </a:r>
                      <a:r>
                        <a:rPr lang="fr-FR" sz="1800" b="0" baseline="0" dirty="0" smtClean="0"/>
                        <a:t> </a:t>
                      </a:r>
                      <a:r>
                        <a:rPr lang="fr-FR" sz="1800" b="0" dirty="0" smtClean="0">
                          <a:latin typeface="Calibri"/>
                        </a:rPr>
                        <a:t>≤ 4 semaines</a:t>
                      </a:r>
                    </a:p>
                    <a:p>
                      <a:pPr marL="0" marR="0" indent="0" algn="l" defTabSz="914400" rtl="0" eaLnBrk="1" fontAlgn="auto" latinLnBrk="0" hangingPunct="1">
                        <a:lnSpc>
                          <a:spcPct val="100000"/>
                        </a:lnSpc>
                        <a:spcBef>
                          <a:spcPts val="0"/>
                        </a:spcBef>
                        <a:spcAft>
                          <a:spcPts val="0"/>
                        </a:spcAft>
                        <a:buClrTx/>
                        <a:buSzTx/>
                        <a:buFontTx/>
                        <a:buNone/>
                        <a:tabLst/>
                        <a:defRPr/>
                      </a:pPr>
                      <a:r>
                        <a:rPr lang="fr-FR" sz="1800" b="0" i="1" dirty="0" smtClean="0">
                          <a:solidFill>
                            <a:srgbClr val="FF0000"/>
                          </a:solidFill>
                          <a:latin typeface="Calibri"/>
                        </a:rPr>
                        <a:t>Fulminante</a:t>
                      </a:r>
                      <a:r>
                        <a:rPr lang="fr-FR" sz="1800" b="0" dirty="0" smtClean="0">
                          <a:latin typeface="Calibri"/>
                        </a:rPr>
                        <a:t>: installation</a:t>
                      </a:r>
                      <a:r>
                        <a:rPr lang="fr-FR" sz="1800" b="0" baseline="0" dirty="0" smtClean="0">
                          <a:latin typeface="Calibri"/>
                        </a:rPr>
                        <a:t>  aigue + instabilité HD (TRT inotrope)</a:t>
                      </a:r>
                      <a:endParaRPr lang="fr-FR" sz="1800" b="0" dirty="0" smtClean="0"/>
                    </a:p>
                  </a:txBody>
                  <a:tcPr/>
                </a:tc>
              </a:tr>
              <a:tr h="551295">
                <a:tc>
                  <a:txBody>
                    <a:bodyPr/>
                    <a:lstStyle/>
                    <a:p>
                      <a:r>
                        <a:rPr lang="fr-FR" sz="2000" dirty="0" smtClean="0"/>
                        <a:t> </a:t>
                      </a:r>
                      <a:endParaRPr lang="fr-FR" sz="2000" dirty="0"/>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50000"/>
                        </a:lnSpc>
                      </a:pPr>
                      <a:r>
                        <a:rPr lang="fr-FR" sz="1800" dirty="0" smtClean="0"/>
                        <a:t>Subaigüe; persistante: </a:t>
                      </a:r>
                      <a:r>
                        <a:rPr lang="fr-FR" b="1" dirty="0" smtClean="0">
                          <a:sym typeface="Symbol"/>
                        </a:rPr>
                        <a:t></a:t>
                      </a:r>
                      <a:r>
                        <a:rPr lang="fr-FR" dirty="0" smtClean="0">
                          <a:sym typeface="Symbol"/>
                        </a:rPr>
                        <a:t> </a:t>
                      </a:r>
                      <a:r>
                        <a:rPr lang="fr-FR" baseline="0" dirty="0" smtClean="0"/>
                        <a:t>4 semaines et </a:t>
                      </a:r>
                      <a:r>
                        <a:rPr lang="fr-FR" b="1" baseline="0" dirty="0" smtClean="0">
                          <a:latin typeface="Calibri"/>
                        </a:rPr>
                        <a:t>≤</a:t>
                      </a:r>
                      <a:r>
                        <a:rPr lang="fr-FR" baseline="0" dirty="0" smtClean="0"/>
                        <a:t> 3 mois, sans rémission</a:t>
                      </a:r>
                      <a:endParaRPr lang="fr-FR" dirty="0"/>
                    </a:p>
                  </a:txBody>
                  <a:tcPr/>
                </a:tc>
              </a:tr>
              <a:tr h="499966">
                <a:tc>
                  <a:txBody>
                    <a:bodyPr/>
                    <a:lstStyle/>
                    <a:p>
                      <a:endParaRPr lang="fr-FR" sz="1800" dirty="0"/>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alpha val="20000"/>
                      </a:schemeClr>
                    </a:solid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fr-FR" sz="1800" dirty="0" smtClean="0"/>
                        <a:t>Récidivante: récidive</a:t>
                      </a:r>
                      <a:r>
                        <a:rPr lang="fr-FR" dirty="0" smtClean="0"/>
                        <a:t> après rémission clinique d’un 1</a:t>
                      </a:r>
                      <a:r>
                        <a:rPr lang="fr-FR" baseline="30000" dirty="0" smtClean="0"/>
                        <a:t>er</a:t>
                      </a:r>
                      <a:r>
                        <a:rPr lang="fr-FR" dirty="0" smtClean="0"/>
                        <a:t> épisode</a:t>
                      </a:r>
                      <a:endParaRPr lang="fr-FR" dirty="0"/>
                    </a:p>
                  </a:txBody>
                  <a:tcPr/>
                </a:tc>
              </a:tr>
              <a:tr h="551295">
                <a:tc>
                  <a:txBody>
                    <a:bodyPr/>
                    <a:lstStyle/>
                    <a:p>
                      <a:endParaRPr lang="fr-FR" sz="2000" dirty="0"/>
                    </a:p>
                  </a:txBody>
                  <a:tcPr>
                    <a:lnT w="12700" cap="flat" cmpd="sng" algn="ctr">
                      <a:noFill/>
                      <a:prstDash val="solid"/>
                      <a:round/>
                      <a:headEnd type="none" w="med" len="med"/>
                      <a:tailEnd type="none" w="med" len="med"/>
                    </a:lnT>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fr-FR" sz="1800" dirty="0" smtClean="0"/>
                        <a:t>Chronique: </a:t>
                      </a:r>
                      <a:r>
                        <a:rPr lang="fr-FR" dirty="0" smtClean="0"/>
                        <a:t>Evolution &gt; </a:t>
                      </a:r>
                      <a:r>
                        <a:rPr lang="fr-FR" baseline="0" dirty="0" smtClean="0"/>
                        <a:t>3 mois</a:t>
                      </a:r>
                      <a:endParaRPr lang="fr-FR" dirty="0"/>
                    </a:p>
                  </a:txBody>
                  <a:tcPr/>
                </a:tc>
              </a:tr>
            </a:tbl>
          </a:graphicData>
        </a:graphic>
      </p:graphicFrame>
      <p:sp>
        <p:nvSpPr>
          <p:cNvPr id="5" name="ZoneTexte 4"/>
          <p:cNvSpPr txBox="1"/>
          <p:nvPr/>
        </p:nvSpPr>
        <p:spPr>
          <a:xfrm>
            <a:off x="179512" y="4830251"/>
            <a:ext cx="1800200" cy="830997"/>
          </a:xfrm>
          <a:prstGeom prst="rect">
            <a:avLst/>
          </a:prstGeom>
          <a:noFill/>
        </p:spPr>
        <p:txBody>
          <a:bodyPr wrap="square" rtlCol="0">
            <a:spAutoFit/>
          </a:bodyPr>
          <a:lstStyle/>
          <a:p>
            <a:pPr algn="ctr"/>
            <a:r>
              <a:rPr lang="fr-FR" sz="2400" b="1" dirty="0" smtClean="0">
                <a:latin typeface="+mn-lt"/>
              </a:rPr>
              <a:t>Stades évolutifs</a:t>
            </a:r>
            <a:endParaRPr lang="fr-FR" sz="2400" b="1" dirty="0">
              <a:latin typeface="+mn-lt"/>
            </a:endParaRPr>
          </a:p>
        </p:txBody>
      </p:sp>
      <p:sp>
        <p:nvSpPr>
          <p:cNvPr id="6" name="ZoneTexte 30"/>
          <p:cNvSpPr txBox="1">
            <a:spLocks noChangeArrowheads="1"/>
          </p:cNvSpPr>
          <p:nvPr/>
        </p:nvSpPr>
        <p:spPr bwMode="auto">
          <a:xfrm>
            <a:off x="7308850" y="6433591"/>
            <a:ext cx="1079573" cy="307777"/>
          </a:xfrm>
          <a:prstGeom prst="rect">
            <a:avLst/>
          </a:prstGeom>
          <a:noFill/>
          <a:ln w="9525">
            <a:noFill/>
            <a:miter lim="800000"/>
            <a:headEnd/>
            <a:tailEnd/>
          </a:ln>
        </p:spPr>
        <p:txBody>
          <a:bodyPr wrap="square">
            <a:spAutoFit/>
          </a:bodyPr>
          <a:lstStyle/>
          <a:p>
            <a:r>
              <a:rPr lang="fr-FR" sz="1400" dirty="0"/>
              <a:t>Tableau </a:t>
            </a:r>
            <a:r>
              <a:rPr lang="fr-FR" sz="1400" dirty="0" smtClean="0"/>
              <a:t>V</a:t>
            </a:r>
            <a:endParaRPr lang="fr-FR" sz="14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7020272" y="6330806"/>
            <a:ext cx="1064715" cy="338554"/>
          </a:xfrm>
          <a:prstGeom prst="rect">
            <a:avLst/>
          </a:prstGeom>
          <a:noFill/>
        </p:spPr>
        <p:txBody>
          <a:bodyPr wrap="none" rtlCol="0">
            <a:spAutoFit/>
          </a:bodyPr>
          <a:lstStyle/>
          <a:p>
            <a:r>
              <a:rPr lang="fr-FR" sz="1600" b="1" dirty="0" smtClean="0"/>
              <a:t>ESC 2025</a:t>
            </a:r>
            <a:endParaRPr lang="fr-FR" sz="1600" b="1" dirty="0"/>
          </a:p>
        </p:txBody>
      </p:sp>
      <p:pic>
        <p:nvPicPr>
          <p:cNvPr id="1027" name="Picture 3"/>
          <p:cNvPicPr>
            <a:picLocks noChangeAspect="1" noChangeArrowheads="1"/>
          </p:cNvPicPr>
          <p:nvPr/>
        </p:nvPicPr>
        <p:blipFill>
          <a:blip r:embed="rId2" cstate="print"/>
          <a:srcRect/>
          <a:stretch>
            <a:fillRect/>
          </a:stretch>
        </p:blipFill>
        <p:spPr bwMode="auto">
          <a:xfrm>
            <a:off x="899592" y="116632"/>
            <a:ext cx="7504986" cy="6204295"/>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lstStyle/>
          <a:p>
            <a:pPr algn="ctr"/>
            <a:r>
              <a:rPr lang="fr-FR" dirty="0" smtClean="0">
                <a:solidFill>
                  <a:srgbClr val="800000"/>
                </a:solidFill>
                <a:effectLst/>
              </a:rPr>
              <a:t>IX- TRAITEMENT</a:t>
            </a:r>
            <a:endParaRPr lang="fr-FR"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p:cNvSpPr>
            <a:spLocks noGrp="1"/>
          </p:cNvSpPr>
          <p:nvPr>
            <p:ph type="title"/>
          </p:nvPr>
        </p:nvSpPr>
        <p:spPr>
          <a:xfrm>
            <a:off x="304800" y="260648"/>
            <a:ext cx="8686800" cy="720080"/>
          </a:xfrm>
        </p:spPr>
        <p:txBody>
          <a:bodyPr>
            <a:noAutofit/>
          </a:bodyPr>
          <a:lstStyle/>
          <a:p>
            <a:pPr algn="ctr"/>
            <a:r>
              <a:rPr lang="fr-FR" sz="2800" cap="none" dirty="0" smtClean="0">
                <a:solidFill>
                  <a:srgbClr val="FA8006"/>
                </a:solidFill>
                <a:effectLst/>
                <a:latin typeface="+mn-lt"/>
              </a:rPr>
              <a:t>A- Mesures générales communes</a:t>
            </a:r>
            <a:endParaRPr lang="fr-FR" sz="2800" cap="none" dirty="0">
              <a:latin typeface="+mn-lt"/>
            </a:endParaRPr>
          </a:p>
        </p:txBody>
      </p:sp>
      <p:sp>
        <p:nvSpPr>
          <p:cNvPr id="3" name="Espace réservé du contenu 2"/>
          <p:cNvSpPr>
            <a:spLocks noGrp="1"/>
          </p:cNvSpPr>
          <p:nvPr>
            <p:ph idx="1"/>
          </p:nvPr>
        </p:nvSpPr>
        <p:spPr>
          <a:xfrm>
            <a:off x="179512" y="1137915"/>
            <a:ext cx="8812088" cy="5099397"/>
          </a:xfrm>
        </p:spPr>
        <p:txBody>
          <a:bodyPr>
            <a:normAutofit/>
          </a:bodyPr>
          <a:lstStyle/>
          <a:p>
            <a:r>
              <a:rPr lang="fr-FR" sz="2400" b="1" dirty="0" smtClean="0">
                <a:solidFill>
                  <a:srgbClr val="C00000"/>
                </a:solidFill>
              </a:rPr>
              <a:t>Repos:</a:t>
            </a:r>
            <a:r>
              <a:rPr lang="fr-FR" sz="2400" dirty="0" smtClean="0">
                <a:solidFill>
                  <a:srgbClr val="C00000"/>
                </a:solidFill>
              </a:rPr>
              <a:t> </a:t>
            </a:r>
            <a:r>
              <a:rPr lang="fr-FR" sz="2400" dirty="0" smtClean="0">
                <a:solidFill>
                  <a:schemeClr val="tx1"/>
                </a:solidFill>
              </a:rPr>
              <a:t> jusqu’à normalisation clinique, ECG, CRP et écho, et adapté selon la gravité</a:t>
            </a:r>
          </a:p>
          <a:p>
            <a:pPr>
              <a:buNone/>
            </a:pPr>
            <a:r>
              <a:rPr lang="fr-FR" sz="2400" dirty="0" smtClean="0">
                <a:solidFill>
                  <a:schemeClr val="tx1"/>
                </a:solidFill>
              </a:rPr>
              <a:t>  </a:t>
            </a:r>
            <a:r>
              <a:rPr lang="fr-FR" sz="2400" dirty="0" smtClean="0">
                <a:solidFill>
                  <a:schemeClr val="tx1"/>
                </a:solidFill>
                <a:sym typeface="Symbol"/>
              </a:rPr>
              <a:t></a:t>
            </a:r>
            <a:r>
              <a:rPr lang="fr-FR" sz="2400" dirty="0" smtClean="0">
                <a:solidFill>
                  <a:srgbClr val="C00000"/>
                </a:solidFill>
                <a:sym typeface="Symbol"/>
              </a:rPr>
              <a:t> </a:t>
            </a:r>
            <a:r>
              <a:rPr lang="fr-FR" sz="2400" dirty="0" smtClean="0">
                <a:solidFill>
                  <a:schemeClr val="tx1"/>
                </a:solidFill>
              </a:rPr>
              <a:t>repos 1 mois minimum, reprise progressive individualisée</a:t>
            </a:r>
          </a:p>
          <a:p>
            <a:pPr>
              <a:buNone/>
            </a:pPr>
            <a:r>
              <a:rPr lang="fr-FR" sz="2400" dirty="0" smtClean="0">
                <a:solidFill>
                  <a:schemeClr val="tx1"/>
                </a:solidFill>
              </a:rPr>
              <a:t>  </a:t>
            </a:r>
            <a:r>
              <a:rPr lang="fr-FR" sz="2400" dirty="0" smtClean="0">
                <a:solidFill>
                  <a:schemeClr val="tx1"/>
                </a:solidFill>
                <a:sym typeface="Symbol"/>
              </a:rPr>
              <a:t> myocardite: pas de sport intensif avant 3 à 6 mois </a:t>
            </a:r>
          </a:p>
          <a:p>
            <a:pPr>
              <a:buNone/>
            </a:pPr>
            <a:r>
              <a:rPr lang="fr-FR" sz="2400" dirty="0" smtClean="0">
                <a:solidFill>
                  <a:schemeClr val="tx1"/>
                </a:solidFill>
                <a:sym typeface="Symbol"/>
              </a:rPr>
              <a:t> </a:t>
            </a:r>
          </a:p>
          <a:p>
            <a:r>
              <a:rPr lang="fr-FR" sz="2400" b="1" dirty="0" smtClean="0">
                <a:solidFill>
                  <a:srgbClr val="C00000"/>
                </a:solidFill>
              </a:rPr>
              <a:t>Contrôle : </a:t>
            </a:r>
          </a:p>
          <a:p>
            <a:pPr>
              <a:buNone/>
            </a:pPr>
            <a:r>
              <a:rPr lang="fr-FR" sz="2400" b="1" dirty="0" smtClean="0">
                <a:solidFill>
                  <a:schemeClr val="tx1"/>
                </a:solidFill>
                <a:latin typeface="Calibri"/>
                <a:sym typeface="Symbol"/>
              </a:rPr>
              <a:t>   </a:t>
            </a:r>
            <a:r>
              <a:rPr lang="fr-FR" sz="2400" dirty="0" smtClean="0">
                <a:solidFill>
                  <a:schemeClr val="tx1"/>
                </a:solidFill>
                <a:latin typeface="Calibri"/>
                <a:sym typeface="Symbol"/>
              </a:rPr>
              <a:t>≤ 6 mois: clinique, biomarqueurs, ECG, échocardio, Holter, test d’effort selon indication, </a:t>
            </a:r>
            <a:r>
              <a:rPr lang="fr-FR" sz="2400" b="1" dirty="0" smtClean="0">
                <a:solidFill>
                  <a:schemeClr val="tx1"/>
                </a:solidFill>
                <a:latin typeface="Calibri"/>
                <a:sym typeface="Symbol"/>
              </a:rPr>
              <a:t>IRM</a:t>
            </a:r>
            <a:r>
              <a:rPr lang="fr-FR" sz="2400" dirty="0" smtClean="0">
                <a:solidFill>
                  <a:schemeClr val="tx1"/>
                </a:solidFill>
                <a:latin typeface="Calibri"/>
                <a:sym typeface="Symbol"/>
              </a:rPr>
              <a:t> (guérison? activité?)  </a:t>
            </a:r>
          </a:p>
          <a:p>
            <a:pPr>
              <a:buNone/>
            </a:pPr>
            <a:r>
              <a:rPr lang="fr-FR" sz="2400" dirty="0" smtClean="0">
                <a:solidFill>
                  <a:schemeClr val="tx1"/>
                </a:solidFill>
                <a:latin typeface="Calibri"/>
                <a:sym typeface="Symbol"/>
              </a:rPr>
              <a:t>   suivi &gt; 6 mois:</a:t>
            </a:r>
          </a:p>
          <a:p>
            <a:pPr>
              <a:buNone/>
            </a:pPr>
            <a:r>
              <a:rPr lang="fr-FR" sz="2400" dirty="0" smtClean="0">
                <a:solidFill>
                  <a:schemeClr val="tx1"/>
                </a:solidFill>
                <a:latin typeface="Calibri"/>
                <a:sym typeface="Symbol"/>
              </a:rPr>
              <a:t>        - formes compliquées</a:t>
            </a:r>
          </a:p>
          <a:p>
            <a:pPr>
              <a:buNone/>
            </a:pPr>
            <a:r>
              <a:rPr lang="fr-FR" sz="2400" dirty="0" smtClean="0">
                <a:solidFill>
                  <a:schemeClr val="tx1"/>
                </a:solidFill>
                <a:latin typeface="Calibri"/>
                <a:sym typeface="Symbol"/>
              </a:rPr>
              <a:t>        - péricardite incessante/récidivante</a:t>
            </a:r>
          </a:p>
          <a:p>
            <a:pPr>
              <a:buNone/>
            </a:pPr>
            <a:endParaRPr lang="fr-FR" sz="2400" dirty="0" smtClean="0">
              <a:solidFill>
                <a:schemeClr val="tx1"/>
              </a:solidFill>
              <a:latin typeface="Calibri"/>
              <a:sym typeface="Symbol"/>
            </a:endParaRPr>
          </a:p>
          <a:p>
            <a:pPr>
              <a:buNone/>
            </a:pPr>
            <a:endParaRPr lang="fr-FR" sz="2400" dirty="0" smtClean="0">
              <a:solidFill>
                <a:schemeClr val="tx1"/>
              </a:solidFill>
              <a:sym typeface="Symbol"/>
            </a:endParaRPr>
          </a:p>
          <a:p>
            <a:pPr>
              <a:buNone/>
            </a:pPr>
            <a:endParaRPr lang="fr-FR" sz="2400" dirty="0" smtClean="0">
              <a:solidFill>
                <a:schemeClr val="tx1"/>
              </a:solidFill>
              <a:sym typeface="Symbol"/>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p:cNvSpPr>
            <a:spLocks noGrp="1"/>
          </p:cNvSpPr>
          <p:nvPr>
            <p:ph type="title"/>
          </p:nvPr>
        </p:nvSpPr>
        <p:spPr>
          <a:xfrm>
            <a:off x="304800" y="1366664"/>
            <a:ext cx="8686800" cy="838200"/>
          </a:xfrm>
        </p:spPr>
        <p:txBody>
          <a:bodyPr>
            <a:normAutofit fontScale="90000"/>
          </a:bodyPr>
          <a:lstStyle/>
          <a:p>
            <a:pPr algn="ctr">
              <a:defRPr/>
            </a:pPr>
            <a:r>
              <a:rPr lang="fr-FR" b="1" dirty="0" smtClean="0">
                <a:solidFill>
                  <a:srgbClr val="FF9900"/>
                </a:solidFill>
                <a:effectLst/>
                <a:latin typeface="+mn-lt"/>
              </a:rPr>
              <a:t> B- TRAITEMENT des péricardites</a:t>
            </a:r>
            <a:br>
              <a:rPr lang="fr-FR" b="1" dirty="0" smtClean="0">
                <a:solidFill>
                  <a:srgbClr val="FF9900"/>
                </a:solidFill>
                <a:effectLst/>
                <a:latin typeface="+mn-lt"/>
              </a:rPr>
            </a:br>
            <a:r>
              <a:rPr lang="fr-FR" b="1" dirty="0" smtClean="0">
                <a:solidFill>
                  <a:srgbClr val="FF9900"/>
                </a:solidFill>
                <a:effectLst/>
                <a:latin typeface="+mn-lt"/>
              </a:rPr>
              <a:t/>
            </a:r>
            <a:br>
              <a:rPr lang="fr-FR" b="1" dirty="0" smtClean="0">
                <a:solidFill>
                  <a:srgbClr val="FF9900"/>
                </a:solidFill>
                <a:effectLst/>
                <a:latin typeface="+mn-lt"/>
              </a:rPr>
            </a:br>
            <a:r>
              <a:rPr lang="fr-FR" b="1" dirty="0" smtClean="0">
                <a:solidFill>
                  <a:srgbClr val="FF9900"/>
                </a:solidFill>
                <a:effectLst/>
                <a:latin typeface="+mn-lt"/>
              </a:rPr>
              <a:t/>
            </a:r>
            <a:br>
              <a:rPr lang="fr-FR" b="1" dirty="0" smtClean="0">
                <a:solidFill>
                  <a:srgbClr val="FF9900"/>
                </a:solidFill>
                <a:effectLst/>
                <a:latin typeface="+mn-lt"/>
              </a:rPr>
            </a:br>
            <a:r>
              <a:rPr lang="fr-FR" sz="3100" b="1" i="1" dirty="0" smtClean="0">
                <a:solidFill>
                  <a:srgbClr val="FF9900"/>
                </a:solidFill>
                <a:effectLst/>
                <a:latin typeface="+mn-lt"/>
              </a:rPr>
              <a:t>1- tri des patients</a:t>
            </a:r>
            <a:endParaRPr lang="fr-FR" sz="3200" b="1" i="1" dirty="0">
              <a:solidFill>
                <a:srgbClr val="FF9900"/>
              </a:solidFill>
              <a:effectLst/>
              <a:latin typeface="+mn-lt"/>
            </a:endParaRP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5" name="Connecteur en angle 114"/>
          <p:cNvCxnSpPr>
            <a:stCxn id="7" idx="3"/>
          </p:cNvCxnSpPr>
          <p:nvPr/>
        </p:nvCxnSpPr>
        <p:spPr>
          <a:xfrm>
            <a:off x="5364088" y="2204864"/>
            <a:ext cx="2304256" cy="3024336"/>
          </a:xfrm>
          <a:prstGeom prst="bentConnector2">
            <a:avLst/>
          </a:prstGeom>
          <a:ln w="28575">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ZoneTexte 4"/>
          <p:cNvSpPr txBox="1"/>
          <p:nvPr/>
        </p:nvSpPr>
        <p:spPr>
          <a:xfrm>
            <a:off x="1547664" y="332655"/>
            <a:ext cx="6048672" cy="384043"/>
          </a:xfrm>
          <a:prstGeom prst="rect">
            <a:avLst/>
          </a:prstGeom>
          <a:solidFill>
            <a:schemeClr val="tx2">
              <a:lumMod val="20000"/>
              <a:lumOff val="80000"/>
            </a:schemeClr>
          </a:solidFill>
          <a:effectLst>
            <a:outerShdw blurRad="50800" dist="38100" dir="13500000" algn="br" rotWithShape="0">
              <a:prstClr val="black">
                <a:alpha val="40000"/>
              </a:prstClr>
            </a:outerShdw>
            <a:softEdge rad="12700"/>
          </a:effectLst>
        </p:spPr>
        <p:txBody>
          <a:bodyPr wrap="square" rtlCol="0">
            <a:spAutoFit/>
          </a:bodyPr>
          <a:lstStyle/>
          <a:p>
            <a:pPr algn="ctr"/>
            <a:r>
              <a:rPr lang="fr-FR" dirty="0" smtClean="0"/>
              <a:t>Patient avec symptômes de péricardite</a:t>
            </a:r>
            <a:endParaRPr lang="fr-FR" dirty="0"/>
          </a:p>
        </p:txBody>
      </p:sp>
      <p:sp>
        <p:nvSpPr>
          <p:cNvPr id="7" name="ZoneTexte 6"/>
          <p:cNvSpPr txBox="1"/>
          <p:nvPr/>
        </p:nvSpPr>
        <p:spPr>
          <a:xfrm>
            <a:off x="3707904" y="2060848"/>
            <a:ext cx="1656184" cy="288031"/>
          </a:xfrm>
          <a:prstGeom prst="rect">
            <a:avLst/>
          </a:prstGeom>
          <a:solidFill>
            <a:schemeClr val="bg1">
              <a:lumMod val="85000"/>
            </a:schemeClr>
          </a:solidFill>
          <a:effectLst>
            <a:outerShdw blurRad="50800" dist="38100" dir="13500000" algn="br" rotWithShape="0">
              <a:prstClr val="black">
                <a:alpha val="40000"/>
              </a:prstClr>
            </a:outerShdw>
          </a:effectLst>
        </p:spPr>
        <p:txBody>
          <a:bodyPr wrap="square" rtlCol="0">
            <a:spAutoFit/>
          </a:bodyPr>
          <a:lstStyle/>
          <a:p>
            <a:pPr algn="ctr"/>
            <a:r>
              <a:rPr lang="fr-FR" sz="1200" dirty="0" smtClean="0"/>
              <a:t>Critères de haut risque</a:t>
            </a:r>
            <a:endParaRPr lang="fr-FR" sz="1200" dirty="0"/>
          </a:p>
        </p:txBody>
      </p:sp>
      <p:sp>
        <p:nvSpPr>
          <p:cNvPr id="8" name="ZoneTexte 7"/>
          <p:cNvSpPr txBox="1"/>
          <p:nvPr/>
        </p:nvSpPr>
        <p:spPr>
          <a:xfrm>
            <a:off x="3923928" y="2852936"/>
            <a:ext cx="184731" cy="369332"/>
          </a:xfrm>
          <a:prstGeom prst="rect">
            <a:avLst/>
          </a:prstGeom>
          <a:noFill/>
        </p:spPr>
        <p:txBody>
          <a:bodyPr wrap="none" rtlCol="0">
            <a:spAutoFit/>
          </a:bodyPr>
          <a:lstStyle/>
          <a:p>
            <a:endParaRPr lang="fr-FR" dirty="0"/>
          </a:p>
        </p:txBody>
      </p:sp>
      <p:sp>
        <p:nvSpPr>
          <p:cNvPr id="10" name="ZoneTexte 9"/>
          <p:cNvSpPr txBox="1"/>
          <p:nvPr/>
        </p:nvSpPr>
        <p:spPr>
          <a:xfrm>
            <a:off x="3131840" y="3429000"/>
            <a:ext cx="2880320" cy="276999"/>
          </a:xfrm>
          <a:prstGeom prst="rect">
            <a:avLst/>
          </a:prstGeom>
          <a:solidFill>
            <a:schemeClr val="bg1">
              <a:lumMod val="85000"/>
            </a:schemeClr>
          </a:solidFill>
          <a:effectLst>
            <a:outerShdw blurRad="50800" dist="38100" dir="13500000" algn="br" rotWithShape="0">
              <a:prstClr val="black">
                <a:alpha val="40000"/>
              </a:prstClr>
            </a:outerShdw>
          </a:effectLst>
        </p:spPr>
        <p:txBody>
          <a:bodyPr wrap="square" rtlCol="0">
            <a:spAutoFit/>
          </a:bodyPr>
          <a:lstStyle/>
          <a:p>
            <a:pPr algn="ctr"/>
            <a:r>
              <a:rPr lang="fr-FR" sz="1200" dirty="0" smtClean="0"/>
              <a:t>Réponse au TRT après 1 à 2 semaine</a:t>
            </a:r>
            <a:endParaRPr lang="fr-FR" sz="1200" dirty="0"/>
          </a:p>
        </p:txBody>
      </p:sp>
      <p:sp>
        <p:nvSpPr>
          <p:cNvPr id="13" name="ZoneTexte 12"/>
          <p:cNvSpPr txBox="1"/>
          <p:nvPr/>
        </p:nvSpPr>
        <p:spPr>
          <a:xfrm>
            <a:off x="3203848" y="5013176"/>
            <a:ext cx="1728192" cy="276999"/>
          </a:xfrm>
          <a:prstGeom prst="rect">
            <a:avLst/>
          </a:prstGeom>
          <a:solidFill>
            <a:srgbClr val="FFC000"/>
          </a:solidFill>
          <a:ln>
            <a:solidFill>
              <a:srgbClr val="FFC000"/>
            </a:solidFill>
          </a:ln>
          <a:effectLst/>
          <a:scene3d>
            <a:camera prst="orthographicFront"/>
            <a:lightRig rig="threePt" dir="t"/>
          </a:scene3d>
          <a:sp3d>
            <a:bevelT/>
          </a:sp3d>
        </p:spPr>
        <p:txBody>
          <a:bodyPr wrap="square" rtlCol="0">
            <a:spAutoFit/>
          </a:bodyPr>
          <a:lstStyle/>
          <a:p>
            <a:pPr algn="ctr"/>
            <a:r>
              <a:rPr lang="fr-FR" sz="1200" b="1" dirty="0" smtClean="0"/>
              <a:t>Risque intermédiaire</a:t>
            </a:r>
            <a:endParaRPr lang="fr-FR" sz="1200" b="1" dirty="0"/>
          </a:p>
        </p:txBody>
      </p:sp>
      <p:sp>
        <p:nvSpPr>
          <p:cNvPr id="14" name="ZoneTexte 13"/>
          <p:cNvSpPr txBox="1"/>
          <p:nvPr/>
        </p:nvSpPr>
        <p:spPr>
          <a:xfrm>
            <a:off x="1187624" y="5013176"/>
            <a:ext cx="1728192" cy="288032"/>
          </a:xfrm>
          <a:prstGeom prst="rect">
            <a:avLst/>
          </a:prstGeom>
          <a:solidFill>
            <a:srgbClr val="00B050"/>
          </a:solidFill>
          <a:ln>
            <a:solidFill>
              <a:srgbClr val="339966"/>
            </a:solidFill>
          </a:ln>
          <a:effectLst/>
          <a:scene3d>
            <a:camera prst="orthographicFront"/>
            <a:lightRig rig="threePt" dir="t"/>
          </a:scene3d>
          <a:sp3d>
            <a:bevelT/>
          </a:sp3d>
        </p:spPr>
        <p:txBody>
          <a:bodyPr wrap="square" rtlCol="0">
            <a:spAutoFit/>
          </a:bodyPr>
          <a:lstStyle/>
          <a:p>
            <a:pPr algn="ctr"/>
            <a:r>
              <a:rPr lang="fr-FR" sz="1200" b="1" dirty="0" smtClean="0"/>
              <a:t>Bas risque</a:t>
            </a:r>
            <a:endParaRPr lang="fr-FR" sz="1200" b="1" dirty="0"/>
          </a:p>
        </p:txBody>
      </p:sp>
      <p:sp>
        <p:nvSpPr>
          <p:cNvPr id="15" name="ZoneTexte 14"/>
          <p:cNvSpPr txBox="1"/>
          <p:nvPr/>
        </p:nvSpPr>
        <p:spPr>
          <a:xfrm>
            <a:off x="1331640" y="5703639"/>
            <a:ext cx="1512168" cy="461665"/>
          </a:xfrm>
          <a:prstGeom prst="rect">
            <a:avLst/>
          </a:prstGeom>
          <a:solidFill>
            <a:srgbClr val="CCCCFF"/>
          </a:solidFill>
          <a:ln>
            <a:solidFill>
              <a:srgbClr val="00B050"/>
            </a:solidFill>
          </a:ln>
        </p:spPr>
        <p:txBody>
          <a:bodyPr wrap="square" rtlCol="0">
            <a:spAutoFit/>
          </a:bodyPr>
          <a:lstStyle/>
          <a:p>
            <a:pPr algn="ctr"/>
            <a:r>
              <a:rPr lang="fr-FR" sz="1200" dirty="0" smtClean="0"/>
              <a:t>Traitement ambulatoire</a:t>
            </a:r>
            <a:endParaRPr lang="fr-FR" sz="1200" dirty="0"/>
          </a:p>
        </p:txBody>
      </p:sp>
      <p:sp>
        <p:nvSpPr>
          <p:cNvPr id="16" name="ZoneTexte 15"/>
          <p:cNvSpPr txBox="1"/>
          <p:nvPr/>
        </p:nvSpPr>
        <p:spPr>
          <a:xfrm>
            <a:off x="3347864" y="5662989"/>
            <a:ext cx="1512168" cy="646331"/>
          </a:xfrm>
          <a:prstGeom prst="rect">
            <a:avLst/>
          </a:prstGeom>
          <a:solidFill>
            <a:srgbClr val="CCCCFF"/>
          </a:solidFill>
          <a:ln>
            <a:solidFill>
              <a:srgbClr val="FFC000"/>
            </a:solidFill>
          </a:ln>
        </p:spPr>
        <p:txBody>
          <a:bodyPr wrap="square" rtlCol="0">
            <a:spAutoFit/>
          </a:bodyPr>
          <a:lstStyle/>
          <a:p>
            <a:r>
              <a:rPr lang="fr-FR" sz="1200" dirty="0" smtClean="0"/>
              <a:t>Hospitalisation ou suivi rapproché + enquête étiologique</a:t>
            </a:r>
            <a:endParaRPr lang="fr-FR" sz="1200" dirty="0"/>
          </a:p>
        </p:txBody>
      </p:sp>
      <p:sp>
        <p:nvSpPr>
          <p:cNvPr id="17" name="ZoneTexte 16"/>
          <p:cNvSpPr txBox="1"/>
          <p:nvPr/>
        </p:nvSpPr>
        <p:spPr>
          <a:xfrm>
            <a:off x="5724128" y="5589241"/>
            <a:ext cx="1440160" cy="830997"/>
          </a:xfrm>
          <a:prstGeom prst="rect">
            <a:avLst/>
          </a:prstGeom>
          <a:solidFill>
            <a:srgbClr val="CCCCFF"/>
          </a:solidFill>
          <a:ln>
            <a:solidFill>
              <a:srgbClr val="FF0000"/>
            </a:solidFill>
          </a:ln>
        </p:spPr>
        <p:txBody>
          <a:bodyPr wrap="square" rtlCol="0">
            <a:spAutoFit/>
          </a:bodyPr>
          <a:lstStyle/>
          <a:p>
            <a:pPr algn="ctr"/>
            <a:r>
              <a:rPr lang="fr-FR" sz="1200" dirty="0" smtClean="0"/>
              <a:t>Hospitalisation  enquête étiologique et TRT anti inflammatoire</a:t>
            </a:r>
            <a:endParaRPr lang="fr-FR" sz="1200" dirty="0"/>
          </a:p>
        </p:txBody>
      </p:sp>
      <p:cxnSp>
        <p:nvCxnSpPr>
          <p:cNvPr id="24" name="Connecteur droit avec flèche 23"/>
          <p:cNvCxnSpPr/>
          <p:nvPr/>
        </p:nvCxnSpPr>
        <p:spPr>
          <a:xfrm>
            <a:off x="4499992" y="1700808"/>
            <a:ext cx="0" cy="360040"/>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39" name="Connecteur droit avec flèche 38"/>
          <p:cNvCxnSpPr/>
          <p:nvPr/>
        </p:nvCxnSpPr>
        <p:spPr>
          <a:xfrm>
            <a:off x="4499992" y="2564904"/>
            <a:ext cx="0" cy="288032"/>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41" name="Connecteur droit avec flèche 40"/>
          <p:cNvCxnSpPr/>
          <p:nvPr/>
        </p:nvCxnSpPr>
        <p:spPr>
          <a:xfrm>
            <a:off x="4499992" y="3068960"/>
            <a:ext cx="0" cy="360040"/>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42" name="Connecteur droit avec flèche 41"/>
          <p:cNvCxnSpPr/>
          <p:nvPr/>
        </p:nvCxnSpPr>
        <p:spPr>
          <a:xfrm>
            <a:off x="2051720" y="5301208"/>
            <a:ext cx="0" cy="360040"/>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43" name="Connecteur droit avec flèche 42"/>
          <p:cNvCxnSpPr/>
          <p:nvPr/>
        </p:nvCxnSpPr>
        <p:spPr>
          <a:xfrm>
            <a:off x="4067944" y="5301208"/>
            <a:ext cx="0" cy="360040"/>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44" name="Connecteur droit avec flèche 43"/>
          <p:cNvCxnSpPr/>
          <p:nvPr/>
        </p:nvCxnSpPr>
        <p:spPr>
          <a:xfrm>
            <a:off x="6372200" y="5229200"/>
            <a:ext cx="0" cy="360040"/>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45" name="Connecteur droit avec flèche 44"/>
          <p:cNvCxnSpPr/>
          <p:nvPr/>
        </p:nvCxnSpPr>
        <p:spPr>
          <a:xfrm>
            <a:off x="6372200" y="4581128"/>
            <a:ext cx="0" cy="360040"/>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13" name="Ellipse 112"/>
          <p:cNvSpPr/>
          <p:nvPr/>
        </p:nvSpPr>
        <p:spPr>
          <a:xfrm>
            <a:off x="6012160" y="1988840"/>
            <a:ext cx="288032" cy="288032"/>
          </a:xfrm>
          <a:prstGeom prst="ellipse">
            <a:avLst/>
          </a:prstGeom>
          <a:solidFill>
            <a:srgbClr val="99FF99"/>
          </a:solidFill>
          <a:ln>
            <a:solidFill>
              <a:srgbClr val="92D05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smtClean="0">
                <a:solidFill>
                  <a:schemeClr val="tx1"/>
                </a:solidFill>
              </a:rPr>
              <a:t>O</a:t>
            </a:r>
            <a:endParaRPr lang="fr-FR" sz="1600" dirty="0">
              <a:solidFill>
                <a:schemeClr val="tx1"/>
              </a:solidFill>
            </a:endParaRPr>
          </a:p>
        </p:txBody>
      </p:sp>
      <p:cxnSp>
        <p:nvCxnSpPr>
          <p:cNvPr id="115" name="Connecteur en angle 114"/>
          <p:cNvCxnSpPr>
            <a:endCxn id="13" idx="0"/>
          </p:cNvCxnSpPr>
          <p:nvPr/>
        </p:nvCxnSpPr>
        <p:spPr>
          <a:xfrm rot="10800000" flipV="1">
            <a:off x="4067944" y="4514636"/>
            <a:ext cx="1584176" cy="498540"/>
          </a:xfrm>
          <a:prstGeom prst="bentConnector2">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158" name="Connecteur en angle 114"/>
          <p:cNvCxnSpPr/>
          <p:nvPr/>
        </p:nvCxnSpPr>
        <p:spPr>
          <a:xfrm rot="5400000">
            <a:off x="1979712" y="3861048"/>
            <a:ext cx="1152128" cy="1152128"/>
          </a:xfrm>
          <a:prstGeom prst="bentConnector3">
            <a:avLst>
              <a:gd name="adj1" fmla="val 50000"/>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168" name="Connecteur en angle 114"/>
          <p:cNvCxnSpPr/>
          <p:nvPr/>
        </p:nvCxnSpPr>
        <p:spPr>
          <a:xfrm rot="16200000" flipH="1">
            <a:off x="6012160" y="3645024"/>
            <a:ext cx="792088" cy="792088"/>
          </a:xfrm>
          <a:prstGeom prst="bentConnector3">
            <a:avLst>
              <a:gd name="adj1" fmla="val 50000"/>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93" name="Ellipse 192"/>
          <p:cNvSpPr/>
          <p:nvPr/>
        </p:nvSpPr>
        <p:spPr>
          <a:xfrm>
            <a:off x="5868144" y="3645024"/>
            <a:ext cx="288032" cy="288032"/>
          </a:xfrm>
          <a:prstGeom prst="ellipse">
            <a:avLst/>
          </a:prstGeom>
          <a:solidFill>
            <a:srgbClr val="FF5050"/>
          </a:solidFill>
          <a:ln>
            <a:solidFill>
              <a:srgbClr val="92D05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smtClean="0">
                <a:solidFill>
                  <a:schemeClr val="tx1"/>
                </a:solidFill>
              </a:rPr>
              <a:t>N</a:t>
            </a:r>
            <a:endParaRPr lang="fr-FR" sz="1600" dirty="0">
              <a:solidFill>
                <a:schemeClr val="tx1"/>
              </a:solidFill>
            </a:endParaRPr>
          </a:p>
        </p:txBody>
      </p:sp>
      <p:sp>
        <p:nvSpPr>
          <p:cNvPr id="194" name="Ellipse 193"/>
          <p:cNvSpPr/>
          <p:nvPr/>
        </p:nvSpPr>
        <p:spPr>
          <a:xfrm>
            <a:off x="2987824" y="3645024"/>
            <a:ext cx="288032" cy="288032"/>
          </a:xfrm>
          <a:prstGeom prst="ellipse">
            <a:avLst/>
          </a:prstGeom>
          <a:solidFill>
            <a:srgbClr val="99FF99"/>
          </a:solidFill>
          <a:ln>
            <a:solidFill>
              <a:srgbClr val="92D05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smtClean="0">
                <a:solidFill>
                  <a:schemeClr val="tx1"/>
                </a:solidFill>
              </a:rPr>
              <a:t>O</a:t>
            </a:r>
            <a:endParaRPr lang="fr-FR" sz="1600" dirty="0">
              <a:solidFill>
                <a:schemeClr val="tx1"/>
              </a:solidFill>
            </a:endParaRPr>
          </a:p>
        </p:txBody>
      </p:sp>
      <p:cxnSp>
        <p:nvCxnSpPr>
          <p:cNvPr id="199" name="Connecteur droit avec flèche 198"/>
          <p:cNvCxnSpPr/>
          <p:nvPr/>
        </p:nvCxnSpPr>
        <p:spPr>
          <a:xfrm flipH="1">
            <a:off x="7236296" y="5229200"/>
            <a:ext cx="432048" cy="0"/>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203" name="ZoneTexte 202"/>
          <p:cNvSpPr txBox="1"/>
          <p:nvPr/>
        </p:nvSpPr>
        <p:spPr>
          <a:xfrm>
            <a:off x="5580112" y="4993431"/>
            <a:ext cx="1656184" cy="307777"/>
          </a:xfrm>
          <a:prstGeom prst="rect">
            <a:avLst/>
          </a:prstGeom>
          <a:solidFill>
            <a:srgbClr val="FF5050"/>
          </a:solidFill>
          <a:ln>
            <a:solidFill>
              <a:srgbClr val="FF5050"/>
            </a:solidFill>
          </a:ln>
          <a:effectLst/>
          <a:scene3d>
            <a:camera prst="orthographicFront"/>
            <a:lightRig rig="threePt" dir="t"/>
          </a:scene3d>
          <a:sp3d>
            <a:bevelT/>
          </a:sp3d>
        </p:spPr>
        <p:txBody>
          <a:bodyPr wrap="square" rtlCol="0">
            <a:spAutoFit/>
          </a:bodyPr>
          <a:lstStyle/>
          <a:p>
            <a:pPr algn="ctr"/>
            <a:r>
              <a:rPr lang="fr-FR" sz="1400" b="1" dirty="0" smtClean="0"/>
              <a:t>Risque élevé</a:t>
            </a:r>
            <a:endParaRPr lang="fr-FR" sz="1400" b="1" dirty="0"/>
          </a:p>
        </p:txBody>
      </p:sp>
      <p:sp>
        <p:nvSpPr>
          <p:cNvPr id="205" name="ZoneTexte 204"/>
          <p:cNvSpPr txBox="1"/>
          <p:nvPr/>
        </p:nvSpPr>
        <p:spPr>
          <a:xfrm>
            <a:off x="5652120" y="4376136"/>
            <a:ext cx="1512168" cy="277000"/>
          </a:xfrm>
          <a:prstGeom prst="rect">
            <a:avLst/>
          </a:prstGeom>
          <a:solidFill>
            <a:schemeClr val="bg1">
              <a:lumMod val="85000"/>
            </a:schemeClr>
          </a:solidFill>
        </p:spPr>
        <p:txBody>
          <a:bodyPr wrap="square" rtlCol="0">
            <a:spAutoFit/>
          </a:bodyPr>
          <a:lstStyle/>
          <a:p>
            <a:pPr algn="ctr"/>
            <a:r>
              <a:rPr lang="fr-FR" sz="1200" dirty="0" smtClean="0"/>
              <a:t>Évaluation du risque</a:t>
            </a:r>
            <a:endParaRPr lang="fr-FR" sz="1200" dirty="0"/>
          </a:p>
        </p:txBody>
      </p:sp>
      <p:sp>
        <p:nvSpPr>
          <p:cNvPr id="206" name="ZoneTexte 205"/>
          <p:cNvSpPr txBox="1"/>
          <p:nvPr/>
        </p:nvSpPr>
        <p:spPr>
          <a:xfrm>
            <a:off x="2339752" y="908720"/>
            <a:ext cx="4464496" cy="864096"/>
          </a:xfrm>
          <a:prstGeom prst="rect">
            <a:avLst/>
          </a:prstGeom>
          <a:solidFill>
            <a:srgbClr val="92D050"/>
          </a:solidFill>
          <a:effectLst>
            <a:outerShdw blurRad="50800" dist="38100" dir="13500000" algn="br" rotWithShape="0">
              <a:prstClr val="black">
                <a:alpha val="40000"/>
              </a:prstClr>
            </a:outerShdw>
          </a:effectLst>
        </p:spPr>
        <p:txBody>
          <a:bodyPr wrap="square" rtlCol="0">
            <a:spAutoFit/>
          </a:bodyPr>
          <a:lstStyle/>
          <a:p>
            <a:pPr algn="ctr"/>
            <a:r>
              <a:rPr lang="fr-FR" sz="1600" dirty="0" smtClean="0"/>
              <a:t>Evaluation 1</a:t>
            </a:r>
            <a:r>
              <a:rPr lang="fr-FR" sz="1600" baseline="30000" dirty="0" smtClean="0"/>
              <a:t>ère</a:t>
            </a:r>
            <a:r>
              <a:rPr lang="fr-FR" sz="1600" dirty="0" smtClean="0"/>
              <a:t> ligne: historique, examen physique, ECG, ETT, RX thorax, bilan </a:t>
            </a:r>
            <a:r>
              <a:rPr lang="fr-FR" sz="1600" dirty="0" err="1" smtClean="0"/>
              <a:t>sg</a:t>
            </a:r>
            <a:r>
              <a:rPr lang="fr-FR" sz="1600" dirty="0" smtClean="0"/>
              <a:t> standard avec CRP et TPN</a:t>
            </a:r>
            <a:endParaRPr lang="fr-FR" sz="1600" dirty="0"/>
          </a:p>
        </p:txBody>
      </p:sp>
      <p:sp>
        <p:nvSpPr>
          <p:cNvPr id="207" name="Ellipse 206"/>
          <p:cNvSpPr/>
          <p:nvPr/>
        </p:nvSpPr>
        <p:spPr>
          <a:xfrm>
            <a:off x="4355976" y="2348880"/>
            <a:ext cx="288032" cy="288032"/>
          </a:xfrm>
          <a:prstGeom prst="ellipse">
            <a:avLst/>
          </a:prstGeom>
          <a:solidFill>
            <a:srgbClr val="FF5050"/>
          </a:solidFill>
          <a:ln>
            <a:solidFill>
              <a:srgbClr val="92D05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smtClean="0">
                <a:solidFill>
                  <a:schemeClr val="tx1"/>
                </a:solidFill>
              </a:rPr>
              <a:t>N</a:t>
            </a:r>
            <a:endParaRPr lang="fr-FR" sz="1600" dirty="0">
              <a:solidFill>
                <a:schemeClr val="tx1"/>
              </a:solidFill>
            </a:endParaRPr>
          </a:p>
        </p:txBody>
      </p:sp>
      <p:sp>
        <p:nvSpPr>
          <p:cNvPr id="208" name="ZoneTexte 207"/>
          <p:cNvSpPr txBox="1"/>
          <p:nvPr/>
        </p:nvSpPr>
        <p:spPr>
          <a:xfrm>
            <a:off x="3635896" y="2852936"/>
            <a:ext cx="1872208" cy="276999"/>
          </a:xfrm>
          <a:prstGeom prst="rect">
            <a:avLst/>
          </a:prstGeom>
          <a:solidFill>
            <a:schemeClr val="bg1">
              <a:lumMod val="85000"/>
            </a:schemeClr>
          </a:solidFill>
          <a:effectLst>
            <a:outerShdw blurRad="50800" dist="38100" dir="13500000" algn="br" rotWithShape="0">
              <a:prstClr val="black">
                <a:alpha val="40000"/>
              </a:prstClr>
            </a:outerShdw>
          </a:effectLst>
        </p:spPr>
        <p:txBody>
          <a:bodyPr wrap="square" rtlCol="0">
            <a:spAutoFit/>
          </a:bodyPr>
          <a:lstStyle/>
          <a:p>
            <a:pPr algn="ctr"/>
            <a:r>
              <a:rPr lang="fr-FR" sz="1200" dirty="0" smtClean="0"/>
              <a:t>Suivi ambulatoire</a:t>
            </a:r>
            <a:endParaRPr lang="fr-FR" sz="1200" dirty="0"/>
          </a:p>
        </p:txBody>
      </p:sp>
      <p:sp>
        <p:nvSpPr>
          <p:cNvPr id="209" name="ZoneTexte 208"/>
          <p:cNvSpPr txBox="1"/>
          <p:nvPr/>
        </p:nvSpPr>
        <p:spPr>
          <a:xfrm>
            <a:off x="35496" y="980728"/>
            <a:ext cx="2160239" cy="646331"/>
          </a:xfrm>
          <a:prstGeom prst="rect">
            <a:avLst/>
          </a:prstGeom>
          <a:solidFill>
            <a:schemeClr val="bg1">
              <a:lumMod val="95000"/>
            </a:schemeClr>
          </a:solidFill>
        </p:spPr>
        <p:txBody>
          <a:bodyPr wrap="square" rtlCol="0">
            <a:spAutoFit/>
          </a:bodyPr>
          <a:lstStyle/>
          <a:p>
            <a:r>
              <a:rPr lang="fr-FR" dirty="0" smtClean="0"/>
              <a:t>Tri des patients /</a:t>
            </a:r>
          </a:p>
          <a:p>
            <a:r>
              <a:rPr lang="fr-FR" dirty="0" smtClean="0"/>
              <a:t>évaluation du risque</a:t>
            </a:r>
            <a:endParaRPr lang="fr-FR"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re 3"/>
          <p:cNvSpPr>
            <a:spLocks noGrp="1"/>
          </p:cNvSpPr>
          <p:nvPr>
            <p:ph type="title"/>
          </p:nvPr>
        </p:nvSpPr>
        <p:spPr>
          <a:xfrm>
            <a:off x="304800" y="1582688"/>
            <a:ext cx="8686800" cy="838200"/>
          </a:xfrm>
        </p:spPr>
        <p:txBody>
          <a:bodyPr>
            <a:normAutofit fontScale="90000"/>
          </a:bodyPr>
          <a:lstStyle/>
          <a:p>
            <a:pPr algn="ctr"/>
            <a:r>
              <a:rPr lang="fr-FR" sz="3100" b="1" i="1" dirty="0" smtClean="0">
                <a:solidFill>
                  <a:srgbClr val="FF9900"/>
                </a:solidFill>
                <a:effectLst/>
                <a:latin typeface="+mn-lt"/>
              </a:rPr>
              <a:t>2- TRAITEMENT PHARMACOLOGIQUE</a:t>
            </a:r>
            <a:r>
              <a:rPr lang="fr-FR" b="1" dirty="0" smtClean="0">
                <a:solidFill>
                  <a:srgbClr val="FF9900"/>
                </a:solidFill>
                <a:effectLst/>
              </a:rPr>
              <a:t/>
            </a:r>
            <a:br>
              <a:rPr lang="fr-FR" b="1" dirty="0" smtClean="0">
                <a:solidFill>
                  <a:srgbClr val="FF9900"/>
                </a:solidFill>
                <a:effectLst/>
              </a:rPr>
            </a:br>
            <a:endParaRPr lang="fr-FR" dirty="0">
              <a:effectLs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re 4"/>
          <p:cNvSpPr>
            <a:spLocks noGrp="1"/>
          </p:cNvSpPr>
          <p:nvPr>
            <p:ph type="title"/>
          </p:nvPr>
        </p:nvSpPr>
        <p:spPr>
          <a:xfrm>
            <a:off x="0" y="260648"/>
            <a:ext cx="9144000" cy="720080"/>
          </a:xfrm>
        </p:spPr>
        <p:txBody>
          <a:bodyPr>
            <a:noAutofit/>
          </a:bodyPr>
          <a:lstStyle/>
          <a:p>
            <a:pPr algn="ctr">
              <a:defRPr/>
            </a:pPr>
            <a:r>
              <a:rPr lang="fr-FR" sz="2400" i="1" dirty="0" smtClean="0">
                <a:solidFill>
                  <a:srgbClr val="FA8006"/>
                </a:solidFill>
                <a:effectLst/>
                <a:latin typeface="+mn-lt"/>
              </a:rPr>
              <a:t>  </a:t>
            </a:r>
            <a:r>
              <a:rPr lang="fr-FR" sz="2400" i="1" cap="none" dirty="0" smtClean="0">
                <a:solidFill>
                  <a:srgbClr val="FA8006"/>
                </a:solidFill>
                <a:effectLst/>
                <a:latin typeface="+mn-lt"/>
              </a:rPr>
              <a:t>a</a:t>
            </a:r>
            <a:r>
              <a:rPr lang="fr-FR" sz="2400" i="1" dirty="0" smtClean="0">
                <a:solidFill>
                  <a:srgbClr val="FA8006"/>
                </a:solidFill>
                <a:effectLst/>
                <a:latin typeface="+mn-lt"/>
              </a:rPr>
              <a:t>- TRAITEMENT DE 1</a:t>
            </a:r>
            <a:r>
              <a:rPr lang="fr-FR" sz="2400" i="1" baseline="30000" dirty="0" smtClean="0">
                <a:solidFill>
                  <a:srgbClr val="FA8006"/>
                </a:solidFill>
                <a:effectLst/>
                <a:latin typeface="+mn-lt"/>
              </a:rPr>
              <a:t>ère</a:t>
            </a:r>
            <a:r>
              <a:rPr lang="fr-FR" sz="2400" i="1" dirty="0" smtClean="0">
                <a:solidFill>
                  <a:srgbClr val="FA8006"/>
                </a:solidFill>
                <a:effectLst/>
                <a:latin typeface="+mn-lt"/>
              </a:rPr>
              <a:t> LIGNE DE LA PÉRICARDITE AIGUE</a:t>
            </a:r>
            <a:endParaRPr lang="fr-FR" sz="2400" i="1" dirty="0">
              <a:solidFill>
                <a:srgbClr val="FA8006"/>
              </a:solidFill>
              <a:effectLst/>
              <a:latin typeface="+mn-lt"/>
            </a:endParaRPr>
          </a:p>
        </p:txBody>
      </p:sp>
      <p:graphicFrame>
        <p:nvGraphicFramePr>
          <p:cNvPr id="4" name="Espace réservé du contenu 3"/>
          <p:cNvGraphicFramePr>
            <a:graphicFrameLocks noGrp="1"/>
          </p:cNvGraphicFramePr>
          <p:nvPr>
            <p:ph idx="1"/>
          </p:nvPr>
        </p:nvGraphicFramePr>
        <p:xfrm>
          <a:off x="467544" y="1052225"/>
          <a:ext cx="8460680" cy="5494835"/>
        </p:xfrm>
        <a:graphic>
          <a:graphicData uri="http://schemas.openxmlformats.org/drawingml/2006/table">
            <a:tbl>
              <a:tblPr firstRow="1" bandRow="1">
                <a:tableStyleId>{BC89EF96-8CEA-46FF-86C4-4CE0E7609802}</a:tableStyleId>
              </a:tblPr>
              <a:tblGrid>
                <a:gridCol w="1629072"/>
                <a:gridCol w="2340000"/>
                <a:gridCol w="1656184"/>
                <a:gridCol w="2835424"/>
              </a:tblGrid>
              <a:tr h="432519">
                <a:tc>
                  <a:txBody>
                    <a:bodyPr/>
                    <a:lstStyle/>
                    <a:p>
                      <a:pPr algn="ctr"/>
                      <a:r>
                        <a:rPr lang="fr-FR" b="0" i="1" dirty="0" smtClean="0">
                          <a:solidFill>
                            <a:schemeClr val="tx2"/>
                          </a:solidFill>
                        </a:rPr>
                        <a:t>Médicament</a:t>
                      </a:r>
                      <a:endParaRPr lang="fr-FR" b="0" i="1" dirty="0">
                        <a:solidFill>
                          <a:schemeClr val="tx2"/>
                        </a:solidFill>
                      </a:endParaRPr>
                    </a:p>
                  </a:txBody>
                  <a:tcPr/>
                </a:tc>
                <a:tc>
                  <a:txBody>
                    <a:bodyPr/>
                    <a:lstStyle/>
                    <a:p>
                      <a:pPr algn="ctr"/>
                      <a:r>
                        <a:rPr lang="fr-FR" b="0" i="1" dirty="0" smtClean="0">
                          <a:solidFill>
                            <a:schemeClr val="tx2"/>
                          </a:solidFill>
                        </a:rPr>
                        <a:t>Posologie initiale</a:t>
                      </a:r>
                      <a:endParaRPr lang="fr-FR" b="0" i="1" dirty="0">
                        <a:solidFill>
                          <a:schemeClr val="tx2"/>
                        </a:solidFill>
                      </a:endParaRPr>
                    </a:p>
                  </a:txBody>
                  <a:tcPr/>
                </a:tc>
                <a:tc>
                  <a:txBody>
                    <a:bodyPr/>
                    <a:lstStyle/>
                    <a:p>
                      <a:pPr algn="ctr"/>
                      <a:r>
                        <a:rPr lang="fr-FR" b="0" i="1" dirty="0" smtClean="0">
                          <a:solidFill>
                            <a:schemeClr val="tx2"/>
                          </a:solidFill>
                        </a:rPr>
                        <a:t>Durée</a:t>
                      </a:r>
                      <a:endParaRPr lang="fr-FR" b="0" i="1" dirty="0">
                        <a:solidFill>
                          <a:schemeClr val="tx2"/>
                        </a:solidFill>
                      </a:endParaRPr>
                    </a:p>
                  </a:txBody>
                  <a:tcPr/>
                </a:tc>
                <a:tc>
                  <a:txBody>
                    <a:bodyPr/>
                    <a:lstStyle/>
                    <a:p>
                      <a:pPr algn="ctr"/>
                      <a:r>
                        <a:rPr lang="fr-FR" b="0" i="1" dirty="0" smtClean="0">
                          <a:solidFill>
                            <a:schemeClr val="tx2"/>
                          </a:solidFill>
                        </a:rPr>
                        <a:t>Décroissance</a:t>
                      </a:r>
                      <a:endParaRPr lang="fr-FR" b="0" i="1" dirty="0">
                        <a:solidFill>
                          <a:schemeClr val="tx2"/>
                        </a:solidFill>
                      </a:endParaRPr>
                    </a:p>
                  </a:txBody>
                  <a:tcPr/>
                </a:tc>
              </a:tr>
              <a:tr h="792088">
                <a:tc>
                  <a:txBody>
                    <a:bodyPr/>
                    <a:lstStyle/>
                    <a:p>
                      <a:pPr algn="ctr">
                        <a:lnSpc>
                          <a:spcPct val="200000"/>
                        </a:lnSpc>
                      </a:pPr>
                      <a:r>
                        <a:rPr lang="fr-FR" dirty="0" smtClean="0"/>
                        <a:t>Aspirine</a:t>
                      </a:r>
                      <a:endParaRPr lang="fr-FR" dirty="0"/>
                    </a:p>
                  </a:txBody>
                  <a:tcPr/>
                </a:tc>
                <a:tc>
                  <a:txBody>
                    <a:bodyPr/>
                    <a:lstStyle/>
                    <a:p>
                      <a:pPr algn="ctr">
                        <a:lnSpc>
                          <a:spcPct val="200000"/>
                        </a:lnSpc>
                      </a:pPr>
                      <a:r>
                        <a:rPr lang="fr-FR" dirty="0" smtClean="0"/>
                        <a:t>750 - 1000</a:t>
                      </a:r>
                      <a:r>
                        <a:rPr lang="fr-FR" baseline="0" dirty="0" smtClean="0"/>
                        <a:t> mg / </a:t>
                      </a:r>
                      <a:r>
                        <a:rPr lang="fr-FR" b="1" baseline="0" dirty="0" smtClean="0">
                          <a:solidFill>
                            <a:srgbClr val="C00000"/>
                          </a:solidFill>
                        </a:rPr>
                        <a:t>8h</a:t>
                      </a:r>
                      <a:endParaRPr lang="fr-FR" b="1" dirty="0">
                        <a:solidFill>
                          <a:srgbClr val="C00000"/>
                        </a:solidFill>
                      </a:endParaRPr>
                    </a:p>
                  </a:txBody>
                  <a:tcPr/>
                </a:tc>
                <a:tc>
                  <a:txBody>
                    <a:bodyPr/>
                    <a:lstStyle/>
                    <a:p>
                      <a:pPr algn="ctr">
                        <a:lnSpc>
                          <a:spcPct val="200000"/>
                        </a:lnSpc>
                      </a:pPr>
                      <a:r>
                        <a:rPr lang="fr-FR" dirty="0" smtClean="0"/>
                        <a:t>1-2 semaines</a:t>
                      </a:r>
                    </a:p>
                  </a:txBody>
                  <a:tcPr/>
                </a:tc>
                <a:tc>
                  <a:txBody>
                    <a:bodyPr/>
                    <a:lstStyle/>
                    <a:p>
                      <a:pPr algn="ctr">
                        <a:lnSpc>
                          <a:spcPct val="200000"/>
                        </a:lnSpc>
                      </a:pPr>
                      <a:r>
                        <a:rPr lang="fr-FR" dirty="0" smtClean="0"/>
                        <a:t>250</a:t>
                      </a:r>
                      <a:r>
                        <a:rPr lang="fr-FR" baseline="0" dirty="0" smtClean="0"/>
                        <a:t> </a:t>
                      </a:r>
                      <a:r>
                        <a:rPr lang="fr-FR" dirty="0" smtClean="0"/>
                        <a:t>mg / 1 à 2 semaines</a:t>
                      </a:r>
                    </a:p>
                  </a:txBody>
                  <a:tcPr/>
                </a:tc>
              </a:tr>
              <a:tr h="840252">
                <a:tc>
                  <a:txBody>
                    <a:bodyPr/>
                    <a:lstStyle/>
                    <a:p>
                      <a:pPr algn="ctr">
                        <a:lnSpc>
                          <a:spcPct val="200000"/>
                        </a:lnSpc>
                      </a:pPr>
                      <a:r>
                        <a:rPr lang="fr-FR" dirty="0" smtClean="0"/>
                        <a:t>Ibuprofène</a:t>
                      </a:r>
                      <a:endParaRPr lang="fr-FR" dirty="0"/>
                    </a:p>
                  </a:txBody>
                  <a:tcPr/>
                </a:tc>
                <a:tc>
                  <a:txBody>
                    <a:bodyPr/>
                    <a:lstStyle/>
                    <a:p>
                      <a:pPr algn="ctr">
                        <a:lnSpc>
                          <a:spcPct val="200000"/>
                        </a:lnSpc>
                      </a:pPr>
                      <a:r>
                        <a:rPr lang="fr-FR" dirty="0" smtClean="0"/>
                        <a:t>600 - 800 mg / </a:t>
                      </a:r>
                      <a:r>
                        <a:rPr lang="fr-FR" b="1" dirty="0" smtClean="0">
                          <a:solidFill>
                            <a:srgbClr val="C00000"/>
                          </a:solidFill>
                        </a:rPr>
                        <a:t>8h</a:t>
                      </a:r>
                      <a:endParaRPr lang="fr-FR" b="1" dirty="0">
                        <a:solidFill>
                          <a:srgbClr val="C00000"/>
                        </a:solidFill>
                      </a:endParaRPr>
                    </a:p>
                  </a:txBody>
                  <a:tcPr/>
                </a:tc>
                <a:tc>
                  <a:txBody>
                    <a:bodyPr/>
                    <a:lstStyle/>
                    <a:p>
                      <a:pPr marL="0" marR="0" indent="0" algn="ctr" defTabSz="914400" rtl="0" eaLnBrk="1" fontAlgn="auto" latinLnBrk="0" hangingPunct="1">
                        <a:lnSpc>
                          <a:spcPct val="200000"/>
                        </a:lnSpc>
                        <a:spcBef>
                          <a:spcPts val="0"/>
                        </a:spcBef>
                        <a:spcAft>
                          <a:spcPts val="0"/>
                        </a:spcAft>
                        <a:buClrTx/>
                        <a:buSzTx/>
                        <a:buFontTx/>
                        <a:buNone/>
                        <a:tabLst/>
                        <a:defRPr/>
                      </a:pPr>
                      <a:r>
                        <a:rPr lang="fr-FR" dirty="0" smtClean="0"/>
                        <a:t>1-2 semaines</a:t>
                      </a:r>
                    </a:p>
                    <a:p>
                      <a:endParaRPr lang="fr-FR" dirty="0"/>
                    </a:p>
                  </a:txBody>
                  <a:tcPr/>
                </a:tc>
                <a:tc>
                  <a:txBody>
                    <a:bodyPr/>
                    <a:lstStyle/>
                    <a:p>
                      <a:pPr marL="0" marR="0" indent="0" algn="ctr" defTabSz="914400" rtl="0" eaLnBrk="1" fontAlgn="auto" latinLnBrk="0" hangingPunct="1">
                        <a:lnSpc>
                          <a:spcPct val="200000"/>
                        </a:lnSpc>
                        <a:spcBef>
                          <a:spcPts val="0"/>
                        </a:spcBef>
                        <a:spcAft>
                          <a:spcPts val="0"/>
                        </a:spcAft>
                        <a:buClrTx/>
                        <a:buSzTx/>
                        <a:buFontTx/>
                        <a:buNone/>
                        <a:tabLst/>
                        <a:defRPr/>
                      </a:pPr>
                      <a:r>
                        <a:rPr lang="fr-FR" dirty="0" smtClean="0"/>
                        <a:t>200</a:t>
                      </a:r>
                      <a:r>
                        <a:rPr lang="fr-FR" baseline="0" dirty="0" smtClean="0"/>
                        <a:t> </a:t>
                      </a:r>
                      <a:r>
                        <a:rPr lang="fr-FR" dirty="0" smtClean="0"/>
                        <a:t>mg / 1 à 2 semaines</a:t>
                      </a:r>
                    </a:p>
                    <a:p>
                      <a:endParaRPr lang="fr-FR" dirty="0"/>
                    </a:p>
                  </a:txBody>
                  <a:tcPr/>
                </a:tc>
              </a:tr>
              <a:tr h="741784">
                <a:tc>
                  <a:txBody>
                    <a:bodyPr/>
                    <a:lstStyle/>
                    <a:p>
                      <a:pPr algn="ctr">
                        <a:lnSpc>
                          <a:spcPct val="200000"/>
                        </a:lnSpc>
                      </a:pPr>
                      <a:r>
                        <a:rPr lang="fr-FR" b="0" dirty="0" err="1" smtClean="0">
                          <a:solidFill>
                            <a:srgbClr val="006600"/>
                          </a:solidFill>
                        </a:rPr>
                        <a:t>Indomethacine</a:t>
                      </a:r>
                      <a:endParaRPr lang="fr-FR" b="0" dirty="0">
                        <a:solidFill>
                          <a:srgbClr val="006600"/>
                        </a:solidFill>
                      </a:endParaRPr>
                    </a:p>
                  </a:txBody>
                  <a:tcPr/>
                </a:tc>
                <a:tc>
                  <a:txBody>
                    <a:bodyPr/>
                    <a:lstStyle/>
                    <a:p>
                      <a:pPr algn="ctr">
                        <a:lnSpc>
                          <a:spcPct val="200000"/>
                        </a:lnSpc>
                      </a:pPr>
                      <a:r>
                        <a:rPr lang="fr-FR" dirty="0" smtClean="0"/>
                        <a:t>25-50</a:t>
                      </a:r>
                      <a:r>
                        <a:rPr lang="fr-FR" baseline="0" dirty="0" smtClean="0"/>
                        <a:t> mg / </a:t>
                      </a:r>
                      <a:r>
                        <a:rPr lang="fr-FR" b="1" dirty="0" smtClean="0">
                          <a:solidFill>
                            <a:srgbClr val="C00000"/>
                          </a:solidFill>
                        </a:rPr>
                        <a:t>8h</a:t>
                      </a:r>
                      <a:endParaRPr lang="fr-FR" dirty="0"/>
                    </a:p>
                  </a:txBody>
                  <a:tcPr/>
                </a:tc>
                <a:tc>
                  <a:txBody>
                    <a:bodyPr/>
                    <a:lstStyle/>
                    <a:p>
                      <a:pPr marL="0" marR="0" indent="0" algn="ctr" defTabSz="914400" rtl="0" eaLnBrk="1" fontAlgn="auto" latinLnBrk="0" hangingPunct="1">
                        <a:lnSpc>
                          <a:spcPct val="200000"/>
                        </a:lnSpc>
                        <a:spcBef>
                          <a:spcPts val="0"/>
                        </a:spcBef>
                        <a:spcAft>
                          <a:spcPts val="0"/>
                        </a:spcAft>
                        <a:buClrTx/>
                        <a:buSzTx/>
                        <a:buFontTx/>
                        <a:buNone/>
                        <a:tabLst/>
                        <a:defRPr/>
                      </a:pPr>
                      <a:r>
                        <a:rPr lang="fr-FR" dirty="0" smtClean="0"/>
                        <a:t>1-2 semaines</a:t>
                      </a:r>
                    </a:p>
                    <a:p>
                      <a:pPr algn="ctr">
                        <a:lnSpc>
                          <a:spcPct val="150000"/>
                        </a:lnSpc>
                      </a:pPr>
                      <a:endParaRPr lang="fr-FR" dirty="0"/>
                    </a:p>
                  </a:txBody>
                  <a:tcPr/>
                </a:tc>
                <a:tc>
                  <a:txBody>
                    <a:bodyPr/>
                    <a:lstStyle/>
                    <a:p>
                      <a:pPr algn="ctr">
                        <a:lnSpc>
                          <a:spcPct val="200000"/>
                        </a:lnSpc>
                      </a:pPr>
                      <a:r>
                        <a:rPr lang="fr-FR" dirty="0" smtClean="0"/>
                        <a:t>25</a:t>
                      </a:r>
                      <a:r>
                        <a:rPr lang="fr-FR" baseline="0" dirty="0" smtClean="0"/>
                        <a:t> </a:t>
                      </a:r>
                      <a:r>
                        <a:rPr lang="fr-FR" dirty="0" smtClean="0"/>
                        <a:t>mg / 1 à 2 semaines</a:t>
                      </a:r>
                    </a:p>
                    <a:p>
                      <a:pPr algn="ctr">
                        <a:lnSpc>
                          <a:spcPct val="150000"/>
                        </a:lnSpc>
                      </a:pPr>
                      <a:endParaRPr lang="fr-FR" dirty="0"/>
                    </a:p>
                  </a:txBody>
                  <a:tcPr/>
                </a:tc>
              </a:tr>
              <a:tr h="72008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fr-FR" b="1" dirty="0" smtClean="0"/>
                    </a:p>
                    <a:p>
                      <a:pPr marL="0" marR="0" indent="0" algn="ctr" defTabSz="914400" rtl="0" eaLnBrk="1" fontAlgn="auto" latinLnBrk="0" hangingPunct="1">
                        <a:lnSpc>
                          <a:spcPct val="100000"/>
                        </a:lnSpc>
                        <a:spcBef>
                          <a:spcPts val="0"/>
                        </a:spcBef>
                        <a:spcAft>
                          <a:spcPts val="0"/>
                        </a:spcAft>
                        <a:buClrTx/>
                        <a:buSzTx/>
                        <a:buFontTx/>
                        <a:buNone/>
                        <a:tabLst/>
                        <a:defRPr/>
                      </a:pPr>
                      <a:r>
                        <a:rPr lang="fr-FR" b="1" dirty="0" smtClean="0"/>
                        <a:t>Colchicine</a:t>
                      </a:r>
                    </a:p>
                    <a:p>
                      <a:endParaRPr lang="fr-FR" dirty="0"/>
                    </a:p>
                  </a:txBody>
                  <a:tcPr/>
                </a:tc>
                <a:tc>
                  <a:txBody>
                    <a:bodyPr/>
                    <a:lstStyle/>
                    <a:p>
                      <a:pPr algn="ctr"/>
                      <a:r>
                        <a:rPr lang="fr-FR" dirty="0" smtClean="0"/>
                        <a:t>&lt; 70 Kg: 0,5 mg / j</a:t>
                      </a:r>
                    </a:p>
                    <a:p>
                      <a:pPr algn="ctr"/>
                      <a:r>
                        <a:rPr lang="fr-FR" dirty="0" smtClean="0"/>
                        <a:t>≥ 70 Kg: 0,5 mg x2 / j</a:t>
                      </a:r>
                    </a:p>
                    <a:p>
                      <a:endParaRPr lang="fr-FR"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fr-FR" dirty="0" smtClean="0"/>
                    </a:p>
                    <a:p>
                      <a:pPr marL="0" marR="0" indent="0" algn="ctr" defTabSz="914400" rtl="0" eaLnBrk="1" fontAlgn="auto" latinLnBrk="0" hangingPunct="1">
                        <a:lnSpc>
                          <a:spcPct val="100000"/>
                        </a:lnSpc>
                        <a:spcBef>
                          <a:spcPts val="0"/>
                        </a:spcBef>
                        <a:spcAft>
                          <a:spcPts val="0"/>
                        </a:spcAft>
                        <a:buClrTx/>
                        <a:buSzTx/>
                        <a:buFontTx/>
                        <a:buNone/>
                        <a:tabLst/>
                        <a:defRPr/>
                      </a:pPr>
                      <a:r>
                        <a:rPr lang="fr-FR" dirty="0" smtClean="0"/>
                        <a:t>3 à 6 mois</a:t>
                      </a:r>
                    </a:p>
                    <a:p>
                      <a:pPr algn="ctr"/>
                      <a:endParaRPr lang="fr-FR"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fr-FR" dirty="0" smtClean="0"/>
                    </a:p>
                    <a:p>
                      <a:pPr marL="0" marR="0" indent="0" algn="ctr" defTabSz="914400" rtl="0" eaLnBrk="1" fontAlgn="auto" latinLnBrk="0" hangingPunct="1">
                        <a:lnSpc>
                          <a:spcPct val="100000"/>
                        </a:lnSpc>
                        <a:spcBef>
                          <a:spcPts val="0"/>
                        </a:spcBef>
                        <a:spcAft>
                          <a:spcPts val="0"/>
                        </a:spcAft>
                        <a:buClrTx/>
                        <a:buSzTx/>
                        <a:buFontTx/>
                        <a:buNone/>
                        <a:tabLst/>
                        <a:defRPr/>
                      </a:pPr>
                      <a:r>
                        <a:rPr lang="fr-FR" dirty="0" smtClean="0"/>
                        <a:t>facultative</a:t>
                      </a:r>
                    </a:p>
                    <a:p>
                      <a:endParaRPr lang="fr-FR" dirty="0"/>
                    </a:p>
                  </a:txBody>
                  <a:tcPr/>
                </a:tc>
              </a:tr>
              <a:tr h="720080">
                <a:tc>
                  <a:txBody>
                    <a:bodyPr/>
                    <a:lstStyle/>
                    <a:p>
                      <a:pPr algn="ctr">
                        <a:lnSpc>
                          <a:spcPct val="150000"/>
                        </a:lnSpc>
                      </a:pPr>
                      <a:r>
                        <a:rPr lang="fr-FR" b="1" dirty="0" smtClean="0"/>
                        <a:t>Prednisone</a:t>
                      </a:r>
                      <a:endParaRPr lang="fr-FR" b="1" dirty="0"/>
                    </a:p>
                  </a:txBody>
                  <a:tcPr/>
                </a:tc>
                <a:tc>
                  <a:txBody>
                    <a:bodyPr/>
                    <a:lstStyle/>
                    <a:p>
                      <a:pPr algn="ctr">
                        <a:lnSpc>
                          <a:spcPct val="150000"/>
                        </a:lnSpc>
                      </a:pPr>
                      <a:r>
                        <a:rPr lang="fr-FR" dirty="0" smtClean="0"/>
                        <a:t>0,2</a:t>
                      </a:r>
                      <a:r>
                        <a:rPr lang="fr-FR" baseline="0" dirty="0" smtClean="0"/>
                        <a:t> – O,5 mg / j</a:t>
                      </a:r>
                      <a:endParaRPr lang="fr-FR" dirty="0"/>
                    </a:p>
                  </a:txBody>
                  <a:tcPr/>
                </a:tc>
                <a:tc>
                  <a:txBody>
                    <a:bodyPr/>
                    <a:lstStyle/>
                    <a:p>
                      <a:pPr algn="ctr"/>
                      <a:r>
                        <a:rPr lang="fr-FR" dirty="0" smtClean="0"/>
                        <a:t>2 à 4 semaines</a:t>
                      </a:r>
                      <a:endParaRPr lang="fr-FR" dirty="0"/>
                    </a:p>
                  </a:txBody>
                  <a:tcPr/>
                </a:tc>
                <a:tc>
                  <a:txBody>
                    <a:bodyPr/>
                    <a:lstStyle/>
                    <a:p>
                      <a:pPr algn="ctr">
                        <a:lnSpc>
                          <a:spcPct val="150000"/>
                        </a:lnSpc>
                      </a:pPr>
                      <a:r>
                        <a:rPr lang="fr-FR" dirty="0" smtClean="0"/>
                        <a:t>Plusieurs mois</a:t>
                      </a:r>
                      <a:endParaRPr lang="fr-FR" dirty="0"/>
                    </a:p>
                  </a:txBody>
                  <a:tcPr/>
                </a:tc>
              </a:tr>
              <a:tr h="720080">
                <a:tc>
                  <a:txBody>
                    <a:bodyPr/>
                    <a:lstStyle/>
                    <a:p>
                      <a:pPr algn="ctr">
                        <a:lnSpc>
                          <a:spcPct val="150000"/>
                        </a:lnSpc>
                      </a:pPr>
                      <a:r>
                        <a:rPr lang="fr-FR" b="1" dirty="0" smtClean="0"/>
                        <a:t>Bêta (-)</a:t>
                      </a:r>
                      <a:endParaRPr lang="fr-FR" b="1" dirty="0"/>
                    </a:p>
                  </a:txBody>
                  <a:tcPr/>
                </a:tc>
                <a:tc>
                  <a:txBody>
                    <a:bodyPr/>
                    <a:lstStyle/>
                    <a:p>
                      <a:pPr algn="ctr">
                        <a:lnSpc>
                          <a:spcPct val="150000"/>
                        </a:lnSpc>
                      </a:pPr>
                      <a:r>
                        <a:rPr lang="fr-FR" dirty="0" smtClean="0"/>
                        <a:t>Si FC &gt; 75 + douleurs</a:t>
                      </a:r>
                      <a:endParaRPr lang="fr-FR" dirty="0"/>
                    </a:p>
                  </a:txBody>
                  <a:tcPr/>
                </a:tc>
                <a:tc>
                  <a:txBody>
                    <a:bodyPr/>
                    <a:lstStyle/>
                    <a:p>
                      <a:pPr algn="ctr"/>
                      <a:endParaRPr lang="fr-FR" dirty="0"/>
                    </a:p>
                  </a:txBody>
                  <a:tcPr/>
                </a:tc>
                <a:tc>
                  <a:txBody>
                    <a:bodyPr/>
                    <a:lstStyle/>
                    <a:p>
                      <a:pPr algn="ctr">
                        <a:lnSpc>
                          <a:spcPct val="150000"/>
                        </a:lnSpc>
                      </a:pPr>
                      <a:endParaRPr lang="fr-FR" dirty="0"/>
                    </a:p>
                  </a:txBody>
                  <a:tcPr/>
                </a:tc>
              </a:tr>
            </a:tbl>
          </a:graphicData>
        </a:graphic>
      </p:graphicFrame>
      <p:sp>
        <p:nvSpPr>
          <p:cNvPr id="6" name="Flèche courbée vers la gauche 5"/>
          <p:cNvSpPr/>
          <p:nvPr/>
        </p:nvSpPr>
        <p:spPr>
          <a:xfrm rot="10524751">
            <a:off x="181658" y="2615140"/>
            <a:ext cx="611858" cy="1800387"/>
          </a:xfrm>
          <a:prstGeom prst="curvedLeftArrow">
            <a:avLst>
              <a:gd name="adj1" fmla="val 7950"/>
              <a:gd name="adj2" fmla="val 50244"/>
              <a:gd name="adj3" fmla="val 34651"/>
            </a:avLst>
          </a:prstGeom>
          <a:solidFill>
            <a:srgbClr val="FFC0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ln>
                <a:solidFill>
                  <a:sysClr val="windowText" lastClr="000000"/>
                </a:solidFill>
              </a:ln>
              <a:solidFill>
                <a:schemeClr val="tx1"/>
              </a:solidFill>
            </a:endParaRPr>
          </a:p>
        </p:txBody>
      </p:sp>
      <p:sp>
        <p:nvSpPr>
          <p:cNvPr id="7" name="Flèche courbée vers la gauche 6"/>
          <p:cNvSpPr/>
          <p:nvPr/>
        </p:nvSpPr>
        <p:spPr>
          <a:xfrm rot="10524751">
            <a:off x="239103" y="3262726"/>
            <a:ext cx="572040" cy="1110315"/>
          </a:xfrm>
          <a:prstGeom prst="curvedLeftArrow">
            <a:avLst>
              <a:gd name="adj1" fmla="val 2911"/>
              <a:gd name="adj2" fmla="val 50244"/>
              <a:gd name="adj3" fmla="val 34651"/>
            </a:avLst>
          </a:prstGeom>
          <a:solidFill>
            <a:srgbClr val="FFC0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ln>
                <a:solidFill>
                  <a:sysClr val="windowText" lastClr="000000"/>
                </a:solidFill>
              </a:ln>
              <a:solidFill>
                <a:schemeClr val="tx1"/>
              </a:solidFill>
            </a:endParaRPr>
          </a:p>
        </p:txBody>
      </p:sp>
      <p:sp>
        <p:nvSpPr>
          <p:cNvPr id="8" name="ZoneTexte 7"/>
          <p:cNvSpPr txBox="1">
            <a:spLocks noChangeArrowheads="1"/>
          </p:cNvSpPr>
          <p:nvPr/>
        </p:nvSpPr>
        <p:spPr bwMode="auto">
          <a:xfrm>
            <a:off x="824086" y="4149080"/>
            <a:ext cx="394660" cy="523220"/>
          </a:xfrm>
          <a:prstGeom prst="rect">
            <a:avLst/>
          </a:prstGeom>
          <a:noFill/>
          <a:ln w="9525">
            <a:noFill/>
            <a:miter lim="800000"/>
            <a:headEnd/>
            <a:tailEnd/>
          </a:ln>
        </p:spPr>
        <p:txBody>
          <a:bodyPr wrap="none">
            <a:spAutoFit/>
          </a:bodyPr>
          <a:lstStyle/>
          <a:p>
            <a:r>
              <a:rPr lang="fr-FR" sz="2800" b="1" dirty="0">
                <a:solidFill>
                  <a:srgbClr val="C00000"/>
                </a:solidFill>
              </a:rPr>
              <a:t>+</a:t>
            </a:r>
          </a:p>
        </p:txBody>
      </p:sp>
      <p:sp>
        <p:nvSpPr>
          <p:cNvPr id="10" name="Flèche courbée vers la gauche 9"/>
          <p:cNvSpPr/>
          <p:nvPr/>
        </p:nvSpPr>
        <p:spPr>
          <a:xfrm rot="10591782">
            <a:off x="274464" y="4663759"/>
            <a:ext cx="374284" cy="769403"/>
          </a:xfrm>
          <a:prstGeom prst="curvedLeftArrow">
            <a:avLst>
              <a:gd name="adj1" fmla="val 19776"/>
              <a:gd name="adj2" fmla="val 59466"/>
              <a:gd name="adj3" fmla="val 34159"/>
            </a:avLst>
          </a:prstGeom>
          <a:solidFill>
            <a:srgbClr val="FFC0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ln>
                <a:solidFill>
                  <a:sysClr val="windowText" lastClr="000000"/>
                </a:solidFill>
              </a:ln>
              <a:solidFill>
                <a:schemeClr val="tx1"/>
              </a:solidFill>
            </a:endParaRPr>
          </a:p>
        </p:txBody>
      </p:sp>
      <p:sp>
        <p:nvSpPr>
          <p:cNvPr id="12" name="Flèche courbée vers la gauche 11"/>
          <p:cNvSpPr/>
          <p:nvPr/>
        </p:nvSpPr>
        <p:spPr>
          <a:xfrm rot="10524751">
            <a:off x="65721" y="1728565"/>
            <a:ext cx="800331" cy="2652137"/>
          </a:xfrm>
          <a:prstGeom prst="curvedLeftArrow">
            <a:avLst>
              <a:gd name="adj1" fmla="val 10862"/>
              <a:gd name="adj2" fmla="val 50244"/>
              <a:gd name="adj3" fmla="val 26060"/>
            </a:avLst>
          </a:prstGeom>
          <a:solidFill>
            <a:srgbClr val="FFC0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ln>
                <a:solidFill>
                  <a:sysClr val="windowText" lastClr="000000"/>
                </a:solidFill>
              </a:ln>
              <a:solidFill>
                <a:schemeClr val="tx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par>
                                <p:cTn id="8" presetID="1" presetClass="entr" presetSubtype="0" fill="hold" nodeType="withEffect">
                                  <p:stCondLst>
                                    <p:cond delay="0"/>
                                  </p:stCondLst>
                                  <p:childTnLst>
                                    <p:set>
                                      <p:cBhvr>
                                        <p:cTn id="9" dur="1" fill="hold">
                                          <p:stCondLst>
                                            <p:cond delay="0"/>
                                          </p:stCondLst>
                                        </p:cTn>
                                        <p:tgtEl>
                                          <p:spTgt spid="8">
                                            <p:txEl>
                                              <p:pRg st="0" end="0"/>
                                            </p:txEl>
                                          </p:spTgt>
                                        </p:tgtEl>
                                        <p:attrNameLst>
                                          <p:attrName>style.visibility</p:attrName>
                                        </p:attrNameLst>
                                      </p:cBhvr>
                                      <p:to>
                                        <p:strVal val="visible"/>
                                      </p:to>
                                    </p:set>
                                  </p:childTnLst>
                                </p:cTn>
                              </p:par>
                            </p:childTnLst>
                          </p:cTn>
                        </p:par>
                        <p:par>
                          <p:cTn id="10" fill="hold">
                            <p:stCondLst>
                              <p:cond delay="500"/>
                            </p:stCondLst>
                            <p:childTnLst>
                              <p:par>
                                <p:cTn id="11" presetID="22" presetClass="entr" presetSubtype="4"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childTnLst>
                          </p:cTn>
                        </p:par>
                        <p:par>
                          <p:cTn id="14" fill="hold">
                            <p:stCondLst>
                              <p:cond delay="1000"/>
                            </p:stCondLst>
                            <p:childTnLst>
                              <p:par>
                                <p:cTn id="15" presetID="22" presetClass="entr" presetSubtype="4"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2"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re 4"/>
          <p:cNvSpPr>
            <a:spLocks noGrp="1"/>
          </p:cNvSpPr>
          <p:nvPr>
            <p:ph type="title"/>
          </p:nvPr>
        </p:nvSpPr>
        <p:spPr>
          <a:xfrm>
            <a:off x="0" y="142528"/>
            <a:ext cx="9144000" cy="766192"/>
          </a:xfrm>
        </p:spPr>
        <p:txBody>
          <a:bodyPr>
            <a:noAutofit/>
          </a:bodyPr>
          <a:lstStyle/>
          <a:p>
            <a:pPr algn="ctr">
              <a:defRPr/>
            </a:pPr>
            <a:r>
              <a:rPr lang="fr-FR" sz="2400" i="1" cap="none" dirty="0" smtClean="0">
                <a:solidFill>
                  <a:srgbClr val="FA8006"/>
                </a:solidFill>
                <a:effectLst/>
                <a:latin typeface="+mn-lt"/>
              </a:rPr>
              <a:t>b</a:t>
            </a:r>
            <a:r>
              <a:rPr lang="fr-FR" sz="2400" i="1" dirty="0" smtClean="0">
                <a:solidFill>
                  <a:srgbClr val="FA8006"/>
                </a:solidFill>
                <a:effectLst/>
                <a:latin typeface="+mn-lt"/>
              </a:rPr>
              <a:t>-TRT DE LA PÉRICARDITE RÉCIDIVANTE</a:t>
            </a:r>
            <a:endParaRPr lang="fr-FR" sz="2400" i="1" dirty="0">
              <a:solidFill>
                <a:srgbClr val="FA8006"/>
              </a:solidFill>
              <a:effectLst/>
              <a:latin typeface="+mn-lt"/>
            </a:endParaRPr>
          </a:p>
        </p:txBody>
      </p:sp>
      <p:graphicFrame>
        <p:nvGraphicFramePr>
          <p:cNvPr id="4" name="Espace réservé du contenu 3"/>
          <p:cNvGraphicFramePr>
            <a:graphicFrameLocks noGrp="1"/>
          </p:cNvGraphicFramePr>
          <p:nvPr>
            <p:ph idx="1"/>
          </p:nvPr>
        </p:nvGraphicFramePr>
        <p:xfrm>
          <a:off x="304800" y="1122363"/>
          <a:ext cx="8686800" cy="4895772"/>
        </p:xfrm>
        <a:graphic>
          <a:graphicData uri="http://schemas.openxmlformats.org/drawingml/2006/table">
            <a:tbl>
              <a:tblPr firstRow="1" bandRow="1">
                <a:tableStyleId>{BC89EF96-8CEA-46FF-86C4-4CE0E7609802}</a:tableStyleId>
              </a:tblPr>
              <a:tblGrid>
                <a:gridCol w="1674912"/>
                <a:gridCol w="2448272"/>
                <a:gridCol w="1728192"/>
                <a:gridCol w="2835424"/>
              </a:tblGrid>
              <a:tr h="434429">
                <a:tc>
                  <a:txBody>
                    <a:bodyPr/>
                    <a:lstStyle/>
                    <a:p>
                      <a:pPr algn="ctr"/>
                      <a:r>
                        <a:rPr lang="fr-FR" b="1" i="1" dirty="0" smtClean="0">
                          <a:solidFill>
                            <a:schemeClr val="accent6">
                              <a:lumMod val="50000"/>
                            </a:schemeClr>
                          </a:solidFill>
                        </a:rPr>
                        <a:t>Médicament</a:t>
                      </a:r>
                      <a:endParaRPr lang="fr-FR" b="1" i="1" dirty="0">
                        <a:solidFill>
                          <a:schemeClr val="accent6">
                            <a:lumMod val="50000"/>
                          </a:schemeClr>
                        </a:solidFill>
                      </a:endParaRPr>
                    </a:p>
                  </a:txBody>
                  <a:tcPr/>
                </a:tc>
                <a:tc>
                  <a:txBody>
                    <a:bodyPr/>
                    <a:lstStyle/>
                    <a:p>
                      <a:pPr algn="ctr"/>
                      <a:r>
                        <a:rPr lang="fr-FR" b="1" i="1" dirty="0" smtClean="0">
                          <a:solidFill>
                            <a:schemeClr val="accent6">
                              <a:lumMod val="50000"/>
                            </a:schemeClr>
                          </a:solidFill>
                        </a:rPr>
                        <a:t>Posologie initiale</a:t>
                      </a:r>
                      <a:endParaRPr lang="fr-FR" b="1" i="1" dirty="0">
                        <a:solidFill>
                          <a:schemeClr val="accent6">
                            <a:lumMod val="50000"/>
                          </a:schemeClr>
                        </a:solidFill>
                      </a:endParaRPr>
                    </a:p>
                  </a:txBody>
                  <a:tcPr/>
                </a:tc>
                <a:tc>
                  <a:txBody>
                    <a:bodyPr/>
                    <a:lstStyle/>
                    <a:p>
                      <a:pPr algn="ctr"/>
                      <a:r>
                        <a:rPr lang="fr-FR" b="1" i="1" dirty="0" smtClean="0">
                          <a:solidFill>
                            <a:schemeClr val="accent6">
                              <a:lumMod val="50000"/>
                            </a:schemeClr>
                          </a:solidFill>
                        </a:rPr>
                        <a:t>Durée</a:t>
                      </a:r>
                      <a:endParaRPr lang="fr-FR" b="1" i="1" dirty="0">
                        <a:solidFill>
                          <a:schemeClr val="accent6">
                            <a:lumMod val="50000"/>
                          </a:schemeClr>
                        </a:solidFill>
                      </a:endParaRPr>
                    </a:p>
                  </a:txBody>
                  <a:tcPr/>
                </a:tc>
                <a:tc>
                  <a:txBody>
                    <a:bodyPr/>
                    <a:lstStyle/>
                    <a:p>
                      <a:pPr algn="ctr"/>
                      <a:r>
                        <a:rPr lang="fr-FR" b="1" i="1" dirty="0" smtClean="0">
                          <a:solidFill>
                            <a:schemeClr val="accent6">
                              <a:lumMod val="50000"/>
                            </a:schemeClr>
                          </a:solidFill>
                        </a:rPr>
                        <a:t>Décroissance</a:t>
                      </a:r>
                      <a:endParaRPr lang="fr-FR" b="1" i="1" dirty="0">
                        <a:solidFill>
                          <a:schemeClr val="accent6">
                            <a:lumMod val="50000"/>
                          </a:schemeClr>
                        </a:solidFill>
                      </a:endParaRPr>
                    </a:p>
                  </a:txBody>
                  <a:tcPr/>
                </a:tc>
              </a:tr>
              <a:tr h="623491">
                <a:tc>
                  <a:txBody>
                    <a:bodyPr/>
                    <a:lstStyle/>
                    <a:p>
                      <a:pPr algn="ctr"/>
                      <a:r>
                        <a:rPr lang="fr-FR" dirty="0" smtClean="0"/>
                        <a:t>Aspirine</a:t>
                      </a:r>
                      <a:endParaRPr lang="fr-FR" dirty="0"/>
                    </a:p>
                  </a:txBody>
                  <a:tcPr/>
                </a:tc>
                <a:tc>
                  <a:txBody>
                    <a:bodyPr/>
                    <a:lstStyle/>
                    <a:p>
                      <a:pPr algn="ctr"/>
                      <a:r>
                        <a:rPr lang="fr-FR" dirty="0" smtClean="0"/>
                        <a:t>750 - 1000</a:t>
                      </a:r>
                      <a:r>
                        <a:rPr lang="fr-FR" baseline="0" dirty="0" smtClean="0"/>
                        <a:t> mg /</a:t>
                      </a:r>
                      <a:r>
                        <a:rPr lang="fr-FR" b="1" baseline="0" dirty="0" smtClean="0">
                          <a:solidFill>
                            <a:srgbClr val="C00000"/>
                          </a:solidFill>
                        </a:rPr>
                        <a:t>8h</a:t>
                      </a:r>
                    </a:p>
                  </a:txBody>
                  <a:tcPr/>
                </a:tc>
                <a:tc>
                  <a:txBody>
                    <a:bodyPr/>
                    <a:lstStyle/>
                    <a:p>
                      <a:pPr algn="ctr"/>
                      <a:r>
                        <a:rPr lang="fr-FR" dirty="0" smtClean="0"/>
                        <a:t>Semaines-mois</a:t>
                      </a:r>
                      <a:endParaRPr lang="fr-FR" dirty="0"/>
                    </a:p>
                  </a:txBody>
                  <a:tcPr/>
                </a:tc>
                <a:tc>
                  <a:txBody>
                    <a:bodyPr/>
                    <a:lstStyle/>
                    <a:p>
                      <a:pPr algn="ctr"/>
                      <a:r>
                        <a:rPr lang="fr-FR" dirty="0" smtClean="0"/>
                        <a:t>250 mg / 1</a:t>
                      </a:r>
                      <a:r>
                        <a:rPr lang="fr-FR" baseline="0" dirty="0" smtClean="0"/>
                        <a:t> à </a:t>
                      </a:r>
                      <a:r>
                        <a:rPr lang="fr-FR" dirty="0" smtClean="0"/>
                        <a:t>2 semaines</a:t>
                      </a:r>
                      <a:endParaRPr lang="fr-FR" dirty="0"/>
                    </a:p>
                  </a:txBody>
                  <a:tcPr/>
                </a:tc>
              </a:tr>
              <a:tr h="623491">
                <a:tc>
                  <a:txBody>
                    <a:bodyPr/>
                    <a:lstStyle/>
                    <a:p>
                      <a:pPr algn="ctr"/>
                      <a:r>
                        <a:rPr lang="fr-FR" dirty="0" smtClean="0"/>
                        <a:t>Ibuprofène</a:t>
                      </a:r>
                      <a:endParaRPr lang="fr-FR" dirty="0"/>
                    </a:p>
                  </a:txBody>
                  <a:tcPr/>
                </a:tc>
                <a:tc>
                  <a:txBody>
                    <a:bodyPr/>
                    <a:lstStyle/>
                    <a:p>
                      <a:pPr algn="ctr"/>
                      <a:r>
                        <a:rPr lang="fr-FR" dirty="0" smtClean="0"/>
                        <a:t>600 - 800 mg / </a:t>
                      </a:r>
                      <a:r>
                        <a:rPr lang="fr-FR" b="1" dirty="0" smtClean="0">
                          <a:solidFill>
                            <a:srgbClr val="C00000"/>
                          </a:solidFill>
                        </a:rPr>
                        <a:t>8h</a:t>
                      </a:r>
                      <a:endParaRPr lang="fr-FR" b="1" dirty="0">
                        <a:solidFill>
                          <a:srgbClr val="C00000"/>
                        </a:solidFill>
                      </a:endParaRPr>
                    </a:p>
                  </a:txBody>
                  <a:tcPr/>
                </a:tc>
                <a:tc>
                  <a:txBody>
                    <a:bodyPr/>
                    <a:lstStyle/>
                    <a:p>
                      <a:pPr algn="ctr"/>
                      <a:r>
                        <a:rPr lang="fr-FR" dirty="0" smtClean="0"/>
                        <a:t>Semaines-mois</a:t>
                      </a:r>
                    </a:p>
                    <a:p>
                      <a:endParaRPr lang="fr-FR"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dirty="0" smtClean="0"/>
                        <a:t>200</a:t>
                      </a:r>
                      <a:r>
                        <a:rPr lang="fr-FR" baseline="0" dirty="0" smtClean="0"/>
                        <a:t> </a:t>
                      </a:r>
                      <a:r>
                        <a:rPr lang="fr-FR" dirty="0" smtClean="0"/>
                        <a:t>mg / 1 à 2 semaines</a:t>
                      </a:r>
                    </a:p>
                    <a:p>
                      <a:endParaRPr lang="fr-FR" dirty="0"/>
                    </a:p>
                  </a:txBody>
                  <a:tcPr/>
                </a:tc>
              </a:tr>
              <a:tr h="623491">
                <a:tc>
                  <a:txBody>
                    <a:bodyPr/>
                    <a:lstStyle/>
                    <a:p>
                      <a:pPr algn="ctr"/>
                      <a:r>
                        <a:rPr lang="fr-FR" b="1" dirty="0" err="1" smtClean="0"/>
                        <a:t>Indométhacine</a:t>
                      </a:r>
                      <a:endParaRPr lang="fr-FR"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b="0" dirty="0" smtClean="0"/>
                        <a:t>25 - 50</a:t>
                      </a:r>
                      <a:r>
                        <a:rPr lang="fr-FR" b="0" baseline="0" dirty="0" smtClean="0"/>
                        <a:t> mg /</a:t>
                      </a:r>
                      <a:r>
                        <a:rPr lang="fr-FR" b="1" baseline="0" dirty="0" smtClean="0">
                          <a:solidFill>
                            <a:srgbClr val="C00000"/>
                          </a:solidFill>
                        </a:rPr>
                        <a:t>8h</a:t>
                      </a:r>
                      <a:r>
                        <a:rPr lang="fr-FR" b="1" baseline="0" dirty="0" smtClean="0"/>
                        <a:t> </a:t>
                      </a:r>
                      <a:endParaRPr lang="fr-FR" b="1" dirty="0" smtClean="0"/>
                    </a:p>
                    <a:p>
                      <a:endParaRPr lang="fr-FR"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b="0" dirty="0" smtClean="0"/>
                        <a:t>Semaines-mois</a:t>
                      </a:r>
                    </a:p>
                    <a:p>
                      <a:endParaRPr lang="fr-FR" b="0" dirty="0"/>
                    </a:p>
                  </a:txBody>
                  <a:tcPr/>
                </a:tc>
                <a:tc>
                  <a:txBody>
                    <a:bodyPr/>
                    <a:lstStyle/>
                    <a:p>
                      <a:pPr algn="ctr"/>
                      <a:r>
                        <a:rPr lang="fr-FR" b="0" dirty="0" smtClean="0"/>
                        <a:t>25 mg / 1-2 semaines</a:t>
                      </a:r>
                      <a:endParaRPr lang="fr-FR" b="0" dirty="0"/>
                    </a:p>
                  </a:txBody>
                  <a:tcPr/>
                </a:tc>
              </a:tr>
              <a:tr h="6977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dirty="0" smtClean="0"/>
                        <a:t>Colchicine</a:t>
                      </a:r>
                    </a:p>
                    <a:p>
                      <a:pPr algn="ctr"/>
                      <a:endParaRPr lang="fr-FR" dirty="0"/>
                    </a:p>
                  </a:txBody>
                  <a:tcPr/>
                </a:tc>
                <a:tc>
                  <a:txBody>
                    <a:bodyPr/>
                    <a:lstStyle/>
                    <a:p>
                      <a:pPr algn="ctr"/>
                      <a:r>
                        <a:rPr lang="fr-FR" dirty="0" smtClean="0">
                          <a:sym typeface="Symbol"/>
                        </a:rPr>
                        <a:t></a:t>
                      </a:r>
                      <a:r>
                        <a:rPr lang="fr-FR" dirty="0" smtClean="0"/>
                        <a:t>70 Kg: 0,5 mg/jr</a:t>
                      </a:r>
                    </a:p>
                    <a:p>
                      <a:pPr algn="ctr"/>
                      <a:r>
                        <a:rPr lang="fr-FR" dirty="0" smtClean="0">
                          <a:sym typeface="Symbol"/>
                        </a:rPr>
                        <a:t></a:t>
                      </a:r>
                      <a:r>
                        <a:rPr lang="fr-FR" dirty="0" smtClean="0"/>
                        <a:t> 70 Kg: 0,5 mg x2 / jr</a:t>
                      </a:r>
                      <a:endParaRPr lang="fr-FR" dirty="0"/>
                    </a:p>
                  </a:txBody>
                  <a:tcPr/>
                </a:tc>
                <a:tc>
                  <a:txBody>
                    <a:bodyPr/>
                    <a:lstStyle/>
                    <a:p>
                      <a:pPr algn="ctr"/>
                      <a:r>
                        <a:rPr lang="fr-FR" b="1" dirty="0" smtClean="0">
                          <a:sym typeface="Symbol"/>
                        </a:rPr>
                        <a:t> </a:t>
                      </a:r>
                      <a:r>
                        <a:rPr lang="fr-FR" dirty="0" smtClean="0">
                          <a:sym typeface="Symbol"/>
                        </a:rPr>
                        <a:t>6 </a:t>
                      </a:r>
                      <a:r>
                        <a:rPr lang="fr-FR" dirty="0" smtClean="0"/>
                        <a:t>mois</a:t>
                      </a:r>
                      <a:endParaRPr lang="fr-FR" dirty="0"/>
                    </a:p>
                  </a:txBody>
                  <a:tcPr/>
                </a:tc>
                <a:tc>
                  <a:txBody>
                    <a:bodyPr/>
                    <a:lstStyle/>
                    <a:p>
                      <a:pPr algn="ctr"/>
                      <a:r>
                        <a:rPr lang="fr-FR" dirty="0" smtClean="0"/>
                        <a:t>facultative</a:t>
                      </a:r>
                      <a:endParaRPr lang="fr-FR" dirty="0"/>
                    </a:p>
                  </a:txBody>
                  <a:tcPr/>
                </a:tc>
              </a:tr>
              <a:tr h="522092">
                <a:tc gridSpan="4">
                  <a:txBody>
                    <a:bodyPr/>
                    <a:lstStyle/>
                    <a:p>
                      <a:pPr algn="ctr"/>
                      <a:r>
                        <a:rPr lang="fr-FR" b="1" i="1" dirty="0" smtClean="0">
                          <a:solidFill>
                            <a:srgbClr val="FF0000"/>
                          </a:solidFill>
                        </a:rPr>
                        <a:t>TRAITEMENT DE 2</a:t>
                      </a:r>
                      <a:r>
                        <a:rPr lang="fr-FR" b="1" i="1" baseline="30000" dirty="0" smtClean="0">
                          <a:solidFill>
                            <a:srgbClr val="FF0000"/>
                          </a:solidFill>
                        </a:rPr>
                        <a:t>ème</a:t>
                      </a:r>
                      <a:r>
                        <a:rPr lang="fr-FR" b="1" i="1" baseline="0" dirty="0" smtClean="0">
                          <a:solidFill>
                            <a:srgbClr val="FF0000"/>
                          </a:solidFill>
                        </a:rPr>
                        <a:t> LIGNE</a:t>
                      </a:r>
                      <a:r>
                        <a:rPr lang="fr-FR" b="1" i="1" baseline="0" dirty="0" smtClean="0">
                          <a:solidFill>
                            <a:schemeClr val="tx1"/>
                          </a:solidFill>
                        </a:rPr>
                        <a:t>: CORTICOÏDES  0,2-0,5 mg/Kg/jr </a:t>
                      </a:r>
                      <a:r>
                        <a:rPr lang="fr-FR" b="1" i="1" u="sng" baseline="0" dirty="0" smtClean="0">
                          <a:solidFill>
                            <a:srgbClr val="800000"/>
                          </a:solidFill>
                        </a:rPr>
                        <a:t>+</a:t>
                      </a:r>
                      <a:r>
                        <a:rPr lang="fr-FR" b="1" i="1" u="sng" baseline="0" dirty="0" smtClean="0">
                          <a:solidFill>
                            <a:schemeClr val="tx1"/>
                          </a:solidFill>
                        </a:rPr>
                        <a:t> colchicine ± AINS</a:t>
                      </a:r>
                      <a:endParaRPr lang="fr-FR" b="1" u="sng" dirty="0">
                        <a:solidFill>
                          <a:schemeClr val="tx1"/>
                        </a:solidFill>
                      </a:endParaRPr>
                    </a:p>
                  </a:txBody>
                  <a:tcPr/>
                </a:tc>
                <a:tc hMerge="1">
                  <a:txBody>
                    <a:bodyPr/>
                    <a:lstStyle/>
                    <a:p>
                      <a:pPr algn="ctr"/>
                      <a:endParaRPr lang="fr-FR" dirty="0"/>
                    </a:p>
                  </a:txBody>
                  <a:tcPr/>
                </a:tc>
                <a:tc hMerge="1">
                  <a:txBody>
                    <a:bodyPr/>
                    <a:lstStyle/>
                    <a:p>
                      <a:pPr algn="ctr"/>
                      <a:endParaRPr lang="fr-FR" dirty="0"/>
                    </a:p>
                  </a:txBody>
                  <a:tcPr/>
                </a:tc>
                <a:tc hMerge="1">
                  <a:txBody>
                    <a:bodyPr/>
                    <a:lstStyle/>
                    <a:p>
                      <a:pPr algn="ctr"/>
                      <a:endParaRPr lang="fr-FR" dirty="0"/>
                    </a:p>
                  </a:txBody>
                  <a:tcPr/>
                </a:tc>
              </a:tr>
              <a:tr h="623491">
                <a:tc grid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b="1" i="1" dirty="0" smtClean="0">
                          <a:solidFill>
                            <a:srgbClr val="C00000"/>
                          </a:solidFill>
                        </a:rPr>
                        <a:t>TRAITEMENT DE 3</a:t>
                      </a:r>
                      <a:r>
                        <a:rPr lang="fr-FR" b="1" i="1" baseline="30000" dirty="0" smtClean="0">
                          <a:solidFill>
                            <a:srgbClr val="C00000"/>
                          </a:solidFill>
                        </a:rPr>
                        <a:t>ème</a:t>
                      </a:r>
                      <a:r>
                        <a:rPr lang="fr-FR" b="1" i="1" dirty="0" smtClean="0">
                          <a:solidFill>
                            <a:srgbClr val="C00000"/>
                          </a:solidFill>
                        </a:rPr>
                        <a:t> </a:t>
                      </a:r>
                      <a:r>
                        <a:rPr lang="fr-FR" b="1" i="1" baseline="0" dirty="0" smtClean="0">
                          <a:solidFill>
                            <a:srgbClr val="C00000"/>
                          </a:solidFill>
                        </a:rPr>
                        <a:t>LIGNE</a:t>
                      </a:r>
                      <a:r>
                        <a:rPr lang="fr-FR" b="1" i="1" baseline="0" dirty="0" smtClean="0">
                          <a:solidFill>
                            <a:schemeClr val="tx1"/>
                          </a:solidFill>
                        </a:rPr>
                        <a:t>: antagonistes des IL-1 (</a:t>
                      </a:r>
                      <a:r>
                        <a:rPr lang="fr-FR" b="1" i="1" baseline="0" dirty="0" err="1" smtClean="0">
                          <a:solidFill>
                            <a:schemeClr val="tx1"/>
                          </a:solidFill>
                        </a:rPr>
                        <a:t>anakinra</a:t>
                      </a:r>
                      <a:r>
                        <a:rPr lang="fr-FR" b="1" i="1" baseline="0" dirty="0" smtClean="0">
                          <a:solidFill>
                            <a:schemeClr val="tx1"/>
                          </a:solidFill>
                        </a:rPr>
                        <a:t>, </a:t>
                      </a:r>
                      <a:r>
                        <a:rPr lang="fr-FR" b="1" i="1" baseline="0" dirty="0" err="1" smtClean="0">
                          <a:solidFill>
                            <a:schemeClr val="tx1"/>
                          </a:solidFill>
                        </a:rPr>
                        <a:t>rilonacept</a:t>
                      </a:r>
                      <a:r>
                        <a:rPr lang="fr-FR" b="1" i="1" baseline="0" dirty="0" smtClean="0">
                          <a:solidFill>
                            <a:schemeClr val="tx1"/>
                          </a:solidFill>
                        </a:rPr>
                        <a:t>)</a:t>
                      </a:r>
                      <a:endParaRPr lang="fr-FR" b="1" dirty="0" smtClean="0">
                        <a:solidFill>
                          <a:schemeClr val="tx1"/>
                        </a:solidFill>
                      </a:endParaRPr>
                    </a:p>
                    <a:p>
                      <a:pPr algn="ctr"/>
                      <a:endParaRPr lang="fr-FR" dirty="0"/>
                    </a:p>
                  </a:txBody>
                  <a:tcPr/>
                </a:tc>
                <a:tc hMerge="1">
                  <a:txBody>
                    <a:bodyPr/>
                    <a:lstStyle/>
                    <a:p>
                      <a:pPr algn="ctr"/>
                      <a:endParaRPr lang="fr-FR" dirty="0"/>
                    </a:p>
                  </a:txBody>
                  <a:tcPr/>
                </a:tc>
                <a:tc hMerge="1">
                  <a:txBody>
                    <a:bodyPr/>
                    <a:lstStyle/>
                    <a:p>
                      <a:pPr algn="ctr"/>
                      <a:endParaRPr lang="fr-FR" dirty="0"/>
                    </a:p>
                  </a:txBody>
                  <a:tcPr/>
                </a:tc>
                <a:tc hMerge="1">
                  <a:txBody>
                    <a:bodyPr/>
                    <a:lstStyle/>
                    <a:p>
                      <a:pPr algn="ctr"/>
                      <a:endParaRPr lang="fr-FR" dirty="0"/>
                    </a:p>
                  </a:txBody>
                  <a:tcPr/>
                </a:tc>
              </a:tr>
              <a:tr h="697760">
                <a:tc grid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b="1" i="1" dirty="0" smtClean="0">
                          <a:solidFill>
                            <a:srgbClr val="800000"/>
                          </a:solidFill>
                        </a:rPr>
                        <a:t>TRAITEMENT DE 4</a:t>
                      </a:r>
                      <a:r>
                        <a:rPr lang="fr-FR" b="1" i="1" baseline="30000" dirty="0" smtClean="0">
                          <a:solidFill>
                            <a:srgbClr val="800000"/>
                          </a:solidFill>
                        </a:rPr>
                        <a:t>ème</a:t>
                      </a:r>
                      <a:r>
                        <a:rPr lang="fr-FR" b="1" i="1" dirty="0" smtClean="0">
                          <a:solidFill>
                            <a:srgbClr val="800000"/>
                          </a:solidFill>
                        </a:rPr>
                        <a:t> </a:t>
                      </a:r>
                      <a:r>
                        <a:rPr lang="fr-FR" b="1" i="1" baseline="0" dirty="0" smtClean="0">
                          <a:solidFill>
                            <a:srgbClr val="800000"/>
                          </a:solidFill>
                        </a:rPr>
                        <a:t>LIGNE</a:t>
                      </a:r>
                      <a:r>
                        <a:rPr lang="fr-FR" b="1" i="1" baseline="0" dirty="0" smtClean="0">
                          <a:solidFill>
                            <a:schemeClr val="tx1"/>
                          </a:solidFill>
                        </a:rPr>
                        <a:t>:  </a:t>
                      </a:r>
                      <a:r>
                        <a:rPr lang="fr-FR" b="1" i="1" baseline="0" dirty="0" err="1" smtClean="0">
                          <a:solidFill>
                            <a:schemeClr val="tx1"/>
                          </a:solidFill>
                        </a:rPr>
                        <a:t>Hydroxychloroquine</a:t>
                      </a:r>
                      <a:endParaRPr lang="fr-FR" dirty="0" smtClean="0"/>
                    </a:p>
                    <a:p>
                      <a:pPr algn="ctr"/>
                      <a:endParaRPr lang="fr-FR" dirty="0"/>
                    </a:p>
                  </a:txBody>
                  <a:tcPr/>
                </a:tc>
                <a:tc hMerge="1">
                  <a:txBody>
                    <a:bodyPr/>
                    <a:lstStyle/>
                    <a:p>
                      <a:endParaRPr lang="fr-FR"/>
                    </a:p>
                  </a:txBody>
                  <a:tcPr/>
                </a:tc>
                <a:tc hMerge="1">
                  <a:txBody>
                    <a:bodyPr/>
                    <a:lstStyle/>
                    <a:p>
                      <a:endParaRPr lang="fr-FR"/>
                    </a:p>
                  </a:txBody>
                  <a:tcPr/>
                </a:tc>
                <a:tc hMerge="1">
                  <a:txBody>
                    <a:bodyPr/>
                    <a:lstStyle/>
                    <a:p>
                      <a:endParaRPr lang="fr-FR"/>
                    </a:p>
                  </a:txBody>
                  <a:tcPr/>
                </a:tc>
              </a:tr>
            </a:tbl>
          </a:graphicData>
        </a:graphic>
      </p:graphicFrame>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re 3"/>
          <p:cNvSpPr>
            <a:spLocks noGrp="1"/>
          </p:cNvSpPr>
          <p:nvPr>
            <p:ph type="title"/>
          </p:nvPr>
        </p:nvSpPr>
        <p:spPr>
          <a:xfrm>
            <a:off x="304800" y="601216"/>
            <a:ext cx="8686800" cy="595536"/>
          </a:xfrm>
          <a:effectLst/>
        </p:spPr>
        <p:txBody>
          <a:bodyPr>
            <a:normAutofit fontScale="90000"/>
          </a:bodyPr>
          <a:lstStyle/>
          <a:p>
            <a:pPr algn="ctr"/>
            <a:r>
              <a:rPr lang="fr-FR" sz="3100" b="1" i="1" dirty="0" smtClean="0">
                <a:solidFill>
                  <a:srgbClr val="FF9900"/>
                </a:solidFill>
                <a:effectLst/>
                <a:latin typeface="+mn-lt"/>
              </a:rPr>
              <a:t>3- TRAITEMENT non PHARMACOLOGIQUE</a:t>
            </a:r>
            <a:r>
              <a:rPr lang="fr-FR" b="1" dirty="0" smtClean="0">
                <a:solidFill>
                  <a:srgbClr val="FF9900"/>
                </a:solidFill>
                <a:effectLst/>
              </a:rPr>
              <a:t/>
            </a:r>
            <a:br>
              <a:rPr lang="fr-FR" b="1" dirty="0" smtClean="0">
                <a:solidFill>
                  <a:srgbClr val="FF9900"/>
                </a:solidFill>
                <a:effectLst/>
              </a:rPr>
            </a:br>
            <a:endParaRPr lang="fr-FR" dirty="0">
              <a:effectLst/>
            </a:endParaRPr>
          </a:p>
        </p:txBody>
      </p:sp>
      <p:sp>
        <p:nvSpPr>
          <p:cNvPr id="7" name="Espace réservé du contenu 6"/>
          <p:cNvSpPr>
            <a:spLocks noGrp="1"/>
          </p:cNvSpPr>
          <p:nvPr>
            <p:ph idx="1"/>
          </p:nvPr>
        </p:nvSpPr>
        <p:spPr>
          <a:xfrm>
            <a:off x="179512" y="1196752"/>
            <a:ext cx="8686800" cy="5040560"/>
          </a:xfrm>
        </p:spPr>
        <p:txBody>
          <a:bodyPr>
            <a:normAutofit/>
          </a:bodyPr>
          <a:lstStyle/>
          <a:p>
            <a:pPr>
              <a:buNone/>
            </a:pPr>
            <a:r>
              <a:rPr lang="fr-FR" sz="2400" b="1" dirty="0" smtClean="0">
                <a:solidFill>
                  <a:srgbClr val="C00000"/>
                </a:solidFill>
              </a:rPr>
              <a:t>&gt;</a:t>
            </a:r>
            <a:r>
              <a:rPr lang="fr-FR" sz="2400" dirty="0" smtClean="0">
                <a:solidFill>
                  <a:schemeClr val="tx1"/>
                </a:solidFill>
              </a:rPr>
              <a:t> Péricardiocentèse  percutanée ou drainage si :</a:t>
            </a:r>
          </a:p>
          <a:p>
            <a:pPr marL="540000" lvl="2">
              <a:buClr>
                <a:srgbClr val="800000"/>
              </a:buClr>
              <a:buSzPct val="80000"/>
              <a:buNone/>
              <a:defRPr/>
            </a:pPr>
            <a:r>
              <a:rPr lang="fr-FR" sz="2000" dirty="0" smtClean="0">
                <a:solidFill>
                  <a:schemeClr val="tx1"/>
                </a:solidFill>
              </a:rPr>
              <a:t>- </a:t>
            </a:r>
            <a:r>
              <a:rPr lang="fr-FR" dirty="0" smtClean="0">
                <a:solidFill>
                  <a:schemeClr val="tx1"/>
                </a:solidFill>
              </a:rPr>
              <a:t>liquide moyen-abondant mal toléré, tamponnade</a:t>
            </a:r>
          </a:p>
          <a:p>
            <a:pPr marL="540000" lvl="2">
              <a:buClr>
                <a:srgbClr val="800000"/>
              </a:buClr>
              <a:buSzPct val="80000"/>
              <a:buNone/>
              <a:defRPr/>
            </a:pPr>
            <a:r>
              <a:rPr lang="fr-FR" dirty="0" smtClean="0">
                <a:solidFill>
                  <a:schemeClr val="tx1"/>
                </a:solidFill>
              </a:rPr>
              <a:t>- absence de cause évidente </a:t>
            </a:r>
            <a:r>
              <a:rPr lang="fr-FR" sz="2000" dirty="0" smtClean="0">
                <a:solidFill>
                  <a:schemeClr val="tx1"/>
                </a:solidFill>
              </a:rPr>
              <a:t>(néoplasie, infection, collagénose) </a:t>
            </a:r>
          </a:p>
          <a:p>
            <a:pPr marL="540000" lvl="2">
              <a:spcBef>
                <a:spcPts val="0"/>
              </a:spcBef>
              <a:buClr>
                <a:srgbClr val="800000"/>
              </a:buClr>
              <a:buSzPct val="80000"/>
              <a:buNone/>
              <a:defRPr/>
            </a:pPr>
            <a:r>
              <a:rPr lang="fr-FR" dirty="0" smtClean="0">
                <a:solidFill>
                  <a:schemeClr val="tx1"/>
                </a:solidFill>
              </a:rPr>
              <a:t>- non réponse au TRT</a:t>
            </a:r>
          </a:p>
          <a:p>
            <a:pPr marL="540000" lvl="2">
              <a:spcBef>
                <a:spcPts val="0"/>
              </a:spcBef>
              <a:buClr>
                <a:srgbClr val="800000"/>
              </a:buClr>
              <a:buSzPct val="80000"/>
              <a:buNone/>
              <a:defRPr/>
            </a:pPr>
            <a:r>
              <a:rPr lang="fr-FR" dirty="0" smtClean="0">
                <a:solidFill>
                  <a:schemeClr val="tx1"/>
                </a:solidFill>
              </a:rPr>
              <a:t>- suspicion infection ou néoplasie </a:t>
            </a:r>
          </a:p>
          <a:p>
            <a:pPr marL="540000" lvl="2">
              <a:spcBef>
                <a:spcPts val="0"/>
              </a:spcBef>
              <a:buClr>
                <a:srgbClr val="800000"/>
              </a:buClr>
              <a:buSzPct val="80000"/>
              <a:buNone/>
              <a:defRPr/>
            </a:pPr>
            <a:r>
              <a:rPr lang="fr-FR" dirty="0" smtClean="0">
                <a:solidFill>
                  <a:schemeClr val="tx1"/>
                </a:solidFill>
              </a:rPr>
              <a:t>- pour l’administration de TRT intra péricardique: ATB, </a:t>
            </a:r>
            <a:r>
              <a:rPr lang="fr-FR" dirty="0" err="1" smtClean="0">
                <a:solidFill>
                  <a:schemeClr val="tx1"/>
                </a:solidFill>
              </a:rPr>
              <a:t>chimioth</a:t>
            </a:r>
            <a:endParaRPr lang="fr-FR" dirty="0" smtClean="0">
              <a:solidFill>
                <a:schemeClr val="tx1"/>
              </a:solidFill>
            </a:endParaRPr>
          </a:p>
          <a:p>
            <a:pPr marL="719138" lvl="2">
              <a:spcBef>
                <a:spcPts val="0"/>
              </a:spcBef>
              <a:buClr>
                <a:srgbClr val="800000"/>
              </a:buClr>
              <a:buSzPct val="80000"/>
              <a:buNone/>
              <a:defRPr/>
            </a:pPr>
            <a:endParaRPr lang="fr-FR" dirty="0" smtClean="0">
              <a:solidFill>
                <a:schemeClr val="tx1"/>
              </a:solidFill>
            </a:endParaRPr>
          </a:p>
          <a:p>
            <a:pPr marL="0" lvl="4">
              <a:spcBef>
                <a:spcPts val="0"/>
              </a:spcBef>
              <a:buClr>
                <a:srgbClr val="800000"/>
              </a:buClr>
              <a:buSzPct val="80000"/>
              <a:buNone/>
              <a:defRPr/>
            </a:pPr>
            <a:r>
              <a:rPr lang="fr-FR" dirty="0" smtClean="0">
                <a:solidFill>
                  <a:schemeClr val="tx1"/>
                </a:solidFill>
              </a:rPr>
              <a:t>  </a:t>
            </a:r>
            <a:r>
              <a:rPr lang="fr-FR" sz="2400" b="1" dirty="0" smtClean="0">
                <a:solidFill>
                  <a:srgbClr val="C00000"/>
                </a:solidFill>
              </a:rPr>
              <a:t>&gt;</a:t>
            </a:r>
            <a:r>
              <a:rPr lang="fr-FR" dirty="0" smtClean="0">
                <a:solidFill>
                  <a:schemeClr val="tx1"/>
                </a:solidFill>
              </a:rPr>
              <a:t> </a:t>
            </a:r>
            <a:r>
              <a:rPr lang="fr-FR" sz="2400" dirty="0" smtClean="0">
                <a:solidFill>
                  <a:schemeClr val="tx1"/>
                </a:solidFill>
              </a:rPr>
              <a:t>Péricardectomie chirurgicale:</a:t>
            </a:r>
          </a:p>
          <a:p>
            <a:pPr marL="0" lvl="4">
              <a:spcBef>
                <a:spcPts val="0"/>
              </a:spcBef>
              <a:buClr>
                <a:srgbClr val="800000"/>
              </a:buClr>
              <a:buSzPct val="80000"/>
              <a:buNone/>
              <a:defRPr/>
            </a:pPr>
            <a:r>
              <a:rPr lang="fr-FR" sz="2400" dirty="0" smtClean="0">
                <a:solidFill>
                  <a:schemeClr val="tx1"/>
                </a:solidFill>
              </a:rPr>
              <a:t>       - si péricardite chronique constrictive persistante</a:t>
            </a:r>
          </a:p>
          <a:p>
            <a:pPr marL="0" lvl="4">
              <a:spcBef>
                <a:spcPts val="0"/>
              </a:spcBef>
              <a:buClr>
                <a:srgbClr val="800000"/>
              </a:buClr>
              <a:buSzPct val="80000"/>
              <a:buNone/>
              <a:defRPr/>
            </a:pPr>
            <a:r>
              <a:rPr lang="fr-FR" sz="2400" dirty="0" smtClean="0">
                <a:solidFill>
                  <a:schemeClr val="tx1"/>
                </a:solidFill>
              </a:rPr>
              <a:t>       - certaine péricardites récidivantes réfractaires</a:t>
            </a:r>
            <a:endParaRPr lang="fr-FR" dirty="0" smtClean="0">
              <a:solidFill>
                <a:schemeClr val="tx1"/>
              </a:solidFill>
            </a:endParaRPr>
          </a:p>
          <a:p>
            <a:pPr marL="1633538" lvl="4">
              <a:spcBef>
                <a:spcPts val="0"/>
              </a:spcBef>
              <a:buNone/>
              <a:defRPr/>
            </a:pPr>
            <a:r>
              <a:rPr lang="fr-FR" dirty="0" smtClean="0">
                <a:solidFill>
                  <a:schemeClr val="tx1"/>
                </a:solidFill>
              </a:rPr>
              <a:t> </a:t>
            </a:r>
          </a:p>
          <a:p>
            <a:pPr marL="1176338" lvl="3">
              <a:spcBef>
                <a:spcPts val="0"/>
              </a:spcBef>
              <a:buNone/>
              <a:defRPr/>
            </a:pPr>
            <a:endParaRPr lang="fr-FR" dirty="0" smtClean="0">
              <a:solidFill>
                <a:schemeClr val="tx1"/>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4896" y="1052736"/>
            <a:ext cx="8991600" cy="5184576"/>
          </a:xfrm>
        </p:spPr>
        <p:txBody>
          <a:bodyPr>
            <a:normAutofit/>
          </a:bodyPr>
          <a:lstStyle/>
          <a:p>
            <a:pPr>
              <a:spcBef>
                <a:spcPts val="0"/>
              </a:spcBef>
            </a:pPr>
            <a:r>
              <a:rPr lang="fr-FR" sz="2400" dirty="0" smtClean="0">
                <a:solidFill>
                  <a:srgbClr val="C00000"/>
                </a:solidFill>
              </a:rPr>
              <a:t>Objectifs: </a:t>
            </a:r>
            <a:r>
              <a:rPr lang="fr-FR" sz="2400" dirty="0" smtClean="0">
                <a:solidFill>
                  <a:schemeClr val="tx1"/>
                </a:solidFill>
              </a:rPr>
              <a:t>contrôler la douleur, éviter les complications</a:t>
            </a:r>
          </a:p>
          <a:p>
            <a:pPr>
              <a:lnSpc>
                <a:spcPct val="150000"/>
              </a:lnSpc>
            </a:pPr>
            <a:r>
              <a:rPr lang="fr-FR" sz="2400" dirty="0" smtClean="0">
                <a:solidFill>
                  <a:srgbClr val="C00000"/>
                </a:solidFill>
              </a:rPr>
              <a:t>TRT pharmacologique: </a:t>
            </a:r>
            <a:r>
              <a:rPr lang="fr-FR" sz="2400" dirty="0" smtClean="0">
                <a:solidFill>
                  <a:schemeClr val="tx1"/>
                </a:solidFill>
              </a:rPr>
              <a:t>basé sur </a:t>
            </a:r>
          </a:p>
          <a:p>
            <a:pPr>
              <a:lnSpc>
                <a:spcPct val="110000"/>
              </a:lnSpc>
              <a:spcBef>
                <a:spcPts val="0"/>
              </a:spcBef>
              <a:buNone/>
            </a:pPr>
            <a:r>
              <a:rPr lang="fr-FR" sz="2000" dirty="0" smtClean="0">
                <a:solidFill>
                  <a:schemeClr val="tx1"/>
                </a:solidFill>
              </a:rPr>
              <a:t>           -la présentation clinique</a:t>
            </a:r>
          </a:p>
          <a:p>
            <a:pPr>
              <a:lnSpc>
                <a:spcPct val="110000"/>
              </a:lnSpc>
              <a:spcBef>
                <a:spcPts val="0"/>
              </a:spcBef>
              <a:buNone/>
            </a:pPr>
            <a:r>
              <a:rPr lang="fr-FR" sz="2000" dirty="0" smtClean="0">
                <a:solidFill>
                  <a:schemeClr val="tx1"/>
                </a:solidFill>
              </a:rPr>
              <a:t>           -la sévérité</a:t>
            </a:r>
          </a:p>
          <a:p>
            <a:pPr>
              <a:lnSpc>
                <a:spcPct val="110000"/>
              </a:lnSpc>
              <a:spcBef>
                <a:spcPts val="0"/>
              </a:spcBef>
              <a:buNone/>
            </a:pPr>
            <a:r>
              <a:rPr lang="fr-FR" sz="2000" dirty="0" smtClean="0">
                <a:solidFill>
                  <a:schemeClr val="tx1"/>
                </a:solidFill>
              </a:rPr>
              <a:t>           -l’étiologie</a:t>
            </a:r>
          </a:p>
          <a:p>
            <a:pPr>
              <a:buNone/>
            </a:pPr>
            <a:r>
              <a:rPr lang="fr-FR" sz="2400" dirty="0" smtClean="0">
                <a:solidFill>
                  <a:schemeClr val="tx1"/>
                </a:solidFill>
              </a:rPr>
              <a:t>   </a:t>
            </a:r>
            <a:r>
              <a:rPr lang="fr-FR" sz="2000" i="1" dirty="0" smtClean="0">
                <a:solidFill>
                  <a:srgbClr val="006600"/>
                </a:solidFill>
              </a:rPr>
              <a:t>a- </a:t>
            </a:r>
            <a:r>
              <a:rPr lang="fr-FR" sz="2400" i="1" dirty="0" smtClean="0">
                <a:solidFill>
                  <a:srgbClr val="006600"/>
                </a:solidFill>
              </a:rPr>
              <a:t>TRT non étiologique </a:t>
            </a:r>
            <a:r>
              <a:rPr lang="fr-FR" sz="2000" dirty="0" smtClean="0">
                <a:solidFill>
                  <a:schemeClr val="tx1"/>
                </a:solidFill>
              </a:rPr>
              <a:t>: TRT de l’IC </a:t>
            </a:r>
            <a:r>
              <a:rPr lang="fr-FR" sz="2000" dirty="0" smtClean="0">
                <a:solidFill>
                  <a:schemeClr val="tx1"/>
                </a:solidFill>
                <a:sym typeface="Symbol"/>
              </a:rPr>
              <a:t></a:t>
            </a:r>
            <a:r>
              <a:rPr lang="fr-FR" sz="2000" dirty="0" smtClean="0">
                <a:solidFill>
                  <a:schemeClr val="tx1"/>
                </a:solidFill>
              </a:rPr>
              <a:t> stabilisation et/ou récupération FEVG</a:t>
            </a:r>
          </a:p>
          <a:p>
            <a:pPr>
              <a:buNone/>
            </a:pPr>
            <a:r>
              <a:rPr lang="fr-FR" sz="2000" dirty="0" smtClean="0">
                <a:solidFill>
                  <a:schemeClr val="tx1"/>
                </a:solidFill>
              </a:rPr>
              <a:t>    </a:t>
            </a:r>
            <a:r>
              <a:rPr lang="fr-FR" sz="2000" i="1" dirty="0" smtClean="0">
                <a:solidFill>
                  <a:srgbClr val="006600"/>
                </a:solidFill>
              </a:rPr>
              <a:t>b- </a:t>
            </a:r>
            <a:r>
              <a:rPr lang="fr-FR" sz="2400" i="1" dirty="0" smtClean="0">
                <a:solidFill>
                  <a:srgbClr val="006600"/>
                </a:solidFill>
              </a:rPr>
              <a:t>TRT antiarythmique: </a:t>
            </a:r>
            <a:r>
              <a:rPr lang="fr-FR" sz="2000" dirty="0" smtClean="0">
                <a:solidFill>
                  <a:schemeClr val="tx1"/>
                </a:solidFill>
              </a:rPr>
              <a:t>TV symptomatique récidivante</a:t>
            </a:r>
            <a:endParaRPr lang="fr-FR" sz="2400" dirty="0" smtClean="0">
              <a:solidFill>
                <a:schemeClr val="tx1"/>
              </a:solidFill>
            </a:endParaRPr>
          </a:p>
          <a:p>
            <a:pPr>
              <a:buNone/>
            </a:pPr>
            <a:r>
              <a:rPr lang="fr-FR" sz="2400" dirty="0" smtClean="0">
                <a:solidFill>
                  <a:schemeClr val="tx1"/>
                </a:solidFill>
              </a:rPr>
              <a:t>   </a:t>
            </a:r>
            <a:r>
              <a:rPr lang="fr-FR" sz="2000" i="1" dirty="0" smtClean="0">
                <a:solidFill>
                  <a:srgbClr val="006600"/>
                </a:solidFill>
              </a:rPr>
              <a:t>c- </a:t>
            </a:r>
            <a:r>
              <a:rPr lang="fr-FR" sz="2400" i="1" dirty="0" smtClean="0">
                <a:solidFill>
                  <a:srgbClr val="006600"/>
                </a:solidFill>
              </a:rPr>
              <a:t>TRT spécifique selon étiologie</a:t>
            </a:r>
            <a:r>
              <a:rPr lang="fr-FR" sz="2400" dirty="0" smtClean="0">
                <a:solidFill>
                  <a:schemeClr val="tx1"/>
                </a:solidFill>
              </a:rPr>
              <a:t>: </a:t>
            </a:r>
            <a:r>
              <a:rPr lang="fr-FR" sz="2000" dirty="0" smtClean="0">
                <a:solidFill>
                  <a:schemeClr val="tx1"/>
                </a:solidFill>
              </a:rPr>
              <a:t>immunosuppresseurs, corticoïdes, ATB</a:t>
            </a:r>
          </a:p>
          <a:p>
            <a:pPr>
              <a:buNone/>
            </a:pPr>
            <a:r>
              <a:rPr lang="fr-FR" sz="2400" dirty="0" smtClean="0">
                <a:solidFill>
                  <a:schemeClr val="tx1"/>
                </a:solidFill>
              </a:rPr>
              <a:t>   </a:t>
            </a:r>
            <a:r>
              <a:rPr lang="fr-FR" sz="2000" i="1" dirty="0" smtClean="0">
                <a:solidFill>
                  <a:srgbClr val="006600"/>
                </a:solidFill>
              </a:rPr>
              <a:t>d- </a:t>
            </a:r>
            <a:r>
              <a:rPr lang="fr-FR" sz="2400" i="1" dirty="0" smtClean="0">
                <a:solidFill>
                  <a:srgbClr val="006600"/>
                </a:solidFill>
              </a:rPr>
              <a:t>formes non compliquées</a:t>
            </a:r>
            <a:r>
              <a:rPr lang="fr-FR" sz="2400" dirty="0" smtClean="0">
                <a:solidFill>
                  <a:schemeClr val="tx1"/>
                </a:solidFill>
              </a:rPr>
              <a:t>: </a:t>
            </a:r>
          </a:p>
          <a:p>
            <a:pPr>
              <a:buNone/>
            </a:pPr>
            <a:r>
              <a:rPr lang="fr-FR" sz="2000" dirty="0" smtClean="0">
                <a:solidFill>
                  <a:schemeClr val="tx1"/>
                </a:solidFill>
              </a:rPr>
              <a:t>       &gt; Aspirine/AINS: si nécessité de contrôler la douleur</a:t>
            </a:r>
          </a:p>
          <a:p>
            <a:pPr>
              <a:buNone/>
            </a:pPr>
            <a:r>
              <a:rPr lang="fr-FR" sz="2000" dirty="0" smtClean="0">
                <a:solidFill>
                  <a:schemeClr val="tx1"/>
                </a:solidFill>
              </a:rPr>
              <a:t>       &gt; Colchicine: prévient les récidives</a:t>
            </a:r>
          </a:p>
          <a:p>
            <a:pPr>
              <a:buNone/>
            </a:pPr>
            <a:r>
              <a:rPr lang="fr-FR" sz="2000" dirty="0" smtClean="0">
                <a:solidFill>
                  <a:schemeClr val="tx1"/>
                </a:solidFill>
              </a:rPr>
              <a:t>       &gt; Béta bloqueurs: 6 mois minimum en prévention des arythmies</a:t>
            </a:r>
          </a:p>
        </p:txBody>
      </p:sp>
      <p:sp>
        <p:nvSpPr>
          <p:cNvPr id="6" name="Titre 1"/>
          <p:cNvSpPr>
            <a:spLocks noGrp="1"/>
          </p:cNvSpPr>
          <p:nvPr>
            <p:ph type="title"/>
          </p:nvPr>
        </p:nvSpPr>
        <p:spPr>
          <a:xfrm>
            <a:off x="251520" y="70520"/>
            <a:ext cx="8686800" cy="838200"/>
          </a:xfrm>
        </p:spPr>
        <p:txBody>
          <a:bodyPr>
            <a:noAutofit/>
          </a:bodyPr>
          <a:lstStyle/>
          <a:p>
            <a:pPr algn="ctr">
              <a:defRPr/>
            </a:pPr>
            <a:r>
              <a:rPr lang="fr-FR" sz="2800" dirty="0" smtClean="0">
                <a:solidFill>
                  <a:srgbClr val="FF9900"/>
                </a:solidFill>
                <a:effectLst/>
                <a:latin typeface="+mn-lt"/>
              </a:rPr>
              <a:t>C- TRAITEMENT DE la myocardite</a:t>
            </a:r>
            <a:endParaRPr lang="fr-FR" sz="2800" dirty="0">
              <a:solidFill>
                <a:srgbClr val="FF9900"/>
              </a:solidFill>
              <a:effectLst/>
              <a:latin typeface="+mn-lt"/>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04800" y="260648"/>
            <a:ext cx="8686800" cy="5760640"/>
          </a:xfrm>
        </p:spPr>
        <p:txBody>
          <a:bodyPr>
            <a:noAutofit/>
          </a:bodyPr>
          <a:lstStyle/>
          <a:p>
            <a:r>
              <a:rPr lang="fr-FR" sz="2800" dirty="0" smtClean="0">
                <a:solidFill>
                  <a:srgbClr val="C00000"/>
                </a:solidFill>
              </a:rPr>
              <a:t>TRT non pharmacologique: </a:t>
            </a:r>
          </a:p>
          <a:p>
            <a:pPr>
              <a:buNone/>
            </a:pPr>
            <a:r>
              <a:rPr lang="fr-FR" sz="2800" dirty="0" smtClean="0">
                <a:solidFill>
                  <a:srgbClr val="C00000"/>
                </a:solidFill>
              </a:rPr>
              <a:t>   </a:t>
            </a:r>
            <a:r>
              <a:rPr lang="fr-FR" sz="2400" dirty="0" smtClean="0">
                <a:solidFill>
                  <a:srgbClr val="006600"/>
                </a:solidFill>
              </a:rPr>
              <a:t>a-</a:t>
            </a:r>
            <a:r>
              <a:rPr lang="fr-FR" sz="2800" dirty="0" smtClean="0">
                <a:solidFill>
                  <a:srgbClr val="C00000"/>
                </a:solidFill>
              </a:rPr>
              <a:t> </a:t>
            </a:r>
            <a:r>
              <a:rPr lang="fr-FR" sz="2400" dirty="0" smtClean="0">
                <a:solidFill>
                  <a:schemeClr val="tx1"/>
                </a:solidFill>
              </a:rPr>
              <a:t>prévention de la mort subite</a:t>
            </a:r>
          </a:p>
          <a:p>
            <a:pPr>
              <a:buNone/>
            </a:pPr>
            <a:r>
              <a:rPr lang="fr-FR" sz="2400" dirty="0" smtClean="0">
                <a:solidFill>
                  <a:schemeClr val="tx1"/>
                </a:solidFill>
              </a:rPr>
              <a:t>  </a:t>
            </a:r>
            <a:r>
              <a:rPr lang="fr-FR" sz="2400" dirty="0" smtClean="0">
                <a:solidFill>
                  <a:schemeClr val="tx1"/>
                </a:solidFill>
                <a:sym typeface="Symbol"/>
              </a:rPr>
              <a:t> stimulation cardiaque temporaire ou définitive</a:t>
            </a:r>
          </a:p>
          <a:p>
            <a:pPr>
              <a:buNone/>
            </a:pPr>
            <a:r>
              <a:rPr lang="fr-FR" sz="2400" dirty="0" smtClean="0">
                <a:solidFill>
                  <a:schemeClr val="tx1"/>
                </a:solidFill>
                <a:sym typeface="Symbol"/>
              </a:rPr>
              <a:t>   ablation d’un foyer de TV monomorphe soutenue </a:t>
            </a:r>
          </a:p>
          <a:p>
            <a:pPr>
              <a:buNone/>
            </a:pPr>
            <a:r>
              <a:rPr lang="fr-FR" sz="2400" dirty="0" smtClean="0">
                <a:solidFill>
                  <a:schemeClr val="tx1"/>
                </a:solidFill>
                <a:sym typeface="Symbol"/>
              </a:rPr>
              <a:t>   défibrillateur:</a:t>
            </a:r>
          </a:p>
          <a:p>
            <a:pPr>
              <a:buNone/>
            </a:pPr>
            <a:r>
              <a:rPr lang="fr-FR" sz="2400" dirty="0" smtClean="0">
                <a:solidFill>
                  <a:schemeClr val="tx1"/>
                </a:solidFill>
                <a:sym typeface="Symbol"/>
              </a:rPr>
              <a:t>     -par gilet défibrillateur pendant 3 à 6 mois</a:t>
            </a:r>
          </a:p>
          <a:p>
            <a:pPr>
              <a:buNone/>
            </a:pPr>
            <a:r>
              <a:rPr lang="fr-FR" sz="2400" dirty="0" smtClean="0">
                <a:solidFill>
                  <a:schemeClr val="tx1"/>
                </a:solidFill>
                <a:sym typeface="Symbol"/>
              </a:rPr>
              <a:t>     -par DAI au-delà de 6 mois si indication</a:t>
            </a:r>
          </a:p>
          <a:p>
            <a:pPr>
              <a:buNone/>
            </a:pPr>
            <a:r>
              <a:rPr lang="fr-FR" sz="2400" dirty="0" smtClean="0">
                <a:solidFill>
                  <a:schemeClr val="tx1"/>
                </a:solidFill>
                <a:sym typeface="Symbol"/>
              </a:rPr>
              <a:t>   </a:t>
            </a:r>
          </a:p>
          <a:p>
            <a:pPr>
              <a:buNone/>
            </a:pPr>
            <a:r>
              <a:rPr lang="fr-FR" sz="2400" dirty="0" smtClean="0">
                <a:solidFill>
                  <a:schemeClr val="tx1"/>
                </a:solidFill>
                <a:sym typeface="Symbol"/>
              </a:rPr>
              <a:t>    </a:t>
            </a:r>
            <a:r>
              <a:rPr lang="fr-FR" sz="2400" dirty="0" smtClean="0">
                <a:solidFill>
                  <a:srgbClr val="006600"/>
                </a:solidFill>
              </a:rPr>
              <a:t>b-</a:t>
            </a:r>
            <a:r>
              <a:rPr lang="fr-FR" sz="2400" dirty="0" smtClean="0">
                <a:solidFill>
                  <a:srgbClr val="C00000"/>
                </a:solidFill>
              </a:rPr>
              <a:t> </a:t>
            </a:r>
            <a:r>
              <a:rPr lang="fr-FR" sz="2400" dirty="0" smtClean="0">
                <a:solidFill>
                  <a:schemeClr val="tx1"/>
                </a:solidFill>
              </a:rPr>
              <a:t>Assistance circulatoire mécanique (VA-ECMO)</a:t>
            </a:r>
          </a:p>
          <a:p>
            <a:pPr>
              <a:buNone/>
            </a:pPr>
            <a:r>
              <a:rPr lang="fr-FR" sz="2400" dirty="0" smtClean="0">
                <a:solidFill>
                  <a:schemeClr val="tx1"/>
                </a:solidFill>
              </a:rPr>
              <a:t>     - myocardite avec choc </a:t>
            </a:r>
            <a:r>
              <a:rPr lang="fr-FR" sz="2400" dirty="0" smtClean="0">
                <a:solidFill>
                  <a:schemeClr val="tx1"/>
                </a:solidFill>
              </a:rPr>
              <a:t>cardiogénique </a:t>
            </a:r>
            <a:endParaRPr lang="fr-FR" sz="2400" dirty="0" smtClean="0">
              <a:solidFill>
                <a:schemeClr val="tx1"/>
              </a:solidFill>
            </a:endParaRPr>
          </a:p>
          <a:p>
            <a:pPr>
              <a:buNone/>
            </a:pPr>
            <a:r>
              <a:rPr lang="fr-FR" sz="2400" dirty="0" smtClean="0">
                <a:solidFill>
                  <a:schemeClr val="tx1"/>
                </a:solidFill>
              </a:rPr>
              <a:t>     - décompensation cardiaque aigue des myocardite </a:t>
            </a:r>
            <a:r>
              <a:rPr lang="fr-FR" sz="2400" dirty="0" smtClean="0">
                <a:solidFill>
                  <a:schemeClr val="tx1"/>
                </a:solidFill>
              </a:rPr>
              <a:t>chroniques</a:t>
            </a:r>
          </a:p>
          <a:p>
            <a:pPr>
              <a:buNone/>
            </a:pPr>
            <a:endParaRPr lang="fr-FR" sz="2400" dirty="0" smtClean="0">
              <a:solidFill>
                <a:schemeClr val="tx1"/>
              </a:solidFill>
            </a:endParaRPr>
          </a:p>
          <a:p>
            <a:pPr>
              <a:buNone/>
            </a:pPr>
            <a:r>
              <a:rPr lang="fr-FR" sz="2400" dirty="0" smtClean="0">
                <a:solidFill>
                  <a:schemeClr val="tx1"/>
                </a:solidFill>
              </a:rPr>
              <a:t>    </a:t>
            </a:r>
            <a:r>
              <a:rPr lang="fr-FR" sz="2400" dirty="0" smtClean="0">
                <a:solidFill>
                  <a:srgbClr val="006600"/>
                </a:solidFill>
              </a:rPr>
              <a:t>c- </a:t>
            </a:r>
            <a:r>
              <a:rPr lang="fr-FR" sz="2400" dirty="0" smtClean="0">
                <a:solidFill>
                  <a:schemeClr val="tx1"/>
                </a:solidFill>
              </a:rPr>
              <a:t>Transplantation </a:t>
            </a:r>
            <a:r>
              <a:rPr lang="fr-FR" sz="2400" dirty="0" smtClean="0">
                <a:solidFill>
                  <a:schemeClr val="tx1"/>
                </a:solidFill>
              </a:rPr>
              <a:t>cardiaque</a:t>
            </a:r>
            <a:endParaRPr lang="fr-FR" sz="2800" dirty="0" smtClean="0">
              <a:solidFill>
                <a:schemeClr val="tx1"/>
              </a:solidFill>
            </a:endParaRPr>
          </a:p>
          <a:p>
            <a:pPr>
              <a:buNone/>
            </a:pPr>
            <a:r>
              <a:rPr lang="fr-FR" sz="2800" dirty="0" smtClean="0">
                <a:solidFill>
                  <a:srgbClr val="C00000"/>
                </a:solidFill>
              </a:rPr>
              <a:t>    </a:t>
            </a:r>
            <a:endParaRPr lang="fr-FR" sz="2800"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04800" y="1353939"/>
            <a:ext cx="8686800" cy="4739357"/>
          </a:xfrm>
        </p:spPr>
        <p:txBody>
          <a:bodyPr>
            <a:noAutofit/>
          </a:bodyPr>
          <a:lstStyle/>
          <a:p>
            <a:pPr>
              <a:lnSpc>
                <a:spcPct val="150000"/>
              </a:lnSpc>
              <a:spcAft>
                <a:spcPts val="600"/>
              </a:spcAft>
            </a:pPr>
            <a:r>
              <a:rPr lang="fr-FR" sz="2400" dirty="0" smtClean="0">
                <a:solidFill>
                  <a:schemeClr val="tx1"/>
                </a:solidFill>
              </a:rPr>
              <a:t>Tributaire de la présentation initiale</a:t>
            </a:r>
          </a:p>
          <a:p>
            <a:pPr>
              <a:lnSpc>
                <a:spcPct val="150000"/>
              </a:lnSpc>
              <a:spcAft>
                <a:spcPts val="1200"/>
              </a:spcAft>
            </a:pPr>
            <a:r>
              <a:rPr lang="fr-FR" sz="2400" dirty="0" smtClean="0">
                <a:solidFill>
                  <a:schemeClr val="tx1"/>
                </a:solidFill>
              </a:rPr>
              <a:t>Formes non compliquées de SMPI: pronostic favorable</a:t>
            </a:r>
          </a:p>
          <a:p>
            <a:pPr>
              <a:spcAft>
                <a:spcPts val="1200"/>
              </a:spcAft>
            </a:pPr>
            <a:r>
              <a:rPr lang="fr-FR" sz="2400" dirty="0" smtClean="0">
                <a:solidFill>
                  <a:schemeClr val="tx1"/>
                </a:solidFill>
              </a:rPr>
              <a:t>Formes avec présentation initiale type IC / arythmie: pronostic </a:t>
            </a:r>
            <a:r>
              <a:rPr lang="fr-FR" sz="2400" dirty="0" smtClean="0">
                <a:solidFill>
                  <a:schemeClr val="tx1"/>
                </a:solidFill>
              </a:rPr>
              <a:t>défavorable</a:t>
            </a:r>
            <a:endParaRPr lang="fr-FR" sz="2400" dirty="0" smtClean="0">
              <a:solidFill>
                <a:schemeClr val="tx1"/>
              </a:solidFill>
            </a:endParaRPr>
          </a:p>
          <a:p>
            <a:r>
              <a:rPr lang="fr-FR" sz="2400" dirty="0" smtClean="0">
                <a:solidFill>
                  <a:schemeClr val="tx1"/>
                </a:solidFill>
              </a:rPr>
              <a:t>Suivi </a:t>
            </a:r>
            <a:r>
              <a:rPr lang="fr-FR" sz="2400" dirty="0" smtClean="0">
                <a:solidFill>
                  <a:schemeClr val="tx1"/>
                </a:solidFill>
              </a:rPr>
              <a:t>sur 6 </a:t>
            </a:r>
            <a:r>
              <a:rPr lang="fr-FR" sz="2400" dirty="0" smtClean="0">
                <a:solidFill>
                  <a:schemeClr val="tx1"/>
                </a:solidFill>
              </a:rPr>
              <a:t>mois, </a:t>
            </a:r>
            <a:r>
              <a:rPr lang="fr-FR" sz="2400" dirty="0" smtClean="0">
                <a:solidFill>
                  <a:schemeClr val="tx1"/>
                </a:solidFill>
              </a:rPr>
              <a:t>voire &gt; 1 an </a:t>
            </a:r>
            <a:r>
              <a:rPr lang="fr-FR" sz="2400" dirty="0" smtClean="0">
                <a:solidFill>
                  <a:schemeClr val="tx1"/>
                </a:solidFill>
              </a:rPr>
              <a:t>pour </a:t>
            </a:r>
            <a:r>
              <a:rPr lang="fr-FR" sz="2400" dirty="0" smtClean="0">
                <a:solidFill>
                  <a:schemeClr val="tx1"/>
                </a:solidFill>
              </a:rPr>
              <a:t>les formes compliquées, </a:t>
            </a:r>
            <a:r>
              <a:rPr lang="fr-FR" sz="2400" dirty="0" smtClean="0">
                <a:solidFill>
                  <a:schemeClr val="tx1"/>
                </a:solidFill>
              </a:rPr>
              <a:t>récidivantes/incessantes:</a:t>
            </a:r>
          </a:p>
          <a:p>
            <a:pPr>
              <a:spcBef>
                <a:spcPts val="0"/>
              </a:spcBef>
              <a:buNone/>
            </a:pPr>
            <a:r>
              <a:rPr lang="fr-FR" sz="2400" dirty="0" smtClean="0">
                <a:solidFill>
                  <a:schemeClr val="tx1"/>
                </a:solidFill>
              </a:rPr>
              <a:t> </a:t>
            </a:r>
            <a:r>
              <a:rPr lang="fr-FR" sz="2400" dirty="0" smtClean="0">
                <a:solidFill>
                  <a:schemeClr val="tx1"/>
                </a:solidFill>
              </a:rPr>
              <a:t>    </a:t>
            </a:r>
            <a:r>
              <a:rPr lang="fr-FR" sz="2400" dirty="0" smtClean="0"/>
              <a:t>clinique, ECG, biomarqueurs, </a:t>
            </a:r>
            <a:r>
              <a:rPr lang="fr-FR" sz="2400" dirty="0" smtClean="0"/>
              <a:t>é</a:t>
            </a:r>
            <a:r>
              <a:rPr lang="fr-FR" sz="2400" dirty="0" smtClean="0"/>
              <a:t>chocardio, test d’effort, holter  ECG, </a:t>
            </a:r>
            <a:r>
              <a:rPr lang="fr-FR" sz="2400" dirty="0" smtClean="0"/>
              <a:t>IRM cardiaque </a:t>
            </a:r>
            <a:r>
              <a:rPr lang="fr-FR" sz="2400" u="sng" dirty="0" smtClean="0"/>
              <a:t>dans les 6 mois</a:t>
            </a:r>
          </a:p>
          <a:p>
            <a:pPr>
              <a:spcBef>
                <a:spcPts val="0"/>
              </a:spcBef>
              <a:buNone/>
            </a:pPr>
            <a:endParaRPr lang="fr-FR" sz="2400" dirty="0" smtClean="0">
              <a:solidFill>
                <a:schemeClr val="tx1"/>
              </a:solidFill>
            </a:endParaRPr>
          </a:p>
          <a:p>
            <a:pPr>
              <a:spcBef>
                <a:spcPts val="0"/>
              </a:spcBef>
            </a:pPr>
            <a:r>
              <a:rPr lang="fr-FR" sz="2400" dirty="0" smtClean="0">
                <a:solidFill>
                  <a:schemeClr val="tx1"/>
                </a:solidFill>
              </a:rPr>
              <a:t>Rechute dans 10% des cas</a:t>
            </a:r>
          </a:p>
          <a:p>
            <a:pPr>
              <a:spcBef>
                <a:spcPts val="0"/>
              </a:spcBef>
              <a:buNone/>
            </a:pPr>
            <a:endParaRPr lang="fr-FR" sz="2400" dirty="0" smtClean="0">
              <a:solidFill>
                <a:schemeClr val="tx1"/>
              </a:solidFill>
            </a:endParaRPr>
          </a:p>
          <a:p>
            <a:endParaRPr lang="fr-FR" sz="2000" dirty="0" smtClean="0"/>
          </a:p>
          <a:p>
            <a:pPr>
              <a:buNone/>
            </a:pPr>
            <a:r>
              <a:rPr lang="fr-FR" sz="2000" dirty="0" smtClean="0"/>
              <a:t>     </a:t>
            </a:r>
          </a:p>
          <a:p>
            <a:pPr>
              <a:buNone/>
            </a:pPr>
            <a:r>
              <a:rPr lang="fr-FR" sz="2000" dirty="0" smtClean="0"/>
              <a:t>     </a:t>
            </a:r>
            <a:endParaRPr lang="fr-FR" sz="2000" dirty="0"/>
          </a:p>
        </p:txBody>
      </p:sp>
      <p:sp>
        <p:nvSpPr>
          <p:cNvPr id="4" name="Rectangle 2"/>
          <p:cNvSpPr>
            <a:spLocks noGrp="1" noRot="1" noChangeArrowheads="1"/>
          </p:cNvSpPr>
          <p:nvPr>
            <p:ph type="title"/>
          </p:nvPr>
        </p:nvSpPr>
        <p:spPr>
          <a:xfrm>
            <a:off x="304800" y="260648"/>
            <a:ext cx="8686800" cy="838200"/>
          </a:xfrm>
        </p:spPr>
        <p:txBody>
          <a:bodyPr/>
          <a:lstStyle/>
          <a:p>
            <a:pPr algn="ctr" eaLnBrk="1" hangingPunct="1">
              <a:defRPr/>
            </a:pPr>
            <a:r>
              <a:rPr lang="fr-FR" b="1" dirty="0" smtClean="0">
                <a:solidFill>
                  <a:srgbClr val="800000"/>
                </a:solidFill>
                <a:effectLst/>
                <a:latin typeface="+mn-lt"/>
              </a:rPr>
              <a:t> X- PRONOSTIC</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romenade">
  <a:themeElements>
    <a:clrScheme name="Promenad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Promenade">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Promenade">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Trek</Template>
  <TotalTime>7589</TotalTime>
  <Words>8991</Words>
  <Application>Microsoft Office PowerPoint</Application>
  <PresentationFormat>Affichage à l'écran (4:3)</PresentationFormat>
  <Paragraphs>883</Paragraphs>
  <Slides>42</Slides>
  <Notes>38</Notes>
  <HiddenSlides>3</HiddenSlides>
  <MMClips>0</MMClips>
  <ScaleCrop>false</ScaleCrop>
  <HeadingPairs>
    <vt:vector size="4" baseType="variant">
      <vt:variant>
        <vt:lpstr>Thème</vt:lpstr>
      </vt:variant>
      <vt:variant>
        <vt:i4>1</vt:i4>
      </vt:variant>
      <vt:variant>
        <vt:lpstr>Titres des diapositives</vt:lpstr>
      </vt:variant>
      <vt:variant>
        <vt:i4>42</vt:i4>
      </vt:variant>
    </vt:vector>
  </HeadingPairs>
  <TitlesOfParts>
    <vt:vector size="43" baseType="lpstr">
      <vt:lpstr>Promenade</vt:lpstr>
      <vt:lpstr>LES SYNDROMES MYOPÉRICARDIQUES INFLAMMATOIRES  </vt:lpstr>
      <vt:lpstr>I- ANATOMIE-FONCTION</vt:lpstr>
      <vt:lpstr>II- INTRODUCTION</vt:lpstr>
      <vt:lpstr>Spectre des Syndromes Myopéricardiques Inflammatoires</vt:lpstr>
      <vt:lpstr>Diapositive 5</vt:lpstr>
      <vt:lpstr>IV- SYMPTÔMES GÉNÉRAUX - SIGNES CLINIQUES des SMPI PRESENTATION CLINIQUE</vt:lpstr>
      <vt:lpstr>V- STRATIFICATION DU RISQUE</vt:lpstr>
      <vt:lpstr> 3 mi</vt:lpstr>
      <vt:lpstr>Diapositive 9</vt:lpstr>
      <vt:lpstr>Diapositive 10</vt:lpstr>
      <vt:lpstr>Particularités des anomalies ECG</vt:lpstr>
      <vt:lpstr>Diapositive 12</vt:lpstr>
      <vt:lpstr>Diapositive 13</vt:lpstr>
      <vt:lpstr>Diapositive 14</vt:lpstr>
      <vt:lpstr>Diapositive 15</vt:lpstr>
      <vt:lpstr>Diapositive 16</vt:lpstr>
      <vt:lpstr>  Échocardiographie </vt:lpstr>
      <vt:lpstr>  IRM Cardiaque</vt:lpstr>
      <vt:lpstr>  COROSCANNER/CORONAROGRAPHIE</vt:lpstr>
      <vt:lpstr> VII- PÉRICARDITES</vt:lpstr>
      <vt:lpstr>Diapositive 21</vt:lpstr>
      <vt:lpstr>Diapositive 22</vt:lpstr>
      <vt:lpstr>Diapositive 23</vt:lpstr>
      <vt:lpstr> LA PERICARDITE CHRONIQUE CONSTRICTIVE</vt:lpstr>
      <vt:lpstr>Diapositive 25</vt:lpstr>
      <vt:lpstr>B- CRITÈRES DGC DES PÉRICARDITES</vt:lpstr>
      <vt:lpstr>VIII- LES MYOCARDITES</vt:lpstr>
      <vt:lpstr>Diapositive 28</vt:lpstr>
      <vt:lpstr>A- PRESENTATIONS CLINIQUES 2- « Formes Cliniques »</vt:lpstr>
      <vt:lpstr>B- CRITÈRES DGC DES MYOCARDITES</vt:lpstr>
      <vt:lpstr>Diapositive 31</vt:lpstr>
      <vt:lpstr>IX- TRAITEMENT</vt:lpstr>
      <vt:lpstr>A- Mesures générales communes</vt:lpstr>
      <vt:lpstr> B- TRAITEMENT des péricardites   1- tri des patients</vt:lpstr>
      <vt:lpstr>Diapositive 35</vt:lpstr>
      <vt:lpstr>2- TRAITEMENT PHARMACOLOGIQUE </vt:lpstr>
      <vt:lpstr>  a- TRAITEMENT DE 1ère LIGNE DE LA PÉRICARDITE AIGUE</vt:lpstr>
      <vt:lpstr>b-TRT DE LA PÉRICARDITE RÉCIDIVANTE</vt:lpstr>
      <vt:lpstr>3- TRAITEMENT non PHARMACOLOGIQUE </vt:lpstr>
      <vt:lpstr>C- TRAITEMENT DE la myocardite</vt:lpstr>
      <vt:lpstr>Diapositive 41</vt:lpstr>
      <vt:lpstr> X- PRONOSTIC</vt:lpstr>
    </vt:vector>
  </TitlesOfParts>
  <Company>TOSHIBA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SYNDROMES PÉRICARDIQUES                                                    Partie 2</dc:title>
  <dc:creator>DADY COOL</dc:creator>
  <cp:lastModifiedBy>DADY COOL</cp:lastModifiedBy>
  <cp:revision>899</cp:revision>
  <dcterms:created xsi:type="dcterms:W3CDTF">2020-04-19T08:05:45Z</dcterms:created>
  <dcterms:modified xsi:type="dcterms:W3CDTF">2026-01-17T21:40:39Z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ies>
</file>