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1"/>
  </p:notesMasterIdLst>
  <p:sldIdLst>
    <p:sldId id="256" r:id="rId2"/>
    <p:sldId id="279" r:id="rId3"/>
    <p:sldId id="280" r:id="rId4"/>
    <p:sldId id="281" r:id="rId5"/>
    <p:sldId id="282" r:id="rId6"/>
    <p:sldId id="283" r:id="rId7"/>
    <p:sldId id="284" r:id="rId8"/>
    <p:sldId id="285" r:id="rId9"/>
    <p:sldId id="286" r:id="rId10"/>
    <p:sldId id="257" r:id="rId11"/>
    <p:sldId id="258" r:id="rId12"/>
    <p:sldId id="259" r:id="rId13"/>
    <p:sldId id="260" r:id="rId14"/>
    <p:sldId id="261" r:id="rId15"/>
    <p:sldId id="262" r:id="rId16"/>
    <p:sldId id="287" r:id="rId17"/>
    <p:sldId id="263" r:id="rId18"/>
    <p:sldId id="288" r:id="rId19"/>
    <p:sldId id="264" r:id="rId20"/>
    <p:sldId id="265" r:id="rId21"/>
    <p:sldId id="266" r:id="rId22"/>
    <p:sldId id="267" r:id="rId23"/>
    <p:sldId id="268" r:id="rId24"/>
    <p:sldId id="269" r:id="rId25"/>
    <p:sldId id="289" r:id="rId26"/>
    <p:sldId id="270" r:id="rId27"/>
    <p:sldId id="271" r:id="rId28"/>
    <p:sldId id="277" r:id="rId29"/>
    <p:sldId id="278" r:id="rId3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97" d="100"/>
          <a:sy n="97" d="100"/>
        </p:scale>
        <p:origin x="552" y="45"/>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DD1AA94-6426-46D5-934F-0D64B9E857C8}" type="datetimeFigureOut">
              <a:rPr lang="fr-FR" smtClean="0"/>
              <a:t>21/10/2025</a:t>
            </a:fld>
            <a:endParaRPr lang="fr-FR"/>
          </a:p>
        </p:txBody>
      </p:sp>
      <p:sp>
        <p:nvSpPr>
          <p:cNvPr id="4" name="Espace réservé de l'image des diapositives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5B30545-DAFD-4D96-A982-6B31D47F79FC}" type="slidenum">
              <a:rPr lang="fr-FR" smtClean="0"/>
              <a:t>‹N°›</a:t>
            </a:fld>
            <a:endParaRPr lang="fr-FR"/>
          </a:p>
        </p:txBody>
      </p:sp>
    </p:spTree>
    <p:extLst>
      <p:ext uri="{BB962C8B-B14F-4D97-AF65-F5344CB8AC3E}">
        <p14:creationId xmlns:p14="http://schemas.microsoft.com/office/powerpoint/2010/main" val="800734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Post SCA </a:t>
            </a:r>
          </a:p>
        </p:txBody>
      </p:sp>
      <p:sp>
        <p:nvSpPr>
          <p:cNvPr id="4" name="Espace réservé du numéro de diapositive 3"/>
          <p:cNvSpPr>
            <a:spLocks noGrp="1"/>
          </p:cNvSpPr>
          <p:nvPr>
            <p:ph type="sldNum" sz="quarter" idx="5"/>
          </p:nvPr>
        </p:nvSpPr>
        <p:spPr/>
        <p:txBody>
          <a:bodyPr/>
          <a:lstStyle/>
          <a:p>
            <a:fld id="{B5B30545-DAFD-4D96-A982-6B31D47F79FC}" type="slidenum">
              <a:rPr lang="fr-FR" smtClean="0"/>
              <a:t>27</a:t>
            </a:fld>
            <a:endParaRPr lang="fr-FR"/>
          </a:p>
        </p:txBody>
      </p:sp>
    </p:spTree>
    <p:extLst>
      <p:ext uri="{BB962C8B-B14F-4D97-AF65-F5344CB8AC3E}">
        <p14:creationId xmlns:p14="http://schemas.microsoft.com/office/powerpoint/2010/main" val="2168212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10/21/2025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DCE6F1"/>
        </a:solidFill>
        <a:effectLst/>
      </p:bgPr>
    </p:bg>
    <p:spTree>
      <p:nvGrpSpPr>
        <p:cNvPr id="1" name=""/>
        <p:cNvGrpSpPr/>
        <p:nvPr/>
      </p:nvGrpSpPr>
      <p:grpSpPr>
        <a:xfrm>
          <a:off x="0" y="0"/>
          <a:ext cx="0" cy="0"/>
          <a:chOff x="0" y="0"/>
          <a:chExt cx="0" cy="0"/>
        </a:xfrm>
      </p:grpSpPr>
      <p:sp>
        <p:nvSpPr>
          <p:cNvPr id="2" name="Oval 1"/>
          <p:cNvSpPr/>
          <p:nvPr/>
        </p:nvSpPr>
        <p:spPr>
          <a:xfrm>
            <a:off x="7772400" y="182880"/>
            <a:ext cx="914400" cy="914400"/>
          </a:xfrm>
          <a:prstGeom prst="ellipse">
            <a:avLst/>
          </a:prstGeom>
          <a:solidFill>
            <a:srgbClr val="CC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457200"/>
            <a:ext cx="8229600" cy="914400"/>
          </a:xfrm>
          <a:prstGeom prst="rect">
            <a:avLst/>
          </a:prstGeom>
          <a:noFill/>
        </p:spPr>
        <p:txBody>
          <a:bodyPr wrap="square">
            <a:spAutoFit/>
          </a:bodyPr>
          <a:lstStyle/>
          <a:p>
            <a:pPr algn="l">
              <a:defRPr sz="3600" b="1">
                <a:solidFill>
                  <a:srgbClr val="003366"/>
                </a:solidFill>
              </a:defRPr>
            </a:pPr>
            <a:r>
              <a:t>TD – Thérapeutiques Cardiovasculaires</a:t>
            </a:r>
          </a:p>
        </p:txBody>
      </p:sp>
      <p:sp>
        <p:nvSpPr>
          <p:cNvPr id="4" name="TextBox 3"/>
          <p:cNvSpPr txBox="1"/>
          <p:nvPr/>
        </p:nvSpPr>
        <p:spPr>
          <a:xfrm>
            <a:off x="457200" y="1645920"/>
            <a:ext cx="8229600" cy="5029200"/>
          </a:xfrm>
          <a:prstGeom prst="rect">
            <a:avLst/>
          </a:prstGeom>
          <a:noFill/>
        </p:spPr>
        <p:txBody>
          <a:bodyPr wrap="square">
            <a:spAutoFit/>
          </a:bodyPr>
          <a:lstStyle/>
          <a:p>
            <a:pPr algn="l">
              <a:defRPr sz="2000">
                <a:solidFill>
                  <a:srgbClr val="000000"/>
                </a:solidFill>
              </a:defRPr>
            </a:pPr>
            <a:r>
              <a:t>Présenté par Dr Djalil Boulacheb</a:t>
            </a:r>
          </a:p>
        </p:txBody>
      </p:sp>
      <p:sp>
        <p:nvSpPr>
          <p:cNvPr id="5" name="TextBox 4"/>
          <p:cNvSpPr txBox="1"/>
          <p:nvPr/>
        </p:nvSpPr>
        <p:spPr>
          <a:xfrm>
            <a:off x="457200" y="6400800"/>
            <a:ext cx="8229600" cy="274320"/>
          </a:xfrm>
          <a:prstGeom prst="rect">
            <a:avLst/>
          </a:prstGeom>
          <a:noFill/>
        </p:spPr>
        <p:txBody>
          <a:bodyPr wrap="none">
            <a:spAutoFit/>
          </a:bodyPr>
          <a:lstStyle/>
          <a:p>
            <a:pPr algn="ctr">
              <a:defRPr sz="1200">
                <a:solidFill>
                  <a:srgbClr val="003366"/>
                </a:solidFill>
              </a:defRPr>
            </a:pPr>
            <a:r>
              <a:t>Service de Cardiologie – CHU Constantine</a:t>
            </a:r>
          </a:p>
        </p:txBody>
      </p:sp>
      <p:sp>
        <p:nvSpPr>
          <p:cNvPr id="6" name="Rectangle 5"/>
          <p:cNvSpPr/>
          <p:nvPr/>
        </p:nvSpPr>
        <p:spPr>
          <a:xfrm>
            <a:off x="457200" y="6675120"/>
            <a:ext cx="357808" cy="9144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DCE6F1"/>
        </a:solidFill>
        <a:effectLst/>
      </p:bgPr>
    </p:bg>
    <p:spTree>
      <p:nvGrpSpPr>
        <p:cNvPr id="1" name="">
          <a:extLst>
            <a:ext uri="{FF2B5EF4-FFF2-40B4-BE49-F238E27FC236}">
              <a16:creationId xmlns:a16="http://schemas.microsoft.com/office/drawing/2014/main" id="{2B94172A-35D5-C230-B644-1A14C1F9A400}"/>
            </a:ext>
          </a:extLst>
        </p:cNvPr>
        <p:cNvGrpSpPr/>
        <p:nvPr/>
      </p:nvGrpSpPr>
      <p:grpSpPr>
        <a:xfrm>
          <a:off x="0" y="0"/>
          <a:ext cx="0" cy="0"/>
          <a:chOff x="0" y="0"/>
          <a:chExt cx="0" cy="0"/>
        </a:xfrm>
      </p:grpSpPr>
      <p:sp>
        <p:nvSpPr>
          <p:cNvPr id="2" name="Oval 1">
            <a:extLst>
              <a:ext uri="{FF2B5EF4-FFF2-40B4-BE49-F238E27FC236}">
                <a16:creationId xmlns:a16="http://schemas.microsoft.com/office/drawing/2014/main" id="{9BAA07C6-886B-3383-03E7-61C18415A36E}"/>
              </a:ext>
            </a:extLst>
          </p:cNvPr>
          <p:cNvSpPr/>
          <p:nvPr/>
        </p:nvSpPr>
        <p:spPr>
          <a:xfrm>
            <a:off x="7772400" y="182880"/>
            <a:ext cx="914400" cy="914400"/>
          </a:xfrm>
          <a:prstGeom prst="ellipse">
            <a:avLst/>
          </a:prstGeom>
          <a:solidFill>
            <a:srgbClr val="CC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0EDBAC41-9DA7-CCCF-D925-C5A9B96E4A61}"/>
              </a:ext>
            </a:extLst>
          </p:cNvPr>
          <p:cNvSpPr txBox="1"/>
          <p:nvPr/>
        </p:nvSpPr>
        <p:spPr>
          <a:xfrm>
            <a:off x="457200" y="457200"/>
            <a:ext cx="8229600" cy="914400"/>
          </a:xfrm>
          <a:prstGeom prst="rect">
            <a:avLst/>
          </a:prstGeom>
          <a:noFill/>
        </p:spPr>
        <p:txBody>
          <a:bodyPr wrap="square">
            <a:spAutoFit/>
          </a:bodyPr>
          <a:lstStyle/>
          <a:p>
            <a:pPr algn="l">
              <a:defRPr sz="3600" b="1">
                <a:solidFill>
                  <a:srgbClr val="003366"/>
                </a:solidFill>
              </a:defRPr>
            </a:pPr>
            <a:r>
              <a:t>TD – Thérapeutiques Cardiovasculaires</a:t>
            </a:r>
          </a:p>
        </p:txBody>
      </p:sp>
      <p:sp>
        <p:nvSpPr>
          <p:cNvPr id="4" name="TextBox 3">
            <a:extLst>
              <a:ext uri="{FF2B5EF4-FFF2-40B4-BE49-F238E27FC236}">
                <a16:creationId xmlns:a16="http://schemas.microsoft.com/office/drawing/2014/main" id="{CBBAB3FE-69AA-0AE9-55FC-818BED0514D3}"/>
              </a:ext>
            </a:extLst>
          </p:cNvPr>
          <p:cNvSpPr txBox="1"/>
          <p:nvPr/>
        </p:nvSpPr>
        <p:spPr>
          <a:xfrm>
            <a:off x="457200" y="1645920"/>
            <a:ext cx="8229600" cy="2062103"/>
          </a:xfrm>
          <a:prstGeom prst="rect">
            <a:avLst/>
          </a:prstGeom>
          <a:noFill/>
        </p:spPr>
        <p:txBody>
          <a:bodyPr wrap="square">
            <a:spAutoFit/>
          </a:bodyPr>
          <a:lstStyle/>
          <a:p>
            <a:r>
              <a:rPr lang="fr-FR" sz="2000" kern="0">
                <a:solidFill>
                  <a:srgbClr val="374151"/>
                </a:solidFill>
                <a:latin typeface="Arial" panose="020B0604020202020204" pitchFamily="34" charset="0"/>
                <a:ea typeface="Times New Roman" panose="02020603050405020304" pitchFamily="18" charset="0"/>
                <a:cs typeface="Arial" panose="020B0604020202020204" pitchFamily="34" charset="0"/>
              </a:rPr>
              <a:t>U</a:t>
            </a:r>
            <a:r>
              <a:rPr lang="fr-DZ" sz="2000" kern="0">
                <a:solidFill>
                  <a:srgbClr val="374151"/>
                </a:solidFill>
                <a:latin typeface="Arial" panose="020B0604020202020204" pitchFamily="34" charset="0"/>
                <a:ea typeface="Times New Roman" panose="02020603050405020304" pitchFamily="18" charset="0"/>
                <a:cs typeface="Arial" panose="020B0604020202020204" pitchFamily="34" charset="0"/>
              </a:rPr>
              <a:t>n document qui résume les principaux éléments du plan de traitement du patient.</a:t>
            </a:r>
          </a:p>
          <a:p>
            <a:r>
              <a:rPr lang="fr-DZ" sz="2000" kern="0">
                <a:solidFill>
                  <a:srgbClr val="374151"/>
                </a:solidFill>
                <a:latin typeface="Arial" panose="020B0604020202020204" pitchFamily="34" charset="0"/>
                <a:ea typeface="Times New Roman" panose="02020603050405020304" pitchFamily="18" charset="0"/>
                <a:cs typeface="Arial" panose="020B0604020202020204" pitchFamily="34" charset="0"/>
              </a:rPr>
              <a:t>Utilisée par l'équipe soignante pour s'assurer que tous les professionnels de la santé ont accès aux informations importantes pour la prise en charge du patient</a:t>
            </a:r>
            <a:r>
              <a:rPr lang="fr-DZ" sz="1600">
                <a:latin typeface="Arial" panose="020B0604020202020204" pitchFamily="34" charset="0"/>
                <a:cs typeface="Arial" panose="020B0604020202020204" pitchFamily="34" charset="0"/>
              </a:rPr>
              <a:t> </a:t>
            </a:r>
            <a:r>
              <a:rPr lang="fr-DZ" sz="2000" kern="0">
                <a:solidFill>
                  <a:srgbClr val="374151"/>
                </a:solidFill>
                <a:latin typeface="Arial" panose="020B0604020202020204" pitchFamily="34" charset="0"/>
                <a:ea typeface="Times New Roman" panose="02020603050405020304" pitchFamily="18" charset="0"/>
                <a:cs typeface="Arial" panose="020B0604020202020204" pitchFamily="34" charset="0"/>
              </a:rPr>
              <a:t>.</a:t>
            </a:r>
          </a:p>
          <a:p>
            <a:endParaRPr lang="fr-DZ" sz="1400" kern="0">
              <a:solidFill>
                <a:srgbClr val="374151"/>
              </a:solidFill>
              <a:latin typeface="Segoe UI" panose="020B0502040204020203" pitchFamily="34" charset="0"/>
              <a:ea typeface="Times New Roman" panose="02020603050405020304" pitchFamily="18" charset="0"/>
            </a:endParaRPr>
          </a:p>
          <a:p>
            <a:endParaRPr lang="fr-DZ" sz="1400" kern="0" dirty="0">
              <a:solidFill>
                <a:srgbClr val="374151"/>
              </a:solidFill>
              <a:latin typeface="Segoe UI" panose="020B0502040204020203" pitchFamily="34" charset="0"/>
              <a:ea typeface="Times New Roman" panose="02020603050405020304" pitchFamily="18" charset="0"/>
            </a:endParaRPr>
          </a:p>
        </p:txBody>
      </p:sp>
      <p:sp>
        <p:nvSpPr>
          <p:cNvPr id="5" name="TextBox 4">
            <a:extLst>
              <a:ext uri="{FF2B5EF4-FFF2-40B4-BE49-F238E27FC236}">
                <a16:creationId xmlns:a16="http://schemas.microsoft.com/office/drawing/2014/main" id="{1276D6FE-A12C-314E-45DF-439F82492BBC}"/>
              </a:ext>
            </a:extLst>
          </p:cNvPr>
          <p:cNvSpPr txBox="1"/>
          <p:nvPr/>
        </p:nvSpPr>
        <p:spPr>
          <a:xfrm>
            <a:off x="457200" y="6400800"/>
            <a:ext cx="8229600" cy="274320"/>
          </a:xfrm>
          <a:prstGeom prst="rect">
            <a:avLst/>
          </a:prstGeom>
          <a:noFill/>
        </p:spPr>
        <p:txBody>
          <a:bodyPr wrap="none">
            <a:spAutoFit/>
          </a:bodyPr>
          <a:lstStyle/>
          <a:p>
            <a:pPr algn="ctr">
              <a:defRPr sz="1200">
                <a:solidFill>
                  <a:srgbClr val="003366"/>
                </a:solidFill>
              </a:defRPr>
            </a:pPr>
            <a:r>
              <a:t>Service de Cardiologie – CHU Constantine</a:t>
            </a:r>
          </a:p>
        </p:txBody>
      </p:sp>
      <p:sp>
        <p:nvSpPr>
          <p:cNvPr id="6" name="Rectangle 5">
            <a:extLst>
              <a:ext uri="{FF2B5EF4-FFF2-40B4-BE49-F238E27FC236}">
                <a16:creationId xmlns:a16="http://schemas.microsoft.com/office/drawing/2014/main" id="{CFA7D41B-5029-C5A3-1CEC-9E900A001AB7}"/>
              </a:ext>
            </a:extLst>
          </p:cNvPr>
          <p:cNvSpPr/>
          <p:nvPr/>
        </p:nvSpPr>
        <p:spPr>
          <a:xfrm>
            <a:off x="457200" y="6675120"/>
            <a:ext cx="357808" cy="9144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3190696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DCE6F1"/>
        </a:solidFill>
        <a:effectLst/>
      </p:bgPr>
    </p:bg>
    <p:spTree>
      <p:nvGrpSpPr>
        <p:cNvPr id="1" name="">
          <a:extLst>
            <a:ext uri="{FF2B5EF4-FFF2-40B4-BE49-F238E27FC236}">
              <a16:creationId xmlns:a16="http://schemas.microsoft.com/office/drawing/2014/main" id="{C8996A91-F6DE-3248-05EF-B671580FFA8E}"/>
            </a:ext>
          </a:extLst>
        </p:cNvPr>
        <p:cNvGrpSpPr/>
        <p:nvPr/>
      </p:nvGrpSpPr>
      <p:grpSpPr>
        <a:xfrm>
          <a:off x="0" y="0"/>
          <a:ext cx="0" cy="0"/>
          <a:chOff x="0" y="0"/>
          <a:chExt cx="0" cy="0"/>
        </a:xfrm>
      </p:grpSpPr>
      <p:sp>
        <p:nvSpPr>
          <p:cNvPr id="2" name="Oval 1">
            <a:extLst>
              <a:ext uri="{FF2B5EF4-FFF2-40B4-BE49-F238E27FC236}">
                <a16:creationId xmlns:a16="http://schemas.microsoft.com/office/drawing/2014/main" id="{64EC98CF-9446-3E93-7769-33FE775FFA96}"/>
              </a:ext>
            </a:extLst>
          </p:cNvPr>
          <p:cNvSpPr/>
          <p:nvPr/>
        </p:nvSpPr>
        <p:spPr>
          <a:xfrm>
            <a:off x="7772400" y="182880"/>
            <a:ext cx="914400" cy="914400"/>
          </a:xfrm>
          <a:prstGeom prst="ellipse">
            <a:avLst/>
          </a:prstGeom>
          <a:solidFill>
            <a:srgbClr val="CC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0A7E5E89-B208-BCFD-E7F3-1C2F10BFE00A}"/>
              </a:ext>
            </a:extLst>
          </p:cNvPr>
          <p:cNvSpPr txBox="1"/>
          <p:nvPr/>
        </p:nvSpPr>
        <p:spPr>
          <a:xfrm>
            <a:off x="457200" y="457200"/>
            <a:ext cx="8229600" cy="914400"/>
          </a:xfrm>
          <a:prstGeom prst="rect">
            <a:avLst/>
          </a:prstGeom>
          <a:noFill/>
        </p:spPr>
        <p:txBody>
          <a:bodyPr wrap="square">
            <a:spAutoFit/>
          </a:bodyPr>
          <a:lstStyle/>
          <a:p>
            <a:pPr algn="l">
              <a:defRPr sz="3600" b="1">
                <a:solidFill>
                  <a:srgbClr val="003366"/>
                </a:solidFill>
              </a:defRPr>
            </a:pPr>
            <a:r>
              <a:t>TD – Thérapeutiques Cardiovasculaires</a:t>
            </a:r>
          </a:p>
        </p:txBody>
      </p:sp>
      <p:sp>
        <p:nvSpPr>
          <p:cNvPr id="5" name="TextBox 4">
            <a:extLst>
              <a:ext uri="{FF2B5EF4-FFF2-40B4-BE49-F238E27FC236}">
                <a16:creationId xmlns:a16="http://schemas.microsoft.com/office/drawing/2014/main" id="{737C36F7-0952-9689-261B-B2D2DC154DF6}"/>
              </a:ext>
            </a:extLst>
          </p:cNvPr>
          <p:cNvSpPr txBox="1"/>
          <p:nvPr/>
        </p:nvSpPr>
        <p:spPr>
          <a:xfrm>
            <a:off x="457200" y="6400800"/>
            <a:ext cx="8229600" cy="274320"/>
          </a:xfrm>
          <a:prstGeom prst="rect">
            <a:avLst/>
          </a:prstGeom>
          <a:noFill/>
        </p:spPr>
        <p:txBody>
          <a:bodyPr wrap="none">
            <a:spAutoFit/>
          </a:bodyPr>
          <a:lstStyle/>
          <a:p>
            <a:pPr algn="ctr">
              <a:defRPr sz="1200">
                <a:solidFill>
                  <a:srgbClr val="003366"/>
                </a:solidFill>
              </a:defRPr>
            </a:pPr>
            <a:r>
              <a:t>Service de Cardiologie – CHU Constantine</a:t>
            </a:r>
          </a:p>
        </p:txBody>
      </p:sp>
      <p:sp>
        <p:nvSpPr>
          <p:cNvPr id="6" name="Rectangle 5">
            <a:extLst>
              <a:ext uri="{FF2B5EF4-FFF2-40B4-BE49-F238E27FC236}">
                <a16:creationId xmlns:a16="http://schemas.microsoft.com/office/drawing/2014/main" id="{D23BAFEC-CB12-FC10-A537-8A6EE76AC3EB}"/>
              </a:ext>
            </a:extLst>
          </p:cNvPr>
          <p:cNvSpPr/>
          <p:nvPr/>
        </p:nvSpPr>
        <p:spPr>
          <a:xfrm>
            <a:off x="457200" y="6675120"/>
            <a:ext cx="357808" cy="9144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Espace réservé du contenu 2">
            <a:extLst>
              <a:ext uri="{FF2B5EF4-FFF2-40B4-BE49-F238E27FC236}">
                <a16:creationId xmlns:a16="http://schemas.microsoft.com/office/drawing/2014/main" id="{FE44A588-63BE-F60E-C3E5-3E1CA7747694}"/>
              </a:ext>
            </a:extLst>
          </p:cNvPr>
          <p:cNvSpPr txBox="1">
            <a:spLocks/>
          </p:cNvSpPr>
          <p:nvPr/>
        </p:nvSpPr>
        <p:spPr>
          <a:xfrm>
            <a:off x="1152753" y="2717659"/>
            <a:ext cx="6150926" cy="2760228"/>
          </a:xfrm>
          <a:prstGeom prst="rect">
            <a:avLst/>
          </a:prstGeom>
        </p:spPr>
        <p:txBody>
          <a:bodyPr>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nSpc>
                <a:spcPct val="90000"/>
              </a:lnSpc>
            </a:pPr>
            <a:r>
              <a:rPr lang="fr-DZ" sz="2000" b="1" kern="0">
                <a:latin typeface="Segoe UI" panose="020B0502040204020203" pitchFamily="34" charset="0"/>
                <a:ea typeface="Times New Roman" panose="02020603050405020304" pitchFamily="18" charset="0"/>
              </a:rPr>
              <a:t>Informations du Patient </a:t>
            </a:r>
          </a:p>
          <a:p>
            <a:pPr>
              <a:lnSpc>
                <a:spcPct val="90000"/>
              </a:lnSpc>
            </a:pPr>
            <a:r>
              <a:rPr lang="fr-DZ" sz="2000" b="1" kern="0">
                <a:solidFill>
                  <a:srgbClr val="C00000"/>
                </a:solidFill>
                <a:latin typeface="Segoe UI" panose="020B0502040204020203" pitchFamily="34" charset="0"/>
                <a:ea typeface="Times New Roman" panose="02020603050405020304" pitchFamily="18" charset="0"/>
                <a:cs typeface="Arial" panose="020B0604020202020204" pitchFamily="34" charset="0"/>
              </a:rPr>
              <a:t>Diagnostic Principal </a:t>
            </a:r>
          </a:p>
          <a:p>
            <a:pPr>
              <a:lnSpc>
                <a:spcPct val="90000"/>
              </a:lnSpc>
            </a:pPr>
            <a:r>
              <a:rPr lang="fr-DZ" sz="2000" b="1" kern="0">
                <a:latin typeface="Segoe UI" panose="020B0502040204020203" pitchFamily="34" charset="0"/>
                <a:ea typeface="Times New Roman" panose="02020603050405020304" pitchFamily="18" charset="0"/>
              </a:rPr>
              <a:t>Antécédents Médicaux </a:t>
            </a:r>
          </a:p>
          <a:p>
            <a:pPr>
              <a:lnSpc>
                <a:spcPct val="90000"/>
              </a:lnSpc>
            </a:pPr>
            <a:r>
              <a:rPr lang="fr-DZ" sz="2000" b="1" kern="0">
                <a:latin typeface="Segoe UI" panose="020B0502040204020203" pitchFamily="34" charset="0"/>
                <a:ea typeface="Times New Roman" panose="02020603050405020304" pitchFamily="18" charset="0"/>
              </a:rPr>
              <a:t>Médecin Référent </a:t>
            </a:r>
          </a:p>
          <a:p>
            <a:pPr>
              <a:lnSpc>
                <a:spcPct val="90000"/>
              </a:lnSpc>
            </a:pPr>
            <a:r>
              <a:rPr lang="fr-DZ" sz="2000" b="1" kern="0">
                <a:solidFill>
                  <a:srgbClr val="C00000"/>
                </a:solidFill>
                <a:latin typeface="Segoe UI" panose="020B0502040204020203" pitchFamily="34" charset="0"/>
                <a:ea typeface="Times New Roman" panose="02020603050405020304" pitchFamily="18" charset="0"/>
                <a:cs typeface="Arial" panose="020B0604020202020204" pitchFamily="34" charset="0"/>
              </a:rPr>
              <a:t>Plan de Traitement </a:t>
            </a:r>
          </a:p>
          <a:p>
            <a:pPr>
              <a:lnSpc>
                <a:spcPct val="90000"/>
              </a:lnSpc>
            </a:pPr>
            <a:r>
              <a:rPr lang="fr-DZ" sz="2000" b="1" kern="0">
                <a:latin typeface="Segoe UI" panose="020B0502040204020203" pitchFamily="34" charset="0"/>
                <a:ea typeface="Times New Roman" panose="02020603050405020304" pitchFamily="18" charset="0"/>
              </a:rPr>
              <a:t>Instructions pour l'Équipe Soignante </a:t>
            </a:r>
            <a:endParaRPr lang="fr-DZ" sz="2000" b="1" kern="0">
              <a:latin typeface="Segoe UI" panose="020B0502040204020203" pitchFamily="34" charset="0"/>
              <a:ea typeface="Times New Roman" panose="02020603050405020304" pitchFamily="18" charset="0"/>
              <a:cs typeface="Arial" panose="020B0604020202020204" pitchFamily="34" charset="0"/>
            </a:endParaRPr>
          </a:p>
          <a:p>
            <a:pPr>
              <a:lnSpc>
                <a:spcPct val="90000"/>
              </a:lnSpc>
            </a:pPr>
            <a:endParaRPr lang="fr-DZ" sz="2000" kern="100">
              <a:latin typeface="Calibri" panose="020F0502020204030204" pitchFamily="34" charset="0"/>
              <a:ea typeface="Calibri" panose="020F0502020204030204" pitchFamily="34" charset="0"/>
              <a:cs typeface="Arial" panose="020B0604020202020204" pitchFamily="34" charset="0"/>
            </a:endParaRPr>
          </a:p>
          <a:p>
            <a:pPr>
              <a:lnSpc>
                <a:spcPct val="90000"/>
              </a:lnSpc>
            </a:pPr>
            <a:endParaRPr lang="fr-DZ" sz="2000" kern="100">
              <a:latin typeface="Calibri" panose="020F0502020204030204" pitchFamily="34" charset="0"/>
              <a:ea typeface="Calibri" panose="020F0502020204030204" pitchFamily="34" charset="0"/>
              <a:cs typeface="Arial" panose="020B0604020202020204" pitchFamily="34" charset="0"/>
            </a:endParaRPr>
          </a:p>
          <a:p>
            <a:pPr>
              <a:lnSpc>
                <a:spcPct val="90000"/>
              </a:lnSpc>
            </a:pPr>
            <a:endParaRPr lang="fr-DZ" sz="2000" kern="100">
              <a:latin typeface="Calibri" panose="020F0502020204030204" pitchFamily="34" charset="0"/>
              <a:ea typeface="Calibri" panose="020F0502020204030204" pitchFamily="34" charset="0"/>
              <a:cs typeface="Arial" panose="020B0604020202020204" pitchFamily="34" charset="0"/>
            </a:endParaRPr>
          </a:p>
          <a:p>
            <a:pPr>
              <a:lnSpc>
                <a:spcPct val="90000"/>
              </a:lnSpc>
            </a:pPr>
            <a:endParaRPr lang="fr-DZ" sz="2000" kern="100">
              <a:latin typeface="Calibri" panose="020F0502020204030204" pitchFamily="34" charset="0"/>
              <a:ea typeface="Calibri" panose="020F0502020204030204" pitchFamily="34" charset="0"/>
              <a:cs typeface="Arial" panose="020B0604020202020204" pitchFamily="34" charset="0"/>
            </a:endParaRPr>
          </a:p>
          <a:p>
            <a:pPr>
              <a:lnSpc>
                <a:spcPct val="90000"/>
              </a:lnSpc>
            </a:pPr>
            <a:endParaRPr lang="fr-DZ" sz="2000" dirty="0"/>
          </a:p>
        </p:txBody>
      </p:sp>
      <p:sp>
        <p:nvSpPr>
          <p:cNvPr id="8" name="Titre 1">
            <a:extLst>
              <a:ext uri="{FF2B5EF4-FFF2-40B4-BE49-F238E27FC236}">
                <a16:creationId xmlns:a16="http://schemas.microsoft.com/office/drawing/2014/main" id="{DEAE3A16-F0E5-15EF-ED67-C064FF61A839}"/>
              </a:ext>
            </a:extLst>
          </p:cNvPr>
          <p:cNvSpPr txBox="1">
            <a:spLocks/>
          </p:cNvSpPr>
          <p:nvPr/>
        </p:nvSpPr>
        <p:spPr>
          <a:xfrm>
            <a:off x="744794" y="1058465"/>
            <a:ext cx="6008914" cy="1683487"/>
          </a:xfrm>
          <a:prstGeom prst="rect">
            <a:avLst/>
          </a:prstGeom>
        </p:spPr>
        <p:txBody>
          <a:bodyP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fr-DZ" sz="3700" b="1" dirty="0">
                <a:latin typeface="Baskerville SemiBold" panose="02020502070401020303" pitchFamily="18" charset="0"/>
                <a:ea typeface="Baskerville SemiBold" panose="02020502070401020303" pitchFamily="18" charset="0"/>
              </a:rPr>
              <a:t>structure générale de la fiche therapeutique </a:t>
            </a:r>
          </a:p>
        </p:txBody>
      </p:sp>
    </p:spTree>
    <p:extLst>
      <p:ext uri="{BB962C8B-B14F-4D97-AF65-F5344CB8AC3E}">
        <p14:creationId xmlns:p14="http://schemas.microsoft.com/office/powerpoint/2010/main" val="6431967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DCE6F1"/>
        </a:solidFill>
        <a:effectLst/>
      </p:bgPr>
    </p:bg>
    <p:spTree>
      <p:nvGrpSpPr>
        <p:cNvPr id="1" name="">
          <a:extLst>
            <a:ext uri="{FF2B5EF4-FFF2-40B4-BE49-F238E27FC236}">
              <a16:creationId xmlns:a16="http://schemas.microsoft.com/office/drawing/2014/main" id="{A5A0A593-CF38-8196-6D66-8CEBAF968461}"/>
            </a:ext>
          </a:extLst>
        </p:cNvPr>
        <p:cNvGrpSpPr/>
        <p:nvPr/>
      </p:nvGrpSpPr>
      <p:grpSpPr>
        <a:xfrm>
          <a:off x="0" y="0"/>
          <a:ext cx="0" cy="0"/>
          <a:chOff x="0" y="0"/>
          <a:chExt cx="0" cy="0"/>
        </a:xfrm>
      </p:grpSpPr>
      <p:sp>
        <p:nvSpPr>
          <p:cNvPr id="2" name="Oval 1">
            <a:extLst>
              <a:ext uri="{FF2B5EF4-FFF2-40B4-BE49-F238E27FC236}">
                <a16:creationId xmlns:a16="http://schemas.microsoft.com/office/drawing/2014/main" id="{C6818715-5913-5611-1845-BC49242A7EB5}"/>
              </a:ext>
            </a:extLst>
          </p:cNvPr>
          <p:cNvSpPr/>
          <p:nvPr/>
        </p:nvSpPr>
        <p:spPr>
          <a:xfrm>
            <a:off x="7772400" y="182880"/>
            <a:ext cx="914400" cy="914400"/>
          </a:xfrm>
          <a:prstGeom prst="ellipse">
            <a:avLst/>
          </a:prstGeom>
          <a:solidFill>
            <a:srgbClr val="CC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25FF442C-6C60-390C-A825-B01AA0BE86CF}"/>
              </a:ext>
            </a:extLst>
          </p:cNvPr>
          <p:cNvSpPr txBox="1"/>
          <p:nvPr/>
        </p:nvSpPr>
        <p:spPr>
          <a:xfrm>
            <a:off x="457200" y="457200"/>
            <a:ext cx="8229600" cy="914400"/>
          </a:xfrm>
          <a:prstGeom prst="rect">
            <a:avLst/>
          </a:prstGeom>
          <a:noFill/>
        </p:spPr>
        <p:txBody>
          <a:bodyPr wrap="square">
            <a:spAutoFit/>
          </a:bodyPr>
          <a:lstStyle/>
          <a:p>
            <a:pPr algn="l">
              <a:defRPr sz="3600" b="1">
                <a:solidFill>
                  <a:srgbClr val="003366"/>
                </a:solidFill>
              </a:defRPr>
            </a:pPr>
            <a:r>
              <a:t>TD – Thérapeutiques Cardiovasculaires</a:t>
            </a:r>
          </a:p>
        </p:txBody>
      </p:sp>
      <p:sp>
        <p:nvSpPr>
          <p:cNvPr id="5" name="TextBox 4">
            <a:extLst>
              <a:ext uri="{FF2B5EF4-FFF2-40B4-BE49-F238E27FC236}">
                <a16:creationId xmlns:a16="http://schemas.microsoft.com/office/drawing/2014/main" id="{637B6DAD-7892-1709-7FAB-B05217A09C82}"/>
              </a:ext>
            </a:extLst>
          </p:cNvPr>
          <p:cNvSpPr txBox="1"/>
          <p:nvPr/>
        </p:nvSpPr>
        <p:spPr>
          <a:xfrm>
            <a:off x="457200" y="6400800"/>
            <a:ext cx="8229600" cy="274320"/>
          </a:xfrm>
          <a:prstGeom prst="rect">
            <a:avLst/>
          </a:prstGeom>
          <a:noFill/>
        </p:spPr>
        <p:txBody>
          <a:bodyPr wrap="none">
            <a:spAutoFit/>
          </a:bodyPr>
          <a:lstStyle/>
          <a:p>
            <a:pPr algn="ctr">
              <a:defRPr sz="1200">
                <a:solidFill>
                  <a:srgbClr val="003366"/>
                </a:solidFill>
              </a:defRPr>
            </a:pPr>
            <a:r>
              <a:t>Service de Cardiologie – CHU Constantine</a:t>
            </a:r>
          </a:p>
        </p:txBody>
      </p:sp>
      <p:sp>
        <p:nvSpPr>
          <p:cNvPr id="6" name="Rectangle 5">
            <a:extLst>
              <a:ext uri="{FF2B5EF4-FFF2-40B4-BE49-F238E27FC236}">
                <a16:creationId xmlns:a16="http://schemas.microsoft.com/office/drawing/2014/main" id="{6409994D-7422-3604-6E68-8292C656C33E}"/>
              </a:ext>
            </a:extLst>
          </p:cNvPr>
          <p:cNvSpPr/>
          <p:nvPr/>
        </p:nvSpPr>
        <p:spPr>
          <a:xfrm>
            <a:off x="457200" y="6675120"/>
            <a:ext cx="357808" cy="9144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itre 1">
            <a:extLst>
              <a:ext uri="{FF2B5EF4-FFF2-40B4-BE49-F238E27FC236}">
                <a16:creationId xmlns:a16="http://schemas.microsoft.com/office/drawing/2014/main" id="{AD3FAEBB-1109-53DA-7408-71BD98D2C06D}"/>
              </a:ext>
            </a:extLst>
          </p:cNvPr>
          <p:cNvSpPr txBox="1">
            <a:spLocks/>
          </p:cNvSpPr>
          <p:nvPr/>
        </p:nvSpPr>
        <p:spPr>
          <a:xfrm>
            <a:off x="924560" y="1270001"/>
            <a:ext cx="7614920" cy="1382156"/>
          </a:xfrm>
          <a:prstGeom prst="rect">
            <a:avLst/>
          </a:prstGeom>
        </p:spPr>
        <p:txBody>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fr-FR" sz="3700" b="1" dirty="0">
                <a:latin typeface="Baskerville SemiBold" panose="02020502070401020303" pitchFamily="18" charset="0"/>
                <a:ea typeface="Baskerville SemiBold" panose="02020502070401020303" pitchFamily="18" charset="0"/>
              </a:rPr>
              <a:t>I</a:t>
            </a:r>
            <a:r>
              <a:rPr lang="fr-DZ" sz="3700" b="1" dirty="0">
                <a:latin typeface="Baskerville SemiBold" panose="02020502070401020303" pitchFamily="18" charset="0"/>
                <a:ea typeface="Baskerville SemiBold" panose="02020502070401020303" pitchFamily="18" charset="0"/>
              </a:rPr>
              <a:t>nformation du patient </a:t>
            </a:r>
          </a:p>
        </p:txBody>
      </p:sp>
      <p:sp>
        <p:nvSpPr>
          <p:cNvPr id="8" name="Espace réservé du contenu 2">
            <a:extLst>
              <a:ext uri="{FF2B5EF4-FFF2-40B4-BE49-F238E27FC236}">
                <a16:creationId xmlns:a16="http://schemas.microsoft.com/office/drawing/2014/main" id="{CED2F8AE-9CBD-92CD-1504-5D2A2AEADEE7}"/>
              </a:ext>
            </a:extLst>
          </p:cNvPr>
          <p:cNvSpPr txBox="1">
            <a:spLocks/>
          </p:cNvSpPr>
          <p:nvPr/>
        </p:nvSpPr>
        <p:spPr>
          <a:xfrm>
            <a:off x="1143000" y="2009554"/>
            <a:ext cx="7350760" cy="4024424"/>
          </a:xfrm>
          <a:prstGeom prst="rect">
            <a:avLst/>
          </a:prstGeom>
        </p:spPr>
        <p:txBody>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buSzPts val="1000"/>
              <a:buFont typeface="Symbol" pitchFamily="2" charset="2"/>
              <a:buChar char=""/>
              <a:tabLst>
                <a:tab pos="457200" algn="l"/>
              </a:tabLst>
            </a:pPr>
            <a:r>
              <a:rPr lang="fr-DZ" sz="1800" b="1" kern="0">
                <a:solidFill>
                  <a:srgbClr val="374151"/>
                </a:solidFill>
                <a:latin typeface="Segoe UI" panose="020B0502040204020203" pitchFamily="34" charset="0"/>
                <a:ea typeface="Times New Roman" panose="02020603050405020304" pitchFamily="18" charset="0"/>
                <a:cs typeface="Arial" panose="020B0604020202020204" pitchFamily="34" charset="0"/>
              </a:rPr>
              <a:t>Nom : </a:t>
            </a:r>
            <a:r>
              <a:rPr lang="fr-DZ" sz="1800" kern="0">
                <a:solidFill>
                  <a:srgbClr val="374151"/>
                </a:solidFill>
                <a:latin typeface="Segoe UI" panose="020B0502040204020203" pitchFamily="34" charset="0"/>
                <a:ea typeface="Times New Roman" panose="02020603050405020304" pitchFamily="18" charset="0"/>
                <a:cs typeface="Arial" panose="020B0604020202020204" pitchFamily="34" charset="0"/>
              </a:rPr>
              <a:t>Nom du patient</a:t>
            </a:r>
            <a:endParaRPr lang="fr-DZ" sz="1800" kern="100">
              <a:solidFill>
                <a:srgbClr val="374151"/>
              </a:solidFill>
              <a:latin typeface="Calibri" panose="020F0502020204030204" pitchFamily="34" charset="0"/>
              <a:ea typeface="Calibri" panose="020F0502020204030204" pitchFamily="34" charset="0"/>
              <a:cs typeface="Arial" panose="020B0604020202020204" pitchFamily="34" charset="0"/>
            </a:endParaRPr>
          </a:p>
          <a:p>
            <a:pPr>
              <a:buSzPts val="1000"/>
              <a:buFont typeface="Symbol" pitchFamily="2" charset="2"/>
              <a:buChar char=""/>
              <a:tabLst>
                <a:tab pos="457200" algn="l"/>
              </a:tabLst>
            </a:pPr>
            <a:r>
              <a:rPr lang="fr-DZ" sz="1800" b="1" kern="0">
                <a:solidFill>
                  <a:srgbClr val="374151"/>
                </a:solidFill>
                <a:latin typeface="Segoe UI" panose="020B0502040204020203" pitchFamily="34" charset="0"/>
                <a:ea typeface="Times New Roman" panose="02020603050405020304" pitchFamily="18" charset="0"/>
                <a:cs typeface="Arial" panose="020B0604020202020204" pitchFamily="34" charset="0"/>
              </a:rPr>
              <a:t>Prénom : </a:t>
            </a:r>
            <a:r>
              <a:rPr lang="fr-DZ" sz="1800" kern="0">
                <a:solidFill>
                  <a:srgbClr val="374151"/>
                </a:solidFill>
                <a:latin typeface="Segoe UI" panose="020B0502040204020203" pitchFamily="34" charset="0"/>
                <a:ea typeface="Times New Roman" panose="02020603050405020304" pitchFamily="18" charset="0"/>
                <a:cs typeface="Arial" panose="020B0604020202020204" pitchFamily="34" charset="0"/>
              </a:rPr>
              <a:t>Prénom du patient</a:t>
            </a:r>
            <a:endParaRPr lang="fr-DZ" sz="1800" kern="100">
              <a:solidFill>
                <a:srgbClr val="374151"/>
              </a:solidFill>
              <a:latin typeface="Calibri" panose="020F0502020204030204" pitchFamily="34" charset="0"/>
              <a:ea typeface="Calibri" panose="020F0502020204030204" pitchFamily="34" charset="0"/>
              <a:cs typeface="Arial" panose="020B0604020202020204" pitchFamily="34" charset="0"/>
            </a:endParaRPr>
          </a:p>
          <a:p>
            <a:pPr>
              <a:buSzPts val="1000"/>
              <a:buFont typeface="Symbol" pitchFamily="2" charset="2"/>
              <a:buChar char=""/>
              <a:tabLst>
                <a:tab pos="457200" algn="l"/>
              </a:tabLst>
            </a:pPr>
            <a:r>
              <a:rPr lang="fr-DZ" sz="1800" b="1" kern="0">
                <a:solidFill>
                  <a:srgbClr val="374151"/>
                </a:solidFill>
                <a:latin typeface="Segoe UI" panose="020B0502040204020203" pitchFamily="34" charset="0"/>
                <a:ea typeface="Times New Roman" panose="02020603050405020304" pitchFamily="18" charset="0"/>
                <a:cs typeface="Arial" panose="020B0604020202020204" pitchFamily="34" charset="0"/>
              </a:rPr>
              <a:t>Date de naissance : </a:t>
            </a:r>
            <a:r>
              <a:rPr lang="fr-DZ" sz="1800" kern="0">
                <a:solidFill>
                  <a:srgbClr val="374151"/>
                </a:solidFill>
                <a:latin typeface="Segoe UI" panose="020B0502040204020203" pitchFamily="34" charset="0"/>
                <a:ea typeface="Times New Roman" panose="02020603050405020304" pitchFamily="18" charset="0"/>
                <a:cs typeface="Arial" panose="020B0604020202020204" pitchFamily="34" charset="0"/>
              </a:rPr>
              <a:t>Date de naissance du patient</a:t>
            </a:r>
            <a:endParaRPr lang="fr-DZ" sz="1800" kern="100">
              <a:solidFill>
                <a:srgbClr val="374151"/>
              </a:solidFill>
              <a:latin typeface="Calibri" panose="020F0502020204030204" pitchFamily="34" charset="0"/>
              <a:ea typeface="Calibri" panose="020F0502020204030204" pitchFamily="34" charset="0"/>
              <a:cs typeface="Arial" panose="020B0604020202020204" pitchFamily="34" charset="0"/>
            </a:endParaRPr>
          </a:p>
          <a:p>
            <a:pPr>
              <a:buSzPts val="1000"/>
              <a:buFont typeface="Symbol" pitchFamily="2" charset="2"/>
              <a:buChar char=""/>
              <a:tabLst>
                <a:tab pos="457200" algn="l"/>
              </a:tabLst>
            </a:pPr>
            <a:r>
              <a:rPr lang="fr-DZ" sz="1800" b="1" kern="0">
                <a:solidFill>
                  <a:srgbClr val="374151"/>
                </a:solidFill>
                <a:latin typeface="Segoe UI" panose="020B0502040204020203" pitchFamily="34" charset="0"/>
                <a:ea typeface="Times New Roman" panose="02020603050405020304" pitchFamily="18" charset="0"/>
                <a:cs typeface="Arial" panose="020B0604020202020204" pitchFamily="34" charset="0"/>
              </a:rPr>
              <a:t>Sexe : </a:t>
            </a:r>
            <a:r>
              <a:rPr lang="fr-DZ" sz="1800" kern="0">
                <a:solidFill>
                  <a:srgbClr val="374151"/>
                </a:solidFill>
                <a:latin typeface="Segoe UI" panose="020B0502040204020203" pitchFamily="34" charset="0"/>
                <a:ea typeface="Times New Roman" panose="02020603050405020304" pitchFamily="18" charset="0"/>
                <a:cs typeface="Arial" panose="020B0604020202020204" pitchFamily="34" charset="0"/>
              </a:rPr>
              <a:t>Homme/Femme</a:t>
            </a:r>
            <a:endParaRPr lang="fr-DZ" sz="1800" kern="100">
              <a:solidFill>
                <a:srgbClr val="374151"/>
              </a:solidFill>
              <a:latin typeface="Calibri" panose="020F0502020204030204" pitchFamily="34" charset="0"/>
              <a:ea typeface="Calibri" panose="020F0502020204030204" pitchFamily="34" charset="0"/>
              <a:cs typeface="Arial" panose="020B0604020202020204" pitchFamily="34" charset="0"/>
            </a:endParaRPr>
          </a:p>
          <a:p>
            <a:pPr>
              <a:buSzPts val="1000"/>
              <a:buFont typeface="Symbol" pitchFamily="2" charset="2"/>
              <a:buChar char=""/>
              <a:tabLst>
                <a:tab pos="457200" algn="l"/>
              </a:tabLst>
            </a:pPr>
            <a:r>
              <a:rPr lang="fr-DZ" sz="1800" b="1" kern="0">
                <a:solidFill>
                  <a:srgbClr val="374151"/>
                </a:solidFill>
                <a:latin typeface="Segoe UI" panose="020B0502040204020203" pitchFamily="34" charset="0"/>
                <a:ea typeface="Times New Roman" panose="02020603050405020304" pitchFamily="18" charset="0"/>
                <a:cs typeface="Arial" panose="020B0604020202020204" pitchFamily="34" charset="0"/>
              </a:rPr>
              <a:t>Numéro de chambre ou du lit  : </a:t>
            </a:r>
            <a:r>
              <a:rPr lang="fr-DZ" sz="1800" kern="0">
                <a:solidFill>
                  <a:srgbClr val="374151"/>
                </a:solidFill>
                <a:latin typeface="Segoe UI" panose="020B0502040204020203" pitchFamily="34" charset="0"/>
                <a:ea typeface="Times New Roman" panose="02020603050405020304" pitchFamily="18" charset="0"/>
                <a:cs typeface="Arial" panose="020B0604020202020204" pitchFamily="34" charset="0"/>
              </a:rPr>
              <a:t>Numéro de chambre du patient ou du lit</a:t>
            </a:r>
            <a:endParaRPr lang="fr-DZ" sz="1800" kern="100">
              <a:solidFill>
                <a:srgbClr val="374151"/>
              </a:solidFill>
              <a:latin typeface="Calibri" panose="020F0502020204030204" pitchFamily="34" charset="0"/>
              <a:ea typeface="Calibri" panose="020F0502020204030204" pitchFamily="34" charset="0"/>
              <a:cs typeface="Arial" panose="020B0604020202020204" pitchFamily="34" charset="0"/>
            </a:endParaRPr>
          </a:p>
          <a:p>
            <a:pPr>
              <a:buSzPts val="1000"/>
              <a:buFont typeface="Symbol" pitchFamily="2" charset="2"/>
              <a:buChar char=""/>
              <a:tabLst>
                <a:tab pos="457200" algn="l"/>
              </a:tabLst>
            </a:pPr>
            <a:r>
              <a:rPr lang="fr-DZ" sz="1800" b="1" kern="0">
                <a:solidFill>
                  <a:srgbClr val="374151"/>
                </a:solidFill>
                <a:latin typeface="Segoe UI" panose="020B0502040204020203" pitchFamily="34" charset="0"/>
                <a:ea typeface="Times New Roman" panose="02020603050405020304" pitchFamily="18" charset="0"/>
                <a:cs typeface="Arial" panose="020B0604020202020204" pitchFamily="34" charset="0"/>
              </a:rPr>
              <a:t>Date d'admission : </a:t>
            </a:r>
            <a:r>
              <a:rPr lang="fr-DZ" sz="1800" kern="0">
                <a:solidFill>
                  <a:srgbClr val="374151"/>
                </a:solidFill>
                <a:latin typeface="Segoe UI" panose="020B0502040204020203" pitchFamily="34" charset="0"/>
                <a:ea typeface="Times New Roman" panose="02020603050405020304" pitchFamily="18" charset="0"/>
                <a:cs typeface="Arial" panose="020B0604020202020204" pitchFamily="34" charset="0"/>
              </a:rPr>
              <a:t>Date d'admission à l'hôpital</a:t>
            </a:r>
            <a:endParaRPr lang="fr-DZ" sz="1800" kern="100">
              <a:solidFill>
                <a:srgbClr val="374151"/>
              </a:solidFill>
              <a:latin typeface="Calibri" panose="020F0502020204030204" pitchFamily="34" charset="0"/>
              <a:ea typeface="Calibri" panose="020F0502020204030204" pitchFamily="34" charset="0"/>
              <a:cs typeface="Arial" panose="020B0604020202020204" pitchFamily="34" charset="0"/>
            </a:endParaRPr>
          </a:p>
          <a:p>
            <a:pPr marL="0" indent="0">
              <a:buFont typeface="Arial"/>
              <a:buNone/>
            </a:pPr>
            <a:endParaRPr lang="fr-DZ" dirty="0"/>
          </a:p>
        </p:txBody>
      </p:sp>
    </p:spTree>
    <p:extLst>
      <p:ext uri="{BB962C8B-B14F-4D97-AF65-F5344CB8AC3E}">
        <p14:creationId xmlns:p14="http://schemas.microsoft.com/office/powerpoint/2010/main" val="23150803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DCE6F1"/>
        </a:solidFill>
        <a:effectLst/>
      </p:bgPr>
    </p:bg>
    <p:spTree>
      <p:nvGrpSpPr>
        <p:cNvPr id="1" name="">
          <a:extLst>
            <a:ext uri="{FF2B5EF4-FFF2-40B4-BE49-F238E27FC236}">
              <a16:creationId xmlns:a16="http://schemas.microsoft.com/office/drawing/2014/main" id="{026E526D-B150-C9AE-2AB9-199608CC0F41}"/>
            </a:ext>
          </a:extLst>
        </p:cNvPr>
        <p:cNvGrpSpPr/>
        <p:nvPr/>
      </p:nvGrpSpPr>
      <p:grpSpPr>
        <a:xfrm>
          <a:off x="0" y="0"/>
          <a:ext cx="0" cy="0"/>
          <a:chOff x="0" y="0"/>
          <a:chExt cx="0" cy="0"/>
        </a:xfrm>
      </p:grpSpPr>
      <p:sp>
        <p:nvSpPr>
          <p:cNvPr id="2" name="Oval 1">
            <a:extLst>
              <a:ext uri="{FF2B5EF4-FFF2-40B4-BE49-F238E27FC236}">
                <a16:creationId xmlns:a16="http://schemas.microsoft.com/office/drawing/2014/main" id="{E35CEB61-21DD-4F7A-A2D5-644DA78C3EDD}"/>
              </a:ext>
            </a:extLst>
          </p:cNvPr>
          <p:cNvSpPr/>
          <p:nvPr/>
        </p:nvSpPr>
        <p:spPr>
          <a:xfrm>
            <a:off x="7772400" y="182880"/>
            <a:ext cx="914400" cy="914400"/>
          </a:xfrm>
          <a:prstGeom prst="ellipse">
            <a:avLst/>
          </a:prstGeom>
          <a:solidFill>
            <a:srgbClr val="CC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D7208A6D-B369-4828-129B-F2C8620593AB}"/>
              </a:ext>
            </a:extLst>
          </p:cNvPr>
          <p:cNvSpPr txBox="1"/>
          <p:nvPr/>
        </p:nvSpPr>
        <p:spPr>
          <a:xfrm>
            <a:off x="457200" y="457200"/>
            <a:ext cx="8229600" cy="914400"/>
          </a:xfrm>
          <a:prstGeom prst="rect">
            <a:avLst/>
          </a:prstGeom>
          <a:noFill/>
        </p:spPr>
        <p:txBody>
          <a:bodyPr wrap="square">
            <a:spAutoFit/>
          </a:bodyPr>
          <a:lstStyle/>
          <a:p>
            <a:pPr algn="l">
              <a:defRPr sz="3600" b="1">
                <a:solidFill>
                  <a:srgbClr val="003366"/>
                </a:solidFill>
              </a:defRPr>
            </a:pPr>
            <a:r>
              <a:t>TD – Thérapeutiques Cardiovasculaires</a:t>
            </a:r>
          </a:p>
        </p:txBody>
      </p:sp>
      <p:sp>
        <p:nvSpPr>
          <p:cNvPr id="5" name="TextBox 4">
            <a:extLst>
              <a:ext uri="{FF2B5EF4-FFF2-40B4-BE49-F238E27FC236}">
                <a16:creationId xmlns:a16="http://schemas.microsoft.com/office/drawing/2014/main" id="{615A0561-5BCE-A965-FD3E-5A8F8E5A9FD1}"/>
              </a:ext>
            </a:extLst>
          </p:cNvPr>
          <p:cNvSpPr txBox="1"/>
          <p:nvPr/>
        </p:nvSpPr>
        <p:spPr>
          <a:xfrm>
            <a:off x="457200" y="6400800"/>
            <a:ext cx="8229600" cy="274320"/>
          </a:xfrm>
          <a:prstGeom prst="rect">
            <a:avLst/>
          </a:prstGeom>
          <a:noFill/>
        </p:spPr>
        <p:txBody>
          <a:bodyPr wrap="none">
            <a:spAutoFit/>
          </a:bodyPr>
          <a:lstStyle/>
          <a:p>
            <a:pPr algn="ctr">
              <a:defRPr sz="1200">
                <a:solidFill>
                  <a:srgbClr val="003366"/>
                </a:solidFill>
              </a:defRPr>
            </a:pPr>
            <a:r>
              <a:t>Service de Cardiologie – CHU Constantine</a:t>
            </a:r>
          </a:p>
        </p:txBody>
      </p:sp>
      <p:sp>
        <p:nvSpPr>
          <p:cNvPr id="6" name="Rectangle 5">
            <a:extLst>
              <a:ext uri="{FF2B5EF4-FFF2-40B4-BE49-F238E27FC236}">
                <a16:creationId xmlns:a16="http://schemas.microsoft.com/office/drawing/2014/main" id="{BE8705AC-4AA7-3AB6-FF91-99E54BAEB797}"/>
              </a:ext>
            </a:extLst>
          </p:cNvPr>
          <p:cNvSpPr/>
          <p:nvPr/>
        </p:nvSpPr>
        <p:spPr>
          <a:xfrm>
            <a:off x="457200" y="6675120"/>
            <a:ext cx="357808" cy="9144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itre 1">
            <a:extLst>
              <a:ext uri="{FF2B5EF4-FFF2-40B4-BE49-F238E27FC236}">
                <a16:creationId xmlns:a16="http://schemas.microsoft.com/office/drawing/2014/main" id="{3A5DE6D0-A92F-03DD-7504-D19021CD6E3D}"/>
              </a:ext>
            </a:extLst>
          </p:cNvPr>
          <p:cNvSpPr txBox="1">
            <a:spLocks/>
          </p:cNvSpPr>
          <p:nvPr/>
        </p:nvSpPr>
        <p:spPr>
          <a:xfrm>
            <a:off x="-909320" y="1137921"/>
            <a:ext cx="9906000" cy="1382156"/>
          </a:xfrm>
          <a:prstGeom prst="rect">
            <a:avLst/>
          </a:prstGeom>
        </p:spPr>
        <p:txBody>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fr-DZ" sz="3700" b="1" dirty="0">
                <a:latin typeface="Baskerville SemiBold" panose="02020502070401020303" pitchFamily="18" charset="0"/>
                <a:ea typeface="Baskerville SemiBold" panose="02020502070401020303" pitchFamily="18" charset="0"/>
              </a:rPr>
              <a:t>Diagnostic Principal </a:t>
            </a:r>
            <a:br>
              <a:rPr lang="fr-DZ" b="1" kern="0" dirty="0">
                <a:latin typeface="Segoe UI" panose="020B0502040204020203" pitchFamily="34" charset="0"/>
                <a:ea typeface="Times New Roman" panose="02020603050405020304" pitchFamily="18" charset="0"/>
                <a:cs typeface="Arial" panose="020B0604020202020204" pitchFamily="34" charset="0"/>
              </a:rPr>
            </a:br>
            <a:endParaRPr lang="fr-DZ" dirty="0"/>
          </a:p>
        </p:txBody>
      </p:sp>
      <p:sp>
        <p:nvSpPr>
          <p:cNvPr id="9" name="Espace réservé du contenu 2">
            <a:extLst>
              <a:ext uri="{FF2B5EF4-FFF2-40B4-BE49-F238E27FC236}">
                <a16:creationId xmlns:a16="http://schemas.microsoft.com/office/drawing/2014/main" id="{E2DD4549-98C8-6E41-7414-B27BE48E41BA}"/>
              </a:ext>
            </a:extLst>
          </p:cNvPr>
          <p:cNvSpPr txBox="1">
            <a:spLocks/>
          </p:cNvSpPr>
          <p:nvPr/>
        </p:nvSpPr>
        <p:spPr>
          <a:xfrm>
            <a:off x="1143000" y="2009554"/>
            <a:ext cx="7472680" cy="4238846"/>
          </a:xfrm>
          <a:prstGeom prst="rect">
            <a:avLst/>
          </a:prstGeom>
        </p:spPr>
        <p:txBody>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fr-FR" sz="2400" dirty="0">
                <a:solidFill>
                  <a:srgbClr val="374151"/>
                </a:solidFill>
                <a:latin typeface="Söhne"/>
              </a:rPr>
              <a:t>la raison de l'admission pour un patient est le terme médical qui décrit la </a:t>
            </a:r>
            <a:r>
              <a:rPr lang="fr-FR" sz="2400" b="1" i="1" dirty="0">
                <a:solidFill>
                  <a:srgbClr val="FF0000"/>
                </a:solidFill>
                <a:latin typeface="Söhne"/>
              </a:rPr>
              <a:t>maladie</a:t>
            </a:r>
            <a:r>
              <a:rPr lang="fr-FR" sz="2400" dirty="0">
                <a:solidFill>
                  <a:srgbClr val="374151"/>
                </a:solidFill>
                <a:latin typeface="Söhne"/>
              </a:rPr>
              <a:t>, la </a:t>
            </a:r>
            <a:r>
              <a:rPr lang="fr-FR" sz="2400" b="1" i="1" dirty="0">
                <a:solidFill>
                  <a:srgbClr val="FF0000"/>
                </a:solidFill>
                <a:latin typeface="Söhne"/>
              </a:rPr>
              <a:t>condition médicale </a:t>
            </a:r>
            <a:r>
              <a:rPr lang="fr-FR" sz="2400" dirty="0">
                <a:solidFill>
                  <a:srgbClr val="374151"/>
                </a:solidFill>
                <a:latin typeface="Söhne"/>
              </a:rPr>
              <a:t>ou </a:t>
            </a:r>
            <a:r>
              <a:rPr lang="fr-FR" sz="2400" b="1" i="1" dirty="0">
                <a:solidFill>
                  <a:srgbClr val="FF0000"/>
                </a:solidFill>
                <a:latin typeface="Söhne"/>
              </a:rPr>
              <a:t>le problème de santé </a:t>
            </a:r>
            <a:r>
              <a:rPr lang="fr-FR" sz="2400" dirty="0">
                <a:solidFill>
                  <a:srgbClr val="374151"/>
                </a:solidFill>
                <a:latin typeface="Söhne"/>
              </a:rPr>
              <a:t>pour lequel le patient est admis à l'hôpital. </a:t>
            </a:r>
          </a:p>
          <a:p>
            <a:r>
              <a:rPr lang="fr-FR" sz="2400" dirty="0">
                <a:solidFill>
                  <a:srgbClr val="374151"/>
                </a:solidFill>
                <a:latin typeface="Söhne"/>
              </a:rPr>
              <a:t>Il s'agit d'une description concise qui identifie la principale cause de l'admission. </a:t>
            </a:r>
          </a:p>
          <a:p>
            <a:r>
              <a:rPr lang="fr-FR" sz="2400" dirty="0">
                <a:solidFill>
                  <a:srgbClr val="374151"/>
                </a:solidFill>
                <a:latin typeface="Söhne"/>
              </a:rPr>
              <a:t>Voici quelques exemples de diagnostics principaux courants :</a:t>
            </a:r>
          </a:p>
          <a:p>
            <a:pPr lvl="1">
              <a:buFont typeface="Wingdings" pitchFamily="2" charset="2"/>
              <a:buChar char="ü"/>
            </a:pPr>
            <a:r>
              <a:rPr lang="fr-FR" sz="2400" b="1" dirty="0">
                <a:latin typeface="Söhne"/>
              </a:rPr>
              <a:t>Infarctus du myocarde</a:t>
            </a:r>
            <a:endParaRPr lang="fr-FR" sz="2400" dirty="0">
              <a:solidFill>
                <a:srgbClr val="374151"/>
              </a:solidFill>
              <a:latin typeface="Söhne"/>
            </a:endParaRPr>
          </a:p>
          <a:p>
            <a:pPr lvl="1">
              <a:buFont typeface="Wingdings" pitchFamily="2" charset="2"/>
              <a:buChar char="ü"/>
            </a:pPr>
            <a:r>
              <a:rPr lang="fr-FR" sz="2400" b="1" dirty="0">
                <a:latin typeface="Söhne"/>
              </a:rPr>
              <a:t>Insuffisance cardiaque </a:t>
            </a:r>
            <a:endParaRPr lang="fr-FR" sz="2400" b="1" dirty="0">
              <a:solidFill>
                <a:srgbClr val="374151"/>
              </a:solidFill>
              <a:latin typeface="Söhne"/>
            </a:endParaRPr>
          </a:p>
          <a:p>
            <a:pPr lvl="1">
              <a:buFont typeface="Wingdings" pitchFamily="2" charset="2"/>
              <a:buChar char="ü"/>
            </a:pPr>
            <a:r>
              <a:rPr lang="fr-FR" sz="2400" b="1" dirty="0">
                <a:solidFill>
                  <a:srgbClr val="374151"/>
                </a:solidFill>
                <a:latin typeface="Söhne"/>
              </a:rPr>
              <a:t>Embolie pulmonaire </a:t>
            </a:r>
          </a:p>
          <a:p>
            <a:pPr lvl="1">
              <a:buFont typeface="Wingdings" pitchFamily="2" charset="2"/>
              <a:buChar char="ü"/>
            </a:pPr>
            <a:r>
              <a:rPr lang="fr-FR" sz="2400" b="1" dirty="0">
                <a:solidFill>
                  <a:srgbClr val="374151"/>
                </a:solidFill>
                <a:latin typeface="Söhne"/>
              </a:rPr>
              <a:t>…</a:t>
            </a:r>
            <a:endParaRPr lang="fr-DZ" sz="2400" dirty="0"/>
          </a:p>
        </p:txBody>
      </p:sp>
    </p:spTree>
    <p:extLst>
      <p:ext uri="{BB962C8B-B14F-4D97-AF65-F5344CB8AC3E}">
        <p14:creationId xmlns:p14="http://schemas.microsoft.com/office/powerpoint/2010/main" val="34370708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DCE6F1"/>
        </a:solidFill>
        <a:effectLst/>
      </p:bgPr>
    </p:bg>
    <p:spTree>
      <p:nvGrpSpPr>
        <p:cNvPr id="1" name="">
          <a:extLst>
            <a:ext uri="{FF2B5EF4-FFF2-40B4-BE49-F238E27FC236}">
              <a16:creationId xmlns:a16="http://schemas.microsoft.com/office/drawing/2014/main" id="{5679F3AA-4084-C6D1-F061-B6DBB7C225B0}"/>
            </a:ext>
          </a:extLst>
        </p:cNvPr>
        <p:cNvGrpSpPr/>
        <p:nvPr/>
      </p:nvGrpSpPr>
      <p:grpSpPr>
        <a:xfrm>
          <a:off x="0" y="0"/>
          <a:ext cx="0" cy="0"/>
          <a:chOff x="0" y="0"/>
          <a:chExt cx="0" cy="0"/>
        </a:xfrm>
      </p:grpSpPr>
      <p:sp>
        <p:nvSpPr>
          <p:cNvPr id="2" name="Oval 1">
            <a:extLst>
              <a:ext uri="{FF2B5EF4-FFF2-40B4-BE49-F238E27FC236}">
                <a16:creationId xmlns:a16="http://schemas.microsoft.com/office/drawing/2014/main" id="{080629D9-09A1-320C-9930-7CEDB6D409CA}"/>
              </a:ext>
            </a:extLst>
          </p:cNvPr>
          <p:cNvSpPr/>
          <p:nvPr/>
        </p:nvSpPr>
        <p:spPr>
          <a:xfrm>
            <a:off x="7772400" y="182880"/>
            <a:ext cx="914400" cy="914400"/>
          </a:xfrm>
          <a:prstGeom prst="ellipse">
            <a:avLst/>
          </a:prstGeom>
          <a:solidFill>
            <a:srgbClr val="CC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D979782B-23D6-86F7-44F0-CE2482AD8EB0}"/>
              </a:ext>
            </a:extLst>
          </p:cNvPr>
          <p:cNvSpPr txBox="1"/>
          <p:nvPr/>
        </p:nvSpPr>
        <p:spPr>
          <a:xfrm>
            <a:off x="457200" y="457200"/>
            <a:ext cx="8229600" cy="914400"/>
          </a:xfrm>
          <a:prstGeom prst="rect">
            <a:avLst/>
          </a:prstGeom>
          <a:noFill/>
        </p:spPr>
        <p:txBody>
          <a:bodyPr wrap="square">
            <a:spAutoFit/>
          </a:bodyPr>
          <a:lstStyle/>
          <a:p>
            <a:pPr algn="l">
              <a:defRPr sz="3600" b="1">
                <a:solidFill>
                  <a:srgbClr val="003366"/>
                </a:solidFill>
              </a:defRPr>
            </a:pPr>
            <a:r>
              <a:t>TD – Thérapeutiques Cardiovasculaires</a:t>
            </a:r>
          </a:p>
        </p:txBody>
      </p:sp>
      <p:sp>
        <p:nvSpPr>
          <p:cNvPr id="5" name="TextBox 4">
            <a:extLst>
              <a:ext uri="{FF2B5EF4-FFF2-40B4-BE49-F238E27FC236}">
                <a16:creationId xmlns:a16="http://schemas.microsoft.com/office/drawing/2014/main" id="{207D4F79-0EC6-5D74-8F75-06397B69E18F}"/>
              </a:ext>
            </a:extLst>
          </p:cNvPr>
          <p:cNvSpPr txBox="1"/>
          <p:nvPr/>
        </p:nvSpPr>
        <p:spPr>
          <a:xfrm>
            <a:off x="457200" y="6400800"/>
            <a:ext cx="8229600" cy="274320"/>
          </a:xfrm>
          <a:prstGeom prst="rect">
            <a:avLst/>
          </a:prstGeom>
          <a:noFill/>
        </p:spPr>
        <p:txBody>
          <a:bodyPr wrap="none">
            <a:spAutoFit/>
          </a:bodyPr>
          <a:lstStyle/>
          <a:p>
            <a:pPr algn="ctr">
              <a:defRPr sz="1200">
                <a:solidFill>
                  <a:srgbClr val="003366"/>
                </a:solidFill>
              </a:defRPr>
            </a:pPr>
            <a:r>
              <a:t>Service de Cardiologie – CHU Constantine</a:t>
            </a:r>
          </a:p>
        </p:txBody>
      </p:sp>
      <p:sp>
        <p:nvSpPr>
          <p:cNvPr id="6" name="Rectangle 5">
            <a:extLst>
              <a:ext uri="{FF2B5EF4-FFF2-40B4-BE49-F238E27FC236}">
                <a16:creationId xmlns:a16="http://schemas.microsoft.com/office/drawing/2014/main" id="{87E6D92D-70AC-7A17-CADE-FD49B5CBDF6A}"/>
              </a:ext>
            </a:extLst>
          </p:cNvPr>
          <p:cNvSpPr/>
          <p:nvPr/>
        </p:nvSpPr>
        <p:spPr>
          <a:xfrm>
            <a:off x="457200" y="6675120"/>
            <a:ext cx="357808" cy="9144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itre 1">
            <a:extLst>
              <a:ext uri="{FF2B5EF4-FFF2-40B4-BE49-F238E27FC236}">
                <a16:creationId xmlns:a16="http://schemas.microsoft.com/office/drawing/2014/main" id="{121744DF-F3A6-8582-C47C-F3295549EF28}"/>
              </a:ext>
            </a:extLst>
          </p:cNvPr>
          <p:cNvSpPr txBox="1">
            <a:spLocks/>
          </p:cNvSpPr>
          <p:nvPr/>
        </p:nvSpPr>
        <p:spPr>
          <a:xfrm>
            <a:off x="-629920" y="1092597"/>
            <a:ext cx="9906000" cy="1382156"/>
          </a:xfrm>
          <a:prstGeom prst="rect">
            <a:avLst/>
          </a:prstGeom>
        </p:spPr>
        <p:txBody>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fr-DZ" sz="3700" b="1">
                <a:latin typeface="Baskerville SemiBold" panose="02020502070401020303" pitchFamily="18" charset="0"/>
                <a:ea typeface="Baskerville SemiBold" panose="02020502070401020303" pitchFamily="18" charset="0"/>
              </a:rPr>
              <a:t>Antécédents</a:t>
            </a:r>
            <a:r>
              <a:rPr lang="fr-DZ" b="1" kern="0">
                <a:latin typeface="Segoe UI" panose="020B0502040204020203" pitchFamily="34" charset="0"/>
                <a:ea typeface="Times New Roman" panose="02020603050405020304" pitchFamily="18" charset="0"/>
              </a:rPr>
              <a:t> </a:t>
            </a:r>
            <a:r>
              <a:rPr lang="fr-DZ" sz="3700" b="1">
                <a:latin typeface="Baskerville SemiBold" panose="02020502070401020303" pitchFamily="18" charset="0"/>
                <a:ea typeface="Baskerville SemiBold" panose="02020502070401020303" pitchFamily="18" charset="0"/>
              </a:rPr>
              <a:t>Médicaux </a:t>
            </a:r>
            <a:br>
              <a:rPr lang="fr-DZ" sz="3700" b="1">
                <a:latin typeface="Baskerville SemiBold" panose="02020502070401020303" pitchFamily="18" charset="0"/>
                <a:ea typeface="Baskerville SemiBold" panose="02020502070401020303" pitchFamily="18" charset="0"/>
              </a:rPr>
            </a:br>
            <a:endParaRPr lang="fr-DZ" sz="3700" b="1" dirty="0">
              <a:latin typeface="Baskerville SemiBold" panose="02020502070401020303" pitchFamily="18" charset="0"/>
              <a:ea typeface="Baskerville SemiBold" panose="02020502070401020303" pitchFamily="18" charset="0"/>
            </a:endParaRPr>
          </a:p>
        </p:txBody>
      </p:sp>
      <p:sp>
        <p:nvSpPr>
          <p:cNvPr id="8" name="Espace réservé du contenu 2">
            <a:extLst>
              <a:ext uri="{FF2B5EF4-FFF2-40B4-BE49-F238E27FC236}">
                <a16:creationId xmlns:a16="http://schemas.microsoft.com/office/drawing/2014/main" id="{27016126-755D-626D-B809-6FA6C1E2191C}"/>
              </a:ext>
            </a:extLst>
          </p:cNvPr>
          <p:cNvSpPr txBox="1">
            <a:spLocks/>
          </p:cNvSpPr>
          <p:nvPr/>
        </p:nvSpPr>
        <p:spPr>
          <a:xfrm>
            <a:off x="1143000" y="2009554"/>
            <a:ext cx="7787640" cy="3426046"/>
          </a:xfrm>
          <a:prstGeom prst="rect">
            <a:avLst/>
          </a:prstGeom>
        </p:spPr>
        <p:txBody>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fr-FR" sz="2400" dirty="0">
                <a:solidFill>
                  <a:srgbClr val="374151"/>
                </a:solidFill>
                <a:latin typeface="Söhne"/>
              </a:rPr>
              <a:t>des informations essentielles sur les problèmes médicaux, les maladies, les traitements passés et les conditions préexistantes. </a:t>
            </a:r>
          </a:p>
          <a:p>
            <a:r>
              <a:rPr lang="fr-FR" sz="2400" dirty="0">
                <a:solidFill>
                  <a:srgbClr val="374151"/>
                </a:solidFill>
                <a:latin typeface="Söhne"/>
              </a:rPr>
              <a:t>la section des antécédents médicaux est généralement destinée à résumer les informations suivantes :</a:t>
            </a:r>
          </a:p>
          <a:p>
            <a:pPr lvl="1">
              <a:buFont typeface="Wingdings" pitchFamily="2" charset="2"/>
              <a:buChar char="ü"/>
            </a:pPr>
            <a:r>
              <a:rPr lang="fr-FR" sz="2400" b="1" dirty="0">
                <a:latin typeface="Söhne"/>
              </a:rPr>
              <a:t>Antécédents médicaux personnels </a:t>
            </a:r>
          </a:p>
          <a:p>
            <a:pPr lvl="1">
              <a:buFont typeface="Wingdings" pitchFamily="2" charset="2"/>
              <a:buChar char="ü"/>
            </a:pPr>
            <a:r>
              <a:rPr lang="fr-FR" sz="2400" b="1" dirty="0">
                <a:latin typeface="Söhne"/>
              </a:rPr>
              <a:t>Antécédents médicaux familiaux </a:t>
            </a:r>
          </a:p>
          <a:p>
            <a:pPr lvl="1">
              <a:buFont typeface="Wingdings" pitchFamily="2" charset="2"/>
              <a:buChar char="ü"/>
            </a:pPr>
            <a:r>
              <a:rPr lang="fr-FR" sz="2400" b="1" dirty="0">
                <a:latin typeface="Söhne"/>
              </a:rPr>
              <a:t>Allergies connues </a:t>
            </a:r>
          </a:p>
          <a:p>
            <a:pPr lvl="1">
              <a:buFont typeface="Wingdings" pitchFamily="2" charset="2"/>
              <a:buChar char="ü"/>
            </a:pPr>
            <a:r>
              <a:rPr lang="fr-FR" b="1" dirty="0">
                <a:latin typeface="Söhne"/>
              </a:rPr>
              <a:t>Médicaments actuels </a:t>
            </a:r>
          </a:p>
          <a:p>
            <a:pPr lvl="1">
              <a:buFont typeface="Wingdings" pitchFamily="2" charset="2"/>
              <a:buChar char="ü"/>
            </a:pPr>
            <a:r>
              <a:rPr lang="fr-FR" b="1" dirty="0">
                <a:latin typeface="Söhne"/>
              </a:rPr>
              <a:t>Habitudes de vie </a:t>
            </a:r>
            <a:br>
              <a:rPr lang="fr-FR" dirty="0">
                <a:solidFill>
                  <a:srgbClr val="374151"/>
                </a:solidFill>
                <a:latin typeface="Söhne"/>
              </a:rPr>
            </a:br>
            <a:endParaRPr lang="fr-FR" dirty="0">
              <a:solidFill>
                <a:srgbClr val="374151"/>
              </a:solidFill>
              <a:latin typeface="Söhne"/>
            </a:endParaRPr>
          </a:p>
          <a:p>
            <a:endParaRPr lang="fr-DZ" dirty="0"/>
          </a:p>
        </p:txBody>
      </p:sp>
    </p:spTree>
    <p:extLst>
      <p:ext uri="{BB962C8B-B14F-4D97-AF65-F5344CB8AC3E}">
        <p14:creationId xmlns:p14="http://schemas.microsoft.com/office/powerpoint/2010/main" val="5645754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DCE6F1"/>
        </a:solidFill>
        <a:effectLst/>
      </p:bgPr>
    </p:bg>
    <p:spTree>
      <p:nvGrpSpPr>
        <p:cNvPr id="1" name="">
          <a:extLst>
            <a:ext uri="{FF2B5EF4-FFF2-40B4-BE49-F238E27FC236}">
              <a16:creationId xmlns:a16="http://schemas.microsoft.com/office/drawing/2014/main" id="{814138E0-FAF6-10EA-F84D-8FAFD2EEE5D0}"/>
            </a:ext>
          </a:extLst>
        </p:cNvPr>
        <p:cNvGrpSpPr/>
        <p:nvPr/>
      </p:nvGrpSpPr>
      <p:grpSpPr>
        <a:xfrm>
          <a:off x="0" y="0"/>
          <a:ext cx="0" cy="0"/>
          <a:chOff x="0" y="0"/>
          <a:chExt cx="0" cy="0"/>
        </a:xfrm>
      </p:grpSpPr>
      <p:sp>
        <p:nvSpPr>
          <p:cNvPr id="2" name="Oval 1">
            <a:extLst>
              <a:ext uri="{FF2B5EF4-FFF2-40B4-BE49-F238E27FC236}">
                <a16:creationId xmlns:a16="http://schemas.microsoft.com/office/drawing/2014/main" id="{3A4771A5-F44D-B4FA-23D7-DA7EFF78EF6A}"/>
              </a:ext>
            </a:extLst>
          </p:cNvPr>
          <p:cNvSpPr/>
          <p:nvPr/>
        </p:nvSpPr>
        <p:spPr>
          <a:xfrm>
            <a:off x="7772400" y="182880"/>
            <a:ext cx="914400" cy="914400"/>
          </a:xfrm>
          <a:prstGeom prst="ellipse">
            <a:avLst/>
          </a:prstGeom>
          <a:solidFill>
            <a:srgbClr val="CC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E7DF1432-1698-EB4E-19B5-582363953030}"/>
              </a:ext>
            </a:extLst>
          </p:cNvPr>
          <p:cNvSpPr txBox="1"/>
          <p:nvPr/>
        </p:nvSpPr>
        <p:spPr>
          <a:xfrm>
            <a:off x="457200" y="457200"/>
            <a:ext cx="8229600" cy="914400"/>
          </a:xfrm>
          <a:prstGeom prst="rect">
            <a:avLst/>
          </a:prstGeom>
          <a:noFill/>
        </p:spPr>
        <p:txBody>
          <a:bodyPr wrap="square">
            <a:spAutoFit/>
          </a:bodyPr>
          <a:lstStyle/>
          <a:p>
            <a:pPr algn="l">
              <a:defRPr sz="3600" b="1">
                <a:solidFill>
                  <a:srgbClr val="003366"/>
                </a:solidFill>
              </a:defRPr>
            </a:pPr>
            <a:r>
              <a:t>TD – Thérapeutiques Cardiovasculaires</a:t>
            </a:r>
          </a:p>
        </p:txBody>
      </p:sp>
      <p:sp>
        <p:nvSpPr>
          <p:cNvPr id="5" name="TextBox 4">
            <a:extLst>
              <a:ext uri="{FF2B5EF4-FFF2-40B4-BE49-F238E27FC236}">
                <a16:creationId xmlns:a16="http://schemas.microsoft.com/office/drawing/2014/main" id="{ECB61FFB-749D-85CC-E94D-5DC75008993E}"/>
              </a:ext>
            </a:extLst>
          </p:cNvPr>
          <p:cNvSpPr txBox="1"/>
          <p:nvPr/>
        </p:nvSpPr>
        <p:spPr>
          <a:xfrm>
            <a:off x="457200" y="6400800"/>
            <a:ext cx="8229600" cy="274320"/>
          </a:xfrm>
          <a:prstGeom prst="rect">
            <a:avLst/>
          </a:prstGeom>
          <a:noFill/>
        </p:spPr>
        <p:txBody>
          <a:bodyPr wrap="none">
            <a:spAutoFit/>
          </a:bodyPr>
          <a:lstStyle/>
          <a:p>
            <a:pPr algn="ctr">
              <a:defRPr sz="1200">
                <a:solidFill>
                  <a:srgbClr val="003366"/>
                </a:solidFill>
              </a:defRPr>
            </a:pPr>
            <a:r>
              <a:t>Service de Cardiologie – CHU Constantine</a:t>
            </a:r>
          </a:p>
        </p:txBody>
      </p:sp>
      <p:sp>
        <p:nvSpPr>
          <p:cNvPr id="6" name="Rectangle 5">
            <a:extLst>
              <a:ext uri="{FF2B5EF4-FFF2-40B4-BE49-F238E27FC236}">
                <a16:creationId xmlns:a16="http://schemas.microsoft.com/office/drawing/2014/main" id="{943A54DD-3564-A907-447C-13DBDE79D354}"/>
              </a:ext>
            </a:extLst>
          </p:cNvPr>
          <p:cNvSpPr/>
          <p:nvPr/>
        </p:nvSpPr>
        <p:spPr>
          <a:xfrm>
            <a:off x="457200" y="6675120"/>
            <a:ext cx="357808" cy="9144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itre 1">
            <a:extLst>
              <a:ext uri="{FF2B5EF4-FFF2-40B4-BE49-F238E27FC236}">
                <a16:creationId xmlns:a16="http://schemas.microsoft.com/office/drawing/2014/main" id="{495FAEAF-B7F4-AC40-4C4E-4BB73EA4A696}"/>
              </a:ext>
            </a:extLst>
          </p:cNvPr>
          <p:cNvSpPr txBox="1">
            <a:spLocks/>
          </p:cNvSpPr>
          <p:nvPr/>
        </p:nvSpPr>
        <p:spPr>
          <a:xfrm>
            <a:off x="-909320" y="1112917"/>
            <a:ext cx="9906000" cy="1382156"/>
          </a:xfrm>
          <a:prstGeom prst="rect">
            <a:avLst/>
          </a:prstGeom>
        </p:spPr>
        <p:txBody>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fr-DZ" sz="3700" b="1">
                <a:latin typeface="Baskerville SemiBold" panose="02020502070401020303" pitchFamily="18" charset="0"/>
                <a:ea typeface="Baskerville SemiBold" panose="02020502070401020303" pitchFamily="18" charset="0"/>
              </a:rPr>
              <a:t>Médecin Référent </a:t>
            </a:r>
            <a:br>
              <a:rPr lang="fr-DZ" b="1" kern="0">
                <a:latin typeface="Segoe UI" panose="020B0502040204020203" pitchFamily="34" charset="0"/>
                <a:ea typeface="Times New Roman" panose="02020603050405020304" pitchFamily="18" charset="0"/>
              </a:rPr>
            </a:br>
            <a:endParaRPr lang="fr-DZ" dirty="0"/>
          </a:p>
        </p:txBody>
      </p:sp>
      <p:sp>
        <p:nvSpPr>
          <p:cNvPr id="8" name="Espace réservé du contenu 2">
            <a:extLst>
              <a:ext uri="{FF2B5EF4-FFF2-40B4-BE49-F238E27FC236}">
                <a16:creationId xmlns:a16="http://schemas.microsoft.com/office/drawing/2014/main" id="{81F4D9D7-31CF-D7EB-E0F1-043B4BAFC220}"/>
              </a:ext>
            </a:extLst>
          </p:cNvPr>
          <p:cNvSpPr txBox="1">
            <a:spLocks/>
          </p:cNvSpPr>
          <p:nvPr/>
        </p:nvSpPr>
        <p:spPr>
          <a:xfrm>
            <a:off x="1143000" y="2009554"/>
            <a:ext cx="7818120" cy="4024424"/>
          </a:xfrm>
          <a:prstGeom prst="rect">
            <a:avLst/>
          </a:prstGeom>
        </p:spPr>
        <p:txBody>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fr-FR" sz="2000" dirty="0">
                <a:solidFill>
                  <a:srgbClr val="374151"/>
                </a:solidFill>
                <a:latin typeface="Söhne"/>
              </a:rPr>
              <a:t>le professionnel de santé responsable de la prise en charge médicale globale d'un patient.</a:t>
            </a:r>
          </a:p>
          <a:p>
            <a:r>
              <a:rPr lang="fr-FR" sz="2000" dirty="0">
                <a:solidFill>
                  <a:srgbClr val="374151"/>
                </a:solidFill>
                <a:latin typeface="Söhne"/>
              </a:rPr>
              <a:t>clarifier qui est le principal responsable de la gestion médicale du patient pendant son séjour à l'hôpital.</a:t>
            </a:r>
          </a:p>
          <a:p>
            <a:r>
              <a:rPr lang="fr-FR" sz="2000" dirty="0">
                <a:solidFill>
                  <a:srgbClr val="374151"/>
                </a:solidFill>
                <a:latin typeface="Söhne"/>
              </a:rPr>
              <a:t>Le médecin référent joue un rôle crucial dans la coordination des soins du patient, dans la prise de décisions médicales et dans la communication avec d'autres spécialistes ou professionnels de la santé impliqués dans le traitement.</a:t>
            </a:r>
            <a:endParaRPr lang="fr-DZ" sz="2000" dirty="0"/>
          </a:p>
        </p:txBody>
      </p:sp>
    </p:spTree>
    <p:extLst>
      <p:ext uri="{BB962C8B-B14F-4D97-AF65-F5344CB8AC3E}">
        <p14:creationId xmlns:p14="http://schemas.microsoft.com/office/powerpoint/2010/main" val="37595248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DCE6F1"/>
        </a:solidFill>
        <a:effectLst/>
      </p:bgPr>
    </p:bg>
    <p:spTree>
      <p:nvGrpSpPr>
        <p:cNvPr id="1" name="">
          <a:extLst>
            <a:ext uri="{FF2B5EF4-FFF2-40B4-BE49-F238E27FC236}">
              <a16:creationId xmlns:a16="http://schemas.microsoft.com/office/drawing/2014/main" id="{EFC442BC-C505-ABDB-E5EA-2F48BBF9D5BE}"/>
            </a:ext>
          </a:extLst>
        </p:cNvPr>
        <p:cNvGrpSpPr/>
        <p:nvPr/>
      </p:nvGrpSpPr>
      <p:grpSpPr>
        <a:xfrm>
          <a:off x="0" y="0"/>
          <a:ext cx="0" cy="0"/>
          <a:chOff x="0" y="0"/>
          <a:chExt cx="0" cy="0"/>
        </a:xfrm>
      </p:grpSpPr>
      <p:sp>
        <p:nvSpPr>
          <p:cNvPr id="2" name="Oval 1">
            <a:extLst>
              <a:ext uri="{FF2B5EF4-FFF2-40B4-BE49-F238E27FC236}">
                <a16:creationId xmlns:a16="http://schemas.microsoft.com/office/drawing/2014/main" id="{87E4428F-DF86-AB26-0612-31C0BB396FC7}"/>
              </a:ext>
            </a:extLst>
          </p:cNvPr>
          <p:cNvSpPr/>
          <p:nvPr/>
        </p:nvSpPr>
        <p:spPr>
          <a:xfrm>
            <a:off x="7772400" y="182880"/>
            <a:ext cx="914400" cy="914400"/>
          </a:xfrm>
          <a:prstGeom prst="ellipse">
            <a:avLst/>
          </a:prstGeom>
          <a:solidFill>
            <a:srgbClr val="CC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09BAF9A2-D9D9-59BB-C824-22B0BC5251D4}"/>
              </a:ext>
            </a:extLst>
          </p:cNvPr>
          <p:cNvSpPr txBox="1"/>
          <p:nvPr/>
        </p:nvSpPr>
        <p:spPr>
          <a:xfrm>
            <a:off x="457200" y="457200"/>
            <a:ext cx="8229600" cy="914400"/>
          </a:xfrm>
          <a:prstGeom prst="rect">
            <a:avLst/>
          </a:prstGeom>
          <a:noFill/>
        </p:spPr>
        <p:txBody>
          <a:bodyPr wrap="square">
            <a:spAutoFit/>
          </a:bodyPr>
          <a:lstStyle/>
          <a:p>
            <a:pPr algn="l">
              <a:defRPr sz="3600" b="1">
                <a:solidFill>
                  <a:srgbClr val="003366"/>
                </a:solidFill>
              </a:defRPr>
            </a:pPr>
            <a:r>
              <a:t>TD – Thérapeutiques Cardiovasculaires</a:t>
            </a:r>
          </a:p>
        </p:txBody>
      </p:sp>
      <p:sp>
        <p:nvSpPr>
          <p:cNvPr id="5" name="TextBox 4">
            <a:extLst>
              <a:ext uri="{FF2B5EF4-FFF2-40B4-BE49-F238E27FC236}">
                <a16:creationId xmlns:a16="http://schemas.microsoft.com/office/drawing/2014/main" id="{63456253-9448-CD17-5695-6A098EEA2823}"/>
              </a:ext>
            </a:extLst>
          </p:cNvPr>
          <p:cNvSpPr txBox="1"/>
          <p:nvPr/>
        </p:nvSpPr>
        <p:spPr>
          <a:xfrm>
            <a:off x="457200" y="6400800"/>
            <a:ext cx="8229600" cy="274320"/>
          </a:xfrm>
          <a:prstGeom prst="rect">
            <a:avLst/>
          </a:prstGeom>
          <a:noFill/>
        </p:spPr>
        <p:txBody>
          <a:bodyPr wrap="none">
            <a:spAutoFit/>
          </a:bodyPr>
          <a:lstStyle/>
          <a:p>
            <a:pPr algn="ctr">
              <a:defRPr sz="1200">
                <a:solidFill>
                  <a:srgbClr val="003366"/>
                </a:solidFill>
              </a:defRPr>
            </a:pPr>
            <a:r>
              <a:t>Service de Cardiologie – CHU Constantine</a:t>
            </a:r>
          </a:p>
        </p:txBody>
      </p:sp>
      <p:sp>
        <p:nvSpPr>
          <p:cNvPr id="6" name="Rectangle 5">
            <a:extLst>
              <a:ext uri="{FF2B5EF4-FFF2-40B4-BE49-F238E27FC236}">
                <a16:creationId xmlns:a16="http://schemas.microsoft.com/office/drawing/2014/main" id="{017E1D28-7298-6ACD-8945-C83E83BE798F}"/>
              </a:ext>
            </a:extLst>
          </p:cNvPr>
          <p:cNvSpPr/>
          <p:nvPr/>
        </p:nvSpPr>
        <p:spPr>
          <a:xfrm>
            <a:off x="457200" y="6675120"/>
            <a:ext cx="357808" cy="9144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itre 1">
            <a:extLst>
              <a:ext uri="{FF2B5EF4-FFF2-40B4-BE49-F238E27FC236}">
                <a16:creationId xmlns:a16="http://schemas.microsoft.com/office/drawing/2014/main" id="{EA6226E9-2FE2-A09A-C673-7E717571063B}"/>
              </a:ext>
            </a:extLst>
          </p:cNvPr>
          <p:cNvSpPr txBox="1">
            <a:spLocks/>
          </p:cNvSpPr>
          <p:nvPr/>
        </p:nvSpPr>
        <p:spPr>
          <a:xfrm>
            <a:off x="-797560" y="1097677"/>
            <a:ext cx="9906000" cy="1382156"/>
          </a:xfrm>
          <a:prstGeom prst="rect">
            <a:avLst/>
          </a:prstGeom>
        </p:spPr>
        <p:txBody>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fr-FR" sz="3700" b="1">
                <a:latin typeface="Baskerville SemiBold" panose="02020502070401020303" pitchFamily="18" charset="0"/>
                <a:ea typeface="Baskerville SemiBold" panose="02020502070401020303" pitchFamily="18" charset="0"/>
              </a:rPr>
              <a:t>Plan de Traitement </a:t>
            </a:r>
            <a:endParaRPr lang="fr-DZ" sz="3700" b="1" dirty="0">
              <a:latin typeface="Baskerville SemiBold" panose="02020502070401020303" pitchFamily="18" charset="0"/>
              <a:ea typeface="Baskerville SemiBold" panose="02020502070401020303" pitchFamily="18" charset="0"/>
            </a:endParaRPr>
          </a:p>
        </p:txBody>
      </p:sp>
      <p:sp>
        <p:nvSpPr>
          <p:cNvPr id="8" name="Espace réservé du contenu 2">
            <a:extLst>
              <a:ext uri="{FF2B5EF4-FFF2-40B4-BE49-F238E27FC236}">
                <a16:creationId xmlns:a16="http://schemas.microsoft.com/office/drawing/2014/main" id="{25CEA15A-F5A5-9738-89E8-7F3ED332071B}"/>
              </a:ext>
            </a:extLst>
          </p:cNvPr>
          <p:cNvSpPr txBox="1">
            <a:spLocks/>
          </p:cNvSpPr>
          <p:nvPr/>
        </p:nvSpPr>
        <p:spPr>
          <a:xfrm>
            <a:off x="1143000" y="2009554"/>
            <a:ext cx="7599680" cy="4024424"/>
          </a:xfrm>
          <a:prstGeom prst="rect">
            <a:avLst/>
          </a:prstGeom>
        </p:spPr>
        <p:txBody>
          <a:bodyPr>
            <a:normAutofit fontScale="70000" lnSpcReduction="20000"/>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fr-FR">
                <a:solidFill>
                  <a:srgbClr val="374151"/>
                </a:solidFill>
                <a:latin typeface="Söhne"/>
              </a:rPr>
              <a:t>une section importante qui décrit de manière détaillée les mesures thérapeutiques et les soins médicaux prévus pour le patient pendant son séjour à l'hôpital. </a:t>
            </a:r>
          </a:p>
          <a:p>
            <a:r>
              <a:rPr lang="fr-FR">
                <a:solidFill>
                  <a:srgbClr val="374151"/>
                </a:solidFill>
                <a:latin typeface="Söhne"/>
              </a:rPr>
              <a:t>Ce plan de traitement est élaboré en fonction du diagnostic principal, des antécédents médicaux du patient, de l'évaluation clinique et des objectifs de soins.</a:t>
            </a:r>
          </a:p>
          <a:p>
            <a:r>
              <a:rPr lang="fr-FR">
                <a:solidFill>
                  <a:srgbClr val="374151"/>
                </a:solidFill>
                <a:latin typeface="Söhne"/>
              </a:rPr>
              <a:t> Voici ce que vous pourriez inclure dans cette section :</a:t>
            </a:r>
          </a:p>
          <a:p>
            <a:pPr lvl="2">
              <a:buFont typeface="Wingdings" pitchFamily="2" charset="2"/>
              <a:buChar char="ü"/>
            </a:pPr>
            <a:r>
              <a:rPr lang="fr-FR" sz="2200" b="1">
                <a:solidFill>
                  <a:srgbClr val="374151"/>
                </a:solidFill>
                <a:latin typeface="Söhne"/>
              </a:rPr>
              <a:t>Médicaments :</a:t>
            </a:r>
            <a:endParaRPr lang="fr-FR" sz="2200">
              <a:solidFill>
                <a:srgbClr val="374151"/>
              </a:solidFill>
              <a:latin typeface="Söhne"/>
            </a:endParaRPr>
          </a:p>
          <a:p>
            <a:pPr lvl="3">
              <a:buFont typeface="Wingdings" pitchFamily="2" charset="2"/>
              <a:buChar char="Ø"/>
            </a:pPr>
            <a:r>
              <a:rPr lang="fr-FR" sz="1900">
                <a:solidFill>
                  <a:srgbClr val="374151"/>
                </a:solidFill>
                <a:latin typeface="Söhne"/>
              </a:rPr>
              <a:t>Listez tous les médicaments prescrits. </a:t>
            </a:r>
          </a:p>
          <a:p>
            <a:pPr lvl="3">
              <a:buFont typeface="Wingdings" pitchFamily="2" charset="2"/>
              <a:buChar char="Ø"/>
            </a:pPr>
            <a:r>
              <a:rPr lang="fr-FR" sz="1900">
                <a:solidFill>
                  <a:srgbClr val="374151"/>
                </a:solidFill>
                <a:latin typeface="Söhne"/>
              </a:rPr>
              <a:t>la dose, la voie d'administration et la fréquence.</a:t>
            </a:r>
          </a:p>
          <a:p>
            <a:pPr lvl="2">
              <a:buFont typeface="Wingdings" pitchFamily="2" charset="2"/>
              <a:buChar char="ü"/>
            </a:pPr>
            <a:r>
              <a:rPr lang="fr-FR" sz="2200" b="1">
                <a:solidFill>
                  <a:srgbClr val="374151"/>
                </a:solidFill>
                <a:latin typeface="Söhne"/>
              </a:rPr>
              <a:t>Traitements :</a:t>
            </a:r>
          </a:p>
          <a:p>
            <a:pPr lvl="3">
              <a:buFont typeface="Wingdings" pitchFamily="2" charset="2"/>
              <a:buChar char="Ø"/>
            </a:pPr>
            <a:r>
              <a:rPr lang="fr-FR" sz="1900">
                <a:solidFill>
                  <a:srgbClr val="374151"/>
                </a:solidFill>
                <a:latin typeface="Söhne"/>
              </a:rPr>
              <a:t>tels que la chimiothérapie, la physiothérapie, la réadaptation, la dialyse, etc.</a:t>
            </a:r>
          </a:p>
          <a:p>
            <a:pPr lvl="2">
              <a:buFont typeface="Wingdings" pitchFamily="2" charset="2"/>
              <a:buChar char="ü"/>
            </a:pPr>
            <a:r>
              <a:rPr lang="fr-FR" sz="2200" b="1">
                <a:solidFill>
                  <a:srgbClr val="374151"/>
                </a:solidFill>
                <a:latin typeface="Söhne"/>
              </a:rPr>
              <a:t>Procédures médicales :</a:t>
            </a:r>
            <a:endParaRPr lang="fr-FR" sz="2200">
              <a:solidFill>
                <a:srgbClr val="374151"/>
              </a:solidFill>
              <a:latin typeface="Söhne"/>
            </a:endParaRPr>
          </a:p>
          <a:p>
            <a:pPr lvl="3">
              <a:buFont typeface="Wingdings" pitchFamily="2" charset="2"/>
              <a:buChar char="ü"/>
            </a:pPr>
            <a:r>
              <a:rPr lang="fr-FR" sz="1900">
                <a:solidFill>
                  <a:srgbClr val="374151"/>
                </a:solidFill>
                <a:latin typeface="Söhne"/>
              </a:rPr>
              <a:t>Mentionnez les interventions médicales planifiées, telles que la chirurgie, les procédures d'imagerie médicale, les biopsies, etc.</a:t>
            </a:r>
          </a:p>
          <a:p>
            <a:endParaRPr lang="fr-DZ" dirty="0"/>
          </a:p>
        </p:txBody>
      </p:sp>
    </p:spTree>
    <p:extLst>
      <p:ext uri="{BB962C8B-B14F-4D97-AF65-F5344CB8AC3E}">
        <p14:creationId xmlns:p14="http://schemas.microsoft.com/office/powerpoint/2010/main" val="7378221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DCE6F1"/>
        </a:solidFill>
        <a:effectLst/>
      </p:bgPr>
    </p:bg>
    <p:spTree>
      <p:nvGrpSpPr>
        <p:cNvPr id="1" name="">
          <a:extLst>
            <a:ext uri="{FF2B5EF4-FFF2-40B4-BE49-F238E27FC236}">
              <a16:creationId xmlns:a16="http://schemas.microsoft.com/office/drawing/2014/main" id="{134C4CC4-444D-1701-D0E2-437402E54194}"/>
            </a:ext>
          </a:extLst>
        </p:cNvPr>
        <p:cNvGrpSpPr/>
        <p:nvPr/>
      </p:nvGrpSpPr>
      <p:grpSpPr>
        <a:xfrm>
          <a:off x="0" y="0"/>
          <a:ext cx="0" cy="0"/>
          <a:chOff x="0" y="0"/>
          <a:chExt cx="0" cy="0"/>
        </a:xfrm>
      </p:grpSpPr>
      <p:sp>
        <p:nvSpPr>
          <p:cNvPr id="2" name="Oval 1">
            <a:extLst>
              <a:ext uri="{FF2B5EF4-FFF2-40B4-BE49-F238E27FC236}">
                <a16:creationId xmlns:a16="http://schemas.microsoft.com/office/drawing/2014/main" id="{3C6D3499-81FA-012A-A66F-4A057F7813AA}"/>
              </a:ext>
            </a:extLst>
          </p:cNvPr>
          <p:cNvSpPr/>
          <p:nvPr/>
        </p:nvSpPr>
        <p:spPr>
          <a:xfrm>
            <a:off x="7772400" y="182880"/>
            <a:ext cx="914400" cy="914400"/>
          </a:xfrm>
          <a:prstGeom prst="ellipse">
            <a:avLst/>
          </a:prstGeom>
          <a:solidFill>
            <a:srgbClr val="CC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EACFFB8B-685C-0A79-7A88-21FC89C5C5A0}"/>
              </a:ext>
            </a:extLst>
          </p:cNvPr>
          <p:cNvSpPr txBox="1"/>
          <p:nvPr/>
        </p:nvSpPr>
        <p:spPr>
          <a:xfrm>
            <a:off x="457200" y="457200"/>
            <a:ext cx="8229600" cy="914400"/>
          </a:xfrm>
          <a:prstGeom prst="rect">
            <a:avLst/>
          </a:prstGeom>
          <a:noFill/>
        </p:spPr>
        <p:txBody>
          <a:bodyPr wrap="square">
            <a:spAutoFit/>
          </a:bodyPr>
          <a:lstStyle/>
          <a:p>
            <a:pPr algn="l">
              <a:defRPr sz="3600" b="1">
                <a:solidFill>
                  <a:srgbClr val="003366"/>
                </a:solidFill>
              </a:defRPr>
            </a:pPr>
            <a:r>
              <a:t>TD – Thérapeutiques Cardiovasculaires</a:t>
            </a:r>
          </a:p>
        </p:txBody>
      </p:sp>
      <p:sp>
        <p:nvSpPr>
          <p:cNvPr id="5" name="TextBox 4">
            <a:extLst>
              <a:ext uri="{FF2B5EF4-FFF2-40B4-BE49-F238E27FC236}">
                <a16:creationId xmlns:a16="http://schemas.microsoft.com/office/drawing/2014/main" id="{D995801A-1860-7F7D-B5FC-6EEE1A5AF353}"/>
              </a:ext>
            </a:extLst>
          </p:cNvPr>
          <p:cNvSpPr txBox="1"/>
          <p:nvPr/>
        </p:nvSpPr>
        <p:spPr>
          <a:xfrm>
            <a:off x="457200" y="6400800"/>
            <a:ext cx="8229600" cy="274320"/>
          </a:xfrm>
          <a:prstGeom prst="rect">
            <a:avLst/>
          </a:prstGeom>
          <a:noFill/>
        </p:spPr>
        <p:txBody>
          <a:bodyPr wrap="none">
            <a:spAutoFit/>
          </a:bodyPr>
          <a:lstStyle/>
          <a:p>
            <a:pPr algn="ctr">
              <a:defRPr sz="1200">
                <a:solidFill>
                  <a:srgbClr val="003366"/>
                </a:solidFill>
              </a:defRPr>
            </a:pPr>
            <a:r>
              <a:t>Service de Cardiologie – CHU Constantine</a:t>
            </a:r>
          </a:p>
        </p:txBody>
      </p:sp>
      <p:sp>
        <p:nvSpPr>
          <p:cNvPr id="6" name="Rectangle 5">
            <a:extLst>
              <a:ext uri="{FF2B5EF4-FFF2-40B4-BE49-F238E27FC236}">
                <a16:creationId xmlns:a16="http://schemas.microsoft.com/office/drawing/2014/main" id="{4408F963-D918-A01B-E776-5A7938FB6C52}"/>
              </a:ext>
            </a:extLst>
          </p:cNvPr>
          <p:cNvSpPr/>
          <p:nvPr/>
        </p:nvSpPr>
        <p:spPr>
          <a:xfrm>
            <a:off x="457200" y="6675120"/>
            <a:ext cx="357808" cy="9144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itre 1">
            <a:extLst>
              <a:ext uri="{FF2B5EF4-FFF2-40B4-BE49-F238E27FC236}">
                <a16:creationId xmlns:a16="http://schemas.microsoft.com/office/drawing/2014/main" id="{B8B66A52-43FD-A2F8-0030-274B9156DE70}"/>
              </a:ext>
            </a:extLst>
          </p:cNvPr>
          <p:cNvSpPr txBox="1">
            <a:spLocks/>
          </p:cNvSpPr>
          <p:nvPr/>
        </p:nvSpPr>
        <p:spPr>
          <a:xfrm>
            <a:off x="-254000" y="1153161"/>
            <a:ext cx="9906000" cy="1382156"/>
          </a:xfrm>
          <a:prstGeom prst="rect">
            <a:avLst/>
          </a:prstGeom>
        </p:spPr>
        <p:txBody>
          <a:bodyPr>
            <a:normAutofit fontScale="97500"/>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fr-DZ" sz="4100" b="1">
                <a:latin typeface="Baskerville SemiBold" panose="02020502070401020303" pitchFamily="18" charset="0"/>
                <a:ea typeface="Baskerville SemiBold" panose="02020502070401020303" pitchFamily="18" charset="0"/>
              </a:rPr>
              <a:t>Instructions pour l'Équipe Soignante </a:t>
            </a:r>
            <a:br>
              <a:rPr lang="fr-DZ" b="1" kern="0">
                <a:latin typeface="Segoe UI" panose="020B0502040204020203" pitchFamily="34" charset="0"/>
                <a:ea typeface="Times New Roman" panose="02020603050405020304" pitchFamily="18" charset="0"/>
                <a:cs typeface="Arial" panose="020B0604020202020204" pitchFamily="34" charset="0"/>
              </a:rPr>
            </a:br>
            <a:endParaRPr lang="fr-DZ" dirty="0"/>
          </a:p>
        </p:txBody>
      </p:sp>
      <p:sp>
        <p:nvSpPr>
          <p:cNvPr id="8" name="Espace réservé du contenu 2">
            <a:extLst>
              <a:ext uri="{FF2B5EF4-FFF2-40B4-BE49-F238E27FC236}">
                <a16:creationId xmlns:a16="http://schemas.microsoft.com/office/drawing/2014/main" id="{798AAAB0-F4B3-3DDA-A30E-0D5D1350B0E9}"/>
              </a:ext>
            </a:extLst>
          </p:cNvPr>
          <p:cNvSpPr txBox="1">
            <a:spLocks/>
          </p:cNvSpPr>
          <p:nvPr/>
        </p:nvSpPr>
        <p:spPr>
          <a:xfrm>
            <a:off x="1143000" y="2009554"/>
            <a:ext cx="7818120" cy="4024424"/>
          </a:xfrm>
          <a:prstGeom prst="rect">
            <a:avLst/>
          </a:prstGeom>
        </p:spPr>
        <p:txBody>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fr-FR" sz="2400" dirty="0">
                <a:solidFill>
                  <a:srgbClr val="374151"/>
                </a:solidFill>
                <a:latin typeface="Söhne"/>
              </a:rPr>
              <a:t>les instructions pour l'équipe soignante dans une fiche thérapeutique pour un patient hospitalisé sont des informations essentielles destinées à guider les professionnels de santé dans la prise en charge du patient. Ces instructions visent à assurer que les soins sont cohérents, adaptés aux besoins du patient et respectent les protocoles de traitement. </a:t>
            </a:r>
            <a:endParaRPr lang="fr-DZ" sz="2400" dirty="0"/>
          </a:p>
        </p:txBody>
      </p:sp>
    </p:spTree>
    <p:extLst>
      <p:ext uri="{BB962C8B-B14F-4D97-AF65-F5344CB8AC3E}">
        <p14:creationId xmlns:p14="http://schemas.microsoft.com/office/powerpoint/2010/main" val="3885609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DCE6F1"/>
        </a:solidFill>
        <a:effectLst/>
      </p:bgPr>
    </p:bg>
    <p:spTree>
      <p:nvGrpSpPr>
        <p:cNvPr id="1" name=""/>
        <p:cNvGrpSpPr/>
        <p:nvPr/>
      </p:nvGrpSpPr>
      <p:grpSpPr>
        <a:xfrm>
          <a:off x="0" y="0"/>
          <a:ext cx="0" cy="0"/>
          <a:chOff x="0" y="0"/>
          <a:chExt cx="0" cy="0"/>
        </a:xfrm>
      </p:grpSpPr>
      <p:sp>
        <p:nvSpPr>
          <p:cNvPr id="2" name="Oval 1"/>
          <p:cNvSpPr/>
          <p:nvPr/>
        </p:nvSpPr>
        <p:spPr>
          <a:xfrm>
            <a:off x="7772400" y="182880"/>
            <a:ext cx="914400" cy="914400"/>
          </a:xfrm>
          <a:prstGeom prst="ellipse">
            <a:avLst/>
          </a:prstGeom>
          <a:solidFill>
            <a:srgbClr val="CC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457200"/>
            <a:ext cx="8229600" cy="914400"/>
          </a:xfrm>
          <a:prstGeom prst="rect">
            <a:avLst/>
          </a:prstGeom>
          <a:noFill/>
        </p:spPr>
        <p:txBody>
          <a:bodyPr wrap="square">
            <a:spAutoFit/>
          </a:bodyPr>
          <a:lstStyle/>
          <a:p>
            <a:pPr algn="l">
              <a:defRPr sz="2800" b="1">
                <a:solidFill>
                  <a:srgbClr val="003366"/>
                </a:solidFill>
              </a:defRPr>
            </a:pPr>
            <a:r>
              <a:t>Objectifs pédagogiques</a:t>
            </a:r>
          </a:p>
        </p:txBody>
      </p:sp>
      <p:sp>
        <p:nvSpPr>
          <p:cNvPr id="4" name="TextBox 3"/>
          <p:cNvSpPr txBox="1"/>
          <p:nvPr/>
        </p:nvSpPr>
        <p:spPr>
          <a:xfrm>
            <a:off x="457200" y="1645920"/>
            <a:ext cx="8229600" cy="1938992"/>
          </a:xfrm>
          <a:prstGeom prst="rect">
            <a:avLst/>
          </a:prstGeom>
          <a:noFill/>
        </p:spPr>
        <p:txBody>
          <a:bodyPr wrap="square">
            <a:spAutoFit/>
          </a:bodyPr>
          <a:lstStyle/>
          <a:p>
            <a:pPr>
              <a:defRPr sz="2000">
                <a:solidFill>
                  <a:srgbClr val="000000"/>
                </a:solidFill>
              </a:defRPr>
            </a:pPr>
            <a:r>
              <a:rPr lang="fr-FR" dirty="0"/>
              <a:t>•  </a:t>
            </a:r>
            <a:r>
              <a:rPr dirty="0" err="1"/>
              <a:t>Connaître</a:t>
            </a:r>
            <a:r>
              <a:rPr dirty="0"/>
              <a:t> les </a:t>
            </a:r>
            <a:r>
              <a:rPr dirty="0" err="1"/>
              <a:t>principales</a:t>
            </a:r>
            <a:r>
              <a:rPr dirty="0"/>
              <a:t> classes de </a:t>
            </a:r>
            <a:r>
              <a:rPr dirty="0" err="1"/>
              <a:t>thérapeutiques</a:t>
            </a:r>
            <a:r>
              <a:rPr dirty="0"/>
              <a:t> </a:t>
            </a:r>
            <a:r>
              <a:rPr dirty="0" err="1"/>
              <a:t>cardiovasculaires</a:t>
            </a:r>
            <a:br>
              <a:rPr dirty="0"/>
            </a:br>
            <a:r>
              <a:rPr dirty="0"/>
              <a:t>• </a:t>
            </a:r>
            <a:r>
              <a:rPr dirty="0" err="1"/>
              <a:t>Comprendre</a:t>
            </a:r>
            <a:r>
              <a:rPr dirty="0"/>
              <a:t> </a:t>
            </a:r>
            <a:r>
              <a:rPr dirty="0" err="1"/>
              <a:t>mécanismes</a:t>
            </a:r>
            <a:r>
              <a:rPr dirty="0"/>
              <a:t> et indications</a:t>
            </a:r>
            <a:br>
              <a:rPr dirty="0"/>
            </a:br>
            <a:r>
              <a:rPr dirty="0"/>
              <a:t>• </a:t>
            </a:r>
            <a:r>
              <a:rPr dirty="0" err="1"/>
              <a:t>Posologies</a:t>
            </a:r>
            <a:r>
              <a:rPr dirty="0"/>
              <a:t> </a:t>
            </a:r>
            <a:r>
              <a:rPr dirty="0" err="1"/>
              <a:t>usuelles</a:t>
            </a:r>
            <a:r>
              <a:rPr dirty="0"/>
              <a:t> et EI</a:t>
            </a:r>
            <a:br>
              <a:rPr dirty="0"/>
            </a:br>
            <a:r>
              <a:rPr dirty="0"/>
              <a:t>• CI et surveillance</a:t>
            </a:r>
            <a:br>
              <a:rPr dirty="0"/>
            </a:br>
            <a:r>
              <a:rPr dirty="0"/>
              <a:t>Durée : 45–60 min</a:t>
            </a:r>
            <a:br>
              <a:rPr dirty="0"/>
            </a:br>
            <a:r>
              <a:rPr dirty="0"/>
              <a:t>Public : 4ème </a:t>
            </a:r>
            <a:r>
              <a:rPr dirty="0" err="1"/>
              <a:t>année</a:t>
            </a:r>
            <a:endParaRPr dirty="0"/>
          </a:p>
        </p:txBody>
      </p:sp>
      <p:sp>
        <p:nvSpPr>
          <p:cNvPr id="5" name="TextBox 4"/>
          <p:cNvSpPr txBox="1"/>
          <p:nvPr/>
        </p:nvSpPr>
        <p:spPr>
          <a:xfrm>
            <a:off x="457200" y="6400800"/>
            <a:ext cx="8229600" cy="274320"/>
          </a:xfrm>
          <a:prstGeom prst="rect">
            <a:avLst/>
          </a:prstGeom>
          <a:noFill/>
        </p:spPr>
        <p:txBody>
          <a:bodyPr wrap="none">
            <a:spAutoFit/>
          </a:bodyPr>
          <a:lstStyle/>
          <a:p>
            <a:pPr algn="ctr">
              <a:defRPr sz="1200">
                <a:solidFill>
                  <a:srgbClr val="003366"/>
                </a:solidFill>
              </a:defRPr>
            </a:pPr>
            <a:r>
              <a:t>Service de Cardiologie – CHU Constantine</a:t>
            </a:r>
          </a:p>
        </p:txBody>
      </p:sp>
      <p:sp>
        <p:nvSpPr>
          <p:cNvPr id="6" name="Rectangle 5"/>
          <p:cNvSpPr/>
          <p:nvPr/>
        </p:nvSpPr>
        <p:spPr>
          <a:xfrm>
            <a:off x="457200" y="6675120"/>
            <a:ext cx="715617" cy="9144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DCE6F1"/>
        </a:solidFill>
        <a:effectLst/>
      </p:bgPr>
    </p:bg>
    <p:spTree>
      <p:nvGrpSpPr>
        <p:cNvPr id="1" name=""/>
        <p:cNvGrpSpPr/>
        <p:nvPr/>
      </p:nvGrpSpPr>
      <p:grpSpPr>
        <a:xfrm>
          <a:off x="0" y="0"/>
          <a:ext cx="0" cy="0"/>
          <a:chOff x="0" y="0"/>
          <a:chExt cx="0" cy="0"/>
        </a:xfrm>
      </p:grpSpPr>
      <p:sp>
        <p:nvSpPr>
          <p:cNvPr id="2" name="Oval 1"/>
          <p:cNvSpPr/>
          <p:nvPr/>
        </p:nvSpPr>
        <p:spPr>
          <a:xfrm>
            <a:off x="7772400" y="182880"/>
            <a:ext cx="914400" cy="914400"/>
          </a:xfrm>
          <a:prstGeom prst="ellipse">
            <a:avLst/>
          </a:prstGeom>
          <a:solidFill>
            <a:srgbClr val="CC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457200"/>
            <a:ext cx="8229600" cy="914400"/>
          </a:xfrm>
          <a:prstGeom prst="rect">
            <a:avLst/>
          </a:prstGeom>
          <a:noFill/>
        </p:spPr>
        <p:txBody>
          <a:bodyPr wrap="square">
            <a:spAutoFit/>
          </a:bodyPr>
          <a:lstStyle/>
          <a:p>
            <a:pPr algn="l">
              <a:defRPr sz="2800" b="1">
                <a:solidFill>
                  <a:srgbClr val="003366"/>
                </a:solidFill>
              </a:defRPr>
            </a:pPr>
            <a:r>
              <a:t>Plan du TD</a:t>
            </a:r>
          </a:p>
        </p:txBody>
      </p:sp>
      <p:sp>
        <p:nvSpPr>
          <p:cNvPr id="4" name="TextBox 3"/>
          <p:cNvSpPr txBox="1"/>
          <p:nvPr/>
        </p:nvSpPr>
        <p:spPr>
          <a:xfrm>
            <a:off x="457200" y="1645920"/>
            <a:ext cx="8229600" cy="5029200"/>
          </a:xfrm>
          <a:prstGeom prst="rect">
            <a:avLst/>
          </a:prstGeom>
          <a:noFill/>
        </p:spPr>
        <p:txBody>
          <a:bodyPr wrap="square">
            <a:spAutoFit/>
          </a:bodyPr>
          <a:lstStyle/>
          <a:p>
            <a:pPr algn="l">
              <a:defRPr sz="2000">
                <a:solidFill>
                  <a:srgbClr val="000000"/>
                </a:solidFill>
              </a:defRPr>
            </a:pPr>
            <a:r>
              <a:t>• IEC</a:t>
            </a:r>
            <a:br/>
            <a:r>
              <a:t>• ARA II</a:t>
            </a:r>
            <a:br/>
            <a:r>
              <a:t>• BB</a:t>
            </a:r>
            <a:br/>
            <a:r>
              <a:t>• ICa</a:t>
            </a:r>
            <a:br/>
            <a:r>
              <a:t>• Diurétiques</a:t>
            </a:r>
            <a:br/>
            <a:r>
              <a:t>• SGLT2i</a:t>
            </a:r>
            <a:br/>
            <a:r>
              <a:t>• Antiagrégants / Anticoagulants</a:t>
            </a:r>
            <a:br/>
            <a:r>
              <a:t>• Antiarythmiques</a:t>
            </a:r>
            <a:br/>
            <a:r>
              <a:t>• Statines</a:t>
            </a:r>
            <a:br/>
            <a:r>
              <a:t>• Cas cliniques</a:t>
            </a:r>
            <a:br/>
            <a:r>
              <a:t>• QCM</a:t>
            </a:r>
          </a:p>
        </p:txBody>
      </p:sp>
      <p:sp>
        <p:nvSpPr>
          <p:cNvPr id="5" name="TextBox 4"/>
          <p:cNvSpPr txBox="1"/>
          <p:nvPr/>
        </p:nvSpPr>
        <p:spPr>
          <a:xfrm>
            <a:off x="457200" y="6400800"/>
            <a:ext cx="8229600" cy="274320"/>
          </a:xfrm>
          <a:prstGeom prst="rect">
            <a:avLst/>
          </a:prstGeom>
          <a:noFill/>
        </p:spPr>
        <p:txBody>
          <a:bodyPr wrap="none">
            <a:spAutoFit/>
          </a:bodyPr>
          <a:lstStyle/>
          <a:p>
            <a:pPr algn="ctr">
              <a:defRPr sz="1200">
                <a:solidFill>
                  <a:srgbClr val="003366"/>
                </a:solidFill>
              </a:defRPr>
            </a:pPr>
            <a:r>
              <a:t>Service de Cardiologie – CHU Constantine</a:t>
            </a:r>
          </a:p>
        </p:txBody>
      </p:sp>
      <p:sp>
        <p:nvSpPr>
          <p:cNvPr id="6" name="Rectangle 5"/>
          <p:cNvSpPr/>
          <p:nvPr/>
        </p:nvSpPr>
        <p:spPr>
          <a:xfrm>
            <a:off x="457200" y="6675120"/>
            <a:ext cx="1073426" cy="9144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DCE6F1"/>
        </a:solidFill>
        <a:effectLst/>
      </p:bgPr>
    </p:bg>
    <p:spTree>
      <p:nvGrpSpPr>
        <p:cNvPr id="1" name=""/>
        <p:cNvGrpSpPr/>
        <p:nvPr/>
      </p:nvGrpSpPr>
      <p:grpSpPr>
        <a:xfrm>
          <a:off x="0" y="0"/>
          <a:ext cx="0" cy="0"/>
          <a:chOff x="0" y="0"/>
          <a:chExt cx="0" cy="0"/>
        </a:xfrm>
      </p:grpSpPr>
      <p:sp>
        <p:nvSpPr>
          <p:cNvPr id="2" name="Oval 1"/>
          <p:cNvSpPr/>
          <p:nvPr/>
        </p:nvSpPr>
        <p:spPr>
          <a:xfrm>
            <a:off x="7772400" y="182880"/>
            <a:ext cx="914400" cy="914400"/>
          </a:xfrm>
          <a:prstGeom prst="ellipse">
            <a:avLst/>
          </a:prstGeom>
          <a:solidFill>
            <a:srgbClr val="CC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457200"/>
            <a:ext cx="8229600" cy="914400"/>
          </a:xfrm>
          <a:prstGeom prst="rect">
            <a:avLst/>
          </a:prstGeom>
          <a:noFill/>
        </p:spPr>
        <p:txBody>
          <a:bodyPr wrap="square">
            <a:spAutoFit/>
          </a:bodyPr>
          <a:lstStyle/>
          <a:p>
            <a:pPr algn="l">
              <a:defRPr sz="2800" b="1">
                <a:solidFill>
                  <a:srgbClr val="003366"/>
                </a:solidFill>
              </a:defRPr>
            </a:pPr>
            <a:r>
              <a:t>IEC – Mécanisme d’action</a:t>
            </a:r>
          </a:p>
        </p:txBody>
      </p:sp>
      <p:sp>
        <p:nvSpPr>
          <p:cNvPr id="4" name="TextBox 3"/>
          <p:cNvSpPr txBox="1"/>
          <p:nvPr/>
        </p:nvSpPr>
        <p:spPr>
          <a:xfrm>
            <a:off x="457200" y="1645920"/>
            <a:ext cx="8229600" cy="5029200"/>
          </a:xfrm>
          <a:prstGeom prst="rect">
            <a:avLst/>
          </a:prstGeom>
          <a:noFill/>
        </p:spPr>
        <p:txBody>
          <a:bodyPr wrap="square">
            <a:spAutoFit/>
          </a:bodyPr>
          <a:lstStyle/>
          <a:p>
            <a:pPr algn="l">
              <a:defRPr sz="2000">
                <a:solidFill>
                  <a:srgbClr val="000000"/>
                </a:solidFill>
              </a:defRPr>
            </a:pPr>
            <a:r>
              <a:t>Inhibition de l’enz. de conversion → ↓ Angiotensine II → vasodilatation</a:t>
            </a:r>
            <a:br/>
            <a:r>
              <a:t>↓ Aldostérone → ↓ rétention Na⁺/H₂O</a:t>
            </a:r>
            <a:br/>
            <a:r>
              <a:t>Effet : ↓ TA, ↓ remodelage cardiaque</a:t>
            </a:r>
          </a:p>
        </p:txBody>
      </p:sp>
      <p:sp>
        <p:nvSpPr>
          <p:cNvPr id="5" name="TextBox 4"/>
          <p:cNvSpPr txBox="1"/>
          <p:nvPr/>
        </p:nvSpPr>
        <p:spPr>
          <a:xfrm>
            <a:off x="457200" y="6400800"/>
            <a:ext cx="8229600" cy="274320"/>
          </a:xfrm>
          <a:prstGeom prst="rect">
            <a:avLst/>
          </a:prstGeom>
          <a:noFill/>
        </p:spPr>
        <p:txBody>
          <a:bodyPr wrap="none">
            <a:spAutoFit/>
          </a:bodyPr>
          <a:lstStyle/>
          <a:p>
            <a:pPr algn="ctr">
              <a:defRPr sz="1200">
                <a:solidFill>
                  <a:srgbClr val="003366"/>
                </a:solidFill>
              </a:defRPr>
            </a:pPr>
            <a:r>
              <a:t>Service de Cardiologie – CHU Constantine</a:t>
            </a:r>
          </a:p>
        </p:txBody>
      </p:sp>
      <p:sp>
        <p:nvSpPr>
          <p:cNvPr id="6" name="Rectangle 5"/>
          <p:cNvSpPr/>
          <p:nvPr/>
        </p:nvSpPr>
        <p:spPr>
          <a:xfrm>
            <a:off x="457200" y="6675120"/>
            <a:ext cx="1431234" cy="9144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DCE6F1"/>
        </a:solidFill>
        <a:effectLst/>
      </p:bgPr>
    </p:bg>
    <p:spTree>
      <p:nvGrpSpPr>
        <p:cNvPr id="1" name=""/>
        <p:cNvGrpSpPr/>
        <p:nvPr/>
      </p:nvGrpSpPr>
      <p:grpSpPr>
        <a:xfrm>
          <a:off x="0" y="0"/>
          <a:ext cx="0" cy="0"/>
          <a:chOff x="0" y="0"/>
          <a:chExt cx="0" cy="0"/>
        </a:xfrm>
      </p:grpSpPr>
      <p:sp>
        <p:nvSpPr>
          <p:cNvPr id="2" name="Oval 1"/>
          <p:cNvSpPr/>
          <p:nvPr/>
        </p:nvSpPr>
        <p:spPr>
          <a:xfrm>
            <a:off x="7772400" y="182880"/>
            <a:ext cx="914400" cy="914400"/>
          </a:xfrm>
          <a:prstGeom prst="ellipse">
            <a:avLst/>
          </a:prstGeom>
          <a:solidFill>
            <a:srgbClr val="CC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457200"/>
            <a:ext cx="8229600" cy="914400"/>
          </a:xfrm>
          <a:prstGeom prst="rect">
            <a:avLst/>
          </a:prstGeom>
          <a:noFill/>
        </p:spPr>
        <p:txBody>
          <a:bodyPr wrap="square">
            <a:spAutoFit/>
          </a:bodyPr>
          <a:lstStyle/>
          <a:p>
            <a:pPr algn="l">
              <a:defRPr sz="2800" b="1">
                <a:solidFill>
                  <a:srgbClr val="003366"/>
                </a:solidFill>
              </a:defRPr>
            </a:pPr>
            <a:r>
              <a:t>IEC – Posologie &amp; Surveillance</a:t>
            </a:r>
          </a:p>
        </p:txBody>
      </p:sp>
      <p:sp>
        <p:nvSpPr>
          <p:cNvPr id="4" name="TextBox 3"/>
          <p:cNvSpPr txBox="1"/>
          <p:nvPr/>
        </p:nvSpPr>
        <p:spPr>
          <a:xfrm>
            <a:off x="457200" y="1645920"/>
            <a:ext cx="8229600" cy="1938992"/>
          </a:xfrm>
          <a:prstGeom prst="rect">
            <a:avLst/>
          </a:prstGeom>
          <a:noFill/>
        </p:spPr>
        <p:txBody>
          <a:bodyPr wrap="square">
            <a:spAutoFit/>
          </a:bodyPr>
          <a:lstStyle/>
          <a:p>
            <a:pPr>
              <a:defRPr sz="2000">
                <a:solidFill>
                  <a:srgbClr val="000000"/>
                </a:solidFill>
              </a:defRPr>
            </a:pPr>
            <a:r>
              <a:rPr lang="fr-FR" dirty="0"/>
              <a:t>Captopril, </a:t>
            </a:r>
            <a:r>
              <a:rPr lang="fr-FR" dirty="0" err="1"/>
              <a:t>Enalapril</a:t>
            </a:r>
            <a:r>
              <a:rPr lang="fr-FR" dirty="0"/>
              <a:t>, </a:t>
            </a:r>
            <a:r>
              <a:rPr lang="fr-FR" dirty="0" err="1"/>
              <a:t>lisinopril</a:t>
            </a:r>
            <a:r>
              <a:rPr lang="fr-FR" dirty="0"/>
              <a:t>, </a:t>
            </a:r>
            <a:r>
              <a:rPr lang="fr-FR" dirty="0" err="1"/>
              <a:t>Perindopril</a:t>
            </a:r>
            <a:r>
              <a:rPr lang="fr-FR" dirty="0"/>
              <a:t>, Ramipril</a:t>
            </a:r>
          </a:p>
          <a:p>
            <a:pPr>
              <a:defRPr sz="2000">
                <a:solidFill>
                  <a:srgbClr val="000000"/>
                </a:solidFill>
              </a:defRPr>
            </a:pPr>
            <a:r>
              <a:rPr lang="fr-FR" dirty="0"/>
              <a:t>Indications: HTA, insuffisance cardiaque, post SCA( prévention remodelage)</a:t>
            </a:r>
            <a:br>
              <a:rPr dirty="0"/>
            </a:br>
            <a:r>
              <a:rPr dirty="0"/>
              <a:t>Poso : 2,5–10 mg/j</a:t>
            </a:r>
            <a:br>
              <a:rPr dirty="0"/>
            </a:br>
            <a:r>
              <a:rPr dirty="0"/>
              <a:t>Surveillance : TA, </a:t>
            </a:r>
            <a:r>
              <a:rPr dirty="0" err="1"/>
              <a:t>créatinine</a:t>
            </a:r>
            <a:r>
              <a:rPr dirty="0"/>
              <a:t>, K⁺</a:t>
            </a:r>
            <a:br>
              <a:rPr dirty="0"/>
            </a:br>
            <a:r>
              <a:rPr dirty="0"/>
              <a:t>EI : </a:t>
            </a:r>
            <a:r>
              <a:rPr dirty="0" err="1"/>
              <a:t>toux</a:t>
            </a:r>
            <a:r>
              <a:rPr dirty="0"/>
              <a:t> </a:t>
            </a:r>
            <a:r>
              <a:rPr dirty="0" err="1"/>
              <a:t>sèche</a:t>
            </a:r>
            <a:r>
              <a:rPr dirty="0"/>
              <a:t>, </a:t>
            </a:r>
            <a:r>
              <a:rPr dirty="0" err="1"/>
              <a:t>hyperK</a:t>
            </a:r>
            <a:r>
              <a:rPr dirty="0"/>
              <a:t>⁺, hypotension</a:t>
            </a:r>
            <a:r>
              <a:rPr lang="fr-FR" dirty="0"/>
              <a:t>, </a:t>
            </a:r>
            <a:r>
              <a:rPr lang="fr-FR" dirty="0" err="1"/>
              <a:t>angioedeme</a:t>
            </a:r>
            <a:br>
              <a:rPr dirty="0"/>
            </a:br>
            <a:r>
              <a:rPr dirty="0"/>
              <a:t>CI : </a:t>
            </a:r>
            <a:r>
              <a:rPr dirty="0" err="1"/>
              <a:t>sténose</a:t>
            </a:r>
            <a:r>
              <a:rPr dirty="0"/>
              <a:t> </a:t>
            </a:r>
            <a:r>
              <a:rPr dirty="0" err="1"/>
              <a:t>bilatérale</a:t>
            </a:r>
            <a:r>
              <a:rPr dirty="0"/>
              <a:t> </a:t>
            </a:r>
            <a:r>
              <a:rPr dirty="0" err="1"/>
              <a:t>artères</a:t>
            </a:r>
            <a:r>
              <a:rPr dirty="0"/>
              <a:t> </a:t>
            </a:r>
            <a:r>
              <a:rPr dirty="0" err="1"/>
              <a:t>rénales</a:t>
            </a:r>
            <a:r>
              <a:rPr lang="fr-FR" dirty="0"/>
              <a:t>, grossesse, </a:t>
            </a:r>
            <a:r>
              <a:rPr lang="fr-FR" dirty="0" err="1"/>
              <a:t>hyperkaliemie</a:t>
            </a:r>
            <a:endParaRPr lang="fr-FR" dirty="0"/>
          </a:p>
        </p:txBody>
      </p:sp>
      <p:sp>
        <p:nvSpPr>
          <p:cNvPr id="5" name="TextBox 4"/>
          <p:cNvSpPr txBox="1"/>
          <p:nvPr/>
        </p:nvSpPr>
        <p:spPr>
          <a:xfrm>
            <a:off x="457200" y="6400800"/>
            <a:ext cx="8229600" cy="274320"/>
          </a:xfrm>
          <a:prstGeom prst="rect">
            <a:avLst/>
          </a:prstGeom>
          <a:noFill/>
        </p:spPr>
        <p:txBody>
          <a:bodyPr wrap="none">
            <a:spAutoFit/>
          </a:bodyPr>
          <a:lstStyle/>
          <a:p>
            <a:pPr algn="ctr">
              <a:defRPr sz="1200">
                <a:solidFill>
                  <a:srgbClr val="003366"/>
                </a:solidFill>
              </a:defRPr>
            </a:pPr>
            <a:r>
              <a:t>Service de Cardiologie – CHU Constantine</a:t>
            </a:r>
          </a:p>
        </p:txBody>
      </p:sp>
      <p:sp>
        <p:nvSpPr>
          <p:cNvPr id="6" name="Rectangle 5"/>
          <p:cNvSpPr/>
          <p:nvPr/>
        </p:nvSpPr>
        <p:spPr>
          <a:xfrm>
            <a:off x="457200" y="6675120"/>
            <a:ext cx="1789043" cy="9144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DCE6F1"/>
        </a:solidFill>
        <a:effectLst/>
      </p:bgPr>
    </p:bg>
    <p:spTree>
      <p:nvGrpSpPr>
        <p:cNvPr id="1" name=""/>
        <p:cNvGrpSpPr/>
        <p:nvPr/>
      </p:nvGrpSpPr>
      <p:grpSpPr>
        <a:xfrm>
          <a:off x="0" y="0"/>
          <a:ext cx="0" cy="0"/>
          <a:chOff x="0" y="0"/>
          <a:chExt cx="0" cy="0"/>
        </a:xfrm>
      </p:grpSpPr>
      <p:sp>
        <p:nvSpPr>
          <p:cNvPr id="2" name="Oval 1"/>
          <p:cNvSpPr/>
          <p:nvPr/>
        </p:nvSpPr>
        <p:spPr>
          <a:xfrm>
            <a:off x="7772400" y="182880"/>
            <a:ext cx="914400" cy="914400"/>
          </a:xfrm>
          <a:prstGeom prst="ellipse">
            <a:avLst/>
          </a:prstGeom>
          <a:solidFill>
            <a:srgbClr val="CC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457200"/>
            <a:ext cx="8229600" cy="914400"/>
          </a:xfrm>
          <a:prstGeom prst="rect">
            <a:avLst/>
          </a:prstGeom>
          <a:noFill/>
        </p:spPr>
        <p:txBody>
          <a:bodyPr wrap="square">
            <a:spAutoFit/>
          </a:bodyPr>
          <a:lstStyle/>
          <a:p>
            <a:pPr algn="l">
              <a:defRPr sz="2800" b="1">
                <a:solidFill>
                  <a:srgbClr val="003366"/>
                </a:solidFill>
              </a:defRPr>
            </a:pPr>
            <a:r>
              <a:t>ARA II – Mécanisme</a:t>
            </a:r>
          </a:p>
        </p:txBody>
      </p:sp>
      <p:sp>
        <p:nvSpPr>
          <p:cNvPr id="4" name="TextBox 3"/>
          <p:cNvSpPr txBox="1"/>
          <p:nvPr/>
        </p:nvSpPr>
        <p:spPr>
          <a:xfrm>
            <a:off x="457200" y="1645920"/>
            <a:ext cx="8229600" cy="5029200"/>
          </a:xfrm>
          <a:prstGeom prst="rect">
            <a:avLst/>
          </a:prstGeom>
          <a:noFill/>
        </p:spPr>
        <p:txBody>
          <a:bodyPr wrap="square">
            <a:spAutoFit/>
          </a:bodyPr>
          <a:lstStyle/>
          <a:p>
            <a:pPr algn="l">
              <a:defRPr sz="2000">
                <a:solidFill>
                  <a:srgbClr val="000000"/>
                </a:solidFill>
              </a:defRPr>
            </a:pPr>
            <a:r>
              <a:t>Bloc des récepteurs AT1 → ↓ vasoconstriction et aldostérone</a:t>
            </a:r>
            <a:br/>
            <a:r>
              <a:t>Effet : similaire IEC mais sans toux</a:t>
            </a:r>
          </a:p>
        </p:txBody>
      </p:sp>
      <p:sp>
        <p:nvSpPr>
          <p:cNvPr id="5" name="TextBox 4"/>
          <p:cNvSpPr txBox="1"/>
          <p:nvPr/>
        </p:nvSpPr>
        <p:spPr>
          <a:xfrm>
            <a:off x="457200" y="6400800"/>
            <a:ext cx="8229600" cy="274320"/>
          </a:xfrm>
          <a:prstGeom prst="rect">
            <a:avLst/>
          </a:prstGeom>
          <a:noFill/>
        </p:spPr>
        <p:txBody>
          <a:bodyPr wrap="none">
            <a:spAutoFit/>
          </a:bodyPr>
          <a:lstStyle/>
          <a:p>
            <a:pPr algn="ctr">
              <a:defRPr sz="1200">
                <a:solidFill>
                  <a:srgbClr val="003366"/>
                </a:solidFill>
              </a:defRPr>
            </a:pPr>
            <a:r>
              <a:t>Service de Cardiologie – CHU Constantine</a:t>
            </a:r>
          </a:p>
        </p:txBody>
      </p:sp>
      <p:sp>
        <p:nvSpPr>
          <p:cNvPr id="6" name="Rectangle 5"/>
          <p:cNvSpPr/>
          <p:nvPr/>
        </p:nvSpPr>
        <p:spPr>
          <a:xfrm>
            <a:off x="457200" y="6675120"/>
            <a:ext cx="2146852" cy="9144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DCE6F1"/>
        </a:solidFill>
        <a:effectLst/>
      </p:bgPr>
    </p:bg>
    <p:spTree>
      <p:nvGrpSpPr>
        <p:cNvPr id="1" name=""/>
        <p:cNvGrpSpPr/>
        <p:nvPr/>
      </p:nvGrpSpPr>
      <p:grpSpPr>
        <a:xfrm>
          <a:off x="0" y="0"/>
          <a:ext cx="0" cy="0"/>
          <a:chOff x="0" y="0"/>
          <a:chExt cx="0" cy="0"/>
        </a:xfrm>
      </p:grpSpPr>
      <p:sp>
        <p:nvSpPr>
          <p:cNvPr id="2" name="Oval 1"/>
          <p:cNvSpPr/>
          <p:nvPr/>
        </p:nvSpPr>
        <p:spPr>
          <a:xfrm>
            <a:off x="7772400" y="182880"/>
            <a:ext cx="914400" cy="914400"/>
          </a:xfrm>
          <a:prstGeom prst="ellipse">
            <a:avLst/>
          </a:prstGeom>
          <a:solidFill>
            <a:srgbClr val="CC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457200"/>
            <a:ext cx="8229600" cy="914400"/>
          </a:xfrm>
          <a:prstGeom prst="rect">
            <a:avLst/>
          </a:prstGeom>
          <a:noFill/>
        </p:spPr>
        <p:txBody>
          <a:bodyPr wrap="square">
            <a:spAutoFit/>
          </a:bodyPr>
          <a:lstStyle/>
          <a:p>
            <a:pPr algn="l">
              <a:defRPr sz="2800" b="1">
                <a:solidFill>
                  <a:srgbClr val="003366"/>
                </a:solidFill>
              </a:defRPr>
            </a:pPr>
            <a:r>
              <a:t>ARA II – Posologie &amp; Surveillance</a:t>
            </a:r>
          </a:p>
        </p:txBody>
      </p:sp>
      <p:sp>
        <p:nvSpPr>
          <p:cNvPr id="4" name="TextBox 3"/>
          <p:cNvSpPr txBox="1"/>
          <p:nvPr/>
        </p:nvSpPr>
        <p:spPr>
          <a:xfrm>
            <a:off x="457200" y="1645920"/>
            <a:ext cx="8229600" cy="5029200"/>
          </a:xfrm>
          <a:prstGeom prst="rect">
            <a:avLst/>
          </a:prstGeom>
          <a:noFill/>
        </p:spPr>
        <p:txBody>
          <a:bodyPr wrap="square">
            <a:spAutoFit/>
          </a:bodyPr>
          <a:lstStyle/>
          <a:p>
            <a:pPr algn="l">
              <a:defRPr sz="2000">
                <a:solidFill>
                  <a:srgbClr val="000000"/>
                </a:solidFill>
              </a:defRPr>
            </a:pPr>
            <a:r>
              <a:t>Losartan 50–100 mg/j</a:t>
            </a:r>
            <a:br/>
            <a:r>
              <a:t>Indications : HTA, IC si intolérance IEC</a:t>
            </a:r>
            <a:br/>
            <a:r>
              <a:t>Surveillance : TA, K⁺, créatinine</a:t>
            </a:r>
          </a:p>
        </p:txBody>
      </p:sp>
      <p:sp>
        <p:nvSpPr>
          <p:cNvPr id="5" name="TextBox 4"/>
          <p:cNvSpPr txBox="1"/>
          <p:nvPr/>
        </p:nvSpPr>
        <p:spPr>
          <a:xfrm>
            <a:off x="457200" y="6400800"/>
            <a:ext cx="8229600" cy="274320"/>
          </a:xfrm>
          <a:prstGeom prst="rect">
            <a:avLst/>
          </a:prstGeom>
          <a:noFill/>
        </p:spPr>
        <p:txBody>
          <a:bodyPr wrap="none">
            <a:spAutoFit/>
          </a:bodyPr>
          <a:lstStyle/>
          <a:p>
            <a:pPr algn="ctr">
              <a:defRPr sz="1200">
                <a:solidFill>
                  <a:srgbClr val="003366"/>
                </a:solidFill>
              </a:defRPr>
            </a:pPr>
            <a:r>
              <a:t>Service de Cardiologie – CHU Constantine</a:t>
            </a:r>
          </a:p>
        </p:txBody>
      </p:sp>
      <p:sp>
        <p:nvSpPr>
          <p:cNvPr id="6" name="Rectangle 5"/>
          <p:cNvSpPr/>
          <p:nvPr/>
        </p:nvSpPr>
        <p:spPr>
          <a:xfrm>
            <a:off x="457200" y="6675120"/>
            <a:ext cx="2504660" cy="9144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DCE6F1"/>
        </a:solidFill>
        <a:effectLst/>
      </p:bgPr>
    </p:bg>
    <p:spTree>
      <p:nvGrpSpPr>
        <p:cNvPr id="1" name="">
          <a:extLst>
            <a:ext uri="{FF2B5EF4-FFF2-40B4-BE49-F238E27FC236}">
              <a16:creationId xmlns:a16="http://schemas.microsoft.com/office/drawing/2014/main" id="{51FA0E20-7BDD-2727-D42F-96750B66DF76}"/>
            </a:ext>
          </a:extLst>
        </p:cNvPr>
        <p:cNvGrpSpPr/>
        <p:nvPr/>
      </p:nvGrpSpPr>
      <p:grpSpPr>
        <a:xfrm>
          <a:off x="0" y="0"/>
          <a:ext cx="0" cy="0"/>
          <a:chOff x="0" y="0"/>
          <a:chExt cx="0" cy="0"/>
        </a:xfrm>
      </p:grpSpPr>
      <p:sp>
        <p:nvSpPr>
          <p:cNvPr id="2" name="Oval 1">
            <a:extLst>
              <a:ext uri="{FF2B5EF4-FFF2-40B4-BE49-F238E27FC236}">
                <a16:creationId xmlns:a16="http://schemas.microsoft.com/office/drawing/2014/main" id="{21C16682-8A42-EF87-52D5-5EE35C2BE262}"/>
              </a:ext>
            </a:extLst>
          </p:cNvPr>
          <p:cNvSpPr/>
          <p:nvPr/>
        </p:nvSpPr>
        <p:spPr>
          <a:xfrm>
            <a:off x="7772400" y="182880"/>
            <a:ext cx="914400" cy="914400"/>
          </a:xfrm>
          <a:prstGeom prst="ellipse">
            <a:avLst/>
          </a:prstGeom>
          <a:solidFill>
            <a:srgbClr val="CC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901E5587-7D1E-222F-E61E-11141F0EA478}"/>
              </a:ext>
            </a:extLst>
          </p:cNvPr>
          <p:cNvSpPr txBox="1"/>
          <p:nvPr/>
        </p:nvSpPr>
        <p:spPr>
          <a:xfrm>
            <a:off x="457200" y="457200"/>
            <a:ext cx="8229600" cy="523220"/>
          </a:xfrm>
          <a:prstGeom prst="rect">
            <a:avLst/>
          </a:prstGeom>
          <a:noFill/>
        </p:spPr>
        <p:txBody>
          <a:bodyPr wrap="square">
            <a:spAutoFit/>
          </a:bodyPr>
          <a:lstStyle/>
          <a:p>
            <a:pPr algn="l">
              <a:defRPr sz="2800" b="1">
                <a:solidFill>
                  <a:srgbClr val="003366"/>
                </a:solidFill>
              </a:defRPr>
            </a:pPr>
            <a:r>
              <a:rPr dirty="0"/>
              <a:t>BB – </a:t>
            </a:r>
            <a:r>
              <a:rPr lang="fr-FR" dirty="0"/>
              <a:t>Classe et </a:t>
            </a:r>
            <a:r>
              <a:rPr lang="fr-FR" dirty="0" err="1"/>
              <a:t>selectivité</a:t>
            </a:r>
            <a:endParaRPr dirty="0"/>
          </a:p>
        </p:txBody>
      </p:sp>
      <p:sp>
        <p:nvSpPr>
          <p:cNvPr id="5" name="TextBox 4">
            <a:extLst>
              <a:ext uri="{FF2B5EF4-FFF2-40B4-BE49-F238E27FC236}">
                <a16:creationId xmlns:a16="http://schemas.microsoft.com/office/drawing/2014/main" id="{055E3EE1-DD4D-AB93-B9DC-5491BB91F5FB}"/>
              </a:ext>
            </a:extLst>
          </p:cNvPr>
          <p:cNvSpPr txBox="1"/>
          <p:nvPr/>
        </p:nvSpPr>
        <p:spPr>
          <a:xfrm>
            <a:off x="457200" y="6400800"/>
            <a:ext cx="8229600" cy="274320"/>
          </a:xfrm>
          <a:prstGeom prst="rect">
            <a:avLst/>
          </a:prstGeom>
          <a:noFill/>
        </p:spPr>
        <p:txBody>
          <a:bodyPr wrap="none">
            <a:spAutoFit/>
          </a:bodyPr>
          <a:lstStyle/>
          <a:p>
            <a:pPr algn="ctr">
              <a:defRPr sz="1200">
                <a:solidFill>
                  <a:srgbClr val="003366"/>
                </a:solidFill>
              </a:defRPr>
            </a:pPr>
            <a:r>
              <a:t>Service de Cardiologie – CHU Constantine</a:t>
            </a:r>
          </a:p>
        </p:txBody>
      </p:sp>
      <p:sp>
        <p:nvSpPr>
          <p:cNvPr id="6" name="Rectangle 5">
            <a:extLst>
              <a:ext uri="{FF2B5EF4-FFF2-40B4-BE49-F238E27FC236}">
                <a16:creationId xmlns:a16="http://schemas.microsoft.com/office/drawing/2014/main" id="{8ECF5FC3-84ED-6F8C-EEC8-F1DA2E63E828}"/>
              </a:ext>
            </a:extLst>
          </p:cNvPr>
          <p:cNvSpPr/>
          <p:nvPr/>
        </p:nvSpPr>
        <p:spPr>
          <a:xfrm>
            <a:off x="457200" y="6675120"/>
            <a:ext cx="2862469" cy="9144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7" name="Tableau 6">
            <a:extLst>
              <a:ext uri="{FF2B5EF4-FFF2-40B4-BE49-F238E27FC236}">
                <a16:creationId xmlns:a16="http://schemas.microsoft.com/office/drawing/2014/main" id="{57BB7027-CD3A-A620-AA9C-955CF0ACF8C4}"/>
              </a:ext>
            </a:extLst>
          </p:cNvPr>
          <p:cNvGraphicFramePr>
            <a:graphicFrameLocks noGrp="1"/>
          </p:cNvGraphicFramePr>
          <p:nvPr>
            <p:extLst>
              <p:ext uri="{D42A27DB-BD31-4B8C-83A1-F6EECF244321}">
                <p14:modId xmlns:p14="http://schemas.microsoft.com/office/powerpoint/2010/main" val="3698296226"/>
              </p:ext>
            </p:extLst>
          </p:nvPr>
        </p:nvGraphicFramePr>
        <p:xfrm>
          <a:off x="644013" y="1249825"/>
          <a:ext cx="6096000" cy="5052935"/>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3375864497"/>
                    </a:ext>
                  </a:extLst>
                </a:gridCol>
                <a:gridCol w="2032000">
                  <a:extLst>
                    <a:ext uri="{9D8B030D-6E8A-4147-A177-3AD203B41FA5}">
                      <a16:colId xmlns:a16="http://schemas.microsoft.com/office/drawing/2014/main" val="536025339"/>
                    </a:ext>
                  </a:extLst>
                </a:gridCol>
                <a:gridCol w="2032000">
                  <a:extLst>
                    <a:ext uri="{9D8B030D-6E8A-4147-A177-3AD203B41FA5}">
                      <a16:colId xmlns:a16="http://schemas.microsoft.com/office/drawing/2014/main" val="345026989"/>
                    </a:ext>
                  </a:extLst>
                </a:gridCol>
              </a:tblGrid>
              <a:tr h="846695">
                <a:tc>
                  <a:txBody>
                    <a:bodyPr/>
                    <a:lstStyle/>
                    <a:p>
                      <a:r>
                        <a:rPr lang="fr-FR" dirty="0"/>
                        <a:t>Classe</a:t>
                      </a:r>
                    </a:p>
                  </a:txBody>
                  <a:tcPr/>
                </a:tc>
                <a:tc>
                  <a:txBody>
                    <a:bodyPr/>
                    <a:lstStyle/>
                    <a:p>
                      <a:r>
                        <a:rPr lang="fr-FR" dirty="0"/>
                        <a:t>Molécules</a:t>
                      </a:r>
                    </a:p>
                  </a:txBody>
                  <a:tcPr/>
                </a:tc>
                <a:tc>
                  <a:txBody>
                    <a:bodyPr/>
                    <a:lstStyle/>
                    <a:p>
                      <a:r>
                        <a:rPr lang="fr-FR" dirty="0" err="1"/>
                        <a:t>Caracteristique</a:t>
                      </a:r>
                      <a:endParaRPr lang="fr-FR" dirty="0"/>
                    </a:p>
                  </a:txBody>
                  <a:tcPr/>
                </a:tc>
                <a:extLst>
                  <a:ext uri="{0D108BD9-81ED-4DB2-BD59-A6C34878D82A}">
                    <a16:rowId xmlns:a16="http://schemas.microsoft.com/office/drawing/2014/main" val="3758138430"/>
                  </a:ext>
                </a:extLst>
              </a:tr>
              <a:tr h="1070546">
                <a:tc>
                  <a:txBody>
                    <a:bodyPr/>
                    <a:lstStyle/>
                    <a:p>
                      <a:r>
                        <a:rPr lang="fr-FR" dirty="0" err="1"/>
                        <a:t>Cardioséléctifs</a:t>
                      </a:r>
                      <a:r>
                        <a:rPr lang="fr-FR" dirty="0"/>
                        <a:t> (B1)</a:t>
                      </a:r>
                    </a:p>
                  </a:txBody>
                  <a:tcPr/>
                </a:tc>
                <a:tc>
                  <a:txBody>
                    <a:bodyPr/>
                    <a:lstStyle/>
                    <a:p>
                      <a:r>
                        <a:rPr lang="fr-FR" dirty="0"/>
                        <a:t>Bisoprolol, </a:t>
                      </a:r>
                      <a:r>
                        <a:rPr lang="fr-FR" dirty="0" err="1"/>
                        <a:t>Métoprolol</a:t>
                      </a:r>
                      <a:r>
                        <a:rPr lang="fr-FR" dirty="0"/>
                        <a:t>, Aténolol, </a:t>
                      </a:r>
                      <a:r>
                        <a:rPr lang="fr-FR" dirty="0" err="1"/>
                        <a:t>Nébivolol</a:t>
                      </a:r>
                      <a:r>
                        <a:rPr lang="fr-FR" dirty="0"/>
                        <a:t>, </a:t>
                      </a:r>
                      <a:r>
                        <a:rPr lang="fr-FR" dirty="0" err="1"/>
                        <a:t>Acebutolol</a:t>
                      </a:r>
                      <a:endParaRPr lang="fr-FR" dirty="0"/>
                    </a:p>
                  </a:txBody>
                  <a:tcPr/>
                </a:tc>
                <a:tc>
                  <a:txBody>
                    <a:bodyPr/>
                    <a:lstStyle/>
                    <a:p>
                      <a:r>
                        <a:rPr lang="fr-FR" dirty="0"/>
                        <a:t>Moins d’effet bronchique, moins de dysfonction </a:t>
                      </a:r>
                      <a:r>
                        <a:rPr lang="fr-FR" dirty="0" err="1"/>
                        <a:t>erectile</a:t>
                      </a:r>
                      <a:endParaRPr lang="fr-FR" dirty="0"/>
                    </a:p>
                  </a:txBody>
                  <a:tcPr/>
                </a:tc>
                <a:extLst>
                  <a:ext uri="{0D108BD9-81ED-4DB2-BD59-A6C34878D82A}">
                    <a16:rowId xmlns:a16="http://schemas.microsoft.com/office/drawing/2014/main" val="1584655350"/>
                  </a:ext>
                </a:extLst>
              </a:tr>
              <a:tr h="823497">
                <a:tc>
                  <a:txBody>
                    <a:bodyPr/>
                    <a:lstStyle/>
                    <a:p>
                      <a:r>
                        <a:rPr lang="fr-FR" dirty="0"/>
                        <a:t>Non </a:t>
                      </a:r>
                      <a:r>
                        <a:rPr lang="fr-FR" dirty="0" err="1"/>
                        <a:t>séléctifs</a:t>
                      </a:r>
                      <a:r>
                        <a:rPr lang="fr-FR" dirty="0"/>
                        <a:t> (B1 + B2)</a:t>
                      </a:r>
                    </a:p>
                  </a:txBody>
                  <a:tcPr/>
                </a:tc>
                <a:tc>
                  <a:txBody>
                    <a:bodyPr/>
                    <a:lstStyle/>
                    <a:p>
                      <a:r>
                        <a:rPr lang="fr-FR" dirty="0"/>
                        <a:t>Propranolol, </a:t>
                      </a:r>
                      <a:r>
                        <a:rPr lang="fr-FR" dirty="0" err="1"/>
                        <a:t>Nadolol</a:t>
                      </a:r>
                      <a:r>
                        <a:rPr lang="fr-FR" dirty="0"/>
                        <a:t>, Carvédilol, </a:t>
                      </a:r>
                      <a:r>
                        <a:rPr lang="fr-FR" dirty="0" err="1"/>
                        <a:t>labetalol</a:t>
                      </a:r>
                      <a:endParaRPr lang="fr-FR" dirty="0"/>
                    </a:p>
                  </a:txBody>
                  <a:tcPr/>
                </a:tc>
                <a:tc>
                  <a:txBody>
                    <a:bodyPr/>
                    <a:lstStyle/>
                    <a:p>
                      <a:r>
                        <a:rPr lang="fr-FR" dirty="0"/>
                        <a:t>Risque de bronchospasme</a:t>
                      </a:r>
                    </a:p>
                  </a:txBody>
                  <a:tcPr/>
                </a:tc>
                <a:extLst>
                  <a:ext uri="{0D108BD9-81ED-4DB2-BD59-A6C34878D82A}">
                    <a16:rowId xmlns:a16="http://schemas.microsoft.com/office/drawing/2014/main" val="1636076680"/>
                  </a:ext>
                </a:extLst>
              </a:tr>
              <a:tr h="823497">
                <a:tc>
                  <a:txBody>
                    <a:bodyPr/>
                    <a:lstStyle/>
                    <a:p>
                      <a:r>
                        <a:rPr lang="fr-FR" dirty="0"/>
                        <a:t>Activité vasodilatatrice</a:t>
                      </a:r>
                    </a:p>
                  </a:txBody>
                  <a:tcPr/>
                </a:tc>
                <a:tc>
                  <a:txBody>
                    <a:bodyPr/>
                    <a:lstStyle/>
                    <a:p>
                      <a:r>
                        <a:rPr lang="fr-FR" dirty="0"/>
                        <a:t>Carvédilol(</a:t>
                      </a:r>
                      <a:r>
                        <a:rPr lang="fr-FR" dirty="0" err="1"/>
                        <a:t>a+B</a:t>
                      </a:r>
                      <a:r>
                        <a:rPr lang="fr-FR" dirty="0"/>
                        <a:t>)</a:t>
                      </a:r>
                    </a:p>
                    <a:p>
                      <a:r>
                        <a:rPr lang="fr-FR" dirty="0" err="1"/>
                        <a:t>Labetalol</a:t>
                      </a:r>
                      <a:r>
                        <a:rPr lang="fr-FR" dirty="0"/>
                        <a:t>, </a:t>
                      </a:r>
                      <a:r>
                        <a:rPr lang="fr-FR" dirty="0" err="1"/>
                        <a:t>Nébivolol</a:t>
                      </a:r>
                      <a:r>
                        <a:rPr lang="fr-FR" dirty="0"/>
                        <a:t> ( via NO)</a:t>
                      </a:r>
                    </a:p>
                  </a:txBody>
                  <a:tcPr/>
                </a:tc>
                <a:tc>
                  <a:txBody>
                    <a:bodyPr/>
                    <a:lstStyle/>
                    <a:p>
                      <a:r>
                        <a:rPr lang="fr-FR" dirty="0"/>
                        <a:t>Baisse des </a:t>
                      </a:r>
                      <a:r>
                        <a:rPr lang="fr-FR" dirty="0" err="1"/>
                        <a:t>resistance</a:t>
                      </a:r>
                      <a:r>
                        <a:rPr lang="fr-FR" dirty="0"/>
                        <a:t> </a:t>
                      </a:r>
                      <a:r>
                        <a:rPr lang="fr-FR" dirty="0" err="1"/>
                        <a:t>péripherique</a:t>
                      </a:r>
                      <a:r>
                        <a:rPr lang="fr-FR" dirty="0"/>
                        <a:t> ( HTA)</a:t>
                      </a:r>
                    </a:p>
                  </a:txBody>
                  <a:tcPr/>
                </a:tc>
                <a:extLst>
                  <a:ext uri="{0D108BD9-81ED-4DB2-BD59-A6C34878D82A}">
                    <a16:rowId xmlns:a16="http://schemas.microsoft.com/office/drawing/2014/main" val="4260188052"/>
                  </a:ext>
                </a:extLst>
              </a:tr>
              <a:tr h="1070546">
                <a:tc>
                  <a:txBody>
                    <a:bodyPr/>
                    <a:lstStyle/>
                    <a:p>
                      <a:r>
                        <a:rPr lang="fr-FR" dirty="0"/>
                        <a:t>Activité </a:t>
                      </a:r>
                      <a:r>
                        <a:rPr lang="fr-FR" dirty="0" err="1"/>
                        <a:t>stmpathomimétique</a:t>
                      </a:r>
                      <a:r>
                        <a:rPr lang="fr-FR" dirty="0"/>
                        <a:t> </a:t>
                      </a:r>
                      <a:r>
                        <a:rPr lang="fr-FR" dirty="0" err="1"/>
                        <a:t>intrinseque</a:t>
                      </a:r>
                      <a:endParaRPr lang="fr-FR" dirty="0"/>
                    </a:p>
                  </a:txBody>
                  <a:tcPr/>
                </a:tc>
                <a:tc>
                  <a:txBody>
                    <a:bodyPr/>
                    <a:lstStyle/>
                    <a:p>
                      <a:r>
                        <a:rPr lang="fr-FR" dirty="0" err="1"/>
                        <a:t>Acebutolol</a:t>
                      </a:r>
                      <a:r>
                        <a:rPr lang="fr-FR" dirty="0"/>
                        <a:t>, </a:t>
                      </a:r>
                      <a:r>
                        <a:rPr lang="fr-FR" dirty="0" err="1"/>
                        <a:t>pindolol</a:t>
                      </a:r>
                      <a:endParaRPr lang="fr-FR" dirty="0"/>
                    </a:p>
                  </a:txBody>
                  <a:tcPr/>
                </a:tc>
                <a:tc>
                  <a:txBody>
                    <a:bodyPr/>
                    <a:lstStyle/>
                    <a:p>
                      <a:r>
                        <a:rPr lang="fr-FR" dirty="0"/>
                        <a:t>Moins de bradycardie, moins de troubles </a:t>
                      </a:r>
                      <a:r>
                        <a:rPr lang="fr-FR" dirty="0" err="1"/>
                        <a:t>metabolique</a:t>
                      </a:r>
                      <a:endParaRPr lang="fr-FR" dirty="0"/>
                    </a:p>
                  </a:txBody>
                  <a:tcPr/>
                </a:tc>
                <a:extLst>
                  <a:ext uri="{0D108BD9-81ED-4DB2-BD59-A6C34878D82A}">
                    <a16:rowId xmlns:a16="http://schemas.microsoft.com/office/drawing/2014/main" val="3439679527"/>
                  </a:ext>
                </a:extLst>
              </a:tr>
            </a:tbl>
          </a:graphicData>
        </a:graphic>
      </p:graphicFrame>
    </p:spTree>
    <p:extLst>
      <p:ext uri="{BB962C8B-B14F-4D97-AF65-F5344CB8AC3E}">
        <p14:creationId xmlns:p14="http://schemas.microsoft.com/office/powerpoint/2010/main" val="37749658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DCE6F1"/>
        </a:solidFill>
        <a:effectLst/>
      </p:bgPr>
    </p:bg>
    <p:spTree>
      <p:nvGrpSpPr>
        <p:cNvPr id="1" name=""/>
        <p:cNvGrpSpPr/>
        <p:nvPr/>
      </p:nvGrpSpPr>
      <p:grpSpPr>
        <a:xfrm>
          <a:off x="0" y="0"/>
          <a:ext cx="0" cy="0"/>
          <a:chOff x="0" y="0"/>
          <a:chExt cx="0" cy="0"/>
        </a:xfrm>
      </p:grpSpPr>
      <p:sp>
        <p:nvSpPr>
          <p:cNvPr id="2" name="Oval 1"/>
          <p:cNvSpPr/>
          <p:nvPr/>
        </p:nvSpPr>
        <p:spPr>
          <a:xfrm>
            <a:off x="7772400" y="182880"/>
            <a:ext cx="914400" cy="914400"/>
          </a:xfrm>
          <a:prstGeom prst="ellipse">
            <a:avLst/>
          </a:prstGeom>
          <a:solidFill>
            <a:srgbClr val="CC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457200"/>
            <a:ext cx="8229600" cy="914400"/>
          </a:xfrm>
          <a:prstGeom prst="rect">
            <a:avLst/>
          </a:prstGeom>
          <a:noFill/>
        </p:spPr>
        <p:txBody>
          <a:bodyPr wrap="square">
            <a:spAutoFit/>
          </a:bodyPr>
          <a:lstStyle/>
          <a:p>
            <a:pPr algn="l">
              <a:defRPr sz="2800" b="1">
                <a:solidFill>
                  <a:srgbClr val="003366"/>
                </a:solidFill>
              </a:defRPr>
            </a:pPr>
            <a:r>
              <a:rPr dirty="0"/>
              <a:t>BB – </a:t>
            </a:r>
            <a:r>
              <a:rPr dirty="0" err="1"/>
              <a:t>Mécanisme</a:t>
            </a:r>
            <a:endParaRPr dirty="0"/>
          </a:p>
        </p:txBody>
      </p:sp>
      <p:sp>
        <p:nvSpPr>
          <p:cNvPr id="4" name="TextBox 3"/>
          <p:cNvSpPr txBox="1"/>
          <p:nvPr/>
        </p:nvSpPr>
        <p:spPr>
          <a:xfrm>
            <a:off x="457200" y="1645920"/>
            <a:ext cx="8229600" cy="5029200"/>
          </a:xfrm>
          <a:prstGeom prst="rect">
            <a:avLst/>
          </a:prstGeom>
          <a:noFill/>
        </p:spPr>
        <p:txBody>
          <a:bodyPr wrap="square">
            <a:spAutoFit/>
          </a:bodyPr>
          <a:lstStyle/>
          <a:p>
            <a:pPr algn="l">
              <a:defRPr sz="2000">
                <a:solidFill>
                  <a:srgbClr val="000000"/>
                </a:solidFill>
              </a:defRPr>
            </a:pPr>
            <a:r>
              <a:t>Bloc β1 cardiaque → ↓ FC, ↓ contractilité</a:t>
            </a:r>
            <a:br/>
            <a:r>
              <a:t>Bloc β1 rénal → ↓ rénine</a:t>
            </a:r>
            <a:br/>
            <a:r>
              <a:t>Effet : ↓ mortalité IC, ↓ TA, antiangoreux</a:t>
            </a:r>
          </a:p>
        </p:txBody>
      </p:sp>
      <p:sp>
        <p:nvSpPr>
          <p:cNvPr id="5" name="TextBox 4"/>
          <p:cNvSpPr txBox="1"/>
          <p:nvPr/>
        </p:nvSpPr>
        <p:spPr>
          <a:xfrm>
            <a:off x="457200" y="6400800"/>
            <a:ext cx="8229600" cy="274320"/>
          </a:xfrm>
          <a:prstGeom prst="rect">
            <a:avLst/>
          </a:prstGeom>
          <a:noFill/>
        </p:spPr>
        <p:txBody>
          <a:bodyPr wrap="none">
            <a:spAutoFit/>
          </a:bodyPr>
          <a:lstStyle/>
          <a:p>
            <a:pPr algn="ctr">
              <a:defRPr sz="1200">
                <a:solidFill>
                  <a:srgbClr val="003366"/>
                </a:solidFill>
              </a:defRPr>
            </a:pPr>
            <a:r>
              <a:t>Service de Cardiologie – CHU Constantine</a:t>
            </a:r>
          </a:p>
        </p:txBody>
      </p:sp>
      <p:sp>
        <p:nvSpPr>
          <p:cNvPr id="6" name="Rectangle 5"/>
          <p:cNvSpPr/>
          <p:nvPr/>
        </p:nvSpPr>
        <p:spPr>
          <a:xfrm>
            <a:off x="457200" y="6675120"/>
            <a:ext cx="2862469" cy="9144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DCE6F1"/>
        </a:solidFill>
        <a:effectLst/>
      </p:bgPr>
    </p:bg>
    <p:spTree>
      <p:nvGrpSpPr>
        <p:cNvPr id="1" name="">
          <a:extLst>
            <a:ext uri="{FF2B5EF4-FFF2-40B4-BE49-F238E27FC236}">
              <a16:creationId xmlns:a16="http://schemas.microsoft.com/office/drawing/2014/main" id="{26440C71-759E-23E1-9E26-2899C964DC2E}"/>
            </a:ext>
          </a:extLst>
        </p:cNvPr>
        <p:cNvGrpSpPr/>
        <p:nvPr/>
      </p:nvGrpSpPr>
      <p:grpSpPr>
        <a:xfrm>
          <a:off x="0" y="0"/>
          <a:ext cx="0" cy="0"/>
          <a:chOff x="0" y="0"/>
          <a:chExt cx="0" cy="0"/>
        </a:xfrm>
      </p:grpSpPr>
      <p:sp>
        <p:nvSpPr>
          <p:cNvPr id="2" name="Oval 1">
            <a:extLst>
              <a:ext uri="{FF2B5EF4-FFF2-40B4-BE49-F238E27FC236}">
                <a16:creationId xmlns:a16="http://schemas.microsoft.com/office/drawing/2014/main" id="{C3337E27-8223-A53B-9C73-4CE560B4FAC5}"/>
              </a:ext>
            </a:extLst>
          </p:cNvPr>
          <p:cNvSpPr/>
          <p:nvPr/>
        </p:nvSpPr>
        <p:spPr>
          <a:xfrm>
            <a:off x="7772400" y="182880"/>
            <a:ext cx="914400" cy="914400"/>
          </a:xfrm>
          <a:prstGeom prst="ellipse">
            <a:avLst/>
          </a:prstGeom>
          <a:solidFill>
            <a:srgbClr val="CC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8628D4F4-7A78-397B-C038-F1CEFAA4F0F0}"/>
              </a:ext>
            </a:extLst>
          </p:cNvPr>
          <p:cNvSpPr txBox="1"/>
          <p:nvPr/>
        </p:nvSpPr>
        <p:spPr>
          <a:xfrm>
            <a:off x="457200" y="457200"/>
            <a:ext cx="8229600" cy="523220"/>
          </a:xfrm>
          <a:prstGeom prst="rect">
            <a:avLst/>
          </a:prstGeom>
          <a:noFill/>
        </p:spPr>
        <p:txBody>
          <a:bodyPr wrap="square">
            <a:spAutoFit/>
          </a:bodyPr>
          <a:lstStyle/>
          <a:p>
            <a:pPr algn="l">
              <a:defRPr sz="2800" b="1">
                <a:solidFill>
                  <a:srgbClr val="003366"/>
                </a:solidFill>
              </a:defRPr>
            </a:pPr>
            <a:r>
              <a:rPr dirty="0"/>
              <a:t>BB –</a:t>
            </a:r>
            <a:r>
              <a:rPr lang="fr-FR" dirty="0"/>
              <a:t>Indication</a:t>
            </a:r>
            <a:endParaRPr dirty="0"/>
          </a:p>
        </p:txBody>
      </p:sp>
      <p:sp>
        <p:nvSpPr>
          <p:cNvPr id="4" name="TextBox 3">
            <a:extLst>
              <a:ext uri="{FF2B5EF4-FFF2-40B4-BE49-F238E27FC236}">
                <a16:creationId xmlns:a16="http://schemas.microsoft.com/office/drawing/2014/main" id="{DD8B93C4-10E6-4884-AAAA-2C9B91523D18}"/>
              </a:ext>
            </a:extLst>
          </p:cNvPr>
          <p:cNvSpPr txBox="1"/>
          <p:nvPr/>
        </p:nvSpPr>
        <p:spPr>
          <a:xfrm>
            <a:off x="457200" y="1645920"/>
            <a:ext cx="8229600" cy="1938992"/>
          </a:xfrm>
          <a:prstGeom prst="rect">
            <a:avLst/>
          </a:prstGeom>
          <a:noFill/>
        </p:spPr>
        <p:txBody>
          <a:bodyPr wrap="square">
            <a:spAutoFit/>
          </a:bodyPr>
          <a:lstStyle/>
          <a:p>
            <a:pPr marL="342900" indent="-342900" algn="l">
              <a:buFont typeface="Arial" panose="020B0604020202020204" pitchFamily="34" charset="0"/>
              <a:buChar char="•"/>
              <a:defRPr sz="2000">
                <a:solidFill>
                  <a:srgbClr val="000000"/>
                </a:solidFill>
              </a:defRPr>
            </a:pPr>
            <a:r>
              <a:rPr lang="fr-FR" b="1" dirty="0"/>
              <a:t>Insuffisance cardiaque chronique stable</a:t>
            </a:r>
            <a:r>
              <a:rPr lang="fr-FR" dirty="0"/>
              <a:t>: Bisoprolol, </a:t>
            </a:r>
            <a:r>
              <a:rPr lang="fr-FR" dirty="0" err="1"/>
              <a:t>Carvedilol</a:t>
            </a:r>
            <a:r>
              <a:rPr lang="fr-FR" dirty="0"/>
              <a:t>, </a:t>
            </a:r>
            <a:r>
              <a:rPr lang="fr-FR" dirty="0" err="1"/>
              <a:t>métoprolol</a:t>
            </a:r>
            <a:r>
              <a:rPr lang="fr-FR" dirty="0"/>
              <a:t> succinate, </a:t>
            </a:r>
            <a:r>
              <a:rPr lang="fr-FR" dirty="0" err="1"/>
              <a:t>nébivolol</a:t>
            </a:r>
            <a:endParaRPr lang="fr-FR" dirty="0"/>
          </a:p>
          <a:p>
            <a:pPr marL="342900" indent="-342900" algn="l">
              <a:buFont typeface="Arial" panose="020B0604020202020204" pitchFamily="34" charset="0"/>
              <a:buChar char="•"/>
              <a:defRPr sz="2000">
                <a:solidFill>
                  <a:srgbClr val="000000"/>
                </a:solidFill>
              </a:defRPr>
            </a:pPr>
            <a:r>
              <a:rPr lang="fr-FR" b="1" dirty="0"/>
              <a:t>HTA</a:t>
            </a:r>
          </a:p>
          <a:p>
            <a:pPr marL="342900" indent="-342900" algn="l">
              <a:buFont typeface="Arial" panose="020B0604020202020204" pitchFamily="34" charset="0"/>
              <a:buChar char="•"/>
              <a:defRPr sz="2000">
                <a:solidFill>
                  <a:srgbClr val="000000"/>
                </a:solidFill>
              </a:defRPr>
            </a:pPr>
            <a:r>
              <a:rPr lang="fr-FR" b="1" dirty="0"/>
              <a:t>Anti angoreux</a:t>
            </a:r>
          </a:p>
          <a:p>
            <a:pPr marL="342900" indent="-342900" algn="l">
              <a:buFont typeface="Arial" panose="020B0604020202020204" pitchFamily="34" charset="0"/>
              <a:buChar char="•"/>
              <a:defRPr sz="2000">
                <a:solidFill>
                  <a:srgbClr val="000000"/>
                </a:solidFill>
              </a:defRPr>
            </a:pPr>
            <a:r>
              <a:rPr lang="fr-FR" b="1" dirty="0"/>
              <a:t>Post SCA</a:t>
            </a:r>
          </a:p>
          <a:p>
            <a:pPr marL="342900" indent="-342900" algn="l">
              <a:buFont typeface="Arial" panose="020B0604020202020204" pitchFamily="34" charset="0"/>
              <a:buChar char="•"/>
              <a:defRPr sz="2000">
                <a:solidFill>
                  <a:srgbClr val="000000"/>
                </a:solidFill>
              </a:defRPr>
            </a:pPr>
            <a:r>
              <a:rPr lang="fr-FR" b="1" dirty="0"/>
              <a:t>Troubles du rythme</a:t>
            </a:r>
            <a:endParaRPr b="1" dirty="0"/>
          </a:p>
        </p:txBody>
      </p:sp>
      <p:sp>
        <p:nvSpPr>
          <p:cNvPr id="5" name="TextBox 4">
            <a:extLst>
              <a:ext uri="{FF2B5EF4-FFF2-40B4-BE49-F238E27FC236}">
                <a16:creationId xmlns:a16="http://schemas.microsoft.com/office/drawing/2014/main" id="{4AC45BCB-E519-228F-EBE8-CE1F57A3E039}"/>
              </a:ext>
            </a:extLst>
          </p:cNvPr>
          <p:cNvSpPr txBox="1"/>
          <p:nvPr/>
        </p:nvSpPr>
        <p:spPr>
          <a:xfrm>
            <a:off x="457200" y="6400800"/>
            <a:ext cx="8229600" cy="274320"/>
          </a:xfrm>
          <a:prstGeom prst="rect">
            <a:avLst/>
          </a:prstGeom>
          <a:noFill/>
        </p:spPr>
        <p:txBody>
          <a:bodyPr wrap="none">
            <a:spAutoFit/>
          </a:bodyPr>
          <a:lstStyle/>
          <a:p>
            <a:pPr algn="ctr">
              <a:defRPr sz="1200">
                <a:solidFill>
                  <a:srgbClr val="003366"/>
                </a:solidFill>
              </a:defRPr>
            </a:pPr>
            <a:r>
              <a:t>Service de Cardiologie – CHU Constantine</a:t>
            </a:r>
          </a:p>
        </p:txBody>
      </p:sp>
      <p:sp>
        <p:nvSpPr>
          <p:cNvPr id="6" name="Rectangle 5">
            <a:extLst>
              <a:ext uri="{FF2B5EF4-FFF2-40B4-BE49-F238E27FC236}">
                <a16:creationId xmlns:a16="http://schemas.microsoft.com/office/drawing/2014/main" id="{9170A09C-83C6-97CE-B2E4-42204C2EDE07}"/>
              </a:ext>
            </a:extLst>
          </p:cNvPr>
          <p:cNvSpPr/>
          <p:nvPr/>
        </p:nvSpPr>
        <p:spPr>
          <a:xfrm>
            <a:off x="457200" y="6675120"/>
            <a:ext cx="2862469" cy="9144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422742233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DCE6F1"/>
        </a:solidFill>
        <a:effectLst/>
      </p:bgPr>
    </p:bg>
    <p:spTree>
      <p:nvGrpSpPr>
        <p:cNvPr id="1" name=""/>
        <p:cNvGrpSpPr/>
        <p:nvPr/>
      </p:nvGrpSpPr>
      <p:grpSpPr>
        <a:xfrm>
          <a:off x="0" y="0"/>
          <a:ext cx="0" cy="0"/>
          <a:chOff x="0" y="0"/>
          <a:chExt cx="0" cy="0"/>
        </a:xfrm>
      </p:grpSpPr>
      <p:sp>
        <p:nvSpPr>
          <p:cNvPr id="2" name="Oval 1"/>
          <p:cNvSpPr/>
          <p:nvPr/>
        </p:nvSpPr>
        <p:spPr>
          <a:xfrm>
            <a:off x="7772400" y="182880"/>
            <a:ext cx="914400" cy="914400"/>
          </a:xfrm>
          <a:prstGeom prst="ellipse">
            <a:avLst/>
          </a:prstGeom>
          <a:solidFill>
            <a:srgbClr val="CC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457200"/>
            <a:ext cx="8229600" cy="914400"/>
          </a:xfrm>
          <a:prstGeom prst="rect">
            <a:avLst/>
          </a:prstGeom>
          <a:noFill/>
        </p:spPr>
        <p:txBody>
          <a:bodyPr wrap="square">
            <a:spAutoFit/>
          </a:bodyPr>
          <a:lstStyle/>
          <a:p>
            <a:pPr algn="l">
              <a:defRPr sz="2800" b="1">
                <a:solidFill>
                  <a:srgbClr val="003366"/>
                </a:solidFill>
              </a:defRPr>
            </a:pPr>
            <a:r>
              <a:t>BB – Posologie &amp; Surveillance</a:t>
            </a:r>
          </a:p>
        </p:txBody>
      </p:sp>
      <p:sp>
        <p:nvSpPr>
          <p:cNvPr id="4" name="TextBox 3"/>
          <p:cNvSpPr txBox="1"/>
          <p:nvPr/>
        </p:nvSpPr>
        <p:spPr>
          <a:xfrm>
            <a:off x="457200" y="1645920"/>
            <a:ext cx="8229600" cy="4708981"/>
          </a:xfrm>
          <a:prstGeom prst="rect">
            <a:avLst/>
          </a:prstGeom>
          <a:noFill/>
        </p:spPr>
        <p:txBody>
          <a:bodyPr wrap="square">
            <a:spAutoFit/>
          </a:bodyPr>
          <a:lstStyle/>
          <a:p>
            <a:pPr algn="l">
              <a:defRPr sz="2000">
                <a:solidFill>
                  <a:srgbClr val="000000"/>
                </a:solidFill>
              </a:defRPr>
            </a:pPr>
            <a:r>
              <a:rPr dirty="0"/>
              <a:t>Bisoprolol 2,5–10 mg/j</a:t>
            </a:r>
            <a:br>
              <a:rPr dirty="0"/>
            </a:br>
            <a:r>
              <a:rPr dirty="0"/>
              <a:t>Titration progressive</a:t>
            </a:r>
            <a:br>
              <a:rPr dirty="0"/>
            </a:br>
            <a:r>
              <a:rPr b="1" dirty="0"/>
              <a:t>Surveillance </a:t>
            </a:r>
            <a:r>
              <a:rPr dirty="0"/>
              <a:t>: FC, PA, fatigue, </a:t>
            </a:r>
            <a:r>
              <a:rPr dirty="0" err="1"/>
              <a:t>bronchospasme</a:t>
            </a:r>
            <a:r>
              <a:rPr lang="fr-FR" dirty="0"/>
              <a:t>, </a:t>
            </a:r>
            <a:r>
              <a:rPr lang="fr-FR" b="1" dirty="0">
                <a:solidFill>
                  <a:srgbClr val="FF0000"/>
                </a:solidFill>
              </a:rPr>
              <a:t>ne jamais </a:t>
            </a:r>
            <a:r>
              <a:rPr lang="fr-FR" b="1" dirty="0" err="1">
                <a:solidFill>
                  <a:srgbClr val="FF0000"/>
                </a:solidFill>
              </a:rPr>
              <a:t>arreter</a:t>
            </a:r>
            <a:r>
              <a:rPr lang="fr-FR" b="1" dirty="0">
                <a:solidFill>
                  <a:srgbClr val="FF0000"/>
                </a:solidFill>
              </a:rPr>
              <a:t> brusquement</a:t>
            </a:r>
          </a:p>
          <a:p>
            <a:pPr algn="l">
              <a:defRPr sz="2000">
                <a:solidFill>
                  <a:srgbClr val="000000"/>
                </a:solidFill>
              </a:defRPr>
            </a:pPr>
            <a:r>
              <a:rPr lang="fr-FR" b="1" dirty="0"/>
              <a:t>Contre indication</a:t>
            </a:r>
            <a:r>
              <a:rPr lang="fr-FR" dirty="0"/>
              <a:t>:</a:t>
            </a:r>
          </a:p>
          <a:p>
            <a:pPr marL="342900" indent="-342900" algn="l">
              <a:buFont typeface="Arial" panose="020B0604020202020204" pitchFamily="34" charset="0"/>
              <a:buChar char="•"/>
              <a:defRPr sz="2000">
                <a:solidFill>
                  <a:srgbClr val="000000"/>
                </a:solidFill>
              </a:defRPr>
            </a:pPr>
            <a:r>
              <a:rPr lang="fr-FR" dirty="0"/>
              <a:t>Asthme ou BPCO </a:t>
            </a:r>
            <a:r>
              <a:rPr lang="fr-FR" dirty="0" err="1"/>
              <a:t>severe</a:t>
            </a:r>
            <a:endParaRPr lang="fr-FR" dirty="0"/>
          </a:p>
          <a:p>
            <a:pPr marL="342900" indent="-342900" algn="l">
              <a:buFont typeface="Arial" panose="020B0604020202020204" pitchFamily="34" charset="0"/>
              <a:buChar char="•"/>
              <a:defRPr sz="2000">
                <a:solidFill>
                  <a:srgbClr val="000000"/>
                </a:solidFill>
              </a:defRPr>
            </a:pPr>
            <a:r>
              <a:rPr lang="fr-FR" dirty="0"/>
              <a:t>Bradycardie/ BAV 2 ou 3 non appareillé</a:t>
            </a:r>
          </a:p>
          <a:p>
            <a:pPr marL="342900" indent="-342900" algn="l">
              <a:buFont typeface="Arial" panose="020B0604020202020204" pitchFamily="34" charset="0"/>
              <a:buChar char="•"/>
              <a:defRPr sz="2000">
                <a:solidFill>
                  <a:srgbClr val="000000"/>
                </a:solidFill>
              </a:defRPr>
            </a:pPr>
            <a:r>
              <a:rPr lang="fr-FR" dirty="0"/>
              <a:t>Choc </a:t>
            </a:r>
            <a:r>
              <a:rPr lang="fr-FR" dirty="0" err="1"/>
              <a:t>cardiogenique</a:t>
            </a:r>
            <a:r>
              <a:rPr lang="fr-FR" dirty="0"/>
              <a:t>, OAP</a:t>
            </a:r>
          </a:p>
          <a:p>
            <a:pPr marL="342900" indent="-342900" algn="l">
              <a:buFont typeface="Arial" panose="020B0604020202020204" pitchFamily="34" charset="0"/>
              <a:buChar char="•"/>
              <a:defRPr sz="2000">
                <a:solidFill>
                  <a:srgbClr val="000000"/>
                </a:solidFill>
              </a:defRPr>
            </a:pPr>
            <a:r>
              <a:rPr lang="fr-FR" dirty="0" err="1"/>
              <a:t>Pheochromocytome</a:t>
            </a:r>
            <a:r>
              <a:rPr lang="fr-FR" dirty="0"/>
              <a:t>: Jamais </a:t>
            </a:r>
            <a:r>
              <a:rPr lang="fr-FR" dirty="0" err="1"/>
              <a:t>Betabloquaunt</a:t>
            </a:r>
            <a:r>
              <a:rPr lang="fr-FR" dirty="0"/>
              <a:t> seul, associé a bloquant</a:t>
            </a:r>
          </a:p>
          <a:p>
            <a:pPr algn="l">
              <a:defRPr sz="2000">
                <a:solidFill>
                  <a:srgbClr val="000000"/>
                </a:solidFill>
              </a:defRPr>
            </a:pPr>
            <a:r>
              <a:rPr lang="fr-FR" dirty="0"/>
              <a:t>Effets secondaires</a:t>
            </a:r>
          </a:p>
          <a:p>
            <a:pPr algn="l">
              <a:defRPr sz="2000">
                <a:solidFill>
                  <a:srgbClr val="000000"/>
                </a:solidFill>
              </a:defRPr>
            </a:pPr>
            <a:r>
              <a:rPr lang="fr-FR" dirty="0"/>
              <a:t>Bradycardie, hypotension, asthénie</a:t>
            </a:r>
          </a:p>
          <a:p>
            <a:pPr algn="l">
              <a:defRPr sz="2000">
                <a:solidFill>
                  <a:srgbClr val="000000"/>
                </a:solidFill>
              </a:defRPr>
            </a:pPr>
            <a:r>
              <a:rPr lang="fr-FR" dirty="0"/>
              <a:t>Troubles du sommeil, cauchemars</a:t>
            </a:r>
          </a:p>
          <a:p>
            <a:pPr algn="l">
              <a:defRPr sz="2000">
                <a:solidFill>
                  <a:srgbClr val="000000"/>
                </a:solidFill>
              </a:defRPr>
            </a:pPr>
            <a:r>
              <a:rPr lang="fr-FR" dirty="0" err="1"/>
              <a:t>Bronvhospasme</a:t>
            </a:r>
            <a:endParaRPr lang="fr-FR" dirty="0"/>
          </a:p>
          <a:p>
            <a:pPr algn="l">
              <a:defRPr sz="2000">
                <a:solidFill>
                  <a:srgbClr val="000000"/>
                </a:solidFill>
              </a:defRPr>
            </a:pPr>
            <a:r>
              <a:rPr lang="fr-FR" dirty="0"/>
              <a:t>Dysfonction </a:t>
            </a:r>
            <a:r>
              <a:rPr lang="fr-FR" dirty="0" err="1"/>
              <a:t>erectile</a:t>
            </a:r>
            <a:endParaRPr lang="fr-FR" dirty="0"/>
          </a:p>
          <a:p>
            <a:pPr algn="l">
              <a:defRPr sz="2000">
                <a:solidFill>
                  <a:srgbClr val="000000"/>
                </a:solidFill>
              </a:defRPr>
            </a:pPr>
            <a:r>
              <a:rPr lang="fr-FR" dirty="0"/>
              <a:t>Désordre </a:t>
            </a:r>
            <a:r>
              <a:rPr lang="fr-FR" dirty="0" err="1"/>
              <a:t>metabolique</a:t>
            </a:r>
            <a:r>
              <a:rPr lang="fr-FR" dirty="0"/>
              <a:t>: </a:t>
            </a:r>
            <a:r>
              <a:rPr lang="fr-FR" dirty="0" err="1"/>
              <a:t>diabetogene</a:t>
            </a:r>
            <a:r>
              <a:rPr lang="fr-FR" dirty="0"/>
              <a:t>, masque l’</a:t>
            </a:r>
            <a:r>
              <a:rPr lang="fr-FR" dirty="0" err="1"/>
              <a:t>hypoglycemie</a:t>
            </a:r>
            <a:r>
              <a:rPr lang="fr-FR" dirty="0"/>
              <a:t>,       TG,      HDL </a:t>
            </a:r>
            <a:endParaRPr dirty="0"/>
          </a:p>
        </p:txBody>
      </p:sp>
      <p:sp>
        <p:nvSpPr>
          <p:cNvPr id="5" name="TextBox 4"/>
          <p:cNvSpPr txBox="1"/>
          <p:nvPr/>
        </p:nvSpPr>
        <p:spPr>
          <a:xfrm>
            <a:off x="457200" y="6400800"/>
            <a:ext cx="8229600" cy="274320"/>
          </a:xfrm>
          <a:prstGeom prst="rect">
            <a:avLst/>
          </a:prstGeom>
          <a:noFill/>
        </p:spPr>
        <p:txBody>
          <a:bodyPr wrap="none">
            <a:spAutoFit/>
          </a:bodyPr>
          <a:lstStyle/>
          <a:p>
            <a:pPr algn="ctr">
              <a:defRPr sz="1200">
                <a:solidFill>
                  <a:srgbClr val="003366"/>
                </a:solidFill>
              </a:defRPr>
            </a:pPr>
            <a:r>
              <a:t>Service de Cardiologie – CHU Constantine</a:t>
            </a:r>
          </a:p>
        </p:txBody>
      </p:sp>
      <p:sp>
        <p:nvSpPr>
          <p:cNvPr id="6" name="Rectangle 5"/>
          <p:cNvSpPr/>
          <p:nvPr/>
        </p:nvSpPr>
        <p:spPr>
          <a:xfrm>
            <a:off x="457200" y="6675120"/>
            <a:ext cx="3220278" cy="9144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Flèche : haut 6">
            <a:extLst>
              <a:ext uri="{FF2B5EF4-FFF2-40B4-BE49-F238E27FC236}">
                <a16:creationId xmlns:a16="http://schemas.microsoft.com/office/drawing/2014/main" id="{C7D15013-D66C-4927-3410-434E12AB5300}"/>
              </a:ext>
            </a:extLst>
          </p:cNvPr>
          <p:cNvSpPr/>
          <p:nvPr/>
        </p:nvSpPr>
        <p:spPr>
          <a:xfrm>
            <a:off x="6971072" y="5955685"/>
            <a:ext cx="206477" cy="274320"/>
          </a:xfrm>
          <a:prstGeom prst="up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9" name="Flèche : bas 8">
            <a:extLst>
              <a:ext uri="{FF2B5EF4-FFF2-40B4-BE49-F238E27FC236}">
                <a16:creationId xmlns:a16="http://schemas.microsoft.com/office/drawing/2014/main" id="{3547C109-366A-681C-129E-ECD0B29CDA11}"/>
              </a:ext>
            </a:extLst>
          </p:cNvPr>
          <p:cNvSpPr/>
          <p:nvPr/>
        </p:nvSpPr>
        <p:spPr>
          <a:xfrm>
            <a:off x="7703574" y="5955685"/>
            <a:ext cx="206477" cy="274320"/>
          </a:xfrm>
          <a:prstGeom prst="down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DCE6F1"/>
        </a:solidFill>
        <a:effectLst/>
      </p:bgPr>
    </p:bg>
    <p:spTree>
      <p:nvGrpSpPr>
        <p:cNvPr id="1" name=""/>
        <p:cNvGrpSpPr/>
        <p:nvPr/>
      </p:nvGrpSpPr>
      <p:grpSpPr>
        <a:xfrm>
          <a:off x="0" y="0"/>
          <a:ext cx="0" cy="0"/>
          <a:chOff x="0" y="0"/>
          <a:chExt cx="0" cy="0"/>
        </a:xfrm>
      </p:grpSpPr>
      <p:sp>
        <p:nvSpPr>
          <p:cNvPr id="2" name="Oval 1"/>
          <p:cNvSpPr/>
          <p:nvPr/>
        </p:nvSpPr>
        <p:spPr>
          <a:xfrm>
            <a:off x="7772400" y="182880"/>
            <a:ext cx="914400" cy="914400"/>
          </a:xfrm>
          <a:prstGeom prst="ellipse">
            <a:avLst/>
          </a:prstGeom>
          <a:solidFill>
            <a:srgbClr val="CC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457200"/>
            <a:ext cx="8229600" cy="914400"/>
          </a:xfrm>
          <a:prstGeom prst="rect">
            <a:avLst/>
          </a:prstGeom>
          <a:noFill/>
        </p:spPr>
        <p:txBody>
          <a:bodyPr wrap="square">
            <a:spAutoFit/>
          </a:bodyPr>
          <a:lstStyle/>
          <a:p>
            <a:pPr algn="l">
              <a:defRPr sz="2800" b="1">
                <a:solidFill>
                  <a:srgbClr val="003366"/>
                </a:solidFill>
              </a:defRPr>
            </a:pPr>
            <a:r>
              <a:t>ICa – Mécanisme</a:t>
            </a:r>
          </a:p>
        </p:txBody>
      </p:sp>
      <p:sp>
        <p:nvSpPr>
          <p:cNvPr id="4" name="TextBox 3"/>
          <p:cNvSpPr txBox="1"/>
          <p:nvPr/>
        </p:nvSpPr>
        <p:spPr>
          <a:xfrm>
            <a:off x="457200" y="1645920"/>
            <a:ext cx="8229600" cy="1015663"/>
          </a:xfrm>
          <a:prstGeom prst="rect">
            <a:avLst/>
          </a:prstGeom>
          <a:noFill/>
        </p:spPr>
        <p:txBody>
          <a:bodyPr wrap="square">
            <a:spAutoFit/>
          </a:bodyPr>
          <a:lstStyle/>
          <a:p>
            <a:pPr algn="l">
              <a:defRPr sz="2000">
                <a:solidFill>
                  <a:srgbClr val="000000"/>
                </a:solidFill>
              </a:defRPr>
            </a:pPr>
            <a:r>
              <a:rPr dirty="0"/>
              <a:t>Bloc </a:t>
            </a:r>
            <a:r>
              <a:rPr dirty="0" err="1"/>
              <a:t>canaux</a:t>
            </a:r>
            <a:r>
              <a:rPr dirty="0"/>
              <a:t> Ca²⁺ → vasodilatation (dihydropyridines)</a:t>
            </a:r>
            <a:br>
              <a:rPr dirty="0"/>
            </a:br>
            <a:r>
              <a:rPr dirty="0" err="1"/>
              <a:t>Effet</a:t>
            </a:r>
            <a:r>
              <a:rPr dirty="0"/>
              <a:t> </a:t>
            </a:r>
            <a:r>
              <a:rPr dirty="0" err="1"/>
              <a:t>cardiaque</a:t>
            </a:r>
            <a:r>
              <a:rPr dirty="0"/>
              <a:t> : ↓ </a:t>
            </a:r>
            <a:r>
              <a:rPr lang="fr-FR" dirty="0"/>
              <a:t>FC</a:t>
            </a:r>
            <a:r>
              <a:rPr dirty="0"/>
              <a:t> (</a:t>
            </a:r>
            <a:r>
              <a:rPr dirty="0" err="1"/>
              <a:t>vérapamil</a:t>
            </a:r>
            <a:r>
              <a:rPr dirty="0"/>
              <a:t>, diltiazem)</a:t>
            </a:r>
            <a:br>
              <a:rPr dirty="0"/>
            </a:br>
            <a:r>
              <a:rPr dirty="0"/>
              <a:t>Indications : HTA, </a:t>
            </a:r>
            <a:r>
              <a:rPr dirty="0" err="1"/>
              <a:t>angor</a:t>
            </a:r>
            <a:endParaRPr dirty="0"/>
          </a:p>
        </p:txBody>
      </p:sp>
      <p:sp>
        <p:nvSpPr>
          <p:cNvPr id="5" name="TextBox 4"/>
          <p:cNvSpPr txBox="1"/>
          <p:nvPr/>
        </p:nvSpPr>
        <p:spPr>
          <a:xfrm>
            <a:off x="457200" y="6400800"/>
            <a:ext cx="8229600" cy="274320"/>
          </a:xfrm>
          <a:prstGeom prst="rect">
            <a:avLst/>
          </a:prstGeom>
          <a:noFill/>
        </p:spPr>
        <p:txBody>
          <a:bodyPr wrap="none">
            <a:spAutoFit/>
          </a:bodyPr>
          <a:lstStyle/>
          <a:p>
            <a:pPr algn="ctr">
              <a:defRPr sz="1200">
                <a:solidFill>
                  <a:srgbClr val="003366"/>
                </a:solidFill>
              </a:defRPr>
            </a:pPr>
            <a:r>
              <a:t>Service de Cardiologie – CHU Constantine</a:t>
            </a:r>
          </a:p>
        </p:txBody>
      </p:sp>
      <p:sp>
        <p:nvSpPr>
          <p:cNvPr id="6" name="Rectangle 5"/>
          <p:cNvSpPr/>
          <p:nvPr/>
        </p:nvSpPr>
        <p:spPr>
          <a:xfrm>
            <a:off x="457200" y="6675120"/>
            <a:ext cx="3578086" cy="9144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DCE6F1"/>
        </a:solidFill>
        <a:effectLst/>
      </p:bgPr>
    </p:bg>
    <p:spTree>
      <p:nvGrpSpPr>
        <p:cNvPr id="1" name=""/>
        <p:cNvGrpSpPr/>
        <p:nvPr/>
      </p:nvGrpSpPr>
      <p:grpSpPr>
        <a:xfrm>
          <a:off x="0" y="0"/>
          <a:ext cx="0" cy="0"/>
          <a:chOff x="0" y="0"/>
          <a:chExt cx="0" cy="0"/>
        </a:xfrm>
      </p:grpSpPr>
      <p:sp>
        <p:nvSpPr>
          <p:cNvPr id="2" name="Oval 1"/>
          <p:cNvSpPr/>
          <p:nvPr/>
        </p:nvSpPr>
        <p:spPr>
          <a:xfrm>
            <a:off x="7772400" y="182880"/>
            <a:ext cx="914400" cy="914400"/>
          </a:xfrm>
          <a:prstGeom prst="ellipse">
            <a:avLst/>
          </a:prstGeom>
          <a:solidFill>
            <a:srgbClr val="CC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457200"/>
            <a:ext cx="8229600" cy="914400"/>
          </a:xfrm>
          <a:prstGeom prst="rect">
            <a:avLst/>
          </a:prstGeom>
          <a:noFill/>
        </p:spPr>
        <p:txBody>
          <a:bodyPr wrap="square">
            <a:spAutoFit/>
          </a:bodyPr>
          <a:lstStyle/>
          <a:p>
            <a:pPr algn="l">
              <a:defRPr sz="2800" b="1">
                <a:solidFill>
                  <a:srgbClr val="003366"/>
                </a:solidFill>
              </a:defRPr>
            </a:pPr>
            <a:r>
              <a:t>ICa – Posologie &amp; Surveillance</a:t>
            </a:r>
          </a:p>
        </p:txBody>
      </p:sp>
      <p:sp>
        <p:nvSpPr>
          <p:cNvPr id="4" name="TextBox 3"/>
          <p:cNvSpPr txBox="1"/>
          <p:nvPr/>
        </p:nvSpPr>
        <p:spPr>
          <a:xfrm>
            <a:off x="457200" y="1645920"/>
            <a:ext cx="8229600" cy="5029200"/>
          </a:xfrm>
          <a:prstGeom prst="rect">
            <a:avLst/>
          </a:prstGeom>
          <a:noFill/>
        </p:spPr>
        <p:txBody>
          <a:bodyPr wrap="square">
            <a:spAutoFit/>
          </a:bodyPr>
          <a:lstStyle/>
          <a:p>
            <a:pPr algn="l">
              <a:defRPr sz="2000">
                <a:solidFill>
                  <a:srgbClr val="000000"/>
                </a:solidFill>
              </a:defRPr>
            </a:pPr>
            <a:r>
              <a:t>Amlodipine 5–10 mg/j</a:t>
            </a:r>
            <a:br/>
            <a:r>
              <a:t>Surveillance : TA, œdèmes, céphalées</a:t>
            </a:r>
          </a:p>
        </p:txBody>
      </p:sp>
      <p:sp>
        <p:nvSpPr>
          <p:cNvPr id="5" name="TextBox 4"/>
          <p:cNvSpPr txBox="1"/>
          <p:nvPr/>
        </p:nvSpPr>
        <p:spPr>
          <a:xfrm>
            <a:off x="457200" y="6400800"/>
            <a:ext cx="8229600" cy="274320"/>
          </a:xfrm>
          <a:prstGeom prst="rect">
            <a:avLst/>
          </a:prstGeom>
          <a:noFill/>
        </p:spPr>
        <p:txBody>
          <a:bodyPr wrap="none">
            <a:spAutoFit/>
          </a:bodyPr>
          <a:lstStyle/>
          <a:p>
            <a:pPr algn="ctr">
              <a:defRPr sz="1200">
                <a:solidFill>
                  <a:srgbClr val="003366"/>
                </a:solidFill>
              </a:defRPr>
            </a:pPr>
            <a:r>
              <a:t>Service de Cardiologie – CHU Constantine</a:t>
            </a:r>
          </a:p>
        </p:txBody>
      </p:sp>
      <p:sp>
        <p:nvSpPr>
          <p:cNvPr id="6" name="Rectangle 5"/>
          <p:cNvSpPr/>
          <p:nvPr/>
        </p:nvSpPr>
        <p:spPr>
          <a:xfrm>
            <a:off x="457200" y="6675120"/>
            <a:ext cx="3935895" cy="9144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DCE6F1"/>
        </a:solidFill>
        <a:effectLst/>
      </p:bgPr>
    </p:bg>
    <p:spTree>
      <p:nvGrpSpPr>
        <p:cNvPr id="1" name=""/>
        <p:cNvGrpSpPr/>
        <p:nvPr/>
      </p:nvGrpSpPr>
      <p:grpSpPr>
        <a:xfrm>
          <a:off x="0" y="0"/>
          <a:ext cx="0" cy="0"/>
          <a:chOff x="0" y="0"/>
          <a:chExt cx="0" cy="0"/>
        </a:xfrm>
      </p:grpSpPr>
      <p:sp>
        <p:nvSpPr>
          <p:cNvPr id="2" name="Oval 1"/>
          <p:cNvSpPr/>
          <p:nvPr/>
        </p:nvSpPr>
        <p:spPr>
          <a:xfrm>
            <a:off x="7772400" y="182880"/>
            <a:ext cx="914400" cy="914400"/>
          </a:xfrm>
          <a:prstGeom prst="ellipse">
            <a:avLst/>
          </a:prstGeom>
          <a:solidFill>
            <a:srgbClr val="CC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457200"/>
            <a:ext cx="8229600" cy="914400"/>
          </a:xfrm>
          <a:prstGeom prst="rect">
            <a:avLst/>
          </a:prstGeom>
          <a:noFill/>
        </p:spPr>
        <p:txBody>
          <a:bodyPr wrap="square">
            <a:spAutoFit/>
          </a:bodyPr>
          <a:lstStyle/>
          <a:p>
            <a:pPr algn="l">
              <a:defRPr sz="2800" b="1">
                <a:solidFill>
                  <a:srgbClr val="003366"/>
                </a:solidFill>
              </a:defRPr>
            </a:pPr>
            <a:r>
              <a:t>Diurétiques – Types</a:t>
            </a:r>
          </a:p>
        </p:txBody>
      </p:sp>
      <p:sp>
        <p:nvSpPr>
          <p:cNvPr id="4" name="TextBox 3"/>
          <p:cNvSpPr txBox="1"/>
          <p:nvPr/>
        </p:nvSpPr>
        <p:spPr>
          <a:xfrm>
            <a:off x="457200" y="1645920"/>
            <a:ext cx="8229600" cy="1323439"/>
          </a:xfrm>
          <a:prstGeom prst="rect">
            <a:avLst/>
          </a:prstGeom>
          <a:noFill/>
        </p:spPr>
        <p:txBody>
          <a:bodyPr wrap="square">
            <a:spAutoFit/>
          </a:bodyPr>
          <a:lstStyle/>
          <a:p>
            <a:pPr algn="l">
              <a:defRPr sz="2000">
                <a:solidFill>
                  <a:srgbClr val="000000"/>
                </a:solidFill>
              </a:defRPr>
            </a:pPr>
            <a:r>
              <a:rPr dirty="0" err="1"/>
              <a:t>Thiazidiques</a:t>
            </a:r>
            <a:r>
              <a:rPr dirty="0"/>
              <a:t> : </a:t>
            </a:r>
            <a:r>
              <a:rPr dirty="0" err="1"/>
              <a:t>hydrochlorthiazide</a:t>
            </a:r>
            <a:r>
              <a:rPr dirty="0"/>
              <a:t>, indapamide</a:t>
            </a:r>
            <a:br>
              <a:rPr dirty="0"/>
            </a:br>
            <a:r>
              <a:rPr dirty="0"/>
              <a:t>Anse : </a:t>
            </a:r>
            <a:r>
              <a:rPr dirty="0" err="1"/>
              <a:t>furosémide</a:t>
            </a:r>
            <a:r>
              <a:rPr dirty="0"/>
              <a:t>, </a:t>
            </a:r>
            <a:r>
              <a:rPr dirty="0" err="1"/>
              <a:t>bumétanide</a:t>
            </a:r>
            <a:br>
              <a:rPr dirty="0"/>
            </a:br>
            <a:r>
              <a:rPr dirty="0" err="1"/>
              <a:t>Épargneurs</a:t>
            </a:r>
            <a:r>
              <a:rPr dirty="0"/>
              <a:t> K⁺ : spironolactone, </a:t>
            </a:r>
            <a:r>
              <a:rPr dirty="0" err="1"/>
              <a:t>éplérénone</a:t>
            </a:r>
            <a:endParaRPr lang="fr-FR" dirty="0"/>
          </a:p>
          <a:p>
            <a:pPr algn="l">
              <a:defRPr sz="2000">
                <a:solidFill>
                  <a:srgbClr val="000000"/>
                </a:solidFill>
              </a:defRPr>
            </a:pPr>
            <a:r>
              <a:rPr lang="fr-FR" b="1" dirty="0">
                <a:solidFill>
                  <a:srgbClr val="FF0000"/>
                </a:solidFill>
              </a:rPr>
              <a:t>Voire cours</a:t>
            </a:r>
            <a:endParaRPr b="1" dirty="0">
              <a:solidFill>
                <a:srgbClr val="FF0000"/>
              </a:solidFill>
            </a:endParaRPr>
          </a:p>
        </p:txBody>
      </p:sp>
      <p:sp>
        <p:nvSpPr>
          <p:cNvPr id="5" name="TextBox 4"/>
          <p:cNvSpPr txBox="1"/>
          <p:nvPr/>
        </p:nvSpPr>
        <p:spPr>
          <a:xfrm>
            <a:off x="457200" y="6400800"/>
            <a:ext cx="8229600" cy="274320"/>
          </a:xfrm>
          <a:prstGeom prst="rect">
            <a:avLst/>
          </a:prstGeom>
          <a:noFill/>
        </p:spPr>
        <p:txBody>
          <a:bodyPr wrap="none">
            <a:spAutoFit/>
          </a:bodyPr>
          <a:lstStyle/>
          <a:p>
            <a:pPr algn="ctr">
              <a:defRPr sz="1200">
                <a:solidFill>
                  <a:srgbClr val="003366"/>
                </a:solidFill>
              </a:defRPr>
            </a:pPr>
            <a:r>
              <a:t>Service de Cardiologie – CHU Constantine</a:t>
            </a:r>
          </a:p>
        </p:txBody>
      </p:sp>
      <p:sp>
        <p:nvSpPr>
          <p:cNvPr id="6" name="Rectangle 5"/>
          <p:cNvSpPr/>
          <p:nvPr/>
        </p:nvSpPr>
        <p:spPr>
          <a:xfrm>
            <a:off x="457200" y="6675120"/>
            <a:ext cx="4293704" cy="9144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DCE6F1"/>
        </a:solidFill>
        <a:effectLst/>
      </p:bgPr>
    </p:bg>
    <p:spTree>
      <p:nvGrpSpPr>
        <p:cNvPr id="1" name=""/>
        <p:cNvGrpSpPr/>
        <p:nvPr/>
      </p:nvGrpSpPr>
      <p:grpSpPr>
        <a:xfrm>
          <a:off x="0" y="0"/>
          <a:ext cx="0" cy="0"/>
          <a:chOff x="0" y="0"/>
          <a:chExt cx="0" cy="0"/>
        </a:xfrm>
      </p:grpSpPr>
      <p:sp>
        <p:nvSpPr>
          <p:cNvPr id="2" name="Oval 1"/>
          <p:cNvSpPr/>
          <p:nvPr/>
        </p:nvSpPr>
        <p:spPr>
          <a:xfrm>
            <a:off x="7772400" y="182880"/>
            <a:ext cx="914400" cy="914400"/>
          </a:xfrm>
          <a:prstGeom prst="ellipse">
            <a:avLst/>
          </a:prstGeom>
          <a:solidFill>
            <a:srgbClr val="CC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457200"/>
            <a:ext cx="8229600" cy="914400"/>
          </a:xfrm>
          <a:prstGeom prst="rect">
            <a:avLst/>
          </a:prstGeom>
          <a:noFill/>
        </p:spPr>
        <p:txBody>
          <a:bodyPr wrap="square">
            <a:spAutoFit/>
          </a:bodyPr>
          <a:lstStyle/>
          <a:p>
            <a:pPr algn="l">
              <a:defRPr sz="2800" b="1">
                <a:solidFill>
                  <a:srgbClr val="003366"/>
                </a:solidFill>
              </a:defRPr>
            </a:pPr>
            <a:r>
              <a:t>Diurétiques – Posologie &amp; Surveillance</a:t>
            </a:r>
          </a:p>
        </p:txBody>
      </p:sp>
      <p:sp>
        <p:nvSpPr>
          <p:cNvPr id="4" name="TextBox 3"/>
          <p:cNvSpPr txBox="1"/>
          <p:nvPr/>
        </p:nvSpPr>
        <p:spPr>
          <a:xfrm>
            <a:off x="457200" y="1645920"/>
            <a:ext cx="8229600" cy="5029200"/>
          </a:xfrm>
          <a:prstGeom prst="rect">
            <a:avLst/>
          </a:prstGeom>
          <a:noFill/>
        </p:spPr>
        <p:txBody>
          <a:bodyPr wrap="square">
            <a:spAutoFit/>
          </a:bodyPr>
          <a:lstStyle/>
          <a:p>
            <a:pPr algn="l">
              <a:defRPr sz="2000">
                <a:solidFill>
                  <a:srgbClr val="000000"/>
                </a:solidFill>
              </a:defRPr>
            </a:pPr>
            <a:r>
              <a:t>Furosémide 20–120 mg/j</a:t>
            </a:r>
            <a:br/>
            <a:r>
              <a:t>Spironolactone 25–50 mg/j</a:t>
            </a:r>
            <a:br/>
            <a:r>
              <a:t>Surveillance : K⁺, Na⁺, créatinine</a:t>
            </a:r>
            <a:br/>
            <a:r>
              <a:t>EI : hypoK⁺, hyperK⁺, hypotension</a:t>
            </a:r>
          </a:p>
        </p:txBody>
      </p:sp>
      <p:sp>
        <p:nvSpPr>
          <p:cNvPr id="5" name="TextBox 4"/>
          <p:cNvSpPr txBox="1"/>
          <p:nvPr/>
        </p:nvSpPr>
        <p:spPr>
          <a:xfrm>
            <a:off x="457200" y="6400800"/>
            <a:ext cx="8229600" cy="274320"/>
          </a:xfrm>
          <a:prstGeom prst="rect">
            <a:avLst/>
          </a:prstGeom>
          <a:noFill/>
        </p:spPr>
        <p:txBody>
          <a:bodyPr wrap="none">
            <a:spAutoFit/>
          </a:bodyPr>
          <a:lstStyle/>
          <a:p>
            <a:pPr algn="ctr">
              <a:defRPr sz="1200">
                <a:solidFill>
                  <a:srgbClr val="003366"/>
                </a:solidFill>
              </a:defRPr>
            </a:pPr>
            <a:r>
              <a:t>Service de Cardiologie – CHU Constantine</a:t>
            </a:r>
          </a:p>
        </p:txBody>
      </p:sp>
      <p:sp>
        <p:nvSpPr>
          <p:cNvPr id="6" name="Rectangle 5"/>
          <p:cNvSpPr/>
          <p:nvPr/>
        </p:nvSpPr>
        <p:spPr>
          <a:xfrm>
            <a:off x="457200" y="6675120"/>
            <a:ext cx="4651513" cy="9144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DCE6F1"/>
        </a:solidFill>
        <a:effectLst/>
      </p:bgPr>
    </p:bg>
    <p:spTree>
      <p:nvGrpSpPr>
        <p:cNvPr id="1" name=""/>
        <p:cNvGrpSpPr/>
        <p:nvPr/>
      </p:nvGrpSpPr>
      <p:grpSpPr>
        <a:xfrm>
          <a:off x="0" y="0"/>
          <a:ext cx="0" cy="0"/>
          <a:chOff x="0" y="0"/>
          <a:chExt cx="0" cy="0"/>
        </a:xfrm>
      </p:grpSpPr>
      <p:sp>
        <p:nvSpPr>
          <p:cNvPr id="2" name="Oval 1"/>
          <p:cNvSpPr/>
          <p:nvPr/>
        </p:nvSpPr>
        <p:spPr>
          <a:xfrm>
            <a:off x="7772400" y="182880"/>
            <a:ext cx="914400" cy="914400"/>
          </a:xfrm>
          <a:prstGeom prst="ellipse">
            <a:avLst/>
          </a:prstGeom>
          <a:solidFill>
            <a:srgbClr val="CC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457200"/>
            <a:ext cx="8229600" cy="523220"/>
          </a:xfrm>
          <a:prstGeom prst="rect">
            <a:avLst/>
          </a:prstGeom>
          <a:noFill/>
        </p:spPr>
        <p:txBody>
          <a:bodyPr wrap="square">
            <a:spAutoFit/>
          </a:bodyPr>
          <a:lstStyle/>
          <a:p>
            <a:pPr algn="l">
              <a:defRPr sz="2800" b="1">
                <a:solidFill>
                  <a:srgbClr val="003366"/>
                </a:solidFill>
              </a:defRPr>
            </a:pPr>
            <a:r>
              <a:rPr dirty="0" err="1"/>
              <a:t>Antiagrégants</a:t>
            </a:r>
            <a:endParaRPr dirty="0"/>
          </a:p>
        </p:txBody>
      </p:sp>
      <p:sp>
        <p:nvSpPr>
          <p:cNvPr id="4" name="TextBox 3"/>
          <p:cNvSpPr txBox="1"/>
          <p:nvPr/>
        </p:nvSpPr>
        <p:spPr>
          <a:xfrm>
            <a:off x="457200" y="1645920"/>
            <a:ext cx="8229600" cy="2862322"/>
          </a:xfrm>
          <a:prstGeom prst="rect">
            <a:avLst/>
          </a:prstGeom>
          <a:noFill/>
        </p:spPr>
        <p:txBody>
          <a:bodyPr wrap="square">
            <a:spAutoFit/>
          </a:bodyPr>
          <a:lstStyle/>
          <a:p>
            <a:pPr algn="l">
              <a:defRPr sz="2000">
                <a:solidFill>
                  <a:srgbClr val="000000"/>
                </a:solidFill>
              </a:defRPr>
            </a:pPr>
            <a:r>
              <a:rPr lang="fr-FR" dirty="0"/>
              <a:t> Inhibiteurs de la COX-1:</a:t>
            </a:r>
            <a:r>
              <a:rPr dirty="0" err="1"/>
              <a:t>Aspirine</a:t>
            </a:r>
            <a:r>
              <a:rPr dirty="0"/>
              <a:t> 75–160 mg/j, Clopidogrel 75 mg/j</a:t>
            </a:r>
            <a:endParaRPr lang="fr-FR" dirty="0"/>
          </a:p>
          <a:p>
            <a:pPr algn="l">
              <a:defRPr sz="2000">
                <a:solidFill>
                  <a:srgbClr val="000000"/>
                </a:solidFill>
              </a:defRPr>
            </a:pPr>
            <a:r>
              <a:rPr lang="fr-FR" dirty="0"/>
              <a:t>Inhibiteurs du récepteur P2Y12: clopidogrel, </a:t>
            </a:r>
            <a:r>
              <a:rPr lang="fr-FR" dirty="0" err="1"/>
              <a:t>prasugrel</a:t>
            </a:r>
            <a:r>
              <a:rPr lang="fr-FR" dirty="0"/>
              <a:t>, </a:t>
            </a:r>
            <a:r>
              <a:rPr lang="fr-FR" dirty="0" err="1"/>
              <a:t>Ticagrelor</a:t>
            </a:r>
            <a:endParaRPr lang="fr-FR" dirty="0"/>
          </a:p>
          <a:p>
            <a:pPr algn="l">
              <a:defRPr sz="2000">
                <a:solidFill>
                  <a:srgbClr val="000000"/>
                </a:solidFill>
              </a:defRPr>
            </a:pPr>
            <a:r>
              <a:rPr lang="fr-FR" dirty="0"/>
              <a:t>Inhibiteur du récepteur GP2b/3a: </a:t>
            </a:r>
            <a:r>
              <a:rPr lang="fr-FR" dirty="0" err="1"/>
              <a:t>Tirofiban</a:t>
            </a:r>
            <a:r>
              <a:rPr lang="fr-FR" dirty="0"/>
              <a:t>…</a:t>
            </a:r>
          </a:p>
          <a:p>
            <a:pPr algn="l">
              <a:defRPr sz="2000">
                <a:solidFill>
                  <a:srgbClr val="000000"/>
                </a:solidFill>
              </a:defRPr>
            </a:pPr>
            <a:r>
              <a:rPr lang="fr-FR" dirty="0"/>
              <a:t>En pratique:</a:t>
            </a:r>
          </a:p>
          <a:p>
            <a:pPr algn="l">
              <a:defRPr sz="2000">
                <a:solidFill>
                  <a:srgbClr val="000000"/>
                </a:solidFill>
              </a:defRPr>
            </a:pPr>
            <a:r>
              <a:rPr lang="fr-FR" dirty="0"/>
              <a:t>SCC: Mono </a:t>
            </a:r>
            <a:r>
              <a:rPr lang="fr-FR" dirty="0" err="1"/>
              <a:t>antiagregation</a:t>
            </a:r>
            <a:r>
              <a:rPr lang="fr-FR" dirty="0"/>
              <a:t>: aspirine ou clopidogrel</a:t>
            </a:r>
          </a:p>
          <a:p>
            <a:pPr algn="l">
              <a:defRPr sz="2000">
                <a:solidFill>
                  <a:srgbClr val="000000"/>
                </a:solidFill>
              </a:defRPr>
            </a:pPr>
            <a:r>
              <a:rPr lang="fr-FR" dirty="0"/>
              <a:t>SCA/ stent: Double </a:t>
            </a:r>
            <a:r>
              <a:rPr lang="fr-FR" dirty="0" err="1"/>
              <a:t>antiagregation</a:t>
            </a:r>
            <a:endParaRPr lang="fr-FR" dirty="0"/>
          </a:p>
          <a:p>
            <a:pPr algn="l">
              <a:defRPr sz="2000">
                <a:solidFill>
                  <a:srgbClr val="000000"/>
                </a:solidFill>
              </a:defRPr>
            </a:pPr>
            <a:r>
              <a:rPr lang="fr-FR" dirty="0"/>
              <a:t>Inhibiteur du récepteur GP2b/ 3a : complication </a:t>
            </a:r>
            <a:r>
              <a:rPr lang="fr-FR" dirty="0" err="1"/>
              <a:t>peri</a:t>
            </a:r>
            <a:r>
              <a:rPr lang="fr-FR" dirty="0"/>
              <a:t> </a:t>
            </a:r>
            <a:r>
              <a:rPr lang="fr-FR" dirty="0" err="1"/>
              <a:t>procedurale</a:t>
            </a:r>
            <a:r>
              <a:rPr lang="fr-FR" dirty="0"/>
              <a:t>, </a:t>
            </a:r>
            <a:r>
              <a:rPr lang="fr-FR" b="1" dirty="0">
                <a:solidFill>
                  <a:srgbClr val="FF0000"/>
                </a:solidFill>
              </a:rPr>
              <a:t>pas </a:t>
            </a:r>
            <a:r>
              <a:rPr lang="fr-FR" b="1" dirty="0" err="1">
                <a:solidFill>
                  <a:srgbClr val="FF0000"/>
                </a:solidFill>
              </a:rPr>
              <a:t>systematique</a:t>
            </a:r>
            <a:br>
              <a:rPr dirty="0"/>
            </a:br>
            <a:endParaRPr dirty="0"/>
          </a:p>
        </p:txBody>
      </p:sp>
      <p:sp>
        <p:nvSpPr>
          <p:cNvPr id="5" name="TextBox 4"/>
          <p:cNvSpPr txBox="1"/>
          <p:nvPr/>
        </p:nvSpPr>
        <p:spPr>
          <a:xfrm>
            <a:off x="457200" y="6400800"/>
            <a:ext cx="8229600" cy="274320"/>
          </a:xfrm>
          <a:prstGeom prst="rect">
            <a:avLst/>
          </a:prstGeom>
          <a:noFill/>
        </p:spPr>
        <p:txBody>
          <a:bodyPr wrap="none">
            <a:spAutoFit/>
          </a:bodyPr>
          <a:lstStyle/>
          <a:p>
            <a:pPr algn="ctr">
              <a:defRPr sz="1200">
                <a:solidFill>
                  <a:srgbClr val="003366"/>
                </a:solidFill>
              </a:defRPr>
            </a:pPr>
            <a:r>
              <a:t>Service de Cardiologie – CHU Constantine</a:t>
            </a:r>
          </a:p>
        </p:txBody>
      </p:sp>
      <p:sp>
        <p:nvSpPr>
          <p:cNvPr id="6" name="Rectangle 5"/>
          <p:cNvSpPr/>
          <p:nvPr/>
        </p:nvSpPr>
        <p:spPr>
          <a:xfrm>
            <a:off x="457200" y="6675120"/>
            <a:ext cx="5009321" cy="9144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DCE6F1"/>
        </a:solidFill>
        <a:effectLst/>
      </p:bgPr>
    </p:bg>
    <p:spTree>
      <p:nvGrpSpPr>
        <p:cNvPr id="1" name="">
          <a:extLst>
            <a:ext uri="{FF2B5EF4-FFF2-40B4-BE49-F238E27FC236}">
              <a16:creationId xmlns:a16="http://schemas.microsoft.com/office/drawing/2014/main" id="{E4759FEA-6D3B-CD2A-103F-EC77BAD29208}"/>
            </a:ext>
          </a:extLst>
        </p:cNvPr>
        <p:cNvGrpSpPr/>
        <p:nvPr/>
      </p:nvGrpSpPr>
      <p:grpSpPr>
        <a:xfrm>
          <a:off x="0" y="0"/>
          <a:ext cx="0" cy="0"/>
          <a:chOff x="0" y="0"/>
          <a:chExt cx="0" cy="0"/>
        </a:xfrm>
      </p:grpSpPr>
      <p:sp>
        <p:nvSpPr>
          <p:cNvPr id="2" name="Oval 1">
            <a:extLst>
              <a:ext uri="{FF2B5EF4-FFF2-40B4-BE49-F238E27FC236}">
                <a16:creationId xmlns:a16="http://schemas.microsoft.com/office/drawing/2014/main" id="{648B19E2-E069-BAA5-961D-AD266CB759BD}"/>
              </a:ext>
            </a:extLst>
          </p:cNvPr>
          <p:cNvSpPr/>
          <p:nvPr/>
        </p:nvSpPr>
        <p:spPr>
          <a:xfrm>
            <a:off x="7772400" y="182880"/>
            <a:ext cx="914400" cy="914400"/>
          </a:xfrm>
          <a:prstGeom prst="ellipse">
            <a:avLst/>
          </a:prstGeom>
          <a:solidFill>
            <a:srgbClr val="CC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6EAAAD51-83E6-895A-099D-12496CDDC30A}"/>
              </a:ext>
            </a:extLst>
          </p:cNvPr>
          <p:cNvSpPr txBox="1"/>
          <p:nvPr/>
        </p:nvSpPr>
        <p:spPr>
          <a:xfrm>
            <a:off x="457200" y="457200"/>
            <a:ext cx="8229600" cy="523220"/>
          </a:xfrm>
          <a:prstGeom prst="rect">
            <a:avLst/>
          </a:prstGeom>
          <a:noFill/>
        </p:spPr>
        <p:txBody>
          <a:bodyPr wrap="square">
            <a:spAutoFit/>
          </a:bodyPr>
          <a:lstStyle/>
          <a:p>
            <a:pPr algn="l">
              <a:defRPr sz="2800" b="1">
                <a:solidFill>
                  <a:srgbClr val="003366"/>
                </a:solidFill>
              </a:defRPr>
            </a:pPr>
            <a:r>
              <a:rPr dirty="0"/>
              <a:t>Anticoagulants</a:t>
            </a:r>
          </a:p>
        </p:txBody>
      </p:sp>
      <p:sp>
        <p:nvSpPr>
          <p:cNvPr id="5" name="TextBox 4">
            <a:extLst>
              <a:ext uri="{FF2B5EF4-FFF2-40B4-BE49-F238E27FC236}">
                <a16:creationId xmlns:a16="http://schemas.microsoft.com/office/drawing/2014/main" id="{78E618AC-C009-B6B6-993F-707150E58F04}"/>
              </a:ext>
            </a:extLst>
          </p:cNvPr>
          <p:cNvSpPr txBox="1"/>
          <p:nvPr/>
        </p:nvSpPr>
        <p:spPr>
          <a:xfrm>
            <a:off x="457200" y="6400800"/>
            <a:ext cx="8229600" cy="274320"/>
          </a:xfrm>
          <a:prstGeom prst="rect">
            <a:avLst/>
          </a:prstGeom>
          <a:noFill/>
        </p:spPr>
        <p:txBody>
          <a:bodyPr wrap="none">
            <a:spAutoFit/>
          </a:bodyPr>
          <a:lstStyle/>
          <a:p>
            <a:pPr algn="ctr">
              <a:defRPr sz="1200">
                <a:solidFill>
                  <a:srgbClr val="003366"/>
                </a:solidFill>
              </a:defRPr>
            </a:pPr>
            <a:r>
              <a:t>Service de Cardiologie – CHU Constantine</a:t>
            </a:r>
          </a:p>
        </p:txBody>
      </p:sp>
      <p:sp>
        <p:nvSpPr>
          <p:cNvPr id="6" name="Rectangle 5">
            <a:extLst>
              <a:ext uri="{FF2B5EF4-FFF2-40B4-BE49-F238E27FC236}">
                <a16:creationId xmlns:a16="http://schemas.microsoft.com/office/drawing/2014/main" id="{9E59CFB4-C054-5B11-CA0B-166DD7548A07}"/>
              </a:ext>
            </a:extLst>
          </p:cNvPr>
          <p:cNvSpPr/>
          <p:nvPr/>
        </p:nvSpPr>
        <p:spPr>
          <a:xfrm>
            <a:off x="457200" y="6675120"/>
            <a:ext cx="5009321" cy="9144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7" name="Tableau 6">
            <a:extLst>
              <a:ext uri="{FF2B5EF4-FFF2-40B4-BE49-F238E27FC236}">
                <a16:creationId xmlns:a16="http://schemas.microsoft.com/office/drawing/2014/main" id="{0690EF94-5C0A-5CDF-C241-AA78EFB71C23}"/>
              </a:ext>
            </a:extLst>
          </p:cNvPr>
          <p:cNvGraphicFramePr>
            <a:graphicFrameLocks noGrp="1"/>
          </p:cNvGraphicFramePr>
          <p:nvPr>
            <p:extLst>
              <p:ext uri="{D42A27DB-BD31-4B8C-83A1-F6EECF244321}">
                <p14:modId xmlns:p14="http://schemas.microsoft.com/office/powerpoint/2010/main" val="1216079185"/>
              </p:ext>
            </p:extLst>
          </p:nvPr>
        </p:nvGraphicFramePr>
        <p:xfrm>
          <a:off x="132734" y="951643"/>
          <a:ext cx="8932609" cy="5566017"/>
        </p:xfrm>
        <a:graphic>
          <a:graphicData uri="http://schemas.openxmlformats.org/drawingml/2006/table">
            <a:tbl>
              <a:tblPr firstRow="1" bandRow="1">
                <a:tableStyleId>{5C22544A-7EE6-4342-B048-85BDC9FD1C3A}</a:tableStyleId>
              </a:tblPr>
              <a:tblGrid>
                <a:gridCol w="1276087">
                  <a:extLst>
                    <a:ext uri="{9D8B030D-6E8A-4147-A177-3AD203B41FA5}">
                      <a16:colId xmlns:a16="http://schemas.microsoft.com/office/drawing/2014/main" val="1391581557"/>
                    </a:ext>
                  </a:extLst>
                </a:gridCol>
                <a:gridCol w="1276087">
                  <a:extLst>
                    <a:ext uri="{9D8B030D-6E8A-4147-A177-3AD203B41FA5}">
                      <a16:colId xmlns:a16="http://schemas.microsoft.com/office/drawing/2014/main" val="1957398720"/>
                    </a:ext>
                  </a:extLst>
                </a:gridCol>
                <a:gridCol w="1276087">
                  <a:extLst>
                    <a:ext uri="{9D8B030D-6E8A-4147-A177-3AD203B41FA5}">
                      <a16:colId xmlns:a16="http://schemas.microsoft.com/office/drawing/2014/main" val="3586874657"/>
                    </a:ext>
                  </a:extLst>
                </a:gridCol>
                <a:gridCol w="1276087">
                  <a:extLst>
                    <a:ext uri="{9D8B030D-6E8A-4147-A177-3AD203B41FA5}">
                      <a16:colId xmlns:a16="http://schemas.microsoft.com/office/drawing/2014/main" val="468140804"/>
                    </a:ext>
                  </a:extLst>
                </a:gridCol>
                <a:gridCol w="1276087">
                  <a:extLst>
                    <a:ext uri="{9D8B030D-6E8A-4147-A177-3AD203B41FA5}">
                      <a16:colId xmlns:a16="http://schemas.microsoft.com/office/drawing/2014/main" val="2300910881"/>
                    </a:ext>
                  </a:extLst>
                </a:gridCol>
                <a:gridCol w="1276087">
                  <a:extLst>
                    <a:ext uri="{9D8B030D-6E8A-4147-A177-3AD203B41FA5}">
                      <a16:colId xmlns:a16="http://schemas.microsoft.com/office/drawing/2014/main" val="1872947010"/>
                    </a:ext>
                  </a:extLst>
                </a:gridCol>
                <a:gridCol w="1276087">
                  <a:extLst>
                    <a:ext uri="{9D8B030D-6E8A-4147-A177-3AD203B41FA5}">
                      <a16:colId xmlns:a16="http://schemas.microsoft.com/office/drawing/2014/main" val="1651976597"/>
                    </a:ext>
                  </a:extLst>
                </a:gridCol>
              </a:tblGrid>
              <a:tr h="587369">
                <a:tc>
                  <a:txBody>
                    <a:bodyPr/>
                    <a:lstStyle/>
                    <a:p>
                      <a:r>
                        <a:rPr lang="fr-FR" dirty="0"/>
                        <a:t>Classe </a:t>
                      </a:r>
                    </a:p>
                  </a:txBody>
                  <a:tcPr/>
                </a:tc>
                <a:tc>
                  <a:txBody>
                    <a:bodyPr/>
                    <a:lstStyle/>
                    <a:p>
                      <a:r>
                        <a:rPr lang="fr-FR" dirty="0"/>
                        <a:t>Exemples</a:t>
                      </a:r>
                    </a:p>
                  </a:txBody>
                  <a:tcPr/>
                </a:tc>
                <a:tc>
                  <a:txBody>
                    <a:bodyPr/>
                    <a:lstStyle/>
                    <a:p>
                      <a:r>
                        <a:rPr lang="fr-FR" dirty="0"/>
                        <a:t>Mécanisme</a:t>
                      </a:r>
                    </a:p>
                  </a:txBody>
                  <a:tcPr/>
                </a:tc>
                <a:tc>
                  <a:txBody>
                    <a:bodyPr/>
                    <a:lstStyle/>
                    <a:p>
                      <a:r>
                        <a:rPr lang="fr-FR" dirty="0"/>
                        <a:t>Surveillance</a:t>
                      </a:r>
                    </a:p>
                  </a:txBody>
                  <a:tcPr/>
                </a:tc>
                <a:tc>
                  <a:txBody>
                    <a:bodyPr/>
                    <a:lstStyle/>
                    <a:p>
                      <a:r>
                        <a:rPr lang="fr-FR" dirty="0"/>
                        <a:t>Indications</a:t>
                      </a:r>
                    </a:p>
                  </a:txBody>
                  <a:tcPr/>
                </a:tc>
                <a:tc>
                  <a:txBody>
                    <a:bodyPr/>
                    <a:lstStyle/>
                    <a:p>
                      <a:r>
                        <a:rPr lang="fr-FR" dirty="0"/>
                        <a:t>Effets secondaire</a:t>
                      </a:r>
                    </a:p>
                  </a:txBody>
                  <a:tcPr/>
                </a:tc>
                <a:tc>
                  <a:txBody>
                    <a:bodyPr/>
                    <a:lstStyle/>
                    <a:p>
                      <a:r>
                        <a:rPr lang="fr-FR" dirty="0"/>
                        <a:t>Contre indications</a:t>
                      </a:r>
                    </a:p>
                  </a:txBody>
                  <a:tcPr/>
                </a:tc>
                <a:extLst>
                  <a:ext uri="{0D108BD9-81ED-4DB2-BD59-A6C34878D82A}">
                    <a16:rowId xmlns:a16="http://schemas.microsoft.com/office/drawing/2014/main" val="2787312551"/>
                  </a:ext>
                </a:extLst>
              </a:tr>
              <a:tr h="1342559">
                <a:tc>
                  <a:txBody>
                    <a:bodyPr/>
                    <a:lstStyle/>
                    <a:p>
                      <a:r>
                        <a:rPr lang="fr-FR" dirty="0"/>
                        <a:t>AVK</a:t>
                      </a:r>
                    </a:p>
                  </a:txBody>
                  <a:tcPr/>
                </a:tc>
                <a:tc>
                  <a:txBody>
                    <a:bodyPr/>
                    <a:lstStyle/>
                    <a:p>
                      <a:r>
                        <a:rPr lang="fr-FR" dirty="0"/>
                        <a:t>Warfarine, </a:t>
                      </a:r>
                      <a:r>
                        <a:rPr lang="fr-FR" dirty="0" err="1"/>
                        <a:t>acénocoumarol</a:t>
                      </a:r>
                      <a:endParaRPr lang="fr-FR" dirty="0"/>
                    </a:p>
                  </a:txBody>
                  <a:tcPr/>
                </a:tc>
                <a:tc>
                  <a:txBody>
                    <a:bodyPr/>
                    <a:lstStyle/>
                    <a:p>
                      <a:r>
                        <a:rPr lang="fr-FR" dirty="0"/>
                        <a:t>Inhibition </a:t>
                      </a:r>
                      <a:r>
                        <a:rPr lang="fr-FR" dirty="0" err="1"/>
                        <a:t>synthese</a:t>
                      </a:r>
                      <a:r>
                        <a:rPr lang="fr-FR" dirty="0"/>
                        <a:t> de facteur, 2, 7, 9, 10</a:t>
                      </a:r>
                    </a:p>
                  </a:txBody>
                  <a:tcPr/>
                </a:tc>
                <a:tc>
                  <a:txBody>
                    <a:bodyPr/>
                    <a:lstStyle/>
                    <a:p>
                      <a:r>
                        <a:rPr lang="fr-FR" dirty="0"/>
                        <a:t>INR</a:t>
                      </a:r>
                    </a:p>
                  </a:txBody>
                  <a:tcPr/>
                </a:tc>
                <a:tc>
                  <a:txBody>
                    <a:bodyPr/>
                    <a:lstStyle/>
                    <a:p>
                      <a:r>
                        <a:rPr lang="fr-FR" dirty="0"/>
                        <a:t>FA,TVP, EP, </a:t>
                      </a:r>
                      <a:r>
                        <a:rPr lang="fr-FR" b="1" dirty="0">
                          <a:solidFill>
                            <a:srgbClr val="FF0000"/>
                          </a:solidFill>
                        </a:rPr>
                        <a:t>Prothèse valvulaire</a:t>
                      </a:r>
                    </a:p>
                  </a:txBody>
                  <a:tcPr/>
                </a:tc>
                <a:tc>
                  <a:txBody>
                    <a:bodyPr/>
                    <a:lstStyle/>
                    <a:p>
                      <a:r>
                        <a:rPr lang="fr-FR" dirty="0"/>
                        <a:t>Saignement, interaction multiple</a:t>
                      </a:r>
                    </a:p>
                  </a:txBody>
                  <a:tcPr/>
                </a:tc>
                <a:tc>
                  <a:txBody>
                    <a:bodyPr/>
                    <a:lstStyle/>
                    <a:p>
                      <a:r>
                        <a:rPr lang="fr-FR" dirty="0"/>
                        <a:t>Grossesse(1</a:t>
                      </a:r>
                      <a:r>
                        <a:rPr lang="fr-FR" baseline="30000" dirty="0"/>
                        <a:t>er</a:t>
                      </a:r>
                      <a:r>
                        <a:rPr lang="fr-FR" dirty="0"/>
                        <a:t> trimestre si forte dose)</a:t>
                      </a:r>
                    </a:p>
                  </a:txBody>
                  <a:tcPr/>
                </a:tc>
                <a:extLst>
                  <a:ext uri="{0D108BD9-81ED-4DB2-BD59-A6C34878D82A}">
                    <a16:rowId xmlns:a16="http://schemas.microsoft.com/office/drawing/2014/main" val="2300327825"/>
                  </a:ext>
                </a:extLst>
              </a:tr>
              <a:tr h="1594288">
                <a:tc>
                  <a:txBody>
                    <a:bodyPr/>
                    <a:lstStyle/>
                    <a:p>
                      <a:r>
                        <a:rPr lang="fr-FR" dirty="0"/>
                        <a:t>Héparines</a:t>
                      </a:r>
                    </a:p>
                  </a:txBody>
                  <a:tcPr/>
                </a:tc>
                <a:tc>
                  <a:txBody>
                    <a:bodyPr/>
                    <a:lstStyle/>
                    <a:p>
                      <a:r>
                        <a:rPr lang="fr-FR" dirty="0"/>
                        <a:t>HBPM, HNF</a:t>
                      </a:r>
                    </a:p>
                  </a:txBody>
                  <a:tcPr/>
                </a:tc>
                <a:tc>
                  <a:txBody>
                    <a:bodyPr/>
                    <a:lstStyle/>
                    <a:p>
                      <a:r>
                        <a:rPr lang="fr-FR" dirty="0"/>
                        <a:t>Activation antithrombine3, inhibition 2a, 10a</a:t>
                      </a:r>
                    </a:p>
                  </a:txBody>
                  <a:tcPr/>
                </a:tc>
                <a:tc>
                  <a:txBody>
                    <a:bodyPr/>
                    <a:lstStyle/>
                    <a:p>
                      <a:r>
                        <a:rPr lang="fr-FR" dirty="0"/>
                        <a:t>TCA( HNF)</a:t>
                      </a:r>
                    </a:p>
                  </a:txBody>
                  <a:tcPr/>
                </a:tc>
                <a:tc>
                  <a:txBody>
                    <a:bodyPr/>
                    <a:lstStyle/>
                    <a:p>
                      <a:r>
                        <a:rPr lang="fr-FR" dirty="0"/>
                        <a:t>TVP,EP, SCA, relais AVK</a:t>
                      </a:r>
                    </a:p>
                  </a:txBody>
                  <a:tcPr/>
                </a:tc>
                <a:tc>
                  <a:txBody>
                    <a:bodyPr/>
                    <a:lstStyle/>
                    <a:p>
                      <a:r>
                        <a:rPr lang="fr-FR" dirty="0"/>
                        <a:t>Hémorragies, Thrombopénie</a:t>
                      </a:r>
                    </a:p>
                  </a:txBody>
                  <a:tcPr/>
                </a:tc>
                <a:tc>
                  <a:txBody>
                    <a:bodyPr/>
                    <a:lstStyle/>
                    <a:p>
                      <a:r>
                        <a:rPr lang="fr-FR" dirty="0"/>
                        <a:t>antécédents thrombopénie </a:t>
                      </a:r>
                      <a:r>
                        <a:rPr lang="fr-FR" dirty="0" err="1"/>
                        <a:t>héparino</a:t>
                      </a:r>
                      <a:r>
                        <a:rPr lang="fr-FR" dirty="0"/>
                        <a:t> induite</a:t>
                      </a:r>
                    </a:p>
                  </a:txBody>
                  <a:tcPr/>
                </a:tc>
                <a:extLst>
                  <a:ext uri="{0D108BD9-81ED-4DB2-BD59-A6C34878D82A}">
                    <a16:rowId xmlns:a16="http://schemas.microsoft.com/office/drawing/2014/main" val="17587032"/>
                  </a:ext>
                </a:extLst>
              </a:tr>
              <a:tr h="1846018">
                <a:tc>
                  <a:txBody>
                    <a:bodyPr/>
                    <a:lstStyle/>
                    <a:p>
                      <a:r>
                        <a:rPr lang="fr-FR" dirty="0"/>
                        <a:t>AOD</a:t>
                      </a:r>
                    </a:p>
                  </a:txBody>
                  <a:tcPr/>
                </a:tc>
                <a:tc>
                  <a:txBody>
                    <a:bodyPr/>
                    <a:lstStyle/>
                    <a:p>
                      <a:endParaRPr lang="fr-FR" dirty="0"/>
                    </a:p>
                  </a:txBody>
                  <a:tcPr/>
                </a:tc>
                <a:tc>
                  <a:txBody>
                    <a:bodyPr/>
                    <a:lstStyle/>
                    <a:p>
                      <a:r>
                        <a:rPr lang="fr-FR" dirty="0"/>
                        <a:t>Inhibition directe 10a, 2a</a:t>
                      </a:r>
                    </a:p>
                  </a:txBody>
                  <a:tcPr/>
                </a:tc>
                <a:tc>
                  <a:txBody>
                    <a:bodyPr/>
                    <a:lstStyle/>
                    <a:p>
                      <a:r>
                        <a:rPr lang="fr-FR" dirty="0"/>
                        <a:t>Pas de suivie </a:t>
                      </a:r>
                      <a:r>
                        <a:rPr lang="fr-FR" dirty="0" err="1"/>
                        <a:t>regulier</a:t>
                      </a:r>
                      <a:endParaRPr lang="fr-FR" dirty="0"/>
                    </a:p>
                  </a:txBody>
                  <a:tcPr/>
                </a:tc>
                <a:tc>
                  <a:txBody>
                    <a:bodyPr/>
                    <a:lstStyle/>
                    <a:p>
                      <a:r>
                        <a:rPr lang="fr-FR" dirty="0"/>
                        <a:t>FA non valvulaire, TVP, EP</a:t>
                      </a:r>
                    </a:p>
                  </a:txBody>
                  <a:tcPr/>
                </a:tc>
                <a:tc>
                  <a:txBody>
                    <a:bodyPr/>
                    <a:lstStyle/>
                    <a:p>
                      <a:r>
                        <a:rPr lang="fr-FR" sz="1600" dirty="0"/>
                        <a:t>saignements</a:t>
                      </a:r>
                    </a:p>
                  </a:txBody>
                  <a:tcPr/>
                </a:tc>
                <a:tc>
                  <a:txBody>
                    <a:bodyPr/>
                    <a:lstStyle/>
                    <a:p>
                      <a:r>
                        <a:rPr lang="fr-FR" dirty="0"/>
                        <a:t>Insuffisance rénale</a:t>
                      </a:r>
                    </a:p>
                    <a:p>
                      <a:r>
                        <a:rPr lang="fr-FR" dirty="0"/>
                        <a:t>Valve mécanique</a:t>
                      </a:r>
                    </a:p>
                    <a:p>
                      <a:r>
                        <a:rPr lang="fr-FR" dirty="0"/>
                        <a:t>Grossesse</a:t>
                      </a:r>
                    </a:p>
                    <a:p>
                      <a:r>
                        <a:rPr lang="fr-FR" dirty="0"/>
                        <a:t>allaitement</a:t>
                      </a:r>
                    </a:p>
                  </a:txBody>
                  <a:tcPr/>
                </a:tc>
                <a:extLst>
                  <a:ext uri="{0D108BD9-81ED-4DB2-BD59-A6C34878D82A}">
                    <a16:rowId xmlns:a16="http://schemas.microsoft.com/office/drawing/2014/main" val="2811112884"/>
                  </a:ext>
                </a:extLst>
              </a:tr>
            </a:tbl>
          </a:graphicData>
        </a:graphic>
      </p:graphicFrame>
    </p:spTree>
    <p:extLst>
      <p:ext uri="{BB962C8B-B14F-4D97-AF65-F5344CB8AC3E}">
        <p14:creationId xmlns:p14="http://schemas.microsoft.com/office/powerpoint/2010/main" val="246258981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DCE6F1"/>
        </a:solidFill>
        <a:effectLst/>
      </p:bgPr>
    </p:bg>
    <p:spTree>
      <p:nvGrpSpPr>
        <p:cNvPr id="1" name=""/>
        <p:cNvGrpSpPr/>
        <p:nvPr/>
      </p:nvGrpSpPr>
      <p:grpSpPr>
        <a:xfrm>
          <a:off x="0" y="0"/>
          <a:ext cx="0" cy="0"/>
          <a:chOff x="0" y="0"/>
          <a:chExt cx="0" cy="0"/>
        </a:xfrm>
      </p:grpSpPr>
      <p:sp>
        <p:nvSpPr>
          <p:cNvPr id="2" name="Oval 1"/>
          <p:cNvSpPr/>
          <p:nvPr/>
        </p:nvSpPr>
        <p:spPr>
          <a:xfrm>
            <a:off x="7772400" y="182880"/>
            <a:ext cx="914400" cy="914400"/>
          </a:xfrm>
          <a:prstGeom prst="ellipse">
            <a:avLst/>
          </a:prstGeom>
          <a:solidFill>
            <a:srgbClr val="CC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457200"/>
            <a:ext cx="8229600" cy="914400"/>
          </a:xfrm>
          <a:prstGeom prst="rect">
            <a:avLst/>
          </a:prstGeom>
          <a:noFill/>
        </p:spPr>
        <p:txBody>
          <a:bodyPr wrap="square">
            <a:spAutoFit/>
          </a:bodyPr>
          <a:lstStyle/>
          <a:p>
            <a:pPr algn="l">
              <a:defRPr sz="2800" b="1">
                <a:solidFill>
                  <a:srgbClr val="003366"/>
                </a:solidFill>
              </a:defRPr>
            </a:pPr>
            <a:r>
              <a:t>Amiodarone</a:t>
            </a:r>
          </a:p>
        </p:txBody>
      </p:sp>
      <p:sp>
        <p:nvSpPr>
          <p:cNvPr id="4" name="TextBox 3"/>
          <p:cNvSpPr txBox="1"/>
          <p:nvPr/>
        </p:nvSpPr>
        <p:spPr>
          <a:xfrm>
            <a:off x="457200" y="1645920"/>
            <a:ext cx="8229600" cy="5029200"/>
          </a:xfrm>
          <a:prstGeom prst="rect">
            <a:avLst/>
          </a:prstGeom>
          <a:noFill/>
        </p:spPr>
        <p:txBody>
          <a:bodyPr wrap="square">
            <a:spAutoFit/>
          </a:bodyPr>
          <a:lstStyle/>
          <a:p>
            <a:pPr algn="l">
              <a:defRPr sz="2000">
                <a:solidFill>
                  <a:srgbClr val="000000"/>
                </a:solidFill>
              </a:defRPr>
            </a:pPr>
            <a:r>
              <a:t>Bloc K⁺ → allonge repolarisation</a:t>
            </a:r>
            <a:br/>
            <a:r>
              <a:t>Indications : FA, TV, FV</a:t>
            </a:r>
            <a:br/>
            <a:r>
              <a:t>Poso : charge 600–800 mg/j puis 200 mg/j</a:t>
            </a:r>
            <a:br/>
            <a:r>
              <a:t>EI : thyroïde, poumon, yeux</a:t>
            </a:r>
          </a:p>
        </p:txBody>
      </p:sp>
      <p:sp>
        <p:nvSpPr>
          <p:cNvPr id="5" name="TextBox 4"/>
          <p:cNvSpPr txBox="1"/>
          <p:nvPr/>
        </p:nvSpPr>
        <p:spPr>
          <a:xfrm>
            <a:off x="457200" y="6400800"/>
            <a:ext cx="8229600" cy="274320"/>
          </a:xfrm>
          <a:prstGeom prst="rect">
            <a:avLst/>
          </a:prstGeom>
          <a:noFill/>
        </p:spPr>
        <p:txBody>
          <a:bodyPr wrap="none">
            <a:spAutoFit/>
          </a:bodyPr>
          <a:lstStyle/>
          <a:p>
            <a:pPr algn="ctr">
              <a:defRPr sz="1200">
                <a:solidFill>
                  <a:srgbClr val="003366"/>
                </a:solidFill>
              </a:defRPr>
            </a:pPr>
            <a:r>
              <a:t>Service de Cardiologie – CHU Constantine</a:t>
            </a:r>
          </a:p>
        </p:txBody>
      </p:sp>
      <p:sp>
        <p:nvSpPr>
          <p:cNvPr id="6" name="Rectangle 5"/>
          <p:cNvSpPr/>
          <p:nvPr/>
        </p:nvSpPr>
        <p:spPr>
          <a:xfrm>
            <a:off x="457200" y="6675120"/>
            <a:ext cx="5367130" cy="9144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DCE6F1"/>
        </a:solidFill>
        <a:effectLst/>
      </p:bgPr>
    </p:bg>
    <p:spTree>
      <p:nvGrpSpPr>
        <p:cNvPr id="1" name=""/>
        <p:cNvGrpSpPr/>
        <p:nvPr/>
      </p:nvGrpSpPr>
      <p:grpSpPr>
        <a:xfrm>
          <a:off x="0" y="0"/>
          <a:ext cx="0" cy="0"/>
          <a:chOff x="0" y="0"/>
          <a:chExt cx="0" cy="0"/>
        </a:xfrm>
      </p:grpSpPr>
      <p:sp>
        <p:nvSpPr>
          <p:cNvPr id="2" name="Oval 1"/>
          <p:cNvSpPr/>
          <p:nvPr/>
        </p:nvSpPr>
        <p:spPr>
          <a:xfrm>
            <a:off x="7772400" y="182880"/>
            <a:ext cx="914400" cy="914400"/>
          </a:xfrm>
          <a:prstGeom prst="ellipse">
            <a:avLst/>
          </a:prstGeom>
          <a:solidFill>
            <a:srgbClr val="CC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121861"/>
            <a:ext cx="8229600" cy="914400"/>
          </a:xfrm>
          <a:prstGeom prst="rect">
            <a:avLst/>
          </a:prstGeom>
          <a:noFill/>
        </p:spPr>
        <p:txBody>
          <a:bodyPr wrap="square">
            <a:spAutoFit/>
          </a:bodyPr>
          <a:lstStyle/>
          <a:p>
            <a:pPr algn="l">
              <a:defRPr sz="2800" b="1">
                <a:solidFill>
                  <a:srgbClr val="003366"/>
                </a:solidFill>
              </a:defRPr>
            </a:pPr>
            <a:r>
              <a:rPr dirty="0" err="1"/>
              <a:t>Statines</a:t>
            </a:r>
            <a:endParaRPr dirty="0"/>
          </a:p>
        </p:txBody>
      </p:sp>
      <p:sp>
        <p:nvSpPr>
          <p:cNvPr id="4" name="TextBox 3"/>
          <p:cNvSpPr txBox="1"/>
          <p:nvPr/>
        </p:nvSpPr>
        <p:spPr>
          <a:xfrm>
            <a:off x="457200" y="1645920"/>
            <a:ext cx="8229600" cy="2554545"/>
          </a:xfrm>
          <a:prstGeom prst="rect">
            <a:avLst/>
          </a:prstGeom>
          <a:noFill/>
        </p:spPr>
        <p:txBody>
          <a:bodyPr wrap="square">
            <a:spAutoFit/>
          </a:bodyPr>
          <a:lstStyle/>
          <a:p>
            <a:pPr algn="l">
              <a:defRPr sz="2000">
                <a:solidFill>
                  <a:srgbClr val="000000"/>
                </a:solidFill>
              </a:defRPr>
            </a:pPr>
            <a:r>
              <a:rPr lang="fr-FR" dirty="0"/>
              <a:t>Objectifs: Baisse LDL</a:t>
            </a:r>
          </a:p>
          <a:p>
            <a:pPr algn="l">
              <a:defRPr sz="2000">
                <a:solidFill>
                  <a:srgbClr val="000000"/>
                </a:solidFill>
              </a:defRPr>
            </a:pPr>
            <a:r>
              <a:rPr lang="fr-FR" b="1" dirty="0">
                <a:solidFill>
                  <a:srgbClr val="FF0000"/>
                </a:solidFill>
              </a:rPr>
              <a:t>Prévention primaire ou secondaire</a:t>
            </a:r>
          </a:p>
          <a:p>
            <a:pPr algn="l">
              <a:defRPr sz="2000">
                <a:solidFill>
                  <a:srgbClr val="000000"/>
                </a:solidFill>
              </a:defRPr>
            </a:pPr>
            <a:r>
              <a:rPr dirty="0" err="1"/>
              <a:t>Atorvastatine</a:t>
            </a:r>
            <a:r>
              <a:rPr dirty="0"/>
              <a:t> 10–80 mg/j</a:t>
            </a:r>
            <a:r>
              <a:rPr lang="fr-FR" dirty="0"/>
              <a:t>, Rosuvastatine…</a:t>
            </a:r>
            <a:br>
              <a:rPr dirty="0"/>
            </a:br>
            <a:r>
              <a:rPr dirty="0"/>
              <a:t>EI : </a:t>
            </a:r>
            <a:r>
              <a:rPr dirty="0" err="1"/>
              <a:t>myalgies</a:t>
            </a:r>
            <a:r>
              <a:rPr dirty="0"/>
              <a:t>, ↑ transaminases</a:t>
            </a:r>
            <a:r>
              <a:rPr lang="fr-FR" dirty="0"/>
              <a:t>, effet </a:t>
            </a:r>
            <a:r>
              <a:rPr lang="fr-FR" dirty="0" err="1"/>
              <a:t>diabetogene</a:t>
            </a:r>
            <a:br>
              <a:rPr dirty="0"/>
            </a:br>
            <a:r>
              <a:rPr dirty="0"/>
              <a:t>CI : </a:t>
            </a:r>
            <a:r>
              <a:rPr dirty="0" err="1"/>
              <a:t>grossesse</a:t>
            </a:r>
            <a:r>
              <a:rPr lang="fr-FR" dirty="0"/>
              <a:t>, allaitement, atteinte </a:t>
            </a:r>
            <a:r>
              <a:rPr lang="fr-FR" dirty="0" err="1"/>
              <a:t>hepatique</a:t>
            </a:r>
            <a:endParaRPr lang="fr-FR" dirty="0"/>
          </a:p>
          <a:p>
            <a:pPr algn="l">
              <a:defRPr sz="2000">
                <a:solidFill>
                  <a:srgbClr val="000000"/>
                </a:solidFill>
              </a:defRPr>
            </a:pPr>
            <a:r>
              <a:rPr lang="fr-FR" dirty="0"/>
              <a:t>Suivie: bilan </a:t>
            </a:r>
            <a:r>
              <a:rPr lang="fr-FR" dirty="0" err="1"/>
              <a:t>hepatique</a:t>
            </a:r>
            <a:r>
              <a:rPr lang="fr-FR" dirty="0"/>
              <a:t> avant initiation et </a:t>
            </a:r>
            <a:r>
              <a:rPr lang="fr-FR" dirty="0" err="1"/>
              <a:t>apres</a:t>
            </a:r>
            <a:r>
              <a:rPr lang="fr-FR" dirty="0"/>
              <a:t> 3mois, CPK si douleur musculaire, dosage LDL pour ajustement</a:t>
            </a:r>
          </a:p>
          <a:p>
            <a:pPr algn="l">
              <a:defRPr sz="2000">
                <a:solidFill>
                  <a:srgbClr val="000000"/>
                </a:solidFill>
              </a:defRPr>
            </a:pPr>
            <a:endParaRPr dirty="0"/>
          </a:p>
        </p:txBody>
      </p:sp>
      <p:sp>
        <p:nvSpPr>
          <p:cNvPr id="5" name="TextBox 4"/>
          <p:cNvSpPr txBox="1"/>
          <p:nvPr/>
        </p:nvSpPr>
        <p:spPr>
          <a:xfrm>
            <a:off x="457200" y="6400800"/>
            <a:ext cx="8229600" cy="274320"/>
          </a:xfrm>
          <a:prstGeom prst="rect">
            <a:avLst/>
          </a:prstGeom>
          <a:noFill/>
        </p:spPr>
        <p:txBody>
          <a:bodyPr wrap="none">
            <a:spAutoFit/>
          </a:bodyPr>
          <a:lstStyle/>
          <a:p>
            <a:pPr algn="ctr">
              <a:defRPr sz="1200">
                <a:solidFill>
                  <a:srgbClr val="003366"/>
                </a:solidFill>
              </a:defRPr>
            </a:pPr>
            <a:r>
              <a:t>Service de Cardiologie – CHU Constantine</a:t>
            </a:r>
          </a:p>
        </p:txBody>
      </p:sp>
      <p:sp>
        <p:nvSpPr>
          <p:cNvPr id="6" name="Rectangle 5"/>
          <p:cNvSpPr/>
          <p:nvPr/>
        </p:nvSpPr>
        <p:spPr>
          <a:xfrm>
            <a:off x="457200" y="6675120"/>
            <a:ext cx="5724939" cy="9144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2">
            <a:extLst>
              <a:ext uri="{FF2B5EF4-FFF2-40B4-BE49-F238E27FC236}">
                <a16:creationId xmlns:a16="http://schemas.microsoft.com/office/drawing/2014/main" id="{245BBE05-E696-F067-D459-F4D48BF02797}"/>
              </a:ext>
            </a:extLst>
          </p:cNvPr>
          <p:cNvSpPr txBox="1"/>
          <p:nvPr/>
        </p:nvSpPr>
        <p:spPr>
          <a:xfrm>
            <a:off x="363793" y="12291"/>
            <a:ext cx="8229600" cy="523220"/>
          </a:xfrm>
          <a:prstGeom prst="rect">
            <a:avLst/>
          </a:prstGeom>
          <a:noFill/>
        </p:spPr>
        <p:txBody>
          <a:bodyPr wrap="square">
            <a:spAutoFit/>
          </a:bodyPr>
          <a:lstStyle/>
          <a:p>
            <a:pPr algn="l">
              <a:defRPr sz="2800" b="1">
                <a:solidFill>
                  <a:srgbClr val="003366"/>
                </a:solidFill>
              </a:defRPr>
            </a:pPr>
            <a:r>
              <a:rPr lang="fr-FR" dirty="0"/>
              <a:t>Anti </a:t>
            </a:r>
            <a:r>
              <a:rPr lang="fr-FR" dirty="0" err="1"/>
              <a:t>lipémiants</a:t>
            </a:r>
            <a:endParaRPr dirty="0"/>
          </a:p>
        </p:txBody>
      </p:sp>
      <p:sp>
        <p:nvSpPr>
          <p:cNvPr id="8" name="TextBox 2">
            <a:extLst>
              <a:ext uri="{FF2B5EF4-FFF2-40B4-BE49-F238E27FC236}">
                <a16:creationId xmlns:a16="http://schemas.microsoft.com/office/drawing/2014/main" id="{21F4ED82-95AB-D987-C181-7AD0B44F2579}"/>
              </a:ext>
            </a:extLst>
          </p:cNvPr>
          <p:cNvSpPr txBox="1"/>
          <p:nvPr/>
        </p:nvSpPr>
        <p:spPr>
          <a:xfrm>
            <a:off x="516193" y="4017585"/>
            <a:ext cx="8229600" cy="954107"/>
          </a:xfrm>
          <a:prstGeom prst="rect">
            <a:avLst/>
          </a:prstGeom>
          <a:noFill/>
        </p:spPr>
        <p:txBody>
          <a:bodyPr wrap="square">
            <a:spAutoFit/>
          </a:bodyPr>
          <a:lstStyle/>
          <a:p>
            <a:pPr algn="l">
              <a:defRPr sz="2800" b="1">
                <a:solidFill>
                  <a:srgbClr val="003366"/>
                </a:solidFill>
              </a:defRPr>
            </a:pPr>
            <a:r>
              <a:rPr lang="fr-FR" dirty="0" err="1"/>
              <a:t>Ezétimibe</a:t>
            </a:r>
            <a:endParaRPr lang="fr-FR" dirty="0"/>
          </a:p>
          <a:p>
            <a:pPr algn="l">
              <a:defRPr sz="2800" b="1">
                <a:solidFill>
                  <a:srgbClr val="003366"/>
                </a:solidFill>
              </a:defRPr>
            </a:pPr>
            <a:endParaRPr dirty="0"/>
          </a:p>
        </p:txBody>
      </p:sp>
      <p:sp>
        <p:nvSpPr>
          <p:cNvPr id="10" name="ZoneTexte 9">
            <a:extLst>
              <a:ext uri="{FF2B5EF4-FFF2-40B4-BE49-F238E27FC236}">
                <a16:creationId xmlns:a16="http://schemas.microsoft.com/office/drawing/2014/main" id="{98EBCBB4-C3BC-5455-A65F-A2B8E036E3BF}"/>
              </a:ext>
            </a:extLst>
          </p:cNvPr>
          <p:cNvSpPr txBox="1"/>
          <p:nvPr/>
        </p:nvSpPr>
        <p:spPr>
          <a:xfrm>
            <a:off x="457200" y="4539858"/>
            <a:ext cx="4572000" cy="1200329"/>
          </a:xfrm>
          <a:prstGeom prst="rect">
            <a:avLst/>
          </a:prstGeom>
          <a:noFill/>
        </p:spPr>
        <p:txBody>
          <a:bodyPr wrap="square">
            <a:spAutoFit/>
          </a:bodyPr>
          <a:lstStyle/>
          <a:p>
            <a:r>
              <a:rPr lang="fr-FR" dirty="0"/>
              <a:t>Post SCA quasi </a:t>
            </a:r>
            <a:r>
              <a:rPr lang="fr-FR" dirty="0" err="1"/>
              <a:t>systematique</a:t>
            </a:r>
            <a:endParaRPr lang="fr-FR" dirty="0"/>
          </a:p>
          <a:p>
            <a:r>
              <a:rPr lang="fr-FR" dirty="0"/>
              <a:t>Association avec statine pour atteindre cible en </a:t>
            </a:r>
            <a:r>
              <a:rPr lang="fr-FR" dirty="0" err="1"/>
              <a:t>prevention</a:t>
            </a:r>
            <a:r>
              <a:rPr lang="fr-FR" dirty="0"/>
              <a:t> secondaire</a:t>
            </a:r>
          </a:p>
          <a:p>
            <a:r>
              <a:rPr lang="fr-FR" dirty="0"/>
              <a:t> </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DCE6F1"/>
        </a:solidFill>
        <a:effectLst/>
      </p:bgPr>
    </p:bg>
    <p:spTree>
      <p:nvGrpSpPr>
        <p:cNvPr id="1" name=""/>
        <p:cNvGrpSpPr/>
        <p:nvPr/>
      </p:nvGrpSpPr>
      <p:grpSpPr>
        <a:xfrm>
          <a:off x="0" y="0"/>
          <a:ext cx="0" cy="0"/>
          <a:chOff x="0" y="0"/>
          <a:chExt cx="0" cy="0"/>
        </a:xfrm>
      </p:grpSpPr>
      <p:sp>
        <p:nvSpPr>
          <p:cNvPr id="2" name="Oval 1"/>
          <p:cNvSpPr/>
          <p:nvPr/>
        </p:nvSpPr>
        <p:spPr>
          <a:xfrm>
            <a:off x="7772400" y="182880"/>
            <a:ext cx="914400" cy="914400"/>
          </a:xfrm>
          <a:prstGeom prst="ellipse">
            <a:avLst/>
          </a:prstGeom>
          <a:solidFill>
            <a:srgbClr val="CC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457200"/>
            <a:ext cx="8229600" cy="914400"/>
          </a:xfrm>
          <a:prstGeom prst="rect">
            <a:avLst/>
          </a:prstGeom>
          <a:noFill/>
        </p:spPr>
        <p:txBody>
          <a:bodyPr wrap="square">
            <a:spAutoFit/>
          </a:bodyPr>
          <a:lstStyle/>
          <a:p>
            <a:pPr algn="l">
              <a:defRPr sz="2800" b="1">
                <a:solidFill>
                  <a:srgbClr val="003366"/>
                </a:solidFill>
              </a:defRPr>
            </a:pPr>
            <a:r>
              <a:t>Conclusion</a:t>
            </a:r>
          </a:p>
        </p:txBody>
      </p:sp>
      <p:sp>
        <p:nvSpPr>
          <p:cNvPr id="4" name="TextBox 3"/>
          <p:cNvSpPr txBox="1"/>
          <p:nvPr/>
        </p:nvSpPr>
        <p:spPr>
          <a:xfrm>
            <a:off x="457200" y="1645920"/>
            <a:ext cx="8229600" cy="5029200"/>
          </a:xfrm>
          <a:prstGeom prst="rect">
            <a:avLst/>
          </a:prstGeom>
          <a:noFill/>
        </p:spPr>
        <p:txBody>
          <a:bodyPr wrap="square">
            <a:spAutoFit/>
          </a:bodyPr>
          <a:lstStyle/>
          <a:p>
            <a:pPr algn="l">
              <a:defRPr sz="2000">
                <a:solidFill>
                  <a:srgbClr val="000000"/>
                </a:solidFill>
              </a:defRPr>
            </a:pPr>
            <a:r>
              <a:t>💡 Traiter le cœur, c’est traiter le patient.</a:t>
            </a:r>
            <a:br/>
            <a:r>
              <a:t>📈 Associer médicaments + hygiène de vie.</a:t>
            </a:r>
            <a:br/>
            <a:r>
              <a:t>👨‍⚕️ Prescription raisonnée = sécurité.</a:t>
            </a:r>
          </a:p>
        </p:txBody>
      </p:sp>
      <p:sp>
        <p:nvSpPr>
          <p:cNvPr id="5" name="TextBox 4"/>
          <p:cNvSpPr txBox="1"/>
          <p:nvPr/>
        </p:nvSpPr>
        <p:spPr>
          <a:xfrm>
            <a:off x="457200" y="6400800"/>
            <a:ext cx="8229600" cy="274320"/>
          </a:xfrm>
          <a:prstGeom prst="rect">
            <a:avLst/>
          </a:prstGeom>
          <a:noFill/>
        </p:spPr>
        <p:txBody>
          <a:bodyPr wrap="none">
            <a:spAutoFit/>
          </a:bodyPr>
          <a:lstStyle/>
          <a:p>
            <a:pPr algn="ctr">
              <a:defRPr sz="1200">
                <a:solidFill>
                  <a:srgbClr val="003366"/>
                </a:solidFill>
              </a:defRPr>
            </a:pPr>
            <a:r>
              <a:t>Service de Cardiologie – CHU Constantine</a:t>
            </a:r>
          </a:p>
        </p:txBody>
      </p:sp>
      <p:sp>
        <p:nvSpPr>
          <p:cNvPr id="6" name="Rectangle 5"/>
          <p:cNvSpPr/>
          <p:nvPr/>
        </p:nvSpPr>
        <p:spPr>
          <a:xfrm>
            <a:off x="457200" y="6675120"/>
            <a:ext cx="7871791" cy="9144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DCE6F1"/>
        </a:solidFill>
        <a:effectLst/>
      </p:bgPr>
    </p:bg>
    <p:spTree>
      <p:nvGrpSpPr>
        <p:cNvPr id="1" name=""/>
        <p:cNvGrpSpPr/>
        <p:nvPr/>
      </p:nvGrpSpPr>
      <p:grpSpPr>
        <a:xfrm>
          <a:off x="0" y="0"/>
          <a:ext cx="0" cy="0"/>
          <a:chOff x="0" y="0"/>
          <a:chExt cx="0" cy="0"/>
        </a:xfrm>
      </p:grpSpPr>
      <p:sp>
        <p:nvSpPr>
          <p:cNvPr id="2" name="Oval 1"/>
          <p:cNvSpPr/>
          <p:nvPr/>
        </p:nvSpPr>
        <p:spPr>
          <a:xfrm>
            <a:off x="7772400" y="182880"/>
            <a:ext cx="914400" cy="914400"/>
          </a:xfrm>
          <a:prstGeom prst="ellipse">
            <a:avLst/>
          </a:prstGeom>
          <a:solidFill>
            <a:srgbClr val="CC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457200"/>
            <a:ext cx="8229600" cy="914400"/>
          </a:xfrm>
          <a:prstGeom prst="rect">
            <a:avLst/>
          </a:prstGeom>
          <a:noFill/>
        </p:spPr>
        <p:txBody>
          <a:bodyPr wrap="square">
            <a:spAutoFit/>
          </a:bodyPr>
          <a:lstStyle/>
          <a:p>
            <a:pPr algn="l">
              <a:defRPr sz="2800" b="1">
                <a:solidFill>
                  <a:srgbClr val="003366"/>
                </a:solidFill>
              </a:defRPr>
            </a:pPr>
            <a:r>
              <a:t>Merci pour votre attention – Questions ?</a:t>
            </a:r>
          </a:p>
        </p:txBody>
      </p:sp>
      <p:sp>
        <p:nvSpPr>
          <p:cNvPr id="4" name="TextBox 3"/>
          <p:cNvSpPr txBox="1"/>
          <p:nvPr/>
        </p:nvSpPr>
        <p:spPr>
          <a:xfrm>
            <a:off x="457200" y="6400800"/>
            <a:ext cx="8229600" cy="274320"/>
          </a:xfrm>
          <a:prstGeom prst="rect">
            <a:avLst/>
          </a:prstGeom>
          <a:noFill/>
        </p:spPr>
        <p:txBody>
          <a:bodyPr wrap="none">
            <a:spAutoFit/>
          </a:bodyPr>
          <a:lstStyle/>
          <a:p>
            <a:pPr algn="ctr">
              <a:defRPr sz="1200">
                <a:solidFill>
                  <a:srgbClr val="003366"/>
                </a:solidFill>
              </a:defRPr>
            </a:pPr>
            <a:r>
              <a:t>Service de Cardiologie – CHU Constantine</a:t>
            </a:r>
          </a:p>
        </p:txBody>
      </p:sp>
      <p:sp>
        <p:nvSpPr>
          <p:cNvPr id="5" name="Rectangle 4"/>
          <p:cNvSpPr/>
          <p:nvPr/>
        </p:nvSpPr>
        <p:spPr>
          <a:xfrm>
            <a:off x="457200" y="6675120"/>
            <a:ext cx="8229600" cy="9144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205</TotalTime>
  <Words>1571</Words>
  <Application>Microsoft Office PowerPoint</Application>
  <PresentationFormat>Affichage à l'écran (4:3)</PresentationFormat>
  <Paragraphs>207</Paragraphs>
  <Slides>29</Slides>
  <Notes>1</Notes>
  <HiddenSlides>0</HiddenSlides>
  <MMClips>0</MMClips>
  <ScaleCrop>false</ScaleCrop>
  <HeadingPairs>
    <vt:vector size="6" baseType="variant">
      <vt:variant>
        <vt:lpstr>Polices utilisées</vt:lpstr>
      </vt:variant>
      <vt:variant>
        <vt:i4>7</vt:i4>
      </vt:variant>
      <vt:variant>
        <vt:lpstr>Thème</vt:lpstr>
      </vt:variant>
      <vt:variant>
        <vt:i4>1</vt:i4>
      </vt:variant>
      <vt:variant>
        <vt:lpstr>Titres des diapositives</vt:lpstr>
      </vt:variant>
      <vt:variant>
        <vt:i4>29</vt:i4>
      </vt:variant>
    </vt:vector>
  </HeadingPairs>
  <TitlesOfParts>
    <vt:vector size="37" baseType="lpstr">
      <vt:lpstr>Arial</vt:lpstr>
      <vt:lpstr>Baskerville SemiBold</vt:lpstr>
      <vt:lpstr>Calibri</vt:lpstr>
      <vt:lpstr>Segoe UI</vt:lpstr>
      <vt:lpstr>Söhne</vt:lpstr>
      <vt:lpstr>Symbol</vt:lpstr>
      <vt:lpstr>Wingdings</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TRETEC</dc:creator>
  <cp:keywords/>
  <dc:description>generated using python-pptx</dc:description>
  <cp:lastModifiedBy>boulacheb djalil</cp:lastModifiedBy>
  <cp:revision>2</cp:revision>
  <dcterms:created xsi:type="dcterms:W3CDTF">2013-01-27T09:14:16Z</dcterms:created>
  <dcterms:modified xsi:type="dcterms:W3CDTF">2025-10-21T12:30:52Z</dcterms:modified>
  <cp:category/>
</cp:coreProperties>
</file>