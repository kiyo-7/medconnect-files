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57" r:id="rId4"/>
    <p:sldId id="261" r:id="rId5"/>
    <p:sldId id="289" r:id="rId6"/>
    <p:sldId id="288" r:id="rId7"/>
    <p:sldId id="287" r:id="rId8"/>
    <p:sldId id="266" r:id="rId9"/>
    <p:sldId id="291" r:id="rId10"/>
    <p:sldId id="258" r:id="rId11"/>
    <p:sldId id="297" r:id="rId12"/>
    <p:sldId id="278" r:id="rId13"/>
    <p:sldId id="290" r:id="rId14"/>
    <p:sldId id="282" r:id="rId15"/>
    <p:sldId id="260" r:id="rId16"/>
    <p:sldId id="293" r:id="rId17"/>
    <p:sldId id="277" r:id="rId18"/>
    <p:sldId id="273" r:id="rId19"/>
    <p:sldId id="275" r:id="rId20"/>
    <p:sldId id="280" r:id="rId21"/>
    <p:sldId id="281" r:id="rId22"/>
    <p:sldId id="285" r:id="rId23"/>
    <p:sldId id="296" r:id="rId2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A342802-1C57-4ACB-81B5-5EB2B090AE1B}" type="datetimeFigureOut">
              <a:rPr lang="fr-FR" smtClean="0"/>
              <a:pPr/>
              <a:t>15/10/2025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67F7818-86C8-400F-89C6-B77F40F403F0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Risque</a:t>
            </a:r>
            <a:r>
              <a:rPr lang="fr-FR" dirty="0" smtClean="0"/>
              <a:t> </a:t>
            </a:r>
            <a:r>
              <a:rPr lang="fr-FR" dirty="0" smtClean="0"/>
              <a:t>cardio-vasculaire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Dr </a:t>
            </a:r>
            <a:r>
              <a:rPr lang="fr-FR" dirty="0" err="1" smtClean="0"/>
              <a:t>Namoune</a:t>
            </a:r>
            <a:endParaRPr lang="fr-FR" dirty="0" smtClean="0"/>
          </a:p>
          <a:p>
            <a:r>
              <a:rPr lang="fr-FR" dirty="0" smtClean="0"/>
              <a:t>HMRUC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Plan: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1-Indications de l’évaluation du RCV</a:t>
            </a:r>
          </a:p>
          <a:p>
            <a:pPr>
              <a:buNone/>
            </a:pPr>
            <a:r>
              <a:rPr lang="fr-FR" dirty="0" smtClean="0"/>
              <a:t>2-Méthodes d’évaluation du RCV et Catégories de RCV</a:t>
            </a:r>
          </a:p>
          <a:p>
            <a:pPr>
              <a:buNone/>
            </a:pPr>
            <a:r>
              <a:rPr lang="fr-FR" dirty="0" smtClean="0"/>
              <a:t>3-Prise en charge du RCV et des FDRCV en fonction de la catégorie de risque</a:t>
            </a:r>
          </a:p>
          <a:p>
            <a:endParaRPr lang="fr-FR" dirty="0" smtClean="0"/>
          </a:p>
          <a:p>
            <a:pPr>
              <a:buNone/>
            </a:pPr>
            <a:r>
              <a:rPr lang="fr-FR" sz="2400" dirty="0" smtClean="0"/>
              <a:t>RCV=risque cardiovasculaire</a:t>
            </a:r>
          </a:p>
          <a:p>
            <a:pPr>
              <a:buNone/>
            </a:pPr>
            <a:r>
              <a:rPr lang="fr-FR" sz="2400" dirty="0" smtClean="0"/>
              <a:t>FDRCV=facteur de risque cardiovasculaire</a:t>
            </a:r>
            <a:endParaRPr lang="fr-F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928670"/>
            <a:ext cx="8229600" cy="632666"/>
          </a:xfrm>
        </p:spPr>
        <p:txBody>
          <a:bodyPr>
            <a:normAutofit fontScale="90000"/>
          </a:bodyPr>
          <a:lstStyle/>
          <a:p>
            <a:r>
              <a:rPr lang="fr-FR" sz="4000" b="1" dirty="0" smtClean="0"/>
              <a:t>Indications de l’évaluation du RCV: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 smtClean="0"/>
              <a:t>L’évaluation systématique </a:t>
            </a:r>
            <a:r>
              <a:rPr lang="fr-FR" dirty="0" smtClean="0"/>
              <a:t>: en présence d’un </a:t>
            </a:r>
            <a:r>
              <a:rPr lang="fr-FR" b="1" dirty="0" smtClean="0">
                <a:solidFill>
                  <a:srgbClr val="C00000"/>
                </a:solidFill>
              </a:rPr>
              <a:t>facteur de risque </a:t>
            </a:r>
            <a:r>
              <a:rPr lang="fr-FR" dirty="0" smtClean="0"/>
              <a:t>(</a:t>
            </a:r>
            <a:r>
              <a:rPr lang="fr-FR" dirty="0" err="1" smtClean="0"/>
              <a:t>FdR</a:t>
            </a:r>
            <a:r>
              <a:rPr lang="fr-FR" dirty="0" smtClean="0"/>
              <a:t>) cardiovasculaire majeur (ATCD familial de MCV précoce, tabagisme, HTA, diabète, dyslipidémie, obésité) ou </a:t>
            </a:r>
            <a:r>
              <a:rPr lang="fr-FR" dirty="0" err="1" smtClean="0"/>
              <a:t>comorbidité</a:t>
            </a:r>
            <a:r>
              <a:rPr lang="fr-FR" dirty="0" smtClean="0"/>
              <a:t> augmentant le risque cardiovasculaire comme l’insuffisance rénale.</a:t>
            </a:r>
          </a:p>
          <a:p>
            <a:r>
              <a:rPr lang="fr-FR" b="1" dirty="0" smtClean="0"/>
              <a:t>Une évaluation opportuniste </a:t>
            </a:r>
            <a:r>
              <a:rPr lang="fr-FR" dirty="0" smtClean="0"/>
              <a:t>du risque cardiovasculaire (RCV) dans la population générale:</a:t>
            </a:r>
          </a:p>
          <a:p>
            <a:r>
              <a:rPr lang="fr-FR" dirty="0" smtClean="0"/>
              <a:t> hommes &gt; 40 ans </a:t>
            </a:r>
          </a:p>
          <a:p>
            <a:r>
              <a:rPr lang="fr-FR" dirty="0" smtClean="0"/>
              <a:t> les femmes &gt; 50 ans ou ménopausées </a:t>
            </a:r>
          </a:p>
          <a:p>
            <a:r>
              <a:rPr lang="fr-FR" dirty="0" smtClean="0"/>
              <a:t>sans facteur de risque de maladie cardiovasculaire </a:t>
            </a:r>
            <a:r>
              <a:rPr lang="fr-FR" dirty="0" err="1" smtClean="0"/>
              <a:t>athéroscléreuse</a:t>
            </a:r>
            <a:r>
              <a:rPr lang="fr-FR" dirty="0" smtClean="0"/>
              <a:t> connu.</a:t>
            </a: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5852" y="571480"/>
            <a:ext cx="7258072" cy="846980"/>
          </a:xfrm>
        </p:spPr>
        <p:txBody>
          <a:bodyPr>
            <a:normAutofit fontScale="90000"/>
          </a:bodyPr>
          <a:lstStyle/>
          <a:p>
            <a:r>
              <a:rPr lang="fr-FR" sz="4000" b="1" dirty="0" smtClean="0"/>
              <a:t>Méthodes d’évaluation du RCV et catégories de RCV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 smtClean="0"/>
              <a:t> Les patients avec:</a:t>
            </a:r>
          </a:p>
          <a:p>
            <a:pPr>
              <a:buNone/>
            </a:pPr>
            <a:r>
              <a:rPr lang="fr-FR" dirty="0" smtClean="0"/>
              <a:t> 1-une maladie cardiovasculaire </a:t>
            </a:r>
            <a:r>
              <a:rPr lang="fr-FR" dirty="0" err="1" smtClean="0"/>
              <a:t>athéroscléreuse</a:t>
            </a:r>
            <a:r>
              <a:rPr lang="fr-FR" dirty="0" smtClean="0"/>
              <a:t> établie  </a:t>
            </a:r>
          </a:p>
          <a:p>
            <a:pPr>
              <a:buNone/>
            </a:pPr>
            <a:r>
              <a:rPr lang="fr-FR" dirty="0" smtClean="0"/>
              <a:t> 2-une maladie rénale chronique sévère  </a:t>
            </a:r>
          </a:p>
          <a:p>
            <a:pPr>
              <a:buNone/>
            </a:pPr>
            <a:r>
              <a:rPr lang="fr-FR" dirty="0" smtClean="0"/>
              <a:t> 3-DT2 avec atteinte sévère d’ un organe cible</a:t>
            </a:r>
          </a:p>
          <a:p>
            <a:pPr>
              <a:buNone/>
            </a:pPr>
            <a:r>
              <a:rPr lang="fr-FR" dirty="0" smtClean="0"/>
              <a:t> 4-une anomalie génétique liée aux lipides ou à la PA (hypercholestérolémie familiale) </a:t>
            </a:r>
          </a:p>
          <a:p>
            <a:pPr>
              <a:buNone/>
            </a:pPr>
            <a:r>
              <a:rPr lang="fr-FR" dirty="0" smtClean="0"/>
              <a:t> sont à considérer d’emblée comme étant à </a:t>
            </a:r>
            <a:r>
              <a:rPr lang="fr-FR" b="1" dirty="0" smtClean="0">
                <a:solidFill>
                  <a:srgbClr val="C00000"/>
                </a:solidFill>
              </a:rPr>
              <a:t>haut ou très haut risque de MCV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229600" cy="1143000"/>
          </a:xfrm>
        </p:spPr>
        <p:txBody>
          <a:bodyPr>
            <a:normAutofit/>
          </a:bodyPr>
          <a:lstStyle/>
          <a:p>
            <a:r>
              <a:rPr lang="fr-FR" sz="4000" b="1" dirty="0" smtClean="0"/>
              <a:t>Maladie cardiovasculaire établie(MCV)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500174"/>
            <a:ext cx="8229600" cy="4824426"/>
          </a:xfrm>
        </p:spPr>
        <p:txBody>
          <a:bodyPr/>
          <a:lstStyle/>
          <a:p>
            <a:r>
              <a:rPr lang="fr-FR" dirty="0" smtClean="0"/>
              <a:t>ATCD de SCA ou de revascularisation myocardique </a:t>
            </a:r>
          </a:p>
          <a:p>
            <a:r>
              <a:rPr lang="fr-FR" dirty="0" smtClean="0"/>
              <a:t>ATCD d’AVC ,</a:t>
            </a:r>
            <a:r>
              <a:rPr lang="fr-FR" dirty="0" err="1" smtClean="0"/>
              <a:t>AIT,anévrysme</a:t>
            </a:r>
            <a:r>
              <a:rPr lang="fr-FR" dirty="0" smtClean="0"/>
              <a:t> aortique ou AOMI</a:t>
            </a:r>
          </a:p>
          <a:p>
            <a:r>
              <a:rPr lang="fr-FR" dirty="0" smtClean="0"/>
              <a:t>La présence d’une sténose coronaire ou carotidienne à l’imagerie</a:t>
            </a:r>
          </a:p>
          <a:p>
            <a:pPr>
              <a:buNone/>
            </a:pPr>
            <a:r>
              <a:rPr lang="fr-FR" b="1" dirty="0" smtClean="0">
                <a:solidFill>
                  <a:srgbClr val="C00000"/>
                </a:solidFill>
              </a:rPr>
              <a:t>                      Très haut RCV</a:t>
            </a:r>
          </a:p>
          <a:p>
            <a:endParaRPr lang="fr-FR" dirty="0"/>
          </a:p>
        </p:txBody>
      </p:sp>
      <p:sp>
        <p:nvSpPr>
          <p:cNvPr id="4" name="Flèche droite 3"/>
          <p:cNvSpPr/>
          <p:nvPr/>
        </p:nvSpPr>
        <p:spPr>
          <a:xfrm>
            <a:off x="1214414" y="3429000"/>
            <a:ext cx="1000132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500042"/>
            <a:ext cx="8229600" cy="714372"/>
          </a:xfrm>
        </p:spPr>
        <p:txBody>
          <a:bodyPr>
            <a:normAutofit/>
          </a:bodyPr>
          <a:lstStyle/>
          <a:p>
            <a:r>
              <a:rPr lang="fr-FR" sz="4000" b="1" dirty="0" smtClean="0"/>
              <a:t>Maladie rénale chronique sévère(MRC)</a:t>
            </a:r>
            <a:endParaRPr lang="fr-FR" sz="4000" b="1" dirty="0"/>
          </a:p>
        </p:txBody>
      </p:sp>
      <p:pic>
        <p:nvPicPr>
          <p:cNvPr id="22530" name="Picture 2" descr="C:\Users\IRV_SOFT2023\Downloads\images (2)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71612"/>
            <a:ext cx="8786874" cy="47863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/>
              <a:t>DT2 avec atteinte sévère d’un organe cible</a:t>
            </a:r>
            <a:br>
              <a:rPr lang="fr-FR" sz="3200" b="1" dirty="0" smtClean="0"/>
            </a:br>
            <a:r>
              <a:rPr lang="fr-FR" sz="3200" b="1" dirty="0" smtClean="0"/>
              <a:t>                  </a:t>
            </a:r>
            <a:endParaRPr lang="fr-FR" sz="3200" b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half" idx="2"/>
          </p:nvPr>
        </p:nvSpPr>
        <p:spPr>
          <a:xfrm>
            <a:off x="571472" y="1920085"/>
            <a:ext cx="8115328" cy="4434840"/>
          </a:xfrm>
        </p:spPr>
        <p:txBody>
          <a:bodyPr>
            <a:normAutofit/>
          </a:bodyPr>
          <a:lstStyle/>
          <a:p>
            <a:r>
              <a:rPr lang="fr-FR" dirty="0" smtClean="0"/>
              <a:t>DFG&lt;45ml/min/1.73</a:t>
            </a:r>
          </a:p>
          <a:p>
            <a:r>
              <a:rPr lang="fr-FR" dirty="0" smtClean="0"/>
              <a:t>DFG 45-59 avec </a:t>
            </a:r>
            <a:r>
              <a:rPr lang="fr-FR" dirty="0" err="1" smtClean="0"/>
              <a:t>microalbimunirie</a:t>
            </a:r>
            <a:r>
              <a:rPr lang="fr-FR" dirty="0" smtClean="0"/>
              <a:t> (30-300 mg/g)</a:t>
            </a:r>
          </a:p>
          <a:p>
            <a:r>
              <a:rPr lang="fr-FR" dirty="0" smtClean="0"/>
              <a:t>protéinurie&gt;300 mg/g </a:t>
            </a:r>
            <a:r>
              <a:rPr lang="fr-FR" dirty="0" err="1" smtClean="0"/>
              <a:t>qq</a:t>
            </a:r>
            <a:r>
              <a:rPr lang="fr-FR" dirty="0" smtClean="0"/>
              <a:t> soit DFG</a:t>
            </a:r>
          </a:p>
          <a:p>
            <a:r>
              <a:rPr lang="fr-FR" dirty="0" smtClean="0"/>
              <a:t>Présence d’une atteinte </a:t>
            </a:r>
            <a:r>
              <a:rPr lang="fr-FR" dirty="0" err="1" smtClean="0"/>
              <a:t>microvasculaire</a:t>
            </a:r>
            <a:r>
              <a:rPr lang="fr-FR" dirty="0" smtClean="0"/>
              <a:t> dans au moins 3 sites différents:</a:t>
            </a:r>
          </a:p>
          <a:p>
            <a:pPr>
              <a:buNone/>
            </a:pPr>
            <a:r>
              <a:rPr lang="fr-FR" dirty="0" smtClean="0"/>
              <a:t>     micro albuminurie + rétinopathie +neuropathie</a:t>
            </a:r>
          </a:p>
          <a:p>
            <a:pPr>
              <a:buNone/>
            </a:pPr>
            <a:r>
              <a:rPr lang="fr-FR" dirty="0" smtClean="0"/>
              <a:t>    </a:t>
            </a:r>
            <a:r>
              <a:rPr lang="fr-FR" b="1" dirty="0" smtClean="0">
                <a:solidFill>
                  <a:srgbClr val="C00000"/>
                </a:solidFill>
              </a:rPr>
              <a:t>              Très haut RCV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7" name="Flèche droite 6"/>
          <p:cNvSpPr/>
          <p:nvPr/>
        </p:nvSpPr>
        <p:spPr>
          <a:xfrm>
            <a:off x="857224" y="4786322"/>
            <a:ext cx="114300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14422"/>
            <a:ext cx="8786874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Espace réservé du contenu 10"/>
          <p:cNvSpPr>
            <a:spLocks noGrp="1"/>
          </p:cNvSpPr>
          <p:nvPr>
            <p:ph idx="1"/>
          </p:nvPr>
        </p:nvSpPr>
        <p:spPr>
          <a:xfrm>
            <a:off x="457200" y="3000372"/>
            <a:ext cx="8229600" cy="3324228"/>
          </a:xfrm>
        </p:spPr>
        <p:txBody>
          <a:bodyPr/>
          <a:lstStyle/>
          <a:p>
            <a:r>
              <a:rPr lang="fr-FR" dirty="0" smtClean="0"/>
              <a:t>Hypercholestérolémie familiale avec autre FDRCV:</a:t>
            </a:r>
          </a:p>
          <a:p>
            <a:pPr>
              <a:buNone/>
            </a:pPr>
            <a:r>
              <a:rPr lang="fr-FR" b="1" dirty="0" smtClean="0">
                <a:solidFill>
                  <a:srgbClr val="C00000"/>
                </a:solidFill>
              </a:rPr>
              <a:t>                                très haut RCV</a:t>
            </a:r>
            <a:endParaRPr lang="fr-FR" b="1" dirty="0">
              <a:solidFill>
                <a:srgbClr val="C00000"/>
              </a:solidFill>
            </a:endParaRPr>
          </a:p>
        </p:txBody>
      </p:sp>
      <p:sp>
        <p:nvSpPr>
          <p:cNvPr id="12" name="Flèche droite 11"/>
          <p:cNvSpPr/>
          <p:nvPr/>
        </p:nvSpPr>
        <p:spPr>
          <a:xfrm>
            <a:off x="1857356" y="3643314"/>
            <a:ext cx="114300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En dehors de ces catégories de patients à classer directement comme étant à haut ou très haut RCV,</a:t>
            </a:r>
          </a:p>
          <a:p>
            <a:r>
              <a:rPr lang="fr-FR" b="1" dirty="0" smtClean="0">
                <a:solidFill>
                  <a:srgbClr val="C00000"/>
                </a:solidFill>
              </a:rPr>
              <a:t>Comment estimer ce risque CV chez les autres personnes dites en bonne santé apparente et chez les diabétiques sans atteinte sévère d’un organe cible?</a:t>
            </a:r>
            <a:endParaRPr lang="fr-FR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b="1" dirty="0" smtClean="0"/>
              <a:t>Estimation du RCV chez les sujets en bonne santé apparente: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Chez les personnes </a:t>
            </a:r>
            <a:r>
              <a:rPr lang="fr-FR" dirty="0" smtClean="0">
                <a:solidFill>
                  <a:srgbClr val="C00000"/>
                </a:solidFill>
              </a:rPr>
              <a:t>&lt; 70 ans </a:t>
            </a:r>
            <a:r>
              <a:rPr lang="fr-FR" dirty="0" smtClean="0"/>
              <a:t>sans critères de haut risque précédemment cités, une estimation du risque de maladie cardiovasculaire fatale et non-fatale (IDM,AVC) à 10 ans avec l’échelle </a:t>
            </a:r>
            <a:r>
              <a:rPr lang="fr-FR" b="1" dirty="0" smtClean="0"/>
              <a:t>SCORE2</a:t>
            </a:r>
            <a:r>
              <a:rPr lang="fr-FR" dirty="0" smtClean="0"/>
              <a:t> est recommandée.</a:t>
            </a:r>
          </a:p>
          <a:p>
            <a:r>
              <a:rPr lang="fr-FR" dirty="0" smtClean="0"/>
              <a:t>Chez les personnes </a:t>
            </a:r>
            <a:r>
              <a:rPr lang="fr-FR" dirty="0" smtClean="0">
                <a:solidFill>
                  <a:srgbClr val="C00000"/>
                </a:solidFill>
              </a:rPr>
              <a:t>≥ 70 ans </a:t>
            </a:r>
            <a:r>
              <a:rPr lang="fr-FR" dirty="0" smtClean="0"/>
              <a:t>sans critères de haut ou très haut risque précédemment cités , une estimation du RCV fatal et non-fatal à 10 ans avec l’échelle </a:t>
            </a:r>
            <a:r>
              <a:rPr lang="fr-FR" b="1" dirty="0" smtClean="0"/>
              <a:t>SCORE2-OP</a:t>
            </a:r>
            <a:r>
              <a:rPr lang="fr-FR" dirty="0" smtClean="0"/>
              <a:t> (op = </a:t>
            </a:r>
            <a:r>
              <a:rPr lang="fr-FR" dirty="0" err="1" smtClean="0"/>
              <a:t>old</a:t>
            </a:r>
            <a:r>
              <a:rPr lang="fr-FR" dirty="0" smtClean="0"/>
              <a:t> </a:t>
            </a:r>
            <a:r>
              <a:rPr lang="fr-FR" dirty="0" err="1" smtClean="0"/>
              <a:t>persons</a:t>
            </a:r>
            <a:r>
              <a:rPr lang="fr-FR" dirty="0" smtClean="0"/>
              <a:t>) est recommandée.</a:t>
            </a:r>
          </a:p>
          <a:p>
            <a:r>
              <a:rPr lang="fr-FR" dirty="0" smtClean="0"/>
              <a:t>SCORE=</a:t>
            </a:r>
            <a:r>
              <a:rPr lang="fr-FR" dirty="0" err="1" smtClean="0"/>
              <a:t>Systematic</a:t>
            </a:r>
            <a:r>
              <a:rPr lang="fr-FR" dirty="0" smtClean="0"/>
              <a:t> </a:t>
            </a:r>
            <a:r>
              <a:rPr lang="fr-FR" dirty="0" err="1" smtClean="0"/>
              <a:t>Coronary</a:t>
            </a:r>
            <a:r>
              <a:rPr lang="fr-FR" dirty="0" smtClean="0"/>
              <a:t> </a:t>
            </a:r>
            <a:r>
              <a:rPr lang="fr-FR" dirty="0" err="1" smtClean="0"/>
              <a:t>Risk</a:t>
            </a:r>
            <a:r>
              <a:rPr lang="fr-FR" smtClean="0"/>
              <a:t> Estimation</a:t>
            </a: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La zone rouge = très haut risque CV</a:t>
            </a:r>
          </a:p>
          <a:p>
            <a:r>
              <a:rPr lang="fr-FR" dirty="0" smtClean="0"/>
              <a:t>La zone orange =haut risque CV</a:t>
            </a:r>
          </a:p>
          <a:p>
            <a:r>
              <a:rPr lang="fr-FR" dirty="0" smtClean="0"/>
              <a:t>La zone verte=risque CV faible à modérée</a:t>
            </a:r>
            <a:endParaRPr lang="fr-F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IRV_SOFT2023\Downloads\IMG_20240306_211620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0"/>
            <a:ext cx="7215238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 smtClean="0"/>
              <a:t>Diabète sans MCV établie ou atteinte sévère d’un organe cible:</a:t>
            </a:r>
            <a:endParaRPr lang="fr-FR" sz="32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L’utilisation d’un score </a:t>
            </a:r>
            <a:r>
              <a:rPr lang="fr-FR" dirty="0" err="1" smtClean="0"/>
              <a:t>spécifique:</a:t>
            </a:r>
            <a:r>
              <a:rPr lang="fr-FR" b="1" dirty="0" err="1" smtClean="0"/>
              <a:t>SCORE</a:t>
            </a:r>
            <a:r>
              <a:rPr lang="fr-FR" b="1" dirty="0" smtClean="0"/>
              <a:t> 2 </a:t>
            </a:r>
            <a:r>
              <a:rPr lang="fr-FR" b="1" dirty="0" err="1" smtClean="0"/>
              <a:t>diabetes</a:t>
            </a:r>
            <a:r>
              <a:rPr lang="fr-FR" b="1" dirty="0" smtClean="0"/>
              <a:t> </a:t>
            </a:r>
            <a:r>
              <a:rPr lang="fr-FR" dirty="0" smtClean="0"/>
              <a:t>est recommandée pour l’estimation du RCV global</a:t>
            </a:r>
          </a:p>
          <a:p>
            <a:r>
              <a:rPr lang="fr-FR" dirty="0" smtClean="0"/>
              <a:t>SCORE 2diabetes prend en considération en plus des paramètres classiques du SCORE2: </a:t>
            </a:r>
          </a:p>
          <a:p>
            <a:r>
              <a:rPr lang="fr-FR" dirty="0" smtClean="0"/>
              <a:t>l’ancienneté du diabète (âge au moment du diagnostic)</a:t>
            </a:r>
          </a:p>
          <a:p>
            <a:r>
              <a:rPr lang="fr-FR" dirty="0" smtClean="0"/>
              <a:t>L’équilibre du diabète(HBA1C)</a:t>
            </a:r>
          </a:p>
          <a:p>
            <a:r>
              <a:rPr lang="fr-FR" dirty="0" smtClean="0"/>
              <a:t>DFG(atteinte rénale)</a:t>
            </a:r>
            <a:endParaRPr lang="fr-F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C:\Users\IRV_SOFT2023\Downloads\Screenshot_2024-02-18-14-33-51-45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428604"/>
            <a:ext cx="8786874" cy="60722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704104"/>
          </a:xfrm>
        </p:spPr>
        <p:txBody>
          <a:bodyPr>
            <a:normAutofit/>
          </a:bodyPr>
          <a:lstStyle/>
          <a:p>
            <a:r>
              <a:rPr lang="fr-FR" sz="4000" b="1" dirty="0" smtClean="0"/>
              <a:t>Prise en charge du RCV et des FDRCV</a:t>
            </a:r>
            <a:endParaRPr lang="fr-FR" sz="4000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Après estimation du risque CV, la balance bénéfice/risque du traitement doit être évaluée</a:t>
            </a:r>
          </a:p>
          <a:p>
            <a:r>
              <a:rPr lang="fr-FR" b="1" dirty="0" smtClean="0"/>
              <a:t>Une approche par étapes </a:t>
            </a:r>
            <a:r>
              <a:rPr lang="fr-FR" dirty="0" smtClean="0"/>
              <a:t>d’intensification du traitement visant à traiter de façon intensive les facteurs de risque est recommandée pour les personnes à </a:t>
            </a:r>
            <a:r>
              <a:rPr lang="fr-FR" u="sng" dirty="0" smtClean="0"/>
              <a:t>haut ou très haut risque CV</a:t>
            </a:r>
            <a:endParaRPr lang="fr-FR" u="sng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Moyens de prise en charge du RCV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Activité physique/ Les règles </a:t>
            </a:r>
            <a:r>
              <a:rPr lang="fr-FR" dirty="0" err="1" smtClean="0"/>
              <a:t>hygiénodiététiques</a:t>
            </a:r>
            <a:r>
              <a:rPr lang="fr-FR" dirty="0" smtClean="0"/>
              <a:t> /</a:t>
            </a:r>
          </a:p>
          <a:p>
            <a:pPr>
              <a:buNone/>
            </a:pPr>
            <a:r>
              <a:rPr lang="fr-FR" dirty="0" smtClean="0"/>
              <a:t>       </a:t>
            </a:r>
            <a:r>
              <a:rPr lang="fr-FR" dirty="0" err="1" smtClean="0"/>
              <a:t>Rduction</a:t>
            </a:r>
            <a:r>
              <a:rPr lang="fr-FR" dirty="0" smtClean="0"/>
              <a:t> du poids(</a:t>
            </a:r>
            <a:r>
              <a:rPr lang="fr-FR" dirty="0" err="1" smtClean="0"/>
              <a:t>obésoité</a:t>
            </a:r>
            <a:r>
              <a:rPr lang="fr-FR" dirty="0" smtClean="0"/>
              <a:t> ou </a:t>
            </a:r>
            <a:r>
              <a:rPr lang="fr-FR" dirty="0" err="1" smtClean="0"/>
              <a:t>surpoid</a:t>
            </a:r>
            <a:r>
              <a:rPr lang="fr-FR" dirty="0" smtClean="0"/>
              <a:t>)</a:t>
            </a:r>
          </a:p>
          <a:p>
            <a:r>
              <a:rPr lang="fr-FR" dirty="0" smtClean="0"/>
              <a:t>L’</a:t>
            </a:r>
            <a:r>
              <a:rPr lang="fr-FR" dirty="0" err="1" smtClean="0"/>
              <a:t>arret</a:t>
            </a:r>
            <a:r>
              <a:rPr lang="fr-FR" dirty="0" smtClean="0"/>
              <a:t> du tabac et l’équilibre des autres FDRCV: </a:t>
            </a:r>
            <a:r>
              <a:rPr lang="fr-FR" dirty="0" err="1" smtClean="0"/>
              <a:t>HTA,diabète</a:t>
            </a:r>
            <a:endParaRPr lang="fr-FR" dirty="0" smtClean="0"/>
          </a:p>
          <a:p>
            <a:r>
              <a:rPr lang="fr-FR" dirty="0" smtClean="0"/>
              <a:t>La baisse du </a:t>
            </a:r>
            <a:r>
              <a:rPr lang="fr-FR" dirty="0" err="1" smtClean="0"/>
              <a:t>LDLc</a:t>
            </a:r>
            <a:r>
              <a:rPr lang="fr-FR" dirty="0" smtClean="0"/>
              <a:t> vers le seuil souhaité selon le niveau du RCV en utilisant les statines et autres médicaments</a:t>
            </a:r>
          </a:p>
          <a:p>
            <a:r>
              <a:rPr lang="fr-FR" dirty="0" smtClean="0"/>
              <a:t>TRT anti </a:t>
            </a:r>
            <a:r>
              <a:rPr lang="fr-FR" dirty="0" err="1" smtClean="0"/>
              <a:t>thrombotique:aspirine</a:t>
            </a:r>
            <a:r>
              <a:rPr lang="fr-FR" dirty="0" smtClean="0"/>
              <a:t> 100mg/j en cas de maladie CV établie</a:t>
            </a:r>
          </a:p>
          <a:p>
            <a:r>
              <a:rPr lang="fr-FR" dirty="0" smtClean="0"/>
              <a:t>La prise en charge si possible de la maladie cardiovasculaire ex revascularisation myocardique</a:t>
            </a:r>
            <a:endParaRPr lang="fr-F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Activité physique</a:t>
            </a:r>
            <a:endParaRPr lang="fr-FR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071678"/>
            <a:ext cx="8715436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857760"/>
            <a:ext cx="9144000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Règles hygiéno-diététiques</a:t>
            </a:r>
            <a:endParaRPr lang="fr-FR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928802"/>
            <a:ext cx="8686800" cy="4071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Équilibre de l’HTA</a:t>
            </a:r>
            <a:endParaRPr lang="fr-FR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214554"/>
            <a:ext cx="864399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IRV_SOFT2023\Downloads\Screenshot_2024-02-18-15-09-30-4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472" y="500042"/>
            <a:ext cx="8286808" cy="58245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C:\Users\IRV_SOFT2023\Downloads\Screenshot_2024-02-18-15-30-58-93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642918"/>
            <a:ext cx="8715436" cy="52864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C:\Users\IRV_SOFT2023\Downloads\Screenshot_2024-02-18-22-29-48-69.jp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42852"/>
            <a:ext cx="8429684" cy="635798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Réduction du LDL </a:t>
            </a:r>
            <a:r>
              <a:rPr lang="fr-FR" dirty="0" err="1" smtClean="0"/>
              <a:t>choletérol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Il est recommandé de baisser le </a:t>
            </a:r>
            <a:r>
              <a:rPr lang="fr-FR" dirty="0" err="1" smtClean="0"/>
              <a:t>LDLc</a:t>
            </a:r>
            <a:r>
              <a:rPr lang="fr-FR" dirty="0" smtClean="0"/>
              <a:t> chez les patients à haut ou très haut risque CV en prévention primaire ou secondaire</a:t>
            </a:r>
          </a:p>
          <a:p>
            <a:r>
              <a:rPr lang="fr-FR" dirty="0" smtClean="0"/>
              <a:t>Objectifs:</a:t>
            </a:r>
          </a:p>
          <a:p>
            <a:r>
              <a:rPr lang="fr-FR" dirty="0" smtClean="0"/>
              <a:t>Très haut RCV          &lt;0,55 g/l</a:t>
            </a:r>
          </a:p>
          <a:p>
            <a:r>
              <a:rPr lang="fr-FR" dirty="0" smtClean="0"/>
              <a:t>Haut RCV                 &lt;0,7 g/l </a:t>
            </a:r>
          </a:p>
          <a:p>
            <a:r>
              <a:rPr lang="fr-FR" dirty="0" err="1" smtClean="0"/>
              <a:t>Moyens:Statines</a:t>
            </a:r>
            <a:r>
              <a:rPr lang="fr-FR" dirty="0" smtClean="0"/>
              <a:t>++,</a:t>
            </a:r>
            <a:r>
              <a:rPr lang="fr-FR" dirty="0" err="1" smtClean="0"/>
              <a:t>Ezitimibe,anti</a:t>
            </a:r>
            <a:r>
              <a:rPr lang="fr-FR" dirty="0" smtClean="0"/>
              <a:t> PCSK9</a:t>
            </a:r>
          </a:p>
        </p:txBody>
      </p:sp>
      <p:sp>
        <p:nvSpPr>
          <p:cNvPr id="5" name="Flèche droite 4"/>
          <p:cNvSpPr/>
          <p:nvPr/>
        </p:nvSpPr>
        <p:spPr>
          <a:xfrm>
            <a:off x="2928926" y="3857628"/>
            <a:ext cx="71438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 droite 5"/>
          <p:cNvSpPr/>
          <p:nvPr/>
        </p:nvSpPr>
        <p:spPr>
          <a:xfrm>
            <a:off x="2357422" y="4357694"/>
            <a:ext cx="114300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413</TotalTime>
  <Words>665</Words>
  <Application>Microsoft Office PowerPoint</Application>
  <PresentationFormat>Affichage à l'écran (4:3)</PresentationFormat>
  <Paragraphs>72</Paragraphs>
  <Slides>23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4" baseType="lpstr">
      <vt:lpstr>Débit</vt:lpstr>
      <vt:lpstr>Risque cardio-vasculaire</vt:lpstr>
      <vt:lpstr>Plan:</vt:lpstr>
      <vt:lpstr>Indications de l’évaluation du RCV:</vt:lpstr>
      <vt:lpstr>Méthodes d’évaluation du RCV et catégories de RCV</vt:lpstr>
      <vt:lpstr>Maladie cardiovasculaire établie(MCV)</vt:lpstr>
      <vt:lpstr>Maladie rénale chronique sévère(MRC)</vt:lpstr>
      <vt:lpstr>DT2 avec atteinte sévère d’un organe cible                   </vt:lpstr>
      <vt:lpstr>Diapositive 8</vt:lpstr>
      <vt:lpstr>Diapositive 9</vt:lpstr>
      <vt:lpstr>Estimation du RCV chez les sujets en bonne santé apparente:</vt:lpstr>
      <vt:lpstr>Diapositive 11</vt:lpstr>
      <vt:lpstr>Diapositive 12</vt:lpstr>
      <vt:lpstr>Diabète sans MCV établie ou atteinte sévère d’un organe cible:</vt:lpstr>
      <vt:lpstr>Diapositive 14</vt:lpstr>
      <vt:lpstr>Prise en charge du RCV et des FDRCV</vt:lpstr>
      <vt:lpstr>Moyens de prise en charge du RCV</vt:lpstr>
      <vt:lpstr>Activité physique</vt:lpstr>
      <vt:lpstr>Règles hygiéno-diététiques</vt:lpstr>
      <vt:lpstr>Équilibre de l’HTA</vt:lpstr>
      <vt:lpstr>Diapositive 20</vt:lpstr>
      <vt:lpstr>Diapositive 21</vt:lpstr>
      <vt:lpstr>Diapositive 22</vt:lpstr>
      <vt:lpstr>Réduction du LDL choletérol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Prévention cardio-vasculaire</dc:title>
  <dc:creator>IRV_SOFT2023</dc:creator>
  <cp:lastModifiedBy>IRV_SOFT2023</cp:lastModifiedBy>
  <cp:revision>77</cp:revision>
  <dcterms:created xsi:type="dcterms:W3CDTF">2024-02-26T18:46:08Z</dcterms:created>
  <dcterms:modified xsi:type="dcterms:W3CDTF">2025-10-15T21:10:04Z</dcterms:modified>
</cp:coreProperties>
</file>