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Travaux Pratiques : Réanimation Cardio-Pulmonaire (RCP)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Basé sur les recommandations ERC / AHA 2021–2025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Reconnaître un arrêt cardiaque.</a:t>
            </a:r>
          </a:p>
          <a:p>
            <a:r>
              <a:t>2. Savoir alerter et demander de l’aide.</a:t>
            </a:r>
          </a:p>
          <a:p>
            <a:r>
              <a:t>3. Réaliser une RCP de qualité (compressions et ventilation).</a:t>
            </a:r>
          </a:p>
          <a:p>
            <a:r>
              <a:t>4. Utiliser un défibrillateur automatisé externe (DAE).</a:t>
            </a:r>
          </a:p>
          <a:p>
            <a:r>
              <a:t>5. Connaître les éléments de la chaîne de survie.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Chaîne de survie (ERC)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Reconnaître l’arrêt et alerter les secours.</a:t>
            </a:r>
          </a:p>
          <a:p>
            <a:r>
              <a:t>2. Commencer la RCP immédiatement.</a:t>
            </a:r>
          </a:p>
          <a:p>
            <a:r>
              <a:t>3. Défibrillation précoce (DAE).</a:t>
            </a:r>
          </a:p>
          <a:p>
            <a:r>
              <a:t>4. RCP avancée par les secours.</a:t>
            </a:r>
          </a:p>
          <a:p>
            <a:r>
              <a:t>5. Soins post-réanimation.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RCP de base (adulte)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Séquence CAB :</a:t>
            </a:r>
          </a:p>
          <a:p>
            <a:r>
              <a:t>C – Circulation : Pas de pouls en 10 sec → RCP</a:t>
            </a:r>
          </a:p>
          <a:p>
            <a:r>
              <a:t>A – Airway : Libération des voies aériennes</a:t>
            </a:r>
          </a:p>
          <a:p>
            <a:r>
              <a:t>B – Breathing : Pas de respiration normale → insufflations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Compressions et ventilation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Compressions : 100–120/min, profondeur 5–6 cm, rebond complet</a:t>
            </a:r>
          </a:p>
          <a:p>
            <a:r>
              <a:t>Ventilation : 30 compressions : 2 insufflations (si formé)</a:t>
            </a:r>
          </a:p>
          <a:p>
            <a:r>
              <a:t>DAE : dès que disponible, suivre les instructions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RCP chez l’enfant et le nourrisson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Compression : 1/3 de la hauteur du thorax (~5 cm)</a:t>
            </a:r>
          </a:p>
          <a:p>
            <a:r>
              <a:t>Rythme : 30:2 (ou 15:2 si deux intervenants)</a:t>
            </a:r>
          </a:p>
          <a:p>
            <a:r>
              <a:t>Commencer par 5 insufflations si arrêt respiratoire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Ventilation – Fait-on encore le bouche-à-bouche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❌ Non recommandé en routine (même pour professionnels)</a:t>
            </a:r>
          </a:p>
          <a:p>
            <a:r>
              <a:t>✅ Compressions seules chez les témoins non formés</a:t>
            </a:r>
          </a:p>
          <a:p>
            <a:r>
              <a:t>✅ Ventilation avec BAVU ou masque si disponible</a:t>
            </a:r>
          </a:p>
          <a:p>
            <a:r>
              <a:t>❗ Exceptions : enfant, noyade, intoxication, pas de matériel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Drogues en RCP – Accès et principes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Voie veineuse périphérique (VVP) préférée</a:t>
            </a:r>
          </a:p>
          <a:p>
            <a:r>
              <a:t>Voie intra-osseuse si VVP impossible</a:t>
            </a:r>
          </a:p>
          <a:p>
            <a:r>
              <a:t>Pas de voie centrale en urgence</a:t>
            </a:r>
          </a:p>
          <a:p>
            <a:r>
              <a:t>Injection IV/IO avec rinçage 20 mL NaCl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Drogues – Rythmes choquables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➤ Adrénaline 1 mg toutes les 3–5 min (après 3e choc)</a:t>
            </a:r>
          </a:p>
          <a:p>
            <a:r>
              <a:t>➤ Amiodarone 300 mg après 3e choc</a:t>
            </a:r>
          </a:p>
          <a:p>
            <a:r>
              <a:t>➤ Amiodarone 150 mg dose additionnelle si besoin</a:t>
            </a:r>
          </a:p>
          <a:p>
            <a:r>
              <a:t>Alternative : Lidocaïne si pas d’amiodarone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Drogues – Rythmes non choquables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➤ Adrénaline 1 mg IV/IO dès que possible</a:t>
            </a:r>
          </a:p>
          <a:p>
            <a:r>
              <a:t>➤ Répéter toutes les 3–5 minutes</a:t>
            </a:r>
          </a:p>
          <a:p>
            <a:r>
              <a:t>❌ Pas d’autres drogues en routine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Drogues à éviter sauf indications spécifiques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❌ Atropine (sauf bradycardie sévère hors arrêt)</a:t>
            </a:r>
          </a:p>
          <a:p>
            <a:r>
              <a:t>❌ Calcium (sauf hyperkaliémie ou overdose BB/CCB)</a:t>
            </a:r>
          </a:p>
          <a:p>
            <a:r>
              <a:t>❌ Bicarbonate (sauf acidose sévère, intoxication tricyclique)</a:t>
            </a:r>
          </a:p>
          <a:p>
            <a:r>
              <a:t>❌ Dopamine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 clinique 1 – Rythme choquable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 homme de 55 ans s’effondre en pleine rue.</a:t>
            </a:r>
          </a:p>
          <a:p>
            <a:r>
              <a:t>Vous arrivez : il est inconscient, ne respire pas normalement.</a:t>
            </a:r>
          </a:p>
          <a:p>
            <a:r>
              <a:t>➤ Pas de pouls. Vous commencez les compressions.</a:t>
            </a:r>
          </a:p>
          <a:p>
            <a:r>
              <a:t>➤ Le DAE indique : choc recommandé. Vous délivrez un choc.</a:t>
            </a:r>
          </a:p>
          <a:p>
            <a:r>
              <a:t>➤ Que faites-vous ensuite ?</a:t>
            </a:r>
          </a:p>
          <a:p>
            <a:r>
              <a:t>- Continuer la RCP 2 minutes</a:t>
            </a:r>
          </a:p>
          <a:p>
            <a:r>
              <a:t>- Préparer l’adrénaline après 3e choc</a:t>
            </a:r>
          </a:p>
          <a:p>
            <a:r>
              <a:t>- Amiodarone après 3e choc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 clinique 2 – Rythme non choquable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Femme de 70 ans en détresse respiratoire, arrêt cardiaque en service.</a:t>
            </a:r>
          </a:p>
          <a:p>
            <a:r>
              <a:t>Pas de pouls, pas de choc indiqué (AESP).</a:t>
            </a:r>
          </a:p>
          <a:p>
            <a:r>
              <a:t>➤ Que faites-vous ?</a:t>
            </a:r>
          </a:p>
          <a:p>
            <a:r>
              <a:t>- Commencer immédiatement la RCP</a:t>
            </a:r>
          </a:p>
          <a:p>
            <a:r>
              <a:t>- Administrer adrénaline 1 mg dès que possible</a:t>
            </a:r>
          </a:p>
          <a:p>
            <a:r>
              <a:t>- Poursuivre en cycles de 2 min + adrénaline toutes les 3–5 min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– Points clés à retenir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Reconnaître rapidement l’arrêt cardiaque = survie ↑</a:t>
            </a:r>
          </a:p>
          <a:p>
            <a:r>
              <a:t>✅ RCP = 100–120 compressions/min, 5–6 cm de profondeur</a:t>
            </a:r>
          </a:p>
          <a:p>
            <a:r>
              <a:t>✅ Ventilation = BAVU ou rien (pas de bouche-à-bouche)</a:t>
            </a:r>
          </a:p>
          <a:p>
            <a:r>
              <a:t>✅ DAE dès que possible (suivre les instructions)</a:t>
            </a:r>
          </a:p>
          <a:p>
            <a:r>
              <a:t>✅ Drogues : Adrénaline + Amiodarone selon le rythme</a:t>
            </a:r>
          </a:p>
          <a:p>
            <a:r>
              <a:t>🚑 Ne jamais retarder la RCP pour poser un accès 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Libération des voies aériennes – Airway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➤ Manœuvre tête-menton (Head Tilt – Chin Lift) : standard, si pas de trauma.</a:t>
            </a:r>
          </a:p>
          <a:p>
            <a:r>
              <a:t>➤ Manœuvre de traction mandibulaire (Jaw Thrust) : si suspicion de traumatisme cervical.</a:t>
            </a:r>
          </a:p>
          <a:p>
            <a:r>
              <a:t>➤ Canule oropharyngée (Guedel) : si patient inconscient.</a:t>
            </a:r>
          </a:p>
          <a:p>
            <a:r>
              <a:t>➤ Canule nasopharyngée : si semi-conscient (pas si trauma facial).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Insufflations – Comment les réaliser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➤ Sans matériel (exceptionnel) : bouche-à-bouche/nez (2 insufflations lentes).</a:t>
            </a:r>
          </a:p>
          <a:p>
            <a:r>
              <a:t>➤ Avec BAVU (préféré) : 2 insufflations de 500–600 mL (~1 sec).</a:t>
            </a:r>
          </a:p>
          <a:p>
            <a:r>
              <a:t>➤ Si voie aérienne avancée : 10 insufflations/min sans interrompre les compressions.</a:t>
            </a:r>
          </a:p>
          <a:p>
            <a:r>
              <a:t>⚠️ Ne pas hyperventiler ! Vérifier l’élévation thoracique.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Adrénaline après retour à la circulation (ROSC)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❌ Pas de bolus d’adrénaline après ROSC.</a:t>
            </a:r>
          </a:p>
          <a:p>
            <a:r>
              <a:t>✅ PSE d’adrénaline seulement si choc persistant :</a:t>
            </a:r>
          </a:p>
          <a:p>
            <a:r>
              <a:t>- PAS &lt; 90 mmHg malgré remplissage</a:t>
            </a:r>
          </a:p>
          <a:p>
            <a:r>
              <a:t>- Signes de bas débit / acidose lactique</a:t>
            </a:r>
          </a:p>
          <a:p>
            <a:r>
              <a:t>➤ Adrénaline en PSE : 0,05–0,5 µg/kg/min</a:t>
            </a:r>
          </a:p>
          <a:p>
            <a:r>
              <a:t>💡 Noradrénaline = 1er choix si hypotension persistante.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