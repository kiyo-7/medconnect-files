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304" r:id="rId4"/>
    <p:sldId id="278" r:id="rId5"/>
    <p:sldId id="305" r:id="rId6"/>
    <p:sldId id="284" r:id="rId7"/>
    <p:sldId id="279" r:id="rId8"/>
    <p:sldId id="283" r:id="rId9"/>
    <p:sldId id="277" r:id="rId10"/>
    <p:sldId id="303" r:id="rId11"/>
    <p:sldId id="306" r:id="rId12"/>
    <p:sldId id="308" r:id="rId13"/>
    <p:sldId id="309" r:id="rId14"/>
    <p:sldId id="287" r:id="rId15"/>
    <p:sldId id="289" r:id="rId16"/>
    <p:sldId id="301" r:id="rId17"/>
    <p:sldId id="302" r:id="rId18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5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à coins arrondis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à coins arrondis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0" name="Sous-titr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19" name="Espace réservé de la date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à coins arrondis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à coins arrondis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Arrondir un rectangle à un seul coin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fr-FR" smtClean="0"/>
              <a:t>Cliquez sur l'icône pour ajouter une image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à coins arrondis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Espace réservé du titre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25" name="Espace réservé de la date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514600" y="3733800"/>
            <a:ext cx="5901690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indent="-292735">
              <a:lnSpc>
                <a:spcPct val="100000"/>
              </a:lnSpc>
              <a:spcBef>
                <a:spcPts val="100"/>
              </a:spcBef>
              <a:buClr>
                <a:srgbClr val="72A376"/>
              </a:buClr>
              <a:buSzPct val="70000"/>
              <a:buFont typeface="Arial"/>
              <a:buChar char=""/>
              <a:tabLst>
                <a:tab pos="304800" algn="l"/>
                <a:tab pos="305435" algn="l"/>
                <a:tab pos="1218565" algn="l"/>
              </a:tabLst>
            </a:pPr>
            <a:r>
              <a:rPr lang="fr-FR" sz="2400" dirty="0" smtClean="0">
                <a:latin typeface="Trebuchet MS"/>
                <a:cs typeface="Trebuchet MS"/>
              </a:rPr>
              <a:t>Dr A.NAMOUNE</a:t>
            </a:r>
          </a:p>
          <a:p>
            <a:pPr marL="304800" indent="-292735">
              <a:lnSpc>
                <a:spcPct val="100000"/>
              </a:lnSpc>
              <a:spcBef>
                <a:spcPts val="100"/>
              </a:spcBef>
              <a:buClr>
                <a:srgbClr val="72A376"/>
              </a:buClr>
              <a:buSzPct val="70000"/>
              <a:buFont typeface="Arial"/>
              <a:buChar char=""/>
              <a:tabLst>
                <a:tab pos="304800" algn="l"/>
                <a:tab pos="305435" algn="l"/>
                <a:tab pos="1218565" algn="l"/>
              </a:tabLst>
            </a:pPr>
            <a:r>
              <a:rPr lang="fr-FR" sz="2400" dirty="0" smtClean="0">
                <a:latin typeface="Trebuchet MS"/>
                <a:cs typeface="Trebuchet MS"/>
              </a:rPr>
              <a:t>Service de cardiologie</a:t>
            </a:r>
          </a:p>
          <a:p>
            <a:pPr marL="304800" indent="-292735">
              <a:lnSpc>
                <a:spcPct val="100000"/>
              </a:lnSpc>
              <a:spcBef>
                <a:spcPts val="100"/>
              </a:spcBef>
              <a:buClr>
                <a:srgbClr val="72A376"/>
              </a:buClr>
              <a:buSzPct val="70000"/>
              <a:buFont typeface="Arial"/>
              <a:buChar char=""/>
              <a:tabLst>
                <a:tab pos="304800" algn="l"/>
                <a:tab pos="305435" algn="l"/>
                <a:tab pos="1218565" algn="l"/>
              </a:tabLst>
            </a:pPr>
            <a:r>
              <a:rPr lang="fr-FR" sz="2400" dirty="0" smtClean="0">
                <a:latin typeface="Trebuchet MS"/>
                <a:cs typeface="Trebuchet MS"/>
              </a:rPr>
              <a:t>Hôpital militaire de Constantine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0" y="1905000"/>
            <a:ext cx="6244338" cy="364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620"/>
              </a:lnSpc>
              <a:spcBef>
                <a:spcPts val="100"/>
              </a:spcBef>
            </a:pPr>
            <a:r>
              <a:rPr lang="fr-FR" sz="4000" b="1" spc="-80" dirty="0" smtClean="0">
                <a:solidFill>
                  <a:srgbClr val="FF0000"/>
                </a:solidFill>
                <a:latin typeface="Georgia"/>
                <a:cs typeface="Georgia"/>
              </a:rPr>
              <a:t>Urgences hypertensives</a:t>
            </a:r>
            <a:endParaRPr lang="fr-FR" sz="4000" dirty="0">
              <a:solidFill>
                <a:srgbClr val="FF0000"/>
              </a:solidFill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1371600"/>
            <a:ext cx="8534400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620"/>
              </a:lnSpc>
              <a:spcBef>
                <a:spcPts val="100"/>
              </a:spcBef>
            </a:pPr>
            <a:r>
              <a:rPr lang="fr-FR" sz="4000" b="1" spc="-80" dirty="0" smtClean="0">
                <a:solidFill>
                  <a:srgbClr val="FF0000"/>
                </a:solidFill>
                <a:latin typeface="Georgia"/>
                <a:cs typeface="Georgia"/>
              </a:rPr>
              <a:t>Objectifs:</a:t>
            </a:r>
          </a:p>
          <a:p>
            <a:pPr marL="12700">
              <a:lnSpc>
                <a:spcPts val="1620"/>
              </a:lnSpc>
              <a:spcBef>
                <a:spcPts val="100"/>
              </a:spcBef>
            </a:pPr>
            <a:endParaRPr lang="fr-FR" sz="2800" b="1" spc="-8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ts val="1620"/>
              </a:lnSpc>
              <a:spcBef>
                <a:spcPts val="100"/>
              </a:spcBef>
            </a:pPr>
            <a:r>
              <a:rPr lang="fr-FR" sz="2800" b="1" spc="-80" dirty="0" smtClean="0">
                <a:latin typeface="Arial" pitchFamily="34" charset="0"/>
                <a:cs typeface="Arial" pitchFamily="34" charset="0"/>
              </a:rPr>
              <a:t>1-Définir et identifier une urgence hypertensive</a:t>
            </a:r>
          </a:p>
          <a:p>
            <a:pPr marL="12700">
              <a:lnSpc>
                <a:spcPts val="1620"/>
              </a:lnSpc>
              <a:spcBef>
                <a:spcPts val="100"/>
              </a:spcBef>
            </a:pPr>
            <a:endParaRPr lang="fr-FR" sz="2800" b="1" spc="-80" dirty="0" smtClean="0"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ts val="1620"/>
              </a:lnSpc>
              <a:spcBef>
                <a:spcPts val="100"/>
              </a:spcBef>
            </a:pPr>
            <a:r>
              <a:rPr lang="fr-FR" sz="2800" b="1" spc="-80" dirty="0" smtClean="0">
                <a:latin typeface="Arial" pitchFamily="34" charset="0"/>
                <a:cs typeface="Arial" pitchFamily="34" charset="0"/>
              </a:rPr>
              <a:t>2-Connaitre les différentes urgences hypertensives</a:t>
            </a:r>
          </a:p>
          <a:p>
            <a:pPr marL="12700">
              <a:lnSpc>
                <a:spcPts val="1620"/>
              </a:lnSpc>
              <a:spcBef>
                <a:spcPts val="100"/>
              </a:spcBef>
            </a:pPr>
            <a:endParaRPr lang="fr-FR" sz="2800" b="1" spc="-80" dirty="0" smtClean="0"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ts val="1620"/>
              </a:lnSpc>
              <a:spcBef>
                <a:spcPts val="100"/>
              </a:spcBef>
            </a:pPr>
            <a:r>
              <a:rPr lang="fr-FR" sz="2800" b="1" spc="-80" dirty="0" smtClean="0">
                <a:latin typeface="Arial" pitchFamily="34" charset="0"/>
                <a:cs typeface="Arial" pitchFamily="34" charset="0"/>
              </a:rPr>
              <a:t>3-Savoir traiter une urgence hypertensive</a:t>
            </a:r>
          </a:p>
          <a:p>
            <a:pPr marL="12700">
              <a:lnSpc>
                <a:spcPts val="1620"/>
              </a:lnSpc>
              <a:spcBef>
                <a:spcPts val="100"/>
              </a:spcBef>
            </a:pPr>
            <a:endParaRPr lang="fr-FR" sz="2800" b="1" spc="-8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ts val="1620"/>
              </a:lnSpc>
              <a:spcBef>
                <a:spcPts val="100"/>
              </a:spcBef>
            </a:pPr>
            <a:endParaRPr lang="fr-FR" sz="2800" b="1" spc="-8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ts val="1620"/>
              </a:lnSpc>
              <a:spcBef>
                <a:spcPts val="100"/>
              </a:spcBef>
            </a:pPr>
            <a:endParaRPr lang="fr-FR" sz="2800" b="1" spc="-8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ts val="1620"/>
              </a:lnSpc>
              <a:spcBef>
                <a:spcPts val="100"/>
              </a:spcBef>
            </a:pPr>
            <a:r>
              <a:rPr lang="fr-FR" sz="4000" b="1" spc="-8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600" dirty="0" smtClean="0">
                <a:solidFill>
                  <a:srgbClr val="C00000"/>
                </a:solidFill>
              </a:rPr>
              <a:t>Plan:</a:t>
            </a:r>
          </a:p>
          <a:p>
            <a:pPr>
              <a:buNone/>
            </a:pPr>
            <a:r>
              <a:rPr lang="fr-FR" b="1" dirty="0" smtClean="0">
                <a:latin typeface="Calibri" pitchFamily="34" charset="0"/>
                <a:cs typeface="Calibri" pitchFamily="34" charset="0"/>
              </a:rPr>
              <a:t>-Définition de l’urgence hypertensive</a:t>
            </a:r>
          </a:p>
          <a:p>
            <a:pPr>
              <a:buNone/>
            </a:pPr>
            <a:r>
              <a:rPr lang="fr-FR" b="1" dirty="0" smtClean="0">
                <a:latin typeface="Calibri" pitchFamily="34" charset="0"/>
                <a:cs typeface="Calibri" pitchFamily="34" charset="0"/>
              </a:rPr>
              <a:t>-Aspects cliniques</a:t>
            </a:r>
            <a:r>
              <a:rPr lang="fr-FR" dirty="0" smtClean="0">
                <a:latin typeface="Calibri" pitchFamily="34" charset="0"/>
                <a:cs typeface="Calibri" pitchFamily="34" charset="0"/>
              </a:rPr>
              <a:t>: urgences cardiovasculaires, urgences neurologiques ,éclampsie et HTA maligne</a:t>
            </a:r>
          </a:p>
          <a:p>
            <a:pPr>
              <a:buNone/>
            </a:pPr>
            <a:r>
              <a:rPr lang="fr-FR" b="1" dirty="0" smtClean="0">
                <a:latin typeface="Calibri" pitchFamily="34" charset="0"/>
                <a:cs typeface="Calibri" pitchFamily="34" charset="0"/>
              </a:rPr>
              <a:t>- Traitement de l’urgence hypertensive</a:t>
            </a:r>
          </a:p>
          <a:p>
            <a:pPr>
              <a:buNone/>
            </a:pPr>
            <a:r>
              <a:rPr lang="fr-FR" b="1" dirty="0" smtClean="0">
                <a:latin typeface="Calibri" pitchFamily="34" charset="0"/>
                <a:cs typeface="Calibri" pitchFamily="34" charset="0"/>
              </a:rPr>
              <a:t>- Traitement de l’HTA sévère hors urgence</a:t>
            </a:r>
          </a:p>
          <a:p>
            <a:pPr>
              <a:buNone/>
            </a:pPr>
            <a:r>
              <a:rPr lang="fr-FR" b="1" dirty="0" smtClean="0">
                <a:latin typeface="Calibri" pitchFamily="34" charset="0"/>
                <a:cs typeface="Calibri" pitchFamily="34" charset="0"/>
              </a:rPr>
              <a:t>-Conclusion</a:t>
            </a:r>
          </a:p>
          <a:p>
            <a:pPr>
              <a:buNone/>
            </a:pPr>
            <a:r>
              <a:rPr lang="fr-FR" b="1" dirty="0" smtClean="0">
                <a:latin typeface="Calibri" pitchFamily="34" charset="0"/>
                <a:cs typeface="Calibri" pitchFamily="34" charset="0"/>
              </a:rPr>
              <a:t>-Bibliographie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23748" y="990600"/>
            <a:ext cx="8239252" cy="47352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105"/>
              </a:spcBef>
              <a:buFont typeface="Wingdings" pitchFamily="2" charset="2"/>
              <a:buChar char="Ø"/>
            </a:pPr>
            <a:r>
              <a:rPr lang="fr-FR" sz="2600" spc="190" dirty="0" smtClean="0">
                <a:latin typeface="Calibri" pitchFamily="34" charset="0"/>
                <a:cs typeface="Calibri" pitchFamily="34" charset="0"/>
              </a:rPr>
              <a:t>L’urgence hypertensive est définie par</a:t>
            </a:r>
            <a:r>
              <a:rPr lang="fr-FR" sz="2600" b="1" spc="190" dirty="0" smtClean="0">
                <a:latin typeface="Calibri" pitchFamily="34" charset="0"/>
                <a:cs typeface="Calibri" pitchFamily="34" charset="0"/>
              </a:rPr>
              <a:t> une élévation rapide et importante de la PA</a:t>
            </a:r>
            <a:r>
              <a:rPr lang="fr-FR" sz="2600" b="1" spc="-30" dirty="0" smtClean="0">
                <a:latin typeface="Calibri" pitchFamily="34" charset="0"/>
                <a:cs typeface="Calibri" pitchFamily="34" charset="0"/>
              </a:rPr>
              <a:t> (PAS/PAD&gt;180/110 mm Hg)</a:t>
            </a:r>
            <a:r>
              <a:rPr sz="2600" spc="-30" smtClean="0">
                <a:latin typeface="Calibri" pitchFamily="34" charset="0"/>
                <a:cs typeface="Calibri" pitchFamily="34" charset="0"/>
              </a:rPr>
              <a:t>, </a:t>
            </a:r>
            <a:r>
              <a:rPr lang="fr-FR" sz="2600" b="1" spc="-30" dirty="0" smtClean="0">
                <a:latin typeface="Calibri" pitchFamily="34" charset="0"/>
                <a:cs typeface="Calibri" pitchFamily="34" charset="0"/>
              </a:rPr>
              <a:t>avec </a:t>
            </a:r>
            <a:r>
              <a:rPr sz="2600" b="1" spc="110" smtClean="0">
                <a:latin typeface="Calibri" pitchFamily="34" charset="0"/>
                <a:cs typeface="Calibri" pitchFamily="34" charset="0"/>
              </a:rPr>
              <a:t>présence</a:t>
            </a:r>
            <a:r>
              <a:rPr lang="fr-FR" sz="2600" b="1" spc="11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sz="2600" b="1" spc="155" smtClean="0">
                <a:latin typeface="Calibri" pitchFamily="34" charset="0"/>
                <a:cs typeface="Calibri" pitchFamily="34" charset="0"/>
              </a:rPr>
              <a:t>de</a:t>
            </a:r>
            <a:r>
              <a:rPr lang="fr-FR" sz="2600" b="1" spc="155" dirty="0" smtClean="0">
                <a:latin typeface="Calibri" pitchFamily="34" charset="0"/>
                <a:cs typeface="Calibri" pitchFamily="34" charset="0"/>
              </a:rPr>
              <a:t> symptômes/signes d’une  </a:t>
            </a:r>
            <a:r>
              <a:rPr lang="fr-FR" sz="2600" b="1" spc="95" dirty="0" smtClean="0">
                <a:latin typeface="Calibri" pitchFamily="34" charset="0"/>
                <a:cs typeface="Calibri" pitchFamily="34" charset="0"/>
              </a:rPr>
              <a:t>complication</a:t>
            </a:r>
            <a:r>
              <a:rPr lang="fr-FR" sz="2600" b="1" spc="-18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menaçant la vie nécessitant une prise en charge rapide en intra hospitalier</a:t>
            </a:r>
            <a:r>
              <a:rPr lang="fr-FR" sz="2600" b="1" spc="-180" dirty="0" smtClean="0">
                <a:latin typeface="Tahoma"/>
                <a:cs typeface="Tahoma"/>
              </a:rPr>
              <a:t>. </a:t>
            </a:r>
          </a:p>
          <a:p>
            <a:pPr marL="304165">
              <a:lnSpc>
                <a:spcPct val="100000"/>
              </a:lnSpc>
              <a:spcBef>
                <a:spcPts val="105"/>
              </a:spcBef>
              <a:buFont typeface="Wingdings" pitchFamily="2" charset="2"/>
              <a:buChar char="Ø"/>
            </a:pPr>
            <a:r>
              <a:rPr lang="fr-FR" sz="2400" spc="150" dirty="0" smtClean="0">
                <a:latin typeface="Tahoma"/>
                <a:cs typeface="Tahoma"/>
              </a:rPr>
              <a:t>Elle </a:t>
            </a:r>
            <a:r>
              <a:rPr lang="fr-FR" sz="2400" spc="15" dirty="0" smtClean="0">
                <a:latin typeface="Tahoma"/>
                <a:cs typeface="Tahoma"/>
              </a:rPr>
              <a:t>est à </a:t>
            </a:r>
            <a:r>
              <a:rPr lang="fr-FR" sz="2400" spc="90" dirty="0" smtClean="0">
                <a:latin typeface="Tahoma"/>
                <a:cs typeface="Tahoma"/>
              </a:rPr>
              <a:t>distinguer</a:t>
            </a:r>
            <a:r>
              <a:rPr lang="fr-FR" sz="2400" spc="155" dirty="0" smtClean="0">
                <a:latin typeface="Tahoma"/>
                <a:cs typeface="Tahoma"/>
              </a:rPr>
              <a:t> du pic hypertensif chez le patient hypertendu (oubli ou arrêt du traitement,repas hypersalé,prise de corticoïdes,..) et de</a:t>
            </a:r>
            <a:r>
              <a:rPr lang="fr-FR" sz="2400" spc="120" dirty="0" smtClean="0">
                <a:latin typeface="Tahoma"/>
                <a:cs typeface="Tahoma"/>
              </a:rPr>
              <a:t> </a:t>
            </a:r>
            <a:r>
              <a:rPr lang="fr-FR" sz="2400" spc="70" dirty="0" smtClean="0">
                <a:latin typeface="Tahoma"/>
                <a:cs typeface="Tahoma"/>
              </a:rPr>
              <a:t>élévation </a:t>
            </a:r>
            <a:r>
              <a:rPr lang="fr-FR" sz="2400" spc="100" dirty="0" smtClean="0">
                <a:latin typeface="Tahoma"/>
                <a:cs typeface="Tahoma"/>
              </a:rPr>
              <a:t>aigue réactionnelle </a:t>
            </a:r>
            <a:r>
              <a:rPr lang="fr-FR" sz="2400" spc="-65" dirty="0" smtClean="0">
                <a:latin typeface="Tahoma"/>
                <a:cs typeface="Tahoma"/>
              </a:rPr>
              <a:t>de  </a:t>
            </a:r>
            <a:r>
              <a:rPr lang="fr-FR" sz="2400" spc="75" dirty="0" smtClean="0">
                <a:latin typeface="Tahoma"/>
                <a:cs typeface="Tahoma"/>
              </a:rPr>
              <a:t>PA</a:t>
            </a:r>
            <a:r>
              <a:rPr lang="fr-FR" sz="2400" spc="-114" dirty="0" smtClean="0">
                <a:latin typeface="Tahoma"/>
                <a:cs typeface="Tahoma"/>
              </a:rPr>
              <a:t> </a:t>
            </a:r>
            <a:r>
              <a:rPr lang="fr-FR" sz="2400" spc="15" dirty="0" smtClean="0">
                <a:latin typeface="Tahoma"/>
                <a:cs typeface="Tahoma"/>
              </a:rPr>
              <a:t>à</a:t>
            </a:r>
            <a:r>
              <a:rPr lang="fr-FR" sz="2400" spc="-100" dirty="0" smtClean="0">
                <a:latin typeface="Tahoma"/>
                <a:cs typeface="Tahoma"/>
              </a:rPr>
              <a:t> </a:t>
            </a:r>
            <a:r>
              <a:rPr lang="fr-FR" sz="2400" spc="65" dirty="0" smtClean="0">
                <a:latin typeface="Tahoma"/>
                <a:cs typeface="Tahoma"/>
              </a:rPr>
              <a:t>l'occasion</a:t>
            </a:r>
            <a:r>
              <a:rPr lang="fr-FR" sz="2400" spc="-114" dirty="0" smtClean="0">
                <a:latin typeface="Tahoma"/>
                <a:cs typeface="Tahoma"/>
              </a:rPr>
              <a:t> </a:t>
            </a:r>
            <a:r>
              <a:rPr lang="fr-FR" sz="2400" spc="35" dirty="0" smtClean="0">
                <a:latin typeface="Tahoma"/>
                <a:cs typeface="Tahoma"/>
              </a:rPr>
              <a:t>d'un  </a:t>
            </a:r>
            <a:r>
              <a:rPr lang="fr-FR" sz="2400" spc="120" dirty="0" smtClean="0">
                <a:latin typeface="Tahoma"/>
                <a:cs typeface="Tahoma"/>
              </a:rPr>
              <a:t>épisode</a:t>
            </a:r>
            <a:r>
              <a:rPr lang="fr-FR" sz="2400" spc="-95" dirty="0" smtClean="0">
                <a:latin typeface="Tahoma"/>
                <a:cs typeface="Tahoma"/>
              </a:rPr>
              <a:t> </a:t>
            </a:r>
            <a:r>
              <a:rPr lang="fr-FR" sz="2400" spc="75" dirty="0" smtClean="0">
                <a:latin typeface="Tahoma"/>
                <a:cs typeface="Tahoma"/>
              </a:rPr>
              <a:t>douloureux</a:t>
            </a:r>
            <a:r>
              <a:rPr lang="fr-FR" sz="2400" spc="-65" dirty="0" smtClean="0">
                <a:latin typeface="Tahoma"/>
                <a:cs typeface="Tahoma"/>
              </a:rPr>
              <a:t> </a:t>
            </a:r>
            <a:r>
              <a:rPr lang="fr-FR" sz="2400" spc="40" dirty="0" smtClean="0">
                <a:latin typeface="Tahoma"/>
                <a:cs typeface="Tahoma"/>
              </a:rPr>
              <a:t>ou</a:t>
            </a:r>
            <a:r>
              <a:rPr lang="fr-FR" sz="2400" spc="-85" dirty="0" smtClean="0">
                <a:latin typeface="Tahoma"/>
                <a:cs typeface="Tahoma"/>
              </a:rPr>
              <a:t> </a:t>
            </a:r>
            <a:r>
              <a:rPr lang="fr-FR" sz="2400" spc="35" dirty="0" smtClean="0">
                <a:latin typeface="Tahoma"/>
                <a:cs typeface="Tahoma"/>
              </a:rPr>
              <a:t>d'un</a:t>
            </a:r>
            <a:r>
              <a:rPr lang="fr-FR" sz="2400" spc="-100" dirty="0" smtClean="0">
                <a:latin typeface="Tahoma"/>
                <a:cs typeface="Tahoma"/>
              </a:rPr>
              <a:t> </a:t>
            </a:r>
            <a:r>
              <a:rPr lang="fr-FR" sz="2400" spc="100" dirty="0" smtClean="0">
                <a:latin typeface="Tahoma"/>
                <a:cs typeface="Tahoma"/>
              </a:rPr>
              <a:t>choc</a:t>
            </a:r>
            <a:r>
              <a:rPr lang="fr-FR" sz="2400" spc="-90" dirty="0" smtClean="0">
                <a:latin typeface="Tahoma"/>
                <a:cs typeface="Tahoma"/>
              </a:rPr>
              <a:t> </a:t>
            </a:r>
            <a:r>
              <a:rPr lang="fr-FR" sz="2400" spc="65" dirty="0" smtClean="0">
                <a:latin typeface="Tahoma"/>
                <a:cs typeface="Tahoma"/>
              </a:rPr>
              <a:t>émotionnel</a:t>
            </a:r>
            <a:r>
              <a:rPr lang="fr-FR" sz="2400" spc="-90" dirty="0" smtClean="0">
                <a:latin typeface="Tahoma"/>
                <a:cs typeface="Tahoma"/>
              </a:rPr>
              <a:t> </a:t>
            </a:r>
            <a:r>
              <a:rPr lang="fr-FR" sz="2400" spc="20" dirty="0" smtClean="0">
                <a:latin typeface="Tahoma"/>
                <a:cs typeface="Tahoma"/>
              </a:rPr>
              <a:t>en l’absence de tout signe de souffrance viscérale aigue.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6"/>
          <p:cNvSpPr txBox="1">
            <a:spLocks/>
          </p:cNvSpPr>
          <p:nvPr/>
        </p:nvSpPr>
        <p:spPr>
          <a:xfrm>
            <a:off x="2667000" y="381000"/>
            <a:ext cx="3616960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-5" normalizeH="0" baseline="0" noProof="0" dirty="0" smtClean="0">
                <a:ln>
                  <a:noFill/>
                </a:ln>
                <a:solidFill>
                  <a:srgbClr val="0070C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uLnTx/>
                <a:uFillTx/>
                <a:latin typeface="Verdana"/>
                <a:ea typeface="+mj-ea"/>
                <a:cs typeface="Verdana"/>
              </a:rPr>
              <a:t>DEFINITION</a:t>
            </a:r>
            <a:endParaRPr kumimoji="0" lang="fr-FR" sz="3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uLnTx/>
              <a:uFillTx/>
              <a:latin typeface="Verdana"/>
              <a:ea typeface="+mj-e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718048"/>
          </a:xfrm>
        </p:spPr>
        <p:txBody>
          <a:bodyPr>
            <a:normAutofit fontScale="77500" lnSpcReduction="20000"/>
          </a:bodyPr>
          <a:lstStyle/>
          <a:p>
            <a:endParaRPr lang="fr-FR" dirty="0" smtClean="0"/>
          </a:p>
          <a:p>
            <a:pPr>
              <a:buNone/>
            </a:pPr>
            <a:r>
              <a:rPr lang="fr-FR" b="1" dirty="0" smtClean="0"/>
              <a:t>Différentes urgences hypertensives: </a:t>
            </a:r>
          </a:p>
          <a:p>
            <a:r>
              <a:rPr lang="fr-FR" dirty="0" smtClean="0">
                <a:solidFill>
                  <a:srgbClr val="C00000"/>
                </a:solidFill>
              </a:rPr>
              <a:t>Neurologique et neurosensorielle</a:t>
            </a:r>
            <a:r>
              <a:rPr lang="fr-FR" dirty="0" smtClean="0"/>
              <a:t> : </a:t>
            </a:r>
          </a:p>
          <a:p>
            <a:pPr>
              <a:buNone/>
            </a:pPr>
            <a:r>
              <a:rPr lang="fr-FR" dirty="0" smtClean="0"/>
              <a:t>  -AVC ischémique ou hémorragique</a:t>
            </a:r>
          </a:p>
          <a:p>
            <a:pPr>
              <a:buNone/>
            </a:pPr>
            <a:r>
              <a:rPr lang="fr-FR" dirty="0" smtClean="0"/>
              <a:t>  -Encéphalopathie hypertensive</a:t>
            </a:r>
          </a:p>
          <a:p>
            <a:pPr>
              <a:buNone/>
            </a:pPr>
            <a:r>
              <a:rPr lang="fr-FR" dirty="0" smtClean="0"/>
              <a:t>  -rétinopathie hypertensive sévère</a:t>
            </a:r>
          </a:p>
          <a:p>
            <a:r>
              <a:rPr lang="fr-FR" dirty="0" smtClean="0">
                <a:solidFill>
                  <a:srgbClr val="C00000"/>
                </a:solidFill>
              </a:rPr>
              <a:t>Cardiologique</a:t>
            </a:r>
            <a:r>
              <a:rPr lang="fr-FR" dirty="0" smtClean="0"/>
              <a:t> : </a:t>
            </a:r>
          </a:p>
          <a:p>
            <a:r>
              <a:rPr lang="fr-FR" dirty="0" smtClean="0"/>
              <a:t>OAP,</a:t>
            </a:r>
          </a:p>
          <a:p>
            <a:r>
              <a:rPr lang="fr-FR" dirty="0" smtClean="0"/>
              <a:t>SCA,</a:t>
            </a:r>
          </a:p>
          <a:p>
            <a:r>
              <a:rPr lang="fr-FR" dirty="0" smtClean="0"/>
              <a:t>dissection aortique</a:t>
            </a:r>
          </a:p>
          <a:p>
            <a:r>
              <a:rPr lang="fr-FR" dirty="0" smtClean="0">
                <a:solidFill>
                  <a:srgbClr val="C00000"/>
                </a:solidFill>
              </a:rPr>
              <a:t>Rénale</a:t>
            </a:r>
            <a:r>
              <a:rPr lang="fr-FR" dirty="0" smtClean="0"/>
              <a:t> : </a:t>
            </a:r>
          </a:p>
          <a:p>
            <a:r>
              <a:rPr lang="fr-FR" dirty="0" smtClean="0"/>
              <a:t>insuffisance rénale aiguë</a:t>
            </a:r>
          </a:p>
          <a:p>
            <a:r>
              <a:rPr lang="fr-FR" dirty="0" err="1" smtClean="0">
                <a:solidFill>
                  <a:srgbClr val="C00000"/>
                </a:solidFill>
              </a:rPr>
              <a:t>Obstrétricale</a:t>
            </a:r>
            <a:r>
              <a:rPr lang="fr-FR" dirty="0" smtClean="0"/>
              <a:t>:</a:t>
            </a:r>
          </a:p>
          <a:p>
            <a:r>
              <a:rPr lang="fr-FR" dirty="0" smtClean="0"/>
              <a:t>Eclampsie chez la femme enceinte</a:t>
            </a:r>
          </a:p>
          <a:p>
            <a:r>
              <a:rPr lang="fr-FR" dirty="0" smtClean="0">
                <a:solidFill>
                  <a:srgbClr val="C00000"/>
                </a:solidFill>
              </a:rPr>
              <a:t>Association: </a:t>
            </a:r>
            <a:r>
              <a:rPr lang="fr-FR" dirty="0" smtClean="0"/>
              <a:t>rétinopathie hypertensive sévère(stade 3 au FO) +/-encéphalopathie+/-OAP+/-IRA réalisant ce que l’on appelle </a:t>
            </a:r>
            <a:r>
              <a:rPr lang="fr-FR" dirty="0" smtClean="0">
                <a:solidFill>
                  <a:srgbClr val="002060"/>
                </a:solidFill>
              </a:rPr>
              <a:t>HTA maligne</a:t>
            </a:r>
            <a:endParaRPr lang="fr-FR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200" y="1371600"/>
            <a:ext cx="8229600" cy="46301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2000" spc="90" dirty="0" smtClean="0">
                <a:solidFill>
                  <a:schemeClr val="tx1"/>
                </a:solidFill>
              </a:rPr>
              <a:t>-</a:t>
            </a:r>
            <a:r>
              <a:rPr sz="2000" spc="90" smtClean="0">
                <a:solidFill>
                  <a:schemeClr val="tx1"/>
                </a:solidFill>
              </a:rPr>
              <a:t>Examen</a:t>
            </a:r>
            <a:r>
              <a:rPr sz="2000" spc="-165" smtClean="0">
                <a:solidFill>
                  <a:schemeClr val="tx1"/>
                </a:solidFill>
              </a:rPr>
              <a:t> </a:t>
            </a:r>
            <a:r>
              <a:rPr sz="2000" spc="80" smtClean="0">
                <a:solidFill>
                  <a:schemeClr val="tx1"/>
                </a:solidFill>
              </a:rPr>
              <a:t>neurologique</a:t>
            </a:r>
            <a:r>
              <a:rPr lang="fr-FR" sz="2000" spc="80" dirty="0" smtClean="0">
                <a:solidFill>
                  <a:schemeClr val="tx1"/>
                </a:solidFill>
              </a:rPr>
              <a:t>:</a:t>
            </a:r>
            <a:r>
              <a:rPr lang="fr-FR" sz="2000" b="0" spc="80" dirty="0" err="1" smtClean="0">
                <a:solidFill>
                  <a:schemeClr val="tx1"/>
                </a:solidFill>
              </a:rPr>
              <a:t>céphalée,baisse</a:t>
            </a:r>
            <a:r>
              <a:rPr lang="fr-FR" sz="2000" b="0" spc="80" dirty="0" smtClean="0">
                <a:solidFill>
                  <a:schemeClr val="tx1"/>
                </a:solidFill>
              </a:rPr>
              <a:t> de la vision, déficit moteur ou phasique, troubles de la conscience, convulsions (AVC, encéphalopathie)</a:t>
            </a:r>
            <a:br>
              <a:rPr lang="fr-FR" sz="2000" b="0" spc="80" dirty="0" smtClean="0">
                <a:solidFill>
                  <a:schemeClr val="tx1"/>
                </a:solidFill>
              </a:rPr>
            </a:br>
            <a:r>
              <a:rPr lang="fr-FR" sz="2000" spc="80" dirty="0" smtClean="0">
                <a:solidFill>
                  <a:schemeClr val="tx1"/>
                </a:solidFill>
              </a:rPr>
              <a:t>-Examen CV: </a:t>
            </a:r>
            <a:r>
              <a:rPr lang="fr-FR" sz="2000" b="0" spc="80" dirty="0" smtClean="0">
                <a:solidFill>
                  <a:schemeClr val="tx1"/>
                </a:solidFill>
              </a:rPr>
              <a:t>douleur thoracique irradiant vers les membre sup(SCA),douleur thoracique irradiant vers le dos avec asymétrie tensionnelle(dissection aortique), dyspnée avec orthopnée+</a:t>
            </a:r>
            <a:r>
              <a:rPr lang="fr-FR" sz="2000" b="0" spc="80" dirty="0" err="1" smtClean="0">
                <a:solidFill>
                  <a:schemeClr val="tx1"/>
                </a:solidFill>
              </a:rPr>
              <a:t>rales</a:t>
            </a:r>
            <a:r>
              <a:rPr lang="fr-FR" sz="2000" b="0" spc="80" dirty="0" smtClean="0">
                <a:solidFill>
                  <a:schemeClr val="tx1"/>
                </a:solidFill>
              </a:rPr>
              <a:t> crépitants(OAP)</a:t>
            </a:r>
            <a:r>
              <a:rPr lang="fr-FR" sz="2000" spc="-380" dirty="0" smtClean="0">
                <a:solidFill>
                  <a:schemeClr val="tx1"/>
                </a:solidFill>
              </a:rPr>
              <a:t/>
            </a:r>
            <a:br>
              <a:rPr lang="fr-FR" sz="2000" spc="-380" dirty="0" smtClean="0">
                <a:solidFill>
                  <a:schemeClr val="tx1"/>
                </a:solidFill>
              </a:rPr>
            </a:br>
            <a:r>
              <a:rPr lang="fr-FR" sz="2000" spc="-380" dirty="0" smtClean="0">
                <a:solidFill>
                  <a:schemeClr val="tx1"/>
                </a:solidFill>
              </a:rPr>
              <a:t>  -E C G  </a:t>
            </a:r>
            <a:r>
              <a:rPr lang="fr-FR" sz="2000" b="0" spc="-380" dirty="0" smtClean="0">
                <a:solidFill>
                  <a:schemeClr val="tx1"/>
                </a:solidFill>
              </a:rPr>
              <a:t>( signes  de  SCA )</a:t>
            </a:r>
            <a:br>
              <a:rPr lang="fr-FR" sz="2000" b="0" spc="-380" dirty="0" smtClean="0">
                <a:solidFill>
                  <a:schemeClr val="tx1"/>
                </a:solidFill>
              </a:rPr>
            </a:br>
            <a:r>
              <a:rPr lang="fr-FR" sz="2000" spc="-380" dirty="0" smtClean="0">
                <a:solidFill>
                  <a:schemeClr val="tx1"/>
                </a:solidFill>
              </a:rPr>
              <a:t> -FO</a:t>
            </a:r>
            <a:r>
              <a:rPr lang="fr-FR" sz="2000" b="0" spc="-380" dirty="0" smtClean="0">
                <a:solidFill>
                  <a:schemeClr val="tx1"/>
                </a:solidFill>
              </a:rPr>
              <a:t>( r é ti no </a:t>
            </a:r>
            <a:r>
              <a:rPr lang="fr-FR" sz="2000" b="0" spc="-380" dirty="0" err="1" smtClean="0">
                <a:solidFill>
                  <a:schemeClr val="tx1"/>
                </a:solidFill>
              </a:rPr>
              <a:t>pa</a:t>
            </a:r>
            <a:r>
              <a:rPr lang="fr-FR" sz="2000" b="0" spc="-380" dirty="0" smtClean="0">
                <a:solidFill>
                  <a:schemeClr val="tx1"/>
                </a:solidFill>
              </a:rPr>
              <a:t> thie  </a:t>
            </a:r>
            <a:r>
              <a:rPr lang="fr-FR" sz="2000" b="0" spc="-380" dirty="0" err="1" smtClean="0">
                <a:solidFill>
                  <a:schemeClr val="tx1"/>
                </a:solidFill>
              </a:rPr>
              <a:t>hypert</a:t>
            </a:r>
            <a:r>
              <a:rPr lang="fr-FR" sz="2000" b="0" spc="-380" dirty="0" smtClean="0">
                <a:solidFill>
                  <a:schemeClr val="tx1"/>
                </a:solidFill>
              </a:rPr>
              <a:t> e n </a:t>
            </a:r>
            <a:r>
              <a:rPr lang="fr-FR" sz="2000" b="0" spc="-380" dirty="0" err="1" smtClean="0">
                <a:solidFill>
                  <a:schemeClr val="tx1"/>
                </a:solidFill>
              </a:rPr>
              <a:t>sive</a:t>
            </a:r>
            <a:r>
              <a:rPr lang="fr-FR" sz="2000" b="0" spc="-380" dirty="0" smtClean="0">
                <a:solidFill>
                  <a:schemeClr val="tx1"/>
                </a:solidFill>
              </a:rPr>
              <a:t>   sévère:  stade 2(</a:t>
            </a:r>
            <a:r>
              <a:rPr lang="fr-FR" sz="2000" b="0" spc="-380" dirty="0" err="1" smtClean="0">
                <a:solidFill>
                  <a:schemeClr val="tx1"/>
                </a:solidFill>
              </a:rPr>
              <a:t>exssudat</a:t>
            </a:r>
            <a:r>
              <a:rPr lang="fr-FR" sz="2000" b="0" spc="-380" dirty="0" smtClean="0">
                <a:solidFill>
                  <a:schemeClr val="tx1"/>
                </a:solidFill>
              </a:rPr>
              <a:t> +hémorragie) ou 3 (œdème  )</a:t>
            </a:r>
            <a:r>
              <a:rPr lang="fr-FR" sz="2000" spc="-45" dirty="0" smtClean="0">
                <a:solidFill>
                  <a:schemeClr val="tx1"/>
                </a:solidFill>
              </a:rPr>
              <a:t/>
            </a:r>
            <a:br>
              <a:rPr lang="fr-FR" sz="2000" spc="-45" dirty="0" smtClean="0">
                <a:solidFill>
                  <a:schemeClr val="tx1"/>
                </a:solidFill>
              </a:rPr>
            </a:br>
            <a:r>
              <a:rPr lang="fr-FR" sz="2000" spc="-45" dirty="0" smtClean="0">
                <a:solidFill>
                  <a:schemeClr val="tx1"/>
                </a:solidFill>
              </a:rPr>
              <a:t>-un bilan biologique: </a:t>
            </a:r>
            <a:r>
              <a:rPr lang="fr-FR" sz="2000" b="0" spc="-45" dirty="0" smtClean="0">
                <a:solidFill>
                  <a:schemeClr val="tx1"/>
                </a:solidFill>
              </a:rPr>
              <a:t>urée, créatinine (Insuffisance rénale),chimie des urines (protéinurie) +/- troponines(après ECG ,SCA)</a:t>
            </a:r>
            <a:r>
              <a:rPr lang="fr-FR" sz="2000" spc="-45" dirty="0" smtClean="0">
                <a:solidFill>
                  <a:srgbClr val="FF0000"/>
                </a:solidFill>
              </a:rPr>
              <a:t/>
            </a:r>
            <a:br>
              <a:rPr lang="fr-FR" sz="2000" spc="-45" dirty="0" smtClean="0">
                <a:solidFill>
                  <a:srgbClr val="FF0000"/>
                </a:solidFill>
              </a:rPr>
            </a:br>
            <a:r>
              <a:rPr lang="fr-FR" sz="2000" spc="60" dirty="0" smtClean="0">
                <a:solidFill>
                  <a:srgbClr val="FF0000"/>
                </a:solidFill>
                <a:latin typeface="Tahoma"/>
                <a:cs typeface="Tahoma"/>
              </a:rPr>
              <a:t>et Selon</a:t>
            </a:r>
            <a:r>
              <a:rPr lang="fr-FR" sz="2000" spc="-185" dirty="0" smtClean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fr-FR" sz="2000" spc="140" dirty="0" smtClean="0">
                <a:solidFill>
                  <a:srgbClr val="FF0000"/>
                </a:solidFill>
                <a:latin typeface="Tahoma"/>
                <a:cs typeface="Tahoma"/>
              </a:rPr>
              <a:t>le</a:t>
            </a:r>
            <a:r>
              <a:rPr lang="fr-FR" sz="2000" spc="-160" dirty="0" smtClean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fr-FR" sz="2000" spc="55" dirty="0" smtClean="0">
                <a:solidFill>
                  <a:srgbClr val="FF0000"/>
                </a:solidFill>
                <a:latin typeface="Tahoma"/>
                <a:cs typeface="Tahoma"/>
              </a:rPr>
              <a:t>contexte</a:t>
            </a:r>
            <a:r>
              <a:rPr lang="fr-FR" sz="2000" spc="-165" dirty="0" smtClean="0">
                <a:solidFill>
                  <a:srgbClr val="FF0000"/>
                </a:solidFill>
                <a:latin typeface="Tahoma"/>
                <a:cs typeface="Tahoma"/>
              </a:rPr>
              <a:t> :</a:t>
            </a:r>
            <a:r>
              <a:rPr lang="fr-FR" sz="2000" spc="-365" dirty="0" smtClean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fr-FR" sz="2000" spc="100" dirty="0" smtClean="0">
                <a:solidFill>
                  <a:schemeClr val="tx1"/>
                </a:solidFill>
                <a:latin typeface="Tahoma"/>
                <a:cs typeface="Tahoma"/>
              </a:rPr>
              <a:t>radio</a:t>
            </a:r>
            <a:r>
              <a:rPr lang="fr-FR" sz="2000" spc="-165" dirty="0" smtClean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fr-FR" sz="2000" spc="30" dirty="0" smtClean="0">
                <a:solidFill>
                  <a:schemeClr val="tx1"/>
                </a:solidFill>
                <a:latin typeface="Tahoma"/>
                <a:cs typeface="Tahoma"/>
              </a:rPr>
              <a:t>thorax,échocoeur(OAP)</a:t>
            </a:r>
            <a:r>
              <a:rPr lang="fr-FR" sz="2000" spc="45" dirty="0" smtClean="0">
                <a:solidFill>
                  <a:schemeClr val="tx1"/>
                </a:solidFill>
                <a:latin typeface="Tahoma"/>
                <a:cs typeface="Tahoma"/>
              </a:rPr>
              <a:t>,</a:t>
            </a:r>
            <a:r>
              <a:rPr lang="fr-FR" sz="2000" spc="-385" dirty="0" smtClean="0">
                <a:solidFill>
                  <a:schemeClr val="tx1"/>
                </a:solidFill>
                <a:latin typeface="Tahoma"/>
                <a:cs typeface="Tahoma"/>
              </a:rPr>
              <a:t>une  TDM /</a:t>
            </a:r>
            <a:r>
              <a:rPr lang="fr-FR" sz="2000" spc="-114" dirty="0" smtClean="0">
                <a:solidFill>
                  <a:schemeClr val="tx1"/>
                </a:solidFill>
                <a:latin typeface="Tahoma"/>
                <a:cs typeface="Tahoma"/>
              </a:rPr>
              <a:t>IRM cérébrale(complication neurologique) ,</a:t>
            </a:r>
            <a:r>
              <a:rPr lang="fr-FR" sz="2000" spc="-114" dirty="0" err="1" smtClean="0">
                <a:solidFill>
                  <a:schemeClr val="tx1"/>
                </a:solidFill>
                <a:latin typeface="Tahoma"/>
                <a:cs typeface="Tahoma"/>
              </a:rPr>
              <a:t>angio</a:t>
            </a:r>
            <a:r>
              <a:rPr lang="fr-FR" sz="2000" spc="-114" dirty="0" smtClean="0">
                <a:solidFill>
                  <a:schemeClr val="tx1"/>
                </a:solidFill>
                <a:latin typeface="Tahoma"/>
                <a:cs typeface="Tahoma"/>
              </a:rPr>
              <a:t> TDM thoracique(dissection aortique)</a:t>
            </a:r>
            <a:endParaRPr sz="2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457200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0">
              <a:spcBef>
                <a:spcPts val="100"/>
              </a:spcBef>
              <a:defRPr/>
            </a:pPr>
            <a:r>
              <a:rPr lang="fr-FR" sz="2800" b="1" spc="-5" dirty="0" smtClean="0">
                <a:solidFill>
                  <a:srgbClr val="C00000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Comment Identifier une urgence hypertensive ?</a:t>
            </a:r>
            <a:endParaRPr lang="fr-FR" sz="2800" b="1" dirty="0">
              <a:solidFill>
                <a:srgbClr val="C00000"/>
              </a:solidFill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71800" y="1524000"/>
            <a:ext cx="2448053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00" dirty="0">
                <a:solidFill>
                  <a:srgbClr val="FF0000"/>
                </a:solidFill>
              </a:rPr>
              <a:t>Objectifs</a:t>
            </a:r>
            <a:endParaRPr sz="3000">
              <a:solidFill>
                <a:srgbClr val="FF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1905000"/>
            <a:ext cx="7696200" cy="2852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fr-FR" sz="2600" spc="35" dirty="0" smtClean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fr-FR" sz="2600" spc="35" dirty="0" smtClean="0">
              <a:latin typeface="Calibri" pitchFamily="34" charset="0"/>
              <a:cs typeface="Calibri" pitchFamily="34" charset="0"/>
            </a:endParaRPr>
          </a:p>
          <a:p>
            <a:pPr marL="12700">
              <a:spcBef>
                <a:spcPts val="105"/>
              </a:spcBef>
              <a:buFont typeface="Wingdings" pitchFamily="2" charset="2"/>
              <a:buChar char="Ø"/>
            </a:pPr>
            <a:r>
              <a:rPr lang="fr-FR" sz="2600" b="1" spc="35" dirty="0" smtClean="0">
                <a:latin typeface="Calibri" pitchFamily="34" charset="0"/>
                <a:cs typeface="Calibri" pitchFamily="34" charset="0"/>
              </a:rPr>
              <a:t>Baisser  rapidement(mais avec attention) les chiffres tensionnels en utilisant la voie IV </a:t>
            </a:r>
            <a:r>
              <a:rPr lang="fr-FR" sz="2600" spc="35" dirty="0" smtClean="0">
                <a:latin typeface="Calibri" pitchFamily="34" charset="0"/>
                <a:cs typeface="Calibri" pitchFamily="34" charset="0"/>
              </a:rPr>
              <a:t>(sauf pour AVC ischémique non   candidat à la thrombolyse avec PA&lt;220/120 mm Hg)</a:t>
            </a:r>
            <a:endParaRPr lang="fr-FR" sz="2600" dirty="0" smtClean="0">
              <a:latin typeface="Calibri" pitchFamily="34" charset="0"/>
              <a:cs typeface="Calibri" pitchFamily="34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buFont typeface="Wingdings" pitchFamily="2" charset="2"/>
              <a:buChar char="Ø"/>
            </a:pPr>
            <a:r>
              <a:rPr lang="fr-FR" sz="2600" b="1" spc="35" dirty="0" smtClean="0">
                <a:latin typeface="Calibri" pitchFamily="34" charset="0"/>
                <a:cs typeface="Calibri" pitchFamily="34" charset="0"/>
              </a:rPr>
              <a:t>Limiter et traiter les complications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60960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lvl="0">
              <a:spcBef>
                <a:spcPts val="100"/>
              </a:spcBef>
              <a:defRPr/>
            </a:pPr>
            <a:r>
              <a:rPr lang="fr-FR" sz="2800" b="1" spc="-5" dirty="0" smtClean="0"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Traitement </a:t>
            </a:r>
            <a:endParaRPr lang="fr-FR" sz="2800" b="1" dirty="0"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219200"/>
            <a:ext cx="8452485" cy="4703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 marR="890269" indent="-293370">
              <a:lnSpc>
                <a:spcPct val="105700"/>
              </a:lnSpc>
              <a:spcBef>
                <a:spcPts val="100"/>
              </a:spcBef>
            </a:pPr>
            <a:r>
              <a:rPr sz="2800" spc="520" dirty="0">
                <a:solidFill>
                  <a:srgbClr val="FFFF00"/>
                </a:solidFill>
                <a:latin typeface="Arial"/>
                <a:cs typeface="Arial"/>
              </a:rPr>
              <a:t></a:t>
            </a:r>
            <a:r>
              <a:rPr sz="2800" spc="-8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800" spc="90" dirty="0">
                <a:solidFill>
                  <a:srgbClr val="C00000"/>
                </a:solidFill>
                <a:latin typeface="Tahoma"/>
                <a:cs typeface="Tahoma"/>
              </a:rPr>
              <a:t>Le</a:t>
            </a:r>
            <a:r>
              <a:rPr sz="2800" spc="-1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C00000"/>
                </a:solidFill>
                <a:latin typeface="Tahoma"/>
                <a:cs typeface="Tahoma"/>
              </a:rPr>
              <a:t>patient</a:t>
            </a:r>
            <a:r>
              <a:rPr sz="2800" spc="-1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00" dirty="0">
                <a:solidFill>
                  <a:srgbClr val="C00000"/>
                </a:solidFill>
                <a:latin typeface="Tahoma"/>
                <a:cs typeface="Tahoma"/>
              </a:rPr>
              <a:t>neurologique</a:t>
            </a:r>
            <a:r>
              <a:rPr sz="2800" spc="-21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75" dirty="0">
                <a:solidFill>
                  <a:srgbClr val="C00000"/>
                </a:solidFill>
                <a:latin typeface="Tahoma"/>
                <a:cs typeface="Tahoma"/>
              </a:rPr>
              <a:t>:</a:t>
            </a:r>
            <a:r>
              <a:rPr sz="2800" spc="-40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280" dirty="0">
                <a:solidFill>
                  <a:srgbClr val="C00000"/>
                </a:solidFill>
                <a:latin typeface="Tahoma"/>
                <a:cs typeface="Tahoma"/>
              </a:rPr>
              <a:t>AVC</a:t>
            </a:r>
            <a:r>
              <a:rPr sz="2800" spc="-1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05" dirty="0">
                <a:solidFill>
                  <a:srgbClr val="C00000"/>
                </a:solidFill>
                <a:latin typeface="Tahoma"/>
                <a:cs typeface="Tahoma"/>
              </a:rPr>
              <a:t>ischémique</a:t>
            </a:r>
            <a:r>
              <a:rPr sz="2800" spc="-1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775" dirty="0">
                <a:solidFill>
                  <a:srgbClr val="C00000"/>
                </a:solidFill>
                <a:latin typeface="Tahoma"/>
                <a:cs typeface="Tahoma"/>
              </a:rPr>
              <a:t>?  </a:t>
            </a:r>
            <a:r>
              <a:rPr sz="2800" spc="110" dirty="0">
                <a:solidFill>
                  <a:srgbClr val="C00000"/>
                </a:solidFill>
                <a:latin typeface="Tahoma"/>
                <a:cs typeface="Tahoma"/>
              </a:rPr>
              <a:t>hémorragie</a:t>
            </a:r>
            <a:r>
              <a:rPr sz="2800" spc="-1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35" dirty="0">
                <a:solidFill>
                  <a:srgbClr val="C00000"/>
                </a:solidFill>
                <a:latin typeface="Tahoma"/>
                <a:cs typeface="Tahoma"/>
              </a:rPr>
              <a:t>cérébrale</a:t>
            </a:r>
            <a:r>
              <a:rPr sz="2800" spc="-1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Tahoma"/>
                <a:cs typeface="Tahoma"/>
              </a:rPr>
              <a:t>?</a:t>
            </a:r>
            <a:r>
              <a:rPr sz="2800" spc="-2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95" dirty="0">
                <a:solidFill>
                  <a:srgbClr val="C00000"/>
                </a:solidFill>
                <a:latin typeface="Tahoma"/>
                <a:cs typeface="Tahoma"/>
              </a:rPr>
              <a:t>Encéphalopathie</a:t>
            </a:r>
            <a:r>
              <a:rPr sz="2800" spc="-21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Tahoma"/>
                <a:cs typeface="Tahoma"/>
              </a:rPr>
              <a:t>?</a:t>
            </a:r>
            <a:endParaRPr sz="2800">
              <a:solidFill>
                <a:srgbClr val="C00000"/>
              </a:solidFill>
              <a:latin typeface="Tahoma"/>
              <a:cs typeface="Tahoma"/>
            </a:endParaRPr>
          </a:p>
          <a:p>
            <a:pPr marL="2891155">
              <a:lnSpc>
                <a:spcPct val="100000"/>
              </a:lnSpc>
              <a:spcBef>
                <a:spcPts val="165"/>
              </a:spcBef>
            </a:pPr>
            <a:r>
              <a:rPr sz="2800" spc="40" dirty="0">
                <a:latin typeface="Tahoma"/>
                <a:cs typeface="Tahoma"/>
              </a:rPr>
              <a:t>Transfert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85" dirty="0">
                <a:latin typeface="Tahoma"/>
                <a:cs typeface="Tahoma"/>
              </a:rPr>
              <a:t>en</a:t>
            </a:r>
            <a:r>
              <a:rPr sz="2800" spc="-210" dirty="0">
                <a:latin typeface="Tahoma"/>
                <a:cs typeface="Tahoma"/>
              </a:rPr>
              <a:t> </a:t>
            </a:r>
            <a:r>
              <a:rPr sz="2800" spc="50">
                <a:latin typeface="Tahoma"/>
                <a:cs typeface="Tahoma"/>
              </a:rPr>
              <a:t>unité</a:t>
            </a:r>
            <a:r>
              <a:rPr sz="2800" spc="-200">
                <a:latin typeface="Tahoma"/>
                <a:cs typeface="Tahoma"/>
              </a:rPr>
              <a:t> </a:t>
            </a:r>
            <a:r>
              <a:rPr sz="2800" spc="65" smtClean="0">
                <a:latin typeface="Tahoma"/>
                <a:cs typeface="Tahoma"/>
              </a:rPr>
              <a:t>neurovasculaire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520" dirty="0">
                <a:solidFill>
                  <a:srgbClr val="FFFF00"/>
                </a:solidFill>
                <a:latin typeface="Arial"/>
                <a:cs typeface="Arial"/>
              </a:rPr>
              <a:t></a:t>
            </a:r>
            <a:r>
              <a:rPr sz="2800" spc="-8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800" spc="85" dirty="0">
                <a:solidFill>
                  <a:srgbClr val="C00000"/>
                </a:solidFill>
                <a:latin typeface="Tahoma"/>
                <a:cs typeface="Tahoma"/>
              </a:rPr>
              <a:t>Dissection</a:t>
            </a:r>
            <a:r>
              <a:rPr sz="2800" spc="-1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65">
                <a:solidFill>
                  <a:srgbClr val="C00000"/>
                </a:solidFill>
                <a:latin typeface="Tahoma"/>
                <a:cs typeface="Tahoma"/>
              </a:rPr>
              <a:t>de</a:t>
            </a:r>
            <a:r>
              <a:rPr sz="2800" spc="-185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55" smtClean="0">
                <a:solidFill>
                  <a:srgbClr val="C00000"/>
                </a:solidFill>
                <a:latin typeface="Tahoma"/>
                <a:cs typeface="Tahoma"/>
              </a:rPr>
              <a:t>l'aorte</a:t>
            </a:r>
            <a:endParaRPr sz="2800" smtClean="0">
              <a:solidFill>
                <a:srgbClr val="C00000"/>
              </a:solidFill>
              <a:latin typeface="Tahoma"/>
              <a:cs typeface="Tahoma"/>
            </a:endParaRPr>
          </a:p>
          <a:p>
            <a:pPr marL="2106930">
              <a:lnSpc>
                <a:spcPct val="100000"/>
              </a:lnSpc>
              <a:spcBef>
                <a:spcPts val="190"/>
              </a:spcBef>
            </a:pPr>
            <a:r>
              <a:rPr sz="2800" spc="40" smtClean="0">
                <a:latin typeface="Tahoma"/>
                <a:cs typeface="Tahoma"/>
              </a:rPr>
              <a:t>Transfert</a:t>
            </a:r>
            <a:r>
              <a:rPr sz="2800" spc="-220" smtClean="0">
                <a:latin typeface="Tahoma"/>
                <a:cs typeface="Tahoma"/>
              </a:rPr>
              <a:t> </a:t>
            </a:r>
            <a:r>
              <a:rPr sz="2800" spc="85" smtClean="0">
                <a:latin typeface="Tahoma"/>
                <a:cs typeface="Tahoma"/>
              </a:rPr>
              <a:t>en</a:t>
            </a:r>
            <a:r>
              <a:rPr sz="2800" spc="-185" smtClean="0">
                <a:latin typeface="Tahoma"/>
                <a:cs typeface="Tahoma"/>
              </a:rPr>
              <a:t> </a:t>
            </a:r>
            <a:r>
              <a:rPr sz="2800" spc="125" smtClean="0">
                <a:latin typeface="Tahoma"/>
                <a:cs typeface="Tahoma"/>
              </a:rPr>
              <a:t>chirurgie</a:t>
            </a:r>
            <a:r>
              <a:rPr sz="2800" spc="-180" smtClean="0">
                <a:latin typeface="Tahoma"/>
                <a:cs typeface="Tahoma"/>
              </a:rPr>
              <a:t> </a:t>
            </a:r>
            <a:r>
              <a:rPr sz="2800" spc="80" smtClean="0">
                <a:latin typeface="Tahoma"/>
                <a:cs typeface="Tahoma"/>
              </a:rPr>
              <a:t>cardiovasculaire</a:t>
            </a:r>
            <a:endParaRPr sz="2800" smtClean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520" smtClean="0">
                <a:solidFill>
                  <a:srgbClr val="FF0000"/>
                </a:solidFill>
                <a:latin typeface="Arial"/>
                <a:cs typeface="Arial"/>
              </a:rPr>
              <a:t></a:t>
            </a:r>
            <a:r>
              <a:rPr sz="2800" spc="-85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125" smtClean="0">
                <a:solidFill>
                  <a:srgbClr val="C00000"/>
                </a:solidFill>
                <a:latin typeface="Tahoma"/>
                <a:cs typeface="Tahoma"/>
              </a:rPr>
              <a:t>Eclampsie</a:t>
            </a:r>
            <a:endParaRPr sz="2800" smtClean="0">
              <a:solidFill>
                <a:srgbClr val="C00000"/>
              </a:solidFill>
              <a:latin typeface="Tahoma"/>
              <a:cs typeface="Tahoma"/>
            </a:endParaRPr>
          </a:p>
          <a:p>
            <a:pPr marL="2839720">
              <a:lnSpc>
                <a:spcPct val="100000"/>
              </a:lnSpc>
              <a:spcBef>
                <a:spcPts val="190"/>
              </a:spcBef>
            </a:pPr>
            <a:r>
              <a:rPr sz="2800" spc="40" smtClean="0">
                <a:latin typeface="Tahoma"/>
                <a:cs typeface="Tahoma"/>
              </a:rPr>
              <a:t>Transfert</a:t>
            </a:r>
            <a:r>
              <a:rPr sz="2800" spc="-229" smtClean="0">
                <a:latin typeface="Tahoma"/>
                <a:cs typeface="Tahoma"/>
              </a:rPr>
              <a:t> </a:t>
            </a:r>
            <a:r>
              <a:rPr sz="2800" spc="85" smtClean="0">
                <a:latin typeface="Tahoma"/>
                <a:cs typeface="Tahoma"/>
              </a:rPr>
              <a:t>en</a:t>
            </a:r>
            <a:r>
              <a:rPr sz="2800" spc="-195" smtClean="0">
                <a:latin typeface="Tahoma"/>
                <a:cs typeface="Tahoma"/>
              </a:rPr>
              <a:t> </a:t>
            </a:r>
            <a:r>
              <a:rPr sz="2800" spc="65" smtClean="0">
                <a:latin typeface="Tahoma"/>
                <a:cs typeface="Tahoma"/>
              </a:rPr>
              <a:t>maternité</a:t>
            </a:r>
            <a:r>
              <a:rPr sz="2800" spc="-185" smtClean="0">
                <a:latin typeface="Tahoma"/>
                <a:cs typeface="Tahoma"/>
              </a:rPr>
              <a:t> </a:t>
            </a:r>
            <a:r>
              <a:rPr sz="2800" spc="165" smtClean="0">
                <a:latin typeface="Tahoma"/>
                <a:cs typeface="Tahoma"/>
              </a:rPr>
              <a:t>de</a:t>
            </a:r>
            <a:r>
              <a:rPr sz="2800" spc="-185" smtClean="0">
                <a:latin typeface="Tahoma"/>
                <a:cs typeface="Tahoma"/>
              </a:rPr>
              <a:t> </a:t>
            </a:r>
            <a:r>
              <a:rPr sz="2800" spc="55" smtClean="0">
                <a:latin typeface="Tahoma"/>
                <a:cs typeface="Tahoma"/>
              </a:rPr>
              <a:t>niveau</a:t>
            </a:r>
            <a:r>
              <a:rPr sz="2800" spc="-190" smtClean="0">
                <a:latin typeface="Tahoma"/>
                <a:cs typeface="Tahoma"/>
              </a:rPr>
              <a:t> </a:t>
            </a:r>
            <a:r>
              <a:rPr sz="2800" spc="-15" smtClean="0">
                <a:latin typeface="Tahoma"/>
                <a:cs typeface="Tahoma"/>
              </a:rPr>
              <a:t>3</a:t>
            </a:r>
            <a:endParaRPr sz="2800" smtClean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spc="520" smtClean="0">
                <a:solidFill>
                  <a:srgbClr val="FFFF00"/>
                </a:solidFill>
                <a:latin typeface="Arial"/>
                <a:cs typeface="Arial"/>
              </a:rPr>
              <a:t></a:t>
            </a:r>
            <a:r>
              <a:rPr sz="2800" spc="-85" smtClean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800" spc="140" dirty="0">
                <a:solidFill>
                  <a:srgbClr val="C00000"/>
                </a:solidFill>
                <a:latin typeface="Tahoma"/>
                <a:cs typeface="Tahoma"/>
              </a:rPr>
              <a:t>OAP</a:t>
            </a:r>
            <a:r>
              <a:rPr sz="2800" spc="-1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5">
                <a:solidFill>
                  <a:srgbClr val="C00000"/>
                </a:solidFill>
                <a:latin typeface="Tahoma"/>
                <a:cs typeface="Tahoma"/>
              </a:rPr>
              <a:t>et</a:t>
            </a:r>
            <a:r>
              <a:rPr sz="2800" spc="-175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lang="fr-FR" sz="2800" spc="85" dirty="0" smtClean="0">
                <a:solidFill>
                  <a:srgbClr val="C00000"/>
                </a:solidFill>
                <a:latin typeface="Tahoma"/>
                <a:cs typeface="Tahoma"/>
              </a:rPr>
              <a:t>les SCA</a:t>
            </a:r>
            <a:r>
              <a:rPr sz="2800" spc="-175" smtClean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endParaRPr sz="2800" smtClean="0">
              <a:solidFill>
                <a:srgbClr val="C00000"/>
              </a:solidFill>
              <a:latin typeface="Tahoma"/>
              <a:cs typeface="Tahoma"/>
            </a:endParaRPr>
          </a:p>
          <a:p>
            <a:pPr marL="5572125">
              <a:lnSpc>
                <a:spcPct val="100000"/>
              </a:lnSpc>
              <a:spcBef>
                <a:spcPts val="190"/>
              </a:spcBef>
            </a:pPr>
            <a:r>
              <a:rPr sz="2800" spc="40" smtClean="0">
                <a:latin typeface="Tahoma"/>
                <a:cs typeface="Tahoma"/>
              </a:rPr>
              <a:t>Transfert </a:t>
            </a:r>
            <a:r>
              <a:rPr sz="2800" spc="85" smtClean="0">
                <a:latin typeface="Tahoma"/>
                <a:cs typeface="Tahoma"/>
              </a:rPr>
              <a:t>en</a:t>
            </a:r>
            <a:r>
              <a:rPr sz="2800" spc="-515" smtClean="0">
                <a:latin typeface="Tahoma"/>
                <a:cs typeface="Tahoma"/>
              </a:rPr>
              <a:t> </a:t>
            </a:r>
            <a:r>
              <a:rPr sz="2800" spc="60" smtClean="0">
                <a:latin typeface="Tahoma"/>
                <a:cs typeface="Tahoma"/>
              </a:rPr>
              <a:t>USIC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09600"/>
            <a:ext cx="8229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0">
              <a:spcBef>
                <a:spcPts val="100"/>
              </a:spcBef>
              <a:defRPr/>
            </a:pPr>
            <a:r>
              <a:rPr lang="fr-FR" sz="2800" b="1" spc="-5" dirty="0" smtClean="0"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Où hospitaliser l’urgence hypertensive?</a:t>
            </a:r>
            <a:endParaRPr lang="fr-FR" sz="2800" b="1" dirty="0"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400" y="1143000"/>
            <a:ext cx="761746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145" algn="l"/>
              </a:tabLst>
            </a:pPr>
            <a:r>
              <a:rPr sz="2100" spc="395" dirty="0">
                <a:solidFill>
                  <a:srgbClr val="FFFF00"/>
                </a:solidFill>
                <a:latin typeface="Arial"/>
                <a:cs typeface="Arial"/>
              </a:rPr>
              <a:t>	</a:t>
            </a:r>
            <a:r>
              <a:rPr sz="3000" spc="60">
                <a:solidFill>
                  <a:srgbClr val="FF0000"/>
                </a:solidFill>
              </a:rPr>
              <a:t>Dans </a:t>
            </a:r>
            <a:r>
              <a:rPr sz="3000" spc="5" smtClean="0">
                <a:solidFill>
                  <a:srgbClr val="FF0000"/>
                </a:solidFill>
              </a:rPr>
              <a:t>tou</a:t>
            </a:r>
            <a:r>
              <a:rPr lang="fr-FR" sz="3000" spc="5" dirty="0" smtClean="0">
                <a:solidFill>
                  <a:srgbClr val="FF0000"/>
                </a:solidFill>
              </a:rPr>
              <a:t>tes les situations CV:</a:t>
            </a:r>
            <a:endParaRPr sz="300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1676400"/>
            <a:ext cx="9753600" cy="3347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1890395" indent="-281940">
              <a:lnSpc>
                <a:spcPct val="111800"/>
              </a:lnSpc>
              <a:spcBef>
                <a:spcPts val="100"/>
              </a:spcBef>
              <a:buClr>
                <a:srgbClr val="FFFF00"/>
              </a:buClr>
              <a:buSzPct val="92857"/>
              <a:buChar char="–"/>
              <a:tabLst>
                <a:tab pos="322580" algn="l"/>
              </a:tabLst>
            </a:pPr>
            <a:r>
              <a:rPr lang="fr-FR" sz="2400" b="1" spc="50" dirty="0" smtClean="0">
                <a:latin typeface="Tahoma"/>
                <a:cs typeface="Tahoma"/>
              </a:rPr>
              <a:t>Réduire</a:t>
            </a:r>
            <a:r>
              <a:rPr sz="2400" b="1" spc="50" smtClean="0">
                <a:latin typeface="Tahoma"/>
                <a:cs typeface="Tahoma"/>
              </a:rPr>
              <a:t> </a:t>
            </a:r>
            <a:r>
              <a:rPr lang="fr-FR" sz="2400" b="1" spc="95" dirty="0" smtClean="0">
                <a:latin typeface="Tahoma"/>
                <a:cs typeface="Tahoma"/>
              </a:rPr>
              <a:t>rapidement </a:t>
            </a:r>
            <a:r>
              <a:rPr sz="2400" b="1" spc="-459" smtClean="0">
                <a:latin typeface="Tahoma"/>
                <a:cs typeface="Tahoma"/>
              </a:rPr>
              <a:t> </a:t>
            </a:r>
            <a:r>
              <a:rPr sz="2400" b="1" spc="65" smtClean="0">
                <a:latin typeface="Tahoma"/>
                <a:cs typeface="Tahoma"/>
              </a:rPr>
              <a:t>l</a:t>
            </a:r>
            <a:r>
              <a:rPr lang="fr-FR" sz="2400" b="1" spc="65" dirty="0" smtClean="0">
                <a:latin typeface="Tahoma"/>
                <a:cs typeface="Tahoma"/>
              </a:rPr>
              <a:t>es chiffres tensionnels par voie IV</a:t>
            </a:r>
            <a:r>
              <a:rPr lang="fr-FR" sz="2400" spc="65" dirty="0" smtClean="0">
                <a:latin typeface="Tahoma"/>
                <a:cs typeface="Tahoma"/>
              </a:rPr>
              <a:t>:</a:t>
            </a:r>
            <a:r>
              <a:rPr sz="2400" spc="65" smtClean="0">
                <a:latin typeface="Tahoma"/>
                <a:cs typeface="Tahoma"/>
              </a:rPr>
              <a:t>  </a:t>
            </a:r>
            <a:r>
              <a:rPr lang="fr-FR" sz="2400" spc="80" dirty="0" smtClean="0">
                <a:latin typeface="Tahoma"/>
                <a:cs typeface="Tahoma"/>
              </a:rPr>
              <a:t>PAS&lt;</a:t>
            </a:r>
            <a:r>
              <a:rPr sz="2400" spc="-175" smtClean="0">
                <a:latin typeface="Tahoma"/>
                <a:cs typeface="Tahoma"/>
              </a:rPr>
              <a:t> </a:t>
            </a:r>
            <a:r>
              <a:rPr sz="2400" spc="5" smtClean="0">
                <a:latin typeface="Tahoma"/>
                <a:cs typeface="Tahoma"/>
              </a:rPr>
              <a:t>1</a:t>
            </a:r>
            <a:r>
              <a:rPr lang="fr-FR" sz="2400" spc="5" dirty="0" smtClean="0">
                <a:latin typeface="Tahoma"/>
                <a:cs typeface="Tahoma"/>
              </a:rPr>
              <a:t>4</a:t>
            </a:r>
            <a:r>
              <a:rPr sz="2400" spc="5" smtClean="0">
                <a:latin typeface="Tahoma"/>
                <a:cs typeface="Tahoma"/>
              </a:rPr>
              <a:t>0/</a:t>
            </a:r>
            <a:r>
              <a:rPr lang="fr-FR" sz="2400" spc="5" dirty="0" smtClean="0">
                <a:latin typeface="Tahoma"/>
                <a:cs typeface="Tahoma"/>
              </a:rPr>
              <a:t>90 </a:t>
            </a:r>
            <a:r>
              <a:rPr sz="2400" spc="-475" smtClean="0">
                <a:latin typeface="Tahoma"/>
                <a:cs typeface="Tahoma"/>
              </a:rPr>
              <a:t> </a:t>
            </a:r>
            <a:r>
              <a:rPr lang="fr-FR" sz="2400" spc="100" dirty="0" smtClean="0">
                <a:latin typeface="Tahoma"/>
                <a:cs typeface="Tahoma"/>
              </a:rPr>
              <a:t> </a:t>
            </a:r>
            <a:r>
              <a:rPr sz="2400" spc="100" smtClean="0">
                <a:latin typeface="Tahoma"/>
                <a:cs typeface="Tahoma"/>
              </a:rPr>
              <a:t>m</a:t>
            </a:r>
            <a:r>
              <a:rPr lang="fr-FR" sz="2400" spc="100" dirty="0" smtClean="0">
                <a:latin typeface="Tahoma"/>
                <a:cs typeface="Tahoma"/>
              </a:rPr>
              <a:t>m</a:t>
            </a:r>
            <a:r>
              <a:rPr sz="2400" spc="100" smtClean="0">
                <a:latin typeface="Tahoma"/>
                <a:cs typeface="Tahoma"/>
              </a:rPr>
              <a:t>Hg</a:t>
            </a:r>
            <a:endParaRPr lang="fr-FR" sz="2400" spc="100" dirty="0" smtClean="0">
              <a:latin typeface="Tahoma"/>
              <a:cs typeface="Tahoma"/>
            </a:endParaRPr>
          </a:p>
          <a:p>
            <a:pPr marL="332105" marR="1890395" indent="-281940">
              <a:lnSpc>
                <a:spcPct val="111800"/>
              </a:lnSpc>
              <a:spcBef>
                <a:spcPts val="100"/>
              </a:spcBef>
              <a:buClr>
                <a:srgbClr val="FFFF00"/>
              </a:buClr>
              <a:buSzPct val="92857"/>
              <a:buChar char="–"/>
              <a:tabLst>
                <a:tab pos="322580" algn="l"/>
              </a:tabLst>
            </a:pPr>
            <a:r>
              <a:rPr lang="fr-FR" sz="2400" b="1" spc="100" dirty="0" smtClean="0">
                <a:latin typeface="Tahoma"/>
                <a:cs typeface="Tahoma"/>
              </a:rPr>
              <a:t>Sauf en cas de dissection </a:t>
            </a:r>
            <a:r>
              <a:rPr lang="fr-FR" sz="2400" b="1" spc="100" dirty="0" err="1" smtClean="0">
                <a:latin typeface="Tahoma"/>
                <a:cs typeface="Tahoma"/>
              </a:rPr>
              <a:t>Ao</a:t>
            </a:r>
            <a:r>
              <a:rPr lang="fr-FR" sz="2400" b="1" spc="100" dirty="0" smtClean="0">
                <a:latin typeface="Tahoma"/>
                <a:cs typeface="Tahoma"/>
              </a:rPr>
              <a:t> </a:t>
            </a:r>
            <a:r>
              <a:rPr lang="fr-FR" sz="2400" spc="100" dirty="0" smtClean="0">
                <a:latin typeface="Tahoma"/>
                <a:cs typeface="Tahoma"/>
              </a:rPr>
              <a:t>où il faut viser des chiffres tensionnels plus bas (PAS&lt;120 mm Hg) et une FC&lt;60/min</a:t>
            </a:r>
            <a:endParaRPr lang="fr-FR" sz="2400" spc="100" dirty="0">
              <a:latin typeface="Tahoma"/>
              <a:cs typeface="Tahoma"/>
            </a:endParaRPr>
          </a:p>
          <a:p>
            <a:pPr marL="332105" marR="1890395" indent="-281940">
              <a:lnSpc>
                <a:spcPct val="111800"/>
              </a:lnSpc>
              <a:spcBef>
                <a:spcPts val="100"/>
              </a:spcBef>
              <a:buClr>
                <a:srgbClr val="FFFF00"/>
              </a:buClr>
              <a:buSzPct val="92857"/>
              <a:buChar char="–"/>
              <a:tabLst>
                <a:tab pos="322580" algn="l"/>
              </a:tabLst>
            </a:pPr>
            <a:r>
              <a:rPr sz="2400" b="1" spc="35" smtClean="0">
                <a:latin typeface="Tahoma"/>
                <a:cs typeface="Tahoma"/>
              </a:rPr>
              <a:t>traitement</a:t>
            </a:r>
            <a:r>
              <a:rPr sz="2400" b="1" spc="-240" smtClean="0">
                <a:latin typeface="Tahoma"/>
                <a:cs typeface="Tahoma"/>
              </a:rPr>
              <a:t> </a:t>
            </a:r>
            <a:r>
              <a:rPr sz="2400" b="1" spc="110" smtClean="0">
                <a:latin typeface="Tahoma"/>
                <a:cs typeface="Tahoma"/>
              </a:rPr>
              <a:t>spécifique</a:t>
            </a:r>
            <a:r>
              <a:rPr lang="fr-FR" sz="2400" spc="110" dirty="0" smtClean="0">
                <a:latin typeface="Tahoma"/>
                <a:cs typeface="Tahoma"/>
              </a:rPr>
              <a:t>:</a:t>
            </a:r>
            <a:r>
              <a:rPr sz="2400" spc="110" smtClean="0">
                <a:latin typeface="Tahoma"/>
                <a:cs typeface="Tahoma"/>
              </a:rPr>
              <a:t>  </a:t>
            </a:r>
            <a:r>
              <a:rPr sz="2400" spc="130" smtClean="0">
                <a:latin typeface="Tahoma"/>
                <a:cs typeface="Tahoma"/>
              </a:rPr>
              <a:t>O</a:t>
            </a:r>
            <a:r>
              <a:rPr lang="fr-FR" sz="2400" spc="195" baseline="-21021" dirty="0" smtClean="0">
                <a:latin typeface="Tahoma"/>
                <a:cs typeface="Tahoma"/>
              </a:rPr>
              <a:t>2,</a:t>
            </a:r>
            <a:r>
              <a:rPr lang="fr-FR" sz="2400" spc="25" dirty="0" smtClean="0">
                <a:latin typeface="Tahoma"/>
                <a:cs typeface="Tahoma"/>
              </a:rPr>
              <a:t> </a:t>
            </a:r>
            <a:r>
              <a:rPr lang="fr-FR" sz="2400" spc="25" dirty="0" err="1" smtClean="0">
                <a:latin typeface="Tahoma"/>
                <a:cs typeface="Tahoma"/>
              </a:rPr>
              <a:t>Lenitral</a:t>
            </a:r>
            <a:r>
              <a:rPr lang="fr-FR" sz="2400" spc="25" dirty="0" smtClean="0">
                <a:latin typeface="Tahoma"/>
                <a:cs typeface="Tahoma"/>
              </a:rPr>
              <a:t> et  </a:t>
            </a:r>
            <a:r>
              <a:rPr lang="fr-FR" sz="2400" spc="25" dirty="0" err="1" smtClean="0">
                <a:latin typeface="Tahoma"/>
                <a:cs typeface="Tahoma"/>
              </a:rPr>
              <a:t>Lasilix</a:t>
            </a:r>
            <a:r>
              <a:rPr lang="fr-FR" sz="2400" spc="25" dirty="0" smtClean="0">
                <a:latin typeface="Tahoma"/>
                <a:cs typeface="Tahoma"/>
              </a:rPr>
              <a:t> en cas d’</a:t>
            </a:r>
            <a:r>
              <a:rPr lang="fr-FR" sz="2400" spc="25" dirty="0" err="1" smtClean="0">
                <a:latin typeface="Tahoma"/>
                <a:cs typeface="Tahoma"/>
              </a:rPr>
              <a:t>OAP,angioplastie</a:t>
            </a:r>
            <a:r>
              <a:rPr lang="fr-FR" sz="2400" spc="25" dirty="0" smtClean="0">
                <a:latin typeface="Tahoma"/>
                <a:cs typeface="Tahoma"/>
              </a:rPr>
              <a:t> en cas de SCA, </a:t>
            </a:r>
            <a:r>
              <a:rPr sz="2400" spc="114" smtClean="0">
                <a:latin typeface="Tahoma"/>
                <a:cs typeface="Tahoma"/>
              </a:rPr>
              <a:t>chirurgie</a:t>
            </a:r>
            <a:r>
              <a:rPr lang="fr-FR" sz="2400" spc="114" dirty="0" smtClean="0">
                <a:latin typeface="Tahoma"/>
                <a:cs typeface="Tahoma"/>
              </a:rPr>
              <a:t> de la dissection aortique si indiquée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457200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0">
              <a:spcBef>
                <a:spcPts val="100"/>
              </a:spcBef>
              <a:defRPr/>
            </a:pPr>
            <a:r>
              <a:rPr lang="fr-FR" sz="2800" b="1" spc="-5" dirty="0"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Situations cliniques cardio vasculaires</a:t>
            </a:r>
            <a:endParaRPr lang="fr-FR" sz="2800" b="1" dirty="0"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  Eclampsie:</a:t>
            </a:r>
          </a:p>
          <a:p>
            <a:pPr>
              <a:buNone/>
            </a:pPr>
            <a:endParaRPr lang="fr-FR" b="1" dirty="0" smtClean="0"/>
          </a:p>
          <a:p>
            <a:r>
              <a:rPr lang="fr-FR" dirty="0" smtClean="0">
                <a:latin typeface="Calibri" pitchFamily="34" charset="0"/>
                <a:cs typeface="Calibri" pitchFamily="34" charset="0"/>
              </a:rPr>
              <a:t>Est définie par la survenue chez la femme enceinte à partir de la 20 SA de </a:t>
            </a:r>
            <a:r>
              <a:rPr lang="fr-FR" u="sng" dirty="0" smtClean="0">
                <a:latin typeface="Calibri" pitchFamily="34" charset="0"/>
                <a:cs typeface="Calibri" pitchFamily="34" charset="0"/>
              </a:rPr>
              <a:t>convulsions</a:t>
            </a:r>
            <a:r>
              <a:rPr lang="fr-FR" dirty="0" smtClean="0">
                <a:latin typeface="Calibri" pitchFamily="34" charset="0"/>
                <a:cs typeface="Calibri" pitchFamily="34" charset="0"/>
              </a:rPr>
              <a:t> avec des chiffres tensionnels élevés pouvant être fatal pour la mère et le fœtus</a:t>
            </a:r>
          </a:p>
          <a:p>
            <a:r>
              <a:rPr lang="fr-FR" dirty="0" smtClean="0">
                <a:latin typeface="Calibri" pitchFamily="34" charset="0"/>
                <a:cs typeface="Calibri" pitchFamily="34" charset="0"/>
              </a:rPr>
              <a:t>La réduction des chiffes tensionnels dans ce cas doit être rapide(&lt;160/105 mm Hg dans 2 à 3 H) avec un traitement anti convulsif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spc="-5" dirty="0" smtClean="0"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Situations cliniques neurologiques:</a:t>
            </a:r>
          </a:p>
          <a:p>
            <a:pPr lvl="0"/>
            <a:r>
              <a:rPr lang="fr-FR" sz="2400" u="sng" spc="-5" dirty="0" smtClean="0"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Encéphalopathie hypertensive</a:t>
            </a:r>
            <a:r>
              <a:rPr lang="fr-FR" sz="2400" spc="-5" dirty="0" smtClean="0"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: réduction rapide en quelques heures de la PA de 25 %  </a:t>
            </a:r>
          </a:p>
          <a:p>
            <a:pPr lvl="0"/>
            <a:r>
              <a:rPr lang="fr-FR" sz="2400" u="sng" spc="-5" dirty="0" smtClean="0"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AVC ischémique ou hémorragique</a:t>
            </a:r>
            <a:r>
              <a:rPr lang="fr-FR" sz="2400" spc="-5" dirty="0" smtClean="0"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: voir algorithme de prise en charge de ESH 2023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IRV_SOFT2023\Downloads\Screenshot_2024-02-28-19-44-16-80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457200"/>
            <a:ext cx="8305800" cy="5562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37048"/>
          </a:xfrm>
        </p:spPr>
        <p:txBody>
          <a:bodyPr/>
          <a:lstStyle/>
          <a:p>
            <a:r>
              <a:rPr lang="fr-FR" b="1" dirty="0" smtClean="0"/>
              <a:t>Choix des médicaments(en IV)</a:t>
            </a:r>
            <a:endParaRPr lang="fr-FR" b="1" dirty="0"/>
          </a:p>
        </p:txBody>
      </p:sp>
      <p:pic>
        <p:nvPicPr>
          <p:cNvPr id="2050" name="Picture 2" descr="C:\Users\IRV_SOFT2023\Downloads\Screenshot_2024-02-28-20-53-17-6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66800"/>
            <a:ext cx="5334000" cy="5486400"/>
          </a:xfrm>
          <a:prstGeom prst="rect">
            <a:avLst/>
          </a:prstGeom>
          <a:noFill/>
        </p:spPr>
      </p:pic>
      <p:pic>
        <p:nvPicPr>
          <p:cNvPr id="2051" name="Picture 3" descr="C:\Users\IRV_SOFT2023\Downloads\Screenshot_2024-02-28-20-53-36-6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1066800"/>
            <a:ext cx="4419600" cy="5410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8962" y="1423987"/>
            <a:ext cx="8001000" cy="9525"/>
          </a:xfrm>
          <a:custGeom>
            <a:avLst/>
            <a:gdLst/>
            <a:ahLst/>
            <a:cxnLst/>
            <a:rect l="l" t="t" r="r" b="b"/>
            <a:pathLst>
              <a:path w="8001000" h="9525">
                <a:moveTo>
                  <a:pt x="8001000" y="0"/>
                </a:moveTo>
                <a:lnTo>
                  <a:pt x="0" y="0"/>
                </a:lnTo>
                <a:lnTo>
                  <a:pt x="0" y="9525"/>
                </a:lnTo>
                <a:lnTo>
                  <a:pt x="8001000" y="9525"/>
                </a:lnTo>
                <a:lnTo>
                  <a:pt x="8001000" y="0"/>
                </a:lnTo>
                <a:close/>
              </a:path>
            </a:pathLst>
          </a:custGeom>
          <a:solidFill>
            <a:srgbClr val="72A3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140" y="1393952"/>
            <a:ext cx="6550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370" dirty="0">
                <a:solidFill>
                  <a:srgbClr val="FFFF00"/>
                </a:solidFill>
                <a:latin typeface="Arial"/>
                <a:cs typeface="Arial"/>
              </a:rPr>
              <a:t></a:t>
            </a:r>
            <a:r>
              <a:rPr sz="1950" spc="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800" spc="85" dirty="0">
                <a:solidFill>
                  <a:srgbClr val="FF0000"/>
                </a:solidFill>
              </a:rPr>
              <a:t>HTA</a:t>
            </a:r>
            <a:r>
              <a:rPr sz="2800" spc="-195" dirty="0">
                <a:solidFill>
                  <a:srgbClr val="FF0000"/>
                </a:solidFill>
              </a:rPr>
              <a:t> </a:t>
            </a:r>
            <a:r>
              <a:rPr sz="2800" spc="90" dirty="0">
                <a:solidFill>
                  <a:srgbClr val="FF0000"/>
                </a:solidFill>
              </a:rPr>
              <a:t>sévère</a:t>
            </a:r>
            <a:r>
              <a:rPr sz="2800" spc="-195" dirty="0">
                <a:solidFill>
                  <a:srgbClr val="FF0000"/>
                </a:solidFill>
              </a:rPr>
              <a:t> </a:t>
            </a:r>
            <a:r>
              <a:rPr sz="2800" spc="45" dirty="0">
                <a:solidFill>
                  <a:srgbClr val="FF0000"/>
                </a:solidFill>
              </a:rPr>
              <a:t>ou</a:t>
            </a:r>
            <a:r>
              <a:rPr sz="2800" spc="-195" dirty="0">
                <a:solidFill>
                  <a:srgbClr val="FF0000"/>
                </a:solidFill>
              </a:rPr>
              <a:t> </a:t>
            </a:r>
            <a:r>
              <a:rPr sz="2800" spc="165" dirty="0">
                <a:solidFill>
                  <a:srgbClr val="FF0000"/>
                </a:solidFill>
              </a:rPr>
              <a:t>de</a:t>
            </a:r>
            <a:r>
              <a:rPr sz="2800" spc="-200" dirty="0">
                <a:solidFill>
                  <a:srgbClr val="FF0000"/>
                </a:solidFill>
              </a:rPr>
              <a:t> </a:t>
            </a:r>
            <a:r>
              <a:rPr sz="2800" spc="125" dirty="0">
                <a:solidFill>
                  <a:srgbClr val="FF0000"/>
                </a:solidFill>
              </a:rPr>
              <a:t>grade</a:t>
            </a:r>
            <a:r>
              <a:rPr sz="2800" spc="-190" dirty="0">
                <a:solidFill>
                  <a:srgbClr val="FF0000"/>
                </a:solidFill>
              </a:rPr>
              <a:t> </a:t>
            </a:r>
            <a:r>
              <a:rPr sz="2800" spc="-500" dirty="0">
                <a:solidFill>
                  <a:srgbClr val="FF0000"/>
                </a:solidFill>
              </a:rPr>
              <a:t>3</a:t>
            </a:r>
            <a:endParaRPr sz="280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2971800"/>
            <a:ext cx="7879715" cy="72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-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400" spc="90" dirty="0">
                <a:latin typeface="Tahoma"/>
                <a:cs typeface="Tahoma"/>
              </a:rPr>
              <a:t>ANAES,</a:t>
            </a:r>
            <a:r>
              <a:rPr sz="2400" spc="-36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JNC7,</a:t>
            </a:r>
            <a:r>
              <a:rPr sz="2400" spc="-350" dirty="0">
                <a:latin typeface="Tahoma"/>
                <a:cs typeface="Tahoma"/>
              </a:rPr>
              <a:t> </a:t>
            </a:r>
            <a:r>
              <a:rPr sz="2400" spc="30" dirty="0">
                <a:latin typeface="Tahoma"/>
                <a:cs typeface="Tahoma"/>
              </a:rPr>
              <a:t>ESH,</a:t>
            </a:r>
            <a:r>
              <a:rPr sz="2400" spc="-530" dirty="0">
                <a:latin typeface="Tahoma"/>
                <a:cs typeface="Tahoma"/>
              </a:rPr>
              <a:t> </a:t>
            </a:r>
            <a:r>
              <a:rPr sz="2400" spc="180" dirty="0">
                <a:latin typeface="Tahoma"/>
                <a:cs typeface="Tahoma"/>
              </a:rPr>
              <a:t>WHO</a:t>
            </a:r>
            <a:r>
              <a:rPr sz="2400" spc="-155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:</a:t>
            </a:r>
            <a:r>
              <a:rPr sz="2400" spc="-350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PA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ahoma"/>
                <a:cs typeface="Tahoma"/>
              </a:rPr>
              <a:t>180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ahoma"/>
                <a:cs typeface="Tahoma"/>
              </a:rPr>
              <a:t>110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90" dirty="0">
                <a:latin typeface="Tahoma"/>
                <a:cs typeface="Tahoma"/>
              </a:rPr>
              <a:t>mmHg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600" y="4419600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685800" y="0"/>
                </a:moveTo>
                <a:lnTo>
                  <a:pt x="6858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685800" y="228600"/>
                </a:lnTo>
                <a:lnTo>
                  <a:pt x="685800" y="304800"/>
                </a:lnTo>
                <a:lnTo>
                  <a:pt x="914400" y="152400"/>
                </a:lnTo>
                <a:lnTo>
                  <a:pt x="685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43000" y="4267200"/>
            <a:ext cx="7634605" cy="44323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2300" b="1" dirty="0">
                <a:solidFill>
                  <a:srgbClr val="FF0000"/>
                </a:solidFill>
                <a:latin typeface="Verdana"/>
                <a:cs typeface="Verdana"/>
              </a:rPr>
              <a:t>Leur </a:t>
            </a:r>
            <a:r>
              <a:rPr sz="2300" b="1" spc="-5" dirty="0">
                <a:solidFill>
                  <a:srgbClr val="FF0000"/>
                </a:solidFill>
                <a:latin typeface="Verdana"/>
                <a:cs typeface="Verdana"/>
              </a:rPr>
              <a:t>traitement </a:t>
            </a:r>
            <a:r>
              <a:rPr sz="2300" b="1" dirty="0">
                <a:solidFill>
                  <a:srgbClr val="FF0000"/>
                </a:solidFill>
                <a:latin typeface="Verdana"/>
                <a:cs typeface="Verdana"/>
              </a:rPr>
              <a:t>est </a:t>
            </a:r>
            <a:r>
              <a:rPr sz="2300" b="1" spc="-5" dirty="0">
                <a:solidFill>
                  <a:srgbClr val="FF0000"/>
                </a:solidFill>
                <a:latin typeface="Verdana"/>
                <a:cs typeface="Verdana"/>
              </a:rPr>
              <a:t>ambulatoire </a:t>
            </a:r>
            <a:r>
              <a:rPr sz="2300" b="1" dirty="0">
                <a:solidFill>
                  <a:srgbClr val="FF0000"/>
                </a:solidFill>
                <a:latin typeface="Verdana"/>
                <a:cs typeface="Verdana"/>
              </a:rPr>
              <a:t>et</a:t>
            </a:r>
            <a:r>
              <a:rPr sz="2300" b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FF0000"/>
                </a:solidFill>
                <a:latin typeface="Verdana"/>
                <a:cs typeface="Verdana"/>
              </a:rPr>
              <a:t>progressif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71600" y="609600"/>
            <a:ext cx="632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0">
              <a:spcBef>
                <a:spcPts val="100"/>
              </a:spcBef>
              <a:defRPr/>
            </a:pPr>
            <a:r>
              <a:rPr lang="fr-FR" sz="2800" b="1" spc="-5" dirty="0" smtClean="0"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HTA sévère hors urgence</a:t>
            </a:r>
            <a:endParaRPr lang="fr-FR" sz="2800" b="1" dirty="0"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8962" y="1423987"/>
            <a:ext cx="8001000" cy="9525"/>
          </a:xfrm>
          <a:custGeom>
            <a:avLst/>
            <a:gdLst/>
            <a:ahLst/>
            <a:cxnLst/>
            <a:rect l="l" t="t" r="r" b="b"/>
            <a:pathLst>
              <a:path w="8001000" h="9525">
                <a:moveTo>
                  <a:pt x="8001000" y="0"/>
                </a:moveTo>
                <a:lnTo>
                  <a:pt x="0" y="0"/>
                </a:lnTo>
                <a:lnTo>
                  <a:pt x="0" y="9525"/>
                </a:lnTo>
                <a:lnTo>
                  <a:pt x="8001000" y="9525"/>
                </a:lnTo>
                <a:lnTo>
                  <a:pt x="8001000" y="0"/>
                </a:lnTo>
                <a:close/>
              </a:path>
            </a:pathLst>
          </a:custGeom>
          <a:solidFill>
            <a:srgbClr val="72A3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1000" y="1143000"/>
            <a:ext cx="8428355" cy="8124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95"/>
              </a:spcBef>
            </a:pPr>
            <a:r>
              <a:rPr sz="1950" spc="370" dirty="0">
                <a:solidFill>
                  <a:srgbClr val="FF0000"/>
                </a:solidFill>
                <a:latin typeface="Arial"/>
                <a:cs typeface="Arial"/>
              </a:rPr>
              <a:t></a:t>
            </a:r>
            <a:r>
              <a:rPr sz="195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FF0000"/>
                </a:solidFill>
              </a:rPr>
              <a:t>Les</a:t>
            </a:r>
            <a:r>
              <a:rPr sz="2600" spc="-175" dirty="0">
                <a:solidFill>
                  <a:srgbClr val="FF0000"/>
                </a:solidFill>
              </a:rPr>
              <a:t> </a:t>
            </a:r>
            <a:r>
              <a:rPr sz="2600" spc="85" dirty="0">
                <a:solidFill>
                  <a:srgbClr val="FF0000"/>
                </a:solidFill>
              </a:rPr>
              <a:t>urgences</a:t>
            </a:r>
            <a:r>
              <a:rPr sz="2600" spc="-175" dirty="0">
                <a:solidFill>
                  <a:srgbClr val="FF0000"/>
                </a:solidFill>
              </a:rPr>
              <a:t> </a:t>
            </a:r>
            <a:r>
              <a:rPr sz="2600" spc="80" dirty="0">
                <a:solidFill>
                  <a:srgbClr val="FF0000"/>
                </a:solidFill>
              </a:rPr>
              <a:t>hypertensives</a:t>
            </a:r>
            <a:r>
              <a:rPr sz="2600" spc="-200" dirty="0">
                <a:solidFill>
                  <a:srgbClr val="FF0000"/>
                </a:solidFill>
              </a:rPr>
              <a:t> </a:t>
            </a:r>
            <a:r>
              <a:rPr sz="2600" spc="15" dirty="0">
                <a:solidFill>
                  <a:srgbClr val="FF0000"/>
                </a:solidFill>
              </a:rPr>
              <a:t>sont</a:t>
            </a:r>
            <a:r>
              <a:rPr sz="2600" spc="-180" dirty="0">
                <a:solidFill>
                  <a:srgbClr val="FF0000"/>
                </a:solidFill>
              </a:rPr>
              <a:t> </a:t>
            </a:r>
            <a:r>
              <a:rPr sz="2600" spc="120" dirty="0">
                <a:solidFill>
                  <a:srgbClr val="FF0000"/>
                </a:solidFill>
              </a:rPr>
              <a:t>des</a:t>
            </a:r>
            <a:r>
              <a:rPr sz="2600" spc="-170" dirty="0">
                <a:solidFill>
                  <a:srgbClr val="FF0000"/>
                </a:solidFill>
              </a:rPr>
              <a:t> </a:t>
            </a:r>
            <a:r>
              <a:rPr sz="2600" spc="85" dirty="0">
                <a:solidFill>
                  <a:srgbClr val="FF0000"/>
                </a:solidFill>
              </a:rPr>
              <a:t>HTA</a:t>
            </a:r>
            <a:r>
              <a:rPr sz="2600" spc="-170" dirty="0">
                <a:solidFill>
                  <a:srgbClr val="FF0000"/>
                </a:solidFill>
              </a:rPr>
              <a:t> </a:t>
            </a:r>
            <a:r>
              <a:rPr sz="2600" spc="10" dirty="0">
                <a:solidFill>
                  <a:srgbClr val="FF0000"/>
                </a:solidFill>
              </a:rPr>
              <a:t>sévères  </a:t>
            </a:r>
            <a:r>
              <a:rPr sz="2600" spc="70" dirty="0">
                <a:solidFill>
                  <a:srgbClr val="FF0000"/>
                </a:solidFill>
              </a:rPr>
              <a:t>avec </a:t>
            </a:r>
            <a:r>
              <a:rPr sz="2600" spc="100" dirty="0">
                <a:solidFill>
                  <a:srgbClr val="FF0000"/>
                </a:solidFill>
              </a:rPr>
              <a:t>complication</a:t>
            </a:r>
            <a:r>
              <a:rPr sz="2600" spc="-434" dirty="0">
                <a:solidFill>
                  <a:srgbClr val="FF0000"/>
                </a:solidFill>
              </a:rPr>
              <a:t> </a:t>
            </a:r>
            <a:r>
              <a:rPr sz="2600" spc="110" dirty="0">
                <a:solidFill>
                  <a:srgbClr val="FF0000"/>
                </a:solidFill>
              </a:rPr>
              <a:t>viscérale</a:t>
            </a:r>
            <a:endParaRPr sz="260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1905000"/>
            <a:ext cx="7371080" cy="4031873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304800" indent="-292735">
              <a:lnSpc>
                <a:spcPct val="100000"/>
              </a:lnSpc>
              <a:spcBef>
                <a:spcPts val="1440"/>
              </a:spcBef>
              <a:buSzPct val="69642"/>
              <a:buFont typeface="Arial"/>
              <a:buChar char=""/>
              <a:tabLst>
                <a:tab pos="305435" algn="l"/>
              </a:tabLst>
            </a:pPr>
            <a:r>
              <a:rPr sz="2800" spc="55" dirty="0">
                <a:solidFill>
                  <a:srgbClr val="C00000"/>
                </a:solidFill>
                <a:latin typeface="Tahoma"/>
                <a:cs typeface="Tahoma"/>
              </a:rPr>
              <a:t>Dans</a:t>
            </a:r>
            <a:r>
              <a:rPr sz="2800" spc="-1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10" dirty="0">
                <a:solidFill>
                  <a:srgbClr val="C00000"/>
                </a:solidFill>
                <a:latin typeface="Tahoma"/>
                <a:cs typeface="Tahoma"/>
              </a:rPr>
              <a:t>les</a:t>
            </a:r>
            <a:r>
              <a:rPr sz="2800" spc="-19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85" dirty="0">
                <a:solidFill>
                  <a:srgbClr val="C00000"/>
                </a:solidFill>
                <a:latin typeface="Tahoma"/>
                <a:cs typeface="Tahoma"/>
              </a:rPr>
              <a:t>urgences</a:t>
            </a:r>
            <a:r>
              <a:rPr sz="2800" spc="-1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C00000"/>
                </a:solidFill>
                <a:latin typeface="Tahoma"/>
                <a:cs typeface="Tahoma"/>
              </a:rPr>
              <a:t>hypertensives</a:t>
            </a:r>
            <a:r>
              <a:rPr sz="2800" spc="-204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75" dirty="0">
                <a:solidFill>
                  <a:srgbClr val="C00000"/>
                </a:solidFill>
                <a:latin typeface="Tahoma"/>
                <a:cs typeface="Tahoma"/>
              </a:rPr>
              <a:t>:</a:t>
            </a:r>
            <a:endParaRPr sz="2800">
              <a:solidFill>
                <a:srgbClr val="C00000"/>
              </a:solidFill>
              <a:latin typeface="Tahoma"/>
              <a:cs typeface="Tahoma"/>
            </a:endParaRPr>
          </a:p>
          <a:p>
            <a:pPr marL="487680" lvl="1" indent="-183515">
              <a:lnSpc>
                <a:spcPct val="100000"/>
              </a:lnSpc>
              <a:spcBef>
                <a:spcPts val="1160"/>
              </a:spcBef>
              <a:buChar char="-"/>
              <a:tabLst>
                <a:tab pos="488315" algn="l"/>
              </a:tabLst>
            </a:pPr>
            <a:r>
              <a:rPr sz="2400" spc="75" dirty="0">
                <a:latin typeface="Tahoma"/>
                <a:cs typeface="Tahoma"/>
              </a:rPr>
              <a:t>hospitaliser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dans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un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centre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65" dirty="0">
                <a:latin typeface="Tahoma"/>
                <a:cs typeface="Tahoma"/>
              </a:rPr>
              <a:t>adapté</a:t>
            </a:r>
            <a:endParaRPr sz="2400">
              <a:latin typeface="Tahoma"/>
              <a:cs typeface="Tahoma"/>
            </a:endParaRPr>
          </a:p>
          <a:p>
            <a:pPr marL="304800" marR="384810" lvl="1">
              <a:lnSpc>
                <a:spcPct val="100000"/>
              </a:lnSpc>
              <a:spcBef>
                <a:spcPts val="1005"/>
              </a:spcBef>
              <a:buChar char="-"/>
              <a:tabLst>
                <a:tab pos="488315" algn="l"/>
              </a:tabLst>
            </a:pPr>
            <a:r>
              <a:rPr sz="2400" spc="40" dirty="0">
                <a:latin typeface="Tahoma"/>
                <a:cs typeface="Tahoma"/>
              </a:rPr>
              <a:t>traiter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spc="105">
                <a:latin typeface="Tahoma"/>
                <a:cs typeface="Tahoma"/>
              </a:rPr>
              <a:t>par</a:t>
            </a:r>
            <a:r>
              <a:rPr sz="2400" spc="-150">
                <a:latin typeface="Tahoma"/>
                <a:cs typeface="Tahoma"/>
              </a:rPr>
              <a:t> </a:t>
            </a:r>
            <a:r>
              <a:rPr sz="2400" spc="85" smtClean="0">
                <a:latin typeface="Tahoma"/>
                <a:cs typeface="Tahoma"/>
              </a:rPr>
              <a:t>voie</a:t>
            </a:r>
            <a:r>
              <a:rPr lang="fr-FR" sz="2400" spc="-150" dirty="0" smtClean="0">
                <a:latin typeface="Tahoma"/>
                <a:cs typeface="Tahoma"/>
              </a:rPr>
              <a:t>IV en prenant en considération les spécificités de chaque type de complication</a:t>
            </a:r>
            <a:endParaRPr lang="fr-FR" sz="2400" spc="-160" dirty="0" smtClean="0">
              <a:latin typeface="Tahoma"/>
              <a:cs typeface="Tahoma"/>
            </a:endParaRPr>
          </a:p>
          <a:p>
            <a:pPr marL="304800" marR="384810" lvl="1">
              <a:lnSpc>
                <a:spcPct val="100000"/>
              </a:lnSpc>
              <a:spcBef>
                <a:spcPts val="1005"/>
              </a:spcBef>
              <a:buChar char="-"/>
              <a:tabLst>
                <a:tab pos="488315" algn="l"/>
              </a:tabLst>
            </a:pPr>
            <a:r>
              <a:rPr sz="2800" spc="55" smtClean="0">
                <a:solidFill>
                  <a:srgbClr val="C00000"/>
                </a:solidFill>
                <a:latin typeface="Tahoma"/>
                <a:cs typeface="Tahoma"/>
              </a:rPr>
              <a:t>Dans</a:t>
            </a:r>
            <a:r>
              <a:rPr sz="2800" spc="-200" smtClean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C00000"/>
                </a:solidFill>
                <a:latin typeface="Tahoma"/>
                <a:cs typeface="Tahoma"/>
              </a:rPr>
              <a:t>l'HTA</a:t>
            </a:r>
            <a:r>
              <a:rPr sz="2800" spc="-1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90" dirty="0">
                <a:solidFill>
                  <a:srgbClr val="C00000"/>
                </a:solidFill>
                <a:latin typeface="Tahoma"/>
                <a:cs typeface="Tahoma"/>
              </a:rPr>
              <a:t>sévère</a:t>
            </a:r>
            <a:r>
              <a:rPr sz="2800" spc="-1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C00000"/>
                </a:solidFill>
                <a:latin typeface="Tahoma"/>
                <a:cs typeface="Tahoma"/>
              </a:rPr>
              <a:t>hors</a:t>
            </a:r>
            <a:r>
              <a:rPr sz="2800" spc="-1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165" dirty="0">
                <a:solidFill>
                  <a:srgbClr val="C00000"/>
                </a:solidFill>
                <a:latin typeface="Tahoma"/>
                <a:cs typeface="Tahoma"/>
              </a:rPr>
              <a:t>de</a:t>
            </a:r>
            <a:r>
              <a:rPr sz="2800" spc="-18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C00000"/>
                </a:solidFill>
                <a:latin typeface="Tahoma"/>
                <a:cs typeface="Tahoma"/>
              </a:rPr>
              <a:t>l'urgence</a:t>
            </a:r>
            <a:r>
              <a:rPr sz="2800" spc="-18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800" spc="-175" dirty="0">
                <a:solidFill>
                  <a:srgbClr val="C00000"/>
                </a:solidFill>
                <a:latin typeface="Tahoma"/>
                <a:cs typeface="Tahoma"/>
              </a:rPr>
              <a:t>:</a:t>
            </a:r>
            <a:endParaRPr sz="2800">
              <a:solidFill>
                <a:srgbClr val="C00000"/>
              </a:solidFill>
              <a:latin typeface="Tahoma"/>
              <a:cs typeface="Tahoma"/>
            </a:endParaRPr>
          </a:p>
          <a:p>
            <a:pPr marL="487680" lvl="1" indent="-183515">
              <a:lnSpc>
                <a:spcPct val="100000"/>
              </a:lnSpc>
              <a:spcBef>
                <a:spcPts val="1490"/>
              </a:spcBef>
              <a:buChar char="-"/>
              <a:tabLst>
                <a:tab pos="488315" algn="l"/>
              </a:tabLst>
            </a:pPr>
            <a:r>
              <a:rPr sz="2400" spc="145" dirty="0">
                <a:latin typeface="Tahoma"/>
                <a:cs typeface="Tahoma"/>
              </a:rPr>
              <a:t>il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30" dirty="0">
                <a:latin typeface="Tahoma"/>
                <a:cs typeface="Tahoma"/>
              </a:rPr>
              <a:t>n'y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10" dirty="0">
                <a:latin typeface="Tahoma"/>
                <a:cs typeface="Tahoma"/>
              </a:rPr>
              <a:t>a</a:t>
            </a:r>
            <a:r>
              <a:rPr sz="2400" spc="-155" dirty="0">
                <a:latin typeface="Tahoma"/>
                <a:cs typeface="Tahoma"/>
              </a:rPr>
              <a:t> </a:t>
            </a:r>
            <a:r>
              <a:rPr sz="2400" spc="70" dirty="0">
                <a:latin typeface="Tahoma"/>
                <a:cs typeface="Tahoma"/>
              </a:rPr>
              <a:t>pas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d'indication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spc="10" dirty="0">
                <a:latin typeface="Tahoma"/>
                <a:cs typeface="Tahoma"/>
              </a:rPr>
              <a:t>à</a:t>
            </a:r>
            <a:r>
              <a:rPr sz="2400" spc="-155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un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30" dirty="0">
                <a:latin typeface="Tahoma"/>
                <a:cs typeface="Tahoma"/>
              </a:rPr>
              <a:t>traitement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parentéral</a:t>
            </a:r>
            <a:endParaRPr sz="2400">
              <a:latin typeface="Tahoma"/>
              <a:cs typeface="Tahoma"/>
            </a:endParaRPr>
          </a:p>
          <a:p>
            <a:pPr marL="487680" lvl="1" indent="-183515">
              <a:lnSpc>
                <a:spcPct val="100000"/>
              </a:lnSpc>
              <a:spcBef>
                <a:spcPts val="1300"/>
              </a:spcBef>
              <a:buChar char="-"/>
              <a:tabLst>
                <a:tab pos="488315" algn="l"/>
              </a:tabLst>
            </a:pPr>
            <a:r>
              <a:rPr sz="2400" spc="20" dirty="0">
                <a:latin typeface="Tahoma"/>
                <a:cs typeface="Tahoma"/>
              </a:rPr>
              <a:t>mettre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80" dirty="0">
                <a:latin typeface="Tahoma"/>
                <a:cs typeface="Tahoma"/>
              </a:rPr>
              <a:t>rapidement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en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400" spc="114" dirty="0">
                <a:latin typeface="Tahoma"/>
                <a:cs typeface="Tahoma"/>
              </a:rPr>
              <a:t>place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un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400" spc="30">
                <a:latin typeface="Tahoma"/>
                <a:cs typeface="Tahoma"/>
              </a:rPr>
              <a:t>traitement</a:t>
            </a:r>
            <a:r>
              <a:rPr sz="2400" spc="-150">
                <a:latin typeface="Tahoma"/>
                <a:cs typeface="Tahoma"/>
              </a:rPr>
              <a:t> </a:t>
            </a:r>
            <a:r>
              <a:rPr sz="2400" spc="75" smtClean="0">
                <a:latin typeface="Tahoma"/>
                <a:cs typeface="Tahoma"/>
              </a:rPr>
              <a:t>oral</a:t>
            </a:r>
            <a:r>
              <a:rPr lang="fr-FR" sz="2400" spc="75" dirty="0" smtClean="0">
                <a:latin typeface="Tahoma"/>
                <a:cs typeface="Tahoma"/>
              </a:rPr>
              <a:t> avec un suivi rapproché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90800" y="533400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lvl="0">
              <a:spcBef>
                <a:spcPts val="100"/>
              </a:spcBef>
              <a:defRPr/>
            </a:pPr>
            <a:r>
              <a:rPr lang="fr-FR" sz="3000" b="1" spc="-5" dirty="0" smtClean="0"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cs typeface="Verdana"/>
              </a:rPr>
              <a:t>CONCLUSION</a:t>
            </a:r>
            <a:endParaRPr lang="fr-FR" sz="3000" b="1" dirty="0">
              <a:effectLst>
                <a:outerShdw blurRad="53975" dist="22860" dir="5400000" algn="tl" rotWithShape="0">
                  <a:srgbClr val="000000">
                    <a:alpha val="55000"/>
                  </a:srgbClr>
                </a:outerShdw>
              </a:effectLst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914400"/>
            <a:ext cx="7969884" cy="49141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20"/>
              </a:lnSpc>
              <a:spcBef>
                <a:spcPts val="100"/>
              </a:spcBef>
            </a:pPr>
            <a:r>
              <a:rPr sz="1500" b="1" spc="-80" dirty="0">
                <a:latin typeface="Georgia"/>
                <a:cs typeface="Georgia"/>
              </a:rPr>
              <a:t>RÉFÉRENCES</a:t>
            </a:r>
            <a:endParaRPr sz="1500">
              <a:latin typeface="Georgia"/>
              <a:cs typeface="Georgia"/>
            </a:endParaRPr>
          </a:p>
          <a:p>
            <a:pPr marL="162560" marR="305435" indent="-162560">
              <a:lnSpc>
                <a:spcPct val="80000"/>
              </a:lnSpc>
              <a:spcBef>
                <a:spcPts val="180"/>
              </a:spcBef>
              <a:buAutoNum type="arabicPlain"/>
              <a:tabLst>
                <a:tab pos="162560" algn="l"/>
              </a:tabLst>
            </a:pPr>
            <a:r>
              <a:rPr lang="fr-FR" sz="1500" spc="35" dirty="0" smtClean="0">
                <a:latin typeface="Tahoma"/>
                <a:cs typeface="Tahoma"/>
              </a:rPr>
              <a:t>ESC </a:t>
            </a:r>
            <a:r>
              <a:rPr lang="fr-FR" sz="1500" spc="35" smtClean="0">
                <a:latin typeface="Tahoma"/>
                <a:cs typeface="Tahoma"/>
              </a:rPr>
              <a:t>Guidelines </a:t>
            </a:r>
            <a:r>
              <a:rPr lang="fr-FR" sz="1500" spc="35" smtClean="0">
                <a:latin typeface="Tahoma"/>
                <a:cs typeface="Tahoma"/>
              </a:rPr>
              <a:t>2024:</a:t>
            </a:r>
            <a:r>
              <a:rPr lang="fr-FR" sz="1500" spc="35" dirty="0" err="1" smtClean="0">
                <a:latin typeface="Tahoma"/>
                <a:cs typeface="Tahoma"/>
              </a:rPr>
              <a:t>Arterial</a:t>
            </a:r>
            <a:r>
              <a:rPr lang="fr-FR" sz="1500" spc="35" dirty="0" smtClean="0">
                <a:latin typeface="Tahoma"/>
                <a:cs typeface="Tahoma"/>
              </a:rPr>
              <a:t> </a:t>
            </a:r>
            <a:r>
              <a:rPr lang="fr-FR" sz="1500" spc="35" dirty="0" smtClean="0">
                <a:latin typeface="Tahoma"/>
                <a:cs typeface="Tahoma"/>
              </a:rPr>
              <a:t>hypertension</a:t>
            </a:r>
          </a:p>
          <a:p>
            <a:pPr marL="162560" marR="305435" indent="-162560">
              <a:lnSpc>
                <a:spcPct val="80000"/>
              </a:lnSpc>
              <a:spcBef>
                <a:spcPts val="180"/>
              </a:spcBef>
              <a:buAutoNum type="arabicPlain"/>
              <a:tabLst>
                <a:tab pos="162560" algn="l"/>
              </a:tabLst>
            </a:pPr>
            <a:r>
              <a:rPr lang="fr-FR" sz="1500" spc="35" dirty="0" smtClean="0">
                <a:latin typeface="Tahoma"/>
                <a:cs typeface="Tahoma"/>
              </a:rPr>
              <a:t>ESH 2023:</a:t>
            </a:r>
            <a:r>
              <a:rPr lang="fr-FR" sz="1500" spc="35" dirty="0" err="1" smtClean="0">
                <a:latin typeface="Tahoma"/>
                <a:cs typeface="Tahoma"/>
              </a:rPr>
              <a:t>arterial</a:t>
            </a:r>
            <a:r>
              <a:rPr lang="fr-FR" sz="1500" spc="35" dirty="0" smtClean="0">
                <a:latin typeface="Tahoma"/>
                <a:cs typeface="Tahoma"/>
              </a:rPr>
              <a:t> hypertension management </a:t>
            </a:r>
            <a:r>
              <a:rPr lang="fr-FR" sz="1500" spc="35" dirty="0" err="1" smtClean="0">
                <a:latin typeface="Tahoma"/>
                <a:cs typeface="Tahoma"/>
              </a:rPr>
              <a:t>after</a:t>
            </a:r>
            <a:r>
              <a:rPr lang="fr-FR" sz="1500" spc="35" dirty="0" smtClean="0">
                <a:latin typeface="Tahoma"/>
                <a:cs typeface="Tahoma"/>
              </a:rPr>
              <a:t> stroke</a:t>
            </a:r>
          </a:p>
          <a:p>
            <a:pPr marL="162560" marR="305435" indent="-162560">
              <a:lnSpc>
                <a:spcPct val="80000"/>
              </a:lnSpc>
              <a:spcBef>
                <a:spcPts val="180"/>
              </a:spcBef>
              <a:buAutoNum type="arabicPlain"/>
              <a:tabLst>
                <a:tab pos="162560" algn="l"/>
              </a:tabLst>
            </a:pPr>
            <a:r>
              <a:rPr sz="1500" spc="35" smtClean="0">
                <a:latin typeface="Tahoma"/>
                <a:cs typeface="Tahoma"/>
              </a:rPr>
              <a:t>Anonymous</a:t>
            </a:r>
            <a:r>
              <a:rPr sz="1500" spc="35" dirty="0">
                <a:latin typeface="Tahoma"/>
                <a:cs typeface="Tahoma"/>
              </a:rPr>
              <a:t>.</a:t>
            </a:r>
            <a:r>
              <a:rPr sz="1500" spc="-250" dirty="0">
                <a:latin typeface="Tahoma"/>
                <a:cs typeface="Tahoma"/>
              </a:rPr>
              <a:t> </a:t>
            </a:r>
            <a:r>
              <a:rPr sz="1500" spc="30" dirty="0">
                <a:latin typeface="Tahoma"/>
                <a:cs typeface="Tahoma"/>
              </a:rPr>
              <a:t>The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30" dirty="0">
                <a:latin typeface="Tahoma"/>
                <a:cs typeface="Tahoma"/>
              </a:rPr>
              <a:t>sixth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report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15" dirty="0">
                <a:latin typeface="Tahoma"/>
                <a:cs typeface="Tahoma"/>
              </a:rPr>
              <a:t>the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Joint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National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Committee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30" dirty="0">
                <a:latin typeface="Tahoma"/>
                <a:cs typeface="Tahoma"/>
              </a:rPr>
              <a:t>on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30" dirty="0">
                <a:latin typeface="Tahoma"/>
                <a:cs typeface="Tahoma"/>
              </a:rPr>
              <a:t>prevention,</a:t>
            </a:r>
            <a:r>
              <a:rPr sz="1500" spc="-220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detection,  </a:t>
            </a:r>
            <a:r>
              <a:rPr sz="1500" spc="25" dirty="0">
                <a:latin typeface="Tahoma"/>
                <a:cs typeface="Tahoma"/>
              </a:rPr>
              <a:t>evaluation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and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5" dirty="0">
                <a:latin typeface="Tahoma"/>
                <a:cs typeface="Tahoma"/>
              </a:rPr>
              <a:t>treatment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high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75" dirty="0">
                <a:latin typeface="Tahoma"/>
                <a:cs typeface="Tahoma"/>
              </a:rPr>
              <a:t>blood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pressure.</a:t>
            </a:r>
            <a:r>
              <a:rPr sz="1500" spc="-210" dirty="0">
                <a:latin typeface="Tahoma"/>
                <a:cs typeface="Tahoma"/>
              </a:rPr>
              <a:t> </a:t>
            </a:r>
            <a:r>
              <a:rPr sz="1500" spc="65" dirty="0">
                <a:latin typeface="Tahoma"/>
                <a:cs typeface="Tahoma"/>
              </a:rPr>
              <a:t>Arch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Int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105" dirty="0">
                <a:latin typeface="Tahoma"/>
                <a:cs typeface="Tahoma"/>
              </a:rPr>
              <a:t>Med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1997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;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157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: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2413-46.</a:t>
            </a:r>
            <a:endParaRPr sz="1500">
              <a:latin typeface="Tahoma"/>
              <a:cs typeface="Tahoma"/>
            </a:endParaRPr>
          </a:p>
          <a:p>
            <a:pPr marL="162560" marR="1434465" indent="-162560">
              <a:lnSpc>
                <a:spcPct val="80000"/>
              </a:lnSpc>
              <a:buAutoNum type="arabicPlain"/>
              <a:tabLst>
                <a:tab pos="162560" algn="l"/>
              </a:tabLst>
            </a:pPr>
            <a:r>
              <a:rPr sz="1500" spc="65" dirty="0">
                <a:latin typeface="Tahoma"/>
                <a:cs typeface="Tahoma"/>
              </a:rPr>
              <a:t>Messerli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FH,</a:t>
            </a:r>
            <a:r>
              <a:rPr sz="1500" spc="-220" dirty="0">
                <a:latin typeface="Tahoma"/>
                <a:cs typeface="Tahoma"/>
              </a:rPr>
              <a:t> </a:t>
            </a:r>
            <a:r>
              <a:rPr sz="1500" spc="20" dirty="0">
                <a:latin typeface="Tahoma"/>
                <a:cs typeface="Tahoma"/>
              </a:rPr>
              <a:t>Kowey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P,</a:t>
            </a:r>
            <a:r>
              <a:rPr sz="1500" spc="-220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Grodzicki</a:t>
            </a:r>
            <a:r>
              <a:rPr sz="1500" spc="-130" dirty="0">
                <a:latin typeface="Tahoma"/>
                <a:cs typeface="Tahoma"/>
              </a:rPr>
              <a:t> </a:t>
            </a:r>
            <a:r>
              <a:rPr sz="1500" spc="-80" dirty="0">
                <a:latin typeface="Tahoma"/>
                <a:cs typeface="Tahoma"/>
              </a:rPr>
              <a:t>T.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Sublingual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60" dirty="0">
                <a:latin typeface="Tahoma"/>
                <a:cs typeface="Tahoma"/>
              </a:rPr>
              <a:t>nifedipine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for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hypertensive  </a:t>
            </a:r>
            <a:r>
              <a:rPr sz="1500" spc="55" dirty="0">
                <a:latin typeface="Tahoma"/>
                <a:cs typeface="Tahoma"/>
              </a:rPr>
              <a:t>emergencies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15" dirty="0">
                <a:latin typeface="Tahoma"/>
                <a:cs typeface="Tahoma"/>
              </a:rPr>
              <a:t>[letter].</a:t>
            </a:r>
            <a:r>
              <a:rPr sz="1500" spc="-225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Lancet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1991</a:t>
            </a:r>
            <a:r>
              <a:rPr sz="1500" spc="-105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;</a:t>
            </a:r>
            <a:r>
              <a:rPr sz="1500" spc="-2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338</a:t>
            </a:r>
            <a:r>
              <a:rPr sz="1500" spc="-95" dirty="0">
                <a:latin typeface="Tahoma"/>
                <a:cs typeface="Tahoma"/>
              </a:rPr>
              <a:t> :</a:t>
            </a:r>
            <a:r>
              <a:rPr sz="1500" spc="-2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881.</a:t>
            </a:r>
            <a:endParaRPr sz="1500">
              <a:latin typeface="Tahoma"/>
              <a:cs typeface="Tahoma"/>
            </a:endParaRPr>
          </a:p>
          <a:p>
            <a:pPr marL="162560" marR="5080" indent="-162560">
              <a:lnSpc>
                <a:spcPct val="80000"/>
              </a:lnSpc>
              <a:buAutoNum type="arabicPlain"/>
              <a:tabLst>
                <a:tab pos="162560" algn="l"/>
              </a:tabLst>
            </a:pPr>
            <a:r>
              <a:rPr sz="1500" spc="40" dirty="0">
                <a:latin typeface="Tahoma"/>
                <a:cs typeface="Tahoma"/>
              </a:rPr>
              <a:t>Grossman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E,</a:t>
            </a:r>
            <a:r>
              <a:rPr sz="1500" spc="-220" dirty="0">
                <a:latin typeface="Tahoma"/>
                <a:cs typeface="Tahoma"/>
              </a:rPr>
              <a:t> </a:t>
            </a:r>
            <a:r>
              <a:rPr sz="1500" spc="65" dirty="0">
                <a:latin typeface="Tahoma"/>
                <a:cs typeface="Tahoma"/>
              </a:rPr>
              <a:t>Messerli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FH,</a:t>
            </a:r>
            <a:r>
              <a:rPr sz="1500" spc="-220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Grodzicki</a:t>
            </a:r>
            <a:r>
              <a:rPr sz="1500" spc="-135" dirty="0">
                <a:latin typeface="Tahoma"/>
                <a:cs typeface="Tahoma"/>
              </a:rPr>
              <a:t> </a:t>
            </a:r>
            <a:r>
              <a:rPr sz="1500" spc="-80" dirty="0">
                <a:latin typeface="Tahoma"/>
                <a:cs typeface="Tahoma"/>
              </a:rPr>
              <a:t>T,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10" dirty="0">
                <a:latin typeface="Tahoma"/>
                <a:cs typeface="Tahoma"/>
              </a:rPr>
              <a:t>et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20" dirty="0">
                <a:latin typeface="Tahoma"/>
                <a:cs typeface="Tahoma"/>
              </a:rPr>
              <a:t>al.</a:t>
            </a:r>
            <a:r>
              <a:rPr sz="1500" spc="-195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Should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5" dirty="0">
                <a:latin typeface="Tahoma"/>
                <a:cs typeface="Tahoma"/>
              </a:rPr>
              <a:t>a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moratorium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spc="105" dirty="0">
                <a:latin typeface="Tahoma"/>
                <a:cs typeface="Tahoma"/>
              </a:rPr>
              <a:t>be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75" dirty="0">
                <a:latin typeface="Tahoma"/>
                <a:cs typeface="Tahoma"/>
              </a:rPr>
              <a:t>placed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30" dirty="0">
                <a:latin typeface="Tahoma"/>
                <a:cs typeface="Tahoma"/>
              </a:rPr>
              <a:t>on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sublingual  </a:t>
            </a:r>
            <a:r>
              <a:rPr sz="1500" spc="60" dirty="0">
                <a:latin typeface="Tahoma"/>
                <a:cs typeface="Tahoma"/>
              </a:rPr>
              <a:t>nifedipine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capsules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given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for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hypertensive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emergencies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and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pseudoemergencies?</a:t>
            </a:r>
            <a:endParaRPr sz="1500">
              <a:latin typeface="Tahoma"/>
              <a:cs typeface="Tahoma"/>
            </a:endParaRPr>
          </a:p>
          <a:p>
            <a:pPr marL="304800">
              <a:lnSpc>
                <a:spcPts val="1260"/>
              </a:lnSpc>
            </a:pPr>
            <a:r>
              <a:rPr sz="1500" spc="65" dirty="0">
                <a:latin typeface="Tahoma"/>
                <a:cs typeface="Tahoma"/>
              </a:rPr>
              <a:t>JAMA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1996</a:t>
            </a:r>
            <a:r>
              <a:rPr sz="1500" spc="-105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;</a:t>
            </a:r>
            <a:r>
              <a:rPr sz="1500" spc="-2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276</a:t>
            </a:r>
            <a:r>
              <a:rPr sz="1500" spc="-105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:</a:t>
            </a:r>
            <a:r>
              <a:rPr sz="1500" spc="-2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1328.</a:t>
            </a:r>
            <a:endParaRPr sz="1500">
              <a:latin typeface="Tahoma"/>
              <a:cs typeface="Tahoma"/>
            </a:endParaRPr>
          </a:p>
          <a:p>
            <a:pPr marL="162560" marR="126364" indent="-162560">
              <a:lnSpc>
                <a:spcPct val="80000"/>
              </a:lnSpc>
              <a:spcBef>
                <a:spcPts val="180"/>
              </a:spcBef>
              <a:buAutoNum type="arabicPlain" startAt="4"/>
              <a:tabLst>
                <a:tab pos="162560" algn="l"/>
              </a:tabLst>
            </a:pPr>
            <a:r>
              <a:rPr sz="1500" spc="85" dirty="0">
                <a:latin typeface="Tahoma"/>
                <a:cs typeface="Tahoma"/>
              </a:rPr>
              <a:t>Adda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65" dirty="0">
                <a:latin typeface="Tahoma"/>
                <a:cs typeface="Tahoma"/>
              </a:rPr>
              <a:t>M,</a:t>
            </a:r>
            <a:r>
              <a:rPr sz="1500" spc="-270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Teboul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JL.</a:t>
            </a:r>
            <a:r>
              <a:rPr sz="1500" spc="-200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Accès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hypertensif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aigu.</a:t>
            </a:r>
            <a:r>
              <a:rPr sz="1500" spc="-190" dirty="0">
                <a:latin typeface="Tahoma"/>
                <a:cs typeface="Tahoma"/>
              </a:rPr>
              <a:t> </a:t>
            </a:r>
            <a:r>
              <a:rPr sz="1500" spc="75" dirty="0">
                <a:latin typeface="Tahoma"/>
                <a:cs typeface="Tahoma"/>
              </a:rPr>
              <a:t>Encycl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105" dirty="0">
                <a:latin typeface="Tahoma"/>
                <a:cs typeface="Tahoma"/>
              </a:rPr>
              <a:t>Med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105" dirty="0">
                <a:latin typeface="Tahoma"/>
                <a:cs typeface="Tahoma"/>
              </a:rPr>
              <a:t>Chir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(Paris,</a:t>
            </a:r>
            <a:r>
              <a:rPr sz="1500" spc="-200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Elsevier)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Anesthésie  </a:t>
            </a:r>
            <a:r>
              <a:rPr sz="1500" spc="20" dirty="0">
                <a:latin typeface="Tahoma"/>
                <a:cs typeface="Tahoma"/>
              </a:rPr>
              <a:t>Réanimation,</a:t>
            </a:r>
            <a:r>
              <a:rPr sz="1500" spc="-229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36.725-F-50.</a:t>
            </a:r>
            <a:endParaRPr sz="1500">
              <a:latin typeface="Tahoma"/>
              <a:cs typeface="Tahoma"/>
            </a:endParaRPr>
          </a:p>
          <a:p>
            <a:pPr marL="147320" marR="315595" indent="-147320">
              <a:lnSpc>
                <a:spcPct val="80000"/>
              </a:lnSpc>
              <a:buAutoNum type="arabicPlain" startAt="4"/>
              <a:tabLst>
                <a:tab pos="147320" algn="l"/>
              </a:tabLst>
            </a:pPr>
            <a:r>
              <a:rPr sz="1500" spc="15" dirty="0">
                <a:latin typeface="Tahoma"/>
                <a:cs typeface="Tahoma"/>
              </a:rPr>
              <a:t>Varon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114" dirty="0">
                <a:latin typeface="Tahoma"/>
                <a:cs typeface="Tahoma"/>
              </a:rPr>
              <a:t>J,</a:t>
            </a:r>
            <a:r>
              <a:rPr sz="1500" spc="-190" dirty="0">
                <a:latin typeface="Tahoma"/>
                <a:cs typeface="Tahoma"/>
              </a:rPr>
              <a:t> </a:t>
            </a:r>
            <a:r>
              <a:rPr sz="1500" spc="90" dirty="0">
                <a:latin typeface="Tahoma"/>
                <a:cs typeface="Tahoma"/>
              </a:rPr>
              <a:t>Marik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PE.</a:t>
            </a:r>
            <a:r>
              <a:rPr sz="1500" spc="-265" dirty="0">
                <a:latin typeface="Tahoma"/>
                <a:cs typeface="Tahoma"/>
              </a:rPr>
              <a:t> </a:t>
            </a:r>
            <a:r>
              <a:rPr sz="1500" spc="30" dirty="0">
                <a:latin typeface="Tahoma"/>
                <a:cs typeface="Tahoma"/>
              </a:rPr>
              <a:t>The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diagnosis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and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management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hypertensive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crises.</a:t>
            </a:r>
            <a:r>
              <a:rPr sz="1500" spc="-175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Chest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2000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;  </a:t>
            </a:r>
            <a:r>
              <a:rPr sz="1500" spc="-10" dirty="0">
                <a:latin typeface="Tahoma"/>
                <a:cs typeface="Tahoma"/>
              </a:rPr>
              <a:t>118 </a:t>
            </a:r>
            <a:r>
              <a:rPr sz="1500" spc="-95" dirty="0">
                <a:latin typeface="Tahoma"/>
                <a:cs typeface="Tahoma"/>
              </a:rPr>
              <a:t>:</a:t>
            </a:r>
            <a:r>
              <a:rPr sz="1500" spc="-3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214-27.</a:t>
            </a:r>
            <a:endParaRPr sz="1500">
              <a:latin typeface="Tahoma"/>
              <a:cs typeface="Tahoma"/>
            </a:endParaRPr>
          </a:p>
          <a:p>
            <a:pPr marL="147320" marR="655320" indent="-147320">
              <a:lnSpc>
                <a:spcPct val="80000"/>
              </a:lnSpc>
              <a:buAutoNum type="arabicPlain" startAt="4"/>
              <a:tabLst>
                <a:tab pos="147320" algn="l"/>
              </a:tabLst>
            </a:pPr>
            <a:r>
              <a:rPr sz="1500" spc="15" dirty="0">
                <a:latin typeface="Tahoma"/>
                <a:cs typeface="Tahoma"/>
              </a:rPr>
              <a:t>Varon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114" dirty="0">
                <a:latin typeface="Tahoma"/>
                <a:cs typeface="Tahoma"/>
              </a:rPr>
              <a:t>J,</a:t>
            </a:r>
            <a:r>
              <a:rPr sz="1500" spc="-195" dirty="0">
                <a:latin typeface="Tahoma"/>
                <a:cs typeface="Tahoma"/>
              </a:rPr>
              <a:t> </a:t>
            </a:r>
            <a:r>
              <a:rPr sz="1500" spc="90" dirty="0">
                <a:latin typeface="Tahoma"/>
                <a:cs typeface="Tahoma"/>
              </a:rPr>
              <a:t>Marik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PE,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Fromm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40" dirty="0">
                <a:latin typeface="Tahoma"/>
                <a:cs typeface="Tahoma"/>
              </a:rPr>
              <a:t>Jr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15" dirty="0">
                <a:latin typeface="Tahoma"/>
                <a:cs typeface="Tahoma"/>
              </a:rPr>
              <a:t>RE.</a:t>
            </a:r>
            <a:r>
              <a:rPr sz="1500" spc="-229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Hypertensive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crisis.</a:t>
            </a:r>
            <a:r>
              <a:rPr sz="1500" spc="-185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In:</a:t>
            </a:r>
            <a:r>
              <a:rPr sz="1500" spc="-320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Vincent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JL,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Ed.</a:t>
            </a:r>
            <a:r>
              <a:rPr sz="1500" spc="-355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Year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85" dirty="0">
                <a:latin typeface="Tahoma"/>
                <a:cs typeface="Tahoma"/>
              </a:rPr>
              <a:t>book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  </a:t>
            </a:r>
            <a:r>
              <a:rPr sz="1500" spc="15" dirty="0">
                <a:latin typeface="Tahoma"/>
                <a:cs typeface="Tahoma"/>
              </a:rPr>
              <a:t>Intensive</a:t>
            </a:r>
            <a:r>
              <a:rPr sz="1500" spc="-110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Care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and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65" dirty="0">
                <a:latin typeface="Tahoma"/>
                <a:cs typeface="Tahoma"/>
              </a:rPr>
              <a:t>Emergency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70" dirty="0">
                <a:latin typeface="Tahoma"/>
                <a:cs typeface="Tahoma"/>
              </a:rPr>
              <a:t>Medicine.</a:t>
            </a:r>
            <a:r>
              <a:rPr sz="1500" spc="-200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Bruxelles:</a:t>
            </a:r>
            <a:r>
              <a:rPr sz="1500" spc="-200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Springer;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2002.</a:t>
            </a:r>
            <a:r>
              <a:rPr sz="1500" spc="-235" dirty="0">
                <a:latin typeface="Tahoma"/>
                <a:cs typeface="Tahoma"/>
              </a:rPr>
              <a:t> </a:t>
            </a:r>
            <a:r>
              <a:rPr sz="1500" spc="10" dirty="0">
                <a:latin typeface="Tahoma"/>
                <a:cs typeface="Tahoma"/>
              </a:rPr>
              <a:t>p.</a:t>
            </a:r>
            <a:r>
              <a:rPr sz="1500" spc="-2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863-76.</a:t>
            </a:r>
            <a:endParaRPr sz="1500">
              <a:latin typeface="Tahoma"/>
              <a:cs typeface="Tahoma"/>
            </a:endParaRPr>
          </a:p>
          <a:p>
            <a:pPr marL="162560" marR="153035" indent="-162560">
              <a:lnSpc>
                <a:spcPct val="80000"/>
              </a:lnSpc>
              <a:buAutoNum type="arabicPlain" startAt="4"/>
              <a:tabLst>
                <a:tab pos="162560" algn="l"/>
              </a:tabLst>
            </a:pPr>
            <a:r>
              <a:rPr sz="1500" spc="50" dirty="0">
                <a:latin typeface="Tahoma"/>
                <a:cs typeface="Tahoma"/>
              </a:rPr>
              <a:t>Quatrième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conférence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85" dirty="0">
                <a:latin typeface="Tahoma"/>
                <a:cs typeface="Tahoma"/>
              </a:rPr>
              <a:t>de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30" dirty="0">
                <a:latin typeface="Tahoma"/>
                <a:cs typeface="Tahoma"/>
              </a:rPr>
              <a:t>consensus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en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65" dirty="0">
                <a:latin typeface="Tahoma"/>
                <a:cs typeface="Tahoma"/>
              </a:rPr>
              <a:t>médecine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d'urgence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85" dirty="0">
                <a:latin typeface="Tahoma"/>
                <a:cs typeface="Tahoma"/>
              </a:rPr>
              <a:t>de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la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Société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francophone  </a:t>
            </a:r>
            <a:r>
              <a:rPr sz="1500" spc="40" dirty="0">
                <a:latin typeface="Tahoma"/>
                <a:cs typeface="Tahoma"/>
              </a:rPr>
              <a:t>d'urgences </a:t>
            </a:r>
            <a:r>
              <a:rPr sz="1500" spc="50" dirty="0">
                <a:latin typeface="Tahoma"/>
                <a:cs typeface="Tahoma"/>
              </a:rPr>
              <a:t>médicales. </a:t>
            </a:r>
            <a:r>
              <a:rPr sz="1500" spc="35" dirty="0">
                <a:latin typeface="Tahoma"/>
                <a:cs typeface="Tahoma"/>
              </a:rPr>
              <a:t>L'hypertension </a:t>
            </a:r>
            <a:r>
              <a:rPr sz="1500" spc="5" dirty="0">
                <a:latin typeface="Tahoma"/>
                <a:cs typeface="Tahoma"/>
              </a:rPr>
              <a:t>au </a:t>
            </a:r>
            <a:r>
              <a:rPr sz="1500" spc="70" dirty="0">
                <a:latin typeface="Tahoma"/>
                <a:cs typeface="Tahoma"/>
              </a:rPr>
              <a:t>service </a:t>
            </a:r>
            <a:r>
              <a:rPr sz="1500" spc="50" dirty="0">
                <a:latin typeface="Tahoma"/>
                <a:cs typeface="Tahoma"/>
              </a:rPr>
              <a:t>d'accueil </a:t>
            </a:r>
            <a:r>
              <a:rPr sz="1500" spc="10" dirty="0">
                <a:latin typeface="Tahoma"/>
                <a:cs typeface="Tahoma"/>
              </a:rPr>
              <a:t>et </a:t>
            </a:r>
            <a:r>
              <a:rPr sz="1500" spc="45" dirty="0">
                <a:latin typeface="Tahoma"/>
                <a:cs typeface="Tahoma"/>
              </a:rPr>
              <a:t>d'urgence </a:t>
            </a:r>
            <a:r>
              <a:rPr sz="1500" spc="25" dirty="0">
                <a:latin typeface="Tahoma"/>
                <a:cs typeface="Tahoma"/>
              </a:rPr>
              <a:t>(femmes  </a:t>
            </a:r>
            <a:r>
              <a:rPr sz="1500" spc="40" dirty="0">
                <a:latin typeface="Tahoma"/>
                <a:cs typeface="Tahoma"/>
              </a:rPr>
              <a:t>enceintes</a:t>
            </a:r>
            <a:r>
              <a:rPr sz="1500" spc="-114" dirty="0">
                <a:latin typeface="Tahoma"/>
                <a:cs typeface="Tahoma"/>
              </a:rPr>
              <a:t> </a:t>
            </a:r>
            <a:r>
              <a:rPr sz="1500" spc="10" dirty="0">
                <a:latin typeface="Tahoma"/>
                <a:cs typeface="Tahoma"/>
              </a:rPr>
              <a:t>et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10" dirty="0">
                <a:latin typeface="Tahoma"/>
                <a:cs typeface="Tahoma"/>
              </a:rPr>
              <a:t>enfants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85" dirty="0">
                <a:latin typeface="Tahoma"/>
                <a:cs typeface="Tahoma"/>
              </a:rPr>
              <a:t>de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moins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85" dirty="0">
                <a:latin typeface="Tahoma"/>
                <a:cs typeface="Tahoma"/>
              </a:rPr>
              <a:t>de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15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10" dirty="0">
                <a:latin typeface="Tahoma"/>
                <a:cs typeface="Tahoma"/>
              </a:rPr>
              <a:t>ans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exclus).</a:t>
            </a:r>
            <a:r>
              <a:rPr sz="1500" spc="-185" dirty="0">
                <a:latin typeface="Tahoma"/>
                <a:cs typeface="Tahoma"/>
              </a:rPr>
              <a:t> </a:t>
            </a:r>
            <a:r>
              <a:rPr sz="1500" spc="30" dirty="0">
                <a:latin typeface="Tahoma"/>
                <a:cs typeface="Tahoma"/>
              </a:rPr>
              <a:t>Réanim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Urg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1993</a:t>
            </a:r>
            <a:r>
              <a:rPr sz="1500" spc="-105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;</a:t>
            </a:r>
            <a:r>
              <a:rPr sz="1500" spc="-2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3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:</a:t>
            </a:r>
            <a:r>
              <a:rPr sz="1500" spc="-2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493-503.</a:t>
            </a:r>
            <a:endParaRPr sz="1500">
              <a:latin typeface="Tahoma"/>
              <a:cs typeface="Tahoma"/>
            </a:endParaRPr>
          </a:p>
          <a:p>
            <a:pPr marL="162560" marR="768350" indent="-162560">
              <a:lnSpc>
                <a:spcPct val="80000"/>
              </a:lnSpc>
              <a:buAutoNum type="arabicPlain" startAt="4"/>
              <a:tabLst>
                <a:tab pos="162560" algn="l"/>
              </a:tabLst>
            </a:pPr>
            <a:r>
              <a:rPr sz="1500" spc="45" dirty="0">
                <a:latin typeface="Tahoma"/>
                <a:cs typeface="Tahoma"/>
              </a:rPr>
              <a:t>1993-Guidelines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for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15" dirty="0">
                <a:latin typeface="Tahoma"/>
                <a:cs typeface="Tahoma"/>
              </a:rPr>
              <a:t>the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management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75" dirty="0">
                <a:latin typeface="Tahoma"/>
                <a:cs typeface="Tahoma"/>
              </a:rPr>
              <a:t>mild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hypertension: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memorandum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spc="10" dirty="0">
                <a:latin typeface="Tahoma"/>
                <a:cs typeface="Tahoma"/>
              </a:rPr>
              <a:t>from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5" dirty="0">
                <a:latin typeface="Tahoma"/>
                <a:cs typeface="Tahoma"/>
              </a:rPr>
              <a:t>a  </a:t>
            </a:r>
            <a:r>
              <a:rPr sz="1500" spc="45" dirty="0">
                <a:latin typeface="Tahoma"/>
                <a:cs typeface="Tahoma"/>
              </a:rPr>
              <a:t>WHO/ISH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30" dirty="0">
                <a:latin typeface="Tahoma"/>
                <a:cs typeface="Tahoma"/>
              </a:rPr>
              <a:t>meeting.</a:t>
            </a:r>
            <a:r>
              <a:rPr sz="1500" spc="-210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Hypertension</a:t>
            </a:r>
            <a:r>
              <a:rPr sz="1500" spc="-9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1993</a:t>
            </a:r>
            <a:r>
              <a:rPr sz="1500" spc="-105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;</a:t>
            </a:r>
            <a:r>
              <a:rPr sz="1500" spc="-2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22</a:t>
            </a:r>
            <a:r>
              <a:rPr sz="1500" spc="-105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:</a:t>
            </a:r>
            <a:r>
              <a:rPr sz="1500" spc="-2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392-403.</a:t>
            </a:r>
            <a:endParaRPr sz="1500">
              <a:latin typeface="Tahoma"/>
              <a:cs typeface="Tahoma"/>
            </a:endParaRPr>
          </a:p>
          <a:p>
            <a:pPr marL="12700" marR="1160145">
              <a:lnSpc>
                <a:spcPct val="80000"/>
              </a:lnSpc>
              <a:buAutoNum type="arabicPlain" startAt="4"/>
              <a:tabLst>
                <a:tab pos="147320" algn="l"/>
              </a:tabLst>
            </a:pPr>
            <a:r>
              <a:rPr sz="1500" spc="20" dirty="0">
                <a:latin typeface="Tahoma"/>
                <a:cs typeface="Tahoma"/>
              </a:rPr>
              <a:t>Vaughan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5" dirty="0">
                <a:latin typeface="Tahoma"/>
                <a:cs typeface="Tahoma"/>
              </a:rPr>
              <a:t>CJ,</a:t>
            </a:r>
            <a:r>
              <a:rPr sz="1500" spc="-210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Delanty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N.</a:t>
            </a:r>
            <a:r>
              <a:rPr sz="1500" spc="-220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Hypertensive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emergencies.</a:t>
            </a:r>
            <a:r>
              <a:rPr sz="1500" spc="-195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Lancet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2000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;</a:t>
            </a:r>
            <a:r>
              <a:rPr sz="1500" spc="-2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356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:</a:t>
            </a:r>
            <a:r>
              <a:rPr sz="1500" spc="-2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411-7.  10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Uwaifo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GI.</a:t>
            </a:r>
            <a:r>
              <a:rPr sz="1500" spc="-195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Hypertensive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emergencies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15" dirty="0">
                <a:latin typeface="Tahoma"/>
                <a:cs typeface="Tahoma"/>
              </a:rPr>
              <a:t>[letter].</a:t>
            </a:r>
            <a:r>
              <a:rPr sz="1500" spc="-220" dirty="0">
                <a:latin typeface="Tahoma"/>
                <a:cs typeface="Tahoma"/>
              </a:rPr>
              <a:t> </a:t>
            </a:r>
            <a:r>
              <a:rPr sz="1500" spc="25" dirty="0">
                <a:latin typeface="Tahoma"/>
                <a:cs typeface="Tahoma"/>
              </a:rPr>
              <a:t>Lancet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2000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;</a:t>
            </a:r>
            <a:r>
              <a:rPr sz="1500" spc="-2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356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:</a:t>
            </a:r>
            <a:r>
              <a:rPr sz="1500" spc="-2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1442.</a:t>
            </a:r>
            <a:endParaRPr sz="1500">
              <a:latin typeface="Tahoma"/>
              <a:cs typeface="Tahoma"/>
            </a:endParaRPr>
          </a:p>
          <a:p>
            <a:pPr marL="12700" marR="161925">
              <a:lnSpc>
                <a:spcPct val="80000"/>
              </a:lnSpc>
            </a:pPr>
            <a:r>
              <a:rPr sz="1500" spc="-10" dirty="0">
                <a:latin typeface="Tahoma"/>
                <a:cs typeface="Tahoma"/>
              </a:rPr>
              <a:t>11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70" dirty="0">
                <a:latin typeface="Tahoma"/>
                <a:cs typeface="Tahoma"/>
              </a:rPr>
              <a:t>Murphy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C.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Hypertensive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emergencies.</a:t>
            </a:r>
            <a:r>
              <a:rPr sz="1500" spc="-195" dirty="0">
                <a:latin typeface="Tahoma"/>
                <a:cs typeface="Tahoma"/>
              </a:rPr>
              <a:t> </a:t>
            </a:r>
            <a:r>
              <a:rPr sz="1500" spc="65" dirty="0">
                <a:latin typeface="Tahoma"/>
                <a:cs typeface="Tahoma"/>
              </a:rPr>
              <a:t>Emerg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105" dirty="0">
                <a:latin typeface="Tahoma"/>
                <a:cs typeface="Tahoma"/>
              </a:rPr>
              <a:t>Med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105" dirty="0">
                <a:latin typeface="Tahoma"/>
                <a:cs typeface="Tahoma"/>
              </a:rPr>
              <a:t>Clin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40" dirty="0">
                <a:latin typeface="Tahoma"/>
                <a:cs typeface="Tahoma"/>
              </a:rPr>
              <a:t>North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90" dirty="0">
                <a:latin typeface="Tahoma"/>
                <a:cs typeface="Tahoma"/>
              </a:rPr>
              <a:t>Am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1995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;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13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: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973-1007.  12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Caughron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KF,</a:t>
            </a:r>
            <a:r>
              <a:rPr sz="1500" spc="-220" dirty="0">
                <a:latin typeface="Tahoma"/>
                <a:cs typeface="Tahoma"/>
              </a:rPr>
              <a:t> </a:t>
            </a:r>
            <a:r>
              <a:rPr sz="1500" spc="5" dirty="0">
                <a:latin typeface="Tahoma"/>
                <a:cs typeface="Tahoma"/>
              </a:rPr>
              <a:t>Smith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30" dirty="0">
                <a:latin typeface="Tahoma"/>
                <a:cs typeface="Tahoma"/>
              </a:rPr>
              <a:t>EL,</a:t>
            </a:r>
            <a:r>
              <a:rPr sz="1500" spc="-195" dirty="0">
                <a:latin typeface="Tahoma"/>
                <a:cs typeface="Tahoma"/>
              </a:rPr>
              <a:t> </a:t>
            </a:r>
            <a:r>
              <a:rPr sz="1500" spc="70" dirty="0">
                <a:latin typeface="Tahoma"/>
                <a:cs typeface="Tahoma"/>
              </a:rPr>
              <a:t>McClellan-Holm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35" dirty="0">
                <a:latin typeface="Tahoma"/>
                <a:cs typeface="Tahoma"/>
              </a:rPr>
              <a:t>E.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45" dirty="0">
                <a:latin typeface="Tahoma"/>
                <a:cs typeface="Tahoma"/>
              </a:rPr>
              <a:t>Selected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guidelines.</a:t>
            </a:r>
            <a:r>
              <a:rPr sz="1500" spc="-180" dirty="0">
                <a:latin typeface="Tahoma"/>
                <a:cs typeface="Tahoma"/>
              </a:rPr>
              <a:t> </a:t>
            </a:r>
            <a:r>
              <a:rPr sz="1500" spc="-5" dirty="0">
                <a:latin typeface="Tahoma"/>
                <a:cs typeface="Tahoma"/>
              </a:rPr>
              <a:t>South</a:t>
            </a:r>
            <a:r>
              <a:rPr sz="1500" spc="-80" dirty="0">
                <a:latin typeface="Tahoma"/>
                <a:cs typeface="Tahoma"/>
              </a:rPr>
              <a:t> </a:t>
            </a:r>
            <a:r>
              <a:rPr sz="1500" spc="105" dirty="0">
                <a:latin typeface="Tahoma"/>
                <a:cs typeface="Tahoma"/>
              </a:rPr>
              <a:t>Med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spc="-160" dirty="0">
                <a:latin typeface="Tahoma"/>
                <a:cs typeface="Tahoma"/>
              </a:rPr>
              <a:t>J</a:t>
            </a:r>
            <a:r>
              <a:rPr sz="1500" spc="-7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2001</a:t>
            </a:r>
            <a:r>
              <a:rPr sz="1500" spc="-95" dirty="0">
                <a:latin typeface="Tahoma"/>
                <a:cs typeface="Tahoma"/>
              </a:rPr>
              <a:t> ;</a:t>
            </a:r>
            <a:r>
              <a:rPr sz="1500" spc="-204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94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95" dirty="0">
                <a:latin typeface="Tahoma"/>
                <a:cs typeface="Tahoma"/>
              </a:rPr>
              <a:t>:</a:t>
            </a:r>
            <a:endParaRPr sz="1500">
              <a:latin typeface="Tahoma"/>
              <a:cs typeface="Tahoma"/>
            </a:endParaRPr>
          </a:p>
          <a:p>
            <a:pPr marL="304800">
              <a:lnSpc>
                <a:spcPts val="1440"/>
              </a:lnSpc>
            </a:pPr>
            <a:r>
              <a:rPr sz="1500" spc="-10" dirty="0">
                <a:solidFill>
                  <a:srgbClr val="FFFFFF"/>
                </a:solidFill>
                <a:latin typeface="Tahoma"/>
                <a:cs typeface="Tahoma"/>
              </a:rPr>
              <a:t>1074-95.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2667000"/>
            <a:ext cx="6243376" cy="3531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620"/>
              </a:lnSpc>
              <a:spcBef>
                <a:spcPts val="100"/>
              </a:spcBef>
            </a:pPr>
            <a:r>
              <a:rPr lang="fr-FR" sz="3600" b="1" spc="-80" dirty="0" smtClean="0">
                <a:latin typeface="Georgia"/>
                <a:cs typeface="Georgia"/>
              </a:rPr>
              <a:t>Merci pour votre attention</a:t>
            </a:r>
            <a:endParaRPr lang="fr-FR" sz="36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999</TotalTime>
  <Words>915</Words>
  <Application>Microsoft Office PowerPoint</Application>
  <PresentationFormat>Affichage à l'écran (4:3)</PresentationFormat>
  <Paragraphs>98</Paragraphs>
  <Slides>17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Aspect</vt:lpstr>
      <vt:lpstr>Diapositive 1</vt:lpstr>
      <vt:lpstr>Diapositive 2</vt:lpstr>
      <vt:lpstr>Diapositive 3</vt:lpstr>
      <vt:lpstr>Diapositive 4</vt:lpstr>
      <vt:lpstr>Diapositive 5</vt:lpstr>
      <vt:lpstr>-Examen neurologique:céphalée,baisse de la vision, déficit moteur ou phasique, troubles de la conscience, convulsions (AVC, encéphalopathie) -Examen CV: douleur thoracique irradiant vers les membre sup(SCA),douleur thoracique irradiant vers le dos avec asymétrie tensionnelle(dissection aortique), dyspnée avec orthopnée+rales crépitants(OAP)   -E C G  ( signes  de  SCA )  -FO( r é ti no pa thie  hypert e n sive   sévère:  stade 2(exssudat +hémorragie) ou 3 (œdème  ) -un bilan biologique: urée, créatinine (Insuffisance rénale),chimie des urines (protéinurie) +/- troponines(après ECG ,SCA) et Selon le contexte : radio thorax,échocoeur(OAP),une  TDM /IRM cérébrale(complication neurologique) ,angio TDM thoracique(dissection aortique)</vt:lpstr>
      <vt:lpstr>Objectifs</vt:lpstr>
      <vt:lpstr>Diapositive 8</vt:lpstr>
      <vt:lpstr> Dans toutes les situations CV:</vt:lpstr>
      <vt:lpstr>Diapositive 10</vt:lpstr>
      <vt:lpstr>Diapositive 11</vt:lpstr>
      <vt:lpstr>Diapositive 12</vt:lpstr>
      <vt:lpstr>Diapositive 13</vt:lpstr>
      <vt:lpstr> HTA sévère ou de grade 3</vt:lpstr>
      <vt:lpstr> Les urgences hypertensives sont des HTA sévères  avec complication viscérale</vt:lpstr>
      <vt:lpstr>Diapositive 16</vt:lpstr>
      <vt:lpstr>Diapositive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URGENCES HYPERTENSIVES</dc:title>
  <dc:creator>bgranger</dc:creator>
  <cp:lastModifiedBy>IRV_SOFT2023</cp:lastModifiedBy>
  <cp:revision>121</cp:revision>
  <dcterms:created xsi:type="dcterms:W3CDTF">2021-01-12T09:06:12Z</dcterms:created>
  <dcterms:modified xsi:type="dcterms:W3CDTF">2025-10-01T22:43:43Z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2015-02-22T00:00:00Z</vt:filetime>
  </property>
  <property fmtid="{D5CDD505-2E9C-101B-9397-08002B2CF9AE}" pid="3" name="Creator">
    <vt:lpwstr>Acrobat PDFMaker 10.1 pour PowerPoint</vt:lpwstr>
  </property>
  <property fmtid="{D5CDD505-2E9C-101B-9397-08002B2CF9AE}" pid="4" name="LastSaved">
    <vt:filetime>2021-01-12T00:00:00Z</vt:filetime>
  </property>
</Properties>
</file>