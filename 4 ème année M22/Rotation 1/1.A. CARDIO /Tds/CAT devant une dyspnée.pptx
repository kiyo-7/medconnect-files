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15" r:id="rId3"/>
    <p:sldId id="257" r:id="rId4"/>
    <p:sldId id="274" r:id="rId5"/>
    <p:sldId id="377" r:id="rId6"/>
    <p:sldId id="379" r:id="rId7"/>
    <p:sldId id="385" r:id="rId8"/>
    <p:sldId id="381" r:id="rId9"/>
    <p:sldId id="394" r:id="rId10"/>
    <p:sldId id="386" r:id="rId11"/>
    <p:sldId id="395" r:id="rId12"/>
    <p:sldId id="382" r:id="rId13"/>
    <p:sldId id="387" r:id="rId14"/>
    <p:sldId id="383" r:id="rId15"/>
    <p:sldId id="388" r:id="rId16"/>
    <p:sldId id="391" r:id="rId17"/>
    <p:sldId id="392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320" r:id="rId28"/>
    <p:sldId id="374" r:id="rId29"/>
    <p:sldId id="375" r:id="rId30"/>
    <p:sldId id="269" r:id="rId31"/>
    <p:sldId id="376" r:id="rId32"/>
    <p:sldId id="271" r:id="rId33"/>
    <p:sldId id="272" r:id="rId34"/>
    <p:sldId id="384" r:id="rId35"/>
    <p:sldId id="389" r:id="rId36"/>
    <p:sldId id="390" r:id="rId37"/>
    <p:sldId id="40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761"/>
  </p:normalViewPr>
  <p:slideViewPr>
    <p:cSldViewPr snapToGrid="0">
      <p:cViewPr varScale="1">
        <p:scale>
          <a:sx n="106" d="100"/>
          <a:sy n="106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8AF14A-437A-4B9F-8366-B240892306C3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1E45852-AEF1-4E24-8C33-3CE09B3AB071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2457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0BB580-7BD7-466E-B5C1-68EBC983ED07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A4C-C455-404A-87D4-C134D062E088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891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pPr>
              <a:defRPr/>
            </a:pPr>
            <a:fld id="{4D9C8A34-36B6-476F-BBAA-C8238F03597C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A921CF1-80FC-4013-BC4C-F6C66CD1295A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241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90B52F-F254-480D-8132-3C8E9283AF06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A82F-41E4-4F2A-A59D-B098DC2603ED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641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DE57-FD1A-4E70-AC15-C561C9A16C13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97141-A389-42A0-9DE5-B765921FBE0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25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5CE0E-1E35-4465-BC73-4B029EA78D4A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D0637-8CE3-4C39-B0DF-0447CDFBBDFC}" type="slidenum">
              <a:rPr lang="fr-FR" altLang="fr-FR" smtClean="0"/>
              <a:pPr/>
              <a:t>‹N°›</a:t>
            </a:fld>
            <a:endParaRPr lang="fr-FR" altLang="fr-F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8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E67F0F-AAC0-4894-850F-A32F2BA46B6A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844C-B212-46A2-8D62-F33BE7A51CB4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8711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FD08C1-1924-4C7F-A186-F63449DD7A34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E905-EEE9-4EC1-ADE2-7AE924FC1FFE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3705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C3C48D-5E3C-4260-8FC4-1AA134D8F8B3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6231A-E775-4132-9F7F-79C3EE1F2B9C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1581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1A1C67-FEF5-4521-B1B2-8FB4639B7911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46567-3B44-447E-911F-B619A397286A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6496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D247BD-395E-4214-BC37-638C9C4D42BB}" type="datetimeFigureOut">
              <a:rPr lang="fr-FR" smtClean="0"/>
              <a:pPr>
                <a:defRPr/>
              </a:pPr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631A-E0CF-43D8-A588-3018E092A403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6003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ECADE57-FD1A-4E70-AC15-C561C9A16C13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FB97141-A389-42A0-9DE5-B765921FBE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61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1D12-8123-7631-1A60-D07BBBDD2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devant la douleur thoracique, la dyspnée et l’hémoptysie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B0F90-2D66-351C-7898-D5122746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147" y="4620126"/>
            <a:ext cx="9779962" cy="1592844"/>
          </a:xfrm>
        </p:spPr>
        <p:txBody>
          <a:bodyPr>
            <a:normAutofit/>
          </a:bodyPr>
          <a:lstStyle/>
          <a:p>
            <a:r>
              <a:rPr lang="fr-FR" sz="2800" dirty="0"/>
              <a:t>Dr F. </a:t>
            </a:r>
            <a:r>
              <a:rPr lang="fr-FR" sz="2800" dirty="0" err="1"/>
              <a:t>Kellil</a:t>
            </a:r>
            <a:r>
              <a:rPr lang="fr-FR" sz="2800" dirty="0"/>
              <a:t>           Maitre assistante en cardiologie  CHU</a:t>
            </a:r>
          </a:p>
          <a:p>
            <a:endParaRPr lang="fr-FR" sz="2800" dirty="0"/>
          </a:p>
          <a:p>
            <a:r>
              <a:rPr lang="fr-FR" sz="2800" dirty="0"/>
              <a:t>Le 30/10/2025</a:t>
            </a:r>
          </a:p>
        </p:txBody>
      </p:sp>
    </p:spTree>
    <p:extLst>
      <p:ext uri="{BB962C8B-B14F-4D97-AF65-F5344CB8AC3E}">
        <p14:creationId xmlns:p14="http://schemas.microsoft.com/office/powerpoint/2010/main" val="153038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F41532-98B9-20B6-3FE9-A69F7F48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AF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6FA0A-DC77-B723-B4D5-517CC3C28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AF" dirty="0"/>
              <a:t>Douleur thoracique aigue</a:t>
            </a:r>
          </a:p>
          <a:p>
            <a:pPr marL="342900" indent="-342900">
              <a:buFont typeface="+mj-lt"/>
              <a:buAutoNum type="arabicPeriod"/>
            </a:pPr>
            <a:endParaRPr lang="fr-AF" dirty="0"/>
          </a:p>
          <a:p>
            <a:pPr marL="342900" indent="-342900">
              <a:buFont typeface="+mj-lt"/>
              <a:buAutoNum type="arabicPeriod"/>
            </a:pPr>
            <a:r>
              <a:rPr lang="fr-AF" dirty="0"/>
              <a:t>Dyspnée aigue</a:t>
            </a:r>
          </a:p>
          <a:p>
            <a:pPr marL="342900" indent="-342900">
              <a:buFont typeface="+mj-lt"/>
              <a:buAutoNum type="arabicPeriod"/>
            </a:pPr>
            <a:endParaRPr lang="fr-AF" dirty="0"/>
          </a:p>
          <a:p>
            <a:pPr marL="342900" indent="-342900">
              <a:buFont typeface="+mj-lt"/>
              <a:buAutoNum type="arabicPeriod"/>
            </a:pPr>
            <a:r>
              <a:rPr lang="fr-AF" dirty="0"/>
              <a:t>Hemoptysie</a:t>
            </a:r>
          </a:p>
        </p:txBody>
      </p:sp>
    </p:spTree>
    <p:extLst>
      <p:ext uri="{BB962C8B-B14F-4D97-AF65-F5344CB8AC3E}">
        <p14:creationId xmlns:p14="http://schemas.microsoft.com/office/powerpoint/2010/main" val="215423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E3F4-A6CB-AE6D-2939-C5945022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pédagogiques: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5A39-D934-6B1C-F5B5-1B6B45855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14600"/>
            <a:ext cx="8348632" cy="328558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Diagnostic positif et étiologique d’une douleur thoracique aigue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Diagnostic positif et étiologique une dyspnée aiguë 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Connaître la classification NYHA et identifier les signes de gravité 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Diagnostic positif et étiologique de l’hémoptysie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5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353F-F1CB-D073-1695-A3B3A869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000000"/>
                </a:solidFill>
                <a:latin typeface="TimesNewRomanPSMT"/>
                <a:ea typeface="+mn-ea"/>
                <a:cs typeface="+mn-cs"/>
              </a:rPr>
              <a:t>Douleur thoracique aigue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27A-482D-FB43-2388-A60CCFCC7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Identifier une détresse vitale chez un patient qui consulte pour douleur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thoracique.</a:t>
            </a:r>
          </a:p>
          <a:p>
            <a:endParaRPr lang="fr-FR" sz="2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S’orienter vers l’une des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NewRomanPSMT"/>
              </a:rPr>
              <a:t>quatres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 urgences cardiologiques (PIED)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Connaître les principales causes extracardiaques d’une douleur thoracique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04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B9BF-38BD-2306-401E-61BFA2B4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C832-007E-EF88-651D-3829B9B0E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  <a:t> Identifier une détresse vitale ?</a:t>
            </a:r>
          </a:p>
          <a:p>
            <a:pPr marL="0" indent="0">
              <a:buNone/>
            </a:pPr>
            <a:b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  <a:t>  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Urgence diagnostique = urgence thérapeutique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Détresse respiratoire (signes de lutte, désaturation ..), hémodynamique (collapsus, état de choc, confusion ..)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378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39B1-ABF4-9459-BD69-E4F3CCBB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7C5CB-0D78-1FE5-7284-4E9BA277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000000"/>
                </a:solidFill>
                <a:latin typeface="TimesNewRomanPS-BoldMT"/>
              </a:rPr>
              <a:t>Identifier une 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  <a:t>urgence cardiovasculaire :</a:t>
            </a:r>
          </a:p>
          <a:p>
            <a:pPr marL="0" indent="0">
              <a:buNone/>
            </a:pPr>
            <a:b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Rechercher par l’interrogatoire et l’examen physique du patient des arguments orientant vers l’une des quatre urgences cardiologiques à évoquer systématiquement du fait de leur gravité immédiate ou potentielle (moyen mnémotechnique «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NewRomanPSMT"/>
              </a:rPr>
              <a:t>PIED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 » pour péricardite, infarctus, embolie pulmonaire, dissection) </a:t>
            </a:r>
            <a:r>
              <a:rPr lang="fr-FR" dirty="0"/>
              <a:t>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925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E3C9-AF76-12F8-5993-07726BC3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3435F-B3ED-9831-42B6-1C5507987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305" y="1022684"/>
            <a:ext cx="10249943" cy="5149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  <a:t> Orientation diagnostique : identifier les urgences cardiaques</a:t>
            </a:r>
          </a:p>
          <a:p>
            <a:pPr marL="0" indent="0">
              <a:buNone/>
            </a:pPr>
            <a:endParaRPr lang="fr-FR" sz="2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L’interrogatoire et l’examen clinique cherchent un profil de risque particulier pour orienter le diagnostic</a:t>
            </a:r>
            <a:r>
              <a:rPr lang="fr-FR" sz="2800" dirty="0">
                <a:solidFill>
                  <a:srgbClr val="000000"/>
                </a:solidFill>
                <a:latin typeface="TimesNewRomanPSMT"/>
              </a:rPr>
              <a:t> et la description de la douleur par le patient est souvent la clé diagnostique cependant 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il ne faut pas méconnaître la grande fréquence des formes atypiques. 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 err="1"/>
              <a:t>Pericardite</a:t>
            </a:r>
            <a:r>
              <a:rPr lang="fr-FR" dirty="0"/>
              <a:t>: augmente à l’inspiration, soulagée par la position penchée en avant</a:t>
            </a:r>
          </a:p>
          <a:p>
            <a:pPr marL="0" indent="0">
              <a:buNone/>
            </a:pPr>
            <a:r>
              <a:rPr lang="fr-FR" dirty="0"/>
              <a:t>Infarctus: oppression rétrosternale, irradiation typique membre supérieur gauche et </a:t>
            </a:r>
            <a:r>
              <a:rPr lang="fr-FR" dirty="0" err="1"/>
              <a:t>machoire</a:t>
            </a:r>
            <a:r>
              <a:rPr lang="fr-FR" dirty="0"/>
              <a:t> inférieure, exacerbée par l’effort</a:t>
            </a:r>
          </a:p>
          <a:p>
            <a:pPr marL="0" indent="0">
              <a:buNone/>
            </a:pPr>
            <a:r>
              <a:rPr lang="fr-FR" dirty="0"/>
              <a:t>Embolie pulmonaire: douleur basithoracique </a:t>
            </a:r>
          </a:p>
          <a:p>
            <a:pPr marL="0" indent="0">
              <a:buNone/>
            </a:pPr>
            <a:r>
              <a:rPr lang="fr-FR" dirty="0"/>
              <a:t>Dissection: douleur intense et brutale type déchirure irradiation dorsale</a:t>
            </a:r>
          </a:p>
        </p:txBody>
      </p:sp>
    </p:spTree>
    <p:extLst>
      <p:ext uri="{BB962C8B-B14F-4D97-AF65-F5344CB8AC3E}">
        <p14:creationId xmlns:p14="http://schemas.microsoft.com/office/powerpoint/2010/main" val="102353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CBB9-C2A8-4F8E-8A25-44C775BB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i="0" dirty="0">
                <a:solidFill>
                  <a:srgbClr val="000000"/>
                </a:solidFill>
                <a:effectLst/>
                <a:latin typeface="TimesNewRomanPS-BoldMT"/>
              </a:rPr>
              <a:t>A)Syndrome coronarien aigu (SCA)</a:t>
            </a:r>
            <a:endParaRPr lang="fr-FR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7845E-75F5-A77C-C2EB-F130707FC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b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Terrain évocateur : facteurs de risque, ATCD coronariens.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Douleur spontanée de repos, ou angor </a:t>
            </a:r>
            <a:r>
              <a:rPr lang="fr-FR" sz="2800" b="0" i="1" dirty="0">
                <a:solidFill>
                  <a:srgbClr val="000000"/>
                </a:solidFill>
                <a:effectLst/>
                <a:latin typeface="TimesNewRomanPS-ItalicMT"/>
              </a:rPr>
              <a:t>de novo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ou angor </a:t>
            </a:r>
            <a:r>
              <a:rPr lang="fr-FR" sz="2800" b="0" i="1" dirty="0">
                <a:solidFill>
                  <a:srgbClr val="000000"/>
                </a:solidFill>
                <a:effectLst/>
                <a:latin typeface="TimesNewRomanPS-ItalicMT"/>
              </a:rPr>
              <a:t>crescendo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, infarctus à évoquer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dès que la durée de la douleur a dépassé 20 minutes, elle est parfois associée à une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dyspnée (10 %).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Caractères de la douleur : douleur coronarienne typique rétrosternale, constrictive… mais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attention aux douleurs atypiques, 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Examen clinique : normal en l’absence de complications, parfois autre localisation de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l’athérosclérose (souffle carotidien ou fémoral, abolition d’un pouls…).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ECG : sus- ou sous-décalage du segment ST, ondes T négatives, ondes Q…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3600" dirty="0">
                <a:solidFill>
                  <a:srgbClr val="FF0000"/>
                </a:solidFill>
              </a:rPr>
              <a:t>Le diagnostic reste clinique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760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9D23-E758-2E53-3D75-433E3555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A44F47-3FB3-727E-4785-2E50D149F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1143000"/>
            <a:ext cx="9294950" cy="4932947"/>
          </a:xfrm>
        </p:spPr>
      </p:pic>
    </p:spTree>
    <p:extLst>
      <p:ext uri="{BB962C8B-B14F-4D97-AF65-F5344CB8AC3E}">
        <p14:creationId xmlns:p14="http://schemas.microsoft.com/office/powerpoint/2010/main" val="7725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0E46-0A07-50C8-5316-83B30B05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i="0" dirty="0">
                <a:solidFill>
                  <a:srgbClr val="000000"/>
                </a:solidFill>
                <a:effectLst/>
                <a:latin typeface="TimesNewRomanPS-BoldMT"/>
              </a:rPr>
              <a:t>B) Dissection aortique</a:t>
            </a:r>
            <a:br>
              <a:rPr lang="fr-FR" sz="44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7F5E-B5DD-376E-C043-FC098F87B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1" y="1540042"/>
            <a:ext cx="10358227" cy="46321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Facteurs favorisants : HTA, syndrome de Marfan</a:t>
            </a:r>
            <a:r>
              <a:rPr lang="fr-FR" sz="2800" dirty="0">
                <a:solidFill>
                  <a:srgbClr val="000000"/>
                </a:solidFill>
                <a:latin typeface="TimesNewRomanPSMT"/>
              </a:rPr>
              <a:t> ..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Caractères de la douleur thoracique : aiguë, prolongée, brutale, intense, à type de déchirure,</a:t>
            </a:r>
            <a:r>
              <a:rPr lang="fr-FR" sz="28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irradiant dans le dos, migratrice, descendant vers les lombes. Elle peut dans les faits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simuler absolument celle de l’infarctus du myocarde.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Cliniquement : asymétrie tensionnelle (différence PAS &gt; 20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NewRomanPSMT"/>
              </a:rPr>
              <a:t>mmHg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) entre les deux bras, abolition d’un pouls, souffle d’insuffisance aortique, déficit neurologique.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Complications parfois révélatrices : AVC, ischémie aiguë de membre, 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infarctus mésentérique avec douleur abdominale trompeuse, hémopéricarde avec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collapsus et pouls paradoxal.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29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AE94-73AB-D218-27E7-8C45DC33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A3F78-82F4-7CF2-2A27-698604CBE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348" y="902752"/>
            <a:ext cx="8212127" cy="5590123"/>
          </a:xfrm>
        </p:spPr>
      </p:pic>
    </p:spTree>
    <p:extLst>
      <p:ext uri="{BB962C8B-B14F-4D97-AF65-F5344CB8AC3E}">
        <p14:creationId xmlns:p14="http://schemas.microsoft.com/office/powerpoint/2010/main" val="253613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7D02-2441-EE03-DF10-9170A22A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0015F-CCE9-D0A3-ECB8-0764F4EC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32" y="1155032"/>
            <a:ext cx="10201816" cy="50171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ECG normal ou SCA si la dissection aortique a lésé une artère coronaire.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Radiographie pulmonaire : élargissement du médiastin, éventuellement épanchement pleural ou aspect de double contour aortique.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Diagnostic confirmé par une échocardiographie complétée d’une ETO ou d’un scanner thoracique (ou angio-IRM).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Touchant l’aorte ascendante = prise en charge chirurgicale en urgence, Aorte descendante =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NewRomanPSMT"/>
              </a:rPr>
              <a:t>trt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fr-FR" sz="2800" dirty="0">
                <a:solidFill>
                  <a:srgbClr val="000000"/>
                </a:solidFill>
                <a:latin typeface="TimesNewRomanPSMT"/>
              </a:rPr>
              <a:t>médical sauf complication</a:t>
            </a:r>
            <a:endParaRPr lang="fr-FR" sz="2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Contrôle de la pression artérielle car c’est une </a:t>
            </a:r>
            <a:r>
              <a:rPr lang="fr-FR" sz="2800" b="0" i="0" dirty="0">
                <a:solidFill>
                  <a:srgbClr val="FF0000"/>
                </a:solidFill>
                <a:effectLst/>
                <a:latin typeface="TimesNewRomanPSMT"/>
              </a:rPr>
              <a:t>urgence hypertensive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93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D852-935C-43BA-6885-4A0ECC4D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i="0" dirty="0">
                <a:solidFill>
                  <a:srgbClr val="000000"/>
                </a:solidFill>
                <a:effectLst/>
                <a:latin typeface="TimesNewRomanPS-BoldMT"/>
              </a:rPr>
              <a:t>C) Embolie pulmonaire</a:t>
            </a:r>
            <a:r>
              <a:rPr lang="fr-FR" sz="3600" dirty="0"/>
              <a:t> </a:t>
            </a:r>
            <a:br>
              <a:rPr lang="fr-FR" sz="3600" dirty="0"/>
            </a:br>
            <a:endParaRPr lang="fr-FR" sz="3600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5CC3D7F-8921-CA9E-CA26-4DAD69C6B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1600200"/>
            <a:ext cx="10370259" cy="4572000"/>
          </a:xfrm>
        </p:spPr>
        <p:txBody>
          <a:bodyPr/>
          <a:lstStyle/>
          <a:p>
            <a:r>
              <a:rPr lang="fr-AF" dirty="0"/>
              <a:t>Urgence souvent mal ou tardivement diagnostiquée</a:t>
            </a:r>
          </a:p>
          <a:p>
            <a:endParaRPr lang="fr-AF" dirty="0"/>
          </a:p>
          <a:p>
            <a:r>
              <a:rPr lang="fr-FR" dirty="0"/>
              <a:t>C</a:t>
            </a:r>
            <a:r>
              <a:rPr lang="fr-AF" dirty="0"/>
              <a:t>e sont les FRTE qui doivent faire évoquer le diagnostic</a:t>
            </a:r>
          </a:p>
          <a:p>
            <a:endParaRPr lang="fr-AF" dirty="0"/>
          </a:p>
          <a:p>
            <a:r>
              <a:rPr lang="fr-AF" dirty="0"/>
              <a:t>Très souvent la conséquence d’une TVP</a:t>
            </a:r>
          </a:p>
          <a:p>
            <a:endParaRPr lang="fr-AF" dirty="0"/>
          </a:p>
          <a:p>
            <a:r>
              <a:rPr lang="fr-AF" dirty="0"/>
              <a:t>La douleur est souvent liée à l’infarctus pulmonaire, elle peut etre en rapport avec une hypoxie et mimer un IDM</a:t>
            </a:r>
          </a:p>
          <a:p>
            <a:endParaRPr lang="fr-AF" dirty="0"/>
          </a:p>
          <a:p>
            <a:r>
              <a:rPr lang="fr-AF" dirty="0"/>
              <a:t>Urgence de PEC</a:t>
            </a:r>
          </a:p>
        </p:txBody>
      </p:sp>
    </p:spTree>
    <p:extLst>
      <p:ext uri="{BB962C8B-B14F-4D97-AF65-F5344CB8AC3E}">
        <p14:creationId xmlns:p14="http://schemas.microsoft.com/office/powerpoint/2010/main" val="302726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9059-2F3E-B18B-5687-50BC6B21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i="0" dirty="0">
                <a:solidFill>
                  <a:srgbClr val="000000"/>
                </a:solidFill>
                <a:effectLst/>
                <a:latin typeface="TimesNewRomanPS-BoldMT"/>
              </a:rPr>
              <a:t>D) Péricardite aiguë</a:t>
            </a:r>
            <a:endParaRPr lang="fr-FR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23AC-9EE7-BEE1-AD76-852AF0EE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Terrain évocateur : contexte viral, fièvre, ou forme récidivante avec antécédent connu de péricardite aiguë bénigne.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Caractères de la douleur : douleur thoracique augmentée à l’inspiration profonde, en décubitus et calmée par l’antéflexion du buste.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Examen clinique : frottement péricardique fugace et inconstant.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ECG : sus-décalage ST concave et diffus ou non systématisé, sous-décalage de PQ,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NewRomanPSMT"/>
              </a:rPr>
              <a:t>microvoltage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722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92B6-20AE-445A-2B9B-50C33018F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BE94-5E4A-7243-7460-88A85A7D9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Radiographie pulmonaire : montre parfois un élargissement de la silhouette cardiaque.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</a:t>
            </a:r>
            <a:r>
              <a:rPr lang="fr-FR" dirty="0">
                <a:solidFill>
                  <a:srgbClr val="000000"/>
                </a:solidFill>
                <a:latin typeface="TimesNewRomanPSMT"/>
              </a:rPr>
              <a:t>L’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échocardiographie peut objectiver un épanchement péricardique, comme elle peut être normale dans la forme sèche.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Étiologie la plus bénigne parmi les autres diagnostics à évoquer (donc c’est un diagnostic d’élimination).</a:t>
            </a:r>
            <a:r>
              <a:rPr lang="fr-FR" dirty="0"/>
              <a:t>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6632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1FDE-7220-9FD6-C9BA-79A55C13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9E0A9-A41E-C65E-B287-AE89DAE72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E13D1-8301-7DCC-886E-6636C61CE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83" y="992963"/>
            <a:ext cx="9219714" cy="487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64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333D-4990-002B-AC95-AFC2EA6B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0DEF5-6FE2-CEE7-9EA1-CD6B51179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CDB19-3166-A5FE-C4C1-9C68787F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32" y="879455"/>
            <a:ext cx="7687949" cy="548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1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7ACB-E022-E89E-FDA7-ED2B8A76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b="1" i="0" dirty="0">
                <a:solidFill>
                  <a:schemeClr val="tx1"/>
                </a:solidFill>
                <a:effectLst/>
                <a:latin typeface="+mn-lt"/>
              </a:rPr>
              <a:t>Dyspnée aigue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1FE8-D1C6-8222-8446-BFA2311F9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b="0" i="0" dirty="0">
                <a:solidFill>
                  <a:srgbClr val="3E3B36"/>
                </a:solidFill>
                <a:effectLst/>
                <a:latin typeface="*Times New Roman-7544-Identity-H"/>
              </a:rPr>
              <a:t>La dyspnée est définie par la sensation subjective de gêne respiratoire.</a:t>
            </a:r>
          </a:p>
          <a:p>
            <a:pPr marL="0" indent="0">
              <a:buNone/>
            </a:pPr>
            <a:endParaRPr lang="fr-FR" sz="2800" b="0" i="0" dirty="0">
              <a:solidFill>
                <a:srgbClr val="3E3B36"/>
              </a:solidFill>
              <a:effectLst/>
              <a:latin typeface="*Times New Roman-7544-Identity-H"/>
            </a:endParaRPr>
          </a:p>
          <a:p>
            <a:r>
              <a:rPr lang="fr-FR" sz="2800" b="0" i="0" dirty="0">
                <a:solidFill>
                  <a:srgbClr val="3E3B36"/>
                </a:solidFill>
                <a:effectLst/>
                <a:latin typeface="*Times New Roman-7544-Identity-H"/>
              </a:rPr>
              <a:t>C’est un </a:t>
            </a:r>
            <a:r>
              <a:rPr lang="fr-FR" sz="2800" b="0" i="0" dirty="0" err="1">
                <a:solidFill>
                  <a:srgbClr val="3E3B36"/>
                </a:solidFill>
                <a:effectLst/>
                <a:latin typeface="*Times New Roman-7544-Identity-H"/>
              </a:rPr>
              <a:t>symptome</a:t>
            </a:r>
            <a:r>
              <a:rPr lang="fr-FR" sz="2800" b="0" i="0" dirty="0">
                <a:solidFill>
                  <a:srgbClr val="3E3B36"/>
                </a:solidFill>
                <a:effectLst/>
                <a:latin typeface="*Times New Roman-7544-Identity-H"/>
              </a:rPr>
              <a:t> commun à plusieurs pathologies cardiaques et extracardiaques</a:t>
            </a:r>
          </a:p>
          <a:p>
            <a:endParaRPr lang="fr-FR" sz="2800" dirty="0">
              <a:solidFill>
                <a:srgbClr val="3E3B36"/>
              </a:solidFill>
              <a:latin typeface="*Times New Roman-7544-Identity-H"/>
            </a:endParaRPr>
          </a:p>
          <a:p>
            <a:r>
              <a:rPr lang="fr-FR" sz="2800" dirty="0">
                <a:solidFill>
                  <a:srgbClr val="3E3B36"/>
                </a:solidFill>
                <a:latin typeface="*Times New Roman-7544-Identity-H"/>
              </a:rPr>
              <a:t>Déterminer les critères de gravité et l’étiologie peut être une tache compliquée mais essentielle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827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526E-485B-4619-2C02-E32F64DB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i="0" dirty="0">
                <a:solidFill>
                  <a:srgbClr val="B3393A"/>
                </a:solidFill>
                <a:effectLst/>
                <a:latin typeface="+mn-lt"/>
              </a:rPr>
              <a:t>CRITERES DE GRAVITE</a:t>
            </a:r>
            <a:r>
              <a:rPr lang="fr-FR" sz="4000" dirty="0">
                <a:latin typeface="+mn-lt"/>
              </a:rPr>
              <a:t> 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92CC-26AC-12E6-0AE6-B8DA0223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200" b="1" i="0" dirty="0">
                <a:effectLst/>
                <a:latin typeface="*Arial-Bold-7548-Identity-H"/>
              </a:rPr>
              <a:t>A. CRITERES RESPIRATOIRES</a:t>
            </a:r>
          </a:p>
          <a:p>
            <a:pPr marL="0" indent="0">
              <a:buNone/>
            </a:pPr>
            <a:br>
              <a:rPr lang="fr-FR" sz="3200" b="1" i="0" dirty="0">
                <a:solidFill>
                  <a:srgbClr val="B3393A"/>
                </a:solidFill>
                <a:effectLst/>
                <a:latin typeface="*Arial-Bold-7548-Identity-H"/>
              </a:rPr>
            </a:br>
            <a:r>
              <a:rPr lang="fr-FR" sz="2800" b="0" i="0" dirty="0">
                <a:solidFill>
                  <a:srgbClr val="373431"/>
                </a:solidFill>
                <a:effectLst/>
                <a:latin typeface="*Times New Roman-7544-Identity-H"/>
              </a:rPr>
              <a:t>• FR&gt; 30/minute ou bradypnée extrême.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373431"/>
                </a:solidFill>
                <a:effectLst/>
                <a:latin typeface="*Times New Roman-7544-Identity-H"/>
              </a:rPr>
            </a:br>
            <a:r>
              <a:rPr lang="fr-FR" sz="2800" b="0" i="0" dirty="0">
                <a:solidFill>
                  <a:srgbClr val="3A3636"/>
                </a:solidFill>
                <a:effectLst/>
                <a:latin typeface="*Times New Roman-7544-Identity-H"/>
              </a:rPr>
              <a:t>• Sa02&lt; 85%.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3A3636"/>
                </a:solidFill>
                <a:effectLst/>
                <a:latin typeface="*Times New Roman-7544-Identity-H"/>
              </a:rPr>
            </a:br>
            <a:r>
              <a:rPr lang="fr-FR" sz="2800" b="0" i="0" dirty="0">
                <a:solidFill>
                  <a:srgbClr val="35312F"/>
                </a:solidFill>
                <a:effectLst/>
                <a:latin typeface="*Times New Roman-7544-Identity-H"/>
              </a:rPr>
              <a:t>• Mise en jeu des muscles respiratoires accessoires (tirage sus-sternal, intercostal et balancement thoraco-abdominal) ou épuisement respiratoire.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35312F"/>
                </a:solidFill>
                <a:effectLst/>
                <a:latin typeface="*Times New Roman-7544-Identity-H"/>
              </a:rPr>
            </a:br>
            <a:r>
              <a:rPr lang="fr-FR" sz="2800" b="0" i="0" dirty="0">
                <a:solidFill>
                  <a:srgbClr val="322E2D"/>
                </a:solidFill>
                <a:effectLst/>
                <a:latin typeface="*Times New Roman-7544-Identity-H"/>
              </a:rPr>
              <a:t>• Cyanose distale ou des lèvres.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34302F"/>
                </a:solidFill>
                <a:effectLst/>
                <a:latin typeface="*Times New Roman-7544-Identity-H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3534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F8F-2ED8-8D6C-6EA9-AEA46532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79211-7F2E-3EF1-AC8E-09609521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*Arial-Bold-7548-Identity-H"/>
                <a:ea typeface="+mn-ea"/>
                <a:cs typeface="+mn-cs"/>
              </a:rPr>
              <a:t>B. CRITERES CIRCULATOIRES</a:t>
            </a:r>
          </a:p>
          <a:p>
            <a:pPr marL="0" indent="0">
              <a:buNone/>
            </a:pPr>
            <a:br>
              <a:rPr kumimoji="0" lang="fr-FR" sz="2700" b="1" i="0" u="none" strike="noStrike" kern="1200" cap="none" spc="0" normalizeH="0" baseline="0" noProof="0" dirty="0">
                <a:ln>
                  <a:noFill/>
                </a:ln>
                <a:solidFill>
                  <a:srgbClr val="B33836"/>
                </a:solidFill>
                <a:effectLst/>
                <a:uLnTx/>
                <a:uFillTx/>
                <a:latin typeface="*Arial-Bold-7548-Identity-H"/>
                <a:ea typeface="+mn-ea"/>
                <a:cs typeface="+mn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6312F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• FC&gt; 120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6312F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batt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6312F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/minute, Hypotension, état de choc hémodynamique.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6312F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</a:b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22F2C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</a:b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*Arial-Bold-7548-Identity-H"/>
                <a:ea typeface="+mn-ea"/>
                <a:cs typeface="+mn-cs"/>
              </a:rPr>
              <a:t>C. CRITERES NEUROLOGIQUES</a:t>
            </a:r>
          </a:p>
          <a:p>
            <a:pPr marL="0" indent="0">
              <a:buNone/>
            </a:pPr>
            <a:br>
              <a:rPr kumimoji="0" lang="fr-FR" sz="2700" b="1" i="0" u="none" strike="noStrike" kern="1200" cap="none" spc="0" normalizeH="0" baseline="0" noProof="0" dirty="0">
                <a:ln>
                  <a:noFill/>
                </a:ln>
                <a:solidFill>
                  <a:srgbClr val="B03434"/>
                </a:solidFill>
                <a:effectLst/>
                <a:uLnTx/>
                <a:uFillTx/>
                <a:latin typeface="*Arial-Bold-7548-Identity-H"/>
                <a:ea typeface="+mn-ea"/>
                <a:cs typeface="+mn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32C2A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• Sueurs, Troubles de conscience, Flapping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2C2A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tremor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332C2A"/>
                </a:solidFill>
                <a:effectLst/>
                <a:uLnTx/>
                <a:uFillTx/>
                <a:latin typeface="*Times New Roman-7544-Identity-H"/>
                <a:ea typeface="+mn-ea"/>
                <a:cs typeface="+mn-cs"/>
              </a:rPr>
              <a:t> (en rapport avec l'hypercapnie).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380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616B-7158-A02C-DF74-9CFECDDE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Analyse séméiologique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ECDD-B158-7AE5-E781-1EA0D8CB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000" b="1" dirty="0"/>
              <a:t>1) Interrogatoire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Apprécier le terrain : antécédents, comorbidités, traitement en cours. </a:t>
            </a:r>
          </a:p>
          <a:p>
            <a:pPr marL="0" indent="0">
              <a:buNone/>
            </a:pPr>
            <a:r>
              <a:rPr lang="fr-FR" dirty="0"/>
              <a:t>Caractériser la dyspnée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 rapidité d’installation : aiguë ou chronique ;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 circonstances de survenue : </a:t>
            </a:r>
          </a:p>
          <a:p>
            <a:pPr marL="0" indent="0">
              <a:buNone/>
            </a:pPr>
            <a:r>
              <a:rPr lang="fr-FR" dirty="0"/>
              <a:t>– repos ou effort, </a:t>
            </a:r>
          </a:p>
          <a:p>
            <a:pPr marL="0" indent="0">
              <a:buNone/>
            </a:pPr>
            <a:r>
              <a:rPr lang="fr-FR" dirty="0"/>
              <a:t>– position : décubitus (orthopnée) ou orthostatisme (</a:t>
            </a:r>
            <a:r>
              <a:rPr lang="fr-FR" dirty="0" err="1"/>
              <a:t>platypnée</a:t>
            </a:r>
            <a:r>
              <a:rPr lang="fr-FR" dirty="0"/>
              <a:t>),</a:t>
            </a:r>
          </a:p>
          <a:p>
            <a:pPr marL="0" indent="0">
              <a:buNone/>
            </a:pPr>
            <a:r>
              <a:rPr lang="fr-FR" dirty="0"/>
              <a:t> – facteurs saisonniers, climatiques, environnementaux ou toxiques déclenchant la dyspnée, </a:t>
            </a:r>
          </a:p>
          <a:p>
            <a:pPr marL="0" indent="0">
              <a:buNone/>
            </a:pPr>
            <a:r>
              <a:rPr lang="fr-FR" dirty="0"/>
              <a:t>– horaire</a:t>
            </a:r>
          </a:p>
        </p:txBody>
      </p:sp>
    </p:spTree>
    <p:extLst>
      <p:ext uri="{BB962C8B-B14F-4D97-AF65-F5344CB8AC3E}">
        <p14:creationId xmlns:p14="http://schemas.microsoft.com/office/powerpoint/2010/main" val="253371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7935-29F7-2A94-863F-461A1EC6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5E0DD-463C-F897-F318-C4206F4F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Évaluer l’intensité :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• la classification de New York </a:t>
            </a:r>
            <a:r>
              <a:rPr lang="fr-FR" dirty="0" err="1"/>
              <a:t>Heart</a:t>
            </a:r>
            <a:r>
              <a:rPr lang="fr-FR" dirty="0"/>
              <a:t> Association (NYHA) est la plus utilisée : </a:t>
            </a:r>
          </a:p>
          <a:p>
            <a:pPr marL="0" indent="0">
              <a:buNone/>
            </a:pPr>
            <a:r>
              <a:rPr lang="fr-FR" dirty="0"/>
              <a:t>– </a:t>
            </a:r>
            <a:r>
              <a:rPr lang="fr-FR" b="1" dirty="0"/>
              <a:t>stade I </a:t>
            </a:r>
            <a:r>
              <a:rPr lang="fr-FR" dirty="0"/>
              <a:t>: absence de dyspnée pour les efforts habituels : aucune gêne n’est ressentie dans la vie courante,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– </a:t>
            </a:r>
            <a:r>
              <a:rPr lang="fr-FR" b="1" dirty="0"/>
              <a:t>stade II </a:t>
            </a:r>
            <a:r>
              <a:rPr lang="fr-FR" dirty="0"/>
              <a:t>: dyspnée pour des efforts importants habituels, tels que la marche rapide ou en côte ou la montée des escaliers (≥ 2 étages),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– </a:t>
            </a:r>
            <a:r>
              <a:rPr lang="fr-FR" b="1" dirty="0"/>
              <a:t>stade III </a:t>
            </a:r>
            <a:r>
              <a:rPr lang="fr-FR" dirty="0"/>
              <a:t>: dyspnée pour des efforts peu intenses de la vie courante, tels que la marche en terrain plat ou la montée des escaliers (&lt; 2 étages),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– </a:t>
            </a:r>
            <a:r>
              <a:rPr lang="fr-FR" b="1" dirty="0"/>
              <a:t>stade IV </a:t>
            </a:r>
            <a:r>
              <a:rPr lang="fr-FR" dirty="0"/>
              <a:t>: dyspnée permanente de repos ou pour des efforts minimes (enfiler un vêtement, par exemple) ;</a:t>
            </a:r>
          </a:p>
        </p:txBody>
      </p:sp>
    </p:spTree>
    <p:extLst>
      <p:ext uri="{BB962C8B-B14F-4D97-AF65-F5344CB8AC3E}">
        <p14:creationId xmlns:p14="http://schemas.microsoft.com/office/powerpoint/2010/main" val="604196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9119-7837-E9AF-6F2E-4F13148F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2) Examen clinique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27EDA-2468-AA23-A66F-7683D00D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Caractériser la dyspnée 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• Déterminer la phase du cycle respiratoire concerné : dyspnée inspiratoire, expiratoire ou aux deux temps.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</a:t>
            </a:r>
            <a:r>
              <a:rPr lang="fr-FR" b="1" dirty="0"/>
              <a:t> Évaluer :</a:t>
            </a:r>
          </a:p>
          <a:p>
            <a:pPr marL="0" indent="0">
              <a:buNone/>
            </a:pPr>
            <a:r>
              <a:rPr lang="fr-FR" dirty="0"/>
              <a:t> – la fréquence respiratoire : tachypnée (&gt; 20 cycles/min), bradypnée (&lt; 10 cycles/min) 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– le rythme respiratoire : régulier ou irrégulier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– l’intensité : polypnée (respiration rapide et superficielle), hypopnée ou </a:t>
            </a:r>
            <a:r>
              <a:rPr lang="fr-FR" dirty="0" err="1"/>
              <a:t>oligopnée</a:t>
            </a:r>
            <a:r>
              <a:rPr lang="fr-FR" dirty="0"/>
              <a:t> (diminution de la ventilation) = extrême gravité</a:t>
            </a:r>
          </a:p>
        </p:txBody>
      </p:sp>
    </p:spTree>
    <p:extLst>
      <p:ext uri="{BB962C8B-B14F-4D97-AF65-F5344CB8AC3E}">
        <p14:creationId xmlns:p14="http://schemas.microsoft.com/office/powerpoint/2010/main" val="2306178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35AD-B6A6-3704-D314-3B739B9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09433-7E40-0476-FEB0-17967922B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Rechercher des éléments d’orientation étiologique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• Recherche de signes généraux : fièvre, frissons, amaigrissement…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 Auscultation pulmonaire : normale, crépitants, sibilants…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 Examens :</a:t>
            </a:r>
          </a:p>
          <a:p>
            <a:pPr marL="0" indent="0">
              <a:buNone/>
            </a:pPr>
            <a:r>
              <a:rPr lang="fr-FR" dirty="0"/>
              <a:t> – cardiovasculaire complet à la recherche, en particulier, de signe d’insuffisance cardiaque et de signes de thrombose veineuse profonde;</a:t>
            </a:r>
          </a:p>
          <a:p>
            <a:pPr marL="0" indent="0">
              <a:buNone/>
            </a:pPr>
            <a:r>
              <a:rPr lang="fr-FR" dirty="0"/>
              <a:t> – ORL ; </a:t>
            </a:r>
          </a:p>
          <a:p>
            <a:pPr marL="0" indent="0">
              <a:buNone/>
            </a:pPr>
            <a:r>
              <a:rPr lang="fr-FR" dirty="0"/>
              <a:t>– thyroïdien ;</a:t>
            </a:r>
          </a:p>
          <a:p>
            <a:pPr marL="0" indent="0">
              <a:buNone/>
            </a:pPr>
            <a:r>
              <a:rPr lang="fr-FR" dirty="0"/>
              <a:t> – neuromusculaire.</a:t>
            </a:r>
          </a:p>
        </p:txBody>
      </p:sp>
    </p:spTree>
    <p:extLst>
      <p:ext uri="{BB962C8B-B14F-4D97-AF65-F5344CB8AC3E}">
        <p14:creationId xmlns:p14="http://schemas.microsoft.com/office/powerpoint/2010/main" val="4126354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7613-F513-85FC-E878-DCB14445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606BA-2DA5-835E-4CEA-1C4041DE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867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/>
              <a:t>Examens complémentaires à discuter en première intention : 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Radiographie du thorax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rechercher une anomalie de la paroi thoracique, une anomalie pleurale, parenchymateuse pulmonaire, médiastinale, une cardiomégalie.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 reste dépend de l’orientation initiale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116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8931-7DD2-8A12-14D0-ECF791BC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38CE-12DE-B25A-4A6A-253926BBB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084" y="1287379"/>
            <a:ext cx="10334164" cy="48848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r>
              <a:rPr lang="fr-FR" sz="2400" b="1" dirty="0"/>
              <a:t>Gazométrie artérielle : </a:t>
            </a:r>
          </a:p>
          <a:p>
            <a:pPr marL="0" indent="0">
              <a:buNone/>
            </a:pPr>
            <a:r>
              <a:rPr lang="fr-FR" sz="2400" dirty="0"/>
              <a:t>apprécie la gravité (hypoxémie et hypercapnie témoignant d’une insuffisance respiratoire), parfois orientation étiologique. Attention, une SpO2 &lt; 90 % témoigne d’une hypoxémie et indique l’administration d’oxygène.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 •</a:t>
            </a:r>
            <a:r>
              <a:rPr lang="fr-FR" sz="2400" b="1" dirty="0"/>
              <a:t> Électrocardiogramme </a:t>
            </a:r>
            <a:r>
              <a:rPr lang="fr-FR" sz="2400" dirty="0"/>
              <a:t>: rechercher des signes en faveur d’une embolie pulmonaire, d’une coronaropathie, un trouble du rythme… </a:t>
            </a:r>
          </a:p>
          <a:p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Bilan biologique 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indent="0">
              <a:buNone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numération formule plaquettaire, ionogramme sanguin, glycémie, BNP (</a:t>
            </a:r>
            <a:r>
              <a:rPr kumimoji="0" lang="fr-FR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brain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natriuretic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peptide), D-dimères (en cas de suspicion d’embolie pulmonaire).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725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Image 1">
            <a:extLst>
              <a:ext uri="{FF2B5EF4-FFF2-40B4-BE49-F238E27FC236}">
                <a16:creationId xmlns:a16="http://schemas.microsoft.com/office/drawing/2014/main" id="{06AE3736-D3E4-AD40-EE35-2D878C861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5400"/>
            <a:ext cx="9280525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A540-DB7B-496B-56D2-6ED79DD2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46" y="0"/>
            <a:ext cx="10058400" cy="1609344"/>
          </a:xfrm>
        </p:spPr>
        <p:txBody>
          <a:bodyPr>
            <a:normAutofit/>
          </a:bodyPr>
          <a:lstStyle/>
          <a:p>
            <a:r>
              <a:rPr lang="fr-FR" sz="3600" b="1" i="0" dirty="0">
                <a:solidFill>
                  <a:srgbClr val="B73736"/>
                </a:solidFill>
                <a:effectLst/>
                <a:latin typeface="*Arial-Bold-5912-Identity-H"/>
              </a:rPr>
              <a:t>Principales </a:t>
            </a:r>
            <a:r>
              <a:rPr lang="fr-FR" sz="3600" b="1" i="0" dirty="0" err="1">
                <a:solidFill>
                  <a:srgbClr val="B73736"/>
                </a:solidFill>
                <a:effectLst/>
                <a:latin typeface="*Arial-Bold-5912-Identity-H"/>
              </a:rPr>
              <a:t>ORIENTATIONs</a:t>
            </a:r>
            <a:r>
              <a:rPr lang="fr-FR" sz="3600" b="1" i="0" dirty="0">
                <a:solidFill>
                  <a:srgbClr val="B73736"/>
                </a:solidFill>
                <a:effectLst/>
                <a:latin typeface="*Arial-Bold-5912-Identity-H"/>
              </a:rPr>
              <a:t> </a:t>
            </a:r>
            <a:r>
              <a:rPr lang="fr-FR" sz="3600" b="1" i="0" dirty="0" err="1">
                <a:solidFill>
                  <a:srgbClr val="B73736"/>
                </a:solidFill>
                <a:effectLst/>
                <a:latin typeface="*Arial-Bold-5912-Identity-H"/>
              </a:rPr>
              <a:t>ETIOLOGIQUEs</a:t>
            </a:r>
            <a:r>
              <a:rPr lang="fr-FR" sz="3600" b="1" i="0" dirty="0">
                <a:solidFill>
                  <a:srgbClr val="B73736"/>
                </a:solidFill>
                <a:effectLst/>
                <a:latin typeface="*Arial-Bold-5912-Identity-H"/>
              </a:rPr>
              <a:t> :</a:t>
            </a:r>
            <a:br>
              <a:rPr lang="fr-FR" dirty="0"/>
            </a:b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47935A-4462-13A3-B347-3C6A0CC2B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46" y="1055548"/>
            <a:ext cx="10702776" cy="5234787"/>
          </a:xfrm>
        </p:spPr>
      </p:pic>
    </p:spTree>
    <p:extLst>
      <p:ext uri="{BB962C8B-B14F-4D97-AF65-F5344CB8AC3E}">
        <p14:creationId xmlns:p14="http://schemas.microsoft.com/office/powerpoint/2010/main" val="865327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66D4-FC82-61C8-53F2-D74F5D26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7762-4EBB-6576-F280-72678640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7BC0C-8B16-731F-DA0B-9E1145C9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05" y="1585898"/>
            <a:ext cx="10168864" cy="46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06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7EC9-5E2E-BCA5-80F1-88FD96A29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829"/>
            <a:ext cx="10515600" cy="511113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lphaUcParenR"/>
            </a:pPr>
            <a:r>
              <a:rPr lang="fr-FR" sz="2400" b="1" dirty="0"/>
              <a:t>Étiologies d’origine cardiaque </a:t>
            </a:r>
          </a:p>
          <a:p>
            <a:pPr marL="0" indent="0">
              <a:buNone/>
            </a:pPr>
            <a:endParaRPr lang="fr-FR" sz="2400" b="1" dirty="0"/>
          </a:p>
          <a:p>
            <a:pPr marL="0" indent="0">
              <a:buNone/>
            </a:pPr>
            <a:endParaRPr lang="fr-FR" sz="1600" b="1" dirty="0"/>
          </a:p>
          <a:p>
            <a:pPr marL="514350" indent="-514350">
              <a:buAutoNum type="arabicParenR"/>
            </a:pPr>
            <a:r>
              <a:rPr lang="fr-FR" sz="2400" b="1" dirty="0"/>
              <a:t>Œdème aigu du poumon</a:t>
            </a:r>
          </a:p>
          <a:p>
            <a:pPr marL="0" indent="0">
              <a:buNone/>
            </a:pPr>
            <a:r>
              <a:rPr lang="fr-FR" sz="1600" dirty="0"/>
              <a:t> </a:t>
            </a:r>
            <a:r>
              <a:rPr lang="fr-FR" sz="1800" dirty="0"/>
              <a:t>L’étiologie d’origine cardiaque est la plus fréquente.  Ses principales caractéristiques cliniques sont :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• orthopnée, </a:t>
            </a:r>
            <a:r>
              <a:rPr lang="fr-FR" sz="1800" dirty="0" err="1"/>
              <a:t>wheezing</a:t>
            </a:r>
            <a:r>
              <a:rPr lang="fr-FR" sz="1800" dirty="0"/>
              <a:t> ;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• présence de crépitants bilatéraux à l’auscultation pulmonaire ;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• expectoration rose saumonée ;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• terrain : cardiopathie connue, antécédent d’infarctus, facteurs déclenchants ; </a:t>
            </a:r>
          </a:p>
        </p:txBody>
      </p:sp>
    </p:spTree>
    <p:extLst>
      <p:ext uri="{BB962C8B-B14F-4D97-AF65-F5344CB8AC3E}">
        <p14:creationId xmlns:p14="http://schemas.microsoft.com/office/powerpoint/2010/main" val="570227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8D64-5548-27A6-2323-06D582B1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E203-858F-D355-F81B-CC4ADFBCD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radiographie de thorax : œdème alvéolaire, cardiomégalie 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• ECG : anomalie (onde Q de nécrose), fibrillation auriculaire rapide ;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BNP (ou NT-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proBNP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augmenté.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 réponse à un traitement adapté (diurétique ou trinitrine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i.v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.) peut être un argument rétrospectif en faveur du diagnostic.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3791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A92B-0E19-0E7C-F8BB-821C58FD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55D02-0867-50A7-618C-A59295348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3100" b="1" dirty="0"/>
              <a:t>2) Tamponnade 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• Complication de l’épanchement péricardique. </a:t>
            </a:r>
          </a:p>
          <a:p>
            <a:pPr marL="0" indent="0">
              <a:buNone/>
            </a:pPr>
            <a:r>
              <a:rPr lang="fr-FR" dirty="0"/>
              <a:t>• Orthopnée.</a:t>
            </a:r>
          </a:p>
          <a:p>
            <a:pPr marL="0" indent="0">
              <a:buNone/>
            </a:pPr>
            <a:r>
              <a:rPr lang="fr-FR" dirty="0"/>
              <a:t> • Tachycardie. </a:t>
            </a:r>
          </a:p>
          <a:p>
            <a:pPr marL="0" indent="0">
              <a:buNone/>
            </a:pPr>
            <a:r>
              <a:rPr lang="fr-FR" dirty="0"/>
              <a:t>• Auscultation cardiaque : assourdissement des bruits du cœur. </a:t>
            </a:r>
          </a:p>
          <a:p>
            <a:pPr marL="0" indent="0">
              <a:buNone/>
            </a:pPr>
            <a:r>
              <a:rPr lang="fr-FR" dirty="0"/>
              <a:t>• Auscultation pulmonaire normale. </a:t>
            </a:r>
          </a:p>
          <a:p>
            <a:pPr marL="0" indent="0">
              <a:buNone/>
            </a:pPr>
            <a:r>
              <a:rPr lang="fr-FR" dirty="0"/>
              <a:t>• Turgescence jugulaire. </a:t>
            </a:r>
          </a:p>
          <a:p>
            <a:pPr marL="0" indent="0">
              <a:buNone/>
            </a:pPr>
            <a:r>
              <a:rPr lang="fr-FR" dirty="0"/>
              <a:t>• Pouls paradoxal (diminuant à l’inspiration profonde)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En général, c’est un tableau de collapsus ou d’état de choc avec signes d’insuffisance ventriculaire droite</a:t>
            </a:r>
          </a:p>
        </p:txBody>
      </p:sp>
    </p:spTree>
    <p:extLst>
      <p:ext uri="{BB962C8B-B14F-4D97-AF65-F5344CB8AC3E}">
        <p14:creationId xmlns:p14="http://schemas.microsoft.com/office/powerpoint/2010/main" val="2165066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6341-2AB0-7034-D1BA-BBC65EEB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788CB-5C8C-F100-62BA-83212D08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fr-FR" altLang="fr-FR" sz="20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)Troubles du rythme cardiaque mal tolérés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Troubles du rythme supraventriculaire et tachycardie ventriculaire.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20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4) Choc cardiogénique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dyspnée n’est pas au premier plan, on note un collapsus et des signes d’hypoperfusion.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fr-FR" altLang="fr-FR" sz="20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Embolie pulmonaire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•  Très fréquente, souvent de diagnostic difficile.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•  Rechercher un contexte favorisant (alitement, voyage de longue durée, immobilisation, sous plâtre, contexte postopératoire…).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5694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C611-09F2-E237-7DE8-22AC883C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i="0" dirty="0">
                <a:solidFill>
                  <a:srgbClr val="000000"/>
                </a:solidFill>
                <a:effectLst/>
                <a:latin typeface="TimesNewRomanPS-BoldMT"/>
              </a:rPr>
              <a:t>Orientation diagnostique : douleurs chroniques de cause cardiaque</a:t>
            </a:r>
            <a:br>
              <a:rPr lang="fr-FR" sz="32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endParaRPr lang="fr-FR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93DD-CA1F-C1D9-E2D0-EFD89F21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Angor stable </a:t>
            </a:r>
          </a:p>
          <a:p>
            <a:pPr marL="0" indent="0">
              <a:buNone/>
            </a:pPr>
            <a:endParaRPr lang="fr-FR" dirty="0">
              <a:solidFill>
                <a:srgbClr val="000000"/>
              </a:solidFill>
              <a:latin typeface="TimesNewRomanPSMT"/>
            </a:endParaRPr>
          </a:p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Douleur d’angor d’effort du rétrécissement aortique serré.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Douleur d’angor fonctionnel des tachycardies chroniques comme la fibrillation atriale.</a:t>
            </a: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6142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A47C-89F5-F483-ACD1-838530DD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CE7A-74CD-FB65-CE66-6A89AC2C3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Douleur d’effort de la myocardiopathie obstructive (CMH)</a:t>
            </a:r>
          </a:p>
          <a:p>
            <a:pPr marL="0" indent="0">
              <a:buNone/>
            </a:pPr>
            <a:b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fr-FR" sz="2800" b="0" i="0" dirty="0">
                <a:solidFill>
                  <a:srgbClr val="000000"/>
                </a:solidFill>
                <a:effectLst/>
                <a:latin typeface="TimesNewRomanPSMT"/>
              </a:rPr>
              <a:t>• Certaines hypertensions artérielles pulmonaires sévères donnent des douleurs d’allure angineuse par souffrance ischémique du ventricule droit.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6311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BBDF-B4BC-5EDF-B277-1C9F9121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842"/>
            <a:ext cx="10058400" cy="1609344"/>
          </a:xfrm>
        </p:spPr>
        <p:txBody>
          <a:bodyPr>
            <a:noAutofit/>
          </a:bodyPr>
          <a:lstStyle/>
          <a:p>
            <a:r>
              <a:rPr lang="fr-FR" sz="3200" b="1" i="0" dirty="0">
                <a:solidFill>
                  <a:srgbClr val="000000"/>
                </a:solidFill>
                <a:effectLst/>
                <a:latin typeface="TimesNewRomanPS-BoldMT"/>
              </a:rPr>
              <a:t>Connaître les principales causes extracardiaques d’une douleur thoracique</a:t>
            </a:r>
            <a:r>
              <a:rPr lang="fr-FR" sz="3200" dirty="0"/>
              <a:t> </a:t>
            </a:r>
            <a:br>
              <a:rPr lang="fr-FR" sz="3200" dirty="0"/>
            </a:br>
            <a:endParaRPr lang="fr-FR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7B28-C128-2D27-5C76-194EA99C4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7250"/>
            <a:ext cx="10515600" cy="477333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d’origine pulmonaire</a:t>
            </a:r>
            <a:r>
              <a:rPr lang="fr-FR" sz="7200" b="1" dirty="0"/>
              <a:t> </a:t>
            </a:r>
          </a:p>
          <a:p>
            <a:pPr>
              <a:lnSpc>
                <a:spcPct val="120000"/>
              </a:lnSpc>
            </a:pPr>
            <a:endParaRPr lang="fr-FR" sz="7200" b="1" dirty="0"/>
          </a:p>
          <a:p>
            <a:pPr>
              <a:lnSpc>
                <a:spcPct val="120000"/>
              </a:lnSpc>
            </a:pP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d’origine œsophagienne</a:t>
            </a:r>
            <a:r>
              <a:rPr lang="fr-FR" sz="7200" b="1" dirty="0"/>
              <a:t> </a:t>
            </a:r>
          </a:p>
          <a:p>
            <a:pPr>
              <a:lnSpc>
                <a:spcPct val="120000"/>
              </a:lnSpc>
            </a:pPr>
            <a:endParaRPr lang="fr-FR" sz="7200" b="1" dirty="0"/>
          </a:p>
          <a:p>
            <a:pPr>
              <a:lnSpc>
                <a:spcPct val="120000"/>
              </a:lnSpc>
            </a:pP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pariétales d’origine musculaire ou squelettique</a:t>
            </a:r>
          </a:p>
          <a:p>
            <a:pPr>
              <a:lnSpc>
                <a:spcPct val="120000"/>
              </a:lnSpc>
            </a:pPr>
            <a:endParaRPr lang="fr-FR" sz="7200" b="1" i="0" dirty="0">
              <a:solidFill>
                <a:srgbClr val="000000"/>
              </a:solidFill>
              <a:effectLst/>
              <a:latin typeface="TimesNewRomanPS-BoldMT"/>
            </a:endParaRPr>
          </a:p>
          <a:p>
            <a:pPr>
              <a:lnSpc>
                <a:spcPct val="120000"/>
              </a:lnSpc>
            </a:pP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d’origine neurologique</a:t>
            </a:r>
          </a:p>
          <a:p>
            <a:pPr>
              <a:lnSpc>
                <a:spcPct val="120000"/>
              </a:lnSpc>
            </a:pPr>
            <a:endParaRPr lang="fr-FR" sz="7200" b="1" i="0" dirty="0">
              <a:solidFill>
                <a:srgbClr val="000000"/>
              </a:solidFill>
              <a:effectLst/>
              <a:latin typeface="TimesNewRomanPS-BoldMT"/>
            </a:endParaRPr>
          </a:p>
          <a:p>
            <a:pPr>
              <a:lnSpc>
                <a:spcPct val="120000"/>
              </a:lnSpc>
            </a:pPr>
            <a:r>
              <a:rPr lang="fr-FR" sz="7200" b="1" dirty="0"/>
              <a:t> </a:t>
            </a: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d’origine abdominale projetées</a:t>
            </a:r>
            <a:r>
              <a:rPr lang="fr-FR" sz="7200" b="1" dirty="0"/>
              <a:t> </a:t>
            </a:r>
          </a:p>
          <a:p>
            <a:pPr>
              <a:lnSpc>
                <a:spcPct val="120000"/>
              </a:lnSpc>
            </a:pPr>
            <a:endParaRPr lang="fr-FR" sz="7200" b="1" dirty="0"/>
          </a:p>
          <a:p>
            <a:pPr>
              <a:lnSpc>
                <a:spcPct val="120000"/>
              </a:lnSpc>
            </a:pPr>
            <a:r>
              <a:rPr lang="fr-FR" sz="7200" b="1" i="0" dirty="0">
                <a:solidFill>
                  <a:srgbClr val="000000"/>
                </a:solidFill>
                <a:effectLst/>
                <a:latin typeface="TimesNewRomanPS-BoldMT"/>
              </a:rPr>
              <a:t>Douleurs d’origine psychogène</a:t>
            </a:r>
            <a:r>
              <a:rPr lang="fr-FR" sz="7200" b="1" dirty="0"/>
              <a:t> </a:t>
            </a:r>
            <a:br>
              <a:rPr lang="fr-FR" b="1" dirty="0"/>
            </a:br>
            <a:br>
              <a:rPr lang="fr-FR" dirty="0"/>
            </a:br>
            <a:br>
              <a:rPr lang="fr-FR" dirty="0"/>
            </a:br>
            <a:br>
              <a:rPr lang="fr-FR" sz="2800" b="1" i="0" dirty="0">
                <a:solidFill>
                  <a:srgbClr val="000000"/>
                </a:solidFill>
                <a:effectLst/>
                <a:latin typeface="TimesNewRomanPS-BoldMT"/>
              </a:rPr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8414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04B-DEED-499F-194F-132542B2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</a:t>
            </a:r>
            <a:r>
              <a:rPr lang="fr-FR" dirty="0" err="1"/>
              <a:t>hemoptysie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8657F07-06BB-7969-39F0-7A01F220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AF" dirty="0"/>
              <a:t>Cest le rejet buccal, lors d’un effort de toux, de sang provenant des voies aériennes sous glottiques.</a:t>
            </a:r>
          </a:p>
          <a:p>
            <a:endParaRPr lang="fr-AF" dirty="0"/>
          </a:p>
          <a:p>
            <a:r>
              <a:rPr lang="fr-AF" dirty="0"/>
              <a:t>Etiologies nombreuses, principalement pulmonaires</a:t>
            </a:r>
          </a:p>
          <a:p>
            <a:endParaRPr lang="fr-AF" dirty="0"/>
          </a:p>
          <a:p>
            <a:r>
              <a:rPr lang="fr-AF" dirty="0"/>
              <a:t>L’embolie pulmonaire avec infarcissement en est une</a:t>
            </a:r>
          </a:p>
          <a:p>
            <a:endParaRPr lang="fr-AF" dirty="0"/>
          </a:p>
          <a:p>
            <a:r>
              <a:rPr lang="fr-AF" dirty="0"/>
              <a:t>Selon l’abondance elle peut constituer une urgence</a:t>
            </a:r>
          </a:p>
          <a:p>
            <a:endParaRPr lang="fr-AF" dirty="0"/>
          </a:p>
          <a:p>
            <a:r>
              <a:rPr lang="fr-AF" dirty="0"/>
              <a:t>Selon l’etiologie elle peut être grave</a:t>
            </a:r>
          </a:p>
        </p:txBody>
      </p:sp>
    </p:spTree>
    <p:extLst>
      <p:ext uri="{BB962C8B-B14F-4D97-AF65-F5344CB8AC3E}">
        <p14:creationId xmlns:p14="http://schemas.microsoft.com/office/powerpoint/2010/main" val="1313078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{DF9A3276-A36D-3948-875A-618DCA0BE8F1}tf10001070</Template>
  <TotalTime>7411</TotalTime>
  <Words>1799</Words>
  <Application>Microsoft Macintosh PowerPoint</Application>
  <PresentationFormat>Grand écran</PresentationFormat>
  <Paragraphs>221</Paragraphs>
  <Slides>37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51" baseType="lpstr">
      <vt:lpstr>*Arial-Bold-5912-Identity-H</vt:lpstr>
      <vt:lpstr>*Arial-Bold-7548-Identity-H</vt:lpstr>
      <vt:lpstr>*Times New Roman-7544-Identity-H</vt:lpstr>
      <vt:lpstr>Arial</vt:lpstr>
      <vt:lpstr>Calibri</vt:lpstr>
      <vt:lpstr>Rockwell</vt:lpstr>
      <vt:lpstr>Rockwell Condensed</vt:lpstr>
      <vt:lpstr>Rockwell Extra Bold</vt:lpstr>
      <vt:lpstr>Times New Roman</vt:lpstr>
      <vt:lpstr>TimesNewRomanPS-BoldMT</vt:lpstr>
      <vt:lpstr>TimesNewRomanPS-ItalicMT</vt:lpstr>
      <vt:lpstr>TimesNewRomanPSMT</vt:lpstr>
      <vt:lpstr>Wingdings</vt:lpstr>
      <vt:lpstr>Type de bois</vt:lpstr>
      <vt:lpstr>CAT devant la douleur thoracique, la dyspnée et l’hémoptysie</vt:lpstr>
      <vt:lpstr>Plan</vt:lpstr>
      <vt:lpstr>Objectifs pédagogiques: </vt:lpstr>
      <vt:lpstr>Douleur thoracique aigue</vt:lpstr>
      <vt:lpstr>Présentation PowerPoint</vt:lpstr>
      <vt:lpstr>Présentation PowerPoint</vt:lpstr>
      <vt:lpstr>Présentation PowerPoint</vt:lpstr>
      <vt:lpstr>A)Syndrome coronarien aigu (SCA)</vt:lpstr>
      <vt:lpstr>Présentation PowerPoint</vt:lpstr>
      <vt:lpstr>B) Dissection aortique </vt:lpstr>
      <vt:lpstr>Présentation PowerPoint</vt:lpstr>
      <vt:lpstr>Présentation PowerPoint</vt:lpstr>
      <vt:lpstr>C) Embolie pulmonaire  </vt:lpstr>
      <vt:lpstr>D) Péricardite aiguë</vt:lpstr>
      <vt:lpstr>Présentation PowerPoint</vt:lpstr>
      <vt:lpstr>Présentation PowerPoint</vt:lpstr>
      <vt:lpstr>Présentation PowerPoint</vt:lpstr>
      <vt:lpstr>Dyspnée aigue </vt:lpstr>
      <vt:lpstr>CRITERES DE GRAVITE  </vt:lpstr>
      <vt:lpstr>Présentation PowerPoint</vt:lpstr>
      <vt:lpstr>Analyse séméiologique</vt:lpstr>
      <vt:lpstr>Présentation PowerPoint</vt:lpstr>
      <vt:lpstr>2) Examen clinique</vt:lpstr>
      <vt:lpstr>Présentation PowerPoint</vt:lpstr>
      <vt:lpstr>Présentation PowerPoint</vt:lpstr>
      <vt:lpstr>Présentation PowerPoint</vt:lpstr>
      <vt:lpstr>Présentation PowerPoint</vt:lpstr>
      <vt:lpstr>Principales ORIENTATIONs ETIOLOGIQUEs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Orientation diagnostique : douleurs chroniques de cause cardiaque </vt:lpstr>
      <vt:lpstr>Présentation PowerPoint</vt:lpstr>
      <vt:lpstr>Connaître les principales causes extracardiaques d’une douleur thoracique  </vt:lpstr>
      <vt:lpstr>L’hemoptysie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devant la douleur thoracique, la dyspnée et l’hémoptysie</dc:title>
  <dc:creator>Atef</dc:creator>
  <cp:lastModifiedBy>kellil.far@gmail.com</cp:lastModifiedBy>
  <cp:revision>61</cp:revision>
  <dcterms:created xsi:type="dcterms:W3CDTF">2024-09-30T19:57:14Z</dcterms:created>
  <dcterms:modified xsi:type="dcterms:W3CDTF">2025-10-02T11:38:58Z</dcterms:modified>
</cp:coreProperties>
</file>