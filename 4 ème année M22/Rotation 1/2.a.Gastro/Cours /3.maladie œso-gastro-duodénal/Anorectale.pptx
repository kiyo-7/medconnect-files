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00" r:id="rId3"/>
    <p:sldId id="261" r:id="rId4"/>
    <p:sldId id="262" r:id="rId5"/>
    <p:sldId id="302" r:id="rId6"/>
    <p:sldId id="299" r:id="rId7"/>
    <p:sldId id="265" r:id="rId8"/>
    <p:sldId id="272" r:id="rId9"/>
    <p:sldId id="273" r:id="rId10"/>
    <p:sldId id="277" r:id="rId11"/>
    <p:sldId id="307" r:id="rId12"/>
    <p:sldId id="303" r:id="rId13"/>
    <p:sldId id="304" r:id="rId14"/>
    <p:sldId id="305" r:id="rId15"/>
    <p:sldId id="306" r:id="rId16"/>
    <p:sldId id="278" r:id="rId17"/>
    <p:sldId id="279" r:id="rId18"/>
    <p:sldId id="280" r:id="rId19"/>
    <p:sldId id="281" r:id="rId20"/>
    <p:sldId id="310" r:id="rId21"/>
    <p:sldId id="301" r:id="rId22"/>
    <p:sldId id="308" r:id="rId23"/>
    <p:sldId id="282" r:id="rId24"/>
    <p:sldId id="283" r:id="rId25"/>
    <p:sldId id="285" r:id="rId26"/>
    <p:sldId id="287" r:id="rId27"/>
    <p:sldId id="288" r:id="rId28"/>
    <p:sldId id="309" r:id="rId29"/>
    <p:sldId id="289" r:id="rId30"/>
    <p:sldId id="290" r:id="rId31"/>
    <p:sldId id="291" r:id="rId32"/>
    <p:sldId id="292" r:id="rId33"/>
    <p:sldId id="293" r:id="rId34"/>
    <p:sldId id="294" r:id="rId35"/>
    <p:sldId id="296" r:id="rId3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WordArt 2"/>
          <p:cNvSpPr>
            <a:spLocks noChangeArrowheads="1" noChangeShapeType="1" noTextEdit="1"/>
          </p:cNvSpPr>
          <p:nvPr/>
        </p:nvSpPr>
        <p:spPr bwMode="auto">
          <a:xfrm>
            <a:off x="3287713" y="2492376"/>
            <a:ext cx="5829300" cy="13684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fr-FR" sz="3600" kern="10">
                <a:ln w="9525">
                  <a:solidFill>
                    <a:schemeClr val="bg1"/>
                  </a:solidFill>
                  <a:round/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 </a:t>
            </a:r>
            <a:endParaRPr lang="fr-FR" sz="3600" kern="10">
              <a:ln w="9525">
                <a:solidFill>
                  <a:schemeClr val="bg1"/>
                </a:solidFill>
                <a:round/>
              </a:ln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1524000" y="212726"/>
            <a:ext cx="9144000" cy="1158875"/>
          </a:xfrm>
        </p:spPr>
        <p:txBody>
          <a:bodyPr rtlCol="0">
            <a:normAutofit fontScale="90000"/>
          </a:bodyPr>
          <a:lstStyle/>
          <a:p>
            <a:pPr algn="ctr"/>
            <a:br>
              <a:rPr lang="fr-FR" sz="2700" b="1" dirty="0" smtClean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fr-FR" sz="2700" b="1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sz="2700" b="1" dirty="0" smtClean="0">
                <a:latin typeface="Times New Roman" panose="02020603050405020304" charset="0"/>
                <a:cs typeface="Times New Roman" panose="02020603050405020304" charset="0"/>
              </a:rPr>
              <a:t>UNIVERSITÉ </a:t>
            </a:r>
            <a:r>
              <a:rPr lang="fr-FR" sz="2700" b="1" dirty="0">
                <a:latin typeface="Times New Roman" panose="02020603050405020304" charset="0"/>
                <a:cs typeface="Times New Roman" panose="02020603050405020304" charset="0"/>
              </a:rPr>
              <a:t>DE CONSTANTINE 3</a:t>
            </a:r>
            <a:br>
              <a:rPr lang="fr-FR" sz="27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sz="2700" b="1" dirty="0">
                <a:latin typeface="Times New Roman" panose="02020603050405020304" charset="0"/>
                <a:cs typeface="Times New Roman" panose="02020603050405020304" charset="0"/>
              </a:rPr>
              <a:t>FACULTÉ DE MÉDECINE </a:t>
            </a:r>
            <a:br>
              <a:rPr lang="fr-FR" sz="2200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fr-FR" sz="2700" dirty="0">
                <a:latin typeface="Times New Roman" panose="02020603050405020304" charset="0"/>
                <a:cs typeface="Times New Roman" panose="02020603050405020304" charset="0"/>
              </a:rPr>
            </a:br>
            <a:endParaRPr lang="fr-FR" sz="27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150125" y="1500188"/>
            <a:ext cx="11859905" cy="5168900"/>
          </a:xfrm>
        </p:spPr>
        <p:txBody>
          <a:bodyPr rtlCol="0">
            <a:normAutofit/>
          </a:bodyPr>
          <a:lstStyle/>
          <a:p>
            <a:pPr marL="0" indent="0" algn="ctr">
              <a:buNone/>
              <a:defRPr/>
            </a:pPr>
            <a:r>
              <a:rPr lang="fr-FR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Cours destiné aux </a:t>
            </a:r>
            <a:r>
              <a:rPr lang="fr-FR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étudiants 4</a:t>
            </a:r>
            <a:r>
              <a:rPr lang="fr-FR" baseline="300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ème</a:t>
            </a:r>
            <a:r>
              <a:rPr lang="fr-FR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année </a:t>
            </a:r>
            <a:r>
              <a:rPr lang="fr-FR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médecine</a:t>
            </a:r>
            <a:endParaRPr lang="fr-FR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r>
              <a:rPr lang="fr-FR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r>
              <a:rPr lang="en-US" altLang="fr-FR" sz="3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PATHOLOGIE ANO-RECTALE BENIGNE</a:t>
            </a:r>
            <a:endParaRPr lang="en-US" altLang="fr-FR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endParaRPr lang="en-US" altLang="fr-FR" sz="32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endParaRPr lang="en-US" altLang="fr-FR" sz="32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r>
              <a:rPr lang="fr-FR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</a:t>
            </a:r>
            <a:r>
              <a:rPr lang="fr-FR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fr-FR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GADDA</a:t>
            </a:r>
            <a:r>
              <a:rPr lang="fr-FR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 M.</a:t>
            </a:r>
            <a:endParaRPr lang="fr-FR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H.M.R.U</a:t>
            </a:r>
            <a:r>
              <a:rPr lang="fr-FR" sz="20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 Constantine</a:t>
            </a:r>
            <a:br>
              <a:rPr lang="fr-FR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Service de Chirurgie </a:t>
            </a:r>
            <a:r>
              <a:rPr lang="fr-FR" sz="20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Générale</a:t>
            </a:r>
            <a:endParaRPr lang="fr-FR" sz="20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r>
              <a:rPr lang="fr-FR" sz="20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Email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fr-FR" sz="20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gaddamounir@gmail.com</a:t>
            </a:r>
            <a:endParaRPr lang="fr-FR" sz="20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  <a:defRPr/>
            </a:pPr>
            <a:r>
              <a:rPr lang="fr-FR" sz="2000" dirty="0" smtClean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Année universitaire 2025-2026</a:t>
            </a:r>
            <a:endParaRPr lang="fr-FR" sz="2000" dirty="0" smtClean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775" y="3429000"/>
            <a:ext cx="3198495" cy="2815590"/>
          </a:xfrm>
          <a:prstGeom prst="rect">
            <a:avLst/>
          </a:prstGeom>
        </p:spPr>
      </p:pic>
      <p:pic>
        <p:nvPicPr>
          <p:cNvPr id="8" name="Image 7"/>
          <p:cNvPicPr/>
          <p:nvPr/>
        </p:nvPicPr>
        <p:blipFill>
          <a:blip r:embed="rId2"/>
          <a:stretch>
            <a:fillRect/>
          </a:stretch>
        </p:blipFill>
        <p:spPr>
          <a:xfrm>
            <a:off x="9117330" y="3378835"/>
            <a:ext cx="2698750" cy="3479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02945"/>
          </a:xfrm>
        </p:spPr>
        <p:txBody>
          <a:bodyPr>
            <a:normAutofit fontScale="90000"/>
          </a:bodyPr>
          <a:p>
            <a:pPr algn="ctr"/>
            <a:br>
              <a:rPr lang="en-US" altLang="fr-FR">
                <a:sym typeface="+mn-ea"/>
              </a:rPr>
            </a:br>
            <a:r>
              <a:rPr lang="en-US" altLang="fr-FR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</a:t>
            </a:r>
            <a:br>
              <a:rPr lang="en-US" altLang="fr-FR" sz="4000">
                <a:latin typeface="Times New Roman" panose="02020603050405020304" charset="0"/>
                <a:cs typeface="Times New Roman" panose="02020603050405020304" charset="0"/>
              </a:rPr>
            </a:br>
            <a:endParaRPr lang="en-US" altLang="fr-FR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Pathologie fr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quent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Regroupant: 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fistule an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ale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maladie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daire, fissure anale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L’immense majorit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des motifs de consultation en proctologie est repr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 par la pathologie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daire en premier lieu, la fissure anale et les suppurations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 premier rang desquelles se trouvent les fistules anop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).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Touche tous les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ges: surtout l’adulte jeune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Autres affections rares: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kyste pilonida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provoquent des douleurs et des saignements.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59765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RAPPEL ANATOMIQUE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5575" y="1289685"/>
            <a:ext cx="11804650" cy="5235575"/>
          </a:xfrm>
        </p:spPr>
        <p:txBody>
          <a:bodyPr>
            <a:normAutofit fontScale="25000"/>
          </a:bodyPr>
          <a:p>
            <a:endParaRPr lang="en-US" altLang="fr-FR"/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 canal anale est la partie terminale du tube digestif, dont la fonction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principale est 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altLang="en-US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d’assurerer la continence par l’intermediaire de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l’apareill sphinct</a:t>
            </a:r>
            <a:r>
              <a:rPr lang="en-US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 canal anale se divise par la ligne pectin</a:t>
            </a:r>
            <a:r>
              <a:rPr lang="en-US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en: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</a:t>
            </a:r>
            <a:r>
              <a:rPr lang="en-US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tage sus pectineal ou sus valvulaire: 2/3superieur, 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riche en plexus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</a:t>
            </a:r>
            <a:r>
              <a:rPr lang="en-US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daires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• Etage sous valvulaire: zone sensible glandes anales 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d’HERMEN et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DESFOSSE 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s’ouvrent dans les cryptes de Morgani et c’est 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 voie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 passage de l’infection</a:t>
            </a:r>
            <a:r>
              <a:rPr lang="fr-FR" altLang="en-US" sz="9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fr-FR" sz="9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7224395" y="2451735"/>
            <a:ext cx="4735830" cy="42856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20725"/>
          </a:xfrm>
        </p:spPr>
        <p:txBody>
          <a:bodyPr>
            <a:normAutofit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RAPPEL ANATOMIQUE</a:t>
            </a:r>
            <a:endParaRPr lang="fr-FR" altLang="en-US" sz="40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13690" y="1188720"/>
            <a:ext cx="11550650" cy="5402580"/>
          </a:xfrm>
        </p:spPr>
        <p:txBody>
          <a:bodyPr>
            <a:norm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Vascularisation: art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rielle sous muqueuse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dal et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veineuse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surtout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</a:t>
            </a:r>
            <a:endParaRPr lang="fr-FR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les veines h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dales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sont les veines qui drainent le canal anal et sont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fr-FR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regroup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 en deux r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seaux:</a:t>
            </a: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Sup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rieur (sous muqueux) qui se jette dans le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syst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è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 porte par la veine </a:t>
            </a: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</a:pP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sent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rique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inf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rieure.</a:t>
            </a: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Inf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rieur (sous cutan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) qui d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pend du syst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è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</a:t>
            </a: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cave par la veine iliaque </a:t>
            </a: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fr-FR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interne.</a:t>
            </a: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en-US" altLang="fr-FR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fr-F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0020" y="383540"/>
            <a:ext cx="3384550" cy="5359400"/>
          </a:xfrm>
          <a:prstGeom prst="rect">
            <a:avLst/>
          </a:prstGeom>
        </p:spPr>
      </p:pic>
      <p:pic>
        <p:nvPicPr>
          <p:cNvPr id="5" name="Imag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074795" y="383540"/>
            <a:ext cx="3707765" cy="5741035"/>
          </a:xfrm>
          <a:prstGeom prst="rect">
            <a:avLst/>
          </a:prstGeom>
        </p:spPr>
      </p:pic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781925" y="383540"/>
            <a:ext cx="3850640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01295"/>
            <a:ext cx="10515600" cy="527050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7965" y="839470"/>
            <a:ext cx="11703685" cy="5829935"/>
          </a:xfrm>
        </p:spPr>
        <p:txBody>
          <a:bodyPr/>
          <a:p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 pathologie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daire repr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sente la premi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 cause de consultation en proctologie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 externes sont à l’origine des thromboses, et les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 internes sont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responsables de saignements et/ou prolapsus.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es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des sont des vaisseaux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sanguins dilat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 et tortueux de la paroi de la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partie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inf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rieure du rectum et de l’anus.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 un ensemble de manifestation pathologiques li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es a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des modifications de causes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diverses du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seau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vasculaire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dal et des tissus de contact de ces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vaisseaux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145" y="4488180"/>
            <a:ext cx="2095500" cy="1992630"/>
          </a:xfrm>
          <a:prstGeom prst="rect">
            <a:avLst/>
          </a:prstGeom>
        </p:spPr>
      </p:pic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305800" y="4676775"/>
            <a:ext cx="2343150" cy="180403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0" y="4821555"/>
            <a:ext cx="3019425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43560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40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4150" y="1087120"/>
            <a:ext cx="11761470" cy="5582285"/>
          </a:xfrm>
        </p:spPr>
        <p:txBody>
          <a:bodyPr/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Diagnostic positif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ouleur anale intense sous forme de crises qui peuvent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disparaitre tous seules, et peuvent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galement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apparaitre.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Sensation de pesanteur anale g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nante.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Sensation de 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mangeaisons anale avec sensation de prurit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anale intense.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Saignement: rectoragies de faible abondance.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30555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40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1305" y="1124585"/>
            <a:ext cx="11647170" cy="5418455"/>
          </a:xfrm>
        </p:spPr>
        <p:txBody>
          <a:bodyPr>
            <a:normAutofit lnSpcReduction="10000"/>
          </a:bodyPr>
          <a:p>
            <a:endParaRPr lang="en-US" altLang="fr-FR"/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 diagnostic est confirm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par l’examen proctologique: patient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en position g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 pectorale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l’examen de l’anus met en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vidence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une dilation veineuse ou prolapsus selon le degr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de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leur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volution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o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 sous forme de tum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faction variqueuse bleut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 en cas de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thrombose qui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est une complication fr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quente.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Anuscopie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classification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Rectosigmoidoscopie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confirme le diagnostique, et rechercher une pathologie sus jacente.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7376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1445" y="1131570"/>
            <a:ext cx="11806555" cy="5561330"/>
          </a:xfrm>
        </p:spPr>
        <p:txBody>
          <a:bodyPr/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Classification </a:t>
            </a:r>
            <a:r>
              <a:rPr lang="fr-FR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clinique</a:t>
            </a:r>
            <a:endParaRPr lang="fr-FR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Grade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1: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 interne non proc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Grade 2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 ext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rioris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et se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spontan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Grade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3: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 prolab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en dehors d’un effort et se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gre par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œ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uvre digitale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Grade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4: prolapsus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daire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permanent, non réductible.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19430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1955" y="984885"/>
            <a:ext cx="11790045" cy="5611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64210"/>
          </a:xfrm>
        </p:spPr>
        <p:txBody>
          <a:bodyPr>
            <a:normAutofit fontScale="90000"/>
          </a:bodyPr>
          <a:p>
            <a:pPr algn="ctr"/>
            <a:br>
              <a:rPr lang="fr-FR" altLang="en-US" sz="311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fr-FR" altLang="en-US" sz="311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b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altLang="en-US" sz="3110">
                <a:latin typeface="Times New Roman" panose="02020603050405020304" charset="0"/>
                <a:cs typeface="Times New Roman" panose="02020603050405020304" charset="0"/>
              </a:rPr>
              <a:t>classification anuscope</a:t>
            </a:r>
            <a:endParaRPr lang="fr-FR" altLang="en-US" sz="311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Espace réservé du contenu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1962785"/>
            <a:ext cx="11179175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48335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6385" y="1298575"/>
            <a:ext cx="10876915" cy="5560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35940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220" y="1073785"/>
            <a:ext cx="11643995" cy="54508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84200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6685" y="1062990"/>
            <a:ext cx="11855450" cy="5471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28345"/>
          </a:xfrm>
        </p:spPr>
        <p:txBody>
          <a:bodyPr>
            <a:normAutofit/>
          </a:bodyPr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77495" y="1244600"/>
            <a:ext cx="11385550" cy="5433060"/>
          </a:xfrm>
        </p:spPr>
        <p:txBody>
          <a:bodyPr/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Complications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Thrombose 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daire: crise douloureuse intense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avec la pr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sence d’un thrombus au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niveau du vaisseaux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morro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ï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mie par rectorragie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3575" y="3250565"/>
            <a:ext cx="4149725" cy="289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80720"/>
          </a:xfrm>
        </p:spPr>
        <p:txBody>
          <a:bodyPr>
            <a:normAutofit/>
          </a:bodyPr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algn="ctr"/>
            <a:r>
              <a:rPr lang="fr-FR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Facteurs favorisants</a:t>
            </a:r>
            <a:endParaRPr lang="fr-FR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Chez la femme: grossesse, post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partum.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Ag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la laxit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des fibres musculaires et des tissus du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rev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tement de la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gion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anale observ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surtout lors du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vieillissement.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Troubles intestinales: la constipation par les efforts intense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ploy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pour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vacuer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les selles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Diarrh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par irritation anale.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Position assise prolong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9375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120" y="1052830"/>
            <a:ext cx="11306175" cy="5592445"/>
          </a:xfrm>
        </p:spPr>
        <p:txBody>
          <a:bodyPr/>
          <a:p>
            <a:pPr algn="ctr"/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Diagnostic diff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rentiel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ancer du rectum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o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olype rectal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o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umeur b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nigne du rectum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61365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HEMORROIDE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8140" y="1406525"/>
            <a:ext cx="11577955" cy="4770755"/>
          </a:xfrm>
        </p:spPr>
        <p:txBody>
          <a:bodyPr>
            <a:normAutofit/>
          </a:bodyPr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Traitement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Traitement m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dicale: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M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esures d’hygiene de vie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gime alimentaire riche en fibre, une bonne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hydratati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on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V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einotoniques, antalgiques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locaux et par voie orale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 laxatifs en cas de constipation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o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T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raitements instrumentaux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par voie endoscopique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P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hotocoagulation infrarouge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L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igature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lastique.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70915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4215" y="1662430"/>
            <a:ext cx="10401300" cy="46450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63600"/>
          </a:xfrm>
        </p:spPr>
        <p:txBody>
          <a:bodyPr>
            <a:normAutofit/>
          </a:bodyPr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endParaRPr lang="fr-FR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3680" y="1395095"/>
            <a:ext cx="11566525" cy="5212080"/>
          </a:xfrm>
        </p:spPr>
        <p:txBody>
          <a:bodyPr>
            <a:normAutofit fontScale="90000"/>
          </a:bodyPr>
          <a:p>
            <a:pPr algn="ctr"/>
            <a:r>
              <a:rPr lang="en-US" altLang="fr-FR" sz="311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Traitement</a:t>
            </a:r>
            <a:endParaRPr lang="en-US" altLang="fr-FR" sz="311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fr-FR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Traitement c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hirurgical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  <a:endParaRPr lang="fr-FR" altLang="en-US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H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dectomie est plus efficace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, douloureuse.</a:t>
            </a:r>
            <a:endParaRPr lang="fr-FR" altLang="en-US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L’intervention de Longo ou la ligature sous contrôle Doppler avec ou sans </a:t>
            </a:r>
            <a:endParaRPr lang="en-US" altLang="fr-FR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mucopexie ont des indications plus restreintes et un taux d’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chec et de r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cidive </a:t>
            </a:r>
            <a:endParaRPr lang="en-US" altLang="fr-FR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plus important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fr-FR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En cas de thrombose h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morro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ï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dal : une thrombectomie sous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anesth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sie local est </a:t>
            </a:r>
            <a:endParaRPr lang="en-US" altLang="fr-FR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indiqu</a:t>
            </a:r>
            <a:r>
              <a:rPr lang="en-US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en-US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</a:t>
            </a:r>
            <a:r>
              <a:rPr lang="en-US" altLang="fr-FR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Traitement au laser</a:t>
            </a:r>
            <a:r>
              <a:rPr lang="fr-FR" altLang="en-US" sz="2665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fr-FR" altLang="en-US" sz="2665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1205" y="258445"/>
            <a:ext cx="10515600" cy="2092960"/>
          </a:xfrm>
        </p:spPr>
        <p:txBody>
          <a:bodyPr>
            <a:normAutofit/>
          </a:bodyPr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  <a:t>HEMORROIDE</a:t>
            </a:r>
            <a:b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 </a:t>
            </a:r>
            <a:b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fr-FR" altLang="en-US" sz="2400">
                <a:latin typeface="Times New Roman" panose="02020603050405020304" charset="0"/>
                <a:cs typeface="Times New Roman" panose="02020603050405020304" charset="0"/>
              </a:rPr>
              <a:t>Hemorroidectomie selon Milligan et Morgan</a:t>
            </a:r>
            <a:endParaRPr lang="fr-FR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351405"/>
            <a:ext cx="4389120" cy="409702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45" y="2351405"/>
            <a:ext cx="5534660" cy="40963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10260"/>
          </a:xfrm>
        </p:spPr>
        <p:txBody>
          <a:bodyPr/>
          <a:p>
            <a:pPr algn="ctr"/>
            <a:r>
              <a:rPr lang="en-US" altLang="fr-FR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FISSURES ANALES</a:t>
            </a:r>
            <a:endParaRPr lang="en-US" altLang="fr-FR" sz="36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" y="1069340"/>
            <a:ext cx="11257280" cy="5527040"/>
          </a:xfrm>
        </p:spPr>
        <p:txBody>
          <a:bodyPr/>
          <a:p>
            <a:pPr algn="ctr"/>
            <a:r>
              <a:rPr lang="fr-FR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C’est une ulc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ration en que de raquette mettant a nue 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sphincter de l’anus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U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ration de la muqueuse anale en dessous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 la ligne pectin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 pr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de la commissure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post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rieure 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plus souvent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à 6 heure.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Affection fr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quente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Touche les deux sexes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Tous les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4504690"/>
            <a:ext cx="2038350" cy="209105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8615" y="4481830"/>
            <a:ext cx="2466975" cy="196913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920" y="4168140"/>
            <a:ext cx="5838825" cy="2428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06780"/>
          </a:xfrm>
        </p:spPr>
        <p:txBody>
          <a:bodyPr/>
          <a:p>
            <a:pPr algn="ctr"/>
            <a:r>
              <a:rPr lang="en-US" altLang="fr-FR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FISSURES ANALES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5755" y="1276985"/>
            <a:ext cx="11289030" cy="5142230"/>
          </a:xfrm>
        </p:spPr>
        <p:txBody>
          <a:bodyPr>
            <a:normAutofit/>
          </a:bodyPr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DIAGNOSTIC POSETIF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ouleur caract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ristique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rythm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 en trois temps par apport a la 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cation: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 douleur au passage de la selle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Accalmie pendant quelques minutes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Douleur vive, intense, 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chirante pendant quelques heures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Rectorragies de faible abondance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Constipation le plus souvent retrouv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8530"/>
          </a:xfrm>
        </p:spPr>
        <p:txBody>
          <a:bodyPr/>
          <a:p>
            <a:pPr algn="ctr"/>
            <a:r>
              <a:rPr lang="en-US" altLang="fr-FR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FISSURES ANALES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Formes cliniqu</a:t>
            </a:r>
            <a:r>
              <a:rPr lang="fr-FR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</a:t>
            </a: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volutives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Fissure chronique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Fissure surinfect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Fissure jeune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Fissure compliqu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d’abc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aigues ou chronique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90905"/>
          </a:xfrm>
        </p:spPr>
        <p:txBody>
          <a:bodyPr/>
          <a:p>
            <a:pPr algn="ctr"/>
            <a:r>
              <a:rPr lang="en-US" altLang="fr-FR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FISSURES ANALES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0350" y="1310005"/>
            <a:ext cx="11596370" cy="5351145"/>
          </a:xfrm>
        </p:spPr>
        <p:txBody>
          <a:bodyPr/>
          <a:p>
            <a:pPr algn="ctr"/>
            <a:r>
              <a:rPr lang="fr-FR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RAITEMENT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Traitement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dical: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Mesures hygi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no-di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tiques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Bain de si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 a l’eau froide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gulateur de transit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Antalgique voir s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datifs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Antispasmodiques; veinotoniques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I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nfiltration sous fissuraire (anesth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sie locale)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et/ ou injection de produit scl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rosante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fr-FR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FISSURES ANALES</a:t>
            </a:r>
            <a:endParaRPr lang="fr-FR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>
              <a:buFont typeface="Wingdings" panose="05000000000000000000" charset="0"/>
              <a:buChar char="o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raitement chirurgicale: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S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phincterotomie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ou posterieure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avec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ou sans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an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plastie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Traitement au laser.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080" y="4194175"/>
            <a:ext cx="2657475" cy="18573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4329430"/>
            <a:ext cx="2857500" cy="18478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355" y="4289425"/>
            <a:ext cx="2600325" cy="17621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15950"/>
          </a:xfrm>
        </p:spPr>
        <p:txBody>
          <a:bodyPr>
            <a:normAutofit fontScale="90000"/>
          </a:bodyPr>
          <a:p>
            <a:pPr algn="ctr"/>
            <a:r>
              <a:rPr lang="fr-FR" altLang="en-US" sz="4000">
                <a:latin typeface="Times New Roman" panose="02020603050405020304" charset="0"/>
                <a:cs typeface="Times New Roman" panose="02020603050405020304" charset="0"/>
              </a:rPr>
              <a:t>FISTULE ANALE</a:t>
            </a:r>
            <a:endParaRPr lang="fr-FR" altLang="en-US" sz="4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0985" y="1358265"/>
            <a:ext cx="11612245" cy="5286375"/>
          </a:xfrm>
        </p:spPr>
        <p:txBody>
          <a:bodyPr/>
          <a:p>
            <a:pPr marL="342900" indent="-3429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uppurations aigues ou chroniques a point de 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part les glandes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 HERMEN et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DESFOSSES s’abouchent dans les cryptes de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MORGANI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ette suppuration se 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veloppe dans l’espace inter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phinct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 et son expansion se fait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localement (intra murale)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 vers la peau 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ale en traversant les muscles stri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" y="4065270"/>
            <a:ext cx="2266950" cy="20193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05" y="4131945"/>
            <a:ext cx="2343150" cy="19526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555" y="3646170"/>
            <a:ext cx="5418455" cy="28422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25500"/>
          </a:xfrm>
        </p:spPr>
        <p:txBody>
          <a:bodyPr/>
          <a:p>
            <a:pPr algn="ctr"/>
            <a:r>
              <a:rPr lang="fr-FR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FISTULE ANALE</a:t>
            </a:r>
            <a:endParaRPr lang="fr-FR" alt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" y="1261745"/>
            <a:ext cx="11483975" cy="5269865"/>
          </a:xfrm>
        </p:spPr>
        <p:txBody>
          <a:bodyPr>
            <a:normAutofit lnSpcReduction="20000"/>
          </a:bodyPr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DIAGNOSTIC POSETIF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stade d’abc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s: peut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ê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tre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ler par la fistule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Ce denier peut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voluer soit: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V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ers le bas: abc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inter sphinct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 vers la marge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anale en absence du traitement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Vers le haut: se collectera dans l’espace intra murale du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rectum ou la partie basse pelvi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rectale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 diagnostic repose sur la d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couverte de communication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avec le canal anal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IRM pelvienne: confirme le diagnostic et permet de classer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 fistule et de pr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ciser les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fistules complexes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 rectoscopie: a la recherche d’une l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sion sp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cifique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associes.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ü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2550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  <a:t>FISTULE ANALE</a:t>
            </a:r>
            <a:endParaRPr lang="fr-FR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 manifeste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clinique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ment par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Douleur 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rennante lancinante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insomnie, dysurie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Etat f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brile ou subf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brile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Examen proctologique: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Emp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â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tement profond per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ç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ue ou toucher rectal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§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Orifice 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rin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ale productive (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coulement du pus)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8679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FISTULE ANALE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374140"/>
            <a:ext cx="10515600" cy="4803140"/>
          </a:xfrm>
        </p:spPr>
        <p:txBody>
          <a:bodyPr/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Classification des fistules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Fistule anales inter sphinct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 basses et hautes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Fistules anales trans sphinct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 basses et hautes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Fistules anales supra sphinct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riennes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Wingdings" panose="05000000000000000000" charset="0"/>
              <a:buChar char="q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Fistules anales extra sphinct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riennes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870" y="3348355"/>
            <a:ext cx="376555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74549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FISTULE ANALE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308735"/>
            <a:ext cx="10515600" cy="4868545"/>
          </a:xfrm>
        </p:spPr>
        <p:txBody>
          <a:bodyPr/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DIAGNOSTIC DIFERENTIEL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Sinus pilonidal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Maladie de Verneuil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Dermites s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 ou pilo s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5852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FISTULE ANALE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7700" y="1261745"/>
            <a:ext cx="10515600" cy="4915535"/>
          </a:xfrm>
        </p:spPr>
        <p:txBody>
          <a:bodyPr>
            <a:normAutofit lnSpcReduction="10000"/>
          </a:bodyPr>
          <a:p>
            <a:pPr algn="ctr"/>
            <a:r>
              <a:rPr lang="en-US" altLang="fr-FR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TRAITEMENT</a:t>
            </a:r>
            <a:endParaRPr lang="en-US" altLang="fr-FR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fr-FR"/>
              <a:t> </a:t>
            </a:r>
            <a:endParaRPr lang="en-US" altLang="fr-FR"/>
          </a:p>
          <a:p>
            <a:pPr marL="457200" indent="-4572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 exclusivement chirurgical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 stade d’abc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s: 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vacuation de l’abc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(drainage sous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anesth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sie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locale le plus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souvent si superficiel)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 stade de fistule: la 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section du trajet fistuleux apr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son rep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rage par </a:t>
            </a:r>
            <a:endParaRPr lang="en-US" altLang="fr-FR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     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injection de bleue de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é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thyl</a:t>
            </a:r>
            <a:r>
              <a:rPr lang="en-US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è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ne a travers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l’orifice primaire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ü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T</a:t>
            </a:r>
            <a:r>
              <a:rPr lang="en-US" altLang="fr-FR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raitement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 laser.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55040"/>
          </a:xfrm>
        </p:spPr>
        <p:txBody>
          <a:bodyPr/>
          <a:p>
            <a:pPr algn="ctr"/>
            <a:r>
              <a:rPr lang="fr-FR" altLang="en-US" sz="3600">
                <a:latin typeface="Times New Roman" panose="02020603050405020304" charset="0"/>
                <a:cs typeface="Times New Roman" panose="02020603050405020304" charset="0"/>
              </a:rPr>
              <a:t>FISTULE ANALE</a:t>
            </a:r>
            <a:endParaRPr lang="fr-FR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Espace réservé du contenu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3240" y="2081530"/>
            <a:ext cx="3937635" cy="364807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660" y="2081530"/>
            <a:ext cx="666877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22020"/>
          </a:xfrm>
        </p:spPr>
        <p:txBody>
          <a:bodyPr/>
          <a:p>
            <a:pPr algn="ctr"/>
            <a:r>
              <a:rPr lang="fr-FR" altLang="en-US" sz="320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fr-FR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2735" y="1180465"/>
            <a:ext cx="11548110" cy="5483860"/>
          </a:xfrm>
        </p:spPr>
        <p:txBody>
          <a:bodyPr/>
          <a:p>
            <a:pPr marL="457200" indent="-4572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 pathologie anorectale benigne est un motif fréquent  à la 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consultation</a:t>
            </a: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de médecine générale, et meme de chirurgie digestive.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Nécessite une prise en charge multidisciplinaire.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 réctoscopie est nécessaire por le diagnostique et surtout pour éliminer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une pathologie sus jacente plus grave.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 progrès au traitement de ces lésions est avancé dernièrenent par le laser.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 concept ambulatoire a trouvé sa faisabilité dans la prise en charge de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</a:pPr>
            <a:r>
              <a:rPr lang="fr-FR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cette pathologie benigne.  </a:t>
            </a:r>
            <a:endParaRPr lang="fr-FR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8265</Words>
  <Application>WPS Presentation</Application>
  <PresentationFormat>宽屏</PresentationFormat>
  <Paragraphs>314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SimSun</vt:lpstr>
      <vt:lpstr>Wingdings</vt:lpstr>
      <vt:lpstr>Calibri Light</vt:lpstr>
      <vt:lpstr>Arial Black</vt:lpstr>
      <vt:lpstr>Times New Roman</vt:lpstr>
      <vt:lpstr>Wingdings</vt:lpstr>
      <vt:lpstr>Microsoft YaHei</vt:lpstr>
      <vt:lpstr>Arial Unicode MS</vt:lpstr>
      <vt:lpstr>Calibri</vt:lpstr>
      <vt:lpstr>Office Theme</vt:lpstr>
      <vt:lpstr>  UNIVERSITÉ DE CONSTANTINE 3 FACULTÉ DE MÉDECINE   </vt:lpstr>
      <vt:lpstr> INTRODUCTION </vt:lpstr>
      <vt:lpstr>RAPPEL ANATOMIQUE</vt:lpstr>
      <vt:lpstr>RAPPEL ANATOMIQUE</vt:lpstr>
      <vt:lpstr>PowerPoint 演示文稿</vt:lpstr>
      <vt:lpstr>HEMORROIDE</vt:lpstr>
      <vt:lpstr>HEMORROIDE</vt:lpstr>
      <vt:lpstr>HEMORROIDE</vt:lpstr>
      <vt:lpstr>HEMORROIDE</vt:lpstr>
      <vt:lpstr>HEMORROIDE</vt:lpstr>
      <vt:lpstr>  HEMORROIDE  classification anuscope</vt:lpstr>
      <vt:lpstr>HEMORROIDE</vt:lpstr>
      <vt:lpstr>HEMORROIDE</vt:lpstr>
      <vt:lpstr>HEMORROIDE</vt:lpstr>
      <vt:lpstr>HEMORROIDE</vt:lpstr>
      <vt:lpstr>HEMORROIDE</vt:lpstr>
      <vt:lpstr>HEMORROIDE</vt:lpstr>
      <vt:lpstr>HEMORROIDE</vt:lpstr>
      <vt:lpstr>HEMORROIDE</vt:lpstr>
      <vt:lpstr>HEMORROIDE</vt:lpstr>
      <vt:lpstr>HEMORROIDE    Hemorroidectomie selon Milligan et Morgan</vt:lpstr>
      <vt:lpstr>FISSURES ANALES</vt:lpstr>
      <vt:lpstr>FISSURES ANALES</vt:lpstr>
      <vt:lpstr>FISSURES ANALES</vt:lpstr>
      <vt:lpstr>FISSURES ANALES</vt:lpstr>
      <vt:lpstr>FISSURES ANALES</vt:lpstr>
      <vt:lpstr>FISTULE ANALE</vt:lpstr>
      <vt:lpstr>FISTULE ANALE</vt:lpstr>
      <vt:lpstr>FISTULE ANALE</vt:lpstr>
      <vt:lpstr>FISTULE ANALE</vt:lpstr>
      <vt:lpstr>FISTULE ANALE</vt:lpstr>
      <vt:lpstr>FISTULE ANALE</vt:lpstr>
      <vt:lpstr>FISTULE ANALE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GADDA</cp:lastModifiedBy>
  <cp:revision>20</cp:revision>
  <dcterms:created xsi:type="dcterms:W3CDTF">2025-10-19T09:37:00Z</dcterms:created>
  <dcterms:modified xsi:type="dcterms:W3CDTF">2025-10-31T09:58:39Z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1036-12.2.0.23131</vt:lpwstr>
  </property>
  <property fmtid="{D5CDD505-2E9C-101B-9397-08002B2CF9AE}" pid="3" name="ICV">
    <vt:lpwstr>FFF66A8CD26B4F4C91DD7CB85F59A9CB_12</vt:lpwstr>
  </property>
</Properties>
</file>