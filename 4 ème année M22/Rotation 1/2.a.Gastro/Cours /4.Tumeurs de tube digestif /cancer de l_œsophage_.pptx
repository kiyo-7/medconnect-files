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9"/>
  </p:notesMasterIdLst>
  <p:sldIdLst>
    <p:sldId id="389" r:id="rId2"/>
    <p:sldId id="266" r:id="rId3"/>
    <p:sldId id="392" r:id="rId4"/>
    <p:sldId id="398" r:id="rId5"/>
    <p:sldId id="399" r:id="rId6"/>
    <p:sldId id="391" r:id="rId7"/>
    <p:sldId id="393" r:id="rId8"/>
    <p:sldId id="394" r:id="rId9"/>
    <p:sldId id="267" r:id="rId10"/>
    <p:sldId id="395" r:id="rId11"/>
    <p:sldId id="396" r:id="rId12"/>
    <p:sldId id="397" r:id="rId13"/>
    <p:sldId id="390" r:id="rId14"/>
    <p:sldId id="268" r:id="rId15"/>
    <p:sldId id="271" r:id="rId16"/>
    <p:sldId id="272" r:id="rId17"/>
    <p:sldId id="273" r:id="rId18"/>
    <p:sldId id="274" r:id="rId19"/>
    <p:sldId id="275" r:id="rId20"/>
    <p:sldId id="269" r:id="rId21"/>
    <p:sldId id="270" r:id="rId22"/>
    <p:sldId id="277" r:id="rId23"/>
    <p:sldId id="278" r:id="rId24"/>
    <p:sldId id="279" r:id="rId25"/>
    <p:sldId id="280" r:id="rId26"/>
    <p:sldId id="281" r:id="rId27"/>
    <p:sldId id="400" r:id="rId28"/>
    <p:sldId id="401" r:id="rId29"/>
    <p:sldId id="406" r:id="rId30"/>
    <p:sldId id="407" r:id="rId31"/>
    <p:sldId id="282" r:id="rId32"/>
    <p:sldId id="402" r:id="rId33"/>
    <p:sldId id="409" r:id="rId34"/>
    <p:sldId id="411" r:id="rId35"/>
    <p:sldId id="314" r:id="rId36"/>
    <p:sldId id="286" r:id="rId37"/>
    <p:sldId id="312" r:id="rId38"/>
    <p:sldId id="433" r:id="rId39"/>
    <p:sldId id="403" r:id="rId40"/>
    <p:sldId id="283" r:id="rId41"/>
    <p:sldId id="404" r:id="rId42"/>
    <p:sldId id="405" r:id="rId43"/>
    <p:sldId id="285" r:id="rId44"/>
    <p:sldId id="410" r:id="rId45"/>
    <p:sldId id="315" r:id="rId46"/>
    <p:sldId id="316" r:id="rId47"/>
    <p:sldId id="317" r:id="rId48"/>
    <p:sldId id="318" r:id="rId49"/>
    <p:sldId id="322" r:id="rId50"/>
    <p:sldId id="319" r:id="rId51"/>
    <p:sldId id="416" r:id="rId52"/>
    <p:sldId id="320" r:id="rId53"/>
    <p:sldId id="321" r:id="rId54"/>
    <p:sldId id="323" r:id="rId55"/>
    <p:sldId id="324" r:id="rId56"/>
    <p:sldId id="413" r:id="rId57"/>
    <p:sldId id="287" r:id="rId58"/>
    <p:sldId id="288" r:id="rId59"/>
    <p:sldId id="289" r:id="rId60"/>
    <p:sldId id="290" r:id="rId61"/>
    <p:sldId id="291" r:id="rId62"/>
    <p:sldId id="414" r:id="rId63"/>
    <p:sldId id="441" r:id="rId64"/>
    <p:sldId id="415" r:id="rId65"/>
    <p:sldId id="295" r:id="rId66"/>
    <p:sldId id="298" r:id="rId67"/>
    <p:sldId id="417" r:id="rId68"/>
    <p:sldId id="438" r:id="rId69"/>
    <p:sldId id="436" r:id="rId70"/>
    <p:sldId id="435" r:id="rId71"/>
    <p:sldId id="258" r:id="rId72"/>
    <p:sldId id="418" r:id="rId73"/>
    <p:sldId id="299" r:id="rId74"/>
    <p:sldId id="419" r:id="rId75"/>
    <p:sldId id="300" r:id="rId76"/>
    <p:sldId id="260" r:id="rId77"/>
    <p:sldId id="421" r:id="rId78"/>
    <p:sldId id="422" r:id="rId79"/>
    <p:sldId id="420" r:id="rId80"/>
    <p:sldId id="325" r:id="rId81"/>
    <p:sldId id="434" r:id="rId82"/>
    <p:sldId id="326" r:id="rId83"/>
    <p:sldId id="327" r:id="rId84"/>
    <p:sldId id="328" r:id="rId85"/>
    <p:sldId id="311" r:id="rId86"/>
    <p:sldId id="262" r:id="rId87"/>
    <p:sldId id="301" r:id="rId88"/>
    <p:sldId id="302" r:id="rId89"/>
    <p:sldId id="303" r:id="rId90"/>
    <p:sldId id="304" r:id="rId91"/>
    <p:sldId id="305" r:id="rId92"/>
    <p:sldId id="306" r:id="rId93"/>
    <p:sldId id="261" r:id="rId94"/>
    <p:sldId id="307" r:id="rId95"/>
    <p:sldId id="308" r:id="rId96"/>
    <p:sldId id="423" r:id="rId97"/>
    <p:sldId id="439" r:id="rId98"/>
    <p:sldId id="309" r:id="rId99"/>
    <p:sldId id="310" r:id="rId100"/>
    <p:sldId id="429" r:id="rId101"/>
    <p:sldId id="431" r:id="rId102"/>
    <p:sldId id="430" r:id="rId103"/>
    <p:sldId id="329" r:id="rId104"/>
    <p:sldId id="425" r:id="rId105"/>
    <p:sldId id="426" r:id="rId106"/>
    <p:sldId id="427" r:id="rId107"/>
    <p:sldId id="428" r:id="rId10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FF3399"/>
    <a:srgbClr val="CC99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34567" autoAdjust="0"/>
    <p:restoredTop sz="86377" autoAdjust="0"/>
  </p:normalViewPr>
  <p:slideViewPr>
    <p:cSldViewPr>
      <p:cViewPr>
        <p:scale>
          <a:sx n="82" d="100"/>
          <a:sy n="82" d="100"/>
        </p:scale>
        <p:origin x="-1470" y="-12"/>
      </p:cViewPr>
      <p:guideLst>
        <p:guide orient="horz" pos="2160"/>
        <p:guide pos="2880"/>
      </p:guideLst>
    </p:cSldViewPr>
  </p:slideViewPr>
  <p:outlineViewPr>
    <p:cViewPr>
      <p:scale>
        <a:sx n="33" d="100"/>
        <a:sy n="33" d="100"/>
      </p:scale>
      <p:origin x="0" y="8886"/>
    </p:cViewPr>
  </p:outlineViewPr>
  <p:notesTextViewPr>
    <p:cViewPr>
      <p:scale>
        <a:sx n="100" d="100"/>
        <a:sy n="100" d="100"/>
      </p:scale>
      <p:origin x="0" y="0"/>
    </p:cViewPr>
  </p:notesTextViewPr>
  <p:sorterViewPr>
    <p:cViewPr>
      <p:scale>
        <a:sx n="66" d="100"/>
        <a:sy n="66" d="100"/>
      </p:scale>
      <p:origin x="0" y="3030"/>
    </p:cViewPr>
  </p:sorterViewPr>
  <p:notesViewPr>
    <p:cSldViewPr>
      <p:cViewPr varScale="1">
        <p:scale>
          <a:sx n="69" d="100"/>
          <a:sy n="69" d="100"/>
        </p:scale>
        <p:origin x="-3270" y="-10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2981A1-692D-4FF9-BE8A-6EC1DC47A2E1}" type="datetimeFigureOut">
              <a:rPr lang="en-US" smtClean="0"/>
              <a:pPr/>
              <a:t>8/31/2009</a:t>
            </a:fld>
            <a:endParaRPr lang="en-US"/>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07A3C2-DB25-46E8-9A98-2D692E6BC235}" type="slidenum">
              <a:rPr lang="en-US" smtClean="0"/>
              <a:pPr/>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0307A3C2-DB25-46E8-9A98-2D692E6BC23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dirty="0" smtClean="0"/>
              <a:t>  </a:t>
            </a:r>
            <a:endParaRPr lang="en-US" dirty="0"/>
          </a:p>
        </p:txBody>
      </p:sp>
      <p:sp>
        <p:nvSpPr>
          <p:cNvPr id="4" name="Espace réservé du numéro de diapositive 3"/>
          <p:cNvSpPr>
            <a:spLocks noGrp="1"/>
          </p:cNvSpPr>
          <p:nvPr>
            <p:ph type="sldNum" sz="quarter" idx="10"/>
          </p:nvPr>
        </p:nvSpPr>
        <p:spPr/>
        <p:txBody>
          <a:bodyPr/>
          <a:lstStyle/>
          <a:p>
            <a:fld id="{0307A3C2-DB25-46E8-9A98-2D692E6BC235}"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0307A3C2-DB25-46E8-9A98-2D692E6BC235}" type="slidenum">
              <a:rPr lang="en-US" smtClean="0"/>
              <a:pPr/>
              <a:t>13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0307A3C2-DB25-46E8-9A98-2D692E6BC235}" type="slidenum">
              <a:rPr lang="en-US" smtClean="0"/>
              <a:pPr/>
              <a:t>30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0307A3C2-DB25-46E8-9A98-2D692E6BC235}" type="slidenum">
              <a:rPr lang="en-US" smtClean="0"/>
              <a:pPr/>
              <a:t>33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0307A3C2-DB25-46E8-9A98-2D692E6BC235}" type="slidenum">
              <a:rPr lang="en-US" smtClean="0"/>
              <a:pPr/>
              <a:t>55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normAutofit/>
          </a:bodyPr>
          <a:lstStyle/>
          <a:p>
            <a:endParaRPr lang="en-US"/>
          </a:p>
        </p:txBody>
      </p:sp>
      <p:sp>
        <p:nvSpPr>
          <p:cNvPr id="4" name="Espace réservé du numéro de diapositive 3"/>
          <p:cNvSpPr>
            <a:spLocks noGrp="1"/>
          </p:cNvSpPr>
          <p:nvPr>
            <p:ph type="sldNum" sz="quarter" idx="10"/>
          </p:nvPr>
        </p:nvSpPr>
        <p:spPr/>
        <p:txBody>
          <a:bodyPr/>
          <a:lstStyle/>
          <a:p>
            <a:fld id="{0307A3C2-DB25-46E8-9A98-2D692E6BC235}" type="slidenum">
              <a:rPr lang="en-US" smtClean="0"/>
              <a:pPr/>
              <a:t>58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8" name="Espace réservé de la date 27"/>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17" name="Espace réservé du pied de page 16"/>
          <p:cNvSpPr>
            <a:spLocks noGrp="1"/>
          </p:cNvSpPr>
          <p:nvPr>
            <p:ph type="ftr" sz="quarter" idx="11"/>
          </p:nvPr>
        </p:nvSpPr>
        <p:spPr/>
        <p:txBody>
          <a:bodyPr/>
          <a:lstStyle>
            <a:extLst/>
          </a:lstStyle>
          <a:p>
            <a:endParaRPr lang="fr-FR" dirty="0"/>
          </a:p>
        </p:txBody>
      </p:sp>
      <p:sp>
        <p:nvSpPr>
          <p:cNvPr id="29" name="Espace réservé du numéro de diapositive 28"/>
          <p:cNvSpPr>
            <a:spLocks noGrp="1"/>
          </p:cNvSpPr>
          <p:nvPr>
            <p:ph type="sldNum" sz="quarter" idx="12"/>
          </p:nvPr>
        </p:nvSpPr>
        <p:spPr/>
        <p:txBody>
          <a:bodyPr/>
          <a:lstStyle>
            <a:extLst/>
          </a:lstStyle>
          <a:p>
            <a:fld id="{B9266EB8-A623-4882-9858-6B128F8881EF}" type="slidenum">
              <a:rPr lang="fr-FR" smtClean="0"/>
              <a:pPr/>
              <a:t>‹N°›</a:t>
            </a:fld>
            <a:endParaRPr lang="fr-FR" dirty="0"/>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9" name="Rectangle 38"/>
          <p:cNvSpPr/>
          <p:nvPr/>
        </p:nvSpPr>
        <p:spPr>
          <a:xfrm>
            <a:off x="309559"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Titr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fr-FR" smtClean="0"/>
              <a:t>Cliquez pour modifier le style du titre</a:t>
            </a:r>
            <a:endParaRPr kumimoji="0" lang="en-US"/>
          </a:p>
        </p:txBody>
      </p:sp>
      <p:sp>
        <p:nvSpPr>
          <p:cNvPr id="9" name="Sous-titr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Cliquez pour modifier le style des sous-titres du masque</a:t>
            </a:r>
            <a:endParaRPr kumimoji="0" lang="en-US"/>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5" name="Espace réservé du pied de page 4"/>
          <p:cNvSpPr>
            <a:spLocks noGrp="1"/>
          </p:cNvSpPr>
          <p:nvPr>
            <p:ph type="ftr" sz="quarter" idx="11"/>
          </p:nvPr>
        </p:nvSpPr>
        <p:spPr/>
        <p:txBody>
          <a:bodyPr/>
          <a:lstStyle>
            <a:extLst/>
          </a:lstStyle>
          <a:p>
            <a:endParaRPr lang="fr-FR" dirty="0"/>
          </a:p>
        </p:txBody>
      </p:sp>
      <p:sp>
        <p:nvSpPr>
          <p:cNvPr id="6" name="Espace réservé du numéro de diapositive 5"/>
          <p:cNvSpPr>
            <a:spLocks noGrp="1"/>
          </p:cNvSpPr>
          <p:nvPr>
            <p:ph type="sldNum" sz="quarter" idx="12"/>
          </p:nvPr>
        </p:nvSpPr>
        <p:spPr/>
        <p:txBody>
          <a:bodyPr/>
          <a:lstStyle>
            <a:extLst/>
          </a:lstStyle>
          <a:p>
            <a:fld id="{B9266EB8-A623-4882-9858-6B128F8881EF}" type="slidenum">
              <a:rPr lang="fr-FR" smtClean="0"/>
              <a:pPr/>
              <a:t>‹N°›</a:t>
            </a:fld>
            <a:endParaRPr lang="fr-F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4" name="Forme libre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5" name="Forme libre 14"/>
          <p:cNvSpPr>
            <a:spLocks/>
          </p:cNvSpPr>
          <p:nvPr/>
        </p:nvSpPr>
        <p:spPr bwMode="auto">
          <a:xfrm>
            <a:off x="373967" y="1"/>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3" name="Forme libre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6" name="Forme libre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7" name="Forme libre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8" name="Forme libre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9" name="Forme libre 18"/>
          <p:cNvSpPr>
            <a:spLocks/>
          </p:cNvSpPr>
          <p:nvPr/>
        </p:nvSpPr>
        <p:spPr bwMode="auto">
          <a:xfrm>
            <a:off x="5948369" y="4246565"/>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0" name="Forme libre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1" name="Forme libre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2" name="Forme libre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3" name="Forme libre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4" name="Forme libre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5" name="Forme libre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6" name="Forme libre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27" name="Forme libre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3" name="Espace réservé du texte 2"/>
          <p:cNvSpPr>
            <a:spLocks noGrp="1"/>
          </p:cNvSpPr>
          <p:nvPr>
            <p:ph type="body" idx="1"/>
          </p:nvPr>
        </p:nvSpPr>
        <p:spPr>
          <a:xfrm>
            <a:off x="706903"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5" name="Espace réservé du pied de page 4"/>
          <p:cNvSpPr>
            <a:spLocks noGrp="1"/>
          </p:cNvSpPr>
          <p:nvPr>
            <p:ph type="ftr" sz="quarter" idx="11"/>
          </p:nvPr>
        </p:nvSpPr>
        <p:spPr/>
        <p:txBody>
          <a:bodyPr/>
          <a:lstStyle>
            <a:extLst/>
          </a:lstStyle>
          <a:p>
            <a:endParaRPr lang="fr-FR" dirty="0"/>
          </a:p>
        </p:txBody>
      </p:sp>
      <p:sp>
        <p:nvSpPr>
          <p:cNvPr id="6" name="Espace réservé du numéro de diapositive 5"/>
          <p:cNvSpPr>
            <a:spLocks noGrp="1"/>
          </p:cNvSpPr>
          <p:nvPr>
            <p:ph type="sldNum" sz="quarter" idx="12"/>
          </p:nvPr>
        </p:nvSpPr>
        <p:spPr/>
        <p:txBody>
          <a:bodyPr/>
          <a:lstStyle>
            <a:extLst/>
          </a:lstStyle>
          <a:p>
            <a:fld id="{B9266EB8-A623-4882-9858-6B128F8881EF}" type="slidenum">
              <a:rPr lang="fr-FR" smtClean="0"/>
              <a:pPr/>
              <a:t>‹N°›</a:t>
            </a:fld>
            <a:endParaRPr lang="fr-FR" dirty="0"/>
          </a:p>
        </p:txBody>
      </p:sp>
      <p:sp>
        <p:nvSpPr>
          <p:cNvPr id="7" name="Rectangle 6"/>
          <p:cNvSpPr/>
          <p:nvPr/>
        </p:nvSpPr>
        <p:spPr>
          <a:xfrm>
            <a:off x="363160" y="402268"/>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 name="Titre 1"/>
          <p:cNvSpPr>
            <a:spLocks noGrp="1"/>
          </p:cNvSpPr>
          <p:nvPr>
            <p:ph type="title"/>
          </p:nvPr>
        </p:nvSpPr>
        <p:spPr>
          <a:xfrm>
            <a:off x="706901" y="512064"/>
            <a:ext cx="8156448" cy="777240"/>
          </a:xfrm>
        </p:spPr>
        <p:txBody>
          <a:bodyPr tIns="64008"/>
          <a:lstStyle>
            <a:lvl1pPr algn="l">
              <a:buNone/>
              <a:defRPr sz="3800" b="0" cap="none" spc="-150" baseline="0"/>
            </a:lvl1pPr>
            <a:extLst/>
          </a:lstStyle>
          <a:p>
            <a:r>
              <a:rPr kumimoji="0" lang="fr-FR" smtClean="0"/>
              <a:t>Cliquez pour modifier le style du titre</a:t>
            </a:r>
            <a:endParaRPr kumimoji="0" lang="en-US"/>
          </a:p>
        </p:txBody>
      </p:sp>
      <p:sp>
        <p:nvSpPr>
          <p:cNvPr id="8" name="Rectangle 7"/>
          <p:cNvSpPr/>
          <p:nvPr/>
        </p:nvSpPr>
        <p:spPr>
          <a:xfrm flipH="1">
            <a:off x="37153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flipH="1">
            <a:off x="448451"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1" name="Rectangle 10"/>
          <p:cNvSpPr/>
          <p:nvPr/>
        </p:nvSpPr>
        <p:spPr>
          <a:xfrm flipH="1">
            <a:off x="476703"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500479"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512064"/>
            <a:ext cx="8229600" cy="914400"/>
          </a:xfrm>
        </p:spPr>
        <p:txBody>
          <a:bodyPr/>
          <a:lstStyle>
            <a:extLst/>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64344" y="1770505"/>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55344" y="1770505"/>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6" name="Espace réservé du pied de page 5"/>
          <p:cNvSpPr>
            <a:spLocks noGrp="1"/>
          </p:cNvSpPr>
          <p:nvPr>
            <p:ph type="ftr" sz="quarter" idx="11"/>
          </p:nvPr>
        </p:nvSpPr>
        <p:spPr/>
        <p:txBody>
          <a:bodyPr/>
          <a:lstStyle>
            <a:extLst/>
          </a:lstStyle>
          <a:p>
            <a:endParaRPr lang="fr-FR" dirty="0"/>
          </a:p>
        </p:txBody>
      </p:sp>
      <p:sp>
        <p:nvSpPr>
          <p:cNvPr id="7" name="Espace réservé du numéro de diapositive 6"/>
          <p:cNvSpPr>
            <a:spLocks noGrp="1"/>
          </p:cNvSpPr>
          <p:nvPr>
            <p:ph type="sldNum" sz="quarter" idx="12"/>
          </p:nvPr>
        </p:nvSpPr>
        <p:spPr/>
        <p:txBody>
          <a:bodyPr/>
          <a:lstStyle>
            <a:extLst/>
          </a:lstStyle>
          <a:p>
            <a:fld id="{B9266EB8-A623-4882-9858-6B128F8881EF}" type="slidenum">
              <a:rPr lang="fr-FR" smtClean="0"/>
              <a:pPr/>
              <a:t>‹N°›</a:t>
            </a:fld>
            <a:endParaRPr lang="fr-F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5" name="Rectangle 24"/>
          <p:cNvSpPr/>
          <p:nvPr/>
        </p:nvSpPr>
        <p:spPr>
          <a:xfrm>
            <a:off x="0" y="402269"/>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 name="Titre 1"/>
          <p:cNvSpPr>
            <a:spLocks noGrp="1"/>
          </p:cNvSpPr>
          <p:nvPr>
            <p:ph type="title"/>
          </p:nvPr>
        </p:nvSpPr>
        <p:spPr>
          <a:xfrm>
            <a:off x="504824" y="512064"/>
            <a:ext cx="7772400" cy="914400"/>
          </a:xfrm>
        </p:spPr>
        <p:txBody>
          <a:bodyPr anchor="t"/>
          <a:lstStyle>
            <a:lvl1pPr>
              <a:defRPr sz="4000"/>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3"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30"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3"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30"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8" name="Espace réservé du pied de page 7"/>
          <p:cNvSpPr>
            <a:spLocks noGrp="1"/>
          </p:cNvSpPr>
          <p:nvPr>
            <p:ph type="ftr" sz="quarter" idx="11"/>
          </p:nvPr>
        </p:nvSpPr>
        <p:spPr/>
        <p:txBody>
          <a:bodyPr/>
          <a:lstStyle>
            <a:extLst/>
          </a:lstStyle>
          <a:p>
            <a:endParaRPr lang="fr-FR" dirty="0"/>
          </a:p>
        </p:txBody>
      </p:sp>
      <p:sp>
        <p:nvSpPr>
          <p:cNvPr id="9" name="Espace réservé du numéro de diapositive 8"/>
          <p:cNvSpPr>
            <a:spLocks noGrp="1"/>
          </p:cNvSpPr>
          <p:nvPr>
            <p:ph type="sldNum" sz="quarter" idx="12"/>
          </p:nvPr>
        </p:nvSpPr>
        <p:spPr/>
        <p:txBody>
          <a:bodyPr/>
          <a:lstStyle>
            <a:extLst/>
          </a:lstStyle>
          <a:p>
            <a:fld id="{B9266EB8-A623-4882-9858-6B128F8881EF}" type="slidenum">
              <a:rPr lang="fr-FR" smtClean="0"/>
              <a:pPr/>
              <a:t>‹N°›</a:t>
            </a:fld>
            <a:endParaRPr lang="fr-FR" dirty="0"/>
          </a:p>
        </p:txBody>
      </p:sp>
      <p:sp>
        <p:nvSpPr>
          <p:cNvPr id="16" name="Rectangle 15"/>
          <p:cNvSpPr/>
          <p:nvPr/>
        </p:nvSpPr>
        <p:spPr>
          <a:xfrm>
            <a:off x="87791"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0" name="Rectangle 19"/>
          <p:cNvSpPr/>
          <p:nvPr/>
        </p:nvSpPr>
        <p:spPr>
          <a:xfrm flipH="1">
            <a:off x="14977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Rectangle 21"/>
          <p:cNvSpPr/>
          <p:nvPr/>
        </p:nvSpPr>
        <p:spPr>
          <a:xfrm flipH="1">
            <a:off x="226683"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9" name="Rectangle 28"/>
          <p:cNvSpPr/>
          <p:nvPr/>
        </p:nvSpPr>
        <p:spPr>
          <a:xfrm flipH="1">
            <a:off x="254935"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0" name="Rectangle 29"/>
          <p:cNvSpPr/>
          <p:nvPr/>
        </p:nvSpPr>
        <p:spPr>
          <a:xfrm>
            <a:off x="278711"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914400" y="512064"/>
            <a:ext cx="7772400" cy="914400"/>
          </a:xfrm>
        </p:spPr>
        <p:txBody>
          <a:bodyPr/>
          <a:lstStyle>
            <a:lvl1pPr>
              <a:defRPr sz="4000" cap="none" baseline="0"/>
            </a:lvl1pPr>
            <a:extLst/>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4" name="Espace réservé du pied de page 3"/>
          <p:cNvSpPr>
            <a:spLocks noGrp="1"/>
          </p:cNvSpPr>
          <p:nvPr>
            <p:ph type="ftr" sz="quarter" idx="11"/>
          </p:nvPr>
        </p:nvSpPr>
        <p:spPr/>
        <p:txBody>
          <a:bodyPr/>
          <a:lstStyle>
            <a:extLst/>
          </a:lstStyle>
          <a:p>
            <a:endParaRPr lang="fr-FR" dirty="0"/>
          </a:p>
        </p:txBody>
      </p:sp>
      <p:sp>
        <p:nvSpPr>
          <p:cNvPr id="5" name="Espace réservé du numéro de diapositive 4"/>
          <p:cNvSpPr>
            <a:spLocks noGrp="1"/>
          </p:cNvSpPr>
          <p:nvPr>
            <p:ph type="sldNum" sz="quarter" idx="12"/>
          </p:nvPr>
        </p:nvSpPr>
        <p:spPr/>
        <p:txBody>
          <a:bodyPr/>
          <a:lstStyle>
            <a:extLst/>
          </a:lstStyle>
          <a:p>
            <a:fld id="{B9266EB8-A623-4882-9858-6B128F8881EF}" type="slidenum">
              <a:rPr lang="fr-FR" smtClean="0"/>
              <a:pPr/>
              <a:t>‹N°›</a:t>
            </a:fld>
            <a:endParaRPr lang="fr-F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3" name="Espace réservé du pied de page 2"/>
          <p:cNvSpPr>
            <a:spLocks noGrp="1"/>
          </p:cNvSpPr>
          <p:nvPr>
            <p:ph type="ftr" sz="quarter" idx="11"/>
          </p:nvPr>
        </p:nvSpPr>
        <p:spPr/>
        <p:txBody>
          <a:bodyPr/>
          <a:lstStyle>
            <a:extLst/>
          </a:lstStyle>
          <a:p>
            <a:endParaRPr lang="fr-FR" dirty="0"/>
          </a:p>
        </p:txBody>
      </p:sp>
      <p:sp>
        <p:nvSpPr>
          <p:cNvPr id="4" name="Espace réservé du numéro de diapositive 3"/>
          <p:cNvSpPr>
            <a:spLocks noGrp="1"/>
          </p:cNvSpPr>
          <p:nvPr>
            <p:ph type="sldNum" sz="quarter" idx="12"/>
          </p:nvPr>
        </p:nvSpPr>
        <p:spPr/>
        <p:txBody>
          <a:bodyPr/>
          <a:lstStyle>
            <a:extLst/>
          </a:lstStyle>
          <a:p>
            <a:fld id="{B9266EB8-A623-4882-9858-6B128F8881EF}" type="slidenum">
              <a:rPr lang="fr-FR" smtClean="0"/>
              <a:pPr/>
              <a:t>‹N°›</a:t>
            </a:fld>
            <a:endParaRPr lang="fr-F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85800" y="273050"/>
            <a:ext cx="8229600" cy="1162050"/>
          </a:xfrm>
        </p:spPr>
        <p:txBody>
          <a:bodyPr anchor="ctr"/>
          <a:lstStyle>
            <a:lvl1pPr algn="l">
              <a:buNone/>
              <a:defRPr sz="3600" b="0"/>
            </a:lvl1pPr>
            <a:extLst/>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6" name="Espace réservé du pied de page 5"/>
          <p:cNvSpPr>
            <a:spLocks noGrp="1"/>
          </p:cNvSpPr>
          <p:nvPr>
            <p:ph type="ftr" sz="quarter" idx="11"/>
          </p:nvPr>
        </p:nvSpPr>
        <p:spPr/>
        <p:txBody>
          <a:bodyPr/>
          <a:lstStyle>
            <a:extLst/>
          </a:lstStyle>
          <a:p>
            <a:endParaRPr lang="fr-FR" dirty="0"/>
          </a:p>
        </p:txBody>
      </p:sp>
      <p:sp>
        <p:nvSpPr>
          <p:cNvPr id="7" name="Espace réservé du numéro de diapositive 6"/>
          <p:cNvSpPr>
            <a:spLocks noGrp="1"/>
          </p:cNvSpPr>
          <p:nvPr>
            <p:ph type="sldNum" sz="quarter" idx="12"/>
          </p:nvPr>
        </p:nvSpPr>
        <p:spPr/>
        <p:txBody>
          <a:bodyPr/>
          <a:lstStyle>
            <a:extLst/>
          </a:lstStyle>
          <a:p>
            <a:fld id="{B9266EB8-A623-4882-9858-6B128F8881EF}" type="slidenum">
              <a:rPr lang="fr-FR" smtClean="0"/>
              <a:pPr/>
              <a:t>‹N°›</a:t>
            </a:fld>
            <a:endParaRPr lang="fr-F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368032" y="4"/>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cxnSp>
        <p:nvCxnSpPr>
          <p:cNvPr id="9" name="Connecteur droit 8"/>
          <p:cNvCxnSpPr/>
          <p:nvPr/>
        </p:nvCxnSpPr>
        <p:spPr>
          <a:xfrm flipV="1">
            <a:off x="363196" y="1885028"/>
            <a:ext cx="878262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e 9"/>
          <p:cNvGrpSpPr/>
          <p:nvPr/>
        </p:nvGrpSpPr>
        <p:grpSpPr>
          <a:xfrm rot="5400000">
            <a:off x="8514587" y="1219200"/>
            <a:ext cx="132763" cy="128467"/>
            <a:chOff x="6668087" y="1297746"/>
            <a:chExt cx="161840" cy="156602"/>
          </a:xfrm>
        </p:grpSpPr>
        <p:cxnSp>
          <p:nvCxnSpPr>
            <p:cNvPr id="15" name="Connecteur droit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re 1"/>
          <p:cNvSpPr>
            <a:spLocks noGrp="1"/>
          </p:cNvSpPr>
          <p:nvPr>
            <p:ph type="title"/>
          </p:nvPr>
        </p:nvSpPr>
        <p:spPr bwMode="grayWhite">
          <a:xfrm>
            <a:off x="914400" y="441255"/>
            <a:ext cx="6858000" cy="701749"/>
          </a:xfrm>
        </p:spPr>
        <p:txBody>
          <a:bodyPr anchor="b"/>
          <a:lstStyle>
            <a:lvl1pPr algn="l">
              <a:buNone/>
              <a:defRPr sz="2100" b="0"/>
            </a:lvl1pPr>
            <a:extLst/>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68032" y="1893783"/>
            <a:ext cx="8778240" cy="4960144"/>
          </a:xfrm>
          <a:solidFill>
            <a:schemeClr val="bg2"/>
          </a:solidFill>
        </p:spPr>
        <p:txBody>
          <a:bodyPr/>
          <a:lstStyle>
            <a:lvl1pPr marL="0" indent="0">
              <a:buNone/>
              <a:defRPr sz="3200"/>
            </a:lvl1pPr>
            <a:extLst/>
          </a:lstStyle>
          <a:p>
            <a:r>
              <a:rPr kumimoji="0" lang="fr-FR" dirty="0" smtClean="0"/>
              <a:t>Cliquez sur l'icône pour ajouter une image</a:t>
            </a:r>
            <a:endParaRPr kumimoji="0" lang="en-US" dirty="0"/>
          </a:p>
        </p:txBody>
      </p:sp>
      <p:sp>
        <p:nvSpPr>
          <p:cNvPr id="4" name="Espace réservé du texte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fr-FR" smtClean="0"/>
              <a:t>Cliquez pour modifier les styles du texte du masque</a:t>
            </a:r>
          </a:p>
        </p:txBody>
      </p:sp>
      <p:grpSp>
        <p:nvGrpSpPr>
          <p:cNvPr id="14" name="Groupe 13"/>
          <p:cNvGrpSpPr/>
          <p:nvPr/>
        </p:nvGrpSpPr>
        <p:grpSpPr>
          <a:xfrm rot="5400000">
            <a:off x="8666987" y="1371600"/>
            <a:ext cx="132763" cy="128467"/>
            <a:chOff x="6668087" y="1297746"/>
            <a:chExt cx="161840" cy="156602"/>
          </a:xfrm>
        </p:grpSpPr>
        <p:cxnSp>
          <p:nvCxnSpPr>
            <p:cNvPr id="11" name="Connecteur droit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e 17"/>
          <p:cNvGrpSpPr/>
          <p:nvPr/>
        </p:nvGrpSpPr>
        <p:grpSpPr>
          <a:xfrm rot="5400000">
            <a:off x="8320093" y="1474764"/>
            <a:ext cx="132763" cy="128467"/>
            <a:chOff x="6668087" y="1297746"/>
            <a:chExt cx="161840" cy="156602"/>
          </a:xfrm>
        </p:grpSpPr>
        <p:cxnSp>
          <p:nvCxnSpPr>
            <p:cNvPr id="19" name="Connecteur droit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Espace réservé de la date 4"/>
          <p:cNvSpPr>
            <a:spLocks noGrp="1"/>
          </p:cNvSpPr>
          <p:nvPr>
            <p:ph type="dt" sz="half" idx="10"/>
          </p:nvPr>
        </p:nvSpPr>
        <p:spPr>
          <a:xfrm>
            <a:off x="6477000" y="55503"/>
            <a:ext cx="2133600" cy="365125"/>
          </a:xfrm>
        </p:spPr>
        <p:txBody>
          <a:bodyPr/>
          <a:lstStyle>
            <a:extLst/>
          </a:lstStyle>
          <a:p>
            <a:fld id="{950F735A-9674-4D40-948E-A40CC7D7940A}" type="datetimeFigureOut">
              <a:rPr lang="fr-FR" smtClean="0"/>
              <a:pPr/>
              <a:t>31/08/2009</a:t>
            </a:fld>
            <a:endParaRPr lang="fr-FR" dirty="0"/>
          </a:p>
        </p:txBody>
      </p:sp>
      <p:sp>
        <p:nvSpPr>
          <p:cNvPr id="6" name="Espace réservé du pied de page 5"/>
          <p:cNvSpPr>
            <a:spLocks noGrp="1"/>
          </p:cNvSpPr>
          <p:nvPr>
            <p:ph type="ftr" sz="quarter" idx="11"/>
          </p:nvPr>
        </p:nvSpPr>
        <p:spPr>
          <a:xfrm>
            <a:off x="914400" y="55503"/>
            <a:ext cx="5562600" cy="365125"/>
          </a:xfrm>
        </p:spPr>
        <p:txBody>
          <a:bodyPr/>
          <a:lstStyle>
            <a:extLst/>
          </a:lstStyle>
          <a:p>
            <a:endParaRPr lang="fr-FR" dirty="0"/>
          </a:p>
        </p:txBody>
      </p:sp>
      <p:sp>
        <p:nvSpPr>
          <p:cNvPr id="7" name="Espace réservé du numéro de diapositive 6"/>
          <p:cNvSpPr>
            <a:spLocks noGrp="1"/>
          </p:cNvSpPr>
          <p:nvPr>
            <p:ph type="sldNum" sz="quarter" idx="12"/>
          </p:nvPr>
        </p:nvSpPr>
        <p:spPr>
          <a:xfrm>
            <a:off x="8610600" y="55503"/>
            <a:ext cx="457200" cy="365125"/>
          </a:xfrm>
        </p:spPr>
        <p:txBody>
          <a:bodyPr/>
          <a:lstStyle>
            <a:extLst/>
          </a:lstStyle>
          <a:p>
            <a:fld id="{B9266EB8-A623-4882-9858-6B128F8881EF}" type="slidenum">
              <a:rPr lang="fr-FR" smtClean="0"/>
              <a:pPr/>
              <a:t>‹N°›</a:t>
            </a:fld>
            <a:endParaRPr lang="fr-F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5" name="Espace réservé du pied de page 4"/>
          <p:cNvSpPr>
            <a:spLocks noGrp="1"/>
          </p:cNvSpPr>
          <p:nvPr>
            <p:ph type="ftr" sz="quarter" idx="11"/>
          </p:nvPr>
        </p:nvSpPr>
        <p:spPr/>
        <p:txBody>
          <a:bodyPr/>
          <a:lstStyle>
            <a:extLst/>
          </a:lstStyle>
          <a:p>
            <a:endParaRPr lang="fr-FR" dirty="0"/>
          </a:p>
        </p:txBody>
      </p:sp>
      <p:sp>
        <p:nvSpPr>
          <p:cNvPr id="6" name="Espace réservé du numéro de diapositive 5"/>
          <p:cNvSpPr>
            <a:spLocks noGrp="1"/>
          </p:cNvSpPr>
          <p:nvPr>
            <p:ph type="sldNum" sz="quarter" idx="12"/>
          </p:nvPr>
        </p:nvSpPr>
        <p:spPr/>
        <p:txBody>
          <a:bodyPr/>
          <a:lstStyle>
            <a:extLst/>
          </a:lstStyle>
          <a:p>
            <a:fld id="{B9266EB8-A623-4882-9858-6B128F8881EF}" type="slidenum">
              <a:rPr lang="fr-FR" smtClean="0"/>
              <a:pPr/>
              <a:t>‹N°›</a:t>
            </a:fld>
            <a:endParaRPr lang="fr-F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3"/>
            <a:ext cx="1981200" cy="5851525"/>
          </a:xfrm>
        </p:spPr>
        <p:txBody>
          <a:bodyPr vert="eaVert" anchor="ct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609600" y="274643"/>
            <a:ext cx="5867400" cy="5851525"/>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950F735A-9674-4D40-948E-A40CC7D7940A}" type="datetimeFigureOut">
              <a:rPr lang="fr-FR" smtClean="0"/>
              <a:pPr/>
              <a:t>31/08/2009</a:t>
            </a:fld>
            <a:endParaRPr lang="fr-FR" dirty="0"/>
          </a:p>
        </p:txBody>
      </p:sp>
      <p:sp>
        <p:nvSpPr>
          <p:cNvPr id="5" name="Espace réservé du pied de page 4"/>
          <p:cNvSpPr>
            <a:spLocks noGrp="1"/>
          </p:cNvSpPr>
          <p:nvPr>
            <p:ph type="ftr" sz="quarter" idx="11"/>
          </p:nvPr>
        </p:nvSpPr>
        <p:spPr/>
        <p:txBody>
          <a:bodyPr/>
          <a:lstStyle>
            <a:extLst/>
          </a:lstStyle>
          <a:p>
            <a:endParaRPr lang="fr-FR" dirty="0"/>
          </a:p>
        </p:txBody>
      </p:sp>
      <p:sp>
        <p:nvSpPr>
          <p:cNvPr id="6" name="Espace réservé du numéro de diapositive 5"/>
          <p:cNvSpPr>
            <a:spLocks noGrp="1"/>
          </p:cNvSpPr>
          <p:nvPr>
            <p:ph type="sldNum" sz="quarter" idx="12"/>
          </p:nvPr>
        </p:nvSpPr>
        <p:spPr/>
        <p:txBody>
          <a:bodyPr/>
          <a:lstStyle>
            <a:extLst/>
          </a:lstStyle>
          <a:p>
            <a:fld id="{B9266EB8-A623-4882-9858-6B128F8881EF}" type="slidenum">
              <a:rPr lang="fr-FR" smtClean="0"/>
              <a:pPr/>
              <a:t>‹N°›</a:t>
            </a:fld>
            <a:endParaRPr lang="fr-F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2" name="Rectangle 11"/>
          <p:cNvSpPr/>
          <p:nvPr/>
        </p:nvSpPr>
        <p:spPr>
          <a:xfrm>
            <a:off x="309559"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22" name="Espace réservé du titre 21"/>
          <p:cNvSpPr>
            <a:spLocks noGrp="1"/>
          </p:cNvSpPr>
          <p:nvPr>
            <p:ph type="title"/>
          </p:nvPr>
        </p:nvSpPr>
        <p:spPr>
          <a:xfrm>
            <a:off x="914400" y="512064"/>
            <a:ext cx="7772400" cy="914400"/>
          </a:xfrm>
          <a:prstGeom prst="rect">
            <a:avLst/>
          </a:prstGeom>
        </p:spPr>
        <p:txBody>
          <a:bodyPr vert="horz" anchor="t">
            <a:noAutofit/>
          </a:bodyPr>
          <a:lstStyle>
            <a:extLst/>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783560"/>
            <a:ext cx="7772400" cy="4572000"/>
          </a:xfrm>
          <a:prstGeom prst="rect">
            <a:avLst/>
          </a:prstGeom>
        </p:spPr>
        <p:txBody>
          <a:bodyPr vert="horz">
            <a:normAutofit/>
          </a:bodyPr>
          <a:lstStyle>
            <a:extLst/>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477000" y="6416679"/>
            <a:ext cx="2133600" cy="365125"/>
          </a:xfrm>
          <a:prstGeom prst="rect">
            <a:avLst/>
          </a:prstGeom>
        </p:spPr>
        <p:txBody>
          <a:bodyPr vert="horz" anchor="b"/>
          <a:lstStyle>
            <a:lvl1pPr algn="l" eaLnBrk="1" latinLnBrk="0" hangingPunct="1">
              <a:defRPr kumimoji="0" sz="1100">
                <a:solidFill>
                  <a:schemeClr val="tx2"/>
                </a:solidFill>
              </a:defRPr>
            </a:lvl1pPr>
            <a:extLst/>
          </a:lstStyle>
          <a:p>
            <a:fld id="{950F735A-9674-4D40-948E-A40CC7D7940A}" type="datetimeFigureOut">
              <a:rPr lang="fr-FR" smtClean="0"/>
              <a:pPr/>
              <a:t>31/08/2009</a:t>
            </a:fld>
            <a:endParaRPr lang="fr-FR" dirty="0"/>
          </a:p>
        </p:txBody>
      </p:sp>
      <p:sp>
        <p:nvSpPr>
          <p:cNvPr id="3" name="Espace réservé du pied de page 2"/>
          <p:cNvSpPr>
            <a:spLocks noGrp="1"/>
          </p:cNvSpPr>
          <p:nvPr>
            <p:ph type="ftr" sz="quarter" idx="3"/>
          </p:nvPr>
        </p:nvSpPr>
        <p:spPr>
          <a:xfrm>
            <a:off x="914400" y="6416679"/>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fr-FR" dirty="0"/>
          </a:p>
        </p:txBody>
      </p:sp>
      <p:sp>
        <p:nvSpPr>
          <p:cNvPr id="23" name="Espace réservé du numéro de diapositive 22"/>
          <p:cNvSpPr>
            <a:spLocks noGrp="1"/>
          </p:cNvSpPr>
          <p:nvPr>
            <p:ph type="sldNum" sz="quarter" idx="4"/>
          </p:nvPr>
        </p:nvSpPr>
        <p:spPr>
          <a:xfrm>
            <a:off x="8610600" y="6416679"/>
            <a:ext cx="457200" cy="365125"/>
          </a:xfrm>
          <a:prstGeom prst="rect">
            <a:avLst/>
          </a:prstGeom>
        </p:spPr>
        <p:txBody>
          <a:bodyPr vert="horz" anchor="b"/>
          <a:lstStyle>
            <a:lvl1pPr algn="l" eaLnBrk="1" latinLnBrk="0" hangingPunct="1">
              <a:defRPr kumimoji="0" sz="1200">
                <a:solidFill>
                  <a:schemeClr val="tx2"/>
                </a:solidFill>
              </a:defRPr>
            </a:lvl1pPr>
            <a:extLst/>
          </a:lstStyle>
          <a:p>
            <a:fld id="{B9266EB8-A623-4882-9858-6B128F8881EF}" type="slidenum">
              <a:rPr lang="fr-FR" smtClean="0"/>
              <a:pPr/>
              <a:t>‹N°›</a:t>
            </a:fld>
            <a:endParaRPr lang="fr-FR" dirty="0"/>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ideo" Target="file:///C:\Documents%20and%20Settings\Boufenar\Mes%20documents\Oesophage\CRMV0050.AVI" TargetMode="Externa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video" Target="file:///C:\Documents%20and%20Settings\Boufenar\Mes%20documents\Oesophage\CRMV0043.AVI"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ideo" Target="file:///C:\Documents%20and%20Settings\Boufenar\Mes%20documents\Oesophage\CRMV0043.AVI"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ideo" Target="file:///C:\Documents%20and%20Settings\Boufenar\Mes%20documents\Oesophage\CRMV0011.AVI"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video" Target="file:///C:\Documents%20and%20Settings\Boufenar\Mes%20documents\Oesophage\CRMV0011.AVI"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8597" y="142852"/>
            <a:ext cx="8501123" cy="1569660"/>
          </a:xfrm>
          <a:prstGeom prst="rect">
            <a:avLst/>
          </a:prstGeom>
        </p:spPr>
        <p:txBody>
          <a:bodyPr wrap="square">
            <a:spAutoFit/>
          </a:bodyPr>
          <a:lstStyle/>
          <a:p>
            <a:r>
              <a:rPr lang="fr-FR" sz="4800" b="1" dirty="0" smtClean="0">
                <a:solidFill>
                  <a:schemeClr val="accent3">
                    <a:lumMod val="75000"/>
                  </a:schemeClr>
                </a:solidFill>
              </a:rPr>
              <a:t>cancers de l'œsophage et de la        jonction œsogastrique  </a:t>
            </a:r>
            <a:endParaRPr lang="en-US" sz="4800" b="1" dirty="0">
              <a:solidFill>
                <a:schemeClr val="accent3">
                  <a:lumMod val="75000"/>
                </a:schemeClr>
              </a:solidFill>
            </a:endParaRPr>
          </a:p>
        </p:txBody>
      </p:sp>
      <p:pic>
        <p:nvPicPr>
          <p:cNvPr id="4" name="CRMV0050.AVI">
            <a:hlinkClick r:id="" action="ppaction://media"/>
          </p:cNvPr>
          <p:cNvPicPr>
            <a:picLocks noRot="1" noChangeAspect="1"/>
          </p:cNvPicPr>
          <p:nvPr>
            <a:videoFile r:link="rId1"/>
          </p:nvPr>
        </p:nvPicPr>
        <p:blipFill>
          <a:blip r:embed="rId4"/>
          <a:stretch>
            <a:fillRect/>
          </a:stretch>
        </p:blipFill>
        <p:spPr>
          <a:xfrm>
            <a:off x="4071871" y="1714488"/>
            <a:ext cx="4967808" cy="3401868"/>
          </a:xfrm>
          <a:prstGeom prst="rect">
            <a:avLst/>
          </a:prstGeom>
        </p:spPr>
      </p:pic>
      <p:sp>
        <p:nvSpPr>
          <p:cNvPr id="8" name="ZoneTexte 7"/>
          <p:cNvSpPr txBox="1"/>
          <p:nvPr/>
        </p:nvSpPr>
        <p:spPr>
          <a:xfrm>
            <a:off x="428564" y="4672786"/>
            <a:ext cx="8715436" cy="2185214"/>
          </a:xfrm>
          <a:prstGeom prst="rect">
            <a:avLst/>
          </a:prstGeom>
          <a:blipFill>
            <a:blip r:embed="rId5"/>
            <a:tile tx="0" ty="0" sx="100000" sy="100000" flip="none" algn="tl"/>
          </a:blipFill>
        </p:spPr>
        <p:txBody>
          <a:bodyPr wrap="square" rtlCol="0">
            <a:spAutoFit/>
          </a:bodyPr>
          <a:lstStyle/>
          <a:p>
            <a:r>
              <a:rPr lang="fr-FR" sz="4800" dirty="0" smtClean="0">
                <a:cs typeface="Aharoni" pitchFamily="2" charset="-79"/>
              </a:rPr>
              <a:t>       </a:t>
            </a:r>
            <a:r>
              <a:rPr lang="fr-FR" sz="4400" b="1" dirty="0" err="1" smtClean="0">
                <a:solidFill>
                  <a:schemeClr val="accent2">
                    <a:lumMod val="75000"/>
                  </a:schemeClr>
                </a:solidFill>
                <a:cs typeface="Aharoni" pitchFamily="2" charset="-79"/>
              </a:rPr>
              <a:t>univercite</a:t>
            </a:r>
            <a:r>
              <a:rPr lang="fr-FR" sz="4400" b="1" dirty="0" smtClean="0">
                <a:solidFill>
                  <a:schemeClr val="accent2">
                    <a:lumMod val="75000"/>
                  </a:schemeClr>
                </a:solidFill>
                <a:cs typeface="Aharoni" pitchFamily="2" charset="-79"/>
              </a:rPr>
              <a:t>  des </a:t>
            </a:r>
            <a:r>
              <a:rPr lang="fr-FR" sz="4400" b="1" dirty="0" err="1" smtClean="0">
                <a:solidFill>
                  <a:schemeClr val="accent2">
                    <a:lumMod val="75000"/>
                  </a:schemeClr>
                </a:solidFill>
                <a:cs typeface="Aharoni" pitchFamily="2" charset="-79"/>
              </a:rPr>
              <a:t>freres</a:t>
            </a:r>
            <a:r>
              <a:rPr lang="fr-FR" sz="4400" b="1" dirty="0" smtClean="0">
                <a:solidFill>
                  <a:schemeClr val="accent2">
                    <a:lumMod val="75000"/>
                  </a:schemeClr>
                </a:solidFill>
                <a:cs typeface="Aharoni" pitchFamily="2" charset="-79"/>
              </a:rPr>
              <a:t> </a:t>
            </a:r>
            <a:r>
              <a:rPr lang="fr-FR" sz="4400" b="1" dirty="0" err="1" smtClean="0">
                <a:solidFill>
                  <a:schemeClr val="accent2">
                    <a:lumMod val="75000"/>
                  </a:schemeClr>
                </a:solidFill>
                <a:cs typeface="Aharoni" pitchFamily="2" charset="-79"/>
              </a:rPr>
              <a:t>mentouri</a:t>
            </a:r>
            <a:r>
              <a:rPr lang="fr-FR" sz="4400" b="1" dirty="0" smtClean="0">
                <a:solidFill>
                  <a:schemeClr val="accent2">
                    <a:lumMod val="75000"/>
                  </a:schemeClr>
                </a:solidFill>
                <a:cs typeface="Aharoni" pitchFamily="2" charset="-79"/>
              </a:rPr>
              <a:t> c0nstantine </a:t>
            </a:r>
          </a:p>
          <a:p>
            <a:r>
              <a:rPr lang="fr-FR" sz="4400" b="1" dirty="0" err="1" smtClean="0">
                <a:solidFill>
                  <a:schemeClr val="accent2">
                    <a:lumMod val="75000"/>
                  </a:schemeClr>
                </a:solidFill>
                <a:cs typeface="Aharoni" pitchFamily="2" charset="-79"/>
              </a:rPr>
              <a:t>faculte</a:t>
            </a:r>
            <a:r>
              <a:rPr lang="fr-FR" sz="4400" b="1" dirty="0" smtClean="0">
                <a:solidFill>
                  <a:schemeClr val="accent2">
                    <a:lumMod val="75000"/>
                  </a:schemeClr>
                </a:solidFill>
                <a:cs typeface="Aharoni" pitchFamily="2" charset="-79"/>
              </a:rPr>
              <a:t> de </a:t>
            </a:r>
            <a:r>
              <a:rPr lang="fr-FR" sz="4400" b="1" smtClean="0">
                <a:solidFill>
                  <a:schemeClr val="accent2">
                    <a:lumMod val="75000"/>
                  </a:schemeClr>
                </a:solidFill>
                <a:cs typeface="Aharoni" pitchFamily="2" charset="-79"/>
              </a:rPr>
              <a:t>medecine</a:t>
            </a:r>
            <a:r>
              <a:rPr lang="fr-FR" sz="4400" b="1" dirty="0" smtClean="0">
                <a:solidFill>
                  <a:schemeClr val="accent2">
                    <a:lumMod val="75000"/>
                  </a:schemeClr>
                </a:solidFill>
                <a:cs typeface="Aharoni" pitchFamily="2" charset="-79"/>
              </a:rPr>
              <a:t> </a:t>
            </a:r>
          </a:p>
        </p:txBody>
      </p:sp>
      <p:sp>
        <p:nvSpPr>
          <p:cNvPr id="5" name="ZoneTexte 4"/>
          <p:cNvSpPr txBox="1"/>
          <p:nvPr/>
        </p:nvSpPr>
        <p:spPr>
          <a:xfrm>
            <a:off x="366683" y="2509834"/>
            <a:ext cx="5572164" cy="1508105"/>
          </a:xfrm>
          <a:prstGeom prst="rect">
            <a:avLst/>
          </a:prstGeom>
          <a:blipFill>
            <a:blip r:embed="rId5"/>
            <a:tile tx="0" ty="0" sx="100000" sy="100000" flip="none" algn="tl"/>
          </a:blipFill>
        </p:spPr>
        <p:txBody>
          <a:bodyPr wrap="square" rtlCol="0">
            <a:spAutoFit/>
          </a:bodyPr>
          <a:lstStyle/>
          <a:p>
            <a:r>
              <a:rPr lang="fr-FR" sz="4800" dirty="0" smtClean="0">
                <a:cs typeface="Aharoni" pitchFamily="2" charset="-79"/>
              </a:rPr>
              <a:t>       </a:t>
            </a:r>
            <a:r>
              <a:rPr lang="fr-FR" sz="4400" b="1" dirty="0" err="1" smtClean="0">
                <a:solidFill>
                  <a:schemeClr val="accent2">
                    <a:lumMod val="75000"/>
                  </a:schemeClr>
                </a:solidFill>
                <a:cs typeface="Aharoni" pitchFamily="2" charset="-79"/>
              </a:rPr>
              <a:t>presente</a:t>
            </a:r>
            <a:r>
              <a:rPr lang="fr-FR" sz="4400" b="1" dirty="0" smtClean="0">
                <a:solidFill>
                  <a:schemeClr val="accent2">
                    <a:lumMod val="75000"/>
                  </a:schemeClr>
                </a:solidFill>
                <a:cs typeface="Aharoni" pitchFamily="2" charset="-79"/>
              </a:rPr>
              <a:t> par</a:t>
            </a:r>
          </a:p>
          <a:p>
            <a:r>
              <a:rPr lang="fr-FR" sz="4400" b="1" dirty="0" err="1" smtClean="0">
                <a:solidFill>
                  <a:schemeClr val="accent2">
                    <a:lumMod val="75000"/>
                  </a:schemeClr>
                </a:solidFill>
                <a:cs typeface="Aharoni" pitchFamily="2" charset="-79"/>
              </a:rPr>
              <a:t>dr</a:t>
            </a:r>
            <a:r>
              <a:rPr lang="fr-FR" sz="4400" b="1" dirty="0" smtClean="0">
                <a:solidFill>
                  <a:schemeClr val="accent2">
                    <a:lumMod val="75000"/>
                  </a:schemeClr>
                </a:solidFill>
                <a:cs typeface="Aharoni" pitchFamily="2" charset="-79"/>
              </a:rPr>
              <a:t> 	</a:t>
            </a:r>
            <a:r>
              <a:rPr lang="fr-FR" sz="4400" b="1" dirty="0" err="1" smtClean="0">
                <a:solidFill>
                  <a:schemeClr val="accent2">
                    <a:lumMod val="75000"/>
                  </a:schemeClr>
                </a:solidFill>
                <a:cs typeface="Aharoni" pitchFamily="2" charset="-79"/>
              </a:rPr>
              <a:t>A.Boufenar</a:t>
            </a:r>
            <a:endParaRPr lang="fr-FR" sz="4400" b="1" dirty="0" smtClean="0">
              <a:solidFill>
                <a:schemeClr val="accent2">
                  <a:lumMod val="75000"/>
                </a:schemeClr>
              </a:solidFill>
              <a:cs typeface="Aharoni" pitchFamily="2" charset="-79"/>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299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p:cTn id="12" fill="hold" display="0">
                  <p:stCondLst>
                    <p:cond delay="indefinite"/>
                  </p:stCondLst>
                  <p:endCondLst>
                    <p:cond evt="onNext" delay="0">
                      <p:tgtEl>
                        <p:sldTgt/>
                      </p:tgtEl>
                    </p:cond>
                    <p:cond evt="onPrev" delay="0">
                      <p:tgtEl>
                        <p:sldTgt/>
                      </p:tgtEl>
                    </p:cond>
                  </p:end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9" y="1643054"/>
            <a:ext cx="7858180" cy="5078313"/>
          </a:xfrm>
          <a:prstGeom prst="rect">
            <a:avLst/>
          </a:prstGeom>
        </p:spPr>
        <p:txBody>
          <a:bodyPr wrap="square">
            <a:spAutoFit/>
          </a:bodyPr>
          <a:lstStyle/>
          <a:p>
            <a:r>
              <a:rPr lang="fr-FR" sz="3600" dirty="0" smtClean="0"/>
              <a:t>L’œsophage est la partie initiale du tube digestif tendue entre le pharynx et</a:t>
            </a:r>
          </a:p>
          <a:p>
            <a:r>
              <a:rPr lang="fr-FR" sz="3600" dirty="0" smtClean="0"/>
              <a:t>l’estomac. Ce conduit musculomembraneux à direction longitudinale</a:t>
            </a:r>
          </a:p>
          <a:p>
            <a:r>
              <a:rPr lang="fr-FR" sz="3600" dirty="0" smtClean="0"/>
              <a:t>transporte les aliments de la cavité pharyngienne à la cavité gastrique au cours</a:t>
            </a:r>
          </a:p>
          <a:p>
            <a:r>
              <a:rPr lang="fr-FR" sz="3600" dirty="0" smtClean="0"/>
              <a:t>du troisième temps de la déglutition.</a:t>
            </a:r>
            <a:endParaRPr lang="fr-FR" sz="3600" dirty="0"/>
          </a:p>
        </p:txBody>
      </p:sp>
      <p:sp>
        <p:nvSpPr>
          <p:cNvPr id="3" name="Rectangle 2"/>
          <p:cNvSpPr/>
          <p:nvPr/>
        </p:nvSpPr>
        <p:spPr>
          <a:xfrm>
            <a:off x="428596" y="785798"/>
            <a:ext cx="2393604" cy="984885"/>
          </a:xfrm>
          <a:prstGeom prst="rect">
            <a:avLst/>
          </a:prstGeom>
        </p:spPr>
        <p:txBody>
          <a:bodyPr wrap="none">
            <a:spAutoFit/>
          </a:bodyPr>
          <a:lstStyle/>
          <a:p>
            <a:r>
              <a:rPr lang="fr-FR" sz="4000" dirty="0" smtClean="0">
                <a:solidFill>
                  <a:srgbClr val="00B050"/>
                </a:solidFill>
              </a:rPr>
              <a:t>Déﬁnition </a:t>
            </a:r>
          </a:p>
          <a:p>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785" y="751344"/>
            <a:ext cx="7643867" cy="5755422"/>
          </a:xfrm>
          <a:prstGeom prst="rect">
            <a:avLst/>
          </a:prstGeom>
        </p:spPr>
        <p:txBody>
          <a:bodyPr wrap="square">
            <a:spAutoFit/>
          </a:bodyPr>
          <a:lstStyle/>
          <a:p>
            <a:endParaRPr lang="fr-FR" sz="2000" dirty="0" smtClean="0"/>
          </a:p>
          <a:p>
            <a:r>
              <a:rPr lang="fr-FR" sz="2000" dirty="0" smtClean="0"/>
              <a:t>A-  </a:t>
            </a:r>
            <a:r>
              <a:rPr lang="fr-FR" sz="4000" dirty="0" smtClean="0">
                <a:solidFill>
                  <a:srgbClr val="00B050"/>
                </a:solidFill>
              </a:rPr>
              <a:t>Épidémiologie </a:t>
            </a:r>
          </a:p>
          <a:p>
            <a:r>
              <a:rPr lang="fr-FR" sz="3200" dirty="0" smtClean="0">
                <a:solidFill>
                  <a:srgbClr val="FF0000"/>
                </a:solidFill>
              </a:rPr>
              <a:t>Environ 4 250 </a:t>
            </a:r>
            <a:r>
              <a:rPr lang="fr-FR" sz="2000" dirty="0" smtClean="0"/>
              <a:t>nouveaux cas de cancer de l’œsophage  son</a:t>
            </a:r>
          </a:p>
          <a:p>
            <a:r>
              <a:rPr lang="fr-FR" sz="2000" dirty="0" smtClean="0"/>
              <a:t>diagnostiqués en France chaque année, dont </a:t>
            </a:r>
            <a:r>
              <a:rPr lang="fr-FR" sz="3200" dirty="0" smtClean="0">
                <a:solidFill>
                  <a:srgbClr val="FF0000"/>
                </a:solidFill>
              </a:rPr>
              <a:t>75 % chez l’homme</a:t>
            </a:r>
          </a:p>
          <a:p>
            <a:r>
              <a:rPr lang="fr-FR" sz="2000" dirty="0" smtClean="0"/>
              <a:t>L’incidence a globalement baissé au cours de ces 30 dernières</a:t>
            </a:r>
          </a:p>
          <a:p>
            <a:r>
              <a:rPr lang="fr-FR" sz="2000" dirty="0" smtClean="0"/>
              <a:t>années. Dans les années 1980, elle était environ de 5 500 nouveaux</a:t>
            </a:r>
          </a:p>
          <a:p>
            <a:r>
              <a:rPr lang="fr-FR" sz="2000" dirty="0" smtClean="0"/>
              <a:t>cas .</a:t>
            </a:r>
          </a:p>
          <a:p>
            <a:r>
              <a:rPr lang="fr-FR" sz="2000" dirty="0" smtClean="0"/>
              <a:t> </a:t>
            </a:r>
          </a:p>
          <a:p>
            <a:r>
              <a:rPr lang="fr-FR" sz="2000" dirty="0" smtClean="0"/>
              <a:t> </a:t>
            </a:r>
          </a:p>
          <a:p>
            <a:r>
              <a:rPr lang="fr-FR" sz="2000" dirty="0" smtClean="0"/>
              <a:t>Le cancer de l’œsophage touche plus souvent les personnes entre </a:t>
            </a:r>
            <a:r>
              <a:rPr lang="fr-FR" sz="3600" dirty="0" smtClean="0">
                <a:solidFill>
                  <a:srgbClr val="FF0000"/>
                </a:solidFill>
              </a:rPr>
              <a:t>50</a:t>
            </a:r>
          </a:p>
          <a:p>
            <a:r>
              <a:rPr lang="fr-FR" sz="3600" dirty="0" smtClean="0">
                <a:solidFill>
                  <a:srgbClr val="FF0000"/>
                </a:solidFill>
              </a:rPr>
              <a:t>et 84 ans </a:t>
            </a:r>
            <a:r>
              <a:rPr lang="fr-FR" sz="2000" dirty="0" smtClean="0"/>
              <a:t>(86 % des cas diagnostiqués). L’âge moyen au diagnostic</a:t>
            </a:r>
          </a:p>
          <a:p>
            <a:r>
              <a:rPr lang="fr-FR" sz="2000" dirty="0" smtClean="0"/>
              <a:t>est de 73 ans chez les femmes, et de 67 ans chez les hommes</a:t>
            </a:r>
            <a:r>
              <a:rPr lang="fr-FR" dirty="0" smtClean="0"/>
              <a: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1000108"/>
            <a:ext cx="7358115" cy="5293757"/>
          </a:xfrm>
          <a:prstGeom prst="rect">
            <a:avLst/>
          </a:prstGeom>
          <a:solidFill>
            <a:schemeClr val="accent2">
              <a:lumMod val="50000"/>
            </a:schemeClr>
          </a:solidFill>
        </p:spPr>
        <p:txBody>
          <a:bodyPr wrap="square">
            <a:spAutoFit/>
          </a:bodyPr>
          <a:lstStyle/>
          <a:p>
            <a:r>
              <a:rPr lang="fr-FR" sz="3200" dirty="0" smtClean="0">
                <a:solidFill>
                  <a:schemeClr val="tx2">
                    <a:lumMod val="50000"/>
                  </a:schemeClr>
                </a:solidFill>
              </a:rPr>
              <a:t>A l’échelle mondiale, le nombre de nouveaux  cas en 2008 était voisin de 480 000 </a:t>
            </a:r>
            <a:r>
              <a:rPr lang="fr-FR" sz="3200" dirty="0" smtClean="0">
                <a:solidFill>
                  <a:schemeClr val="tx2">
                    <a:lumMod val="50000"/>
                  </a:schemeClr>
                </a:solidFill>
              </a:rPr>
              <a:t>cas   </a:t>
            </a:r>
            <a:r>
              <a:rPr lang="fr-FR" sz="3200" dirty="0" smtClean="0">
                <a:solidFill>
                  <a:schemeClr val="tx2">
                    <a:lumMod val="50000"/>
                  </a:schemeClr>
                </a:solidFill>
              </a:rPr>
              <a:t>dont 400 000 chez l’homme et 80 000 chez la femme  (Ferlay, 2010),  alors </a:t>
            </a:r>
          </a:p>
          <a:p>
            <a:r>
              <a:rPr lang="fr-FR" sz="3200" dirty="0" smtClean="0">
                <a:solidFill>
                  <a:schemeClr val="tx2">
                    <a:lumMod val="50000"/>
                  </a:schemeClr>
                </a:solidFill>
              </a:rPr>
              <a:t>qu’en France    le cancer de l’œsophage touche chaque année près de 4  700 </a:t>
            </a:r>
          </a:p>
          <a:p>
            <a:r>
              <a:rPr lang="fr-FR" sz="3200" dirty="0" smtClean="0">
                <a:solidFill>
                  <a:schemeClr val="tx2">
                    <a:lumMod val="50000"/>
                  </a:schemeClr>
                </a:solidFill>
              </a:rPr>
              <a:t>personnes (données 2012) ;le </a:t>
            </a:r>
            <a:r>
              <a:rPr lang="fr-FR" sz="3200" dirty="0" smtClean="0">
                <a:solidFill>
                  <a:schemeClr val="tx2">
                    <a:lumMod val="50000"/>
                  </a:schemeClr>
                </a:solidFill>
              </a:rPr>
              <a:t>nombre </a:t>
            </a:r>
            <a:r>
              <a:rPr lang="fr-FR" sz="3200" dirty="0" smtClean="0">
                <a:solidFill>
                  <a:schemeClr val="tx2">
                    <a:lumMod val="50000"/>
                  </a:schemeClr>
                </a:solidFill>
              </a:rPr>
              <a:t>de nouveaux </a:t>
            </a:r>
            <a:r>
              <a:rPr lang="fr-FR" sz="3200" dirty="0" smtClean="0">
                <a:solidFill>
                  <a:schemeClr val="tx2">
                    <a:lumMod val="50000"/>
                  </a:schemeClr>
                </a:solidFill>
              </a:rPr>
              <a:t>cas dans le monde </a:t>
            </a:r>
            <a:r>
              <a:rPr lang="fr-FR" sz="3200" dirty="0" smtClean="0">
                <a:solidFill>
                  <a:schemeClr val="tx2">
                    <a:lumMod val="50000"/>
                  </a:schemeClr>
                </a:solidFill>
              </a:rPr>
              <a:t>en 2020 était de 604100</a:t>
            </a:r>
          </a:p>
          <a:p>
            <a:r>
              <a:rPr lang="fr-FR" sz="3200" dirty="0" smtClean="0">
                <a:solidFill>
                  <a:schemeClr val="tx2">
                    <a:lumMod val="50000"/>
                  </a:schemeClr>
                </a:solidFill>
              </a:rPr>
              <a:t>Chaque </a:t>
            </a:r>
            <a:r>
              <a:rPr lang="fr-FR" sz="3200" dirty="0" err="1" smtClean="0">
                <a:solidFill>
                  <a:schemeClr val="tx2">
                    <a:lumMod val="50000"/>
                  </a:schemeClr>
                </a:solidFill>
              </a:rPr>
              <a:t>annee</a:t>
            </a:r>
            <a:endParaRPr lang="fr-FR" sz="3200" dirty="0" smtClean="0">
              <a:solidFill>
                <a:schemeClr val="tx2">
                  <a:lumMod val="50000"/>
                </a:schemeClr>
              </a:solidFill>
            </a:endParaRPr>
          </a:p>
          <a:p>
            <a:r>
              <a:rPr lang="fr-FR" dirty="0" smtClean="0"/>
              <a:t> </a:t>
            </a:r>
            <a:endParaRPr lang="en-US" dirty="0"/>
          </a:p>
        </p:txBody>
      </p:sp>
      <p:sp>
        <p:nvSpPr>
          <p:cNvPr id="3" name="Rectangle 2"/>
          <p:cNvSpPr/>
          <p:nvPr/>
        </p:nvSpPr>
        <p:spPr>
          <a:xfrm>
            <a:off x="1071537" y="428608"/>
            <a:ext cx="2712602" cy="584775"/>
          </a:xfrm>
          <a:prstGeom prst="rect">
            <a:avLst/>
          </a:prstGeom>
        </p:spPr>
        <p:txBody>
          <a:bodyPr wrap="none">
            <a:spAutoFit/>
          </a:bodyPr>
          <a:lstStyle/>
          <a:p>
            <a:r>
              <a:rPr lang="fr-FR" sz="3200" dirty="0" smtClean="0">
                <a:solidFill>
                  <a:srgbClr val="00B050"/>
                </a:solidFill>
              </a:rPr>
              <a:t>Épidémiologie </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09" y="785798"/>
            <a:ext cx="7072363" cy="5262979"/>
          </a:xfrm>
          <a:prstGeom prst="rect">
            <a:avLst/>
          </a:prstGeom>
          <a:solidFill>
            <a:schemeClr val="accent2">
              <a:lumMod val="50000"/>
            </a:schemeClr>
          </a:solidFill>
        </p:spPr>
        <p:txBody>
          <a:bodyPr wrap="square">
            <a:spAutoFit/>
          </a:bodyPr>
          <a:lstStyle/>
          <a:p>
            <a:r>
              <a:rPr lang="fr-FR" sz="2800" dirty="0" smtClean="0">
                <a:solidFill>
                  <a:schemeClr val="tx2">
                    <a:lumMod val="50000"/>
                  </a:schemeClr>
                </a:solidFill>
              </a:rPr>
              <a:t>Le pronostic de ce cancer est sombre. D’après  l’étude EUROCARE-5  la survie en </a:t>
            </a:r>
          </a:p>
          <a:p>
            <a:r>
              <a:rPr lang="fr-FR" sz="2800" dirty="0" smtClean="0">
                <a:solidFill>
                  <a:schemeClr val="tx2">
                    <a:lumMod val="50000"/>
                  </a:schemeClr>
                </a:solidFill>
              </a:rPr>
              <a:t>France était de </a:t>
            </a:r>
            <a:r>
              <a:rPr lang="fr-FR" sz="3200" dirty="0" smtClean="0">
                <a:solidFill>
                  <a:srgbClr val="FFC000"/>
                </a:solidFill>
              </a:rPr>
              <a:t>13,9</a:t>
            </a:r>
            <a:r>
              <a:rPr lang="fr-FR" sz="2800" dirty="0" smtClean="0">
                <a:solidFill>
                  <a:schemeClr val="tx2">
                    <a:lumMod val="50000"/>
                  </a:schemeClr>
                </a:solidFill>
              </a:rPr>
              <a:t> % à 5 ans (et </a:t>
            </a:r>
            <a:r>
              <a:rPr lang="fr-FR" sz="3200" dirty="0" smtClean="0">
                <a:solidFill>
                  <a:srgbClr val="FFC000"/>
                </a:solidFill>
              </a:rPr>
              <a:t>30 %</a:t>
            </a:r>
            <a:r>
              <a:rPr lang="fr-FR" sz="2800" dirty="0" smtClean="0">
                <a:solidFill>
                  <a:schemeClr val="tx2">
                    <a:lumMod val="50000"/>
                  </a:schemeClr>
                </a:solidFill>
              </a:rPr>
              <a:t> à 5 ans pour les malades ayant survécu à la </a:t>
            </a:r>
          </a:p>
          <a:p>
            <a:r>
              <a:rPr lang="fr-FR" sz="2800" dirty="0" smtClean="0">
                <a:solidFill>
                  <a:schemeClr val="tx2">
                    <a:lumMod val="50000"/>
                  </a:schemeClr>
                </a:solidFill>
              </a:rPr>
              <a:t>première année [</a:t>
            </a:r>
            <a:r>
              <a:rPr lang="fr-FR" sz="4000" dirty="0" smtClean="0">
                <a:solidFill>
                  <a:srgbClr val="FFC000"/>
                </a:solidFill>
              </a:rPr>
              <a:t>survie conditionnelle</a:t>
            </a:r>
            <a:r>
              <a:rPr lang="fr-FR" sz="2800" dirty="0" smtClean="0">
                <a:solidFill>
                  <a:schemeClr val="tx2">
                    <a:lumMod val="50000"/>
                  </a:schemeClr>
                </a:solidFill>
              </a:rPr>
              <a:t>] (Anderson, 2015). </a:t>
            </a:r>
          </a:p>
          <a:p>
            <a:r>
              <a:rPr lang="fr-FR" sz="2800" dirty="0" smtClean="0">
                <a:solidFill>
                  <a:schemeClr val="tx2">
                    <a:lumMod val="50000"/>
                  </a:schemeClr>
                </a:solidFill>
              </a:rPr>
              <a:t> </a:t>
            </a:r>
          </a:p>
          <a:p>
            <a:r>
              <a:rPr lang="fr-FR" sz="2800" dirty="0" smtClean="0">
                <a:solidFill>
                  <a:schemeClr val="tx2">
                    <a:lumMod val="50000"/>
                  </a:schemeClr>
                </a:solidFill>
              </a:rPr>
              <a:t>Il est aggravé dans les cancers œsogastriques comportant plus de 50% de   cellules </a:t>
            </a:r>
          </a:p>
          <a:p>
            <a:r>
              <a:rPr lang="fr-FR" sz="2800" dirty="0" smtClean="0">
                <a:solidFill>
                  <a:schemeClr val="tx2">
                    <a:lumMod val="50000"/>
                  </a:schemeClr>
                </a:solidFill>
              </a:rPr>
              <a:t>indépendantes en bague à chaton (</a:t>
            </a:r>
            <a:r>
              <a:rPr lang="fr-FR" sz="2800" dirty="0" err="1" smtClean="0">
                <a:solidFill>
                  <a:schemeClr val="tx2">
                    <a:lumMod val="50000"/>
                  </a:schemeClr>
                </a:solidFill>
              </a:rPr>
              <a:t>Nafteux</a:t>
            </a:r>
            <a:r>
              <a:rPr lang="fr-FR" sz="2800" dirty="0" smtClean="0">
                <a:solidFill>
                  <a:schemeClr val="tx2">
                    <a:lumMod val="50000"/>
                  </a:schemeClr>
                </a:solidFill>
              </a:rPr>
              <a:t>, 2014). </a:t>
            </a:r>
            <a:endParaRPr lang="en-US" sz="2800" dirty="0">
              <a:solidFill>
                <a:schemeClr val="tx2">
                  <a:lumMod val="50000"/>
                </a:schemeClr>
              </a:solidFill>
            </a:endParaRPr>
          </a:p>
        </p:txBody>
      </p:sp>
      <p:sp>
        <p:nvSpPr>
          <p:cNvPr id="3" name="Rectangle 2"/>
          <p:cNvSpPr/>
          <p:nvPr/>
        </p:nvSpPr>
        <p:spPr>
          <a:xfrm>
            <a:off x="857225" y="142856"/>
            <a:ext cx="5345355" cy="584775"/>
          </a:xfrm>
          <a:prstGeom prst="rect">
            <a:avLst/>
          </a:prstGeom>
        </p:spPr>
        <p:txBody>
          <a:bodyPr wrap="square">
            <a:spAutoFit/>
          </a:bodyPr>
          <a:lstStyle/>
          <a:p>
            <a:r>
              <a:rPr lang="fr-FR" sz="3200" dirty="0" smtClean="0">
                <a:solidFill>
                  <a:srgbClr val="00B050"/>
                </a:solidFill>
              </a:rPr>
              <a:t>pronostic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6116" y="142852"/>
            <a:ext cx="2677208" cy="707886"/>
          </a:xfrm>
          <a:prstGeom prst="rect">
            <a:avLst/>
          </a:prstGeom>
        </p:spPr>
        <p:txBody>
          <a:bodyPr wrap="none">
            <a:spAutoFit/>
          </a:bodyPr>
          <a:lstStyle/>
          <a:p>
            <a:r>
              <a:rPr lang="en-US" sz="4000" dirty="0" smtClean="0">
                <a:solidFill>
                  <a:srgbClr val="00B050"/>
                </a:solidFill>
              </a:rPr>
              <a:t>Points clefs </a:t>
            </a:r>
            <a:endParaRPr lang="en-US" sz="4000" dirty="0">
              <a:solidFill>
                <a:srgbClr val="00B050"/>
              </a:solidFill>
            </a:endParaRPr>
          </a:p>
        </p:txBody>
      </p:sp>
      <p:sp>
        <p:nvSpPr>
          <p:cNvPr id="3" name="Rectangle 2"/>
          <p:cNvSpPr/>
          <p:nvPr/>
        </p:nvSpPr>
        <p:spPr>
          <a:xfrm>
            <a:off x="1214413" y="751344"/>
            <a:ext cx="7643867" cy="4647426"/>
          </a:xfrm>
          <a:prstGeom prst="rect">
            <a:avLst/>
          </a:prstGeom>
        </p:spPr>
        <p:txBody>
          <a:bodyPr wrap="square">
            <a:spAutoFit/>
          </a:bodyPr>
          <a:lstStyle/>
          <a:p>
            <a:r>
              <a:rPr lang="fr-FR" sz="2400" dirty="0" smtClean="0"/>
              <a:t>1. Le cancer de l’œsophage est un cancer relativement peu </a:t>
            </a:r>
          </a:p>
          <a:p>
            <a:r>
              <a:rPr lang="fr-FR" sz="2400" dirty="0" smtClean="0"/>
              <a:t>fréquent qui touche plus particulièrement l’homme de plus de 50 ans. Il est de  </a:t>
            </a:r>
            <a:r>
              <a:rPr lang="fr-FR" sz="3200" dirty="0" smtClean="0">
                <a:solidFill>
                  <a:srgbClr val="FF0000"/>
                </a:solidFill>
              </a:rPr>
              <a:t>pronostic péjoratif</a:t>
            </a:r>
            <a:r>
              <a:rPr lang="fr-FR" sz="2400" dirty="0" smtClean="0"/>
              <a:t>, y compris dans ses formes localisées. </a:t>
            </a:r>
          </a:p>
          <a:p>
            <a:r>
              <a:rPr lang="fr-FR" sz="2400" dirty="0" smtClean="0"/>
              <a:t>2. Les principaux  facteurs de risque sont le </a:t>
            </a:r>
            <a:r>
              <a:rPr lang="fr-FR" sz="2400" dirty="0" smtClean="0">
                <a:solidFill>
                  <a:srgbClr val="FF0000"/>
                </a:solidFill>
              </a:rPr>
              <a:t>tabagisme, </a:t>
            </a:r>
          </a:p>
          <a:p>
            <a:r>
              <a:rPr lang="fr-FR" sz="2400" dirty="0" smtClean="0"/>
              <a:t>l</a:t>
            </a:r>
            <a:r>
              <a:rPr lang="fr-FR" sz="2400" dirty="0" smtClean="0">
                <a:solidFill>
                  <a:srgbClr val="FF0000"/>
                </a:solidFill>
              </a:rPr>
              <a:t>’alcoolisme</a:t>
            </a:r>
            <a:r>
              <a:rPr lang="fr-FR" sz="2400" dirty="0" smtClean="0"/>
              <a:t> - </a:t>
            </a:r>
            <a:r>
              <a:rPr lang="fr-FR" sz="2400" dirty="0" smtClean="0">
                <a:solidFill>
                  <a:srgbClr val="FF0000"/>
                </a:solidFill>
              </a:rPr>
              <a:t>aliments chauds</a:t>
            </a:r>
            <a:r>
              <a:rPr lang="fr-FR" sz="2400" dirty="0" smtClean="0"/>
              <a:t> et surtout leur association dans le cas du cancer épidermoïde ainsi que l'</a:t>
            </a:r>
            <a:r>
              <a:rPr lang="fr-FR" sz="2400" dirty="0" smtClean="0">
                <a:solidFill>
                  <a:srgbClr val="FF0000"/>
                </a:solidFill>
              </a:rPr>
              <a:t>obésité </a:t>
            </a:r>
            <a:r>
              <a:rPr lang="fr-FR" sz="2400" dirty="0" smtClean="0"/>
              <a:t>et le </a:t>
            </a:r>
            <a:r>
              <a:rPr lang="fr-FR" sz="2400" dirty="0" smtClean="0">
                <a:solidFill>
                  <a:srgbClr val="FF0000"/>
                </a:solidFill>
              </a:rPr>
              <a:t>reflux </a:t>
            </a:r>
            <a:r>
              <a:rPr lang="fr-FR" sz="2400" dirty="0" err="1" smtClean="0">
                <a:solidFill>
                  <a:srgbClr val="FF0000"/>
                </a:solidFill>
              </a:rPr>
              <a:t>gastro</a:t>
            </a:r>
            <a:r>
              <a:rPr lang="fr-FR" sz="2400" dirty="0" smtClean="0">
                <a:solidFill>
                  <a:srgbClr val="FF0000"/>
                </a:solidFill>
              </a:rPr>
              <a:t>-œsophagien</a:t>
            </a:r>
            <a:r>
              <a:rPr lang="fr-FR" sz="2400" dirty="0" smtClean="0"/>
              <a:t> ,</a:t>
            </a:r>
            <a:r>
              <a:rPr lang="fr-FR" sz="2400" dirty="0" smtClean="0">
                <a:solidFill>
                  <a:srgbClr val="FF0000"/>
                </a:solidFill>
              </a:rPr>
              <a:t>endobrachyoeusophage </a:t>
            </a:r>
            <a:r>
              <a:rPr lang="fr-FR" sz="2400" dirty="0" smtClean="0"/>
              <a:t> dans le cas de l’adénocarcinome. </a:t>
            </a:r>
          </a:p>
          <a:p>
            <a:r>
              <a:rPr lang="fr-FR" sz="2400" dirty="0" smtClean="0"/>
              <a:t>3. Le cancer de l’œsophage  doit être évoqué  devant une </a:t>
            </a:r>
          </a:p>
          <a:p>
            <a:r>
              <a:rPr lang="fr-FR" sz="2400" dirty="0" smtClean="0"/>
              <a:t>dysphagie progressive ou persistante, des régurgitations ou encore une altération de l’état général</a:t>
            </a:r>
            <a:r>
              <a:rPr lang="fr-FR" dirty="0" smtClean="0"/>
              <a:t>.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5" y="1357302"/>
            <a:ext cx="7858180" cy="4955203"/>
          </a:xfrm>
          <a:prstGeom prst="rect">
            <a:avLst/>
          </a:prstGeom>
        </p:spPr>
        <p:txBody>
          <a:bodyPr wrap="square">
            <a:spAutoFit/>
          </a:bodyPr>
          <a:lstStyle/>
          <a:p>
            <a:r>
              <a:rPr lang="fr-FR" sz="2000" dirty="0" smtClean="0"/>
              <a:t>4. Toute suspicion diagnostique de cancer de l’œsophage justifie </a:t>
            </a:r>
          </a:p>
          <a:p>
            <a:r>
              <a:rPr lang="fr-FR" sz="2000" dirty="0" smtClean="0">
                <a:solidFill>
                  <a:srgbClr val="FFC000"/>
                </a:solidFill>
              </a:rPr>
              <a:t>une endoscopie œsogastrique</a:t>
            </a:r>
            <a:r>
              <a:rPr lang="fr-FR" sz="2000" dirty="0" smtClean="0"/>
              <a:t> avec </a:t>
            </a:r>
            <a:r>
              <a:rPr lang="fr-FR" sz="2000" dirty="0" smtClean="0">
                <a:solidFill>
                  <a:srgbClr val="FFC000"/>
                </a:solidFill>
              </a:rPr>
              <a:t>biopsies</a:t>
            </a:r>
            <a:r>
              <a:rPr lang="fr-FR" sz="2000" dirty="0" smtClean="0"/>
              <a:t>.  L’examen </a:t>
            </a:r>
          </a:p>
          <a:p>
            <a:r>
              <a:rPr lang="fr-FR" sz="2000" dirty="0" smtClean="0"/>
              <a:t>anatomopathologique des biopsies permet de confirmer le </a:t>
            </a:r>
          </a:p>
          <a:p>
            <a:r>
              <a:rPr lang="fr-FR" sz="2000" dirty="0" smtClean="0"/>
              <a:t>diagnostic et de distinguer les cancers epidermoides des </a:t>
            </a:r>
          </a:p>
          <a:p>
            <a:r>
              <a:rPr lang="fr-FR" sz="2000" dirty="0" smtClean="0"/>
              <a:t>adénocarcinomes.  </a:t>
            </a:r>
          </a:p>
          <a:p>
            <a:r>
              <a:rPr lang="fr-FR" sz="2000" dirty="0" smtClean="0"/>
              <a:t>5. Outre l’endoscopie, le bilan initial comprend, avant tout, un </a:t>
            </a:r>
          </a:p>
          <a:p>
            <a:r>
              <a:rPr lang="fr-FR" sz="2000" dirty="0" smtClean="0">
                <a:solidFill>
                  <a:srgbClr val="FFC000"/>
                </a:solidFill>
              </a:rPr>
              <a:t>scanner thoraco-abdominal.  </a:t>
            </a:r>
          </a:p>
          <a:p>
            <a:r>
              <a:rPr lang="fr-FR" sz="2000" dirty="0" smtClean="0"/>
              <a:t>6. Le bilan </a:t>
            </a:r>
            <a:r>
              <a:rPr lang="fr-FR" sz="2000" dirty="0" err="1" smtClean="0"/>
              <a:t>préthérapeutique</a:t>
            </a:r>
            <a:r>
              <a:rPr lang="fr-FR" sz="2000" dirty="0" smtClean="0"/>
              <a:t> comprend un  </a:t>
            </a:r>
            <a:r>
              <a:rPr lang="fr-FR" sz="2400" dirty="0" smtClean="0">
                <a:solidFill>
                  <a:srgbClr val="FFC000"/>
                </a:solidFill>
              </a:rPr>
              <a:t>bilan nutritionnel</a:t>
            </a:r>
            <a:r>
              <a:rPr lang="fr-FR" sz="2000" dirty="0" smtClean="0"/>
              <a:t> et </a:t>
            </a:r>
          </a:p>
          <a:p>
            <a:r>
              <a:rPr lang="fr-FR" sz="2000" dirty="0" smtClean="0"/>
              <a:t>biologique, ainsi qu’une évaluation de l’état général, </a:t>
            </a:r>
          </a:p>
          <a:p>
            <a:r>
              <a:rPr lang="fr-FR" sz="2000" dirty="0" smtClean="0"/>
              <a:t>cardiologique et pulmonaire. Une aide au sevrage tabagique </a:t>
            </a:r>
          </a:p>
          <a:p>
            <a:r>
              <a:rPr lang="fr-FR" sz="2000" dirty="0" smtClean="0"/>
              <a:t>et/ou alcoolique peut être proposée. </a:t>
            </a:r>
          </a:p>
          <a:p>
            <a:r>
              <a:rPr lang="fr-FR" sz="2000" dirty="0" smtClean="0"/>
              <a:t>7. Une prise en charge nutritionnelle est recommandée avant toute </a:t>
            </a:r>
          </a:p>
          <a:p>
            <a:r>
              <a:rPr lang="fr-FR" sz="2000" dirty="0" smtClean="0"/>
              <a:t>chirurgie</a:t>
            </a:r>
            <a:r>
              <a:rPr lang="fr-FR" sz="3200" dirty="0" smtClean="0"/>
              <a:t>. </a:t>
            </a:r>
            <a:r>
              <a:rPr lang="fr-FR" sz="3200" dirty="0" smtClean="0">
                <a:solidFill>
                  <a:srgbClr val="FF3399"/>
                </a:solidFill>
              </a:rPr>
              <a:t>L’</a:t>
            </a:r>
            <a:r>
              <a:rPr lang="fr-FR" sz="3200" dirty="0" err="1" smtClean="0">
                <a:solidFill>
                  <a:srgbClr val="FF3399"/>
                </a:solidFill>
              </a:rPr>
              <a:t>œsophagectomie</a:t>
            </a:r>
            <a:r>
              <a:rPr lang="fr-FR" sz="3200" dirty="0" smtClean="0">
                <a:solidFill>
                  <a:srgbClr val="FF3399"/>
                </a:solidFill>
              </a:rPr>
              <a:t> </a:t>
            </a:r>
            <a:r>
              <a:rPr lang="fr-FR" sz="3200" dirty="0" err="1" smtClean="0">
                <a:solidFill>
                  <a:srgbClr val="FF3399"/>
                </a:solidFill>
              </a:rPr>
              <a:t>transthoracique</a:t>
            </a:r>
            <a:r>
              <a:rPr lang="fr-FR" sz="3200" dirty="0" smtClean="0"/>
              <a:t> </a:t>
            </a:r>
            <a:r>
              <a:rPr lang="fr-FR" sz="2000" dirty="0" smtClean="0"/>
              <a:t>est la technique de référence. Après </a:t>
            </a:r>
            <a:r>
              <a:rPr lang="fr-FR" sz="2000" dirty="0" err="1" smtClean="0"/>
              <a:t>œsophagectomie</a:t>
            </a:r>
            <a:r>
              <a:rPr lang="fr-FR" sz="2000" dirty="0" smtClean="0"/>
              <a:t>, l’estomac est l’organe de remplacement le plus souvent utilisé</a:t>
            </a:r>
            <a:r>
              <a:rPr lang="fr-FR" dirty="0" smtClean="0"/>
              <a:t>. </a:t>
            </a:r>
            <a:endParaRPr lang="en-US" dirty="0"/>
          </a:p>
        </p:txBody>
      </p:sp>
      <p:sp>
        <p:nvSpPr>
          <p:cNvPr id="3" name="Rectangle 2"/>
          <p:cNvSpPr/>
          <p:nvPr/>
        </p:nvSpPr>
        <p:spPr>
          <a:xfrm>
            <a:off x="3286116" y="214290"/>
            <a:ext cx="2677208" cy="707886"/>
          </a:xfrm>
          <a:prstGeom prst="rect">
            <a:avLst/>
          </a:prstGeom>
        </p:spPr>
        <p:txBody>
          <a:bodyPr wrap="none">
            <a:spAutoFit/>
          </a:bodyPr>
          <a:lstStyle/>
          <a:p>
            <a:r>
              <a:rPr lang="en-US" sz="4000" dirty="0" smtClean="0">
                <a:solidFill>
                  <a:srgbClr val="00B050"/>
                </a:solidFill>
              </a:rPr>
              <a:t>Points clefs </a:t>
            </a:r>
            <a:endParaRPr lang="en-US" sz="4000" dirty="0">
              <a:solidFill>
                <a:srgbClr val="00B05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1142985"/>
            <a:ext cx="7715304" cy="4401205"/>
          </a:xfrm>
          <a:prstGeom prst="rect">
            <a:avLst/>
          </a:prstGeom>
          <a:ln>
            <a:solidFill>
              <a:schemeClr val="accent1"/>
            </a:solidFill>
          </a:ln>
        </p:spPr>
        <p:txBody>
          <a:bodyPr wrap="square">
            <a:spAutoFit/>
          </a:bodyPr>
          <a:lstStyle/>
          <a:p>
            <a:r>
              <a:rPr lang="fr-FR" sz="2800" dirty="0" smtClean="0"/>
              <a:t>8. </a:t>
            </a:r>
            <a:r>
              <a:rPr lang="fr-FR" sz="2800" b="1" dirty="0" smtClean="0"/>
              <a:t>La stratégie thérapeutique repose le plus souvent  sur /</a:t>
            </a:r>
          </a:p>
          <a:p>
            <a:endParaRPr lang="fr-FR" sz="2800" dirty="0" smtClean="0"/>
          </a:p>
          <a:p>
            <a:r>
              <a:rPr lang="fr-FR" sz="2800" dirty="0" smtClean="0">
                <a:solidFill>
                  <a:srgbClr val="FF3399"/>
                </a:solidFill>
              </a:rPr>
              <a:t>[la</a:t>
            </a:r>
            <a:r>
              <a:rPr lang="fr-FR" sz="2800" dirty="0" smtClean="0"/>
              <a:t> </a:t>
            </a:r>
            <a:r>
              <a:rPr lang="fr-FR" sz="2800" dirty="0" smtClean="0">
                <a:solidFill>
                  <a:srgbClr val="FF3399"/>
                </a:solidFill>
              </a:rPr>
              <a:t>chirurgie seule]</a:t>
            </a:r>
            <a:r>
              <a:rPr lang="fr-FR" sz="2800" dirty="0" smtClean="0"/>
              <a:t> pour les stades </a:t>
            </a:r>
            <a:r>
              <a:rPr lang="fr-FR" sz="2800" dirty="0" smtClean="0">
                <a:solidFill>
                  <a:srgbClr val="FF3399"/>
                </a:solidFill>
              </a:rPr>
              <a:t>localisés</a:t>
            </a:r>
            <a:r>
              <a:rPr lang="fr-FR" sz="2800" dirty="0" smtClean="0"/>
              <a:t>, la  [</a:t>
            </a:r>
            <a:r>
              <a:rPr lang="fr-FR" sz="2800" dirty="0" smtClean="0">
                <a:solidFill>
                  <a:srgbClr val="FF3399"/>
                </a:solidFill>
              </a:rPr>
              <a:t>radio-chimiothérapie suivie d’une chirurgie] pour les stades localement avancés </a:t>
            </a:r>
            <a:r>
              <a:rPr lang="fr-FR" sz="2800" dirty="0" smtClean="0"/>
              <a:t>et la  chimiothérapie palliative pour les stades métastatiques.</a:t>
            </a:r>
          </a:p>
          <a:p>
            <a:r>
              <a:rPr lang="fr-FR" sz="2800" dirty="0" smtClean="0"/>
              <a:t> D’autres stratégies sont envisageables, et </a:t>
            </a:r>
          </a:p>
          <a:p>
            <a:r>
              <a:rPr lang="fr-FR" sz="2800" dirty="0" smtClean="0"/>
              <a:t>la décision se prend avec le patient sur proposition de la réunion de concertation pluridisciplinaire.</a:t>
            </a:r>
            <a:r>
              <a:rPr lang="fr-FR" sz="2800" dirty="0" smtClean="0">
                <a:solidFill>
                  <a:srgbClr val="FF3399"/>
                </a:solidFill>
              </a:rPr>
              <a:t>RCP</a:t>
            </a:r>
            <a:r>
              <a:rPr lang="fr-FR" sz="2800" dirty="0" smtClean="0"/>
              <a:t> </a:t>
            </a:r>
            <a:endParaRPr lang="en-US" sz="2800" dirty="0"/>
          </a:p>
        </p:txBody>
      </p:sp>
      <p:sp>
        <p:nvSpPr>
          <p:cNvPr id="3" name="Rectangle 2"/>
          <p:cNvSpPr/>
          <p:nvPr/>
        </p:nvSpPr>
        <p:spPr>
          <a:xfrm>
            <a:off x="3286116" y="142852"/>
            <a:ext cx="2677208" cy="707886"/>
          </a:xfrm>
          <a:prstGeom prst="rect">
            <a:avLst/>
          </a:prstGeom>
        </p:spPr>
        <p:txBody>
          <a:bodyPr wrap="none">
            <a:spAutoFit/>
          </a:bodyPr>
          <a:lstStyle/>
          <a:p>
            <a:r>
              <a:rPr lang="en-US" sz="4000" dirty="0" smtClean="0">
                <a:solidFill>
                  <a:srgbClr val="00B050"/>
                </a:solidFill>
              </a:rPr>
              <a:t>Points clefs </a:t>
            </a:r>
            <a:endParaRPr lang="en-US" sz="4000" dirty="0">
              <a:solidFill>
                <a:srgbClr val="00B05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1571612"/>
            <a:ext cx="8572560" cy="4093428"/>
          </a:xfrm>
          <a:prstGeom prst="rect">
            <a:avLst/>
          </a:prstGeom>
        </p:spPr>
        <p:txBody>
          <a:bodyPr wrap="square">
            <a:spAutoFit/>
          </a:bodyPr>
          <a:lstStyle/>
          <a:p>
            <a:r>
              <a:rPr lang="fr-FR" sz="2000" dirty="0" smtClean="0"/>
              <a:t>La longueur moyenne est de 25 cm :5à6cm pour l’œsophage cervical, 16 à</a:t>
            </a:r>
          </a:p>
          <a:p>
            <a:r>
              <a:rPr lang="fr-FR" sz="2000" dirty="0" smtClean="0"/>
              <a:t>18 cm pour la portion thoracique et 3 cm pour le segment abdominal. Le</a:t>
            </a:r>
          </a:p>
          <a:p>
            <a:r>
              <a:rPr lang="fr-FR" sz="2000" dirty="0" smtClean="0"/>
              <a:t>transit pharyngo-œsophagien permet de mettre en évidence la présence de</a:t>
            </a:r>
          </a:p>
          <a:p>
            <a:r>
              <a:rPr lang="fr-FR" sz="2000" dirty="0" smtClean="0"/>
              <a:t>quatre rétrécissements. Ce sont :</a:t>
            </a:r>
          </a:p>
          <a:p>
            <a:r>
              <a:rPr lang="fr-FR" sz="2000" dirty="0" smtClean="0"/>
              <a:t>– la jonction pharyngo-œsophagienne, au niveau de C6 ;</a:t>
            </a:r>
          </a:p>
          <a:p>
            <a:r>
              <a:rPr lang="fr-FR" sz="2000" dirty="0" smtClean="0"/>
              <a:t>– le rétrécissement aortique au niveau de T4, lié à l’empreinte de la crosse de</a:t>
            </a:r>
          </a:p>
          <a:p>
            <a:r>
              <a:rPr lang="fr-FR" sz="2000" dirty="0" smtClean="0"/>
              <a:t>l’aorte sur la paroi latérale gauche de l’œsophage ;</a:t>
            </a:r>
          </a:p>
          <a:p>
            <a:r>
              <a:rPr lang="fr-FR" sz="2000" dirty="0" smtClean="0"/>
              <a:t>– le rétrécissement bronchique au niveau de T6, marqué par l’empreinte de</a:t>
            </a:r>
          </a:p>
          <a:p>
            <a:r>
              <a:rPr lang="fr-FR" sz="2000" dirty="0" smtClean="0"/>
              <a:t>la bronche souche gauche ;</a:t>
            </a:r>
          </a:p>
          <a:p>
            <a:r>
              <a:rPr lang="fr-FR" sz="2000" dirty="0" smtClean="0"/>
              <a:t>– le rétrécissement diaphragmatique au niveau de T10.</a:t>
            </a:r>
          </a:p>
          <a:p>
            <a:r>
              <a:rPr lang="fr-FR" sz="2000" dirty="0" smtClean="0"/>
              <a:t>En endoscopie, la jonction pharyngo-œsophagienne est à 15 cm des arcades</a:t>
            </a:r>
          </a:p>
          <a:p>
            <a:r>
              <a:rPr lang="fr-FR" sz="2000" dirty="0" smtClean="0"/>
              <a:t>dentaires, le rétrécissement aortique à 25 cm, le rétrécissement</a:t>
            </a:r>
          </a:p>
          <a:p>
            <a:r>
              <a:rPr lang="fr-FR" sz="2000" dirty="0" smtClean="0"/>
              <a:t>diaphragmatique à 35 cm et le cardia à 40 cm</a:t>
            </a:r>
            <a:endParaRPr lang="fr-FR" sz="2000" dirty="0"/>
          </a:p>
        </p:txBody>
      </p:sp>
      <p:sp>
        <p:nvSpPr>
          <p:cNvPr id="3" name="Rectangle 2"/>
          <p:cNvSpPr/>
          <p:nvPr/>
        </p:nvSpPr>
        <p:spPr>
          <a:xfrm>
            <a:off x="3286116" y="214290"/>
            <a:ext cx="5425652" cy="707886"/>
          </a:xfrm>
          <a:prstGeom prst="rect">
            <a:avLst/>
          </a:prstGeom>
        </p:spPr>
        <p:txBody>
          <a:bodyPr wrap="none">
            <a:spAutoFit/>
          </a:bodyPr>
          <a:lstStyle/>
          <a:p>
            <a:r>
              <a:rPr lang="en-US" sz="4000" dirty="0" smtClean="0">
                <a:solidFill>
                  <a:srgbClr val="00B050"/>
                </a:solidFill>
              </a:rPr>
              <a:t>ANATOMIE CLASSIQUE </a:t>
            </a:r>
            <a:endParaRPr lang="en-US" sz="4000" dirty="0">
              <a:solidFill>
                <a:srgbClr val="00B05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0167" y="2857496"/>
            <a:ext cx="5779916" cy="707886"/>
          </a:xfrm>
          <a:prstGeom prst="rect">
            <a:avLst/>
          </a:prstGeom>
        </p:spPr>
        <p:txBody>
          <a:bodyPr wrap="none">
            <a:spAutoFit/>
          </a:bodyPr>
          <a:lstStyle/>
          <a:p>
            <a:r>
              <a:rPr lang="en-US" sz="4000" dirty="0" smtClean="0">
                <a:solidFill>
                  <a:srgbClr val="00B050"/>
                </a:solidFill>
              </a:rPr>
              <a:t>RECEMENT ON PARLE DE</a:t>
            </a:r>
            <a:endParaRPr lang="en-US" sz="4000" dirty="0">
              <a:solidFill>
                <a:srgbClr val="00B05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4" y="25363"/>
            <a:ext cx="8143932" cy="6709529"/>
          </a:xfrm>
          <a:prstGeom prst="rect">
            <a:avLst/>
          </a:prstGeom>
        </p:spPr>
        <p:txBody>
          <a:bodyPr wrap="square">
            <a:spAutoFit/>
          </a:bodyPr>
          <a:lstStyle/>
          <a:p>
            <a:r>
              <a:rPr lang="fr-FR" sz="3600" dirty="0" smtClean="0">
                <a:solidFill>
                  <a:srgbClr val="FF0000"/>
                </a:solidFill>
              </a:rPr>
              <a:t>Description de l'œsophage (TNM 8ème édition 2017)</a:t>
            </a:r>
          </a:p>
          <a:p>
            <a:r>
              <a:rPr lang="fr-FR" sz="2000" dirty="0" smtClean="0"/>
              <a:t>1 </a:t>
            </a:r>
            <a:r>
              <a:rPr lang="fr-FR" sz="2000" dirty="0" smtClean="0">
                <a:solidFill>
                  <a:srgbClr val="00B050"/>
                </a:solidFill>
              </a:rPr>
              <a:t>- </a:t>
            </a:r>
            <a:r>
              <a:rPr lang="fr-FR" sz="3200" dirty="0" smtClean="0">
                <a:solidFill>
                  <a:srgbClr val="00B050"/>
                </a:solidFill>
              </a:rPr>
              <a:t>L'œsophage cervical</a:t>
            </a:r>
          </a:p>
          <a:p>
            <a:r>
              <a:rPr lang="fr-FR" dirty="0" smtClean="0"/>
              <a:t>Il commence au bord inférieur de l'</a:t>
            </a:r>
            <a:r>
              <a:rPr lang="fr-FR" dirty="0" err="1" smtClean="0"/>
              <a:t>hypopharynx</a:t>
            </a:r>
            <a:r>
              <a:rPr lang="fr-FR" dirty="0" smtClean="0"/>
              <a:t>, au bord inférieur du cartilage cricoïde, et finit à l'entrée dans le thorax</a:t>
            </a:r>
          </a:p>
          <a:p>
            <a:r>
              <a:rPr lang="fr-FR" dirty="0" smtClean="0"/>
              <a:t>(creux sus-sternal), approximativement à 18 cm des incisives supérieures.</a:t>
            </a:r>
          </a:p>
          <a:p>
            <a:r>
              <a:rPr lang="fr-FR" dirty="0" smtClean="0"/>
              <a:t>2 </a:t>
            </a:r>
            <a:r>
              <a:rPr lang="fr-FR" sz="2800" dirty="0" smtClean="0">
                <a:solidFill>
                  <a:srgbClr val="00B050"/>
                </a:solidFill>
              </a:rPr>
              <a:t>- L'œsophage intra-thoracique</a:t>
            </a:r>
          </a:p>
          <a:p>
            <a:r>
              <a:rPr lang="fr-FR" dirty="0" smtClean="0">
                <a:solidFill>
                  <a:schemeClr val="accent2">
                    <a:lumMod val="60000"/>
                    <a:lumOff val="40000"/>
                  </a:schemeClr>
                </a:solidFill>
              </a:rPr>
              <a:t>Tiers supérieur </a:t>
            </a:r>
            <a:r>
              <a:rPr lang="fr-FR" dirty="0" smtClean="0"/>
              <a:t>: de l'orifice supérieur du thorax à la bifurcation trachéale, à 24 cm des incisives supérieures.</a:t>
            </a:r>
          </a:p>
          <a:p>
            <a:r>
              <a:rPr lang="fr-FR" dirty="0" smtClean="0">
                <a:solidFill>
                  <a:schemeClr val="accent2">
                    <a:lumMod val="60000"/>
                    <a:lumOff val="40000"/>
                  </a:schemeClr>
                </a:solidFill>
              </a:rPr>
              <a:t>Tiers moyen </a:t>
            </a:r>
            <a:r>
              <a:rPr lang="fr-FR" dirty="0" smtClean="0"/>
              <a:t>: de la bifurcation trachéale, de 24 à 32 cm des incisives supérieures.</a:t>
            </a:r>
          </a:p>
          <a:p>
            <a:r>
              <a:rPr lang="fr-FR" dirty="0" smtClean="0">
                <a:solidFill>
                  <a:schemeClr val="accent2">
                    <a:lumMod val="60000"/>
                    <a:lumOff val="40000"/>
                  </a:schemeClr>
                </a:solidFill>
              </a:rPr>
              <a:t>Tiers inférieur </a:t>
            </a:r>
            <a:r>
              <a:rPr lang="fr-FR" dirty="0" smtClean="0"/>
              <a:t>: de 32 à 40 cm approximativement des incisives supérieures (incluant l'œsophage abdominal)</a:t>
            </a:r>
          </a:p>
          <a:p>
            <a:r>
              <a:rPr lang="fr-FR" dirty="0" smtClean="0">
                <a:solidFill>
                  <a:schemeClr val="accent1">
                    <a:lumMod val="50000"/>
                  </a:schemeClr>
                </a:solidFill>
              </a:rPr>
              <a:t>3 </a:t>
            </a:r>
            <a:r>
              <a:rPr lang="fr-FR" sz="2800" dirty="0" smtClean="0">
                <a:solidFill>
                  <a:schemeClr val="accent1">
                    <a:lumMod val="50000"/>
                  </a:schemeClr>
                </a:solidFill>
              </a:rPr>
              <a:t>- </a:t>
            </a:r>
            <a:r>
              <a:rPr lang="fr-FR" sz="2800" dirty="0" smtClean="0">
                <a:solidFill>
                  <a:srgbClr val="00B050"/>
                </a:solidFill>
              </a:rPr>
              <a:t>La jonction œsogastrique</a:t>
            </a:r>
          </a:p>
          <a:p>
            <a:r>
              <a:rPr lang="fr-FR" dirty="0" smtClean="0"/>
              <a:t>Les tumeurs de la jonction œsogastrique sont considérées comme des cancers de l'œsophage si leur épicentre est dans</a:t>
            </a:r>
          </a:p>
          <a:p>
            <a:r>
              <a:rPr lang="fr-FR" dirty="0" smtClean="0"/>
              <a:t>les 2 cm au-dessus du cardia (Siewert 1 et 2). Si leur épicentre est dans l'estomac à plus de 2 cm de la jonction</a:t>
            </a:r>
          </a:p>
          <a:p>
            <a:r>
              <a:rPr lang="fr-FR" dirty="0" smtClean="0"/>
              <a:t>œsogastrique ou si l'épicentre est gastrique à moins de 5 cm de la JOG mais sans extension œsophagienne, ils sont</a:t>
            </a:r>
          </a:p>
          <a:p>
            <a:r>
              <a:rPr lang="fr-FR" dirty="0" smtClean="0"/>
              <a:t>considérés comme des tumeurs de l'estomac.</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3108" y="5572141"/>
            <a:ext cx="4572000" cy="923330"/>
          </a:xfrm>
          <a:prstGeom prst="rect">
            <a:avLst/>
          </a:prstGeom>
        </p:spPr>
        <p:txBody>
          <a:bodyPr>
            <a:spAutoFit/>
          </a:bodyPr>
          <a:lstStyle/>
          <a:p>
            <a:r>
              <a:rPr lang="fr-FR" dirty="0" smtClean="0"/>
              <a:t>Cartographie des biopsies selon le protocole de Seattle en cas d'</a:t>
            </a:r>
            <a:r>
              <a:rPr lang="fr-FR" dirty="0" err="1" smtClean="0"/>
              <a:t>endobrachyœsophage</a:t>
            </a:r>
            <a:endParaRPr lang="fr-FR" dirty="0" smtClean="0"/>
          </a:p>
          <a:p>
            <a:r>
              <a:rPr lang="fr-FR" dirty="0" smtClean="0"/>
              <a:t>(</a:t>
            </a:r>
            <a:r>
              <a:rPr lang="fr-FR" dirty="0" err="1" smtClean="0"/>
              <a:t>Levine</a:t>
            </a:r>
            <a:r>
              <a:rPr lang="fr-FR" dirty="0" smtClean="0"/>
              <a:t>, 2000)</a:t>
            </a:r>
            <a:endParaRPr lang="en-US" dirty="0"/>
          </a:p>
        </p:txBody>
      </p:sp>
      <p:sp>
        <p:nvSpPr>
          <p:cNvPr id="4" name="Rectangle 3"/>
          <p:cNvSpPr/>
          <p:nvPr/>
        </p:nvSpPr>
        <p:spPr>
          <a:xfrm>
            <a:off x="1857356" y="1785926"/>
            <a:ext cx="4572000" cy="923330"/>
          </a:xfrm>
          <a:prstGeom prst="rect">
            <a:avLst/>
          </a:prstGeom>
        </p:spPr>
        <p:txBody>
          <a:bodyPr>
            <a:spAutoFit/>
          </a:bodyPr>
          <a:lstStyle/>
          <a:p>
            <a:endParaRPr lang="fr-FR" dirty="0" smtClean="0"/>
          </a:p>
          <a:p>
            <a:endParaRPr lang="fr-FR" dirty="0" smtClean="0"/>
          </a:p>
          <a:p>
            <a:endParaRPr lang="en-US" dirty="0"/>
          </a:p>
        </p:txBody>
      </p:sp>
      <p:sp>
        <p:nvSpPr>
          <p:cNvPr id="10" name="Ellipse 9"/>
          <p:cNvSpPr/>
          <p:nvPr/>
        </p:nvSpPr>
        <p:spPr>
          <a:xfrm>
            <a:off x="3571869" y="3714753"/>
            <a:ext cx="1357323" cy="1428760"/>
          </a:xfrm>
          <a:prstGeom prst="ellipse">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nnecteur droit avec flèche 6"/>
          <p:cNvCxnSpPr/>
          <p:nvPr/>
        </p:nvCxnSpPr>
        <p:spPr>
          <a:xfrm rot="5400000">
            <a:off x="3987156" y="2453571"/>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Ellipse 8"/>
          <p:cNvSpPr/>
          <p:nvPr/>
        </p:nvSpPr>
        <p:spPr>
          <a:xfrm>
            <a:off x="3357555" y="285729"/>
            <a:ext cx="1143008" cy="35004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3" name="Flèche droite 12"/>
          <p:cNvSpPr/>
          <p:nvPr/>
        </p:nvSpPr>
        <p:spPr>
          <a:xfrm>
            <a:off x="4286248" y="264318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èche droite 13"/>
          <p:cNvSpPr/>
          <p:nvPr/>
        </p:nvSpPr>
        <p:spPr>
          <a:xfrm>
            <a:off x="4500563" y="1785926"/>
            <a:ext cx="1692788" cy="484632"/>
          </a:xfrm>
          <a:prstGeom prst="rightArrow">
            <a:avLst>
              <a:gd name="adj1" fmla="val 86372"/>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èche droite 14"/>
          <p:cNvSpPr/>
          <p:nvPr/>
        </p:nvSpPr>
        <p:spPr>
          <a:xfrm>
            <a:off x="4286249" y="3500438"/>
            <a:ext cx="1478475"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429257" y="4071942"/>
            <a:ext cx="3071835" cy="150019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Position de la jonction OG</a:t>
            </a:r>
            <a:endParaRPr lang="en-US" dirty="0">
              <a:solidFill>
                <a:srgbClr val="FF0000"/>
              </a:solidFill>
            </a:endParaRPr>
          </a:p>
        </p:txBody>
      </p:sp>
      <p:sp>
        <p:nvSpPr>
          <p:cNvPr id="17" name="Rectangle 16"/>
          <p:cNvSpPr/>
          <p:nvPr/>
        </p:nvSpPr>
        <p:spPr>
          <a:xfrm>
            <a:off x="5429259" y="2500306"/>
            <a:ext cx="35719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solidFill>
                  <a:srgbClr val="FF0000"/>
                </a:solidFill>
              </a:rPr>
              <a:t>Derniere</a:t>
            </a:r>
            <a:r>
              <a:rPr lang="en-US" dirty="0" smtClean="0">
                <a:solidFill>
                  <a:srgbClr val="FF0000"/>
                </a:solidFill>
              </a:rPr>
              <a:t> </a:t>
            </a:r>
            <a:r>
              <a:rPr lang="en-US" dirty="0" err="1" smtClean="0">
                <a:solidFill>
                  <a:srgbClr val="FF0000"/>
                </a:solidFill>
              </a:rPr>
              <a:t>hauteure</a:t>
            </a:r>
            <a:r>
              <a:rPr lang="en-US" dirty="0" smtClean="0">
                <a:solidFill>
                  <a:srgbClr val="FF0000"/>
                </a:solidFill>
              </a:rPr>
              <a:t> de l </a:t>
            </a:r>
            <a:r>
              <a:rPr lang="en-US" dirty="0" err="1" smtClean="0">
                <a:solidFill>
                  <a:srgbClr val="FF0000"/>
                </a:solidFill>
              </a:rPr>
              <a:t>atteinte</a:t>
            </a:r>
            <a:r>
              <a:rPr lang="en-US" dirty="0" smtClean="0">
                <a:solidFill>
                  <a:srgbClr val="FF0000"/>
                </a:solidFill>
              </a:rPr>
              <a:t> </a:t>
            </a:r>
            <a:r>
              <a:rPr lang="en-US" dirty="0" err="1" smtClean="0">
                <a:solidFill>
                  <a:srgbClr val="FF0000"/>
                </a:solidFill>
              </a:rPr>
              <a:t>circonferentiele</a:t>
            </a:r>
            <a:endParaRPr lang="en-US" dirty="0">
              <a:solidFill>
                <a:srgbClr val="FF0000"/>
              </a:solidFill>
            </a:endParaRPr>
          </a:p>
        </p:txBody>
      </p:sp>
      <p:sp>
        <p:nvSpPr>
          <p:cNvPr id="8" name="Ellipse 7"/>
          <p:cNvSpPr/>
          <p:nvPr/>
        </p:nvSpPr>
        <p:spPr>
          <a:xfrm>
            <a:off x="3714745" y="2428868"/>
            <a:ext cx="500067" cy="1500198"/>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030A0"/>
              </a:solidFill>
            </a:endParaRPr>
          </a:p>
        </p:txBody>
      </p:sp>
      <p:sp>
        <p:nvSpPr>
          <p:cNvPr id="18" name="Forme libre 17"/>
          <p:cNvSpPr/>
          <p:nvPr/>
        </p:nvSpPr>
        <p:spPr>
          <a:xfrm>
            <a:off x="3965476" y="1288974"/>
            <a:ext cx="154832" cy="1189822"/>
          </a:xfrm>
          <a:custGeom>
            <a:avLst/>
            <a:gdLst>
              <a:gd name="connsiteX0" fmla="*/ 154832 w 154832"/>
              <a:gd name="connsiteY0" fmla="*/ 0 h 1189822"/>
              <a:gd name="connsiteX1" fmla="*/ 110765 w 154832"/>
              <a:gd name="connsiteY1" fmla="*/ 99152 h 1189822"/>
              <a:gd name="connsiteX2" fmla="*/ 66697 w 154832"/>
              <a:gd name="connsiteY2" fmla="*/ 176270 h 1189822"/>
              <a:gd name="connsiteX3" fmla="*/ 44664 w 154832"/>
              <a:gd name="connsiteY3" fmla="*/ 242372 h 1189822"/>
              <a:gd name="connsiteX4" fmla="*/ 66697 w 154832"/>
              <a:gd name="connsiteY4" fmla="*/ 374574 h 1189822"/>
              <a:gd name="connsiteX5" fmla="*/ 88731 w 154832"/>
              <a:gd name="connsiteY5" fmla="*/ 429658 h 1189822"/>
              <a:gd name="connsiteX6" fmla="*/ 88731 w 154832"/>
              <a:gd name="connsiteY6" fmla="*/ 594911 h 1189822"/>
              <a:gd name="connsiteX7" fmla="*/ 55681 w 154832"/>
              <a:gd name="connsiteY7" fmla="*/ 605928 h 1189822"/>
              <a:gd name="connsiteX8" fmla="*/ 11613 w 154832"/>
              <a:gd name="connsiteY8" fmla="*/ 594911 h 1189822"/>
              <a:gd name="connsiteX9" fmla="*/ 44664 w 154832"/>
              <a:gd name="connsiteY9" fmla="*/ 605928 h 1189822"/>
              <a:gd name="connsiteX10" fmla="*/ 77714 w 154832"/>
              <a:gd name="connsiteY10" fmla="*/ 903384 h 1189822"/>
              <a:gd name="connsiteX11" fmla="*/ 110765 w 154832"/>
              <a:gd name="connsiteY11" fmla="*/ 925417 h 1189822"/>
              <a:gd name="connsiteX12" fmla="*/ 121782 w 154832"/>
              <a:gd name="connsiteY12" fmla="*/ 958468 h 1189822"/>
              <a:gd name="connsiteX13" fmla="*/ 88731 w 154832"/>
              <a:gd name="connsiteY13" fmla="*/ 1068637 h 1189822"/>
              <a:gd name="connsiteX14" fmla="*/ 55681 w 154832"/>
              <a:gd name="connsiteY14" fmla="*/ 1090670 h 1189822"/>
              <a:gd name="connsiteX15" fmla="*/ 33647 w 154832"/>
              <a:gd name="connsiteY15" fmla="*/ 1189822 h 1189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832" h="1189822">
                <a:moveTo>
                  <a:pt x="154832" y="0"/>
                </a:moveTo>
                <a:cubicBezTo>
                  <a:pt x="128612" y="78663"/>
                  <a:pt x="145683" y="46777"/>
                  <a:pt x="110765" y="99152"/>
                </a:cubicBezTo>
                <a:cubicBezTo>
                  <a:pt x="80504" y="220194"/>
                  <a:pt x="126368" y="68862"/>
                  <a:pt x="66697" y="176270"/>
                </a:cubicBezTo>
                <a:cubicBezTo>
                  <a:pt x="55418" y="196573"/>
                  <a:pt x="44664" y="242372"/>
                  <a:pt x="44664" y="242372"/>
                </a:cubicBezTo>
                <a:cubicBezTo>
                  <a:pt x="50441" y="288587"/>
                  <a:pt x="52141" y="330905"/>
                  <a:pt x="66697" y="374574"/>
                </a:cubicBezTo>
                <a:cubicBezTo>
                  <a:pt x="72951" y="393335"/>
                  <a:pt x="81386" y="411297"/>
                  <a:pt x="88731" y="429658"/>
                </a:cubicBezTo>
                <a:cubicBezTo>
                  <a:pt x="100872" y="490365"/>
                  <a:pt x="113660" y="526355"/>
                  <a:pt x="88731" y="594911"/>
                </a:cubicBezTo>
                <a:cubicBezTo>
                  <a:pt x="84762" y="605824"/>
                  <a:pt x="66698" y="602256"/>
                  <a:pt x="55681" y="605928"/>
                </a:cubicBezTo>
                <a:cubicBezTo>
                  <a:pt x="40992" y="602256"/>
                  <a:pt x="26754" y="594911"/>
                  <a:pt x="11613" y="594911"/>
                </a:cubicBezTo>
                <a:cubicBezTo>
                  <a:pt x="0" y="594911"/>
                  <a:pt x="42145" y="594592"/>
                  <a:pt x="44664" y="605928"/>
                </a:cubicBezTo>
                <a:cubicBezTo>
                  <a:pt x="65635" y="700296"/>
                  <a:pt x="38773" y="809926"/>
                  <a:pt x="77714" y="903384"/>
                </a:cubicBezTo>
                <a:cubicBezTo>
                  <a:pt x="82807" y="915606"/>
                  <a:pt x="99748" y="918073"/>
                  <a:pt x="110765" y="925417"/>
                </a:cubicBezTo>
                <a:cubicBezTo>
                  <a:pt x="114437" y="936434"/>
                  <a:pt x="121782" y="946855"/>
                  <a:pt x="121782" y="958468"/>
                </a:cubicBezTo>
                <a:cubicBezTo>
                  <a:pt x="121782" y="1000074"/>
                  <a:pt x="118596" y="1038772"/>
                  <a:pt x="88731" y="1068637"/>
                </a:cubicBezTo>
                <a:cubicBezTo>
                  <a:pt x="79369" y="1077999"/>
                  <a:pt x="66698" y="1083326"/>
                  <a:pt x="55681" y="1090670"/>
                </a:cubicBezTo>
                <a:cubicBezTo>
                  <a:pt x="25436" y="1151161"/>
                  <a:pt x="33647" y="1118315"/>
                  <a:pt x="33647" y="1189822"/>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orme libre 18"/>
          <p:cNvSpPr/>
          <p:nvPr/>
        </p:nvSpPr>
        <p:spPr>
          <a:xfrm>
            <a:off x="3500432" y="1357299"/>
            <a:ext cx="750221" cy="2175496"/>
          </a:xfrm>
          <a:custGeom>
            <a:avLst/>
            <a:gdLst>
              <a:gd name="connsiteX0" fmla="*/ 113275 w 750221"/>
              <a:gd name="connsiteY0" fmla="*/ 0 h 2175496"/>
              <a:gd name="connsiteX1" fmla="*/ 91241 w 750221"/>
              <a:gd name="connsiteY1" fmla="*/ 77118 h 2175496"/>
              <a:gd name="connsiteX2" fmla="*/ 80225 w 750221"/>
              <a:gd name="connsiteY2" fmla="*/ 132202 h 2175496"/>
              <a:gd name="connsiteX3" fmla="*/ 58191 w 750221"/>
              <a:gd name="connsiteY3" fmla="*/ 198304 h 2175496"/>
              <a:gd name="connsiteX4" fmla="*/ 69208 w 750221"/>
              <a:gd name="connsiteY4" fmla="*/ 352540 h 2175496"/>
              <a:gd name="connsiteX5" fmla="*/ 102258 w 750221"/>
              <a:gd name="connsiteY5" fmla="*/ 363557 h 2175496"/>
              <a:gd name="connsiteX6" fmla="*/ 124292 w 750221"/>
              <a:gd name="connsiteY6" fmla="*/ 297455 h 2175496"/>
              <a:gd name="connsiteX7" fmla="*/ 135309 w 750221"/>
              <a:gd name="connsiteY7" fmla="*/ 264405 h 2175496"/>
              <a:gd name="connsiteX8" fmla="*/ 146326 w 750221"/>
              <a:gd name="connsiteY8" fmla="*/ 187287 h 2175496"/>
              <a:gd name="connsiteX9" fmla="*/ 179376 w 750221"/>
              <a:gd name="connsiteY9" fmla="*/ 198304 h 2175496"/>
              <a:gd name="connsiteX10" fmla="*/ 190393 w 750221"/>
              <a:gd name="connsiteY10" fmla="*/ 231354 h 2175496"/>
              <a:gd name="connsiteX11" fmla="*/ 201410 w 750221"/>
              <a:gd name="connsiteY11" fmla="*/ 429658 h 2175496"/>
              <a:gd name="connsiteX12" fmla="*/ 212427 w 750221"/>
              <a:gd name="connsiteY12" fmla="*/ 462708 h 2175496"/>
              <a:gd name="connsiteX13" fmla="*/ 168359 w 750221"/>
              <a:gd name="connsiteY13" fmla="*/ 484742 h 2175496"/>
              <a:gd name="connsiteX14" fmla="*/ 190393 w 750221"/>
              <a:gd name="connsiteY14" fmla="*/ 528810 h 2175496"/>
              <a:gd name="connsiteX15" fmla="*/ 201410 w 750221"/>
              <a:gd name="connsiteY15" fmla="*/ 594911 h 2175496"/>
              <a:gd name="connsiteX16" fmla="*/ 212427 w 750221"/>
              <a:gd name="connsiteY16" fmla="*/ 627961 h 2175496"/>
              <a:gd name="connsiteX17" fmla="*/ 267511 w 750221"/>
              <a:gd name="connsiteY17" fmla="*/ 638978 h 2175496"/>
              <a:gd name="connsiteX18" fmla="*/ 245478 w 750221"/>
              <a:gd name="connsiteY18" fmla="*/ 583894 h 2175496"/>
              <a:gd name="connsiteX19" fmla="*/ 278528 w 750221"/>
              <a:gd name="connsiteY19" fmla="*/ 429658 h 2175496"/>
              <a:gd name="connsiteX20" fmla="*/ 267511 w 750221"/>
              <a:gd name="connsiteY20" fmla="*/ 396607 h 2175496"/>
              <a:gd name="connsiteX21" fmla="*/ 245478 w 750221"/>
              <a:gd name="connsiteY21" fmla="*/ 363557 h 2175496"/>
              <a:gd name="connsiteX22" fmla="*/ 190393 w 750221"/>
              <a:gd name="connsiteY22" fmla="*/ 286438 h 2175496"/>
              <a:gd name="connsiteX23" fmla="*/ 201410 w 750221"/>
              <a:gd name="connsiteY23" fmla="*/ 242371 h 2175496"/>
              <a:gd name="connsiteX24" fmla="*/ 223444 w 750221"/>
              <a:gd name="connsiteY24" fmla="*/ 209320 h 2175496"/>
              <a:gd name="connsiteX25" fmla="*/ 234461 w 750221"/>
              <a:gd name="connsiteY25" fmla="*/ 176270 h 2175496"/>
              <a:gd name="connsiteX26" fmla="*/ 300562 w 750221"/>
              <a:gd name="connsiteY26" fmla="*/ 187287 h 2175496"/>
              <a:gd name="connsiteX27" fmla="*/ 311579 w 750221"/>
              <a:gd name="connsiteY27" fmla="*/ 264405 h 2175496"/>
              <a:gd name="connsiteX28" fmla="*/ 322596 w 750221"/>
              <a:gd name="connsiteY28" fmla="*/ 308472 h 2175496"/>
              <a:gd name="connsiteX29" fmla="*/ 311579 w 750221"/>
              <a:gd name="connsiteY29" fmla="*/ 506776 h 2175496"/>
              <a:gd name="connsiteX30" fmla="*/ 289545 w 750221"/>
              <a:gd name="connsiteY30" fmla="*/ 550843 h 2175496"/>
              <a:gd name="connsiteX31" fmla="*/ 300562 w 750221"/>
              <a:gd name="connsiteY31" fmla="*/ 661012 h 2175496"/>
              <a:gd name="connsiteX32" fmla="*/ 344629 w 750221"/>
              <a:gd name="connsiteY32" fmla="*/ 594911 h 2175496"/>
              <a:gd name="connsiteX33" fmla="*/ 377680 w 750221"/>
              <a:gd name="connsiteY33" fmla="*/ 517793 h 2175496"/>
              <a:gd name="connsiteX34" fmla="*/ 388697 w 750221"/>
              <a:gd name="connsiteY34" fmla="*/ 462708 h 2175496"/>
              <a:gd name="connsiteX35" fmla="*/ 399714 w 750221"/>
              <a:gd name="connsiteY35" fmla="*/ 374573 h 2175496"/>
              <a:gd name="connsiteX36" fmla="*/ 432764 w 750221"/>
              <a:gd name="connsiteY36" fmla="*/ 352540 h 2175496"/>
              <a:gd name="connsiteX37" fmla="*/ 465815 w 750221"/>
              <a:gd name="connsiteY37" fmla="*/ 363557 h 2175496"/>
              <a:gd name="connsiteX38" fmla="*/ 465815 w 750221"/>
              <a:gd name="connsiteY38" fmla="*/ 462708 h 2175496"/>
              <a:gd name="connsiteX39" fmla="*/ 443781 w 750221"/>
              <a:gd name="connsiteY39" fmla="*/ 495759 h 2175496"/>
              <a:gd name="connsiteX40" fmla="*/ 476832 w 750221"/>
              <a:gd name="connsiteY40" fmla="*/ 506776 h 2175496"/>
              <a:gd name="connsiteX41" fmla="*/ 531916 w 750221"/>
              <a:gd name="connsiteY41" fmla="*/ 550843 h 2175496"/>
              <a:gd name="connsiteX42" fmla="*/ 553950 w 750221"/>
              <a:gd name="connsiteY42" fmla="*/ 484742 h 2175496"/>
              <a:gd name="connsiteX43" fmla="*/ 587000 w 750221"/>
              <a:gd name="connsiteY43" fmla="*/ 297455 h 2175496"/>
              <a:gd name="connsiteX44" fmla="*/ 598017 w 750221"/>
              <a:gd name="connsiteY44" fmla="*/ 264405 h 2175496"/>
              <a:gd name="connsiteX45" fmla="*/ 620051 w 750221"/>
              <a:gd name="connsiteY45" fmla="*/ 220337 h 2175496"/>
              <a:gd name="connsiteX46" fmla="*/ 653102 w 750221"/>
              <a:gd name="connsiteY46" fmla="*/ 187287 h 2175496"/>
              <a:gd name="connsiteX47" fmla="*/ 741237 w 750221"/>
              <a:gd name="connsiteY47" fmla="*/ 154236 h 2175496"/>
              <a:gd name="connsiteX48" fmla="*/ 697169 w 750221"/>
              <a:gd name="connsiteY48" fmla="*/ 242371 h 2175496"/>
              <a:gd name="connsiteX49" fmla="*/ 664119 w 750221"/>
              <a:gd name="connsiteY49" fmla="*/ 418641 h 2175496"/>
              <a:gd name="connsiteX50" fmla="*/ 675135 w 750221"/>
              <a:gd name="connsiteY50" fmla="*/ 561860 h 2175496"/>
              <a:gd name="connsiteX51" fmla="*/ 686152 w 750221"/>
              <a:gd name="connsiteY51" fmla="*/ 594911 h 2175496"/>
              <a:gd name="connsiteX52" fmla="*/ 675135 w 750221"/>
              <a:gd name="connsiteY52" fmla="*/ 738130 h 2175496"/>
              <a:gd name="connsiteX53" fmla="*/ 653102 w 750221"/>
              <a:gd name="connsiteY53" fmla="*/ 815248 h 2175496"/>
              <a:gd name="connsiteX54" fmla="*/ 642085 w 750221"/>
              <a:gd name="connsiteY54" fmla="*/ 859316 h 2175496"/>
              <a:gd name="connsiteX55" fmla="*/ 620051 w 750221"/>
              <a:gd name="connsiteY55" fmla="*/ 969484 h 2175496"/>
              <a:gd name="connsiteX56" fmla="*/ 598017 w 750221"/>
              <a:gd name="connsiteY56" fmla="*/ 1211855 h 2175496"/>
              <a:gd name="connsiteX57" fmla="*/ 587000 w 750221"/>
              <a:gd name="connsiteY57" fmla="*/ 1586429 h 2175496"/>
              <a:gd name="connsiteX58" fmla="*/ 564967 w 750221"/>
              <a:gd name="connsiteY58" fmla="*/ 1553378 h 2175496"/>
              <a:gd name="connsiteX59" fmla="*/ 531916 w 750221"/>
              <a:gd name="connsiteY59" fmla="*/ 1410159 h 2175496"/>
              <a:gd name="connsiteX60" fmla="*/ 509882 w 750221"/>
              <a:gd name="connsiteY60" fmla="*/ 1299990 h 2175496"/>
              <a:gd name="connsiteX61" fmla="*/ 476832 w 750221"/>
              <a:gd name="connsiteY61" fmla="*/ 1233889 h 2175496"/>
              <a:gd name="connsiteX62" fmla="*/ 454798 w 750221"/>
              <a:gd name="connsiteY62" fmla="*/ 1156771 h 2175496"/>
              <a:gd name="connsiteX63" fmla="*/ 443781 w 750221"/>
              <a:gd name="connsiteY63" fmla="*/ 1101687 h 2175496"/>
              <a:gd name="connsiteX64" fmla="*/ 421747 w 750221"/>
              <a:gd name="connsiteY64" fmla="*/ 1057619 h 2175496"/>
              <a:gd name="connsiteX65" fmla="*/ 388697 w 750221"/>
              <a:gd name="connsiteY65" fmla="*/ 980501 h 2175496"/>
              <a:gd name="connsiteX66" fmla="*/ 344629 w 750221"/>
              <a:gd name="connsiteY66" fmla="*/ 914400 h 2175496"/>
              <a:gd name="connsiteX67" fmla="*/ 322596 w 750221"/>
              <a:gd name="connsiteY67" fmla="*/ 881349 h 2175496"/>
              <a:gd name="connsiteX68" fmla="*/ 300562 w 750221"/>
              <a:gd name="connsiteY68" fmla="*/ 837282 h 2175496"/>
              <a:gd name="connsiteX69" fmla="*/ 245478 w 750221"/>
              <a:gd name="connsiteY69" fmla="*/ 826265 h 2175496"/>
              <a:gd name="connsiteX70" fmla="*/ 179376 w 750221"/>
              <a:gd name="connsiteY70" fmla="*/ 793214 h 2175496"/>
              <a:gd name="connsiteX71" fmla="*/ 157343 w 750221"/>
              <a:gd name="connsiteY71" fmla="*/ 694063 h 2175496"/>
              <a:gd name="connsiteX72" fmla="*/ 146326 w 750221"/>
              <a:gd name="connsiteY72" fmla="*/ 661012 h 2175496"/>
              <a:gd name="connsiteX73" fmla="*/ 135309 w 750221"/>
              <a:gd name="connsiteY73" fmla="*/ 616945 h 2175496"/>
              <a:gd name="connsiteX74" fmla="*/ 102258 w 750221"/>
              <a:gd name="connsiteY74" fmla="*/ 594911 h 2175496"/>
              <a:gd name="connsiteX75" fmla="*/ 80225 w 750221"/>
              <a:gd name="connsiteY75" fmla="*/ 561860 h 2175496"/>
              <a:gd name="connsiteX76" fmla="*/ 58191 w 750221"/>
              <a:gd name="connsiteY76" fmla="*/ 495759 h 2175496"/>
              <a:gd name="connsiteX77" fmla="*/ 36157 w 750221"/>
              <a:gd name="connsiteY77" fmla="*/ 462708 h 2175496"/>
              <a:gd name="connsiteX78" fmla="*/ 47174 w 750221"/>
              <a:gd name="connsiteY78" fmla="*/ 88135 h 2175496"/>
              <a:gd name="connsiteX79" fmla="*/ 69208 w 750221"/>
              <a:gd name="connsiteY79" fmla="*/ 55084 h 2175496"/>
              <a:gd name="connsiteX80" fmla="*/ 113275 w 750221"/>
              <a:gd name="connsiteY80" fmla="*/ 330506 h 2175496"/>
              <a:gd name="connsiteX81" fmla="*/ 135309 w 750221"/>
              <a:gd name="connsiteY81" fmla="*/ 462708 h 2175496"/>
              <a:gd name="connsiteX82" fmla="*/ 146326 w 750221"/>
              <a:gd name="connsiteY82" fmla="*/ 506776 h 2175496"/>
              <a:gd name="connsiteX83" fmla="*/ 168359 w 750221"/>
              <a:gd name="connsiteY83" fmla="*/ 539826 h 2175496"/>
              <a:gd name="connsiteX84" fmla="*/ 190393 w 750221"/>
              <a:gd name="connsiteY84" fmla="*/ 605928 h 2175496"/>
              <a:gd name="connsiteX85" fmla="*/ 201410 w 750221"/>
              <a:gd name="connsiteY85" fmla="*/ 638978 h 2175496"/>
              <a:gd name="connsiteX86" fmla="*/ 245478 w 750221"/>
              <a:gd name="connsiteY86" fmla="*/ 749147 h 2175496"/>
              <a:gd name="connsiteX87" fmla="*/ 212427 w 750221"/>
              <a:gd name="connsiteY87" fmla="*/ 1035585 h 2175496"/>
              <a:gd name="connsiteX88" fmla="*/ 179376 w 750221"/>
              <a:gd name="connsiteY88" fmla="*/ 1024569 h 2175496"/>
              <a:gd name="connsiteX89" fmla="*/ 168359 w 750221"/>
              <a:gd name="connsiteY89" fmla="*/ 991518 h 2175496"/>
              <a:gd name="connsiteX90" fmla="*/ 157343 w 750221"/>
              <a:gd name="connsiteY90" fmla="*/ 771181 h 2175496"/>
              <a:gd name="connsiteX91" fmla="*/ 135309 w 750221"/>
              <a:gd name="connsiteY91" fmla="*/ 705079 h 2175496"/>
              <a:gd name="connsiteX92" fmla="*/ 102258 w 750221"/>
              <a:gd name="connsiteY92" fmla="*/ 683046 h 2175496"/>
              <a:gd name="connsiteX93" fmla="*/ 124292 w 750221"/>
              <a:gd name="connsiteY93" fmla="*/ 638978 h 2175496"/>
              <a:gd name="connsiteX94" fmla="*/ 146326 w 750221"/>
              <a:gd name="connsiteY94" fmla="*/ 672029 h 2175496"/>
              <a:gd name="connsiteX95" fmla="*/ 212427 w 750221"/>
              <a:gd name="connsiteY95" fmla="*/ 760164 h 2175496"/>
              <a:gd name="connsiteX96" fmla="*/ 212427 w 750221"/>
              <a:gd name="connsiteY96" fmla="*/ 627961 h 2175496"/>
              <a:gd name="connsiteX97" fmla="*/ 223444 w 750221"/>
              <a:gd name="connsiteY97" fmla="*/ 297455 h 2175496"/>
              <a:gd name="connsiteX98" fmla="*/ 289545 w 750221"/>
              <a:gd name="connsiteY98" fmla="*/ 319489 h 2175496"/>
              <a:gd name="connsiteX99" fmla="*/ 300562 w 750221"/>
              <a:gd name="connsiteY99" fmla="*/ 352540 h 2175496"/>
              <a:gd name="connsiteX100" fmla="*/ 289545 w 750221"/>
              <a:gd name="connsiteY100" fmla="*/ 473725 h 2175496"/>
              <a:gd name="connsiteX101" fmla="*/ 256494 w 750221"/>
              <a:gd name="connsiteY101" fmla="*/ 550843 h 2175496"/>
              <a:gd name="connsiteX102" fmla="*/ 245478 w 750221"/>
              <a:gd name="connsiteY102" fmla="*/ 583894 h 2175496"/>
              <a:gd name="connsiteX103" fmla="*/ 278528 w 750221"/>
              <a:gd name="connsiteY103" fmla="*/ 605928 h 2175496"/>
              <a:gd name="connsiteX104" fmla="*/ 344629 w 750221"/>
              <a:gd name="connsiteY104" fmla="*/ 539826 h 2175496"/>
              <a:gd name="connsiteX105" fmla="*/ 377680 w 750221"/>
              <a:gd name="connsiteY105" fmla="*/ 528810 h 2175496"/>
              <a:gd name="connsiteX106" fmla="*/ 432764 w 750221"/>
              <a:gd name="connsiteY106" fmla="*/ 550843 h 2175496"/>
              <a:gd name="connsiteX107" fmla="*/ 443781 w 750221"/>
              <a:gd name="connsiteY107" fmla="*/ 583894 h 2175496"/>
              <a:gd name="connsiteX108" fmla="*/ 454798 w 750221"/>
              <a:gd name="connsiteY108" fmla="*/ 638978 h 2175496"/>
              <a:gd name="connsiteX109" fmla="*/ 465815 w 750221"/>
              <a:gd name="connsiteY109" fmla="*/ 672029 h 2175496"/>
              <a:gd name="connsiteX110" fmla="*/ 531916 w 750221"/>
              <a:gd name="connsiteY110" fmla="*/ 694063 h 2175496"/>
              <a:gd name="connsiteX111" fmla="*/ 575984 w 750221"/>
              <a:gd name="connsiteY111" fmla="*/ 506776 h 2175496"/>
              <a:gd name="connsiteX112" fmla="*/ 587000 w 750221"/>
              <a:gd name="connsiteY112" fmla="*/ 418641 h 2175496"/>
              <a:gd name="connsiteX113" fmla="*/ 598017 w 750221"/>
              <a:gd name="connsiteY113" fmla="*/ 363557 h 2175496"/>
              <a:gd name="connsiteX114" fmla="*/ 609034 w 750221"/>
              <a:gd name="connsiteY114" fmla="*/ 286438 h 2175496"/>
              <a:gd name="connsiteX115" fmla="*/ 642085 w 750221"/>
              <a:gd name="connsiteY115" fmla="*/ 616945 h 2175496"/>
              <a:gd name="connsiteX116" fmla="*/ 653102 w 750221"/>
              <a:gd name="connsiteY116" fmla="*/ 661012 h 2175496"/>
              <a:gd name="connsiteX117" fmla="*/ 631068 w 750221"/>
              <a:gd name="connsiteY117" fmla="*/ 771181 h 2175496"/>
              <a:gd name="connsiteX118" fmla="*/ 587000 w 750221"/>
              <a:gd name="connsiteY118" fmla="*/ 848299 h 2175496"/>
              <a:gd name="connsiteX119" fmla="*/ 587000 w 750221"/>
              <a:gd name="connsiteY119" fmla="*/ 969484 h 2175496"/>
              <a:gd name="connsiteX120" fmla="*/ 542933 w 750221"/>
              <a:gd name="connsiteY120" fmla="*/ 1156771 h 2175496"/>
              <a:gd name="connsiteX121" fmla="*/ 553950 w 750221"/>
              <a:gd name="connsiteY121" fmla="*/ 1465243 h 2175496"/>
              <a:gd name="connsiteX122" fmla="*/ 564967 w 750221"/>
              <a:gd name="connsiteY122" fmla="*/ 1707614 h 2175496"/>
              <a:gd name="connsiteX123" fmla="*/ 609034 w 750221"/>
              <a:gd name="connsiteY123" fmla="*/ 1795749 h 2175496"/>
              <a:gd name="connsiteX124" fmla="*/ 631068 w 750221"/>
              <a:gd name="connsiteY124" fmla="*/ 1839817 h 2175496"/>
              <a:gd name="connsiteX125" fmla="*/ 609034 w 750221"/>
              <a:gd name="connsiteY125" fmla="*/ 2148289 h 2175496"/>
              <a:gd name="connsiteX126" fmla="*/ 575984 w 750221"/>
              <a:gd name="connsiteY126" fmla="*/ 2071171 h 2175496"/>
              <a:gd name="connsiteX127" fmla="*/ 520899 w 750221"/>
              <a:gd name="connsiteY127" fmla="*/ 2016087 h 2175496"/>
              <a:gd name="connsiteX128" fmla="*/ 454798 w 750221"/>
              <a:gd name="connsiteY128" fmla="*/ 1938969 h 2175496"/>
              <a:gd name="connsiteX129" fmla="*/ 410731 w 750221"/>
              <a:gd name="connsiteY129" fmla="*/ 1883884 h 2175496"/>
              <a:gd name="connsiteX130" fmla="*/ 388697 w 750221"/>
              <a:gd name="connsiteY130" fmla="*/ 1850834 h 2175496"/>
              <a:gd name="connsiteX131" fmla="*/ 344629 w 750221"/>
              <a:gd name="connsiteY131" fmla="*/ 1817783 h 2175496"/>
              <a:gd name="connsiteX132" fmla="*/ 333612 w 750221"/>
              <a:gd name="connsiteY132" fmla="*/ 1784732 h 2175496"/>
              <a:gd name="connsiteX133" fmla="*/ 311579 w 750221"/>
              <a:gd name="connsiteY133" fmla="*/ 1751682 h 2175496"/>
              <a:gd name="connsiteX134" fmla="*/ 278528 w 750221"/>
              <a:gd name="connsiteY134" fmla="*/ 1696598 h 2175496"/>
              <a:gd name="connsiteX135" fmla="*/ 267511 w 750221"/>
              <a:gd name="connsiteY135" fmla="*/ 1641513 h 2175496"/>
              <a:gd name="connsiteX136" fmla="*/ 256494 w 750221"/>
              <a:gd name="connsiteY136" fmla="*/ 1608463 h 2175496"/>
              <a:gd name="connsiteX137" fmla="*/ 344629 w 750221"/>
              <a:gd name="connsiteY137" fmla="*/ 1564395 h 2175496"/>
              <a:gd name="connsiteX138" fmla="*/ 377680 w 750221"/>
              <a:gd name="connsiteY138" fmla="*/ 1553378 h 2175496"/>
              <a:gd name="connsiteX139" fmla="*/ 399714 w 750221"/>
              <a:gd name="connsiteY139" fmla="*/ 1123720 h 2175496"/>
              <a:gd name="connsiteX140" fmla="*/ 410731 w 750221"/>
              <a:gd name="connsiteY140" fmla="*/ 1090670 h 2175496"/>
              <a:gd name="connsiteX141" fmla="*/ 388697 w 750221"/>
              <a:gd name="connsiteY141" fmla="*/ 1134737 h 217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0221" h="2175496">
                <a:moveTo>
                  <a:pt x="113275" y="0"/>
                </a:moveTo>
                <a:cubicBezTo>
                  <a:pt x="105930" y="25706"/>
                  <a:pt x="97725" y="51182"/>
                  <a:pt x="91241" y="77118"/>
                </a:cubicBezTo>
                <a:cubicBezTo>
                  <a:pt x="86700" y="95284"/>
                  <a:pt x="85152" y="114137"/>
                  <a:pt x="80225" y="132202"/>
                </a:cubicBezTo>
                <a:cubicBezTo>
                  <a:pt x="74114" y="154610"/>
                  <a:pt x="58191" y="198304"/>
                  <a:pt x="58191" y="198304"/>
                </a:cubicBezTo>
                <a:cubicBezTo>
                  <a:pt x="61863" y="249716"/>
                  <a:pt x="55927" y="302737"/>
                  <a:pt x="69208" y="352540"/>
                </a:cubicBezTo>
                <a:cubicBezTo>
                  <a:pt x="72200" y="363761"/>
                  <a:pt x="94047" y="371768"/>
                  <a:pt x="102258" y="363557"/>
                </a:cubicBezTo>
                <a:cubicBezTo>
                  <a:pt x="118681" y="347134"/>
                  <a:pt x="116947" y="319489"/>
                  <a:pt x="124292" y="297455"/>
                </a:cubicBezTo>
                <a:lnTo>
                  <a:pt x="135309" y="264405"/>
                </a:lnTo>
                <a:cubicBezTo>
                  <a:pt x="138981" y="238699"/>
                  <a:pt x="131922" y="208893"/>
                  <a:pt x="146326" y="187287"/>
                </a:cubicBezTo>
                <a:cubicBezTo>
                  <a:pt x="152767" y="177625"/>
                  <a:pt x="171165" y="190093"/>
                  <a:pt x="179376" y="198304"/>
                </a:cubicBezTo>
                <a:cubicBezTo>
                  <a:pt x="187587" y="206515"/>
                  <a:pt x="186721" y="220337"/>
                  <a:pt x="190393" y="231354"/>
                </a:cubicBezTo>
                <a:cubicBezTo>
                  <a:pt x="194065" y="297455"/>
                  <a:pt x="195133" y="363753"/>
                  <a:pt x="201410" y="429658"/>
                </a:cubicBezTo>
                <a:cubicBezTo>
                  <a:pt x="202511" y="441218"/>
                  <a:pt x="218402" y="452750"/>
                  <a:pt x="212427" y="462708"/>
                </a:cubicBezTo>
                <a:cubicBezTo>
                  <a:pt x="203977" y="476791"/>
                  <a:pt x="183048" y="477397"/>
                  <a:pt x="168359" y="484742"/>
                </a:cubicBezTo>
                <a:cubicBezTo>
                  <a:pt x="140529" y="568240"/>
                  <a:pt x="159468" y="474691"/>
                  <a:pt x="190393" y="528810"/>
                </a:cubicBezTo>
                <a:cubicBezTo>
                  <a:pt x="201475" y="548205"/>
                  <a:pt x="196564" y="573105"/>
                  <a:pt x="201410" y="594911"/>
                </a:cubicBezTo>
                <a:cubicBezTo>
                  <a:pt x="203929" y="606247"/>
                  <a:pt x="202765" y="621520"/>
                  <a:pt x="212427" y="627961"/>
                </a:cubicBezTo>
                <a:cubicBezTo>
                  <a:pt x="228007" y="638348"/>
                  <a:pt x="249150" y="635306"/>
                  <a:pt x="267511" y="638978"/>
                </a:cubicBezTo>
                <a:cubicBezTo>
                  <a:pt x="305717" y="524362"/>
                  <a:pt x="261963" y="691048"/>
                  <a:pt x="245478" y="583894"/>
                </a:cubicBezTo>
                <a:cubicBezTo>
                  <a:pt x="230971" y="489602"/>
                  <a:pt x="242716" y="483374"/>
                  <a:pt x="278528" y="429658"/>
                </a:cubicBezTo>
                <a:cubicBezTo>
                  <a:pt x="274856" y="418641"/>
                  <a:pt x="272704" y="406994"/>
                  <a:pt x="267511" y="396607"/>
                </a:cubicBezTo>
                <a:cubicBezTo>
                  <a:pt x="261590" y="384764"/>
                  <a:pt x="253174" y="374331"/>
                  <a:pt x="245478" y="363557"/>
                </a:cubicBezTo>
                <a:cubicBezTo>
                  <a:pt x="177147" y="267893"/>
                  <a:pt x="242324" y="364334"/>
                  <a:pt x="190393" y="286438"/>
                </a:cubicBezTo>
                <a:cubicBezTo>
                  <a:pt x="194065" y="271749"/>
                  <a:pt x="195446" y="256288"/>
                  <a:pt x="201410" y="242371"/>
                </a:cubicBezTo>
                <a:cubicBezTo>
                  <a:pt x="206626" y="230201"/>
                  <a:pt x="217522" y="221163"/>
                  <a:pt x="223444" y="209320"/>
                </a:cubicBezTo>
                <a:cubicBezTo>
                  <a:pt x="228637" y="198933"/>
                  <a:pt x="230789" y="187287"/>
                  <a:pt x="234461" y="176270"/>
                </a:cubicBezTo>
                <a:cubicBezTo>
                  <a:pt x="256495" y="179942"/>
                  <a:pt x="285853" y="170476"/>
                  <a:pt x="300562" y="187287"/>
                </a:cubicBezTo>
                <a:cubicBezTo>
                  <a:pt x="317661" y="206829"/>
                  <a:pt x="306934" y="238857"/>
                  <a:pt x="311579" y="264405"/>
                </a:cubicBezTo>
                <a:cubicBezTo>
                  <a:pt x="314288" y="279302"/>
                  <a:pt x="318924" y="293783"/>
                  <a:pt x="322596" y="308472"/>
                </a:cubicBezTo>
                <a:cubicBezTo>
                  <a:pt x="318924" y="374573"/>
                  <a:pt x="320524" y="441180"/>
                  <a:pt x="311579" y="506776"/>
                </a:cubicBezTo>
                <a:cubicBezTo>
                  <a:pt x="309360" y="523048"/>
                  <a:pt x="290715" y="534462"/>
                  <a:pt x="289545" y="550843"/>
                </a:cubicBezTo>
                <a:cubicBezTo>
                  <a:pt x="286916" y="587655"/>
                  <a:pt x="296890" y="624289"/>
                  <a:pt x="300562" y="661012"/>
                </a:cubicBezTo>
                <a:cubicBezTo>
                  <a:pt x="315251" y="638978"/>
                  <a:pt x="332786" y="618596"/>
                  <a:pt x="344629" y="594911"/>
                </a:cubicBezTo>
                <a:cubicBezTo>
                  <a:pt x="360393" y="563384"/>
                  <a:pt x="369575" y="550212"/>
                  <a:pt x="377680" y="517793"/>
                </a:cubicBezTo>
                <a:cubicBezTo>
                  <a:pt x="382222" y="499627"/>
                  <a:pt x="385850" y="481216"/>
                  <a:pt x="388697" y="462708"/>
                </a:cubicBezTo>
                <a:cubicBezTo>
                  <a:pt x="393199" y="433445"/>
                  <a:pt x="388718" y="402062"/>
                  <a:pt x="399714" y="374573"/>
                </a:cubicBezTo>
                <a:cubicBezTo>
                  <a:pt x="404631" y="362280"/>
                  <a:pt x="421747" y="359884"/>
                  <a:pt x="432764" y="352540"/>
                </a:cubicBezTo>
                <a:cubicBezTo>
                  <a:pt x="443781" y="356212"/>
                  <a:pt x="459373" y="353894"/>
                  <a:pt x="465815" y="363557"/>
                </a:cubicBezTo>
                <a:cubicBezTo>
                  <a:pt x="484206" y="391143"/>
                  <a:pt x="477812" y="434715"/>
                  <a:pt x="465815" y="462708"/>
                </a:cubicBezTo>
                <a:cubicBezTo>
                  <a:pt x="460599" y="474878"/>
                  <a:pt x="451126" y="484742"/>
                  <a:pt x="443781" y="495759"/>
                </a:cubicBezTo>
                <a:cubicBezTo>
                  <a:pt x="454798" y="499431"/>
                  <a:pt x="469398" y="497855"/>
                  <a:pt x="476832" y="506776"/>
                </a:cubicBezTo>
                <a:cubicBezTo>
                  <a:pt x="525516" y="565196"/>
                  <a:pt x="466987" y="572486"/>
                  <a:pt x="531916" y="550843"/>
                </a:cubicBezTo>
                <a:cubicBezTo>
                  <a:pt x="539261" y="528809"/>
                  <a:pt x="550418" y="507697"/>
                  <a:pt x="553950" y="484742"/>
                </a:cubicBezTo>
                <a:cubicBezTo>
                  <a:pt x="566195" y="405152"/>
                  <a:pt x="568061" y="363745"/>
                  <a:pt x="587000" y="297455"/>
                </a:cubicBezTo>
                <a:cubicBezTo>
                  <a:pt x="590190" y="286289"/>
                  <a:pt x="593443" y="275079"/>
                  <a:pt x="598017" y="264405"/>
                </a:cubicBezTo>
                <a:cubicBezTo>
                  <a:pt x="604486" y="249310"/>
                  <a:pt x="610505" y="233701"/>
                  <a:pt x="620051" y="220337"/>
                </a:cubicBezTo>
                <a:cubicBezTo>
                  <a:pt x="629107" y="207659"/>
                  <a:pt x="642085" y="198304"/>
                  <a:pt x="653102" y="187287"/>
                </a:cubicBezTo>
                <a:cubicBezTo>
                  <a:pt x="662074" y="169341"/>
                  <a:pt x="690287" y="77813"/>
                  <a:pt x="741237" y="154236"/>
                </a:cubicBezTo>
                <a:cubicBezTo>
                  <a:pt x="750221" y="167711"/>
                  <a:pt x="706112" y="228956"/>
                  <a:pt x="697169" y="242371"/>
                </a:cubicBezTo>
                <a:cubicBezTo>
                  <a:pt x="670754" y="374444"/>
                  <a:pt x="681291" y="315599"/>
                  <a:pt x="664119" y="418641"/>
                </a:cubicBezTo>
                <a:cubicBezTo>
                  <a:pt x="667791" y="466381"/>
                  <a:pt x="669196" y="514349"/>
                  <a:pt x="675135" y="561860"/>
                </a:cubicBezTo>
                <a:cubicBezTo>
                  <a:pt x="676575" y="573383"/>
                  <a:pt x="686152" y="583298"/>
                  <a:pt x="686152" y="594911"/>
                </a:cubicBezTo>
                <a:cubicBezTo>
                  <a:pt x="686152" y="642792"/>
                  <a:pt x="682238" y="690779"/>
                  <a:pt x="675135" y="738130"/>
                </a:cubicBezTo>
                <a:cubicBezTo>
                  <a:pt x="671169" y="764569"/>
                  <a:pt x="660136" y="789455"/>
                  <a:pt x="653102" y="815248"/>
                </a:cubicBezTo>
                <a:cubicBezTo>
                  <a:pt x="649118" y="829856"/>
                  <a:pt x="645055" y="844469"/>
                  <a:pt x="642085" y="859316"/>
                </a:cubicBezTo>
                <a:cubicBezTo>
                  <a:pt x="615074" y="994371"/>
                  <a:pt x="645640" y="867131"/>
                  <a:pt x="620051" y="969484"/>
                </a:cubicBezTo>
                <a:cubicBezTo>
                  <a:pt x="612706" y="1050274"/>
                  <a:pt x="602357" y="1130848"/>
                  <a:pt x="598017" y="1211855"/>
                </a:cubicBezTo>
                <a:cubicBezTo>
                  <a:pt x="591335" y="1336588"/>
                  <a:pt x="599032" y="1462098"/>
                  <a:pt x="587000" y="1586429"/>
                </a:cubicBezTo>
                <a:cubicBezTo>
                  <a:pt x="585725" y="1599608"/>
                  <a:pt x="572311" y="1564395"/>
                  <a:pt x="564967" y="1553378"/>
                </a:cubicBezTo>
                <a:cubicBezTo>
                  <a:pt x="539467" y="1400381"/>
                  <a:pt x="572160" y="1581195"/>
                  <a:pt x="531916" y="1410159"/>
                </a:cubicBezTo>
                <a:cubicBezTo>
                  <a:pt x="523338" y="1373704"/>
                  <a:pt x="530655" y="1331151"/>
                  <a:pt x="509882" y="1299990"/>
                </a:cubicBezTo>
                <a:cubicBezTo>
                  <a:pt x="484559" y="1262005"/>
                  <a:pt x="489272" y="1275355"/>
                  <a:pt x="476832" y="1233889"/>
                </a:cubicBezTo>
                <a:cubicBezTo>
                  <a:pt x="469150" y="1208282"/>
                  <a:pt x="461282" y="1182707"/>
                  <a:pt x="454798" y="1156771"/>
                </a:cubicBezTo>
                <a:cubicBezTo>
                  <a:pt x="450256" y="1138605"/>
                  <a:pt x="449702" y="1119451"/>
                  <a:pt x="443781" y="1101687"/>
                </a:cubicBezTo>
                <a:cubicBezTo>
                  <a:pt x="438587" y="1086107"/>
                  <a:pt x="428216" y="1072714"/>
                  <a:pt x="421747" y="1057619"/>
                </a:cubicBezTo>
                <a:cubicBezTo>
                  <a:pt x="398952" y="1004430"/>
                  <a:pt x="425238" y="1041402"/>
                  <a:pt x="388697" y="980501"/>
                </a:cubicBezTo>
                <a:cubicBezTo>
                  <a:pt x="375072" y="957794"/>
                  <a:pt x="359318" y="936434"/>
                  <a:pt x="344629" y="914400"/>
                </a:cubicBezTo>
                <a:cubicBezTo>
                  <a:pt x="337284" y="903383"/>
                  <a:pt x="328517" y="893192"/>
                  <a:pt x="322596" y="881349"/>
                </a:cubicBezTo>
                <a:cubicBezTo>
                  <a:pt x="315251" y="866660"/>
                  <a:pt x="313926" y="846828"/>
                  <a:pt x="300562" y="837282"/>
                </a:cubicBezTo>
                <a:cubicBezTo>
                  <a:pt x="285325" y="826398"/>
                  <a:pt x="263644" y="830807"/>
                  <a:pt x="245478" y="826265"/>
                </a:cubicBezTo>
                <a:cubicBezTo>
                  <a:pt x="208988" y="817142"/>
                  <a:pt x="211689" y="814756"/>
                  <a:pt x="179376" y="793214"/>
                </a:cubicBezTo>
                <a:cubicBezTo>
                  <a:pt x="171806" y="755363"/>
                  <a:pt x="167712" y="730356"/>
                  <a:pt x="157343" y="694063"/>
                </a:cubicBezTo>
                <a:cubicBezTo>
                  <a:pt x="154153" y="682897"/>
                  <a:pt x="149516" y="672178"/>
                  <a:pt x="146326" y="661012"/>
                </a:cubicBezTo>
                <a:cubicBezTo>
                  <a:pt x="142166" y="646453"/>
                  <a:pt x="143708" y="629543"/>
                  <a:pt x="135309" y="616945"/>
                </a:cubicBezTo>
                <a:cubicBezTo>
                  <a:pt x="127964" y="605928"/>
                  <a:pt x="113275" y="602256"/>
                  <a:pt x="102258" y="594911"/>
                </a:cubicBezTo>
                <a:cubicBezTo>
                  <a:pt x="94914" y="583894"/>
                  <a:pt x="85602" y="573959"/>
                  <a:pt x="80225" y="561860"/>
                </a:cubicBezTo>
                <a:cubicBezTo>
                  <a:pt x="70792" y="540636"/>
                  <a:pt x="71074" y="515084"/>
                  <a:pt x="58191" y="495759"/>
                </a:cubicBezTo>
                <a:lnTo>
                  <a:pt x="36157" y="462708"/>
                </a:lnTo>
                <a:cubicBezTo>
                  <a:pt x="30178" y="307258"/>
                  <a:pt x="0" y="217863"/>
                  <a:pt x="47174" y="88135"/>
                </a:cubicBezTo>
                <a:cubicBezTo>
                  <a:pt x="51699" y="75691"/>
                  <a:pt x="61863" y="66101"/>
                  <a:pt x="69208" y="55084"/>
                </a:cubicBezTo>
                <a:cubicBezTo>
                  <a:pt x="136858" y="156563"/>
                  <a:pt x="86249" y="69259"/>
                  <a:pt x="113275" y="330506"/>
                </a:cubicBezTo>
                <a:cubicBezTo>
                  <a:pt x="117725" y="373526"/>
                  <a:pt x="125844" y="420117"/>
                  <a:pt x="135309" y="462708"/>
                </a:cubicBezTo>
                <a:cubicBezTo>
                  <a:pt x="138594" y="477489"/>
                  <a:pt x="140362" y="492859"/>
                  <a:pt x="146326" y="506776"/>
                </a:cubicBezTo>
                <a:cubicBezTo>
                  <a:pt x="151542" y="518946"/>
                  <a:pt x="162982" y="527727"/>
                  <a:pt x="168359" y="539826"/>
                </a:cubicBezTo>
                <a:cubicBezTo>
                  <a:pt x="177792" y="561050"/>
                  <a:pt x="183048" y="583894"/>
                  <a:pt x="190393" y="605928"/>
                </a:cubicBezTo>
                <a:cubicBezTo>
                  <a:pt x="194065" y="616945"/>
                  <a:pt x="196217" y="628591"/>
                  <a:pt x="201410" y="638978"/>
                </a:cubicBezTo>
                <a:cubicBezTo>
                  <a:pt x="233831" y="703820"/>
                  <a:pt x="218250" y="667466"/>
                  <a:pt x="245478" y="749147"/>
                </a:cubicBezTo>
                <a:cubicBezTo>
                  <a:pt x="222438" y="1014104"/>
                  <a:pt x="250255" y="922105"/>
                  <a:pt x="212427" y="1035585"/>
                </a:cubicBezTo>
                <a:cubicBezTo>
                  <a:pt x="201410" y="1031913"/>
                  <a:pt x="187588" y="1032780"/>
                  <a:pt x="179376" y="1024569"/>
                </a:cubicBezTo>
                <a:cubicBezTo>
                  <a:pt x="171164" y="1016358"/>
                  <a:pt x="169365" y="1003087"/>
                  <a:pt x="168359" y="991518"/>
                </a:cubicBezTo>
                <a:cubicBezTo>
                  <a:pt x="161989" y="918257"/>
                  <a:pt x="165772" y="844234"/>
                  <a:pt x="157343" y="771181"/>
                </a:cubicBezTo>
                <a:cubicBezTo>
                  <a:pt x="154681" y="748108"/>
                  <a:pt x="154634" y="717962"/>
                  <a:pt x="135309" y="705079"/>
                </a:cubicBezTo>
                <a:lnTo>
                  <a:pt x="102258" y="683046"/>
                </a:lnTo>
                <a:cubicBezTo>
                  <a:pt x="99998" y="676266"/>
                  <a:pt x="67795" y="616379"/>
                  <a:pt x="124292" y="638978"/>
                </a:cubicBezTo>
                <a:cubicBezTo>
                  <a:pt x="136586" y="643896"/>
                  <a:pt x="137849" y="661857"/>
                  <a:pt x="146326" y="672029"/>
                </a:cubicBezTo>
                <a:cubicBezTo>
                  <a:pt x="215171" y="754644"/>
                  <a:pt x="142973" y="644408"/>
                  <a:pt x="212427" y="760164"/>
                </a:cubicBezTo>
                <a:cubicBezTo>
                  <a:pt x="240799" y="873650"/>
                  <a:pt x="212427" y="771498"/>
                  <a:pt x="212427" y="627961"/>
                </a:cubicBezTo>
                <a:cubicBezTo>
                  <a:pt x="212427" y="517731"/>
                  <a:pt x="219772" y="407624"/>
                  <a:pt x="223444" y="297455"/>
                </a:cubicBezTo>
                <a:cubicBezTo>
                  <a:pt x="245478" y="304800"/>
                  <a:pt x="270646" y="305989"/>
                  <a:pt x="289545" y="319489"/>
                </a:cubicBezTo>
                <a:cubicBezTo>
                  <a:pt x="298995" y="326239"/>
                  <a:pt x="300562" y="340927"/>
                  <a:pt x="300562" y="352540"/>
                </a:cubicBezTo>
                <a:cubicBezTo>
                  <a:pt x="300562" y="393102"/>
                  <a:pt x="295281" y="433571"/>
                  <a:pt x="289545" y="473725"/>
                </a:cubicBezTo>
                <a:cubicBezTo>
                  <a:pt x="285854" y="499564"/>
                  <a:pt x="266017" y="528622"/>
                  <a:pt x="256494" y="550843"/>
                </a:cubicBezTo>
                <a:cubicBezTo>
                  <a:pt x="251920" y="561517"/>
                  <a:pt x="249150" y="572877"/>
                  <a:pt x="245478" y="583894"/>
                </a:cubicBezTo>
                <a:cubicBezTo>
                  <a:pt x="256495" y="591239"/>
                  <a:pt x="265287" y="605928"/>
                  <a:pt x="278528" y="605928"/>
                </a:cubicBezTo>
                <a:cubicBezTo>
                  <a:pt x="305932" y="605928"/>
                  <a:pt x="332651" y="549807"/>
                  <a:pt x="344629" y="539826"/>
                </a:cubicBezTo>
                <a:cubicBezTo>
                  <a:pt x="353550" y="532392"/>
                  <a:pt x="366663" y="532482"/>
                  <a:pt x="377680" y="528810"/>
                </a:cubicBezTo>
                <a:cubicBezTo>
                  <a:pt x="396041" y="536154"/>
                  <a:pt x="417572" y="538183"/>
                  <a:pt x="432764" y="550843"/>
                </a:cubicBezTo>
                <a:cubicBezTo>
                  <a:pt x="441685" y="558277"/>
                  <a:pt x="440964" y="572628"/>
                  <a:pt x="443781" y="583894"/>
                </a:cubicBezTo>
                <a:cubicBezTo>
                  <a:pt x="448323" y="602060"/>
                  <a:pt x="450256" y="620812"/>
                  <a:pt x="454798" y="638978"/>
                </a:cubicBezTo>
                <a:cubicBezTo>
                  <a:pt x="457615" y="650244"/>
                  <a:pt x="456365" y="665279"/>
                  <a:pt x="465815" y="672029"/>
                </a:cubicBezTo>
                <a:cubicBezTo>
                  <a:pt x="484714" y="685529"/>
                  <a:pt x="531916" y="694063"/>
                  <a:pt x="531916" y="694063"/>
                </a:cubicBezTo>
                <a:cubicBezTo>
                  <a:pt x="582409" y="618323"/>
                  <a:pt x="553444" y="672069"/>
                  <a:pt x="575984" y="506776"/>
                </a:cubicBezTo>
                <a:cubicBezTo>
                  <a:pt x="579984" y="477441"/>
                  <a:pt x="582498" y="447904"/>
                  <a:pt x="587000" y="418641"/>
                </a:cubicBezTo>
                <a:cubicBezTo>
                  <a:pt x="589847" y="400134"/>
                  <a:pt x="594939" y="382027"/>
                  <a:pt x="598017" y="363557"/>
                </a:cubicBezTo>
                <a:cubicBezTo>
                  <a:pt x="602286" y="337943"/>
                  <a:pt x="605362" y="312144"/>
                  <a:pt x="609034" y="286438"/>
                </a:cubicBezTo>
                <a:cubicBezTo>
                  <a:pt x="652646" y="417274"/>
                  <a:pt x="609308" y="278252"/>
                  <a:pt x="642085" y="616945"/>
                </a:cubicBezTo>
                <a:cubicBezTo>
                  <a:pt x="643543" y="632016"/>
                  <a:pt x="649430" y="646323"/>
                  <a:pt x="653102" y="661012"/>
                </a:cubicBezTo>
                <a:cubicBezTo>
                  <a:pt x="645757" y="697735"/>
                  <a:pt x="641357" y="735172"/>
                  <a:pt x="631068" y="771181"/>
                </a:cubicBezTo>
                <a:cubicBezTo>
                  <a:pt x="624080" y="795640"/>
                  <a:pt x="601239" y="826940"/>
                  <a:pt x="587000" y="848299"/>
                </a:cubicBezTo>
                <a:cubicBezTo>
                  <a:pt x="562015" y="948247"/>
                  <a:pt x="587000" y="824745"/>
                  <a:pt x="587000" y="969484"/>
                </a:cubicBezTo>
                <a:cubicBezTo>
                  <a:pt x="587000" y="1088711"/>
                  <a:pt x="586079" y="1070480"/>
                  <a:pt x="542933" y="1156771"/>
                </a:cubicBezTo>
                <a:cubicBezTo>
                  <a:pt x="546605" y="1259595"/>
                  <a:pt x="549838" y="1362436"/>
                  <a:pt x="553950" y="1465243"/>
                </a:cubicBezTo>
                <a:cubicBezTo>
                  <a:pt x="557182" y="1546052"/>
                  <a:pt x="551672" y="1627841"/>
                  <a:pt x="564967" y="1707614"/>
                </a:cubicBezTo>
                <a:cubicBezTo>
                  <a:pt x="570367" y="1740013"/>
                  <a:pt x="594345" y="1766371"/>
                  <a:pt x="609034" y="1795749"/>
                </a:cubicBezTo>
                <a:lnTo>
                  <a:pt x="631068" y="1839817"/>
                </a:lnTo>
                <a:cubicBezTo>
                  <a:pt x="623723" y="1942641"/>
                  <a:pt x="632911" y="2048006"/>
                  <a:pt x="609034" y="2148289"/>
                </a:cubicBezTo>
                <a:cubicBezTo>
                  <a:pt x="602556" y="2175496"/>
                  <a:pt x="591497" y="2094441"/>
                  <a:pt x="575984" y="2071171"/>
                </a:cubicBezTo>
                <a:cubicBezTo>
                  <a:pt x="561580" y="2049565"/>
                  <a:pt x="538151" y="2035495"/>
                  <a:pt x="520899" y="2016087"/>
                </a:cubicBezTo>
                <a:cubicBezTo>
                  <a:pt x="407843" y="1888898"/>
                  <a:pt x="560788" y="2044956"/>
                  <a:pt x="454798" y="1938969"/>
                </a:cubicBezTo>
                <a:cubicBezTo>
                  <a:pt x="433351" y="1874627"/>
                  <a:pt x="460562" y="1933715"/>
                  <a:pt x="410731" y="1883884"/>
                </a:cubicBezTo>
                <a:cubicBezTo>
                  <a:pt x="401369" y="1874522"/>
                  <a:pt x="398060" y="1860196"/>
                  <a:pt x="388697" y="1850834"/>
                </a:cubicBezTo>
                <a:cubicBezTo>
                  <a:pt x="375713" y="1837850"/>
                  <a:pt x="359318" y="1828800"/>
                  <a:pt x="344629" y="1817783"/>
                </a:cubicBezTo>
                <a:cubicBezTo>
                  <a:pt x="340957" y="1806766"/>
                  <a:pt x="338805" y="1795119"/>
                  <a:pt x="333612" y="1784732"/>
                </a:cubicBezTo>
                <a:cubicBezTo>
                  <a:pt x="327691" y="1772889"/>
                  <a:pt x="318596" y="1762910"/>
                  <a:pt x="311579" y="1751682"/>
                </a:cubicBezTo>
                <a:cubicBezTo>
                  <a:pt x="300230" y="1733524"/>
                  <a:pt x="289545" y="1714959"/>
                  <a:pt x="278528" y="1696598"/>
                </a:cubicBezTo>
                <a:cubicBezTo>
                  <a:pt x="274856" y="1678236"/>
                  <a:pt x="272053" y="1659679"/>
                  <a:pt x="267511" y="1641513"/>
                </a:cubicBezTo>
                <a:cubicBezTo>
                  <a:pt x="264694" y="1630247"/>
                  <a:pt x="251301" y="1618850"/>
                  <a:pt x="256494" y="1608463"/>
                </a:cubicBezTo>
                <a:cubicBezTo>
                  <a:pt x="273273" y="1574905"/>
                  <a:pt x="315239" y="1572792"/>
                  <a:pt x="344629" y="1564395"/>
                </a:cubicBezTo>
                <a:cubicBezTo>
                  <a:pt x="355795" y="1561205"/>
                  <a:pt x="366663" y="1557050"/>
                  <a:pt x="377680" y="1553378"/>
                </a:cubicBezTo>
                <a:cubicBezTo>
                  <a:pt x="431516" y="1391875"/>
                  <a:pt x="377035" y="1565953"/>
                  <a:pt x="399714" y="1123720"/>
                </a:cubicBezTo>
                <a:cubicBezTo>
                  <a:pt x="400309" y="1112123"/>
                  <a:pt x="422344" y="1090670"/>
                  <a:pt x="410731" y="1090670"/>
                </a:cubicBezTo>
                <a:cubicBezTo>
                  <a:pt x="386660" y="1090670"/>
                  <a:pt x="388697" y="1120494"/>
                  <a:pt x="388697" y="1134737"/>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Arc 25"/>
          <p:cNvSpPr/>
          <p:nvPr/>
        </p:nvSpPr>
        <p:spPr>
          <a:xfrm>
            <a:off x="3571868" y="2143116"/>
            <a:ext cx="914400" cy="914400"/>
          </a:xfrm>
          <a:prstGeom prst="arc">
            <a:avLst>
              <a:gd name="adj1" fmla="val 15900738"/>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Organigramme : Joindre 26"/>
          <p:cNvSpPr/>
          <p:nvPr/>
        </p:nvSpPr>
        <p:spPr>
          <a:xfrm>
            <a:off x="3714744" y="1714488"/>
            <a:ext cx="457200" cy="914400"/>
          </a:xfrm>
          <a:prstGeom prst="flowChartCol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6143641" y="1714488"/>
            <a:ext cx="2643207" cy="369332"/>
          </a:xfrm>
          <a:prstGeom prst="rect">
            <a:avLst/>
          </a:prstGeom>
          <a:solidFill>
            <a:srgbClr val="FFFF00"/>
          </a:solidFill>
        </p:spPr>
        <p:txBody>
          <a:bodyPr wrap="square">
            <a:spAutoFit/>
          </a:bodyPr>
          <a:lstStyle/>
          <a:p>
            <a:r>
              <a:rPr lang="fr-FR" dirty="0" smtClean="0">
                <a:solidFill>
                  <a:srgbClr val="FF0000"/>
                </a:solidFill>
              </a:rPr>
              <a:t>Hauteur  maximale</a:t>
            </a:r>
          </a:p>
        </p:txBody>
      </p:sp>
      <p:sp>
        <p:nvSpPr>
          <p:cNvPr id="32" name="Rectangle 31"/>
          <p:cNvSpPr/>
          <p:nvPr/>
        </p:nvSpPr>
        <p:spPr>
          <a:xfrm>
            <a:off x="2714617" y="428604"/>
            <a:ext cx="357191" cy="42148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Ellipse 32"/>
          <p:cNvSpPr/>
          <p:nvPr/>
        </p:nvSpPr>
        <p:spPr>
          <a:xfrm>
            <a:off x="2214550" y="3643314"/>
            <a:ext cx="357191" cy="35719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a:t>
            </a:r>
            <a:endParaRPr lang="en-US" dirty="0"/>
          </a:p>
        </p:txBody>
      </p:sp>
      <p:sp>
        <p:nvSpPr>
          <p:cNvPr id="34" name="Ellipse 33"/>
          <p:cNvSpPr/>
          <p:nvPr/>
        </p:nvSpPr>
        <p:spPr>
          <a:xfrm>
            <a:off x="2214547" y="4572008"/>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Ellipse 34"/>
          <p:cNvSpPr/>
          <p:nvPr/>
        </p:nvSpPr>
        <p:spPr>
          <a:xfrm>
            <a:off x="2857493" y="3643315"/>
            <a:ext cx="414335" cy="3428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Ellipse 35"/>
          <p:cNvSpPr/>
          <p:nvPr/>
        </p:nvSpPr>
        <p:spPr>
          <a:xfrm>
            <a:off x="2214547" y="3000372"/>
            <a:ext cx="428628" cy="35719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38" name="Ellipse 37"/>
          <p:cNvSpPr/>
          <p:nvPr/>
        </p:nvSpPr>
        <p:spPr>
          <a:xfrm>
            <a:off x="2143110" y="2357430"/>
            <a:ext cx="428628" cy="35719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6</a:t>
            </a:r>
            <a:endParaRPr lang="en-US" dirty="0"/>
          </a:p>
        </p:txBody>
      </p:sp>
      <p:sp>
        <p:nvSpPr>
          <p:cNvPr id="39" name="Ellipse 38"/>
          <p:cNvSpPr/>
          <p:nvPr/>
        </p:nvSpPr>
        <p:spPr>
          <a:xfrm>
            <a:off x="2143110" y="1785926"/>
            <a:ext cx="428628" cy="357190"/>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8</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714360"/>
            <a:ext cx="8001056" cy="5262979"/>
          </a:xfrm>
          <a:prstGeom prst="rect">
            <a:avLst/>
          </a:prstGeom>
        </p:spPr>
        <p:txBody>
          <a:bodyPr wrap="square">
            <a:spAutoFit/>
          </a:bodyPr>
          <a:lstStyle/>
          <a:p>
            <a:r>
              <a:rPr lang="fr-FR" sz="2800" dirty="0" smtClean="0"/>
              <a:t>Ce cours concerne les carcinomes epidermoides et les adénocarcinomes  in situ et invasifs de l'œsophage, Siewert I et II. </a:t>
            </a:r>
          </a:p>
          <a:p>
            <a:r>
              <a:rPr lang="fr-FR" sz="2800" dirty="0" smtClean="0"/>
              <a:t>Il contient des arbres de décision en fonction de l'extension tumorale (Cf. classifications) ainsi que les principes de prise en</a:t>
            </a:r>
          </a:p>
          <a:p>
            <a:r>
              <a:rPr lang="fr-FR" sz="2800" dirty="0" smtClean="0"/>
              <a:t>charge diagnostique et thérapeutique.</a:t>
            </a:r>
          </a:p>
          <a:p>
            <a:r>
              <a:rPr lang="fr-FR" sz="2800" dirty="0" smtClean="0"/>
              <a:t>Pour les adénocarcinomes situés sous le cardia (Siewert III) il faudra se référer sur les actualités portées sur le cancer de l estomac </a:t>
            </a:r>
          </a:p>
          <a:p>
            <a:r>
              <a:rPr lang="fr-FR" sz="2800" dirty="0" smtClean="0"/>
              <a:t>la prise en charge des cancers non resecables portera un intérêt particulier en raison des diagnostics tardifs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928665" y="428604"/>
            <a:ext cx="7286675" cy="6215106"/>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71736" y="214294"/>
            <a:ext cx="3850734" cy="584775"/>
          </a:xfrm>
          <a:prstGeom prst="rect">
            <a:avLst/>
          </a:prstGeom>
          <a:noFill/>
        </p:spPr>
        <p:txBody>
          <a:bodyPr wrap="none" rtlCol="0">
            <a:spAutoFit/>
          </a:bodyPr>
          <a:lstStyle/>
          <a:p>
            <a:r>
              <a:rPr lang="fr-FR" sz="3200" dirty="0" smtClean="0">
                <a:solidFill>
                  <a:srgbClr val="FFFF00"/>
                </a:solidFill>
              </a:rPr>
              <a:t>Anatomie Descriptive</a:t>
            </a:r>
            <a:endParaRPr lang="fr-FR" sz="3200" dirty="0">
              <a:solidFill>
                <a:srgbClr val="FFFF00"/>
              </a:solidFill>
            </a:endParaRPr>
          </a:p>
        </p:txBody>
      </p:sp>
      <p:sp>
        <p:nvSpPr>
          <p:cNvPr id="4" name="Rectangle 3"/>
          <p:cNvSpPr/>
          <p:nvPr/>
        </p:nvSpPr>
        <p:spPr>
          <a:xfrm>
            <a:off x="357159" y="1428736"/>
            <a:ext cx="3029740" cy="369332"/>
          </a:xfrm>
          <a:prstGeom prst="rect">
            <a:avLst/>
          </a:prstGeom>
        </p:spPr>
        <p:txBody>
          <a:bodyPr wrap="none">
            <a:spAutoFit/>
          </a:bodyPr>
          <a:lstStyle/>
          <a:p>
            <a:r>
              <a:rPr lang="fr-FR" dirty="0" smtClean="0">
                <a:solidFill>
                  <a:srgbClr val="FFFF00"/>
                </a:solidFill>
              </a:rPr>
              <a:t>STRUCTURE HISTOLOGIQUE</a:t>
            </a:r>
            <a:endParaRPr lang="fr-FR" dirty="0">
              <a:solidFill>
                <a:srgbClr val="FFFF00"/>
              </a:solidFill>
            </a:endParaRPr>
          </a:p>
        </p:txBody>
      </p:sp>
      <p:sp>
        <p:nvSpPr>
          <p:cNvPr id="5" name="Rectangle 4"/>
          <p:cNvSpPr/>
          <p:nvPr/>
        </p:nvSpPr>
        <p:spPr>
          <a:xfrm>
            <a:off x="500033" y="1928802"/>
            <a:ext cx="5501250" cy="523220"/>
          </a:xfrm>
          <a:prstGeom prst="rect">
            <a:avLst/>
          </a:prstGeom>
        </p:spPr>
        <p:txBody>
          <a:bodyPr wrap="none">
            <a:spAutoFit/>
          </a:bodyPr>
          <a:lstStyle/>
          <a:p>
            <a:r>
              <a:rPr lang="fr-FR" sz="2800" dirty="0" smtClean="0">
                <a:solidFill>
                  <a:srgbClr val="FFFF00"/>
                </a:solidFill>
              </a:rPr>
              <a:t>Muqueuse résistante epi.pa.s.nonké</a:t>
            </a:r>
            <a:endParaRPr lang="fr-FR" sz="2800" dirty="0">
              <a:solidFill>
                <a:srgbClr val="FFFF00"/>
              </a:solidFill>
            </a:endParaRPr>
          </a:p>
        </p:txBody>
      </p:sp>
      <p:sp>
        <p:nvSpPr>
          <p:cNvPr id="7" name="Rectangle 6"/>
          <p:cNvSpPr/>
          <p:nvPr/>
        </p:nvSpPr>
        <p:spPr>
          <a:xfrm>
            <a:off x="500039" y="2357434"/>
            <a:ext cx="7950831" cy="584775"/>
          </a:xfrm>
          <a:prstGeom prst="rect">
            <a:avLst/>
          </a:prstGeom>
        </p:spPr>
        <p:txBody>
          <a:bodyPr wrap="none">
            <a:spAutoFit/>
          </a:bodyPr>
          <a:lstStyle/>
          <a:p>
            <a:r>
              <a:rPr lang="fr-FR" sz="3200" dirty="0" smtClean="0">
                <a:solidFill>
                  <a:srgbClr val="FFFF00"/>
                </a:solidFill>
              </a:rPr>
              <a:t>S’Muqueuse .contient des glandes muqueuses</a:t>
            </a:r>
            <a:endParaRPr lang="fr-FR" sz="3200" dirty="0">
              <a:solidFill>
                <a:srgbClr val="FFFF00"/>
              </a:solidFill>
            </a:endParaRPr>
          </a:p>
        </p:txBody>
      </p:sp>
      <p:sp>
        <p:nvSpPr>
          <p:cNvPr id="8" name="Rectangle 7"/>
          <p:cNvSpPr/>
          <p:nvPr/>
        </p:nvSpPr>
        <p:spPr>
          <a:xfrm>
            <a:off x="500035" y="2857496"/>
            <a:ext cx="7715304" cy="1077218"/>
          </a:xfrm>
          <a:prstGeom prst="rect">
            <a:avLst/>
          </a:prstGeom>
        </p:spPr>
        <p:txBody>
          <a:bodyPr wrap="square">
            <a:spAutoFit/>
          </a:bodyPr>
          <a:lstStyle/>
          <a:p>
            <a:r>
              <a:rPr lang="fr-FR" sz="3200" dirty="0" smtClean="0">
                <a:solidFill>
                  <a:srgbClr val="FFFF00"/>
                </a:solidFill>
              </a:rPr>
              <a:t>musculeuse  contient 2 couches  .1</a:t>
            </a:r>
            <a:r>
              <a:rPr lang="fr-FR" sz="3200" dirty="0" smtClean="0"/>
              <a:t>circulaire</a:t>
            </a:r>
            <a:r>
              <a:rPr lang="fr-FR" sz="3200" dirty="0" smtClean="0">
                <a:solidFill>
                  <a:srgbClr val="FFFF00"/>
                </a:solidFill>
              </a:rPr>
              <a:t> interne.1</a:t>
            </a:r>
            <a:r>
              <a:rPr lang="fr-FR" sz="3200" dirty="0" smtClean="0"/>
              <a:t>longitudinale</a:t>
            </a:r>
            <a:r>
              <a:rPr lang="fr-FR" sz="3200" dirty="0" smtClean="0">
                <a:solidFill>
                  <a:srgbClr val="FFFF00"/>
                </a:solidFill>
              </a:rPr>
              <a:t> externe</a:t>
            </a:r>
            <a:endParaRPr lang="fr-FR" sz="3200" dirty="0">
              <a:solidFill>
                <a:srgbClr val="FFFF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28597" y="357166"/>
            <a:ext cx="8001056" cy="607223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5720" y="642922"/>
            <a:ext cx="2618024"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400" dirty="0" smtClean="0">
                <a:solidFill>
                  <a:srgbClr val="FFFF00"/>
                </a:solidFill>
              </a:rPr>
              <a:t>Œsophage cervical</a:t>
            </a:r>
            <a:endParaRPr lang="fr-FR" sz="2400" dirty="0">
              <a:solidFill>
                <a:srgbClr val="FFFF00"/>
              </a:solidFill>
            </a:endParaRPr>
          </a:p>
        </p:txBody>
      </p:sp>
      <p:pic>
        <p:nvPicPr>
          <p:cNvPr id="4" name="CRMV0043.AVI">
            <a:hlinkClick r:id="" action="ppaction://media"/>
          </p:cNvPr>
          <p:cNvPicPr>
            <a:picLocks noRot="1" noChangeAspect="1"/>
          </p:cNvPicPr>
          <p:nvPr>
            <a:videoFile r:link="rId1"/>
          </p:nvPr>
        </p:nvPicPr>
        <p:blipFill>
          <a:blip r:embed="rId3"/>
          <a:stretch>
            <a:fillRect/>
          </a:stretch>
        </p:blipFill>
        <p:spPr>
          <a:xfrm>
            <a:off x="500035" y="1428736"/>
            <a:ext cx="3048000" cy="2286000"/>
          </a:xfrm>
          <a:prstGeom prst="rect">
            <a:avLst/>
          </a:prstGeom>
        </p:spPr>
      </p:pic>
      <p:sp>
        <p:nvSpPr>
          <p:cNvPr id="5" name="Rectangle 4"/>
          <p:cNvSpPr/>
          <p:nvPr/>
        </p:nvSpPr>
        <p:spPr>
          <a:xfrm>
            <a:off x="4000496" y="1785930"/>
            <a:ext cx="4596130"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400" dirty="0" smtClean="0">
                <a:solidFill>
                  <a:srgbClr val="FFFF00"/>
                </a:solidFill>
              </a:rPr>
              <a:t>Jonction pharyngo-</a:t>
            </a:r>
            <a:r>
              <a:rPr lang="fr-FR" sz="2400" dirty="0" err="1" smtClean="0">
                <a:solidFill>
                  <a:srgbClr val="FFFF00"/>
                </a:solidFill>
              </a:rPr>
              <a:t>oesophagienne</a:t>
            </a:r>
            <a:endParaRPr lang="fr-FR" sz="2400" dirty="0">
              <a:solidFill>
                <a:srgbClr val="FFFF00"/>
              </a:solidFill>
            </a:endParaRPr>
          </a:p>
        </p:txBody>
      </p:sp>
      <p:sp>
        <p:nvSpPr>
          <p:cNvPr id="6" name="Rectangle 5"/>
          <p:cNvSpPr/>
          <p:nvPr/>
        </p:nvSpPr>
        <p:spPr>
          <a:xfrm>
            <a:off x="1142982" y="3857633"/>
            <a:ext cx="6595075" cy="2431435"/>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400" dirty="0" smtClean="0">
                <a:solidFill>
                  <a:srgbClr val="FFFF00"/>
                </a:solidFill>
              </a:rPr>
              <a:t>A ce niveau il existe 2 parties musculaires</a:t>
            </a:r>
          </a:p>
          <a:p>
            <a:r>
              <a:rPr lang="fr-FR" sz="2400" dirty="0" smtClean="0">
                <a:solidFill>
                  <a:srgbClr val="FFFF00"/>
                </a:solidFill>
              </a:rPr>
              <a:t>Une partie crico-pharyngienne</a:t>
            </a:r>
          </a:p>
          <a:p>
            <a:r>
              <a:rPr lang="fr-FR" sz="2400" dirty="0" smtClean="0">
                <a:solidFill>
                  <a:srgbClr val="FFFF00"/>
                </a:solidFill>
              </a:rPr>
              <a:t>Une partie </a:t>
            </a:r>
            <a:r>
              <a:rPr lang="fr-FR" sz="2400" dirty="0" err="1" smtClean="0">
                <a:solidFill>
                  <a:srgbClr val="FFFF00"/>
                </a:solidFill>
              </a:rPr>
              <a:t>thyro</a:t>
            </a:r>
            <a:r>
              <a:rPr lang="fr-FR" sz="2400" dirty="0" smtClean="0">
                <a:solidFill>
                  <a:srgbClr val="FFFF00"/>
                </a:solidFill>
              </a:rPr>
              <a:t>-pharyngienne.</a:t>
            </a:r>
          </a:p>
          <a:p>
            <a:r>
              <a:rPr lang="fr-FR" sz="2400" dirty="0" smtClean="0">
                <a:solidFill>
                  <a:srgbClr val="FFFF00"/>
                </a:solidFill>
              </a:rPr>
              <a:t>Entre les 2 parties il existe un point faible</a:t>
            </a:r>
          </a:p>
          <a:p>
            <a:r>
              <a:rPr lang="fr-FR" sz="2800" dirty="0" smtClean="0">
                <a:solidFill>
                  <a:schemeClr val="tx1"/>
                </a:solidFill>
              </a:rPr>
              <a:t>Qui semble être une zone dangereuse pour </a:t>
            </a:r>
          </a:p>
          <a:p>
            <a:r>
              <a:rPr lang="fr-FR" sz="2800" dirty="0" smtClean="0">
                <a:solidFill>
                  <a:schemeClr val="tx1"/>
                </a:solidFill>
              </a:rPr>
              <a:t>l.endoscopie</a:t>
            </a:r>
            <a:endParaRPr lang="fr-FR" sz="2800" dirty="0">
              <a:solidFill>
                <a:schemeClr val="tx1"/>
              </a:solidFill>
            </a:endParaRPr>
          </a:p>
        </p:txBody>
      </p:sp>
      <p:sp>
        <p:nvSpPr>
          <p:cNvPr id="7" name="Rectangle 6"/>
          <p:cNvSpPr/>
          <p:nvPr/>
        </p:nvSpPr>
        <p:spPr>
          <a:xfrm>
            <a:off x="3643311" y="2714620"/>
            <a:ext cx="4680833" cy="707886"/>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fr-FR" sz="4000" dirty="0" smtClean="0">
                <a:solidFill>
                  <a:srgbClr val="FFFF00"/>
                </a:solidFill>
              </a:rPr>
              <a:t>Diverticule de Zenker</a:t>
            </a:r>
            <a:endParaRPr lang="fr-FR" sz="40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300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p:cTn id="12" fill="hold" display="0">
                  <p:stCondLst>
                    <p:cond delay="indefinite"/>
                  </p:stCondLst>
                  <p:endCondLst>
                    <p:cond evt="onNext" delay="0">
                      <p:tgtEl>
                        <p:sldTgt/>
                      </p:tgtEl>
                    </p:cond>
                    <p:cond evt="onPrev" delay="0">
                      <p:tgtEl>
                        <p:sldTgt/>
                      </p:tgtEl>
                    </p:cond>
                  </p:endCondLst>
                </p:cTn>
                <p:tgtEl>
                  <p:spTgt spid="4"/>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srcRect/>
          <a:stretch>
            <a:fillRect/>
          </a:stretch>
        </p:blipFill>
        <p:spPr bwMode="auto">
          <a:xfrm>
            <a:off x="285720" y="1000109"/>
            <a:ext cx="8572560" cy="5500725"/>
          </a:xfrm>
          <a:prstGeom prst="rect">
            <a:avLst/>
          </a:prstGeom>
          <a:noFill/>
          <a:ln w="9525">
            <a:noFill/>
            <a:miter lim="800000"/>
            <a:headEnd/>
            <a:tailEnd/>
          </a:ln>
          <a:effectLst/>
        </p:spPr>
      </p:pic>
      <p:sp>
        <p:nvSpPr>
          <p:cNvPr id="4" name="Rectangle 3"/>
          <p:cNvSpPr/>
          <p:nvPr/>
        </p:nvSpPr>
        <p:spPr>
          <a:xfrm>
            <a:off x="285725" y="357170"/>
            <a:ext cx="4025461" cy="5847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3200" dirty="0" smtClean="0">
                <a:solidFill>
                  <a:srgbClr val="FFFF00"/>
                </a:solidFill>
              </a:rPr>
              <a:t>Rapports anatomiques</a:t>
            </a:r>
            <a:endParaRPr lang="fr-FR" sz="3200" dirty="0">
              <a:solidFill>
                <a:srgbClr val="FFFF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7157" y="571480"/>
            <a:ext cx="8042586" cy="5232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800" dirty="0" smtClean="0">
                <a:solidFill>
                  <a:schemeClr val="tx1"/>
                </a:solidFill>
              </a:rPr>
              <a:t>Vascularisation. Drainage lymphatique et innervation</a:t>
            </a:r>
            <a:endParaRPr lang="fr-FR" sz="2800" dirty="0">
              <a:solidFill>
                <a:schemeClr val="tx1"/>
              </a:solidFill>
            </a:endParaRPr>
          </a:p>
        </p:txBody>
      </p:sp>
      <p:sp>
        <p:nvSpPr>
          <p:cNvPr id="4" name="Rectangle 3"/>
          <p:cNvSpPr/>
          <p:nvPr/>
        </p:nvSpPr>
        <p:spPr>
          <a:xfrm>
            <a:off x="428596" y="1357298"/>
            <a:ext cx="8207696" cy="175432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3600" dirty="0" smtClean="0">
                <a:solidFill>
                  <a:srgbClr val="FFFF00"/>
                </a:solidFill>
              </a:rPr>
              <a:t>Artères et veines thyroïdiennes inferieures</a:t>
            </a:r>
          </a:p>
          <a:p>
            <a:r>
              <a:rPr lang="fr-FR" sz="3600" dirty="0" err="1" smtClean="0">
                <a:solidFill>
                  <a:srgbClr val="FFFF00"/>
                </a:solidFill>
              </a:rPr>
              <a:t>Gg</a:t>
            </a:r>
            <a:r>
              <a:rPr lang="fr-FR" sz="3600" dirty="0" smtClean="0">
                <a:solidFill>
                  <a:srgbClr val="FFFF00"/>
                </a:solidFill>
              </a:rPr>
              <a:t> </a:t>
            </a:r>
            <a:r>
              <a:rPr lang="fr-FR" sz="3600" dirty="0" smtClean="0">
                <a:solidFill>
                  <a:srgbClr val="FFFF00"/>
                </a:solidFill>
              </a:rPr>
              <a:t>récurrents</a:t>
            </a:r>
            <a:endParaRPr lang="fr-FR" sz="3600" dirty="0" smtClean="0">
              <a:solidFill>
                <a:srgbClr val="FFFF00"/>
              </a:solidFill>
            </a:endParaRPr>
          </a:p>
          <a:p>
            <a:r>
              <a:rPr lang="fr-FR" sz="3600" dirty="0" smtClean="0">
                <a:solidFill>
                  <a:srgbClr val="FFFF00"/>
                </a:solidFill>
              </a:rPr>
              <a:t>Plexus </a:t>
            </a:r>
            <a:r>
              <a:rPr lang="fr-FR" sz="3600" dirty="0" smtClean="0">
                <a:solidFill>
                  <a:srgbClr val="FFFF00"/>
                </a:solidFill>
              </a:rPr>
              <a:t>récurrents </a:t>
            </a:r>
            <a:r>
              <a:rPr lang="fr-FR" sz="3600" dirty="0" smtClean="0">
                <a:solidFill>
                  <a:srgbClr val="FFFF00"/>
                </a:solidFill>
              </a:rPr>
              <a:t>et sympathiques</a:t>
            </a:r>
            <a:endParaRPr lang="fr-FR" sz="3600" dirty="0">
              <a:solidFill>
                <a:srgbClr val="FFFF00"/>
              </a:solidFill>
            </a:endParaRPr>
          </a:p>
        </p:txBody>
      </p:sp>
      <p:pic>
        <p:nvPicPr>
          <p:cNvPr id="4099" name="Picture 3"/>
          <p:cNvPicPr>
            <a:picLocks noChangeAspect="1" noChangeArrowheads="1"/>
          </p:cNvPicPr>
          <p:nvPr/>
        </p:nvPicPr>
        <p:blipFill>
          <a:blip r:embed="rId2"/>
          <a:srcRect/>
          <a:stretch>
            <a:fillRect/>
          </a:stretch>
        </p:blipFill>
        <p:spPr bwMode="auto">
          <a:xfrm>
            <a:off x="285725" y="3214686"/>
            <a:ext cx="8643999" cy="3643314"/>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9" y="1000108"/>
            <a:ext cx="8429684" cy="3600986"/>
          </a:xfrm>
          <a:prstGeom prst="rect">
            <a:avLst/>
          </a:prstGeom>
        </p:spPr>
        <p:txBody>
          <a:bodyPr wrap="square">
            <a:spAutoFit/>
          </a:bodyPr>
          <a:lstStyle/>
          <a:p>
            <a:r>
              <a:rPr lang="fr-FR" sz="3600" dirty="0" smtClean="0"/>
              <a:t>Rapports</a:t>
            </a:r>
          </a:p>
          <a:p>
            <a:endParaRPr lang="fr-FR" sz="3600" dirty="0" smtClean="0"/>
          </a:p>
          <a:p>
            <a:endParaRPr lang="fr-FR" sz="3600" dirty="0" smtClean="0"/>
          </a:p>
          <a:p>
            <a:r>
              <a:rPr lang="fr-FR" sz="4000" dirty="0" smtClean="0"/>
              <a:t>Le croisement de l’œsophage avec la crosse de l’azygos et l’arc aortique</a:t>
            </a:r>
          </a:p>
          <a:p>
            <a:r>
              <a:rPr lang="fr-FR" sz="4000" dirty="0" smtClean="0"/>
              <a:t>permet d’individualiser trois étages.</a:t>
            </a:r>
            <a:endParaRPr lang="fr-FR" sz="4000" dirty="0"/>
          </a:p>
        </p:txBody>
      </p:sp>
      <p:sp>
        <p:nvSpPr>
          <p:cNvPr id="3" name="Rectangle 2"/>
          <p:cNvSpPr/>
          <p:nvPr/>
        </p:nvSpPr>
        <p:spPr>
          <a:xfrm>
            <a:off x="285726" y="0"/>
            <a:ext cx="3494867" cy="5232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800" dirty="0" smtClean="0">
                <a:solidFill>
                  <a:srgbClr val="FFFF00"/>
                </a:solidFill>
              </a:rPr>
              <a:t>Œsophage thoracique</a:t>
            </a:r>
            <a:endParaRPr lang="fr-FR" sz="2800" dirty="0">
              <a:solidFill>
                <a:srgbClr val="FFFF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42" y="1500178"/>
            <a:ext cx="8350363" cy="646331"/>
          </a:xfrm>
          <a:prstGeom prst="rect">
            <a:avLst/>
          </a:prstGeom>
        </p:spPr>
        <p:txBody>
          <a:bodyPr wrap="none">
            <a:spAutoFit/>
          </a:bodyPr>
          <a:lstStyle/>
          <a:p>
            <a:r>
              <a:rPr lang="fr-FR" sz="3600" dirty="0" smtClean="0"/>
              <a:t>Étage supérieur ou sus-</a:t>
            </a:r>
            <a:r>
              <a:rPr lang="fr-FR" sz="3600" dirty="0" err="1" smtClean="0"/>
              <a:t>azygo</a:t>
            </a:r>
            <a:r>
              <a:rPr lang="fr-FR" sz="3600" dirty="0" smtClean="0"/>
              <a:t>-aortique (T3)</a:t>
            </a:r>
            <a:endParaRPr lang="fr-FR" sz="3600" dirty="0"/>
          </a:p>
        </p:txBody>
      </p:sp>
      <p:sp>
        <p:nvSpPr>
          <p:cNvPr id="3" name="Rectangle 2"/>
          <p:cNvSpPr/>
          <p:nvPr/>
        </p:nvSpPr>
        <p:spPr>
          <a:xfrm>
            <a:off x="500033" y="2643186"/>
            <a:ext cx="8204490" cy="646331"/>
          </a:xfrm>
          <a:prstGeom prst="rect">
            <a:avLst/>
          </a:prstGeom>
        </p:spPr>
        <p:txBody>
          <a:bodyPr wrap="none">
            <a:spAutoFit/>
          </a:bodyPr>
          <a:lstStyle/>
          <a:p>
            <a:r>
              <a:rPr lang="fr-FR" sz="3600" dirty="0" smtClean="0"/>
              <a:t>Étage moyen ou inter-</a:t>
            </a:r>
            <a:r>
              <a:rPr lang="fr-FR" sz="3600" dirty="0" err="1" smtClean="0"/>
              <a:t>azygo</a:t>
            </a:r>
            <a:r>
              <a:rPr lang="fr-FR" sz="3600" dirty="0" smtClean="0"/>
              <a:t>-aortique (T4)</a:t>
            </a:r>
            <a:endParaRPr lang="fr-FR" sz="3600" dirty="0"/>
          </a:p>
        </p:txBody>
      </p:sp>
      <p:sp>
        <p:nvSpPr>
          <p:cNvPr id="4" name="Rectangle 3"/>
          <p:cNvSpPr/>
          <p:nvPr/>
        </p:nvSpPr>
        <p:spPr>
          <a:xfrm>
            <a:off x="571475" y="4214822"/>
            <a:ext cx="8457765" cy="646331"/>
          </a:xfrm>
          <a:prstGeom prst="rect">
            <a:avLst/>
          </a:prstGeom>
        </p:spPr>
        <p:txBody>
          <a:bodyPr wrap="none">
            <a:spAutoFit/>
          </a:bodyPr>
          <a:lstStyle/>
          <a:p>
            <a:r>
              <a:rPr lang="fr-FR" sz="3600" dirty="0" smtClean="0"/>
              <a:t>Étage inférieur ou sous-</a:t>
            </a:r>
            <a:r>
              <a:rPr lang="fr-FR" sz="3600" dirty="0" err="1" smtClean="0"/>
              <a:t>azygo</a:t>
            </a:r>
            <a:r>
              <a:rPr lang="fr-FR" sz="3600" dirty="0" smtClean="0"/>
              <a:t>-aortique (T9)</a:t>
            </a:r>
            <a:endParaRPr lang="fr-FR"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285721" y="714356"/>
            <a:ext cx="8501123" cy="5786478"/>
          </a:xfrm>
          <a:prstGeom prst="rect">
            <a:avLst/>
          </a:prstGeom>
          <a:noFill/>
          <a:ln w="9525">
            <a:noFill/>
            <a:miter lim="800000"/>
            <a:headEnd/>
            <a:tailEnd/>
          </a:ln>
          <a:effectLst/>
        </p:spPr>
      </p:pic>
      <p:sp>
        <p:nvSpPr>
          <p:cNvPr id="3" name="Rectangle 2"/>
          <p:cNvSpPr/>
          <p:nvPr/>
        </p:nvSpPr>
        <p:spPr>
          <a:xfrm>
            <a:off x="285728" y="4"/>
            <a:ext cx="8350363" cy="646331"/>
          </a:xfrm>
          <a:prstGeom prst="rect">
            <a:avLst/>
          </a:prstGeom>
        </p:spPr>
        <p:txBody>
          <a:bodyPr wrap="none">
            <a:spAutoFit/>
          </a:bodyPr>
          <a:lstStyle/>
          <a:p>
            <a:r>
              <a:rPr lang="fr-FR" sz="3600" dirty="0" smtClean="0"/>
              <a:t>Étage supérieur ou sus-</a:t>
            </a:r>
            <a:r>
              <a:rPr lang="fr-FR" sz="3600" dirty="0" err="1" smtClean="0"/>
              <a:t>azygo</a:t>
            </a:r>
            <a:r>
              <a:rPr lang="fr-FR" sz="3600" dirty="0" smtClean="0"/>
              <a:t>-aortique (T3)</a:t>
            </a:r>
            <a:endParaRPr lang="fr-FR"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357170"/>
            <a:ext cx="8204490" cy="646331"/>
          </a:xfrm>
          <a:prstGeom prst="rect">
            <a:avLst/>
          </a:prstGeom>
        </p:spPr>
        <p:txBody>
          <a:bodyPr wrap="none">
            <a:spAutoFit/>
          </a:bodyPr>
          <a:lstStyle/>
          <a:p>
            <a:r>
              <a:rPr lang="fr-FR" sz="3600" dirty="0" smtClean="0"/>
              <a:t>Étage moyen ou inter-</a:t>
            </a:r>
            <a:r>
              <a:rPr lang="fr-FR" sz="3600" dirty="0" err="1" smtClean="0"/>
              <a:t>azygo</a:t>
            </a:r>
            <a:r>
              <a:rPr lang="fr-FR" sz="3600" dirty="0" smtClean="0"/>
              <a:t>-aortique (T4)</a:t>
            </a:r>
            <a:endParaRPr lang="fr-FR" sz="3600" dirty="0"/>
          </a:p>
        </p:txBody>
      </p:sp>
      <p:pic>
        <p:nvPicPr>
          <p:cNvPr id="6146" name="Picture 2"/>
          <p:cNvPicPr>
            <a:picLocks noChangeAspect="1" noChangeArrowheads="1"/>
          </p:cNvPicPr>
          <p:nvPr/>
        </p:nvPicPr>
        <p:blipFill>
          <a:blip r:embed="rId2"/>
          <a:srcRect/>
          <a:stretch>
            <a:fillRect/>
          </a:stretch>
        </p:blipFill>
        <p:spPr bwMode="auto">
          <a:xfrm>
            <a:off x="428601" y="1285864"/>
            <a:ext cx="8215369" cy="5429287"/>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5" y="357170"/>
            <a:ext cx="8457765" cy="646331"/>
          </a:xfrm>
          <a:prstGeom prst="rect">
            <a:avLst/>
          </a:prstGeom>
        </p:spPr>
        <p:txBody>
          <a:bodyPr wrap="none">
            <a:spAutoFit/>
          </a:bodyPr>
          <a:lstStyle/>
          <a:p>
            <a:r>
              <a:rPr lang="fr-FR" sz="3600" dirty="0" smtClean="0"/>
              <a:t>Étage inférieur ou sous-</a:t>
            </a:r>
            <a:r>
              <a:rPr lang="fr-FR" sz="3600" dirty="0" err="1" smtClean="0"/>
              <a:t>azygo</a:t>
            </a:r>
            <a:r>
              <a:rPr lang="fr-FR" sz="3600" dirty="0" smtClean="0"/>
              <a:t>-aortique (T9)</a:t>
            </a:r>
            <a:endParaRPr lang="fr-FR" sz="3600" dirty="0"/>
          </a:p>
        </p:txBody>
      </p:sp>
      <p:pic>
        <p:nvPicPr>
          <p:cNvPr id="7170" name="Picture 2"/>
          <p:cNvPicPr>
            <a:picLocks noChangeAspect="1" noChangeArrowheads="1"/>
          </p:cNvPicPr>
          <p:nvPr/>
        </p:nvPicPr>
        <p:blipFill>
          <a:blip r:embed="rId2"/>
          <a:srcRect/>
          <a:stretch>
            <a:fillRect/>
          </a:stretch>
        </p:blipFill>
        <p:spPr bwMode="auto">
          <a:xfrm>
            <a:off x="428601" y="1214426"/>
            <a:ext cx="8215369" cy="5143535"/>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0" y="3786191"/>
            <a:ext cx="6858048" cy="2857515"/>
          </a:xfrm>
          <a:prstGeom prst="rect">
            <a:avLst/>
          </a:prstGeom>
          <a:noFill/>
          <a:ln w="9525">
            <a:noFill/>
            <a:miter lim="800000"/>
            <a:headEnd/>
            <a:tailEnd/>
          </a:ln>
          <a:effectLst/>
        </p:spPr>
      </p:pic>
      <p:sp>
        <p:nvSpPr>
          <p:cNvPr id="3" name="Rectangle 2"/>
          <p:cNvSpPr/>
          <p:nvPr/>
        </p:nvSpPr>
        <p:spPr>
          <a:xfrm>
            <a:off x="0" y="214290"/>
            <a:ext cx="5726248" cy="5232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800" dirty="0" smtClean="0">
                <a:solidFill>
                  <a:srgbClr val="FFFF00"/>
                </a:solidFill>
              </a:rPr>
              <a:t>Orifice diaphragmatique œsophagien</a:t>
            </a:r>
            <a:endParaRPr lang="fr-FR" sz="2800" dirty="0">
              <a:solidFill>
                <a:srgbClr val="FFFF00"/>
              </a:solidFill>
            </a:endParaRPr>
          </a:p>
        </p:txBody>
      </p:sp>
      <p:sp>
        <p:nvSpPr>
          <p:cNvPr id="4" name="Rectangle 3"/>
          <p:cNvSpPr/>
          <p:nvPr/>
        </p:nvSpPr>
        <p:spPr>
          <a:xfrm>
            <a:off x="5" y="857232"/>
            <a:ext cx="8778365" cy="181588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800" dirty="0" smtClean="0">
                <a:solidFill>
                  <a:srgbClr val="FFFF00"/>
                </a:solidFill>
              </a:rPr>
              <a:t>Véritable canal de 5 cm de long</a:t>
            </a:r>
          </a:p>
          <a:p>
            <a:r>
              <a:rPr lang="fr-FR" sz="2800" dirty="0" smtClean="0">
                <a:solidFill>
                  <a:srgbClr val="FFFF00"/>
                </a:solidFill>
              </a:rPr>
              <a:t>2 étages: étage sup .purement musculaire</a:t>
            </a:r>
          </a:p>
          <a:p>
            <a:r>
              <a:rPr lang="fr-FR" sz="2800" dirty="0" smtClean="0">
                <a:solidFill>
                  <a:srgbClr val="FFFF00"/>
                </a:solidFill>
              </a:rPr>
              <a:t>Etage inferieur: forme de gouttière a concavité .antérieure</a:t>
            </a:r>
          </a:p>
          <a:p>
            <a:r>
              <a:rPr lang="fr-FR" sz="2800" dirty="0" smtClean="0">
                <a:solidFill>
                  <a:srgbClr val="FFFF00"/>
                </a:solidFill>
              </a:rPr>
              <a:t>Membrane phréno-</a:t>
            </a:r>
            <a:r>
              <a:rPr lang="fr-FR" sz="2800" dirty="0" err="1" smtClean="0">
                <a:solidFill>
                  <a:srgbClr val="FFFF00"/>
                </a:solidFill>
              </a:rPr>
              <a:t>oesophagienne</a:t>
            </a:r>
            <a:endParaRPr lang="fr-FR" sz="2800" dirty="0" smtClean="0">
              <a:solidFill>
                <a:srgbClr val="FFFF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7" y="571480"/>
            <a:ext cx="8042586" cy="5232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fr-FR" sz="2800" dirty="0" smtClean="0">
                <a:solidFill>
                  <a:schemeClr val="tx1"/>
                </a:solidFill>
              </a:rPr>
              <a:t>Vascularisation. Drainage lymphatique et innervation</a:t>
            </a:r>
            <a:endParaRPr lang="fr-FR" sz="2800" dirty="0">
              <a:solidFill>
                <a:schemeClr val="tx1"/>
              </a:solidFill>
            </a:endParaRPr>
          </a:p>
        </p:txBody>
      </p:sp>
      <p:pic>
        <p:nvPicPr>
          <p:cNvPr id="9218" name="Picture 2"/>
          <p:cNvPicPr>
            <a:picLocks noChangeAspect="1" noChangeArrowheads="1"/>
          </p:cNvPicPr>
          <p:nvPr/>
        </p:nvPicPr>
        <p:blipFill>
          <a:blip r:embed="rId2"/>
          <a:srcRect/>
          <a:stretch>
            <a:fillRect/>
          </a:stretch>
        </p:blipFill>
        <p:spPr bwMode="auto">
          <a:xfrm>
            <a:off x="357163" y="1409701"/>
            <a:ext cx="7786743" cy="5091134"/>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7423" y="428604"/>
            <a:ext cx="4804520" cy="523220"/>
          </a:xfrm>
          <a:prstGeom prst="rect">
            <a:avLst/>
          </a:prstGeom>
        </p:spPr>
        <p:txBody>
          <a:bodyPr wrap="none">
            <a:spAutoFit/>
          </a:bodyPr>
          <a:lstStyle/>
          <a:p>
            <a:r>
              <a:rPr lang="fr-FR" sz="2800" b="1" dirty="0" smtClean="0">
                <a:solidFill>
                  <a:srgbClr val="00B050"/>
                </a:solidFill>
              </a:rPr>
              <a:t>Etude </a:t>
            </a:r>
            <a:r>
              <a:rPr lang="fr-FR" sz="2800" b="1" dirty="0" err="1" smtClean="0">
                <a:solidFill>
                  <a:srgbClr val="00B050"/>
                </a:solidFill>
              </a:rPr>
              <a:t>anatomo</a:t>
            </a:r>
            <a:r>
              <a:rPr lang="fr-FR" sz="2800" b="1" dirty="0" smtClean="0">
                <a:solidFill>
                  <a:srgbClr val="00B050"/>
                </a:solidFill>
              </a:rPr>
              <a:t> pathologique </a:t>
            </a:r>
          </a:p>
        </p:txBody>
      </p:sp>
      <p:sp>
        <p:nvSpPr>
          <p:cNvPr id="4" name="Rectangle 3"/>
          <p:cNvSpPr/>
          <p:nvPr/>
        </p:nvSpPr>
        <p:spPr>
          <a:xfrm>
            <a:off x="642911" y="1857367"/>
            <a:ext cx="8143932" cy="4247317"/>
          </a:xfrm>
          <a:prstGeom prst="rect">
            <a:avLst/>
          </a:prstGeom>
        </p:spPr>
        <p:txBody>
          <a:bodyPr wrap="square">
            <a:spAutoFit/>
          </a:bodyPr>
          <a:lstStyle/>
          <a:p>
            <a:r>
              <a:rPr lang="fr-FR" sz="3600" dirty="0" smtClean="0">
                <a:solidFill>
                  <a:srgbClr val="FFC000"/>
                </a:solidFill>
              </a:rPr>
              <a:t>L'adénocarcinome</a:t>
            </a:r>
            <a:r>
              <a:rPr lang="fr-FR" dirty="0" smtClean="0"/>
              <a:t> de l'œsophage est fréquemment associé à un endobrachyœsophage </a:t>
            </a:r>
            <a:r>
              <a:rPr lang="fr-FR" dirty="0" smtClean="0">
                <a:solidFill>
                  <a:srgbClr val="FF0000"/>
                </a:solidFill>
              </a:rPr>
              <a:t>((EBO</a:t>
            </a:r>
            <a:r>
              <a:rPr lang="fr-FR" dirty="0" smtClean="0"/>
              <a:t>) ou œsophage de Barrett)</a:t>
            </a:r>
          </a:p>
          <a:p>
            <a:r>
              <a:rPr lang="fr-FR" dirty="0" smtClean="0"/>
              <a:t>qu'il faut systématiquement rechercher.</a:t>
            </a:r>
          </a:p>
          <a:p>
            <a:r>
              <a:rPr lang="fr-FR" dirty="0" smtClean="0"/>
              <a:t>La plupart des tumeurs malignes de la jonction œsogastrique sont représentées par les adénocarcinomes. Le type</a:t>
            </a:r>
          </a:p>
          <a:p>
            <a:r>
              <a:rPr lang="fr-FR" dirty="0" smtClean="0"/>
              <a:t>histologique est déterminé selon l'architecture (tubuleux, à </a:t>
            </a:r>
            <a:r>
              <a:rPr lang="fr-FR" dirty="0" err="1" smtClean="0"/>
              <a:t>prédominence</a:t>
            </a:r>
            <a:r>
              <a:rPr lang="fr-FR" dirty="0" smtClean="0"/>
              <a:t> papillaire, </a:t>
            </a:r>
            <a:r>
              <a:rPr lang="fr-FR" dirty="0" err="1" smtClean="0"/>
              <a:t>mucineux</a:t>
            </a:r>
            <a:r>
              <a:rPr lang="fr-FR" dirty="0" smtClean="0"/>
              <a:t> ou à cellules dissociées). Ils</a:t>
            </a:r>
          </a:p>
          <a:p>
            <a:r>
              <a:rPr lang="fr-FR" dirty="0" smtClean="0"/>
              <a:t>sont gradés selon leur degré de différenciation : bien, moyennement ou peu différencié. Les carcinomes </a:t>
            </a:r>
            <a:r>
              <a:rPr lang="fr-FR" dirty="0" err="1" smtClean="0"/>
              <a:t>adénosquameux</a:t>
            </a:r>
            <a:endParaRPr lang="fr-FR" dirty="0" smtClean="0"/>
          </a:p>
          <a:p>
            <a:r>
              <a:rPr lang="fr-FR" dirty="0" smtClean="0"/>
              <a:t>et les carcinomes endocrines à petites cellules existent mais sont exceptionnels.</a:t>
            </a:r>
          </a:p>
          <a:p>
            <a:r>
              <a:rPr lang="fr-FR" dirty="0" smtClean="0"/>
              <a:t>Plus de 95 % des adénocarcinomes du bas œsophage sont associés à un endobrachyœsophage. Les adénocarcinomes non</a:t>
            </a:r>
          </a:p>
          <a:p>
            <a:r>
              <a:rPr lang="fr-FR" dirty="0" smtClean="0"/>
              <a:t>liés au Barrett sont très rares, survenant sur hétérotopie gastrique ou sur les glandes muqueuses œsophagiennes.</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785" y="1500178"/>
            <a:ext cx="7929619" cy="4739759"/>
          </a:xfrm>
          <a:prstGeom prst="rect">
            <a:avLst/>
          </a:prstGeom>
        </p:spPr>
        <p:txBody>
          <a:bodyPr wrap="square">
            <a:spAutoFit/>
          </a:bodyPr>
          <a:lstStyle/>
          <a:p>
            <a:r>
              <a:rPr lang="fr-FR" dirty="0" smtClean="0"/>
              <a:t>La définition histologique d'un œsophage de </a:t>
            </a:r>
            <a:r>
              <a:rPr lang="fr-FR" sz="3200" b="1" dirty="0" smtClean="0">
                <a:solidFill>
                  <a:srgbClr val="FF0000"/>
                </a:solidFill>
              </a:rPr>
              <a:t>Barrett</a:t>
            </a:r>
            <a:r>
              <a:rPr lang="fr-FR" dirty="0" smtClean="0"/>
              <a:t> est la présence d'une muqueuse </a:t>
            </a:r>
            <a:r>
              <a:rPr lang="fr-FR" dirty="0" err="1" smtClean="0"/>
              <a:t>métaplasique</a:t>
            </a:r>
            <a:r>
              <a:rPr lang="fr-FR" dirty="0" smtClean="0"/>
              <a:t> au dessus de </a:t>
            </a:r>
            <a:r>
              <a:rPr lang="fr-FR" dirty="0" smtClean="0">
                <a:solidFill>
                  <a:srgbClr val="FF0000"/>
                </a:solidFill>
              </a:rPr>
              <a:t>la ligne Z</a:t>
            </a:r>
          </a:p>
          <a:p>
            <a:r>
              <a:rPr lang="fr-FR" dirty="0" smtClean="0"/>
              <a:t>Cette métaplasie peut être </a:t>
            </a:r>
            <a:r>
              <a:rPr lang="fr-FR" dirty="0" err="1" smtClean="0"/>
              <a:t>fundique</a:t>
            </a:r>
            <a:r>
              <a:rPr lang="fr-FR" dirty="0" smtClean="0"/>
              <a:t>, cardiale ou de type intestinale. La métaplasie intestinale (ou spécialisée) est la seule</a:t>
            </a:r>
          </a:p>
          <a:p>
            <a:r>
              <a:rPr lang="fr-FR" dirty="0" smtClean="0"/>
              <a:t>qui définisse la muqueuse de Barrett laquelle est le précurseur de presque tous les adénocarcinomes. Le risque absolu de</a:t>
            </a:r>
          </a:p>
          <a:p>
            <a:r>
              <a:rPr lang="fr-FR" dirty="0" smtClean="0"/>
              <a:t>dégénérescence d'une muqueuse de Barrett est évalué à 0,12 % par an selon une étude en population générale.</a:t>
            </a:r>
          </a:p>
          <a:p>
            <a:r>
              <a:rPr lang="fr-FR" dirty="0" smtClean="0"/>
              <a:t>Les biopsies étagées réalisées sur la zone de jonction doivent préciser le caractère </a:t>
            </a:r>
            <a:r>
              <a:rPr lang="fr-FR" dirty="0" err="1" smtClean="0"/>
              <a:t>métaplasique</a:t>
            </a:r>
            <a:r>
              <a:rPr lang="fr-FR" dirty="0" smtClean="0"/>
              <a:t>, la présence ou non de</a:t>
            </a:r>
          </a:p>
          <a:p>
            <a:r>
              <a:rPr lang="fr-FR" dirty="0" smtClean="0"/>
              <a:t>dysplasie ou néoplasie intra-épithéliale (</a:t>
            </a:r>
            <a:r>
              <a:rPr lang="fr-FR" dirty="0" smtClean="0">
                <a:solidFill>
                  <a:srgbClr val="FF0000"/>
                </a:solidFill>
              </a:rPr>
              <a:t>à classer selon la classification de Vienne) </a:t>
            </a:r>
            <a:r>
              <a:rPr lang="fr-FR" dirty="0" smtClean="0"/>
              <a:t>ou la présence de lésions </a:t>
            </a:r>
            <a:r>
              <a:rPr lang="fr-FR" dirty="0" err="1" smtClean="0"/>
              <a:t>infiltrantes</a:t>
            </a:r>
            <a:r>
              <a:rPr lang="fr-FR" dirty="0" smtClean="0"/>
              <a:t>.</a:t>
            </a:r>
          </a:p>
          <a:p>
            <a:r>
              <a:rPr lang="fr-FR" dirty="0" smtClean="0"/>
              <a:t>En cas de récidive locale ou de métastase à distance (adénopathie exclue), il faut rechercher une surexpression ou une</a:t>
            </a:r>
          </a:p>
          <a:p>
            <a:r>
              <a:rPr lang="fr-FR" dirty="0" smtClean="0"/>
              <a:t>amplification d'HER2.</a:t>
            </a:r>
          </a:p>
          <a:p>
            <a:r>
              <a:rPr lang="fr-FR" dirty="0" smtClean="0"/>
              <a:t> </a:t>
            </a:r>
            <a:endParaRPr lang="en-US" dirty="0"/>
          </a:p>
        </p:txBody>
      </p:sp>
      <p:sp>
        <p:nvSpPr>
          <p:cNvPr id="3" name="Rectangle 2"/>
          <p:cNvSpPr/>
          <p:nvPr/>
        </p:nvSpPr>
        <p:spPr>
          <a:xfrm>
            <a:off x="928668" y="928674"/>
            <a:ext cx="6527749" cy="646331"/>
          </a:xfrm>
          <a:prstGeom prst="rect">
            <a:avLst/>
          </a:prstGeom>
        </p:spPr>
        <p:txBody>
          <a:bodyPr wrap="none">
            <a:spAutoFit/>
          </a:bodyPr>
          <a:lstStyle/>
          <a:p>
            <a:r>
              <a:rPr lang="fr-FR" sz="3600" dirty="0" smtClean="0">
                <a:solidFill>
                  <a:srgbClr val="00B050"/>
                </a:solidFill>
              </a:rPr>
              <a:t>Etude anatomopathologique[</a:t>
            </a:r>
            <a:r>
              <a:rPr lang="fr-FR" dirty="0" smtClean="0">
                <a:solidFill>
                  <a:srgbClr val="FF0000"/>
                </a:solidFill>
              </a:rPr>
              <a:t>suite</a:t>
            </a:r>
            <a:r>
              <a:rPr lang="fr-FR" sz="3600" dirty="0" smtClean="0">
                <a:solidFill>
                  <a:srgbClr val="00B050"/>
                </a:solidFill>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889844"/>
            <a:ext cx="8286808" cy="2862322"/>
          </a:xfrm>
          <a:prstGeom prst="rect">
            <a:avLst/>
          </a:prstGeom>
        </p:spPr>
        <p:txBody>
          <a:bodyPr wrap="square">
            <a:spAutoFit/>
          </a:bodyPr>
          <a:lstStyle/>
          <a:p>
            <a:r>
              <a:rPr lang="pt-BR" sz="6000" dirty="0" smtClean="0">
                <a:solidFill>
                  <a:srgbClr val="CC6600"/>
                </a:solidFill>
              </a:rPr>
              <a:t>Qui sont ils ces adenocarcinomes oesophagiens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62" y="889844"/>
            <a:ext cx="8072495" cy="4131900"/>
          </a:xfrm>
          <a:prstGeom prst="rect">
            <a:avLst/>
          </a:prstGeom>
        </p:spPr>
        <p:txBody>
          <a:bodyPr wrap="square">
            <a:spAutoFit/>
          </a:bodyPr>
          <a:lstStyle/>
          <a:p>
            <a:r>
              <a:rPr lang="pt-BR" sz="3200" dirty="0" smtClean="0">
                <a:solidFill>
                  <a:srgbClr val="CC6600"/>
                </a:solidFill>
              </a:rPr>
              <a:t>Ils ressemblent fortement ala variante chromososiquement instable de l`adecarcinome gastrique ceci suggere que ces kc  devraient etre consideres comme une seule entite anatomique sauf que dans les kc oesophagiens  il ya plusieurs caracterestiques presentes d une faccon disproportionnee dont l </a:t>
            </a:r>
            <a:r>
              <a:rPr lang="pt-BR" sz="3200" dirty="0" smtClean="0">
                <a:solidFill>
                  <a:srgbClr val="FF0000"/>
                </a:solidFill>
              </a:rPr>
              <a:t>hypermethylation de L ADN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5" y="214292"/>
            <a:ext cx="8001056" cy="5324535"/>
          </a:xfrm>
          <a:prstGeom prst="rect">
            <a:avLst/>
          </a:prstGeom>
        </p:spPr>
        <p:txBody>
          <a:bodyPr wrap="square">
            <a:spAutoFit/>
          </a:bodyPr>
          <a:lstStyle/>
          <a:p>
            <a:r>
              <a:rPr lang="fr-FR" dirty="0" smtClean="0"/>
              <a:t> </a:t>
            </a:r>
            <a:r>
              <a:rPr lang="fr-FR" sz="2400" dirty="0" smtClean="0">
                <a:solidFill>
                  <a:srgbClr val="FF0000"/>
                </a:solidFill>
              </a:rPr>
              <a:t>I- </a:t>
            </a:r>
            <a:r>
              <a:rPr lang="fr-FR" sz="4000" dirty="0" smtClean="0">
                <a:solidFill>
                  <a:schemeClr val="accent1">
                    <a:lumMod val="50000"/>
                  </a:schemeClr>
                </a:solidFill>
              </a:rPr>
              <a:t>étude anatomopathologique</a:t>
            </a:r>
            <a:r>
              <a:rPr lang="fr-FR" sz="2400" dirty="0" smtClean="0">
                <a:solidFill>
                  <a:srgbClr val="FF0000"/>
                </a:solidFill>
              </a:rPr>
              <a:t>. [Suite]</a:t>
            </a:r>
          </a:p>
          <a:p>
            <a:r>
              <a:rPr lang="fr-FR" sz="3600" dirty="0" smtClean="0">
                <a:solidFill>
                  <a:srgbClr val="FFC000"/>
                </a:solidFill>
              </a:rPr>
              <a:t>1- le carcinome epidermoide</a:t>
            </a:r>
          </a:p>
          <a:p>
            <a:r>
              <a:rPr lang="fr-FR" sz="2400" dirty="0" smtClean="0"/>
              <a:t>  Il représente  95 % des cas. </a:t>
            </a:r>
          </a:p>
          <a:p>
            <a:r>
              <a:rPr lang="fr-FR" sz="2400" dirty="0" smtClean="0"/>
              <a:t>  Macroscopiquement, la tumeur peut revêtir trois aspects : bourgeon (26%), ulcération </a:t>
            </a:r>
          </a:p>
          <a:p>
            <a:r>
              <a:rPr lang="fr-FR" sz="2400" dirty="0" smtClean="0"/>
              <a:t>(22%) ou infiltration (31%). </a:t>
            </a:r>
          </a:p>
          <a:p>
            <a:r>
              <a:rPr lang="fr-FR" sz="2400" dirty="0" smtClean="0"/>
              <a:t>  Histologiquement </a:t>
            </a:r>
          </a:p>
          <a:p>
            <a:r>
              <a:rPr lang="fr-FR" sz="2400" dirty="0" smtClean="0"/>
              <a:t>  L’extension intra œsophagienne de la tumeur est essentiellement sous-muqueuse, </a:t>
            </a:r>
          </a:p>
          <a:p>
            <a:r>
              <a:rPr lang="fr-FR" sz="2400" dirty="0" smtClean="0"/>
              <a:t>circulaire et longitudinale entraînant une  sténose végétante. La fréquence des formes </a:t>
            </a:r>
          </a:p>
          <a:p>
            <a:r>
              <a:rPr lang="fr-FR" sz="2400" dirty="0" smtClean="0"/>
              <a:t>multicentriques (foyers séparés de plus de 5 cm) a été évaluée à 16%. </a:t>
            </a:r>
            <a:endParaRPr lang="fr-FR"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0168" y="3244336"/>
            <a:ext cx="5572165" cy="769441"/>
          </a:xfrm>
          <a:prstGeom prst="rect">
            <a:avLst/>
          </a:prstGeom>
        </p:spPr>
        <p:txBody>
          <a:bodyPr wrap="square">
            <a:spAutoFit/>
          </a:bodyPr>
          <a:lstStyle/>
          <a:p>
            <a:r>
              <a:rPr lang="fr-FR" sz="4400" dirty="0" smtClean="0">
                <a:solidFill>
                  <a:srgbClr val="00B050"/>
                </a:solidFill>
              </a:rPr>
              <a:t>Facteurs </a:t>
            </a:r>
            <a:r>
              <a:rPr lang="fr-FR" sz="4400" dirty="0" err="1" smtClean="0">
                <a:solidFill>
                  <a:srgbClr val="00B050"/>
                </a:solidFill>
              </a:rPr>
              <a:t>predisposants</a:t>
            </a:r>
            <a:endParaRPr lang="fr-FR" sz="4400" dirty="0" smtClean="0">
              <a:solidFill>
                <a:srgbClr val="00B05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8" y="889844"/>
            <a:ext cx="8643967" cy="4031873"/>
          </a:xfrm>
          <a:prstGeom prst="rect">
            <a:avLst/>
          </a:prstGeom>
        </p:spPr>
        <p:txBody>
          <a:bodyPr wrap="square">
            <a:spAutoFit/>
          </a:bodyPr>
          <a:lstStyle/>
          <a:p>
            <a:r>
              <a:rPr lang="pt-BR" sz="3200" dirty="0" smtClean="0">
                <a:solidFill>
                  <a:schemeClr val="accent3">
                    <a:lumMod val="50000"/>
                  </a:schemeClr>
                </a:solidFill>
              </a:rPr>
              <a:t>Les facteurs dee risque en general  sont lies a la nature de la lesion</a:t>
            </a:r>
          </a:p>
          <a:p>
            <a:r>
              <a:rPr lang="pt-BR" sz="3200" dirty="0" smtClean="0">
                <a:solidFill>
                  <a:srgbClr val="C00000"/>
                </a:solidFill>
              </a:rPr>
              <a:t>Les carcinomes epidermoides </a:t>
            </a:r>
            <a:r>
              <a:rPr lang="pt-BR" sz="3200" dirty="0" smtClean="0">
                <a:solidFill>
                  <a:schemeClr val="accent3">
                    <a:lumMod val="50000"/>
                  </a:schemeClr>
                </a:solidFill>
              </a:rPr>
              <a:t>sont lies le plus souvent a la consommation de l alcool et du tabac du moins dans les pays industrialises  mais les </a:t>
            </a:r>
            <a:r>
              <a:rPr lang="pt-BR" sz="3200" dirty="0" smtClean="0">
                <a:solidFill>
                  <a:srgbClr val="C00000"/>
                </a:solidFill>
              </a:rPr>
              <a:t>adenocarcinomes </a:t>
            </a:r>
            <a:r>
              <a:rPr lang="pt-BR" sz="3200" dirty="0" smtClean="0">
                <a:solidFill>
                  <a:schemeClr val="accent3">
                    <a:lumMod val="50000"/>
                  </a:schemeClr>
                </a:solidFill>
              </a:rPr>
              <a:t>sont beacoup plus lies a l endo brachy oesophage /a l obesite / et le reflus gastro noesophagien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71807" y="142856"/>
            <a:ext cx="4087979" cy="584775"/>
          </a:xfrm>
          <a:prstGeom prst="rect">
            <a:avLst/>
          </a:prstGeom>
        </p:spPr>
        <p:txBody>
          <a:bodyPr wrap="none">
            <a:spAutoFit/>
          </a:bodyPr>
          <a:lstStyle/>
          <a:p>
            <a:r>
              <a:rPr lang="fr-FR" sz="3200" dirty="0" smtClean="0">
                <a:solidFill>
                  <a:srgbClr val="00B050"/>
                </a:solidFill>
              </a:rPr>
              <a:t>Facteurs </a:t>
            </a:r>
            <a:r>
              <a:rPr lang="fr-FR" sz="3200" dirty="0" err="1" smtClean="0">
                <a:solidFill>
                  <a:srgbClr val="00B050"/>
                </a:solidFill>
              </a:rPr>
              <a:t>prédisposants</a:t>
            </a:r>
            <a:endParaRPr lang="fr-FR" sz="3200" dirty="0" smtClean="0">
              <a:solidFill>
                <a:srgbClr val="00B050"/>
              </a:solidFill>
            </a:endParaRPr>
          </a:p>
        </p:txBody>
      </p:sp>
      <p:sp>
        <p:nvSpPr>
          <p:cNvPr id="3" name="Rectangle 2"/>
          <p:cNvSpPr/>
          <p:nvPr/>
        </p:nvSpPr>
        <p:spPr>
          <a:xfrm>
            <a:off x="571480" y="1500178"/>
            <a:ext cx="6183103" cy="4524315"/>
          </a:xfrm>
          <a:prstGeom prst="rect">
            <a:avLst/>
          </a:prstGeom>
        </p:spPr>
        <p:txBody>
          <a:bodyPr wrap="none">
            <a:spAutoFit/>
          </a:bodyPr>
          <a:lstStyle/>
          <a:p>
            <a:r>
              <a:rPr lang="fr-FR" sz="2400" dirty="0" smtClean="0">
                <a:solidFill>
                  <a:srgbClr val="FFC000"/>
                </a:solidFill>
              </a:rPr>
              <a:t>Mais il existe des facteurs de risque communs</a:t>
            </a:r>
          </a:p>
          <a:p>
            <a:r>
              <a:rPr lang="fr-FR" sz="2400" dirty="0" smtClean="0">
                <a:solidFill>
                  <a:srgbClr val="FFC000"/>
                </a:solidFill>
              </a:rPr>
              <a:t>Le sexe</a:t>
            </a:r>
          </a:p>
          <a:p>
            <a:r>
              <a:rPr lang="fr-FR" sz="2400" dirty="0" smtClean="0">
                <a:solidFill>
                  <a:srgbClr val="FFC000"/>
                </a:solidFill>
              </a:rPr>
              <a:t>Hommes plus vulnérables</a:t>
            </a:r>
          </a:p>
          <a:p>
            <a:r>
              <a:rPr lang="fr-FR" sz="2400" dirty="0" smtClean="0">
                <a:solidFill>
                  <a:srgbClr val="FFC000"/>
                </a:solidFill>
              </a:rPr>
              <a:t>L,age</a:t>
            </a:r>
          </a:p>
          <a:p>
            <a:r>
              <a:rPr lang="fr-FR" sz="2400" dirty="0" smtClean="0">
                <a:solidFill>
                  <a:srgbClr val="FFC000"/>
                </a:solidFill>
              </a:rPr>
              <a:t>Plus de 50 ans</a:t>
            </a:r>
          </a:p>
          <a:p>
            <a:r>
              <a:rPr lang="fr-FR" sz="2400" dirty="0" smtClean="0">
                <a:solidFill>
                  <a:srgbClr val="FFC000"/>
                </a:solidFill>
              </a:rPr>
              <a:t>Carences en vitamines A et B</a:t>
            </a:r>
          </a:p>
          <a:p>
            <a:r>
              <a:rPr lang="fr-FR" sz="2400" dirty="0" smtClean="0">
                <a:solidFill>
                  <a:srgbClr val="FFC000"/>
                </a:solidFill>
              </a:rPr>
              <a:t>Brulures caustiques</a:t>
            </a:r>
          </a:p>
          <a:p>
            <a:endParaRPr lang="fr-FR" sz="2400" dirty="0" smtClean="0">
              <a:solidFill>
                <a:srgbClr val="FFC000"/>
              </a:solidFill>
            </a:endParaRPr>
          </a:p>
          <a:p>
            <a:r>
              <a:rPr lang="fr-FR" sz="2400" dirty="0" smtClean="0">
                <a:solidFill>
                  <a:srgbClr val="FFC000"/>
                </a:solidFill>
              </a:rPr>
              <a:t>Tabac - alcool -plus obésité</a:t>
            </a:r>
          </a:p>
          <a:p>
            <a:r>
              <a:rPr lang="fr-FR" sz="2400" dirty="0" smtClean="0">
                <a:solidFill>
                  <a:srgbClr val="FFC000"/>
                </a:solidFill>
              </a:rPr>
              <a:t>Irradiation mediastinale</a:t>
            </a:r>
          </a:p>
          <a:p>
            <a:r>
              <a:rPr lang="fr-FR" sz="2400" dirty="0" smtClean="0">
                <a:solidFill>
                  <a:srgbClr val="FFC000"/>
                </a:solidFill>
              </a:rPr>
              <a:t>Taux bas de sélénium</a:t>
            </a:r>
          </a:p>
          <a:p>
            <a:r>
              <a:rPr lang="fr-FR" sz="2400" dirty="0" smtClean="0">
                <a:solidFill>
                  <a:srgbClr val="FFC000"/>
                </a:solidFill>
              </a:rPr>
              <a:t>Papilloma virus et alimentation riche en toxines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3" y="335846"/>
            <a:ext cx="8429684" cy="4801314"/>
          </a:xfrm>
          <a:prstGeom prst="rect">
            <a:avLst/>
          </a:prstGeom>
        </p:spPr>
        <p:txBody>
          <a:bodyPr wrap="square">
            <a:spAutoFit/>
          </a:bodyPr>
          <a:lstStyle/>
          <a:p>
            <a:r>
              <a:rPr lang="fr-FR" dirty="0" smtClean="0"/>
              <a:t> </a:t>
            </a:r>
          </a:p>
          <a:p>
            <a:r>
              <a:rPr lang="fr-FR" sz="2400" dirty="0" smtClean="0">
                <a:solidFill>
                  <a:srgbClr val="FFC000"/>
                </a:solidFill>
              </a:rPr>
              <a:t>  </a:t>
            </a:r>
          </a:p>
          <a:p>
            <a:r>
              <a:rPr lang="fr-FR" sz="2400" dirty="0" smtClean="0">
                <a:solidFill>
                  <a:srgbClr val="FFC000"/>
                </a:solidFill>
              </a:rPr>
              <a:t> - Certaines lésions sont considérées comme pré disposantes. </a:t>
            </a:r>
          </a:p>
          <a:p>
            <a:r>
              <a:rPr lang="fr-FR" sz="2400" dirty="0" smtClean="0">
                <a:solidFill>
                  <a:srgbClr val="FFC000"/>
                </a:solidFill>
              </a:rPr>
              <a:t>    - les diverticules de Zenker  se cancérisent dans 2 à 3 % des cas </a:t>
            </a:r>
          </a:p>
          <a:p>
            <a:r>
              <a:rPr lang="fr-FR" sz="2400" dirty="0" smtClean="0">
                <a:solidFill>
                  <a:srgbClr val="FFC000"/>
                </a:solidFill>
              </a:rPr>
              <a:t>    - le mégaoesophage : le risque de dégénérescence est évalué entre 2 et 8%, </a:t>
            </a:r>
          </a:p>
          <a:p>
            <a:r>
              <a:rPr lang="fr-FR" sz="2400" dirty="0" smtClean="0">
                <a:solidFill>
                  <a:srgbClr val="FFC000"/>
                </a:solidFill>
              </a:rPr>
              <a:t>    - l’œsophagite peptique avec sténose et dysplasie    </a:t>
            </a:r>
          </a:p>
          <a:p>
            <a:r>
              <a:rPr lang="fr-FR" sz="2400" dirty="0" smtClean="0">
                <a:solidFill>
                  <a:srgbClr val="FFC000"/>
                </a:solidFill>
              </a:rPr>
              <a:t>    - les cancers  de la sphère ORL.  Ils sont synchrones dans  22 % des cas. </a:t>
            </a:r>
          </a:p>
          <a:p>
            <a:r>
              <a:rPr lang="fr-FR" sz="2400" dirty="0" smtClean="0">
                <a:solidFill>
                  <a:srgbClr val="FFC000"/>
                </a:solidFill>
              </a:rPr>
              <a:t>Devant tout  cancer ORL, il faut  rechercher de principe un cancer œsophagien et vice -versa. </a:t>
            </a:r>
          </a:p>
          <a:p>
            <a:r>
              <a:rPr lang="fr-FR" sz="2400" dirty="0" smtClean="0">
                <a:solidFill>
                  <a:srgbClr val="FFC000"/>
                </a:solidFill>
              </a:rPr>
              <a:t>   -  (l’œsophagite sidéropénique . C’est  le syndrome de Kelly-Paterson ou Plummer-Vinson, </a:t>
            </a:r>
            <a:endParaRPr lang="en-US" sz="2400" dirty="0">
              <a:solidFill>
                <a:srgbClr val="FFC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9" y="612845"/>
            <a:ext cx="8143932" cy="5324535"/>
          </a:xfrm>
          <a:prstGeom prst="rect">
            <a:avLst/>
          </a:prstGeom>
        </p:spPr>
        <p:txBody>
          <a:bodyPr wrap="square">
            <a:spAutoFit/>
          </a:bodyPr>
          <a:lstStyle/>
          <a:p>
            <a:r>
              <a:rPr lang="fr-FR" sz="2000" dirty="0" smtClean="0"/>
              <a:t>2. CIRCONSTANCES DE DECOUVERTE : </a:t>
            </a:r>
          </a:p>
          <a:p>
            <a:r>
              <a:rPr lang="fr-FR" sz="2000" dirty="0" smtClean="0"/>
              <a:t>2.1.  La dysphagie est le maître symptôme </a:t>
            </a:r>
          </a:p>
          <a:p>
            <a:r>
              <a:rPr lang="fr-FR" sz="2000" dirty="0" smtClean="0"/>
              <a:t> </a:t>
            </a:r>
          </a:p>
          <a:p>
            <a:r>
              <a:rPr lang="fr-FR" sz="2000" dirty="0" smtClean="0"/>
              <a:t>•  Dysphagie d’abord aux solides puis plus tardivement aux liquides. </a:t>
            </a:r>
          </a:p>
          <a:p>
            <a:r>
              <a:rPr lang="fr-FR" sz="2000" dirty="0" smtClean="0"/>
              <a:t>•  Dysphagies d’apparition récente (1 à 2 mois au moment de la consultation). Ce </a:t>
            </a:r>
          </a:p>
          <a:p>
            <a:r>
              <a:rPr lang="fr-FR" sz="2000" dirty="0" smtClean="0"/>
              <a:t>symptôme clef est cependant tardif par rapport à l’évolution anatomique. </a:t>
            </a:r>
          </a:p>
          <a:p>
            <a:r>
              <a:rPr lang="fr-FR" sz="2000" dirty="0" smtClean="0"/>
              <a:t>•  L’amaigrissement est souvent rapide (restriction alimentaire) </a:t>
            </a:r>
          </a:p>
          <a:p>
            <a:r>
              <a:rPr lang="fr-FR" sz="2000" dirty="0" smtClean="0"/>
              <a:t>•  Elle survient dans ce contexte chez un homme de plus de 50 ans alcoolique et </a:t>
            </a:r>
          </a:p>
          <a:p>
            <a:r>
              <a:rPr lang="fr-FR" sz="2000" dirty="0" smtClean="0"/>
              <a:t>tabagique. </a:t>
            </a:r>
          </a:p>
          <a:p>
            <a:r>
              <a:rPr lang="fr-FR" sz="2000" dirty="0" smtClean="0"/>
              <a:t> </a:t>
            </a:r>
          </a:p>
          <a:p>
            <a:r>
              <a:rPr lang="fr-FR" sz="2000" dirty="0" smtClean="0"/>
              <a:t>•  Plus rarement découverte systématique d’un petit cancer synchrone, d’un cancer ORL </a:t>
            </a:r>
          </a:p>
          <a:p>
            <a:r>
              <a:rPr lang="fr-FR" sz="2000" dirty="0" smtClean="0"/>
              <a:t>ou par surveillance d’une lésion </a:t>
            </a:r>
            <a:r>
              <a:rPr lang="fr-FR" sz="2000" dirty="0" err="1" smtClean="0"/>
              <a:t>prédisposante</a:t>
            </a:r>
            <a:r>
              <a:rPr lang="fr-FR" sz="2000" dirty="0" smtClean="0"/>
              <a:t> (endobrachyoesophage, achalasie, </a:t>
            </a:r>
          </a:p>
          <a:p>
            <a:r>
              <a:rPr lang="fr-FR" sz="2000" dirty="0" smtClean="0"/>
              <a:t>sténose caustique). </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3" y="428606"/>
            <a:ext cx="8429684" cy="5632311"/>
          </a:xfrm>
          <a:prstGeom prst="rect">
            <a:avLst/>
          </a:prstGeom>
        </p:spPr>
        <p:txBody>
          <a:bodyPr wrap="square">
            <a:spAutoFit/>
          </a:bodyPr>
          <a:lstStyle/>
          <a:p>
            <a:r>
              <a:rPr lang="fr-FR" dirty="0" smtClean="0"/>
              <a:t>III- DIAGNOSTIC :  </a:t>
            </a:r>
          </a:p>
          <a:p>
            <a:r>
              <a:rPr lang="fr-FR" dirty="0" smtClean="0"/>
              <a:t> Signes fonctionnels </a:t>
            </a:r>
          </a:p>
          <a:p>
            <a:r>
              <a:rPr lang="fr-FR" dirty="0" smtClean="0"/>
              <a:t>  La  dysphagie constitue le signe clinique principal du cancer, mais elle est souvent </a:t>
            </a:r>
          </a:p>
          <a:p>
            <a:r>
              <a:rPr lang="fr-FR" dirty="0" smtClean="0"/>
              <a:t>tardive. C’est la sensation d’arrêt brusque d’une bouchée alimentaire, ou parfois une simple </a:t>
            </a:r>
          </a:p>
          <a:p>
            <a:r>
              <a:rPr lang="fr-FR" dirty="0" smtClean="0"/>
              <a:t>sensation d’accrochage </a:t>
            </a:r>
            <a:r>
              <a:rPr lang="fr-FR" dirty="0" err="1" smtClean="0"/>
              <a:t>rétrosternal</a:t>
            </a:r>
            <a:r>
              <a:rPr lang="fr-FR" dirty="0" smtClean="0"/>
              <a:t> lors  de la déglutition. La dysphagie par cancer </a:t>
            </a:r>
          </a:p>
          <a:p>
            <a:r>
              <a:rPr lang="fr-FR" dirty="0" err="1" smtClean="0"/>
              <a:t>oesophagien</a:t>
            </a:r>
            <a:r>
              <a:rPr lang="fr-FR" dirty="0" smtClean="0"/>
              <a:t> évolue classiquement de manière inexorable, apparaissant d’abord pour les </a:t>
            </a:r>
          </a:p>
          <a:p>
            <a:r>
              <a:rPr lang="fr-FR" dirty="0" smtClean="0"/>
              <a:t>solides, puis pour les liquides, et aboutissant à  l’</a:t>
            </a:r>
            <a:r>
              <a:rPr lang="fr-FR" dirty="0" err="1" smtClean="0"/>
              <a:t>aphagie</a:t>
            </a:r>
            <a:r>
              <a:rPr lang="fr-FR" dirty="0" smtClean="0"/>
              <a:t>. Mais à un stade évolutif précoce, </a:t>
            </a:r>
          </a:p>
          <a:p>
            <a:r>
              <a:rPr lang="fr-FR" dirty="0" smtClean="0"/>
              <a:t>elle est parfois peu évocatrice en raison de sa  discrétion, de son évolution capricieuse, de sa </a:t>
            </a:r>
          </a:p>
          <a:p>
            <a:r>
              <a:rPr lang="fr-FR" dirty="0" smtClean="0"/>
              <a:t>sensibilité aux antispasmodiques banals qui agissent sur l’élément spasmodique ou </a:t>
            </a:r>
          </a:p>
          <a:p>
            <a:r>
              <a:rPr lang="fr-FR" dirty="0" smtClean="0"/>
              <a:t>inflammatoire surajouté à la gêne occasionnée par le volume tumoral.  </a:t>
            </a:r>
          </a:p>
          <a:p>
            <a:r>
              <a:rPr lang="fr-FR" dirty="0" smtClean="0"/>
              <a:t> Toute dysphagie doit faire évoquer le diagnostic de cancer </a:t>
            </a:r>
            <a:r>
              <a:rPr lang="fr-FR" dirty="0" err="1" smtClean="0"/>
              <a:t>oesophagien</a:t>
            </a:r>
            <a:r>
              <a:rPr lang="fr-FR" dirty="0" smtClean="0"/>
              <a:t> et conduire à </a:t>
            </a:r>
          </a:p>
          <a:p>
            <a:r>
              <a:rPr lang="fr-FR" dirty="0" smtClean="0"/>
              <a:t>la réalisation d’une </a:t>
            </a:r>
            <a:r>
              <a:rPr lang="fr-FR" dirty="0" err="1" smtClean="0"/>
              <a:t>oesophagoscopie</a:t>
            </a:r>
            <a:r>
              <a:rPr lang="fr-FR" dirty="0" smtClean="0"/>
              <a:t> avec biopsies afin de confirmer ou d’infirmer ce </a:t>
            </a:r>
          </a:p>
          <a:p>
            <a:r>
              <a:rPr lang="fr-FR" dirty="0" smtClean="0"/>
              <a:t>diagnostic. C’est le seul moyen d’aboutir à un diagnostic précoce autorisant un traitement à </a:t>
            </a:r>
          </a:p>
          <a:p>
            <a:r>
              <a:rPr lang="fr-FR" dirty="0" smtClean="0"/>
              <a:t>espérance curative.  </a:t>
            </a:r>
          </a:p>
          <a:p>
            <a:r>
              <a:rPr lang="fr-FR" dirty="0" smtClean="0"/>
              <a:t> </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5136" y="3244334"/>
            <a:ext cx="3964547" cy="830997"/>
          </a:xfrm>
          <a:prstGeom prst="rect">
            <a:avLst/>
          </a:prstGeom>
        </p:spPr>
        <p:txBody>
          <a:bodyPr wrap="none">
            <a:spAutoFit/>
          </a:bodyPr>
          <a:lstStyle/>
          <a:p>
            <a:r>
              <a:rPr lang="fr-FR" sz="4800" b="1" dirty="0" smtClean="0">
                <a:solidFill>
                  <a:srgbClr val="00B050"/>
                </a:solidFill>
              </a:rPr>
              <a:t>Classifications</a:t>
            </a:r>
            <a:endParaRPr lang="en-US" sz="48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5" y="1166847"/>
            <a:ext cx="8429684" cy="4216539"/>
          </a:xfrm>
          <a:prstGeom prst="rect">
            <a:avLst/>
          </a:prstGeom>
        </p:spPr>
        <p:txBody>
          <a:bodyPr wrap="square">
            <a:spAutoFit/>
          </a:bodyPr>
          <a:lstStyle/>
          <a:p>
            <a:r>
              <a:rPr lang="en-US" sz="2800" b="1" dirty="0" smtClean="0">
                <a:solidFill>
                  <a:srgbClr val="FF0000"/>
                </a:solidFill>
              </a:rPr>
              <a:t>Categories diagnostiques</a:t>
            </a:r>
          </a:p>
          <a:p>
            <a:r>
              <a:rPr lang="en-US" sz="2400" dirty="0" smtClean="0"/>
              <a:t>1 Absence de </a:t>
            </a:r>
            <a:r>
              <a:rPr lang="en-US" sz="2400" dirty="0" err="1" smtClean="0"/>
              <a:t>néoplasie</a:t>
            </a:r>
            <a:r>
              <a:rPr lang="en-US" sz="2400" dirty="0" smtClean="0"/>
              <a:t>/</a:t>
            </a:r>
            <a:r>
              <a:rPr lang="en-US" sz="2400" dirty="0" err="1" smtClean="0"/>
              <a:t>dysplasie</a:t>
            </a:r>
            <a:endParaRPr lang="en-US" sz="2400" dirty="0" smtClean="0"/>
          </a:p>
          <a:p>
            <a:r>
              <a:rPr lang="en-US" sz="2400" dirty="0" smtClean="0"/>
              <a:t>2 Indéterminée pour la néoplasie/</a:t>
            </a:r>
            <a:r>
              <a:rPr lang="en-US" sz="2400" dirty="0" err="1" smtClean="0"/>
              <a:t>dysplasie</a:t>
            </a:r>
            <a:endParaRPr lang="en-US" sz="2400" dirty="0" smtClean="0"/>
          </a:p>
          <a:p>
            <a:r>
              <a:rPr lang="en-US" sz="2400" dirty="0" smtClean="0"/>
              <a:t>3Néoplasie non invasive de bas grade (</a:t>
            </a:r>
            <a:r>
              <a:rPr lang="en-US" sz="2400" dirty="0" err="1" smtClean="0"/>
              <a:t>adénome</a:t>
            </a:r>
            <a:r>
              <a:rPr lang="en-US" sz="2400" dirty="0" smtClean="0"/>
              <a:t>/</a:t>
            </a:r>
            <a:r>
              <a:rPr lang="en-US" sz="2400" dirty="0" err="1" smtClean="0"/>
              <a:t>dysplasie</a:t>
            </a:r>
            <a:r>
              <a:rPr lang="en-US" sz="2400" dirty="0" smtClean="0"/>
              <a:t> de bas</a:t>
            </a:r>
          </a:p>
          <a:p>
            <a:r>
              <a:rPr lang="en-US" sz="2400" dirty="0" smtClean="0"/>
              <a:t>grade)</a:t>
            </a:r>
          </a:p>
          <a:p>
            <a:r>
              <a:rPr lang="en-US" sz="2400" dirty="0" smtClean="0"/>
              <a:t>4-Néoplasie non invasive de haut grade</a:t>
            </a:r>
          </a:p>
          <a:p>
            <a:r>
              <a:rPr lang="en-US" sz="2400" dirty="0" smtClean="0"/>
              <a:t>4.1 </a:t>
            </a:r>
            <a:r>
              <a:rPr lang="en-US" sz="2400" dirty="0" err="1" smtClean="0"/>
              <a:t>Adénome</a:t>
            </a:r>
            <a:r>
              <a:rPr lang="en-US" sz="2400" dirty="0" smtClean="0"/>
              <a:t>/</a:t>
            </a:r>
            <a:r>
              <a:rPr lang="en-US" sz="2400" dirty="0" err="1" smtClean="0"/>
              <a:t>dysplasie</a:t>
            </a:r>
            <a:r>
              <a:rPr lang="en-US" sz="2400" dirty="0" smtClean="0"/>
              <a:t> de haut grade</a:t>
            </a:r>
          </a:p>
          <a:p>
            <a:r>
              <a:rPr lang="en-US" sz="2400" dirty="0" smtClean="0"/>
              <a:t>4.2 </a:t>
            </a:r>
            <a:r>
              <a:rPr lang="en-US" sz="2400" dirty="0" err="1" smtClean="0"/>
              <a:t>Carcinome</a:t>
            </a:r>
            <a:r>
              <a:rPr lang="en-US" sz="2400" dirty="0" smtClean="0"/>
              <a:t> in situ ou </a:t>
            </a:r>
            <a:r>
              <a:rPr lang="en-US" sz="2400" dirty="0" err="1" smtClean="0"/>
              <a:t>carcinome</a:t>
            </a:r>
            <a:r>
              <a:rPr lang="en-US" sz="2400" dirty="0" smtClean="0"/>
              <a:t> intra-</a:t>
            </a:r>
            <a:r>
              <a:rPr lang="en-US" sz="2400" dirty="0" err="1" smtClean="0"/>
              <a:t>épithélial</a:t>
            </a:r>
            <a:r>
              <a:rPr lang="en-US" sz="2400" dirty="0" smtClean="0"/>
              <a:t> (non </a:t>
            </a:r>
            <a:r>
              <a:rPr lang="en-US" sz="2400" dirty="0" err="1" smtClean="0"/>
              <a:t>invasif</a:t>
            </a:r>
            <a:r>
              <a:rPr lang="en-US" sz="2400" dirty="0" smtClean="0"/>
              <a:t>)</a:t>
            </a:r>
          </a:p>
          <a:p>
            <a:r>
              <a:rPr lang="en-US" sz="2400" dirty="0" smtClean="0"/>
              <a:t>4.3 Suspicion de </a:t>
            </a:r>
            <a:r>
              <a:rPr lang="en-US" sz="2400" dirty="0" err="1" smtClean="0"/>
              <a:t>carcinome</a:t>
            </a:r>
            <a:r>
              <a:rPr lang="en-US" sz="2400" dirty="0" smtClean="0"/>
              <a:t> </a:t>
            </a:r>
            <a:r>
              <a:rPr lang="en-US" sz="2400" dirty="0" err="1" smtClean="0"/>
              <a:t>invasif</a:t>
            </a:r>
            <a:endParaRPr lang="en-US" sz="2400" dirty="0" smtClean="0"/>
          </a:p>
          <a:p>
            <a:r>
              <a:rPr lang="en-US" sz="2400" dirty="0" smtClean="0"/>
              <a:t>4.4 </a:t>
            </a:r>
            <a:r>
              <a:rPr lang="en-US" sz="2400" dirty="0" err="1" smtClean="0"/>
              <a:t>Carcinome</a:t>
            </a:r>
            <a:r>
              <a:rPr lang="en-US" sz="2400" dirty="0" smtClean="0"/>
              <a:t> </a:t>
            </a:r>
            <a:r>
              <a:rPr lang="en-US" sz="2400" dirty="0" err="1" smtClean="0"/>
              <a:t>intramuqueux</a:t>
            </a:r>
            <a:endParaRPr lang="en-US" sz="2400" dirty="0" smtClean="0"/>
          </a:p>
          <a:p>
            <a:r>
              <a:rPr lang="en-US" sz="2400" dirty="0" smtClean="0"/>
              <a:t>5 Néoplasie invasive </a:t>
            </a:r>
            <a:r>
              <a:rPr lang="en-US" sz="2400" dirty="0" err="1" smtClean="0"/>
              <a:t>envahissant</a:t>
            </a:r>
            <a:r>
              <a:rPr lang="en-US" sz="2400" dirty="0" smtClean="0"/>
              <a:t> la </a:t>
            </a:r>
            <a:r>
              <a:rPr lang="en-US" sz="2400" dirty="0" err="1" smtClean="0"/>
              <a:t>sous</a:t>
            </a:r>
            <a:r>
              <a:rPr lang="en-US" sz="2400" dirty="0" smtClean="0"/>
              <a:t> </a:t>
            </a:r>
            <a:r>
              <a:rPr lang="en-US" sz="2400" dirty="0" err="1" smtClean="0"/>
              <a:t>muqueuse</a:t>
            </a:r>
            <a:r>
              <a:rPr lang="en-US" sz="2400" dirty="0" smtClean="0"/>
              <a:t> et au-</a:t>
            </a:r>
            <a:r>
              <a:rPr lang="en-US" sz="2400" dirty="0" err="1" smtClean="0"/>
              <a:t>delà</a:t>
            </a:r>
            <a:r>
              <a:rPr lang="en-US" sz="2400" dirty="0" smtClean="0"/>
              <a:t>.</a:t>
            </a:r>
            <a:endParaRPr lang="en-US" sz="2400" dirty="0"/>
          </a:p>
        </p:txBody>
      </p:sp>
      <p:sp>
        <p:nvSpPr>
          <p:cNvPr id="3" name="Rectangle 2"/>
          <p:cNvSpPr/>
          <p:nvPr/>
        </p:nvSpPr>
        <p:spPr>
          <a:xfrm>
            <a:off x="1000105" y="5929334"/>
            <a:ext cx="7841121" cy="646331"/>
          </a:xfrm>
          <a:prstGeom prst="rect">
            <a:avLst/>
          </a:prstGeom>
        </p:spPr>
        <p:txBody>
          <a:bodyPr wrap="none">
            <a:spAutoFit/>
          </a:bodyPr>
          <a:lstStyle/>
          <a:p>
            <a:r>
              <a:rPr lang="fr-FR" sz="3600" b="1" dirty="0" smtClean="0">
                <a:solidFill>
                  <a:srgbClr val="00B050"/>
                </a:solidFill>
              </a:rPr>
              <a:t>Classification de viennes révisée [2002]</a:t>
            </a:r>
            <a:endParaRPr lang="en-US" sz="3600"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42911" y="928670"/>
            <a:ext cx="8286776" cy="5632311"/>
          </a:xfrm>
          <a:prstGeom prst="rect">
            <a:avLst/>
          </a:prstGeom>
        </p:spPr>
        <p:txBody>
          <a:bodyPr wrap="square">
            <a:spAutoFit/>
          </a:bodyPr>
          <a:lstStyle/>
          <a:p>
            <a:endParaRPr lang="fr-FR" dirty="0" smtClean="0"/>
          </a:p>
          <a:p>
            <a:r>
              <a:rPr lang="fr-FR" dirty="0" smtClean="0"/>
              <a:t>T- Tumeur primitive</a:t>
            </a:r>
          </a:p>
          <a:p>
            <a:r>
              <a:rPr lang="fr-FR" dirty="0" smtClean="0"/>
              <a:t>Elle est classée à l'aide d'un examen clinique, de l'imagerie, de l'endoscopie (incluant une bronchoscopie) et/ou d</a:t>
            </a:r>
          </a:p>
          <a:p>
            <a:r>
              <a:rPr lang="fr-FR" dirty="0" smtClean="0"/>
              <a:t>l'exploration chirurgicale.</a:t>
            </a:r>
          </a:p>
          <a:p>
            <a:r>
              <a:rPr lang="fr-FR" dirty="0" smtClean="0"/>
              <a:t> </a:t>
            </a:r>
          </a:p>
          <a:p>
            <a:r>
              <a:rPr lang="fr-FR" dirty="0" smtClean="0"/>
              <a:t>T0 Pas de signe de tumeur primitive</a:t>
            </a:r>
          </a:p>
          <a:p>
            <a:r>
              <a:rPr lang="fr-FR" dirty="0" err="1" smtClean="0"/>
              <a:t>Tis</a:t>
            </a:r>
            <a:r>
              <a:rPr lang="fr-FR" dirty="0" smtClean="0"/>
              <a:t> Carcinome in situ ou dysplasie de haut grade</a:t>
            </a:r>
          </a:p>
          <a:p>
            <a:r>
              <a:rPr lang="fr-FR" dirty="0" smtClean="0"/>
              <a:t>T1 Tumeur envahissant la lamina </a:t>
            </a:r>
            <a:r>
              <a:rPr lang="fr-FR" dirty="0" err="1" smtClean="0"/>
              <a:t>propria</a:t>
            </a:r>
            <a:r>
              <a:rPr lang="fr-FR" dirty="0" smtClean="0"/>
              <a:t>, la </a:t>
            </a:r>
            <a:r>
              <a:rPr lang="fr-FR" dirty="0" err="1" smtClean="0"/>
              <a:t>muscularis</a:t>
            </a:r>
            <a:r>
              <a:rPr lang="fr-FR" dirty="0" smtClean="0"/>
              <a:t> </a:t>
            </a:r>
            <a:r>
              <a:rPr lang="fr-FR" dirty="0" err="1" smtClean="0"/>
              <a:t>mucosae</a:t>
            </a:r>
            <a:r>
              <a:rPr lang="fr-FR" dirty="0" smtClean="0"/>
              <a:t> ou la sous-muqueuse</a:t>
            </a:r>
          </a:p>
          <a:p>
            <a:r>
              <a:rPr lang="fr-FR" dirty="0" smtClean="0"/>
              <a:t>T1a La tumeur envahit la lamina </a:t>
            </a:r>
            <a:r>
              <a:rPr lang="fr-FR" dirty="0" err="1" smtClean="0"/>
              <a:t>propria</a:t>
            </a:r>
            <a:r>
              <a:rPr lang="fr-FR" dirty="0" smtClean="0"/>
              <a:t> ou la </a:t>
            </a:r>
            <a:r>
              <a:rPr lang="fr-FR" dirty="0" err="1" smtClean="0"/>
              <a:t>muscularis</a:t>
            </a:r>
            <a:r>
              <a:rPr lang="fr-FR" dirty="0" smtClean="0"/>
              <a:t> </a:t>
            </a:r>
            <a:r>
              <a:rPr lang="fr-FR" dirty="0" err="1" smtClean="0"/>
              <a:t>mucosae</a:t>
            </a:r>
            <a:endParaRPr lang="fr-FR" dirty="0" smtClean="0"/>
          </a:p>
          <a:p>
            <a:r>
              <a:rPr lang="fr-FR" dirty="0" smtClean="0"/>
              <a:t>T1b La tumeur envahit la sous-muqueuse</a:t>
            </a:r>
          </a:p>
          <a:p>
            <a:r>
              <a:rPr lang="fr-FR" dirty="0" smtClean="0"/>
              <a:t>T2 Tumeur envahissant la musculeuse</a:t>
            </a:r>
          </a:p>
          <a:p>
            <a:r>
              <a:rPr lang="fr-FR" dirty="0" smtClean="0"/>
              <a:t>T3 Tumeur envahissant l'adventice</a:t>
            </a:r>
          </a:p>
          <a:p>
            <a:r>
              <a:rPr lang="fr-FR" dirty="0" smtClean="0"/>
              <a:t>T4 Tumeur envahissant les structures adjacentes</a:t>
            </a:r>
          </a:p>
          <a:p>
            <a:r>
              <a:rPr lang="fr-FR" dirty="0" smtClean="0"/>
              <a:t>T4a</a:t>
            </a:r>
          </a:p>
          <a:p>
            <a:r>
              <a:rPr lang="fr-FR" dirty="0" smtClean="0"/>
              <a:t>La tumeur envahit la plèvre, le péricarde, la veine azygos, le diaphragme ou le</a:t>
            </a:r>
          </a:p>
          <a:p>
            <a:r>
              <a:rPr lang="fr-FR" dirty="0" smtClean="0"/>
              <a:t>péritoine</a:t>
            </a:r>
          </a:p>
          <a:p>
            <a:r>
              <a:rPr lang="fr-FR" dirty="0" smtClean="0"/>
              <a:t>T4b La tumeur envahit d'autres structures adjacentes comme</a:t>
            </a:r>
          </a:p>
          <a:p>
            <a:r>
              <a:rPr lang="fr-FR" dirty="0" smtClean="0"/>
              <a:t>l'aorte, un corps vertébral ou la trachée.</a:t>
            </a:r>
          </a:p>
          <a:p>
            <a:r>
              <a:rPr lang="fr-FR" dirty="0" smtClean="0"/>
              <a:t>N- Adénopathies régionales</a:t>
            </a:r>
            <a:endParaRPr lang="en-US" dirty="0"/>
          </a:p>
        </p:txBody>
      </p:sp>
      <p:sp>
        <p:nvSpPr>
          <p:cNvPr id="6" name="Rectangle 5"/>
          <p:cNvSpPr/>
          <p:nvPr/>
        </p:nvSpPr>
        <p:spPr>
          <a:xfrm>
            <a:off x="428596" y="142856"/>
            <a:ext cx="7302064" cy="646331"/>
          </a:xfrm>
          <a:prstGeom prst="rect">
            <a:avLst/>
          </a:prstGeom>
        </p:spPr>
        <p:txBody>
          <a:bodyPr wrap="none">
            <a:spAutoFit/>
          </a:bodyPr>
          <a:lstStyle/>
          <a:p>
            <a:r>
              <a:rPr lang="fr-FR" sz="3600" b="1" dirty="0" smtClean="0">
                <a:solidFill>
                  <a:srgbClr val="00B050"/>
                </a:solidFill>
              </a:rPr>
              <a:t>Classification TNM 8</a:t>
            </a:r>
            <a:r>
              <a:rPr lang="fr-FR" sz="3600" b="1" baseline="30000" dirty="0" smtClean="0">
                <a:solidFill>
                  <a:srgbClr val="00B050"/>
                </a:solidFill>
              </a:rPr>
              <a:t>eme</a:t>
            </a:r>
            <a:r>
              <a:rPr lang="fr-FR" sz="3600" b="1" dirty="0" smtClean="0">
                <a:solidFill>
                  <a:srgbClr val="00B050"/>
                </a:solidFill>
              </a:rPr>
              <a:t> édition 2017</a:t>
            </a:r>
            <a:endParaRPr lang="en-US" sz="3600"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666" y="889850"/>
            <a:ext cx="6072231" cy="4708981"/>
          </a:xfrm>
          <a:prstGeom prst="rect">
            <a:avLst/>
          </a:prstGeom>
        </p:spPr>
        <p:txBody>
          <a:bodyPr wrap="square">
            <a:spAutoFit/>
          </a:bodyPr>
          <a:lstStyle/>
          <a:p>
            <a:r>
              <a:rPr lang="fr-FR" sz="2000" dirty="0" smtClean="0"/>
              <a:t>NX Le statut des ganglions régionaux ne peut être évalué</a:t>
            </a:r>
          </a:p>
          <a:p>
            <a:r>
              <a:rPr lang="fr-FR" sz="2000" dirty="0" smtClean="0"/>
              <a:t>N0 Pas de signe d'atteinte des ganglions lymphatiques régionaux</a:t>
            </a:r>
          </a:p>
          <a:p>
            <a:r>
              <a:rPr lang="fr-FR" sz="2000" dirty="0" smtClean="0"/>
              <a:t>N1 Métastases dans 1 à 2 ganglions lymphatiques régionaux</a:t>
            </a:r>
          </a:p>
          <a:p>
            <a:r>
              <a:rPr lang="fr-FR" sz="2000" dirty="0" smtClean="0"/>
              <a:t>N2 Métastases dans 3 à 6 ganglions lymphatiques régionaux</a:t>
            </a:r>
          </a:p>
          <a:p>
            <a:r>
              <a:rPr lang="fr-FR" sz="2000" dirty="0" smtClean="0"/>
              <a:t>N3 Métastases dans 7 ganglions régionaux ou plus</a:t>
            </a:r>
          </a:p>
          <a:p>
            <a:r>
              <a:rPr lang="fr-FR" sz="2000" dirty="0" smtClean="0"/>
              <a:t>pN0</a:t>
            </a:r>
          </a:p>
          <a:p>
            <a:r>
              <a:rPr lang="fr-FR" sz="2000" dirty="0" smtClean="0"/>
              <a:t>L'examen histologique d'une pièce opératoire de</a:t>
            </a:r>
          </a:p>
          <a:p>
            <a:r>
              <a:rPr lang="fr-FR" sz="2000" dirty="0" err="1" smtClean="0"/>
              <a:t>lymphadénectomie</a:t>
            </a:r>
            <a:r>
              <a:rPr lang="fr-FR" sz="2000" dirty="0" smtClean="0"/>
              <a:t> </a:t>
            </a:r>
            <a:r>
              <a:rPr lang="fr-FR" sz="2000" dirty="0" err="1" smtClean="0"/>
              <a:t>incluera</a:t>
            </a:r>
            <a:r>
              <a:rPr lang="fr-FR" sz="2000" dirty="0" smtClean="0"/>
              <a:t> habituellement 6 ganglions</a:t>
            </a:r>
          </a:p>
          <a:p>
            <a:r>
              <a:rPr lang="fr-FR" sz="2000" dirty="0" smtClean="0"/>
              <a:t>lymphatiques ou plus. Classer pN0 même si le nombre préconisé</a:t>
            </a:r>
          </a:p>
          <a:p>
            <a:r>
              <a:rPr lang="fr-FR" sz="2000" dirty="0" smtClean="0"/>
              <a:t>de ganglions réséqués n'est pas atteint.</a:t>
            </a:r>
            <a:endParaRPr lang="en-US" sz="2000" dirty="0"/>
          </a:p>
        </p:txBody>
      </p:sp>
      <p:sp>
        <p:nvSpPr>
          <p:cNvPr id="3" name="Rectangle 2"/>
          <p:cNvSpPr/>
          <p:nvPr/>
        </p:nvSpPr>
        <p:spPr>
          <a:xfrm>
            <a:off x="428596" y="142856"/>
            <a:ext cx="7302064" cy="646331"/>
          </a:xfrm>
          <a:prstGeom prst="rect">
            <a:avLst/>
          </a:prstGeom>
        </p:spPr>
        <p:txBody>
          <a:bodyPr wrap="none">
            <a:spAutoFit/>
          </a:bodyPr>
          <a:lstStyle/>
          <a:p>
            <a:r>
              <a:rPr lang="fr-FR" sz="3600" b="1" dirty="0" smtClean="0">
                <a:solidFill>
                  <a:srgbClr val="00B050"/>
                </a:solidFill>
              </a:rPr>
              <a:t>Classification TNM 8</a:t>
            </a:r>
            <a:r>
              <a:rPr lang="fr-FR" sz="3600" b="1" baseline="30000" dirty="0" smtClean="0">
                <a:solidFill>
                  <a:srgbClr val="00B050"/>
                </a:solidFill>
              </a:rPr>
              <a:t>eme</a:t>
            </a:r>
            <a:r>
              <a:rPr lang="fr-FR" sz="3600" b="1" dirty="0" smtClean="0">
                <a:solidFill>
                  <a:srgbClr val="00B050"/>
                </a:solidFill>
              </a:rPr>
              <a:t> édition 2017</a:t>
            </a:r>
            <a:endParaRPr lang="en-US" sz="36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7" y="1571612"/>
            <a:ext cx="7786743" cy="4801314"/>
          </a:xfrm>
          <a:prstGeom prst="rect">
            <a:avLst/>
          </a:prstGeom>
        </p:spPr>
        <p:txBody>
          <a:bodyPr wrap="square">
            <a:spAutoFit/>
          </a:bodyPr>
          <a:lstStyle/>
          <a:p>
            <a:r>
              <a:rPr lang="fr-FR" dirty="0" smtClean="0">
                <a:solidFill>
                  <a:srgbClr val="FF0000"/>
                </a:solidFill>
              </a:rPr>
              <a:t>M- Métastases</a:t>
            </a:r>
          </a:p>
          <a:p>
            <a:r>
              <a:rPr lang="fr-FR" dirty="0" smtClean="0">
                <a:solidFill>
                  <a:srgbClr val="FF0000"/>
                </a:solidFill>
              </a:rPr>
              <a:t>M0 Pas de métastase à distance</a:t>
            </a:r>
          </a:p>
          <a:p>
            <a:r>
              <a:rPr lang="fr-FR" dirty="0" smtClean="0">
                <a:solidFill>
                  <a:srgbClr val="FF0000"/>
                </a:solidFill>
              </a:rPr>
              <a:t>M1 Présence de métastase(s) à distance</a:t>
            </a:r>
          </a:p>
          <a:p>
            <a:r>
              <a:rPr lang="fr-FR" dirty="0" smtClean="0"/>
              <a:t> </a:t>
            </a:r>
          </a:p>
          <a:p>
            <a:r>
              <a:rPr lang="fr-FR" sz="2400" dirty="0" smtClean="0">
                <a:solidFill>
                  <a:srgbClr val="FF0000"/>
                </a:solidFill>
              </a:rPr>
              <a:t>Symbole c</a:t>
            </a:r>
            <a:r>
              <a:rPr lang="fr-FR" dirty="0" smtClean="0"/>
              <a:t> : le signe TNM ou </a:t>
            </a:r>
            <a:r>
              <a:rPr lang="fr-FR" dirty="0" err="1" smtClean="0"/>
              <a:t>cTNM</a:t>
            </a:r>
            <a:r>
              <a:rPr lang="fr-FR" dirty="0" smtClean="0"/>
              <a:t> correspond à la classification clinique pré-thérapeutique, résultat de l'examen clinique,</a:t>
            </a:r>
          </a:p>
          <a:p>
            <a:r>
              <a:rPr lang="fr-FR" dirty="0" smtClean="0"/>
              <a:t>de l'imagerie, de l'endoscopie, des biopsies et des autres examens complémentaires.</a:t>
            </a:r>
          </a:p>
          <a:p>
            <a:r>
              <a:rPr lang="fr-FR" sz="2400" dirty="0" smtClean="0">
                <a:solidFill>
                  <a:srgbClr val="FF0000"/>
                </a:solidFill>
              </a:rPr>
              <a:t>Symbole y</a:t>
            </a:r>
            <a:r>
              <a:rPr lang="fr-FR" dirty="0" smtClean="0"/>
              <a:t> : dans tous les cas où la classification est effectuée durant ou après traitement néo-adjuvant, le </a:t>
            </a:r>
            <a:r>
              <a:rPr lang="fr-FR" dirty="0" err="1" smtClean="0"/>
              <a:t>cTNM</a:t>
            </a:r>
            <a:r>
              <a:rPr lang="fr-FR" dirty="0" smtClean="0"/>
              <a:t> ou le</a:t>
            </a:r>
          </a:p>
          <a:p>
            <a:r>
              <a:rPr lang="fr-FR" dirty="0" err="1" smtClean="0"/>
              <a:t>pTNM</a:t>
            </a:r>
            <a:r>
              <a:rPr lang="fr-FR" dirty="0" smtClean="0"/>
              <a:t> est précédé du préfixe y.</a:t>
            </a:r>
          </a:p>
          <a:p>
            <a:r>
              <a:rPr lang="fr-FR" sz="2400" dirty="0" smtClean="0">
                <a:solidFill>
                  <a:srgbClr val="FF0000"/>
                </a:solidFill>
              </a:rPr>
              <a:t>Symbole p</a:t>
            </a:r>
            <a:r>
              <a:rPr lang="fr-FR" dirty="0" smtClean="0"/>
              <a:t> : le </a:t>
            </a:r>
            <a:r>
              <a:rPr lang="fr-FR" dirty="0" err="1" smtClean="0"/>
              <a:t>pTNM</a:t>
            </a:r>
            <a:r>
              <a:rPr lang="fr-FR" dirty="0" smtClean="0"/>
              <a:t> correspond à la classification histologique postopératoire, complétée ou modifiée par les</a:t>
            </a:r>
          </a:p>
          <a:p>
            <a:r>
              <a:rPr lang="fr-FR" dirty="0" smtClean="0"/>
              <a:t>observations supplémentaires recueillies au cours de l'acte chirurgical et de l'examen </a:t>
            </a:r>
            <a:r>
              <a:rPr lang="fr-FR" dirty="0" err="1" smtClean="0"/>
              <a:t>histopathologique</a:t>
            </a:r>
            <a:r>
              <a:rPr lang="fr-FR" dirty="0" smtClean="0"/>
              <a:t>.</a:t>
            </a:r>
          </a:p>
          <a:p>
            <a:r>
              <a:rPr lang="fr-FR" dirty="0" smtClean="0"/>
              <a:t> </a:t>
            </a:r>
            <a:endParaRPr lang="en-US" dirty="0"/>
          </a:p>
        </p:txBody>
      </p:sp>
      <p:sp>
        <p:nvSpPr>
          <p:cNvPr id="3" name="Rectangle 2"/>
          <p:cNvSpPr/>
          <p:nvPr/>
        </p:nvSpPr>
        <p:spPr>
          <a:xfrm>
            <a:off x="428596" y="142856"/>
            <a:ext cx="7302064" cy="646331"/>
          </a:xfrm>
          <a:prstGeom prst="rect">
            <a:avLst/>
          </a:prstGeom>
        </p:spPr>
        <p:txBody>
          <a:bodyPr wrap="none">
            <a:spAutoFit/>
          </a:bodyPr>
          <a:lstStyle/>
          <a:p>
            <a:r>
              <a:rPr lang="fr-FR" sz="3600" b="1" dirty="0" smtClean="0">
                <a:solidFill>
                  <a:srgbClr val="00B050"/>
                </a:solidFill>
              </a:rPr>
              <a:t>Classification TNM 8</a:t>
            </a:r>
            <a:r>
              <a:rPr lang="fr-FR" sz="3600" b="1" baseline="30000" dirty="0" smtClean="0">
                <a:solidFill>
                  <a:srgbClr val="00B050"/>
                </a:solidFill>
              </a:rPr>
              <a:t>eme</a:t>
            </a:r>
            <a:r>
              <a:rPr lang="fr-FR" sz="3600" b="1" dirty="0" smtClean="0">
                <a:solidFill>
                  <a:srgbClr val="00B050"/>
                </a:solidFill>
              </a:rPr>
              <a:t> édition 2017</a:t>
            </a:r>
            <a:endParaRPr lang="en-US" sz="3600"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7162" y="285728"/>
            <a:ext cx="8643967" cy="4801314"/>
          </a:xfrm>
          <a:prstGeom prst="rect">
            <a:avLst/>
          </a:prstGeom>
        </p:spPr>
        <p:txBody>
          <a:bodyPr wrap="square">
            <a:spAutoFit/>
          </a:bodyPr>
          <a:lstStyle/>
          <a:p>
            <a:r>
              <a:rPr lang="pt-BR" dirty="0" smtClean="0"/>
              <a:t>Stade 0 Tis N0 M0</a:t>
            </a:r>
          </a:p>
          <a:p>
            <a:r>
              <a:rPr lang="pt-BR" dirty="0" smtClean="0"/>
              <a:t>Stade IA</a:t>
            </a:r>
            <a:r>
              <a:rPr lang="pt-BR" dirty="0" smtClean="0">
                <a:solidFill>
                  <a:schemeClr val="accent2">
                    <a:lumMod val="75000"/>
                  </a:schemeClr>
                </a:solidFill>
              </a:rPr>
              <a:t>T1a N0 M0                Stade IB T1b N0 M0            T2 N0 M0</a:t>
            </a:r>
          </a:p>
          <a:p>
            <a:endParaRPr lang="pt-BR" dirty="0" smtClean="0"/>
          </a:p>
          <a:p>
            <a:r>
              <a:rPr lang="pt-BR" dirty="0" smtClean="0"/>
              <a:t>Stade II</a:t>
            </a:r>
          </a:p>
          <a:p>
            <a:r>
              <a:rPr lang="pt-BR" dirty="0" smtClean="0">
                <a:solidFill>
                  <a:schemeClr val="accent2">
                    <a:lumMod val="75000"/>
                  </a:schemeClr>
                </a:solidFill>
              </a:rPr>
              <a:t>T1 N1 M0</a:t>
            </a:r>
          </a:p>
          <a:p>
            <a:r>
              <a:rPr lang="pt-BR" dirty="0" smtClean="0">
                <a:solidFill>
                  <a:schemeClr val="accent2">
                    <a:lumMod val="75000"/>
                  </a:schemeClr>
                </a:solidFill>
              </a:rPr>
              <a:t>T3 N0 M0</a:t>
            </a:r>
          </a:p>
          <a:p>
            <a:endParaRPr lang="pt-BR" dirty="0" smtClean="0"/>
          </a:p>
          <a:p>
            <a:r>
              <a:rPr lang="pt-BR" dirty="0" smtClean="0"/>
              <a:t>Stade IIIA        </a:t>
            </a:r>
            <a:r>
              <a:rPr lang="pt-BR" dirty="0" smtClean="0">
                <a:solidFill>
                  <a:schemeClr val="accent2">
                    <a:lumMod val="75000"/>
                  </a:schemeClr>
                </a:solidFill>
              </a:rPr>
              <a:t>T1 N2 M0              T2 N1 M0</a:t>
            </a:r>
          </a:p>
          <a:p>
            <a:endParaRPr lang="pt-BR" dirty="0" smtClean="0"/>
          </a:p>
          <a:p>
            <a:r>
              <a:rPr lang="pt-BR" dirty="0" smtClean="0"/>
              <a:t>Stade IIIB </a:t>
            </a:r>
            <a:r>
              <a:rPr lang="pt-BR" dirty="0" smtClean="0">
                <a:solidFill>
                  <a:schemeClr val="accent2">
                    <a:lumMod val="75000"/>
                  </a:schemeClr>
                </a:solidFill>
              </a:rPr>
              <a:t>T2 N2 M0  T3 N1,N2 M0   -T4a N0,N1 M0</a:t>
            </a:r>
          </a:p>
          <a:p>
            <a:endParaRPr lang="pt-BR" dirty="0" smtClean="0"/>
          </a:p>
          <a:p>
            <a:r>
              <a:rPr lang="pt-BR" dirty="0" smtClean="0"/>
              <a:t>Stade IVA</a:t>
            </a:r>
          </a:p>
          <a:p>
            <a:r>
              <a:rPr lang="pt-BR" dirty="0" smtClean="0">
                <a:solidFill>
                  <a:schemeClr val="accent2">
                    <a:lumMod val="75000"/>
                  </a:schemeClr>
                </a:solidFill>
              </a:rPr>
              <a:t>T4a N2 M0</a:t>
            </a:r>
          </a:p>
          <a:p>
            <a:r>
              <a:rPr lang="pt-BR" dirty="0" smtClean="0">
                <a:solidFill>
                  <a:schemeClr val="accent2">
                    <a:lumMod val="75000"/>
                  </a:schemeClr>
                </a:solidFill>
              </a:rPr>
              <a:t>T4b Tous N M0</a:t>
            </a:r>
          </a:p>
          <a:p>
            <a:r>
              <a:rPr lang="pt-BR" dirty="0" smtClean="0">
                <a:solidFill>
                  <a:schemeClr val="accent2">
                    <a:lumMod val="75000"/>
                  </a:schemeClr>
                </a:solidFill>
              </a:rPr>
              <a:t>Tous T N3 M0</a:t>
            </a:r>
          </a:p>
          <a:p>
            <a:endParaRPr lang="pt-BR" dirty="0" smtClean="0"/>
          </a:p>
          <a:p>
            <a:r>
              <a:rPr lang="pt-BR" dirty="0" smtClean="0"/>
              <a:t>Stade IVB Tous T Tous N M1</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665" y="3244336"/>
            <a:ext cx="7858179" cy="707886"/>
          </a:xfrm>
          <a:prstGeom prst="rect">
            <a:avLst/>
          </a:prstGeom>
        </p:spPr>
        <p:txBody>
          <a:bodyPr wrap="square">
            <a:spAutoFit/>
          </a:bodyPr>
          <a:lstStyle/>
          <a:p>
            <a:r>
              <a:rPr lang="fr-FR" sz="4000" dirty="0" smtClean="0">
                <a:solidFill>
                  <a:srgbClr val="00B050"/>
                </a:solidFill>
              </a:rPr>
              <a:t>Symptômes  et signes révélateurs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601" y="1166847"/>
            <a:ext cx="8358247" cy="5632311"/>
          </a:xfrm>
          <a:prstGeom prst="rect">
            <a:avLst/>
          </a:prstGeom>
        </p:spPr>
        <p:txBody>
          <a:bodyPr wrap="square">
            <a:spAutoFit/>
          </a:bodyPr>
          <a:lstStyle/>
          <a:p>
            <a:r>
              <a:rPr lang="en-US" sz="2400" dirty="0" smtClean="0"/>
              <a:t> </a:t>
            </a:r>
            <a:r>
              <a:rPr lang="en-US" sz="2400" dirty="0" smtClean="0">
                <a:solidFill>
                  <a:srgbClr val="FFFF00"/>
                </a:solidFill>
              </a:rPr>
              <a:t>- </a:t>
            </a:r>
            <a:r>
              <a:rPr lang="en-US" sz="2400" dirty="0" err="1" smtClean="0"/>
              <a:t>Circonstances</a:t>
            </a:r>
            <a:r>
              <a:rPr lang="en-US" sz="2400" dirty="0" smtClean="0"/>
              <a:t> de </a:t>
            </a:r>
            <a:r>
              <a:rPr lang="en-US" sz="2400" dirty="0" err="1" smtClean="0"/>
              <a:t>découverte</a:t>
            </a:r>
            <a:r>
              <a:rPr lang="en-US" sz="2400" dirty="0" smtClean="0"/>
              <a:t> des cancers de </a:t>
            </a:r>
            <a:r>
              <a:rPr lang="en-US" sz="2400" dirty="0" err="1" smtClean="0"/>
              <a:t>l’œsophage</a:t>
            </a:r>
            <a:r>
              <a:rPr lang="en-US" sz="2400" dirty="0" smtClean="0"/>
              <a:t> :  </a:t>
            </a:r>
          </a:p>
          <a:p>
            <a:r>
              <a:rPr lang="en-US" sz="2400" dirty="0" smtClean="0"/>
              <a:t> - </a:t>
            </a:r>
            <a:r>
              <a:rPr lang="en-US" sz="2400" dirty="0" err="1" smtClean="0"/>
              <a:t>dysphagie</a:t>
            </a:r>
            <a:r>
              <a:rPr lang="en-US" sz="2400" dirty="0" smtClean="0"/>
              <a:t> </a:t>
            </a:r>
          </a:p>
          <a:p>
            <a:r>
              <a:rPr lang="en-US" sz="2400" dirty="0" smtClean="0">
                <a:solidFill>
                  <a:srgbClr val="FFFF00"/>
                </a:solidFill>
              </a:rPr>
              <a:t> - </a:t>
            </a:r>
            <a:r>
              <a:rPr lang="en-US" sz="2400" dirty="0" err="1" smtClean="0">
                <a:solidFill>
                  <a:srgbClr val="FFFF00"/>
                </a:solidFill>
              </a:rPr>
              <a:t>odynophagie</a:t>
            </a:r>
            <a:r>
              <a:rPr lang="en-US" sz="2400" dirty="0" smtClean="0">
                <a:solidFill>
                  <a:srgbClr val="FFFF00"/>
                </a:solidFill>
              </a:rPr>
              <a:t> </a:t>
            </a:r>
          </a:p>
          <a:p>
            <a:r>
              <a:rPr lang="en-US" sz="2400" dirty="0" smtClean="0">
                <a:solidFill>
                  <a:srgbClr val="FFFF00"/>
                </a:solidFill>
              </a:rPr>
              <a:t>- </a:t>
            </a:r>
            <a:r>
              <a:rPr lang="en-US" sz="2400" dirty="0" err="1" smtClean="0">
                <a:solidFill>
                  <a:srgbClr val="FFFF00"/>
                </a:solidFill>
              </a:rPr>
              <a:t>hoquet</a:t>
            </a:r>
            <a:r>
              <a:rPr lang="en-US" sz="2400" dirty="0" smtClean="0">
                <a:solidFill>
                  <a:srgbClr val="FFFF00"/>
                </a:solidFill>
              </a:rPr>
              <a:t> </a:t>
            </a:r>
            <a:r>
              <a:rPr lang="en-US" sz="2400" dirty="0" err="1" smtClean="0">
                <a:solidFill>
                  <a:srgbClr val="FFFF00"/>
                </a:solidFill>
              </a:rPr>
              <a:t>récidivant</a:t>
            </a:r>
            <a:r>
              <a:rPr lang="en-US" sz="2400" dirty="0" smtClean="0">
                <a:solidFill>
                  <a:srgbClr val="FFFF00"/>
                </a:solidFill>
              </a:rPr>
              <a:t>  </a:t>
            </a:r>
          </a:p>
          <a:p>
            <a:r>
              <a:rPr lang="en-US" sz="2400" dirty="0" smtClean="0">
                <a:solidFill>
                  <a:srgbClr val="FFFF00"/>
                </a:solidFill>
              </a:rPr>
              <a:t> - </a:t>
            </a:r>
            <a:r>
              <a:rPr lang="en-US" sz="2400" dirty="0" err="1" smtClean="0">
                <a:solidFill>
                  <a:srgbClr val="FFFF00"/>
                </a:solidFill>
              </a:rPr>
              <a:t>éructations</a:t>
            </a:r>
            <a:r>
              <a:rPr lang="en-US" sz="2400" dirty="0" smtClean="0">
                <a:solidFill>
                  <a:srgbClr val="FFFF00"/>
                </a:solidFill>
              </a:rPr>
              <a:t> </a:t>
            </a:r>
          </a:p>
          <a:p>
            <a:r>
              <a:rPr lang="en-US" sz="2400" dirty="0" smtClean="0">
                <a:solidFill>
                  <a:srgbClr val="FFFF00"/>
                </a:solidFill>
              </a:rPr>
              <a:t>- </a:t>
            </a:r>
            <a:r>
              <a:rPr lang="en-US" sz="2400" dirty="0" err="1" smtClean="0">
                <a:solidFill>
                  <a:srgbClr val="FFFF00"/>
                </a:solidFill>
              </a:rPr>
              <a:t>régurgitations</a:t>
            </a:r>
            <a:r>
              <a:rPr lang="en-US" sz="2400" dirty="0" smtClean="0">
                <a:solidFill>
                  <a:srgbClr val="FFFF00"/>
                </a:solidFill>
              </a:rPr>
              <a:t> </a:t>
            </a:r>
            <a:r>
              <a:rPr lang="en-US" sz="2400" dirty="0" err="1" smtClean="0">
                <a:solidFill>
                  <a:srgbClr val="FFFF00"/>
                </a:solidFill>
              </a:rPr>
              <a:t>alimentaires</a:t>
            </a:r>
            <a:r>
              <a:rPr lang="en-US" sz="2400" dirty="0" smtClean="0">
                <a:solidFill>
                  <a:srgbClr val="FFFF00"/>
                </a:solidFill>
              </a:rPr>
              <a:t> </a:t>
            </a:r>
          </a:p>
          <a:p>
            <a:r>
              <a:rPr lang="en-US" sz="2400" dirty="0" smtClean="0">
                <a:solidFill>
                  <a:srgbClr val="FFFF00"/>
                </a:solidFill>
              </a:rPr>
              <a:t> - </a:t>
            </a:r>
            <a:r>
              <a:rPr lang="en-US" sz="2400" dirty="0" err="1" smtClean="0">
                <a:solidFill>
                  <a:srgbClr val="FFFF00"/>
                </a:solidFill>
              </a:rPr>
              <a:t>hypersialorrhée</a:t>
            </a:r>
            <a:r>
              <a:rPr lang="en-US" sz="2400" dirty="0" smtClean="0">
                <a:solidFill>
                  <a:srgbClr val="FFFF00"/>
                </a:solidFill>
              </a:rPr>
              <a:t> </a:t>
            </a:r>
          </a:p>
          <a:p>
            <a:r>
              <a:rPr lang="en-US" sz="2400" dirty="0" smtClean="0">
                <a:solidFill>
                  <a:srgbClr val="FFFF00"/>
                </a:solidFill>
              </a:rPr>
              <a:t>- </a:t>
            </a:r>
            <a:r>
              <a:rPr lang="en-US" sz="2400" dirty="0" err="1" smtClean="0">
                <a:solidFill>
                  <a:srgbClr val="FFFF00"/>
                </a:solidFill>
              </a:rPr>
              <a:t>fétidité</a:t>
            </a:r>
            <a:r>
              <a:rPr lang="en-US" sz="2400" dirty="0" smtClean="0">
                <a:solidFill>
                  <a:srgbClr val="FFFF00"/>
                </a:solidFill>
              </a:rPr>
              <a:t> de </a:t>
            </a:r>
            <a:r>
              <a:rPr lang="en-US" sz="2400" dirty="0" err="1" smtClean="0">
                <a:solidFill>
                  <a:srgbClr val="FFFF00"/>
                </a:solidFill>
              </a:rPr>
              <a:t>l’haleine</a:t>
            </a:r>
            <a:r>
              <a:rPr lang="en-US" sz="2400" dirty="0" smtClean="0">
                <a:solidFill>
                  <a:srgbClr val="FFFF00"/>
                </a:solidFill>
              </a:rPr>
              <a:t> </a:t>
            </a:r>
          </a:p>
          <a:p>
            <a:r>
              <a:rPr lang="en-US" sz="2400" dirty="0" smtClean="0">
                <a:solidFill>
                  <a:srgbClr val="FFFF00"/>
                </a:solidFill>
              </a:rPr>
              <a:t>- </a:t>
            </a:r>
            <a:r>
              <a:rPr lang="en-US" sz="2400" dirty="0" err="1" smtClean="0">
                <a:solidFill>
                  <a:srgbClr val="FFFF00"/>
                </a:solidFill>
              </a:rPr>
              <a:t>hémorragies</a:t>
            </a:r>
            <a:r>
              <a:rPr lang="en-US" sz="2400" dirty="0" smtClean="0">
                <a:solidFill>
                  <a:srgbClr val="FFFF00"/>
                </a:solidFill>
              </a:rPr>
              <a:t> digestives </a:t>
            </a:r>
          </a:p>
          <a:p>
            <a:r>
              <a:rPr lang="en-US" sz="2400" dirty="0" smtClean="0">
                <a:solidFill>
                  <a:srgbClr val="FFFF00"/>
                </a:solidFill>
              </a:rPr>
              <a:t>- </a:t>
            </a:r>
            <a:r>
              <a:rPr lang="en-US" sz="2400" dirty="0" err="1" smtClean="0">
                <a:solidFill>
                  <a:srgbClr val="FFFF00"/>
                </a:solidFill>
              </a:rPr>
              <a:t>douleurs</a:t>
            </a:r>
            <a:r>
              <a:rPr lang="en-US" sz="2400" dirty="0" smtClean="0">
                <a:solidFill>
                  <a:srgbClr val="FFFF00"/>
                </a:solidFill>
              </a:rPr>
              <a:t> </a:t>
            </a:r>
            <a:r>
              <a:rPr lang="en-US" sz="2400" dirty="0" err="1" smtClean="0">
                <a:solidFill>
                  <a:srgbClr val="FFFF00"/>
                </a:solidFill>
              </a:rPr>
              <a:t>rétrosternales</a:t>
            </a:r>
            <a:r>
              <a:rPr lang="en-US" sz="2400" dirty="0" smtClean="0">
                <a:solidFill>
                  <a:srgbClr val="FFFF00"/>
                </a:solidFill>
              </a:rPr>
              <a:t> </a:t>
            </a:r>
          </a:p>
          <a:p>
            <a:r>
              <a:rPr lang="en-US" sz="2400" dirty="0" smtClean="0">
                <a:solidFill>
                  <a:srgbClr val="FFFF00"/>
                </a:solidFill>
              </a:rPr>
              <a:t> - </a:t>
            </a:r>
            <a:r>
              <a:rPr lang="en-US" sz="2400" dirty="0" err="1" smtClean="0">
                <a:solidFill>
                  <a:srgbClr val="FFFF00"/>
                </a:solidFill>
              </a:rPr>
              <a:t>dysphonie</a:t>
            </a:r>
            <a:r>
              <a:rPr lang="en-US" sz="2400" dirty="0" smtClean="0">
                <a:solidFill>
                  <a:srgbClr val="FFFF00"/>
                </a:solidFill>
              </a:rPr>
              <a:t> </a:t>
            </a:r>
          </a:p>
          <a:p>
            <a:r>
              <a:rPr lang="en-US" sz="2400" dirty="0" smtClean="0">
                <a:solidFill>
                  <a:srgbClr val="FFFF00"/>
                </a:solidFill>
              </a:rPr>
              <a:t>- </a:t>
            </a:r>
            <a:r>
              <a:rPr lang="en-US" sz="2400" dirty="0" err="1" smtClean="0">
                <a:solidFill>
                  <a:srgbClr val="FFFF00"/>
                </a:solidFill>
              </a:rPr>
              <a:t>toux</a:t>
            </a:r>
            <a:r>
              <a:rPr lang="en-US" sz="2400" dirty="0" smtClean="0">
                <a:solidFill>
                  <a:srgbClr val="FFFF00"/>
                </a:solidFill>
              </a:rPr>
              <a:t> </a:t>
            </a:r>
            <a:r>
              <a:rPr lang="en-US" sz="2400" dirty="0" err="1" smtClean="0">
                <a:solidFill>
                  <a:srgbClr val="FFFF00"/>
                </a:solidFill>
              </a:rPr>
              <a:t>chronique</a:t>
            </a:r>
            <a:r>
              <a:rPr lang="en-US" sz="2400" dirty="0" smtClean="0">
                <a:solidFill>
                  <a:srgbClr val="FFFF00"/>
                </a:solidFill>
              </a:rPr>
              <a:t> ou </a:t>
            </a:r>
            <a:r>
              <a:rPr lang="en-US" sz="2400" dirty="0" err="1" smtClean="0">
                <a:solidFill>
                  <a:srgbClr val="FFFF00"/>
                </a:solidFill>
              </a:rPr>
              <a:t>lors</a:t>
            </a:r>
            <a:r>
              <a:rPr lang="en-US" sz="2400" dirty="0" smtClean="0">
                <a:solidFill>
                  <a:srgbClr val="FFFF00"/>
                </a:solidFill>
              </a:rPr>
              <a:t> de </a:t>
            </a:r>
            <a:r>
              <a:rPr lang="en-US" sz="2400" dirty="0" err="1" smtClean="0">
                <a:solidFill>
                  <a:srgbClr val="FFFF00"/>
                </a:solidFill>
              </a:rPr>
              <a:t>l’alimentation</a:t>
            </a:r>
            <a:r>
              <a:rPr lang="en-US" sz="2400" dirty="0" smtClean="0">
                <a:solidFill>
                  <a:srgbClr val="FFFF00"/>
                </a:solidFill>
              </a:rPr>
              <a:t> </a:t>
            </a:r>
          </a:p>
          <a:p>
            <a:r>
              <a:rPr lang="en-US" sz="2400" dirty="0" smtClean="0">
                <a:solidFill>
                  <a:srgbClr val="FFFF00"/>
                </a:solidFill>
              </a:rPr>
              <a:t>- </a:t>
            </a:r>
            <a:r>
              <a:rPr lang="en-US" sz="2400" dirty="0" err="1" smtClean="0">
                <a:solidFill>
                  <a:srgbClr val="FFFF00"/>
                </a:solidFill>
              </a:rPr>
              <a:t>adénopathies</a:t>
            </a:r>
            <a:r>
              <a:rPr lang="en-US" sz="2400" dirty="0" smtClean="0">
                <a:solidFill>
                  <a:srgbClr val="FFFF00"/>
                </a:solidFill>
              </a:rPr>
              <a:t> </a:t>
            </a:r>
            <a:r>
              <a:rPr lang="en-US" sz="2400" dirty="0" err="1" smtClean="0">
                <a:solidFill>
                  <a:srgbClr val="FFFF00"/>
                </a:solidFill>
              </a:rPr>
              <a:t>sus</a:t>
            </a:r>
            <a:r>
              <a:rPr lang="en-US" sz="2400" dirty="0" smtClean="0">
                <a:solidFill>
                  <a:srgbClr val="FFFF00"/>
                </a:solidFill>
              </a:rPr>
              <a:t> </a:t>
            </a:r>
            <a:r>
              <a:rPr lang="en-US" sz="2400" dirty="0" err="1" smtClean="0">
                <a:solidFill>
                  <a:srgbClr val="FFFF00"/>
                </a:solidFill>
              </a:rPr>
              <a:t>claviculaires</a:t>
            </a:r>
            <a:r>
              <a:rPr lang="en-US" sz="2400" dirty="0" smtClean="0">
                <a:solidFill>
                  <a:srgbClr val="FFFF00"/>
                </a:solidFill>
              </a:rPr>
              <a:t> </a:t>
            </a:r>
          </a:p>
          <a:p>
            <a:r>
              <a:rPr lang="en-US" sz="2400" dirty="0" smtClean="0">
                <a:solidFill>
                  <a:srgbClr val="FFFF00"/>
                </a:solidFill>
              </a:rPr>
              <a:t>- </a:t>
            </a:r>
            <a:r>
              <a:rPr lang="en-US" sz="2400" dirty="0" err="1" smtClean="0">
                <a:solidFill>
                  <a:srgbClr val="FFFF00"/>
                </a:solidFill>
              </a:rPr>
              <a:t>anorexie</a:t>
            </a:r>
            <a:r>
              <a:rPr lang="en-US" sz="2400" dirty="0" smtClean="0">
                <a:solidFill>
                  <a:srgbClr val="FFFF00"/>
                </a:solidFill>
              </a:rPr>
              <a:t>, </a:t>
            </a:r>
            <a:r>
              <a:rPr lang="en-US" sz="2400" dirty="0" err="1" smtClean="0">
                <a:solidFill>
                  <a:srgbClr val="FFFF00"/>
                </a:solidFill>
              </a:rPr>
              <a:t>amaigrissement</a:t>
            </a:r>
            <a:r>
              <a:rPr lang="en-US" sz="2400" dirty="0" smtClean="0">
                <a:solidFill>
                  <a:srgbClr val="FFFF00"/>
                </a:solidFill>
              </a:rPr>
              <a:t>.  </a:t>
            </a:r>
          </a:p>
          <a:p>
            <a:r>
              <a:rPr lang="en-US" sz="2400" dirty="0" smtClean="0">
                <a:solidFill>
                  <a:srgbClr val="FFFF00"/>
                </a:solidFill>
              </a:rPr>
              <a:t> </a:t>
            </a:r>
            <a:endParaRPr lang="en-US" sz="2400" dirty="0">
              <a:solidFill>
                <a:srgbClr val="FFFF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8" y="1166843"/>
            <a:ext cx="8358247" cy="5386090"/>
          </a:xfrm>
          <a:prstGeom prst="rect">
            <a:avLst/>
          </a:prstGeom>
        </p:spPr>
        <p:txBody>
          <a:bodyPr wrap="square">
            <a:spAutoFit/>
          </a:bodyPr>
          <a:lstStyle/>
          <a:p>
            <a:r>
              <a:rPr lang="fr-FR" sz="3200" dirty="0" smtClean="0"/>
              <a:t>Diagnostic positif:  </a:t>
            </a:r>
          </a:p>
          <a:p>
            <a:r>
              <a:rPr lang="fr-FR" sz="2400" dirty="0" smtClean="0">
                <a:solidFill>
                  <a:srgbClr val="FFFF00"/>
                </a:solidFill>
              </a:rPr>
              <a:t>  Il repose sur la </a:t>
            </a:r>
            <a:r>
              <a:rPr lang="fr-FR" sz="2400" dirty="0" smtClean="0">
                <a:solidFill>
                  <a:srgbClr val="FF0000"/>
                </a:solidFill>
              </a:rPr>
              <a:t>fibroscopie oeso-gastrique </a:t>
            </a:r>
            <a:r>
              <a:rPr lang="fr-FR" sz="2400" dirty="0" smtClean="0">
                <a:solidFill>
                  <a:srgbClr val="FFFF00"/>
                </a:solidFill>
              </a:rPr>
              <a:t>qui permet la visualisation de la lumière </a:t>
            </a:r>
          </a:p>
          <a:p>
            <a:r>
              <a:rPr lang="fr-FR" sz="2400" dirty="0" err="1" smtClean="0">
                <a:solidFill>
                  <a:srgbClr val="FFFF00"/>
                </a:solidFill>
              </a:rPr>
              <a:t>oesophagienne</a:t>
            </a:r>
            <a:r>
              <a:rPr lang="fr-FR" sz="2400" dirty="0" smtClean="0">
                <a:solidFill>
                  <a:srgbClr val="FFFF00"/>
                </a:solidFill>
              </a:rPr>
              <a:t> et la réalisation de biopsies. Elle doit être effectuée de première intention. </a:t>
            </a:r>
          </a:p>
          <a:p>
            <a:r>
              <a:rPr lang="fr-FR" sz="2400" dirty="0" smtClean="0">
                <a:solidFill>
                  <a:srgbClr val="FFFF00"/>
                </a:solidFill>
              </a:rPr>
              <a:t>Elle détermine  </a:t>
            </a:r>
            <a:r>
              <a:rPr lang="fr-FR" sz="2400" dirty="0" smtClean="0">
                <a:solidFill>
                  <a:srgbClr val="FF0000"/>
                </a:solidFill>
              </a:rPr>
              <a:t>le siège </a:t>
            </a:r>
            <a:r>
              <a:rPr lang="fr-FR" sz="2400" dirty="0" smtClean="0">
                <a:solidFill>
                  <a:srgbClr val="FFFF00"/>
                </a:solidFill>
              </a:rPr>
              <a:t>du cancer : 1/3 supérieur de l’œsophage dans 20 % des cas, 1/3 </a:t>
            </a:r>
          </a:p>
          <a:p>
            <a:r>
              <a:rPr lang="fr-FR" sz="2400" dirty="0" smtClean="0">
                <a:solidFill>
                  <a:srgbClr val="FFFF00"/>
                </a:solidFill>
              </a:rPr>
              <a:t>moyen dans  50 %, 1/3 inférieur  dans  30 %.  </a:t>
            </a:r>
          </a:p>
          <a:p>
            <a:r>
              <a:rPr lang="fr-FR" sz="2400" dirty="0" smtClean="0">
                <a:solidFill>
                  <a:srgbClr val="FFFF00"/>
                </a:solidFill>
              </a:rPr>
              <a:t>    Elle visualise la tumeur qui dans les </a:t>
            </a:r>
            <a:r>
              <a:rPr lang="fr-FR" sz="2400" dirty="0" smtClean="0">
                <a:solidFill>
                  <a:srgbClr val="FF0000"/>
                </a:solidFill>
              </a:rPr>
              <a:t>formes</a:t>
            </a:r>
            <a:r>
              <a:rPr lang="fr-FR" sz="2400" dirty="0" smtClean="0">
                <a:solidFill>
                  <a:srgbClr val="FFFF00"/>
                </a:solidFill>
              </a:rPr>
              <a:t> évoluées se  présente comme </a:t>
            </a:r>
          </a:p>
          <a:p>
            <a:r>
              <a:rPr lang="fr-FR" sz="2400" dirty="0" smtClean="0">
                <a:solidFill>
                  <a:srgbClr val="FFFF00"/>
                </a:solidFill>
              </a:rPr>
              <a:t>un bourgeon  ulcéré, saignant au contact, une ulcération à fond blanchâtre entourée d'un </a:t>
            </a:r>
          </a:p>
          <a:p>
            <a:r>
              <a:rPr lang="fr-FR" sz="2400" dirty="0" smtClean="0">
                <a:solidFill>
                  <a:srgbClr val="FFFF00"/>
                </a:solidFill>
              </a:rPr>
              <a:t>bourrelet irrégulier et dur au contact, ou comme un rétrécissement irrégulier de la lumière </a:t>
            </a:r>
            <a:endParaRPr lang="en-US" sz="2400" dirty="0">
              <a:solidFill>
                <a:srgbClr val="FFFF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28596" y="981074"/>
            <a:ext cx="8286808" cy="5662635"/>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7" y="428608"/>
            <a:ext cx="8501123" cy="5632311"/>
          </a:xfrm>
          <a:prstGeom prst="rect">
            <a:avLst/>
          </a:prstGeom>
        </p:spPr>
        <p:txBody>
          <a:bodyPr wrap="square">
            <a:spAutoFit/>
          </a:bodyPr>
          <a:lstStyle/>
          <a:p>
            <a:r>
              <a:rPr lang="fr-FR" sz="5400" dirty="0" smtClean="0">
                <a:solidFill>
                  <a:srgbClr val="FF0000"/>
                </a:solidFill>
              </a:rPr>
              <a:t> Le transit œsophagien baryté </a:t>
            </a:r>
            <a:r>
              <a:rPr lang="fr-FR" sz="2800" dirty="0" smtClean="0">
                <a:solidFill>
                  <a:srgbClr val="FF0000"/>
                </a:solidFill>
              </a:rPr>
              <a:t>  </a:t>
            </a:r>
            <a:r>
              <a:rPr lang="fr-FR" sz="2800" dirty="0" smtClean="0"/>
              <a:t>ne doit être effectué qu’en complément de </a:t>
            </a:r>
          </a:p>
          <a:p>
            <a:r>
              <a:rPr lang="fr-FR" sz="2800" dirty="0" smtClean="0"/>
              <a:t>l’endoscopie ou si celle-ci est impossible. Il permet la visualisation de l’</a:t>
            </a:r>
            <a:r>
              <a:rPr lang="fr-FR" sz="2800" dirty="0" err="1" smtClean="0"/>
              <a:t>oesophage</a:t>
            </a:r>
            <a:r>
              <a:rPr lang="fr-FR" sz="2800" dirty="0" smtClean="0"/>
              <a:t> et de </a:t>
            </a:r>
          </a:p>
          <a:p>
            <a:r>
              <a:rPr lang="fr-FR" sz="2800" dirty="0" smtClean="0"/>
              <a:t>l’estomac. Les images caractéristiques traduisent un cancer évolué : </a:t>
            </a:r>
            <a:r>
              <a:rPr lang="fr-FR" sz="2800" dirty="0" smtClean="0">
                <a:solidFill>
                  <a:srgbClr val="FF0000"/>
                </a:solidFill>
              </a:rPr>
              <a:t>rétrécissement</a:t>
            </a:r>
            <a:r>
              <a:rPr lang="fr-FR" sz="2800" dirty="0" smtClean="0"/>
              <a:t> irrégulier, </a:t>
            </a:r>
          </a:p>
          <a:p>
            <a:r>
              <a:rPr lang="fr-FR" sz="2800" dirty="0" smtClean="0"/>
              <a:t>excentré, à bords ulcérés dans les formes </a:t>
            </a:r>
            <a:r>
              <a:rPr lang="fr-FR" sz="2800" dirty="0" err="1" smtClean="0"/>
              <a:t>infiltrantes</a:t>
            </a:r>
            <a:r>
              <a:rPr lang="fr-FR" sz="2800" dirty="0" smtClean="0"/>
              <a:t>. </a:t>
            </a:r>
            <a:r>
              <a:rPr lang="fr-FR" sz="2800" dirty="0" smtClean="0">
                <a:solidFill>
                  <a:srgbClr val="FF0000"/>
                </a:solidFill>
              </a:rPr>
              <a:t>Lacune irrégulière  </a:t>
            </a:r>
            <a:r>
              <a:rPr lang="fr-FR" sz="2800" dirty="0" smtClean="0"/>
              <a:t>dans les formes </a:t>
            </a:r>
          </a:p>
          <a:p>
            <a:r>
              <a:rPr lang="fr-FR" sz="2800" dirty="0" smtClean="0"/>
              <a:t>bourgeonnantes, </a:t>
            </a:r>
            <a:r>
              <a:rPr lang="fr-FR" sz="2800" dirty="0" smtClean="0">
                <a:solidFill>
                  <a:srgbClr val="FF0000"/>
                </a:solidFill>
              </a:rPr>
              <a:t>image d’addition</a:t>
            </a:r>
            <a:r>
              <a:rPr lang="fr-FR" sz="2800" dirty="0" smtClean="0"/>
              <a:t> dans les formes ulcérées</a:t>
            </a:r>
            <a:endParaRPr 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642909" y="357167"/>
            <a:ext cx="7072363" cy="6105525"/>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62" y="2136343"/>
            <a:ext cx="8358247" cy="3693319"/>
          </a:xfrm>
          <a:prstGeom prst="rect">
            <a:avLst/>
          </a:prstGeom>
        </p:spPr>
        <p:txBody>
          <a:bodyPr wrap="square">
            <a:spAutoFit/>
          </a:bodyPr>
          <a:lstStyle/>
          <a:p>
            <a:r>
              <a:rPr lang="fr-FR" dirty="0" smtClean="0"/>
              <a:t> </a:t>
            </a:r>
          </a:p>
          <a:p>
            <a:r>
              <a:rPr lang="fr-FR" sz="4400" dirty="0" smtClean="0">
                <a:solidFill>
                  <a:srgbClr val="FFFF00"/>
                </a:solidFill>
              </a:rPr>
              <a:t>  </a:t>
            </a:r>
            <a:r>
              <a:rPr lang="fr-FR" sz="4400" dirty="0" smtClean="0">
                <a:solidFill>
                  <a:srgbClr val="FF0000"/>
                </a:solidFill>
              </a:rPr>
              <a:t>L'écho - endoscopie  </a:t>
            </a:r>
            <a:r>
              <a:rPr lang="fr-FR" sz="2800" dirty="0" smtClean="0">
                <a:solidFill>
                  <a:srgbClr val="FFFF00"/>
                </a:solidFill>
              </a:rPr>
              <a:t>explore les différentes </a:t>
            </a:r>
            <a:r>
              <a:rPr lang="fr-FR" sz="2800" dirty="0" smtClean="0">
                <a:solidFill>
                  <a:srgbClr val="FF0000"/>
                </a:solidFill>
              </a:rPr>
              <a:t>couches</a:t>
            </a:r>
            <a:r>
              <a:rPr lang="fr-FR" sz="2800" dirty="0" smtClean="0">
                <a:solidFill>
                  <a:srgbClr val="FFFF00"/>
                </a:solidFill>
              </a:rPr>
              <a:t> de la paroi </a:t>
            </a:r>
            <a:r>
              <a:rPr lang="fr-FR" sz="2800" dirty="0" err="1" smtClean="0">
                <a:solidFill>
                  <a:srgbClr val="FFFF00"/>
                </a:solidFill>
              </a:rPr>
              <a:t>oesophagienne</a:t>
            </a:r>
            <a:r>
              <a:rPr lang="fr-FR" sz="2800" dirty="0" smtClean="0">
                <a:solidFill>
                  <a:srgbClr val="FFFF00"/>
                </a:solidFill>
              </a:rPr>
              <a:t> et </a:t>
            </a:r>
          </a:p>
          <a:p>
            <a:r>
              <a:rPr lang="fr-FR" sz="2800" dirty="0" smtClean="0">
                <a:solidFill>
                  <a:srgbClr val="FFFF00"/>
                </a:solidFill>
              </a:rPr>
              <a:t>l'atmosphère péri œsophagienne. </a:t>
            </a:r>
            <a:r>
              <a:rPr lang="fr-FR" sz="2800" dirty="0" smtClean="0">
                <a:solidFill>
                  <a:srgbClr val="FF0000"/>
                </a:solidFill>
              </a:rPr>
              <a:t>Elle différencie </a:t>
            </a:r>
            <a:r>
              <a:rPr lang="fr-FR" sz="2800" dirty="0" smtClean="0">
                <a:solidFill>
                  <a:srgbClr val="FFFF00"/>
                </a:solidFill>
              </a:rPr>
              <a:t>les lésions sous-muqueuses des </a:t>
            </a:r>
          </a:p>
          <a:p>
            <a:r>
              <a:rPr lang="fr-FR" sz="2800" dirty="0" smtClean="0">
                <a:solidFill>
                  <a:srgbClr val="FFFF00"/>
                </a:solidFill>
              </a:rPr>
              <a:t>compressions extrinsèques, </a:t>
            </a:r>
            <a:r>
              <a:rPr lang="fr-FR" sz="2800" dirty="0" smtClean="0">
                <a:solidFill>
                  <a:srgbClr val="FF0000"/>
                </a:solidFill>
              </a:rPr>
              <a:t>et détecte les adénopathies </a:t>
            </a:r>
            <a:r>
              <a:rPr lang="fr-FR" sz="2800" dirty="0" smtClean="0">
                <a:solidFill>
                  <a:srgbClr val="FFFF00"/>
                </a:solidFill>
              </a:rPr>
              <a:t>métastatiques. Ses performances sont </a:t>
            </a:r>
          </a:p>
          <a:p>
            <a:r>
              <a:rPr lang="fr-FR" sz="2800" dirty="0" smtClean="0">
                <a:solidFill>
                  <a:srgbClr val="FFFF00"/>
                </a:solidFill>
              </a:rPr>
              <a:t>limitées par l'existence d'une sténose. </a:t>
            </a:r>
            <a:endParaRPr lang="en-US" sz="2800" dirty="0">
              <a:solidFill>
                <a:srgbClr val="FFFF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229" y="1859341"/>
            <a:ext cx="7500991" cy="4154984"/>
          </a:xfrm>
          <a:prstGeom prst="rect">
            <a:avLst/>
          </a:prstGeom>
        </p:spPr>
        <p:txBody>
          <a:bodyPr wrap="square">
            <a:spAutoFit/>
          </a:bodyPr>
          <a:lstStyle/>
          <a:p>
            <a:r>
              <a:rPr lang="fr-FR" sz="2400" dirty="0" smtClean="0">
                <a:solidFill>
                  <a:srgbClr val="FFFF00"/>
                </a:solidFill>
              </a:rPr>
              <a:t>Classification </a:t>
            </a:r>
            <a:r>
              <a:rPr lang="fr-FR" sz="2400" dirty="0" err="1" smtClean="0">
                <a:solidFill>
                  <a:srgbClr val="FFFF00"/>
                </a:solidFill>
              </a:rPr>
              <a:t>échoendoscopique</a:t>
            </a:r>
            <a:endParaRPr lang="fr-FR" sz="2400" dirty="0" smtClean="0">
              <a:solidFill>
                <a:srgbClr val="FFFF00"/>
              </a:solidFill>
            </a:endParaRPr>
          </a:p>
          <a:p>
            <a:r>
              <a:rPr lang="fr-FR" sz="2400" dirty="0" smtClean="0">
                <a:solidFill>
                  <a:srgbClr val="FFFF00"/>
                </a:solidFill>
              </a:rPr>
              <a:t>u (ou us) T1 : tumeur limitée à la muqueuse (3  et 5  couche </a:t>
            </a:r>
            <a:r>
              <a:rPr lang="fr-FR" sz="2400" dirty="0" err="1" smtClean="0">
                <a:solidFill>
                  <a:srgbClr val="FFFF00"/>
                </a:solidFill>
              </a:rPr>
              <a:t>hyperéchogène</a:t>
            </a:r>
            <a:r>
              <a:rPr lang="fr-FR" sz="2400" dirty="0" smtClean="0">
                <a:solidFill>
                  <a:srgbClr val="FFFF00"/>
                </a:solidFill>
              </a:rPr>
              <a:t> intacte)</a:t>
            </a:r>
          </a:p>
          <a:p>
            <a:r>
              <a:rPr lang="fr-FR" sz="2400" dirty="0" smtClean="0">
                <a:solidFill>
                  <a:srgbClr val="FFFF00"/>
                </a:solidFill>
              </a:rPr>
              <a:t>uT2 : tumeur atteignant la musculeuse sans la dépasser (5  couche </a:t>
            </a:r>
            <a:r>
              <a:rPr lang="fr-FR" sz="2400" dirty="0" err="1" smtClean="0">
                <a:solidFill>
                  <a:srgbClr val="FFFF00"/>
                </a:solidFill>
              </a:rPr>
              <a:t>hyperéchogène</a:t>
            </a:r>
            <a:r>
              <a:rPr lang="fr-FR" sz="2400" dirty="0" smtClean="0">
                <a:solidFill>
                  <a:srgbClr val="FFFF00"/>
                </a:solidFill>
              </a:rPr>
              <a:t> intacte)</a:t>
            </a:r>
          </a:p>
          <a:p>
            <a:r>
              <a:rPr lang="fr-FR" sz="2400" dirty="0" smtClean="0">
                <a:solidFill>
                  <a:srgbClr val="FFFF00"/>
                </a:solidFill>
              </a:rPr>
              <a:t>uT3 : tumeur dépassant la séreuse (5  couche </a:t>
            </a:r>
            <a:r>
              <a:rPr lang="fr-FR" sz="2400" dirty="0" err="1" smtClean="0">
                <a:solidFill>
                  <a:srgbClr val="FFFF00"/>
                </a:solidFill>
              </a:rPr>
              <a:t>hyperéchogène</a:t>
            </a:r>
            <a:r>
              <a:rPr lang="fr-FR" sz="2400" dirty="0" smtClean="0">
                <a:solidFill>
                  <a:srgbClr val="FFFF00"/>
                </a:solidFill>
              </a:rPr>
              <a:t> franchie)</a:t>
            </a:r>
          </a:p>
          <a:p>
            <a:r>
              <a:rPr lang="fr-FR" sz="2400" dirty="0" smtClean="0">
                <a:solidFill>
                  <a:srgbClr val="FFFF00"/>
                </a:solidFill>
              </a:rPr>
              <a:t>uT4 : envahissement d'un organe de voisinage</a:t>
            </a:r>
          </a:p>
          <a:p>
            <a:r>
              <a:rPr lang="fr-FR" sz="2400" dirty="0" smtClean="0">
                <a:solidFill>
                  <a:srgbClr val="FFFF00"/>
                </a:solidFill>
              </a:rPr>
              <a:t>uN0 : pas d'adénopathie d'allure néoplasique</a:t>
            </a:r>
          </a:p>
          <a:p>
            <a:r>
              <a:rPr lang="fr-FR" sz="2400" dirty="0" err="1" smtClean="0">
                <a:solidFill>
                  <a:srgbClr val="FFFF00"/>
                </a:solidFill>
              </a:rPr>
              <a:t>uN</a:t>
            </a:r>
            <a:r>
              <a:rPr lang="fr-FR" sz="2400" dirty="0" smtClean="0">
                <a:solidFill>
                  <a:srgbClr val="FFFF00"/>
                </a:solidFill>
              </a:rPr>
              <a:t>+ : adénopathie d'allure néoplasique (ronde, </a:t>
            </a:r>
            <a:r>
              <a:rPr lang="fr-FR" sz="2400" dirty="0" err="1" smtClean="0">
                <a:solidFill>
                  <a:srgbClr val="FFFF00"/>
                </a:solidFill>
              </a:rPr>
              <a:t>hypoéchogène</a:t>
            </a:r>
            <a:r>
              <a:rPr lang="fr-FR" sz="2400" dirty="0" smtClean="0">
                <a:solidFill>
                  <a:srgbClr val="FFFF00"/>
                </a:solidFill>
              </a:rPr>
              <a:t>, contours nets).</a:t>
            </a:r>
            <a:endParaRPr lang="en-US" sz="2400" dirty="0">
              <a:solidFill>
                <a:srgbClr val="FFFF00"/>
              </a:solidFill>
            </a:endParaRPr>
          </a:p>
        </p:txBody>
      </p:sp>
      <p:sp>
        <p:nvSpPr>
          <p:cNvPr id="3" name="Rectangle 2"/>
          <p:cNvSpPr/>
          <p:nvPr/>
        </p:nvSpPr>
        <p:spPr>
          <a:xfrm>
            <a:off x="714348" y="928670"/>
            <a:ext cx="2597186" cy="523220"/>
          </a:xfrm>
          <a:prstGeom prst="rect">
            <a:avLst/>
          </a:prstGeom>
        </p:spPr>
        <p:txBody>
          <a:bodyPr wrap="none">
            <a:spAutoFit/>
          </a:bodyPr>
          <a:lstStyle/>
          <a:p>
            <a:r>
              <a:rPr lang="fr-FR" sz="2800" dirty="0" smtClean="0">
                <a:solidFill>
                  <a:srgbClr val="00B050"/>
                </a:solidFill>
              </a:rPr>
              <a:t>echoendoscopie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9" y="285728"/>
            <a:ext cx="8572560" cy="6001643"/>
          </a:xfrm>
          <a:prstGeom prst="rect">
            <a:avLst/>
          </a:prstGeom>
        </p:spPr>
        <p:txBody>
          <a:bodyPr wrap="square">
            <a:spAutoFit/>
          </a:bodyPr>
          <a:lstStyle/>
          <a:p>
            <a:r>
              <a:rPr lang="fr-FR" sz="3200" dirty="0" smtClean="0">
                <a:solidFill>
                  <a:srgbClr val="FF0000"/>
                </a:solidFill>
              </a:rPr>
              <a:t>La  tomodensitométrie</a:t>
            </a:r>
            <a:r>
              <a:rPr lang="fr-FR" sz="3200" dirty="0" smtClean="0">
                <a:solidFill>
                  <a:srgbClr val="FFFF00"/>
                </a:solidFill>
              </a:rPr>
              <a:t> a pour intérêt de préciser l’</a:t>
            </a:r>
            <a:r>
              <a:rPr lang="fr-FR" sz="3200" dirty="0" smtClean="0">
                <a:solidFill>
                  <a:srgbClr val="FF0000"/>
                </a:solidFill>
              </a:rPr>
              <a:t>extension</a:t>
            </a:r>
            <a:r>
              <a:rPr lang="fr-FR" sz="3200" dirty="0" smtClean="0">
                <a:solidFill>
                  <a:srgbClr val="FFFF00"/>
                </a:solidFill>
              </a:rPr>
              <a:t> locorégionale et </a:t>
            </a:r>
          </a:p>
          <a:p>
            <a:r>
              <a:rPr lang="fr-FR" sz="3200" dirty="0" smtClean="0">
                <a:solidFill>
                  <a:srgbClr val="FFFF00"/>
                </a:solidFill>
              </a:rPr>
              <a:t>ganglionnaire de la tumeur. La </a:t>
            </a:r>
            <a:r>
              <a:rPr lang="fr-FR" sz="3200" dirty="0" smtClean="0">
                <a:solidFill>
                  <a:srgbClr val="FF0000"/>
                </a:solidFill>
              </a:rPr>
              <a:t>tumeur</a:t>
            </a:r>
            <a:r>
              <a:rPr lang="fr-FR" sz="3200" dirty="0" smtClean="0">
                <a:solidFill>
                  <a:srgbClr val="FFFF00"/>
                </a:solidFill>
              </a:rPr>
              <a:t> se présente comme une </a:t>
            </a:r>
            <a:r>
              <a:rPr lang="fr-FR" sz="3200" dirty="0" smtClean="0">
                <a:solidFill>
                  <a:srgbClr val="FF0000"/>
                </a:solidFill>
              </a:rPr>
              <a:t>opacité </a:t>
            </a:r>
            <a:r>
              <a:rPr lang="fr-FR" sz="3200" dirty="0" smtClean="0">
                <a:solidFill>
                  <a:srgbClr val="FFFF00"/>
                </a:solidFill>
              </a:rPr>
              <a:t>de densité tissulaire et </a:t>
            </a:r>
          </a:p>
          <a:p>
            <a:r>
              <a:rPr lang="fr-FR" sz="3200" dirty="0" smtClean="0">
                <a:solidFill>
                  <a:srgbClr val="FFFF00"/>
                </a:solidFill>
              </a:rPr>
              <a:t>un </a:t>
            </a:r>
            <a:r>
              <a:rPr lang="fr-FR" sz="3200" dirty="0" smtClean="0">
                <a:solidFill>
                  <a:srgbClr val="FF0000"/>
                </a:solidFill>
              </a:rPr>
              <a:t>épaississement </a:t>
            </a:r>
            <a:r>
              <a:rPr lang="fr-FR" sz="3200" dirty="0" smtClean="0">
                <a:solidFill>
                  <a:srgbClr val="FFFF00"/>
                </a:solidFill>
              </a:rPr>
              <a:t>pariétal qui est asymétrique dans 65% des cas. La lumière </a:t>
            </a:r>
            <a:r>
              <a:rPr lang="fr-FR" sz="3200" dirty="0" err="1" smtClean="0">
                <a:solidFill>
                  <a:srgbClr val="FFFF00"/>
                </a:solidFill>
              </a:rPr>
              <a:t>oesophagienne</a:t>
            </a:r>
            <a:r>
              <a:rPr lang="fr-FR" sz="3200" dirty="0" smtClean="0">
                <a:solidFill>
                  <a:srgbClr val="FFFF00"/>
                </a:solidFill>
              </a:rPr>
              <a:t> a </a:t>
            </a:r>
          </a:p>
          <a:p>
            <a:r>
              <a:rPr lang="fr-FR" sz="3200" dirty="0" smtClean="0">
                <a:solidFill>
                  <a:srgbClr val="FFFF00"/>
                </a:solidFill>
              </a:rPr>
              <a:t>parfois complètement disparu.  La tomodensitométrie a une </a:t>
            </a:r>
            <a:r>
              <a:rPr lang="fr-FR" sz="3200" dirty="0" smtClean="0">
                <a:solidFill>
                  <a:srgbClr val="FF0000"/>
                </a:solidFill>
              </a:rPr>
              <a:t>sensibilité</a:t>
            </a:r>
            <a:r>
              <a:rPr lang="fr-FR" sz="3200" dirty="0" smtClean="0">
                <a:solidFill>
                  <a:srgbClr val="FFFF00"/>
                </a:solidFill>
              </a:rPr>
              <a:t> de </a:t>
            </a:r>
            <a:r>
              <a:rPr lang="fr-FR" sz="3200" dirty="0" smtClean="0">
                <a:solidFill>
                  <a:srgbClr val="FF0000"/>
                </a:solidFill>
              </a:rPr>
              <a:t>88 à 100% </a:t>
            </a:r>
            <a:r>
              <a:rPr lang="fr-FR" sz="3200" dirty="0" smtClean="0">
                <a:solidFill>
                  <a:srgbClr val="FFFF00"/>
                </a:solidFill>
              </a:rPr>
              <a:t>dans le </a:t>
            </a:r>
          </a:p>
          <a:p>
            <a:r>
              <a:rPr lang="fr-FR" sz="3200" dirty="0" smtClean="0">
                <a:solidFill>
                  <a:srgbClr val="FFFF00"/>
                </a:solidFill>
              </a:rPr>
              <a:t>diagnostic de </a:t>
            </a:r>
            <a:r>
              <a:rPr lang="fr-FR" sz="3200" dirty="0" smtClean="0">
                <a:solidFill>
                  <a:srgbClr val="FF0000"/>
                </a:solidFill>
              </a:rPr>
              <a:t>l’envahissement aortique, trachéal ou péricardique. </a:t>
            </a:r>
            <a:endParaRPr lang="en-US" sz="3200"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 y="1728788"/>
            <a:ext cx="8501091" cy="3400425"/>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3" y="1997840"/>
            <a:ext cx="8429684" cy="4524315"/>
          </a:xfrm>
          <a:prstGeom prst="rect">
            <a:avLst/>
          </a:prstGeom>
        </p:spPr>
        <p:txBody>
          <a:bodyPr wrap="square">
            <a:spAutoFit/>
          </a:bodyPr>
          <a:lstStyle/>
          <a:p>
            <a:r>
              <a:rPr lang="fr-FR" sz="3200" dirty="0" smtClean="0">
                <a:solidFill>
                  <a:srgbClr val="FFFF00"/>
                </a:solidFill>
              </a:rPr>
              <a:t>IV - </a:t>
            </a:r>
            <a:r>
              <a:rPr lang="fr-FR" sz="3200" dirty="0" smtClean="0">
                <a:solidFill>
                  <a:srgbClr val="FF0000"/>
                </a:solidFill>
              </a:rPr>
              <a:t>DIAGNOSTIC DIFFÉRENTIEL </a:t>
            </a:r>
          </a:p>
          <a:p>
            <a:r>
              <a:rPr lang="fr-FR" sz="3200" dirty="0" smtClean="0">
                <a:solidFill>
                  <a:srgbClr val="FFFF00"/>
                </a:solidFill>
              </a:rPr>
              <a:t>   La dysphagie n’est pas synonyme de cancer, elle peut être due à d’autres causes, mais </a:t>
            </a:r>
          </a:p>
          <a:p>
            <a:r>
              <a:rPr lang="fr-FR" sz="3200" dirty="0" smtClean="0">
                <a:solidFill>
                  <a:srgbClr val="FFFF00"/>
                </a:solidFill>
              </a:rPr>
              <a:t>elle doit dans tous les cas aboutir à une fibroscopie.  </a:t>
            </a:r>
          </a:p>
          <a:p>
            <a:r>
              <a:rPr lang="fr-FR" sz="3200" dirty="0" smtClean="0">
                <a:solidFill>
                  <a:srgbClr val="FF0000"/>
                </a:solidFill>
              </a:rPr>
              <a:t>   La sténose peptique </a:t>
            </a:r>
            <a:r>
              <a:rPr lang="fr-FR" sz="3200" dirty="0" smtClean="0">
                <a:solidFill>
                  <a:srgbClr val="FFFF00"/>
                </a:solidFill>
              </a:rPr>
              <a:t>provoque une dysphagie progressive, d’abord intermittente, puis </a:t>
            </a:r>
          </a:p>
          <a:p>
            <a:r>
              <a:rPr lang="fr-FR" sz="3200" dirty="0" smtClean="0">
                <a:solidFill>
                  <a:srgbClr val="FFFF00"/>
                </a:solidFill>
              </a:rPr>
              <a:t>permanente en l’absence de traitement. Elle est  d’évolution lente</a:t>
            </a:r>
            <a:endParaRPr lang="en-US" sz="3200" dirty="0">
              <a:solidFill>
                <a:srgbClr val="FFFF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9" y="500046"/>
            <a:ext cx="8572560" cy="1200329"/>
          </a:xfrm>
          <a:prstGeom prst="rect">
            <a:avLst/>
          </a:prstGeom>
        </p:spPr>
        <p:txBody>
          <a:bodyPr wrap="square">
            <a:spAutoFit/>
          </a:bodyPr>
          <a:lstStyle/>
          <a:p>
            <a:r>
              <a:rPr lang="fr-FR" sz="3600" dirty="0" smtClean="0">
                <a:solidFill>
                  <a:srgbClr val="FF0000"/>
                </a:solidFill>
              </a:rPr>
              <a:t>l’œsophagite caustique  </a:t>
            </a:r>
            <a:r>
              <a:rPr lang="fr-FR" sz="3600" dirty="0" smtClean="0">
                <a:solidFill>
                  <a:srgbClr val="FFFF00"/>
                </a:solidFill>
              </a:rPr>
              <a:t>à la phase chronique. </a:t>
            </a:r>
            <a:endParaRPr lang="en-US" sz="3600" dirty="0">
              <a:solidFill>
                <a:srgbClr val="FFFF00"/>
              </a:solidFill>
            </a:endParaRPr>
          </a:p>
        </p:txBody>
      </p:sp>
      <p:sp>
        <p:nvSpPr>
          <p:cNvPr id="3" name="Rectangle 2"/>
          <p:cNvSpPr/>
          <p:nvPr/>
        </p:nvSpPr>
        <p:spPr>
          <a:xfrm>
            <a:off x="428597" y="1785926"/>
            <a:ext cx="8215371" cy="2308324"/>
          </a:xfrm>
          <a:prstGeom prst="rect">
            <a:avLst/>
          </a:prstGeom>
        </p:spPr>
        <p:txBody>
          <a:bodyPr wrap="square">
            <a:spAutoFit/>
          </a:bodyPr>
          <a:lstStyle/>
          <a:p>
            <a:r>
              <a:rPr lang="fr-FR" sz="3600" dirty="0" smtClean="0">
                <a:solidFill>
                  <a:srgbClr val="FFFF00"/>
                </a:solidFill>
              </a:rPr>
              <a:t>l</a:t>
            </a:r>
            <a:r>
              <a:rPr lang="fr-FR" sz="3600" dirty="0" smtClean="0">
                <a:solidFill>
                  <a:srgbClr val="FF0000"/>
                </a:solidFill>
              </a:rPr>
              <a:t>’achalasie</a:t>
            </a:r>
            <a:r>
              <a:rPr lang="fr-FR" sz="3600" dirty="0" smtClean="0">
                <a:solidFill>
                  <a:srgbClr val="FFFF00"/>
                </a:solidFill>
              </a:rPr>
              <a:t>, entraîne une dysphagie capricieuse,  souvent paradoxale, plus importante </a:t>
            </a:r>
          </a:p>
          <a:p>
            <a:r>
              <a:rPr lang="fr-FR" sz="3600" dirty="0" smtClean="0">
                <a:solidFill>
                  <a:srgbClr val="FFFF00"/>
                </a:solidFill>
              </a:rPr>
              <a:t>pour les liquides que pour les solides</a:t>
            </a:r>
            <a:endParaRPr lang="en-US" sz="3600" dirty="0">
              <a:solidFill>
                <a:srgbClr val="FFFF00"/>
              </a:solidFill>
            </a:endParaRPr>
          </a:p>
        </p:txBody>
      </p:sp>
      <p:sp>
        <p:nvSpPr>
          <p:cNvPr id="4" name="Rectangle 3"/>
          <p:cNvSpPr/>
          <p:nvPr/>
        </p:nvSpPr>
        <p:spPr>
          <a:xfrm>
            <a:off x="500038" y="4143384"/>
            <a:ext cx="8643967" cy="1384995"/>
          </a:xfrm>
          <a:prstGeom prst="rect">
            <a:avLst/>
          </a:prstGeom>
        </p:spPr>
        <p:txBody>
          <a:bodyPr wrap="square">
            <a:spAutoFit/>
          </a:bodyPr>
          <a:lstStyle/>
          <a:p>
            <a:r>
              <a:rPr lang="fr-FR" sz="2800" dirty="0" smtClean="0">
                <a:solidFill>
                  <a:srgbClr val="FF0000"/>
                </a:solidFill>
              </a:rPr>
              <a:t>le syndrome des spasmes étagés de l’</a:t>
            </a:r>
            <a:r>
              <a:rPr lang="fr-FR" sz="2800" dirty="0" err="1" smtClean="0">
                <a:solidFill>
                  <a:srgbClr val="FF0000"/>
                </a:solidFill>
              </a:rPr>
              <a:t>oesophage</a:t>
            </a:r>
            <a:r>
              <a:rPr lang="fr-FR" sz="2800" dirty="0" smtClean="0">
                <a:solidFill>
                  <a:srgbClr val="FFFF00"/>
                </a:solidFill>
              </a:rPr>
              <a:t>, provoque une dysphagie </a:t>
            </a:r>
          </a:p>
          <a:p>
            <a:r>
              <a:rPr lang="fr-FR" sz="2800" dirty="0" smtClean="0">
                <a:solidFill>
                  <a:srgbClr val="FFFF00"/>
                </a:solidFill>
              </a:rPr>
              <a:t>douloureuse aux solides et aux liquides</a:t>
            </a:r>
            <a:endParaRPr lang="en-US" sz="2800" dirty="0">
              <a:solidFill>
                <a:srgbClr val="FFFF00"/>
              </a:solidFill>
            </a:endParaRPr>
          </a:p>
        </p:txBody>
      </p:sp>
      <p:sp>
        <p:nvSpPr>
          <p:cNvPr id="5" name="Rectangle 4"/>
          <p:cNvSpPr/>
          <p:nvPr/>
        </p:nvSpPr>
        <p:spPr>
          <a:xfrm>
            <a:off x="571475" y="5643580"/>
            <a:ext cx="8429684" cy="523220"/>
          </a:xfrm>
          <a:prstGeom prst="rect">
            <a:avLst/>
          </a:prstGeom>
        </p:spPr>
        <p:txBody>
          <a:bodyPr wrap="square">
            <a:spAutoFit/>
          </a:bodyPr>
          <a:lstStyle/>
          <a:p>
            <a:r>
              <a:rPr lang="fr-FR" sz="2800" dirty="0" smtClean="0">
                <a:solidFill>
                  <a:srgbClr val="FF0000"/>
                </a:solidFill>
              </a:rPr>
              <a:t>le diverticule </a:t>
            </a:r>
            <a:r>
              <a:rPr lang="fr-FR" sz="2800" dirty="0" err="1" smtClean="0">
                <a:solidFill>
                  <a:srgbClr val="FF0000"/>
                </a:solidFill>
              </a:rPr>
              <a:t>pharyngo</a:t>
            </a:r>
            <a:r>
              <a:rPr lang="fr-FR" sz="2800" dirty="0" smtClean="0">
                <a:solidFill>
                  <a:srgbClr val="FF0000"/>
                </a:solidFill>
              </a:rPr>
              <a:t>-</a:t>
            </a:r>
            <a:r>
              <a:rPr lang="fr-FR" sz="2800" dirty="0" err="1" smtClean="0">
                <a:solidFill>
                  <a:srgbClr val="FF0000"/>
                </a:solidFill>
              </a:rPr>
              <a:t>oesophagien</a:t>
            </a:r>
            <a:r>
              <a:rPr lang="fr-FR" sz="2800" dirty="0" smtClean="0">
                <a:solidFill>
                  <a:srgbClr val="FF0000"/>
                </a:solidFill>
              </a:rPr>
              <a:t> de Zenker</a:t>
            </a:r>
            <a:r>
              <a:rPr lang="fr-FR" sz="2800" dirty="0" smtClean="0">
                <a:solidFill>
                  <a:srgbClr val="FFFF00"/>
                </a:solidFill>
              </a:rPr>
              <a:t>. </a:t>
            </a:r>
            <a:endParaRPr lang="en-US" sz="2800" dirty="0">
              <a:solidFill>
                <a:srgbClr val="FFFF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0298" y="2714620"/>
            <a:ext cx="4000559" cy="1200329"/>
          </a:xfrm>
          <a:prstGeom prst="rect">
            <a:avLst/>
          </a:prstGeom>
        </p:spPr>
        <p:txBody>
          <a:bodyPr wrap="square">
            <a:spAutoFit/>
          </a:bodyPr>
          <a:lstStyle/>
          <a:p>
            <a:r>
              <a:rPr lang="fr-FR" sz="7200" dirty="0" smtClean="0">
                <a:solidFill>
                  <a:srgbClr val="00B050"/>
                </a:solidFill>
              </a:rPr>
              <a:t>évolution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6" y="335846"/>
            <a:ext cx="8643999" cy="5016758"/>
          </a:xfrm>
          <a:prstGeom prst="rect">
            <a:avLst/>
          </a:prstGeom>
        </p:spPr>
        <p:txBody>
          <a:bodyPr wrap="square">
            <a:spAutoFit/>
          </a:bodyPr>
          <a:lstStyle/>
          <a:p>
            <a:r>
              <a:rPr lang="fr-FR" sz="2000" dirty="0" smtClean="0"/>
              <a:t> L’extension extra œsophagienne est favorisée par l’absence de séreuse.  La tumeur </a:t>
            </a:r>
          </a:p>
          <a:p>
            <a:r>
              <a:rPr lang="fr-FR" sz="2000" dirty="0" smtClean="0"/>
              <a:t>infiltre le  tissu cellulaire péri œsophagien, puis les viscères voisins, en fonction de son  siège </a:t>
            </a:r>
          </a:p>
          <a:p>
            <a:r>
              <a:rPr lang="fr-FR" sz="2000" dirty="0" smtClean="0"/>
              <a:t>: nerfs récurrents, trachée pour les cancers cervicaux; plèvre, bronche gauche,  péricarde, </a:t>
            </a:r>
          </a:p>
          <a:p>
            <a:r>
              <a:rPr lang="fr-FR" sz="2000" dirty="0" smtClean="0"/>
              <a:t>aorte pour les cancers médiastinaux; diaphragme, pour les cancers du tiers inférieur. Ces derniers peuvent aussi s’étendre vers le cardia et l’estomac </a:t>
            </a:r>
          </a:p>
          <a:p>
            <a:r>
              <a:rPr lang="fr-FR" sz="2000" dirty="0" smtClean="0"/>
              <a:t>  L’extension lymphatique est précoce. Elle intéresse les ganglions médiastinaux, mais </a:t>
            </a:r>
          </a:p>
          <a:p>
            <a:r>
              <a:rPr lang="fr-FR" sz="2000" dirty="0" smtClean="0"/>
              <a:t>aussi sus-claviculaires, cervicaux et cœliaques. Il n’y a pas de corrélation stricte entre </a:t>
            </a:r>
          </a:p>
          <a:p>
            <a:r>
              <a:rPr lang="fr-FR" sz="2000" dirty="0" smtClean="0"/>
              <a:t>l’envahissement ganglionnaire et le degré de pénétration transpariétale de la tumeur. Les cancers limités à la muqueuse et à la sous-muqueuse s’accompagnent de métastases ganglionnaires dans 10 à 45 % des cas, alors que 25 à 30 % des tumeurs plus volumineuses n’en présentent pas. </a:t>
            </a: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4" y="714362"/>
            <a:ext cx="8143932" cy="5262979"/>
          </a:xfrm>
          <a:prstGeom prst="rect">
            <a:avLst/>
          </a:prstGeom>
        </p:spPr>
        <p:txBody>
          <a:bodyPr wrap="square">
            <a:spAutoFit/>
          </a:bodyPr>
          <a:lstStyle/>
          <a:p>
            <a:r>
              <a:rPr lang="fr-FR" sz="4800" dirty="0" smtClean="0"/>
              <a:t> </a:t>
            </a:r>
            <a:r>
              <a:rPr lang="fr-FR" sz="4800" dirty="0" smtClean="0">
                <a:solidFill>
                  <a:srgbClr val="FFFF00"/>
                </a:solidFill>
              </a:rPr>
              <a:t>-  Les métastases viscérales   sont surtout  hépatiques  (20 % sont présentes lors du diagnostic), mais aussi pulmonaires,  osseuses et cérébrales.  </a:t>
            </a:r>
          </a:p>
          <a:p>
            <a:r>
              <a:rPr lang="fr-FR" sz="4800" dirty="0" smtClean="0">
                <a:solidFill>
                  <a:srgbClr val="FFFF00"/>
                </a:solidFill>
              </a:rPr>
              <a:t> </a:t>
            </a:r>
            <a:endParaRPr lang="en-US" sz="4800" dirty="0">
              <a:solidFill>
                <a:srgbClr val="FFFF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5" y="642918"/>
            <a:ext cx="8643999" cy="3046988"/>
          </a:xfrm>
          <a:prstGeom prst="rect">
            <a:avLst/>
          </a:prstGeom>
        </p:spPr>
        <p:txBody>
          <a:bodyPr wrap="square">
            <a:spAutoFit/>
          </a:bodyPr>
          <a:lstStyle/>
          <a:p>
            <a:r>
              <a:rPr lang="fr-FR" sz="3200" dirty="0" smtClean="0">
                <a:solidFill>
                  <a:srgbClr val="FFFF00"/>
                </a:solidFill>
              </a:rPr>
              <a:t>2 – l’adénocarcinome:   4 à 5% des cancers œsophagiens </a:t>
            </a:r>
          </a:p>
          <a:p>
            <a:r>
              <a:rPr lang="fr-FR" sz="3200" dirty="0" smtClean="0">
                <a:solidFill>
                  <a:srgbClr val="FFFF00"/>
                </a:solidFill>
              </a:rPr>
              <a:t> 80%  siègent  au niveau du tiers inférieur de l’œsophage. Les formes bourgeonnantes </a:t>
            </a:r>
          </a:p>
          <a:p>
            <a:r>
              <a:rPr lang="fr-FR" sz="3200" dirty="0" smtClean="0">
                <a:solidFill>
                  <a:srgbClr val="FFFF00"/>
                </a:solidFill>
              </a:rPr>
              <a:t>et/ou ulcérées sont deux fois  plus fréquentes que les formes infiltrantes </a:t>
            </a:r>
            <a:endParaRPr lang="en-US" sz="3200" dirty="0">
              <a:solidFill>
                <a:srgbClr val="FFFF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7" y="285728"/>
            <a:ext cx="8786843" cy="4801314"/>
          </a:xfrm>
          <a:prstGeom prst="rect">
            <a:avLst/>
          </a:prstGeom>
        </p:spPr>
        <p:txBody>
          <a:bodyPr wrap="square">
            <a:spAutoFit/>
          </a:bodyPr>
          <a:lstStyle/>
          <a:p>
            <a:r>
              <a:rPr lang="fr-FR" dirty="0" smtClean="0"/>
              <a:t> </a:t>
            </a:r>
          </a:p>
          <a:p>
            <a:r>
              <a:rPr lang="fr-FR" sz="3200" dirty="0" smtClean="0">
                <a:solidFill>
                  <a:srgbClr val="FFFF00"/>
                </a:solidFill>
              </a:rPr>
              <a:t>  </a:t>
            </a:r>
            <a:r>
              <a:rPr lang="fr-FR" sz="3200" dirty="0" smtClean="0"/>
              <a:t>3- Autres cancers</a:t>
            </a:r>
          </a:p>
          <a:p>
            <a:r>
              <a:rPr lang="fr-FR" sz="3200" dirty="0" smtClean="0">
                <a:solidFill>
                  <a:srgbClr val="FFFF00"/>
                </a:solidFill>
              </a:rPr>
              <a:t> Des formes histologiques rares ont été décrites.  Il s’agit d’</a:t>
            </a:r>
            <a:r>
              <a:rPr lang="fr-FR" sz="3200" dirty="0" err="1" smtClean="0">
                <a:solidFill>
                  <a:srgbClr val="FFFF00"/>
                </a:solidFill>
              </a:rPr>
              <a:t>adénoacanthomes</a:t>
            </a:r>
            <a:r>
              <a:rPr lang="fr-FR" sz="3200" dirty="0" smtClean="0">
                <a:solidFill>
                  <a:srgbClr val="FFFF00"/>
                </a:solidFill>
              </a:rPr>
              <a:t> (tumeurs </a:t>
            </a:r>
          </a:p>
          <a:p>
            <a:r>
              <a:rPr lang="fr-FR" sz="3200" dirty="0" smtClean="0">
                <a:solidFill>
                  <a:srgbClr val="FFFF00"/>
                </a:solidFill>
              </a:rPr>
              <a:t>mixtes épithéliales et glandulaires), de cancers indifférenciés, de </a:t>
            </a:r>
            <a:r>
              <a:rPr lang="fr-FR" sz="3200" dirty="0" err="1" smtClean="0">
                <a:solidFill>
                  <a:srgbClr val="FFFF00"/>
                </a:solidFill>
              </a:rPr>
              <a:t>léiomyosarcomes</a:t>
            </a:r>
            <a:r>
              <a:rPr lang="fr-FR" sz="3200" dirty="0" smtClean="0">
                <a:solidFill>
                  <a:srgbClr val="FFFF00"/>
                </a:solidFill>
              </a:rPr>
              <a:t>,  </a:t>
            </a:r>
          </a:p>
          <a:p>
            <a:r>
              <a:rPr lang="fr-FR" sz="3200" dirty="0" smtClean="0">
                <a:solidFill>
                  <a:srgbClr val="FFFF00"/>
                </a:solidFill>
              </a:rPr>
              <a:t> et de localisations œsophagiennes de maladies hématologiques    </a:t>
            </a:r>
          </a:p>
          <a:p>
            <a:r>
              <a:rPr lang="fr-FR" sz="3200" dirty="0" smtClean="0">
                <a:solidFill>
                  <a:srgbClr val="FFFF00"/>
                </a:solidFill>
              </a:rPr>
              <a:t> </a:t>
            </a:r>
          </a:p>
          <a:p>
            <a:r>
              <a:rPr lang="fr-FR" sz="3200" dirty="0" smtClean="0">
                <a:solidFill>
                  <a:srgbClr val="FFFF00"/>
                </a:solidFill>
              </a:rPr>
              <a:t> </a:t>
            </a:r>
            <a:endParaRPr lang="en-US" sz="3200" dirty="0">
              <a:solidFill>
                <a:srgbClr val="FFFF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ChangeArrowheads="1"/>
          </p:cNvSpPr>
          <p:nvPr/>
        </p:nvSpPr>
        <p:spPr bwMode="auto">
          <a:xfrm>
            <a:off x="285720" y="571482"/>
            <a:ext cx="8572560" cy="569386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 defTabSz="914400" rtl="0" eaLnBrk="1" fontAlgn="base" latinLnBrk="0" hangingPunct="1">
              <a:lnSpc>
                <a:spcPct val="100000"/>
              </a:lnSpc>
              <a:spcBef>
                <a:spcPct val="0"/>
              </a:spcBef>
              <a:spcAft>
                <a:spcPct val="0"/>
              </a:spcAft>
              <a:buClrTx/>
              <a:buSzTx/>
              <a:buFontTx/>
              <a:buAutoNum type="arabicPeriod"/>
              <a:tabLst>
                <a:tab pos="457200" algn="l"/>
              </a:tabLst>
            </a:pPr>
            <a:r>
              <a:rPr kumimoji="0" lang="fr-FR" sz="2800" b="1"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Explorations pré thérapeutiques </a:t>
            </a:r>
            <a:endParaRPr kumimoji="0" lang="en-US" sz="2800" b="0" i="0" u="none" strike="noStrike" cap="none" normalizeH="0" baseline="0" dirty="0" smtClean="0">
              <a:ln>
                <a:noFill/>
              </a:ln>
              <a:solidFill>
                <a:srgbClr val="FFFF00"/>
              </a:solidFill>
              <a:effectLst/>
              <a:latin typeface="Arial" pitchFamily="34" charset="0"/>
              <a:cs typeface="Arial" pitchFamily="34" charset="0"/>
            </a:endParaRPr>
          </a:p>
          <a:p>
            <a:pPr marL="914400" marR="0" lvl="2" indent="0" algn="just" defTabSz="914400" rtl="0" eaLnBrk="0" fontAlgn="base" latinLnBrk="0" hangingPunct="0">
              <a:lnSpc>
                <a:spcPct val="100000"/>
              </a:lnSpc>
              <a:spcBef>
                <a:spcPct val="0"/>
              </a:spcBef>
              <a:spcAft>
                <a:spcPct val="0"/>
              </a:spcAft>
              <a:buClrTx/>
              <a:buSzPct val="100000"/>
              <a:buFontTx/>
              <a:buAutoNum type="arabicPeriod"/>
              <a:tabLst>
                <a:tab pos="457200" algn="l"/>
              </a:tabLst>
            </a:pPr>
            <a:r>
              <a:rPr kumimoji="0" lang="fr-FR" sz="2800" b="1"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Diagnostic</a:t>
            </a:r>
            <a:endParaRPr kumimoji="0" lang="en-US" sz="28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sz="28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Endoscopie oeso-gastrique avec biopsies, (à répéter si négatives initialement) et mesure des distances par rapport aux arcades dentaires. L’opérateur doit préciser le pourcentage de circonférence atteinte et, si la lésion est franchissable, décrire la longueur de la lésion, sa position par rapport au cardia, l’existence ou non d’un endobrachyoesophage et sa limite supérieure.</a:t>
            </a:r>
            <a:endParaRPr kumimoji="0" lang="en-US" sz="28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sz="28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Une coloration vitale (lugol, bleu de Toluidine) est recommandée pour mieux apprécier les limites tumorales ou pour rechercher une deuxième localisation oesophagienne.</a:t>
            </a:r>
            <a:endParaRPr kumimoji="0" lang="en-US" sz="2800" b="0" i="0" u="none" strike="noStrike" cap="none" normalizeH="0" baseline="0" dirty="0" smtClean="0">
              <a:ln>
                <a:noFill/>
              </a:ln>
              <a:solidFill>
                <a:srgbClr val="FFFF00"/>
              </a:solidFill>
              <a:effectLst/>
              <a:latin typeface="Arial" pitchFamily="34" charset="0"/>
              <a:cs typeface="Arial"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9" y="1142984"/>
            <a:ext cx="8572560" cy="4524315"/>
          </a:xfrm>
          <a:prstGeom prst="rect">
            <a:avLst/>
          </a:prstGeom>
        </p:spPr>
        <p:txBody>
          <a:bodyPr wrap="square">
            <a:spAutoFit/>
          </a:bodyPr>
          <a:lstStyle/>
          <a:p>
            <a:r>
              <a:rPr lang="fr-FR" sz="3200" dirty="0" smtClean="0">
                <a:solidFill>
                  <a:srgbClr val="FFC000"/>
                </a:solidFill>
              </a:rPr>
              <a:t>La  fibroscopie  oeso gastrique peut nous renseigner sur le </a:t>
            </a:r>
            <a:r>
              <a:rPr lang="fr-FR" sz="3200" dirty="0" err="1" smtClean="0">
                <a:solidFill>
                  <a:srgbClr val="FFC000"/>
                </a:solidFill>
              </a:rPr>
              <a:t>siege</a:t>
            </a:r>
            <a:r>
              <a:rPr lang="fr-FR" sz="3200" dirty="0" smtClean="0">
                <a:solidFill>
                  <a:srgbClr val="FFC000"/>
                </a:solidFill>
              </a:rPr>
              <a:t> de la tumeur par rapport  aux arcades dentaires</a:t>
            </a:r>
          </a:p>
          <a:p>
            <a:r>
              <a:rPr lang="fr-FR" sz="3200" dirty="0" smtClean="0">
                <a:solidFill>
                  <a:srgbClr val="FFC000"/>
                </a:solidFill>
              </a:rPr>
              <a:t>L </a:t>
            </a:r>
            <a:r>
              <a:rPr lang="fr-FR" sz="3200" dirty="0" err="1" smtClean="0">
                <a:solidFill>
                  <a:srgbClr val="FFC000"/>
                </a:solidFill>
              </a:rPr>
              <a:t>etendue</a:t>
            </a:r>
            <a:r>
              <a:rPr lang="fr-FR" sz="3200" dirty="0" smtClean="0">
                <a:solidFill>
                  <a:srgbClr val="FFC000"/>
                </a:solidFill>
              </a:rPr>
              <a:t> de la tumeur au cas ou elle est pas </a:t>
            </a:r>
            <a:r>
              <a:rPr lang="fr-FR" sz="3200" dirty="0" err="1" smtClean="0">
                <a:solidFill>
                  <a:srgbClr val="FFC000"/>
                </a:solidFill>
              </a:rPr>
              <a:t>stenosante</a:t>
            </a:r>
            <a:endParaRPr lang="fr-FR" sz="3200" dirty="0" smtClean="0">
              <a:solidFill>
                <a:srgbClr val="FFC000"/>
              </a:solidFill>
            </a:endParaRPr>
          </a:p>
          <a:p>
            <a:r>
              <a:rPr lang="fr-FR" sz="3200" dirty="0" smtClean="0">
                <a:solidFill>
                  <a:srgbClr val="FFC000"/>
                </a:solidFill>
              </a:rPr>
              <a:t>Le centre de la </a:t>
            </a:r>
            <a:r>
              <a:rPr lang="fr-FR" sz="3200" dirty="0" err="1" smtClean="0">
                <a:solidFill>
                  <a:srgbClr val="FFC000"/>
                </a:solidFill>
              </a:rPr>
              <a:t>tm</a:t>
            </a:r>
            <a:endParaRPr lang="fr-FR" sz="3200" dirty="0" smtClean="0">
              <a:solidFill>
                <a:srgbClr val="FFC000"/>
              </a:solidFill>
            </a:endParaRPr>
          </a:p>
          <a:p>
            <a:r>
              <a:rPr lang="fr-FR" sz="3200" dirty="0" smtClean="0">
                <a:solidFill>
                  <a:srgbClr val="FFC000"/>
                </a:solidFill>
              </a:rPr>
              <a:t>La taille de la tumeur et de son aspect </a:t>
            </a:r>
            <a:r>
              <a:rPr lang="fr-FR" sz="3200" dirty="0" err="1" smtClean="0">
                <a:solidFill>
                  <a:srgbClr val="FFC000"/>
                </a:solidFill>
              </a:rPr>
              <a:t>stenosant</a:t>
            </a:r>
            <a:r>
              <a:rPr lang="fr-FR" sz="3200" dirty="0" smtClean="0">
                <a:solidFill>
                  <a:srgbClr val="FFC000"/>
                </a:solidFill>
              </a:rPr>
              <a:t> bourgeonnant ou </a:t>
            </a:r>
            <a:r>
              <a:rPr lang="fr-FR" sz="3200" dirty="0" err="1" smtClean="0">
                <a:solidFill>
                  <a:srgbClr val="FFC000"/>
                </a:solidFill>
              </a:rPr>
              <a:t>ulceree</a:t>
            </a:r>
            <a:r>
              <a:rPr lang="fr-FR" sz="3200" dirty="0" smtClean="0">
                <a:solidFill>
                  <a:srgbClr val="FFC000"/>
                </a:solidFill>
              </a:rPr>
              <a:t> permet de  </a:t>
            </a:r>
            <a:r>
              <a:rPr lang="fr-FR" sz="3200" dirty="0" err="1" smtClean="0">
                <a:solidFill>
                  <a:srgbClr val="FFC000"/>
                </a:solidFill>
              </a:rPr>
              <a:t>stadifier</a:t>
            </a:r>
            <a:r>
              <a:rPr lang="fr-FR" sz="3200" dirty="0" smtClean="0">
                <a:solidFill>
                  <a:srgbClr val="FFC000"/>
                </a:solidFill>
              </a:rPr>
              <a:t> selon siewert  le type de la tumeur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0166" y="2071678"/>
            <a:ext cx="7000924" cy="2554545"/>
          </a:xfrm>
          <a:prstGeom prst="rect">
            <a:avLst/>
          </a:prstGeom>
        </p:spPr>
        <p:txBody>
          <a:bodyPr wrap="square">
            <a:spAutoFit/>
          </a:bodyPr>
          <a:lstStyle/>
          <a:p>
            <a:r>
              <a:rPr lang="fr-FR" sz="8000" dirty="0" smtClean="0">
                <a:solidFill>
                  <a:srgbClr val="00B050"/>
                </a:solidFill>
              </a:rPr>
              <a:t>Classification de siewert</a:t>
            </a:r>
            <a:endParaRPr lang="fr-FR" sz="8000" dirty="0" smtClean="0">
              <a:solidFill>
                <a:srgbClr val="00B05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285728"/>
            <a:ext cx="8143932" cy="4216539"/>
          </a:xfrm>
          <a:prstGeom prst="rect">
            <a:avLst/>
          </a:prstGeom>
        </p:spPr>
        <p:txBody>
          <a:bodyPr wrap="square">
            <a:spAutoFit/>
          </a:bodyPr>
          <a:lstStyle/>
          <a:p>
            <a:r>
              <a:rPr lang="fr-FR" sz="2800" dirty="0" smtClean="0">
                <a:solidFill>
                  <a:srgbClr val="FFFF00"/>
                </a:solidFill>
              </a:rPr>
              <a:t>Classification des cancers du cardia selon</a:t>
            </a:r>
            <a:r>
              <a:rPr lang="fr-FR" sz="4400" dirty="0" smtClean="0">
                <a:solidFill>
                  <a:srgbClr val="FFFF00"/>
                </a:solidFill>
              </a:rPr>
              <a:t> </a:t>
            </a:r>
            <a:r>
              <a:rPr lang="fr-FR" sz="4400" dirty="0" smtClean="0">
                <a:solidFill>
                  <a:srgbClr val="FF0000"/>
                </a:solidFill>
              </a:rPr>
              <a:t>Siewert</a:t>
            </a:r>
            <a:endParaRPr lang="fr-FR" sz="2800" dirty="0" smtClean="0">
              <a:solidFill>
                <a:srgbClr val="FF0000"/>
              </a:solidFill>
            </a:endParaRPr>
          </a:p>
          <a:p>
            <a:r>
              <a:rPr lang="fr-FR" sz="2800" dirty="0" smtClean="0">
                <a:solidFill>
                  <a:srgbClr val="FFFF00"/>
                </a:solidFill>
              </a:rPr>
              <a:t>Le </a:t>
            </a:r>
            <a:r>
              <a:rPr lang="fr-FR" sz="2800" dirty="0" smtClean="0">
                <a:solidFill>
                  <a:srgbClr val="FFFF00"/>
                </a:solidFill>
              </a:rPr>
              <a:t>type est défini en fonction de la distance entre le centre de la tumeur et la ligne z</a:t>
            </a:r>
          </a:p>
          <a:p>
            <a:r>
              <a:rPr lang="fr-FR" sz="2800" dirty="0" smtClean="0">
                <a:solidFill>
                  <a:srgbClr val="FFFF00"/>
                </a:solidFill>
              </a:rPr>
              <a:t>- 5 à - 1 cm : Siewert I (adénocarcinome sur </a:t>
            </a:r>
            <a:r>
              <a:rPr lang="fr-FR" sz="2800" dirty="0" err="1" smtClean="0">
                <a:solidFill>
                  <a:srgbClr val="FFFF00"/>
                </a:solidFill>
              </a:rPr>
              <a:t>endobrachyœsophage</a:t>
            </a:r>
            <a:r>
              <a:rPr lang="fr-FR" sz="2800" dirty="0" smtClean="0">
                <a:solidFill>
                  <a:srgbClr val="FFFF00"/>
                </a:solidFill>
              </a:rPr>
              <a:t>)</a:t>
            </a:r>
          </a:p>
          <a:p>
            <a:r>
              <a:rPr lang="fr-FR" sz="2800" dirty="0" smtClean="0">
                <a:solidFill>
                  <a:srgbClr val="FFFF00"/>
                </a:solidFill>
              </a:rPr>
              <a:t>- 1 à + 2 cm : Siewert II (vrai adénocarcinome du cardia)</a:t>
            </a:r>
          </a:p>
          <a:p>
            <a:r>
              <a:rPr lang="fr-FR" sz="2800" dirty="0" smtClean="0">
                <a:solidFill>
                  <a:srgbClr val="FFFF00"/>
                </a:solidFill>
              </a:rPr>
              <a:t>+ 2 à + 5 cm : Siewert III (adénocarcinome gastrique sous-cardial).</a:t>
            </a:r>
            <a:endParaRPr lang="en-US" sz="2800" dirty="0">
              <a:solidFill>
                <a:srgbClr val="FFFF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ChangeArrowheads="1"/>
          </p:cNvSpPr>
          <p:nvPr/>
        </p:nvSpPr>
        <p:spPr bwMode="auto">
          <a:xfrm>
            <a:off x="1000103" y="1142984"/>
            <a:ext cx="6143636" cy="3477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sz="4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L’examen d’au moins </a:t>
            </a:r>
            <a:r>
              <a:rPr kumimoji="0" lang="fr-FR" sz="4400" b="0" i="1" u="none" strike="noStrike" cap="none" normalizeH="0" baseline="0" dirty="0" smtClean="0">
                <a:ln>
                  <a:noFill/>
                </a:ln>
                <a:effectLst/>
                <a:latin typeface="Times New Roman" pitchFamily="18" charset="0"/>
                <a:ea typeface="Times New Roman" pitchFamily="18" charset="0"/>
                <a:cs typeface="Times New Roman" pitchFamily="18" charset="0"/>
              </a:rPr>
              <a:t>6 ganglions médiastinaux</a:t>
            </a:r>
            <a:r>
              <a:rPr kumimoji="0" lang="fr-FR" sz="4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 est nécessaire à l’évaluation correcte du statut ganglionnaire. </a:t>
            </a:r>
            <a:endParaRPr kumimoji="0" lang="fr-FR" sz="4400" b="0" i="1" u="none" strike="noStrike" cap="none" normalizeH="0" baseline="0" dirty="0" smtClean="0">
              <a:ln>
                <a:noFill/>
              </a:ln>
              <a:solidFill>
                <a:srgbClr val="FFFF00"/>
              </a:solidFill>
              <a:effectLst/>
              <a:latin typeface="Arial" pitchFamily="34" charset="0"/>
              <a:cs typeface="Arial"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714351" y="1643056"/>
            <a:ext cx="7286676" cy="44012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914400" marR="0" lvl="2" indent="0" algn="just" defTabSz="914400" rtl="0" eaLnBrk="1" fontAlgn="base" latinLnBrk="0" hangingPunct="1">
              <a:lnSpc>
                <a:spcPct val="100000"/>
              </a:lnSpc>
              <a:spcBef>
                <a:spcPct val="0"/>
              </a:spcBef>
              <a:spcAft>
                <a:spcPct val="0"/>
              </a:spcAft>
              <a:buClrTx/>
              <a:buSzPct val="100000"/>
              <a:buFontTx/>
              <a:buAutoNum type="arabicPeriod"/>
              <a:tabLst>
                <a:tab pos="612775" algn="l"/>
              </a:tabLst>
            </a:pPr>
            <a:r>
              <a:rPr kumimoji="0" lang="fr-FR" sz="2000" b="1" i="0" u="none" strike="noStrike" cap="none" normalizeH="0" baseline="0" dirty="0" smtClean="0">
                <a:ln>
                  <a:noFill/>
                </a:ln>
                <a:effectLst/>
                <a:latin typeface="Times New Roman" pitchFamily="18" charset="0"/>
                <a:ea typeface="Times New Roman" pitchFamily="18" charset="0"/>
                <a:cs typeface="Times New Roman" pitchFamily="18" charset="0"/>
              </a:rPr>
              <a:t>Bilan de l’état général et des pathologies associées </a:t>
            </a:r>
            <a:endParaRPr kumimoji="0" lang="en-US" sz="2000" b="0" i="0" u="none" strike="noStrike" cap="none" normalizeH="0" baseline="0" dirty="0" smtClean="0">
              <a:ln>
                <a:noFill/>
              </a:ln>
              <a:effectLst/>
              <a:latin typeface="Arial" pitchFamily="34" charset="0"/>
              <a:cs typeface="Arial" pitchFamily="34" charset="0"/>
            </a:endParaRPr>
          </a:p>
          <a:p>
            <a:pPr marL="1371600" marR="0" lvl="3" indent="0" algn="just" defTabSz="914400" rtl="0" eaLnBrk="0" fontAlgn="base" latinLnBrk="0" hangingPunct="0">
              <a:lnSpc>
                <a:spcPct val="100000"/>
              </a:lnSpc>
              <a:spcBef>
                <a:spcPct val="0"/>
              </a:spcBef>
              <a:spcAft>
                <a:spcPct val="0"/>
              </a:spcAft>
              <a:buClrTx/>
              <a:buSzPct val="100000"/>
              <a:buFontTx/>
              <a:buAutoNum type="arabicPeriod"/>
              <a:tabLst>
                <a:tab pos="612775" algn="l"/>
              </a:tabLst>
            </a:pPr>
            <a:r>
              <a:rPr kumimoji="0" lang="fr-FR" sz="2000" b="1" i="1" u="none" strike="noStrike" cap="none" normalizeH="0" baseline="0" dirty="0" smtClean="0">
                <a:ln>
                  <a:noFill/>
                </a:ln>
                <a:effectLst/>
                <a:latin typeface="Times New Roman" pitchFamily="18" charset="0"/>
                <a:ea typeface="Times New Roman" pitchFamily="18" charset="0"/>
                <a:cs typeface="Times New Roman" pitchFamily="18" charset="0"/>
              </a:rPr>
              <a:t>Bilan pré-anesthésique (classification ASA) incluant systématiquement </a:t>
            </a:r>
            <a:endParaRPr kumimoji="0" lang="en-US" sz="2000" b="0" i="0" u="none" strike="noStrike" cap="none" normalizeH="0" baseline="0" dirty="0" smtClean="0">
              <a:ln>
                <a:noFill/>
              </a:ln>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Etat nutritionnel (pourcentage d'amaigrissement, protidémie, albuminémie) </a:t>
            </a:r>
            <a:endParaRPr kumimoji="0" lang="en-US" sz="20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Examen respiratoire (EFR, gazométrie) </a:t>
            </a:r>
            <a:endParaRPr kumimoji="0" lang="en-US" sz="20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Examen cardio-vasculaire (palpation des pouls et recherche de souffles, ECG) </a:t>
            </a:r>
            <a:endParaRPr kumimoji="0" lang="en-US" sz="20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Créatininémie et calcul de la clairance </a:t>
            </a:r>
            <a:endParaRPr kumimoji="0" lang="en-US" sz="20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Recherche de signes de cirrhose et bilan biologique hépatique </a:t>
            </a:r>
            <a:endParaRPr kumimoji="0" lang="en-US" sz="20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Recherche de signes de neuropathie </a:t>
            </a:r>
            <a:endParaRPr kumimoji="0" lang="en-US" sz="20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Etat général (classification OMS) </a:t>
            </a:r>
            <a:endParaRPr kumimoji="0" lang="en-US" sz="20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0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Consultation d’aide au sevrage tabagique et alcoolique en pré-opératoire. </a:t>
            </a:r>
            <a:endParaRPr kumimoji="0" lang="fr-FR" sz="2000" b="0" i="0" u="none" strike="noStrike" cap="none" normalizeH="0" baseline="0" dirty="0" smtClean="0">
              <a:ln>
                <a:noFill/>
              </a:ln>
              <a:solidFill>
                <a:srgbClr val="FFFF00"/>
              </a:solidFill>
              <a:effectLst/>
              <a:latin typeface="Arial" pitchFamily="34" charset="0"/>
              <a:cs typeface="Arial"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790" y="1582345"/>
            <a:ext cx="8072495" cy="4524315"/>
          </a:xfrm>
          <a:prstGeom prst="rect">
            <a:avLst/>
          </a:prstGeom>
        </p:spPr>
        <p:txBody>
          <a:bodyPr wrap="square">
            <a:spAutoFit/>
          </a:bodyPr>
          <a:lstStyle/>
          <a:p>
            <a:r>
              <a:rPr lang="fr-FR" sz="2400" dirty="0" smtClean="0">
                <a:solidFill>
                  <a:srgbClr val="C00000"/>
                </a:solidFill>
              </a:rPr>
              <a:t>Classification OMS de l'état général</a:t>
            </a:r>
          </a:p>
          <a:p>
            <a:r>
              <a:rPr lang="fr-FR" sz="2400" dirty="0" smtClean="0">
                <a:solidFill>
                  <a:srgbClr val="FFFF00"/>
                </a:solidFill>
              </a:rPr>
              <a:t>0 Capable d'une activité identique à celle précédant la maladie, sans aucune restriction</a:t>
            </a:r>
          </a:p>
          <a:p>
            <a:r>
              <a:rPr lang="fr-FR" sz="2400" dirty="0" smtClean="0">
                <a:solidFill>
                  <a:srgbClr val="FFFF00"/>
                </a:solidFill>
              </a:rPr>
              <a:t>1 Activité physique diminuée mais ambulatoire et capable de mener un travail</a:t>
            </a:r>
          </a:p>
          <a:p>
            <a:r>
              <a:rPr lang="fr-FR" sz="2400" dirty="0" smtClean="0">
                <a:solidFill>
                  <a:srgbClr val="FFFF00"/>
                </a:solidFill>
              </a:rPr>
              <a:t>2 Ambulatoire et capable de prendre soin de soi, incapable de travailler. Alité &lt;50 % de son</a:t>
            </a:r>
          </a:p>
          <a:p>
            <a:r>
              <a:rPr lang="fr-FR" sz="2400" dirty="0" smtClean="0">
                <a:solidFill>
                  <a:srgbClr val="FFFF00"/>
                </a:solidFill>
              </a:rPr>
              <a:t>temps</a:t>
            </a:r>
          </a:p>
          <a:p>
            <a:r>
              <a:rPr lang="fr-FR" sz="2400" dirty="0" smtClean="0">
                <a:solidFill>
                  <a:srgbClr val="FFFF00"/>
                </a:solidFill>
              </a:rPr>
              <a:t>3 Capable de seulement quelques soins personnels. Alité ou chaise &gt;50 % de son temps</a:t>
            </a:r>
          </a:p>
          <a:p>
            <a:r>
              <a:rPr lang="fr-FR" sz="2400" dirty="0" smtClean="0">
                <a:solidFill>
                  <a:srgbClr val="FFFF00"/>
                </a:solidFill>
              </a:rPr>
              <a:t>4 Incapable de prendre soin de lui-même, alité ou chaise en permanence</a:t>
            </a:r>
            <a:endParaRPr lang="en-US" sz="2400" dirty="0">
              <a:solidFill>
                <a:srgbClr val="FFFF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4678" y="1928802"/>
            <a:ext cx="1758815" cy="1323439"/>
          </a:xfrm>
          <a:prstGeom prst="rect">
            <a:avLst/>
          </a:prstGeom>
        </p:spPr>
        <p:txBody>
          <a:bodyPr wrap="none">
            <a:spAutoFit/>
          </a:bodyPr>
          <a:lstStyle/>
          <a:p>
            <a:r>
              <a:rPr lang="fr-FR" sz="8000" dirty="0" smtClean="0">
                <a:solidFill>
                  <a:srgbClr val="00B050"/>
                </a:solidFill>
              </a:rPr>
              <a:t>NRI</a:t>
            </a:r>
          </a:p>
        </p:txBody>
      </p:sp>
      <p:sp>
        <p:nvSpPr>
          <p:cNvPr id="3" name="Rectangle 2"/>
          <p:cNvSpPr/>
          <p:nvPr/>
        </p:nvSpPr>
        <p:spPr>
          <a:xfrm>
            <a:off x="1643042" y="3500438"/>
            <a:ext cx="5979522" cy="707886"/>
          </a:xfrm>
          <a:prstGeom prst="rect">
            <a:avLst/>
          </a:prstGeom>
        </p:spPr>
        <p:txBody>
          <a:bodyPr wrap="none">
            <a:spAutoFit/>
          </a:bodyPr>
          <a:lstStyle/>
          <a:p>
            <a:r>
              <a:rPr lang="fr-FR" sz="4000" dirty="0" smtClean="0">
                <a:solidFill>
                  <a:srgbClr val="00B050"/>
                </a:solidFill>
              </a:rPr>
              <a:t>NUTRITIONAL RISK INDEX</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1071546"/>
            <a:ext cx="8072494" cy="3970318"/>
          </a:xfrm>
          <a:prstGeom prst="rect">
            <a:avLst/>
          </a:prstGeom>
        </p:spPr>
        <p:txBody>
          <a:bodyPr wrap="square">
            <a:spAutoFit/>
          </a:bodyPr>
          <a:lstStyle/>
          <a:p>
            <a:r>
              <a:rPr lang="fr-FR" sz="2800" dirty="0" smtClean="0">
                <a:solidFill>
                  <a:schemeClr val="accent3">
                    <a:lumMod val="75000"/>
                  </a:schemeClr>
                </a:solidFill>
              </a:rPr>
              <a:t>Exemple :</a:t>
            </a:r>
          </a:p>
          <a:p>
            <a:r>
              <a:rPr lang="fr-FR" sz="2800" dirty="0" smtClean="0">
                <a:solidFill>
                  <a:schemeClr val="accent3">
                    <a:lumMod val="75000"/>
                  </a:schemeClr>
                </a:solidFill>
              </a:rPr>
              <a:t>Patient pesant 63 kg et ayant un poids de forme de 70 kg et albuminémie = 30g/L.</a:t>
            </a:r>
          </a:p>
          <a:p>
            <a:r>
              <a:rPr lang="fr-FR" sz="2800" dirty="0" smtClean="0">
                <a:solidFill>
                  <a:schemeClr val="accent3">
                    <a:lumMod val="75000"/>
                  </a:schemeClr>
                </a:solidFill>
              </a:rPr>
              <a:t>NRI = 1,519 x 30 + [41,7 x (63/70)] = 83,1.</a:t>
            </a:r>
          </a:p>
          <a:p>
            <a:r>
              <a:rPr lang="fr-FR" sz="2800" dirty="0" smtClean="0">
                <a:solidFill>
                  <a:schemeClr val="accent3">
                    <a:lumMod val="75000"/>
                  </a:schemeClr>
                </a:solidFill>
              </a:rPr>
              <a:t>Patients répartis en 3 classes :</a:t>
            </a:r>
          </a:p>
          <a:p>
            <a:r>
              <a:rPr lang="fr-FR" sz="2800" dirty="0" smtClean="0">
                <a:solidFill>
                  <a:schemeClr val="accent3">
                    <a:lumMod val="75000"/>
                  </a:schemeClr>
                </a:solidFill>
              </a:rPr>
              <a:t>absence de dénutrition : NRI &gt;97,5</a:t>
            </a:r>
          </a:p>
          <a:p>
            <a:r>
              <a:rPr lang="fr-FR" sz="2800" dirty="0" smtClean="0">
                <a:solidFill>
                  <a:schemeClr val="accent3">
                    <a:lumMod val="75000"/>
                  </a:schemeClr>
                </a:solidFill>
              </a:rPr>
              <a:t>dénutrition moyenne : 83,5 ≤ NRI ≤ 97,5</a:t>
            </a:r>
          </a:p>
          <a:p>
            <a:r>
              <a:rPr lang="fr-FR" sz="2800" dirty="0" smtClean="0">
                <a:solidFill>
                  <a:schemeClr val="accent3">
                    <a:lumMod val="75000"/>
                  </a:schemeClr>
                </a:solidFill>
              </a:rPr>
              <a:t>dénutrition sévère : NRI &lt;83,5</a:t>
            </a:r>
          </a:p>
          <a:p>
            <a:r>
              <a:rPr lang="fr-FR" sz="2800" dirty="0" smtClean="0">
                <a:solidFill>
                  <a:schemeClr val="accent3">
                    <a:lumMod val="75000"/>
                  </a:schemeClr>
                </a:solidFill>
              </a:rPr>
              <a:t>Consultation diététique systématique.</a:t>
            </a:r>
            <a:endParaRPr lang="en-US" sz="2800" dirty="0">
              <a:solidFill>
                <a:schemeClr val="accent3">
                  <a:lumMod val="75000"/>
                </a:schemeClr>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0" y="2551837"/>
            <a:ext cx="7429552" cy="3108543"/>
          </a:xfrm>
          <a:prstGeom prst="rect">
            <a:avLst/>
          </a:prstGeom>
        </p:spPr>
        <p:txBody>
          <a:bodyPr wrap="square">
            <a:spAutoFit/>
          </a:bodyPr>
          <a:lstStyle/>
          <a:p>
            <a:r>
              <a:rPr lang="en-US" sz="2800" dirty="0" smtClean="0">
                <a:solidFill>
                  <a:schemeClr val="bg2">
                    <a:lumMod val="60000"/>
                    <a:lumOff val="40000"/>
                  </a:schemeClr>
                </a:solidFill>
              </a:rPr>
              <a:t>Index de masse corporelle (</a:t>
            </a:r>
            <a:r>
              <a:rPr lang="en-US" sz="4400" dirty="0" smtClean="0">
                <a:solidFill>
                  <a:schemeClr val="accent1">
                    <a:lumMod val="75000"/>
                  </a:schemeClr>
                </a:solidFill>
              </a:rPr>
              <a:t>IMC</a:t>
            </a:r>
            <a:r>
              <a:rPr lang="en-US" sz="2800" dirty="0" smtClean="0">
                <a:solidFill>
                  <a:schemeClr val="bg2">
                    <a:lumMod val="60000"/>
                    <a:lumOff val="40000"/>
                  </a:schemeClr>
                </a:solidFill>
              </a:rPr>
              <a:t>)</a:t>
            </a:r>
          </a:p>
          <a:p>
            <a:r>
              <a:rPr lang="en-US" sz="2800" dirty="0" smtClean="0">
                <a:solidFill>
                  <a:schemeClr val="bg2">
                    <a:lumMod val="60000"/>
                    <a:lumOff val="40000"/>
                  </a:schemeClr>
                </a:solidFill>
              </a:rPr>
              <a:t>IMC = Poids (kg) / (Taille x Taille) (en mètre)</a:t>
            </a:r>
          </a:p>
          <a:p>
            <a:r>
              <a:rPr lang="en-US" sz="2800" dirty="0" smtClean="0">
                <a:solidFill>
                  <a:schemeClr val="bg2">
                    <a:lumMod val="60000"/>
                    <a:lumOff val="40000"/>
                  </a:schemeClr>
                </a:solidFill>
              </a:rPr>
              <a:t>Index de Buzby ou Nutritional Risk Index (NRI)</a:t>
            </a:r>
          </a:p>
          <a:p>
            <a:r>
              <a:rPr lang="en-US" sz="2800" dirty="0" smtClean="0">
                <a:solidFill>
                  <a:schemeClr val="bg2">
                    <a:lumMod val="60000"/>
                    <a:lumOff val="40000"/>
                  </a:schemeClr>
                </a:solidFill>
              </a:rPr>
              <a:t>Nutritional Risk Index </a:t>
            </a:r>
            <a:r>
              <a:rPr lang="en-US" sz="4000" dirty="0" smtClean="0">
                <a:solidFill>
                  <a:schemeClr val="accent1">
                    <a:lumMod val="75000"/>
                  </a:schemeClr>
                </a:solidFill>
              </a:rPr>
              <a:t>(NRI) </a:t>
            </a:r>
            <a:r>
              <a:rPr lang="en-US" sz="2800" dirty="0" smtClean="0">
                <a:solidFill>
                  <a:schemeClr val="bg2">
                    <a:lumMod val="60000"/>
                    <a:lumOff val="40000"/>
                  </a:schemeClr>
                </a:solidFill>
              </a:rPr>
              <a:t>= 1,519 x albuminémie (g/L) + [41,7 x (poids</a:t>
            </a:r>
          </a:p>
          <a:p>
            <a:r>
              <a:rPr lang="en-US" sz="2800" dirty="0" smtClean="0">
                <a:solidFill>
                  <a:schemeClr val="bg2">
                    <a:lumMod val="60000"/>
                    <a:lumOff val="40000"/>
                  </a:schemeClr>
                </a:solidFill>
              </a:rPr>
              <a:t>actuel/poids de forme)]</a:t>
            </a:r>
            <a:endParaRPr lang="en-US" sz="2800" dirty="0">
              <a:solidFill>
                <a:schemeClr val="bg2">
                  <a:lumMod val="60000"/>
                  <a:lumOff val="40000"/>
                </a:schemeClr>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Cancer de 	Leosophage</a:t>
            </a:r>
            <a:endParaRPr lang="fr-FR" dirty="0"/>
          </a:p>
        </p:txBody>
      </p:sp>
      <p:pic>
        <p:nvPicPr>
          <p:cNvPr id="8" name="CRMV0043.AVI">
            <a:hlinkClick r:id="" action="ppaction://media"/>
          </p:cNvPr>
          <p:cNvPicPr>
            <a:picLocks noGrp="1" noRot="1" noChangeAspect="1"/>
          </p:cNvPicPr>
          <p:nvPr>
            <p:ph idx="1"/>
            <a:videoFile r:link="rId1"/>
          </p:nvPr>
        </p:nvPicPr>
        <p:blipFill>
          <a:blip r:embed="rId3"/>
          <a:stretch>
            <a:fillRect/>
          </a:stretch>
        </p:blipFill>
        <p:spPr>
          <a:xfrm>
            <a:off x="3214679" y="2857496"/>
            <a:ext cx="3048000" cy="2286000"/>
          </a:xfrm>
          <a:prstGeom prst="rect">
            <a:avLst/>
          </a:prstGeom>
        </p:spPr>
      </p:pic>
      <p:sp>
        <p:nvSpPr>
          <p:cNvPr id="4" name="Rectangle 3"/>
          <p:cNvSpPr/>
          <p:nvPr/>
        </p:nvSpPr>
        <p:spPr>
          <a:xfrm>
            <a:off x="571477" y="1571618"/>
            <a:ext cx="8001057" cy="1323439"/>
          </a:xfrm>
          <a:prstGeom prst="rect">
            <a:avLst/>
          </a:prstGeom>
        </p:spPr>
        <p:txBody>
          <a:bodyPr wrap="square">
            <a:spAutoFit/>
          </a:bodyPr>
          <a:lstStyle/>
          <a:p>
            <a:r>
              <a:rPr lang="fr-FR" sz="4000" dirty="0" smtClean="0">
                <a:solidFill>
                  <a:srgbClr val="00B050"/>
                </a:solidFill>
              </a:rPr>
              <a:t>Préparation en vue d un acte opératoire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3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5787" y="1000109"/>
            <a:ext cx="7286676" cy="2554545"/>
          </a:xfrm>
          <a:prstGeom prst="rect">
            <a:avLst/>
          </a:prstGeom>
        </p:spPr>
        <p:txBody>
          <a:bodyPr wrap="square">
            <a:spAutoFit/>
          </a:bodyPr>
          <a:lstStyle/>
          <a:p>
            <a:r>
              <a:rPr lang="fr-FR" sz="4000" dirty="0" smtClean="0">
                <a:solidFill>
                  <a:srgbClr val="FF0000"/>
                </a:solidFill>
              </a:rPr>
              <a:t>Il arrive que les patients porteurs d un cancer de l œsophage soient récusés</a:t>
            </a:r>
          </a:p>
          <a:p>
            <a:r>
              <a:rPr lang="fr-FR" sz="4000" dirty="0" smtClean="0">
                <a:solidFill>
                  <a:srgbClr val="FF0000"/>
                </a:solidFill>
              </a:rPr>
              <a:t>Pour beaucoup de raisons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1"/>
          <p:cNvSpPr>
            <a:spLocks noChangeArrowheads="1"/>
          </p:cNvSpPr>
          <p:nvPr/>
        </p:nvSpPr>
        <p:spPr bwMode="auto">
          <a:xfrm>
            <a:off x="1357291" y="142855"/>
            <a:ext cx="5857916" cy="64402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2" algn="just" fontAlgn="base">
              <a:spcBef>
                <a:spcPct val="0"/>
              </a:spcBef>
              <a:spcAft>
                <a:spcPct val="0"/>
              </a:spcAft>
              <a:buFontTx/>
              <a:buAutoNum type="arabicPeriod"/>
              <a:tabLst>
                <a:tab pos="612775" algn="l"/>
              </a:tabLst>
            </a:pPr>
            <a:r>
              <a:rPr kumimoji="0" lang="fr-FR" sz="2400" b="1" i="1" u="none" strike="noStrike" cap="none" normalizeH="0" baseline="0" dirty="0" smtClean="0">
                <a:ln>
                  <a:noFill/>
                </a:ln>
                <a:effectLst/>
                <a:latin typeface="Times New Roman" pitchFamily="18" charset="0"/>
                <a:ea typeface="Times New Roman" pitchFamily="18" charset="0"/>
                <a:cs typeface="Times New Roman" pitchFamily="18" charset="0"/>
              </a:rPr>
              <a:t>Critères de non-opérabilité et de non-</a:t>
            </a:r>
            <a:r>
              <a:rPr kumimoji="0" lang="fr-FR" sz="2400" b="1" i="1" u="none" strike="noStrike" cap="none" normalizeH="0" baseline="0" dirty="0" err="1" smtClean="0">
                <a:ln>
                  <a:noFill/>
                </a:ln>
                <a:effectLst/>
                <a:latin typeface="Times New Roman" pitchFamily="18" charset="0"/>
                <a:ea typeface="Times New Roman" pitchFamily="18" charset="0"/>
                <a:cs typeface="Times New Roman" pitchFamily="18" charset="0"/>
              </a:rPr>
              <a:t>résécabilité</a:t>
            </a:r>
            <a:r>
              <a:rPr kumimoji="0" lang="fr-FR" sz="2400" b="1" i="1" u="none" strike="noStrike" cap="none" normalizeH="0" baseline="0" dirty="0" smtClean="0">
                <a:ln>
                  <a:noFill/>
                </a:ln>
                <a:effectLst/>
                <a:latin typeface="Times New Roman" pitchFamily="18" charset="0"/>
                <a:ea typeface="Times New Roman" pitchFamily="18" charset="0"/>
                <a:cs typeface="Times New Roman" pitchFamily="18" charset="0"/>
              </a:rPr>
              <a:t> </a:t>
            </a:r>
            <a:endParaRPr kumimoji="0" lang="en-US" sz="2400" b="0" i="1" u="none" strike="noStrike" cap="none" normalizeH="0" baseline="0" dirty="0" smtClean="0">
              <a:ln>
                <a:noFill/>
              </a:ln>
              <a:effectLst/>
              <a:latin typeface="Arial" pitchFamily="34" charset="0"/>
              <a:cs typeface="Arial" pitchFamily="34" charset="0"/>
            </a:endParaRPr>
          </a:p>
          <a:p>
            <a:pPr lvl="3" algn="just" eaLnBrk="0" fontAlgn="base" hangingPunct="0">
              <a:spcBef>
                <a:spcPct val="0"/>
              </a:spcBef>
              <a:spcAft>
                <a:spcPct val="0"/>
              </a:spcAft>
              <a:buSzPct val="100000"/>
              <a:buFontTx/>
              <a:buAutoNum type="arabicPeriod"/>
              <a:tabLst>
                <a:tab pos="612775" algn="l"/>
              </a:tabLst>
            </a:pPr>
            <a:r>
              <a:rPr kumimoji="0" lang="fr-FR" sz="2400" b="1" i="1" u="none" strike="noStrike" cap="none" normalizeH="0" baseline="0" dirty="0" smtClean="0">
                <a:ln>
                  <a:noFill/>
                </a:ln>
                <a:effectLst/>
                <a:latin typeface="Times New Roman" pitchFamily="18" charset="0"/>
                <a:ea typeface="Times New Roman" pitchFamily="18" charset="0"/>
                <a:cs typeface="Times New Roman" pitchFamily="18" charset="0"/>
              </a:rPr>
              <a:t>Critères d'</a:t>
            </a:r>
            <a:r>
              <a:rPr kumimoji="0" lang="fr-FR" sz="2400" b="1" i="1" u="none" strike="noStrike" cap="none" normalizeH="0" baseline="0" dirty="0" err="1" smtClean="0">
                <a:ln>
                  <a:noFill/>
                </a:ln>
                <a:effectLst/>
                <a:latin typeface="Times New Roman" pitchFamily="18" charset="0"/>
                <a:ea typeface="Times New Roman" pitchFamily="18" charset="0"/>
                <a:cs typeface="Times New Roman" pitchFamily="18" charset="0"/>
              </a:rPr>
              <a:t>inopérabilité</a:t>
            </a:r>
            <a:endParaRPr kumimoji="0" lang="en-US" sz="2400" b="0" i="1" u="none" strike="noStrike" cap="none" normalizeH="0" baseline="0" dirty="0" smtClean="0">
              <a:ln>
                <a:noFill/>
              </a:ln>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Contre-indications relatives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Age = 75 ans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O.M.S. = 2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Perte de poids &gt; 15 % du poids de base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Artériopathie sévère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Contre-indications absolues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Insuffisance respiratoire (PaO2 = 60 </a:t>
            </a:r>
            <a:r>
              <a:rPr kumimoji="0" lang="fr-FR" sz="2400" b="0" i="1" u="none" strike="noStrike" cap="none" normalizeH="0" baseline="0" dirty="0" err="1" smtClean="0">
                <a:ln>
                  <a:noFill/>
                </a:ln>
                <a:solidFill>
                  <a:srgbClr val="FFFF00"/>
                </a:solidFill>
                <a:effectLst/>
                <a:latin typeface="Times New Roman" pitchFamily="18" charset="0"/>
                <a:ea typeface="Times New Roman" pitchFamily="18" charset="0"/>
                <a:cs typeface="Times New Roman" pitchFamily="18" charset="0"/>
              </a:rPr>
              <a:t>mmHg</a:t>
            </a: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 PaCO2&gt;45 </a:t>
            </a:r>
            <a:r>
              <a:rPr kumimoji="0" lang="fr-FR" sz="2400" b="0" i="1" u="none" strike="noStrike" cap="none" normalizeH="0" baseline="0" dirty="0" err="1" smtClean="0">
                <a:ln>
                  <a:noFill/>
                </a:ln>
                <a:solidFill>
                  <a:srgbClr val="FFFF00"/>
                </a:solidFill>
                <a:effectLst/>
                <a:latin typeface="Times New Roman" pitchFamily="18" charset="0"/>
                <a:ea typeface="Times New Roman" pitchFamily="18" charset="0"/>
                <a:cs typeface="Times New Roman" pitchFamily="18" charset="0"/>
              </a:rPr>
              <a:t>mmHg</a:t>
            </a: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 VEMS = 1 000 ml/sec)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Cirrhose décompensée (ascite, ictère, présence de varices </a:t>
            </a:r>
            <a:r>
              <a:rPr kumimoji="0" lang="fr-FR" sz="2400" b="0" i="1" u="none" strike="noStrike" cap="none" normalizeH="0" baseline="0" dirty="0" err="1" smtClean="0">
                <a:ln>
                  <a:noFill/>
                </a:ln>
                <a:solidFill>
                  <a:srgbClr val="FFFF00"/>
                </a:solidFill>
                <a:effectLst/>
                <a:latin typeface="Times New Roman" pitchFamily="18" charset="0"/>
                <a:ea typeface="Times New Roman" pitchFamily="18" charset="0"/>
                <a:cs typeface="Times New Roman" pitchFamily="18" charset="0"/>
              </a:rPr>
              <a:t>oesophagiennes</a:t>
            </a: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Insuffisance rénale (</a:t>
            </a:r>
            <a:r>
              <a:rPr kumimoji="0" lang="fr-FR" sz="2400" b="0" i="1" u="none" strike="noStrike" cap="none" normalizeH="0" baseline="0" dirty="0" err="1" smtClean="0">
                <a:ln>
                  <a:noFill/>
                </a:ln>
                <a:solidFill>
                  <a:srgbClr val="FFFF00"/>
                </a:solidFill>
                <a:effectLst/>
                <a:latin typeface="Times New Roman" pitchFamily="18" charset="0"/>
                <a:ea typeface="Times New Roman" pitchFamily="18" charset="0"/>
                <a:cs typeface="Times New Roman" pitchFamily="18" charset="0"/>
              </a:rPr>
              <a:t>créatininémie</a:t>
            </a: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 &gt;1,25 x N) </a:t>
            </a:r>
            <a:endParaRPr kumimoji="0" lang="en-US" sz="2400" b="0" i="1" u="none" strike="noStrike" cap="none" normalizeH="0" baseline="0" dirty="0" smtClean="0">
              <a:ln>
                <a:noFill/>
              </a:ln>
              <a:solidFill>
                <a:srgbClr val="FFFF00"/>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612775" algn="l"/>
              </a:tabLst>
            </a:pPr>
            <a:r>
              <a:rPr kumimoji="0" lang="fr-FR" sz="2400" b="0" i="1"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Infarctus du myocarde datant de moins de 6 mois ou cardiopathie évolutive. </a:t>
            </a:r>
            <a:endParaRPr kumimoji="0" lang="fr-FR" sz="2400" b="0" i="1" u="none" strike="noStrike" cap="none" normalizeH="0" baseline="0" dirty="0" smtClean="0">
              <a:ln>
                <a:noFill/>
              </a:ln>
              <a:solidFill>
                <a:srgbClr val="FFFF00"/>
              </a:solidFill>
              <a:effectLst/>
              <a:latin typeface="Arial" pitchFamily="34" charset="0"/>
              <a:cs typeface="Arial"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7427" y="1714492"/>
            <a:ext cx="4059125" cy="1200329"/>
          </a:xfrm>
          <a:prstGeom prst="rect">
            <a:avLst/>
          </a:prstGeom>
        </p:spPr>
        <p:txBody>
          <a:bodyPr wrap="none">
            <a:spAutoFit/>
          </a:bodyPr>
          <a:lstStyle/>
          <a:p>
            <a:r>
              <a:rPr lang="fr-FR" sz="7200" dirty="0" smtClean="0">
                <a:solidFill>
                  <a:srgbClr val="00B050"/>
                </a:solidFill>
              </a:rPr>
              <a:t>Mais aussi</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
          <p:cNvSpPr>
            <a:spLocks noChangeArrowheads="1"/>
          </p:cNvSpPr>
          <p:nvPr/>
        </p:nvSpPr>
        <p:spPr bwMode="auto">
          <a:xfrm>
            <a:off x="928663" y="1500174"/>
            <a:ext cx="6715108" cy="6154386"/>
          </a:xfrm>
          <a:prstGeom prst="rect">
            <a:avLst/>
          </a:prstGeom>
          <a:noFill/>
          <a:ln w="9525">
            <a:noFill/>
            <a:miter lim="800000"/>
            <a:headEnd/>
            <a:tailEnd/>
          </a:ln>
          <a:effectLst/>
        </p:spPr>
        <p:txBody>
          <a:bodyPr vert="horz" wrap="square" lIns="720498" tIns="791913" rIns="720498" bIns="791913" numCol="1" anchor="ctr" anchorCtr="0" compatLnSpc="1">
            <a:prstTxWarp prst="textNoShape">
              <a:avLst/>
            </a:prstTxWarp>
            <a:spAutoFit/>
          </a:bodyPr>
          <a:lstStyle/>
          <a:p>
            <a:pPr marL="914400" marR="0" lvl="2" indent="0" algn="l" defTabSz="914400" rtl="0" eaLnBrk="1" fontAlgn="base" latinLnBrk="0" hangingPunct="1">
              <a:lnSpc>
                <a:spcPct val="100000"/>
              </a:lnSpc>
              <a:spcBef>
                <a:spcPct val="0"/>
              </a:spcBef>
              <a:spcAft>
                <a:spcPct val="0"/>
              </a:spcAft>
              <a:buClrTx/>
              <a:buSzPct val="100000"/>
              <a:buFont typeface="Arial" pitchFamily="34" charset="0"/>
              <a:buChar char="•"/>
              <a:tabLst>
                <a:tab pos="612775" algn="l"/>
              </a:tabLst>
            </a:pPr>
            <a:r>
              <a:rPr kumimoji="0" lang="fr-FR" sz="3600" b="1" i="0" u="none" strike="noStrike" cap="none" normalizeH="0" baseline="0" dirty="0" smtClean="0">
                <a:ln>
                  <a:noFill/>
                </a:ln>
                <a:solidFill>
                  <a:srgbClr val="FF0000"/>
                </a:solidFill>
                <a:effectLst/>
                <a:latin typeface="Times New Roman" pitchFamily="18" charset="0"/>
                <a:ea typeface="Times New Roman" pitchFamily="18" charset="0"/>
                <a:cs typeface="Times New Roman" pitchFamily="18" charset="0"/>
              </a:rPr>
              <a:t>Critères de non-</a:t>
            </a:r>
            <a:r>
              <a:rPr kumimoji="0" lang="fr-FR" sz="3600" b="1" i="0" u="none" strike="noStrike" cap="none" normalizeH="0" baseline="0" dirty="0" err="1" smtClean="0">
                <a:ln>
                  <a:noFill/>
                </a:ln>
                <a:solidFill>
                  <a:srgbClr val="FF0000"/>
                </a:solidFill>
                <a:effectLst/>
                <a:latin typeface="Times New Roman" pitchFamily="18" charset="0"/>
                <a:ea typeface="Times New Roman" pitchFamily="18" charset="0"/>
                <a:cs typeface="Times New Roman" pitchFamily="18" charset="0"/>
              </a:rPr>
              <a:t>résécabilité</a:t>
            </a:r>
            <a:endParaRPr kumimoji="0" lang="en-US" sz="3600" b="0" i="0" u="none" strike="noStrike" cap="none" normalizeH="0" baseline="0" dirty="0" smtClean="0">
              <a:ln>
                <a:noFill/>
              </a:ln>
              <a:solidFill>
                <a:srgbClr val="FF0000"/>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12775" algn="l"/>
              </a:tabLst>
            </a:pPr>
            <a:r>
              <a:rPr kumimoji="0" lang="fr-FR" sz="28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Tumeur envahissant les structures médiastinales (T4) : arbre </a:t>
            </a:r>
            <a:r>
              <a:rPr kumimoji="0" lang="fr-FR" sz="2800" b="0" i="0" u="none" strike="noStrike" cap="none" normalizeH="0" baseline="0" dirty="0" err="1" smtClean="0">
                <a:ln>
                  <a:noFill/>
                </a:ln>
                <a:solidFill>
                  <a:srgbClr val="FFFF00"/>
                </a:solidFill>
                <a:effectLst/>
                <a:latin typeface="Times New Roman" pitchFamily="18" charset="0"/>
                <a:ea typeface="Times New Roman" pitchFamily="18" charset="0"/>
                <a:cs typeface="Times New Roman" pitchFamily="18" charset="0"/>
              </a:rPr>
              <a:t>trachéo</a:t>
            </a:r>
            <a:r>
              <a:rPr kumimoji="0" lang="fr-FR" sz="28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-bronchique, récurrents, aorte </a:t>
            </a:r>
            <a:endParaRPr kumimoji="0" lang="en-US" sz="28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612775" algn="l"/>
              </a:tabLst>
            </a:pPr>
            <a:r>
              <a:rPr kumimoji="0" lang="fr-FR" sz="2800" b="0" i="0" u="none" strike="noStrike" cap="none" normalizeH="0" baseline="0" dirty="0" smtClean="0">
                <a:ln>
                  <a:noFill/>
                </a:ln>
                <a:solidFill>
                  <a:srgbClr val="FFFF00"/>
                </a:solidFill>
                <a:effectLst/>
                <a:latin typeface="Times New Roman" pitchFamily="18" charset="0"/>
                <a:ea typeface="Times New Roman" pitchFamily="18" charset="0"/>
                <a:cs typeface="Times New Roman" pitchFamily="18" charset="0"/>
              </a:rPr>
              <a:t>Métastases viscérales ou ganglionnaires à distance classées M1 (M1a, M1b) </a:t>
            </a:r>
            <a:endParaRPr kumimoji="0" lang="en-US" sz="2800" b="0" i="0" u="none" strike="noStrike" cap="none" normalizeH="0" baseline="0" dirty="0" smtClean="0">
              <a:ln>
                <a:noFill/>
              </a:ln>
              <a:solidFill>
                <a:srgbClr val="FFFF00"/>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612775" algn="l"/>
              </a:tabLst>
            </a:pPr>
            <a:r>
              <a:rPr kumimoji="0" lang="fr-FR" sz="2800" b="1" i="0" u="none" strike="noStrike" cap="none" normalizeH="0" baseline="0" dirty="0" smtClean="0">
                <a:ln>
                  <a:noFill/>
                </a:ln>
                <a:solidFill>
                  <a:srgbClr val="FFFF00"/>
                </a:solidFill>
                <a:effectLst/>
                <a:latin typeface="Arial" pitchFamily="34" charset="0"/>
                <a:ea typeface="Times New Roman" pitchFamily="18" charset="0"/>
                <a:cs typeface="Arial" pitchFamily="34" charset="0"/>
              </a:rPr>
              <a:t/>
            </a:r>
            <a:br>
              <a:rPr kumimoji="0" lang="fr-FR" sz="2800" b="1" i="0" u="none" strike="noStrike" cap="none" normalizeH="0" baseline="0" dirty="0" smtClean="0">
                <a:ln>
                  <a:noFill/>
                </a:ln>
                <a:solidFill>
                  <a:srgbClr val="FFFF00"/>
                </a:solidFill>
                <a:effectLst/>
                <a:latin typeface="Arial" pitchFamily="34" charset="0"/>
                <a:ea typeface="Times New Roman" pitchFamily="18" charset="0"/>
                <a:cs typeface="Arial" pitchFamily="34" charset="0"/>
              </a:rPr>
            </a:br>
            <a:endParaRPr kumimoji="0" lang="fr-FR" sz="2800" b="0" i="0" u="none" strike="noStrike" cap="none" normalizeH="0" baseline="0" dirty="0" smtClean="0">
              <a:ln>
                <a:noFill/>
              </a:ln>
              <a:solidFill>
                <a:srgbClr val="FFFF00"/>
              </a:solidFill>
              <a:effectLst/>
              <a:latin typeface="Arial" pitchFamily="34" charset="0"/>
              <a:cs typeface="Arial"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Traitement du cancer de </a:t>
            </a:r>
            <a:r>
              <a:rPr lang="fr-FR" dirty="0" err="1" smtClean="0"/>
              <a:t>loesophage</a:t>
            </a:r>
            <a:endParaRPr lang="fr-FR" dirty="0"/>
          </a:p>
        </p:txBody>
      </p:sp>
      <p:pic>
        <p:nvPicPr>
          <p:cNvPr id="7" name="CRMV0011.AVI">
            <a:hlinkClick r:id="" action="ppaction://media"/>
          </p:cNvPr>
          <p:cNvPicPr>
            <a:picLocks noGrp="1" noRot="1" noChangeAspect="1"/>
          </p:cNvPicPr>
          <p:nvPr>
            <p:ph idx="1"/>
            <a:videoFile r:link="rId1"/>
          </p:nvPr>
        </p:nvPicPr>
        <p:blipFill>
          <a:blip r:embed="rId3"/>
          <a:stretch>
            <a:fillRect/>
          </a:stretch>
        </p:blipFill>
        <p:spPr>
          <a:xfrm>
            <a:off x="3276600" y="2927350"/>
            <a:ext cx="3048000" cy="2286000"/>
          </a:xfrm>
          <a:prstGeom prst="rect">
            <a:avLst/>
          </a:prstGeom>
        </p:spPr>
      </p:pic>
      <p:sp>
        <p:nvSpPr>
          <p:cNvPr id="8" name="Rectangle 7"/>
          <p:cNvSpPr/>
          <p:nvPr/>
        </p:nvSpPr>
        <p:spPr>
          <a:xfrm>
            <a:off x="500035" y="642919"/>
            <a:ext cx="8429684" cy="1571636"/>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i="1" dirty="0" smtClean="0"/>
              <a:t>Traitement du cancer de l eosophage</a:t>
            </a:r>
            <a:endParaRPr lang="en-US" sz="4000" b="1" i="1" dirty="0"/>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p:cTn id="7" fill="hold" display="0">
                  <p:stCondLst>
                    <p:cond delay="indefinite"/>
                  </p:stCondLst>
                  <p:endCondLst>
                    <p:cond evt="onNext" delay="0">
                      <p:tgtEl>
                        <p:sldTgt/>
                      </p:tgtEl>
                    </p:cond>
                    <p:cond evt="onPrev" delay="0">
                      <p:tgtEl>
                        <p:sldTgt/>
                      </p:tgtEl>
                    </p:cond>
                  </p:endCondLst>
                </p:cTn>
                <p:tgtEl>
                  <p:spTgt spid="7"/>
                </p:tgtEl>
              </p:cMediaNode>
            </p:video>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0" y="928670"/>
            <a:ext cx="5148440" cy="1938992"/>
          </a:xfrm>
          <a:prstGeom prst="rect">
            <a:avLst/>
          </a:prstGeom>
        </p:spPr>
        <p:txBody>
          <a:bodyPr wrap="square">
            <a:spAutoFit/>
          </a:bodyPr>
          <a:lstStyle/>
          <a:p>
            <a:r>
              <a:rPr lang="fr-FR" sz="4000" dirty="0" smtClean="0">
                <a:solidFill>
                  <a:srgbClr val="00B050"/>
                </a:solidFill>
              </a:rPr>
              <a:t>Décider   d'opérer un patient présentant un cancer de l eosophage </a:t>
            </a:r>
          </a:p>
        </p:txBody>
      </p:sp>
      <p:sp>
        <p:nvSpPr>
          <p:cNvPr id="3" name="Rectangle 2"/>
          <p:cNvSpPr/>
          <p:nvPr/>
        </p:nvSpPr>
        <p:spPr>
          <a:xfrm>
            <a:off x="571473" y="3429002"/>
            <a:ext cx="8215371" cy="3170099"/>
          </a:xfrm>
          <a:prstGeom prst="rect">
            <a:avLst/>
          </a:prstGeom>
        </p:spPr>
        <p:txBody>
          <a:bodyPr wrap="square">
            <a:spAutoFit/>
          </a:bodyPr>
          <a:lstStyle/>
          <a:p>
            <a:r>
              <a:rPr lang="fr-FR" sz="4000" dirty="0" smtClean="0">
                <a:solidFill>
                  <a:srgbClr val="00B050"/>
                </a:solidFill>
              </a:rPr>
              <a:t> c'est  être tributaire d un dossier complet qui doit apporter les renseignements complets et exacts examine  soigneusement devant un </a:t>
            </a:r>
            <a:r>
              <a:rPr lang="fr-FR" sz="4000" dirty="0" smtClean="0">
                <a:solidFill>
                  <a:srgbClr val="FF0000"/>
                </a:solidFill>
              </a:rPr>
              <a:t>RCP</a:t>
            </a:r>
            <a:r>
              <a:rPr lang="fr-FR" sz="4000" dirty="0" smtClean="0">
                <a:solidFill>
                  <a:srgbClr val="00B050"/>
                </a:solidFill>
              </a:rPr>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5" y="642920"/>
            <a:ext cx="8001056" cy="5755422"/>
          </a:xfrm>
          <a:prstGeom prst="rect">
            <a:avLst/>
          </a:prstGeom>
        </p:spPr>
        <p:txBody>
          <a:bodyPr wrap="square">
            <a:spAutoFit/>
          </a:bodyPr>
          <a:lstStyle/>
          <a:p>
            <a:r>
              <a:rPr lang="fr-FR" sz="2800" dirty="0" smtClean="0">
                <a:solidFill>
                  <a:srgbClr val="FF0000"/>
                </a:solidFill>
              </a:rPr>
              <a:t>Informations minimales pour présenter un dossier d'adénocarcinome de la</a:t>
            </a:r>
          </a:p>
          <a:p>
            <a:r>
              <a:rPr lang="fr-FR" sz="2800" dirty="0" smtClean="0">
                <a:solidFill>
                  <a:srgbClr val="FF0000"/>
                </a:solidFill>
              </a:rPr>
              <a:t>jonction œsogastrique ou de l'œsophage en RCP</a:t>
            </a:r>
          </a:p>
          <a:p>
            <a:r>
              <a:rPr lang="fr-FR" dirty="0" smtClean="0">
                <a:solidFill>
                  <a:srgbClr val="FFFF00"/>
                </a:solidFill>
              </a:rPr>
              <a:t>(avant toute décision thérapeutique)</a:t>
            </a:r>
          </a:p>
          <a:p>
            <a:r>
              <a:rPr lang="fr-FR" dirty="0" smtClean="0">
                <a:solidFill>
                  <a:srgbClr val="FFFF00"/>
                </a:solidFill>
              </a:rPr>
              <a:t>État général OMS</a:t>
            </a:r>
          </a:p>
          <a:p>
            <a:r>
              <a:rPr lang="fr-FR" dirty="0" smtClean="0">
                <a:solidFill>
                  <a:srgbClr val="FFFF00"/>
                </a:solidFill>
              </a:rPr>
              <a:t>Poids habituel et perte de poids, état nutritionnel</a:t>
            </a:r>
          </a:p>
          <a:p>
            <a:r>
              <a:rPr lang="fr-FR" dirty="0" smtClean="0">
                <a:solidFill>
                  <a:srgbClr val="FFFF00"/>
                </a:solidFill>
              </a:rPr>
              <a:t>Antécédents majeurs, en particulier cardiaques et artériels</a:t>
            </a:r>
          </a:p>
          <a:p>
            <a:r>
              <a:rPr lang="fr-FR" dirty="0" smtClean="0">
                <a:solidFill>
                  <a:srgbClr val="FFFF00"/>
                </a:solidFill>
              </a:rPr>
              <a:t>Endoscopie œsophagienne et biopsies</a:t>
            </a:r>
          </a:p>
          <a:p>
            <a:r>
              <a:rPr lang="fr-FR" dirty="0" smtClean="0">
                <a:solidFill>
                  <a:srgbClr val="FFFF00"/>
                </a:solidFill>
              </a:rPr>
              <a:t>Classification de Prague (C et M)</a:t>
            </a:r>
          </a:p>
          <a:p>
            <a:r>
              <a:rPr lang="fr-FR" sz="3200" dirty="0" smtClean="0">
                <a:solidFill>
                  <a:schemeClr val="accent1">
                    <a:lumMod val="75000"/>
                  </a:schemeClr>
                </a:solidFill>
              </a:rPr>
              <a:t>Classification de Paris si lésion superficielle</a:t>
            </a:r>
          </a:p>
          <a:p>
            <a:r>
              <a:rPr lang="fr-FR" dirty="0" smtClean="0">
                <a:solidFill>
                  <a:srgbClr val="FFFF00"/>
                </a:solidFill>
              </a:rPr>
              <a:t>Localisation précise de la tumeur (classification de Siewert)</a:t>
            </a:r>
          </a:p>
          <a:p>
            <a:r>
              <a:rPr lang="fr-FR" dirty="0" smtClean="0">
                <a:solidFill>
                  <a:srgbClr val="FFFF00"/>
                </a:solidFill>
              </a:rPr>
              <a:t>Scanner </a:t>
            </a:r>
            <a:r>
              <a:rPr lang="fr-FR" dirty="0" err="1" smtClean="0">
                <a:solidFill>
                  <a:srgbClr val="FFFF00"/>
                </a:solidFill>
              </a:rPr>
              <a:t>cervico</a:t>
            </a:r>
            <a:r>
              <a:rPr lang="fr-FR" dirty="0" smtClean="0">
                <a:solidFill>
                  <a:srgbClr val="FFFF00"/>
                </a:solidFill>
              </a:rPr>
              <a:t>-</a:t>
            </a:r>
            <a:r>
              <a:rPr lang="fr-FR" dirty="0" err="1" smtClean="0">
                <a:solidFill>
                  <a:srgbClr val="FFFF00"/>
                </a:solidFill>
              </a:rPr>
              <a:t>thoraco</a:t>
            </a:r>
            <a:r>
              <a:rPr lang="fr-FR" dirty="0" smtClean="0">
                <a:solidFill>
                  <a:srgbClr val="FFFF00"/>
                </a:solidFill>
              </a:rPr>
              <a:t>-abdominal</a:t>
            </a:r>
          </a:p>
          <a:p>
            <a:r>
              <a:rPr lang="fr-FR" dirty="0" smtClean="0">
                <a:solidFill>
                  <a:srgbClr val="FFFF00"/>
                </a:solidFill>
              </a:rPr>
              <a:t>Stade déterminé par une </a:t>
            </a:r>
            <a:r>
              <a:rPr lang="fr-FR" dirty="0" err="1" smtClean="0">
                <a:solidFill>
                  <a:srgbClr val="FFFF00"/>
                </a:solidFill>
              </a:rPr>
              <a:t>échoendoscopie</a:t>
            </a:r>
            <a:r>
              <a:rPr lang="fr-FR" dirty="0" smtClean="0">
                <a:solidFill>
                  <a:srgbClr val="FFFF00"/>
                </a:solidFill>
              </a:rPr>
              <a:t> si possible (tumeur non </a:t>
            </a:r>
            <a:r>
              <a:rPr lang="fr-FR" dirty="0" err="1" smtClean="0">
                <a:solidFill>
                  <a:srgbClr val="FFFF00"/>
                </a:solidFill>
              </a:rPr>
              <a:t>sténosante</a:t>
            </a:r>
            <a:r>
              <a:rPr lang="fr-FR" dirty="0" smtClean="0">
                <a:solidFill>
                  <a:srgbClr val="FFFF00"/>
                </a:solidFill>
              </a:rPr>
              <a:t>)</a:t>
            </a:r>
          </a:p>
          <a:p>
            <a:r>
              <a:rPr lang="fr-FR" dirty="0" smtClean="0">
                <a:solidFill>
                  <a:srgbClr val="FFFF00"/>
                </a:solidFill>
              </a:rPr>
              <a:t>Compte-rendu anatomo-pathologique (biopsie ou pièce opératoire)</a:t>
            </a:r>
          </a:p>
          <a:p>
            <a:r>
              <a:rPr lang="fr-FR" dirty="0" smtClean="0">
                <a:solidFill>
                  <a:srgbClr val="FFFF00"/>
                </a:solidFill>
              </a:rPr>
              <a:t>Compte-rendu opératoire (si malade déjà opéré)</a:t>
            </a:r>
          </a:p>
          <a:p>
            <a:r>
              <a:rPr lang="fr-FR" dirty="0" smtClean="0">
                <a:solidFill>
                  <a:srgbClr val="FFFF00"/>
                </a:solidFill>
              </a:rPr>
              <a:t>Statut HER2 si maladie métastatique ou récidive.</a:t>
            </a:r>
          </a:p>
          <a:p>
            <a:endParaRPr lang="en-US" dirty="0" smtClean="0">
              <a:solidFill>
                <a:srgbClr val="FFFF00"/>
              </a:solidFill>
            </a:endParaRPr>
          </a:p>
          <a:p>
            <a:r>
              <a:rPr lang="fr-FR" dirty="0" smtClean="0"/>
              <a:t> </a:t>
            </a:r>
            <a:endParaRPr lang="en-US" dirty="0">
              <a:solidFill>
                <a:srgbClr val="FFFF00"/>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1539" y="285730"/>
            <a:ext cx="6000776" cy="3200876"/>
          </a:xfrm>
          <a:prstGeom prst="rect">
            <a:avLst/>
          </a:prstGeom>
        </p:spPr>
        <p:txBody>
          <a:bodyPr wrap="square">
            <a:spAutoFit/>
          </a:bodyPr>
          <a:lstStyle/>
          <a:p>
            <a:r>
              <a:rPr lang="en-US" sz="2800" dirty="0" smtClean="0">
                <a:solidFill>
                  <a:schemeClr val="accent1">
                    <a:lumMod val="75000"/>
                  </a:schemeClr>
                </a:solidFill>
              </a:rPr>
              <a:t>Classification de Paris des lesions œsophagiennes superficielles</a:t>
            </a:r>
          </a:p>
          <a:p>
            <a:r>
              <a:rPr lang="en-US" sz="2800" dirty="0" smtClean="0">
                <a:solidFill>
                  <a:schemeClr val="accent1">
                    <a:lumMod val="75000"/>
                  </a:schemeClr>
                </a:solidFill>
              </a:rPr>
              <a:t>(The Paris endoscopic classification of superficial neoplastic lesions, 2002)</a:t>
            </a:r>
          </a:p>
          <a:p>
            <a:r>
              <a:rPr lang="en-US" dirty="0" smtClean="0"/>
              <a:t> </a:t>
            </a:r>
          </a:p>
          <a:p>
            <a:r>
              <a:rPr lang="en-US" dirty="0" smtClean="0"/>
              <a:t>Classification  </a:t>
            </a:r>
            <a:r>
              <a:rPr lang="en-US" dirty="0" err="1" smtClean="0"/>
              <a:t>morphologique</a:t>
            </a:r>
            <a:endParaRPr lang="en-US" dirty="0" smtClean="0"/>
          </a:p>
          <a:p>
            <a:r>
              <a:rPr lang="en-US" dirty="0" smtClean="0"/>
              <a:t>0.Ip : </a:t>
            </a:r>
            <a:r>
              <a:rPr lang="en-US" dirty="0" err="1" smtClean="0"/>
              <a:t>lésion</a:t>
            </a:r>
            <a:r>
              <a:rPr lang="en-US" dirty="0" smtClean="0"/>
              <a:t>   en relief, pédiculée</a:t>
            </a:r>
          </a:p>
          <a:p>
            <a:r>
              <a:rPr lang="en-US" dirty="0" smtClean="0"/>
              <a:t>0.Is : </a:t>
            </a:r>
            <a:r>
              <a:rPr lang="en-US" dirty="0" err="1" smtClean="0"/>
              <a:t>lésion</a:t>
            </a:r>
            <a:r>
              <a:rPr lang="en-US" dirty="0" smtClean="0"/>
              <a:t>   en relief, sessile</a:t>
            </a:r>
          </a:p>
          <a:p>
            <a:endParaRPr lang="en-US" dirty="0" smtClean="0"/>
          </a:p>
        </p:txBody>
      </p:sp>
      <p:sp>
        <p:nvSpPr>
          <p:cNvPr id="4" name="Rectangle 3"/>
          <p:cNvSpPr/>
          <p:nvPr/>
        </p:nvSpPr>
        <p:spPr>
          <a:xfrm>
            <a:off x="1071539" y="3429003"/>
            <a:ext cx="4572000" cy="2354491"/>
          </a:xfrm>
          <a:prstGeom prst="rect">
            <a:avLst/>
          </a:prstGeom>
        </p:spPr>
        <p:txBody>
          <a:bodyPr>
            <a:spAutoFit/>
          </a:bodyPr>
          <a:lstStyle/>
          <a:p>
            <a:r>
              <a:rPr lang="fr-FR" dirty="0" smtClean="0"/>
              <a:t>0.</a:t>
            </a:r>
            <a:r>
              <a:rPr lang="fr-FR" dirty="0" err="1" smtClean="0"/>
              <a:t>IIa</a:t>
            </a:r>
            <a:r>
              <a:rPr lang="fr-FR" dirty="0" smtClean="0"/>
              <a:t> : lésion plane légèrement surélevée, la hauteur étant inférieure à la hauteur des cuillers d’une pince à biopsie</a:t>
            </a:r>
          </a:p>
          <a:p>
            <a:r>
              <a:rPr lang="fr-FR" dirty="0" smtClean="0"/>
              <a:t>fermée (2,5 mm)</a:t>
            </a:r>
          </a:p>
          <a:p>
            <a:r>
              <a:rPr lang="fr-FR" dirty="0" smtClean="0"/>
              <a:t>0.</a:t>
            </a:r>
            <a:r>
              <a:rPr lang="fr-FR" dirty="0" err="1" smtClean="0"/>
              <a:t>IIb</a:t>
            </a:r>
            <a:r>
              <a:rPr lang="fr-FR" dirty="0" smtClean="0"/>
              <a:t> : lésion plane non surélevée, repérable par son caractère </a:t>
            </a:r>
            <a:r>
              <a:rPr lang="fr-FR" dirty="0" err="1" smtClean="0"/>
              <a:t>dyschromique</a:t>
            </a:r>
            <a:endParaRPr lang="fr-FR" dirty="0" smtClean="0"/>
          </a:p>
          <a:p>
            <a:r>
              <a:rPr lang="fr-FR" dirty="0" smtClean="0"/>
              <a:t>0.</a:t>
            </a:r>
            <a:r>
              <a:rPr lang="fr-FR" dirty="0" err="1" smtClean="0"/>
              <a:t>IIc</a:t>
            </a:r>
            <a:r>
              <a:rPr lang="fr-FR" dirty="0" smtClean="0"/>
              <a:t> : lésion plane légèrement déprimée</a:t>
            </a:r>
          </a:p>
          <a:p>
            <a:r>
              <a:rPr lang="fr-FR" dirty="0" smtClean="0"/>
              <a:t>0.III : lésion </a:t>
            </a:r>
            <a:r>
              <a:rPr lang="fr-FR" dirty="0" err="1" smtClean="0"/>
              <a:t>creusante</a:t>
            </a:r>
            <a:endParaRPr lang="fr-FR" dirty="0" smtClean="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243087"/>
            <a:ext cx="8429684" cy="6186309"/>
          </a:xfrm>
          <a:prstGeom prst="rect">
            <a:avLst/>
          </a:prstGeom>
        </p:spPr>
        <p:txBody>
          <a:bodyPr wrap="square">
            <a:spAutoFit/>
          </a:bodyPr>
          <a:lstStyle/>
          <a:p>
            <a:r>
              <a:rPr lang="fr-FR" dirty="0" smtClean="0"/>
              <a:t> . </a:t>
            </a:r>
            <a:r>
              <a:rPr lang="fr-FR" sz="3200" dirty="0" smtClean="0">
                <a:solidFill>
                  <a:srgbClr val="FF0000"/>
                </a:solidFill>
              </a:rPr>
              <a:t>TRAITEMENT   </a:t>
            </a:r>
          </a:p>
          <a:p>
            <a:r>
              <a:rPr lang="fr-FR" sz="2800" dirty="0" smtClean="0">
                <a:solidFill>
                  <a:srgbClr val="FFFF00"/>
                </a:solidFill>
              </a:rPr>
              <a:t>       1- Méthodes </a:t>
            </a:r>
          </a:p>
          <a:p>
            <a:r>
              <a:rPr lang="fr-FR" sz="2800" dirty="0" smtClean="0">
                <a:solidFill>
                  <a:srgbClr val="FFFF00"/>
                </a:solidFill>
              </a:rPr>
              <a:t>  A- CHIRURGIE :  le traitement à visée curative est basé sur l'exérèse </a:t>
            </a:r>
          </a:p>
          <a:p>
            <a:r>
              <a:rPr lang="fr-FR" sz="2800" dirty="0" smtClean="0">
                <a:solidFill>
                  <a:srgbClr val="FFFF00"/>
                </a:solidFill>
              </a:rPr>
              <a:t>chirurgicale. </a:t>
            </a:r>
          </a:p>
          <a:p>
            <a:r>
              <a:rPr lang="fr-FR" sz="2800" dirty="0" smtClean="0">
                <a:solidFill>
                  <a:schemeClr val="accent4">
                    <a:lumMod val="75000"/>
                  </a:schemeClr>
                </a:solidFill>
              </a:rPr>
              <a:t>Résection  endoscopique</a:t>
            </a:r>
          </a:p>
          <a:p>
            <a:r>
              <a:rPr lang="fr-FR" sz="2800" dirty="0" smtClean="0">
                <a:solidFill>
                  <a:schemeClr val="accent4">
                    <a:lumMod val="75000"/>
                  </a:schemeClr>
                </a:solidFill>
              </a:rPr>
              <a:t> l’</a:t>
            </a:r>
            <a:r>
              <a:rPr lang="fr-FR" sz="2800" dirty="0" err="1" smtClean="0">
                <a:solidFill>
                  <a:schemeClr val="accent4">
                    <a:lumMod val="75000"/>
                  </a:schemeClr>
                </a:solidFill>
              </a:rPr>
              <a:t>Oesophagectomie</a:t>
            </a:r>
            <a:r>
              <a:rPr lang="fr-FR" sz="2800" dirty="0" smtClean="0">
                <a:solidFill>
                  <a:schemeClr val="accent4">
                    <a:lumMod val="75000"/>
                  </a:schemeClr>
                </a:solidFill>
              </a:rPr>
              <a:t>  </a:t>
            </a:r>
            <a:r>
              <a:rPr lang="fr-FR" sz="2800" dirty="0" err="1" smtClean="0">
                <a:solidFill>
                  <a:schemeClr val="accent4">
                    <a:lumMod val="75000"/>
                  </a:schemeClr>
                </a:solidFill>
              </a:rPr>
              <a:t>transthoracique</a:t>
            </a:r>
            <a:r>
              <a:rPr lang="fr-FR" sz="2800" dirty="0" smtClean="0">
                <a:solidFill>
                  <a:schemeClr val="accent4">
                    <a:lumMod val="75000"/>
                  </a:schemeClr>
                </a:solidFill>
              </a:rPr>
              <a:t> subtotale  avec </a:t>
            </a:r>
            <a:r>
              <a:rPr lang="fr-FR" sz="2800" dirty="0" err="1" smtClean="0">
                <a:solidFill>
                  <a:schemeClr val="accent4">
                    <a:lumMod val="75000"/>
                  </a:schemeClr>
                </a:solidFill>
              </a:rPr>
              <a:t>currage</a:t>
            </a:r>
            <a:r>
              <a:rPr lang="fr-FR" sz="2800" dirty="0" smtClean="0">
                <a:solidFill>
                  <a:schemeClr val="accent4">
                    <a:lumMod val="75000"/>
                  </a:schemeClr>
                </a:solidFill>
              </a:rPr>
              <a:t> ganglionnaire de deux champs  </a:t>
            </a:r>
            <a:r>
              <a:rPr lang="fr-FR" sz="2800" dirty="0" err="1" smtClean="0">
                <a:solidFill>
                  <a:schemeClr val="accent4">
                    <a:lumMod val="75000"/>
                  </a:schemeClr>
                </a:solidFill>
              </a:rPr>
              <a:t>mediastinal</a:t>
            </a:r>
            <a:r>
              <a:rPr lang="fr-FR" sz="2800" dirty="0" smtClean="0">
                <a:solidFill>
                  <a:schemeClr val="accent4">
                    <a:lumMod val="75000"/>
                  </a:schemeClr>
                </a:solidFill>
              </a:rPr>
              <a:t> et abdominal avec </a:t>
            </a:r>
            <a:r>
              <a:rPr lang="fr-FR" sz="2800" dirty="0" err="1" smtClean="0">
                <a:solidFill>
                  <a:schemeClr val="accent4">
                    <a:lumMod val="75000"/>
                  </a:schemeClr>
                </a:solidFill>
              </a:rPr>
              <a:t>mediastinectomie</a:t>
            </a:r>
            <a:r>
              <a:rPr lang="fr-FR" sz="2800" dirty="0" smtClean="0">
                <a:solidFill>
                  <a:schemeClr val="accent4">
                    <a:lumMod val="75000"/>
                  </a:schemeClr>
                </a:solidFill>
              </a:rPr>
              <a:t> </a:t>
            </a:r>
            <a:r>
              <a:rPr lang="fr-FR" sz="2800" dirty="0" err="1" smtClean="0">
                <a:solidFill>
                  <a:schemeClr val="accent4">
                    <a:lumMod val="75000"/>
                  </a:schemeClr>
                </a:solidFill>
              </a:rPr>
              <a:t>posterieure</a:t>
            </a:r>
            <a:r>
              <a:rPr lang="fr-FR" sz="2800" dirty="0" smtClean="0">
                <a:solidFill>
                  <a:schemeClr val="accent4">
                    <a:lumMod val="75000"/>
                  </a:schemeClr>
                </a:solidFill>
              </a:rPr>
              <a:t> monobloc est le traitement de </a:t>
            </a:r>
            <a:r>
              <a:rPr lang="fr-FR" sz="2800" dirty="0" err="1" smtClean="0">
                <a:solidFill>
                  <a:schemeClr val="accent4">
                    <a:lumMod val="75000"/>
                  </a:schemeClr>
                </a:solidFill>
              </a:rPr>
              <a:t>reference</a:t>
            </a:r>
            <a:endParaRPr lang="fr-FR" sz="2800" dirty="0" smtClean="0">
              <a:solidFill>
                <a:schemeClr val="accent4">
                  <a:lumMod val="75000"/>
                </a:schemeClr>
              </a:solidFill>
            </a:endParaRPr>
          </a:p>
          <a:p>
            <a:r>
              <a:rPr lang="fr-FR" sz="2800" dirty="0" smtClean="0">
                <a:solidFill>
                  <a:schemeClr val="accent4">
                    <a:lumMod val="75000"/>
                  </a:schemeClr>
                </a:solidFill>
              </a:rPr>
              <a:t>Technique de </a:t>
            </a:r>
            <a:r>
              <a:rPr lang="fr-FR" sz="2800" dirty="0" err="1" smtClean="0">
                <a:solidFill>
                  <a:schemeClr val="accent4">
                    <a:lumMod val="75000"/>
                  </a:schemeClr>
                </a:solidFill>
              </a:rPr>
              <a:t>lewis</a:t>
            </a:r>
            <a:r>
              <a:rPr lang="fr-FR" sz="2800" dirty="0" smtClean="0">
                <a:solidFill>
                  <a:schemeClr val="accent4">
                    <a:lumMod val="75000"/>
                  </a:schemeClr>
                </a:solidFill>
              </a:rPr>
              <a:t>  </a:t>
            </a:r>
            <a:r>
              <a:rPr lang="fr-FR" sz="2800" dirty="0" err="1" smtClean="0">
                <a:solidFill>
                  <a:schemeClr val="accent4">
                    <a:lumMod val="75000"/>
                  </a:schemeClr>
                </a:solidFill>
              </a:rPr>
              <a:t>santy</a:t>
            </a:r>
            <a:r>
              <a:rPr lang="fr-FR" sz="2800" dirty="0" smtClean="0">
                <a:solidFill>
                  <a:schemeClr val="accent4">
                    <a:lumMod val="75000"/>
                  </a:schemeClr>
                </a:solidFill>
              </a:rPr>
              <a:t>   </a:t>
            </a:r>
          </a:p>
          <a:p>
            <a:r>
              <a:rPr lang="fr-FR" sz="2800" dirty="0" smtClean="0">
                <a:solidFill>
                  <a:srgbClr val="FFFF00"/>
                </a:solidFill>
              </a:rPr>
              <a:t>        - La chirurgie d’exérèse à visée curative  est réalisable dans  environ 10 </a:t>
            </a:r>
          </a:p>
          <a:p>
            <a:r>
              <a:rPr lang="fr-FR" sz="2800" dirty="0" smtClean="0">
                <a:solidFill>
                  <a:srgbClr val="FFFF00"/>
                </a:solidFill>
              </a:rPr>
              <a:t>% des cas. </a:t>
            </a:r>
            <a:endParaRPr lang="en-US" sz="2800" dirty="0">
              <a:solidFill>
                <a:srgbClr val="FFFF00"/>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214290"/>
            <a:ext cx="8501122" cy="5170646"/>
          </a:xfrm>
          <a:prstGeom prst="rect">
            <a:avLst/>
          </a:prstGeom>
        </p:spPr>
        <p:txBody>
          <a:bodyPr wrap="square">
            <a:spAutoFit/>
          </a:bodyPr>
          <a:lstStyle/>
          <a:p>
            <a:r>
              <a:rPr lang="fr-FR" sz="2400" dirty="0" smtClean="0">
                <a:solidFill>
                  <a:srgbClr val="FF0000"/>
                </a:solidFill>
              </a:rPr>
              <a:t>Résection endoscopique</a:t>
            </a:r>
          </a:p>
          <a:p>
            <a:r>
              <a:rPr lang="fr-FR" dirty="0" smtClean="0"/>
              <a:t>La résection muqueuse en monobloc est le traitement de référence en cas de carcinome  in situ (</a:t>
            </a:r>
            <a:r>
              <a:rPr lang="fr-FR" dirty="0" err="1" smtClean="0"/>
              <a:t>Tis</a:t>
            </a:r>
            <a:r>
              <a:rPr lang="fr-FR" dirty="0" smtClean="0"/>
              <a:t> de la classification TNM</a:t>
            </a:r>
          </a:p>
          <a:p>
            <a:r>
              <a:rPr lang="fr-FR" dirty="0" smtClean="0"/>
              <a:t>ou T1m1) ou </a:t>
            </a:r>
            <a:r>
              <a:rPr lang="fr-FR" dirty="0" err="1" smtClean="0"/>
              <a:t>microinvasif</a:t>
            </a:r>
            <a:r>
              <a:rPr lang="fr-FR" dirty="0" smtClean="0"/>
              <a:t> (T1m2) bien ou moyennement (grade 1 ou 2) différencié avec absence d'embole </a:t>
            </a:r>
            <a:r>
              <a:rPr lang="fr-FR" dirty="0" err="1" smtClean="0"/>
              <a:t>lymphatiqueet</a:t>
            </a:r>
            <a:r>
              <a:rPr lang="fr-FR" dirty="0" smtClean="0"/>
              <a:t>/ou veineux.</a:t>
            </a:r>
          </a:p>
          <a:p>
            <a:r>
              <a:rPr lang="fr-FR" dirty="0" smtClean="0"/>
              <a:t>Pour être efficace et éviter les récidives locales, la résection doit être effectuée de préférence de manière complète en  monobloc.</a:t>
            </a:r>
          </a:p>
          <a:p>
            <a:r>
              <a:rPr lang="fr-FR" dirty="0" smtClean="0"/>
              <a:t>Pour les lésions de plus de 10 mm, la technique de dissection sous-muqueuse (ESD) sera à privilégier dans un centre</a:t>
            </a:r>
          </a:p>
          <a:p>
            <a:r>
              <a:rPr lang="fr-FR" dirty="0" smtClean="0"/>
              <a:t>expert. Les meilleurs indications sont les cancers </a:t>
            </a:r>
            <a:r>
              <a:rPr lang="fr-FR" dirty="0" err="1" smtClean="0"/>
              <a:t>intramuqueux</a:t>
            </a:r>
            <a:r>
              <a:rPr lang="fr-FR" dirty="0" smtClean="0"/>
              <a:t> classés T1m1 et T2m2 et à la morphologie favorable(0-I et 0-II) dans la classification de Paris.</a:t>
            </a:r>
          </a:p>
          <a:p>
            <a:r>
              <a:rPr lang="fr-FR" dirty="0" smtClean="0"/>
              <a:t>Pour les lésions de moins de 10 mm, la résection par </a:t>
            </a:r>
            <a:r>
              <a:rPr lang="fr-FR" dirty="0" err="1" smtClean="0"/>
              <a:t>mucosectomie</a:t>
            </a:r>
            <a:r>
              <a:rPr lang="fr-FR" dirty="0" smtClean="0"/>
              <a:t> reste une option.</a:t>
            </a:r>
          </a:p>
          <a:p>
            <a:r>
              <a:rPr lang="fr-FR" dirty="0" smtClean="0"/>
              <a:t>Les critères de succès de la résection sont définis par des marges de résection profonde saine, la limitation de la lésion au</a:t>
            </a:r>
          </a:p>
          <a:p>
            <a:r>
              <a:rPr lang="fr-FR" dirty="0" smtClean="0"/>
              <a:t>niveau de la muqueuse (m1, m2) et le caractère bien ou moyennement différencié en histologie. Si l'examen de la pièce</a:t>
            </a:r>
          </a:p>
          <a:p>
            <a:r>
              <a:rPr lang="fr-FR" dirty="0" smtClean="0"/>
              <a:t>relève une atteinte au-delà de T1m3 ou des emboles veineux ou lymphatiques, un traitement complémentaire par </a:t>
            </a:r>
            <a:r>
              <a:rPr lang="fr-FR" dirty="0" err="1" smtClean="0"/>
              <a:t>chiru</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2" y="2136339"/>
            <a:ext cx="8715436" cy="3539430"/>
          </a:xfrm>
          <a:prstGeom prst="rect">
            <a:avLst/>
          </a:prstGeom>
        </p:spPr>
        <p:txBody>
          <a:bodyPr wrap="square">
            <a:spAutoFit/>
          </a:bodyPr>
          <a:lstStyle/>
          <a:p>
            <a:r>
              <a:rPr lang="fr-FR" sz="2800" dirty="0" smtClean="0">
                <a:solidFill>
                  <a:srgbClr val="FF0000"/>
                </a:solidFill>
              </a:rPr>
              <a:t>Au niveau </a:t>
            </a:r>
            <a:r>
              <a:rPr lang="fr-FR" sz="2800" dirty="0" err="1" smtClean="0">
                <a:solidFill>
                  <a:srgbClr val="FF0000"/>
                </a:solidFill>
              </a:rPr>
              <a:t>mediastinal</a:t>
            </a:r>
            <a:r>
              <a:rPr lang="fr-FR" sz="2800" dirty="0" smtClean="0">
                <a:solidFill>
                  <a:srgbClr val="FF0000"/>
                </a:solidFill>
              </a:rPr>
              <a:t> </a:t>
            </a:r>
            <a:r>
              <a:rPr lang="fr-FR" sz="2800" dirty="0" smtClean="0">
                <a:solidFill>
                  <a:srgbClr val="FFFF00"/>
                </a:solidFill>
              </a:rPr>
              <a:t>les ganglions para et </a:t>
            </a:r>
          </a:p>
          <a:p>
            <a:r>
              <a:rPr lang="fr-FR" sz="2800" dirty="0" err="1" smtClean="0">
                <a:solidFill>
                  <a:srgbClr val="FFFF00"/>
                </a:solidFill>
              </a:rPr>
              <a:t>rétrotrachéaux</a:t>
            </a:r>
            <a:r>
              <a:rPr lang="fr-FR" sz="2800" dirty="0" smtClean="0">
                <a:solidFill>
                  <a:srgbClr val="FFFF00"/>
                </a:solidFill>
              </a:rPr>
              <a:t>, </a:t>
            </a:r>
            <a:r>
              <a:rPr lang="fr-FR" sz="2800" dirty="0" err="1" smtClean="0">
                <a:solidFill>
                  <a:srgbClr val="FFFF00"/>
                </a:solidFill>
              </a:rPr>
              <a:t>parabronchiques</a:t>
            </a:r>
            <a:r>
              <a:rPr lang="fr-FR" sz="2800" dirty="0" smtClean="0">
                <a:solidFill>
                  <a:srgbClr val="FFFF00"/>
                </a:solidFill>
              </a:rPr>
              <a:t> , </a:t>
            </a:r>
            <a:r>
              <a:rPr lang="fr-FR" sz="2800" dirty="0" err="1" smtClean="0">
                <a:solidFill>
                  <a:srgbClr val="FFFF00"/>
                </a:solidFill>
              </a:rPr>
              <a:t>intertrachéobronchiques</a:t>
            </a:r>
            <a:r>
              <a:rPr lang="fr-FR" sz="2800" dirty="0" smtClean="0">
                <a:solidFill>
                  <a:srgbClr val="FFFF00"/>
                </a:solidFill>
              </a:rPr>
              <a:t>, </a:t>
            </a:r>
            <a:r>
              <a:rPr lang="fr-FR" sz="2800" dirty="0" err="1" smtClean="0">
                <a:solidFill>
                  <a:srgbClr val="FFFF00"/>
                </a:solidFill>
              </a:rPr>
              <a:t>paroesophagiens</a:t>
            </a:r>
            <a:r>
              <a:rPr lang="fr-FR" sz="2800" dirty="0" smtClean="0">
                <a:solidFill>
                  <a:srgbClr val="FFFF00"/>
                </a:solidFill>
              </a:rPr>
              <a:t> et para-</a:t>
            </a:r>
          </a:p>
          <a:p>
            <a:r>
              <a:rPr lang="fr-FR" sz="2800" dirty="0" smtClean="0">
                <a:solidFill>
                  <a:srgbClr val="FFFF00"/>
                </a:solidFill>
              </a:rPr>
              <a:t>Aortiques doivent </a:t>
            </a:r>
            <a:r>
              <a:rPr lang="fr-FR" sz="2800" dirty="0" err="1" smtClean="0">
                <a:solidFill>
                  <a:srgbClr val="FFFF00"/>
                </a:solidFill>
              </a:rPr>
              <a:t>etre</a:t>
            </a:r>
            <a:r>
              <a:rPr lang="fr-FR" sz="2800" dirty="0" smtClean="0">
                <a:solidFill>
                  <a:srgbClr val="FFFF00"/>
                </a:solidFill>
              </a:rPr>
              <a:t> </a:t>
            </a:r>
            <a:r>
              <a:rPr lang="fr-FR" sz="2800" dirty="0" err="1" smtClean="0">
                <a:solidFill>
                  <a:srgbClr val="FFFF00"/>
                </a:solidFill>
              </a:rPr>
              <a:t>enleves</a:t>
            </a:r>
            <a:r>
              <a:rPr lang="fr-FR" sz="2800" dirty="0" smtClean="0">
                <a:solidFill>
                  <a:srgbClr val="FFFF00"/>
                </a:solidFill>
              </a:rPr>
              <a:t>. </a:t>
            </a:r>
            <a:r>
              <a:rPr lang="fr-FR" sz="2800" dirty="0" smtClean="0">
                <a:solidFill>
                  <a:srgbClr val="FF0000"/>
                </a:solidFill>
              </a:rPr>
              <a:t>Au niveau du cou </a:t>
            </a:r>
            <a:r>
              <a:rPr lang="fr-FR" sz="2800" dirty="0" smtClean="0">
                <a:solidFill>
                  <a:srgbClr val="FFFF00"/>
                </a:solidFill>
              </a:rPr>
              <a:t>la </a:t>
            </a:r>
            <a:r>
              <a:rPr lang="fr-FR" sz="2800" dirty="0" err="1" smtClean="0">
                <a:solidFill>
                  <a:srgbClr val="FFFF00"/>
                </a:solidFill>
              </a:rPr>
              <a:t>lymphadénectomie</a:t>
            </a:r>
            <a:r>
              <a:rPr lang="fr-FR" sz="2800" dirty="0" smtClean="0">
                <a:solidFill>
                  <a:srgbClr val="FFFF00"/>
                </a:solidFill>
              </a:rPr>
              <a:t> emporte les ganglions sus-claviculaires et </a:t>
            </a:r>
          </a:p>
          <a:p>
            <a:r>
              <a:rPr lang="fr-FR" sz="2800" dirty="0" err="1" smtClean="0">
                <a:solidFill>
                  <a:srgbClr val="FFFF00"/>
                </a:solidFill>
              </a:rPr>
              <a:t>jugulo</a:t>
            </a:r>
            <a:r>
              <a:rPr lang="fr-FR" sz="2800" dirty="0" smtClean="0">
                <a:solidFill>
                  <a:srgbClr val="FFFF00"/>
                </a:solidFill>
              </a:rPr>
              <a:t>-carotidiens. L'exérèse doit passer 5 cm au-dessus du pôle supérieur de la tumeur. </a:t>
            </a:r>
            <a:endParaRPr lang="en-US" sz="2800" dirty="0">
              <a:solidFill>
                <a:srgbClr val="FFFF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8" y="2214556"/>
            <a:ext cx="8358247" cy="3539430"/>
          </a:xfrm>
          <a:prstGeom prst="rect">
            <a:avLst/>
          </a:prstGeom>
        </p:spPr>
        <p:txBody>
          <a:bodyPr wrap="square">
            <a:spAutoFit/>
          </a:bodyPr>
          <a:lstStyle/>
          <a:p>
            <a:r>
              <a:rPr lang="fr-FR" dirty="0" smtClean="0">
                <a:solidFill>
                  <a:srgbClr val="FF0000"/>
                </a:solidFill>
              </a:rPr>
              <a:t> </a:t>
            </a:r>
            <a:r>
              <a:rPr lang="fr-FR" sz="3200" dirty="0" smtClean="0">
                <a:solidFill>
                  <a:srgbClr val="FF0000"/>
                </a:solidFill>
              </a:rPr>
              <a:t>La dissection de l’œsophage  </a:t>
            </a:r>
            <a:r>
              <a:rPr lang="fr-FR" sz="3200" dirty="0" smtClean="0">
                <a:solidFill>
                  <a:srgbClr val="FFFF00"/>
                </a:solidFill>
              </a:rPr>
              <a:t>et la </a:t>
            </a:r>
            <a:r>
              <a:rPr lang="fr-FR" sz="3200" dirty="0" err="1" smtClean="0">
                <a:solidFill>
                  <a:srgbClr val="FFFF00"/>
                </a:solidFill>
              </a:rPr>
              <a:t>lymphadénectomie</a:t>
            </a:r>
            <a:r>
              <a:rPr lang="fr-FR" sz="3200" dirty="0" smtClean="0">
                <a:solidFill>
                  <a:srgbClr val="FFFF00"/>
                </a:solidFill>
              </a:rPr>
              <a:t> </a:t>
            </a:r>
            <a:r>
              <a:rPr lang="fr-FR" sz="3200" dirty="0" err="1" smtClean="0">
                <a:solidFill>
                  <a:srgbClr val="FFFF00"/>
                </a:solidFill>
              </a:rPr>
              <a:t>médiastinale</a:t>
            </a:r>
            <a:r>
              <a:rPr lang="fr-FR" sz="3200" dirty="0" smtClean="0">
                <a:solidFill>
                  <a:srgbClr val="FFFF00"/>
                </a:solidFill>
              </a:rPr>
              <a:t> sont </a:t>
            </a:r>
          </a:p>
          <a:p>
            <a:r>
              <a:rPr lang="fr-FR" sz="3200" dirty="0" smtClean="0">
                <a:solidFill>
                  <a:srgbClr val="FFFF00"/>
                </a:solidFill>
              </a:rPr>
              <a:t>classiquement réalisées par  thoracotomie latérale dans le 5ème espace intercostal droit. Cette </a:t>
            </a:r>
          </a:p>
          <a:p>
            <a:r>
              <a:rPr lang="fr-FR" sz="3200" dirty="0" smtClean="0">
                <a:solidFill>
                  <a:srgbClr val="FFFF00"/>
                </a:solidFill>
              </a:rPr>
              <a:t>voie d’abord permet la dissection de l’</a:t>
            </a:r>
            <a:r>
              <a:rPr lang="fr-FR" sz="3200" dirty="0" err="1" smtClean="0">
                <a:solidFill>
                  <a:srgbClr val="FFFF00"/>
                </a:solidFill>
              </a:rPr>
              <a:t>oesophage</a:t>
            </a:r>
            <a:r>
              <a:rPr lang="fr-FR" sz="3200" dirty="0" smtClean="0">
                <a:solidFill>
                  <a:srgbClr val="FFFF00"/>
                </a:solidFill>
              </a:rPr>
              <a:t> thoracique sur toute sa longueur</a:t>
            </a:r>
            <a:r>
              <a:rPr lang="fr-FR" dirty="0" smtClean="0"/>
              <a:t>. </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1" y="1443841"/>
            <a:ext cx="8501123" cy="4862870"/>
          </a:xfrm>
          <a:prstGeom prst="rect">
            <a:avLst/>
          </a:prstGeom>
        </p:spPr>
        <p:txBody>
          <a:bodyPr wrap="square">
            <a:spAutoFit/>
          </a:bodyPr>
          <a:lstStyle/>
          <a:p>
            <a:r>
              <a:rPr lang="fr-FR" dirty="0" smtClean="0"/>
              <a:t> </a:t>
            </a:r>
          </a:p>
          <a:p>
            <a:r>
              <a:rPr lang="fr-FR" sz="2800" dirty="0" smtClean="0">
                <a:solidFill>
                  <a:srgbClr val="FFFF00"/>
                </a:solidFill>
              </a:rPr>
              <a:t>  </a:t>
            </a:r>
            <a:r>
              <a:rPr lang="fr-FR" sz="4000" dirty="0" smtClean="0">
                <a:solidFill>
                  <a:srgbClr val="FF0000"/>
                </a:solidFill>
              </a:rPr>
              <a:t>Le remplacement œsophagien. </a:t>
            </a:r>
          </a:p>
          <a:p>
            <a:r>
              <a:rPr lang="fr-FR" sz="2800" dirty="0" smtClean="0">
                <a:solidFill>
                  <a:srgbClr val="FFFF00"/>
                </a:solidFill>
              </a:rPr>
              <a:t>  La continuité digestive après </a:t>
            </a:r>
            <a:r>
              <a:rPr lang="fr-FR" sz="2800" dirty="0" err="1" smtClean="0">
                <a:solidFill>
                  <a:srgbClr val="FFFF00"/>
                </a:solidFill>
              </a:rPr>
              <a:t>oesophagectomie</a:t>
            </a:r>
            <a:r>
              <a:rPr lang="fr-FR" sz="2800" dirty="0" smtClean="0">
                <a:solidFill>
                  <a:srgbClr val="FFFF00"/>
                </a:solidFill>
              </a:rPr>
              <a:t> est assurée par un transplant prélevé aux </a:t>
            </a:r>
          </a:p>
          <a:p>
            <a:r>
              <a:rPr lang="fr-FR" sz="2800" dirty="0" smtClean="0">
                <a:solidFill>
                  <a:srgbClr val="FFFF00"/>
                </a:solidFill>
              </a:rPr>
              <a:t>dépens d’un  viscère digestif, à l’exclusion de tout matériel inerte. L’estomac, le côlon et le </a:t>
            </a:r>
          </a:p>
          <a:p>
            <a:r>
              <a:rPr lang="fr-FR" sz="2800" dirty="0" smtClean="0">
                <a:solidFill>
                  <a:srgbClr val="FFFF00"/>
                </a:solidFill>
              </a:rPr>
              <a:t>jéjunum sont utilisables. La plastie </a:t>
            </a:r>
            <a:r>
              <a:rPr lang="fr-FR" sz="2800" dirty="0" err="1" smtClean="0">
                <a:solidFill>
                  <a:srgbClr val="FFFF00"/>
                </a:solidFill>
              </a:rPr>
              <a:t>oesophagienne</a:t>
            </a:r>
            <a:r>
              <a:rPr lang="fr-FR" sz="2800" dirty="0" smtClean="0">
                <a:solidFill>
                  <a:srgbClr val="FFFF00"/>
                </a:solidFill>
              </a:rPr>
              <a:t> est habituellement  placée soit dans le lit de </a:t>
            </a:r>
          </a:p>
          <a:p>
            <a:r>
              <a:rPr lang="fr-FR" sz="2800" dirty="0" smtClean="0">
                <a:solidFill>
                  <a:srgbClr val="FFFF00"/>
                </a:solidFill>
              </a:rPr>
              <a:t>l’</a:t>
            </a:r>
            <a:r>
              <a:rPr lang="fr-FR" sz="2800" dirty="0" err="1" smtClean="0">
                <a:solidFill>
                  <a:srgbClr val="FFFF00"/>
                </a:solidFill>
              </a:rPr>
              <a:t>oesophage</a:t>
            </a:r>
            <a:r>
              <a:rPr lang="fr-FR" sz="2800" dirty="0" smtClean="0">
                <a:solidFill>
                  <a:srgbClr val="FFFF00"/>
                </a:solidFill>
              </a:rPr>
              <a:t> réséqué dans le médiastin postérieur. </a:t>
            </a:r>
          </a:p>
          <a:p>
            <a:r>
              <a:rPr lang="fr-FR" sz="2800" dirty="0" smtClean="0">
                <a:solidFill>
                  <a:srgbClr val="FFFF00"/>
                </a:solidFill>
              </a:rPr>
              <a:t> L’estomac, est le plus fréquemment utilisé, il est </a:t>
            </a:r>
            <a:r>
              <a:rPr lang="fr-FR" sz="2800" dirty="0" err="1" smtClean="0">
                <a:solidFill>
                  <a:srgbClr val="FFFF00"/>
                </a:solidFill>
              </a:rPr>
              <a:t>ascencionné</a:t>
            </a:r>
            <a:r>
              <a:rPr lang="fr-FR" sz="2800" dirty="0" smtClean="0">
                <a:solidFill>
                  <a:srgbClr val="FFFF00"/>
                </a:solidFill>
              </a:rPr>
              <a:t> dans le thorax, </a:t>
            </a:r>
            <a:endParaRPr lang="en-US" sz="2800" dirty="0">
              <a:solidFill>
                <a:srgbClr val="FFFF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RMV0011.AVI">
            <a:hlinkClick r:id="" action="ppaction://media"/>
          </p:cNvPr>
          <p:cNvPicPr>
            <a:picLocks noRot="1" noChangeAspect="1"/>
          </p:cNvPicPr>
          <p:nvPr>
            <a:videoFile r:link="rId1"/>
          </p:nvPr>
        </p:nvPicPr>
        <p:blipFill>
          <a:blip r:embed="rId3"/>
          <a:stretch>
            <a:fillRect/>
          </a:stretch>
        </p:blipFill>
        <p:spPr>
          <a:xfrm>
            <a:off x="0" y="4787907"/>
            <a:ext cx="2609848" cy="2070094"/>
          </a:xfrm>
          <a:prstGeom prst="rect">
            <a:avLst/>
          </a:prstGeom>
        </p:spPr>
      </p:pic>
      <p:sp>
        <p:nvSpPr>
          <p:cNvPr id="3" name="ZoneTexte 2"/>
          <p:cNvSpPr txBox="1"/>
          <p:nvPr/>
        </p:nvSpPr>
        <p:spPr>
          <a:xfrm>
            <a:off x="785791" y="1000108"/>
            <a:ext cx="8072495" cy="4524315"/>
          </a:xfrm>
          <a:prstGeom prst="rect">
            <a:avLst/>
          </a:prstGeom>
          <a:noFill/>
        </p:spPr>
        <p:txBody>
          <a:bodyPr wrap="square" rtlCol="0">
            <a:spAutoFit/>
          </a:bodyPr>
          <a:lstStyle/>
          <a:p>
            <a:r>
              <a:rPr lang="en-US" sz="3600" dirty="0" smtClean="0"/>
              <a:t>abord par triple voie d’abord-Intervention </a:t>
            </a:r>
            <a:r>
              <a:rPr lang="en-US" sz="3600" dirty="0" err="1" smtClean="0"/>
              <a:t>d’Akiyama</a:t>
            </a:r>
            <a:endParaRPr lang="en-US" sz="3600" dirty="0" smtClean="0"/>
          </a:p>
          <a:p>
            <a:r>
              <a:rPr lang="en-US" sz="3600" dirty="0" smtClean="0"/>
              <a:t>Abord par double voie ,Thor et </a:t>
            </a:r>
            <a:r>
              <a:rPr lang="en-US" sz="3600" dirty="0" err="1" smtClean="0"/>
              <a:t>abdominale</a:t>
            </a:r>
            <a:r>
              <a:rPr lang="en-US" sz="3600" dirty="0" smtClean="0"/>
              <a:t>[</a:t>
            </a:r>
            <a:r>
              <a:rPr lang="en-US" sz="3600" dirty="0" err="1" smtClean="0">
                <a:solidFill>
                  <a:schemeClr val="accent1">
                    <a:lumMod val="75000"/>
                  </a:schemeClr>
                </a:solidFill>
              </a:rPr>
              <a:t>coelio</a:t>
            </a:r>
            <a:r>
              <a:rPr lang="en-US" sz="3600" dirty="0" smtClean="0"/>
              <a:t>]</a:t>
            </a:r>
          </a:p>
          <a:p>
            <a:r>
              <a:rPr lang="en-US" sz="3600" dirty="0" smtClean="0"/>
              <a:t>Intervention de Lewis par </a:t>
            </a:r>
            <a:r>
              <a:rPr lang="en-US" sz="3600" dirty="0" err="1" smtClean="0"/>
              <a:t>voie</a:t>
            </a:r>
            <a:r>
              <a:rPr lang="en-US" sz="3600" dirty="0" smtClean="0"/>
              <a:t> </a:t>
            </a:r>
            <a:r>
              <a:rPr lang="en-US" sz="3600" dirty="0" err="1" smtClean="0">
                <a:solidFill>
                  <a:schemeClr val="accent1">
                    <a:lumMod val="75000"/>
                  </a:schemeClr>
                </a:solidFill>
              </a:rPr>
              <a:t>coelioscopique</a:t>
            </a:r>
            <a:endParaRPr lang="en-US" sz="3600" dirty="0" smtClean="0">
              <a:solidFill>
                <a:schemeClr val="accent1">
                  <a:lumMod val="75000"/>
                </a:schemeClr>
              </a:solidFill>
            </a:endParaRPr>
          </a:p>
          <a:p>
            <a:r>
              <a:rPr lang="en-US" sz="3600" dirty="0" smtClean="0"/>
              <a:t>Oesophagectomie sans </a:t>
            </a:r>
            <a:r>
              <a:rPr lang="en-US" sz="3600" dirty="0" err="1" smtClean="0"/>
              <a:t>thoracotomie</a:t>
            </a:r>
            <a:r>
              <a:rPr lang="en-US" sz="3600" dirty="0" smtClean="0"/>
              <a:t> ou trans </a:t>
            </a:r>
            <a:r>
              <a:rPr lang="en-US" sz="3600" dirty="0" err="1" smtClean="0"/>
              <a:t>hiatale</a:t>
            </a:r>
            <a:endParaRPr lang="en-US" sz="3600" dirty="0"/>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p:cTn id="7" fill="hold" display="0">
                  <p:stCondLst>
                    <p:cond delay="indefinite"/>
                  </p:stCondLst>
                  <p:endCondLst>
                    <p:cond evt="onNext" delay="0">
                      <p:tgtEl>
                        <p:sldTgt/>
                      </p:tgtEl>
                    </p:cond>
                    <p:cond evt="onPrev" delay="0">
                      <p:tgtEl>
                        <p:sldTgt/>
                      </p:tgtEl>
                    </p:cond>
                  </p:endCondLst>
                </p:cTn>
                <p:tgtEl>
                  <p:spTgt spid="2"/>
                </p:tgtEl>
              </p:cMediaNode>
            </p:video>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Voie cervicale</a:t>
            </a:r>
            <a:endParaRPr lang="fr-FR" dirty="0"/>
          </a:p>
        </p:txBody>
      </p:sp>
      <p:pic>
        <p:nvPicPr>
          <p:cNvPr id="4" name="Espace réservé du contenu 3" descr="Image6.jpg"/>
          <p:cNvPicPr>
            <a:picLocks noGrp="1" noChangeAspect="1"/>
          </p:cNvPicPr>
          <p:nvPr>
            <p:ph idx="1"/>
          </p:nvPr>
        </p:nvPicPr>
        <p:blipFill>
          <a:blip r:embed="rId2"/>
          <a:stretch>
            <a:fillRect/>
          </a:stretch>
        </p:blipFill>
        <p:spPr>
          <a:xfrm>
            <a:off x="3267077" y="2917825"/>
            <a:ext cx="3067051" cy="230505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071693" y="1509713"/>
            <a:ext cx="5000625" cy="3838575"/>
          </a:xfrm>
          <a:prstGeom prst="rect">
            <a:avLst/>
          </a:prstGeom>
          <a:noFill/>
          <a:ln w="9525">
            <a:noFill/>
            <a:miter lim="800000"/>
            <a:headEnd/>
            <a:tailEnd/>
          </a:ln>
          <a:effec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024065" y="1181100"/>
            <a:ext cx="5095875" cy="4495800"/>
          </a:xfrm>
          <a:prstGeom prst="rect">
            <a:avLst/>
          </a:prstGeom>
          <a:noFill/>
          <a:ln w="9525">
            <a:noFill/>
            <a:miter lim="800000"/>
            <a:headEnd/>
            <a:tailEnd/>
          </a:ln>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428731" y="571482"/>
            <a:ext cx="7286676" cy="5500726"/>
          </a:xfrm>
          <a:prstGeom prst="rect">
            <a:avLst/>
          </a:prstGeom>
          <a:noFill/>
          <a:ln w="9525">
            <a:noFill/>
            <a:miter lim="800000"/>
            <a:headEnd/>
            <a:tailEnd/>
          </a:ln>
          <a:effec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428597" y="642922"/>
            <a:ext cx="8286808" cy="6000791"/>
          </a:xfrm>
          <a:prstGeom prst="rect">
            <a:avLst/>
          </a:prstGeom>
          <a:noFill/>
          <a:ln w="9525">
            <a:noFill/>
            <a:miter lim="800000"/>
            <a:headEnd/>
            <a:tailEnd/>
          </a:ln>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328740" y="1"/>
            <a:ext cx="6486525" cy="6715148"/>
          </a:xfrm>
          <a:prstGeom prst="rect">
            <a:avLst/>
          </a:prstGeom>
          <a:noFill/>
          <a:ln w="9525">
            <a:noFill/>
            <a:miter lim="800000"/>
            <a:headEnd/>
            <a:tailEnd/>
          </a:ln>
          <a:effec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1600200" y="52388"/>
            <a:ext cx="5943600" cy="6753225"/>
          </a:xfrm>
          <a:prstGeom prst="rect">
            <a:avLst/>
          </a:prstGeom>
          <a:noFill/>
          <a:ln w="9525">
            <a:noFill/>
            <a:miter lim="800000"/>
            <a:headEnd/>
            <a:tailEnd/>
          </a:ln>
          <a:effec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age6.png"/>
          <p:cNvPicPr>
            <a:picLocks noChangeAspect="1"/>
          </p:cNvPicPr>
          <p:nvPr/>
        </p:nvPicPr>
        <p:blipFill>
          <a:blip r:embed="rId2"/>
          <a:stretch>
            <a:fillRect/>
          </a:stretch>
        </p:blipFill>
        <p:spPr>
          <a:xfrm>
            <a:off x="1857357" y="1857366"/>
            <a:ext cx="4576651" cy="8072494"/>
          </a:xfrm>
          <a:prstGeom prst="rect">
            <a:avLst/>
          </a:prstGeom>
        </p:spPr>
      </p:pic>
      <p:sp>
        <p:nvSpPr>
          <p:cNvPr id="4" name="ZoneTexte 3"/>
          <p:cNvSpPr txBox="1"/>
          <p:nvPr/>
        </p:nvSpPr>
        <p:spPr>
          <a:xfrm>
            <a:off x="1643050" y="714360"/>
            <a:ext cx="3763723" cy="646331"/>
          </a:xfrm>
          <a:prstGeom prst="rect">
            <a:avLst/>
          </a:prstGeom>
          <a:noFill/>
        </p:spPr>
        <p:txBody>
          <a:bodyPr wrap="none" rtlCol="0">
            <a:spAutoFit/>
          </a:bodyPr>
          <a:lstStyle/>
          <a:p>
            <a:r>
              <a:rPr lang="en-US" sz="3600" dirty="0" smtClean="0">
                <a:solidFill>
                  <a:srgbClr val="FFFF00"/>
                </a:solidFill>
              </a:rPr>
              <a:t>Transplant  colique</a:t>
            </a:r>
            <a:endParaRPr lang="en-US" sz="3600" dirty="0">
              <a:solidFill>
                <a:srgbClr val="FFFF00"/>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1957393" y="357188"/>
            <a:ext cx="5229225" cy="6143625"/>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2009777" y="404813"/>
            <a:ext cx="5124451" cy="6048375"/>
          </a:xfrm>
          <a:prstGeom prst="rect">
            <a:avLst/>
          </a:prstGeom>
          <a:noFill/>
          <a:ln w="9525">
            <a:noFill/>
            <a:miter lim="800000"/>
            <a:headEnd/>
            <a:tailEnd/>
          </a:ln>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7" y="285728"/>
            <a:ext cx="9001156" cy="5016758"/>
          </a:xfrm>
          <a:prstGeom prst="rect">
            <a:avLst/>
          </a:prstGeom>
        </p:spPr>
        <p:txBody>
          <a:bodyPr wrap="square">
            <a:spAutoFit/>
          </a:bodyPr>
          <a:lstStyle/>
          <a:p>
            <a:r>
              <a:rPr lang="fr-FR" sz="3200" dirty="0" smtClean="0">
                <a:solidFill>
                  <a:schemeClr val="accent1">
                    <a:lumMod val="75000"/>
                  </a:schemeClr>
                </a:solidFill>
              </a:rPr>
              <a:t>Recommandations</a:t>
            </a:r>
          </a:p>
          <a:p>
            <a:r>
              <a:rPr lang="fr-FR" dirty="0" smtClean="0"/>
              <a:t>(Mariette, 2015 ; 2002 ; 2003 ; </a:t>
            </a:r>
            <a:r>
              <a:rPr lang="fr-FR" dirty="0" err="1" smtClean="0"/>
              <a:t>Barbour</a:t>
            </a:r>
            <a:r>
              <a:rPr lang="fr-FR" dirty="0" smtClean="0"/>
              <a:t>, 2007 ; </a:t>
            </a:r>
            <a:r>
              <a:rPr lang="fr-FR" dirty="0" err="1" smtClean="0"/>
              <a:t>Omloo</a:t>
            </a:r>
            <a:r>
              <a:rPr lang="fr-FR" dirty="0" smtClean="0"/>
              <a:t>, 2007 )(</a:t>
            </a:r>
            <a:r>
              <a:rPr lang="fr-FR" dirty="0" err="1" smtClean="0"/>
              <a:t>Sasako</a:t>
            </a:r>
            <a:r>
              <a:rPr lang="fr-FR" dirty="0" smtClean="0"/>
              <a:t>, 2006)</a:t>
            </a:r>
          </a:p>
          <a:p>
            <a:r>
              <a:rPr lang="fr-FR" dirty="0" smtClean="0"/>
              <a:t>Sevrage alcool/tabac.</a:t>
            </a:r>
          </a:p>
          <a:p>
            <a:r>
              <a:rPr lang="fr-FR" dirty="0" smtClean="0"/>
              <a:t>Kinésithérapie respiratoire préopératoire.</a:t>
            </a:r>
          </a:p>
          <a:p>
            <a:r>
              <a:rPr lang="fr-FR" dirty="0" err="1" smtClean="0"/>
              <a:t>Renutrition</a:t>
            </a:r>
            <a:r>
              <a:rPr lang="fr-FR" dirty="0" smtClean="0"/>
              <a:t> préopératoire, au mieux, par voie </a:t>
            </a:r>
            <a:r>
              <a:rPr lang="fr-FR" dirty="0" err="1" smtClean="0"/>
              <a:t>entérale</a:t>
            </a:r>
            <a:r>
              <a:rPr lang="fr-FR" dirty="0" smtClean="0"/>
              <a:t>.</a:t>
            </a:r>
          </a:p>
          <a:p>
            <a:r>
              <a:rPr lang="fr-FR" dirty="0" err="1" smtClean="0"/>
              <a:t>Immunonutrition</a:t>
            </a:r>
            <a:r>
              <a:rPr lang="fr-FR" dirty="0" smtClean="0"/>
              <a:t> recommandée.</a:t>
            </a:r>
          </a:p>
          <a:p>
            <a:r>
              <a:rPr lang="fr-FR" dirty="0" err="1" smtClean="0"/>
              <a:t>Œsogastrectomie</a:t>
            </a:r>
            <a:r>
              <a:rPr lang="fr-FR" dirty="0" smtClean="0"/>
              <a:t> polaire supérieure avec plastie gastrique et </a:t>
            </a:r>
            <a:r>
              <a:rPr lang="fr-FR" dirty="0" err="1" smtClean="0"/>
              <a:t>lymphadénectomie</a:t>
            </a:r>
            <a:r>
              <a:rPr lang="fr-FR" dirty="0" smtClean="0"/>
              <a:t> cœliaque et </a:t>
            </a:r>
            <a:r>
              <a:rPr lang="fr-FR" dirty="0" err="1" smtClean="0"/>
              <a:t>médiastinale</a:t>
            </a:r>
            <a:r>
              <a:rPr lang="fr-FR" dirty="0" smtClean="0"/>
              <a:t> par double</a:t>
            </a:r>
          </a:p>
          <a:p>
            <a:r>
              <a:rPr lang="fr-FR" dirty="0" smtClean="0"/>
              <a:t>voie abdominale et thoracique droite (intervention de Lewis-</a:t>
            </a:r>
            <a:r>
              <a:rPr lang="fr-FR" dirty="0" err="1" smtClean="0"/>
              <a:t>Santi</a:t>
            </a:r>
            <a:r>
              <a:rPr lang="fr-FR" dirty="0" smtClean="0"/>
              <a:t>) (il n'y a pas de place pour la voie de gauche (</a:t>
            </a:r>
            <a:r>
              <a:rPr lang="fr-FR" dirty="0" err="1" smtClean="0"/>
              <a:t>Sweet</a:t>
            </a:r>
            <a:r>
              <a:rPr lang="fr-FR" dirty="0" smtClean="0"/>
              <a:t>))</a:t>
            </a:r>
          </a:p>
          <a:p>
            <a:r>
              <a:rPr lang="fr-FR" dirty="0" smtClean="0"/>
              <a:t>et comportant l'exérèse monobloc :</a:t>
            </a:r>
          </a:p>
          <a:p>
            <a:r>
              <a:rPr lang="fr-FR" dirty="0" smtClean="0"/>
              <a:t>du canal thoracique</a:t>
            </a:r>
          </a:p>
          <a:p>
            <a:r>
              <a:rPr lang="fr-FR" dirty="0" smtClean="0"/>
              <a:t>des ganglions </a:t>
            </a:r>
            <a:r>
              <a:rPr lang="fr-FR" dirty="0" err="1" smtClean="0"/>
              <a:t>médiastinaux</a:t>
            </a:r>
            <a:r>
              <a:rPr lang="fr-FR" dirty="0" smtClean="0"/>
              <a:t> moyens</a:t>
            </a:r>
          </a:p>
          <a:p>
            <a:r>
              <a:rPr lang="fr-FR" dirty="0" smtClean="0"/>
              <a:t>des ganglions </a:t>
            </a:r>
            <a:r>
              <a:rPr lang="fr-FR" dirty="0" err="1" smtClean="0"/>
              <a:t>médiastinaux</a:t>
            </a:r>
            <a:r>
              <a:rPr lang="fr-FR" dirty="0" smtClean="0"/>
              <a:t> inférieurs et cœliaques.</a:t>
            </a:r>
          </a:p>
          <a:p>
            <a:r>
              <a:rPr lang="fr-FR" dirty="0" smtClean="0"/>
              <a:t>Marge œsophagienne supérieure d'au moins 8 cm (incluant en outre la totalité de l'</a:t>
            </a:r>
            <a:r>
              <a:rPr lang="fr-FR" dirty="0" err="1" smtClean="0"/>
              <a:t>endobrachyœsophage</a:t>
            </a:r>
            <a:r>
              <a:rPr lang="fr-FR" dirty="0" smtClean="0"/>
              <a:t>). Marge</a:t>
            </a:r>
          </a:p>
          <a:p>
            <a:r>
              <a:rPr lang="fr-FR" dirty="0" smtClean="0"/>
              <a:t>inférieure d'au moins 5 cm. Un examen extemporané de la recoupe supérieure est une option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214290"/>
            <a:ext cx="8786842" cy="1323439"/>
          </a:xfrm>
          <a:prstGeom prst="rect">
            <a:avLst/>
          </a:prstGeom>
        </p:spPr>
        <p:txBody>
          <a:bodyPr wrap="square">
            <a:spAutoFit/>
          </a:bodyPr>
          <a:lstStyle/>
          <a:p>
            <a:r>
              <a:rPr lang="en-US" sz="4000" dirty="0" smtClean="0">
                <a:solidFill>
                  <a:schemeClr val="accent3"/>
                </a:solidFill>
              </a:rPr>
              <a:t>indications </a:t>
            </a:r>
            <a:r>
              <a:rPr lang="en-US" sz="4000" dirty="0" err="1" smtClean="0">
                <a:solidFill>
                  <a:schemeClr val="accent3"/>
                </a:solidFill>
              </a:rPr>
              <a:t>operatoires</a:t>
            </a:r>
            <a:r>
              <a:rPr lang="en-US" sz="4000" dirty="0" smtClean="0">
                <a:solidFill>
                  <a:schemeClr val="accent3"/>
                </a:solidFill>
              </a:rPr>
              <a:t> de </a:t>
            </a:r>
            <a:r>
              <a:rPr lang="en-US" sz="4000" dirty="0" err="1" smtClean="0">
                <a:solidFill>
                  <a:schemeClr val="accent3"/>
                </a:solidFill>
              </a:rPr>
              <a:t>quelques</a:t>
            </a:r>
            <a:r>
              <a:rPr lang="en-US" sz="4000" dirty="0" smtClean="0">
                <a:solidFill>
                  <a:schemeClr val="accent3"/>
                </a:solidFill>
              </a:rPr>
              <a:t> </a:t>
            </a:r>
            <a:r>
              <a:rPr lang="en-US" sz="4000" dirty="0" err="1" smtClean="0">
                <a:solidFill>
                  <a:schemeClr val="accent3"/>
                </a:solidFill>
              </a:rPr>
              <a:t>cas</a:t>
            </a:r>
            <a:r>
              <a:rPr lang="en-US" sz="4000" dirty="0" smtClean="0">
                <a:solidFill>
                  <a:schemeClr val="accent3"/>
                </a:solidFill>
              </a:rPr>
              <a:t> </a:t>
            </a:r>
            <a:r>
              <a:rPr lang="en-US" sz="4000" dirty="0" err="1" smtClean="0">
                <a:solidFill>
                  <a:schemeClr val="accent3"/>
                </a:solidFill>
              </a:rPr>
              <a:t>particuliers</a:t>
            </a:r>
            <a:endParaRPr lang="en-US" sz="4000" dirty="0" smtClean="0">
              <a:solidFill>
                <a:schemeClr val="accent3"/>
              </a:solidFill>
            </a:endParaRPr>
          </a:p>
        </p:txBody>
      </p:sp>
      <p:sp>
        <p:nvSpPr>
          <p:cNvPr id="3" name="Rectangle 2"/>
          <p:cNvSpPr/>
          <p:nvPr/>
        </p:nvSpPr>
        <p:spPr>
          <a:xfrm>
            <a:off x="1" y="1500174"/>
            <a:ext cx="9143999" cy="5847755"/>
          </a:xfrm>
          <a:prstGeom prst="rect">
            <a:avLst/>
          </a:prstGeom>
        </p:spPr>
        <p:txBody>
          <a:bodyPr wrap="square">
            <a:spAutoFit/>
          </a:bodyPr>
          <a:lstStyle/>
          <a:p>
            <a:r>
              <a:rPr lang="en-US" sz="3200" dirty="0" smtClean="0">
                <a:solidFill>
                  <a:schemeClr val="accent1">
                    <a:lumMod val="75000"/>
                  </a:schemeClr>
                </a:solidFill>
              </a:rPr>
              <a:t>Pour les cancers de </a:t>
            </a:r>
            <a:r>
              <a:rPr lang="en-US" sz="3200" dirty="0" err="1" smtClean="0">
                <a:solidFill>
                  <a:schemeClr val="accent1">
                    <a:lumMod val="75000"/>
                  </a:schemeClr>
                </a:solidFill>
              </a:rPr>
              <a:t>l’oesophage</a:t>
            </a:r>
            <a:r>
              <a:rPr lang="en-US" sz="3200" dirty="0" smtClean="0">
                <a:solidFill>
                  <a:schemeClr val="accent1">
                    <a:lumMod val="75000"/>
                  </a:schemeClr>
                </a:solidFill>
              </a:rPr>
              <a:t> </a:t>
            </a:r>
            <a:r>
              <a:rPr lang="en-US" sz="3200" dirty="0" err="1" smtClean="0">
                <a:solidFill>
                  <a:schemeClr val="accent1">
                    <a:lumMod val="75000"/>
                  </a:schemeClr>
                </a:solidFill>
              </a:rPr>
              <a:t>thoracique</a:t>
            </a:r>
            <a:r>
              <a:rPr lang="en-US" sz="3200" dirty="0" smtClean="0">
                <a:solidFill>
                  <a:schemeClr val="accent1">
                    <a:lumMod val="75000"/>
                  </a:schemeClr>
                </a:solidFill>
              </a:rPr>
              <a:t> </a:t>
            </a:r>
            <a:r>
              <a:rPr lang="en-US" sz="3200" dirty="0" err="1" smtClean="0">
                <a:solidFill>
                  <a:schemeClr val="accent1">
                    <a:lumMod val="75000"/>
                  </a:schemeClr>
                </a:solidFill>
              </a:rPr>
              <a:t>superieur</a:t>
            </a:r>
            <a:r>
              <a:rPr lang="en-US" sz="3200" dirty="0" smtClean="0">
                <a:solidFill>
                  <a:schemeClr val="accent1">
                    <a:lumMod val="75000"/>
                  </a:schemeClr>
                </a:solidFill>
              </a:rPr>
              <a:t> </a:t>
            </a:r>
          </a:p>
          <a:p>
            <a:r>
              <a:rPr lang="en-US" sz="3200" dirty="0" smtClean="0">
                <a:solidFill>
                  <a:schemeClr val="accent1">
                    <a:lumMod val="75000"/>
                  </a:schemeClr>
                </a:solidFill>
              </a:rPr>
              <a:t>Un </a:t>
            </a:r>
            <a:r>
              <a:rPr lang="en-US" sz="3200" dirty="0" err="1" smtClean="0">
                <a:solidFill>
                  <a:schemeClr val="accent1">
                    <a:lumMod val="75000"/>
                  </a:schemeClr>
                </a:solidFill>
              </a:rPr>
              <a:t>currage</a:t>
            </a:r>
            <a:r>
              <a:rPr lang="en-US" sz="3200" dirty="0" smtClean="0">
                <a:solidFill>
                  <a:schemeClr val="accent1">
                    <a:lumMod val="75000"/>
                  </a:schemeClr>
                </a:solidFill>
              </a:rPr>
              <a:t> cervical bilateral </a:t>
            </a:r>
            <a:r>
              <a:rPr lang="en-US" sz="3200" dirty="0" err="1" smtClean="0">
                <a:solidFill>
                  <a:schemeClr val="accent1">
                    <a:lumMod val="75000"/>
                  </a:schemeClr>
                </a:solidFill>
              </a:rPr>
              <a:t>est</a:t>
            </a:r>
            <a:r>
              <a:rPr lang="en-US" sz="3200" dirty="0" smtClean="0">
                <a:solidFill>
                  <a:schemeClr val="accent1">
                    <a:lumMod val="75000"/>
                  </a:schemeClr>
                </a:solidFill>
              </a:rPr>
              <a:t> </a:t>
            </a:r>
            <a:r>
              <a:rPr lang="en-US" sz="3200" dirty="0" err="1" smtClean="0">
                <a:solidFill>
                  <a:schemeClr val="accent1">
                    <a:lumMod val="75000"/>
                  </a:schemeClr>
                </a:solidFill>
              </a:rPr>
              <a:t>recommade</a:t>
            </a:r>
            <a:endParaRPr lang="en-US" sz="3200" dirty="0" smtClean="0">
              <a:solidFill>
                <a:schemeClr val="accent1">
                  <a:lumMod val="75000"/>
                </a:schemeClr>
              </a:solidFill>
            </a:endParaRPr>
          </a:p>
          <a:p>
            <a:r>
              <a:rPr lang="en-US" sz="3200" dirty="0" smtClean="0">
                <a:solidFill>
                  <a:schemeClr val="accent1">
                    <a:lumMod val="75000"/>
                  </a:schemeClr>
                </a:solidFill>
              </a:rPr>
              <a:t>Pour  les cancers de la </a:t>
            </a:r>
            <a:r>
              <a:rPr lang="en-US" sz="3200" dirty="0" err="1" smtClean="0">
                <a:solidFill>
                  <a:schemeClr val="accent1">
                    <a:lumMod val="75000"/>
                  </a:schemeClr>
                </a:solidFill>
              </a:rPr>
              <a:t>jonction</a:t>
            </a:r>
            <a:r>
              <a:rPr lang="en-US" sz="3200" dirty="0" smtClean="0">
                <a:solidFill>
                  <a:schemeClr val="accent1">
                    <a:lumMod val="75000"/>
                  </a:schemeClr>
                </a:solidFill>
              </a:rPr>
              <a:t> oeso </a:t>
            </a:r>
            <a:r>
              <a:rPr lang="en-US" sz="3200" dirty="0" err="1" smtClean="0">
                <a:solidFill>
                  <a:schemeClr val="accent1">
                    <a:lumMod val="75000"/>
                  </a:schemeClr>
                </a:solidFill>
              </a:rPr>
              <a:t>gastrique</a:t>
            </a:r>
            <a:endParaRPr lang="en-US" sz="3200" dirty="0" smtClean="0">
              <a:solidFill>
                <a:schemeClr val="accent1">
                  <a:lumMod val="75000"/>
                </a:schemeClr>
              </a:solidFill>
            </a:endParaRPr>
          </a:p>
          <a:p>
            <a:r>
              <a:rPr lang="en-US" sz="3200" dirty="0" err="1" smtClean="0">
                <a:solidFill>
                  <a:schemeClr val="accent1">
                    <a:lumMod val="75000"/>
                  </a:schemeClr>
                </a:solidFill>
              </a:rPr>
              <a:t>Soit</a:t>
            </a:r>
            <a:r>
              <a:rPr lang="en-US" sz="3200" dirty="0" smtClean="0">
                <a:solidFill>
                  <a:schemeClr val="accent1">
                    <a:lumMod val="75000"/>
                  </a:schemeClr>
                </a:solidFill>
              </a:rPr>
              <a:t> </a:t>
            </a:r>
            <a:r>
              <a:rPr lang="en-US" sz="3200" dirty="0" err="1" smtClean="0">
                <a:solidFill>
                  <a:schemeClr val="accent1">
                    <a:lumMod val="75000"/>
                  </a:schemeClr>
                </a:solidFill>
              </a:rPr>
              <a:t>l’intervention</a:t>
            </a:r>
            <a:r>
              <a:rPr lang="en-US" sz="3200" dirty="0" smtClean="0">
                <a:solidFill>
                  <a:schemeClr val="accent1">
                    <a:lumMod val="75000"/>
                  </a:schemeClr>
                </a:solidFill>
              </a:rPr>
              <a:t> de </a:t>
            </a:r>
            <a:r>
              <a:rPr lang="en-US" sz="3200" dirty="0" err="1" smtClean="0">
                <a:solidFill>
                  <a:schemeClr val="accent1">
                    <a:lumMod val="75000"/>
                  </a:schemeClr>
                </a:solidFill>
              </a:rPr>
              <a:t>santy</a:t>
            </a:r>
            <a:r>
              <a:rPr lang="en-US" sz="3200" dirty="0" smtClean="0">
                <a:solidFill>
                  <a:schemeClr val="accent1">
                    <a:lumMod val="75000"/>
                  </a:schemeClr>
                </a:solidFill>
              </a:rPr>
              <a:t> </a:t>
            </a:r>
            <a:r>
              <a:rPr lang="en-US" sz="3200" dirty="0" err="1" smtClean="0">
                <a:solidFill>
                  <a:schemeClr val="accent1">
                    <a:lumMod val="75000"/>
                  </a:schemeClr>
                </a:solidFill>
              </a:rPr>
              <a:t>lewis</a:t>
            </a:r>
            <a:endParaRPr lang="en-US" sz="3200" dirty="0" smtClean="0">
              <a:solidFill>
                <a:schemeClr val="accent1">
                  <a:lumMod val="75000"/>
                </a:schemeClr>
              </a:solidFill>
            </a:endParaRPr>
          </a:p>
          <a:p>
            <a:r>
              <a:rPr lang="en-US" sz="3200" dirty="0" err="1" smtClean="0">
                <a:solidFill>
                  <a:schemeClr val="accent1">
                    <a:lumMod val="75000"/>
                  </a:schemeClr>
                </a:solidFill>
              </a:rPr>
              <a:t>Soit</a:t>
            </a:r>
            <a:r>
              <a:rPr lang="en-US" sz="3200" dirty="0" smtClean="0">
                <a:solidFill>
                  <a:schemeClr val="accent1">
                    <a:lumMod val="75000"/>
                  </a:schemeClr>
                </a:solidFill>
              </a:rPr>
              <a:t> </a:t>
            </a:r>
            <a:r>
              <a:rPr lang="en-US" sz="3200" dirty="0" err="1" smtClean="0">
                <a:solidFill>
                  <a:schemeClr val="accent1">
                    <a:lumMod val="75000"/>
                  </a:schemeClr>
                </a:solidFill>
              </a:rPr>
              <a:t>oesogastrectomie</a:t>
            </a:r>
            <a:r>
              <a:rPr lang="en-US" sz="3200" dirty="0" smtClean="0">
                <a:solidFill>
                  <a:schemeClr val="accent1">
                    <a:lumMod val="75000"/>
                  </a:schemeClr>
                </a:solidFill>
              </a:rPr>
              <a:t>  </a:t>
            </a:r>
            <a:r>
              <a:rPr lang="en-US" sz="3200" dirty="0" err="1" smtClean="0">
                <a:solidFill>
                  <a:schemeClr val="accent1">
                    <a:lumMod val="75000"/>
                  </a:schemeClr>
                </a:solidFill>
              </a:rPr>
              <a:t>totale</a:t>
            </a:r>
            <a:r>
              <a:rPr lang="en-US" sz="3200" dirty="0" smtClean="0">
                <a:solidFill>
                  <a:schemeClr val="accent1">
                    <a:lumMod val="75000"/>
                  </a:schemeClr>
                </a:solidFill>
              </a:rPr>
              <a:t> avec </a:t>
            </a:r>
            <a:r>
              <a:rPr lang="en-US" sz="3200" dirty="0" err="1" smtClean="0">
                <a:solidFill>
                  <a:schemeClr val="accent1">
                    <a:lumMod val="75000"/>
                  </a:schemeClr>
                </a:solidFill>
              </a:rPr>
              <a:t>anastomose</a:t>
            </a:r>
            <a:r>
              <a:rPr lang="en-US" sz="3200" dirty="0" smtClean="0">
                <a:solidFill>
                  <a:schemeClr val="accent1">
                    <a:lumMod val="75000"/>
                  </a:schemeClr>
                </a:solidFill>
              </a:rPr>
              <a:t> oeso </a:t>
            </a:r>
            <a:r>
              <a:rPr lang="en-US" sz="3200" dirty="0" err="1" smtClean="0">
                <a:solidFill>
                  <a:schemeClr val="accent1">
                    <a:lumMod val="75000"/>
                  </a:schemeClr>
                </a:solidFill>
              </a:rPr>
              <a:t>jejunale</a:t>
            </a:r>
            <a:endParaRPr lang="en-US" sz="3200" dirty="0" smtClean="0">
              <a:solidFill>
                <a:schemeClr val="accent1">
                  <a:lumMod val="75000"/>
                </a:schemeClr>
              </a:solidFill>
            </a:endParaRPr>
          </a:p>
          <a:p>
            <a:r>
              <a:rPr lang="en-US" sz="3200" dirty="0" smtClean="0">
                <a:solidFill>
                  <a:schemeClr val="accent1">
                    <a:lumMod val="75000"/>
                  </a:schemeClr>
                </a:solidFill>
              </a:rPr>
              <a:t>Pour les cancers de </a:t>
            </a:r>
            <a:r>
              <a:rPr lang="en-US" sz="3200" dirty="0" err="1" smtClean="0">
                <a:solidFill>
                  <a:schemeClr val="accent1">
                    <a:lumMod val="75000"/>
                  </a:schemeClr>
                </a:solidFill>
              </a:rPr>
              <a:t>l’eosophage</a:t>
            </a:r>
            <a:r>
              <a:rPr lang="en-US" sz="3200" dirty="0" smtClean="0">
                <a:solidFill>
                  <a:schemeClr val="accent1">
                    <a:lumMod val="75000"/>
                  </a:schemeClr>
                </a:solidFill>
              </a:rPr>
              <a:t> avec </a:t>
            </a:r>
            <a:r>
              <a:rPr lang="en-US" sz="3200" dirty="0" err="1" smtClean="0">
                <a:solidFill>
                  <a:schemeClr val="accent1">
                    <a:lumMod val="75000"/>
                  </a:schemeClr>
                </a:solidFill>
              </a:rPr>
              <a:t>contre</a:t>
            </a:r>
            <a:r>
              <a:rPr lang="en-US" sz="3200" dirty="0" smtClean="0">
                <a:solidFill>
                  <a:schemeClr val="accent1">
                    <a:lumMod val="75000"/>
                  </a:schemeClr>
                </a:solidFill>
              </a:rPr>
              <a:t> indication </a:t>
            </a:r>
            <a:r>
              <a:rPr lang="en-US" sz="3200" dirty="0" err="1" smtClean="0">
                <a:solidFill>
                  <a:schemeClr val="accent1">
                    <a:lumMod val="75000"/>
                  </a:schemeClr>
                </a:solidFill>
              </a:rPr>
              <a:t>respitratoire</a:t>
            </a:r>
            <a:endParaRPr lang="en-US" sz="3200" dirty="0" smtClean="0">
              <a:solidFill>
                <a:schemeClr val="accent1">
                  <a:lumMod val="75000"/>
                </a:schemeClr>
              </a:solidFill>
            </a:endParaRPr>
          </a:p>
          <a:p>
            <a:r>
              <a:rPr lang="en-US" sz="3200" dirty="0" smtClean="0">
                <a:solidFill>
                  <a:schemeClr val="accent1">
                    <a:lumMod val="75000"/>
                  </a:schemeClr>
                </a:solidFill>
              </a:rPr>
              <a:t>Il </a:t>
            </a:r>
            <a:r>
              <a:rPr lang="en-US" sz="3200" dirty="0" err="1" smtClean="0">
                <a:solidFill>
                  <a:schemeClr val="accent1">
                    <a:lumMod val="75000"/>
                  </a:schemeClr>
                </a:solidFill>
              </a:rPr>
              <a:t>faudra</a:t>
            </a:r>
            <a:r>
              <a:rPr lang="en-US" sz="3200" dirty="0" smtClean="0">
                <a:solidFill>
                  <a:schemeClr val="accent1">
                    <a:lumMod val="75000"/>
                  </a:schemeClr>
                </a:solidFill>
              </a:rPr>
              <a:t> </a:t>
            </a:r>
            <a:r>
              <a:rPr lang="en-US" sz="3200" dirty="0" err="1" smtClean="0">
                <a:solidFill>
                  <a:schemeClr val="accent1">
                    <a:lumMod val="75000"/>
                  </a:schemeClr>
                </a:solidFill>
              </a:rPr>
              <a:t>envisager</a:t>
            </a:r>
            <a:r>
              <a:rPr lang="en-US" sz="3200" dirty="0" smtClean="0">
                <a:solidFill>
                  <a:schemeClr val="accent1">
                    <a:lumMod val="75000"/>
                  </a:schemeClr>
                </a:solidFill>
              </a:rPr>
              <a:t> </a:t>
            </a:r>
            <a:r>
              <a:rPr lang="en-US" sz="3200" dirty="0" err="1" smtClean="0">
                <a:solidFill>
                  <a:schemeClr val="accent1">
                    <a:lumMod val="75000"/>
                  </a:schemeClr>
                </a:solidFill>
              </a:rPr>
              <a:t>une</a:t>
            </a:r>
            <a:r>
              <a:rPr lang="en-US" sz="3200" dirty="0" smtClean="0">
                <a:solidFill>
                  <a:schemeClr val="accent1">
                    <a:lumMod val="75000"/>
                  </a:schemeClr>
                </a:solidFill>
              </a:rPr>
              <a:t> </a:t>
            </a:r>
            <a:r>
              <a:rPr lang="en-US" sz="3200" dirty="0" err="1" smtClean="0">
                <a:solidFill>
                  <a:schemeClr val="accent1">
                    <a:lumMod val="75000"/>
                  </a:schemeClr>
                </a:solidFill>
              </a:rPr>
              <a:t>eosophagectomie</a:t>
            </a:r>
            <a:r>
              <a:rPr lang="en-US" sz="3200" dirty="0" smtClean="0">
                <a:solidFill>
                  <a:schemeClr val="accent1">
                    <a:lumMod val="75000"/>
                  </a:schemeClr>
                </a:solidFill>
              </a:rPr>
              <a:t> sans </a:t>
            </a:r>
            <a:r>
              <a:rPr lang="en-US" sz="3200" dirty="0" err="1" smtClean="0">
                <a:solidFill>
                  <a:schemeClr val="accent1">
                    <a:lumMod val="75000"/>
                  </a:schemeClr>
                </a:solidFill>
              </a:rPr>
              <a:t>thoracotomie</a:t>
            </a:r>
            <a:endParaRPr lang="en-US" sz="3200" dirty="0" smtClean="0">
              <a:solidFill>
                <a:schemeClr val="accent1">
                  <a:lumMod val="75000"/>
                </a:schemeClr>
              </a:solidFill>
            </a:endParaRPr>
          </a:p>
          <a:p>
            <a:endParaRPr lang="en-US" dirty="0" smtClean="0">
              <a:solidFill>
                <a:schemeClr val="accent1">
                  <a:lumMod val="75000"/>
                </a:schemeClr>
              </a:solidFill>
            </a:endParaRPr>
          </a:p>
          <a:p>
            <a:endParaRPr lang="en-US" dirty="0" smtClean="0">
              <a:solidFill>
                <a:schemeClr val="accent1">
                  <a:lumMod val="75000"/>
                </a:schemeClr>
              </a:solidFill>
            </a:endParaRPr>
          </a:p>
          <a:p>
            <a:endParaRPr lang="en-US" dirty="0" smtClean="0">
              <a:solidFill>
                <a:schemeClr val="accent1">
                  <a:lumMod val="75000"/>
                </a:schemeClr>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601" y="500042"/>
            <a:ext cx="8358247" cy="6124754"/>
          </a:xfrm>
          <a:prstGeom prst="rect">
            <a:avLst/>
          </a:prstGeom>
        </p:spPr>
        <p:txBody>
          <a:bodyPr wrap="square">
            <a:spAutoFit/>
          </a:bodyPr>
          <a:lstStyle/>
          <a:p>
            <a:r>
              <a:rPr lang="fr-FR" sz="2800" dirty="0" smtClean="0">
                <a:solidFill>
                  <a:srgbClr val="FFFF00"/>
                </a:solidFill>
              </a:rPr>
              <a:t> </a:t>
            </a:r>
            <a:r>
              <a:rPr lang="fr-FR" sz="2800" dirty="0" smtClean="0">
                <a:solidFill>
                  <a:srgbClr val="FF0000"/>
                </a:solidFill>
              </a:rPr>
              <a:t>RÉSULTATS. </a:t>
            </a:r>
          </a:p>
          <a:p>
            <a:r>
              <a:rPr lang="fr-FR" sz="2800" dirty="0" smtClean="0">
                <a:solidFill>
                  <a:srgbClr val="FFFF00"/>
                </a:solidFill>
              </a:rPr>
              <a:t> La morbidité  moyenne est de 24%. Les complications les plus fréquentes sont : les </a:t>
            </a:r>
          </a:p>
          <a:p>
            <a:r>
              <a:rPr lang="fr-FR" sz="2800" dirty="0" smtClean="0">
                <a:solidFill>
                  <a:srgbClr val="FFFF00"/>
                </a:solidFill>
              </a:rPr>
              <a:t>fistules anastomotiques : 24%; mortelles dans 38% des cas. </a:t>
            </a:r>
          </a:p>
          <a:p>
            <a:r>
              <a:rPr lang="fr-FR" sz="2800" dirty="0" smtClean="0">
                <a:solidFill>
                  <a:srgbClr val="FFFF00"/>
                </a:solidFill>
              </a:rPr>
              <a:t>       les complications respiratoires : 17% </a:t>
            </a:r>
          </a:p>
          <a:p>
            <a:r>
              <a:rPr lang="fr-FR" sz="2800" dirty="0" smtClean="0">
                <a:solidFill>
                  <a:srgbClr val="FFFF00"/>
                </a:solidFill>
              </a:rPr>
              <a:t>       le </a:t>
            </a:r>
            <a:r>
              <a:rPr lang="fr-FR" sz="2800" dirty="0" err="1" smtClean="0">
                <a:solidFill>
                  <a:srgbClr val="FFFF00"/>
                </a:solidFill>
              </a:rPr>
              <a:t>chylothorax</a:t>
            </a:r>
            <a:r>
              <a:rPr lang="fr-FR" sz="2800" dirty="0" smtClean="0">
                <a:solidFill>
                  <a:srgbClr val="FFFF00"/>
                </a:solidFill>
              </a:rPr>
              <a:t> par plaie du canal thoracique : 2% </a:t>
            </a:r>
          </a:p>
          <a:p>
            <a:r>
              <a:rPr lang="fr-FR" sz="2800" dirty="0" smtClean="0">
                <a:solidFill>
                  <a:srgbClr val="FFFF00"/>
                </a:solidFill>
              </a:rPr>
              <a:t>       la paralysie </a:t>
            </a:r>
            <a:r>
              <a:rPr lang="fr-FR" sz="2800" dirty="0" err="1" smtClean="0">
                <a:solidFill>
                  <a:srgbClr val="FFFF00"/>
                </a:solidFill>
              </a:rPr>
              <a:t>récurentielle</a:t>
            </a:r>
            <a:r>
              <a:rPr lang="fr-FR" sz="2800" dirty="0" smtClean="0">
                <a:solidFill>
                  <a:srgbClr val="FFFF00"/>
                </a:solidFill>
              </a:rPr>
              <a:t> </a:t>
            </a:r>
          </a:p>
          <a:p>
            <a:r>
              <a:rPr lang="fr-FR" sz="2800" dirty="0" smtClean="0">
                <a:solidFill>
                  <a:srgbClr val="FFFF00"/>
                </a:solidFill>
              </a:rPr>
              <a:t> La mortalité  varie de 1,7 à 19%. </a:t>
            </a:r>
          </a:p>
          <a:p>
            <a:r>
              <a:rPr lang="fr-FR" sz="2800" dirty="0" smtClean="0">
                <a:solidFill>
                  <a:srgbClr val="FFFF00"/>
                </a:solidFill>
              </a:rPr>
              <a:t> La survie à distance est corrélée au stade de la tumeur  et au degré d’envahissement </a:t>
            </a:r>
          </a:p>
          <a:p>
            <a:r>
              <a:rPr lang="fr-FR" sz="2800" dirty="0" smtClean="0">
                <a:solidFill>
                  <a:srgbClr val="FFFF00"/>
                </a:solidFill>
              </a:rPr>
              <a:t>ganglionnaire. Les taux de survie à 5 ans varient de 72% pour les cancers in situ à 2% pour </a:t>
            </a:r>
          </a:p>
          <a:p>
            <a:r>
              <a:rPr lang="fr-FR" sz="2800" dirty="0" smtClean="0">
                <a:solidFill>
                  <a:srgbClr val="FFFF00"/>
                </a:solidFill>
              </a:rPr>
              <a:t>les stades T3. </a:t>
            </a:r>
            <a:endParaRPr lang="en-US" sz="2800" dirty="0">
              <a:solidFill>
                <a:srgbClr val="FFFF00"/>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4" y="785794"/>
            <a:ext cx="8143932" cy="3293209"/>
          </a:xfrm>
          <a:prstGeom prst="rect">
            <a:avLst/>
          </a:prstGeom>
        </p:spPr>
        <p:txBody>
          <a:bodyPr wrap="square">
            <a:spAutoFit/>
          </a:bodyPr>
          <a:lstStyle/>
          <a:p>
            <a:r>
              <a:rPr lang="fr-FR" sz="4000" dirty="0" smtClean="0">
                <a:solidFill>
                  <a:srgbClr val="FFFF00"/>
                </a:solidFill>
              </a:rPr>
              <a:t>  </a:t>
            </a:r>
            <a:r>
              <a:rPr lang="fr-FR" sz="4000" dirty="0" smtClean="0">
                <a:solidFill>
                  <a:srgbClr val="FF0000"/>
                </a:solidFill>
              </a:rPr>
              <a:t>Chirurgie palliative</a:t>
            </a:r>
            <a:r>
              <a:rPr lang="fr-FR" sz="2800" dirty="0" smtClean="0">
                <a:solidFill>
                  <a:srgbClr val="FF0000"/>
                </a:solidFill>
              </a:rPr>
              <a:t> </a:t>
            </a:r>
            <a:r>
              <a:rPr lang="fr-FR" sz="2800" dirty="0" smtClean="0">
                <a:solidFill>
                  <a:srgbClr val="FFFF00"/>
                </a:solidFill>
              </a:rPr>
              <a:t>:  son objectif est  de permettre une nutrition </a:t>
            </a:r>
            <a:r>
              <a:rPr lang="fr-FR" sz="2800" dirty="0" err="1" smtClean="0">
                <a:solidFill>
                  <a:srgbClr val="FFFF00"/>
                </a:solidFill>
              </a:rPr>
              <a:t>entérale</a:t>
            </a:r>
            <a:r>
              <a:rPr lang="fr-FR" sz="2800" dirty="0" smtClean="0">
                <a:solidFill>
                  <a:srgbClr val="FFFF00"/>
                </a:solidFill>
              </a:rPr>
              <a:t>,  si possible</a:t>
            </a:r>
          </a:p>
          <a:p>
            <a:r>
              <a:rPr lang="fr-FR" sz="2800" dirty="0" smtClean="0">
                <a:solidFill>
                  <a:srgbClr val="FFFF00"/>
                </a:solidFill>
              </a:rPr>
              <a:t> par voie orale  en supprimant la dysphagie par rétablissement de la fonction </a:t>
            </a:r>
          </a:p>
          <a:p>
            <a:r>
              <a:rPr lang="fr-FR" sz="2800" dirty="0" smtClean="0">
                <a:solidFill>
                  <a:srgbClr val="FFFF00"/>
                </a:solidFill>
              </a:rPr>
              <a:t>Canalaire  de l’</a:t>
            </a:r>
            <a:r>
              <a:rPr lang="fr-FR" sz="2800" dirty="0" err="1" smtClean="0">
                <a:solidFill>
                  <a:srgbClr val="FFFF00"/>
                </a:solidFill>
              </a:rPr>
              <a:t>oesophage</a:t>
            </a:r>
            <a:r>
              <a:rPr lang="fr-FR" sz="2800" dirty="0" smtClean="0">
                <a:solidFill>
                  <a:srgbClr val="FFFF00"/>
                </a:solidFill>
              </a:rPr>
              <a:t>, sinon en confectionnant des </a:t>
            </a:r>
            <a:r>
              <a:rPr lang="fr-FR" sz="2800" dirty="0" err="1" smtClean="0">
                <a:solidFill>
                  <a:srgbClr val="FFFF00"/>
                </a:solidFill>
              </a:rPr>
              <a:t>stomies</a:t>
            </a:r>
            <a:r>
              <a:rPr lang="fr-FR" sz="2800" dirty="0" smtClean="0">
                <a:solidFill>
                  <a:srgbClr val="FFFF00"/>
                </a:solidFill>
              </a:rPr>
              <a:t> d’alimentation.  </a:t>
            </a:r>
          </a:p>
          <a:p>
            <a:r>
              <a:rPr lang="fr-FR" sz="2800" dirty="0" smtClean="0">
                <a:solidFill>
                  <a:srgbClr val="FF0000"/>
                </a:solidFill>
              </a:rPr>
              <a:t>   Les gastrotomies, ou jéjunostomies d’alimentation</a:t>
            </a:r>
            <a:r>
              <a:rPr lang="fr-FR" sz="2800" dirty="0" smtClean="0">
                <a:solidFill>
                  <a:srgbClr val="FFFF00"/>
                </a:solidFill>
              </a:rPr>
              <a:t>,  </a:t>
            </a:r>
            <a:endParaRPr lang="en-US" sz="2800" dirty="0">
              <a:solidFill>
                <a:srgbClr val="FFFF00"/>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3" y="889850"/>
            <a:ext cx="6715172" cy="2585323"/>
          </a:xfrm>
          <a:prstGeom prst="rect">
            <a:avLst/>
          </a:prstGeom>
        </p:spPr>
        <p:txBody>
          <a:bodyPr wrap="square">
            <a:spAutoFit/>
          </a:bodyPr>
          <a:lstStyle/>
          <a:p>
            <a:endParaRPr lang="fr-FR" dirty="0" smtClean="0">
              <a:solidFill>
                <a:schemeClr val="accent4">
                  <a:lumMod val="60000"/>
                  <a:lumOff val="40000"/>
                </a:schemeClr>
              </a:solidFill>
            </a:endParaRPr>
          </a:p>
          <a:p>
            <a:r>
              <a:rPr lang="fr-FR" sz="4800" dirty="0" smtClean="0">
                <a:solidFill>
                  <a:schemeClr val="accent1">
                    <a:lumMod val="75000"/>
                  </a:schemeClr>
                </a:solidFill>
              </a:rPr>
              <a:t>Les stades avances relèvent de la radio chimiothérapie</a:t>
            </a:r>
            <a:endParaRPr lang="en-US" sz="4800" dirty="0">
              <a:solidFill>
                <a:schemeClr val="accent1">
                  <a:lumMod val="75000"/>
                </a:schemeClr>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3" y="889845"/>
            <a:ext cx="6715172" cy="4524315"/>
          </a:xfrm>
          <a:prstGeom prst="rect">
            <a:avLst/>
          </a:prstGeom>
        </p:spPr>
        <p:txBody>
          <a:bodyPr wrap="square">
            <a:spAutoFit/>
          </a:bodyPr>
          <a:lstStyle/>
          <a:p>
            <a:r>
              <a:rPr lang="en-US" sz="4800" dirty="0" err="1" smtClean="0">
                <a:solidFill>
                  <a:schemeClr val="accent1">
                    <a:lumMod val="75000"/>
                  </a:schemeClr>
                </a:solidFill>
              </a:rPr>
              <a:t>Mais</a:t>
            </a:r>
            <a:r>
              <a:rPr lang="en-US" sz="4800" dirty="0" smtClean="0">
                <a:solidFill>
                  <a:schemeClr val="accent1">
                    <a:lumMod val="75000"/>
                  </a:schemeClr>
                </a:solidFill>
              </a:rPr>
              <a:t> </a:t>
            </a:r>
            <a:r>
              <a:rPr lang="en-US" sz="4800" dirty="0" err="1" smtClean="0">
                <a:solidFill>
                  <a:schemeClr val="accent1">
                    <a:lumMod val="75000"/>
                  </a:schemeClr>
                </a:solidFill>
              </a:rPr>
              <a:t>il</a:t>
            </a:r>
            <a:r>
              <a:rPr lang="en-US" sz="4800" dirty="0" smtClean="0">
                <a:solidFill>
                  <a:schemeClr val="accent1">
                    <a:lumMod val="75000"/>
                  </a:schemeClr>
                </a:solidFill>
              </a:rPr>
              <a:t> </a:t>
            </a:r>
            <a:r>
              <a:rPr lang="en-US" sz="4800" dirty="0" err="1" smtClean="0">
                <a:solidFill>
                  <a:schemeClr val="accent1">
                    <a:lumMod val="75000"/>
                  </a:schemeClr>
                </a:solidFill>
              </a:rPr>
              <a:t>ya</a:t>
            </a:r>
            <a:r>
              <a:rPr lang="en-US" sz="4800" dirty="0" smtClean="0">
                <a:solidFill>
                  <a:schemeClr val="accent1">
                    <a:lumMod val="75000"/>
                  </a:schemeClr>
                </a:solidFill>
              </a:rPr>
              <a:t> </a:t>
            </a:r>
            <a:r>
              <a:rPr lang="en-US" sz="4800" dirty="0" err="1" smtClean="0">
                <a:solidFill>
                  <a:schemeClr val="accent1">
                    <a:lumMod val="75000"/>
                  </a:schemeClr>
                </a:solidFill>
              </a:rPr>
              <a:t>aussi</a:t>
            </a:r>
            <a:r>
              <a:rPr lang="en-US" sz="4800" dirty="0" smtClean="0">
                <a:solidFill>
                  <a:schemeClr val="accent1">
                    <a:lumMod val="75000"/>
                  </a:schemeClr>
                </a:solidFill>
              </a:rPr>
              <a:t> la radio </a:t>
            </a:r>
            <a:r>
              <a:rPr lang="en-US" sz="4800" dirty="0" err="1" smtClean="0">
                <a:solidFill>
                  <a:schemeClr val="accent1">
                    <a:lumMod val="75000"/>
                  </a:schemeClr>
                </a:solidFill>
              </a:rPr>
              <a:t>chimiotherapie</a:t>
            </a:r>
            <a:r>
              <a:rPr lang="en-US" sz="4800" dirty="0" smtClean="0">
                <a:solidFill>
                  <a:schemeClr val="accent1">
                    <a:lumMod val="75000"/>
                  </a:schemeClr>
                </a:solidFill>
              </a:rPr>
              <a:t> </a:t>
            </a:r>
            <a:r>
              <a:rPr lang="en-US" sz="4800" dirty="0" err="1" smtClean="0">
                <a:solidFill>
                  <a:schemeClr val="accent1">
                    <a:lumMod val="75000"/>
                  </a:schemeClr>
                </a:solidFill>
              </a:rPr>
              <a:t>peri</a:t>
            </a:r>
            <a:r>
              <a:rPr lang="en-US" sz="4800" dirty="0" smtClean="0">
                <a:solidFill>
                  <a:schemeClr val="accent1">
                    <a:lumMod val="75000"/>
                  </a:schemeClr>
                </a:solidFill>
              </a:rPr>
              <a:t> </a:t>
            </a:r>
            <a:r>
              <a:rPr lang="en-US" sz="4800" dirty="0" err="1" smtClean="0">
                <a:solidFill>
                  <a:schemeClr val="accent1">
                    <a:lumMod val="75000"/>
                  </a:schemeClr>
                </a:solidFill>
              </a:rPr>
              <a:t>opertoire</a:t>
            </a:r>
            <a:r>
              <a:rPr lang="en-US" sz="4800" dirty="0" smtClean="0">
                <a:solidFill>
                  <a:schemeClr val="accent1">
                    <a:lumMod val="75000"/>
                  </a:schemeClr>
                </a:solidFill>
              </a:rPr>
              <a:t> </a:t>
            </a:r>
            <a:r>
              <a:rPr lang="en-US" sz="4800" dirty="0" err="1" smtClean="0">
                <a:solidFill>
                  <a:schemeClr val="accent1">
                    <a:lumMod val="75000"/>
                  </a:schemeClr>
                </a:solidFill>
              </a:rPr>
              <a:t>mais</a:t>
            </a:r>
            <a:r>
              <a:rPr lang="en-US" sz="4800" dirty="0" smtClean="0">
                <a:solidFill>
                  <a:schemeClr val="accent1">
                    <a:lumMod val="75000"/>
                  </a:schemeClr>
                </a:solidFill>
              </a:rPr>
              <a:t> </a:t>
            </a:r>
            <a:r>
              <a:rPr lang="en-US" sz="4800" dirty="0" err="1" smtClean="0">
                <a:solidFill>
                  <a:schemeClr val="accent1">
                    <a:lumMod val="75000"/>
                  </a:schemeClr>
                </a:solidFill>
              </a:rPr>
              <a:t>aussi</a:t>
            </a:r>
            <a:endParaRPr lang="en-US" sz="4800" dirty="0" smtClean="0">
              <a:solidFill>
                <a:schemeClr val="accent1">
                  <a:lumMod val="75000"/>
                </a:schemeClr>
              </a:solidFill>
            </a:endParaRPr>
          </a:p>
          <a:p>
            <a:r>
              <a:rPr lang="en-US" sz="4800" dirty="0" err="1" smtClean="0">
                <a:solidFill>
                  <a:schemeClr val="accent1">
                    <a:lumMod val="75000"/>
                  </a:schemeClr>
                </a:solidFill>
              </a:rPr>
              <a:t>L’Immunotherapie</a:t>
            </a:r>
            <a:r>
              <a:rPr lang="en-US" sz="4800" dirty="0" smtClean="0">
                <a:solidFill>
                  <a:schemeClr val="accent1">
                    <a:lumMod val="75000"/>
                  </a:schemeClr>
                </a:solidFill>
              </a:rPr>
              <a:t>  et</a:t>
            </a:r>
          </a:p>
          <a:p>
            <a:r>
              <a:rPr lang="en-US" sz="4800" dirty="0" err="1" smtClean="0">
                <a:solidFill>
                  <a:schemeClr val="accent1">
                    <a:lumMod val="75000"/>
                  </a:schemeClr>
                </a:solidFill>
              </a:rPr>
              <a:t>laTherapie</a:t>
            </a:r>
            <a:r>
              <a:rPr lang="en-US" sz="4800" dirty="0" smtClean="0">
                <a:solidFill>
                  <a:schemeClr val="accent1">
                    <a:lumMod val="75000"/>
                  </a:schemeClr>
                </a:solidFill>
              </a:rPr>
              <a:t> </a:t>
            </a:r>
            <a:r>
              <a:rPr lang="en-US" sz="4800" dirty="0" err="1" smtClean="0">
                <a:solidFill>
                  <a:schemeClr val="accent1">
                    <a:lumMod val="75000"/>
                  </a:schemeClr>
                </a:solidFill>
              </a:rPr>
              <a:t>ciblee</a:t>
            </a:r>
            <a:endParaRPr lang="en-US" sz="4800" dirty="0" smtClean="0">
              <a:solidFill>
                <a:schemeClr val="accent1">
                  <a:lumMod val="75000"/>
                </a:schemeClr>
              </a:solidFill>
            </a:endParaRPr>
          </a:p>
          <a:p>
            <a:r>
              <a:rPr lang="en-US" sz="4800" dirty="0" err="1" smtClean="0">
                <a:solidFill>
                  <a:schemeClr val="accent1">
                    <a:lumMod val="75000"/>
                  </a:schemeClr>
                </a:solidFill>
              </a:rPr>
              <a:t>Apres</a:t>
            </a:r>
            <a:r>
              <a:rPr lang="en-US" sz="4800" dirty="0" smtClean="0">
                <a:solidFill>
                  <a:schemeClr val="accent1">
                    <a:lumMod val="75000"/>
                  </a:schemeClr>
                </a:solidFill>
              </a:rPr>
              <a:t> </a:t>
            </a:r>
            <a:r>
              <a:rPr lang="en-US" sz="4800" dirty="0" err="1" smtClean="0">
                <a:solidFill>
                  <a:schemeClr val="accent1">
                    <a:lumMod val="75000"/>
                  </a:schemeClr>
                </a:solidFill>
              </a:rPr>
              <a:t>imunohistochi</a:t>
            </a:r>
            <a:r>
              <a:rPr lang="en-US" sz="4800" dirty="0" err="1" smtClean="0">
                <a:solidFill>
                  <a:schemeClr val="accent1">
                    <a:lumMod val="75000"/>
                  </a:schemeClr>
                </a:solidFill>
              </a:rPr>
              <a:t>mie</a:t>
            </a:r>
            <a:endParaRPr lang="fr-FR" dirty="0" smtClean="0">
              <a:solidFill>
                <a:schemeClr val="accent4">
                  <a:lumMod val="60000"/>
                  <a:lumOff val="40000"/>
                </a:schemeClr>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3" y="1166847"/>
            <a:ext cx="5857900" cy="4524315"/>
          </a:xfrm>
          <a:prstGeom prst="rect">
            <a:avLst/>
          </a:prstGeom>
        </p:spPr>
        <p:txBody>
          <a:bodyPr wrap="square">
            <a:spAutoFit/>
          </a:bodyPr>
          <a:lstStyle/>
          <a:p>
            <a:r>
              <a:rPr lang="en-US" sz="3600" dirty="0" err="1" smtClean="0">
                <a:solidFill>
                  <a:schemeClr val="accent1">
                    <a:lumMod val="75000"/>
                  </a:schemeClr>
                </a:solidFill>
              </a:rPr>
              <a:t>Radiochimiothérapie</a:t>
            </a:r>
            <a:r>
              <a:rPr lang="en-US" sz="3600" dirty="0" smtClean="0">
                <a:solidFill>
                  <a:schemeClr val="accent1">
                    <a:lumMod val="75000"/>
                  </a:schemeClr>
                </a:solidFill>
              </a:rPr>
              <a:t> exclusive par FOLFOX ou 5-Fluorouracile et </a:t>
            </a:r>
            <a:r>
              <a:rPr lang="en-US" sz="3600" dirty="0" err="1" smtClean="0">
                <a:solidFill>
                  <a:schemeClr val="accent1">
                    <a:lumMod val="75000"/>
                  </a:schemeClr>
                </a:solidFill>
              </a:rPr>
              <a:t>Cisplatine</a:t>
            </a:r>
            <a:endParaRPr lang="en-US" sz="3600" dirty="0" smtClean="0">
              <a:solidFill>
                <a:schemeClr val="accent1">
                  <a:lumMod val="75000"/>
                </a:schemeClr>
              </a:solidFill>
            </a:endParaRPr>
          </a:p>
          <a:p>
            <a:r>
              <a:rPr lang="en-US" dirty="0" err="1" smtClean="0"/>
              <a:t>Radiochimiothérapie</a:t>
            </a:r>
            <a:r>
              <a:rPr lang="en-US" dirty="0" smtClean="0"/>
              <a:t> avec FOLFOX </a:t>
            </a:r>
            <a:r>
              <a:rPr lang="en-US" dirty="0" err="1" smtClean="0"/>
              <a:t>modifié</a:t>
            </a:r>
            <a:endParaRPr lang="en-US" dirty="0" smtClean="0"/>
          </a:p>
          <a:p>
            <a:r>
              <a:rPr lang="en-US" dirty="0" err="1" smtClean="0"/>
              <a:t>radiothérapie</a:t>
            </a:r>
            <a:r>
              <a:rPr lang="en-US" dirty="0" smtClean="0"/>
              <a:t> 50,4 </a:t>
            </a:r>
            <a:r>
              <a:rPr lang="en-US" dirty="0" err="1" smtClean="0"/>
              <a:t>Gy</a:t>
            </a:r>
            <a:r>
              <a:rPr lang="en-US" dirty="0" smtClean="0"/>
              <a:t> + 6 cures de FOLFOX </a:t>
            </a:r>
            <a:r>
              <a:rPr lang="en-US" dirty="0" err="1" smtClean="0"/>
              <a:t>modifié</a:t>
            </a:r>
            <a:r>
              <a:rPr lang="en-US" dirty="0" smtClean="0"/>
              <a:t> à 14 </a:t>
            </a:r>
            <a:r>
              <a:rPr lang="en-US" dirty="0" err="1" smtClean="0"/>
              <a:t>jours</a:t>
            </a:r>
            <a:r>
              <a:rPr lang="en-US" dirty="0" smtClean="0"/>
              <a:t> </a:t>
            </a:r>
            <a:r>
              <a:rPr lang="en-US" dirty="0" err="1" smtClean="0"/>
              <a:t>d'intervalle</a:t>
            </a:r>
            <a:r>
              <a:rPr lang="en-US" dirty="0" smtClean="0"/>
              <a:t> (3 cures pendant la </a:t>
            </a:r>
            <a:r>
              <a:rPr lang="en-US" dirty="0" err="1" smtClean="0"/>
              <a:t>radiothérapie</a:t>
            </a:r>
            <a:endParaRPr lang="en-US" dirty="0" smtClean="0"/>
          </a:p>
          <a:p>
            <a:r>
              <a:rPr lang="en-US" dirty="0" err="1" smtClean="0"/>
              <a:t>débutant</a:t>
            </a:r>
            <a:r>
              <a:rPr lang="en-US" dirty="0" smtClean="0"/>
              <a:t> à J1, et 3 cures après la </a:t>
            </a:r>
            <a:r>
              <a:rPr lang="en-US" dirty="0" err="1" smtClean="0"/>
              <a:t>radiothérapie</a:t>
            </a:r>
            <a:r>
              <a:rPr lang="en-US" dirty="0" smtClean="0"/>
              <a:t>)</a:t>
            </a:r>
          </a:p>
          <a:p>
            <a:r>
              <a:rPr lang="en-US" dirty="0" smtClean="0"/>
              <a:t>FOLFOX </a:t>
            </a:r>
            <a:r>
              <a:rPr lang="en-US" dirty="0" err="1" smtClean="0"/>
              <a:t>modifié</a:t>
            </a:r>
            <a:r>
              <a:rPr lang="en-US" dirty="0" smtClean="0"/>
              <a:t> :</a:t>
            </a:r>
          </a:p>
          <a:p>
            <a:r>
              <a:rPr lang="en-US" dirty="0" err="1" smtClean="0"/>
              <a:t>Oxaliplatine</a:t>
            </a:r>
            <a:r>
              <a:rPr lang="en-US" dirty="0" smtClean="0"/>
              <a:t> 85 mg/m² à J1 </a:t>
            </a:r>
          </a:p>
          <a:p>
            <a:r>
              <a:rPr lang="en-US" dirty="0" err="1" smtClean="0"/>
              <a:t>Acide</a:t>
            </a:r>
            <a:r>
              <a:rPr lang="en-US" dirty="0" smtClean="0"/>
              <a:t> </a:t>
            </a:r>
            <a:r>
              <a:rPr lang="en-US" dirty="0" err="1" smtClean="0"/>
              <a:t>folinique</a:t>
            </a:r>
            <a:r>
              <a:rPr lang="en-US" dirty="0" smtClean="0"/>
              <a:t> 200 mg/m² à J1</a:t>
            </a:r>
          </a:p>
          <a:p>
            <a:r>
              <a:rPr lang="en-US" dirty="0" smtClean="0"/>
              <a:t>5-FU en bolus 400 mg/m  à J1</a:t>
            </a:r>
          </a:p>
          <a:p>
            <a:r>
              <a:rPr lang="en-US" dirty="0" smtClean="0"/>
              <a:t>5-FU </a:t>
            </a:r>
            <a:r>
              <a:rPr lang="en-US" dirty="0" err="1" smtClean="0"/>
              <a:t>continu</a:t>
            </a:r>
            <a:r>
              <a:rPr lang="en-US" dirty="0" smtClean="0"/>
              <a:t> 800 mg/m /jour à J1 etJ2</a:t>
            </a:r>
          </a:p>
          <a:p>
            <a:endParaRPr lang="en-US" dirty="0" smtClean="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3" y="357166"/>
            <a:ext cx="8572560" cy="5755422"/>
          </a:xfrm>
          <a:prstGeom prst="rect">
            <a:avLst/>
          </a:prstGeom>
        </p:spPr>
        <p:txBody>
          <a:bodyPr wrap="square">
            <a:spAutoFit/>
          </a:bodyPr>
          <a:lstStyle/>
          <a:p>
            <a:r>
              <a:rPr lang="fr-FR" dirty="0" smtClean="0"/>
              <a:t> </a:t>
            </a:r>
            <a:r>
              <a:rPr lang="fr-FR" sz="4000" dirty="0" smtClean="0">
                <a:solidFill>
                  <a:srgbClr val="FF0000"/>
                </a:solidFill>
              </a:rPr>
              <a:t>III-La Radiothérapie. </a:t>
            </a:r>
          </a:p>
          <a:p>
            <a:r>
              <a:rPr lang="fr-FR" dirty="0" smtClean="0"/>
              <a:t> Elle est basée sur la radiosensibilité des cancers   </a:t>
            </a:r>
            <a:r>
              <a:rPr lang="fr-FR" dirty="0" err="1" smtClean="0"/>
              <a:t>malpighiens</a:t>
            </a:r>
            <a:r>
              <a:rPr lang="fr-FR" dirty="0" smtClean="0"/>
              <a:t>. Les </a:t>
            </a:r>
            <a:r>
              <a:rPr lang="fr-FR" sz="2800" dirty="0" smtClean="0">
                <a:solidFill>
                  <a:srgbClr val="FF0000"/>
                </a:solidFill>
              </a:rPr>
              <a:t>tumeurs </a:t>
            </a:r>
            <a:r>
              <a:rPr lang="fr-FR" sz="2800" dirty="0" err="1" smtClean="0">
                <a:solidFill>
                  <a:srgbClr val="FF0000"/>
                </a:solidFill>
              </a:rPr>
              <a:t>végétantes</a:t>
            </a:r>
            <a:r>
              <a:rPr lang="fr-FR" sz="2800" dirty="0" smtClean="0">
                <a:solidFill>
                  <a:srgbClr val="FF0000"/>
                </a:solidFill>
              </a:rPr>
              <a:t> </a:t>
            </a:r>
          </a:p>
          <a:p>
            <a:r>
              <a:rPr lang="fr-FR" dirty="0" smtClean="0"/>
              <a:t>paraissent plus radiosensibles que les formes </a:t>
            </a:r>
            <a:r>
              <a:rPr lang="fr-FR" dirty="0" err="1" smtClean="0"/>
              <a:t>infiltrantes</a:t>
            </a:r>
            <a:r>
              <a:rPr lang="fr-FR" dirty="0" smtClean="0"/>
              <a:t>, ulcérées ou bourgeonnantes. Le </a:t>
            </a:r>
          </a:p>
          <a:p>
            <a:r>
              <a:rPr lang="fr-FR" dirty="0" smtClean="0"/>
              <a:t>soucis de respecter les tissus voisins implique l’utilisation de photons x grâce à des </a:t>
            </a:r>
          </a:p>
          <a:p>
            <a:r>
              <a:rPr lang="fr-FR" dirty="0" smtClean="0"/>
              <a:t>accélérateurs de 10 à 20 MeV.  </a:t>
            </a:r>
          </a:p>
          <a:p>
            <a:r>
              <a:rPr lang="fr-FR" dirty="0" smtClean="0"/>
              <a:t> Elle peut être utilisée seule ou en association avec d’autres méthodes, à visée adjuvante </a:t>
            </a:r>
          </a:p>
          <a:p>
            <a:r>
              <a:rPr lang="fr-FR" dirty="0" smtClean="0"/>
              <a:t>à la chirurgie, ou à titre palliatif. Elle est contre-indiquée en cas d’envahissement de viscères </a:t>
            </a:r>
          </a:p>
          <a:p>
            <a:r>
              <a:rPr lang="fr-FR" dirty="0" smtClean="0"/>
              <a:t>de voisinage tels l’aorte ou les voies aériennes en raison du risque de fistulisation. </a:t>
            </a:r>
          </a:p>
          <a:p>
            <a:r>
              <a:rPr lang="fr-FR" dirty="0" smtClean="0"/>
              <a:t>  L’irradiation exclusive à visée curative consiste à délivrer une dose </a:t>
            </a:r>
            <a:r>
              <a:rPr lang="fr-FR" sz="2800" dirty="0" smtClean="0">
                <a:solidFill>
                  <a:srgbClr val="FF0000"/>
                </a:solidFill>
              </a:rPr>
              <a:t>de 55 à </a:t>
            </a:r>
          </a:p>
          <a:p>
            <a:r>
              <a:rPr lang="fr-FR" sz="2800" dirty="0" smtClean="0">
                <a:solidFill>
                  <a:srgbClr val="FF0000"/>
                </a:solidFill>
              </a:rPr>
              <a:t>75 grays  en 6 à 7 semaines </a:t>
            </a:r>
            <a:r>
              <a:rPr lang="fr-FR" dirty="0" smtClean="0"/>
              <a:t>sur un champ intéressant la tumeur et ses chaînes de drainage </a:t>
            </a:r>
          </a:p>
          <a:p>
            <a:r>
              <a:rPr lang="fr-FR" dirty="0" smtClean="0"/>
              <a:t>lymphatique. Actuellement des protocoles courts </a:t>
            </a:r>
          </a:p>
          <a:p>
            <a:r>
              <a:rPr lang="fr-FR" dirty="0" smtClean="0"/>
              <a:t>comportent seulement 5 irradiations de 4 grays. Elle permet la stérilisation tumorale dans 10 à 18% des cas. </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3" y="889845"/>
            <a:ext cx="6715172" cy="4462760"/>
          </a:xfrm>
          <a:prstGeom prst="rect">
            <a:avLst/>
          </a:prstGeom>
        </p:spPr>
        <p:txBody>
          <a:bodyPr wrap="square">
            <a:spAutoFit/>
          </a:bodyPr>
          <a:lstStyle/>
          <a:p>
            <a:r>
              <a:rPr lang="fr-FR" sz="3200" dirty="0" smtClean="0">
                <a:solidFill>
                  <a:schemeClr val="accent6">
                    <a:lumMod val="75000"/>
                  </a:schemeClr>
                </a:solidFill>
              </a:rPr>
              <a:t>Protocole FLOT</a:t>
            </a:r>
          </a:p>
          <a:p>
            <a:r>
              <a:rPr lang="fr-FR" dirty="0" smtClean="0">
                <a:solidFill>
                  <a:schemeClr val="accent4">
                    <a:lumMod val="60000"/>
                    <a:lumOff val="40000"/>
                  </a:schemeClr>
                </a:solidFill>
              </a:rPr>
              <a:t>4 cycles préopératoires et 4 cycles postopératoires toutes les 2 semaines</a:t>
            </a:r>
          </a:p>
          <a:p>
            <a:r>
              <a:rPr lang="fr-FR" dirty="0" err="1" smtClean="0">
                <a:solidFill>
                  <a:schemeClr val="accent4">
                    <a:lumMod val="60000"/>
                    <a:lumOff val="40000"/>
                  </a:schemeClr>
                </a:solidFill>
              </a:rPr>
              <a:t>Docétaxel</a:t>
            </a:r>
            <a:r>
              <a:rPr lang="fr-FR" dirty="0" smtClean="0">
                <a:solidFill>
                  <a:schemeClr val="accent4">
                    <a:lumMod val="60000"/>
                    <a:lumOff val="40000"/>
                  </a:schemeClr>
                </a:solidFill>
              </a:rPr>
              <a:t> : 50 mg/m² IV dans 250 </a:t>
            </a:r>
            <a:r>
              <a:rPr lang="fr-FR" dirty="0" err="1" smtClean="0">
                <a:solidFill>
                  <a:schemeClr val="accent4">
                    <a:lumMod val="60000"/>
                    <a:lumOff val="40000"/>
                  </a:schemeClr>
                </a:solidFill>
              </a:rPr>
              <a:t>mL</a:t>
            </a:r>
            <a:r>
              <a:rPr lang="fr-FR" dirty="0" smtClean="0">
                <a:solidFill>
                  <a:schemeClr val="accent4">
                    <a:lumMod val="60000"/>
                    <a:lumOff val="40000"/>
                  </a:schemeClr>
                </a:solidFill>
              </a:rPr>
              <a:t> </a:t>
            </a:r>
            <a:r>
              <a:rPr lang="fr-FR" dirty="0" err="1" smtClean="0">
                <a:solidFill>
                  <a:schemeClr val="accent4">
                    <a:lumMod val="60000"/>
                    <a:lumOff val="40000"/>
                  </a:schemeClr>
                </a:solidFill>
              </a:rPr>
              <a:t>NaCl</a:t>
            </a:r>
            <a:r>
              <a:rPr lang="fr-FR" dirty="0" smtClean="0">
                <a:solidFill>
                  <a:schemeClr val="accent4">
                    <a:lumMod val="60000"/>
                    <a:lumOff val="40000"/>
                  </a:schemeClr>
                </a:solidFill>
              </a:rPr>
              <a:t> 0,9 % en 1 heure à  J1 (précédé et suivi d'une</a:t>
            </a:r>
          </a:p>
          <a:p>
            <a:r>
              <a:rPr lang="fr-FR" dirty="0" smtClean="0">
                <a:solidFill>
                  <a:schemeClr val="accent4">
                    <a:lumMod val="60000"/>
                    <a:lumOff val="40000"/>
                  </a:schemeClr>
                </a:solidFill>
              </a:rPr>
              <a:t>prémédication )</a:t>
            </a:r>
          </a:p>
          <a:p>
            <a:r>
              <a:rPr lang="fr-FR" dirty="0" err="1" smtClean="0">
                <a:solidFill>
                  <a:schemeClr val="accent4">
                    <a:lumMod val="60000"/>
                    <a:lumOff val="40000"/>
                  </a:schemeClr>
                </a:solidFill>
              </a:rPr>
              <a:t>Oxaliplatine</a:t>
            </a:r>
            <a:r>
              <a:rPr lang="fr-FR" dirty="0" smtClean="0">
                <a:solidFill>
                  <a:schemeClr val="accent4">
                    <a:lumMod val="60000"/>
                    <a:lumOff val="40000"/>
                  </a:schemeClr>
                </a:solidFill>
              </a:rPr>
              <a:t> : 85 mg/m² IV J1 dans 500 </a:t>
            </a:r>
            <a:r>
              <a:rPr lang="fr-FR" dirty="0" err="1" smtClean="0">
                <a:solidFill>
                  <a:schemeClr val="accent4">
                    <a:lumMod val="60000"/>
                    <a:lumOff val="40000"/>
                  </a:schemeClr>
                </a:solidFill>
              </a:rPr>
              <a:t>mL</a:t>
            </a:r>
            <a:r>
              <a:rPr lang="fr-FR" dirty="0" smtClean="0">
                <a:solidFill>
                  <a:schemeClr val="accent4">
                    <a:lumMod val="60000"/>
                    <a:lumOff val="40000"/>
                  </a:schemeClr>
                </a:solidFill>
              </a:rPr>
              <a:t> G5 % en 2 heures à  J1</a:t>
            </a:r>
          </a:p>
          <a:p>
            <a:r>
              <a:rPr lang="fr-FR" dirty="0" smtClean="0">
                <a:solidFill>
                  <a:schemeClr val="accent4">
                    <a:lumMod val="60000"/>
                    <a:lumOff val="40000"/>
                  </a:schemeClr>
                </a:solidFill>
              </a:rPr>
              <a:t>Acide </a:t>
            </a:r>
            <a:r>
              <a:rPr lang="fr-FR" dirty="0" err="1" smtClean="0">
                <a:solidFill>
                  <a:schemeClr val="accent4">
                    <a:lumMod val="60000"/>
                    <a:lumOff val="40000"/>
                  </a:schemeClr>
                </a:solidFill>
              </a:rPr>
              <a:t>folinique</a:t>
            </a:r>
            <a:r>
              <a:rPr lang="fr-FR" dirty="0" smtClean="0">
                <a:solidFill>
                  <a:schemeClr val="accent4">
                    <a:lumMod val="60000"/>
                    <a:lumOff val="40000"/>
                  </a:schemeClr>
                </a:solidFill>
              </a:rPr>
              <a:t> 200 mg/m  IV dans 250 </a:t>
            </a:r>
            <a:r>
              <a:rPr lang="fr-FR" dirty="0" err="1" smtClean="0">
                <a:solidFill>
                  <a:schemeClr val="accent4">
                    <a:lumMod val="60000"/>
                    <a:lumOff val="40000"/>
                  </a:schemeClr>
                </a:solidFill>
              </a:rPr>
              <a:t>mL</a:t>
            </a:r>
            <a:r>
              <a:rPr lang="fr-FR" dirty="0" smtClean="0">
                <a:solidFill>
                  <a:schemeClr val="accent4">
                    <a:lumMod val="60000"/>
                    <a:lumOff val="40000"/>
                  </a:schemeClr>
                </a:solidFill>
              </a:rPr>
              <a:t> </a:t>
            </a:r>
            <a:r>
              <a:rPr lang="fr-FR" dirty="0" err="1" smtClean="0">
                <a:solidFill>
                  <a:schemeClr val="accent4">
                    <a:lumMod val="60000"/>
                    <a:lumOff val="40000"/>
                  </a:schemeClr>
                </a:solidFill>
              </a:rPr>
              <a:t>NaCl</a:t>
            </a:r>
            <a:r>
              <a:rPr lang="fr-FR" dirty="0" smtClean="0">
                <a:solidFill>
                  <a:schemeClr val="accent4">
                    <a:lumMod val="60000"/>
                    <a:lumOff val="40000"/>
                  </a:schemeClr>
                </a:solidFill>
              </a:rPr>
              <a:t> 0,9 % en 30 min à J1</a:t>
            </a:r>
          </a:p>
          <a:p>
            <a:r>
              <a:rPr lang="fr-FR" dirty="0" smtClean="0">
                <a:solidFill>
                  <a:schemeClr val="accent4">
                    <a:lumMod val="60000"/>
                    <a:lumOff val="40000"/>
                  </a:schemeClr>
                </a:solidFill>
              </a:rPr>
              <a:t>5-</a:t>
            </a:r>
            <a:r>
              <a:rPr lang="fr-FR" dirty="0" err="1" smtClean="0">
                <a:solidFill>
                  <a:schemeClr val="accent4">
                    <a:lumMod val="60000"/>
                    <a:lumOff val="40000"/>
                  </a:schemeClr>
                </a:solidFill>
              </a:rPr>
              <a:t>Fluorouracile</a:t>
            </a:r>
            <a:r>
              <a:rPr lang="fr-FR" dirty="0" smtClean="0">
                <a:solidFill>
                  <a:schemeClr val="accent4">
                    <a:lumMod val="60000"/>
                    <a:lumOff val="40000"/>
                  </a:schemeClr>
                </a:solidFill>
              </a:rPr>
              <a:t> : 2600 mg/m²/j IV en perfusion continue sur 24 heures à  J1</a:t>
            </a:r>
          </a:p>
          <a:p>
            <a:r>
              <a:rPr lang="fr-FR" dirty="0" smtClean="0">
                <a:solidFill>
                  <a:schemeClr val="accent4">
                    <a:lumMod val="60000"/>
                    <a:lumOff val="40000"/>
                  </a:schemeClr>
                </a:solidFill>
              </a:rPr>
              <a:t>Reprise à J15</a:t>
            </a:r>
          </a:p>
          <a:p>
            <a:r>
              <a:rPr lang="fr-FR" dirty="0" smtClean="0">
                <a:solidFill>
                  <a:schemeClr val="accent4">
                    <a:lumMod val="60000"/>
                    <a:lumOff val="40000"/>
                  </a:schemeClr>
                </a:solidFill>
              </a:rPr>
              <a:t>↑ Prémédication : par exemple </a:t>
            </a:r>
            <a:r>
              <a:rPr lang="fr-FR" dirty="0" err="1" smtClean="0">
                <a:solidFill>
                  <a:schemeClr val="accent4">
                    <a:lumMod val="60000"/>
                    <a:lumOff val="40000"/>
                  </a:schemeClr>
                </a:solidFill>
              </a:rPr>
              <a:t>prednisolone</a:t>
            </a:r>
            <a:r>
              <a:rPr lang="fr-FR" dirty="0" smtClean="0">
                <a:solidFill>
                  <a:schemeClr val="accent4">
                    <a:lumMod val="60000"/>
                    <a:lumOff val="40000"/>
                  </a:schemeClr>
                </a:solidFill>
              </a:rPr>
              <a:t> </a:t>
            </a:r>
            <a:r>
              <a:rPr lang="fr-FR" dirty="0" err="1" smtClean="0">
                <a:solidFill>
                  <a:schemeClr val="accent4">
                    <a:lumMod val="60000"/>
                    <a:lumOff val="40000"/>
                  </a:schemeClr>
                </a:solidFill>
              </a:rPr>
              <a:t>orodispersible</a:t>
            </a:r>
            <a:r>
              <a:rPr lang="fr-FR" dirty="0" smtClean="0">
                <a:solidFill>
                  <a:schemeClr val="accent4">
                    <a:lumMod val="60000"/>
                    <a:lumOff val="40000"/>
                  </a:schemeClr>
                </a:solidFill>
              </a:rPr>
              <a:t> 20 mg : 50 mg matin et soir pendant 3 jours à </a:t>
            </a:r>
            <a:r>
              <a:rPr lang="fr-FR" dirty="0" err="1" smtClean="0">
                <a:solidFill>
                  <a:schemeClr val="accent4">
                    <a:lumMod val="60000"/>
                    <a:lumOff val="40000"/>
                  </a:schemeClr>
                </a:solidFill>
              </a:rPr>
              <a:t>déb</a:t>
            </a:r>
            <a:endParaRPr lang="fr-FR" dirty="0" smtClean="0">
              <a:solidFill>
                <a:schemeClr val="accent4">
                  <a:lumMod val="60000"/>
                  <a:lumOff val="40000"/>
                </a:schemeClr>
              </a:solidFill>
            </a:endParaRPr>
          </a:p>
          <a:p>
            <a:r>
              <a:rPr lang="fr-FR" dirty="0" smtClean="0">
                <a:solidFill>
                  <a:schemeClr val="accent4">
                    <a:lumMod val="60000"/>
                    <a:lumOff val="40000"/>
                  </a:schemeClr>
                </a:solidFill>
              </a:rPr>
              <a:t>[1]</a:t>
            </a:r>
          </a:p>
          <a:p>
            <a:r>
              <a:rPr lang="fr-FR" dirty="0" smtClean="0">
                <a:solidFill>
                  <a:schemeClr val="accent4">
                    <a:lumMod val="60000"/>
                    <a:lumOff val="40000"/>
                  </a:schemeClr>
                </a:solidFill>
              </a:rPr>
              <a:t>2</a:t>
            </a:r>
            <a:endParaRPr lang="en-US" dirty="0">
              <a:solidFill>
                <a:schemeClr val="accent4">
                  <a:lumMod val="60000"/>
                  <a:lumOff val="40000"/>
                </a:schemeClr>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142856"/>
            <a:ext cx="8286776" cy="5693866"/>
          </a:xfrm>
          <a:prstGeom prst="rect">
            <a:avLst/>
          </a:prstGeom>
        </p:spPr>
        <p:txBody>
          <a:bodyPr wrap="square">
            <a:spAutoFit/>
          </a:bodyPr>
          <a:lstStyle/>
          <a:p>
            <a:r>
              <a:rPr lang="en-US" sz="4000" dirty="0" smtClean="0">
                <a:solidFill>
                  <a:schemeClr val="accent1">
                    <a:lumMod val="75000"/>
                  </a:schemeClr>
                </a:solidFill>
              </a:rPr>
              <a:t>protocols REAL 2</a:t>
            </a:r>
          </a:p>
          <a:p>
            <a:r>
              <a:rPr lang="en-US" dirty="0" err="1" smtClean="0"/>
              <a:t>Protocoles</a:t>
            </a:r>
            <a:r>
              <a:rPr lang="en-US" dirty="0" smtClean="0"/>
              <a:t> EOX et ECX</a:t>
            </a:r>
          </a:p>
          <a:p>
            <a:r>
              <a:rPr lang="en-US" dirty="0" err="1" smtClean="0"/>
              <a:t>Référence</a:t>
            </a:r>
            <a:endParaRPr lang="en-US" dirty="0" smtClean="0"/>
          </a:p>
          <a:p>
            <a:endParaRPr lang="en-US" dirty="0" smtClean="0"/>
          </a:p>
          <a:p>
            <a:endParaRPr lang="en-US" dirty="0" smtClean="0"/>
          </a:p>
          <a:p>
            <a:r>
              <a:rPr lang="en-US" dirty="0" smtClean="0">
                <a:solidFill>
                  <a:schemeClr val="accent1">
                    <a:lumMod val="75000"/>
                  </a:schemeClr>
                </a:solidFill>
              </a:rPr>
              <a:t>EOX</a:t>
            </a:r>
          </a:p>
          <a:p>
            <a:r>
              <a:rPr lang="en-US" dirty="0" err="1" smtClean="0"/>
              <a:t>Epirubicine</a:t>
            </a:r>
            <a:r>
              <a:rPr lang="en-US" dirty="0" smtClean="0"/>
              <a:t> 50 mg/m² ; IV J1 </a:t>
            </a:r>
            <a:r>
              <a:rPr lang="en-US" dirty="0" err="1" smtClean="0"/>
              <a:t>toutes</a:t>
            </a:r>
            <a:r>
              <a:rPr lang="en-US" dirty="0" smtClean="0"/>
              <a:t> les 3 </a:t>
            </a:r>
            <a:r>
              <a:rPr lang="en-US" dirty="0" err="1" smtClean="0"/>
              <a:t>semaines</a:t>
            </a:r>
            <a:endParaRPr lang="en-US" dirty="0" smtClean="0"/>
          </a:p>
          <a:p>
            <a:r>
              <a:rPr lang="en-US" dirty="0" err="1" smtClean="0"/>
              <a:t>Capecitabine</a:t>
            </a:r>
            <a:r>
              <a:rPr lang="en-US" dirty="0" smtClean="0"/>
              <a:t> 625 mg/m² ; </a:t>
            </a:r>
            <a:r>
              <a:rPr lang="en-US" dirty="0" err="1" smtClean="0"/>
              <a:t>p.o</a:t>
            </a:r>
            <a:r>
              <a:rPr lang="en-US" dirty="0" smtClean="0"/>
              <a:t> 2 </a:t>
            </a:r>
            <a:r>
              <a:rPr lang="en-US" dirty="0" err="1" smtClean="0"/>
              <a:t>fois</a:t>
            </a:r>
            <a:r>
              <a:rPr lang="en-US" dirty="0" smtClean="0"/>
              <a:t> par jour en </a:t>
            </a:r>
            <a:r>
              <a:rPr lang="en-US" dirty="0" err="1" smtClean="0"/>
              <a:t>continu</a:t>
            </a:r>
            <a:r>
              <a:rPr lang="en-US" dirty="0" smtClean="0"/>
              <a:t> pendant </a:t>
            </a:r>
            <a:r>
              <a:rPr lang="en-US" dirty="0" err="1" smtClean="0"/>
              <a:t>toute</a:t>
            </a:r>
            <a:r>
              <a:rPr lang="en-US" dirty="0" smtClean="0"/>
              <a:t> la </a:t>
            </a:r>
            <a:r>
              <a:rPr lang="en-US" dirty="0" err="1" smtClean="0"/>
              <a:t>durée</a:t>
            </a:r>
            <a:r>
              <a:rPr lang="en-US" dirty="0" smtClean="0"/>
              <a:t> de la</a:t>
            </a:r>
          </a:p>
          <a:p>
            <a:r>
              <a:rPr lang="en-US" dirty="0" err="1" smtClean="0"/>
              <a:t>chimiothérapie</a:t>
            </a:r>
            <a:endParaRPr lang="en-US" dirty="0" smtClean="0"/>
          </a:p>
          <a:p>
            <a:r>
              <a:rPr lang="en-US" dirty="0" err="1" smtClean="0"/>
              <a:t>Oxaliplatine</a:t>
            </a:r>
            <a:r>
              <a:rPr lang="en-US" dirty="0" smtClean="0"/>
              <a:t> 130 mg/m² en 2 </a:t>
            </a:r>
            <a:r>
              <a:rPr lang="en-US" dirty="0" err="1" smtClean="0"/>
              <a:t>heures</a:t>
            </a:r>
            <a:r>
              <a:rPr lang="en-US" dirty="0" smtClean="0"/>
              <a:t> ; IV J1 </a:t>
            </a:r>
            <a:r>
              <a:rPr lang="en-US" dirty="0" err="1" smtClean="0"/>
              <a:t>toutes</a:t>
            </a:r>
            <a:r>
              <a:rPr lang="en-US" dirty="0" smtClean="0"/>
              <a:t> les 3 </a:t>
            </a:r>
            <a:r>
              <a:rPr lang="en-US" dirty="0" err="1" smtClean="0"/>
              <a:t>semaines</a:t>
            </a:r>
            <a:r>
              <a:rPr lang="en-US" dirty="0" smtClean="0"/>
              <a:t>.</a:t>
            </a:r>
          </a:p>
          <a:p>
            <a:r>
              <a:rPr lang="en-US" dirty="0" smtClean="0">
                <a:solidFill>
                  <a:schemeClr val="accent1">
                    <a:lumMod val="75000"/>
                  </a:schemeClr>
                </a:solidFill>
              </a:rPr>
              <a:t>ECX</a:t>
            </a:r>
          </a:p>
          <a:p>
            <a:endParaRPr lang="en-US" dirty="0" smtClean="0">
              <a:solidFill>
                <a:schemeClr val="accent1">
                  <a:lumMod val="75000"/>
                </a:schemeClr>
              </a:solidFill>
            </a:endParaRPr>
          </a:p>
          <a:p>
            <a:r>
              <a:rPr lang="en-US" dirty="0" err="1" smtClean="0"/>
              <a:t>Epirubicine</a:t>
            </a:r>
            <a:r>
              <a:rPr lang="en-US" dirty="0" smtClean="0"/>
              <a:t> : 50 mg/m² ; IV J1 </a:t>
            </a:r>
            <a:r>
              <a:rPr lang="en-US" dirty="0" err="1" smtClean="0"/>
              <a:t>toutes</a:t>
            </a:r>
            <a:r>
              <a:rPr lang="en-US" dirty="0" smtClean="0"/>
              <a:t> les 3 </a:t>
            </a:r>
            <a:r>
              <a:rPr lang="en-US" dirty="0" err="1" smtClean="0"/>
              <a:t>semaines</a:t>
            </a:r>
            <a:endParaRPr lang="en-US" dirty="0" smtClean="0"/>
          </a:p>
          <a:p>
            <a:r>
              <a:rPr lang="en-US" dirty="0" err="1" smtClean="0"/>
              <a:t>Capecitabine</a:t>
            </a:r>
            <a:r>
              <a:rPr lang="en-US" dirty="0" smtClean="0"/>
              <a:t> : 625 mg/m² ; </a:t>
            </a:r>
            <a:r>
              <a:rPr lang="en-US" dirty="0" err="1" smtClean="0"/>
              <a:t>p.o</a:t>
            </a:r>
            <a:r>
              <a:rPr lang="en-US" dirty="0" smtClean="0"/>
              <a:t> 2 </a:t>
            </a:r>
            <a:r>
              <a:rPr lang="en-US" dirty="0" err="1" smtClean="0"/>
              <a:t>fois</a:t>
            </a:r>
            <a:r>
              <a:rPr lang="en-US" dirty="0" smtClean="0"/>
              <a:t> par jour en </a:t>
            </a:r>
            <a:r>
              <a:rPr lang="en-US" dirty="0" err="1" smtClean="0"/>
              <a:t>continu</a:t>
            </a:r>
            <a:r>
              <a:rPr lang="en-US" dirty="0" smtClean="0"/>
              <a:t> pendant </a:t>
            </a:r>
            <a:r>
              <a:rPr lang="en-US" dirty="0" err="1" smtClean="0"/>
              <a:t>toute</a:t>
            </a:r>
            <a:r>
              <a:rPr lang="en-US" dirty="0" smtClean="0"/>
              <a:t> la </a:t>
            </a:r>
            <a:r>
              <a:rPr lang="en-US" dirty="0" err="1" smtClean="0"/>
              <a:t>durée</a:t>
            </a:r>
            <a:r>
              <a:rPr lang="en-US" dirty="0" smtClean="0"/>
              <a:t> de la</a:t>
            </a:r>
          </a:p>
          <a:p>
            <a:r>
              <a:rPr lang="en-US" dirty="0" err="1" smtClean="0"/>
              <a:t>chimiothérapie</a:t>
            </a:r>
            <a:endParaRPr lang="en-US" dirty="0" smtClean="0"/>
          </a:p>
          <a:p>
            <a:r>
              <a:rPr lang="en-US" dirty="0" err="1" smtClean="0"/>
              <a:t>Cisplatine</a:t>
            </a:r>
            <a:r>
              <a:rPr lang="en-US" dirty="0" smtClean="0"/>
              <a:t> : 60 mg/m² ; IV J1 </a:t>
            </a:r>
            <a:r>
              <a:rPr lang="en-US" dirty="0" err="1" smtClean="0"/>
              <a:t>toutes</a:t>
            </a:r>
            <a:r>
              <a:rPr lang="en-US" dirty="0" smtClean="0"/>
              <a:t> les 3 </a:t>
            </a:r>
            <a:r>
              <a:rPr lang="en-US" dirty="0" err="1" smtClean="0"/>
              <a:t>semaines</a:t>
            </a:r>
            <a:r>
              <a:rPr lang="en-US" dirty="0" smtClean="0"/>
              <a:t> (avec </a:t>
            </a:r>
            <a:r>
              <a:rPr lang="en-US" dirty="0" err="1" smtClean="0"/>
              <a:t>hyperhydratation</a:t>
            </a:r>
            <a:r>
              <a:rPr lang="en-US" dirty="0" smtClean="0"/>
              <a:t>)</a:t>
            </a:r>
          </a:p>
          <a:p>
            <a:r>
              <a:rPr lang="en-US" dirty="0" smtClean="0"/>
              <a:t> </a:t>
            </a:r>
          </a:p>
          <a:p>
            <a:r>
              <a:rPr lang="en-US" dirty="0" smtClean="0"/>
              <a:t>3 cures en </a:t>
            </a:r>
            <a:r>
              <a:rPr lang="en-US" dirty="0" err="1" smtClean="0"/>
              <a:t>préopératoire</a:t>
            </a:r>
            <a:r>
              <a:rPr lang="en-US" dirty="0" smtClean="0"/>
              <a:t>, </a:t>
            </a:r>
            <a:r>
              <a:rPr lang="en-US" dirty="0" err="1" smtClean="0"/>
              <a:t>puis</a:t>
            </a:r>
            <a:r>
              <a:rPr lang="en-US" dirty="0" smtClean="0"/>
              <a:t> 3 cures en </a:t>
            </a:r>
            <a:r>
              <a:rPr lang="en-US" dirty="0" err="1" smtClean="0"/>
              <a:t>postopératoire</a:t>
            </a:r>
            <a:r>
              <a:rPr lang="en-US" dirty="0" smtClean="0"/>
              <a:t> </a:t>
            </a:r>
            <a:r>
              <a:rPr lang="en-US" dirty="0" err="1" smtClean="0"/>
              <a:t>si</a:t>
            </a:r>
            <a:r>
              <a:rPr lang="en-US" dirty="0" smtClean="0"/>
              <a:t> </a:t>
            </a:r>
            <a:r>
              <a:rPr lang="en-US" dirty="0" err="1" smtClean="0"/>
              <a:t>réponse</a:t>
            </a:r>
            <a:r>
              <a:rPr lang="en-US" dirty="0" smtClean="0"/>
              <a:t> ou </a:t>
            </a:r>
            <a:r>
              <a:rPr lang="en-US" dirty="0" err="1" smtClean="0"/>
              <a:t>stabilité</a:t>
            </a:r>
            <a:r>
              <a:rPr lang="en-US" dirty="0" smtClean="0"/>
              <a:t> et </a:t>
            </a:r>
            <a:r>
              <a:rPr lang="en-US" dirty="0" err="1" smtClean="0"/>
              <a:t>si</a:t>
            </a:r>
            <a:r>
              <a:rPr lang="en-US" dirty="0" smtClean="0"/>
              <a:t> </a:t>
            </a:r>
            <a:r>
              <a:rPr lang="en-US" dirty="0" err="1" smtClean="0"/>
              <a:t>l'état</a:t>
            </a:r>
            <a:r>
              <a:rPr lang="en-US" dirty="0" smtClean="0"/>
              <a:t> </a:t>
            </a:r>
            <a:r>
              <a:rPr lang="en-US" dirty="0" err="1" smtClean="0"/>
              <a:t>général</a:t>
            </a:r>
            <a:r>
              <a:rPr lang="en-US" dirty="0" smtClean="0"/>
              <a:t> le </a:t>
            </a:r>
            <a:r>
              <a:rPr lang="en-US" dirty="0" err="1" smtClean="0"/>
              <a:t>permet</a:t>
            </a:r>
            <a:r>
              <a:rPr lang="en-US" dirty="0" smtClean="0"/>
              <a:t>.</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4415" y="357167"/>
            <a:ext cx="5857900" cy="5139869"/>
          </a:xfrm>
          <a:prstGeom prst="rect">
            <a:avLst/>
          </a:prstGeom>
        </p:spPr>
        <p:txBody>
          <a:bodyPr wrap="square">
            <a:spAutoFit/>
          </a:bodyPr>
          <a:lstStyle/>
          <a:p>
            <a:r>
              <a:rPr lang="fr-FR" sz="4000" dirty="0" smtClean="0">
                <a:solidFill>
                  <a:schemeClr val="accent1">
                    <a:lumMod val="75000"/>
                  </a:schemeClr>
                </a:solidFill>
              </a:rPr>
              <a:t>Protocole MAGIC</a:t>
            </a:r>
          </a:p>
          <a:p>
            <a:endParaRPr lang="fr-FR" sz="2400" dirty="0" smtClean="0">
              <a:solidFill>
                <a:schemeClr val="accent1">
                  <a:lumMod val="75000"/>
                </a:schemeClr>
              </a:solidFill>
            </a:endParaRPr>
          </a:p>
          <a:p>
            <a:r>
              <a:rPr lang="fr-FR" sz="2400" dirty="0" smtClean="0">
                <a:solidFill>
                  <a:schemeClr val="accent1">
                    <a:lumMod val="75000"/>
                  </a:schemeClr>
                </a:solidFill>
              </a:rPr>
              <a:t>ECF</a:t>
            </a:r>
          </a:p>
          <a:p>
            <a:r>
              <a:rPr lang="fr-FR" sz="2400" dirty="0" err="1" smtClean="0">
                <a:solidFill>
                  <a:schemeClr val="accent6">
                    <a:lumMod val="75000"/>
                  </a:schemeClr>
                </a:solidFill>
              </a:rPr>
              <a:t>Epirubicine</a:t>
            </a:r>
            <a:r>
              <a:rPr lang="fr-FR" sz="2400" dirty="0" smtClean="0">
                <a:solidFill>
                  <a:schemeClr val="accent6">
                    <a:lumMod val="75000"/>
                  </a:schemeClr>
                </a:solidFill>
              </a:rPr>
              <a:t> 50 mg/m² à J1 tous les 21 jours</a:t>
            </a:r>
          </a:p>
          <a:p>
            <a:r>
              <a:rPr lang="fr-FR" sz="2400" dirty="0" err="1" smtClean="0">
                <a:solidFill>
                  <a:schemeClr val="accent6">
                    <a:lumMod val="75000"/>
                  </a:schemeClr>
                </a:solidFill>
              </a:rPr>
              <a:t>Cisplatine</a:t>
            </a:r>
            <a:r>
              <a:rPr lang="fr-FR" sz="2400" dirty="0" smtClean="0">
                <a:solidFill>
                  <a:schemeClr val="accent6">
                    <a:lumMod val="75000"/>
                  </a:schemeClr>
                </a:solidFill>
              </a:rPr>
              <a:t> 60 mg/m² à J1 tous les 21 jours</a:t>
            </a:r>
          </a:p>
          <a:p>
            <a:r>
              <a:rPr lang="fr-FR" sz="2400" dirty="0" smtClean="0">
                <a:solidFill>
                  <a:schemeClr val="accent6">
                    <a:lumMod val="75000"/>
                  </a:schemeClr>
                </a:solidFill>
              </a:rPr>
              <a:t>5-</a:t>
            </a:r>
            <a:r>
              <a:rPr lang="fr-FR" sz="2400" dirty="0" err="1" smtClean="0">
                <a:solidFill>
                  <a:schemeClr val="accent6">
                    <a:lumMod val="75000"/>
                  </a:schemeClr>
                </a:solidFill>
              </a:rPr>
              <a:t>Fluorouracile</a:t>
            </a:r>
            <a:r>
              <a:rPr lang="fr-FR" sz="2400" dirty="0" smtClean="0">
                <a:solidFill>
                  <a:schemeClr val="accent6">
                    <a:lumMod val="75000"/>
                  </a:schemeClr>
                </a:solidFill>
              </a:rPr>
              <a:t> 200 mg/m²/j IV en continu sur 21</a:t>
            </a:r>
          </a:p>
          <a:p>
            <a:r>
              <a:rPr lang="fr-FR" sz="2400" dirty="0" smtClean="0">
                <a:solidFill>
                  <a:schemeClr val="accent6">
                    <a:lumMod val="75000"/>
                  </a:schemeClr>
                </a:solidFill>
              </a:rPr>
              <a:t>jours</a:t>
            </a:r>
          </a:p>
          <a:p>
            <a:r>
              <a:rPr lang="fr-FR" sz="2400" dirty="0" smtClean="0">
                <a:solidFill>
                  <a:schemeClr val="accent6">
                    <a:lumMod val="75000"/>
                  </a:schemeClr>
                </a:solidFill>
              </a:rPr>
              <a:t> </a:t>
            </a:r>
          </a:p>
          <a:p>
            <a:r>
              <a:rPr lang="fr-FR" sz="2400" dirty="0" smtClean="0">
                <a:solidFill>
                  <a:schemeClr val="accent6">
                    <a:lumMod val="75000"/>
                  </a:schemeClr>
                </a:solidFill>
              </a:rPr>
              <a:t>3 cures en préopératoire, puis 3 cures en postopératoire si réponse ou stabilité et si l'état général le permet.</a:t>
            </a:r>
          </a:p>
          <a:p>
            <a:r>
              <a:rPr lang="fr-FR" sz="2400" dirty="0" smtClean="0">
                <a:solidFill>
                  <a:schemeClr val="accent6">
                    <a:lumMod val="75000"/>
                  </a:schemeClr>
                </a:solidFill>
              </a:rPr>
              <a:t>Référence</a:t>
            </a:r>
            <a:endParaRPr lang="en-US" sz="2400" dirty="0">
              <a:solidFill>
                <a:schemeClr val="accent6">
                  <a:lumMod val="75000"/>
                </a:schemeClr>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5" y="500046"/>
            <a:ext cx="7500991" cy="5447645"/>
          </a:xfrm>
          <a:prstGeom prst="rect">
            <a:avLst/>
          </a:prstGeom>
        </p:spPr>
        <p:txBody>
          <a:bodyPr wrap="square">
            <a:spAutoFit/>
          </a:bodyPr>
          <a:lstStyle/>
          <a:p>
            <a:r>
              <a:rPr lang="fr-FR" sz="4000" dirty="0" smtClean="0">
                <a:solidFill>
                  <a:schemeClr val="accent4">
                    <a:lumMod val="60000"/>
                    <a:lumOff val="40000"/>
                  </a:schemeClr>
                </a:solidFill>
              </a:rPr>
              <a:t>Protocole UNICANCER/FFCD</a:t>
            </a:r>
          </a:p>
          <a:p>
            <a:r>
              <a:rPr lang="fr-FR" sz="2800" dirty="0" smtClean="0"/>
              <a:t>5-</a:t>
            </a:r>
            <a:r>
              <a:rPr lang="fr-FR" sz="2800" dirty="0" err="1" smtClean="0"/>
              <a:t>Fluorouracile</a:t>
            </a:r>
            <a:r>
              <a:rPr lang="fr-FR" sz="2800" dirty="0" smtClean="0"/>
              <a:t> - </a:t>
            </a:r>
            <a:r>
              <a:rPr lang="fr-FR" sz="2800" dirty="0" err="1" smtClean="0"/>
              <a:t>Cisplatine</a:t>
            </a:r>
            <a:endParaRPr lang="fr-FR" sz="2800" dirty="0" smtClean="0"/>
          </a:p>
          <a:p>
            <a:r>
              <a:rPr lang="fr-FR" sz="2800" dirty="0" smtClean="0"/>
              <a:t>5-</a:t>
            </a:r>
            <a:r>
              <a:rPr lang="fr-FR" sz="2800" dirty="0" err="1" smtClean="0"/>
              <a:t>Fluorouracile</a:t>
            </a:r>
            <a:r>
              <a:rPr lang="fr-FR" sz="2800" dirty="0" smtClean="0"/>
              <a:t> 1 000 mg/m²/j IV en perfusion continue de  J1 à</a:t>
            </a:r>
          </a:p>
          <a:p>
            <a:r>
              <a:rPr lang="fr-FR" sz="2800" dirty="0" smtClean="0"/>
              <a:t>J5</a:t>
            </a:r>
          </a:p>
          <a:p>
            <a:r>
              <a:rPr lang="fr-FR" sz="2800" dirty="0" err="1" smtClean="0"/>
              <a:t>Cisplatine</a:t>
            </a:r>
            <a:r>
              <a:rPr lang="fr-FR" sz="2800" dirty="0" smtClean="0"/>
              <a:t> 100 mg/m² en IV à J2 en 2 heures (ou 1 mg/mn)</a:t>
            </a:r>
          </a:p>
          <a:p>
            <a:r>
              <a:rPr lang="fr-FR" sz="2800" dirty="0" smtClean="0"/>
              <a:t>Reprise à J29</a:t>
            </a:r>
          </a:p>
          <a:p>
            <a:r>
              <a:rPr lang="fr-FR" sz="2800" dirty="0" smtClean="0"/>
              <a:t> </a:t>
            </a:r>
          </a:p>
          <a:p>
            <a:r>
              <a:rPr lang="fr-FR" sz="2800" dirty="0" smtClean="0"/>
              <a:t>2 à 3 cures en préopératoire, puis 3 à 4 cures en postopératoire si réponse (ou stabilité et </a:t>
            </a:r>
            <a:r>
              <a:rPr lang="fr-FR" sz="2800" dirty="0" err="1" smtClean="0"/>
              <a:t>ypN</a:t>
            </a:r>
            <a:r>
              <a:rPr lang="fr-FR" sz="2800" dirty="0" smtClean="0"/>
              <a:t>+)</a:t>
            </a:r>
          </a:p>
          <a:p>
            <a:r>
              <a:rPr lang="fr-FR" sz="2800" dirty="0" smtClean="0"/>
              <a:t>Références</a:t>
            </a:r>
            <a:endParaRPr lang="en-US" sz="2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étro">
  <a:themeElements>
    <a:clrScheme name="Mé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é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é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21365</TotalTime>
  <Words>5644</Words>
  <Application>Microsoft Office PowerPoint</Application>
  <PresentationFormat>Affichage à l'écran (4:3)</PresentationFormat>
  <Paragraphs>635</Paragraphs>
  <Slides>107</Slides>
  <Notes>7</Notes>
  <HiddenSlides>0</HiddenSlides>
  <MMClips>5</MMClips>
  <ScaleCrop>false</ScaleCrop>
  <HeadingPairs>
    <vt:vector size="4" baseType="variant">
      <vt:variant>
        <vt:lpstr>Thème</vt:lpstr>
      </vt:variant>
      <vt:variant>
        <vt:i4>1</vt:i4>
      </vt:variant>
      <vt:variant>
        <vt:lpstr>Titres des diapositives</vt:lpstr>
      </vt:variant>
      <vt:variant>
        <vt:i4>107</vt:i4>
      </vt:variant>
    </vt:vector>
  </HeadingPairs>
  <TitlesOfParts>
    <vt:vector size="108" baseType="lpstr">
      <vt:lpstr>Métro</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lpstr>Diapositive 33</vt:lpstr>
      <vt:lpstr>Diapositive 34</vt:lpstr>
      <vt:lpstr>Diapositive 35</vt:lpstr>
      <vt:lpstr>Diapositive 36</vt:lpstr>
      <vt:lpstr>Diapositive 37</vt:lpstr>
      <vt:lpstr>Diapositive 38</vt:lpstr>
      <vt:lpstr>Diapositive 39</vt:lpstr>
      <vt:lpstr>Diapositive 40</vt:lpstr>
      <vt:lpstr>Diapositive 41</vt:lpstr>
      <vt:lpstr>Diapositive 42</vt:lpstr>
      <vt:lpstr>Diapositive 43</vt:lpstr>
      <vt:lpstr>Diapositive 44</vt:lpstr>
      <vt:lpstr>Diapositive 45</vt:lpstr>
      <vt:lpstr>Diapositive 46</vt:lpstr>
      <vt:lpstr>Diapositive 47</vt:lpstr>
      <vt:lpstr>Diapositive 48</vt:lpstr>
      <vt:lpstr>Diapositive 49</vt:lpstr>
      <vt:lpstr>Diapositive 50</vt:lpstr>
      <vt:lpstr>Diapositive 51</vt:lpstr>
      <vt:lpstr>Diapositive 52</vt:lpstr>
      <vt:lpstr>Diapositive 53</vt:lpstr>
      <vt:lpstr>Diapositive 54</vt:lpstr>
      <vt:lpstr>Diapositive 55</vt:lpstr>
      <vt:lpstr>Diapositive 56</vt:lpstr>
      <vt:lpstr>Diapositive 57</vt:lpstr>
      <vt:lpstr>Diapositive 58</vt:lpstr>
      <vt:lpstr>Diapositive 59</vt:lpstr>
      <vt:lpstr>Diapositive 60</vt:lpstr>
      <vt:lpstr>Diapositive 61</vt:lpstr>
      <vt:lpstr>Diapositive 62</vt:lpstr>
      <vt:lpstr>Diapositive 63</vt:lpstr>
      <vt:lpstr>Diapositive 64</vt:lpstr>
      <vt:lpstr>Diapositive 65</vt:lpstr>
      <vt:lpstr>Diapositive 66</vt:lpstr>
      <vt:lpstr>Diapositive 67</vt:lpstr>
      <vt:lpstr>Diapositive 68</vt:lpstr>
      <vt:lpstr>Diapositive 69</vt:lpstr>
      <vt:lpstr>Diapositive 70</vt:lpstr>
      <vt:lpstr>Cancer de  Leosophage</vt:lpstr>
      <vt:lpstr>Diapositive 72</vt:lpstr>
      <vt:lpstr>Diapositive 73</vt:lpstr>
      <vt:lpstr>Diapositive 74</vt:lpstr>
      <vt:lpstr>Diapositive 75</vt:lpstr>
      <vt:lpstr>Traitement du cancer de loesophage</vt:lpstr>
      <vt:lpstr>Diapositive 77</vt:lpstr>
      <vt:lpstr>Diapositive 78</vt:lpstr>
      <vt:lpstr>Diapositive 79</vt:lpstr>
      <vt:lpstr>Diapositive 80</vt:lpstr>
      <vt:lpstr>Diapositive 81</vt:lpstr>
      <vt:lpstr>Diapositive 82</vt:lpstr>
      <vt:lpstr>Diapositive 83</vt:lpstr>
      <vt:lpstr>Diapositive 84</vt:lpstr>
      <vt:lpstr>Diapositive 85</vt:lpstr>
      <vt:lpstr>Voie cervicale</vt:lpstr>
      <vt:lpstr>Diapositive 87</vt:lpstr>
      <vt:lpstr>Diapositive 88</vt:lpstr>
      <vt:lpstr>Diapositive 89</vt:lpstr>
      <vt:lpstr>Diapositive 90</vt:lpstr>
      <vt:lpstr>Diapositive 91</vt:lpstr>
      <vt:lpstr>Diapositive 92</vt:lpstr>
      <vt:lpstr>Diapositive 93</vt:lpstr>
      <vt:lpstr>Diapositive 94</vt:lpstr>
      <vt:lpstr>Diapositive 95</vt:lpstr>
      <vt:lpstr>Diapositive 96</vt:lpstr>
      <vt:lpstr>Diapositive 97</vt:lpstr>
      <vt:lpstr>Diapositive 98</vt:lpstr>
      <vt:lpstr>Diapositive 99</vt:lpstr>
      <vt:lpstr>Diapositive 100</vt:lpstr>
      <vt:lpstr>Diapositive 101</vt:lpstr>
      <vt:lpstr>Diapositive 102</vt:lpstr>
      <vt:lpstr>Diapositive 103</vt:lpstr>
      <vt:lpstr>Diapositive 104</vt:lpstr>
      <vt:lpstr>Diapositive 105</vt:lpstr>
      <vt:lpstr>Diapositive 106</vt:lpstr>
      <vt:lpstr>Diapositive 107</vt:lpstr>
    </vt:vector>
  </TitlesOfParts>
  <Company>Home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Boufenar Abdelmalek</dc:creator>
  <cp:lastModifiedBy>DELL</cp:lastModifiedBy>
  <cp:revision>174</cp:revision>
  <dcterms:created xsi:type="dcterms:W3CDTF">2011-05-27T11:11:30Z</dcterms:created>
  <dcterms:modified xsi:type="dcterms:W3CDTF">2009-08-31T06:44:21Z</dcterms:modified>
</cp:coreProperties>
</file>