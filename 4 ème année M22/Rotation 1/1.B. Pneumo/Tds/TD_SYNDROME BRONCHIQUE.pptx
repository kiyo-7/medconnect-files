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1" r:id="rId4"/>
    <p:sldId id="272" r:id="rId5"/>
    <p:sldId id="258" r:id="rId6"/>
    <p:sldId id="259" r:id="rId7"/>
    <p:sldId id="260" r:id="rId8"/>
    <p:sldId id="261" r:id="rId9"/>
    <p:sldId id="262" r:id="rId10"/>
    <p:sldId id="277" r:id="rId11"/>
    <p:sldId id="278" r:id="rId12"/>
    <p:sldId id="264" r:id="rId13"/>
    <p:sldId id="266" r:id="rId14"/>
    <p:sldId id="279" r:id="rId15"/>
    <p:sldId id="268" r:id="rId16"/>
    <p:sldId id="281" r:id="rId1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p:cViewPr varScale="1">
        <p:scale>
          <a:sx n="83" d="100"/>
          <a:sy n="83" d="100"/>
        </p:scale>
        <p:origin x="-1454"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8" name="Espace réservé de la date 27"/>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17" name="Espace réservé du pied de page 16"/>
          <p:cNvSpPr>
            <a:spLocks noGrp="1"/>
          </p:cNvSpPr>
          <p:nvPr>
            <p:ph type="ftr" sz="quarter" idx="11"/>
          </p:nvPr>
        </p:nvSpPr>
        <p:spPr/>
        <p:txBody>
          <a:bodyPr/>
          <a:lstStyle>
            <a:extLst/>
          </a:lstStyle>
          <a:p>
            <a:endParaRPr lang="fr-BE"/>
          </a:p>
        </p:txBody>
      </p:sp>
      <p:sp>
        <p:nvSpPr>
          <p:cNvPr id="29" name="Espace réservé du numéro de diapositive 28"/>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r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fr-FR" smtClean="0"/>
              <a:t>Cliquez pour modifier le style du titre</a:t>
            </a:r>
            <a:endParaRPr kumimoji="0" lang="en-US"/>
          </a:p>
        </p:txBody>
      </p:sp>
      <p:sp>
        <p:nvSpPr>
          <p:cNvPr id="9" name="Sous-titr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4" name="Forme libre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orme libre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orme libre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orme libre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orme libre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orme libre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orme libre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orme libre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orme libre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orme libre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orme libre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orme libre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orme libre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orme libre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orme libre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Espace réservé du texte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r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fr-FR" smtClean="0"/>
              <a:t>Cliquez pour modifier le style du titre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512064"/>
            <a:ext cx="8229600" cy="914400"/>
          </a:xfrm>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re 1"/>
          <p:cNvSpPr>
            <a:spLocks noGrp="1"/>
          </p:cNvSpPr>
          <p:nvPr>
            <p:ph type="title"/>
          </p:nvPr>
        </p:nvSpPr>
        <p:spPr>
          <a:xfrm>
            <a:off x="504824" y="512064"/>
            <a:ext cx="7772400" cy="914400"/>
          </a:xfrm>
        </p:spPr>
        <p:txBody>
          <a:bodyPr anchor="t"/>
          <a:lstStyle>
            <a:lvl1pPr>
              <a:defRPr sz="4000"/>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8" name="Espace réservé du pied de page 7"/>
          <p:cNvSpPr>
            <a:spLocks noGrp="1"/>
          </p:cNvSpPr>
          <p:nvPr>
            <p:ph type="ftr" sz="quarter" idx="11"/>
          </p:nvPr>
        </p:nvSpPr>
        <p:spPr/>
        <p:txBody>
          <a:bodyPr/>
          <a:lstStyle>
            <a:extLst/>
          </a:lstStyle>
          <a:p>
            <a:endParaRPr lang="fr-BE"/>
          </a:p>
        </p:txBody>
      </p:sp>
      <p:sp>
        <p:nvSpPr>
          <p:cNvPr id="9" name="Espace réservé du numéro de diapositive 8"/>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914400" y="512064"/>
            <a:ext cx="7772400" cy="914400"/>
          </a:xfrm>
        </p:spPr>
        <p:txBody>
          <a:bodyPr/>
          <a:lstStyle>
            <a:lvl1pPr>
              <a:defRPr sz="4000" cap="none" baseline="0"/>
            </a:lvl1pPr>
            <a:extLst/>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4" name="Espace réservé du pied de page 3"/>
          <p:cNvSpPr>
            <a:spLocks noGrp="1"/>
          </p:cNvSpPr>
          <p:nvPr>
            <p:ph type="ftr" sz="quarter" idx="11"/>
          </p:nvPr>
        </p:nvSpPr>
        <p:spPr/>
        <p:txBody>
          <a:bodyPr/>
          <a:lstStyle>
            <a:extLst/>
          </a:lstStyle>
          <a:p>
            <a:endParaRPr lang="fr-BE"/>
          </a:p>
        </p:txBody>
      </p:sp>
      <p:sp>
        <p:nvSpPr>
          <p:cNvPr id="5" name="Espace réservé du numéro de diapositive 4"/>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3" name="Espace réservé du pied de page 2"/>
          <p:cNvSpPr>
            <a:spLocks noGrp="1"/>
          </p:cNvSpPr>
          <p:nvPr>
            <p:ph type="ftr" sz="quarter" idx="11"/>
          </p:nvPr>
        </p:nvSpPr>
        <p:spPr/>
        <p:txBody>
          <a:bodyPr/>
          <a:lstStyle>
            <a:extLst/>
          </a:lstStyle>
          <a:p>
            <a:endParaRPr lang="fr-BE"/>
          </a:p>
        </p:txBody>
      </p:sp>
      <p:sp>
        <p:nvSpPr>
          <p:cNvPr id="4" name="Espace réservé du numéro de diapositive 3"/>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85800" y="273050"/>
            <a:ext cx="8229600" cy="1162050"/>
          </a:xfrm>
        </p:spPr>
        <p:txBody>
          <a:bodyPr anchor="ctr"/>
          <a:lstStyle>
            <a:lvl1pPr algn="l">
              <a:buNone/>
              <a:defRPr sz="3600" b="0"/>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Connecteur droit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e 9"/>
          <p:cNvGrpSpPr/>
          <p:nvPr/>
        </p:nvGrpSpPr>
        <p:grpSpPr>
          <a:xfrm rot="5400000">
            <a:off x="8514581" y="1219200"/>
            <a:ext cx="132763" cy="128466"/>
            <a:chOff x="6668087" y="1297746"/>
            <a:chExt cx="161840" cy="156602"/>
          </a:xfrm>
        </p:grpSpPr>
        <p:cxnSp>
          <p:nvCxnSpPr>
            <p:cNvPr id="15" name="Connecteur droit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r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fr-FR" smtClean="0"/>
              <a:t>Cliquez sur l'icône pour ajouter une image</a:t>
            </a:r>
            <a:endParaRPr kumimoji="0" lang="en-US"/>
          </a:p>
        </p:txBody>
      </p:sp>
      <p:sp>
        <p:nvSpPr>
          <p:cNvPr id="4" name="Espace réservé du texte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fr-FR" smtClean="0"/>
              <a:t>Cliquez pour modifier les styles du texte du masque</a:t>
            </a:r>
          </a:p>
        </p:txBody>
      </p:sp>
      <p:grpSp>
        <p:nvGrpSpPr>
          <p:cNvPr id="14" name="Groupe 13"/>
          <p:cNvGrpSpPr/>
          <p:nvPr/>
        </p:nvGrpSpPr>
        <p:grpSpPr>
          <a:xfrm rot="5400000">
            <a:off x="8666981" y="1371600"/>
            <a:ext cx="132763" cy="128466"/>
            <a:chOff x="6668087" y="1297746"/>
            <a:chExt cx="161840" cy="156602"/>
          </a:xfrm>
        </p:grpSpPr>
        <p:cxnSp>
          <p:nvCxnSpPr>
            <p:cNvPr id="11" name="Connecteur droit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e 17"/>
          <p:cNvGrpSpPr/>
          <p:nvPr/>
        </p:nvGrpSpPr>
        <p:grpSpPr>
          <a:xfrm rot="5400000">
            <a:off x="8320088" y="1474763"/>
            <a:ext cx="132763" cy="128466"/>
            <a:chOff x="6668087" y="1297746"/>
            <a:chExt cx="161840" cy="156602"/>
          </a:xfrm>
        </p:grpSpPr>
        <p:cxnSp>
          <p:nvCxnSpPr>
            <p:cNvPr id="19" name="Connecteur droit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Espace réservé de la date 4"/>
          <p:cNvSpPr>
            <a:spLocks noGrp="1"/>
          </p:cNvSpPr>
          <p:nvPr>
            <p:ph type="dt" sz="half" idx="10"/>
          </p:nvPr>
        </p:nvSpPr>
        <p:spPr>
          <a:xfrm>
            <a:off x="6477000" y="55499"/>
            <a:ext cx="2133600" cy="365125"/>
          </a:xfrm>
        </p:spPr>
        <p:txBody>
          <a:bodyPr/>
          <a:lstStyle>
            <a:extLst/>
          </a:lstStyle>
          <a:p>
            <a:fld id="{AA309A6D-C09C-4548-B29A-6CF363A7E532}" type="datetimeFigureOut">
              <a:rPr lang="fr-FR" smtClean="0"/>
              <a:pPr/>
              <a:t>05/10/2025</a:t>
            </a:fld>
            <a:endParaRPr lang="fr-BE"/>
          </a:p>
        </p:txBody>
      </p:sp>
      <p:sp>
        <p:nvSpPr>
          <p:cNvPr id="6" name="Espace réservé du pied de page 5"/>
          <p:cNvSpPr>
            <a:spLocks noGrp="1"/>
          </p:cNvSpPr>
          <p:nvPr>
            <p:ph type="ftr" sz="quarter" idx="11"/>
          </p:nvPr>
        </p:nvSpPr>
        <p:spPr>
          <a:xfrm>
            <a:off x="914400" y="55499"/>
            <a:ext cx="5562600" cy="365125"/>
          </a:xfrm>
        </p:spPr>
        <p:txBody>
          <a:bodyPr/>
          <a:lstStyle>
            <a:extLst/>
          </a:lstStyle>
          <a:p>
            <a:endParaRPr lang="fr-BE"/>
          </a:p>
        </p:txBody>
      </p:sp>
      <p:sp>
        <p:nvSpPr>
          <p:cNvPr id="7" name="Espace réservé du numéro de diapositive 6"/>
          <p:cNvSpPr>
            <a:spLocks noGrp="1"/>
          </p:cNvSpPr>
          <p:nvPr>
            <p:ph type="sldNum" sz="quarter" idx="12"/>
          </p:nvPr>
        </p:nvSpPr>
        <p:spPr>
          <a:xfrm>
            <a:off x="8610600" y="55499"/>
            <a:ext cx="457200" cy="365125"/>
          </a:xfrm>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1981200" cy="5851525"/>
          </a:xfrm>
        </p:spPr>
        <p:txBody>
          <a:bodyPr vert="eaVert" anchor="ct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609600" y="274639"/>
            <a:ext cx="5867400" cy="5851525"/>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pPr/>
              <a:t>05/10/2025</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Espace réservé du titre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AA309A6D-C09C-4548-B29A-6CF363A7E532}" type="datetimeFigureOut">
              <a:rPr lang="fr-FR" smtClean="0"/>
              <a:pPr/>
              <a:t>05/10/2025</a:t>
            </a:fld>
            <a:endParaRPr lang="fr-BE"/>
          </a:p>
        </p:txBody>
      </p:sp>
      <p:sp>
        <p:nvSpPr>
          <p:cNvPr id="3" name="Espace réservé du pied de page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fr-BE"/>
          </a:p>
        </p:txBody>
      </p:sp>
      <p:sp>
        <p:nvSpPr>
          <p:cNvPr id="23" name="Espace réservé du numéro de diapositive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CF4668DC-857F-487D-BFFA-8C0CA5037977}" type="slidenum">
              <a:rPr lang="fr-BE" smtClean="0"/>
              <a:pPr/>
              <a:t>‹N°›</a:t>
            </a:fld>
            <a:endParaRPr lang="fr-BE"/>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err="1" smtClean="0"/>
              <a:t>DR.sekkour</a:t>
            </a:r>
            <a:r>
              <a:rPr lang="fr-FR" dirty="0" smtClean="0"/>
              <a:t> </a:t>
            </a:r>
            <a:r>
              <a:rPr lang="fr-FR" dirty="0" err="1" smtClean="0"/>
              <a:t>rania</a:t>
            </a:r>
            <a:endParaRPr lang="fr-FR" b="1" dirty="0"/>
          </a:p>
        </p:txBody>
      </p:sp>
      <p:sp>
        <p:nvSpPr>
          <p:cNvPr id="3" name="Sous-titre 2"/>
          <p:cNvSpPr>
            <a:spLocks noGrp="1"/>
          </p:cNvSpPr>
          <p:nvPr>
            <p:ph type="subTitle" idx="1"/>
          </p:nvPr>
        </p:nvSpPr>
        <p:spPr>
          <a:xfrm>
            <a:off x="914400" y="1214422"/>
            <a:ext cx="7772400" cy="1285884"/>
          </a:xfrm>
        </p:spPr>
        <p:txBody>
          <a:bodyPr>
            <a:normAutofit fontScale="85000" lnSpcReduction="10000"/>
          </a:bodyPr>
          <a:lstStyle/>
          <a:p>
            <a:r>
              <a:rPr lang="fr-FR" sz="6000" b="1" i="1" u="sng" dirty="0" smtClean="0"/>
              <a:t>SYNDROME  BRONCHIQUE</a:t>
            </a:r>
            <a:endParaRPr lang="fr-FR" sz="6000" b="1" i="1" u="sn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a:t>
            </a:r>
            <a:endParaRPr lang="fr-FR" dirty="0"/>
          </a:p>
        </p:txBody>
      </p:sp>
      <p:sp>
        <p:nvSpPr>
          <p:cNvPr id="3" name="Espace réservé du contenu 2"/>
          <p:cNvSpPr>
            <a:spLocks noGrp="1"/>
          </p:cNvSpPr>
          <p:nvPr>
            <p:ph idx="1"/>
          </p:nvPr>
        </p:nvSpPr>
        <p:spPr/>
        <p:txBody>
          <a:bodyPr/>
          <a:lstStyle/>
          <a:p>
            <a:r>
              <a:rPr lang="fr-FR" dirty="0" smtClean="0"/>
              <a:t>Le syndrome bronchique est défini comme l’ensemble des manifestations radiologiques des différentes pathologies bronchiques d’origine inflammatoire ou obstructive, qu’elles soient primitives ou secondaires.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Signes directes</a:t>
            </a:r>
            <a:endParaRPr lang="fr-FR" dirty="0"/>
          </a:p>
        </p:txBody>
      </p:sp>
      <p:sp>
        <p:nvSpPr>
          <p:cNvPr id="3" name="Espace réservé du contenu 2"/>
          <p:cNvSpPr>
            <a:spLocks noGrp="1"/>
          </p:cNvSpPr>
          <p:nvPr>
            <p:ph idx="1"/>
          </p:nvPr>
        </p:nvSpPr>
        <p:spPr/>
        <p:txBody>
          <a:bodyPr/>
          <a:lstStyle/>
          <a:p>
            <a:r>
              <a:rPr lang="fr-FR" dirty="0" smtClean="0"/>
              <a:t> traduisent, au niveau des bronches, l’épaississement pariétal, la dilatation de la lumière et l’accumulation anormale de sécrétions.</a:t>
            </a:r>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Signes indirectes</a:t>
            </a:r>
            <a:endParaRPr lang="fr-FR" dirty="0"/>
          </a:p>
        </p:txBody>
      </p:sp>
      <p:sp>
        <p:nvSpPr>
          <p:cNvPr id="3" name="Espace réservé du contenu 2"/>
          <p:cNvSpPr>
            <a:spLocks noGrp="1"/>
          </p:cNvSpPr>
          <p:nvPr>
            <p:ph idx="1"/>
          </p:nvPr>
        </p:nvSpPr>
        <p:spPr/>
        <p:txBody>
          <a:bodyPr/>
          <a:lstStyle/>
          <a:p>
            <a:r>
              <a:rPr lang="fr-FR" dirty="0" smtClean="0"/>
              <a:t>Ils traduisent le retentissement des lésions bronchiques et </a:t>
            </a:r>
            <a:r>
              <a:rPr lang="fr-FR" dirty="0" err="1" smtClean="0"/>
              <a:t>bronchiolaires</a:t>
            </a:r>
            <a:r>
              <a:rPr lang="fr-FR" dirty="0" smtClean="0"/>
              <a:t> sur la ventilation et la vascularisation pulmonaire. Ils accompagnent généralement les signes directs mais sont quelquefois les seuls décelables, surtout quand l’atteinte prédomine sur les petites bronches ou les bronchioles dont l’expression directe est </a:t>
            </a:r>
            <a:r>
              <a:rPr lang="fr-FR" dirty="0" err="1" smtClean="0"/>
              <a:t>infraradiologique</a:t>
            </a:r>
            <a:r>
              <a:rPr lang="fr-FR" dirty="0" smtClean="0"/>
              <a:t>.</a:t>
            </a: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Types</a:t>
            </a:r>
            <a:endParaRPr lang="fr-FR" dirty="0"/>
          </a:p>
        </p:txBody>
      </p:sp>
      <p:sp>
        <p:nvSpPr>
          <p:cNvPr id="3" name="Espace réservé du contenu 2"/>
          <p:cNvSpPr>
            <a:spLocks noGrp="1"/>
          </p:cNvSpPr>
          <p:nvPr>
            <p:ph idx="1"/>
          </p:nvPr>
        </p:nvSpPr>
        <p:spPr>
          <a:xfrm>
            <a:off x="914400" y="1783560"/>
            <a:ext cx="7872442" cy="4572000"/>
          </a:xfrm>
        </p:spPr>
        <p:txBody>
          <a:bodyPr/>
          <a:lstStyle/>
          <a:p>
            <a:r>
              <a:rPr lang="fr-FR" dirty="0" smtClean="0"/>
              <a:t>DDB(dilatation des bronche ou bronchectasie)</a:t>
            </a:r>
          </a:p>
          <a:p>
            <a:r>
              <a:rPr lang="fr-FR" b="1" dirty="0" smtClean="0"/>
              <a:t> </a:t>
            </a:r>
            <a:r>
              <a:rPr lang="fr-FR" dirty="0" err="1" smtClean="0"/>
              <a:t>Atéléctasie</a:t>
            </a:r>
            <a:r>
              <a:rPr lang="fr-FR" dirty="0" smtClean="0"/>
              <a:t> partielle</a:t>
            </a:r>
          </a:p>
          <a:p>
            <a:r>
              <a:rPr lang="fr-FR" dirty="0" smtClean="0"/>
              <a:t>Atélectasie totale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14290"/>
            <a:ext cx="7772400" cy="1212174"/>
          </a:xfrm>
        </p:spPr>
        <p:txBody>
          <a:bodyPr/>
          <a:lstStyle/>
          <a:p>
            <a:pPr algn="ctr"/>
            <a:r>
              <a:rPr lang="fr-FR" dirty="0" smtClean="0"/>
              <a:t>01-DDB(dilatation des bronche ou bronchectasie)</a:t>
            </a:r>
            <a:br>
              <a:rPr lang="fr-FR" dirty="0" smtClean="0"/>
            </a:br>
            <a:r>
              <a:rPr lang="fr-FR" dirty="0" smtClean="0"/>
              <a:t/>
            </a:r>
            <a:br>
              <a:rPr lang="fr-FR" dirty="0" smtClean="0"/>
            </a:br>
            <a:endParaRPr lang="fr-FR" dirty="0"/>
          </a:p>
        </p:txBody>
      </p:sp>
      <p:sp>
        <p:nvSpPr>
          <p:cNvPr id="3" name="Espace réservé du contenu 2"/>
          <p:cNvSpPr>
            <a:spLocks noGrp="1"/>
          </p:cNvSpPr>
          <p:nvPr>
            <p:ph idx="1"/>
          </p:nvPr>
        </p:nvSpPr>
        <p:spPr>
          <a:xfrm>
            <a:off x="914400" y="1783560"/>
            <a:ext cx="7772400" cy="4860150"/>
          </a:xfrm>
        </p:spPr>
        <p:txBody>
          <a:bodyPr>
            <a:normAutofit fontScale="92500" lnSpcReduction="10000"/>
          </a:bodyPr>
          <a:lstStyle/>
          <a:p>
            <a:r>
              <a:rPr lang="fr-FR" sz="3100" dirty="0" smtClean="0"/>
              <a:t>Les bronchectasies sont définies de manière anatomique comme une augmentation permanente et irréversible du calibre bronchique, secondaire à un cercle vicieux (dit « de Cole »), impliquant inflammation, infection et cicatrisation de la muqueuse bronchique conduisant à des lésions du système mucociliaire et à une destruction de la paroi bronchique.</a:t>
            </a:r>
          </a:p>
          <a:p>
            <a:endParaRPr lang="fr-FR" dirty="0" smtClean="0"/>
          </a:p>
          <a:p>
            <a:r>
              <a:rPr lang="fr-FR" dirty="0" smtClean="0"/>
              <a:t>.</a:t>
            </a:r>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RADIOLOGIE</a:t>
            </a:r>
            <a:endParaRPr lang="fr-FR" dirty="0"/>
          </a:p>
        </p:txBody>
      </p:sp>
      <p:sp>
        <p:nvSpPr>
          <p:cNvPr id="3" name="Espace réservé du contenu 2"/>
          <p:cNvSpPr>
            <a:spLocks noGrp="1"/>
          </p:cNvSpPr>
          <p:nvPr>
            <p:ph idx="1"/>
          </p:nvPr>
        </p:nvSpPr>
        <p:spPr/>
        <p:txBody>
          <a:bodyPr/>
          <a:lstStyle/>
          <a:p>
            <a:r>
              <a:rPr lang="fr-FR" dirty="0" smtClean="0"/>
              <a:t>La radiographie thoracique est la plupart du temps réalisée en première intention ; néanmoins elle demeure peu sensible, et une radiographie de thorax normale ne permet pas d’éliminer des bronchectasies.</a:t>
            </a:r>
          </a:p>
          <a:p>
            <a:r>
              <a:rPr lang="fr-FR" dirty="0" smtClean="0"/>
              <a:t>La TDM en coupes fines est l’examen de référence dans l’exploration des bronchectasies</a:t>
            </a: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a:r>
            <a:br>
              <a:rPr lang="fr-FR" dirty="0" smtClean="0"/>
            </a:br>
            <a:r>
              <a:rPr lang="fr-FR" dirty="0" smtClean="0"/>
              <a:t/>
            </a:r>
            <a:br>
              <a:rPr lang="fr-FR" dirty="0" smtClean="0"/>
            </a:br>
            <a:endParaRPr lang="fr-FR" dirty="0"/>
          </a:p>
        </p:txBody>
      </p:sp>
      <p:sp>
        <p:nvSpPr>
          <p:cNvPr id="3" name="Espace réservé du contenu 2"/>
          <p:cNvSpPr>
            <a:spLocks noGrp="1"/>
          </p:cNvSpPr>
          <p:nvPr>
            <p:ph idx="1"/>
          </p:nvPr>
        </p:nvSpPr>
        <p:spPr>
          <a:xfrm>
            <a:off x="914400" y="642918"/>
            <a:ext cx="7772400" cy="5712642"/>
          </a:xfrm>
        </p:spPr>
        <p:txBody>
          <a:bodyPr/>
          <a:lstStyle/>
          <a:p>
            <a:r>
              <a:rPr lang="fr-FR" dirty="0" smtClean="0"/>
              <a:t>En fait, les bronches dilatées sont le plus souvent des contours irréguliers et leurs parois ne sont plus parallèles. </a:t>
            </a:r>
          </a:p>
          <a:p>
            <a:r>
              <a:rPr lang="fr-FR" dirty="0" smtClean="0"/>
              <a:t>sont souvent localisées et non pas diffuses,</a:t>
            </a:r>
          </a:p>
          <a:p>
            <a:r>
              <a:rPr lang="fr-FR" dirty="0" smtClean="0"/>
              <a:t> sont composées de cavités de taille très différente,</a:t>
            </a:r>
          </a:p>
          <a:p>
            <a:r>
              <a:rPr lang="fr-FR" dirty="0" smtClean="0"/>
              <a:t>enfin, surtout respectent la périphérie externe du poumon sur le cliché de face</a:t>
            </a:r>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r>
              <a:rPr lang="fr-FR" dirty="0" smtClean="0"/>
              <a:t/>
            </a:r>
            <a:br>
              <a:rPr lang="fr-FR" dirty="0" smtClean="0"/>
            </a:br>
            <a:endParaRPr lang="fr-FR" dirty="0"/>
          </a:p>
        </p:txBody>
      </p:sp>
      <p:pic>
        <p:nvPicPr>
          <p:cNvPr id="1026" name="Picture 2"/>
          <p:cNvPicPr>
            <a:picLocks noGrp="1" noChangeAspect="1" noChangeArrowheads="1"/>
          </p:cNvPicPr>
          <p:nvPr>
            <p:ph idx="1"/>
          </p:nvPr>
        </p:nvPicPr>
        <p:blipFill>
          <a:blip r:embed="rId2"/>
          <a:srcRect/>
          <a:stretch>
            <a:fillRect/>
          </a:stretch>
        </p:blipFill>
        <p:spPr bwMode="auto">
          <a:xfrm>
            <a:off x="928662" y="357166"/>
            <a:ext cx="7286676" cy="6215106"/>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1026" name="Picture 2"/>
          <p:cNvPicPr>
            <a:picLocks noGrp="1" noChangeAspect="1" noChangeArrowheads="1"/>
          </p:cNvPicPr>
          <p:nvPr>
            <p:ph idx="1"/>
          </p:nvPr>
        </p:nvPicPr>
        <p:blipFill>
          <a:blip r:embed="rId2"/>
          <a:srcRect/>
          <a:stretch>
            <a:fillRect/>
          </a:stretch>
        </p:blipFill>
        <p:spPr bwMode="auto">
          <a:xfrm>
            <a:off x="785786" y="500042"/>
            <a:ext cx="7858180" cy="6143668"/>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a:t>
            </a:r>
            <a:r>
              <a:rPr lang="fr-FR" dirty="0" smtClean="0"/>
              <a:t>escription type</a:t>
            </a:r>
            <a:endParaRPr lang="fr-FR" dirty="0"/>
          </a:p>
        </p:txBody>
      </p:sp>
      <p:sp>
        <p:nvSpPr>
          <p:cNvPr id="3" name="Espace réservé du contenu 2"/>
          <p:cNvSpPr>
            <a:spLocks noGrp="1"/>
          </p:cNvSpPr>
          <p:nvPr>
            <p:ph idx="1"/>
          </p:nvPr>
        </p:nvSpPr>
        <p:spPr/>
        <p:txBody>
          <a:bodyPr>
            <a:normAutofit fontScale="92500"/>
          </a:bodyPr>
          <a:lstStyle/>
          <a:p>
            <a:r>
              <a:rPr lang="fr-FR" dirty="0" smtClean="0"/>
              <a:t>- La région (x) de l’</a:t>
            </a:r>
            <a:r>
              <a:rPr lang="fr-FR" dirty="0" err="1" smtClean="0"/>
              <a:t>hémichamps</a:t>
            </a:r>
            <a:r>
              <a:rPr lang="fr-FR" dirty="0" smtClean="0"/>
              <a:t> pulmonaire (x) est le siège de multiples clartés arrondies infra et supra centimétriques, juxtaposés les unes aux autres, entourées par une paroi tantôt fine tantôt épaisse, dont certaines sont le siège d’un bas fond liquidien, réalisant l’aspect en grappe de raisin </a:t>
            </a:r>
            <a:endParaRPr lang="fr-FR" dirty="0" smtClean="0"/>
          </a:p>
          <a:p>
            <a:r>
              <a:rPr lang="fr-FR" b="1" dirty="0" smtClean="0"/>
              <a:t>- </a:t>
            </a:r>
            <a:r>
              <a:rPr lang="fr-FR" b="1" dirty="0" smtClean="0"/>
              <a:t>Diagnostic </a:t>
            </a:r>
            <a:r>
              <a:rPr lang="fr-FR" dirty="0" smtClean="0"/>
              <a:t>: • Dilatation des bronches (si bas fond liquidien et paroi épaisse : surinfectée)( si bilatérale il faut la mentionner)</a:t>
            </a:r>
            <a:endParaRPr lang="fr-F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02-L’</a:t>
            </a:r>
            <a:r>
              <a:rPr lang="fr-FR" dirty="0" err="1" smtClean="0"/>
              <a:t>atelectasie</a:t>
            </a:r>
            <a:endParaRPr lang="fr-FR" dirty="0"/>
          </a:p>
        </p:txBody>
      </p:sp>
      <p:sp>
        <p:nvSpPr>
          <p:cNvPr id="3" name="Espace réservé du contenu 2"/>
          <p:cNvSpPr>
            <a:spLocks noGrp="1"/>
          </p:cNvSpPr>
          <p:nvPr>
            <p:ph idx="1"/>
          </p:nvPr>
        </p:nvSpPr>
        <p:spPr/>
        <p:txBody>
          <a:bodyPr/>
          <a:lstStyle/>
          <a:p>
            <a:r>
              <a:rPr lang="fr-FR" dirty="0" smtClean="0"/>
              <a:t>Est une réduction de volume pulmonaire par collapsus des alvéoles ce trouble de ventilation est lié soit a une obstruction </a:t>
            </a:r>
            <a:r>
              <a:rPr lang="fr-FR" dirty="0" err="1" smtClean="0"/>
              <a:t>endobronchique</a:t>
            </a:r>
            <a:r>
              <a:rPr lang="fr-FR" dirty="0" smtClean="0"/>
              <a:t> ou </a:t>
            </a:r>
            <a:r>
              <a:rPr lang="fr-FR" dirty="0" err="1" smtClean="0"/>
              <a:t>extreinseque</a:t>
            </a:r>
            <a:r>
              <a:rPr lang="fr-FR" dirty="0" smtClean="0"/>
              <a:t>.</a:t>
            </a:r>
            <a:endParaRPr lang="fr-F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flipV="1">
            <a:off x="7786710" y="1240140"/>
            <a:ext cx="71438" cy="45719"/>
          </a:xfrm>
        </p:spPr>
        <p:txBody>
          <a:bodyPr/>
          <a:lstStyle/>
          <a:p>
            <a:endParaRPr lang="fr-FR" dirty="0"/>
          </a:p>
        </p:txBody>
      </p:sp>
      <p:pic>
        <p:nvPicPr>
          <p:cNvPr id="2050" name="Picture 2"/>
          <p:cNvPicPr>
            <a:picLocks noGrp="1" noChangeAspect="1" noChangeArrowheads="1"/>
          </p:cNvPicPr>
          <p:nvPr>
            <p:ph idx="1"/>
          </p:nvPr>
        </p:nvPicPr>
        <p:blipFill>
          <a:blip r:embed="rId2"/>
          <a:srcRect/>
          <a:stretch>
            <a:fillRect/>
          </a:stretch>
        </p:blipFill>
        <p:spPr bwMode="auto">
          <a:xfrm>
            <a:off x="928662" y="214290"/>
            <a:ext cx="7572428" cy="675413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14290"/>
            <a:ext cx="7772400" cy="785818"/>
          </a:xfrm>
        </p:spPr>
        <p:txBody>
          <a:bodyPr/>
          <a:lstStyle/>
          <a:p>
            <a:r>
              <a:rPr lang="fr-FR" dirty="0" smtClean="0"/>
              <a:t>D</a:t>
            </a:r>
            <a:r>
              <a:rPr lang="fr-FR" dirty="0" smtClean="0"/>
              <a:t>escription type</a:t>
            </a:r>
            <a:endParaRPr lang="fr-FR" dirty="0"/>
          </a:p>
        </p:txBody>
      </p:sp>
      <p:sp>
        <p:nvSpPr>
          <p:cNvPr id="3" name="Espace réservé du contenu 2"/>
          <p:cNvSpPr>
            <a:spLocks noGrp="1"/>
          </p:cNvSpPr>
          <p:nvPr>
            <p:ph idx="1"/>
          </p:nvPr>
        </p:nvSpPr>
        <p:spPr>
          <a:xfrm>
            <a:off x="914400" y="928670"/>
            <a:ext cx="7772400" cy="5786478"/>
          </a:xfrm>
        </p:spPr>
        <p:txBody>
          <a:bodyPr>
            <a:normAutofit fontScale="77500" lnSpcReduction="20000"/>
          </a:bodyPr>
          <a:lstStyle/>
          <a:p>
            <a:r>
              <a:rPr lang="fr-FR" dirty="0" smtClean="0"/>
              <a:t>- La totalité de l’</a:t>
            </a:r>
            <a:r>
              <a:rPr lang="fr-FR" dirty="0" err="1" smtClean="0"/>
              <a:t>hémichamps</a:t>
            </a:r>
            <a:r>
              <a:rPr lang="fr-FR" dirty="0" smtClean="0"/>
              <a:t> pulmonaire (x) est le siège d’une opacité dense, homogène de tonalité hydrique ; effaçant l’hémi coupole diaphragmatique, le bord du cœur et le médiastin homolatéral, et comblant les 02 culs de sac </a:t>
            </a:r>
            <a:r>
              <a:rPr lang="fr-FR" dirty="0" err="1" smtClean="0"/>
              <a:t>costo</a:t>
            </a:r>
            <a:r>
              <a:rPr lang="fr-FR" dirty="0" smtClean="0"/>
              <a:t> diaphragmatique et </a:t>
            </a:r>
            <a:r>
              <a:rPr lang="fr-FR" dirty="0" err="1" smtClean="0"/>
              <a:t>cardio</a:t>
            </a:r>
            <a:r>
              <a:rPr lang="fr-FR" dirty="0" smtClean="0"/>
              <a:t> phrénique homolatéraux </a:t>
            </a:r>
            <a:endParaRPr lang="fr-FR" dirty="0" smtClean="0"/>
          </a:p>
          <a:p>
            <a:r>
              <a:rPr lang="fr-FR" dirty="0" smtClean="0"/>
              <a:t>- </a:t>
            </a:r>
            <a:r>
              <a:rPr lang="fr-FR" b="1" dirty="0" smtClean="0"/>
              <a:t>Signes de rétraction </a:t>
            </a:r>
            <a:r>
              <a:rPr lang="fr-FR" dirty="0" smtClean="0"/>
              <a:t>: </a:t>
            </a:r>
            <a:endParaRPr lang="fr-FR" dirty="0" smtClean="0"/>
          </a:p>
          <a:p>
            <a:pPr>
              <a:buNone/>
            </a:pPr>
            <a:r>
              <a:rPr lang="fr-FR" dirty="0" smtClean="0"/>
              <a:t>1</a:t>
            </a:r>
            <a:r>
              <a:rPr lang="fr-FR" dirty="0" smtClean="0"/>
              <a:t>. Attraction de la trachée </a:t>
            </a:r>
            <a:endParaRPr lang="fr-FR" dirty="0" smtClean="0"/>
          </a:p>
          <a:p>
            <a:pPr>
              <a:buNone/>
            </a:pPr>
            <a:r>
              <a:rPr lang="fr-FR" dirty="0" smtClean="0"/>
              <a:t>2</a:t>
            </a:r>
            <a:r>
              <a:rPr lang="fr-FR" dirty="0" smtClean="0"/>
              <a:t>. Pincement des EIC </a:t>
            </a:r>
            <a:endParaRPr lang="fr-FR" dirty="0" smtClean="0"/>
          </a:p>
          <a:p>
            <a:pPr>
              <a:buNone/>
            </a:pPr>
            <a:r>
              <a:rPr lang="fr-FR" dirty="0" smtClean="0"/>
              <a:t>3</a:t>
            </a:r>
            <a:r>
              <a:rPr lang="fr-FR" dirty="0" smtClean="0"/>
              <a:t>. Ascension de la petite scissure </a:t>
            </a:r>
            <a:endParaRPr lang="fr-FR" dirty="0" smtClean="0"/>
          </a:p>
          <a:p>
            <a:pPr>
              <a:buNone/>
            </a:pPr>
            <a:r>
              <a:rPr lang="fr-FR" dirty="0" smtClean="0"/>
              <a:t>4</a:t>
            </a:r>
            <a:r>
              <a:rPr lang="fr-FR" dirty="0" smtClean="0"/>
              <a:t>. Ascension de l’hémi coupole </a:t>
            </a:r>
            <a:r>
              <a:rPr lang="fr-FR" dirty="0" smtClean="0"/>
              <a:t>diaphragmatique</a:t>
            </a:r>
          </a:p>
          <a:p>
            <a:r>
              <a:rPr lang="fr-FR" dirty="0" smtClean="0"/>
              <a:t> </a:t>
            </a:r>
            <a:r>
              <a:rPr lang="fr-FR" b="1" dirty="0" smtClean="0"/>
              <a:t>- Diagnostic </a:t>
            </a:r>
            <a:r>
              <a:rPr lang="fr-FR" dirty="0" smtClean="0"/>
              <a:t>: </a:t>
            </a:r>
            <a:endParaRPr lang="fr-FR" dirty="0" smtClean="0"/>
          </a:p>
          <a:p>
            <a:pPr>
              <a:buNone/>
            </a:pPr>
            <a:r>
              <a:rPr lang="fr-FR" dirty="0" smtClean="0"/>
              <a:t>• </a:t>
            </a:r>
            <a:r>
              <a:rPr lang="fr-FR" dirty="0" smtClean="0"/>
              <a:t>Atélectasie totale du poumon (x) par obstruction intrinsèque ou </a:t>
            </a:r>
            <a:r>
              <a:rPr lang="fr-FR" dirty="0" smtClean="0"/>
              <a:t>extrinsèque</a:t>
            </a:r>
          </a:p>
          <a:p>
            <a:pPr>
              <a:buNone/>
            </a:pPr>
            <a:r>
              <a:rPr lang="fr-FR" dirty="0" smtClean="0"/>
              <a:t> </a:t>
            </a:r>
            <a:r>
              <a:rPr lang="fr-FR" dirty="0" smtClean="0"/>
              <a:t>• Agénésie du poumon (x) </a:t>
            </a:r>
            <a:endParaRPr lang="fr-FR" dirty="0" smtClean="0"/>
          </a:p>
          <a:p>
            <a:pPr>
              <a:buNone/>
            </a:pPr>
            <a:r>
              <a:rPr lang="fr-FR" dirty="0" smtClean="0"/>
              <a:t>• </a:t>
            </a:r>
            <a:r>
              <a:rPr lang="fr-FR" dirty="0" smtClean="0"/>
              <a:t>Pneumectomie du poumon (x)</a:t>
            </a:r>
            <a:endParaRPr lang="fr-F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flipV="1">
            <a:off x="7286644" y="1426464"/>
            <a:ext cx="1214446" cy="216586"/>
          </a:xfrm>
        </p:spPr>
        <p:txBody>
          <a:bodyPr>
            <a:noAutofit/>
          </a:bodyPr>
          <a:lstStyle/>
          <a:p>
            <a:r>
              <a:rPr lang="fr-FR" dirty="0" smtClean="0"/>
              <a:t/>
            </a:r>
            <a:br>
              <a:rPr lang="fr-FR" dirty="0" smtClean="0"/>
            </a:br>
            <a:r>
              <a:rPr lang="fr-FR" dirty="0" smtClean="0"/>
              <a:t/>
            </a:r>
            <a:br>
              <a:rPr lang="fr-FR" dirty="0" smtClean="0"/>
            </a:br>
            <a:endParaRPr lang="fr-FR" dirty="0"/>
          </a:p>
        </p:txBody>
      </p:sp>
      <p:pic>
        <p:nvPicPr>
          <p:cNvPr id="3074" name="Picture 2"/>
          <p:cNvPicPr>
            <a:picLocks noGrp="1" noChangeAspect="1" noChangeArrowheads="1"/>
          </p:cNvPicPr>
          <p:nvPr>
            <p:ph idx="1"/>
          </p:nvPr>
        </p:nvPicPr>
        <p:blipFill>
          <a:blip r:embed="rId2"/>
          <a:srcRect/>
          <a:stretch>
            <a:fillRect/>
          </a:stretch>
        </p:blipFill>
        <p:spPr bwMode="auto">
          <a:xfrm>
            <a:off x="714348" y="285728"/>
            <a:ext cx="8001056" cy="628654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Descriptions type</a:t>
            </a:r>
            <a:endParaRPr lang="fr-FR" dirty="0"/>
          </a:p>
        </p:txBody>
      </p:sp>
      <p:sp>
        <p:nvSpPr>
          <p:cNvPr id="3" name="Espace réservé du contenu 2"/>
          <p:cNvSpPr>
            <a:spLocks noGrp="1"/>
          </p:cNvSpPr>
          <p:nvPr>
            <p:ph idx="1"/>
          </p:nvPr>
        </p:nvSpPr>
        <p:spPr>
          <a:xfrm>
            <a:off x="914400" y="1357298"/>
            <a:ext cx="7772400" cy="4998262"/>
          </a:xfrm>
        </p:spPr>
        <p:txBody>
          <a:bodyPr>
            <a:normAutofit fontScale="92500"/>
          </a:bodyPr>
          <a:lstStyle/>
          <a:p>
            <a:r>
              <a:rPr lang="fr-FR" dirty="0" smtClean="0"/>
              <a:t>- Le 1/3 supérieur de l’</a:t>
            </a:r>
            <a:r>
              <a:rPr lang="fr-FR" dirty="0" err="1" smtClean="0"/>
              <a:t>hémithorax</a:t>
            </a:r>
            <a:r>
              <a:rPr lang="fr-FR" dirty="0" smtClean="0"/>
              <a:t> (x) est le siège d’une opacité dense, homogène, de tonalité hydrique, à limite interne noyé dans le médiastin, limite </a:t>
            </a:r>
            <a:r>
              <a:rPr lang="fr-FR" dirty="0" err="1" smtClean="0"/>
              <a:t>supéro</a:t>
            </a:r>
            <a:r>
              <a:rPr lang="fr-FR" dirty="0" smtClean="0"/>
              <a:t>-externe pariétale, limite </a:t>
            </a:r>
            <a:r>
              <a:rPr lang="fr-FR" dirty="0" smtClean="0"/>
              <a:t>inférieure </a:t>
            </a:r>
            <a:r>
              <a:rPr lang="fr-FR" dirty="0" smtClean="0"/>
              <a:t>convexe dans ses 2/3 sup et concave dans son 1/3 </a:t>
            </a:r>
            <a:r>
              <a:rPr lang="fr-FR" dirty="0" err="1" smtClean="0"/>
              <a:t>inf</a:t>
            </a:r>
            <a:r>
              <a:rPr lang="fr-FR" dirty="0" smtClean="0"/>
              <a:t> réalisant l’aspect typique de S de </a:t>
            </a:r>
            <a:r>
              <a:rPr lang="fr-FR" dirty="0" smtClean="0"/>
              <a:t>Golden</a:t>
            </a:r>
          </a:p>
          <a:p>
            <a:r>
              <a:rPr lang="fr-FR" dirty="0" smtClean="0"/>
              <a:t>- </a:t>
            </a:r>
            <a:r>
              <a:rPr lang="fr-FR" dirty="0" smtClean="0"/>
              <a:t>Diagnostic : </a:t>
            </a:r>
            <a:endParaRPr lang="fr-FR" dirty="0" smtClean="0"/>
          </a:p>
          <a:p>
            <a:pPr>
              <a:buNone/>
            </a:pPr>
            <a:r>
              <a:rPr lang="fr-FR" dirty="0" smtClean="0"/>
              <a:t>      Atélectasie </a:t>
            </a:r>
            <a:r>
              <a:rPr lang="fr-FR" dirty="0" smtClean="0"/>
              <a:t>du lobe </a:t>
            </a:r>
            <a:r>
              <a:rPr lang="fr-FR" dirty="0" smtClean="0"/>
              <a:t>supérieure droit  par compression </a:t>
            </a:r>
            <a:r>
              <a:rPr lang="fr-FR" dirty="0" smtClean="0"/>
              <a:t>intrinsèque </a:t>
            </a:r>
            <a:r>
              <a:rPr lang="fr-FR" dirty="0" smtClean="0"/>
              <a:t>(KC </a:t>
            </a:r>
            <a:r>
              <a:rPr lang="fr-FR" dirty="0" smtClean="0"/>
              <a:t>bronchique, </a:t>
            </a:r>
            <a:r>
              <a:rPr lang="fr-FR" dirty="0" smtClean="0"/>
              <a:t>Corps étranger) </a:t>
            </a:r>
            <a:r>
              <a:rPr lang="fr-FR" dirty="0" smtClean="0"/>
              <a:t>ou extrinsèque (ADP ; Tumeur)</a:t>
            </a:r>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étro">
  <a:themeElements>
    <a:clrScheme name="Mé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é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é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398</TotalTime>
  <Words>576</Words>
  <PresentationFormat>Affichage à l'écran (4:3)</PresentationFormat>
  <Paragraphs>46</Paragraphs>
  <Slides>16</Slides>
  <Notes>0</Notes>
  <HiddenSlides>0</HiddenSlides>
  <MMClips>0</MMClips>
  <ScaleCrop>false</ScaleCrop>
  <HeadingPairs>
    <vt:vector size="4" baseType="variant">
      <vt:variant>
        <vt:lpstr>Thème</vt:lpstr>
      </vt:variant>
      <vt:variant>
        <vt:i4>1</vt:i4>
      </vt:variant>
      <vt:variant>
        <vt:lpstr>Titres des diapositives</vt:lpstr>
      </vt:variant>
      <vt:variant>
        <vt:i4>16</vt:i4>
      </vt:variant>
    </vt:vector>
  </HeadingPairs>
  <TitlesOfParts>
    <vt:vector size="17" baseType="lpstr">
      <vt:lpstr>Métro</vt:lpstr>
      <vt:lpstr>DR.sekkour rania</vt:lpstr>
      <vt:lpstr>Définition</vt:lpstr>
      <vt:lpstr>Signes directes</vt:lpstr>
      <vt:lpstr>Signes indirectes</vt:lpstr>
      <vt:lpstr>Types</vt:lpstr>
      <vt:lpstr>01-DDB(dilatation des bronche ou bronchectasie)  </vt:lpstr>
      <vt:lpstr>RADIOLOGIE</vt:lpstr>
      <vt:lpstr>  </vt:lpstr>
      <vt:lpstr>                 </vt:lpstr>
      <vt:lpstr>Diapositive 10</vt:lpstr>
      <vt:lpstr>Description type</vt:lpstr>
      <vt:lpstr>02-L’atelectasie</vt:lpstr>
      <vt:lpstr>Diapositive 13</vt:lpstr>
      <vt:lpstr>Description type</vt:lpstr>
      <vt:lpstr>  </vt:lpstr>
      <vt:lpstr>Descriptions type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informatique spr</dc:creator>
  <cp:lastModifiedBy>informatique spr</cp:lastModifiedBy>
  <cp:revision>49</cp:revision>
  <dcterms:created xsi:type="dcterms:W3CDTF">2025-04-12T21:01:38Z</dcterms:created>
  <dcterms:modified xsi:type="dcterms:W3CDTF">2025-10-05T20:15:28Z</dcterms:modified>
</cp:coreProperties>
</file>