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fr-BE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27/04/2025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362200" y="2204864"/>
            <a:ext cx="6477000" cy="3662536"/>
          </a:xfrm>
        </p:spPr>
        <p:txBody>
          <a:bodyPr>
            <a:normAutofit fontScale="90000"/>
          </a:bodyPr>
          <a:lstStyle/>
          <a:p>
            <a:r>
              <a:rPr lang="fr-FR" sz="6000" dirty="0" smtClean="0"/>
              <a:t>Le syndrome </a:t>
            </a:r>
            <a:r>
              <a:rPr lang="fr-FR" sz="6000" dirty="0" err="1" smtClean="0"/>
              <a:t>médiastinal</a:t>
            </a:r>
            <a:r>
              <a:rPr lang="fr-FR" sz="6000" dirty="0" smtClean="0"/>
              <a:t/>
            </a:r>
            <a:br>
              <a:rPr lang="fr-FR" sz="6000" dirty="0" smtClean="0"/>
            </a:br>
            <a:r>
              <a:rPr lang="fr-FR" sz="3000" dirty="0" smtClean="0"/>
              <a:t>Dr </a:t>
            </a:r>
            <a:r>
              <a:rPr lang="fr-FR" sz="3000" dirty="0" err="1" smtClean="0"/>
              <a:t>lesmar.A</a:t>
            </a:r>
            <a:r>
              <a:rPr lang="fr-FR" sz="3000" dirty="0" smtClean="0"/>
              <a:t/>
            </a:r>
            <a:br>
              <a:rPr lang="fr-FR" sz="3000" dirty="0" smtClean="0"/>
            </a:br>
            <a:r>
              <a:rPr lang="fr-FR" sz="3000" dirty="0" smtClean="0"/>
              <a:t>résidente en service de pneumo-phtisiologie CHU Constantine </a:t>
            </a:r>
            <a:r>
              <a:rPr lang="fr-FR" sz="6000" dirty="0" smtClean="0"/>
              <a:t/>
            </a:r>
            <a:br>
              <a:rPr lang="fr-FR" sz="6000" dirty="0" smtClean="0"/>
            </a:br>
            <a:r>
              <a:rPr lang="fr-FR" sz="6000" dirty="0" smtClean="0"/>
              <a:t> </a:t>
            </a:r>
            <a:endParaRPr lang="fr-FR" sz="60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TD pour les externes en 4èmme année médecine 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Rappel</a:t>
            </a:r>
            <a:r>
              <a:rPr lang="fr-FR" dirty="0" smtClean="0"/>
              <a:t> </a:t>
            </a:r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anatomique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Les limites anatomiques du médiastin: </a:t>
            </a:r>
          </a:p>
          <a:p>
            <a:pPr>
              <a:buNone/>
            </a:pPr>
            <a:r>
              <a:rPr lang="fr-FR" dirty="0" smtClean="0"/>
              <a:t> En haut l’orifice </a:t>
            </a:r>
            <a:r>
              <a:rPr lang="fr-FR" dirty="0" err="1" smtClean="0"/>
              <a:t>cervico</a:t>
            </a:r>
            <a:r>
              <a:rPr lang="fr-FR" dirty="0" smtClean="0"/>
              <a:t>-thoracique,  </a:t>
            </a:r>
          </a:p>
          <a:p>
            <a:pPr>
              <a:buNone/>
            </a:pPr>
            <a:r>
              <a:rPr lang="fr-FR" dirty="0" smtClean="0"/>
              <a:t> En bas le diaphragme,</a:t>
            </a:r>
          </a:p>
          <a:p>
            <a:pPr>
              <a:buNone/>
            </a:pPr>
            <a:r>
              <a:rPr lang="fr-FR" dirty="0" smtClean="0"/>
              <a:t> En avant la paroi thoracique (sternum) </a:t>
            </a:r>
          </a:p>
          <a:p>
            <a:pPr>
              <a:buNone/>
            </a:pPr>
            <a:r>
              <a:rPr lang="fr-FR" dirty="0" smtClean="0"/>
              <a:t> En arrière les vertèbres </a:t>
            </a:r>
          </a:p>
          <a:p>
            <a:pPr>
              <a:buNone/>
            </a:pPr>
            <a:r>
              <a:rPr lang="fr-FR" dirty="0" smtClean="0"/>
              <a:t> Latéralement les plèvres </a:t>
            </a:r>
            <a:r>
              <a:rPr lang="fr-FR" dirty="0" err="1" smtClean="0"/>
              <a:t>médiastinales</a:t>
            </a:r>
            <a:r>
              <a:rPr lang="fr-FR" dirty="0" smtClean="0"/>
              <a:t> droite et gauche. 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Rappel</a:t>
            </a:r>
            <a:r>
              <a:rPr lang="fr-FR" dirty="0" smtClean="0"/>
              <a:t> </a:t>
            </a:r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anatomique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Les loges du médiastin: le médiastin est artificiellement séparé en 9 loges (figure) : Figure : Loges </a:t>
            </a:r>
            <a:r>
              <a:rPr lang="fr-FR" dirty="0" err="1" smtClean="0"/>
              <a:t>médiastinales</a:t>
            </a:r>
            <a:r>
              <a:rPr lang="fr-FR" dirty="0" smtClean="0"/>
              <a:t>  (</a:t>
            </a:r>
            <a:r>
              <a:rPr lang="fr-FR" dirty="0" err="1" smtClean="0"/>
              <a:t>Bariéty</a:t>
            </a:r>
            <a:r>
              <a:rPr lang="fr-FR" dirty="0" smtClean="0"/>
              <a:t> et </a:t>
            </a:r>
            <a:r>
              <a:rPr lang="fr-FR" dirty="0" err="1" smtClean="0"/>
              <a:t>Coury</a:t>
            </a:r>
            <a:r>
              <a:rPr lang="fr-FR" dirty="0" smtClean="0"/>
              <a:t> 1958)</a:t>
            </a:r>
            <a:endParaRPr lang="fr-FR" dirty="0"/>
          </a:p>
        </p:txBody>
      </p:sp>
      <p:pic>
        <p:nvPicPr>
          <p:cNvPr id="4" name="Image 3" descr="Capture d'écran 2025-04-27 20242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5616" y="2996952"/>
            <a:ext cx="6552728" cy="36796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Rappel</a:t>
            </a:r>
            <a:r>
              <a:rPr lang="fr-FR" dirty="0" smtClean="0"/>
              <a:t> </a:t>
            </a:r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anatomique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u="sng" dirty="0" smtClean="0"/>
              <a:t>Dans le sens </a:t>
            </a:r>
            <a:r>
              <a:rPr lang="fr-FR" u="sng" dirty="0" err="1" smtClean="0"/>
              <a:t>antéro-postérieur</a:t>
            </a:r>
            <a:r>
              <a:rPr lang="fr-FR" dirty="0" err="1" smtClean="0"/>
              <a:t>,on</a:t>
            </a:r>
            <a:r>
              <a:rPr lang="fr-FR" dirty="0" smtClean="0"/>
              <a:t> divise le médiastin en 3 compartiments </a:t>
            </a:r>
            <a:r>
              <a:rPr lang="fr-FR" dirty="0" smtClean="0"/>
              <a:t>:</a:t>
            </a:r>
          </a:p>
          <a:p>
            <a:pPr>
              <a:buFontTx/>
              <a:buChar char="-"/>
            </a:pPr>
            <a:r>
              <a:rPr lang="fr-FR" dirty="0" smtClean="0"/>
              <a:t>Antérieur </a:t>
            </a:r>
            <a:r>
              <a:rPr lang="fr-FR" dirty="0" smtClean="0"/>
              <a:t>: en avant de l’axe </a:t>
            </a:r>
            <a:r>
              <a:rPr lang="fr-FR" dirty="0" err="1" smtClean="0"/>
              <a:t>trachéobronchique</a:t>
            </a: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Postérieur </a:t>
            </a:r>
            <a:r>
              <a:rPr lang="fr-FR" dirty="0" smtClean="0"/>
              <a:t>: en arrière de l’axe </a:t>
            </a:r>
            <a:r>
              <a:rPr lang="fr-FR" dirty="0" err="1" smtClean="0"/>
              <a:t>trachéobronchique</a:t>
            </a: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Moyen </a:t>
            </a:r>
            <a:r>
              <a:rPr lang="fr-FR" dirty="0" smtClean="0"/>
              <a:t>: dans l’axe </a:t>
            </a:r>
            <a:r>
              <a:rPr lang="fr-FR" dirty="0" err="1" smtClean="0"/>
              <a:t>trachéobronchique</a:t>
            </a:r>
            <a:endParaRPr lang="fr-FR" dirty="0" smtClean="0"/>
          </a:p>
          <a:p>
            <a:pPr>
              <a:buNone/>
            </a:pPr>
            <a:r>
              <a:rPr lang="fr-FR" u="sng" dirty="0" smtClean="0"/>
              <a:t>De haut en bas : </a:t>
            </a:r>
            <a:r>
              <a:rPr lang="fr-FR" dirty="0" smtClean="0"/>
              <a:t>3 </a:t>
            </a:r>
            <a:r>
              <a:rPr lang="fr-FR" dirty="0" smtClean="0"/>
              <a:t>étages</a:t>
            </a:r>
          </a:p>
          <a:p>
            <a:pPr>
              <a:buFontTx/>
              <a:buChar char="-"/>
            </a:pPr>
            <a:r>
              <a:rPr lang="fr-FR" dirty="0" smtClean="0"/>
              <a:t>Supérieur </a:t>
            </a:r>
            <a:r>
              <a:rPr lang="fr-FR" dirty="0" smtClean="0"/>
              <a:t>: </a:t>
            </a:r>
            <a:r>
              <a:rPr lang="fr-FR" dirty="0" smtClean="0"/>
              <a:t>au-dessus </a:t>
            </a:r>
            <a:r>
              <a:rPr lang="fr-FR" dirty="0" smtClean="0"/>
              <a:t>de l’aorte horizontale </a:t>
            </a: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Inférieur </a:t>
            </a:r>
            <a:r>
              <a:rPr lang="fr-FR" dirty="0" smtClean="0"/>
              <a:t>: au-dessous de la bifurcation trachéale (la carène) </a:t>
            </a: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Moyen </a:t>
            </a:r>
            <a:r>
              <a:rPr lang="fr-FR" dirty="0" smtClean="0"/>
              <a:t>: entre l’aorte horizontale et la bifurcation trachéale</a:t>
            </a:r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'écran 2025-04-27 20295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36712"/>
            <a:ext cx="9144000" cy="52565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CIRCONSTANCES DE DÉCOUVERTE</a:t>
            </a:r>
            <a:endParaRPr lang="fr-FR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fr-FR" b="1" u="sng" dirty="0" smtClean="0"/>
              <a:t>Symptômes </a:t>
            </a:r>
            <a:r>
              <a:rPr lang="fr-FR" b="1" u="sng" dirty="0" smtClean="0"/>
              <a:t>généraux :</a:t>
            </a:r>
            <a:r>
              <a:rPr lang="fr-FR" b="1" u="sng" dirty="0" smtClean="0"/>
              <a:t> </a:t>
            </a:r>
          </a:p>
          <a:p>
            <a:pPr>
              <a:buNone/>
            </a:pPr>
            <a:r>
              <a:rPr lang="fr-FR" dirty="0" smtClean="0"/>
              <a:t>AEG</a:t>
            </a:r>
            <a:r>
              <a:rPr lang="fr-FR" dirty="0" smtClean="0"/>
              <a:t>, prurit, érythème noueux, fièvre au long </a:t>
            </a:r>
            <a:r>
              <a:rPr lang="fr-FR" dirty="0" smtClean="0"/>
              <a:t>cours, myasthénie</a:t>
            </a:r>
            <a:r>
              <a:rPr lang="fr-FR" dirty="0" smtClean="0"/>
              <a:t>, syndrome paranéoplasique</a:t>
            </a:r>
            <a:r>
              <a:rPr lang="fr-FR" dirty="0" smtClean="0"/>
              <a:t>…</a:t>
            </a:r>
          </a:p>
          <a:p>
            <a:pPr>
              <a:buFont typeface="Wingdings" pitchFamily="2" charset="2"/>
              <a:buChar char="q"/>
            </a:pPr>
            <a:r>
              <a:rPr lang="fr-FR" b="1" u="sng" dirty="0" smtClean="0"/>
              <a:t>Syndromes </a:t>
            </a:r>
            <a:r>
              <a:rPr lang="fr-FR" b="1" u="sng" dirty="0" err="1" smtClean="0"/>
              <a:t>médiastinaux</a:t>
            </a:r>
            <a:r>
              <a:rPr lang="fr-FR" b="1" u="sng" dirty="0" smtClean="0"/>
              <a:t> : </a:t>
            </a:r>
            <a:r>
              <a:rPr lang="fr-FR" dirty="0" smtClean="0"/>
              <a:t>valeur topographique </a:t>
            </a:r>
            <a:r>
              <a:rPr lang="fr-FR" dirty="0" smtClean="0"/>
              <a:t>++</a:t>
            </a:r>
          </a:p>
          <a:p>
            <a:pPr>
              <a:buNone/>
            </a:pPr>
            <a:r>
              <a:rPr lang="fr-FR" i="1" u="sng" dirty="0" smtClean="0"/>
              <a:t>01. Syndrome </a:t>
            </a:r>
            <a:r>
              <a:rPr lang="fr-FR" i="1" u="sng" dirty="0" smtClean="0"/>
              <a:t>cave supérieur : </a:t>
            </a:r>
            <a:r>
              <a:rPr lang="fr-FR" dirty="0" smtClean="0"/>
              <a:t>* cyanose ; * </a:t>
            </a:r>
            <a:r>
              <a:rPr lang="fr-FR" dirty="0" err="1" smtClean="0"/>
              <a:t>oedème</a:t>
            </a:r>
            <a:r>
              <a:rPr lang="fr-FR" dirty="0" smtClean="0"/>
              <a:t> en pèlerine ; * turgescence jugulaire ; * circulation collatérale ; * signes d’HTIC par </a:t>
            </a:r>
            <a:r>
              <a:rPr lang="fr-FR" dirty="0" err="1" smtClean="0"/>
              <a:t>oedème</a:t>
            </a:r>
            <a:r>
              <a:rPr lang="fr-FR" dirty="0" smtClean="0"/>
              <a:t> cérébral.</a:t>
            </a: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CIRCONSTANCES DE DÉCOUVERTE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i="1" u="sng" dirty="0" smtClean="0"/>
              <a:t>02. </a:t>
            </a:r>
            <a:r>
              <a:rPr lang="fr-FR" i="1" u="sng" dirty="0" smtClean="0"/>
              <a:t>C</a:t>
            </a:r>
            <a:r>
              <a:rPr lang="fr-FR" i="1" u="sng" dirty="0" smtClean="0"/>
              <a:t>ompression </a:t>
            </a:r>
            <a:r>
              <a:rPr lang="fr-FR" i="1" u="sng" dirty="0" smtClean="0"/>
              <a:t>trachéale d’une bronche souche : </a:t>
            </a:r>
            <a:endParaRPr lang="fr-FR" i="1" u="sng" dirty="0" smtClean="0"/>
          </a:p>
          <a:p>
            <a:pPr>
              <a:buNone/>
            </a:pPr>
            <a:r>
              <a:rPr lang="fr-FR" dirty="0" smtClean="0"/>
              <a:t>* </a:t>
            </a:r>
            <a:r>
              <a:rPr lang="fr-FR" dirty="0" smtClean="0"/>
              <a:t>dyspnée inspiratoire ; * cornage ; * tirage ; * toux sèche ; * </a:t>
            </a:r>
            <a:r>
              <a:rPr lang="fr-FR" dirty="0" smtClean="0"/>
              <a:t>variabilité </a:t>
            </a:r>
            <a:r>
              <a:rPr lang="fr-FR" dirty="0" smtClean="0"/>
              <a:t>positionnelle des symptômes</a:t>
            </a:r>
            <a:r>
              <a:rPr lang="fr-FR" dirty="0" smtClean="0"/>
              <a:t>.</a:t>
            </a:r>
          </a:p>
          <a:p>
            <a:pPr>
              <a:buNone/>
            </a:pPr>
            <a:r>
              <a:rPr lang="fr-FR" u="sng" dirty="0" smtClean="0"/>
              <a:t>03. Compression </a:t>
            </a:r>
            <a:r>
              <a:rPr lang="fr-FR" u="sng" dirty="0" smtClean="0"/>
              <a:t>plus distale : </a:t>
            </a:r>
            <a:r>
              <a:rPr lang="fr-FR" dirty="0" smtClean="0"/>
              <a:t>atélectasie</a:t>
            </a:r>
            <a:r>
              <a:rPr lang="fr-FR" dirty="0" smtClean="0"/>
              <a:t>.</a:t>
            </a:r>
          </a:p>
          <a:p>
            <a:pPr>
              <a:buNone/>
            </a:pPr>
            <a:r>
              <a:rPr lang="fr-FR" i="1" u="sng" dirty="0" smtClean="0"/>
              <a:t>04. Atteinte </a:t>
            </a:r>
            <a:r>
              <a:rPr lang="fr-FR" i="1" u="sng" dirty="0" smtClean="0"/>
              <a:t>neurologique : </a:t>
            </a:r>
            <a:endParaRPr lang="fr-FR" i="1" u="sng" dirty="0" smtClean="0"/>
          </a:p>
          <a:p>
            <a:pPr>
              <a:buNone/>
            </a:pPr>
            <a:r>
              <a:rPr lang="fr-FR" dirty="0" smtClean="0"/>
              <a:t>* </a:t>
            </a:r>
            <a:r>
              <a:rPr lang="fr-FR" dirty="0" smtClean="0"/>
              <a:t>paralysie </a:t>
            </a:r>
            <a:r>
              <a:rPr lang="fr-FR" dirty="0" err="1" smtClean="0"/>
              <a:t>récurrentielle</a:t>
            </a:r>
            <a:r>
              <a:rPr lang="fr-FR" dirty="0" smtClean="0"/>
              <a:t> gauche (sous la crosse de l’aorte) : dysphonie, voie bitonale.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* paralysie phrénique : hoquet, orthopnée, paralysie diaphragmatique confirmée par la radiographie inspiratoire et expiratoire (Sniff Test),</a:t>
            </a:r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CIRCONSTANCES DE DÉCOUVERTE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fr-FR" dirty="0" smtClean="0"/>
              <a:t>signe </a:t>
            </a:r>
            <a:r>
              <a:rPr lang="fr-FR" dirty="0" smtClean="0"/>
              <a:t>de Claude-Bernard-</a:t>
            </a:r>
            <a:r>
              <a:rPr lang="fr-FR" dirty="0" err="1" smtClean="0"/>
              <a:t>Horner</a:t>
            </a:r>
            <a:r>
              <a:rPr lang="fr-FR" dirty="0" smtClean="0"/>
              <a:t> (ganglion stellaire, sympathique cervical) associé au syndrome de </a:t>
            </a:r>
            <a:r>
              <a:rPr lang="fr-FR" dirty="0" err="1" smtClean="0"/>
              <a:t>Pancaost</a:t>
            </a:r>
            <a:r>
              <a:rPr lang="fr-FR" dirty="0" smtClean="0"/>
              <a:t>-Tobias en cas d’atteinte associée des racines C8 D1 : * compression de la moelle dorsale, plus rare </a:t>
            </a:r>
            <a:r>
              <a:rPr lang="fr-FR" dirty="0" smtClean="0"/>
              <a:t>;</a:t>
            </a:r>
          </a:p>
          <a:p>
            <a:pPr>
              <a:buNone/>
            </a:pPr>
            <a:r>
              <a:rPr lang="fr-FR" i="1" u="sng" dirty="0" smtClean="0"/>
              <a:t>05. Compression </a:t>
            </a:r>
            <a:r>
              <a:rPr lang="fr-FR" i="1" u="sng" dirty="0" err="1" smtClean="0"/>
              <a:t>oesophagienne</a:t>
            </a:r>
            <a:r>
              <a:rPr lang="fr-FR" i="1" u="sng" dirty="0" smtClean="0"/>
              <a:t> : </a:t>
            </a:r>
            <a:r>
              <a:rPr lang="fr-FR" dirty="0" smtClean="0"/>
              <a:t>dysphagie </a:t>
            </a:r>
            <a:r>
              <a:rPr lang="fr-FR" dirty="0" smtClean="0"/>
              <a:t>;</a:t>
            </a:r>
          </a:p>
          <a:p>
            <a:pPr>
              <a:buNone/>
            </a:pPr>
            <a:r>
              <a:rPr lang="fr-FR" i="1" u="sng" dirty="0" smtClean="0"/>
              <a:t>06. Compression </a:t>
            </a:r>
            <a:r>
              <a:rPr lang="fr-FR" i="1" u="sng" dirty="0" smtClean="0"/>
              <a:t>du canal thoracique : </a:t>
            </a:r>
            <a:r>
              <a:rPr lang="fr-FR" dirty="0" err="1" smtClean="0"/>
              <a:t>chylothorax</a:t>
            </a:r>
            <a:r>
              <a:rPr lang="fr-FR" dirty="0" smtClean="0"/>
              <a:t> </a:t>
            </a:r>
            <a:r>
              <a:rPr lang="fr-FR" dirty="0" smtClean="0"/>
              <a:t>:</a:t>
            </a:r>
          </a:p>
          <a:p>
            <a:pPr>
              <a:buNone/>
            </a:pPr>
            <a:r>
              <a:rPr lang="fr-FR" dirty="0" smtClean="0"/>
              <a:t> </a:t>
            </a:r>
            <a:r>
              <a:rPr lang="fr-FR" dirty="0" smtClean="0"/>
              <a:t>* bilan d’une affection connue ; * examen radiologique systématique.</a:t>
            </a:r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DIAGNOSTIC ÉTIOLOGIQUE</a:t>
            </a:r>
            <a:endParaRPr lang="fr-FR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fr-FR" b="1" dirty="0" smtClean="0">
                <a:solidFill>
                  <a:schemeClr val="accent2"/>
                </a:solidFill>
              </a:rPr>
              <a:t>Imagerie:</a:t>
            </a:r>
          </a:p>
          <a:p>
            <a:pPr marL="514350" indent="-514350">
              <a:buNone/>
            </a:pPr>
            <a:r>
              <a:rPr lang="fr-FR" dirty="0" smtClean="0"/>
              <a:t> </a:t>
            </a:r>
            <a:r>
              <a:rPr lang="fr-FR" i="1" u="sng" dirty="0" smtClean="0"/>
              <a:t>a) Radiographie thoracique face et profil </a:t>
            </a:r>
            <a:r>
              <a:rPr lang="fr-FR" i="1" u="sng" dirty="0" smtClean="0"/>
              <a:t>:</a:t>
            </a:r>
          </a:p>
          <a:p>
            <a:pPr marL="514350" indent="-514350">
              <a:buNone/>
            </a:pPr>
            <a:r>
              <a:rPr lang="fr-FR" dirty="0" smtClean="0"/>
              <a:t>– </a:t>
            </a:r>
            <a:r>
              <a:rPr lang="fr-FR" dirty="0" smtClean="0"/>
              <a:t>Diagnostic positif</a:t>
            </a:r>
            <a:r>
              <a:rPr lang="fr-FR" dirty="0" smtClean="0"/>
              <a:t>.</a:t>
            </a:r>
          </a:p>
          <a:p>
            <a:pPr marL="514350" indent="-514350">
              <a:buNone/>
            </a:pPr>
            <a:r>
              <a:rPr lang="fr-FR" dirty="0" smtClean="0"/>
              <a:t>– </a:t>
            </a:r>
            <a:r>
              <a:rPr lang="fr-FR" dirty="0" smtClean="0"/>
              <a:t>Précise : * la taille ; * les contours ; * l’existence de calcification</a:t>
            </a:r>
            <a:r>
              <a:rPr lang="fr-FR" dirty="0" smtClean="0"/>
              <a:t>.</a:t>
            </a:r>
          </a:p>
          <a:p>
            <a:pPr marL="514350" indent="-514350">
              <a:buNone/>
            </a:pPr>
            <a:r>
              <a:rPr lang="fr-FR" dirty="0" smtClean="0"/>
              <a:t>– </a:t>
            </a:r>
            <a:r>
              <a:rPr lang="fr-FR" dirty="0" smtClean="0"/>
              <a:t>Recherche de lésions associées (pleurale, parenchymateuse, pariétale </a:t>
            </a:r>
            <a:r>
              <a:rPr lang="fr-FR" dirty="0" smtClean="0"/>
              <a:t>++).</a:t>
            </a:r>
          </a:p>
          <a:p>
            <a:pPr marL="514350" indent="-514350">
              <a:buNone/>
            </a:pPr>
            <a:r>
              <a:rPr lang="fr-FR" dirty="0" smtClean="0"/>
              <a:t>– </a:t>
            </a:r>
            <a:r>
              <a:rPr lang="fr-FR" dirty="0" smtClean="0"/>
              <a:t>Précise la topographie dans les différents compartiments ; valeur étiologique +++.</a:t>
            </a: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Capture d'écran 2025-04-27 22243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556792"/>
            <a:ext cx="4250617" cy="3816424"/>
          </a:xfrm>
          <a:prstGeom prst="rect">
            <a:avLst/>
          </a:prstGeom>
        </p:spPr>
      </p:pic>
      <p:pic>
        <p:nvPicPr>
          <p:cNvPr id="5" name="Image 4" descr="Capture d'écran 2025-04-27 222517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1556792"/>
            <a:ext cx="4401165" cy="38200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'écran 2025-04-27 22244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1340768"/>
            <a:ext cx="3848637" cy="4363059"/>
          </a:xfrm>
          <a:prstGeom prst="rect">
            <a:avLst/>
          </a:prstGeom>
        </p:spPr>
      </p:pic>
      <p:pic>
        <p:nvPicPr>
          <p:cNvPr id="3" name="Image 2" descr="Capture d'écran 2025-04-27 22253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04048" y="1340768"/>
            <a:ext cx="3829585" cy="4392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'écran 2025-04-27 22262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1124744"/>
            <a:ext cx="4058217" cy="4544060"/>
          </a:xfrm>
          <a:prstGeom prst="rect">
            <a:avLst/>
          </a:prstGeom>
        </p:spPr>
      </p:pic>
      <p:pic>
        <p:nvPicPr>
          <p:cNvPr id="3" name="Image 2" descr="Capture d'écran 2025-04-27 222559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27984" y="1124744"/>
            <a:ext cx="4486902" cy="4536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DIAGNOSTIC ÉTIOLOGIQUE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i="1" u="sng" dirty="0" smtClean="0"/>
              <a:t>b) Scanner thoracique avec injection :</a:t>
            </a:r>
          </a:p>
          <a:p>
            <a:pPr>
              <a:buNone/>
            </a:pPr>
            <a:r>
              <a:rPr lang="fr-FR" dirty="0" smtClean="0"/>
              <a:t>–Examen indispensable +++.</a:t>
            </a:r>
          </a:p>
          <a:p>
            <a:pPr>
              <a:buNone/>
            </a:pPr>
            <a:r>
              <a:rPr lang="fr-FR" dirty="0" smtClean="0"/>
              <a:t>–Permet la mesure de densité (liquide ou solide).</a:t>
            </a:r>
          </a:p>
          <a:p>
            <a:pPr>
              <a:buNone/>
            </a:pPr>
            <a:r>
              <a:rPr lang="fr-FR" dirty="0" smtClean="0"/>
              <a:t>–Précise les caractéristiques des anomalies, leurs rapports avec les structures de voisinage.</a:t>
            </a:r>
          </a:p>
          <a:p>
            <a:pPr>
              <a:buNone/>
            </a:pPr>
            <a:r>
              <a:rPr lang="fr-FR" dirty="0" smtClean="0"/>
              <a:t>–Permet de découvrir l’existence de lésions associées et/ou le degré d’envahissement.</a:t>
            </a:r>
            <a:endParaRPr lang="fr-F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DIAGNOSTIC ÉTIOLOGIQUE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i="1" u="sng" dirty="0" smtClean="0"/>
              <a:t>c) IRM</a:t>
            </a:r>
          </a:p>
          <a:p>
            <a:pPr>
              <a:buNone/>
            </a:pPr>
            <a:r>
              <a:rPr lang="fr-FR" dirty="0" smtClean="0"/>
              <a:t>–Moins précieuse que la TDM.</a:t>
            </a:r>
          </a:p>
          <a:p>
            <a:pPr>
              <a:buNone/>
            </a:pPr>
            <a:r>
              <a:rPr lang="fr-FR" dirty="0" smtClean="0"/>
              <a:t>–Parfois utile pour l’exploration de pathologies vasculaires.</a:t>
            </a:r>
          </a:p>
          <a:p>
            <a:pPr>
              <a:buNone/>
            </a:pPr>
            <a:r>
              <a:rPr lang="fr-FR" dirty="0" smtClean="0"/>
              <a:t>–Intérêt en cas de tumeurs apicales.</a:t>
            </a:r>
          </a:p>
          <a:p>
            <a:pPr>
              <a:buNone/>
            </a:pPr>
            <a:r>
              <a:rPr lang="fr-FR" dirty="0" smtClean="0"/>
              <a:t>–Exploration médullaire ++.</a:t>
            </a:r>
          </a:p>
          <a:p>
            <a:pPr>
              <a:buNone/>
            </a:pPr>
            <a:r>
              <a:rPr lang="fr-FR" i="1" u="sng" dirty="0" smtClean="0"/>
              <a:t>d) Échographie </a:t>
            </a:r>
            <a:r>
              <a:rPr lang="fr-FR" i="1" u="sng" dirty="0" err="1" smtClean="0"/>
              <a:t>endo</a:t>
            </a:r>
            <a:r>
              <a:rPr lang="fr-FR" i="1" u="sng" dirty="0" smtClean="0"/>
              <a:t>-</a:t>
            </a:r>
            <a:r>
              <a:rPr lang="fr-FR" i="1" u="sng" dirty="0" err="1" smtClean="0"/>
              <a:t>oesophagienne</a:t>
            </a:r>
            <a:endParaRPr lang="fr-FR" i="1" u="sng" dirty="0" smtClean="0"/>
          </a:p>
          <a:p>
            <a:pPr>
              <a:buNone/>
            </a:pPr>
            <a:r>
              <a:rPr lang="fr-FR" dirty="0" smtClean="0"/>
              <a:t>–Étude de </a:t>
            </a:r>
            <a:r>
              <a:rPr lang="fr-FR" dirty="0" smtClean="0"/>
              <a:t>l’œsophage et </a:t>
            </a:r>
            <a:r>
              <a:rPr lang="fr-FR" dirty="0" smtClean="0"/>
              <a:t>du médiastin postérieur.</a:t>
            </a:r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DIAGNOSTIC ÉTIOLOGIQUE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de-DE" sz="2400" b="1" dirty="0" smtClean="0">
                <a:solidFill>
                  <a:schemeClr val="accent2"/>
                </a:solidFill>
              </a:rPr>
              <a:t>2. Biologie </a:t>
            </a:r>
            <a:r>
              <a:rPr lang="de-DE" sz="2400" b="1" dirty="0" err="1" smtClean="0">
                <a:solidFill>
                  <a:schemeClr val="accent2"/>
                </a:solidFill>
              </a:rPr>
              <a:t>standard</a:t>
            </a:r>
            <a:r>
              <a:rPr lang="de-DE" sz="2400" b="1" dirty="0" smtClean="0">
                <a:solidFill>
                  <a:schemeClr val="accent2"/>
                </a:solidFill>
              </a:rPr>
              <a:t>, IDR </a:t>
            </a:r>
            <a:r>
              <a:rPr lang="de-DE" sz="2400" b="1" dirty="0" err="1" smtClean="0">
                <a:solidFill>
                  <a:schemeClr val="accent2"/>
                </a:solidFill>
              </a:rPr>
              <a:t>tuberculine</a:t>
            </a:r>
            <a:endParaRPr lang="de-DE" sz="2400" b="1" dirty="0" smtClean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chemeClr val="accent2"/>
                </a:solidFill>
              </a:rPr>
              <a:t>3. En fonction du contexte clinique, radiologique et biologique</a:t>
            </a:r>
            <a:r>
              <a:rPr lang="fr-FR" sz="2400" dirty="0" smtClean="0"/>
              <a:t>:</a:t>
            </a:r>
            <a:endParaRPr lang="fr-FR" sz="2400" dirty="0" smtClean="0"/>
          </a:p>
          <a:p>
            <a:r>
              <a:rPr lang="fr-FR" sz="2400" dirty="0" smtClean="0"/>
              <a:t>Fibroscopie bronchique</a:t>
            </a:r>
            <a:r>
              <a:rPr lang="fr-FR" sz="2400" dirty="0" smtClean="0"/>
              <a:t>.</a:t>
            </a:r>
          </a:p>
          <a:p>
            <a:r>
              <a:rPr lang="fr-FR" sz="2400" dirty="0" smtClean="0"/>
              <a:t>Exploration digestive, ORL, thyroïdienne</a:t>
            </a:r>
            <a:r>
              <a:rPr lang="fr-FR" sz="2400" dirty="0" smtClean="0"/>
              <a:t>.</a:t>
            </a:r>
          </a:p>
          <a:p>
            <a:r>
              <a:rPr lang="fr-FR" sz="2400" dirty="0" smtClean="0"/>
              <a:t>Marqueurs tumoraux (LDH, b-</a:t>
            </a:r>
            <a:r>
              <a:rPr lang="fr-FR" sz="2400" dirty="0" err="1" smtClean="0"/>
              <a:t>hCG</a:t>
            </a:r>
            <a:r>
              <a:rPr lang="fr-FR" sz="2400" dirty="0" smtClean="0"/>
              <a:t>, a-FP</a:t>
            </a:r>
            <a:r>
              <a:rPr lang="fr-FR" sz="2400" dirty="0" smtClean="0"/>
              <a:t>…).</a:t>
            </a:r>
          </a:p>
          <a:p>
            <a:r>
              <a:rPr lang="fr-FR" sz="2400" dirty="0" smtClean="0"/>
              <a:t>BK crachats, tubages</a:t>
            </a:r>
            <a:r>
              <a:rPr lang="fr-FR" sz="2400" dirty="0" smtClean="0"/>
              <a:t>…</a:t>
            </a:r>
          </a:p>
          <a:p>
            <a:pPr>
              <a:buNone/>
            </a:pPr>
            <a:r>
              <a:rPr lang="fr-FR" sz="2400" b="1" dirty="0" smtClean="0">
                <a:solidFill>
                  <a:schemeClr val="accent2"/>
                </a:solidFill>
              </a:rPr>
              <a:t>4.Preuve histologique éventuelle:</a:t>
            </a:r>
            <a:endParaRPr lang="fr-FR" sz="2400" b="1" dirty="0" smtClean="0">
              <a:solidFill>
                <a:schemeClr val="accent2"/>
              </a:solidFill>
            </a:endParaRPr>
          </a:p>
          <a:p>
            <a:r>
              <a:rPr lang="fr-FR" sz="2400" dirty="0" smtClean="0"/>
              <a:t>Ponction de la masse </a:t>
            </a:r>
            <a:r>
              <a:rPr lang="fr-FR" sz="2400" dirty="0" err="1" smtClean="0"/>
              <a:t>souss</a:t>
            </a:r>
            <a:r>
              <a:rPr lang="fr-FR" sz="2400" dirty="0" smtClean="0"/>
              <a:t> canner</a:t>
            </a:r>
            <a:r>
              <a:rPr lang="fr-FR" sz="2400" dirty="0" smtClean="0"/>
              <a:t>.</a:t>
            </a:r>
          </a:p>
          <a:p>
            <a:r>
              <a:rPr lang="fr-FR" sz="2400" dirty="0" err="1" smtClean="0"/>
              <a:t>Médiastinoscopie</a:t>
            </a:r>
            <a:r>
              <a:rPr lang="fr-FR" sz="2400" dirty="0" smtClean="0"/>
              <a:t>: </a:t>
            </a:r>
            <a:r>
              <a:rPr lang="fr-FR" sz="2400" dirty="0" err="1" smtClean="0"/>
              <a:t>sousAG</a:t>
            </a:r>
            <a:r>
              <a:rPr lang="fr-FR" sz="2400" dirty="0" smtClean="0"/>
              <a:t>, étude du médiastin supérieur et moyen</a:t>
            </a:r>
            <a:endParaRPr lang="fr-FR" sz="2400" dirty="0" smtClean="0"/>
          </a:p>
          <a:p>
            <a:r>
              <a:rPr lang="fr-FR" sz="2400" dirty="0" smtClean="0"/>
              <a:t>Thoracotomie exploratrice</a:t>
            </a:r>
            <a:r>
              <a:rPr lang="fr-FR" sz="2400" dirty="0" smtClean="0"/>
              <a:t>.</a:t>
            </a:r>
            <a:endParaRPr lang="fr-FR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'écran 2025-04-27 22415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548680"/>
            <a:ext cx="6336704" cy="5544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475656" y="2780928"/>
            <a:ext cx="6477000" cy="892696"/>
          </a:xfrm>
        </p:spPr>
        <p:txBody>
          <a:bodyPr>
            <a:noAutofit/>
          </a:bodyPr>
          <a:lstStyle/>
          <a:p>
            <a:pPr algn="ctr"/>
            <a:r>
              <a:rPr lang="fr-FR" sz="10000" dirty="0" smtClean="0"/>
              <a:t>Merci</a:t>
            </a:r>
            <a:endParaRPr lang="fr-FR" sz="10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157</TotalTime>
  <Words>578</Words>
  <Application>Microsoft Office PowerPoint</Application>
  <PresentationFormat>Affichage à l'écran (4:3)</PresentationFormat>
  <Paragraphs>70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Médian</vt:lpstr>
      <vt:lpstr>Le syndrome médiastinal Dr lesmar.A résidente en service de pneumo-phtisiologie CHU Constantine   </vt:lpstr>
      <vt:lpstr>Rappel anatomique</vt:lpstr>
      <vt:lpstr>Rappel anatomique</vt:lpstr>
      <vt:lpstr>Rappel anatomique</vt:lpstr>
      <vt:lpstr>Diapositive 5</vt:lpstr>
      <vt:lpstr>CIRCONSTANCES DE DÉCOUVERTE</vt:lpstr>
      <vt:lpstr>CIRCONSTANCES DE DÉCOUVERTE</vt:lpstr>
      <vt:lpstr>CIRCONSTANCES DE DÉCOUVERTE</vt:lpstr>
      <vt:lpstr>DIAGNOSTIC ÉTIOLOGIQUE</vt:lpstr>
      <vt:lpstr>Diapositive 10</vt:lpstr>
      <vt:lpstr>Diapositive 11</vt:lpstr>
      <vt:lpstr>Diapositive 12</vt:lpstr>
      <vt:lpstr>DIAGNOSTIC ÉTIOLOGIQUE</vt:lpstr>
      <vt:lpstr>DIAGNOSTIC ÉTIOLOGIQUE</vt:lpstr>
      <vt:lpstr>DIAGNOSTIC ÉTIOLOGIQUE</vt:lpstr>
      <vt:lpstr>Diapositive 16</vt:lpstr>
      <vt:lpstr>Diapositive 17</vt:lpstr>
      <vt:lpstr>Merci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syndrome médiastinal Dr lesmar.A résidente en service de pneumo-phtisiologie CHU Constantine</dc:title>
  <dc:creator>Pc</dc:creator>
  <cp:lastModifiedBy>Pc</cp:lastModifiedBy>
  <cp:revision>6</cp:revision>
  <dcterms:created xsi:type="dcterms:W3CDTF">2025-04-27T19:02:00Z</dcterms:created>
  <dcterms:modified xsi:type="dcterms:W3CDTF">2025-04-27T21:44:52Z</dcterms:modified>
</cp:coreProperties>
</file>