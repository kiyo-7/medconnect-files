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85" r:id="rId6"/>
    <p:sldId id="260" r:id="rId7"/>
    <p:sldId id="261" r:id="rId8"/>
    <p:sldId id="262" r:id="rId9"/>
    <p:sldId id="263" r:id="rId10"/>
    <p:sldId id="264" r:id="rId11"/>
    <p:sldId id="286" r:id="rId12"/>
    <p:sldId id="265" r:id="rId13"/>
    <p:sldId id="266" r:id="rId14"/>
    <p:sldId id="287"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8" r:id="rId29"/>
    <p:sldId id="280" r:id="rId30"/>
    <p:sldId id="281" r:id="rId31"/>
    <p:sldId id="282" r:id="rId32"/>
    <p:sldId id="283" r:id="rId33"/>
    <p:sldId id="284" r:id="rId34"/>
    <p:sldId id="289" r:id="rId35"/>
    <p:sldId id="290" r:id="rId36"/>
    <p:sldId id="291" r:id="rId37"/>
    <p:sldId id="292" r:id="rId3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2" d="100"/>
          <a:sy n="62"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38E4FE-26CA-4EDE-A2AE-AE695BF26899}"/>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C3C4DC4-9E28-421F-A762-5EE2BE2078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C5D6F8B-886C-4F4C-BC47-2B9D49CD52D6}"/>
              </a:ext>
            </a:extLst>
          </p:cNvPr>
          <p:cNvSpPr>
            <a:spLocks noGrp="1"/>
          </p:cNvSpPr>
          <p:nvPr>
            <p:ph type="dt" sz="half" idx="10"/>
          </p:nvPr>
        </p:nvSpPr>
        <p:spPr/>
        <p:txBody>
          <a:bodyPr/>
          <a:lstStyle/>
          <a:p>
            <a:fld id="{0CA35FC8-982A-46EB-8F3F-7F1F6E694DC8}" type="datetimeFigureOut">
              <a:rPr lang="fr-FR" smtClean="0"/>
              <a:t>21/10/2025</a:t>
            </a:fld>
            <a:endParaRPr lang="fr-FR"/>
          </a:p>
        </p:txBody>
      </p:sp>
      <p:sp>
        <p:nvSpPr>
          <p:cNvPr id="5" name="Espace réservé du pied de page 4">
            <a:extLst>
              <a:ext uri="{FF2B5EF4-FFF2-40B4-BE49-F238E27FC236}">
                <a16:creationId xmlns:a16="http://schemas.microsoft.com/office/drawing/2014/main" id="{C3801CC7-84DE-473F-9DE4-56F859CF1F5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7A2E1FD-6F19-4011-AB7C-F0BB9191F4FB}"/>
              </a:ext>
            </a:extLst>
          </p:cNvPr>
          <p:cNvSpPr>
            <a:spLocks noGrp="1"/>
          </p:cNvSpPr>
          <p:nvPr>
            <p:ph type="sldNum" sz="quarter" idx="12"/>
          </p:nvPr>
        </p:nvSpPr>
        <p:spPr/>
        <p:txBody>
          <a:bodyPr/>
          <a:lstStyle/>
          <a:p>
            <a:fld id="{27D8E817-D8EF-4A99-80C5-BD7DD7E41BAD}" type="slidenum">
              <a:rPr lang="fr-FR" smtClean="0"/>
              <a:t>‹N°›</a:t>
            </a:fld>
            <a:endParaRPr lang="fr-FR"/>
          </a:p>
        </p:txBody>
      </p:sp>
    </p:spTree>
    <p:extLst>
      <p:ext uri="{BB962C8B-B14F-4D97-AF65-F5344CB8AC3E}">
        <p14:creationId xmlns:p14="http://schemas.microsoft.com/office/powerpoint/2010/main" val="943952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B6C32A-CDFA-4533-B8E4-39022735629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C9C6BFD0-74FA-4A0D-8139-F782F68254C7}"/>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0E4857E-21AE-4910-A12F-9F21AD71ECB0}"/>
              </a:ext>
            </a:extLst>
          </p:cNvPr>
          <p:cNvSpPr>
            <a:spLocks noGrp="1"/>
          </p:cNvSpPr>
          <p:nvPr>
            <p:ph type="dt" sz="half" idx="10"/>
          </p:nvPr>
        </p:nvSpPr>
        <p:spPr/>
        <p:txBody>
          <a:bodyPr/>
          <a:lstStyle/>
          <a:p>
            <a:fld id="{0CA35FC8-982A-46EB-8F3F-7F1F6E694DC8}" type="datetimeFigureOut">
              <a:rPr lang="fr-FR" smtClean="0"/>
              <a:t>21/10/2025</a:t>
            </a:fld>
            <a:endParaRPr lang="fr-FR"/>
          </a:p>
        </p:txBody>
      </p:sp>
      <p:sp>
        <p:nvSpPr>
          <p:cNvPr id="5" name="Espace réservé du pied de page 4">
            <a:extLst>
              <a:ext uri="{FF2B5EF4-FFF2-40B4-BE49-F238E27FC236}">
                <a16:creationId xmlns:a16="http://schemas.microsoft.com/office/drawing/2014/main" id="{C5BE8168-B74A-4A2B-B0C1-D20D0219210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C362167-26E4-4A7C-A901-50D271371196}"/>
              </a:ext>
            </a:extLst>
          </p:cNvPr>
          <p:cNvSpPr>
            <a:spLocks noGrp="1"/>
          </p:cNvSpPr>
          <p:nvPr>
            <p:ph type="sldNum" sz="quarter" idx="12"/>
          </p:nvPr>
        </p:nvSpPr>
        <p:spPr/>
        <p:txBody>
          <a:bodyPr/>
          <a:lstStyle/>
          <a:p>
            <a:fld id="{27D8E817-D8EF-4A99-80C5-BD7DD7E41BAD}" type="slidenum">
              <a:rPr lang="fr-FR" smtClean="0"/>
              <a:t>‹N°›</a:t>
            </a:fld>
            <a:endParaRPr lang="fr-FR"/>
          </a:p>
        </p:txBody>
      </p:sp>
    </p:spTree>
    <p:extLst>
      <p:ext uri="{BB962C8B-B14F-4D97-AF65-F5344CB8AC3E}">
        <p14:creationId xmlns:p14="http://schemas.microsoft.com/office/powerpoint/2010/main" val="4253382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62CFBD-7CCD-4EF2-B4C9-8FF9789CBCA4}"/>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EDACADAE-709A-42FC-AC52-2B3771C863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203D4653-A815-4956-A762-F87CC525C960}"/>
              </a:ext>
            </a:extLst>
          </p:cNvPr>
          <p:cNvSpPr>
            <a:spLocks noGrp="1"/>
          </p:cNvSpPr>
          <p:nvPr>
            <p:ph type="dt" sz="half" idx="10"/>
          </p:nvPr>
        </p:nvSpPr>
        <p:spPr/>
        <p:txBody>
          <a:bodyPr/>
          <a:lstStyle/>
          <a:p>
            <a:fld id="{0CA35FC8-982A-46EB-8F3F-7F1F6E694DC8}" type="datetimeFigureOut">
              <a:rPr lang="fr-FR" smtClean="0"/>
              <a:t>21/10/2025</a:t>
            </a:fld>
            <a:endParaRPr lang="fr-FR"/>
          </a:p>
        </p:txBody>
      </p:sp>
      <p:sp>
        <p:nvSpPr>
          <p:cNvPr id="5" name="Espace réservé du pied de page 4">
            <a:extLst>
              <a:ext uri="{FF2B5EF4-FFF2-40B4-BE49-F238E27FC236}">
                <a16:creationId xmlns:a16="http://schemas.microsoft.com/office/drawing/2014/main" id="{4D968FE5-8BEB-433A-93C1-52B81405BBB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DBB8929-04A0-4E1B-AD54-3663FD6F14E3}"/>
              </a:ext>
            </a:extLst>
          </p:cNvPr>
          <p:cNvSpPr>
            <a:spLocks noGrp="1"/>
          </p:cNvSpPr>
          <p:nvPr>
            <p:ph type="sldNum" sz="quarter" idx="12"/>
          </p:nvPr>
        </p:nvSpPr>
        <p:spPr/>
        <p:txBody>
          <a:bodyPr/>
          <a:lstStyle/>
          <a:p>
            <a:fld id="{27D8E817-D8EF-4A99-80C5-BD7DD7E41BAD}" type="slidenum">
              <a:rPr lang="fr-FR" smtClean="0"/>
              <a:t>‹N°›</a:t>
            </a:fld>
            <a:endParaRPr lang="fr-FR"/>
          </a:p>
        </p:txBody>
      </p:sp>
    </p:spTree>
    <p:extLst>
      <p:ext uri="{BB962C8B-B14F-4D97-AF65-F5344CB8AC3E}">
        <p14:creationId xmlns:p14="http://schemas.microsoft.com/office/powerpoint/2010/main" val="3589365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21049E-1379-40CD-8B66-7EEC96732D4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67568AA-0710-4B18-B638-019B98296E3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51DAAB9F-394A-49B8-9D01-C81E5DB314B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4C33716E-8948-435D-A74F-61A81302F2F0}"/>
              </a:ext>
            </a:extLst>
          </p:cNvPr>
          <p:cNvSpPr>
            <a:spLocks noGrp="1"/>
          </p:cNvSpPr>
          <p:nvPr>
            <p:ph type="dt" sz="half" idx="10"/>
          </p:nvPr>
        </p:nvSpPr>
        <p:spPr/>
        <p:txBody>
          <a:bodyPr/>
          <a:lstStyle/>
          <a:p>
            <a:fld id="{0CA35FC8-982A-46EB-8F3F-7F1F6E694DC8}" type="datetimeFigureOut">
              <a:rPr lang="fr-FR" smtClean="0"/>
              <a:t>21/10/2025</a:t>
            </a:fld>
            <a:endParaRPr lang="fr-FR"/>
          </a:p>
        </p:txBody>
      </p:sp>
      <p:sp>
        <p:nvSpPr>
          <p:cNvPr id="6" name="Espace réservé du pied de page 5">
            <a:extLst>
              <a:ext uri="{FF2B5EF4-FFF2-40B4-BE49-F238E27FC236}">
                <a16:creationId xmlns:a16="http://schemas.microsoft.com/office/drawing/2014/main" id="{E51257EB-41DA-4F7E-981D-079D985A4E4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4BA1F61-3C26-4FF1-A9E2-13D2A6AC775A}"/>
              </a:ext>
            </a:extLst>
          </p:cNvPr>
          <p:cNvSpPr>
            <a:spLocks noGrp="1"/>
          </p:cNvSpPr>
          <p:nvPr>
            <p:ph type="sldNum" sz="quarter" idx="12"/>
          </p:nvPr>
        </p:nvSpPr>
        <p:spPr/>
        <p:txBody>
          <a:bodyPr/>
          <a:lstStyle/>
          <a:p>
            <a:fld id="{27D8E817-D8EF-4A99-80C5-BD7DD7E41BAD}" type="slidenum">
              <a:rPr lang="fr-FR" smtClean="0"/>
              <a:t>‹N°›</a:t>
            </a:fld>
            <a:endParaRPr lang="fr-FR"/>
          </a:p>
        </p:txBody>
      </p:sp>
    </p:spTree>
    <p:extLst>
      <p:ext uri="{BB962C8B-B14F-4D97-AF65-F5344CB8AC3E}">
        <p14:creationId xmlns:p14="http://schemas.microsoft.com/office/powerpoint/2010/main" val="3987801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C22F8D-7F47-4048-A088-338087500F15}"/>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1F66E15-98B5-4C11-BDC9-C2BDC76080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8858FE24-D3C0-4B35-BDAB-02D1942F4E90}"/>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C8540FBA-33FA-4B11-B60B-1612663F95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54C28B8E-5483-43F9-A6F5-2E5648DA30A4}"/>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8B9CDE53-1BB2-4B2D-9704-CC94C128AE1B}"/>
              </a:ext>
            </a:extLst>
          </p:cNvPr>
          <p:cNvSpPr>
            <a:spLocks noGrp="1"/>
          </p:cNvSpPr>
          <p:nvPr>
            <p:ph type="dt" sz="half" idx="10"/>
          </p:nvPr>
        </p:nvSpPr>
        <p:spPr/>
        <p:txBody>
          <a:bodyPr/>
          <a:lstStyle/>
          <a:p>
            <a:fld id="{0CA35FC8-982A-46EB-8F3F-7F1F6E694DC8}" type="datetimeFigureOut">
              <a:rPr lang="fr-FR" smtClean="0"/>
              <a:t>21/10/2025</a:t>
            </a:fld>
            <a:endParaRPr lang="fr-FR"/>
          </a:p>
        </p:txBody>
      </p:sp>
      <p:sp>
        <p:nvSpPr>
          <p:cNvPr id="8" name="Espace réservé du pied de page 7">
            <a:extLst>
              <a:ext uri="{FF2B5EF4-FFF2-40B4-BE49-F238E27FC236}">
                <a16:creationId xmlns:a16="http://schemas.microsoft.com/office/drawing/2014/main" id="{D2F161F4-DCC6-4977-9045-5C12DDEE82A0}"/>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3ED1CFDE-0427-4548-BE43-253BDF945934}"/>
              </a:ext>
            </a:extLst>
          </p:cNvPr>
          <p:cNvSpPr>
            <a:spLocks noGrp="1"/>
          </p:cNvSpPr>
          <p:nvPr>
            <p:ph type="sldNum" sz="quarter" idx="12"/>
          </p:nvPr>
        </p:nvSpPr>
        <p:spPr/>
        <p:txBody>
          <a:bodyPr/>
          <a:lstStyle/>
          <a:p>
            <a:fld id="{27D8E817-D8EF-4A99-80C5-BD7DD7E41BAD}" type="slidenum">
              <a:rPr lang="fr-FR" smtClean="0"/>
              <a:t>‹N°›</a:t>
            </a:fld>
            <a:endParaRPr lang="fr-FR"/>
          </a:p>
        </p:txBody>
      </p:sp>
    </p:spTree>
    <p:extLst>
      <p:ext uri="{BB962C8B-B14F-4D97-AF65-F5344CB8AC3E}">
        <p14:creationId xmlns:p14="http://schemas.microsoft.com/office/powerpoint/2010/main" val="2674630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686D41E-7240-4BD4-A47D-814897D95A0C}"/>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8F4840E1-8B2D-4F92-AFE7-5351D4BE23B0}"/>
              </a:ext>
            </a:extLst>
          </p:cNvPr>
          <p:cNvSpPr>
            <a:spLocks noGrp="1"/>
          </p:cNvSpPr>
          <p:nvPr>
            <p:ph type="dt" sz="half" idx="10"/>
          </p:nvPr>
        </p:nvSpPr>
        <p:spPr/>
        <p:txBody>
          <a:bodyPr/>
          <a:lstStyle/>
          <a:p>
            <a:fld id="{0CA35FC8-982A-46EB-8F3F-7F1F6E694DC8}" type="datetimeFigureOut">
              <a:rPr lang="fr-FR" smtClean="0"/>
              <a:t>21/10/2025</a:t>
            </a:fld>
            <a:endParaRPr lang="fr-FR"/>
          </a:p>
        </p:txBody>
      </p:sp>
      <p:sp>
        <p:nvSpPr>
          <p:cNvPr id="4" name="Espace réservé du pied de page 3">
            <a:extLst>
              <a:ext uri="{FF2B5EF4-FFF2-40B4-BE49-F238E27FC236}">
                <a16:creationId xmlns:a16="http://schemas.microsoft.com/office/drawing/2014/main" id="{B1B7248B-2173-4F5C-939D-0694EB7B3DB6}"/>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F3B8CE92-5E71-4111-A3BF-6150123EC7B0}"/>
              </a:ext>
            </a:extLst>
          </p:cNvPr>
          <p:cNvSpPr>
            <a:spLocks noGrp="1"/>
          </p:cNvSpPr>
          <p:nvPr>
            <p:ph type="sldNum" sz="quarter" idx="12"/>
          </p:nvPr>
        </p:nvSpPr>
        <p:spPr/>
        <p:txBody>
          <a:bodyPr/>
          <a:lstStyle/>
          <a:p>
            <a:fld id="{27D8E817-D8EF-4A99-80C5-BD7DD7E41BAD}" type="slidenum">
              <a:rPr lang="fr-FR" smtClean="0"/>
              <a:t>‹N°›</a:t>
            </a:fld>
            <a:endParaRPr lang="fr-FR"/>
          </a:p>
        </p:txBody>
      </p:sp>
    </p:spTree>
    <p:extLst>
      <p:ext uri="{BB962C8B-B14F-4D97-AF65-F5344CB8AC3E}">
        <p14:creationId xmlns:p14="http://schemas.microsoft.com/office/powerpoint/2010/main" val="1786509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2D5A872F-060D-40CA-ABF7-2129EE122D83}"/>
              </a:ext>
            </a:extLst>
          </p:cNvPr>
          <p:cNvSpPr>
            <a:spLocks noGrp="1"/>
          </p:cNvSpPr>
          <p:nvPr>
            <p:ph type="dt" sz="half" idx="10"/>
          </p:nvPr>
        </p:nvSpPr>
        <p:spPr/>
        <p:txBody>
          <a:bodyPr/>
          <a:lstStyle/>
          <a:p>
            <a:fld id="{0CA35FC8-982A-46EB-8F3F-7F1F6E694DC8}" type="datetimeFigureOut">
              <a:rPr lang="fr-FR" smtClean="0"/>
              <a:t>21/10/2025</a:t>
            </a:fld>
            <a:endParaRPr lang="fr-FR"/>
          </a:p>
        </p:txBody>
      </p:sp>
      <p:sp>
        <p:nvSpPr>
          <p:cNvPr id="3" name="Espace réservé du pied de page 2">
            <a:extLst>
              <a:ext uri="{FF2B5EF4-FFF2-40B4-BE49-F238E27FC236}">
                <a16:creationId xmlns:a16="http://schemas.microsoft.com/office/drawing/2014/main" id="{0B15AA6C-EC0B-400B-A727-5B0EF238AA22}"/>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BF40B6-D72D-4ED4-8ED3-6CC95A62A9C5}"/>
              </a:ext>
            </a:extLst>
          </p:cNvPr>
          <p:cNvSpPr>
            <a:spLocks noGrp="1"/>
          </p:cNvSpPr>
          <p:nvPr>
            <p:ph type="sldNum" sz="quarter" idx="12"/>
          </p:nvPr>
        </p:nvSpPr>
        <p:spPr/>
        <p:txBody>
          <a:bodyPr/>
          <a:lstStyle/>
          <a:p>
            <a:fld id="{27D8E817-D8EF-4A99-80C5-BD7DD7E41BAD}" type="slidenum">
              <a:rPr lang="fr-FR" smtClean="0"/>
              <a:t>‹N°›</a:t>
            </a:fld>
            <a:endParaRPr lang="fr-FR"/>
          </a:p>
        </p:txBody>
      </p:sp>
    </p:spTree>
    <p:extLst>
      <p:ext uri="{BB962C8B-B14F-4D97-AF65-F5344CB8AC3E}">
        <p14:creationId xmlns:p14="http://schemas.microsoft.com/office/powerpoint/2010/main" val="26006114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CEF5BA-1575-463A-BF71-29B00CACB84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14A48992-138B-4B99-94E9-A41FFA1F53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4A50CF73-9C6F-43AF-9E25-88720D43CA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6BC5C1A-EE3F-4DAB-B130-6F9313B1159F}"/>
              </a:ext>
            </a:extLst>
          </p:cNvPr>
          <p:cNvSpPr>
            <a:spLocks noGrp="1"/>
          </p:cNvSpPr>
          <p:nvPr>
            <p:ph type="dt" sz="half" idx="10"/>
          </p:nvPr>
        </p:nvSpPr>
        <p:spPr/>
        <p:txBody>
          <a:bodyPr/>
          <a:lstStyle/>
          <a:p>
            <a:fld id="{0CA35FC8-982A-46EB-8F3F-7F1F6E694DC8}" type="datetimeFigureOut">
              <a:rPr lang="fr-FR" smtClean="0"/>
              <a:t>21/10/2025</a:t>
            </a:fld>
            <a:endParaRPr lang="fr-FR"/>
          </a:p>
        </p:txBody>
      </p:sp>
      <p:sp>
        <p:nvSpPr>
          <p:cNvPr id="6" name="Espace réservé du pied de page 5">
            <a:extLst>
              <a:ext uri="{FF2B5EF4-FFF2-40B4-BE49-F238E27FC236}">
                <a16:creationId xmlns:a16="http://schemas.microsoft.com/office/drawing/2014/main" id="{0BA8B1BA-36D0-452C-AD0B-6679F308509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4A4DE55-82F0-46A6-9089-E2452F50BD95}"/>
              </a:ext>
            </a:extLst>
          </p:cNvPr>
          <p:cNvSpPr>
            <a:spLocks noGrp="1"/>
          </p:cNvSpPr>
          <p:nvPr>
            <p:ph type="sldNum" sz="quarter" idx="12"/>
          </p:nvPr>
        </p:nvSpPr>
        <p:spPr/>
        <p:txBody>
          <a:bodyPr/>
          <a:lstStyle/>
          <a:p>
            <a:fld id="{27D8E817-D8EF-4A99-80C5-BD7DD7E41BAD}" type="slidenum">
              <a:rPr lang="fr-FR" smtClean="0"/>
              <a:t>‹N°›</a:t>
            </a:fld>
            <a:endParaRPr lang="fr-FR"/>
          </a:p>
        </p:txBody>
      </p:sp>
    </p:spTree>
    <p:extLst>
      <p:ext uri="{BB962C8B-B14F-4D97-AF65-F5344CB8AC3E}">
        <p14:creationId xmlns:p14="http://schemas.microsoft.com/office/powerpoint/2010/main" val="1566883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7E690A-8320-4E0E-B417-A7919607507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0D2A7024-7E1B-443A-B7E2-8DD680EADC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4948CF93-D0DF-4E77-A475-E9AF052808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CB96F2A-24AF-4F80-B95D-4FF9C543D636}"/>
              </a:ext>
            </a:extLst>
          </p:cNvPr>
          <p:cNvSpPr>
            <a:spLocks noGrp="1"/>
          </p:cNvSpPr>
          <p:nvPr>
            <p:ph type="dt" sz="half" idx="10"/>
          </p:nvPr>
        </p:nvSpPr>
        <p:spPr/>
        <p:txBody>
          <a:bodyPr/>
          <a:lstStyle/>
          <a:p>
            <a:fld id="{0CA35FC8-982A-46EB-8F3F-7F1F6E694DC8}" type="datetimeFigureOut">
              <a:rPr lang="fr-FR" smtClean="0"/>
              <a:t>21/10/2025</a:t>
            </a:fld>
            <a:endParaRPr lang="fr-FR"/>
          </a:p>
        </p:txBody>
      </p:sp>
      <p:sp>
        <p:nvSpPr>
          <p:cNvPr id="6" name="Espace réservé du pied de page 5">
            <a:extLst>
              <a:ext uri="{FF2B5EF4-FFF2-40B4-BE49-F238E27FC236}">
                <a16:creationId xmlns:a16="http://schemas.microsoft.com/office/drawing/2014/main" id="{B39A6360-F323-4F73-8644-5A8425AF195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35C339A-6F5C-4FC8-99F4-4E43A6E95EEF}"/>
              </a:ext>
            </a:extLst>
          </p:cNvPr>
          <p:cNvSpPr>
            <a:spLocks noGrp="1"/>
          </p:cNvSpPr>
          <p:nvPr>
            <p:ph type="sldNum" sz="quarter" idx="12"/>
          </p:nvPr>
        </p:nvSpPr>
        <p:spPr/>
        <p:txBody>
          <a:bodyPr/>
          <a:lstStyle/>
          <a:p>
            <a:fld id="{27D8E817-D8EF-4A99-80C5-BD7DD7E41BAD}" type="slidenum">
              <a:rPr lang="fr-FR" smtClean="0"/>
              <a:t>‹N°›</a:t>
            </a:fld>
            <a:endParaRPr lang="fr-FR"/>
          </a:p>
        </p:txBody>
      </p:sp>
    </p:spTree>
    <p:extLst>
      <p:ext uri="{BB962C8B-B14F-4D97-AF65-F5344CB8AC3E}">
        <p14:creationId xmlns:p14="http://schemas.microsoft.com/office/powerpoint/2010/main" val="2010275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01A8EC5-0E24-4DC3-A4AB-8029E1DB451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422D160D-AB32-4C50-9726-F4547D8BF62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25403C4-0121-4B17-BF41-70D1733B0F1B}"/>
              </a:ext>
            </a:extLst>
          </p:cNvPr>
          <p:cNvSpPr>
            <a:spLocks noGrp="1"/>
          </p:cNvSpPr>
          <p:nvPr>
            <p:ph type="dt" sz="half" idx="10"/>
          </p:nvPr>
        </p:nvSpPr>
        <p:spPr/>
        <p:txBody>
          <a:bodyPr/>
          <a:lstStyle/>
          <a:p>
            <a:fld id="{0CA35FC8-982A-46EB-8F3F-7F1F6E694DC8}" type="datetimeFigureOut">
              <a:rPr lang="fr-FR" smtClean="0"/>
              <a:t>21/10/2025</a:t>
            </a:fld>
            <a:endParaRPr lang="fr-FR"/>
          </a:p>
        </p:txBody>
      </p:sp>
      <p:sp>
        <p:nvSpPr>
          <p:cNvPr id="5" name="Espace réservé du pied de page 4">
            <a:extLst>
              <a:ext uri="{FF2B5EF4-FFF2-40B4-BE49-F238E27FC236}">
                <a16:creationId xmlns:a16="http://schemas.microsoft.com/office/drawing/2014/main" id="{D442A90B-025C-4F07-8701-11ABB0D88AE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04297F9-7D0E-4B2E-A955-0CC4F7C58BF5}"/>
              </a:ext>
            </a:extLst>
          </p:cNvPr>
          <p:cNvSpPr>
            <a:spLocks noGrp="1"/>
          </p:cNvSpPr>
          <p:nvPr>
            <p:ph type="sldNum" sz="quarter" idx="12"/>
          </p:nvPr>
        </p:nvSpPr>
        <p:spPr/>
        <p:txBody>
          <a:bodyPr/>
          <a:lstStyle/>
          <a:p>
            <a:fld id="{27D8E817-D8EF-4A99-80C5-BD7DD7E41BAD}" type="slidenum">
              <a:rPr lang="fr-FR" smtClean="0"/>
              <a:t>‹N°›</a:t>
            </a:fld>
            <a:endParaRPr lang="fr-FR"/>
          </a:p>
        </p:txBody>
      </p:sp>
    </p:spTree>
    <p:extLst>
      <p:ext uri="{BB962C8B-B14F-4D97-AF65-F5344CB8AC3E}">
        <p14:creationId xmlns:p14="http://schemas.microsoft.com/office/powerpoint/2010/main" val="2179734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081D6C7-E8B1-4D2A-A7F5-64236474CA68}"/>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9998613C-D9EA-4357-B0D0-2A7A525B0BD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1F72D6E-7883-49BA-B9E4-F4E45741F7D7}"/>
              </a:ext>
            </a:extLst>
          </p:cNvPr>
          <p:cNvSpPr>
            <a:spLocks noGrp="1"/>
          </p:cNvSpPr>
          <p:nvPr>
            <p:ph type="dt" sz="half" idx="10"/>
          </p:nvPr>
        </p:nvSpPr>
        <p:spPr/>
        <p:txBody>
          <a:bodyPr/>
          <a:lstStyle/>
          <a:p>
            <a:fld id="{0CA35FC8-982A-46EB-8F3F-7F1F6E694DC8}" type="datetimeFigureOut">
              <a:rPr lang="fr-FR" smtClean="0"/>
              <a:t>21/10/2025</a:t>
            </a:fld>
            <a:endParaRPr lang="fr-FR"/>
          </a:p>
        </p:txBody>
      </p:sp>
      <p:sp>
        <p:nvSpPr>
          <p:cNvPr id="5" name="Espace réservé du pied de page 4">
            <a:extLst>
              <a:ext uri="{FF2B5EF4-FFF2-40B4-BE49-F238E27FC236}">
                <a16:creationId xmlns:a16="http://schemas.microsoft.com/office/drawing/2014/main" id="{73A53865-D154-497A-858D-7DC36974457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8E00E9F-BA2C-4862-8B02-D8DCECDDE262}"/>
              </a:ext>
            </a:extLst>
          </p:cNvPr>
          <p:cNvSpPr>
            <a:spLocks noGrp="1"/>
          </p:cNvSpPr>
          <p:nvPr>
            <p:ph type="sldNum" sz="quarter" idx="12"/>
          </p:nvPr>
        </p:nvSpPr>
        <p:spPr/>
        <p:txBody>
          <a:bodyPr/>
          <a:lstStyle/>
          <a:p>
            <a:fld id="{27D8E817-D8EF-4A99-80C5-BD7DD7E41BAD}" type="slidenum">
              <a:rPr lang="fr-FR" smtClean="0"/>
              <a:t>‹N°›</a:t>
            </a:fld>
            <a:endParaRPr lang="fr-FR"/>
          </a:p>
        </p:txBody>
      </p:sp>
    </p:spTree>
    <p:extLst>
      <p:ext uri="{BB962C8B-B14F-4D97-AF65-F5344CB8AC3E}">
        <p14:creationId xmlns:p14="http://schemas.microsoft.com/office/powerpoint/2010/main" val="148259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57B05C2B-8DEB-4243-B3BD-A3819591AC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9065B2E1-44C4-4816-B158-4911E5D84A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04BF272-2E3E-44EF-B06E-FCDEE2FBA6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A35FC8-982A-46EB-8F3F-7F1F6E694DC8}" type="datetimeFigureOut">
              <a:rPr lang="fr-FR" smtClean="0"/>
              <a:t>21/10/2025</a:t>
            </a:fld>
            <a:endParaRPr lang="fr-FR"/>
          </a:p>
        </p:txBody>
      </p:sp>
      <p:sp>
        <p:nvSpPr>
          <p:cNvPr id="5" name="Espace réservé du pied de page 4">
            <a:extLst>
              <a:ext uri="{FF2B5EF4-FFF2-40B4-BE49-F238E27FC236}">
                <a16:creationId xmlns:a16="http://schemas.microsoft.com/office/drawing/2014/main" id="{955BCB07-334E-478E-9B68-860D224596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A5E084B-BBEE-407E-9683-AF2D70B97D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D8E817-D8EF-4A99-80C5-BD7DD7E41BAD}" type="slidenum">
              <a:rPr lang="fr-FR" smtClean="0"/>
              <a:t>‹N°›</a:t>
            </a:fld>
            <a:endParaRPr lang="fr-FR"/>
          </a:p>
        </p:txBody>
      </p:sp>
    </p:spTree>
    <p:extLst>
      <p:ext uri="{BB962C8B-B14F-4D97-AF65-F5344CB8AC3E}">
        <p14:creationId xmlns:p14="http://schemas.microsoft.com/office/powerpoint/2010/main" val="37811970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29A3632D-FE35-4ABB-BB18-133D76344089}"/>
              </a:ext>
            </a:extLst>
          </p:cNvPr>
          <p:cNvSpPr txBox="1"/>
          <p:nvPr/>
        </p:nvSpPr>
        <p:spPr>
          <a:xfrm>
            <a:off x="2373332" y="669206"/>
            <a:ext cx="7623424" cy="2759794"/>
          </a:xfrm>
          <a:prstGeom prst="rect">
            <a:avLst/>
          </a:prstGeom>
          <a:noFill/>
        </p:spPr>
        <p:txBody>
          <a:bodyPr wrap="square">
            <a:spAutoFit/>
          </a:bodyPr>
          <a:lstStyle/>
          <a:p>
            <a:pPr algn="ctr">
              <a:lnSpc>
                <a:spcPct val="107000"/>
              </a:lnSpc>
              <a:spcAft>
                <a:spcPts val="800"/>
              </a:spcAft>
            </a:pPr>
            <a:r>
              <a:rPr lang="fr-FR" sz="5400" b="1" dirty="0">
                <a:solidFill>
                  <a:srgbClr val="002060"/>
                </a:solidFill>
                <a:effectLst/>
                <a:latin typeface="Comic Sans MS" panose="030F0702030302020204" pitchFamily="66" charset="0"/>
                <a:ea typeface="Calibri" panose="020F0502020204030204" pitchFamily="34" charset="0"/>
                <a:cs typeface="Calibri" panose="020F0502020204030204" pitchFamily="34" charset="0"/>
              </a:rPr>
              <a:t>CONDUITE A TENIR DEVANT UN ABDOMEN AIGU</a:t>
            </a:r>
            <a:endParaRPr lang="fr-FR" sz="2000" dirty="0">
              <a:solidFill>
                <a:srgbClr val="002060"/>
              </a:solidFill>
              <a:effectLst/>
              <a:latin typeface="Comic Sans MS" panose="030F0702030302020204" pitchFamily="66" charset="0"/>
              <a:ea typeface="Calibri" panose="020F0502020204030204" pitchFamily="34" charset="0"/>
              <a:cs typeface="Arial" panose="020B0604020202020204" pitchFamily="34" charset="0"/>
            </a:endParaRPr>
          </a:p>
        </p:txBody>
      </p:sp>
      <p:sp>
        <p:nvSpPr>
          <p:cNvPr id="7" name="ZoneTexte 6">
            <a:extLst>
              <a:ext uri="{FF2B5EF4-FFF2-40B4-BE49-F238E27FC236}">
                <a16:creationId xmlns:a16="http://schemas.microsoft.com/office/drawing/2014/main" id="{9AF230A5-13D1-4E4B-A9FE-A05225D86E3D}"/>
              </a:ext>
            </a:extLst>
          </p:cNvPr>
          <p:cNvSpPr txBox="1"/>
          <p:nvPr/>
        </p:nvSpPr>
        <p:spPr>
          <a:xfrm>
            <a:off x="2966663" y="4585046"/>
            <a:ext cx="6097712" cy="1701107"/>
          </a:xfrm>
          <a:prstGeom prst="rect">
            <a:avLst/>
          </a:prstGeom>
          <a:noFill/>
        </p:spPr>
        <p:txBody>
          <a:bodyPr wrap="square">
            <a:spAutoFit/>
          </a:bodyPr>
          <a:lstStyle/>
          <a:p>
            <a:pPr algn="ctr"/>
            <a:r>
              <a:rPr lang="fr-FR" sz="2000" b="1" dirty="0">
                <a:solidFill>
                  <a:srgbClr val="FF0000"/>
                </a:solidFill>
                <a:effectLst/>
                <a:latin typeface="Comic Sans MS" panose="030F0702030302020204" pitchFamily="66" charset="0"/>
                <a:ea typeface="Calibri" panose="020F0502020204030204" pitchFamily="34" charset="0"/>
              </a:rPr>
              <a:t>Dr. MENOURA. R</a:t>
            </a:r>
            <a:endParaRPr lang="fr-FR" sz="1400" b="1" dirty="0">
              <a:solidFill>
                <a:srgbClr val="FF0000"/>
              </a:solidFill>
              <a:effectLst/>
              <a:latin typeface="Comic Sans MS" panose="030F0702030302020204" pitchFamily="66" charset="0"/>
              <a:ea typeface="Calibri" panose="020F0502020204030204" pitchFamily="34" charset="0"/>
            </a:endParaRPr>
          </a:p>
          <a:p>
            <a:pPr algn="ctr"/>
            <a:r>
              <a:rPr lang="fr-FR" sz="2000" b="1" dirty="0">
                <a:solidFill>
                  <a:srgbClr val="FF0000"/>
                </a:solidFill>
                <a:effectLst/>
                <a:latin typeface="Comic Sans MS" panose="030F0702030302020204" pitchFamily="66" charset="0"/>
                <a:ea typeface="Calibri" panose="020F0502020204030204" pitchFamily="34" charset="0"/>
              </a:rPr>
              <a:t>Maitre-assistant Hepato-biliopancreatique</a:t>
            </a:r>
            <a:endParaRPr lang="fr-FR" sz="1400" b="1" dirty="0">
              <a:solidFill>
                <a:srgbClr val="FF0000"/>
              </a:solidFill>
              <a:effectLst/>
              <a:latin typeface="Comic Sans MS" panose="030F0702030302020204" pitchFamily="66" charset="0"/>
              <a:ea typeface="Calibri" panose="020F0502020204030204" pitchFamily="34" charset="0"/>
            </a:endParaRPr>
          </a:p>
          <a:p>
            <a:pPr algn="ctr"/>
            <a:r>
              <a:rPr lang="fr-FR" sz="2000" b="1" dirty="0">
                <a:solidFill>
                  <a:srgbClr val="FF0000"/>
                </a:solidFill>
                <a:effectLst/>
                <a:latin typeface="Comic Sans MS" panose="030F0702030302020204" pitchFamily="66" charset="0"/>
                <a:ea typeface="Calibri" panose="020F0502020204030204" pitchFamily="34" charset="0"/>
              </a:rPr>
              <a:t> Service de chirurgie digestive et endocrinienne</a:t>
            </a:r>
            <a:endParaRPr lang="fr-FR" sz="1400" b="1" dirty="0">
              <a:solidFill>
                <a:srgbClr val="FF0000"/>
              </a:solidFill>
              <a:effectLst/>
              <a:latin typeface="Comic Sans MS" panose="030F0702030302020204" pitchFamily="66" charset="0"/>
              <a:ea typeface="Calibri" panose="020F0502020204030204" pitchFamily="34" charset="0"/>
            </a:endParaRPr>
          </a:p>
          <a:p>
            <a:pPr algn="ctr"/>
            <a:r>
              <a:rPr lang="fr-FR" sz="2000" b="1" dirty="0">
                <a:solidFill>
                  <a:srgbClr val="FF0000"/>
                </a:solidFill>
                <a:effectLst/>
                <a:latin typeface="Comic Sans MS" panose="030F0702030302020204" pitchFamily="66" charset="0"/>
                <a:ea typeface="Calibri" panose="020F0502020204030204" pitchFamily="34" charset="0"/>
              </a:rPr>
              <a:t>E.H. DIDOUCHE MOURAD</a:t>
            </a:r>
            <a:endParaRPr lang="fr-FR" sz="1400" b="1" dirty="0">
              <a:solidFill>
                <a:srgbClr val="FF0000"/>
              </a:solidFill>
              <a:effectLst/>
              <a:latin typeface="Comic Sans MS" panose="030F0702030302020204" pitchFamily="66" charset="0"/>
              <a:ea typeface="Calibri" panose="020F0502020204030204" pitchFamily="34" charset="0"/>
            </a:endParaRPr>
          </a:p>
          <a:p>
            <a:pPr algn="ctr">
              <a:lnSpc>
                <a:spcPct val="107000"/>
              </a:lnSpc>
              <a:spcAft>
                <a:spcPts val="800"/>
              </a:spcAft>
            </a:pPr>
            <a:r>
              <a:rPr lang="fr-FR" sz="2400" b="1" dirty="0">
                <a:solidFill>
                  <a:srgbClr val="FF0000"/>
                </a:solidFill>
                <a:effectLst/>
                <a:latin typeface="Comic Sans MS" panose="030F0702030302020204" pitchFamily="66" charset="0"/>
                <a:ea typeface="Calibri" panose="020F0502020204030204" pitchFamily="34" charset="0"/>
                <a:cs typeface="Arial" panose="020B0604020202020204" pitchFamily="34" charset="0"/>
              </a:rPr>
              <a:t>CONSTANTINE 2025/2026</a:t>
            </a:r>
            <a:endParaRPr lang="fr-FR" sz="1200" b="1" dirty="0">
              <a:solidFill>
                <a:srgbClr val="FF0000"/>
              </a:solidFill>
              <a:effectLst/>
              <a:latin typeface="Comic Sans MS" panose="030F0702030302020204" pitchFamily="66" charset="0"/>
              <a:ea typeface="Calibri" panose="020F0502020204030204" pitchFamily="34" charset="0"/>
              <a:cs typeface="Arial" panose="020B0604020202020204" pitchFamily="34" charset="0"/>
            </a:endParaRPr>
          </a:p>
        </p:txBody>
      </p:sp>
      <p:pic>
        <p:nvPicPr>
          <p:cNvPr id="8196" name="Picture 4" descr="EHDM Chirurgie Générale | Constantine">
            <a:extLst>
              <a:ext uri="{FF2B5EF4-FFF2-40B4-BE49-F238E27FC236}">
                <a16:creationId xmlns:a16="http://schemas.microsoft.com/office/drawing/2014/main" id="{2490E44A-2D74-4876-B4D4-EF5259ABA4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886" y="323429"/>
            <a:ext cx="1459680" cy="1479317"/>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Logo médical du chirurgien, Logos Y compris : docteur et chirurgien - Envato">
            <a:extLst>
              <a:ext uri="{FF2B5EF4-FFF2-40B4-BE49-F238E27FC236}">
                <a16:creationId xmlns:a16="http://schemas.microsoft.com/office/drawing/2014/main" id="{416D34F6-00C4-4C28-B44A-E0F5D1331B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72773" y="4325420"/>
            <a:ext cx="2568539" cy="2075584"/>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4508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DE3F2D6B-B570-4A5C-96AE-224F5D79AF82}"/>
              </a:ext>
            </a:extLst>
          </p:cNvPr>
          <p:cNvSpPr txBox="1"/>
          <p:nvPr/>
        </p:nvSpPr>
        <p:spPr>
          <a:xfrm>
            <a:off x="1602767" y="2017841"/>
            <a:ext cx="8671389" cy="2367956"/>
          </a:xfrm>
          <a:prstGeom prst="rect">
            <a:avLst/>
          </a:prstGeom>
          <a:noFill/>
        </p:spPr>
        <p:txBody>
          <a:bodyPr wrap="square">
            <a:spAutoFit/>
          </a:bodyPr>
          <a:lstStyle/>
          <a:p>
            <a:pPr>
              <a:lnSpc>
                <a:spcPct val="107000"/>
              </a:lnSpc>
              <a:spcAft>
                <a:spcPts val="800"/>
              </a:spcAft>
            </a:pPr>
            <a:r>
              <a:rPr lang="fr-FR" sz="1800" dirty="0">
                <a:effectLst/>
                <a:latin typeface="Calibri" panose="020F0502020204030204" pitchFamily="34" charset="0"/>
                <a:ea typeface="Calibri" panose="020F0502020204030204" pitchFamily="34" charset="0"/>
                <a:cs typeface="Arial" panose="020B0604020202020204" pitchFamily="34" charset="0"/>
              </a:rPr>
              <a:t> </a:t>
            </a:r>
          </a:p>
          <a:p>
            <a:pPr marL="342900" indent="-342900">
              <a:lnSpc>
                <a:spcPct val="107000"/>
              </a:lnSpc>
              <a:spcAft>
                <a:spcPts val="800"/>
              </a:spcAft>
              <a:buFont typeface="Wingdings" panose="05000000000000000000" pitchFamily="2" charset="2"/>
              <a:buChar char="q"/>
            </a:pPr>
            <a:r>
              <a:rPr lang="fr-FR" sz="2400" b="1" dirty="0">
                <a:effectLst/>
                <a:latin typeface="Comic Sans MS" panose="030F0702030302020204" pitchFamily="66" charset="0"/>
                <a:ea typeface="Calibri" panose="020F0502020204030204" pitchFamily="34" charset="0"/>
                <a:cs typeface="Arial" panose="020B0604020202020204" pitchFamily="34" charset="0"/>
              </a:rPr>
              <a:t>Confirmer la réalité de l’abdomen aigu </a:t>
            </a:r>
          </a:p>
          <a:p>
            <a:pPr marL="342900" indent="-342900">
              <a:lnSpc>
                <a:spcPct val="107000"/>
              </a:lnSpc>
              <a:spcAft>
                <a:spcPts val="800"/>
              </a:spcAft>
              <a:buFont typeface="Wingdings" panose="05000000000000000000" pitchFamily="2" charset="2"/>
              <a:buChar char="q"/>
            </a:pPr>
            <a:r>
              <a:rPr lang="fr-FR" sz="2400" b="1" dirty="0">
                <a:effectLst/>
                <a:latin typeface="Comic Sans MS" panose="030F0702030302020204" pitchFamily="66" charset="0"/>
                <a:ea typeface="Calibri" panose="020F0502020204030204" pitchFamily="34" charset="0"/>
                <a:cs typeface="Arial" panose="020B0604020202020204" pitchFamily="34" charset="0"/>
              </a:rPr>
              <a:t>Identifier le mécanisme (péritonéal, occlusif, etc.) </a:t>
            </a:r>
          </a:p>
          <a:p>
            <a:pPr marL="342900" indent="-342900">
              <a:lnSpc>
                <a:spcPct val="107000"/>
              </a:lnSpc>
              <a:spcAft>
                <a:spcPts val="800"/>
              </a:spcAft>
              <a:buFont typeface="Wingdings" panose="05000000000000000000" pitchFamily="2" charset="2"/>
              <a:buChar char="q"/>
            </a:pPr>
            <a:r>
              <a:rPr lang="fr-FR" sz="2400" b="1" dirty="0">
                <a:effectLst/>
                <a:latin typeface="Comic Sans MS" panose="030F0702030302020204" pitchFamily="66" charset="0"/>
                <a:ea typeface="Calibri" panose="020F0502020204030204" pitchFamily="34" charset="0"/>
                <a:cs typeface="Arial" panose="020B0604020202020204" pitchFamily="34" charset="0"/>
              </a:rPr>
              <a:t>Évaluer la gravité et le pronostic vital</a:t>
            </a:r>
          </a:p>
          <a:p>
            <a:pPr marL="342900" indent="-342900">
              <a:lnSpc>
                <a:spcPct val="107000"/>
              </a:lnSpc>
              <a:spcAft>
                <a:spcPts val="800"/>
              </a:spcAft>
              <a:buFont typeface="Wingdings" panose="05000000000000000000" pitchFamily="2" charset="2"/>
              <a:buChar char="q"/>
            </a:pPr>
            <a:r>
              <a:rPr lang="fr-FR" sz="2400" b="1" dirty="0">
                <a:effectLst/>
                <a:latin typeface="Comic Sans MS" panose="030F0702030302020204" pitchFamily="66" charset="0"/>
                <a:ea typeface="Calibri" panose="020F0502020204030204" pitchFamily="34" charset="0"/>
                <a:cs typeface="Arial" panose="020B0604020202020204" pitchFamily="34" charset="0"/>
              </a:rPr>
              <a:t>Décider d’une orientation médicale ou chirurgicale</a:t>
            </a:r>
          </a:p>
        </p:txBody>
      </p:sp>
      <p:sp>
        <p:nvSpPr>
          <p:cNvPr id="7" name="ZoneTexte 6">
            <a:extLst>
              <a:ext uri="{FF2B5EF4-FFF2-40B4-BE49-F238E27FC236}">
                <a16:creationId xmlns:a16="http://schemas.microsoft.com/office/drawing/2014/main" id="{EF130795-5598-46F2-89BC-ED491E929422}"/>
              </a:ext>
            </a:extLst>
          </p:cNvPr>
          <p:cNvSpPr txBox="1"/>
          <p:nvPr/>
        </p:nvSpPr>
        <p:spPr>
          <a:xfrm>
            <a:off x="911832" y="1158138"/>
            <a:ext cx="6097712" cy="471155"/>
          </a:xfrm>
          <a:prstGeom prst="rect">
            <a:avLst/>
          </a:prstGeom>
          <a:noFill/>
        </p:spPr>
        <p:txBody>
          <a:bodyPr wrap="square">
            <a:spAutoFit/>
          </a:bodyPr>
          <a:lstStyle/>
          <a:p>
            <a:pPr>
              <a:lnSpc>
                <a:spcPct val="107000"/>
              </a:lnSpc>
              <a:spcAft>
                <a:spcPts val="800"/>
              </a:spcAft>
            </a:pPr>
            <a:r>
              <a:rPr lang="fr-FR" sz="2400" b="1" dirty="0">
                <a:solidFill>
                  <a:srgbClr val="FF0000"/>
                </a:solidFill>
                <a:effectLst/>
                <a:latin typeface="Comic Sans MS" panose="030F0702030302020204" pitchFamily="66" charset="0"/>
                <a:ea typeface="Calibri" panose="020F0502020204030204" pitchFamily="34" charset="0"/>
                <a:cs typeface="Arial" panose="020B0604020202020204" pitchFamily="34" charset="0"/>
              </a:rPr>
              <a:t>OBJECTIFS DE LA PRISE EN CHARGE</a:t>
            </a:r>
          </a:p>
        </p:txBody>
      </p:sp>
      <p:pic>
        <p:nvPicPr>
          <p:cNvPr id="1026" name="Picture 2" descr="Cible Stock Illustrations, Vecteurs, &amp; Clipart – (561,463 ...">
            <a:extLst>
              <a:ext uri="{FF2B5EF4-FFF2-40B4-BE49-F238E27FC236}">
                <a16:creationId xmlns:a16="http://schemas.microsoft.com/office/drawing/2014/main" id="{24FE4899-0B74-42E6-9627-0DC20EBB38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159" y="4995012"/>
            <a:ext cx="1600200" cy="14097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8289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3E0020-443C-4E46-B706-F54072037DB9}"/>
              </a:ext>
            </a:extLst>
          </p:cNvPr>
          <p:cNvSpPr>
            <a:spLocks noGrp="1"/>
          </p:cNvSpPr>
          <p:nvPr>
            <p:ph type="title"/>
          </p:nvPr>
        </p:nvSpPr>
        <p:spPr>
          <a:xfrm>
            <a:off x="1064232" y="815974"/>
            <a:ext cx="4452991" cy="1325563"/>
          </a:xfrm>
        </p:spPr>
        <p:txBody>
          <a:bodyPr/>
          <a:lstStyle/>
          <a:p>
            <a:r>
              <a:rPr lang="fr-FR" sz="4400" b="1" dirty="0">
                <a:solidFill>
                  <a:srgbClr val="FF0000"/>
                </a:solidFill>
                <a:effectLst/>
                <a:latin typeface="Comic Sans MS" panose="030F0702030302020204" pitchFamily="66" charset="0"/>
                <a:ea typeface="Times New Roman" panose="02020603050405020304" pitchFamily="18" charset="0"/>
                <a:cs typeface="Arial" panose="020B0604020202020204" pitchFamily="34" charset="0"/>
              </a:rPr>
              <a:t>I. Définition</a:t>
            </a:r>
            <a:br>
              <a:rPr lang="fr-FR" sz="4400" dirty="0">
                <a:effectLst/>
                <a:latin typeface="Calibri" panose="020F0502020204030204" pitchFamily="34" charset="0"/>
                <a:ea typeface="Calibri" panose="020F0502020204030204" pitchFamily="34" charset="0"/>
                <a:cs typeface="Arial" panose="020B0604020202020204" pitchFamily="34" charset="0"/>
              </a:rPr>
            </a:br>
            <a:endParaRPr lang="fr-FR" dirty="0"/>
          </a:p>
        </p:txBody>
      </p:sp>
      <p:sp>
        <p:nvSpPr>
          <p:cNvPr id="3" name="Espace réservé du contenu 2">
            <a:extLst>
              <a:ext uri="{FF2B5EF4-FFF2-40B4-BE49-F238E27FC236}">
                <a16:creationId xmlns:a16="http://schemas.microsoft.com/office/drawing/2014/main" id="{D4952715-21EF-4378-AFB1-5AFD4827F52D}"/>
              </a:ext>
            </a:extLst>
          </p:cNvPr>
          <p:cNvSpPr>
            <a:spLocks noGrp="1"/>
          </p:cNvSpPr>
          <p:nvPr>
            <p:ph idx="1"/>
          </p:nvPr>
        </p:nvSpPr>
        <p:spPr>
          <a:xfrm>
            <a:off x="1290262" y="2223730"/>
            <a:ext cx="9764731" cy="3242121"/>
          </a:xfrm>
        </p:spPr>
        <p:txBody>
          <a:bodyPr>
            <a:normAutofit/>
          </a:bodyPr>
          <a:lstStyle/>
          <a:p>
            <a:pPr>
              <a:lnSpc>
                <a:spcPct val="107000"/>
              </a:lnSpc>
              <a:spcAft>
                <a:spcPts val="800"/>
              </a:spcAft>
            </a:pPr>
            <a:r>
              <a:rPr lang="fr-FR" sz="3100" dirty="0">
                <a:effectLst/>
                <a:latin typeface="Comic Sans MS" panose="030F0702030302020204" pitchFamily="66" charset="0"/>
                <a:ea typeface="Times New Roman" panose="02020603050405020304" pitchFamily="18" charset="0"/>
                <a:cs typeface="Arial" panose="020B0604020202020204" pitchFamily="34" charset="0"/>
              </a:rPr>
              <a:t>L’</a:t>
            </a:r>
            <a:r>
              <a:rPr lang="fr-FR" sz="3100" b="1" dirty="0">
                <a:effectLst/>
                <a:latin typeface="Comic Sans MS" panose="030F0702030302020204" pitchFamily="66" charset="0"/>
                <a:ea typeface="Times New Roman" panose="02020603050405020304" pitchFamily="18" charset="0"/>
                <a:cs typeface="Arial" panose="020B0604020202020204" pitchFamily="34" charset="0"/>
              </a:rPr>
              <a:t>abdomen aigu</a:t>
            </a:r>
            <a:r>
              <a:rPr lang="fr-FR" sz="3100" dirty="0">
                <a:effectLst/>
                <a:latin typeface="Comic Sans MS" panose="030F0702030302020204" pitchFamily="66" charset="0"/>
                <a:ea typeface="Times New Roman" panose="02020603050405020304" pitchFamily="18" charset="0"/>
                <a:cs typeface="Arial" panose="020B0604020202020204" pitchFamily="34" charset="0"/>
              </a:rPr>
              <a:t> est une </a:t>
            </a:r>
            <a:r>
              <a:rPr lang="fr-FR" sz="3100" b="1" dirty="0">
                <a:effectLst/>
                <a:latin typeface="Comic Sans MS" panose="030F0702030302020204" pitchFamily="66" charset="0"/>
                <a:ea typeface="Times New Roman" panose="02020603050405020304" pitchFamily="18" charset="0"/>
                <a:cs typeface="Arial" panose="020B0604020202020204" pitchFamily="34" charset="0"/>
              </a:rPr>
              <a:t>urgence médico-chirurgicale</a:t>
            </a:r>
            <a:r>
              <a:rPr lang="fr-FR" sz="3100" dirty="0">
                <a:effectLst/>
                <a:latin typeface="Comic Sans MS" panose="030F0702030302020204" pitchFamily="66" charset="0"/>
                <a:ea typeface="Times New Roman" panose="02020603050405020304" pitchFamily="18" charset="0"/>
                <a:cs typeface="Arial" panose="020B0604020202020204" pitchFamily="34" charset="0"/>
              </a:rPr>
              <a:t> caractérisée par une </a:t>
            </a:r>
            <a:r>
              <a:rPr lang="fr-FR" sz="3100" b="1" dirty="0">
                <a:effectLst/>
                <a:latin typeface="Comic Sans MS" panose="030F0702030302020204" pitchFamily="66" charset="0"/>
                <a:ea typeface="Times New Roman" panose="02020603050405020304" pitchFamily="18" charset="0"/>
                <a:cs typeface="Arial" panose="020B0604020202020204" pitchFamily="34" charset="0"/>
              </a:rPr>
              <a:t>douleur abdominale d’apparition brutale</a:t>
            </a:r>
            <a:r>
              <a:rPr lang="fr-FR" sz="3100" dirty="0">
                <a:effectLst/>
                <a:latin typeface="Comic Sans MS" panose="030F0702030302020204" pitchFamily="66" charset="0"/>
                <a:ea typeface="Times New Roman" panose="02020603050405020304" pitchFamily="18" charset="0"/>
                <a:cs typeface="Arial" panose="020B0604020202020204" pitchFamily="34" charset="0"/>
              </a:rPr>
              <a:t>, souvent associée à des </a:t>
            </a:r>
            <a:r>
              <a:rPr lang="fr-FR" sz="3100" b="1" dirty="0">
                <a:effectLst/>
                <a:latin typeface="Comic Sans MS" panose="030F0702030302020204" pitchFamily="66" charset="0"/>
                <a:ea typeface="Times New Roman" panose="02020603050405020304" pitchFamily="18" charset="0"/>
                <a:cs typeface="Arial" panose="020B0604020202020204" pitchFamily="34" charset="0"/>
              </a:rPr>
              <a:t>signes digestifs, généraux ou de choc</a:t>
            </a:r>
            <a:r>
              <a:rPr lang="fr-FR" sz="3100" dirty="0">
                <a:effectLst/>
                <a:latin typeface="Comic Sans MS" panose="030F0702030302020204" pitchFamily="66" charset="0"/>
                <a:ea typeface="Times New Roman" panose="02020603050405020304" pitchFamily="18" charset="0"/>
                <a:cs typeface="Arial" panose="020B0604020202020204" pitchFamily="34" charset="0"/>
              </a:rPr>
              <a:t>, nécessitant une </a:t>
            </a:r>
            <a:r>
              <a:rPr lang="fr-FR" sz="3100" b="1" dirty="0">
                <a:effectLst/>
                <a:latin typeface="Comic Sans MS" panose="030F0702030302020204" pitchFamily="66" charset="0"/>
                <a:ea typeface="Times New Roman" panose="02020603050405020304" pitchFamily="18" charset="0"/>
                <a:cs typeface="Arial" panose="020B0604020202020204" pitchFamily="34" charset="0"/>
              </a:rPr>
              <a:t>prise en charge rapide</a:t>
            </a:r>
            <a:r>
              <a:rPr lang="fr-FR" sz="3100" dirty="0">
                <a:effectLst/>
                <a:latin typeface="Comic Sans MS" panose="030F0702030302020204" pitchFamily="66" charset="0"/>
                <a:ea typeface="Times New Roman" panose="02020603050405020304" pitchFamily="18" charset="0"/>
                <a:cs typeface="Arial" panose="020B0604020202020204" pitchFamily="34" charset="0"/>
              </a:rPr>
              <a:t> pour identifier une cause </a:t>
            </a:r>
            <a:r>
              <a:rPr lang="fr-FR" sz="3100" b="1" dirty="0">
                <a:effectLst/>
                <a:latin typeface="Comic Sans MS" panose="030F0702030302020204" pitchFamily="66" charset="0"/>
                <a:ea typeface="Times New Roman" panose="02020603050405020304" pitchFamily="18" charset="0"/>
                <a:cs typeface="Arial" panose="020B0604020202020204" pitchFamily="34" charset="0"/>
              </a:rPr>
              <a:t>médicale ou chirurgicale</a:t>
            </a:r>
            <a:r>
              <a:rPr lang="fr-FR" sz="3100" dirty="0">
                <a:effectLst/>
                <a:latin typeface="Comic Sans MS" panose="030F0702030302020204" pitchFamily="66" charset="0"/>
                <a:ea typeface="Times New Roman" panose="02020603050405020304" pitchFamily="18" charset="0"/>
                <a:cs typeface="Arial" panose="020B0604020202020204" pitchFamily="34" charset="0"/>
              </a:rPr>
              <a:t>.</a:t>
            </a:r>
            <a:endParaRPr lang="fr-FR" sz="3100" dirty="0">
              <a:effectLst/>
              <a:latin typeface="Comic Sans MS" panose="030F0702030302020204" pitchFamily="66" charset="0"/>
              <a:ea typeface="Calibri" panose="020F0502020204030204" pitchFamily="34"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1343078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E17DFA-C7AD-4ACC-AE18-4ED751F026DB}"/>
              </a:ext>
            </a:extLst>
          </p:cNvPr>
          <p:cNvSpPr>
            <a:spLocks noGrp="1"/>
          </p:cNvSpPr>
          <p:nvPr>
            <p:ph type="title"/>
          </p:nvPr>
        </p:nvSpPr>
        <p:spPr/>
        <p:txBody>
          <a:bodyPr>
            <a:normAutofit fontScale="90000"/>
          </a:bodyPr>
          <a:lstStyle/>
          <a:p>
            <a:r>
              <a:rPr lang="fr-FR" sz="3600" b="1" dirty="0">
                <a:solidFill>
                  <a:srgbClr val="FF0000"/>
                </a:solidFill>
                <a:effectLst/>
                <a:latin typeface="Times New Roman" panose="02020603050405020304" pitchFamily="18" charset="0"/>
                <a:ea typeface="Times New Roman" panose="02020603050405020304" pitchFamily="18" charset="0"/>
                <a:cs typeface="Arial" panose="020B0604020202020204" pitchFamily="34" charset="0"/>
              </a:rPr>
              <a:t>III. Démarche diagnostique</a:t>
            </a:r>
            <a:br>
              <a:rPr lang="fr-FR" sz="3600" b="1" dirty="0">
                <a:solidFill>
                  <a:srgbClr val="FF0000"/>
                </a:solidFill>
                <a:effectLst/>
                <a:latin typeface="Times New Roman" panose="02020603050405020304" pitchFamily="18" charset="0"/>
                <a:ea typeface="Times New Roman" panose="02020603050405020304" pitchFamily="18" charset="0"/>
                <a:cs typeface="Arial" panose="020B0604020202020204" pitchFamily="34" charset="0"/>
              </a:rPr>
            </a:br>
            <a:br>
              <a:rPr lang="fr-FR" sz="1800" dirty="0">
                <a:effectLst/>
                <a:latin typeface="Calibri" panose="020F0502020204030204" pitchFamily="34" charset="0"/>
                <a:ea typeface="Calibri" panose="020F0502020204030204" pitchFamily="34" charset="0"/>
                <a:cs typeface="Arial" panose="020B0604020202020204" pitchFamily="34" charset="0"/>
              </a:rPr>
            </a:br>
            <a:r>
              <a:rPr lang="fr-FR" sz="4000" b="1" dirty="0">
                <a:solidFill>
                  <a:srgbClr val="0070C0"/>
                </a:solidFill>
                <a:effectLst/>
                <a:latin typeface="Bahnschrift SemiBold" panose="020B0502040204020203" pitchFamily="34" charset="0"/>
                <a:ea typeface="Times New Roman" panose="02020603050405020304" pitchFamily="18" charset="0"/>
                <a:cs typeface="Arial" panose="020B0604020202020204" pitchFamily="34" charset="0"/>
              </a:rPr>
              <a:t>1️⃣    </a:t>
            </a:r>
            <a:r>
              <a:rPr lang="fr-FR" sz="4400" b="1" dirty="0">
                <a:solidFill>
                  <a:srgbClr val="0070C0"/>
                </a:solidFill>
                <a:effectLst/>
                <a:latin typeface="Bahnschrift SemiBold" panose="020B0502040204020203" pitchFamily="34" charset="0"/>
                <a:ea typeface="Times New Roman" panose="02020603050405020304" pitchFamily="18" charset="0"/>
                <a:cs typeface="Arial" panose="020B0604020202020204" pitchFamily="34" charset="0"/>
              </a:rPr>
              <a:t>Interrogatoire (rapide mais précis)</a:t>
            </a:r>
            <a:br>
              <a:rPr lang="fr-FR" sz="3600" dirty="0">
                <a:effectLst/>
                <a:latin typeface="Bahnschrift SemiBold" panose="020B0502040204020203" pitchFamily="34" charset="0"/>
                <a:ea typeface="Calibri" panose="020F0502020204030204" pitchFamily="34" charset="0"/>
                <a:cs typeface="Arial" panose="020B0604020202020204" pitchFamily="34" charset="0"/>
              </a:rPr>
            </a:br>
            <a:endParaRPr lang="fr-FR" dirty="0"/>
          </a:p>
        </p:txBody>
      </p:sp>
      <p:sp>
        <p:nvSpPr>
          <p:cNvPr id="3" name="Espace réservé du contenu 2">
            <a:extLst>
              <a:ext uri="{FF2B5EF4-FFF2-40B4-BE49-F238E27FC236}">
                <a16:creationId xmlns:a16="http://schemas.microsoft.com/office/drawing/2014/main" id="{868713F7-03DA-44D1-B82D-088C7B074DF5}"/>
              </a:ext>
            </a:extLst>
          </p:cNvPr>
          <p:cNvSpPr>
            <a:spLocks noGrp="1"/>
          </p:cNvSpPr>
          <p:nvPr>
            <p:ph idx="1"/>
          </p:nvPr>
        </p:nvSpPr>
        <p:spPr>
          <a:xfrm>
            <a:off x="725185" y="1880171"/>
            <a:ext cx="10515600" cy="4810499"/>
          </a:xfrm>
        </p:spPr>
        <p:txBody>
          <a:bodyPr>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fr-FR" sz="3200" b="1" dirty="0">
                <a:solidFill>
                  <a:srgbClr val="0070C0"/>
                </a:solidFill>
                <a:effectLst/>
                <a:latin typeface="Cambria Math" panose="02040503050406030204" pitchFamily="18" charset="0"/>
                <a:ea typeface="Cambria Math" panose="02040503050406030204" pitchFamily="18" charset="0"/>
                <a:cs typeface="Arial" panose="020B0604020202020204" pitchFamily="34" charset="0"/>
              </a:rPr>
              <a:t>Début et évolution</a:t>
            </a:r>
            <a:r>
              <a:rPr lang="fr-FR" sz="3200" dirty="0">
                <a:solidFill>
                  <a:srgbClr val="0070C0"/>
                </a:solidFill>
                <a:effectLst/>
                <a:latin typeface="Cambria Math" panose="02040503050406030204" pitchFamily="18" charset="0"/>
                <a:ea typeface="Cambria Math" panose="02040503050406030204" pitchFamily="18" charset="0"/>
                <a:cs typeface="Arial" panose="020B0604020202020204" pitchFamily="34" charset="0"/>
              </a:rPr>
              <a:t> </a:t>
            </a:r>
            <a:r>
              <a:rPr lang="fr-FR" sz="3200" dirty="0">
                <a:effectLst/>
                <a:latin typeface="Cambria Math" panose="02040503050406030204" pitchFamily="18" charset="0"/>
                <a:ea typeface="Cambria Math" panose="02040503050406030204" pitchFamily="18" charset="0"/>
                <a:cs typeface="Arial" panose="020B0604020202020204" pitchFamily="34" charset="0"/>
              </a:rPr>
              <a:t>: brutal, progressif, intermittent.</a:t>
            </a:r>
            <a:endParaRPr lang="fr-FR" sz="2400" dirty="0">
              <a:effectLst/>
              <a:latin typeface="Cambria Math" panose="02040503050406030204" pitchFamily="18" charset="0"/>
              <a:ea typeface="Cambria Math" panose="02040503050406030204" pitchFamily="18"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200" b="1" dirty="0">
                <a:solidFill>
                  <a:srgbClr val="0070C0"/>
                </a:solidFill>
                <a:effectLst/>
                <a:latin typeface="Cambria Math" panose="02040503050406030204" pitchFamily="18" charset="0"/>
                <a:ea typeface="Cambria Math" panose="02040503050406030204" pitchFamily="18" charset="0"/>
                <a:cs typeface="Arial" panose="020B0604020202020204" pitchFamily="34" charset="0"/>
              </a:rPr>
              <a:t>Siège et irradiation</a:t>
            </a:r>
            <a:r>
              <a:rPr lang="fr-FR" sz="3200" dirty="0">
                <a:solidFill>
                  <a:srgbClr val="0070C0"/>
                </a:solidFill>
                <a:effectLst/>
                <a:latin typeface="Cambria Math" panose="02040503050406030204" pitchFamily="18" charset="0"/>
                <a:ea typeface="Cambria Math" panose="02040503050406030204" pitchFamily="18" charset="0"/>
                <a:cs typeface="Arial" panose="020B0604020202020204" pitchFamily="34" charset="0"/>
              </a:rPr>
              <a:t> </a:t>
            </a:r>
            <a:r>
              <a:rPr lang="fr-FR" sz="3200" dirty="0">
                <a:effectLst/>
                <a:latin typeface="Cambria Math" panose="02040503050406030204" pitchFamily="18" charset="0"/>
                <a:ea typeface="Cambria Math" panose="02040503050406030204" pitchFamily="18" charset="0"/>
                <a:cs typeface="Arial" panose="020B0604020202020204" pitchFamily="34" charset="0"/>
              </a:rPr>
              <a:t>: épigastrique (pancréas), FID (appendicite), FIG (sigmoïdite), diffuse (péritonite).</a:t>
            </a:r>
            <a:endParaRPr lang="fr-FR" sz="2400" dirty="0">
              <a:effectLst/>
              <a:latin typeface="Cambria Math" panose="02040503050406030204" pitchFamily="18" charset="0"/>
              <a:ea typeface="Cambria Math" panose="02040503050406030204" pitchFamily="18"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200" b="1" dirty="0">
                <a:solidFill>
                  <a:srgbClr val="0070C0"/>
                </a:solidFill>
                <a:effectLst/>
                <a:latin typeface="Cambria Math" panose="02040503050406030204" pitchFamily="18" charset="0"/>
                <a:ea typeface="Cambria Math" panose="02040503050406030204" pitchFamily="18" charset="0"/>
                <a:cs typeface="Arial" panose="020B0604020202020204" pitchFamily="34" charset="0"/>
              </a:rPr>
              <a:t>Type de douleur</a:t>
            </a:r>
            <a:r>
              <a:rPr lang="fr-FR" sz="3200" dirty="0">
                <a:solidFill>
                  <a:srgbClr val="0070C0"/>
                </a:solidFill>
                <a:effectLst/>
                <a:latin typeface="Cambria Math" panose="02040503050406030204" pitchFamily="18" charset="0"/>
                <a:ea typeface="Cambria Math" panose="02040503050406030204" pitchFamily="18" charset="0"/>
                <a:cs typeface="Arial" panose="020B0604020202020204" pitchFamily="34" charset="0"/>
              </a:rPr>
              <a:t> </a:t>
            </a:r>
            <a:r>
              <a:rPr lang="fr-FR" sz="3200" dirty="0">
                <a:effectLst/>
                <a:latin typeface="Cambria Math" panose="02040503050406030204" pitchFamily="18" charset="0"/>
                <a:ea typeface="Cambria Math" panose="02040503050406030204" pitchFamily="18" charset="0"/>
                <a:cs typeface="Arial" panose="020B0604020202020204" pitchFamily="34" charset="0"/>
              </a:rPr>
              <a:t>:</a:t>
            </a:r>
            <a:endParaRPr lang="fr-FR" sz="2400" dirty="0">
              <a:effectLst/>
              <a:latin typeface="Cambria Math" panose="02040503050406030204" pitchFamily="18" charset="0"/>
              <a:ea typeface="Cambria Math" panose="02040503050406030204" pitchFamily="18" charset="0"/>
              <a:cs typeface="Arial" panose="020B0604020202020204" pitchFamily="34"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fr-FR" sz="3200" dirty="0" err="1">
                <a:effectLst/>
                <a:latin typeface="Cambria Math" panose="02040503050406030204" pitchFamily="18" charset="0"/>
                <a:ea typeface="Cambria Math" panose="02040503050406030204" pitchFamily="18" charset="0"/>
                <a:cs typeface="Times New Roman" panose="02020603050405020304" pitchFamily="18" charset="0"/>
              </a:rPr>
              <a:t>Crampiforme</a:t>
            </a:r>
            <a:r>
              <a:rPr lang="fr-FR" sz="3200" dirty="0">
                <a:effectLst/>
                <a:latin typeface="Cambria Math" panose="02040503050406030204" pitchFamily="18" charset="0"/>
                <a:ea typeface="Cambria Math" panose="02040503050406030204" pitchFamily="18" charset="0"/>
                <a:cs typeface="Times New Roman" panose="02020603050405020304" pitchFamily="18" charset="0"/>
              </a:rPr>
              <a:t> → occlusion.</a:t>
            </a:r>
            <a:endParaRPr lang="fr-FR" dirty="0">
              <a:effectLst/>
              <a:latin typeface="Cambria Math" panose="02040503050406030204" pitchFamily="18" charset="0"/>
              <a:ea typeface="Cambria Math" panose="020405030504060302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fr-FR" sz="3200" dirty="0">
                <a:effectLst/>
                <a:latin typeface="Cambria Math" panose="02040503050406030204" pitchFamily="18" charset="0"/>
                <a:ea typeface="Cambria Math" panose="02040503050406030204" pitchFamily="18" charset="0"/>
                <a:cs typeface="Times New Roman" panose="02020603050405020304" pitchFamily="18" charset="0"/>
              </a:rPr>
              <a:t>Continue, intense → péritonite, perforation.</a:t>
            </a:r>
            <a:endParaRPr lang="fr-FR" dirty="0">
              <a:effectLst/>
              <a:latin typeface="Cambria Math" panose="02040503050406030204" pitchFamily="18" charset="0"/>
              <a:ea typeface="Cambria Math" panose="02040503050406030204" pitchFamily="18"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fr-FR" sz="3200" dirty="0">
                <a:effectLst/>
                <a:latin typeface="Cambria Math" panose="02040503050406030204" pitchFamily="18" charset="0"/>
                <a:ea typeface="Cambria Math" panose="02040503050406030204" pitchFamily="18" charset="0"/>
                <a:cs typeface="Times New Roman" panose="02020603050405020304" pitchFamily="18" charset="0"/>
              </a:rPr>
              <a:t>En colique biliaire, néphrétique → calcul.</a:t>
            </a:r>
            <a:endParaRPr lang="fr-FR" dirty="0">
              <a:effectLst/>
              <a:latin typeface="Cambria Math" panose="02040503050406030204" pitchFamily="18" charset="0"/>
              <a:ea typeface="Cambria Math" panose="02040503050406030204" pitchFamily="18" charset="0"/>
              <a:cs typeface="Times New Roman" panose="02020603050405020304" pitchFamily="18" charset="0"/>
            </a:endParaRPr>
          </a:p>
        </p:txBody>
      </p:sp>
      <p:pic>
        <p:nvPicPr>
          <p:cNvPr id="1026" name="Picture 2" descr="médecin femme permanent dans perplexe ou interrogatoire pose. concept de se  demandant, incertitude, confus. femelle personnage avec émotif expression  geste avec question marque plus de tête 51684861 Art vectoriel chez Vecteezy">
            <a:extLst>
              <a:ext uri="{FF2B5EF4-FFF2-40B4-BE49-F238E27FC236}">
                <a16:creationId xmlns:a16="http://schemas.microsoft.com/office/drawing/2014/main" id="{9E45668F-8C58-4BD6-B20F-CE2372E220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24194" y="4040669"/>
            <a:ext cx="1809750" cy="2524125"/>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12983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72FF138-D88C-442B-B0AB-F842E86BE89B}"/>
              </a:ext>
            </a:extLst>
          </p:cNvPr>
          <p:cNvSpPr>
            <a:spLocks noGrp="1"/>
          </p:cNvSpPr>
          <p:nvPr>
            <p:ph idx="1"/>
          </p:nvPr>
        </p:nvSpPr>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fr-FR" sz="2800" b="1" dirty="0">
                <a:solidFill>
                  <a:srgbClr val="FF0000"/>
                </a:solidFill>
                <a:effectLst/>
                <a:latin typeface="Cambria Math" panose="02040503050406030204" pitchFamily="18" charset="0"/>
                <a:ea typeface="Cambria Math" panose="02040503050406030204" pitchFamily="18" charset="0"/>
                <a:cs typeface="Arial" panose="020B0604020202020204" pitchFamily="34" charset="0"/>
              </a:rPr>
              <a:t>Facteurs déclenchants ou calmants</a:t>
            </a:r>
            <a:r>
              <a:rPr lang="fr-FR" sz="2800" dirty="0">
                <a:solidFill>
                  <a:srgbClr val="FF0000"/>
                </a:solidFill>
                <a:effectLst/>
                <a:latin typeface="Cambria Math" panose="02040503050406030204" pitchFamily="18" charset="0"/>
                <a:ea typeface="Cambria Math" panose="02040503050406030204" pitchFamily="18" charset="0"/>
                <a:cs typeface="Arial" panose="020B0604020202020204" pitchFamily="34" charset="0"/>
              </a:rPr>
              <a:t> </a:t>
            </a:r>
            <a:r>
              <a:rPr lang="fr-FR" sz="2800" dirty="0">
                <a:effectLst/>
                <a:latin typeface="Cambria Math" panose="02040503050406030204" pitchFamily="18" charset="0"/>
                <a:ea typeface="Cambria Math" panose="02040503050406030204" pitchFamily="18" charset="0"/>
                <a:cs typeface="Arial" panose="020B0604020202020204" pitchFamily="34" charset="0"/>
              </a:rPr>
              <a:t>: repas, vomissements, position.</a:t>
            </a:r>
            <a:endParaRPr lang="fr-FR" sz="2000" dirty="0">
              <a:effectLst/>
              <a:latin typeface="Cambria Math" panose="02040503050406030204" pitchFamily="18" charset="0"/>
              <a:ea typeface="Cambria Math" panose="02040503050406030204" pitchFamily="18"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2800" b="1" dirty="0">
                <a:solidFill>
                  <a:srgbClr val="FF0000"/>
                </a:solidFill>
                <a:effectLst/>
                <a:latin typeface="Cambria Math" panose="02040503050406030204" pitchFamily="18" charset="0"/>
                <a:ea typeface="Cambria Math" panose="02040503050406030204" pitchFamily="18" charset="0"/>
                <a:cs typeface="Arial" panose="020B0604020202020204" pitchFamily="34" charset="0"/>
              </a:rPr>
              <a:t>Signes associés</a:t>
            </a:r>
            <a:r>
              <a:rPr lang="fr-FR" sz="2800" dirty="0">
                <a:solidFill>
                  <a:srgbClr val="FF0000"/>
                </a:solidFill>
                <a:effectLst/>
                <a:latin typeface="Cambria Math" panose="02040503050406030204" pitchFamily="18" charset="0"/>
                <a:ea typeface="Cambria Math" panose="02040503050406030204" pitchFamily="18" charset="0"/>
                <a:cs typeface="Arial" panose="020B0604020202020204" pitchFamily="34" charset="0"/>
              </a:rPr>
              <a:t> </a:t>
            </a:r>
            <a:r>
              <a:rPr lang="fr-FR" sz="2800" dirty="0">
                <a:effectLst/>
                <a:latin typeface="Cambria Math" panose="02040503050406030204" pitchFamily="18" charset="0"/>
                <a:ea typeface="Cambria Math" panose="02040503050406030204" pitchFamily="18" charset="0"/>
                <a:cs typeface="Arial" panose="020B0604020202020204" pitchFamily="34" charset="0"/>
              </a:rPr>
              <a:t>: vomissements, arrêt des gaz, fièvre, diarrhée, métrorragies, aménorrhée (femme jeune).</a:t>
            </a:r>
            <a:endParaRPr lang="fr-FR" sz="2000" dirty="0">
              <a:effectLst/>
              <a:latin typeface="Cambria Math" panose="02040503050406030204" pitchFamily="18" charset="0"/>
              <a:ea typeface="Cambria Math" panose="02040503050406030204" pitchFamily="18" charset="0"/>
              <a:cs typeface="Arial" panose="020B0604020202020204" pitchFamily="34" charset="0"/>
            </a:endParaRPr>
          </a:p>
          <a:p>
            <a:r>
              <a:rPr lang="fr-FR" sz="2800" b="1" dirty="0">
                <a:solidFill>
                  <a:srgbClr val="FF0000"/>
                </a:solidFill>
                <a:effectLst/>
                <a:latin typeface="Cambria Math" panose="02040503050406030204" pitchFamily="18" charset="0"/>
                <a:ea typeface="Cambria Math" panose="02040503050406030204" pitchFamily="18" charset="0"/>
              </a:rPr>
              <a:t>ATCD</a:t>
            </a:r>
            <a:r>
              <a:rPr lang="fr-FR" sz="2800" dirty="0">
                <a:effectLst/>
                <a:latin typeface="Cambria Math" panose="02040503050406030204" pitchFamily="18" charset="0"/>
                <a:ea typeface="Cambria Math" panose="02040503050406030204" pitchFamily="18" charset="0"/>
              </a:rPr>
              <a:t> : chirurgicaux (adhérences ?), ulcère, lithiase, pathologie gynéco, cardiaque</a:t>
            </a:r>
            <a:endParaRPr lang="fr-FR" sz="4800" dirty="0">
              <a:latin typeface="Cambria Math" panose="02040503050406030204" pitchFamily="18" charset="0"/>
              <a:ea typeface="Cambria Math" panose="02040503050406030204" pitchFamily="18" charset="0"/>
            </a:endParaRPr>
          </a:p>
          <a:p>
            <a:endParaRPr lang="fr-FR" dirty="0"/>
          </a:p>
        </p:txBody>
      </p:sp>
    </p:spTree>
    <p:extLst>
      <p:ext uri="{BB962C8B-B14F-4D97-AF65-F5344CB8AC3E}">
        <p14:creationId xmlns:p14="http://schemas.microsoft.com/office/powerpoint/2010/main" val="3048969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17576A-D793-46FA-855C-2BF06738245D}"/>
              </a:ext>
            </a:extLst>
          </p:cNvPr>
          <p:cNvSpPr>
            <a:spLocks noGrp="1"/>
          </p:cNvSpPr>
          <p:nvPr>
            <p:ph type="title"/>
          </p:nvPr>
        </p:nvSpPr>
        <p:spPr/>
        <p:txBody>
          <a:bodyPr/>
          <a:lstStyle/>
          <a:p>
            <a:r>
              <a:rPr lang="fr-FR" sz="40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2️</a:t>
            </a:r>
            <a:r>
              <a:rPr lang="fr-FR" sz="4000" b="1" dirty="0">
                <a:solidFill>
                  <a:srgbClr val="0070C0"/>
                </a:solidFill>
                <a:effectLst/>
                <a:latin typeface="Tahoma" panose="020B0604030504040204" pitchFamily="34" charset="0"/>
                <a:ea typeface="Times New Roman" panose="02020603050405020304" pitchFamily="18" charset="0"/>
                <a:cs typeface="Arial" panose="020B0604020202020204" pitchFamily="34" charset="0"/>
              </a:rPr>
              <a:t>⃣</a:t>
            </a:r>
            <a:r>
              <a:rPr lang="fr-FR" sz="40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    Examen clinique</a:t>
            </a:r>
            <a:br>
              <a:rPr lang="fr-FR" sz="1800" dirty="0">
                <a:effectLst/>
                <a:latin typeface="Calibri" panose="020F0502020204030204" pitchFamily="34" charset="0"/>
                <a:ea typeface="Calibri" panose="020F0502020204030204" pitchFamily="34" charset="0"/>
                <a:cs typeface="Arial" panose="020B0604020202020204" pitchFamily="34" charset="0"/>
              </a:rPr>
            </a:br>
            <a:endParaRPr lang="fr-FR" dirty="0"/>
          </a:p>
        </p:txBody>
      </p:sp>
      <p:sp>
        <p:nvSpPr>
          <p:cNvPr id="3" name="Espace réservé du contenu 2">
            <a:extLst>
              <a:ext uri="{FF2B5EF4-FFF2-40B4-BE49-F238E27FC236}">
                <a16:creationId xmlns:a16="http://schemas.microsoft.com/office/drawing/2014/main" id="{13204E6E-4630-4B4C-9DA6-AA15204EF0A9}"/>
              </a:ext>
            </a:extLst>
          </p:cNvPr>
          <p:cNvSpPr>
            <a:spLocks noGrp="1"/>
          </p:cNvSpPr>
          <p:nvPr>
            <p:ph idx="1"/>
          </p:nvPr>
        </p:nvSpPr>
        <p:spPr/>
        <p:txBody>
          <a:bodyPr/>
          <a:lstStyle/>
          <a:p>
            <a:pPr marL="0" indent="0">
              <a:lnSpc>
                <a:spcPct val="107000"/>
              </a:lnSpc>
              <a:spcAft>
                <a:spcPts val="800"/>
              </a:spcAft>
              <a:buNone/>
            </a:pPr>
            <a:r>
              <a:rPr lang="fr-FR" sz="3200" b="1" dirty="0">
                <a:solidFill>
                  <a:srgbClr val="0070C0"/>
                </a:solidFill>
                <a:effectLst/>
                <a:latin typeface="Comic Sans MS" panose="030F0702030302020204" pitchFamily="66" charset="0"/>
                <a:ea typeface="Times New Roman" panose="02020603050405020304" pitchFamily="18" charset="0"/>
                <a:cs typeface="Arial" panose="020B0604020202020204" pitchFamily="34" charset="0"/>
              </a:rPr>
              <a:t>a. État général</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sz="3200" dirty="0">
                <a:effectLst/>
                <a:latin typeface="Comic Sans MS" panose="030F0702030302020204" pitchFamily="66" charset="0"/>
                <a:ea typeface="Times New Roman" panose="02020603050405020304" pitchFamily="18" charset="0"/>
                <a:cs typeface="Arial" panose="020B0604020202020204" pitchFamily="34" charset="0"/>
              </a:rPr>
              <a:t>Température, TA, FC, FR, </a:t>
            </a:r>
            <a:r>
              <a:rPr lang="fr-FR" sz="3200" dirty="0" err="1">
                <a:effectLst/>
                <a:latin typeface="Comic Sans MS" panose="030F0702030302020204" pitchFamily="66" charset="0"/>
                <a:ea typeface="Times New Roman" panose="02020603050405020304" pitchFamily="18" charset="0"/>
                <a:cs typeface="Arial" panose="020B0604020202020204" pitchFamily="34" charset="0"/>
              </a:rPr>
              <a:t>SpO</a:t>
            </a:r>
            <a:r>
              <a:rPr lang="fr-FR" sz="3200" dirty="0">
                <a:effectLst/>
                <a:latin typeface="Comic Sans MS" panose="030F0702030302020204" pitchFamily="66" charset="0"/>
                <a:ea typeface="Times New Roman" panose="02020603050405020304" pitchFamily="18" charset="0"/>
                <a:cs typeface="Arial" panose="020B0604020202020204" pitchFamily="34" charset="0"/>
              </a:rPr>
              <a:t>₂.</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sz="3200" b="1" dirty="0">
                <a:effectLst/>
                <a:latin typeface="Comic Sans MS" panose="030F0702030302020204" pitchFamily="66" charset="0"/>
                <a:ea typeface="Times New Roman" panose="02020603050405020304" pitchFamily="18" charset="0"/>
                <a:cs typeface="Arial" panose="020B0604020202020204" pitchFamily="34" charset="0"/>
              </a:rPr>
              <a:t>Recherche de choc</a:t>
            </a:r>
            <a:r>
              <a:rPr lang="fr-FR" sz="3200" dirty="0">
                <a:effectLst/>
                <a:latin typeface="Comic Sans MS" panose="030F0702030302020204" pitchFamily="66" charset="0"/>
                <a:ea typeface="Times New Roman" panose="02020603050405020304" pitchFamily="18" charset="0"/>
                <a:cs typeface="Arial" panose="020B0604020202020204" pitchFamily="34" charset="0"/>
              </a:rPr>
              <a:t> : TA basse, marbrures, agitation.</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sz="3200" b="1" dirty="0">
                <a:effectLst/>
                <a:latin typeface="Comic Sans MS" panose="030F0702030302020204" pitchFamily="66" charset="0"/>
                <a:ea typeface="Times New Roman" panose="02020603050405020304" pitchFamily="18" charset="0"/>
                <a:cs typeface="Arial" panose="020B0604020202020204" pitchFamily="34" charset="0"/>
              </a:rPr>
              <a:t>Déshydratation, ictère, pâleur.</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pPr marL="0" indent="0">
              <a:buNone/>
            </a:pPr>
            <a:endParaRPr lang="fr-FR" dirty="0"/>
          </a:p>
        </p:txBody>
      </p:sp>
      <p:pic>
        <p:nvPicPr>
          <p:cNvPr id="2050" name="Picture 2" descr="Malade Stock Illustrations, Vecteurs, &amp; Clipart – (278,783 Stock  Illustrations)">
            <a:extLst>
              <a:ext uri="{FF2B5EF4-FFF2-40B4-BE49-F238E27FC236}">
                <a16:creationId xmlns:a16="http://schemas.microsoft.com/office/drawing/2014/main" id="{6E1D5A08-79D1-44D7-936C-39EBB59699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7968" y="4448710"/>
            <a:ext cx="1666651" cy="1863190"/>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6262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9AD81AD-2C56-4FA9-9AB3-FE7B0A7CEA7C}"/>
              </a:ext>
            </a:extLst>
          </p:cNvPr>
          <p:cNvSpPr>
            <a:spLocks noGrp="1"/>
          </p:cNvSpPr>
          <p:nvPr>
            <p:ph idx="1"/>
          </p:nvPr>
        </p:nvSpPr>
        <p:spPr>
          <a:xfrm>
            <a:off x="550524" y="489984"/>
            <a:ext cx="10515600" cy="4351338"/>
          </a:xfrm>
        </p:spPr>
        <p:txBody>
          <a:bodyPr>
            <a:normAutofit fontScale="25000" lnSpcReduction="20000"/>
          </a:bodyPr>
          <a:lstStyle/>
          <a:p>
            <a:pPr marL="0" indent="0">
              <a:lnSpc>
                <a:spcPct val="107000"/>
              </a:lnSpc>
              <a:spcAft>
                <a:spcPts val="800"/>
              </a:spcAft>
              <a:buNone/>
            </a:pPr>
            <a:r>
              <a:rPr lang="fr-FR" sz="12800" b="1" dirty="0">
                <a:solidFill>
                  <a:srgbClr val="0070C0"/>
                </a:solidFill>
                <a:latin typeface="Times New Roman" panose="02020603050405020304" pitchFamily="18" charset="0"/>
                <a:cs typeface="Arial" panose="020B0604020202020204" pitchFamily="34" charset="0"/>
              </a:rPr>
              <a:t>b. Inspection abdominale</a:t>
            </a:r>
          </a:p>
          <a:p>
            <a:pPr marL="342900" lvl="0" indent="-342900">
              <a:lnSpc>
                <a:spcPct val="107000"/>
              </a:lnSpc>
              <a:spcAft>
                <a:spcPts val="800"/>
              </a:spcAft>
              <a:buSzPts val="1000"/>
              <a:buFont typeface="Symbol" panose="05050102010706020507" pitchFamily="18" charset="2"/>
              <a:buChar char=""/>
              <a:tabLst>
                <a:tab pos="457200" algn="l"/>
              </a:tabLst>
            </a:pPr>
            <a:r>
              <a:rPr lang="fr-FR" sz="11200" dirty="0">
                <a:effectLst/>
                <a:latin typeface="Times New Roman" panose="02020603050405020304" pitchFamily="18" charset="0"/>
                <a:ea typeface="Times New Roman" panose="02020603050405020304" pitchFamily="18" charset="0"/>
                <a:cs typeface="Arial" panose="020B0604020202020204" pitchFamily="34" charset="0"/>
              </a:rPr>
              <a:t>Distension, cicatrice, hernie, mouvements respiratoires abdominaux.</a:t>
            </a:r>
          </a:p>
          <a:p>
            <a:pPr marL="0" lvl="0" indent="0">
              <a:lnSpc>
                <a:spcPct val="107000"/>
              </a:lnSpc>
              <a:spcAft>
                <a:spcPts val="800"/>
              </a:spcAft>
              <a:buSzPts val="1000"/>
              <a:buNone/>
              <a:tabLst>
                <a:tab pos="457200" algn="l"/>
              </a:tabLst>
            </a:pPr>
            <a:endParaRPr lang="fr-FR" sz="72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800"/>
              </a:spcAft>
              <a:buNone/>
            </a:pPr>
            <a:r>
              <a:rPr lang="fr-FR" sz="128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c. Palpation</a:t>
            </a:r>
            <a:endParaRPr lang="fr-FR" sz="72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11200" b="1" dirty="0">
                <a:effectLst/>
                <a:latin typeface="Times New Roman" panose="02020603050405020304" pitchFamily="18" charset="0"/>
                <a:ea typeface="Times New Roman" panose="02020603050405020304" pitchFamily="18" charset="0"/>
                <a:cs typeface="Arial" panose="020B0604020202020204" pitchFamily="34" charset="0"/>
              </a:rPr>
              <a:t>Défense / contracture</a:t>
            </a:r>
            <a:r>
              <a:rPr lang="fr-FR" sz="11200" dirty="0">
                <a:effectLst/>
                <a:latin typeface="Times New Roman" panose="02020603050405020304" pitchFamily="18" charset="0"/>
                <a:ea typeface="Times New Roman" panose="02020603050405020304" pitchFamily="18" charset="0"/>
                <a:cs typeface="Arial" panose="020B0604020202020204" pitchFamily="34" charset="0"/>
              </a:rPr>
              <a:t> → péritonite.</a:t>
            </a:r>
            <a:endParaRPr lang="fr-FR" sz="72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11200" b="1" dirty="0">
                <a:effectLst/>
                <a:latin typeface="Times New Roman" panose="02020603050405020304" pitchFamily="18" charset="0"/>
                <a:ea typeface="Times New Roman" panose="02020603050405020304" pitchFamily="18" charset="0"/>
                <a:cs typeface="Arial" panose="020B0604020202020204" pitchFamily="34" charset="0"/>
              </a:rPr>
              <a:t>Masse palpable</a:t>
            </a:r>
            <a:r>
              <a:rPr lang="fr-FR" sz="11200" dirty="0">
                <a:effectLst/>
                <a:latin typeface="Times New Roman" panose="02020603050405020304" pitchFamily="18" charset="0"/>
                <a:ea typeface="Times New Roman" panose="02020603050405020304" pitchFamily="18" charset="0"/>
                <a:cs typeface="Arial" panose="020B0604020202020204" pitchFamily="34" charset="0"/>
              </a:rPr>
              <a:t> → abcès, tumeur, volvulus, globe vésical.</a:t>
            </a:r>
            <a:endParaRPr lang="fr-FR" sz="72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11200" b="1" dirty="0">
                <a:effectLst/>
                <a:latin typeface="Times New Roman" panose="02020603050405020304" pitchFamily="18" charset="0"/>
                <a:ea typeface="Times New Roman" panose="02020603050405020304" pitchFamily="18" charset="0"/>
                <a:cs typeface="Arial" panose="020B0604020202020204" pitchFamily="34" charset="0"/>
              </a:rPr>
              <a:t>Douleur localisée</a:t>
            </a:r>
            <a:r>
              <a:rPr lang="fr-FR" sz="11200" dirty="0">
                <a:effectLst/>
                <a:latin typeface="Times New Roman" panose="02020603050405020304" pitchFamily="18" charset="0"/>
                <a:ea typeface="Times New Roman" panose="02020603050405020304" pitchFamily="18" charset="0"/>
                <a:cs typeface="Arial" panose="020B0604020202020204" pitchFamily="34" charset="0"/>
              </a:rPr>
              <a:t> :</a:t>
            </a:r>
            <a:endParaRPr lang="fr-FR" sz="7200" dirty="0">
              <a:effectLst/>
              <a:latin typeface="Calibri" panose="020F0502020204030204" pitchFamily="34" charset="0"/>
              <a:ea typeface="Calibri" panose="020F0502020204030204" pitchFamily="34" charset="0"/>
              <a:cs typeface="Arial" panose="020B0604020202020204" pitchFamily="34" charset="0"/>
            </a:endParaRPr>
          </a:p>
          <a:p>
            <a:pPr lvl="1">
              <a:lnSpc>
                <a:spcPct val="107000"/>
              </a:lnSpc>
              <a:spcAft>
                <a:spcPts val="800"/>
              </a:spcAft>
              <a:buSzPts val="1000"/>
              <a:buFont typeface="Wingdings" panose="05000000000000000000" pitchFamily="2" charset="2"/>
              <a:buChar char="ü"/>
              <a:tabLst>
                <a:tab pos="914400" algn="l"/>
              </a:tabLst>
            </a:pPr>
            <a:r>
              <a:rPr lang="fr-FR" sz="11200" dirty="0">
                <a:effectLst/>
                <a:latin typeface="Times New Roman" panose="02020603050405020304" pitchFamily="18" charset="0"/>
                <a:ea typeface="Times New Roman" panose="02020603050405020304" pitchFamily="18" charset="0"/>
                <a:cs typeface="Times New Roman" panose="02020603050405020304" pitchFamily="18" charset="0"/>
              </a:rPr>
              <a:t>FID → appendicite.</a:t>
            </a:r>
            <a:endParaRPr lang="fr-FR" sz="72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buSzPts val="1000"/>
              <a:buFont typeface="Wingdings" panose="05000000000000000000" pitchFamily="2" charset="2"/>
              <a:buChar char="ü"/>
              <a:tabLst>
                <a:tab pos="914400" algn="l"/>
              </a:tabLst>
            </a:pPr>
            <a:r>
              <a:rPr lang="fr-FR" sz="11200" dirty="0">
                <a:effectLst/>
                <a:latin typeface="Times New Roman" panose="02020603050405020304" pitchFamily="18" charset="0"/>
                <a:ea typeface="Times New Roman" panose="02020603050405020304" pitchFamily="18" charset="0"/>
                <a:cs typeface="Times New Roman" panose="02020603050405020304" pitchFamily="18" charset="0"/>
              </a:rPr>
              <a:t>FIG → sigmoïdite.</a:t>
            </a:r>
            <a:endParaRPr lang="fr-FR" sz="72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buSzPts val="1000"/>
              <a:buFont typeface="Wingdings" panose="05000000000000000000" pitchFamily="2" charset="2"/>
              <a:buChar char="ü"/>
              <a:tabLst>
                <a:tab pos="914400" algn="l"/>
              </a:tabLst>
            </a:pPr>
            <a:r>
              <a:rPr lang="fr-FR" sz="11200" dirty="0">
                <a:effectLst/>
                <a:latin typeface="Times New Roman" panose="02020603050405020304" pitchFamily="18" charset="0"/>
                <a:ea typeface="Times New Roman" panose="02020603050405020304" pitchFamily="18" charset="0"/>
                <a:cs typeface="Times New Roman" panose="02020603050405020304" pitchFamily="18" charset="0"/>
              </a:rPr>
              <a:t>Épigastre → ulcère perforé, pancréatite</a:t>
            </a:r>
            <a:r>
              <a:rPr lang="fr-FR" sz="60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fr-FR" sz="4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fr-FR" dirty="0"/>
          </a:p>
        </p:txBody>
      </p:sp>
    </p:spTree>
    <p:extLst>
      <p:ext uri="{BB962C8B-B14F-4D97-AF65-F5344CB8AC3E}">
        <p14:creationId xmlns:p14="http://schemas.microsoft.com/office/powerpoint/2010/main" val="1507280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FEDCA7C-88F2-41D0-960E-1C007870D2C3}"/>
              </a:ext>
            </a:extLst>
          </p:cNvPr>
          <p:cNvSpPr>
            <a:spLocks noGrp="1"/>
          </p:cNvSpPr>
          <p:nvPr>
            <p:ph idx="1"/>
          </p:nvPr>
        </p:nvSpPr>
        <p:spPr>
          <a:xfrm>
            <a:off x="529975" y="787935"/>
            <a:ext cx="10515600" cy="5438204"/>
          </a:xfrm>
        </p:spPr>
        <p:txBody>
          <a:bodyPr>
            <a:normAutofit fontScale="85000" lnSpcReduction="20000"/>
          </a:bodyPr>
          <a:lstStyle/>
          <a:p>
            <a:pPr marL="0" indent="0">
              <a:lnSpc>
                <a:spcPct val="107000"/>
              </a:lnSpc>
              <a:spcAft>
                <a:spcPts val="800"/>
              </a:spcAft>
              <a:buNone/>
            </a:pPr>
            <a:r>
              <a:rPr lang="fr-FR" sz="30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d. Percussion</a:t>
            </a:r>
            <a:endParaRPr lang="fr-FR" sz="30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600" dirty="0">
                <a:effectLst/>
                <a:latin typeface="Times New Roman" panose="02020603050405020304" pitchFamily="18" charset="0"/>
                <a:ea typeface="Times New Roman" panose="02020603050405020304" pitchFamily="18" charset="0"/>
                <a:cs typeface="Arial" panose="020B0604020202020204" pitchFamily="34" charset="0"/>
              </a:rPr>
              <a:t>Matité déclive (ascite, épanchement).</a:t>
            </a:r>
            <a:endParaRPr lang="fr-FR" sz="36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600" dirty="0">
                <a:effectLst/>
                <a:latin typeface="Times New Roman" panose="02020603050405020304" pitchFamily="18" charset="0"/>
                <a:ea typeface="Times New Roman" panose="02020603050405020304" pitchFamily="18" charset="0"/>
                <a:cs typeface="Arial" panose="020B0604020202020204" pitchFamily="34" charset="0"/>
              </a:rPr>
              <a:t>Tympanisme → occlusion gazeuse</a:t>
            </a:r>
            <a:r>
              <a:rPr lang="fr-FR" sz="260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26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800"/>
              </a:spcAft>
              <a:buNone/>
            </a:pPr>
            <a:r>
              <a:rPr lang="fr-FR" sz="35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e. Auscultation</a:t>
            </a:r>
            <a:endParaRPr lang="fr-FR" sz="35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800" dirty="0">
                <a:effectLst/>
                <a:latin typeface="Times New Roman" panose="02020603050405020304" pitchFamily="18" charset="0"/>
                <a:ea typeface="Times New Roman" panose="02020603050405020304" pitchFamily="18" charset="0"/>
                <a:cs typeface="Arial" panose="020B0604020202020204" pitchFamily="34" charset="0"/>
              </a:rPr>
              <a:t>Silence auscultatoire → iléus paralytique, péritonite.</a:t>
            </a:r>
            <a:endParaRPr lang="fr-FR" sz="38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800" dirty="0">
                <a:effectLst/>
                <a:latin typeface="Times New Roman" panose="02020603050405020304" pitchFamily="18" charset="0"/>
                <a:ea typeface="Times New Roman" panose="02020603050405020304" pitchFamily="18" charset="0"/>
                <a:cs typeface="Arial" panose="020B0604020202020204" pitchFamily="34" charset="0"/>
              </a:rPr>
              <a:t>Bruits métalliques → occlusion mécanique.</a:t>
            </a:r>
            <a:endParaRPr lang="fr-FR" sz="38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800"/>
              </a:spcAft>
              <a:buNone/>
            </a:pPr>
            <a:r>
              <a:rPr lang="fr-FR"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f. Touchers pelviens</a:t>
            </a:r>
            <a:endParaRPr lang="fr-FR"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2900" dirty="0">
                <a:effectLst/>
                <a:latin typeface="Times New Roman" panose="02020603050405020304" pitchFamily="18" charset="0"/>
                <a:ea typeface="Times New Roman" panose="02020603050405020304" pitchFamily="18" charset="0"/>
                <a:cs typeface="Arial" panose="020B0604020202020204" pitchFamily="34" charset="0"/>
              </a:rPr>
              <a:t>TR : douleur cul-de-sac (péritonite, sigmoïdite), rectorragie.</a:t>
            </a:r>
            <a:endParaRPr lang="fr-FR" sz="29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2900" dirty="0">
                <a:effectLst/>
                <a:latin typeface="Times New Roman" panose="02020603050405020304" pitchFamily="18" charset="0"/>
                <a:ea typeface="Times New Roman" panose="02020603050405020304" pitchFamily="18" charset="0"/>
                <a:cs typeface="Arial" panose="020B0604020202020204" pitchFamily="34" charset="0"/>
              </a:rPr>
              <a:t>TV : douleur annexielle, masse pelvienne, cul-de-sac de Douglas douloureux.</a:t>
            </a:r>
            <a:endParaRPr lang="fr-FR" sz="29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3253704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A06360-21B1-46A1-A7E6-19F711530146}"/>
              </a:ext>
            </a:extLst>
          </p:cNvPr>
          <p:cNvSpPr>
            <a:spLocks noGrp="1"/>
          </p:cNvSpPr>
          <p:nvPr>
            <p:ph type="title"/>
          </p:nvPr>
        </p:nvSpPr>
        <p:spPr/>
        <p:txBody>
          <a:bodyPr>
            <a:normAutofit fontScale="90000"/>
          </a:bodyPr>
          <a:lstStyle/>
          <a:p>
            <a:r>
              <a:rPr lang="fr-FR" sz="1800" b="1" dirty="0">
                <a:solidFill>
                  <a:srgbClr val="FF0000"/>
                </a:solidFill>
                <a:effectLst/>
                <a:latin typeface="Times New Roman" panose="02020603050405020304" pitchFamily="18" charset="0"/>
                <a:ea typeface="Times New Roman" panose="02020603050405020304" pitchFamily="18" charset="0"/>
                <a:cs typeface="Arial" panose="020B0604020202020204" pitchFamily="34" charset="0"/>
              </a:rPr>
              <a:t>3️</a:t>
            </a:r>
            <a:r>
              <a:rPr lang="fr-FR" sz="1800" b="1" dirty="0">
                <a:solidFill>
                  <a:srgbClr val="FF0000"/>
                </a:solidFill>
                <a:effectLst/>
                <a:latin typeface="Tahoma" panose="020B0604030504040204" pitchFamily="34" charset="0"/>
                <a:ea typeface="Times New Roman" panose="02020603050405020304" pitchFamily="18" charset="0"/>
                <a:cs typeface="Arial" panose="020B0604020202020204" pitchFamily="34" charset="0"/>
              </a:rPr>
              <a:t>⃣</a:t>
            </a:r>
            <a:r>
              <a:rPr lang="fr-FR" sz="3200" b="1" dirty="0">
                <a:solidFill>
                  <a:srgbClr val="FF0000"/>
                </a:solidFill>
                <a:effectLst/>
                <a:latin typeface="Times New Roman" panose="02020603050405020304" pitchFamily="18" charset="0"/>
                <a:ea typeface="Times New Roman" panose="02020603050405020304" pitchFamily="18" charset="0"/>
                <a:cs typeface="Arial" panose="020B0604020202020204" pitchFamily="34" charset="0"/>
              </a:rPr>
              <a:t>    Examens complémentaires (après stabilisation</a:t>
            </a:r>
            <a:r>
              <a:rPr lang="fr-FR" sz="32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a:t>
            </a:r>
            <a:br>
              <a:rPr lang="fr-FR" sz="32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br>
            <a:br>
              <a:rPr lang="fr-FR" sz="32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br>
            <a:br>
              <a:rPr lang="fr-FR" sz="1800" dirty="0">
                <a:effectLst/>
                <a:latin typeface="Calibri" panose="020F0502020204030204" pitchFamily="34" charset="0"/>
                <a:ea typeface="Calibri" panose="020F0502020204030204" pitchFamily="34" charset="0"/>
                <a:cs typeface="Arial" panose="020B0604020202020204" pitchFamily="34" charset="0"/>
              </a:rPr>
            </a:br>
            <a:r>
              <a:rPr lang="fr-FR" sz="3600" b="1" dirty="0">
                <a:solidFill>
                  <a:srgbClr val="0070C0"/>
                </a:solidFill>
                <a:effectLst/>
                <a:latin typeface="Times New Roman" panose="02020603050405020304" pitchFamily="18" charset="0"/>
                <a:ea typeface="Times New Roman" panose="02020603050405020304" pitchFamily="18" charset="0"/>
              </a:rPr>
              <a:t>Bilan biologique urgent</a:t>
            </a:r>
            <a:endParaRPr lang="fr-FR" dirty="0"/>
          </a:p>
        </p:txBody>
      </p:sp>
      <p:graphicFrame>
        <p:nvGraphicFramePr>
          <p:cNvPr id="4" name="Espace réservé du contenu 3">
            <a:extLst>
              <a:ext uri="{FF2B5EF4-FFF2-40B4-BE49-F238E27FC236}">
                <a16:creationId xmlns:a16="http://schemas.microsoft.com/office/drawing/2014/main" id="{0D7280A1-DC84-4874-9EF7-39D7154F9B99}"/>
              </a:ext>
            </a:extLst>
          </p:cNvPr>
          <p:cNvGraphicFramePr>
            <a:graphicFrameLocks noGrp="1"/>
          </p:cNvGraphicFramePr>
          <p:nvPr>
            <p:ph idx="1"/>
            <p:extLst>
              <p:ext uri="{D42A27DB-BD31-4B8C-83A1-F6EECF244321}">
                <p14:modId xmlns:p14="http://schemas.microsoft.com/office/powerpoint/2010/main" val="652440225"/>
              </p:ext>
            </p:extLst>
          </p:nvPr>
        </p:nvGraphicFramePr>
        <p:xfrm>
          <a:off x="838200" y="1999167"/>
          <a:ext cx="10515600" cy="4493708"/>
        </p:xfrm>
        <a:graphic>
          <a:graphicData uri="http://schemas.openxmlformats.org/drawingml/2006/table">
            <a:tbl>
              <a:tblPr firstRow="1" firstCol="1" bandRow="1">
                <a:tableStyleId>{5C22544A-7EE6-4342-B048-85BDC9FD1C3A}</a:tableStyleId>
              </a:tblPr>
              <a:tblGrid>
                <a:gridCol w="5257800">
                  <a:extLst>
                    <a:ext uri="{9D8B030D-6E8A-4147-A177-3AD203B41FA5}">
                      <a16:colId xmlns:a16="http://schemas.microsoft.com/office/drawing/2014/main" val="2317173998"/>
                    </a:ext>
                  </a:extLst>
                </a:gridCol>
                <a:gridCol w="5257800">
                  <a:extLst>
                    <a:ext uri="{9D8B030D-6E8A-4147-A177-3AD203B41FA5}">
                      <a16:colId xmlns:a16="http://schemas.microsoft.com/office/drawing/2014/main" val="106731659"/>
                    </a:ext>
                  </a:extLst>
                </a:gridCol>
              </a:tblGrid>
              <a:tr h="282173">
                <a:tc>
                  <a:txBody>
                    <a:bodyPr/>
                    <a:lstStyle/>
                    <a:p>
                      <a:pPr algn="ctr">
                        <a:lnSpc>
                          <a:spcPct val="107000"/>
                        </a:lnSpc>
                        <a:spcAft>
                          <a:spcPts val="800"/>
                        </a:spcAft>
                      </a:pPr>
                      <a:r>
                        <a:rPr lang="fr-FR" sz="2400" dirty="0">
                          <a:effectLst/>
                        </a:rPr>
                        <a:t>Examen</a:t>
                      </a:r>
                      <a:endParaRPr lang="fr-FR" sz="20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400">
                          <a:effectLst/>
                        </a:rPr>
                        <a:t>Intérêt</a:t>
                      </a:r>
                      <a:endParaRPr lang="fr-FR" sz="20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430187003"/>
                  </a:ext>
                </a:extLst>
              </a:tr>
              <a:tr h="324769">
                <a:tc>
                  <a:txBody>
                    <a:bodyPr/>
                    <a:lstStyle/>
                    <a:p>
                      <a:pPr algn="ctr">
                        <a:lnSpc>
                          <a:spcPct val="107000"/>
                        </a:lnSpc>
                        <a:spcAft>
                          <a:spcPts val="800"/>
                        </a:spcAft>
                      </a:pPr>
                      <a:r>
                        <a:rPr lang="fr-FR" sz="2800">
                          <a:effectLst/>
                        </a:rPr>
                        <a:t>NFS</a:t>
                      </a:r>
                      <a:endParaRPr lang="fr-FR" sz="20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800">
                          <a:effectLst/>
                        </a:rPr>
                        <a:t>Hyperleucocytose → infection / perforation</a:t>
                      </a:r>
                      <a:endParaRPr lang="fr-FR" sz="20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842046802"/>
                  </a:ext>
                </a:extLst>
              </a:tr>
              <a:tr h="324769">
                <a:tc>
                  <a:txBody>
                    <a:bodyPr/>
                    <a:lstStyle/>
                    <a:p>
                      <a:pPr algn="ctr">
                        <a:lnSpc>
                          <a:spcPct val="107000"/>
                        </a:lnSpc>
                        <a:spcAft>
                          <a:spcPts val="800"/>
                        </a:spcAft>
                      </a:pPr>
                      <a:r>
                        <a:rPr lang="fr-FR" sz="2800">
                          <a:effectLst/>
                        </a:rPr>
                        <a:t>CRP</a:t>
                      </a:r>
                      <a:endParaRPr lang="fr-FR" sz="20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800">
                          <a:effectLst/>
                        </a:rPr>
                        <a:t>Inflammation</a:t>
                      </a:r>
                      <a:endParaRPr lang="fr-FR" sz="20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838996603"/>
                  </a:ext>
                </a:extLst>
              </a:tr>
              <a:tr h="324769">
                <a:tc>
                  <a:txBody>
                    <a:bodyPr/>
                    <a:lstStyle/>
                    <a:p>
                      <a:pPr algn="ctr">
                        <a:lnSpc>
                          <a:spcPct val="107000"/>
                        </a:lnSpc>
                        <a:spcAft>
                          <a:spcPts val="800"/>
                        </a:spcAft>
                      </a:pPr>
                      <a:r>
                        <a:rPr lang="fr-FR" sz="2800">
                          <a:effectLst/>
                        </a:rPr>
                        <a:t>Iono / urée / créatinine</a:t>
                      </a:r>
                      <a:endParaRPr lang="fr-FR" sz="20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800">
                          <a:effectLst/>
                        </a:rPr>
                        <a:t>Retentissement rénal, déshydratation</a:t>
                      </a:r>
                      <a:endParaRPr lang="fr-FR" sz="20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231433381"/>
                  </a:ext>
                </a:extLst>
              </a:tr>
              <a:tr h="324769">
                <a:tc>
                  <a:txBody>
                    <a:bodyPr/>
                    <a:lstStyle/>
                    <a:p>
                      <a:pPr algn="ctr">
                        <a:lnSpc>
                          <a:spcPct val="107000"/>
                        </a:lnSpc>
                        <a:spcAft>
                          <a:spcPts val="800"/>
                        </a:spcAft>
                      </a:pPr>
                      <a:r>
                        <a:rPr lang="fr-FR" sz="2800">
                          <a:effectLst/>
                        </a:rPr>
                        <a:t>Amylase / lipase</a:t>
                      </a:r>
                      <a:endParaRPr lang="fr-FR" sz="20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800">
                          <a:effectLst/>
                        </a:rPr>
                        <a:t>Pancréatite</a:t>
                      </a:r>
                      <a:endParaRPr lang="fr-FR" sz="20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428258959"/>
                  </a:ext>
                </a:extLst>
              </a:tr>
              <a:tr h="324769">
                <a:tc>
                  <a:txBody>
                    <a:bodyPr/>
                    <a:lstStyle/>
                    <a:p>
                      <a:pPr algn="ctr">
                        <a:lnSpc>
                          <a:spcPct val="107000"/>
                        </a:lnSpc>
                        <a:spcAft>
                          <a:spcPts val="800"/>
                        </a:spcAft>
                      </a:pPr>
                      <a:r>
                        <a:rPr lang="fr-FR" sz="2800">
                          <a:effectLst/>
                        </a:rPr>
                        <a:t>Bilan hépatique</a:t>
                      </a:r>
                      <a:endParaRPr lang="fr-FR" sz="20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800">
                          <a:effectLst/>
                        </a:rPr>
                        <a:t>Ictère, cholestase</a:t>
                      </a:r>
                      <a:endParaRPr lang="fr-FR" sz="20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491466466"/>
                  </a:ext>
                </a:extLst>
              </a:tr>
              <a:tr h="324769">
                <a:tc>
                  <a:txBody>
                    <a:bodyPr/>
                    <a:lstStyle/>
                    <a:p>
                      <a:pPr algn="ctr">
                        <a:lnSpc>
                          <a:spcPct val="107000"/>
                        </a:lnSpc>
                        <a:spcAft>
                          <a:spcPts val="800"/>
                        </a:spcAft>
                      </a:pPr>
                      <a:r>
                        <a:rPr lang="fr-FR" sz="2800">
                          <a:effectLst/>
                        </a:rPr>
                        <a:t>β-HCG</a:t>
                      </a:r>
                      <a:endParaRPr lang="fr-FR" sz="20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800">
                          <a:effectLst/>
                        </a:rPr>
                        <a:t>Exclure GEU</a:t>
                      </a:r>
                      <a:endParaRPr lang="fr-FR" sz="20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159140690"/>
                  </a:ext>
                </a:extLst>
              </a:tr>
              <a:tr h="324769">
                <a:tc>
                  <a:txBody>
                    <a:bodyPr/>
                    <a:lstStyle/>
                    <a:p>
                      <a:pPr algn="ctr">
                        <a:lnSpc>
                          <a:spcPct val="107000"/>
                        </a:lnSpc>
                        <a:spcAft>
                          <a:spcPts val="800"/>
                        </a:spcAft>
                      </a:pPr>
                      <a:r>
                        <a:rPr lang="fr-FR" sz="2800">
                          <a:effectLst/>
                        </a:rPr>
                        <a:t>Lactates</a:t>
                      </a:r>
                      <a:endParaRPr lang="fr-FR" sz="20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800" dirty="0">
                          <a:effectLst/>
                        </a:rPr>
                        <a:t>Ischémie mésentérique</a:t>
                      </a:r>
                      <a:endParaRPr lang="fr-FR" sz="20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3767710656"/>
                  </a:ext>
                </a:extLst>
              </a:tr>
            </a:tbl>
          </a:graphicData>
        </a:graphic>
      </p:graphicFrame>
    </p:spTree>
    <p:extLst>
      <p:ext uri="{BB962C8B-B14F-4D97-AF65-F5344CB8AC3E}">
        <p14:creationId xmlns:p14="http://schemas.microsoft.com/office/powerpoint/2010/main" val="1592640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974F82-2307-4C73-B327-22A6CAF1EC39}"/>
              </a:ext>
            </a:extLst>
          </p:cNvPr>
          <p:cNvSpPr>
            <a:spLocks noGrp="1"/>
          </p:cNvSpPr>
          <p:nvPr>
            <p:ph type="title"/>
          </p:nvPr>
        </p:nvSpPr>
        <p:spPr/>
        <p:txBody>
          <a:bodyPr/>
          <a:lstStyle/>
          <a:p>
            <a:r>
              <a:rPr lang="fr-FR" sz="44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b. Imagerie</a:t>
            </a:r>
            <a:br>
              <a:rPr lang="fr-FR" sz="4400" dirty="0">
                <a:effectLst/>
                <a:latin typeface="Calibri" panose="020F0502020204030204" pitchFamily="34" charset="0"/>
                <a:ea typeface="Calibri" panose="020F0502020204030204" pitchFamily="34" charset="0"/>
                <a:cs typeface="Arial" panose="020B0604020202020204" pitchFamily="34" charset="0"/>
              </a:rPr>
            </a:br>
            <a:endParaRPr lang="fr-FR" dirty="0"/>
          </a:p>
        </p:txBody>
      </p:sp>
      <p:sp>
        <p:nvSpPr>
          <p:cNvPr id="3" name="Espace réservé du contenu 2">
            <a:extLst>
              <a:ext uri="{FF2B5EF4-FFF2-40B4-BE49-F238E27FC236}">
                <a16:creationId xmlns:a16="http://schemas.microsoft.com/office/drawing/2014/main" id="{4268DA93-DF58-4910-A854-34396D7F9009}"/>
              </a:ext>
            </a:extLst>
          </p:cNvPr>
          <p:cNvSpPr>
            <a:spLocks noGrp="1"/>
          </p:cNvSpPr>
          <p:nvPr>
            <p:ph idx="1"/>
          </p:nvPr>
        </p:nvSpPr>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fr-FR" sz="3200" b="1" dirty="0">
                <a:effectLst/>
                <a:latin typeface="Times New Roman" panose="02020603050405020304" pitchFamily="18" charset="0"/>
                <a:ea typeface="Times New Roman" panose="02020603050405020304" pitchFamily="18" charset="0"/>
                <a:cs typeface="Arial" panose="020B0604020202020204" pitchFamily="34" charset="0"/>
              </a:rPr>
              <a:t>ASP (abdomen sans préparation)</a:t>
            </a:r>
            <a:r>
              <a:rPr lang="fr-FR" sz="3200" dirty="0">
                <a:effectLst/>
                <a:latin typeface="Times New Roman" panose="02020603050405020304" pitchFamily="18" charset="0"/>
                <a:ea typeface="Times New Roman" panose="02020603050405020304" pitchFamily="18" charset="0"/>
                <a:cs typeface="Arial" panose="020B0604020202020204" pitchFamily="34" charset="0"/>
              </a:rPr>
              <a:t> : niveaux hydro-aériques (occlusion), pneumopéritoine.</a:t>
            </a:r>
            <a:endParaRPr lang="fr-FR" sz="32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200" b="1" dirty="0">
                <a:effectLst/>
                <a:latin typeface="Times New Roman" panose="02020603050405020304" pitchFamily="18" charset="0"/>
                <a:ea typeface="Times New Roman" panose="02020603050405020304" pitchFamily="18" charset="0"/>
                <a:cs typeface="Arial" panose="020B0604020202020204" pitchFamily="34" charset="0"/>
              </a:rPr>
              <a:t>Échographie abdominale</a:t>
            </a:r>
            <a:r>
              <a:rPr lang="fr-FR" sz="3200" dirty="0">
                <a:effectLst/>
                <a:latin typeface="Times New Roman" panose="02020603050405020304" pitchFamily="18" charset="0"/>
                <a:ea typeface="Times New Roman" panose="02020603050405020304" pitchFamily="18" charset="0"/>
                <a:cs typeface="Arial" panose="020B0604020202020204" pitchFamily="34" charset="0"/>
              </a:rPr>
              <a:t> : première intention chez la femme, suspicion biliaire, pelvienne.</a:t>
            </a:r>
            <a:endParaRPr lang="fr-FR" sz="32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200" b="1" dirty="0">
                <a:effectLst/>
                <a:latin typeface="Times New Roman" panose="02020603050405020304" pitchFamily="18" charset="0"/>
                <a:ea typeface="Times New Roman" panose="02020603050405020304" pitchFamily="18" charset="0"/>
                <a:cs typeface="Arial" panose="020B0604020202020204" pitchFamily="34" charset="0"/>
              </a:rPr>
              <a:t>Scanner abdomino-pelvien injecté</a:t>
            </a:r>
            <a:r>
              <a:rPr lang="fr-FR" sz="3200" dirty="0">
                <a:effectLst/>
                <a:latin typeface="Times New Roman" panose="02020603050405020304" pitchFamily="18" charset="0"/>
                <a:ea typeface="Times New Roman" panose="02020603050405020304" pitchFamily="18" charset="0"/>
                <a:cs typeface="Arial" panose="020B0604020202020204" pitchFamily="34" charset="0"/>
              </a:rPr>
              <a:t> : examen de référence, diagnostic étiologique et topographique.</a:t>
            </a:r>
            <a:endParaRPr lang="fr-FR" sz="3200" dirty="0">
              <a:effectLst/>
              <a:latin typeface="Calibri" panose="020F0502020204030204" pitchFamily="34" charset="0"/>
              <a:ea typeface="Calibri" panose="020F0502020204030204" pitchFamily="34" charset="0"/>
              <a:cs typeface="Arial" panose="020B0604020202020204" pitchFamily="34" charset="0"/>
            </a:endParaRPr>
          </a:p>
          <a:p>
            <a:endParaRPr lang="fr-FR" dirty="0"/>
          </a:p>
        </p:txBody>
      </p:sp>
    </p:spTree>
    <p:extLst>
      <p:ext uri="{BB962C8B-B14F-4D97-AF65-F5344CB8AC3E}">
        <p14:creationId xmlns:p14="http://schemas.microsoft.com/office/powerpoint/2010/main" val="3876780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ASP en faveur d'une Occlusion intestinale avec des niveaux hydroaeriques  plus hauts que larges faisant préciser une occlusion du côlon.">
            <a:extLst>
              <a:ext uri="{FF2B5EF4-FFF2-40B4-BE49-F238E27FC236}">
                <a16:creationId xmlns:a16="http://schemas.microsoft.com/office/drawing/2014/main" id="{4CA6D0E7-6928-4707-965A-4C8218DBBE4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28751" y="915727"/>
            <a:ext cx="3122701" cy="367681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Encyclopédie Médicale - #Pneumopéritoine C'est un épanchement gazeux situé  dans la cavité péritonéale. - il signe la perforation d'un viscère. - il  peut être spontané ou être une complication d'un examen endoscopique -">
            <a:extLst>
              <a:ext uri="{FF2B5EF4-FFF2-40B4-BE49-F238E27FC236}">
                <a16:creationId xmlns:a16="http://schemas.microsoft.com/office/drawing/2014/main" id="{1FBE63B6-56D2-425B-B35A-A9E3937EED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919" y="915728"/>
            <a:ext cx="3027773" cy="3676819"/>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2B53253B-1DF7-46AE-BB59-3A02C8EEB5C8}"/>
              </a:ext>
            </a:extLst>
          </p:cNvPr>
          <p:cNvSpPr txBox="1"/>
          <p:nvPr/>
        </p:nvSpPr>
        <p:spPr>
          <a:xfrm>
            <a:off x="1140432" y="5126804"/>
            <a:ext cx="3863083" cy="461665"/>
          </a:xfrm>
          <a:prstGeom prst="rect">
            <a:avLst/>
          </a:prstGeom>
          <a:noFill/>
        </p:spPr>
        <p:txBody>
          <a:bodyPr wrap="square" rtlCol="0">
            <a:spAutoFit/>
          </a:bodyPr>
          <a:lstStyle/>
          <a:p>
            <a:r>
              <a:rPr lang="fr-FR" sz="2400" b="1" dirty="0">
                <a:solidFill>
                  <a:srgbClr val="FF0000"/>
                </a:solidFill>
              </a:rPr>
              <a:t>Niveaux hydro aériques</a:t>
            </a:r>
          </a:p>
        </p:txBody>
      </p:sp>
      <p:sp>
        <p:nvSpPr>
          <p:cNvPr id="5" name="ZoneTexte 4">
            <a:extLst>
              <a:ext uri="{FF2B5EF4-FFF2-40B4-BE49-F238E27FC236}">
                <a16:creationId xmlns:a16="http://schemas.microsoft.com/office/drawing/2014/main" id="{DBBEBACE-D0E5-4727-9AAF-1F6FC44EB64A}"/>
              </a:ext>
            </a:extLst>
          </p:cNvPr>
          <p:cNvSpPr txBox="1"/>
          <p:nvPr/>
        </p:nvSpPr>
        <p:spPr>
          <a:xfrm>
            <a:off x="6914509" y="5126803"/>
            <a:ext cx="2835667" cy="461665"/>
          </a:xfrm>
          <a:prstGeom prst="rect">
            <a:avLst/>
          </a:prstGeom>
          <a:noFill/>
        </p:spPr>
        <p:txBody>
          <a:bodyPr wrap="square" rtlCol="0">
            <a:spAutoFit/>
          </a:bodyPr>
          <a:lstStyle/>
          <a:p>
            <a:r>
              <a:rPr lang="fr-FR" sz="2400" b="1" dirty="0">
                <a:solidFill>
                  <a:srgbClr val="FF0000"/>
                </a:solidFill>
              </a:rPr>
              <a:t>pneumopéritoine</a:t>
            </a:r>
            <a:endParaRPr lang="fr-FR" dirty="0"/>
          </a:p>
        </p:txBody>
      </p:sp>
    </p:spTree>
    <p:extLst>
      <p:ext uri="{BB962C8B-B14F-4D97-AF65-F5344CB8AC3E}">
        <p14:creationId xmlns:p14="http://schemas.microsoft.com/office/powerpoint/2010/main" val="734709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CF513D-6867-46B2-9430-B23EC887D109}"/>
              </a:ext>
            </a:extLst>
          </p:cNvPr>
          <p:cNvSpPr>
            <a:spLocks noGrp="1"/>
          </p:cNvSpPr>
          <p:nvPr>
            <p:ph type="title"/>
          </p:nvPr>
        </p:nvSpPr>
        <p:spPr/>
        <p:txBody>
          <a:bodyPr/>
          <a:lstStyle/>
          <a:p>
            <a:r>
              <a:rPr lang="fr-FR" sz="4400" b="1" dirty="0">
                <a:solidFill>
                  <a:srgbClr val="FF0000"/>
                </a:solidFill>
                <a:effectLst/>
                <a:latin typeface="Times New Roman" panose="02020603050405020304" pitchFamily="18" charset="0"/>
                <a:ea typeface="Times New Roman" panose="02020603050405020304" pitchFamily="18" charset="0"/>
                <a:cs typeface="Arial" panose="020B0604020202020204" pitchFamily="34" charset="0"/>
              </a:rPr>
              <a:t>IV. Classification des grands syndromes</a:t>
            </a:r>
            <a:br>
              <a:rPr lang="fr-FR" sz="4400" dirty="0">
                <a:effectLst/>
                <a:latin typeface="Calibri" panose="020F0502020204030204" pitchFamily="34" charset="0"/>
                <a:ea typeface="Calibri" panose="020F0502020204030204" pitchFamily="34" charset="0"/>
                <a:cs typeface="Arial" panose="020B0604020202020204" pitchFamily="34" charset="0"/>
              </a:rPr>
            </a:br>
            <a:endParaRPr lang="fr-FR" dirty="0"/>
          </a:p>
        </p:txBody>
      </p:sp>
      <p:sp>
        <p:nvSpPr>
          <p:cNvPr id="3" name="Espace réservé du contenu 2">
            <a:extLst>
              <a:ext uri="{FF2B5EF4-FFF2-40B4-BE49-F238E27FC236}">
                <a16:creationId xmlns:a16="http://schemas.microsoft.com/office/drawing/2014/main" id="{122A2848-F428-48F2-92D0-B490E768E480}"/>
              </a:ext>
            </a:extLst>
          </p:cNvPr>
          <p:cNvSpPr>
            <a:spLocks noGrp="1"/>
          </p:cNvSpPr>
          <p:nvPr>
            <p:ph idx="1"/>
          </p:nvPr>
        </p:nvSpPr>
        <p:spPr>
          <a:xfrm>
            <a:off x="838200" y="2668106"/>
            <a:ext cx="10515600" cy="4351338"/>
          </a:xfrm>
        </p:spPr>
        <p:txBody>
          <a:bodyPr/>
          <a:lstStyle/>
          <a:p>
            <a:pPr>
              <a:lnSpc>
                <a:spcPct val="107000"/>
              </a:lnSpc>
              <a:spcAft>
                <a:spcPts val="800"/>
              </a:spcAft>
            </a:pPr>
            <a:r>
              <a:rPr lang="fr-FR" sz="3600" dirty="0">
                <a:effectLst/>
                <a:latin typeface="Times New Roman" panose="02020603050405020304" pitchFamily="18" charset="0"/>
                <a:ea typeface="Times New Roman" panose="02020603050405020304" pitchFamily="18" charset="0"/>
                <a:cs typeface="Arial" panose="020B0604020202020204" pitchFamily="34" charset="0"/>
              </a:rPr>
              <a:t>L’analyse du </a:t>
            </a:r>
            <a:r>
              <a:rPr lang="fr-FR" sz="3600" b="1" dirty="0">
                <a:effectLst/>
                <a:latin typeface="Times New Roman" panose="02020603050405020304" pitchFamily="18" charset="0"/>
                <a:ea typeface="Times New Roman" panose="02020603050405020304" pitchFamily="18" charset="0"/>
                <a:cs typeface="Arial" panose="020B0604020202020204" pitchFamily="34" charset="0"/>
              </a:rPr>
              <a:t>mécanisme physiopathologique</a:t>
            </a:r>
            <a:r>
              <a:rPr lang="fr-FR" sz="3600" dirty="0">
                <a:effectLst/>
                <a:latin typeface="Times New Roman" panose="02020603050405020304" pitchFamily="18" charset="0"/>
                <a:ea typeface="Times New Roman" panose="02020603050405020304" pitchFamily="18" charset="0"/>
                <a:cs typeface="Arial" panose="020B0604020202020204" pitchFamily="34" charset="0"/>
              </a:rPr>
              <a:t> de la douleur abdominale aiguë permet d’orienter rapidement le diagnostic et la prise en charge.</a:t>
            </a:r>
            <a:br>
              <a:rPr lang="fr-FR" sz="3600" dirty="0">
                <a:effectLst/>
                <a:latin typeface="Times New Roman" panose="02020603050405020304" pitchFamily="18" charset="0"/>
                <a:ea typeface="Times New Roman" panose="02020603050405020304" pitchFamily="18" charset="0"/>
                <a:cs typeface="Arial" panose="020B0604020202020204" pitchFamily="34" charset="0"/>
              </a:rPr>
            </a:br>
            <a:r>
              <a:rPr lang="fr-FR" sz="3600" dirty="0">
                <a:effectLst/>
                <a:latin typeface="Times New Roman" panose="02020603050405020304" pitchFamily="18" charset="0"/>
                <a:ea typeface="Times New Roman" panose="02020603050405020304" pitchFamily="18" charset="0"/>
                <a:cs typeface="Arial" panose="020B0604020202020204" pitchFamily="34" charset="0"/>
              </a:rPr>
              <a:t>On distingue cinq grands mécanismes : </a:t>
            </a:r>
            <a:r>
              <a:rPr lang="fr-FR" sz="3600" b="1" dirty="0">
                <a:effectLst/>
                <a:latin typeface="Times New Roman" panose="02020603050405020304" pitchFamily="18" charset="0"/>
                <a:ea typeface="Times New Roman" panose="02020603050405020304" pitchFamily="18" charset="0"/>
                <a:cs typeface="Arial" panose="020B0604020202020204" pitchFamily="34" charset="0"/>
              </a:rPr>
              <a:t>péritonéal, occlusif, hémorragique, ischémique et médical</a:t>
            </a:r>
            <a:r>
              <a:rPr lang="fr-FR" sz="360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3600" dirty="0">
              <a:effectLst/>
              <a:latin typeface="Calibri" panose="020F0502020204030204" pitchFamily="34" charset="0"/>
              <a:ea typeface="Calibri" panose="020F0502020204030204" pitchFamily="34" charset="0"/>
              <a:cs typeface="Arial" panose="020B0604020202020204" pitchFamily="34" charset="0"/>
            </a:endParaRPr>
          </a:p>
          <a:p>
            <a:endParaRPr lang="fr-FR" dirty="0"/>
          </a:p>
        </p:txBody>
      </p:sp>
    </p:spTree>
    <p:extLst>
      <p:ext uri="{BB962C8B-B14F-4D97-AF65-F5344CB8AC3E}">
        <p14:creationId xmlns:p14="http://schemas.microsoft.com/office/powerpoint/2010/main" val="2267094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5D4571-3ACA-4DB4-9F89-72DE053C326C}"/>
              </a:ext>
            </a:extLst>
          </p:cNvPr>
          <p:cNvSpPr>
            <a:spLocks noGrp="1"/>
          </p:cNvSpPr>
          <p:nvPr>
            <p:ph type="title"/>
          </p:nvPr>
        </p:nvSpPr>
        <p:spPr/>
        <p:txBody>
          <a:bodyPr/>
          <a:lstStyle/>
          <a:p>
            <a:r>
              <a:rPr lang="fr-FR" sz="4400" b="1" dirty="0">
                <a:solidFill>
                  <a:srgbClr val="FF0000"/>
                </a:solidFill>
                <a:effectLst/>
                <a:latin typeface="Times New Roman" panose="02020603050405020304" pitchFamily="18" charset="0"/>
                <a:ea typeface="Times New Roman" panose="02020603050405020304" pitchFamily="18" charset="0"/>
                <a:cs typeface="Arial" panose="020B0604020202020204" pitchFamily="34" charset="0"/>
              </a:rPr>
              <a:t>I. Syndrome péritonéal</a:t>
            </a:r>
            <a:br>
              <a:rPr lang="fr-FR" sz="4400" dirty="0">
                <a:effectLst/>
                <a:latin typeface="Calibri" panose="020F0502020204030204" pitchFamily="34" charset="0"/>
                <a:ea typeface="Calibri" panose="020F0502020204030204" pitchFamily="34" charset="0"/>
                <a:cs typeface="Arial" panose="020B0604020202020204" pitchFamily="34" charset="0"/>
              </a:rPr>
            </a:br>
            <a:endParaRPr lang="fr-FR" dirty="0"/>
          </a:p>
        </p:txBody>
      </p:sp>
      <p:sp>
        <p:nvSpPr>
          <p:cNvPr id="3" name="Espace réservé du contenu 2">
            <a:extLst>
              <a:ext uri="{FF2B5EF4-FFF2-40B4-BE49-F238E27FC236}">
                <a16:creationId xmlns:a16="http://schemas.microsoft.com/office/drawing/2014/main" id="{BC53D156-FFB9-4BCA-B05C-4A270828A7C1}"/>
              </a:ext>
            </a:extLst>
          </p:cNvPr>
          <p:cNvSpPr>
            <a:spLocks noGrp="1"/>
          </p:cNvSpPr>
          <p:nvPr>
            <p:ph idx="1"/>
          </p:nvPr>
        </p:nvSpPr>
        <p:spPr>
          <a:xfrm>
            <a:off x="838200" y="1876996"/>
            <a:ext cx="10515600" cy="4351338"/>
          </a:xfrm>
        </p:spPr>
        <p:txBody>
          <a:bodyPr/>
          <a:lstStyle/>
          <a:p>
            <a:pPr>
              <a:lnSpc>
                <a:spcPct val="107000"/>
              </a:lnSpc>
              <a:spcAft>
                <a:spcPts val="800"/>
              </a:spcAft>
            </a:pPr>
            <a:r>
              <a:rPr lang="fr-FR" sz="36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1️</a:t>
            </a:r>
            <a:r>
              <a:rPr lang="fr-FR" sz="3600" b="1" dirty="0">
                <a:solidFill>
                  <a:srgbClr val="0070C0"/>
                </a:solidFill>
                <a:effectLst/>
                <a:latin typeface="Tahoma" panose="020B0604030504040204" pitchFamily="34" charset="0"/>
                <a:ea typeface="Times New Roman" panose="02020603050405020304" pitchFamily="18" charset="0"/>
                <a:cs typeface="Arial" panose="020B0604020202020204" pitchFamily="34" charset="0"/>
              </a:rPr>
              <a:t>⃣</a:t>
            </a:r>
            <a:r>
              <a:rPr lang="fr-FR" sz="36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    Étiologies fréquentes</a:t>
            </a:r>
            <a:endParaRPr lang="fr-FR" sz="360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b="1" dirty="0">
                <a:effectLst/>
                <a:latin typeface="Times New Roman" panose="02020603050405020304" pitchFamily="18" charset="0"/>
                <a:ea typeface="Times New Roman" panose="02020603050405020304" pitchFamily="18" charset="0"/>
                <a:cs typeface="Arial" panose="020B0604020202020204" pitchFamily="34" charset="0"/>
              </a:rPr>
              <a:t>Appendicite aiguë</a:t>
            </a:r>
            <a:endParaRPr lang="fr-FR" b="1"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b="1" dirty="0">
                <a:effectLst/>
                <a:latin typeface="Times New Roman" panose="02020603050405020304" pitchFamily="18" charset="0"/>
                <a:ea typeface="Times New Roman" panose="02020603050405020304" pitchFamily="18" charset="0"/>
                <a:cs typeface="Arial" panose="020B0604020202020204" pitchFamily="34" charset="0"/>
              </a:rPr>
              <a:t>Ulcère gastrique ou duodénal perforé</a:t>
            </a:r>
            <a:endParaRPr lang="fr-FR" b="1"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b="1" dirty="0">
                <a:effectLst/>
                <a:latin typeface="Times New Roman" panose="02020603050405020304" pitchFamily="18" charset="0"/>
                <a:ea typeface="Times New Roman" panose="02020603050405020304" pitchFamily="18" charset="0"/>
                <a:cs typeface="Arial" panose="020B0604020202020204" pitchFamily="34" charset="0"/>
              </a:rPr>
              <a:t>Péritonite biliaire (perforation vésiculaire)</a:t>
            </a:r>
            <a:endParaRPr lang="fr-FR" b="1"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b="1" dirty="0">
                <a:effectLst/>
                <a:latin typeface="Times New Roman" panose="02020603050405020304" pitchFamily="18" charset="0"/>
                <a:ea typeface="Times New Roman" panose="02020603050405020304" pitchFamily="18" charset="0"/>
                <a:cs typeface="Arial" panose="020B0604020202020204" pitchFamily="34" charset="0"/>
              </a:rPr>
              <a:t>Perforation colique ou diverticulaire</a:t>
            </a:r>
            <a:endParaRPr lang="fr-FR" b="1" dirty="0">
              <a:effectLst/>
              <a:latin typeface="Calibri" panose="020F0502020204030204" pitchFamily="34" charset="0"/>
              <a:ea typeface="Calibri" panose="020F0502020204030204" pitchFamily="34" charset="0"/>
              <a:cs typeface="Arial" panose="020B0604020202020204" pitchFamily="34" charset="0"/>
            </a:endParaRPr>
          </a:p>
          <a:p>
            <a:endParaRPr lang="fr-FR" dirty="0"/>
          </a:p>
        </p:txBody>
      </p:sp>
    </p:spTree>
    <p:extLst>
      <p:ext uri="{BB962C8B-B14F-4D97-AF65-F5344CB8AC3E}">
        <p14:creationId xmlns:p14="http://schemas.microsoft.com/office/powerpoint/2010/main" val="1390149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raitement de l'appendicite à Lyon | Centre Lyonnais de Chirurgie Digestive">
            <a:extLst>
              <a:ext uri="{FF2B5EF4-FFF2-40B4-BE49-F238E27FC236}">
                <a16:creationId xmlns:a16="http://schemas.microsoft.com/office/drawing/2014/main" id="{41C1D10B-4933-495B-A0C3-908CC503571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542"/>
            <a:ext cx="12192000" cy="6856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58370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8678C9-116B-423F-9F02-56F7467954A2}"/>
              </a:ext>
            </a:extLst>
          </p:cNvPr>
          <p:cNvSpPr>
            <a:spLocks noGrp="1"/>
          </p:cNvSpPr>
          <p:nvPr>
            <p:ph type="title"/>
          </p:nvPr>
        </p:nvSpPr>
        <p:spPr/>
        <p:txBody>
          <a:bodyPr>
            <a:normAutofit/>
          </a:bodyPr>
          <a:lstStyle/>
          <a:p>
            <a:r>
              <a:rPr lang="fr-FR" sz="3600" b="1" dirty="0">
                <a:effectLst/>
                <a:latin typeface="Times New Roman" panose="02020603050405020304" pitchFamily="18" charset="0"/>
                <a:ea typeface="Times New Roman" panose="02020603050405020304" pitchFamily="18" charset="0"/>
              </a:rPr>
              <a:t> </a:t>
            </a:r>
            <a:r>
              <a:rPr lang="fr-FR" sz="3600" b="1" dirty="0">
                <a:solidFill>
                  <a:srgbClr val="0070C0"/>
                </a:solidFill>
                <a:effectLst/>
                <a:latin typeface="Times New Roman" panose="02020603050405020304" pitchFamily="18" charset="0"/>
                <a:ea typeface="Times New Roman" panose="02020603050405020304" pitchFamily="18" charset="0"/>
              </a:rPr>
              <a:t>Signes cliniques dominants</a:t>
            </a:r>
            <a:endParaRPr lang="fr-FR" sz="7200" dirty="0"/>
          </a:p>
        </p:txBody>
      </p:sp>
      <p:sp>
        <p:nvSpPr>
          <p:cNvPr id="3" name="Espace réservé du contenu 2">
            <a:extLst>
              <a:ext uri="{FF2B5EF4-FFF2-40B4-BE49-F238E27FC236}">
                <a16:creationId xmlns:a16="http://schemas.microsoft.com/office/drawing/2014/main" id="{F5884D02-FE65-484D-A927-B9F7930395DA}"/>
              </a:ext>
            </a:extLst>
          </p:cNvPr>
          <p:cNvSpPr>
            <a:spLocks noGrp="1"/>
          </p:cNvSpPr>
          <p:nvPr>
            <p:ph idx="1"/>
          </p:nvPr>
        </p:nvSpPr>
        <p:spPr/>
        <p:txBody>
          <a:bodyPr>
            <a:normAutofit fontScale="92500"/>
          </a:bodyPr>
          <a:lstStyle/>
          <a:p>
            <a:pPr lvl="0">
              <a:lnSpc>
                <a:spcPct val="107000"/>
              </a:lnSpc>
              <a:spcAft>
                <a:spcPts val="800"/>
              </a:spcAft>
              <a:buSzPts val="1000"/>
              <a:buFont typeface="Wingdings" panose="05000000000000000000" pitchFamily="2" charset="2"/>
              <a:buChar char="q"/>
              <a:tabLst>
                <a:tab pos="457200" algn="l"/>
              </a:tabLst>
            </a:pPr>
            <a:r>
              <a:rPr lang="fr-FR" sz="3200" b="1" dirty="0">
                <a:effectLst/>
                <a:latin typeface="Times New Roman" panose="02020603050405020304" pitchFamily="18" charset="0"/>
                <a:ea typeface="Times New Roman" panose="02020603050405020304" pitchFamily="18" charset="0"/>
                <a:cs typeface="Arial" panose="020B0604020202020204" pitchFamily="34" charset="0"/>
              </a:rPr>
              <a:t>Douleur continue et intense</a:t>
            </a:r>
            <a:r>
              <a:rPr lang="fr-FR" sz="3200" dirty="0">
                <a:effectLst/>
                <a:latin typeface="Times New Roman" panose="02020603050405020304" pitchFamily="18" charset="0"/>
                <a:ea typeface="Times New Roman" panose="02020603050405020304" pitchFamily="18" charset="0"/>
                <a:cs typeface="Arial" panose="020B0604020202020204" pitchFamily="34" charset="0"/>
              </a:rPr>
              <a:t>, souvent localisée puis rapidement diffuse.</a:t>
            </a:r>
            <a:endParaRPr lang="fr-FR" sz="320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sz="3200" b="1" dirty="0">
                <a:effectLst/>
                <a:latin typeface="Times New Roman" panose="02020603050405020304" pitchFamily="18" charset="0"/>
                <a:ea typeface="Times New Roman" panose="02020603050405020304" pitchFamily="18" charset="0"/>
                <a:cs typeface="Arial" panose="020B0604020202020204" pitchFamily="34" charset="0"/>
              </a:rPr>
              <a:t>Défense ou contracture abdominale</a:t>
            </a:r>
            <a:r>
              <a:rPr lang="fr-FR" sz="3200" dirty="0">
                <a:effectLst/>
                <a:latin typeface="Times New Roman" panose="02020603050405020304" pitchFamily="18" charset="0"/>
                <a:ea typeface="Times New Roman" panose="02020603050405020304" pitchFamily="18" charset="0"/>
                <a:cs typeface="Arial" panose="020B0604020202020204" pitchFamily="34" charset="0"/>
              </a:rPr>
              <a:t> (ventre “de bois”).</a:t>
            </a:r>
            <a:endParaRPr lang="fr-FR" sz="320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sz="3200" b="1" dirty="0">
                <a:effectLst/>
                <a:latin typeface="Times New Roman" panose="02020603050405020304" pitchFamily="18" charset="0"/>
                <a:ea typeface="Times New Roman" panose="02020603050405020304" pitchFamily="18" charset="0"/>
                <a:cs typeface="Arial" panose="020B0604020202020204" pitchFamily="34" charset="0"/>
              </a:rPr>
              <a:t>Fièvre</a:t>
            </a:r>
            <a:r>
              <a:rPr lang="fr-FR" sz="3200" dirty="0">
                <a:effectLst/>
                <a:latin typeface="Times New Roman" panose="02020603050405020304" pitchFamily="18" charset="0"/>
                <a:ea typeface="Times New Roman" panose="02020603050405020304" pitchFamily="18" charset="0"/>
                <a:cs typeface="Arial" panose="020B0604020202020204" pitchFamily="34" charset="0"/>
              </a:rPr>
              <a:t> et </a:t>
            </a:r>
            <a:r>
              <a:rPr lang="fr-FR" sz="3200" b="1" dirty="0">
                <a:effectLst/>
                <a:latin typeface="Times New Roman" panose="02020603050405020304" pitchFamily="18" charset="0"/>
                <a:ea typeface="Times New Roman" panose="02020603050405020304" pitchFamily="18" charset="0"/>
                <a:cs typeface="Arial" panose="020B0604020202020204" pitchFamily="34" charset="0"/>
              </a:rPr>
              <a:t>syndrome infectieux</a:t>
            </a:r>
            <a:r>
              <a:rPr lang="fr-FR" sz="320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320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sz="3200" b="1" dirty="0">
                <a:effectLst/>
                <a:latin typeface="Times New Roman" panose="02020603050405020304" pitchFamily="18" charset="0"/>
                <a:ea typeface="Times New Roman" panose="02020603050405020304" pitchFamily="18" charset="0"/>
                <a:cs typeface="Arial" panose="020B0604020202020204" pitchFamily="34" charset="0"/>
              </a:rPr>
              <a:t>Arrêt du transit secondaire</a:t>
            </a:r>
            <a:r>
              <a:rPr lang="fr-FR" sz="320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3200" dirty="0">
              <a:effectLst/>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sz="3200" dirty="0">
                <a:effectLst/>
                <a:latin typeface="Times New Roman" panose="02020603050405020304" pitchFamily="18" charset="0"/>
                <a:ea typeface="Times New Roman" panose="02020603050405020304" pitchFamily="18" charset="0"/>
                <a:cs typeface="Arial" panose="020B0604020202020204" pitchFamily="34" charset="0"/>
              </a:rPr>
              <a:t>Respiration superficielle, </a:t>
            </a:r>
            <a:r>
              <a:rPr lang="fr-FR" sz="3200" b="1" dirty="0">
                <a:effectLst/>
                <a:latin typeface="Times New Roman" panose="02020603050405020304" pitchFamily="18" charset="0"/>
                <a:ea typeface="Times New Roman" panose="02020603050405020304" pitchFamily="18" charset="0"/>
                <a:cs typeface="Arial" panose="020B0604020202020204" pitchFamily="34" charset="0"/>
              </a:rPr>
              <a:t>abdomen immobile à l’inspiration</a:t>
            </a:r>
            <a:r>
              <a:rPr lang="fr-FR" sz="320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32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3843849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838A0B6-35E4-427A-85BF-EB16DC8908CB}"/>
              </a:ext>
            </a:extLst>
          </p:cNvPr>
          <p:cNvSpPr>
            <a:spLocks noGrp="1"/>
          </p:cNvSpPr>
          <p:nvPr>
            <p:ph idx="1"/>
          </p:nvPr>
        </p:nvSpPr>
        <p:spPr>
          <a:xfrm>
            <a:off x="838200" y="787936"/>
            <a:ext cx="10515600" cy="4351338"/>
          </a:xfrm>
        </p:spPr>
        <p:txBody>
          <a:bodyPr>
            <a:normAutofit fontScale="92500"/>
          </a:bodyPr>
          <a:lstStyle/>
          <a:p>
            <a:pPr>
              <a:lnSpc>
                <a:spcPct val="107000"/>
              </a:lnSpc>
              <a:spcAft>
                <a:spcPts val="800"/>
              </a:spcAft>
            </a:pPr>
            <a:r>
              <a:rPr lang="fr-FR" sz="32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3️</a:t>
            </a:r>
            <a:r>
              <a:rPr lang="fr-FR" sz="3200" b="1" dirty="0">
                <a:solidFill>
                  <a:srgbClr val="0070C0"/>
                </a:solidFill>
                <a:effectLst/>
                <a:latin typeface="Tahoma" panose="020B0604030504040204" pitchFamily="34" charset="0"/>
                <a:ea typeface="Times New Roman" panose="02020603050405020304" pitchFamily="18" charset="0"/>
                <a:cs typeface="Arial" panose="020B0604020202020204" pitchFamily="34" charset="0"/>
              </a:rPr>
              <a:t>⃣  </a:t>
            </a:r>
            <a:r>
              <a:rPr lang="fr-FR" sz="32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 Examens complémentaires</a:t>
            </a:r>
            <a:endParaRPr lang="fr-FR" sz="32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b="1" dirty="0">
                <a:effectLst/>
                <a:latin typeface="Times New Roman" panose="02020603050405020304" pitchFamily="18" charset="0"/>
                <a:ea typeface="Times New Roman" panose="02020603050405020304" pitchFamily="18" charset="0"/>
                <a:cs typeface="Arial" panose="020B0604020202020204" pitchFamily="34" charset="0"/>
              </a:rPr>
              <a:t>Scanner abdomino-pelvien injecté</a:t>
            </a:r>
            <a:r>
              <a:rPr lang="fr-FR" dirty="0">
                <a:effectLst/>
                <a:latin typeface="Times New Roman" panose="02020603050405020304" pitchFamily="18" charset="0"/>
                <a:ea typeface="Times New Roman" panose="02020603050405020304" pitchFamily="18" charset="0"/>
                <a:cs typeface="Arial" panose="020B0604020202020204" pitchFamily="34" charset="0"/>
              </a:rPr>
              <a:t> : diagnostic étiologique et extension.</a:t>
            </a:r>
            <a:endParaRPr lang="fr-FR"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b="1" dirty="0">
                <a:effectLst/>
                <a:latin typeface="Times New Roman" panose="02020603050405020304" pitchFamily="18" charset="0"/>
                <a:ea typeface="Times New Roman" panose="02020603050405020304" pitchFamily="18" charset="0"/>
                <a:cs typeface="Arial" panose="020B0604020202020204" pitchFamily="34" charset="0"/>
              </a:rPr>
              <a:t>Biologie</a:t>
            </a:r>
            <a:r>
              <a:rPr lang="fr-FR" dirty="0">
                <a:effectLst/>
                <a:latin typeface="Times New Roman" panose="02020603050405020304" pitchFamily="18" charset="0"/>
                <a:ea typeface="Times New Roman" panose="02020603050405020304" pitchFamily="18" charset="0"/>
                <a:cs typeface="Arial" panose="020B0604020202020204" pitchFamily="34" charset="0"/>
              </a:rPr>
              <a:t> : syndrome inflammatoire, hyperleucocytose</a:t>
            </a:r>
            <a:r>
              <a:rPr lang="fr-FR" sz="180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18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36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4️</a:t>
            </a:r>
            <a:r>
              <a:rPr lang="fr-FR" sz="3600" b="1" dirty="0">
                <a:solidFill>
                  <a:srgbClr val="0070C0"/>
                </a:solidFill>
                <a:effectLst/>
                <a:latin typeface="Tahoma" panose="020B0604030504040204" pitchFamily="34" charset="0"/>
                <a:ea typeface="Times New Roman" panose="02020603050405020304" pitchFamily="18" charset="0"/>
                <a:cs typeface="Arial" panose="020B0604020202020204" pitchFamily="34" charset="0"/>
              </a:rPr>
              <a:t>⃣</a:t>
            </a:r>
            <a:r>
              <a:rPr lang="fr-FR" sz="36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   Conduite à tenir</a:t>
            </a:r>
            <a:endParaRPr lang="fr-FR" sz="36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000" b="1" dirty="0">
                <a:effectLst/>
                <a:latin typeface="Times New Roman" panose="02020603050405020304" pitchFamily="18" charset="0"/>
                <a:ea typeface="Times New Roman" panose="02020603050405020304" pitchFamily="18" charset="0"/>
                <a:cs typeface="Arial" panose="020B0604020202020204" pitchFamily="34" charset="0"/>
              </a:rPr>
              <a:t>Urgence chirurgicale</a:t>
            </a:r>
            <a:r>
              <a:rPr lang="fr-FR" sz="3000" dirty="0">
                <a:effectLst/>
                <a:latin typeface="Times New Roman" panose="02020603050405020304" pitchFamily="18" charset="0"/>
                <a:ea typeface="Times New Roman" panose="02020603050405020304" pitchFamily="18" charset="0"/>
                <a:cs typeface="Arial" panose="020B0604020202020204" pitchFamily="34" charset="0"/>
              </a:rPr>
              <a:t> : exploration, lavage, traitement de la cause.</a:t>
            </a:r>
            <a:endParaRPr lang="fr-FR" sz="30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000" b="1" dirty="0">
                <a:effectLst/>
                <a:latin typeface="Times New Roman" panose="02020603050405020304" pitchFamily="18" charset="0"/>
                <a:ea typeface="Times New Roman" panose="02020603050405020304" pitchFamily="18" charset="0"/>
                <a:cs typeface="Arial" panose="020B0604020202020204" pitchFamily="34" charset="0"/>
              </a:rPr>
              <a:t>Antibiothérapie probabiliste</a:t>
            </a:r>
            <a:r>
              <a:rPr lang="fr-FR" sz="3000" dirty="0">
                <a:effectLst/>
                <a:latin typeface="Times New Roman" panose="02020603050405020304" pitchFamily="18" charset="0"/>
                <a:ea typeface="Times New Roman" panose="02020603050405020304" pitchFamily="18" charset="0"/>
                <a:cs typeface="Arial" panose="020B0604020202020204" pitchFamily="34" charset="0"/>
              </a:rPr>
              <a:t> et </a:t>
            </a:r>
            <a:r>
              <a:rPr lang="fr-FR" sz="3000" b="1" dirty="0">
                <a:effectLst/>
                <a:latin typeface="Times New Roman" panose="02020603050405020304" pitchFamily="18" charset="0"/>
                <a:ea typeface="Times New Roman" panose="02020603050405020304" pitchFamily="18" charset="0"/>
                <a:cs typeface="Arial" panose="020B0604020202020204" pitchFamily="34" charset="0"/>
              </a:rPr>
              <a:t>réanimation préopératoire</a:t>
            </a:r>
            <a:r>
              <a:rPr lang="fr-FR" sz="300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30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457584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8C5DDB-0D1E-403F-8508-F90F569D4B97}"/>
              </a:ext>
            </a:extLst>
          </p:cNvPr>
          <p:cNvSpPr>
            <a:spLocks noGrp="1"/>
          </p:cNvSpPr>
          <p:nvPr>
            <p:ph type="title"/>
          </p:nvPr>
        </p:nvSpPr>
        <p:spPr>
          <a:xfrm>
            <a:off x="591620" y="-197"/>
            <a:ext cx="10515600" cy="1325563"/>
          </a:xfrm>
        </p:spPr>
        <p:txBody>
          <a:bodyPr>
            <a:normAutofit/>
          </a:bodyPr>
          <a:lstStyle/>
          <a:p>
            <a:r>
              <a:rPr lang="fr-FR" sz="3200" b="1" dirty="0">
                <a:solidFill>
                  <a:srgbClr val="FF0000"/>
                </a:solidFill>
                <a:effectLst/>
                <a:latin typeface="Times New Roman" panose="02020603050405020304" pitchFamily="18" charset="0"/>
                <a:ea typeface="Times New Roman" panose="02020603050405020304" pitchFamily="18" charset="0"/>
                <a:cs typeface="Arial" panose="020B0604020202020204" pitchFamily="34" charset="0"/>
              </a:rPr>
              <a:t>II. Syndrome occlusif</a:t>
            </a:r>
            <a:endParaRPr lang="fr-FR" sz="6000" dirty="0"/>
          </a:p>
        </p:txBody>
      </p:sp>
      <p:sp>
        <p:nvSpPr>
          <p:cNvPr id="3" name="Espace réservé du contenu 2">
            <a:extLst>
              <a:ext uri="{FF2B5EF4-FFF2-40B4-BE49-F238E27FC236}">
                <a16:creationId xmlns:a16="http://schemas.microsoft.com/office/drawing/2014/main" id="{7920B21C-D288-4EBA-B7DD-F41B40160628}"/>
              </a:ext>
            </a:extLst>
          </p:cNvPr>
          <p:cNvSpPr>
            <a:spLocks noGrp="1"/>
          </p:cNvSpPr>
          <p:nvPr>
            <p:ph idx="1"/>
          </p:nvPr>
        </p:nvSpPr>
        <p:spPr>
          <a:xfrm>
            <a:off x="838200" y="1027416"/>
            <a:ext cx="9199652" cy="5712431"/>
          </a:xfrm>
        </p:spPr>
        <p:txBody>
          <a:bodyPr>
            <a:normAutofit fontScale="25000" lnSpcReduction="20000"/>
          </a:bodyPr>
          <a:lstStyle/>
          <a:p>
            <a:pPr>
              <a:lnSpc>
                <a:spcPct val="107000"/>
              </a:lnSpc>
              <a:spcAft>
                <a:spcPts val="800"/>
              </a:spcAft>
            </a:pPr>
            <a:r>
              <a:rPr lang="fr-FR" sz="43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1️</a:t>
            </a:r>
            <a:r>
              <a:rPr lang="fr-FR" sz="4300" b="1" dirty="0">
                <a:solidFill>
                  <a:srgbClr val="0070C0"/>
                </a:solidFill>
                <a:effectLst/>
                <a:latin typeface="Tahoma" panose="020B0604030504040204" pitchFamily="34" charset="0"/>
                <a:ea typeface="Times New Roman" panose="02020603050405020304" pitchFamily="18" charset="0"/>
                <a:cs typeface="Arial" panose="020B0604020202020204" pitchFamily="34" charset="0"/>
              </a:rPr>
              <a:t>⃣</a:t>
            </a:r>
            <a:r>
              <a:rPr lang="fr-FR" sz="43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sz="8600" b="1" dirty="0">
                <a:solidFill>
                  <a:srgbClr val="FF0000"/>
                </a:solidFill>
                <a:effectLst/>
                <a:latin typeface="Comic Sans MS" panose="030F0702030302020204" pitchFamily="66" charset="0"/>
                <a:ea typeface="Times New Roman" panose="02020603050405020304" pitchFamily="18" charset="0"/>
                <a:cs typeface="Arial" panose="020B0604020202020204" pitchFamily="34" charset="0"/>
              </a:rPr>
              <a:t>Étiologies fréquentes</a:t>
            </a:r>
            <a:endParaRPr lang="fr-FR" sz="8600" dirty="0">
              <a:solidFill>
                <a:srgbClr val="FF0000"/>
              </a:solidFill>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9600" b="1" dirty="0">
                <a:latin typeface="Comic Sans MS" panose="030F0702030302020204" pitchFamily="66" charset="0"/>
                <a:cs typeface="Arial" panose="020B0604020202020204" pitchFamily="34" charset="0"/>
              </a:rPr>
              <a:t>Occlusion grêlique par brides postopératoires</a:t>
            </a:r>
          </a:p>
          <a:p>
            <a:pPr marL="342900" lvl="0" indent="-342900">
              <a:lnSpc>
                <a:spcPct val="107000"/>
              </a:lnSpc>
              <a:spcAft>
                <a:spcPts val="800"/>
              </a:spcAft>
              <a:buSzPts val="1000"/>
              <a:buFont typeface="Symbol" panose="05050102010706020507" pitchFamily="18" charset="2"/>
              <a:buChar char=""/>
              <a:tabLst>
                <a:tab pos="457200" algn="l"/>
              </a:tabLst>
            </a:pPr>
            <a:r>
              <a:rPr lang="fr-FR" sz="9600" b="1" dirty="0">
                <a:latin typeface="Comic Sans MS" panose="030F0702030302020204" pitchFamily="66" charset="0"/>
                <a:cs typeface="Arial" panose="020B0604020202020204" pitchFamily="34" charset="0"/>
              </a:rPr>
              <a:t>Volvulus (sigmoïde, grêle)</a:t>
            </a:r>
          </a:p>
          <a:p>
            <a:pPr marL="342900" lvl="0" indent="-342900">
              <a:lnSpc>
                <a:spcPct val="107000"/>
              </a:lnSpc>
              <a:spcAft>
                <a:spcPts val="800"/>
              </a:spcAft>
              <a:buSzPts val="1000"/>
              <a:buFont typeface="Symbol" panose="05050102010706020507" pitchFamily="18" charset="2"/>
              <a:buChar char=""/>
              <a:tabLst>
                <a:tab pos="457200" algn="l"/>
              </a:tabLst>
            </a:pPr>
            <a:r>
              <a:rPr lang="fr-FR" sz="9600" b="1" dirty="0">
                <a:latin typeface="Comic Sans MS" panose="030F0702030302020204" pitchFamily="66" charset="0"/>
                <a:cs typeface="Arial" panose="020B0604020202020204" pitchFamily="34" charset="0"/>
              </a:rPr>
              <a:t>Hernie étranglée</a:t>
            </a:r>
          </a:p>
          <a:p>
            <a:pPr marL="342900" lvl="0" indent="-342900">
              <a:lnSpc>
                <a:spcPct val="107000"/>
              </a:lnSpc>
              <a:spcAft>
                <a:spcPts val="800"/>
              </a:spcAft>
              <a:buSzPts val="1000"/>
              <a:buFont typeface="Symbol" panose="05050102010706020507" pitchFamily="18" charset="2"/>
              <a:buChar char=""/>
              <a:tabLst>
                <a:tab pos="457200" algn="l"/>
              </a:tabLst>
            </a:pPr>
            <a:r>
              <a:rPr lang="fr-FR" sz="9600" b="1" dirty="0">
                <a:latin typeface="Comic Sans MS" panose="030F0702030302020204" pitchFamily="66" charset="0"/>
                <a:cs typeface="Arial" panose="020B0604020202020204" pitchFamily="34" charset="0"/>
              </a:rPr>
              <a:t>Cancer colique obstructif</a:t>
            </a:r>
          </a:p>
          <a:p>
            <a:pPr>
              <a:lnSpc>
                <a:spcPct val="107000"/>
              </a:lnSpc>
              <a:spcAft>
                <a:spcPts val="800"/>
              </a:spcAft>
            </a:pPr>
            <a:r>
              <a:rPr lang="fr-FR" sz="7200" b="1" dirty="0">
                <a:solidFill>
                  <a:srgbClr val="FF0000"/>
                </a:solidFill>
                <a:effectLst/>
                <a:latin typeface="Comic Sans MS" panose="030F0702030302020204" pitchFamily="66" charset="0"/>
                <a:ea typeface="Times New Roman" panose="02020603050405020304" pitchFamily="18" charset="0"/>
                <a:cs typeface="Arial" panose="020B0604020202020204" pitchFamily="34" charset="0"/>
              </a:rPr>
              <a:t>2️⃣    Signes dominants</a:t>
            </a:r>
            <a:endParaRPr lang="fr-FR" sz="7200" dirty="0">
              <a:solidFill>
                <a:srgbClr val="FF0000"/>
              </a:solidFill>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9600" b="1" dirty="0">
                <a:effectLst/>
                <a:latin typeface="Comic Sans MS" panose="030F0702030302020204" pitchFamily="66" charset="0"/>
                <a:ea typeface="Times New Roman" panose="02020603050405020304" pitchFamily="18" charset="0"/>
                <a:cs typeface="Arial" panose="020B0604020202020204" pitchFamily="34" charset="0"/>
              </a:rPr>
              <a:t>Triade classique</a:t>
            </a:r>
            <a:r>
              <a:rPr lang="fr-FR" sz="9600" dirty="0">
                <a:effectLst/>
                <a:latin typeface="Comic Sans MS" panose="030F0702030302020204" pitchFamily="66" charset="0"/>
                <a:ea typeface="Times New Roman" panose="02020603050405020304" pitchFamily="18" charset="0"/>
                <a:cs typeface="Arial" panose="020B0604020202020204" pitchFamily="34" charset="0"/>
              </a:rPr>
              <a:t> : douleur abdominale + vomissements + </a:t>
            </a:r>
            <a:r>
              <a:rPr lang="fr-FR" sz="9600" b="1" dirty="0">
                <a:effectLst/>
                <a:latin typeface="Comic Sans MS" panose="030F0702030302020204" pitchFamily="66" charset="0"/>
                <a:ea typeface="Times New Roman" panose="02020603050405020304" pitchFamily="18" charset="0"/>
                <a:cs typeface="Arial" panose="020B0604020202020204" pitchFamily="34" charset="0"/>
              </a:rPr>
              <a:t>arrêt des gaz et des matières</a:t>
            </a:r>
            <a:r>
              <a:rPr lang="fr-FR" sz="9600" dirty="0">
                <a:effectLst/>
                <a:latin typeface="Comic Sans MS" panose="030F0702030302020204" pitchFamily="66" charset="0"/>
                <a:ea typeface="Times New Roman" panose="02020603050405020304" pitchFamily="18" charset="0"/>
                <a:cs typeface="Arial" panose="020B0604020202020204" pitchFamily="34" charset="0"/>
              </a:rPr>
              <a:t>.</a:t>
            </a:r>
            <a:endParaRPr lang="fr-FR" sz="96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9600" b="1" dirty="0">
                <a:effectLst/>
                <a:latin typeface="Comic Sans MS" panose="030F0702030302020204" pitchFamily="66" charset="0"/>
                <a:ea typeface="Times New Roman" panose="02020603050405020304" pitchFamily="18" charset="0"/>
                <a:cs typeface="Arial" panose="020B0604020202020204" pitchFamily="34" charset="0"/>
              </a:rPr>
              <a:t>Distension abdominale visible</a:t>
            </a:r>
            <a:r>
              <a:rPr lang="fr-FR" sz="9600" dirty="0">
                <a:effectLst/>
                <a:latin typeface="Comic Sans MS" panose="030F0702030302020204" pitchFamily="66" charset="0"/>
                <a:ea typeface="Times New Roman" panose="02020603050405020304" pitchFamily="18" charset="0"/>
                <a:cs typeface="Arial" panose="020B0604020202020204" pitchFamily="34" charset="0"/>
              </a:rPr>
              <a:t>.</a:t>
            </a:r>
            <a:endParaRPr lang="fr-FR" sz="96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9600" b="1" dirty="0">
                <a:effectLst/>
                <a:latin typeface="Comic Sans MS" panose="030F0702030302020204" pitchFamily="66" charset="0"/>
                <a:ea typeface="Times New Roman" panose="02020603050405020304" pitchFamily="18" charset="0"/>
                <a:cs typeface="Arial" panose="020B0604020202020204" pitchFamily="34" charset="0"/>
              </a:rPr>
              <a:t>Bruits métalliques</a:t>
            </a:r>
            <a:r>
              <a:rPr lang="fr-FR" sz="9600" dirty="0">
                <a:effectLst/>
                <a:latin typeface="Comic Sans MS" panose="030F0702030302020204" pitchFamily="66" charset="0"/>
                <a:ea typeface="Times New Roman" panose="02020603050405020304" pitchFamily="18" charset="0"/>
                <a:cs typeface="Arial" panose="020B0604020202020204" pitchFamily="34" charset="0"/>
              </a:rPr>
              <a:t> ou au contraire </a:t>
            </a:r>
            <a:r>
              <a:rPr lang="fr-FR" sz="9600" b="1" dirty="0">
                <a:effectLst/>
                <a:latin typeface="Comic Sans MS" panose="030F0702030302020204" pitchFamily="66" charset="0"/>
                <a:ea typeface="Times New Roman" panose="02020603050405020304" pitchFamily="18" charset="0"/>
                <a:cs typeface="Arial" panose="020B0604020202020204" pitchFamily="34" charset="0"/>
              </a:rPr>
              <a:t>silence auscultatoire</a:t>
            </a:r>
            <a:r>
              <a:rPr lang="fr-FR" sz="9600" dirty="0">
                <a:effectLst/>
                <a:latin typeface="Comic Sans MS" panose="030F0702030302020204" pitchFamily="66" charset="0"/>
                <a:ea typeface="Times New Roman" panose="02020603050405020304" pitchFamily="18" charset="0"/>
                <a:cs typeface="Arial" panose="020B0604020202020204" pitchFamily="34" charset="0"/>
              </a:rPr>
              <a:t> (iléus paralytique).</a:t>
            </a:r>
            <a:endParaRPr lang="fr-FR" sz="96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9600" dirty="0">
                <a:effectLst/>
                <a:latin typeface="Comic Sans MS" panose="030F0702030302020204" pitchFamily="66" charset="0"/>
                <a:ea typeface="Times New Roman" panose="02020603050405020304" pitchFamily="18" charset="0"/>
                <a:cs typeface="Arial" panose="020B0604020202020204" pitchFamily="34" charset="0"/>
              </a:rPr>
              <a:t>Sensibilité diffuse sans défense.</a:t>
            </a:r>
            <a:endParaRPr lang="fr-FR" sz="9600" dirty="0">
              <a:effectLst/>
              <a:latin typeface="Comic Sans MS" panose="030F0702030302020204" pitchFamily="66" charset="0"/>
              <a:ea typeface="Calibri" panose="020F0502020204030204" pitchFamily="34" charset="0"/>
              <a:cs typeface="Arial" panose="020B0604020202020204" pitchFamily="34" charset="0"/>
            </a:endParaRPr>
          </a:p>
          <a:p>
            <a:pPr marL="0" indent="0">
              <a:buNone/>
            </a:pPr>
            <a:endParaRPr lang="fr-FR" dirty="0"/>
          </a:p>
        </p:txBody>
      </p:sp>
      <p:pic>
        <p:nvPicPr>
          <p:cNvPr id="5122" name="Picture 2" descr="Dessin humoristique sur l'estomac et le : image vectorielle de stock (libre  de droits) 2422866841 | Shutterstock">
            <a:extLst>
              <a:ext uri="{FF2B5EF4-FFF2-40B4-BE49-F238E27FC236}">
                <a16:creationId xmlns:a16="http://schemas.microsoft.com/office/drawing/2014/main" id="{0F7EEABA-8442-4D54-8E50-1C56117A39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2432" y="1027416"/>
            <a:ext cx="2967948" cy="2856215"/>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4960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41354E1E-7C34-4032-92DB-66C4571D35E8}"/>
              </a:ext>
            </a:extLst>
          </p:cNvPr>
          <p:cNvSpPr>
            <a:spLocks noGrp="1"/>
          </p:cNvSpPr>
          <p:nvPr>
            <p:ph idx="1"/>
          </p:nvPr>
        </p:nvSpPr>
        <p:spPr>
          <a:xfrm>
            <a:off x="838200" y="472611"/>
            <a:ext cx="10515600" cy="5704352"/>
          </a:xfrm>
        </p:spPr>
        <p:txBody>
          <a:bodyPr>
            <a:normAutofit/>
          </a:bodyPr>
          <a:lstStyle/>
          <a:p>
            <a:pPr>
              <a:lnSpc>
                <a:spcPct val="107000"/>
              </a:lnSpc>
              <a:spcAft>
                <a:spcPts val="800"/>
              </a:spcAft>
            </a:pPr>
            <a:r>
              <a:rPr lang="fr-FR" sz="32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sz="3200" b="1" dirty="0">
                <a:solidFill>
                  <a:srgbClr val="0070C0"/>
                </a:solidFill>
                <a:effectLst/>
                <a:latin typeface="Comic Sans MS" panose="030F0702030302020204" pitchFamily="66" charset="0"/>
                <a:ea typeface="Times New Roman" panose="02020603050405020304" pitchFamily="18" charset="0"/>
                <a:cs typeface="Arial" panose="020B0604020202020204" pitchFamily="34" charset="0"/>
              </a:rPr>
              <a:t>Examens complémentaires</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2400" b="1" dirty="0">
                <a:effectLst/>
                <a:latin typeface="Comic Sans MS" panose="030F0702030302020204" pitchFamily="66" charset="0"/>
                <a:ea typeface="Times New Roman" panose="02020603050405020304" pitchFamily="18" charset="0"/>
                <a:cs typeface="Arial" panose="020B0604020202020204" pitchFamily="34" charset="0"/>
              </a:rPr>
              <a:t>ASP</a:t>
            </a:r>
            <a:r>
              <a:rPr lang="fr-FR" sz="2400" dirty="0">
                <a:effectLst/>
                <a:latin typeface="Comic Sans MS" panose="030F0702030302020204" pitchFamily="66" charset="0"/>
                <a:ea typeface="Times New Roman" panose="02020603050405020304" pitchFamily="18" charset="0"/>
                <a:cs typeface="Arial" panose="020B0604020202020204" pitchFamily="34" charset="0"/>
              </a:rPr>
              <a:t> : niveaux hydro-aériques.</a:t>
            </a:r>
            <a:endParaRPr lang="fr-FR" sz="24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2400" b="1" dirty="0">
                <a:effectLst/>
                <a:latin typeface="Comic Sans MS" panose="030F0702030302020204" pitchFamily="66" charset="0"/>
                <a:ea typeface="Times New Roman" panose="02020603050405020304" pitchFamily="18" charset="0"/>
                <a:cs typeface="Arial" panose="020B0604020202020204" pitchFamily="34" charset="0"/>
              </a:rPr>
              <a:t>Scanner abdomino-pelvien</a:t>
            </a:r>
            <a:r>
              <a:rPr lang="fr-FR" sz="2400" dirty="0">
                <a:effectLst/>
                <a:latin typeface="Comic Sans MS" panose="030F0702030302020204" pitchFamily="66" charset="0"/>
                <a:ea typeface="Times New Roman" panose="02020603050405020304" pitchFamily="18" charset="0"/>
                <a:cs typeface="Arial" panose="020B0604020202020204" pitchFamily="34" charset="0"/>
              </a:rPr>
              <a:t> : confirme le diagnostic, précise </a:t>
            </a:r>
            <a:r>
              <a:rPr lang="fr-FR" sz="2400" b="1" dirty="0">
                <a:effectLst/>
                <a:latin typeface="Comic Sans MS" panose="030F0702030302020204" pitchFamily="66" charset="0"/>
                <a:ea typeface="Times New Roman" panose="02020603050405020304" pitchFamily="18" charset="0"/>
                <a:cs typeface="Arial" panose="020B0604020202020204" pitchFamily="34" charset="0"/>
              </a:rPr>
              <a:t>le siège et la cause de l’obstacle</a:t>
            </a:r>
            <a:r>
              <a:rPr lang="fr-FR" sz="1800" dirty="0">
                <a:effectLst/>
                <a:latin typeface="Comic Sans MS" panose="030F0702030302020204" pitchFamily="66" charset="0"/>
                <a:ea typeface="Times New Roman" panose="02020603050405020304" pitchFamily="18" charset="0"/>
                <a:cs typeface="Arial" panose="020B0604020202020204" pitchFamily="34" charset="0"/>
              </a:rPr>
              <a:t>.</a:t>
            </a:r>
            <a:endParaRPr lang="fr-FR" sz="1800" dirty="0">
              <a:effectLst/>
              <a:latin typeface="Comic Sans MS" panose="030F0702030302020204" pitchFamily="66" charset="0"/>
              <a:ea typeface="Calibri" panose="020F0502020204030204" pitchFamily="34" charset="0"/>
              <a:cs typeface="Arial" panose="020B0604020202020204" pitchFamily="34" charset="0"/>
            </a:endParaRPr>
          </a:p>
          <a:p>
            <a:pPr>
              <a:lnSpc>
                <a:spcPct val="107000"/>
              </a:lnSpc>
              <a:spcAft>
                <a:spcPts val="800"/>
              </a:spcAft>
            </a:pPr>
            <a:r>
              <a:rPr lang="fr-FR" sz="3200" b="1" dirty="0">
                <a:solidFill>
                  <a:srgbClr val="0070C0"/>
                </a:solidFill>
                <a:effectLst/>
                <a:latin typeface="Comic Sans MS" panose="030F0702030302020204" pitchFamily="66" charset="0"/>
                <a:ea typeface="Times New Roman" panose="02020603050405020304" pitchFamily="18" charset="0"/>
                <a:cs typeface="Arial" panose="020B0604020202020204" pitchFamily="34" charset="0"/>
              </a:rPr>
              <a:t>4️⃣   Conduite à tenir</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b="1" dirty="0">
                <a:effectLst/>
                <a:latin typeface="Comic Sans MS" panose="030F0702030302020204" pitchFamily="66" charset="0"/>
                <a:ea typeface="Times New Roman" panose="02020603050405020304" pitchFamily="18" charset="0"/>
                <a:cs typeface="Arial" panose="020B0604020202020204" pitchFamily="34" charset="0"/>
              </a:rPr>
              <a:t>Réanimation initiale</a:t>
            </a:r>
            <a:r>
              <a:rPr lang="fr-FR" dirty="0">
                <a:effectLst/>
                <a:latin typeface="Comic Sans MS" panose="030F0702030302020204" pitchFamily="66" charset="0"/>
                <a:ea typeface="Times New Roman" panose="02020603050405020304" pitchFamily="18" charset="0"/>
                <a:cs typeface="Arial" panose="020B0604020202020204" pitchFamily="34" charset="0"/>
              </a:rPr>
              <a:t> (VVP, aspiration gastrique, correction hydroélectrolytique).</a:t>
            </a:r>
            <a:endParaRPr lang="fr-FR"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dirty="0">
                <a:effectLst/>
                <a:latin typeface="Comic Sans MS" panose="030F0702030302020204" pitchFamily="66" charset="0"/>
                <a:ea typeface="Times New Roman" panose="02020603050405020304" pitchFamily="18" charset="0"/>
                <a:cs typeface="Arial" panose="020B0604020202020204" pitchFamily="34" charset="0"/>
              </a:rPr>
              <a:t>Si </a:t>
            </a:r>
            <a:r>
              <a:rPr lang="fr-FR" b="1" dirty="0">
                <a:effectLst/>
                <a:latin typeface="Comic Sans MS" panose="030F0702030302020204" pitchFamily="66" charset="0"/>
                <a:ea typeface="Times New Roman" panose="02020603050405020304" pitchFamily="18" charset="0"/>
                <a:cs typeface="Arial" panose="020B0604020202020204" pitchFamily="34" charset="0"/>
              </a:rPr>
              <a:t>occlusion mécanique confirmée</a:t>
            </a:r>
            <a:r>
              <a:rPr lang="fr-FR" dirty="0">
                <a:effectLst/>
                <a:latin typeface="Comic Sans MS" panose="030F0702030302020204" pitchFamily="66" charset="0"/>
                <a:ea typeface="Times New Roman" panose="02020603050405020304" pitchFamily="18" charset="0"/>
                <a:cs typeface="Arial" panose="020B0604020202020204" pitchFamily="34" charset="0"/>
              </a:rPr>
              <a:t> → </a:t>
            </a:r>
            <a:r>
              <a:rPr lang="fr-FR" b="1" dirty="0">
                <a:effectLst/>
                <a:latin typeface="Comic Sans MS" panose="030F0702030302020204" pitchFamily="66" charset="0"/>
                <a:ea typeface="Times New Roman" panose="02020603050405020304" pitchFamily="18" charset="0"/>
                <a:cs typeface="Arial" panose="020B0604020202020204" pitchFamily="34" charset="0"/>
              </a:rPr>
              <a:t>chirurgie en urgence</a:t>
            </a:r>
            <a:r>
              <a:rPr lang="fr-FR" dirty="0">
                <a:effectLst/>
                <a:latin typeface="Comic Sans MS" panose="030F0702030302020204" pitchFamily="66" charset="0"/>
                <a:ea typeface="Times New Roman" panose="02020603050405020304" pitchFamily="18" charset="0"/>
                <a:cs typeface="Arial" panose="020B0604020202020204" pitchFamily="34" charset="0"/>
              </a:rPr>
              <a:t>.</a:t>
            </a:r>
            <a:endParaRPr lang="fr-FR" sz="4000" dirty="0">
              <a:latin typeface="Comic Sans MS" panose="030F0702030302020204" pitchFamily="66" charset="0"/>
            </a:endParaRPr>
          </a:p>
        </p:txBody>
      </p:sp>
    </p:spTree>
    <p:extLst>
      <p:ext uri="{BB962C8B-B14F-4D97-AF65-F5344CB8AC3E}">
        <p14:creationId xmlns:p14="http://schemas.microsoft.com/office/powerpoint/2010/main" val="3538874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DD981A-EA36-4D0E-9EFA-3DF360B27D7C}"/>
              </a:ext>
            </a:extLst>
          </p:cNvPr>
          <p:cNvSpPr>
            <a:spLocks noGrp="1"/>
          </p:cNvSpPr>
          <p:nvPr>
            <p:ph type="title"/>
          </p:nvPr>
        </p:nvSpPr>
        <p:spPr/>
        <p:txBody>
          <a:bodyPr>
            <a:normAutofit/>
          </a:bodyPr>
          <a:lstStyle/>
          <a:p>
            <a:r>
              <a:rPr lang="fr-FR" sz="4000" b="1" dirty="0">
                <a:solidFill>
                  <a:srgbClr val="FF0000"/>
                </a:solidFill>
                <a:effectLst/>
                <a:latin typeface="Times New Roman" panose="02020603050405020304" pitchFamily="18" charset="0"/>
                <a:ea typeface="Times New Roman" panose="02020603050405020304" pitchFamily="18" charset="0"/>
              </a:rPr>
              <a:t>III. Syndrome hémorragique intra-abdominal</a:t>
            </a:r>
            <a:endParaRPr lang="fr-FR" sz="8000" dirty="0"/>
          </a:p>
        </p:txBody>
      </p:sp>
      <p:sp>
        <p:nvSpPr>
          <p:cNvPr id="3" name="Espace réservé du contenu 2">
            <a:extLst>
              <a:ext uri="{FF2B5EF4-FFF2-40B4-BE49-F238E27FC236}">
                <a16:creationId xmlns:a16="http://schemas.microsoft.com/office/drawing/2014/main" id="{395592EF-CB0D-4912-9750-2CB52D1D360A}"/>
              </a:ext>
            </a:extLst>
          </p:cNvPr>
          <p:cNvSpPr>
            <a:spLocks noGrp="1"/>
          </p:cNvSpPr>
          <p:nvPr>
            <p:ph idx="1"/>
          </p:nvPr>
        </p:nvSpPr>
        <p:spPr/>
        <p:txBody>
          <a:bodyPr/>
          <a:lstStyle/>
          <a:p>
            <a:pPr>
              <a:lnSpc>
                <a:spcPct val="107000"/>
              </a:lnSpc>
              <a:spcAft>
                <a:spcPts val="800"/>
              </a:spcAft>
            </a:pPr>
            <a:r>
              <a:rPr lang="fr-FR" sz="32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sz="3200" b="1" dirty="0">
                <a:solidFill>
                  <a:srgbClr val="0070C0"/>
                </a:solidFill>
                <a:effectLst/>
                <a:latin typeface="Comic Sans MS" panose="030F0702030302020204" pitchFamily="66" charset="0"/>
                <a:ea typeface="Times New Roman" panose="02020603050405020304" pitchFamily="18" charset="0"/>
                <a:cs typeface="Arial" panose="020B0604020202020204" pitchFamily="34" charset="0"/>
              </a:rPr>
              <a:t>Étiologies fréquentes</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b="1" dirty="0">
                <a:effectLst/>
                <a:latin typeface="Comic Sans MS" panose="030F0702030302020204" pitchFamily="66" charset="0"/>
                <a:ea typeface="Times New Roman" panose="02020603050405020304" pitchFamily="18" charset="0"/>
                <a:cs typeface="Arial" panose="020B0604020202020204" pitchFamily="34" charset="0"/>
              </a:rPr>
              <a:t>Grossesse extra-utérine rompue</a:t>
            </a:r>
            <a:endParaRPr lang="fr-FR"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b="1" dirty="0">
                <a:effectLst/>
                <a:latin typeface="Comic Sans MS" panose="030F0702030302020204" pitchFamily="66" charset="0"/>
                <a:ea typeface="Times New Roman" panose="02020603050405020304" pitchFamily="18" charset="0"/>
                <a:cs typeface="Arial" panose="020B0604020202020204" pitchFamily="34" charset="0"/>
              </a:rPr>
              <a:t>Rupture de rate</a:t>
            </a:r>
            <a:r>
              <a:rPr lang="fr-FR" dirty="0">
                <a:effectLst/>
                <a:latin typeface="Comic Sans MS" panose="030F0702030302020204" pitchFamily="66" charset="0"/>
                <a:ea typeface="Times New Roman" panose="02020603050405020304" pitchFamily="18" charset="0"/>
                <a:cs typeface="Arial" panose="020B0604020202020204" pitchFamily="34" charset="0"/>
              </a:rPr>
              <a:t> (traumatique ou spontanée)</a:t>
            </a:r>
            <a:endParaRPr lang="fr-FR"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b="1" dirty="0">
                <a:effectLst/>
                <a:latin typeface="Comic Sans MS" panose="030F0702030302020204" pitchFamily="66" charset="0"/>
                <a:ea typeface="Times New Roman" panose="02020603050405020304" pitchFamily="18" charset="0"/>
                <a:cs typeface="Arial" panose="020B0604020202020204" pitchFamily="34" charset="0"/>
              </a:rPr>
              <a:t>Hémopéritoine post-traumatique ou iatrogène</a:t>
            </a:r>
            <a:endParaRPr lang="fr-FR"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b="1" dirty="0">
                <a:effectLst/>
                <a:latin typeface="Comic Sans MS" panose="030F0702030302020204" pitchFamily="66" charset="0"/>
                <a:ea typeface="Times New Roman" panose="02020603050405020304" pitchFamily="18" charset="0"/>
                <a:cs typeface="Arial" panose="020B0604020202020204" pitchFamily="34" charset="0"/>
              </a:rPr>
              <a:t>Ulcère gastroduodénal hémorragique</a:t>
            </a:r>
            <a:endParaRPr lang="fr-FR" sz="4000" dirty="0">
              <a:latin typeface="Comic Sans MS" panose="030F0702030302020204" pitchFamily="66" charset="0"/>
            </a:endParaRPr>
          </a:p>
        </p:txBody>
      </p:sp>
      <p:pic>
        <p:nvPicPr>
          <p:cNvPr id="6146" name="Picture 2" descr="IMAGERIE DES URGENCES ABDOMINALES TRAUMATISMES">
            <a:extLst>
              <a:ext uri="{FF2B5EF4-FFF2-40B4-BE49-F238E27FC236}">
                <a16:creationId xmlns:a16="http://schemas.microsoft.com/office/drawing/2014/main" id="{C41F43B0-DBD2-4B19-94AD-10D0713724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77771" y="2702102"/>
            <a:ext cx="2424494" cy="2592085"/>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88382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36FE4D-76DD-49FB-A846-E4FD492CDB5D}"/>
              </a:ext>
            </a:extLst>
          </p:cNvPr>
          <p:cNvSpPr>
            <a:spLocks noGrp="1"/>
          </p:cNvSpPr>
          <p:nvPr>
            <p:ph type="title"/>
          </p:nvPr>
        </p:nvSpPr>
        <p:spPr/>
        <p:txBody>
          <a:bodyPr/>
          <a:lstStyle/>
          <a:p>
            <a:r>
              <a:rPr lang="fr-FR" sz="44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 Signes dominants</a:t>
            </a:r>
            <a:br>
              <a:rPr lang="fr-FR" sz="4400" dirty="0">
                <a:effectLst/>
                <a:latin typeface="Calibri" panose="020F0502020204030204" pitchFamily="34" charset="0"/>
                <a:ea typeface="Calibri" panose="020F0502020204030204" pitchFamily="34" charset="0"/>
                <a:cs typeface="Arial" panose="020B0604020202020204" pitchFamily="34" charset="0"/>
              </a:rPr>
            </a:br>
            <a:endParaRPr lang="fr-FR" dirty="0"/>
          </a:p>
        </p:txBody>
      </p:sp>
      <p:sp>
        <p:nvSpPr>
          <p:cNvPr id="3" name="Espace réservé du contenu 2">
            <a:extLst>
              <a:ext uri="{FF2B5EF4-FFF2-40B4-BE49-F238E27FC236}">
                <a16:creationId xmlns:a16="http://schemas.microsoft.com/office/drawing/2014/main" id="{921D653E-30FD-4767-BBC9-5BF8BFFB5E39}"/>
              </a:ext>
            </a:extLst>
          </p:cNvPr>
          <p:cNvSpPr>
            <a:spLocks noGrp="1"/>
          </p:cNvSpPr>
          <p:nvPr>
            <p:ph idx="1"/>
          </p:nvPr>
        </p:nvSpPr>
        <p:spPr/>
        <p:txBody>
          <a:bodyPr>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fr-FR" sz="3200" b="1" dirty="0">
                <a:effectLst/>
                <a:latin typeface="Times New Roman" panose="02020603050405020304" pitchFamily="18" charset="0"/>
                <a:ea typeface="Times New Roman" panose="02020603050405020304" pitchFamily="18" charset="0"/>
                <a:cs typeface="Arial" panose="020B0604020202020204" pitchFamily="34" charset="0"/>
              </a:rPr>
              <a:t>Douleur abdominale brutale et intense</a:t>
            </a:r>
            <a:r>
              <a:rPr lang="fr-FR" sz="320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32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200" b="1" dirty="0">
                <a:effectLst/>
                <a:latin typeface="Times New Roman" panose="02020603050405020304" pitchFamily="18" charset="0"/>
                <a:ea typeface="Times New Roman" panose="02020603050405020304" pitchFamily="18" charset="0"/>
                <a:cs typeface="Arial" panose="020B0604020202020204" pitchFamily="34" charset="0"/>
              </a:rPr>
              <a:t>Signes de choc hypovolémique</a:t>
            </a:r>
            <a:r>
              <a:rPr lang="fr-FR" sz="3200" dirty="0">
                <a:effectLst/>
                <a:latin typeface="Times New Roman" panose="02020603050405020304" pitchFamily="18" charset="0"/>
                <a:ea typeface="Times New Roman" panose="02020603050405020304" pitchFamily="18" charset="0"/>
                <a:cs typeface="Arial" panose="020B0604020202020204" pitchFamily="34" charset="0"/>
              </a:rPr>
              <a:t> : TA basse, tachycardie, pâleur, sueurs froides.</a:t>
            </a:r>
            <a:endParaRPr lang="fr-FR" sz="32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200" b="1" dirty="0">
                <a:effectLst/>
                <a:latin typeface="Times New Roman" panose="02020603050405020304" pitchFamily="18" charset="0"/>
                <a:ea typeface="Times New Roman" panose="02020603050405020304" pitchFamily="18" charset="0"/>
                <a:cs typeface="Arial" panose="020B0604020202020204" pitchFamily="34" charset="0"/>
              </a:rPr>
              <a:t>Matité déclive</a:t>
            </a:r>
            <a:r>
              <a:rPr lang="fr-FR" sz="3200" dirty="0">
                <a:effectLst/>
                <a:latin typeface="Times New Roman" panose="02020603050405020304" pitchFamily="18" charset="0"/>
                <a:ea typeface="Times New Roman" panose="02020603050405020304" pitchFamily="18" charset="0"/>
                <a:cs typeface="Arial" panose="020B0604020202020204" pitchFamily="34" charset="0"/>
              </a:rPr>
              <a:t> (liquide libre).</a:t>
            </a:r>
            <a:endParaRPr lang="fr-FR" sz="32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200" dirty="0">
                <a:effectLst/>
                <a:latin typeface="Times New Roman" panose="02020603050405020304" pitchFamily="18" charset="0"/>
                <a:ea typeface="Times New Roman" panose="02020603050405020304" pitchFamily="18" charset="0"/>
                <a:cs typeface="Arial" panose="020B0604020202020204" pitchFamily="34" charset="0"/>
              </a:rPr>
              <a:t>Parfois </a:t>
            </a:r>
            <a:r>
              <a:rPr lang="fr-FR" sz="3200" b="1" dirty="0">
                <a:effectLst/>
                <a:latin typeface="Times New Roman" panose="02020603050405020304" pitchFamily="18" charset="0"/>
                <a:ea typeface="Times New Roman" panose="02020603050405020304" pitchFamily="18" charset="0"/>
                <a:cs typeface="Arial" panose="020B0604020202020204" pitchFamily="34" charset="0"/>
              </a:rPr>
              <a:t>épaule douloureuse</a:t>
            </a:r>
            <a:r>
              <a:rPr lang="fr-FR" sz="3200" dirty="0">
                <a:effectLst/>
                <a:latin typeface="Times New Roman" panose="02020603050405020304" pitchFamily="18" charset="0"/>
                <a:ea typeface="Times New Roman" panose="02020603050405020304" pitchFamily="18" charset="0"/>
                <a:cs typeface="Arial" panose="020B0604020202020204" pitchFamily="34" charset="0"/>
              </a:rPr>
              <a:t> (irritation phrénique).</a:t>
            </a:r>
            <a:endParaRPr lang="fr-FR" sz="4400" dirty="0"/>
          </a:p>
        </p:txBody>
      </p:sp>
    </p:spTree>
    <p:extLst>
      <p:ext uri="{BB962C8B-B14F-4D97-AF65-F5344CB8AC3E}">
        <p14:creationId xmlns:p14="http://schemas.microsoft.com/office/powerpoint/2010/main" val="37000861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3726072-CB77-4FBA-A709-99F9602C1892}"/>
              </a:ext>
            </a:extLst>
          </p:cNvPr>
          <p:cNvSpPr>
            <a:spLocks noGrp="1"/>
          </p:cNvSpPr>
          <p:nvPr>
            <p:ph idx="1"/>
          </p:nvPr>
        </p:nvSpPr>
        <p:spPr>
          <a:xfrm>
            <a:off x="591620" y="1044789"/>
            <a:ext cx="10515600" cy="4351338"/>
          </a:xfrm>
        </p:spPr>
        <p:txBody>
          <a:bodyPr>
            <a:normAutofit lnSpcReduction="10000"/>
          </a:bodyPr>
          <a:lstStyle/>
          <a:p>
            <a:pPr marL="0" indent="0">
              <a:lnSpc>
                <a:spcPct val="107000"/>
              </a:lnSpc>
              <a:spcAft>
                <a:spcPts val="800"/>
              </a:spcAft>
              <a:buNone/>
            </a:pPr>
            <a:r>
              <a:rPr lang="fr-FR"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3️</a:t>
            </a:r>
            <a:r>
              <a:rPr lang="fr-FR" b="1" dirty="0">
                <a:solidFill>
                  <a:srgbClr val="0070C0"/>
                </a:solidFill>
                <a:effectLst/>
                <a:latin typeface="Tahoma" panose="020B0604030504040204" pitchFamily="34" charset="0"/>
                <a:ea typeface="Times New Roman" panose="02020603050405020304" pitchFamily="18" charset="0"/>
                <a:cs typeface="Arial" panose="020B0604020202020204" pitchFamily="34" charset="0"/>
              </a:rPr>
              <a:t>⃣</a:t>
            </a:r>
            <a:r>
              <a:rPr lang="fr-FR"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   Examens complémentaires</a:t>
            </a:r>
            <a:endParaRPr lang="fr-FR"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2400" b="1" dirty="0">
                <a:effectLst/>
                <a:latin typeface="Times New Roman" panose="02020603050405020304" pitchFamily="18" charset="0"/>
                <a:ea typeface="Times New Roman" panose="02020603050405020304" pitchFamily="18" charset="0"/>
                <a:cs typeface="Arial" panose="020B0604020202020204" pitchFamily="34" charset="0"/>
              </a:rPr>
              <a:t>Échographie abdominale</a:t>
            </a:r>
            <a:r>
              <a:rPr lang="fr-FR" sz="2400" dirty="0">
                <a:effectLst/>
                <a:latin typeface="Times New Roman" panose="02020603050405020304" pitchFamily="18" charset="0"/>
                <a:ea typeface="Times New Roman" panose="02020603050405020304" pitchFamily="18" charset="0"/>
                <a:cs typeface="Arial" panose="020B0604020202020204" pitchFamily="34" charset="0"/>
              </a:rPr>
              <a:t> : liquide libre.</a:t>
            </a: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2400" b="1" dirty="0">
                <a:effectLst/>
                <a:latin typeface="Times New Roman" panose="02020603050405020304" pitchFamily="18" charset="0"/>
                <a:ea typeface="Times New Roman" panose="02020603050405020304" pitchFamily="18" charset="0"/>
                <a:cs typeface="Arial" panose="020B0604020202020204" pitchFamily="34" charset="0"/>
              </a:rPr>
              <a:t>Scanner abdominal injecté</a:t>
            </a:r>
            <a:r>
              <a:rPr lang="fr-FR" sz="2400" dirty="0">
                <a:effectLst/>
                <a:latin typeface="Times New Roman" panose="02020603050405020304" pitchFamily="18" charset="0"/>
                <a:ea typeface="Times New Roman" panose="02020603050405020304" pitchFamily="18" charset="0"/>
                <a:cs typeface="Arial" panose="020B0604020202020204" pitchFamily="34" charset="0"/>
              </a:rPr>
              <a:t> : confirme la </a:t>
            </a:r>
            <a:r>
              <a:rPr lang="fr-FR" sz="2400" b="1" dirty="0">
                <a:effectLst/>
                <a:latin typeface="Times New Roman" panose="02020603050405020304" pitchFamily="18" charset="0"/>
                <a:ea typeface="Times New Roman" panose="02020603050405020304" pitchFamily="18" charset="0"/>
                <a:cs typeface="Arial" panose="020B0604020202020204" pitchFamily="34" charset="0"/>
              </a:rPr>
              <a:t>source du saignement</a:t>
            </a:r>
            <a:r>
              <a:rPr lang="fr-FR" sz="240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2400" b="1" dirty="0">
                <a:effectLst/>
                <a:latin typeface="Times New Roman" panose="02020603050405020304" pitchFamily="18" charset="0"/>
                <a:ea typeface="Times New Roman" panose="02020603050405020304" pitchFamily="18" charset="0"/>
                <a:cs typeface="Arial" panose="020B0604020202020204" pitchFamily="34" charset="0"/>
              </a:rPr>
              <a:t>Bilan biologique</a:t>
            </a:r>
            <a:r>
              <a:rPr lang="fr-FR" sz="2400" dirty="0">
                <a:effectLst/>
                <a:latin typeface="Times New Roman" panose="02020603050405020304" pitchFamily="18" charset="0"/>
                <a:ea typeface="Times New Roman" panose="02020603050405020304" pitchFamily="18" charset="0"/>
                <a:cs typeface="Arial" panose="020B0604020202020204" pitchFamily="34" charset="0"/>
              </a:rPr>
              <a:t> : hémoglobine basse.</a:t>
            </a: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L="0" indent="0">
              <a:lnSpc>
                <a:spcPct val="107000"/>
              </a:lnSpc>
              <a:spcAft>
                <a:spcPts val="800"/>
              </a:spcAft>
              <a:buNone/>
            </a:pPr>
            <a:r>
              <a:rPr lang="fr-FR" sz="32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4️</a:t>
            </a:r>
            <a:r>
              <a:rPr lang="fr-FR" sz="3200" b="1" dirty="0">
                <a:solidFill>
                  <a:srgbClr val="0070C0"/>
                </a:solidFill>
                <a:effectLst/>
                <a:latin typeface="Tahoma" panose="020B0604030504040204" pitchFamily="34" charset="0"/>
                <a:ea typeface="Times New Roman" panose="02020603050405020304" pitchFamily="18" charset="0"/>
                <a:cs typeface="Arial" panose="020B0604020202020204" pitchFamily="34" charset="0"/>
              </a:rPr>
              <a:t>⃣</a:t>
            </a:r>
            <a:r>
              <a:rPr lang="fr-FR" sz="32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   Conduite à tenir</a:t>
            </a:r>
            <a:endParaRPr lang="fr-FR" sz="32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b="1" dirty="0">
                <a:effectLst/>
                <a:latin typeface="Times New Roman" panose="02020603050405020304" pitchFamily="18" charset="0"/>
                <a:ea typeface="Times New Roman" panose="02020603050405020304" pitchFamily="18" charset="0"/>
                <a:cs typeface="Arial" panose="020B0604020202020204" pitchFamily="34" charset="0"/>
              </a:rPr>
              <a:t>Réanimation immédiate</a:t>
            </a:r>
            <a:r>
              <a:rPr lang="fr-FR" dirty="0">
                <a:effectLst/>
                <a:latin typeface="Times New Roman" panose="02020603050405020304" pitchFamily="18" charset="0"/>
                <a:ea typeface="Times New Roman" panose="02020603050405020304" pitchFamily="18" charset="0"/>
                <a:cs typeface="Arial" panose="020B0604020202020204" pitchFamily="34" charset="0"/>
              </a:rPr>
              <a:t> (remplissage, transfusion).</a:t>
            </a:r>
            <a:endParaRPr lang="fr-FR"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b="1" dirty="0">
                <a:effectLst/>
                <a:latin typeface="Times New Roman" panose="02020603050405020304" pitchFamily="18" charset="0"/>
                <a:ea typeface="Times New Roman" panose="02020603050405020304" pitchFamily="18" charset="0"/>
                <a:cs typeface="Arial" panose="020B0604020202020204" pitchFamily="34" charset="0"/>
              </a:rPr>
              <a:t>Chirurgie ou embolisation urgente</a:t>
            </a:r>
            <a:r>
              <a:rPr lang="fr-FR" dirty="0">
                <a:effectLst/>
                <a:latin typeface="Times New Roman" panose="02020603050405020304" pitchFamily="18" charset="0"/>
                <a:ea typeface="Times New Roman" panose="02020603050405020304" pitchFamily="18" charset="0"/>
                <a:cs typeface="Arial" panose="020B0604020202020204" pitchFamily="34" charset="0"/>
              </a:rPr>
              <a:t> selon l’étiologie.</a:t>
            </a:r>
            <a:endParaRPr lang="fr-FR" dirty="0">
              <a:effectLst/>
              <a:latin typeface="Calibri" panose="020F0502020204030204" pitchFamily="34" charset="0"/>
              <a:ea typeface="Calibri" panose="020F0502020204030204" pitchFamily="34" charset="0"/>
              <a:cs typeface="Arial" panose="020B0604020202020204" pitchFamily="34" charset="0"/>
            </a:endParaRPr>
          </a:p>
          <a:p>
            <a:endParaRPr lang="fr-FR" dirty="0"/>
          </a:p>
        </p:txBody>
      </p:sp>
    </p:spTree>
    <p:extLst>
      <p:ext uri="{BB962C8B-B14F-4D97-AF65-F5344CB8AC3E}">
        <p14:creationId xmlns:p14="http://schemas.microsoft.com/office/powerpoint/2010/main" val="34278872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7499FE-3EC4-401C-BB21-F58E9881F32C}"/>
              </a:ext>
            </a:extLst>
          </p:cNvPr>
          <p:cNvSpPr>
            <a:spLocks noGrp="1"/>
          </p:cNvSpPr>
          <p:nvPr>
            <p:ph type="title"/>
          </p:nvPr>
        </p:nvSpPr>
        <p:spPr/>
        <p:txBody>
          <a:bodyPr/>
          <a:lstStyle/>
          <a:p>
            <a:r>
              <a:rPr lang="fr-FR" sz="3600" b="1" dirty="0">
                <a:solidFill>
                  <a:srgbClr val="FF0000"/>
                </a:solidFill>
                <a:effectLst/>
                <a:latin typeface="Times New Roman" panose="02020603050405020304" pitchFamily="18" charset="0"/>
                <a:ea typeface="Times New Roman" panose="02020603050405020304" pitchFamily="18" charset="0"/>
                <a:cs typeface="Arial" panose="020B0604020202020204" pitchFamily="34" charset="0"/>
              </a:rPr>
              <a:t>IV. Syndrome ischémique</a:t>
            </a:r>
            <a:br>
              <a:rPr lang="fr-FR" sz="1800" dirty="0">
                <a:effectLst/>
                <a:latin typeface="Calibri" panose="020F0502020204030204" pitchFamily="34" charset="0"/>
                <a:ea typeface="Calibri" panose="020F0502020204030204" pitchFamily="34" charset="0"/>
                <a:cs typeface="Arial" panose="020B0604020202020204" pitchFamily="34" charset="0"/>
              </a:rPr>
            </a:br>
            <a:endParaRPr lang="fr-FR" dirty="0"/>
          </a:p>
        </p:txBody>
      </p:sp>
      <p:sp>
        <p:nvSpPr>
          <p:cNvPr id="3" name="Espace réservé du contenu 2">
            <a:extLst>
              <a:ext uri="{FF2B5EF4-FFF2-40B4-BE49-F238E27FC236}">
                <a16:creationId xmlns:a16="http://schemas.microsoft.com/office/drawing/2014/main" id="{5FB80995-3636-4136-8B3F-742D7BDB6F40}"/>
              </a:ext>
            </a:extLst>
          </p:cNvPr>
          <p:cNvSpPr>
            <a:spLocks noGrp="1"/>
          </p:cNvSpPr>
          <p:nvPr>
            <p:ph idx="1"/>
          </p:nvPr>
        </p:nvSpPr>
        <p:spPr>
          <a:xfrm>
            <a:off x="838200" y="1397285"/>
            <a:ext cx="10515600" cy="5095590"/>
          </a:xfrm>
        </p:spPr>
        <p:txBody>
          <a:bodyPr>
            <a:normAutofit lnSpcReduction="10000"/>
          </a:bodyPr>
          <a:lstStyle/>
          <a:p>
            <a:pPr>
              <a:lnSpc>
                <a:spcPct val="107000"/>
              </a:lnSpc>
              <a:spcAft>
                <a:spcPts val="800"/>
              </a:spcAft>
            </a:pPr>
            <a:r>
              <a:rPr lang="fr-FR"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1️</a:t>
            </a:r>
            <a:r>
              <a:rPr lang="fr-FR" b="1" dirty="0">
                <a:solidFill>
                  <a:srgbClr val="0070C0"/>
                </a:solidFill>
                <a:effectLst/>
                <a:latin typeface="Tahoma" panose="020B0604030504040204" pitchFamily="34" charset="0"/>
                <a:ea typeface="Times New Roman" panose="02020603050405020304" pitchFamily="18" charset="0"/>
                <a:cs typeface="Arial" panose="020B0604020202020204" pitchFamily="34" charset="0"/>
              </a:rPr>
              <a:t>⃣</a:t>
            </a:r>
            <a:r>
              <a:rPr lang="fr-FR"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   Étiologies fréquentes</a:t>
            </a:r>
            <a:endParaRPr lang="fr-FR"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2400" b="1" dirty="0">
                <a:effectLst/>
                <a:latin typeface="Times New Roman" panose="02020603050405020304" pitchFamily="18" charset="0"/>
                <a:ea typeface="Times New Roman" panose="02020603050405020304" pitchFamily="18" charset="0"/>
                <a:cs typeface="Arial" panose="020B0604020202020204" pitchFamily="34" charset="0"/>
              </a:rPr>
              <a:t>Infarctus mésentérique</a:t>
            </a:r>
            <a:r>
              <a:rPr lang="fr-FR" sz="2400" dirty="0">
                <a:effectLst/>
                <a:latin typeface="Times New Roman" panose="02020603050405020304" pitchFamily="18" charset="0"/>
                <a:ea typeface="Times New Roman" panose="02020603050405020304" pitchFamily="18" charset="0"/>
                <a:cs typeface="Arial" panose="020B0604020202020204" pitchFamily="34" charset="0"/>
              </a:rPr>
              <a:t> (thrombose ou embolie de l’artère mésentérique).</a:t>
            </a: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2400" b="1" dirty="0">
                <a:effectLst/>
                <a:latin typeface="Times New Roman" panose="02020603050405020304" pitchFamily="18" charset="0"/>
                <a:ea typeface="Times New Roman" panose="02020603050405020304" pitchFamily="18" charset="0"/>
                <a:cs typeface="Arial" panose="020B0604020202020204" pitchFamily="34" charset="0"/>
              </a:rPr>
              <a:t>Volvulus intestinal avec strangulation</a:t>
            </a:r>
            <a:r>
              <a:rPr lang="fr-FR" sz="240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2400" b="1" dirty="0">
                <a:effectLst/>
                <a:latin typeface="Times New Roman" panose="02020603050405020304" pitchFamily="18" charset="0"/>
                <a:ea typeface="Times New Roman" panose="02020603050405020304" pitchFamily="18" charset="0"/>
                <a:cs typeface="Arial" panose="020B0604020202020204" pitchFamily="34" charset="0"/>
              </a:rPr>
              <a:t>Torsion de bride</a:t>
            </a:r>
            <a:r>
              <a:rPr lang="fr-FR" sz="2400" dirty="0">
                <a:effectLst/>
                <a:latin typeface="Times New Roman" panose="02020603050405020304" pitchFamily="18" charset="0"/>
                <a:ea typeface="Times New Roman" panose="02020603050405020304" pitchFamily="18" charset="0"/>
                <a:cs typeface="Arial" panose="020B0604020202020204" pitchFamily="34" charset="0"/>
              </a:rPr>
              <a:t> ou hernie étranglée.</a:t>
            </a:r>
            <a:endParaRPr lang="fr-FR" sz="24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2️</a:t>
            </a:r>
            <a:r>
              <a:rPr lang="fr-FR" b="1" dirty="0">
                <a:solidFill>
                  <a:srgbClr val="0070C0"/>
                </a:solidFill>
                <a:effectLst/>
                <a:latin typeface="Tahoma" panose="020B0604030504040204" pitchFamily="34" charset="0"/>
                <a:ea typeface="Times New Roman" panose="02020603050405020304" pitchFamily="18" charset="0"/>
                <a:cs typeface="Arial" panose="020B0604020202020204" pitchFamily="34" charset="0"/>
              </a:rPr>
              <a:t>⃣</a:t>
            </a:r>
            <a:r>
              <a:rPr lang="fr-FR"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   Signes dominants</a:t>
            </a:r>
            <a:endParaRPr lang="fr-FR"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2200" b="1" dirty="0">
                <a:effectLst/>
                <a:latin typeface="Times New Roman" panose="02020603050405020304" pitchFamily="18" charset="0"/>
                <a:ea typeface="Times New Roman" panose="02020603050405020304" pitchFamily="18" charset="0"/>
                <a:cs typeface="Arial" panose="020B0604020202020204" pitchFamily="34" charset="0"/>
              </a:rPr>
              <a:t>Douleur abdominale très intense</a:t>
            </a:r>
            <a:r>
              <a:rPr lang="fr-FR" sz="2200" dirty="0">
                <a:effectLst/>
                <a:latin typeface="Times New Roman" panose="02020603050405020304" pitchFamily="18" charset="0"/>
                <a:ea typeface="Times New Roman" panose="02020603050405020304" pitchFamily="18" charset="0"/>
                <a:cs typeface="Arial" panose="020B0604020202020204" pitchFamily="34" charset="0"/>
              </a:rPr>
              <a:t>, souvent </a:t>
            </a:r>
            <a:r>
              <a:rPr lang="fr-FR" sz="2200" b="1" dirty="0">
                <a:effectLst/>
                <a:latin typeface="Times New Roman" panose="02020603050405020304" pitchFamily="18" charset="0"/>
                <a:ea typeface="Times New Roman" panose="02020603050405020304" pitchFamily="18" charset="0"/>
                <a:cs typeface="Arial" panose="020B0604020202020204" pitchFamily="34" charset="0"/>
              </a:rPr>
              <a:t>disproportionnée par rapport à la pauvreté de l’examen</a:t>
            </a:r>
            <a:r>
              <a:rPr lang="fr-FR" sz="220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22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2200" dirty="0">
                <a:effectLst/>
                <a:latin typeface="Times New Roman" panose="02020603050405020304" pitchFamily="18" charset="0"/>
                <a:ea typeface="Times New Roman" panose="02020603050405020304" pitchFamily="18" charset="0"/>
                <a:cs typeface="Arial" panose="020B0604020202020204" pitchFamily="34" charset="0"/>
              </a:rPr>
              <a:t>Peu ou pas de défense initiale.</a:t>
            </a:r>
            <a:endParaRPr lang="fr-FR" sz="22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2200" dirty="0">
                <a:effectLst/>
                <a:latin typeface="Times New Roman" panose="02020603050405020304" pitchFamily="18" charset="0"/>
                <a:ea typeface="Times New Roman" panose="02020603050405020304" pitchFamily="18" charset="0"/>
                <a:cs typeface="Arial" panose="020B0604020202020204" pitchFamily="34" charset="0"/>
              </a:rPr>
              <a:t>Rapidement : </a:t>
            </a:r>
            <a:r>
              <a:rPr lang="fr-FR" sz="2200" b="1" dirty="0">
                <a:effectLst/>
                <a:latin typeface="Times New Roman" panose="02020603050405020304" pitchFamily="18" charset="0"/>
                <a:ea typeface="Times New Roman" panose="02020603050405020304" pitchFamily="18" charset="0"/>
                <a:cs typeface="Arial" panose="020B0604020202020204" pitchFamily="34" charset="0"/>
              </a:rPr>
              <a:t>défaillance circulatoire</a:t>
            </a:r>
            <a:r>
              <a:rPr lang="fr-FR" sz="2200" dirty="0">
                <a:effectLst/>
                <a:latin typeface="Times New Roman" panose="02020603050405020304" pitchFamily="18" charset="0"/>
                <a:ea typeface="Times New Roman" panose="02020603050405020304" pitchFamily="18" charset="0"/>
                <a:cs typeface="Arial" panose="020B0604020202020204" pitchFamily="34" charset="0"/>
              </a:rPr>
              <a:t>, </a:t>
            </a:r>
            <a:r>
              <a:rPr lang="fr-FR" sz="2200" b="1" dirty="0">
                <a:effectLst/>
                <a:latin typeface="Times New Roman" panose="02020603050405020304" pitchFamily="18" charset="0"/>
                <a:ea typeface="Times New Roman" panose="02020603050405020304" pitchFamily="18" charset="0"/>
                <a:cs typeface="Arial" panose="020B0604020202020204" pitchFamily="34" charset="0"/>
              </a:rPr>
              <a:t>troubles métaboliques</a:t>
            </a:r>
            <a:r>
              <a:rPr lang="fr-FR" sz="2200" dirty="0">
                <a:effectLst/>
                <a:latin typeface="Times New Roman" panose="02020603050405020304" pitchFamily="18" charset="0"/>
                <a:ea typeface="Times New Roman" panose="02020603050405020304" pitchFamily="18" charset="0"/>
                <a:cs typeface="Arial" panose="020B0604020202020204" pitchFamily="34" charset="0"/>
              </a:rPr>
              <a:t>, </a:t>
            </a:r>
            <a:r>
              <a:rPr lang="fr-FR" sz="2200" b="1" dirty="0">
                <a:effectLst/>
                <a:latin typeface="Times New Roman" panose="02020603050405020304" pitchFamily="18" charset="0"/>
                <a:ea typeface="Times New Roman" panose="02020603050405020304" pitchFamily="18" charset="0"/>
                <a:cs typeface="Arial" panose="020B0604020202020204" pitchFamily="34" charset="0"/>
              </a:rPr>
              <a:t>acidose lactique</a:t>
            </a:r>
            <a:r>
              <a:rPr lang="fr-FR" sz="2200" dirty="0">
                <a:effectLst/>
                <a:latin typeface="Times New Roman" panose="02020603050405020304" pitchFamily="18" charset="0"/>
                <a:ea typeface="Times New Roman" panose="02020603050405020304" pitchFamily="18" charset="0"/>
                <a:cs typeface="Arial" panose="020B0604020202020204" pitchFamily="34" charset="0"/>
              </a:rPr>
              <a:t>.</a:t>
            </a:r>
            <a:endParaRPr lang="fr-FR" sz="2200"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29481432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3A8092F-3F77-4809-AF64-F70D725CF303}"/>
              </a:ext>
            </a:extLst>
          </p:cNvPr>
          <p:cNvSpPr>
            <a:spLocks noGrp="1"/>
          </p:cNvSpPr>
          <p:nvPr>
            <p:ph idx="1"/>
          </p:nvPr>
        </p:nvSpPr>
        <p:spPr>
          <a:xfrm>
            <a:off x="642991" y="952322"/>
            <a:ext cx="10515600" cy="4351338"/>
          </a:xfrm>
        </p:spPr>
        <p:txBody>
          <a:bodyPr>
            <a:normAutofit fontScale="85000" lnSpcReduction="20000"/>
          </a:bodyPr>
          <a:lstStyle/>
          <a:p>
            <a:pPr marL="0" indent="0">
              <a:lnSpc>
                <a:spcPct val="107000"/>
              </a:lnSpc>
              <a:spcAft>
                <a:spcPts val="800"/>
              </a:spcAft>
              <a:buNone/>
            </a:pPr>
            <a:r>
              <a:rPr lang="fr-FR" sz="30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3️</a:t>
            </a:r>
            <a:r>
              <a:rPr lang="fr-FR" sz="3000" b="1" dirty="0">
                <a:solidFill>
                  <a:srgbClr val="0070C0"/>
                </a:solidFill>
                <a:effectLst/>
                <a:latin typeface="Tahoma" panose="020B0604030504040204" pitchFamily="34" charset="0"/>
                <a:ea typeface="Times New Roman" panose="02020603050405020304" pitchFamily="18" charset="0"/>
                <a:cs typeface="Arial" panose="020B0604020202020204" pitchFamily="34" charset="0"/>
              </a:rPr>
              <a:t>⃣</a:t>
            </a:r>
            <a:r>
              <a:rPr lang="fr-FR" sz="30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   </a:t>
            </a:r>
            <a:r>
              <a:rPr lang="fr-FR" sz="3000" b="1" dirty="0">
                <a:solidFill>
                  <a:srgbClr val="0070C0"/>
                </a:solidFill>
                <a:effectLst/>
                <a:latin typeface="Comic Sans MS" panose="030F0702030302020204" pitchFamily="66" charset="0"/>
                <a:ea typeface="Times New Roman" panose="02020603050405020304" pitchFamily="18" charset="0"/>
                <a:cs typeface="Arial" panose="020B0604020202020204" pitchFamily="34" charset="0"/>
              </a:rPr>
              <a:t>Examens complémentaires</a:t>
            </a:r>
            <a:endParaRPr lang="fr-FR" sz="30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000" b="1" dirty="0">
                <a:effectLst/>
                <a:latin typeface="Comic Sans MS" panose="030F0702030302020204" pitchFamily="66" charset="0"/>
                <a:ea typeface="Times New Roman" panose="02020603050405020304" pitchFamily="18" charset="0"/>
                <a:cs typeface="Arial" panose="020B0604020202020204" pitchFamily="34" charset="0"/>
              </a:rPr>
              <a:t>Lactates plasmatiques élevés</a:t>
            </a:r>
            <a:r>
              <a:rPr lang="fr-FR" sz="3000" dirty="0">
                <a:effectLst/>
                <a:latin typeface="Comic Sans MS" panose="030F0702030302020204" pitchFamily="66" charset="0"/>
                <a:ea typeface="Times New Roman" panose="02020603050405020304" pitchFamily="18" charset="0"/>
                <a:cs typeface="Arial" panose="020B0604020202020204" pitchFamily="34" charset="0"/>
              </a:rPr>
              <a:t>.</a:t>
            </a:r>
            <a:endParaRPr lang="fr-FR" sz="30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000" b="1" dirty="0">
                <a:effectLst/>
                <a:latin typeface="Comic Sans MS" panose="030F0702030302020204" pitchFamily="66" charset="0"/>
                <a:ea typeface="Times New Roman" panose="02020603050405020304" pitchFamily="18" charset="0"/>
                <a:cs typeface="Arial" panose="020B0604020202020204" pitchFamily="34" charset="0"/>
              </a:rPr>
              <a:t>Scanner abdomino-pelvien injecté</a:t>
            </a:r>
            <a:r>
              <a:rPr lang="fr-FR" sz="3000" dirty="0">
                <a:effectLst/>
                <a:latin typeface="Comic Sans MS" panose="030F0702030302020204" pitchFamily="66" charset="0"/>
                <a:ea typeface="Times New Roman" panose="02020603050405020304" pitchFamily="18" charset="0"/>
                <a:cs typeface="Arial" panose="020B0604020202020204" pitchFamily="34" charset="0"/>
              </a:rPr>
              <a:t> : absence de rehaussement intestinal, thrombose vasculaire.</a:t>
            </a:r>
            <a:endParaRPr lang="fr-FR" sz="3000" dirty="0">
              <a:effectLst/>
              <a:latin typeface="Comic Sans MS" panose="030F0702030302020204" pitchFamily="66" charset="0"/>
              <a:ea typeface="Calibri" panose="020F0502020204030204" pitchFamily="34" charset="0"/>
              <a:cs typeface="Arial" panose="020B0604020202020204" pitchFamily="34" charset="0"/>
            </a:endParaRPr>
          </a:p>
          <a:p>
            <a:pPr marL="0" indent="0">
              <a:lnSpc>
                <a:spcPct val="107000"/>
              </a:lnSpc>
              <a:spcAft>
                <a:spcPts val="800"/>
              </a:spcAft>
              <a:buNone/>
            </a:pPr>
            <a:r>
              <a:rPr lang="fr-FR" sz="3000" b="1" dirty="0">
                <a:solidFill>
                  <a:srgbClr val="0070C0"/>
                </a:solidFill>
                <a:effectLst/>
                <a:latin typeface="Comic Sans MS" panose="030F0702030302020204" pitchFamily="66" charset="0"/>
                <a:ea typeface="Times New Roman" panose="02020603050405020304" pitchFamily="18" charset="0"/>
                <a:cs typeface="Arial" panose="020B0604020202020204" pitchFamily="34" charset="0"/>
              </a:rPr>
              <a:t>4️⃣   Conduite à tenir</a:t>
            </a:r>
            <a:endParaRPr lang="fr-FR" sz="30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000" b="1" dirty="0">
                <a:effectLst/>
                <a:latin typeface="Comic Sans MS" panose="030F0702030302020204" pitchFamily="66" charset="0"/>
                <a:ea typeface="Times New Roman" panose="02020603050405020304" pitchFamily="18" charset="0"/>
                <a:cs typeface="Arial" panose="020B0604020202020204" pitchFamily="34" charset="0"/>
              </a:rPr>
              <a:t>Urgence vitale</a:t>
            </a:r>
            <a:r>
              <a:rPr lang="fr-FR" sz="3000" dirty="0">
                <a:effectLst/>
                <a:latin typeface="Comic Sans MS" panose="030F0702030302020204" pitchFamily="66" charset="0"/>
                <a:ea typeface="Times New Roman" panose="02020603050405020304" pitchFamily="18" charset="0"/>
                <a:cs typeface="Arial" panose="020B0604020202020204" pitchFamily="34" charset="0"/>
              </a:rPr>
              <a:t> : réanimation + chirurgie exploratrice rapide.</a:t>
            </a:r>
            <a:endParaRPr lang="fr-FR" sz="30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000" dirty="0">
                <a:effectLst/>
                <a:latin typeface="Comic Sans MS" panose="030F0702030302020204" pitchFamily="66" charset="0"/>
                <a:ea typeface="Times New Roman" panose="02020603050405020304" pitchFamily="18" charset="0"/>
                <a:cs typeface="Arial" panose="020B0604020202020204" pitchFamily="34" charset="0"/>
              </a:rPr>
              <a:t>Si diagnostic précoce → possibilité de </a:t>
            </a:r>
            <a:r>
              <a:rPr lang="fr-FR" sz="3000" b="1" dirty="0">
                <a:effectLst/>
                <a:latin typeface="Comic Sans MS" panose="030F0702030302020204" pitchFamily="66" charset="0"/>
                <a:ea typeface="Times New Roman" panose="02020603050405020304" pitchFamily="18" charset="0"/>
                <a:cs typeface="Arial" panose="020B0604020202020204" pitchFamily="34" charset="0"/>
              </a:rPr>
              <a:t>thrombolyse ou d’angioplastie mésentérique</a:t>
            </a:r>
            <a:r>
              <a:rPr lang="fr-FR" sz="3000" dirty="0">
                <a:effectLst/>
                <a:latin typeface="Comic Sans MS" panose="030F0702030302020204" pitchFamily="66" charset="0"/>
                <a:ea typeface="Times New Roman" panose="02020603050405020304" pitchFamily="18" charset="0"/>
                <a:cs typeface="Arial" panose="020B0604020202020204" pitchFamily="34" charset="0"/>
              </a:rPr>
              <a:t>.</a:t>
            </a:r>
            <a:endParaRPr lang="fr-FR" sz="3000" dirty="0">
              <a:effectLst/>
              <a:latin typeface="Comic Sans MS" panose="030F0702030302020204" pitchFamily="66" charset="0"/>
              <a:ea typeface="Calibri" panose="020F0502020204030204" pitchFamily="34"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3341579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F29923E-A15A-4E6D-9259-97F3ABE3E8DF}"/>
              </a:ext>
            </a:extLst>
          </p:cNvPr>
          <p:cNvSpPr>
            <a:spLocks noGrp="1"/>
          </p:cNvSpPr>
          <p:nvPr>
            <p:ph type="title"/>
          </p:nvPr>
        </p:nvSpPr>
        <p:spPr/>
        <p:txBody>
          <a:bodyPr/>
          <a:lstStyle/>
          <a:p>
            <a:r>
              <a:rPr lang="fr-FR" sz="3200" b="1" dirty="0">
                <a:solidFill>
                  <a:srgbClr val="FF0000"/>
                </a:solidFill>
                <a:effectLst/>
                <a:latin typeface="Times New Roman" panose="02020603050405020304" pitchFamily="18" charset="0"/>
                <a:ea typeface="Times New Roman" panose="02020603050405020304" pitchFamily="18" charset="0"/>
                <a:cs typeface="Arial" panose="020B0604020202020204" pitchFamily="34" charset="0"/>
              </a:rPr>
              <a:t>V</a:t>
            </a:r>
            <a:r>
              <a:rPr lang="fr-FR" sz="3200" b="1" dirty="0">
                <a:solidFill>
                  <a:srgbClr val="FF0000"/>
                </a:solidFill>
                <a:effectLst/>
                <a:latin typeface="Comic Sans MS" panose="030F0702030302020204" pitchFamily="66" charset="0"/>
                <a:ea typeface="Times New Roman" panose="02020603050405020304" pitchFamily="18" charset="0"/>
                <a:cs typeface="Arial" panose="020B0604020202020204" pitchFamily="34" charset="0"/>
              </a:rPr>
              <a:t>. Abdomen aigu d’origine médicale (non chirurgical)</a:t>
            </a:r>
            <a:br>
              <a:rPr lang="fr-FR" sz="1800" dirty="0">
                <a:effectLst/>
                <a:latin typeface="Calibri" panose="020F0502020204030204" pitchFamily="34" charset="0"/>
                <a:ea typeface="Calibri" panose="020F0502020204030204" pitchFamily="34" charset="0"/>
                <a:cs typeface="Arial" panose="020B0604020202020204" pitchFamily="34" charset="0"/>
              </a:rPr>
            </a:br>
            <a:endParaRPr lang="fr-FR" dirty="0"/>
          </a:p>
        </p:txBody>
      </p:sp>
      <p:sp>
        <p:nvSpPr>
          <p:cNvPr id="3" name="Espace réservé du contenu 2">
            <a:extLst>
              <a:ext uri="{FF2B5EF4-FFF2-40B4-BE49-F238E27FC236}">
                <a16:creationId xmlns:a16="http://schemas.microsoft.com/office/drawing/2014/main" id="{5BC4E8CE-E651-4FBC-B372-B7C709ECFF18}"/>
              </a:ext>
            </a:extLst>
          </p:cNvPr>
          <p:cNvSpPr>
            <a:spLocks noGrp="1"/>
          </p:cNvSpPr>
          <p:nvPr>
            <p:ph idx="1"/>
          </p:nvPr>
        </p:nvSpPr>
        <p:spPr/>
        <p:txBody>
          <a:bodyPr>
            <a:normAutofit lnSpcReduction="10000"/>
          </a:bodyPr>
          <a:lstStyle/>
          <a:p>
            <a:pPr marL="0" indent="0">
              <a:lnSpc>
                <a:spcPct val="107000"/>
              </a:lnSpc>
              <a:spcAft>
                <a:spcPts val="800"/>
              </a:spcAft>
              <a:buNone/>
            </a:pPr>
            <a:r>
              <a:rPr lang="fr-FR" sz="3200" b="1" dirty="0">
                <a:solidFill>
                  <a:srgbClr val="0070C0"/>
                </a:solidFill>
                <a:effectLst/>
                <a:latin typeface="Comic Sans MS" panose="030F0702030302020204" pitchFamily="66" charset="0"/>
                <a:ea typeface="Times New Roman" panose="02020603050405020304" pitchFamily="18" charset="0"/>
                <a:cs typeface="Arial" panose="020B0604020202020204" pitchFamily="34" charset="0"/>
              </a:rPr>
              <a:t>1️⃣   Étiologies fréquentes</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sz="3200" b="1" dirty="0">
                <a:effectLst/>
                <a:latin typeface="Comic Sans MS" panose="030F0702030302020204" pitchFamily="66" charset="0"/>
                <a:ea typeface="Times New Roman" panose="02020603050405020304" pitchFamily="18" charset="0"/>
                <a:cs typeface="Arial" panose="020B0604020202020204" pitchFamily="34" charset="0"/>
              </a:rPr>
              <a:t>Pancréatite aiguë</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sz="3200" b="1" dirty="0">
                <a:effectLst/>
                <a:latin typeface="Comic Sans MS" panose="030F0702030302020204" pitchFamily="66" charset="0"/>
                <a:ea typeface="Times New Roman" panose="02020603050405020304" pitchFamily="18" charset="0"/>
                <a:cs typeface="Arial" panose="020B0604020202020204" pitchFamily="34" charset="0"/>
              </a:rPr>
              <a:t>Hépatite virale ou toxique</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sz="3200" b="1" dirty="0">
                <a:effectLst/>
                <a:latin typeface="Comic Sans MS" panose="030F0702030302020204" pitchFamily="66" charset="0"/>
                <a:ea typeface="Times New Roman" panose="02020603050405020304" pitchFamily="18" charset="0"/>
                <a:cs typeface="Arial" panose="020B0604020202020204" pitchFamily="34" charset="0"/>
              </a:rPr>
              <a:t>Colique néphrétique</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sz="3200" b="1" dirty="0">
                <a:effectLst/>
                <a:latin typeface="Comic Sans MS" panose="030F0702030302020204" pitchFamily="66" charset="0"/>
                <a:ea typeface="Times New Roman" panose="02020603050405020304" pitchFamily="18" charset="0"/>
                <a:cs typeface="Arial" panose="020B0604020202020204" pitchFamily="34" charset="0"/>
              </a:rPr>
              <a:t>Infarctus du myocarde inférieur</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sz="3200" b="1" dirty="0">
                <a:effectLst/>
                <a:latin typeface="Comic Sans MS" panose="030F0702030302020204" pitchFamily="66" charset="0"/>
                <a:ea typeface="Times New Roman" panose="02020603050405020304" pitchFamily="18" charset="0"/>
                <a:cs typeface="Arial" panose="020B0604020202020204" pitchFamily="34" charset="0"/>
              </a:rPr>
              <a:t>Pneumonie basale droite</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endParaRPr lang="fr-FR" dirty="0"/>
          </a:p>
        </p:txBody>
      </p:sp>
    </p:spTree>
    <p:extLst>
      <p:ext uri="{BB962C8B-B14F-4D97-AF65-F5344CB8AC3E}">
        <p14:creationId xmlns:p14="http://schemas.microsoft.com/office/powerpoint/2010/main" val="9052647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83FEF0-6C06-4CC8-86D3-4115AFB016E3}"/>
              </a:ext>
            </a:extLst>
          </p:cNvPr>
          <p:cNvSpPr>
            <a:spLocks noGrp="1"/>
          </p:cNvSpPr>
          <p:nvPr>
            <p:ph type="title"/>
          </p:nvPr>
        </p:nvSpPr>
        <p:spPr/>
        <p:txBody>
          <a:bodyPr/>
          <a:lstStyle/>
          <a:p>
            <a:r>
              <a:rPr lang="fr-FR" sz="4400" b="1" dirty="0">
                <a:solidFill>
                  <a:srgbClr val="0070C0"/>
                </a:solidFill>
                <a:effectLst/>
                <a:latin typeface="Comic Sans MS" panose="030F0702030302020204" pitchFamily="66" charset="0"/>
                <a:ea typeface="Times New Roman" panose="02020603050405020304" pitchFamily="18" charset="0"/>
                <a:cs typeface="Arial" panose="020B0604020202020204" pitchFamily="34" charset="0"/>
              </a:rPr>
              <a:t>2️⃣   Signes dominants</a:t>
            </a:r>
            <a:br>
              <a:rPr lang="fr-FR" sz="3600" dirty="0">
                <a:effectLst/>
                <a:latin typeface="Calibri" panose="020F0502020204030204" pitchFamily="34" charset="0"/>
                <a:ea typeface="Calibri" panose="020F0502020204030204" pitchFamily="34" charset="0"/>
                <a:cs typeface="Arial" panose="020B0604020202020204" pitchFamily="34" charset="0"/>
              </a:rPr>
            </a:br>
            <a:endParaRPr lang="fr-FR" dirty="0"/>
          </a:p>
        </p:txBody>
      </p:sp>
      <p:sp>
        <p:nvSpPr>
          <p:cNvPr id="3" name="Espace réservé du contenu 2">
            <a:extLst>
              <a:ext uri="{FF2B5EF4-FFF2-40B4-BE49-F238E27FC236}">
                <a16:creationId xmlns:a16="http://schemas.microsoft.com/office/drawing/2014/main" id="{5CD01842-ADD2-4C49-8D29-646FD05AC170}"/>
              </a:ext>
            </a:extLst>
          </p:cNvPr>
          <p:cNvSpPr>
            <a:spLocks noGrp="1"/>
          </p:cNvSpPr>
          <p:nvPr>
            <p:ph idx="1"/>
          </p:nvPr>
        </p:nvSpPr>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fr-FR" b="1" dirty="0">
                <a:effectLst/>
                <a:latin typeface="Comic Sans MS" panose="030F0702030302020204" pitchFamily="66" charset="0"/>
                <a:ea typeface="Times New Roman" panose="02020603050405020304" pitchFamily="18" charset="0"/>
                <a:cs typeface="Arial" panose="020B0604020202020204" pitchFamily="34" charset="0"/>
              </a:rPr>
              <a:t>Douleur sans défense péritonéale</a:t>
            </a:r>
            <a:r>
              <a:rPr lang="fr-FR" dirty="0">
                <a:effectLst/>
                <a:latin typeface="Comic Sans MS" panose="030F0702030302020204" pitchFamily="66" charset="0"/>
                <a:ea typeface="Times New Roman" panose="02020603050405020304" pitchFamily="18" charset="0"/>
                <a:cs typeface="Arial" panose="020B0604020202020204" pitchFamily="34" charset="0"/>
              </a:rPr>
              <a:t>.</a:t>
            </a:r>
            <a:endParaRPr lang="fr-FR" sz="20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dirty="0">
                <a:effectLst/>
                <a:latin typeface="Comic Sans MS" panose="030F0702030302020204" pitchFamily="66" charset="0"/>
                <a:ea typeface="Times New Roman" panose="02020603050405020304" pitchFamily="18" charset="0"/>
                <a:cs typeface="Arial" panose="020B0604020202020204" pitchFamily="34" charset="0"/>
              </a:rPr>
              <a:t>Contexte clinique orientant :</a:t>
            </a:r>
            <a:endParaRPr lang="fr-FR" sz="2000" dirty="0">
              <a:effectLst/>
              <a:latin typeface="Comic Sans MS" panose="030F0702030302020204" pitchFamily="66" charset="0"/>
              <a:ea typeface="Calibri" panose="020F0502020204030204" pitchFamily="34" charset="0"/>
              <a:cs typeface="Arial" panose="020B0604020202020204" pitchFamily="34"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fr-FR" sz="2800" dirty="0">
                <a:effectLst/>
                <a:latin typeface="Comic Sans MS" panose="030F0702030302020204" pitchFamily="66" charset="0"/>
                <a:ea typeface="Times New Roman" panose="02020603050405020304" pitchFamily="18" charset="0"/>
                <a:cs typeface="Times New Roman" panose="02020603050405020304" pitchFamily="18" charset="0"/>
              </a:rPr>
              <a:t>Éthylisme ou dyslipidémie → pancréatite.</a:t>
            </a:r>
            <a:endParaRPr lang="fr-FR" sz="2000" dirty="0">
              <a:effectLst/>
              <a:latin typeface="Comic Sans MS" panose="030F0702030302020204" pitchFamily="66"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fr-FR" sz="2800" dirty="0">
                <a:effectLst/>
                <a:latin typeface="Comic Sans MS" panose="030F0702030302020204" pitchFamily="66" charset="0"/>
                <a:ea typeface="Times New Roman" panose="02020603050405020304" pitchFamily="18" charset="0"/>
                <a:cs typeface="Times New Roman" panose="02020603050405020304" pitchFamily="18" charset="0"/>
              </a:rPr>
              <a:t>Fièvre + toux → pneumonie.</a:t>
            </a:r>
            <a:endParaRPr lang="fr-FR" sz="2000" dirty="0">
              <a:effectLst/>
              <a:latin typeface="Comic Sans MS" panose="030F0702030302020204" pitchFamily="66"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fr-FR" sz="2800" dirty="0">
                <a:effectLst/>
                <a:latin typeface="Comic Sans MS" panose="030F0702030302020204" pitchFamily="66" charset="0"/>
                <a:ea typeface="Times New Roman" panose="02020603050405020304" pitchFamily="18" charset="0"/>
                <a:cs typeface="Times New Roman" panose="02020603050405020304" pitchFamily="18" charset="0"/>
              </a:rPr>
              <a:t>Douleur lombaire irradiant vers les organes génitaux → colique néphrétique.</a:t>
            </a:r>
            <a:endParaRPr lang="fr-FR" sz="2000" dirty="0">
              <a:effectLst/>
              <a:latin typeface="Comic Sans MS" panose="030F0702030302020204" pitchFamily="66"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fr-FR" sz="2800" dirty="0">
                <a:effectLst/>
                <a:latin typeface="Comic Sans MS" panose="030F0702030302020204" pitchFamily="66" charset="0"/>
                <a:ea typeface="Times New Roman" panose="02020603050405020304" pitchFamily="18" charset="0"/>
                <a:cs typeface="Times New Roman" panose="02020603050405020304" pitchFamily="18" charset="0"/>
              </a:rPr>
              <a:t>ECG anormal → infarctus inférieur</a:t>
            </a:r>
            <a:r>
              <a:rPr lang="fr-FR" sz="2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fr-FR"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499018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25385BF5-11E7-4931-BEFE-1A853C040442}"/>
              </a:ext>
            </a:extLst>
          </p:cNvPr>
          <p:cNvSpPr>
            <a:spLocks noGrp="1"/>
          </p:cNvSpPr>
          <p:nvPr>
            <p:ph idx="1"/>
          </p:nvPr>
        </p:nvSpPr>
        <p:spPr>
          <a:xfrm>
            <a:off x="735458" y="1044789"/>
            <a:ext cx="10515600" cy="4351338"/>
          </a:xfrm>
        </p:spPr>
        <p:txBody>
          <a:bodyPr>
            <a:normAutofit fontScale="92500" lnSpcReduction="20000"/>
          </a:bodyPr>
          <a:lstStyle/>
          <a:p>
            <a:pPr marL="0" indent="0">
              <a:lnSpc>
                <a:spcPct val="107000"/>
              </a:lnSpc>
              <a:spcAft>
                <a:spcPts val="800"/>
              </a:spcAft>
              <a:buNone/>
            </a:pPr>
            <a:r>
              <a:rPr lang="fr-FR" sz="3200" b="1" dirty="0">
                <a:solidFill>
                  <a:srgbClr val="0070C0"/>
                </a:solidFill>
                <a:effectLst/>
                <a:latin typeface="Comic Sans MS" panose="030F0702030302020204" pitchFamily="66" charset="0"/>
                <a:ea typeface="Times New Roman" panose="02020603050405020304" pitchFamily="18" charset="0"/>
                <a:cs typeface="Arial" panose="020B0604020202020204" pitchFamily="34" charset="0"/>
              </a:rPr>
              <a:t>3️⃣   Examens complémentaires</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b="1" dirty="0">
                <a:effectLst/>
                <a:latin typeface="Comic Sans MS" panose="030F0702030302020204" pitchFamily="66" charset="0"/>
                <a:ea typeface="Times New Roman" panose="02020603050405020304" pitchFamily="18" charset="0"/>
                <a:cs typeface="Arial" panose="020B0604020202020204" pitchFamily="34" charset="0"/>
              </a:rPr>
              <a:t>Biologie adaptée</a:t>
            </a:r>
            <a:r>
              <a:rPr lang="fr-FR" dirty="0">
                <a:effectLst/>
                <a:latin typeface="Comic Sans MS" panose="030F0702030302020204" pitchFamily="66" charset="0"/>
                <a:ea typeface="Times New Roman" panose="02020603050405020304" pitchFamily="18" charset="0"/>
                <a:cs typeface="Arial" panose="020B0604020202020204" pitchFamily="34" charset="0"/>
              </a:rPr>
              <a:t> : lipase, transaminases, troponine, ECBU.</a:t>
            </a:r>
            <a:endParaRPr lang="fr-FR"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b="1" dirty="0">
                <a:effectLst/>
                <a:latin typeface="Comic Sans MS" panose="030F0702030302020204" pitchFamily="66" charset="0"/>
                <a:ea typeface="Times New Roman" panose="02020603050405020304" pitchFamily="18" charset="0"/>
                <a:cs typeface="Arial" panose="020B0604020202020204" pitchFamily="34" charset="0"/>
              </a:rPr>
              <a:t>Imagerie ciblée</a:t>
            </a:r>
            <a:r>
              <a:rPr lang="fr-FR" dirty="0">
                <a:effectLst/>
                <a:latin typeface="Comic Sans MS" panose="030F0702030302020204" pitchFamily="66" charset="0"/>
                <a:ea typeface="Times New Roman" panose="02020603050405020304" pitchFamily="18" charset="0"/>
                <a:cs typeface="Arial" panose="020B0604020202020204" pitchFamily="34" charset="0"/>
              </a:rPr>
              <a:t> : échographie, scanner, ECG, radiographie pulmonaire.</a:t>
            </a:r>
            <a:endParaRPr lang="fr-FR" dirty="0">
              <a:effectLst/>
              <a:latin typeface="Comic Sans MS" panose="030F0702030302020204" pitchFamily="66" charset="0"/>
              <a:ea typeface="Calibri" panose="020F0502020204030204" pitchFamily="34" charset="0"/>
              <a:cs typeface="Arial" panose="020B0604020202020204" pitchFamily="34" charset="0"/>
            </a:endParaRPr>
          </a:p>
          <a:p>
            <a:pPr marL="0" indent="0">
              <a:lnSpc>
                <a:spcPct val="107000"/>
              </a:lnSpc>
              <a:spcAft>
                <a:spcPts val="800"/>
              </a:spcAft>
              <a:buNone/>
            </a:pPr>
            <a:r>
              <a:rPr lang="fr-FR" sz="3200" b="1" dirty="0">
                <a:solidFill>
                  <a:srgbClr val="0070C0"/>
                </a:solidFill>
                <a:effectLst/>
                <a:latin typeface="Comic Sans MS" panose="030F0702030302020204" pitchFamily="66" charset="0"/>
                <a:ea typeface="Times New Roman" panose="02020603050405020304" pitchFamily="18" charset="0"/>
                <a:cs typeface="Arial" panose="020B0604020202020204" pitchFamily="34" charset="0"/>
              </a:rPr>
              <a:t>4️⃣   Conduite à tenir</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2600" b="1" dirty="0">
                <a:effectLst/>
                <a:latin typeface="Comic Sans MS" panose="030F0702030302020204" pitchFamily="66" charset="0"/>
                <a:ea typeface="Times New Roman" panose="02020603050405020304" pitchFamily="18" charset="0"/>
                <a:cs typeface="Arial" panose="020B0604020202020204" pitchFamily="34" charset="0"/>
              </a:rPr>
              <a:t>Traitement médical spécifique</a:t>
            </a:r>
            <a:r>
              <a:rPr lang="fr-FR" sz="2600" dirty="0">
                <a:effectLst/>
                <a:latin typeface="Comic Sans MS" panose="030F0702030302020204" pitchFamily="66" charset="0"/>
                <a:ea typeface="Times New Roman" panose="02020603050405020304" pitchFamily="18" charset="0"/>
                <a:cs typeface="Arial" panose="020B0604020202020204" pitchFamily="34" charset="0"/>
              </a:rPr>
              <a:t> de la cause.</a:t>
            </a:r>
            <a:endParaRPr lang="fr-FR" sz="26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2600" b="1" dirty="0">
                <a:effectLst/>
                <a:latin typeface="Comic Sans MS" panose="030F0702030302020204" pitchFamily="66" charset="0"/>
                <a:ea typeface="Times New Roman" panose="02020603050405020304" pitchFamily="18" charset="0"/>
                <a:cs typeface="Arial" panose="020B0604020202020204" pitchFamily="34" charset="0"/>
              </a:rPr>
              <a:t>Surveillance rapprochée</a:t>
            </a:r>
            <a:r>
              <a:rPr lang="fr-FR" sz="2600" dirty="0">
                <a:effectLst/>
                <a:latin typeface="Comic Sans MS" panose="030F0702030302020204" pitchFamily="66" charset="0"/>
                <a:ea typeface="Times New Roman" panose="02020603050405020304" pitchFamily="18" charset="0"/>
                <a:cs typeface="Arial" panose="020B0604020202020204" pitchFamily="34" charset="0"/>
              </a:rPr>
              <a:t>.</a:t>
            </a:r>
            <a:endParaRPr lang="fr-FR" sz="26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2600" b="1" dirty="0">
                <a:effectLst/>
                <a:latin typeface="Comic Sans MS" panose="030F0702030302020204" pitchFamily="66" charset="0"/>
                <a:ea typeface="Times New Roman" panose="02020603050405020304" pitchFamily="18" charset="0"/>
                <a:cs typeface="Arial" panose="020B0604020202020204" pitchFamily="34" charset="0"/>
              </a:rPr>
              <a:t>Aucune indication chirurgicale</a:t>
            </a:r>
            <a:r>
              <a:rPr lang="fr-FR" sz="2600" dirty="0">
                <a:effectLst/>
                <a:latin typeface="Comic Sans MS" panose="030F0702030302020204" pitchFamily="66" charset="0"/>
                <a:ea typeface="Times New Roman" panose="02020603050405020304" pitchFamily="18" charset="0"/>
                <a:cs typeface="Arial" panose="020B0604020202020204" pitchFamily="34" charset="0"/>
              </a:rPr>
              <a:t> sauf complication secondaire.</a:t>
            </a:r>
            <a:endParaRPr lang="fr-FR" sz="2600" dirty="0">
              <a:effectLst/>
              <a:latin typeface="Comic Sans MS" panose="030F0702030302020204" pitchFamily="66" charset="0"/>
              <a:ea typeface="Calibri" panose="020F0502020204030204" pitchFamily="34"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18709219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5CA209-433A-41D7-9330-431D03F1CC46}"/>
              </a:ext>
            </a:extLst>
          </p:cNvPr>
          <p:cNvSpPr>
            <a:spLocks noGrp="1"/>
          </p:cNvSpPr>
          <p:nvPr>
            <p:ph type="title"/>
          </p:nvPr>
        </p:nvSpPr>
        <p:spPr/>
        <p:txBody>
          <a:bodyPr/>
          <a:lstStyle/>
          <a:p>
            <a:r>
              <a:rPr lang="fr-FR" sz="4400" b="1" dirty="0">
                <a:solidFill>
                  <a:srgbClr val="FF0000"/>
                </a:solidFill>
                <a:effectLst/>
                <a:latin typeface="Times New Roman" panose="02020603050405020304" pitchFamily="18" charset="0"/>
                <a:ea typeface="Times New Roman" panose="02020603050405020304" pitchFamily="18" charset="0"/>
                <a:cs typeface="Arial" panose="020B0604020202020204" pitchFamily="34" charset="0"/>
              </a:rPr>
              <a:t>V. Conduite à tenir initiale</a:t>
            </a:r>
            <a:br>
              <a:rPr lang="fr-FR" sz="4400" dirty="0">
                <a:effectLst/>
                <a:latin typeface="Calibri" panose="020F0502020204030204" pitchFamily="34" charset="0"/>
                <a:ea typeface="Calibri" panose="020F0502020204030204" pitchFamily="34" charset="0"/>
                <a:cs typeface="Arial" panose="020B0604020202020204" pitchFamily="34" charset="0"/>
              </a:rPr>
            </a:br>
            <a:endParaRPr lang="fr-FR" dirty="0"/>
          </a:p>
        </p:txBody>
      </p:sp>
      <p:sp>
        <p:nvSpPr>
          <p:cNvPr id="3" name="Espace réservé du contenu 2">
            <a:extLst>
              <a:ext uri="{FF2B5EF4-FFF2-40B4-BE49-F238E27FC236}">
                <a16:creationId xmlns:a16="http://schemas.microsoft.com/office/drawing/2014/main" id="{E04332E2-DB92-4130-946A-C3385877D1A3}"/>
              </a:ext>
            </a:extLst>
          </p:cNvPr>
          <p:cNvSpPr>
            <a:spLocks noGrp="1"/>
          </p:cNvSpPr>
          <p:nvPr>
            <p:ph idx="1"/>
          </p:nvPr>
        </p:nvSpPr>
        <p:spPr>
          <a:xfrm>
            <a:off x="673814" y="1253331"/>
            <a:ext cx="10853790" cy="5055002"/>
          </a:xfrm>
        </p:spPr>
        <p:txBody>
          <a:bodyPr>
            <a:normAutofit fontScale="92500" lnSpcReduction="10000"/>
          </a:bodyPr>
          <a:lstStyle/>
          <a:p>
            <a:pPr marL="0" indent="0" algn="ctr">
              <a:lnSpc>
                <a:spcPct val="107000"/>
              </a:lnSpc>
              <a:spcAft>
                <a:spcPts val="800"/>
              </a:spcAft>
              <a:buNone/>
            </a:pPr>
            <a:r>
              <a:rPr lang="fr-FR" sz="4100" b="1" dirty="0">
                <a:solidFill>
                  <a:srgbClr val="0070C0"/>
                </a:solidFill>
                <a:effectLst/>
                <a:latin typeface="Comic Sans MS" panose="030F0702030302020204" pitchFamily="66" charset="0"/>
                <a:ea typeface="Times New Roman" panose="02020603050405020304" pitchFamily="18" charset="0"/>
                <a:cs typeface="Arial" panose="020B0604020202020204" pitchFamily="34" charset="0"/>
              </a:rPr>
              <a:t>En parallèle du diagnostic : mesures de stabilisation</a:t>
            </a:r>
            <a:endParaRPr lang="fr-FR" sz="41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tabLst>
                <a:tab pos="457200" algn="l"/>
              </a:tabLst>
            </a:pPr>
            <a:r>
              <a:rPr lang="fr-FR" sz="3600" b="1" dirty="0">
                <a:effectLst/>
                <a:latin typeface="Comic Sans MS" panose="030F0702030302020204" pitchFamily="66" charset="0"/>
                <a:ea typeface="Times New Roman" panose="02020603050405020304" pitchFamily="18" charset="0"/>
                <a:cs typeface="Arial" panose="020B0604020202020204" pitchFamily="34" charset="0"/>
              </a:rPr>
              <a:t>Voie veineuse périphérique large</a:t>
            </a:r>
            <a:r>
              <a:rPr lang="fr-FR" sz="3600" dirty="0">
                <a:effectLst/>
                <a:latin typeface="Comic Sans MS" panose="030F0702030302020204" pitchFamily="66" charset="0"/>
                <a:ea typeface="Times New Roman" panose="02020603050405020304" pitchFamily="18" charset="0"/>
                <a:cs typeface="Arial" panose="020B0604020202020204" pitchFamily="34" charset="0"/>
              </a:rPr>
              <a:t> (2 si possible).</a:t>
            </a:r>
            <a:endParaRPr lang="fr-FR" sz="36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tabLst>
                <a:tab pos="457200" algn="l"/>
              </a:tabLst>
            </a:pPr>
            <a:r>
              <a:rPr lang="fr-FR" sz="3600" b="1" dirty="0">
                <a:effectLst/>
                <a:latin typeface="Comic Sans MS" panose="030F0702030302020204" pitchFamily="66" charset="0"/>
                <a:ea typeface="Times New Roman" panose="02020603050405020304" pitchFamily="18" charset="0"/>
                <a:cs typeface="Arial" panose="020B0604020202020204" pitchFamily="34" charset="0"/>
              </a:rPr>
              <a:t>Remplissage vasculaire</a:t>
            </a:r>
            <a:r>
              <a:rPr lang="fr-FR" sz="3600" dirty="0">
                <a:effectLst/>
                <a:latin typeface="Comic Sans MS" panose="030F0702030302020204" pitchFamily="66" charset="0"/>
                <a:ea typeface="Times New Roman" panose="02020603050405020304" pitchFamily="18" charset="0"/>
                <a:cs typeface="Arial" panose="020B0604020202020204" pitchFamily="34" charset="0"/>
              </a:rPr>
              <a:t> (cristalloïdes).</a:t>
            </a:r>
            <a:endParaRPr lang="fr-FR" sz="36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tabLst>
                <a:tab pos="457200" algn="l"/>
              </a:tabLst>
            </a:pPr>
            <a:r>
              <a:rPr lang="fr-FR" sz="3600" b="1" dirty="0">
                <a:effectLst/>
                <a:latin typeface="Comic Sans MS" panose="030F0702030302020204" pitchFamily="66" charset="0"/>
                <a:ea typeface="Times New Roman" panose="02020603050405020304" pitchFamily="18" charset="0"/>
                <a:cs typeface="Arial" panose="020B0604020202020204" pitchFamily="34" charset="0"/>
              </a:rPr>
              <a:t>Oxygénation, monitorage, scope, diurèse horaire.</a:t>
            </a:r>
            <a:endParaRPr lang="fr-FR" sz="36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tabLst>
                <a:tab pos="457200" algn="l"/>
              </a:tabLst>
            </a:pPr>
            <a:r>
              <a:rPr lang="fr-FR" sz="3600" b="1" dirty="0">
                <a:effectLst/>
                <a:latin typeface="Comic Sans MS" panose="030F0702030302020204" pitchFamily="66" charset="0"/>
                <a:ea typeface="Times New Roman" panose="02020603050405020304" pitchFamily="18" charset="0"/>
                <a:cs typeface="Arial" panose="020B0604020202020204" pitchFamily="34" charset="0"/>
              </a:rPr>
              <a:t>Sondage gastrique</a:t>
            </a:r>
            <a:r>
              <a:rPr lang="fr-FR" sz="3600" dirty="0">
                <a:effectLst/>
                <a:latin typeface="Comic Sans MS" panose="030F0702030302020204" pitchFamily="66" charset="0"/>
                <a:ea typeface="Times New Roman" panose="02020603050405020304" pitchFamily="18" charset="0"/>
                <a:cs typeface="Arial" panose="020B0604020202020204" pitchFamily="34" charset="0"/>
              </a:rPr>
              <a:t> si vomissements/occlusion.</a:t>
            </a:r>
            <a:endParaRPr lang="fr-FR" sz="36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tabLst>
                <a:tab pos="457200" algn="l"/>
              </a:tabLst>
            </a:pPr>
            <a:r>
              <a:rPr lang="fr-FR" sz="3600" b="1" dirty="0">
                <a:effectLst/>
                <a:latin typeface="Comic Sans MS" panose="030F0702030302020204" pitchFamily="66" charset="0"/>
                <a:ea typeface="Times New Roman" panose="02020603050405020304" pitchFamily="18" charset="0"/>
                <a:cs typeface="Arial" panose="020B0604020202020204" pitchFamily="34" charset="0"/>
              </a:rPr>
              <a:t>Sondage urinaire</a:t>
            </a:r>
            <a:r>
              <a:rPr lang="fr-FR" sz="3600" dirty="0">
                <a:effectLst/>
                <a:latin typeface="Comic Sans MS" panose="030F0702030302020204" pitchFamily="66" charset="0"/>
                <a:ea typeface="Times New Roman" panose="02020603050405020304" pitchFamily="18" charset="0"/>
                <a:cs typeface="Arial" panose="020B0604020202020204" pitchFamily="34" charset="0"/>
              </a:rPr>
              <a:t> (diurèse, bilan entrée-sortie).</a:t>
            </a:r>
            <a:endParaRPr lang="fr-FR" sz="3600" dirty="0">
              <a:effectLst/>
              <a:latin typeface="Comic Sans MS" panose="030F0702030302020204" pitchFamily="66" charset="0"/>
              <a:ea typeface="Calibri" panose="020F0502020204030204" pitchFamily="34"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28324252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5BBE6DA4-1809-443B-B802-267C2ADEB2EC}"/>
              </a:ext>
            </a:extLst>
          </p:cNvPr>
          <p:cNvSpPr>
            <a:spLocks noGrp="1"/>
          </p:cNvSpPr>
          <p:nvPr>
            <p:ph idx="1"/>
          </p:nvPr>
        </p:nvSpPr>
        <p:spPr/>
        <p:txBody>
          <a:bodyPr/>
          <a:lstStyle/>
          <a:p>
            <a:pPr marL="342900" lvl="0" indent="-342900">
              <a:lnSpc>
                <a:spcPct val="107000"/>
              </a:lnSpc>
              <a:spcAft>
                <a:spcPts val="800"/>
              </a:spcAft>
              <a:tabLst>
                <a:tab pos="457200" algn="l"/>
              </a:tabLst>
            </a:pPr>
            <a:r>
              <a:rPr lang="fr-FR" sz="3200" b="1" dirty="0">
                <a:effectLst/>
                <a:latin typeface="Comic Sans MS" panose="030F0702030302020204" pitchFamily="66" charset="0"/>
                <a:ea typeface="Times New Roman" panose="02020603050405020304" pitchFamily="18" charset="0"/>
                <a:cs typeface="Arial" panose="020B0604020202020204" pitchFamily="34" charset="0"/>
              </a:rPr>
              <a:t>Antalgie adaptée</a:t>
            </a:r>
            <a:r>
              <a:rPr lang="fr-FR" sz="3200" dirty="0">
                <a:effectLst/>
                <a:latin typeface="Comic Sans MS" panose="030F0702030302020204" pitchFamily="66" charset="0"/>
                <a:ea typeface="Times New Roman" panose="02020603050405020304" pitchFamily="18" charset="0"/>
                <a:cs typeface="Arial" panose="020B0604020202020204" pitchFamily="34" charset="0"/>
              </a:rPr>
              <a:t> (éviter morphiniques avant diagnostic certain si chirurgical).</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tabLst>
                <a:tab pos="457200" algn="l"/>
              </a:tabLst>
            </a:pPr>
            <a:r>
              <a:rPr lang="fr-FR" sz="3200" b="1" dirty="0">
                <a:effectLst/>
                <a:latin typeface="Comic Sans MS" panose="030F0702030302020204" pitchFamily="66" charset="0"/>
                <a:ea typeface="Times New Roman" panose="02020603050405020304" pitchFamily="18" charset="0"/>
                <a:cs typeface="Arial" panose="020B0604020202020204" pitchFamily="34" charset="0"/>
              </a:rPr>
              <a:t>Antibiothérapie probabiliste</a:t>
            </a:r>
            <a:r>
              <a:rPr lang="fr-FR" sz="3200" dirty="0">
                <a:effectLst/>
                <a:latin typeface="Comic Sans MS" panose="030F0702030302020204" pitchFamily="66" charset="0"/>
                <a:ea typeface="Times New Roman" panose="02020603050405020304" pitchFamily="18" charset="0"/>
                <a:cs typeface="Arial" panose="020B0604020202020204" pitchFamily="34" charset="0"/>
              </a:rPr>
              <a:t> si sepsis ou péritonite.</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tabLst>
                <a:tab pos="457200" algn="l"/>
              </a:tabLst>
            </a:pPr>
            <a:r>
              <a:rPr lang="fr-FR" sz="3200" b="1" dirty="0">
                <a:effectLst/>
                <a:latin typeface="Comic Sans MS" panose="030F0702030302020204" pitchFamily="66" charset="0"/>
                <a:ea typeface="Times New Roman" panose="02020603050405020304" pitchFamily="18" charset="0"/>
                <a:cs typeface="Arial" panose="020B0604020202020204" pitchFamily="34" charset="0"/>
              </a:rPr>
              <a:t>Jeûne strict.</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pPr marL="342900" lvl="0" indent="-342900">
              <a:lnSpc>
                <a:spcPct val="107000"/>
              </a:lnSpc>
              <a:spcAft>
                <a:spcPts val="800"/>
              </a:spcAft>
              <a:tabLst>
                <a:tab pos="457200" algn="l"/>
              </a:tabLst>
            </a:pPr>
            <a:r>
              <a:rPr lang="fr-FR" sz="3200" b="1" dirty="0">
                <a:effectLst/>
                <a:latin typeface="Comic Sans MS" panose="030F0702030302020204" pitchFamily="66" charset="0"/>
                <a:ea typeface="Times New Roman" panose="02020603050405020304" pitchFamily="18" charset="0"/>
                <a:cs typeface="Arial" panose="020B0604020202020204" pitchFamily="34" charset="0"/>
              </a:rPr>
              <a:t>Appel rapide du chirurgien</a:t>
            </a:r>
            <a:r>
              <a:rPr lang="fr-FR" sz="3200" dirty="0">
                <a:effectLst/>
                <a:latin typeface="Comic Sans MS" panose="030F0702030302020204" pitchFamily="66" charset="0"/>
                <a:ea typeface="Times New Roman" panose="02020603050405020304" pitchFamily="18" charset="0"/>
                <a:cs typeface="Arial" panose="020B0604020202020204" pitchFamily="34" charset="0"/>
              </a:rPr>
              <a:t>.</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pPr marL="0" indent="0">
              <a:buNone/>
            </a:pPr>
            <a:endParaRPr lang="fr-FR" dirty="0"/>
          </a:p>
        </p:txBody>
      </p:sp>
    </p:spTree>
    <p:extLst>
      <p:ext uri="{BB962C8B-B14F-4D97-AF65-F5344CB8AC3E}">
        <p14:creationId xmlns:p14="http://schemas.microsoft.com/office/powerpoint/2010/main" val="42516846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FAFCB4-815C-405B-8202-DF9812B32044}"/>
              </a:ext>
            </a:extLst>
          </p:cNvPr>
          <p:cNvSpPr>
            <a:spLocks noGrp="1"/>
          </p:cNvSpPr>
          <p:nvPr>
            <p:ph type="title"/>
          </p:nvPr>
        </p:nvSpPr>
        <p:spPr/>
        <p:txBody>
          <a:bodyPr/>
          <a:lstStyle/>
          <a:p>
            <a:r>
              <a:rPr lang="fr-FR" sz="3600" b="1" dirty="0">
                <a:solidFill>
                  <a:srgbClr val="FF0000"/>
                </a:solidFill>
                <a:effectLst/>
                <a:latin typeface="Times New Roman" panose="02020603050405020304" pitchFamily="18" charset="0"/>
                <a:ea typeface="Times New Roman" panose="02020603050405020304" pitchFamily="18" charset="0"/>
                <a:cs typeface="Arial" panose="020B0604020202020204" pitchFamily="34" charset="0"/>
              </a:rPr>
              <a:t>VI. Orientation étiologique rapide </a:t>
            </a:r>
            <a:br>
              <a:rPr lang="fr-FR" sz="1800" dirty="0">
                <a:effectLst/>
                <a:latin typeface="Calibri" panose="020F0502020204030204" pitchFamily="34" charset="0"/>
                <a:ea typeface="Calibri" panose="020F0502020204030204" pitchFamily="34" charset="0"/>
                <a:cs typeface="Arial" panose="020B0604020202020204" pitchFamily="34" charset="0"/>
              </a:rPr>
            </a:br>
            <a:endParaRPr lang="fr-FR" dirty="0"/>
          </a:p>
        </p:txBody>
      </p:sp>
      <p:graphicFrame>
        <p:nvGraphicFramePr>
          <p:cNvPr id="4" name="Espace réservé du contenu 3">
            <a:extLst>
              <a:ext uri="{FF2B5EF4-FFF2-40B4-BE49-F238E27FC236}">
                <a16:creationId xmlns:a16="http://schemas.microsoft.com/office/drawing/2014/main" id="{32F281C6-C2A7-4ECB-9B39-E230E2CD6614}"/>
              </a:ext>
            </a:extLst>
          </p:cNvPr>
          <p:cNvGraphicFramePr>
            <a:graphicFrameLocks noGrp="1"/>
          </p:cNvGraphicFramePr>
          <p:nvPr>
            <p:ph idx="1"/>
            <p:extLst>
              <p:ext uri="{D42A27DB-BD31-4B8C-83A1-F6EECF244321}">
                <p14:modId xmlns:p14="http://schemas.microsoft.com/office/powerpoint/2010/main" val="3024942812"/>
              </p:ext>
            </p:extLst>
          </p:nvPr>
        </p:nvGraphicFramePr>
        <p:xfrm>
          <a:off x="838200" y="1993186"/>
          <a:ext cx="10515600" cy="4758045"/>
        </p:xfrm>
        <a:graphic>
          <a:graphicData uri="http://schemas.openxmlformats.org/drawingml/2006/table">
            <a:tbl>
              <a:tblPr firstRow="1" firstCol="1" bandRow="1">
                <a:tableStyleId>{5C22544A-7EE6-4342-B048-85BDC9FD1C3A}</a:tableStyleId>
              </a:tblPr>
              <a:tblGrid>
                <a:gridCol w="3505200">
                  <a:extLst>
                    <a:ext uri="{9D8B030D-6E8A-4147-A177-3AD203B41FA5}">
                      <a16:colId xmlns:a16="http://schemas.microsoft.com/office/drawing/2014/main" val="2189638266"/>
                    </a:ext>
                  </a:extLst>
                </a:gridCol>
                <a:gridCol w="3505200">
                  <a:extLst>
                    <a:ext uri="{9D8B030D-6E8A-4147-A177-3AD203B41FA5}">
                      <a16:colId xmlns:a16="http://schemas.microsoft.com/office/drawing/2014/main" val="3773057155"/>
                    </a:ext>
                  </a:extLst>
                </a:gridCol>
                <a:gridCol w="3505200">
                  <a:extLst>
                    <a:ext uri="{9D8B030D-6E8A-4147-A177-3AD203B41FA5}">
                      <a16:colId xmlns:a16="http://schemas.microsoft.com/office/drawing/2014/main" val="2993699824"/>
                    </a:ext>
                  </a:extLst>
                </a:gridCol>
              </a:tblGrid>
              <a:tr h="540127">
                <a:tc>
                  <a:txBody>
                    <a:bodyPr/>
                    <a:lstStyle/>
                    <a:p>
                      <a:pPr algn="ctr">
                        <a:lnSpc>
                          <a:spcPct val="107000"/>
                        </a:lnSpc>
                        <a:spcAft>
                          <a:spcPts val="800"/>
                        </a:spcAft>
                      </a:pPr>
                      <a:r>
                        <a:rPr lang="fr-FR" sz="2400">
                          <a:effectLst/>
                        </a:rPr>
                        <a:t>Siège douleur</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400">
                          <a:effectLst/>
                        </a:rPr>
                        <a:t>Diagnostic évoqué</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400">
                          <a:effectLst/>
                        </a:rPr>
                        <a:t>Examen clé</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070068599"/>
                  </a:ext>
                </a:extLst>
              </a:tr>
              <a:tr h="540127">
                <a:tc>
                  <a:txBody>
                    <a:bodyPr/>
                    <a:lstStyle/>
                    <a:p>
                      <a:pPr algn="ctr">
                        <a:lnSpc>
                          <a:spcPct val="107000"/>
                        </a:lnSpc>
                        <a:spcAft>
                          <a:spcPts val="800"/>
                        </a:spcAft>
                      </a:pPr>
                      <a:r>
                        <a:rPr lang="fr-FR" sz="2400">
                          <a:effectLst/>
                        </a:rPr>
                        <a:t>FID</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400">
                          <a:effectLst/>
                        </a:rPr>
                        <a:t>Appendicite, Crohn, GEU</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400">
                          <a:effectLst/>
                        </a:rPr>
                        <a:t>Écho, scanner</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315808"/>
                  </a:ext>
                </a:extLst>
              </a:tr>
              <a:tr h="540127">
                <a:tc>
                  <a:txBody>
                    <a:bodyPr/>
                    <a:lstStyle/>
                    <a:p>
                      <a:pPr algn="ctr">
                        <a:lnSpc>
                          <a:spcPct val="107000"/>
                        </a:lnSpc>
                        <a:spcAft>
                          <a:spcPts val="800"/>
                        </a:spcAft>
                      </a:pPr>
                      <a:r>
                        <a:rPr lang="fr-FR" sz="2400">
                          <a:effectLst/>
                        </a:rPr>
                        <a:t>FIG</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400">
                          <a:effectLst/>
                        </a:rPr>
                        <a:t>Sigmoïdite, torsion sigmoïde</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400">
                          <a:effectLst/>
                        </a:rPr>
                        <a:t>Scanner</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346748029"/>
                  </a:ext>
                </a:extLst>
              </a:tr>
              <a:tr h="540127">
                <a:tc>
                  <a:txBody>
                    <a:bodyPr/>
                    <a:lstStyle/>
                    <a:p>
                      <a:pPr algn="ctr">
                        <a:lnSpc>
                          <a:spcPct val="107000"/>
                        </a:lnSpc>
                        <a:spcAft>
                          <a:spcPts val="800"/>
                        </a:spcAft>
                      </a:pPr>
                      <a:r>
                        <a:rPr lang="fr-FR" sz="2400">
                          <a:effectLst/>
                        </a:rPr>
                        <a:t>Épigastre</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400">
                          <a:effectLst/>
                        </a:rPr>
                        <a:t>Ulcère perforé, pancréatite, IDM inférieur</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400">
                          <a:effectLst/>
                        </a:rPr>
                        <a:t>Scanner, ECG, lipase</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483541000"/>
                  </a:ext>
                </a:extLst>
              </a:tr>
              <a:tr h="540127">
                <a:tc>
                  <a:txBody>
                    <a:bodyPr/>
                    <a:lstStyle/>
                    <a:p>
                      <a:pPr algn="ctr">
                        <a:lnSpc>
                          <a:spcPct val="107000"/>
                        </a:lnSpc>
                        <a:spcAft>
                          <a:spcPts val="800"/>
                        </a:spcAft>
                      </a:pPr>
                      <a:r>
                        <a:rPr lang="fr-FR" sz="2400">
                          <a:effectLst/>
                        </a:rPr>
                        <a:t>Hypochondre droit</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400">
                          <a:effectLst/>
                        </a:rPr>
                        <a:t>Colique hépatique, cholécystite</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400">
                          <a:effectLst/>
                        </a:rPr>
                        <a:t>Échographie</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2753870613"/>
                  </a:ext>
                </a:extLst>
              </a:tr>
              <a:tr h="540127">
                <a:tc>
                  <a:txBody>
                    <a:bodyPr/>
                    <a:lstStyle/>
                    <a:p>
                      <a:pPr algn="ctr">
                        <a:lnSpc>
                          <a:spcPct val="107000"/>
                        </a:lnSpc>
                        <a:spcAft>
                          <a:spcPts val="800"/>
                        </a:spcAft>
                      </a:pPr>
                      <a:r>
                        <a:rPr lang="fr-FR" sz="2400">
                          <a:effectLst/>
                        </a:rPr>
                        <a:t>Flanc</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400">
                          <a:effectLst/>
                        </a:rPr>
                        <a:t>Colique néphrétique</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400">
                          <a:effectLst/>
                        </a:rPr>
                        <a:t>Scanner sans injection</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440612740"/>
                  </a:ext>
                </a:extLst>
              </a:tr>
              <a:tr h="540127">
                <a:tc>
                  <a:txBody>
                    <a:bodyPr/>
                    <a:lstStyle/>
                    <a:p>
                      <a:pPr algn="ctr">
                        <a:lnSpc>
                          <a:spcPct val="107000"/>
                        </a:lnSpc>
                        <a:spcAft>
                          <a:spcPts val="800"/>
                        </a:spcAft>
                      </a:pPr>
                      <a:r>
                        <a:rPr lang="fr-FR" sz="2400">
                          <a:effectLst/>
                        </a:rPr>
                        <a:t>Diffuse</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400">
                          <a:effectLst/>
                        </a:rPr>
                        <a:t>Péritonite, occlusion, ischémie</a:t>
                      </a:r>
                      <a:endParaRPr lang="fr-FR" sz="180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tc>
                  <a:txBody>
                    <a:bodyPr/>
                    <a:lstStyle/>
                    <a:p>
                      <a:pPr algn="ctr">
                        <a:lnSpc>
                          <a:spcPct val="107000"/>
                        </a:lnSpc>
                        <a:spcAft>
                          <a:spcPts val="800"/>
                        </a:spcAft>
                      </a:pPr>
                      <a:r>
                        <a:rPr lang="fr-FR" sz="2400" dirty="0">
                          <a:effectLst/>
                        </a:rPr>
                        <a:t>Scanner injecté</a:t>
                      </a:r>
                      <a:endParaRPr lang="fr-FR" sz="1800" dirty="0">
                        <a:effectLst/>
                        <a:latin typeface="Calibri" panose="020F0502020204030204" pitchFamily="34" charset="0"/>
                        <a:ea typeface="Calibri" panose="020F0502020204030204" pitchFamily="34" charset="0"/>
                        <a:cs typeface="Arial" panose="020B0604020202020204" pitchFamily="34" charset="0"/>
                      </a:endParaRPr>
                    </a:p>
                  </a:txBody>
                  <a:tcPr marL="9525" marR="9525" marT="9525" marB="9525" anchor="ctr"/>
                </a:tc>
                <a:extLst>
                  <a:ext uri="{0D108BD9-81ED-4DB2-BD59-A6C34878D82A}">
                    <a16:rowId xmlns:a16="http://schemas.microsoft.com/office/drawing/2014/main" val="1649583822"/>
                  </a:ext>
                </a:extLst>
              </a:tr>
            </a:tbl>
          </a:graphicData>
        </a:graphic>
      </p:graphicFrame>
    </p:spTree>
    <p:extLst>
      <p:ext uri="{BB962C8B-B14F-4D97-AF65-F5344CB8AC3E}">
        <p14:creationId xmlns:p14="http://schemas.microsoft.com/office/powerpoint/2010/main" val="26115292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ECBEE5-65A9-456A-8376-ECDD240E801E}"/>
              </a:ext>
            </a:extLst>
          </p:cNvPr>
          <p:cNvSpPr>
            <a:spLocks noGrp="1"/>
          </p:cNvSpPr>
          <p:nvPr>
            <p:ph type="title"/>
          </p:nvPr>
        </p:nvSpPr>
        <p:spPr/>
        <p:txBody>
          <a:bodyPr/>
          <a:lstStyle/>
          <a:p>
            <a:r>
              <a:rPr lang="fr-FR" sz="4400" b="1" dirty="0">
                <a:solidFill>
                  <a:srgbClr val="FF0000"/>
                </a:solidFill>
                <a:effectLst/>
                <a:latin typeface="Times New Roman" panose="02020603050405020304" pitchFamily="18" charset="0"/>
                <a:ea typeface="Times New Roman" panose="02020603050405020304" pitchFamily="18" charset="0"/>
                <a:cs typeface="Arial" panose="020B0604020202020204" pitchFamily="34" charset="0"/>
              </a:rPr>
              <a:t>VII. Indications chirurgicales urgentes</a:t>
            </a:r>
            <a:br>
              <a:rPr lang="fr-FR" sz="4400" dirty="0">
                <a:effectLst/>
                <a:latin typeface="Calibri" panose="020F0502020204030204" pitchFamily="34" charset="0"/>
                <a:ea typeface="Calibri" panose="020F0502020204030204" pitchFamily="34" charset="0"/>
                <a:cs typeface="Arial" panose="020B0604020202020204" pitchFamily="34" charset="0"/>
              </a:rPr>
            </a:br>
            <a:endParaRPr lang="fr-FR" dirty="0"/>
          </a:p>
        </p:txBody>
      </p:sp>
      <p:sp>
        <p:nvSpPr>
          <p:cNvPr id="3" name="Espace réservé du contenu 2">
            <a:extLst>
              <a:ext uri="{FF2B5EF4-FFF2-40B4-BE49-F238E27FC236}">
                <a16:creationId xmlns:a16="http://schemas.microsoft.com/office/drawing/2014/main" id="{A27D76F1-B633-4DC6-B9C8-8949CB0840B0}"/>
              </a:ext>
            </a:extLst>
          </p:cNvPr>
          <p:cNvSpPr>
            <a:spLocks noGrp="1"/>
          </p:cNvSpPr>
          <p:nvPr>
            <p:ph idx="1"/>
          </p:nvPr>
        </p:nvSpPr>
        <p:spPr/>
        <p:txBody>
          <a:bodyPr>
            <a:normAutofit fontScale="92500"/>
          </a:bodyPr>
          <a:lstStyle/>
          <a:p>
            <a:pPr lvl="0">
              <a:lnSpc>
                <a:spcPct val="107000"/>
              </a:lnSpc>
              <a:spcAft>
                <a:spcPts val="800"/>
              </a:spcAft>
              <a:buSzPts val="1000"/>
              <a:buFont typeface="Wingdings" panose="05000000000000000000" pitchFamily="2" charset="2"/>
              <a:buChar char="q"/>
              <a:tabLst>
                <a:tab pos="457200" algn="l"/>
              </a:tabLst>
            </a:pPr>
            <a:r>
              <a:rPr lang="fr-FR" sz="3200" b="1" dirty="0">
                <a:effectLst/>
                <a:latin typeface="Comic Sans MS" panose="030F0702030302020204" pitchFamily="66" charset="0"/>
                <a:ea typeface="Times New Roman" panose="02020603050405020304" pitchFamily="18" charset="0"/>
                <a:cs typeface="Arial" panose="020B0604020202020204" pitchFamily="34" charset="0"/>
              </a:rPr>
              <a:t>Péritonite généralisée (perforation d’organe creux).</a:t>
            </a:r>
            <a:endParaRPr lang="fr-FR" sz="3200" b="1" dirty="0">
              <a:effectLst/>
              <a:latin typeface="Comic Sans MS" panose="030F0702030302020204" pitchFamily="66"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sz="3200" b="1" dirty="0">
                <a:effectLst/>
                <a:latin typeface="Comic Sans MS" panose="030F0702030302020204" pitchFamily="66" charset="0"/>
                <a:ea typeface="Times New Roman" panose="02020603050405020304" pitchFamily="18" charset="0"/>
                <a:cs typeface="Arial" panose="020B0604020202020204" pitchFamily="34" charset="0"/>
              </a:rPr>
              <a:t>Occlusion intestinale mécanique.</a:t>
            </a:r>
            <a:endParaRPr lang="fr-FR" sz="3200" b="1" dirty="0">
              <a:effectLst/>
              <a:latin typeface="Comic Sans MS" panose="030F0702030302020204" pitchFamily="66"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sz="3200" b="1" dirty="0">
                <a:effectLst/>
                <a:latin typeface="Comic Sans MS" panose="030F0702030302020204" pitchFamily="66" charset="0"/>
                <a:ea typeface="Times New Roman" panose="02020603050405020304" pitchFamily="18" charset="0"/>
                <a:cs typeface="Arial" panose="020B0604020202020204" pitchFamily="34" charset="0"/>
              </a:rPr>
              <a:t>Appendicite aiguë compliquée.</a:t>
            </a:r>
            <a:endParaRPr lang="fr-FR" sz="3200" b="1" dirty="0">
              <a:effectLst/>
              <a:latin typeface="Comic Sans MS" panose="030F0702030302020204" pitchFamily="66"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sz="3200" b="1" dirty="0">
                <a:effectLst/>
                <a:latin typeface="Comic Sans MS" panose="030F0702030302020204" pitchFamily="66" charset="0"/>
                <a:ea typeface="Times New Roman" panose="02020603050405020304" pitchFamily="18" charset="0"/>
                <a:cs typeface="Arial" panose="020B0604020202020204" pitchFamily="34" charset="0"/>
              </a:rPr>
              <a:t>GEU rompue.</a:t>
            </a:r>
            <a:endParaRPr lang="fr-FR" sz="3200" b="1" dirty="0">
              <a:effectLst/>
              <a:latin typeface="Comic Sans MS" panose="030F0702030302020204" pitchFamily="66"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sz="3200" b="1" dirty="0">
                <a:effectLst/>
                <a:latin typeface="Comic Sans MS" panose="030F0702030302020204" pitchFamily="66" charset="0"/>
                <a:ea typeface="Times New Roman" panose="02020603050405020304" pitchFamily="18" charset="0"/>
                <a:cs typeface="Arial" panose="020B0604020202020204" pitchFamily="34" charset="0"/>
              </a:rPr>
              <a:t>Rupture de rate ou d’organe plein traumatique.</a:t>
            </a:r>
            <a:endParaRPr lang="fr-FR" sz="3200" b="1" dirty="0">
              <a:effectLst/>
              <a:latin typeface="Comic Sans MS" panose="030F0702030302020204" pitchFamily="66" charset="0"/>
              <a:ea typeface="Calibri" panose="020F0502020204030204" pitchFamily="34" charset="0"/>
              <a:cs typeface="Arial" panose="020B0604020202020204" pitchFamily="34" charset="0"/>
            </a:endParaRPr>
          </a:p>
          <a:p>
            <a:pPr lvl="0">
              <a:lnSpc>
                <a:spcPct val="107000"/>
              </a:lnSpc>
              <a:spcAft>
                <a:spcPts val="800"/>
              </a:spcAft>
              <a:buSzPts val="1000"/>
              <a:buFont typeface="Wingdings" panose="05000000000000000000" pitchFamily="2" charset="2"/>
              <a:buChar char="q"/>
              <a:tabLst>
                <a:tab pos="457200" algn="l"/>
              </a:tabLst>
            </a:pPr>
            <a:r>
              <a:rPr lang="fr-FR" sz="3200" b="1" dirty="0">
                <a:effectLst/>
                <a:latin typeface="Comic Sans MS" panose="030F0702030302020204" pitchFamily="66" charset="0"/>
                <a:ea typeface="Times New Roman" panose="02020603050405020304" pitchFamily="18" charset="0"/>
                <a:cs typeface="Arial" panose="020B0604020202020204" pitchFamily="34" charset="0"/>
              </a:rPr>
              <a:t>Ischémie mésentérique confirmée</a:t>
            </a:r>
            <a:r>
              <a:rPr lang="fr-FR" sz="3200" dirty="0">
                <a:effectLst/>
                <a:latin typeface="Comic Sans MS" panose="030F0702030302020204" pitchFamily="66" charset="0"/>
                <a:ea typeface="Times New Roman" panose="02020603050405020304" pitchFamily="18" charset="0"/>
                <a:cs typeface="Arial" panose="020B0604020202020204" pitchFamily="34" charset="0"/>
              </a:rPr>
              <a:t>.</a:t>
            </a:r>
            <a:endParaRPr lang="fr-FR" sz="3200" dirty="0">
              <a:effectLst/>
              <a:latin typeface="Comic Sans MS" panose="030F0702030302020204" pitchFamily="66" charset="0"/>
              <a:ea typeface="Calibri" panose="020F0502020204030204" pitchFamily="34" charset="0"/>
              <a:cs typeface="Arial" panose="020B0604020202020204" pitchFamily="34" charset="0"/>
            </a:endParaRPr>
          </a:p>
          <a:p>
            <a:endParaRPr lang="fr-FR" dirty="0"/>
          </a:p>
        </p:txBody>
      </p:sp>
    </p:spTree>
    <p:extLst>
      <p:ext uri="{BB962C8B-B14F-4D97-AF65-F5344CB8AC3E}">
        <p14:creationId xmlns:p14="http://schemas.microsoft.com/office/powerpoint/2010/main" val="11204698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C98519-AD35-4F8C-A7B4-08D9ED6872CF}"/>
              </a:ext>
            </a:extLst>
          </p:cNvPr>
          <p:cNvSpPr>
            <a:spLocks noGrp="1"/>
          </p:cNvSpPr>
          <p:nvPr>
            <p:ph type="title"/>
          </p:nvPr>
        </p:nvSpPr>
        <p:spPr/>
        <p:txBody>
          <a:bodyPr/>
          <a:lstStyle/>
          <a:p>
            <a:r>
              <a:rPr lang="fr-FR" sz="4400" b="1" dirty="0">
                <a:solidFill>
                  <a:srgbClr val="FF0000"/>
                </a:solidFill>
                <a:effectLst/>
                <a:latin typeface="Times New Roman" panose="02020603050405020304" pitchFamily="18" charset="0"/>
                <a:ea typeface="Times New Roman" panose="02020603050405020304" pitchFamily="18" charset="0"/>
                <a:cs typeface="Arial" panose="020B0604020202020204" pitchFamily="34" charset="0"/>
              </a:rPr>
              <a:t>VIII. Situations particulières</a:t>
            </a:r>
            <a:br>
              <a:rPr lang="fr-FR" sz="4400" dirty="0">
                <a:effectLst/>
                <a:latin typeface="Calibri" panose="020F0502020204030204" pitchFamily="34" charset="0"/>
                <a:ea typeface="Calibri" panose="020F0502020204030204" pitchFamily="34" charset="0"/>
                <a:cs typeface="Arial" panose="020B0604020202020204" pitchFamily="34" charset="0"/>
              </a:rPr>
            </a:br>
            <a:endParaRPr lang="fr-FR" dirty="0"/>
          </a:p>
        </p:txBody>
      </p:sp>
      <p:sp>
        <p:nvSpPr>
          <p:cNvPr id="3" name="Espace réservé du contenu 2">
            <a:extLst>
              <a:ext uri="{FF2B5EF4-FFF2-40B4-BE49-F238E27FC236}">
                <a16:creationId xmlns:a16="http://schemas.microsoft.com/office/drawing/2014/main" id="{521F2688-F224-42F2-9289-BEB785127514}"/>
              </a:ext>
            </a:extLst>
          </p:cNvPr>
          <p:cNvSpPr>
            <a:spLocks noGrp="1"/>
          </p:cNvSpPr>
          <p:nvPr>
            <p:ph idx="1"/>
          </p:nvPr>
        </p:nvSpPr>
        <p:spPr/>
        <p:txBody>
          <a:bodyPr>
            <a:normAutofit fontScale="85000" lnSpcReduction="10000"/>
          </a:bodyPr>
          <a:lstStyle/>
          <a:p>
            <a:pPr>
              <a:lnSpc>
                <a:spcPct val="107000"/>
              </a:lnSpc>
              <a:spcAft>
                <a:spcPts val="800"/>
              </a:spcAft>
            </a:pPr>
            <a:r>
              <a:rPr lang="fr-FR" sz="42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Femme en âge de procréer</a:t>
            </a:r>
            <a:endParaRPr lang="fr-FR" sz="42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dirty="0">
                <a:effectLst/>
                <a:latin typeface="Times New Roman" panose="02020603050405020304" pitchFamily="18" charset="0"/>
                <a:ea typeface="Times New Roman" panose="02020603050405020304" pitchFamily="18" charset="0"/>
                <a:cs typeface="Arial" panose="020B0604020202020204" pitchFamily="34" charset="0"/>
              </a:rPr>
              <a:t>→ Faire systématiquement un </a:t>
            </a:r>
            <a:r>
              <a:rPr lang="fr-FR" b="1" dirty="0">
                <a:effectLst/>
                <a:latin typeface="Times New Roman" panose="02020603050405020304" pitchFamily="18" charset="0"/>
                <a:ea typeface="Times New Roman" panose="02020603050405020304" pitchFamily="18" charset="0"/>
                <a:cs typeface="Arial" panose="020B0604020202020204" pitchFamily="34" charset="0"/>
              </a:rPr>
              <a:t>test de grossesse (β-HCG)</a:t>
            </a:r>
            <a:r>
              <a:rPr lang="fr-FR" dirty="0">
                <a:effectLst/>
                <a:latin typeface="Times New Roman" panose="02020603050405020304" pitchFamily="18" charset="0"/>
                <a:ea typeface="Times New Roman" panose="02020603050405020304" pitchFamily="18" charset="0"/>
                <a:cs typeface="Arial" panose="020B0604020202020204" pitchFamily="34" charset="0"/>
              </a:rPr>
              <a:t> pour éliminer une GEU.</a:t>
            </a:r>
            <a:endParaRPr lang="fr-FR"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38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Sujet âgé</a:t>
            </a:r>
            <a:endParaRPr lang="fr-FR" sz="38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dirty="0">
                <a:effectLst/>
                <a:latin typeface="Times New Roman" panose="02020603050405020304" pitchFamily="18" charset="0"/>
                <a:ea typeface="Times New Roman" panose="02020603050405020304" pitchFamily="18" charset="0"/>
                <a:cs typeface="Arial" panose="020B0604020202020204" pitchFamily="34" charset="0"/>
              </a:rPr>
              <a:t>→ Signes souvent </a:t>
            </a:r>
            <a:r>
              <a:rPr lang="fr-FR" b="1" dirty="0">
                <a:effectLst/>
                <a:latin typeface="Times New Roman" panose="02020603050405020304" pitchFamily="18" charset="0"/>
                <a:ea typeface="Times New Roman" panose="02020603050405020304" pitchFamily="18" charset="0"/>
                <a:cs typeface="Arial" panose="020B0604020202020204" pitchFamily="34" charset="0"/>
              </a:rPr>
              <a:t>atténués</a:t>
            </a:r>
            <a:r>
              <a:rPr lang="fr-FR" dirty="0">
                <a:effectLst/>
                <a:latin typeface="Times New Roman" panose="02020603050405020304" pitchFamily="18" charset="0"/>
                <a:ea typeface="Times New Roman" panose="02020603050405020304" pitchFamily="18" charset="0"/>
                <a:cs typeface="Arial" panose="020B0604020202020204" pitchFamily="34" charset="0"/>
              </a:rPr>
              <a:t> ; penser à diverticulite, ischémie mésentérique, occlusion sur cancer.</a:t>
            </a:r>
            <a:endParaRPr lang="fr-FR"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3800" b="1" dirty="0">
                <a:effectLst/>
                <a:latin typeface="Times New Roman" panose="02020603050405020304" pitchFamily="18" charset="0"/>
                <a:ea typeface="Times New Roman" panose="02020603050405020304" pitchFamily="18" charset="0"/>
                <a:cs typeface="Arial" panose="020B0604020202020204" pitchFamily="34" charset="0"/>
              </a:rPr>
              <a:t> </a:t>
            </a:r>
            <a:r>
              <a:rPr lang="fr-FR" sz="3800" b="1" dirty="0">
                <a:solidFill>
                  <a:srgbClr val="0070C0"/>
                </a:solidFill>
                <a:effectLst/>
                <a:latin typeface="Times New Roman" panose="02020603050405020304" pitchFamily="18" charset="0"/>
                <a:ea typeface="Times New Roman" panose="02020603050405020304" pitchFamily="18" charset="0"/>
                <a:cs typeface="Arial" panose="020B0604020202020204" pitchFamily="34" charset="0"/>
              </a:rPr>
              <a:t>Enfant</a:t>
            </a:r>
            <a:endParaRPr lang="fr-FR" sz="38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dirty="0">
                <a:effectLst/>
                <a:latin typeface="Times New Roman" panose="02020603050405020304" pitchFamily="18" charset="0"/>
                <a:ea typeface="Times New Roman" panose="02020603050405020304" pitchFamily="18" charset="0"/>
                <a:cs typeface="Arial" panose="020B0604020202020204" pitchFamily="34" charset="0"/>
              </a:rPr>
              <a:t>→ Douleur souvent </a:t>
            </a:r>
            <a:r>
              <a:rPr lang="fr-FR" b="1" dirty="0">
                <a:effectLst/>
                <a:latin typeface="Times New Roman" panose="02020603050405020304" pitchFamily="18" charset="0"/>
                <a:ea typeface="Times New Roman" panose="02020603050405020304" pitchFamily="18" charset="0"/>
                <a:cs typeface="Arial" panose="020B0604020202020204" pitchFamily="34" charset="0"/>
              </a:rPr>
              <a:t>mal localisée</a:t>
            </a:r>
            <a:r>
              <a:rPr lang="fr-FR" dirty="0">
                <a:effectLst/>
                <a:latin typeface="Times New Roman" panose="02020603050405020304" pitchFamily="18" charset="0"/>
                <a:ea typeface="Times New Roman" panose="02020603050405020304" pitchFamily="18" charset="0"/>
                <a:cs typeface="Arial" panose="020B0604020202020204" pitchFamily="34" charset="0"/>
              </a:rPr>
              <a:t> ; penser à appendicite, invagination intestinale.</a:t>
            </a:r>
            <a:endParaRPr lang="fr-FR" dirty="0">
              <a:effectLst/>
              <a:latin typeface="Calibri" panose="020F0502020204030204" pitchFamily="34" charset="0"/>
              <a:ea typeface="Calibri" panose="020F0502020204030204" pitchFamily="34" charset="0"/>
              <a:cs typeface="Arial" panose="020B0604020202020204" pitchFamily="34" charset="0"/>
            </a:endParaRPr>
          </a:p>
          <a:p>
            <a:endParaRPr lang="fr-FR" dirty="0"/>
          </a:p>
        </p:txBody>
      </p:sp>
    </p:spTree>
    <p:extLst>
      <p:ext uri="{BB962C8B-B14F-4D97-AF65-F5344CB8AC3E}">
        <p14:creationId xmlns:p14="http://schemas.microsoft.com/office/powerpoint/2010/main" val="7680880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7222B6-FCEA-4D65-B92A-DE82A239D7D0}"/>
              </a:ext>
            </a:extLst>
          </p:cNvPr>
          <p:cNvSpPr>
            <a:spLocks noGrp="1"/>
          </p:cNvSpPr>
          <p:nvPr>
            <p:ph type="title"/>
          </p:nvPr>
        </p:nvSpPr>
        <p:spPr/>
        <p:txBody>
          <a:bodyPr/>
          <a:lstStyle/>
          <a:p>
            <a:r>
              <a:rPr lang="fr-FR" sz="4400" b="1" dirty="0">
                <a:solidFill>
                  <a:srgbClr val="FF0000"/>
                </a:solidFill>
                <a:effectLst/>
                <a:latin typeface="Times New Roman" panose="02020603050405020304" pitchFamily="18" charset="0"/>
                <a:ea typeface="Times New Roman" panose="02020603050405020304" pitchFamily="18" charset="0"/>
                <a:cs typeface="Arial" panose="020B0604020202020204" pitchFamily="34" charset="0"/>
              </a:rPr>
              <a:t>IX. Pièges diagnostiques à éviter</a:t>
            </a:r>
            <a:br>
              <a:rPr lang="fr-FR" sz="4400" dirty="0">
                <a:effectLst/>
                <a:latin typeface="Calibri" panose="020F0502020204030204" pitchFamily="34" charset="0"/>
                <a:ea typeface="Calibri" panose="020F0502020204030204" pitchFamily="34" charset="0"/>
                <a:cs typeface="Arial" panose="020B0604020202020204" pitchFamily="34" charset="0"/>
              </a:rPr>
            </a:br>
            <a:endParaRPr lang="fr-FR" dirty="0"/>
          </a:p>
        </p:txBody>
      </p:sp>
      <p:sp>
        <p:nvSpPr>
          <p:cNvPr id="3" name="Espace réservé du contenu 2">
            <a:extLst>
              <a:ext uri="{FF2B5EF4-FFF2-40B4-BE49-F238E27FC236}">
                <a16:creationId xmlns:a16="http://schemas.microsoft.com/office/drawing/2014/main" id="{C148B8CE-E4BB-468F-971D-7850004A7994}"/>
              </a:ext>
            </a:extLst>
          </p:cNvPr>
          <p:cNvSpPr>
            <a:spLocks noGrp="1"/>
          </p:cNvSpPr>
          <p:nvPr>
            <p:ph idx="1"/>
          </p:nvPr>
        </p:nvSpPr>
        <p:spPr>
          <a:xfrm>
            <a:off x="838200" y="1948915"/>
            <a:ext cx="10515600" cy="4351338"/>
          </a:xfrm>
        </p:spPr>
        <p:txBody>
          <a:bodyPr/>
          <a:lstStyle/>
          <a:p>
            <a:pPr marL="342900" lvl="0" indent="-342900">
              <a:lnSpc>
                <a:spcPct val="107000"/>
              </a:lnSpc>
              <a:spcAft>
                <a:spcPts val="800"/>
              </a:spcAft>
              <a:buSzPts val="1000"/>
              <a:buFont typeface="Symbol" panose="05050102010706020507" pitchFamily="18" charset="2"/>
              <a:buChar char=""/>
              <a:tabLst>
                <a:tab pos="457200" algn="l"/>
              </a:tabLst>
            </a:pPr>
            <a:r>
              <a:rPr lang="fr-FR" sz="3600" b="1" dirty="0">
                <a:effectLst/>
                <a:latin typeface="Times New Roman" panose="02020603050405020304" pitchFamily="18" charset="0"/>
                <a:ea typeface="Times New Roman" panose="02020603050405020304" pitchFamily="18" charset="0"/>
                <a:cs typeface="Arial" panose="020B0604020202020204" pitchFamily="34" charset="0"/>
              </a:rPr>
              <a:t>IDM inférieur</a:t>
            </a:r>
            <a:r>
              <a:rPr lang="fr-FR" sz="3600" dirty="0">
                <a:effectLst/>
                <a:latin typeface="Times New Roman" panose="02020603050405020304" pitchFamily="18" charset="0"/>
                <a:ea typeface="Times New Roman" panose="02020603050405020304" pitchFamily="18" charset="0"/>
                <a:cs typeface="Arial" panose="020B0604020202020204" pitchFamily="34" charset="0"/>
              </a:rPr>
              <a:t> simulant une douleur épigastrique.</a:t>
            </a:r>
            <a:endParaRPr lang="fr-FR" sz="36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600" b="1" dirty="0">
                <a:effectLst/>
                <a:latin typeface="Times New Roman" panose="02020603050405020304" pitchFamily="18" charset="0"/>
                <a:ea typeface="Times New Roman" panose="02020603050405020304" pitchFamily="18" charset="0"/>
                <a:cs typeface="Arial" panose="020B0604020202020204" pitchFamily="34" charset="0"/>
              </a:rPr>
              <a:t>Pneumonie basale droite</a:t>
            </a:r>
            <a:r>
              <a:rPr lang="fr-FR" sz="3600" dirty="0">
                <a:effectLst/>
                <a:latin typeface="Times New Roman" panose="02020603050405020304" pitchFamily="18" charset="0"/>
                <a:ea typeface="Times New Roman" panose="02020603050405020304" pitchFamily="18" charset="0"/>
                <a:cs typeface="Arial" panose="020B0604020202020204" pitchFamily="34" charset="0"/>
              </a:rPr>
              <a:t> simulant une cholécystite.</a:t>
            </a:r>
            <a:endParaRPr lang="fr-FR" sz="36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600" b="1" dirty="0">
                <a:effectLst/>
                <a:latin typeface="Times New Roman" panose="02020603050405020304" pitchFamily="18" charset="0"/>
                <a:ea typeface="Times New Roman" panose="02020603050405020304" pitchFamily="18" charset="0"/>
                <a:cs typeface="Arial" panose="020B0604020202020204" pitchFamily="34" charset="0"/>
              </a:rPr>
              <a:t>Cétonurie de déshydratation</a:t>
            </a:r>
            <a:r>
              <a:rPr lang="fr-FR" sz="3600" dirty="0">
                <a:effectLst/>
                <a:latin typeface="Times New Roman" panose="02020603050405020304" pitchFamily="18" charset="0"/>
                <a:ea typeface="Times New Roman" panose="02020603050405020304" pitchFamily="18" charset="0"/>
                <a:cs typeface="Arial" panose="020B0604020202020204" pitchFamily="34" charset="0"/>
              </a:rPr>
              <a:t> simulant une pancréatite.</a:t>
            </a:r>
            <a:endParaRPr lang="fr-FR" sz="3600" dirty="0">
              <a:effectLst/>
              <a:latin typeface="Calibri" panose="020F0502020204030204" pitchFamily="34" charset="0"/>
              <a:ea typeface="Calibri" panose="020F0502020204030204" pitchFamily="34" charset="0"/>
              <a:cs typeface="Arial" panose="020B0604020202020204" pitchFamily="34"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fr-FR" sz="3600" b="1" dirty="0">
                <a:effectLst/>
                <a:latin typeface="Times New Roman" panose="02020603050405020304" pitchFamily="18" charset="0"/>
                <a:ea typeface="Times New Roman" panose="02020603050405020304" pitchFamily="18" charset="0"/>
                <a:cs typeface="Arial" panose="020B0604020202020204" pitchFamily="34" charset="0"/>
              </a:rPr>
              <a:t>Colique néphrétique vs appendicite.</a:t>
            </a:r>
            <a:endParaRPr lang="fr-FR" sz="3600" dirty="0">
              <a:effectLst/>
              <a:latin typeface="Calibri" panose="020F0502020204030204" pitchFamily="34" charset="0"/>
              <a:ea typeface="Calibri" panose="020F0502020204030204" pitchFamily="34" charset="0"/>
              <a:cs typeface="Arial" panose="020B0604020202020204" pitchFamily="34" charset="0"/>
            </a:endParaRPr>
          </a:p>
          <a:p>
            <a:endParaRPr lang="fr-FR" dirty="0"/>
          </a:p>
        </p:txBody>
      </p:sp>
    </p:spTree>
    <p:extLst>
      <p:ext uri="{BB962C8B-B14F-4D97-AF65-F5344CB8AC3E}">
        <p14:creationId xmlns:p14="http://schemas.microsoft.com/office/powerpoint/2010/main" val="29999207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ZoneTexte 43">
            <a:extLst>
              <a:ext uri="{FF2B5EF4-FFF2-40B4-BE49-F238E27FC236}">
                <a16:creationId xmlns:a16="http://schemas.microsoft.com/office/drawing/2014/main" id="{EBF99C59-E169-49E5-B5B3-4E04BFB23333}"/>
              </a:ext>
            </a:extLst>
          </p:cNvPr>
          <p:cNvSpPr txBox="1"/>
          <p:nvPr/>
        </p:nvSpPr>
        <p:spPr>
          <a:xfrm>
            <a:off x="513708" y="436005"/>
            <a:ext cx="10202238" cy="5923994"/>
          </a:xfrm>
          <a:prstGeom prst="rect">
            <a:avLst/>
          </a:prstGeom>
          <a:noFill/>
        </p:spPr>
        <p:txBody>
          <a:bodyPr wrap="square">
            <a:spAutoFit/>
          </a:bodyPr>
          <a:lstStyle/>
          <a:p>
            <a:pPr>
              <a:lnSpc>
                <a:spcPct val="107000"/>
              </a:lnSpc>
              <a:spcAft>
                <a:spcPts val="800"/>
              </a:spcAft>
            </a:pPr>
            <a:r>
              <a:rPr lang="fr-FR" sz="2000" b="1" dirty="0">
                <a:effectLst/>
                <a:latin typeface="Times New Roman" panose="02020603050405020304" pitchFamily="18" charset="0"/>
                <a:ea typeface="Times New Roman" panose="02020603050405020304" pitchFamily="18" charset="0"/>
                <a:cs typeface="Arial" panose="020B0604020202020204" pitchFamily="34" charset="0"/>
              </a:rPr>
              <a:t>Q1.</a:t>
            </a:r>
            <a:endParaRPr lang="fr-FR" sz="16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2000" dirty="0">
                <a:effectLst/>
                <a:latin typeface="Times New Roman" panose="02020603050405020304" pitchFamily="18" charset="0"/>
                <a:ea typeface="Times New Roman" panose="02020603050405020304" pitchFamily="18" charset="0"/>
                <a:cs typeface="Arial" panose="020B0604020202020204" pitchFamily="34" charset="0"/>
              </a:rPr>
              <a:t>Chez un patient présentant une douleur abdominale brutale généralisée, une défense et un abdomen immobile, quelle anomalie biologique est la plus attendue ?</a:t>
            </a:r>
            <a:br>
              <a:rPr lang="fr-FR" sz="2000" dirty="0">
                <a:effectLst/>
                <a:latin typeface="Times New Roman" panose="02020603050405020304" pitchFamily="18" charset="0"/>
                <a:ea typeface="Times New Roman" panose="02020603050405020304" pitchFamily="18" charset="0"/>
                <a:cs typeface="Arial" panose="020B0604020202020204" pitchFamily="34" charset="0"/>
              </a:rPr>
            </a:br>
            <a:r>
              <a:rPr lang="fr-FR" sz="2000" dirty="0">
                <a:effectLst/>
                <a:latin typeface="Times New Roman" panose="02020603050405020304" pitchFamily="18" charset="0"/>
                <a:ea typeface="Times New Roman" panose="02020603050405020304" pitchFamily="18" charset="0"/>
                <a:cs typeface="Arial" panose="020B0604020202020204" pitchFamily="34" charset="0"/>
              </a:rPr>
              <a:t>A. </a:t>
            </a:r>
            <a:r>
              <a:rPr lang="fr-FR" sz="2000" dirty="0" err="1">
                <a:effectLst/>
                <a:latin typeface="Times New Roman" panose="02020603050405020304" pitchFamily="18" charset="0"/>
                <a:ea typeface="Times New Roman" panose="02020603050405020304" pitchFamily="18" charset="0"/>
                <a:cs typeface="Arial" panose="020B0604020202020204" pitchFamily="34" charset="0"/>
              </a:rPr>
              <a:t>Hyperlipasémie</a:t>
            </a:r>
            <a:r>
              <a:rPr lang="fr-FR" sz="2000" dirty="0">
                <a:effectLst/>
                <a:latin typeface="Times New Roman" panose="02020603050405020304" pitchFamily="18" charset="0"/>
                <a:ea typeface="Times New Roman" panose="02020603050405020304" pitchFamily="18" charset="0"/>
                <a:cs typeface="Arial" panose="020B0604020202020204" pitchFamily="34" charset="0"/>
              </a:rPr>
              <a:t> majeure</a:t>
            </a:r>
            <a:br>
              <a:rPr lang="fr-FR" sz="2000" dirty="0">
                <a:effectLst/>
                <a:latin typeface="Times New Roman" panose="02020603050405020304" pitchFamily="18" charset="0"/>
                <a:ea typeface="Times New Roman" panose="02020603050405020304" pitchFamily="18" charset="0"/>
                <a:cs typeface="Arial" panose="020B0604020202020204" pitchFamily="34" charset="0"/>
              </a:rPr>
            </a:br>
            <a:r>
              <a:rPr lang="fr-FR" sz="2000" dirty="0">
                <a:effectLst/>
                <a:latin typeface="Times New Roman" panose="02020603050405020304" pitchFamily="18" charset="0"/>
                <a:ea typeface="Times New Roman" panose="02020603050405020304" pitchFamily="18" charset="0"/>
                <a:cs typeface="Arial" panose="020B0604020202020204" pitchFamily="34" charset="0"/>
              </a:rPr>
              <a:t>B. Hyperleucocytose à PNN </a:t>
            </a:r>
            <a:endParaRPr lang="fr-FR"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2000" dirty="0">
                <a:effectLst/>
                <a:latin typeface="Times New Roman" panose="02020603050405020304" pitchFamily="18" charset="0"/>
                <a:ea typeface="Times New Roman" panose="02020603050405020304" pitchFamily="18" charset="0"/>
                <a:cs typeface="Arial" panose="020B0604020202020204" pitchFamily="34" charset="0"/>
              </a:rPr>
              <a:t>C. Hyponatrémie</a:t>
            </a:r>
            <a:br>
              <a:rPr lang="fr-FR" sz="2000" dirty="0">
                <a:effectLst/>
                <a:latin typeface="Times New Roman" panose="02020603050405020304" pitchFamily="18" charset="0"/>
                <a:ea typeface="Times New Roman" panose="02020603050405020304" pitchFamily="18" charset="0"/>
                <a:cs typeface="Arial" panose="020B0604020202020204" pitchFamily="34" charset="0"/>
              </a:rPr>
            </a:br>
            <a:r>
              <a:rPr lang="fr-FR" sz="2000" dirty="0">
                <a:effectLst/>
                <a:latin typeface="Times New Roman" panose="02020603050405020304" pitchFamily="18" charset="0"/>
                <a:ea typeface="Times New Roman" panose="02020603050405020304" pitchFamily="18" charset="0"/>
                <a:cs typeface="Arial" panose="020B0604020202020204" pitchFamily="34" charset="0"/>
              </a:rPr>
              <a:t>D. Hypoglycémie</a:t>
            </a:r>
            <a:endParaRPr lang="fr-FR"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2000" dirty="0">
                <a:effectLst/>
                <a:latin typeface="Times New Roman" panose="02020603050405020304" pitchFamily="18" charset="0"/>
                <a:ea typeface="Times New Roman" panose="02020603050405020304" pitchFamily="18" charset="0"/>
                <a:cs typeface="Arial" panose="020B0604020202020204" pitchFamily="34" charset="0"/>
              </a:rPr>
              <a:t> </a:t>
            </a:r>
            <a:endParaRPr lang="fr-FR"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2400" b="1" dirty="0">
                <a:effectLst/>
                <a:latin typeface="Times New Roman" panose="02020603050405020304" pitchFamily="18" charset="0"/>
                <a:ea typeface="Times New Roman" panose="02020603050405020304" pitchFamily="18" charset="0"/>
                <a:cs typeface="Arial" panose="020B0604020202020204" pitchFamily="34" charset="0"/>
              </a:rPr>
              <a:t>Q2.</a:t>
            </a:r>
            <a:endParaRPr lang="fr-FR"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2000" dirty="0">
                <a:effectLst/>
                <a:latin typeface="Times New Roman" panose="02020603050405020304" pitchFamily="18" charset="0"/>
                <a:ea typeface="Times New Roman" panose="02020603050405020304" pitchFamily="18" charset="0"/>
                <a:cs typeface="Arial" panose="020B0604020202020204" pitchFamily="34" charset="0"/>
              </a:rPr>
              <a:t>Une patiente de 28 ans, en aménorrhée de 6 semaines, se présente avec douleur pelvienne et hypotension. L’échographie montre un épanchement péritonéal sans sac intra-utérin.</a:t>
            </a:r>
            <a:br>
              <a:rPr lang="fr-FR" sz="2000" dirty="0">
                <a:effectLst/>
                <a:latin typeface="Times New Roman" panose="02020603050405020304" pitchFamily="18" charset="0"/>
                <a:ea typeface="Times New Roman" panose="02020603050405020304" pitchFamily="18" charset="0"/>
                <a:cs typeface="Arial" panose="020B0604020202020204" pitchFamily="34" charset="0"/>
              </a:rPr>
            </a:br>
            <a:r>
              <a:rPr lang="fr-FR" sz="2000" dirty="0">
                <a:effectLst/>
                <a:latin typeface="Times New Roman" panose="02020603050405020304" pitchFamily="18" charset="0"/>
                <a:ea typeface="Times New Roman" panose="02020603050405020304" pitchFamily="18" charset="0"/>
                <a:cs typeface="Arial" panose="020B0604020202020204" pitchFamily="34" charset="0"/>
              </a:rPr>
              <a:t>Quel est le diagnostic le plus probable ?</a:t>
            </a:r>
            <a:br>
              <a:rPr lang="fr-FR" sz="2000" dirty="0">
                <a:effectLst/>
                <a:latin typeface="Times New Roman" panose="02020603050405020304" pitchFamily="18" charset="0"/>
                <a:ea typeface="Times New Roman" panose="02020603050405020304" pitchFamily="18" charset="0"/>
                <a:cs typeface="Arial" panose="020B0604020202020204" pitchFamily="34" charset="0"/>
              </a:rPr>
            </a:br>
            <a:r>
              <a:rPr lang="fr-FR" sz="2000" dirty="0">
                <a:effectLst/>
                <a:latin typeface="Times New Roman" panose="02020603050405020304" pitchFamily="18" charset="0"/>
                <a:ea typeface="Times New Roman" panose="02020603050405020304" pitchFamily="18" charset="0"/>
                <a:cs typeface="Arial" panose="020B0604020202020204" pitchFamily="34" charset="0"/>
              </a:rPr>
              <a:t>A. Kyste ovarien rompu</a:t>
            </a:r>
            <a:br>
              <a:rPr lang="fr-FR" sz="2000" dirty="0">
                <a:effectLst/>
                <a:latin typeface="Times New Roman" panose="02020603050405020304" pitchFamily="18" charset="0"/>
                <a:ea typeface="Times New Roman" panose="02020603050405020304" pitchFamily="18" charset="0"/>
                <a:cs typeface="Arial" panose="020B0604020202020204" pitchFamily="34" charset="0"/>
              </a:rPr>
            </a:br>
            <a:r>
              <a:rPr lang="fr-FR" sz="2000" dirty="0">
                <a:effectLst/>
                <a:latin typeface="Times New Roman" panose="02020603050405020304" pitchFamily="18" charset="0"/>
                <a:ea typeface="Times New Roman" panose="02020603050405020304" pitchFamily="18" charset="0"/>
                <a:cs typeface="Arial" panose="020B0604020202020204" pitchFamily="34" charset="0"/>
              </a:rPr>
              <a:t>B. GEU rompue</a:t>
            </a:r>
            <a:br>
              <a:rPr lang="fr-FR" sz="2000" dirty="0">
                <a:effectLst/>
                <a:latin typeface="Times New Roman" panose="02020603050405020304" pitchFamily="18" charset="0"/>
                <a:ea typeface="Times New Roman" panose="02020603050405020304" pitchFamily="18" charset="0"/>
                <a:cs typeface="Arial" panose="020B0604020202020204" pitchFamily="34" charset="0"/>
              </a:rPr>
            </a:br>
            <a:r>
              <a:rPr lang="fr-FR" sz="2000" dirty="0">
                <a:effectLst/>
                <a:latin typeface="Times New Roman" panose="02020603050405020304" pitchFamily="18" charset="0"/>
                <a:ea typeface="Times New Roman" panose="02020603050405020304" pitchFamily="18" charset="0"/>
                <a:cs typeface="Arial" panose="020B0604020202020204" pitchFamily="34" charset="0"/>
              </a:rPr>
              <a:t>C. Endométriose</a:t>
            </a:r>
            <a:br>
              <a:rPr lang="fr-FR" sz="2000" dirty="0">
                <a:effectLst/>
                <a:latin typeface="Times New Roman" panose="02020603050405020304" pitchFamily="18" charset="0"/>
                <a:ea typeface="Times New Roman" panose="02020603050405020304" pitchFamily="18" charset="0"/>
                <a:cs typeface="Arial" panose="020B0604020202020204" pitchFamily="34" charset="0"/>
              </a:rPr>
            </a:br>
            <a:r>
              <a:rPr lang="fr-FR" sz="2000" dirty="0">
                <a:effectLst/>
                <a:latin typeface="Times New Roman" panose="02020603050405020304" pitchFamily="18" charset="0"/>
                <a:ea typeface="Times New Roman" panose="02020603050405020304" pitchFamily="18" charset="0"/>
                <a:cs typeface="Arial" panose="020B0604020202020204" pitchFamily="34" charset="0"/>
              </a:rPr>
              <a:t>D. Infection pelvienne</a:t>
            </a:r>
            <a:endParaRPr lang="fr-FR"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2076039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015D39A7-960B-40FE-B2BE-0F35C304B052}"/>
              </a:ext>
            </a:extLst>
          </p:cNvPr>
          <p:cNvSpPr txBox="1"/>
          <p:nvPr/>
        </p:nvSpPr>
        <p:spPr>
          <a:xfrm>
            <a:off x="863029" y="732293"/>
            <a:ext cx="9616612" cy="5228611"/>
          </a:xfrm>
          <a:prstGeom prst="rect">
            <a:avLst/>
          </a:prstGeom>
          <a:noFill/>
        </p:spPr>
        <p:txBody>
          <a:bodyPr wrap="square">
            <a:spAutoFit/>
          </a:bodyPr>
          <a:lstStyle/>
          <a:p>
            <a:pPr>
              <a:lnSpc>
                <a:spcPct val="107000"/>
              </a:lnSpc>
              <a:spcAft>
                <a:spcPts val="800"/>
              </a:spcAft>
            </a:pPr>
            <a:r>
              <a:rPr lang="fr-FR" sz="2400" b="1" dirty="0">
                <a:effectLst/>
                <a:latin typeface="Times New Roman" panose="02020603050405020304" pitchFamily="18" charset="0"/>
                <a:ea typeface="Times New Roman" panose="02020603050405020304" pitchFamily="18" charset="0"/>
                <a:cs typeface="Arial" panose="020B0604020202020204" pitchFamily="34" charset="0"/>
              </a:rPr>
              <a:t>Q3.</a:t>
            </a:r>
            <a:endParaRPr lang="fr-FR"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2000" dirty="0">
                <a:effectLst/>
                <a:latin typeface="Times New Roman" panose="02020603050405020304" pitchFamily="18" charset="0"/>
                <a:ea typeface="Times New Roman" panose="02020603050405020304" pitchFamily="18" charset="0"/>
                <a:cs typeface="Arial" panose="020B0604020202020204" pitchFamily="34" charset="0"/>
              </a:rPr>
              <a:t>Chez un patient opéré d’une appendicite il y a 1 an, qui présente un syndrome occlusif sans fièvre, quelle est l’étiologie la plus probable ?</a:t>
            </a:r>
            <a:br>
              <a:rPr lang="fr-FR" sz="2000" dirty="0">
                <a:effectLst/>
                <a:latin typeface="Times New Roman" panose="02020603050405020304" pitchFamily="18" charset="0"/>
                <a:ea typeface="Times New Roman" panose="02020603050405020304" pitchFamily="18" charset="0"/>
                <a:cs typeface="Arial" panose="020B0604020202020204" pitchFamily="34" charset="0"/>
              </a:rPr>
            </a:br>
            <a:r>
              <a:rPr lang="fr-FR" sz="2000" dirty="0">
                <a:effectLst/>
                <a:latin typeface="Times New Roman" panose="02020603050405020304" pitchFamily="18" charset="0"/>
                <a:ea typeface="Times New Roman" panose="02020603050405020304" pitchFamily="18" charset="0"/>
                <a:cs typeface="Arial" panose="020B0604020202020204" pitchFamily="34" charset="0"/>
              </a:rPr>
              <a:t>A. Volvulus sigmoïdien</a:t>
            </a:r>
            <a:br>
              <a:rPr lang="fr-FR" sz="2000" dirty="0">
                <a:effectLst/>
                <a:latin typeface="Times New Roman" panose="02020603050405020304" pitchFamily="18" charset="0"/>
                <a:ea typeface="Times New Roman" panose="02020603050405020304" pitchFamily="18" charset="0"/>
                <a:cs typeface="Arial" panose="020B0604020202020204" pitchFamily="34" charset="0"/>
              </a:rPr>
            </a:br>
            <a:r>
              <a:rPr lang="fr-FR" sz="2000" dirty="0">
                <a:effectLst/>
                <a:latin typeface="Times New Roman" panose="02020603050405020304" pitchFamily="18" charset="0"/>
                <a:ea typeface="Times New Roman" panose="02020603050405020304" pitchFamily="18" charset="0"/>
                <a:cs typeface="Arial" panose="020B0604020202020204" pitchFamily="34" charset="0"/>
              </a:rPr>
              <a:t>B. Occlusion par bride postopératoire </a:t>
            </a:r>
            <a:br>
              <a:rPr lang="fr-FR" sz="2000" dirty="0">
                <a:effectLst/>
                <a:latin typeface="Times New Roman" panose="02020603050405020304" pitchFamily="18" charset="0"/>
                <a:ea typeface="Times New Roman" panose="02020603050405020304" pitchFamily="18" charset="0"/>
                <a:cs typeface="Arial" panose="020B0604020202020204" pitchFamily="34" charset="0"/>
              </a:rPr>
            </a:br>
            <a:r>
              <a:rPr lang="fr-FR" sz="2000" dirty="0">
                <a:effectLst/>
                <a:latin typeface="Times New Roman" panose="02020603050405020304" pitchFamily="18" charset="0"/>
                <a:ea typeface="Times New Roman" panose="02020603050405020304" pitchFamily="18" charset="0"/>
                <a:cs typeface="Arial" panose="020B0604020202020204" pitchFamily="34" charset="0"/>
              </a:rPr>
              <a:t>C. Cancer colique</a:t>
            </a:r>
            <a:br>
              <a:rPr lang="fr-FR" sz="2000" dirty="0">
                <a:effectLst/>
                <a:latin typeface="Times New Roman" panose="02020603050405020304" pitchFamily="18" charset="0"/>
                <a:ea typeface="Times New Roman" panose="02020603050405020304" pitchFamily="18" charset="0"/>
                <a:cs typeface="Arial" panose="020B0604020202020204" pitchFamily="34" charset="0"/>
              </a:rPr>
            </a:br>
            <a:r>
              <a:rPr lang="fr-FR" sz="2000" dirty="0">
                <a:effectLst/>
                <a:latin typeface="Times New Roman" panose="02020603050405020304" pitchFamily="18" charset="0"/>
                <a:ea typeface="Times New Roman" panose="02020603050405020304" pitchFamily="18" charset="0"/>
                <a:cs typeface="Arial" panose="020B0604020202020204" pitchFamily="34" charset="0"/>
              </a:rPr>
              <a:t>D. Iléus paralytique</a:t>
            </a:r>
            <a:endParaRPr lang="fr-FR"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2000" dirty="0">
                <a:effectLst/>
                <a:latin typeface="Times New Roman" panose="02020603050405020304" pitchFamily="18" charset="0"/>
                <a:ea typeface="Times New Roman" panose="02020603050405020304" pitchFamily="18" charset="0"/>
                <a:cs typeface="Arial" panose="020B0604020202020204" pitchFamily="34" charset="0"/>
              </a:rPr>
              <a:t> </a:t>
            </a:r>
            <a:endParaRPr lang="fr-FR"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2400" b="1" dirty="0">
                <a:effectLst/>
                <a:latin typeface="Times New Roman" panose="02020603050405020304" pitchFamily="18" charset="0"/>
                <a:ea typeface="Times New Roman" panose="02020603050405020304" pitchFamily="18" charset="0"/>
                <a:cs typeface="Arial" panose="020B0604020202020204" pitchFamily="34" charset="0"/>
              </a:rPr>
              <a:t>Q4.</a:t>
            </a:r>
            <a:endParaRPr lang="fr-FR"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2000" dirty="0">
                <a:effectLst/>
                <a:latin typeface="Times New Roman" panose="02020603050405020304" pitchFamily="18" charset="0"/>
                <a:ea typeface="Times New Roman" panose="02020603050405020304" pitchFamily="18" charset="0"/>
                <a:cs typeface="Arial" panose="020B0604020202020204" pitchFamily="34" charset="0"/>
              </a:rPr>
              <a:t>Quel est le signe radiologique le plus spécifique d’un pneumopéritoine sur ASP debout ?</a:t>
            </a:r>
            <a:br>
              <a:rPr lang="fr-FR" sz="2000" dirty="0">
                <a:effectLst/>
                <a:latin typeface="Times New Roman" panose="02020603050405020304" pitchFamily="18" charset="0"/>
                <a:ea typeface="Times New Roman" panose="02020603050405020304" pitchFamily="18" charset="0"/>
                <a:cs typeface="Arial" panose="020B0604020202020204" pitchFamily="34" charset="0"/>
              </a:rPr>
            </a:br>
            <a:r>
              <a:rPr lang="fr-FR" sz="2000" dirty="0">
                <a:effectLst/>
                <a:latin typeface="Times New Roman" panose="02020603050405020304" pitchFamily="18" charset="0"/>
                <a:ea typeface="Times New Roman" panose="02020603050405020304" pitchFamily="18" charset="0"/>
                <a:cs typeface="Arial" panose="020B0604020202020204" pitchFamily="34" charset="0"/>
              </a:rPr>
              <a:t>A. Niveaux hydro-aériques</a:t>
            </a:r>
            <a:br>
              <a:rPr lang="fr-FR" sz="2000" dirty="0">
                <a:effectLst/>
                <a:latin typeface="Times New Roman" panose="02020603050405020304" pitchFamily="18" charset="0"/>
                <a:ea typeface="Times New Roman" panose="02020603050405020304" pitchFamily="18" charset="0"/>
                <a:cs typeface="Arial" panose="020B0604020202020204" pitchFamily="34" charset="0"/>
              </a:rPr>
            </a:br>
            <a:r>
              <a:rPr lang="fr-FR" sz="2000" dirty="0">
                <a:effectLst/>
                <a:latin typeface="Times New Roman" panose="02020603050405020304" pitchFamily="18" charset="0"/>
                <a:ea typeface="Times New Roman" panose="02020603050405020304" pitchFamily="18" charset="0"/>
                <a:cs typeface="Arial" panose="020B0604020202020204" pitchFamily="34" charset="0"/>
              </a:rPr>
              <a:t>B. Cupule sous-diaphragmatique droite </a:t>
            </a:r>
            <a:br>
              <a:rPr lang="fr-FR" sz="2000" dirty="0">
                <a:effectLst/>
                <a:latin typeface="Times New Roman" panose="02020603050405020304" pitchFamily="18" charset="0"/>
                <a:ea typeface="Times New Roman" panose="02020603050405020304" pitchFamily="18" charset="0"/>
                <a:cs typeface="Arial" panose="020B0604020202020204" pitchFamily="34" charset="0"/>
              </a:rPr>
            </a:br>
            <a:r>
              <a:rPr lang="fr-FR" sz="2000" dirty="0">
                <a:effectLst/>
                <a:latin typeface="Times New Roman" panose="02020603050405020304" pitchFamily="18" charset="0"/>
                <a:ea typeface="Times New Roman" panose="02020603050405020304" pitchFamily="18" charset="0"/>
                <a:cs typeface="Arial" panose="020B0604020202020204" pitchFamily="34" charset="0"/>
              </a:rPr>
              <a:t>C. Dilatation colique</a:t>
            </a:r>
            <a:br>
              <a:rPr lang="fr-FR" sz="2000" dirty="0">
                <a:effectLst/>
                <a:latin typeface="Times New Roman" panose="02020603050405020304" pitchFamily="18" charset="0"/>
                <a:ea typeface="Times New Roman" panose="02020603050405020304" pitchFamily="18" charset="0"/>
                <a:cs typeface="Arial" panose="020B0604020202020204" pitchFamily="34" charset="0"/>
              </a:rPr>
            </a:br>
            <a:r>
              <a:rPr lang="fr-FR" sz="2000" dirty="0">
                <a:effectLst/>
                <a:latin typeface="Times New Roman" panose="02020603050405020304" pitchFamily="18" charset="0"/>
                <a:ea typeface="Times New Roman" panose="02020603050405020304" pitchFamily="18" charset="0"/>
                <a:cs typeface="Arial" panose="020B0604020202020204" pitchFamily="34" charset="0"/>
              </a:rPr>
              <a:t>D. Matité déclive</a:t>
            </a:r>
            <a:endParaRPr lang="fr-FR"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5443632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E5AE3163-21BF-404B-ACE1-680763DF2B27}"/>
              </a:ext>
            </a:extLst>
          </p:cNvPr>
          <p:cNvSpPr txBox="1"/>
          <p:nvPr/>
        </p:nvSpPr>
        <p:spPr>
          <a:xfrm>
            <a:off x="503434" y="741180"/>
            <a:ext cx="8612312" cy="5583773"/>
          </a:xfrm>
          <a:prstGeom prst="rect">
            <a:avLst/>
          </a:prstGeom>
          <a:noFill/>
        </p:spPr>
        <p:txBody>
          <a:bodyPr wrap="square">
            <a:spAutoFit/>
          </a:bodyPr>
          <a:lstStyle/>
          <a:p>
            <a:pPr>
              <a:lnSpc>
                <a:spcPct val="107000"/>
              </a:lnSpc>
              <a:spcAft>
                <a:spcPts val="800"/>
              </a:spcAft>
            </a:pPr>
            <a:r>
              <a:rPr lang="fr-FR" sz="2400" dirty="0">
                <a:effectLst/>
                <a:latin typeface="Times New Roman" panose="02020603050405020304" pitchFamily="18" charset="0"/>
                <a:ea typeface="Times New Roman" panose="02020603050405020304" pitchFamily="18" charset="0"/>
                <a:cs typeface="Arial" panose="020B0604020202020204" pitchFamily="34" charset="0"/>
              </a:rPr>
              <a:t>Quel est le premier geste à faire devant un abdomen aigu avec état de choc ?</a:t>
            </a:r>
            <a:br>
              <a:rPr lang="fr-FR" sz="2400" dirty="0">
                <a:effectLst/>
                <a:latin typeface="Times New Roman" panose="02020603050405020304" pitchFamily="18" charset="0"/>
                <a:ea typeface="Times New Roman" panose="02020603050405020304" pitchFamily="18" charset="0"/>
                <a:cs typeface="Arial" panose="020B0604020202020204" pitchFamily="34" charset="0"/>
              </a:rPr>
            </a:br>
            <a:r>
              <a:rPr lang="fr-FR" sz="2400" dirty="0">
                <a:effectLst/>
                <a:latin typeface="Times New Roman" panose="02020603050405020304" pitchFamily="18" charset="0"/>
                <a:ea typeface="Times New Roman" panose="02020603050405020304" pitchFamily="18" charset="0"/>
                <a:cs typeface="Arial" panose="020B0604020202020204" pitchFamily="34" charset="0"/>
              </a:rPr>
              <a:t>A. Réaliser un scanner abdomino-pelvien</a:t>
            </a:r>
            <a:br>
              <a:rPr lang="fr-FR" sz="2400" dirty="0">
                <a:effectLst/>
                <a:latin typeface="Times New Roman" panose="02020603050405020304" pitchFamily="18" charset="0"/>
                <a:ea typeface="Times New Roman" panose="02020603050405020304" pitchFamily="18" charset="0"/>
                <a:cs typeface="Arial" panose="020B0604020202020204" pitchFamily="34" charset="0"/>
              </a:rPr>
            </a:br>
            <a:r>
              <a:rPr lang="fr-FR" sz="2400" dirty="0">
                <a:effectLst/>
                <a:latin typeface="Times New Roman" panose="02020603050405020304" pitchFamily="18" charset="0"/>
                <a:ea typeface="Times New Roman" panose="02020603050405020304" pitchFamily="18" charset="0"/>
                <a:cs typeface="Arial" panose="020B0604020202020204" pitchFamily="34" charset="0"/>
              </a:rPr>
              <a:t>B. Oxygénation et remplissage vasculaire immédiat </a:t>
            </a:r>
            <a:br>
              <a:rPr lang="fr-FR" sz="2400" dirty="0">
                <a:effectLst/>
                <a:latin typeface="Times New Roman" panose="02020603050405020304" pitchFamily="18" charset="0"/>
                <a:ea typeface="Times New Roman" panose="02020603050405020304" pitchFamily="18" charset="0"/>
                <a:cs typeface="Arial" panose="020B0604020202020204" pitchFamily="34" charset="0"/>
              </a:rPr>
            </a:br>
            <a:r>
              <a:rPr lang="fr-FR" sz="2400" dirty="0">
                <a:effectLst/>
                <a:latin typeface="Times New Roman" panose="02020603050405020304" pitchFamily="18" charset="0"/>
                <a:ea typeface="Times New Roman" panose="02020603050405020304" pitchFamily="18" charset="0"/>
                <a:cs typeface="Arial" panose="020B0604020202020204" pitchFamily="34" charset="0"/>
              </a:rPr>
              <a:t>C. Appeler le chirurgien après la biologie</a:t>
            </a:r>
            <a:br>
              <a:rPr lang="fr-FR" sz="2400" dirty="0">
                <a:effectLst/>
                <a:latin typeface="Times New Roman" panose="02020603050405020304" pitchFamily="18" charset="0"/>
                <a:ea typeface="Times New Roman" panose="02020603050405020304" pitchFamily="18" charset="0"/>
                <a:cs typeface="Arial" panose="020B0604020202020204" pitchFamily="34" charset="0"/>
              </a:rPr>
            </a:br>
            <a:r>
              <a:rPr lang="fr-FR" sz="2400" dirty="0">
                <a:effectLst/>
                <a:latin typeface="Times New Roman" panose="02020603050405020304" pitchFamily="18" charset="0"/>
                <a:ea typeface="Times New Roman" panose="02020603050405020304" pitchFamily="18" charset="0"/>
                <a:cs typeface="Arial" panose="020B0604020202020204" pitchFamily="34" charset="0"/>
              </a:rPr>
              <a:t>D. Injecter des morphiniques</a:t>
            </a:r>
            <a:endParaRPr lang="fr-FR" sz="20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2400" dirty="0">
                <a:effectLst/>
                <a:latin typeface="Times New Roman" panose="02020603050405020304" pitchFamily="18" charset="0"/>
                <a:ea typeface="Times New Roman" panose="02020603050405020304" pitchFamily="18" charset="0"/>
                <a:cs typeface="Arial" panose="020B0604020202020204" pitchFamily="34" charset="0"/>
              </a:rPr>
              <a:t> </a:t>
            </a:r>
            <a:endParaRPr lang="fr-FR" sz="20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2800" b="1" dirty="0">
                <a:effectLst/>
                <a:latin typeface="Times New Roman" panose="02020603050405020304" pitchFamily="18" charset="0"/>
                <a:ea typeface="Times New Roman" panose="02020603050405020304" pitchFamily="18" charset="0"/>
                <a:cs typeface="Arial" panose="020B0604020202020204" pitchFamily="34" charset="0"/>
              </a:rPr>
              <a:t>Q6.</a:t>
            </a:r>
            <a:endParaRPr lang="fr-FR" sz="20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2400" dirty="0">
                <a:effectLst/>
                <a:latin typeface="Times New Roman" panose="02020603050405020304" pitchFamily="18" charset="0"/>
                <a:ea typeface="Times New Roman" panose="02020603050405020304" pitchFamily="18" charset="0"/>
                <a:cs typeface="Arial" panose="020B0604020202020204" pitchFamily="34" charset="0"/>
              </a:rPr>
              <a:t>Quel élément oriente le plus vers une ischémie mésentérique ?</a:t>
            </a:r>
            <a:br>
              <a:rPr lang="fr-FR" sz="2400" dirty="0">
                <a:effectLst/>
                <a:latin typeface="Times New Roman" panose="02020603050405020304" pitchFamily="18" charset="0"/>
                <a:ea typeface="Times New Roman" panose="02020603050405020304" pitchFamily="18" charset="0"/>
                <a:cs typeface="Arial" panose="020B0604020202020204" pitchFamily="34" charset="0"/>
              </a:rPr>
            </a:br>
            <a:r>
              <a:rPr lang="fr-FR" sz="2400" dirty="0">
                <a:effectLst/>
                <a:latin typeface="Times New Roman" panose="02020603050405020304" pitchFamily="18" charset="0"/>
                <a:ea typeface="Times New Roman" panose="02020603050405020304" pitchFamily="18" charset="0"/>
                <a:cs typeface="Arial" panose="020B0604020202020204" pitchFamily="34" charset="0"/>
              </a:rPr>
              <a:t>A. Douleur brutale et intense disproportionnée à l’examen </a:t>
            </a:r>
            <a:br>
              <a:rPr lang="fr-FR" sz="2400" dirty="0">
                <a:effectLst/>
                <a:latin typeface="Times New Roman" panose="02020603050405020304" pitchFamily="18" charset="0"/>
                <a:ea typeface="Times New Roman" panose="02020603050405020304" pitchFamily="18" charset="0"/>
                <a:cs typeface="Arial" panose="020B0604020202020204" pitchFamily="34" charset="0"/>
              </a:rPr>
            </a:br>
            <a:r>
              <a:rPr lang="fr-FR" sz="2400" dirty="0">
                <a:effectLst/>
                <a:latin typeface="Times New Roman" panose="02020603050405020304" pitchFamily="18" charset="0"/>
                <a:ea typeface="Times New Roman" panose="02020603050405020304" pitchFamily="18" charset="0"/>
                <a:cs typeface="Arial" panose="020B0604020202020204" pitchFamily="34" charset="0"/>
              </a:rPr>
              <a:t>B. Défense abdominale diffuse</a:t>
            </a:r>
            <a:br>
              <a:rPr lang="fr-FR" sz="2400" dirty="0">
                <a:effectLst/>
                <a:latin typeface="Times New Roman" panose="02020603050405020304" pitchFamily="18" charset="0"/>
                <a:ea typeface="Times New Roman" panose="02020603050405020304" pitchFamily="18" charset="0"/>
                <a:cs typeface="Arial" panose="020B0604020202020204" pitchFamily="34" charset="0"/>
              </a:rPr>
            </a:br>
            <a:r>
              <a:rPr lang="fr-FR" sz="2400" dirty="0">
                <a:effectLst/>
                <a:latin typeface="Times New Roman" panose="02020603050405020304" pitchFamily="18" charset="0"/>
                <a:ea typeface="Times New Roman" panose="02020603050405020304" pitchFamily="18" charset="0"/>
                <a:cs typeface="Arial" panose="020B0604020202020204" pitchFamily="34" charset="0"/>
              </a:rPr>
              <a:t>C. Vomissements bilieux</a:t>
            </a:r>
            <a:br>
              <a:rPr lang="fr-FR" sz="2400" dirty="0">
                <a:effectLst/>
                <a:latin typeface="Times New Roman" panose="02020603050405020304" pitchFamily="18" charset="0"/>
                <a:ea typeface="Times New Roman" panose="02020603050405020304" pitchFamily="18" charset="0"/>
                <a:cs typeface="Arial" panose="020B0604020202020204" pitchFamily="34" charset="0"/>
              </a:rPr>
            </a:br>
            <a:r>
              <a:rPr lang="fr-FR" sz="2400" dirty="0">
                <a:effectLst/>
                <a:latin typeface="Times New Roman" panose="02020603050405020304" pitchFamily="18" charset="0"/>
                <a:ea typeface="Times New Roman" panose="02020603050405020304" pitchFamily="18" charset="0"/>
                <a:cs typeface="Arial" panose="020B0604020202020204" pitchFamily="34" charset="0"/>
              </a:rPr>
              <a:t>D. Diarrhée sanglante</a:t>
            </a:r>
            <a:endParaRPr lang="fr-FR" sz="20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6574298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3378C731-A8A2-48AD-BBF4-04F38AB22825}"/>
              </a:ext>
            </a:extLst>
          </p:cNvPr>
          <p:cNvSpPr txBox="1"/>
          <p:nvPr/>
        </p:nvSpPr>
        <p:spPr>
          <a:xfrm>
            <a:off x="472611" y="190645"/>
            <a:ext cx="8673957" cy="6476709"/>
          </a:xfrm>
          <a:prstGeom prst="rect">
            <a:avLst/>
          </a:prstGeom>
          <a:noFill/>
        </p:spPr>
        <p:txBody>
          <a:bodyPr wrap="square">
            <a:spAutoFit/>
          </a:bodyPr>
          <a:lstStyle/>
          <a:p>
            <a:pPr>
              <a:lnSpc>
                <a:spcPct val="107000"/>
              </a:lnSpc>
              <a:spcAft>
                <a:spcPts val="800"/>
              </a:spcAft>
            </a:pPr>
            <a:r>
              <a:rPr lang="fr-FR" sz="2400" dirty="0">
                <a:effectLst/>
                <a:latin typeface="Times New Roman" panose="02020603050405020304" pitchFamily="18" charset="0"/>
                <a:ea typeface="Times New Roman" panose="02020603050405020304" pitchFamily="18" charset="0"/>
                <a:cs typeface="Arial" panose="020B0604020202020204" pitchFamily="34" charset="0"/>
              </a:rPr>
              <a:t>Dans l’ischémie mésentérique artérielle, quel est le meilleur examen diagnostique ?</a:t>
            </a:r>
            <a:br>
              <a:rPr lang="fr-FR" sz="2400" dirty="0">
                <a:effectLst/>
                <a:latin typeface="Times New Roman" panose="02020603050405020304" pitchFamily="18" charset="0"/>
                <a:ea typeface="Times New Roman" panose="02020603050405020304" pitchFamily="18" charset="0"/>
                <a:cs typeface="Arial" panose="020B0604020202020204" pitchFamily="34" charset="0"/>
              </a:rPr>
            </a:br>
            <a:r>
              <a:rPr lang="fr-FR" sz="2400" dirty="0">
                <a:effectLst/>
                <a:latin typeface="Times New Roman" panose="02020603050405020304" pitchFamily="18" charset="0"/>
                <a:ea typeface="Times New Roman" panose="02020603050405020304" pitchFamily="18" charset="0"/>
                <a:cs typeface="Arial" panose="020B0604020202020204" pitchFamily="34" charset="0"/>
              </a:rPr>
              <a:t>A. Échographie doppler</a:t>
            </a:r>
            <a:br>
              <a:rPr lang="fr-FR" sz="2400" dirty="0">
                <a:effectLst/>
                <a:latin typeface="Times New Roman" panose="02020603050405020304" pitchFamily="18" charset="0"/>
                <a:ea typeface="Times New Roman" panose="02020603050405020304" pitchFamily="18" charset="0"/>
                <a:cs typeface="Arial" panose="020B0604020202020204" pitchFamily="34" charset="0"/>
              </a:rPr>
            </a:br>
            <a:r>
              <a:rPr lang="fr-FR" sz="2400" dirty="0">
                <a:effectLst/>
                <a:latin typeface="Times New Roman" panose="02020603050405020304" pitchFamily="18" charset="0"/>
                <a:ea typeface="Times New Roman" panose="02020603050405020304" pitchFamily="18" charset="0"/>
                <a:cs typeface="Arial" panose="020B0604020202020204" pitchFamily="34" charset="0"/>
              </a:rPr>
              <a:t>B. Scanner abdomino-pelvien injecté avec temps artériel</a:t>
            </a:r>
            <a:br>
              <a:rPr lang="fr-FR" sz="2400" dirty="0">
                <a:effectLst/>
                <a:latin typeface="Times New Roman" panose="02020603050405020304" pitchFamily="18" charset="0"/>
                <a:ea typeface="Times New Roman" panose="02020603050405020304" pitchFamily="18" charset="0"/>
                <a:cs typeface="Arial" panose="020B0604020202020204" pitchFamily="34" charset="0"/>
              </a:rPr>
            </a:br>
            <a:r>
              <a:rPr lang="fr-FR" sz="2400" dirty="0">
                <a:effectLst/>
                <a:latin typeface="Times New Roman" panose="02020603050405020304" pitchFamily="18" charset="0"/>
                <a:ea typeface="Times New Roman" panose="02020603050405020304" pitchFamily="18" charset="0"/>
                <a:cs typeface="Arial" panose="020B0604020202020204" pitchFamily="34" charset="0"/>
              </a:rPr>
              <a:t>C. IRM abdominale</a:t>
            </a:r>
            <a:br>
              <a:rPr lang="fr-FR" sz="2400" dirty="0">
                <a:effectLst/>
                <a:latin typeface="Times New Roman" panose="02020603050405020304" pitchFamily="18" charset="0"/>
                <a:ea typeface="Times New Roman" panose="02020603050405020304" pitchFamily="18" charset="0"/>
                <a:cs typeface="Arial" panose="020B0604020202020204" pitchFamily="34" charset="0"/>
              </a:rPr>
            </a:br>
            <a:r>
              <a:rPr lang="fr-FR" sz="2400" dirty="0">
                <a:effectLst/>
                <a:latin typeface="Times New Roman" panose="02020603050405020304" pitchFamily="18" charset="0"/>
                <a:ea typeface="Times New Roman" panose="02020603050405020304" pitchFamily="18" charset="0"/>
                <a:cs typeface="Arial" panose="020B0604020202020204" pitchFamily="34" charset="0"/>
              </a:rPr>
              <a:t>D. Artériographie conventionnelle</a:t>
            </a:r>
            <a:endParaRPr lang="fr-FR" sz="20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2400" dirty="0">
                <a:effectLst/>
                <a:latin typeface="Times New Roman" panose="02020603050405020304" pitchFamily="18" charset="0"/>
                <a:ea typeface="Times New Roman" panose="02020603050405020304" pitchFamily="18" charset="0"/>
                <a:cs typeface="Arial" panose="020B0604020202020204" pitchFamily="34" charset="0"/>
              </a:rPr>
              <a:t> </a:t>
            </a:r>
            <a:endParaRPr lang="fr-FR" sz="20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2400" dirty="0">
                <a:effectLst/>
                <a:latin typeface="Times New Roman" panose="02020603050405020304" pitchFamily="18" charset="0"/>
                <a:ea typeface="Times New Roman" panose="02020603050405020304" pitchFamily="18" charset="0"/>
                <a:cs typeface="Arial" panose="020B0604020202020204" pitchFamily="34" charset="0"/>
              </a:rPr>
              <a:t> </a:t>
            </a:r>
            <a:endParaRPr lang="fr-FR" sz="20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2800" b="1" dirty="0">
                <a:effectLst/>
                <a:latin typeface="Times New Roman" panose="02020603050405020304" pitchFamily="18" charset="0"/>
                <a:ea typeface="Times New Roman" panose="02020603050405020304" pitchFamily="18" charset="0"/>
                <a:cs typeface="Arial" panose="020B0604020202020204" pitchFamily="34" charset="0"/>
              </a:rPr>
              <a:t>Q8.</a:t>
            </a:r>
            <a:endParaRPr lang="fr-FR" sz="20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fr-FR" sz="2400" dirty="0">
                <a:effectLst/>
                <a:latin typeface="Times New Roman" panose="02020603050405020304" pitchFamily="18" charset="0"/>
                <a:ea typeface="Times New Roman" panose="02020603050405020304" pitchFamily="18" charset="0"/>
                <a:cs typeface="Arial" panose="020B0604020202020204" pitchFamily="34" charset="0"/>
              </a:rPr>
              <a:t>Une patiente présente douleur épigastrique, vomissements, défense localisée à l’épigastre et </a:t>
            </a:r>
            <a:r>
              <a:rPr lang="fr-FR" sz="2400" dirty="0" err="1">
                <a:effectLst/>
                <a:latin typeface="Times New Roman" panose="02020603050405020304" pitchFamily="18" charset="0"/>
                <a:ea typeface="Times New Roman" panose="02020603050405020304" pitchFamily="18" charset="0"/>
                <a:cs typeface="Arial" panose="020B0604020202020204" pitchFamily="34" charset="0"/>
              </a:rPr>
              <a:t>hyperlipasémie</a:t>
            </a:r>
            <a:r>
              <a:rPr lang="fr-FR" sz="2400" dirty="0">
                <a:effectLst/>
                <a:latin typeface="Times New Roman" panose="02020603050405020304" pitchFamily="18" charset="0"/>
                <a:ea typeface="Times New Roman" panose="02020603050405020304" pitchFamily="18" charset="0"/>
                <a:cs typeface="Arial" panose="020B0604020202020204" pitchFamily="34" charset="0"/>
              </a:rPr>
              <a:t>. Quel diagnostic retenir ?</a:t>
            </a:r>
            <a:br>
              <a:rPr lang="fr-FR" sz="2400" dirty="0">
                <a:effectLst/>
                <a:latin typeface="Times New Roman" panose="02020603050405020304" pitchFamily="18" charset="0"/>
                <a:ea typeface="Times New Roman" panose="02020603050405020304" pitchFamily="18" charset="0"/>
                <a:cs typeface="Arial" panose="020B0604020202020204" pitchFamily="34" charset="0"/>
              </a:rPr>
            </a:br>
            <a:r>
              <a:rPr lang="fr-FR" sz="2400" dirty="0">
                <a:effectLst/>
                <a:latin typeface="Times New Roman" panose="02020603050405020304" pitchFamily="18" charset="0"/>
                <a:ea typeface="Times New Roman" panose="02020603050405020304" pitchFamily="18" charset="0"/>
                <a:cs typeface="Arial" panose="020B0604020202020204" pitchFamily="34" charset="0"/>
              </a:rPr>
              <a:t>A. Ulcère perforé</a:t>
            </a:r>
            <a:br>
              <a:rPr lang="fr-FR" sz="2400" dirty="0">
                <a:effectLst/>
                <a:latin typeface="Times New Roman" panose="02020603050405020304" pitchFamily="18" charset="0"/>
                <a:ea typeface="Times New Roman" panose="02020603050405020304" pitchFamily="18" charset="0"/>
                <a:cs typeface="Arial" panose="020B0604020202020204" pitchFamily="34" charset="0"/>
              </a:rPr>
            </a:br>
            <a:r>
              <a:rPr lang="fr-FR" sz="2400" dirty="0">
                <a:effectLst/>
                <a:latin typeface="Times New Roman" panose="02020603050405020304" pitchFamily="18" charset="0"/>
                <a:ea typeface="Times New Roman" panose="02020603050405020304" pitchFamily="18" charset="0"/>
                <a:cs typeface="Arial" panose="020B0604020202020204" pitchFamily="34" charset="0"/>
              </a:rPr>
              <a:t>B. Pancréatite aiguë </a:t>
            </a:r>
            <a:br>
              <a:rPr lang="fr-FR" sz="2400" dirty="0">
                <a:effectLst/>
                <a:latin typeface="Times New Roman" panose="02020603050405020304" pitchFamily="18" charset="0"/>
                <a:ea typeface="Times New Roman" panose="02020603050405020304" pitchFamily="18" charset="0"/>
                <a:cs typeface="Arial" panose="020B0604020202020204" pitchFamily="34" charset="0"/>
              </a:rPr>
            </a:br>
            <a:r>
              <a:rPr lang="fr-FR" sz="2400" dirty="0">
                <a:effectLst/>
                <a:latin typeface="Times New Roman" panose="02020603050405020304" pitchFamily="18" charset="0"/>
                <a:ea typeface="Times New Roman" panose="02020603050405020304" pitchFamily="18" charset="0"/>
                <a:cs typeface="Arial" panose="020B0604020202020204" pitchFamily="34" charset="0"/>
              </a:rPr>
              <a:t>C. Cholécystite</a:t>
            </a:r>
            <a:br>
              <a:rPr lang="fr-FR" sz="2400" dirty="0">
                <a:effectLst/>
                <a:latin typeface="Times New Roman" panose="02020603050405020304" pitchFamily="18" charset="0"/>
                <a:ea typeface="Times New Roman" panose="02020603050405020304" pitchFamily="18" charset="0"/>
                <a:cs typeface="Arial" panose="020B0604020202020204" pitchFamily="34" charset="0"/>
              </a:rPr>
            </a:br>
            <a:r>
              <a:rPr lang="fr-FR" sz="2400" dirty="0">
                <a:effectLst/>
                <a:latin typeface="Times New Roman" panose="02020603050405020304" pitchFamily="18" charset="0"/>
                <a:ea typeface="Times New Roman" panose="02020603050405020304" pitchFamily="18" charset="0"/>
                <a:cs typeface="Arial" panose="020B0604020202020204" pitchFamily="34" charset="0"/>
              </a:rPr>
              <a:t>D. Ischémie mésentérique</a:t>
            </a:r>
            <a:endParaRPr lang="fr-FR" sz="20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9985135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6A129D-6A67-4082-ACF3-D21754B23B37}"/>
              </a:ext>
            </a:extLst>
          </p:cNvPr>
          <p:cNvSpPr>
            <a:spLocks noGrp="1"/>
          </p:cNvSpPr>
          <p:nvPr>
            <p:ph type="title"/>
          </p:nvPr>
        </p:nvSpPr>
        <p:spPr>
          <a:xfrm>
            <a:off x="955497" y="2103437"/>
            <a:ext cx="9349483" cy="2386370"/>
          </a:xfrm>
        </p:spPr>
        <p:txBody>
          <a:bodyPr>
            <a:normAutofit/>
          </a:bodyPr>
          <a:lstStyle/>
          <a:p>
            <a:pPr algn="ctr"/>
            <a:r>
              <a:rPr lang="fr-FR" sz="6600" dirty="0">
                <a:solidFill>
                  <a:srgbClr val="FF0000"/>
                </a:solidFill>
                <a:latin typeface="Comic Sans MS" panose="030F0702030302020204" pitchFamily="66" charset="0"/>
              </a:rPr>
              <a:t>Merci pour votre attention</a:t>
            </a:r>
          </a:p>
        </p:txBody>
      </p:sp>
    </p:spTree>
    <p:extLst>
      <p:ext uri="{BB962C8B-B14F-4D97-AF65-F5344CB8AC3E}">
        <p14:creationId xmlns:p14="http://schemas.microsoft.com/office/powerpoint/2010/main" val="182102553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TotalTime>
  <Words>1692</Words>
  <Application>Microsoft Office PowerPoint</Application>
  <PresentationFormat>Grand écran</PresentationFormat>
  <Paragraphs>235</Paragraphs>
  <Slides>37</Slides>
  <Notes>0</Notes>
  <HiddenSlides>0</HiddenSlides>
  <MMClips>0</MMClips>
  <ScaleCrop>false</ScaleCrop>
  <HeadingPairs>
    <vt:vector size="6" baseType="variant">
      <vt:variant>
        <vt:lpstr>Polices utilisées</vt:lpstr>
      </vt:variant>
      <vt:variant>
        <vt:i4>11</vt:i4>
      </vt:variant>
      <vt:variant>
        <vt:lpstr>Thème</vt:lpstr>
      </vt:variant>
      <vt:variant>
        <vt:i4>1</vt:i4>
      </vt:variant>
      <vt:variant>
        <vt:lpstr>Titres des diapositives</vt:lpstr>
      </vt:variant>
      <vt:variant>
        <vt:i4>37</vt:i4>
      </vt:variant>
    </vt:vector>
  </HeadingPairs>
  <TitlesOfParts>
    <vt:vector size="49" baseType="lpstr">
      <vt:lpstr>Arial</vt:lpstr>
      <vt:lpstr>Bahnschrift SemiBold</vt:lpstr>
      <vt:lpstr>Calibri</vt:lpstr>
      <vt:lpstr>Calibri Light</vt:lpstr>
      <vt:lpstr>Cambria Math</vt:lpstr>
      <vt:lpstr>Comic Sans MS</vt:lpstr>
      <vt:lpstr>Courier New</vt:lpstr>
      <vt:lpstr>Symbol</vt:lpstr>
      <vt:lpstr>Tahoma</vt:lpstr>
      <vt:lpstr>Times New Roman</vt:lpstr>
      <vt:lpstr>Wingdings</vt:lpstr>
      <vt:lpstr>Thème Office</vt:lpstr>
      <vt:lpstr>Présentation PowerPoint</vt:lpstr>
      <vt:lpstr>Présentation PowerPoint</vt:lpstr>
      <vt:lpstr>I. Définition </vt:lpstr>
      <vt:lpstr>III. Démarche diagnostique  1️⃣    Interrogatoire (rapide mais précis) </vt:lpstr>
      <vt:lpstr>Présentation PowerPoint</vt:lpstr>
      <vt:lpstr>2️⃣    Examen clinique </vt:lpstr>
      <vt:lpstr>Présentation PowerPoint</vt:lpstr>
      <vt:lpstr>Présentation PowerPoint</vt:lpstr>
      <vt:lpstr>3️⃣    Examens complémentaires (après stabilisation)   Bilan biologique urgent</vt:lpstr>
      <vt:lpstr>b. Imagerie </vt:lpstr>
      <vt:lpstr>Présentation PowerPoint</vt:lpstr>
      <vt:lpstr>IV. Classification des grands syndromes </vt:lpstr>
      <vt:lpstr>I. Syndrome péritonéal </vt:lpstr>
      <vt:lpstr>Présentation PowerPoint</vt:lpstr>
      <vt:lpstr> Signes cliniques dominants</vt:lpstr>
      <vt:lpstr>Présentation PowerPoint</vt:lpstr>
      <vt:lpstr>II. Syndrome occlusif</vt:lpstr>
      <vt:lpstr>Présentation PowerPoint</vt:lpstr>
      <vt:lpstr>III. Syndrome hémorragique intra-abdominal</vt:lpstr>
      <vt:lpstr> Signes dominants </vt:lpstr>
      <vt:lpstr>Présentation PowerPoint</vt:lpstr>
      <vt:lpstr>IV. Syndrome ischémique </vt:lpstr>
      <vt:lpstr>Présentation PowerPoint</vt:lpstr>
      <vt:lpstr>V. Abdomen aigu d’origine médicale (non chirurgical) </vt:lpstr>
      <vt:lpstr>2️⃣   Signes dominants </vt:lpstr>
      <vt:lpstr>Présentation PowerPoint</vt:lpstr>
      <vt:lpstr>V. Conduite à tenir initiale </vt:lpstr>
      <vt:lpstr>Présentation PowerPoint</vt:lpstr>
      <vt:lpstr>VI. Orientation étiologique rapide  </vt:lpstr>
      <vt:lpstr>VII. Indications chirurgicales urgentes </vt:lpstr>
      <vt:lpstr>VIII. Situations particulières </vt:lpstr>
      <vt:lpstr>IX. Pièges diagnostiques à éviter </vt:lpstr>
      <vt:lpstr>Présentation PowerPoint</vt:lpstr>
      <vt:lpstr>Présentation PowerPoint</vt:lpstr>
      <vt:lpstr>Présentation PowerPoint</vt:lpstr>
      <vt:lpstr>Présentation PowerPoint</vt:lpstr>
      <vt:lpstr>Merci pour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MMS</dc:creator>
  <cp:lastModifiedBy>MMS</cp:lastModifiedBy>
  <cp:revision>18</cp:revision>
  <dcterms:created xsi:type="dcterms:W3CDTF">2025-10-19T11:52:26Z</dcterms:created>
  <dcterms:modified xsi:type="dcterms:W3CDTF">2025-10-21T07:17:44Z</dcterms:modified>
</cp:coreProperties>
</file>