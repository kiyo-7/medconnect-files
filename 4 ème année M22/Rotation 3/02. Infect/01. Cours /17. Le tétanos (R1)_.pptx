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4" r:id="rId8"/>
    <p:sldId id="262" r:id="rId9"/>
    <p:sldId id="273" r:id="rId10"/>
    <p:sldId id="265" r:id="rId11"/>
    <p:sldId id="274" r:id="rId12"/>
    <p:sldId id="266" r:id="rId13"/>
    <p:sldId id="267" r:id="rId14"/>
    <p:sldId id="268" r:id="rId15"/>
    <p:sldId id="271" r:id="rId16"/>
    <p:sldId id="269" r:id="rId17"/>
    <p:sldId id="270" r:id="rId18"/>
    <p:sldId id="272" r:id="rId19"/>
    <p:sldId id="276" r:id="rId2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Modifiez le style du titre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Modifiez le style des sous-titres du masque</a:t>
            </a:r>
            <a:endParaRPr kumimoji="0" lang="en-US"/>
          </a:p>
        </p:txBody>
      </p:sp>
      <p:sp>
        <p:nvSpPr>
          <p:cNvPr id="30" name="Date Placeholder 29"/>
          <p:cNvSpPr>
            <a:spLocks noGrp="1"/>
          </p:cNvSpPr>
          <p:nvPr>
            <p:ph type="dt" sz="half" idx="10"/>
          </p:nvPr>
        </p:nvSpPr>
        <p:spPr/>
        <p:txBody>
          <a:bodyPr/>
          <a:lstStyle/>
          <a:p>
            <a:fld id="{E38CAFBE-315B-48E9-97A1-C3911CFDDB15}" type="datetimeFigureOut">
              <a:rPr lang="fr-FR" smtClean="0"/>
              <a:t>04/06/2026</a:t>
            </a:fld>
            <a:endParaRPr lang="fr-FR"/>
          </a:p>
        </p:txBody>
      </p:sp>
      <p:sp>
        <p:nvSpPr>
          <p:cNvPr id="19" name="Footer Placeholder 18"/>
          <p:cNvSpPr>
            <a:spLocks noGrp="1"/>
          </p:cNvSpPr>
          <p:nvPr>
            <p:ph type="ftr" sz="quarter" idx="11"/>
          </p:nvPr>
        </p:nvSpPr>
        <p:spPr/>
        <p:txBody>
          <a:bodyPr/>
          <a:lstStyle/>
          <a:p>
            <a:endParaRPr lang="fr-FR"/>
          </a:p>
        </p:txBody>
      </p:sp>
      <p:sp>
        <p:nvSpPr>
          <p:cNvPr id="27" name="Slide Number Placeholder 26"/>
          <p:cNvSpPr>
            <a:spLocks noGrp="1"/>
          </p:cNvSpPr>
          <p:nvPr>
            <p:ph type="sldNum" sz="quarter" idx="12"/>
          </p:nvPr>
        </p:nvSpPr>
        <p:spPr/>
        <p:txBody>
          <a:bodyPr/>
          <a:lstStyle/>
          <a:p>
            <a:fld id="{B6D321F1-BF40-4177-9F34-9E8E752F3BF8}" type="slidenum">
              <a:rPr lang="fr-FR" smtClean="0"/>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fr-FR" smtClean="0"/>
              <a:t>Modifiez le style du titre</a:t>
            </a:r>
            <a:endParaRPr kumimoji="0" lang="en-US"/>
          </a:p>
        </p:txBody>
      </p:sp>
      <p:sp>
        <p:nvSpPr>
          <p:cNvPr id="3" name="Content Placeholder 2"/>
          <p:cNvSpPr>
            <a:spLocks noGrp="1"/>
          </p:cNvSpPr>
          <p:nvPr>
            <p:ph idx="1"/>
          </p:nvPr>
        </p:nvSpPr>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Date Placeholder 3"/>
          <p:cNvSpPr>
            <a:spLocks noGrp="1"/>
          </p:cNvSpPr>
          <p:nvPr>
            <p:ph type="dt" sz="half" idx="10"/>
          </p:nvPr>
        </p:nvSpPr>
        <p:spPr/>
        <p:txBody>
          <a:bodyPr/>
          <a:lstStyle/>
          <a:p>
            <a:fld id="{E38CAFBE-315B-48E9-97A1-C3911CFDDB15}"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Modifiez le style du titre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Modifiez les styles du texte du masque</a:t>
            </a:r>
          </a:p>
        </p:txBody>
      </p:sp>
      <p:sp>
        <p:nvSpPr>
          <p:cNvPr id="4" name="Date Placeholder 3"/>
          <p:cNvSpPr>
            <a:spLocks noGrp="1"/>
          </p:cNvSpPr>
          <p:nvPr>
            <p:ph type="dt" sz="half" idx="10"/>
          </p:nvPr>
        </p:nvSpPr>
        <p:spPr/>
        <p:txBody>
          <a:bodyPr/>
          <a:lstStyle/>
          <a:p>
            <a:fld id="{E38CAFBE-315B-48E9-97A1-C3911CFDDB15}"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6D321F1-BF40-4177-9F34-9E8E752F3BF8}" type="slidenum">
              <a:rPr lang="fr-FR" smtClean="0"/>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fr-FR" smtClean="0"/>
              <a:t>Modifiez le style du titre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Date Placeholder 4"/>
          <p:cNvSpPr>
            <a:spLocks noGrp="1"/>
          </p:cNvSpPr>
          <p:nvPr>
            <p:ph type="dt" sz="half" idx="10"/>
          </p:nvPr>
        </p:nvSpPr>
        <p:spPr/>
        <p:txBody>
          <a:bodyPr/>
          <a:lstStyle/>
          <a:p>
            <a:fld id="{E38CAFBE-315B-48E9-97A1-C3911CFDDB15}" type="datetimeFigureOut">
              <a:rPr lang="fr-FR" smtClean="0"/>
              <a:t>04/06/2026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fr-FR" smtClean="0"/>
              <a:t>Modifiez le style du titre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Modifiez les styles du texte du masque</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Modifiez les styles du texte du masque</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Date Placeholder 6"/>
          <p:cNvSpPr>
            <a:spLocks noGrp="1"/>
          </p:cNvSpPr>
          <p:nvPr>
            <p:ph type="dt" sz="half" idx="10"/>
          </p:nvPr>
        </p:nvSpPr>
        <p:spPr/>
        <p:txBody>
          <a:bodyPr/>
          <a:lstStyle/>
          <a:p>
            <a:fld id="{E38CAFBE-315B-48E9-97A1-C3911CFDDB15}" type="datetimeFigureOut">
              <a:rPr lang="fr-FR" smtClean="0"/>
              <a:t>04/06/2026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fr-FR" smtClean="0"/>
              <a:t>Modifiez le style du titre</a:t>
            </a:r>
            <a:endParaRPr kumimoji="0" lang="en-US"/>
          </a:p>
        </p:txBody>
      </p:sp>
      <p:sp>
        <p:nvSpPr>
          <p:cNvPr id="3" name="Date Placeholder 2"/>
          <p:cNvSpPr>
            <a:spLocks noGrp="1"/>
          </p:cNvSpPr>
          <p:nvPr>
            <p:ph type="dt" sz="half" idx="10"/>
          </p:nvPr>
        </p:nvSpPr>
        <p:spPr/>
        <p:txBody>
          <a:bodyPr/>
          <a:lstStyle/>
          <a:p>
            <a:fld id="{E38CAFBE-315B-48E9-97A1-C3911CFDDB15}" type="datetimeFigureOut">
              <a:rPr lang="fr-FR" smtClean="0"/>
              <a:t>04/06/2026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8CAFBE-315B-48E9-97A1-C3911CFDDB15}" type="datetimeFigureOut">
              <a:rPr lang="fr-FR" smtClean="0"/>
              <a:t>04/06/2026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fr-FR" smtClean="0"/>
              <a:t>Modifiez le style du titre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fr-FR" smtClean="0"/>
              <a:t>Modifiez les styles du texte du masque</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Date Placeholder 4"/>
          <p:cNvSpPr>
            <a:spLocks noGrp="1"/>
          </p:cNvSpPr>
          <p:nvPr>
            <p:ph type="dt" sz="half" idx="10"/>
          </p:nvPr>
        </p:nvSpPr>
        <p:spPr/>
        <p:txBody>
          <a:bodyPr/>
          <a:lstStyle/>
          <a:p>
            <a:fld id="{E38CAFBE-315B-48E9-97A1-C3911CFDDB15}" type="datetimeFigureOut">
              <a:rPr lang="fr-FR" smtClean="0"/>
              <a:t>04/06/2026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fr-FR" smtClean="0"/>
              <a:t>Modifiez le style du titre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fr-FR" smtClean="0"/>
              <a:t>Modifiez les styles du texte du masque</a:t>
            </a:r>
          </a:p>
        </p:txBody>
      </p:sp>
      <p:sp>
        <p:nvSpPr>
          <p:cNvPr id="5" name="Date Placeholder 4"/>
          <p:cNvSpPr>
            <a:spLocks noGrp="1"/>
          </p:cNvSpPr>
          <p:nvPr>
            <p:ph type="dt" sz="half" idx="10"/>
          </p:nvPr>
        </p:nvSpPr>
        <p:spPr/>
        <p:txBody>
          <a:bodyPr/>
          <a:lstStyle/>
          <a:p>
            <a:fld id="{E38CAFBE-315B-48E9-97A1-C3911CFDDB15}" type="datetimeFigureOut">
              <a:rPr lang="fr-FR" smtClean="0"/>
              <a:t>04/06/2026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a:xfrm>
            <a:off x="8077200" y="6356350"/>
            <a:ext cx="609600" cy="365125"/>
          </a:xfrm>
        </p:spPr>
        <p:txBody>
          <a:bodyPr/>
          <a:lstStyle/>
          <a:p>
            <a:fld id="{B6D321F1-BF40-4177-9F34-9E8E752F3BF8}" type="slidenum">
              <a:rPr lang="fr-FR" smtClean="0"/>
              <a:t>‹N°›</a:t>
            </a:fld>
            <a:endParaRPr lang="fr-F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fr-FR" smtClean="0"/>
              <a:t>Cliquez sur l'icône pour ajouter une image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fr-FR" smtClean="0"/>
              <a:t>Modifiez le style du titre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Date Placeholder 3"/>
          <p:cNvSpPr>
            <a:spLocks noGrp="1"/>
          </p:cNvSpPr>
          <p:nvPr>
            <p:ph type="dt" sz="half" idx="10"/>
          </p:nvPr>
        </p:nvSpPr>
        <p:spPr/>
        <p:txBody>
          <a:bodyPr/>
          <a:lstStyle/>
          <a:p>
            <a:fld id="{E38CAFBE-315B-48E9-97A1-C3911CFDDB15}"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fr-FR" smtClean="0"/>
              <a:t>Modifiez le style du titre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Date Placeholder 3"/>
          <p:cNvSpPr>
            <a:spLocks noGrp="1"/>
          </p:cNvSpPr>
          <p:nvPr>
            <p:ph type="dt" sz="half" idx="10"/>
          </p:nvPr>
        </p:nvSpPr>
        <p:spPr/>
        <p:txBody>
          <a:bodyPr/>
          <a:lstStyle/>
          <a:p>
            <a:fld id="{E38CAFBE-315B-48E9-97A1-C3911CFDDB15}" type="datetimeFigureOut">
              <a:rPr lang="fr-FR" smtClean="0"/>
              <a:t>04/06/2026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6D321F1-BF40-4177-9F34-9E8E752F3BF8}"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fr-FR" smtClean="0"/>
              <a:t>Modifiez le style du titre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fr-FR" smtClean="0"/>
              <a:t>Modifiez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38CAFBE-315B-48E9-97A1-C3911CFDDB15}" type="datetimeFigureOut">
              <a:rPr lang="fr-FR" smtClean="0"/>
              <a:t>04/06/2026</a:t>
            </a:fld>
            <a:endParaRPr lang="fr-F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fr-F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D321F1-BF40-4177-9F34-9E8E752F3BF8}" type="slidenum">
              <a:rPr lang="fr-FR" smtClean="0"/>
              <a:t>‹N°›</a:t>
            </a:fld>
            <a:endParaRPr lang="fr-F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539552" y="1124744"/>
            <a:ext cx="7851648" cy="3744416"/>
          </a:xfrm>
        </p:spPr>
        <p:txBody>
          <a:bodyPr>
            <a:normAutofit fontScale="90000"/>
          </a:bodyPr>
          <a:lstStyle/>
          <a:p>
            <a:pPr algn="ctr"/>
            <a:r>
              <a:rPr lang="fr-FR" sz="1800" dirty="0">
                <a:solidFill>
                  <a:prstClr val="black"/>
                </a:solidFill>
                <a:effectLst/>
                <a:latin typeface="Times New Roman"/>
                <a:ea typeface="Calibri"/>
                <a:cs typeface="Arial"/>
              </a:rPr>
              <a:t>République Algérienne Démocratique Et Populaire</a:t>
            </a:r>
            <a:r>
              <a:rPr lang="fr-FR" sz="1800" dirty="0">
                <a:solidFill>
                  <a:prstClr val="black"/>
                </a:solidFill>
                <a:effectLst/>
                <a:ea typeface="Calibri"/>
                <a:cs typeface="Arial"/>
              </a:rPr>
              <a:t/>
            </a:r>
            <a:br>
              <a:rPr lang="fr-FR" sz="1800" dirty="0">
                <a:solidFill>
                  <a:prstClr val="black"/>
                </a:solidFill>
                <a:effectLst/>
                <a:ea typeface="Calibri"/>
                <a:cs typeface="Arial"/>
              </a:rPr>
            </a:br>
            <a:r>
              <a:rPr lang="fr-FR" sz="1800" dirty="0">
                <a:solidFill>
                  <a:prstClr val="black"/>
                </a:solidFill>
                <a:effectLst/>
                <a:latin typeface="Times New Roman"/>
                <a:ea typeface="Calibri"/>
                <a:cs typeface="Arial"/>
              </a:rPr>
              <a:t>Ministère De L’enseignement Supérieur Et De La Recherche </a:t>
            </a:r>
            <a:r>
              <a:rPr lang="fr-FR" sz="1800" dirty="0" smtClean="0">
                <a:solidFill>
                  <a:prstClr val="black"/>
                </a:solidFill>
                <a:effectLst/>
                <a:latin typeface="Times New Roman"/>
                <a:ea typeface="Calibri"/>
                <a:cs typeface="Arial"/>
              </a:rPr>
              <a:t>Scientifique</a:t>
            </a:r>
            <a:r>
              <a:rPr lang="fr-FR" sz="1800" dirty="0">
                <a:solidFill>
                  <a:prstClr val="black"/>
                </a:solidFill>
                <a:effectLst/>
                <a:ea typeface="Calibri"/>
                <a:cs typeface="Arial"/>
              </a:rPr>
              <a:t/>
            </a:r>
            <a:br>
              <a:rPr lang="fr-FR" sz="1800" dirty="0">
                <a:solidFill>
                  <a:prstClr val="black"/>
                </a:solidFill>
                <a:effectLst/>
                <a:ea typeface="Calibri"/>
                <a:cs typeface="Arial"/>
              </a:rPr>
            </a:br>
            <a:r>
              <a:rPr lang="fr-FR" sz="1800" dirty="0">
                <a:solidFill>
                  <a:prstClr val="black"/>
                </a:solidFill>
                <a:effectLst/>
                <a:latin typeface="Times New Roman"/>
                <a:ea typeface="Calibri"/>
                <a:cs typeface="Arial"/>
              </a:rPr>
              <a:t>Module Des Maladies Infectieuses </a:t>
            </a:r>
            <a:r>
              <a:rPr lang="fr-FR" sz="1800" dirty="0">
                <a:solidFill>
                  <a:prstClr val="black"/>
                </a:solidFill>
                <a:effectLst/>
                <a:ea typeface="Calibri"/>
                <a:cs typeface="Arial"/>
              </a:rPr>
              <a:t/>
            </a:r>
            <a:br>
              <a:rPr lang="fr-FR" sz="1800" dirty="0">
                <a:solidFill>
                  <a:prstClr val="black"/>
                </a:solidFill>
                <a:effectLst/>
                <a:ea typeface="Calibri"/>
                <a:cs typeface="Arial"/>
              </a:rPr>
            </a:br>
            <a:r>
              <a:rPr lang="fr-FR" sz="1800" dirty="0">
                <a:solidFill>
                  <a:prstClr val="black"/>
                </a:solidFill>
                <a:effectLst/>
                <a:latin typeface="Times New Roman"/>
                <a:ea typeface="Calibri"/>
                <a:cs typeface="Arial"/>
              </a:rPr>
              <a:t>Année Universitaire </a:t>
            </a:r>
            <a:r>
              <a:rPr lang="fr-FR" sz="1800" dirty="0" smtClean="0">
                <a:solidFill>
                  <a:prstClr val="black"/>
                </a:solidFill>
                <a:effectLst/>
                <a:latin typeface="Times New Roman"/>
                <a:ea typeface="Calibri"/>
                <a:cs typeface="Arial"/>
              </a:rPr>
              <a:t>2025/2026</a:t>
            </a:r>
            <a:r>
              <a:rPr lang="fr-FR" sz="1800" dirty="0">
                <a:solidFill>
                  <a:prstClr val="black"/>
                </a:solidFill>
                <a:effectLst/>
                <a:latin typeface="Times New Roman"/>
                <a:ea typeface="Calibri"/>
                <a:cs typeface="Arial"/>
              </a:rPr>
              <a:t/>
            </a:r>
            <a:br>
              <a:rPr lang="fr-FR" sz="1800" dirty="0">
                <a:solidFill>
                  <a:prstClr val="black"/>
                </a:solidFill>
                <a:effectLst/>
                <a:latin typeface="Times New Roman"/>
                <a:ea typeface="Calibri"/>
                <a:cs typeface="Arial"/>
              </a:rPr>
            </a:br>
            <a:r>
              <a:rPr lang="fr-FR" sz="1800" dirty="0">
                <a:solidFill>
                  <a:prstClr val="black"/>
                </a:solidFill>
                <a:effectLst/>
                <a:latin typeface="Times New Roman"/>
                <a:ea typeface="Calibri"/>
                <a:cs typeface="Arial"/>
              </a:rPr>
              <a:t/>
            </a:r>
            <a:br>
              <a:rPr lang="fr-FR" sz="1800" dirty="0">
                <a:solidFill>
                  <a:prstClr val="black"/>
                </a:solidFill>
                <a:effectLst/>
                <a:latin typeface="Times New Roman"/>
                <a:ea typeface="Calibri"/>
                <a:cs typeface="Arial"/>
              </a:rPr>
            </a:br>
            <a:r>
              <a:rPr lang="fr-FR" sz="1800" dirty="0">
                <a:solidFill>
                  <a:prstClr val="black"/>
                </a:solidFill>
                <a:effectLst/>
                <a:latin typeface="Times New Roman"/>
                <a:ea typeface="Calibri"/>
                <a:cs typeface="Arial"/>
              </a:rPr>
              <a:t/>
            </a:r>
            <a:br>
              <a:rPr lang="fr-FR" sz="1800" dirty="0">
                <a:solidFill>
                  <a:prstClr val="black"/>
                </a:solidFill>
                <a:effectLst/>
                <a:latin typeface="Times New Roman"/>
                <a:ea typeface="Calibri"/>
                <a:cs typeface="Arial"/>
              </a:rPr>
            </a:br>
            <a:r>
              <a:rPr lang="fr-FR" sz="1800" dirty="0">
                <a:solidFill>
                  <a:prstClr val="black"/>
                </a:solidFill>
                <a:effectLst/>
                <a:latin typeface="Times New Roman"/>
                <a:ea typeface="Calibri"/>
                <a:cs typeface="Arial"/>
              </a:rPr>
              <a:t/>
            </a:r>
            <a:br>
              <a:rPr lang="fr-FR" sz="1800" dirty="0">
                <a:solidFill>
                  <a:prstClr val="black"/>
                </a:solidFill>
                <a:effectLst/>
                <a:latin typeface="Times New Roman"/>
                <a:ea typeface="Calibri"/>
                <a:cs typeface="Arial"/>
              </a:rPr>
            </a:br>
            <a:r>
              <a:rPr lang="fr-FR" sz="1800" dirty="0">
                <a:solidFill>
                  <a:prstClr val="black"/>
                </a:solidFill>
                <a:effectLst/>
                <a:latin typeface="Times New Roman"/>
                <a:ea typeface="Calibri"/>
                <a:cs typeface="Arial"/>
              </a:rPr>
              <a:t/>
            </a:r>
            <a:br>
              <a:rPr lang="fr-FR" sz="1800" dirty="0">
                <a:solidFill>
                  <a:prstClr val="black"/>
                </a:solidFill>
                <a:effectLst/>
                <a:latin typeface="Times New Roman"/>
                <a:ea typeface="Calibri"/>
                <a:cs typeface="Arial"/>
              </a:rPr>
            </a:br>
            <a:r>
              <a:rPr lang="fr-FR" sz="1200" dirty="0">
                <a:solidFill>
                  <a:prstClr val="black"/>
                </a:solidFill>
                <a:effectLst/>
                <a:latin typeface="Times New Roman"/>
                <a:ea typeface="Calibri"/>
                <a:cs typeface="Arial"/>
              </a:rPr>
              <a:t/>
            </a:r>
            <a:br>
              <a:rPr lang="fr-FR" sz="1200" dirty="0">
                <a:solidFill>
                  <a:prstClr val="black"/>
                </a:solidFill>
                <a:effectLst/>
                <a:latin typeface="Times New Roman"/>
                <a:ea typeface="Calibri"/>
                <a:cs typeface="Arial"/>
              </a:rPr>
            </a:br>
            <a:r>
              <a:rPr lang="fr-FR" sz="1200" dirty="0">
                <a:solidFill>
                  <a:prstClr val="black"/>
                </a:solidFill>
                <a:effectLst/>
                <a:latin typeface="Times New Roman"/>
                <a:ea typeface="Calibri"/>
                <a:cs typeface="Arial"/>
              </a:rPr>
              <a:t/>
            </a:r>
            <a:br>
              <a:rPr lang="fr-FR" sz="12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1100" dirty="0" smtClean="0">
                <a:solidFill>
                  <a:prstClr val="black"/>
                </a:solidFill>
                <a:effectLst/>
                <a:latin typeface="Times New Roman"/>
                <a:ea typeface="Calibri"/>
                <a:cs typeface="Arial"/>
              </a:rPr>
              <a:t/>
            </a:r>
            <a:br>
              <a:rPr lang="fr-FR" sz="1100" dirty="0" smtClean="0">
                <a:solidFill>
                  <a:prstClr val="black"/>
                </a:solidFill>
                <a:effectLst/>
                <a:latin typeface="Times New Roman"/>
                <a:ea typeface="Calibri"/>
                <a:cs typeface="Arial"/>
              </a:rPr>
            </a:br>
            <a:r>
              <a:rPr lang="fr-FR" sz="1100" dirty="0">
                <a:solidFill>
                  <a:prstClr val="black"/>
                </a:solidFill>
                <a:effectLst/>
                <a:latin typeface="Times New Roman"/>
                <a:ea typeface="Calibri"/>
                <a:cs typeface="Arial"/>
              </a:rPr>
              <a:t/>
            </a:r>
            <a:br>
              <a:rPr lang="fr-FR" sz="1100" dirty="0">
                <a:solidFill>
                  <a:prstClr val="black"/>
                </a:solidFill>
                <a:effectLst/>
                <a:latin typeface="Times New Roman"/>
                <a:ea typeface="Calibri"/>
                <a:cs typeface="Arial"/>
              </a:rPr>
            </a:br>
            <a:r>
              <a:rPr lang="fr-FR" sz="3200" dirty="0" smtClean="0">
                <a:solidFill>
                  <a:prstClr val="black"/>
                </a:solidFill>
                <a:effectLst/>
                <a:latin typeface="Times New Roman"/>
                <a:ea typeface="Calibri"/>
                <a:cs typeface="Arial"/>
              </a:rPr>
              <a:t>TETANOS</a:t>
            </a:r>
            <a:endParaRPr lang="fr-FR" dirty="0"/>
          </a:p>
        </p:txBody>
      </p:sp>
      <p:sp>
        <p:nvSpPr>
          <p:cNvPr id="3" name="Sous-titre 2"/>
          <p:cNvSpPr>
            <a:spLocks noGrp="1"/>
          </p:cNvSpPr>
          <p:nvPr>
            <p:ph type="subTitle" idx="1"/>
          </p:nvPr>
        </p:nvSpPr>
        <p:spPr>
          <a:xfrm>
            <a:off x="539552" y="5105400"/>
            <a:ext cx="7854696" cy="1752600"/>
          </a:xfrm>
        </p:spPr>
        <p:txBody>
          <a:bodyPr/>
          <a:lstStyle/>
          <a:p>
            <a:pPr lvl="0" algn="ctr">
              <a:lnSpc>
                <a:spcPct val="115000"/>
              </a:lnSpc>
              <a:spcAft>
                <a:spcPts val="1000"/>
              </a:spcAft>
              <a:buClr>
                <a:srgbClr val="0BD0D9"/>
              </a:buClr>
            </a:pPr>
            <a:r>
              <a:rPr lang="fr-FR" sz="1800" b="1" dirty="0">
                <a:solidFill>
                  <a:prstClr val="black"/>
                </a:solidFill>
                <a:latin typeface="Times New Roman"/>
                <a:ea typeface="Calibri"/>
                <a:cs typeface="Arial"/>
              </a:rPr>
              <a:t>Dr. </a:t>
            </a:r>
            <a:r>
              <a:rPr lang="fr-FR" sz="1800" b="1" dirty="0" smtClean="0">
                <a:solidFill>
                  <a:prstClr val="black"/>
                </a:solidFill>
                <a:latin typeface="Times New Roman"/>
                <a:ea typeface="Calibri"/>
                <a:cs typeface="Arial"/>
              </a:rPr>
              <a:t>A.DEHIMI</a:t>
            </a:r>
            <a:endParaRPr lang="fr-FR" sz="1800" dirty="0">
              <a:solidFill>
                <a:prstClr val="black"/>
              </a:solidFill>
              <a:latin typeface="Times New Roman"/>
              <a:ea typeface="Calibri"/>
              <a:cs typeface="Arial"/>
            </a:endParaRPr>
          </a:p>
          <a:p>
            <a:pPr lvl="0" algn="ctr">
              <a:lnSpc>
                <a:spcPct val="115000"/>
              </a:lnSpc>
              <a:spcAft>
                <a:spcPts val="1000"/>
              </a:spcAft>
              <a:buClr>
                <a:srgbClr val="0BD0D9"/>
              </a:buClr>
            </a:pPr>
            <a:r>
              <a:rPr lang="fr-FR" sz="1800" b="1" dirty="0" smtClean="0">
                <a:solidFill>
                  <a:prstClr val="black"/>
                </a:solidFill>
                <a:latin typeface="Times New Roman"/>
                <a:ea typeface="Calibri"/>
                <a:cs typeface="Arial"/>
              </a:rPr>
              <a:t> Maladies </a:t>
            </a:r>
            <a:r>
              <a:rPr lang="fr-FR" sz="1800" b="1" dirty="0">
                <a:solidFill>
                  <a:prstClr val="black"/>
                </a:solidFill>
                <a:latin typeface="Times New Roman"/>
                <a:ea typeface="Calibri"/>
                <a:cs typeface="Arial"/>
              </a:rPr>
              <a:t>I</a:t>
            </a:r>
            <a:r>
              <a:rPr lang="fr-FR" sz="1800" b="1" dirty="0" smtClean="0">
                <a:solidFill>
                  <a:prstClr val="black"/>
                </a:solidFill>
                <a:latin typeface="Times New Roman"/>
                <a:ea typeface="Calibri"/>
                <a:cs typeface="Arial"/>
              </a:rPr>
              <a:t>nfectieuses</a:t>
            </a:r>
            <a:endParaRPr lang="fr-FR" sz="1800" dirty="0">
              <a:solidFill>
                <a:prstClr val="black"/>
              </a:solidFill>
              <a:latin typeface="Calibri"/>
              <a:ea typeface="Calibri"/>
              <a:cs typeface="Arial"/>
            </a:endParaRPr>
          </a:p>
          <a:p>
            <a:endParaRPr lang="fr-FR" dirty="0"/>
          </a:p>
        </p:txBody>
      </p:sp>
    </p:spTree>
    <p:extLst>
      <p:ext uri="{BB962C8B-B14F-4D97-AF65-F5344CB8AC3E}">
        <p14:creationId xmlns:p14="http://schemas.microsoft.com/office/powerpoint/2010/main" val="16474380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lstStyle/>
          <a:p>
            <a:r>
              <a:rPr lang="fr-FR" dirty="0" smtClean="0"/>
              <a:t>Introduction </a:t>
            </a:r>
            <a:endParaRPr lang="fr-FR" dirty="0"/>
          </a:p>
        </p:txBody>
      </p:sp>
      <p:sp>
        <p:nvSpPr>
          <p:cNvPr id="3" name="Espace réservé du contenu 2"/>
          <p:cNvSpPr>
            <a:spLocks noGrp="1"/>
          </p:cNvSpPr>
          <p:nvPr>
            <p:ph idx="1"/>
          </p:nvPr>
        </p:nvSpPr>
        <p:spPr>
          <a:xfrm>
            <a:off x="457200" y="1412776"/>
            <a:ext cx="8229600" cy="4911824"/>
          </a:xfrm>
        </p:spPr>
        <p:txBody>
          <a:bodyPr>
            <a:normAutofit fontScale="92500" lnSpcReduction="20000"/>
          </a:bodyPr>
          <a:lstStyle/>
          <a:p>
            <a:pPr marL="457200">
              <a:lnSpc>
                <a:spcPct val="150000"/>
              </a:lnSpc>
              <a:spcAft>
                <a:spcPts val="1000"/>
              </a:spcAft>
            </a:pPr>
            <a:r>
              <a:rPr lang="fr-FR" sz="2800" dirty="0">
                <a:latin typeface="Times New Roman"/>
                <a:ea typeface="Calibri"/>
                <a:cs typeface="Arial"/>
              </a:rPr>
              <a:t>Le tétanos est une toxi-infection non contagieuse, due au </a:t>
            </a:r>
            <a:r>
              <a:rPr lang="fr-FR" sz="2800" i="1" dirty="0">
                <a:latin typeface="Times New Roman"/>
                <a:ea typeface="Calibri"/>
                <a:cs typeface="Arial"/>
              </a:rPr>
              <a:t>« clostridium </a:t>
            </a:r>
            <a:r>
              <a:rPr lang="fr-FR" sz="2800" i="1" dirty="0" err="1">
                <a:latin typeface="Times New Roman"/>
                <a:ea typeface="Calibri"/>
                <a:cs typeface="Arial"/>
              </a:rPr>
              <a:t>tétani</a:t>
            </a:r>
            <a:r>
              <a:rPr lang="fr-FR" sz="2800" i="1" dirty="0">
                <a:latin typeface="Times New Roman"/>
                <a:ea typeface="Calibri"/>
                <a:cs typeface="Arial"/>
              </a:rPr>
              <a:t> ». </a:t>
            </a:r>
            <a:endParaRPr lang="fr-FR" sz="2800" i="1" dirty="0" smtClean="0">
              <a:latin typeface="Times New Roman"/>
              <a:ea typeface="Calibri"/>
              <a:cs typeface="Arial"/>
            </a:endParaRPr>
          </a:p>
          <a:p>
            <a:pPr marL="457200">
              <a:lnSpc>
                <a:spcPct val="150000"/>
              </a:lnSpc>
              <a:spcAft>
                <a:spcPts val="1000"/>
              </a:spcAft>
            </a:pPr>
            <a:r>
              <a:rPr lang="fr-FR" sz="2800" dirty="0" smtClean="0">
                <a:latin typeface="Times New Roman"/>
                <a:ea typeface="Calibri"/>
                <a:cs typeface="Arial"/>
              </a:rPr>
              <a:t>C’est </a:t>
            </a:r>
            <a:r>
              <a:rPr lang="fr-FR" sz="2800" dirty="0">
                <a:latin typeface="Times New Roman"/>
                <a:ea typeface="Calibri"/>
                <a:cs typeface="Arial"/>
              </a:rPr>
              <a:t>une maladie à déclaration obligatoire qui représente un problème de santé publique dans les pays en voie de développement par sa fréquence et sa </a:t>
            </a:r>
            <a:r>
              <a:rPr lang="fr-FR" sz="2800" dirty="0" smtClean="0">
                <a:latin typeface="Times New Roman"/>
                <a:ea typeface="Calibri"/>
                <a:cs typeface="Arial"/>
              </a:rPr>
              <a:t>gravité.</a:t>
            </a:r>
          </a:p>
          <a:p>
            <a:pPr marL="457200">
              <a:lnSpc>
                <a:spcPct val="150000"/>
              </a:lnSpc>
              <a:spcAft>
                <a:spcPts val="1000"/>
              </a:spcAft>
            </a:pPr>
            <a:r>
              <a:rPr lang="fr-FR" sz="2800" dirty="0" smtClean="0">
                <a:latin typeface="Times New Roman"/>
                <a:ea typeface="Calibri"/>
                <a:cs typeface="Arial"/>
              </a:rPr>
              <a:t>elle </a:t>
            </a:r>
            <a:r>
              <a:rPr lang="fr-FR" sz="2800" dirty="0">
                <a:latin typeface="Times New Roman"/>
                <a:ea typeface="Calibri"/>
                <a:cs typeface="Arial"/>
              </a:rPr>
              <a:t>est mortelle malgré le développement des techniques de réanimation modernes et la généralisation de la vaccination.</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34530012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16632"/>
            <a:ext cx="8229600" cy="1143000"/>
          </a:xfrm>
        </p:spPr>
        <p:txBody>
          <a:bodyPr/>
          <a:lstStyle/>
          <a:p>
            <a:r>
              <a:rPr lang="fr-FR" dirty="0" smtClean="0"/>
              <a:t>Épidémiologie </a:t>
            </a:r>
            <a:endParaRPr lang="fr-FR" dirty="0"/>
          </a:p>
        </p:txBody>
      </p:sp>
      <p:sp>
        <p:nvSpPr>
          <p:cNvPr id="3" name="Espace réservé du contenu 2"/>
          <p:cNvSpPr>
            <a:spLocks noGrp="1"/>
          </p:cNvSpPr>
          <p:nvPr>
            <p:ph idx="1"/>
          </p:nvPr>
        </p:nvSpPr>
        <p:spPr>
          <a:xfrm>
            <a:off x="457200" y="1268760"/>
            <a:ext cx="8229600" cy="5055840"/>
          </a:xfrm>
        </p:spPr>
        <p:txBody>
          <a:bodyPr>
            <a:normAutofit/>
          </a:bodyPr>
          <a:lstStyle/>
          <a:p>
            <a:pPr marL="0" lvl="0" indent="0">
              <a:lnSpc>
                <a:spcPct val="150000"/>
              </a:lnSpc>
              <a:spcAft>
                <a:spcPts val="0"/>
              </a:spcAft>
              <a:buNone/>
            </a:pPr>
            <a:r>
              <a:rPr lang="fr-FR" sz="2800" b="1" dirty="0" smtClean="0">
                <a:latin typeface="Times New Roman"/>
                <a:ea typeface="Calibri"/>
                <a:cs typeface="Arial"/>
              </a:rPr>
              <a:t>Agent </a:t>
            </a:r>
            <a:r>
              <a:rPr lang="fr-FR" sz="2800" b="1" dirty="0">
                <a:latin typeface="Times New Roman"/>
                <a:ea typeface="Calibri"/>
                <a:cs typeface="Arial"/>
              </a:rPr>
              <a:t>causal</a:t>
            </a:r>
            <a:endParaRPr lang="fr-FR" sz="2400" dirty="0">
              <a:latin typeface="Calibri"/>
              <a:ea typeface="Calibri"/>
              <a:cs typeface="Arial"/>
            </a:endParaRPr>
          </a:p>
          <a:p>
            <a:pPr marL="457200">
              <a:lnSpc>
                <a:spcPct val="150000"/>
              </a:lnSpc>
              <a:spcAft>
                <a:spcPts val="0"/>
              </a:spcAft>
            </a:pPr>
            <a:r>
              <a:rPr lang="fr-FR" sz="2800" i="1" dirty="0">
                <a:latin typeface="Times New Roman"/>
                <a:ea typeface="Calibri"/>
                <a:cs typeface="Arial"/>
              </a:rPr>
              <a:t>Clostridium </a:t>
            </a:r>
            <a:r>
              <a:rPr lang="fr-FR" sz="2800" i="1" dirty="0" err="1">
                <a:latin typeface="Times New Roman"/>
                <a:ea typeface="Calibri"/>
                <a:cs typeface="Arial"/>
              </a:rPr>
              <a:t>tétani</a:t>
            </a:r>
            <a:r>
              <a:rPr lang="fr-FR" sz="2800" i="1" dirty="0">
                <a:latin typeface="Times New Roman"/>
                <a:ea typeface="Calibri"/>
                <a:cs typeface="Arial"/>
              </a:rPr>
              <a:t> : </a:t>
            </a:r>
            <a:r>
              <a:rPr lang="fr-FR" sz="2800" dirty="0">
                <a:latin typeface="Times New Roman"/>
                <a:ea typeface="Calibri"/>
                <a:cs typeface="Arial"/>
              </a:rPr>
              <a:t>bacille à gram positif, anaérobie strict. Il est résistant dans le milieu extérieur et aux désinfectants ; sécrète une exotoxine « </a:t>
            </a:r>
            <a:r>
              <a:rPr lang="fr-FR" sz="2800" dirty="0" err="1">
                <a:latin typeface="Times New Roman"/>
                <a:ea typeface="Calibri"/>
                <a:cs typeface="Arial"/>
              </a:rPr>
              <a:t>tétanospasmine</a:t>
            </a:r>
            <a:r>
              <a:rPr lang="fr-FR" sz="2800" dirty="0">
                <a:latin typeface="Times New Roman"/>
                <a:ea typeface="Calibri"/>
                <a:cs typeface="Arial"/>
              </a:rPr>
              <a:t> » qui est l’une des toxines les plus puissantes, neurotrope, responsable de la symptomatologie clinique.</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156615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16632"/>
            <a:ext cx="8229600" cy="1143000"/>
          </a:xfrm>
        </p:spPr>
        <p:txBody>
          <a:bodyPr/>
          <a:lstStyle/>
          <a:p>
            <a:r>
              <a:rPr lang="fr-FR" dirty="0" smtClean="0"/>
              <a:t>Épidémiologie </a:t>
            </a:r>
            <a:endParaRPr lang="fr-FR" dirty="0"/>
          </a:p>
        </p:txBody>
      </p:sp>
      <p:sp>
        <p:nvSpPr>
          <p:cNvPr id="3" name="Espace réservé du contenu 2"/>
          <p:cNvSpPr>
            <a:spLocks noGrp="1"/>
          </p:cNvSpPr>
          <p:nvPr>
            <p:ph idx="1"/>
          </p:nvPr>
        </p:nvSpPr>
        <p:spPr>
          <a:xfrm>
            <a:off x="457200" y="1268760"/>
            <a:ext cx="8229600" cy="5055840"/>
          </a:xfrm>
        </p:spPr>
        <p:txBody>
          <a:bodyPr>
            <a:normAutofit fontScale="70000" lnSpcReduction="20000"/>
          </a:bodyPr>
          <a:lstStyle/>
          <a:p>
            <a:pPr marL="0" lvl="0" indent="0">
              <a:lnSpc>
                <a:spcPct val="150000"/>
              </a:lnSpc>
              <a:spcAft>
                <a:spcPts val="0"/>
              </a:spcAft>
              <a:buNone/>
            </a:pPr>
            <a:r>
              <a:rPr lang="fr-FR" sz="2800" b="1" dirty="0" smtClean="0">
                <a:latin typeface="Times New Roman"/>
                <a:ea typeface="Calibri"/>
                <a:cs typeface="Arial"/>
              </a:rPr>
              <a:t>Transmission</a:t>
            </a:r>
            <a:endParaRPr lang="fr-FR" sz="2400" dirty="0">
              <a:latin typeface="Calibri"/>
              <a:ea typeface="Calibri"/>
              <a:cs typeface="Arial"/>
            </a:endParaRPr>
          </a:p>
          <a:p>
            <a:pPr marL="182880" indent="0">
              <a:lnSpc>
                <a:spcPct val="150000"/>
              </a:lnSpc>
              <a:spcAft>
                <a:spcPts val="0"/>
              </a:spcAft>
              <a:buNone/>
            </a:pPr>
            <a:r>
              <a:rPr lang="fr-FR" sz="2800" dirty="0">
                <a:latin typeface="Times New Roman"/>
                <a:ea typeface="Calibri"/>
                <a:cs typeface="Arial"/>
              </a:rPr>
              <a:t>Le tétanos est toujours post-traumatique ou post chirurgical, le bacille pénètre dans l’organisme suite à une solution de continuité, les portes d’entrées sont multiples :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Plaies accidentelles récentes (70% ; minimes et </a:t>
            </a:r>
            <a:r>
              <a:rPr lang="fr-FR" sz="2800" dirty="0" smtClean="0">
                <a:latin typeface="Times New Roman"/>
                <a:ea typeface="Calibri"/>
                <a:cs typeface="Arial"/>
              </a:rPr>
              <a:t>négligées)</a:t>
            </a:r>
          </a:p>
          <a:p>
            <a:pPr marL="342900" lvl="0" indent="-342900">
              <a:lnSpc>
                <a:spcPct val="150000"/>
              </a:lnSpc>
              <a:spcAft>
                <a:spcPts val="0"/>
              </a:spcAft>
              <a:buFont typeface="Times New Roman"/>
              <a:buChar char="-"/>
            </a:pPr>
            <a:r>
              <a:rPr lang="fr-FR" sz="2800" dirty="0" smtClean="0">
                <a:latin typeface="Times New Roman"/>
                <a:ea typeface="Calibri"/>
                <a:cs typeface="Arial"/>
              </a:rPr>
              <a:t>plaies </a:t>
            </a:r>
            <a:r>
              <a:rPr lang="fr-FR" sz="2800" dirty="0">
                <a:latin typeface="Times New Roman"/>
                <a:ea typeface="Calibri"/>
                <a:cs typeface="Arial"/>
              </a:rPr>
              <a:t>chroniques (10-30</a:t>
            </a:r>
            <a:r>
              <a:rPr lang="fr-FR" sz="2800" dirty="0" smtClean="0">
                <a:latin typeface="Times New Roman"/>
                <a:ea typeface="Calibri"/>
                <a:cs typeface="Arial"/>
              </a:rPr>
              <a:t>%)</a:t>
            </a:r>
          </a:p>
          <a:p>
            <a:pPr marL="342900" lvl="0" indent="-342900">
              <a:lnSpc>
                <a:spcPct val="150000"/>
              </a:lnSpc>
              <a:spcAft>
                <a:spcPts val="0"/>
              </a:spcAft>
              <a:buFont typeface="Times New Roman"/>
              <a:buChar char="-"/>
            </a:pPr>
            <a:r>
              <a:rPr lang="fr-FR" sz="2800" dirty="0" smtClean="0">
                <a:latin typeface="Times New Roman"/>
                <a:ea typeface="Calibri"/>
                <a:cs typeface="Arial"/>
              </a:rPr>
              <a:t> </a:t>
            </a:r>
            <a:r>
              <a:rPr lang="fr-FR" sz="2800" dirty="0">
                <a:latin typeface="Times New Roman"/>
                <a:ea typeface="Calibri"/>
                <a:cs typeface="Arial"/>
              </a:rPr>
              <a:t>tétanos post chirurgical (tube digestif, réintroduction sur foyer </a:t>
            </a:r>
            <a:r>
              <a:rPr lang="fr-FR" sz="2800" dirty="0" smtClean="0">
                <a:latin typeface="Times New Roman"/>
                <a:ea typeface="Calibri"/>
                <a:cs typeface="Arial"/>
              </a:rPr>
              <a:t>ostéo-articulaire)</a:t>
            </a:r>
          </a:p>
          <a:p>
            <a:pPr marL="342900" lvl="0" indent="-342900">
              <a:lnSpc>
                <a:spcPct val="150000"/>
              </a:lnSpc>
              <a:spcAft>
                <a:spcPts val="0"/>
              </a:spcAft>
              <a:buFont typeface="Times New Roman"/>
              <a:buChar char="-"/>
            </a:pPr>
            <a:r>
              <a:rPr lang="fr-FR" sz="2800" dirty="0" smtClean="0">
                <a:latin typeface="Times New Roman"/>
                <a:ea typeface="Calibri"/>
                <a:cs typeface="Arial"/>
              </a:rPr>
              <a:t>tétanos </a:t>
            </a:r>
            <a:r>
              <a:rPr lang="fr-FR" sz="2800" dirty="0">
                <a:latin typeface="Times New Roman"/>
                <a:ea typeface="Calibri"/>
                <a:cs typeface="Arial"/>
              </a:rPr>
              <a:t>obstétrical (post </a:t>
            </a:r>
            <a:r>
              <a:rPr lang="fr-FR" sz="2800" dirty="0" err="1">
                <a:latin typeface="Times New Roman"/>
                <a:ea typeface="Calibri"/>
                <a:cs typeface="Arial"/>
              </a:rPr>
              <a:t>partum</a:t>
            </a:r>
            <a:r>
              <a:rPr lang="fr-FR" sz="2800" dirty="0">
                <a:latin typeface="Times New Roman"/>
                <a:ea typeface="Calibri"/>
                <a:cs typeface="Arial"/>
              </a:rPr>
              <a:t>, post </a:t>
            </a:r>
            <a:r>
              <a:rPr lang="fr-FR" sz="2800" dirty="0" err="1">
                <a:latin typeface="Times New Roman"/>
                <a:ea typeface="Calibri"/>
                <a:cs typeface="Arial"/>
              </a:rPr>
              <a:t>abortum</a:t>
            </a:r>
            <a:r>
              <a:rPr lang="fr-FR" sz="2800" dirty="0" smtClean="0">
                <a:latin typeface="Times New Roman"/>
                <a:ea typeface="Calibri"/>
                <a:cs typeface="Arial"/>
              </a:rPr>
              <a:t>)</a:t>
            </a:r>
          </a:p>
          <a:p>
            <a:pPr marL="342900" lvl="0" indent="-342900">
              <a:lnSpc>
                <a:spcPct val="150000"/>
              </a:lnSpc>
              <a:spcAft>
                <a:spcPts val="0"/>
              </a:spcAft>
              <a:buFont typeface="Times New Roman"/>
              <a:buChar char="-"/>
            </a:pPr>
            <a:r>
              <a:rPr lang="fr-FR" sz="2800" dirty="0" smtClean="0">
                <a:latin typeface="Times New Roman"/>
                <a:ea typeface="Calibri"/>
                <a:cs typeface="Arial"/>
              </a:rPr>
              <a:t> </a:t>
            </a:r>
            <a:r>
              <a:rPr lang="fr-FR" sz="2800" dirty="0">
                <a:latin typeface="Times New Roman"/>
                <a:ea typeface="Calibri"/>
                <a:cs typeface="Arial"/>
              </a:rPr>
              <a:t>tétanos post injection </a:t>
            </a:r>
            <a:r>
              <a:rPr lang="fr-FR" sz="2800" dirty="0" smtClean="0">
                <a:latin typeface="Times New Roman"/>
                <a:ea typeface="Calibri"/>
                <a:cs typeface="Arial"/>
              </a:rPr>
              <a:t>IM</a:t>
            </a:r>
          </a:p>
          <a:p>
            <a:pPr marL="342900" lvl="0" indent="-342900">
              <a:lnSpc>
                <a:spcPct val="150000"/>
              </a:lnSpc>
              <a:spcAft>
                <a:spcPts val="0"/>
              </a:spcAft>
              <a:buFont typeface="Times New Roman"/>
              <a:buChar char="-"/>
            </a:pPr>
            <a:r>
              <a:rPr lang="fr-FR" sz="2800" dirty="0" smtClean="0">
                <a:latin typeface="Times New Roman"/>
                <a:ea typeface="Calibri"/>
                <a:cs typeface="Arial"/>
              </a:rPr>
              <a:t>tétanos </a:t>
            </a:r>
            <a:r>
              <a:rPr lang="fr-FR" sz="2800" dirty="0">
                <a:latin typeface="Times New Roman"/>
                <a:ea typeface="Calibri"/>
                <a:cs typeface="Arial"/>
              </a:rPr>
              <a:t>néonatal ou ombilical.</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407512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16632"/>
            <a:ext cx="8229600" cy="1143000"/>
          </a:xfrm>
        </p:spPr>
        <p:txBody>
          <a:bodyPr/>
          <a:lstStyle/>
          <a:p>
            <a:r>
              <a:rPr lang="fr-FR" dirty="0" smtClean="0"/>
              <a:t>Épidémiologie </a:t>
            </a:r>
            <a:endParaRPr lang="fr-FR" dirty="0"/>
          </a:p>
        </p:txBody>
      </p:sp>
      <p:sp>
        <p:nvSpPr>
          <p:cNvPr id="3" name="Espace réservé du contenu 2"/>
          <p:cNvSpPr>
            <a:spLocks noGrp="1"/>
          </p:cNvSpPr>
          <p:nvPr>
            <p:ph idx="1"/>
          </p:nvPr>
        </p:nvSpPr>
        <p:spPr>
          <a:xfrm>
            <a:off x="457200" y="1268760"/>
            <a:ext cx="8229600" cy="5055840"/>
          </a:xfrm>
        </p:spPr>
        <p:txBody>
          <a:bodyPr>
            <a:normAutofit/>
          </a:bodyPr>
          <a:lstStyle/>
          <a:p>
            <a:pPr marL="0" lvl="0" indent="0">
              <a:lnSpc>
                <a:spcPct val="150000"/>
              </a:lnSpc>
              <a:spcAft>
                <a:spcPts val="0"/>
              </a:spcAft>
              <a:buNone/>
            </a:pPr>
            <a:r>
              <a:rPr lang="fr-FR" sz="2800" b="1" dirty="0" smtClean="0">
                <a:latin typeface="Times New Roman"/>
                <a:ea typeface="Calibri"/>
                <a:cs typeface="Arial"/>
              </a:rPr>
              <a:t>Réservoir </a:t>
            </a:r>
            <a:endParaRPr lang="fr-FR" sz="2400" dirty="0">
              <a:latin typeface="Calibri"/>
              <a:ea typeface="Calibri"/>
              <a:cs typeface="Arial"/>
            </a:endParaRPr>
          </a:p>
          <a:p>
            <a:pPr marL="457200">
              <a:lnSpc>
                <a:spcPct val="150000"/>
              </a:lnSpc>
              <a:spcAft>
                <a:spcPts val="1000"/>
              </a:spcAft>
            </a:pPr>
            <a:r>
              <a:rPr lang="fr-FR" sz="2800" dirty="0">
                <a:latin typeface="Times New Roman"/>
                <a:ea typeface="Calibri"/>
                <a:cs typeface="Arial"/>
              </a:rPr>
              <a:t>Le </a:t>
            </a:r>
            <a:r>
              <a:rPr lang="fr-FR" sz="2800" i="1" dirty="0">
                <a:latin typeface="Times New Roman"/>
                <a:ea typeface="Calibri"/>
                <a:cs typeface="Arial"/>
              </a:rPr>
              <a:t>clostridium </a:t>
            </a:r>
            <a:r>
              <a:rPr lang="fr-FR" sz="2800" i="1" dirty="0" err="1">
                <a:latin typeface="Times New Roman"/>
                <a:ea typeface="Calibri"/>
                <a:cs typeface="Arial"/>
              </a:rPr>
              <a:t>tétani</a:t>
            </a:r>
            <a:r>
              <a:rPr lang="fr-FR" sz="2800" dirty="0">
                <a:latin typeface="Times New Roman"/>
                <a:ea typeface="Calibri"/>
                <a:cs typeface="Arial"/>
              </a:rPr>
              <a:t> est une bactérie ubiquitaire, tellurique, largement répandue dans les sols surtout chauds et humides. </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368155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lstStyle/>
          <a:p>
            <a:r>
              <a:rPr lang="fr-FR" dirty="0" smtClean="0"/>
              <a:t>Etude clinique </a:t>
            </a:r>
            <a:endParaRPr lang="fr-FR" dirty="0"/>
          </a:p>
        </p:txBody>
      </p:sp>
      <p:sp>
        <p:nvSpPr>
          <p:cNvPr id="3" name="Espace réservé du contenu 2"/>
          <p:cNvSpPr>
            <a:spLocks noGrp="1"/>
          </p:cNvSpPr>
          <p:nvPr>
            <p:ph idx="1"/>
          </p:nvPr>
        </p:nvSpPr>
        <p:spPr>
          <a:xfrm>
            <a:off x="457200" y="1412776"/>
            <a:ext cx="8229600" cy="5328592"/>
          </a:xfrm>
        </p:spPr>
        <p:txBody>
          <a:bodyPr>
            <a:normAutofit fontScale="77500" lnSpcReduction="20000"/>
          </a:bodyPr>
          <a:lstStyle/>
          <a:p>
            <a:pPr marL="342900" lvl="0" indent="-342900">
              <a:lnSpc>
                <a:spcPct val="150000"/>
              </a:lnSpc>
              <a:buFont typeface="+mj-lt"/>
              <a:buAutoNum type="arabicPeriod"/>
            </a:pPr>
            <a:r>
              <a:rPr lang="fr-FR" sz="2800" b="1" dirty="0">
                <a:latin typeface="Times New Roman"/>
                <a:ea typeface="Calibri"/>
                <a:cs typeface="Arial"/>
              </a:rPr>
              <a:t>Forme aigue généralisée de l’adulte non vacciné</a:t>
            </a:r>
            <a:endParaRPr lang="fr-FR" sz="2400" dirty="0">
              <a:latin typeface="Calibri"/>
              <a:ea typeface="Calibri"/>
              <a:cs typeface="Arial"/>
            </a:endParaRPr>
          </a:p>
          <a:p>
            <a:pPr marL="0" lvl="0" indent="0">
              <a:lnSpc>
                <a:spcPct val="150000"/>
              </a:lnSpc>
              <a:spcAft>
                <a:spcPts val="0"/>
              </a:spcAft>
              <a:buNone/>
            </a:pPr>
            <a:r>
              <a:rPr lang="fr-FR" sz="2800" b="1" dirty="0">
                <a:latin typeface="Times New Roman"/>
                <a:ea typeface="Calibri"/>
                <a:cs typeface="Arial"/>
              </a:rPr>
              <a:t>Phase d’incubation : </a:t>
            </a:r>
            <a:r>
              <a:rPr lang="fr-FR" sz="2800" dirty="0">
                <a:latin typeface="Times New Roman"/>
                <a:ea typeface="Calibri"/>
                <a:cs typeface="Arial"/>
              </a:rPr>
              <a:t>10-15 jours en moyenne, peut-être de 24h- 3 semaines. Plus l’incubation est courte, plus le tétanos est sévère.</a:t>
            </a:r>
            <a:endParaRPr lang="fr-FR" sz="2400" dirty="0">
              <a:latin typeface="Calibri"/>
              <a:ea typeface="Calibri"/>
              <a:cs typeface="Arial"/>
            </a:endParaRPr>
          </a:p>
          <a:p>
            <a:pPr marL="0" lvl="0" indent="0">
              <a:lnSpc>
                <a:spcPct val="150000"/>
              </a:lnSpc>
              <a:spcAft>
                <a:spcPts val="0"/>
              </a:spcAft>
              <a:buNone/>
            </a:pPr>
            <a:r>
              <a:rPr lang="fr-FR" sz="2800" b="1" dirty="0">
                <a:latin typeface="Times New Roman"/>
                <a:ea typeface="Calibri"/>
                <a:cs typeface="Arial"/>
              </a:rPr>
              <a:t>Phase d’invasion : </a:t>
            </a:r>
            <a:r>
              <a:rPr lang="fr-FR" sz="2800" dirty="0">
                <a:latin typeface="Times New Roman"/>
                <a:ea typeface="Calibri"/>
                <a:cs typeface="Arial"/>
              </a:rPr>
              <a:t>en moyenne 48h, marquée par l’installation des contractures.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Trismus : </a:t>
            </a:r>
            <a:r>
              <a:rPr lang="fr-FR" sz="2800" dirty="0">
                <a:latin typeface="Times New Roman"/>
                <a:ea typeface="Calibri"/>
                <a:cs typeface="Arial"/>
              </a:rPr>
              <a:t>1</a:t>
            </a:r>
            <a:r>
              <a:rPr lang="fr-FR" sz="2800" baseline="30000" dirty="0">
                <a:latin typeface="Times New Roman"/>
                <a:ea typeface="Calibri"/>
                <a:cs typeface="Arial"/>
              </a:rPr>
              <a:t>er</a:t>
            </a:r>
            <a:r>
              <a:rPr lang="fr-FR" sz="2800" dirty="0">
                <a:latin typeface="Times New Roman"/>
                <a:ea typeface="Calibri"/>
                <a:cs typeface="Arial"/>
              </a:rPr>
              <a:t> signe</a:t>
            </a:r>
            <a:r>
              <a:rPr lang="fr-FR" sz="2800" b="1" dirty="0">
                <a:latin typeface="Times New Roman"/>
                <a:ea typeface="Calibri"/>
                <a:cs typeface="Arial"/>
              </a:rPr>
              <a:t>, </a:t>
            </a:r>
            <a:r>
              <a:rPr lang="fr-FR" sz="2800" dirty="0">
                <a:latin typeface="Times New Roman"/>
                <a:ea typeface="Calibri"/>
                <a:cs typeface="Arial"/>
              </a:rPr>
              <a:t>contracture des muscles masséters et ptérygoïdiens bloquant l’ouverture de la mâchoire. Il est </a:t>
            </a:r>
            <a:r>
              <a:rPr lang="fr-FR" sz="2800" i="1" dirty="0">
                <a:solidFill>
                  <a:srgbClr val="FF0000"/>
                </a:solidFill>
                <a:latin typeface="Times New Roman"/>
                <a:ea typeface="Calibri"/>
                <a:cs typeface="Arial"/>
              </a:rPr>
              <a:t>irréductible, invincible, bilatéral et symétrique, peu ou pas douloureux, non accompagné de fièvre</a:t>
            </a:r>
            <a:r>
              <a:rPr lang="fr-FR" sz="2800" i="1" dirty="0">
                <a:latin typeface="Times New Roman"/>
                <a:ea typeface="Calibri"/>
                <a:cs typeface="Arial"/>
              </a:rPr>
              <a:t>.</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Extension de la contracture : </a:t>
            </a:r>
            <a:r>
              <a:rPr lang="fr-FR" sz="2800" dirty="0">
                <a:latin typeface="Times New Roman"/>
                <a:ea typeface="Calibri"/>
                <a:cs typeface="Arial"/>
              </a:rPr>
              <a:t>pharynx, face (faciès sardonique), saillie des muscles sterno-cléido-mastoïdiens, </a:t>
            </a:r>
            <a:r>
              <a:rPr lang="fr-FR" sz="2800" dirty="0" smtClean="0">
                <a:latin typeface="Times New Roman"/>
                <a:ea typeface="Calibri"/>
                <a:cs typeface="Arial"/>
              </a:rPr>
              <a:t>tronc </a:t>
            </a:r>
            <a:r>
              <a:rPr lang="fr-FR" sz="2800" dirty="0">
                <a:latin typeface="Times New Roman"/>
                <a:ea typeface="Calibri"/>
                <a:cs typeface="Arial"/>
              </a:rPr>
              <a:t>et les membres. </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375705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Trismus </a:t>
            </a:r>
            <a:endParaRPr lang="fr-FR"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5387" y="2294826"/>
            <a:ext cx="3993226" cy="367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1110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lstStyle/>
          <a:p>
            <a:r>
              <a:rPr lang="fr-FR" dirty="0" smtClean="0"/>
              <a:t>Etude clinique </a:t>
            </a:r>
            <a:endParaRPr lang="fr-FR" dirty="0"/>
          </a:p>
        </p:txBody>
      </p:sp>
      <p:sp>
        <p:nvSpPr>
          <p:cNvPr id="3" name="Espace réservé du contenu 2"/>
          <p:cNvSpPr>
            <a:spLocks noGrp="1"/>
          </p:cNvSpPr>
          <p:nvPr>
            <p:ph idx="1"/>
          </p:nvPr>
        </p:nvSpPr>
        <p:spPr>
          <a:xfrm>
            <a:off x="457200" y="1412776"/>
            <a:ext cx="8229600" cy="5328592"/>
          </a:xfrm>
        </p:spPr>
        <p:txBody>
          <a:bodyPr>
            <a:normAutofit fontScale="62500" lnSpcReduction="20000"/>
          </a:bodyPr>
          <a:lstStyle/>
          <a:p>
            <a:pPr marL="0" lvl="0" indent="0">
              <a:lnSpc>
                <a:spcPct val="150000"/>
              </a:lnSpc>
              <a:spcAft>
                <a:spcPts val="0"/>
              </a:spcAft>
              <a:buNone/>
            </a:pPr>
            <a:r>
              <a:rPr lang="fr-FR" sz="2800" b="1" dirty="0" smtClean="0">
                <a:latin typeface="Times New Roman"/>
                <a:ea typeface="Calibri"/>
                <a:cs typeface="Arial"/>
              </a:rPr>
              <a:t>Phase </a:t>
            </a:r>
            <a:r>
              <a:rPr lang="fr-FR" sz="2800" b="1" dirty="0">
                <a:latin typeface="Times New Roman"/>
                <a:ea typeface="Calibri"/>
                <a:cs typeface="Arial"/>
              </a:rPr>
              <a:t>d’état </a:t>
            </a:r>
            <a:endParaRPr lang="fr-FR" sz="2400" dirty="0">
              <a:latin typeface="Calibri"/>
              <a:ea typeface="Calibri"/>
              <a:cs typeface="Arial"/>
            </a:endParaRPr>
          </a:p>
          <a:p>
            <a:pPr marL="457200">
              <a:lnSpc>
                <a:spcPct val="150000"/>
              </a:lnSpc>
              <a:spcAft>
                <a:spcPts val="0"/>
              </a:spcAft>
            </a:pPr>
            <a:r>
              <a:rPr lang="fr-FR" sz="2800" dirty="0">
                <a:latin typeface="Times New Roman"/>
                <a:ea typeface="Calibri"/>
                <a:cs typeface="Arial"/>
              </a:rPr>
              <a:t>Le diagnostic est alors évident, marqué par la généralisation des contractures en quelques heures ou jours et les recrudescences paroxystiques.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Contractures généralisées permanentes : </a:t>
            </a:r>
            <a:r>
              <a:rPr lang="fr-FR" sz="2800" dirty="0">
                <a:latin typeface="Times New Roman"/>
                <a:ea typeface="Calibri"/>
                <a:cs typeface="Arial"/>
              </a:rPr>
              <a:t>trismus serré ; faciès sardonique ; dysphagie complète ; contracture des muscles </a:t>
            </a:r>
            <a:r>
              <a:rPr lang="fr-FR" sz="2800" dirty="0" err="1">
                <a:latin typeface="Times New Roman"/>
                <a:ea typeface="Calibri"/>
                <a:cs typeface="Arial"/>
              </a:rPr>
              <a:t>paravertébraux</a:t>
            </a:r>
            <a:r>
              <a:rPr lang="fr-FR" sz="2800" dirty="0">
                <a:latin typeface="Times New Roman"/>
                <a:ea typeface="Calibri"/>
                <a:cs typeface="Arial"/>
              </a:rPr>
              <a:t> (rachis cervical soudé, tronc fixé en blocage rigide avec hyperlordose lombaire « attitude caractéristique : Opisthotonos » ; contracture des muscles intercostaux et du diaphragme ; abdomen de bois par atteinte des muscles abdominaux ; atteintes des muscles des membres est tardive et inconstante (extenseurs des membres inférieurs et fléchisseurs des membres supérieurs).</a:t>
            </a:r>
            <a:endParaRPr lang="fr-FR" sz="2400" dirty="0">
              <a:latin typeface="Calibri"/>
              <a:ea typeface="Calibri"/>
              <a:cs typeface="Arial"/>
            </a:endParaRPr>
          </a:p>
          <a:p>
            <a:pPr marL="342900" lvl="0" indent="-342900">
              <a:lnSpc>
                <a:spcPct val="150000"/>
              </a:lnSpc>
              <a:spcAft>
                <a:spcPts val="1000"/>
              </a:spcAft>
              <a:buFont typeface="Times New Roman"/>
              <a:buChar char="-"/>
            </a:pPr>
            <a:r>
              <a:rPr lang="fr-FR" sz="2800" b="1" dirty="0">
                <a:latin typeface="Times New Roman"/>
                <a:ea typeface="Calibri"/>
                <a:cs typeface="Arial"/>
              </a:rPr>
              <a:t>Recrudescences paroxystiques : </a:t>
            </a:r>
            <a:r>
              <a:rPr lang="fr-FR" sz="2800" dirty="0">
                <a:latin typeface="Times New Roman"/>
                <a:ea typeface="Calibri"/>
                <a:cs typeface="Arial"/>
              </a:rPr>
              <a:t>surviennent sur le fond de contractures permanentes et généralisées, elles sont très douloureuses, spontanées ou provoquées par les excitations sensitives ou sensorielles</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1431894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5400" dirty="0">
                <a:latin typeface="Times New Roman"/>
                <a:ea typeface="Calibri"/>
                <a:cs typeface="Arial"/>
              </a:rPr>
              <a:t>Opisthotonos </a:t>
            </a:r>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132856"/>
            <a:ext cx="536257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7361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lstStyle/>
          <a:p>
            <a:r>
              <a:rPr lang="fr-FR" dirty="0" smtClean="0"/>
              <a:t>Etude clinique </a:t>
            </a:r>
            <a:endParaRPr lang="fr-FR" dirty="0"/>
          </a:p>
        </p:txBody>
      </p:sp>
      <p:sp>
        <p:nvSpPr>
          <p:cNvPr id="3" name="Espace réservé du contenu 2"/>
          <p:cNvSpPr>
            <a:spLocks noGrp="1"/>
          </p:cNvSpPr>
          <p:nvPr>
            <p:ph idx="1"/>
          </p:nvPr>
        </p:nvSpPr>
        <p:spPr>
          <a:xfrm>
            <a:off x="467544" y="1412776"/>
            <a:ext cx="8229600" cy="5184576"/>
          </a:xfrm>
        </p:spPr>
        <p:txBody>
          <a:bodyPr>
            <a:normAutofit/>
          </a:bodyPr>
          <a:lstStyle/>
          <a:p>
            <a:pPr marL="0" lvl="0" indent="0">
              <a:lnSpc>
                <a:spcPct val="150000"/>
              </a:lnSpc>
              <a:buNone/>
            </a:pPr>
            <a:r>
              <a:rPr lang="fr-FR" sz="2800" b="1" dirty="0">
                <a:latin typeface="Times New Roman"/>
                <a:ea typeface="Calibri"/>
                <a:cs typeface="Arial"/>
              </a:rPr>
              <a:t>Evolution </a:t>
            </a:r>
            <a:endParaRPr lang="fr-FR" sz="2400" dirty="0">
              <a:latin typeface="Calibri"/>
              <a:ea typeface="Calibri"/>
              <a:cs typeface="Arial"/>
            </a:endParaRPr>
          </a:p>
          <a:p>
            <a:pPr marL="457200">
              <a:lnSpc>
                <a:spcPct val="150000"/>
              </a:lnSpc>
              <a:spcAft>
                <a:spcPts val="0"/>
              </a:spcAft>
            </a:pPr>
            <a:r>
              <a:rPr lang="fr-FR" sz="2800" dirty="0">
                <a:latin typeface="Times New Roman"/>
                <a:ea typeface="Calibri"/>
                <a:cs typeface="Arial"/>
              </a:rPr>
              <a:t>Il n’y a pas de tétanos bénin, la mortalité reste élevée. En l’absence de traitement l’issue fatale est fréquente. Sous traitement adéquat dans une unité de soins intensifs, la guérison est possible mais très lente à obtenir. Le tétanos ne confère pas d’immunité durable d’où l’intérêt de la vaccination. </a:t>
            </a:r>
            <a:endParaRPr lang="fr-FR" sz="2400" dirty="0">
              <a:latin typeface="Calibri"/>
              <a:ea typeface="Calibri"/>
              <a:cs typeface="Arial"/>
            </a:endParaRPr>
          </a:p>
        </p:txBody>
      </p:sp>
    </p:spTree>
    <p:extLst>
      <p:ext uri="{BB962C8B-B14F-4D97-AF65-F5344CB8AC3E}">
        <p14:creationId xmlns:p14="http://schemas.microsoft.com/office/powerpoint/2010/main" val="21190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lstStyle/>
          <a:p>
            <a:r>
              <a:rPr lang="fr-FR" dirty="0" smtClean="0"/>
              <a:t>Etude clinique </a:t>
            </a:r>
            <a:endParaRPr lang="fr-FR" dirty="0"/>
          </a:p>
        </p:txBody>
      </p:sp>
      <p:sp>
        <p:nvSpPr>
          <p:cNvPr id="3" name="Espace réservé du contenu 2"/>
          <p:cNvSpPr>
            <a:spLocks noGrp="1"/>
          </p:cNvSpPr>
          <p:nvPr>
            <p:ph idx="1"/>
          </p:nvPr>
        </p:nvSpPr>
        <p:spPr>
          <a:xfrm>
            <a:off x="467544" y="1412776"/>
            <a:ext cx="8229600" cy="5184576"/>
          </a:xfrm>
        </p:spPr>
        <p:txBody>
          <a:bodyPr>
            <a:normAutofit fontScale="77500" lnSpcReduction="20000"/>
          </a:bodyPr>
          <a:lstStyle/>
          <a:p>
            <a:pPr marL="0" lvl="0" indent="0">
              <a:lnSpc>
                <a:spcPct val="150000"/>
              </a:lnSpc>
              <a:spcAft>
                <a:spcPts val="0"/>
              </a:spcAft>
              <a:buNone/>
            </a:pPr>
            <a:r>
              <a:rPr lang="fr-FR" sz="2800" b="1" dirty="0" smtClean="0">
                <a:latin typeface="Times New Roman"/>
                <a:ea typeface="Calibri"/>
                <a:cs typeface="Arial"/>
              </a:rPr>
              <a:t>Complications </a:t>
            </a:r>
            <a:endParaRPr lang="fr-FR" sz="2400" dirty="0">
              <a:latin typeface="Calibri"/>
              <a:ea typeface="Calibri"/>
              <a:cs typeface="Arial"/>
            </a:endParaRPr>
          </a:p>
          <a:p>
            <a:pPr marL="342900" lvl="0" indent="-342900">
              <a:lnSpc>
                <a:spcPct val="150000"/>
              </a:lnSpc>
              <a:spcAft>
                <a:spcPts val="0"/>
              </a:spcAft>
              <a:buFont typeface="+mj-lt"/>
              <a:buAutoNum type="alphaLcPeriod"/>
            </a:pPr>
            <a:r>
              <a:rPr lang="fr-FR" sz="2800" b="1" dirty="0">
                <a:latin typeface="Times New Roman"/>
                <a:ea typeface="Calibri"/>
                <a:cs typeface="Arial"/>
              </a:rPr>
              <a:t>Infectieuses : </a:t>
            </a:r>
            <a:r>
              <a:rPr lang="fr-FR" sz="2800" dirty="0">
                <a:latin typeface="Times New Roman"/>
                <a:ea typeface="Calibri"/>
                <a:cs typeface="Arial"/>
              </a:rPr>
              <a:t>sont au 1</a:t>
            </a:r>
            <a:r>
              <a:rPr lang="fr-FR" sz="2800" baseline="30000" dirty="0">
                <a:latin typeface="Times New Roman"/>
                <a:ea typeface="Calibri"/>
                <a:cs typeface="Arial"/>
              </a:rPr>
              <a:t>er</a:t>
            </a:r>
            <a:r>
              <a:rPr lang="fr-FR" sz="2800" dirty="0">
                <a:latin typeface="Times New Roman"/>
                <a:ea typeface="Calibri"/>
                <a:cs typeface="Arial"/>
              </a:rPr>
              <a:t> plan</a:t>
            </a:r>
            <a:r>
              <a:rPr lang="fr-FR" sz="2800" b="1" dirty="0">
                <a:latin typeface="Times New Roman"/>
                <a:ea typeface="Calibri"/>
                <a:cs typeface="Arial"/>
              </a:rPr>
              <a:t> </a:t>
            </a:r>
            <a:r>
              <a:rPr lang="fr-FR" sz="2800" dirty="0">
                <a:latin typeface="Times New Roman"/>
                <a:ea typeface="Calibri"/>
                <a:cs typeface="Arial"/>
              </a:rPr>
              <a:t>et sont d’origine nosocomiale surtout pulmonaire (ventilation assistée), urinaire (sondage vésical), infection du cathéter (staphylocoque, BGN), </a:t>
            </a:r>
            <a:r>
              <a:rPr lang="fr-FR" sz="2800" dirty="0" err="1">
                <a:latin typeface="Times New Roman"/>
                <a:ea typeface="Calibri"/>
                <a:cs typeface="Arial"/>
              </a:rPr>
              <a:t>kérato</a:t>
            </a:r>
            <a:r>
              <a:rPr lang="fr-FR" sz="2800" dirty="0">
                <a:latin typeface="Times New Roman"/>
                <a:ea typeface="Calibri"/>
                <a:cs typeface="Arial"/>
              </a:rPr>
              <a:t>-conjonctivite…</a:t>
            </a:r>
            <a:endParaRPr lang="fr-FR" sz="2400" dirty="0">
              <a:latin typeface="Calibri"/>
              <a:ea typeface="Calibri"/>
              <a:cs typeface="Arial"/>
            </a:endParaRPr>
          </a:p>
          <a:p>
            <a:pPr marL="342900" lvl="0" indent="-342900">
              <a:lnSpc>
                <a:spcPct val="150000"/>
              </a:lnSpc>
              <a:spcAft>
                <a:spcPts val="0"/>
              </a:spcAft>
              <a:buFont typeface="+mj-lt"/>
              <a:buAutoNum type="alphaLcPeriod"/>
            </a:pPr>
            <a:r>
              <a:rPr lang="fr-FR" sz="2800" b="1" dirty="0">
                <a:latin typeface="Times New Roman"/>
                <a:ea typeface="Calibri"/>
                <a:cs typeface="Arial"/>
              </a:rPr>
              <a:t>Cardiovasculaires : </a:t>
            </a:r>
            <a:r>
              <a:rPr lang="fr-FR" sz="2800" dirty="0">
                <a:latin typeface="Times New Roman"/>
                <a:ea typeface="Calibri"/>
                <a:cs typeface="Arial"/>
              </a:rPr>
              <a:t>maladie thromboembolique (embolie pulmonaire, Thrombose veineuse profonde), troubles du rythme,…</a:t>
            </a:r>
            <a:endParaRPr lang="fr-FR" sz="2400" dirty="0">
              <a:latin typeface="Calibri"/>
              <a:ea typeface="Calibri"/>
              <a:cs typeface="Arial"/>
            </a:endParaRPr>
          </a:p>
          <a:p>
            <a:pPr marL="342900" lvl="0" indent="-342900">
              <a:lnSpc>
                <a:spcPct val="150000"/>
              </a:lnSpc>
              <a:spcAft>
                <a:spcPts val="0"/>
              </a:spcAft>
              <a:buFont typeface="+mj-lt"/>
              <a:buAutoNum type="alphaLcPeriod"/>
            </a:pPr>
            <a:r>
              <a:rPr lang="fr-FR" sz="2800" b="1" dirty="0">
                <a:latin typeface="Times New Roman"/>
                <a:ea typeface="Calibri"/>
                <a:cs typeface="Arial"/>
              </a:rPr>
              <a:t>Respiratoires : </a:t>
            </a:r>
            <a:r>
              <a:rPr lang="fr-FR" sz="2800" dirty="0">
                <a:latin typeface="Times New Roman"/>
                <a:ea typeface="Calibri"/>
                <a:cs typeface="Arial"/>
              </a:rPr>
              <a:t>inondation bronchique par reflux du liquide gastrique, blocage des muscles respiratoires (apnée),…</a:t>
            </a:r>
            <a:endParaRPr lang="fr-FR" sz="2400" dirty="0">
              <a:latin typeface="Calibri"/>
              <a:ea typeface="Calibri"/>
              <a:cs typeface="Arial"/>
            </a:endParaRPr>
          </a:p>
          <a:p>
            <a:pPr marL="342900" lvl="0" indent="-342900">
              <a:lnSpc>
                <a:spcPct val="150000"/>
              </a:lnSpc>
              <a:spcAft>
                <a:spcPts val="0"/>
              </a:spcAft>
              <a:buFont typeface="+mj-lt"/>
              <a:buAutoNum type="alphaLcPeriod"/>
            </a:pPr>
            <a:r>
              <a:rPr lang="fr-FR" sz="2800" b="1" dirty="0">
                <a:latin typeface="Times New Roman"/>
                <a:ea typeface="Calibri"/>
                <a:cs typeface="Arial"/>
              </a:rPr>
              <a:t>Autres : </a:t>
            </a:r>
            <a:r>
              <a:rPr lang="fr-FR" sz="2800" dirty="0">
                <a:latin typeface="Times New Roman"/>
                <a:ea typeface="Calibri"/>
                <a:cs typeface="Arial"/>
              </a:rPr>
              <a:t>iléus paralytique, hémorragie digestive ; IRA ; rétraction musculo-tendineuse à l’origine de fracture, tassement dorsal, rupture tendineuse… </a:t>
            </a:r>
            <a:endParaRPr lang="fr-FR" sz="2400" dirty="0">
              <a:latin typeface="Calibri"/>
              <a:ea typeface="Calibri"/>
              <a:cs typeface="Arial"/>
            </a:endParaRPr>
          </a:p>
        </p:txBody>
      </p:sp>
    </p:spTree>
    <p:extLst>
      <p:ext uri="{BB962C8B-B14F-4D97-AF65-F5344CB8AC3E}">
        <p14:creationId xmlns:p14="http://schemas.microsoft.com/office/powerpoint/2010/main" val="23486779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88640"/>
            <a:ext cx="8229600" cy="782960"/>
          </a:xfrm>
        </p:spPr>
        <p:txBody>
          <a:bodyPr>
            <a:normAutofit fontScale="90000"/>
          </a:bodyPr>
          <a:lstStyle/>
          <a:p>
            <a:r>
              <a:rPr lang="fr-FR" dirty="0" smtClean="0"/>
              <a:t>Etude clinique </a:t>
            </a:r>
            <a:endParaRPr lang="fr-FR" dirty="0"/>
          </a:p>
        </p:txBody>
      </p:sp>
      <p:sp>
        <p:nvSpPr>
          <p:cNvPr id="3" name="Espace réservé du contenu 2"/>
          <p:cNvSpPr>
            <a:spLocks noGrp="1"/>
          </p:cNvSpPr>
          <p:nvPr>
            <p:ph idx="1"/>
          </p:nvPr>
        </p:nvSpPr>
        <p:spPr>
          <a:xfrm>
            <a:off x="467544" y="548680"/>
            <a:ext cx="8229600" cy="5976664"/>
          </a:xfrm>
        </p:spPr>
        <p:txBody>
          <a:bodyPr>
            <a:normAutofit fontScale="70000" lnSpcReduction="20000"/>
          </a:bodyPr>
          <a:lstStyle/>
          <a:p>
            <a:pPr marL="0" lvl="0" indent="0">
              <a:lnSpc>
                <a:spcPct val="150000"/>
              </a:lnSpc>
              <a:buNone/>
            </a:pPr>
            <a:endParaRPr lang="fr-FR" sz="2400" dirty="0">
              <a:latin typeface="Calibri"/>
              <a:ea typeface="Calibri"/>
              <a:cs typeface="Arial"/>
            </a:endParaRPr>
          </a:p>
          <a:p>
            <a:pPr marL="0" lvl="0" indent="0">
              <a:lnSpc>
                <a:spcPct val="150000"/>
              </a:lnSpc>
              <a:spcAft>
                <a:spcPts val="0"/>
              </a:spcAft>
              <a:buNone/>
            </a:pPr>
            <a:r>
              <a:rPr lang="fr-FR" sz="2800" b="1" dirty="0">
                <a:latin typeface="Times New Roman"/>
                <a:ea typeface="Calibri"/>
                <a:cs typeface="Arial"/>
              </a:rPr>
              <a:t>Formes cliniques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Formes suraiguës :</a:t>
            </a:r>
            <a:r>
              <a:rPr lang="fr-FR" sz="2800" dirty="0">
                <a:latin typeface="Times New Roman"/>
                <a:ea typeface="Calibri"/>
                <a:cs typeface="Arial"/>
              </a:rPr>
              <a:t> incubation ˂ 6 jours, décès en 24-48h.</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Formes frustes : </a:t>
            </a:r>
            <a:r>
              <a:rPr lang="fr-FR" sz="2800" dirty="0">
                <a:latin typeface="Times New Roman"/>
                <a:ea typeface="Calibri"/>
                <a:cs typeface="Arial"/>
              </a:rPr>
              <a:t>pas de troubles respiratoires ni de dysphagie, sans renforcement paroxystique généralisé.</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Tétanos localisé : </a:t>
            </a:r>
            <a:r>
              <a:rPr lang="fr-FR" sz="2800" dirty="0">
                <a:latin typeface="Times New Roman"/>
                <a:ea typeface="Calibri"/>
                <a:cs typeface="Arial"/>
              </a:rPr>
              <a:t>rare, surtout au niveau des membres supérieurs.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Tétanos néo-natal : </a:t>
            </a:r>
            <a:r>
              <a:rPr lang="fr-FR" sz="2800" dirty="0">
                <a:latin typeface="Times New Roman"/>
                <a:ea typeface="Calibri"/>
                <a:cs typeface="Arial"/>
              </a:rPr>
              <a:t>mortel. Le cordon ombilical est coupé par un matériel souillé chez un nouveau-né de mère non vaccinée d’où l’importance de la vaccination des femmes enceintes.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Tétanos du sujet âgé :</a:t>
            </a:r>
            <a:r>
              <a:rPr lang="fr-FR" sz="2800" dirty="0">
                <a:latin typeface="Times New Roman"/>
                <a:ea typeface="Calibri"/>
                <a:cs typeface="Arial"/>
              </a:rPr>
              <a:t> grave, compte tenu des maladies sous-jacentes. Mortalité très élevée.</a:t>
            </a:r>
            <a:endParaRPr lang="fr-FR" sz="2400" dirty="0">
              <a:latin typeface="Calibri"/>
              <a:ea typeface="Calibri"/>
              <a:cs typeface="Arial"/>
            </a:endParaRPr>
          </a:p>
          <a:p>
            <a:pPr marL="342900" lvl="0" indent="-342900">
              <a:lnSpc>
                <a:spcPct val="150000"/>
              </a:lnSpc>
              <a:spcAft>
                <a:spcPts val="1000"/>
              </a:spcAft>
              <a:buFont typeface="Times New Roman"/>
              <a:buChar char="-"/>
            </a:pPr>
            <a:r>
              <a:rPr lang="fr-FR" sz="2800" b="1" dirty="0">
                <a:latin typeface="Times New Roman"/>
                <a:ea typeface="Calibri"/>
                <a:cs typeface="Arial"/>
              </a:rPr>
              <a:t>Tétanos chez la femme enceinte :</a:t>
            </a:r>
            <a:r>
              <a:rPr lang="fr-FR" sz="2800" dirty="0">
                <a:latin typeface="Times New Roman"/>
                <a:ea typeface="Calibri"/>
                <a:cs typeface="Arial"/>
              </a:rPr>
              <a:t> c’est une maladie abortive, d’où l’intérêt de la vaccination chez la femme enceinte.</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5419754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lstStyle/>
          <a:p>
            <a:r>
              <a:rPr lang="fr-FR" dirty="0" smtClean="0"/>
              <a:t>Diagnostic positif </a:t>
            </a:r>
            <a:endParaRPr lang="fr-FR" dirty="0"/>
          </a:p>
        </p:txBody>
      </p:sp>
      <p:sp>
        <p:nvSpPr>
          <p:cNvPr id="3" name="Espace réservé du contenu 2"/>
          <p:cNvSpPr>
            <a:spLocks noGrp="1"/>
          </p:cNvSpPr>
          <p:nvPr>
            <p:ph idx="1"/>
          </p:nvPr>
        </p:nvSpPr>
        <p:spPr>
          <a:xfrm>
            <a:off x="457200" y="1556792"/>
            <a:ext cx="8229600" cy="4767808"/>
          </a:xfrm>
        </p:spPr>
        <p:txBody>
          <a:bodyPr>
            <a:normAutofit fontScale="92500" lnSpcReduction="20000"/>
          </a:bodyPr>
          <a:lstStyle/>
          <a:p>
            <a:pPr marL="0" lvl="0" indent="0">
              <a:lnSpc>
                <a:spcPct val="150000"/>
              </a:lnSpc>
              <a:spcAft>
                <a:spcPts val="0"/>
              </a:spcAft>
              <a:buNone/>
            </a:pPr>
            <a:r>
              <a:rPr lang="fr-FR" sz="2800" b="1" dirty="0" smtClean="0">
                <a:latin typeface="Times New Roman"/>
                <a:ea typeface="Calibri"/>
                <a:cs typeface="Arial"/>
              </a:rPr>
              <a:t>Eléments </a:t>
            </a:r>
            <a:r>
              <a:rPr lang="fr-FR" sz="2800" b="1" dirty="0">
                <a:latin typeface="Times New Roman"/>
                <a:ea typeface="Calibri"/>
                <a:cs typeface="Arial"/>
              </a:rPr>
              <a:t>épidémiologiques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Absence de vaccination ou de rappel de plus de 10 ans.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Notion de lésion même minime.</a:t>
            </a:r>
            <a:endParaRPr lang="fr-FR" sz="2400" dirty="0">
              <a:latin typeface="Calibri"/>
              <a:ea typeface="Calibri"/>
              <a:cs typeface="Arial"/>
            </a:endParaRPr>
          </a:p>
          <a:p>
            <a:pPr marL="0" lvl="0" indent="0">
              <a:lnSpc>
                <a:spcPct val="150000"/>
              </a:lnSpc>
              <a:spcAft>
                <a:spcPts val="0"/>
              </a:spcAft>
              <a:buNone/>
            </a:pPr>
            <a:r>
              <a:rPr lang="fr-FR" sz="2800" b="1" dirty="0">
                <a:latin typeface="Times New Roman"/>
                <a:ea typeface="Calibri"/>
                <a:cs typeface="Arial"/>
              </a:rPr>
              <a:t>Eléments cliniques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Trismus, attitude en opisthotonos, recrudescences paroxystiques.</a:t>
            </a:r>
            <a:endParaRPr lang="fr-FR" sz="2400" dirty="0">
              <a:latin typeface="Calibri"/>
              <a:ea typeface="Calibri"/>
              <a:cs typeface="Arial"/>
            </a:endParaRPr>
          </a:p>
          <a:p>
            <a:pPr marL="0" lvl="0" indent="0">
              <a:lnSpc>
                <a:spcPct val="150000"/>
              </a:lnSpc>
              <a:spcAft>
                <a:spcPts val="1000"/>
              </a:spcAft>
              <a:buNone/>
            </a:pPr>
            <a:r>
              <a:rPr lang="fr-FR" sz="2800" b="1" dirty="0">
                <a:latin typeface="Times New Roman"/>
                <a:ea typeface="Calibri"/>
                <a:cs typeface="Arial"/>
              </a:rPr>
              <a:t>Eléments paracliniques : </a:t>
            </a:r>
            <a:r>
              <a:rPr lang="fr-FR" sz="2800" dirty="0">
                <a:latin typeface="Times New Roman"/>
                <a:ea typeface="Calibri"/>
                <a:cs typeface="Arial"/>
              </a:rPr>
              <a:t>aucun examen paraclinique n’est nécessaire pour poser le diagnostic.</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28765299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88640"/>
            <a:ext cx="8229600" cy="1143000"/>
          </a:xfrm>
        </p:spPr>
        <p:txBody>
          <a:bodyPr/>
          <a:lstStyle/>
          <a:p>
            <a:r>
              <a:rPr lang="fr-FR" dirty="0" smtClean="0"/>
              <a:t>Diagnostic différentiel </a:t>
            </a:r>
            <a:endParaRPr lang="fr-FR" dirty="0"/>
          </a:p>
        </p:txBody>
      </p:sp>
      <p:sp>
        <p:nvSpPr>
          <p:cNvPr id="3" name="Espace réservé du contenu 2"/>
          <p:cNvSpPr>
            <a:spLocks noGrp="1"/>
          </p:cNvSpPr>
          <p:nvPr>
            <p:ph idx="1"/>
          </p:nvPr>
        </p:nvSpPr>
        <p:spPr/>
        <p:txBody>
          <a:bodyPr/>
          <a:lstStyle/>
          <a:p>
            <a:pPr marL="342900" lvl="0" indent="-342900">
              <a:lnSpc>
                <a:spcPct val="150000"/>
              </a:lnSpc>
              <a:buFont typeface="Times New Roman"/>
              <a:buChar char="-"/>
            </a:pPr>
            <a:r>
              <a:rPr lang="fr-FR" sz="2800" b="1" dirty="0">
                <a:latin typeface="Times New Roman"/>
                <a:ea typeface="Calibri"/>
                <a:cs typeface="Arial"/>
              </a:rPr>
              <a:t>Devant un trismus : </a:t>
            </a:r>
            <a:r>
              <a:rPr lang="fr-FR" sz="2800" dirty="0">
                <a:latin typeface="Times New Roman"/>
                <a:ea typeface="Calibri"/>
                <a:cs typeface="Arial"/>
              </a:rPr>
              <a:t>infection de la cavité buccale, arthrite temporo-maxillaire, AVC, cause toxique (neuroleptiques), psychique (choc émotionnel). </a:t>
            </a:r>
            <a:endParaRPr lang="fr-FR" sz="2400" dirty="0">
              <a:latin typeface="Calibri"/>
              <a:ea typeface="Calibri"/>
              <a:cs typeface="Arial"/>
            </a:endParaRPr>
          </a:p>
          <a:p>
            <a:pPr marL="342900" lvl="0" indent="-342900">
              <a:lnSpc>
                <a:spcPct val="150000"/>
              </a:lnSpc>
              <a:spcAft>
                <a:spcPts val="1000"/>
              </a:spcAft>
              <a:buFont typeface="Times New Roman"/>
              <a:buChar char="-"/>
            </a:pPr>
            <a:r>
              <a:rPr lang="fr-FR" sz="2800" b="1" dirty="0">
                <a:latin typeface="Times New Roman"/>
                <a:ea typeface="Calibri"/>
                <a:cs typeface="Arial"/>
              </a:rPr>
              <a:t>Devant les contractures avec spasmes : </a:t>
            </a:r>
            <a:r>
              <a:rPr lang="fr-FR" sz="2800" dirty="0">
                <a:latin typeface="Times New Roman"/>
                <a:ea typeface="Calibri"/>
                <a:cs typeface="Arial"/>
              </a:rPr>
              <a:t>état de mal épileptique, alcalose hypocalcique, état d’hystérie (DNV).</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6354967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0"/>
            <a:ext cx="8229600" cy="782960"/>
          </a:xfrm>
        </p:spPr>
        <p:txBody>
          <a:bodyPr>
            <a:normAutofit fontScale="90000"/>
          </a:bodyPr>
          <a:lstStyle/>
          <a:p>
            <a:r>
              <a:rPr lang="fr-FR" dirty="0" smtClean="0"/>
              <a:t>Traitement </a:t>
            </a:r>
            <a:endParaRPr lang="fr-FR" dirty="0"/>
          </a:p>
        </p:txBody>
      </p:sp>
      <p:sp>
        <p:nvSpPr>
          <p:cNvPr id="3" name="Espace réservé du contenu 2"/>
          <p:cNvSpPr>
            <a:spLocks noGrp="1"/>
          </p:cNvSpPr>
          <p:nvPr>
            <p:ph idx="1"/>
          </p:nvPr>
        </p:nvSpPr>
        <p:spPr>
          <a:xfrm>
            <a:off x="467544" y="402223"/>
            <a:ext cx="8229600" cy="6480720"/>
          </a:xfrm>
        </p:spPr>
        <p:txBody>
          <a:bodyPr>
            <a:normAutofit fontScale="70000" lnSpcReduction="20000"/>
          </a:bodyPr>
          <a:lstStyle/>
          <a:p>
            <a:pPr marL="0" lvl="0" indent="0">
              <a:lnSpc>
                <a:spcPct val="150000"/>
              </a:lnSpc>
              <a:buNone/>
            </a:pPr>
            <a:endParaRPr lang="fr-FR" sz="2400" dirty="0">
              <a:latin typeface="Calibri"/>
              <a:ea typeface="Calibri"/>
              <a:cs typeface="Arial"/>
            </a:endParaRPr>
          </a:p>
          <a:p>
            <a:pPr marL="457200">
              <a:lnSpc>
                <a:spcPct val="150000"/>
              </a:lnSpc>
              <a:spcAft>
                <a:spcPts val="0"/>
              </a:spcAft>
            </a:pPr>
            <a:r>
              <a:rPr lang="fr-FR" sz="2800" dirty="0">
                <a:latin typeface="Times New Roman"/>
                <a:ea typeface="Calibri"/>
                <a:cs typeface="Arial"/>
              </a:rPr>
              <a:t>Urgence médicale dont la prise en charge doit se fait en unité de soins intensifs dès que le diagnostic de tétanos est évoqué.</a:t>
            </a:r>
            <a:endParaRPr lang="fr-FR" sz="2400" dirty="0">
              <a:latin typeface="Calibri"/>
              <a:ea typeface="Calibri"/>
              <a:cs typeface="Arial"/>
            </a:endParaRPr>
          </a:p>
          <a:p>
            <a:pPr marL="342900" lvl="0" indent="-342900">
              <a:lnSpc>
                <a:spcPct val="150000"/>
              </a:lnSpc>
              <a:spcAft>
                <a:spcPts val="0"/>
              </a:spcAft>
              <a:buFont typeface="+mj-lt"/>
              <a:buAutoNum type="arabicPeriod"/>
            </a:pPr>
            <a:r>
              <a:rPr lang="fr-FR" sz="2800" b="1" dirty="0">
                <a:latin typeface="Times New Roman"/>
                <a:ea typeface="Calibri"/>
                <a:cs typeface="Arial"/>
              </a:rPr>
              <a:t>Curatif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Traitement spécifique </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b="1" dirty="0">
                <a:latin typeface="Times New Roman"/>
                <a:ea typeface="Calibri"/>
                <a:cs typeface="Arial"/>
              </a:rPr>
              <a:t>Sérothérapie : </a:t>
            </a:r>
            <a:r>
              <a:rPr lang="fr-FR" sz="2800" dirty="0">
                <a:latin typeface="Times New Roman"/>
                <a:ea typeface="Calibri"/>
                <a:cs typeface="Arial"/>
              </a:rPr>
              <a:t>neutralise la toxine encore circulante. </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b="1" dirty="0">
                <a:latin typeface="Times New Roman"/>
                <a:ea typeface="Calibri"/>
                <a:cs typeface="Arial"/>
              </a:rPr>
              <a:t>Antibiothérapie : </a:t>
            </a:r>
            <a:r>
              <a:rPr lang="fr-FR" sz="2800" dirty="0">
                <a:latin typeface="Times New Roman"/>
                <a:ea typeface="Calibri"/>
                <a:cs typeface="Arial"/>
              </a:rPr>
              <a:t>détruit les bacilles tétaniques persistants au niveau de la porte d’entrée, arrêtant ainsi la production de toxine, elle doit être associée à la sérothérapie. Repose sur la pénicilline G par voie général ou le métronidazole en cas de contre-indication à la pénicilline.</a:t>
            </a:r>
            <a:r>
              <a:rPr lang="fr-FR" sz="2800" b="1" dirty="0">
                <a:latin typeface="Times New Roman"/>
                <a:ea typeface="Calibri"/>
                <a:cs typeface="Arial"/>
              </a:rPr>
              <a:t> </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b="1" dirty="0">
                <a:latin typeface="Times New Roman"/>
                <a:ea typeface="Calibri"/>
                <a:cs typeface="Arial"/>
              </a:rPr>
              <a:t>Vaccination antitétanique : </a:t>
            </a:r>
            <a:r>
              <a:rPr lang="fr-FR" sz="2800" dirty="0">
                <a:latin typeface="Times New Roman"/>
                <a:ea typeface="Calibri"/>
                <a:cs typeface="Arial"/>
              </a:rPr>
              <a:t>dès les premiers jours en s/c,</a:t>
            </a:r>
            <a:r>
              <a:rPr lang="fr-FR" sz="2800" b="1" dirty="0">
                <a:latin typeface="Times New Roman"/>
                <a:ea typeface="Calibri"/>
                <a:cs typeface="Arial"/>
              </a:rPr>
              <a:t> </a:t>
            </a:r>
            <a:r>
              <a:rPr lang="fr-FR" sz="2800" dirty="0">
                <a:latin typeface="Times New Roman"/>
                <a:ea typeface="Calibri"/>
                <a:cs typeface="Arial"/>
              </a:rPr>
              <a:t>doit être systématique pour prévenir les récidives car le tétanos n’est pas immunisant.</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b="1" dirty="0">
                <a:latin typeface="Times New Roman"/>
                <a:ea typeface="Calibri"/>
                <a:cs typeface="Arial"/>
              </a:rPr>
              <a:t>Traitement de la porte d’entrée : </a:t>
            </a:r>
            <a:r>
              <a:rPr lang="fr-FR" sz="2800" dirty="0">
                <a:latin typeface="Times New Roman"/>
                <a:ea typeface="Calibri"/>
                <a:cs typeface="Arial"/>
              </a:rPr>
              <a:t>désinfection, parage. Proscription de tout pansement occlusif.</a:t>
            </a:r>
            <a:endParaRPr lang="fr-FR" sz="2400" dirty="0">
              <a:latin typeface="Calibri"/>
              <a:ea typeface="Calibri"/>
              <a:cs typeface="Arial"/>
            </a:endParaRPr>
          </a:p>
          <a:p>
            <a:pPr marL="0" lvl="0" indent="0">
              <a:lnSpc>
                <a:spcPct val="150000"/>
              </a:lnSpc>
              <a:spcAft>
                <a:spcPts val="0"/>
              </a:spcAft>
              <a:buNone/>
            </a:pP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7882258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88640"/>
            <a:ext cx="8229600" cy="782960"/>
          </a:xfrm>
        </p:spPr>
        <p:txBody>
          <a:bodyPr>
            <a:normAutofit fontScale="90000"/>
          </a:bodyPr>
          <a:lstStyle/>
          <a:p>
            <a:r>
              <a:rPr lang="fr-FR" dirty="0" smtClean="0"/>
              <a:t>Traitement </a:t>
            </a:r>
            <a:endParaRPr lang="fr-FR" dirty="0"/>
          </a:p>
        </p:txBody>
      </p:sp>
      <p:sp>
        <p:nvSpPr>
          <p:cNvPr id="3" name="Espace réservé du contenu 2"/>
          <p:cNvSpPr>
            <a:spLocks noGrp="1"/>
          </p:cNvSpPr>
          <p:nvPr>
            <p:ph idx="1"/>
          </p:nvPr>
        </p:nvSpPr>
        <p:spPr>
          <a:xfrm>
            <a:off x="457200" y="1052736"/>
            <a:ext cx="8229600" cy="5544616"/>
          </a:xfrm>
        </p:spPr>
        <p:txBody>
          <a:bodyPr>
            <a:normAutofit fontScale="85000" lnSpcReduction="20000"/>
          </a:bodyPr>
          <a:lstStyle/>
          <a:p>
            <a:pPr marL="0" lvl="0" indent="0">
              <a:lnSpc>
                <a:spcPct val="150000"/>
              </a:lnSpc>
              <a:buNone/>
            </a:pP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smtClean="0">
                <a:latin typeface="Times New Roman"/>
                <a:ea typeface="Calibri"/>
                <a:cs typeface="Arial"/>
              </a:rPr>
              <a:t>Traitement </a:t>
            </a:r>
            <a:r>
              <a:rPr lang="fr-FR" sz="2800" b="1" dirty="0">
                <a:latin typeface="Times New Roman"/>
                <a:ea typeface="Calibri"/>
                <a:cs typeface="Arial"/>
              </a:rPr>
              <a:t>symptomatique : </a:t>
            </a:r>
            <a:r>
              <a:rPr lang="fr-FR" sz="2800" dirty="0">
                <a:latin typeface="Times New Roman"/>
                <a:ea typeface="Calibri"/>
                <a:cs typeface="Arial"/>
              </a:rPr>
              <a:t>il constitue l’essentiel du traitement.</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dirty="0">
                <a:latin typeface="Times New Roman"/>
                <a:ea typeface="Calibri"/>
                <a:cs typeface="Arial"/>
              </a:rPr>
              <a:t>Repos et isolement en chambre sombre et à l’abri du bruit.</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dirty="0">
                <a:latin typeface="Times New Roman"/>
                <a:ea typeface="Calibri"/>
                <a:cs typeface="Arial"/>
              </a:rPr>
              <a:t>Traitement des contractures par sédatifs et myorelaxants.</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dirty="0">
                <a:latin typeface="Times New Roman"/>
                <a:ea typeface="Calibri"/>
                <a:cs typeface="Arial"/>
              </a:rPr>
              <a:t>Désobstructions des voies aériennes supérieures.</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dirty="0">
                <a:latin typeface="Times New Roman"/>
                <a:ea typeface="Calibri"/>
                <a:cs typeface="Arial"/>
              </a:rPr>
              <a:t>Contrôle respiratoire par ventilation assistée précoce.</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dirty="0">
                <a:latin typeface="Times New Roman"/>
                <a:ea typeface="Calibri"/>
                <a:cs typeface="Arial"/>
              </a:rPr>
              <a:t>Apport hydro-électrolytique et nutritionnel.</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dirty="0">
                <a:latin typeface="Times New Roman"/>
                <a:ea typeface="Calibri"/>
                <a:cs typeface="Arial"/>
              </a:rPr>
              <a:t>Prophylaxie des complications du décubitus : anticoagulation préventive, nursing, kinésithérapie de mobilisation.</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17649637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88640"/>
            <a:ext cx="8229600" cy="1143000"/>
          </a:xfrm>
        </p:spPr>
        <p:txBody>
          <a:bodyPr/>
          <a:lstStyle/>
          <a:p>
            <a:r>
              <a:rPr lang="fr-FR" dirty="0" smtClean="0"/>
              <a:t>Traitement </a:t>
            </a:r>
            <a:endParaRPr lang="fr-FR" dirty="0"/>
          </a:p>
        </p:txBody>
      </p:sp>
      <p:sp>
        <p:nvSpPr>
          <p:cNvPr id="3" name="Espace réservé du contenu 2"/>
          <p:cNvSpPr>
            <a:spLocks noGrp="1"/>
          </p:cNvSpPr>
          <p:nvPr>
            <p:ph idx="1"/>
          </p:nvPr>
        </p:nvSpPr>
        <p:spPr>
          <a:xfrm>
            <a:off x="457200" y="1412776"/>
            <a:ext cx="8229600" cy="4911824"/>
          </a:xfrm>
        </p:spPr>
        <p:txBody>
          <a:bodyPr>
            <a:normAutofit fontScale="62500" lnSpcReduction="20000"/>
          </a:bodyPr>
          <a:lstStyle/>
          <a:p>
            <a:pPr marL="0" lvl="0" indent="0">
              <a:lnSpc>
                <a:spcPct val="150000"/>
              </a:lnSpc>
              <a:spcAft>
                <a:spcPts val="0"/>
              </a:spcAft>
              <a:buNone/>
            </a:pPr>
            <a:r>
              <a:rPr lang="fr-FR" sz="2800" b="1" dirty="0" smtClean="0">
                <a:latin typeface="Times New Roman"/>
                <a:ea typeface="Calibri"/>
                <a:cs typeface="Arial"/>
              </a:rPr>
              <a:t>Prophylactique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Prévention collective : </a:t>
            </a:r>
            <a:r>
              <a:rPr lang="fr-FR" sz="2800" dirty="0">
                <a:latin typeface="Times New Roman"/>
                <a:ea typeface="Calibri"/>
                <a:cs typeface="Arial"/>
              </a:rPr>
              <a:t>maladie à déclaration obligatoire (N°20), non transmissible, ne nécessite pas d’isolement.</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b="1" dirty="0">
                <a:latin typeface="Times New Roman"/>
                <a:ea typeface="Calibri"/>
                <a:cs typeface="Arial"/>
              </a:rPr>
              <a:t>Prévention individuelle</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b="1" dirty="0">
                <a:latin typeface="Times New Roman"/>
                <a:ea typeface="Calibri"/>
                <a:cs typeface="Arial"/>
              </a:rPr>
              <a:t>Prophylaxie en cas de plaie :</a:t>
            </a:r>
            <a:r>
              <a:rPr lang="fr-FR" sz="2800" dirty="0">
                <a:latin typeface="Times New Roman"/>
                <a:ea typeface="Calibri"/>
                <a:cs typeface="Arial"/>
              </a:rPr>
              <a:t> mise à plat, nettoyage et désinfection de la plaie et sérothérapie en fonction de la situation vaccinale et le risque de contamination de la plaie.</a:t>
            </a:r>
            <a:endParaRPr lang="fr-FR" sz="2400" dirty="0">
              <a:latin typeface="Calibri"/>
              <a:ea typeface="Calibri"/>
              <a:cs typeface="Arial"/>
            </a:endParaRPr>
          </a:p>
          <a:p>
            <a:pPr marL="342900" lvl="0" indent="-342900">
              <a:lnSpc>
                <a:spcPct val="150000"/>
              </a:lnSpc>
              <a:spcAft>
                <a:spcPts val="0"/>
              </a:spcAft>
              <a:buFont typeface="Courier New"/>
              <a:buChar char="o"/>
            </a:pPr>
            <a:r>
              <a:rPr lang="fr-FR" sz="2800" b="1" dirty="0">
                <a:latin typeface="Times New Roman"/>
                <a:ea typeface="Calibri"/>
                <a:cs typeface="Arial"/>
              </a:rPr>
              <a:t>Vaccination : </a:t>
            </a:r>
            <a:endParaRPr lang="fr-FR" sz="2400" dirty="0">
              <a:latin typeface="Calibri"/>
              <a:ea typeface="Calibri"/>
              <a:cs typeface="Arial"/>
            </a:endParaRPr>
          </a:p>
          <a:p>
            <a:pPr marL="342900" lvl="0" indent="-342900">
              <a:lnSpc>
                <a:spcPct val="150000"/>
              </a:lnSpc>
              <a:spcAft>
                <a:spcPts val="0"/>
              </a:spcAft>
              <a:buFont typeface="Wingdings"/>
              <a:buChar char=""/>
            </a:pPr>
            <a:r>
              <a:rPr lang="fr-FR" sz="2800" b="1" dirty="0">
                <a:latin typeface="Times New Roman"/>
                <a:ea typeface="Calibri"/>
                <a:cs typeface="Arial"/>
              </a:rPr>
              <a:t>Enfant :</a:t>
            </a:r>
            <a:r>
              <a:rPr lang="fr-FR" sz="2800" dirty="0">
                <a:latin typeface="Times New Roman"/>
                <a:ea typeface="Calibri"/>
                <a:cs typeface="Arial"/>
              </a:rPr>
              <a:t> une injection en IM ou S/C à </a:t>
            </a:r>
            <a:r>
              <a:rPr lang="fr-FR" sz="2800" dirty="0" smtClean="0">
                <a:latin typeface="Times New Roman"/>
                <a:ea typeface="Calibri"/>
                <a:cs typeface="Arial"/>
              </a:rPr>
              <a:t>l'âge </a:t>
            </a:r>
            <a:r>
              <a:rPr lang="fr-FR" sz="2800" dirty="0">
                <a:latin typeface="Times New Roman"/>
                <a:ea typeface="Calibri"/>
                <a:cs typeface="Arial"/>
              </a:rPr>
              <a:t>de 2 mois- 4 mois- ; rappels à : 12 mois, 6 ans, 11-13 ans, 16-18 ans puis tous les 10 ans </a:t>
            </a:r>
            <a:endParaRPr lang="fr-FR" sz="2400" dirty="0">
              <a:latin typeface="Calibri"/>
              <a:ea typeface="Calibri"/>
              <a:cs typeface="Arial"/>
            </a:endParaRPr>
          </a:p>
          <a:p>
            <a:pPr marL="342900" lvl="0" indent="-342900">
              <a:lnSpc>
                <a:spcPct val="150000"/>
              </a:lnSpc>
              <a:spcAft>
                <a:spcPts val="1000"/>
              </a:spcAft>
              <a:buFont typeface="Wingdings"/>
              <a:buChar char=""/>
            </a:pPr>
            <a:r>
              <a:rPr lang="fr-FR" sz="2800" b="1" dirty="0">
                <a:latin typeface="Times New Roman"/>
                <a:ea typeface="Calibri"/>
                <a:cs typeface="Arial"/>
              </a:rPr>
              <a:t>Adulte : </a:t>
            </a:r>
            <a:r>
              <a:rPr lang="fr-FR" sz="2800" dirty="0">
                <a:latin typeface="Times New Roman"/>
                <a:ea typeface="Calibri"/>
                <a:cs typeface="Arial"/>
              </a:rPr>
              <a:t>non vacciné ou n’ayant pas fait de rappels. Deux injections en IM ou s/c à un mois d’intervalle, un rappel un an après puis tous les 10 ans.</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8502960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lstStyle/>
          <a:p>
            <a:r>
              <a:rPr lang="fr-FR" dirty="0" smtClean="0"/>
              <a:t>Take home messages </a:t>
            </a:r>
            <a:endParaRPr lang="fr-FR" dirty="0"/>
          </a:p>
        </p:txBody>
      </p:sp>
      <p:sp>
        <p:nvSpPr>
          <p:cNvPr id="3" name="Espace réservé du contenu 2"/>
          <p:cNvSpPr>
            <a:spLocks noGrp="1"/>
          </p:cNvSpPr>
          <p:nvPr>
            <p:ph idx="1"/>
          </p:nvPr>
        </p:nvSpPr>
        <p:spPr>
          <a:xfrm>
            <a:off x="457200" y="1484784"/>
            <a:ext cx="8229600" cy="5184576"/>
          </a:xfrm>
        </p:spPr>
        <p:txBody>
          <a:bodyPr>
            <a:normAutofit fontScale="62500" lnSpcReduction="20000"/>
          </a:bodyPr>
          <a:lstStyle/>
          <a:p>
            <a:pPr marL="342900" lvl="0" indent="-342900">
              <a:lnSpc>
                <a:spcPct val="150000"/>
              </a:lnSpc>
              <a:buFont typeface="Times New Roman"/>
              <a:buChar char="-"/>
            </a:pPr>
            <a:r>
              <a:rPr lang="fr-FR" sz="2800" dirty="0">
                <a:latin typeface="Times New Roman"/>
                <a:ea typeface="Calibri"/>
                <a:cs typeface="Arial"/>
              </a:rPr>
              <a:t>Le tétanos est une toxi-infection non contagieuse, due au « clostridium </a:t>
            </a:r>
            <a:r>
              <a:rPr lang="fr-FR" sz="2800" dirty="0" err="1">
                <a:latin typeface="Times New Roman"/>
                <a:ea typeface="Calibri"/>
                <a:cs typeface="Arial"/>
              </a:rPr>
              <a:t>tétani</a:t>
            </a:r>
            <a:r>
              <a:rPr lang="fr-FR" sz="2800" dirty="0">
                <a:latin typeface="Times New Roman"/>
                <a:ea typeface="Calibri"/>
                <a:cs typeface="Arial"/>
              </a:rPr>
              <a:t>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 Le C. </a:t>
            </a:r>
            <a:r>
              <a:rPr lang="fr-FR" sz="2800" dirty="0" err="1">
                <a:latin typeface="Times New Roman"/>
                <a:ea typeface="Calibri"/>
                <a:cs typeface="Arial"/>
              </a:rPr>
              <a:t>tétani</a:t>
            </a:r>
            <a:r>
              <a:rPr lang="fr-FR" sz="2800" dirty="0">
                <a:latin typeface="Times New Roman"/>
                <a:ea typeface="Calibri"/>
                <a:cs typeface="Arial"/>
              </a:rPr>
              <a:t> sécrète une exotoxine « </a:t>
            </a:r>
            <a:r>
              <a:rPr lang="fr-FR" sz="2800" dirty="0" err="1">
                <a:latin typeface="Times New Roman"/>
                <a:ea typeface="Calibri"/>
                <a:cs typeface="Arial"/>
              </a:rPr>
              <a:t>tétanospasmine</a:t>
            </a:r>
            <a:r>
              <a:rPr lang="fr-FR" sz="2800" dirty="0">
                <a:latin typeface="Times New Roman"/>
                <a:ea typeface="Calibri"/>
                <a:cs typeface="Arial"/>
              </a:rPr>
              <a:t> » qui est l’une des toxines les plus puissantes</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 C’est une maladie à déclaration obligatoire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 Un problème de santé publique dans les pays en voie de développement par sa fréquence et sa gravité</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 Elle est mortelle malgré le développement des techniques de réanimation modernes et la généralisation de la vaccination</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 Maladie non immunisante d’où l’intérêt de la vaccination </a:t>
            </a:r>
            <a:endParaRPr lang="fr-FR" sz="2400" dirty="0">
              <a:latin typeface="Calibri"/>
              <a:ea typeface="Calibri"/>
              <a:cs typeface="Arial"/>
            </a:endParaRPr>
          </a:p>
          <a:p>
            <a:pPr marL="342900" lvl="0" indent="-342900">
              <a:lnSpc>
                <a:spcPct val="150000"/>
              </a:lnSpc>
              <a:spcAft>
                <a:spcPts val="0"/>
              </a:spcAft>
              <a:buFont typeface="Times New Roman"/>
              <a:buChar char="-"/>
            </a:pPr>
            <a:r>
              <a:rPr lang="fr-FR" sz="2800" dirty="0">
                <a:latin typeface="Times New Roman"/>
                <a:ea typeface="Calibri"/>
                <a:cs typeface="Arial"/>
              </a:rPr>
              <a:t>- La prise en charge se fait en unité de soins intensifs</a:t>
            </a:r>
            <a:endParaRPr lang="fr-FR" sz="2400" dirty="0">
              <a:latin typeface="Calibri"/>
              <a:ea typeface="Calibri"/>
              <a:cs typeface="Arial"/>
            </a:endParaRPr>
          </a:p>
          <a:p>
            <a:pPr marL="342900" lvl="0" indent="-342900">
              <a:lnSpc>
                <a:spcPct val="150000"/>
              </a:lnSpc>
              <a:spcAft>
                <a:spcPts val="1000"/>
              </a:spcAft>
              <a:buFont typeface="Times New Roman"/>
              <a:buChar char="-"/>
            </a:pPr>
            <a:r>
              <a:rPr lang="fr-FR" sz="2800" dirty="0">
                <a:latin typeface="Times New Roman"/>
                <a:ea typeface="Calibri"/>
                <a:cs typeface="Arial"/>
              </a:rPr>
              <a:t>- La prévention repose essentiellement sur la désinfection de toutes les plaies et la vaccination. </a:t>
            </a:r>
            <a:endParaRPr lang="fr-FR" sz="2400" dirty="0">
              <a:latin typeface="Calibri"/>
              <a:ea typeface="Calibri"/>
              <a:cs typeface="Arial"/>
            </a:endParaRPr>
          </a:p>
          <a:p>
            <a:endParaRPr lang="fr-FR" dirty="0"/>
          </a:p>
        </p:txBody>
      </p:sp>
    </p:spTree>
    <p:extLst>
      <p:ext uri="{BB962C8B-B14F-4D97-AF65-F5344CB8AC3E}">
        <p14:creationId xmlns:p14="http://schemas.microsoft.com/office/powerpoint/2010/main" val="436685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1047750"/>
            <a:ext cx="4762500"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79753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ébit">
  <a:themeElements>
    <a:clrScheme name="Débit">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ébit">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ébit">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30</TotalTime>
  <Words>290</Words>
  <Application>Microsoft Office PowerPoint</Application>
  <PresentationFormat>Affichage à l'écran (4:3)</PresentationFormat>
  <Paragraphs>98</Paragraphs>
  <Slides>19</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Arial</vt:lpstr>
      <vt:lpstr>Calibri</vt:lpstr>
      <vt:lpstr>Constantia</vt:lpstr>
      <vt:lpstr>Courier New</vt:lpstr>
      <vt:lpstr>Times New Roman</vt:lpstr>
      <vt:lpstr>Wingdings</vt:lpstr>
      <vt:lpstr>Wingdings 2</vt:lpstr>
      <vt:lpstr>Débit</vt:lpstr>
      <vt:lpstr>République Algérienne Démocratique Et Populaire Ministère De L’enseignement Supérieur Et De La Recherche Scientifique Module Des Maladies Infectieuses  Année Universitaire 2025/2026                TETANOS</vt:lpstr>
      <vt:lpstr>Introduction </vt:lpstr>
      <vt:lpstr>Épidémiologie </vt:lpstr>
      <vt:lpstr>Épidémiologie </vt:lpstr>
      <vt:lpstr>Épidémiologie </vt:lpstr>
      <vt:lpstr>Etude clinique </vt:lpstr>
      <vt:lpstr>Trismus </vt:lpstr>
      <vt:lpstr>Etude clinique </vt:lpstr>
      <vt:lpstr>Opisthotonos </vt:lpstr>
      <vt:lpstr>Etude clinique </vt:lpstr>
      <vt:lpstr>Etude clinique </vt:lpstr>
      <vt:lpstr>Etude clinique </vt:lpstr>
      <vt:lpstr>Diagnostic positif </vt:lpstr>
      <vt:lpstr>Diagnostic différentiel </vt:lpstr>
      <vt:lpstr>Traitement </vt:lpstr>
      <vt:lpstr>Traitement </vt:lpstr>
      <vt:lpstr>Traitement </vt:lpstr>
      <vt:lpstr>Take home messages </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République Algérienne Démocratique Et Populaire Ministère De L’enseignement Supérieur Et De La Recherche Scientifique Institut National De Formation Supérieure Paramédicale De Constantine Module Des Maladies Infectieuses  Année Universitaire 2020-2021               TETANOS</dc:title>
  <dc:creator>admin</dc:creator>
  <cp:lastModifiedBy>Compte Microsoft</cp:lastModifiedBy>
  <cp:revision>24</cp:revision>
  <dcterms:created xsi:type="dcterms:W3CDTF">2021-03-02T20:11:13Z</dcterms:created>
  <dcterms:modified xsi:type="dcterms:W3CDTF">2026-06-04T14:59:02Z</dcterms:modified>
</cp:coreProperties>
</file>