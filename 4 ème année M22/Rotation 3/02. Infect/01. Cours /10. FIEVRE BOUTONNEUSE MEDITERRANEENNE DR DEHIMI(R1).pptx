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fr-FR" smtClean="0"/>
              <a:t>Modifiez le style du titre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Modifiez le style des sous-titres du masque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11/5/2022</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‹N°›</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idx="1"/>
          </p:nvPr>
        </p:nvSpPr>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11/5/2022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fr-FR" smtClean="0"/>
              <a:t>Modifiez le style du titre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11/5/2022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11/5/2022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smtClean="0"/>
              <a:t>Modifiez le style du titre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11/5/2022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11/5/2022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11/5/2022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fr-FR" smtClean="0"/>
              <a:t>Modifiez le style du titre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Date Placeholder 4"/>
          <p:cNvSpPr>
            <a:spLocks noGrp="1"/>
          </p:cNvSpPr>
          <p:nvPr>
            <p:ph type="dt" sz="half" idx="10"/>
          </p:nvPr>
        </p:nvSpPr>
        <p:spPr/>
        <p:txBody>
          <a:bodyPr/>
          <a:lstStyle/>
          <a:p>
            <a:fld id="{B61BEF0D-F0BB-DE4B-95CE-6DB70DBA9567}" type="datetimeFigureOut">
              <a:rPr lang="en-US" dirty="0"/>
              <a:pPr/>
              <a:t>11/5/2022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fr-FR" smtClean="0"/>
              <a:t>Modifiez le style du titre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Date Placeholder 4"/>
          <p:cNvSpPr>
            <a:spLocks noGrp="1"/>
          </p:cNvSpPr>
          <p:nvPr>
            <p:ph type="dt" sz="half" idx="10"/>
          </p:nvPr>
        </p:nvSpPr>
        <p:spPr/>
        <p:txBody>
          <a:bodyPr/>
          <a:lstStyle/>
          <a:p>
            <a:fld id="{B61BEF0D-F0BB-DE4B-95CE-6DB70DBA9567}" type="datetimeFigureOut">
              <a:rPr lang="en-US" dirty="0"/>
              <a:pPr/>
              <a:t>11/5/2022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Date Placeholder 4"/>
          <p:cNvSpPr>
            <a:spLocks noGrp="1"/>
          </p:cNvSpPr>
          <p:nvPr>
            <p:ph type="dt" sz="half" idx="10"/>
          </p:nvPr>
        </p:nvSpPr>
        <p:spPr/>
        <p:txBody>
          <a:bodyPr/>
          <a:lstStyle/>
          <a:p>
            <a:fld id="{B61BEF0D-F0BB-DE4B-95CE-6DB70DBA9567}" type="datetimeFigureOut">
              <a:rPr lang="en-US" dirty="0"/>
              <a:pPr/>
              <a:t>11/5/2022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fr-FR" smtClean="0"/>
              <a:t>Modifiez le style du titre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11/5/2022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fr-FR" smtClean="0"/>
              <a:t>Modifiez le style du titre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smtClean="0"/>
              <a:t>Modifiez les styles du texte du masque</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11/5/2022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fr-FR" smtClean="0"/>
              <a:t>Modifiez le style du titre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11/5/2022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fr-FR" smtClean="0"/>
              <a:t>Modifiez le style du titre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11/5/2022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fr-FR" smtClean="0"/>
              <a:t>Modifiez le style du titre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dirty="0"/>
              <a:pPr/>
              <a:t>11/5/2022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fr-FR" smtClean="0"/>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fr-FR" smtClean="0"/>
              <a:t>Modifiez le style du titre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fr-FR" smtClean="0"/>
              <a:t>Modifiez le style du titre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11/5/2022</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‹N°›</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s://fr.wikipedia.org/wiki/Fi%C3%A8vre_boutonneuse_m%C3%A9diterran%C3%A9enne#cite_note-:0-1" TargetMode="External"/><Relationship Id="rId3" Type="http://schemas.openxmlformats.org/officeDocument/2006/relationships/hyperlink" Target="https://fr.wikipedia.org/wiki/Bact%C3%A9rie" TargetMode="External"/><Relationship Id="rId7" Type="http://schemas.openxmlformats.org/officeDocument/2006/relationships/hyperlink" Target="https://fr.wikipedia.org/wiki/Maladie_%C3%A9mergente" TargetMode="External"/><Relationship Id="rId2" Type="http://schemas.openxmlformats.org/officeDocument/2006/relationships/hyperlink" Target="https://fr.wikipedia.org/wiki/Maladies_vectorielles_%C3%A0_tiques" TargetMode="External"/><Relationship Id="rId1" Type="http://schemas.openxmlformats.org/officeDocument/2006/relationships/slideLayout" Target="../slideLayouts/slideLayout2.xml"/><Relationship Id="rId6" Type="http://schemas.openxmlformats.org/officeDocument/2006/relationships/hyperlink" Target="https://fr.wikipedia.org/wiki/Rhipicephalus_sanguineus" TargetMode="External"/><Relationship Id="rId5" Type="http://schemas.openxmlformats.org/officeDocument/2006/relationships/hyperlink" Target="https://fr.wikipedia.org/wiki/Rickettsia_conorii" TargetMode="External"/><Relationship Id="rId4" Type="http://schemas.openxmlformats.org/officeDocument/2006/relationships/hyperlink" Target="https://fr.wikipedia.org/wiki/Rickettsia" TargetMode="External"/></Relationships>
</file>

<file path=ppt/slides/_rels/slide3.xml.rels><?xml version="1.0" encoding="UTF-8" standalone="yes"?>
<Relationships xmlns="http://schemas.openxmlformats.org/package/2006/relationships"><Relationship Id="rId2" Type="http://schemas.openxmlformats.org/officeDocument/2006/relationships/hyperlink" Target="https://fr.wikipedia.org/wiki/Tunis"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fr.wikipedia.org/wiki/Fi%C3%A8vre_boutonneuse_m%C3%A9diterran%C3%A9enne#cite_note-:3-4"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fr.wikipedia.org/wiki/Fi%C3%A8vre_boutonneuse_m%C3%A9diterran%C3%A9enne#cite_note-:2-3" TargetMode="External"/><Relationship Id="rId2" Type="http://schemas.openxmlformats.org/officeDocument/2006/relationships/hyperlink" Target="https://fr.wikipedia.org/wiki/D%C3%A9ficit_en_glucose-6-phosphate_d%C3%A9shydrog%C3%A9nase"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sz="4000" dirty="0" smtClean="0"/>
              <a:t>FIEVRE BOUTONNEUSE MEDITERRANEENNE </a:t>
            </a:r>
            <a:endParaRPr lang="fr-FR" sz="4000" dirty="0"/>
          </a:p>
        </p:txBody>
      </p:sp>
      <p:sp>
        <p:nvSpPr>
          <p:cNvPr id="3" name="Sous-titre 2"/>
          <p:cNvSpPr>
            <a:spLocks noGrp="1"/>
          </p:cNvSpPr>
          <p:nvPr>
            <p:ph type="subTitle" idx="1"/>
          </p:nvPr>
        </p:nvSpPr>
        <p:spPr/>
        <p:txBody>
          <a:bodyPr>
            <a:normAutofit lnSpcReduction="10000"/>
          </a:bodyPr>
          <a:lstStyle/>
          <a:p>
            <a:r>
              <a:rPr lang="fr-FR" dirty="0" smtClean="0"/>
              <a:t>DR .A.DEHIMI</a:t>
            </a:r>
          </a:p>
          <a:p>
            <a:r>
              <a:rPr lang="fr-FR" dirty="0" smtClean="0"/>
              <a:t>MALADIES INFECTIEUSES</a:t>
            </a:r>
          </a:p>
          <a:p>
            <a:r>
              <a:rPr lang="fr-FR" dirty="0" smtClean="0"/>
              <a:t>CHUC</a:t>
            </a:r>
            <a:endParaRPr lang="fr-FR" dirty="0"/>
          </a:p>
        </p:txBody>
      </p:sp>
    </p:spTree>
    <p:extLst>
      <p:ext uri="{BB962C8B-B14F-4D97-AF65-F5344CB8AC3E}">
        <p14:creationId xmlns:p14="http://schemas.microsoft.com/office/powerpoint/2010/main" val="32203378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INTRODUCTION</a:t>
            </a:r>
            <a:endParaRPr lang="fr-FR" b="1" dirty="0"/>
          </a:p>
        </p:txBody>
      </p:sp>
      <p:sp>
        <p:nvSpPr>
          <p:cNvPr id="3" name="Espace réservé du contenu 2"/>
          <p:cNvSpPr>
            <a:spLocks noGrp="1"/>
          </p:cNvSpPr>
          <p:nvPr>
            <p:ph idx="1"/>
          </p:nvPr>
        </p:nvSpPr>
        <p:spPr/>
        <p:txBody>
          <a:bodyPr>
            <a:normAutofit lnSpcReduction="10000"/>
          </a:bodyPr>
          <a:lstStyle/>
          <a:p>
            <a:r>
              <a:rPr lang="fr-FR" dirty="0"/>
              <a:t>La </a:t>
            </a:r>
            <a:r>
              <a:rPr lang="fr-FR" b="1" dirty="0"/>
              <a:t>fièvre boutonneuse méditerranéenne</a:t>
            </a:r>
            <a:r>
              <a:rPr lang="fr-FR" dirty="0"/>
              <a:t> (</a:t>
            </a:r>
            <a:r>
              <a:rPr lang="fr-FR" b="1" dirty="0"/>
              <a:t>FBM</a:t>
            </a:r>
            <a:r>
              <a:rPr lang="fr-FR" dirty="0"/>
              <a:t>) fait partie des </a:t>
            </a:r>
            <a:r>
              <a:rPr lang="fr-FR" dirty="0">
                <a:hlinkClick r:id="rId2" tooltip="Maladies vectorielles à tiques"/>
              </a:rPr>
              <a:t>maladies vectorielles à tiques</a:t>
            </a:r>
            <a:r>
              <a:rPr lang="fr-FR" dirty="0"/>
              <a:t>. C'est l'infection par une </a:t>
            </a:r>
            <a:r>
              <a:rPr lang="fr-FR" dirty="0">
                <a:hlinkClick r:id="rId3" tooltip="Bactérie"/>
              </a:rPr>
              <a:t>bactérie</a:t>
            </a:r>
            <a:r>
              <a:rPr lang="fr-FR" dirty="0"/>
              <a:t> de la famille des </a:t>
            </a:r>
            <a:r>
              <a:rPr lang="fr-FR" dirty="0">
                <a:hlinkClick r:id="rId4" tooltip="Rickettsia"/>
              </a:rPr>
              <a:t>rickettsies</a:t>
            </a:r>
            <a:r>
              <a:rPr lang="fr-FR" dirty="0"/>
              <a:t> : </a:t>
            </a:r>
            <a:r>
              <a:rPr lang="fr-FR" i="1" dirty="0" err="1">
                <a:hlinkClick r:id="rId5" tooltip="Rickettsia conorii"/>
              </a:rPr>
              <a:t>Rickettsia</a:t>
            </a:r>
            <a:r>
              <a:rPr lang="fr-FR" i="1" dirty="0">
                <a:hlinkClick r:id="rId5" tooltip="Rickettsia conorii"/>
              </a:rPr>
              <a:t> </a:t>
            </a:r>
            <a:r>
              <a:rPr lang="fr-FR" i="1" dirty="0" err="1">
                <a:hlinkClick r:id="rId5" tooltip="Rickettsia conorii"/>
              </a:rPr>
              <a:t>conorii</a:t>
            </a:r>
            <a:r>
              <a:rPr lang="fr-FR" dirty="0"/>
              <a:t> et transmise par la tique du chien </a:t>
            </a:r>
            <a:r>
              <a:rPr lang="fr-FR" i="1" dirty="0" err="1">
                <a:hlinkClick r:id="rId6" tooltip="Rhipicephalus sanguineus"/>
              </a:rPr>
              <a:t>Rhipicephalus</a:t>
            </a:r>
            <a:r>
              <a:rPr lang="fr-FR" i="1" dirty="0">
                <a:hlinkClick r:id="rId6" tooltip="Rhipicephalus sanguineus"/>
              </a:rPr>
              <a:t> </a:t>
            </a:r>
            <a:r>
              <a:rPr lang="fr-FR" i="1" dirty="0" err="1">
                <a:hlinkClick r:id="rId6" tooltip="Rhipicephalus sanguineus"/>
              </a:rPr>
              <a:t>sanguineus</a:t>
            </a:r>
            <a:r>
              <a:rPr lang="fr-FR" dirty="0"/>
              <a:t>.</a:t>
            </a:r>
          </a:p>
          <a:p>
            <a:r>
              <a:rPr lang="fr-FR" dirty="0"/>
              <a:t>Connue sous d'autres noms </a:t>
            </a:r>
            <a:r>
              <a:rPr lang="fr-FR" dirty="0" smtClean="0"/>
              <a:t>(), </a:t>
            </a:r>
            <a:r>
              <a:rPr lang="fr-FR" dirty="0"/>
              <a:t>elle est présente </a:t>
            </a:r>
            <a:r>
              <a:rPr lang="fr-FR" dirty="0" smtClean="0"/>
              <a:t> </a:t>
            </a:r>
            <a:r>
              <a:rPr lang="fr-FR" dirty="0"/>
              <a:t>sur le littoral méditerranéen, où elle sévit surtout en </a:t>
            </a:r>
            <a:r>
              <a:rPr lang="fr-FR" dirty="0" smtClean="0"/>
              <a:t>été( </a:t>
            </a:r>
            <a:r>
              <a:rPr lang="fr-FR" dirty="0" err="1" smtClean="0"/>
              <a:t>Mai-Octobre</a:t>
            </a:r>
            <a:r>
              <a:rPr lang="fr-FR" dirty="0" smtClean="0"/>
              <a:t>). </a:t>
            </a:r>
            <a:r>
              <a:rPr lang="fr-FR" dirty="0"/>
              <a:t>Mais le tourisme et les transports modernes font que des cas peuvent survenir ailleurs (retours de voyage). Elle serait en extension géographique, et de gravité croissante. Elle est considérée comme une </a:t>
            </a:r>
            <a:r>
              <a:rPr lang="fr-FR" dirty="0">
                <a:hlinkClick r:id="rId7" tooltip="Maladie émergente"/>
              </a:rPr>
              <a:t>maladie émergente</a:t>
            </a:r>
            <a:r>
              <a:rPr lang="fr-FR" dirty="0"/>
              <a:t> ou plutôt reémergente</a:t>
            </a:r>
            <a:r>
              <a:rPr lang="fr-FR" baseline="30000" dirty="0">
                <a:hlinkClick r:id="rId8"/>
              </a:rPr>
              <a:t>1</a:t>
            </a:r>
            <a:r>
              <a:rPr lang="fr-FR" dirty="0"/>
              <a:t>.</a:t>
            </a:r>
          </a:p>
          <a:p>
            <a:endParaRPr lang="fr-FR" dirty="0"/>
          </a:p>
        </p:txBody>
      </p:sp>
    </p:spTree>
    <p:extLst>
      <p:ext uri="{BB962C8B-B14F-4D97-AF65-F5344CB8AC3E}">
        <p14:creationId xmlns:p14="http://schemas.microsoft.com/office/powerpoint/2010/main" val="407999268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HISTORIQUE</a:t>
            </a:r>
            <a:endParaRPr lang="fr-FR" b="1" dirty="0"/>
          </a:p>
        </p:txBody>
      </p:sp>
      <p:sp>
        <p:nvSpPr>
          <p:cNvPr id="3" name="Espace réservé du contenu 2"/>
          <p:cNvSpPr>
            <a:spLocks noGrp="1"/>
          </p:cNvSpPr>
          <p:nvPr>
            <p:ph idx="1"/>
          </p:nvPr>
        </p:nvSpPr>
        <p:spPr/>
        <p:txBody>
          <a:bodyPr>
            <a:normAutofit lnSpcReduction="10000"/>
          </a:bodyPr>
          <a:lstStyle/>
          <a:p>
            <a:r>
              <a:rPr lang="fr-FR" dirty="0"/>
              <a:t>En 1910, </a:t>
            </a:r>
            <a:r>
              <a:rPr lang="fr-FR" dirty="0" err="1"/>
              <a:t>Conor</a:t>
            </a:r>
            <a:r>
              <a:rPr lang="fr-FR" dirty="0"/>
              <a:t> et </a:t>
            </a:r>
            <a:r>
              <a:rPr lang="fr-FR" dirty="0" err="1"/>
              <a:t>Brüch</a:t>
            </a:r>
            <a:r>
              <a:rPr lang="fr-FR" dirty="0"/>
              <a:t> décrivent sous le nom de « fièvre boutonneuse » une maladie éruptive bénigne qu'ils observaient à </a:t>
            </a:r>
            <a:r>
              <a:rPr lang="fr-FR" dirty="0">
                <a:hlinkClick r:id="rId2" tooltip="Tunis"/>
              </a:rPr>
              <a:t>Tunis</a:t>
            </a:r>
            <a:r>
              <a:rPr lang="fr-FR" dirty="0"/>
              <a:t> depuis quelques années, et qu'ils tenaient comme une curiosité de la région. Dans les années qui suivent, les descriptions analogues se multiplient sur le littoral </a:t>
            </a:r>
            <a:r>
              <a:rPr lang="fr-FR" dirty="0" smtClean="0"/>
              <a:t>méditerranéen</a:t>
            </a:r>
            <a:r>
              <a:rPr lang="fr-FR" dirty="0"/>
              <a:t>.</a:t>
            </a:r>
            <a:endParaRPr lang="fr-FR" dirty="0"/>
          </a:p>
          <a:p>
            <a:r>
              <a:rPr lang="fr-FR" dirty="0"/>
              <a:t>D'où des dizaines d'appellations telles que : </a:t>
            </a:r>
            <a:r>
              <a:rPr lang="fr-FR" dirty="0">
                <a:solidFill>
                  <a:srgbClr val="FF0000"/>
                </a:solidFill>
              </a:rPr>
              <a:t>fièvre </a:t>
            </a:r>
            <a:r>
              <a:rPr lang="fr-FR" dirty="0" err="1">
                <a:solidFill>
                  <a:srgbClr val="FF0000"/>
                </a:solidFill>
              </a:rPr>
              <a:t>arthro</a:t>
            </a:r>
            <a:r>
              <a:rPr lang="fr-FR" dirty="0">
                <a:solidFill>
                  <a:srgbClr val="FF0000"/>
                </a:solidFill>
              </a:rPr>
              <a:t>-myalgique</a:t>
            </a:r>
            <a:r>
              <a:rPr lang="fr-FR" dirty="0"/>
              <a:t>, </a:t>
            </a:r>
            <a:r>
              <a:rPr lang="fr-FR" dirty="0">
                <a:solidFill>
                  <a:srgbClr val="FF0000"/>
                </a:solidFill>
              </a:rPr>
              <a:t>fièvre exanthématique d'été, fièvre </a:t>
            </a:r>
            <a:r>
              <a:rPr lang="fr-FR" dirty="0" err="1">
                <a:solidFill>
                  <a:srgbClr val="FF0000"/>
                </a:solidFill>
              </a:rPr>
              <a:t>escarro</a:t>
            </a:r>
            <a:r>
              <a:rPr lang="fr-FR" dirty="0">
                <a:solidFill>
                  <a:srgbClr val="FF0000"/>
                </a:solidFill>
              </a:rPr>
              <a:t>-nodulaire, fièvre de Marseille ou d'</a:t>
            </a:r>
            <a:r>
              <a:rPr lang="fr-FR" dirty="0" err="1">
                <a:solidFill>
                  <a:srgbClr val="FF0000"/>
                </a:solidFill>
              </a:rPr>
              <a:t>Olmer</a:t>
            </a:r>
            <a:r>
              <a:rPr lang="fr-FR" dirty="0">
                <a:solidFill>
                  <a:srgbClr val="FF0000"/>
                </a:solidFill>
              </a:rPr>
              <a:t>, typhus endémique d'été, typhus bénin, typhus des vendanges, fièvre </a:t>
            </a:r>
            <a:r>
              <a:rPr lang="fr-FR" dirty="0" err="1">
                <a:solidFill>
                  <a:srgbClr val="FF0000"/>
                </a:solidFill>
              </a:rPr>
              <a:t>typho</a:t>
            </a:r>
            <a:r>
              <a:rPr lang="fr-FR" dirty="0">
                <a:solidFill>
                  <a:srgbClr val="FF0000"/>
                </a:solidFill>
              </a:rPr>
              <a:t>-exanthématique</a:t>
            </a:r>
            <a:r>
              <a:rPr lang="fr-FR" dirty="0"/>
              <a:t>, maladie de Carducci, etc.</a:t>
            </a:r>
          </a:p>
          <a:p>
            <a:endParaRPr lang="fr-FR" dirty="0"/>
          </a:p>
        </p:txBody>
      </p:sp>
    </p:spTree>
    <p:extLst>
      <p:ext uri="{BB962C8B-B14F-4D97-AF65-F5344CB8AC3E}">
        <p14:creationId xmlns:p14="http://schemas.microsoft.com/office/powerpoint/2010/main" val="386937841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295401" y="783461"/>
            <a:ext cx="9601196" cy="1303867"/>
          </a:xfrm>
        </p:spPr>
        <p:txBody>
          <a:bodyPr/>
          <a:lstStyle/>
          <a:p>
            <a:r>
              <a:rPr lang="fr-FR" b="1" dirty="0" smtClean="0"/>
              <a:t>AGENT CAUSAL</a:t>
            </a:r>
            <a:endParaRPr lang="fr-FR" b="1" dirty="0"/>
          </a:p>
        </p:txBody>
      </p:sp>
      <p:sp>
        <p:nvSpPr>
          <p:cNvPr id="3" name="Espace réservé du contenu 2"/>
          <p:cNvSpPr>
            <a:spLocks noGrp="1"/>
          </p:cNvSpPr>
          <p:nvPr>
            <p:ph idx="1"/>
          </p:nvPr>
        </p:nvSpPr>
        <p:spPr>
          <a:xfrm>
            <a:off x="1146220" y="2415265"/>
            <a:ext cx="9750377" cy="3586290"/>
          </a:xfrm>
        </p:spPr>
        <p:txBody>
          <a:bodyPr>
            <a:normAutofit fontScale="92500"/>
          </a:bodyPr>
          <a:lstStyle/>
          <a:p>
            <a:r>
              <a:rPr lang="fr-FR" u="sng" dirty="0">
                <a:solidFill>
                  <a:srgbClr val="7030A0"/>
                </a:solidFill>
              </a:rPr>
              <a:t>Agent causal</a:t>
            </a:r>
            <a:endParaRPr lang="fr-FR" dirty="0">
              <a:solidFill>
                <a:srgbClr val="7030A0"/>
              </a:solidFill>
            </a:endParaRPr>
          </a:p>
          <a:p>
            <a:pPr>
              <a:lnSpc>
                <a:spcPct val="80000"/>
              </a:lnSpc>
            </a:pPr>
            <a:endParaRPr lang="fr-FR" dirty="0"/>
          </a:p>
          <a:p>
            <a:r>
              <a:rPr lang="fr-FR" b="1" i="1" dirty="0" err="1">
                <a:solidFill>
                  <a:srgbClr val="FF33CC"/>
                </a:solidFill>
              </a:rPr>
              <a:t>Rickettsia</a:t>
            </a:r>
            <a:r>
              <a:rPr lang="fr-FR" b="1" i="1" dirty="0">
                <a:solidFill>
                  <a:srgbClr val="FF33CC"/>
                </a:solidFill>
              </a:rPr>
              <a:t> </a:t>
            </a:r>
            <a:r>
              <a:rPr lang="fr-FR" b="1" i="1" dirty="0" err="1">
                <a:solidFill>
                  <a:srgbClr val="FF33CC"/>
                </a:solidFill>
              </a:rPr>
              <a:t>conorii</a:t>
            </a:r>
            <a:r>
              <a:rPr lang="fr-FR" dirty="0">
                <a:solidFill>
                  <a:srgbClr val="FF33CC"/>
                </a:solidFill>
              </a:rPr>
              <a:t> </a:t>
            </a:r>
            <a:r>
              <a:rPr lang="fr-FR" dirty="0"/>
              <a:t>: </a:t>
            </a:r>
            <a:r>
              <a:rPr lang="fr-FR" dirty="0" err="1"/>
              <a:t>cocco-bacille</a:t>
            </a:r>
            <a:r>
              <a:rPr lang="fr-FR" dirty="0"/>
              <a:t> (Gram négatif faible),  intracellulaire </a:t>
            </a:r>
            <a:r>
              <a:rPr lang="fr-FR" dirty="0" smtClean="0"/>
              <a:t>strict</a:t>
            </a:r>
            <a:endParaRPr lang="fr-FR" dirty="0"/>
          </a:p>
          <a:p>
            <a:r>
              <a:rPr lang="fr-FR" u="sng" dirty="0">
                <a:solidFill>
                  <a:srgbClr val="7030A0"/>
                </a:solidFill>
              </a:rPr>
              <a:t>Transmission</a:t>
            </a:r>
          </a:p>
          <a:p>
            <a:pPr>
              <a:lnSpc>
                <a:spcPct val="70000"/>
              </a:lnSpc>
            </a:pPr>
            <a:endParaRPr lang="fr-FR" dirty="0"/>
          </a:p>
          <a:p>
            <a:pPr>
              <a:lnSpc>
                <a:spcPct val="70000"/>
              </a:lnSpc>
            </a:pPr>
            <a:r>
              <a:rPr lang="fr-FR" dirty="0"/>
              <a:t>- Maladie vectorielle</a:t>
            </a:r>
          </a:p>
          <a:p>
            <a:r>
              <a:rPr lang="fr-FR" dirty="0"/>
              <a:t>- Par la </a:t>
            </a:r>
            <a:r>
              <a:rPr lang="fr-FR" b="1" dirty="0">
                <a:solidFill>
                  <a:srgbClr val="FF33CC"/>
                </a:solidFill>
              </a:rPr>
              <a:t>tique</a:t>
            </a:r>
            <a:r>
              <a:rPr lang="fr-FR" b="1" dirty="0">
                <a:solidFill>
                  <a:schemeClr val="tx2"/>
                </a:solidFill>
              </a:rPr>
              <a:t> </a:t>
            </a:r>
            <a:r>
              <a:rPr lang="fr-FR" b="1" dirty="0">
                <a:solidFill>
                  <a:srgbClr val="FF33CC"/>
                </a:solidFill>
              </a:rPr>
              <a:t>du</a:t>
            </a:r>
            <a:r>
              <a:rPr lang="fr-FR" b="1" dirty="0">
                <a:solidFill>
                  <a:schemeClr val="tx2"/>
                </a:solidFill>
              </a:rPr>
              <a:t> </a:t>
            </a:r>
            <a:r>
              <a:rPr lang="fr-FR" b="1" dirty="0">
                <a:solidFill>
                  <a:srgbClr val="FF33CC"/>
                </a:solidFill>
              </a:rPr>
              <a:t>chien</a:t>
            </a:r>
            <a:r>
              <a:rPr lang="fr-FR" dirty="0">
                <a:solidFill>
                  <a:srgbClr val="FF33CC"/>
                </a:solidFill>
              </a:rPr>
              <a:t> </a:t>
            </a:r>
            <a:r>
              <a:rPr lang="fr-FR" dirty="0"/>
              <a:t>(</a:t>
            </a:r>
            <a:r>
              <a:rPr lang="fr-FR" b="1" i="1" dirty="0" err="1">
                <a:solidFill>
                  <a:srgbClr val="FF0000"/>
                </a:solidFill>
              </a:rPr>
              <a:t>Rhipicephalus</a:t>
            </a:r>
            <a:r>
              <a:rPr lang="fr-FR" i="1" dirty="0">
                <a:solidFill>
                  <a:srgbClr val="FF0000"/>
                </a:solidFill>
              </a:rPr>
              <a:t> </a:t>
            </a:r>
            <a:r>
              <a:rPr lang="fr-FR" b="1" i="1" dirty="0" err="1">
                <a:solidFill>
                  <a:srgbClr val="FF0000"/>
                </a:solidFill>
              </a:rPr>
              <a:t>sanguineus</a:t>
            </a:r>
            <a:r>
              <a:rPr lang="fr-FR" dirty="0"/>
              <a:t>)</a:t>
            </a:r>
          </a:p>
          <a:p>
            <a:r>
              <a:rPr lang="fr-FR" dirty="0"/>
              <a:t>- Fréquente dans le pourtour </a:t>
            </a:r>
            <a:r>
              <a:rPr lang="fr-FR" b="1" dirty="0">
                <a:solidFill>
                  <a:srgbClr val="FF33CC"/>
                </a:solidFill>
              </a:rPr>
              <a:t>méditerranéen</a:t>
            </a:r>
            <a:r>
              <a:rPr lang="fr-FR" dirty="0"/>
              <a:t>, en période </a:t>
            </a:r>
            <a:r>
              <a:rPr lang="fr-FR" b="1" dirty="0">
                <a:solidFill>
                  <a:srgbClr val="FF33CC"/>
                </a:solidFill>
              </a:rPr>
              <a:t>estivale </a:t>
            </a:r>
            <a:r>
              <a:rPr lang="fr-FR" b="1" dirty="0"/>
              <a:t>(</a:t>
            </a:r>
            <a:r>
              <a:rPr lang="fr-FR" b="1" dirty="0" err="1"/>
              <a:t>mai-octobre</a:t>
            </a:r>
            <a:r>
              <a:rPr lang="fr-FR" b="1" dirty="0"/>
              <a:t>)</a:t>
            </a:r>
            <a:endParaRPr lang="fr-FR" dirty="0">
              <a:solidFill>
                <a:srgbClr val="FF33CC"/>
              </a:solidFill>
            </a:endParaRPr>
          </a:p>
          <a:p>
            <a:endParaRPr lang="fr-FR" dirty="0"/>
          </a:p>
        </p:txBody>
      </p:sp>
    </p:spTree>
    <p:extLst>
      <p:ext uri="{BB962C8B-B14F-4D97-AF65-F5344CB8AC3E}">
        <p14:creationId xmlns:p14="http://schemas.microsoft.com/office/powerpoint/2010/main" val="283845736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dirty="0"/>
          </a:p>
        </p:txBody>
      </p:sp>
      <p:pic>
        <p:nvPicPr>
          <p:cNvPr id="4" name="Espace réservé du contenu 3"/>
          <p:cNvPicPr>
            <a:picLocks noGrp="1" noChangeAspect="1"/>
          </p:cNvPicPr>
          <p:nvPr>
            <p:ph idx="1"/>
          </p:nvPr>
        </p:nvPicPr>
        <p:blipFill>
          <a:blip r:embed="rId2"/>
          <a:stretch>
            <a:fillRect/>
          </a:stretch>
        </p:blipFill>
        <p:spPr>
          <a:xfrm>
            <a:off x="1295402" y="2413154"/>
            <a:ext cx="2650486" cy="1640777"/>
          </a:xfrm>
          <a:prstGeom prst="rect">
            <a:avLst/>
          </a:prstGeom>
        </p:spPr>
      </p:pic>
      <p:pic>
        <p:nvPicPr>
          <p:cNvPr id="5" name="Image 4"/>
          <p:cNvPicPr>
            <a:picLocks noChangeAspect="1"/>
          </p:cNvPicPr>
          <p:nvPr/>
        </p:nvPicPr>
        <p:blipFill>
          <a:blip r:embed="rId3"/>
          <a:stretch>
            <a:fillRect/>
          </a:stretch>
        </p:blipFill>
        <p:spPr>
          <a:xfrm>
            <a:off x="8439697" y="2413154"/>
            <a:ext cx="2456901" cy="1652159"/>
          </a:xfrm>
          <a:prstGeom prst="rect">
            <a:avLst/>
          </a:prstGeom>
        </p:spPr>
      </p:pic>
      <p:pic>
        <p:nvPicPr>
          <p:cNvPr id="6" name="Image 5"/>
          <p:cNvPicPr>
            <a:picLocks noChangeAspect="1"/>
          </p:cNvPicPr>
          <p:nvPr/>
        </p:nvPicPr>
        <p:blipFill>
          <a:blip r:embed="rId4"/>
          <a:stretch>
            <a:fillRect/>
          </a:stretch>
        </p:blipFill>
        <p:spPr>
          <a:xfrm>
            <a:off x="5044349" y="2470770"/>
            <a:ext cx="2103302" cy="1560711"/>
          </a:xfrm>
          <a:prstGeom prst="rect">
            <a:avLst/>
          </a:prstGeom>
        </p:spPr>
      </p:pic>
      <p:pic>
        <p:nvPicPr>
          <p:cNvPr id="7" name="Image 6"/>
          <p:cNvPicPr>
            <a:picLocks noChangeAspect="1"/>
          </p:cNvPicPr>
          <p:nvPr/>
        </p:nvPicPr>
        <p:blipFill>
          <a:blip r:embed="rId5"/>
          <a:stretch>
            <a:fillRect/>
          </a:stretch>
        </p:blipFill>
        <p:spPr>
          <a:xfrm>
            <a:off x="4785917" y="4342793"/>
            <a:ext cx="2361734" cy="2275138"/>
          </a:xfrm>
          <a:prstGeom prst="rect">
            <a:avLst/>
          </a:prstGeom>
        </p:spPr>
      </p:pic>
    </p:spTree>
    <p:extLst>
      <p:ext uri="{BB962C8B-B14F-4D97-AF65-F5344CB8AC3E}">
        <p14:creationId xmlns:p14="http://schemas.microsoft.com/office/powerpoint/2010/main" val="8812743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pic>
        <p:nvPicPr>
          <p:cNvPr id="4" name="Espace réservé du contenu 3"/>
          <p:cNvPicPr>
            <a:picLocks noGrp="1" noChangeAspect="1"/>
          </p:cNvPicPr>
          <p:nvPr>
            <p:ph idx="1"/>
          </p:nvPr>
        </p:nvPicPr>
        <p:blipFill>
          <a:blip r:embed="rId2"/>
          <a:stretch>
            <a:fillRect/>
          </a:stretch>
        </p:blipFill>
        <p:spPr>
          <a:xfrm>
            <a:off x="3852339" y="2557463"/>
            <a:ext cx="4487321" cy="3317875"/>
          </a:xfrm>
          <a:prstGeom prst="rect">
            <a:avLst/>
          </a:prstGeom>
        </p:spPr>
      </p:pic>
    </p:spTree>
    <p:extLst>
      <p:ext uri="{BB962C8B-B14F-4D97-AF65-F5344CB8AC3E}">
        <p14:creationId xmlns:p14="http://schemas.microsoft.com/office/powerpoint/2010/main" val="24030418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PATHOGENIE</a:t>
            </a:r>
            <a:endParaRPr lang="fr-FR" b="1" dirty="0"/>
          </a:p>
        </p:txBody>
      </p:sp>
      <p:sp>
        <p:nvSpPr>
          <p:cNvPr id="3" name="Espace réservé du contenu 2"/>
          <p:cNvSpPr>
            <a:spLocks noGrp="1"/>
          </p:cNvSpPr>
          <p:nvPr>
            <p:ph idx="1"/>
          </p:nvPr>
        </p:nvSpPr>
        <p:spPr/>
        <p:txBody>
          <a:bodyPr>
            <a:normAutofit/>
          </a:bodyPr>
          <a:lstStyle/>
          <a:p>
            <a:r>
              <a:rPr lang="fr-FR" dirty="0"/>
              <a:t>Après </a:t>
            </a:r>
            <a:r>
              <a:rPr lang="fr-FR" sz="2800" b="1" dirty="0">
                <a:solidFill>
                  <a:srgbClr val="FF33CC"/>
                </a:solidFill>
              </a:rPr>
              <a:t>inoculation</a:t>
            </a:r>
            <a:r>
              <a:rPr lang="fr-FR" dirty="0">
                <a:solidFill>
                  <a:srgbClr val="FF33CC"/>
                </a:solidFill>
              </a:rPr>
              <a:t> </a:t>
            </a:r>
            <a:r>
              <a:rPr lang="fr-FR" dirty="0"/>
              <a:t>par la </a:t>
            </a:r>
            <a:r>
              <a:rPr lang="fr-FR" sz="2800" b="1" dirty="0">
                <a:solidFill>
                  <a:srgbClr val="FF33CC"/>
                </a:solidFill>
              </a:rPr>
              <a:t>tique</a:t>
            </a:r>
            <a:r>
              <a:rPr lang="fr-FR" dirty="0"/>
              <a:t>, la bactérie pénètre dans les </a:t>
            </a:r>
            <a:r>
              <a:rPr lang="fr-FR" dirty="0" smtClean="0"/>
              <a:t>cellules endothéliales </a:t>
            </a:r>
            <a:r>
              <a:rPr lang="fr-FR" dirty="0"/>
              <a:t>des petits vaisseaux où elle se multiplie     </a:t>
            </a:r>
            <a:r>
              <a:rPr lang="fr-FR" dirty="0" smtClean="0">
                <a:latin typeface="Times New Roman" panose="02020603050405020304" pitchFamily="18" charset="0"/>
                <a:cs typeface="Times New Roman" panose="02020603050405020304" pitchFamily="18" charset="0"/>
              </a:rPr>
              <a:t>→</a:t>
            </a:r>
            <a:r>
              <a:rPr lang="fr-FR" dirty="0" smtClean="0"/>
              <a:t>    </a:t>
            </a:r>
            <a:r>
              <a:rPr lang="fr-FR" b="1" dirty="0">
                <a:solidFill>
                  <a:srgbClr val="FF0000"/>
                </a:solidFill>
                <a:sym typeface="Monotype Sorts" pitchFamily="2" charset="2"/>
              </a:rPr>
              <a:t>vascularite</a:t>
            </a:r>
            <a:r>
              <a:rPr lang="fr-FR" b="1" dirty="0" smtClean="0">
                <a:solidFill>
                  <a:srgbClr val="FF0000"/>
                </a:solidFill>
                <a:sym typeface="Monotype Sorts" pitchFamily="2" charset="2"/>
              </a:rPr>
              <a:t>, </a:t>
            </a:r>
            <a:r>
              <a:rPr lang="fr-FR" b="1" dirty="0">
                <a:solidFill>
                  <a:srgbClr val="FF0000"/>
                </a:solidFill>
                <a:sym typeface="Monotype Sorts" pitchFamily="2" charset="2"/>
              </a:rPr>
              <a:t>thrombose, purpura</a:t>
            </a:r>
            <a:r>
              <a:rPr lang="fr-FR" dirty="0">
                <a:solidFill>
                  <a:srgbClr val="FF0000"/>
                </a:solidFill>
                <a:sym typeface="Monotype Sorts" pitchFamily="2" charset="2"/>
              </a:rPr>
              <a:t> </a:t>
            </a:r>
            <a:r>
              <a:rPr lang="fr-FR" dirty="0">
                <a:sym typeface="Monotype Sorts" pitchFamily="2" charset="2"/>
              </a:rPr>
              <a:t>et </a:t>
            </a:r>
            <a:r>
              <a:rPr lang="fr-FR" b="1" dirty="0">
                <a:solidFill>
                  <a:srgbClr val="FF0000"/>
                </a:solidFill>
                <a:sym typeface="Monotype Sorts" pitchFamily="2" charset="2"/>
              </a:rPr>
              <a:t>bactériémie </a:t>
            </a:r>
            <a:r>
              <a:rPr lang="fr-FR" b="1" dirty="0">
                <a:sym typeface="Monotype Sorts" pitchFamily="2" charset="2"/>
              </a:rPr>
              <a:t>(atteintes viscérales)</a:t>
            </a:r>
            <a:r>
              <a:rPr lang="fr-FR" dirty="0"/>
              <a:t>.</a:t>
            </a:r>
          </a:p>
          <a:p>
            <a:r>
              <a:rPr lang="fr-FR" dirty="0"/>
              <a:t>La piqure infectante n'est pas le fait de la forme adulte, mais des formes immatures (</a:t>
            </a:r>
            <a:r>
              <a:rPr lang="fr-FR" b="1" dirty="0">
                <a:solidFill>
                  <a:srgbClr val="FF0000"/>
                </a:solidFill>
              </a:rPr>
              <a:t>larve, nymphe</a:t>
            </a:r>
            <a:r>
              <a:rPr lang="fr-FR" dirty="0"/>
              <a:t>). Leur piqûre est le plus souvent </a:t>
            </a:r>
            <a:r>
              <a:rPr lang="fr-FR" b="1" dirty="0">
                <a:solidFill>
                  <a:srgbClr val="FF0000"/>
                </a:solidFill>
              </a:rPr>
              <a:t>indolore,</a:t>
            </a:r>
            <a:r>
              <a:rPr lang="fr-FR" b="1" dirty="0"/>
              <a:t> </a:t>
            </a:r>
            <a:r>
              <a:rPr lang="fr-FR" dirty="0"/>
              <a:t>passant inaperçue, d'autant plus que les tiques immatures sont à la limite de la visibilité</a:t>
            </a:r>
            <a:r>
              <a:rPr lang="fr-FR" baseline="30000" dirty="0">
                <a:hlinkClick r:id="rId2"/>
              </a:rPr>
              <a:t>4</a:t>
            </a:r>
            <a:r>
              <a:rPr lang="fr-FR" dirty="0"/>
              <a:t>. La tique doit rester de </a:t>
            </a:r>
            <a:r>
              <a:rPr lang="fr-FR" b="1" dirty="0">
                <a:solidFill>
                  <a:srgbClr val="FF0000"/>
                </a:solidFill>
              </a:rPr>
              <a:t>10 à 20 h </a:t>
            </a:r>
            <a:r>
              <a:rPr lang="fr-FR" dirty="0"/>
              <a:t>sur la peau pour être </a:t>
            </a:r>
            <a:r>
              <a:rPr lang="fr-FR" b="1" dirty="0" err="1">
                <a:solidFill>
                  <a:srgbClr val="FF0000"/>
                </a:solidFill>
              </a:rPr>
              <a:t>contaminante</a:t>
            </a:r>
            <a:r>
              <a:rPr lang="fr-FR" b="1" dirty="0">
                <a:solidFill>
                  <a:srgbClr val="FF0000"/>
                </a:solidFill>
              </a:rPr>
              <a:t>.</a:t>
            </a:r>
            <a:endParaRPr lang="fr-FR" b="1" dirty="0">
              <a:solidFill>
                <a:srgbClr val="FF0000"/>
              </a:solidFill>
            </a:endParaRPr>
          </a:p>
        </p:txBody>
      </p:sp>
    </p:spTree>
    <p:extLst>
      <p:ext uri="{BB962C8B-B14F-4D97-AF65-F5344CB8AC3E}">
        <p14:creationId xmlns:p14="http://schemas.microsoft.com/office/powerpoint/2010/main" val="28020142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TABLEAU CLINIQUE</a:t>
            </a:r>
            <a:endParaRPr lang="fr-FR" b="1" dirty="0"/>
          </a:p>
        </p:txBody>
      </p:sp>
      <p:sp>
        <p:nvSpPr>
          <p:cNvPr id="3" name="Espace réservé du contenu 2"/>
          <p:cNvSpPr>
            <a:spLocks noGrp="1"/>
          </p:cNvSpPr>
          <p:nvPr>
            <p:ph idx="1"/>
          </p:nvPr>
        </p:nvSpPr>
        <p:spPr/>
        <p:txBody>
          <a:bodyPr>
            <a:normAutofit fontScale="92500" lnSpcReduction="20000"/>
          </a:bodyPr>
          <a:lstStyle/>
          <a:p>
            <a:pPr>
              <a:lnSpc>
                <a:spcPct val="110000"/>
              </a:lnSpc>
            </a:pPr>
            <a:r>
              <a:rPr lang="fr-FR" b="1" dirty="0"/>
              <a:t>- Piqûre indolore</a:t>
            </a:r>
          </a:p>
          <a:p>
            <a:pPr>
              <a:lnSpc>
                <a:spcPct val="110000"/>
              </a:lnSpc>
            </a:pPr>
            <a:r>
              <a:rPr lang="fr-FR" b="1" dirty="0"/>
              <a:t>- Incubation : 6-7 jours</a:t>
            </a:r>
          </a:p>
          <a:p>
            <a:pPr>
              <a:lnSpc>
                <a:spcPct val="110000"/>
              </a:lnSpc>
            </a:pPr>
            <a:r>
              <a:rPr lang="fr-FR" b="1" dirty="0"/>
              <a:t>- J7 : </a:t>
            </a:r>
            <a:r>
              <a:rPr lang="fr-FR" sz="2800" b="1" dirty="0">
                <a:solidFill>
                  <a:srgbClr val="FF33CC"/>
                </a:solidFill>
              </a:rPr>
              <a:t>fièvre</a:t>
            </a:r>
            <a:r>
              <a:rPr lang="fr-FR" b="1" dirty="0"/>
              <a:t>, céphalées, algies diffuses</a:t>
            </a:r>
          </a:p>
          <a:p>
            <a:pPr>
              <a:lnSpc>
                <a:spcPct val="110000"/>
              </a:lnSpc>
            </a:pPr>
            <a:r>
              <a:rPr lang="fr-FR" b="1" dirty="0" smtClean="0"/>
              <a:t>La </a:t>
            </a:r>
            <a:r>
              <a:rPr lang="fr-FR" sz="2800" b="1" dirty="0">
                <a:solidFill>
                  <a:srgbClr val="FF33CC"/>
                </a:solidFill>
              </a:rPr>
              <a:t>tache</a:t>
            </a:r>
            <a:r>
              <a:rPr lang="fr-FR" sz="2800" b="1" dirty="0">
                <a:solidFill>
                  <a:schemeClr val="tx2"/>
                </a:solidFill>
              </a:rPr>
              <a:t> </a:t>
            </a:r>
            <a:r>
              <a:rPr lang="fr-FR" sz="2800" b="1" dirty="0">
                <a:solidFill>
                  <a:srgbClr val="FF33CC"/>
                </a:solidFill>
              </a:rPr>
              <a:t>noire</a:t>
            </a:r>
            <a:r>
              <a:rPr lang="fr-FR" b="1" dirty="0">
                <a:solidFill>
                  <a:srgbClr val="FF33CC"/>
                </a:solidFill>
              </a:rPr>
              <a:t> </a:t>
            </a:r>
            <a:r>
              <a:rPr lang="fr-FR" b="1" dirty="0"/>
              <a:t>(ou rouge) = escarre </a:t>
            </a:r>
            <a:r>
              <a:rPr lang="fr-FR" b="1" dirty="0" smtClean="0"/>
              <a:t>d’inoculation ; parfois conjonctivite</a:t>
            </a:r>
            <a:endParaRPr lang="fr-FR" b="1" dirty="0"/>
          </a:p>
          <a:p>
            <a:pPr>
              <a:lnSpc>
                <a:spcPct val="110000"/>
              </a:lnSpc>
            </a:pPr>
            <a:r>
              <a:rPr lang="fr-FR" b="1" dirty="0"/>
              <a:t>- Phase d ’état : au tableau précédent </a:t>
            </a:r>
            <a:r>
              <a:rPr lang="fr-FR" b="1" dirty="0" smtClean="0"/>
              <a:t>s’ajoute </a:t>
            </a:r>
            <a:r>
              <a:rPr lang="fr-FR" b="1" dirty="0"/>
              <a:t>une </a:t>
            </a:r>
            <a:r>
              <a:rPr lang="fr-FR" sz="2800" b="1" dirty="0">
                <a:solidFill>
                  <a:srgbClr val="FF33CC"/>
                </a:solidFill>
              </a:rPr>
              <a:t>éruption</a:t>
            </a:r>
            <a:r>
              <a:rPr lang="fr-FR" sz="2800" b="1" dirty="0">
                <a:solidFill>
                  <a:schemeClr val="tx2"/>
                </a:solidFill>
              </a:rPr>
              <a:t> </a:t>
            </a:r>
            <a:r>
              <a:rPr lang="fr-FR" sz="2800" b="1" dirty="0" err="1">
                <a:solidFill>
                  <a:srgbClr val="FF33CC"/>
                </a:solidFill>
              </a:rPr>
              <a:t>maculo</a:t>
            </a:r>
            <a:r>
              <a:rPr lang="fr-FR" sz="2800" b="1" dirty="0">
                <a:solidFill>
                  <a:srgbClr val="FF33CC"/>
                </a:solidFill>
              </a:rPr>
              <a:t>-papuleuse</a:t>
            </a:r>
            <a:r>
              <a:rPr lang="fr-FR" b="1" dirty="0">
                <a:solidFill>
                  <a:srgbClr val="FF33CC"/>
                </a:solidFill>
              </a:rPr>
              <a:t> </a:t>
            </a:r>
            <a:r>
              <a:rPr lang="fr-FR" b="1" dirty="0"/>
              <a:t>avec parfois un relief (</a:t>
            </a:r>
            <a:r>
              <a:rPr lang="fr-FR" b="1" dirty="0">
                <a:solidFill>
                  <a:srgbClr val="FF0000"/>
                </a:solidFill>
              </a:rPr>
              <a:t>boutonneuse</a:t>
            </a:r>
            <a:r>
              <a:rPr lang="fr-FR" b="1" dirty="0"/>
              <a:t>), d’intensité </a:t>
            </a:r>
            <a:r>
              <a:rPr lang="fr-FR" b="1" dirty="0" smtClean="0"/>
              <a:t>variable</a:t>
            </a:r>
          </a:p>
          <a:p>
            <a:pPr marL="0" indent="0">
              <a:lnSpc>
                <a:spcPct val="110000"/>
              </a:lnSpc>
              <a:buNone/>
            </a:pPr>
            <a:r>
              <a:rPr lang="fr-FR" b="1" dirty="0"/>
              <a:t> </a:t>
            </a:r>
            <a:r>
              <a:rPr lang="fr-FR" b="1" dirty="0" smtClean="0"/>
              <a:t>    généralisée </a:t>
            </a:r>
            <a:r>
              <a:rPr lang="fr-FR" b="1" dirty="0"/>
              <a:t>et atteignant les paumes et plantes. Purpura possible (grave)</a:t>
            </a:r>
          </a:p>
          <a:p>
            <a:pPr marL="0" indent="0">
              <a:lnSpc>
                <a:spcPct val="110000"/>
              </a:lnSpc>
              <a:buNone/>
            </a:pPr>
            <a:endParaRPr lang="fr-FR" b="1" dirty="0"/>
          </a:p>
          <a:p>
            <a:endParaRPr lang="fr-FR" dirty="0"/>
          </a:p>
        </p:txBody>
      </p:sp>
    </p:spTree>
    <p:extLst>
      <p:ext uri="{BB962C8B-B14F-4D97-AF65-F5344CB8AC3E}">
        <p14:creationId xmlns:p14="http://schemas.microsoft.com/office/powerpoint/2010/main" val="8611308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fontScale="92500" lnSpcReduction="10000"/>
          </a:bodyPr>
          <a:lstStyle/>
          <a:p>
            <a:pPr>
              <a:lnSpc>
                <a:spcPct val="110000"/>
              </a:lnSpc>
            </a:pPr>
            <a:r>
              <a:rPr lang="fr-FR" dirty="0" smtClean="0"/>
              <a:t> </a:t>
            </a:r>
            <a:r>
              <a:rPr lang="fr-FR" b="1" dirty="0"/>
              <a:t>Signes neuro-méningés </a:t>
            </a:r>
            <a:r>
              <a:rPr lang="fr-FR" dirty="0"/>
              <a:t>: méningite, encéphalite</a:t>
            </a:r>
          </a:p>
          <a:p>
            <a:pPr>
              <a:lnSpc>
                <a:spcPct val="110000"/>
              </a:lnSpc>
            </a:pPr>
            <a:r>
              <a:rPr lang="fr-FR" dirty="0" smtClean="0"/>
              <a:t> </a:t>
            </a:r>
            <a:r>
              <a:rPr lang="fr-FR" b="1" dirty="0"/>
              <a:t>Signes cardio-vasculaires </a:t>
            </a:r>
            <a:r>
              <a:rPr lang="fr-FR" dirty="0"/>
              <a:t>: myocardite</a:t>
            </a:r>
          </a:p>
          <a:p>
            <a:pPr>
              <a:lnSpc>
                <a:spcPct val="110000"/>
              </a:lnSpc>
            </a:pPr>
            <a:r>
              <a:rPr lang="fr-FR" dirty="0" smtClean="0"/>
              <a:t> </a:t>
            </a:r>
            <a:r>
              <a:rPr lang="fr-FR" b="1" dirty="0"/>
              <a:t>Autres</a:t>
            </a:r>
            <a:r>
              <a:rPr lang="fr-FR" dirty="0"/>
              <a:t> : pneumopathie atypique, IRA, hémorragies </a:t>
            </a:r>
            <a:r>
              <a:rPr lang="fr-FR" dirty="0" smtClean="0"/>
              <a:t>digestives; HSPM</a:t>
            </a:r>
            <a:endParaRPr lang="fr-FR" dirty="0"/>
          </a:p>
          <a:p>
            <a:pPr>
              <a:lnSpc>
                <a:spcPct val="110000"/>
              </a:lnSpc>
            </a:pPr>
            <a:r>
              <a:rPr lang="fr-FR" dirty="0" smtClean="0"/>
              <a:t> </a:t>
            </a:r>
            <a:r>
              <a:rPr lang="fr-FR" dirty="0"/>
              <a:t>Ces formes sévères représentent 5 à 6 % des cas. Elles sont associées à des facteurs de risques : alcoolisme, diabète, </a:t>
            </a:r>
            <a:r>
              <a:rPr lang="fr-FR" dirty="0">
                <a:hlinkClick r:id="rId2" tooltip="Déficit en glucose-6-phosphate déshydrogénase"/>
              </a:rPr>
              <a:t>déficit en G6PD</a:t>
            </a:r>
            <a:r>
              <a:rPr lang="fr-FR" dirty="0"/>
              <a:t>, âge avancé, retard de traitement ou antibiothérapie non adaptée</a:t>
            </a:r>
            <a:r>
              <a:rPr lang="fr-FR" baseline="30000" dirty="0">
                <a:hlinkClick r:id="rId3"/>
              </a:rPr>
              <a:t>3</a:t>
            </a:r>
            <a:r>
              <a:rPr lang="fr-FR" dirty="0" smtClean="0"/>
              <a:t>.</a:t>
            </a:r>
          </a:p>
          <a:p>
            <a:pPr>
              <a:lnSpc>
                <a:spcPct val="110000"/>
              </a:lnSpc>
            </a:pPr>
            <a:r>
              <a:rPr lang="fr-FR" b="1" dirty="0" smtClean="0"/>
              <a:t>L’</a:t>
            </a:r>
            <a:r>
              <a:rPr lang="fr-FR" b="1" dirty="0"/>
              <a:t>é</a:t>
            </a:r>
            <a:r>
              <a:rPr lang="fr-FR" b="1" dirty="0" smtClean="0"/>
              <a:t>volution est favorable en général sous traitement pendant 10j.</a:t>
            </a:r>
            <a:endParaRPr lang="fr-FR" b="1" dirty="0"/>
          </a:p>
          <a:p>
            <a:pPr marL="0" indent="0">
              <a:buNone/>
            </a:pPr>
            <a:endParaRPr lang="fr-FR" dirty="0"/>
          </a:p>
        </p:txBody>
      </p:sp>
    </p:spTree>
    <p:extLst>
      <p:ext uri="{BB962C8B-B14F-4D97-AF65-F5344CB8AC3E}">
        <p14:creationId xmlns:p14="http://schemas.microsoft.com/office/powerpoint/2010/main" val="3826122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pic>
        <p:nvPicPr>
          <p:cNvPr id="4" name="Espace réservé du contenu 3"/>
          <p:cNvPicPr>
            <a:picLocks noGrp="1" noChangeAspect="1"/>
          </p:cNvPicPr>
          <p:nvPr>
            <p:ph idx="1"/>
          </p:nvPr>
        </p:nvPicPr>
        <p:blipFill>
          <a:blip r:embed="rId2"/>
          <a:stretch>
            <a:fillRect/>
          </a:stretch>
        </p:blipFill>
        <p:spPr>
          <a:xfrm>
            <a:off x="3877049" y="2557463"/>
            <a:ext cx="4437901" cy="3317875"/>
          </a:xfrm>
          <a:prstGeom prst="rect">
            <a:avLst/>
          </a:prstGeom>
        </p:spPr>
      </p:pic>
    </p:spTree>
    <p:extLst>
      <p:ext uri="{BB962C8B-B14F-4D97-AF65-F5344CB8AC3E}">
        <p14:creationId xmlns:p14="http://schemas.microsoft.com/office/powerpoint/2010/main" val="9812211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pic>
        <p:nvPicPr>
          <p:cNvPr id="4" name="Espace réservé du contenu 3"/>
          <p:cNvPicPr>
            <a:picLocks noGrp="1" noChangeAspect="1"/>
          </p:cNvPicPr>
          <p:nvPr>
            <p:ph idx="1"/>
          </p:nvPr>
        </p:nvPicPr>
        <p:blipFill>
          <a:blip r:embed="rId2"/>
          <a:stretch>
            <a:fillRect/>
          </a:stretch>
        </p:blipFill>
        <p:spPr>
          <a:xfrm>
            <a:off x="1370302" y="2480190"/>
            <a:ext cx="4725698" cy="3317875"/>
          </a:xfrm>
          <a:prstGeom prst="rect">
            <a:avLst/>
          </a:prstGeom>
        </p:spPr>
      </p:pic>
      <p:pic>
        <p:nvPicPr>
          <p:cNvPr id="5" name="Image 4"/>
          <p:cNvPicPr>
            <a:picLocks noChangeAspect="1"/>
          </p:cNvPicPr>
          <p:nvPr/>
        </p:nvPicPr>
        <p:blipFill>
          <a:blip r:embed="rId3"/>
          <a:stretch>
            <a:fillRect/>
          </a:stretch>
        </p:blipFill>
        <p:spPr>
          <a:xfrm>
            <a:off x="6276063" y="2480190"/>
            <a:ext cx="4722495" cy="3459857"/>
          </a:xfrm>
          <a:prstGeom prst="rect">
            <a:avLst/>
          </a:prstGeom>
        </p:spPr>
      </p:pic>
    </p:spTree>
    <p:extLst>
      <p:ext uri="{BB962C8B-B14F-4D97-AF65-F5344CB8AC3E}">
        <p14:creationId xmlns:p14="http://schemas.microsoft.com/office/powerpoint/2010/main" val="13077514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DIAGNOSTIC</a:t>
            </a:r>
            <a:endParaRPr lang="fr-FR" b="1" dirty="0"/>
          </a:p>
        </p:txBody>
      </p:sp>
      <p:sp>
        <p:nvSpPr>
          <p:cNvPr id="3" name="Espace réservé du contenu 2"/>
          <p:cNvSpPr>
            <a:spLocks noGrp="1"/>
          </p:cNvSpPr>
          <p:nvPr>
            <p:ph idx="1"/>
          </p:nvPr>
        </p:nvSpPr>
        <p:spPr/>
        <p:txBody>
          <a:bodyPr>
            <a:normAutofit fontScale="92500" lnSpcReduction="10000"/>
          </a:bodyPr>
          <a:lstStyle/>
          <a:p>
            <a:pPr>
              <a:defRPr/>
            </a:pPr>
            <a:r>
              <a:rPr lang="fr-FR" dirty="0"/>
              <a:t>- </a:t>
            </a:r>
            <a:r>
              <a:rPr lang="fr-FR" b="1" dirty="0"/>
              <a:t>Orientation </a:t>
            </a:r>
            <a:r>
              <a:rPr lang="fr-FR" b="1" dirty="0" err="1"/>
              <a:t>épidémioclinique</a:t>
            </a:r>
            <a:r>
              <a:rPr lang="fr-FR" b="1" dirty="0"/>
              <a:t> (fièvre, tache noire, saison)</a:t>
            </a:r>
          </a:p>
          <a:p>
            <a:pPr>
              <a:defRPr/>
            </a:pPr>
            <a:r>
              <a:rPr lang="fr-FR" b="1" dirty="0">
                <a:solidFill>
                  <a:srgbClr val="FF33CC"/>
                </a:solidFill>
              </a:rPr>
              <a:t>- Indirect +++</a:t>
            </a:r>
            <a:r>
              <a:rPr lang="fr-FR" b="1" dirty="0"/>
              <a:t> : </a:t>
            </a:r>
            <a:r>
              <a:rPr lang="fr-FR" sz="3200" b="1" dirty="0">
                <a:solidFill>
                  <a:schemeClr val="tx2"/>
                </a:solidFill>
              </a:rPr>
              <a:t>sérologie </a:t>
            </a:r>
            <a:r>
              <a:rPr lang="fr-FR" b="1" dirty="0"/>
              <a:t>positive </a:t>
            </a:r>
            <a:r>
              <a:rPr lang="fr-FR" b="1" dirty="0" err="1"/>
              <a:t>qu</a:t>
            </a:r>
            <a:r>
              <a:rPr lang="fr-FR" b="1" dirty="0"/>
              <a:t> ’après 30j </a:t>
            </a:r>
          </a:p>
          <a:p>
            <a:pPr>
              <a:defRPr/>
            </a:pPr>
            <a:r>
              <a:rPr lang="fr-FR" b="1" dirty="0"/>
              <a:t>(2 sérums à 10j d ’intervalle)</a:t>
            </a:r>
          </a:p>
          <a:p>
            <a:pPr>
              <a:defRPr/>
            </a:pPr>
            <a:endParaRPr lang="fr-FR" b="1" dirty="0"/>
          </a:p>
          <a:p>
            <a:pPr>
              <a:defRPr/>
            </a:pPr>
            <a:r>
              <a:rPr lang="fr-FR" b="1" dirty="0">
                <a:solidFill>
                  <a:srgbClr val="FF33CC"/>
                </a:solidFill>
              </a:rPr>
              <a:t>- Direct</a:t>
            </a:r>
            <a:r>
              <a:rPr lang="fr-FR" b="1" dirty="0"/>
              <a:t> : à partir de sang ou de biopsie cutanée </a:t>
            </a:r>
          </a:p>
          <a:p>
            <a:pPr>
              <a:defRPr/>
            </a:pPr>
            <a:r>
              <a:rPr lang="fr-FR" b="1" dirty="0" smtClean="0"/>
              <a:t> </a:t>
            </a:r>
            <a:r>
              <a:rPr lang="fr-FR" b="1" dirty="0"/>
              <a:t>en laboratoire spécialisé.</a:t>
            </a:r>
          </a:p>
          <a:p>
            <a:pPr>
              <a:defRPr/>
            </a:pPr>
            <a:r>
              <a:rPr lang="fr-FR" b="1" dirty="0"/>
              <a:t>- Hyperleucocytose (PNN), CRP+/VS+,  </a:t>
            </a:r>
          </a:p>
          <a:p>
            <a:endParaRPr lang="fr-FR" b="1" dirty="0"/>
          </a:p>
        </p:txBody>
      </p:sp>
    </p:spTree>
    <p:extLst>
      <p:ext uri="{BB962C8B-B14F-4D97-AF65-F5344CB8AC3E}">
        <p14:creationId xmlns:p14="http://schemas.microsoft.com/office/powerpoint/2010/main" val="41720605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TRAITEMENT</a:t>
            </a:r>
            <a:endParaRPr lang="fr-FR" b="1" dirty="0"/>
          </a:p>
        </p:txBody>
      </p:sp>
      <p:sp>
        <p:nvSpPr>
          <p:cNvPr id="3" name="Espace réservé du contenu 2"/>
          <p:cNvSpPr>
            <a:spLocks noGrp="1"/>
          </p:cNvSpPr>
          <p:nvPr>
            <p:ph idx="1"/>
          </p:nvPr>
        </p:nvSpPr>
        <p:spPr/>
        <p:txBody>
          <a:bodyPr>
            <a:normAutofit fontScale="92500" lnSpcReduction="10000"/>
          </a:bodyPr>
          <a:lstStyle/>
          <a:p>
            <a:pPr marL="0" indent="0">
              <a:buNone/>
              <a:defRPr/>
            </a:pPr>
            <a:r>
              <a:rPr lang="fr-FR" sz="2800" b="1" dirty="0">
                <a:solidFill>
                  <a:srgbClr val="FF0000"/>
                </a:solidFill>
              </a:rPr>
              <a:t>Antibiothérapie</a:t>
            </a:r>
            <a:r>
              <a:rPr lang="fr-FR" dirty="0">
                <a:solidFill>
                  <a:srgbClr val="FF33CC"/>
                </a:solidFill>
              </a:rPr>
              <a:t> </a:t>
            </a:r>
            <a:r>
              <a:rPr lang="fr-FR" dirty="0" smtClean="0"/>
              <a:t>:      </a:t>
            </a:r>
            <a:r>
              <a:rPr lang="fr-FR" b="1" dirty="0" err="1">
                <a:solidFill>
                  <a:srgbClr val="FF0000"/>
                </a:solidFill>
              </a:rPr>
              <a:t>doxycycline</a:t>
            </a:r>
            <a:r>
              <a:rPr lang="fr-FR" dirty="0">
                <a:solidFill>
                  <a:srgbClr val="FF0000"/>
                </a:solidFill>
              </a:rPr>
              <a:t> </a:t>
            </a:r>
            <a:r>
              <a:rPr lang="fr-FR" dirty="0"/>
              <a:t>: 200 mg/j; 5-7 j       </a:t>
            </a:r>
          </a:p>
          <a:p>
            <a:pPr marL="0" indent="0">
              <a:buNone/>
              <a:defRPr/>
            </a:pPr>
            <a:r>
              <a:rPr lang="fr-FR" dirty="0" smtClean="0"/>
              <a:t>                                       </a:t>
            </a:r>
            <a:r>
              <a:rPr lang="fr-FR" b="1" dirty="0" err="1" smtClean="0">
                <a:solidFill>
                  <a:srgbClr val="FF0000"/>
                </a:solidFill>
              </a:rPr>
              <a:t>fluoroquinolone</a:t>
            </a:r>
            <a:r>
              <a:rPr lang="fr-FR" dirty="0" smtClean="0">
                <a:solidFill>
                  <a:srgbClr val="FF0000"/>
                </a:solidFill>
              </a:rPr>
              <a:t> </a:t>
            </a:r>
            <a:r>
              <a:rPr lang="fr-FR" dirty="0"/>
              <a:t>: 5 j); </a:t>
            </a:r>
            <a:r>
              <a:rPr lang="fr-FR" dirty="0" smtClean="0"/>
              <a:t>si allergie</a:t>
            </a:r>
            <a:endParaRPr lang="fr-FR" dirty="0"/>
          </a:p>
          <a:p>
            <a:pPr marL="0" indent="0">
              <a:buNone/>
              <a:defRPr/>
            </a:pPr>
            <a:r>
              <a:rPr lang="fr-FR" dirty="0" smtClean="0"/>
              <a:t>  Enfant/Grossesse:        </a:t>
            </a:r>
            <a:r>
              <a:rPr lang="fr-FR" b="1" dirty="0" err="1">
                <a:solidFill>
                  <a:srgbClr val="FF0000"/>
                </a:solidFill>
              </a:rPr>
              <a:t>josamycine</a:t>
            </a:r>
            <a:r>
              <a:rPr lang="fr-FR" dirty="0">
                <a:solidFill>
                  <a:srgbClr val="FF0000"/>
                </a:solidFill>
              </a:rPr>
              <a:t> </a:t>
            </a:r>
            <a:r>
              <a:rPr lang="fr-FR" dirty="0"/>
              <a:t>(50 mg/kg/j); 8 j</a:t>
            </a:r>
          </a:p>
          <a:p>
            <a:pPr>
              <a:defRPr/>
            </a:pPr>
            <a:r>
              <a:rPr lang="fr-FR" b="1" dirty="0" smtClean="0">
                <a:solidFill>
                  <a:srgbClr val="FF0000"/>
                </a:solidFill>
              </a:rPr>
              <a:t>Prévention:</a:t>
            </a:r>
            <a:endParaRPr lang="fr-FR" b="1" dirty="0">
              <a:solidFill>
                <a:srgbClr val="FF0000"/>
              </a:solidFill>
            </a:endParaRPr>
          </a:p>
          <a:p>
            <a:pPr>
              <a:defRPr/>
            </a:pPr>
            <a:r>
              <a:rPr lang="fr-FR" dirty="0"/>
              <a:t>- Éviter la piqûre de tique</a:t>
            </a:r>
          </a:p>
          <a:p>
            <a:pPr>
              <a:defRPr/>
            </a:pPr>
            <a:r>
              <a:rPr lang="fr-FR" dirty="0"/>
              <a:t>- Enlever la tique le plus vite possible (il faut au moins 20h </a:t>
            </a:r>
          </a:p>
          <a:p>
            <a:pPr marL="0" indent="0">
              <a:buNone/>
              <a:defRPr/>
            </a:pPr>
            <a:r>
              <a:rPr lang="fr-FR" dirty="0" smtClean="0"/>
              <a:t>        </a:t>
            </a:r>
            <a:r>
              <a:rPr lang="fr-FR" dirty="0"/>
              <a:t>d ’attachement pour la transmission)</a:t>
            </a:r>
          </a:p>
          <a:p>
            <a:endParaRPr lang="fr-FR" dirty="0"/>
          </a:p>
        </p:txBody>
      </p:sp>
    </p:spTree>
    <p:extLst>
      <p:ext uri="{BB962C8B-B14F-4D97-AF65-F5344CB8AC3E}">
        <p14:creationId xmlns:p14="http://schemas.microsoft.com/office/powerpoint/2010/main" val="14725125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p:cNvPicPr>
            <a:picLocks noChangeAspect="1"/>
          </p:cNvPicPr>
          <p:nvPr/>
        </p:nvPicPr>
        <p:blipFill>
          <a:blip r:embed="rId2"/>
          <a:stretch>
            <a:fillRect/>
          </a:stretch>
        </p:blipFill>
        <p:spPr>
          <a:xfrm>
            <a:off x="8976575" y="933946"/>
            <a:ext cx="2205878" cy="2157819"/>
          </a:xfrm>
          <a:prstGeom prst="rect">
            <a:avLst/>
          </a:prstGeom>
        </p:spPr>
      </p:pic>
      <p:sp>
        <p:nvSpPr>
          <p:cNvPr id="2" name="Titre 1"/>
          <p:cNvSpPr>
            <a:spLocks noGrp="1"/>
          </p:cNvSpPr>
          <p:nvPr>
            <p:ph type="title"/>
          </p:nvPr>
        </p:nvSpPr>
        <p:spPr/>
        <p:txBody>
          <a:bodyPr/>
          <a:lstStyle/>
          <a:p>
            <a:endParaRPr lang="fr-FR" dirty="0"/>
          </a:p>
        </p:txBody>
      </p:sp>
      <p:pic>
        <p:nvPicPr>
          <p:cNvPr id="4" name="Espace réservé du contenu 3"/>
          <p:cNvPicPr>
            <a:picLocks noGrp="1" noChangeAspect="1"/>
          </p:cNvPicPr>
          <p:nvPr>
            <p:ph idx="1"/>
          </p:nvPr>
        </p:nvPicPr>
        <p:blipFill>
          <a:blip r:embed="rId3"/>
          <a:stretch>
            <a:fillRect/>
          </a:stretch>
        </p:blipFill>
        <p:spPr>
          <a:xfrm>
            <a:off x="1295402" y="933946"/>
            <a:ext cx="2170364" cy="2115495"/>
          </a:xfrm>
          <a:prstGeom prst="rect">
            <a:avLst/>
          </a:prstGeom>
        </p:spPr>
      </p:pic>
      <p:pic>
        <p:nvPicPr>
          <p:cNvPr id="6" name="Image 5"/>
          <p:cNvPicPr>
            <a:picLocks noChangeAspect="1"/>
          </p:cNvPicPr>
          <p:nvPr/>
        </p:nvPicPr>
        <p:blipFill>
          <a:blip r:embed="rId4"/>
          <a:stretch>
            <a:fillRect/>
          </a:stretch>
        </p:blipFill>
        <p:spPr>
          <a:xfrm>
            <a:off x="3468396" y="2285999"/>
            <a:ext cx="5255207" cy="3926164"/>
          </a:xfrm>
          <a:prstGeom prst="rect">
            <a:avLst/>
          </a:prstGeom>
        </p:spPr>
      </p:pic>
    </p:spTree>
    <p:extLst>
      <p:ext uri="{BB962C8B-B14F-4D97-AF65-F5344CB8AC3E}">
        <p14:creationId xmlns:p14="http://schemas.microsoft.com/office/powerpoint/2010/main" val="3250802620"/>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que">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56</TotalTime>
  <Words>299</Words>
  <Application>Microsoft Office PowerPoint</Application>
  <PresentationFormat>Grand écran</PresentationFormat>
  <Paragraphs>50</Paragraphs>
  <Slides>14</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14</vt:i4>
      </vt:variant>
    </vt:vector>
  </HeadingPairs>
  <TitlesOfParts>
    <vt:vector size="19" baseType="lpstr">
      <vt:lpstr>Arial</vt:lpstr>
      <vt:lpstr>Garamond</vt:lpstr>
      <vt:lpstr>Monotype Sorts</vt:lpstr>
      <vt:lpstr>Times New Roman</vt:lpstr>
      <vt:lpstr>Organique</vt:lpstr>
      <vt:lpstr>FIEVRE BOUTONNEUSE MEDITERRANEENNE </vt:lpstr>
      <vt:lpstr>INTRODUCTION</vt:lpstr>
      <vt:lpstr>HISTORIQUE</vt:lpstr>
      <vt:lpstr>AGENT CAUSAL</vt:lpstr>
      <vt:lpstr>Présentation PowerPoint</vt:lpstr>
      <vt:lpstr>Présentation PowerPoint</vt:lpstr>
      <vt:lpstr>PATHOGENIE</vt:lpstr>
      <vt:lpstr>TABLEAU CLINIQUE</vt:lpstr>
      <vt:lpstr>Présentation PowerPoint</vt:lpstr>
      <vt:lpstr>Présentation PowerPoint</vt:lpstr>
      <vt:lpstr>Présentation PowerPoint</vt:lpstr>
      <vt:lpstr>DIAGNOSTIC</vt:lpstr>
      <vt:lpstr>TRAITEMENT</vt:lpstr>
      <vt:lpstr>Présentation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FIEVRE BOUTONNEUSE MEDITERRANEENNE </dc:title>
  <dc:creator>Utilisateur Windows</dc:creator>
  <cp:lastModifiedBy>Utilisateur Windows</cp:lastModifiedBy>
  <cp:revision>18</cp:revision>
  <dcterms:created xsi:type="dcterms:W3CDTF">2022-11-05T09:27:24Z</dcterms:created>
  <dcterms:modified xsi:type="dcterms:W3CDTF">2022-11-05T10:24:07Z</dcterms:modified>
</cp:coreProperties>
</file>