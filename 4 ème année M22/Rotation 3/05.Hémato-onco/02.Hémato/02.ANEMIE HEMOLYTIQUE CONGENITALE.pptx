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0"/>
  </p:notesMasterIdLst>
  <p:sldIdLst>
    <p:sldId id="256" r:id="rId2"/>
    <p:sldId id="398" r:id="rId3"/>
    <p:sldId id="399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280" r:id="rId25"/>
    <p:sldId id="306" r:id="rId26"/>
    <p:sldId id="277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  <p:sldId id="357" r:id="rId42"/>
    <p:sldId id="358" r:id="rId43"/>
    <p:sldId id="359" r:id="rId44"/>
    <p:sldId id="362" r:id="rId45"/>
    <p:sldId id="363" r:id="rId46"/>
    <p:sldId id="364" r:id="rId47"/>
    <p:sldId id="365" r:id="rId48"/>
    <p:sldId id="366" r:id="rId49"/>
    <p:sldId id="367" r:id="rId50"/>
    <p:sldId id="281" r:id="rId51"/>
    <p:sldId id="368" r:id="rId52"/>
    <p:sldId id="369" r:id="rId53"/>
    <p:sldId id="370" r:id="rId54"/>
    <p:sldId id="371" r:id="rId55"/>
    <p:sldId id="372" r:id="rId56"/>
    <p:sldId id="373" r:id="rId57"/>
    <p:sldId id="303" r:id="rId58"/>
    <p:sldId id="340" r:id="rId59"/>
    <p:sldId id="374" r:id="rId60"/>
    <p:sldId id="307" r:id="rId61"/>
    <p:sldId id="375" r:id="rId62"/>
    <p:sldId id="311" r:id="rId63"/>
    <p:sldId id="314" r:id="rId64"/>
    <p:sldId id="286" r:id="rId65"/>
    <p:sldId id="312" r:id="rId66"/>
    <p:sldId id="310" r:id="rId67"/>
    <p:sldId id="341" r:id="rId68"/>
    <p:sldId id="289" r:id="rId69"/>
    <p:sldId id="315" r:id="rId70"/>
    <p:sldId id="316" r:id="rId71"/>
    <p:sldId id="377" r:id="rId72"/>
    <p:sldId id="388" r:id="rId73"/>
    <p:sldId id="378" r:id="rId74"/>
    <p:sldId id="389" r:id="rId75"/>
    <p:sldId id="390" r:id="rId76"/>
    <p:sldId id="380" r:id="rId77"/>
    <p:sldId id="322" r:id="rId78"/>
    <p:sldId id="332" r:id="rId79"/>
    <p:sldId id="323" r:id="rId80"/>
    <p:sldId id="394" r:id="rId81"/>
    <p:sldId id="395" r:id="rId82"/>
    <p:sldId id="333" r:id="rId83"/>
    <p:sldId id="392" r:id="rId84"/>
    <p:sldId id="320" r:id="rId85"/>
    <p:sldId id="321" r:id="rId86"/>
    <p:sldId id="393" r:id="rId87"/>
    <p:sldId id="325" r:id="rId88"/>
    <p:sldId id="326" r:id="rId89"/>
    <p:sldId id="331" r:id="rId90"/>
    <p:sldId id="327" r:id="rId91"/>
    <p:sldId id="396" r:id="rId92"/>
    <p:sldId id="336" r:id="rId93"/>
    <p:sldId id="337" r:id="rId94"/>
    <p:sldId id="338" r:id="rId95"/>
    <p:sldId id="330" r:id="rId96"/>
    <p:sldId id="334" r:id="rId97"/>
    <p:sldId id="339" r:id="rId98"/>
    <p:sldId id="335" r:id="rId9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1F65FD-2238-4041-8222-3D5FA31DC37C}" type="doc">
      <dgm:prSet loTypeId="urn:microsoft.com/office/officeart/2005/8/layout/balance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8BBEDB8-E04A-4A1A-BD9F-346ADA796B3D}">
      <dgm:prSet phldrT="[Texte]" phldr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fr-FR" dirty="0"/>
        </a:p>
      </dgm:t>
    </dgm:pt>
    <dgm:pt modelId="{882ACADD-75DC-471B-B437-6E9843698822}" type="parTrans" cxnId="{BA7CDBC9-B0FD-4695-9660-0A801EDD0C90}">
      <dgm:prSet/>
      <dgm:spPr/>
      <dgm:t>
        <a:bodyPr/>
        <a:lstStyle/>
        <a:p>
          <a:endParaRPr lang="fr-FR"/>
        </a:p>
      </dgm:t>
    </dgm:pt>
    <dgm:pt modelId="{7EA54E5E-A8AB-4144-93F1-3A967A37C8D9}" type="sibTrans" cxnId="{BA7CDBC9-B0FD-4695-9660-0A801EDD0C90}">
      <dgm:prSet/>
      <dgm:spPr/>
      <dgm:t>
        <a:bodyPr/>
        <a:lstStyle/>
        <a:p>
          <a:endParaRPr lang="fr-FR"/>
        </a:p>
      </dgm:t>
    </dgm:pt>
    <dgm:pt modelId="{80BD119F-DA63-4E34-BC4D-B03E43CB8133}">
      <dgm:prSet phldrT="[Texte]" custT="1"/>
      <dgm:spPr/>
      <dgm:t>
        <a:bodyPr/>
        <a:lstStyle/>
        <a:p>
          <a:r>
            <a:rPr lang="fr-FR" sz="2400" dirty="0"/>
            <a:t>Non</a:t>
          </a:r>
        </a:p>
        <a:p>
          <a:r>
            <a:rPr lang="el-GR" sz="2400" dirty="0"/>
            <a:t>α</a:t>
          </a:r>
          <a:endParaRPr lang="fr-FR" sz="2400" dirty="0"/>
        </a:p>
      </dgm:t>
    </dgm:pt>
    <dgm:pt modelId="{DE65C566-7B4D-437D-BD59-CF1CCF572A5A}" type="parTrans" cxnId="{AEDA3EF6-5589-4198-8178-DEFA6A517A3F}">
      <dgm:prSet/>
      <dgm:spPr/>
      <dgm:t>
        <a:bodyPr/>
        <a:lstStyle/>
        <a:p>
          <a:endParaRPr lang="fr-FR"/>
        </a:p>
      </dgm:t>
    </dgm:pt>
    <dgm:pt modelId="{9690B67A-A311-482B-BE73-00F33A4D1B15}" type="sibTrans" cxnId="{AEDA3EF6-5589-4198-8178-DEFA6A517A3F}">
      <dgm:prSet/>
      <dgm:spPr/>
      <dgm:t>
        <a:bodyPr/>
        <a:lstStyle/>
        <a:p>
          <a:endParaRPr lang="fr-FR"/>
        </a:p>
      </dgm:t>
    </dgm:pt>
    <dgm:pt modelId="{CA836EAB-E0BA-4E07-9B56-9304779E0D61}">
      <dgm:prSet phldrT="[Texte]" phldr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fr-FR" dirty="0">
            <a:ln>
              <a:solidFill>
                <a:schemeClr val="bg1"/>
              </a:solidFill>
            </a:ln>
            <a:solidFill>
              <a:schemeClr val="bg1"/>
            </a:solidFill>
          </a:endParaRPr>
        </a:p>
      </dgm:t>
    </dgm:pt>
    <dgm:pt modelId="{D02C54D7-F668-4D2B-B208-C760E15EAE2D}" type="sibTrans" cxnId="{AE93747A-A249-4050-BF76-84A784EDE06A}">
      <dgm:prSet/>
      <dgm:spPr/>
      <dgm:t>
        <a:bodyPr/>
        <a:lstStyle/>
        <a:p>
          <a:endParaRPr lang="fr-FR"/>
        </a:p>
      </dgm:t>
    </dgm:pt>
    <dgm:pt modelId="{BB90AA00-E6DE-4DE3-8F7C-04FB4F14CBDE}" type="parTrans" cxnId="{AE93747A-A249-4050-BF76-84A784EDE06A}">
      <dgm:prSet/>
      <dgm:spPr/>
      <dgm:t>
        <a:bodyPr/>
        <a:lstStyle/>
        <a:p>
          <a:endParaRPr lang="fr-FR"/>
        </a:p>
      </dgm:t>
    </dgm:pt>
    <dgm:pt modelId="{ADCB97C6-3B0E-4479-BB3A-C5D3A54E6003}">
      <dgm:prSet phldrT="[Texte]"/>
      <dgm:spPr>
        <a:solidFill>
          <a:srgbClr val="FF0000"/>
        </a:solidFill>
      </dgm:spPr>
      <dgm:t>
        <a:bodyPr/>
        <a:lstStyle/>
        <a:p>
          <a:r>
            <a:rPr lang="el-GR" dirty="0"/>
            <a:t>α</a:t>
          </a:r>
          <a:endParaRPr lang="fr-FR" dirty="0"/>
        </a:p>
      </dgm:t>
    </dgm:pt>
    <dgm:pt modelId="{001FF527-CDD9-4532-94CD-55D98F7B4E64}" type="sibTrans" cxnId="{A1355A23-1D20-4DF4-899A-BED8FB7B3DF1}">
      <dgm:prSet/>
      <dgm:spPr/>
      <dgm:t>
        <a:bodyPr/>
        <a:lstStyle/>
        <a:p>
          <a:endParaRPr lang="fr-FR"/>
        </a:p>
      </dgm:t>
    </dgm:pt>
    <dgm:pt modelId="{857B1F55-1ECD-40AC-9BEA-E9B0A9D4043D}" type="parTrans" cxnId="{A1355A23-1D20-4DF4-899A-BED8FB7B3DF1}">
      <dgm:prSet/>
      <dgm:spPr/>
      <dgm:t>
        <a:bodyPr/>
        <a:lstStyle/>
        <a:p>
          <a:endParaRPr lang="fr-FR"/>
        </a:p>
      </dgm:t>
    </dgm:pt>
    <dgm:pt modelId="{7E06CDDE-90AA-4971-81B7-908FB04742BC}" type="pres">
      <dgm:prSet presAssocID="{BF1F65FD-2238-4041-8222-3D5FA31DC37C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fr-CA"/>
        </a:p>
      </dgm:t>
    </dgm:pt>
    <dgm:pt modelId="{44834882-5712-4C9E-BCA5-44B999602ABA}" type="pres">
      <dgm:prSet presAssocID="{BF1F65FD-2238-4041-8222-3D5FA31DC37C}" presName="dummyMaxCanvas" presStyleCnt="0"/>
      <dgm:spPr/>
    </dgm:pt>
    <dgm:pt modelId="{192FC5E5-865F-4447-AF37-3BA87D41E8EB}" type="pres">
      <dgm:prSet presAssocID="{BF1F65FD-2238-4041-8222-3D5FA31DC37C}" presName="parentComposite" presStyleCnt="0"/>
      <dgm:spPr/>
    </dgm:pt>
    <dgm:pt modelId="{375F0B2C-D5BB-474D-903E-E7FE29140EB1}" type="pres">
      <dgm:prSet presAssocID="{BF1F65FD-2238-4041-8222-3D5FA31DC37C}" presName="parent1" presStyleLbl="alignAccFollowNode1" presStyleIdx="0" presStyleCnt="4" custLinFactY="100000" custLinFactNeighborY="146156">
        <dgm:presLayoutVars>
          <dgm:chMax val="4"/>
        </dgm:presLayoutVars>
      </dgm:prSet>
      <dgm:spPr/>
      <dgm:t>
        <a:bodyPr/>
        <a:lstStyle/>
        <a:p>
          <a:endParaRPr lang="fr-CA"/>
        </a:p>
      </dgm:t>
    </dgm:pt>
    <dgm:pt modelId="{01953045-1ACC-4AB5-9236-666F7629FAB5}" type="pres">
      <dgm:prSet presAssocID="{BF1F65FD-2238-4041-8222-3D5FA31DC37C}" presName="parent2" presStyleLbl="alignAccFollowNode1" presStyleIdx="1" presStyleCnt="4" custLinFactY="100000" custLinFactNeighborY="133793">
        <dgm:presLayoutVars>
          <dgm:chMax val="4"/>
        </dgm:presLayoutVars>
      </dgm:prSet>
      <dgm:spPr/>
      <dgm:t>
        <a:bodyPr/>
        <a:lstStyle/>
        <a:p>
          <a:endParaRPr lang="fr-CA"/>
        </a:p>
      </dgm:t>
    </dgm:pt>
    <dgm:pt modelId="{CD03F730-69E7-4181-AAED-C97121190CA0}" type="pres">
      <dgm:prSet presAssocID="{BF1F65FD-2238-4041-8222-3D5FA31DC37C}" presName="childrenComposite" presStyleCnt="0"/>
      <dgm:spPr/>
    </dgm:pt>
    <dgm:pt modelId="{83748ED8-20C2-40D9-8C8E-FB5236D4D7BD}" type="pres">
      <dgm:prSet presAssocID="{BF1F65FD-2238-4041-8222-3D5FA31DC37C}" presName="dummyMaxCanvas_ChildArea" presStyleCnt="0"/>
      <dgm:spPr/>
    </dgm:pt>
    <dgm:pt modelId="{F5562A90-1B53-4C89-A1E1-63DC71E16961}" type="pres">
      <dgm:prSet presAssocID="{BF1F65FD-2238-4041-8222-3D5FA31DC37C}" presName="fulcrum" presStyleLbl="alignAccFollowNode1" presStyleIdx="2" presStyleCnt="4"/>
      <dgm:spPr>
        <a:solidFill>
          <a:schemeClr val="accent1">
            <a:lumMod val="60000"/>
            <a:lumOff val="40000"/>
            <a:alpha val="90000"/>
          </a:schemeClr>
        </a:solidFill>
      </dgm:spPr>
    </dgm:pt>
    <dgm:pt modelId="{E6D5A31F-F74E-48C0-B2CA-4B2BF0D70FD2}" type="pres">
      <dgm:prSet presAssocID="{BF1F65FD-2238-4041-8222-3D5FA31DC37C}" presName="balance_11" presStyleLbl="alignAccFollowNode1" presStyleIdx="3" presStyleCnt="4">
        <dgm:presLayoutVars>
          <dgm:bulletEnabled val="1"/>
        </dgm:presLayoutVars>
      </dgm:prSet>
      <dgm:spPr>
        <a:solidFill>
          <a:schemeClr val="accent1">
            <a:lumMod val="60000"/>
            <a:lumOff val="40000"/>
          </a:schemeClr>
        </a:solidFill>
      </dgm:spPr>
    </dgm:pt>
    <dgm:pt modelId="{1942D5FB-5CBD-4D52-B121-D8300730D0E1}" type="pres">
      <dgm:prSet presAssocID="{BF1F65FD-2238-4041-8222-3D5FA31DC37C}" presName="left_11_1" presStyleLbl="node1" presStyleIdx="0" presStyleCnt="2" custScaleY="62891" custLinFactNeighborY="18956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79D7C3D6-1906-4142-A392-0758EB61CD8E}" type="pres">
      <dgm:prSet presAssocID="{BF1F65FD-2238-4041-8222-3D5FA31DC37C}" presName="right_11_1" presStyleLbl="node1" presStyleIdx="1" presStyleCnt="2" custScaleY="62893" custLinFactNeighborY="18957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</dgm:ptLst>
  <dgm:cxnLst>
    <dgm:cxn modelId="{33DDD7E1-8025-4E40-BF8B-22A44176B2BC}" type="presOf" srcId="{BF1F65FD-2238-4041-8222-3D5FA31DC37C}" destId="{7E06CDDE-90AA-4971-81B7-908FB04742BC}" srcOrd="0" destOrd="0" presId="urn:microsoft.com/office/officeart/2005/8/layout/balance1"/>
    <dgm:cxn modelId="{BA7CDBC9-B0FD-4695-9660-0A801EDD0C90}" srcId="{BF1F65FD-2238-4041-8222-3D5FA31DC37C}" destId="{18BBEDB8-E04A-4A1A-BD9F-346ADA796B3D}" srcOrd="1" destOrd="0" parTransId="{882ACADD-75DC-471B-B437-6E9843698822}" sibTransId="{7EA54E5E-A8AB-4144-93F1-3A967A37C8D9}"/>
    <dgm:cxn modelId="{B4278FAE-8BAC-4EA2-B278-13CF60FF5133}" type="presOf" srcId="{18BBEDB8-E04A-4A1A-BD9F-346ADA796B3D}" destId="{01953045-1ACC-4AB5-9236-666F7629FAB5}" srcOrd="0" destOrd="0" presId="urn:microsoft.com/office/officeart/2005/8/layout/balance1"/>
    <dgm:cxn modelId="{A1355A23-1D20-4DF4-899A-BED8FB7B3DF1}" srcId="{CA836EAB-E0BA-4E07-9B56-9304779E0D61}" destId="{ADCB97C6-3B0E-4479-BB3A-C5D3A54E6003}" srcOrd="0" destOrd="0" parTransId="{857B1F55-1ECD-40AC-9BEA-E9B0A9D4043D}" sibTransId="{001FF527-CDD9-4532-94CD-55D98F7B4E64}"/>
    <dgm:cxn modelId="{562452B1-088A-4DA9-9BFF-584CB06D6459}" type="presOf" srcId="{ADCB97C6-3B0E-4479-BB3A-C5D3A54E6003}" destId="{1942D5FB-5CBD-4D52-B121-D8300730D0E1}" srcOrd="0" destOrd="0" presId="urn:microsoft.com/office/officeart/2005/8/layout/balance1"/>
    <dgm:cxn modelId="{E60097C3-05F2-4C9F-9E4A-AF5502E5F509}" type="presOf" srcId="{CA836EAB-E0BA-4E07-9B56-9304779E0D61}" destId="{375F0B2C-D5BB-474D-903E-E7FE29140EB1}" srcOrd="0" destOrd="0" presId="urn:microsoft.com/office/officeart/2005/8/layout/balance1"/>
    <dgm:cxn modelId="{AEDA3EF6-5589-4198-8178-DEFA6A517A3F}" srcId="{18BBEDB8-E04A-4A1A-BD9F-346ADA796B3D}" destId="{80BD119F-DA63-4E34-BC4D-B03E43CB8133}" srcOrd="0" destOrd="0" parTransId="{DE65C566-7B4D-437D-BD59-CF1CCF572A5A}" sibTransId="{9690B67A-A311-482B-BE73-00F33A4D1B15}"/>
    <dgm:cxn modelId="{AE93747A-A249-4050-BF76-84A784EDE06A}" srcId="{BF1F65FD-2238-4041-8222-3D5FA31DC37C}" destId="{CA836EAB-E0BA-4E07-9B56-9304779E0D61}" srcOrd="0" destOrd="0" parTransId="{BB90AA00-E6DE-4DE3-8F7C-04FB4F14CBDE}" sibTransId="{D02C54D7-F668-4D2B-B208-C760E15EAE2D}"/>
    <dgm:cxn modelId="{643C20E8-EA4B-4218-9CA2-EC23D6A07163}" type="presOf" srcId="{80BD119F-DA63-4E34-BC4D-B03E43CB8133}" destId="{79D7C3D6-1906-4142-A392-0758EB61CD8E}" srcOrd="0" destOrd="0" presId="urn:microsoft.com/office/officeart/2005/8/layout/balance1"/>
    <dgm:cxn modelId="{DFF1959B-8417-4A58-A1B3-817E7F1CFC6B}" type="presParOf" srcId="{7E06CDDE-90AA-4971-81B7-908FB04742BC}" destId="{44834882-5712-4C9E-BCA5-44B999602ABA}" srcOrd="0" destOrd="0" presId="urn:microsoft.com/office/officeart/2005/8/layout/balance1"/>
    <dgm:cxn modelId="{BEFE3DD7-A1D1-4E32-851F-0A4ECEC3E8E7}" type="presParOf" srcId="{7E06CDDE-90AA-4971-81B7-908FB04742BC}" destId="{192FC5E5-865F-4447-AF37-3BA87D41E8EB}" srcOrd="1" destOrd="0" presId="urn:microsoft.com/office/officeart/2005/8/layout/balance1"/>
    <dgm:cxn modelId="{EEE1F4F7-F9BD-46C6-9876-5D9819385539}" type="presParOf" srcId="{192FC5E5-865F-4447-AF37-3BA87D41E8EB}" destId="{375F0B2C-D5BB-474D-903E-E7FE29140EB1}" srcOrd="0" destOrd="0" presId="urn:microsoft.com/office/officeart/2005/8/layout/balance1"/>
    <dgm:cxn modelId="{A703DE18-E513-43A5-B0BF-AB5699BC6B5C}" type="presParOf" srcId="{192FC5E5-865F-4447-AF37-3BA87D41E8EB}" destId="{01953045-1ACC-4AB5-9236-666F7629FAB5}" srcOrd="1" destOrd="0" presId="urn:microsoft.com/office/officeart/2005/8/layout/balance1"/>
    <dgm:cxn modelId="{FCC4F6E4-255E-4C9A-901F-7B2428F5CE18}" type="presParOf" srcId="{7E06CDDE-90AA-4971-81B7-908FB04742BC}" destId="{CD03F730-69E7-4181-AAED-C97121190CA0}" srcOrd="2" destOrd="0" presId="urn:microsoft.com/office/officeart/2005/8/layout/balance1"/>
    <dgm:cxn modelId="{48B0D7FA-3925-46E9-BBC1-782ACCE1B739}" type="presParOf" srcId="{CD03F730-69E7-4181-AAED-C97121190CA0}" destId="{83748ED8-20C2-40D9-8C8E-FB5236D4D7BD}" srcOrd="0" destOrd="0" presId="urn:microsoft.com/office/officeart/2005/8/layout/balance1"/>
    <dgm:cxn modelId="{086DD0EF-C5CC-4A06-9B31-2132A58CC9C6}" type="presParOf" srcId="{CD03F730-69E7-4181-AAED-C97121190CA0}" destId="{F5562A90-1B53-4C89-A1E1-63DC71E16961}" srcOrd="1" destOrd="0" presId="urn:microsoft.com/office/officeart/2005/8/layout/balance1"/>
    <dgm:cxn modelId="{FD2719AA-F5A8-4E3D-8E6D-1B23B8D93D0F}" type="presParOf" srcId="{CD03F730-69E7-4181-AAED-C97121190CA0}" destId="{E6D5A31F-F74E-48C0-B2CA-4B2BF0D70FD2}" srcOrd="2" destOrd="0" presId="urn:microsoft.com/office/officeart/2005/8/layout/balance1"/>
    <dgm:cxn modelId="{1AB152A3-6976-495A-99E6-06177521F84D}" type="presParOf" srcId="{CD03F730-69E7-4181-AAED-C97121190CA0}" destId="{1942D5FB-5CBD-4D52-B121-D8300730D0E1}" srcOrd="3" destOrd="0" presId="urn:microsoft.com/office/officeart/2005/8/layout/balance1"/>
    <dgm:cxn modelId="{5953B968-5CAE-4B7B-980D-CB4F7E188838}" type="presParOf" srcId="{CD03F730-69E7-4181-AAED-C97121190CA0}" destId="{79D7C3D6-1906-4142-A392-0758EB61CD8E}" srcOrd="4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1F65FD-2238-4041-8222-3D5FA31DC37C}" type="doc">
      <dgm:prSet loTypeId="urn:microsoft.com/office/officeart/2005/8/layout/balance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8BBEDB8-E04A-4A1A-BD9F-346ADA796B3D}">
      <dgm:prSet phldrT="[Texte]" phldr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fr-FR" dirty="0">
            <a:solidFill>
              <a:schemeClr val="bg1"/>
            </a:solidFill>
          </a:endParaRPr>
        </a:p>
      </dgm:t>
    </dgm:pt>
    <dgm:pt modelId="{882ACADD-75DC-471B-B437-6E9843698822}" type="parTrans" cxnId="{BA7CDBC9-B0FD-4695-9660-0A801EDD0C90}">
      <dgm:prSet/>
      <dgm:spPr/>
      <dgm:t>
        <a:bodyPr/>
        <a:lstStyle/>
        <a:p>
          <a:endParaRPr lang="fr-FR"/>
        </a:p>
      </dgm:t>
    </dgm:pt>
    <dgm:pt modelId="{7EA54E5E-A8AB-4144-93F1-3A967A37C8D9}" type="sibTrans" cxnId="{BA7CDBC9-B0FD-4695-9660-0A801EDD0C90}">
      <dgm:prSet/>
      <dgm:spPr/>
      <dgm:t>
        <a:bodyPr/>
        <a:lstStyle/>
        <a:p>
          <a:endParaRPr lang="fr-FR"/>
        </a:p>
      </dgm:t>
    </dgm:pt>
    <dgm:pt modelId="{80BD119F-DA63-4E34-BC4D-B03E43CB8133}">
      <dgm:prSet phldrT="[Texte]" custT="1"/>
      <dgm:spPr/>
      <dgm:t>
        <a:bodyPr/>
        <a:lstStyle/>
        <a:p>
          <a:r>
            <a:rPr lang="fr-FR" sz="1800" dirty="0"/>
            <a:t>Non </a:t>
          </a:r>
          <a:r>
            <a:rPr lang="el-GR" sz="1800" dirty="0"/>
            <a:t>α</a:t>
          </a:r>
          <a:endParaRPr lang="fr-FR" sz="1800" dirty="0"/>
        </a:p>
      </dgm:t>
    </dgm:pt>
    <dgm:pt modelId="{DE65C566-7B4D-437D-BD59-CF1CCF572A5A}" type="parTrans" cxnId="{AEDA3EF6-5589-4198-8178-DEFA6A517A3F}">
      <dgm:prSet/>
      <dgm:spPr/>
      <dgm:t>
        <a:bodyPr/>
        <a:lstStyle/>
        <a:p>
          <a:endParaRPr lang="fr-FR"/>
        </a:p>
      </dgm:t>
    </dgm:pt>
    <dgm:pt modelId="{9690B67A-A311-482B-BE73-00F33A4D1B15}" type="sibTrans" cxnId="{AEDA3EF6-5589-4198-8178-DEFA6A517A3F}">
      <dgm:prSet/>
      <dgm:spPr/>
      <dgm:t>
        <a:bodyPr/>
        <a:lstStyle/>
        <a:p>
          <a:endParaRPr lang="fr-FR"/>
        </a:p>
      </dgm:t>
    </dgm:pt>
    <dgm:pt modelId="{CA836EAB-E0BA-4E07-9B56-9304779E0D61}">
      <dgm:prSet phldrT="[Texte]" phldr="1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fr-FR" dirty="0">
            <a:ln>
              <a:solidFill>
                <a:schemeClr val="bg1"/>
              </a:solidFill>
            </a:ln>
            <a:solidFill>
              <a:schemeClr val="bg1"/>
            </a:solidFill>
          </a:endParaRPr>
        </a:p>
      </dgm:t>
    </dgm:pt>
    <dgm:pt modelId="{D02C54D7-F668-4D2B-B208-C760E15EAE2D}" type="sibTrans" cxnId="{AE93747A-A249-4050-BF76-84A784EDE06A}">
      <dgm:prSet/>
      <dgm:spPr/>
      <dgm:t>
        <a:bodyPr/>
        <a:lstStyle/>
        <a:p>
          <a:endParaRPr lang="fr-FR"/>
        </a:p>
      </dgm:t>
    </dgm:pt>
    <dgm:pt modelId="{BB90AA00-E6DE-4DE3-8F7C-04FB4F14CBDE}" type="parTrans" cxnId="{AE93747A-A249-4050-BF76-84A784EDE06A}">
      <dgm:prSet/>
      <dgm:spPr/>
      <dgm:t>
        <a:bodyPr/>
        <a:lstStyle/>
        <a:p>
          <a:endParaRPr lang="fr-FR"/>
        </a:p>
      </dgm:t>
    </dgm:pt>
    <dgm:pt modelId="{ADCB97C6-3B0E-4479-BB3A-C5D3A54E6003}">
      <dgm:prSet phldrT="[Texte]" custT="1"/>
      <dgm:spPr>
        <a:solidFill>
          <a:srgbClr val="FF0000"/>
        </a:solidFill>
      </dgm:spPr>
      <dgm:t>
        <a:bodyPr/>
        <a:lstStyle/>
        <a:p>
          <a:r>
            <a:rPr lang="el-GR" sz="2000" dirty="0"/>
            <a:t>α</a:t>
          </a:r>
          <a:endParaRPr lang="fr-FR" sz="2000" dirty="0"/>
        </a:p>
      </dgm:t>
    </dgm:pt>
    <dgm:pt modelId="{001FF527-CDD9-4532-94CD-55D98F7B4E64}" type="sibTrans" cxnId="{A1355A23-1D20-4DF4-899A-BED8FB7B3DF1}">
      <dgm:prSet/>
      <dgm:spPr/>
      <dgm:t>
        <a:bodyPr/>
        <a:lstStyle/>
        <a:p>
          <a:endParaRPr lang="fr-FR"/>
        </a:p>
      </dgm:t>
    </dgm:pt>
    <dgm:pt modelId="{857B1F55-1ECD-40AC-9BEA-E9B0A9D4043D}" type="parTrans" cxnId="{A1355A23-1D20-4DF4-899A-BED8FB7B3DF1}">
      <dgm:prSet/>
      <dgm:spPr/>
      <dgm:t>
        <a:bodyPr/>
        <a:lstStyle/>
        <a:p>
          <a:endParaRPr lang="fr-FR"/>
        </a:p>
      </dgm:t>
    </dgm:pt>
    <dgm:pt modelId="{F97F8529-6564-43A5-9F8D-00BCF8DEDE4E}">
      <dgm:prSet phldrT="[Texte]">
        <dgm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r>
            <a:rPr lang="el-GR" dirty="0"/>
            <a:t>α</a:t>
          </a:r>
          <a:endParaRPr lang="fr-FR" dirty="0"/>
        </a:p>
      </dgm:t>
    </dgm:pt>
    <dgm:pt modelId="{E76029F9-89D4-462B-A538-9643256BBF80}" type="parTrans" cxnId="{DBFBED61-A903-4C8B-B3E2-97B7DADB2C2A}">
      <dgm:prSet/>
      <dgm:spPr/>
      <dgm:t>
        <a:bodyPr/>
        <a:lstStyle/>
        <a:p>
          <a:endParaRPr lang="fr-FR"/>
        </a:p>
      </dgm:t>
    </dgm:pt>
    <dgm:pt modelId="{1D18DCDE-CBDD-444E-B1F2-FB6787B0AC2F}" type="sibTrans" cxnId="{DBFBED61-A903-4C8B-B3E2-97B7DADB2C2A}">
      <dgm:prSet/>
      <dgm:spPr/>
      <dgm:t>
        <a:bodyPr/>
        <a:lstStyle/>
        <a:p>
          <a:endParaRPr lang="fr-FR"/>
        </a:p>
      </dgm:t>
    </dgm:pt>
    <dgm:pt modelId="{7E06CDDE-90AA-4971-81B7-908FB04742BC}" type="pres">
      <dgm:prSet presAssocID="{BF1F65FD-2238-4041-8222-3D5FA31DC37C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fr-CA"/>
        </a:p>
      </dgm:t>
    </dgm:pt>
    <dgm:pt modelId="{44834882-5712-4C9E-BCA5-44B999602ABA}" type="pres">
      <dgm:prSet presAssocID="{BF1F65FD-2238-4041-8222-3D5FA31DC37C}" presName="dummyMaxCanvas" presStyleCnt="0"/>
      <dgm:spPr/>
    </dgm:pt>
    <dgm:pt modelId="{192FC5E5-865F-4447-AF37-3BA87D41E8EB}" type="pres">
      <dgm:prSet presAssocID="{BF1F65FD-2238-4041-8222-3D5FA31DC37C}" presName="parentComposite" presStyleCnt="0"/>
      <dgm:spPr/>
    </dgm:pt>
    <dgm:pt modelId="{375F0B2C-D5BB-474D-903E-E7FE29140EB1}" type="pres">
      <dgm:prSet presAssocID="{BF1F65FD-2238-4041-8222-3D5FA31DC37C}" presName="parent1" presStyleLbl="alignAccFollowNode1" presStyleIdx="0" presStyleCnt="4" custFlipVert="0" custScaleY="18135" custLinFactY="100000" custLinFactNeighborX="8486" custLinFactNeighborY="130767">
        <dgm:presLayoutVars>
          <dgm:chMax val="4"/>
        </dgm:presLayoutVars>
      </dgm:prSet>
      <dgm:spPr/>
      <dgm:t>
        <a:bodyPr/>
        <a:lstStyle/>
        <a:p>
          <a:endParaRPr lang="fr-CA"/>
        </a:p>
      </dgm:t>
    </dgm:pt>
    <dgm:pt modelId="{01953045-1ACC-4AB5-9236-666F7629FAB5}" type="pres">
      <dgm:prSet presAssocID="{BF1F65FD-2238-4041-8222-3D5FA31DC37C}" presName="parent2" presStyleLbl="alignAccFollowNode1" presStyleIdx="1" presStyleCnt="4" custFlipVert="0" custScaleY="7912" custLinFactY="98790" custLinFactNeighborX="12119" custLinFactNeighborY="100000">
        <dgm:presLayoutVars>
          <dgm:chMax val="4"/>
        </dgm:presLayoutVars>
      </dgm:prSet>
      <dgm:spPr/>
      <dgm:t>
        <a:bodyPr/>
        <a:lstStyle/>
        <a:p>
          <a:endParaRPr lang="fr-CA"/>
        </a:p>
      </dgm:t>
    </dgm:pt>
    <dgm:pt modelId="{CD03F730-69E7-4181-AAED-C97121190CA0}" type="pres">
      <dgm:prSet presAssocID="{BF1F65FD-2238-4041-8222-3D5FA31DC37C}" presName="childrenComposite" presStyleCnt="0"/>
      <dgm:spPr/>
    </dgm:pt>
    <dgm:pt modelId="{83748ED8-20C2-40D9-8C8E-FB5236D4D7BD}" type="pres">
      <dgm:prSet presAssocID="{BF1F65FD-2238-4041-8222-3D5FA31DC37C}" presName="dummyMaxCanvas_ChildArea" presStyleCnt="0"/>
      <dgm:spPr/>
    </dgm:pt>
    <dgm:pt modelId="{F5562A90-1B53-4C89-A1E1-63DC71E16961}" type="pres">
      <dgm:prSet presAssocID="{BF1F65FD-2238-4041-8222-3D5FA31DC37C}" presName="fulcrum" presStyleLbl="alignAccFollowNode1" presStyleIdx="2" presStyleCnt="4"/>
      <dgm:spPr>
        <a:solidFill>
          <a:schemeClr val="accent1">
            <a:lumMod val="60000"/>
            <a:lumOff val="40000"/>
            <a:alpha val="90000"/>
          </a:schemeClr>
        </a:solidFill>
      </dgm:spPr>
    </dgm:pt>
    <dgm:pt modelId="{9017B979-CC99-4F56-B285-492C4F5ECF62}" type="pres">
      <dgm:prSet presAssocID="{BF1F65FD-2238-4041-8222-3D5FA31DC37C}" presName="balance_21" presStyleLbl="alignAccFollowNode1" presStyleIdx="3" presStyleCnt="4">
        <dgm:presLayoutVars>
          <dgm:bulletEnabled val="1"/>
        </dgm:presLayoutVars>
      </dgm:prSet>
      <dgm:spPr>
        <a:solidFill>
          <a:schemeClr val="accent1">
            <a:lumMod val="60000"/>
            <a:lumOff val="40000"/>
            <a:alpha val="90000"/>
          </a:schemeClr>
        </a:solidFill>
      </dgm:spPr>
    </dgm:pt>
    <dgm:pt modelId="{79979359-D877-4A5C-BD33-C449C7F7A53A}" type="pres">
      <dgm:prSet presAssocID="{BF1F65FD-2238-4041-8222-3D5FA31DC37C}" presName="left_21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FD28DDE6-7682-4891-A51E-15B6E8E92091}" type="pres">
      <dgm:prSet presAssocID="{BF1F65FD-2238-4041-8222-3D5FA31DC37C}" presName="left_21_2" presStyleLbl="node1" presStyleIdx="1" presStyleCnt="3" custFlipVert="1" custScaleY="9588" custLinFactNeighborY="32795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1F6FFE90-F129-4FCF-B077-51571ABA3BE2}" type="pres">
      <dgm:prSet presAssocID="{BF1F65FD-2238-4041-8222-3D5FA31DC37C}" presName="right_21_1" presStyleLbl="node1" presStyleIdx="2" presStyleCnt="3" custScaleY="65229" custLinFactNeighborX="-1351" custLinFactNeighborY="9413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</dgm:ptLst>
  <dgm:cxnLst>
    <dgm:cxn modelId="{BD96170F-0DC7-467C-B144-47CAE5E0AF89}" type="presOf" srcId="{BF1F65FD-2238-4041-8222-3D5FA31DC37C}" destId="{7E06CDDE-90AA-4971-81B7-908FB04742BC}" srcOrd="0" destOrd="0" presId="urn:microsoft.com/office/officeart/2005/8/layout/balance1"/>
    <dgm:cxn modelId="{4F0D2ACF-11FE-43F7-91CD-6BE23BF62030}" type="presOf" srcId="{18BBEDB8-E04A-4A1A-BD9F-346ADA796B3D}" destId="{01953045-1ACC-4AB5-9236-666F7629FAB5}" srcOrd="0" destOrd="0" presId="urn:microsoft.com/office/officeart/2005/8/layout/balance1"/>
    <dgm:cxn modelId="{BA7CDBC9-B0FD-4695-9660-0A801EDD0C90}" srcId="{BF1F65FD-2238-4041-8222-3D5FA31DC37C}" destId="{18BBEDB8-E04A-4A1A-BD9F-346ADA796B3D}" srcOrd="1" destOrd="0" parTransId="{882ACADD-75DC-471B-B437-6E9843698822}" sibTransId="{7EA54E5E-A8AB-4144-93F1-3A967A37C8D9}"/>
    <dgm:cxn modelId="{C63EED9E-F09B-42BC-959B-0BFC577F44CD}" type="presOf" srcId="{80BD119F-DA63-4E34-BC4D-B03E43CB8133}" destId="{1F6FFE90-F129-4FCF-B077-51571ABA3BE2}" srcOrd="0" destOrd="0" presId="urn:microsoft.com/office/officeart/2005/8/layout/balance1"/>
    <dgm:cxn modelId="{A1355A23-1D20-4DF4-899A-BED8FB7B3DF1}" srcId="{CA836EAB-E0BA-4E07-9B56-9304779E0D61}" destId="{ADCB97C6-3B0E-4479-BB3A-C5D3A54E6003}" srcOrd="0" destOrd="0" parTransId="{857B1F55-1ECD-40AC-9BEA-E9B0A9D4043D}" sibTransId="{001FF527-CDD9-4532-94CD-55D98F7B4E64}"/>
    <dgm:cxn modelId="{AEDA3EF6-5589-4198-8178-DEFA6A517A3F}" srcId="{18BBEDB8-E04A-4A1A-BD9F-346ADA796B3D}" destId="{80BD119F-DA63-4E34-BC4D-B03E43CB8133}" srcOrd="0" destOrd="0" parTransId="{DE65C566-7B4D-437D-BD59-CF1CCF572A5A}" sibTransId="{9690B67A-A311-482B-BE73-00F33A4D1B15}"/>
    <dgm:cxn modelId="{AE93747A-A249-4050-BF76-84A784EDE06A}" srcId="{BF1F65FD-2238-4041-8222-3D5FA31DC37C}" destId="{CA836EAB-E0BA-4E07-9B56-9304779E0D61}" srcOrd="0" destOrd="0" parTransId="{BB90AA00-E6DE-4DE3-8F7C-04FB4F14CBDE}" sibTransId="{D02C54D7-F668-4D2B-B208-C760E15EAE2D}"/>
    <dgm:cxn modelId="{0E798841-E24E-4F88-89B5-8B26D6B18A95}" type="presOf" srcId="{ADCB97C6-3B0E-4479-BB3A-C5D3A54E6003}" destId="{79979359-D877-4A5C-BD33-C449C7F7A53A}" srcOrd="0" destOrd="0" presId="urn:microsoft.com/office/officeart/2005/8/layout/balance1"/>
    <dgm:cxn modelId="{DBFBED61-A903-4C8B-B3E2-97B7DADB2C2A}" srcId="{CA836EAB-E0BA-4E07-9B56-9304779E0D61}" destId="{F97F8529-6564-43A5-9F8D-00BCF8DEDE4E}" srcOrd="1" destOrd="0" parTransId="{E76029F9-89D4-462B-A538-9643256BBF80}" sibTransId="{1D18DCDE-CBDD-444E-B1F2-FB6787B0AC2F}"/>
    <dgm:cxn modelId="{89DE2B74-A64A-45E0-8BD8-D97C2D5C937B}" type="presOf" srcId="{CA836EAB-E0BA-4E07-9B56-9304779E0D61}" destId="{375F0B2C-D5BB-474D-903E-E7FE29140EB1}" srcOrd="0" destOrd="0" presId="urn:microsoft.com/office/officeart/2005/8/layout/balance1"/>
    <dgm:cxn modelId="{61737270-6A5C-4D66-BB1F-F9F79A769BE6}" type="presOf" srcId="{F97F8529-6564-43A5-9F8D-00BCF8DEDE4E}" destId="{FD28DDE6-7682-4891-A51E-15B6E8E92091}" srcOrd="0" destOrd="0" presId="urn:microsoft.com/office/officeart/2005/8/layout/balance1"/>
    <dgm:cxn modelId="{E837B0A9-689B-49A1-9FF5-78E83B5CD2A2}" type="presParOf" srcId="{7E06CDDE-90AA-4971-81B7-908FB04742BC}" destId="{44834882-5712-4C9E-BCA5-44B999602ABA}" srcOrd="0" destOrd="0" presId="urn:microsoft.com/office/officeart/2005/8/layout/balance1"/>
    <dgm:cxn modelId="{44B34881-EBBF-4E22-9F96-8CFA2A2C2C6A}" type="presParOf" srcId="{7E06CDDE-90AA-4971-81B7-908FB04742BC}" destId="{192FC5E5-865F-4447-AF37-3BA87D41E8EB}" srcOrd="1" destOrd="0" presId="urn:microsoft.com/office/officeart/2005/8/layout/balance1"/>
    <dgm:cxn modelId="{B248B157-2BC7-4CAA-895D-C5A5AAD12A2D}" type="presParOf" srcId="{192FC5E5-865F-4447-AF37-3BA87D41E8EB}" destId="{375F0B2C-D5BB-474D-903E-E7FE29140EB1}" srcOrd="0" destOrd="0" presId="urn:microsoft.com/office/officeart/2005/8/layout/balance1"/>
    <dgm:cxn modelId="{C99C58F8-3A11-4444-9BAE-B20F175E40D2}" type="presParOf" srcId="{192FC5E5-865F-4447-AF37-3BA87D41E8EB}" destId="{01953045-1ACC-4AB5-9236-666F7629FAB5}" srcOrd="1" destOrd="0" presId="urn:microsoft.com/office/officeart/2005/8/layout/balance1"/>
    <dgm:cxn modelId="{2C363360-AD2D-4F2B-9673-155885A6C315}" type="presParOf" srcId="{7E06CDDE-90AA-4971-81B7-908FB04742BC}" destId="{CD03F730-69E7-4181-AAED-C97121190CA0}" srcOrd="2" destOrd="0" presId="urn:microsoft.com/office/officeart/2005/8/layout/balance1"/>
    <dgm:cxn modelId="{8490BEF4-A4D4-48FB-A4E5-C38F95BA3C32}" type="presParOf" srcId="{CD03F730-69E7-4181-AAED-C97121190CA0}" destId="{83748ED8-20C2-40D9-8C8E-FB5236D4D7BD}" srcOrd="0" destOrd="0" presId="urn:microsoft.com/office/officeart/2005/8/layout/balance1"/>
    <dgm:cxn modelId="{5FEE84B5-6F1E-4419-A4D9-58956F75B59B}" type="presParOf" srcId="{CD03F730-69E7-4181-AAED-C97121190CA0}" destId="{F5562A90-1B53-4C89-A1E1-63DC71E16961}" srcOrd="1" destOrd="0" presId="urn:microsoft.com/office/officeart/2005/8/layout/balance1"/>
    <dgm:cxn modelId="{FE49FB33-D19A-4968-8764-34B8D0AC8EB7}" type="presParOf" srcId="{CD03F730-69E7-4181-AAED-C97121190CA0}" destId="{9017B979-CC99-4F56-B285-492C4F5ECF62}" srcOrd="2" destOrd="0" presId="urn:microsoft.com/office/officeart/2005/8/layout/balance1"/>
    <dgm:cxn modelId="{AE2439A3-93C0-47AD-9809-FEF9E31D16A0}" type="presParOf" srcId="{CD03F730-69E7-4181-AAED-C97121190CA0}" destId="{79979359-D877-4A5C-BD33-C449C7F7A53A}" srcOrd="3" destOrd="0" presId="urn:microsoft.com/office/officeart/2005/8/layout/balance1"/>
    <dgm:cxn modelId="{BE3CB686-5EA3-4236-8FEF-87424339C716}" type="presParOf" srcId="{CD03F730-69E7-4181-AAED-C97121190CA0}" destId="{FD28DDE6-7682-4891-A51E-15B6E8E92091}" srcOrd="4" destOrd="0" presId="urn:microsoft.com/office/officeart/2005/8/layout/balance1"/>
    <dgm:cxn modelId="{A7A554F8-E424-42D7-ACAE-96FAB18FCB26}" type="presParOf" srcId="{CD03F730-69E7-4181-AAED-C97121190CA0}" destId="{1F6FFE90-F129-4FCF-B077-51571ABA3BE2}" srcOrd="5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37F4D-DF98-4AF7-BF99-A635FB64F147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02E52-46C0-4EDC-853C-BE93E479F2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21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02E52-46C0-4EDC-853C-BE93E479F29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04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02E52-46C0-4EDC-853C-BE93E479F291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38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02E52-46C0-4EDC-853C-BE93E479F291}" type="slidenum">
              <a:rPr lang="fr-FR" smtClean="0"/>
              <a:t>98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22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7E8CFCB-932D-4102-A79B-6061D4074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98EDDC4A-D930-477F-967B-3AC5F5064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A145D88A-8990-42BA-B78E-A8590D6F3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B8A96F0F-A8E4-4297-87D2-B2B687C4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853780B-FF8B-4552-A6C7-94F9819B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9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7955CE1-F043-41B5-80C6-8B819FF8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7712407-6C89-4546-A710-B25A308DD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D1D21DB-847C-4E80-A59C-5C348AD4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505F21CF-86C3-49B0-BABF-9F356804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576B10A-47AB-40DB-8AD6-D533BC2D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65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58AF53D-07CC-4C40-8780-09E25C5BA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AA1C4EED-816B-4BAD-BA24-1780D1E1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489D6ED-2CA7-4B66-BF5E-936E988E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F93022DA-7E2C-4EB4-A1CA-E6A58AA2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43710B57-B8E8-4559-BB8B-5DDC96C7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50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DCF3B64-A348-44C8-AD3F-16CB2CC4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4902656-3319-41E4-B8DB-6FDE5269B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43C76AD7-6043-4F45-A17D-FF7DF24B3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7C4F7201-898E-4A6B-8275-CF01E686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CEF4FC26-0AB8-4F2B-A034-8A6581D3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DFBAEC1-EEE5-4909-B465-89A95FD9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66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66D371B-0EE1-499A-BFB4-A2B2B57E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1E834DCF-B993-4679-B277-CF7D3BE22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180FBFD1-BB2D-4AD4-8D23-7645386D1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41BC678A-1452-4EEF-9649-C825FB50B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D37022E5-DD31-4476-A5C7-0ECD1950D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30F48EA2-E517-46DC-904B-5A86BF32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E9C3DD0C-2CF7-40E0-B6CC-9450F2F9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80E40ED7-688B-4F4C-B8ED-D4AC551D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78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7A283D2-72E5-47BC-BDDD-5E22CEC4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18D67A07-5C97-40E2-87A9-7214A09B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B3A0E5C8-741D-414D-A995-68030330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ECE1F6F6-D6F7-406A-AA82-A77C7D64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10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21EBD0A8-C98B-47CA-A8CE-90489DFA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07F1AD21-59FF-4B8E-AA61-A4783A2C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842D5FA1-13F1-4AF0-A462-86D02187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42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19B6394-7C13-4210-AAEF-20DE48E9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34E68B80-75FC-4486-9C9E-70C1C798A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88FBAE9B-4F5C-4C53-A962-1115525B0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4B8A9B96-63C4-48CC-89A5-92ADDC42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2DA0973E-3A2D-45B3-B35C-1D41D8B6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5D5ECEA-054F-4A4E-B7F7-09718174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79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0727E89-A63A-4B9C-92DD-B308A8AB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3BFC3F17-0F63-4178-A670-4887AD4C4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D08CFE3D-7F45-46C5-A19C-D6DFD22BB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8A0533C3-5132-47FC-8FE1-A87D5595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B460B137-D621-4C49-BC62-D285874E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6783A3FD-291B-49F4-AC2F-1ECD5627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15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AECE59A-E5D8-47BF-9343-D77231D6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52917C59-05EE-46C1-8698-8BA36FA88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DAF2907F-DDB9-4575-A9AA-1A0B96B5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E7CB58D5-DA4D-42DF-82EC-181706F3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EB137D2E-6518-4B95-9D79-ED10CAC2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09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0035D1A4-D59F-4966-A501-0F509659E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E93BBC1A-21E4-4EED-BA9F-3A6F0DA70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BAABA635-303C-4028-B36C-ED4400D0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2B2F7FA8-D8A6-496B-9DD1-6EBB1D2D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769F472A-B5EE-4635-AD43-8A60BC91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336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9E739768-7BE6-43E2-B88E-90E75156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3B0FF7B2-27A8-45A0-BD4F-BBF9AD54D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160A5CEB-7C66-4372-9E48-6DEE17C88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C127-3175-4F88-BDDB-59992915B75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82E7A96D-D682-4E13-8C63-67074EA72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AC33060C-990D-4A82-AED0-95DC77BC4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9ECB8-E93A-4BC0-8E65-51195582E0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44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0B07F92C-0DD6-409E-B53A-9A90E54C7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79" y="2618858"/>
            <a:ext cx="9144000" cy="488699"/>
          </a:xfrm>
        </p:spPr>
        <p:txBody>
          <a:bodyPr/>
          <a:lstStyle/>
          <a:p>
            <a:r>
              <a:rPr lang="fr-FR" b="1" dirty="0">
                <a:solidFill>
                  <a:srgbClr val="00B050"/>
                </a:solidFill>
              </a:rPr>
              <a:t>Cours de 4 année médecine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EB2F8D4-14D9-4D77-838E-697CBF4A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89" y="381000"/>
            <a:ext cx="11438021" cy="6096000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xmlns="" id="{A7AE56F1-3232-4D70-860E-42244344B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7922"/>
            <a:ext cx="9144000" cy="2732041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ANEMIES HEMOLYTIQUES </a:t>
            </a:r>
            <a:b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CONGENITALES </a:t>
            </a:r>
            <a:b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 de 4 éme année médecine </a:t>
            </a:r>
            <a:endParaRPr lang="fr-F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3B294FBB-E357-475F-AC0D-AE382A08A97B}"/>
              </a:ext>
            </a:extLst>
          </p:cNvPr>
          <p:cNvSpPr txBox="1"/>
          <p:nvPr/>
        </p:nvSpPr>
        <p:spPr>
          <a:xfrm>
            <a:off x="4884820" y="5153561"/>
            <a:ext cx="5173579" cy="1323439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P</a:t>
            </a:r>
            <a:r>
              <a:rPr lang="fr-FR" sz="2000" b="1" dirty="0" smtClean="0">
                <a:solidFill>
                  <a:srgbClr val="FF0000"/>
                </a:solidFill>
              </a:rPr>
              <a:t>r </a:t>
            </a:r>
            <a:r>
              <a:rPr lang="fr-FR" sz="2000" b="1" dirty="0">
                <a:solidFill>
                  <a:srgbClr val="FF0000"/>
                </a:solidFill>
              </a:rPr>
              <a:t>M. </a:t>
            </a:r>
            <a:r>
              <a:rPr lang="fr-FR" sz="2000" b="1">
                <a:solidFill>
                  <a:srgbClr val="FF0000"/>
                </a:solidFill>
              </a:rPr>
              <a:t>SID </a:t>
            </a:r>
            <a:r>
              <a:rPr lang="fr-FR" sz="2000" b="1" smtClean="0">
                <a:solidFill>
                  <a:srgbClr val="FF0000"/>
                </a:solidFill>
              </a:rPr>
              <a:t>AHMED</a:t>
            </a:r>
          </a:p>
          <a:p>
            <a:r>
              <a:rPr lang="fr-FR" sz="2000" b="1" smtClean="0">
                <a:solidFill>
                  <a:srgbClr val="FF0000"/>
                </a:solidFill>
              </a:rPr>
              <a:t>Hématologie/HMRUC</a:t>
            </a:r>
            <a:endParaRPr lang="fr-FR" sz="2000" b="1" dirty="0">
              <a:solidFill>
                <a:srgbClr val="FF0000"/>
              </a:solidFill>
            </a:endParaRPr>
          </a:p>
          <a:p>
            <a:endParaRPr lang="fr-FR" sz="2000" b="1" dirty="0">
              <a:solidFill>
                <a:srgbClr val="FF0000"/>
              </a:solidFill>
            </a:endParaRPr>
          </a:p>
          <a:p>
            <a:r>
              <a:rPr lang="fr-FR" sz="2000" b="1" dirty="0">
                <a:solidFill>
                  <a:srgbClr val="FF0000"/>
                </a:solidFill>
              </a:rPr>
              <a:t>sidahmedhematologie@gmail.com</a:t>
            </a:r>
          </a:p>
        </p:txBody>
      </p:sp>
    </p:spTree>
    <p:extLst>
      <p:ext uri="{BB962C8B-B14F-4D97-AF65-F5344CB8AC3E}">
        <p14:creationId xmlns:p14="http://schemas.microsoft.com/office/powerpoint/2010/main" val="368927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8941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RAPPEL SUR LA STRUCTURE DU GLOBULE ROUGE :</a:t>
            </a:r>
          </a:p>
          <a:p>
            <a:pPr lvl="0"/>
            <a:endParaRPr lang="fr-FR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fr-FR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Morphologie :  </a:t>
            </a:r>
            <a:endParaRPr lang="fr-FR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565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endParaRPr lang="fr-FR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 dans les vaisseaux sanguins </a:t>
            </a: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petits </a:t>
            </a:r>
            <a:r>
              <a:rPr lang="fr-FR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disques biconcaves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de </a:t>
            </a:r>
            <a:r>
              <a:rPr lang="fr-FR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2µm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d’épaisseur et </a:t>
            </a:r>
            <a:r>
              <a:rPr lang="fr-FR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7µm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diamètre</a:t>
            </a:r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GR dans les vaisseaux sanguins = petits disques souvent biconcaves, de 2µm d’épaisseur et 7µm de diamètre">
            <a:extLst>
              <a:ext uri="{FF2B5EF4-FFF2-40B4-BE49-F238E27FC236}">
                <a16:creationId xmlns:a16="http://schemas.microsoft.com/office/drawing/2014/main" xmlns="" id="{5A8D32FE-6018-4B92-85B4-0ADE692CFA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319130" y="1577010"/>
            <a:ext cx="6797574" cy="2809460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27485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DB0BF073-951F-4C31-AA59-C741D32F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296" y="352926"/>
            <a:ext cx="11935326" cy="5855369"/>
          </a:xfrm>
        </p:spPr>
        <p:txBody>
          <a:bodyPr>
            <a:normAutofit fontScale="92500" lnSpcReduction="10000"/>
          </a:bodyPr>
          <a:lstStyle/>
          <a:p>
            <a:pPr lvl="0" algn="ctr"/>
            <a:r>
              <a:rPr lang="fr-FR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fr-FR" sz="3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globule rouge :</a:t>
            </a:r>
          </a:p>
          <a:p>
            <a:pPr lvl="0"/>
            <a:endParaRPr lang="fr-FR" sz="3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1725" indent="-571500">
              <a:buFontTx/>
              <a:buChar char="-"/>
            </a:pP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GR peut être schématiquement représenté comme </a:t>
            </a:r>
          </a:p>
          <a:p>
            <a:pPr marL="530225"/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sac (membrane) 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contenant de:</a:t>
            </a:r>
          </a:p>
          <a:p>
            <a:endParaRPr lang="fr-FR" sz="3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</a:t>
            </a:r>
            <a:r>
              <a:rPr lang="fr-FR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 de GR</a:t>
            </a:r>
            <a:r>
              <a:rPr lang="fr-FR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sz="3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enzymes</a:t>
            </a:r>
            <a:r>
              <a:rPr lang="fr-FR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(pour la protection de l’</a:t>
            </a:r>
            <a:r>
              <a:rPr lang="fr-FR" sz="3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de la membrane contre l’oxydation ainsi </a:t>
            </a:r>
            <a:r>
              <a:rPr lang="fr-FR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fourniture d'énergie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74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C853B5B0-E4A2-40FE-9014-B0C666AA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23081"/>
            <a:ext cx="11914496" cy="5690578"/>
          </a:xfrm>
        </p:spPr>
        <p:txBody>
          <a:bodyPr>
            <a:normAutofit/>
          </a:bodyPr>
          <a:lstStyle/>
          <a:p>
            <a:pPr marL="803275" lvl="0" algn="ctr"/>
            <a:r>
              <a:rPr lang="fr-FR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membrane :</a:t>
            </a:r>
          </a:p>
          <a:p>
            <a:pPr marL="803275" lvl="0" algn="just"/>
            <a:endParaRPr lang="fr-FR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forme biconcave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la morphologie la plus apte à la </a:t>
            </a: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déformabilité</a:t>
            </a: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Quand le GR s'écarte de la forme biconcave, il devient fragile, moins souple, ne circule plus dans les petits capillaires et s'hémolyse.</a:t>
            </a: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charge négative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membrane permet </a:t>
            </a:r>
            <a:r>
              <a:rPr lang="fr-F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d'éviter l'agglutination des hématies.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7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FBA23FD4-6C96-4547-9C46-11667922E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251" y="791056"/>
            <a:ext cx="11767961" cy="5275884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 descr="image006">
            <a:extLst>
              <a:ext uri="{FF2B5EF4-FFF2-40B4-BE49-F238E27FC236}">
                <a16:creationId xmlns:a16="http://schemas.microsoft.com/office/drawing/2014/main" xmlns="" id="{854949F0-A01F-440D-B077-74C0BDD3D4D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00251" y="706582"/>
            <a:ext cx="11136573" cy="544483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9E8822D-8ABB-48CA-AD52-8BFCB04B7FAD}"/>
              </a:ext>
            </a:extLst>
          </p:cNvPr>
          <p:cNvSpPr txBox="1"/>
          <p:nvPr/>
        </p:nvSpPr>
        <p:spPr>
          <a:xfrm>
            <a:off x="655092" y="875533"/>
            <a:ext cx="3534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B050"/>
                </a:solidFill>
              </a:rPr>
              <a:t>La membrane </a:t>
            </a:r>
          </a:p>
        </p:txBody>
      </p:sp>
    </p:spTree>
    <p:extLst>
      <p:ext uri="{BB962C8B-B14F-4D97-AF65-F5344CB8AC3E}">
        <p14:creationId xmlns:p14="http://schemas.microsoft.com/office/powerpoint/2010/main" val="223252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9F63AA0-6CC9-4673-A4BB-D10FF425C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784" y="450376"/>
            <a:ext cx="11150221" cy="6274889"/>
          </a:xfrm>
        </p:spPr>
        <p:txBody>
          <a:bodyPr>
            <a:normAutofit fontScale="92500"/>
          </a:bodyPr>
          <a:lstStyle/>
          <a:p>
            <a:pPr algn="ctr"/>
            <a:r>
              <a:rPr lang="fr-FR" sz="4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hémoglobine : </a:t>
            </a:r>
          </a:p>
          <a:p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 est constituée de :</a:t>
            </a:r>
          </a:p>
          <a:p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globine 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une protéine de 141 ou 146 AA, de </a:t>
            </a:r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enroulée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elle-même, et au sein de laquelle se positionne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molécule d’hème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dans une poche hydrophobe. </a:t>
            </a:r>
          </a:p>
          <a:p>
            <a:pPr marL="442913" algn="just">
              <a:lnSpc>
                <a:spcPct val="120000"/>
              </a:lnSpc>
            </a:pP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 est constituée de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globines,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identiques 2 à 2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exemple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 A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l'hémoglobine adulte, constituée de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chaînes alpha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(141 AA) et de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chaînes bêta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(146 AA) (= alpha2 bêta 2).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269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C4C182B-5497-4243-9D75-5CBF0340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6188765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0E7EF12-51C3-4294-BCBC-4D704CABF5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-1"/>
            <a:ext cx="12192000" cy="618876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98566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A74D0447-87A1-4508-A65C-8C9A69F18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6165273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8E1B2FAC-AFC4-4D03-90B6-0EC876AF619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165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268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9427C110-0771-4C3A-B39C-12BCF777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125" y="177421"/>
            <a:ext cx="11778018" cy="6237027"/>
          </a:xfrm>
        </p:spPr>
        <p:txBody>
          <a:bodyPr>
            <a:normAutofit fontScale="85000" lnSpcReduction="10000"/>
          </a:bodyPr>
          <a:lstStyle/>
          <a:p>
            <a:pPr algn="ctr">
              <a:lnSpc>
                <a:spcPct val="170000"/>
              </a:lnSpc>
            </a:pPr>
            <a:r>
              <a:rPr lang="fr-FR" sz="39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enzymes :</a:t>
            </a:r>
            <a:endParaRPr lang="fr-FR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2400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 GR doit </a:t>
            </a:r>
            <a:r>
              <a:rPr lang="fr-FR" sz="24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produire de l'énergie </a:t>
            </a:r>
            <a:r>
              <a:rPr lang="fr-FR" sz="2400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pour 2 objectifs principaux :</a:t>
            </a:r>
            <a:endParaRPr lang="fr-FR" sz="2400" u="sng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Maintenir l'intégrité de la membrane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pour assurer le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maintien de l'équilibre ionique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fonctionnement des pompes Na+, Ka+, ATP ase qui nécessitent de l’ATP</a:t>
            </a:r>
          </a:p>
          <a:p>
            <a:pPr algn="just">
              <a:lnSpc>
                <a:spcPct val="17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Maintenir l'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sous sa forme active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c'est-à-dire réduite (= fer à l'état divalent). </a:t>
            </a:r>
          </a:p>
          <a:p>
            <a:pPr algn="just">
              <a:lnSpc>
                <a:spcPct val="170000"/>
              </a:lnSpc>
            </a:pPr>
            <a:endParaRPr lang="fr-FR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2400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 GR produit l'énergie par 2 voies principaux :</a:t>
            </a:r>
            <a:endParaRPr lang="fr-FR" u="sng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La glycolyse anaérobie: </a:t>
            </a: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principale enzyme est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Pyruvate Kinase (PK)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shunt des pentoses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principale enzyme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le Glucose-6-Phosphate- Déshydrogénase (G6PD)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07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E8A16A1-9267-4B6F-A96C-207F9EDA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16" y="1709739"/>
            <a:ext cx="10228334" cy="1483838"/>
          </a:xfr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pPr algn="ctr"/>
            <a:r>
              <a:rPr lang="fr-FR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HEMOLYSE</a:t>
            </a:r>
          </a:p>
        </p:txBody>
      </p:sp>
    </p:spTree>
    <p:extLst>
      <p:ext uri="{BB962C8B-B14F-4D97-AF65-F5344CB8AC3E}">
        <p14:creationId xmlns:p14="http://schemas.microsoft.com/office/powerpoint/2010/main" val="930214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29D1CD3-7961-4372-93A5-4A766D407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9" y="95534"/>
            <a:ext cx="11696131" cy="6428095"/>
          </a:xfrm>
        </p:spPr>
        <p:txBody>
          <a:bodyPr>
            <a:normAutofit fontScale="62500" lnSpcReduction="20000"/>
          </a:bodyPr>
          <a:lstStyle/>
          <a:p>
            <a:pPr algn="ctr" fontAlgn="base">
              <a:lnSpc>
                <a:spcPct val="120000"/>
              </a:lnSpc>
            </a:pPr>
            <a:r>
              <a:rPr lang="fr-FR" sz="8600" b="1" i="0" u="sng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endParaRPr lang="fr-FR" sz="7400" b="1" i="0" u="sng" cap="all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20000"/>
              </a:lnSpc>
            </a:pPr>
            <a:r>
              <a:rPr lang="fr-FR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571500" indent="-5715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5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 = destruction des globules rouges (GR) arrivés au terme de leur vie circulatoire de 120 j,</a:t>
            </a:r>
          </a:p>
          <a:p>
            <a:pPr algn="l" fontAlgn="base">
              <a:lnSpc>
                <a:spcPct val="120000"/>
              </a:lnSpc>
            </a:pPr>
            <a:r>
              <a:rPr lang="fr-FR" sz="5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associée à la libération puis au catabolisme de l’hémoglobine.</a:t>
            </a:r>
          </a:p>
          <a:p>
            <a:pPr algn="l" fontAlgn="base">
              <a:lnSpc>
                <a:spcPct val="120000"/>
              </a:lnSpc>
            </a:pPr>
            <a:r>
              <a:rPr lang="fr-FR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571500" indent="-5715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GR vieillis disparaissent du torrent circulatoire : </a:t>
            </a:r>
          </a:p>
          <a:p>
            <a:pPr algn="l" fontAlgn="base">
              <a:lnSpc>
                <a:spcPct val="120000"/>
              </a:lnSpc>
            </a:pPr>
            <a:r>
              <a:rPr lang="fr-FR" sz="4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HEMOLYSE PHYSIOLOGIQUE</a:t>
            </a:r>
          </a:p>
          <a:p>
            <a:pPr marL="1255713" indent="-1255713" algn="l" fontAlgn="base">
              <a:lnSpc>
                <a:spcPct val="120000"/>
              </a:lnSpc>
            </a:pP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</a:t>
            </a:r>
            <a:r>
              <a:rPr lang="fr-FR" sz="4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Majoritairement </a:t>
            </a: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un mécanisme </a:t>
            </a:r>
            <a:r>
              <a:rPr lang="fr-FR" sz="4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intra tissulaire (phagocytose ; 85%),</a:t>
            </a:r>
          </a:p>
          <a:p>
            <a:pPr marL="1255713" indent="-1255713" algn="l" fontAlgn="base">
              <a:lnSpc>
                <a:spcPct val="120000"/>
              </a:lnSpc>
            </a:pP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</a:t>
            </a:r>
            <a:r>
              <a:rPr lang="fr-FR" sz="4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Minoritairement</a:t>
            </a: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 hémolyse </a:t>
            </a:r>
            <a:r>
              <a:rPr lang="fr-FR" sz="4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intra vasculaire (= dans le torrent circulatoire ; 15%).</a:t>
            </a:r>
          </a:p>
          <a:p>
            <a:pPr algn="l" fontAlgn="base">
              <a:lnSpc>
                <a:spcPct val="120000"/>
              </a:lnSpc>
            </a:pPr>
            <a:endParaRPr lang="fr-FR" sz="4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18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68D2FF7-7236-D41C-ECC9-C0A65F3D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8" y="562225"/>
            <a:ext cx="11165305" cy="5733549"/>
          </a:xfrm>
        </p:spPr>
        <p:txBody>
          <a:bodyPr>
            <a:noAutofit/>
          </a:bodyPr>
          <a:lstStyle/>
          <a:p>
            <a:pPr marL="571500" indent="-571500" algn="ctr" fontAlgn="base">
              <a:lnSpc>
                <a:spcPct val="120000"/>
              </a:lnSpc>
            </a:pP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L’HÉMOLYSE PATHOLOGIQUE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amplifie l’un ou l’autre de ces 2 mécanismes ( intra </a:t>
            </a:r>
            <a:r>
              <a:rPr lang="fr-FR" sz="32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tissulaire ou intra vasculaire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b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durée de vie raccourcie</a:t>
            </a: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Cette hémolyse excessive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habituellement accompagnée </a:t>
            </a:r>
            <a:r>
              <a:rPr lang="fr-FR" sz="32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d’</a:t>
            </a:r>
            <a:r>
              <a:rPr lang="fr-FR" sz="3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une régénération médullaire </a:t>
            </a:r>
            <a:br>
              <a:rPr lang="fr-FR" sz="3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b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du nombre des réticulocytes dans le sang.</a:t>
            </a:r>
            <a:b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579659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E12153C-C0E8-4614-8C95-04A17EB7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76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Mécanisme de l’hémolyse physiologique :</a:t>
            </a:r>
            <a:r>
              <a:rPr lang="fr-F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62B3FB1-3D4C-4F86-AEF6-AD81FF488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4962099" cy="435133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rmAutofit fontScale="32500" lnSpcReduction="20000"/>
          </a:bodyPr>
          <a:lstStyle/>
          <a:p>
            <a:pPr marL="313055">
              <a:lnSpc>
                <a:spcPct val="107000"/>
              </a:lnSpc>
              <a:spcAft>
                <a:spcPts val="800"/>
              </a:spcAft>
            </a:pPr>
            <a:r>
              <a:rPr lang="fr-FR" sz="7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1- </a:t>
            </a:r>
            <a:r>
              <a:rPr lang="fr-FR" sz="72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du GR ;</a:t>
            </a:r>
            <a:endParaRPr lang="fr-FR" sz="72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Cellule anucléée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Constitué :</a:t>
            </a:r>
          </a:p>
          <a:p>
            <a:pPr marL="1293495">
              <a:lnSpc>
                <a:spcPct val="107000"/>
              </a:lnSpc>
              <a:spcAft>
                <a:spcPts val="800"/>
              </a:spcAft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Membrane :  </a:t>
            </a: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souple, déformabilité, Ag des GS</a:t>
            </a:r>
          </a:p>
          <a:p>
            <a:pPr marL="1297305">
              <a:lnSpc>
                <a:spcPct val="107000"/>
              </a:lnSpc>
              <a:spcAft>
                <a:spcPts val="800"/>
              </a:spcAft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7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Hb</a:t>
            </a:r>
            <a:r>
              <a:rPr lang="fr-FR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</a:t>
            </a: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33% GR, synthèse MO, fonction transport de l'02</a:t>
            </a:r>
          </a:p>
          <a:p>
            <a:pPr marL="1308735">
              <a:lnSpc>
                <a:spcPct val="107000"/>
              </a:lnSpc>
              <a:spcAft>
                <a:spcPts val="800"/>
              </a:spcAft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Enzymes :   </a:t>
            </a: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 et G6PD, rôle glycolytique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DE3FFD65-F9AB-4902-B4F8-93B2CA65C906}"/>
              </a:ext>
            </a:extLst>
          </p:cNvPr>
          <p:cNvSpPr txBox="1"/>
          <p:nvPr/>
        </p:nvSpPr>
        <p:spPr>
          <a:xfrm>
            <a:off x="6391704" y="1156885"/>
            <a:ext cx="5577383" cy="430374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marL="313055">
              <a:lnSpc>
                <a:spcPct val="107000"/>
              </a:lnSpc>
              <a:spcAft>
                <a:spcPts val="800"/>
              </a:spcAft>
            </a:pPr>
            <a:r>
              <a:rPr lang="fr-FR" sz="20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fr-FR" sz="20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Mécanisme de l'hémolyse physiologique :</a:t>
            </a:r>
            <a:endParaRPr lang="fr-FR" sz="20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Epuisement    du capital   enzyme 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 absence de renouvellement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Modification des flux ioniques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"/>
            </a:pPr>
            <a:endParaRPr lang="fr-FR" sz="20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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Conséquences 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Baisse du volume globulaire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de l’ATP et glutathion réduit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Augmentation du Na</a:t>
            </a:r>
            <a:r>
              <a:rPr lang="fr-FR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diminution du K</a:t>
            </a:r>
            <a:r>
              <a:rPr lang="fr-FR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intracellulaire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Formation   de méthémoglobine</a:t>
            </a: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Aboutissant à un gonflement cellulaire : 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hémolyse dans SRE</a:t>
            </a:r>
          </a:p>
        </p:txBody>
      </p:sp>
    </p:spTree>
    <p:extLst>
      <p:ext uri="{BB962C8B-B14F-4D97-AF65-F5344CB8AC3E}">
        <p14:creationId xmlns:p14="http://schemas.microsoft.com/office/powerpoint/2010/main" val="1748295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EBED1F2F-87D7-4DA4-847F-0D8A41BB1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478" y="0"/>
            <a:ext cx="11832609" cy="6209731"/>
          </a:xfrm>
        </p:spPr>
        <p:txBody>
          <a:bodyPr>
            <a:normAutofit fontScale="25000" lnSpcReduction="20000"/>
          </a:bodyPr>
          <a:lstStyle/>
          <a:p>
            <a:pPr algn="ctr" fontAlgn="base">
              <a:lnSpc>
                <a:spcPct val="120000"/>
              </a:lnSpc>
            </a:pPr>
            <a:r>
              <a:rPr lang="fr-FR" sz="14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2.3. Hémolyse intra tissulaire.</a:t>
            </a:r>
          </a:p>
          <a:p>
            <a:pPr algn="l" fontAlgn="base">
              <a:lnSpc>
                <a:spcPct val="120000"/>
              </a:lnSpc>
            </a:pPr>
            <a:r>
              <a:rPr lang="fr-FR" sz="3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7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Prépondérante à </a:t>
            </a:r>
            <a:r>
              <a:rPr lang="fr-FR" sz="9600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l’état normal </a:t>
            </a:r>
            <a:r>
              <a:rPr lang="fr-FR" sz="96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(85%)</a:t>
            </a:r>
            <a:r>
              <a:rPr lang="fr-FR" sz="96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elle est assurée par </a:t>
            </a:r>
            <a:r>
              <a:rPr lang="fr-FR" sz="96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les macrophages </a:t>
            </a:r>
            <a:r>
              <a:rPr lang="fr-FR" sz="9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 la moelle osseuse, de la rate et du foie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9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20000"/>
              </a:lnSpc>
            </a:pP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Une suite de réactions va dissocier l’</a:t>
            </a:r>
            <a:r>
              <a:rPr lang="fr-FR" sz="96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 globine et en hème :</a:t>
            </a:r>
            <a:endParaRPr lang="fr-FR" sz="9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globine est dégradée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(catabolisme des protéines),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fer de l’hème est recyclé dans l’érythropoïèse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 stocké dans les macrophages,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l’hème est dégradé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l’hème oxydase 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produire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 biliverdine puis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bilirubine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La bilirubine est d’abord appelée « libre »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 libérée hors des macrophages et véhiculée dans le plasma par l’albumine, qui la transporte jusqu’aux hépatocytes ;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bilirubine est </a:t>
            </a:r>
            <a:r>
              <a:rPr lang="fr-FR" sz="96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glycuroconjuguée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les hépatocytes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bilirubine est ensuite excrétée par la bile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 duodénum où elle est transformée en stercobiline (éliminée dans les selles) et en urobilinogène et urobiline dont une partie (15%) est réabsorbée (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cycle entéro-hépatique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et finalement éliminée dans les urines.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0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2FFBB8A-20FC-43AD-BD62-6090A531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20516"/>
            <a:ext cx="10515600" cy="2841959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EEB698A5-C749-4B09-A239-B9040DF24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338" name="Picture 2" descr="Hemolyse capsule - YouTube">
            <a:extLst>
              <a:ext uri="{FF2B5EF4-FFF2-40B4-BE49-F238E27FC236}">
                <a16:creationId xmlns:a16="http://schemas.microsoft.com/office/drawing/2014/main" xmlns="" id="{69518754-2643-40CD-9BF0-1508AFB5F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10"/>
            <a:ext cx="12192000" cy="683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813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CF3257A-FC2C-4516-B2AB-C2B54C75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26" y="982639"/>
            <a:ext cx="11471722" cy="4926842"/>
          </a:xfrm>
        </p:spPr>
        <p:txBody>
          <a:bodyPr numCol="3" spcCol="720000">
            <a:normAutofit/>
          </a:bodyPr>
          <a:lstStyle/>
          <a:p>
            <a:pPr marL="315595">
              <a:lnSpc>
                <a:spcPct val="120000"/>
              </a:lnSpc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Clinique : </a:t>
            </a:r>
            <a:r>
              <a:rPr lang="fr-FR" sz="2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triade d’hémolyse chronique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Pâleur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Ictère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SPM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  <a:tabLst>
                <a:tab pos="3316288" algn="l"/>
              </a:tabLst>
            </a:pPr>
            <a:endParaRPr lang="fr-FR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20000"/>
              </a:lnSpc>
              <a:tabLst>
                <a:tab pos="3316288" algn="l"/>
              </a:tabLst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Biologie : anémie régénérative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Hb</a:t>
            </a: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VGM &gt; 100 </a:t>
            </a:r>
            <a:r>
              <a:rPr lang="fr-F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</a:t>
            </a: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(NL = 80 – 100 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 : </a:t>
            </a:r>
            <a:r>
              <a:rPr lang="fr-F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</a:t>
            </a: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GB normal ou augmenté (hyperleucocytose d’entrainement) 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Plaquette normal ou augmenté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b="1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Rétic</a:t>
            </a:r>
            <a:r>
              <a:rPr lang="fr-FR" sz="19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&gt; 120 000 </a:t>
            </a:r>
            <a:r>
              <a:rPr lang="fr-FR" sz="1900" b="1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élé</a:t>
            </a:r>
            <a:r>
              <a:rPr lang="fr-FR" sz="19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/mm</a:t>
            </a:r>
            <a:r>
              <a:rPr lang="fr-FR" sz="1900" b="1" baseline="300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fr-FR" sz="1900" b="1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  <a:tabLst>
                <a:tab pos="3316288" algn="l"/>
              </a:tabLst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tabLst>
                <a:tab pos="3316288" algn="l"/>
              </a:tabLst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Signes d’hémolyse :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myélémie et érythroblastose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Bilirubine totale et indirecte augmentée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Hémosidirémie</a:t>
            </a: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8E02664F-FB8C-429B-BD27-39F295DC0BC9}"/>
              </a:ext>
            </a:extLst>
          </p:cNvPr>
          <p:cNvSpPr txBox="1"/>
          <p:nvPr/>
        </p:nvSpPr>
        <p:spPr>
          <a:xfrm>
            <a:off x="2479343" y="232011"/>
            <a:ext cx="7233313" cy="64511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lvl="0" indent="0" algn="ctr" rtl="0">
              <a:lnSpc>
                <a:spcPct val="107000"/>
              </a:lnSpc>
              <a:buNone/>
              <a:tabLst>
                <a:tab pos="3316288" algn="l"/>
              </a:tabLst>
            </a:pPr>
            <a:r>
              <a:rPr lang="fr-FR" sz="36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Tableau d’hémolyse chronique :</a:t>
            </a:r>
            <a:endParaRPr lang="fr-FR" sz="36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6D1105C6-ECFB-3BEC-3E8A-B6F6CD7B83F7}"/>
              </a:ext>
            </a:extLst>
          </p:cNvPr>
          <p:cNvCxnSpPr/>
          <p:nvPr/>
        </p:nvCxnSpPr>
        <p:spPr>
          <a:xfrm>
            <a:off x="5518484" y="2005263"/>
            <a:ext cx="0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4D0B18F5-0C86-2D62-B66A-2BC68CDA02F7}"/>
              </a:ext>
            </a:extLst>
          </p:cNvPr>
          <p:cNvCxnSpPr/>
          <p:nvPr/>
        </p:nvCxnSpPr>
        <p:spPr>
          <a:xfrm>
            <a:off x="5670884" y="2021305"/>
            <a:ext cx="0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xmlns="" id="{760C400E-396F-7245-18F2-54878DDCD935}"/>
              </a:ext>
            </a:extLst>
          </p:cNvPr>
          <p:cNvCxnSpPr/>
          <p:nvPr/>
        </p:nvCxnSpPr>
        <p:spPr>
          <a:xfrm>
            <a:off x="5839326" y="2021305"/>
            <a:ext cx="0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849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83C7FE2C-C678-439B-9776-37A647159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663" y="232012"/>
            <a:ext cx="11586411" cy="6196084"/>
          </a:xfrm>
        </p:spPr>
        <p:txBody>
          <a:bodyPr>
            <a:normAutofit fontScale="77500" lnSpcReduction="20000"/>
          </a:bodyPr>
          <a:lstStyle/>
          <a:p>
            <a:pPr algn="ctr" fontAlgn="base"/>
            <a:r>
              <a:rPr lang="fr-FR" sz="4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2.4. Hémolyse intra vasculaire.</a:t>
            </a:r>
            <a:endParaRPr lang="fr-FR" sz="4600" b="0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Représente environ </a:t>
            </a:r>
            <a:r>
              <a:rPr lang="fr-FR" sz="29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15% de l’hémolyse physiologique</a:t>
            </a:r>
            <a:r>
              <a:rPr lang="fr-FR" sz="29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lyse osmotique des GR vieillis ou fragmentation </a:t>
            </a:r>
          </a:p>
          <a:p>
            <a:pPr algn="l" fontAlgn="base"/>
            <a:endParaRPr lang="fr-FR" sz="29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 libre se fixe à </a:t>
            </a:r>
            <a:r>
              <a:rPr lang="fr-FR" sz="29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l’haptoglobine</a:t>
            </a:r>
            <a:r>
              <a:rPr lang="fr-FR" sz="29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d’hémolyse intravasculaire </a:t>
            </a:r>
            <a:r>
              <a:rPr lang="fr-FR" sz="29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l’Hp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peut disparaître totalement du plasma (&lt; 0.03 g/L) :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9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libre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en partie captée par les hépatocytes </a:t>
            </a:r>
          </a:p>
          <a:p>
            <a:pPr algn="l" fontAlgn="base"/>
            <a:r>
              <a:rPr lang="fr-FR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en partie dissociée 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dimères alpha-bêta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 traversent le 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filtre glomérulaire rénal </a:t>
            </a:r>
          </a:p>
          <a:p>
            <a:pPr algn="l" fontAlgn="base"/>
            <a:r>
              <a:rPr lang="fr-FR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où ils sont partiellement réabsorbés. 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La réabsorption est limitée et l’excès d’</a:t>
            </a:r>
            <a:r>
              <a:rPr lang="fr-FR" sz="29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libre peut provoquer 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hémoglobinurie et une tubulopathie (insuffisance rénale aiguë).</a:t>
            </a:r>
          </a:p>
          <a:p>
            <a:pPr algn="l" fontAlgn="base"/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L’hème peut se fixer également à l’albumine et à l’</a:t>
            </a:r>
            <a:r>
              <a:rPr lang="fr-FR" sz="29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hémopexine</a:t>
            </a:r>
            <a:r>
              <a:rPr lang="fr-FR" sz="29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Le complexe </a:t>
            </a:r>
            <a:r>
              <a:rPr lang="fr-FR" sz="29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hémopexine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hème est capté par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hépatocytes : l’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hémopexine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est libérée du complexe et retourne dans le plasma tandis que l’hème est dégradé.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67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D6D312D-864B-B512-64D2-7357496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F7ED3243-558B-199F-2BCD-55CCFE87F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1E258F9-C8A0-68EB-EA69-20932940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" y="224589"/>
            <a:ext cx="11550316" cy="6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E160787-BDC4-4207-BE06-FC4273675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890639"/>
            <a:ext cx="11372176" cy="5723051"/>
          </a:xfrm>
        </p:spPr>
        <p:txBody>
          <a:bodyPr numCol="3" spcCol="720000">
            <a:noAutofit/>
          </a:bodyPr>
          <a:lstStyle/>
          <a:p>
            <a:pPr marL="315595">
              <a:lnSpc>
                <a:spcPct val="100000"/>
              </a:lnSpc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Clinique :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TABLEAU D’ÉTAT DE CHOC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Pâleur intense +++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Tachycardie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Pouls filant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Hypotension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Oligurie avec urines rouge porto ou hémoglobinurie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Insuffisance rénale</a:t>
            </a:r>
          </a:p>
          <a:p>
            <a:pPr marL="0" lvl="0" indent="0">
              <a:lnSpc>
                <a:spcPct val="100000"/>
              </a:lnSpc>
              <a:spcAft>
                <a:spcPts val="800"/>
              </a:spcAft>
              <a:buNone/>
            </a:pPr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r-FR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>
              <a:lnSpc>
                <a:spcPct val="100000"/>
              </a:lnSpc>
              <a:spcAft>
                <a:spcPts val="800"/>
              </a:spcAft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Biologie :</a:t>
            </a:r>
            <a:endParaRPr lang="fr-FR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6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du taux d'haptoglobine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(VN :  0.3-2   g/l)</a:t>
            </a:r>
          </a:p>
          <a:p>
            <a:pPr marL="342900" marR="32385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Hémoglobinémie   si les capacités de fixation sont dépassées.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Plasma rosit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252730" lvl="0" indent="-342900">
              <a:lnSpc>
                <a:spcPct val="100000"/>
              </a:lnSpc>
              <a:spcBef>
                <a:spcPts val="35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Hémoglobinurie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 l'hémoglobinémie excède les capacités de transports de l 'haptoglobine.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Bilirubine libre élevé</a:t>
            </a:r>
          </a:p>
          <a:p>
            <a:pPr marL="342900" lvl="0" indent="-342900">
              <a:lnSpc>
                <a:spcPct val="100000"/>
              </a:lnSpc>
              <a:spcBef>
                <a:spcPts val="2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Methemalbumine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0000"/>
              </a:lnSpc>
              <a:spcBef>
                <a:spcPts val="65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d’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hemopexine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70510">
              <a:lnSpc>
                <a:spcPct val="100000"/>
              </a:lnSpc>
              <a:spcAft>
                <a:spcPts val="800"/>
              </a:spcAft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Signes d’érythropoïèse exagérés</a:t>
            </a:r>
            <a:endParaRPr lang="fr-FR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Hémogramme :  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macrocytose, </a:t>
            </a:r>
            <a:r>
              <a:rPr lang="fr-FR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polychromatophilie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(Signe de jeunesse).</a:t>
            </a:r>
          </a:p>
          <a:p>
            <a:pPr marL="342900" lvl="0" indent="-342900">
              <a:lnSpc>
                <a:spcPct val="100000"/>
              </a:lnSpc>
              <a:spcBef>
                <a:spcPts val="11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Réticulocyte &gt; 120 OOO/mm</a:t>
            </a:r>
            <a:r>
              <a:rPr lang="fr-FR" sz="1800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fr-FR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135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Moelle osseuse (érythroblastose)</a:t>
            </a:r>
          </a:p>
          <a:p>
            <a:pPr>
              <a:lnSpc>
                <a:spcPct val="120000"/>
              </a:lnSpc>
            </a:pP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EAB4AB50-6F3E-4617-9E79-CC24F4FB793F}"/>
              </a:ext>
            </a:extLst>
          </p:cNvPr>
          <p:cNvSpPr txBox="1"/>
          <p:nvPr/>
        </p:nvSpPr>
        <p:spPr>
          <a:xfrm>
            <a:off x="2729551" y="244309"/>
            <a:ext cx="760180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 algn="ctr" rtl="0">
              <a:lnSpc>
                <a:spcPct val="100000"/>
              </a:lnSpc>
            </a:pPr>
            <a:r>
              <a:rPr lang="fr-FR" sz="3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Tableau d’hémolyse intra vasculaire :</a:t>
            </a:r>
          </a:p>
        </p:txBody>
      </p:sp>
    </p:spTree>
    <p:extLst>
      <p:ext uri="{BB962C8B-B14F-4D97-AF65-F5344CB8AC3E}">
        <p14:creationId xmlns:p14="http://schemas.microsoft.com/office/powerpoint/2010/main" val="272758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némie hémolytique auto-immune">
            <a:extLst>
              <a:ext uri="{FF2B5EF4-FFF2-40B4-BE49-F238E27FC236}">
                <a16:creationId xmlns:a16="http://schemas.microsoft.com/office/drawing/2014/main" xmlns="" id="{BFB4132D-559C-FF4C-09EA-997E2A7AC7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54" y="288758"/>
            <a:ext cx="10732168" cy="614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222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A0DBC0E-9664-46B0-BA4D-7D1203003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7DC72589-9CC0-480E-9980-58D8E7F7C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1506" name="Picture 2" descr="PPT - ANEMIES HEMOLYTIQUES PowerPoint Presentation, free download -  ID:3989731">
            <a:extLst>
              <a:ext uri="{FF2B5EF4-FFF2-40B4-BE49-F238E27FC236}">
                <a16:creationId xmlns:a16="http://schemas.microsoft.com/office/drawing/2014/main" xmlns="" id="{B91BD53C-668B-451D-BF29-6F538158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4" y="318836"/>
            <a:ext cx="11177516" cy="622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362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71BFC83-8747-4540-BCC3-F0093847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AD8A5392-D8B2-4910-9DB9-82DCF84F6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89784FCC-1487-47A6-99D3-948665CE2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98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F4FA3CF-90BD-4C33-9CBB-C6EF7585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68"/>
            <a:ext cx="10515600" cy="870117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 D’HEMOLYSE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3D18D13B-26E6-4F8A-BCCF-8137AF0FD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1235242"/>
            <a:ext cx="11193379" cy="5406189"/>
          </a:xfrm>
        </p:spPr>
        <p:txBody>
          <a:bodyPr numCol="3" spcCol="900000">
            <a:normAutofit lnSpcReduction="10000"/>
          </a:bodyPr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CLINIQUE 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Triade hémolytique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PCM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Ictère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HEMOGRAMME </a:t>
            </a:r>
          </a:p>
          <a:p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 régénérative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Taux de </a:t>
            </a: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Rétic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120 000 </a:t>
            </a: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élt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/mm3</a:t>
            </a:r>
          </a:p>
          <a:p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FROTTIS SANGUIN 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 de régénération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Macrocytose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polychromatophilie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838" indent="0">
              <a:buNone/>
              <a:tabLst>
                <a:tab pos="176213" algn="l"/>
              </a:tabLs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Myélémie    Erythroblastose</a:t>
            </a:r>
          </a:p>
          <a:p>
            <a:pPr marL="0" indent="0">
              <a:buNone/>
            </a:pP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BIOCHIMIE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LDH élevé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élevé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 sérique élevé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Haptoglobine basse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ETIOLOGIE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Interrogatoire</a:t>
            </a:r>
          </a:p>
          <a:p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 étiologique</a:t>
            </a:r>
          </a:p>
          <a:p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E.Hb</a:t>
            </a: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TCD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enser ou réfléchir ? Telle est la question !">
            <a:extLst>
              <a:ext uri="{FF2B5EF4-FFF2-40B4-BE49-F238E27FC236}">
                <a16:creationId xmlns:a16="http://schemas.microsoft.com/office/drawing/2014/main" xmlns="" id="{0F788C94-AC0E-4115-8570-6752775E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803" y="866274"/>
            <a:ext cx="2916144" cy="256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100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165DA51-9E92-4EA6-AC6C-21A09EA10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491" y="2888326"/>
            <a:ext cx="11359487" cy="1081348"/>
          </a:xfr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ANEMIES HEMOLYTIQUES CONGÉNITALES </a:t>
            </a:r>
          </a:p>
        </p:txBody>
      </p:sp>
    </p:spTree>
    <p:extLst>
      <p:ext uri="{BB962C8B-B14F-4D97-AF65-F5344CB8AC3E}">
        <p14:creationId xmlns:p14="http://schemas.microsoft.com/office/powerpoint/2010/main" val="608464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009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 ANÉMIES HÉMOLYTIQUES CONGÉNITALES « CONSTITUTIONNELLES »</a:t>
            </a:r>
            <a:endParaRPr lang="fr-FR" sz="4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romanUcPeriod"/>
            </a:pPr>
            <a:endParaRPr lang="fr-FR" sz="3600" b="1" u="sng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0"/>
              </a:spcAft>
              <a:buFont typeface="+mj-lt"/>
              <a:buAutoNum type="romanUcPeriod"/>
            </a:pPr>
            <a:r>
              <a:rPr lang="fr-FR" sz="36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 :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romanUcPeriod"/>
            </a:pPr>
            <a:endParaRPr lang="fr-FR" sz="32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>
              <a:lnSpc>
                <a:spcPct val="107000"/>
              </a:lnSpc>
              <a:spcAft>
                <a:spcPts val="0"/>
              </a:spcAft>
            </a:pP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Maladies génétiques à transmission 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héréditaires </a:t>
            </a:r>
          </a:p>
          <a:p>
            <a:pPr marL="685800">
              <a:lnSpc>
                <a:spcPct val="107000"/>
              </a:lnSpc>
              <a:spcAft>
                <a:spcPts val="0"/>
              </a:spcAft>
            </a:pP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dues à 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anomalie intrinsèque corpusculaire  </a:t>
            </a: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GR:</a:t>
            </a:r>
            <a:endParaRPr lang="fr-FR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Hémoglobinopathie :</a:t>
            </a:r>
          </a:p>
          <a:p>
            <a:pPr marL="2333625" lvl="0" indent="-342900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Quantitatif : syndrome </a:t>
            </a:r>
            <a:r>
              <a:rPr lang="fr-FR" sz="32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thalassémique</a:t>
            </a:r>
          </a:p>
          <a:p>
            <a:pPr marL="2333625" lvl="0" indent="-342900">
              <a:lnSpc>
                <a:spcPct val="107000"/>
              </a:lnSpc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Qualitatif : syndrome </a:t>
            </a:r>
            <a:r>
              <a:rPr lang="fr-FR" sz="32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drépanocytaire</a:t>
            </a: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95375" lvl="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Déficit Enzymatiques </a:t>
            </a: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G6PD. PK</a:t>
            </a:r>
          </a:p>
          <a:p>
            <a:pPr marL="1095375" lvl="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Anomalie de la membrane : </a:t>
            </a:r>
            <a:r>
              <a:rPr lang="fr-FR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MSH</a:t>
            </a:r>
          </a:p>
        </p:txBody>
      </p:sp>
      <p:sp>
        <p:nvSpPr>
          <p:cNvPr id="3" name="AutoShape 2" descr="PPT - ANEMIES HEMOLYTIQUES PowerPoint Presentation, free download -  ID:3989731">
            <a:extLst>
              <a:ext uri="{FF2B5EF4-FFF2-40B4-BE49-F238E27FC236}">
                <a16:creationId xmlns:a16="http://schemas.microsoft.com/office/drawing/2014/main" xmlns="" id="{CFC6E440-56B7-4D81-9C16-16BE8D267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751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78DCE2F-D961-499D-A319-0ADDBE63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5E8FDF61-0682-4AD7-ABE6-66849C08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3F68B62C-6486-4537-BA8E-33D356BF8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3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73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185988" y="1714500"/>
            <a:ext cx="74723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>
                <a:solidFill>
                  <a:srgbClr val="FF0000"/>
                </a:solidFill>
                <a:latin typeface="Lucida Calligraphy" panose="03010101010101010101" pitchFamily="66" charset="0"/>
                <a:cs typeface="Sakkal Majalla" panose="02000000000000000000" pitchFamily="2" charset="-78"/>
              </a:rPr>
              <a:t>Syndromes</a:t>
            </a:r>
          </a:p>
          <a:p>
            <a:pPr algn="ctr"/>
            <a:r>
              <a:rPr lang="fr-FR" sz="7200" b="1" dirty="0">
                <a:solidFill>
                  <a:srgbClr val="FF0000"/>
                </a:solidFill>
                <a:latin typeface="Lucida Calligraphy" panose="03010101010101010101" pitchFamily="66" charset="0"/>
                <a:cs typeface="Sakkal Majalla" panose="02000000000000000000" pitchFamily="2" charset="-78"/>
              </a:rPr>
              <a:t>thalassémiques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262" y="128337"/>
            <a:ext cx="11801475" cy="6170056"/>
          </a:xfrm>
          <a:prstGeom prst="rect">
            <a:avLst/>
          </a:prstGeom>
          <a:gradFill>
            <a:gsLst>
              <a:gs pos="62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0498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20623" y="4214813"/>
            <a:ext cx="2357454" cy="2071702"/>
          </a:xfrm>
          <a:prstGeom prst="rect">
            <a:avLst/>
          </a:prstGeom>
        </p:spPr>
      </p:pic>
      <p:pic>
        <p:nvPicPr>
          <p:cNvPr id="5" name="Image 4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88517" y="755288"/>
            <a:ext cx="1654927" cy="1587877"/>
          </a:xfrm>
          <a:prstGeom prst="rect">
            <a:avLst/>
          </a:prstGeom>
        </p:spPr>
      </p:pic>
      <p:pic>
        <p:nvPicPr>
          <p:cNvPr id="6" name="Image 5" descr="globine beta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78077" y="755288"/>
            <a:ext cx="1643074" cy="1428760"/>
          </a:xfrm>
          <a:prstGeom prst="rect">
            <a:avLst/>
          </a:prstGeom>
        </p:spPr>
      </p:pic>
      <p:cxnSp>
        <p:nvCxnSpPr>
          <p:cNvPr id="8" name="Connecteur droit avec flèche 7"/>
          <p:cNvCxnSpPr/>
          <p:nvPr/>
        </p:nvCxnSpPr>
        <p:spPr>
          <a:xfrm>
            <a:off x="4243388" y="2500313"/>
            <a:ext cx="957262" cy="11144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6585171" y="2298348"/>
            <a:ext cx="785812" cy="13163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18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897" y="300039"/>
            <a:ext cx="113549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DÉFINITION:</a:t>
            </a:r>
            <a:r>
              <a:rPr lang="fr-FR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thalassémies sont des anomalies</a:t>
            </a:r>
            <a:r>
              <a:rPr lang="fr-FR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constitutionnelles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l’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caractérisées par </a:t>
            </a:r>
            <a:r>
              <a:rPr lang="fr-FR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2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déficit quantitatif </a:t>
            </a:r>
            <a:r>
              <a:rPr lang="fr-FR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synthèse d’une des </a:t>
            </a:r>
            <a:r>
              <a:rPr lang="fr-FR" sz="32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chaines de globine</a:t>
            </a:r>
          </a:p>
        </p:txBody>
      </p:sp>
      <p:cxnSp>
        <p:nvCxnSpPr>
          <p:cNvPr id="4" name="Connecteur droit avec flèche 3"/>
          <p:cNvCxnSpPr/>
          <p:nvPr/>
        </p:nvCxnSpPr>
        <p:spPr>
          <a:xfrm flipH="1">
            <a:off x="3471863" y="2900363"/>
            <a:ext cx="2014537" cy="9429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6757988" y="2914651"/>
            <a:ext cx="1600200" cy="9286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1189594" y="4099202"/>
            <a:ext cx="3057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Déficit en chaine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fr-FR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</a:t>
            </a:r>
          </a:p>
          <a:p>
            <a:pPr algn="ctr"/>
            <a:endParaRPr lang="fr-FR" sz="2400" dirty="0"/>
          </a:p>
        </p:txBody>
      </p:sp>
      <p:sp>
        <p:nvSpPr>
          <p:cNvPr id="8" name="ZoneTexte 7"/>
          <p:cNvSpPr txBox="1"/>
          <p:nvPr/>
        </p:nvSpPr>
        <p:spPr>
          <a:xfrm>
            <a:off x="7053263" y="4160758"/>
            <a:ext cx="3057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Déficit en chaine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</a:t>
            </a:r>
          </a:p>
          <a:p>
            <a:pPr algn="ctr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828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386137" y="2328863"/>
            <a:ext cx="55006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5400" b="1" dirty="0">
                <a:solidFill>
                  <a:srgbClr val="FF0000"/>
                </a:solidFill>
              </a:rPr>
              <a:t>β</a:t>
            </a:r>
            <a:r>
              <a:rPr lang="fr-FR" sz="5400" b="1" dirty="0">
                <a:solidFill>
                  <a:srgbClr val="FF0000"/>
                </a:solidFill>
                <a:latin typeface="Lucida Calligraphy" panose="03010101010101010101" pitchFamily="66" charset="0"/>
              </a:rPr>
              <a:t> thalassémie</a:t>
            </a:r>
          </a:p>
          <a:p>
            <a:pPr algn="ctr"/>
            <a:endParaRPr lang="fr-FR" sz="5400" b="1" dirty="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886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14400" y="1185863"/>
            <a:ext cx="5929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Répartition géographique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371600" y="2028825"/>
            <a:ext cx="7286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Pourtour du bassin méditerranéen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Moyen orient</a:t>
            </a:r>
          </a:p>
        </p:txBody>
      </p:sp>
      <p:pic>
        <p:nvPicPr>
          <p:cNvPr id="2050" name="Picture 2" descr="Résultat de recherche d'im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07"/>
          <a:stretch/>
        </p:blipFill>
        <p:spPr bwMode="auto">
          <a:xfrm>
            <a:off x="4879738" y="2542093"/>
            <a:ext cx="6972777" cy="414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280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65221" y="2278705"/>
            <a:ext cx="4429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FF0000"/>
                </a:solidFill>
              </a:rPr>
              <a:t>Conséquence des anomalies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968541" y="3111296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Déficit de synthèse de l’hémoglobine                    </a:t>
            </a:r>
          </a:p>
        </p:txBody>
      </p:sp>
      <p:sp>
        <p:nvSpPr>
          <p:cNvPr id="4" name="Flèche vers le bas 3"/>
          <p:cNvSpPr/>
          <p:nvPr/>
        </p:nvSpPr>
        <p:spPr>
          <a:xfrm>
            <a:off x="3747210" y="4143942"/>
            <a:ext cx="2871788" cy="571500"/>
          </a:xfrm>
          <a:prstGeom prst="down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194509" y="5270482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Anémie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microcytaire</a:t>
            </a:r>
            <a:r>
              <a:rPr lang="fr-FR" sz="2400" b="1" dirty="0">
                <a:solidFill>
                  <a:srgbClr val="FF0000"/>
                </a:solidFill>
              </a:rPr>
              <a:t> hypochrome            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B762D5C9-D652-49D3-A4CD-00B75D668881}"/>
              </a:ext>
            </a:extLst>
          </p:cNvPr>
          <p:cNvSpPr txBox="1"/>
          <p:nvPr/>
        </p:nvSpPr>
        <p:spPr>
          <a:xfrm>
            <a:off x="2679783" y="1662354"/>
            <a:ext cx="10158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00B050"/>
                </a:solidFill>
              </a:rPr>
              <a:t>Défaut de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synthèse</a:t>
            </a:r>
            <a:r>
              <a:rPr lang="fr-FR" sz="2400" b="1" dirty="0">
                <a:solidFill>
                  <a:srgbClr val="00B050"/>
                </a:solidFill>
              </a:rPr>
              <a:t> de chaine </a:t>
            </a:r>
            <a:r>
              <a:rPr lang="el-GR" sz="2400" b="1" dirty="0">
                <a:solidFill>
                  <a:srgbClr val="00B050"/>
                </a:solidFill>
              </a:rPr>
              <a:t>β</a:t>
            </a:r>
            <a:endParaRPr lang="fr-FR" sz="2400" b="1" dirty="0">
              <a:solidFill>
                <a:srgbClr val="00B05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8F766D95-2E3C-4800-848F-F978AB94B80F}"/>
              </a:ext>
            </a:extLst>
          </p:cNvPr>
          <p:cNvSpPr txBox="1"/>
          <p:nvPr/>
        </p:nvSpPr>
        <p:spPr>
          <a:xfrm>
            <a:off x="4333442" y="443864"/>
            <a:ext cx="5114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Physiopathologie</a:t>
            </a:r>
          </a:p>
        </p:txBody>
      </p:sp>
    </p:spTree>
    <p:extLst>
      <p:ext uri="{BB962C8B-B14F-4D97-AF65-F5344CB8AC3E}">
        <p14:creationId xmlns:p14="http://schemas.microsoft.com/office/powerpoint/2010/main" val="4092294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/>
          <p:cNvGraphicFramePr/>
          <p:nvPr/>
        </p:nvGraphicFramePr>
        <p:xfrm>
          <a:off x="-928726" y="325430"/>
          <a:ext cx="5000660" cy="288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4143372" y="1928803"/>
            <a:ext cx="4857784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400" dirty="0"/>
              <a:t> Synthèse équivalente des chaines </a:t>
            </a:r>
            <a:r>
              <a:rPr lang="el-GR" sz="2400" dirty="0"/>
              <a:t>α</a:t>
            </a:r>
            <a:r>
              <a:rPr lang="fr-FR" sz="2400" dirty="0"/>
              <a:t> et non </a:t>
            </a:r>
            <a:r>
              <a:rPr lang="el-GR" sz="2400" dirty="0"/>
              <a:t>α</a:t>
            </a:r>
            <a:r>
              <a:rPr lang="fr-FR" sz="2400" dirty="0"/>
              <a:t>.</a:t>
            </a:r>
          </a:p>
          <a:p>
            <a:pPr lvl="0"/>
            <a:endParaRPr lang="fr-FR" dirty="0"/>
          </a:p>
          <a:p>
            <a:pPr>
              <a:buFont typeface="Wingdings" pitchFamily="2" charset="2"/>
              <a:buChar char="Ø"/>
            </a:pPr>
            <a:endParaRPr lang="fr-FR" dirty="0"/>
          </a:p>
        </p:txBody>
      </p:sp>
      <p:graphicFrame>
        <p:nvGraphicFramePr>
          <p:cNvPr id="5" name="Diagramme 4"/>
          <p:cNvGraphicFramePr/>
          <p:nvPr/>
        </p:nvGraphicFramePr>
        <p:xfrm>
          <a:off x="-1064460" y="2767383"/>
          <a:ext cx="5500726" cy="313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Flèche droite 5"/>
          <p:cNvSpPr/>
          <p:nvPr/>
        </p:nvSpPr>
        <p:spPr>
          <a:xfrm>
            <a:off x="3871922" y="4429132"/>
            <a:ext cx="357190" cy="1000132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872054" y="4475157"/>
            <a:ext cx="371477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dirty="0"/>
              <a:t> β thalassémie.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900113" y="563294"/>
            <a:ext cx="4429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FF0000"/>
                </a:solidFill>
              </a:rPr>
              <a:t>Conséquence des anomalies</a:t>
            </a:r>
          </a:p>
        </p:txBody>
      </p:sp>
    </p:spTree>
    <p:extLst>
      <p:ext uri="{BB962C8B-B14F-4D97-AF65-F5344CB8AC3E}">
        <p14:creationId xmlns:p14="http://schemas.microsoft.com/office/powerpoint/2010/main" val="250879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807639" y="427911"/>
            <a:ext cx="4429125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Conséquence des anomalies</a:t>
            </a:r>
          </a:p>
        </p:txBody>
      </p:sp>
      <p:sp>
        <p:nvSpPr>
          <p:cNvPr id="3" name="Ellipse 2"/>
          <p:cNvSpPr/>
          <p:nvPr/>
        </p:nvSpPr>
        <p:spPr>
          <a:xfrm>
            <a:off x="1438830" y="1929414"/>
            <a:ext cx="3923231" cy="3313463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00445" y="2192552"/>
            <a:ext cx="424009" cy="372615"/>
          </a:xfrm>
          <a:prstGeom prst="rect">
            <a:avLst/>
          </a:prstGeom>
        </p:spPr>
      </p:pic>
      <p:pic>
        <p:nvPicPr>
          <p:cNvPr id="5" name="Image 4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71541" y="2786611"/>
            <a:ext cx="424009" cy="372615"/>
          </a:xfrm>
          <a:prstGeom prst="rect">
            <a:avLst/>
          </a:prstGeom>
        </p:spPr>
      </p:pic>
      <p:pic>
        <p:nvPicPr>
          <p:cNvPr id="6" name="Image 5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1394" y="2245543"/>
            <a:ext cx="424009" cy="372615"/>
          </a:xfrm>
          <a:prstGeom prst="rect">
            <a:avLst/>
          </a:prstGeom>
        </p:spPr>
      </p:pic>
      <p:pic>
        <p:nvPicPr>
          <p:cNvPr id="7" name="Image 6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16752" y="2615842"/>
            <a:ext cx="424009" cy="372615"/>
          </a:xfrm>
          <a:prstGeom prst="rect">
            <a:avLst/>
          </a:prstGeom>
        </p:spPr>
      </p:pic>
      <p:pic>
        <p:nvPicPr>
          <p:cNvPr id="8" name="Image 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41819" y="2447757"/>
            <a:ext cx="424009" cy="372615"/>
          </a:xfrm>
          <a:prstGeom prst="rect">
            <a:avLst/>
          </a:prstGeom>
        </p:spPr>
      </p:pic>
      <p:pic>
        <p:nvPicPr>
          <p:cNvPr id="9" name="Image 8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96667" y="2671007"/>
            <a:ext cx="424009" cy="372615"/>
          </a:xfrm>
          <a:prstGeom prst="rect">
            <a:avLst/>
          </a:prstGeom>
        </p:spPr>
      </p:pic>
      <p:pic>
        <p:nvPicPr>
          <p:cNvPr id="10" name="Image 9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9881" y="3254091"/>
            <a:ext cx="424009" cy="372615"/>
          </a:xfrm>
          <a:prstGeom prst="rect">
            <a:avLst/>
          </a:prstGeom>
        </p:spPr>
      </p:pic>
      <p:pic>
        <p:nvPicPr>
          <p:cNvPr id="11" name="Image 10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2944" y="3237101"/>
            <a:ext cx="424009" cy="372615"/>
          </a:xfrm>
          <a:prstGeom prst="rect">
            <a:avLst/>
          </a:prstGeom>
        </p:spPr>
      </p:pic>
      <p:pic>
        <p:nvPicPr>
          <p:cNvPr id="12" name="Image 1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37915" y="3051358"/>
            <a:ext cx="424009" cy="372615"/>
          </a:xfrm>
          <a:prstGeom prst="rect">
            <a:avLst/>
          </a:prstGeom>
        </p:spPr>
      </p:pic>
      <p:pic>
        <p:nvPicPr>
          <p:cNvPr id="13" name="Image 12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28261" y="3012835"/>
            <a:ext cx="424009" cy="372615"/>
          </a:xfrm>
          <a:prstGeom prst="rect">
            <a:avLst/>
          </a:prstGeom>
        </p:spPr>
      </p:pic>
      <p:pic>
        <p:nvPicPr>
          <p:cNvPr id="14" name="Image 1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2388" y="3877194"/>
            <a:ext cx="424009" cy="372615"/>
          </a:xfrm>
          <a:prstGeom prst="rect">
            <a:avLst/>
          </a:prstGeom>
        </p:spPr>
      </p:pic>
      <p:pic>
        <p:nvPicPr>
          <p:cNvPr id="15" name="Image 14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51543" y="4248484"/>
            <a:ext cx="424009" cy="372615"/>
          </a:xfrm>
          <a:prstGeom prst="rect">
            <a:avLst/>
          </a:prstGeom>
        </p:spPr>
      </p:pic>
      <p:pic>
        <p:nvPicPr>
          <p:cNvPr id="16" name="Image 15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31089" y="3875869"/>
            <a:ext cx="424009" cy="372615"/>
          </a:xfrm>
          <a:prstGeom prst="rect">
            <a:avLst/>
          </a:prstGeom>
        </p:spPr>
      </p:pic>
      <p:pic>
        <p:nvPicPr>
          <p:cNvPr id="17" name="Image 16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5815" y="4062176"/>
            <a:ext cx="424009" cy="372615"/>
          </a:xfrm>
          <a:prstGeom prst="rect">
            <a:avLst/>
          </a:prstGeom>
        </p:spPr>
      </p:pic>
      <p:pic>
        <p:nvPicPr>
          <p:cNvPr id="18" name="Image 1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17810" y="4641641"/>
            <a:ext cx="424009" cy="372615"/>
          </a:xfrm>
          <a:prstGeom prst="rect">
            <a:avLst/>
          </a:prstGeom>
        </p:spPr>
      </p:pic>
      <p:pic>
        <p:nvPicPr>
          <p:cNvPr id="19" name="Image 18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87187" y="3112026"/>
            <a:ext cx="424009" cy="372615"/>
          </a:xfrm>
          <a:prstGeom prst="rect">
            <a:avLst/>
          </a:prstGeom>
        </p:spPr>
      </p:pic>
      <p:pic>
        <p:nvPicPr>
          <p:cNvPr id="20" name="Image 19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04206" y="3689561"/>
            <a:ext cx="424009" cy="372615"/>
          </a:xfrm>
          <a:prstGeom prst="rect">
            <a:avLst/>
          </a:prstGeom>
        </p:spPr>
      </p:pic>
      <p:pic>
        <p:nvPicPr>
          <p:cNvPr id="21" name="Image 20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09331" y="4173826"/>
            <a:ext cx="424009" cy="372615"/>
          </a:xfrm>
          <a:prstGeom prst="rect">
            <a:avLst/>
          </a:prstGeom>
        </p:spPr>
      </p:pic>
      <p:pic>
        <p:nvPicPr>
          <p:cNvPr id="22" name="Image 2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9737" y="4682925"/>
            <a:ext cx="424009" cy="372615"/>
          </a:xfrm>
          <a:prstGeom prst="rect">
            <a:avLst/>
          </a:prstGeom>
        </p:spPr>
      </p:pic>
      <p:sp>
        <p:nvSpPr>
          <p:cNvPr id="23" name="Ellipse 22"/>
          <p:cNvSpPr/>
          <p:nvPr/>
        </p:nvSpPr>
        <p:spPr>
          <a:xfrm>
            <a:off x="6391848" y="1938936"/>
            <a:ext cx="3923231" cy="3313463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3463" y="2202074"/>
            <a:ext cx="424009" cy="372615"/>
          </a:xfrm>
          <a:prstGeom prst="rect">
            <a:avLst/>
          </a:prstGeom>
        </p:spPr>
      </p:pic>
      <p:pic>
        <p:nvPicPr>
          <p:cNvPr id="26" name="Image 25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412" y="2255065"/>
            <a:ext cx="424009" cy="372615"/>
          </a:xfrm>
          <a:prstGeom prst="rect">
            <a:avLst/>
          </a:prstGeom>
        </p:spPr>
      </p:pic>
      <p:pic>
        <p:nvPicPr>
          <p:cNvPr id="28" name="Image 2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4837" y="2457279"/>
            <a:ext cx="424009" cy="372615"/>
          </a:xfrm>
          <a:prstGeom prst="rect">
            <a:avLst/>
          </a:prstGeom>
        </p:spPr>
      </p:pic>
      <p:pic>
        <p:nvPicPr>
          <p:cNvPr id="29" name="Image 28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49685" y="2680529"/>
            <a:ext cx="424009" cy="372615"/>
          </a:xfrm>
          <a:prstGeom prst="rect">
            <a:avLst/>
          </a:prstGeom>
        </p:spPr>
      </p:pic>
      <p:pic>
        <p:nvPicPr>
          <p:cNvPr id="31" name="Image 30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5962" y="3246623"/>
            <a:ext cx="424009" cy="372615"/>
          </a:xfrm>
          <a:prstGeom prst="rect">
            <a:avLst/>
          </a:prstGeom>
        </p:spPr>
      </p:pic>
      <p:pic>
        <p:nvPicPr>
          <p:cNvPr id="32" name="Image 3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90933" y="3060880"/>
            <a:ext cx="424009" cy="372615"/>
          </a:xfrm>
          <a:prstGeom prst="rect">
            <a:avLst/>
          </a:prstGeom>
        </p:spPr>
      </p:pic>
      <p:pic>
        <p:nvPicPr>
          <p:cNvPr id="33" name="Image 32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81279" y="3022357"/>
            <a:ext cx="424009" cy="372615"/>
          </a:xfrm>
          <a:prstGeom prst="rect">
            <a:avLst/>
          </a:prstGeom>
        </p:spPr>
      </p:pic>
      <p:pic>
        <p:nvPicPr>
          <p:cNvPr id="34" name="Image 3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5406" y="3886716"/>
            <a:ext cx="424009" cy="372615"/>
          </a:xfrm>
          <a:prstGeom prst="rect">
            <a:avLst/>
          </a:prstGeom>
        </p:spPr>
      </p:pic>
      <p:pic>
        <p:nvPicPr>
          <p:cNvPr id="38" name="Image 3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70828" y="4651163"/>
            <a:ext cx="424009" cy="372615"/>
          </a:xfrm>
          <a:prstGeom prst="rect">
            <a:avLst/>
          </a:prstGeom>
        </p:spPr>
      </p:pic>
      <p:pic>
        <p:nvPicPr>
          <p:cNvPr id="40" name="Image 39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57224" y="3699083"/>
            <a:ext cx="424009" cy="372615"/>
          </a:xfrm>
          <a:prstGeom prst="rect">
            <a:avLst/>
          </a:prstGeom>
        </p:spPr>
      </p:pic>
      <p:pic>
        <p:nvPicPr>
          <p:cNvPr id="42" name="Image 4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12755" y="4692447"/>
            <a:ext cx="424009" cy="372615"/>
          </a:xfrm>
          <a:prstGeom prst="rect">
            <a:avLst/>
          </a:prstGeom>
        </p:spPr>
      </p:pic>
      <p:pic>
        <p:nvPicPr>
          <p:cNvPr id="43" name="Image 42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97704" y="3654445"/>
            <a:ext cx="297653" cy="285594"/>
          </a:xfrm>
          <a:prstGeom prst="rect">
            <a:avLst/>
          </a:prstGeom>
        </p:spPr>
      </p:pic>
      <p:pic>
        <p:nvPicPr>
          <p:cNvPr id="44" name="Image 43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0661" y="4230902"/>
            <a:ext cx="297653" cy="285594"/>
          </a:xfrm>
          <a:prstGeom prst="rect">
            <a:avLst/>
          </a:prstGeom>
        </p:spPr>
      </p:pic>
      <p:pic>
        <p:nvPicPr>
          <p:cNvPr id="45" name="Image 44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39111" y="4259331"/>
            <a:ext cx="297653" cy="285594"/>
          </a:xfrm>
          <a:prstGeom prst="rect">
            <a:avLst/>
          </a:prstGeom>
        </p:spPr>
      </p:pic>
      <p:pic>
        <p:nvPicPr>
          <p:cNvPr id="46" name="Image 45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93283" y="4259331"/>
            <a:ext cx="297653" cy="285594"/>
          </a:xfrm>
          <a:prstGeom prst="rect">
            <a:avLst/>
          </a:prstGeom>
        </p:spPr>
      </p:pic>
      <p:pic>
        <p:nvPicPr>
          <p:cNvPr id="47" name="Image 46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84573" y="3503044"/>
            <a:ext cx="297653" cy="285594"/>
          </a:xfrm>
          <a:prstGeom prst="rect">
            <a:avLst/>
          </a:prstGeom>
        </p:spPr>
      </p:pic>
      <p:pic>
        <p:nvPicPr>
          <p:cNvPr id="49" name="Image 48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21283" y="2684503"/>
            <a:ext cx="297653" cy="285594"/>
          </a:xfrm>
          <a:prstGeom prst="rect">
            <a:avLst/>
          </a:prstGeom>
        </p:spPr>
      </p:pic>
      <p:pic>
        <p:nvPicPr>
          <p:cNvPr id="50" name="Image 49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61025" y="2822759"/>
            <a:ext cx="297653" cy="285594"/>
          </a:xfrm>
          <a:prstGeom prst="rect">
            <a:avLst/>
          </a:prstGeom>
        </p:spPr>
      </p:pic>
      <p:pic>
        <p:nvPicPr>
          <p:cNvPr id="51" name="Image 50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0661" y="3302257"/>
            <a:ext cx="297653" cy="285594"/>
          </a:xfrm>
          <a:prstGeom prst="rect">
            <a:avLst/>
          </a:prstGeom>
        </p:spPr>
      </p:pic>
      <p:pic>
        <p:nvPicPr>
          <p:cNvPr id="52" name="Image 51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00911" y="3742593"/>
            <a:ext cx="297653" cy="285594"/>
          </a:xfrm>
          <a:prstGeom prst="rect">
            <a:avLst/>
          </a:prstGeom>
        </p:spPr>
      </p:pic>
      <p:pic>
        <p:nvPicPr>
          <p:cNvPr id="53" name="Image 52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566968" y="2736763"/>
            <a:ext cx="297653" cy="285594"/>
          </a:xfrm>
          <a:prstGeom prst="rect">
            <a:avLst/>
          </a:prstGeom>
        </p:spPr>
      </p:pic>
      <p:sp>
        <p:nvSpPr>
          <p:cNvPr id="54" name="ZoneTexte 53"/>
          <p:cNvSpPr txBox="1"/>
          <p:nvPr/>
        </p:nvSpPr>
        <p:spPr>
          <a:xfrm>
            <a:off x="2675552" y="5533573"/>
            <a:ext cx="1509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Normal</a:t>
            </a:r>
          </a:p>
        </p:txBody>
      </p:sp>
      <p:sp>
        <p:nvSpPr>
          <p:cNvPr id="55" name="ZoneTexte 54"/>
          <p:cNvSpPr txBox="1"/>
          <p:nvPr/>
        </p:nvSpPr>
        <p:spPr>
          <a:xfrm>
            <a:off x="7333498" y="5447259"/>
            <a:ext cx="3064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β thalassémie</a:t>
            </a:r>
          </a:p>
        </p:txBody>
      </p:sp>
    </p:spTree>
    <p:extLst>
      <p:ext uri="{BB962C8B-B14F-4D97-AF65-F5344CB8AC3E}">
        <p14:creationId xmlns:p14="http://schemas.microsoft.com/office/powerpoint/2010/main" val="64705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537915" y="384608"/>
            <a:ext cx="4429125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Conséquence des anomalies</a:t>
            </a:r>
          </a:p>
        </p:txBody>
      </p:sp>
      <p:sp>
        <p:nvSpPr>
          <p:cNvPr id="3" name="Ellipse 2"/>
          <p:cNvSpPr/>
          <p:nvPr/>
        </p:nvSpPr>
        <p:spPr>
          <a:xfrm>
            <a:off x="1438830" y="1929414"/>
            <a:ext cx="3923231" cy="3313463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00445" y="2192552"/>
            <a:ext cx="424009" cy="372615"/>
          </a:xfrm>
          <a:prstGeom prst="rect">
            <a:avLst/>
          </a:prstGeom>
        </p:spPr>
      </p:pic>
      <p:pic>
        <p:nvPicPr>
          <p:cNvPr id="5" name="Image 4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71541" y="2786611"/>
            <a:ext cx="424009" cy="372615"/>
          </a:xfrm>
          <a:prstGeom prst="rect">
            <a:avLst/>
          </a:prstGeom>
        </p:spPr>
      </p:pic>
      <p:pic>
        <p:nvPicPr>
          <p:cNvPr id="6" name="Image 5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1394" y="2245543"/>
            <a:ext cx="424009" cy="372615"/>
          </a:xfrm>
          <a:prstGeom prst="rect">
            <a:avLst/>
          </a:prstGeom>
        </p:spPr>
      </p:pic>
      <p:pic>
        <p:nvPicPr>
          <p:cNvPr id="7" name="Image 6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16752" y="2615842"/>
            <a:ext cx="424009" cy="372615"/>
          </a:xfrm>
          <a:prstGeom prst="rect">
            <a:avLst/>
          </a:prstGeom>
        </p:spPr>
      </p:pic>
      <p:pic>
        <p:nvPicPr>
          <p:cNvPr id="8" name="Image 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41819" y="2447757"/>
            <a:ext cx="424009" cy="372615"/>
          </a:xfrm>
          <a:prstGeom prst="rect">
            <a:avLst/>
          </a:prstGeom>
        </p:spPr>
      </p:pic>
      <p:pic>
        <p:nvPicPr>
          <p:cNvPr id="9" name="Image 8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96667" y="2671007"/>
            <a:ext cx="424009" cy="372615"/>
          </a:xfrm>
          <a:prstGeom prst="rect">
            <a:avLst/>
          </a:prstGeom>
        </p:spPr>
      </p:pic>
      <p:pic>
        <p:nvPicPr>
          <p:cNvPr id="10" name="Image 9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9881" y="3254091"/>
            <a:ext cx="424009" cy="372615"/>
          </a:xfrm>
          <a:prstGeom prst="rect">
            <a:avLst/>
          </a:prstGeom>
        </p:spPr>
      </p:pic>
      <p:pic>
        <p:nvPicPr>
          <p:cNvPr id="11" name="Image 10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2944" y="3237101"/>
            <a:ext cx="424009" cy="372615"/>
          </a:xfrm>
          <a:prstGeom prst="rect">
            <a:avLst/>
          </a:prstGeom>
        </p:spPr>
      </p:pic>
      <p:pic>
        <p:nvPicPr>
          <p:cNvPr id="12" name="Image 1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37915" y="3051358"/>
            <a:ext cx="424009" cy="372615"/>
          </a:xfrm>
          <a:prstGeom prst="rect">
            <a:avLst/>
          </a:prstGeom>
        </p:spPr>
      </p:pic>
      <p:pic>
        <p:nvPicPr>
          <p:cNvPr id="13" name="Image 12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28261" y="3012835"/>
            <a:ext cx="424009" cy="372615"/>
          </a:xfrm>
          <a:prstGeom prst="rect">
            <a:avLst/>
          </a:prstGeom>
        </p:spPr>
      </p:pic>
      <p:pic>
        <p:nvPicPr>
          <p:cNvPr id="14" name="Image 1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2388" y="3877194"/>
            <a:ext cx="424009" cy="372615"/>
          </a:xfrm>
          <a:prstGeom prst="rect">
            <a:avLst/>
          </a:prstGeom>
        </p:spPr>
      </p:pic>
      <p:pic>
        <p:nvPicPr>
          <p:cNvPr id="15" name="Image 14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51543" y="4248484"/>
            <a:ext cx="424009" cy="372615"/>
          </a:xfrm>
          <a:prstGeom prst="rect">
            <a:avLst/>
          </a:prstGeom>
        </p:spPr>
      </p:pic>
      <p:pic>
        <p:nvPicPr>
          <p:cNvPr id="16" name="Image 15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31089" y="3875869"/>
            <a:ext cx="424009" cy="372615"/>
          </a:xfrm>
          <a:prstGeom prst="rect">
            <a:avLst/>
          </a:prstGeom>
        </p:spPr>
      </p:pic>
      <p:pic>
        <p:nvPicPr>
          <p:cNvPr id="17" name="Image 16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5815" y="4062176"/>
            <a:ext cx="424009" cy="372615"/>
          </a:xfrm>
          <a:prstGeom prst="rect">
            <a:avLst/>
          </a:prstGeom>
        </p:spPr>
      </p:pic>
      <p:pic>
        <p:nvPicPr>
          <p:cNvPr id="18" name="Image 1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17810" y="4641641"/>
            <a:ext cx="424009" cy="372615"/>
          </a:xfrm>
          <a:prstGeom prst="rect">
            <a:avLst/>
          </a:prstGeom>
        </p:spPr>
      </p:pic>
      <p:pic>
        <p:nvPicPr>
          <p:cNvPr id="19" name="Image 18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87187" y="3112026"/>
            <a:ext cx="424009" cy="372615"/>
          </a:xfrm>
          <a:prstGeom prst="rect">
            <a:avLst/>
          </a:prstGeom>
        </p:spPr>
      </p:pic>
      <p:pic>
        <p:nvPicPr>
          <p:cNvPr id="20" name="Image 19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04206" y="3689561"/>
            <a:ext cx="424009" cy="372615"/>
          </a:xfrm>
          <a:prstGeom prst="rect">
            <a:avLst/>
          </a:prstGeom>
        </p:spPr>
      </p:pic>
      <p:pic>
        <p:nvPicPr>
          <p:cNvPr id="21" name="Image 20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09331" y="4173826"/>
            <a:ext cx="424009" cy="372615"/>
          </a:xfrm>
          <a:prstGeom prst="rect">
            <a:avLst/>
          </a:prstGeom>
        </p:spPr>
      </p:pic>
      <p:pic>
        <p:nvPicPr>
          <p:cNvPr id="22" name="Image 2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9737" y="4682925"/>
            <a:ext cx="424009" cy="372615"/>
          </a:xfrm>
          <a:prstGeom prst="rect">
            <a:avLst/>
          </a:prstGeom>
        </p:spPr>
      </p:pic>
      <p:sp>
        <p:nvSpPr>
          <p:cNvPr id="23" name="Ellipse 22"/>
          <p:cNvSpPr/>
          <p:nvPr/>
        </p:nvSpPr>
        <p:spPr>
          <a:xfrm>
            <a:off x="6391848" y="1938936"/>
            <a:ext cx="3923231" cy="3313463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3463" y="2202074"/>
            <a:ext cx="424009" cy="372615"/>
          </a:xfrm>
          <a:prstGeom prst="rect">
            <a:avLst/>
          </a:prstGeom>
        </p:spPr>
      </p:pic>
      <p:pic>
        <p:nvPicPr>
          <p:cNvPr id="26" name="Image 25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412" y="2255065"/>
            <a:ext cx="424009" cy="372615"/>
          </a:xfrm>
          <a:prstGeom prst="rect">
            <a:avLst/>
          </a:prstGeom>
        </p:spPr>
      </p:pic>
      <p:pic>
        <p:nvPicPr>
          <p:cNvPr id="28" name="Image 2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4837" y="2457279"/>
            <a:ext cx="424009" cy="372615"/>
          </a:xfrm>
          <a:prstGeom prst="rect">
            <a:avLst/>
          </a:prstGeom>
        </p:spPr>
      </p:pic>
      <p:pic>
        <p:nvPicPr>
          <p:cNvPr id="29" name="Image 28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49685" y="2680529"/>
            <a:ext cx="424009" cy="372615"/>
          </a:xfrm>
          <a:prstGeom prst="rect">
            <a:avLst/>
          </a:prstGeom>
        </p:spPr>
      </p:pic>
      <p:pic>
        <p:nvPicPr>
          <p:cNvPr id="31" name="Image 30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5962" y="3246623"/>
            <a:ext cx="424009" cy="372615"/>
          </a:xfrm>
          <a:prstGeom prst="rect">
            <a:avLst/>
          </a:prstGeom>
        </p:spPr>
      </p:pic>
      <p:pic>
        <p:nvPicPr>
          <p:cNvPr id="32" name="Image 3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90933" y="3060880"/>
            <a:ext cx="424009" cy="372615"/>
          </a:xfrm>
          <a:prstGeom prst="rect">
            <a:avLst/>
          </a:prstGeom>
        </p:spPr>
      </p:pic>
      <p:pic>
        <p:nvPicPr>
          <p:cNvPr id="33" name="Image 32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81279" y="3022357"/>
            <a:ext cx="424009" cy="372615"/>
          </a:xfrm>
          <a:prstGeom prst="rect">
            <a:avLst/>
          </a:prstGeom>
        </p:spPr>
      </p:pic>
      <p:pic>
        <p:nvPicPr>
          <p:cNvPr id="34" name="Image 33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5406" y="3886716"/>
            <a:ext cx="424009" cy="372615"/>
          </a:xfrm>
          <a:prstGeom prst="rect">
            <a:avLst/>
          </a:prstGeom>
        </p:spPr>
      </p:pic>
      <p:pic>
        <p:nvPicPr>
          <p:cNvPr id="38" name="Image 37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0280" y="4209132"/>
            <a:ext cx="424009" cy="372615"/>
          </a:xfrm>
          <a:prstGeom prst="rect">
            <a:avLst/>
          </a:prstGeom>
        </p:spPr>
      </p:pic>
      <p:pic>
        <p:nvPicPr>
          <p:cNvPr id="40" name="Image 39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57224" y="3699083"/>
            <a:ext cx="424009" cy="372615"/>
          </a:xfrm>
          <a:prstGeom prst="rect">
            <a:avLst/>
          </a:prstGeom>
        </p:spPr>
      </p:pic>
      <p:pic>
        <p:nvPicPr>
          <p:cNvPr id="42" name="Image 41" descr="HéMOGLOB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81279" y="3951114"/>
            <a:ext cx="424009" cy="372615"/>
          </a:xfrm>
          <a:prstGeom prst="rect">
            <a:avLst/>
          </a:prstGeom>
        </p:spPr>
      </p:pic>
      <p:pic>
        <p:nvPicPr>
          <p:cNvPr id="43" name="Image 42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83254" y="4798934"/>
            <a:ext cx="297653" cy="285594"/>
          </a:xfrm>
          <a:prstGeom prst="rect">
            <a:avLst/>
          </a:prstGeom>
        </p:spPr>
      </p:pic>
      <p:pic>
        <p:nvPicPr>
          <p:cNvPr id="44" name="Image 43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95627" y="4957283"/>
            <a:ext cx="297653" cy="285594"/>
          </a:xfrm>
          <a:prstGeom prst="rect">
            <a:avLst/>
          </a:prstGeom>
        </p:spPr>
      </p:pic>
      <p:pic>
        <p:nvPicPr>
          <p:cNvPr id="45" name="Image 44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93280" y="4941731"/>
            <a:ext cx="297653" cy="285594"/>
          </a:xfrm>
          <a:prstGeom prst="rect">
            <a:avLst/>
          </a:prstGeom>
        </p:spPr>
      </p:pic>
      <p:pic>
        <p:nvPicPr>
          <p:cNvPr id="46" name="Image 45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94548" y="5001322"/>
            <a:ext cx="297653" cy="285594"/>
          </a:xfrm>
          <a:prstGeom prst="rect">
            <a:avLst/>
          </a:prstGeom>
        </p:spPr>
      </p:pic>
      <p:pic>
        <p:nvPicPr>
          <p:cNvPr id="47" name="Image 46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85548" y="4731190"/>
            <a:ext cx="297653" cy="285594"/>
          </a:xfrm>
          <a:prstGeom prst="rect">
            <a:avLst/>
          </a:prstGeom>
        </p:spPr>
      </p:pic>
      <p:pic>
        <p:nvPicPr>
          <p:cNvPr id="49" name="Image 48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78560" y="4698458"/>
            <a:ext cx="297653" cy="285594"/>
          </a:xfrm>
          <a:prstGeom prst="rect">
            <a:avLst/>
          </a:prstGeom>
        </p:spPr>
      </p:pic>
      <p:pic>
        <p:nvPicPr>
          <p:cNvPr id="50" name="Image 49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04904" y="4851453"/>
            <a:ext cx="297653" cy="285594"/>
          </a:xfrm>
          <a:prstGeom prst="rect">
            <a:avLst/>
          </a:prstGeom>
        </p:spPr>
      </p:pic>
      <p:pic>
        <p:nvPicPr>
          <p:cNvPr id="51" name="Image 50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38267" y="4815670"/>
            <a:ext cx="297653" cy="285594"/>
          </a:xfrm>
          <a:prstGeom prst="rect">
            <a:avLst/>
          </a:prstGeom>
        </p:spPr>
      </p:pic>
      <p:pic>
        <p:nvPicPr>
          <p:cNvPr id="52" name="Image 51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09899" y="4911916"/>
            <a:ext cx="297653" cy="285594"/>
          </a:xfrm>
          <a:prstGeom prst="rect">
            <a:avLst/>
          </a:prstGeom>
        </p:spPr>
      </p:pic>
      <p:pic>
        <p:nvPicPr>
          <p:cNvPr id="53" name="Image 52" descr="globine alph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95574" y="4935539"/>
            <a:ext cx="297653" cy="285594"/>
          </a:xfrm>
          <a:prstGeom prst="rect">
            <a:avLst/>
          </a:prstGeom>
        </p:spPr>
      </p:pic>
      <p:sp>
        <p:nvSpPr>
          <p:cNvPr id="54" name="ZoneTexte 53"/>
          <p:cNvSpPr txBox="1"/>
          <p:nvPr/>
        </p:nvSpPr>
        <p:spPr>
          <a:xfrm>
            <a:off x="2675552" y="5533573"/>
            <a:ext cx="1509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Normal</a:t>
            </a:r>
          </a:p>
        </p:txBody>
      </p:sp>
      <p:sp>
        <p:nvSpPr>
          <p:cNvPr id="55" name="ZoneTexte 54"/>
          <p:cNvSpPr txBox="1"/>
          <p:nvPr/>
        </p:nvSpPr>
        <p:spPr>
          <a:xfrm>
            <a:off x="7333498" y="5447259"/>
            <a:ext cx="3064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β thalassémie</a:t>
            </a:r>
          </a:p>
        </p:txBody>
      </p:sp>
    </p:spTree>
    <p:extLst>
      <p:ext uri="{BB962C8B-B14F-4D97-AF65-F5344CB8AC3E}">
        <p14:creationId xmlns:p14="http://schemas.microsoft.com/office/powerpoint/2010/main" val="4046453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kelbet.com/wp-content/uploads/2013/04/R%C3%A9fl%C3%A9chi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390" y="2454165"/>
            <a:ext cx="2184749" cy="338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Légende encadrée avec une bordure 1 2"/>
          <p:cNvSpPr/>
          <p:nvPr/>
        </p:nvSpPr>
        <p:spPr>
          <a:xfrm>
            <a:off x="4524001" y="1917336"/>
            <a:ext cx="6020125" cy="3603492"/>
          </a:xfrm>
          <a:prstGeom prst="accentBorderCallout1">
            <a:avLst>
              <a:gd name="adj1" fmla="val 33325"/>
              <a:gd name="adj2" fmla="val -2737"/>
              <a:gd name="adj3" fmla="val 73074"/>
              <a:gd name="adj4" fmla="val -1845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743949" y="2149475"/>
            <a:ext cx="55615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NB: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toxicité des chaines libre 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due à leur abondance qui dépasse les capacité de protéolyse cellulaire, et au fer qui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génère des radicaux libres d’O</a:t>
            </a:r>
            <a:r>
              <a:rPr lang="fr-FR" sz="1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formes hétérozygotes, le seuil de toxicité n’est pas atteint.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881437" y="491435"/>
            <a:ext cx="4429125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Conséquence des anomalies</a:t>
            </a:r>
          </a:p>
        </p:txBody>
      </p:sp>
    </p:spTree>
    <p:extLst>
      <p:ext uri="{BB962C8B-B14F-4D97-AF65-F5344CB8AC3E}">
        <p14:creationId xmlns:p14="http://schemas.microsoft.com/office/powerpoint/2010/main" val="133786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616657" y="509659"/>
            <a:ext cx="556828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Conséquence des anomalies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37725" y="1440692"/>
            <a:ext cx="1018698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Erythropoïèse inefficace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apoptose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Hémolyse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intra-médullaire et une hémolyse prématurée des GR circulants.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Hyperplasie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erythroblastique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hyperplasie des os plats.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Déformation squelettiques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faciès mongoloïde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Erythropoïèse extra-médullaire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hépato-splénomégalie</a:t>
            </a:r>
          </a:p>
        </p:txBody>
      </p:sp>
    </p:spTree>
    <p:extLst>
      <p:ext uri="{BB962C8B-B14F-4D97-AF65-F5344CB8AC3E}">
        <p14:creationId xmlns:p14="http://schemas.microsoft.com/office/powerpoint/2010/main" val="383237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486151" y="432080"/>
            <a:ext cx="5330303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Conséquence des anomalies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957637" y="1657351"/>
            <a:ext cx="454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Anémie de la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186238" y="2343150"/>
            <a:ext cx="1385887" cy="9001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>
            <a:off x="6729413" y="2343150"/>
            <a:ext cx="1185863" cy="9001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à coins arrondis 8"/>
          <p:cNvSpPr/>
          <p:nvPr/>
        </p:nvSpPr>
        <p:spPr>
          <a:xfrm>
            <a:off x="1643063" y="3405842"/>
            <a:ext cx="2728912" cy="85725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Erythropoïèse</a:t>
            </a:r>
            <a:r>
              <a:rPr lang="fr-FR" sz="2400" b="1" dirty="0"/>
              <a:t> inefficace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7696201" y="3405842"/>
            <a:ext cx="2728912" cy="85725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hémolyse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607468" y="5411510"/>
            <a:ext cx="8079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Augmentation de synthèse de l’</a:t>
            </a:r>
            <a:r>
              <a:rPr lang="fr-FR" sz="2400" dirty="0" err="1"/>
              <a:t>Hb</a:t>
            </a:r>
            <a:r>
              <a:rPr lang="fr-FR" sz="2400" dirty="0"/>
              <a:t> F et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/>
              <a:t> A2</a:t>
            </a:r>
          </a:p>
        </p:txBody>
      </p:sp>
    </p:spTree>
    <p:extLst>
      <p:ext uri="{BB962C8B-B14F-4D97-AF65-F5344CB8AC3E}">
        <p14:creationId xmlns:p14="http://schemas.microsoft.com/office/powerpoint/2010/main" val="2383953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798" y="183178"/>
            <a:ext cx="6286500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>
                <a:solidFill>
                  <a:srgbClr val="FF0000"/>
                </a:solidFill>
              </a:rPr>
              <a:t>Diagnostic des </a:t>
            </a:r>
            <a:r>
              <a:rPr lang="el-GR" sz="2800" b="1" u="sng" dirty="0">
                <a:solidFill>
                  <a:srgbClr val="FF0000"/>
                </a:solidFill>
              </a:rPr>
              <a:t>β</a:t>
            </a:r>
            <a:r>
              <a:rPr lang="fr-FR" sz="2800" b="1" u="sng" dirty="0">
                <a:solidFill>
                  <a:srgbClr val="FF0000"/>
                </a:solidFill>
              </a:rPr>
              <a:t> </a:t>
            </a:r>
            <a:r>
              <a:rPr lang="fr-F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thalassémies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991116" y="1284730"/>
            <a:ext cx="6286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majeure:</a:t>
            </a:r>
          </a:p>
          <a:p>
            <a:endParaRPr lang="fr-FR" sz="36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42949" y="2735283"/>
            <a:ext cx="10953182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correspond à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maladie de Cooley, </a:t>
            </a:r>
          </a:p>
          <a:p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absence totale de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c’est la forme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l-G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fr-FR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endParaRPr lang="fr-FR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la forme majeure 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fr-FR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</a:t>
            </a:r>
            <a:r>
              <a:rPr lang="fr-FR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présence d’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résiduelle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213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52750" y="155882"/>
            <a:ext cx="62865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des </a:t>
            </a:r>
            <a:r>
              <a:rPr lang="el-GR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57236" y="1084525"/>
            <a:ext cx="4224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>
                <a:solidFill>
                  <a:srgbClr val="FF0000"/>
                </a:solidFill>
              </a:rPr>
              <a:t>β</a:t>
            </a:r>
            <a:r>
              <a:rPr lang="fr-FR" sz="2800" u="sng" dirty="0">
                <a:solidFill>
                  <a:srgbClr val="FF0000"/>
                </a:solidFill>
              </a:rPr>
              <a:t> thalassémies 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majeure</a:t>
            </a:r>
            <a:r>
              <a:rPr lang="fr-FR" sz="2800" u="sng" dirty="0">
                <a:solidFill>
                  <a:srgbClr val="FF0000"/>
                </a:solidFill>
              </a:rPr>
              <a:t>:</a:t>
            </a:r>
          </a:p>
          <a:p>
            <a:endParaRPr lang="fr-FR" sz="2800" u="sng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07111" y="1516596"/>
            <a:ext cx="10115551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CLINIQUE: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L’anémie n’apparait pas dés la naissance car synthèse de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majoritaire.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est fait entre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et 18 mois.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PCM +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subictère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SPM = TRIADE HEMOLYTIQUE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 MONGOLOÏDE DU FACIÈS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Retard staturo-pondéral</a:t>
            </a:r>
          </a:p>
        </p:txBody>
      </p:sp>
    </p:spTree>
    <p:extLst>
      <p:ext uri="{BB962C8B-B14F-4D97-AF65-F5344CB8AC3E}">
        <p14:creationId xmlns:p14="http://schemas.microsoft.com/office/powerpoint/2010/main" val="3484185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ésultat de recherche d'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406" y="560770"/>
            <a:ext cx="7776002" cy="58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Résultat de recherche d'ima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51" y="560770"/>
            <a:ext cx="4589355" cy="586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466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ésultat de recherche d'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10" y="1450376"/>
            <a:ext cx="4879830" cy="367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Résultat de recherche d'image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26" r="54151"/>
          <a:stretch/>
        </p:blipFill>
        <p:spPr bwMode="auto">
          <a:xfrm>
            <a:off x="5084840" y="1427374"/>
            <a:ext cx="3811302" cy="366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Résultat de recherche d'image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44" t="41226"/>
          <a:stretch/>
        </p:blipFill>
        <p:spPr bwMode="auto">
          <a:xfrm>
            <a:off x="8096410" y="1413085"/>
            <a:ext cx="3479343" cy="366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7943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1614485" y="149686"/>
            <a:ext cx="628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des </a:t>
            </a:r>
            <a:r>
              <a:rPr lang="el-G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703308" y="119381"/>
            <a:ext cx="6286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majeure:</a:t>
            </a:r>
          </a:p>
          <a:p>
            <a:endParaRPr lang="fr-FR"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88107" y="953812"/>
            <a:ext cx="3774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HEMOGRAMME </a:t>
            </a:r>
            <a:r>
              <a:rPr lang="fr-FR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97287" y="1543623"/>
            <a:ext cx="5412194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Anémie sévère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4-7 g/dl 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Microcytose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hypochromie.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Taux de réticulocyte normal ou peu élevé.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726926" y="890778"/>
            <a:ext cx="3384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Frottis</a:t>
            </a:r>
            <a:r>
              <a:rPr lang="fr-FR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6891490" y="1583748"/>
            <a:ext cx="480322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 pâles,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annulocytes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poikilocytose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cellules cibles.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Érythroblastose circulante</a:t>
            </a:r>
          </a:p>
          <a:p>
            <a:endParaRPr lang="fr-FR" sz="2400" dirty="0"/>
          </a:p>
        </p:txBody>
      </p:sp>
      <p:pic>
        <p:nvPicPr>
          <p:cNvPr id="9" name="Picture 4" descr="Résultat de recherche d'images">
            <a:extLst>
              <a:ext uri="{FF2B5EF4-FFF2-40B4-BE49-F238E27FC236}">
                <a16:creationId xmlns:a16="http://schemas.microsoft.com/office/drawing/2014/main" xmlns="" id="{063C4C69-71FF-4329-AF7C-4A57CCE90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489" y="4000267"/>
            <a:ext cx="4844701" cy="263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B1E26B10-B9E9-4695-BE14-12869DB20DB6}"/>
              </a:ext>
            </a:extLst>
          </p:cNvPr>
          <p:cNvSpPr txBox="1"/>
          <p:nvPr/>
        </p:nvSpPr>
        <p:spPr>
          <a:xfrm>
            <a:off x="455810" y="4966432"/>
            <a:ext cx="5453671" cy="1845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AUTRES: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 sérique et ferritinémie élevés 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Bilirubine indirecte élevée.</a:t>
            </a:r>
          </a:p>
        </p:txBody>
      </p:sp>
    </p:spTree>
    <p:extLst>
      <p:ext uri="{BB962C8B-B14F-4D97-AF65-F5344CB8AC3E}">
        <p14:creationId xmlns:p14="http://schemas.microsoft.com/office/powerpoint/2010/main" val="406881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686175" y="128587"/>
            <a:ext cx="628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</a:t>
            </a:r>
            <a:r>
              <a:rPr lang="fr-FR" sz="2800" u="sng" dirty="0">
                <a:solidFill>
                  <a:srgbClr val="FF0000"/>
                </a:solidFill>
              </a:rPr>
              <a:t> des </a:t>
            </a:r>
            <a:r>
              <a:rPr lang="el-GR" sz="2800" u="sng" dirty="0">
                <a:solidFill>
                  <a:srgbClr val="FF0000"/>
                </a:solidFill>
              </a:rPr>
              <a:t>β</a:t>
            </a:r>
            <a:r>
              <a:rPr lang="fr-FR" sz="2800" u="sng" dirty="0">
                <a:solidFill>
                  <a:srgbClr val="FF0000"/>
                </a:solidFill>
              </a:rPr>
              <a:t> thalassémies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991757" y="802125"/>
            <a:ext cx="3746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majeure</a:t>
            </a:r>
            <a:r>
              <a:rPr lang="fr-FR" sz="2800" u="sng" dirty="0">
                <a:solidFill>
                  <a:srgbClr val="FF0000"/>
                </a:solidFill>
              </a:rPr>
              <a:t>:</a:t>
            </a:r>
          </a:p>
          <a:p>
            <a:endParaRPr lang="fr-FR" sz="2800" u="sng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569493" y="1658802"/>
            <a:ext cx="8748215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Étude de l’hémoglobine = diagnostic de certitude</a:t>
            </a:r>
          </a:p>
          <a:p>
            <a:pPr algn="ctr"/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ELECTROPHORESE DE L’HEMOGLOBINE</a:t>
            </a:r>
          </a:p>
          <a:p>
            <a:pPr algn="ctr"/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ENQUETTE FAMILIALE</a:t>
            </a:r>
          </a:p>
        </p:txBody>
      </p:sp>
    </p:spTree>
    <p:extLst>
      <p:ext uri="{BB962C8B-B14F-4D97-AF65-F5344CB8AC3E}">
        <p14:creationId xmlns:p14="http://schemas.microsoft.com/office/powerpoint/2010/main" val="1544862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686175" y="128587"/>
            <a:ext cx="628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des </a:t>
            </a:r>
            <a:r>
              <a:rPr lang="el-G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757237" y="1366838"/>
            <a:ext cx="6286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majeure:</a:t>
            </a:r>
          </a:p>
          <a:p>
            <a:endParaRPr lang="fr-FR"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71538" y="2500313"/>
            <a:ext cx="3700462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 B</a:t>
            </a:r>
            <a:r>
              <a:rPr lang="fr-FR" sz="2400" b="1" u="sng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</a:t>
            </a:r>
            <a:r>
              <a:rPr lang="fr-FR" sz="2400" b="1" u="sng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fr-FR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 00%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95%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 = normale ou élevée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6667500" y="2500313"/>
            <a:ext cx="3700462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 B</a:t>
            </a:r>
            <a:r>
              <a:rPr lang="fr-FR" sz="2400" b="1" u="sng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</a:t>
            </a:r>
            <a:r>
              <a:rPr lang="fr-FR" sz="2400" b="1" u="sng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fr-FR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 5 à 45%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50 à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95%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 = normale ou élevée</a:t>
            </a:r>
          </a:p>
        </p:txBody>
      </p:sp>
    </p:spTree>
    <p:extLst>
      <p:ext uri="{BB962C8B-B14F-4D97-AF65-F5344CB8AC3E}">
        <p14:creationId xmlns:p14="http://schemas.microsoft.com/office/powerpoint/2010/main" val="36074603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952750" y="381910"/>
            <a:ext cx="6286500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majeure: évolution </a:t>
            </a:r>
          </a:p>
          <a:p>
            <a:endParaRPr lang="fr-FR"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24973" y="1474721"/>
            <a:ext cx="11730465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thalassémie majeure est l’hémoglobinopathie dont le pronostic est le plus sévère.</a:t>
            </a:r>
          </a:p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Sans traitement transfusionnel les enfants ne vivent pas au-delà de 10 ans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L’évolution est marqué par: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infections à répétition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hépatosplénomégalie importante : hypersplénisme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cardiaque: anémie et hémochromatose.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Hémochromatose: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aggravé par la transfusion évolue en insuffisance cardiaque et hépatique. </a:t>
            </a:r>
          </a:p>
        </p:txBody>
      </p:sp>
    </p:spTree>
    <p:extLst>
      <p:ext uri="{BB962C8B-B14F-4D97-AF65-F5344CB8AC3E}">
        <p14:creationId xmlns:p14="http://schemas.microsoft.com/office/powerpoint/2010/main" val="339082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ésultat de recherche d'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618" y="2935003"/>
            <a:ext cx="1977734" cy="312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3126617" y="207625"/>
            <a:ext cx="628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des </a:t>
            </a:r>
            <a:r>
              <a:rPr lang="el-G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538485" y="793753"/>
            <a:ext cx="5158852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intermédiaire</a:t>
            </a:r>
            <a:r>
              <a:rPr lang="fr-FR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45635" y="2083209"/>
            <a:ext cx="8015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une forme atténuée de la maladie B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égende encadrée avec une bordure 1 5"/>
          <p:cNvSpPr/>
          <p:nvPr/>
        </p:nvSpPr>
        <p:spPr>
          <a:xfrm>
            <a:off x="4523999" y="2886802"/>
            <a:ext cx="6020125" cy="2707357"/>
          </a:xfrm>
          <a:prstGeom prst="accentBorderCallout1">
            <a:avLst>
              <a:gd name="adj1" fmla="val 33325"/>
              <a:gd name="adj2" fmla="val -2737"/>
              <a:gd name="adj3" fmla="val 73074"/>
              <a:gd name="adj4" fmla="val -1845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753279" y="3070222"/>
            <a:ext cx="55615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séverité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moindre est due soit à une persistance de synthèse de l’</a:t>
            </a:r>
            <a:r>
              <a:rPr lang="fr-FR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ou de l’</a:t>
            </a:r>
            <a:r>
              <a:rPr lang="fr-FR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</a:p>
        </p:txBody>
      </p:sp>
    </p:spTree>
    <p:extLst>
      <p:ext uri="{BB962C8B-B14F-4D97-AF65-F5344CB8AC3E}">
        <p14:creationId xmlns:p14="http://schemas.microsoft.com/office/powerpoint/2010/main" val="362428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63720" y="299918"/>
            <a:ext cx="4874810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l-G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intermédiaire:</a:t>
            </a:r>
          </a:p>
          <a:p>
            <a:endParaRPr lang="fr-FR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56264" y="2181285"/>
            <a:ext cx="501491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Croissance normale du patient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Retard pubertaire est habituel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 modérée 7 à 9,5 g/dl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Microcytose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hypochromie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Réticulocyte normale ou peu élevée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6774834" y="2274838"/>
            <a:ext cx="370046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50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élevée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A2 = élevée</a:t>
            </a:r>
          </a:p>
        </p:txBody>
      </p:sp>
    </p:spTree>
    <p:extLst>
      <p:ext uri="{BB962C8B-B14F-4D97-AF65-F5344CB8AC3E}">
        <p14:creationId xmlns:p14="http://schemas.microsoft.com/office/powerpoint/2010/main" val="1054484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53785" y="265896"/>
            <a:ext cx="8415339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thalassémies mineure ou trait thalassémique: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72778" y="1503463"/>
            <a:ext cx="1072991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la forme B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 ou B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Asymptomatique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cliniquement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Pseudopolyglobulie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microcytose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hypochromie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l’électrophorèse </a:t>
            </a: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A2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3,3%</a:t>
            </a: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èche vers le bas 4"/>
          <p:cNvSpPr/>
          <p:nvPr/>
        </p:nvSpPr>
        <p:spPr>
          <a:xfrm>
            <a:off x="4358967" y="4464579"/>
            <a:ext cx="3157537" cy="757237"/>
          </a:xfrm>
          <a:prstGeom prst="down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6994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ésultat de recherche d'image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50"/>
          <a:stretch/>
        </p:blipFill>
        <p:spPr bwMode="auto">
          <a:xfrm>
            <a:off x="416531" y="1656216"/>
            <a:ext cx="4773989" cy="467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ensées 2"/>
          <p:cNvSpPr/>
          <p:nvPr/>
        </p:nvSpPr>
        <p:spPr>
          <a:xfrm>
            <a:off x="4899899" y="571501"/>
            <a:ext cx="6563096" cy="5400674"/>
          </a:xfrm>
          <a:prstGeom prst="cloudCallout">
            <a:avLst>
              <a:gd name="adj1" fmla="val -66283"/>
              <a:gd name="adj2" fmla="val -19688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Ce dosage revêt une importance particulière chez les couples en âge de procréer puisque c’est sur ce résultats </a:t>
            </a:r>
            <a:r>
              <a:rPr lang="fr-F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fr-FR" sz="2400" b="1" i="1" dirty="0">
                <a:solidFill>
                  <a:srgbClr val="FF0000"/>
                </a:solidFill>
              </a:rPr>
              <a:t> repose l’identification des couples à risque pour la thalassémie, et l’indication d’un conseil génétique ou de diagnostic prénatal.</a:t>
            </a:r>
          </a:p>
        </p:txBody>
      </p:sp>
    </p:spTree>
    <p:extLst>
      <p:ext uri="{BB962C8B-B14F-4D97-AF65-F5344CB8AC3E}">
        <p14:creationId xmlns:p14="http://schemas.microsoft.com/office/powerpoint/2010/main" val="714912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43150" y="1294190"/>
            <a:ext cx="73294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FF0000"/>
                </a:solidFill>
              </a:rPr>
              <a:t>Traitement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800" b="1" dirty="0">
                <a:solidFill>
                  <a:srgbClr val="FF0000"/>
                </a:solidFill>
              </a:rPr>
              <a:t> la thalassémie majeure</a:t>
            </a:r>
          </a:p>
        </p:txBody>
      </p:sp>
      <p:pic>
        <p:nvPicPr>
          <p:cNvPr id="14338" name="Picture 2" descr="Résultat de recherche d'im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54"/>
          <a:stretch/>
        </p:blipFill>
        <p:spPr bwMode="auto">
          <a:xfrm>
            <a:off x="3613456" y="3154117"/>
            <a:ext cx="4788876" cy="331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372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Résultat de recherche d'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47" y="1053142"/>
            <a:ext cx="4494855" cy="472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5557839" y="600075"/>
            <a:ext cx="61722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transfusion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vise à maintenir une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supérieur à 10g/dl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rythme transfusionnel est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fois/mois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Utiliser du sang déleucocyté et phénotypé dans les système Rhésus et Kell.</a:t>
            </a:r>
          </a:p>
          <a:p>
            <a:pPr marL="285750" indent="-285750">
              <a:buFontTx/>
              <a:buChar char="-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préventif : ATB, Vit B9 , vaccination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557839" y="3414712"/>
            <a:ext cx="61722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chélateur de fer</a:t>
            </a:r>
          </a:p>
          <a:p>
            <a:pPr marL="285750" indent="-285750">
              <a:buFontTx/>
              <a:buChar char="-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Désferal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ferriprox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600691" y="4304251"/>
            <a:ext cx="61722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Splénectomie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d’augmentation des besoins transfusionnels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600691" y="5329257"/>
            <a:ext cx="61722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greffe de cellules souches GMO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le seul traitement curateur de la maladie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E51A9C3-C3ED-49E0-8545-E96C40C5E9AD}"/>
              </a:ext>
            </a:extLst>
          </p:cNvPr>
          <p:cNvSpPr txBox="1"/>
          <p:nvPr/>
        </p:nvSpPr>
        <p:spPr>
          <a:xfrm>
            <a:off x="1927508" y="5698589"/>
            <a:ext cx="250801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Espoir </a:t>
            </a:r>
          </a:p>
          <a:p>
            <a:pPr algn="ctr"/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thérapie génique</a:t>
            </a:r>
          </a:p>
        </p:txBody>
      </p:sp>
    </p:spTree>
    <p:extLst>
      <p:ext uri="{BB962C8B-B14F-4D97-AF65-F5344CB8AC3E}">
        <p14:creationId xmlns:p14="http://schemas.microsoft.com/office/powerpoint/2010/main" val="332045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43150" y="1294190"/>
            <a:ext cx="73294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Prévention</a:t>
            </a:r>
            <a:r>
              <a:rPr lang="fr-FR" sz="4800" b="1" dirty="0">
                <a:solidFill>
                  <a:srgbClr val="FF0000"/>
                </a:solidFill>
              </a:rPr>
              <a:t> de la thalassémie</a:t>
            </a:r>
          </a:p>
        </p:txBody>
      </p:sp>
      <p:pic>
        <p:nvPicPr>
          <p:cNvPr id="18434" name="Picture 2" descr="Résultat de recherche d'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41" y="2852256"/>
            <a:ext cx="3712306" cy="358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3860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243012" y="2214563"/>
            <a:ext cx="917257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Dépistage des hétérozygotes et conseil génétique +++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prénatal: étude d’ADN fœtal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préimplantatoire.</a:t>
            </a:r>
          </a:p>
        </p:txBody>
      </p:sp>
    </p:spTree>
    <p:extLst>
      <p:ext uri="{BB962C8B-B14F-4D97-AF65-F5344CB8AC3E}">
        <p14:creationId xmlns:p14="http://schemas.microsoft.com/office/powerpoint/2010/main" val="28533268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912774" y="-223211"/>
            <a:ext cx="64111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rgbClr val="FF0000"/>
                </a:solidFill>
                <a:latin typeface="Lucida Calligraphy" panose="03010101010101010101" pitchFamily="66" charset="0"/>
              </a:rPr>
              <a:t> Drépanocytose</a:t>
            </a:r>
          </a:p>
          <a:p>
            <a:pPr algn="ctr"/>
            <a:endParaRPr lang="fr-FR" sz="6000" b="1" dirty="0">
              <a:latin typeface="Lucida Calligraphy" panose="03010101010101010101" pitchFamily="66" charset="0"/>
            </a:endParaRPr>
          </a:p>
        </p:txBody>
      </p:sp>
      <p:pic>
        <p:nvPicPr>
          <p:cNvPr id="4098" name="Picture 2" descr="Image associ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880" y="1962526"/>
            <a:ext cx="6465666" cy="481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64972" y="2209565"/>
            <a:ext cx="3837482" cy="614597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4037396" y="6103495"/>
            <a:ext cx="3837482" cy="614597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100" name="Picture 4" descr="Image associé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26700" y="2960713"/>
            <a:ext cx="4769380" cy="276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associé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8" y="1962526"/>
            <a:ext cx="4033838" cy="403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4088" y="5801194"/>
            <a:ext cx="6044239" cy="963897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9916546" y="6283142"/>
            <a:ext cx="2275454" cy="481949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2909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09666" y="1693889"/>
            <a:ext cx="11407514" cy="403187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plus fréquente et la plus grave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AH par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anormale.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 de structure de la chaine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globine          synthèse de l’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 surtout les sujets de race noire.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sur </a:t>
            </a: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mode autosomique récessif.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homozygotes S/S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hétérozygotes sont S/A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869837" y="2878111"/>
            <a:ext cx="734518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4053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PHYSIOPATHOLOGIE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09666" y="1693889"/>
            <a:ext cx="11407514" cy="310854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   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6glu           val.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milieu désoxygéné</a:t>
            </a:r>
          </a:p>
          <a:p>
            <a:pPr marL="1798638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Polymérisation de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et altération de la mb.</a:t>
            </a:r>
          </a:p>
          <a:p>
            <a:pPr marL="1798638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Déshydratation et stress cellulaire oxydatif.</a:t>
            </a:r>
          </a:p>
          <a:p>
            <a:pPr marL="1798638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Déformation des GR en faucille (drépanocyte).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eur droit avec flèche 15"/>
          <p:cNvCxnSpPr/>
          <p:nvPr/>
        </p:nvCxnSpPr>
        <p:spPr>
          <a:xfrm>
            <a:off x="3567657" y="2008682"/>
            <a:ext cx="7495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976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némie falciforme (drépanocytose) : guide pratique pour les enseignants">
            <a:extLst>
              <a:ext uri="{FF2B5EF4-FFF2-40B4-BE49-F238E27FC236}">
                <a16:creationId xmlns:a16="http://schemas.microsoft.com/office/drawing/2014/main" xmlns="" id="{85E9B0FC-4C8D-4426-AF2E-B187DCB19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85" y="682388"/>
            <a:ext cx="4421874" cy="480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Développement et Santé | Génétique et biologie de la drépanocytose">
            <a:extLst>
              <a:ext uri="{FF2B5EF4-FFF2-40B4-BE49-F238E27FC236}">
                <a16:creationId xmlns:a16="http://schemas.microsoft.com/office/drawing/2014/main" xmlns="" id="{DA7CD08A-0E29-451E-9174-CB2F11793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63" y="682388"/>
            <a:ext cx="5718412" cy="529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8553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Image associ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19" y="1316306"/>
            <a:ext cx="8668234" cy="491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PHYSIOPATHOLOGIE</a:t>
            </a:r>
          </a:p>
        </p:txBody>
      </p:sp>
      <p:pic>
        <p:nvPicPr>
          <p:cNvPr id="4" name="Picture 2" descr="Résultat de recherche d'images pour &quot;drépanocytose hématie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40" y="1249124"/>
            <a:ext cx="8581159" cy="519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5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PHYSIOPATHOLOGIE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276662" y="2353232"/>
            <a:ext cx="96386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-occlusion                infarctus dans divers organes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douleur aiguë  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syndrome pulmonaire aigu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hyposplénisme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ostéonécrose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néphropathie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4264812" y="2624398"/>
            <a:ext cx="104931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6331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PHYSIOPATHOLOGIE</a:t>
            </a:r>
          </a:p>
        </p:txBody>
      </p:sp>
      <p:pic>
        <p:nvPicPr>
          <p:cNvPr id="3" name="Picture 2" descr="Image associ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22" y="1189377"/>
            <a:ext cx="11081263" cy="531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0926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837476" y="1116110"/>
            <a:ext cx="102445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Maladie drépanocytaire sévère :</a:t>
            </a:r>
          </a:p>
          <a:p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19250" indent="-457200">
              <a:buFont typeface="Arial" panose="020B0604020202020204" pitchFamily="34" charset="0"/>
              <a:buChar char="•"/>
            </a:pPr>
            <a:r>
              <a:rPr lang="fr-F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S/S </a:t>
            </a: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(forme fréquente)</a:t>
            </a:r>
          </a:p>
          <a:p>
            <a:pPr marL="1619250" indent="-457200">
              <a:buFont typeface="Arial" panose="020B0604020202020204" pitchFamily="34" charset="0"/>
              <a:buChar char="•"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19250" indent="-457200">
              <a:buFont typeface="Arial" panose="020B0604020202020204" pitchFamily="34" charset="0"/>
              <a:buChar char="•"/>
            </a:pP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S/B° 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thalassémie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A=0%)</a:t>
            </a:r>
          </a:p>
          <a:p>
            <a:pPr marL="1619250" indent="-457200">
              <a:buFont typeface="Arial" panose="020B0604020202020204" pitchFamily="34" charset="0"/>
              <a:buChar char="•"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19250" indent="-457200">
              <a:buFont typeface="Arial" panose="020B0604020202020204" pitchFamily="34" charset="0"/>
              <a:buChar char="•"/>
            </a:pP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S/B</a:t>
            </a:r>
            <a:r>
              <a:rPr lang="fr-FR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thalassémie sévère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A= 1-5%)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6A15C4D1-609C-406D-9563-E753265FD44A}"/>
              </a:ext>
            </a:extLst>
          </p:cNvPr>
          <p:cNvSpPr txBox="1"/>
          <p:nvPr/>
        </p:nvSpPr>
        <p:spPr>
          <a:xfrm>
            <a:off x="837476" y="4607257"/>
            <a:ext cx="933637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Drépanocytose asymptomatique :</a:t>
            </a:r>
          </a:p>
          <a:p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19250" indent="-457200">
              <a:buFont typeface="Arial" panose="020B0604020202020204" pitchFamily="34" charset="0"/>
              <a:buChar char="•"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19250" indent="-457200">
              <a:buFont typeface="Arial" panose="020B0604020202020204" pitchFamily="34" charset="0"/>
              <a:buChar char="•"/>
            </a:pPr>
            <a:r>
              <a:rPr lang="fr-F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S/A                   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A=50-60%)</a:t>
            </a:r>
          </a:p>
          <a:p>
            <a:pPr marL="1162050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S=30-40%)</a:t>
            </a:r>
          </a:p>
        </p:txBody>
      </p:sp>
    </p:spTree>
    <p:extLst>
      <p:ext uri="{BB962C8B-B14F-4D97-AF65-F5344CB8AC3E}">
        <p14:creationId xmlns:p14="http://schemas.microsoft.com/office/powerpoint/2010/main" val="2915985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2663" y="-9457"/>
            <a:ext cx="11757367" cy="5773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r-FR" sz="36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Clinique :</a:t>
            </a:r>
            <a:endParaRPr lang="fr-FR" sz="3600" b="1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Drépanocytose homozygote SS : signes apparaissent quelques mois après la naissance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clinique est sont en fonction de l’âge :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mois à 05 ans :</a:t>
            </a:r>
            <a:endParaRPr lang="fr-FR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2013" lvl="0"/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-CVO =le syndrome main-pied : </a:t>
            </a:r>
          </a:p>
          <a:p>
            <a:pPr marL="862013" lvl="0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gonflement douloureux </a:t>
            </a:r>
          </a:p>
          <a:p>
            <a:pPr marL="862013" lvl="0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-Syndrome anémique d’importance variable</a:t>
            </a:r>
          </a:p>
          <a:p>
            <a:pPr marL="862013" lvl="0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-SPM, retard staturo-pondéral</a:t>
            </a:r>
          </a:p>
          <a:p>
            <a:pPr marL="862013" lvl="0"/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-Infections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(pneumopathie, ORL.......)</a:t>
            </a:r>
          </a:p>
        </p:txBody>
      </p:sp>
      <p:pic>
        <p:nvPicPr>
          <p:cNvPr id="10242" name="Picture 2" descr="Gonflement mains/pieds | Drepanoclic">
            <a:extLst>
              <a:ext uri="{FF2B5EF4-FFF2-40B4-BE49-F238E27FC236}">
                <a16:creationId xmlns:a16="http://schemas.microsoft.com/office/drawing/2014/main" xmlns="" id="{3315117D-976D-4FE4-A717-C1EFB3408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335" y="2552131"/>
            <a:ext cx="3406274" cy="35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7776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43" y="0"/>
            <a:ext cx="1209501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à 15 ans :</a:t>
            </a:r>
            <a:endParaRPr lang="fr-FR"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3900" lvl="0" algn="just"/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CVO :  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crises douloureuses touchant surtout l’appareil leuco-moteur (os et articulation) mais aussi l'abdomen, thorax ....</a:t>
            </a:r>
          </a:p>
          <a:p>
            <a:pPr marL="723900" lvl="0" algn="just"/>
            <a:r>
              <a:rPr lang="fr-FR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Asplenie</a:t>
            </a: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fonctionnelle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+++</a:t>
            </a: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des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microinfarcissement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 la rate avec comme conséquence des infections graves [méningite, septicémie ...)</a:t>
            </a:r>
          </a:p>
          <a:p>
            <a:pPr marL="723900" lvl="0" algn="just"/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ans : complications dégénératives </a:t>
            </a:r>
          </a:p>
          <a:p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(Accidents ischémiques ⇒ séquelles définitives) :</a:t>
            </a:r>
          </a:p>
        </p:txBody>
      </p:sp>
    </p:spTree>
    <p:extLst>
      <p:ext uri="{BB962C8B-B14F-4D97-AF65-F5344CB8AC3E}">
        <p14:creationId xmlns:p14="http://schemas.microsoft.com/office/powerpoint/2010/main" val="12725502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biologique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854438" y="1693889"/>
            <a:ext cx="105081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Drépanocytose homozygote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  </a:t>
            </a:r>
            <a:r>
              <a:rPr lang="fr-FR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=7-9 g/dl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Normocytose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normochromie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 régénérative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rétic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=200-400 G/L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Frottis = présence de drépanocytes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Électrophorèse de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fr-FR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</a:t>
            </a: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00%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HbF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1-10%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fr-FR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HbS</a:t>
            </a: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80-95%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HbA2 = 2-3.4%</a:t>
            </a:r>
          </a:p>
        </p:txBody>
      </p:sp>
      <p:pic>
        <p:nvPicPr>
          <p:cNvPr id="5" name="Picture 6" descr="Quand le paludisme nourrit la drépanocytose - Afrique Sub-Saharienne">
            <a:extLst>
              <a:ext uri="{FF2B5EF4-FFF2-40B4-BE49-F238E27FC236}">
                <a16:creationId xmlns:a16="http://schemas.microsoft.com/office/drawing/2014/main" xmlns="" id="{9BA7AEEA-C5FA-41F2-A2E4-F6AA740DC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552" y="1693889"/>
            <a:ext cx="4522811" cy="472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DB620FF5-5E3B-4FFE-B178-69FCCB8D1860}"/>
              </a:ext>
            </a:extLst>
          </p:cNvPr>
          <p:cNvCxnSpPr/>
          <p:nvPr/>
        </p:nvCxnSpPr>
        <p:spPr>
          <a:xfrm>
            <a:off x="8898340" y="3630304"/>
            <a:ext cx="664617" cy="586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588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biologique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854438" y="1693889"/>
            <a:ext cx="105081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Drépanocytose hétérozygote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Hémogramme normal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Électrophorèse de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présence d’une hémoglobine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(S=35-45%)</a:t>
            </a:r>
          </a:p>
        </p:txBody>
      </p:sp>
    </p:spTree>
    <p:extLst>
      <p:ext uri="{BB962C8B-B14F-4D97-AF65-F5344CB8AC3E}">
        <p14:creationId xmlns:p14="http://schemas.microsoft.com/office/powerpoint/2010/main" val="18948559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Laboratoire bouziane - Une électrophorèse de l'hémoglobine se pratique à  partir d'un échantillon sanguin et permettra de séparer les différents  types d'hémoglobine contenus dans le sang. En effet, l'hémoglobine sanguine  existe sous">
            <a:extLst>
              <a:ext uri="{FF2B5EF4-FFF2-40B4-BE49-F238E27FC236}">
                <a16:creationId xmlns:a16="http://schemas.microsoft.com/office/drawing/2014/main" xmlns="" id="{8FA50F20-FEA4-4599-875B-B6977B5FF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64" y="1146412"/>
            <a:ext cx="3232482" cy="490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OLE DU LABORATOIRE DANS LE DIAGNOSTIC DES HEMOGLOBINOPATHIES - PDF Free  Download">
            <a:extLst>
              <a:ext uri="{FF2B5EF4-FFF2-40B4-BE49-F238E27FC236}">
                <a16:creationId xmlns:a16="http://schemas.microsoft.com/office/drawing/2014/main" xmlns="" id="{F32EAAEF-D396-468D-8C89-6094C9988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546" y="1242665"/>
            <a:ext cx="3862137" cy="490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Place de l&amp;#39;électrophorèse capillaire dans le diagnostic et le suivi des  hémoglobinopathies">
            <a:extLst>
              <a:ext uri="{FF2B5EF4-FFF2-40B4-BE49-F238E27FC236}">
                <a16:creationId xmlns:a16="http://schemas.microsoft.com/office/drawing/2014/main" xmlns="" id="{BEE72D86-7AAA-41C0-9C08-885906C97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078" y="1242665"/>
            <a:ext cx="3521122" cy="490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8774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fr-FR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Facteurs favorisants des crises </a:t>
            </a:r>
            <a:r>
              <a:rPr lang="fr-FR" sz="3600" b="1" u="sng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vaso</a:t>
            </a:r>
            <a:r>
              <a:rPr lang="fr-FR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-occlusives</a:t>
            </a:r>
          </a:p>
          <a:p>
            <a:pPr marL="1077913" lvl="0" indent="-342900" algn="l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Hypoxie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Infections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Anesthésie Générale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prolonge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à pied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  respiratoire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1077913" lvl="0" indent="-342900" algn="l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Déshydratation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Forte chaleur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prolonge</a:t>
            </a:r>
          </a:p>
          <a:p>
            <a:pPr marL="2155825" lvl="0" indent="-342900" algn="l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avec fièvre</a:t>
            </a:r>
          </a:p>
          <a:p>
            <a:pPr marL="1077913" lvl="0" indent="-342900" algn="l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102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5042"/>
            <a:ext cx="12192000" cy="6350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32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Complications :</a:t>
            </a:r>
            <a:endParaRPr lang="fr-FR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32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AIGÜE :</a:t>
            </a:r>
            <a:endParaRPr lang="fr-FR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30350">
              <a:lnSpc>
                <a:spcPct val="107000"/>
              </a:lnSpc>
              <a:spcAft>
                <a:spcPts val="0"/>
              </a:spcAft>
            </a:pP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32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3200" spc="-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ond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3200" spc="-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à</a:t>
            </a:r>
            <a:r>
              <a:rPr lang="fr-FR" sz="32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32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pox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</a:p>
          <a:p>
            <a:pPr marL="1530350">
              <a:lnSpc>
                <a:spcPct val="107000"/>
              </a:lnSpc>
              <a:spcAft>
                <a:spcPts val="0"/>
              </a:spcAft>
            </a:pP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ACCI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</a:t>
            </a:r>
            <a:r>
              <a:rPr lang="fr-FR" sz="3200" b="1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3200" b="1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32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530350">
              <a:lnSpc>
                <a:spcPct val="107000"/>
              </a:lnSpc>
              <a:spcAft>
                <a:spcPts val="0"/>
              </a:spcAft>
            </a:pPr>
            <a:r>
              <a:rPr lang="fr-FR" sz="32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CRISES 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b="1" spc="-3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CCL</a:t>
            </a:r>
            <a:r>
              <a:rPr lang="fr-FR" sz="32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b="1" spc="1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b="1" spc="-4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3200" spc="-20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VC, infarctus mésentérique,</a:t>
            </a:r>
            <a:r>
              <a:rPr lang="fr-FR" sz="3200" spc="-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30350">
              <a:lnSpc>
                <a:spcPct val="107000"/>
              </a:lnSpc>
              <a:spcAft>
                <a:spcPts val="0"/>
              </a:spcAft>
            </a:pPr>
            <a:endParaRPr lang="fr-FR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30350">
              <a:lnSpc>
                <a:spcPct val="107000"/>
              </a:lnSpc>
              <a:spcAft>
                <a:spcPts val="0"/>
              </a:spcAft>
            </a:pP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Facte</a:t>
            </a:r>
            <a:r>
              <a:rPr lang="fr-FR" sz="32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32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</a:t>
            </a:r>
            <a:r>
              <a:rPr lang="fr-FR" sz="32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</a:t>
            </a:r>
            <a:r>
              <a:rPr lang="fr-FR" sz="3200" spc="-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1530350">
              <a:lnSpc>
                <a:spcPct val="104000"/>
              </a:lnSpc>
              <a:spcAft>
                <a:spcPts val="0"/>
              </a:spcAft>
            </a:pP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Déshydratation,</a:t>
            </a:r>
            <a:r>
              <a:rPr lang="fr-FR" sz="3200" spc="-6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ète,</a:t>
            </a:r>
            <a:r>
              <a:rPr lang="fr-FR" sz="32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t,</a:t>
            </a:r>
            <a:r>
              <a:rPr lang="fr-FR" sz="32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32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altit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ud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 H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ecti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3200" spc="-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pn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ée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 S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H</a:t>
            </a:r>
            <a:r>
              <a:rPr lang="fr-FR" sz="3200" spc="-1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A,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e…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30350">
              <a:lnSpc>
                <a:spcPct val="107000"/>
              </a:lnSpc>
              <a:spcAft>
                <a:spcPts val="0"/>
              </a:spcAft>
            </a:pP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3200" spc="-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cales 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rr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t,</a:t>
            </a:r>
            <a:r>
              <a:rPr lang="fr-FR" sz="32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32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3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0">
              <a:lnSpc>
                <a:spcPct val="107000"/>
              </a:lnSpc>
              <a:spcAft>
                <a:spcPts val="800"/>
              </a:spcAft>
            </a:pPr>
            <a:r>
              <a:rPr lang="fr-FR" sz="32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0591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9283" y="239088"/>
            <a:ext cx="5209673" cy="651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2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CHRONIQUE :</a:t>
            </a:r>
            <a:endParaRPr lang="fr-FR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1813" algn="just">
              <a:lnSpc>
                <a:spcPct val="107000"/>
              </a:lnSpc>
              <a:spcAft>
                <a:spcPts val="0"/>
              </a:spcAft>
              <a:tabLst>
                <a:tab pos="450850" algn="l"/>
              </a:tabLst>
            </a:pP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CC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NT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b="1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IQU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4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⇒</a:t>
            </a:r>
            <a:r>
              <a:rPr lang="fr-FR" sz="2400" b="1" spc="21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400" b="1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ÉF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400" b="1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diop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0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000" spc="-1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-15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dio</a:t>
            </a:r>
            <a:r>
              <a:rPr lang="fr-FR" sz="2000" spc="-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spc="-2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thie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tobi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000" spc="-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lith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fr-FR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0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atteigne</a:t>
            </a:r>
            <a:r>
              <a:rPr lang="fr-FR" sz="20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tubu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2000" spc="-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goutt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2000" spc="-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tiq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 </a:t>
            </a:r>
            <a:r>
              <a:rPr lang="fr-FR" sz="2000" spc="-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</a:t>
            </a:r>
            <a:r>
              <a:rPr lang="fr-FR" sz="2000" spc="-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ér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ulos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ér</a:t>
            </a:r>
            <a:r>
              <a:rPr lang="fr-FR" sz="2000" spc="-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fr-FR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spc="-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ndo</a:t>
            </a:r>
            <a:r>
              <a:rPr lang="fr-FR" sz="2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</a:t>
            </a:r>
            <a:r>
              <a:rPr lang="fr-FR" sz="2000" spc="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spc="-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fr-FR" sz="2000" spc="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-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fr-FR" sz="2000" spc="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000" spc="-4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0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poth</a:t>
            </a:r>
            <a:r>
              <a:rPr lang="fr-FR" sz="20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oïd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ard</a:t>
            </a:r>
            <a:r>
              <a:rPr lang="fr-FR" sz="20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oiss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 </a:t>
            </a: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000" spc="-4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oni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2000" spc="-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000" spc="-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 Car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cr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oiss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ce,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000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ost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écr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olog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000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ard</a:t>
            </a:r>
            <a:r>
              <a:rPr lang="fr-FR" sz="20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0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quisit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ognit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iv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2000" spc="-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éf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20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0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iti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</a:p>
          <a:p>
            <a:pPr marL="627063" algn="just">
              <a:lnSpc>
                <a:spcPct val="107000"/>
              </a:lnSpc>
              <a:spcAft>
                <a:spcPts val="0"/>
              </a:spcAft>
              <a:tabLst>
                <a:tab pos="627063" algn="l"/>
              </a:tabLst>
            </a:pP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dit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é, céc</a:t>
            </a:r>
            <a:r>
              <a:rPr lang="fr-FR" sz="20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fr-FR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é,</a:t>
            </a:r>
            <a:endParaRPr lang="fr-FR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0">
              <a:lnSpc>
                <a:spcPct val="107000"/>
              </a:lnSpc>
              <a:spcAft>
                <a:spcPts val="800"/>
              </a:spcAft>
            </a:pPr>
            <a:r>
              <a:rPr lang="fr-FR" sz="32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68" name="Picture 4" descr="La Drpanocytose MarieAgns Azerad La Drpanocytose Introduction Epidmiologie">
            <a:extLst>
              <a:ext uri="{FF2B5EF4-FFF2-40B4-BE49-F238E27FC236}">
                <a16:creationId xmlns:a16="http://schemas.microsoft.com/office/drawing/2014/main" xmlns="" id="{B84B81C1-07E2-4213-A016-127612CB8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777" y="354842"/>
            <a:ext cx="6100548" cy="626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4545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59558" y="1659285"/>
            <a:ext cx="110000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fr-FR" sz="2800" b="1" i="0" dirty="0">
                <a:solidFill>
                  <a:srgbClr val="CC00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2800" b="1" i="0" dirty="0">
                <a:solidFill>
                  <a:srgbClr val="CC00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i="0" dirty="0">
                <a:solidFill>
                  <a:srgbClr val="CC00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 Prévention des crises algiques</a:t>
            </a:r>
            <a:r>
              <a:rPr lang="fr-FR" sz="2800" b="0" i="0" dirty="0">
                <a:solidFill>
                  <a:srgbClr val="CC00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algn="l" fontAlgn="base"/>
            <a:r>
              <a:rPr lang="fr-FR" sz="2800" dirty="0">
                <a:solidFill>
                  <a:srgbClr val="CC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Hygiène de vie</a:t>
            </a:r>
            <a:endParaRPr lang="fr-FR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  bonne hydratation</a:t>
            </a: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  éviter fatigue, pas de variation importante de température ou d'altitude</a:t>
            </a:r>
          </a:p>
          <a:p>
            <a:pPr marL="457200" indent="-457200" algn="l" fontAlgn="base">
              <a:buFontTx/>
              <a:buChar char="-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acide folique (1cp/j 10 premiers jours du mois).</a:t>
            </a:r>
          </a:p>
          <a:p>
            <a:pPr marL="457200" indent="-457200" algn="l" fontAlgn="base">
              <a:buFontTx/>
              <a:buChar char="-"/>
            </a:pPr>
            <a:r>
              <a:rPr lang="fr-FR" sz="2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Oracilline</a:t>
            </a:r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Tx/>
              <a:buChar char="-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vaccinations (pneumocoque,  Haemophilus...)</a:t>
            </a:r>
          </a:p>
          <a:p>
            <a:pPr marL="457200" indent="-457200" algn="l" fontAlgn="base">
              <a:buFontTx/>
              <a:buChar char="-"/>
            </a:pPr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69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924467" y="1908897"/>
            <a:ext cx="84244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En cas de crise bénigne:</a:t>
            </a:r>
          </a:p>
          <a:p>
            <a:pPr algn="ctr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9988" indent="-360363" algn="ctr" fontAlgn="base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 au chaud + antalgique</a:t>
            </a:r>
          </a:p>
        </p:txBody>
      </p:sp>
    </p:spTree>
    <p:extLst>
      <p:ext uri="{BB962C8B-B14F-4D97-AF65-F5344CB8AC3E}">
        <p14:creationId xmlns:p14="http://schemas.microsoft.com/office/powerpoint/2010/main" val="28458040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854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916898" y="1633927"/>
            <a:ext cx="103582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En cas de crise importante: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9988" indent="-360363" fontAlgn="base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hospitalisation, 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repos, hyperhydratation, antalgiques et oxygénothérapie.</a:t>
            </a:r>
          </a:p>
          <a:p>
            <a:pPr marL="1169988" indent="-360363" fontAlgn="base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traiter la cause déclenchante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infection, hypoxémie, stress.</a:t>
            </a:r>
          </a:p>
          <a:p>
            <a:pPr marL="1169988" indent="-360363" fontAlgn="base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Corriger l’anémie: transfusion</a:t>
            </a:r>
          </a:p>
          <a:p>
            <a:pPr marL="1169988" indent="-360363" fontAlgn="base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 grave: échange transfusionnel</a:t>
            </a:r>
          </a:p>
          <a:p>
            <a:pPr marL="1169988" indent="-360363" fontAlgn="base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inducteur de synthèse de l’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 (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hydroxyurie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Hydrea</a:t>
            </a:r>
            <a:r>
              <a:rPr lang="fr-FR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°)</a:t>
            </a:r>
          </a:p>
          <a:p>
            <a:pPr marL="1169988" indent="-360363" fontAlgn="base">
              <a:buFont typeface="Arial" panose="020B0604020202020204" pitchFamily="34" charset="0"/>
              <a:buChar char="•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fontAlgn="base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731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43150" y="1294190"/>
            <a:ext cx="73294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Prévention de la drépanocytose</a:t>
            </a:r>
          </a:p>
        </p:txBody>
      </p:sp>
      <p:pic>
        <p:nvPicPr>
          <p:cNvPr id="18434" name="Picture 2" descr="Résultat de recherche d'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41" y="2852256"/>
            <a:ext cx="3712306" cy="358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7975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243012" y="2214563"/>
            <a:ext cx="917257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Dépistage des hétérozygotes et conseil génétique +++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prénatal: étude d’ADN fœtal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préimplantatoire.</a:t>
            </a:r>
          </a:p>
        </p:txBody>
      </p:sp>
    </p:spTree>
    <p:extLst>
      <p:ext uri="{BB962C8B-B14F-4D97-AF65-F5344CB8AC3E}">
        <p14:creationId xmlns:p14="http://schemas.microsoft.com/office/powerpoint/2010/main" val="29783938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0305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114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II. </a:t>
            </a:r>
            <a:r>
              <a:rPr lang="fr-FR" sz="32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Anomalie de la membrane : MSH :</a:t>
            </a:r>
            <a:endParaRPr lang="fr-FR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algn="ctr">
              <a:lnSpc>
                <a:spcPct val="107000"/>
              </a:lnSpc>
              <a:spcAft>
                <a:spcPts val="800"/>
              </a:spcAft>
            </a:pPr>
            <a:r>
              <a:rPr lang="fr-FR" sz="32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Microsphérocytose</a:t>
            </a: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héréditaire</a:t>
            </a:r>
          </a:p>
          <a:p>
            <a:pPr marL="685800" algn="ctr"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maladie de </a:t>
            </a:r>
            <a:r>
              <a:rPr lang="fr-FR" sz="32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Minkowski-Chauffard</a:t>
            </a:r>
          </a:p>
          <a:p>
            <a:pPr marL="685800" algn="ctr">
              <a:lnSpc>
                <a:spcPct val="107000"/>
              </a:lnSpc>
              <a:spcAft>
                <a:spcPts val="800"/>
              </a:spcAft>
            </a:pPr>
            <a:r>
              <a:rPr lang="fr-FR" sz="32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anémie hémolytique constitutionnelle</a:t>
            </a:r>
          </a:p>
          <a:p>
            <a:pPr marL="11430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présence de 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 de forme sphérique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 le frottis sanguin</a:t>
            </a:r>
            <a:endParaRPr lang="fr-FR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 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anomalie quantitative ou/et qualitative de l'une des protéines membranaires </a:t>
            </a:r>
            <a:r>
              <a:rPr lang="fr-FR" sz="2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impliquées dans l'attachement du cytosquelette à la membrane du GR ( bande 3, spectrine )</a:t>
            </a:r>
          </a:p>
          <a:p>
            <a:pPr marL="11430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héréditaire </a:t>
            </a:r>
            <a:r>
              <a:rPr lang="fr-FR" sz="2800" b="0" i="0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fr-FR" sz="28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autosomale dominante :75 % </a:t>
            </a:r>
          </a:p>
          <a:p>
            <a:pPr marL="4800600" lvl="8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2557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1239569-7F78-4B4B-A18F-AFD3BDEAAE82}"/>
              </a:ext>
            </a:extLst>
          </p:cNvPr>
          <p:cNvSpPr txBox="1"/>
          <p:nvPr/>
        </p:nvSpPr>
        <p:spPr>
          <a:xfrm>
            <a:off x="750147" y="230553"/>
            <a:ext cx="10384390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 fontAlgn="base"/>
            <a:r>
              <a:rPr lang="fr-FR" sz="3200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Circonstances de découverte et principaux signes cliniques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4872AB9-D8A8-4CD1-A5D5-F8134F7A0D9C}"/>
              </a:ext>
            </a:extLst>
          </p:cNvPr>
          <p:cNvSpPr txBox="1"/>
          <p:nvPr/>
        </p:nvSpPr>
        <p:spPr>
          <a:xfrm>
            <a:off x="204716" y="1025914"/>
            <a:ext cx="11475253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Découverte possible 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à tout âge</a:t>
            </a:r>
          </a:p>
          <a:p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surtout chez l’enfant ou l’adolescent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Interrogatoire : notion de splénectomie dans la famille</a:t>
            </a:r>
            <a:endParaRPr lang="fr-FR" sz="24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§"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Triade hémolytique</a:t>
            </a:r>
          </a:p>
          <a:p>
            <a:pPr marL="285750" indent="-285750" algn="l" fontAlgn="base">
              <a:buFont typeface="Wingdings" panose="05000000000000000000" pitchFamily="2" charset="2"/>
              <a:buChar char="§"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risque de lithiase est élevé</a:t>
            </a:r>
          </a:p>
          <a:p>
            <a:pPr algn="l" fontAlgn="base"/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endParaRPr lang="fr-F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selon la symptomatologie et l’hémoglobine sanguine ( dépendance transfusionnelle ) </a:t>
            </a:r>
          </a:p>
          <a:p>
            <a:pPr algn="l" fontAlgn="base"/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le  % des </a:t>
            </a:r>
            <a:r>
              <a:rPr lang="fr-FR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sphérocytes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fontAlgn="base"/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7600" algn="l" fontAlgn="base"/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Asymptomatique (20 %) </a:t>
            </a:r>
          </a:p>
          <a:p>
            <a:pPr marL="4927600" algn="l" fontAlgn="base"/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Mineure / modérée (40 %)</a:t>
            </a:r>
          </a:p>
          <a:p>
            <a:pPr marL="4927600" algn="l" fontAlgn="base"/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Modérée (30 %) </a:t>
            </a:r>
          </a:p>
          <a:p>
            <a:pPr marL="4927600" algn="l" fontAlgn="base"/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Sévère (10 %) </a:t>
            </a:r>
          </a:p>
        </p:txBody>
      </p:sp>
    </p:spTree>
    <p:extLst>
      <p:ext uri="{BB962C8B-B14F-4D97-AF65-F5344CB8AC3E}">
        <p14:creationId xmlns:p14="http://schemas.microsoft.com/office/powerpoint/2010/main" val="33658426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0E8B659F-A2B1-42E7-BAC2-63500FC45254}"/>
              </a:ext>
            </a:extLst>
          </p:cNvPr>
          <p:cNvSpPr txBox="1"/>
          <p:nvPr/>
        </p:nvSpPr>
        <p:spPr>
          <a:xfrm>
            <a:off x="460208" y="197346"/>
            <a:ext cx="11271584" cy="560153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fr-FR" sz="2800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BIOLOGIQUE</a:t>
            </a:r>
          </a:p>
          <a:p>
            <a:pPr algn="l" fontAlgn="base"/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fr-FR" sz="2400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HÉMOGRAMME :</a:t>
            </a:r>
          </a:p>
          <a:p>
            <a:pPr marL="900113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plus souvent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anémie modérée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(9 – 12 g/</a:t>
            </a:r>
            <a:r>
              <a:rPr lang="fr-FR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00113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VGM : normal.</a:t>
            </a:r>
          </a:p>
          <a:p>
            <a:pPr marL="900113"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CCMH élevée </a:t>
            </a:r>
          </a:p>
          <a:p>
            <a:pPr marL="900113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taux de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Réticulocytes élevé</a:t>
            </a:r>
          </a:p>
          <a:p>
            <a:pPr algn="l" fontAlgn="base"/>
            <a:endParaRPr lang="fr-FR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SIGNES BIOLOGIQUES D'HÉMOLYSE :</a:t>
            </a:r>
            <a:endParaRPr lang="fr-FR" sz="24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 haptoglobine très diminuée</a:t>
            </a:r>
          </a:p>
          <a:p>
            <a:pPr algn="l" fontAlgn="base"/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bilirubine libre  augmentée                   </a:t>
            </a:r>
          </a:p>
          <a:p>
            <a:pPr algn="l" fontAlgn="base"/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LDH augmentée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 test de Coombs direct </a:t>
            </a: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</a:p>
          <a:p>
            <a:pPr algn="l" fontAlgn="base"/>
            <a:endParaRPr lang="fr-FR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Sphérocytose héréditaire (Maladie de Minkowski-Chauffard)">
            <a:extLst>
              <a:ext uri="{FF2B5EF4-FFF2-40B4-BE49-F238E27FC236}">
                <a16:creationId xmlns:a16="http://schemas.microsoft.com/office/drawing/2014/main" xmlns="" id="{E92601DF-3C7C-447A-99F9-651BC8946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478" y="916064"/>
            <a:ext cx="4229100" cy="333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5427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F0063439-956F-48BB-8AD3-08554FB8A754}"/>
              </a:ext>
            </a:extLst>
          </p:cNvPr>
          <p:cNvSpPr txBox="1"/>
          <p:nvPr/>
        </p:nvSpPr>
        <p:spPr>
          <a:xfrm>
            <a:off x="950794" y="614149"/>
            <a:ext cx="10290412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 actuelle de diagnostic : le test EMA </a:t>
            </a:r>
            <a:r>
              <a:rPr lang="fr-FR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cyrtométrie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flux) </a:t>
            </a:r>
          </a:p>
          <a:p>
            <a:pPr algn="l" fontAlgn="base"/>
            <a:endParaRPr lang="fr-FR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Tests d’hémolyse.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Tx/>
              <a:buChar char="-"/>
            </a:pPr>
            <a:r>
              <a:rPr lang="fr-FR" sz="32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Ektacytomètrie</a:t>
            </a: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 gradient osmotique.</a:t>
            </a:r>
          </a:p>
          <a:p>
            <a:pPr marL="285750" indent="-285750" algn="l" fontAlgn="base">
              <a:buFontTx/>
              <a:buChar char="-"/>
            </a:pP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de fragilité aux solutions hypotoniques</a:t>
            </a:r>
          </a:p>
          <a:p>
            <a:pPr algn="l" fontAlgn="base"/>
            <a:endParaRPr lang="fr-FR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Electrophorèse des protéines membranaires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Recherche de l'anomalie moléculaire au niveau génique</a:t>
            </a:r>
            <a:endParaRPr lang="fr-FR" sz="3200" b="1" i="0" cap="all" dirty="0">
              <a:solidFill>
                <a:srgbClr val="99336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31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FB1B2BEF-4989-41B9-A8D7-C21461B0FFB0}"/>
              </a:ext>
            </a:extLst>
          </p:cNvPr>
          <p:cNvSpPr txBox="1"/>
          <p:nvPr/>
        </p:nvSpPr>
        <p:spPr>
          <a:xfrm>
            <a:off x="539686" y="1121809"/>
            <a:ext cx="10476931" cy="370819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fr-FR" sz="3600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MSH</a:t>
            </a:r>
          </a:p>
          <a:p>
            <a:pPr algn="ctr" fontAlgn="base"/>
            <a:r>
              <a:rPr lang="fr-FR" sz="3600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EVOLUTION, RISQUES ET COMPLICATIONS</a:t>
            </a:r>
          </a:p>
          <a:p>
            <a:pPr algn="l" fontAlgn="base">
              <a:lnSpc>
                <a:spcPct val="150000"/>
              </a:lnSpc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   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Poussées d’</a:t>
            </a:r>
            <a:r>
              <a:rPr lang="fr-FR" sz="2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hyperhémolyse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 fontAlgn="base">
              <a:lnSpc>
                <a:spcPct val="150000"/>
              </a:lnSpc>
              <a:buFontTx/>
              <a:buChar char="-"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Crise de déglobulisation aiguë</a:t>
            </a:r>
          </a:p>
          <a:p>
            <a:pPr marL="457200" indent="-457200" fontAlgn="base">
              <a:lnSpc>
                <a:spcPct val="150000"/>
              </a:lnSpc>
              <a:buFontTx/>
              <a:buChar char="-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 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 biliaires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(lithiase vésiculaire)</a:t>
            </a:r>
          </a:p>
          <a:p>
            <a:pPr marL="457200" indent="-457200" fontAlgn="base">
              <a:lnSpc>
                <a:spcPct val="150000"/>
              </a:lnSpc>
              <a:buFontTx/>
              <a:buChar char="-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Carence en folates par surconsommation</a:t>
            </a:r>
            <a:endParaRPr lang="fr-FR" sz="2800" b="1" dirty="0">
              <a:solidFill>
                <a:srgbClr val="99336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0729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4CBEDBE7-6911-48D9-A2FA-35E5BFEA5C19}"/>
              </a:ext>
            </a:extLst>
          </p:cNvPr>
          <p:cNvSpPr txBox="1"/>
          <p:nvPr/>
        </p:nvSpPr>
        <p:spPr>
          <a:xfrm>
            <a:off x="641445" y="338441"/>
            <a:ext cx="11191164" cy="64325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base"/>
            <a:r>
              <a:rPr lang="fr-FR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TRAITEMENT</a:t>
            </a:r>
          </a:p>
          <a:p>
            <a:pPr algn="l" fontAlgn="base"/>
            <a:r>
              <a:rPr lang="fr-FR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400" b="1" i="0" cap="all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&gt; 50 % DES CAS :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suivi clinique, avec hémogramme </a:t>
            </a:r>
          </a:p>
          <a:p>
            <a:pPr algn="l" fontAlgn="base"/>
            <a:endParaRPr lang="fr-FR" sz="2400" cap="all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400" b="1" i="0" cap="all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LES AUTRES SITUATIONS : </a:t>
            </a:r>
            <a:endParaRPr lang="fr-FR" b="1" i="0" cap="all" dirty="0">
              <a:solidFill>
                <a:srgbClr val="99336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285750" algn="l" fontAlgn="base">
              <a:buFont typeface="Wingdings" panose="05000000000000000000" pitchFamily="2" charset="2"/>
              <a:buChar char="Ø"/>
            </a:pPr>
            <a:r>
              <a:rPr lang="fr-FR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Traitement symptomatique, si besoin.</a:t>
            </a:r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285750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 traiter les crises aiguës par transfusion</a:t>
            </a:r>
          </a:p>
          <a:p>
            <a:pPr marL="900113" indent="-285750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 supplémenter en folates si hémolyse chronique sévère.</a:t>
            </a:r>
          </a:p>
          <a:p>
            <a:pPr marL="900113" indent="-285750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00113" indent="-285750" algn="l" fontAlgn="base">
              <a:buFont typeface="Wingdings" panose="05000000000000000000" pitchFamily="2" charset="2"/>
              <a:buChar char="Ø"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Splénectomie :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les formes sévères, symptomatiques, mal supportées.</a:t>
            </a:r>
          </a:p>
          <a:p>
            <a:pPr marL="900113" indent="-285750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00113" indent="-285750"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</a:t>
            </a:r>
          </a:p>
          <a:p>
            <a:pPr marL="900113" indent="-285750" algn="l" fontAlgn="base">
              <a:buFont typeface="Wingdings" panose="05000000000000000000" pitchFamily="2" charset="2"/>
              <a:buChar char="Ø"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Cholécystectomie: lithiase vésiculaire complication de l’hémolyse chronique </a:t>
            </a:r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</a:t>
            </a:r>
          </a:p>
          <a:p>
            <a:pPr algn="l" fontAlgn="base"/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conseil génétique est souhaitable</a:t>
            </a:r>
            <a:endParaRPr lang="fr-FR" sz="28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2892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8138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23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</a:t>
            </a:r>
            <a:r>
              <a:rPr lang="fr-FR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ENZYMOPATHIES :</a:t>
            </a:r>
            <a:endParaRPr lang="fr-FR" sz="2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Déficit en G6PD :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6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pho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-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drog</a:t>
            </a:r>
            <a:r>
              <a:rPr lang="fr-FR" sz="24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spc="-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10260">
              <a:lnSpc>
                <a:spcPct val="107000"/>
              </a:lnSpc>
              <a:spcAft>
                <a:spcPts val="800"/>
              </a:spcAft>
            </a:pPr>
            <a:r>
              <a:rPr lang="fr-FR" sz="24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r>
              <a:rPr lang="fr-FR" sz="24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4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lié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-1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à </a:t>
            </a:r>
            <a:r>
              <a:rPr lang="fr-FR" sz="2400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fr-FR" sz="2400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fr-FR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 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hromosome 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41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</a:t>
            </a:r>
            <a:r>
              <a:rPr lang="fr-FR" sz="24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tiqu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éra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c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b="1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aigue 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4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erc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rs</a:t>
            </a:r>
            <a:r>
              <a:rPr lang="fr-FR" sz="24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spc="-3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nt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toxi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2400" b="1" spc="-4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b="1" spc="-4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fè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4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4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fec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4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fr-FR" sz="24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&gt;F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éc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400" spc="-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â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+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</a:t>
            </a:r>
            <a:r>
              <a:rPr lang="fr-FR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+ 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4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4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  <a:r>
              <a:rPr lang="fr-FR" sz="2400" spc="-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fr-FR" sz="2400" spc="1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-7</a:t>
            </a:r>
            <a:r>
              <a:rPr lang="fr-FR" sz="2400" spc="-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g/</a:t>
            </a:r>
            <a:r>
              <a:rPr lang="fr-FR" sz="24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spc="-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fr-FR" sz="24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otti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fr-FR" sz="24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70305"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3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</a:t>
            </a:r>
            <a:r>
              <a:rPr lang="fr-FR" sz="2400" spc="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↑</a:t>
            </a:r>
            <a:r>
              <a:rPr lang="fr-FR" sz="2400" spc="1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(&gt;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10J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4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↑</a:t>
            </a:r>
            <a:r>
              <a:rPr lang="fr-FR" sz="2400" spc="1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-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re,</a:t>
            </a:r>
            <a:r>
              <a:rPr lang="fr-FR" sz="24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hut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ptog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e,</a:t>
            </a:r>
            <a:r>
              <a:rPr lang="fr-FR" sz="2400" spc="-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↑</a:t>
            </a:r>
            <a:r>
              <a:rPr lang="fr-FR" sz="2400" spc="1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arf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ogl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10260">
              <a:lnSpc>
                <a:spcPct val="107000"/>
              </a:lnSpc>
              <a:spcAft>
                <a:spcPts val="0"/>
              </a:spcAft>
            </a:pP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gno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400" spc="-4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Contexte</a:t>
            </a:r>
            <a:r>
              <a:rPr lang="fr-FR" sz="24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-15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clinique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tallati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brutal + facteur déclenchant ( favisme )</a:t>
            </a:r>
          </a:p>
          <a:p>
            <a:pPr marL="342900" lvl="0" indent="-342900">
              <a:lnSpc>
                <a:spcPct val="107000"/>
              </a:lnSpc>
              <a:spcBef>
                <a:spcPts val="3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NFS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fr-FR" sz="24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4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4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fr-FR" sz="24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schizocytes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)</a:t>
            </a:r>
            <a:endParaRPr lang="fr-FR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ure de</a:t>
            </a:r>
            <a:r>
              <a:rPr lang="fr-FR" sz="2400" b="1" spc="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b="1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fr-FR" sz="2400" b="1" spc="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4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ati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4047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89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0260" algn="ctr">
              <a:lnSpc>
                <a:spcPct val="107000"/>
              </a:lnSpc>
              <a:spcAft>
                <a:spcPts val="0"/>
              </a:spcAft>
            </a:pPr>
            <a:endParaRPr lang="fr-FR" sz="44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10260" algn="ctr">
              <a:lnSpc>
                <a:spcPct val="107000"/>
              </a:lnSpc>
              <a:spcAft>
                <a:spcPts val="0"/>
              </a:spcAft>
            </a:pPr>
            <a:r>
              <a:rPr lang="fr-FR" sz="4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4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4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44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fr-FR" sz="4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4400" b="1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4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44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4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4400" b="1" spc="-1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déficit G6PD</a:t>
            </a:r>
          </a:p>
          <a:p>
            <a:pPr marL="810260" algn="ctr">
              <a:lnSpc>
                <a:spcPct val="107000"/>
              </a:lnSpc>
              <a:spcAft>
                <a:spcPts val="0"/>
              </a:spcAft>
            </a:pPr>
            <a:endParaRPr lang="fr-FR" sz="44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1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cati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8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nf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urs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</a:p>
          <a:p>
            <a:pPr marL="342900" lvl="0" indent="-342900">
              <a:lnSpc>
                <a:spcPct val="107000"/>
              </a:lnSpc>
              <a:spcBef>
                <a:spcPts val="4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icti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800" b="1" spc="-3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aliments et 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ica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</a:t>
            </a:r>
            <a:r>
              <a:rPr lang="fr-FR" sz="2800" b="1" spc="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spc="-3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ud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ns, 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ita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 C, b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ét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8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lè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fr-FR" sz="2800" spc="-3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pour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nt</a:t>
            </a:r>
            <a:r>
              <a:rPr lang="fr-FR" sz="28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3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rfo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guë profonde </a:t>
            </a:r>
            <a:r>
              <a:rPr lang="fr-FR" sz="28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 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</a:p>
          <a:p>
            <a:pPr marL="342900" lvl="0" indent="-342900">
              <a:lnSpc>
                <a:spcPct val="107000"/>
              </a:lnSpc>
              <a:spcBef>
                <a:spcPts val="305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lang="fr-FR" sz="28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cas d'hémolyse chronique, 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supplémentation en folates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parfois conseillée. </a:t>
            </a:r>
            <a:r>
              <a:rPr lang="fr-FR" sz="28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0118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514DADCC-68C9-4283-80BD-14EC3F264316}"/>
              </a:ext>
            </a:extLst>
          </p:cNvPr>
          <p:cNvSpPr txBox="1"/>
          <p:nvPr/>
        </p:nvSpPr>
        <p:spPr>
          <a:xfrm>
            <a:off x="930322" y="997116"/>
            <a:ext cx="10331356" cy="486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fr-FR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Déficit en PK :</a:t>
            </a:r>
            <a:r>
              <a:rPr lang="fr-FR" sz="28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8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595630">
              <a:lnSpc>
                <a:spcPct val="104000"/>
              </a:lnSpc>
              <a:spcAft>
                <a:spcPts val="0"/>
              </a:spcAft>
              <a:tabLst>
                <a:tab pos="800100" algn="l"/>
              </a:tabLst>
            </a:pP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 r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éce</a:t>
            </a:r>
            <a:r>
              <a:rPr lang="fr-FR" sz="28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</a:t>
            </a:r>
          </a:p>
          <a:p>
            <a:pPr marL="914400">
              <a:lnSpc>
                <a:spcPct val="107000"/>
              </a:lnSpc>
              <a:spcAft>
                <a:spcPts val="0"/>
              </a:spcAft>
            </a:pP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914400">
              <a:lnSpc>
                <a:spcPct val="107000"/>
              </a:lnSpc>
              <a:spcAft>
                <a:spcPts val="0"/>
              </a:spcAft>
            </a:pP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à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8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(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ictè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SPM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pâleur)</a:t>
            </a:r>
          </a:p>
          <a:p>
            <a:pPr marL="914400">
              <a:lnSpc>
                <a:spcPct val="107000"/>
              </a:lnSpc>
              <a:spcAft>
                <a:spcPts val="0"/>
              </a:spcAft>
            </a:pPr>
            <a:endParaRPr lang="fr-F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0"/>
              </a:spcAft>
            </a:pPr>
            <a:r>
              <a:rPr lang="fr-FR" sz="28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ure de</a:t>
            </a:r>
            <a:r>
              <a:rPr lang="fr-FR" sz="2800" b="1" spc="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800" b="1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fr-FR" sz="2800" b="1" spc="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fr-FR" sz="28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ati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</a:p>
          <a:p>
            <a:pPr marL="914400">
              <a:lnSpc>
                <a:spcPct val="107000"/>
              </a:lnSpc>
              <a:spcAft>
                <a:spcPts val="800"/>
              </a:spcAft>
            </a:pPr>
            <a:endParaRPr lang="fr-FR" sz="2800" spc="5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</a:pP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tement : </a:t>
            </a:r>
            <a:r>
              <a:rPr lang="fr-FR" sz="2800" b="1" spc="-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ect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2800" b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b="1" spc="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( effet bénéfique )</a:t>
            </a:r>
          </a:p>
          <a:p>
            <a:pPr marL="914400">
              <a:lnSpc>
                <a:spcPct val="107000"/>
              </a:lnSpc>
              <a:spcAft>
                <a:spcPts val="800"/>
              </a:spcAft>
            </a:pPr>
            <a:r>
              <a:rPr lang="fr-FR" sz="2800" b="1" spc="-15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</a:t>
            </a:r>
            <a:r>
              <a:rPr lang="fr-FR" sz="2800" b="1" spc="-1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fr-FR" sz="2800" spc="-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lang="fr-FR" sz="28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h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fr-FR" sz="28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789756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3400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xmlns="" id="{5052D33E-6F3B-4DEB-A714-AF0EA6CE6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764" y="1816464"/>
            <a:ext cx="4450467" cy="3225061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78915597-0D42-4225-9891-0F88D9627B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2191996" cy="6858000"/>
          </a:xfrm>
        </p:spPr>
        <p:txBody>
          <a:bodyPr/>
          <a:lstStyle/>
          <a:p>
            <a:pPr lvl="0" algn="ctr"/>
            <a:r>
              <a:rPr lang="fr-FR" sz="4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ANEMIES HEMOLYTIQUES </a:t>
            </a:r>
          </a:p>
          <a:p>
            <a:pPr lvl="0" algn="ctr"/>
            <a:r>
              <a:rPr lang="fr-FR" sz="4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ACQUISES</a:t>
            </a: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F822F33-9061-4901-978B-B149C77D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5853"/>
            <a:ext cx="10515600" cy="5471110"/>
          </a:xfrm>
        </p:spPr>
        <p:txBody>
          <a:bodyPr/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ANEMIE HEMOLYTIQUE ACQUISE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IMMUNOLOGIQUE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IMMUNOLOGIQUE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2771377F-E7A7-4C80-A584-818AE02317B0}"/>
              </a:ext>
            </a:extLst>
          </p:cNvPr>
          <p:cNvCxnSpPr/>
          <p:nvPr/>
        </p:nvCxnSpPr>
        <p:spPr>
          <a:xfrm flipH="1">
            <a:off x="3465095" y="1475872"/>
            <a:ext cx="1379621" cy="162025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D486F0E3-16FB-4DE0-AC7C-C8E014A38BA8}"/>
              </a:ext>
            </a:extLst>
          </p:cNvPr>
          <p:cNvCxnSpPr>
            <a:cxnSpLocks/>
          </p:cNvCxnSpPr>
          <p:nvPr/>
        </p:nvCxnSpPr>
        <p:spPr>
          <a:xfrm>
            <a:off x="6769768" y="1427747"/>
            <a:ext cx="2967790" cy="328863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261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xmlns="" id="{BEA00785-0BD1-47AD-AF05-404359D880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" y="999511"/>
            <a:ext cx="12191996" cy="6858000"/>
          </a:xfrm>
        </p:spPr>
        <p:txBody>
          <a:bodyPr/>
          <a:lstStyle/>
          <a:p>
            <a:pPr fontAlgn="base"/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b="1" dirty="0">
                <a:solidFill>
                  <a:srgbClr val="9933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liées à </a:t>
            </a:r>
            <a:r>
              <a:rPr lang="fr-FR" sz="24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 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d’Auto-</a:t>
            </a:r>
            <a:r>
              <a:rPr lang="fr-FR" sz="2400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dirigés contre un Ag de la surface des GR 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GR recouverts d’Ac sont « sensibilisés » 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GR ont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durée de vie raccourcie.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 sont 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plus fréquentes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 AH acquises 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d’origine 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 corpusculaires</a:t>
            </a:r>
          </a:p>
          <a:p>
            <a:pPr algn="l" fontAlgn="base"/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Anémie hémolytique auto-immune">
            <a:extLst>
              <a:ext uri="{FF2B5EF4-FFF2-40B4-BE49-F238E27FC236}">
                <a16:creationId xmlns:a16="http://schemas.microsoft.com/office/drawing/2014/main" xmlns="" id="{4624BAC2-A06F-47B0-8D40-AB863052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011" y="2181726"/>
            <a:ext cx="4788567" cy="420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30412BEC-F64F-451A-A779-B7390FA63D11}"/>
              </a:ext>
            </a:extLst>
          </p:cNvPr>
          <p:cNvSpPr txBox="1"/>
          <p:nvPr/>
        </p:nvSpPr>
        <p:spPr>
          <a:xfrm>
            <a:off x="2149642" y="224589"/>
            <a:ext cx="8678779" cy="52225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IMMUNOLOGIQUES</a:t>
            </a: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A947F42-FFD9-41AA-9623-343AB8CB9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Wingdings" panose="05000000000000000000" pitchFamily="2" charset="2"/>
              <a:buChar char="Ø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 immunisation : post transfusion , grossesse 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Immun- allergique : médicaments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immune : AHAI 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(TCD)</a:t>
            </a:r>
          </a:p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2F967620-8507-4598-825C-A14170797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5684" y="766777"/>
            <a:ext cx="9188116" cy="52225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IMMUNOLOGIQUES</a:t>
            </a: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6907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CFCD015-10F0-4688-A753-1C9DFCA1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7" y="124495"/>
            <a:ext cx="6657473" cy="95032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AHAI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61C114C-5E14-4035-AE86-CE357502D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2"/>
            <a:ext cx="10515600" cy="5558588"/>
          </a:xfrm>
        </p:spPr>
        <p:txBody>
          <a:bodyPr numCol="2" spcCol="1080000">
            <a:normAutofit/>
          </a:bodyPr>
          <a:lstStyle/>
          <a:p>
            <a:pPr algn="l" fontAlgn="base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selon l’optimum thermique d’action de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algn="l" fontAlgn="base"/>
            <a:endParaRPr lang="fr-FR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</a:t>
            </a:r>
            <a:r>
              <a:rPr lang="fr-FR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chauds : 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d’action à 37°C, souvent IgG, fixant ou non le complément ; </a:t>
            </a:r>
          </a:p>
          <a:p>
            <a:pPr marL="0" indent="0" algn="l" fontAlgn="base"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70 % des cas,</a:t>
            </a:r>
          </a:p>
          <a:p>
            <a:pPr marL="0" indent="0" algn="l" fontAlgn="base">
              <a:buNone/>
            </a:pPr>
            <a:endParaRPr lang="fr-FR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AH à </a:t>
            </a:r>
            <a:r>
              <a:rPr lang="fr-FR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 :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thermique à 22°C ou plus bas, souvent IgM, parfois IgG ; </a:t>
            </a:r>
          </a:p>
          <a:p>
            <a:pPr marL="0" indent="0" algn="l" fontAlgn="base"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30 % des cas.</a:t>
            </a:r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selon l’origine :</a:t>
            </a:r>
          </a:p>
          <a:p>
            <a:pPr marL="0" indent="0" algn="l" fontAlgn="base">
              <a:buNone/>
            </a:pPr>
            <a:endParaRPr lang="fr-FR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AHAI primitives </a:t>
            </a:r>
            <a:r>
              <a:rPr lang="fr-FR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 inconnue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50% des cas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 fontAlgn="base"/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AHAI secondaires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l" fontAlgn="base">
              <a:buNone/>
            </a:pP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associées à une maladie sous-jacente à rechercher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50 % des cas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2752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9CA1CDE-8506-418F-BE3A-2DF78A32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74737"/>
            <a:ext cx="5658853" cy="1212601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</a:t>
            </a:r>
            <a:b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à auto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chauds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A1DF79D-FFB2-4B44-AE11-584F44C15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6085"/>
            <a:ext cx="11341768" cy="5227178"/>
          </a:xfrm>
        </p:spPr>
        <p:txBody>
          <a:bodyPr numCol="3" spcCol="1080000">
            <a:normAutofit/>
          </a:bodyPr>
          <a:lstStyle/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70% des AHAI 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Tableau d’hémolyse chronique intra tissulaire :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triade hémolytique + bilan d’hémolyse positif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Température de fixation optimale des </a:t>
            </a:r>
            <a:r>
              <a:rPr lang="fr-FR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37°C.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de Coombs direct positif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IgG seul ou mixte (G+C’).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Idiopathiques dans 50 %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 cas. </a:t>
            </a:r>
          </a:p>
          <a:p>
            <a:pPr algn="l" fontAlgn="base"/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maladies à rechercher : </a:t>
            </a:r>
          </a:p>
          <a:p>
            <a:pPr marL="0" indent="0" algn="l" fontAlgn="base">
              <a:buNone/>
            </a:pPr>
            <a:r>
              <a:rPr lang="fr-F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maladies auto-immunes, </a:t>
            </a:r>
          </a:p>
          <a:p>
            <a:pPr marL="0" indent="0" algn="l" fontAlgn="base">
              <a:buNone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Hémopathie lymphoïde, </a:t>
            </a:r>
          </a:p>
          <a:p>
            <a:pPr marL="0" indent="0" algn="l" fontAlgn="base">
              <a:buNone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Tumeurs solides,  Déficit immunitaire,  Infection virale</a:t>
            </a:r>
          </a:p>
          <a:p>
            <a:pPr marL="0" indent="0" algn="l" fontAlgn="base">
              <a:buNone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Médicaments :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AINS, sulfamides, ceftriaxone,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l’alpha méthyl dopa (</a:t>
            </a:r>
            <a:r>
              <a:rPr lang="fr-FR" sz="2400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Aldomet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)+++</a:t>
            </a:r>
          </a:p>
          <a:p>
            <a:pPr marL="0" indent="0" algn="l" fontAlgn="base">
              <a:buNone/>
            </a:pPr>
            <a:endParaRPr lang="fr-F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endParaRPr lang="fr-F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endParaRPr lang="fr-F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endParaRPr lang="fr-F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:</a:t>
            </a:r>
          </a:p>
          <a:p>
            <a:pPr algn="l" fontAlgn="base"/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Traitement de la maladie causale.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Traitement de fond : corticothérapie</a:t>
            </a:r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4463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8B878925-4AC2-44A3-8F30-4BEC24E33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63" y="1203158"/>
            <a:ext cx="11823031" cy="5580106"/>
          </a:xfrm>
        </p:spPr>
        <p:txBody>
          <a:bodyPr numCol="3" spcCol="1080000">
            <a:normAutofit lnSpcReduction="10000"/>
          </a:bodyPr>
          <a:lstStyle/>
          <a:p>
            <a:pPr algn="l" fontAlgn="base"/>
            <a:r>
              <a:rPr lang="fr-FR" sz="20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thermique bas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(cependant parfois jusque 30 °C)</a:t>
            </a:r>
          </a:p>
          <a:p>
            <a:pPr algn="l" fontAlgn="base"/>
            <a:r>
              <a:rPr lang="fr-FR" sz="20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 déclenchée à une température inférieure à 30°C 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intra vasculaire ou non.</a:t>
            </a:r>
          </a:p>
          <a:p>
            <a:pPr algn="l" fontAlgn="base"/>
            <a:r>
              <a:rPr lang="fr-FR" sz="20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Idiopathiques: 50 % des cas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 fontAlgn="base"/>
            <a:endParaRPr lang="fr-FR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Deux types de maladies à rechercher:</a:t>
            </a:r>
          </a:p>
          <a:p>
            <a:pPr algn="l" fontAlgn="base"/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Sérologies :</a:t>
            </a: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Mycoplasme, VIH, VHC, EBV, CMV,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PCR EBV</a:t>
            </a:r>
          </a:p>
          <a:p>
            <a:pPr algn="l" fontAlgn="base"/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Hémopathie lymphoïde</a:t>
            </a:r>
          </a:p>
          <a:p>
            <a:pPr marL="0" indent="0" algn="ctr" fontAlgn="base">
              <a:buNone/>
            </a:pPr>
            <a:endParaRPr lang="fr-FR" sz="2400" b="1" i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r>
              <a:rPr lang="fr-FR" sz="2400" b="1" i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Les AHAI post-infectieuses = aiguës, transitoires.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1/3 des AHAI à </a:t>
            </a:r>
            <a:r>
              <a:rPr lang="fr-FR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froids.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 </a:t>
            </a:r>
            <a:r>
              <a:rPr lang="fr-FR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fréq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chez l’enfant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Mycoplasma </a:t>
            </a:r>
            <a:r>
              <a:rPr lang="fr-FR" sz="2400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pneumoniae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ctr" fontAlgn="base">
              <a:buNone/>
            </a:pPr>
            <a:endParaRPr lang="fr-FR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endParaRPr lang="fr-FR" sz="2400" b="1" i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endParaRPr lang="fr-FR" sz="2400" b="1" i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endParaRPr lang="fr-FR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endParaRPr lang="fr-FR" sz="2400" b="1" i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endParaRPr lang="fr-FR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r>
              <a:rPr lang="fr-FR" sz="2400" b="1" i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Formes chroniques et maladie des agglutinines froides.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L’IgM est monoclonale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après 55 ans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manifestations cliniques :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syndrome de Raynaud et acrocyanose au froid, hémolyse.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 de traitement spécifique.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Limiter l’exposition au froid.</a:t>
            </a:r>
          </a:p>
          <a:p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xmlns="" id="{CD91D018-F3F3-4976-9447-0730E38B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74737"/>
            <a:ext cx="10587789" cy="855705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auto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039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xmlns="" id="{715DE2F6-A3A9-472D-9A87-8836FABBC1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2295" y="1604210"/>
            <a:ext cx="11518232" cy="4676273"/>
          </a:xfrm>
        </p:spPr>
        <p:txBody>
          <a:bodyPr>
            <a:normAutofit/>
          </a:bodyPr>
          <a:lstStyle/>
          <a:p>
            <a:pPr marL="685800" lvl="0" algn="l">
              <a:lnSpc>
                <a:spcPct val="107000"/>
              </a:lnSpc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extra corpusculaires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secondaires à la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destruction prématurée </a:t>
            </a:r>
          </a:p>
          <a:p>
            <a:pPr marL="685800" lvl="0" algn="l">
              <a:lnSpc>
                <a:spcPct val="107000"/>
              </a:lnSpc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 GR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ailleurs normaux par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agression extérieure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à ceux-ci.</a:t>
            </a:r>
            <a:endParaRPr lang="fr-FR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 :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soit chronique = triade </a:t>
            </a:r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d’hémolyse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soit aiguë</a:t>
            </a:r>
            <a:r>
              <a:rPr lang="fr-FR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 intravasculaire = une urgence médicale.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endParaRPr lang="fr-FR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contexte doit être précisé impérativement +++</a:t>
            </a:r>
          </a:p>
          <a:p>
            <a:pPr lvl="0"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C40A4FE3-23FB-4C6F-8714-FF4D200F85C1}"/>
              </a:ext>
            </a:extLst>
          </p:cNvPr>
          <p:cNvSpPr txBox="1"/>
          <p:nvPr/>
        </p:nvSpPr>
        <p:spPr>
          <a:xfrm>
            <a:off x="1572126" y="368969"/>
            <a:ext cx="9448800" cy="64511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non immunologiques :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CC382B6-ED86-4F16-A9E1-39F75279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568" y="802105"/>
            <a:ext cx="11975432" cy="5959642"/>
          </a:xfrm>
        </p:spPr>
        <p:txBody>
          <a:bodyPr numCol="2" spcCol="1080000">
            <a:noAutofit/>
          </a:bodyPr>
          <a:lstStyle/>
          <a:p>
            <a:pPr marL="342900" indent="-342900" algn="l" fontAlgn="base">
              <a:buAutoNum type="arabicPeriod"/>
            </a:pPr>
            <a:r>
              <a:rPr lang="fr-FR" sz="2400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CAUSES INFECTIEUSES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 fontAlgn="base">
              <a:buNone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parasitaire – bactérienne - virales </a:t>
            </a:r>
          </a:p>
          <a:p>
            <a:pPr marL="0" indent="0" algn="l" fontAlgn="base">
              <a:buNone/>
            </a:pPr>
            <a:r>
              <a:rPr lang="fr-FR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Paludisme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Infection à </a:t>
            </a:r>
            <a:r>
              <a:rPr lang="fr-FR" sz="20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Bartonella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Trypanosomiase (maladie du sommeil ; Afrique) - Leishmaniose viscérale  - Septicémie à Clostridium perfringens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Infections virales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CMV </a:t>
            </a:r>
          </a:p>
          <a:p>
            <a:pPr marL="0" indent="0" algn="l" fontAlgn="base">
              <a:buNone/>
            </a:pPr>
            <a:endParaRPr lang="fr-FR" sz="20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400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CAUSES TOXIQUES </a:t>
            </a:r>
            <a:r>
              <a:rPr lang="fr-FR" sz="2400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CHIMIQUES ET MÉDICAMENTEUSES</a:t>
            </a:r>
            <a:endParaRPr lang="fr-FR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 lipolytique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saponine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benzène, 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toluène</a:t>
            </a: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agents oxydants</a:t>
            </a:r>
            <a:r>
              <a:rPr lang="fr-F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sulfones, la phénacétine, le cisplatine, </a:t>
            </a:r>
            <a:r>
              <a:rPr lang="fr-FR" sz="20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 produits toxiques 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(phénol, naphtaline des boules à mites, chlorates, nitrates, colorants à base d’aniline)                 </a:t>
            </a: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intoxication par le plomb 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0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peintures, batteries au plomb 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inhalation de vapeurs)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inhalation d’hydrogène arsénié</a:t>
            </a:r>
            <a:r>
              <a:rPr lang="fr-FR" sz="20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400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CAUSES PHYSIQUES</a:t>
            </a:r>
            <a:endParaRPr lang="fr-FR" sz="24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brûlures étendues</a:t>
            </a:r>
          </a:p>
          <a:p>
            <a:pPr marL="0" indent="0" algn="l" fontAlgn="base">
              <a:buNone/>
            </a:pP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gelures majeures</a:t>
            </a:r>
          </a:p>
          <a:p>
            <a:pPr marL="0" indent="0" algn="l" fontAlgn="base">
              <a:buNone/>
            </a:pPr>
            <a:endParaRPr lang="fr-FR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fr-FR" sz="2400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fr-FR" sz="2400" b="1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mécaniques</a:t>
            </a:r>
          </a:p>
          <a:p>
            <a:pPr marL="0" indent="0" algn="l" fontAlgn="base">
              <a:buNone/>
            </a:pPr>
            <a:r>
              <a:rPr lang="fr-FR" sz="2400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SITUATIONS LIÉES À UNE FRAGMENTATION DES HÉMATIES</a:t>
            </a:r>
            <a:r>
              <a:rPr lang="fr-F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L’hémolyse est ici liée à la rupture directe des hématies par choc sur un obstacle, produisant des schizocytes.</a:t>
            </a:r>
            <a:endParaRPr lang="fr-FR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4.4.1. Maladies du cœur : 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prothèses valvulaires, maladies des valves </a:t>
            </a:r>
            <a:r>
              <a:rPr lang="fr-FR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cardiaques,Altération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gros vaisseaux  </a:t>
            </a:r>
          </a:p>
          <a:p>
            <a:pPr marL="0" indent="0" algn="l" fontAlgn="base">
              <a:buNone/>
            </a:pP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4.4.2. Microangiopathies thrombotiques (MAT).</a:t>
            </a:r>
            <a:r>
              <a:rPr lang="fr-F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l" fontAlgn="base">
              <a:buNone/>
            </a:pPr>
            <a:r>
              <a:rPr lang="fr-FR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21D432A-36D6-422F-9BF6-51F0F295937B}"/>
              </a:ext>
            </a:extLst>
          </p:cNvPr>
          <p:cNvSpPr txBox="1"/>
          <p:nvPr/>
        </p:nvSpPr>
        <p:spPr>
          <a:xfrm>
            <a:off x="2887578" y="96253"/>
            <a:ext cx="6849979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indent="0" algn="ctr" fontAlgn="base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ÉTIOLOGIQUE</a:t>
            </a:r>
          </a:p>
        </p:txBody>
      </p:sp>
    </p:spTree>
    <p:extLst>
      <p:ext uri="{BB962C8B-B14F-4D97-AF65-F5344CB8AC3E}">
        <p14:creationId xmlns:p14="http://schemas.microsoft.com/office/powerpoint/2010/main" val="22515885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E412D63-8935-4743-B260-C9833D35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1825625"/>
            <a:ext cx="10635916" cy="4351338"/>
          </a:xfrm>
        </p:spPr>
        <p:txBody>
          <a:bodyPr>
            <a:normAutofit fontScale="77500" lnSpcReduction="20000"/>
          </a:bodyPr>
          <a:lstStyle/>
          <a:p>
            <a:pPr algn="l" fontAlgn="base"/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Maladie clonale rare de la cellule souche hématopoïétique </a:t>
            </a:r>
          </a:p>
          <a:p>
            <a:pPr algn="l" fontAlgn="base"/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liée à une mutation somatique acquise du gène PIG-A, provoquant la perte d'ancrage de diverses molécules de la surface cellulaire</a:t>
            </a:r>
          </a:p>
          <a:p>
            <a:pPr algn="l" fontAlgn="base"/>
            <a:r>
              <a:rPr lang="fr-FR" sz="3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de DAF ou CD55 et/ou MIRL ou CD 59</a:t>
            </a:r>
          </a:p>
          <a:p>
            <a:pPr algn="l" fontAlgn="base"/>
            <a:r>
              <a:rPr lang="fr-FR" sz="3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complément s’active et devient hémolysant</a:t>
            </a:r>
          </a:p>
          <a:p>
            <a:pPr algn="l" fontAlgn="base"/>
            <a:endParaRPr lang="fr-FR" sz="3600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 formes cliniques :</a:t>
            </a:r>
          </a:p>
          <a:p>
            <a:pPr marL="0" indent="0" algn="l" fontAlgn="base">
              <a:buNone/>
            </a:pPr>
            <a:r>
              <a:rPr lang="fr-FR" sz="3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Forme classique </a:t>
            </a:r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(3/4 des pts) : maladie </a:t>
            </a:r>
            <a:r>
              <a:rPr lang="fr-FR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hémolytique et/ ou </a:t>
            </a:r>
            <a:r>
              <a:rPr lang="fr-FR" sz="36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thrombosante</a:t>
            </a:r>
            <a:r>
              <a:rPr lang="fr-FR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 de novo »,</a:t>
            </a:r>
          </a:p>
          <a:p>
            <a:pPr marL="0" indent="0" algn="l" fontAlgn="base">
              <a:buNone/>
            </a:pPr>
            <a:r>
              <a:rPr lang="fr-FR" sz="3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Forme aplasique </a:t>
            </a:r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(1/4 des pts) : dans les suites d’une aplasie médullaire.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F75CF1C-0299-4629-AD50-F3CC65E47EB3}"/>
              </a:ext>
            </a:extLst>
          </p:cNvPr>
          <p:cNvSpPr txBox="1"/>
          <p:nvPr/>
        </p:nvSpPr>
        <p:spPr>
          <a:xfrm>
            <a:off x="2951748" y="203983"/>
            <a:ext cx="7748336" cy="107721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 fontAlgn="base"/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Hémoglobinurie Nocturne Paroxystique (HNP; maladie de </a:t>
            </a:r>
            <a:r>
              <a:rPr lang="fr-FR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Marchiafawa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fr-FR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Micheli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21448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610A9F6-BAD7-429B-8A2F-14BA7C0B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Merci pour votre attention 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sidahmedhematologie@gmail.com</a:t>
            </a:r>
          </a:p>
        </p:txBody>
      </p:sp>
      <p:pic>
        <p:nvPicPr>
          <p:cNvPr id="7170" name="Picture 2" descr="Pharmacie De La Nationale - Conseil du mois: La fatigue">
            <a:extLst>
              <a:ext uri="{FF2B5EF4-FFF2-40B4-BE49-F238E27FC236}">
                <a16:creationId xmlns:a16="http://schemas.microsoft.com/office/drawing/2014/main" xmlns="" id="{45202D54-11AA-4F05-9158-55F1F2E8E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884" y="2354178"/>
            <a:ext cx="5137484" cy="273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terview Questions You Should Ask – KaydaCode">
            <a:extLst>
              <a:ext uri="{FF2B5EF4-FFF2-40B4-BE49-F238E27FC236}">
                <a16:creationId xmlns:a16="http://schemas.microsoft.com/office/drawing/2014/main" xmlns="" id="{D8BD48CE-9A98-4C5F-A213-F1B3E2744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81" y="2620169"/>
            <a:ext cx="5137483" cy="273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345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1045</TotalTime>
  <Words>1581</Words>
  <Application>Microsoft Office PowerPoint</Application>
  <PresentationFormat>Grand écran</PresentationFormat>
  <Paragraphs>719</Paragraphs>
  <Slides>98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98</vt:i4>
      </vt:variant>
    </vt:vector>
  </HeadingPairs>
  <TitlesOfParts>
    <vt:vector size="107" baseType="lpstr">
      <vt:lpstr>Arial</vt:lpstr>
      <vt:lpstr>Calibri</vt:lpstr>
      <vt:lpstr>Calibri Light</vt:lpstr>
      <vt:lpstr>Lucida Calligraphy</vt:lpstr>
      <vt:lpstr>Sakkal Majalla</vt:lpstr>
      <vt:lpstr>Symbol</vt:lpstr>
      <vt:lpstr>Times New Roman</vt:lpstr>
      <vt:lpstr>Wingdings</vt:lpstr>
      <vt:lpstr>Thème Office</vt:lpstr>
      <vt:lpstr>ANEMIES HEMOLYTIQUES  CONGENITALES                                 cours de 4 éme année médecine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HEMOLYSE</vt:lpstr>
      <vt:lpstr>Présentation PowerPoint</vt:lpstr>
      <vt:lpstr>   L’HÉMOLYSE PATHOLOGIQUE amplifie l’un ou l’autre de ces 2 mécanismes ( intra tissulaire ou intra vasculaire ) :  = durée de vie raccourcie = Cette hémolyse excessive est habituellement accompagnée d’une régénération médullaire  =  augmentation du nombre des réticulocytes dans le sang. </vt:lpstr>
      <vt:lpstr>Mécanisme de l’hémolyse physiologique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BILAN D’HEMOLYSE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ANÉMIES HÉMOLYTIQUES IMMUNOLOGIQUES</vt:lpstr>
      <vt:lpstr>CLASSIFICATION : AHAI</vt:lpstr>
      <vt:lpstr>AH  à auto Ac chauds</vt:lpstr>
      <vt:lpstr>AH à auto Ac froids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sid ahmed mohamed</dc:creator>
  <cp:lastModifiedBy>ISSER TECH</cp:lastModifiedBy>
  <cp:revision>34</cp:revision>
  <dcterms:created xsi:type="dcterms:W3CDTF">2021-12-06T06:00:34Z</dcterms:created>
  <dcterms:modified xsi:type="dcterms:W3CDTF">2025-11-23T12:03:23Z</dcterms:modified>
</cp:coreProperties>
</file>