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97" r:id="rId2"/>
    <p:sldId id="293" r:id="rId3"/>
    <p:sldId id="290" r:id="rId4"/>
    <p:sldId id="298" r:id="rId5"/>
    <p:sldId id="301" r:id="rId6"/>
    <p:sldId id="291" r:id="rId7"/>
    <p:sldId id="294" r:id="rId8"/>
    <p:sldId id="304" r:id="rId9"/>
    <p:sldId id="299" r:id="rId10"/>
    <p:sldId id="387" r:id="rId11"/>
    <p:sldId id="381" r:id="rId12"/>
    <p:sldId id="399" r:id="rId13"/>
    <p:sldId id="257" r:id="rId14"/>
    <p:sldId id="382" r:id="rId15"/>
    <p:sldId id="383" r:id="rId16"/>
    <p:sldId id="265" r:id="rId17"/>
    <p:sldId id="384" r:id="rId18"/>
    <p:sldId id="400" r:id="rId19"/>
    <p:sldId id="266" r:id="rId20"/>
    <p:sldId id="401" r:id="rId21"/>
    <p:sldId id="342" r:id="rId22"/>
    <p:sldId id="279" r:id="rId23"/>
    <p:sldId id="398" r:id="rId24"/>
    <p:sldId id="326" r:id="rId25"/>
    <p:sldId id="331" r:id="rId26"/>
    <p:sldId id="327" r:id="rId27"/>
    <p:sldId id="396" r:id="rId28"/>
    <p:sldId id="336" r:id="rId29"/>
    <p:sldId id="337" r:id="rId30"/>
    <p:sldId id="403" r:id="rId31"/>
    <p:sldId id="338" r:id="rId32"/>
    <p:sldId id="404" r:id="rId33"/>
    <p:sldId id="405" r:id="rId34"/>
    <p:sldId id="406" r:id="rId35"/>
    <p:sldId id="330" r:id="rId36"/>
    <p:sldId id="334" r:id="rId37"/>
    <p:sldId id="407" r:id="rId38"/>
    <p:sldId id="408" r:id="rId39"/>
    <p:sldId id="410" r:id="rId40"/>
    <p:sldId id="409" r:id="rId41"/>
    <p:sldId id="339" r:id="rId42"/>
    <p:sldId id="411" r:id="rId43"/>
    <p:sldId id="335" r:id="rId4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27A88-CEEA-4AF5-984F-20161334D993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D121A-03AE-4850-8B67-1626BABC0A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12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02E52-46C0-4EDC-853C-BE93E479F29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04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02E52-46C0-4EDC-853C-BE93E479F291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422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63C4774-6DC2-73B8-5120-9C6164F4A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B98121BC-9F18-A9D9-93F2-D5E7DC6DB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13C22523-E16D-7BDB-9A1F-53DB2A79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277D9630-D3DA-401E-D3AE-A175AD8A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DAACFFEC-2EA1-0DC1-49CD-989027DAD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5190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1D63F55F-CE77-97A6-6795-46E008DB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C1FD1689-F9E9-2B26-645D-8802E35C5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96918255-7025-865D-965D-ADB1132F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0A66E3F8-E6FE-F3A6-4A15-0D3BB28C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26255F24-A158-BEDC-02A7-EFB71195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691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51C3A330-2EEB-697C-496C-E1F8825C7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80CBC876-AAD3-1E46-CFEA-DC4AECE48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EEA7CF20-F21F-E210-F4BC-CF80070D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5376EB72-A451-742D-9FE7-64C2D870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97666DAC-B6B3-C767-47E3-583917C2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62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E4DF182-9252-54FB-9B7B-0BEF3E16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AF269CB2-CDF3-11E7-06BB-02FA834DE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43A71DB5-7F4E-0ACF-AAA8-6DA724BB8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899E666E-0327-1A44-1D9E-3461C80A3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A10D0505-2C8B-F864-1F5A-0BE42C1B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BB392520-29A0-9A3A-61B8-ABE177AF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445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4CEA382A-46E4-9D6A-A454-6F6FDC62D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0CFC16A0-C07F-E5A8-2DA9-607D0A79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xmlns="" id="{056AA504-7925-0BBF-97EC-123493EA2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2A905EF3-1D2C-58D2-DB9F-43EBFD63C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xmlns="" id="{7C7AF0D3-D233-DB00-9419-076D09927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9485C43C-8778-6472-8FFF-FD245907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xmlns="" id="{23482816-CC14-BFCD-9250-A1FD5FB8B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F3DFE8DA-7143-2B83-5BB4-33A4B686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070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694392A-A181-53B2-6358-D199221D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E61A813B-271B-C560-E89E-BD993987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A2CE69A1-7ADA-39FD-3A25-D34EF3BF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FC6B3A26-A180-27A0-26F0-7B9BA005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53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xmlns="" id="{F3E4D8C2-025D-67B5-2642-8BD06790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xmlns="" id="{1961E4D3-CC82-B0AD-FF7C-061420BD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8EB03BA9-3F39-87BB-41CF-551C5232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526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92B6D71-C22A-5A26-8D41-0BB3883E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A50DCD87-6558-956D-A86A-8E852A1BA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1E3DFDDE-E0B7-4969-329C-0F73B6CB3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7E80D1A9-AFC1-DA07-8E98-42D9F5D9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2C7C46DC-4C30-8090-BC17-96C4A607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3C792D18-E121-DF1E-469E-4DF5BF87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68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F32A267C-259A-2562-70CE-7F95D393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xmlns="" id="{CF1A674A-67FD-716D-CBF2-58CBB9CA2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xmlns="" id="{A91D43BF-13A1-8CC2-3BBA-6458AA2AC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xmlns="" id="{EDC816FC-61AD-B628-DF84-D99EAFACD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xmlns="" id="{7E16EB24-F650-4439-DFAC-5DBAA26C7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7B2FBFC1-E9DD-ADBB-9D6F-EBFEB1E1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24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060D77F-5764-5B86-174B-70D96253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7E19A4CB-587E-B250-E942-AC11A97E8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03CBD34F-CE49-BFE5-D10E-EA4EDC3E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9DF6F005-61A9-0239-1B2C-1B512BC9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C4EA8977-915D-A2D1-A284-7147701B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8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xmlns="" id="{6B77A3A0-9BC0-7E93-6C9A-5B8107C09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xmlns="" id="{42E11032-EAB3-9DD9-3EB6-CEC965078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412578B1-478F-D3CA-1094-C052C895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FE7E1D00-1A34-606B-2F9B-C3F899F9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BAB553DF-45F5-958D-D05F-C83BAAC4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813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xmlns="" id="{CBEB6529-9701-E4C0-2EDB-B44ACEB3E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20ECCE4C-1FCE-F5D8-4573-A06F095DC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xmlns="" id="{9F125DC8-8DB1-3634-703E-333CB47A4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B5739-C957-4B48-8CE7-E0F0BCDC8871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xmlns="" id="{20E1A4AA-2D82-138C-89B5-6B9164D8B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xmlns="" id="{90FFB79B-1877-F5E1-C56C-8B453B65A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34D01-5BE7-4577-82C6-DA3C00CE76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79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0B07F92C-0DD6-409E-B53A-9A90E54C7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79" y="2618858"/>
            <a:ext cx="9144000" cy="488699"/>
          </a:xfrm>
        </p:spPr>
        <p:txBody>
          <a:bodyPr/>
          <a:lstStyle/>
          <a:p>
            <a:r>
              <a:rPr lang="fr-FR" b="1" dirty="0">
                <a:solidFill>
                  <a:srgbClr val="00B050"/>
                </a:solidFill>
              </a:rPr>
              <a:t>Cours de 4 année médecine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CEB2F8D4-14D9-4D77-838E-697CBF4A4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35326" cy="6729663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xmlns="" id="{A7AE56F1-3232-4D70-860E-42244344B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642" y="777922"/>
            <a:ext cx="10876547" cy="2732041"/>
          </a:xfr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HEMOLYSE</a:t>
            </a: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ANEMIES HEMOLYTIQUES  ACQUISES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 de 4 éme année médecine </a:t>
            </a:r>
            <a:endParaRPr lang="fr-FR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3B294FBB-E357-475F-AC0D-AE382A08A97B}"/>
              </a:ext>
            </a:extLst>
          </p:cNvPr>
          <p:cNvSpPr txBox="1"/>
          <p:nvPr/>
        </p:nvSpPr>
        <p:spPr>
          <a:xfrm>
            <a:off x="5013156" y="5406224"/>
            <a:ext cx="5173579" cy="13234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SID AHMED</a:t>
            </a:r>
          </a:p>
          <a:p>
            <a:r>
              <a:rPr lang="fr-FR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Hématologie/HMRUC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sidahmedhematologie@gmail.com</a:t>
            </a:r>
          </a:p>
        </p:txBody>
      </p:sp>
    </p:spTree>
    <p:extLst>
      <p:ext uri="{BB962C8B-B14F-4D97-AF65-F5344CB8AC3E}">
        <p14:creationId xmlns:p14="http://schemas.microsoft.com/office/powerpoint/2010/main" val="368927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8941"/>
            <a:ext cx="12192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RAPPEL SUR LA STRUCTURE DU GLOBULE ROUGE :</a:t>
            </a:r>
          </a:p>
          <a:p>
            <a:pPr lvl="0"/>
            <a:endParaRPr lang="fr-FR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fr-FR" sz="2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Morphologie :  </a:t>
            </a:r>
            <a:endParaRPr lang="fr-FR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3565"/>
              </a:lnSpc>
              <a:spcAft>
                <a:spcPts val="0"/>
              </a:spcAft>
              <a:buFont typeface="Times New Roman" panose="02020603050405020304" pitchFamily="18" charset="0"/>
              <a:buChar char="-"/>
            </a:pPr>
            <a:endParaRPr lang="fr-FR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endParaRPr lang="fr-FR" sz="40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 dans les vaisseaux sanguins </a:t>
            </a: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</a:p>
          <a:p>
            <a:pPr marL="90170" algn="ctr">
              <a:lnSpc>
                <a:spcPts val="3565"/>
              </a:lnSpc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petits </a:t>
            </a:r>
            <a:r>
              <a:rPr lang="fr-FR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disques biconcaves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de </a:t>
            </a:r>
            <a:r>
              <a:rPr lang="fr-FR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2µm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d’épaisseur et </a:t>
            </a:r>
            <a:r>
              <a:rPr lang="fr-FR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7µm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diamètre</a:t>
            </a:r>
            <a: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 descr="GR dans les vaisseaux sanguins = petits disques souvent biconcaves, de 2µm d’épaisseur et 7µm de diamètre">
            <a:extLst>
              <a:ext uri="{FF2B5EF4-FFF2-40B4-BE49-F238E27FC236}">
                <a16:creationId xmlns:a16="http://schemas.microsoft.com/office/drawing/2014/main" xmlns="" id="{5A8D32FE-6018-4B92-85B4-0ADE692CFA2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319130" y="1577010"/>
            <a:ext cx="6797574" cy="2809460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4083789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DB0BF073-951F-4C31-AA59-C741D32F9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296" y="352926"/>
            <a:ext cx="11935326" cy="5855369"/>
          </a:xfrm>
        </p:spPr>
        <p:txBody>
          <a:bodyPr>
            <a:normAutofit fontScale="92500" lnSpcReduction="10000"/>
          </a:bodyPr>
          <a:lstStyle/>
          <a:p>
            <a:pPr lvl="0" algn="ctr"/>
            <a:r>
              <a:rPr lang="fr-FR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fr-FR" sz="38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du globule rouge :</a:t>
            </a:r>
          </a:p>
          <a:p>
            <a:pPr lvl="0"/>
            <a:endParaRPr lang="fr-FR" sz="3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01725" indent="-571500">
              <a:buFontTx/>
              <a:buChar char="-"/>
            </a:pP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GR peut être schématiquement représenté comme </a:t>
            </a:r>
          </a:p>
          <a:p>
            <a:pPr marL="530225"/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sac (membrane) </a:t>
            </a: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contenant de:</a:t>
            </a:r>
          </a:p>
          <a:p>
            <a:endParaRPr lang="fr-FR" sz="3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l’hémoglobine</a:t>
            </a:r>
            <a:r>
              <a:rPr lang="fr-FR" sz="3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fr-FR" sz="3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fonction de GR</a:t>
            </a:r>
            <a:r>
              <a:rPr lang="fr-FR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fr-FR" sz="3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</a:t>
            </a:r>
            <a:r>
              <a:rPr lang="fr-F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enzymes</a:t>
            </a:r>
            <a:r>
              <a:rPr lang="fr-FR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(pour la protection de l’</a:t>
            </a:r>
            <a:r>
              <a:rPr lang="fr-FR" sz="3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de la membrane contre l’oxydation ainsi </a:t>
            </a:r>
            <a:r>
              <a:rPr lang="fr-FR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fourniture d'énergie</a:t>
            </a:r>
            <a:r>
              <a:rPr lang="fr-FR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15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C853B5B0-E4A2-40FE-9014-B0C666AA9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23081"/>
            <a:ext cx="11914496" cy="5690578"/>
          </a:xfrm>
        </p:spPr>
        <p:txBody>
          <a:bodyPr>
            <a:normAutofit/>
          </a:bodyPr>
          <a:lstStyle/>
          <a:p>
            <a:pPr marL="803275" lvl="0" algn="ctr"/>
            <a:r>
              <a:rPr lang="fr-FR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membrane :</a:t>
            </a:r>
          </a:p>
          <a:p>
            <a:pPr marL="803275" lvl="0" algn="just"/>
            <a:endParaRPr lang="fr-FR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forme biconcave </a:t>
            </a: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la morphologie la plus apte à la </a:t>
            </a: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déformabilité</a:t>
            </a:r>
            <a:endParaRPr lang="fr-FR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endParaRPr lang="fr-FR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Quand le GR s'écarte de la forme biconcave, il devient fragile, moins souple, ne circule plus dans les petits capillaires et s'hémolyse.</a:t>
            </a: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endParaRPr lang="fr-FR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0475" lvl="0" indent="-457200" algn="just">
              <a:buFont typeface="Wingdings" panose="05000000000000000000" pitchFamily="2" charset="2"/>
              <a:buChar char="ü"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charge négative </a:t>
            </a:r>
            <a:r>
              <a:rPr lang="fr-FR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membrane permet </a:t>
            </a:r>
            <a:r>
              <a:rPr lang="fr-FR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d'éviter l'agglutination des hématies.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10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FBA23FD4-6C96-4547-9C46-11667922E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251" y="791056"/>
            <a:ext cx="11767961" cy="5275884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 descr="image006">
            <a:extLst>
              <a:ext uri="{FF2B5EF4-FFF2-40B4-BE49-F238E27FC236}">
                <a16:creationId xmlns:a16="http://schemas.microsoft.com/office/drawing/2014/main" xmlns="" id="{854949F0-A01F-440D-B077-74C0BDD3D4D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00251" y="706582"/>
            <a:ext cx="11136573" cy="544483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D9E8822D-8ABB-48CA-AD52-8BFCB04B7FAD}"/>
              </a:ext>
            </a:extLst>
          </p:cNvPr>
          <p:cNvSpPr txBox="1"/>
          <p:nvPr/>
        </p:nvSpPr>
        <p:spPr>
          <a:xfrm>
            <a:off x="655092" y="875533"/>
            <a:ext cx="3534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B050"/>
                </a:solidFill>
              </a:rPr>
              <a:t>La membrane </a:t>
            </a:r>
          </a:p>
        </p:txBody>
      </p:sp>
    </p:spTree>
    <p:extLst>
      <p:ext uri="{BB962C8B-B14F-4D97-AF65-F5344CB8AC3E}">
        <p14:creationId xmlns:p14="http://schemas.microsoft.com/office/powerpoint/2010/main" val="1433920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29F63AA0-6CC9-4673-A4BB-D10FF425C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784" y="450376"/>
            <a:ext cx="11150221" cy="6274889"/>
          </a:xfrm>
        </p:spPr>
        <p:txBody>
          <a:bodyPr>
            <a:normAutofit fontScale="92500"/>
          </a:bodyPr>
          <a:lstStyle/>
          <a:p>
            <a:pPr algn="ctr"/>
            <a:r>
              <a:rPr lang="fr-FR" sz="43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hémoglobine : </a:t>
            </a:r>
          </a:p>
          <a:p>
            <a:r>
              <a:rPr lang="fr-FR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elle est constituée de :</a:t>
            </a:r>
          </a:p>
          <a:p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globine 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une protéine de 141 ou 146 AA, de </a:t>
            </a:r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enroulée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 elle-même, et au sein de laquelle se positionne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molécule d’hème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dans une poche hydrophobe. </a:t>
            </a:r>
          </a:p>
          <a:p>
            <a:pPr marL="442913" algn="just">
              <a:lnSpc>
                <a:spcPct val="120000"/>
              </a:lnSpc>
            </a:pPr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L’hémoglobine est constituée de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globines,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identiques 2 à 2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00113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0113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exemple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l’hémoglobine A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l'hémoglobine adulte, constituée de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chaînes alpha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(141 AA) et de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chaînes bêta 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(146 AA) (= alpha2 bêta 2).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742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7C4C182B-5497-4243-9D75-5CBF0340C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6188765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C0E7EF12-51C3-4294-BCBC-4D704CABF5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-1"/>
            <a:ext cx="12192000" cy="618876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46508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A74D0447-87A1-4508-A65C-8C9A69F18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192000" cy="6165273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8E1B2FAC-AFC4-4D03-90B6-0EC876AF619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165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109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9427C110-0771-4C3A-B39C-12BCF777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125" y="177421"/>
            <a:ext cx="11778018" cy="6237027"/>
          </a:xfrm>
        </p:spPr>
        <p:txBody>
          <a:bodyPr>
            <a:normAutofit fontScale="85000" lnSpcReduction="10000"/>
          </a:bodyPr>
          <a:lstStyle/>
          <a:p>
            <a:pPr algn="ctr">
              <a:lnSpc>
                <a:spcPct val="170000"/>
              </a:lnSpc>
            </a:pPr>
            <a:r>
              <a:rPr lang="fr-FR" sz="39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enzymes :</a:t>
            </a:r>
            <a:endParaRPr lang="fr-FR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2400" b="1" u="sng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 GR doit </a:t>
            </a:r>
            <a:r>
              <a:rPr lang="fr-FR" sz="24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produire de l'énergie </a:t>
            </a:r>
            <a:r>
              <a:rPr lang="fr-FR" sz="2400" b="1" u="sng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pour 2 objectifs principaux :</a:t>
            </a:r>
            <a:endParaRPr lang="fr-FR" sz="2400" u="sng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 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Maintenir l'intégrité de la membrane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pour assurer le </a:t>
            </a:r>
            <a:r>
              <a:rPr lang="fr-F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maintien de l'équilibre ionique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 fonctionnement des pompes Na+, Ka+, ATP ase qui nécessitent de l’ATP</a:t>
            </a:r>
          </a:p>
          <a:p>
            <a:pPr algn="just">
              <a:lnSpc>
                <a:spcPct val="17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   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Maintenir l'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sous sa forme active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c'est-à-dire réduite (= fer à l'état divalent). </a:t>
            </a:r>
          </a:p>
          <a:p>
            <a:pPr algn="just">
              <a:lnSpc>
                <a:spcPct val="170000"/>
              </a:lnSpc>
            </a:pPr>
            <a:endParaRPr lang="fr-FR" sz="24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fr-FR" sz="2400" b="1" u="sng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 GR produit l'énergie par 2 voies principaux :</a:t>
            </a:r>
            <a:endParaRPr lang="fr-FR" u="sng" dirty="0">
              <a:solidFill>
                <a:schemeClr val="tx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La glycolyse anaérobie: </a:t>
            </a:r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principale enzyme est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Pyruvate Kinase (PK) </a:t>
            </a:r>
          </a:p>
          <a:p>
            <a:pPr marL="342900" indent="-342900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shunt des pentoses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principale enzyme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le Glucose-6-Phosphate- Déshydrogénase (G6PD)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61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8E8A16A1-9267-4B6F-A96C-207F9EDA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116" y="1709739"/>
            <a:ext cx="10228334" cy="1483838"/>
          </a:xfrm>
          <a:solidFill>
            <a:srgbClr val="FFFF00"/>
          </a:solidFill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>
            <a:normAutofit/>
          </a:bodyPr>
          <a:lstStyle/>
          <a:p>
            <a:pPr algn="ctr"/>
            <a:r>
              <a:rPr lang="fr-FR" sz="8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HEMOLYSE</a:t>
            </a:r>
          </a:p>
        </p:txBody>
      </p:sp>
    </p:spTree>
    <p:extLst>
      <p:ext uri="{BB962C8B-B14F-4D97-AF65-F5344CB8AC3E}">
        <p14:creationId xmlns:p14="http://schemas.microsoft.com/office/powerpoint/2010/main" val="45455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729D1CD3-7961-4372-93A5-4A766D407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659" y="95534"/>
            <a:ext cx="11696131" cy="6428095"/>
          </a:xfrm>
        </p:spPr>
        <p:txBody>
          <a:bodyPr>
            <a:normAutofit fontScale="62500" lnSpcReduction="20000"/>
          </a:bodyPr>
          <a:lstStyle/>
          <a:p>
            <a:pPr algn="ctr" fontAlgn="base">
              <a:lnSpc>
                <a:spcPct val="120000"/>
              </a:lnSpc>
            </a:pPr>
            <a:r>
              <a:rPr lang="fr-FR" sz="8600" b="1" i="0" u="sng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  <a:endParaRPr lang="fr-FR" sz="7400" b="1" i="0" u="sng" cap="all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20000"/>
              </a:lnSpc>
            </a:pPr>
            <a:r>
              <a:rPr lang="fr-FR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571500" indent="-571500"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5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Hémolyse = destruction des globules rouges (GR) arrivés au terme de leur vie circulatoire de 120 j,</a:t>
            </a:r>
          </a:p>
          <a:p>
            <a:pPr algn="l" fontAlgn="base">
              <a:lnSpc>
                <a:spcPct val="120000"/>
              </a:lnSpc>
            </a:pPr>
            <a:r>
              <a:rPr lang="fr-FR" sz="5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associée à la libération puis au catabolisme de l’hémoglobine.</a:t>
            </a:r>
          </a:p>
          <a:p>
            <a:pPr algn="l" fontAlgn="base">
              <a:lnSpc>
                <a:spcPct val="120000"/>
              </a:lnSpc>
            </a:pPr>
            <a:r>
              <a:rPr lang="fr-FR" sz="4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571500" indent="-571500" algn="l" fontAlgn="base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GR vieillis disparaissent du torrent circulatoire : </a:t>
            </a:r>
          </a:p>
          <a:p>
            <a:pPr algn="l" fontAlgn="base">
              <a:lnSpc>
                <a:spcPct val="120000"/>
              </a:lnSpc>
            </a:pPr>
            <a:r>
              <a:rPr lang="fr-FR" sz="4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HEMOLYSE PHYSIOLOGIQUE</a:t>
            </a:r>
          </a:p>
          <a:p>
            <a:pPr marL="1255713" indent="-1255713" algn="l" fontAlgn="base">
              <a:lnSpc>
                <a:spcPct val="120000"/>
              </a:lnSpc>
            </a:pP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</a:t>
            </a:r>
            <a:r>
              <a:rPr lang="fr-FR" sz="4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Majoritairement </a:t>
            </a: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un mécanisme </a:t>
            </a:r>
            <a:r>
              <a:rPr lang="fr-FR" sz="42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intra tissulaire (phagocytose ; 85%),</a:t>
            </a:r>
          </a:p>
          <a:p>
            <a:pPr marL="1255713" indent="-1255713" algn="l" fontAlgn="base">
              <a:lnSpc>
                <a:spcPct val="120000"/>
              </a:lnSpc>
            </a:pP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 </a:t>
            </a:r>
            <a:r>
              <a:rPr lang="fr-FR" sz="4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Minoritairement</a:t>
            </a:r>
            <a:r>
              <a:rPr lang="fr-FR" sz="4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 hémolyse </a:t>
            </a:r>
            <a:r>
              <a:rPr lang="fr-FR" sz="42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intra vasculaire (= dans le torrent circulatoire ; 15%).</a:t>
            </a:r>
          </a:p>
          <a:p>
            <a:pPr algn="l" fontAlgn="base">
              <a:lnSpc>
                <a:spcPct val="120000"/>
              </a:lnSpc>
            </a:pPr>
            <a:endParaRPr lang="fr-FR" sz="4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289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C68D2FF7-7236-D41C-ECC9-C0A65F3D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8" y="562225"/>
            <a:ext cx="11165305" cy="5733549"/>
          </a:xfrm>
        </p:spPr>
        <p:txBody>
          <a:bodyPr>
            <a:noAutofit/>
          </a:bodyPr>
          <a:lstStyle/>
          <a:p>
            <a:pPr marL="571500" indent="-571500" algn="ctr" fontAlgn="base">
              <a:lnSpc>
                <a:spcPct val="120000"/>
              </a:lnSpc>
            </a:pP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L’HÉMOLYSE PATHOLOGIQUE 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amplifie l’un ou l’autre de ces 2 mécanismes ( intra </a:t>
            </a:r>
            <a:r>
              <a:rPr lang="fr-FR" sz="32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tissulaire ou intra vasculaire 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b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durée de vie raccourcie</a:t>
            </a: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Cette hémolyse excessive </a:t>
            </a:r>
            <a:r>
              <a:rPr lang="fr-FR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 habituellement accompagnée </a:t>
            </a:r>
            <a:r>
              <a:rPr lang="fr-FR" sz="32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d’</a:t>
            </a:r>
            <a:r>
              <a:rPr lang="fr-FR" sz="32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une régénération médullaire </a:t>
            </a:r>
            <a:br>
              <a:rPr lang="fr-FR" sz="32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b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du nombre des réticulocytes dans le sang.</a:t>
            </a:r>
            <a:b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579659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AE12153C-C0E8-4614-8C95-04A17EB7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176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4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Mécanisme de l’hémolyse physiologique :</a:t>
            </a:r>
            <a:r>
              <a:rPr lang="fr-F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062B3FB1-3D4C-4F86-AEF6-AD81FF488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4962099" cy="435133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rmAutofit fontScale="32500" lnSpcReduction="20000"/>
          </a:bodyPr>
          <a:lstStyle/>
          <a:p>
            <a:pPr marL="313055">
              <a:lnSpc>
                <a:spcPct val="107000"/>
              </a:lnSpc>
              <a:spcAft>
                <a:spcPts val="800"/>
              </a:spcAft>
            </a:pPr>
            <a:r>
              <a:rPr lang="fr-FR" sz="7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1- </a:t>
            </a:r>
            <a:r>
              <a:rPr lang="fr-FR" sz="7200" b="1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 du GR ;</a:t>
            </a:r>
            <a:endParaRPr lang="fr-FR" sz="72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Cellule anucléée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Constitué :</a:t>
            </a:r>
          </a:p>
          <a:p>
            <a:pPr marL="1293495">
              <a:lnSpc>
                <a:spcPct val="107000"/>
              </a:lnSpc>
              <a:spcAft>
                <a:spcPts val="800"/>
              </a:spcAft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fr-FR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Membrane :  </a:t>
            </a: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souple, déformabilité, Ag des GS</a:t>
            </a:r>
          </a:p>
          <a:p>
            <a:pPr marL="1297305">
              <a:lnSpc>
                <a:spcPct val="107000"/>
              </a:lnSpc>
              <a:spcAft>
                <a:spcPts val="800"/>
              </a:spcAft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fr-FR" sz="7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Hb</a:t>
            </a:r>
            <a:r>
              <a:rPr lang="fr-FR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 </a:t>
            </a: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33% GR, synthèse MO, fonction transport de l'02</a:t>
            </a:r>
          </a:p>
          <a:p>
            <a:pPr marL="1308735">
              <a:lnSpc>
                <a:spcPct val="107000"/>
              </a:lnSpc>
              <a:spcAft>
                <a:spcPts val="800"/>
              </a:spcAft>
            </a:pP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 </a:t>
            </a:r>
            <a:r>
              <a:rPr lang="fr-FR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Enzymes :   </a:t>
            </a:r>
            <a:r>
              <a:rPr lang="fr-FR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 et G6PD, rôle glycolytique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DE3FFD65-F9AB-4902-B4F8-93B2CA65C906}"/>
              </a:ext>
            </a:extLst>
          </p:cNvPr>
          <p:cNvSpPr txBox="1"/>
          <p:nvPr/>
        </p:nvSpPr>
        <p:spPr>
          <a:xfrm>
            <a:off x="6391704" y="1156885"/>
            <a:ext cx="5577383" cy="430374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marL="313055">
              <a:lnSpc>
                <a:spcPct val="107000"/>
              </a:lnSpc>
              <a:spcAft>
                <a:spcPts val="800"/>
              </a:spcAft>
            </a:pPr>
            <a:r>
              <a:rPr lang="fr-FR" sz="20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fr-FR" sz="2000" b="1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Mécanisme de l'hémolyse physiologique :</a:t>
            </a:r>
            <a:endParaRPr lang="fr-FR" sz="20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Epuisement    du capital   enzyme </a:t>
            </a: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 absence de renouvellement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Modification des flux ioniques</a:t>
            </a:r>
          </a:p>
          <a:p>
            <a:pPr marL="742950" lvl="1" indent="-285750">
              <a:lnSpc>
                <a:spcPct val="107000"/>
              </a:lnSpc>
              <a:buFont typeface="Wingdings" panose="05000000000000000000" pitchFamily="2" charset="2"/>
              <a:buChar char=""/>
            </a:pPr>
            <a:endParaRPr lang="fr-FR" sz="20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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Conséquences :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Baisse du volume globulaire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Diminution de l’ATP et glutathion réduit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Augmentation du Na</a:t>
            </a:r>
            <a:r>
              <a:rPr lang="fr-FR" sz="20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diminution du K</a:t>
            </a:r>
            <a:r>
              <a:rPr lang="fr-FR" sz="20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intracellulaire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Formation   de méthémoglobine</a:t>
            </a:r>
          </a:p>
          <a:p>
            <a:pPr marL="34290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Aboutissant à un gonflement cellulaire : </a:t>
            </a:r>
            <a:r>
              <a:rPr lang="fr-FR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hémolyse dans SRE</a:t>
            </a:r>
          </a:p>
        </p:txBody>
      </p:sp>
    </p:spTree>
    <p:extLst>
      <p:ext uri="{BB962C8B-B14F-4D97-AF65-F5344CB8AC3E}">
        <p14:creationId xmlns:p14="http://schemas.microsoft.com/office/powerpoint/2010/main" val="2742387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EBED1F2F-87D7-4DA4-847F-0D8A41BB1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478" y="0"/>
            <a:ext cx="11832609" cy="6209731"/>
          </a:xfrm>
        </p:spPr>
        <p:txBody>
          <a:bodyPr>
            <a:normAutofit fontScale="25000" lnSpcReduction="20000"/>
          </a:bodyPr>
          <a:lstStyle/>
          <a:p>
            <a:pPr algn="ctr" fontAlgn="base">
              <a:lnSpc>
                <a:spcPct val="120000"/>
              </a:lnSpc>
            </a:pPr>
            <a:r>
              <a:rPr lang="fr-FR" sz="14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2.3. Hémolyse intra tissulaire.</a:t>
            </a:r>
          </a:p>
          <a:p>
            <a:pPr algn="l" fontAlgn="base">
              <a:lnSpc>
                <a:spcPct val="120000"/>
              </a:lnSpc>
            </a:pPr>
            <a:r>
              <a:rPr lang="fr-FR" sz="3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7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Prépondérante à </a:t>
            </a:r>
            <a:r>
              <a:rPr lang="fr-FR" sz="9600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l’état normal </a:t>
            </a:r>
            <a:r>
              <a:rPr lang="fr-FR" sz="96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(85%)</a:t>
            </a:r>
            <a:r>
              <a:rPr lang="fr-FR" sz="96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elle est assurée par </a:t>
            </a:r>
            <a:r>
              <a:rPr lang="fr-FR" sz="96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les macrophages </a:t>
            </a:r>
            <a:r>
              <a:rPr lang="fr-FR" sz="96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 la moelle osseuse, de la rate et du foie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9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20000"/>
              </a:lnSpc>
            </a:pP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Une suite de réactions va dissocier l’</a:t>
            </a:r>
            <a:r>
              <a:rPr lang="fr-FR" sz="96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 globine et en hème :</a:t>
            </a:r>
            <a:endParaRPr lang="fr-FR" sz="9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globine est dégradée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(catabolisme des protéines),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fer de l’hème est recyclé dans l’érythropoïèse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 stocké dans les macrophages,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-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l’hème est dégradé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l’hème oxydase 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pour produire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la biliverdine puis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bilirubine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La bilirubine est d’abord appelée « libre »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 libérée hors des macrophages et véhiculée dans le plasma par l’albumine, qui la transporte jusqu’aux hépatocytes ;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 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bilirubine est </a:t>
            </a:r>
            <a:r>
              <a:rPr lang="fr-FR" sz="96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glycuroconjuguée</a:t>
            </a:r>
            <a:r>
              <a:rPr lang="fr-FR" sz="96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les hépatocytes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  </a:t>
            </a:r>
          </a:p>
          <a:p>
            <a:pPr algn="l" fontAlgn="base">
              <a:lnSpc>
                <a:spcPct val="120000"/>
              </a:lnSpc>
            </a:pP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 </a:t>
            </a:r>
            <a:r>
              <a:rPr lang="fr-FR" sz="9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bilirubine est ensuite excrétée par la bile 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le duodénum où elle est transformée en stercobiline (éliminée dans les selles) et en urobilinogène et urobiline dont une partie (15%) est réabsorbée (</a:t>
            </a:r>
            <a:r>
              <a:rPr lang="fr-FR" sz="9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cycle entéro-hépatique</a:t>
            </a:r>
            <a:r>
              <a:rPr lang="fr-FR" sz="9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et finalement éliminée dans les urines.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812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2FFBB8A-20FC-43AD-BD62-6090A531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20516"/>
            <a:ext cx="10515600" cy="2841959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EEB698A5-C749-4B09-A239-B9040DF24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4338" name="Picture 2" descr="Hemolyse capsule - YouTube">
            <a:extLst>
              <a:ext uri="{FF2B5EF4-FFF2-40B4-BE49-F238E27FC236}">
                <a16:creationId xmlns:a16="http://schemas.microsoft.com/office/drawing/2014/main" xmlns="" id="{69518754-2643-40CD-9BF0-1508AFB5F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10"/>
            <a:ext cx="12192000" cy="683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29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ECF3257A-FC2C-4516-B2AB-C2B54C755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126" y="982639"/>
            <a:ext cx="11471722" cy="4926842"/>
          </a:xfrm>
        </p:spPr>
        <p:txBody>
          <a:bodyPr numCol="3" spcCol="720000">
            <a:normAutofit/>
          </a:bodyPr>
          <a:lstStyle/>
          <a:p>
            <a:pPr marL="315595">
              <a:lnSpc>
                <a:spcPct val="120000"/>
              </a:lnSpc>
              <a:tabLst>
                <a:tab pos="3316288" algn="l"/>
              </a:tabLst>
            </a:pPr>
            <a:r>
              <a:rPr lang="fr-FR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Clinique : </a:t>
            </a:r>
            <a:r>
              <a:rPr lang="fr-FR" sz="26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triade d’hémolyse chronique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Pâleur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Ictère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2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SPM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endParaRPr lang="fr-FR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endParaRPr lang="fr-FR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endParaRPr lang="fr-FR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  <a:tabLst>
                <a:tab pos="3316288" algn="l"/>
              </a:tabLst>
            </a:pPr>
            <a:endParaRPr lang="fr-FR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20000"/>
              </a:lnSpc>
              <a:tabLst>
                <a:tab pos="3316288" algn="l"/>
              </a:tabLst>
            </a:pP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Biologie : anémie régénérative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Hb</a:t>
            </a: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VGM &gt; 100 </a:t>
            </a:r>
            <a:r>
              <a:rPr lang="fr-F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</a:t>
            </a: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(NL = 80 – 100 </a:t>
            </a: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 : </a:t>
            </a:r>
            <a:r>
              <a:rPr lang="fr-FR" sz="19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</a:t>
            </a: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GB normal ou augmenté (hyperleucocytose d’entrainement) 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Plaquette normal ou augmenté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b="1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Rétic</a:t>
            </a:r>
            <a:r>
              <a:rPr lang="fr-FR" sz="19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&gt; 120 000 </a:t>
            </a:r>
            <a:r>
              <a:rPr lang="fr-FR" sz="1900" b="1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élé</a:t>
            </a:r>
            <a:r>
              <a:rPr lang="fr-FR" sz="19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/mm</a:t>
            </a:r>
            <a:r>
              <a:rPr lang="fr-FR" sz="1900" b="1" baseline="300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fr-FR" sz="1900" b="1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  <a:tabLst>
                <a:tab pos="3316288" algn="l"/>
              </a:tabLst>
            </a:pP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800"/>
              </a:spcAft>
              <a:tabLst>
                <a:tab pos="3316288" algn="l"/>
              </a:tabLst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Signes d’hémolyse :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myélémie et érythroblastose</a:t>
            </a:r>
          </a:p>
          <a:p>
            <a:pPr marL="342900" lvl="0" indent="-342900">
              <a:lnSpc>
                <a:spcPct val="120000"/>
              </a:lnSpc>
              <a:buFont typeface="Wingdings" panose="05000000000000000000" pitchFamily="2" charset="2"/>
              <a:buChar char=""/>
              <a:tabLst>
                <a:tab pos="3316288" algn="l"/>
              </a:tabLst>
            </a:pP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Bilirubine totale et indirecte augmentée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Font typeface="Wingdings" panose="05000000000000000000" pitchFamily="2" charset="2"/>
              <a:buChar char=""/>
              <a:tabLst>
                <a:tab pos="3316288" algn="l"/>
              </a:tabLst>
            </a:pPr>
            <a:r>
              <a:rPr lang="fr-F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Hémosidirémie</a:t>
            </a: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8E02664F-FB8C-429B-BD27-39F295DC0BC9}"/>
              </a:ext>
            </a:extLst>
          </p:cNvPr>
          <p:cNvSpPr txBox="1"/>
          <p:nvPr/>
        </p:nvSpPr>
        <p:spPr>
          <a:xfrm>
            <a:off x="2479343" y="232011"/>
            <a:ext cx="7233313" cy="64511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lvl="0" indent="0" algn="ctr" rtl="0">
              <a:lnSpc>
                <a:spcPct val="107000"/>
              </a:lnSpc>
              <a:buNone/>
              <a:tabLst>
                <a:tab pos="3316288" algn="l"/>
              </a:tabLst>
            </a:pPr>
            <a:r>
              <a:rPr lang="fr-FR" sz="3600" b="1" u="sng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Tableau d’hémolyse chronique :</a:t>
            </a:r>
            <a:endParaRPr lang="fr-FR" sz="36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xmlns="" id="{6D1105C6-ECFB-3BEC-3E8A-B6F6CD7B83F7}"/>
              </a:ext>
            </a:extLst>
          </p:cNvPr>
          <p:cNvCxnSpPr/>
          <p:nvPr/>
        </p:nvCxnSpPr>
        <p:spPr>
          <a:xfrm>
            <a:off x="5518484" y="2005263"/>
            <a:ext cx="0" cy="272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xmlns="" id="{4D0B18F5-0C86-2D62-B66A-2BC68CDA02F7}"/>
              </a:ext>
            </a:extLst>
          </p:cNvPr>
          <p:cNvCxnSpPr/>
          <p:nvPr/>
        </p:nvCxnSpPr>
        <p:spPr>
          <a:xfrm>
            <a:off x="5670884" y="2021305"/>
            <a:ext cx="0" cy="272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xmlns="" id="{760C400E-396F-7245-18F2-54878DDCD935}"/>
              </a:ext>
            </a:extLst>
          </p:cNvPr>
          <p:cNvCxnSpPr/>
          <p:nvPr/>
        </p:nvCxnSpPr>
        <p:spPr>
          <a:xfrm>
            <a:off x="5839326" y="2021305"/>
            <a:ext cx="0" cy="272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78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83C7FE2C-C678-439B-9776-37A647159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663" y="232012"/>
            <a:ext cx="11586411" cy="6196084"/>
          </a:xfrm>
        </p:spPr>
        <p:txBody>
          <a:bodyPr>
            <a:normAutofit fontScale="77500" lnSpcReduction="20000"/>
          </a:bodyPr>
          <a:lstStyle/>
          <a:p>
            <a:pPr algn="ctr" fontAlgn="base"/>
            <a:r>
              <a:rPr lang="fr-FR" sz="4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2.4. Hémolyse intra vasculaire.</a:t>
            </a:r>
            <a:endParaRPr lang="fr-FR" sz="4600" b="0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fr-FR" sz="29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Représente environ </a:t>
            </a:r>
            <a:r>
              <a:rPr lang="fr-FR" sz="29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15% de l’hémolyse physiologique</a:t>
            </a:r>
            <a:r>
              <a:rPr lang="fr-FR" sz="29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lyse osmotique des GR vieillis ou fragmentation </a:t>
            </a:r>
          </a:p>
          <a:p>
            <a:pPr algn="l" fontAlgn="base"/>
            <a:endParaRPr lang="fr-FR" sz="29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L’hémoglobine libre se fixe à </a:t>
            </a:r>
            <a:r>
              <a:rPr lang="fr-FR" sz="29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l’haptoglobine</a:t>
            </a:r>
            <a:r>
              <a:rPr lang="fr-FR" sz="2900" b="0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dans d’hémolyse intravasculaire </a:t>
            </a:r>
            <a:r>
              <a:rPr lang="fr-FR" sz="29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l’Hp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peut disparaître totalement du plasma (&lt; 0.03 g/L) :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9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libre 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 en partie captée par les hépatocytes </a:t>
            </a:r>
          </a:p>
          <a:p>
            <a:pPr algn="l" fontAlgn="base"/>
            <a:r>
              <a:rPr lang="fr-FR" sz="2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en partie dissociée </a:t>
            </a:r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dimères alpha-bêta 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 traversent le </a:t>
            </a:r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filtre glomérulaire rénal </a:t>
            </a:r>
          </a:p>
          <a:p>
            <a:pPr algn="l" fontAlgn="base"/>
            <a:r>
              <a:rPr lang="fr-FR" sz="2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où ils sont partiellement réabsorbés. 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La réabsorption est limitée et l’excès d’</a:t>
            </a:r>
            <a:r>
              <a:rPr lang="fr-FR" sz="29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Hb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libre peut provoquer </a:t>
            </a:r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hémoglobinurie et une tubulopathie (insuffisance rénale aiguë).</a:t>
            </a:r>
          </a:p>
          <a:p>
            <a:pPr algn="l" fontAlgn="base"/>
            <a:r>
              <a:rPr lang="fr-FR" sz="29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l" fontAlgn="base"/>
            <a:r>
              <a:rPr lang="fr-FR" sz="29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L’hème peut se fixer également à l’albumine et à l’</a:t>
            </a:r>
            <a:r>
              <a:rPr lang="fr-FR" sz="29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hémopexine</a:t>
            </a:r>
            <a:r>
              <a:rPr lang="fr-FR" sz="29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 fontAlgn="base"/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Le complexe </a:t>
            </a:r>
            <a:r>
              <a:rPr lang="fr-FR" sz="29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hémopexine</a:t>
            </a:r>
            <a:r>
              <a:rPr lang="fr-FR" sz="29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hème est capté par 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hépatocytes : l’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hémopexine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est libérée du complexe et retourne dans le plasma tandis que l’hème est dégradé.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931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D6D312D-864B-B512-64D2-7357496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F7ED3243-558B-199F-2BCD-55CCFE87F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21E258F9-C8A0-68EB-EA69-209329409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1" y="224589"/>
            <a:ext cx="11550316" cy="64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6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E160787-BDC4-4207-BE06-FC4273675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890639"/>
            <a:ext cx="11372176" cy="5723051"/>
          </a:xfrm>
        </p:spPr>
        <p:txBody>
          <a:bodyPr numCol="3" spcCol="720000">
            <a:noAutofit/>
          </a:bodyPr>
          <a:lstStyle/>
          <a:p>
            <a:pPr marL="315595">
              <a:lnSpc>
                <a:spcPct val="100000"/>
              </a:lnSpc>
            </a:pP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Clinique : </a:t>
            </a:r>
            <a:r>
              <a:rPr lang="fr-FR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TABLEAU D’ÉTAT DE CHOC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Pâleur intense +++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Tachycardie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Pouls filant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Hypotension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Oligurie avec urines rouge porto ou hémoglobinurie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Insuffisance rénale</a:t>
            </a:r>
          </a:p>
          <a:p>
            <a:pPr marL="0" lvl="0" indent="0">
              <a:lnSpc>
                <a:spcPct val="100000"/>
              </a:lnSpc>
              <a:spcAft>
                <a:spcPts val="800"/>
              </a:spcAft>
              <a:buNone/>
            </a:pPr>
            <a:endParaRPr lang="fr-F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fr-FR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fr-F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endParaRPr lang="fr-FR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0510">
              <a:lnSpc>
                <a:spcPct val="100000"/>
              </a:lnSpc>
              <a:spcAft>
                <a:spcPts val="800"/>
              </a:spcAft>
            </a:pP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Biologie :</a:t>
            </a:r>
            <a:endParaRPr lang="fr-FR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60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Diminution du taux d'haptoglobine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(VN :  0.3-2   g/l)</a:t>
            </a:r>
          </a:p>
          <a:p>
            <a:pPr marL="342900" marR="32385" lvl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Hémoglobinémie   si les capacités de fixation sont dépassées.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Plasma rosit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252730" lvl="0" indent="-342900">
              <a:lnSpc>
                <a:spcPct val="100000"/>
              </a:lnSpc>
              <a:spcBef>
                <a:spcPts val="35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Hémoglobinurie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si l'hémoglobinémie excède les capacités de transports de l 'haptoglobine.</a:t>
            </a: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Bilirubine libre élevé</a:t>
            </a:r>
          </a:p>
          <a:p>
            <a:pPr marL="342900" lvl="0" indent="-342900">
              <a:lnSpc>
                <a:spcPct val="100000"/>
              </a:lnSpc>
              <a:spcBef>
                <a:spcPts val="20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Methemalbumine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0000"/>
              </a:lnSpc>
              <a:spcBef>
                <a:spcPts val="65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Diminution d’</a:t>
            </a:r>
            <a:r>
              <a:rPr lang="fr-FR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hemopexine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70510">
              <a:lnSpc>
                <a:spcPct val="100000"/>
              </a:lnSpc>
              <a:spcAft>
                <a:spcPts val="800"/>
              </a:spcAft>
            </a:pPr>
            <a:r>
              <a:rPr lang="fr-FR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Signes d’érythropoïèse exagérés</a:t>
            </a:r>
            <a:endParaRPr lang="fr-FR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Hémogramme :  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macrocytose, </a:t>
            </a:r>
            <a:r>
              <a:rPr lang="fr-FR" sz="18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polychromatophilie</a:t>
            </a: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(Signe de jeunesse).</a:t>
            </a:r>
          </a:p>
          <a:p>
            <a:pPr marL="342900" lvl="0" indent="-342900">
              <a:lnSpc>
                <a:spcPct val="100000"/>
              </a:lnSpc>
              <a:spcBef>
                <a:spcPts val="110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Réticulocyte &gt; 120 OOO/mm</a:t>
            </a:r>
            <a:r>
              <a:rPr lang="fr-FR" sz="1800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endParaRPr lang="fr-FR" sz="18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135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Moelle osseuse (érythroblastose)</a:t>
            </a:r>
          </a:p>
          <a:p>
            <a:pPr>
              <a:lnSpc>
                <a:spcPct val="120000"/>
              </a:lnSpc>
            </a:pPr>
            <a:endParaRPr lang="fr-F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EAB4AB50-6F3E-4617-9E79-CC24F4FB793F}"/>
              </a:ext>
            </a:extLst>
          </p:cNvPr>
          <p:cNvSpPr txBox="1"/>
          <p:nvPr/>
        </p:nvSpPr>
        <p:spPr>
          <a:xfrm>
            <a:off x="2729551" y="244309"/>
            <a:ext cx="760180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lvl="0" algn="ctr" rtl="0">
              <a:lnSpc>
                <a:spcPct val="100000"/>
              </a:lnSpc>
            </a:pPr>
            <a:r>
              <a:rPr lang="fr-FR" sz="36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Tableau d’hémolyse intra vasculaire :</a:t>
            </a:r>
          </a:p>
        </p:txBody>
      </p:sp>
    </p:spTree>
    <p:extLst>
      <p:ext uri="{BB962C8B-B14F-4D97-AF65-F5344CB8AC3E}">
        <p14:creationId xmlns:p14="http://schemas.microsoft.com/office/powerpoint/2010/main" val="137503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némie hémolytique auto-immune">
            <a:extLst>
              <a:ext uri="{FF2B5EF4-FFF2-40B4-BE49-F238E27FC236}">
                <a16:creationId xmlns:a16="http://schemas.microsoft.com/office/drawing/2014/main" xmlns="" id="{BFB4132D-559C-FF4C-09EA-997E2A7AC7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54" y="288758"/>
            <a:ext cx="10732168" cy="614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222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3A0DBC0E-9664-46B0-BA4D-7D1203003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7DC72589-9CC0-480E-9980-58D8E7F7C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1506" name="Picture 2" descr="PPT - ANEMIES HEMOLYTIQUES PowerPoint Presentation, free download -  ID:3989731">
            <a:extLst>
              <a:ext uri="{FF2B5EF4-FFF2-40B4-BE49-F238E27FC236}">
                <a16:creationId xmlns:a16="http://schemas.microsoft.com/office/drawing/2014/main" xmlns="" id="{B91BD53C-668B-451D-BF29-6F5381586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4" y="318836"/>
            <a:ext cx="11177516" cy="622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010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771BFC83-8747-4540-BCC3-F0093847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AD8A5392-D8B2-4910-9DB9-82DCF84F6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89784FCC-1487-47A6-99D3-948665CE2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067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6F4FA3CF-90BD-4C33-9CBB-C6EF7585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568"/>
            <a:ext cx="10515600" cy="870117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 D’HEMOLYSE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3D18D13B-26E6-4F8A-BCCF-8137AF0FD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1235242"/>
            <a:ext cx="11193379" cy="5406189"/>
          </a:xfrm>
        </p:spPr>
        <p:txBody>
          <a:bodyPr numCol="3" spcCol="900000">
            <a:normAutofit lnSpcReduction="10000"/>
          </a:bodyPr>
          <a:lstStyle/>
          <a:p>
            <a:pPr marL="0" indent="0" algn="ctr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CLINIQUE 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Triade hémolytique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PCM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Ictère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SPM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HEMOGRAMME </a:t>
            </a:r>
          </a:p>
          <a:p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 régénérative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Taux de </a:t>
            </a:r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Rétic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 120 000 </a:t>
            </a:r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élt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/mm3</a:t>
            </a:r>
          </a:p>
          <a:p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FROTTIS SANGUIN </a:t>
            </a:r>
          </a:p>
          <a:p>
            <a:pPr marL="0" indent="0">
              <a:buNone/>
            </a:pP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signe de régénération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Macrocytose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polychromatophilie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838" indent="0">
              <a:buNone/>
              <a:tabLst>
                <a:tab pos="176213" algn="l"/>
              </a:tabLst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Myélémie    Erythroblastose</a:t>
            </a:r>
          </a:p>
          <a:p>
            <a:pPr marL="0" indent="0">
              <a:buNone/>
            </a:pPr>
            <a:endParaRPr lang="fr-FR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BIOCHIMIE :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LDH élevé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élevé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 sérique élevé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Haptoglobine basse 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ETIOLOGIE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Interrogatoire</a:t>
            </a:r>
          </a:p>
          <a:p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 étiologique</a:t>
            </a:r>
          </a:p>
          <a:p>
            <a:r>
              <a:rPr lang="fr-FR" sz="24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E.Hb</a:t>
            </a: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TCD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enser ou réfléchir ? Telle est la question !">
            <a:extLst>
              <a:ext uri="{FF2B5EF4-FFF2-40B4-BE49-F238E27FC236}">
                <a16:creationId xmlns:a16="http://schemas.microsoft.com/office/drawing/2014/main" xmlns="" id="{0F788C94-AC0E-4115-8570-6752775E7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803" y="866274"/>
            <a:ext cx="2916144" cy="256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723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xmlns="" id="{5052D33E-6F3B-4DEB-A714-AF0EA6CE6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764" y="1816464"/>
            <a:ext cx="4450467" cy="3225061"/>
          </a:xfrm>
          <a:prstGeom prst="rect">
            <a:avLst/>
          </a:prstGeom>
          <a:noFill/>
          <a:ln cap="rnd">
            <a:noFill/>
          </a:ln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78915597-0D42-4225-9891-0F88D9627B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12191996" cy="6858000"/>
          </a:xfrm>
        </p:spPr>
        <p:txBody>
          <a:bodyPr/>
          <a:lstStyle/>
          <a:p>
            <a:pPr lvl="0" algn="ctr"/>
            <a:r>
              <a:rPr lang="fr-FR" sz="4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ANEMIES HEMOLYTIQUES </a:t>
            </a:r>
          </a:p>
          <a:p>
            <a:pPr lvl="0" algn="ctr"/>
            <a:r>
              <a:rPr lang="fr-FR" sz="4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ACQUISES</a:t>
            </a: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  <a:p>
            <a:pPr lvl="0" algn="ctr"/>
            <a:endParaRPr lang="fr-FR" sz="48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F822F33-9061-4901-978B-B149C77D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5853"/>
            <a:ext cx="10515600" cy="5471110"/>
          </a:xfrm>
        </p:spPr>
        <p:txBody>
          <a:bodyPr/>
          <a:lstStyle/>
          <a:p>
            <a:pPr marL="0" indent="0" algn="ctr">
              <a:buNone/>
            </a:pPr>
            <a:r>
              <a:rPr lang="fr-FR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ANEMIE HEMOLYTIQUE ACQUISE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TCD +                                                                                         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TCD -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IMMUNOLOGIQUE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</a:t>
            </a: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fr-FR" sz="3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IMMUNOLOGIQUE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xmlns="" id="{2771377F-E7A7-4C80-A584-818AE02317B0}"/>
              </a:ext>
            </a:extLst>
          </p:cNvPr>
          <p:cNvCxnSpPr/>
          <p:nvPr/>
        </p:nvCxnSpPr>
        <p:spPr>
          <a:xfrm flipH="1">
            <a:off x="3465095" y="1475872"/>
            <a:ext cx="1379621" cy="162025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xmlns="" id="{D486F0E3-16FB-4DE0-AC7C-C8E014A38BA8}"/>
              </a:ext>
            </a:extLst>
          </p:cNvPr>
          <p:cNvCxnSpPr>
            <a:cxnSpLocks/>
          </p:cNvCxnSpPr>
          <p:nvPr/>
        </p:nvCxnSpPr>
        <p:spPr>
          <a:xfrm>
            <a:off x="6769768" y="1427747"/>
            <a:ext cx="2967790" cy="3288632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26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xmlns="" id="{BEA00785-0BD1-47AD-AF05-404359D880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" y="999511"/>
            <a:ext cx="12191996" cy="6858000"/>
          </a:xfrm>
        </p:spPr>
        <p:txBody>
          <a:bodyPr/>
          <a:lstStyle/>
          <a:p>
            <a:pPr marL="514350" indent="-514350" fontAlgn="base">
              <a:buAutoNum type="arabicPeriod"/>
            </a:pP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  <a:p>
            <a:pPr marL="514350" indent="-514350" fontAlgn="base">
              <a:buAutoNum type="arabicPeriod"/>
            </a:pPr>
            <a:endParaRPr lang="fr-FR" sz="3200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  AH liées à </a:t>
            </a:r>
            <a:r>
              <a:rPr lang="fr-FR" sz="2400" b="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 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d’Auto-</a:t>
            </a:r>
            <a:r>
              <a:rPr lang="fr-FR" sz="2400" b="1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dirigés </a:t>
            </a:r>
          </a:p>
          <a:p>
            <a:pPr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contre un Ag de la surface des GR</a:t>
            </a:r>
          </a:p>
          <a:p>
            <a:pPr algn="l" fontAlgn="base"/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2900" indent="-342900" algn="l" fontAlgn="base">
              <a:buFontTx/>
              <a:buChar char="-"/>
            </a:pP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GR recouverts d’Ac sont « sensibilisés » </a:t>
            </a:r>
          </a:p>
          <a:p>
            <a:pPr marL="342900" indent="-342900" algn="l" fontAlgn="base">
              <a:buFontTx/>
              <a:buChar char="-"/>
            </a:pPr>
            <a:endParaRPr lang="fr-FR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 fontAlgn="base">
              <a:buFontTx/>
              <a:buChar char="-"/>
            </a:pP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GR ont </a:t>
            </a:r>
            <a:r>
              <a:rPr lang="fr-FR" sz="24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durée de vie raccourcie.</a:t>
            </a:r>
          </a:p>
          <a:p>
            <a:pPr marL="342900" indent="-342900" algn="l" fontAlgn="base">
              <a:buFontTx/>
              <a:buChar char="-"/>
            </a:pPr>
            <a:endParaRPr lang="fr-FR" sz="2400" b="1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 Ce sont </a:t>
            </a: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plus fréquentes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 AH acquises </a:t>
            </a:r>
          </a:p>
          <a:p>
            <a:pPr algn="l" fontAlgn="base"/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d’origine </a:t>
            </a:r>
            <a:r>
              <a:rPr lang="fr-FR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 corpusculaires</a:t>
            </a:r>
          </a:p>
          <a:p>
            <a:pPr algn="l" fontAlgn="base"/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Anémie hémolytique auto-immune">
            <a:extLst>
              <a:ext uri="{FF2B5EF4-FFF2-40B4-BE49-F238E27FC236}">
                <a16:creationId xmlns:a16="http://schemas.microsoft.com/office/drawing/2014/main" xmlns="" id="{4624BAC2-A06F-47B0-8D40-AB8630520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979" y="1812758"/>
            <a:ext cx="5165557" cy="470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30412BEC-F64F-451A-A779-B7390FA63D11}"/>
              </a:ext>
            </a:extLst>
          </p:cNvPr>
          <p:cNvSpPr txBox="1"/>
          <p:nvPr/>
        </p:nvSpPr>
        <p:spPr>
          <a:xfrm>
            <a:off x="2149642" y="224589"/>
            <a:ext cx="8678779" cy="52225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ANÉMIES HÉMOLYTIQUES IMMUNOLOGIQUES</a:t>
            </a: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A947F42-FFD9-41AA-9623-343AB8CB9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Wingdings" panose="05000000000000000000" pitchFamily="2" charset="2"/>
              <a:buChar char="Ø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 immunisation : post transfusion , grossesse </a:t>
            </a:r>
          </a:p>
          <a:p>
            <a:pPr algn="l" fontAlgn="base">
              <a:buFont typeface="Wingdings" panose="05000000000000000000" pitchFamily="2" charset="2"/>
              <a:buChar char="Ø"/>
            </a:pPr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Immun- allergique : médicaments</a:t>
            </a:r>
          </a:p>
          <a:p>
            <a:pPr algn="l" fontAlgn="base">
              <a:buFont typeface="Wingdings" panose="05000000000000000000" pitchFamily="2" charset="2"/>
              <a:buChar char="Ø"/>
            </a:pPr>
            <a:endParaRPr lang="fr-FR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 typeface="Wingdings" panose="05000000000000000000" pitchFamily="2" charset="2"/>
              <a:buChar char="Ø"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 immune : AHAI </a:t>
            </a:r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(TCD)</a:t>
            </a:r>
          </a:p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2F967620-8507-4598-825C-A141707974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5684" y="766777"/>
            <a:ext cx="9188116" cy="52225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ANÉMIES HÉMOLYTIQUES IMMUNOLOGIQUES</a:t>
            </a:r>
            <a:endParaRPr lang="fr-FR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690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CFCD015-10F0-4688-A753-1C9DFCA1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37" y="124495"/>
            <a:ext cx="6657473" cy="950328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AHAI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61C114C-5E14-4035-AE86-CE357502D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2"/>
            <a:ext cx="10515600" cy="5558588"/>
          </a:xfrm>
        </p:spPr>
        <p:txBody>
          <a:bodyPr numCol="2" spcCol="1080000">
            <a:normAutofit/>
          </a:bodyPr>
          <a:lstStyle/>
          <a:p>
            <a:pPr algn="l" fontAlgn="base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selon l’optimum thermique d’action de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l’Ac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pPr algn="l" fontAlgn="base"/>
            <a:endParaRPr lang="fr-FR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à </a:t>
            </a:r>
            <a:r>
              <a:rPr lang="fr-FR" b="1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chauds : 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optimum d’action à 37°C, souvent IgG, fixant ou non le complément ; </a:t>
            </a:r>
          </a:p>
          <a:p>
            <a:pPr marL="0" indent="0" algn="l" fontAlgn="base"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70 % des cas,</a:t>
            </a:r>
          </a:p>
          <a:p>
            <a:pPr marL="0" indent="0" algn="l" fontAlgn="base">
              <a:buNone/>
            </a:pPr>
            <a:endParaRPr lang="fr-FR" b="1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AH à </a:t>
            </a:r>
            <a:r>
              <a:rPr lang="fr-FR" b="1" i="0" dirty="0" err="1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 : 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optimum thermique à 22°C ou plus bas, souvent IgM, parfois IgG ; </a:t>
            </a:r>
          </a:p>
          <a:p>
            <a:pPr marL="0" indent="0" algn="l" fontAlgn="base">
              <a:buNone/>
            </a:pP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30 % des cas.</a:t>
            </a:r>
            <a:endParaRPr lang="fr-FR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 selon l’origine :</a:t>
            </a:r>
          </a:p>
          <a:p>
            <a:pPr marL="0" indent="0" algn="l" fontAlgn="base">
              <a:buNone/>
            </a:pPr>
            <a:endParaRPr lang="fr-FR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AHAI primitives </a:t>
            </a:r>
            <a:r>
              <a:rPr lang="fr-FR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cause inconnue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50% des cas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 fontAlgn="base"/>
            <a:endParaRPr lang="fr-FR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AHAI secondaires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 algn="l" fontAlgn="base">
              <a:buNone/>
            </a:pP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associées à une maladie sous-jacente à rechercher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50 % des cas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275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9CA1CDE-8506-418F-BE3A-2DF78A32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74738"/>
            <a:ext cx="5658853" cy="759452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 à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 </a:t>
            </a:r>
            <a:r>
              <a:rPr lang="fr-FR" b="1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chauds</a:t>
            </a:r>
            <a:endParaRPr lang="fr-FR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53F1170D-A4BD-857D-AB62-5FF0D5A29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6" y="1825625"/>
            <a:ext cx="11293642" cy="4351338"/>
          </a:xfrm>
        </p:spPr>
        <p:txBody>
          <a:bodyPr>
            <a:normAutofit fontScale="92500" lnSpcReduction="20000"/>
          </a:bodyPr>
          <a:lstStyle/>
          <a:p>
            <a:pPr marL="1171575" indent="0" algn="l" fontAlgn="base"/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70% des AHAI </a:t>
            </a:r>
          </a:p>
          <a:p>
            <a:pPr marL="1171575" indent="0" algn="l" fontAlgn="base"/>
            <a:endParaRPr lang="fr-FR" sz="2800" b="1" i="0" dirty="0">
              <a:solidFill>
                <a:srgbClr val="00B05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1575" indent="0"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Tableau d’hémolyse chronique intra tissulaire : </a:t>
            </a:r>
          </a:p>
          <a:p>
            <a:pPr marL="1171575" indent="0" algn="l" fontAlgn="base">
              <a:buNone/>
            </a:pPr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triade hémolytique + bilan d’hémolyse positif</a:t>
            </a:r>
          </a:p>
          <a:p>
            <a:pPr marL="1171575" indent="0" algn="l" fontAlgn="base">
              <a:buNone/>
            </a:pPr>
            <a:endParaRPr lang="fr-FR" sz="2800" b="1" i="0" dirty="0">
              <a:solidFill>
                <a:srgbClr val="00B05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1575" indent="0"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Température de fixation optimale des 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37°C.</a:t>
            </a:r>
          </a:p>
          <a:p>
            <a:pPr marL="1171575" indent="0" algn="l" fontAlgn="base"/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1575" indent="0" algn="l" fontAlgn="base"/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Test de Coombs direct positif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IgG seul ou mixte (G+C’).</a:t>
            </a:r>
          </a:p>
          <a:p>
            <a:pPr marL="1171575" indent="0" algn="l" fontAlgn="base"/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1575" indent="0" algn="l" fontAlgn="base"/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Idiopathiques dans 50 %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 cas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1446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99CA1CDE-8506-418F-BE3A-2DF78A32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74738"/>
            <a:ext cx="5658853" cy="759452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 à 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 </a:t>
            </a:r>
            <a:r>
              <a:rPr lang="fr-FR" b="1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chauds</a:t>
            </a:r>
            <a:endParaRPr lang="fr-FR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8362299C-09FE-4DB8-3935-BCC3D2994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1171074"/>
            <a:ext cx="11678653" cy="5261810"/>
          </a:xfrm>
        </p:spPr>
        <p:txBody>
          <a:bodyPr>
            <a:normAutofit/>
          </a:bodyPr>
          <a:lstStyle/>
          <a:p>
            <a:pPr marL="352425" indent="-352425" algn="ctr" fontAlgn="base"/>
            <a:r>
              <a:rPr lang="fr-FR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Les maladies à rechercher </a:t>
            </a:r>
            <a:r>
              <a:rPr lang="fr-FR" sz="28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52425" indent="-352425" algn="l" fontAlgn="base">
              <a:buNone/>
            </a:pPr>
            <a:r>
              <a:rPr lang="fr-F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Maladies auto-immunes, </a:t>
            </a:r>
          </a:p>
          <a:p>
            <a:pPr marL="352425" indent="-352425" algn="l" fontAlgn="base">
              <a:buNone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Hémopathie lymphoïde, </a:t>
            </a:r>
          </a:p>
          <a:p>
            <a:pPr marL="352425" indent="-352425" algn="l" fontAlgn="base">
              <a:buNone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Infection virale</a:t>
            </a:r>
          </a:p>
          <a:p>
            <a:pPr algn="l" fontAlgn="base">
              <a:buFontTx/>
              <a:buChar char="-"/>
            </a:pP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Médicaments :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AINS, sulfamides, ceftriaxone, 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l’alpha méthyl dopa (</a:t>
            </a:r>
            <a:r>
              <a:rPr lang="fr-FR" sz="2800" b="1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Aldomet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)+++</a:t>
            </a:r>
          </a:p>
          <a:p>
            <a:pPr algn="l" fontAlgn="base">
              <a:buFontTx/>
              <a:buChar char="-"/>
            </a:pPr>
            <a:endParaRPr lang="fr-FR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r>
              <a:rPr lang="fr-FR" sz="28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TRAITEMENT :</a:t>
            </a:r>
          </a:p>
          <a:p>
            <a:pPr algn="l" fontAlgn="base"/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Traitement de la maladie causale.</a:t>
            </a:r>
          </a:p>
          <a:p>
            <a:pPr algn="l" fontAlgn="base"/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Traitement de fond : </a:t>
            </a:r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corticothérapie</a:t>
            </a:r>
            <a:endParaRPr lang="fr-FR" sz="2800" b="0" i="0" dirty="0">
              <a:solidFill>
                <a:srgbClr val="00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buFontTx/>
              <a:buChar char="-"/>
            </a:pPr>
            <a:endParaRPr lang="fr-FR" sz="2800" b="1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416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xmlns="" id="{CD91D018-F3F3-4976-9447-0730E38B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32" y="74737"/>
            <a:ext cx="10587789" cy="855705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à auto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7E4E8A23-6E29-9D94-7538-126A82AF7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Optimum thermique bas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(cependant parfois jusque 30 °C)</a:t>
            </a:r>
          </a:p>
          <a:p>
            <a:pPr algn="l" fontAlgn="base"/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Hémolyse déclenchée à une température inférieure à 30°C 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intra vasculaire ou non.</a:t>
            </a:r>
          </a:p>
          <a:p>
            <a:pPr algn="l" fontAlgn="base"/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Idiopathiques: 50 % des cas</a:t>
            </a:r>
            <a:r>
              <a:rPr lang="fr-FR" sz="28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3303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xmlns="" id="{CD91D018-F3F3-4976-9447-0730E38B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32" y="74737"/>
            <a:ext cx="10587789" cy="855705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à auto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57C94F60-A766-37BB-803C-4880364EE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 fontAlgn="base">
              <a:buNone/>
            </a:pPr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Deux types de maladies à rechercher:</a:t>
            </a:r>
          </a:p>
          <a:p>
            <a:pPr marL="0" indent="0" algn="ctr" fontAlgn="base">
              <a:buNone/>
            </a:pPr>
            <a:endParaRPr lang="fr-FR" sz="32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Infection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Sérologies 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Mycoplasme, VIH, VHC, EBV, CMV,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PCR EBV</a:t>
            </a:r>
          </a:p>
          <a:p>
            <a:pPr algn="l" fontAlgn="base"/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Hémopathie lymphoïde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28425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xmlns="" id="{CD91D018-F3F3-4976-9447-0730E38B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32" y="74737"/>
            <a:ext cx="10587789" cy="855705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à auto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FAA3E54A-7B2C-F788-5A25-55D2CABE3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fontAlgn="base"/>
            <a:r>
              <a:rPr lang="fr-FR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Les AHAI post-infectieuses </a:t>
            </a:r>
          </a:p>
          <a:p>
            <a:pPr marL="0" indent="0" algn="ctr" fontAlgn="base">
              <a:buNone/>
            </a:pPr>
            <a:r>
              <a:rPr lang="fr-FR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aiguës, transitoires</a:t>
            </a:r>
          </a:p>
          <a:p>
            <a:pPr algn="ctr" fontAlgn="base"/>
            <a:endParaRPr lang="fr-FR" sz="2800" b="1" i="0" u="sng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1/3 des AHAI à 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</a:t>
            </a:r>
          </a:p>
          <a:p>
            <a:pPr algn="l" fontAlgn="base"/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Plus </a:t>
            </a:r>
            <a:r>
              <a:rPr lang="fr-FR" sz="2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fréq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chez 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l’enfant</a:t>
            </a:r>
          </a:p>
          <a:p>
            <a:pPr algn="l" fontAlgn="base"/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Mycoplasma </a:t>
            </a:r>
            <a:r>
              <a:rPr lang="fr-FR" sz="2800" b="1" i="0" dirty="0" err="1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pneumoniae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7601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xmlns="" id="{CD91D018-F3F3-4976-9447-0730E38B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32" y="74737"/>
            <a:ext cx="10587789" cy="855705"/>
          </a:xfr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à auto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froids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FAA3E54A-7B2C-F788-5A25-55D2CABE3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1411705"/>
            <a:ext cx="11309684" cy="5371558"/>
          </a:xfrm>
        </p:spPr>
        <p:txBody>
          <a:bodyPr>
            <a:normAutofit fontScale="92500" lnSpcReduction="10000"/>
          </a:bodyPr>
          <a:lstStyle/>
          <a:p>
            <a:pPr marL="0" indent="0" algn="ctr" fontAlgn="base">
              <a:buNone/>
            </a:pPr>
            <a:r>
              <a:rPr lang="fr-FR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Formes chroniques </a:t>
            </a:r>
          </a:p>
          <a:p>
            <a:pPr marL="0" indent="0" algn="ctr" fontAlgn="base">
              <a:buNone/>
            </a:pPr>
            <a:r>
              <a:rPr lang="fr-FR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et maladie des agglutinines froides</a:t>
            </a:r>
          </a:p>
          <a:p>
            <a:pPr marL="0" indent="0" algn="ctr" fontAlgn="base">
              <a:buNone/>
            </a:pPr>
            <a:endParaRPr lang="fr-FR" sz="2800" b="1" i="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IgM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 monoclonale</a:t>
            </a:r>
          </a:p>
          <a:p>
            <a:pPr algn="l" fontAlgn="base"/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après 55 ans</a:t>
            </a:r>
          </a:p>
          <a:p>
            <a:pPr algn="l" fontAlgn="base"/>
            <a:endParaRPr lang="fr-FR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manifestations cliniques : </a:t>
            </a:r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syndrome de Raynaud et acrocyanose au froid, hémolyse.</a:t>
            </a:r>
          </a:p>
          <a:p>
            <a:pPr algn="l" fontAlgn="base"/>
            <a:endParaRPr lang="fr-FR" sz="2800" b="1" i="0" dirty="0">
              <a:solidFill>
                <a:srgbClr val="00B05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 de traitement spécifique ( traitement de la cause si possible )</a:t>
            </a:r>
          </a:p>
          <a:p>
            <a:pPr algn="l" fontAlgn="base"/>
            <a:r>
              <a:rPr lang="fr-FR" sz="2800" b="1" i="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Limiter l’exposition au froid.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6891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2">
            <a:extLst>
              <a:ext uri="{FF2B5EF4-FFF2-40B4-BE49-F238E27FC236}">
                <a16:creationId xmlns:a16="http://schemas.microsoft.com/office/drawing/2014/main" xmlns="" id="{715DE2F6-A3A9-472D-9A87-8836FABBC18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2295" y="1604210"/>
            <a:ext cx="11518232" cy="4676273"/>
          </a:xfrm>
        </p:spPr>
        <p:txBody>
          <a:bodyPr>
            <a:normAutofit/>
          </a:bodyPr>
          <a:lstStyle/>
          <a:p>
            <a:pPr marL="685800" lvl="0" algn="l">
              <a:lnSpc>
                <a:spcPct val="107000"/>
              </a:lnSpc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AH extra corpusculaires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secondaires à la 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destruction prématurée </a:t>
            </a:r>
          </a:p>
          <a:p>
            <a:pPr marL="685800" lvl="0" algn="l">
              <a:lnSpc>
                <a:spcPct val="107000"/>
              </a:lnSpc>
            </a:pP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 GR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 ailleurs normaux par 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 agression extérieure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à ceux-ci.</a:t>
            </a:r>
            <a:endParaRPr lang="fr-FR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Hémolyse :</a:t>
            </a:r>
            <a:endParaRPr lang="fr-FR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soit chronique = triade </a:t>
            </a:r>
            <a:r>
              <a:rPr lang="fr-FR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d’hémolyse</a:t>
            </a:r>
            <a:endParaRPr lang="fr-FR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soit aiguë</a:t>
            </a:r>
            <a:r>
              <a:rPr lang="fr-FR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hémolyse intravasculaire = une urgence médicale.</a:t>
            </a:r>
            <a:endParaRPr lang="fr-FR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/>
            <a:endParaRPr lang="fr-FR" sz="32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fr-FR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contexte doit être précisé impérativement +++</a:t>
            </a:r>
          </a:p>
          <a:p>
            <a:pPr lvl="0"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C40A4FE3-23FB-4C6F-8714-FF4D200F85C1}"/>
              </a:ext>
            </a:extLst>
          </p:cNvPr>
          <p:cNvSpPr txBox="1"/>
          <p:nvPr/>
        </p:nvSpPr>
        <p:spPr>
          <a:xfrm>
            <a:off x="1572126" y="368969"/>
            <a:ext cx="9448800" cy="645113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Anémies hémolytiques non immunologiques 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D21D432A-36D6-422F-9BF6-51F0F295937B}"/>
              </a:ext>
            </a:extLst>
          </p:cNvPr>
          <p:cNvSpPr txBox="1"/>
          <p:nvPr/>
        </p:nvSpPr>
        <p:spPr>
          <a:xfrm>
            <a:off x="2671009" y="1166910"/>
            <a:ext cx="6849979" cy="52322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indent="0" algn="ctr" fontAlgn="base">
              <a:buNone/>
            </a:pPr>
            <a:r>
              <a:rPr lang="fr-FR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ÉTIOLOGIQUE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F313CF12-1FA1-D10D-CA43-230D9CE573FB}"/>
              </a:ext>
            </a:extLst>
          </p:cNvPr>
          <p:cNvSpPr txBox="1"/>
          <p:nvPr/>
        </p:nvSpPr>
        <p:spPr>
          <a:xfrm>
            <a:off x="1122947" y="2123000"/>
            <a:ext cx="10764253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FR" sz="2800" b="1" i="0" cap="all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1, CAUSES INFECTIEUSES</a:t>
            </a:r>
            <a:r>
              <a:rPr lang="fr-FR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endParaRPr lang="fr-FR" sz="24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endParaRPr lang="fr-FR" sz="24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800" b="1" i="0" cap="all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2. CAUSES TOXIQUES </a:t>
            </a:r>
            <a:r>
              <a:rPr lang="fr-FR" sz="2800" b="1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CHIMIQUES ET MÉDICAMENTEUSES</a:t>
            </a:r>
          </a:p>
          <a:p>
            <a:pPr marL="0" indent="0" algn="l" fontAlgn="base">
              <a:buNone/>
            </a:pPr>
            <a:endParaRPr lang="fr-FR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800" b="1" i="0" cap="all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3. CAUSES PHYSIQUES</a:t>
            </a:r>
            <a:endParaRPr lang="fr-FR" sz="2800" b="0" i="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endParaRPr lang="fr-FR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fr-FR" sz="2800" b="1" i="0" cap="all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fr-FR" sz="2800" b="1" cap="all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mécaniques</a:t>
            </a:r>
          </a:p>
          <a:p>
            <a:pPr marL="0" indent="0" algn="l" fontAlgn="base">
              <a:buNone/>
            </a:pPr>
            <a:r>
              <a:rPr lang="fr-FR" sz="2800" b="1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SITUATIONS LIÉES À UNE FRAGMENTATION DES HÉMATIES</a:t>
            </a:r>
            <a:r>
              <a:rPr lang="fr-FR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88657EE1-D000-70D8-4D3A-BC6D843D6721}"/>
              </a:ext>
            </a:extLst>
          </p:cNvPr>
          <p:cNvSpPr txBox="1"/>
          <p:nvPr/>
        </p:nvSpPr>
        <p:spPr>
          <a:xfrm>
            <a:off x="713871" y="242680"/>
            <a:ext cx="10764253" cy="64511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Anémies hémolytiques acquise non immunologiques :</a:t>
            </a:r>
          </a:p>
        </p:txBody>
      </p:sp>
    </p:spTree>
    <p:extLst>
      <p:ext uri="{BB962C8B-B14F-4D97-AF65-F5344CB8AC3E}">
        <p14:creationId xmlns:p14="http://schemas.microsoft.com/office/powerpoint/2010/main" val="22515885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D21D432A-36D6-422F-9BF6-51F0F295937B}"/>
              </a:ext>
            </a:extLst>
          </p:cNvPr>
          <p:cNvSpPr txBox="1"/>
          <p:nvPr/>
        </p:nvSpPr>
        <p:spPr>
          <a:xfrm>
            <a:off x="2887578" y="96253"/>
            <a:ext cx="6849979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indent="0" algn="ctr" fontAlgn="base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ÉTIOLOGIQUE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5B0D4436-9217-5588-31D0-DB814DB70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 fontAlgn="base">
              <a:buAutoNum type="arabicPeriod"/>
            </a:pPr>
            <a:r>
              <a:rPr lang="fr-FR" sz="3200" b="1" i="0" cap="all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CAUSES INFECTIEUSES</a:t>
            </a:r>
            <a:r>
              <a:rPr lang="fr-FR" sz="32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fr-FR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l" fontAlgn="base">
              <a:buNone/>
            </a:pPr>
            <a:r>
              <a:rPr lang="fr-FR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parasitaire – bactérienne - virales </a:t>
            </a:r>
          </a:p>
          <a:p>
            <a:pPr marL="0" indent="0" algn="l" fontAlgn="base">
              <a:buNone/>
            </a:pPr>
            <a:r>
              <a:rPr lang="fr-FR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Paludisme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Infection à </a:t>
            </a:r>
            <a:r>
              <a:rPr lang="fr-FR" sz="280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Bartonella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Trypanosomiase (maladie du sommeil ; Afrique) - Leishmaniose viscérale  - Septicémie à Clostridium perfringens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Infections virales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CMV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582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D21D432A-36D6-422F-9BF6-51F0F295937B}"/>
              </a:ext>
            </a:extLst>
          </p:cNvPr>
          <p:cNvSpPr txBox="1"/>
          <p:nvPr/>
        </p:nvSpPr>
        <p:spPr>
          <a:xfrm>
            <a:off x="2887578" y="96253"/>
            <a:ext cx="6849979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indent="0" algn="ctr" fontAlgn="base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ÉTIOLOGIQUE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1B3F7B10-54BD-D9DE-6B00-7CFF89D51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1825625"/>
            <a:ext cx="11806989" cy="4351338"/>
          </a:xfrm>
        </p:spPr>
        <p:txBody>
          <a:bodyPr/>
          <a:lstStyle/>
          <a:p>
            <a:pPr marL="0" indent="0" algn="l" fontAlgn="base">
              <a:buNone/>
            </a:pPr>
            <a:r>
              <a:rPr lang="fr-FR" sz="3200" b="1" i="0" cap="all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fr-FR" b="1" i="0" cap="all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CAUSES TOXIQUES </a:t>
            </a:r>
            <a:r>
              <a:rPr lang="fr-FR" b="1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CHIMIQUES ET MÉDICAMENTEUSES</a:t>
            </a:r>
            <a:endParaRPr lang="fr-FR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 lipolytique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saponine</a:t>
            </a:r>
            <a:r>
              <a:rPr lang="fr-FR" sz="32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benzène,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toluène</a:t>
            </a:r>
          </a:p>
          <a:p>
            <a:pPr marL="0" indent="0" algn="l" fontAlgn="base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agents oxydants</a:t>
            </a: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 sulfones, la phénacétine, le cisplatine, 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 produits toxiques 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(phénol, naphtaline des boules à mites, chlorates, nitrates, colorants à base d’aniline)                 </a:t>
            </a:r>
          </a:p>
          <a:p>
            <a:pPr marL="0" indent="0" algn="l" fontAlgn="base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intoxication par le plomb 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peintures, batteries au plomb 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inhalation de vapeurs)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  </a:t>
            </a: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 fontAlgn="base">
              <a:buNone/>
            </a:pPr>
            <a:r>
              <a:rPr lang="fr-FR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inhalation d’hydrogène arsénié</a:t>
            </a:r>
            <a:r>
              <a:rPr lang="fr-FR" sz="2800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16516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D21D432A-36D6-422F-9BF6-51F0F295937B}"/>
              </a:ext>
            </a:extLst>
          </p:cNvPr>
          <p:cNvSpPr txBox="1"/>
          <p:nvPr/>
        </p:nvSpPr>
        <p:spPr>
          <a:xfrm>
            <a:off x="2887578" y="96253"/>
            <a:ext cx="6849979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indent="0" algn="ctr" fontAlgn="base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ÉTIOLOGIQUE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81DAB2BB-23A7-3F4A-0871-AC334E452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fontAlgn="base">
              <a:buNone/>
            </a:pPr>
            <a:r>
              <a:rPr lang="fr-FR" sz="2800" b="1" i="0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2800" b="1" i="0" cap="all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CAUSES PHYSIQUES</a:t>
            </a:r>
          </a:p>
          <a:p>
            <a:pPr marL="0" indent="0" algn="l" fontAlgn="base">
              <a:buNone/>
            </a:pPr>
            <a:endParaRPr lang="fr-FR" sz="2800" b="0" i="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 </a:t>
            </a:r>
            <a:r>
              <a:rPr lang="fr-FR" sz="28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brûlures étendues</a:t>
            </a:r>
          </a:p>
          <a:p>
            <a:pPr marL="0" indent="0" algn="l" fontAlgn="base">
              <a:buNone/>
            </a:pP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gelures majeures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6169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D21D432A-36D6-422F-9BF6-51F0F295937B}"/>
              </a:ext>
            </a:extLst>
          </p:cNvPr>
          <p:cNvSpPr txBox="1"/>
          <p:nvPr/>
        </p:nvSpPr>
        <p:spPr>
          <a:xfrm>
            <a:off x="2887578" y="96253"/>
            <a:ext cx="6849979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marL="0" indent="0" algn="ctr" fontAlgn="base">
              <a:buNone/>
            </a:pPr>
            <a:r>
              <a:rPr lang="fr-FR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ÉTIOLOGIQUE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xmlns="" id="{358F40F4-EB07-7EEC-5DD1-463A50FC9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825625"/>
            <a:ext cx="11197390" cy="4351338"/>
          </a:xfrm>
        </p:spPr>
        <p:txBody>
          <a:bodyPr/>
          <a:lstStyle/>
          <a:p>
            <a:pPr marL="0" indent="0" fontAlgn="base">
              <a:buNone/>
            </a:pPr>
            <a:r>
              <a:rPr lang="fr-FR" b="1" i="0" cap="al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CAUSES </a:t>
            </a:r>
            <a:r>
              <a:rPr lang="fr-FR" b="1" cap="all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mécaniques</a:t>
            </a:r>
          </a:p>
          <a:p>
            <a:pPr marL="0" indent="0" fontAlgn="base">
              <a:buNone/>
            </a:pPr>
            <a:endParaRPr lang="fr-FR" b="1" cap="all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b="1" i="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SITUATIONS LIÉES À UNE FRAGMENTATION DES HÉMATIES</a:t>
            </a: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pPr marL="0" indent="0" algn="l" fontAlgn="base">
              <a:buNone/>
            </a:pPr>
            <a:r>
              <a:rPr lang="fr-FR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l" fontAlgn="base">
              <a:buNone/>
            </a:pP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L’hémolyse est ici liée à la rupture directe des hématies par choc sur un obstacle, produisant des schizocytes.</a:t>
            </a:r>
            <a:endParaRPr lang="fr-FR" sz="2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buNone/>
            </a:pP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4.1. Maladies du cœur : 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prothèses valvulaires, maladies des valves </a:t>
            </a:r>
            <a:r>
              <a:rPr lang="fr-FR" sz="24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cardiaques,Altération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gros vaisseaux  </a:t>
            </a:r>
          </a:p>
          <a:p>
            <a:pPr marL="0" indent="0" algn="l" fontAlgn="base">
              <a:buNone/>
            </a:pPr>
            <a:r>
              <a:rPr lang="fr-FR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4.2. Microangiopathies thrombotiques (MAT).</a:t>
            </a:r>
            <a:r>
              <a:rPr lang="fr-FR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73217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4E412D63-8935-4743-B260-C9833D35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1825625"/>
            <a:ext cx="10635916" cy="4351338"/>
          </a:xfrm>
        </p:spPr>
        <p:txBody>
          <a:bodyPr>
            <a:normAutofit fontScale="77500" lnSpcReduction="20000"/>
          </a:bodyPr>
          <a:lstStyle/>
          <a:p>
            <a:pPr algn="l" fontAlgn="base">
              <a:lnSpc>
                <a:spcPct val="170000"/>
              </a:lnSpc>
            </a:pPr>
            <a:r>
              <a:rPr lang="fr-FR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Maladie clonale rare de la cellule souche hématopoïétique </a:t>
            </a:r>
          </a:p>
          <a:p>
            <a:pPr algn="l" fontAlgn="base">
              <a:lnSpc>
                <a:spcPct val="170000"/>
              </a:lnSpc>
            </a:pPr>
            <a:r>
              <a:rPr lang="fr-FR" sz="3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liée à une mutation somatique acquise du gène PIG-A, provoquant la perte d'ancrage de diverses molécules de la surface cellulaire</a:t>
            </a:r>
          </a:p>
          <a:p>
            <a:pPr algn="l" fontAlgn="base">
              <a:lnSpc>
                <a:spcPct val="170000"/>
              </a:lnSpc>
            </a:pPr>
            <a:r>
              <a:rPr lang="fr-FR" sz="3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de DAF ou CD55 et/ou MIRL ou CD 59</a:t>
            </a:r>
          </a:p>
          <a:p>
            <a:pPr algn="l" fontAlgn="base">
              <a:lnSpc>
                <a:spcPct val="170000"/>
              </a:lnSpc>
            </a:pPr>
            <a:r>
              <a:rPr lang="fr-FR" sz="3600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 complément s’active et devient hémolysant</a:t>
            </a:r>
          </a:p>
          <a:p>
            <a:pPr algn="l" fontAlgn="base">
              <a:lnSpc>
                <a:spcPct val="170000"/>
              </a:lnSpc>
            </a:pPr>
            <a:endParaRPr lang="fr-FR" sz="3600" b="1" i="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2F75CF1C-0299-4629-AD50-F3CC65E47EB3}"/>
              </a:ext>
            </a:extLst>
          </p:cNvPr>
          <p:cNvSpPr txBox="1"/>
          <p:nvPr/>
        </p:nvSpPr>
        <p:spPr>
          <a:xfrm>
            <a:off x="2951748" y="203983"/>
            <a:ext cx="7748336" cy="107721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l" fontAlgn="base"/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Hémoglobinurie Nocturne Paroxystique (HNP; maladie de </a:t>
            </a:r>
            <a:r>
              <a:rPr lang="fr-FR" sz="3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Marchiafawa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fr-FR" sz="3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Micheli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21448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D21D31E7-77C1-0969-197E-373353314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1825625"/>
            <a:ext cx="11694695" cy="4351338"/>
          </a:xfrm>
        </p:spPr>
        <p:txBody>
          <a:bodyPr/>
          <a:lstStyle/>
          <a:p>
            <a:pPr algn="l" fontAlgn="base">
              <a:lnSpc>
                <a:spcPct val="170000"/>
              </a:lnSpc>
            </a:pPr>
            <a:r>
              <a:rPr lang="fr-F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Deux formes cliniques :</a:t>
            </a:r>
          </a:p>
          <a:p>
            <a:pPr marL="0" indent="0" algn="l" fontAlgn="base">
              <a:lnSpc>
                <a:spcPct val="170000"/>
              </a:lnSpc>
              <a:buNone/>
            </a:pP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1- Forme classique 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(3/4 des pts) : maladie 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hémolytique et/ ou </a:t>
            </a:r>
            <a:r>
              <a:rPr lang="fr-FR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thrombosante</a:t>
            </a:r>
            <a:r>
              <a:rPr lang="fr-FR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« de novo »,</a:t>
            </a:r>
          </a:p>
          <a:p>
            <a:pPr marL="0" indent="0" algn="l" fontAlgn="base">
              <a:lnSpc>
                <a:spcPct val="170000"/>
              </a:lnSpc>
              <a:buNone/>
            </a:pPr>
            <a:r>
              <a:rPr lang="fr-FR" b="1" i="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2- Forme aplasique </a:t>
            </a:r>
            <a:r>
              <a:rPr lang="fr-F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(1/4 des pts) : dans les suites d’une aplasie médullaire.</a:t>
            </a:r>
          </a:p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E413A625-C9E0-9CAD-1B1C-84FD0177E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38542"/>
            <a:ext cx="10515600" cy="978729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 fontAlgn="base"/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Hémoglobinurie Nocturne Paroxystique </a:t>
            </a:r>
            <a:b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(HNP; maladie de </a:t>
            </a:r>
            <a:r>
              <a:rPr lang="fr-FR" sz="3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Marchiafawa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fr-FR" sz="3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Micheli</a:t>
            </a:r>
            <a:r>
              <a:rPr lang="fr-FR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00499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xmlns="" id="{6610A9F6-BAD7-429B-8A2F-14BA7C0B9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fr-FR" dirty="0"/>
              <a:t>Merci pour votre attention 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sidahmedhematologie@gmail.com</a:t>
            </a:r>
          </a:p>
        </p:txBody>
      </p:sp>
      <p:pic>
        <p:nvPicPr>
          <p:cNvPr id="7170" name="Picture 2" descr="Pharmacie De La Nationale - Conseil du mois: La fatigue">
            <a:extLst>
              <a:ext uri="{FF2B5EF4-FFF2-40B4-BE49-F238E27FC236}">
                <a16:creationId xmlns:a16="http://schemas.microsoft.com/office/drawing/2014/main" xmlns="" id="{45202D54-11AA-4F05-9158-55F1F2E8E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884" y="2354178"/>
            <a:ext cx="5137484" cy="273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terview Questions You Should Ask – KaydaCode">
            <a:extLst>
              <a:ext uri="{FF2B5EF4-FFF2-40B4-BE49-F238E27FC236}">
                <a16:creationId xmlns:a16="http://schemas.microsoft.com/office/drawing/2014/main" xmlns="" id="{D8BD48CE-9A98-4C5F-A213-F1B3E2744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81" y="2620169"/>
            <a:ext cx="5137483" cy="273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5345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504</Words>
  <Application>Microsoft Office PowerPoint</Application>
  <PresentationFormat>Grand écran</PresentationFormat>
  <Paragraphs>345</Paragraphs>
  <Slides>43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Symbol</vt:lpstr>
      <vt:lpstr>Times New Roman</vt:lpstr>
      <vt:lpstr>Wingdings</vt:lpstr>
      <vt:lpstr>Thème Office</vt:lpstr>
      <vt:lpstr>HEMOLYSE ANEMIES HEMOLYTIQUES  ACQUISES                               cours de 4 éme année médecine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HEMOLYSE</vt:lpstr>
      <vt:lpstr>Présentation PowerPoint</vt:lpstr>
      <vt:lpstr>   L’HÉMOLYSE PATHOLOGIQUE amplifie l’un ou l’autre de ces 2 mécanismes ( intra tissulaire ou intra vasculaire ) :  = durée de vie raccourcie = Cette hémolyse excessive est habituellement accompagnée d’une régénération médullaire  =  augmentation du nombre des réticulocytes dans le sang. </vt:lpstr>
      <vt:lpstr>Mécanisme de l’hémolyse physiologique 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BILAN D’HEMOLYSE</vt:lpstr>
      <vt:lpstr>Présentation PowerPoint</vt:lpstr>
      <vt:lpstr>Présentation PowerPoint</vt:lpstr>
      <vt:lpstr>Présentation PowerPoint</vt:lpstr>
      <vt:lpstr>ANÉMIES HÉMOLYTIQUES IMMUNOLOGIQUES</vt:lpstr>
      <vt:lpstr>CLASSIFICATION : AHAI</vt:lpstr>
      <vt:lpstr>AH  à auto Ac chauds</vt:lpstr>
      <vt:lpstr>AH  à auto Ac chauds</vt:lpstr>
      <vt:lpstr>AH à auto Ac froids</vt:lpstr>
      <vt:lpstr>AH à auto Ac froids</vt:lpstr>
      <vt:lpstr>AH à auto Ac froids</vt:lpstr>
      <vt:lpstr>AH à auto Ac froids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Hémoglobinurie Nocturne Paroxystique  (HNP; maladie de Marchiafawa – Micheli)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sid ahmed mohamed</dc:creator>
  <cp:lastModifiedBy>ISSER TECH</cp:lastModifiedBy>
  <cp:revision>21</cp:revision>
  <dcterms:created xsi:type="dcterms:W3CDTF">2022-11-08T17:56:38Z</dcterms:created>
  <dcterms:modified xsi:type="dcterms:W3CDTF">2026-06-10T10:47:16Z</dcterms:modified>
</cp:coreProperties>
</file>