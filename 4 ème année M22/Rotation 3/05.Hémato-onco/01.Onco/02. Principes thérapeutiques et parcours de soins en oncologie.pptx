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type="screen4x3" cy="6858000" cx="9144000"/>
  <p:notesSz cx="6858000" cy="9144000"/>
  <p:defaultTextStyle>
    <a:defPPr>
      <a:defRPr lang="fr-FR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34559" autoAdjust="0"/>
    <p:restoredTop sz="86477" autoAdjust="0"/>
  </p:normalViewPr>
  <p:slideViewPr>
    <p:cSldViewPr>
      <p:cViewPr varScale="1">
        <p:scale>
          <a:sx n="63" d="100"/>
          <a:sy n="63" d="100"/>
        </p:scale>
        <p:origin x="-136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63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tableStyles" Target="tableStyle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1048701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ACFE7E9A-9E71-4E6A-B2AE-2F1DE7688597}" type="datetimeFigureOut">
              <a:rPr lang="fr-FR" smtClean="0"/>
              <a:t>22/11/2025</a:t>
            </a:fld>
            <a:endParaRPr lang="fr-FR"/>
          </a:p>
        </p:txBody>
      </p:sp>
      <p:sp>
        <p:nvSpPr>
          <p:cNvPr id="1048702" name="Espace réservé de l'image des diapositives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fr-FR"/>
          </a:p>
        </p:txBody>
      </p:sp>
      <p:sp>
        <p:nvSpPr>
          <p:cNvPr id="1048703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704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1048705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A8006282-B454-49C5-BAA9-80AA620652E3}" type="slidenum">
              <a:rPr lang="fr-FR" smtClean="0"/>
              <a:t>‹N°›</a:t>
            </a:fld>
            <a:endParaRPr lang="fr-FR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Espace réservé de l’image des diapositives 1"/>
          <p:cNvSpPr>
            <a:spLocks noChangeAspect="1" noRot="1" noGrp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5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rtlCol="0" wrap="square">
            <a:prstTxWarp prst="textNoShape"/>
          </a:bodyPr>
          <a:p>
            <a:pPr eaLnBrk="1" hangingPunct="1" rtl="0">
              <a:spcBef>
                <a:spcPct val="0"/>
              </a:spcBef>
            </a:pPr>
            <a:endParaRPr altLang="en-US" dirty="0" lang="fr-FR"/>
          </a:p>
        </p:txBody>
      </p:sp>
      <p:sp>
        <p:nvSpPr>
          <p:cNvPr id="10485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 anchorCtr="0" compatLnSpc="1" numCol="1" rtlCol="0" wrap="square">
            <a:prstTxWarp prst="textNoShape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 marL="7429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 marL="11430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 marL="1600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 marL="20574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303196-5C5A-034D-9764-0B38F38D2FD5}" type="slidenum">
              <a:rPr altLang="en-US" lang="fr-FR" smtClean="0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altLang="en-US" dirty="0"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Diapositive de titre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48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104864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50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5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re et contenu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594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59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9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9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Titre de section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7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4867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Deux contenus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78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79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80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81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82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aison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84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48685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86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48687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88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89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90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re seul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5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5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5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Vide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92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93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u avec légende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95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96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4869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98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99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Image avec légende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62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fr-FR"/>
          </a:p>
        </p:txBody>
      </p:sp>
      <p:sp>
        <p:nvSpPr>
          <p:cNvPr id="1048663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48664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65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66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re et texte vertical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68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6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0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Titre vertical et texte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657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58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59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6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de diapositive de titre 1">
    <p:bg>
      <p:bgPr>
        <a:blipFill rotWithShape="0" dpi="0">
          <a:blip xmlns:r="http://schemas.openxmlformats.org/officeDocument/2006/relationships" r:embed="rId1"/>
          <a:srcRect/>
          <a:stretch>
            <a:fillRect/>
          </a:stretch>
        </a:blip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3"/>
          <p:cNvSpPr/>
          <p:nvPr userDrawn="1"/>
        </p:nvSpPr>
        <p:spPr>
          <a:xfrm>
            <a:off x="0" y="0"/>
            <a:ext cx="9144000" cy="6858000"/>
          </a:xfrm>
          <a:prstGeom prst="rect"/>
          <a:gradFill flip="none" rotWithShape="1">
            <a:gsLst>
              <a:gs pos="0">
                <a:schemeClr val="accent5">
                  <a:alpha val="73000"/>
                </a:schemeClr>
              </a:gs>
              <a:gs pos="100000">
                <a:schemeClr val="accent5">
                  <a:lumMod val="50000"/>
                  <a:alpha val="8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fr-FR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82" name="Ovale 4"/>
          <p:cNvSpPr/>
          <p:nvPr userDrawn="1"/>
        </p:nvSpPr>
        <p:spPr>
          <a:xfrm>
            <a:off x="2513410" y="700089"/>
            <a:ext cx="4117181" cy="5457825"/>
          </a:xfrm>
          <a:prstGeom prst="ellipse"/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fr-FR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e 8"/>
          <p:cNvGrpSpPr/>
          <p:nvPr userDrawn="1"/>
        </p:nvGrpSpPr>
        <p:grpSpPr>
          <a:xfrm>
            <a:off x="4277361" y="3346450"/>
            <a:ext cx="589280" cy="192088"/>
            <a:chOff x="5696373" y="3346450"/>
            <a:chExt cx="785707" cy="192088"/>
          </a:xfrm>
        </p:grpSpPr>
        <p:sp>
          <p:nvSpPr>
            <p:cNvPr id="1048583" name="Ovale 5"/>
            <p:cNvSpPr/>
            <p:nvPr userDrawn="1"/>
          </p:nvSpPr>
          <p:spPr>
            <a:xfrm>
              <a:off x="5994135" y="3346450"/>
              <a:ext cx="191030" cy="192088"/>
            </a:xfrm>
            <a:prstGeom prst="ellipse"/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fr-FR">
                <a:solidFill>
                  <a:prstClr val="white"/>
                </a:solidFill>
              </a:endParaRPr>
            </a:p>
          </p:txBody>
        </p:sp>
        <p:sp>
          <p:nvSpPr>
            <p:cNvPr id="1048584" name="Ovale 6"/>
            <p:cNvSpPr/>
            <p:nvPr userDrawn="1"/>
          </p:nvSpPr>
          <p:spPr>
            <a:xfrm>
              <a:off x="6288088" y="3346450"/>
              <a:ext cx="193992" cy="192088"/>
            </a:xfrm>
            <a:prstGeom prst="ellipse"/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fr-FR">
                <a:solidFill>
                  <a:prstClr val="white"/>
                </a:solidFill>
              </a:endParaRPr>
            </a:p>
          </p:txBody>
        </p:sp>
        <p:sp>
          <p:nvSpPr>
            <p:cNvPr id="1048585" name="Ovale 7"/>
            <p:cNvSpPr/>
            <p:nvPr userDrawn="1"/>
          </p:nvSpPr>
          <p:spPr>
            <a:xfrm>
              <a:off x="5696373" y="3346450"/>
              <a:ext cx="194840" cy="192088"/>
            </a:xfrm>
            <a:prstGeom prst="ellipse"/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fr-FR">
                <a:solidFill>
                  <a:prstClr val="white"/>
                </a:solidFill>
              </a:endParaRPr>
            </a:p>
          </p:txBody>
        </p:sp>
      </p:grpSp>
      <p:sp>
        <p:nvSpPr>
          <p:cNvPr id="1048586" name="Titre 1"/>
          <p:cNvSpPr>
            <a:spLocks noGrp="1"/>
          </p:cNvSpPr>
          <p:nvPr>
            <p:ph type="ctrTitle" hasCustomPrompt="1"/>
          </p:nvPr>
        </p:nvSpPr>
        <p:spPr>
          <a:xfrm>
            <a:off x="3071855" y="1675328"/>
            <a:ext cx="3000291" cy="1332242"/>
          </a:xfrm>
        </p:spPr>
        <p:txBody>
          <a:bodyPr rtlCol="0">
            <a:noAutofit/>
          </a:bodyPr>
          <a:lstStyle>
            <a:lvl1pPr algn="ctr">
              <a:defRPr b="0" sz="42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modifier le style du titre du masque</a:t>
            </a:r>
            <a:endParaRPr dirty="0" lang="fr-FR"/>
          </a:p>
        </p:txBody>
      </p:sp>
      <p:sp>
        <p:nvSpPr>
          <p:cNvPr id="1048587" name="Sous-titre 2"/>
          <p:cNvSpPr>
            <a:spLocks noGrp="1"/>
          </p:cNvSpPr>
          <p:nvPr>
            <p:ph type="subTitle" idx="1"/>
          </p:nvPr>
        </p:nvSpPr>
        <p:spPr>
          <a:xfrm>
            <a:off x="2772355" y="3862276"/>
            <a:ext cx="3572787" cy="709724"/>
          </a:xfrm>
        </p:spPr>
        <p:txBody>
          <a:bodyPr anchor="ctr" rtlCol="0">
            <a:noAutofit/>
          </a:bodyPr>
          <a:lstStyle>
            <a:lvl1pPr algn="ctr" indent="0" marL="0">
              <a:buNone/>
              <a:defRPr sz="2200" i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pPr rtl="0"/>
            <a:r>
              <a:rPr lang="fr-FR"/>
              <a:t>Modifiez le style des sous-titres du masque</a:t>
            </a:r>
            <a:endParaRPr dirty="0" lang="fr-FR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104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1" grpId="0" animBg="1"/>
      <p:bldP spid="1048582" grpId="0" animBg="1"/>
    </p:bldLst>
  </p:timing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FCD0F-455C-46BB-99A3-D9EF9BDD1286}" type="datetimeFigureOut">
              <a:rPr lang="fr-FR">
                <a:solidFill>
                  <a:prstClr val="black">
                    <a:tint val="75000"/>
                  </a:prstClr>
                </a:solidFill>
              </a:rPr>
              <a:t>22/11/2025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5BD5F-8145-4EA5-8010-C7C1235F31D1}" type="slidenum">
              <a:rPr lang="fr-FR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1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re 2"/>
          <p:cNvSpPr>
            <a:spLocks noGrp="1" noChangeArrowheads="1"/>
          </p:cNvSpPr>
          <p:nvPr>
            <p:ph type="ctrTitle"/>
          </p:nvPr>
        </p:nvSpPr>
        <p:spPr>
          <a:xfrm>
            <a:off x="2693194" y="1789856"/>
            <a:ext cx="3737372" cy="2191617"/>
          </a:xfrm>
        </p:spPr>
        <p:txBody>
          <a:bodyPr rtlCol="0"/>
          <a:p>
            <a:pPr eaLnBrk="1" hangingPunct="1" rtl="0"/>
            <a:r>
              <a:rPr b="1" dirty="0" i="1" lang="fr-FR">
                <a:solidFill>
                  <a:schemeClr val="accent5">
                    <a:lumMod val="40000"/>
                    <a:lumOff val="60000"/>
                  </a:schemeClr>
                </a:solidFill>
              </a:rPr>
              <a:t>Principes thérapeutiques et parcours de soins en oncologie</a:t>
            </a:r>
          </a:p>
        </p:txBody>
      </p:sp>
      <p:sp>
        <p:nvSpPr>
          <p:cNvPr id="1048589" name="Sous-titre 3"/>
          <p:cNvSpPr>
            <a:spLocks noGrp="1" noChangeArrowheads="1"/>
          </p:cNvSpPr>
          <p:nvPr>
            <p:ph type="subTitle" idx="1"/>
          </p:nvPr>
        </p:nvSpPr>
        <p:spPr>
          <a:xfrm>
            <a:off x="2693194" y="4451928"/>
            <a:ext cx="3737372" cy="819439"/>
          </a:xfrm>
        </p:spPr>
        <p:txBody>
          <a:bodyPr rtlCol="0"/>
          <a:p>
            <a:pPr eaLnBrk="1" hangingPunct="1" rtl="0"/>
            <a:r>
              <a:rPr altLang="en-US" b="1" sz="2800" lang="fr-FR" smtClean="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ea typeface="Glegoo" pitchFamily="2" charset="0"/>
                <a:cs typeface="Glegoo" pitchFamily="2" charset="0"/>
              </a:rPr>
              <a:t>Dr MEGUELLATI H </a:t>
            </a:r>
            <a:endParaRPr altLang="en-US" b="1" dirty="0" sz="2800" lang="fr-FR"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  <a:ea typeface="Glegoo" pitchFamily="2" charset="0"/>
              <a:cs typeface="Glegoo" pitchFamily="2" charset="0"/>
            </a:endParaRPr>
          </a:p>
          <a:p>
            <a:pPr eaLnBrk="1" hangingPunct="1" rtl="0"/>
            <a:r>
              <a:rPr altLang="en-US" b="1" dirty="0" sz="2800" lang="fr-FR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ea typeface="Glegoo" pitchFamily="2" charset="0"/>
                <a:cs typeface="Glegoo" pitchFamily="2" charset="0"/>
              </a:rPr>
              <a:t>Pr BENSALEM.A</a:t>
            </a:r>
          </a:p>
        </p:txBody>
      </p:sp>
      <p:pic>
        <p:nvPicPr>
          <p:cNvPr id="2097152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4053" y="176686"/>
            <a:ext cx="1444877" cy="1359526"/>
          </a:xfrm>
          <a:prstGeom prst="rect"/>
        </p:spPr>
      </p:pic>
      <p:pic>
        <p:nvPicPr>
          <p:cNvPr id="2097153" name="Imag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99123" y="176686"/>
            <a:ext cx="1444877" cy="1359526"/>
          </a:xfrm>
          <a:prstGeom prst="rect"/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/>
              <a:t>Objectifs du cours </a:t>
            </a:r>
            <a:endParaRPr dirty="0" lang="fr-FR"/>
          </a:p>
        </p:txBody>
      </p:sp>
      <p:sp>
        <p:nvSpPr>
          <p:cNvPr id="1048599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Comprendre les principes thérapeutiques en oncologie </a:t>
            </a:r>
          </a:p>
          <a:p>
            <a:r>
              <a:rPr dirty="0" lang="fr-FR" smtClean="0"/>
              <a:t>Connaitre les différentes modalités de traitement</a:t>
            </a:r>
          </a:p>
          <a:p>
            <a:r>
              <a:rPr dirty="0" lang="fr-FR" smtClean="0"/>
              <a:t>Identifier le parcours de soin d'un patient</a:t>
            </a:r>
            <a:endParaRPr dirty="0"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Introduction 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01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L'oncologie est une branche de médecine qui </a:t>
            </a:r>
            <a:r>
              <a:rPr dirty="0" lang="fr-FR" smtClean="0"/>
              <a:t>étudie , </a:t>
            </a:r>
            <a:r>
              <a:rPr dirty="0" lang="fr-FR" smtClean="0"/>
              <a:t>prévient et traite les cancers .</a:t>
            </a:r>
          </a:p>
          <a:p>
            <a:r>
              <a:rPr dirty="0" lang="fr-FR" smtClean="0"/>
              <a:t>Le traitement d’un cancer peut faire appel à plusieurs modalités thérapeutiques, isolément, simultanément ou successivement</a:t>
            </a:r>
          </a:p>
          <a:p>
            <a:endParaRPr dirty="0" lang="fr-FR" smtClean="0"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</a:endParaRP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800" lang="fr-FR" smtClean="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la </a:t>
            </a:r>
            <a:r>
              <a:rPr dirty="0" sz="2800" lang="fr-FR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décision thérapeutique ne peut donc reposer que sur une concertation multidisciplinaire. </a:t>
            </a:r>
          </a:p>
          <a:p>
            <a:endParaRPr dirty="0" lang="fr-FR" smtClean="0"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</a:endParaRPr>
          </a:p>
          <a:p>
            <a:endParaRPr dirty="0"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fr-FR" smtClean="0">
                <a:solidFill>
                  <a:srgbClr val="FF0000"/>
                </a:solidFill>
              </a:rPr>
              <a:t>Le parcours en </a:t>
            </a:r>
            <a:r>
              <a:rPr dirty="0" lang="fr-FR" smtClean="0">
                <a:solidFill>
                  <a:srgbClr val="FF0000"/>
                </a:solidFill>
              </a:rPr>
              <a:t>oncologie</a:t>
            </a:r>
            <a:endParaRPr dirty="0" lang="fr-FR"/>
          </a:p>
        </p:txBody>
      </p:sp>
      <p:sp>
        <p:nvSpPr>
          <p:cNvPr id="104860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sz="2400" lang="fr-FR" smtClean="0"/>
              <a:t>1. LE TEMPS D’ANNONCE DE LA SUSPICION DE CANCER</a:t>
            </a:r>
          </a:p>
          <a:p>
            <a:r>
              <a:rPr dirty="0" sz="2400" lang="fr-FR" smtClean="0">
                <a:latin typeface="Verdana"/>
                <a:cs typeface="Arial" panose="020B0604020202020204" pitchFamily="34" charset="0"/>
              </a:rPr>
              <a:t>2-Le temps d’annonce de la confirmation du diagnostic ( certitude = anatomopathologie)</a:t>
            </a:r>
          </a:p>
          <a:p>
            <a:r>
              <a:rPr dirty="0" sz="2800" lang="fr-FR" smtClean="0"/>
              <a:t>3. Le temps dédié à la proposition thérapeutique</a:t>
            </a:r>
          </a:p>
          <a:p>
            <a:r>
              <a:rPr dirty="0" sz="2800" lang="fr-FR" smtClean="0"/>
              <a:t>4. Le temps d’accompagnement soignant paramédical</a:t>
            </a:r>
          </a:p>
          <a:p>
            <a:r>
              <a:rPr dirty="0" sz="2800" lang="fr-FR" smtClean="0"/>
              <a:t>5. La consultation de synthèse</a:t>
            </a:r>
          </a:p>
          <a:p>
            <a:endParaRPr dirty="0" sz="2800"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89038"/>
          </a:xfrm>
        </p:spPr>
        <p:txBody>
          <a:bodyPr>
            <a:normAutofit fontScale="92857"/>
          </a:bodyPr>
          <a:p>
            <a:pPr lvl="0" marL="640080">
              <a:spcBef>
                <a:spcPts val="250"/>
              </a:spcBef>
            </a:pPr>
            <a:r>
              <a:rPr dirty="0" sz="2800" lang="fr-FR">
                <a:solidFill>
                  <a:srgbClr val="FF0000"/>
                </a:solidFill>
                <a:latin typeface="Verdana"/>
                <a:cs typeface="Arial" panose="020B0604020202020204" pitchFamily="34" charset="0"/>
              </a:rPr>
              <a:t>La Réunion de Concertation Pluridisciplinaire (RCP)</a:t>
            </a:r>
            <a:r>
              <a:rPr b="1" dirty="0" sz="2800" i="1" lang="fr-FR">
                <a:solidFill>
                  <a:srgbClr val="FF0000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Verdana"/>
                <a:cs typeface="Arial" panose="020B0604020202020204" pitchFamily="34" charset="0"/>
              </a:rPr>
              <a:t/>
            </a:r>
            <a:br>
              <a:rPr b="1" dirty="0" sz="2800" i="1" lang="fr-FR">
                <a:solidFill>
                  <a:srgbClr val="FF0000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Verdana"/>
                <a:cs typeface="Arial" panose="020B0604020202020204" pitchFamily="34" charset="0"/>
              </a:rPr>
            </a:b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05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buFont typeface="Wingdings" panose="05000000000000000000" pitchFamily="2" charset="2"/>
              <a:buChar char="q"/>
            </a:pPr>
            <a:r>
              <a:rPr dirty="0" lang="fr-FR" smtClean="0"/>
              <a:t>Le dossier de chaque patient est présenté devant une équipe médicale pluridisciplinaire constituée d’au moins 3 spécialités  différentes lors d’une RCP.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lang="fr-FR" smtClean="0"/>
              <a:t>Cette réunion permet d’émettre la proposition de traitement la plus adaptée à chaque patient. Cette proposition se base sur les recommandations de bonne pratique et sur la situation personnelle du patient. </a:t>
            </a:r>
          </a:p>
          <a:p>
            <a:endParaRPr dirty="0"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</p:spPr>
        <p:txBody>
          <a:bodyPr>
            <a:normAutofit fontScale="90000"/>
          </a:bodyPr>
          <a:p>
            <a:r>
              <a:rPr dirty="0" lang="fr-FR" smtClean="0">
                <a:solidFill>
                  <a:srgbClr val="FF0000"/>
                </a:solidFill>
              </a:rPr>
              <a:t>Le Programme Personnalisé de Soins (PPS)</a:t>
            </a:r>
            <a:r>
              <a:rPr b="1" dirty="0" i="1" lang="fr-FR" smtClean="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b="1" dirty="0" i="1" lang="fr-FR" smtClean="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</a:br>
            <a:endParaRPr dirty="0" lang="fr-FR"/>
          </a:p>
        </p:txBody>
      </p:sp>
      <p:sp>
        <p:nvSpPr>
          <p:cNvPr id="1048607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400" lang="fr-FR">
                <a:latin typeface="Calibri" panose="020F0502020204030204" pitchFamily="34" charset="0"/>
              </a:rPr>
              <a:t>Établi lors de la RCP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400" lang="fr-FR">
                <a:latin typeface="Calibri" panose="020F0502020204030204" pitchFamily="34" charset="0"/>
              </a:rPr>
              <a:t>le PPS permet de formaliser la proposition de prise en charge thérapeutique du patient. Il décrit </a:t>
            </a:r>
            <a:r>
              <a:rPr dirty="0" sz="2400" lang="fr-FR" smtClean="0">
                <a:latin typeface="Calibri" panose="020F0502020204030204" pitchFamily="34" charset="0"/>
              </a:rPr>
              <a:t>la décision </a:t>
            </a:r>
            <a:r>
              <a:rPr dirty="0" sz="2400" lang="fr-FR">
                <a:latin typeface="Calibri" panose="020F0502020204030204" pitchFamily="34" charset="0"/>
              </a:rPr>
              <a:t>de traitement proposé et la chaîne de soins mise en place autour du patient.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400" lang="fr-FR">
                <a:latin typeface="Calibri" panose="020F0502020204030204" pitchFamily="34" charset="0"/>
              </a:rPr>
              <a:t> Il n’est ni définitif, ni irrévocable et peut être modifié à tout moment selon la manière dont le patient réagit aux différents traitements et selon l’évolution de la maladie.</a:t>
            </a:r>
          </a:p>
          <a:p>
            <a:endParaRPr dirty="0"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 lang="fr-FR" smtClean="0">
                <a:solidFill>
                  <a:srgbClr val="FF0000"/>
                </a:solidFill>
              </a:rPr>
              <a:t>Les principes </a:t>
            </a:r>
            <a:r>
              <a:rPr dirty="0" lang="fr-FR" smtClean="0">
                <a:solidFill>
                  <a:srgbClr val="FF0000"/>
                </a:solidFill>
              </a:rPr>
              <a:t>thérapeutiques </a:t>
            </a:r>
            <a:r>
              <a:rPr dirty="0" lang="fr-FR" smtClean="0">
                <a:solidFill>
                  <a:srgbClr val="FF0000"/>
                </a:solidFill>
              </a:rPr>
              <a:t>en oncologie 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09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lvl="0"/>
            <a:r>
              <a:rPr dirty="0" lang="fr-FR" smtClean="0"/>
              <a:t>Chirurgie </a:t>
            </a:r>
            <a:r>
              <a:rPr dirty="0" lang="fr-FR" smtClean="0">
                <a:solidFill>
                  <a:prstClr val="black"/>
                </a:solidFill>
              </a:rPr>
              <a:t> </a:t>
            </a:r>
            <a:endParaRPr dirty="0" lang="fr-FR">
              <a:solidFill>
                <a:prstClr val="black"/>
              </a:solidFill>
            </a:endParaRPr>
          </a:p>
          <a:p>
            <a:pPr lvl="0"/>
            <a:r>
              <a:rPr dirty="0" lang="fr-FR" smtClean="0">
                <a:solidFill>
                  <a:prstClr val="black"/>
                </a:solidFill>
              </a:rPr>
              <a:t>Radiothérapie</a:t>
            </a:r>
            <a:endParaRPr dirty="0" lang="fr-FR" smtClean="0"/>
          </a:p>
          <a:p>
            <a:r>
              <a:rPr dirty="0" lang="fr-FR" smtClean="0"/>
              <a:t>Chimiothérapie </a:t>
            </a:r>
          </a:p>
          <a:p>
            <a:r>
              <a:rPr dirty="0" lang="fr-FR" smtClean="0"/>
              <a:t>Thérapie ciblée</a:t>
            </a:r>
          </a:p>
          <a:p>
            <a:r>
              <a:rPr dirty="0" lang="fr-FR" smtClean="0"/>
              <a:t>Hormonothérapie </a:t>
            </a:r>
          </a:p>
          <a:p>
            <a:r>
              <a:rPr dirty="0" lang="fr-FR" smtClean="0"/>
              <a:t>Immunothérapie </a:t>
            </a:r>
            <a:endParaRPr dirty="0"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La chirurgie 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11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p>
            <a:endParaRPr dirty="0" lang="fr-FR" smtClean="0"/>
          </a:p>
          <a:p>
            <a:r>
              <a:rPr dirty="0" sz="9600" lang="fr-FR" smtClean="0"/>
              <a:t>1 Chirurgie carcinologique</a:t>
            </a:r>
            <a:r>
              <a:rPr dirty="0" sz="6000" lang="fr-FR" smtClean="0"/>
              <a:t> </a:t>
            </a:r>
            <a:r>
              <a:rPr dirty="0" sz="6000" lang="fr-FR"/>
              <a:t>:</a:t>
            </a:r>
            <a:r>
              <a:rPr dirty="0" sz="6000" lang="fr-FR" smtClean="0"/>
              <a:t> traitement  curatif </a:t>
            </a:r>
          </a:p>
          <a:p>
            <a:pPr indent="0" marL="0">
              <a:buNone/>
            </a:pPr>
            <a:r>
              <a:rPr dirty="0" sz="6000" lang="fr-FR" smtClean="0"/>
              <a:t>(si marges respectées )</a:t>
            </a:r>
          </a:p>
          <a:p>
            <a:r>
              <a:rPr dirty="0" sz="11200" lang="fr-FR" smtClean="0"/>
              <a:t>2 Chirurgie pour diagnostic ou bilan d'extension,</a:t>
            </a:r>
          </a:p>
          <a:p>
            <a:r>
              <a:rPr dirty="0" sz="11200" lang="fr-FR" smtClean="0"/>
              <a:t>3 Chirurgie des métastases</a:t>
            </a:r>
          </a:p>
          <a:p>
            <a:r>
              <a:rPr dirty="0" sz="11200" lang="fr-FR" smtClean="0"/>
              <a:t> 4 Chirurgie de rattrapage </a:t>
            </a:r>
          </a:p>
          <a:p>
            <a:r>
              <a:rPr dirty="0" sz="11200" lang="fr-FR" smtClean="0"/>
              <a:t>5 Chirurgie de prévention  </a:t>
            </a:r>
            <a:r>
              <a:rPr dirty="0" sz="6000" lang="fr-FR" smtClean="0"/>
              <a:t>(si mutation brca1,2)</a:t>
            </a:r>
          </a:p>
          <a:p>
            <a:r>
              <a:rPr dirty="0" sz="9600" lang="fr-FR" smtClean="0"/>
              <a:t>6 LA CHIRURGIE DE RECONSTRUCTION</a:t>
            </a:r>
            <a:r>
              <a:rPr dirty="0" sz="6000" lang="fr-FR" smtClean="0"/>
              <a:t>( mammaire ou pour vessie par </a:t>
            </a:r>
            <a:r>
              <a:rPr dirty="0" sz="6000" lang="fr-FR" err="1" smtClean="0"/>
              <a:t>exple</a:t>
            </a:r>
            <a:r>
              <a:rPr dirty="0" sz="6000" lang="fr-FR" smtClean="0"/>
              <a:t>)</a:t>
            </a:r>
          </a:p>
          <a:p>
            <a:r>
              <a:rPr dirty="0" sz="9600" lang="fr-FR" smtClean="0"/>
              <a:t>7 LA CHIRURGIE PALLIATIVE</a:t>
            </a:r>
            <a:r>
              <a:rPr dirty="0" sz="6000" lang="fr-FR" smtClean="0"/>
              <a:t>( de propreté si sein métastatique infecte par </a:t>
            </a:r>
            <a:r>
              <a:rPr dirty="0" sz="6000" lang="fr-FR" err="1" smtClean="0"/>
              <a:t>exple</a:t>
            </a:r>
            <a:r>
              <a:rPr dirty="0" sz="6000" lang="fr-FR"/>
              <a:t>)</a:t>
            </a:r>
            <a:endParaRPr dirty="0" sz="6000" lang="fr-FR" smtClean="0"/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9600" lang="fr-FR" smtClean="0"/>
              <a:t>8 Le curage ganglionnaire </a:t>
            </a:r>
            <a:r>
              <a:rPr dirty="0" sz="6000" lang="fr-FR" smtClean="0"/>
              <a:t>(</a:t>
            </a:r>
            <a:r>
              <a:rPr b="1" dirty="0" sz="6000" i="1" lang="fr-FR" smtClean="0">
                <a:solidFill>
                  <a:srgbClr val="FFFFFF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–</a:t>
            </a:r>
            <a:r>
              <a:rPr dirty="0" sz="6000" i="1" lang="fr-FR" smtClean="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r>
              <a:rPr dirty="0" sz="6000" i="1" lang="fr-FR" u="sng">
                <a:latin typeface="Calibri" panose="020F0502020204030204" pitchFamily="34" charset="0"/>
              </a:rPr>
              <a:t>curage de nécessité  </a:t>
            </a:r>
            <a:r>
              <a:rPr dirty="0" sz="6000" i="1" lang="fr-FR">
                <a:latin typeface="Calibri" panose="020F0502020204030204" pitchFamily="34" charset="0"/>
              </a:rPr>
              <a:t>: il existe une </a:t>
            </a:r>
            <a:r>
              <a:rPr dirty="0" sz="6000" i="1" lang="fr-FR" u="sng">
                <a:latin typeface="Calibri" panose="020F0502020204030204" pitchFamily="34" charset="0"/>
              </a:rPr>
              <a:t>atteinte macroscopique </a:t>
            </a:r>
            <a:r>
              <a:rPr dirty="0" sz="6000" i="1" lang="fr-FR">
                <a:latin typeface="Calibri" panose="020F0502020204030204" pitchFamily="34" charset="0"/>
              </a:rPr>
              <a:t>prouvée qui justifie l’exérèse réglée des sites de drainage anatomique ;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6000" i="1" lang="fr-FR">
                <a:latin typeface="Calibri" panose="020F0502020204030204" pitchFamily="34" charset="0"/>
              </a:rPr>
              <a:t>– </a:t>
            </a:r>
            <a:r>
              <a:rPr dirty="0" sz="6000" i="1" lang="fr-FR" u="sng">
                <a:latin typeface="Calibri" panose="020F0502020204030204" pitchFamily="34" charset="0"/>
              </a:rPr>
              <a:t>curage de principe </a:t>
            </a:r>
            <a:r>
              <a:rPr dirty="0" sz="6000" i="1" lang="fr-FR">
                <a:latin typeface="Calibri" panose="020F0502020204030204" pitchFamily="34" charset="0"/>
              </a:rPr>
              <a:t>: il existe un </a:t>
            </a:r>
            <a:r>
              <a:rPr dirty="0" sz="6000" i="1" lang="fr-FR" u="sng">
                <a:latin typeface="Calibri" panose="020F0502020204030204" pitchFamily="34" charset="0"/>
              </a:rPr>
              <a:t>risque d’atteinte ganglionnaire </a:t>
            </a:r>
            <a:r>
              <a:rPr dirty="0" sz="6000" i="1" lang="fr-FR">
                <a:latin typeface="Calibri" panose="020F0502020204030204" pitchFamily="34" charset="0"/>
              </a:rPr>
              <a:t>qui incite à faire un curage réglé si celui-ci a une valeur thérapeutique ou si l’information obtenue peut être décisive pour le choix du traitement à suivre </a:t>
            </a:r>
            <a:r>
              <a:rPr dirty="0" sz="6000" i="1" lang="fr-FR" smtClean="0">
                <a:latin typeface="Calibri" panose="020F0502020204030204" pitchFamily="34" charset="0"/>
              </a:rPr>
              <a:t>)</a:t>
            </a:r>
            <a:endParaRPr dirty="0" sz="6000" i="1" lang="fr-FR">
              <a:latin typeface="Calibri" panose="020F0502020204030204" pitchFamily="34" charset="0"/>
            </a:endParaRPr>
          </a:p>
          <a:p>
            <a:endParaRPr dirty="0" sz="9600"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 lang="fr-FR" smtClean="0">
                <a:solidFill>
                  <a:srgbClr val="FF0000"/>
                </a:solidFill>
              </a:rPr>
              <a:t>QUALITE DE LA CHIRURGIE CARCINOLOGIQUE </a:t>
            </a:r>
            <a:endParaRPr dirty="0" lang="fr-FR">
              <a:solidFill>
                <a:srgbClr val="FF0000"/>
              </a:solidFill>
            </a:endParaRPr>
          </a:p>
        </p:txBody>
      </p:sp>
      <p:pic>
        <p:nvPicPr>
          <p:cNvPr id="2097154" name="Imag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1" y="1676400"/>
            <a:ext cx="8305800" cy="4343400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209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>
                <a:solidFill>
                  <a:srgbClr val="FF0000"/>
                </a:solidFill>
              </a:rPr>
              <a:t>La radiothérapie </a:t>
            </a:r>
          </a:p>
        </p:txBody>
      </p:sp>
      <p:sp>
        <p:nvSpPr>
          <p:cNvPr id="1048614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400" lang="fr-FR">
                <a:latin typeface="Calibri" panose="020F0502020204030204" pitchFamily="34" charset="0"/>
              </a:rPr>
              <a:t>Les radiations ionisantes sont des radiations capables de créer des ionisations dans la matière qu’elles traversent par « arrachement » d’électrons aux atomes des molécules du milieu.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400" lang="fr-FR">
                <a:latin typeface="Calibri" panose="020F0502020204030204" pitchFamily="34" charset="0"/>
              </a:rPr>
              <a:t> Les photons correspondent à des « grains » d’énergie sans masse, se déplaçant à la vitesse de la lumière et transportés par une onde électromagnétique.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400" lang="fr-FR">
                <a:latin typeface="Calibri" panose="020F0502020204030204" pitchFamily="34" charset="0"/>
              </a:rPr>
              <a:t>En radiothérapie, il s’agit de photons produits par des tubes à rayons X ou par des accélérateurs linéaires à usage médical. À énergie égale, photons gamma ou X ont des propriétés biologiques identiques : seuls les distinguent Leurs modes de production.</a:t>
            </a:r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dirty="0" sz="2400" lang="fr-FR">
                <a:latin typeface="Calibri" panose="020F0502020204030204" pitchFamily="34" charset="0"/>
              </a:rPr>
              <a:t>Les électrons correspondent à des particules élémentaires de matière chargée </a:t>
            </a:r>
            <a:r>
              <a:rPr dirty="0" sz="2400" lang="fr-FR" smtClean="0">
                <a:latin typeface="Calibri" panose="020F0502020204030204" pitchFamily="34" charset="0"/>
              </a:rPr>
              <a:t>négativement</a:t>
            </a:r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dirty="0" sz="2400" lang="fr-FR" smtClean="0">
                <a:solidFill>
                  <a:prstClr val="black"/>
                </a:solidFill>
                <a:latin typeface="Calibri" panose="020F0502020204030204" pitchFamily="34" charset="0"/>
              </a:rPr>
              <a:t>Le </a:t>
            </a:r>
            <a:r>
              <a:rPr dirty="0" sz="2400" lang="fr-FR">
                <a:solidFill>
                  <a:prstClr val="black"/>
                </a:solidFill>
                <a:latin typeface="Calibri" panose="020F0502020204030204" pitchFamily="34" charset="0"/>
              </a:rPr>
              <a:t>Gray (Gy) est l’unité de dose en radiothérapie. 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J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j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o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u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l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d'énergie 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par 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k</a:t>
            </a:r>
            <a:r>
              <a:rPr altLang="fr-FR" dirty="0" sz="2400" lang="en-US">
                <a:solidFill>
                  <a:prstClr val="black"/>
                </a:solidFill>
                <a:latin typeface="Calibri" panose="020F0502020204030204" pitchFamily="34" charset="0"/>
              </a:rPr>
              <a:t>g</a:t>
            </a:r>
            <a:endParaRPr altLang="en-US" lang="zh-CN"/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altLang="en-US" lang="zh-CN"/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dirty="0" sz="2000" lang="fr-FR" smtClean="0">
              <a:latin typeface="Calibri" panose="020F0502020204030204" pitchFamily="34" charset="0"/>
            </a:endParaRPr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dirty="0" sz="2000" lang="fr-FR">
              <a:latin typeface="Calibri" panose="020F0502020204030204" pitchFamily="34" charset="0"/>
            </a:endParaRPr>
          </a:p>
          <a:p>
            <a:endParaRPr dirty="0" sz="2000"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La radiothérapie 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16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lang="fr-FR" smtClean="0">
                <a:sym typeface="Wingdings"/>
              </a:rPr>
              <a:t></a:t>
            </a:r>
            <a:r>
              <a:rPr dirty="0" lang="fr-FR" smtClean="0"/>
              <a:t>La </a:t>
            </a:r>
            <a:r>
              <a:rPr dirty="0" lang="fr-FR" smtClean="0"/>
              <a:t>radiothérapie externe </a:t>
            </a:r>
            <a:r>
              <a:rPr dirty="0" sz="1800" lang="fr-FR">
                <a:latin typeface="Calibri" panose="020F0502020204030204" pitchFamily="34" charset="0"/>
              </a:rPr>
              <a:t>C’est la forme d’irradiation la plus utilisée. </a:t>
            </a:r>
            <a:r>
              <a:rPr dirty="0" sz="1800" lang="fr-FR" smtClean="0">
                <a:latin typeface="Calibri" panose="020F0502020204030204" pitchFamily="34" charset="0"/>
              </a:rPr>
              <a:t> Elle </a:t>
            </a:r>
            <a:r>
              <a:rPr dirty="0" sz="1800" lang="fr-FR">
                <a:latin typeface="Calibri" panose="020F0502020204030204" pitchFamily="34" charset="0"/>
              </a:rPr>
              <a:t>fait appel à un équipement lourd, les accélérateurs de particules. </a:t>
            </a:r>
          </a:p>
          <a:p>
            <a:endParaRPr dirty="0" lang="fr-FR" smtClean="0"/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lang="fr-FR" smtClean="0">
                <a:sym typeface="Wingdings"/>
              </a:rPr>
              <a:t></a:t>
            </a:r>
            <a:r>
              <a:rPr dirty="0" lang="fr-FR" smtClean="0"/>
              <a:t>La </a:t>
            </a:r>
            <a:r>
              <a:rPr dirty="0" lang="fr-FR" smtClean="0"/>
              <a:t>curiethérapie</a:t>
            </a:r>
            <a:r>
              <a:rPr dirty="0" sz="2000" lang="fr-FR">
                <a:solidFill>
                  <a:prstClr val="white"/>
                </a:solidFill>
                <a:latin typeface="Calibri" panose="020F0502020204030204" pitchFamily="34" charset="0"/>
              </a:rPr>
              <a:t> Ce</a:t>
            </a:r>
            <a:r>
              <a:rPr dirty="0" sz="1800" lang="fr-FR">
                <a:latin typeface="Calibri" panose="020F0502020204030204" pitchFamily="34" charset="0"/>
              </a:rPr>
              <a:t>tte méthode utilise des sources radioactives mises en place à l’intérieur de l’organisme. On distingue la curiethérapie interstitielle (les sources sont placées à l’intérieur du tissu à irradier) </a:t>
            </a:r>
            <a:r>
              <a:rPr dirty="0" sz="1800" lang="fr-FR" smtClean="0">
                <a:latin typeface="Calibri" panose="020F0502020204030204" pitchFamily="34" charset="0"/>
              </a:rPr>
              <a:t>et </a:t>
            </a:r>
            <a:r>
              <a:rPr dirty="0" sz="1800" lang="fr-FR">
                <a:latin typeface="Calibri" panose="020F0502020204030204" pitchFamily="34" charset="0"/>
              </a:rPr>
              <a:t>la curiethérapie </a:t>
            </a:r>
            <a:r>
              <a:rPr dirty="0" sz="1800" lang="fr-FR" err="1">
                <a:latin typeface="Calibri" panose="020F0502020204030204" pitchFamily="34" charset="0"/>
              </a:rPr>
              <a:t>endo</a:t>
            </a:r>
            <a:r>
              <a:rPr dirty="0" sz="1800" lang="fr-FR">
                <a:latin typeface="Calibri" panose="020F0502020204030204" pitchFamily="34" charset="0"/>
              </a:rPr>
              <a:t>-cavitaire ou </a:t>
            </a:r>
            <a:r>
              <a:rPr dirty="0" sz="2000" lang="fr-FR">
                <a:latin typeface="Calibri" panose="020F0502020204030204" pitchFamily="34" charset="0"/>
              </a:rPr>
              <a:t>intra-</a:t>
            </a:r>
            <a:r>
              <a:rPr dirty="0" sz="2000" lang="fr-FR" err="1">
                <a:latin typeface="Calibri" panose="020F0502020204030204" pitchFamily="34" charset="0"/>
              </a:rPr>
              <a:t>luminale</a:t>
            </a:r>
            <a:r>
              <a:rPr dirty="0" sz="2000" lang="fr-FR">
                <a:latin typeface="Calibri" panose="020F0502020204030204" pitchFamily="34" charset="0"/>
              </a:rPr>
              <a:t> où les sources sont introduites dans une cavité naturelle </a:t>
            </a:r>
            <a:endParaRPr dirty="0" lang="fr-FR" smtClean="0"/>
          </a:p>
          <a:p>
            <a:endParaRPr dirty="0" lang="fr-FR" smtClean="0"/>
          </a:p>
          <a:p>
            <a:pPr indent="0" marL="0">
              <a:buNone/>
            </a:pPr>
            <a:r>
              <a:rPr dirty="0" lang="fr-FR" smtClean="0">
                <a:sym typeface="Wingdings"/>
              </a:rPr>
              <a:t></a:t>
            </a:r>
            <a:r>
              <a:rPr dirty="0" lang="fr-FR" smtClean="0"/>
              <a:t>la radio chimiothérapie concomitante RCC(</a:t>
            </a:r>
            <a:r>
              <a:rPr dirty="0" lang="fr-FR" err="1" smtClean="0"/>
              <a:t>simultanement</a:t>
            </a:r>
            <a:r>
              <a:rPr dirty="0" lang="fr-FR"/>
              <a:t>)</a:t>
            </a:r>
            <a:endParaRPr dirty="0" lang="fr-FR" smtClean="0"/>
          </a:p>
          <a:p>
            <a:pPr indent="0" lvl="0" marL="0">
              <a:buNone/>
            </a:pPr>
            <a:r>
              <a:rPr dirty="0" sz="3000" lang="fr-FR" smtClean="0">
                <a:solidFill>
                  <a:prstClr val="black"/>
                </a:solidFill>
                <a:sym typeface="Wingdings"/>
              </a:rPr>
              <a:t></a:t>
            </a:r>
            <a:r>
              <a:rPr dirty="0" sz="3000" lang="fr-FR" smtClean="0">
                <a:solidFill>
                  <a:prstClr val="black"/>
                </a:solidFill>
              </a:rPr>
              <a:t>LA </a:t>
            </a:r>
            <a:r>
              <a:rPr dirty="0" sz="3000" lang="fr-FR">
                <a:solidFill>
                  <a:prstClr val="black"/>
                </a:solidFill>
              </a:rPr>
              <a:t>RADIOTHERAPIE PALLIATIVE ANTALGIQUE OU HEMOSTATIQUE </a:t>
            </a:r>
          </a:p>
          <a:p>
            <a:endParaRPr dirty="0" lang="fr-FR" smtClean="0"/>
          </a:p>
          <a:p>
            <a:endParaRPr dirty="0"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909"/>
          </a:bodyPr>
          <a:p>
            <a:r>
              <a:rPr dirty="0" lang="fr-FR" smtClean="0">
                <a:solidFill>
                  <a:srgbClr val="FF0000"/>
                </a:solidFill>
              </a:rPr>
              <a:t>EFFETS SECONDAIRES GENERAUX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18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NECROSE </a:t>
            </a:r>
          </a:p>
          <a:p>
            <a:r>
              <a:rPr dirty="0" lang="fr-FR" smtClean="0"/>
              <a:t>NEUTROPENIE </a:t>
            </a:r>
          </a:p>
          <a:p>
            <a:r>
              <a:rPr dirty="0" lang="fr-FR" smtClean="0"/>
              <a:t>BRULURES </a:t>
            </a:r>
          </a:p>
          <a:p>
            <a:pPr indent="0" marL="0">
              <a:buNone/>
            </a:pPr>
            <a:endParaRPr dirty="0" lang="fr-FR" smtClean="0"/>
          </a:p>
          <a:p>
            <a:endParaRPr dirty="0"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 lang="fr-FR" smtClean="0">
                <a:solidFill>
                  <a:srgbClr val="FF0000"/>
                </a:solidFill>
              </a:rPr>
              <a:t>EFFETS SECONDAIRES </a:t>
            </a:r>
            <a:r>
              <a:rPr dirty="0" lang="fr-FR" smtClean="0">
                <a:solidFill>
                  <a:srgbClr val="FF0000"/>
                </a:solidFill>
              </a:rPr>
              <a:t>SOECIFIQUES</a:t>
            </a:r>
            <a:br>
              <a:rPr dirty="0" lang="fr-FR" smtClean="0">
                <a:solidFill>
                  <a:srgbClr val="FF0000"/>
                </a:solidFill>
              </a:rPr>
            </a:br>
            <a:r>
              <a:rPr dirty="0" lang="fr-FR" err="1" smtClean="0">
                <a:solidFill>
                  <a:srgbClr val="FF0000"/>
                </a:solidFill>
              </a:rPr>
              <a:t>radiotherapie</a:t>
            </a:r>
            <a:endParaRPr dirty="0" lang="fr-FR">
              <a:solidFill>
                <a:srgbClr val="FF0000"/>
              </a:solidFill>
            </a:endParaRPr>
          </a:p>
        </p:txBody>
      </p:sp>
      <p:pic>
        <p:nvPicPr>
          <p:cNvPr id="2097155" name="Espace réservé du contenu 5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81000" y="1600200"/>
            <a:ext cx="8763000" cy="4724400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>
            <a:normAutofit fontScale="90000"/>
          </a:bodyPr>
          <a:p>
            <a:r>
              <a:rPr dirty="0" lang="fr-FR">
                <a:solidFill>
                  <a:srgbClr val="FF0000"/>
                </a:solidFill>
              </a:rPr>
              <a:t>EFFETS SECONDAIRES </a:t>
            </a:r>
            <a:r>
              <a:rPr dirty="0" lang="fr-FR" smtClean="0">
                <a:solidFill>
                  <a:srgbClr val="FF0000"/>
                </a:solidFill>
              </a:rPr>
              <a:t>SPECIFIQUES</a:t>
            </a:r>
            <a:br>
              <a:rPr dirty="0" lang="fr-FR" smtClean="0">
                <a:solidFill>
                  <a:srgbClr val="FF0000"/>
                </a:solidFill>
              </a:rPr>
            </a:br>
            <a:r>
              <a:rPr dirty="0" lang="fr-FR" smtClean="0">
                <a:solidFill>
                  <a:srgbClr val="FF0000"/>
                </a:solidFill>
              </a:rPr>
              <a:t>radiothérapie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21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endParaRPr dirty="0" lang="fr-FR"/>
          </a:p>
        </p:txBody>
      </p:sp>
      <p:pic>
        <p:nvPicPr>
          <p:cNvPr id="2097156" name="Imag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2400" y="1676400"/>
            <a:ext cx="8991601" cy="4756298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Doses toxiques 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2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000" lang="fr-FR">
                <a:latin typeface="Calibri" panose="020F0502020204030204" pitchFamily="34" charset="0"/>
              </a:rPr>
              <a:t>Il est important de connaître les doses de tolérance de chaque organe ou tissu. 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dirty="0" sz="2000" lang="fr-FR" smtClean="0">
              <a:latin typeface="Calibri" panose="020F0502020204030204" pitchFamily="34" charset="0"/>
            </a:endParaRP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dirty="0" sz="2000" lang="fr-FR">
              <a:latin typeface="Calibri" panose="020F0502020204030204" pitchFamily="34" charset="0"/>
            </a:endParaRP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000" lang="fr-FR" smtClean="0">
                <a:latin typeface="Calibri" panose="020F0502020204030204" pitchFamily="34" charset="0"/>
              </a:rPr>
              <a:t>la</a:t>
            </a:r>
            <a:r>
              <a:rPr b="1" dirty="0" sz="2000" i="1" lang="fr-FR" smtClean="0">
                <a:latin typeface="Calibri" panose="020F0502020204030204" pitchFamily="34" charset="0"/>
              </a:rPr>
              <a:t> </a:t>
            </a:r>
            <a:r>
              <a:rPr dirty="0" sz="2000" lang="fr-FR">
                <a:latin typeface="Calibri" panose="020F0502020204030204" pitchFamily="34" charset="0"/>
              </a:rPr>
              <a:t>moelle épinière tolère 45 Gy, le parenchyme pulmonaire 20 Gy sur un poumon entier.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000" lang="fr-FR">
                <a:latin typeface="Calibri" panose="020F0502020204030204" pitchFamily="34" charset="0"/>
              </a:rPr>
              <a:t>La dose nécessaire à la stérilisation d’une tumeur dépend de la tumeur considérée (radiosensibilité propre) et de son volume.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000" lang="fr-FR">
                <a:latin typeface="Calibri" panose="020F0502020204030204" pitchFamily="34" charset="0"/>
              </a:rPr>
              <a:t>Schématiquement, un séminome du testicule est détruit par une dose de 30 Gy, une maladie de Hodgkin par 40 Gy, un cancer du sein par 50-60 Gy, un très volumineux cancer ORL par 70-80 Gy.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dirty="0" sz="2000" lang="fr-FR">
                <a:latin typeface="Calibri" panose="020F0502020204030204" pitchFamily="34" charset="0"/>
              </a:rPr>
              <a:t>Une dose &gt; 100 Gy serait nécessaire à la destruction d’un </a:t>
            </a:r>
            <a:r>
              <a:rPr dirty="0" sz="2000" lang="fr-FR" err="1">
                <a:latin typeface="Calibri" panose="020F0502020204030204" pitchFamily="34" charset="0"/>
              </a:rPr>
              <a:t>glioblastome</a:t>
            </a:r>
            <a:r>
              <a:rPr dirty="0" sz="2000" lang="fr-FR">
                <a:latin typeface="Calibri" panose="020F0502020204030204" pitchFamily="34" charset="0"/>
              </a:rPr>
              <a:t>. </a:t>
            </a:r>
          </a:p>
          <a:p>
            <a:endParaRPr dirty="0"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LA CHIMIOTHERAPIE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25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eaLnBrk="0" fontAlgn="base" hangingPunct="0" lvl="0">
              <a:spcBef>
                <a:spcPct val="0"/>
              </a:spcBef>
              <a:spcAft>
                <a:spcPct val="0"/>
              </a:spcAft>
            </a:pPr>
            <a:r>
              <a:rPr dirty="0" sz="2800" lang="fr-FR" smtClean="0"/>
              <a:t>TRAITEMENT SYSTEMIQUE </a:t>
            </a:r>
            <a:r>
              <a:rPr dirty="0" sz="2800" lang="fr-FR">
                <a:latin typeface="Calibri" panose="020F0502020204030204" pitchFamily="34" charset="0"/>
              </a:rPr>
              <a:t>La chimiothérapie anti-tumorale utilise des médicaments qui entraînent un arrêt </a:t>
            </a:r>
            <a:r>
              <a:rPr dirty="0" sz="2800" lang="fr-FR" smtClean="0">
                <a:latin typeface="Calibri" panose="020F0502020204030204" pitchFamily="34" charset="0"/>
              </a:rPr>
              <a:t>du cycle </a:t>
            </a:r>
            <a:r>
              <a:rPr dirty="0" sz="2800" lang="fr-FR">
                <a:latin typeface="Calibri" panose="020F0502020204030204" pitchFamily="34" charset="0"/>
              </a:rPr>
              <a:t>cellulaire (effet cytostatique) et/ou une mort cellulaire (effet cytotoxique), principalement par apoptose.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</a:pPr>
            <a:r>
              <a:rPr dirty="0" sz="2800" lang="fr-FR">
                <a:latin typeface="Calibri" panose="020F0502020204030204" pitchFamily="34" charset="0"/>
              </a:rPr>
              <a:t>Il n’y a pas de chimiothérapie possible sans preuve histologique</a:t>
            </a:r>
          </a:p>
          <a:p>
            <a:endParaRPr dirty="0" lang="fr-FR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TYPES DE CHIMIOTHERAPIE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27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NEOADJUVANTE : AVANT CHIMIOTHERAPIE </a:t>
            </a:r>
          </a:p>
          <a:p>
            <a:r>
              <a:rPr dirty="0" lang="fr-FR" smtClean="0"/>
              <a:t>ADJUVANTE : APRES CHIRUTGIE </a:t>
            </a:r>
          </a:p>
          <a:p>
            <a:r>
              <a:rPr dirty="0" lang="fr-FR" smtClean="0"/>
              <a:t>PALLIATIVE : EN </a:t>
            </a:r>
            <a:r>
              <a:rPr dirty="0" lang="fr-FR" smtClean="0"/>
              <a:t>SITUATION </a:t>
            </a:r>
            <a:r>
              <a:rPr dirty="0" lang="fr-FR" smtClean="0"/>
              <a:t>METASTATIQUE </a:t>
            </a:r>
            <a:endParaRPr dirty="0"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fr-FR" smtClean="0">
                <a:solidFill>
                  <a:srgbClr val="FF0000"/>
                </a:solidFill>
              </a:rPr>
              <a:t>EFFETS SECONDAIRES </a:t>
            </a:r>
            <a:r>
              <a:rPr dirty="0" lang="fr-FR" smtClean="0">
                <a:solidFill>
                  <a:srgbClr val="FF0000"/>
                </a:solidFill>
              </a:rPr>
              <a:t>GENERAUX</a:t>
            </a:r>
            <a:br>
              <a:rPr dirty="0" lang="fr-FR" smtClean="0">
                <a:solidFill>
                  <a:srgbClr val="FF0000"/>
                </a:solidFill>
              </a:rPr>
            </a:br>
            <a:r>
              <a:rPr dirty="0" lang="fr-FR" smtClean="0">
                <a:solidFill>
                  <a:srgbClr val="FF0000"/>
                </a:solidFill>
              </a:rPr>
              <a:t>CHIMIOTHERAPIE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29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NAUSEES ET VOMISSEMENTS </a:t>
            </a:r>
          </a:p>
          <a:p>
            <a:r>
              <a:rPr dirty="0" lang="fr-FR" smtClean="0"/>
              <a:t>ANEMIE </a:t>
            </a:r>
          </a:p>
          <a:p>
            <a:r>
              <a:rPr dirty="0" lang="fr-FR" smtClean="0"/>
              <a:t>NETROPENIE ( NEUTROPENIE FEBRILE EST UNE URGENCE EN ONCOLOGIE )</a:t>
            </a:r>
          </a:p>
          <a:p>
            <a:r>
              <a:rPr dirty="0" lang="fr-FR" smtClean="0"/>
              <a:t>ASTHENIE </a:t>
            </a:r>
          </a:p>
          <a:p>
            <a:r>
              <a:rPr dirty="0" lang="fr-FR" smtClean="0"/>
              <a:t>MUCITE</a:t>
            </a:r>
          </a:p>
          <a:p>
            <a:r>
              <a:rPr dirty="0" lang="fr-FR" smtClean="0"/>
              <a:t>ALOPECIE </a:t>
            </a:r>
            <a:endParaRPr dirty="0"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fr-FR" smtClean="0">
                <a:solidFill>
                  <a:srgbClr val="FF0000"/>
                </a:solidFill>
              </a:rPr>
              <a:t>Effets secondaires spécifiques </a:t>
            </a:r>
            <a:r>
              <a:rPr dirty="0" lang="fr-FR" smtClean="0">
                <a:solidFill>
                  <a:srgbClr val="FF0000"/>
                </a:solidFill>
              </a:rPr>
              <a:t>chimiothérapie </a:t>
            </a:r>
            <a:endParaRPr dirty="0" lang="fr-FR">
              <a:solidFill>
                <a:srgbClr val="FF0000"/>
              </a:solidFill>
            </a:endParaRPr>
          </a:p>
        </p:txBody>
      </p:sp>
      <p:pic>
        <p:nvPicPr>
          <p:cNvPr id="2097157" name="Imag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81001" y="1676400"/>
            <a:ext cx="8229600" cy="4766930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209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>
                <a:solidFill>
                  <a:srgbClr val="FF0000"/>
                </a:solidFill>
              </a:rPr>
              <a:t>THERAPIES CIBLEES </a:t>
            </a:r>
          </a:p>
        </p:txBody>
      </p:sp>
      <p:sp>
        <p:nvSpPr>
          <p:cNvPr id="1048632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TRAITEMENT SYSTEMIQUE QUI CIBLE UN RECEPTERU BIEN PRECIS </a:t>
            </a:r>
          </a:p>
          <a:p>
            <a:r>
              <a:rPr dirty="0" lang="fr-FR" smtClean="0"/>
              <a:t>Exemples :</a:t>
            </a:r>
          </a:p>
          <a:p>
            <a:r>
              <a:rPr dirty="0" lang="fr-FR" smtClean="0"/>
              <a:t>ANTI HER2 (SI HER2 positif dans le cancer du sein )</a:t>
            </a:r>
          </a:p>
          <a:p>
            <a:r>
              <a:rPr dirty="0" lang="fr-FR" smtClean="0"/>
              <a:t>Anti EGFR (SI EGFR mute dans le cancer du poumon)</a:t>
            </a:r>
            <a:endParaRPr dirty="0"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HORMONOTHERAPIES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34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eaLnBrk="0" fontAlgn="base" hangingPunct="0" lvl="0">
              <a:spcBef>
                <a:spcPct val="0"/>
              </a:spcBef>
              <a:spcAft>
                <a:spcPct val="0"/>
              </a:spcAft>
            </a:pPr>
            <a:r>
              <a:rPr dirty="0" sz="2000" lang="fr-FR">
                <a:latin typeface="Calibri" panose="020F0502020204030204" pitchFamily="34" charset="0"/>
              </a:rPr>
              <a:t>Les cellules tumorales du cancer de la prostate, du cancer du sein (et de l’endomètre) expriment des récepteurs aux hormones, les rendant sensibles aux traitements </a:t>
            </a:r>
            <a:r>
              <a:rPr dirty="0" sz="2000" lang="fr-FR" err="1">
                <a:latin typeface="Calibri" panose="020F0502020204030204" pitchFamily="34" charset="0"/>
              </a:rPr>
              <a:t>anti-hormonaux</a:t>
            </a:r>
            <a:r>
              <a:rPr dirty="0" sz="2000" lang="fr-FR">
                <a:latin typeface="Calibri" panose="020F0502020204030204" pitchFamily="34" charset="0"/>
              </a:rPr>
              <a:t>. 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</a:pPr>
            <a:r>
              <a:rPr dirty="0" sz="2000" lang="fr-FR">
                <a:latin typeface="Calibri" panose="020F0502020204030204" pitchFamily="34" charset="0"/>
              </a:rPr>
              <a:t> Le terme « hormonothérapie » est donc un abus de langage : il s’agit plutôt d’un traitement antihormonal, dont le principe est d’empêcher cette stimulation hormonale par deux grandes méthodes 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lang="fr-FR">
                <a:latin typeface="Calibri" panose="020F0502020204030204" pitchFamily="34" charset="0"/>
              </a:rPr>
              <a:t>– Diminuer la production hormonale au niveau :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lang="fr-FR">
                <a:latin typeface="Calibri" panose="020F0502020204030204" pitchFamily="34" charset="0"/>
              </a:rPr>
              <a:t>➢ central (ex : utilisation des agonistes de la LH-RH qui inhibent la sécrétion de LH hypophysaire) 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lang="fr-FR">
                <a:latin typeface="Calibri" panose="020F0502020204030204" pitchFamily="34" charset="0"/>
              </a:rPr>
              <a:t>➢ périphérique (ex : suppression – irréversible – de la production hormonale ovarienne ou testiculaire par 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lang="fr-FR">
                <a:latin typeface="Calibri" panose="020F0502020204030204" pitchFamily="34" charset="0"/>
              </a:rPr>
              <a:t>chirurgie ou radiothérapie  ; suppression temporaire par les inhibiteurs de l</a:t>
            </a:r>
            <a:r>
              <a:rPr dirty="0" sz="2000" lang="fr-FR" smtClean="0">
                <a:latin typeface="Calibri" panose="020F0502020204030204" pitchFamily="34" charset="0"/>
              </a:rPr>
              <a:t>’ </a:t>
            </a:r>
            <a:r>
              <a:rPr dirty="0" sz="2000" lang="fr-FR" err="1" smtClean="0">
                <a:latin typeface="Calibri" panose="020F0502020204030204" pitchFamily="34" charset="0"/>
              </a:rPr>
              <a:t>aromatase</a:t>
            </a:r>
            <a:r>
              <a:rPr dirty="0" sz="2000" lang="fr-FR" smtClean="0">
                <a:latin typeface="Calibri" panose="020F0502020204030204" pitchFamily="34" charset="0"/>
              </a:rPr>
              <a:t> </a:t>
            </a:r>
            <a:r>
              <a:rPr dirty="0" sz="2000" lang="fr-FR">
                <a:latin typeface="Calibri" panose="020F0502020204030204" pitchFamily="34" charset="0"/>
              </a:rPr>
              <a:t>chez les femmes 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lang="fr-FR">
                <a:latin typeface="Calibri" panose="020F0502020204030204" pitchFamily="34" charset="0"/>
              </a:rPr>
              <a:t>ménopausées dans le cancer du sein).</a:t>
            </a:r>
          </a:p>
          <a:p>
            <a:pPr eaLnBrk="0" fontAlgn="base" hangingPunct="0" indent="0" lvl="0" marL="0"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lang="fr-FR">
                <a:latin typeface="Calibri" panose="020F0502020204030204" pitchFamily="34" charset="0"/>
              </a:rPr>
              <a:t>– Bloquer le récepteur hormonal au niveau de la cellule tumorale par une « </a:t>
            </a:r>
            <a:r>
              <a:rPr dirty="0" sz="2000" lang="fr-FR" smtClean="0">
                <a:latin typeface="Calibri" panose="020F0502020204030204" pitchFamily="34" charset="0"/>
              </a:rPr>
              <a:t>antihormone </a:t>
            </a:r>
            <a:r>
              <a:rPr dirty="0" sz="2000" lang="fr-FR">
                <a:latin typeface="Calibri" panose="020F0502020204030204" pitchFamily="34" charset="0"/>
              </a:rPr>
              <a:t>»</a:t>
            </a:r>
          </a:p>
          <a:p>
            <a:endParaRPr dirty="0"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IMMUNOTHERAPIE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36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eaLnBrk="0" fontAlgn="base" hangingPunct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dirty="0" sz="2000" lang="fr-FR">
                <a:latin typeface="Calibri" panose="020F0502020204030204" pitchFamily="34" charset="0"/>
              </a:rPr>
              <a:t>L’immunothérapie agit principalement sur le système immunitaire du patient pour le rendre apte à attaquer les cellules cancéreuses. </a:t>
            </a:r>
            <a:endParaRPr dirty="0" sz="2000" lang="fr-FR" smtClean="0">
              <a:latin typeface="Calibri" panose="020F0502020204030204" pitchFamily="34" charset="0"/>
            </a:endParaRPr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lang="fr-FR">
                <a:latin typeface="Calibri" panose="020F0502020204030204" pitchFamily="34" charset="0"/>
              </a:rPr>
              <a:t>L’immunothérapie repose sur les anticorps monoclonaux, notamment les inhibiteurs de points de </a:t>
            </a:r>
            <a:r>
              <a:rPr dirty="0" sz="2000" lang="fr-FR" smtClean="0">
                <a:latin typeface="Calibri" panose="020F0502020204030204" pitchFamily="34" charset="0"/>
              </a:rPr>
              <a:t>contrôle</a:t>
            </a:r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i="1" lang="fr-FR" smtClean="0">
                <a:latin typeface="Calibri" panose="020F0502020204030204" pitchFamily="34" charset="0"/>
              </a:rPr>
              <a:t>L’exemple </a:t>
            </a:r>
            <a:r>
              <a:rPr dirty="0" sz="2000" i="1" lang="fr-FR">
                <a:latin typeface="Calibri" panose="020F0502020204030204" pitchFamily="34" charset="0"/>
              </a:rPr>
              <a:t>des anti-PD-1 (</a:t>
            </a:r>
            <a:r>
              <a:rPr dirty="0" sz="2000" i="1" lang="fr-FR" err="1">
                <a:latin typeface="Calibri" panose="020F0502020204030204" pitchFamily="34" charset="0"/>
              </a:rPr>
              <a:t>nivolumab</a:t>
            </a:r>
            <a:r>
              <a:rPr dirty="0" sz="2000" i="1" lang="fr-FR">
                <a:latin typeface="Calibri" panose="020F0502020204030204" pitchFamily="34" charset="0"/>
              </a:rPr>
              <a:t>, </a:t>
            </a:r>
            <a:r>
              <a:rPr dirty="0" sz="2000" i="1" lang="fr-FR" err="1">
                <a:latin typeface="Calibri" panose="020F0502020204030204" pitchFamily="34" charset="0"/>
              </a:rPr>
              <a:t>pembrolizumab</a:t>
            </a:r>
            <a:r>
              <a:rPr dirty="0" sz="2000" i="1" lang="fr-FR">
                <a:latin typeface="Calibri" panose="020F0502020204030204" pitchFamily="34" charset="0"/>
              </a:rPr>
              <a:t>) ou anti-PD-L1, (</a:t>
            </a:r>
            <a:r>
              <a:rPr dirty="0" sz="2000" i="1" lang="fr-FR" err="1">
                <a:latin typeface="Calibri" panose="020F0502020204030204" pitchFamily="34" charset="0"/>
              </a:rPr>
              <a:t>atézolizumab</a:t>
            </a:r>
            <a:r>
              <a:rPr dirty="0" sz="2000" i="1" lang="fr-FR">
                <a:latin typeface="Calibri" panose="020F0502020204030204" pitchFamily="34" charset="0"/>
              </a:rPr>
              <a:t>, </a:t>
            </a:r>
            <a:r>
              <a:rPr dirty="0" sz="2000" i="1" lang="fr-FR" err="1">
                <a:latin typeface="Calibri" panose="020F0502020204030204" pitchFamily="34" charset="0"/>
              </a:rPr>
              <a:t>avélumab</a:t>
            </a:r>
            <a:r>
              <a:rPr dirty="0" sz="2000" i="1" lang="fr-FR">
                <a:latin typeface="Calibri" panose="020F0502020204030204" pitchFamily="34" charset="0"/>
              </a:rPr>
              <a:t>, </a:t>
            </a:r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dirty="0" sz="2000" i="1" lang="fr-FR" err="1">
                <a:latin typeface="Calibri" panose="020F0502020204030204" pitchFamily="34" charset="0"/>
              </a:rPr>
              <a:t>duvarlumab</a:t>
            </a:r>
            <a:r>
              <a:rPr dirty="0" sz="2000" i="1" lang="fr-FR">
                <a:latin typeface="Calibri" panose="020F0502020204030204" pitchFamily="34" charset="0"/>
              </a:rPr>
              <a:t>) et des anti CTLA-4 (</a:t>
            </a:r>
            <a:r>
              <a:rPr dirty="0" sz="2000" i="1" lang="fr-FR" err="1" smtClean="0">
                <a:latin typeface="Calibri" panose="020F0502020204030204" pitchFamily="34" charset="0"/>
              </a:rPr>
              <a:t>ipilimumab</a:t>
            </a:r>
            <a:r>
              <a:rPr dirty="0" sz="2000" i="1" lang="fr-FR" smtClean="0">
                <a:latin typeface="Calibri" panose="020F0502020204030204" pitchFamily="34" charset="0"/>
              </a:rPr>
              <a:t>)</a:t>
            </a:r>
          </a:p>
          <a:p>
            <a:pPr eaLnBrk="0" fontAlgn="base" hangingPunct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dirty="0" sz="2000" lang="fr-FR" smtClean="0">
              <a:latin typeface="Calibri" panose="020F0502020204030204" pitchFamily="34" charset="0"/>
            </a:endParaRPr>
          </a:p>
          <a:p>
            <a:pPr eaLnBrk="0" fontAlgn="base" hangingPunct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dirty="0" sz="2000" lang="fr-FR" smtClean="0">
              <a:latin typeface="Calibri" panose="020F0502020204030204" pitchFamily="34" charset="0"/>
            </a:endParaRPr>
          </a:p>
          <a:p>
            <a:pPr eaLnBrk="0" fontAlgn="base" hangingPunct="0" indent="0" lvl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dirty="0" sz="2000" lang="fr-FR" smtClean="0">
              <a:latin typeface="Calibri" panose="020F0502020204030204" pitchFamily="34" charset="0"/>
            </a:endParaRPr>
          </a:p>
          <a:p>
            <a:endParaRPr dirty="0"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Les soins de support 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38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Nutrition </a:t>
            </a:r>
            <a:r>
              <a:rPr dirty="0" lang="fr-FR" smtClean="0"/>
              <a:t>: transfusion d'albumine si hypo albuminémie </a:t>
            </a:r>
            <a:endParaRPr dirty="0" lang="fr-FR" smtClean="0"/>
          </a:p>
          <a:p>
            <a:r>
              <a:rPr dirty="0" lang="fr-FR" smtClean="0"/>
              <a:t>Traiter la Douleur selon les paliers</a:t>
            </a:r>
          </a:p>
          <a:p>
            <a:r>
              <a:rPr dirty="0" lang="fr-FR" smtClean="0"/>
              <a:t>Transfusion si </a:t>
            </a:r>
            <a:r>
              <a:rPr dirty="0" lang="fr-FR" smtClean="0"/>
              <a:t>anémie  </a:t>
            </a:r>
            <a:endParaRPr dirty="0"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EXEMPLES</a:t>
            </a:r>
            <a:r>
              <a:rPr dirty="0" lang="fr-FR" smtClean="0"/>
              <a:t> </a:t>
            </a:r>
            <a:endParaRPr dirty="0" lang="fr-FR"/>
          </a:p>
        </p:txBody>
      </p:sp>
      <p:sp>
        <p:nvSpPr>
          <p:cNvPr id="1048640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fr-FR" smtClean="0"/>
              <a:t>Cas clinique 1 </a:t>
            </a:r>
          </a:p>
          <a:p>
            <a:r>
              <a:rPr dirty="0" lang="fr-FR" smtClean="0"/>
              <a:t>Femme âgée de 36 ans , carcinome infiltrant du sein stade </a:t>
            </a:r>
            <a:r>
              <a:rPr dirty="0" lang="fr-FR" smtClean="0">
                <a:latin typeface="Times New Roman"/>
                <a:cs typeface="Times New Roman"/>
                <a:sym typeface="Wingdings"/>
              </a:rPr>
              <a:t>Ⅲ </a:t>
            </a:r>
            <a:r>
              <a:rPr dirty="0" lang="fr-FR" smtClean="0"/>
              <a:t>a </a:t>
            </a:r>
            <a:r>
              <a:rPr dirty="0" lang="fr-FR" smtClean="0"/>
              <a:t>la </a:t>
            </a:r>
            <a:r>
              <a:rPr dirty="0" lang="fr-FR" smtClean="0"/>
              <a:t>micro biopsie  </a:t>
            </a:r>
            <a:r>
              <a:rPr dirty="0" lang="fr-FR" smtClean="0"/>
              <a:t>, </a:t>
            </a:r>
          </a:p>
          <a:p>
            <a:r>
              <a:rPr dirty="0" lang="fr-FR" smtClean="0"/>
              <a:t>a l'immunohistochimie HER2 positif récepteurs hormonaux positif .</a:t>
            </a:r>
          </a:p>
          <a:p>
            <a:r>
              <a:rPr dirty="0" lang="fr-FR" smtClean="0"/>
              <a:t>TRT .: </a:t>
            </a:r>
            <a:r>
              <a:rPr dirty="0" lang="fr-FR" smtClean="0">
                <a:solidFill>
                  <a:srgbClr val="FF0000"/>
                </a:solidFill>
              </a:rPr>
              <a:t>thérapie ciblée </a:t>
            </a:r>
            <a:r>
              <a:rPr dirty="0" lang="fr-FR" smtClean="0">
                <a:solidFill>
                  <a:srgbClr val="FF0000"/>
                </a:solidFill>
              </a:rPr>
              <a:t>contre HER2 </a:t>
            </a:r>
            <a:r>
              <a:rPr dirty="0" lang="fr-FR" smtClean="0"/>
              <a:t>(double </a:t>
            </a:r>
            <a:r>
              <a:rPr dirty="0" lang="fr-FR" smtClean="0"/>
              <a:t>blocage</a:t>
            </a:r>
            <a:r>
              <a:rPr dirty="0" lang="fr-FR" smtClean="0"/>
              <a:t>) avec </a:t>
            </a:r>
            <a:r>
              <a:rPr dirty="0" lang="fr-FR" smtClean="0">
                <a:solidFill>
                  <a:srgbClr val="FF0000"/>
                </a:solidFill>
              </a:rPr>
              <a:t>chimiothérapie </a:t>
            </a:r>
            <a:r>
              <a:rPr dirty="0" lang="fr-FR" smtClean="0">
                <a:solidFill>
                  <a:srgbClr val="FF0000"/>
                </a:solidFill>
              </a:rPr>
              <a:t>néo </a:t>
            </a:r>
            <a:r>
              <a:rPr dirty="0" lang="fr-FR" smtClean="0">
                <a:solidFill>
                  <a:srgbClr val="FF0000"/>
                </a:solidFill>
              </a:rPr>
              <a:t>adjuvante </a:t>
            </a:r>
          </a:p>
          <a:p>
            <a:r>
              <a:rPr dirty="0" lang="fr-FR" smtClean="0"/>
              <a:t>Suivi de </a:t>
            </a:r>
            <a:r>
              <a:rPr dirty="0" lang="fr-FR" err="1" smtClean="0"/>
              <a:t>patey</a:t>
            </a:r>
            <a:r>
              <a:rPr dirty="0" lang="fr-FR" smtClean="0"/>
              <a:t> droit( mastectomie avec curage ) </a:t>
            </a:r>
            <a:r>
              <a:rPr dirty="0" lang="fr-FR" smtClean="0">
                <a:solidFill>
                  <a:srgbClr val="FF0000"/>
                </a:solidFill>
              </a:rPr>
              <a:t>chirurgie carcinologique </a:t>
            </a:r>
            <a:r>
              <a:rPr dirty="0" lang="fr-FR" smtClean="0"/>
              <a:t>suivie de </a:t>
            </a:r>
            <a:r>
              <a:rPr dirty="0" lang="fr-FR" smtClean="0">
                <a:solidFill>
                  <a:srgbClr val="FF0000"/>
                </a:solidFill>
              </a:rPr>
              <a:t>radiothérapie </a:t>
            </a:r>
            <a:r>
              <a:rPr dirty="0" lang="fr-FR" smtClean="0"/>
              <a:t>puis maintien par </a:t>
            </a:r>
            <a:r>
              <a:rPr dirty="0" lang="fr-FR" smtClean="0">
                <a:solidFill>
                  <a:srgbClr val="FF0000"/>
                </a:solidFill>
              </a:rPr>
              <a:t>thérapie ciblée anti HER2 </a:t>
            </a:r>
            <a:r>
              <a:rPr dirty="0" lang="fr-FR" smtClean="0"/>
              <a:t>et </a:t>
            </a:r>
            <a:r>
              <a:rPr dirty="0" lang="fr-FR" smtClean="0">
                <a:solidFill>
                  <a:srgbClr val="FF0000"/>
                </a:solidFill>
              </a:rPr>
              <a:t>hormonothérapie</a:t>
            </a:r>
            <a:r>
              <a:rPr dirty="0" lang="fr-FR" smtClean="0"/>
              <a:t> pendant 5 ans </a:t>
            </a:r>
            <a:endParaRPr dirty="0"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/>
              <a:t>Cas clinique 2</a:t>
            </a:r>
            <a:endParaRPr dirty="0" lang="fr-FR"/>
          </a:p>
        </p:txBody>
      </p:sp>
      <p:sp>
        <p:nvSpPr>
          <p:cNvPr id="1048642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fr-FR" smtClean="0"/>
              <a:t>Homme âgé de 62 ans OPERE EN URGENCE POUR OCCLUSION </a:t>
            </a:r>
          </a:p>
          <a:p>
            <a:r>
              <a:rPr dirty="0" lang="fr-FR" smtClean="0"/>
              <a:t>ANAPATH : ADK DU COLON </a:t>
            </a:r>
          </a:p>
          <a:p>
            <a:r>
              <a:rPr dirty="0" lang="fr-FR" smtClean="0"/>
              <a:t>APRES BILAN DEXTENSION ; CANCER </a:t>
            </a:r>
            <a:r>
              <a:rPr dirty="0" lang="fr-FR" smtClean="0"/>
              <a:t>DU COLON METASTATIQUE AU NIVEAU DU FOIE ( 1 SEULE METASTASE HEPATIQUE </a:t>
            </a:r>
            <a:r>
              <a:rPr dirty="0" lang="fr-FR" smtClean="0"/>
              <a:t>)</a:t>
            </a:r>
          </a:p>
          <a:p>
            <a:r>
              <a:rPr dirty="0" lang="fr-FR" smtClean="0"/>
              <a:t>CHIMIOTHERAPIE PERI OPERATOIRE </a:t>
            </a:r>
            <a:endParaRPr dirty="0" lang="fr-FR" smtClean="0"/>
          </a:p>
          <a:p>
            <a:r>
              <a:rPr dirty="0" lang="fr-FR" smtClean="0"/>
              <a:t>INDICATION DE </a:t>
            </a:r>
            <a:r>
              <a:rPr dirty="0" lang="fr-FR" smtClean="0">
                <a:solidFill>
                  <a:srgbClr val="FF0000"/>
                </a:solidFill>
              </a:rPr>
              <a:t>CHIRURGIE</a:t>
            </a:r>
            <a:r>
              <a:rPr dirty="0" lang="fr-FR" smtClean="0"/>
              <a:t> </a:t>
            </a:r>
            <a:r>
              <a:rPr dirty="0" lang="fr-FR" smtClean="0"/>
              <a:t> </a:t>
            </a:r>
            <a:r>
              <a:rPr dirty="0" lang="fr-FR" smtClean="0">
                <a:solidFill>
                  <a:srgbClr val="FF0000"/>
                </a:solidFill>
              </a:rPr>
              <a:t>DE</a:t>
            </a:r>
            <a:r>
              <a:rPr dirty="0" lang="fr-FR" smtClean="0"/>
              <a:t> </a:t>
            </a:r>
            <a:r>
              <a:rPr dirty="0" lang="fr-FR" smtClean="0">
                <a:solidFill>
                  <a:srgbClr val="FF0000"/>
                </a:solidFill>
              </a:rPr>
              <a:t>LA METASTASE HEPATIQUE </a:t>
            </a:r>
            <a:r>
              <a:rPr dirty="0" lang="fr-FR" smtClean="0"/>
              <a:t>SUIVIE DE CHIMIOTHERAPIE </a:t>
            </a:r>
            <a:endParaRPr dirty="0" lang="fr-FR" smtClean="0"/>
          </a:p>
          <a:p>
            <a:endParaRPr lang="fr-FR"/>
          </a:p>
          <a:p>
            <a:endParaRPr dirty="0" lang="fr-FR" smtClean="0"/>
          </a:p>
          <a:p>
            <a:r>
              <a:rPr dirty="0" lang="fr-FR" smtClean="0"/>
              <a:t>PS . LE </a:t>
            </a:r>
            <a:r>
              <a:rPr dirty="0" lang="fr-FR" smtClean="0"/>
              <a:t>CURAGE GANGLIONNAIRE DOIT ETRE FAIT SYSTEMATIQUEMENT POUR LE CANCER DU COLON AU MOINS </a:t>
            </a:r>
            <a:r>
              <a:rPr dirty="0" lang="fr-FR" smtClean="0">
                <a:solidFill>
                  <a:srgbClr val="FF0000"/>
                </a:solidFill>
              </a:rPr>
              <a:t>12 GG </a:t>
            </a:r>
            <a:r>
              <a:rPr dirty="0" lang="fr-FR" smtClean="0"/>
              <a:t>a </a:t>
            </a:r>
            <a:r>
              <a:rPr dirty="0" lang="fr-FR" smtClean="0"/>
              <a:t>l </a:t>
            </a:r>
            <a:r>
              <a:rPr dirty="0" lang="fr-FR" err="1" smtClean="0"/>
              <a:t>anapath</a:t>
            </a:r>
            <a:r>
              <a:rPr dirty="0" lang="fr-FR" smtClean="0"/>
              <a:t>;</a:t>
            </a:r>
            <a:endParaRPr dirty="0" lang="fr-F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/>
              <a:t>CAS CLINIQUE 3</a:t>
            </a:r>
            <a:endParaRPr dirty="0" lang="fr-FR"/>
          </a:p>
        </p:txBody>
      </p:sp>
      <p:sp>
        <p:nvSpPr>
          <p:cNvPr id="1048644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fr-FR" smtClean="0"/>
              <a:t>Femme de 56 ANS </a:t>
            </a:r>
          </a:p>
          <a:p>
            <a:r>
              <a:rPr dirty="0" lang="fr-FR" smtClean="0"/>
              <a:t>MELANOME </a:t>
            </a:r>
            <a:r>
              <a:rPr dirty="0" lang="fr-FR" smtClean="0"/>
              <a:t>du pieds </a:t>
            </a:r>
            <a:r>
              <a:rPr dirty="0" lang="fr-FR" smtClean="0"/>
              <a:t>METASTATIQUE au niveau du poumon</a:t>
            </a:r>
            <a:endParaRPr dirty="0" lang="fr-FR" smtClean="0"/>
          </a:p>
          <a:p>
            <a:r>
              <a:rPr dirty="0" lang="fr-FR" smtClean="0"/>
              <a:t>INDICATION </a:t>
            </a:r>
            <a:r>
              <a:rPr dirty="0" lang="fr-FR" smtClean="0">
                <a:solidFill>
                  <a:srgbClr val="FF0000"/>
                </a:solidFill>
              </a:rPr>
              <a:t>DUNE IMMUNOTHERAPIE </a:t>
            </a:r>
            <a:r>
              <a:rPr dirty="0" lang="fr-FR" smtClean="0"/>
              <a:t>TYPE POEMBRROLIZUMAB </a:t>
            </a:r>
          </a:p>
          <a:p>
            <a:r>
              <a:rPr dirty="0" lang="fr-FR" smtClean="0"/>
              <a:t>REPONSE SPECTACULAIRE </a:t>
            </a:r>
            <a:endParaRPr dirty="0" lang="fr-F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CONCLUSION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646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fr-FR" smtClean="0"/>
              <a:t>PLUSIEURS ARMES THERAPEUTIQUES EN ONCOLOGIE</a:t>
            </a:r>
          </a:p>
          <a:p>
            <a:r>
              <a:rPr dirty="0" lang="fr-FR" smtClean="0"/>
              <a:t>LES THERAPIES INNOVANTES EXISTENT EN ALGERIE</a:t>
            </a:r>
          </a:p>
          <a:p>
            <a:r>
              <a:rPr dirty="0" lang="fr-FR" smtClean="0"/>
              <a:t>CHAQUE CAS EST UN CAS A PART ET DOIT ETRE DUSCUTE EN RCP	</a:t>
            </a:r>
          </a:p>
          <a:p>
            <a:r>
              <a:rPr dirty="0" lang="fr-FR" smtClean="0">
                <a:solidFill>
                  <a:prstClr val="black"/>
                </a:solidFill>
              </a:rPr>
              <a:t>LONCOLOGIE </a:t>
            </a:r>
            <a:r>
              <a:rPr dirty="0" lang="fr-FR">
                <a:solidFill>
                  <a:prstClr val="black"/>
                </a:solidFill>
              </a:rPr>
              <a:t>VA VERS LA MEDECINE DE PRECISION</a:t>
            </a:r>
            <a:endParaRPr dirty="0" lang="fr-FR" smtClean="0"/>
          </a:p>
          <a:p>
            <a:endParaRPr dirty="0" lang="fr-F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Thème Offic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Thème Offic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Présentation PowerPoint</dc:title>
  <dc:creator>pc</dc:creator>
  <cp:lastModifiedBy>pc</cp:lastModifiedBy>
  <dcterms:created xsi:type="dcterms:W3CDTF">2025-11-13T12:02:58Z</dcterms:created>
  <dcterms:modified xsi:type="dcterms:W3CDTF">2025-11-22T08:14:06Z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e674b0da5b2645c08488fbb133a7b255</vt:lpwstr>
  </property>
</Properties>
</file>