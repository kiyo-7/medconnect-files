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91" r:id="rId8"/>
    <p:sldId id="263" r:id="rId9"/>
    <p:sldId id="264" r:id="rId10"/>
    <p:sldId id="261" r:id="rId11"/>
    <p:sldId id="265" r:id="rId12"/>
    <p:sldId id="266" r:id="rId13"/>
    <p:sldId id="267" r:id="rId14"/>
    <p:sldId id="268" r:id="rId15"/>
    <p:sldId id="269" r:id="rId16"/>
    <p:sldId id="270" r:id="rId17"/>
    <p:sldId id="29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1" autoAdjust="0"/>
    <p:restoredTop sz="85811"/>
  </p:normalViewPr>
  <p:slideViewPr>
    <p:cSldViewPr snapToGrid="0">
      <p:cViewPr>
        <p:scale>
          <a:sx n="68" d="100"/>
          <a:sy n="68" d="100"/>
        </p:scale>
        <p:origin x="-78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34A90-EB03-42F3-8859-2C2B2724C058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DIAGNOSTIC DES CANCERS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61708" y="4340316"/>
            <a:ext cx="9070848" cy="1099902"/>
          </a:xfrm>
        </p:spPr>
        <p:txBody>
          <a:bodyPr>
            <a:noAutofit/>
          </a:bodyPr>
          <a:lstStyle/>
          <a:p>
            <a:pPr algn="r"/>
            <a:r>
              <a:rPr lang="fr-FR" sz="3200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 MEGUELLATI H</a:t>
            </a:r>
            <a:endParaRPr lang="fr-FR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fr-F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 </a:t>
            </a:r>
            <a:r>
              <a:rPr lang="fr-FR" sz="3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Bensalem.A</a:t>
            </a:r>
            <a:endParaRPr lang="fr-FR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26503" cy="134733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255" y="-73890"/>
            <a:ext cx="1926503" cy="13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3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3916" y="270455"/>
            <a:ext cx="11738344" cy="1371600"/>
          </a:xfrm>
        </p:spPr>
        <p:txBody>
          <a:bodyPr/>
          <a:lstStyle/>
          <a:p>
            <a:pPr algn="ctr"/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PEDAGOGIQUES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3916" y="1642055"/>
            <a:ext cx="11738344" cy="49926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sz="3200" b="1" i="1" dirty="0"/>
              <a:t>Diagnostic des cancers </a:t>
            </a:r>
            <a:r>
              <a:rPr lang="fr-FR" sz="3200" dirty="0"/>
              <a:t>: signes d’appel et investigations paracliniques ; caractérisation du stade ; pronostic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3200" b="1" dirty="0"/>
              <a:t>Décrire les principes du raisonnement diagnostique </a:t>
            </a:r>
            <a:r>
              <a:rPr lang="fr-FR" sz="3200" dirty="0"/>
              <a:t>en cancérologie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3200" dirty="0"/>
              <a:t> Expliquer </a:t>
            </a:r>
            <a:r>
              <a:rPr lang="fr-FR" sz="3200" b="1" dirty="0"/>
              <a:t>les bases des classifications </a:t>
            </a:r>
            <a:r>
              <a:rPr lang="fr-FR" sz="3200" dirty="0"/>
              <a:t>qui ont une incidence pronostique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3200" dirty="0"/>
              <a:t>Connaître </a:t>
            </a:r>
            <a:r>
              <a:rPr lang="fr-FR" sz="3200" b="1" dirty="0"/>
              <a:t>les principaux marqueurs </a:t>
            </a:r>
            <a:r>
              <a:rPr lang="fr-FR" sz="3200" dirty="0"/>
              <a:t>diagnostiques et prédictifs des cancers</a:t>
            </a:r>
          </a:p>
        </p:txBody>
      </p:sp>
    </p:spTree>
    <p:extLst>
      <p:ext uri="{BB962C8B-B14F-4D97-AF65-F5344CB8AC3E}">
        <p14:creationId xmlns:p14="http://schemas.microsoft.com/office/powerpoint/2010/main" val="3809375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8093" y="249190"/>
            <a:ext cx="11695814" cy="1371600"/>
          </a:xfrm>
        </p:spPr>
        <p:txBody>
          <a:bodyPr/>
          <a:lstStyle/>
          <a:p>
            <a:pPr algn="ctr"/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PLANS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6023" y="1339702"/>
            <a:ext cx="11107884" cy="5252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1.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b="1" u="sng" dirty="0">
                <a:solidFill>
                  <a:srgbClr val="FF0000"/>
                </a:solidFill>
              </a:rPr>
              <a:t>Signes d’appel </a:t>
            </a:r>
            <a:r>
              <a:rPr lang="fr-FR" sz="2400" b="1" dirty="0">
                <a:solidFill>
                  <a:srgbClr val="FF0000"/>
                </a:solidFill>
              </a:rPr>
              <a:t>      </a:t>
            </a:r>
            <a:r>
              <a:rPr lang="fr-FR" sz="2400" b="1" dirty="0"/>
              <a:t>Clinique            Paraclinique</a:t>
            </a:r>
          </a:p>
          <a:p>
            <a:pPr marL="0" indent="0">
              <a:buNone/>
            </a:pPr>
            <a:r>
              <a:rPr lang="fr-FR" sz="2400" b="1" dirty="0"/>
              <a:t>2. </a:t>
            </a:r>
            <a:r>
              <a:rPr lang="fr-FR" sz="2400" b="1" u="sng" dirty="0">
                <a:solidFill>
                  <a:srgbClr val="FF0000"/>
                </a:solidFill>
              </a:rPr>
              <a:t>Diagnostic</a:t>
            </a:r>
          </a:p>
          <a:p>
            <a:pPr marL="0" indent="0">
              <a:buNone/>
            </a:pPr>
            <a:r>
              <a:rPr lang="fr-FR" sz="2400" b="1" dirty="0"/>
              <a:t>	2.1. Obtention d’un échantillon de tissu tumoral</a:t>
            </a:r>
          </a:p>
          <a:p>
            <a:pPr marL="0" indent="0">
              <a:buNone/>
            </a:pPr>
            <a:r>
              <a:rPr lang="fr-FR" sz="2400" b="1" dirty="0"/>
              <a:t>	2.2. Analyse anatomo-cytopathologique</a:t>
            </a:r>
          </a:p>
          <a:p>
            <a:pPr marL="0" indent="0">
              <a:buNone/>
            </a:pPr>
            <a:r>
              <a:rPr lang="fr-FR" sz="2400" b="1" dirty="0"/>
              <a:t>3. </a:t>
            </a:r>
            <a:r>
              <a:rPr lang="fr-FR" sz="2400" b="1" u="sng" dirty="0">
                <a:solidFill>
                  <a:srgbClr val="FF0000"/>
                </a:solidFill>
              </a:rPr>
              <a:t>Examens paracliniques </a:t>
            </a:r>
            <a:r>
              <a:rPr lang="fr-FR" sz="2400" b="1" dirty="0"/>
              <a:t>: bilans d’extension et pré-thérapeutique</a:t>
            </a:r>
          </a:p>
          <a:p>
            <a:pPr marL="0" indent="0">
              <a:buNone/>
            </a:pPr>
            <a:r>
              <a:rPr lang="fr-FR" sz="2400" b="1" dirty="0"/>
              <a:t>	3.1. Bilan d’extension</a:t>
            </a:r>
          </a:p>
          <a:p>
            <a:pPr marL="0" indent="0">
              <a:buNone/>
            </a:pPr>
            <a:r>
              <a:rPr lang="fr-FR" sz="2400" b="1" dirty="0"/>
              <a:t>	3.2. Bilan pré-thérapeutique : basé sur le terrain, la stratégie thérapeutique envisagée, les 	complications suspectées</a:t>
            </a:r>
          </a:p>
          <a:p>
            <a:pPr marL="0" indent="0">
              <a:buNone/>
            </a:pPr>
            <a:r>
              <a:rPr lang="fr-FR" sz="2400" b="1" dirty="0"/>
              <a:t>4. </a:t>
            </a:r>
            <a:r>
              <a:rPr lang="fr-FR" sz="2400" b="1" u="sng" dirty="0">
                <a:solidFill>
                  <a:srgbClr val="FF0000"/>
                </a:solidFill>
              </a:rPr>
              <a:t>classification et stadification des cancers</a:t>
            </a:r>
          </a:p>
          <a:p>
            <a:pPr marL="0" indent="0">
              <a:buNone/>
            </a:pPr>
            <a:r>
              <a:rPr lang="fr-FR" sz="2400" b="1" dirty="0"/>
              <a:t> 5. </a:t>
            </a:r>
            <a:r>
              <a:rPr lang="fr-FR" sz="2400" b="1" u="sng" dirty="0">
                <a:solidFill>
                  <a:srgbClr val="FF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7903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7283" y="253497"/>
            <a:ext cx="11733291" cy="6373639"/>
          </a:xfrm>
        </p:spPr>
        <p:txBody>
          <a:bodyPr>
            <a:normAutofit fontScale="92500" lnSpcReduction="20000"/>
          </a:bodyPr>
          <a:lstStyle/>
          <a:p>
            <a:endParaRPr lang="fr-FR" dirty="0"/>
          </a:p>
          <a:p>
            <a:pPr marL="0" indent="0" algn="ctr">
              <a:buNone/>
            </a:pPr>
            <a:r>
              <a:rPr lang="fr-FR" sz="5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  <a:p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Le cancer est une pathologie fréquente potentiellement grave dont les circonstances de découverte sont le plus souvent une </a:t>
            </a:r>
            <a:r>
              <a:rPr lang="fr-FR" b="1" dirty="0"/>
              <a:t>symptomatologie évocatrice </a:t>
            </a:r>
            <a:r>
              <a:rPr lang="fr-FR" dirty="0"/>
              <a:t>ou une </a:t>
            </a:r>
            <a:r>
              <a:rPr lang="fr-FR" b="1" dirty="0"/>
              <a:t>découverte fortuite </a:t>
            </a:r>
            <a:r>
              <a:rPr lang="fr-FR" dirty="0"/>
              <a:t>chez un patient exploré pour une autre raison ou à l’occasion d’un </a:t>
            </a:r>
            <a:r>
              <a:rPr lang="fr-FR" b="1" dirty="0"/>
              <a:t>examen de dépistage.</a:t>
            </a:r>
          </a:p>
          <a:p>
            <a:pPr>
              <a:lnSpc>
                <a:spcPct val="150000"/>
              </a:lnSpc>
            </a:pPr>
            <a:r>
              <a:rPr lang="fr-FR" b="1" dirty="0"/>
              <a:t>Une fois le cancer est suspecté </a:t>
            </a:r>
            <a:r>
              <a:rPr lang="fr-FR" dirty="0"/>
              <a:t>des investigations cliniques , paracliniques doivent être organisées dans un but diagnostic, pronostique et pré-thérapeutique.</a:t>
            </a:r>
          </a:p>
          <a:p>
            <a:pPr>
              <a:lnSpc>
                <a:spcPct val="150000"/>
              </a:lnSpc>
            </a:pPr>
            <a:r>
              <a:rPr lang="fr-FR" b="1" dirty="0"/>
              <a:t>L’ensemble de ces explorations étant liées</a:t>
            </a:r>
            <a:r>
              <a:rPr lang="fr-FR" dirty="0"/>
              <a:t> les unes aux autres 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9799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7283" y="271402"/>
            <a:ext cx="11706131" cy="661105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signes d’appel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7283" y="932507"/>
            <a:ext cx="11706131" cy="568557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De multiples </a:t>
            </a:r>
            <a:r>
              <a:rPr lang="fr-FR" b="1" dirty="0">
                <a:solidFill>
                  <a:srgbClr val="FF0000"/>
                </a:solidFill>
              </a:rPr>
              <a:t>signes peuvent et doivent </a:t>
            </a:r>
            <a:r>
              <a:rPr lang="fr-FR" b="1" dirty="0"/>
              <a:t>faire évoquer le diagnostic de cancer. La présence de ces signes dits « d’appel » devra faire rechercher : </a:t>
            </a:r>
          </a:p>
          <a:p>
            <a:pPr marL="0" indent="0">
              <a:buNone/>
            </a:pPr>
            <a:r>
              <a:rPr lang="fr-FR" dirty="0"/>
              <a:t>– </a:t>
            </a:r>
            <a:r>
              <a:rPr lang="fr-FR" b="1" i="1" u="sng" dirty="0"/>
              <a:t>un terrain prédisposant : </a:t>
            </a:r>
          </a:p>
          <a:p>
            <a:pPr marL="274320" lvl="1" indent="0">
              <a:buNone/>
            </a:pPr>
            <a:r>
              <a:rPr lang="fr-FR" dirty="0"/>
              <a:t>➢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exposition professionnelle ou personnelle </a:t>
            </a:r>
            <a:r>
              <a:rPr lang="fr-FR" dirty="0"/>
              <a:t>(tabagisme actif ou passif, consommation d’alcool, infections chroniques, etc.)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à des agents cancérigènes </a:t>
            </a:r>
            <a:r>
              <a:rPr lang="fr-FR" dirty="0"/>
              <a:t>;</a:t>
            </a:r>
          </a:p>
          <a:p>
            <a:pPr marL="274320" lvl="1" indent="0">
              <a:buNone/>
            </a:pPr>
            <a:r>
              <a:rPr lang="fr-FR" dirty="0"/>
              <a:t>➢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antécédents personnels ou familiaux de cancer </a:t>
            </a:r>
            <a:r>
              <a:rPr lang="fr-FR" dirty="0"/>
              <a:t>pouvant faire suspecter un syndrome de prédisposition génétique au cancer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 smtClean="0"/>
              <a:t>Les </a:t>
            </a:r>
            <a:r>
              <a:rPr lang="fr-FR" dirty="0"/>
              <a:t>signes cliniques, biologiques et d’imagerie retrouvés dans le cadre du bilan peuvent être regroupés en </a:t>
            </a:r>
            <a:r>
              <a:rPr lang="fr-FR" b="1" i="1" dirty="0">
                <a:solidFill>
                  <a:srgbClr val="FF0000"/>
                </a:solidFill>
              </a:rPr>
              <a:t>3 grandes entités syndromiques : </a:t>
            </a:r>
          </a:p>
          <a:p>
            <a:pPr marL="274320" lvl="1" indent="0">
              <a:buNone/>
            </a:pPr>
            <a:r>
              <a:rPr lang="fr-FR" dirty="0"/>
              <a:t>– </a:t>
            </a:r>
            <a:r>
              <a:rPr lang="fr-FR" b="1" u="sng" dirty="0">
                <a:solidFill>
                  <a:schemeClr val="accent1">
                    <a:lumMod val="50000"/>
                  </a:schemeClr>
                </a:solidFill>
              </a:rPr>
              <a:t>syndrome cachectique et inflammatoire </a:t>
            </a:r>
            <a:r>
              <a:rPr lang="fr-FR" dirty="0"/>
              <a:t>: ensemble des signes en lien avec une altération de l’état général et un état inflammatoire liés au cancer ;</a:t>
            </a:r>
          </a:p>
          <a:p>
            <a:pPr marL="274320" lvl="1" indent="0">
              <a:buNone/>
            </a:pPr>
            <a:r>
              <a:rPr lang="fr-FR" dirty="0"/>
              <a:t>– </a:t>
            </a:r>
            <a:r>
              <a:rPr lang="fr-FR" b="1" u="sng" dirty="0">
                <a:solidFill>
                  <a:schemeClr val="accent1">
                    <a:lumMod val="50000"/>
                  </a:schemeClr>
                </a:solidFill>
              </a:rPr>
              <a:t>syndrome tumoral </a:t>
            </a:r>
            <a:r>
              <a:rPr lang="fr-FR" dirty="0"/>
              <a:t>: ensemble des signes cliniques, radiologiques ou biologiques liés à la présence d’une masse tumorale primitive ou de métastases et à ses conséquences locorégionales (compression, envahissement) ;</a:t>
            </a:r>
          </a:p>
          <a:p>
            <a:pPr marL="274320" lvl="1" indent="0">
              <a:buNone/>
            </a:pPr>
            <a:r>
              <a:rPr lang="fr-FR" dirty="0"/>
              <a:t>– </a:t>
            </a:r>
            <a:r>
              <a:rPr lang="fr-FR" b="1" u="sng" dirty="0">
                <a:solidFill>
                  <a:schemeClr val="accent1">
                    <a:lumMod val="50000"/>
                  </a:schemeClr>
                </a:solidFill>
              </a:rPr>
              <a:t>syndrome paranéoplasique </a:t>
            </a:r>
            <a:r>
              <a:rPr lang="fr-FR" dirty="0"/>
              <a:t>: ensemble des signes liés à une tumeur fonctionnelle sécrétante ou à une maladie auto-immune associée au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51692" y="3235569"/>
            <a:ext cx="11840308" cy="33825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3344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6291" y="217721"/>
            <a:ext cx="11725564" cy="638927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 CLINIQUE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6291" y="952902"/>
            <a:ext cx="11725564" cy="56510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Signes d‘appel</a:t>
            </a:r>
          </a:p>
        </p:txBody>
      </p:sp>
      <p:sp>
        <p:nvSpPr>
          <p:cNvPr id="4" name="Ellipse 3"/>
          <p:cNvSpPr/>
          <p:nvPr/>
        </p:nvSpPr>
        <p:spPr>
          <a:xfrm>
            <a:off x="1092200" y="2810577"/>
            <a:ext cx="2887133" cy="1020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4580467" y="2762451"/>
            <a:ext cx="3014133" cy="1078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8407400" y="2723881"/>
            <a:ext cx="3175000" cy="1155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405287" y="3080084"/>
            <a:ext cx="2238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Généraux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001106" y="2824344"/>
            <a:ext cx="21759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 systèmes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686801" y="2824344"/>
            <a:ext cx="2769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</a:t>
            </a:r>
            <a:r>
              <a:rPr lang="fr-FR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paranéoplasique</a:t>
            </a:r>
          </a:p>
        </p:txBody>
      </p:sp>
      <p:cxnSp>
        <p:nvCxnSpPr>
          <p:cNvPr id="11" name="Connecteur droit avec flèche 10"/>
          <p:cNvCxnSpPr>
            <a:endCxn id="4" idx="0"/>
          </p:cNvCxnSpPr>
          <p:nvPr/>
        </p:nvCxnSpPr>
        <p:spPr>
          <a:xfrm flipH="1">
            <a:off x="2535767" y="1574800"/>
            <a:ext cx="3373966" cy="1235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endCxn id="5" idx="0"/>
          </p:cNvCxnSpPr>
          <p:nvPr/>
        </p:nvCxnSpPr>
        <p:spPr>
          <a:xfrm>
            <a:off x="5909733" y="1583267"/>
            <a:ext cx="177801" cy="1179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endCxn id="6" idx="0"/>
          </p:cNvCxnSpPr>
          <p:nvPr/>
        </p:nvCxnSpPr>
        <p:spPr>
          <a:xfrm>
            <a:off x="5922434" y="1574800"/>
            <a:ext cx="4072466" cy="114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1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503" y="1306286"/>
            <a:ext cx="12252960" cy="5551714"/>
          </a:xfrm>
        </p:spPr>
        <p:txBody>
          <a:bodyPr>
            <a:normAutofit/>
          </a:bodyPr>
          <a:lstStyle/>
          <a:p>
            <a:r>
              <a:rPr lang="fr-FR" sz="40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1-1-1 signes généraux d’appel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Altération de l’état général : asthénie, amaigrissement, anorexie, dénutrition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Fiévre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 sueurs nocturnes</a:t>
            </a:r>
            <a:endParaRPr lang="fr-F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890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503" y="330200"/>
            <a:ext cx="12200708" cy="6527800"/>
          </a:xfrm>
        </p:spPr>
        <p:txBody>
          <a:bodyPr>
            <a:normAutofit lnSpcReduction="10000"/>
          </a:bodyPr>
          <a:lstStyle/>
          <a:p>
            <a:r>
              <a:rPr lang="fr-FR" sz="40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1-1-2 signes d’appel par système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Vasculaire 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TVP, embolie pulmonaire ( </a:t>
            </a:r>
            <a:r>
              <a:rPr lang="fr-F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tm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coagulopathie)…..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Neurologique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S neurologiques centraux focaux, att centrale des paires crâniennes</a:t>
            </a:r>
          </a:p>
          <a:p>
            <a:pPr marL="0" indent="0">
              <a:buNone/>
            </a:pPr>
            <a:r>
              <a:rPr lang="fr-F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</a:t>
            </a:r>
            <a:r>
              <a:rPr lang="fr-F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de compression médullaire…..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ORL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dysphonie, dysphagie, dlr au niveau de la sphère ORL, ulcération …..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Respiratoire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:toux, hémoptysie, dyspnée, dlr Thoracique…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Digestif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dlr abdominale ,trouble du transit , Sd occlusif, saignement digestif…..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Urologique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hématurie, orchidomégalie, dysfonction érectile…..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Rhumatologique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dlr osseuses ( mécanique/ inflammatoire) parfois réfractaire aux antalgiques palier 3 , tuméfaction, fracture spontanée …..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/>
              <a:t>Dermatologique</a:t>
            </a:r>
            <a:r>
              <a:rPr lang="fr-FR" sz="2400" dirty="0"/>
              <a:t> : mélanome lésion asymétrique, à bord irrégulier, couleur inhomogène, diamètre en augmentation évolution rapide. grain de beauté, ulcération, nodules sous cutanés …..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400" b="1" dirty="0"/>
              <a:t>Hématologique</a:t>
            </a:r>
            <a:r>
              <a:rPr lang="fr-FR" sz="2400" dirty="0"/>
              <a:t> : ADP, SPM, signes hémorragiques surtout purpuriques …….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4101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9766" y="262466"/>
            <a:ext cx="11692467" cy="6333067"/>
          </a:xfrm>
        </p:spPr>
        <p:txBody>
          <a:bodyPr>
            <a:normAutofit lnSpcReduction="10000"/>
          </a:bodyPr>
          <a:lstStyle/>
          <a:p>
            <a:r>
              <a:rPr lang="fr-FR" sz="40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1-1-3 syndrome paranéoplasique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sont des</a:t>
            </a:r>
            <a:r>
              <a:rPr lang="fr-FR" sz="2000" b="1" dirty="0"/>
              <a:t> manifestations systémiques</a:t>
            </a:r>
            <a:r>
              <a:rPr lang="fr-FR" sz="2000" dirty="0"/>
              <a:t>, </a:t>
            </a:r>
            <a:r>
              <a:rPr lang="fr-FR" sz="2000" b="1" dirty="0"/>
              <a:t>à distance du cancer</a:t>
            </a:r>
            <a:r>
              <a:rPr lang="fr-FR" sz="2000" dirty="0"/>
              <a:t>, qui ne sont pas dus à la présence de métastases mais qui sont schématiquement liés à </a:t>
            </a:r>
            <a:r>
              <a:rPr lang="fr-FR" sz="2000" b="1" dirty="0"/>
              <a:t>la production tumorale d’une substance pseudo-hormonale ou à des phénomènes auto-immuns </a:t>
            </a:r>
            <a:r>
              <a:rPr lang="fr-FR" sz="2000" dirty="0"/>
              <a:t>en rapport avec une réaction immunitaire anti-tumorale.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peuvent être regroupés en 2 grandes catégories : </a:t>
            </a:r>
            <a:r>
              <a:rPr lang="fr-FR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endocrinologique </a:t>
            </a:r>
            <a:r>
              <a:rPr lang="fr-FR" sz="2000" dirty="0"/>
              <a:t>(syndrome sécrétant) et </a:t>
            </a:r>
            <a:r>
              <a:rPr lang="fr-FR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dysimmunitaire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 La maladie veineuse </a:t>
            </a:r>
            <a:r>
              <a:rPr lang="fr-FR" sz="2000" b="1" dirty="0" err="1">
                <a:solidFill>
                  <a:srgbClr val="7030A0"/>
                </a:solidFill>
              </a:rPr>
              <a:t>thrombo-embolique</a:t>
            </a:r>
            <a:r>
              <a:rPr lang="fr-FR" sz="2000" dirty="0"/>
              <a:t> est le plus fréquent des syndromes paranéoplasiques. Elle est particulièrement fréquente dans les cancers du pancréas et de l’estomac.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Les syndromes paranéoplasiques liés à une auto-immunité sont rares, mais peuvent être inauguraux de n’importe quel type de cancer et même parfois précéder leur détection clinique, radiologique ou métabolique. ( dermatomyosite et polymyosite fréquentes dans les </a:t>
            </a:r>
            <a:r>
              <a:rPr lang="fr-FR" sz="2000" dirty="0" err="1"/>
              <a:t>kc</a:t>
            </a:r>
            <a:r>
              <a:rPr lang="fr-FR" sz="2000" dirty="0"/>
              <a:t> du poumon, sein , ovaire)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Les syndromes paranéoplasiques liés à un </a:t>
            </a:r>
            <a:r>
              <a:rPr lang="fr-FR" sz="2000" b="1" dirty="0"/>
              <a:t>syndrome sécrétant </a:t>
            </a:r>
            <a:r>
              <a:rPr lang="fr-FR" sz="2000" dirty="0"/>
              <a:t>sont fréquemment associés aux </a:t>
            </a:r>
            <a:r>
              <a:rPr lang="fr-FR" sz="2000" b="1" dirty="0"/>
              <a:t>tumeurs neuroendocrines </a:t>
            </a:r>
            <a:r>
              <a:rPr lang="fr-FR" sz="2000" dirty="0"/>
              <a:t>dont les cancers bronchiques à petites cellules ou aux tumeurs endocrines bien différenciées (notamment pancréatiques comme l’</a:t>
            </a:r>
            <a:r>
              <a:rPr lang="fr-FR" sz="2000" dirty="0" err="1"/>
              <a:t>insulinome</a:t>
            </a:r>
            <a:r>
              <a:rPr lang="fr-FR" sz="2000" dirty="0"/>
              <a:t>, le </a:t>
            </a:r>
            <a:r>
              <a:rPr lang="fr-FR" sz="2000" dirty="0" err="1"/>
              <a:t>gastrinome</a:t>
            </a:r>
            <a:r>
              <a:rPr lang="fr-FR" sz="2000" dirty="0"/>
              <a:t>, tumeur carcinoïde du grêle, cancer thyroïdien comme le carcinome médullaire, ou surrénalien comme le phéochromocytome).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9714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277091"/>
            <a:ext cx="11748655" cy="634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9788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1381" y="240632"/>
            <a:ext cx="11723571" cy="6371924"/>
          </a:xfrm>
        </p:spPr>
        <p:txBody>
          <a:bodyPr>
            <a:normAutofit/>
          </a:bodyPr>
          <a:lstStyle/>
          <a:p>
            <a:r>
              <a:rPr lang="fr-FR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 PARACLINIQUE</a:t>
            </a:r>
          </a:p>
          <a:p>
            <a:pPr marL="0" indent="0">
              <a:buNone/>
            </a:pPr>
            <a:r>
              <a:rPr lang="fr-FR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1-2-1 Biologie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b="1" i="1" dirty="0"/>
              <a:t>Les analyses biologiques peuvent amener à suspecter un cancer ou renforcer la suspicion de cancer en cas de signes cliniques associés :</a:t>
            </a:r>
            <a:r>
              <a:rPr lang="fr-FR" sz="2000" i="1" dirty="0"/>
              <a:t> </a:t>
            </a:r>
          </a:p>
          <a:p>
            <a:pPr marL="0" indent="0">
              <a:buNone/>
            </a:pPr>
            <a:r>
              <a:rPr lang="fr-FR" sz="2000" i="1" dirty="0"/>
              <a:t>	– </a:t>
            </a:r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signes biologiques liés à un syndrome cachectique et inflammatoire </a:t>
            </a:r>
            <a:r>
              <a:rPr lang="fr-FR" sz="2000" i="1" dirty="0"/>
              <a:t>: </a:t>
            </a:r>
          </a:p>
          <a:p>
            <a:pPr marL="0" indent="0">
              <a:buNone/>
            </a:pPr>
            <a:r>
              <a:rPr lang="fr-FR" sz="2000" i="1" dirty="0"/>
              <a:t>	dénutrition (baisse de l’albumine et de la préalbumine), élévation de la CRP, et du 	fibrinogène ;</a:t>
            </a:r>
          </a:p>
          <a:p>
            <a:pPr marL="0" indent="0">
              <a:buNone/>
            </a:pPr>
            <a:r>
              <a:rPr lang="fr-FR" sz="2000" i="1" dirty="0"/>
              <a:t>	– </a:t>
            </a:r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signes biologiques liés à un syndrome de masse  </a:t>
            </a:r>
            <a:r>
              <a:rPr lang="fr-FR" sz="2000" i="1" dirty="0"/>
              <a:t>: perturbations de fonctions 	d’organe, principalement hématologique, rénale et hépatique, élévation des LDH, 	hypercalcémie (par métastase osseuse), syndrome de lyse tumorale spontanée 	biologique ;</a:t>
            </a:r>
          </a:p>
          <a:p>
            <a:pPr marL="0" indent="0">
              <a:buNone/>
            </a:pPr>
            <a:r>
              <a:rPr lang="fr-FR" sz="2000" i="1" dirty="0"/>
              <a:t>	– </a:t>
            </a:r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signes biologiques liés à un syndrome paranéoplasique  </a:t>
            </a:r>
            <a:r>
              <a:rPr lang="fr-FR" sz="2000" i="1" dirty="0"/>
              <a:t>: hypercalcémie (par 	sécrétion de PTH-</a:t>
            </a:r>
            <a:r>
              <a:rPr lang="fr-FR" sz="2000" i="1" dirty="0" err="1"/>
              <a:t>rp</a:t>
            </a:r>
            <a:r>
              <a:rPr lang="fr-FR" sz="2000" i="1" dirty="0"/>
              <a:t>), hyponatrémie (sécrétion inappropriée d’ADH), dosages 	hormonaux anormaux ou résultats évocateurs d’</a:t>
            </a:r>
            <a:r>
              <a:rPr lang="fr-FR" sz="2000" i="1" dirty="0" err="1"/>
              <a:t>autoimmunité</a:t>
            </a:r>
            <a:r>
              <a:rPr lang="fr-FR" sz="20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50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0257" y="356135"/>
            <a:ext cx="11608067" cy="620829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signes d’appels pourront ainsi être 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dirty="0"/>
              <a:t>– </a:t>
            </a:r>
            <a:r>
              <a:rPr lang="fr-FR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hématologiques</a:t>
            </a:r>
            <a:r>
              <a:rPr lang="fr-FR" sz="2000" dirty="0"/>
              <a:t> 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/>
              <a:t>anémie microcytaire ferriprive sur saignement chronique,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/>
              <a:t>lymphopénie (de dénutrition ou liée à un envahissement médullaire),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/>
              <a:t>hyperleucocytose et </a:t>
            </a:r>
            <a:r>
              <a:rPr lang="fr-FR" sz="1800" dirty="0" err="1"/>
              <a:t>thrombocytémie</a:t>
            </a:r>
            <a:r>
              <a:rPr lang="fr-FR" sz="1800" dirty="0"/>
              <a:t> secondaire à une inflammation chronique,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 err="1"/>
              <a:t>pancytopénie</a:t>
            </a:r>
            <a:r>
              <a:rPr lang="fr-FR" sz="1800" dirty="0"/>
              <a:t> d’origine centrale par envahissement médullaire,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/>
              <a:t>anémie hémolytique mécanique et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800" dirty="0"/>
              <a:t>thrombopénie dans le cadre d’une microangiopathie thrombotique.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fr-FR" sz="1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dirty="0"/>
              <a:t>- </a:t>
            </a:r>
            <a:r>
              <a:rPr lang="fr-FR" sz="2800" b="1" i="1" dirty="0">
                <a:solidFill>
                  <a:srgbClr val="7030A0"/>
                </a:solidFill>
              </a:rPr>
              <a:t>biochimiques</a:t>
            </a:r>
            <a:r>
              <a:rPr lang="fr-FR" sz="2000" dirty="0"/>
              <a:t> : </a:t>
            </a:r>
          </a:p>
          <a:p>
            <a:pPr lvl="2">
              <a:buFont typeface="Wingdings" pitchFamily="2" charset="2"/>
              <a:buChar char="§"/>
            </a:pPr>
            <a:r>
              <a:rPr lang="fr-FR" sz="1800" dirty="0"/>
              <a:t> </a:t>
            </a:r>
            <a:r>
              <a:rPr lang="fr-FR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ionogramme sanguin </a:t>
            </a:r>
            <a:r>
              <a:rPr lang="fr-FR" sz="1800" dirty="0"/>
              <a:t>: hyponatrémie, hypercalcémie, hyperphosphorémie ;</a:t>
            </a:r>
          </a:p>
          <a:p>
            <a:pPr lvl="2">
              <a:buFont typeface="Wingdings" pitchFamily="2" charset="2"/>
              <a:buChar char="§"/>
            </a:pPr>
            <a:r>
              <a:rPr lang="fr-FR" sz="1800" dirty="0"/>
              <a:t> </a:t>
            </a:r>
            <a:r>
              <a:rPr lang="fr-FR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rénale  </a:t>
            </a:r>
            <a:r>
              <a:rPr lang="fr-FR" sz="1800" dirty="0"/>
              <a:t>: élévation de la créatininémie (obstacle sur les voies urinaires avec ou sans infection urinaire microangiopathie thrombotique, atteinte glomérulaire) ;</a:t>
            </a:r>
          </a:p>
          <a:p>
            <a:pPr lvl="2">
              <a:buFont typeface="Wingdings" pitchFamily="2" charset="2"/>
              <a:buChar char="§"/>
            </a:pPr>
            <a:r>
              <a:rPr lang="fr-FR" sz="1800" dirty="0"/>
              <a:t> </a:t>
            </a:r>
            <a:r>
              <a:rPr lang="fr-FR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 hépatique </a:t>
            </a:r>
            <a:r>
              <a:rPr lang="fr-FR" sz="1800" dirty="0"/>
              <a:t>: cholestase ictérique ou anictérique, cytolyse, diminution des facteurs de coagulation, hypoglycémie en cas d’envahissement hépatique massif ou d’insuffisance hépatocellulaire ;</a:t>
            </a:r>
          </a:p>
          <a:p>
            <a:pPr lvl="2">
              <a:buFont typeface="Wingdings" pitchFamily="2" charset="2"/>
              <a:buChar char="§"/>
            </a:pPr>
            <a:r>
              <a:rPr lang="fr-FR" sz="1800" dirty="0"/>
              <a:t> </a:t>
            </a:r>
            <a:r>
              <a:rPr lang="fr-FR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dans le cas des hémopathies </a:t>
            </a:r>
            <a:r>
              <a:rPr lang="fr-FR" sz="1800" dirty="0"/>
              <a:t>: anomalies quantitative ou qualitative des lignées sanguines comme présence de myélémie, de blastes, anémie, neutropénie, lymphopénie, thrombopénie centrale (aplasie), polyglobulie (maladie de Vaquez), thrombocytémie, hyperlymphocytose, </a:t>
            </a:r>
            <a:r>
              <a:rPr lang="fr-FR" sz="1800" dirty="0" err="1"/>
              <a:t>hyperleucocytos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225459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9507" y="308008"/>
            <a:ext cx="11646569" cy="627567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2000" dirty="0"/>
              <a:t> </a:t>
            </a:r>
            <a:r>
              <a:rPr lang="fr-FR" sz="2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marqueurs tumoraux </a:t>
            </a:r>
            <a:r>
              <a:rPr lang="fr-FR" sz="2400" dirty="0"/>
              <a:t>: 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fr-FR" dirty="0"/>
              <a:t>Le dosage des marqueurs tumoraux permet d’identifier dans le sang, les urines ou certains tissus de l’organisme, différentes substances pouvant </a:t>
            </a:r>
            <a:r>
              <a:rPr lang="fr-FR" b="1" dirty="0"/>
              <a:t>indiquer la présence d’un cancer</a:t>
            </a:r>
            <a:r>
              <a:rPr lang="fr-FR" dirty="0"/>
              <a:t>. Cet examen peut s’avérer utile à différentes étapes de la prise en charge : du diagnostic du cancer à l’évaluation de l’efficacité du traitement, ou encore lors du suivi des patients. 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fr-FR" dirty="0"/>
              <a:t>Certains marqueurs tumoraux sont spécifiques d'un seul type de cancer, 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fr-FR" dirty="0"/>
              <a:t>d’autres sont associés à plusieurs types différents de cancer. 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fr-FR" dirty="0"/>
              <a:t>Le dosage des marqueurs tumoraux peut aussi être élevé lors d’affections non cancéreuses.</a:t>
            </a:r>
          </a:p>
          <a:p>
            <a:pPr>
              <a:lnSpc>
                <a:spcPct val="110000"/>
              </a:lnSpc>
            </a:pPr>
            <a:endParaRPr lang="fr-FR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fr-FR" b="1" dirty="0"/>
              <a:t>élévation du PSA </a:t>
            </a:r>
            <a:r>
              <a:rPr lang="fr-FR" dirty="0"/>
              <a:t>dans le cadre du dépistage du cancer de la prostate 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élévation de l’</a:t>
            </a:r>
            <a:r>
              <a:rPr lang="fr-FR" b="1" dirty="0" err="1"/>
              <a:t>alphafœtoprotéine</a:t>
            </a:r>
            <a:r>
              <a:rPr lang="fr-FR" dirty="0"/>
              <a:t>, qui doit être régulièrement dosée chez les patients cirrhotiques, pour dépister les hépatocarcinomes 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électrophorèse des protéines </a:t>
            </a:r>
            <a:r>
              <a:rPr lang="fr-FR" dirty="0"/>
              <a:t>plasmatiques ou urinaires et immunofixation (myélome multiple ou autres hémopathies lymphoïdes) 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fr-FR" dirty="0"/>
              <a:t> les autres marqueurs tumoraux ne seront dosés que dans des situations où un cancer est déjà suspecté, à visée de suivi ou, pour certains, à titre d’aide au diagnostic conformément aux recommandations </a:t>
            </a:r>
          </a:p>
        </p:txBody>
      </p:sp>
    </p:spTree>
    <p:extLst>
      <p:ext uri="{BB962C8B-B14F-4D97-AF65-F5344CB8AC3E}">
        <p14:creationId xmlns:p14="http://schemas.microsoft.com/office/powerpoint/2010/main" val="301736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0631" y="221381"/>
            <a:ext cx="11656193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1-2-2 Imagerie </a:t>
            </a:r>
          </a:p>
          <a:p>
            <a:pPr marL="0" indent="0">
              <a:buNone/>
            </a:pPr>
            <a:r>
              <a:rPr lang="fr-FR" sz="2000" b="1" dirty="0"/>
              <a:t>Certains signes à l’imagerie (radiologie ou endoscopie) peuvent faire évoquer le diagnostic de cancer, principalement par la mise en évidence d’un syndrome de masse(s).</a:t>
            </a:r>
          </a:p>
          <a:p>
            <a:pPr>
              <a:buFont typeface="Wingdings" pitchFamily="2" charset="2"/>
              <a:buChar char="v"/>
            </a:pPr>
            <a:r>
              <a:rPr lang="fr-FR" sz="2000" b="1" dirty="0"/>
              <a:t>Il peut s’agir d’examens réalisés pour un tableau clinique évocateur de cancer 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	➢ </a:t>
            </a:r>
            <a:r>
              <a:rPr lang="fr-FR" sz="2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signes cliniques en lien avec un syndrome de masse </a:t>
            </a:r>
            <a:r>
              <a:rPr lang="fr-FR" sz="2000" dirty="0"/>
              <a:t>: examens guidés par la 	clinique (mammographie en cas de masse mammaire, radiographie ou scanner 	thoracique en cas de symptomatologie respiratoire, endoscopie digestive et/ou           	imagerie abdominale en cas de symptômes digestifs, endoscopie ORL en cas de 	signes ORL, </a:t>
            </a:r>
          </a:p>
          <a:p>
            <a:pPr marL="0" indent="0">
              <a:buNone/>
            </a:pPr>
            <a:r>
              <a:rPr lang="fr-FR" sz="2000" dirty="0"/>
              <a:t>	➢ </a:t>
            </a:r>
            <a:r>
              <a:rPr lang="fr-FR" sz="2000" b="1" dirty="0">
                <a:solidFill>
                  <a:srgbClr val="7030A0"/>
                </a:solidFill>
              </a:rPr>
              <a:t>signes cliniques en lien avec un syndrome de cachexie ou une hyperthermie 	isolées </a:t>
            </a:r>
            <a:r>
              <a:rPr lang="fr-FR" sz="2000" dirty="0"/>
              <a:t>: examens d’imagerie larges, non orientés par la clinique (scanner thoraco-	abdomino-pelvien, ou radiographie thoracique </a:t>
            </a:r>
          </a:p>
          <a:p>
            <a:pPr marL="0" indent="0">
              <a:buNone/>
            </a:pPr>
            <a:r>
              <a:rPr lang="fr-FR" sz="2000" dirty="0"/>
              <a:t>	➢ </a:t>
            </a:r>
            <a:r>
              <a:rPr lang="fr-FR" sz="2000" b="1" dirty="0">
                <a:solidFill>
                  <a:srgbClr val="7030A0"/>
                </a:solidFill>
              </a:rPr>
              <a:t>signes cliniques en lien avec un syndrome paranéoplasique</a:t>
            </a:r>
            <a:r>
              <a:rPr lang="fr-FR" sz="2000" dirty="0"/>
              <a:t> : examens d’imagerie 	larges, voire de médecine nucléaire (scintigraphie, TEP-TDM), recherchant 	préférentiellement une pathologie tumorale d’origine pulmonaire ou mammaire</a:t>
            </a:r>
          </a:p>
          <a:p>
            <a:pPr>
              <a:buFont typeface="Wingdings" pitchFamily="2" charset="2"/>
              <a:buChar char="v"/>
            </a:pPr>
            <a:r>
              <a:rPr lang="fr-FR" sz="2000" dirty="0"/>
              <a:t> </a:t>
            </a:r>
            <a:r>
              <a:rPr lang="fr-FR" sz="2000" b="1" dirty="0"/>
              <a:t>un dépistage organisé ou individuel </a:t>
            </a:r>
            <a:r>
              <a:rPr lang="fr-FR" sz="2000" dirty="0"/>
              <a:t>du cancer (mammographie, coloscopie, 	colposcopie).</a:t>
            </a:r>
          </a:p>
          <a:p>
            <a:pPr>
              <a:buFont typeface="Wingdings" pitchFamily="2" charset="2"/>
              <a:buChar char="v"/>
            </a:pPr>
            <a:r>
              <a:rPr lang="fr-FR" sz="2000" dirty="0"/>
              <a:t> </a:t>
            </a:r>
            <a:r>
              <a:rPr lang="fr-FR" sz="2000" b="1" dirty="0"/>
              <a:t>une autre raison</a:t>
            </a:r>
            <a:r>
              <a:rPr lang="fr-FR" sz="2000" dirty="0"/>
              <a:t>, non rattachée à une suspicion de cancer (découverte fortuite, frottis et 	colposcopie).</a:t>
            </a:r>
          </a:p>
        </p:txBody>
      </p:sp>
    </p:spTree>
    <p:extLst>
      <p:ext uri="{BB962C8B-B14F-4D97-AF65-F5344CB8AC3E}">
        <p14:creationId xmlns:p14="http://schemas.microsoft.com/office/powerpoint/2010/main" val="381819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5814" y="209006"/>
            <a:ext cx="11653284" cy="66489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sz="5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Diagnostic</a:t>
            </a:r>
          </a:p>
          <a:p>
            <a:pPr>
              <a:lnSpc>
                <a:spcPct val="150000"/>
              </a:lnSpc>
            </a:pPr>
            <a:r>
              <a:rPr lang="fr-FR" dirty="0"/>
              <a:t>Le diagnostic de cancer est posé par l’examen histologique, ou cytologique, d’un échantillon de tissu tumoral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600" b="1" dirty="0">
                <a:solidFill>
                  <a:srgbClr val="00B050"/>
                </a:solidFill>
              </a:rPr>
              <a:t>2.1. Obtention d’un échantillon de tissu tumoral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La preuve anatomo-pathologique peut être apportée à partir d’un échantillon de la tumeur supposée primitive ou d’une lésion métastatique mise en évidence lors des investigations cliniques et </a:t>
            </a:r>
            <a:r>
              <a:rPr lang="fr-FR" dirty="0" err="1"/>
              <a:t>paracliniques</a:t>
            </a:r>
            <a:r>
              <a:rPr lang="fr-FR" dirty="0"/>
              <a:t> initiales.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Le choix de l’examen invasif à visée diagnostique (ponction cytologique, biopsie, pièce opératoire) se fera en fonction de la balance bénéfice / risque des différents examens possibles, dépendant ainsi de : 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 l’accessibilité des différents sites tumoraux et Choisir la biopsie la moins risquée </a:t>
            </a:r>
            <a:r>
              <a:rPr lang="fr-FR" dirty="0"/>
              <a:t>! 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 les biopsies permettent de ramener plus de tissu tumoral que les ponctions cytologiques.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 la rentabilité modérée des biopsies osseuses </a:t>
            </a:r>
            <a:r>
              <a:rPr lang="fr-FR" dirty="0"/>
              <a:t>avec difficultés à faire des analyses moléculaires sur le tissu osseux tumoral avec nécessité de décalcification du fragment biopsique</a:t>
            </a:r>
          </a:p>
        </p:txBody>
      </p:sp>
    </p:spTree>
    <p:extLst>
      <p:ext uri="{BB962C8B-B14F-4D97-AF65-F5344CB8AC3E}">
        <p14:creationId xmlns:p14="http://schemas.microsoft.com/office/powerpoint/2010/main" val="373600970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6447" y="276447"/>
            <a:ext cx="11621386" cy="6315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4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 Analyse </a:t>
            </a:r>
            <a:r>
              <a:rPr lang="fr-FR" sz="3400" b="1" i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anatomo-cytopathologique</a:t>
            </a:r>
            <a:endParaRPr lang="fr-FR" sz="34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2.2.1. Questions posées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/>
              <a:t>L’examen </a:t>
            </a:r>
            <a:r>
              <a:rPr lang="fr-FR" sz="2400" dirty="0" err="1"/>
              <a:t>anatomo</a:t>
            </a:r>
            <a:r>
              <a:rPr lang="fr-FR" sz="2400" dirty="0"/>
              <a:t>-cytopathologique de l’échantillon tumoral permet de répondre à des questions majeures :</a:t>
            </a:r>
          </a:p>
          <a:p>
            <a:pPr lvl="1">
              <a:lnSpc>
                <a:spcPct val="150000"/>
              </a:lnSpc>
            </a:pPr>
            <a:r>
              <a:rPr lang="fr-FR" sz="2000" dirty="0"/>
              <a:t> </a:t>
            </a:r>
            <a:r>
              <a:rPr lang="fr-FR" sz="2800" b="1" dirty="0"/>
              <a:t>tumeur bénigne / maligne ;</a:t>
            </a:r>
          </a:p>
          <a:p>
            <a:pPr lvl="1">
              <a:lnSpc>
                <a:spcPct val="150000"/>
              </a:lnSpc>
            </a:pPr>
            <a:r>
              <a:rPr lang="fr-FR" sz="2000" dirty="0"/>
              <a:t> </a:t>
            </a:r>
            <a:r>
              <a:rPr lang="fr-FR" sz="2800" b="1" dirty="0"/>
              <a:t>tissu d’origine du cancer </a:t>
            </a:r>
            <a:r>
              <a:rPr lang="fr-FR" sz="2000" dirty="0"/>
              <a:t>: carcinome (épithélium) / mélanome / sarcome (tissu conjonctif) / neurologique (gliome, astrocytome…) / myélome, lymphome et leucémie (tissu hématopoïétique) / tumeur germinale et embryonnaire . </a:t>
            </a:r>
          </a:p>
          <a:p>
            <a:pPr lvl="1">
              <a:lnSpc>
                <a:spcPct val="150000"/>
              </a:lnSpc>
            </a:pPr>
            <a:r>
              <a:rPr lang="fr-FR" sz="2000" dirty="0"/>
              <a:t>Dans certains cas il est difficile de préciser le diagnostic de l’organe d’origine du cancer qui peut parfois être guidé par des </a:t>
            </a:r>
            <a:r>
              <a:rPr lang="fr-FR" sz="2000" b="1" dirty="0"/>
              <a:t>marquages immunohistochimiques</a:t>
            </a:r>
            <a:r>
              <a:rPr lang="fr-FR" sz="2000" dirty="0"/>
              <a:t> (cytokératine, </a:t>
            </a:r>
            <a:r>
              <a:rPr lang="fr-FR" sz="2000" dirty="0" err="1"/>
              <a:t>alphafoetoprotéine</a:t>
            </a:r>
            <a:r>
              <a:rPr lang="fr-FR" sz="2000" dirty="0"/>
              <a:t>, récepteurs hormonaux…)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583" y="276447"/>
            <a:ext cx="2762250" cy="13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91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7079" y="255181"/>
            <a:ext cx="11589488" cy="6315740"/>
          </a:xfrm>
        </p:spPr>
        <p:txBody>
          <a:bodyPr/>
          <a:lstStyle/>
          <a:p>
            <a:r>
              <a:rPr lang="fr-FR" sz="2400" dirty="0"/>
              <a:t>– </a:t>
            </a:r>
            <a:r>
              <a:rPr lang="fr-FR" sz="3200" b="1" dirty="0"/>
              <a:t>évaluation pronostique </a:t>
            </a:r>
            <a:r>
              <a:rPr lang="fr-FR" sz="2400" dirty="0"/>
              <a:t>: </a:t>
            </a:r>
          </a:p>
          <a:p>
            <a:pPr marL="274320" lvl="1" indent="0">
              <a:buNone/>
            </a:pPr>
            <a:r>
              <a:rPr lang="fr-FR" sz="2000" dirty="0"/>
              <a:t>➢ </a:t>
            </a:r>
            <a:r>
              <a:rPr lang="fr-FR" sz="2000" dirty="0">
                <a:solidFill>
                  <a:srgbClr val="FF0000"/>
                </a:solidFill>
              </a:rPr>
              <a:t>degré d’invasion  </a:t>
            </a:r>
            <a:r>
              <a:rPr lang="fr-FR" sz="2000" dirty="0"/>
              <a:t>au travers des différentes couches du tissu atteint </a:t>
            </a:r>
          </a:p>
          <a:p>
            <a:pPr marL="274320" lvl="1" indent="0">
              <a:buNone/>
            </a:pPr>
            <a:r>
              <a:rPr lang="fr-FR" sz="2000" dirty="0"/>
              <a:t>présence d’emboles vasculaires, d’</a:t>
            </a:r>
            <a:r>
              <a:rPr lang="fr-FR" sz="2000" dirty="0" err="1"/>
              <a:t>engainements</a:t>
            </a:r>
            <a:r>
              <a:rPr lang="fr-FR" sz="2000" dirty="0"/>
              <a:t> </a:t>
            </a:r>
            <a:r>
              <a:rPr lang="fr-FR" sz="2000" dirty="0" err="1"/>
              <a:t>périnerveux</a:t>
            </a:r>
            <a:r>
              <a:rPr lang="fr-FR" sz="2000" dirty="0"/>
              <a:t> </a:t>
            </a:r>
          </a:p>
          <a:p>
            <a:pPr marL="274320" lvl="1" indent="0">
              <a:buNone/>
            </a:pPr>
            <a:r>
              <a:rPr lang="fr-FR" sz="2000" dirty="0"/>
              <a:t>➢ </a:t>
            </a:r>
            <a:r>
              <a:rPr lang="fr-FR" sz="2000" dirty="0">
                <a:solidFill>
                  <a:srgbClr val="FF0000"/>
                </a:solidFill>
              </a:rPr>
              <a:t>degré de différenciation </a:t>
            </a:r>
            <a:r>
              <a:rPr lang="fr-FR" sz="2000" dirty="0"/>
              <a:t>(perte des caractéristiques morphologiques du tissu d’origine, au niveau cytologique et histologique) </a:t>
            </a:r>
          </a:p>
          <a:p>
            <a:pPr marL="274320" lvl="1" indent="0">
              <a:buNone/>
            </a:pPr>
            <a:r>
              <a:rPr lang="fr-FR" sz="2000" dirty="0"/>
              <a:t>➢ </a:t>
            </a:r>
            <a:r>
              <a:rPr lang="fr-FR" sz="2000" dirty="0">
                <a:solidFill>
                  <a:srgbClr val="FF0000"/>
                </a:solidFill>
              </a:rPr>
              <a:t>activité mitotique </a:t>
            </a:r>
            <a:endParaRPr lang="fr-FR" sz="2000" dirty="0"/>
          </a:p>
          <a:p>
            <a:pPr marL="274320" lvl="1" indent="0">
              <a:buNone/>
            </a:pPr>
            <a:r>
              <a:rPr lang="fr-FR" sz="2000" dirty="0"/>
              <a:t>➢ pour certaines tumeurs, </a:t>
            </a:r>
            <a:r>
              <a:rPr lang="fr-FR" sz="2000" dirty="0">
                <a:solidFill>
                  <a:srgbClr val="FF0000"/>
                </a:solidFill>
              </a:rPr>
              <a:t>des grades </a:t>
            </a:r>
            <a:r>
              <a:rPr lang="fr-FR" sz="2000" dirty="0" err="1">
                <a:solidFill>
                  <a:srgbClr val="FF0000"/>
                </a:solidFill>
              </a:rPr>
              <a:t>histopronostiques</a:t>
            </a:r>
            <a:r>
              <a:rPr lang="fr-FR" sz="2000" dirty="0">
                <a:solidFill>
                  <a:srgbClr val="FF0000"/>
                </a:solidFill>
              </a:rPr>
              <a:t> sont validés </a:t>
            </a:r>
            <a:r>
              <a:rPr lang="fr-FR" sz="2000" dirty="0"/>
              <a:t>;</a:t>
            </a:r>
          </a:p>
          <a:p>
            <a:pPr marL="274320" lvl="1" indent="0">
              <a:buNone/>
            </a:pPr>
            <a:r>
              <a:rPr lang="fr-FR" sz="2000" dirty="0"/>
              <a:t>➢ présence </a:t>
            </a:r>
            <a:r>
              <a:rPr lang="fr-FR" sz="2000" dirty="0">
                <a:solidFill>
                  <a:srgbClr val="FF0000"/>
                </a:solidFill>
              </a:rPr>
              <a:t>de marqueurs anatomo-pathologiques pronostiques ou prédictifs de réponse à un traitement spécifique</a:t>
            </a:r>
            <a:r>
              <a:rPr lang="fr-FR" sz="2000" dirty="0"/>
              <a:t> : surexpression de HER2, des récepteurs hormonaux dans les cancers du sein, par exemple ;</a:t>
            </a:r>
          </a:p>
          <a:p>
            <a:pPr marL="274320" lvl="1" indent="0">
              <a:lnSpc>
                <a:spcPct val="150000"/>
              </a:lnSpc>
              <a:buNone/>
            </a:pPr>
            <a:r>
              <a:rPr lang="fr-FR" sz="2000" dirty="0"/>
              <a:t>➢ parfois anomalies du caryotype, présence d’anomalies génétiques somatiques (= uniquement dans les cellules tumorales) qui peuvent avoir une valeur pronostique et guider la thérapeutique (exemple : présence d’une mutation EGFR dans les cancers bronchiques qui est prédictive de la réponse aux inhibiteurs de la tyrosine kinase de l’EGFR).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281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3915" y="244549"/>
            <a:ext cx="11706447" cy="6379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2.2.2. L’examen cytopathologique</a:t>
            </a:r>
          </a:p>
          <a:p>
            <a:pPr lvl="1"/>
            <a:r>
              <a:rPr lang="fr-FR" sz="1800" dirty="0"/>
              <a:t>peut être réalisée à partir de </a:t>
            </a:r>
            <a:r>
              <a:rPr lang="fr-FR" sz="1800" b="1" dirty="0"/>
              <a:t>cellules isolées </a:t>
            </a:r>
            <a:r>
              <a:rPr lang="fr-FR" sz="1800" dirty="0"/>
              <a:t>prélevées dans des sécrétions naturelles (FCV, expectorations) ou au cours de ponction à l’aiguille fine d’un liquide (pleurésie) ascite ; liquide céphalo-rachidien) ou dans un nodule plein (sein, foie).</a:t>
            </a:r>
          </a:p>
          <a:p>
            <a:pPr lvl="1"/>
            <a:r>
              <a:rPr lang="fr-FR" sz="1800" dirty="0"/>
              <a:t> Un examen cytologique à la recherche d’un cancer n’a de valeur que positif </a:t>
            </a:r>
          </a:p>
          <a:p>
            <a:pPr lvl="1"/>
            <a:r>
              <a:rPr lang="fr-FR" sz="1800" dirty="0"/>
              <a:t> L’affirmation du caractère malin des cellules repose sur l’existence d’anomalies :</a:t>
            </a:r>
          </a:p>
          <a:p>
            <a:pPr marL="274320" lvl="1" indent="0">
              <a:buNone/>
            </a:pPr>
            <a:r>
              <a:rPr lang="fr-FR" sz="1800" dirty="0"/>
              <a:t>	– </a:t>
            </a:r>
            <a:r>
              <a:rPr lang="fr-FR" sz="1800" b="1" dirty="0"/>
              <a:t>nucléaires</a:t>
            </a:r>
            <a:r>
              <a:rPr lang="fr-FR" sz="1800" dirty="0"/>
              <a:t> : </a:t>
            </a:r>
            <a:r>
              <a:rPr lang="fr-FR" sz="1800" dirty="0" err="1"/>
              <a:t>anisocaryose</a:t>
            </a:r>
            <a:r>
              <a:rPr lang="fr-FR" sz="1800" dirty="0"/>
              <a:t>, </a:t>
            </a:r>
            <a:r>
              <a:rPr lang="fr-FR" sz="1800" dirty="0" err="1"/>
              <a:t>hyperchromatisme</a:t>
            </a:r>
            <a:r>
              <a:rPr lang="fr-FR" sz="1800" dirty="0"/>
              <a:t>, augmentation du nombre de mitoses et 	mitoses anormales ;</a:t>
            </a:r>
          </a:p>
          <a:p>
            <a:pPr marL="274320" lvl="1" indent="0">
              <a:buNone/>
            </a:pPr>
            <a:r>
              <a:rPr lang="fr-FR" sz="1800"/>
              <a:t>	– </a:t>
            </a:r>
            <a:r>
              <a:rPr lang="fr-FR" sz="1800" b="1" dirty="0"/>
              <a:t>cytoplasmiques</a:t>
            </a:r>
            <a:r>
              <a:rPr lang="fr-FR" sz="1800" dirty="0"/>
              <a:t> : anisocytose, augmentation du rapport nucléo-cytoplasmique.</a:t>
            </a:r>
          </a:p>
          <a:p>
            <a:pPr lvl="1"/>
            <a:endParaRPr lang="fr-FR" sz="1800" dirty="0"/>
          </a:p>
          <a:p>
            <a:r>
              <a:rPr lang="fr-FR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caractéristiques de la tumeur telles que son type histologique, son degré de différenciation, ne peuvent être appréciées sur la cytologie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028" y="4796169"/>
            <a:ext cx="3636334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8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5181" y="329609"/>
            <a:ext cx="11642652" cy="6220047"/>
          </a:xfrm>
        </p:spPr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2.2.3. L’examen </a:t>
            </a:r>
            <a:r>
              <a:rPr lang="fr-FR" sz="2800" b="1" i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histopathologique</a:t>
            </a:r>
            <a:endParaRPr lang="fr-FR" sz="2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50000"/>
              </a:lnSpc>
            </a:pPr>
            <a:r>
              <a:rPr lang="fr-FR" sz="1800" dirty="0"/>
              <a:t>L’examen </a:t>
            </a:r>
            <a:r>
              <a:rPr lang="fr-FR" sz="1800" dirty="0" err="1"/>
              <a:t>histopathologique</a:t>
            </a:r>
            <a:r>
              <a:rPr lang="fr-FR" sz="1800" dirty="0"/>
              <a:t>, à partir d’un échantillon tumoral au minimum biopsique permet d’étudier les anomalies cytologiques et également les anomalies de l’architecture du tissu tumoral (degré d’invasion, degré de différenciation, vascularisation). 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Sa valeur prédictive négative est </a:t>
            </a:r>
            <a:r>
              <a:rPr lang="fr-FR" sz="1800" dirty="0">
                <a:solidFill>
                  <a:srgbClr val="FF0000"/>
                </a:solidFill>
              </a:rPr>
              <a:t>supérieure</a:t>
            </a:r>
            <a:r>
              <a:rPr lang="fr-FR" sz="1800" dirty="0"/>
              <a:t> à celle de l’examen cytologique.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 L’obtention de tissu tumoral est requise pour faire un diagnostic histologique, mais également pour la plupart des cancers, faire des analyses à la recherche d’anomalies moléculaires qui aideront le choix des traitements. 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En effet, il est alors possible d’extraire de l’ADN tumoral à partir des cellules tumorales de la biopsie ou de la pièce chirurgicale, qui servira ensuite à établir le profil moléculaire du cancer en fonction du primitif et du stade de la maladie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14" y="4896625"/>
            <a:ext cx="3859619" cy="16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52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8383" y="250257"/>
            <a:ext cx="11598442" cy="6333423"/>
          </a:xfrm>
        </p:spPr>
        <p:txBody>
          <a:bodyPr/>
          <a:lstStyle/>
          <a:p>
            <a:pPr marL="0" indent="0">
              <a:buNone/>
            </a:pPr>
            <a:r>
              <a:rPr lang="fr-F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Examens </a:t>
            </a:r>
            <a:r>
              <a:rPr lang="fr-FR" sz="40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paracliniques</a:t>
            </a:r>
            <a:r>
              <a:rPr lang="fr-F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bilans d’extension et pré-thérapeutique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 </a:t>
            </a:r>
            <a:r>
              <a:rPr lang="fr-FR" sz="2400" dirty="0"/>
              <a:t>Une fois le diagnostic de malignité établi ou en cas de suspicion très forte de cancer des examens </a:t>
            </a:r>
            <a:r>
              <a:rPr lang="fr-FR" sz="2400" dirty="0" err="1"/>
              <a:t>paracliniques</a:t>
            </a:r>
            <a:r>
              <a:rPr lang="fr-FR" sz="2400" dirty="0"/>
              <a:t> sont prescrits avec </a:t>
            </a:r>
            <a:r>
              <a:rPr lang="fr-FR" sz="2400" b="1" dirty="0"/>
              <a:t>deux objectifs </a:t>
            </a:r>
            <a:r>
              <a:rPr lang="fr-FR" sz="2400" dirty="0"/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/>
              <a:t>	– </a:t>
            </a:r>
            <a:r>
              <a:rPr lang="fr-FR" sz="2400" b="1" dirty="0"/>
              <a:t>évaluer l’extension de la maladie </a:t>
            </a:r>
            <a:r>
              <a:rPr lang="fr-FR" sz="2400" dirty="0"/>
              <a:t>afin de différencier une situation 	de curabilité (objectif de guérison du cancer) et une situation 	d’incurabilité aussi appelée palliative 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/>
              <a:t>	– </a:t>
            </a:r>
            <a:r>
              <a:rPr lang="fr-FR" sz="2400" b="1" dirty="0"/>
              <a:t>évaluer le terrain</a:t>
            </a:r>
            <a:r>
              <a:rPr lang="fr-FR" sz="2400" dirty="0"/>
              <a:t>, la gravité des comorbidités, les éventuelles 	complications du cancer afin de déterminer les traitements 	envisageables lors d’un bilan dit pré-thérapeutique</a:t>
            </a:r>
          </a:p>
        </p:txBody>
      </p:sp>
    </p:spTree>
    <p:extLst>
      <p:ext uri="{BB962C8B-B14F-4D97-AF65-F5344CB8AC3E}">
        <p14:creationId xmlns:p14="http://schemas.microsoft.com/office/powerpoint/2010/main" val="247583448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8383" y="279133"/>
            <a:ext cx="11569566" cy="63430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800" b="1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 Bilan d’extension </a:t>
            </a:r>
          </a:p>
          <a:p>
            <a:pPr marL="0" indent="0">
              <a:buNone/>
            </a:pPr>
            <a:r>
              <a:rPr lang="fr-FR" sz="2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3.1.1. Au stade localisé</a:t>
            </a:r>
          </a:p>
          <a:p>
            <a:r>
              <a:rPr lang="fr-FR" sz="2000" dirty="0"/>
              <a:t>le bilan d’extension doit être adapté au cancer primitif, au type histologique, et à l’évaluation pronostique initiale qui en découle. Il comprend au minimum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/>
              <a:t>un bilan d’extension loco-régionale pour déterminer le stade </a:t>
            </a:r>
            <a:r>
              <a:rPr lang="fr-FR" sz="2000" dirty="0" err="1"/>
              <a:t>clinico</a:t>
            </a:r>
            <a:r>
              <a:rPr lang="fr-FR" sz="2000" dirty="0"/>
              <a:t>-radiologique et les possibilités de traitements qui peut être complété par un bilan d’extension à distance </a:t>
            </a:r>
          </a:p>
          <a:p>
            <a:pPr marL="0" indent="0">
              <a:buNone/>
            </a:pPr>
            <a:r>
              <a:rPr lang="fr-FR" sz="2000" dirty="0"/>
              <a:t>Ce bilan d’extension peut être guidé par l’application de recommandations (inter)nationales. </a:t>
            </a:r>
          </a:p>
          <a:p>
            <a:pPr lvl="1"/>
            <a:r>
              <a:rPr lang="fr-FR" sz="1800" dirty="0"/>
              <a:t>Qui est adapté à l’état général du patient et aux signes cliniques retrouvés. </a:t>
            </a:r>
          </a:p>
          <a:p>
            <a:pPr lvl="1"/>
            <a:r>
              <a:rPr lang="fr-FR" sz="1800" dirty="0"/>
              <a:t>Une altération de l’état général oriente vers une tumeur avancée et le scanner thoraco-abdomino-pelvien </a:t>
            </a:r>
          </a:p>
          <a:p>
            <a:pPr lvl="1"/>
            <a:r>
              <a:rPr lang="fr-FR" sz="1800" dirty="0"/>
              <a:t> Des douleurs osseuses intenses orienteront vers des localisations osseuses qui devront être explorées par une imagerie centrée sur les zones douloureuses.</a:t>
            </a:r>
          </a:p>
          <a:p>
            <a:pPr lvl="1"/>
            <a:r>
              <a:rPr lang="fr-FR" sz="1800" dirty="0"/>
              <a:t> Le bilan paraclinique doit également prendre en compte le terrain sur lequel s’est développée la maladie cancéreuse. Ainsi, pour les carcinomes épidermoïdes des voies aéro-digestives supérieures (VADS), la probabilité que le patient présente un cancer synchrone du fait du terrain (second cancer des VADS, cancer du poumon) est de l’ordre de 10-15 %. Aussi, le bilan d’extension local (scanner cervico-facial et IRM du massif facial) est complété par un scanner thoracique en coupes fines (recherche d’un primitif bronchique synchrone) et une pan-endoscopie des VADS</a:t>
            </a:r>
          </a:p>
        </p:txBody>
      </p:sp>
    </p:spTree>
    <p:extLst>
      <p:ext uri="{BB962C8B-B14F-4D97-AF65-F5344CB8AC3E}">
        <p14:creationId xmlns:p14="http://schemas.microsoft.com/office/powerpoint/2010/main" val="3971667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007" y="221381"/>
            <a:ext cx="11694694" cy="642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91964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31" y="240632"/>
            <a:ext cx="11752446" cy="64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5867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6884" y="317633"/>
            <a:ext cx="11550316" cy="6246795"/>
          </a:xfrm>
        </p:spPr>
        <p:txBody>
          <a:bodyPr/>
          <a:lstStyle/>
          <a:p>
            <a:pPr marL="0" indent="0">
              <a:buNone/>
            </a:pPr>
            <a:r>
              <a:rPr lang="fr-FR" sz="28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3-1-2 en cas de maladie métastatique avérée ou suspectée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le traitement est la plupart du </a:t>
            </a:r>
            <a:r>
              <a:rPr lang="fr-FR" sz="2000" b="1" dirty="0">
                <a:solidFill>
                  <a:srgbClr val="FF0000"/>
                </a:solidFill>
              </a:rPr>
              <a:t>temps systémique</a:t>
            </a:r>
            <a:r>
              <a:rPr lang="fr-FR" sz="2000" dirty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Si maladie oligo-métastatique dans certains cancers (cancer </a:t>
            </a:r>
            <a:r>
              <a:rPr lang="fr-FR" sz="2000" dirty="0" err="1"/>
              <a:t>colo-rectal</a:t>
            </a:r>
            <a:r>
              <a:rPr lang="fr-FR" sz="2000" dirty="0"/>
              <a:t> , rein),le bilan d'extension est important pour discuter la stratégie.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il sert principalement à avoir une </a:t>
            </a:r>
            <a:r>
              <a:rPr lang="fr-FR" sz="2000" b="1" dirty="0">
                <a:solidFill>
                  <a:srgbClr val="FF0000"/>
                </a:solidFill>
              </a:rPr>
              <a:t>imagerie de référence initiale </a:t>
            </a:r>
            <a:r>
              <a:rPr lang="fr-FR" sz="2000" dirty="0"/>
              <a:t>et à choisir des </a:t>
            </a:r>
            <a:r>
              <a:rPr lang="fr-FR" sz="2000" b="1" dirty="0">
                <a:solidFill>
                  <a:srgbClr val="FF0000"/>
                </a:solidFill>
              </a:rPr>
              <a:t>cibles radiologiques</a:t>
            </a:r>
            <a:r>
              <a:rPr lang="fr-FR" sz="2000" dirty="0"/>
              <a:t>.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L’évolution de ces cibles sera suivie sur les scanners ultérieurs et permettra de déterminer l’efficacité des traitements.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Dans la plupart des cancers, l’examen de référence est le scanner thoraco-abdomino-pelvien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000" dirty="0"/>
              <a:t>Les reste des examens sont demandés en fonction des signes d’appel ( IRM cérébrale, scintigraphie osseuse…..)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096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0257" y="269507"/>
            <a:ext cx="11656194" cy="6333424"/>
          </a:xfrm>
        </p:spPr>
        <p:txBody>
          <a:bodyPr/>
          <a:lstStyle/>
          <a:p>
            <a:r>
              <a:rPr lang="fr-FR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 Bilan pré-thérapeutique : 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basé sur le terrain, la stratégie thérapeutique envisagée, les complications suspectées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vise à évaluer le terrain, les comorbidités et les complications éventuelles du cancer. </a:t>
            </a:r>
          </a:p>
          <a:p>
            <a:pPr>
              <a:buFont typeface="Wingdings" pitchFamily="2" charset="2"/>
              <a:buChar char="§"/>
            </a:pPr>
            <a:r>
              <a:rPr lang="fr-FR" b="1" dirty="0"/>
              <a:t>Son objectif est de déterminer si le patient est capable de recevoir les traitements recommandés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3.2.1. Bilan pré-thérapeutique clinique</a:t>
            </a:r>
          </a:p>
          <a:p>
            <a:r>
              <a:rPr lang="fr-FR" dirty="0"/>
              <a:t>L’état général, évalué par le performance status (PS selon OMS / ECOG) est corrélé au pronostic dans toutes les maladies oncologiques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8" y="3590223"/>
            <a:ext cx="11511814" cy="301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9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7259" y="269507"/>
            <a:ext cx="11598442" cy="6314173"/>
          </a:xfrm>
        </p:spPr>
        <p:txBody>
          <a:bodyPr/>
          <a:lstStyle/>
          <a:p>
            <a:endParaRPr lang="fr-FR" dirty="0"/>
          </a:p>
          <a:p>
            <a:pPr algn="just">
              <a:lnSpc>
                <a:spcPct val="150000"/>
              </a:lnSpc>
            </a:pPr>
            <a:r>
              <a:rPr lang="fr-FR" sz="2000" dirty="0"/>
              <a:t>Certaines interventions chirurgicales «  lourdes  », ainsi que la radio-chimiothérapie ou certaines </a:t>
            </a:r>
            <a:r>
              <a:rPr lang="fr-FR" sz="2000" dirty="0" err="1"/>
              <a:t>polychimiothérapies</a:t>
            </a:r>
            <a:r>
              <a:rPr lang="fr-FR" sz="2000" dirty="0"/>
              <a:t> ne sont possibles qu’en cas de </a:t>
            </a:r>
            <a:r>
              <a:rPr lang="fr-FR" sz="2000" b="1" dirty="0">
                <a:solidFill>
                  <a:srgbClr val="FF0000"/>
                </a:solidFill>
              </a:rPr>
              <a:t>bon état général </a:t>
            </a:r>
            <a:r>
              <a:rPr lang="fr-FR" sz="2000" dirty="0"/>
              <a:t>(performance status de 0 à 2).</a:t>
            </a:r>
          </a:p>
          <a:p>
            <a:pPr algn="just">
              <a:lnSpc>
                <a:spcPct val="150000"/>
              </a:lnSpc>
            </a:pPr>
            <a:r>
              <a:rPr lang="fr-FR" sz="2000" b="1" dirty="0">
                <a:solidFill>
                  <a:srgbClr val="FF0000"/>
                </a:solidFill>
              </a:rPr>
              <a:t>Au-delà de PS3</a:t>
            </a:r>
            <a:r>
              <a:rPr lang="fr-FR" sz="2000" dirty="0"/>
              <a:t>, en cas de maladie incurable, il est habituel d’arrêter les traitements spécifiques du fait du risque de toxicité et de décès à moyen ou court terme.</a:t>
            </a:r>
          </a:p>
          <a:p>
            <a:pPr algn="just">
              <a:lnSpc>
                <a:spcPct val="150000"/>
              </a:lnSpc>
            </a:pPr>
            <a:r>
              <a:rPr lang="fr-FR" sz="2000" dirty="0"/>
              <a:t> </a:t>
            </a:r>
            <a:r>
              <a:rPr lang="fr-FR" sz="2000" b="1" dirty="0">
                <a:solidFill>
                  <a:srgbClr val="7030A0"/>
                </a:solidFill>
              </a:rPr>
              <a:t>Cas particulier : évaluation oncogériatrique globale </a:t>
            </a:r>
          </a:p>
          <a:p>
            <a:pPr marL="274320" lvl="1" indent="0" algn="just">
              <a:lnSpc>
                <a:spcPct val="150000"/>
              </a:lnSpc>
              <a:buNone/>
            </a:pPr>
            <a:r>
              <a:rPr lang="fr-FR" sz="1800" dirty="0"/>
              <a:t>Les patients âgés atteints de cancer présentent des spécificités liées en particulier à leur </a:t>
            </a:r>
            <a:r>
              <a:rPr lang="fr-FR" sz="1800" dirty="0" err="1"/>
              <a:t>comordidités</a:t>
            </a:r>
            <a:r>
              <a:rPr lang="fr-FR" sz="1800" dirty="0"/>
              <a:t>, aux syndromes gériatriques éventuellement associés. Après 70 ans, il est souhaitable que les patients soient évalués par un gériatre spécialisé afin de déterminer si les traitements sont envisageables et/ou de les adapter pour en faciliter la tolérance</a:t>
            </a:r>
          </a:p>
        </p:txBody>
      </p:sp>
    </p:spTree>
    <p:extLst>
      <p:ext uri="{BB962C8B-B14F-4D97-AF65-F5344CB8AC3E}">
        <p14:creationId xmlns:p14="http://schemas.microsoft.com/office/powerpoint/2010/main" val="56849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1216" y="182879"/>
            <a:ext cx="11569567" cy="6492241"/>
          </a:xfrm>
        </p:spPr>
        <p:txBody>
          <a:bodyPr>
            <a:normAutofit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sz="32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3.2.2. Bilan pré-thérapeutique </a:t>
            </a:r>
            <a:r>
              <a:rPr lang="fr-FR" sz="3200" b="1" i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paraclinique</a:t>
            </a:r>
            <a:endParaRPr lang="fr-FR" sz="3200" b="1" i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r-FR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3.2.2.1. Biologie </a:t>
            </a:r>
          </a:p>
          <a:p>
            <a:r>
              <a:rPr lang="fr-FR" sz="2400" dirty="0"/>
              <a:t>Classiquement, le bilan pré-thérapeutique biologique évalue les fonctions rénale, hépatique et hématologique. </a:t>
            </a:r>
          </a:p>
          <a:p>
            <a:r>
              <a:rPr lang="fr-FR" sz="2400" dirty="0"/>
              <a:t>Il recherche aussi les anomalies liées au cancer, telles que l’hypercalcémie ou les conséquences de la dénutrition.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numération formule sanguine, </a:t>
            </a:r>
            <a:r>
              <a:rPr lang="fr-FR" sz="2000" dirty="0"/>
              <a:t>plaquette, </a:t>
            </a:r>
            <a:r>
              <a:rPr lang="fr-FR" sz="2000" b="1" dirty="0"/>
              <a:t>groupe Rhésus </a:t>
            </a:r>
            <a:r>
              <a:rPr lang="fr-FR" sz="2000" dirty="0"/>
              <a:t>si risque transfusionnel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ionogramme</a:t>
            </a:r>
            <a:r>
              <a:rPr lang="fr-FR" sz="2000" dirty="0"/>
              <a:t>, </a:t>
            </a:r>
            <a:r>
              <a:rPr lang="fr-FR" sz="2000" b="1" dirty="0"/>
              <a:t>urée, créatinine </a:t>
            </a:r>
            <a:r>
              <a:rPr lang="fr-FR" sz="2000" dirty="0"/>
              <a:t>(avec évaluation du débit de filtration glomérulaire), 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calcémie</a:t>
            </a:r>
            <a:r>
              <a:rPr lang="fr-FR" sz="2000" dirty="0"/>
              <a:t> ;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ASAT, ALAT, GGT, PAL, bilirubine totale et conjuguée</a:t>
            </a:r>
            <a:r>
              <a:rPr lang="fr-FR" sz="2000" dirty="0"/>
              <a:t>, </a:t>
            </a:r>
            <a:r>
              <a:rPr lang="fr-FR" sz="2000" b="1" dirty="0"/>
              <a:t>LDH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hémostase</a:t>
            </a:r>
            <a:r>
              <a:rPr lang="fr-FR" sz="2000" dirty="0"/>
              <a:t> : TP, TCA, fibrinogène surtout si chirurgie, maladie hématologique ou 	insuffisance hépatocellulaire suspectée ;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bilan nutritionnel </a:t>
            </a:r>
            <a:r>
              <a:rPr lang="fr-FR" sz="2000" dirty="0"/>
              <a:t>: </a:t>
            </a:r>
            <a:r>
              <a:rPr lang="fr-FR" sz="2000" dirty="0" err="1"/>
              <a:t>albumine,protides</a:t>
            </a:r>
            <a:r>
              <a:rPr lang="fr-FR" sz="2000" dirty="0"/>
              <a:t> totaux.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bilan inflammatoire </a:t>
            </a:r>
            <a:r>
              <a:rPr lang="fr-FR" sz="2000" dirty="0"/>
              <a:t>: CRP, ferritinémie au cas par cas ;</a:t>
            </a:r>
          </a:p>
          <a:p>
            <a:pPr marL="274320" lvl="1" indent="0">
              <a:buNone/>
            </a:pPr>
            <a:r>
              <a:rPr lang="fr-FR" sz="2000" dirty="0"/>
              <a:t>– </a:t>
            </a:r>
            <a:r>
              <a:rPr lang="fr-FR" sz="2000" b="1" dirty="0"/>
              <a:t>bilan infectieux </a:t>
            </a:r>
            <a:r>
              <a:rPr lang="fr-FR" sz="2000" dirty="0"/>
              <a:t>: sérologies VIH, VHB, VHC selon le type de cancer et le terrain.</a:t>
            </a:r>
          </a:p>
        </p:txBody>
      </p:sp>
    </p:spTree>
    <p:extLst>
      <p:ext uri="{BB962C8B-B14F-4D97-AF65-F5344CB8AC3E}">
        <p14:creationId xmlns:p14="http://schemas.microsoft.com/office/powerpoint/2010/main" val="3839587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5813" y="297711"/>
            <a:ext cx="11600121" cy="627320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3.2.2.2. Imagerie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dirty="0"/>
              <a:t> Le bilan d’imagerie pré-thérapeutique est le bilan d’extension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3.2.2.3. Fonctionnel </a:t>
            </a:r>
          </a:p>
          <a:p>
            <a:pPr lvl="1" algn="just">
              <a:lnSpc>
                <a:spcPct val="150000"/>
              </a:lnSpc>
            </a:pPr>
            <a:r>
              <a:rPr lang="fr-FR" sz="2600" b="1" dirty="0">
                <a:solidFill>
                  <a:srgbClr val="FF0000"/>
                </a:solidFill>
              </a:rPr>
              <a:t>Électrocardiogramme.</a:t>
            </a:r>
          </a:p>
          <a:p>
            <a:pPr lvl="1" algn="just">
              <a:lnSpc>
                <a:spcPct val="150000"/>
              </a:lnSpc>
            </a:pPr>
            <a:r>
              <a:rPr lang="fr-FR" sz="2600" b="1" dirty="0">
                <a:solidFill>
                  <a:srgbClr val="FF0000"/>
                </a:solidFill>
              </a:rPr>
              <a:t>Echocardiographie </a:t>
            </a:r>
          </a:p>
          <a:p>
            <a:pPr lvl="1" algn="just">
              <a:lnSpc>
                <a:spcPct val="150000"/>
              </a:lnSpc>
            </a:pPr>
            <a:r>
              <a:rPr lang="fr-FR" sz="2600" dirty="0"/>
              <a:t> </a:t>
            </a:r>
            <a:r>
              <a:rPr lang="fr-FR" sz="2200" dirty="0"/>
              <a:t>En cas de chirurgie et de radiothérapie thoraciques, une épreuve fonctionnelle respiratoire avec gazométrie artérielle en cas de chirurgie ou radiothérapie thoracique</a:t>
            </a:r>
          </a:p>
        </p:txBody>
      </p:sp>
    </p:spTree>
    <p:extLst>
      <p:ext uri="{BB962C8B-B14F-4D97-AF65-F5344CB8AC3E}">
        <p14:creationId xmlns:p14="http://schemas.microsoft.com/office/powerpoint/2010/main" val="423467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9133" y="308008"/>
            <a:ext cx="11627318" cy="63045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4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 classification et stadification des cancers</a:t>
            </a:r>
          </a:p>
          <a:p>
            <a:pPr marL="0" indent="0">
              <a:buNone/>
            </a:pPr>
            <a:r>
              <a:rPr lang="fr-FR" sz="2400" dirty="0"/>
              <a:t> notion de classification TNM, notion de stade et corrélation avec le pronostic</a:t>
            </a:r>
          </a:p>
          <a:p>
            <a:pPr marL="0" indent="0">
              <a:buNone/>
            </a:pPr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La classification de la tumeur doit être effectuée </a:t>
            </a:r>
            <a:r>
              <a:rPr lang="fr-FR" sz="2400" b="1" dirty="0"/>
              <a:t>systématiquement </a:t>
            </a:r>
            <a:r>
              <a:rPr lang="fr-FR" sz="2400" dirty="0"/>
              <a:t>pour adapter au mieux le traitement et éviter les traitements inutiles </a:t>
            </a:r>
          </a:p>
          <a:p>
            <a:r>
              <a:rPr lang="fr-FR" sz="2400" dirty="0"/>
              <a:t> La classification TNM est internationale. et régulièrement renouvelée. Elle est basée sur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dirty="0"/>
              <a:t> le degré d’extension de la tumeur primitive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dirty="0"/>
              <a:t>l’envahissement ganglionnaire </a:t>
            </a:r>
            <a:r>
              <a:rPr lang="fr-FR" sz="2000" dirty="0" err="1"/>
              <a:t>loco-régional</a:t>
            </a:r>
            <a:r>
              <a:rPr lang="fr-FR" sz="20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dirty="0"/>
              <a:t> l’atteinte métastatique à distance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9" y="1730716"/>
            <a:ext cx="11627318" cy="15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67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554" y="3370232"/>
            <a:ext cx="4692891" cy="116846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4" y="356135"/>
            <a:ext cx="11492564" cy="27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21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9507" y="341697"/>
            <a:ext cx="11598442" cy="1371600"/>
          </a:xfrm>
        </p:spPr>
        <p:txBody>
          <a:bodyPr>
            <a:normAutofit/>
          </a:bodyPr>
          <a:lstStyle/>
          <a:p>
            <a:pPr algn="ctr"/>
            <a:r>
              <a:rPr lang="fr-FR" sz="6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9507" y="1443789"/>
            <a:ext cx="11598442" cy="508213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fr-FR" sz="2000" dirty="0"/>
              <a:t> </a:t>
            </a:r>
            <a:r>
              <a:rPr lang="fr-FR" sz="2000" b="1" dirty="0"/>
              <a:t>La démarche diagnostique </a:t>
            </a:r>
            <a:r>
              <a:rPr lang="fr-FR" sz="2000" dirty="0"/>
              <a:t>devant une maladie tumorale est </a:t>
            </a:r>
            <a:r>
              <a:rPr lang="fr-FR" sz="2000" dirty="0">
                <a:solidFill>
                  <a:srgbClr val="FF0000"/>
                </a:solidFill>
              </a:rPr>
              <a:t>fondamentale, </a:t>
            </a:r>
            <a:r>
              <a:rPr lang="fr-FR" sz="2000" dirty="0"/>
              <a:t>que ce soit pour le patient ou pour la prise en charge thérapeutique à venir. </a:t>
            </a:r>
          </a:p>
          <a:p>
            <a:pPr algn="just">
              <a:buFont typeface="Wingdings" pitchFamily="2" charset="2"/>
              <a:buChar char="§"/>
            </a:pPr>
            <a:r>
              <a:rPr lang="fr-FR" sz="2000" dirty="0"/>
              <a:t>Elle permet d’évaluer le retentissement de la pathologie tumorale sur différents niveaux, clinique, biologique, et en imagerie. </a:t>
            </a:r>
          </a:p>
          <a:p>
            <a:pPr algn="just">
              <a:buFont typeface="Wingdings" pitchFamily="2" charset="2"/>
              <a:buChar char="§"/>
            </a:pPr>
            <a:r>
              <a:rPr lang="fr-FR" sz="2000" dirty="0"/>
              <a:t>Guidé par les données de l’examen et de l’interrogatoire initiaux</a:t>
            </a:r>
          </a:p>
          <a:p>
            <a:pPr algn="just">
              <a:buFont typeface="Wingdings" pitchFamily="2" charset="2"/>
              <a:buChar char="§"/>
            </a:pPr>
            <a:r>
              <a:rPr lang="fr-FR" sz="2000" dirty="0"/>
              <a:t>le médecin doit proposer à la fois un </a:t>
            </a:r>
            <a:r>
              <a:rPr lang="fr-FR" sz="2000" b="1" dirty="0"/>
              <a:t>bilan d’extension </a:t>
            </a:r>
            <a:r>
              <a:rPr lang="fr-FR" sz="2000" dirty="0"/>
              <a:t>adapté à la gravité de la maladie et un </a:t>
            </a:r>
            <a:r>
              <a:rPr lang="fr-FR" sz="2000" b="1" dirty="0"/>
              <a:t>bilan pré-thérapeutique</a:t>
            </a:r>
            <a:r>
              <a:rPr lang="fr-FR" sz="2000" dirty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fr-FR" sz="2000" dirty="0"/>
              <a:t> Le diagnostic de certitude est </a:t>
            </a:r>
            <a:r>
              <a:rPr lang="fr-FR" sz="2000" dirty="0">
                <a:solidFill>
                  <a:srgbClr val="FF0000"/>
                </a:solidFill>
              </a:rPr>
              <a:t>anatomo-pathologique</a:t>
            </a:r>
            <a:r>
              <a:rPr lang="fr-FR" sz="2000" dirty="0"/>
              <a:t>, soit par une biopsie, soit directement par voie chirurgicale souvent complété par une analyse moléculaire</a:t>
            </a:r>
          </a:p>
          <a:p>
            <a:pPr algn="just">
              <a:buFont typeface="Wingdings" pitchFamily="2" charset="2"/>
              <a:buChar char="§"/>
            </a:pPr>
            <a:r>
              <a:rPr lang="fr-FR" sz="2000" dirty="0"/>
              <a:t>L’ensemble de ces données permet de préciser le pronostic du patient et de proposer une stratégie thérapeutique adaptée, conforme aux recommandations nationales et internationales</a:t>
            </a:r>
          </a:p>
        </p:txBody>
      </p:sp>
    </p:spTree>
    <p:extLst>
      <p:ext uri="{BB962C8B-B14F-4D97-AF65-F5344CB8AC3E}">
        <p14:creationId xmlns:p14="http://schemas.microsoft.com/office/powerpoint/2010/main" val="16055854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8176</TotalTime>
  <Words>2614</Words>
  <Application>Microsoft Office PowerPoint</Application>
  <PresentationFormat>Personnalisé</PresentationFormat>
  <Paragraphs>202</Paragraphs>
  <Slides>31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Apex</vt:lpstr>
      <vt:lpstr>DIAGNOSTIC DES CANCERS</vt:lpstr>
      <vt:lpstr>OBJECTIFS PEDAGOGIQUES</vt:lpstr>
      <vt:lpstr>PLANS DU COURS</vt:lpstr>
      <vt:lpstr>Présentation PowerPoint</vt:lpstr>
      <vt:lpstr>1- signes d’appel</vt:lpstr>
      <vt:lpstr>1-1 CLINIQUE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pc</cp:lastModifiedBy>
  <cp:revision>100</cp:revision>
  <dcterms:created xsi:type="dcterms:W3CDTF">2022-11-05T05:13:42Z</dcterms:created>
  <dcterms:modified xsi:type="dcterms:W3CDTF">2025-02-05T08:31:59Z</dcterms:modified>
</cp:coreProperties>
</file>