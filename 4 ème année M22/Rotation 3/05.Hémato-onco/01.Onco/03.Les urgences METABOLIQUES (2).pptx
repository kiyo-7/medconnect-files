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81" r:id="rId4"/>
    <p:sldId id="257" r:id="rId5"/>
    <p:sldId id="259" r:id="rId6"/>
    <p:sldId id="270" r:id="rId7"/>
    <p:sldId id="271" r:id="rId8"/>
    <p:sldId id="272" r:id="rId9"/>
    <p:sldId id="276" r:id="rId10"/>
    <p:sldId id="277" r:id="rId11"/>
    <p:sldId id="27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Modifier les styles du texte du masque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589213" y="1312815"/>
            <a:ext cx="8915399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urgences en oncologie: urgences métaboliques </a:t>
            </a:r>
            <a:endParaRPr lang="fr-F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589213" y="4180114"/>
            <a:ext cx="8915399" cy="2351315"/>
          </a:xfrm>
        </p:spPr>
        <p:txBody>
          <a:bodyPr>
            <a:normAutofit/>
          </a:bodyPr>
          <a:lstStyle/>
          <a:p>
            <a:pPr algn="l"/>
            <a:r>
              <a:rPr lang="fr-FR" sz="1800" b="1" dirty="0"/>
              <a:t>Dr. Meguellati H</a:t>
            </a:r>
            <a:endParaRPr lang="fr-FR" sz="1800" b="1" dirty="0"/>
          </a:p>
          <a:p>
            <a:pPr algn="l"/>
            <a:r>
              <a:rPr lang="fr-FR" sz="1800" b="1" dirty="0"/>
              <a:t>Pr. BENSALEM. A</a:t>
            </a:r>
            <a:endParaRPr lang="fr-FR" sz="1800" b="1" dirty="0"/>
          </a:p>
          <a:p>
            <a:pPr algn="l"/>
            <a:r>
              <a:rPr lang="fr-FR" sz="1800" dirty="0"/>
              <a:t>Service d’oncologie médicale</a:t>
            </a:r>
            <a:endParaRPr lang="fr-FR" sz="1800" dirty="0"/>
          </a:p>
          <a:p>
            <a:pPr algn="l"/>
            <a:r>
              <a:rPr lang="fr-FR" sz="1800" dirty="0"/>
              <a:t>EH </a:t>
            </a:r>
            <a:r>
              <a:rPr lang="fr-FR" sz="1800" dirty="0" err="1"/>
              <a:t>Didouche</a:t>
            </a:r>
            <a:r>
              <a:rPr lang="fr-FR" sz="1800" dirty="0"/>
              <a:t> Mourad </a:t>
            </a:r>
            <a:endParaRPr lang="fr-FR" sz="1800" dirty="0"/>
          </a:p>
          <a:p>
            <a:pPr algn="r"/>
            <a:endParaRPr lang="fr-FR" sz="1800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 pédagogiques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rtl="0"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fr-FR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Savoir diagnostiquer une urgence oncologique</a:t>
            </a:r>
            <a:endParaRPr lang="fr-F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fr-FR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Savoir lever l</a:t>
            </a:r>
            <a:r>
              <a:rPr lang="fr-FR" sz="28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’</a:t>
            </a:r>
            <a:r>
              <a:rPr lang="fr-FR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urgence </a:t>
            </a:r>
            <a:endParaRPr lang="fr-F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"/>
              <a:tabLst>
                <a:tab pos="457200" algn="l"/>
              </a:tabLst>
            </a:pPr>
            <a:r>
              <a:rPr lang="fr-FR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Connaitre la pr</a:t>
            </a:r>
            <a:r>
              <a:rPr lang="fr-FR" sz="2800" dirty="0">
                <a:solidFill>
                  <a:srgbClr val="000000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é</a:t>
            </a:r>
            <a:r>
              <a:rPr lang="fr-FR" sz="2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vention des urgences </a:t>
            </a:r>
            <a:endParaRPr lang="fr-FR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Plan du cours: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28354"/>
            <a:ext cx="8915400" cy="5146766"/>
          </a:xfrm>
        </p:spPr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I. introduction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II. Urgences métaboliques: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1/ l’hypercalcémie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2/ syndrome de lyse tumorale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3/</a:t>
            </a:r>
            <a:r>
              <a:rPr lang="fr-F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Sécrétion inappropriée d’hormone antidiurétique (SIADH</a:t>
            </a:r>
            <a:r>
              <a:rPr lang="fr-FR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4/insuffisance surrénalienne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I. introduction: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006222"/>
          </a:xfrm>
        </p:spPr>
        <p:txBody>
          <a:bodyPr/>
          <a:lstStyle/>
          <a:p>
            <a:pPr lvl="0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tout événement aigu menaçant la vie du malade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Les situations de détresse vitale en cancérologie peuvent être secondaires: 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-La pathologie primitive ou ses métastases.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-Le traitement.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-Les comorbidités qui peuvent se décompenser.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I. Urgences métaboliques: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632857"/>
            <a:ext cx="8915400" cy="48201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1/ l’hypercalcémie:</a:t>
            </a:r>
            <a:endParaRPr lang="fr-FR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100" dirty="0">
                <a:latin typeface="Arial" panose="020B0604020202020204" pitchFamily="34" charset="0"/>
                <a:cs typeface="Arial" panose="020B0604020202020204" pitchFamily="34" charset="0"/>
              </a:rPr>
              <a:t>  Ca ≥ 105 mg/l (N 90-105 mg/l). Une ↑↑ plus de 120 mg/l  comporte un risque  potentiel ( ca sup 2,62 </a:t>
            </a:r>
            <a:r>
              <a:rPr lang="fr-FR" sz="2100" dirty="0" err="1">
                <a:latin typeface="Arial" panose="020B0604020202020204" pitchFamily="34" charset="0"/>
                <a:cs typeface="Arial" panose="020B0604020202020204" pitchFamily="34" charset="0"/>
              </a:rPr>
              <a:t>mmol</a:t>
            </a:r>
            <a:r>
              <a:rPr lang="fr-FR" sz="2100" dirty="0">
                <a:latin typeface="Arial" panose="020B0604020202020204" pitchFamily="34" charset="0"/>
                <a:cs typeface="Arial" panose="020B0604020202020204" pitchFamily="34" charset="0"/>
              </a:rPr>
              <a:t>/L)</a:t>
            </a:r>
            <a:endParaRPr lang="fr-FR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100" dirty="0">
                <a:latin typeface="Arial" panose="020B0604020202020204" pitchFamily="34" charset="0"/>
                <a:cs typeface="Arial" panose="020B0604020202020204" pitchFamily="34" charset="0"/>
              </a:rPr>
              <a:t> Ca corrigée = Ca mesurée – 0,025(40-Albumine)</a:t>
            </a:r>
            <a:endParaRPr lang="fr-FR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100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Etiologies:</a:t>
            </a:r>
            <a:r>
              <a:rPr lang="fr-FR" sz="2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100" b="1" dirty="0">
                <a:latin typeface="Arial" panose="020B0604020202020204" pitchFamily="34" charset="0"/>
                <a:cs typeface="Arial" panose="020B0604020202020204" pitchFamily="34" charset="0"/>
              </a:rPr>
              <a:t>Augmentation de la résorption osseuse </a:t>
            </a:r>
            <a:r>
              <a:rPr lang="fr-FR" sz="2100" dirty="0">
                <a:latin typeface="Arial" panose="020B0604020202020204" pitchFamily="34" charset="0"/>
                <a:cs typeface="Arial" panose="020B0604020202020204" pitchFamily="34" charset="0"/>
              </a:rPr>
              <a:t>suite à une: </a:t>
            </a:r>
            <a:endParaRPr lang="fr-FR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sz="2100" dirty="0">
                <a:latin typeface="Arial" panose="020B0604020202020204" pitchFamily="34" charset="0"/>
                <a:cs typeface="Arial" panose="020B0604020202020204" pitchFamily="34" charset="0"/>
              </a:rPr>
              <a:t>Hyperparathyroïdie</a:t>
            </a:r>
            <a:endParaRPr lang="fr-FR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sz="2100" dirty="0">
                <a:latin typeface="Arial" panose="020B0604020202020204" pitchFamily="34" charset="0"/>
                <a:cs typeface="Arial" panose="020B0604020202020204" pitchFamily="34" charset="0"/>
              </a:rPr>
              <a:t>Sécrétion paranéoplasique de </a:t>
            </a:r>
            <a:r>
              <a:rPr lang="fr-FR" sz="2100" dirty="0" err="1">
                <a:latin typeface="Arial" panose="020B0604020202020204" pitchFamily="34" charset="0"/>
                <a:cs typeface="Arial" panose="020B0604020202020204" pitchFamily="34" charset="0"/>
              </a:rPr>
              <a:t>PTHrp</a:t>
            </a:r>
            <a:endParaRPr lang="fr-FR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sz="2100" dirty="0">
                <a:latin typeface="Arial" panose="020B0604020202020204" pitchFamily="34" charset="0"/>
                <a:cs typeface="Arial" panose="020B0604020202020204" pitchFamily="34" charset="0"/>
              </a:rPr>
              <a:t>Des lésions osseuses lytiques</a:t>
            </a:r>
            <a:endParaRPr lang="fr-FR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100" b="1" dirty="0">
                <a:latin typeface="Arial" panose="020B0604020202020204" pitchFamily="34" charset="0"/>
                <a:cs typeface="Arial" panose="020B0604020202020204" pitchFamily="34" charset="0"/>
              </a:rPr>
              <a:t>Ou un excès en vitamine D</a:t>
            </a:r>
            <a:r>
              <a:rPr lang="fr-FR" sz="2100" dirty="0">
                <a:latin typeface="Arial" panose="020B0604020202020204" pitchFamily="34" charset="0"/>
                <a:cs typeface="Arial" panose="020B0604020202020204" pitchFamily="34" charset="0"/>
              </a:rPr>
              <a:t>: surdosage </a:t>
            </a:r>
            <a:endParaRPr lang="fr-FR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100" b="1" dirty="0">
                <a:latin typeface="Arial" panose="020B0604020202020204" pitchFamily="34" charset="0"/>
                <a:cs typeface="Arial" panose="020B0604020202020204" pitchFamily="34" charset="0"/>
              </a:rPr>
              <a:t>Augmentation de la réabsorption </a:t>
            </a:r>
            <a:r>
              <a:rPr lang="fr-FR" sz="2100" dirty="0">
                <a:latin typeface="Arial" panose="020B0604020202020204" pitchFamily="34" charset="0"/>
                <a:cs typeface="Arial" panose="020B0604020202020204" pitchFamily="34" charset="0"/>
              </a:rPr>
              <a:t>rénale/ </a:t>
            </a:r>
            <a:r>
              <a:rPr lang="fr-FR" sz="2100" b="1" dirty="0">
                <a:latin typeface="Arial" panose="020B0604020202020204" pitchFamily="34" charset="0"/>
                <a:cs typeface="Arial" panose="020B0604020202020204" pitchFamily="34" charset="0"/>
              </a:rPr>
              <a:t>l’ absorption </a:t>
            </a:r>
            <a:r>
              <a:rPr lang="fr-FR" sz="2100" dirty="0">
                <a:latin typeface="Arial" panose="020B0604020202020204" pitchFamily="34" charset="0"/>
                <a:cs typeface="Arial" panose="020B0604020202020204" pitchFamily="34" charset="0"/>
              </a:rPr>
              <a:t>intestinale de calcium </a:t>
            </a:r>
            <a:endParaRPr lang="fr-FR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169818"/>
            <a:ext cx="8911687" cy="724468"/>
          </a:xfrm>
        </p:spPr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I. Urgences métaboliques: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894286"/>
            <a:ext cx="8915400" cy="5016936"/>
          </a:xfrm>
        </p:spPr>
        <p:txBody>
          <a:bodyPr/>
          <a:lstStyle/>
          <a:p>
            <a:pPr marL="0" indent="0">
              <a:buNone/>
            </a:pPr>
            <a:r>
              <a:rPr lang="fr-FR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Manifestations cliniques: </a:t>
            </a:r>
            <a:endParaRPr lang="fr-FR" u="sng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2567578" y="1555685"/>
          <a:ext cx="8128000" cy="4923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1230873"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Rénale 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Polyuro</a:t>
                      </a:r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polydipsie avec insuffisance rénale fonctionnelle</a:t>
                      </a:r>
                      <a:endParaRPr lang="fr-FR" sz="18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fr-FR" sz="18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Déshydratation </a:t>
                      </a:r>
                      <a:endParaRPr lang="fr-FR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230873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Gastro-intestinale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Anorexie, nausées, vomissements, constipation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230873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neurologique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Léthargie, fatigue, irritabilité,</a:t>
                      </a:r>
                      <a:r>
                        <a:rPr lang="fr-FR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trouble du sommeil, hypotonie, convulsion, coma 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230873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Cardiaque 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Diminution de l’ intervalle QT, trouble</a:t>
                      </a:r>
                      <a:r>
                        <a:rPr lang="fr-FR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du rythme </a:t>
                      </a:r>
                      <a:endParaRPr lang="fr-F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235131"/>
            <a:ext cx="8911687" cy="888275"/>
          </a:xfrm>
        </p:spPr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II. Urgences métaboliques: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005840"/>
            <a:ext cx="8915400" cy="56431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u="sng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CAT: </a:t>
            </a:r>
            <a:endParaRPr lang="fr-FR" u="sng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Basée sur l’association: réhydratation + biphosphonates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Il dépend de la sévérité et de l’étiologie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u="sng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 hypercalcémie modérée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ca inf 3,8 mmol/L et absence de signes de gravité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Trt en salle médicale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Réhydratation: 1 à 2 litres de sérum salé sur 1 à 4 heures puis 3 à 4 litres/ 24h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Biphosphonates: zolédronate ou zométa: 4 mg dans 250 cc de NaCl 0,9% en 15mn à renouveler à 3 à 4 semaines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Eviter le furosémide: risque d’aggravation de la déshydratation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hypercalcémie grave ou maligne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ca sup 3,8 mmol/L et/ ou signes de gravité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Transfert en réanimation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Épuration extra-rénale, hydratation selon les mêmes modalités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Calcitonine en association aux biphosphonates: 0,5 à 4 mg/ jour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Corticoïdes: 1 à 3 mg/ jours en 3 fois 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209006"/>
            <a:ext cx="8911687" cy="744583"/>
          </a:xfrm>
        </p:spPr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II. Urgences métaboliques: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953589"/>
            <a:ext cx="8915400" cy="5904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2/ Syndrome de lyse tumorale: </a:t>
            </a:r>
            <a:endParaRPr lang="fr-FR" sz="2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A- Définition :</a:t>
            </a:r>
            <a:endParaRPr lang="fr-FR" sz="1600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Secondaire à </a:t>
            </a:r>
            <a:r>
              <a:rPr 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la destruction massive tumorale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, spontanée ou provoquée, conduisant au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relargage dans la circulation des composés intracellulaires. Le risque majeur étant </a:t>
            </a:r>
            <a:r>
              <a:rPr lang="fr-F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l’insuffisance</a:t>
            </a:r>
            <a:endParaRPr lang="fr-FR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fr-F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rénale aiguë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 soit par précipitation de cristaux phosphocalciques, soit par néphropathie uratique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fr-FR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B-Définit biologiquement par :</a:t>
            </a:r>
            <a:endParaRPr lang="fr-FR" sz="1600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br>
              <a:rPr lang="fr-FR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- hyperkaliémie ; hyperphosphatémie ; hypocalcémie ; </a:t>
            </a:r>
            <a:r>
              <a:rPr lang="fr-FR" sz="1600" dirty="0" err="1">
                <a:latin typeface="Arial" panose="020B0604020202020204" pitchFamily="34" charset="0"/>
                <a:cs typeface="Arial" panose="020B0604020202020204" pitchFamily="34" charset="0"/>
              </a:rPr>
              <a:t>hyperuricémie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 ; augmentation des LDH.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br>
              <a:rPr lang="fr-FR" sz="16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600" i="1" dirty="0">
                <a:latin typeface="Arial" panose="020B0604020202020204" pitchFamily="34" charset="0"/>
                <a:cs typeface="Arial" panose="020B0604020202020204" pitchFamily="34" charset="0"/>
              </a:rPr>
              <a:t>Risque principal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 est la constitution d'une insuffisance rénale </a:t>
            </a:r>
            <a:r>
              <a:rPr lang="fr-FR" sz="1600" dirty="0" err="1">
                <a:latin typeface="Arial" panose="020B0604020202020204" pitchFamily="34" charset="0"/>
                <a:cs typeface="Arial" panose="020B0604020202020204" pitchFamily="34" charset="0"/>
              </a:rPr>
              <a:t>oligo-anurique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16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Facteurs favorisants</a:t>
            </a:r>
            <a:r>
              <a:rPr lang="fr-F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l'importance de la masse tumorale ;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le taux de renouvellement tumoral ;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la sensibilité tumorale aux traitements cytotoxiques.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Dysfonction rénale, déshydratation initiale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143692"/>
            <a:ext cx="8911687" cy="783772"/>
          </a:xfrm>
        </p:spPr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II. Urgences métaboliques: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936699"/>
            <a:ext cx="8915400" cy="57084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B- Néoplasies impliquées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 : lors de chimio d’induction ou radiothérapie ou corticothérapie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Lymphome non-hodgkinien  : de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Burkitt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; haut grade ; LAL; LAM,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myelomes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multiples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plus rarement : LNH de bas grade, LLC ;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très rarement : tumeurs solides chimio-sensibles.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C- Modalités thérapeutiques :</a:t>
            </a:r>
            <a:endParaRPr lang="fr-FR" u="sng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prophylactiques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hydratation préalable,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avc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sce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des apports et des sorties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alcalinisation des urines (ph= 7-7.5)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bilan bio / jr : LDH,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iono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mg2+, ca2+,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créat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urée, phosphate,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fns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TRT proprement dit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Transfert vers une unité de soins intensifs, ECG régulier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Diurèse sodée alcaline &gt; 2500 ml/m2/j avec Ph urinaire &gt; 7,5.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Uricozyme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1000 U/6 ou 8 h (IV). / (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allopurinol 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10 mg/kg/jr en 2 po , si IR : 300mg/jr)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Lasilix® en cas de diurèse insuffisante.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Surveillance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bi-quotidienne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(ionogramme, uricémie,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phosphatémie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kaliémie, rénale, LDH).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Epuration extra-rénale si : rétention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hydrosodée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kaliémie, acidose, uricémie ou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phosphorémie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non contrôlées (&gt; 2,5 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mmol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/l).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II. Urgences métaboliques: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528353"/>
            <a:ext cx="8915400" cy="4741817"/>
          </a:xfrm>
        </p:spPr>
        <p:txBody>
          <a:bodyPr/>
          <a:lstStyle/>
          <a:p>
            <a:pPr marL="457200" lvl="1" indent="0">
              <a:buNone/>
            </a:pPr>
            <a:r>
              <a:rPr lang="fr-FR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3/ Sécrétion inappropriée d’hormone antidiurétique (SIADH)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:   </a:t>
            </a:r>
            <a:endParaRPr lang="fr-F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Cancer pulmonaire à petite cellule, tumeur  cérébrale , thymome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clinique: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Intoxication à l’eau (anorexie, nausée, VMS, dégoût à l’eau), asthénie, confusion. céphalée 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Biologie: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Hypo Na* &lt; 130 mmol / l. Avec hypo-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osmolalité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plasmatique,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natriurèse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osmolalité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urinaire élevées .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TRT: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Restriction hydrique ++.inf 500 cc/24h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*Antagoniste de l’AVP (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déméclocycline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*Furosémide en cas d’urgence.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I. Urgences métaboliques: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89212" y="1619793"/>
            <a:ext cx="8915400" cy="4611189"/>
          </a:xfrm>
        </p:spPr>
        <p:txBody>
          <a:bodyPr/>
          <a:lstStyle/>
          <a:p>
            <a:pPr marL="457200" lvl="1" indent="0">
              <a:buNone/>
            </a:pPr>
            <a:r>
              <a:rPr lang="fr-FR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4/ Insuffisance Surrénalienne: </a:t>
            </a:r>
            <a:endParaRPr lang="fr-FR" sz="2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000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Symptômes:</a:t>
            </a:r>
            <a:r>
              <a:rPr lang="fr-FR" sz="20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peu spécifiques: Asthénie, anorexie, nausées, VMS, douleurs abdominales, Hypotension orthostatique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000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biologie: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Hyponatrémie, hyperkaliémie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Hypoglycémie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000" u="sng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Dgc</a:t>
            </a:r>
            <a:r>
              <a:rPr lang="fr-FR" sz="2000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de certitude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: ACTH et cortisol plasmatique (parfois test de stimulation)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000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Causes 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Envahissement méta massif des surrénales (poumon, sein, côlon, rein, lymphome)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§"/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Arrêt trop rapide d’une corticothérapie (+++)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000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TRT :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urgent: corticothérapie substitutive</a:t>
            </a: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5115</Words>
  <Application>WPS Presentation</Application>
  <PresentationFormat>Grand écran</PresentationFormat>
  <Paragraphs>146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Wingdings 3</vt:lpstr>
      <vt:lpstr>Arial</vt:lpstr>
      <vt:lpstr>Calibri</vt:lpstr>
      <vt:lpstr>Times New Roman</vt:lpstr>
      <vt:lpstr>Century Gothic</vt:lpstr>
      <vt:lpstr>Microsoft YaHei</vt:lpstr>
      <vt:lpstr>Arial Unicode MS</vt:lpstr>
      <vt:lpstr>Brin</vt:lpstr>
      <vt:lpstr>Les urgences en oncologie: urgences métaboliques </vt:lpstr>
      <vt:lpstr>Objectifs pédagogiques </vt:lpstr>
      <vt:lpstr>Plan du cours:</vt:lpstr>
      <vt:lpstr>I. introduction: </vt:lpstr>
      <vt:lpstr>I. Urgences métaboliques:</vt:lpstr>
      <vt:lpstr>I. Urgences métaboliques:</vt:lpstr>
      <vt:lpstr>II. Urgences métaboliques:</vt:lpstr>
      <vt:lpstr>II. Urgences métaboliques:</vt:lpstr>
      <vt:lpstr>II. Urgences métaboliques:</vt:lpstr>
      <vt:lpstr>II. Urgences métaboliques:</vt:lpstr>
      <vt:lpstr>I. Urgences métaboliques: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urgences en oncologie: urgences neurologiques et métaboliques</dc:title>
  <dc:creator>DELL</dc:creator>
  <cp:lastModifiedBy>DRMEGUELLATI</cp:lastModifiedBy>
  <cp:revision>86</cp:revision>
  <dcterms:created xsi:type="dcterms:W3CDTF">2019-11-16T20:36:00Z</dcterms:created>
  <dcterms:modified xsi:type="dcterms:W3CDTF">2026-02-17T05:48:43Z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3064FAD7CD5D4FF7A2DB81BCF25B89A4_12</vt:lpwstr>
  </property>
  <property fmtid="{D5CDD505-2E9C-101B-9397-08002B2CF9AE}" pid="3" name="KSOProductBuildVer">
    <vt:lpwstr>1036-12.2.0.23196</vt:lpwstr>
  </property>
</Properties>
</file>