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257" r:id="rId3"/>
    <p:sldId id="258" r:id="rId4"/>
    <p:sldId id="259" r:id="rId5"/>
    <p:sldId id="260" r:id="rId6"/>
    <p:sldId id="261" r:id="rId7"/>
    <p:sldId id="262" r:id="rId8"/>
    <p:sldId id="264" r:id="rId9"/>
    <p:sldId id="312" r:id="rId10"/>
    <p:sldId id="265" r:id="rId11"/>
    <p:sldId id="266" r:id="rId12"/>
    <p:sldId id="267" r:id="rId13"/>
    <p:sldId id="268" r:id="rId14"/>
    <p:sldId id="269" r:id="rId15"/>
    <p:sldId id="270" r:id="rId16"/>
    <p:sldId id="271" r:id="rId17"/>
    <p:sldId id="272" r:id="rId18"/>
    <p:sldId id="273" r:id="rId19"/>
    <p:sldId id="274" r:id="rId20"/>
    <p:sldId id="332" r:id="rId21"/>
    <p:sldId id="333" r:id="rId22"/>
    <p:sldId id="334" r:id="rId23"/>
    <p:sldId id="336" r:id="rId24"/>
    <p:sldId id="337" r:id="rId25"/>
    <p:sldId id="338" r:id="rId26"/>
    <p:sldId id="339" r:id="rId27"/>
    <p:sldId id="340" r:id="rId28"/>
    <p:sldId id="341" r:id="rId29"/>
    <p:sldId id="344" r:id="rId30"/>
    <p:sldId id="342" r:id="rId31"/>
    <p:sldId id="343" r:id="rId32"/>
    <p:sldId id="284" r:id="rId33"/>
    <p:sldId id="285" r:id="rId34"/>
    <p:sldId id="286" r:id="rId35"/>
    <p:sldId id="287" r:id="rId36"/>
    <p:sldId id="288" r:id="rId37"/>
    <p:sldId id="289" r:id="rId38"/>
    <p:sldId id="313" r:id="rId39"/>
    <p:sldId id="290" r:id="rId40"/>
    <p:sldId id="291" r:id="rId41"/>
    <p:sldId id="293" r:id="rId42"/>
    <p:sldId id="292" r:id="rId43"/>
    <p:sldId id="331" r:id="rId44"/>
    <p:sldId id="314" r:id="rId45"/>
    <p:sldId id="316" r:id="rId46"/>
    <p:sldId id="317" r:id="rId47"/>
    <p:sldId id="318" r:id="rId48"/>
    <p:sldId id="307" r:id="rId49"/>
    <p:sldId id="294" r:id="rId50"/>
    <p:sldId id="297" r:id="rId51"/>
    <p:sldId id="310" r:id="rId52"/>
    <p:sldId id="299" r:id="rId53"/>
    <p:sldId id="300" r:id="rId54"/>
    <p:sldId id="301" r:id="rId55"/>
    <p:sldId id="304" r:id="rId56"/>
    <p:sldId id="298" r:id="rId57"/>
    <p:sldId id="305" r:id="rId58"/>
    <p:sldId id="308" r:id="rId59"/>
    <p:sldId id="309" r:id="rId60"/>
    <p:sldId id="295" r:id="rId61"/>
    <p:sldId id="296" r:id="rId6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44C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658" autoAdjust="0"/>
  </p:normalViewPr>
  <p:slideViewPr>
    <p:cSldViewPr snapToGrid="0">
      <p:cViewPr varScale="1">
        <p:scale>
          <a:sx n="78" d="100"/>
          <a:sy n="78" d="100"/>
        </p:scale>
        <p:origin x="57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410BA5-D07F-4D20-B388-5002EE767765}" type="datetimeFigureOut">
              <a:rPr lang="fr-FR" smtClean="0"/>
              <a:t>02/02/2026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F2B0A-CA37-4B10-B83C-36A153E77E45}" type="slidenum">
              <a:rPr lang="fr-FR" smtClean="0"/>
              <a:t>‹N°›</a:t>
            </a:fld>
            <a:endParaRPr lang="fr-FR"/>
          </a:p>
        </p:txBody>
      </p:sp>
    </p:spTree>
    <p:extLst>
      <p:ext uri="{BB962C8B-B14F-4D97-AF65-F5344CB8AC3E}">
        <p14:creationId xmlns:p14="http://schemas.microsoft.com/office/powerpoint/2010/main" val="4104826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smtClean="0">
                <a:solidFill>
                  <a:schemeClr val="tx1"/>
                </a:solidFill>
                <a:effectLst/>
                <a:latin typeface="+mn-lt"/>
                <a:ea typeface="+mn-ea"/>
                <a:cs typeface="+mn-cs"/>
              </a:rPr>
              <a:t>Touchant</a:t>
            </a:r>
            <a:r>
              <a:rPr lang="fr-FR" sz="1200" b="0" i="0" kern="1200" baseline="0" dirty="0" smtClean="0">
                <a:solidFill>
                  <a:schemeClr val="tx1"/>
                </a:solidFill>
                <a:effectLst/>
                <a:latin typeface="+mn-lt"/>
                <a:ea typeface="+mn-ea"/>
                <a:cs typeface="+mn-cs"/>
              </a:rPr>
              <a:t> </a:t>
            </a:r>
            <a:r>
              <a:rPr lang="fr-FR" sz="1200" b="0" i="0" kern="1200" dirty="0" smtClean="0">
                <a:solidFill>
                  <a:schemeClr val="tx1"/>
                </a:solidFill>
                <a:effectLst/>
                <a:latin typeface="+mn-lt"/>
                <a:ea typeface="+mn-ea"/>
                <a:cs typeface="+mn-cs"/>
              </a:rPr>
              <a:t>préférentiellement le sujet jeune, de sexe féminin et en bonne santé</a:t>
            </a:r>
            <a:r>
              <a:rPr lang="fr-FR" dirty="0" smtClean="0"/>
              <a:t> </a:t>
            </a:r>
          </a:p>
          <a:p>
            <a:r>
              <a:rPr lang="fr-FR" sz="1200" b="0" i="0" kern="1200" dirty="0" smtClean="0">
                <a:solidFill>
                  <a:schemeClr val="tx1"/>
                </a:solidFill>
                <a:effectLst/>
                <a:latin typeface="+mn-lt"/>
                <a:ea typeface="+mn-ea"/>
                <a:cs typeface="+mn-cs"/>
              </a:rPr>
              <a:t>L’HSA est une urgence vitale qui nécessite une prise en charge immédiate</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pluridisciplinaire (</a:t>
            </a:r>
            <a:r>
              <a:rPr lang="fr-FR" sz="1200" b="0" i="0" kern="1200" dirty="0" err="1" smtClean="0">
                <a:solidFill>
                  <a:schemeClr val="tx1"/>
                </a:solidFill>
                <a:effectLst/>
                <a:latin typeface="+mn-lt"/>
                <a:ea typeface="+mn-ea"/>
                <a:cs typeface="+mn-cs"/>
              </a:rPr>
              <a:t>neuro-radiologue</a:t>
            </a:r>
            <a:r>
              <a:rPr lang="fr-FR" sz="1200" b="0" i="0" kern="1200" dirty="0" smtClean="0">
                <a:solidFill>
                  <a:schemeClr val="tx1"/>
                </a:solidFill>
                <a:effectLst/>
                <a:latin typeface="+mn-lt"/>
                <a:ea typeface="+mn-ea"/>
                <a:cs typeface="+mn-cs"/>
              </a:rPr>
              <a:t>, neuro-</a:t>
            </a:r>
            <a:r>
              <a:rPr lang="fr-FR" sz="1200" b="0" i="0" kern="1200" dirty="0" err="1" smtClean="0">
                <a:solidFill>
                  <a:schemeClr val="tx1"/>
                </a:solidFill>
                <a:effectLst/>
                <a:latin typeface="+mn-lt"/>
                <a:ea typeface="+mn-ea"/>
                <a:cs typeface="+mn-cs"/>
              </a:rPr>
              <a:t>chirugien</a:t>
            </a:r>
            <a:r>
              <a:rPr lang="fr-FR" sz="1200" b="0" i="0" kern="1200" dirty="0" smtClean="0">
                <a:solidFill>
                  <a:schemeClr val="tx1"/>
                </a:solidFill>
                <a:effectLst/>
                <a:latin typeface="+mn-lt"/>
                <a:ea typeface="+mn-ea"/>
                <a:cs typeface="+mn-cs"/>
              </a:rPr>
              <a:t>, réanimateur)</a:t>
            </a:r>
            <a:r>
              <a:rPr lang="fr-FR" dirty="0" smtClean="0"/>
              <a:t> </a:t>
            </a:r>
            <a:br>
              <a:rPr lang="fr-FR" dirty="0" smtClean="0"/>
            </a:br>
            <a:r>
              <a:rPr lang="fr-FR" dirty="0" smtClean="0"/>
              <a:t/>
            </a:r>
            <a:br>
              <a:rPr lang="fr-FR" dirty="0" smtClean="0"/>
            </a:b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4</a:t>
            </a:fld>
            <a:endParaRPr lang="fr-FR"/>
          </a:p>
        </p:txBody>
      </p:sp>
    </p:spTree>
    <p:extLst>
      <p:ext uri="{BB962C8B-B14F-4D97-AF65-F5344CB8AC3E}">
        <p14:creationId xmlns:p14="http://schemas.microsoft.com/office/powerpoint/2010/main" val="2270615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smtClean="0">
                <a:solidFill>
                  <a:schemeClr val="tx1"/>
                </a:solidFill>
                <a:effectLst/>
                <a:latin typeface="+mn-lt"/>
                <a:ea typeface="+mn-ea"/>
                <a:cs typeface="+mn-cs"/>
              </a:rPr>
              <a:t>Donc L’hémorragie méningée secondaire à un traumatisme crânien est exclue de notre cours.</a:t>
            </a:r>
            <a:r>
              <a:rPr lang="fr-FR" dirty="0" smtClean="0"/>
              <a:t> </a:t>
            </a:r>
            <a:br>
              <a:rPr lang="fr-FR" dirty="0" smtClean="0"/>
            </a:b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5</a:t>
            </a:fld>
            <a:endParaRPr lang="fr-FR"/>
          </a:p>
        </p:txBody>
      </p:sp>
    </p:spTree>
    <p:extLst>
      <p:ext uri="{BB962C8B-B14F-4D97-AF65-F5344CB8AC3E}">
        <p14:creationId xmlns:p14="http://schemas.microsoft.com/office/powerpoint/2010/main" val="1892823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Tout</a:t>
            </a:r>
            <a:r>
              <a:rPr lang="fr-FR" baseline="0" dirty="0" smtClean="0"/>
              <a:t> d’abord, il faut localiser l’</a:t>
            </a:r>
            <a:r>
              <a:rPr lang="fr-FR" baseline="0" dirty="0" err="1" smtClean="0"/>
              <a:t>éspace</a:t>
            </a:r>
            <a:r>
              <a:rPr lang="fr-FR" baseline="0" dirty="0" smtClean="0"/>
              <a:t> </a:t>
            </a:r>
            <a:r>
              <a:rPr lang="fr-FR" baseline="0" dirty="0" err="1" smtClean="0"/>
              <a:t>ss</a:t>
            </a:r>
            <a:r>
              <a:rPr lang="fr-FR" baseline="0" dirty="0" smtClean="0"/>
              <a:t> </a:t>
            </a:r>
            <a:r>
              <a:rPr lang="fr-FR" baseline="0" dirty="0" err="1" smtClean="0"/>
              <a:t>arachnoidien</a:t>
            </a:r>
            <a:r>
              <a:rPr lang="fr-FR" baseline="0"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smtClean="0">
                <a:solidFill>
                  <a:schemeClr val="tx1"/>
                </a:solidFill>
                <a:effectLst/>
                <a:latin typeface="+mn-lt"/>
                <a:ea typeface="+mn-ea"/>
                <a:cs typeface="+mn-cs"/>
              </a:rPr>
              <a:t>L’espace sous-arachnoïdien a pour fonction, entre autres, de résorber le LCR via les granulations</a:t>
            </a:r>
            <a:r>
              <a:rPr lang="fr-FR" sz="1200" kern="1200" dirty="0" smtClean="0">
                <a:solidFill>
                  <a:schemeClr val="tx1"/>
                </a:solidFill>
                <a:effectLst/>
                <a:latin typeface="+mn-lt"/>
                <a:ea typeface="+mn-ea"/>
                <a:cs typeface="+mn-cs"/>
              </a:rPr>
              <a:t> </a:t>
            </a:r>
            <a:r>
              <a:rPr lang="fr-FR" sz="1200" b="0" i="0" kern="1200" dirty="0" smtClean="0">
                <a:solidFill>
                  <a:schemeClr val="tx1"/>
                </a:solidFill>
                <a:effectLst/>
                <a:latin typeface="+mn-lt"/>
                <a:ea typeface="+mn-ea"/>
                <a:cs typeface="+mn-cs"/>
              </a:rPr>
              <a:t>de Pacchioni.</a:t>
            </a:r>
            <a:endParaRPr lang="fr-FR" sz="1200" kern="1200" dirty="0" smtClean="0">
              <a:solidFill>
                <a:schemeClr val="tx1"/>
              </a:solidFill>
              <a:effectLst/>
              <a:latin typeface="+mn-lt"/>
              <a:ea typeface="+mn-ea"/>
              <a:cs typeface="+mn-cs"/>
            </a:endParaRP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6</a:t>
            </a:fld>
            <a:endParaRPr lang="fr-FR"/>
          </a:p>
        </p:txBody>
      </p:sp>
    </p:spTree>
    <p:extLst>
      <p:ext uri="{BB962C8B-B14F-4D97-AF65-F5344CB8AC3E}">
        <p14:creationId xmlns:p14="http://schemas.microsoft.com/office/powerpoint/2010/main" val="161437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L’espace sous-arachnoïdien possède plusieurs particularités :</a:t>
            </a:r>
            <a:br>
              <a:rPr lang="fr-FR" sz="1200" kern="1200" dirty="0" smtClean="0">
                <a:solidFill>
                  <a:schemeClr val="tx1"/>
                </a:solidFill>
                <a:effectLst/>
                <a:latin typeface="+mn-lt"/>
                <a:ea typeface="+mn-ea"/>
                <a:cs typeface="+mn-cs"/>
              </a:rPr>
            </a:br>
            <a:r>
              <a:rPr lang="fr-FR" sz="1200" kern="1200" dirty="0" smtClean="0">
                <a:solidFill>
                  <a:schemeClr val="tx1"/>
                </a:solidFill>
                <a:effectLst/>
                <a:latin typeface="+mn-lt"/>
                <a:ea typeface="+mn-ea"/>
                <a:cs typeface="+mn-cs"/>
              </a:rPr>
              <a:t>- Il contient le liquide céphalorachidien (</a:t>
            </a:r>
            <a:r>
              <a:rPr lang="fr-FR" sz="1200" b="1" kern="1200" dirty="0" smtClean="0">
                <a:solidFill>
                  <a:schemeClr val="tx1"/>
                </a:solidFill>
                <a:effectLst/>
                <a:latin typeface="+mn-lt"/>
                <a:ea typeface="+mn-ea"/>
                <a:cs typeface="+mn-cs"/>
              </a:rPr>
              <a:t>LCR</a:t>
            </a:r>
            <a:r>
              <a:rPr lang="fr-FR" sz="1200" kern="1200" dirty="0" smtClean="0">
                <a:solidFill>
                  <a:schemeClr val="tx1"/>
                </a:solidFill>
                <a:effectLst/>
                <a:latin typeface="+mn-lt"/>
                <a:ea typeface="+mn-ea"/>
                <a:cs typeface="+mn-cs"/>
              </a:rPr>
              <a:t>). Ainsi que les artères à destiné cérébrales et notamment le polygone de </a:t>
            </a:r>
            <a:r>
              <a:rPr lang="fr-FR" sz="1200" b="1" kern="1200" dirty="0" smtClean="0">
                <a:solidFill>
                  <a:schemeClr val="tx1"/>
                </a:solidFill>
                <a:effectLst/>
                <a:latin typeface="+mn-lt"/>
                <a:ea typeface="+mn-ea"/>
                <a:cs typeface="+mn-cs"/>
              </a:rPr>
              <a:t>Willis</a:t>
            </a:r>
            <a:r>
              <a:rPr lang="fr-FR" sz="1200" kern="1200" dirty="0" smtClean="0">
                <a:solidFill>
                  <a:schemeClr val="tx1"/>
                </a:solidFill>
                <a:effectLst/>
                <a:latin typeface="+mn-lt"/>
                <a:ea typeface="+mn-ea"/>
                <a:cs typeface="+mn-cs"/>
              </a:rPr>
              <a:t> </a:t>
            </a:r>
          </a:p>
          <a:p>
            <a:r>
              <a:rPr lang="fr-FR" sz="1200" kern="1200" dirty="0" smtClean="0">
                <a:solidFill>
                  <a:schemeClr val="tx1"/>
                </a:solidFill>
                <a:effectLst/>
                <a:latin typeface="+mn-lt"/>
                <a:ea typeface="+mn-ea"/>
                <a:cs typeface="+mn-cs"/>
              </a:rPr>
              <a:t>constitué par 2 systèmes : </a:t>
            </a:r>
            <a:r>
              <a:rPr lang="fr-FR" sz="1200" b="0" i="0" kern="1200" dirty="0" smtClean="0">
                <a:solidFill>
                  <a:schemeClr val="tx1"/>
                </a:solidFill>
                <a:effectLst/>
                <a:latin typeface="+mn-lt"/>
                <a:ea typeface="+mn-ea"/>
                <a:cs typeface="+mn-cs"/>
              </a:rPr>
              <a:t>-Le système carotidien en avant,</a:t>
            </a:r>
            <a:r>
              <a:rPr lang="fr-FR" sz="1200" kern="1200" dirty="0" smtClean="0">
                <a:solidFill>
                  <a:schemeClr val="tx1"/>
                </a:solidFill>
                <a:effectLst/>
                <a:latin typeface="+mn-lt"/>
                <a:ea typeface="+mn-ea"/>
                <a:cs typeface="+mn-cs"/>
              </a:rPr>
              <a:t/>
            </a:r>
            <a:br>
              <a:rPr lang="fr-FR" sz="120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-Le système </a:t>
            </a:r>
            <a:r>
              <a:rPr lang="fr-FR" sz="1200" b="0" i="0" kern="1200" dirty="0" err="1" smtClean="0">
                <a:solidFill>
                  <a:schemeClr val="tx1"/>
                </a:solidFill>
                <a:effectLst/>
                <a:latin typeface="+mn-lt"/>
                <a:ea typeface="+mn-ea"/>
                <a:cs typeface="+mn-cs"/>
              </a:rPr>
              <a:t>vertébro</a:t>
            </a:r>
            <a:r>
              <a:rPr lang="fr-FR" sz="1200" b="0" i="0" kern="1200" dirty="0" smtClean="0">
                <a:solidFill>
                  <a:schemeClr val="tx1"/>
                </a:solidFill>
                <a:effectLst/>
                <a:latin typeface="+mn-lt"/>
                <a:ea typeface="+mn-ea"/>
                <a:cs typeface="+mn-cs"/>
              </a:rPr>
              <a:t>-basilaire en arrière</a:t>
            </a:r>
            <a:endParaRPr lang="fr-FR" sz="1200" kern="1200" dirty="0" smtClean="0">
              <a:solidFill>
                <a:schemeClr val="tx1"/>
              </a:solidFill>
              <a:effectLst/>
              <a:latin typeface="+mn-lt"/>
              <a:ea typeface="+mn-ea"/>
              <a:cs typeface="+mn-cs"/>
            </a:endParaRPr>
          </a:p>
          <a:p>
            <a:r>
              <a:rPr lang="fr-FR" sz="1200" b="0" i="0" kern="1200" dirty="0" smtClean="0">
                <a:solidFill>
                  <a:schemeClr val="tx1"/>
                </a:solidFill>
                <a:effectLst/>
                <a:latin typeface="+mn-lt"/>
                <a:ea typeface="+mn-ea"/>
                <a:cs typeface="+mn-cs"/>
              </a:rPr>
              <a:t>L’espace sous-arachnoïdien a pour fonction, entre autres, de résorber le LCR via les granulations</a:t>
            </a:r>
            <a:r>
              <a:rPr lang="fr-FR" sz="1200" kern="1200" dirty="0" smtClean="0">
                <a:solidFill>
                  <a:schemeClr val="tx1"/>
                </a:solidFill>
                <a:effectLst/>
                <a:latin typeface="+mn-lt"/>
                <a:ea typeface="+mn-ea"/>
                <a:cs typeface="+mn-cs"/>
              </a:rPr>
              <a:t> </a:t>
            </a:r>
            <a:r>
              <a:rPr lang="fr-FR" sz="1200" b="0" i="0" kern="1200" dirty="0" smtClean="0">
                <a:solidFill>
                  <a:schemeClr val="tx1"/>
                </a:solidFill>
                <a:effectLst/>
                <a:latin typeface="+mn-lt"/>
                <a:ea typeface="+mn-ea"/>
                <a:cs typeface="+mn-cs"/>
              </a:rPr>
              <a:t>de Pacchioni.</a:t>
            </a:r>
            <a:endParaRPr lang="fr-FR" sz="1200" kern="1200" dirty="0" smtClean="0">
              <a:solidFill>
                <a:schemeClr val="tx1"/>
              </a:solidFill>
              <a:effectLst/>
              <a:latin typeface="+mn-lt"/>
              <a:ea typeface="+mn-ea"/>
              <a:cs typeface="+mn-cs"/>
            </a:endParaRP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7</a:t>
            </a:fld>
            <a:endParaRPr lang="fr-FR"/>
          </a:p>
        </p:txBody>
      </p:sp>
    </p:spTree>
    <p:extLst>
      <p:ext uri="{BB962C8B-B14F-4D97-AF65-F5344CB8AC3E}">
        <p14:creationId xmlns:p14="http://schemas.microsoft.com/office/powerpoint/2010/main" val="1756323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smtClean="0">
                <a:solidFill>
                  <a:schemeClr val="tx1"/>
                </a:solidFill>
                <a:effectLst/>
                <a:latin typeface="+mn-lt"/>
                <a:ea typeface="+mn-ea"/>
                <a:cs typeface="+mn-cs"/>
              </a:rPr>
              <a:t>Le sang diffuse dans le liquide cérébro-spinal ( LCR )</a:t>
            </a:r>
            <a:r>
              <a:rPr lang="fr-FR" sz="1200" b="0" i="0" kern="1200" baseline="0" dirty="0" smtClean="0">
                <a:solidFill>
                  <a:schemeClr val="tx1"/>
                </a:solidFill>
                <a:effectLst/>
                <a:latin typeface="+mn-lt"/>
                <a:ea typeface="+mn-ea"/>
                <a:cs typeface="+mn-cs"/>
              </a:rPr>
              <a:t> </a:t>
            </a:r>
            <a:r>
              <a:rPr lang="fr-FR" sz="1200" b="0" i="0" kern="1200" dirty="0" smtClean="0">
                <a:solidFill>
                  <a:schemeClr val="tx1"/>
                </a:solidFill>
                <a:effectLst/>
                <a:latin typeface="+mn-lt"/>
                <a:ea typeface="+mn-ea"/>
                <a:cs typeface="+mn-cs"/>
              </a:rPr>
              <a:t>contenu dans les citernes arachnoïdiennes .</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 Sous l’effet de la gravité la majorité du sang se situe dans les citernes de la base</a:t>
            </a:r>
            <a:r>
              <a:rPr lang="fr-FR" dirty="0" smtClean="0"/>
              <a:t> </a:t>
            </a:r>
            <a:br>
              <a:rPr lang="fr-FR" dirty="0" smtClean="0"/>
            </a:b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8</a:t>
            </a:fld>
            <a:endParaRPr lang="fr-FR"/>
          </a:p>
        </p:txBody>
      </p:sp>
    </p:spTree>
    <p:extLst>
      <p:ext uri="{BB962C8B-B14F-4D97-AF65-F5344CB8AC3E}">
        <p14:creationId xmlns:p14="http://schemas.microsoft.com/office/powerpoint/2010/main" val="455652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smtClean="0">
                <a:solidFill>
                  <a:schemeClr val="tx1"/>
                </a:solidFill>
                <a:effectLst/>
                <a:latin typeface="+mn-lt"/>
                <a:ea typeface="+mn-ea"/>
                <a:cs typeface="+mn-cs"/>
              </a:rPr>
              <a:t>Dès leur contact avec le LCS, les globules rouges libèrent leur contenu sous l’effet</a:t>
            </a:r>
            <a:r>
              <a:rPr lang="fr-FR" sz="1200" b="0" i="0" kern="1200" baseline="0" dirty="0" smtClean="0">
                <a:solidFill>
                  <a:schemeClr val="tx1"/>
                </a:solidFill>
                <a:effectLst/>
                <a:latin typeface="+mn-lt"/>
                <a:ea typeface="+mn-ea"/>
                <a:cs typeface="+mn-cs"/>
              </a:rPr>
              <a:t> </a:t>
            </a:r>
            <a:r>
              <a:rPr lang="fr-FR" sz="1200" b="0" i="0" kern="1200" dirty="0" smtClean="0">
                <a:solidFill>
                  <a:schemeClr val="tx1"/>
                </a:solidFill>
                <a:effectLst/>
                <a:latin typeface="+mn-lt"/>
                <a:ea typeface="+mn-ea"/>
                <a:cs typeface="+mn-cs"/>
              </a:rPr>
              <a:t>de l’hémolyse.</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 L’hémoglobine contenue dans les hématies se dégrade progressivement pour</a:t>
            </a:r>
            <a:r>
              <a:rPr lang="fr-FR" sz="1200" b="0" i="0" kern="1200" baseline="0" dirty="0" smtClean="0">
                <a:solidFill>
                  <a:schemeClr val="tx1"/>
                </a:solidFill>
                <a:effectLst/>
                <a:latin typeface="+mn-lt"/>
                <a:ea typeface="+mn-ea"/>
                <a:cs typeface="+mn-cs"/>
              </a:rPr>
              <a:t> </a:t>
            </a:r>
          </a:p>
          <a:p>
            <a:r>
              <a:rPr lang="fr-FR" sz="1200" b="0" i="0" kern="1200" dirty="0" smtClean="0">
                <a:solidFill>
                  <a:schemeClr val="tx1"/>
                </a:solidFill>
                <a:effectLst/>
                <a:latin typeface="+mn-lt"/>
                <a:ea typeface="+mn-ea"/>
                <a:cs typeface="+mn-cs"/>
              </a:rPr>
              <a:t>donner l’oxyhémoglobine, substance toxique pour les vaisseaux , </a:t>
            </a:r>
            <a:r>
              <a:rPr lang="fr-FR" dirty="0" smtClean="0"/>
              <a:t>entrainent une contraction de la musculature lisse, médiée par la libération de substances </a:t>
            </a:r>
            <a:r>
              <a:rPr lang="fr-FR" dirty="0" err="1" smtClean="0"/>
              <a:t>vasoactives</a:t>
            </a:r>
            <a:r>
              <a:rPr lang="fr-FR" dirty="0" smtClean="0"/>
              <a:t> (sérotonine, catécholamines, prostaglandines...), </a:t>
            </a:r>
            <a:r>
              <a:rPr lang="fr-FR" sz="1200" b="0" i="0" kern="1200" dirty="0" smtClean="0">
                <a:solidFill>
                  <a:schemeClr val="tx1"/>
                </a:solidFill>
                <a:effectLst/>
                <a:latin typeface="+mn-lt"/>
                <a:ea typeface="+mn-ea"/>
                <a:cs typeface="+mn-cs"/>
              </a:rPr>
              <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 Ce qui risque de causer un spasme des vaisseaux cérébraux  pouvant être</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responsable d’une ischémie cérébrale,</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 En plus les produits de dégradation du sang contiennent aussi de la fibrine qui</a:t>
            </a:r>
            <a:br>
              <a:rPr lang="fr-FR" sz="1200" b="0" i="0" kern="1200" dirty="0" smtClean="0">
                <a:solidFill>
                  <a:schemeClr val="tx1"/>
                </a:solidFill>
                <a:effectLst/>
                <a:latin typeface="+mn-lt"/>
                <a:ea typeface="+mn-ea"/>
                <a:cs typeface="+mn-cs"/>
              </a:rPr>
            </a:br>
            <a:r>
              <a:rPr lang="fr-FR" sz="1200" b="0" i="0" kern="1200" dirty="0" smtClean="0">
                <a:solidFill>
                  <a:schemeClr val="tx1"/>
                </a:solidFill>
                <a:effectLst/>
                <a:latin typeface="+mn-lt"/>
                <a:ea typeface="+mn-ea"/>
                <a:cs typeface="+mn-cs"/>
              </a:rPr>
              <a:t>peut entrainer l’obturation des voies d’écoulement du LCR avec risque</a:t>
            </a:r>
            <a:r>
              <a:rPr lang="fr-FR" dirty="0" smtClean="0"/>
              <a:t> </a:t>
            </a:r>
            <a:br>
              <a:rPr lang="fr-FR" dirty="0" smtClean="0"/>
            </a:b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9</a:t>
            </a:fld>
            <a:endParaRPr lang="fr-FR"/>
          </a:p>
        </p:txBody>
      </p:sp>
    </p:spTree>
    <p:extLst>
      <p:ext uri="{BB962C8B-B14F-4D97-AF65-F5344CB8AC3E}">
        <p14:creationId xmlns:p14="http://schemas.microsoft.com/office/powerpoint/2010/main" val="1434126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smtClean="0">
                <a:solidFill>
                  <a:schemeClr val="tx1"/>
                </a:solidFill>
                <a:effectLst/>
                <a:latin typeface="+mn-lt"/>
                <a:ea typeface="+mn-ea"/>
                <a:cs typeface="+mn-cs"/>
              </a:rPr>
              <a:t>Le diagnostic clinique est facile lorsque le </a:t>
            </a:r>
            <a:r>
              <a:rPr lang="fr-FR" sz="1200" b="1" i="0" kern="1200" dirty="0" smtClean="0">
                <a:solidFill>
                  <a:schemeClr val="tx1"/>
                </a:solidFill>
                <a:effectLst/>
                <a:latin typeface="+mn-lt"/>
                <a:ea typeface="+mn-ea"/>
                <a:cs typeface="+mn-cs"/>
              </a:rPr>
              <a:t>tableau clinique est complet </a:t>
            </a:r>
            <a:r>
              <a:rPr lang="fr-FR" sz="1200" b="0" i="0" kern="1200" dirty="0" smtClean="0">
                <a:solidFill>
                  <a:schemeClr val="tx1"/>
                </a:solidFill>
                <a:effectLst/>
                <a:latin typeface="+mn-lt"/>
                <a:ea typeface="+mn-ea"/>
                <a:cs typeface="+mn-cs"/>
              </a:rPr>
              <a:t>et comporte</a:t>
            </a:r>
            <a:r>
              <a:rPr lang="fr-FR" dirty="0" smtClean="0"/>
              <a:t> </a:t>
            </a:r>
            <a:br>
              <a:rPr lang="fr-FR" dirty="0" smtClean="0"/>
            </a:b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10</a:t>
            </a:fld>
            <a:endParaRPr lang="fr-FR"/>
          </a:p>
        </p:txBody>
      </p:sp>
    </p:spTree>
    <p:extLst>
      <p:ext uri="{BB962C8B-B14F-4D97-AF65-F5344CB8AC3E}">
        <p14:creationId xmlns:p14="http://schemas.microsoft.com/office/powerpoint/2010/main" val="2860067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Signe de </a:t>
            </a:r>
            <a:r>
              <a:rPr lang="fr-FR" dirty="0" err="1" smtClean="0"/>
              <a:t>kerning</a:t>
            </a:r>
            <a:r>
              <a:rPr lang="fr-FR" dirty="0" smtClean="0"/>
              <a:t> que g illustré par cette image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13</a:t>
            </a:fld>
            <a:endParaRPr lang="fr-FR"/>
          </a:p>
        </p:txBody>
      </p:sp>
    </p:spTree>
    <p:extLst>
      <p:ext uri="{BB962C8B-B14F-4D97-AF65-F5344CB8AC3E}">
        <p14:creationId xmlns:p14="http://schemas.microsoft.com/office/powerpoint/2010/main" val="3416102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L’évaluation clinique de la gravité se fait a l’aide de </a:t>
            </a:r>
          </a:p>
          <a:p>
            <a:pPr marL="0" indent="0">
              <a:buNone/>
            </a:pPr>
            <a:r>
              <a:rPr lang="fr-FR" dirty="0" smtClean="0"/>
              <a:t>l’échelle de la World Fédération</a:t>
            </a:r>
          </a:p>
          <a:p>
            <a:pPr marL="0" indent="0">
              <a:buNone/>
            </a:pPr>
            <a:r>
              <a:rPr lang="fr-FR" dirty="0" smtClean="0"/>
              <a:t> of </a:t>
            </a:r>
            <a:r>
              <a:rPr lang="fr-FR" dirty="0" err="1" smtClean="0"/>
              <a:t>Neurological</a:t>
            </a:r>
            <a:r>
              <a:rPr lang="fr-FR" dirty="0" smtClean="0"/>
              <a:t> Surgeons WFNS</a:t>
            </a: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15</a:t>
            </a:fld>
            <a:endParaRPr lang="fr-FR"/>
          </a:p>
        </p:txBody>
      </p:sp>
    </p:spTree>
    <p:extLst>
      <p:ext uri="{BB962C8B-B14F-4D97-AF65-F5344CB8AC3E}">
        <p14:creationId xmlns:p14="http://schemas.microsoft.com/office/powerpoint/2010/main" val="1317118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fr-FR" b="1" dirty="0" smtClean="0"/>
              <a:t>1-Les formes d’hémorragie </a:t>
            </a:r>
            <a:r>
              <a:rPr lang="fr-FR" b="1" dirty="0" err="1" smtClean="0"/>
              <a:t>cérébro</a:t>
            </a:r>
            <a:r>
              <a:rPr lang="fr-FR" b="1" dirty="0" smtClean="0"/>
              <a:t>-méningée :</a:t>
            </a:r>
            <a:br>
              <a:rPr lang="fr-FR" b="1" dirty="0" smtClean="0"/>
            </a:br>
            <a:r>
              <a:rPr lang="fr-FR" dirty="0" smtClean="0"/>
              <a:t>C’est un tableau clinique qui associé d’emblée une hémiplégie massive avec des troubles de l’état de conscience. Le syndrome méningé est en second plan. Il témoigne de l’existence d’un hématome cérébrale.</a:t>
            </a:r>
          </a:p>
        </p:txBody>
      </p:sp>
      <p:sp>
        <p:nvSpPr>
          <p:cNvPr id="4" name="Slide Number Placeholder 3"/>
          <p:cNvSpPr>
            <a:spLocks noGrp="1"/>
          </p:cNvSpPr>
          <p:nvPr>
            <p:ph type="sldNum" sz="quarter" idx="10"/>
          </p:nvPr>
        </p:nvSpPr>
        <p:spPr/>
        <p:txBody>
          <a:bodyPr/>
          <a:lstStyle/>
          <a:p>
            <a:fld id="{874F2B0A-CA37-4B10-B83C-36A153E77E45}" type="slidenum">
              <a:rPr lang="fr-FR" smtClean="0"/>
              <a:t>17</a:t>
            </a:fld>
            <a:endParaRPr lang="fr-FR"/>
          </a:p>
        </p:txBody>
      </p:sp>
    </p:spTree>
    <p:extLst>
      <p:ext uri="{BB962C8B-B14F-4D97-AF65-F5344CB8AC3E}">
        <p14:creationId xmlns:p14="http://schemas.microsoft.com/office/powerpoint/2010/main" val="331845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smtClean="0">
                <a:solidFill>
                  <a:schemeClr val="tx1"/>
                </a:solidFill>
                <a:effectLst/>
                <a:latin typeface="+mn-lt"/>
                <a:ea typeface="+mn-ea"/>
                <a:cs typeface="+mn-cs"/>
              </a:rPr>
              <a:t>Formes pseudo psychiatrique avec confusion et agitation.</a:t>
            </a:r>
            <a:r>
              <a:rPr lang="fr-FR" dirty="0" smtClean="0"/>
              <a:t> </a:t>
            </a:r>
            <a:br>
              <a:rPr lang="fr-FR" dirty="0" smtClean="0"/>
            </a:b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19</a:t>
            </a:fld>
            <a:endParaRPr lang="fr-FR"/>
          </a:p>
        </p:txBody>
      </p:sp>
    </p:spTree>
    <p:extLst>
      <p:ext uri="{BB962C8B-B14F-4D97-AF65-F5344CB8AC3E}">
        <p14:creationId xmlns:p14="http://schemas.microsoft.com/office/powerpoint/2010/main" val="3538512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Plusieurs</a:t>
            </a:r>
            <a:r>
              <a:rPr lang="fr-FR" baseline="0" dirty="0" smtClean="0"/>
              <a:t> </a:t>
            </a:r>
            <a:r>
              <a:rPr lang="fr-FR" baseline="0" dirty="0" err="1" smtClean="0"/>
              <a:t>etiologies</a:t>
            </a:r>
            <a:r>
              <a:rPr lang="fr-FR" baseline="0" dirty="0" smtClean="0"/>
              <a:t> qui peuvent causé une </a:t>
            </a:r>
            <a:r>
              <a:rPr lang="fr-FR" baseline="0" dirty="0" err="1" smtClean="0"/>
              <a:t>hgie</a:t>
            </a:r>
            <a:r>
              <a:rPr lang="fr-FR" baseline="0" dirty="0" smtClean="0"/>
              <a:t> méningée </a:t>
            </a:r>
            <a:endParaRPr lang="fr-FR" dirty="0" smtClean="0"/>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20</a:t>
            </a:fld>
            <a:endParaRPr lang="fr-FR"/>
          </a:p>
        </p:txBody>
      </p:sp>
    </p:spTree>
    <p:extLst>
      <p:ext uri="{BB962C8B-B14F-4D97-AF65-F5344CB8AC3E}">
        <p14:creationId xmlns:p14="http://schemas.microsoft.com/office/powerpoint/2010/main" val="265643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Il s'agit d'une dilatation sacciforme </a:t>
            </a:r>
          </a:p>
          <a:p>
            <a:endParaRPr lang="fr-FR" dirty="0" smtClean="0"/>
          </a:p>
          <a:p>
            <a:r>
              <a:rPr lang="fr-FR" dirty="0" smtClean="0"/>
              <a:t>se développe le plus souvent au niveau </a:t>
            </a:r>
          </a:p>
          <a:p>
            <a:pPr marL="0" indent="0">
              <a:buNone/>
            </a:pPr>
            <a:r>
              <a:rPr lang="fr-FR" dirty="0" smtClean="0"/>
              <a:t>d’une bifurcation artérielle dont la zone d'implantation, plus ou moins étroite, est appelée collet. </a:t>
            </a: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21</a:t>
            </a:fld>
            <a:endParaRPr lang="fr-FR"/>
          </a:p>
        </p:txBody>
      </p:sp>
    </p:spTree>
    <p:extLst>
      <p:ext uri="{BB962C8B-B14F-4D97-AF65-F5344CB8AC3E}">
        <p14:creationId xmlns:p14="http://schemas.microsoft.com/office/powerpoint/2010/main" val="2949449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Il est diagnostiqué surtout entre 40 et 60 ans, au moment de la rupture. Mais celle-ci peut survenir à tout âge. Le risque de rupture est de 6 à 12% par an.</a:t>
            </a: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22</a:t>
            </a:fld>
            <a:endParaRPr lang="fr-FR"/>
          </a:p>
        </p:txBody>
      </p:sp>
    </p:spTree>
    <p:extLst>
      <p:ext uri="{BB962C8B-B14F-4D97-AF65-F5344CB8AC3E}">
        <p14:creationId xmlns:p14="http://schemas.microsoft.com/office/powerpoint/2010/main" val="2678331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Surtout</a:t>
            </a:r>
            <a:r>
              <a:rPr lang="fr-FR" baseline="0" dirty="0" smtClean="0"/>
              <a:t> la circulation antérieur qui </a:t>
            </a:r>
            <a:r>
              <a:rPr lang="fr-FR" baseline="0" dirty="0" err="1" smtClean="0"/>
              <a:t>represente</a:t>
            </a:r>
            <a:r>
              <a:rPr lang="fr-FR" baseline="0" dirty="0" smtClean="0"/>
              <a:t> 60-75% de l’ensemble des anévrismes </a:t>
            </a:r>
          </a:p>
          <a:p>
            <a:r>
              <a:rPr lang="fr-FR" baseline="0" dirty="0" smtClean="0"/>
              <a:t>Sachant que l’A </a:t>
            </a:r>
            <a:r>
              <a:rPr lang="fr-FR" baseline="0" dirty="0" err="1" smtClean="0"/>
              <a:t>com</a:t>
            </a:r>
            <a:r>
              <a:rPr lang="fr-FR" baseline="0" dirty="0" smtClean="0"/>
              <a:t> antérieur elle </a:t>
            </a:r>
            <a:r>
              <a:rPr lang="fr-FR" baseline="0" dirty="0" err="1" smtClean="0"/>
              <a:t>mele</a:t>
            </a:r>
            <a:r>
              <a:rPr lang="fr-FR" baseline="0" dirty="0" smtClean="0"/>
              <a:t> </a:t>
            </a:r>
            <a:r>
              <a:rPr lang="fr-FR" baseline="0" dirty="0" err="1" smtClean="0"/>
              <a:t>represente</a:t>
            </a:r>
            <a:r>
              <a:rPr lang="fr-FR" baseline="0" dirty="0" smtClean="0"/>
              <a:t> 40%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23</a:t>
            </a:fld>
            <a:endParaRPr lang="fr-FR"/>
          </a:p>
        </p:txBody>
      </p:sp>
    </p:spTree>
    <p:extLst>
      <p:ext uri="{BB962C8B-B14F-4D97-AF65-F5344CB8AC3E}">
        <p14:creationId xmlns:p14="http://schemas.microsoft.com/office/powerpoint/2010/main" val="886554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fr-FR" dirty="0" smtClean="0"/>
              <a:t>Parfois la présence des signes focaux, orientent vers le siège de l’anévrisme notamment :</a:t>
            </a:r>
            <a:br>
              <a:rPr lang="fr-FR" dirty="0" smtClean="0"/>
            </a:br>
            <a:r>
              <a:rPr lang="fr-FR" dirty="0" smtClean="0"/>
              <a:t>- Une hémiparésie, aphasie, orientent vers un anévrisme de l’artère </a:t>
            </a:r>
            <a:r>
              <a:rPr lang="fr-FR" dirty="0" err="1" smtClean="0"/>
              <a:t>sylvienne</a:t>
            </a:r>
            <a:r>
              <a:rPr lang="fr-FR" dirty="0" smtClean="0"/>
              <a:t/>
            </a:r>
            <a:br>
              <a:rPr lang="fr-FR" dirty="0" smtClean="0"/>
            </a:br>
            <a:r>
              <a:rPr lang="fr-FR" dirty="0" smtClean="0"/>
              <a:t>- Une paralysie unilatérale du nerf oculaire commun oriente vers un anévrisme de l’artère communicante postérieure</a:t>
            </a:r>
          </a:p>
          <a:p>
            <a:pPr marL="0" indent="0">
              <a:buNone/>
            </a:pPr>
            <a:endParaRPr lang="fr-FR" dirty="0" smtClean="0"/>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26</a:t>
            </a:fld>
            <a:endParaRPr lang="fr-FR"/>
          </a:p>
        </p:txBody>
      </p:sp>
    </p:spTree>
    <p:extLst>
      <p:ext uri="{BB962C8B-B14F-4D97-AF65-F5344CB8AC3E}">
        <p14:creationId xmlns:p14="http://schemas.microsoft.com/office/powerpoint/2010/main" val="2721868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27</a:t>
            </a:fld>
            <a:endParaRPr lang="fr-FR"/>
          </a:p>
        </p:txBody>
      </p:sp>
    </p:spTree>
    <p:extLst>
      <p:ext uri="{BB962C8B-B14F-4D97-AF65-F5344CB8AC3E}">
        <p14:creationId xmlns:p14="http://schemas.microsoft.com/office/powerpoint/2010/main" val="2092961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 L’association avec un anévrisme est observée dans 4 à 8 % des cas.</a:t>
            </a: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28</a:t>
            </a:fld>
            <a:endParaRPr lang="fr-FR"/>
          </a:p>
        </p:txBody>
      </p:sp>
    </p:spTree>
    <p:extLst>
      <p:ext uri="{BB962C8B-B14F-4D97-AF65-F5344CB8AC3E}">
        <p14:creationId xmlns:p14="http://schemas.microsoft.com/office/powerpoint/2010/main" val="2723832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Risque de</a:t>
            </a:r>
            <a:r>
              <a:rPr lang="fr-FR" baseline="0" dirty="0" smtClean="0"/>
              <a:t> saignement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29</a:t>
            </a:fld>
            <a:endParaRPr lang="fr-FR"/>
          </a:p>
        </p:txBody>
      </p:sp>
    </p:spTree>
    <p:extLst>
      <p:ext uri="{BB962C8B-B14F-4D97-AF65-F5344CB8AC3E}">
        <p14:creationId xmlns:p14="http://schemas.microsoft.com/office/powerpoint/2010/main" val="2373209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Ils sont responsables le plus souvent d’une hémorragie </a:t>
            </a:r>
            <a:r>
              <a:rPr lang="fr-FR" dirty="0" err="1" smtClean="0"/>
              <a:t>cerebro-meninge</a:t>
            </a:r>
            <a:r>
              <a:rPr lang="fr-FR" dirty="0" smtClean="0"/>
              <a:t>.</a:t>
            </a:r>
          </a:p>
          <a:p>
            <a:pPr marL="0" lvl="0" indent="0">
              <a:buNone/>
            </a:pPr>
            <a:r>
              <a:rPr lang="fr-FR" b="1" dirty="0" smtClean="0"/>
              <a:t>Thrombophlébite cérébrale</a:t>
            </a:r>
          </a:p>
          <a:p>
            <a:pPr marL="0" lvl="0" indent="0">
              <a:buNone/>
            </a:pPr>
            <a:r>
              <a:rPr lang="fr-FR" dirty="0" smtClean="0"/>
              <a:t>- </a:t>
            </a:r>
            <a:r>
              <a:rPr lang="fr-FR" b="1" dirty="0" smtClean="0"/>
              <a:t>Intoxication au Co</a:t>
            </a:r>
          </a:p>
          <a:p>
            <a:pPr marL="0" lvl="0" indent="0">
              <a:buNone/>
            </a:pPr>
            <a:r>
              <a:rPr lang="fr-FR" dirty="0" smtClean="0"/>
              <a:t>- </a:t>
            </a:r>
            <a:r>
              <a:rPr lang="fr-FR" b="1" dirty="0" smtClean="0"/>
              <a:t>Alcoolisme</a:t>
            </a:r>
            <a:r>
              <a:rPr lang="fr-FR"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smtClean="0"/>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30</a:t>
            </a:fld>
            <a:endParaRPr lang="fr-FR"/>
          </a:p>
        </p:txBody>
      </p:sp>
    </p:spTree>
    <p:extLst>
      <p:ext uri="{BB962C8B-B14F-4D97-AF65-F5344CB8AC3E}">
        <p14:creationId xmlns:p14="http://schemas.microsoft.com/office/powerpoint/2010/main" val="904403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Il confirme le diagnostic en objectivant une hyperdensité́ caractéristique de l’HSA visible dans 90 à 95% des cas dans les premières 24 heures, dont les principaux signes sont :</a:t>
            </a: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32</a:t>
            </a:fld>
            <a:endParaRPr lang="fr-FR"/>
          </a:p>
        </p:txBody>
      </p:sp>
    </p:spTree>
    <p:extLst>
      <p:ext uri="{BB962C8B-B14F-4D97-AF65-F5344CB8AC3E}">
        <p14:creationId xmlns:p14="http://schemas.microsoft.com/office/powerpoint/2010/main" val="32959287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Pour quoi un scanner sans injection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33</a:t>
            </a:fld>
            <a:endParaRPr lang="fr-FR"/>
          </a:p>
        </p:txBody>
      </p:sp>
    </p:spTree>
    <p:extLst>
      <p:ext uri="{BB962C8B-B14F-4D97-AF65-F5344CB8AC3E}">
        <p14:creationId xmlns:p14="http://schemas.microsoft.com/office/powerpoint/2010/main" val="778768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smtClean="0">
                <a:solidFill>
                  <a:schemeClr val="tx1"/>
                </a:solidFill>
                <a:effectLst/>
                <a:latin typeface="+mn-lt"/>
                <a:ea typeface="+mn-ea"/>
                <a:cs typeface="+mn-cs"/>
              </a:rPr>
              <a:t>Grade </a:t>
            </a:r>
          </a:p>
          <a:p>
            <a:r>
              <a:rPr lang="fr-FR" sz="1200" kern="1200" dirty="0" smtClean="0">
                <a:solidFill>
                  <a:schemeClr val="tx1"/>
                </a:solidFill>
                <a:effectLst/>
                <a:latin typeface="+mn-lt"/>
                <a:ea typeface="+mn-ea"/>
                <a:cs typeface="+mn-cs"/>
              </a:rPr>
              <a:t>Aspect du scanner</a:t>
            </a:r>
          </a:p>
          <a:p>
            <a:r>
              <a:rPr lang="fr-FR" sz="1200" kern="1200" dirty="0" smtClean="0">
                <a:solidFill>
                  <a:schemeClr val="tx1"/>
                </a:solidFill>
                <a:effectLst/>
                <a:latin typeface="+mn-lt"/>
                <a:ea typeface="+mn-ea"/>
                <a:cs typeface="+mn-cs"/>
              </a:rPr>
              <a:t>1 </a:t>
            </a:r>
          </a:p>
          <a:p>
            <a:r>
              <a:rPr lang="fr-FR" sz="1200" kern="1200" dirty="0" smtClean="0">
                <a:solidFill>
                  <a:schemeClr val="tx1"/>
                </a:solidFill>
                <a:effectLst/>
                <a:latin typeface="+mn-lt"/>
                <a:ea typeface="+mn-ea"/>
                <a:cs typeface="+mn-cs"/>
              </a:rPr>
              <a:t>Absence de sang</a:t>
            </a:r>
          </a:p>
          <a:p>
            <a:r>
              <a:rPr lang="fr-FR" sz="1200" kern="1200" dirty="0" smtClean="0">
                <a:solidFill>
                  <a:schemeClr val="tx1"/>
                </a:solidFill>
                <a:effectLst/>
                <a:latin typeface="+mn-lt"/>
                <a:ea typeface="+mn-ea"/>
                <a:cs typeface="+mn-cs"/>
              </a:rPr>
              <a:t>2 </a:t>
            </a:r>
          </a:p>
          <a:p>
            <a:r>
              <a:rPr lang="fr-FR" sz="1200" kern="1200" dirty="0" smtClean="0">
                <a:solidFill>
                  <a:schemeClr val="tx1"/>
                </a:solidFill>
                <a:effectLst/>
                <a:latin typeface="+mn-lt"/>
                <a:ea typeface="+mn-ea"/>
                <a:cs typeface="+mn-cs"/>
              </a:rPr>
              <a:t>Dépôts de moins de 1 mm d’épaisseur</a:t>
            </a:r>
          </a:p>
          <a:p>
            <a:r>
              <a:rPr lang="fr-FR" sz="1200" kern="1200" dirty="0" smtClean="0">
                <a:solidFill>
                  <a:schemeClr val="tx1"/>
                </a:solidFill>
                <a:effectLst/>
                <a:latin typeface="+mn-lt"/>
                <a:ea typeface="+mn-ea"/>
                <a:cs typeface="+mn-cs"/>
              </a:rPr>
              <a:t>3 </a:t>
            </a:r>
          </a:p>
          <a:p>
            <a:r>
              <a:rPr lang="fr-FR" sz="1200" kern="1200" dirty="0" smtClean="0">
                <a:solidFill>
                  <a:schemeClr val="tx1"/>
                </a:solidFill>
                <a:effectLst/>
                <a:latin typeface="+mn-lt"/>
                <a:ea typeface="+mn-ea"/>
                <a:cs typeface="+mn-cs"/>
              </a:rPr>
              <a:t>Dépôts de plus de 1 mm d’épaisseur</a:t>
            </a:r>
          </a:p>
          <a:p>
            <a:r>
              <a:rPr lang="fr-FR" sz="1200" kern="1200" dirty="0" smtClean="0">
                <a:solidFill>
                  <a:schemeClr val="tx1"/>
                </a:solidFill>
                <a:effectLst/>
                <a:latin typeface="+mn-lt"/>
                <a:ea typeface="+mn-ea"/>
                <a:cs typeface="+mn-cs"/>
              </a:rPr>
              <a:t>4 </a:t>
            </a:r>
          </a:p>
          <a:p>
            <a:r>
              <a:rPr lang="fr-FR" sz="1200" kern="1200" dirty="0" smtClean="0">
                <a:solidFill>
                  <a:schemeClr val="tx1"/>
                </a:solidFill>
                <a:effectLst/>
                <a:latin typeface="+mn-lt"/>
                <a:ea typeface="+mn-ea"/>
                <a:cs typeface="+mn-cs"/>
              </a:rPr>
              <a:t>Hématome parenchymateux ou hémorragie ventriculaire</a:t>
            </a: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35</a:t>
            </a:fld>
            <a:endParaRPr lang="fr-FR"/>
          </a:p>
        </p:txBody>
      </p:sp>
    </p:spTree>
    <p:extLst>
      <p:ext uri="{BB962C8B-B14F-4D97-AF65-F5344CB8AC3E}">
        <p14:creationId xmlns:p14="http://schemas.microsoft.com/office/powerpoint/2010/main" val="23486761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Vous voilez sur cette image la présence d’un anévrisme </a:t>
            </a:r>
            <a:r>
              <a:rPr lang="fr-FR" dirty="0" err="1" smtClean="0"/>
              <a:t>sylvien</a:t>
            </a:r>
            <a:r>
              <a:rPr lang="fr-FR" dirty="0" smtClean="0"/>
              <a:t> droit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36</a:t>
            </a:fld>
            <a:endParaRPr lang="fr-FR"/>
          </a:p>
        </p:txBody>
      </p:sp>
    </p:spTree>
    <p:extLst>
      <p:ext uri="{BB962C8B-B14F-4D97-AF65-F5344CB8AC3E}">
        <p14:creationId xmlns:p14="http://schemas.microsoft.com/office/powerpoint/2010/main" val="20586349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Si le scanner est sans particularité Fisher 1 on réalise une PL avec l’épreuve des 3</a:t>
            </a:r>
            <a:r>
              <a:rPr lang="fr-FR" baseline="0" dirty="0" smtClean="0"/>
              <a:t> tubes </a:t>
            </a:r>
            <a:endParaRPr lang="fr-FR" dirty="0" smtClean="0"/>
          </a:p>
          <a:p>
            <a:endParaRPr lang="fr-FR" dirty="0" smtClean="0"/>
          </a:p>
          <a:p>
            <a:r>
              <a:rPr lang="fr-FR" dirty="0" smtClean="0"/>
              <a:t>Traumatique coagulable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37</a:t>
            </a:fld>
            <a:endParaRPr lang="fr-FR"/>
          </a:p>
        </p:txBody>
      </p:sp>
    </p:spTree>
    <p:extLst>
      <p:ext uri="{BB962C8B-B14F-4D97-AF65-F5344CB8AC3E}">
        <p14:creationId xmlns:p14="http://schemas.microsoft.com/office/powerpoint/2010/main" val="5079201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Voici une angiographie avec </a:t>
            </a:r>
            <a:r>
              <a:rPr lang="fr-FR" dirty="0" err="1" smtClean="0"/>
              <a:t>catéthérisme</a:t>
            </a:r>
            <a:r>
              <a:rPr lang="fr-FR" dirty="0" smtClean="0"/>
              <a:t> de l’ACI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38</a:t>
            </a:fld>
            <a:endParaRPr lang="fr-FR"/>
          </a:p>
        </p:txBody>
      </p:sp>
    </p:spTree>
    <p:extLst>
      <p:ext uri="{BB962C8B-B14F-4D97-AF65-F5344CB8AC3E}">
        <p14:creationId xmlns:p14="http://schemas.microsoft.com/office/powerpoint/2010/main" val="36281836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i="0" kern="1200" dirty="0" smtClean="0">
                <a:solidFill>
                  <a:schemeClr val="tx1"/>
                </a:solidFill>
                <a:effectLst/>
                <a:latin typeface="+mn-lt"/>
                <a:ea typeface="+mn-ea"/>
                <a:cs typeface="+mn-cs"/>
              </a:rPr>
              <a:t>Le </a:t>
            </a:r>
            <a:r>
              <a:rPr lang="fr-FR" sz="1200" b="1" i="0" kern="1200" dirty="0" err="1" smtClean="0">
                <a:solidFill>
                  <a:schemeClr val="tx1"/>
                </a:solidFill>
                <a:effectLst/>
                <a:latin typeface="+mn-lt"/>
                <a:ea typeface="+mn-ea"/>
                <a:cs typeface="+mn-cs"/>
              </a:rPr>
              <a:t>vasospasme</a:t>
            </a:r>
            <a:r>
              <a:rPr lang="fr-FR" sz="1200" b="1" i="0" kern="1200" dirty="0" smtClean="0">
                <a:solidFill>
                  <a:schemeClr val="tx1"/>
                </a:solidFill>
                <a:effectLst/>
                <a:latin typeface="+mn-lt"/>
                <a:ea typeface="+mn-ea"/>
                <a:cs typeface="+mn-cs"/>
              </a:rPr>
              <a:t> </a:t>
            </a:r>
            <a:r>
              <a:rPr lang="fr-FR" sz="1200" b="0" i="0" kern="1200" dirty="0" smtClean="0">
                <a:solidFill>
                  <a:schemeClr val="tx1"/>
                </a:solidFill>
                <a:effectLst/>
                <a:latin typeface="+mn-lt"/>
                <a:ea typeface="+mn-ea"/>
                <a:cs typeface="+mn-cs"/>
              </a:rPr>
              <a:t>: est une complication grave. Les caillots de sang adhérents au contact</a:t>
            </a:r>
            <a:r>
              <a:rPr lang="fr-FR" sz="1200" kern="1200" dirty="0" smtClean="0">
                <a:solidFill>
                  <a:schemeClr val="tx1"/>
                </a:solidFill>
                <a:effectLst/>
                <a:latin typeface="+mn-lt"/>
                <a:ea typeface="+mn-ea"/>
                <a:cs typeface="+mn-cs"/>
              </a:rPr>
              <a:t> </a:t>
            </a:r>
            <a:r>
              <a:rPr lang="fr-FR" sz="1200" b="0" i="0" kern="1200" dirty="0" smtClean="0">
                <a:solidFill>
                  <a:schemeClr val="tx1"/>
                </a:solidFill>
                <a:effectLst/>
                <a:latin typeface="+mn-lt"/>
                <a:ea typeface="+mn-ea"/>
                <a:cs typeface="+mn-cs"/>
              </a:rPr>
              <a:t>des parois artérielles entrainent une contraction de la musculature lisse, médiée par la</a:t>
            </a:r>
            <a:r>
              <a:rPr lang="fr-FR" sz="1200" kern="1200" dirty="0" smtClean="0">
                <a:solidFill>
                  <a:schemeClr val="tx1"/>
                </a:solidFill>
                <a:effectLst/>
                <a:latin typeface="+mn-lt"/>
                <a:ea typeface="+mn-ea"/>
                <a:cs typeface="+mn-cs"/>
              </a:rPr>
              <a:t> </a:t>
            </a:r>
            <a:r>
              <a:rPr lang="fr-FR" sz="1200" b="0" i="0" kern="1200" dirty="0" smtClean="0">
                <a:solidFill>
                  <a:schemeClr val="tx1"/>
                </a:solidFill>
                <a:effectLst/>
                <a:latin typeface="+mn-lt"/>
                <a:ea typeface="+mn-ea"/>
                <a:cs typeface="+mn-cs"/>
              </a:rPr>
              <a:t>libération de substances </a:t>
            </a:r>
            <a:r>
              <a:rPr lang="fr-FR" sz="1200" b="0" i="0" kern="1200" dirty="0" err="1" smtClean="0">
                <a:solidFill>
                  <a:schemeClr val="tx1"/>
                </a:solidFill>
                <a:effectLst/>
                <a:latin typeface="+mn-lt"/>
                <a:ea typeface="+mn-ea"/>
                <a:cs typeface="+mn-cs"/>
              </a:rPr>
              <a:t>vasoactives</a:t>
            </a:r>
            <a:r>
              <a:rPr lang="fr-FR" sz="1200" b="0" i="0" kern="1200" dirty="0" smtClean="0">
                <a:solidFill>
                  <a:schemeClr val="tx1"/>
                </a:solidFill>
                <a:effectLst/>
                <a:latin typeface="+mn-lt"/>
                <a:ea typeface="+mn-ea"/>
                <a:cs typeface="+mn-cs"/>
              </a:rPr>
              <a:t> (sérotonine, catécholamines, prostaglandines...), d’où</a:t>
            </a:r>
            <a:r>
              <a:rPr lang="fr-FR" sz="1200" kern="1200" dirty="0" smtClean="0">
                <a:solidFill>
                  <a:schemeClr val="tx1"/>
                </a:solidFill>
                <a:effectLst/>
                <a:latin typeface="+mn-lt"/>
                <a:ea typeface="+mn-ea"/>
                <a:cs typeface="+mn-cs"/>
              </a:rPr>
              <a:t> </a:t>
            </a:r>
            <a:r>
              <a:rPr lang="fr-FR" sz="1200" b="0" i="0" kern="1200" dirty="0" smtClean="0">
                <a:solidFill>
                  <a:schemeClr val="tx1"/>
                </a:solidFill>
                <a:effectLst/>
                <a:latin typeface="+mn-lt"/>
                <a:ea typeface="+mn-ea"/>
                <a:cs typeface="+mn-cs"/>
              </a:rPr>
              <a:t>une réduction du diamètre </a:t>
            </a:r>
            <a:r>
              <a:rPr lang="fr-FR" sz="1200" b="0" i="0" kern="1200" dirty="0" err="1" smtClean="0">
                <a:solidFill>
                  <a:schemeClr val="tx1"/>
                </a:solidFill>
                <a:effectLst/>
                <a:latin typeface="+mn-lt"/>
                <a:ea typeface="+mn-ea"/>
                <a:cs typeface="+mn-cs"/>
              </a:rPr>
              <a:t>endoluminale</a:t>
            </a:r>
            <a:r>
              <a:rPr lang="fr-FR" sz="1200" b="0" i="0" kern="1200" dirty="0" smtClean="0">
                <a:solidFill>
                  <a:schemeClr val="tx1"/>
                </a:solidFill>
                <a:effectLst/>
                <a:latin typeface="+mn-lt"/>
                <a:ea typeface="+mn-ea"/>
                <a:cs typeface="+mn-cs"/>
              </a:rPr>
              <a:t> de 50 à 80%,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40</a:t>
            </a:fld>
            <a:endParaRPr lang="fr-FR"/>
          </a:p>
        </p:txBody>
      </p:sp>
    </p:spTree>
    <p:extLst>
      <p:ext uri="{BB962C8B-B14F-4D97-AF65-F5344CB8AC3E}">
        <p14:creationId xmlns:p14="http://schemas.microsoft.com/office/powerpoint/2010/main" val="15000021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Dans sa forme typique, un </a:t>
            </a:r>
            <a:r>
              <a:rPr lang="fr-FR" dirty="0" err="1" smtClean="0"/>
              <a:t>cavernome</a:t>
            </a:r>
            <a:r>
              <a:rPr lang="fr-FR" dirty="0" smtClean="0"/>
              <a:t> comporte une zone centrale hétérogène associant un </a:t>
            </a:r>
            <a:r>
              <a:rPr lang="fr-FR" dirty="0" err="1" smtClean="0"/>
              <a:t>hypersignal</a:t>
            </a:r>
            <a:r>
              <a:rPr lang="fr-FR" dirty="0" smtClean="0"/>
              <a:t> intense en T1 et T2 lié à la présence de méthémoglobine et un </a:t>
            </a:r>
            <a:r>
              <a:rPr lang="fr-FR" dirty="0" err="1" smtClean="0"/>
              <a:t>hyposignal</a:t>
            </a:r>
            <a:r>
              <a:rPr lang="fr-FR" dirty="0" smtClean="0"/>
              <a:t> dû au mélange calcium-hémosidérine avec une zone périphérique en </a:t>
            </a:r>
            <a:r>
              <a:rPr lang="fr-FR" dirty="0" err="1" smtClean="0"/>
              <a:t>hyposignal</a:t>
            </a:r>
            <a:r>
              <a:rPr lang="fr-FR" dirty="0" smtClean="0"/>
              <a:t> T2 (hémosidérine)</a:t>
            </a:r>
            <a:endParaRPr lang="fr-FR" b="1" dirty="0" smtClean="0"/>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43</a:t>
            </a:fld>
            <a:endParaRPr lang="fr-FR"/>
          </a:p>
        </p:txBody>
      </p:sp>
    </p:spTree>
    <p:extLst>
      <p:ext uri="{BB962C8B-B14F-4D97-AF65-F5344CB8AC3E}">
        <p14:creationId xmlns:p14="http://schemas.microsoft.com/office/powerpoint/2010/main" val="614401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Obstruction ou </a:t>
            </a:r>
            <a:r>
              <a:rPr lang="fr-FR" dirty="0" err="1" smtClean="0"/>
              <a:t>arachnoidite</a:t>
            </a:r>
            <a:r>
              <a:rPr lang="fr-FR" dirty="0" smtClean="0"/>
              <a:t> post </a:t>
            </a:r>
            <a:r>
              <a:rPr lang="fr-FR" dirty="0" err="1" smtClean="0"/>
              <a:t>hgique</a:t>
            </a:r>
            <a:r>
              <a:rPr lang="fr-FR" dirty="0" smtClean="0"/>
              <a:t>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46</a:t>
            </a:fld>
            <a:endParaRPr lang="fr-FR"/>
          </a:p>
        </p:txBody>
      </p:sp>
    </p:spTree>
    <p:extLst>
      <p:ext uri="{BB962C8B-B14F-4D97-AF65-F5344CB8AC3E}">
        <p14:creationId xmlns:p14="http://schemas.microsoft.com/office/powerpoint/2010/main" val="28403994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complication grave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t>non seulement au voisinage de l’anévrysme, mais aussi à distance, </a:t>
            </a:r>
          </a:p>
          <a:p>
            <a:r>
              <a:rPr lang="fr-FR" dirty="0" smtClean="0"/>
              <a:t>Sur l’imagerie A quoi ressemble un </a:t>
            </a:r>
            <a:r>
              <a:rPr lang="fr-FR" dirty="0" err="1" smtClean="0"/>
              <a:t>vasospasme</a:t>
            </a:r>
            <a:r>
              <a:rPr lang="fr-FR" dirty="0" smtClean="0"/>
              <a:t> </a:t>
            </a:r>
          </a:p>
          <a:p>
            <a:r>
              <a:rPr lang="fr-FR" dirty="0" smtClean="0"/>
              <a:t>Vous voilez ici le calibre de l’ACI qui est </a:t>
            </a:r>
            <a:r>
              <a:rPr lang="fr-FR" dirty="0" err="1" smtClean="0"/>
              <a:t>nroml</a:t>
            </a:r>
            <a:r>
              <a:rPr lang="fr-FR" dirty="0" smtClean="0"/>
              <a:t> puis elle a changé </a:t>
            </a:r>
            <a:r>
              <a:rPr lang="fr-FR" dirty="0" err="1" smtClean="0"/>
              <a:t>completement</a:t>
            </a:r>
            <a:r>
              <a:rPr lang="fr-FR" dirty="0" smtClean="0"/>
              <a:t> de calibre avec un </a:t>
            </a:r>
            <a:r>
              <a:rPr lang="fr-FR" dirty="0" err="1" smtClean="0"/>
              <a:t>rétricissement</a:t>
            </a:r>
            <a:r>
              <a:rPr lang="fr-FR" dirty="0" smtClean="0"/>
              <a:t> très important </a:t>
            </a:r>
          </a:p>
          <a:p>
            <a:r>
              <a:rPr lang="fr-FR" dirty="0" smtClean="0"/>
              <a:t>Voila comment ce manifeste un </a:t>
            </a:r>
            <a:r>
              <a:rPr lang="fr-FR" dirty="0" err="1" smtClean="0"/>
              <a:t>vasospasme</a:t>
            </a:r>
            <a:r>
              <a:rPr lang="fr-FR" baseline="0" dirty="0" smtClean="0"/>
              <a:t> sur l’angiographie cérébrale </a:t>
            </a:r>
            <a:endParaRPr lang="fr-FR"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smtClean="0"/>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47</a:t>
            </a:fld>
            <a:endParaRPr lang="fr-FR"/>
          </a:p>
        </p:txBody>
      </p:sp>
    </p:spTree>
    <p:extLst>
      <p:ext uri="{BB962C8B-B14F-4D97-AF65-F5344CB8AC3E}">
        <p14:creationId xmlns:p14="http://schemas.microsoft.com/office/powerpoint/2010/main" val="31738745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Inhibiteurs calciques a tropisme cérébrale  : abaissent les résistances vasculaires, augmentent le débit sanguin cérébral dans la zone ischémie et lutte contre la pénétration intra cellulaire de calcium, responsable de la mort cellulaire. </a:t>
            </a:r>
            <a:r>
              <a:rPr lang="fr-FR" b="1" dirty="0" smtClean="0"/>
              <a:t>NIMOTOP </a:t>
            </a:r>
            <a:r>
              <a:rPr lang="fr-FR" dirty="0" smtClean="0"/>
              <a:t>: 1 à 2 mg/h en PSE pendant 5 à 15 jours puis per os 360 mg/j pendant 3 semaines.</a:t>
            </a: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50</a:t>
            </a:fld>
            <a:endParaRPr lang="fr-FR"/>
          </a:p>
        </p:txBody>
      </p:sp>
    </p:spTree>
    <p:extLst>
      <p:ext uri="{BB962C8B-B14F-4D97-AF65-F5344CB8AC3E}">
        <p14:creationId xmlns:p14="http://schemas.microsoft.com/office/powerpoint/2010/main" val="42801464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54</a:t>
            </a:fld>
            <a:endParaRPr lang="fr-FR"/>
          </a:p>
        </p:txBody>
      </p:sp>
    </p:spTree>
    <p:extLst>
      <p:ext uri="{BB962C8B-B14F-4D97-AF65-F5344CB8AC3E}">
        <p14:creationId xmlns:p14="http://schemas.microsoft.com/office/powerpoint/2010/main" val="23482825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fr-FR" dirty="0" smtClean="0"/>
              <a:t>Consiste, après la réalisation d’une voie d’abord </a:t>
            </a:r>
            <a:r>
              <a:rPr lang="fr-FR" dirty="0" err="1" smtClean="0"/>
              <a:t>transcranienne</a:t>
            </a:r>
            <a:r>
              <a:rPr lang="fr-FR" dirty="0" smtClean="0"/>
              <a:t> (en fonction du siège de l’anévrisme), à disséquer sous microscope opératoire les artères du polygone de Willis et à positionner un clip au niveau du collet de l'anévrisme toute en préservant la perméabilité des artères porteurs.</a:t>
            </a:r>
          </a:p>
          <a:p>
            <a:endParaRPr lang="fr-FR" dirty="0" smtClean="0"/>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56</a:t>
            </a:fld>
            <a:endParaRPr lang="fr-FR"/>
          </a:p>
        </p:txBody>
      </p:sp>
    </p:spTree>
    <p:extLst>
      <p:ext uri="{BB962C8B-B14F-4D97-AF65-F5344CB8AC3E}">
        <p14:creationId xmlns:p14="http://schemas.microsoft.com/office/powerpoint/2010/main" val="20505922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smtClean="0"/>
              <a:t>Il est mis en évidence par le doppler </a:t>
            </a:r>
            <a:r>
              <a:rPr lang="fr-FR" dirty="0" err="1" smtClean="0"/>
              <a:t>transcrânien</a:t>
            </a:r>
            <a:r>
              <a:rPr lang="fr-FR" dirty="0" smtClean="0"/>
              <a:t>, répété́ quotidiennement au cours de l’évolution, qui montre une augmentation des vitesses circulatoires au niveau de l’artère </a:t>
            </a:r>
            <a:r>
              <a:rPr lang="fr-FR" dirty="0" err="1" smtClean="0"/>
              <a:t>spasmé</a:t>
            </a:r>
            <a:r>
              <a:rPr lang="fr-FR" dirty="0" smtClean="0"/>
              <a:t>. Il est confirmé́ par l’angiographie cérébrale.</a:t>
            </a:r>
            <a:br>
              <a:rPr lang="fr-FR" dirty="0" smtClean="0"/>
            </a:br>
            <a:r>
              <a:rPr lang="fr-FR" dirty="0" smtClean="0"/>
              <a:t>La prévention du </a:t>
            </a:r>
            <a:r>
              <a:rPr lang="fr-FR" dirty="0" err="1" smtClean="0"/>
              <a:t>vasospasme</a:t>
            </a:r>
            <a:r>
              <a:rPr lang="fr-FR" dirty="0" smtClean="0"/>
              <a:t> est systématique par inhibiteurs calciques (</a:t>
            </a:r>
            <a:r>
              <a:rPr lang="fr-FR" dirty="0" err="1" smtClean="0"/>
              <a:t>nimodipine</a:t>
            </a:r>
            <a:r>
              <a:rPr lang="fr-FR" dirty="0" smtClean="0"/>
              <a:t>) avec surveillance tensionnelle stricte.</a:t>
            </a:r>
          </a:p>
          <a:p>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58</a:t>
            </a:fld>
            <a:endParaRPr lang="fr-FR"/>
          </a:p>
        </p:txBody>
      </p:sp>
    </p:spTree>
    <p:extLst>
      <p:ext uri="{BB962C8B-B14F-4D97-AF65-F5344CB8AC3E}">
        <p14:creationId xmlns:p14="http://schemas.microsoft.com/office/powerpoint/2010/main" val="11192139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Je</a:t>
            </a:r>
            <a:r>
              <a:rPr lang="fr-FR" baseline="0" dirty="0" smtClean="0"/>
              <a:t> v conclure on disant que </a:t>
            </a:r>
            <a:endParaRPr lang="fr-FR" dirty="0"/>
          </a:p>
        </p:txBody>
      </p:sp>
      <p:sp>
        <p:nvSpPr>
          <p:cNvPr id="4" name="Slide Number Placeholder 3"/>
          <p:cNvSpPr>
            <a:spLocks noGrp="1"/>
          </p:cNvSpPr>
          <p:nvPr>
            <p:ph type="sldNum" sz="quarter" idx="10"/>
          </p:nvPr>
        </p:nvSpPr>
        <p:spPr/>
        <p:txBody>
          <a:bodyPr/>
          <a:lstStyle/>
          <a:p>
            <a:fld id="{874F2B0A-CA37-4B10-B83C-36A153E77E45}" type="slidenum">
              <a:rPr lang="fr-FR" smtClean="0"/>
              <a:t>60</a:t>
            </a:fld>
            <a:endParaRPr lang="fr-FR"/>
          </a:p>
        </p:txBody>
      </p:sp>
    </p:spTree>
    <p:extLst>
      <p:ext uri="{BB962C8B-B14F-4D97-AF65-F5344CB8AC3E}">
        <p14:creationId xmlns:p14="http://schemas.microsoft.com/office/powerpoint/2010/main" val="1688990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p:txBody>
          <a:bodyPr/>
          <a:lstStyle/>
          <a:p>
            <a:fld id="{ACC85338-314F-4A7B-8C02-572F6E01F5C7}" type="datetimeFigureOut">
              <a:rPr lang="fr-FR" smtClean="0"/>
              <a:t>02/02/2026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2615877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ACC85338-314F-4A7B-8C02-572F6E01F5C7}" type="datetimeFigureOut">
              <a:rPr lang="fr-FR" smtClean="0"/>
              <a:t>02/02/2026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887076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C85338-314F-4A7B-8C02-572F6E01F5C7}" type="datetimeFigureOut">
              <a:rPr lang="fr-FR" smtClean="0"/>
              <a:t>02/02/2026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811172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p:txBody>
          <a:bodyPr/>
          <a:lstStyle/>
          <a:p>
            <a:fld id="{ACC85338-314F-4A7B-8C02-572F6E01F5C7}" type="datetimeFigureOut">
              <a:rPr lang="fr-FR" smtClean="0"/>
              <a:t>02/02/2026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425840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p:txBody>
          <a:bodyPr/>
          <a:lstStyle/>
          <a:p>
            <a:fld id="{ACC85338-314F-4A7B-8C02-572F6E01F5C7}" type="datetimeFigureOut">
              <a:rPr lang="fr-FR" smtClean="0"/>
              <a:t>02/02/2026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202082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p:txBody>
          <a:bodyPr/>
          <a:lstStyle/>
          <a:p>
            <a:fld id="{ACC85338-314F-4A7B-8C02-572F6E01F5C7}" type="datetimeFigureOut">
              <a:rPr lang="fr-FR" smtClean="0"/>
              <a:t>02/02/2026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4180381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C85338-314F-4A7B-8C02-572F6E01F5C7}" type="datetimeFigureOut">
              <a:rPr lang="fr-FR" smtClean="0"/>
              <a:t>02/02/2026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747976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C85338-314F-4A7B-8C02-572F6E01F5C7}" type="datetimeFigureOut">
              <a:rPr lang="fr-FR" smtClean="0"/>
              <a:t>02/02/2026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819333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C85338-314F-4A7B-8C02-572F6E01F5C7}" type="datetimeFigureOut">
              <a:rPr lang="fr-FR" smtClean="0"/>
              <a:t>02/02/2026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3313009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ACC85338-314F-4A7B-8C02-572F6E01F5C7}" type="datetimeFigureOut">
              <a:rPr lang="fr-FR" smtClean="0"/>
              <a:t>02/02/2026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3284996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ACC85338-314F-4A7B-8C02-572F6E01F5C7}" type="datetimeFigureOut">
              <a:rPr lang="fr-FR" smtClean="0"/>
              <a:t>02/02/2026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24195EA-DF70-4C7F-91E1-22A3AD34152E}" type="slidenum">
              <a:rPr lang="fr-FR" smtClean="0"/>
              <a:t>‹N°›</a:t>
            </a:fld>
            <a:endParaRPr lang="fr-FR"/>
          </a:p>
        </p:txBody>
      </p:sp>
    </p:spTree>
    <p:extLst>
      <p:ext uri="{BB962C8B-B14F-4D97-AF65-F5344CB8AC3E}">
        <p14:creationId xmlns:p14="http://schemas.microsoft.com/office/powerpoint/2010/main" val="3890333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C85338-314F-4A7B-8C02-572F6E01F5C7}" type="datetimeFigureOut">
              <a:rPr lang="fr-FR" smtClean="0"/>
              <a:t>02/02/2026</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4195EA-DF70-4C7F-91E1-22A3AD34152E}" type="slidenum">
              <a:rPr lang="fr-FR" smtClean="0"/>
              <a:t>‹N°›</a:t>
            </a:fld>
            <a:endParaRPr lang="fr-FR"/>
          </a:p>
        </p:txBody>
      </p:sp>
    </p:spTree>
    <p:extLst>
      <p:ext uri="{BB962C8B-B14F-4D97-AF65-F5344CB8AC3E}">
        <p14:creationId xmlns:p14="http://schemas.microsoft.com/office/powerpoint/2010/main" val="321187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Oumjea@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anevrisme.info/redirect-mailto.php"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hyperlink" Target="http://anevrisme.info/redirect-mailto.php"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7.wmf"/><Relationship Id="rId4"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6.jpeg"/><Relationship Id="rId4" Type="http://schemas.openxmlformats.org/officeDocument/2006/relationships/image" Target="../media/image55.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44C83"/>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1524000" y="2152073"/>
            <a:ext cx="9144000" cy="1497358"/>
          </a:xfrm>
          <a:prstGeom prst="rect">
            <a:avLst/>
          </a:prstGeom>
          <a:ln>
            <a:solidFill>
              <a:schemeClr val="bg1"/>
            </a:solidFill>
          </a:ln>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6600" b="1" dirty="0" smtClean="0">
                <a:ln w="0"/>
                <a:solidFill>
                  <a:schemeClr val="bg1"/>
                </a:solidFill>
                <a:effectLst>
                  <a:outerShdw blurRad="38100" dist="38100" dir="2700000" algn="tl">
                    <a:srgbClr val="000000">
                      <a:alpha val="43137"/>
                    </a:srgbClr>
                  </a:outerShdw>
                </a:effectLst>
              </a:rPr>
              <a:t>Hémorragie méningée </a:t>
            </a:r>
            <a:endParaRPr lang="fr-FR" sz="6600" b="1" dirty="0">
              <a:ln w="0"/>
              <a:solidFill>
                <a:schemeClr val="bg1"/>
              </a:solidFill>
              <a:effectLst>
                <a:outerShdw blurRad="38100" dist="38100" dir="2700000" algn="tl">
                  <a:srgbClr val="000000">
                    <a:alpha val="43137"/>
                  </a:srgbClr>
                </a:outerShdw>
              </a:effectLst>
            </a:endParaRPr>
          </a:p>
        </p:txBody>
      </p:sp>
      <p:sp>
        <p:nvSpPr>
          <p:cNvPr id="5" name="Subtitle 2"/>
          <p:cNvSpPr txBox="1">
            <a:spLocks/>
          </p:cNvSpPr>
          <p:nvPr/>
        </p:nvSpPr>
        <p:spPr>
          <a:xfrm>
            <a:off x="-4" y="4008613"/>
            <a:ext cx="12192000" cy="48043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2000" dirty="0" smtClean="0">
                <a:solidFill>
                  <a:schemeClr val="bg1"/>
                </a:solidFill>
              </a:rPr>
              <a:t>Cours de Neurochirurgie destiné aux étudiants de 4éme année médecine (Module Neurologie) </a:t>
            </a:r>
            <a:br>
              <a:rPr lang="fr-FR" sz="2000" dirty="0" smtClean="0">
                <a:solidFill>
                  <a:schemeClr val="bg1"/>
                </a:solidFill>
              </a:rPr>
            </a:br>
            <a:endParaRPr lang="fr-FR" sz="2000" dirty="0">
              <a:solidFill>
                <a:schemeClr val="bg1"/>
              </a:solidFill>
            </a:endParaRPr>
          </a:p>
        </p:txBody>
      </p:sp>
      <p:sp>
        <p:nvSpPr>
          <p:cNvPr id="6" name="TextBox 5"/>
          <p:cNvSpPr txBox="1"/>
          <p:nvPr/>
        </p:nvSpPr>
        <p:spPr>
          <a:xfrm>
            <a:off x="748149" y="489841"/>
            <a:ext cx="10668000"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FR" sz="2400" b="1" dirty="0"/>
              <a:t>République Algérienne Démocratique et Populaire</a:t>
            </a:r>
            <a:br>
              <a:rPr lang="fr-FR" sz="2400" b="1" dirty="0"/>
            </a:br>
            <a:r>
              <a:rPr lang="fr-FR" sz="2400" b="1" dirty="0"/>
              <a:t>Ministère de l’Enseignement Supérieur et de la Recherche Scientifique</a:t>
            </a:r>
            <a:r>
              <a:rPr lang="fr-FR" sz="2400" dirty="0" smtClean="0"/>
              <a:t> </a:t>
            </a:r>
            <a:endParaRPr lang="fr-FR" sz="2400" dirty="0"/>
          </a:p>
        </p:txBody>
      </p:sp>
      <p:sp>
        <p:nvSpPr>
          <p:cNvPr id="7" name="TextBox 6"/>
          <p:cNvSpPr txBox="1"/>
          <p:nvPr/>
        </p:nvSpPr>
        <p:spPr>
          <a:xfrm>
            <a:off x="1" y="5532582"/>
            <a:ext cx="12192000" cy="1323439"/>
          </a:xfrm>
          <a:prstGeom prst="rect">
            <a:avLst/>
          </a:prstGeom>
          <a:solidFill>
            <a:schemeClr val="bg1"/>
          </a:solidFill>
        </p:spPr>
        <p:txBody>
          <a:bodyPr wrap="square" rtlCol="0">
            <a:spAutoFit/>
          </a:bodyPr>
          <a:lstStyle/>
          <a:p>
            <a:pPr algn="ctr"/>
            <a:r>
              <a:rPr lang="fr-FR" sz="2000" dirty="0" smtClean="0"/>
              <a:t>Docteur BOUZERARA Oumaima</a:t>
            </a:r>
          </a:p>
          <a:p>
            <a:pPr algn="ctr"/>
            <a:r>
              <a:rPr lang="fr-FR" sz="2000" smtClean="0"/>
              <a:t>Maitre - Assistante </a:t>
            </a:r>
            <a:endParaRPr lang="fr-FR" sz="2000" dirty="0" smtClean="0"/>
          </a:p>
          <a:p>
            <a:pPr algn="ctr"/>
            <a:r>
              <a:rPr lang="fr-FR" sz="2000" dirty="0" smtClean="0"/>
              <a:t>Service de Neurochirurgie - CHU de Constantine: </a:t>
            </a:r>
            <a:r>
              <a:rPr lang="fr-FR" sz="2000" b="1" dirty="0" smtClean="0">
                <a:solidFill>
                  <a:srgbClr val="C00000"/>
                </a:solidFill>
                <a:hlinkClick r:id="rId2"/>
              </a:rPr>
              <a:t>Oumjea@gmail.com</a:t>
            </a:r>
            <a:r>
              <a:rPr lang="fr-FR" sz="2000" b="1" dirty="0" smtClean="0">
                <a:solidFill>
                  <a:srgbClr val="C00000"/>
                </a:solidFill>
              </a:rPr>
              <a:t> </a:t>
            </a:r>
            <a:endParaRPr lang="fr-FR" sz="2000" b="1" dirty="0">
              <a:solidFill>
                <a:srgbClr val="C00000"/>
              </a:solidFill>
            </a:endParaRPr>
          </a:p>
          <a:p>
            <a:pPr algn="ctr"/>
            <a:endParaRPr lang="fr-FR" sz="2000" b="1" dirty="0" smtClean="0">
              <a:solidFill>
                <a:srgbClr val="C00000"/>
              </a:solidFill>
            </a:endParaRPr>
          </a:p>
        </p:txBody>
      </p:sp>
    </p:spTree>
    <p:extLst>
      <p:ext uri="{BB962C8B-B14F-4D97-AF65-F5344CB8AC3E}">
        <p14:creationId xmlns:p14="http://schemas.microsoft.com/office/powerpoint/2010/main" val="40584013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48509"/>
            <a:ext cx="10515600" cy="5070764"/>
          </a:xfrm>
        </p:spPr>
        <p:txBody>
          <a:bodyPr>
            <a:normAutofit lnSpcReduction="10000"/>
          </a:bodyPr>
          <a:lstStyle/>
          <a:p>
            <a:pPr lvl="0">
              <a:buFont typeface="Wingdings" panose="05000000000000000000" pitchFamily="2" charset="2"/>
              <a:buChar char="ü"/>
            </a:pPr>
            <a:r>
              <a:rPr lang="fr-FR" dirty="0" smtClean="0"/>
              <a:t> Définir </a:t>
            </a:r>
            <a:r>
              <a:rPr lang="fr-FR" dirty="0"/>
              <a:t>et diagnostiquer une hémorragie méningée </a:t>
            </a:r>
            <a:endParaRPr lang="fr-FR" dirty="0" smtClean="0"/>
          </a:p>
          <a:p>
            <a:pPr lvl="0">
              <a:buFont typeface="Wingdings" panose="05000000000000000000" pitchFamily="2" charset="2"/>
              <a:buChar char="ü"/>
            </a:pPr>
            <a:endParaRPr lang="fr-FR" dirty="0"/>
          </a:p>
          <a:p>
            <a:pPr lvl="0">
              <a:buFont typeface="Wingdings" panose="05000000000000000000" pitchFamily="2" charset="2"/>
              <a:buChar char="ü"/>
            </a:pPr>
            <a:r>
              <a:rPr lang="fr-FR" dirty="0" smtClean="0"/>
              <a:t>Enumérer </a:t>
            </a:r>
            <a:r>
              <a:rPr lang="fr-FR" dirty="0"/>
              <a:t>les principales </a:t>
            </a:r>
            <a:r>
              <a:rPr lang="fr-FR" dirty="0" smtClean="0"/>
              <a:t>causes</a:t>
            </a:r>
          </a:p>
          <a:p>
            <a:pPr lvl="0">
              <a:buFont typeface="Wingdings" panose="05000000000000000000" pitchFamily="2" charset="2"/>
              <a:buChar char="ü"/>
            </a:pPr>
            <a:endParaRPr lang="fr-FR" dirty="0"/>
          </a:p>
          <a:p>
            <a:pPr lvl="0">
              <a:buFont typeface="Wingdings" panose="05000000000000000000" pitchFamily="2" charset="2"/>
              <a:buChar char="ü"/>
            </a:pPr>
            <a:r>
              <a:rPr lang="fr-FR" dirty="0" smtClean="0"/>
              <a:t> </a:t>
            </a:r>
            <a:r>
              <a:rPr lang="fr-FR" dirty="0"/>
              <a:t>Identifie les situations </a:t>
            </a:r>
            <a:r>
              <a:rPr lang="fr-FR" dirty="0" smtClean="0"/>
              <a:t>thérapeutiques</a:t>
            </a:r>
          </a:p>
          <a:p>
            <a:pPr marL="0" lvl="0" indent="0">
              <a:buNone/>
            </a:pPr>
            <a:r>
              <a:rPr lang="fr-FR" dirty="0" smtClean="0"/>
              <a:t> </a:t>
            </a:r>
            <a:r>
              <a:rPr lang="fr-FR" dirty="0"/>
              <a:t>et organiser la prise en </a:t>
            </a:r>
            <a:r>
              <a:rPr lang="fr-FR" dirty="0" smtClean="0"/>
              <a:t>charge</a:t>
            </a:r>
          </a:p>
          <a:p>
            <a:pPr marL="0" lvl="0" indent="0">
              <a:buNone/>
            </a:pPr>
            <a:endParaRPr lang="fr-FR" dirty="0"/>
          </a:p>
          <a:p>
            <a:pPr lvl="0">
              <a:buFont typeface="Wingdings" panose="05000000000000000000" pitchFamily="2" charset="2"/>
              <a:buChar char="ü"/>
            </a:pPr>
            <a:r>
              <a:rPr lang="fr-FR" dirty="0" smtClean="0"/>
              <a:t> Connaitre </a:t>
            </a:r>
            <a:r>
              <a:rPr lang="fr-FR" dirty="0"/>
              <a:t>les complications évolutives d’une hémorragie </a:t>
            </a:r>
            <a:r>
              <a:rPr lang="fr-FR" dirty="0" smtClean="0"/>
              <a:t>méningée</a:t>
            </a:r>
          </a:p>
          <a:p>
            <a:pPr lvl="0">
              <a:buFont typeface="Wingdings" panose="05000000000000000000" pitchFamily="2" charset="2"/>
              <a:buChar char="ü"/>
            </a:pPr>
            <a:endParaRPr lang="fr-FR" dirty="0"/>
          </a:p>
          <a:p>
            <a:pPr lvl="0">
              <a:buFont typeface="Wingdings" panose="05000000000000000000" pitchFamily="2" charset="2"/>
              <a:buChar char="ü"/>
            </a:pPr>
            <a:r>
              <a:rPr lang="fr-FR" dirty="0" smtClean="0"/>
              <a:t>Planifie </a:t>
            </a:r>
            <a:r>
              <a:rPr lang="fr-FR" dirty="0"/>
              <a:t>le suivi du </a:t>
            </a:r>
            <a:r>
              <a:rPr lang="fr-FR" dirty="0" smtClean="0"/>
              <a:t>patient</a:t>
            </a:r>
            <a:endParaRPr lang="fr-FR" dirty="0"/>
          </a:p>
        </p:txBody>
      </p:sp>
      <p:sp>
        <p:nvSpPr>
          <p:cNvPr id="4" name="Title 1"/>
          <p:cNvSpPr txBox="1">
            <a:spLocks/>
          </p:cNvSpPr>
          <p:nvPr/>
        </p:nvSpPr>
        <p:spPr>
          <a:xfrm>
            <a:off x="0" y="-47708"/>
            <a:ext cx="12192000" cy="937200"/>
          </a:xfrm>
          <a:prstGeom prst="rect">
            <a:avLst/>
          </a:prstGeom>
          <a:solidFill>
            <a:srgbClr val="844C83"/>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5300" smtClean="0">
                <a:solidFill>
                  <a:schemeClr val="bg1"/>
                </a:solidFill>
              </a:rPr>
              <a:t>Objectifs</a:t>
            </a:r>
            <a:r>
              <a:rPr lang="fr-FR" smtClean="0">
                <a:solidFill>
                  <a:schemeClr val="bg1"/>
                </a:solidFill>
              </a:rPr>
              <a:t> </a:t>
            </a:r>
            <a:r>
              <a:rPr lang="fr-FR" sz="5400" smtClean="0">
                <a:solidFill>
                  <a:schemeClr val="bg1"/>
                </a:solidFill>
              </a:rPr>
              <a:t>du cours </a:t>
            </a:r>
            <a:endParaRPr lang="fr-FR" sz="5400" dirty="0">
              <a:solidFill>
                <a:schemeClr val="bg1"/>
              </a:solidFill>
            </a:endParaRPr>
          </a:p>
        </p:txBody>
      </p:sp>
      <p:pic>
        <p:nvPicPr>
          <p:cNvPr id="5" name="Picture 2" descr="Définition d'objectifs avec la méthode SMART-C - Plus Sep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4921" y="1794655"/>
            <a:ext cx="2424218" cy="2542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76176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0992" y="1458410"/>
            <a:ext cx="6590016" cy="5106776"/>
          </a:xfrm>
        </p:spPr>
        <p:txBody>
          <a:bodyPr>
            <a:noAutofit/>
          </a:bodyPr>
          <a:lstStyle/>
          <a:p>
            <a:pPr marL="0" indent="0">
              <a:buNone/>
            </a:pPr>
            <a:r>
              <a:rPr lang="fr-FR" dirty="0" smtClean="0">
                <a:solidFill>
                  <a:srgbClr val="844C83"/>
                </a:solidFill>
              </a:rPr>
              <a:t>I- Introduction </a:t>
            </a:r>
          </a:p>
          <a:p>
            <a:pPr marL="0" indent="0">
              <a:buNone/>
            </a:pPr>
            <a:r>
              <a:rPr lang="fr-FR" dirty="0" smtClean="0">
                <a:solidFill>
                  <a:srgbClr val="844C83"/>
                </a:solidFill>
              </a:rPr>
              <a:t>II- Rappel anatomique </a:t>
            </a:r>
          </a:p>
          <a:p>
            <a:pPr marL="0" indent="0">
              <a:buNone/>
            </a:pPr>
            <a:r>
              <a:rPr lang="fr-FR" dirty="0" smtClean="0">
                <a:solidFill>
                  <a:srgbClr val="844C83"/>
                </a:solidFill>
              </a:rPr>
              <a:t>III- Physiopathologie </a:t>
            </a:r>
          </a:p>
          <a:p>
            <a:pPr marL="0" indent="0">
              <a:buNone/>
            </a:pPr>
            <a:r>
              <a:rPr lang="fr-FR" dirty="0" smtClean="0">
                <a:solidFill>
                  <a:srgbClr val="844C83"/>
                </a:solidFill>
              </a:rPr>
              <a:t>IV- Clinique </a:t>
            </a:r>
          </a:p>
          <a:p>
            <a:pPr marL="0" indent="0">
              <a:buNone/>
            </a:pPr>
            <a:r>
              <a:rPr lang="fr-FR" dirty="0" smtClean="0">
                <a:solidFill>
                  <a:srgbClr val="844C83"/>
                </a:solidFill>
              </a:rPr>
              <a:t>V- Diagnostic étiologique </a:t>
            </a:r>
          </a:p>
          <a:p>
            <a:pPr marL="0" indent="0">
              <a:buNone/>
            </a:pPr>
            <a:r>
              <a:rPr lang="fr-FR" dirty="0" smtClean="0">
                <a:solidFill>
                  <a:srgbClr val="844C83"/>
                </a:solidFill>
              </a:rPr>
              <a:t>VI- Examens complémentaire </a:t>
            </a:r>
          </a:p>
          <a:p>
            <a:pPr marL="0" indent="0">
              <a:buNone/>
            </a:pPr>
            <a:r>
              <a:rPr lang="fr-FR" dirty="0" smtClean="0">
                <a:solidFill>
                  <a:srgbClr val="844C83"/>
                </a:solidFill>
              </a:rPr>
              <a:t>VII- Complications </a:t>
            </a:r>
          </a:p>
          <a:p>
            <a:pPr marL="0" indent="0">
              <a:buNone/>
            </a:pPr>
            <a:r>
              <a:rPr lang="fr-FR" dirty="0" smtClean="0">
                <a:solidFill>
                  <a:srgbClr val="844C83"/>
                </a:solidFill>
              </a:rPr>
              <a:t>VIII- Traitement </a:t>
            </a:r>
          </a:p>
          <a:p>
            <a:pPr marL="0" indent="0">
              <a:buNone/>
            </a:pPr>
            <a:r>
              <a:rPr lang="fr-FR" dirty="0" smtClean="0">
                <a:solidFill>
                  <a:srgbClr val="844C83"/>
                </a:solidFill>
              </a:rPr>
              <a:t>IX- Pronostic </a:t>
            </a:r>
          </a:p>
          <a:p>
            <a:pPr marL="0" indent="0">
              <a:buNone/>
            </a:pPr>
            <a:r>
              <a:rPr lang="fr-FR" dirty="0" smtClean="0">
                <a:solidFill>
                  <a:srgbClr val="844C83"/>
                </a:solidFill>
              </a:rPr>
              <a:t>Conclusion </a:t>
            </a:r>
            <a:endParaRPr lang="fr-FR" dirty="0">
              <a:solidFill>
                <a:srgbClr val="844C83"/>
              </a:solidFill>
            </a:endParaRPr>
          </a:p>
        </p:txBody>
      </p:sp>
      <p:sp>
        <p:nvSpPr>
          <p:cNvPr id="4" name="Title 1"/>
          <p:cNvSpPr>
            <a:spLocks noGrp="1"/>
          </p:cNvSpPr>
          <p:nvPr>
            <p:ph type="title"/>
          </p:nvPr>
        </p:nvSpPr>
        <p:spPr>
          <a:xfrm>
            <a:off x="0" y="-4326"/>
            <a:ext cx="12192000" cy="1223526"/>
          </a:xfrm>
          <a:solidFill>
            <a:srgbClr val="844C83"/>
          </a:solidFill>
        </p:spPr>
        <p:txBody>
          <a:bodyPr>
            <a:normAutofit/>
          </a:bodyPr>
          <a:lstStyle/>
          <a:p>
            <a:pPr algn="ctr"/>
            <a:r>
              <a:rPr lang="fr-FR" sz="6000" b="1" dirty="0" smtClean="0">
                <a:solidFill>
                  <a:schemeClr val="bg1"/>
                </a:solidFill>
                <a:effectLst>
                  <a:outerShdw blurRad="38100" dist="38100" dir="2700000" algn="tl">
                    <a:srgbClr val="000000">
                      <a:alpha val="43137"/>
                    </a:srgbClr>
                  </a:outerShdw>
                </a:effectLst>
              </a:rPr>
              <a:t>Plan </a:t>
            </a:r>
            <a:endParaRPr lang="fr-FR" sz="6000" b="1" dirty="0">
              <a:solidFill>
                <a:schemeClr val="bg1"/>
              </a:solidFill>
              <a:effectLst>
                <a:outerShdw blurRad="38100" dist="38100" dir="2700000" algn="tl">
                  <a:srgbClr val="000000">
                    <a:alpha val="43137"/>
                  </a:srgbClr>
                </a:outerShdw>
              </a:effectLst>
            </a:endParaRPr>
          </a:p>
        </p:txBody>
      </p:sp>
      <p:pic>
        <p:nvPicPr>
          <p:cNvPr id="5" name="Picture 2" descr="Cours : Psycho-criminolog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6973" y="1458410"/>
            <a:ext cx="2105025" cy="2171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7702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5981" y="1594716"/>
            <a:ext cx="10515600" cy="3182426"/>
          </a:xfrm>
        </p:spPr>
        <p:txBody>
          <a:bodyPr>
            <a:normAutofit/>
          </a:bodyPr>
          <a:lstStyle/>
          <a:p>
            <a:pPr>
              <a:buFontTx/>
              <a:buChar char="-"/>
            </a:pPr>
            <a:r>
              <a:rPr lang="fr-FR" dirty="0" smtClean="0"/>
              <a:t>L'hémorragie méningée, ou hémorragie sous-arachnoïdienne (HSA) est définie </a:t>
            </a:r>
            <a:r>
              <a:rPr lang="fr-FR" b="1" dirty="0" smtClean="0">
                <a:solidFill>
                  <a:srgbClr val="844C83"/>
                </a:solidFill>
              </a:rPr>
              <a:t>par l'irruption de sang artériel dans les espaces sous-arachnoïdiens</a:t>
            </a:r>
          </a:p>
          <a:p>
            <a:pPr>
              <a:buFontTx/>
              <a:buChar char="-"/>
            </a:pPr>
            <a:endParaRPr lang="fr-FR" dirty="0" smtClean="0"/>
          </a:p>
          <a:p>
            <a:pPr>
              <a:buFontTx/>
              <a:buChar char="-"/>
            </a:pPr>
            <a:endParaRPr lang="fr-FR" dirty="0" smtClean="0"/>
          </a:p>
          <a:p>
            <a:pPr>
              <a:buFontTx/>
              <a:buChar char="-"/>
            </a:pPr>
            <a:r>
              <a:rPr lang="fr-FR" dirty="0" smtClean="0"/>
              <a:t> Elle représente 5 à 10% des AVC.</a:t>
            </a:r>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Introduction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89345"/>
            <a:ext cx="581891" cy="614511"/>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a:t>
            </a:r>
            <a:endParaRPr lang="fr-FR" sz="3200" dirty="0"/>
          </a:p>
        </p:txBody>
      </p:sp>
      <p:sp>
        <p:nvSpPr>
          <p:cNvPr id="6" name="Rounded Rectangle 5"/>
          <p:cNvSpPr/>
          <p:nvPr/>
        </p:nvSpPr>
        <p:spPr>
          <a:xfrm>
            <a:off x="1671781" y="4950691"/>
            <a:ext cx="9144000" cy="1052945"/>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r-FR" sz="2800" b="1" dirty="0" smtClean="0"/>
              <a:t>C’est une urgence diagnostique et thérapeutique</a:t>
            </a:r>
          </a:p>
        </p:txBody>
      </p:sp>
      <p:pic>
        <p:nvPicPr>
          <p:cNvPr id="7" name="Picture 6"/>
          <p:cNvPicPr>
            <a:picLocks noChangeAspect="1"/>
          </p:cNvPicPr>
          <p:nvPr/>
        </p:nvPicPr>
        <p:blipFill>
          <a:blip r:embed="rId3"/>
          <a:stretch>
            <a:fillRect/>
          </a:stretch>
        </p:blipFill>
        <p:spPr>
          <a:xfrm>
            <a:off x="7629236" y="2453820"/>
            <a:ext cx="3629891" cy="2419385"/>
          </a:xfrm>
          <a:prstGeom prst="rect">
            <a:avLst/>
          </a:prstGeom>
        </p:spPr>
      </p:pic>
    </p:spTree>
    <p:extLst>
      <p:ext uri="{BB962C8B-B14F-4D97-AF65-F5344CB8AC3E}">
        <p14:creationId xmlns:p14="http://schemas.microsoft.com/office/powerpoint/2010/main" val="40239628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4310" y="1853334"/>
            <a:ext cx="10515600" cy="4351338"/>
          </a:xfrm>
        </p:spPr>
        <p:txBody>
          <a:bodyPr/>
          <a:lstStyle/>
          <a:p>
            <a:pPr>
              <a:buFontTx/>
              <a:buChar char="-"/>
            </a:pPr>
            <a:r>
              <a:rPr lang="fr-FR" dirty="0" smtClean="0"/>
              <a:t>Elles </a:t>
            </a:r>
            <a:r>
              <a:rPr lang="fr-FR" dirty="0"/>
              <a:t>sont dites </a:t>
            </a:r>
            <a:r>
              <a:rPr lang="fr-FR" dirty="0">
                <a:solidFill>
                  <a:srgbClr val="FF0000"/>
                </a:solidFill>
              </a:rPr>
              <a:t>spontanées</a:t>
            </a:r>
            <a:r>
              <a:rPr lang="fr-FR" dirty="0"/>
              <a:t>, </a:t>
            </a:r>
            <a:endParaRPr lang="fr-FR" dirty="0" smtClean="0"/>
          </a:p>
          <a:p>
            <a:pPr>
              <a:buFontTx/>
              <a:buChar char="-"/>
            </a:pPr>
            <a:endParaRPr lang="fr-FR" dirty="0"/>
          </a:p>
          <a:p>
            <a:pPr>
              <a:buFontTx/>
              <a:buChar char="-"/>
            </a:pPr>
            <a:r>
              <a:rPr lang="fr-FR" dirty="0" smtClean="0">
                <a:solidFill>
                  <a:srgbClr val="FF0000"/>
                </a:solidFill>
              </a:rPr>
              <a:t>l'anévrisme </a:t>
            </a:r>
            <a:r>
              <a:rPr lang="fr-FR" dirty="0">
                <a:solidFill>
                  <a:srgbClr val="FF0000"/>
                </a:solidFill>
              </a:rPr>
              <a:t>artériel cérébral rompu </a:t>
            </a:r>
            <a:r>
              <a:rPr lang="fr-FR" dirty="0"/>
              <a:t>est la cause la plus fréquente et représente environ 85 % des HSA spontanées. </a:t>
            </a:r>
            <a:endParaRPr lang="fr-FR" dirty="0" smtClean="0"/>
          </a:p>
          <a:p>
            <a:pPr marL="0" indent="0">
              <a:buNone/>
            </a:pPr>
            <a:endParaRPr lang="fr-FR" dirty="0"/>
          </a:p>
          <a:p>
            <a:pPr marL="0" indent="0">
              <a:buNone/>
            </a:pPr>
            <a:r>
              <a:rPr lang="fr-FR" dirty="0" smtClean="0"/>
              <a:t>- La </a:t>
            </a:r>
            <a:r>
              <a:rPr lang="fr-FR" dirty="0"/>
              <a:t>fréquence augmente avec l’âge (âge moyen d’environ 50ans) et est plus élevée chez la femme.</a:t>
            </a:r>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Introduction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89345"/>
            <a:ext cx="581891" cy="614511"/>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a:t>
            </a:r>
            <a:endParaRPr lang="fr-FR" sz="3200" dirty="0"/>
          </a:p>
        </p:txBody>
      </p:sp>
    </p:spTree>
    <p:extLst>
      <p:ext uri="{BB962C8B-B14F-4D97-AF65-F5344CB8AC3E}">
        <p14:creationId xmlns:p14="http://schemas.microsoft.com/office/powerpoint/2010/main" val="10473768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Rappel anatomique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1517"/>
            <a:ext cx="772886" cy="71677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II</a:t>
            </a:r>
            <a:endParaRPr lang="fr-FR" sz="3200" dirty="0"/>
          </a:p>
        </p:txBody>
      </p:sp>
      <p:pic>
        <p:nvPicPr>
          <p:cNvPr id="7" name="Picture 6"/>
          <p:cNvPicPr>
            <a:picLocks noChangeAspect="1"/>
          </p:cNvPicPr>
          <p:nvPr/>
        </p:nvPicPr>
        <p:blipFill>
          <a:blip r:embed="rId3"/>
          <a:stretch>
            <a:fillRect/>
          </a:stretch>
        </p:blipFill>
        <p:spPr>
          <a:xfrm>
            <a:off x="554183" y="1124897"/>
            <a:ext cx="5320144" cy="4937750"/>
          </a:xfrm>
          <a:prstGeom prst="rect">
            <a:avLst/>
          </a:prstGeom>
        </p:spPr>
      </p:pic>
      <p:pic>
        <p:nvPicPr>
          <p:cNvPr id="8" name="Picture 7"/>
          <p:cNvPicPr>
            <a:picLocks noChangeAspect="1"/>
          </p:cNvPicPr>
          <p:nvPr/>
        </p:nvPicPr>
        <p:blipFill>
          <a:blip r:embed="rId4"/>
          <a:stretch>
            <a:fillRect/>
          </a:stretch>
        </p:blipFill>
        <p:spPr>
          <a:xfrm>
            <a:off x="6954984" y="1973471"/>
            <a:ext cx="4636654" cy="3664978"/>
          </a:xfrm>
          <a:prstGeom prst="rect">
            <a:avLst/>
          </a:prstGeom>
        </p:spPr>
      </p:pic>
      <p:sp>
        <p:nvSpPr>
          <p:cNvPr id="9" name="TextBox 8"/>
          <p:cNvSpPr txBox="1"/>
          <p:nvPr/>
        </p:nvSpPr>
        <p:spPr>
          <a:xfrm>
            <a:off x="97972" y="5934670"/>
            <a:ext cx="8111250" cy="923330"/>
          </a:xfrm>
          <a:prstGeom prst="rect">
            <a:avLst/>
          </a:prstGeom>
          <a:noFill/>
        </p:spPr>
        <p:txBody>
          <a:bodyPr wrap="square" rtlCol="0">
            <a:spAutoFit/>
          </a:bodyPr>
          <a:lstStyle/>
          <a:p>
            <a:endParaRPr lang="fr-FR" b="1" dirty="0" smtClean="0"/>
          </a:p>
          <a:p>
            <a:r>
              <a:rPr lang="fr-FR" b="1" dirty="0" smtClean="0"/>
              <a:t>F.NETTER</a:t>
            </a:r>
            <a:r>
              <a:rPr lang="fr-FR" b="1" dirty="0"/>
              <a:t>. Atlas d’Anatomie humaine 5e Ed. Section 1 : tête et cou</a:t>
            </a:r>
            <a:br>
              <a:rPr lang="fr-FR" b="1" dirty="0"/>
            </a:br>
            <a:r>
              <a:rPr lang="fr-FR" i="1" dirty="0"/>
              <a:t>Planche : 107 (ventricules de l’encéphale)</a:t>
            </a:r>
            <a:r>
              <a:rPr lang="fr-FR" dirty="0" smtClean="0"/>
              <a:t> </a:t>
            </a:r>
            <a:endParaRPr lang="fr-FR" dirty="0"/>
          </a:p>
        </p:txBody>
      </p:sp>
      <p:cxnSp>
        <p:nvCxnSpPr>
          <p:cNvPr id="10" name="Straight Connector 9"/>
          <p:cNvCxnSpPr/>
          <p:nvPr/>
        </p:nvCxnSpPr>
        <p:spPr>
          <a:xfrm flipV="1">
            <a:off x="174172" y="6139546"/>
            <a:ext cx="6335485" cy="2"/>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999836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Rappel anatomique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1517"/>
            <a:ext cx="772886" cy="71677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II</a:t>
            </a:r>
            <a:endParaRPr lang="fr-FR" sz="3200" dirty="0"/>
          </a:p>
        </p:txBody>
      </p:sp>
      <p:pic>
        <p:nvPicPr>
          <p:cNvPr id="6" name="Picture 5"/>
          <p:cNvPicPr>
            <a:picLocks noChangeAspect="1"/>
          </p:cNvPicPr>
          <p:nvPr/>
        </p:nvPicPr>
        <p:blipFill>
          <a:blip r:embed="rId3"/>
          <a:stretch>
            <a:fillRect/>
          </a:stretch>
        </p:blipFill>
        <p:spPr>
          <a:xfrm>
            <a:off x="7760099" y="1325366"/>
            <a:ext cx="4181331" cy="3958175"/>
          </a:xfrm>
          <a:prstGeom prst="rect">
            <a:avLst/>
          </a:prstGeom>
        </p:spPr>
      </p:pic>
      <p:pic>
        <p:nvPicPr>
          <p:cNvPr id="8" name="Picture 7"/>
          <p:cNvPicPr/>
          <p:nvPr/>
        </p:nvPicPr>
        <p:blipFill>
          <a:blip r:embed="rId4"/>
          <a:stretch>
            <a:fillRect/>
          </a:stretch>
        </p:blipFill>
        <p:spPr>
          <a:xfrm>
            <a:off x="3798635" y="1554564"/>
            <a:ext cx="3825321" cy="3728977"/>
          </a:xfrm>
          <a:prstGeom prst="rect">
            <a:avLst/>
          </a:prstGeom>
        </p:spPr>
      </p:pic>
      <p:sp>
        <p:nvSpPr>
          <p:cNvPr id="9" name="TextBox 8"/>
          <p:cNvSpPr txBox="1"/>
          <p:nvPr/>
        </p:nvSpPr>
        <p:spPr>
          <a:xfrm>
            <a:off x="97972" y="5934670"/>
            <a:ext cx="4782253" cy="923330"/>
          </a:xfrm>
          <a:prstGeom prst="rect">
            <a:avLst/>
          </a:prstGeom>
          <a:noFill/>
        </p:spPr>
        <p:txBody>
          <a:bodyPr wrap="square" rtlCol="0">
            <a:spAutoFit/>
          </a:bodyPr>
          <a:lstStyle/>
          <a:p>
            <a:endParaRPr lang="fr-FR" b="1" dirty="0" smtClean="0"/>
          </a:p>
          <a:p>
            <a:r>
              <a:rPr lang="fr-FR" b="1" dirty="0"/>
              <a:t>Stéphanie Isnard</a:t>
            </a:r>
            <a:r>
              <a:rPr lang="fr-FR" b="1" dirty="0" smtClean="0"/>
              <a:t>. </a:t>
            </a:r>
            <a:r>
              <a:rPr lang="fr-FR" b="1" dirty="0"/>
              <a:t>Atlas d'anatomie </a:t>
            </a:r>
            <a:r>
              <a:rPr lang="fr-FR" b="1" dirty="0" smtClean="0"/>
              <a:t>– Neurologie</a:t>
            </a:r>
            <a:endParaRPr lang="fr-FR" i="1" dirty="0"/>
          </a:p>
          <a:p>
            <a:r>
              <a:rPr lang="fr-FR" i="1" dirty="0" smtClean="0"/>
              <a:t>Le polygone de </a:t>
            </a:r>
            <a:r>
              <a:rPr lang="fr-FR" i="1" dirty="0" err="1" smtClean="0"/>
              <a:t>willis</a:t>
            </a:r>
            <a:r>
              <a:rPr lang="fr-FR" i="1" dirty="0" smtClean="0"/>
              <a:t> 2014</a:t>
            </a:r>
            <a:endParaRPr lang="fr-FR" dirty="0"/>
          </a:p>
        </p:txBody>
      </p:sp>
      <p:cxnSp>
        <p:nvCxnSpPr>
          <p:cNvPr id="10" name="Straight Connector 9"/>
          <p:cNvCxnSpPr/>
          <p:nvPr/>
        </p:nvCxnSpPr>
        <p:spPr>
          <a:xfrm>
            <a:off x="174172" y="6139548"/>
            <a:ext cx="4593037" cy="4398"/>
          </a:xfrm>
          <a:prstGeom prst="line">
            <a:avLst/>
          </a:prstGeom>
        </p:spPr>
        <p:style>
          <a:lnRef idx="3">
            <a:schemeClr val="dk1"/>
          </a:lnRef>
          <a:fillRef idx="0">
            <a:schemeClr val="dk1"/>
          </a:fillRef>
          <a:effectRef idx="2">
            <a:schemeClr val="dk1"/>
          </a:effectRef>
          <a:fontRef idx="minor">
            <a:schemeClr val="tx1"/>
          </a:fontRef>
        </p:style>
      </p:cxnSp>
      <p:sp>
        <p:nvSpPr>
          <p:cNvPr id="3" name="TextBox 2"/>
          <p:cNvSpPr txBox="1"/>
          <p:nvPr/>
        </p:nvSpPr>
        <p:spPr>
          <a:xfrm>
            <a:off x="8959066" y="5314476"/>
            <a:ext cx="242470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dirty="0" smtClean="0"/>
              <a:t>Vue endocrânienne </a:t>
            </a:r>
            <a:endParaRPr lang="fr-FR" dirty="0"/>
          </a:p>
        </p:txBody>
      </p:sp>
      <p:sp>
        <p:nvSpPr>
          <p:cNvPr id="11" name="TextBox 10"/>
          <p:cNvSpPr txBox="1"/>
          <p:nvPr/>
        </p:nvSpPr>
        <p:spPr>
          <a:xfrm>
            <a:off x="838200" y="5359450"/>
            <a:ext cx="242470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dirty="0" smtClean="0"/>
              <a:t>Vue inférieure</a:t>
            </a:r>
            <a:endParaRPr lang="fr-FR" dirty="0"/>
          </a:p>
        </p:txBody>
      </p:sp>
      <p:pic>
        <p:nvPicPr>
          <p:cNvPr id="26626" name="Picture 2" descr="http://apicerfe.blogs.uv.es/files/2017/11/23659323_1689480557763202_8922661878855473429_n.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161" y="1335640"/>
            <a:ext cx="3442331" cy="398911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p:cNvSpPr txBox="1"/>
          <p:nvPr/>
        </p:nvSpPr>
        <p:spPr>
          <a:xfrm>
            <a:off x="4662756" y="5359450"/>
            <a:ext cx="242470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dirty="0" smtClean="0"/>
              <a:t>Vue schématique </a:t>
            </a:r>
            <a:endParaRPr lang="fr-FR" dirty="0"/>
          </a:p>
        </p:txBody>
      </p:sp>
    </p:spTree>
    <p:extLst>
      <p:ext uri="{BB962C8B-B14F-4D97-AF65-F5344CB8AC3E}">
        <p14:creationId xmlns:p14="http://schemas.microsoft.com/office/powerpoint/2010/main" val="29026736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Physiopathologie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1517"/>
            <a:ext cx="772886" cy="71677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III</a:t>
            </a:r>
            <a:endParaRPr lang="fr-FR" sz="3200" dirty="0"/>
          </a:p>
        </p:txBody>
      </p:sp>
      <p:sp>
        <p:nvSpPr>
          <p:cNvPr id="7" name="Rounded Rectangle 6"/>
          <p:cNvSpPr/>
          <p:nvPr/>
        </p:nvSpPr>
        <p:spPr>
          <a:xfrm>
            <a:off x="838200" y="1464067"/>
            <a:ext cx="10812694" cy="105823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r-FR" sz="2800" dirty="0" err="1" smtClean="0"/>
              <a:t>Primum</a:t>
            </a:r>
            <a:r>
              <a:rPr lang="fr-FR" sz="2800" dirty="0" smtClean="0"/>
              <a:t> </a:t>
            </a:r>
            <a:r>
              <a:rPr lang="fr-FR" sz="2800" dirty="0" err="1" smtClean="0"/>
              <a:t>movens</a:t>
            </a:r>
            <a:r>
              <a:rPr lang="fr-FR" sz="2800" dirty="0" smtClean="0"/>
              <a:t>              brèche vasculaire dans les espaces sous arachnoïdiens </a:t>
            </a:r>
            <a:endParaRPr lang="fr-FR" sz="2800" dirty="0"/>
          </a:p>
        </p:txBody>
      </p:sp>
      <p:sp>
        <p:nvSpPr>
          <p:cNvPr id="8" name="Right Arrow 7"/>
          <p:cNvSpPr/>
          <p:nvPr/>
        </p:nvSpPr>
        <p:spPr>
          <a:xfrm>
            <a:off x="4212404" y="1695235"/>
            <a:ext cx="832207" cy="28767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a:ln w="22225">
                <a:solidFill>
                  <a:srgbClr val="FF0000"/>
                </a:solidFill>
                <a:prstDash val="solid"/>
              </a:ln>
              <a:solidFill>
                <a:srgbClr val="FF0000"/>
              </a:solidFill>
            </a:endParaRPr>
          </a:p>
        </p:txBody>
      </p:sp>
      <p:pic>
        <p:nvPicPr>
          <p:cNvPr id="9" name="Picture 8"/>
          <p:cNvPicPr>
            <a:picLocks noChangeAspect="1"/>
          </p:cNvPicPr>
          <p:nvPr/>
        </p:nvPicPr>
        <p:blipFill>
          <a:blip r:embed="rId3"/>
          <a:stretch>
            <a:fillRect/>
          </a:stretch>
        </p:blipFill>
        <p:spPr>
          <a:xfrm>
            <a:off x="3735848" y="2885334"/>
            <a:ext cx="5212943" cy="3474516"/>
          </a:xfrm>
          <a:prstGeom prst="rect">
            <a:avLst/>
          </a:prstGeom>
        </p:spPr>
      </p:pic>
    </p:spTree>
    <p:extLst>
      <p:ext uri="{BB962C8B-B14F-4D97-AF65-F5344CB8AC3E}">
        <p14:creationId xmlns:p14="http://schemas.microsoft.com/office/powerpoint/2010/main" val="23396908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Physiopathologie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1517"/>
            <a:ext cx="772886" cy="71677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III</a:t>
            </a:r>
            <a:endParaRPr lang="fr-FR" sz="3200" dirty="0"/>
          </a:p>
        </p:txBody>
      </p:sp>
      <p:sp>
        <p:nvSpPr>
          <p:cNvPr id="9" name="Content Placeholder 5"/>
          <p:cNvSpPr txBox="1">
            <a:spLocks/>
          </p:cNvSpPr>
          <p:nvPr/>
        </p:nvSpPr>
        <p:spPr>
          <a:xfrm>
            <a:off x="1739513" y="2575787"/>
            <a:ext cx="2482065" cy="52322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smtClean="0"/>
              <a:t>Hémoglobine </a:t>
            </a:r>
            <a:endParaRPr lang="fr-FR" dirty="0"/>
          </a:p>
        </p:txBody>
      </p:sp>
      <p:sp>
        <p:nvSpPr>
          <p:cNvPr id="10" name="Content Placeholder 5"/>
          <p:cNvSpPr txBox="1">
            <a:spLocks/>
          </p:cNvSpPr>
          <p:nvPr/>
        </p:nvSpPr>
        <p:spPr>
          <a:xfrm>
            <a:off x="8301520" y="5642209"/>
            <a:ext cx="2738920" cy="68126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smtClean="0"/>
              <a:t>Hydrocéphalie </a:t>
            </a:r>
            <a:endParaRPr lang="fr-FR" dirty="0"/>
          </a:p>
        </p:txBody>
      </p:sp>
      <p:sp>
        <p:nvSpPr>
          <p:cNvPr id="13" name="TextBox 12"/>
          <p:cNvSpPr txBox="1"/>
          <p:nvPr/>
        </p:nvSpPr>
        <p:spPr>
          <a:xfrm>
            <a:off x="8702210" y="2552011"/>
            <a:ext cx="1705511"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FR" sz="2800" dirty="0" smtClean="0"/>
              <a:t>Fibrine</a:t>
            </a:r>
            <a:r>
              <a:rPr lang="fr-FR" sz="2400" dirty="0" smtClean="0"/>
              <a:t> </a:t>
            </a:r>
            <a:endParaRPr lang="fr-FR" sz="2400" dirty="0"/>
          </a:p>
        </p:txBody>
      </p:sp>
      <p:sp>
        <p:nvSpPr>
          <p:cNvPr id="19" name="Content Placeholder 5"/>
          <p:cNvSpPr txBox="1">
            <a:spLocks/>
          </p:cNvSpPr>
          <p:nvPr/>
        </p:nvSpPr>
        <p:spPr>
          <a:xfrm>
            <a:off x="7582328" y="3920679"/>
            <a:ext cx="3945277" cy="90209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smtClean="0"/>
              <a:t>Obstruction des voies d’écoulement du LCR </a:t>
            </a:r>
            <a:endParaRPr lang="fr-FR" dirty="0"/>
          </a:p>
        </p:txBody>
      </p:sp>
      <p:sp>
        <p:nvSpPr>
          <p:cNvPr id="20" name="Content Placeholder 5"/>
          <p:cNvSpPr txBox="1">
            <a:spLocks/>
          </p:cNvSpPr>
          <p:nvPr/>
        </p:nvSpPr>
        <p:spPr>
          <a:xfrm>
            <a:off x="197774" y="5642209"/>
            <a:ext cx="2411862" cy="68126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err="1" smtClean="0"/>
              <a:t>Vasospasme</a:t>
            </a:r>
            <a:r>
              <a:rPr lang="fr-FR" dirty="0" smtClean="0"/>
              <a:t> </a:t>
            </a:r>
            <a:endParaRPr lang="fr-FR" dirty="0"/>
          </a:p>
        </p:txBody>
      </p:sp>
      <p:sp>
        <p:nvSpPr>
          <p:cNvPr id="21" name="Content Placeholder 5"/>
          <p:cNvSpPr txBox="1">
            <a:spLocks/>
          </p:cNvSpPr>
          <p:nvPr/>
        </p:nvSpPr>
        <p:spPr>
          <a:xfrm>
            <a:off x="1126302" y="3863981"/>
            <a:ext cx="3620785" cy="989241"/>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smtClean="0"/>
              <a:t>Oxyhémoglobine </a:t>
            </a:r>
          </a:p>
          <a:p>
            <a:pPr marL="0" indent="0" algn="ctr">
              <a:buFont typeface="Arial" panose="020B0604020202020204" pitchFamily="34" charset="0"/>
              <a:buNone/>
            </a:pPr>
            <a:r>
              <a:rPr lang="fr-FR" dirty="0" smtClean="0"/>
              <a:t>(</a:t>
            </a:r>
            <a:r>
              <a:rPr lang="fr-FR" dirty="0" err="1" smtClean="0"/>
              <a:t>Tox</a:t>
            </a:r>
            <a:r>
              <a:rPr lang="fr-FR" dirty="0" smtClean="0"/>
              <a:t>)</a:t>
            </a:r>
            <a:endParaRPr lang="fr-FR" dirty="0"/>
          </a:p>
        </p:txBody>
      </p:sp>
      <p:sp>
        <p:nvSpPr>
          <p:cNvPr id="22" name="Content Placeholder 5"/>
          <p:cNvSpPr txBox="1">
            <a:spLocks/>
          </p:cNvSpPr>
          <p:nvPr/>
        </p:nvSpPr>
        <p:spPr>
          <a:xfrm>
            <a:off x="3932953" y="5642208"/>
            <a:ext cx="2469221" cy="68126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smtClean="0"/>
              <a:t>Ischémie </a:t>
            </a:r>
            <a:endParaRPr lang="fr-FR" dirty="0"/>
          </a:p>
        </p:txBody>
      </p:sp>
      <p:sp>
        <p:nvSpPr>
          <p:cNvPr id="23" name="TextBox 22"/>
          <p:cNvSpPr txBox="1"/>
          <p:nvPr/>
        </p:nvSpPr>
        <p:spPr>
          <a:xfrm>
            <a:off x="4787757" y="1389566"/>
            <a:ext cx="3513763" cy="584775"/>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3200" b="1" dirty="0" smtClean="0">
                <a:solidFill>
                  <a:srgbClr val="844C83"/>
                </a:solidFill>
              </a:rPr>
              <a:t>Contact GR/LCR</a:t>
            </a:r>
            <a:endParaRPr lang="fr-FR" sz="3200" b="1" dirty="0">
              <a:solidFill>
                <a:srgbClr val="844C83"/>
              </a:solidFill>
            </a:endParaRPr>
          </a:p>
        </p:txBody>
      </p:sp>
      <p:sp>
        <p:nvSpPr>
          <p:cNvPr id="28" name="Down Arrow 27"/>
          <p:cNvSpPr/>
          <p:nvPr/>
        </p:nvSpPr>
        <p:spPr>
          <a:xfrm>
            <a:off x="2751759" y="3173108"/>
            <a:ext cx="369870" cy="64078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a:solidFill>
                  <a:srgbClr val="FF0000"/>
                </a:solidFill>
              </a:ln>
              <a:solidFill>
                <a:srgbClr val="FF0000"/>
              </a:solidFill>
            </a:endParaRPr>
          </a:p>
        </p:txBody>
      </p:sp>
      <p:sp>
        <p:nvSpPr>
          <p:cNvPr id="30" name="Down Arrow 29"/>
          <p:cNvSpPr/>
          <p:nvPr/>
        </p:nvSpPr>
        <p:spPr>
          <a:xfrm>
            <a:off x="9370031" y="3195178"/>
            <a:ext cx="369870" cy="6407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a:solidFill>
                  <a:srgbClr val="FF0000"/>
                </a:solidFill>
              </a:ln>
              <a:solidFill>
                <a:srgbClr val="FF0000"/>
              </a:solidFill>
            </a:endParaRPr>
          </a:p>
        </p:txBody>
      </p:sp>
      <p:sp>
        <p:nvSpPr>
          <p:cNvPr id="31" name="Down Arrow 30"/>
          <p:cNvSpPr/>
          <p:nvPr/>
        </p:nvSpPr>
        <p:spPr>
          <a:xfrm>
            <a:off x="9370031" y="4961144"/>
            <a:ext cx="369870" cy="6407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a:solidFill>
                  <a:srgbClr val="FF0000"/>
                </a:solidFill>
              </a:ln>
              <a:solidFill>
                <a:srgbClr val="FF0000"/>
              </a:solidFill>
            </a:endParaRPr>
          </a:p>
        </p:txBody>
      </p:sp>
      <p:sp>
        <p:nvSpPr>
          <p:cNvPr id="32" name="Down Arrow 31"/>
          <p:cNvSpPr/>
          <p:nvPr/>
        </p:nvSpPr>
        <p:spPr>
          <a:xfrm>
            <a:off x="1241216" y="4927322"/>
            <a:ext cx="369870" cy="64078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a:solidFill>
                  <a:srgbClr val="FF0000"/>
                </a:solidFill>
              </a:ln>
              <a:solidFill>
                <a:srgbClr val="FF0000"/>
              </a:solidFill>
            </a:endParaRPr>
          </a:p>
        </p:txBody>
      </p:sp>
      <p:sp>
        <p:nvSpPr>
          <p:cNvPr id="29" name="Right Arrow 28"/>
          <p:cNvSpPr/>
          <p:nvPr/>
        </p:nvSpPr>
        <p:spPr>
          <a:xfrm>
            <a:off x="2751759" y="5828729"/>
            <a:ext cx="1070228" cy="3082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Left-Right-Up Arrow 32"/>
          <p:cNvSpPr/>
          <p:nvPr/>
        </p:nvSpPr>
        <p:spPr>
          <a:xfrm>
            <a:off x="5167563" y="2146666"/>
            <a:ext cx="2903950" cy="858241"/>
          </a:xfrm>
          <a:prstGeom prst="leftRightUpArrow">
            <a:avLst/>
          </a:prstGeom>
          <a:solidFill>
            <a:srgbClr val="844C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859162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546" y="2237645"/>
            <a:ext cx="10983930" cy="4327541"/>
          </a:xfrm>
        </p:spPr>
        <p:txBody>
          <a:bodyPr>
            <a:normAutofit/>
          </a:bodyPr>
          <a:lstStyle/>
          <a:p>
            <a:r>
              <a:rPr lang="fr-FR" dirty="0" smtClean="0"/>
              <a:t> </a:t>
            </a:r>
            <a:r>
              <a:rPr lang="fr-FR" b="1" dirty="0" smtClean="0">
                <a:solidFill>
                  <a:srgbClr val="844C83"/>
                </a:solidFill>
                <a:effectLst>
                  <a:outerShdw blurRad="38100" dist="38100" dir="2700000" algn="tl">
                    <a:srgbClr val="000000">
                      <a:alpha val="43137"/>
                    </a:srgbClr>
                  </a:outerShdw>
                </a:effectLst>
              </a:rPr>
              <a:t>Céphalées </a:t>
            </a:r>
            <a:r>
              <a:rPr lang="fr-FR" b="1" dirty="0">
                <a:solidFill>
                  <a:srgbClr val="844C83"/>
                </a:solidFill>
                <a:effectLst>
                  <a:outerShdw blurRad="38100" dist="38100" dir="2700000" algn="tl">
                    <a:srgbClr val="000000">
                      <a:alpha val="43137"/>
                    </a:srgbClr>
                  </a:outerShdw>
                </a:effectLst>
              </a:rPr>
              <a:t>aiguës </a:t>
            </a:r>
            <a:r>
              <a:rPr lang="fr-FR" b="1" dirty="0" smtClean="0">
                <a:solidFill>
                  <a:srgbClr val="844C83"/>
                </a:solidFill>
                <a:effectLst>
                  <a:outerShdw blurRad="38100" dist="38100" dir="2700000" algn="tl">
                    <a:srgbClr val="000000">
                      <a:alpha val="43137"/>
                    </a:srgbClr>
                  </a:outerShdw>
                </a:effectLst>
              </a:rPr>
              <a:t>:</a:t>
            </a:r>
          </a:p>
          <a:p>
            <a:pPr>
              <a:buFontTx/>
              <a:buChar char="-"/>
            </a:pPr>
            <a:r>
              <a:rPr lang="fr-FR" dirty="0" smtClean="0"/>
              <a:t>décrites </a:t>
            </a:r>
            <a:r>
              <a:rPr lang="fr-FR" dirty="0"/>
              <a:t>comme un « Coup de tonnerre dans un ciel serein », </a:t>
            </a:r>
            <a:endParaRPr lang="fr-FR" dirty="0" smtClean="0"/>
          </a:p>
          <a:p>
            <a:pPr marL="0" indent="0">
              <a:buNone/>
            </a:pPr>
            <a:endParaRPr lang="fr-FR" dirty="0" smtClean="0"/>
          </a:p>
          <a:p>
            <a:pPr>
              <a:buFontTx/>
              <a:buChar char="-"/>
            </a:pPr>
            <a:r>
              <a:rPr lang="fr-FR" dirty="0" smtClean="0"/>
              <a:t>siège </a:t>
            </a:r>
            <a:r>
              <a:rPr lang="fr-FR" dirty="0"/>
              <a:t>postérieure occipital avec une sensation de « coup de poignard » occipital spontanées ou au cours d’un effort (défécation, toux, coït, mouvement de flexion ou d’extension du corps...). </a:t>
            </a:r>
            <a:endParaRPr lang="fr-FR" dirty="0" smtClean="0"/>
          </a:p>
          <a:p>
            <a:pPr marL="0" indent="0">
              <a:buNone/>
            </a:pPr>
            <a:endParaRPr lang="fr-FR" dirty="0" smtClean="0"/>
          </a:p>
          <a:p>
            <a:pPr>
              <a:buFontTx/>
              <a:buChar char="-"/>
            </a:pPr>
            <a:r>
              <a:rPr lang="fr-FR" dirty="0" smtClean="0"/>
              <a:t>Ils </a:t>
            </a:r>
            <a:r>
              <a:rPr lang="fr-FR" dirty="0"/>
              <a:t>sont présents dans 80 à 90% des cas</a:t>
            </a:r>
            <a:r>
              <a:rPr lang="fr-FR" dirty="0" smtClean="0"/>
              <a:t>.</a:t>
            </a: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6" name="TextBox 5"/>
          <p:cNvSpPr txBox="1"/>
          <p:nvPr/>
        </p:nvSpPr>
        <p:spPr>
          <a:xfrm>
            <a:off x="1561672" y="1345915"/>
            <a:ext cx="658573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a:t>a - Syndrome méningé brutal non fébrile :</a:t>
            </a:r>
            <a:r>
              <a:rPr lang="fr-FR" sz="2800" dirty="0"/>
              <a:t> </a:t>
            </a:r>
          </a:p>
        </p:txBody>
      </p:sp>
      <p:pic>
        <p:nvPicPr>
          <p:cNvPr id="7" name="Picture 6"/>
          <p:cNvPicPr>
            <a:picLocks noChangeAspect="1"/>
          </p:cNvPicPr>
          <p:nvPr/>
        </p:nvPicPr>
        <p:blipFill>
          <a:blip r:embed="rId3"/>
          <a:stretch>
            <a:fillRect/>
          </a:stretch>
        </p:blipFill>
        <p:spPr>
          <a:xfrm>
            <a:off x="9576852" y="4826821"/>
            <a:ext cx="2428875" cy="1581150"/>
          </a:xfrm>
          <a:prstGeom prst="rect">
            <a:avLst/>
          </a:prstGeom>
        </p:spPr>
      </p:pic>
      <p:pic>
        <p:nvPicPr>
          <p:cNvPr id="8" name="Picture 7"/>
          <p:cNvPicPr>
            <a:picLocks noChangeAspect="1"/>
          </p:cNvPicPr>
          <p:nvPr/>
        </p:nvPicPr>
        <p:blipFill>
          <a:blip r:embed="rId4"/>
          <a:stretch>
            <a:fillRect/>
          </a:stretch>
        </p:blipFill>
        <p:spPr>
          <a:xfrm>
            <a:off x="9872127" y="2237645"/>
            <a:ext cx="2133600" cy="1076325"/>
          </a:xfrm>
          <a:prstGeom prst="rect">
            <a:avLst/>
          </a:prstGeom>
        </p:spPr>
      </p:pic>
    </p:spTree>
    <p:extLst>
      <p:ext uri="{BB962C8B-B14F-4D97-AF65-F5344CB8AC3E}">
        <p14:creationId xmlns:p14="http://schemas.microsoft.com/office/powerpoint/2010/main" val="8476378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17169"/>
            <a:ext cx="10515600" cy="3659793"/>
          </a:xfrm>
        </p:spPr>
        <p:txBody>
          <a:bodyPr/>
          <a:lstStyle/>
          <a:p>
            <a:r>
              <a:rPr lang="fr-FR" b="1" dirty="0" smtClean="0">
                <a:solidFill>
                  <a:srgbClr val="844C83"/>
                </a:solidFill>
                <a:effectLst>
                  <a:outerShdw blurRad="38100" dist="38100" dir="2700000" algn="tl">
                    <a:srgbClr val="000000">
                      <a:alpha val="43137"/>
                    </a:srgbClr>
                  </a:outerShdw>
                </a:effectLst>
              </a:rPr>
              <a:t>Céphalées aiguës :</a:t>
            </a:r>
          </a:p>
          <a:p>
            <a:pPr marL="0" indent="0">
              <a:buNone/>
            </a:pPr>
            <a:r>
              <a:rPr lang="fr-FR" dirty="0" smtClean="0"/>
              <a:t>Ils peuvent être accompagnées par :</a:t>
            </a:r>
            <a:br>
              <a:rPr lang="fr-FR" dirty="0" smtClean="0"/>
            </a:br>
            <a:r>
              <a:rPr lang="fr-FR" dirty="0" smtClean="0"/>
              <a:t>                 - Une agitation avec photophobie et </a:t>
            </a:r>
            <a:r>
              <a:rPr lang="fr-FR" dirty="0" err="1" smtClean="0"/>
              <a:t>phonophobie</a:t>
            </a:r>
            <a:r>
              <a:rPr lang="fr-FR" dirty="0" smtClean="0"/>
              <a:t>,</a:t>
            </a:r>
          </a:p>
          <a:p>
            <a:pPr marL="0" indent="0">
              <a:buNone/>
            </a:pPr>
            <a:r>
              <a:rPr lang="fr-FR" dirty="0" smtClean="0"/>
              <a:t/>
            </a:r>
            <a:br>
              <a:rPr lang="fr-FR" dirty="0" smtClean="0"/>
            </a:br>
            <a:r>
              <a:rPr lang="fr-FR" dirty="0" smtClean="0"/>
              <a:t>                 - des nausées ou des vomissements dans 40 à 50 % des cas,</a:t>
            </a:r>
          </a:p>
          <a:p>
            <a:pPr marL="0" indent="0">
              <a:buNone/>
            </a:pPr>
            <a:endParaRPr lang="fr-FR" dirty="0"/>
          </a:p>
          <a:p>
            <a:pPr marL="0" indent="0">
              <a:buNone/>
            </a:pPr>
            <a:r>
              <a:rPr lang="fr-FR" dirty="0" smtClean="0"/>
              <a:t>                 - une obnubilation.</a:t>
            </a: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6" name="TextBox 5"/>
          <p:cNvSpPr txBox="1"/>
          <p:nvPr/>
        </p:nvSpPr>
        <p:spPr>
          <a:xfrm>
            <a:off x="1561672" y="1345915"/>
            <a:ext cx="658573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a:t>a - Syndrome méningé brutal non fébrile :</a:t>
            </a:r>
            <a:r>
              <a:rPr lang="fr-FR" sz="2800" dirty="0"/>
              <a:t> </a:t>
            </a:r>
          </a:p>
        </p:txBody>
      </p:sp>
    </p:spTree>
    <p:extLst>
      <p:ext uri="{BB962C8B-B14F-4D97-AF65-F5344CB8AC3E}">
        <p14:creationId xmlns:p14="http://schemas.microsoft.com/office/powerpoint/2010/main" val="33760397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47299"/>
            <a:ext cx="10515600" cy="2188395"/>
          </a:xfrm>
        </p:spPr>
        <p:txBody>
          <a:bodyPr/>
          <a:lstStyle/>
          <a:p>
            <a:pPr marL="0" indent="0">
              <a:buNone/>
            </a:pPr>
            <a:r>
              <a:rPr lang="fr-FR" b="1" dirty="0">
                <a:solidFill>
                  <a:srgbClr val="844C83"/>
                </a:solidFill>
                <a:effectLst>
                  <a:outerShdw blurRad="38100" dist="38100" dir="2700000" algn="tl">
                    <a:srgbClr val="000000">
                      <a:alpha val="43137"/>
                    </a:srgbClr>
                  </a:outerShdw>
                </a:effectLst>
              </a:rPr>
              <a:t>L’examen clinique</a:t>
            </a:r>
            <a:r>
              <a:rPr lang="fr-FR" dirty="0">
                <a:solidFill>
                  <a:srgbClr val="844C83"/>
                </a:solidFill>
                <a:effectLst>
                  <a:outerShdw blurRad="38100" dist="38100" dir="2700000" algn="tl">
                    <a:srgbClr val="000000">
                      <a:alpha val="43137"/>
                    </a:srgbClr>
                  </a:outerShdw>
                </a:effectLst>
              </a:rPr>
              <a:t> </a:t>
            </a:r>
            <a:r>
              <a:rPr lang="fr-FR" dirty="0"/>
              <a:t>retrouve :</a:t>
            </a:r>
          </a:p>
          <a:p>
            <a:r>
              <a:rPr lang="fr-FR" u="sng" dirty="0"/>
              <a:t>Les troubles de la conscience :</a:t>
            </a:r>
            <a:r>
              <a:rPr lang="fr-FR" b="1" dirty="0"/>
              <a:t> </a:t>
            </a:r>
            <a:r>
              <a:rPr lang="fr-FR" dirty="0"/>
              <a:t>constants de degré variable, le plus souvent il s’agit d’une obnubilation. </a:t>
            </a:r>
            <a:endParaRPr lang="fr-FR" dirty="0" smtClean="0"/>
          </a:p>
          <a:p>
            <a:r>
              <a:rPr lang="fr-FR" dirty="0" smtClean="0"/>
              <a:t>L’état </a:t>
            </a:r>
            <a:r>
              <a:rPr lang="fr-FR" dirty="0"/>
              <a:t>de conscience sera évalué selon l’échelle de Glasgow GCS.</a:t>
            </a:r>
          </a:p>
          <a:p>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6" name="TextBox 5"/>
          <p:cNvSpPr txBox="1"/>
          <p:nvPr/>
        </p:nvSpPr>
        <p:spPr>
          <a:xfrm>
            <a:off x="1561672" y="1345915"/>
            <a:ext cx="658573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a:t>a - Syndrome méningé brutal non fébrile :</a:t>
            </a:r>
            <a:r>
              <a:rPr lang="fr-FR" sz="2800" dirty="0"/>
              <a:t> </a:t>
            </a: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3637051" y="4150760"/>
            <a:ext cx="4243227" cy="2707240"/>
          </a:xfrm>
          <a:prstGeom prst="rect">
            <a:avLst/>
          </a:prstGeom>
          <a:noFill/>
          <a:ln>
            <a:noFill/>
          </a:ln>
        </p:spPr>
      </p:pic>
    </p:spTree>
    <p:extLst>
      <p:ext uri="{BB962C8B-B14F-4D97-AF65-F5344CB8AC3E}">
        <p14:creationId xmlns:p14="http://schemas.microsoft.com/office/powerpoint/2010/main" val="1578657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838200" y="2147299"/>
            <a:ext cx="10515600" cy="1633591"/>
          </a:xfrm>
        </p:spPr>
        <p:txBody>
          <a:bodyPr/>
          <a:lstStyle/>
          <a:p>
            <a:pPr marL="0" indent="0">
              <a:buNone/>
            </a:pPr>
            <a:r>
              <a:rPr lang="fr-FR" b="1" dirty="0">
                <a:solidFill>
                  <a:srgbClr val="844C83"/>
                </a:solidFill>
                <a:effectLst>
                  <a:outerShdw blurRad="38100" dist="38100" dir="2700000" algn="tl">
                    <a:srgbClr val="000000">
                      <a:alpha val="43137"/>
                    </a:srgbClr>
                  </a:outerShdw>
                </a:effectLst>
              </a:rPr>
              <a:t>L’examen clinique</a:t>
            </a:r>
            <a:r>
              <a:rPr lang="fr-FR" dirty="0">
                <a:solidFill>
                  <a:srgbClr val="844C83"/>
                </a:solidFill>
                <a:effectLst>
                  <a:outerShdw blurRad="38100" dist="38100" dir="2700000" algn="tl">
                    <a:srgbClr val="000000">
                      <a:alpha val="43137"/>
                    </a:srgbClr>
                  </a:outerShdw>
                </a:effectLst>
              </a:rPr>
              <a:t> </a:t>
            </a:r>
            <a:r>
              <a:rPr lang="fr-FR" dirty="0"/>
              <a:t>retrouve :</a:t>
            </a:r>
          </a:p>
          <a:p>
            <a:r>
              <a:rPr lang="fr-FR" u="sng" dirty="0"/>
              <a:t>Un syndrome méningé :</a:t>
            </a:r>
            <a:r>
              <a:rPr lang="fr-FR" b="1" dirty="0"/>
              <a:t> </a:t>
            </a:r>
            <a:r>
              <a:rPr lang="fr-FR" dirty="0"/>
              <a:t>Une raideur méningée avec un signe de </a:t>
            </a:r>
            <a:r>
              <a:rPr lang="fr-FR" dirty="0" err="1"/>
              <a:t>Brudzinski</a:t>
            </a:r>
            <a:r>
              <a:rPr lang="fr-FR" dirty="0"/>
              <a:t> et de </a:t>
            </a:r>
            <a:r>
              <a:rPr lang="fr-FR" dirty="0" err="1"/>
              <a:t>Kerning</a:t>
            </a:r>
            <a:r>
              <a:rPr lang="fr-FR" dirty="0"/>
              <a:t>.</a:t>
            </a:r>
          </a:p>
        </p:txBody>
      </p:sp>
      <p:sp>
        <p:nvSpPr>
          <p:cNvPr id="5"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6" name="Oval 5"/>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7" name="TextBox 6"/>
          <p:cNvSpPr txBox="1"/>
          <p:nvPr/>
        </p:nvSpPr>
        <p:spPr>
          <a:xfrm>
            <a:off x="1561672" y="1345915"/>
            <a:ext cx="658573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a:t>a - Syndrome méningé brutal non fébrile :</a:t>
            </a:r>
            <a:r>
              <a:rPr lang="fr-FR" sz="2800" dirty="0"/>
              <a:t> </a:t>
            </a:r>
          </a:p>
        </p:txBody>
      </p:sp>
      <p:pic>
        <p:nvPicPr>
          <p:cNvPr id="8" name="Picture 7"/>
          <p:cNvPicPr/>
          <p:nvPr/>
        </p:nvPicPr>
        <p:blipFill>
          <a:blip r:embed="rId3"/>
          <a:stretch>
            <a:fillRect/>
          </a:stretch>
        </p:blipFill>
        <p:spPr>
          <a:xfrm>
            <a:off x="1859621" y="3544584"/>
            <a:ext cx="8404261" cy="3000053"/>
          </a:xfrm>
          <a:prstGeom prst="rect">
            <a:avLst/>
          </a:prstGeom>
        </p:spPr>
      </p:pic>
    </p:spTree>
    <p:extLst>
      <p:ext uri="{BB962C8B-B14F-4D97-AF65-F5344CB8AC3E}">
        <p14:creationId xmlns:p14="http://schemas.microsoft.com/office/powerpoint/2010/main" val="31885677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838200" y="2147299"/>
            <a:ext cx="10515600" cy="3082247"/>
          </a:xfrm>
        </p:spPr>
        <p:txBody>
          <a:bodyPr/>
          <a:lstStyle/>
          <a:p>
            <a:pPr marL="0" indent="0">
              <a:buNone/>
            </a:pPr>
            <a:r>
              <a:rPr lang="fr-FR" b="1" dirty="0">
                <a:solidFill>
                  <a:srgbClr val="844C83"/>
                </a:solidFill>
                <a:effectLst>
                  <a:outerShdw blurRad="38100" dist="38100" dir="2700000" algn="tl">
                    <a:srgbClr val="000000">
                      <a:alpha val="43137"/>
                    </a:srgbClr>
                  </a:outerShdw>
                </a:effectLst>
              </a:rPr>
              <a:t>L’examen clinique</a:t>
            </a:r>
            <a:r>
              <a:rPr lang="fr-FR" dirty="0">
                <a:solidFill>
                  <a:srgbClr val="844C83"/>
                </a:solidFill>
                <a:effectLst>
                  <a:outerShdw blurRad="38100" dist="38100" dir="2700000" algn="tl">
                    <a:srgbClr val="000000">
                      <a:alpha val="43137"/>
                    </a:srgbClr>
                  </a:outerShdw>
                </a:effectLst>
              </a:rPr>
              <a:t> </a:t>
            </a:r>
            <a:r>
              <a:rPr lang="fr-FR" dirty="0"/>
              <a:t>retrouve :</a:t>
            </a:r>
          </a:p>
          <a:p>
            <a:r>
              <a:rPr lang="fr-FR" u="sng" dirty="0" smtClean="0"/>
              <a:t>Les </a:t>
            </a:r>
            <a:r>
              <a:rPr lang="fr-FR" u="sng" dirty="0"/>
              <a:t>réflexes </a:t>
            </a:r>
            <a:r>
              <a:rPr lang="fr-FR" u="sng" dirty="0" err="1"/>
              <a:t>osteo</a:t>
            </a:r>
            <a:r>
              <a:rPr lang="fr-FR" u="sng" dirty="0"/>
              <a:t>-tendineux</a:t>
            </a:r>
            <a:r>
              <a:rPr lang="fr-FR" dirty="0"/>
              <a:t> sont vifs, bilatérales et symétriques sans valeur </a:t>
            </a:r>
            <a:r>
              <a:rPr lang="fr-FR" dirty="0" smtClean="0"/>
              <a:t>localisatrice.</a:t>
            </a:r>
          </a:p>
          <a:p>
            <a:pPr marL="0" indent="0">
              <a:buNone/>
            </a:pPr>
            <a:endParaRPr lang="fr-FR" dirty="0" smtClean="0"/>
          </a:p>
          <a:p>
            <a:r>
              <a:rPr lang="fr-FR" dirty="0" smtClean="0"/>
              <a:t> </a:t>
            </a:r>
            <a:r>
              <a:rPr lang="fr-FR" u="sng" dirty="0" smtClean="0"/>
              <a:t>Le </a:t>
            </a:r>
            <a:r>
              <a:rPr lang="fr-FR" u="sng" dirty="0"/>
              <a:t>fond d’œil </a:t>
            </a:r>
            <a:r>
              <a:rPr lang="fr-FR" dirty="0"/>
              <a:t>peut retrouver </a:t>
            </a:r>
            <a:r>
              <a:rPr lang="fr-FR" b="1" dirty="0"/>
              <a:t>une hémorragie rétinienne ou vitréenne</a:t>
            </a:r>
            <a:r>
              <a:rPr lang="fr-FR" dirty="0"/>
              <a:t> (syndrome de </a:t>
            </a:r>
            <a:r>
              <a:rPr lang="fr-FR" dirty="0" err="1"/>
              <a:t>Terson</a:t>
            </a:r>
            <a:r>
              <a:rPr lang="fr-FR" dirty="0"/>
              <a:t>).</a:t>
            </a:r>
          </a:p>
          <a:p>
            <a:pPr marL="0" indent="0">
              <a:buNone/>
            </a:pPr>
            <a:endParaRPr lang="fr-FR" dirty="0"/>
          </a:p>
          <a:p>
            <a:pPr marL="0" indent="0">
              <a:buNone/>
            </a:pPr>
            <a:endParaRPr lang="fr-FR" dirty="0"/>
          </a:p>
        </p:txBody>
      </p:sp>
      <p:sp>
        <p:nvSpPr>
          <p:cNvPr id="5"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6" name="Oval 5"/>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7" name="TextBox 6"/>
          <p:cNvSpPr txBox="1"/>
          <p:nvPr/>
        </p:nvSpPr>
        <p:spPr>
          <a:xfrm>
            <a:off x="1561672" y="1345915"/>
            <a:ext cx="658573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a:t>a - Syndrome méningé brutal non fébrile :</a:t>
            </a:r>
            <a:r>
              <a:rPr lang="fr-FR" sz="2800" dirty="0"/>
              <a:t> </a:t>
            </a:r>
          </a:p>
        </p:txBody>
      </p:sp>
      <p:pic>
        <p:nvPicPr>
          <p:cNvPr id="14" name="Picture 13"/>
          <p:cNvPicPr/>
          <p:nvPr/>
        </p:nvPicPr>
        <p:blipFill>
          <a:blip r:embed="rId2"/>
          <a:stretch>
            <a:fillRect/>
          </a:stretch>
        </p:blipFill>
        <p:spPr>
          <a:xfrm>
            <a:off x="8692364" y="4699979"/>
            <a:ext cx="2044559" cy="1813231"/>
          </a:xfrm>
          <a:prstGeom prst="rect">
            <a:avLst/>
          </a:prstGeom>
        </p:spPr>
      </p:pic>
      <p:pic>
        <p:nvPicPr>
          <p:cNvPr id="15" name="Picture 2" descr="Le fond d'oeil éclairé à l'ophtalmoscope - Ophtalmologi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7447" y="4709257"/>
            <a:ext cx="2128041" cy="1794676"/>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0" y="6211669"/>
            <a:ext cx="5187723" cy="646331"/>
          </a:xfrm>
          <a:prstGeom prst="rect">
            <a:avLst/>
          </a:prstGeom>
          <a:noFill/>
        </p:spPr>
        <p:txBody>
          <a:bodyPr wrap="square" rtlCol="0">
            <a:spAutoFit/>
          </a:bodyPr>
          <a:lstStyle/>
          <a:p>
            <a:r>
              <a:rPr lang="fr-FR" b="1" dirty="0"/>
              <a:t>M.-B. Rougier</a:t>
            </a:r>
            <a:r>
              <a:rPr lang="fr-FR" dirty="0" smtClean="0"/>
              <a:t> </a:t>
            </a:r>
            <a:r>
              <a:rPr lang="fr-FR" dirty="0" err="1"/>
              <a:t>Diagnosing</a:t>
            </a:r>
            <a:r>
              <a:rPr lang="fr-FR" dirty="0"/>
              <a:t> </a:t>
            </a:r>
            <a:r>
              <a:rPr lang="fr-FR" dirty="0" err="1"/>
              <a:t>bilateral</a:t>
            </a:r>
            <a:r>
              <a:rPr lang="fr-FR" dirty="0"/>
              <a:t> </a:t>
            </a:r>
            <a:r>
              <a:rPr lang="fr-FR" dirty="0" err="1"/>
              <a:t>papilledema</a:t>
            </a:r>
            <a:r>
              <a:rPr lang="fr-FR" dirty="0" smtClean="0"/>
              <a:t> </a:t>
            </a:r>
            <a:br>
              <a:rPr lang="fr-FR" dirty="0" smtClean="0"/>
            </a:br>
            <a:r>
              <a:rPr lang="fr-FR" dirty="0"/>
              <a:t>Journal français d’ophtalmologie (2010) </a:t>
            </a:r>
            <a:r>
              <a:rPr lang="fr-FR" b="1" dirty="0"/>
              <a:t>33</a:t>
            </a:r>
            <a:r>
              <a:rPr lang="fr-FR" dirty="0"/>
              <a:t>, 424—429</a:t>
            </a:r>
            <a:r>
              <a:rPr lang="fr-FR" dirty="0" smtClean="0"/>
              <a:t> </a:t>
            </a:r>
            <a:endParaRPr lang="fr-FR" dirty="0"/>
          </a:p>
        </p:txBody>
      </p:sp>
      <p:cxnSp>
        <p:nvCxnSpPr>
          <p:cNvPr id="17" name="Straight Connector 16"/>
          <p:cNvCxnSpPr/>
          <p:nvPr/>
        </p:nvCxnSpPr>
        <p:spPr>
          <a:xfrm>
            <a:off x="95693" y="6211667"/>
            <a:ext cx="4699591"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1274770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5863" y="1810289"/>
            <a:ext cx="10515600" cy="4919284"/>
          </a:xfrm>
        </p:spPr>
        <p:txBody>
          <a:bodyPr>
            <a:normAutofit/>
          </a:bodyPr>
          <a:lstStyle/>
          <a:p>
            <a:r>
              <a:rPr lang="fr-FR" dirty="0">
                <a:solidFill>
                  <a:srgbClr val="844C83"/>
                </a:solidFill>
              </a:rPr>
              <a:t>L’évaluation clinique de la gravité </a:t>
            </a:r>
            <a:endParaRPr lang="fr-FR" dirty="0" smtClean="0">
              <a:solidFill>
                <a:srgbClr val="844C83"/>
              </a:solidFill>
            </a:endParaRPr>
          </a:p>
          <a:p>
            <a:pPr marL="0" indent="0">
              <a:buNone/>
            </a:pPr>
            <a:endParaRPr lang="fr-FR" dirty="0" smtClean="0"/>
          </a:p>
          <a:p>
            <a:r>
              <a:rPr lang="fr-FR" dirty="0" smtClean="0"/>
              <a:t>Elle </a:t>
            </a:r>
            <a:r>
              <a:rPr lang="fr-FR" dirty="0"/>
              <a:t>est reliée à l’échelle de coma </a:t>
            </a:r>
            <a:endParaRPr lang="fr-FR" dirty="0" smtClean="0"/>
          </a:p>
          <a:p>
            <a:pPr marL="0" indent="0">
              <a:buNone/>
            </a:pPr>
            <a:r>
              <a:rPr lang="fr-FR" dirty="0" smtClean="0"/>
              <a:t>de </a:t>
            </a:r>
            <a:r>
              <a:rPr lang="fr-FR" dirty="0">
                <a:solidFill>
                  <a:srgbClr val="844C83"/>
                </a:solidFill>
              </a:rPr>
              <a:t>Glasgow</a:t>
            </a:r>
            <a:r>
              <a:rPr lang="fr-FR" dirty="0"/>
              <a:t>. </a:t>
            </a:r>
            <a:endParaRPr lang="fr-FR" dirty="0" smtClean="0"/>
          </a:p>
          <a:p>
            <a:pPr marL="0" indent="0">
              <a:buNone/>
            </a:pPr>
            <a:endParaRPr lang="fr-FR" dirty="0" smtClean="0"/>
          </a:p>
          <a:p>
            <a:r>
              <a:rPr lang="fr-FR" b="1" dirty="0" smtClean="0">
                <a:solidFill>
                  <a:srgbClr val="844C83"/>
                </a:solidFill>
              </a:rPr>
              <a:t>Intérêt </a:t>
            </a:r>
            <a:r>
              <a:rPr lang="fr-FR" b="1" dirty="0">
                <a:solidFill>
                  <a:srgbClr val="844C83"/>
                </a:solidFill>
              </a:rPr>
              <a:t>pronostique </a:t>
            </a:r>
            <a:r>
              <a:rPr lang="fr-FR" dirty="0" smtClean="0">
                <a:solidFill>
                  <a:srgbClr val="844C83"/>
                </a:solidFill>
              </a:rPr>
              <a:t>:</a:t>
            </a:r>
          </a:p>
          <a:p>
            <a:pPr marL="0" indent="0">
              <a:buNone/>
            </a:pPr>
            <a:r>
              <a:rPr lang="fr-FR" dirty="0" smtClean="0"/>
              <a:t> </a:t>
            </a:r>
            <a:r>
              <a:rPr lang="fr-FR" dirty="0"/>
              <a:t>corrélation directe </a:t>
            </a:r>
            <a:r>
              <a:rPr lang="fr-FR" dirty="0" smtClean="0"/>
              <a:t>entre le grade</a:t>
            </a:r>
          </a:p>
          <a:p>
            <a:pPr marL="0" indent="0">
              <a:buNone/>
            </a:pPr>
            <a:r>
              <a:rPr lang="fr-FR" dirty="0" smtClean="0"/>
              <a:t> </a:t>
            </a:r>
            <a:r>
              <a:rPr lang="fr-FR" dirty="0"/>
              <a:t>clinique initial et la qualité́ </a:t>
            </a:r>
            <a:r>
              <a:rPr lang="fr-FR" dirty="0" smtClean="0"/>
              <a:t>de</a:t>
            </a:r>
          </a:p>
          <a:p>
            <a:pPr marL="0" indent="0">
              <a:buNone/>
            </a:pPr>
            <a:r>
              <a:rPr lang="fr-FR" dirty="0" smtClean="0"/>
              <a:t> </a:t>
            </a:r>
            <a:r>
              <a:rPr lang="fr-FR" dirty="0"/>
              <a:t>l’évolution ultérieure.</a:t>
            </a:r>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6" name="TextBox 5"/>
          <p:cNvSpPr txBox="1"/>
          <p:nvPr/>
        </p:nvSpPr>
        <p:spPr>
          <a:xfrm>
            <a:off x="1592494" y="1132237"/>
            <a:ext cx="658573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a:t>a - Syndrome méningé brutal non fébrile :</a:t>
            </a:r>
            <a:r>
              <a:rPr lang="fr-FR" sz="2800" dirty="0"/>
              <a:t> </a:t>
            </a:r>
          </a:p>
        </p:txBody>
      </p:sp>
      <p:pic>
        <p:nvPicPr>
          <p:cNvPr id="7" name="Picture 6"/>
          <p:cNvPicPr>
            <a:picLocks noChangeAspect="1"/>
          </p:cNvPicPr>
          <p:nvPr/>
        </p:nvPicPr>
        <p:blipFill>
          <a:blip r:embed="rId3"/>
          <a:stretch>
            <a:fillRect/>
          </a:stretch>
        </p:blipFill>
        <p:spPr>
          <a:xfrm>
            <a:off x="5972708" y="1972643"/>
            <a:ext cx="6054398" cy="4417715"/>
          </a:xfrm>
          <a:prstGeom prst="rect">
            <a:avLst/>
          </a:prstGeom>
        </p:spPr>
      </p:pic>
    </p:spTree>
    <p:extLst>
      <p:ext uri="{BB962C8B-B14F-4D97-AF65-F5344CB8AC3E}">
        <p14:creationId xmlns:p14="http://schemas.microsoft.com/office/powerpoint/2010/main" val="21901221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272" y="2329058"/>
            <a:ext cx="11106364" cy="4010096"/>
          </a:xfrm>
        </p:spPr>
        <p:txBody>
          <a:bodyPr/>
          <a:lstStyle/>
          <a:p>
            <a:pPr marL="0" indent="0" eaLnBrk="0" hangingPunct="0">
              <a:buNone/>
            </a:pPr>
            <a:r>
              <a:rPr lang="fr-FR" dirty="0"/>
              <a:t>Ainsi que la classification de </a:t>
            </a:r>
            <a:r>
              <a:rPr lang="fr-FR" b="1" dirty="0">
                <a:solidFill>
                  <a:srgbClr val="844C83"/>
                </a:solidFill>
                <a:effectLst>
                  <a:outerShdw blurRad="38100" dist="38100" dir="2700000" algn="tl">
                    <a:srgbClr val="000000">
                      <a:alpha val="43137"/>
                    </a:srgbClr>
                  </a:outerShdw>
                </a:effectLst>
              </a:rPr>
              <a:t>HUNT et HESS</a:t>
            </a:r>
            <a:r>
              <a:rPr lang="fr-FR" dirty="0">
                <a:solidFill>
                  <a:srgbClr val="844C83"/>
                </a:solidFill>
                <a:effectLst>
                  <a:outerShdw blurRad="38100" dist="38100" dir="2700000" algn="tl">
                    <a:srgbClr val="000000">
                      <a:alpha val="43137"/>
                    </a:srgbClr>
                  </a:outerShdw>
                </a:effectLst>
              </a:rPr>
              <a:t> </a:t>
            </a:r>
          </a:p>
          <a:p>
            <a:pPr marL="0" indent="0" eaLnBrk="0" hangingPunct="0">
              <a:buNone/>
            </a:pPr>
            <a:r>
              <a:rPr lang="fr-FR" b="1" dirty="0"/>
              <a:t>I :</a:t>
            </a:r>
            <a:r>
              <a:rPr lang="fr-FR" dirty="0"/>
              <a:t> asymptomatique ou céphalées modérées, discrète raideur de la nuque</a:t>
            </a:r>
            <a:br>
              <a:rPr lang="fr-FR" dirty="0"/>
            </a:br>
            <a:r>
              <a:rPr lang="fr-FR" b="1" dirty="0"/>
              <a:t>II :</a:t>
            </a:r>
            <a:r>
              <a:rPr lang="fr-FR" dirty="0"/>
              <a:t> céphalées importantes, raideur de la nuque sans déficit neurologique en dehors d’une paralysie d’un nerf crânien</a:t>
            </a:r>
            <a:br>
              <a:rPr lang="fr-FR" dirty="0"/>
            </a:br>
            <a:r>
              <a:rPr lang="fr-FR" b="1" dirty="0"/>
              <a:t>III :</a:t>
            </a:r>
            <a:r>
              <a:rPr lang="fr-FR" dirty="0"/>
              <a:t> somnolence, confusion, ou déficit focal modéré</a:t>
            </a:r>
            <a:br>
              <a:rPr lang="fr-FR" dirty="0"/>
            </a:br>
            <a:r>
              <a:rPr lang="fr-FR" b="1" dirty="0"/>
              <a:t>IV :</a:t>
            </a:r>
            <a:r>
              <a:rPr lang="fr-FR" dirty="0"/>
              <a:t> coma, déficit neurologique modéré à sévère, rigidité de décérébration, troubles végétatifs</a:t>
            </a:r>
            <a:br>
              <a:rPr lang="fr-FR" dirty="0"/>
            </a:br>
            <a:r>
              <a:rPr lang="fr-FR" b="1" dirty="0"/>
              <a:t>V :</a:t>
            </a:r>
            <a:r>
              <a:rPr lang="fr-FR" dirty="0"/>
              <a:t> coma profond.</a:t>
            </a:r>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6" name="TextBox 5"/>
          <p:cNvSpPr txBox="1"/>
          <p:nvPr/>
        </p:nvSpPr>
        <p:spPr>
          <a:xfrm>
            <a:off x="1711842" y="1327446"/>
            <a:ext cx="658573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a:t>a - Syndrome méningé brutal non fébrile :</a:t>
            </a:r>
            <a:r>
              <a:rPr lang="fr-FR" sz="2800" dirty="0"/>
              <a:t> </a:t>
            </a:r>
          </a:p>
        </p:txBody>
      </p:sp>
    </p:spTree>
    <p:extLst>
      <p:ext uri="{BB962C8B-B14F-4D97-AF65-F5344CB8AC3E}">
        <p14:creationId xmlns:p14="http://schemas.microsoft.com/office/powerpoint/2010/main" val="22103847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6449" y="1911755"/>
            <a:ext cx="10983075" cy="4119175"/>
          </a:xfrm>
        </p:spPr>
        <p:txBody>
          <a:bodyPr>
            <a:normAutofit/>
          </a:bodyPr>
          <a:lstStyle/>
          <a:p>
            <a:pPr marL="0" indent="0">
              <a:buNone/>
            </a:pPr>
            <a:r>
              <a:rPr lang="fr-FR" b="1" dirty="0" smtClean="0"/>
              <a:t>1- Les </a:t>
            </a:r>
            <a:r>
              <a:rPr lang="fr-FR" b="1" dirty="0"/>
              <a:t>formes d’hémorragie </a:t>
            </a:r>
            <a:r>
              <a:rPr lang="fr-FR" b="1" dirty="0" err="1"/>
              <a:t>cérébro</a:t>
            </a:r>
            <a:r>
              <a:rPr lang="fr-FR" b="1" dirty="0"/>
              <a:t>-méningée </a:t>
            </a:r>
            <a:r>
              <a:rPr lang="fr-FR" b="1" dirty="0" smtClean="0"/>
              <a:t>:</a:t>
            </a:r>
          </a:p>
          <a:p>
            <a:pPr>
              <a:buFontTx/>
              <a:buChar char="-"/>
            </a:pPr>
            <a:r>
              <a:rPr lang="fr-FR" dirty="0" smtClean="0"/>
              <a:t>Associé </a:t>
            </a:r>
            <a:r>
              <a:rPr lang="fr-FR" dirty="0"/>
              <a:t>d’emblée une hémiplégie massive </a:t>
            </a:r>
            <a:endParaRPr lang="fr-FR" dirty="0" smtClean="0"/>
          </a:p>
          <a:p>
            <a:pPr marL="0" indent="0">
              <a:buNone/>
            </a:pPr>
            <a:r>
              <a:rPr lang="fr-FR" dirty="0" smtClean="0"/>
              <a:t>avec </a:t>
            </a:r>
            <a:r>
              <a:rPr lang="fr-FR" dirty="0"/>
              <a:t>des troubles de l’état de conscience</a:t>
            </a:r>
            <a:r>
              <a:rPr lang="fr-FR" dirty="0" smtClean="0"/>
              <a:t>.</a:t>
            </a:r>
          </a:p>
          <a:p>
            <a:pPr marL="0" indent="0">
              <a:buNone/>
            </a:pPr>
            <a:endParaRPr lang="fr-FR" dirty="0" smtClean="0"/>
          </a:p>
          <a:p>
            <a:pPr>
              <a:buFontTx/>
              <a:buChar char="-"/>
            </a:pPr>
            <a:r>
              <a:rPr lang="fr-FR" dirty="0" smtClean="0"/>
              <a:t>Le </a:t>
            </a:r>
            <a:r>
              <a:rPr lang="fr-FR" dirty="0"/>
              <a:t>syndrome méningé est en second plan</a:t>
            </a:r>
            <a:r>
              <a:rPr lang="fr-FR" dirty="0" smtClean="0"/>
              <a:t>.</a:t>
            </a:r>
          </a:p>
          <a:p>
            <a:pPr marL="0" indent="0">
              <a:buNone/>
            </a:pPr>
            <a:endParaRPr lang="fr-FR" dirty="0" smtClean="0"/>
          </a:p>
          <a:p>
            <a:pPr>
              <a:buFontTx/>
              <a:buChar char="-"/>
            </a:pPr>
            <a:r>
              <a:rPr lang="fr-FR" dirty="0" smtClean="0"/>
              <a:t> </a:t>
            </a:r>
            <a:r>
              <a:rPr lang="fr-FR" dirty="0"/>
              <a:t>Il témoigne de l’existence d’un hématome cérébrale</a:t>
            </a:r>
            <a:r>
              <a:rPr lang="fr-FR" dirty="0" smtClean="0"/>
              <a:t>.</a:t>
            </a:r>
          </a:p>
          <a:p>
            <a:pPr marL="0" indent="0">
              <a:buNone/>
            </a:pP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6" name="TextBox 5"/>
          <p:cNvSpPr txBox="1"/>
          <p:nvPr/>
        </p:nvSpPr>
        <p:spPr>
          <a:xfrm>
            <a:off x="1711842" y="1182970"/>
            <a:ext cx="3456059"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smtClean="0"/>
              <a:t>b- Formes cliniques : </a:t>
            </a:r>
            <a:r>
              <a:rPr lang="fr-FR" sz="2800" dirty="0" smtClean="0"/>
              <a:t> </a:t>
            </a:r>
            <a:endParaRPr lang="fr-FR" sz="2800" dirty="0"/>
          </a:p>
        </p:txBody>
      </p:sp>
      <p:pic>
        <p:nvPicPr>
          <p:cNvPr id="7" name="Picture 6"/>
          <p:cNvPicPr/>
          <p:nvPr/>
        </p:nvPicPr>
        <p:blipFill>
          <a:blip r:embed="rId3"/>
          <a:stretch>
            <a:fillRect/>
          </a:stretch>
        </p:blipFill>
        <p:spPr>
          <a:xfrm>
            <a:off x="8982710" y="2159513"/>
            <a:ext cx="2452427" cy="2915323"/>
          </a:xfrm>
          <a:prstGeom prst="rect">
            <a:avLst/>
          </a:prstGeom>
        </p:spPr>
      </p:pic>
    </p:spTree>
    <p:extLst>
      <p:ext uri="{BB962C8B-B14F-4D97-AF65-F5344CB8AC3E}">
        <p14:creationId xmlns:p14="http://schemas.microsoft.com/office/powerpoint/2010/main" val="12450797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6724" y="1911755"/>
            <a:ext cx="10727076" cy="4673980"/>
          </a:xfrm>
        </p:spPr>
        <p:txBody>
          <a:bodyPr>
            <a:normAutofit/>
          </a:bodyPr>
          <a:lstStyle/>
          <a:p>
            <a:pPr marL="0" indent="0">
              <a:buNone/>
            </a:pPr>
            <a:r>
              <a:rPr lang="fr-FR" b="1" dirty="0" smtClean="0"/>
              <a:t>2- les formes frustes :</a:t>
            </a:r>
            <a:br>
              <a:rPr lang="fr-FR" b="1" dirty="0" smtClean="0"/>
            </a:br>
            <a:r>
              <a:rPr lang="fr-FR" b="1" dirty="0" smtClean="0"/>
              <a:t> </a:t>
            </a:r>
            <a:r>
              <a:rPr lang="fr-FR" dirty="0" smtClean="0"/>
              <a:t>Constituent des tableaux cliniques atypiques d’aspect pseudo-migraineux :</a:t>
            </a:r>
          </a:p>
          <a:p>
            <a:pPr>
              <a:buFontTx/>
              <a:buChar char="-"/>
            </a:pPr>
            <a:r>
              <a:rPr lang="fr-FR" dirty="0" smtClean="0"/>
              <a:t>mais ne changeant pas de côté,</a:t>
            </a:r>
          </a:p>
          <a:p>
            <a:pPr>
              <a:buFontTx/>
              <a:buChar char="-"/>
            </a:pPr>
            <a:r>
              <a:rPr lang="fr-FR" dirty="0" smtClean="0"/>
              <a:t>sans antécédents familiaux, </a:t>
            </a:r>
          </a:p>
          <a:p>
            <a:pPr>
              <a:buFontTx/>
              <a:buChar char="-"/>
            </a:pPr>
            <a:r>
              <a:rPr lang="fr-FR" dirty="0" smtClean="0"/>
              <a:t>résistant au traitement, </a:t>
            </a:r>
          </a:p>
          <a:p>
            <a:pPr>
              <a:buFontTx/>
              <a:buChar char="-"/>
            </a:pPr>
            <a:r>
              <a:rPr lang="fr-FR" dirty="0" smtClean="0"/>
              <a:t>avec parfois des accès céphalalgiques brutaux ou brefs, ou à début progressif. </a:t>
            </a:r>
          </a:p>
          <a:p>
            <a:pPr marL="0" indent="0">
              <a:buNone/>
            </a:pPr>
            <a:r>
              <a:rPr lang="fr-FR" dirty="0" smtClean="0"/>
              <a:t>Ces formes peuvent être méconnues et risque de récidiver sur un mode plus grave.</a:t>
            </a:r>
          </a:p>
          <a:p>
            <a:pPr marL="0" indent="0">
              <a:buNone/>
            </a:pP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6" name="TextBox 5"/>
          <p:cNvSpPr txBox="1"/>
          <p:nvPr/>
        </p:nvSpPr>
        <p:spPr>
          <a:xfrm>
            <a:off x="1711842" y="1182970"/>
            <a:ext cx="3456059"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smtClean="0"/>
              <a:t>b- Formes cliniques : </a:t>
            </a:r>
            <a:r>
              <a:rPr lang="fr-FR" sz="2800" dirty="0" smtClean="0"/>
              <a:t> </a:t>
            </a:r>
            <a:endParaRPr lang="fr-FR" sz="2800" dirty="0"/>
          </a:p>
        </p:txBody>
      </p:sp>
    </p:spTree>
    <p:extLst>
      <p:ext uri="{BB962C8B-B14F-4D97-AF65-F5344CB8AC3E}">
        <p14:creationId xmlns:p14="http://schemas.microsoft.com/office/powerpoint/2010/main" val="6078215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8643" y="2126751"/>
            <a:ext cx="10757042" cy="4050211"/>
          </a:xfrm>
        </p:spPr>
        <p:txBody>
          <a:bodyPr/>
          <a:lstStyle/>
          <a:p>
            <a:pPr marL="0" indent="0">
              <a:buNone/>
            </a:pPr>
            <a:r>
              <a:rPr lang="fr-FR" b="1" dirty="0" smtClean="0"/>
              <a:t>3- Les </a:t>
            </a:r>
            <a:r>
              <a:rPr lang="fr-FR" b="1" dirty="0"/>
              <a:t>formes ou les céphalées sont au second plan :</a:t>
            </a:r>
            <a:br>
              <a:rPr lang="fr-FR" b="1" dirty="0"/>
            </a:br>
            <a:r>
              <a:rPr lang="fr-FR" dirty="0"/>
              <a:t>Ce sont des formes encore plus trompeuses. Il peut s’agir :</a:t>
            </a:r>
            <a:br>
              <a:rPr lang="fr-FR" dirty="0"/>
            </a:br>
            <a:r>
              <a:rPr lang="fr-FR" dirty="0"/>
              <a:t>- Troubles psychiatriques avec un syndrome confusionnel aigu</a:t>
            </a:r>
            <a:br>
              <a:rPr lang="fr-FR" dirty="0"/>
            </a:br>
            <a:r>
              <a:rPr lang="fr-FR" dirty="0"/>
              <a:t>- </a:t>
            </a:r>
            <a:r>
              <a:rPr lang="fr-FR" dirty="0" smtClean="0"/>
              <a:t>Convulsions</a:t>
            </a:r>
          </a:p>
          <a:p>
            <a:pPr marL="0" indent="0">
              <a:buNone/>
            </a:pPr>
            <a:endParaRPr lang="fr-FR" dirty="0" smtClean="0"/>
          </a:p>
          <a:p>
            <a:pPr marL="0" indent="0">
              <a:buNone/>
            </a:pPr>
            <a:r>
              <a:rPr lang="fr-FR" dirty="0"/>
              <a:t/>
            </a:r>
            <a:br>
              <a:rPr lang="fr-FR" dirty="0"/>
            </a:br>
            <a:r>
              <a:rPr lang="fr-FR" b="1" dirty="0"/>
              <a:t>4- Les formes foudroyantes </a:t>
            </a:r>
            <a:r>
              <a:rPr lang="fr-FR" dirty="0"/>
              <a:t>:</a:t>
            </a:r>
            <a:br>
              <a:rPr lang="fr-FR" dirty="0"/>
            </a:br>
            <a:r>
              <a:rPr lang="fr-FR" dirty="0"/>
              <a:t>Ils sont responsables d’un état comateux d’emblée ou d’une mort subite.</a:t>
            </a:r>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Clinique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IV</a:t>
            </a:r>
            <a:endParaRPr lang="fr-FR" sz="3200" dirty="0"/>
          </a:p>
        </p:txBody>
      </p:sp>
      <p:sp>
        <p:nvSpPr>
          <p:cNvPr id="6" name="TextBox 5"/>
          <p:cNvSpPr txBox="1"/>
          <p:nvPr/>
        </p:nvSpPr>
        <p:spPr>
          <a:xfrm>
            <a:off x="1711842" y="1270600"/>
            <a:ext cx="3456059"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b="1" dirty="0" smtClean="0"/>
              <a:t>b- Formes cliniques : </a:t>
            </a:r>
            <a:r>
              <a:rPr lang="fr-FR" sz="2800" dirty="0" smtClean="0"/>
              <a:t> </a:t>
            </a:r>
            <a:endParaRPr lang="fr-FR" sz="2800" dirty="0"/>
          </a:p>
        </p:txBody>
      </p:sp>
    </p:spTree>
    <p:extLst>
      <p:ext uri="{BB962C8B-B14F-4D97-AF65-F5344CB8AC3E}">
        <p14:creationId xmlns:p14="http://schemas.microsoft.com/office/powerpoint/2010/main" val="5588967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35130" y="3595445"/>
            <a:ext cx="3754348" cy="599077"/>
          </a:xfrm>
        </p:spPr>
        <p:txBody>
          <a:bodyPr/>
          <a:lstStyle/>
          <a:p>
            <a:pPr marL="0" indent="0">
              <a:buNone/>
            </a:pPr>
            <a:r>
              <a:rPr lang="fr-FR" dirty="0" smtClean="0"/>
              <a:t>3- Etiologies médicales</a:t>
            </a: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Content Placeholder 2"/>
          <p:cNvSpPr txBox="1">
            <a:spLocks/>
          </p:cNvSpPr>
          <p:nvPr/>
        </p:nvSpPr>
        <p:spPr>
          <a:xfrm>
            <a:off x="1535131" y="2647046"/>
            <a:ext cx="7711612" cy="5990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smtClean="0"/>
              <a:t>2- les malformations artério-veineuse, </a:t>
            </a:r>
            <a:r>
              <a:rPr lang="fr-FR" dirty="0" err="1" smtClean="0"/>
              <a:t>cavernome</a:t>
            </a:r>
            <a:r>
              <a:rPr lang="fr-FR" dirty="0" smtClean="0"/>
              <a:t>  </a:t>
            </a:r>
            <a:endParaRPr lang="fr-FR" dirty="0"/>
          </a:p>
        </p:txBody>
      </p:sp>
      <p:sp>
        <p:nvSpPr>
          <p:cNvPr id="7" name="Content Placeholder 2"/>
          <p:cNvSpPr txBox="1">
            <a:spLocks/>
          </p:cNvSpPr>
          <p:nvPr/>
        </p:nvSpPr>
        <p:spPr>
          <a:xfrm>
            <a:off x="1535130" y="1751993"/>
            <a:ext cx="3754348" cy="5990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smtClean="0"/>
              <a:t>1- Anévrisme artériel </a:t>
            </a:r>
            <a:endParaRPr lang="fr-FR" dirty="0"/>
          </a:p>
        </p:txBody>
      </p:sp>
      <p:sp>
        <p:nvSpPr>
          <p:cNvPr id="8" name="Content Placeholder 2"/>
          <p:cNvSpPr txBox="1">
            <a:spLocks/>
          </p:cNvSpPr>
          <p:nvPr/>
        </p:nvSpPr>
        <p:spPr>
          <a:xfrm>
            <a:off x="1535130" y="4664309"/>
            <a:ext cx="3754348" cy="5990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smtClean="0"/>
              <a:t>4- HSA idiopathiques </a:t>
            </a:r>
            <a:endParaRPr lang="fr-FR" dirty="0"/>
          </a:p>
        </p:txBody>
      </p:sp>
    </p:spTree>
    <p:extLst>
      <p:ext uri="{BB962C8B-B14F-4D97-AF65-F5344CB8AC3E}">
        <p14:creationId xmlns:p14="http://schemas.microsoft.com/office/powerpoint/2010/main" val="7381784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982" y="2075380"/>
            <a:ext cx="10829818" cy="4202129"/>
          </a:xfrm>
        </p:spPr>
        <p:txBody>
          <a:bodyPr>
            <a:normAutofit/>
          </a:bodyPr>
          <a:lstStyle/>
          <a:p>
            <a:pPr lvl="0"/>
            <a:r>
              <a:rPr lang="fr-FR" dirty="0"/>
              <a:t>C’est l’étiologie la plus fréquente</a:t>
            </a:r>
            <a:r>
              <a:rPr lang="fr-FR" dirty="0" smtClean="0"/>
              <a:t>.</a:t>
            </a:r>
          </a:p>
          <a:p>
            <a:pPr lvl="0"/>
            <a:endParaRPr lang="fr-FR" dirty="0"/>
          </a:p>
          <a:p>
            <a:r>
              <a:rPr lang="fr-FR" dirty="0" smtClean="0"/>
              <a:t>Dilatation </a:t>
            </a:r>
            <a:r>
              <a:rPr lang="fr-FR" dirty="0"/>
              <a:t>sacciforme </a:t>
            </a:r>
            <a:endParaRPr lang="fr-FR" dirty="0" smtClean="0"/>
          </a:p>
          <a:p>
            <a:endParaRPr lang="fr-FR" dirty="0"/>
          </a:p>
          <a:p>
            <a:r>
              <a:rPr lang="fr-FR" dirty="0" smtClean="0"/>
              <a:t>rarement fusiforme </a:t>
            </a:r>
          </a:p>
          <a:p>
            <a:pPr marL="0" indent="0">
              <a:buNone/>
            </a:pPr>
            <a:endParaRPr lang="fr-FR" dirty="0" smtClean="0"/>
          </a:p>
          <a:p>
            <a:r>
              <a:rPr lang="fr-FR" dirty="0" smtClean="0"/>
              <a:t>bifurcation artérielle</a:t>
            </a: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TextBox 5"/>
          <p:cNvSpPr txBox="1"/>
          <p:nvPr/>
        </p:nvSpPr>
        <p:spPr>
          <a:xfrm>
            <a:off x="1880171" y="1132237"/>
            <a:ext cx="461309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L’anévrisme </a:t>
            </a:r>
            <a:r>
              <a:rPr lang="fr-FR" sz="2800" b="1" dirty="0">
                <a:solidFill>
                  <a:srgbClr val="844C83"/>
                </a:solidFill>
                <a:effectLst>
                  <a:outerShdw blurRad="38100" dist="38100" dir="2700000" algn="tl">
                    <a:srgbClr val="000000">
                      <a:alpha val="43137"/>
                    </a:srgbClr>
                  </a:outerShdw>
                </a:effectLst>
              </a:rPr>
              <a:t>artériel :</a:t>
            </a:r>
            <a:endParaRPr lang="fr-FR" sz="2800" dirty="0">
              <a:solidFill>
                <a:srgbClr val="844C83"/>
              </a:solidFill>
              <a:effectLst>
                <a:outerShdw blurRad="38100" dist="38100" dir="2700000" algn="tl">
                  <a:srgbClr val="000000">
                    <a:alpha val="43137"/>
                  </a:srgbClr>
                </a:outerShdw>
              </a:effectLst>
            </a:endParaRPr>
          </a:p>
        </p:txBody>
      </p:sp>
      <p:pic>
        <p:nvPicPr>
          <p:cNvPr id="7" name="Picture 6"/>
          <p:cNvPicPr>
            <a:picLocks noChangeAspect="1"/>
          </p:cNvPicPr>
          <p:nvPr/>
        </p:nvPicPr>
        <p:blipFill>
          <a:blip r:embed="rId3"/>
          <a:stretch>
            <a:fillRect/>
          </a:stretch>
        </p:blipFill>
        <p:spPr>
          <a:xfrm>
            <a:off x="5810259" y="2343868"/>
            <a:ext cx="3143250" cy="3019425"/>
          </a:xfrm>
          <a:prstGeom prst="rect">
            <a:avLst/>
          </a:prstGeom>
        </p:spPr>
      </p:pic>
      <p:pic>
        <p:nvPicPr>
          <p:cNvPr id="9" name="Picture 8"/>
          <p:cNvPicPr>
            <a:picLocks noChangeAspect="1"/>
          </p:cNvPicPr>
          <p:nvPr/>
        </p:nvPicPr>
        <p:blipFill>
          <a:blip r:embed="rId4"/>
          <a:stretch>
            <a:fillRect/>
          </a:stretch>
        </p:blipFill>
        <p:spPr>
          <a:xfrm>
            <a:off x="9617048" y="2475201"/>
            <a:ext cx="2400291" cy="2888092"/>
          </a:xfrm>
          <a:prstGeom prst="rect">
            <a:avLst/>
          </a:prstGeom>
        </p:spPr>
      </p:pic>
      <p:sp>
        <p:nvSpPr>
          <p:cNvPr id="8" name="TextBox 7"/>
          <p:cNvSpPr txBox="1"/>
          <p:nvPr/>
        </p:nvSpPr>
        <p:spPr>
          <a:xfrm>
            <a:off x="97972" y="6241004"/>
            <a:ext cx="5736771" cy="646331"/>
          </a:xfrm>
          <a:prstGeom prst="rect">
            <a:avLst/>
          </a:prstGeom>
          <a:noFill/>
        </p:spPr>
        <p:txBody>
          <a:bodyPr wrap="square" rtlCol="0">
            <a:spAutoFit/>
          </a:bodyPr>
          <a:lstStyle/>
          <a:p>
            <a:r>
              <a:rPr lang="fr-FR" b="1" dirty="0" err="1" smtClean="0"/>
              <a:t>E.Mandonnet</a:t>
            </a:r>
            <a:r>
              <a:rPr lang="fr-FR" b="1" dirty="0" smtClean="0"/>
              <a:t>, </a:t>
            </a:r>
            <a:r>
              <a:rPr lang="fr-FR" dirty="0" err="1" smtClean="0"/>
              <a:t>Cavernome</a:t>
            </a:r>
            <a:r>
              <a:rPr lang="fr-FR" dirty="0" smtClean="0"/>
              <a:t> </a:t>
            </a:r>
            <a:r>
              <a:rPr lang="fr-FR" dirty="0"/>
              <a:t>2020 Service </a:t>
            </a:r>
            <a:r>
              <a:rPr lang="fr-FR" dirty="0" smtClean="0"/>
              <a:t>de Neurochirurgie </a:t>
            </a:r>
            <a:r>
              <a:rPr lang="fr-FR" dirty="0" err="1" smtClean="0"/>
              <a:t>Hopital</a:t>
            </a:r>
            <a:r>
              <a:rPr lang="fr-FR" dirty="0" smtClean="0"/>
              <a:t> </a:t>
            </a:r>
            <a:r>
              <a:rPr lang="fr-FR" dirty="0" err="1" smtClean="0"/>
              <a:t>Lariboisiere</a:t>
            </a:r>
            <a:r>
              <a:rPr lang="fr-FR" u="sng" dirty="0" smtClean="0"/>
              <a:t> </a:t>
            </a:r>
            <a:endParaRPr lang="fr-FR" u="sng" dirty="0"/>
          </a:p>
        </p:txBody>
      </p:sp>
      <p:cxnSp>
        <p:nvCxnSpPr>
          <p:cNvPr id="10" name="Straight Connector 9"/>
          <p:cNvCxnSpPr/>
          <p:nvPr/>
        </p:nvCxnSpPr>
        <p:spPr>
          <a:xfrm>
            <a:off x="250371" y="6241004"/>
            <a:ext cx="5334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209920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4362" y="2167847"/>
            <a:ext cx="10515600" cy="4235148"/>
          </a:xfrm>
        </p:spPr>
        <p:txBody>
          <a:bodyPr>
            <a:normAutofit/>
          </a:bodyPr>
          <a:lstStyle/>
          <a:p>
            <a:r>
              <a:rPr lang="fr-FR" dirty="0"/>
              <a:t>Le sac anévrismal peut augmenter progressivement de volume, sous l'influence </a:t>
            </a:r>
            <a:r>
              <a:rPr lang="fr-FR" dirty="0" smtClean="0"/>
              <a:t>:</a:t>
            </a:r>
          </a:p>
          <a:p>
            <a:pPr>
              <a:buFontTx/>
              <a:buChar char="-"/>
            </a:pPr>
            <a:r>
              <a:rPr lang="fr-FR" dirty="0" smtClean="0"/>
              <a:t>d'une </a:t>
            </a:r>
            <a:r>
              <a:rPr lang="fr-FR" dirty="0"/>
              <a:t>hypertension artérielle, </a:t>
            </a:r>
            <a:endParaRPr lang="fr-FR" dirty="0" smtClean="0"/>
          </a:p>
          <a:p>
            <a:pPr>
              <a:buFontTx/>
              <a:buChar char="-"/>
            </a:pPr>
            <a:r>
              <a:rPr lang="fr-FR" dirty="0" smtClean="0"/>
              <a:t>d'un tabagisme</a:t>
            </a:r>
          </a:p>
          <a:p>
            <a:pPr marL="0" indent="0">
              <a:buNone/>
            </a:pPr>
            <a:endParaRPr lang="fr-FR" dirty="0"/>
          </a:p>
          <a:p>
            <a:pPr marL="0" indent="0">
              <a:buNone/>
            </a:pPr>
            <a:endParaRPr lang="fr-FR" dirty="0" smtClean="0"/>
          </a:p>
          <a:p>
            <a:pPr marL="0" indent="0">
              <a:buNone/>
            </a:pPr>
            <a:endParaRPr lang="fr-FR" dirty="0" smtClean="0"/>
          </a:p>
          <a:p>
            <a:r>
              <a:rPr lang="fr-FR" dirty="0" smtClean="0"/>
              <a:t>Le </a:t>
            </a:r>
            <a:r>
              <a:rPr lang="fr-FR" dirty="0"/>
              <a:t>risque de rupture est de </a:t>
            </a:r>
            <a:r>
              <a:rPr lang="fr-FR" b="1" dirty="0">
                <a:solidFill>
                  <a:srgbClr val="FF0000"/>
                </a:solidFill>
              </a:rPr>
              <a:t>6 à 12% </a:t>
            </a:r>
            <a:r>
              <a:rPr lang="fr-FR" dirty="0"/>
              <a:t>par an.</a:t>
            </a:r>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TextBox 5"/>
          <p:cNvSpPr txBox="1"/>
          <p:nvPr/>
        </p:nvSpPr>
        <p:spPr>
          <a:xfrm>
            <a:off x="1890445" y="1163059"/>
            <a:ext cx="461309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L’anévrisme </a:t>
            </a:r>
            <a:r>
              <a:rPr lang="fr-FR" sz="2800" b="1" dirty="0">
                <a:solidFill>
                  <a:srgbClr val="844C83"/>
                </a:solidFill>
                <a:effectLst>
                  <a:outerShdw blurRad="38100" dist="38100" dir="2700000" algn="tl">
                    <a:srgbClr val="000000">
                      <a:alpha val="43137"/>
                    </a:srgbClr>
                  </a:outerShdw>
                </a:effectLst>
              </a:rPr>
              <a:t>artériel :</a:t>
            </a:r>
            <a:endParaRPr lang="fr-FR" sz="2800" dirty="0">
              <a:solidFill>
                <a:srgbClr val="844C83"/>
              </a:solidFill>
              <a:effectLst>
                <a:outerShdw blurRad="38100" dist="38100" dir="2700000" algn="tl">
                  <a:srgbClr val="000000">
                    <a:alpha val="43137"/>
                  </a:srgbClr>
                </a:outerShdw>
              </a:effectLst>
            </a:endParaRPr>
          </a:p>
        </p:txBody>
      </p:sp>
      <p:pic>
        <p:nvPicPr>
          <p:cNvPr id="20482" name="Picture 2" descr="Les ennemis des artèr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5070" y="2826864"/>
            <a:ext cx="4409075" cy="3306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8051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433" y="3202363"/>
            <a:ext cx="6986427" cy="1462106"/>
          </a:xfrm>
        </p:spPr>
        <p:txBody>
          <a:bodyPr>
            <a:normAutofit lnSpcReduction="10000"/>
          </a:bodyPr>
          <a:lstStyle/>
          <a:p>
            <a:r>
              <a:rPr lang="fr-FR" b="1" i="1" dirty="0" smtClean="0"/>
              <a:t>Sites </a:t>
            </a:r>
            <a:r>
              <a:rPr lang="fr-FR" dirty="0" smtClean="0"/>
              <a:t>: bifurcation de la partie antérieure du</a:t>
            </a:r>
          </a:p>
          <a:p>
            <a:endParaRPr lang="fr-FR" dirty="0"/>
          </a:p>
          <a:p>
            <a:pPr marL="0" indent="0" algn="ctr">
              <a:buNone/>
            </a:pPr>
            <a:r>
              <a:rPr lang="fr-FR" dirty="0" smtClean="0"/>
              <a:t> polygone de Willis (95 %).</a:t>
            </a:r>
            <a:endParaRPr lang="fr-FR" dirty="0"/>
          </a:p>
        </p:txBody>
      </p:sp>
      <p:pic>
        <p:nvPicPr>
          <p:cNvPr id="32770" name="Picture 2" descr="Fréquence de répartition des anévrism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2290" y="1939627"/>
            <a:ext cx="3923265" cy="4563095"/>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6" name="Oval 5"/>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7" name="TextBox 6"/>
          <p:cNvSpPr txBox="1"/>
          <p:nvPr/>
        </p:nvSpPr>
        <p:spPr>
          <a:xfrm>
            <a:off x="1711842" y="1196906"/>
            <a:ext cx="461309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L’anévrisme </a:t>
            </a:r>
            <a:r>
              <a:rPr lang="fr-FR" sz="2800" b="1" dirty="0">
                <a:solidFill>
                  <a:srgbClr val="844C83"/>
                </a:solidFill>
                <a:effectLst>
                  <a:outerShdw blurRad="38100" dist="38100" dir="2700000" algn="tl">
                    <a:srgbClr val="000000">
                      <a:alpha val="43137"/>
                    </a:srgbClr>
                  </a:outerShdw>
                </a:effectLst>
              </a:rPr>
              <a:t>artériel :</a:t>
            </a:r>
            <a:endParaRPr lang="fr-FR" sz="2800"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170166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4804" y="1939627"/>
            <a:ext cx="10891463" cy="1171254"/>
          </a:xfrm>
        </p:spPr>
        <p:txBody>
          <a:bodyPr>
            <a:noAutofit/>
          </a:bodyPr>
          <a:lstStyle/>
          <a:p>
            <a:r>
              <a:rPr lang="fr-FR" b="1" i="1" dirty="0" smtClean="0"/>
              <a:t>Taille </a:t>
            </a:r>
            <a:r>
              <a:rPr lang="fr-FR" i="1" dirty="0" smtClean="0"/>
              <a:t>: </a:t>
            </a:r>
            <a:r>
              <a:rPr lang="fr-FR" dirty="0" smtClean="0"/>
              <a:t>80% ont une taille inférieur à 15 </a:t>
            </a:r>
            <a:r>
              <a:rPr lang="fr-FR" dirty="0" err="1" smtClean="0"/>
              <a:t>mm.</a:t>
            </a:r>
            <a:endParaRPr lang="fr-FR" dirty="0" smtClean="0"/>
          </a:p>
          <a:p>
            <a:pPr marL="0" indent="0">
              <a:buNone/>
            </a:pPr>
            <a:r>
              <a:rPr lang="fr-FR" dirty="0" smtClean="0"/>
              <a:t> On parle d’anévrisme "</a:t>
            </a:r>
            <a:r>
              <a:rPr lang="fr-FR" b="1" dirty="0" smtClean="0"/>
              <a:t>géant</a:t>
            </a:r>
            <a:r>
              <a:rPr lang="fr-FR" dirty="0" smtClean="0"/>
              <a:t>" lorsque la taille est supérieure à 25 </a:t>
            </a:r>
            <a:r>
              <a:rPr lang="fr-FR" dirty="0" err="1" smtClean="0"/>
              <a:t>mm.</a:t>
            </a:r>
            <a:endParaRPr lang="fr-FR" dirty="0" smtClean="0"/>
          </a:p>
          <a:p>
            <a:pPr marL="0" indent="0">
              <a:buNone/>
            </a:pPr>
            <a:r>
              <a:rPr lang="fr-FR" dirty="0" smtClean="0"/>
              <a:t/>
            </a:r>
            <a:br>
              <a:rPr lang="fr-FR" dirty="0" smtClean="0"/>
            </a:b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TextBox 5"/>
          <p:cNvSpPr txBox="1"/>
          <p:nvPr/>
        </p:nvSpPr>
        <p:spPr>
          <a:xfrm>
            <a:off x="1711842" y="1196906"/>
            <a:ext cx="461309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L’anévrisme </a:t>
            </a:r>
            <a:r>
              <a:rPr lang="fr-FR" sz="2800" b="1" dirty="0">
                <a:solidFill>
                  <a:srgbClr val="844C83"/>
                </a:solidFill>
                <a:effectLst>
                  <a:outerShdw blurRad="38100" dist="38100" dir="2700000" algn="tl">
                    <a:srgbClr val="000000">
                      <a:alpha val="43137"/>
                    </a:srgbClr>
                  </a:outerShdw>
                </a:effectLst>
              </a:rPr>
              <a:t>artériel :</a:t>
            </a:r>
            <a:endParaRPr lang="fr-FR" sz="2800" dirty="0">
              <a:solidFill>
                <a:srgbClr val="844C83"/>
              </a:solidFill>
              <a:effectLst>
                <a:outerShdw blurRad="38100" dist="38100" dir="2700000" algn="tl">
                  <a:srgbClr val="000000">
                    <a:alpha val="43137"/>
                  </a:srgbClr>
                </a:outerShdw>
              </a:effectLst>
            </a:endParaRPr>
          </a:p>
        </p:txBody>
      </p:sp>
      <p:graphicFrame>
        <p:nvGraphicFramePr>
          <p:cNvPr id="7" name="Table 6"/>
          <p:cNvGraphicFramePr>
            <a:graphicFrameLocks noGrp="1"/>
          </p:cNvGraphicFramePr>
          <p:nvPr>
            <p:extLst/>
          </p:nvPr>
        </p:nvGraphicFramePr>
        <p:xfrm>
          <a:off x="554804" y="3496833"/>
          <a:ext cx="11137186" cy="2377440"/>
        </p:xfrm>
        <a:graphic>
          <a:graphicData uri="http://schemas.openxmlformats.org/drawingml/2006/table">
            <a:tbl>
              <a:tblPr>
                <a:tableStyleId>{5940675A-B579-460E-94D1-54222C63F5DA}</a:tableStyleId>
              </a:tblPr>
              <a:tblGrid>
                <a:gridCol w="5568593"/>
                <a:gridCol w="5568593"/>
              </a:tblGrid>
              <a:tr h="0">
                <a:tc>
                  <a:txBody>
                    <a:bodyPr/>
                    <a:lstStyle/>
                    <a:p>
                      <a:pPr algn="ctr"/>
                      <a:r>
                        <a:rPr lang="fr-FR" sz="2400" b="1" dirty="0">
                          <a:solidFill>
                            <a:srgbClr val="C00000"/>
                          </a:solidFill>
                          <a:effectLst/>
                        </a:rPr>
                        <a:t>Classification d'</a:t>
                      </a:r>
                      <a:r>
                        <a:rPr lang="fr-FR" sz="2400" b="1" dirty="0" err="1">
                          <a:solidFill>
                            <a:srgbClr val="C00000"/>
                          </a:solidFill>
                          <a:effectLst/>
                        </a:rPr>
                        <a:t>Higashida</a:t>
                      </a:r>
                      <a:endParaRPr lang="fr-FR" sz="2400" b="1" dirty="0">
                        <a:solidFill>
                          <a:srgbClr val="C00000"/>
                        </a:solidFill>
                        <a:effectLst/>
                      </a:endParaRPr>
                    </a:p>
                  </a:txBody>
                  <a:tcPr anchor="ctr"/>
                </a:tc>
                <a:tc>
                  <a:txBody>
                    <a:bodyPr/>
                    <a:lstStyle/>
                    <a:p>
                      <a:pPr algn="ctr"/>
                      <a:r>
                        <a:rPr lang="fr-FR" sz="2400" b="1" dirty="0">
                          <a:solidFill>
                            <a:srgbClr val="C00000"/>
                          </a:solidFill>
                          <a:effectLst/>
                        </a:rPr>
                        <a:t>Classification </a:t>
                      </a:r>
                      <a:r>
                        <a:rPr lang="fr-FR" sz="2400" b="1" dirty="0" smtClean="0">
                          <a:solidFill>
                            <a:srgbClr val="C00000"/>
                          </a:solidFill>
                          <a:effectLst/>
                        </a:rPr>
                        <a:t>d'</a:t>
                      </a:r>
                      <a:r>
                        <a:rPr lang="fr-FR" sz="2400" b="1" dirty="0" err="1" smtClean="0">
                          <a:solidFill>
                            <a:srgbClr val="C00000"/>
                          </a:solidFill>
                          <a:effectLst/>
                        </a:rPr>
                        <a:t>Yasargil</a:t>
                      </a:r>
                      <a:endParaRPr lang="fr-FR" sz="2400" b="1" dirty="0">
                        <a:solidFill>
                          <a:srgbClr val="C00000"/>
                        </a:solidFill>
                        <a:effectLst/>
                      </a:endParaRPr>
                    </a:p>
                  </a:txBody>
                  <a:tcPr anchor="ctr"/>
                </a:tc>
              </a:tr>
              <a:tr h="0">
                <a:tc>
                  <a:txBody>
                    <a:bodyPr/>
                    <a:lstStyle/>
                    <a:p>
                      <a:r>
                        <a:rPr lang="fr-FR" dirty="0">
                          <a:effectLst/>
                        </a:rPr>
                        <a:t>- </a:t>
                      </a:r>
                      <a:r>
                        <a:rPr lang="fr-FR" sz="2400" dirty="0">
                          <a:effectLst/>
                        </a:rPr>
                        <a:t>petits et moyens anévrismes : &lt; 12 mm</a:t>
                      </a:r>
                      <a:br>
                        <a:rPr lang="fr-FR" sz="2400" dirty="0">
                          <a:effectLst/>
                        </a:rPr>
                      </a:br>
                      <a:r>
                        <a:rPr lang="fr-FR" sz="2400" dirty="0">
                          <a:effectLst/>
                        </a:rPr>
                        <a:t>- anévrismes larges : de 12 à 25 mm</a:t>
                      </a:r>
                      <a:br>
                        <a:rPr lang="fr-FR" sz="2400" dirty="0">
                          <a:effectLst/>
                        </a:rPr>
                      </a:br>
                      <a:r>
                        <a:rPr lang="fr-FR" sz="2400" dirty="0">
                          <a:effectLst/>
                        </a:rPr>
                        <a:t>- anévrismes géants : &gt; 25 mm</a:t>
                      </a:r>
                      <a:br>
                        <a:rPr lang="fr-FR" sz="2400" dirty="0">
                          <a:effectLst/>
                        </a:rPr>
                      </a:br>
                      <a:endParaRPr lang="fr-FR" dirty="0">
                        <a:effectLst/>
                      </a:endParaRPr>
                    </a:p>
                  </a:txBody>
                  <a:tcPr anchor="ctr"/>
                </a:tc>
                <a:tc>
                  <a:txBody>
                    <a:bodyPr/>
                    <a:lstStyle/>
                    <a:p>
                      <a:r>
                        <a:rPr lang="fr-FR" sz="2400" dirty="0">
                          <a:effectLst/>
                        </a:rPr>
                        <a:t>- micro-anévrismes (&lt; 2 mm) ;</a:t>
                      </a:r>
                      <a:br>
                        <a:rPr lang="fr-FR" sz="2400" dirty="0">
                          <a:effectLst/>
                        </a:rPr>
                      </a:br>
                      <a:r>
                        <a:rPr lang="fr-FR" sz="2400" dirty="0">
                          <a:effectLst/>
                        </a:rPr>
                        <a:t>- petits anévrismes (≥ 2 et &lt; 6 mm) ;</a:t>
                      </a:r>
                      <a:br>
                        <a:rPr lang="fr-FR" sz="2400" dirty="0">
                          <a:effectLst/>
                        </a:rPr>
                      </a:br>
                      <a:r>
                        <a:rPr lang="fr-FR" sz="2400" dirty="0">
                          <a:effectLst/>
                        </a:rPr>
                        <a:t>- anévrismes moyens (≥ 6 et &lt; 15 mm) ;</a:t>
                      </a:r>
                      <a:br>
                        <a:rPr lang="fr-FR" sz="2400" dirty="0">
                          <a:effectLst/>
                        </a:rPr>
                      </a:br>
                      <a:r>
                        <a:rPr lang="fr-FR" sz="2400" dirty="0">
                          <a:effectLst/>
                        </a:rPr>
                        <a:t>- anévrismes larges (≥ 15 et &lt; 25 mm) ;</a:t>
                      </a:r>
                      <a:br>
                        <a:rPr lang="fr-FR" sz="2400" dirty="0">
                          <a:effectLst/>
                        </a:rPr>
                      </a:br>
                      <a:r>
                        <a:rPr lang="fr-FR" sz="2400" dirty="0">
                          <a:effectLst/>
                        </a:rPr>
                        <a:t>- anévrismes géants (≥ 25 mm)</a:t>
                      </a:r>
                      <a:endParaRPr lang="fr-FR" sz="2400" dirty="0">
                        <a:solidFill>
                          <a:schemeClr val="tx1"/>
                        </a:solidFill>
                        <a:effectLst/>
                      </a:endParaRPr>
                    </a:p>
                  </a:txBody>
                  <a:tcPr anchor="ctr"/>
                </a:tc>
              </a:tr>
            </a:tbl>
          </a:graphicData>
        </a:graphic>
      </p:graphicFrame>
      <p:sp>
        <p:nvSpPr>
          <p:cNvPr id="8" name="TextBox 7"/>
          <p:cNvSpPr txBox="1"/>
          <p:nvPr/>
        </p:nvSpPr>
        <p:spPr>
          <a:xfrm>
            <a:off x="410966" y="6380252"/>
            <a:ext cx="6565187" cy="369332"/>
          </a:xfrm>
          <a:prstGeom prst="rect">
            <a:avLst/>
          </a:prstGeom>
          <a:noFill/>
        </p:spPr>
        <p:txBody>
          <a:bodyPr wrap="square" rtlCol="0">
            <a:spAutoFit/>
          </a:bodyPr>
          <a:lstStyle/>
          <a:p>
            <a:r>
              <a:rPr lang="fr-FR" u="sng" dirty="0" smtClean="0">
                <a:hlinkClick r:id="rId2" tooltip="Écrire à l'auteure du site sur les anévrismes cérébraux"/>
              </a:rPr>
              <a:t>Catherine </a:t>
            </a:r>
            <a:r>
              <a:rPr lang="fr-FR" u="sng" dirty="0" err="1" smtClean="0">
                <a:hlinkClick r:id="rId2" tooltip="Écrire à l'auteure du site sur les anévrismes cérébraux"/>
              </a:rPr>
              <a:t>Boullery</a:t>
            </a:r>
            <a:r>
              <a:rPr lang="fr-FR" u="sng" dirty="0" smtClean="0"/>
              <a:t>, </a:t>
            </a:r>
            <a:r>
              <a:rPr lang="fr-FR" dirty="0" smtClean="0"/>
              <a:t>site sur les anévrismes cérébraux </a:t>
            </a:r>
            <a:r>
              <a:rPr lang="fr-FR" dirty="0"/>
              <a:t> </a:t>
            </a:r>
          </a:p>
        </p:txBody>
      </p:sp>
      <p:cxnSp>
        <p:nvCxnSpPr>
          <p:cNvPr id="10" name="Straight Connector 9"/>
          <p:cNvCxnSpPr/>
          <p:nvPr/>
        </p:nvCxnSpPr>
        <p:spPr>
          <a:xfrm>
            <a:off x="380144" y="6339153"/>
            <a:ext cx="5095982" cy="41099"/>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216082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837" y="1960785"/>
            <a:ext cx="11291299" cy="4554627"/>
          </a:xfrm>
        </p:spPr>
        <p:txBody>
          <a:bodyPr>
            <a:normAutofit/>
          </a:bodyPr>
          <a:lstStyle/>
          <a:p>
            <a:pPr marL="0" indent="0">
              <a:buNone/>
            </a:pPr>
            <a:r>
              <a:rPr lang="fr-FR" dirty="0" smtClean="0"/>
              <a:t> • </a:t>
            </a:r>
            <a:r>
              <a:rPr lang="fr-FR" b="1" i="1" dirty="0"/>
              <a:t>L’association </a:t>
            </a:r>
            <a:r>
              <a:rPr lang="fr-FR" dirty="0"/>
              <a:t>avec une </a:t>
            </a:r>
            <a:r>
              <a:rPr lang="fr-FR" b="1" dirty="0"/>
              <a:t>MAV </a:t>
            </a:r>
            <a:r>
              <a:rPr lang="fr-FR" dirty="0"/>
              <a:t>est signalée</a:t>
            </a:r>
            <a:r>
              <a:rPr lang="fr-FR" dirty="0" smtClean="0"/>
              <a:t>.</a:t>
            </a:r>
          </a:p>
          <a:p>
            <a:pPr marL="0" indent="0">
              <a:buNone/>
            </a:pPr>
            <a:endParaRPr lang="fr-FR" dirty="0" smtClean="0"/>
          </a:p>
          <a:p>
            <a:pPr marL="0" indent="0">
              <a:buNone/>
            </a:pPr>
            <a:r>
              <a:rPr lang="fr-FR" dirty="0"/>
              <a:t/>
            </a:r>
            <a:br>
              <a:rPr lang="fr-FR" dirty="0"/>
            </a:br>
            <a:r>
              <a:rPr lang="fr-FR" dirty="0"/>
              <a:t>• </a:t>
            </a:r>
            <a:r>
              <a:rPr lang="fr-FR" b="1" i="1" dirty="0"/>
              <a:t>Siège de la rupture </a:t>
            </a:r>
            <a:r>
              <a:rPr lang="fr-FR" dirty="0"/>
              <a:t>: au niveau du dôme dans 2/3 </a:t>
            </a:r>
          </a:p>
          <a:p>
            <a:pPr marL="0" indent="0">
              <a:buNone/>
            </a:pPr>
            <a:r>
              <a:rPr lang="fr-FR" dirty="0" smtClean="0"/>
              <a:t>des </a:t>
            </a:r>
            <a:r>
              <a:rPr lang="fr-FR" dirty="0"/>
              <a:t>cas, rarement sur la face latérale ou </a:t>
            </a:r>
            <a:endParaRPr lang="fr-FR" dirty="0" smtClean="0"/>
          </a:p>
          <a:p>
            <a:pPr marL="0" indent="0">
              <a:buNone/>
            </a:pPr>
            <a:r>
              <a:rPr lang="fr-FR" dirty="0" smtClean="0"/>
              <a:t>au </a:t>
            </a:r>
            <a:r>
              <a:rPr lang="fr-FR" dirty="0"/>
              <a:t>niveau du collet.</a:t>
            </a:r>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TextBox 5"/>
          <p:cNvSpPr txBox="1"/>
          <p:nvPr/>
        </p:nvSpPr>
        <p:spPr>
          <a:xfrm>
            <a:off x="1880171" y="1132237"/>
            <a:ext cx="461309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L’anévrisme </a:t>
            </a:r>
            <a:r>
              <a:rPr lang="fr-FR" sz="2800" b="1" dirty="0">
                <a:solidFill>
                  <a:srgbClr val="844C83"/>
                </a:solidFill>
                <a:effectLst>
                  <a:outerShdw blurRad="38100" dist="38100" dir="2700000" algn="tl">
                    <a:srgbClr val="000000">
                      <a:alpha val="43137"/>
                    </a:srgbClr>
                  </a:outerShdw>
                </a:effectLst>
              </a:rPr>
              <a:t>artériel :</a:t>
            </a:r>
            <a:endParaRPr lang="fr-FR" sz="2800" dirty="0">
              <a:solidFill>
                <a:srgbClr val="844C83"/>
              </a:solidFill>
              <a:effectLst>
                <a:outerShdw blurRad="38100" dist="38100" dir="2700000" algn="tl">
                  <a:srgbClr val="000000">
                    <a:alpha val="43137"/>
                  </a:srgbClr>
                </a:outerShdw>
              </a:effectLst>
            </a:endParaRPr>
          </a:p>
        </p:txBody>
      </p:sp>
      <p:pic>
        <p:nvPicPr>
          <p:cNvPr id="18434" name="Picture 2" descr="Formation d'un anévrisme cérébr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557" y="4724712"/>
            <a:ext cx="5438782" cy="161463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a:stretch>
            <a:fillRect/>
          </a:stretch>
        </p:blipFill>
        <p:spPr>
          <a:xfrm>
            <a:off x="7852339" y="1282733"/>
            <a:ext cx="4251730" cy="5030156"/>
          </a:xfrm>
          <a:prstGeom prst="rect">
            <a:avLst/>
          </a:prstGeom>
        </p:spPr>
      </p:pic>
      <p:sp>
        <p:nvSpPr>
          <p:cNvPr id="11" name="TextBox 10"/>
          <p:cNvSpPr txBox="1"/>
          <p:nvPr/>
        </p:nvSpPr>
        <p:spPr>
          <a:xfrm>
            <a:off x="30822" y="6515412"/>
            <a:ext cx="6565187" cy="369332"/>
          </a:xfrm>
          <a:prstGeom prst="rect">
            <a:avLst/>
          </a:prstGeom>
          <a:noFill/>
        </p:spPr>
        <p:txBody>
          <a:bodyPr wrap="square" rtlCol="0">
            <a:spAutoFit/>
          </a:bodyPr>
          <a:lstStyle/>
          <a:p>
            <a:r>
              <a:rPr lang="fr-FR" u="sng" dirty="0" smtClean="0">
                <a:hlinkClick r:id="rId4" tooltip="Écrire à l'auteure du site sur les anévrismes cérébraux"/>
              </a:rPr>
              <a:t>Catherine </a:t>
            </a:r>
            <a:r>
              <a:rPr lang="fr-FR" u="sng" dirty="0" err="1" smtClean="0">
                <a:hlinkClick r:id="rId4" tooltip="Écrire à l'auteure du site sur les anévrismes cérébraux"/>
              </a:rPr>
              <a:t>Boullery</a:t>
            </a:r>
            <a:r>
              <a:rPr lang="fr-FR" u="sng" dirty="0" smtClean="0"/>
              <a:t>, </a:t>
            </a:r>
            <a:r>
              <a:rPr lang="fr-FR" dirty="0" smtClean="0"/>
              <a:t>site sur les anévrismes cérébraux </a:t>
            </a:r>
            <a:r>
              <a:rPr lang="fr-FR" dirty="0"/>
              <a:t> </a:t>
            </a:r>
          </a:p>
        </p:txBody>
      </p:sp>
      <p:cxnSp>
        <p:nvCxnSpPr>
          <p:cNvPr id="12" name="Straight Connector 11"/>
          <p:cNvCxnSpPr/>
          <p:nvPr/>
        </p:nvCxnSpPr>
        <p:spPr>
          <a:xfrm>
            <a:off x="0" y="6474313"/>
            <a:ext cx="5095982" cy="41099"/>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939451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1240" y="1825625"/>
            <a:ext cx="10932560" cy="4780658"/>
          </a:xfrm>
        </p:spPr>
        <p:txBody>
          <a:bodyPr>
            <a:normAutofit/>
          </a:bodyPr>
          <a:lstStyle/>
          <a:p>
            <a:pPr marL="0" indent="0">
              <a:buNone/>
            </a:pPr>
            <a:r>
              <a:rPr lang="fr-FR" dirty="0"/>
              <a:t>L’HSA par rupture d’un anévrisme artériel est caractérisé par :</a:t>
            </a:r>
            <a:br>
              <a:rPr lang="fr-FR" dirty="0"/>
            </a:br>
            <a:r>
              <a:rPr lang="fr-FR" dirty="0"/>
              <a:t>- </a:t>
            </a:r>
            <a:r>
              <a:rPr lang="fr-FR" dirty="0" smtClean="0"/>
              <a:t>début brutal + souvent </a:t>
            </a:r>
            <a:r>
              <a:rPr lang="fr-FR" dirty="0"/>
              <a:t>une perte de connaissance transitoire</a:t>
            </a:r>
            <a:br>
              <a:rPr lang="fr-FR" dirty="0"/>
            </a:br>
            <a:r>
              <a:rPr lang="fr-FR" dirty="0"/>
              <a:t>- L’absence d’antécédents de céphalée ou d’épilepsie</a:t>
            </a:r>
            <a:br>
              <a:rPr lang="fr-FR" dirty="0"/>
            </a:br>
            <a:r>
              <a:rPr lang="fr-FR" dirty="0"/>
              <a:t>- La netteté des signes méningés, le plus souvent </a:t>
            </a:r>
            <a:r>
              <a:rPr lang="fr-FR" dirty="0" smtClean="0"/>
              <a:t>isolées</a:t>
            </a:r>
          </a:p>
          <a:p>
            <a:pPr marL="0" indent="0">
              <a:buNone/>
            </a:pPr>
            <a:endParaRPr lang="fr-FR" dirty="0" smtClean="0"/>
          </a:p>
          <a:p>
            <a:pPr marL="0" indent="0">
              <a:buNone/>
            </a:pPr>
            <a:r>
              <a:rPr lang="fr-FR" b="1" u="sng" dirty="0" smtClean="0"/>
              <a:t>la présence des signes focaux, orientent vers le siège de l’anévrisme :</a:t>
            </a:r>
            <a:br>
              <a:rPr lang="fr-FR" b="1" u="sng" dirty="0" smtClean="0"/>
            </a:br>
            <a:r>
              <a:rPr lang="fr-FR" dirty="0" smtClean="0"/>
              <a:t>- Hémiparésie+ aphasie                 anévrisme de l’artère </a:t>
            </a:r>
            <a:r>
              <a:rPr lang="fr-FR" dirty="0" err="1" smtClean="0"/>
              <a:t>sylvienne</a:t>
            </a:r>
            <a:endParaRPr lang="fr-FR" dirty="0"/>
          </a:p>
          <a:p>
            <a:pPr marL="0" indent="0">
              <a:buNone/>
            </a:pPr>
            <a:r>
              <a:rPr lang="fr-FR" dirty="0" smtClean="0"/>
              <a:t/>
            </a:r>
            <a:br>
              <a:rPr lang="fr-FR" dirty="0" smtClean="0"/>
            </a:br>
            <a:r>
              <a:rPr lang="fr-FR" dirty="0" smtClean="0"/>
              <a:t>- Paralysie unilatérale du nerf oculaire commun                   anévrisme de l’artère communicante postérieure</a:t>
            </a:r>
          </a:p>
          <a:p>
            <a:pPr marL="0" indent="0">
              <a:buNone/>
            </a:pP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TextBox 5"/>
          <p:cNvSpPr txBox="1"/>
          <p:nvPr/>
        </p:nvSpPr>
        <p:spPr>
          <a:xfrm>
            <a:off x="1880171" y="1132237"/>
            <a:ext cx="461309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L’anévrisme </a:t>
            </a:r>
            <a:r>
              <a:rPr lang="fr-FR" sz="2800" b="1" dirty="0">
                <a:solidFill>
                  <a:srgbClr val="844C83"/>
                </a:solidFill>
                <a:effectLst>
                  <a:outerShdw blurRad="38100" dist="38100" dir="2700000" algn="tl">
                    <a:srgbClr val="000000">
                      <a:alpha val="43137"/>
                    </a:srgbClr>
                  </a:outerShdw>
                </a:effectLst>
              </a:rPr>
              <a:t>artériel :</a:t>
            </a:r>
            <a:endParaRPr lang="fr-FR" sz="2800" dirty="0">
              <a:solidFill>
                <a:srgbClr val="844C83"/>
              </a:solidFill>
              <a:effectLst>
                <a:outerShdw blurRad="38100" dist="38100" dir="2700000" algn="tl">
                  <a:srgbClr val="000000">
                    <a:alpha val="43137"/>
                  </a:srgbClr>
                </a:outerShdw>
              </a:effectLst>
            </a:endParaRPr>
          </a:p>
        </p:txBody>
      </p:sp>
      <p:sp>
        <p:nvSpPr>
          <p:cNvPr id="7" name="Right Arrow 6"/>
          <p:cNvSpPr/>
          <p:nvPr/>
        </p:nvSpPr>
        <p:spPr>
          <a:xfrm>
            <a:off x="3976099" y="4500082"/>
            <a:ext cx="1191802" cy="246579"/>
          </a:xfrm>
          <a:prstGeom prst="rightArrow">
            <a:avLst/>
          </a:prstGeom>
          <a:solidFill>
            <a:srgbClr val="844C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ight Arrow 7"/>
          <p:cNvSpPr/>
          <p:nvPr/>
        </p:nvSpPr>
        <p:spPr>
          <a:xfrm>
            <a:off x="7498422" y="5402496"/>
            <a:ext cx="1191802" cy="246579"/>
          </a:xfrm>
          <a:prstGeom prst="rightArrow">
            <a:avLst/>
          </a:prstGeom>
          <a:solidFill>
            <a:srgbClr val="844C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622134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Tx/>
              <a:buChar char="-"/>
            </a:pPr>
            <a:r>
              <a:rPr lang="fr-FR" dirty="0" smtClean="0"/>
              <a:t>C’est </a:t>
            </a:r>
            <a:r>
              <a:rPr lang="fr-FR" dirty="0"/>
              <a:t>une malformation vasculaire congénitale qui résulte d’une </a:t>
            </a:r>
            <a:r>
              <a:rPr lang="fr-FR" b="1" dirty="0"/>
              <a:t>communication entre artère et veines sans interposition de lit capillaire remplacé par un </a:t>
            </a:r>
            <a:r>
              <a:rPr lang="fr-FR" b="1" dirty="0" err="1"/>
              <a:t>Nidus</a:t>
            </a:r>
            <a:r>
              <a:rPr lang="fr-FR" dirty="0" smtClean="0"/>
              <a:t>.</a:t>
            </a:r>
          </a:p>
          <a:p>
            <a:pPr marL="0" indent="0">
              <a:buNone/>
            </a:pPr>
            <a:endParaRPr lang="fr-FR" dirty="0" smtClean="0"/>
          </a:p>
          <a:p>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TextBox 5"/>
          <p:cNvSpPr txBox="1"/>
          <p:nvPr/>
        </p:nvSpPr>
        <p:spPr>
          <a:xfrm>
            <a:off x="1880170" y="1132237"/>
            <a:ext cx="700697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2- </a:t>
            </a:r>
            <a:r>
              <a:rPr lang="fr-FR" sz="2800" b="1" dirty="0">
                <a:solidFill>
                  <a:srgbClr val="844C83"/>
                </a:solidFill>
                <a:effectLst>
                  <a:outerShdw blurRad="38100" dist="38100" dir="2700000" algn="tl">
                    <a:srgbClr val="000000">
                      <a:alpha val="43137"/>
                    </a:srgbClr>
                  </a:outerShdw>
                </a:effectLst>
              </a:rPr>
              <a:t>Les malformations artério-veineuses </a:t>
            </a:r>
            <a:r>
              <a:rPr lang="fr-FR" sz="2800" b="1" dirty="0" smtClean="0">
                <a:solidFill>
                  <a:srgbClr val="844C83"/>
                </a:solidFill>
                <a:effectLst>
                  <a:outerShdw blurRad="38100" dist="38100" dir="2700000" algn="tl">
                    <a:srgbClr val="000000">
                      <a:alpha val="43137"/>
                    </a:srgbClr>
                  </a:outerShdw>
                </a:effectLst>
              </a:rPr>
              <a:t>:</a:t>
            </a:r>
            <a:endParaRPr lang="fr-FR" sz="2800" dirty="0">
              <a:solidFill>
                <a:srgbClr val="844C83"/>
              </a:solidFill>
              <a:effectLst>
                <a:outerShdw blurRad="38100" dist="38100" dir="2700000" algn="tl">
                  <a:srgbClr val="000000">
                    <a:alpha val="43137"/>
                  </a:srgbClr>
                </a:outerShdw>
              </a:effectLst>
            </a:endParaRPr>
          </a:p>
        </p:txBody>
      </p:sp>
      <p:pic>
        <p:nvPicPr>
          <p:cNvPr id="7" name="Picture 6"/>
          <p:cNvPicPr>
            <a:picLocks noChangeAspect="1"/>
          </p:cNvPicPr>
          <p:nvPr/>
        </p:nvPicPr>
        <p:blipFill>
          <a:blip r:embed="rId3"/>
          <a:stretch>
            <a:fillRect/>
          </a:stretch>
        </p:blipFill>
        <p:spPr>
          <a:xfrm>
            <a:off x="5456434" y="3185448"/>
            <a:ext cx="5897366" cy="3378721"/>
          </a:xfrm>
          <a:prstGeom prst="rect">
            <a:avLst/>
          </a:prstGeom>
        </p:spPr>
      </p:pic>
      <p:pic>
        <p:nvPicPr>
          <p:cNvPr id="26626" name="Picture 2" descr="https://quizlet.com/cdn-cgi/image/f=auto,fit=cover,h=200,onerror=redirect,w=240/https:/o.quizlet.com/srCEzuVjZ8hs6g7utRy8xQ.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737" y="3273409"/>
            <a:ext cx="3246727" cy="270560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97972" y="6241004"/>
            <a:ext cx="5736771" cy="646331"/>
          </a:xfrm>
          <a:prstGeom prst="rect">
            <a:avLst/>
          </a:prstGeom>
          <a:noFill/>
        </p:spPr>
        <p:txBody>
          <a:bodyPr wrap="square" rtlCol="0">
            <a:spAutoFit/>
          </a:bodyPr>
          <a:lstStyle/>
          <a:p>
            <a:r>
              <a:rPr lang="fr-FR" b="1" dirty="0" err="1" smtClean="0"/>
              <a:t>E.Mandonnet</a:t>
            </a:r>
            <a:r>
              <a:rPr lang="fr-FR" b="1" dirty="0" smtClean="0"/>
              <a:t>, </a:t>
            </a:r>
            <a:r>
              <a:rPr lang="fr-FR" dirty="0" err="1" smtClean="0"/>
              <a:t>Cavernome</a:t>
            </a:r>
            <a:r>
              <a:rPr lang="fr-FR" dirty="0" smtClean="0"/>
              <a:t> </a:t>
            </a:r>
            <a:r>
              <a:rPr lang="fr-FR" dirty="0"/>
              <a:t>2020 Service </a:t>
            </a:r>
            <a:r>
              <a:rPr lang="fr-FR" dirty="0" smtClean="0"/>
              <a:t>de Neurochirurgie </a:t>
            </a:r>
            <a:r>
              <a:rPr lang="fr-FR" dirty="0" err="1" smtClean="0"/>
              <a:t>Hopital</a:t>
            </a:r>
            <a:r>
              <a:rPr lang="fr-FR" dirty="0" smtClean="0"/>
              <a:t> </a:t>
            </a:r>
            <a:r>
              <a:rPr lang="fr-FR" dirty="0" err="1" smtClean="0"/>
              <a:t>Lariboisiere</a:t>
            </a:r>
            <a:r>
              <a:rPr lang="fr-FR" u="sng" dirty="0" smtClean="0"/>
              <a:t> </a:t>
            </a:r>
            <a:endParaRPr lang="fr-FR" u="sng" dirty="0"/>
          </a:p>
        </p:txBody>
      </p:sp>
      <p:cxnSp>
        <p:nvCxnSpPr>
          <p:cNvPr id="9" name="Straight Connector 8"/>
          <p:cNvCxnSpPr/>
          <p:nvPr/>
        </p:nvCxnSpPr>
        <p:spPr>
          <a:xfrm>
            <a:off x="250371" y="6241004"/>
            <a:ext cx="5334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1389617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1788" y="1810289"/>
            <a:ext cx="11332395" cy="4888461"/>
          </a:xfrm>
        </p:spPr>
        <p:txBody>
          <a:bodyPr>
            <a:normAutofit/>
          </a:bodyPr>
          <a:lstStyle/>
          <a:p>
            <a:pPr>
              <a:buFontTx/>
              <a:buChar char="-"/>
            </a:pPr>
            <a:r>
              <a:rPr lang="fr-FR" dirty="0" smtClean="0"/>
              <a:t> La symptomatologie apparaît surtout entre 20 et 40 ans.</a:t>
            </a:r>
          </a:p>
          <a:p>
            <a:pPr>
              <a:buFontTx/>
              <a:buChar char="-"/>
            </a:pPr>
            <a:endParaRPr lang="fr-FR" dirty="0" smtClean="0"/>
          </a:p>
          <a:p>
            <a:pPr>
              <a:buFontTx/>
              <a:buChar char="-"/>
            </a:pPr>
            <a:r>
              <a:rPr lang="fr-FR" dirty="0" smtClean="0"/>
              <a:t>Le </a:t>
            </a:r>
            <a:r>
              <a:rPr lang="fr-FR" dirty="0"/>
              <a:t>siège : </a:t>
            </a:r>
            <a:r>
              <a:rPr lang="fr-FR" i="1" dirty="0"/>
              <a:t>hémisphérique</a:t>
            </a:r>
            <a:r>
              <a:rPr lang="fr-FR" dirty="0"/>
              <a:t>, généralement superficiel et s’enfonçant dans le parenchyme cérébral vers le ventricule, il peut cependant être profond : les noyaux gris centraux, para ou intraventriculaire</a:t>
            </a:r>
            <a:r>
              <a:rPr lang="fr-FR" dirty="0" smtClean="0"/>
              <a:t>.</a:t>
            </a:r>
          </a:p>
          <a:p>
            <a:pPr>
              <a:buFontTx/>
              <a:buChar char="-"/>
            </a:pPr>
            <a:endParaRPr lang="fr-FR" dirty="0" smtClean="0"/>
          </a:p>
          <a:p>
            <a:pPr>
              <a:buFontTx/>
              <a:buChar char="-"/>
            </a:pPr>
            <a:r>
              <a:rPr lang="fr-FR" dirty="0" smtClean="0"/>
              <a:t> </a:t>
            </a:r>
            <a:r>
              <a:rPr lang="fr-FR" dirty="0"/>
              <a:t>Les artères afférentes viennent surtout des branches de la carotide interne, en particulier </a:t>
            </a:r>
            <a:r>
              <a:rPr lang="fr-FR" dirty="0" smtClean="0"/>
              <a:t>l’ACM.</a:t>
            </a:r>
          </a:p>
          <a:p>
            <a:pPr>
              <a:buFontTx/>
              <a:buChar char="-"/>
            </a:pPr>
            <a:endParaRPr lang="fr-FR" dirty="0" smtClean="0"/>
          </a:p>
          <a:p>
            <a:pPr>
              <a:buFontTx/>
              <a:buChar char="-"/>
            </a:pPr>
            <a:r>
              <a:rPr lang="fr-FR" dirty="0" smtClean="0"/>
              <a:t>Les </a:t>
            </a:r>
            <a:r>
              <a:rPr lang="fr-FR" dirty="0"/>
              <a:t>veines efférentes peuvent être superficielles ou profondes.</a:t>
            </a:r>
          </a:p>
          <a:p>
            <a:pPr>
              <a:buFontTx/>
              <a:buChar char="-"/>
            </a:pP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TextBox 5"/>
          <p:cNvSpPr txBox="1"/>
          <p:nvPr/>
        </p:nvSpPr>
        <p:spPr>
          <a:xfrm>
            <a:off x="1880170" y="1132237"/>
            <a:ext cx="700697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2- </a:t>
            </a:r>
            <a:r>
              <a:rPr lang="fr-FR" sz="2800" b="1" dirty="0">
                <a:solidFill>
                  <a:srgbClr val="844C83"/>
                </a:solidFill>
                <a:effectLst>
                  <a:outerShdw blurRad="38100" dist="38100" dir="2700000" algn="tl">
                    <a:srgbClr val="000000">
                      <a:alpha val="43137"/>
                    </a:srgbClr>
                  </a:outerShdw>
                </a:effectLst>
              </a:rPr>
              <a:t>Les malformations artério-veineuses </a:t>
            </a:r>
            <a:r>
              <a:rPr lang="fr-FR" sz="2800" b="1" dirty="0" smtClean="0">
                <a:solidFill>
                  <a:srgbClr val="844C83"/>
                </a:solidFill>
                <a:effectLst>
                  <a:outerShdw blurRad="38100" dist="38100" dir="2700000" algn="tl">
                    <a:srgbClr val="000000">
                      <a:alpha val="43137"/>
                    </a:srgbClr>
                  </a:outerShdw>
                </a:effectLst>
              </a:rPr>
              <a:t>:</a:t>
            </a:r>
            <a:endParaRPr lang="fr-FR" sz="2800"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559996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829" y="1825625"/>
            <a:ext cx="11636828" cy="2082346"/>
          </a:xfrm>
        </p:spPr>
        <p:txBody>
          <a:bodyPr>
            <a:normAutofit fontScale="92500" lnSpcReduction="20000"/>
          </a:bodyPr>
          <a:lstStyle/>
          <a:p>
            <a:pPr>
              <a:buFontTx/>
              <a:buChar char="-"/>
            </a:pPr>
            <a:r>
              <a:rPr lang="fr-FR" dirty="0" smtClean="0"/>
              <a:t>Malformation </a:t>
            </a:r>
            <a:r>
              <a:rPr lang="fr-FR" dirty="0"/>
              <a:t>vasculaire cérébrale de type capillaire </a:t>
            </a:r>
            <a:endParaRPr lang="fr-FR" dirty="0" smtClean="0"/>
          </a:p>
          <a:p>
            <a:pPr>
              <a:buFontTx/>
              <a:buChar char="-"/>
            </a:pPr>
            <a:endParaRPr lang="fr-FR" dirty="0"/>
          </a:p>
          <a:p>
            <a:pPr>
              <a:buFontTx/>
              <a:buChar char="-"/>
            </a:pPr>
            <a:r>
              <a:rPr lang="fr-FR" dirty="0" smtClean="0"/>
              <a:t>Faite </a:t>
            </a:r>
            <a:r>
              <a:rPr lang="fr-FR" dirty="0"/>
              <a:t>de vaisseaux sanguins dystrophiques et </a:t>
            </a:r>
            <a:endParaRPr lang="fr-FR" dirty="0" smtClean="0"/>
          </a:p>
          <a:p>
            <a:pPr marL="0" indent="0">
              <a:buNone/>
            </a:pPr>
            <a:r>
              <a:rPr lang="fr-FR" dirty="0" err="1" smtClean="0"/>
              <a:t>éctasiques</a:t>
            </a:r>
            <a:r>
              <a:rPr lang="fr-FR" dirty="0"/>
              <a:t>, sans interposition de tissu cérébral entre </a:t>
            </a:r>
            <a:endParaRPr lang="fr-FR" dirty="0" smtClean="0"/>
          </a:p>
          <a:p>
            <a:pPr marL="0" indent="0">
              <a:buNone/>
            </a:pPr>
            <a:r>
              <a:rPr lang="fr-FR" dirty="0" smtClean="0"/>
              <a:t>les </a:t>
            </a:r>
            <a:r>
              <a:rPr lang="fr-FR" dirty="0"/>
              <a:t>vaisseaux.</a:t>
            </a:r>
          </a:p>
        </p:txBody>
      </p:sp>
      <p:pic>
        <p:nvPicPr>
          <p:cNvPr id="27650" name="Picture 2" descr="Diagnosis of Cavernous Angioma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6845" y="3320741"/>
            <a:ext cx="4158240" cy="3243428"/>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6" name="Oval 5"/>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7" name="TextBox 6"/>
          <p:cNvSpPr txBox="1"/>
          <p:nvPr/>
        </p:nvSpPr>
        <p:spPr>
          <a:xfrm>
            <a:off x="2226179" y="1139905"/>
            <a:ext cx="4063430"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3- </a:t>
            </a:r>
            <a:r>
              <a:rPr lang="fr-FR" sz="2800" b="1" dirty="0" err="1" smtClean="0">
                <a:solidFill>
                  <a:srgbClr val="844C83"/>
                </a:solidFill>
                <a:effectLst>
                  <a:outerShdw blurRad="38100" dist="38100" dir="2700000" algn="tl">
                    <a:srgbClr val="000000">
                      <a:alpha val="43137"/>
                    </a:srgbClr>
                  </a:outerShdw>
                </a:effectLst>
              </a:rPr>
              <a:t>Cavernome</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8" name="Picture 7"/>
          <p:cNvPicPr>
            <a:picLocks noChangeAspect="1"/>
          </p:cNvPicPr>
          <p:nvPr/>
        </p:nvPicPr>
        <p:blipFill>
          <a:blip r:embed="rId4"/>
          <a:stretch>
            <a:fillRect/>
          </a:stretch>
        </p:blipFill>
        <p:spPr>
          <a:xfrm>
            <a:off x="8037979" y="1325151"/>
            <a:ext cx="4121362" cy="5239019"/>
          </a:xfrm>
          <a:prstGeom prst="rect">
            <a:avLst/>
          </a:prstGeom>
        </p:spPr>
      </p:pic>
      <p:sp>
        <p:nvSpPr>
          <p:cNvPr id="2" name="TextBox 1"/>
          <p:cNvSpPr txBox="1"/>
          <p:nvPr/>
        </p:nvSpPr>
        <p:spPr>
          <a:xfrm>
            <a:off x="97972" y="6241004"/>
            <a:ext cx="6379028" cy="646331"/>
          </a:xfrm>
          <a:prstGeom prst="rect">
            <a:avLst/>
          </a:prstGeom>
          <a:noFill/>
        </p:spPr>
        <p:txBody>
          <a:bodyPr wrap="square" rtlCol="0">
            <a:spAutoFit/>
          </a:bodyPr>
          <a:lstStyle/>
          <a:p>
            <a:r>
              <a:rPr lang="fr-FR" b="1" dirty="0" err="1" smtClean="0"/>
              <a:t>E.Mandonnet</a:t>
            </a:r>
            <a:r>
              <a:rPr lang="fr-FR" b="1" dirty="0" smtClean="0"/>
              <a:t>, </a:t>
            </a:r>
            <a:r>
              <a:rPr lang="fr-FR" dirty="0" err="1" smtClean="0"/>
              <a:t>Cavernome</a:t>
            </a:r>
            <a:r>
              <a:rPr lang="fr-FR" dirty="0" smtClean="0"/>
              <a:t> </a:t>
            </a:r>
            <a:r>
              <a:rPr lang="fr-FR" dirty="0"/>
              <a:t>2020 Service Neurochirurgie </a:t>
            </a:r>
            <a:r>
              <a:rPr lang="fr-FR" dirty="0" err="1"/>
              <a:t>Lariboisiere</a:t>
            </a:r>
            <a:r>
              <a:rPr lang="fr-FR" u="sng" dirty="0" smtClean="0"/>
              <a:t> </a:t>
            </a:r>
            <a:endParaRPr lang="fr-FR" u="sng" dirty="0"/>
          </a:p>
        </p:txBody>
      </p:sp>
      <p:cxnSp>
        <p:nvCxnSpPr>
          <p:cNvPr id="9" name="Straight Connector 8"/>
          <p:cNvCxnSpPr/>
          <p:nvPr/>
        </p:nvCxnSpPr>
        <p:spPr>
          <a:xfrm>
            <a:off x="97972" y="6295609"/>
            <a:ext cx="5203371" cy="39877"/>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405529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3708" y="1825625"/>
            <a:ext cx="11342670" cy="4636820"/>
          </a:xfrm>
        </p:spPr>
        <p:txBody>
          <a:bodyPr>
            <a:normAutofit/>
          </a:bodyPr>
          <a:lstStyle/>
          <a:p>
            <a:pPr marL="0" lvl="0" indent="0">
              <a:buNone/>
            </a:pPr>
            <a:r>
              <a:rPr lang="fr-FR" dirty="0" smtClean="0"/>
              <a:t>                         Hémorragie </a:t>
            </a:r>
            <a:r>
              <a:rPr lang="fr-FR" dirty="0" err="1" smtClean="0"/>
              <a:t>cérébro</a:t>
            </a:r>
            <a:r>
              <a:rPr lang="fr-FR" dirty="0" smtClean="0"/>
              <a:t>-méningée.</a:t>
            </a:r>
          </a:p>
          <a:p>
            <a:pPr marL="0" lvl="0" indent="0">
              <a:buNone/>
            </a:pPr>
            <a:endParaRPr lang="fr-FR" dirty="0"/>
          </a:p>
          <a:p>
            <a:pPr lvl="0">
              <a:buFontTx/>
              <a:buChar char="-"/>
            </a:pPr>
            <a:r>
              <a:rPr lang="fr-FR" b="1" dirty="0" smtClean="0"/>
              <a:t>HTA </a:t>
            </a:r>
            <a:r>
              <a:rPr lang="fr-FR" b="1" dirty="0"/>
              <a:t>:</a:t>
            </a:r>
            <a:r>
              <a:rPr lang="fr-FR" dirty="0"/>
              <a:t> l’hémorragie est favorisée par de petites ectasies artérielles </a:t>
            </a:r>
            <a:r>
              <a:rPr lang="fr-FR" dirty="0" smtClean="0"/>
              <a:t>intra parenchymateuses athéromateuses</a:t>
            </a:r>
          </a:p>
          <a:p>
            <a:pPr lvl="0">
              <a:buFontTx/>
              <a:buChar char="-"/>
            </a:pPr>
            <a:endParaRPr lang="fr-FR" dirty="0"/>
          </a:p>
          <a:p>
            <a:pPr lvl="0">
              <a:buFontTx/>
              <a:buChar char="-"/>
            </a:pPr>
            <a:r>
              <a:rPr lang="fr-FR" b="1" dirty="0" smtClean="0"/>
              <a:t>Les </a:t>
            </a:r>
            <a:r>
              <a:rPr lang="fr-FR" b="1" dirty="0"/>
              <a:t>troubles de l’hémostase : </a:t>
            </a:r>
            <a:r>
              <a:rPr lang="fr-FR" dirty="0"/>
              <a:t>thrombopénie, hémopathie, traitement </a:t>
            </a:r>
            <a:r>
              <a:rPr lang="fr-FR" dirty="0" smtClean="0"/>
              <a:t>anticoagulant</a:t>
            </a:r>
          </a:p>
          <a:p>
            <a:pPr lvl="0">
              <a:buFontTx/>
              <a:buChar char="-"/>
            </a:pPr>
            <a:endParaRPr lang="fr-FR" dirty="0"/>
          </a:p>
          <a:p>
            <a:pPr marL="0" lvl="0" indent="0">
              <a:buNone/>
            </a:pPr>
            <a:r>
              <a:rPr lang="fr-FR" dirty="0" smtClean="0"/>
              <a:t>- </a:t>
            </a:r>
            <a:r>
              <a:rPr lang="fr-FR" b="1" dirty="0" smtClean="0"/>
              <a:t>Rupture </a:t>
            </a:r>
            <a:r>
              <a:rPr lang="fr-FR" b="1" dirty="0"/>
              <a:t>d’un anévrisme </a:t>
            </a:r>
            <a:r>
              <a:rPr lang="fr-FR" b="1" dirty="0" err="1"/>
              <a:t>mycotique</a:t>
            </a:r>
            <a:r>
              <a:rPr lang="fr-FR" dirty="0"/>
              <a:t> au cours de l’endocardite d’Osler</a:t>
            </a:r>
          </a:p>
          <a:p>
            <a:pPr marL="0" lvl="0" indent="0">
              <a:buNone/>
            </a:pPr>
            <a:endParaRPr lang="fr-FR" dirty="0"/>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TextBox 5"/>
          <p:cNvSpPr txBox="1"/>
          <p:nvPr/>
        </p:nvSpPr>
        <p:spPr>
          <a:xfrm>
            <a:off x="2291136" y="1139905"/>
            <a:ext cx="6010383"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4- </a:t>
            </a:r>
            <a:r>
              <a:rPr lang="fr-FR" sz="2800" b="1" dirty="0">
                <a:solidFill>
                  <a:srgbClr val="844C83"/>
                </a:solidFill>
                <a:effectLst>
                  <a:outerShdw blurRad="38100" dist="38100" dir="2700000" algn="tl">
                    <a:srgbClr val="000000">
                      <a:alpha val="43137"/>
                    </a:srgbClr>
                  </a:outerShdw>
                </a:effectLst>
              </a:rPr>
              <a:t>Les étiologies médicales </a:t>
            </a:r>
            <a:r>
              <a:rPr lang="fr-FR" sz="2800" b="1" dirty="0" smtClean="0">
                <a:solidFill>
                  <a:srgbClr val="844C83"/>
                </a:solidFill>
                <a:effectLst>
                  <a:outerShdw blurRad="38100" dist="38100" dir="2700000" algn="tl">
                    <a:srgbClr val="000000">
                      <a:alpha val="43137"/>
                    </a:srgbClr>
                  </a:outerShdw>
                </a:effectLst>
              </a:rPr>
              <a:t>:</a:t>
            </a:r>
            <a:endParaRPr lang="fr-FR" sz="2800" dirty="0">
              <a:solidFill>
                <a:srgbClr val="844C83"/>
              </a:solidFill>
              <a:effectLst>
                <a:outerShdw blurRad="38100" dist="38100" dir="2700000" algn="tl">
                  <a:srgbClr val="000000">
                    <a:alpha val="43137"/>
                  </a:srgbClr>
                </a:outerShdw>
              </a:effectLst>
            </a:endParaRPr>
          </a:p>
        </p:txBody>
      </p:sp>
      <p:sp>
        <p:nvSpPr>
          <p:cNvPr id="2" name="Right Arrow 1"/>
          <p:cNvSpPr/>
          <p:nvPr/>
        </p:nvSpPr>
        <p:spPr>
          <a:xfrm>
            <a:off x="1619036" y="1941815"/>
            <a:ext cx="873642" cy="24658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283509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3079073"/>
            <a:ext cx="10515600" cy="866204"/>
          </a:xfrm>
        </p:spPr>
        <p:txBody>
          <a:bodyPr/>
          <a:lstStyle/>
          <a:p>
            <a:pPr marL="0" indent="0">
              <a:buNone/>
            </a:pPr>
            <a:r>
              <a:rPr lang="fr-FR" dirty="0"/>
              <a:t>Dans certain nombre de cas, </a:t>
            </a:r>
            <a:r>
              <a:rPr lang="fr-FR" b="1" dirty="0">
                <a:solidFill>
                  <a:srgbClr val="FF0000"/>
                </a:solidFill>
              </a:rPr>
              <a:t>15 à 20 %</a:t>
            </a:r>
            <a:r>
              <a:rPr lang="fr-FR" dirty="0"/>
              <a:t>, aucune cause n’est retrouvée.</a:t>
            </a:r>
          </a:p>
        </p:txBody>
      </p:sp>
      <p:sp>
        <p:nvSpPr>
          <p:cNvPr id="4" name="Title 1"/>
          <p:cNvSpPr>
            <a:spLocks noGrp="1"/>
          </p:cNvSpPr>
          <p:nvPr>
            <p:ph type="title"/>
          </p:nvPr>
        </p:nvSpPr>
        <p:spPr>
          <a:xfrm>
            <a:off x="0" y="-5975"/>
            <a:ext cx="12191999" cy="983380"/>
          </a:xfrm>
          <a:solidFill>
            <a:srgbClr val="844C83"/>
          </a:solidFill>
        </p:spPr>
        <p:txBody>
          <a:bodyPr>
            <a:normAutofit/>
          </a:bodyPr>
          <a:lstStyle/>
          <a:p>
            <a:pPr algn="ctr"/>
            <a:r>
              <a:rPr lang="fr-FR" sz="5400" b="1" dirty="0" smtClean="0">
                <a:solidFill>
                  <a:schemeClr val="bg1"/>
                </a:solidFill>
              </a:rPr>
              <a:t>Diagnostic Etiologique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a:t>
            </a:r>
            <a:endParaRPr lang="fr-FR" sz="3200" dirty="0"/>
          </a:p>
        </p:txBody>
      </p:sp>
      <p:sp>
        <p:nvSpPr>
          <p:cNvPr id="6" name="TextBox 5"/>
          <p:cNvSpPr txBox="1"/>
          <p:nvPr/>
        </p:nvSpPr>
        <p:spPr>
          <a:xfrm>
            <a:off x="3400745" y="1505019"/>
            <a:ext cx="5065161"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5- </a:t>
            </a:r>
            <a:r>
              <a:rPr lang="fr-FR" sz="2800" b="1" dirty="0">
                <a:solidFill>
                  <a:srgbClr val="844C83"/>
                </a:solidFill>
                <a:effectLst>
                  <a:outerShdw blurRad="38100" dist="38100" dir="2700000" algn="tl">
                    <a:srgbClr val="000000">
                      <a:alpha val="43137"/>
                    </a:srgbClr>
                  </a:outerShdw>
                </a:effectLst>
              </a:rPr>
              <a:t>HSA idiopathiques </a:t>
            </a:r>
            <a:r>
              <a:rPr lang="fr-FR" sz="2800" b="1" dirty="0" smtClean="0">
                <a:solidFill>
                  <a:srgbClr val="844C83"/>
                </a:solidFill>
                <a:effectLst>
                  <a:outerShdw blurRad="38100" dist="38100" dir="2700000" algn="tl">
                    <a:srgbClr val="000000">
                      <a:alpha val="43137"/>
                    </a:srgbClr>
                  </a:outerShdw>
                </a:effectLst>
              </a:rPr>
              <a:t>:</a:t>
            </a:r>
            <a:endParaRPr lang="fr-FR" sz="2800"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902921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47299"/>
            <a:ext cx="10515600" cy="4029664"/>
          </a:xfrm>
        </p:spPr>
        <p:txBody>
          <a:bodyPr/>
          <a:lstStyle/>
          <a:p>
            <a:r>
              <a:rPr lang="fr-FR" dirty="0" smtClean="0"/>
              <a:t>Il </a:t>
            </a:r>
            <a:r>
              <a:rPr lang="fr-FR" dirty="0"/>
              <a:t>est réalisé́ </a:t>
            </a:r>
            <a:r>
              <a:rPr lang="fr-FR" dirty="0">
                <a:solidFill>
                  <a:srgbClr val="C00000"/>
                </a:solidFill>
              </a:rPr>
              <a:t>en urgence </a:t>
            </a:r>
            <a:r>
              <a:rPr lang="fr-FR" dirty="0"/>
              <a:t>et </a:t>
            </a:r>
            <a:r>
              <a:rPr lang="fr-FR" dirty="0">
                <a:solidFill>
                  <a:srgbClr val="C00000"/>
                </a:solidFill>
              </a:rPr>
              <a:t>sans injection </a:t>
            </a:r>
            <a:r>
              <a:rPr lang="fr-FR" dirty="0"/>
              <a:t>de produit de contraste.</a:t>
            </a:r>
            <a:br>
              <a:rPr lang="fr-FR" dirty="0"/>
            </a:br>
            <a:r>
              <a:rPr lang="fr-FR" dirty="0" smtClean="0"/>
              <a:t> </a:t>
            </a:r>
          </a:p>
          <a:p>
            <a:pPr marL="0" indent="0">
              <a:buNone/>
            </a:pPr>
            <a:endParaRPr lang="fr-FR" dirty="0" smtClean="0"/>
          </a:p>
          <a:p>
            <a:r>
              <a:rPr lang="fr-FR" dirty="0" smtClean="0"/>
              <a:t>Il </a:t>
            </a:r>
            <a:r>
              <a:rPr lang="fr-FR" dirty="0"/>
              <a:t>confirme le diagnostic en objectivant </a:t>
            </a:r>
            <a:r>
              <a:rPr lang="fr-FR" dirty="0" smtClean="0"/>
              <a:t>:</a:t>
            </a:r>
          </a:p>
          <a:p>
            <a:pPr marL="0" indent="0">
              <a:buNone/>
            </a:pPr>
            <a:r>
              <a:rPr lang="fr-FR" dirty="0"/>
              <a:t>-</a:t>
            </a:r>
            <a:r>
              <a:rPr lang="fr-FR" dirty="0" smtClean="0"/>
              <a:t>une </a:t>
            </a:r>
            <a:r>
              <a:rPr lang="fr-FR" dirty="0">
                <a:solidFill>
                  <a:srgbClr val="C00000"/>
                </a:solidFill>
              </a:rPr>
              <a:t>hyperdensité́</a:t>
            </a:r>
            <a:r>
              <a:rPr lang="fr-FR" dirty="0"/>
              <a:t> caractéristique de l’HSA visible </a:t>
            </a:r>
            <a:endParaRPr lang="fr-FR" dirty="0" smtClean="0"/>
          </a:p>
          <a:p>
            <a:pPr marL="0" indent="0">
              <a:buNone/>
            </a:pPr>
            <a:r>
              <a:rPr lang="fr-FR" dirty="0" smtClean="0"/>
              <a:t>dans </a:t>
            </a:r>
            <a:r>
              <a:rPr lang="fr-FR" dirty="0"/>
              <a:t>90 à 95% des cas dans les </a:t>
            </a:r>
            <a:r>
              <a:rPr lang="fr-FR" dirty="0" smtClean="0"/>
              <a:t>premières</a:t>
            </a:r>
          </a:p>
          <a:p>
            <a:pPr marL="0" indent="0">
              <a:buNone/>
            </a:pPr>
            <a:r>
              <a:rPr lang="fr-FR" dirty="0" smtClean="0"/>
              <a:t> </a:t>
            </a:r>
            <a:r>
              <a:rPr lang="fr-FR" dirty="0"/>
              <a:t>24 </a:t>
            </a:r>
            <a:r>
              <a:rPr lang="fr-FR" dirty="0" smtClean="0"/>
              <a:t>heures</a:t>
            </a:r>
            <a:endParaRPr lang="fr-FR" dirty="0"/>
          </a:p>
        </p:txBody>
      </p:sp>
      <p:sp>
        <p:nvSpPr>
          <p:cNvPr id="4" name="Title 1"/>
          <p:cNvSpPr>
            <a:spLocks noGrp="1"/>
          </p:cNvSpPr>
          <p:nvPr>
            <p:ph type="title"/>
          </p:nvPr>
        </p:nvSpPr>
        <p:spPr>
          <a:xfrm>
            <a:off x="0" y="-77894"/>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a:t>
            </a:r>
            <a:r>
              <a:rPr lang="fr-FR" sz="2800" b="1" u="sng" dirty="0" smtClean="0">
                <a:solidFill>
                  <a:srgbClr val="844C83"/>
                </a:solidFill>
                <a:effectLst>
                  <a:outerShdw blurRad="38100" dist="38100" dir="2700000" algn="tl">
                    <a:srgbClr val="000000">
                      <a:alpha val="43137"/>
                    </a:srgbClr>
                  </a:outerShdw>
                </a:effectLst>
              </a:rPr>
              <a:t>Scanner </a:t>
            </a:r>
            <a:r>
              <a:rPr lang="fr-FR" sz="2800" b="1" u="sng" dirty="0">
                <a:solidFill>
                  <a:srgbClr val="844C83"/>
                </a:solidFill>
                <a:effectLst>
                  <a:outerShdw blurRad="38100" dist="38100" dir="2700000" algn="tl">
                    <a:srgbClr val="000000">
                      <a:alpha val="43137"/>
                    </a:srgbClr>
                  </a:outerShdw>
                </a:effectLst>
              </a:rPr>
              <a:t>cérébral :</a:t>
            </a:r>
            <a:r>
              <a:rPr lang="fr-FR" sz="2800" b="1" dirty="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7" name="Picture 6"/>
          <p:cNvPicPr/>
          <p:nvPr/>
        </p:nvPicPr>
        <p:blipFill>
          <a:blip r:embed="rId3"/>
          <a:stretch>
            <a:fillRect/>
          </a:stretch>
        </p:blipFill>
        <p:spPr>
          <a:xfrm>
            <a:off x="8699682" y="3041151"/>
            <a:ext cx="2447779" cy="24814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068491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7951" y="1825624"/>
            <a:ext cx="7931649" cy="4842303"/>
          </a:xfrm>
        </p:spPr>
        <p:txBody>
          <a:bodyPr>
            <a:normAutofit lnSpcReduction="10000"/>
          </a:bodyPr>
          <a:lstStyle/>
          <a:p>
            <a:pPr marL="0" indent="0">
              <a:buNone/>
            </a:pPr>
            <a:r>
              <a:rPr lang="fr-FR" dirty="0" smtClean="0"/>
              <a:t> </a:t>
            </a:r>
            <a:r>
              <a:rPr lang="fr-FR" b="1" dirty="0" smtClean="0"/>
              <a:t>les principaux signes sont :</a:t>
            </a:r>
            <a:r>
              <a:rPr lang="fr-FR" dirty="0" smtClean="0"/>
              <a:t/>
            </a:r>
            <a:br>
              <a:rPr lang="fr-FR" dirty="0" smtClean="0"/>
            </a:br>
            <a:r>
              <a:rPr lang="fr-FR" dirty="0" smtClean="0"/>
              <a:t>- Présence de </a:t>
            </a:r>
            <a:r>
              <a:rPr lang="fr-FR" dirty="0" smtClean="0">
                <a:solidFill>
                  <a:srgbClr val="C00000"/>
                </a:solidFill>
              </a:rPr>
              <a:t>sang</a:t>
            </a:r>
            <a:r>
              <a:rPr lang="fr-FR" dirty="0" smtClean="0"/>
              <a:t> dans les </a:t>
            </a:r>
            <a:r>
              <a:rPr lang="fr-FR" dirty="0" smtClean="0">
                <a:solidFill>
                  <a:srgbClr val="C00000"/>
                </a:solidFill>
              </a:rPr>
              <a:t>espaces sous-arachnoïdiens</a:t>
            </a:r>
            <a:r>
              <a:rPr lang="fr-FR" dirty="0" smtClean="0"/>
              <a:t> ;</a:t>
            </a:r>
          </a:p>
          <a:p>
            <a:pPr marL="0" indent="0">
              <a:buNone/>
            </a:pPr>
            <a:endParaRPr lang="fr-FR" dirty="0" smtClean="0"/>
          </a:p>
          <a:p>
            <a:pPr>
              <a:buFontTx/>
              <a:buChar char="-"/>
            </a:pPr>
            <a:r>
              <a:rPr lang="fr-FR" dirty="0" smtClean="0"/>
              <a:t>Hyperdensité́ </a:t>
            </a:r>
            <a:r>
              <a:rPr lang="fr-FR" dirty="0"/>
              <a:t>spontanée des </a:t>
            </a:r>
            <a:r>
              <a:rPr lang="fr-FR" dirty="0">
                <a:solidFill>
                  <a:srgbClr val="C00000"/>
                </a:solidFill>
              </a:rPr>
              <a:t>citernes</a:t>
            </a:r>
            <a:r>
              <a:rPr lang="fr-FR" dirty="0"/>
              <a:t> de la base et des sillons de la convexité́ +/- dans les ventricules </a:t>
            </a:r>
            <a:r>
              <a:rPr lang="fr-FR" dirty="0" smtClean="0"/>
              <a:t>;</a:t>
            </a:r>
          </a:p>
          <a:p>
            <a:pPr>
              <a:buFontTx/>
              <a:buChar char="-"/>
            </a:pPr>
            <a:endParaRPr lang="fr-FR" dirty="0"/>
          </a:p>
          <a:p>
            <a:pPr>
              <a:buFontTx/>
              <a:buChar char="-"/>
            </a:pPr>
            <a:r>
              <a:rPr lang="fr-FR" dirty="0" smtClean="0"/>
              <a:t>Signe </a:t>
            </a:r>
            <a:r>
              <a:rPr lang="fr-FR" dirty="0"/>
              <a:t>de la faux du cerveau « trop bien visible » en cas d’HSA de faible abondance </a:t>
            </a:r>
            <a:r>
              <a:rPr lang="fr-FR" dirty="0" smtClean="0"/>
              <a:t>;</a:t>
            </a:r>
          </a:p>
          <a:p>
            <a:pPr marL="0" indent="0">
              <a:buNone/>
            </a:pPr>
            <a:endParaRPr lang="fr-FR" dirty="0" smtClean="0"/>
          </a:p>
          <a:p>
            <a:pPr>
              <a:buFontTx/>
              <a:buChar char="-"/>
            </a:pPr>
            <a:r>
              <a:rPr lang="fr-FR" dirty="0" smtClean="0"/>
              <a:t>Présence </a:t>
            </a:r>
            <a:r>
              <a:rPr lang="fr-FR" dirty="0"/>
              <a:t>d’un </a:t>
            </a:r>
            <a:r>
              <a:rPr lang="fr-FR" dirty="0">
                <a:solidFill>
                  <a:srgbClr val="C00000"/>
                </a:solidFill>
              </a:rPr>
              <a:t>hématome </a:t>
            </a:r>
            <a:r>
              <a:rPr lang="fr-FR" dirty="0" smtClean="0">
                <a:solidFill>
                  <a:srgbClr val="C00000"/>
                </a:solidFill>
              </a:rPr>
              <a:t>intracérébral</a:t>
            </a:r>
            <a:endParaRPr lang="fr-FR" dirty="0">
              <a:solidFill>
                <a:srgbClr val="C00000"/>
              </a:solidFill>
            </a:endParaRPr>
          </a:p>
        </p:txBody>
      </p:sp>
      <p:sp>
        <p:nvSpPr>
          <p:cNvPr id="4" name="Title 1"/>
          <p:cNvSpPr>
            <a:spLocks noGrp="1"/>
          </p:cNvSpPr>
          <p:nvPr>
            <p:ph type="title"/>
          </p:nvPr>
        </p:nvSpPr>
        <p:spPr>
          <a:xfrm>
            <a:off x="0" y="-77894"/>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a:t>
            </a:r>
            <a:r>
              <a:rPr lang="fr-FR" sz="2800" b="1" u="sng" dirty="0" smtClean="0">
                <a:solidFill>
                  <a:srgbClr val="844C83"/>
                </a:solidFill>
                <a:effectLst>
                  <a:outerShdw blurRad="38100" dist="38100" dir="2700000" algn="tl">
                    <a:srgbClr val="000000">
                      <a:alpha val="43137"/>
                    </a:srgbClr>
                  </a:outerShdw>
                </a:effectLst>
              </a:rPr>
              <a:t>Scanner </a:t>
            </a:r>
            <a:r>
              <a:rPr lang="fr-FR" sz="2800" b="1" u="sng" dirty="0">
                <a:solidFill>
                  <a:srgbClr val="844C83"/>
                </a:solidFill>
                <a:effectLst>
                  <a:outerShdw blurRad="38100" dist="38100" dir="2700000" algn="tl">
                    <a:srgbClr val="000000">
                      <a:alpha val="43137"/>
                    </a:srgbClr>
                  </a:outerShdw>
                </a:effectLst>
              </a:rPr>
              <a:t>cérébral :</a:t>
            </a:r>
            <a:r>
              <a:rPr lang="fr-FR" sz="2800" b="1" dirty="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8" name="Picture 7"/>
          <p:cNvPicPr/>
          <p:nvPr/>
        </p:nvPicPr>
        <p:blipFill>
          <a:blip r:embed="rId3"/>
          <a:stretch>
            <a:fillRect/>
          </a:stretch>
        </p:blipFill>
        <p:spPr>
          <a:xfrm>
            <a:off x="9123452" y="4315146"/>
            <a:ext cx="1824218" cy="2106202"/>
          </a:xfrm>
          <a:prstGeom prst="rect">
            <a:avLst/>
          </a:prstGeom>
        </p:spPr>
      </p:pic>
      <p:pic>
        <p:nvPicPr>
          <p:cNvPr id="11266" name="Picture 2" descr="Hyperdensité dans l'espace sous-arachnoïdi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4341" y="1301930"/>
            <a:ext cx="4357659" cy="296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08392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2885" y="1825625"/>
            <a:ext cx="10870915" cy="1143606"/>
          </a:xfrm>
        </p:spPr>
        <p:txBody>
          <a:bodyPr/>
          <a:lstStyle/>
          <a:p>
            <a:pPr marL="0" indent="0">
              <a:buNone/>
            </a:pPr>
            <a:r>
              <a:rPr lang="fr-FR" dirty="0"/>
              <a:t>- Prédominance de l’hyperdensité́ dans une zone, témoignant de l’origine </a:t>
            </a:r>
            <a:r>
              <a:rPr lang="fr-FR" dirty="0" smtClean="0"/>
              <a:t>de l’hémorragie </a:t>
            </a:r>
            <a:r>
              <a:rPr lang="fr-FR" dirty="0"/>
              <a:t>(valeur localisatrice).</a:t>
            </a:r>
          </a:p>
        </p:txBody>
      </p:sp>
      <p:sp>
        <p:nvSpPr>
          <p:cNvPr id="4" name="Title 1"/>
          <p:cNvSpPr>
            <a:spLocks noGrp="1"/>
          </p:cNvSpPr>
          <p:nvPr>
            <p:ph type="title"/>
          </p:nvPr>
        </p:nvSpPr>
        <p:spPr>
          <a:xfrm>
            <a:off x="0" y="-77894"/>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a:t>
            </a:r>
            <a:r>
              <a:rPr lang="fr-FR" sz="2800" b="1" u="sng" dirty="0" smtClean="0">
                <a:solidFill>
                  <a:srgbClr val="844C83"/>
                </a:solidFill>
                <a:effectLst>
                  <a:outerShdw blurRad="38100" dist="38100" dir="2700000" algn="tl">
                    <a:srgbClr val="000000">
                      <a:alpha val="43137"/>
                    </a:srgbClr>
                  </a:outerShdw>
                </a:effectLst>
              </a:rPr>
              <a:t>Scanner </a:t>
            </a:r>
            <a:r>
              <a:rPr lang="fr-FR" sz="2800" b="1" u="sng" dirty="0">
                <a:solidFill>
                  <a:srgbClr val="844C83"/>
                </a:solidFill>
                <a:effectLst>
                  <a:outerShdw blurRad="38100" dist="38100" dir="2700000" algn="tl">
                    <a:srgbClr val="000000">
                      <a:alpha val="43137"/>
                    </a:srgbClr>
                  </a:outerShdw>
                </a:effectLst>
              </a:rPr>
              <a:t>cérébral :</a:t>
            </a:r>
            <a:r>
              <a:rPr lang="fr-FR" sz="2800" b="1" dirty="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2" name="Picture 1"/>
          <p:cNvPicPr>
            <a:picLocks noChangeAspect="1"/>
          </p:cNvPicPr>
          <p:nvPr/>
        </p:nvPicPr>
        <p:blipFill>
          <a:blip r:embed="rId2"/>
          <a:stretch>
            <a:fillRect/>
          </a:stretch>
        </p:blipFill>
        <p:spPr>
          <a:xfrm>
            <a:off x="3513760" y="2969231"/>
            <a:ext cx="3902357" cy="3508625"/>
          </a:xfrm>
          <a:prstGeom prst="rect">
            <a:avLst/>
          </a:prstGeom>
        </p:spPr>
      </p:pic>
    </p:spTree>
    <p:extLst>
      <p:ext uri="{BB962C8B-B14F-4D97-AF65-F5344CB8AC3E}">
        <p14:creationId xmlns:p14="http://schemas.microsoft.com/office/powerpoint/2010/main" val="228788545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1030591"/>
          </a:xfrm>
        </p:spPr>
        <p:txBody>
          <a:bodyPr/>
          <a:lstStyle/>
          <a:p>
            <a:pPr marL="0" indent="0">
              <a:buNone/>
            </a:pPr>
            <a:r>
              <a:rPr lang="fr-FR" dirty="0"/>
              <a:t>Il donne un élément prédictif selon les critères </a:t>
            </a:r>
            <a:r>
              <a:rPr lang="fr-FR" dirty="0" smtClean="0"/>
              <a:t>décrits ci-dessous par </a:t>
            </a:r>
            <a:r>
              <a:rPr lang="fr-FR" dirty="0"/>
              <a:t>Fisher </a:t>
            </a:r>
          </a:p>
        </p:txBody>
      </p:sp>
      <p:sp>
        <p:nvSpPr>
          <p:cNvPr id="4" name="Title 1"/>
          <p:cNvSpPr>
            <a:spLocks noGrp="1"/>
          </p:cNvSpPr>
          <p:nvPr>
            <p:ph type="title"/>
          </p:nvPr>
        </p:nvSpPr>
        <p:spPr>
          <a:xfrm>
            <a:off x="0" y="-77894"/>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a:t>
            </a:r>
            <a:r>
              <a:rPr lang="fr-FR" sz="2800" b="1" u="sng" dirty="0" smtClean="0">
                <a:solidFill>
                  <a:srgbClr val="844C83"/>
                </a:solidFill>
                <a:effectLst>
                  <a:outerShdw blurRad="38100" dist="38100" dir="2700000" algn="tl">
                    <a:srgbClr val="000000">
                      <a:alpha val="43137"/>
                    </a:srgbClr>
                  </a:outerShdw>
                </a:effectLst>
              </a:rPr>
              <a:t>Scanner </a:t>
            </a:r>
            <a:r>
              <a:rPr lang="fr-FR" sz="2800" b="1" u="sng" dirty="0">
                <a:solidFill>
                  <a:srgbClr val="844C83"/>
                </a:solidFill>
                <a:effectLst>
                  <a:outerShdw blurRad="38100" dist="38100" dir="2700000" algn="tl">
                    <a:srgbClr val="000000">
                      <a:alpha val="43137"/>
                    </a:srgbClr>
                  </a:outerShdw>
                </a:effectLst>
              </a:rPr>
              <a:t>cérébral :</a:t>
            </a:r>
            <a:r>
              <a:rPr lang="fr-FR" sz="2800" b="1" dirty="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graphicFrame>
        <p:nvGraphicFramePr>
          <p:cNvPr id="7" name="Table 6"/>
          <p:cNvGraphicFramePr>
            <a:graphicFrameLocks noGrp="1"/>
          </p:cNvGraphicFramePr>
          <p:nvPr>
            <p:extLst>
              <p:ext uri="{D42A27DB-BD31-4B8C-83A1-F6EECF244321}">
                <p14:modId xmlns:p14="http://schemas.microsoft.com/office/powerpoint/2010/main" val="3433285741"/>
              </p:ext>
            </p:extLst>
          </p:nvPr>
        </p:nvGraphicFramePr>
        <p:xfrm>
          <a:off x="1438382" y="2770805"/>
          <a:ext cx="5804899" cy="3147108"/>
        </p:xfrm>
        <a:graphic>
          <a:graphicData uri="http://schemas.openxmlformats.org/drawingml/2006/table">
            <a:tbl>
              <a:tblPr firstRow="1" firstCol="1" bandRow="1">
                <a:tableStyleId>{5940675A-B579-460E-94D1-54222C63F5DA}</a:tableStyleId>
              </a:tblPr>
              <a:tblGrid>
                <a:gridCol w="1267857"/>
                <a:gridCol w="4537042"/>
              </a:tblGrid>
              <a:tr h="441710">
                <a:tc>
                  <a:txBody>
                    <a:bodyPr/>
                    <a:lstStyle/>
                    <a:p>
                      <a:pPr algn="ctr">
                        <a:lnSpc>
                          <a:spcPct val="115000"/>
                        </a:lnSpc>
                        <a:spcAft>
                          <a:spcPts val="0"/>
                        </a:spcAft>
                      </a:pPr>
                      <a:r>
                        <a:rPr lang="fr-FR" sz="2000" b="1" dirty="0">
                          <a:effectLst/>
                        </a:rPr>
                        <a:t>Grade </a:t>
                      </a:r>
                      <a:endParaRPr lang="fr-FR" sz="16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fr-FR" sz="2000" b="1" dirty="0">
                          <a:effectLst/>
                        </a:rPr>
                        <a:t>Aspect du scanner</a:t>
                      </a:r>
                      <a:endParaRPr lang="fr-FR" sz="16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r>
              <a:tr h="441710">
                <a:tc>
                  <a:txBody>
                    <a:bodyPr/>
                    <a:lstStyle/>
                    <a:p>
                      <a:pPr algn="ctr">
                        <a:lnSpc>
                          <a:spcPct val="115000"/>
                        </a:lnSpc>
                        <a:spcAft>
                          <a:spcPts val="0"/>
                        </a:spcAft>
                      </a:pPr>
                      <a:r>
                        <a:rPr lang="fr-FR" sz="2400" b="1" dirty="0">
                          <a:effectLst/>
                        </a:rPr>
                        <a:t>1 </a:t>
                      </a:r>
                      <a:endParaRPr lang="fr-FR" sz="1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15000"/>
                        </a:lnSpc>
                        <a:spcAft>
                          <a:spcPts val="0"/>
                        </a:spcAft>
                      </a:pPr>
                      <a:r>
                        <a:rPr lang="fr-FR" sz="2000" dirty="0">
                          <a:effectLst/>
                        </a:rPr>
                        <a:t>Absence de sang</a:t>
                      </a:r>
                      <a:endParaRPr lang="fr-FR"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r>
              <a:tr h="910989">
                <a:tc>
                  <a:txBody>
                    <a:bodyPr/>
                    <a:lstStyle/>
                    <a:p>
                      <a:pPr algn="ctr">
                        <a:lnSpc>
                          <a:spcPct val="115000"/>
                        </a:lnSpc>
                        <a:spcAft>
                          <a:spcPts val="0"/>
                        </a:spcAft>
                      </a:pPr>
                      <a:r>
                        <a:rPr lang="fr-FR" sz="2400" b="1" dirty="0">
                          <a:effectLst/>
                        </a:rPr>
                        <a:t>2 </a:t>
                      </a:r>
                      <a:endParaRPr lang="fr-FR" sz="1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15000"/>
                        </a:lnSpc>
                        <a:spcAft>
                          <a:spcPts val="0"/>
                        </a:spcAft>
                      </a:pPr>
                      <a:r>
                        <a:rPr lang="fr-FR" sz="2000" dirty="0">
                          <a:effectLst/>
                        </a:rPr>
                        <a:t>Dépôts de moins de 1 mm d’épaisseur</a:t>
                      </a:r>
                      <a:endParaRPr lang="fr-FR"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r>
              <a:tr h="441710">
                <a:tc>
                  <a:txBody>
                    <a:bodyPr/>
                    <a:lstStyle/>
                    <a:p>
                      <a:pPr algn="ctr">
                        <a:lnSpc>
                          <a:spcPct val="115000"/>
                        </a:lnSpc>
                        <a:spcAft>
                          <a:spcPts val="0"/>
                        </a:spcAft>
                      </a:pPr>
                      <a:r>
                        <a:rPr lang="fr-FR" sz="2400" b="1" dirty="0">
                          <a:effectLst/>
                        </a:rPr>
                        <a:t>3 </a:t>
                      </a:r>
                      <a:endParaRPr lang="fr-FR" sz="1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15000"/>
                        </a:lnSpc>
                        <a:spcAft>
                          <a:spcPts val="0"/>
                        </a:spcAft>
                      </a:pPr>
                      <a:r>
                        <a:rPr lang="fr-FR" sz="2000" dirty="0">
                          <a:effectLst/>
                        </a:rPr>
                        <a:t>Dépôts de plus de 1 mm d’épaisseur</a:t>
                      </a:r>
                      <a:endParaRPr lang="fr-FR"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r>
              <a:tr h="910989">
                <a:tc>
                  <a:txBody>
                    <a:bodyPr/>
                    <a:lstStyle/>
                    <a:p>
                      <a:pPr algn="ctr">
                        <a:lnSpc>
                          <a:spcPct val="115000"/>
                        </a:lnSpc>
                        <a:spcAft>
                          <a:spcPts val="0"/>
                        </a:spcAft>
                      </a:pPr>
                      <a:r>
                        <a:rPr lang="fr-FR" sz="2400" b="1" dirty="0">
                          <a:effectLst/>
                        </a:rPr>
                        <a:t>4 </a:t>
                      </a:r>
                      <a:endParaRPr lang="fr-FR" sz="1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15000"/>
                        </a:lnSpc>
                        <a:spcAft>
                          <a:spcPts val="0"/>
                        </a:spcAft>
                      </a:pPr>
                      <a:r>
                        <a:rPr lang="fr-FR" sz="2000" dirty="0">
                          <a:effectLst/>
                        </a:rPr>
                        <a:t>Hématome parenchymateux ou hémorragie ventriculaire</a:t>
                      </a:r>
                      <a:endParaRPr lang="fr-FR"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r>
            </a:tbl>
          </a:graphicData>
        </a:graphic>
      </p:graphicFrame>
      <p:pic>
        <p:nvPicPr>
          <p:cNvPr id="8" name="Picture 7"/>
          <p:cNvPicPr>
            <a:picLocks noChangeAspect="1"/>
          </p:cNvPicPr>
          <p:nvPr/>
        </p:nvPicPr>
        <p:blipFill>
          <a:blip r:embed="rId3"/>
          <a:stretch>
            <a:fillRect/>
          </a:stretch>
        </p:blipFill>
        <p:spPr>
          <a:xfrm>
            <a:off x="7561803" y="2729752"/>
            <a:ext cx="4161010" cy="3177888"/>
          </a:xfrm>
          <a:prstGeom prst="rect">
            <a:avLst/>
          </a:prstGeom>
        </p:spPr>
      </p:pic>
    </p:spTree>
    <p:extLst>
      <p:ext uri="{BB962C8B-B14F-4D97-AF65-F5344CB8AC3E}">
        <p14:creationId xmlns:p14="http://schemas.microsoft.com/office/powerpoint/2010/main" val="8544567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6449" y="1825625"/>
            <a:ext cx="11239929" cy="1492928"/>
          </a:xfrm>
        </p:spPr>
        <p:txBody>
          <a:bodyPr/>
          <a:lstStyle/>
          <a:p>
            <a:pPr marL="0" indent="0">
              <a:buNone/>
            </a:pPr>
            <a:r>
              <a:rPr lang="fr-FR" dirty="0"/>
              <a:t>Il peut être associé à </a:t>
            </a:r>
            <a:r>
              <a:rPr lang="fr-FR" dirty="0">
                <a:solidFill>
                  <a:srgbClr val="C00000"/>
                </a:solidFill>
              </a:rPr>
              <a:t>une injection de produit</a:t>
            </a:r>
            <a:r>
              <a:rPr lang="fr-FR" dirty="0"/>
              <a:t> de contraste pour la réalisation d’un </a:t>
            </a:r>
            <a:r>
              <a:rPr lang="fr-FR" b="1" dirty="0">
                <a:solidFill>
                  <a:srgbClr val="C00000"/>
                </a:solidFill>
              </a:rPr>
              <a:t>angioscanner </a:t>
            </a:r>
            <a:r>
              <a:rPr lang="fr-FR" dirty="0"/>
              <a:t>qui montre avec précision les anévrysmes situes au niveau du polygone de Willis </a:t>
            </a:r>
          </a:p>
        </p:txBody>
      </p:sp>
      <p:sp>
        <p:nvSpPr>
          <p:cNvPr id="4" name="Title 1"/>
          <p:cNvSpPr>
            <a:spLocks noGrp="1"/>
          </p:cNvSpPr>
          <p:nvPr>
            <p:ph type="title"/>
          </p:nvPr>
        </p:nvSpPr>
        <p:spPr>
          <a:xfrm>
            <a:off x="0" y="-77894"/>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14885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a:t>
            </a:r>
            <a:r>
              <a:rPr lang="fr-FR" sz="2800" b="1" u="sng" dirty="0" smtClean="0">
                <a:solidFill>
                  <a:srgbClr val="844C83"/>
                </a:solidFill>
                <a:effectLst>
                  <a:outerShdw blurRad="38100" dist="38100" dir="2700000" algn="tl">
                    <a:srgbClr val="000000">
                      <a:alpha val="43137"/>
                    </a:srgbClr>
                  </a:outerShdw>
                </a:effectLst>
              </a:rPr>
              <a:t>Scanner </a:t>
            </a:r>
            <a:r>
              <a:rPr lang="fr-FR" sz="2800" b="1" u="sng" dirty="0">
                <a:solidFill>
                  <a:srgbClr val="844C83"/>
                </a:solidFill>
                <a:effectLst>
                  <a:outerShdw blurRad="38100" dist="38100" dir="2700000" algn="tl">
                    <a:srgbClr val="000000">
                      <a:alpha val="43137"/>
                    </a:srgbClr>
                  </a:outerShdw>
                </a:effectLst>
              </a:rPr>
              <a:t>cérébral :</a:t>
            </a:r>
            <a:r>
              <a:rPr lang="fr-FR" sz="2800" b="1" dirty="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7" name="Picture 6"/>
          <p:cNvPicPr/>
          <p:nvPr/>
        </p:nvPicPr>
        <p:blipFill>
          <a:blip r:embed="rId3"/>
          <a:stretch>
            <a:fillRect/>
          </a:stretch>
        </p:blipFill>
        <p:spPr>
          <a:xfrm>
            <a:off x="3955552" y="3318554"/>
            <a:ext cx="4325420" cy="2794570"/>
          </a:xfrm>
          <a:prstGeom prst="rect">
            <a:avLst/>
          </a:prstGeom>
        </p:spPr>
      </p:pic>
      <p:sp>
        <p:nvSpPr>
          <p:cNvPr id="2" name="TextBox 1"/>
          <p:cNvSpPr txBox="1"/>
          <p:nvPr/>
        </p:nvSpPr>
        <p:spPr>
          <a:xfrm>
            <a:off x="3188416" y="6339155"/>
            <a:ext cx="6078878"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2000" dirty="0" smtClean="0"/>
              <a:t>Angioscanner montrant un anévrisme </a:t>
            </a:r>
            <a:r>
              <a:rPr lang="fr-FR" sz="2000" dirty="0" err="1" smtClean="0"/>
              <a:t>sylvien</a:t>
            </a:r>
            <a:r>
              <a:rPr lang="fr-FR" sz="2000" dirty="0" smtClean="0"/>
              <a:t> droit </a:t>
            </a:r>
            <a:endParaRPr lang="fr-FR" sz="2000" dirty="0"/>
          </a:p>
        </p:txBody>
      </p:sp>
    </p:spTree>
    <p:extLst>
      <p:ext uri="{BB962C8B-B14F-4D97-AF65-F5344CB8AC3E}">
        <p14:creationId xmlns:p14="http://schemas.microsoft.com/office/powerpoint/2010/main" val="7628858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8094" y="1825625"/>
            <a:ext cx="11188558" cy="4351338"/>
          </a:xfrm>
        </p:spPr>
        <p:txBody>
          <a:bodyPr/>
          <a:lstStyle/>
          <a:p>
            <a:pPr>
              <a:buFontTx/>
              <a:buChar char="-"/>
            </a:pPr>
            <a:r>
              <a:rPr lang="fr-FR" dirty="0" smtClean="0"/>
              <a:t>Réalisée </a:t>
            </a:r>
            <a:r>
              <a:rPr lang="fr-FR" dirty="0"/>
              <a:t>uniquement si la TDM est </a:t>
            </a:r>
            <a:r>
              <a:rPr lang="fr-FR" dirty="0" smtClean="0"/>
              <a:t>normale.</a:t>
            </a:r>
          </a:p>
          <a:p>
            <a:pPr>
              <a:buFontTx/>
              <a:buChar char="-"/>
            </a:pPr>
            <a:endParaRPr lang="fr-FR" dirty="0"/>
          </a:p>
          <a:p>
            <a:pPr>
              <a:buFontTx/>
              <a:buChar char="-"/>
            </a:pPr>
            <a:r>
              <a:rPr lang="fr-FR" dirty="0" smtClean="0"/>
              <a:t>Elle </a:t>
            </a:r>
            <a:r>
              <a:rPr lang="fr-FR" dirty="0"/>
              <a:t>est en général positive environ 12 heures après le saignement : liquide uniformément rouge dans les 3 tubes ne coagulant pas ou </a:t>
            </a:r>
            <a:r>
              <a:rPr lang="fr-FR" dirty="0" smtClean="0"/>
              <a:t>xanthochromique.</a:t>
            </a:r>
          </a:p>
          <a:p>
            <a:pPr>
              <a:buFontTx/>
              <a:buChar char="-"/>
            </a:pPr>
            <a:endParaRPr lang="fr-FR" dirty="0"/>
          </a:p>
          <a:p>
            <a:pPr>
              <a:buFontTx/>
              <a:buChar char="-"/>
            </a:pPr>
            <a:r>
              <a:rPr lang="fr-FR" dirty="0" smtClean="0"/>
              <a:t>Elle </a:t>
            </a:r>
            <a:r>
              <a:rPr lang="fr-FR" dirty="0"/>
              <a:t>est contre-indiquée en cas de coma, </a:t>
            </a:r>
            <a:endParaRPr lang="fr-FR" dirty="0" smtClean="0"/>
          </a:p>
          <a:p>
            <a:pPr marL="0" indent="0">
              <a:buNone/>
            </a:pPr>
            <a:r>
              <a:rPr lang="fr-FR" dirty="0" smtClean="0"/>
              <a:t>et </a:t>
            </a:r>
            <a:r>
              <a:rPr lang="fr-FR" dirty="0"/>
              <a:t>de déficit neurologique.</a:t>
            </a:r>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29111"/>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2- </a:t>
            </a:r>
            <a:r>
              <a:rPr lang="fr-FR" sz="2800" b="1" u="sng" dirty="0" smtClean="0">
                <a:solidFill>
                  <a:srgbClr val="844C83"/>
                </a:solidFill>
                <a:effectLst>
                  <a:outerShdw blurRad="38100" dist="38100" dir="2700000" algn="tl">
                    <a:srgbClr val="000000">
                      <a:alpha val="43137"/>
                    </a:srgbClr>
                  </a:outerShdw>
                </a:effectLst>
              </a:rPr>
              <a:t>Ponction Lombaire  </a:t>
            </a:r>
            <a:r>
              <a:rPr lang="fr-FR" sz="2800" b="1" u="sng" dirty="0">
                <a:solidFill>
                  <a:srgbClr val="844C83"/>
                </a:solidFill>
                <a:effectLst>
                  <a:outerShdw blurRad="38100" dist="38100" dir="2700000" algn="tl">
                    <a:srgbClr val="000000">
                      <a:alpha val="43137"/>
                    </a:srgbClr>
                  </a:outerShdw>
                </a:effectLst>
              </a:rPr>
              <a:t>:</a:t>
            </a:r>
            <a:r>
              <a:rPr lang="fr-FR" sz="2800" b="1" dirty="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23554" name="Picture 2" descr="https://upload.wikimedia.org/wikipedia/commons/thumb/f/fe/Wikipedian_getting_a_lumbar_puncture_%282006%29.jpg/220px-Wikipedian_getting_a_lumbar_puncture_%282006%2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5580" y="1200809"/>
            <a:ext cx="2095500" cy="15716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4"/>
          <a:stretch>
            <a:fillRect/>
          </a:stretch>
        </p:blipFill>
        <p:spPr>
          <a:xfrm>
            <a:off x="7654247" y="3719244"/>
            <a:ext cx="2589091" cy="2912723"/>
          </a:xfrm>
          <a:prstGeom prst="rect">
            <a:avLst/>
          </a:prstGeom>
        </p:spPr>
      </p:pic>
    </p:spTree>
    <p:extLst>
      <p:ext uri="{BB962C8B-B14F-4D97-AF65-F5344CB8AC3E}">
        <p14:creationId xmlns:p14="http://schemas.microsoft.com/office/powerpoint/2010/main" val="246622876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5746251" y="1238799"/>
            <a:ext cx="5524500" cy="653616"/>
          </a:xfrm>
        </p:spPr>
        <p:style>
          <a:lnRef idx="2">
            <a:schemeClr val="accent2"/>
          </a:lnRef>
          <a:fillRef idx="1">
            <a:schemeClr val="lt1"/>
          </a:fillRef>
          <a:effectRef idx="0">
            <a:schemeClr val="accent2"/>
          </a:effectRef>
          <a:fontRef idx="minor">
            <a:schemeClr val="dk1"/>
          </a:fontRef>
        </p:style>
        <p:txBody>
          <a:bodyPr>
            <a:normAutofit/>
          </a:bodyPr>
          <a:lstStyle/>
          <a:p>
            <a:pPr marL="0" indent="0" algn="ctr">
              <a:buNone/>
            </a:pPr>
            <a:r>
              <a:rPr lang="fr-FR" sz="3200" b="1" dirty="0" smtClean="0">
                <a:solidFill>
                  <a:srgbClr val="C00000"/>
                </a:solidFill>
              </a:rPr>
              <a:t>GOLD STANDARD ++++++</a:t>
            </a:r>
            <a:endParaRPr lang="fr-FR" sz="3200" b="1" dirty="0">
              <a:solidFill>
                <a:srgbClr val="C00000"/>
              </a:solidFill>
            </a:endParaRPr>
          </a:p>
        </p:txBody>
      </p:sp>
      <p:sp>
        <p:nvSpPr>
          <p:cNvPr id="5" name="Title 1"/>
          <p:cNvSpPr>
            <a:spLocks noGrp="1"/>
          </p:cNvSpPr>
          <p:nvPr>
            <p:ph type="title"/>
          </p:nvPr>
        </p:nvSpPr>
        <p:spPr>
          <a:xfrm>
            <a:off x="1" y="12747"/>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6" name="Oval 5"/>
          <p:cNvSpPr/>
          <p:nvPr/>
        </p:nvSpPr>
        <p:spPr>
          <a:xfrm>
            <a:off x="786829" y="176937"/>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7" name="TextBox 6"/>
          <p:cNvSpPr txBox="1"/>
          <p:nvPr/>
        </p:nvSpPr>
        <p:spPr>
          <a:xfrm>
            <a:off x="590765" y="1238799"/>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3- </a:t>
            </a:r>
            <a:r>
              <a:rPr lang="fr-FR" sz="2800" b="1" u="sng" dirty="0" smtClean="0">
                <a:solidFill>
                  <a:srgbClr val="844C83"/>
                </a:solidFill>
                <a:effectLst>
                  <a:outerShdw blurRad="38100" dist="38100" dir="2700000" algn="tl">
                    <a:srgbClr val="000000">
                      <a:alpha val="43137"/>
                    </a:srgbClr>
                  </a:outerShdw>
                </a:effectLst>
              </a:rPr>
              <a:t>Angiographie cérébrale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9" name="Picture 8"/>
          <p:cNvPicPr>
            <a:picLocks noChangeAspect="1"/>
          </p:cNvPicPr>
          <p:nvPr/>
        </p:nvPicPr>
        <p:blipFill>
          <a:blip r:embed="rId3"/>
          <a:stretch>
            <a:fillRect/>
          </a:stretch>
        </p:blipFill>
        <p:spPr>
          <a:xfrm>
            <a:off x="1822624" y="2312420"/>
            <a:ext cx="8359067" cy="4170571"/>
          </a:xfrm>
          <a:prstGeom prst="rect">
            <a:avLst/>
          </a:prstGeom>
        </p:spPr>
      </p:pic>
    </p:spTree>
    <p:extLst>
      <p:ext uri="{BB962C8B-B14F-4D97-AF65-F5344CB8AC3E}">
        <p14:creationId xmlns:p14="http://schemas.microsoft.com/office/powerpoint/2010/main" val="38835729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r>
              <a:rPr lang="fr-FR" b="1" dirty="0">
                <a:solidFill>
                  <a:srgbClr val="C00000"/>
                </a:solidFill>
              </a:rPr>
              <a:t>l’examen de </a:t>
            </a:r>
            <a:r>
              <a:rPr lang="fr-FR" b="1" dirty="0" smtClean="0">
                <a:solidFill>
                  <a:srgbClr val="C00000"/>
                </a:solidFill>
              </a:rPr>
              <a:t>référence</a:t>
            </a:r>
            <a:endParaRPr lang="fr-FR" b="1" dirty="0">
              <a:solidFill>
                <a:srgbClr val="C00000"/>
              </a:solidFill>
            </a:endParaRPr>
          </a:p>
          <a:p>
            <a:pPr marL="0" indent="0">
              <a:buNone/>
            </a:pPr>
            <a:r>
              <a:rPr lang="fr-FR" dirty="0"/>
              <a:t>L’angiographie doit être réalisée le plus précocement possible </a:t>
            </a:r>
            <a:r>
              <a:rPr lang="fr-FR" dirty="0" smtClean="0"/>
              <a:t>pour: </a:t>
            </a:r>
          </a:p>
          <a:p>
            <a:pPr>
              <a:buFontTx/>
              <a:buChar char="-"/>
            </a:pPr>
            <a:r>
              <a:rPr lang="fr-FR" dirty="0" smtClean="0"/>
              <a:t>confirmer </a:t>
            </a:r>
            <a:r>
              <a:rPr lang="fr-FR" dirty="0"/>
              <a:t>le diagnostic, </a:t>
            </a:r>
            <a:endParaRPr lang="fr-FR" dirty="0" smtClean="0"/>
          </a:p>
          <a:p>
            <a:pPr>
              <a:buFontTx/>
              <a:buChar char="-"/>
            </a:pPr>
            <a:r>
              <a:rPr lang="fr-FR" dirty="0" smtClean="0"/>
              <a:t>préciser </a:t>
            </a:r>
            <a:r>
              <a:rPr lang="fr-FR" dirty="0"/>
              <a:t>le siège, le volume, la forme </a:t>
            </a:r>
            <a:endParaRPr lang="fr-FR" dirty="0" smtClean="0"/>
          </a:p>
          <a:p>
            <a:pPr>
              <a:buFontTx/>
              <a:buChar char="-"/>
            </a:pPr>
            <a:r>
              <a:rPr lang="fr-FR" dirty="0" smtClean="0"/>
              <a:t>les </a:t>
            </a:r>
            <a:r>
              <a:rPr lang="fr-FR" dirty="0"/>
              <a:t>rapports vasculaires de l’anévrysme, </a:t>
            </a:r>
            <a:endParaRPr lang="fr-FR" dirty="0" smtClean="0"/>
          </a:p>
          <a:p>
            <a:pPr>
              <a:buFontTx/>
              <a:buChar char="-"/>
            </a:pPr>
            <a:r>
              <a:rPr lang="fr-FR" dirty="0" smtClean="0"/>
              <a:t>et </a:t>
            </a:r>
            <a:r>
              <a:rPr lang="fr-FR" dirty="0"/>
              <a:t>visualiser le spasme (existence, étendue, siège).</a:t>
            </a:r>
            <a:br>
              <a:rPr lang="fr-FR" dirty="0"/>
            </a:br>
            <a:endParaRPr lang="fr-FR" dirty="0" smtClean="0"/>
          </a:p>
          <a:p>
            <a:pPr marL="0" indent="0">
              <a:buNone/>
            </a:pPr>
            <a:r>
              <a:rPr lang="fr-FR" dirty="0" smtClean="0"/>
              <a:t>L’examen</a:t>
            </a:r>
            <a:r>
              <a:rPr lang="fr-FR" dirty="0"/>
              <a:t>, s’il ne visualise aucun anévrysme, doit être renouvelé́ au 7ème jour.</a:t>
            </a:r>
          </a:p>
          <a:p>
            <a:pPr marL="0" indent="0">
              <a:buNone/>
            </a:pPr>
            <a:endParaRPr lang="fr-FR" b="1" dirty="0">
              <a:solidFill>
                <a:srgbClr val="C00000"/>
              </a:solidFill>
            </a:endParaRPr>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3- </a:t>
            </a:r>
            <a:r>
              <a:rPr lang="fr-FR" sz="2800" b="1" u="sng" dirty="0" smtClean="0">
                <a:solidFill>
                  <a:srgbClr val="844C83"/>
                </a:solidFill>
                <a:effectLst>
                  <a:outerShdw blurRad="38100" dist="38100" dir="2700000" algn="tl">
                    <a:srgbClr val="000000">
                      <a:alpha val="43137"/>
                    </a:srgbClr>
                  </a:outerShdw>
                </a:effectLst>
              </a:rPr>
              <a:t>Angiographie cérébrale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9" name="Picture 8"/>
          <p:cNvPicPr>
            <a:picLocks noChangeAspect="1"/>
          </p:cNvPicPr>
          <p:nvPr/>
        </p:nvPicPr>
        <p:blipFill>
          <a:blip r:embed="rId2"/>
          <a:stretch>
            <a:fillRect/>
          </a:stretch>
        </p:blipFill>
        <p:spPr>
          <a:xfrm>
            <a:off x="8820363" y="2996789"/>
            <a:ext cx="2533437" cy="2153310"/>
          </a:xfrm>
          <a:prstGeom prst="rect">
            <a:avLst/>
          </a:prstGeom>
        </p:spPr>
      </p:pic>
      <p:pic>
        <p:nvPicPr>
          <p:cNvPr id="10" name="Picture 9"/>
          <p:cNvPicPr>
            <a:picLocks noChangeAspect="1"/>
          </p:cNvPicPr>
          <p:nvPr/>
        </p:nvPicPr>
        <p:blipFill>
          <a:blip r:embed="rId3"/>
          <a:stretch>
            <a:fillRect/>
          </a:stretch>
        </p:blipFill>
        <p:spPr>
          <a:xfrm>
            <a:off x="10603786" y="803857"/>
            <a:ext cx="1500027" cy="1713519"/>
          </a:xfrm>
          <a:prstGeom prst="rect">
            <a:avLst/>
          </a:prstGeom>
        </p:spPr>
      </p:pic>
    </p:spTree>
    <p:extLst>
      <p:ext uri="{BB962C8B-B14F-4D97-AF65-F5344CB8AC3E}">
        <p14:creationId xmlns:p14="http://schemas.microsoft.com/office/powerpoint/2010/main" val="200760350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fr-FR" dirty="0"/>
              <a:t>Elle objective :</a:t>
            </a:r>
            <a:br>
              <a:rPr lang="fr-FR" dirty="0"/>
            </a:br>
            <a:r>
              <a:rPr lang="fr-FR" dirty="0" smtClean="0"/>
              <a:t>- Un </a:t>
            </a:r>
            <a:r>
              <a:rPr lang="fr-FR" dirty="0"/>
              <a:t>ou plusieurs anévrismes artériels, </a:t>
            </a:r>
            <a:endParaRPr lang="fr-FR" dirty="0" smtClean="0"/>
          </a:p>
          <a:p>
            <a:pPr>
              <a:buFontTx/>
              <a:buChar char="-"/>
            </a:pPr>
            <a:r>
              <a:rPr lang="fr-FR" dirty="0" smtClean="0"/>
              <a:t>Une </a:t>
            </a:r>
            <a:r>
              <a:rPr lang="fr-FR" dirty="0"/>
              <a:t>malformation artério-veineuse </a:t>
            </a:r>
            <a:r>
              <a:rPr lang="fr-FR" dirty="0" smtClean="0"/>
              <a:t>;</a:t>
            </a:r>
          </a:p>
          <a:p>
            <a:pPr>
              <a:buFontTx/>
              <a:buChar char="-"/>
            </a:pPr>
            <a:r>
              <a:rPr lang="fr-FR" dirty="0" smtClean="0"/>
              <a:t>Un </a:t>
            </a:r>
            <a:r>
              <a:rPr lang="fr-FR" dirty="0"/>
              <a:t>éventuel spasme (près du siège, à distance, isolé ou, diffus).</a:t>
            </a:r>
          </a:p>
        </p:txBody>
      </p:sp>
      <p:sp>
        <p:nvSpPr>
          <p:cNvPr id="4" name="Title 1"/>
          <p:cNvSpPr>
            <a:spLocks noGrp="1"/>
          </p:cNvSpPr>
          <p:nvPr>
            <p:ph type="title"/>
          </p:nvPr>
        </p:nvSpPr>
        <p:spPr>
          <a:xfrm>
            <a:off x="0" y="-251050"/>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3- </a:t>
            </a:r>
            <a:r>
              <a:rPr lang="fr-FR" sz="2800" b="1" u="sng" dirty="0" smtClean="0">
                <a:solidFill>
                  <a:srgbClr val="844C83"/>
                </a:solidFill>
                <a:effectLst>
                  <a:outerShdw blurRad="38100" dist="38100" dir="2700000" algn="tl">
                    <a:srgbClr val="000000">
                      <a:alpha val="43137"/>
                    </a:srgbClr>
                  </a:outerShdw>
                </a:effectLst>
              </a:rPr>
              <a:t>Angiographie cérébrale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6728550"/>
              </p:ext>
            </p:extLst>
          </p:nvPr>
        </p:nvGraphicFramePr>
        <p:xfrm>
          <a:off x="3976063" y="3937921"/>
          <a:ext cx="3195299" cy="2239042"/>
        </p:xfrm>
        <a:graphic>
          <a:graphicData uri="http://schemas.openxmlformats.org/presentationml/2006/ole">
            <mc:AlternateContent xmlns:mc="http://schemas.openxmlformats.org/markup-compatibility/2006">
              <mc:Choice xmlns:v="urn:schemas-microsoft-com:vml" Requires="v">
                <p:oleObj spid="_x0000_s24621" name="Bitmap Image" r:id="rId4" imgW="870120" imgH="609480" progId="Paint.Picture">
                  <p:embed/>
                </p:oleObj>
              </mc:Choice>
              <mc:Fallback>
                <p:oleObj name="Bitmap Image" r:id="rId4" imgW="870120" imgH="609480" progId="Paint.Picture">
                  <p:embed/>
                  <p:pic>
                    <p:nvPicPr>
                      <p:cNvPr id="0" name=""/>
                      <p:cNvPicPr/>
                      <p:nvPr/>
                    </p:nvPicPr>
                    <p:blipFill>
                      <a:blip r:embed="rId5"/>
                      <a:stretch>
                        <a:fillRect/>
                      </a:stretch>
                    </p:blipFill>
                    <p:spPr>
                      <a:xfrm>
                        <a:off x="3976063" y="3937921"/>
                        <a:ext cx="3195299" cy="2239042"/>
                      </a:xfrm>
                      <a:prstGeom prst="rect">
                        <a:avLst/>
                      </a:prstGeom>
                    </p:spPr>
                  </p:pic>
                </p:oleObj>
              </mc:Fallback>
            </mc:AlternateContent>
          </a:graphicData>
        </a:graphic>
      </p:graphicFrame>
    </p:spTree>
    <p:extLst>
      <p:ext uri="{BB962C8B-B14F-4D97-AF65-F5344CB8AC3E}">
        <p14:creationId xmlns:p14="http://schemas.microsoft.com/office/powerpoint/2010/main" val="55577768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4531" y="1743433"/>
            <a:ext cx="11281024" cy="2150474"/>
          </a:xfrm>
        </p:spPr>
        <p:txBody>
          <a:bodyPr/>
          <a:lstStyle/>
          <a:p>
            <a:pPr marL="0" indent="0">
              <a:buNone/>
            </a:pPr>
            <a:r>
              <a:rPr lang="fr-FR" dirty="0"/>
              <a:t>L’angiographie permet également la réalisation d’un </a:t>
            </a:r>
            <a:r>
              <a:rPr lang="fr-FR" dirty="0" smtClean="0"/>
              <a:t>geste thérapeutique </a:t>
            </a:r>
            <a:r>
              <a:rPr lang="fr-FR" dirty="0" err="1" smtClean="0"/>
              <a:t>endo</a:t>
            </a:r>
            <a:r>
              <a:rPr lang="fr-FR" dirty="0" smtClean="0"/>
              <a:t>-vasculaire</a:t>
            </a:r>
            <a:r>
              <a:rPr lang="fr-FR" dirty="0"/>
              <a:t/>
            </a:r>
            <a:br>
              <a:rPr lang="fr-FR" dirty="0"/>
            </a:br>
            <a:r>
              <a:rPr lang="fr-FR" dirty="0">
                <a:solidFill>
                  <a:srgbClr val="C00000"/>
                </a:solidFill>
              </a:rPr>
              <a:t>-</a:t>
            </a:r>
            <a:r>
              <a:rPr lang="fr-FR" dirty="0"/>
              <a:t> </a:t>
            </a:r>
            <a:r>
              <a:rPr lang="fr-FR" dirty="0">
                <a:solidFill>
                  <a:srgbClr val="C00000"/>
                </a:solidFill>
              </a:rPr>
              <a:t>Occlusion de l’anévrysme </a:t>
            </a:r>
            <a:r>
              <a:rPr lang="fr-FR" dirty="0"/>
              <a:t>par </a:t>
            </a:r>
            <a:r>
              <a:rPr lang="fr-FR" dirty="0" err="1"/>
              <a:t>microcoils</a:t>
            </a:r>
            <a:r>
              <a:rPr lang="fr-FR" dirty="0"/>
              <a:t> : Embolisation</a:t>
            </a:r>
            <a:br>
              <a:rPr lang="fr-FR" dirty="0"/>
            </a:br>
            <a:r>
              <a:rPr lang="fr-FR" dirty="0">
                <a:solidFill>
                  <a:srgbClr val="C00000"/>
                </a:solidFill>
              </a:rPr>
              <a:t>-</a:t>
            </a:r>
            <a:r>
              <a:rPr lang="fr-FR" dirty="0"/>
              <a:t> </a:t>
            </a:r>
            <a:r>
              <a:rPr lang="fr-FR" dirty="0" smtClean="0">
                <a:solidFill>
                  <a:srgbClr val="C00000"/>
                </a:solidFill>
              </a:rPr>
              <a:t>Dilatation </a:t>
            </a:r>
            <a:r>
              <a:rPr lang="fr-FR" dirty="0">
                <a:solidFill>
                  <a:srgbClr val="C00000"/>
                </a:solidFill>
              </a:rPr>
              <a:t>d’un </a:t>
            </a:r>
            <a:r>
              <a:rPr lang="fr-FR" dirty="0" err="1">
                <a:solidFill>
                  <a:srgbClr val="C00000"/>
                </a:solidFill>
              </a:rPr>
              <a:t>vasospasme</a:t>
            </a:r>
            <a:r>
              <a:rPr lang="fr-FR" dirty="0">
                <a:solidFill>
                  <a:srgbClr val="C00000"/>
                </a:solidFill>
              </a:rPr>
              <a:t> </a:t>
            </a:r>
            <a:r>
              <a:rPr lang="fr-FR" dirty="0"/>
              <a:t>par injection in situ de vasodilatateurs et/ou </a:t>
            </a:r>
            <a:r>
              <a:rPr lang="fr-FR" dirty="0" smtClean="0"/>
              <a:t>par dilatation </a:t>
            </a:r>
            <a:r>
              <a:rPr lang="fr-FR" dirty="0"/>
              <a:t>à l’aide d’un ballonnet </a:t>
            </a:r>
            <a:r>
              <a:rPr lang="fr-FR" dirty="0" err="1"/>
              <a:t>endoluminal</a:t>
            </a:r>
            <a:r>
              <a:rPr lang="fr-FR" dirty="0"/>
              <a:t>.</a:t>
            </a:r>
          </a:p>
        </p:txBody>
      </p:sp>
      <p:sp>
        <p:nvSpPr>
          <p:cNvPr id="4" name="Title 1"/>
          <p:cNvSpPr>
            <a:spLocks noGrp="1"/>
          </p:cNvSpPr>
          <p:nvPr>
            <p:ph type="title"/>
          </p:nvPr>
        </p:nvSpPr>
        <p:spPr>
          <a:xfrm>
            <a:off x="0" y="-251050"/>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97812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3- </a:t>
            </a:r>
            <a:r>
              <a:rPr lang="fr-FR" sz="2800" b="1" u="sng" dirty="0" smtClean="0">
                <a:solidFill>
                  <a:srgbClr val="844C83"/>
                </a:solidFill>
                <a:effectLst>
                  <a:outerShdw blurRad="38100" dist="38100" dir="2700000" algn="tl">
                    <a:srgbClr val="000000">
                      <a:alpha val="43137"/>
                    </a:srgbClr>
                  </a:outerShdw>
                </a:effectLst>
              </a:rPr>
              <a:t>Angiographie cérébrale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7" name="Picture 6"/>
          <p:cNvPicPr>
            <a:picLocks noChangeAspect="1"/>
          </p:cNvPicPr>
          <p:nvPr/>
        </p:nvPicPr>
        <p:blipFill>
          <a:blip r:embed="rId2"/>
          <a:stretch>
            <a:fillRect/>
          </a:stretch>
        </p:blipFill>
        <p:spPr>
          <a:xfrm>
            <a:off x="2900736" y="3988372"/>
            <a:ext cx="5363110" cy="2489483"/>
          </a:xfrm>
          <a:prstGeom prst="rect">
            <a:avLst/>
          </a:prstGeom>
        </p:spPr>
      </p:pic>
    </p:spTree>
    <p:extLst>
      <p:ext uri="{BB962C8B-B14F-4D97-AF65-F5344CB8AC3E}">
        <p14:creationId xmlns:p14="http://schemas.microsoft.com/office/powerpoint/2010/main" val="34809427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009" y="1866722"/>
            <a:ext cx="10515600" cy="4351338"/>
          </a:xfrm>
        </p:spPr>
        <p:txBody>
          <a:bodyPr/>
          <a:lstStyle/>
          <a:p>
            <a:r>
              <a:rPr lang="fr-FR" dirty="0"/>
              <a:t>Elle est </a:t>
            </a:r>
            <a:r>
              <a:rPr lang="fr-FR" dirty="0">
                <a:solidFill>
                  <a:srgbClr val="C00000"/>
                </a:solidFill>
              </a:rPr>
              <a:t>peu utilisée</a:t>
            </a:r>
            <a:r>
              <a:rPr lang="fr-FR" dirty="0"/>
              <a:t> à la phase aiguë car peut méconnaitre l’HSA.</a:t>
            </a:r>
            <a:br>
              <a:rPr lang="fr-FR" dirty="0"/>
            </a:br>
            <a:endParaRPr lang="fr-FR" dirty="0" smtClean="0"/>
          </a:p>
          <a:p>
            <a:r>
              <a:rPr lang="fr-FR" dirty="0" smtClean="0"/>
              <a:t>L’angio-IRM </a:t>
            </a:r>
            <a:r>
              <a:rPr lang="fr-FR" dirty="0"/>
              <a:t>par injection de gadolinium permet la mise en </a:t>
            </a:r>
            <a:endParaRPr lang="fr-FR" dirty="0" smtClean="0"/>
          </a:p>
          <a:p>
            <a:pPr marL="0" indent="0">
              <a:buNone/>
            </a:pPr>
            <a:r>
              <a:rPr lang="fr-FR" dirty="0" smtClean="0"/>
              <a:t>évidence </a:t>
            </a:r>
            <a:r>
              <a:rPr lang="fr-FR" dirty="0"/>
              <a:t>directe de l’anévrysme (volume, localisation fonctionnelle). </a:t>
            </a:r>
            <a:endParaRPr lang="fr-FR" dirty="0" smtClean="0"/>
          </a:p>
          <a:p>
            <a:endParaRPr lang="fr-FR" dirty="0"/>
          </a:p>
          <a:p>
            <a:r>
              <a:rPr lang="fr-FR" dirty="0" smtClean="0"/>
              <a:t>Elle </a:t>
            </a:r>
            <a:r>
              <a:rPr lang="fr-FR" dirty="0"/>
              <a:t>ne permet pas de réaliser de geste thérapeutique.</a:t>
            </a:r>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700697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4- </a:t>
            </a:r>
            <a:r>
              <a:rPr lang="fr-FR" sz="2800" b="1" u="sng" dirty="0" smtClean="0">
                <a:solidFill>
                  <a:srgbClr val="844C83"/>
                </a:solidFill>
                <a:effectLst>
                  <a:outerShdw blurRad="38100" dist="38100" dir="2700000" algn="tl">
                    <a:srgbClr val="000000">
                      <a:alpha val="43137"/>
                    </a:srgbClr>
                  </a:outerShdw>
                </a:effectLst>
              </a:rPr>
              <a:t>imagerie par résonance magnétique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26626" name="Picture 2" descr="Hypersignal dans l'espace sous-arachnoïdie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72782" y="1360347"/>
            <a:ext cx="2219218" cy="28520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stretch>
            <a:fillRect/>
          </a:stretch>
        </p:blipFill>
        <p:spPr>
          <a:xfrm>
            <a:off x="2860526" y="4880519"/>
            <a:ext cx="2666971" cy="1889812"/>
          </a:xfrm>
          <a:prstGeom prst="rect">
            <a:avLst/>
          </a:prstGeom>
        </p:spPr>
      </p:pic>
      <p:pic>
        <p:nvPicPr>
          <p:cNvPr id="8" name="Picture 7"/>
          <p:cNvPicPr>
            <a:picLocks noChangeAspect="1"/>
          </p:cNvPicPr>
          <p:nvPr/>
        </p:nvPicPr>
        <p:blipFill>
          <a:blip r:embed="rId4"/>
          <a:stretch>
            <a:fillRect/>
          </a:stretch>
        </p:blipFill>
        <p:spPr>
          <a:xfrm>
            <a:off x="7037798" y="4880519"/>
            <a:ext cx="3164441" cy="1880913"/>
          </a:xfrm>
          <a:prstGeom prst="rect">
            <a:avLst/>
          </a:prstGeom>
        </p:spPr>
      </p:pic>
    </p:spTree>
    <p:extLst>
      <p:ext uri="{BB962C8B-B14F-4D97-AF65-F5344CB8AC3E}">
        <p14:creationId xmlns:p14="http://schemas.microsoft.com/office/powerpoint/2010/main" val="269335062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1842" y="2114466"/>
            <a:ext cx="8730342" cy="737592"/>
          </a:xfrm>
        </p:spPr>
        <p:txBody>
          <a:bodyPr/>
          <a:lstStyle/>
          <a:p>
            <a:pPr marL="0" indent="0">
              <a:buNone/>
            </a:pPr>
            <a:r>
              <a:rPr lang="fr-FR" dirty="0" smtClean="0"/>
              <a:t>Elle trouve son intérêt dans le diagnostic du </a:t>
            </a:r>
            <a:r>
              <a:rPr lang="fr-FR" b="1" dirty="0" err="1" smtClean="0">
                <a:solidFill>
                  <a:srgbClr val="FF0000"/>
                </a:solidFill>
              </a:rPr>
              <a:t>cavernome</a:t>
            </a:r>
            <a:r>
              <a:rPr lang="fr-FR" b="1" dirty="0" smtClean="0">
                <a:solidFill>
                  <a:srgbClr val="FF0000"/>
                </a:solidFill>
              </a:rPr>
              <a:t> </a:t>
            </a:r>
          </a:p>
          <a:p>
            <a:endParaRPr lang="fr-FR" b="1" dirty="0">
              <a:solidFill>
                <a:srgbClr val="FF0000"/>
              </a:solidFill>
            </a:endParaRPr>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Examen Complémentaire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a:t>
            </a:r>
            <a:endParaRPr lang="fr-FR" sz="3200" dirty="0"/>
          </a:p>
        </p:txBody>
      </p:sp>
      <p:sp>
        <p:nvSpPr>
          <p:cNvPr id="6" name="TextBox 5"/>
          <p:cNvSpPr txBox="1"/>
          <p:nvPr/>
        </p:nvSpPr>
        <p:spPr>
          <a:xfrm>
            <a:off x="2537717" y="1132237"/>
            <a:ext cx="700697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4- </a:t>
            </a:r>
            <a:r>
              <a:rPr lang="fr-FR" sz="2800" b="1" u="sng" dirty="0" smtClean="0">
                <a:solidFill>
                  <a:srgbClr val="844C83"/>
                </a:solidFill>
                <a:effectLst>
                  <a:outerShdw blurRad="38100" dist="38100" dir="2700000" algn="tl">
                    <a:srgbClr val="000000">
                      <a:alpha val="43137"/>
                    </a:srgbClr>
                  </a:outerShdw>
                </a:effectLst>
              </a:rPr>
              <a:t>imagerie par résonance magnétique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pic>
        <p:nvPicPr>
          <p:cNvPr id="8" name="Picture 7"/>
          <p:cNvPicPr>
            <a:picLocks noChangeAspect="1"/>
          </p:cNvPicPr>
          <p:nvPr/>
        </p:nvPicPr>
        <p:blipFill>
          <a:blip r:embed="rId3"/>
          <a:stretch>
            <a:fillRect/>
          </a:stretch>
        </p:blipFill>
        <p:spPr>
          <a:xfrm>
            <a:off x="1275021" y="3201229"/>
            <a:ext cx="2480597" cy="2748454"/>
          </a:xfrm>
          <a:prstGeom prst="rect">
            <a:avLst/>
          </a:prstGeom>
        </p:spPr>
      </p:pic>
      <p:pic>
        <p:nvPicPr>
          <p:cNvPr id="9" name="Picture 8"/>
          <p:cNvPicPr>
            <a:picLocks noChangeAspect="1"/>
          </p:cNvPicPr>
          <p:nvPr/>
        </p:nvPicPr>
        <p:blipFill>
          <a:blip r:embed="rId4"/>
          <a:stretch>
            <a:fillRect/>
          </a:stretch>
        </p:blipFill>
        <p:spPr>
          <a:xfrm>
            <a:off x="4517572" y="3198243"/>
            <a:ext cx="3048000" cy="2751440"/>
          </a:xfrm>
          <a:prstGeom prst="rect">
            <a:avLst/>
          </a:prstGeom>
        </p:spPr>
      </p:pic>
      <p:pic>
        <p:nvPicPr>
          <p:cNvPr id="10" name="Picture 9"/>
          <p:cNvPicPr>
            <a:picLocks noChangeAspect="1"/>
          </p:cNvPicPr>
          <p:nvPr/>
        </p:nvPicPr>
        <p:blipFill>
          <a:blip r:embed="rId5"/>
          <a:stretch>
            <a:fillRect/>
          </a:stretch>
        </p:blipFill>
        <p:spPr>
          <a:xfrm>
            <a:off x="8400984" y="3165584"/>
            <a:ext cx="2277898" cy="2784099"/>
          </a:xfrm>
          <a:prstGeom prst="rect">
            <a:avLst/>
          </a:prstGeom>
        </p:spPr>
      </p:pic>
    </p:spTree>
    <p:extLst>
      <p:ext uri="{BB962C8B-B14F-4D97-AF65-F5344CB8AC3E}">
        <p14:creationId xmlns:p14="http://schemas.microsoft.com/office/powerpoint/2010/main" val="59794266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 y="33295"/>
            <a:ext cx="12191999" cy="983380"/>
          </a:xfrm>
          <a:prstGeom prst="rect">
            <a:avLst/>
          </a:prstGeom>
          <a:solidFill>
            <a:srgbClr val="844C83"/>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5400" b="1" smtClean="0">
                <a:solidFill>
                  <a:schemeClr val="bg1"/>
                </a:solidFill>
              </a:rPr>
              <a:t>Complications </a:t>
            </a:r>
            <a:endParaRPr lang="fr-FR" sz="5400" b="1" dirty="0">
              <a:solidFill>
                <a:schemeClr val="bg1"/>
              </a:solidFill>
              <a:effectLst>
                <a:outerShdw blurRad="38100" dist="38100" dir="2700000" algn="tl">
                  <a:srgbClr val="000000">
                    <a:alpha val="43137"/>
                  </a:srgbClr>
                </a:outerShdw>
              </a:effectLst>
            </a:endParaRPr>
          </a:p>
        </p:txBody>
      </p:sp>
      <p:sp>
        <p:nvSpPr>
          <p:cNvPr id="3" name="Oval 2"/>
          <p:cNvSpPr/>
          <p:nvPr/>
        </p:nvSpPr>
        <p:spPr>
          <a:xfrm>
            <a:off x="786828" y="197485"/>
            <a:ext cx="1062519"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a:t>
            </a:r>
            <a:endParaRPr lang="fr-FR" sz="3200" dirty="0"/>
          </a:p>
        </p:txBody>
      </p:sp>
      <p:sp>
        <p:nvSpPr>
          <p:cNvPr id="4" name="TextBox 3"/>
          <p:cNvSpPr txBox="1"/>
          <p:nvPr/>
        </p:nvSpPr>
        <p:spPr>
          <a:xfrm>
            <a:off x="1181528" y="2121380"/>
            <a:ext cx="3832261" cy="5232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2800" dirty="0" smtClean="0">
                <a:solidFill>
                  <a:srgbClr val="FF0000"/>
                </a:solidFill>
              </a:rPr>
              <a:t>Complications précoces </a:t>
            </a:r>
            <a:endParaRPr lang="fr-FR" sz="2800" dirty="0">
              <a:solidFill>
                <a:srgbClr val="FF0000"/>
              </a:solidFill>
            </a:endParaRPr>
          </a:p>
        </p:txBody>
      </p:sp>
      <p:sp>
        <p:nvSpPr>
          <p:cNvPr id="5" name="TextBox 4"/>
          <p:cNvSpPr txBox="1"/>
          <p:nvPr/>
        </p:nvSpPr>
        <p:spPr>
          <a:xfrm>
            <a:off x="7673081" y="2079669"/>
            <a:ext cx="3544585" cy="5232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2800" dirty="0" smtClean="0">
                <a:solidFill>
                  <a:srgbClr val="FF0000"/>
                </a:solidFill>
              </a:rPr>
              <a:t>Complications tardives  </a:t>
            </a:r>
            <a:endParaRPr lang="fr-FR" sz="2800" dirty="0">
              <a:solidFill>
                <a:srgbClr val="FF0000"/>
              </a:solidFill>
            </a:endParaRPr>
          </a:p>
        </p:txBody>
      </p:sp>
      <p:sp>
        <p:nvSpPr>
          <p:cNvPr id="6" name="TextBox 5"/>
          <p:cNvSpPr txBox="1"/>
          <p:nvPr/>
        </p:nvSpPr>
        <p:spPr>
          <a:xfrm>
            <a:off x="461479" y="3226085"/>
            <a:ext cx="5634521" cy="310854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dirty="0" smtClean="0"/>
              <a:t>1- </a:t>
            </a:r>
            <a:r>
              <a:rPr lang="fr-FR" sz="2800" dirty="0" err="1" smtClean="0"/>
              <a:t>Resaignement</a:t>
            </a:r>
            <a:r>
              <a:rPr lang="fr-FR" sz="2800" dirty="0" smtClean="0"/>
              <a:t> </a:t>
            </a:r>
          </a:p>
          <a:p>
            <a:endParaRPr lang="fr-FR" sz="2800" dirty="0" smtClean="0"/>
          </a:p>
          <a:p>
            <a:r>
              <a:rPr lang="fr-FR" sz="2800" dirty="0" smtClean="0"/>
              <a:t>2- </a:t>
            </a:r>
            <a:r>
              <a:rPr lang="fr-FR" sz="2800" dirty="0" err="1" smtClean="0"/>
              <a:t>Vasospasme</a:t>
            </a:r>
            <a:endParaRPr lang="fr-FR" sz="2800" dirty="0" smtClean="0"/>
          </a:p>
          <a:p>
            <a:r>
              <a:rPr lang="fr-FR" sz="2800" dirty="0" smtClean="0"/>
              <a:t> </a:t>
            </a:r>
          </a:p>
          <a:p>
            <a:r>
              <a:rPr lang="fr-FR" sz="2800" dirty="0" smtClean="0"/>
              <a:t>3- Hydrocéphalie aigue</a:t>
            </a:r>
          </a:p>
          <a:p>
            <a:r>
              <a:rPr lang="fr-FR" sz="2800" dirty="0" smtClean="0"/>
              <a:t> </a:t>
            </a:r>
          </a:p>
          <a:p>
            <a:r>
              <a:rPr lang="fr-FR" sz="2800" dirty="0" smtClean="0"/>
              <a:t>4- Complications hémodynamiques</a:t>
            </a:r>
            <a:endParaRPr lang="fr-FR" sz="2800" dirty="0"/>
          </a:p>
        </p:txBody>
      </p:sp>
      <p:sp>
        <p:nvSpPr>
          <p:cNvPr id="7" name="TextBox 6"/>
          <p:cNvSpPr txBox="1"/>
          <p:nvPr/>
        </p:nvSpPr>
        <p:spPr>
          <a:xfrm>
            <a:off x="7056633" y="3421295"/>
            <a:ext cx="4777483" cy="2246769"/>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sz="2800" dirty="0" smtClean="0"/>
              <a:t>1- Ischémie cérébrale retardé</a:t>
            </a:r>
          </a:p>
          <a:p>
            <a:endParaRPr lang="fr-FR" sz="2800" dirty="0"/>
          </a:p>
          <a:p>
            <a:endParaRPr lang="fr-FR" sz="2800" dirty="0" smtClean="0"/>
          </a:p>
          <a:p>
            <a:r>
              <a:rPr lang="fr-FR" sz="2800" dirty="0" smtClean="0"/>
              <a:t>2- hydrocéphalie chronique secondaire </a:t>
            </a:r>
            <a:endParaRPr lang="fr-FR" sz="2800" dirty="0"/>
          </a:p>
        </p:txBody>
      </p:sp>
      <p:sp>
        <p:nvSpPr>
          <p:cNvPr id="8" name="Left Arrow 7"/>
          <p:cNvSpPr/>
          <p:nvPr/>
        </p:nvSpPr>
        <p:spPr>
          <a:xfrm rot="18652155">
            <a:off x="3377064" y="1280467"/>
            <a:ext cx="841729" cy="384374"/>
          </a:xfrm>
          <a:prstGeom prst="leftArrow">
            <a:avLst/>
          </a:prstGeom>
          <a:solidFill>
            <a:srgbClr val="844C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Left Arrow 8"/>
          <p:cNvSpPr/>
          <p:nvPr/>
        </p:nvSpPr>
        <p:spPr>
          <a:xfrm rot="14357810">
            <a:off x="8050093" y="1275901"/>
            <a:ext cx="841729" cy="384374"/>
          </a:xfrm>
          <a:prstGeom prst="leftArrow">
            <a:avLst/>
          </a:prstGeom>
          <a:solidFill>
            <a:srgbClr val="844C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Straight Connector 10"/>
          <p:cNvCxnSpPr/>
          <p:nvPr/>
        </p:nvCxnSpPr>
        <p:spPr>
          <a:xfrm>
            <a:off x="1318087" y="2644600"/>
            <a:ext cx="3531315"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Straight Connector 11"/>
          <p:cNvCxnSpPr/>
          <p:nvPr/>
        </p:nvCxnSpPr>
        <p:spPr>
          <a:xfrm>
            <a:off x="7686351" y="2626481"/>
            <a:ext cx="3531315"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25736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 y="33295"/>
            <a:ext cx="12191999" cy="983380"/>
          </a:xfrm>
          <a:prstGeom prst="rect">
            <a:avLst/>
          </a:prstGeom>
          <a:solidFill>
            <a:srgbClr val="844C83"/>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5400" b="1" smtClean="0">
                <a:solidFill>
                  <a:schemeClr val="bg1"/>
                </a:solidFill>
              </a:rPr>
              <a:t>Complications </a:t>
            </a:r>
            <a:endParaRPr lang="fr-FR" sz="5400" b="1" dirty="0">
              <a:solidFill>
                <a:schemeClr val="bg1"/>
              </a:solidFill>
              <a:effectLst>
                <a:outerShdw blurRad="38100" dist="38100" dir="2700000" algn="tl">
                  <a:srgbClr val="000000">
                    <a:alpha val="43137"/>
                  </a:srgbClr>
                </a:outerShdw>
              </a:effectLst>
            </a:endParaRPr>
          </a:p>
        </p:txBody>
      </p:sp>
      <p:sp>
        <p:nvSpPr>
          <p:cNvPr id="3" name="Oval 2"/>
          <p:cNvSpPr/>
          <p:nvPr/>
        </p:nvSpPr>
        <p:spPr>
          <a:xfrm>
            <a:off x="786828" y="197485"/>
            <a:ext cx="1062519"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a:t>
            </a:r>
            <a:endParaRPr lang="fr-FR" sz="3200" dirty="0"/>
          </a:p>
        </p:txBody>
      </p:sp>
      <p:sp>
        <p:nvSpPr>
          <p:cNvPr id="8" name="TextBox 7"/>
          <p:cNvSpPr txBox="1"/>
          <p:nvPr/>
        </p:nvSpPr>
        <p:spPr>
          <a:xfrm>
            <a:off x="1666126" y="1366336"/>
            <a:ext cx="4633645" cy="523220"/>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FF0000"/>
                </a:solidFill>
                <a:effectLst>
                  <a:outerShdw blurRad="38100" dist="38100" dir="2700000" algn="tl">
                    <a:srgbClr val="000000">
                      <a:alpha val="43137"/>
                    </a:srgbClr>
                  </a:outerShdw>
                </a:effectLst>
              </a:rPr>
              <a:t>a- </a:t>
            </a:r>
            <a:r>
              <a:rPr lang="fr-FR" sz="2800" b="1" u="sng" dirty="0" err="1" smtClean="0">
                <a:solidFill>
                  <a:srgbClr val="FF0000"/>
                </a:solidFill>
                <a:effectLst>
                  <a:outerShdw blurRad="38100" dist="38100" dir="2700000" algn="tl">
                    <a:srgbClr val="000000">
                      <a:alpha val="43137"/>
                    </a:srgbClr>
                  </a:outerShdw>
                </a:effectLst>
              </a:rPr>
              <a:t>Resaignement</a:t>
            </a:r>
            <a:r>
              <a:rPr lang="fr-FR" sz="2800" b="1" u="sng" dirty="0" smtClean="0">
                <a:solidFill>
                  <a:srgbClr val="FF0000"/>
                </a:solidFill>
                <a:effectLst>
                  <a:outerShdw blurRad="38100" dist="38100" dir="2700000" algn="tl">
                    <a:srgbClr val="000000">
                      <a:alpha val="43137"/>
                    </a:srgbClr>
                  </a:outerShdw>
                </a:effectLst>
              </a:rPr>
              <a:t> :</a:t>
            </a:r>
            <a:r>
              <a:rPr lang="fr-FR" sz="2800" b="1" dirty="0" smtClean="0">
                <a:solidFill>
                  <a:srgbClr val="FF0000"/>
                </a:solidFill>
                <a:effectLst>
                  <a:outerShdw blurRad="38100" dist="38100" dir="2700000" algn="tl">
                    <a:srgbClr val="000000">
                      <a:alpha val="43137"/>
                    </a:srgbClr>
                  </a:outerShdw>
                </a:effectLst>
              </a:rPr>
              <a:t> </a:t>
            </a:r>
            <a:endParaRPr lang="fr-FR" sz="2800" dirty="0">
              <a:solidFill>
                <a:srgbClr val="FF0000"/>
              </a:solidFill>
              <a:effectLst>
                <a:outerShdw blurRad="38100" dist="38100" dir="2700000" algn="tl">
                  <a:srgbClr val="000000">
                    <a:alpha val="43137"/>
                  </a:srgbClr>
                </a:outerShdw>
              </a:effectLst>
            </a:endParaRPr>
          </a:p>
        </p:txBody>
      </p:sp>
      <p:sp>
        <p:nvSpPr>
          <p:cNvPr id="9" name="TextBox 8"/>
          <p:cNvSpPr txBox="1"/>
          <p:nvPr/>
        </p:nvSpPr>
        <p:spPr>
          <a:xfrm>
            <a:off x="280089" y="2312320"/>
            <a:ext cx="8137133" cy="1938992"/>
          </a:xfrm>
          <a:prstGeom prst="rect">
            <a:avLst/>
          </a:prstGeom>
          <a:noFill/>
        </p:spPr>
        <p:txBody>
          <a:bodyPr wrap="square" rtlCol="0">
            <a:spAutoFit/>
          </a:bodyPr>
          <a:lstStyle/>
          <a:p>
            <a:r>
              <a:rPr lang="fr-FR" sz="2400" dirty="0" smtClean="0"/>
              <a:t>- Estimé </a:t>
            </a:r>
            <a:r>
              <a:rPr lang="fr-FR" sz="2400" dirty="0"/>
              <a:t>à 25% dans les 2 </a:t>
            </a:r>
            <a:r>
              <a:rPr lang="fr-FR" sz="2400" dirty="0" smtClean="0"/>
              <a:t>premières semaines si anévrysme </a:t>
            </a:r>
            <a:r>
              <a:rPr lang="fr-FR" sz="2400" dirty="0"/>
              <a:t>non </a:t>
            </a:r>
            <a:r>
              <a:rPr lang="fr-FR" sz="2400" dirty="0" smtClean="0"/>
              <a:t>traité</a:t>
            </a:r>
          </a:p>
          <a:p>
            <a:r>
              <a:rPr lang="fr-FR" sz="2400" dirty="0"/>
              <a:t/>
            </a:r>
            <a:br>
              <a:rPr lang="fr-FR" sz="2400" dirty="0"/>
            </a:br>
            <a:r>
              <a:rPr lang="fr-FR" sz="2400" dirty="0" smtClean="0"/>
              <a:t>- Risque </a:t>
            </a:r>
            <a:r>
              <a:rPr lang="fr-FR" sz="2400" dirty="0"/>
              <a:t>accru d’hématome </a:t>
            </a:r>
            <a:br>
              <a:rPr lang="fr-FR" sz="2400" dirty="0"/>
            </a:br>
            <a:endParaRPr lang="fr-FR" sz="2400" dirty="0"/>
          </a:p>
        </p:txBody>
      </p:sp>
      <p:pic>
        <p:nvPicPr>
          <p:cNvPr id="10" name="Picture 9"/>
          <p:cNvPicPr>
            <a:picLocks noChangeAspect="1"/>
          </p:cNvPicPr>
          <p:nvPr/>
        </p:nvPicPr>
        <p:blipFill>
          <a:blip r:embed="rId2"/>
          <a:stretch>
            <a:fillRect/>
          </a:stretch>
        </p:blipFill>
        <p:spPr>
          <a:xfrm>
            <a:off x="9391650" y="1726942"/>
            <a:ext cx="2800350" cy="2457450"/>
          </a:xfrm>
          <a:prstGeom prst="rect">
            <a:avLst/>
          </a:prstGeom>
        </p:spPr>
      </p:pic>
      <p:pic>
        <p:nvPicPr>
          <p:cNvPr id="11" name="Picture 10"/>
          <p:cNvPicPr>
            <a:picLocks noChangeAspect="1"/>
          </p:cNvPicPr>
          <p:nvPr/>
        </p:nvPicPr>
        <p:blipFill>
          <a:blip r:embed="rId3"/>
          <a:stretch>
            <a:fillRect/>
          </a:stretch>
        </p:blipFill>
        <p:spPr>
          <a:xfrm>
            <a:off x="5063351" y="4020523"/>
            <a:ext cx="4328299" cy="2403839"/>
          </a:xfrm>
          <a:prstGeom prst="rect">
            <a:avLst/>
          </a:prstGeom>
        </p:spPr>
      </p:pic>
      <p:sp>
        <p:nvSpPr>
          <p:cNvPr id="12" name="TextBox 11"/>
          <p:cNvSpPr txBox="1"/>
          <p:nvPr/>
        </p:nvSpPr>
        <p:spPr>
          <a:xfrm>
            <a:off x="280089" y="4814617"/>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FF0000"/>
                </a:solidFill>
                <a:effectLst>
                  <a:outerShdw blurRad="38100" dist="38100" dir="2700000" algn="tl">
                    <a:srgbClr val="000000">
                      <a:alpha val="43137"/>
                    </a:srgbClr>
                  </a:outerShdw>
                </a:effectLst>
              </a:rPr>
              <a:t>Mortalité 75% des cas </a:t>
            </a:r>
            <a:endParaRPr lang="fr-FR" sz="2800" dirty="0">
              <a:solidFill>
                <a:srgbClr val="FF0000"/>
              </a:solidFill>
              <a:effectLst>
                <a:outerShdw blurRad="38100" dist="38100" dir="2700000" algn="tl">
                  <a:srgbClr val="000000">
                    <a:alpha val="43137"/>
                  </a:srgbClr>
                </a:outerShdw>
              </a:effectLst>
            </a:endParaRPr>
          </a:p>
        </p:txBody>
      </p:sp>
      <p:sp>
        <p:nvSpPr>
          <p:cNvPr id="13" name="TextBox 12"/>
          <p:cNvSpPr txBox="1"/>
          <p:nvPr/>
        </p:nvSpPr>
        <p:spPr>
          <a:xfrm>
            <a:off x="1462355" y="1306900"/>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1- </a:t>
            </a:r>
            <a:r>
              <a:rPr lang="fr-FR" sz="2800" b="1" u="sng" dirty="0" err="1" smtClean="0">
                <a:solidFill>
                  <a:srgbClr val="844C83"/>
                </a:solidFill>
                <a:effectLst>
                  <a:outerShdw blurRad="38100" dist="38100" dir="2700000" algn="tl">
                    <a:srgbClr val="000000">
                      <a:alpha val="43137"/>
                    </a:srgbClr>
                  </a:outerShdw>
                </a:effectLst>
              </a:rPr>
              <a:t>Resaignement</a:t>
            </a:r>
            <a:r>
              <a:rPr lang="fr-FR" sz="2800" b="1" u="sng" dirty="0" smtClean="0">
                <a:solidFill>
                  <a:srgbClr val="844C83"/>
                </a:solidFill>
                <a:effectLst>
                  <a:outerShdw blurRad="38100" dist="38100" dir="2700000" algn="tl">
                    <a:srgbClr val="000000">
                      <a:alpha val="43137"/>
                    </a:srgbClr>
                  </a:outerShdw>
                </a:effectLst>
              </a:rPr>
              <a:t>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5485113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 y="33295"/>
            <a:ext cx="12191999" cy="983380"/>
          </a:xfrm>
          <a:prstGeom prst="rect">
            <a:avLst/>
          </a:prstGeom>
          <a:solidFill>
            <a:srgbClr val="844C83"/>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5400" b="1" smtClean="0">
                <a:solidFill>
                  <a:schemeClr val="bg1"/>
                </a:solidFill>
              </a:rPr>
              <a:t>Complications </a:t>
            </a:r>
            <a:endParaRPr lang="fr-FR" sz="5400" b="1" dirty="0">
              <a:solidFill>
                <a:schemeClr val="bg1"/>
              </a:solidFill>
              <a:effectLst>
                <a:outerShdw blurRad="38100" dist="38100" dir="2700000" algn="tl">
                  <a:srgbClr val="000000">
                    <a:alpha val="43137"/>
                  </a:srgbClr>
                </a:outerShdw>
              </a:effectLst>
            </a:endParaRPr>
          </a:p>
        </p:txBody>
      </p:sp>
      <p:sp>
        <p:nvSpPr>
          <p:cNvPr id="3" name="Oval 2"/>
          <p:cNvSpPr/>
          <p:nvPr/>
        </p:nvSpPr>
        <p:spPr>
          <a:xfrm>
            <a:off x="786828" y="197485"/>
            <a:ext cx="1062519"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a:t>
            </a:r>
            <a:endParaRPr lang="fr-FR" sz="3200" dirty="0"/>
          </a:p>
        </p:txBody>
      </p:sp>
      <p:sp>
        <p:nvSpPr>
          <p:cNvPr id="4" name="TextBox 3"/>
          <p:cNvSpPr txBox="1"/>
          <p:nvPr/>
        </p:nvSpPr>
        <p:spPr>
          <a:xfrm>
            <a:off x="1462355" y="1306900"/>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2- </a:t>
            </a:r>
            <a:r>
              <a:rPr lang="fr-FR" sz="2800" b="1" u="sng" dirty="0" smtClean="0">
                <a:solidFill>
                  <a:srgbClr val="844C83"/>
                </a:solidFill>
                <a:effectLst>
                  <a:outerShdw blurRad="38100" dist="38100" dir="2700000" algn="tl">
                    <a:srgbClr val="000000">
                      <a:alpha val="43137"/>
                    </a:srgbClr>
                  </a:outerShdw>
                </a:effectLst>
              </a:rPr>
              <a:t>hydrocéphalie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sp>
        <p:nvSpPr>
          <p:cNvPr id="6" name="TextBox 5"/>
          <p:cNvSpPr txBox="1"/>
          <p:nvPr/>
        </p:nvSpPr>
        <p:spPr>
          <a:xfrm>
            <a:off x="427660" y="2527443"/>
            <a:ext cx="6703033" cy="3539430"/>
          </a:xfrm>
          <a:prstGeom prst="rect">
            <a:avLst/>
          </a:prstGeom>
          <a:noFill/>
        </p:spPr>
        <p:txBody>
          <a:bodyPr wrap="square" rtlCol="0">
            <a:spAutoFit/>
          </a:bodyPr>
          <a:lstStyle/>
          <a:p>
            <a:pPr marL="457200" indent="-457200">
              <a:buFontTx/>
              <a:buChar char="-"/>
            </a:pPr>
            <a:r>
              <a:rPr lang="fr-FR" sz="2800" dirty="0" smtClean="0"/>
              <a:t>Fréquente </a:t>
            </a:r>
            <a:r>
              <a:rPr lang="fr-FR" sz="2800" dirty="0"/>
              <a:t>(5 à 50</a:t>
            </a:r>
            <a:r>
              <a:rPr lang="fr-FR" sz="2800" dirty="0" smtClean="0"/>
              <a:t>%)</a:t>
            </a:r>
          </a:p>
          <a:p>
            <a:pPr marL="457200" indent="-457200">
              <a:buFontTx/>
              <a:buChar char="-"/>
            </a:pPr>
            <a:endParaRPr lang="fr-FR" sz="2800" dirty="0"/>
          </a:p>
          <a:p>
            <a:pPr marL="457200" indent="-457200">
              <a:buFontTx/>
              <a:buChar char="-"/>
            </a:pPr>
            <a:r>
              <a:rPr lang="fr-FR" sz="2800" dirty="0" smtClean="0"/>
              <a:t>Quelques </a:t>
            </a:r>
            <a:r>
              <a:rPr lang="fr-FR" sz="2800" dirty="0"/>
              <a:t>heures à quelques </a:t>
            </a:r>
            <a:r>
              <a:rPr lang="fr-FR" sz="2800" dirty="0" smtClean="0"/>
              <a:t>semaines</a:t>
            </a:r>
          </a:p>
          <a:p>
            <a:pPr marL="457200" indent="-457200">
              <a:buFontTx/>
              <a:buChar char="-"/>
            </a:pPr>
            <a:endParaRPr lang="fr-FR" sz="2800" dirty="0" smtClean="0"/>
          </a:p>
          <a:p>
            <a:pPr marL="457200" indent="-457200">
              <a:buFontTx/>
              <a:buChar char="-"/>
            </a:pPr>
            <a:endParaRPr lang="fr-FR" sz="2800" dirty="0"/>
          </a:p>
          <a:p>
            <a:pPr marL="457200" indent="-457200">
              <a:buFontTx/>
              <a:buChar char="-"/>
            </a:pPr>
            <a:endParaRPr lang="fr-FR" sz="2800" dirty="0"/>
          </a:p>
          <a:p>
            <a:pPr marL="457200" indent="-457200">
              <a:buFontTx/>
              <a:buChar char="-"/>
            </a:pPr>
            <a:r>
              <a:rPr lang="fr-FR" sz="2800" b="1" dirty="0" smtClean="0">
                <a:solidFill>
                  <a:srgbClr val="FF0000"/>
                </a:solidFill>
              </a:rPr>
              <a:t>DVE</a:t>
            </a:r>
            <a:r>
              <a:rPr lang="fr-FR" sz="2800" dirty="0" smtClean="0"/>
              <a:t> </a:t>
            </a:r>
            <a:r>
              <a:rPr lang="fr-FR" sz="2800" dirty="0"/>
              <a:t/>
            </a:r>
            <a:br>
              <a:rPr lang="fr-FR" sz="2800" dirty="0"/>
            </a:br>
            <a:endParaRPr lang="fr-FR" sz="2800" dirty="0"/>
          </a:p>
        </p:txBody>
      </p:sp>
      <p:pic>
        <p:nvPicPr>
          <p:cNvPr id="8" name="Picture 7"/>
          <p:cNvPicPr>
            <a:picLocks noChangeAspect="1"/>
          </p:cNvPicPr>
          <p:nvPr/>
        </p:nvPicPr>
        <p:blipFill>
          <a:blip r:embed="rId3"/>
          <a:stretch>
            <a:fillRect/>
          </a:stretch>
        </p:blipFill>
        <p:spPr>
          <a:xfrm>
            <a:off x="8948866" y="1830120"/>
            <a:ext cx="2616334" cy="2743341"/>
          </a:xfrm>
          <a:prstGeom prst="rect">
            <a:avLst/>
          </a:prstGeom>
        </p:spPr>
      </p:pic>
      <p:pic>
        <p:nvPicPr>
          <p:cNvPr id="9" name="Picture 8"/>
          <p:cNvPicPr/>
          <p:nvPr/>
        </p:nvPicPr>
        <p:blipFill>
          <a:blip r:embed="rId4"/>
          <a:stretch>
            <a:fillRect/>
          </a:stretch>
        </p:blipFill>
        <p:spPr>
          <a:xfrm>
            <a:off x="3894780" y="4121297"/>
            <a:ext cx="3792039" cy="2318243"/>
          </a:xfrm>
          <a:prstGeom prst="rect">
            <a:avLst/>
          </a:prstGeom>
        </p:spPr>
      </p:pic>
    </p:spTree>
    <p:extLst>
      <p:ext uri="{BB962C8B-B14F-4D97-AF65-F5344CB8AC3E}">
        <p14:creationId xmlns:p14="http://schemas.microsoft.com/office/powerpoint/2010/main" val="11334565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 y="33295"/>
            <a:ext cx="12191999" cy="983380"/>
          </a:xfrm>
          <a:prstGeom prst="rect">
            <a:avLst/>
          </a:prstGeom>
          <a:solidFill>
            <a:srgbClr val="844C83"/>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5400" b="1" smtClean="0">
                <a:solidFill>
                  <a:schemeClr val="bg1"/>
                </a:solidFill>
              </a:rPr>
              <a:t>Complications </a:t>
            </a:r>
            <a:endParaRPr lang="fr-FR" sz="5400" b="1" dirty="0">
              <a:solidFill>
                <a:schemeClr val="bg1"/>
              </a:solidFill>
              <a:effectLst>
                <a:outerShdw blurRad="38100" dist="38100" dir="2700000" algn="tl">
                  <a:srgbClr val="000000">
                    <a:alpha val="43137"/>
                  </a:srgbClr>
                </a:outerShdw>
              </a:effectLst>
            </a:endParaRPr>
          </a:p>
        </p:txBody>
      </p:sp>
      <p:sp>
        <p:nvSpPr>
          <p:cNvPr id="3" name="Oval 2"/>
          <p:cNvSpPr/>
          <p:nvPr/>
        </p:nvSpPr>
        <p:spPr>
          <a:xfrm>
            <a:off x="786828" y="197485"/>
            <a:ext cx="1062519"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a:t>
            </a:r>
            <a:endParaRPr lang="fr-FR" sz="3200" dirty="0"/>
          </a:p>
        </p:txBody>
      </p:sp>
      <p:sp>
        <p:nvSpPr>
          <p:cNvPr id="4" name="TextBox 3"/>
          <p:cNvSpPr txBox="1"/>
          <p:nvPr/>
        </p:nvSpPr>
        <p:spPr>
          <a:xfrm>
            <a:off x="1462355" y="1306900"/>
            <a:ext cx="4633645"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3- </a:t>
            </a:r>
            <a:r>
              <a:rPr lang="fr-FR" sz="2800" b="1" u="sng" dirty="0" err="1" smtClean="0">
                <a:solidFill>
                  <a:srgbClr val="844C83"/>
                </a:solidFill>
                <a:effectLst>
                  <a:outerShdw blurRad="38100" dist="38100" dir="2700000" algn="tl">
                    <a:srgbClr val="000000">
                      <a:alpha val="43137"/>
                    </a:srgbClr>
                  </a:outerShdw>
                </a:effectLst>
              </a:rPr>
              <a:t>Vasospasme</a:t>
            </a:r>
            <a:r>
              <a:rPr lang="fr-FR" sz="2800" b="1" u="sng" dirty="0" smtClean="0">
                <a:solidFill>
                  <a:srgbClr val="844C83"/>
                </a:solidFill>
                <a:effectLst>
                  <a:outerShdw blurRad="38100" dist="38100" dir="2700000" algn="tl">
                    <a:srgbClr val="000000">
                      <a:alpha val="43137"/>
                    </a:srgbClr>
                  </a:outerShdw>
                </a:effectLst>
              </a:rPr>
              <a:t>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sp>
        <p:nvSpPr>
          <p:cNvPr id="5" name="TextBox 4"/>
          <p:cNvSpPr txBox="1"/>
          <p:nvPr/>
        </p:nvSpPr>
        <p:spPr>
          <a:xfrm>
            <a:off x="297951" y="2120345"/>
            <a:ext cx="11003622" cy="4401205"/>
          </a:xfrm>
          <a:prstGeom prst="rect">
            <a:avLst/>
          </a:prstGeom>
          <a:noFill/>
        </p:spPr>
        <p:txBody>
          <a:bodyPr wrap="square" rtlCol="0">
            <a:spAutoFit/>
          </a:bodyPr>
          <a:lstStyle/>
          <a:p>
            <a:pPr marL="457200" indent="-457200">
              <a:buFontTx/>
              <a:buChar char="-"/>
            </a:pPr>
            <a:r>
              <a:rPr lang="fr-FR" sz="2800" dirty="0" smtClean="0"/>
              <a:t>Principale </a:t>
            </a:r>
            <a:r>
              <a:rPr lang="fr-FR" sz="2800" dirty="0"/>
              <a:t>cause </a:t>
            </a:r>
            <a:r>
              <a:rPr lang="fr-FR" sz="2800" dirty="0" err="1" smtClean="0"/>
              <a:t>morbi</a:t>
            </a:r>
            <a:r>
              <a:rPr lang="fr-FR" sz="2800" dirty="0" smtClean="0"/>
              <a:t>-mortalité</a:t>
            </a:r>
          </a:p>
          <a:p>
            <a:pPr marL="457200" indent="-457200">
              <a:buFontTx/>
              <a:buChar char="-"/>
            </a:pPr>
            <a:endParaRPr lang="fr-FR" sz="2800" dirty="0" smtClean="0"/>
          </a:p>
          <a:p>
            <a:pPr marL="457200" indent="-457200">
              <a:buFontTx/>
              <a:buChar char="-"/>
            </a:pPr>
            <a:r>
              <a:rPr lang="fr-FR" sz="2800" dirty="0" smtClean="0">
                <a:solidFill>
                  <a:srgbClr val="FF0000"/>
                </a:solidFill>
              </a:rPr>
              <a:t>J4 </a:t>
            </a:r>
            <a:r>
              <a:rPr lang="fr-FR" sz="2800" dirty="0">
                <a:solidFill>
                  <a:srgbClr val="FF0000"/>
                </a:solidFill>
              </a:rPr>
              <a:t>à J15 </a:t>
            </a:r>
            <a:r>
              <a:rPr lang="fr-FR" sz="2800" dirty="0"/>
              <a:t>de l’HSA </a:t>
            </a:r>
            <a:endParaRPr lang="fr-FR" sz="2800" dirty="0" smtClean="0"/>
          </a:p>
          <a:p>
            <a:pPr marL="457200" indent="-457200">
              <a:buFontTx/>
              <a:buChar char="-"/>
            </a:pPr>
            <a:endParaRPr lang="fr-FR" sz="2800" dirty="0"/>
          </a:p>
          <a:p>
            <a:pPr marL="457200" indent="-457200">
              <a:buFontTx/>
              <a:buChar char="-"/>
            </a:pPr>
            <a:r>
              <a:rPr lang="fr-FR" sz="2800" dirty="0" smtClean="0"/>
              <a:t>Réduction </a:t>
            </a:r>
            <a:r>
              <a:rPr lang="fr-FR" sz="2800" dirty="0"/>
              <a:t>du diamètre </a:t>
            </a:r>
            <a:r>
              <a:rPr lang="fr-FR" sz="2800" dirty="0" err="1"/>
              <a:t>endoluminale</a:t>
            </a:r>
            <a:r>
              <a:rPr lang="fr-FR" sz="2800" dirty="0"/>
              <a:t> </a:t>
            </a:r>
            <a:endParaRPr lang="fr-FR" sz="2800" dirty="0" smtClean="0"/>
          </a:p>
          <a:p>
            <a:r>
              <a:rPr lang="fr-FR" sz="2800" dirty="0" smtClean="0"/>
              <a:t>de </a:t>
            </a:r>
            <a:r>
              <a:rPr lang="fr-FR" sz="2800" dirty="0"/>
              <a:t>50 à 80%, </a:t>
            </a:r>
            <a:endParaRPr lang="fr-FR" sz="2800" dirty="0" smtClean="0"/>
          </a:p>
          <a:p>
            <a:endParaRPr lang="fr-FR" sz="2800" dirty="0"/>
          </a:p>
          <a:p>
            <a:pPr>
              <a:buFontTx/>
              <a:buChar char="-"/>
            </a:pPr>
            <a:r>
              <a:rPr lang="fr-FR" sz="2800" dirty="0"/>
              <a:t>    </a:t>
            </a:r>
            <a:r>
              <a:rPr lang="fr-FR" sz="2800" dirty="0" err="1" smtClean="0"/>
              <a:t>Hypoperfusion</a:t>
            </a:r>
            <a:r>
              <a:rPr lang="fr-FR" sz="2800" dirty="0" smtClean="0"/>
              <a:t> </a:t>
            </a:r>
            <a:r>
              <a:rPr lang="fr-FR" sz="2800" dirty="0"/>
              <a:t>cérébrale qui peut être </a:t>
            </a:r>
            <a:endParaRPr lang="fr-FR" sz="2800" dirty="0" smtClean="0"/>
          </a:p>
          <a:p>
            <a:r>
              <a:rPr lang="fr-FR" sz="2800" dirty="0" smtClean="0"/>
              <a:t>à </a:t>
            </a:r>
            <a:r>
              <a:rPr lang="fr-FR" sz="2800" dirty="0"/>
              <a:t>l’origine d’une </a:t>
            </a:r>
            <a:r>
              <a:rPr lang="fr-FR" sz="2800" b="1" dirty="0">
                <a:solidFill>
                  <a:srgbClr val="844C83"/>
                </a:solidFill>
                <a:effectLst>
                  <a:outerShdw blurRad="38100" dist="38100" dir="2700000" algn="tl">
                    <a:srgbClr val="000000">
                      <a:alpha val="43137"/>
                    </a:srgbClr>
                  </a:outerShdw>
                </a:effectLst>
              </a:rPr>
              <a:t>ischémie cérébrale retardée</a:t>
            </a:r>
            <a:r>
              <a:rPr lang="fr-FR" sz="2800" b="1" dirty="0" smtClean="0">
                <a:solidFill>
                  <a:srgbClr val="844C83"/>
                </a:solidFill>
                <a:effectLst>
                  <a:outerShdw blurRad="38100" dist="38100" dir="2700000" algn="tl">
                    <a:srgbClr val="000000">
                      <a:alpha val="43137"/>
                    </a:srgbClr>
                  </a:outerShdw>
                </a:effectLst>
              </a:rPr>
              <a:t>.</a:t>
            </a:r>
            <a:r>
              <a:rPr lang="fr-FR" sz="2800" dirty="0"/>
              <a:t/>
            </a:r>
            <a:br>
              <a:rPr lang="fr-FR" sz="2800" dirty="0"/>
            </a:br>
            <a:endParaRPr lang="fr-FR" sz="2800" dirty="0"/>
          </a:p>
        </p:txBody>
      </p:sp>
      <p:pic>
        <p:nvPicPr>
          <p:cNvPr id="6" name="Picture 5"/>
          <p:cNvPicPr>
            <a:picLocks noChangeAspect="1"/>
          </p:cNvPicPr>
          <p:nvPr/>
        </p:nvPicPr>
        <p:blipFill>
          <a:blip r:embed="rId3"/>
          <a:stretch>
            <a:fillRect/>
          </a:stretch>
        </p:blipFill>
        <p:spPr>
          <a:xfrm>
            <a:off x="7343829" y="2359905"/>
            <a:ext cx="4740388" cy="3362800"/>
          </a:xfrm>
          <a:prstGeom prst="rect">
            <a:avLst/>
          </a:prstGeom>
        </p:spPr>
      </p:pic>
    </p:spTree>
    <p:extLst>
      <p:ext uri="{BB962C8B-B14F-4D97-AF65-F5344CB8AC3E}">
        <p14:creationId xmlns:p14="http://schemas.microsoft.com/office/powerpoint/2010/main" val="390563271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7680" y="855227"/>
            <a:ext cx="10196637" cy="5545728"/>
          </a:xfrm>
          <a:prstGeom prst="rect">
            <a:avLst/>
          </a:prstGeom>
        </p:spPr>
      </p:pic>
      <p:sp>
        <p:nvSpPr>
          <p:cNvPr id="5"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Complications </a:t>
            </a:r>
            <a:endParaRPr lang="fr-FR" sz="5400" b="1" dirty="0">
              <a:solidFill>
                <a:schemeClr val="bg1"/>
              </a:solidFill>
              <a:effectLst>
                <a:outerShdw blurRad="38100" dist="38100" dir="2700000" algn="tl">
                  <a:srgbClr val="000000">
                    <a:alpha val="43137"/>
                  </a:srgbClr>
                </a:outerShdw>
              </a:effectLst>
            </a:endParaRPr>
          </a:p>
        </p:txBody>
      </p:sp>
      <p:sp>
        <p:nvSpPr>
          <p:cNvPr id="6" name="Oval 5"/>
          <p:cNvSpPr/>
          <p:nvPr/>
        </p:nvSpPr>
        <p:spPr>
          <a:xfrm>
            <a:off x="838199" y="0"/>
            <a:ext cx="1062519"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a:t>
            </a:r>
            <a:endParaRPr lang="fr-FR" sz="3200" dirty="0"/>
          </a:p>
        </p:txBody>
      </p:sp>
      <p:sp>
        <p:nvSpPr>
          <p:cNvPr id="7" name="TextBox 6"/>
          <p:cNvSpPr txBox="1"/>
          <p:nvPr/>
        </p:nvSpPr>
        <p:spPr>
          <a:xfrm>
            <a:off x="195207" y="6242646"/>
            <a:ext cx="9493321" cy="646331"/>
          </a:xfrm>
          <a:prstGeom prst="rect">
            <a:avLst/>
          </a:prstGeom>
          <a:noFill/>
        </p:spPr>
        <p:txBody>
          <a:bodyPr wrap="square" rtlCol="0">
            <a:spAutoFit/>
          </a:bodyPr>
          <a:lstStyle/>
          <a:p>
            <a:r>
              <a:rPr lang="fr-FR" dirty="0"/>
              <a:t>V. Legros</a:t>
            </a:r>
            <a:r>
              <a:rPr lang="fr-FR" dirty="0" smtClean="0"/>
              <a:t> , </a:t>
            </a:r>
            <a:r>
              <a:rPr lang="fr-FR" dirty="0"/>
              <a:t>Complications </a:t>
            </a:r>
            <a:r>
              <a:rPr lang="fr-FR" dirty="0" err="1"/>
              <a:t>extraneurologiques</a:t>
            </a:r>
            <a:r>
              <a:rPr lang="fr-FR" dirty="0"/>
              <a:t> des hémorragies </a:t>
            </a:r>
            <a:r>
              <a:rPr lang="fr-FR" dirty="0" err="1"/>
              <a:t>sousarachnoïdiennes</a:t>
            </a:r>
            <a:r>
              <a:rPr lang="fr-FR" dirty="0"/>
              <a:t> </a:t>
            </a:r>
            <a:r>
              <a:rPr lang="fr-FR" dirty="0" smtClean="0"/>
              <a:t>anévrismales</a:t>
            </a:r>
          </a:p>
          <a:p>
            <a:r>
              <a:rPr lang="fr-FR" dirty="0"/>
              <a:t>SRLF et Lavoisier SAS 2017</a:t>
            </a:r>
            <a:r>
              <a:rPr lang="fr-FR" dirty="0" smtClean="0"/>
              <a:t>  </a:t>
            </a:r>
            <a:endParaRPr lang="fr-FR" dirty="0"/>
          </a:p>
        </p:txBody>
      </p:sp>
      <p:cxnSp>
        <p:nvCxnSpPr>
          <p:cNvPr id="9" name="Straight Connector 8"/>
          <p:cNvCxnSpPr/>
          <p:nvPr/>
        </p:nvCxnSpPr>
        <p:spPr>
          <a:xfrm>
            <a:off x="318499" y="6304290"/>
            <a:ext cx="8928243" cy="0"/>
          </a:xfrm>
          <a:prstGeom prst="line">
            <a:avLst/>
          </a:prstGeom>
        </p:spPr>
        <p:style>
          <a:lnRef idx="3">
            <a:schemeClr val="dk1"/>
          </a:lnRef>
          <a:fillRef idx="0">
            <a:schemeClr val="dk1"/>
          </a:fillRef>
          <a:effectRef idx="2">
            <a:schemeClr val="dk1"/>
          </a:effectRef>
          <a:fontRef idx="minor">
            <a:schemeClr val="tx1"/>
          </a:fontRef>
        </p:style>
      </p:cxnSp>
      <p:sp>
        <p:nvSpPr>
          <p:cNvPr id="8" name="TextBox 7"/>
          <p:cNvSpPr txBox="1"/>
          <p:nvPr/>
        </p:nvSpPr>
        <p:spPr>
          <a:xfrm>
            <a:off x="113015" y="983380"/>
            <a:ext cx="3102796" cy="95410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fr-FR" sz="2800" b="1" dirty="0" smtClean="0">
                <a:solidFill>
                  <a:srgbClr val="844C83"/>
                </a:solidFill>
                <a:effectLst>
                  <a:outerShdw blurRad="38100" dist="38100" dir="2700000" algn="tl">
                    <a:srgbClr val="000000">
                      <a:alpha val="43137"/>
                    </a:srgbClr>
                  </a:outerShdw>
                </a:effectLst>
              </a:rPr>
              <a:t>4- </a:t>
            </a:r>
            <a:r>
              <a:rPr lang="fr-FR" sz="2800" b="1" u="sng" dirty="0" smtClean="0">
                <a:solidFill>
                  <a:srgbClr val="844C83"/>
                </a:solidFill>
                <a:effectLst>
                  <a:outerShdw blurRad="38100" dist="38100" dir="2700000" algn="tl">
                    <a:srgbClr val="000000">
                      <a:alpha val="43137"/>
                    </a:srgbClr>
                  </a:outerShdw>
                </a:effectLst>
              </a:rPr>
              <a:t>complications hémodynamiques :</a:t>
            </a:r>
            <a:r>
              <a:rPr lang="fr-FR" sz="2800" b="1" dirty="0" smtClean="0">
                <a:solidFill>
                  <a:srgbClr val="844C83"/>
                </a:solidFill>
                <a:effectLst>
                  <a:outerShdw blurRad="38100" dist="38100" dir="2700000" algn="tl">
                    <a:srgbClr val="000000">
                      <a:alpha val="43137"/>
                    </a:srgbClr>
                  </a:outerShdw>
                </a:effectLst>
              </a:rPr>
              <a:t> </a:t>
            </a:r>
            <a:endParaRPr lang="fr-FR" sz="2800"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1352439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09609"/>
            <a:ext cx="10515600" cy="5067354"/>
          </a:xfrm>
        </p:spPr>
        <p:txBody>
          <a:bodyPr/>
          <a:lstStyle/>
          <a:p>
            <a:r>
              <a:rPr lang="fr-FR" dirty="0"/>
              <a:t>Toute HSA impose </a:t>
            </a:r>
            <a:r>
              <a:rPr lang="fr-FR" dirty="0">
                <a:solidFill>
                  <a:srgbClr val="C00000"/>
                </a:solidFill>
              </a:rPr>
              <a:t>un transfert médicalisé immédiat vers un centre spécialisé</a:t>
            </a:r>
            <a:r>
              <a:rPr lang="fr-FR" dirty="0" smtClean="0">
                <a:solidFill>
                  <a:srgbClr val="C00000"/>
                </a:solidFill>
              </a:rPr>
              <a:t>.</a:t>
            </a:r>
          </a:p>
          <a:p>
            <a:endParaRPr lang="fr-FR" dirty="0"/>
          </a:p>
          <a:p>
            <a:r>
              <a:rPr lang="fr-FR" dirty="0" smtClean="0"/>
              <a:t>En </a:t>
            </a:r>
            <a:r>
              <a:rPr lang="fr-FR" dirty="0"/>
              <a:t>fonction de l’état clinique du patient, il sera hospitalisé dans une unité de soins intensifs neurologique ou </a:t>
            </a:r>
            <a:r>
              <a:rPr lang="fr-FR" dirty="0" smtClean="0"/>
              <a:t>neurochirurgical.</a:t>
            </a:r>
          </a:p>
          <a:p>
            <a:endParaRPr lang="fr-FR" u="sng" dirty="0"/>
          </a:p>
          <a:p>
            <a:r>
              <a:rPr lang="fr-FR" b="1" u="sng" dirty="0" smtClean="0">
                <a:solidFill>
                  <a:srgbClr val="844C83"/>
                </a:solidFill>
                <a:effectLst>
                  <a:outerShdw blurRad="38100" dist="38100" dir="2700000" algn="tl">
                    <a:srgbClr val="000000">
                      <a:alpha val="43137"/>
                    </a:srgbClr>
                  </a:outerShdw>
                </a:effectLst>
              </a:rPr>
              <a:t>Les </a:t>
            </a:r>
            <a:r>
              <a:rPr lang="fr-FR" b="1" u="sng" dirty="0">
                <a:solidFill>
                  <a:srgbClr val="844C83"/>
                </a:solidFill>
                <a:effectLst>
                  <a:outerShdw blurRad="38100" dist="38100" dir="2700000" algn="tl">
                    <a:srgbClr val="000000">
                      <a:alpha val="43137"/>
                    </a:srgbClr>
                  </a:outerShdw>
                </a:effectLst>
              </a:rPr>
              <a:t>objectifs</a:t>
            </a:r>
            <a:r>
              <a:rPr lang="fr-FR" b="1" dirty="0">
                <a:solidFill>
                  <a:srgbClr val="844C83"/>
                </a:solidFill>
                <a:effectLst>
                  <a:outerShdw blurRad="38100" dist="38100" dir="2700000" algn="tl">
                    <a:srgbClr val="000000">
                      <a:alpha val="43137"/>
                    </a:srgbClr>
                  </a:outerShdw>
                </a:effectLst>
              </a:rPr>
              <a:t> </a:t>
            </a:r>
            <a:r>
              <a:rPr lang="fr-FR" dirty="0"/>
              <a:t>du traitement sont de : </a:t>
            </a:r>
            <a:br>
              <a:rPr lang="fr-FR" dirty="0"/>
            </a:br>
            <a:r>
              <a:rPr lang="fr-FR" dirty="0" smtClean="0"/>
              <a:t>                -  </a:t>
            </a:r>
            <a:r>
              <a:rPr lang="fr-FR" dirty="0"/>
              <a:t>Mise en condition du patient, </a:t>
            </a:r>
            <a:br>
              <a:rPr lang="fr-FR" dirty="0"/>
            </a:br>
            <a:r>
              <a:rPr lang="fr-FR" dirty="0" smtClean="0"/>
              <a:t>                -  </a:t>
            </a:r>
            <a:r>
              <a:rPr lang="fr-FR" dirty="0"/>
              <a:t>Traitement de l’étiologie de l’HSA ;</a:t>
            </a:r>
            <a:br>
              <a:rPr lang="fr-FR" dirty="0"/>
            </a:br>
            <a:r>
              <a:rPr lang="fr-FR" dirty="0" smtClean="0"/>
              <a:t>                -   </a:t>
            </a:r>
            <a:r>
              <a:rPr lang="fr-FR" dirty="0"/>
              <a:t>Prévenir et traiter les complications éventuelles.</a:t>
            </a:r>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1124164"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spTree>
    <p:extLst>
      <p:ext uri="{BB962C8B-B14F-4D97-AF65-F5344CB8AC3E}">
        <p14:creationId xmlns:p14="http://schemas.microsoft.com/office/powerpoint/2010/main" val="360990390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611" y="1683497"/>
            <a:ext cx="11363218" cy="5025528"/>
          </a:xfrm>
        </p:spPr>
        <p:txBody>
          <a:bodyPr>
            <a:normAutofit fontScale="92500" lnSpcReduction="10000"/>
          </a:bodyPr>
          <a:lstStyle/>
          <a:p>
            <a:pPr lvl="0">
              <a:buFontTx/>
              <a:buChar char="-"/>
            </a:pPr>
            <a:r>
              <a:rPr lang="fr-FR" dirty="0" smtClean="0"/>
              <a:t>Maintien </a:t>
            </a:r>
            <a:r>
              <a:rPr lang="fr-FR" dirty="0"/>
              <a:t>d’une pression artérielle systolique (PAS) élevée, (160-180 </a:t>
            </a:r>
            <a:r>
              <a:rPr lang="fr-FR" dirty="0" err="1"/>
              <a:t>mmHg</a:t>
            </a:r>
            <a:r>
              <a:rPr lang="fr-FR" dirty="0"/>
              <a:t>) pour maintenir une pression </a:t>
            </a:r>
            <a:r>
              <a:rPr lang="fr-FR" dirty="0" smtClean="0"/>
              <a:t>de perfusion </a:t>
            </a:r>
            <a:r>
              <a:rPr lang="fr-FR" dirty="0"/>
              <a:t>cérébrale adéquate</a:t>
            </a:r>
            <a:r>
              <a:rPr lang="fr-FR" dirty="0" smtClean="0"/>
              <a:t>.</a:t>
            </a:r>
          </a:p>
          <a:p>
            <a:pPr lvl="0">
              <a:buFontTx/>
              <a:buChar char="-"/>
            </a:pPr>
            <a:endParaRPr lang="fr-FR" dirty="0"/>
          </a:p>
          <a:p>
            <a:pPr lvl="0">
              <a:buFontTx/>
              <a:buChar char="-"/>
            </a:pPr>
            <a:r>
              <a:rPr lang="fr-FR" dirty="0" smtClean="0"/>
              <a:t>Assurer </a:t>
            </a:r>
            <a:r>
              <a:rPr lang="fr-FR" dirty="0"/>
              <a:t>un isolement sensoriel</a:t>
            </a:r>
            <a:r>
              <a:rPr lang="fr-FR" dirty="0" smtClean="0"/>
              <a:t>.</a:t>
            </a:r>
          </a:p>
          <a:p>
            <a:pPr lvl="0">
              <a:buFontTx/>
              <a:buChar char="-"/>
            </a:pPr>
            <a:endParaRPr lang="fr-FR" dirty="0"/>
          </a:p>
          <a:p>
            <a:pPr lvl="0">
              <a:buFontTx/>
              <a:buChar char="-"/>
            </a:pPr>
            <a:r>
              <a:rPr lang="fr-FR" dirty="0" smtClean="0"/>
              <a:t>Lutter </a:t>
            </a:r>
            <a:r>
              <a:rPr lang="fr-FR" dirty="0"/>
              <a:t>contre la douleur du syndrome méningé aigu par l’administration d’antalgiques </a:t>
            </a:r>
            <a:endParaRPr lang="fr-FR" dirty="0" smtClean="0"/>
          </a:p>
          <a:p>
            <a:pPr lvl="0">
              <a:buFontTx/>
              <a:buChar char="-"/>
            </a:pPr>
            <a:endParaRPr lang="fr-FR" dirty="0" smtClean="0"/>
          </a:p>
          <a:p>
            <a:pPr lvl="0">
              <a:buFontTx/>
              <a:buChar char="-"/>
            </a:pPr>
            <a:r>
              <a:rPr lang="fr-FR" dirty="0" smtClean="0"/>
              <a:t>Prévention </a:t>
            </a:r>
            <a:r>
              <a:rPr lang="fr-FR" dirty="0"/>
              <a:t>de l’ulcère de stress</a:t>
            </a:r>
            <a:r>
              <a:rPr lang="fr-FR" dirty="0" smtClean="0"/>
              <a:t>.</a:t>
            </a:r>
          </a:p>
          <a:p>
            <a:pPr lvl="0">
              <a:buFontTx/>
              <a:buChar char="-"/>
            </a:pPr>
            <a:endParaRPr lang="fr-FR" dirty="0"/>
          </a:p>
          <a:p>
            <a:pPr marL="0" lvl="0" indent="0">
              <a:buNone/>
            </a:pPr>
            <a:r>
              <a:rPr lang="fr-FR" b="1" dirty="0" smtClean="0"/>
              <a:t>- NIMOTOP </a:t>
            </a:r>
            <a:r>
              <a:rPr lang="fr-FR" dirty="0"/>
              <a:t>: 1 à 2 mg/h en PSE pendant 5 à 15 jours puis per os 360 mg/j pendant 3 semaines.</a:t>
            </a:r>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199" y="0"/>
            <a:ext cx="1052245"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sp>
        <p:nvSpPr>
          <p:cNvPr id="6" name="TextBox 5"/>
          <p:cNvSpPr txBox="1"/>
          <p:nvPr/>
        </p:nvSpPr>
        <p:spPr>
          <a:xfrm>
            <a:off x="2578813" y="982067"/>
            <a:ext cx="5589142"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lvl="0" algn="ctr"/>
            <a:r>
              <a:rPr lang="fr-FR" sz="2800" b="1" dirty="0" smtClean="0">
                <a:solidFill>
                  <a:srgbClr val="844C83"/>
                </a:solidFill>
                <a:effectLst>
                  <a:outerShdw blurRad="38100" dist="38100" dir="2700000" algn="tl">
                    <a:srgbClr val="000000">
                      <a:alpha val="43137"/>
                    </a:srgbClr>
                  </a:outerShdw>
                </a:effectLst>
              </a:rPr>
              <a:t>1- Mise </a:t>
            </a:r>
            <a:r>
              <a:rPr lang="fr-FR" sz="2800" b="1" dirty="0">
                <a:solidFill>
                  <a:srgbClr val="844C83"/>
                </a:solidFill>
                <a:effectLst>
                  <a:outerShdw blurRad="38100" dist="38100" dir="2700000" algn="tl">
                    <a:srgbClr val="000000">
                      <a:alpha val="43137"/>
                    </a:srgbClr>
                  </a:outerShdw>
                </a:effectLst>
              </a:rPr>
              <a:t>en condition du patient :</a:t>
            </a:r>
            <a:endParaRPr lang="fr-FR" sz="2800"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977077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https://www.cen-neurologie.fr/sites/www.cen-neurologie.fr/files/files/capture_decran_2021-12-28_a_13.17.4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766" y="1597979"/>
            <a:ext cx="6811766" cy="533365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6" name="Oval 5"/>
          <p:cNvSpPr/>
          <p:nvPr/>
        </p:nvSpPr>
        <p:spPr>
          <a:xfrm>
            <a:off x="838200" y="0"/>
            <a:ext cx="1113890"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sp>
        <p:nvSpPr>
          <p:cNvPr id="7" name="TextBox 6"/>
          <p:cNvSpPr txBox="1"/>
          <p:nvPr/>
        </p:nvSpPr>
        <p:spPr>
          <a:xfrm>
            <a:off x="2578813" y="982067"/>
            <a:ext cx="5589142"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lvl="0" algn="ctr"/>
            <a:r>
              <a:rPr lang="fr-FR" sz="2800" b="1" dirty="0" smtClean="0">
                <a:solidFill>
                  <a:srgbClr val="844C83"/>
                </a:solidFill>
                <a:effectLst>
                  <a:outerShdw blurRad="38100" dist="38100" dir="2700000" algn="tl">
                    <a:srgbClr val="000000">
                      <a:alpha val="43137"/>
                    </a:srgbClr>
                  </a:outerShdw>
                </a:effectLst>
              </a:rPr>
              <a:t>1- Mise </a:t>
            </a:r>
            <a:r>
              <a:rPr lang="fr-FR" sz="2800" b="1" dirty="0">
                <a:solidFill>
                  <a:srgbClr val="844C83"/>
                </a:solidFill>
                <a:effectLst>
                  <a:outerShdw blurRad="38100" dist="38100" dir="2700000" algn="tl">
                    <a:srgbClr val="000000">
                      <a:alpha val="43137"/>
                    </a:srgbClr>
                  </a:outerShdw>
                </a:effectLst>
              </a:rPr>
              <a:t>en condition du patient :</a:t>
            </a:r>
            <a:endParaRPr lang="fr-FR" sz="2800"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7162633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346" y="2534542"/>
            <a:ext cx="10515600" cy="3075148"/>
          </a:xfrm>
        </p:spPr>
        <p:txBody>
          <a:bodyPr/>
          <a:lstStyle/>
          <a:p>
            <a:pPr marL="0" indent="0">
              <a:buNone/>
            </a:pPr>
            <a:r>
              <a:rPr lang="fr-FR" dirty="0"/>
              <a:t>Deux types de traitements existent </a:t>
            </a:r>
            <a:r>
              <a:rPr lang="fr-FR" dirty="0" smtClean="0"/>
              <a:t>:</a:t>
            </a:r>
          </a:p>
          <a:p>
            <a:pPr marL="0" indent="0">
              <a:buNone/>
            </a:pPr>
            <a:endParaRPr lang="fr-FR" dirty="0"/>
          </a:p>
          <a:p>
            <a:pPr>
              <a:buFontTx/>
              <a:buChar char="-"/>
            </a:pPr>
            <a:r>
              <a:rPr lang="fr-FR" dirty="0" smtClean="0"/>
              <a:t>le </a:t>
            </a:r>
            <a:r>
              <a:rPr lang="fr-FR" dirty="0"/>
              <a:t>traitement </a:t>
            </a:r>
            <a:r>
              <a:rPr lang="fr-FR" dirty="0" err="1"/>
              <a:t>endovasculaire</a:t>
            </a:r>
            <a:r>
              <a:rPr lang="fr-FR" dirty="0"/>
              <a:t> (ou embolisation</a:t>
            </a:r>
            <a:r>
              <a:rPr lang="fr-FR" dirty="0" smtClean="0"/>
              <a:t>)</a:t>
            </a:r>
          </a:p>
          <a:p>
            <a:pPr marL="0" indent="0">
              <a:buNone/>
            </a:pPr>
            <a:endParaRPr lang="fr-FR" dirty="0"/>
          </a:p>
          <a:p>
            <a:pPr>
              <a:buFontTx/>
              <a:buChar char="-"/>
            </a:pPr>
            <a:r>
              <a:rPr lang="fr-FR" dirty="0" smtClean="0"/>
              <a:t>le </a:t>
            </a:r>
            <a:r>
              <a:rPr lang="fr-FR" dirty="0"/>
              <a:t>traitement chirurgical.</a:t>
            </a:r>
          </a:p>
          <a:p>
            <a:endParaRPr lang="fr-FR" dirty="0"/>
          </a:p>
        </p:txBody>
      </p:sp>
      <p:sp>
        <p:nvSpPr>
          <p:cNvPr id="4" name="Title 1"/>
          <p:cNvSpPr>
            <a:spLocks noGrp="1"/>
          </p:cNvSpPr>
          <p:nvPr>
            <p:ph type="title"/>
          </p:nvPr>
        </p:nvSpPr>
        <p:spPr>
          <a:xfrm>
            <a:off x="0" y="-148701"/>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199" y="0"/>
            <a:ext cx="1062519"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sp>
        <p:nvSpPr>
          <p:cNvPr id="6" name="TextBox 5"/>
          <p:cNvSpPr txBox="1"/>
          <p:nvPr/>
        </p:nvSpPr>
        <p:spPr>
          <a:xfrm>
            <a:off x="2578813" y="982067"/>
            <a:ext cx="5589142"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2- </a:t>
            </a:r>
            <a:r>
              <a:rPr lang="fr-FR" sz="2800" b="1" dirty="0">
                <a:solidFill>
                  <a:srgbClr val="844C83"/>
                </a:solidFill>
                <a:effectLst>
                  <a:outerShdw blurRad="38100" dist="38100" dir="2700000" algn="tl">
                    <a:srgbClr val="000000">
                      <a:alpha val="43137"/>
                    </a:srgbClr>
                  </a:outerShdw>
                </a:effectLst>
              </a:rPr>
              <a:t>Traitement étiologique </a:t>
            </a:r>
            <a:r>
              <a:rPr lang="fr-FR" sz="2800" b="1" dirty="0" smtClean="0">
                <a:solidFill>
                  <a:srgbClr val="844C83"/>
                </a:solidFill>
                <a:effectLst>
                  <a:outerShdw blurRad="38100" dist="38100" dir="2700000" algn="tl">
                    <a:srgbClr val="000000">
                      <a:alpha val="43137"/>
                    </a:srgbClr>
                  </a:outerShdw>
                </a:effectLst>
              </a:rPr>
              <a:t>:</a:t>
            </a:r>
            <a:endParaRPr lang="fr-FR" sz="2800" dirty="0">
              <a:solidFill>
                <a:srgbClr val="844C83"/>
              </a:solidFill>
              <a:effectLst>
                <a:outerShdw blurRad="38100" dist="38100" dir="2700000" algn="tl">
                  <a:srgbClr val="000000">
                    <a:alpha val="43137"/>
                  </a:srgbClr>
                </a:outerShdw>
              </a:effectLst>
            </a:endParaRPr>
          </a:p>
        </p:txBody>
      </p:sp>
      <p:pic>
        <p:nvPicPr>
          <p:cNvPr id="27650" name="Picture 2" descr="Traitement d'un anévrisme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7537" y="2356758"/>
            <a:ext cx="4337243" cy="3252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170201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8225" y="1867350"/>
            <a:ext cx="5882766" cy="4543724"/>
          </a:xfrm>
        </p:spPr>
        <p:txBody>
          <a:bodyPr>
            <a:noAutofit/>
          </a:bodyPr>
          <a:lstStyle/>
          <a:p>
            <a:pPr marL="0" lvl="0" indent="0">
              <a:buNone/>
            </a:pPr>
            <a:r>
              <a:rPr lang="fr-FR" b="1" dirty="0" smtClean="0">
                <a:solidFill>
                  <a:srgbClr val="C00000"/>
                </a:solidFill>
              </a:rPr>
              <a:t>A- Le traitement </a:t>
            </a:r>
            <a:r>
              <a:rPr lang="fr-FR" b="1" dirty="0" err="1" smtClean="0">
                <a:solidFill>
                  <a:srgbClr val="C00000"/>
                </a:solidFill>
              </a:rPr>
              <a:t>endovasculaire</a:t>
            </a:r>
            <a:r>
              <a:rPr lang="fr-FR" b="1" dirty="0" smtClean="0">
                <a:solidFill>
                  <a:srgbClr val="C00000"/>
                </a:solidFill>
              </a:rPr>
              <a:t>:</a:t>
            </a:r>
          </a:p>
          <a:p>
            <a:pPr lvl="0">
              <a:buFontTx/>
              <a:buChar char="-"/>
            </a:pPr>
            <a:r>
              <a:rPr lang="fr-FR" dirty="0" smtClean="0"/>
              <a:t>consiste à placer dans le sac des spires métalliques </a:t>
            </a:r>
            <a:r>
              <a:rPr lang="fr-FR" dirty="0" err="1" smtClean="0"/>
              <a:t>thrombogènes</a:t>
            </a:r>
            <a:r>
              <a:rPr lang="fr-FR" dirty="0" smtClean="0"/>
              <a:t> (</a:t>
            </a:r>
            <a:r>
              <a:rPr lang="fr-FR" b="1" dirty="0" err="1" smtClean="0"/>
              <a:t>coils</a:t>
            </a:r>
            <a:r>
              <a:rPr lang="fr-FR" dirty="0" smtClean="0"/>
              <a:t>). </a:t>
            </a:r>
          </a:p>
          <a:p>
            <a:pPr marL="0" lvl="0" indent="0">
              <a:buNone/>
            </a:pPr>
            <a:endParaRPr lang="fr-FR" dirty="0" smtClean="0"/>
          </a:p>
          <a:p>
            <a:pPr marL="0" lvl="0" indent="0">
              <a:buNone/>
            </a:pPr>
            <a:r>
              <a:rPr lang="fr-FR" dirty="0" smtClean="0"/>
              <a:t>- La présence de ce matériel provoque une thrombose du sac anévrismale et donc l'exclusion de l'anévrisme de la circulation artérielle.</a:t>
            </a:r>
            <a:endParaRPr lang="fr-FR" dirty="0"/>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199" y="0"/>
            <a:ext cx="1052245"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sp>
        <p:nvSpPr>
          <p:cNvPr id="6" name="TextBox 5"/>
          <p:cNvSpPr txBox="1"/>
          <p:nvPr/>
        </p:nvSpPr>
        <p:spPr>
          <a:xfrm>
            <a:off x="2578813" y="982067"/>
            <a:ext cx="5589142"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2- </a:t>
            </a:r>
            <a:r>
              <a:rPr lang="fr-FR" sz="2800" b="1" dirty="0">
                <a:solidFill>
                  <a:srgbClr val="844C83"/>
                </a:solidFill>
                <a:effectLst>
                  <a:outerShdw blurRad="38100" dist="38100" dir="2700000" algn="tl">
                    <a:srgbClr val="000000">
                      <a:alpha val="43137"/>
                    </a:srgbClr>
                  </a:outerShdw>
                </a:effectLst>
              </a:rPr>
              <a:t>Traitement étiologique </a:t>
            </a:r>
            <a:r>
              <a:rPr lang="fr-FR" sz="2800" b="1" dirty="0" smtClean="0">
                <a:solidFill>
                  <a:srgbClr val="844C83"/>
                </a:solidFill>
                <a:effectLst>
                  <a:outerShdw blurRad="38100" dist="38100" dir="2700000" algn="tl">
                    <a:srgbClr val="000000">
                      <a:alpha val="43137"/>
                    </a:srgbClr>
                  </a:outerShdw>
                </a:effectLst>
              </a:rPr>
              <a:t>:</a:t>
            </a:r>
            <a:endParaRPr lang="fr-FR" sz="2800" dirty="0">
              <a:solidFill>
                <a:srgbClr val="844C83"/>
              </a:solidFill>
              <a:effectLst>
                <a:outerShdw blurRad="38100" dist="38100" dir="2700000" algn="tl">
                  <a:srgbClr val="000000">
                    <a:alpha val="43137"/>
                  </a:srgbClr>
                </a:outerShdw>
              </a:effectLst>
            </a:endParaRPr>
          </a:p>
        </p:txBody>
      </p:sp>
      <p:pic>
        <p:nvPicPr>
          <p:cNvPr id="30722" name="Picture 2" descr="Salle d'angiograph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4007" y="2113931"/>
            <a:ext cx="5887992" cy="3904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97177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7903"/>
            <a:ext cx="5685890" cy="599076"/>
          </a:xfrm>
          <a:ln>
            <a:solidFill>
              <a:schemeClr val="bg1"/>
            </a:solidFill>
          </a:ln>
        </p:spPr>
        <p:style>
          <a:lnRef idx="2">
            <a:schemeClr val="accent2"/>
          </a:lnRef>
          <a:fillRef idx="1">
            <a:schemeClr val="lt1"/>
          </a:fillRef>
          <a:effectRef idx="0">
            <a:schemeClr val="accent2"/>
          </a:effectRef>
          <a:fontRef idx="minor">
            <a:schemeClr val="dk1"/>
          </a:fontRef>
        </p:style>
        <p:txBody>
          <a:bodyPr/>
          <a:lstStyle/>
          <a:p>
            <a:pPr marL="0" indent="0" algn="ctr">
              <a:buNone/>
            </a:pPr>
            <a:r>
              <a:rPr lang="fr-FR" b="1" dirty="0" smtClean="0">
                <a:solidFill>
                  <a:srgbClr val="C00000"/>
                </a:solidFill>
              </a:rPr>
              <a:t>A- Le traitement </a:t>
            </a:r>
            <a:r>
              <a:rPr lang="fr-FR" b="1" dirty="0" err="1" smtClean="0">
                <a:solidFill>
                  <a:srgbClr val="C00000"/>
                </a:solidFill>
              </a:rPr>
              <a:t>endovasculaire</a:t>
            </a:r>
            <a:r>
              <a:rPr lang="fr-FR" b="1" dirty="0" smtClean="0">
                <a:solidFill>
                  <a:srgbClr val="C00000"/>
                </a:solidFill>
              </a:rPr>
              <a:t>:</a:t>
            </a:r>
          </a:p>
          <a:p>
            <a:pPr marL="0" indent="0" algn="ctr">
              <a:buNone/>
            </a:pPr>
            <a:endParaRPr lang="fr-FR" dirty="0"/>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199" y="0"/>
            <a:ext cx="1052245"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pic>
        <p:nvPicPr>
          <p:cNvPr id="31746" name="Picture 2" descr="Embolisation d'un anévrisme avec des coi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013" y="1974776"/>
            <a:ext cx="4477252" cy="33579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1748" name="Picture 4" descr="Embolisation d'un anévrisme avec des coil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5892" y="795630"/>
            <a:ext cx="4221216" cy="31659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1750" name="Picture 6" descr="Embolisation avec stent ou Flow Diver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4977" y="3513762"/>
            <a:ext cx="4269640" cy="32022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891950" y="2839047"/>
            <a:ext cx="311306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b="1" dirty="0"/>
              <a:t>Embolisation avec l'association </a:t>
            </a:r>
            <a:r>
              <a:rPr lang="fr-FR" b="1" dirty="0" err="1"/>
              <a:t>coils</a:t>
            </a:r>
            <a:r>
              <a:rPr lang="fr-FR" b="1" dirty="0"/>
              <a:t> + </a:t>
            </a:r>
            <a:r>
              <a:rPr lang="fr-FR" b="1" dirty="0" err="1"/>
              <a:t>stent</a:t>
            </a:r>
            <a:r>
              <a:rPr lang="fr-FR" b="1" dirty="0"/>
              <a:t> ou Flow </a:t>
            </a:r>
            <a:r>
              <a:rPr lang="fr-FR" b="1" dirty="0" err="1" smtClean="0"/>
              <a:t>Diverter</a:t>
            </a:r>
            <a:endParaRPr lang="fr-FR" b="1" dirty="0"/>
          </a:p>
        </p:txBody>
      </p:sp>
      <p:sp>
        <p:nvSpPr>
          <p:cNvPr id="8" name="TextBox 7"/>
          <p:cNvSpPr txBox="1"/>
          <p:nvPr/>
        </p:nvSpPr>
        <p:spPr>
          <a:xfrm>
            <a:off x="523982" y="5332715"/>
            <a:ext cx="351376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b="1" dirty="0"/>
              <a:t>Embolisation avec des </a:t>
            </a:r>
            <a:r>
              <a:rPr lang="fr-FR" b="1" dirty="0" err="1" smtClean="0"/>
              <a:t>coils</a:t>
            </a:r>
            <a:endParaRPr lang="fr-FR" b="1" dirty="0"/>
          </a:p>
        </p:txBody>
      </p:sp>
      <p:sp>
        <p:nvSpPr>
          <p:cNvPr id="9" name="TextBox 8"/>
          <p:cNvSpPr txBox="1"/>
          <p:nvPr/>
        </p:nvSpPr>
        <p:spPr>
          <a:xfrm>
            <a:off x="8907330" y="4048018"/>
            <a:ext cx="328467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b="1" cap="all" dirty="0"/>
              <a:t>EMBOLISATION LIQUIDE, COILS ET TECHNIQUE DE REMODELING</a:t>
            </a:r>
            <a:endParaRPr lang="fr-FR" dirty="0"/>
          </a:p>
        </p:txBody>
      </p:sp>
    </p:spTree>
    <p:extLst>
      <p:ext uri="{BB962C8B-B14F-4D97-AF65-F5344CB8AC3E}">
        <p14:creationId xmlns:p14="http://schemas.microsoft.com/office/powerpoint/2010/main" val="136778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750"/>
                                        </p:tgtEl>
                                        <p:attrNameLst>
                                          <p:attrName>style.visibility</p:attrName>
                                        </p:attrNameLst>
                                      </p:cBhvr>
                                      <p:to>
                                        <p:strVal val="visible"/>
                                      </p:to>
                                    </p:set>
                                    <p:animEffect transition="in" filter="fade">
                                      <p:cBhvr>
                                        <p:cTn id="13" dur="500"/>
                                        <p:tgtEl>
                                          <p:spTgt spid="3175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1748"/>
                                        </p:tgtEl>
                                        <p:attrNameLst>
                                          <p:attrName>style.visibility</p:attrName>
                                        </p:attrNameLst>
                                      </p:cBhvr>
                                      <p:to>
                                        <p:strVal val="visible"/>
                                      </p:to>
                                    </p:set>
                                    <p:anim calcmode="lin" valueType="num">
                                      <p:cBhvr additive="base">
                                        <p:cTn id="25" dur="500" fill="hold"/>
                                        <p:tgtEl>
                                          <p:spTgt spid="31748"/>
                                        </p:tgtEl>
                                        <p:attrNameLst>
                                          <p:attrName>ppt_x</p:attrName>
                                        </p:attrNameLst>
                                      </p:cBhvr>
                                      <p:tavLst>
                                        <p:tav tm="0">
                                          <p:val>
                                            <p:strVal val="#ppt_x"/>
                                          </p:val>
                                        </p:tav>
                                        <p:tav tm="100000">
                                          <p:val>
                                            <p:strVal val="#ppt_x"/>
                                          </p:val>
                                        </p:tav>
                                      </p:tavLst>
                                    </p:anim>
                                    <p:anim calcmode="lin" valueType="num">
                                      <p:cBhvr additive="base">
                                        <p:cTn id="26" dur="500" fill="hold"/>
                                        <p:tgtEl>
                                          <p:spTgt spid="317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2860" y="1928366"/>
            <a:ext cx="10515600" cy="4351338"/>
          </a:xfrm>
        </p:spPr>
        <p:txBody>
          <a:bodyPr/>
          <a:lstStyle/>
          <a:p>
            <a:pPr marL="0" indent="0">
              <a:buNone/>
            </a:pPr>
            <a:r>
              <a:rPr lang="fr-FR" dirty="0" smtClean="0">
                <a:solidFill>
                  <a:srgbClr val="C00000"/>
                </a:solidFill>
                <a:effectLst>
                  <a:outerShdw blurRad="38100" dist="38100" dir="2700000" algn="tl">
                    <a:srgbClr val="000000">
                      <a:alpha val="43137"/>
                    </a:srgbClr>
                  </a:outerShdw>
                </a:effectLst>
              </a:rPr>
              <a:t>B- Le traitement microchirurgical : </a:t>
            </a:r>
            <a:endParaRPr lang="fr-FR" dirty="0"/>
          </a:p>
          <a:p>
            <a:pPr marL="0" indent="0">
              <a:buNone/>
            </a:pPr>
            <a:r>
              <a:rPr lang="fr-FR" dirty="0" smtClean="0"/>
              <a:t>Les </a:t>
            </a:r>
            <a:r>
              <a:rPr lang="fr-FR" dirty="0"/>
              <a:t>traitements chirurgicaux possibles lors de la prise en charge d'une HSA sont </a:t>
            </a:r>
            <a:r>
              <a:rPr lang="fr-FR" dirty="0" smtClean="0"/>
              <a:t>:</a:t>
            </a:r>
          </a:p>
          <a:p>
            <a:pPr marL="0" indent="0">
              <a:buNone/>
            </a:pPr>
            <a:r>
              <a:rPr lang="fr-FR" dirty="0"/>
              <a:t/>
            </a:r>
            <a:br>
              <a:rPr lang="fr-FR" dirty="0"/>
            </a:br>
            <a:r>
              <a:rPr lang="fr-FR" dirty="0" smtClean="0"/>
              <a:t>1-</a:t>
            </a:r>
            <a:r>
              <a:rPr lang="ar-SA" dirty="0" smtClean="0"/>
              <a:t> </a:t>
            </a:r>
            <a:r>
              <a:rPr lang="fr-FR" dirty="0" err="1"/>
              <a:t>Clippage</a:t>
            </a:r>
            <a:r>
              <a:rPr lang="fr-FR" dirty="0"/>
              <a:t> de l’anévrisme associé à une évacuation d'un hématome</a:t>
            </a:r>
            <a:r>
              <a:rPr lang="fr-FR" dirty="0" smtClean="0"/>
              <a:t>,</a:t>
            </a:r>
          </a:p>
          <a:p>
            <a:pPr marL="0" indent="0">
              <a:buNone/>
            </a:pPr>
            <a:endParaRPr lang="fr-FR" dirty="0" smtClean="0"/>
          </a:p>
          <a:p>
            <a:pPr marL="0" indent="0">
              <a:buNone/>
            </a:pPr>
            <a:r>
              <a:rPr lang="fr-FR" dirty="0"/>
              <a:t/>
            </a:r>
            <a:br>
              <a:rPr lang="fr-FR" dirty="0"/>
            </a:br>
            <a:r>
              <a:rPr lang="fr-FR" dirty="0" smtClean="0"/>
              <a:t>2- Dérivation </a:t>
            </a:r>
            <a:r>
              <a:rPr lang="fr-FR" dirty="0"/>
              <a:t>ventriculaire externe du LCS en cas d'hydrocéphalie aiguë.</a:t>
            </a:r>
          </a:p>
          <a:p>
            <a:endParaRPr lang="fr-FR" dirty="0"/>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1124164"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sp>
        <p:nvSpPr>
          <p:cNvPr id="6" name="TextBox 5"/>
          <p:cNvSpPr txBox="1"/>
          <p:nvPr/>
        </p:nvSpPr>
        <p:spPr>
          <a:xfrm>
            <a:off x="2578813" y="982067"/>
            <a:ext cx="5589142"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2- </a:t>
            </a:r>
            <a:r>
              <a:rPr lang="fr-FR" sz="2800" b="1" dirty="0">
                <a:solidFill>
                  <a:srgbClr val="844C83"/>
                </a:solidFill>
                <a:effectLst>
                  <a:outerShdw blurRad="38100" dist="38100" dir="2700000" algn="tl">
                    <a:srgbClr val="000000">
                      <a:alpha val="43137"/>
                    </a:srgbClr>
                  </a:outerShdw>
                </a:effectLst>
              </a:rPr>
              <a:t>Traitement étiologique </a:t>
            </a:r>
            <a:r>
              <a:rPr lang="fr-FR" sz="2800" b="1" dirty="0" smtClean="0">
                <a:solidFill>
                  <a:srgbClr val="844C83"/>
                </a:solidFill>
                <a:effectLst>
                  <a:outerShdw blurRad="38100" dist="38100" dir="2700000" algn="tl">
                    <a:srgbClr val="000000">
                      <a:alpha val="43137"/>
                    </a:srgbClr>
                  </a:outerShdw>
                </a:effectLst>
              </a:rPr>
              <a:t>:</a:t>
            </a:r>
            <a:endParaRPr lang="fr-FR" sz="2800"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3446481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8773" y="1825624"/>
            <a:ext cx="6215865" cy="4729287"/>
          </a:xfrm>
        </p:spPr>
        <p:txBody>
          <a:bodyPr>
            <a:normAutofit lnSpcReduction="10000"/>
          </a:bodyPr>
          <a:lstStyle/>
          <a:p>
            <a:pPr marL="0" indent="0">
              <a:buNone/>
            </a:pPr>
            <a:r>
              <a:rPr lang="fr-FR" dirty="0" smtClean="0">
                <a:solidFill>
                  <a:srgbClr val="C00000"/>
                </a:solidFill>
                <a:effectLst>
                  <a:outerShdw blurRad="38100" dist="38100" dir="2700000" algn="tl">
                    <a:srgbClr val="000000">
                      <a:alpha val="43137"/>
                    </a:srgbClr>
                  </a:outerShdw>
                </a:effectLst>
              </a:rPr>
              <a:t>B- Le </a:t>
            </a:r>
            <a:r>
              <a:rPr lang="fr-FR" dirty="0">
                <a:solidFill>
                  <a:srgbClr val="C00000"/>
                </a:solidFill>
                <a:effectLst>
                  <a:outerShdw blurRad="38100" dist="38100" dir="2700000" algn="tl">
                    <a:srgbClr val="000000">
                      <a:alpha val="43137"/>
                    </a:srgbClr>
                  </a:outerShdw>
                </a:effectLst>
              </a:rPr>
              <a:t>traitement microchirurgical : </a:t>
            </a:r>
          </a:p>
          <a:p>
            <a:pPr>
              <a:buFontTx/>
              <a:buChar char="-"/>
            </a:pPr>
            <a:r>
              <a:rPr lang="fr-FR" dirty="0" smtClean="0"/>
              <a:t>Une </a:t>
            </a:r>
            <a:r>
              <a:rPr lang="fr-FR" dirty="0"/>
              <a:t>voie d’abord </a:t>
            </a:r>
            <a:r>
              <a:rPr lang="fr-FR" dirty="0" err="1"/>
              <a:t>transcranienne</a:t>
            </a:r>
            <a:r>
              <a:rPr lang="fr-FR" dirty="0"/>
              <a:t> (en fonction du siège de l’anévrisme), </a:t>
            </a:r>
            <a:endParaRPr lang="fr-FR" dirty="0" smtClean="0"/>
          </a:p>
          <a:p>
            <a:pPr>
              <a:buFontTx/>
              <a:buChar char="-"/>
            </a:pPr>
            <a:endParaRPr lang="fr-FR" dirty="0" smtClean="0"/>
          </a:p>
          <a:p>
            <a:pPr>
              <a:buFontTx/>
              <a:buChar char="-"/>
            </a:pPr>
            <a:r>
              <a:rPr lang="fr-FR" dirty="0" err="1" smtClean="0"/>
              <a:t>Disséction</a:t>
            </a:r>
            <a:r>
              <a:rPr lang="fr-FR" dirty="0" smtClean="0"/>
              <a:t> </a:t>
            </a:r>
            <a:r>
              <a:rPr lang="fr-FR" dirty="0"/>
              <a:t>sous microscope opératoire les artères du polygone de Willis </a:t>
            </a:r>
            <a:endParaRPr lang="fr-FR" dirty="0" smtClean="0"/>
          </a:p>
          <a:p>
            <a:pPr marL="0" indent="0">
              <a:buNone/>
            </a:pPr>
            <a:endParaRPr lang="fr-FR" dirty="0"/>
          </a:p>
          <a:p>
            <a:pPr>
              <a:buFontTx/>
              <a:buChar char="-"/>
            </a:pPr>
            <a:r>
              <a:rPr lang="fr-FR" dirty="0" smtClean="0"/>
              <a:t> mise en place du </a:t>
            </a:r>
            <a:r>
              <a:rPr lang="fr-FR" dirty="0"/>
              <a:t>clip au niveau du collet de l'anévrisme toute en préservant la perméabilité des artères porteurs.</a:t>
            </a:r>
          </a:p>
          <a:p>
            <a:endParaRPr lang="fr-FR" dirty="0"/>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1124164"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sp>
        <p:nvSpPr>
          <p:cNvPr id="6" name="TextBox 5"/>
          <p:cNvSpPr txBox="1"/>
          <p:nvPr/>
        </p:nvSpPr>
        <p:spPr>
          <a:xfrm>
            <a:off x="2578813" y="982067"/>
            <a:ext cx="5589142"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2- </a:t>
            </a:r>
            <a:r>
              <a:rPr lang="fr-FR" sz="2800" b="1" dirty="0">
                <a:solidFill>
                  <a:srgbClr val="844C83"/>
                </a:solidFill>
                <a:effectLst>
                  <a:outerShdw blurRad="38100" dist="38100" dir="2700000" algn="tl">
                    <a:srgbClr val="000000">
                      <a:alpha val="43137"/>
                    </a:srgbClr>
                  </a:outerShdw>
                </a:effectLst>
              </a:rPr>
              <a:t>Traitement étiologique </a:t>
            </a:r>
            <a:r>
              <a:rPr lang="fr-FR" sz="2800" b="1" dirty="0" smtClean="0">
                <a:solidFill>
                  <a:srgbClr val="844C83"/>
                </a:solidFill>
                <a:effectLst>
                  <a:outerShdw blurRad="38100" dist="38100" dir="2700000" algn="tl">
                    <a:srgbClr val="000000">
                      <a:alpha val="43137"/>
                    </a:srgbClr>
                  </a:outerShdw>
                </a:effectLst>
              </a:rPr>
              <a:t>:</a:t>
            </a:r>
            <a:endParaRPr lang="fr-FR" sz="2800" dirty="0">
              <a:solidFill>
                <a:srgbClr val="844C83"/>
              </a:solidFill>
              <a:effectLst>
                <a:outerShdw blurRad="38100" dist="38100" dir="2700000" algn="tl">
                  <a:srgbClr val="000000">
                    <a:alpha val="43137"/>
                  </a:srgbClr>
                </a:outerShdw>
              </a:effectLst>
            </a:endParaRPr>
          </a:p>
        </p:txBody>
      </p:sp>
      <p:pic>
        <p:nvPicPr>
          <p:cNvPr id="7" name="Picture 6"/>
          <p:cNvPicPr>
            <a:picLocks noChangeAspect="1"/>
          </p:cNvPicPr>
          <p:nvPr/>
        </p:nvPicPr>
        <p:blipFill>
          <a:blip r:embed="rId3"/>
          <a:stretch>
            <a:fillRect/>
          </a:stretch>
        </p:blipFill>
        <p:spPr>
          <a:xfrm>
            <a:off x="6751460" y="1825624"/>
            <a:ext cx="5274276" cy="4063429"/>
          </a:xfrm>
          <a:prstGeom prst="rect">
            <a:avLst/>
          </a:prstGeom>
        </p:spPr>
      </p:pic>
    </p:spTree>
    <p:extLst>
      <p:ext uri="{BB962C8B-B14F-4D97-AF65-F5344CB8AC3E}">
        <p14:creationId xmlns:p14="http://schemas.microsoft.com/office/powerpoint/2010/main" val="4785297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2551166"/>
          </a:xfrm>
        </p:spPr>
        <p:txBody>
          <a:bodyPr/>
          <a:lstStyle/>
          <a:p>
            <a:pPr marL="0" indent="0">
              <a:buNone/>
            </a:pPr>
            <a:r>
              <a:rPr lang="fr-FR" b="1" dirty="0" smtClean="0">
                <a:solidFill>
                  <a:srgbClr val="C00000"/>
                </a:solidFill>
              </a:rPr>
              <a:t>1- L’hydrocéphalie </a:t>
            </a:r>
            <a:r>
              <a:rPr lang="fr-FR" b="1" dirty="0">
                <a:solidFill>
                  <a:srgbClr val="C00000"/>
                </a:solidFill>
              </a:rPr>
              <a:t>:</a:t>
            </a:r>
            <a:br>
              <a:rPr lang="fr-FR" b="1" dirty="0">
                <a:solidFill>
                  <a:srgbClr val="C00000"/>
                </a:solidFill>
              </a:rPr>
            </a:br>
            <a:r>
              <a:rPr lang="fr-FR" dirty="0" smtClean="0"/>
              <a:t>- Elle </a:t>
            </a:r>
            <a:r>
              <a:rPr lang="fr-FR" dirty="0"/>
              <a:t>peut être précoce et être responsable d’un syndrome HIC aigue. </a:t>
            </a:r>
            <a:endParaRPr lang="fr-FR" dirty="0" smtClean="0"/>
          </a:p>
          <a:p>
            <a:pPr>
              <a:buFontTx/>
              <a:buChar char="-"/>
            </a:pPr>
            <a:r>
              <a:rPr lang="fr-FR" dirty="0" smtClean="0"/>
              <a:t>Elle </a:t>
            </a:r>
            <a:r>
              <a:rPr lang="fr-FR" dirty="0"/>
              <a:t>est liée à l’obstruction des voies de circulation du LCS. </a:t>
            </a:r>
            <a:endParaRPr lang="fr-FR" dirty="0" smtClean="0"/>
          </a:p>
          <a:p>
            <a:pPr>
              <a:buFontTx/>
              <a:buChar char="-"/>
            </a:pPr>
            <a:r>
              <a:rPr lang="fr-FR" dirty="0" smtClean="0"/>
              <a:t>Son </a:t>
            </a:r>
            <a:r>
              <a:rPr lang="fr-FR" dirty="0"/>
              <a:t>traitement consiste en la mise en place d'un cathéter de dérivation ventriculaire externe.</a:t>
            </a:r>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199" y="0"/>
            <a:ext cx="1083067"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sp>
        <p:nvSpPr>
          <p:cNvPr id="6" name="TextBox 5"/>
          <p:cNvSpPr txBox="1"/>
          <p:nvPr/>
        </p:nvSpPr>
        <p:spPr>
          <a:xfrm>
            <a:off x="2578813" y="982067"/>
            <a:ext cx="5589142"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3- </a:t>
            </a:r>
            <a:r>
              <a:rPr lang="fr-FR" sz="2800" b="1" dirty="0">
                <a:solidFill>
                  <a:srgbClr val="844C83"/>
                </a:solidFill>
                <a:effectLst>
                  <a:outerShdw blurRad="38100" dist="38100" dir="2700000" algn="tl">
                    <a:srgbClr val="000000">
                      <a:alpha val="43137"/>
                    </a:srgbClr>
                  </a:outerShdw>
                </a:effectLst>
              </a:rPr>
              <a:t>Traitement </a:t>
            </a:r>
            <a:r>
              <a:rPr lang="fr-FR" sz="2800" b="1" dirty="0" smtClean="0">
                <a:solidFill>
                  <a:srgbClr val="844C83"/>
                </a:solidFill>
                <a:effectLst>
                  <a:outerShdw blurRad="38100" dist="38100" dir="2700000" algn="tl">
                    <a:srgbClr val="000000">
                      <a:alpha val="43137"/>
                    </a:srgbClr>
                  </a:outerShdw>
                </a:effectLst>
              </a:rPr>
              <a:t>des complications  :</a:t>
            </a:r>
            <a:endParaRPr lang="fr-FR" sz="2800" dirty="0">
              <a:solidFill>
                <a:srgbClr val="844C83"/>
              </a:solidFill>
              <a:effectLst>
                <a:outerShdw blurRad="38100" dist="38100" dir="2700000" algn="tl">
                  <a:srgbClr val="000000">
                    <a:alpha val="43137"/>
                  </a:srgbClr>
                </a:outerShdw>
              </a:effectLst>
            </a:endParaRPr>
          </a:p>
        </p:txBody>
      </p:sp>
      <p:pic>
        <p:nvPicPr>
          <p:cNvPr id="7" name="Picture 6"/>
          <p:cNvPicPr/>
          <p:nvPr/>
        </p:nvPicPr>
        <p:blipFill>
          <a:blip r:embed="rId2"/>
          <a:stretch>
            <a:fillRect/>
          </a:stretch>
        </p:blipFill>
        <p:spPr>
          <a:xfrm>
            <a:off x="7397393" y="3842535"/>
            <a:ext cx="4479533" cy="2715145"/>
          </a:xfrm>
          <a:prstGeom prst="rect">
            <a:avLst/>
          </a:prstGeom>
        </p:spPr>
      </p:pic>
      <p:pic>
        <p:nvPicPr>
          <p:cNvPr id="8" name="Picture 7" descr="16: Pression intracrânienne (PIC) | Medicine Key"/>
          <p:cNvPicPr/>
          <p:nvPr/>
        </p:nvPicPr>
        <p:blipFill>
          <a:blip r:embed="rId3">
            <a:extLst>
              <a:ext uri="{28A0092B-C50C-407E-A947-70E740481C1C}">
                <a14:useLocalDpi xmlns:a14="http://schemas.microsoft.com/office/drawing/2010/main" val="0"/>
              </a:ext>
            </a:extLst>
          </a:blip>
          <a:srcRect/>
          <a:stretch>
            <a:fillRect/>
          </a:stretch>
        </p:blipFill>
        <p:spPr bwMode="auto">
          <a:xfrm>
            <a:off x="1711842" y="4521580"/>
            <a:ext cx="3483428" cy="1774371"/>
          </a:xfrm>
          <a:prstGeom prst="rect">
            <a:avLst/>
          </a:prstGeom>
          <a:noFill/>
          <a:ln>
            <a:noFill/>
          </a:ln>
        </p:spPr>
      </p:pic>
    </p:spTree>
    <p:extLst>
      <p:ext uri="{BB962C8B-B14F-4D97-AF65-F5344CB8AC3E}">
        <p14:creationId xmlns:p14="http://schemas.microsoft.com/office/powerpoint/2010/main" val="171997814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0966" y="1825624"/>
            <a:ext cx="11589250" cy="4852577"/>
          </a:xfrm>
        </p:spPr>
        <p:txBody>
          <a:bodyPr>
            <a:normAutofit/>
          </a:bodyPr>
          <a:lstStyle/>
          <a:p>
            <a:pPr marL="0" indent="0">
              <a:buNone/>
            </a:pPr>
            <a:r>
              <a:rPr lang="fr-FR" b="1" dirty="0" smtClean="0">
                <a:solidFill>
                  <a:srgbClr val="C00000"/>
                </a:solidFill>
              </a:rPr>
              <a:t>2- Le </a:t>
            </a:r>
            <a:r>
              <a:rPr lang="fr-FR" b="1" dirty="0" err="1" smtClean="0">
                <a:solidFill>
                  <a:srgbClr val="C00000"/>
                </a:solidFill>
              </a:rPr>
              <a:t>vasospasme</a:t>
            </a:r>
            <a:r>
              <a:rPr lang="fr-FR" b="1" dirty="0" smtClean="0">
                <a:solidFill>
                  <a:srgbClr val="C00000"/>
                </a:solidFill>
              </a:rPr>
              <a:t> </a:t>
            </a:r>
            <a:r>
              <a:rPr lang="fr-FR" dirty="0" smtClean="0">
                <a:solidFill>
                  <a:srgbClr val="C00000"/>
                </a:solidFill>
              </a:rPr>
              <a:t>:</a:t>
            </a:r>
            <a:r>
              <a:rPr lang="fr-FR" dirty="0" smtClean="0"/>
              <a:t> </a:t>
            </a:r>
          </a:p>
          <a:p>
            <a:pPr>
              <a:buFontTx/>
              <a:buChar char="-"/>
            </a:pPr>
            <a:r>
              <a:rPr lang="fr-FR" dirty="0" smtClean="0"/>
              <a:t>survient </a:t>
            </a:r>
            <a:r>
              <a:rPr lang="fr-FR" dirty="0"/>
              <a:t>le 3ème ou 4ème jour après la rupture. </a:t>
            </a:r>
            <a:endParaRPr lang="fr-FR" dirty="0" smtClean="0"/>
          </a:p>
          <a:p>
            <a:pPr>
              <a:buFontTx/>
              <a:buChar char="-"/>
            </a:pPr>
            <a:r>
              <a:rPr lang="fr-FR" dirty="0" smtClean="0"/>
              <a:t>maximum </a:t>
            </a:r>
            <a:r>
              <a:rPr lang="fr-FR" dirty="0"/>
              <a:t>entre le 4ème et le 12ème jour, </a:t>
            </a:r>
            <a:endParaRPr lang="fr-FR" dirty="0" smtClean="0"/>
          </a:p>
          <a:p>
            <a:pPr>
              <a:buFontTx/>
              <a:buChar char="-"/>
            </a:pPr>
            <a:r>
              <a:rPr lang="fr-FR" dirty="0" smtClean="0"/>
              <a:t>il </a:t>
            </a:r>
            <a:r>
              <a:rPr lang="fr-FR" dirty="0"/>
              <a:t>disparait entre 2 et 4 semaines après la rupture. </a:t>
            </a:r>
            <a:endParaRPr lang="fr-FR" dirty="0" smtClean="0"/>
          </a:p>
          <a:p>
            <a:pPr>
              <a:buFontTx/>
              <a:buChar char="-"/>
            </a:pPr>
            <a:r>
              <a:rPr lang="fr-FR" dirty="0" smtClean="0"/>
              <a:t>Il </a:t>
            </a:r>
            <a:r>
              <a:rPr lang="fr-FR" dirty="0"/>
              <a:t>est mis en évidence par le doppler </a:t>
            </a:r>
            <a:r>
              <a:rPr lang="fr-FR" dirty="0" err="1" smtClean="0"/>
              <a:t>transcrânien</a:t>
            </a:r>
            <a:r>
              <a:rPr lang="fr-FR" dirty="0" smtClean="0"/>
              <a:t>: une </a:t>
            </a:r>
            <a:r>
              <a:rPr lang="fr-FR" dirty="0"/>
              <a:t>augmentation des vitesses circulatoires au niveau de l’artère </a:t>
            </a:r>
            <a:r>
              <a:rPr lang="fr-FR" dirty="0" err="1"/>
              <a:t>spasmé</a:t>
            </a:r>
            <a:r>
              <a:rPr lang="fr-FR" dirty="0"/>
              <a:t>. </a:t>
            </a:r>
          </a:p>
          <a:p>
            <a:pPr>
              <a:buFontTx/>
              <a:buChar char="-"/>
            </a:pPr>
            <a:r>
              <a:rPr lang="fr-FR" dirty="0" smtClean="0"/>
              <a:t>confirmé́ </a:t>
            </a:r>
            <a:r>
              <a:rPr lang="fr-FR" dirty="0"/>
              <a:t>par l’angiographie cérébrale</a:t>
            </a:r>
            <a:r>
              <a:rPr lang="fr-FR" dirty="0" smtClean="0"/>
              <a:t>.</a:t>
            </a:r>
          </a:p>
          <a:p>
            <a:pPr marL="0" indent="0">
              <a:buNone/>
            </a:pPr>
            <a:r>
              <a:rPr lang="fr-FR" dirty="0" smtClean="0"/>
              <a:t>- La </a:t>
            </a:r>
            <a:r>
              <a:rPr lang="fr-FR" dirty="0"/>
              <a:t>prévention </a:t>
            </a:r>
            <a:r>
              <a:rPr lang="fr-FR" dirty="0" smtClean="0"/>
              <a:t>est </a:t>
            </a:r>
            <a:r>
              <a:rPr lang="fr-FR" dirty="0"/>
              <a:t>systématique par inhibiteurs calciques (</a:t>
            </a:r>
            <a:r>
              <a:rPr lang="fr-FR" dirty="0" err="1"/>
              <a:t>nimodipine</a:t>
            </a:r>
            <a:r>
              <a:rPr lang="fr-FR" dirty="0"/>
              <a:t>) avec surveillance tensionnelle stricte</a:t>
            </a:r>
            <a:r>
              <a:rPr lang="fr-FR" dirty="0" smtClean="0"/>
              <a:t>.</a:t>
            </a:r>
            <a:endParaRPr lang="fr-FR" dirty="0"/>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Traitement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1226906"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VIII</a:t>
            </a:r>
            <a:endParaRPr lang="fr-FR" sz="3200" dirty="0"/>
          </a:p>
        </p:txBody>
      </p:sp>
      <p:sp>
        <p:nvSpPr>
          <p:cNvPr id="6" name="TextBox 5"/>
          <p:cNvSpPr txBox="1"/>
          <p:nvPr/>
        </p:nvSpPr>
        <p:spPr>
          <a:xfrm>
            <a:off x="2578813" y="982067"/>
            <a:ext cx="5589142"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2800" b="1" dirty="0" smtClean="0">
                <a:solidFill>
                  <a:srgbClr val="844C83"/>
                </a:solidFill>
                <a:effectLst>
                  <a:outerShdw blurRad="38100" dist="38100" dir="2700000" algn="tl">
                    <a:srgbClr val="000000">
                      <a:alpha val="43137"/>
                    </a:srgbClr>
                  </a:outerShdw>
                </a:effectLst>
              </a:rPr>
              <a:t>3- </a:t>
            </a:r>
            <a:r>
              <a:rPr lang="fr-FR" sz="2800" b="1" dirty="0">
                <a:solidFill>
                  <a:srgbClr val="844C83"/>
                </a:solidFill>
                <a:effectLst>
                  <a:outerShdw blurRad="38100" dist="38100" dir="2700000" algn="tl">
                    <a:srgbClr val="000000">
                      <a:alpha val="43137"/>
                    </a:srgbClr>
                  </a:outerShdw>
                </a:effectLst>
              </a:rPr>
              <a:t>Traitement </a:t>
            </a:r>
            <a:r>
              <a:rPr lang="fr-FR" sz="2800" b="1" dirty="0" smtClean="0">
                <a:solidFill>
                  <a:srgbClr val="844C83"/>
                </a:solidFill>
                <a:effectLst>
                  <a:outerShdw blurRad="38100" dist="38100" dir="2700000" algn="tl">
                    <a:srgbClr val="000000">
                      <a:alpha val="43137"/>
                    </a:srgbClr>
                  </a:outerShdw>
                </a:effectLst>
              </a:rPr>
              <a:t>des complications  :</a:t>
            </a:r>
            <a:endParaRPr lang="fr-FR" sz="2800" dirty="0">
              <a:solidFill>
                <a:srgbClr val="844C83"/>
              </a:solidFill>
              <a:effectLst>
                <a:outerShdw blurRad="38100" dist="38100" dir="2700000" algn="tl">
                  <a:srgbClr val="000000">
                    <a:alpha val="43137"/>
                  </a:srgbClr>
                </a:outerShdw>
              </a:effectLst>
            </a:endParaRPr>
          </a:p>
        </p:txBody>
      </p:sp>
      <p:pic>
        <p:nvPicPr>
          <p:cNvPr id="34818" name="Picture 2" descr="Échographie doppler de l'artère péricalleus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22759" y="1659941"/>
            <a:ext cx="2794571" cy="2003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473004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404384"/>
            <a:ext cx="10515600" cy="4351338"/>
          </a:xfrm>
        </p:spPr>
        <p:txBody>
          <a:bodyPr/>
          <a:lstStyle/>
          <a:p>
            <a:pPr>
              <a:buFontTx/>
              <a:buChar char="-"/>
            </a:pPr>
            <a:r>
              <a:rPr lang="fr-FR" dirty="0" smtClean="0"/>
              <a:t>Quel </a:t>
            </a:r>
            <a:r>
              <a:rPr lang="fr-FR" dirty="0"/>
              <a:t>que soit l’étiologie, </a:t>
            </a:r>
            <a:r>
              <a:rPr lang="fr-FR" b="1" dirty="0"/>
              <a:t>le pronostic est </a:t>
            </a:r>
            <a:r>
              <a:rPr lang="fr-FR" b="1" dirty="0" smtClean="0"/>
              <a:t>sévère </a:t>
            </a:r>
            <a:r>
              <a:rPr lang="fr-FR" dirty="0" smtClean="0"/>
              <a:t>avec :</a:t>
            </a:r>
          </a:p>
          <a:p>
            <a:pPr marL="0" indent="0">
              <a:buNone/>
            </a:pPr>
            <a:r>
              <a:rPr lang="fr-FR" dirty="0" smtClean="0"/>
              <a:t>                          -  Une </a:t>
            </a:r>
            <a:r>
              <a:rPr lang="fr-FR" b="1" dirty="0"/>
              <a:t>mortalité́</a:t>
            </a:r>
            <a:r>
              <a:rPr lang="fr-FR" dirty="0"/>
              <a:t> de l’ordre de </a:t>
            </a:r>
            <a:r>
              <a:rPr lang="fr-FR" dirty="0">
                <a:solidFill>
                  <a:srgbClr val="C00000"/>
                </a:solidFill>
              </a:rPr>
              <a:t>25%</a:t>
            </a:r>
            <a:r>
              <a:rPr lang="fr-FR" dirty="0"/>
              <a:t> </a:t>
            </a:r>
            <a:endParaRPr lang="fr-FR" dirty="0" smtClean="0"/>
          </a:p>
          <a:p>
            <a:pPr marL="0" indent="0">
              <a:buNone/>
            </a:pPr>
            <a:r>
              <a:rPr lang="fr-FR" dirty="0"/>
              <a:t> </a:t>
            </a:r>
            <a:r>
              <a:rPr lang="fr-FR" dirty="0" smtClean="0"/>
              <a:t>                         -  Une </a:t>
            </a:r>
            <a:r>
              <a:rPr lang="fr-FR" b="1" dirty="0"/>
              <a:t>morbidité́</a:t>
            </a:r>
            <a:r>
              <a:rPr lang="fr-FR" dirty="0"/>
              <a:t> de </a:t>
            </a:r>
            <a:r>
              <a:rPr lang="fr-FR" dirty="0">
                <a:solidFill>
                  <a:srgbClr val="C00000"/>
                </a:solidFill>
              </a:rPr>
              <a:t>50%</a:t>
            </a:r>
            <a:r>
              <a:rPr lang="fr-FR" dirty="0"/>
              <a:t>. </a:t>
            </a:r>
            <a:endParaRPr lang="fr-FR" dirty="0" smtClean="0"/>
          </a:p>
          <a:p>
            <a:pPr marL="0" indent="0">
              <a:buNone/>
            </a:pPr>
            <a:endParaRPr lang="fr-FR" dirty="0" smtClean="0"/>
          </a:p>
          <a:p>
            <a:pPr>
              <a:buFontTx/>
              <a:buChar char="-"/>
            </a:pPr>
            <a:r>
              <a:rPr lang="fr-FR" dirty="0" smtClean="0"/>
              <a:t>Le risque de </a:t>
            </a:r>
            <a:r>
              <a:rPr lang="fr-FR" b="1" dirty="0" err="1" smtClean="0"/>
              <a:t>re</a:t>
            </a:r>
            <a:r>
              <a:rPr lang="fr-FR" b="1" dirty="0" smtClean="0"/>
              <a:t>-saignement </a:t>
            </a:r>
            <a:r>
              <a:rPr lang="fr-FR" dirty="0"/>
              <a:t>est de 3 à 4% avec un taux de mortalité élevé de l’ordre de 35 à 70%. </a:t>
            </a:r>
            <a:endParaRPr lang="fr-FR" dirty="0" smtClean="0"/>
          </a:p>
          <a:p>
            <a:pPr>
              <a:buFontTx/>
              <a:buChar char="-"/>
            </a:pPr>
            <a:endParaRPr lang="fr-FR" dirty="0"/>
          </a:p>
          <a:p>
            <a:pPr>
              <a:buFontTx/>
              <a:buChar char="-"/>
            </a:pPr>
            <a:r>
              <a:rPr lang="fr-FR" dirty="0" smtClean="0"/>
              <a:t>La </a:t>
            </a:r>
            <a:r>
              <a:rPr lang="fr-FR" dirty="0"/>
              <a:t>survenue d’un </a:t>
            </a:r>
            <a:r>
              <a:rPr lang="fr-FR" dirty="0" err="1"/>
              <a:t>vasospasme</a:t>
            </a:r>
            <a:r>
              <a:rPr lang="fr-FR" dirty="0"/>
              <a:t> ou d’une hydrocéphalie, conditionne le pronostic. </a:t>
            </a:r>
          </a:p>
        </p:txBody>
      </p:sp>
      <p:sp>
        <p:nvSpPr>
          <p:cNvPr id="4" name="Title 1"/>
          <p:cNvSpPr>
            <a:spLocks noGrp="1"/>
          </p:cNvSpPr>
          <p:nvPr>
            <p:ph type="title"/>
          </p:nvPr>
        </p:nvSpPr>
        <p:spPr>
          <a:xfrm>
            <a:off x="0" y="-179523"/>
            <a:ext cx="12191999" cy="983380"/>
          </a:xfrm>
          <a:solidFill>
            <a:srgbClr val="844C83"/>
          </a:solidFill>
        </p:spPr>
        <p:txBody>
          <a:bodyPr>
            <a:normAutofit/>
          </a:bodyPr>
          <a:lstStyle/>
          <a:p>
            <a:pPr algn="ctr"/>
            <a:r>
              <a:rPr lang="fr-FR" sz="5400" b="1" dirty="0" smtClean="0">
                <a:solidFill>
                  <a:schemeClr val="bg1"/>
                </a:solidFill>
              </a:rPr>
              <a:t>Pronostic </a:t>
            </a:r>
            <a:endParaRPr lang="fr-FR" sz="5400" b="1" dirty="0">
              <a:solidFill>
                <a:schemeClr val="bg1"/>
              </a:solidFill>
              <a:effectLst>
                <a:outerShdw blurRad="38100" dist="38100" dir="2700000" algn="tl">
                  <a:srgbClr val="000000">
                    <a:alpha val="43137"/>
                  </a:srgbClr>
                </a:outerShdw>
              </a:effectLst>
            </a:endParaRPr>
          </a:p>
        </p:txBody>
      </p:sp>
      <p:sp>
        <p:nvSpPr>
          <p:cNvPr id="5" name="Oval 4"/>
          <p:cNvSpPr/>
          <p:nvPr/>
        </p:nvSpPr>
        <p:spPr>
          <a:xfrm>
            <a:off x="838200" y="0"/>
            <a:ext cx="873642" cy="655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dirty="0" smtClean="0"/>
              <a:t>IX</a:t>
            </a:r>
            <a:endParaRPr lang="fr-FR" sz="3200" dirty="0"/>
          </a:p>
        </p:txBody>
      </p:sp>
    </p:spTree>
    <p:extLst>
      <p:ext uri="{BB962C8B-B14F-4D97-AF65-F5344CB8AC3E}">
        <p14:creationId xmlns:p14="http://schemas.microsoft.com/office/powerpoint/2010/main" val="397858183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844C8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54804" y="1726060"/>
            <a:ext cx="11239927" cy="4500080"/>
          </a:xfrm>
        </p:spPr>
        <p:txBody>
          <a:bodyPr/>
          <a:lstStyle/>
          <a:p>
            <a:r>
              <a:rPr lang="fr-FR" dirty="0">
                <a:solidFill>
                  <a:schemeClr val="bg1"/>
                </a:solidFill>
              </a:rPr>
              <a:t>L’HSA est une urgence diagnostique et thérapeutique</a:t>
            </a:r>
            <a:r>
              <a:rPr lang="fr-FR" dirty="0" smtClean="0">
                <a:solidFill>
                  <a:schemeClr val="bg1"/>
                </a:solidFill>
              </a:rPr>
              <a:t>.</a:t>
            </a:r>
          </a:p>
          <a:p>
            <a:r>
              <a:rPr lang="fr-FR" dirty="0" smtClean="0">
                <a:solidFill>
                  <a:schemeClr val="bg1"/>
                </a:solidFill>
              </a:rPr>
              <a:t>Le </a:t>
            </a:r>
            <a:r>
              <a:rPr lang="fr-FR" dirty="0">
                <a:solidFill>
                  <a:schemeClr val="bg1"/>
                </a:solidFill>
              </a:rPr>
              <a:t>maitre symptôme est les céphalées d’installation brutales</a:t>
            </a:r>
            <a:r>
              <a:rPr lang="fr-FR" dirty="0" smtClean="0">
                <a:solidFill>
                  <a:schemeClr val="bg1"/>
                </a:solidFill>
              </a:rPr>
              <a:t>.</a:t>
            </a:r>
            <a:endParaRPr lang="fr-FR" dirty="0">
              <a:solidFill>
                <a:schemeClr val="bg1"/>
              </a:solidFill>
            </a:endParaRPr>
          </a:p>
          <a:p>
            <a:r>
              <a:rPr lang="fr-FR" dirty="0">
                <a:solidFill>
                  <a:schemeClr val="bg1"/>
                </a:solidFill>
              </a:rPr>
              <a:t>Le diagnostic de l’HSA doit faire rechercher en premier plan un anévrisme artériel cérébral. </a:t>
            </a:r>
            <a:endParaRPr lang="fr-FR" dirty="0" smtClean="0">
              <a:solidFill>
                <a:schemeClr val="bg1"/>
              </a:solidFill>
            </a:endParaRPr>
          </a:p>
          <a:p>
            <a:r>
              <a:rPr lang="fr-FR" dirty="0">
                <a:solidFill>
                  <a:schemeClr val="bg1"/>
                </a:solidFill>
              </a:rPr>
              <a:t>La prise en charge doit se faire dans un centre spécialisé en </a:t>
            </a:r>
            <a:r>
              <a:rPr lang="fr-FR" dirty="0" err="1">
                <a:solidFill>
                  <a:schemeClr val="bg1"/>
                </a:solidFill>
              </a:rPr>
              <a:t>Neurovasculaire</a:t>
            </a:r>
            <a:r>
              <a:rPr lang="fr-FR" dirty="0">
                <a:solidFill>
                  <a:schemeClr val="bg1"/>
                </a:solidFill>
              </a:rPr>
              <a:t>. </a:t>
            </a:r>
            <a:endParaRPr lang="fr-FR" dirty="0" smtClean="0">
              <a:solidFill>
                <a:schemeClr val="bg1"/>
              </a:solidFill>
            </a:endParaRPr>
          </a:p>
          <a:p>
            <a:r>
              <a:rPr lang="fr-FR" dirty="0" smtClean="0">
                <a:solidFill>
                  <a:schemeClr val="bg1"/>
                </a:solidFill>
              </a:rPr>
              <a:t>Le </a:t>
            </a:r>
            <a:r>
              <a:rPr lang="fr-FR" dirty="0">
                <a:solidFill>
                  <a:schemeClr val="bg1"/>
                </a:solidFill>
              </a:rPr>
              <a:t>pronostic dépend de la précocité du diagnostic, du traitement étiologique et de la prise en charge des complications notamment l’hydrocéphalie et le </a:t>
            </a:r>
            <a:r>
              <a:rPr lang="fr-FR" dirty="0" err="1">
                <a:solidFill>
                  <a:schemeClr val="bg1"/>
                </a:solidFill>
              </a:rPr>
              <a:t>vasospasme</a:t>
            </a:r>
            <a:r>
              <a:rPr lang="fr-FR" dirty="0">
                <a:solidFill>
                  <a:schemeClr val="bg1"/>
                </a:solidFill>
              </a:rPr>
              <a:t>. </a:t>
            </a:r>
            <a:r>
              <a:rPr lang="fr-FR" b="1" dirty="0">
                <a:solidFill>
                  <a:schemeClr val="bg1"/>
                </a:solidFill>
              </a:rPr>
              <a:t> </a:t>
            </a:r>
            <a:endParaRPr lang="fr-FR" dirty="0">
              <a:solidFill>
                <a:schemeClr val="bg1"/>
              </a:solidFill>
            </a:endParaRPr>
          </a:p>
          <a:p>
            <a:endParaRPr lang="fr-FR" dirty="0">
              <a:solidFill>
                <a:schemeClr val="bg1"/>
              </a:solidFill>
            </a:endParaRPr>
          </a:p>
        </p:txBody>
      </p:sp>
      <p:sp>
        <p:nvSpPr>
          <p:cNvPr id="4" name="Title 1"/>
          <p:cNvSpPr>
            <a:spLocks noGrp="1"/>
          </p:cNvSpPr>
          <p:nvPr>
            <p:ph type="title"/>
          </p:nvPr>
        </p:nvSpPr>
        <p:spPr>
          <a:xfrm>
            <a:off x="0" y="4916"/>
            <a:ext cx="12191999" cy="1168102"/>
          </a:xfrm>
          <a:solidFill>
            <a:schemeClr val="bg1"/>
          </a:solidFill>
        </p:spPr>
        <p:txBody>
          <a:bodyPr>
            <a:normAutofit/>
          </a:bodyPr>
          <a:lstStyle/>
          <a:p>
            <a:pPr algn="ctr"/>
            <a:r>
              <a:rPr lang="fr-FR" sz="5400" b="1" dirty="0" smtClean="0">
                <a:solidFill>
                  <a:srgbClr val="844C83"/>
                </a:solidFill>
                <a:effectLst>
                  <a:outerShdw blurRad="38100" dist="38100" dir="2700000" algn="tl">
                    <a:srgbClr val="000000">
                      <a:alpha val="43137"/>
                    </a:srgbClr>
                  </a:outerShdw>
                </a:effectLst>
              </a:rPr>
              <a:t>Conclusion </a:t>
            </a:r>
            <a:endParaRPr lang="fr-FR" sz="5400" b="1"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6185970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844C8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83029" y="1458686"/>
            <a:ext cx="11636827" cy="5203371"/>
          </a:xfrm>
        </p:spPr>
        <p:txBody>
          <a:bodyPr>
            <a:normAutofit fontScale="85000" lnSpcReduction="20000"/>
          </a:bodyPr>
          <a:lstStyle/>
          <a:p>
            <a:pPr marL="0" indent="0">
              <a:buNone/>
            </a:pPr>
            <a:r>
              <a:rPr lang="fr-FR" b="1" dirty="0">
                <a:solidFill>
                  <a:schemeClr val="bg1"/>
                </a:solidFill>
              </a:rPr>
              <a:t>[1] </a:t>
            </a:r>
            <a:r>
              <a:rPr lang="fr-FR" dirty="0">
                <a:solidFill>
                  <a:schemeClr val="bg1"/>
                </a:solidFill>
              </a:rPr>
              <a:t>P. Hantson, Physiopathologie des lésions cérébrales précoces et retardées </a:t>
            </a:r>
            <a:r>
              <a:rPr lang="fr-FR" dirty="0" smtClean="0">
                <a:solidFill>
                  <a:schemeClr val="bg1"/>
                </a:solidFill>
              </a:rPr>
              <a:t>dans l’hémorragie </a:t>
            </a:r>
            <a:r>
              <a:rPr lang="fr-FR" dirty="0">
                <a:solidFill>
                  <a:schemeClr val="bg1"/>
                </a:solidFill>
              </a:rPr>
              <a:t>sous-arachnoïdienne : avancées récentes. SRLF et Springer-</a:t>
            </a:r>
            <a:r>
              <a:rPr lang="fr-FR" dirty="0" err="1">
                <a:solidFill>
                  <a:schemeClr val="bg1"/>
                </a:solidFill>
              </a:rPr>
              <a:t>Verlag</a:t>
            </a:r>
            <a:r>
              <a:rPr lang="fr-FR" dirty="0">
                <a:solidFill>
                  <a:schemeClr val="bg1"/>
                </a:solidFill>
              </a:rPr>
              <a:t> France 2011</a:t>
            </a:r>
          </a:p>
          <a:p>
            <a:pPr marL="0" indent="0">
              <a:buNone/>
            </a:pPr>
            <a:r>
              <a:rPr lang="en-US" b="1" dirty="0">
                <a:solidFill>
                  <a:schemeClr val="bg1"/>
                </a:solidFill>
              </a:rPr>
              <a:t>[2] </a:t>
            </a:r>
            <a:r>
              <a:rPr lang="en-US" dirty="0">
                <a:solidFill>
                  <a:schemeClr val="bg1"/>
                </a:solidFill>
              </a:rPr>
              <a:t>Jan </a:t>
            </a:r>
            <a:r>
              <a:rPr lang="en-US" dirty="0" err="1">
                <a:solidFill>
                  <a:schemeClr val="bg1"/>
                </a:solidFill>
              </a:rPr>
              <a:t>Glaassen</a:t>
            </a:r>
            <a:r>
              <a:rPr lang="en-US" dirty="0">
                <a:solidFill>
                  <a:schemeClr val="bg1"/>
                </a:solidFill>
              </a:rPr>
              <a:t>, Spontaneous subarachnoid </a:t>
            </a:r>
            <a:r>
              <a:rPr lang="en-US" dirty="0" err="1">
                <a:solidFill>
                  <a:schemeClr val="bg1"/>
                </a:solidFill>
              </a:rPr>
              <a:t>haemorrhage</a:t>
            </a:r>
            <a:r>
              <a:rPr lang="en-US" dirty="0">
                <a:solidFill>
                  <a:schemeClr val="bg1"/>
                </a:solidFill>
              </a:rPr>
              <a:t>. 2022 Elsevier</a:t>
            </a:r>
            <a:endParaRPr lang="fr-FR" b="1" dirty="0">
              <a:solidFill>
                <a:schemeClr val="bg1"/>
              </a:solidFill>
            </a:endParaRPr>
          </a:p>
          <a:p>
            <a:pPr marL="0" indent="0">
              <a:buNone/>
            </a:pPr>
            <a:r>
              <a:rPr lang="en-US" dirty="0">
                <a:solidFill>
                  <a:schemeClr val="bg1"/>
                </a:solidFill>
              </a:rPr>
              <a:t>[3] J </a:t>
            </a:r>
            <a:r>
              <a:rPr lang="en-US" dirty="0" err="1">
                <a:solidFill>
                  <a:schemeClr val="bg1"/>
                </a:solidFill>
              </a:rPr>
              <a:t>Vivancos</a:t>
            </a:r>
            <a:r>
              <a:rPr lang="en-US" dirty="0">
                <a:solidFill>
                  <a:schemeClr val="bg1"/>
                </a:solidFill>
              </a:rPr>
              <a:t>, Clinical management guidelines for subarachnoid </a:t>
            </a:r>
            <a:r>
              <a:rPr lang="en-US" dirty="0" err="1">
                <a:solidFill>
                  <a:schemeClr val="bg1"/>
                </a:solidFill>
              </a:rPr>
              <a:t>haemorrhage</a:t>
            </a:r>
            <a:r>
              <a:rPr lang="en-US" dirty="0">
                <a:solidFill>
                  <a:schemeClr val="bg1"/>
                </a:solidFill>
              </a:rPr>
              <a:t>. Diagnosis and treatment. </a:t>
            </a:r>
            <a:endParaRPr lang="en-US" dirty="0" smtClean="0">
              <a:solidFill>
                <a:schemeClr val="bg1"/>
              </a:solidFill>
            </a:endParaRPr>
          </a:p>
          <a:p>
            <a:pPr marL="0" indent="0">
              <a:buNone/>
            </a:pPr>
            <a:r>
              <a:rPr lang="fr-FR" b="1" dirty="0" smtClean="0">
                <a:solidFill>
                  <a:schemeClr val="bg1"/>
                </a:solidFill>
              </a:rPr>
              <a:t>[4] </a:t>
            </a:r>
            <a:r>
              <a:rPr lang="fr-FR" dirty="0">
                <a:solidFill>
                  <a:schemeClr val="bg1"/>
                </a:solidFill>
              </a:rPr>
              <a:t>V. Legros , Complications </a:t>
            </a:r>
            <a:r>
              <a:rPr lang="fr-FR" dirty="0" err="1">
                <a:solidFill>
                  <a:schemeClr val="bg1"/>
                </a:solidFill>
              </a:rPr>
              <a:t>extraneurologiques</a:t>
            </a:r>
            <a:r>
              <a:rPr lang="fr-FR" dirty="0">
                <a:solidFill>
                  <a:schemeClr val="bg1"/>
                </a:solidFill>
              </a:rPr>
              <a:t> des hémorragies </a:t>
            </a:r>
            <a:r>
              <a:rPr lang="fr-FR" dirty="0" err="1">
                <a:solidFill>
                  <a:schemeClr val="bg1"/>
                </a:solidFill>
              </a:rPr>
              <a:t>sousarachnoïdiennes</a:t>
            </a:r>
            <a:r>
              <a:rPr lang="fr-FR" dirty="0">
                <a:solidFill>
                  <a:schemeClr val="bg1"/>
                </a:solidFill>
              </a:rPr>
              <a:t> </a:t>
            </a:r>
            <a:r>
              <a:rPr lang="fr-FR" dirty="0" smtClean="0">
                <a:solidFill>
                  <a:schemeClr val="bg1"/>
                </a:solidFill>
              </a:rPr>
              <a:t>anévrismales SRLF </a:t>
            </a:r>
            <a:r>
              <a:rPr lang="fr-FR" dirty="0">
                <a:solidFill>
                  <a:schemeClr val="bg1"/>
                </a:solidFill>
              </a:rPr>
              <a:t>et Lavoisier SAS 2017  </a:t>
            </a:r>
            <a:endParaRPr lang="fr-FR" dirty="0" smtClean="0">
              <a:solidFill>
                <a:schemeClr val="bg1"/>
              </a:solidFill>
            </a:endParaRPr>
          </a:p>
          <a:p>
            <a:pPr marL="0" indent="0">
              <a:buNone/>
            </a:pPr>
            <a:r>
              <a:rPr lang="fr-FR" b="1" dirty="0" smtClean="0">
                <a:solidFill>
                  <a:schemeClr val="bg1"/>
                </a:solidFill>
              </a:rPr>
              <a:t>[5]</a:t>
            </a:r>
            <a:r>
              <a:rPr lang="fr-FR" dirty="0" smtClean="0">
                <a:solidFill>
                  <a:schemeClr val="bg1"/>
                </a:solidFill>
              </a:rPr>
              <a:t> M.-B. Rougier </a:t>
            </a:r>
            <a:r>
              <a:rPr lang="fr-FR" dirty="0" err="1" smtClean="0">
                <a:solidFill>
                  <a:schemeClr val="bg1"/>
                </a:solidFill>
              </a:rPr>
              <a:t>Diagnosing</a:t>
            </a:r>
            <a:r>
              <a:rPr lang="fr-FR" dirty="0" smtClean="0">
                <a:solidFill>
                  <a:schemeClr val="bg1"/>
                </a:solidFill>
              </a:rPr>
              <a:t> </a:t>
            </a:r>
            <a:r>
              <a:rPr lang="fr-FR" dirty="0" err="1" smtClean="0">
                <a:solidFill>
                  <a:schemeClr val="bg1"/>
                </a:solidFill>
              </a:rPr>
              <a:t>bilateral</a:t>
            </a:r>
            <a:r>
              <a:rPr lang="fr-FR" dirty="0" smtClean="0">
                <a:solidFill>
                  <a:schemeClr val="bg1"/>
                </a:solidFill>
              </a:rPr>
              <a:t> </a:t>
            </a:r>
            <a:r>
              <a:rPr lang="fr-FR" dirty="0" err="1" smtClean="0">
                <a:solidFill>
                  <a:schemeClr val="bg1"/>
                </a:solidFill>
              </a:rPr>
              <a:t>papilledema</a:t>
            </a:r>
            <a:r>
              <a:rPr lang="fr-FR" dirty="0" smtClean="0">
                <a:solidFill>
                  <a:schemeClr val="bg1"/>
                </a:solidFill>
              </a:rPr>
              <a:t> Journal français d’ophtalmologie (2010) 33, 424—429</a:t>
            </a:r>
          </a:p>
          <a:p>
            <a:pPr marL="0" indent="0">
              <a:buNone/>
            </a:pPr>
            <a:r>
              <a:rPr lang="fr-FR" b="1" dirty="0" smtClean="0">
                <a:solidFill>
                  <a:schemeClr val="bg1"/>
                </a:solidFill>
              </a:rPr>
              <a:t>[6] </a:t>
            </a:r>
            <a:r>
              <a:rPr lang="fr-FR" dirty="0" smtClean="0">
                <a:solidFill>
                  <a:schemeClr val="bg1"/>
                </a:solidFill>
              </a:rPr>
              <a:t>F.NETTER. Atlas d’Anatomie humaine 5e Ed. Section 1 : tête et cou</a:t>
            </a:r>
          </a:p>
          <a:p>
            <a:pPr marL="0" indent="0">
              <a:buNone/>
            </a:pPr>
            <a:r>
              <a:rPr lang="fr-FR" b="1" dirty="0" smtClean="0">
                <a:solidFill>
                  <a:schemeClr val="bg1"/>
                </a:solidFill>
              </a:rPr>
              <a:t>[7] </a:t>
            </a:r>
            <a:r>
              <a:rPr lang="fr-FR" dirty="0" smtClean="0">
                <a:solidFill>
                  <a:schemeClr val="bg1"/>
                </a:solidFill>
              </a:rPr>
              <a:t>J </a:t>
            </a:r>
            <a:r>
              <a:rPr lang="fr-FR" dirty="0" err="1" smtClean="0">
                <a:solidFill>
                  <a:schemeClr val="bg1"/>
                </a:solidFill>
              </a:rPr>
              <a:t>Vivancos</a:t>
            </a:r>
            <a:r>
              <a:rPr lang="fr-FR" dirty="0" smtClean="0">
                <a:solidFill>
                  <a:schemeClr val="bg1"/>
                </a:solidFill>
              </a:rPr>
              <a:t>. </a:t>
            </a:r>
            <a:r>
              <a:rPr lang="en-US" dirty="0" smtClean="0">
                <a:solidFill>
                  <a:schemeClr val="bg1"/>
                </a:solidFill>
              </a:rPr>
              <a:t>Clinical </a:t>
            </a:r>
            <a:r>
              <a:rPr lang="en-US" dirty="0">
                <a:solidFill>
                  <a:schemeClr val="bg1"/>
                </a:solidFill>
              </a:rPr>
              <a:t>management guidelines for subarachnoid </a:t>
            </a:r>
            <a:r>
              <a:rPr lang="en-US" dirty="0" err="1">
                <a:solidFill>
                  <a:schemeClr val="bg1"/>
                </a:solidFill>
              </a:rPr>
              <a:t>haemorrhage</a:t>
            </a:r>
            <a:r>
              <a:rPr lang="en-US" dirty="0">
                <a:solidFill>
                  <a:schemeClr val="bg1"/>
                </a:solidFill>
              </a:rPr>
              <a:t>. Diagnosis and </a:t>
            </a:r>
            <a:r>
              <a:rPr lang="en-US" dirty="0" smtClean="0">
                <a:solidFill>
                  <a:schemeClr val="bg1"/>
                </a:solidFill>
              </a:rPr>
              <a:t>treatment </a:t>
            </a:r>
            <a:r>
              <a:rPr lang="en-US" dirty="0" err="1" smtClean="0">
                <a:solidFill>
                  <a:schemeClr val="bg1"/>
                </a:solidFill>
              </a:rPr>
              <a:t>Neurologia</a:t>
            </a:r>
            <a:r>
              <a:rPr lang="en-US" dirty="0" smtClean="0">
                <a:solidFill>
                  <a:schemeClr val="bg1"/>
                </a:solidFill>
              </a:rPr>
              <a:t> </a:t>
            </a:r>
            <a:r>
              <a:rPr lang="fr-FR" dirty="0">
                <a:solidFill>
                  <a:schemeClr val="bg1"/>
                </a:solidFill>
              </a:rPr>
              <a:t>2014 </a:t>
            </a:r>
            <a:r>
              <a:rPr lang="fr-FR" dirty="0" err="1">
                <a:solidFill>
                  <a:schemeClr val="bg1"/>
                </a:solidFill>
              </a:rPr>
              <a:t>Jul-Aug</a:t>
            </a:r>
            <a:endParaRPr lang="en-US" dirty="0">
              <a:solidFill>
                <a:schemeClr val="bg1"/>
              </a:solidFill>
            </a:endParaRPr>
          </a:p>
          <a:p>
            <a:pPr marL="0" indent="0">
              <a:buNone/>
            </a:pPr>
            <a:endParaRPr lang="fr-FR" dirty="0" smtClean="0">
              <a:solidFill>
                <a:schemeClr val="bg1"/>
              </a:solidFill>
            </a:endParaRPr>
          </a:p>
          <a:p>
            <a:pPr marL="0" indent="0">
              <a:buNone/>
            </a:pPr>
            <a:r>
              <a:rPr lang="fr-FR" dirty="0" smtClean="0">
                <a:solidFill>
                  <a:schemeClr val="bg1"/>
                </a:solidFill>
              </a:rPr>
              <a:t/>
            </a:r>
            <a:br>
              <a:rPr lang="fr-FR" dirty="0" smtClean="0">
                <a:solidFill>
                  <a:schemeClr val="bg1"/>
                </a:solidFill>
              </a:rPr>
            </a:br>
            <a:endParaRPr lang="fr-FR" dirty="0" smtClean="0">
              <a:solidFill>
                <a:schemeClr val="bg1"/>
              </a:solidFill>
            </a:endParaRPr>
          </a:p>
          <a:p>
            <a:pPr marL="0" indent="0">
              <a:buNone/>
            </a:pPr>
            <a:endParaRPr lang="fr-FR" dirty="0">
              <a:solidFill>
                <a:schemeClr val="bg1"/>
              </a:solidFill>
            </a:endParaRPr>
          </a:p>
          <a:p>
            <a:pPr marL="0" indent="0">
              <a:buNone/>
            </a:pPr>
            <a:endParaRPr lang="fr-FR" b="1" dirty="0">
              <a:solidFill>
                <a:schemeClr val="bg1"/>
              </a:solidFill>
            </a:endParaRPr>
          </a:p>
          <a:p>
            <a:endParaRPr lang="fr-FR" dirty="0">
              <a:solidFill>
                <a:schemeClr val="bg1"/>
              </a:solidFill>
            </a:endParaRPr>
          </a:p>
        </p:txBody>
      </p:sp>
      <p:sp>
        <p:nvSpPr>
          <p:cNvPr id="4" name="Title 1"/>
          <p:cNvSpPr>
            <a:spLocks noGrp="1"/>
          </p:cNvSpPr>
          <p:nvPr>
            <p:ph type="title"/>
          </p:nvPr>
        </p:nvSpPr>
        <p:spPr>
          <a:xfrm>
            <a:off x="0" y="4916"/>
            <a:ext cx="12191999" cy="1168102"/>
          </a:xfrm>
          <a:solidFill>
            <a:schemeClr val="bg1"/>
          </a:solidFill>
        </p:spPr>
        <p:txBody>
          <a:bodyPr>
            <a:normAutofit/>
          </a:bodyPr>
          <a:lstStyle/>
          <a:p>
            <a:pPr algn="ctr"/>
            <a:r>
              <a:rPr lang="fr-FR" sz="5400" b="1" dirty="0" smtClean="0">
                <a:solidFill>
                  <a:srgbClr val="844C83"/>
                </a:solidFill>
                <a:effectLst>
                  <a:outerShdw blurRad="38100" dist="38100" dir="2700000" algn="tl">
                    <a:srgbClr val="000000">
                      <a:alpha val="43137"/>
                    </a:srgbClr>
                  </a:outerShdw>
                </a:effectLst>
              </a:rPr>
              <a:t>Reference </a:t>
            </a:r>
            <a:endParaRPr lang="fr-FR" sz="5400" b="1" dirty="0">
              <a:solidFill>
                <a:srgbClr val="844C83"/>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269726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16933</TotalTime>
  <Words>2775</Words>
  <Application>Microsoft Office PowerPoint</Application>
  <PresentationFormat>Grand écran</PresentationFormat>
  <Paragraphs>579</Paragraphs>
  <Slides>61</Slides>
  <Notes>35</Notes>
  <HiddenSlides>0</HiddenSlides>
  <MMClips>0</MMClips>
  <ScaleCrop>false</ScaleCrop>
  <HeadingPairs>
    <vt:vector size="8" baseType="variant">
      <vt:variant>
        <vt:lpstr>Polices utilisées</vt:lpstr>
      </vt:variant>
      <vt:variant>
        <vt:i4>4</vt:i4>
      </vt:variant>
      <vt:variant>
        <vt:lpstr>Thème</vt:lpstr>
      </vt:variant>
      <vt:variant>
        <vt:i4>1</vt:i4>
      </vt:variant>
      <vt:variant>
        <vt:lpstr>Serveurs OLE incorporés</vt:lpstr>
      </vt:variant>
      <vt:variant>
        <vt:i4>1</vt:i4>
      </vt:variant>
      <vt:variant>
        <vt:lpstr>Titres des diapositives</vt:lpstr>
      </vt:variant>
      <vt:variant>
        <vt:i4>61</vt:i4>
      </vt:variant>
    </vt:vector>
  </HeadingPairs>
  <TitlesOfParts>
    <vt:vector size="67" baseType="lpstr">
      <vt:lpstr>Arial</vt:lpstr>
      <vt:lpstr>Calibri</vt:lpstr>
      <vt:lpstr>Calibri Light</vt:lpstr>
      <vt:lpstr>Wingdings</vt:lpstr>
      <vt:lpstr>Office Theme</vt:lpstr>
      <vt:lpstr>Bitmap Image</vt:lpstr>
      <vt:lpstr>Présentation PowerPoint</vt:lpstr>
      <vt:lpstr>Présentation PowerPoint</vt:lpstr>
      <vt:lpstr>Plan </vt:lpstr>
      <vt:lpstr>Introduction </vt:lpstr>
      <vt:lpstr>Introduction </vt:lpstr>
      <vt:lpstr>Rappel anatomique </vt:lpstr>
      <vt:lpstr>Rappel anatomique </vt:lpstr>
      <vt:lpstr>Physiopathologie </vt:lpstr>
      <vt:lpstr>Physiopathologie </vt:lpstr>
      <vt:lpstr>Clinique </vt:lpstr>
      <vt:lpstr>Clinique </vt:lpstr>
      <vt:lpstr>Clinique </vt:lpstr>
      <vt:lpstr>Clinique </vt:lpstr>
      <vt:lpstr>Clinique </vt:lpstr>
      <vt:lpstr>Clinique </vt:lpstr>
      <vt:lpstr>Clinique </vt:lpstr>
      <vt:lpstr>Clinique </vt:lpstr>
      <vt:lpstr>Clinique </vt:lpstr>
      <vt:lpstr>Clinique </vt:lpstr>
      <vt:lpstr>Diagnostic Etiologique </vt:lpstr>
      <vt:lpstr>Diagnostic Etiologique </vt:lpstr>
      <vt:lpstr>Diagnostic Etiologique </vt:lpstr>
      <vt:lpstr>Diagnostic Etiologique </vt:lpstr>
      <vt:lpstr>Diagnostic Etiologique </vt:lpstr>
      <vt:lpstr>Diagnostic Etiologique </vt:lpstr>
      <vt:lpstr>Diagnostic Etiologique </vt:lpstr>
      <vt:lpstr>Diagnostic Etiologique </vt:lpstr>
      <vt:lpstr>Diagnostic Etiologique </vt:lpstr>
      <vt:lpstr>Diagnostic Etiologique </vt:lpstr>
      <vt:lpstr>Diagnostic Etiologique </vt:lpstr>
      <vt:lpstr>Diagnostic Etiologique </vt:lpstr>
      <vt:lpstr>Examen Complémentaire </vt:lpstr>
      <vt:lpstr>Examen Complémentaire </vt:lpstr>
      <vt:lpstr>Examen Complémentaire </vt:lpstr>
      <vt:lpstr>Examen Complémentaire </vt:lpstr>
      <vt:lpstr>Examen Complémentaire </vt:lpstr>
      <vt:lpstr>Examen Complémentaire </vt:lpstr>
      <vt:lpstr>Examen Complémentaire </vt:lpstr>
      <vt:lpstr>Examen Complémentaire </vt:lpstr>
      <vt:lpstr>Examen Complémentaire </vt:lpstr>
      <vt:lpstr>Examen Complémentaire </vt:lpstr>
      <vt:lpstr>Examen Complémentaire </vt:lpstr>
      <vt:lpstr>Examen Complémentaire </vt:lpstr>
      <vt:lpstr>Présentation PowerPoint</vt:lpstr>
      <vt:lpstr>Présentation PowerPoint</vt:lpstr>
      <vt:lpstr>Présentation PowerPoint</vt:lpstr>
      <vt:lpstr>Présentation PowerPoint</vt:lpstr>
      <vt:lpstr>Complications </vt:lpstr>
      <vt:lpstr>Traitement </vt:lpstr>
      <vt:lpstr>Traitement </vt:lpstr>
      <vt:lpstr>Traitement </vt:lpstr>
      <vt:lpstr>Traitement </vt:lpstr>
      <vt:lpstr>Traitement </vt:lpstr>
      <vt:lpstr>Traitement </vt:lpstr>
      <vt:lpstr>Traitement </vt:lpstr>
      <vt:lpstr>Traitement </vt:lpstr>
      <vt:lpstr>Traitement </vt:lpstr>
      <vt:lpstr>Traitement </vt:lpstr>
      <vt:lpstr>Pronostic </vt:lpstr>
      <vt:lpstr>Conclusion </vt:lpstr>
      <vt:lpstr>Reference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Compte Microsoft</dc:creator>
  <cp:lastModifiedBy>Compte Microsoft</cp:lastModifiedBy>
  <cp:revision>98</cp:revision>
  <dcterms:created xsi:type="dcterms:W3CDTF">2023-08-30T13:34:11Z</dcterms:created>
  <dcterms:modified xsi:type="dcterms:W3CDTF">2026-02-02T12:00:03Z</dcterms:modified>
</cp:coreProperties>
</file>