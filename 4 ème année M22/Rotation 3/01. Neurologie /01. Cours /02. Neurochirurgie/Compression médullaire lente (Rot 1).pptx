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9" r:id="rId3"/>
    <p:sldId id="257" r:id="rId4"/>
    <p:sldId id="258" r:id="rId5"/>
    <p:sldId id="260" r:id="rId6"/>
    <p:sldId id="261" r:id="rId7"/>
    <p:sldId id="304" r:id="rId8"/>
    <p:sldId id="274" r:id="rId9"/>
    <p:sldId id="263" r:id="rId10"/>
    <p:sldId id="264" r:id="rId11"/>
    <p:sldId id="265" r:id="rId12"/>
    <p:sldId id="300" r:id="rId13"/>
    <p:sldId id="298" r:id="rId14"/>
    <p:sldId id="299" r:id="rId15"/>
    <p:sldId id="301" r:id="rId16"/>
    <p:sldId id="302" r:id="rId17"/>
    <p:sldId id="266" r:id="rId18"/>
    <p:sldId id="269" r:id="rId19"/>
    <p:sldId id="270" r:id="rId20"/>
    <p:sldId id="271" r:id="rId21"/>
    <p:sldId id="272" r:id="rId22"/>
    <p:sldId id="277" r:id="rId23"/>
    <p:sldId id="273" r:id="rId24"/>
    <p:sldId id="278" r:id="rId25"/>
    <p:sldId id="279" r:id="rId26"/>
    <p:sldId id="275" r:id="rId27"/>
    <p:sldId id="276" r:id="rId28"/>
    <p:sldId id="280" r:id="rId29"/>
    <p:sldId id="281" r:id="rId30"/>
    <p:sldId id="283" r:id="rId31"/>
    <p:sldId id="282" r:id="rId32"/>
    <p:sldId id="284" r:id="rId33"/>
    <p:sldId id="285" r:id="rId34"/>
    <p:sldId id="291" r:id="rId35"/>
    <p:sldId id="292" r:id="rId36"/>
    <p:sldId id="293" r:id="rId37"/>
    <p:sldId id="294" r:id="rId38"/>
    <p:sldId id="295" r:id="rId39"/>
    <p:sldId id="296" r:id="rId40"/>
    <p:sldId id="286" r:id="rId41"/>
    <p:sldId id="297" r:id="rId42"/>
    <p:sldId id="287" r:id="rId43"/>
    <p:sldId id="288" r:id="rId44"/>
    <p:sldId id="289" r:id="rId45"/>
    <p:sldId id="290" r:id="rId46"/>
    <p:sldId id="303" r:id="rId47"/>
    <p:sldId id="267" r:id="rId48"/>
    <p:sldId id="268" r:id="rId4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4C83"/>
    <a:srgbClr val="775080"/>
    <a:srgbClr val="834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007" autoAdjust="0"/>
  </p:normalViewPr>
  <p:slideViewPr>
    <p:cSldViewPr snapToGrid="0">
      <p:cViewPr varScale="1">
        <p:scale>
          <a:sx n="59" d="100"/>
          <a:sy n="59" d="100"/>
        </p:scale>
        <p:origin x="9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168DC-651F-47EB-9AFC-081879418BA5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BCD07-7AB2-4DF7-ACF2-FF48411D141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2047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Diagnostique car il faut savoir les détecter surtout au début où les signes cliniques sont peu marqués.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Thérapeutique car il faut lever la compression avant la constitution des signes neurologiques irréversibles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myélomalacie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074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La moelle épinière chemine du trou occipital au bord supérieur de L2 dans un canal </a:t>
            </a:r>
            <a:r>
              <a:rPr lang="fr-FR" dirty="0" err="1" smtClean="0"/>
              <a:t>ostéoligamentaire</a:t>
            </a:r>
            <a:r>
              <a:rPr lang="fr-FR" dirty="0" smtClean="0"/>
              <a:t> inextensible.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La moelle ne remplit le canal rachidien ni en hauteur, ni en largeur, délimité :</a:t>
            </a:r>
            <a:br>
              <a:rPr lang="fr-FR" dirty="0" smtClean="0"/>
            </a:br>
            <a:r>
              <a:rPr lang="fr-FR" dirty="0" smtClean="0"/>
              <a:t>- En avant par le corps vertébral et les disques intervertébraux.</a:t>
            </a:r>
            <a:br>
              <a:rPr lang="fr-FR" dirty="0" smtClean="0"/>
            </a:br>
            <a:r>
              <a:rPr lang="fr-FR" dirty="0" smtClean="0"/>
              <a:t>- Sur le côté sont les pédicules qui délimitent les trous de conjugaison vers lesquels se </a:t>
            </a:r>
            <a:br>
              <a:rPr lang="fr-FR" dirty="0" smtClean="0"/>
            </a:br>
            <a:r>
              <a:rPr lang="fr-FR" dirty="0" smtClean="0"/>
              <a:t>dirigent les racines antérieures et postérieurs. </a:t>
            </a:r>
            <a:br>
              <a:rPr lang="fr-FR" dirty="0" smtClean="0"/>
            </a:br>
            <a:r>
              <a:rPr lang="fr-FR" dirty="0" smtClean="0"/>
              <a:t>- En arrière sont les ligaments jaunes, les lames et les apophyses épineuses.</a:t>
            </a:r>
            <a:br>
              <a:rPr lang="fr-FR" dirty="0" smtClean="0"/>
            </a:br>
            <a:endParaRPr lang="fr-FR" dirty="0" smtClean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57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§ De la moelle épinière émergent les nerfs spinaux, qui sortent par les trous de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conjugaison.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§ La Dure-mère forme à la moelle une enveloppe qui s’étend du trou occipital à la 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deuxième vertèbre sacrée, la surface externe de la dure -mère est séparée du rachis 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 l’espace épidural contenant les plexus veineux et la graisse.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§ L’arachnoïde et la pie-mère délimitent l’espace sous arachnoïdien dans lequel se 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trouve le liquide céphalo-rachidien.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4247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moelle est constituée de substance grise et de substance Blanche :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La substance grise qui est formée de cornes antérieures motrices et de cornes 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postérieures sensitives.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La substance blanche constitué par :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1-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cordons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antéro-latéraux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renfermant :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Ø Les voies descendantes motrices (Faisceau Pyramidal et le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faisseau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extra Pyramidal).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Ø Les voies ascendantes sensitives(thermo-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Algésique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;sensibilité profonde 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inconsciente)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2- Les cordons postérieurs : sensibilité profonde consciente et le tact épicritique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2216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névralgie d’Arnold : douleurs occipitales pouvant irradier vers l’oreille ou l’angle de la mâchoire, paralysie diaphragmatique, paralysie du </a:t>
            </a:r>
            <a:r>
              <a:rPr lang="fr-FR" dirty="0" err="1" smtClean="0"/>
              <a:t>sterno-cleido-mastoidien</a:t>
            </a:r>
            <a:r>
              <a:rPr lang="fr-FR" dirty="0" smtClean="0"/>
              <a:t> et du trapèze, le hoquet (compression du nerf phrénique).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 une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névralgie de la région occipitale (C1), des douleurs et une anesthésie sous-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angulo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-maxillaire (C2) ou cervicale « en collier »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(C3). Les troubles moteurs sont généralement discrets (parésie du sterno-cléido-mastoïdiens ou du trapèze). L’atteinte de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C4 est marquée par la gravité de l’atteinte du phrénique pouvant entrainer une paralysie de l’hémi-diaphragme.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 smtClean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848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Syndrome lésionnel :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Douleurs en ceinture,</a:t>
            </a:r>
            <a:b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Anesthésie en bande,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6053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8422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fr-FR" dirty="0" smtClean="0"/>
              <a:t>Il est toujours plus difficile de mettre en évidence les douleurs rachidiennes ou radiculaires chez les petits enfants.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fr-FR" dirty="0" smtClean="0"/>
              <a:t>Très précocement une déformation rachidienne à type de scoliose ou de</a:t>
            </a:r>
            <a:br>
              <a:rPr lang="fr-FR" dirty="0" smtClean="0"/>
            </a:br>
            <a:r>
              <a:rPr lang="fr-FR" dirty="0" smtClean="0"/>
              <a:t>cyphose ou de port de tête un peu « guindé ».</a:t>
            </a:r>
          </a:p>
          <a:p>
            <a:pPr>
              <a:buFontTx/>
              <a:buChar char="-"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09949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Scalloping</a:t>
            </a:r>
            <a:r>
              <a:rPr lang="fr-FR" baseline="0" dirty="0" smtClean="0"/>
              <a:t> Neurofibromatose. Il existe des concavités exagérées de presque tous les corps vertébraux lombaires postérieurement (flèches rouges) chez un patient atteint de neurofibromatose. Le feston peut être dû à une ectasie durale (plus communément) ou à des neurofibromes eux-mêmes.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890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cancer primitif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 d’origine bronchique, prostatique, rénal, mammaire, digestif, thyroïdien le plus souvent. L’atteinte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métastatique peut se faire sur plusieurs vertèbres mais très souvent sur une seule. Cliniquement, le syndrome rachidien est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 et l’évolution parfois très brutale. C’est la classique »paraplégie douloureuse des cancéreux ». Radiologiquement, les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images observées sont celles d’une </a:t>
            </a: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vertèbre borgne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(par lyse pédiculaire), d’un </a:t>
            </a: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tassement vertébral en galette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(avec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respect des disques), </a:t>
            </a: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d’une lyse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l’arc postérieur, d’une condensation d’une partie ou de tout un corps vertébral :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 vertèbre ivoire »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4739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méningiomes: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surviennent surtout chez la femme après 50 ans. Les signes de début sont souvent des troubles</a:t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moteurs (para parésie spasmodique) qui s’aggravent très </a:t>
            </a:r>
            <a:r>
              <a:rPr lang="fr-FR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lenteme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neurinomes :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tumeurs bénignes de bon pronostic, se développant aux dépens d’une racine sensitive ou motrice juxtamédullaire le plus souvent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6730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BCD07-7AB2-4DF7-ACF2-FF48411D141A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639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04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563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593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63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7936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36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725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449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6930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548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615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41105-9B68-4403-80D8-80662AD8F7C4}" type="datetimeFigureOut">
              <a:rPr lang="fr-FR" smtClean="0"/>
              <a:t>03/10/2024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9E24C-85C7-4BE0-949D-8EBF2A962106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0860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Oumjea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urochirurgie.insel.ch/fr/notre-equipe/vos-medecins/detail/andreas-raabe" TargetMode="External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journal/cancer-radiotherapie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encedirect.com/journal/cancer-radiotherapie/vol/10/issue/8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ajns.paans.org/authors/alliez-jean-roch/" TargetMode="External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pmc/articles/PMC5075438/" TargetMode="External"/><Relationship Id="rId2" Type="http://schemas.openxmlformats.org/officeDocument/2006/relationships/hyperlink" Target="https://pubmed.ncbi.nlm.nih.gov/?term=Badji%20N%5BAuthor%5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jns.paans.org/authors/alliez-jean-roch/" TargetMode="External"/><Relationship Id="rId5" Type="http://schemas.openxmlformats.org/officeDocument/2006/relationships/hyperlink" Target="https://www.ncbi.nlm.nih.gov/pmc/articles/PMC4372306/" TargetMode="External"/><Relationship Id="rId4" Type="http://schemas.openxmlformats.org/officeDocument/2006/relationships/hyperlink" Target="https://pubmed.ncbi.nlm.nih.gov/?term=Bouhafa%20T%5BAuthor%5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4C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2400" y="1828798"/>
            <a:ext cx="9144000" cy="1912073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fr-FR" sz="6600" b="1" dirty="0" smtClean="0">
                <a:ln w="0"/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médullaire lente </a:t>
            </a:r>
            <a:endParaRPr lang="fr-FR" sz="6600" b="1" dirty="0">
              <a:ln w="0"/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4" y="4008613"/>
            <a:ext cx="12192000" cy="480435"/>
          </a:xfrm>
        </p:spPr>
        <p:txBody>
          <a:bodyPr>
            <a:no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Cours de Neurochirurgie destiné aux étudiants de 4éme année médecine (Module Neurologie)</a:t>
            </a:r>
            <a:r>
              <a:rPr lang="fr-FR" sz="2000" dirty="0" smtClean="0">
                <a:solidFill>
                  <a:schemeClr val="bg1"/>
                </a:solidFill>
              </a:rPr>
              <a:t> </a:t>
            </a:r>
            <a:endParaRPr lang="fr-FR" sz="2000" dirty="0" smtClean="0">
              <a:solidFill>
                <a:schemeClr val="bg1"/>
              </a:solidFill>
            </a:endParaRPr>
          </a:p>
          <a:p>
            <a:r>
              <a:rPr lang="fr-FR" sz="2000" dirty="0" smtClean="0">
                <a:solidFill>
                  <a:schemeClr val="bg1"/>
                </a:solidFill>
              </a:rPr>
              <a:t>Année Universitaire: 2024-2025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8149" y="489841"/>
            <a:ext cx="1066800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République Algérienne Démocratique et Populaire</a:t>
            </a:r>
            <a:br>
              <a:rPr lang="fr-FR" sz="2400" b="1" dirty="0"/>
            </a:br>
            <a:r>
              <a:rPr lang="fr-FR" sz="2400" b="1" dirty="0"/>
              <a:t>Ministère de l’Enseignement Supérieur et de la Recherche Scientifique</a:t>
            </a:r>
            <a:r>
              <a:rPr lang="fr-FR" sz="2400" dirty="0" smtClean="0"/>
              <a:t> </a:t>
            </a:r>
            <a:endParaRPr lang="fr-FR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1" y="5532582"/>
            <a:ext cx="12192000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000" dirty="0" smtClean="0"/>
              <a:t>Docteur BOUZERARA Oumaima</a:t>
            </a:r>
          </a:p>
          <a:p>
            <a:pPr algn="ctr"/>
            <a:r>
              <a:rPr lang="fr-FR" sz="2000" dirty="0" smtClean="0"/>
              <a:t>Maitre - </a:t>
            </a:r>
            <a:r>
              <a:rPr lang="fr-FR" sz="2000" dirty="0" smtClean="0"/>
              <a:t>Assistante </a:t>
            </a:r>
            <a:endParaRPr lang="fr-FR" sz="2000" dirty="0" smtClean="0"/>
          </a:p>
          <a:p>
            <a:pPr algn="ctr"/>
            <a:r>
              <a:rPr lang="fr-FR" sz="2000" dirty="0" smtClean="0"/>
              <a:t>Service de Neurochirurgie - CHU de Constantine: </a:t>
            </a:r>
            <a:r>
              <a:rPr lang="fr-FR" sz="2000" b="1" dirty="0" smtClean="0">
                <a:solidFill>
                  <a:srgbClr val="C00000"/>
                </a:solidFill>
                <a:hlinkClick r:id="rId2"/>
              </a:rPr>
              <a:t>Oumjea@gmail.com</a:t>
            </a:r>
            <a:r>
              <a:rPr lang="fr-FR" sz="2000" b="1" dirty="0" smtClean="0">
                <a:solidFill>
                  <a:srgbClr val="C00000"/>
                </a:solidFill>
              </a:rPr>
              <a:t> </a:t>
            </a:r>
            <a:endParaRPr lang="fr-FR" sz="2000" b="1" dirty="0">
              <a:solidFill>
                <a:srgbClr val="C00000"/>
              </a:solidFill>
            </a:endParaRPr>
          </a:p>
          <a:p>
            <a:pPr algn="ctr"/>
            <a:endParaRPr lang="fr-FR" sz="20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08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564"/>
            <a:ext cx="12192000" cy="937200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5300" dirty="0" smtClean="0">
                <a:solidFill>
                  <a:schemeClr val="bg1"/>
                </a:solidFill>
              </a:rPr>
              <a:t>Objectifs</a:t>
            </a:r>
            <a:r>
              <a:rPr lang="fr-FR" dirty="0" smtClean="0">
                <a:solidFill>
                  <a:schemeClr val="bg1"/>
                </a:solidFill>
              </a:rPr>
              <a:t> </a:t>
            </a:r>
            <a:r>
              <a:rPr lang="fr-FR" sz="5400" dirty="0" smtClean="0">
                <a:solidFill>
                  <a:schemeClr val="bg1"/>
                </a:solidFill>
              </a:rPr>
              <a:t>du cours </a:t>
            </a:r>
            <a:endParaRPr lang="fr-FR" sz="54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6028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 Savoir définir une compression médullaire </a:t>
            </a:r>
          </a:p>
          <a:p>
            <a:endParaRPr lang="fr-FR" dirty="0" smtClean="0"/>
          </a:p>
          <a:p>
            <a:endParaRPr lang="fr-FR" dirty="0"/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 Connaitre </a:t>
            </a:r>
            <a:r>
              <a:rPr lang="fr-FR" dirty="0"/>
              <a:t>les différents syndromes cliniques 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d’une </a:t>
            </a:r>
            <a:r>
              <a:rPr lang="fr-FR" dirty="0"/>
              <a:t>compression médullaire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fr-FR" dirty="0" smtClean="0"/>
              <a:t> Proposer </a:t>
            </a:r>
            <a:r>
              <a:rPr lang="fr-FR" dirty="0"/>
              <a:t>une stratégie diagnostic et thérapeutique.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2" descr="Définition d'objectifs avec la méthode SMART-C - Plus Sep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087" y="1825625"/>
            <a:ext cx="2424218" cy="254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28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326"/>
            <a:ext cx="12192000" cy="1223526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6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 </a:t>
            </a:r>
            <a:endParaRPr lang="fr-FR" sz="6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7122" y="1455057"/>
            <a:ext cx="5564250" cy="52370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solidFill>
                  <a:srgbClr val="844C83"/>
                </a:solidFill>
              </a:rPr>
              <a:t>1</a:t>
            </a:r>
            <a:r>
              <a:rPr lang="fr-FR" dirty="0" smtClean="0">
                <a:solidFill>
                  <a:srgbClr val="844C83"/>
                </a:solidFill>
              </a:rPr>
              <a:t>- introduction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2- définition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3- rappel anatomique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4- rappel physiologique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5- physiopathologie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6- clinique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7- paraclinique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8- </a:t>
            </a:r>
            <a:r>
              <a:rPr lang="fr-FR" dirty="0" err="1" smtClean="0">
                <a:solidFill>
                  <a:srgbClr val="844C83"/>
                </a:solidFill>
              </a:rPr>
              <a:t>etiologies</a:t>
            </a:r>
            <a:r>
              <a:rPr lang="fr-FR" dirty="0" smtClean="0">
                <a:solidFill>
                  <a:srgbClr val="844C83"/>
                </a:solidFill>
              </a:rPr>
              <a:t>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9- traitement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Conclusion </a:t>
            </a:r>
          </a:p>
          <a:p>
            <a:pPr marL="0" indent="0">
              <a:buNone/>
            </a:pPr>
            <a:r>
              <a:rPr lang="fr-FR" dirty="0" smtClean="0">
                <a:solidFill>
                  <a:srgbClr val="844C83"/>
                </a:solidFill>
              </a:rPr>
              <a:t>Reference </a:t>
            </a:r>
            <a:endParaRPr lang="fr-FR" dirty="0">
              <a:solidFill>
                <a:srgbClr val="844C83"/>
              </a:solidFill>
            </a:endParaRPr>
          </a:p>
        </p:txBody>
      </p:sp>
      <p:pic>
        <p:nvPicPr>
          <p:cNvPr id="4" name="Picture 2" descr="Cours : Psycho-criminologi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775" y="1376217"/>
            <a:ext cx="2105025" cy="2171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22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83380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5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</a:t>
            </a:r>
            <a:endParaRPr lang="fr-FR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491" y="2022763"/>
            <a:ext cx="10670309" cy="4154199"/>
          </a:xfrm>
        </p:spPr>
        <p:txBody>
          <a:bodyPr/>
          <a:lstStyle/>
          <a:p>
            <a:pPr marL="0" indent="0">
              <a:buNone/>
            </a:pPr>
            <a:r>
              <a:rPr lang="fr-FR" dirty="0" smtClean="0"/>
              <a:t>- La </a:t>
            </a:r>
            <a:r>
              <a:rPr lang="fr-FR" dirty="0"/>
              <a:t>compression médullaire lente est </a:t>
            </a:r>
            <a:r>
              <a:rPr lang="fr-FR" b="1" dirty="0"/>
              <a:t>une urgence diagnostic et </a:t>
            </a:r>
            <a:r>
              <a:rPr lang="fr-FR" b="1" dirty="0" smtClean="0"/>
              <a:t>thérapeutique </a:t>
            </a:r>
            <a:r>
              <a:rPr lang="fr-FR" altLang="fr-FR" dirty="0" smtClean="0"/>
              <a:t>en raison du risque de lésions irréversibles</a:t>
            </a:r>
            <a:r>
              <a:rPr lang="fr-FR" dirty="0" smtClean="0"/>
              <a:t>. </a:t>
            </a:r>
          </a:p>
          <a:p>
            <a:endParaRPr lang="fr-FR" dirty="0" smtClean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- Le </a:t>
            </a:r>
            <a:r>
              <a:rPr lang="fr-FR" dirty="0"/>
              <a:t>diagnostic et le traitement </a:t>
            </a:r>
            <a:r>
              <a:rPr lang="fr-FR" b="1" dirty="0"/>
              <a:t>précoce</a:t>
            </a:r>
            <a:r>
              <a:rPr lang="fr-FR" dirty="0"/>
              <a:t> sont les meilleurs garants de la récupération fonctionnelle.</a:t>
            </a:r>
          </a:p>
          <a:p>
            <a:endParaRPr lang="fr-FR" dirty="0"/>
          </a:p>
        </p:txBody>
      </p:sp>
      <p:sp>
        <p:nvSpPr>
          <p:cNvPr id="4" name="Oval 3"/>
          <p:cNvSpPr/>
          <p:nvPr/>
        </p:nvSpPr>
        <p:spPr>
          <a:xfrm>
            <a:off x="838200" y="189345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1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80320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017" y="1496291"/>
            <a:ext cx="10945091" cy="471761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La compression médullaire lente est </a:t>
            </a:r>
            <a:r>
              <a:rPr lang="fr-FR" b="1" dirty="0"/>
              <a:t>un syndrome clinique </a:t>
            </a:r>
            <a:r>
              <a:rPr lang="fr-FR" dirty="0"/>
              <a:t>qui traduit une lésion de la moelle épinière par un processus d’évolution </a:t>
            </a:r>
            <a:r>
              <a:rPr lang="fr-FR" dirty="0" smtClean="0"/>
              <a:t>lente: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non </a:t>
            </a:r>
            <a:r>
              <a:rPr lang="fr-FR" dirty="0"/>
              <a:t>traumatique, </a:t>
            </a: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d’origine </a:t>
            </a:r>
            <a:r>
              <a:rPr lang="fr-FR" dirty="0"/>
              <a:t>tumorale, infectieuse ou inflammatoire</a:t>
            </a:r>
            <a:r>
              <a:rPr lang="fr-FR" dirty="0" smtClean="0"/>
              <a:t>,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 </a:t>
            </a:r>
            <a:r>
              <a:rPr lang="fr-FR" dirty="0"/>
              <a:t>qui se développe dans les 03 compartiments : extra durale, intra dural extra médullaire ou intra médullaire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Définition</a:t>
            </a:r>
            <a:r>
              <a:rPr lang="fr-FR" sz="4800" b="1" dirty="0" smtClean="0"/>
              <a:t>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2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54699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-16859"/>
            <a:ext cx="12191999" cy="1203403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5400" b="1" dirty="0" smtClean="0">
                <a:solidFill>
                  <a:schemeClr val="bg1"/>
                </a:solidFill>
              </a:rPr>
              <a:t>Rappel Anatomique </a:t>
            </a:r>
            <a:endParaRPr lang="fr-FR" sz="5400" b="1" dirty="0"/>
          </a:p>
        </p:txBody>
      </p:sp>
      <p:sp>
        <p:nvSpPr>
          <p:cNvPr id="5" name="Oval 4"/>
          <p:cNvSpPr/>
          <p:nvPr/>
        </p:nvSpPr>
        <p:spPr>
          <a:xfrm>
            <a:off x="794657" y="310243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3</a:t>
            </a:r>
            <a:endParaRPr lang="fr-FR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205" y="1379001"/>
            <a:ext cx="8070370" cy="492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3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-16859"/>
            <a:ext cx="12191999" cy="1203403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5400" b="1" dirty="0" smtClean="0">
                <a:solidFill>
                  <a:schemeClr val="bg1"/>
                </a:solidFill>
              </a:rPr>
              <a:t>Rappel Anatomique </a:t>
            </a:r>
            <a:endParaRPr lang="fr-FR" sz="5400" b="1" dirty="0"/>
          </a:p>
        </p:txBody>
      </p:sp>
      <p:sp>
        <p:nvSpPr>
          <p:cNvPr id="5" name="Oval 4"/>
          <p:cNvSpPr/>
          <p:nvPr/>
        </p:nvSpPr>
        <p:spPr>
          <a:xfrm>
            <a:off x="794657" y="310243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3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743" y="1310501"/>
            <a:ext cx="6947029" cy="545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4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4911"/>
            <a:ext cx="12191999" cy="1072775"/>
          </a:xfrm>
          <a:prstGeom prst="rect">
            <a:avLst/>
          </a:prstGeom>
          <a:solidFill>
            <a:srgbClr val="844C83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400" b="1" dirty="0" smtClean="0">
                <a:solidFill>
                  <a:schemeClr val="bg1"/>
                </a:solidFill>
              </a:rPr>
              <a:t>Rappel</a:t>
            </a:r>
            <a:r>
              <a:rPr lang="fr-FR" sz="4800" b="1" dirty="0" smtClean="0">
                <a:solidFill>
                  <a:schemeClr val="bg1"/>
                </a:solidFill>
              </a:rPr>
              <a:t> </a:t>
            </a:r>
            <a:r>
              <a:rPr lang="fr-FR" sz="5400" b="1" dirty="0" smtClean="0">
                <a:solidFill>
                  <a:schemeClr val="bg1"/>
                </a:solidFill>
              </a:rPr>
              <a:t>physiologique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4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538" y="3091543"/>
            <a:ext cx="5966546" cy="3766457"/>
          </a:xfrm>
          <a:prstGeom prst="rect">
            <a:avLst/>
          </a:prstGeom>
        </p:spPr>
      </p:pic>
      <p:pic>
        <p:nvPicPr>
          <p:cNvPr id="7" name="Picture 2" descr="Anatomie de la moelle épinièr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31" y="3243942"/>
            <a:ext cx="5738468" cy="3173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Schéma de la substance gris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311" y="1204580"/>
            <a:ext cx="4759529" cy="2665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18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6054" y="2309090"/>
            <a:ext cx="10515600" cy="402489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Les manifestations cliniques traduisent la souffrance de l’axe nerveux peut être secondaire </a:t>
            </a:r>
            <a:r>
              <a:rPr lang="fr-FR" dirty="0" smtClean="0"/>
              <a:t>soit </a:t>
            </a:r>
            <a:r>
              <a:rPr lang="fr-FR" dirty="0"/>
              <a:t>à : </a:t>
            </a:r>
            <a:endParaRPr lang="fr-FR" dirty="0" smtClean="0"/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- Des phénomènes </a:t>
            </a:r>
            <a:r>
              <a:rPr lang="fr-FR" b="1" dirty="0">
                <a:solidFill>
                  <a:srgbClr val="844C83"/>
                </a:solidFill>
              </a:rPr>
              <a:t>compressifs</a:t>
            </a:r>
            <a:r>
              <a:rPr lang="fr-FR" dirty="0"/>
              <a:t> des cordons médullaires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- Des phénomènes </a:t>
            </a:r>
            <a:r>
              <a:rPr lang="fr-FR" b="1" dirty="0">
                <a:solidFill>
                  <a:srgbClr val="844C83"/>
                </a:solidFill>
              </a:rPr>
              <a:t>vasculaires</a:t>
            </a:r>
            <a:r>
              <a:rPr lang="fr-FR" dirty="0">
                <a:solidFill>
                  <a:srgbClr val="844C83"/>
                </a:solidFill>
              </a:rPr>
              <a:t> </a:t>
            </a:r>
            <a:r>
              <a:rPr lang="fr-FR" dirty="0"/>
              <a:t>par compression des vaisseaux médullaires.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-38633"/>
            <a:ext cx="12191999" cy="1426725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5400" b="1" dirty="0" smtClean="0">
                <a:solidFill>
                  <a:schemeClr val="bg1"/>
                </a:solidFill>
              </a:rPr>
              <a:t>Physiopathologie</a:t>
            </a:r>
            <a:endParaRPr lang="fr-FR" sz="5400" b="1" dirty="0"/>
          </a:p>
        </p:txBody>
      </p:sp>
      <p:sp>
        <p:nvSpPr>
          <p:cNvPr id="5" name="Oval 4"/>
          <p:cNvSpPr/>
          <p:nvPr/>
        </p:nvSpPr>
        <p:spPr>
          <a:xfrm>
            <a:off x="838200" y="295563"/>
            <a:ext cx="787400" cy="74381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5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115494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 Le tableau clinique classique d’une compression </a:t>
            </a:r>
            <a:r>
              <a:rPr lang="fr-FR" dirty="0" smtClean="0"/>
              <a:t>associe:</a:t>
            </a:r>
          </a:p>
          <a:p>
            <a:pPr>
              <a:buFontTx/>
              <a:buChar char="-"/>
            </a:pPr>
            <a:r>
              <a:rPr lang="fr-FR" b="1" dirty="0" smtClean="0"/>
              <a:t>Un </a:t>
            </a:r>
            <a:r>
              <a:rPr lang="fr-FR" b="1" dirty="0"/>
              <a:t>syndrome </a:t>
            </a:r>
            <a:r>
              <a:rPr lang="fr-FR" b="1" dirty="0" smtClean="0"/>
              <a:t>rachidien: </a:t>
            </a:r>
            <a:r>
              <a:rPr lang="fr-FR" dirty="0"/>
              <a:t>traduisant l’atteinte des structures ostéo-ligamentaires, </a:t>
            </a: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b="1" dirty="0" smtClean="0"/>
              <a:t>Un </a:t>
            </a:r>
            <a:r>
              <a:rPr lang="fr-FR" b="1" dirty="0"/>
              <a:t>syndrome </a:t>
            </a:r>
            <a:r>
              <a:rPr lang="fr-FR" b="1" dirty="0" smtClean="0"/>
              <a:t>lésionnel: </a:t>
            </a:r>
            <a:r>
              <a:rPr lang="fr-FR" dirty="0" smtClean="0"/>
              <a:t>correspondant </a:t>
            </a:r>
            <a:r>
              <a:rPr lang="fr-FR" dirty="0"/>
              <a:t>à </a:t>
            </a:r>
            <a:r>
              <a:rPr lang="fr-FR" dirty="0" smtClean="0"/>
              <a:t>l’atteinte radiculaire (la ou les racines comprimées), il a une grande valeur localisatrice</a:t>
            </a:r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r>
              <a:rPr lang="fr-FR" b="1" dirty="0" smtClean="0"/>
              <a:t>Un </a:t>
            </a:r>
            <a:r>
              <a:rPr lang="fr-FR" b="1" dirty="0"/>
              <a:t>syndrome </a:t>
            </a:r>
            <a:r>
              <a:rPr lang="fr-FR" b="1" dirty="0" smtClean="0"/>
              <a:t>sous-lésionnel: </a:t>
            </a:r>
            <a:r>
              <a:rPr lang="fr-FR" dirty="0"/>
              <a:t>correspondant à l’atteinte des voies </a:t>
            </a:r>
            <a:r>
              <a:rPr lang="fr-FR" dirty="0" smtClean="0"/>
              <a:t>longues motrices et sensitives.</a:t>
            </a: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-5975"/>
            <a:ext cx="12191999" cy="1170746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5400" b="1" dirty="0" smtClean="0">
                <a:solidFill>
                  <a:schemeClr val="bg1"/>
                </a:solidFill>
              </a:rPr>
              <a:t>Clinique</a:t>
            </a:r>
            <a:r>
              <a:rPr lang="fr-FR" sz="4800" b="1" dirty="0" smtClean="0">
                <a:solidFill>
                  <a:schemeClr val="bg1"/>
                </a:solidFill>
              </a:rPr>
              <a:t>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6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15512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853" y="1284514"/>
            <a:ext cx="10643261" cy="53231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Phase de début: </a:t>
            </a:r>
            <a:r>
              <a:rPr lang="fr-FR" dirty="0" smtClean="0"/>
              <a:t>pauvre en symptômes</a:t>
            </a:r>
          </a:p>
          <a:p>
            <a:pPr marL="0" indent="0">
              <a:buNone/>
            </a:pPr>
            <a:r>
              <a:rPr lang="fr-FR" b="1" dirty="0" smtClean="0"/>
              <a:t>a) </a:t>
            </a:r>
            <a:r>
              <a:rPr lang="fr-FR" b="1" u="sng" dirty="0" err="1" smtClean="0"/>
              <a:t>Sd</a:t>
            </a:r>
            <a:r>
              <a:rPr lang="fr-FR" b="1" u="sng" dirty="0" smtClean="0"/>
              <a:t> lésionnel</a:t>
            </a:r>
            <a:r>
              <a:rPr lang="fr-FR" b="1" dirty="0" smtClean="0"/>
              <a:t> </a:t>
            </a:r>
            <a:endParaRPr lang="fr-FR" dirty="0" smtClean="0"/>
          </a:p>
          <a:p>
            <a:pPr marL="0" indent="0">
              <a:buNone/>
            </a:pPr>
            <a:r>
              <a:rPr lang="fr-FR" b="1" dirty="0" smtClean="0"/>
              <a:t>- Douleur radiculaire </a:t>
            </a:r>
            <a:r>
              <a:rPr lang="fr-FR" dirty="0" smtClean="0"/>
              <a:t>:</a:t>
            </a:r>
          </a:p>
          <a:p>
            <a:pPr>
              <a:buNone/>
            </a:pPr>
            <a:r>
              <a:rPr lang="fr-FR" dirty="0" smtClean="0"/>
              <a:t>    - fixe, intense, rebelle aux antalgiques habituels. </a:t>
            </a:r>
          </a:p>
          <a:p>
            <a:pPr>
              <a:buNone/>
            </a:pPr>
            <a:r>
              <a:rPr lang="fr-FR" dirty="0" smtClean="0"/>
              <a:t>    - elle correspond à un ou plusieurs dermatomes  en bandes intercostales uni ou bilatérale</a:t>
            </a:r>
          </a:p>
          <a:p>
            <a:pPr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b="1" dirty="0" smtClean="0"/>
              <a:t>Trouble sensitif </a:t>
            </a:r>
            <a:r>
              <a:rPr lang="fr-FR" dirty="0" smtClean="0"/>
              <a:t>: à type d’hypo ou d’anesthésie à tous les modes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b="1" dirty="0" smtClean="0"/>
              <a:t>Trouble moteur </a:t>
            </a:r>
            <a:r>
              <a:rPr lang="fr-FR" dirty="0" smtClean="0"/>
              <a:t>:discret</a:t>
            </a:r>
          </a:p>
          <a:p>
            <a:pPr>
              <a:buFontTx/>
              <a:buChar char="-"/>
            </a:pPr>
            <a:endParaRPr lang="fr-FR" dirty="0" smtClean="0"/>
          </a:p>
          <a:p>
            <a:pPr marL="0" indent="0">
              <a:buNone/>
            </a:pPr>
            <a:r>
              <a:rPr lang="fr-FR" b="1" dirty="0" smtClean="0"/>
              <a:t>- Trouble reflexe</a:t>
            </a:r>
            <a:r>
              <a:rPr lang="fr-FR" dirty="0" smtClean="0"/>
              <a:t> : diminution ou abolition du reflexe de la racine touchée </a:t>
            </a:r>
          </a:p>
          <a:p>
            <a:pPr marL="0" indent="0">
              <a:buNone/>
            </a:pPr>
            <a:endParaRPr lang="fr-FR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6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43804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743" y="1240971"/>
            <a:ext cx="11223171" cy="54428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 smtClean="0"/>
              <a:t>b) </a:t>
            </a:r>
            <a:r>
              <a:rPr lang="fr-FR" b="1" u="sng" dirty="0" err="1" smtClean="0"/>
              <a:t>Sd</a:t>
            </a:r>
            <a:r>
              <a:rPr lang="fr-FR" b="1" u="sng" dirty="0" smtClean="0"/>
              <a:t> sous-lésionnel</a:t>
            </a:r>
            <a:r>
              <a:rPr lang="fr-FR" dirty="0" smtClean="0"/>
              <a:t> : discret voire inexistant</a:t>
            </a:r>
          </a:p>
          <a:p>
            <a:pPr>
              <a:buFontTx/>
              <a:buChar char="-"/>
            </a:pPr>
            <a:r>
              <a:rPr lang="fr-FR" b="1" dirty="0" smtClean="0"/>
              <a:t>Trouble moteur</a:t>
            </a:r>
            <a:r>
              <a:rPr lang="fr-FR" dirty="0" smtClean="0"/>
              <a:t> : c’est la claudication médullaire intermittente et indolore : une fatigabilité des membres inférieurs avec un arrêt après un certains périmètre de marche .elle est mise en évidence par les épreuves des bras tendus et de Barré et  </a:t>
            </a:r>
            <a:r>
              <a:rPr lang="fr-FR" dirty="0" err="1" smtClean="0"/>
              <a:t>Mingazini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b="1" dirty="0" smtClean="0"/>
              <a:t>Des signes d’irritation pyramidale</a:t>
            </a:r>
            <a:r>
              <a:rPr lang="fr-FR" dirty="0" smtClean="0"/>
              <a:t> : reflexes vifs et </a:t>
            </a:r>
            <a:r>
              <a:rPr lang="fr-FR" dirty="0" err="1" smtClean="0"/>
              <a:t>polycinétiques</a:t>
            </a:r>
            <a:endParaRPr lang="fr-FR" dirty="0" smtClean="0"/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r>
              <a:rPr lang="fr-FR" b="1" dirty="0" smtClean="0"/>
              <a:t>Troubles sensitifs</a:t>
            </a:r>
            <a:r>
              <a:rPr lang="fr-FR" dirty="0" smtClean="0"/>
              <a:t> : sont discrets à type de douleurs </a:t>
            </a:r>
            <a:r>
              <a:rPr lang="fr-FR" dirty="0" err="1" smtClean="0"/>
              <a:t>cordonales</a:t>
            </a:r>
            <a:r>
              <a:rPr lang="fr-FR" dirty="0" smtClean="0"/>
              <a:t>, d’un signe de </a:t>
            </a:r>
            <a:r>
              <a:rPr lang="fr-FR" dirty="0" err="1" smtClean="0"/>
              <a:t>Lhermite</a:t>
            </a:r>
            <a:endParaRPr lang="fr-FR" dirty="0" smtClean="0"/>
          </a:p>
          <a:p>
            <a:pPr>
              <a:buFontTx/>
              <a:buChar char="-"/>
            </a:pPr>
            <a:endParaRPr lang="fr-FR" dirty="0" smtClean="0"/>
          </a:p>
          <a:p>
            <a:pPr marL="0" indent="0">
              <a:buNone/>
            </a:pPr>
            <a:r>
              <a:rPr lang="fr-FR" b="1" dirty="0" smtClean="0"/>
              <a:t>- Troubles sphinctériens </a:t>
            </a:r>
            <a:r>
              <a:rPr lang="fr-FR" dirty="0" smtClean="0"/>
              <a:t>à type de miction impérieuse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6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107759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543" y="1317171"/>
            <a:ext cx="11255828" cy="52686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phase d’état: </a:t>
            </a:r>
          </a:p>
          <a:p>
            <a:pPr marL="0" indent="0">
              <a:buNone/>
            </a:pPr>
            <a:r>
              <a:rPr lang="fr-FR" b="1" dirty="0" smtClean="0"/>
              <a:t>a) </a:t>
            </a:r>
            <a:r>
              <a:rPr lang="fr-FR" b="1" u="sng" dirty="0" err="1" smtClean="0"/>
              <a:t>Sd</a:t>
            </a:r>
            <a:r>
              <a:rPr lang="fr-FR" b="1" u="sng" dirty="0" smtClean="0"/>
              <a:t> sous lésionnel</a:t>
            </a:r>
            <a:r>
              <a:rPr lang="fr-FR" b="1" dirty="0" smtClean="0"/>
              <a:t> :</a:t>
            </a:r>
            <a:r>
              <a:rPr lang="fr-FR" dirty="0" smtClean="0"/>
              <a:t> évident témoignant de la souffrance  médullaire</a:t>
            </a:r>
          </a:p>
          <a:p>
            <a:r>
              <a:rPr lang="fr-FR" dirty="0" smtClean="0"/>
              <a:t> </a:t>
            </a:r>
            <a:r>
              <a:rPr lang="fr-FR" b="1" dirty="0" smtClean="0"/>
              <a:t>Troubles moteurs</a:t>
            </a:r>
            <a:r>
              <a:rPr lang="fr-FR" dirty="0" smtClean="0"/>
              <a:t> :</a:t>
            </a:r>
          </a:p>
          <a:p>
            <a:pPr>
              <a:buNone/>
            </a:pPr>
            <a:r>
              <a:rPr lang="fr-FR" dirty="0" smtClean="0"/>
              <a:t>    -Paraplégie ou quadriplégie spasmodique </a:t>
            </a:r>
          </a:p>
          <a:p>
            <a:pPr>
              <a:buNone/>
            </a:pPr>
            <a:r>
              <a:rPr lang="fr-FR" dirty="0" smtClean="0"/>
              <a:t>    -hypertonie spastique prédominant sur les extenseurs   </a:t>
            </a:r>
          </a:p>
          <a:p>
            <a:pPr>
              <a:buNone/>
            </a:pPr>
            <a:r>
              <a:rPr lang="fr-FR" dirty="0" smtClean="0"/>
              <a:t>      à l’origine de la marche spastique </a:t>
            </a:r>
          </a:p>
          <a:p>
            <a:r>
              <a:rPr lang="fr-FR" b="1" dirty="0" smtClean="0"/>
              <a:t>ROT</a:t>
            </a:r>
            <a:r>
              <a:rPr lang="fr-FR" dirty="0" smtClean="0"/>
              <a:t> : vifs avec clonus du pied et de la rotule</a:t>
            </a:r>
          </a:p>
          <a:p>
            <a:r>
              <a:rPr lang="fr-FR" b="1" dirty="0" smtClean="0"/>
              <a:t>Troubles sensitifs</a:t>
            </a:r>
            <a:r>
              <a:rPr lang="fr-FR" dirty="0" smtClean="0"/>
              <a:t> : </a:t>
            </a:r>
          </a:p>
          <a:p>
            <a:pPr>
              <a:buNone/>
            </a:pPr>
            <a:r>
              <a:rPr lang="fr-FR" dirty="0" smtClean="0"/>
              <a:t>    - hypo ou anesthésie à tous les modes</a:t>
            </a:r>
          </a:p>
          <a:p>
            <a:pPr>
              <a:buNone/>
            </a:pPr>
            <a:r>
              <a:rPr lang="fr-FR" dirty="0" smtClean="0"/>
              <a:t>    - niveau sensitif net </a:t>
            </a:r>
          </a:p>
          <a:p>
            <a:pPr>
              <a:buFont typeface="Courier New" pitchFamily="49" charset="0"/>
              <a:buChar char="o"/>
            </a:pPr>
            <a:r>
              <a:rPr lang="fr-FR" dirty="0" smtClean="0"/>
              <a:t> </a:t>
            </a:r>
            <a:r>
              <a:rPr lang="fr-FR" b="1" dirty="0" smtClean="0"/>
              <a:t>Troubles sphinctériens</a:t>
            </a:r>
            <a:r>
              <a:rPr lang="fr-FR" dirty="0" smtClean="0"/>
              <a:t> : incontinence ou rétention urinaire, impuissance </a:t>
            </a:r>
          </a:p>
          <a:p>
            <a:pPr marL="0" indent="0">
              <a:buNone/>
            </a:pPr>
            <a:r>
              <a:rPr lang="fr-FR" b="1" dirty="0" smtClean="0"/>
              <a:t>b) </a:t>
            </a:r>
            <a:r>
              <a:rPr lang="fr-FR" b="1" u="sng" dirty="0" err="1" smtClean="0"/>
              <a:t>Sd</a:t>
            </a:r>
            <a:r>
              <a:rPr lang="fr-FR" b="1" u="sng" dirty="0" smtClean="0"/>
              <a:t> lésionnel</a:t>
            </a:r>
            <a:r>
              <a:rPr lang="fr-FR" dirty="0" smtClean="0"/>
              <a:t> : le même que celui de la phase initiale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6</a:t>
            </a:r>
            <a:endParaRPr lang="fr-FR" sz="32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1771" y="0"/>
            <a:ext cx="12191999" cy="955671"/>
          </a:xfrm>
          <a:prstGeom prst="rect">
            <a:avLst/>
          </a:prstGeom>
          <a:solidFill>
            <a:srgbClr val="844C83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800" b="1" smtClean="0">
                <a:solidFill>
                  <a:schemeClr val="bg1"/>
                </a:solidFill>
              </a:rPr>
              <a:t>Clinique </a:t>
            </a:r>
            <a:endParaRPr lang="fr-FR" sz="4800" b="1" dirty="0"/>
          </a:p>
        </p:txBody>
      </p:sp>
      <p:sp>
        <p:nvSpPr>
          <p:cNvPr id="7" name="Oval 6"/>
          <p:cNvSpPr/>
          <p:nvPr/>
        </p:nvSpPr>
        <p:spPr>
          <a:xfrm>
            <a:off x="797624" y="170579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6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1364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38944"/>
            <a:ext cx="11136086" cy="5290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 Stade évolutif:  </a:t>
            </a:r>
            <a:r>
              <a:rPr lang="fr-FR" b="1" dirty="0" smtClean="0"/>
              <a:t>Phase </a:t>
            </a:r>
            <a:r>
              <a:rPr lang="fr-FR" b="1" dirty="0"/>
              <a:t>de la paraplégie flasque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- Stade </a:t>
            </a:r>
            <a:r>
              <a:rPr lang="fr-FR" dirty="0"/>
              <a:t>(ultime) Terminal et </a:t>
            </a:r>
            <a:r>
              <a:rPr lang="fr-FR" b="1" dirty="0"/>
              <a:t>Irréversible </a:t>
            </a:r>
            <a:r>
              <a:rPr lang="fr-FR" dirty="0"/>
              <a:t>de l’affection: </a:t>
            </a:r>
            <a:r>
              <a:rPr lang="fr-FR" dirty="0" smtClean="0"/>
              <a:t>- Aréflexie </a:t>
            </a:r>
            <a:r>
              <a:rPr lang="fr-FR" dirty="0"/>
              <a:t>; </a:t>
            </a:r>
            <a:r>
              <a:rPr lang="fr-FR" dirty="0" smtClean="0"/>
              <a:t>       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                                                                   - Hypotonie…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En </a:t>
            </a:r>
            <a:r>
              <a:rPr lang="fr-FR" dirty="0"/>
              <a:t>fin les troubles trophiques s’installent : </a:t>
            </a:r>
            <a:r>
              <a:rPr lang="fr-FR" dirty="0" smtClean="0"/>
              <a:t>- Amyotrophie</a:t>
            </a:r>
            <a:r>
              <a:rPr lang="fr-FR" dirty="0"/>
              <a:t>, </a:t>
            </a:r>
            <a:r>
              <a:rPr lang="fr-FR" dirty="0" smtClean="0"/>
              <a:t> 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                                                  - fasciculations</a:t>
            </a:r>
            <a:r>
              <a:rPr lang="fr-FR" dirty="0"/>
              <a:t>, 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                                                                               -les </a:t>
            </a:r>
            <a:r>
              <a:rPr lang="fr-FR" dirty="0"/>
              <a:t>complications </a:t>
            </a:r>
            <a:r>
              <a:rPr lang="fr-FR" dirty="0" smtClean="0"/>
              <a:t>du  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                                                     décubitus</a:t>
            </a:r>
            <a:r>
              <a:rPr lang="fr-FR" dirty="0"/>
              <a:t>.</a:t>
            </a:r>
            <a:r>
              <a:rPr lang="fr-FR" dirty="0" smtClean="0"/>
              <a:t> 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 Représenté par le stade 5 de la courbe de </a:t>
            </a:r>
            <a:r>
              <a:rPr lang="fr-FR" dirty="0" err="1" smtClean="0"/>
              <a:t>Guiot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771" y="0"/>
            <a:ext cx="12191999" cy="955671"/>
          </a:xfrm>
          <a:prstGeom prst="rect">
            <a:avLst/>
          </a:prstGeom>
          <a:solidFill>
            <a:srgbClr val="844C83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800" b="1" smtClean="0">
                <a:solidFill>
                  <a:schemeClr val="bg1"/>
                </a:solidFill>
              </a:rPr>
              <a:t>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97624" y="170579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6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44060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344" y="1556657"/>
            <a:ext cx="10765971" cy="4674735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Evolution des troubles moteurs: Bien illustrée par </a:t>
            </a:r>
            <a:r>
              <a:rPr lang="fr-FR" b="1" dirty="0"/>
              <a:t>la courbe de G. </a:t>
            </a:r>
            <a:r>
              <a:rPr lang="fr-FR" b="1" dirty="0" err="1"/>
              <a:t>Guiot</a:t>
            </a:r>
            <a:r>
              <a:rPr lang="fr-FR" b="1" dirty="0"/>
              <a:t> </a:t>
            </a:r>
            <a:r>
              <a:rPr lang="fr-FR" dirty="0"/>
              <a:t>: 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                    </a:t>
            </a:r>
            <a:endParaRPr lang="fr-FR" dirty="0"/>
          </a:p>
          <a:p>
            <a:pPr lvl="0">
              <a:buFontTx/>
              <a:buChar char="-"/>
            </a:pPr>
            <a:r>
              <a:rPr lang="fr-FR" dirty="0" smtClean="0"/>
              <a:t>Stade </a:t>
            </a:r>
            <a:r>
              <a:rPr lang="fr-FR" dirty="0"/>
              <a:t>01 : </a:t>
            </a:r>
            <a:r>
              <a:rPr lang="fr-FR" dirty="0" smtClean="0"/>
              <a:t>para-parésie</a:t>
            </a:r>
          </a:p>
          <a:p>
            <a:pPr lvl="0">
              <a:buFontTx/>
              <a:buChar char="-"/>
            </a:pPr>
            <a:r>
              <a:rPr lang="fr-FR" dirty="0" smtClean="0"/>
              <a:t>Stade </a:t>
            </a:r>
            <a:r>
              <a:rPr lang="fr-FR" dirty="0"/>
              <a:t>02 : parésie spasmodique </a:t>
            </a:r>
            <a:endParaRPr lang="fr-FR" dirty="0" smtClean="0"/>
          </a:p>
          <a:p>
            <a:pPr lvl="0">
              <a:buFontTx/>
              <a:buChar char="-"/>
            </a:pPr>
            <a:r>
              <a:rPr lang="fr-FR" dirty="0" smtClean="0"/>
              <a:t>Stade </a:t>
            </a:r>
            <a:r>
              <a:rPr lang="fr-FR" dirty="0"/>
              <a:t>03 : parésie hyper-spasmodique </a:t>
            </a:r>
            <a:endParaRPr lang="fr-FR" dirty="0" smtClean="0"/>
          </a:p>
          <a:p>
            <a:pPr lvl="0">
              <a:buFontTx/>
              <a:buChar char="-"/>
            </a:pPr>
            <a:r>
              <a:rPr lang="fr-FR" dirty="0" smtClean="0"/>
              <a:t>Stade </a:t>
            </a:r>
            <a:r>
              <a:rPr lang="fr-FR" dirty="0"/>
              <a:t>04 : </a:t>
            </a:r>
            <a:r>
              <a:rPr lang="fr-FR" dirty="0" err="1"/>
              <a:t>plégie</a:t>
            </a:r>
            <a:r>
              <a:rPr lang="fr-FR" dirty="0"/>
              <a:t> </a:t>
            </a:r>
            <a:r>
              <a:rPr lang="fr-FR" dirty="0" err="1"/>
              <a:t>flasco</a:t>
            </a:r>
            <a:r>
              <a:rPr lang="fr-FR" dirty="0"/>
              <a:t>-spasmodique          </a:t>
            </a:r>
            <a:endParaRPr lang="fr-FR" dirty="0" smtClean="0"/>
          </a:p>
          <a:p>
            <a:pPr lvl="0">
              <a:buFontTx/>
              <a:buChar char="-"/>
            </a:pPr>
            <a:r>
              <a:rPr lang="fr-FR" dirty="0" smtClean="0"/>
              <a:t>Stade </a:t>
            </a:r>
            <a:r>
              <a:rPr lang="fr-FR" dirty="0"/>
              <a:t>05 : </a:t>
            </a:r>
            <a:r>
              <a:rPr lang="fr-FR" dirty="0" err="1"/>
              <a:t>plégie</a:t>
            </a:r>
            <a:r>
              <a:rPr lang="fr-FR" dirty="0"/>
              <a:t> flasque                         </a:t>
            </a:r>
          </a:p>
          <a:p>
            <a:endParaRPr lang="fr-FR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771" y="0"/>
            <a:ext cx="12191999" cy="955671"/>
          </a:xfrm>
          <a:prstGeom prst="rect">
            <a:avLst/>
          </a:prstGeom>
          <a:solidFill>
            <a:srgbClr val="844C83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800" b="1" smtClean="0">
                <a:solidFill>
                  <a:schemeClr val="bg1"/>
                </a:solidFill>
              </a:rPr>
              <a:t>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97624" y="170579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6</a:t>
            </a:r>
            <a:endParaRPr lang="fr-FR" sz="3200" dirty="0"/>
          </a:p>
        </p:txBody>
      </p:sp>
      <p:pic>
        <p:nvPicPr>
          <p:cNvPr id="6" name="Image 1"/>
          <p:cNvPicPr/>
          <p:nvPr/>
        </p:nvPicPr>
        <p:blipFill>
          <a:blip r:embed="rId2"/>
          <a:stretch>
            <a:fillRect/>
          </a:stretch>
        </p:blipFill>
        <p:spPr>
          <a:xfrm>
            <a:off x="6574971" y="2775857"/>
            <a:ext cx="5214258" cy="256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9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21971"/>
            <a:ext cx="10515600" cy="4800600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Classification de Mc </a:t>
            </a:r>
            <a:r>
              <a:rPr lang="fr-FR" b="1" dirty="0" err="1"/>
              <a:t>Cormick</a:t>
            </a:r>
            <a:r>
              <a:rPr lang="fr-FR" b="1" dirty="0"/>
              <a:t> : </a:t>
            </a:r>
            <a:endParaRPr lang="fr-FR" b="1" dirty="0" smtClean="0"/>
          </a:p>
          <a:p>
            <a:pPr marL="0" indent="0">
              <a:buNone/>
            </a:pPr>
            <a:endParaRPr lang="fr-FR" dirty="0"/>
          </a:p>
          <a:p>
            <a:pPr lvl="0">
              <a:buFontTx/>
              <a:buChar char="-"/>
            </a:pPr>
            <a:r>
              <a:rPr lang="fr-FR" dirty="0" smtClean="0"/>
              <a:t>Grade </a:t>
            </a:r>
            <a:r>
              <a:rPr lang="fr-FR" dirty="0"/>
              <a:t>I : examen neurologique normal. Douleurs, paresthésie. </a:t>
            </a:r>
            <a:endParaRPr lang="fr-FR" dirty="0" smtClean="0"/>
          </a:p>
          <a:p>
            <a:pPr lvl="0">
              <a:buFontTx/>
              <a:buChar char="-"/>
            </a:pPr>
            <a:r>
              <a:rPr lang="fr-FR" dirty="0" smtClean="0"/>
              <a:t>Grade </a:t>
            </a:r>
            <a:r>
              <a:rPr lang="fr-FR" dirty="0"/>
              <a:t>II : patient indépendant mais déficits moteurs et/ou sensitifs modérés, douleurs </a:t>
            </a:r>
            <a:r>
              <a:rPr lang="fr-FR" dirty="0" smtClean="0"/>
              <a:t>majeures.</a:t>
            </a:r>
          </a:p>
          <a:p>
            <a:pPr lvl="0">
              <a:buFontTx/>
              <a:buChar char="-"/>
            </a:pPr>
            <a:r>
              <a:rPr lang="fr-FR" dirty="0" smtClean="0"/>
              <a:t>Grade </a:t>
            </a:r>
            <a:r>
              <a:rPr lang="fr-FR" dirty="0"/>
              <a:t>III : patient </a:t>
            </a:r>
            <a:r>
              <a:rPr lang="fr-FR" dirty="0" err="1"/>
              <a:t>paraparétique</a:t>
            </a:r>
            <a:r>
              <a:rPr lang="fr-FR" dirty="0"/>
              <a:t>, peut encore marcher avec aide, canes, incontinence </a:t>
            </a:r>
            <a:endParaRPr lang="fr-FR" dirty="0" smtClean="0"/>
          </a:p>
          <a:p>
            <a:pPr lvl="0">
              <a:buFontTx/>
              <a:buChar char="-"/>
            </a:pPr>
            <a:r>
              <a:rPr lang="fr-FR" dirty="0" smtClean="0"/>
              <a:t>Grade </a:t>
            </a:r>
            <a:r>
              <a:rPr lang="fr-FR" dirty="0"/>
              <a:t>IV : patient quasi paraplégique, chaise roulante, incontinent, totalement dépendant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771" y="0"/>
            <a:ext cx="12191999" cy="955671"/>
          </a:xfrm>
          <a:prstGeom prst="rect">
            <a:avLst/>
          </a:prstGeom>
          <a:solidFill>
            <a:srgbClr val="844C83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4800" b="1" smtClean="0">
                <a:solidFill>
                  <a:schemeClr val="bg1"/>
                </a:solidFill>
              </a:rPr>
              <a:t>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97624" y="170579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6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7754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857" y="1371600"/>
            <a:ext cx="11332029" cy="5127171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 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</a:t>
            </a:r>
            <a:r>
              <a:rPr lang="fr-FR" b="1" u="sng" dirty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cervicale haute C1-C4 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lvl="0" indent="0">
              <a:buNone/>
            </a:pPr>
            <a:endParaRPr lang="fr-FR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>
              <a:buFontTx/>
              <a:buChar char="-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sus lésionnel : </a:t>
            </a:r>
            <a:r>
              <a:rPr lang="fr-FR" dirty="0"/>
              <a:t>hydrocéphalie par blocage de l’écoulement du </a:t>
            </a:r>
            <a:r>
              <a:rPr lang="fr-FR" dirty="0" smtClean="0"/>
              <a:t>LCR</a:t>
            </a:r>
          </a:p>
          <a:p>
            <a:pPr lvl="0">
              <a:buFontTx/>
              <a:buChar char="-"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Tx/>
              <a:buChar char="-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lésionnel : </a:t>
            </a:r>
            <a:r>
              <a:rPr lang="fr-FR" dirty="0" smtClean="0"/>
              <a:t>Névralgie d’Arnold, , paralysie diaphragmatique, paralysie du </a:t>
            </a:r>
            <a:r>
              <a:rPr lang="fr-FR" dirty="0" err="1" smtClean="0"/>
              <a:t>sterno-cleido-mastoidien</a:t>
            </a:r>
            <a:r>
              <a:rPr lang="fr-FR" dirty="0" smtClean="0"/>
              <a:t> et du trapèze, le hoquet (compression du nerf phrénique).</a:t>
            </a:r>
          </a:p>
          <a:p>
            <a:pPr marL="0" lvl="0" indent="0">
              <a:buNone/>
            </a:pPr>
            <a:endParaRPr lang="fr-FR" dirty="0" smtClean="0"/>
          </a:p>
          <a:p>
            <a:pPr marL="0" lvl="0" indent="0">
              <a:buNone/>
            </a:pPr>
            <a:endParaRPr lang="fr-FR" dirty="0" smtClean="0"/>
          </a:p>
          <a:p>
            <a:pPr lvl="0">
              <a:buFontTx/>
              <a:buChar char="-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sous lésionnel 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marL="0" lvl="0" indent="0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/>
              <a:t>tétraplégie spastique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087" y="4144584"/>
            <a:ext cx="3570513" cy="271341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380" y="3959527"/>
            <a:ext cx="2829707" cy="271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9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3657" y="1131161"/>
            <a:ext cx="10940143" cy="560709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</a:t>
            </a:r>
            <a:r>
              <a:rPr lang="fr-FR" b="1" u="sng" dirty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cervicale basse C5-D1 :</a:t>
            </a:r>
            <a:endParaRPr lang="fr-FR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sous lésionnel : </a:t>
            </a:r>
            <a:r>
              <a:rPr lang="fr-FR" dirty="0"/>
              <a:t>paraplégie spastique </a:t>
            </a:r>
          </a:p>
          <a:p>
            <a:pPr marL="0" lvl="0" indent="0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lésionnel : </a:t>
            </a:r>
          </a:p>
          <a:p>
            <a:r>
              <a:rPr lang="fr-FR" u="sng" dirty="0"/>
              <a:t>niveauC5 :</a:t>
            </a:r>
            <a:r>
              <a:rPr lang="fr-FR" dirty="0"/>
              <a:t> </a:t>
            </a:r>
            <a:r>
              <a:rPr lang="fr-FR" dirty="0" smtClean="0"/>
              <a:t>- douleur </a:t>
            </a:r>
            <a:r>
              <a:rPr lang="fr-FR" dirty="0"/>
              <a:t>et hypoesthésie de la base de la </a:t>
            </a:r>
            <a:endParaRPr lang="fr-FR" dirty="0" smtClean="0"/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nuque </a:t>
            </a:r>
          </a:p>
          <a:p>
            <a:pPr marL="0" indent="0">
              <a:buNone/>
            </a:pPr>
            <a:r>
              <a:rPr lang="fr-FR" dirty="0" smtClean="0"/>
              <a:t>                      - suit </a:t>
            </a:r>
            <a:r>
              <a:rPr lang="fr-FR" dirty="0"/>
              <a:t>l’axe de l’avant-bras et du bras à la </a:t>
            </a:r>
          </a:p>
          <a:p>
            <a:pPr marL="0" indent="0">
              <a:buNone/>
            </a:pPr>
            <a:r>
              <a:rPr lang="fr-FR" dirty="0" smtClean="0"/>
              <a:t>                       face </a:t>
            </a:r>
            <a:r>
              <a:rPr lang="fr-FR" dirty="0"/>
              <a:t>palmaire </a:t>
            </a:r>
            <a:r>
              <a:rPr lang="fr-FR" dirty="0" smtClean="0"/>
              <a:t> 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- s’arrête </a:t>
            </a:r>
            <a:r>
              <a:rPr lang="fr-FR" dirty="0"/>
              <a:t>en dehors à la naissance du poignet. </a:t>
            </a:r>
            <a:endParaRPr lang="fr-FR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fr-FR" dirty="0" smtClean="0"/>
              <a:t>Déficit </a:t>
            </a:r>
            <a:r>
              <a:rPr lang="fr-FR" dirty="0"/>
              <a:t>moteur de l’abduction et la pronation externe de </a:t>
            </a:r>
            <a:r>
              <a:rPr lang="fr-FR" dirty="0" smtClean="0"/>
              <a:t>l’épaule.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dirty="0" smtClean="0"/>
              <a:t>Réflexe </a:t>
            </a:r>
            <a:r>
              <a:rPr lang="fr-FR" dirty="0"/>
              <a:t>bicipital diminué ou </a:t>
            </a:r>
            <a:r>
              <a:rPr lang="fr-FR" dirty="0" smtClean="0"/>
              <a:t>aboli</a:t>
            </a: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501" y="960582"/>
            <a:ext cx="3399213" cy="36358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768" y="6433457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Louis-Philippe </a:t>
            </a:r>
            <a:r>
              <a:rPr lang="fr-FR" b="1" dirty="0" smtClean="0"/>
              <a:t>Morin, </a:t>
            </a:r>
            <a:r>
              <a:rPr lang="fr-FR" b="1" dirty="0"/>
              <a:t>Névralgie Cervico </a:t>
            </a:r>
            <a:r>
              <a:rPr lang="fr-FR" b="1" dirty="0" smtClean="0"/>
              <a:t>Brachiale. AMTAS</a:t>
            </a:r>
            <a:endParaRPr lang="fr-FR" b="1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13657" y="6346371"/>
            <a:ext cx="547551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014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971" y="1382486"/>
            <a:ext cx="10874829" cy="531222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 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cervicale basse C5-D1 :</a:t>
            </a:r>
            <a:endParaRPr lang="fr-FR" b="1" dirty="0" smtClean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Syndrome sous lésionnel : </a:t>
            </a:r>
            <a:r>
              <a:rPr lang="fr-FR" dirty="0" smtClean="0"/>
              <a:t>paraplégie spastique </a:t>
            </a:r>
          </a:p>
          <a:p>
            <a:pPr marL="0" lvl="0" indent="0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Syndrome lésionnel : </a:t>
            </a:r>
            <a:endParaRPr lang="fr-FR" dirty="0" smtClean="0"/>
          </a:p>
          <a:p>
            <a:pPr lvl="0"/>
            <a:r>
              <a:rPr lang="fr-FR" u="sng" dirty="0" smtClean="0"/>
              <a:t>niveau C6 :</a:t>
            </a:r>
            <a:r>
              <a:rPr lang="fr-FR" dirty="0" smtClean="0"/>
              <a:t> - douleur et hypoesthésie de la face </a:t>
            </a:r>
          </a:p>
          <a:p>
            <a:pPr marL="0" lv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supérieur du bras et de l’avant-bras, </a:t>
            </a:r>
          </a:p>
          <a:p>
            <a:pPr marL="0" lvl="0" indent="0">
              <a:buNone/>
            </a:pPr>
            <a:r>
              <a:rPr lang="fr-FR" dirty="0" smtClean="0"/>
              <a:t>                       - débordant sur leurs faces dorsale et</a:t>
            </a:r>
          </a:p>
          <a:p>
            <a:pPr marL="0" lv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palmaire, l’éminence thénar et le pouce.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FR" dirty="0" smtClean="0"/>
              <a:t>Déficit moteur la flexion du coude, la </a:t>
            </a:r>
            <a:r>
              <a:rPr lang="fr-FR" dirty="0" err="1" smtClean="0"/>
              <a:t>pronosupination</a:t>
            </a:r>
            <a:r>
              <a:rPr lang="fr-FR" dirty="0" smtClean="0"/>
              <a:t> de l’avant-bras et le long </a:t>
            </a:r>
            <a:r>
              <a:rPr lang="fr-FR" dirty="0" err="1" smtClean="0"/>
              <a:t>suppinateur</a:t>
            </a:r>
            <a:r>
              <a:rPr lang="fr-FR" dirty="0" smtClean="0"/>
              <a:t>. </a:t>
            </a:r>
          </a:p>
          <a:p>
            <a:pPr lvl="0">
              <a:buFont typeface="Wingdings" panose="05000000000000000000" pitchFamily="2" charset="2"/>
              <a:buChar char="§"/>
            </a:pPr>
            <a:r>
              <a:rPr lang="fr-FR" dirty="0" smtClean="0"/>
              <a:t>Réflexe </a:t>
            </a:r>
            <a:r>
              <a:rPr lang="fr-FR" dirty="0" err="1" smtClean="0"/>
              <a:t>styloradial</a:t>
            </a:r>
            <a:r>
              <a:rPr lang="fr-FR" dirty="0" smtClean="0"/>
              <a:t> diminué ou aboli.</a:t>
            </a: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501" y="960582"/>
            <a:ext cx="3399213" cy="36358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2768" y="6433457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Louis-Philippe </a:t>
            </a:r>
            <a:r>
              <a:rPr lang="fr-FR" b="1" dirty="0" smtClean="0"/>
              <a:t>Morin, </a:t>
            </a:r>
            <a:r>
              <a:rPr lang="fr-FR" b="1" dirty="0"/>
              <a:t>Névralgie Cervico </a:t>
            </a:r>
            <a:r>
              <a:rPr lang="fr-FR" b="1" dirty="0" smtClean="0"/>
              <a:t>Brachiale. AMTAS</a:t>
            </a:r>
            <a:endParaRPr lang="fr-FR" b="1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413657" y="6346371"/>
            <a:ext cx="547551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6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029" y="1426028"/>
            <a:ext cx="10689771" cy="4957763"/>
          </a:xfrm>
        </p:spPr>
        <p:txBody>
          <a:bodyPr/>
          <a:lstStyle/>
          <a:p>
            <a:pPr marL="0" lvl="0" indent="0">
              <a:buNone/>
            </a:pPr>
            <a:r>
              <a:rPr lang="fr-FR" dirty="0" smtClean="0"/>
              <a:t>3- 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</a:t>
            </a:r>
            <a:r>
              <a:rPr lang="fr-FR" b="1" u="sng" dirty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dorsale :</a:t>
            </a:r>
            <a:endParaRPr lang="fr-FR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fr-FR" dirty="0" smtClean="0"/>
              <a:t>-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lésionnel : </a:t>
            </a:r>
            <a:r>
              <a:rPr lang="fr-FR" dirty="0"/>
              <a:t>reflexes cutanés abdominaux supérieurs (D8), moyens (D10) et inférieur (L1) peuvent être abolis ; sachant que :</a:t>
            </a:r>
          </a:p>
          <a:p>
            <a:pPr marL="0" lvl="0" indent="0">
              <a:buNone/>
            </a:pPr>
            <a:r>
              <a:rPr lang="fr-FR" dirty="0" smtClean="0"/>
              <a:t>             - D4 </a:t>
            </a:r>
            <a:r>
              <a:rPr lang="fr-FR" dirty="0"/>
              <a:t>correspond au mamelon </a:t>
            </a:r>
            <a:endParaRPr lang="fr-FR" dirty="0" smtClean="0"/>
          </a:p>
          <a:p>
            <a:pPr marL="0" lv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- D6 </a:t>
            </a:r>
            <a:r>
              <a:rPr lang="fr-FR" dirty="0"/>
              <a:t>correspond à l’apophyse xiphoïde </a:t>
            </a:r>
            <a:endParaRPr lang="fr-FR" dirty="0" smtClean="0"/>
          </a:p>
          <a:p>
            <a:pPr marL="0" lv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- D8</a:t>
            </a:r>
            <a:r>
              <a:rPr lang="fr-FR" dirty="0"/>
              <a:t> : l’ombilic</a:t>
            </a:r>
          </a:p>
          <a:p>
            <a:pPr marL="0" lvl="0" indent="0">
              <a:buNone/>
            </a:pPr>
            <a:r>
              <a:rPr lang="fr-FR" dirty="0" smtClean="0"/>
              <a:t>             - D12</a:t>
            </a:r>
            <a:r>
              <a:rPr lang="fr-FR" dirty="0"/>
              <a:t> : </a:t>
            </a:r>
            <a:r>
              <a:rPr lang="fr-FR" dirty="0" smtClean="0"/>
              <a:t>pubis</a:t>
            </a:r>
          </a:p>
          <a:p>
            <a:pPr marL="0" lvl="0" indent="0">
              <a:buNone/>
            </a:pPr>
            <a:endParaRPr lang="fr-FR" dirty="0"/>
          </a:p>
          <a:p>
            <a:pPr lvl="0">
              <a:buFontTx/>
              <a:buChar char="-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sous lésionnel </a:t>
            </a:r>
            <a:r>
              <a:rPr lang="fr-FR" dirty="0"/>
              <a:t>: paraplégie </a:t>
            </a:r>
            <a:endParaRPr lang="fr-FR" dirty="0" smtClean="0"/>
          </a:p>
          <a:p>
            <a:pPr marL="0" lvl="0" indent="0">
              <a:buNone/>
            </a:pPr>
            <a:r>
              <a:rPr lang="fr-FR" dirty="0" smtClean="0"/>
              <a:t>d’évolution </a:t>
            </a:r>
            <a:r>
              <a:rPr lang="fr-FR" dirty="0"/>
              <a:t>rapide </a:t>
            </a:r>
          </a:p>
          <a:p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753" y="2764969"/>
            <a:ext cx="4134703" cy="396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1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743" y="1164768"/>
            <a:ext cx="11375571" cy="545374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4- 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</a:t>
            </a:r>
            <a:r>
              <a:rPr lang="fr-FR" b="1" u="sng" dirty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 cône terminal : </a:t>
            </a:r>
            <a:endParaRPr lang="fr-FR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fr-FR" dirty="0" smtClean="0"/>
              <a:t>Caractérisé </a:t>
            </a:r>
            <a:r>
              <a:rPr lang="fr-FR" dirty="0"/>
              <a:t>par l’association </a:t>
            </a:r>
            <a:r>
              <a:rPr lang="fr-FR" b="1" dirty="0" smtClean="0"/>
              <a:t>des signes </a:t>
            </a:r>
            <a:r>
              <a:rPr lang="fr-FR" b="1" dirty="0"/>
              <a:t>périphériques et </a:t>
            </a:r>
            <a:endParaRPr lang="fr-FR" b="1" dirty="0" smtClean="0"/>
          </a:p>
          <a:p>
            <a:pPr marL="0" indent="0">
              <a:buNone/>
            </a:pPr>
            <a:r>
              <a:rPr lang="fr-FR" b="1" dirty="0" smtClean="0"/>
              <a:t>des </a:t>
            </a:r>
            <a:r>
              <a:rPr lang="fr-FR" b="1" dirty="0"/>
              <a:t>signes centraux </a:t>
            </a:r>
          </a:p>
          <a:p>
            <a:pPr lvl="0">
              <a:buFontTx/>
              <a:buChar char="-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lésionnel : </a:t>
            </a:r>
            <a:r>
              <a:rPr lang="fr-FR" dirty="0"/>
              <a:t>troubles sensitifs au niveau </a:t>
            </a:r>
            <a:r>
              <a:rPr lang="fr-FR" dirty="0" smtClean="0"/>
              <a:t>D12-L1</a:t>
            </a:r>
          </a:p>
          <a:p>
            <a:pPr lvl="0">
              <a:buFontTx/>
              <a:buChar char="-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sous lésionnel : 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0" indent="0">
              <a:buNone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- </a:t>
            </a:r>
            <a:r>
              <a:rPr lang="fr-FR" dirty="0" smtClean="0"/>
              <a:t>déficit </a:t>
            </a:r>
            <a:r>
              <a:rPr lang="fr-FR" dirty="0"/>
              <a:t>de la flexion de la cuisse sur le bassin</a:t>
            </a:r>
            <a:r>
              <a:rPr lang="fr-FR" dirty="0" smtClean="0"/>
              <a:t>, </a:t>
            </a:r>
          </a:p>
          <a:p>
            <a:pPr marL="0" lvl="0" indent="0">
              <a:buNone/>
            </a:pPr>
            <a:r>
              <a:rPr lang="fr-FR" dirty="0"/>
              <a:t> </a:t>
            </a:r>
            <a:r>
              <a:rPr lang="fr-FR" dirty="0" smtClean="0"/>
              <a:t>        - abolition </a:t>
            </a:r>
            <a:r>
              <a:rPr lang="fr-FR" dirty="0"/>
              <a:t>des réflexes cutanés </a:t>
            </a:r>
            <a:r>
              <a:rPr lang="fr-FR" dirty="0" smtClean="0"/>
              <a:t>abdominaux</a:t>
            </a:r>
          </a:p>
          <a:p>
            <a:pPr marL="0" lvl="0" indent="0">
              <a:buNone/>
            </a:pPr>
            <a:r>
              <a:rPr lang="fr-FR" dirty="0"/>
              <a:t> </a:t>
            </a:r>
            <a:r>
              <a:rPr lang="fr-FR" dirty="0" smtClean="0"/>
              <a:t>        </a:t>
            </a:r>
            <a:r>
              <a:rPr lang="fr-FR" dirty="0"/>
              <a:t>inférieurs, réflexe </a:t>
            </a:r>
            <a:r>
              <a:rPr lang="fr-FR" dirty="0" err="1"/>
              <a:t>crémastérien</a:t>
            </a:r>
            <a:r>
              <a:rPr lang="fr-FR" dirty="0"/>
              <a:t> (L1-L2), </a:t>
            </a:r>
            <a:endParaRPr lang="fr-FR" dirty="0" smtClean="0"/>
          </a:p>
          <a:p>
            <a:pPr marL="0" lvl="0" indent="0">
              <a:buNone/>
            </a:pPr>
            <a:r>
              <a:rPr lang="fr-FR" dirty="0"/>
              <a:t> </a:t>
            </a:r>
            <a:r>
              <a:rPr lang="fr-FR" dirty="0" smtClean="0"/>
              <a:t>        - signes </a:t>
            </a:r>
            <a:r>
              <a:rPr lang="fr-FR" dirty="0"/>
              <a:t>de Babinski, </a:t>
            </a:r>
            <a:endParaRPr lang="fr-FR" dirty="0" smtClean="0"/>
          </a:p>
          <a:p>
            <a:pPr marL="0" lvl="0" indent="0">
              <a:buNone/>
            </a:pPr>
            <a:r>
              <a:rPr lang="fr-FR" dirty="0"/>
              <a:t> </a:t>
            </a:r>
            <a:r>
              <a:rPr lang="fr-FR" dirty="0" smtClean="0"/>
              <a:t>        - troubles </a:t>
            </a:r>
            <a:r>
              <a:rPr lang="fr-FR" dirty="0"/>
              <a:t>sphinctériens quasi-constants </a:t>
            </a:r>
            <a:endParaRPr lang="fr-FR" dirty="0" smtClean="0"/>
          </a:p>
          <a:p>
            <a:pPr marL="0" lvl="0" indent="0">
              <a:buNone/>
            </a:pPr>
            <a:r>
              <a:rPr lang="fr-FR" dirty="0" smtClean="0"/>
              <a:t>           précoce </a:t>
            </a:r>
            <a:r>
              <a:rPr lang="fr-FR" dirty="0"/>
              <a:t>et sévères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5" y="3919621"/>
            <a:ext cx="4162648" cy="29187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934" y="1051233"/>
            <a:ext cx="2724150" cy="283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617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4514"/>
            <a:ext cx="10515600" cy="52809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des racines de la queue de cheval:</a:t>
            </a:r>
          </a:p>
          <a:p>
            <a:pPr>
              <a:buFontTx/>
              <a:buChar char="-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lésionnel: </a:t>
            </a:r>
            <a:r>
              <a:rPr lang="fr-FR" dirty="0" smtClean="0"/>
              <a:t>est </a:t>
            </a:r>
            <a:r>
              <a:rPr lang="fr-FR" dirty="0"/>
              <a:t>souvent très </a:t>
            </a:r>
            <a:r>
              <a:rPr lang="fr-FR" dirty="0" smtClean="0"/>
              <a:t>net, </a:t>
            </a:r>
            <a:r>
              <a:rPr lang="fr-FR" b="1" dirty="0" smtClean="0"/>
              <a:t>pluri-radiculaire </a:t>
            </a:r>
          </a:p>
          <a:p>
            <a:pPr>
              <a:buFontTx/>
              <a:buChar char="-"/>
            </a:pPr>
            <a:endParaRPr lang="fr-FR" b="1" dirty="0" smtClean="0"/>
          </a:p>
          <a:p>
            <a:pPr>
              <a:buFontTx/>
              <a:buChar char="-"/>
            </a:pPr>
            <a:endParaRPr lang="fr-FR" b="1" dirty="0" smtClean="0"/>
          </a:p>
          <a:p>
            <a:pPr>
              <a:buFontTx/>
              <a:buChar char="-"/>
            </a:pPr>
            <a:r>
              <a:rPr lang="fr-FR" dirty="0"/>
              <a:t>Fréquence et précocité des </a:t>
            </a:r>
            <a:r>
              <a:rPr lang="fr-FR" dirty="0" smtClean="0"/>
              <a:t>troubles</a:t>
            </a:r>
          </a:p>
          <a:p>
            <a:pPr marL="0" indent="0">
              <a:buNone/>
            </a:pPr>
            <a:r>
              <a:rPr lang="fr-FR" dirty="0" smtClean="0"/>
              <a:t> </a:t>
            </a:r>
            <a:r>
              <a:rPr lang="fr-FR" dirty="0" err="1"/>
              <a:t>génitosphinctériens</a:t>
            </a:r>
            <a:r>
              <a:rPr lang="fr-FR" dirty="0" smtClean="0"/>
              <a:t>,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-  </a:t>
            </a:r>
            <a:r>
              <a:rPr lang="fr-FR" dirty="0"/>
              <a:t>anesthésie en selle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b="1" u="sng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973" y="2505226"/>
            <a:ext cx="3907970" cy="406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compression en largeur:</a:t>
            </a:r>
          </a:p>
          <a:p>
            <a:pPr marL="514350" indent="-514350">
              <a:buAutoNum type="alphaLcParenR"/>
            </a:pPr>
            <a:r>
              <a:rPr lang="fr-FR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antérieur:  </a:t>
            </a:r>
          </a:p>
          <a:p>
            <a:pPr marL="0" indent="0"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de la corne antérieur 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buNone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fr-FR" dirty="0" smtClean="0"/>
              <a:t>                       -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dirty="0" smtClean="0"/>
              <a:t>Déficit moteur     </a:t>
            </a:r>
          </a:p>
          <a:p>
            <a:pPr>
              <a:buNone/>
            </a:pPr>
            <a:r>
              <a:rPr lang="fr-FR" dirty="0" smtClean="0"/>
              <a:t>                              - Amyotrophie      </a:t>
            </a:r>
          </a:p>
          <a:p>
            <a:pPr>
              <a:buNone/>
            </a:pPr>
            <a:r>
              <a:rPr lang="fr-FR" dirty="0" smtClean="0"/>
              <a:t>                              - Fasciculations</a:t>
            </a:r>
          </a:p>
          <a:p>
            <a:pPr>
              <a:buNone/>
            </a:pPr>
            <a:endParaRPr lang="fr-FR" dirty="0" smtClean="0"/>
          </a:p>
          <a:p>
            <a:pPr marL="514350" indent="-514350">
              <a:buAutoNum type="alphaLcParenR" startAt="2"/>
            </a:pPr>
            <a:r>
              <a:rPr lang="fr-FR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postérieur: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cordonal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postérieur </a:t>
            </a:r>
            <a:endParaRPr lang="fr-FR" dirty="0" smtClean="0">
              <a:solidFill>
                <a:srgbClr val="844C83"/>
              </a:solidFill>
            </a:endParaRPr>
          </a:p>
          <a:p>
            <a:pPr marL="0" indent="0">
              <a:buNone/>
            </a:pPr>
            <a:r>
              <a:rPr lang="fr-FR" dirty="0" smtClean="0"/>
              <a:t>        - les troubles sensitifs de type </a:t>
            </a:r>
            <a:r>
              <a:rPr lang="fr-FR" dirty="0" err="1" smtClean="0"/>
              <a:t>cordonal</a:t>
            </a:r>
            <a:r>
              <a:rPr lang="fr-FR" dirty="0" smtClean="0"/>
              <a:t> postérieur sont au premier plan réalisant un syndrome ataxique, puis </a:t>
            </a:r>
            <a:r>
              <a:rPr lang="fr-FR" dirty="0" err="1" smtClean="0"/>
              <a:t>ataxo</a:t>
            </a:r>
            <a:r>
              <a:rPr lang="fr-FR" dirty="0" smtClean="0"/>
              <a:t>-spasmodique;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257" y="1045525"/>
            <a:ext cx="3897085" cy="347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50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4" y="1393371"/>
            <a:ext cx="10983686" cy="4783592"/>
          </a:xfrm>
        </p:spPr>
        <p:txBody>
          <a:bodyPr/>
          <a:lstStyle/>
          <a:p>
            <a:pPr marL="514350" indent="-514350">
              <a:buAutoNum type="alphaLcParenR" startAt="3"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</a:t>
            </a:r>
            <a:r>
              <a:rPr lang="fr-FR" b="1" dirty="0" err="1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latéro</a:t>
            </a: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-médullaire:  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 Brown-Séquard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0" indent="0">
              <a:buNone/>
            </a:pP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Tx/>
              <a:buChar char="-"/>
            </a:pPr>
            <a:r>
              <a:rPr lang="fr-FR" u="sng" dirty="0" smtClean="0"/>
              <a:t>Du </a:t>
            </a:r>
            <a:r>
              <a:rPr lang="fr-FR" u="sng" dirty="0"/>
              <a:t>côté </a:t>
            </a:r>
            <a:r>
              <a:rPr lang="fr-FR" u="sng" dirty="0" smtClean="0"/>
              <a:t>homolatéral: </a:t>
            </a:r>
            <a:r>
              <a:rPr lang="fr-FR" dirty="0" smtClean="0"/>
              <a:t>- syndrome pyramidal </a:t>
            </a:r>
          </a:p>
          <a:p>
            <a:pPr marL="0" indent="0">
              <a:buNone/>
            </a:pPr>
            <a:r>
              <a:rPr lang="fr-FR" dirty="0"/>
              <a:t> </a:t>
            </a:r>
            <a:r>
              <a:rPr lang="fr-FR" dirty="0" smtClean="0"/>
              <a:t>                                        - syndrome </a:t>
            </a:r>
            <a:r>
              <a:rPr lang="fr-FR" dirty="0" err="1" smtClean="0"/>
              <a:t>cordonal</a:t>
            </a:r>
            <a:r>
              <a:rPr lang="fr-FR" dirty="0" smtClean="0"/>
              <a:t> postérieur 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u="sng" dirty="0" smtClean="0"/>
              <a:t>Du </a:t>
            </a:r>
            <a:r>
              <a:rPr lang="fr-FR" u="sng" dirty="0"/>
              <a:t>côté </a:t>
            </a:r>
            <a:r>
              <a:rPr lang="fr-FR" u="sng" dirty="0" smtClean="0"/>
              <a:t>controlatéral </a:t>
            </a:r>
            <a:r>
              <a:rPr lang="fr-FR" dirty="0"/>
              <a:t>: </a:t>
            </a:r>
            <a:r>
              <a:rPr lang="fr-FR" dirty="0" smtClean="0"/>
              <a:t>Hémianesthésie thermo-</a:t>
            </a:r>
            <a:r>
              <a:rPr lang="fr-FR" dirty="0" err="1"/>
              <a:t>a</a:t>
            </a:r>
            <a:r>
              <a:rPr lang="fr-FR" dirty="0" err="1" smtClean="0"/>
              <a:t>lgésique</a:t>
            </a:r>
            <a:r>
              <a:rPr lang="fr-FR" dirty="0" smtClean="0"/>
              <a:t> </a:t>
            </a:r>
          </a:p>
          <a:p>
            <a:pPr marL="0" indent="0">
              <a:buNone/>
            </a:pPr>
            <a:r>
              <a:rPr lang="fr-FR" dirty="0" smtClean="0"/>
              <a:t>controlatérale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fr-FR" dirty="0" smtClean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3437" y="1828799"/>
            <a:ext cx="2019457" cy="16437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544" y="3559630"/>
            <a:ext cx="2529244" cy="329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5143"/>
            <a:ext cx="10515600" cy="4761820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d) 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Compression centromédullaire </a:t>
            </a:r>
            <a:r>
              <a:rPr lang="fr-FR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Syndrome </a:t>
            </a:r>
            <a:r>
              <a:rPr lang="fr-FR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Syringomyélique</a:t>
            </a:r>
            <a:endParaRPr lang="fr-FR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Tx/>
              <a:buChar char="-"/>
            </a:pPr>
            <a:r>
              <a:rPr lang="fr-FR" dirty="0" smtClean="0"/>
              <a:t>Anesthésie thermo-</a:t>
            </a:r>
            <a:r>
              <a:rPr lang="fr-FR" dirty="0" err="1" smtClean="0"/>
              <a:t>algésique</a:t>
            </a:r>
            <a:r>
              <a:rPr lang="fr-FR" dirty="0" smtClean="0"/>
              <a:t> bilatérale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 - Syndrome pyramidal</a:t>
            </a:r>
          </a:p>
          <a:p>
            <a:pPr marL="0" indent="0">
              <a:buNone/>
            </a:pPr>
            <a:endParaRPr lang="fr-FR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0" y="1504563"/>
            <a:ext cx="1665514" cy="178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836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743" y="1251856"/>
            <a:ext cx="11332028" cy="54646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7- compression médullaire chez l’enfant: </a:t>
            </a:r>
            <a:endParaRPr lang="fr-FR" b="1" u="sng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Tx/>
              <a:buChar char="-"/>
            </a:pPr>
            <a:r>
              <a:rPr lang="fr-FR" dirty="0" smtClean="0"/>
              <a:t>Difficile </a:t>
            </a:r>
            <a:r>
              <a:rPr lang="fr-FR" dirty="0"/>
              <a:t>de mettre </a:t>
            </a:r>
            <a:r>
              <a:rPr lang="fr-FR" dirty="0" smtClean="0"/>
              <a:t>en évidence </a:t>
            </a:r>
            <a:r>
              <a:rPr lang="fr-FR" dirty="0"/>
              <a:t>les douleurs rachidiennes ou radiculaires chez les petits enfants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Déformation </a:t>
            </a:r>
            <a:r>
              <a:rPr lang="fr-FR" dirty="0"/>
              <a:t>rachidienne à type de </a:t>
            </a:r>
            <a:r>
              <a:rPr lang="fr-FR" b="1" dirty="0"/>
              <a:t>scoliose</a:t>
            </a:r>
            <a:r>
              <a:rPr lang="fr-FR" dirty="0"/>
              <a:t> ou </a:t>
            </a:r>
            <a:r>
              <a:rPr lang="fr-FR" dirty="0" smtClean="0"/>
              <a:t>de </a:t>
            </a:r>
            <a:r>
              <a:rPr lang="fr-FR" b="1" dirty="0" smtClean="0"/>
              <a:t>cyphose</a:t>
            </a:r>
            <a:r>
              <a:rPr lang="fr-FR" dirty="0" smtClean="0"/>
              <a:t> </a:t>
            </a:r>
            <a:r>
              <a:rPr lang="fr-FR" dirty="0"/>
              <a:t>ou de port de tête un peu « guindé </a:t>
            </a:r>
            <a:r>
              <a:rPr lang="fr-FR" dirty="0" smtClean="0"/>
              <a:t>».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L’existence </a:t>
            </a:r>
            <a:r>
              <a:rPr lang="fr-FR" dirty="0"/>
              <a:t>d’une </a:t>
            </a:r>
            <a:r>
              <a:rPr lang="fr-FR" b="1" dirty="0"/>
              <a:t>boiterie</a:t>
            </a:r>
            <a:r>
              <a:rPr lang="fr-FR" dirty="0"/>
              <a:t> ou de </a:t>
            </a:r>
            <a:r>
              <a:rPr lang="fr-FR" b="1" dirty="0"/>
              <a:t>troubles sphinctériens </a:t>
            </a:r>
            <a:r>
              <a:rPr lang="fr-FR" dirty="0"/>
              <a:t>doit faire évoquer le </a:t>
            </a:r>
            <a:r>
              <a:rPr lang="fr-FR" dirty="0" smtClean="0"/>
              <a:t>diagnostic.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Chez </a:t>
            </a:r>
            <a:r>
              <a:rPr lang="fr-FR" dirty="0"/>
              <a:t>l’enfant, les compressions médullaires tumorales peuvent s’exprimer par un </a:t>
            </a:r>
            <a:r>
              <a:rPr lang="fr-FR" dirty="0" smtClean="0"/>
              <a:t>tableau </a:t>
            </a:r>
            <a:r>
              <a:rPr lang="fr-FR" b="1" dirty="0" smtClean="0"/>
              <a:t>d’hypertension </a:t>
            </a:r>
            <a:r>
              <a:rPr lang="fr-FR" b="1" dirty="0"/>
              <a:t>intracrânienne </a:t>
            </a:r>
            <a:r>
              <a:rPr lang="fr-FR" dirty="0"/>
              <a:t>avec œdème </a:t>
            </a:r>
            <a:r>
              <a:rPr lang="fr-FR" dirty="0" smtClean="0"/>
              <a:t>papillaire, hémorragie </a:t>
            </a:r>
            <a:r>
              <a:rPr lang="fr-FR" dirty="0"/>
              <a:t>méningée ou hydrocéphalie.</a:t>
            </a:r>
            <a:r>
              <a:rPr lang="fr-FR" dirty="0" smtClean="0"/>
              <a:t> </a:t>
            </a:r>
            <a:endParaRPr lang="fr-FR" dirty="0">
              <a:solidFill>
                <a:srgbClr val="844C83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68059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262743"/>
            <a:ext cx="10689771" cy="533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8- compression médullaire selon l’évolution: </a:t>
            </a:r>
          </a:p>
          <a:p>
            <a:pPr marL="0" indent="0">
              <a:buNone/>
            </a:pPr>
            <a:endParaRPr lang="fr-FR" b="1" u="sng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Tx/>
              <a:buChar char="-"/>
            </a:pPr>
            <a:r>
              <a:rPr lang="fr-FR" dirty="0" smtClean="0"/>
              <a:t>L’évolution </a:t>
            </a:r>
            <a:r>
              <a:rPr lang="fr-FR" dirty="0"/>
              <a:t>d’une compression médullaire lente est </a:t>
            </a:r>
            <a:r>
              <a:rPr lang="fr-FR" b="1" dirty="0"/>
              <a:t>imprévisible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Le </a:t>
            </a:r>
            <a:r>
              <a:rPr lang="fr-FR" dirty="0"/>
              <a:t>plus souvent, elle est </a:t>
            </a:r>
            <a:r>
              <a:rPr lang="fr-FR" dirty="0" smtClean="0"/>
              <a:t>très </a:t>
            </a:r>
            <a:r>
              <a:rPr lang="fr-FR" b="1" dirty="0" smtClean="0"/>
              <a:t>lentement </a:t>
            </a:r>
            <a:r>
              <a:rPr lang="fr-FR" b="1" dirty="0"/>
              <a:t>progressive. </a:t>
            </a:r>
            <a:endParaRPr lang="fr-FR" b="1" dirty="0" smtClean="0"/>
          </a:p>
          <a:p>
            <a:pPr marL="0" indent="0">
              <a:buNone/>
            </a:pPr>
            <a:endParaRPr lang="fr-FR" b="1" dirty="0" smtClean="0"/>
          </a:p>
          <a:p>
            <a:pPr>
              <a:buFontTx/>
              <a:buChar char="-"/>
            </a:pPr>
            <a:r>
              <a:rPr lang="fr-FR" dirty="0" smtClean="0"/>
              <a:t>Cependant</a:t>
            </a:r>
            <a:r>
              <a:rPr lang="fr-FR" dirty="0"/>
              <a:t>, </a:t>
            </a:r>
            <a:r>
              <a:rPr lang="fr-FR" b="1" dirty="0"/>
              <a:t>une décompensation rapide</a:t>
            </a:r>
            <a:r>
              <a:rPr lang="fr-FR" dirty="0"/>
              <a:t>, en quelques heures, peut</a:t>
            </a:r>
            <a:br>
              <a:rPr lang="fr-FR" dirty="0"/>
            </a:br>
            <a:r>
              <a:rPr lang="fr-FR" dirty="0"/>
              <a:t>survenir lorsque la compression est suffisante pour entraîner une </a:t>
            </a:r>
            <a:r>
              <a:rPr lang="fr-FR" b="1" dirty="0"/>
              <a:t>décompensation </a:t>
            </a:r>
            <a:r>
              <a:rPr lang="fr-FR" b="1" dirty="0" smtClean="0"/>
              <a:t>vasculaire</a:t>
            </a:r>
            <a:r>
              <a:rPr lang="fr-FR" dirty="0" smtClean="0"/>
              <a:t>, responsable </a:t>
            </a:r>
            <a:r>
              <a:rPr lang="fr-FR" dirty="0"/>
              <a:t>d’une </a:t>
            </a:r>
            <a:r>
              <a:rPr lang="fr-FR" b="1" dirty="0">
                <a:solidFill>
                  <a:srgbClr val="844C83"/>
                </a:solidFill>
              </a:rPr>
              <a:t>ischémie médullaire</a:t>
            </a:r>
            <a:r>
              <a:rPr lang="fr-FR" dirty="0"/>
              <a:t> dont le pronostic fonctionnel est sombre</a:t>
            </a:r>
            <a:r>
              <a:rPr lang="fr-FR" dirty="0" smtClean="0"/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Formes Cliniques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7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35335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914" y="1524000"/>
            <a:ext cx="10678886" cy="5142820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</a:rPr>
              <a:t>1-IRM Médullaire</a:t>
            </a:r>
            <a:r>
              <a:rPr lang="fr-FR" b="1" dirty="0" smtClean="0"/>
              <a:t> :</a:t>
            </a:r>
            <a:r>
              <a:rPr lang="fr-FR" dirty="0" smtClean="0"/>
              <a:t> </a:t>
            </a:r>
          </a:p>
          <a:p>
            <a:pPr marL="0" indent="0">
              <a:buNone/>
            </a:pPr>
            <a:r>
              <a:rPr lang="fr-FR" dirty="0" smtClean="0"/>
              <a:t>examen </a:t>
            </a:r>
            <a:r>
              <a:rPr lang="fr-FR" b="1" dirty="0" smtClean="0"/>
              <a:t>de choix </a:t>
            </a:r>
            <a:r>
              <a:rPr lang="fr-FR" dirty="0" smtClean="0"/>
              <a:t>réaliser en </a:t>
            </a:r>
            <a:r>
              <a:rPr lang="fr-FR" b="1" dirty="0" smtClean="0"/>
              <a:t>première intention</a:t>
            </a:r>
            <a:r>
              <a:rPr lang="fr-FR" dirty="0" smtClean="0"/>
              <a:t>, permet:</a:t>
            </a:r>
          </a:p>
          <a:p>
            <a:pPr>
              <a:buFontTx/>
              <a:buChar char="-"/>
            </a:pPr>
            <a:r>
              <a:rPr lang="fr-FR" dirty="0" smtClean="0"/>
              <a:t> de confirmer le diagnostic,  </a:t>
            </a:r>
          </a:p>
          <a:p>
            <a:pPr>
              <a:buFontTx/>
              <a:buChar char="-"/>
            </a:pPr>
            <a:r>
              <a:rPr lang="fr-FR" dirty="0" smtClean="0"/>
              <a:t>la topographie de la lésion </a:t>
            </a:r>
          </a:p>
          <a:p>
            <a:pPr>
              <a:buFontTx/>
              <a:buChar char="-"/>
            </a:pPr>
            <a:r>
              <a:rPr lang="fr-FR" dirty="0" smtClean="0"/>
              <a:t>et d’orienter le diagnostique étiologique </a:t>
            </a:r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endParaRPr lang="fr-FR" dirty="0" smtClean="0"/>
          </a:p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</a:rPr>
              <a:t>2- LE </a:t>
            </a:r>
            <a:r>
              <a:rPr lang="fr-FR" b="1" dirty="0">
                <a:solidFill>
                  <a:srgbClr val="844C83"/>
                </a:solidFill>
              </a:rPr>
              <a:t>MYELOSCANNER : </a:t>
            </a:r>
            <a:r>
              <a:rPr lang="fr-FR" dirty="0"/>
              <a:t>il est réalisé en cas de contre-indication à l’IRM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Paraclinique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8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16435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85" y="1208314"/>
            <a:ext cx="11462657" cy="52469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</a:rPr>
              <a:t>3- LES </a:t>
            </a:r>
            <a:r>
              <a:rPr lang="fr-FR" b="1" dirty="0">
                <a:solidFill>
                  <a:srgbClr val="844C83"/>
                </a:solidFill>
              </a:rPr>
              <a:t>RADIOGRAPHIES STANDARDS DU RACHIS </a:t>
            </a:r>
            <a:r>
              <a:rPr lang="fr-FR" b="1" dirty="0" smtClean="0">
                <a:solidFill>
                  <a:srgbClr val="844C83"/>
                </a:solidFill>
              </a:rPr>
              <a:t>:</a:t>
            </a:r>
            <a:r>
              <a:rPr lang="fr-FR" dirty="0" smtClean="0"/>
              <a:t> </a:t>
            </a:r>
          </a:p>
          <a:p>
            <a:pPr>
              <a:buFontTx/>
              <a:buChar char="-"/>
            </a:pPr>
            <a:r>
              <a:rPr lang="fr-FR" dirty="0" smtClean="0"/>
              <a:t>face</a:t>
            </a:r>
            <a:r>
              <a:rPr lang="fr-FR" dirty="0"/>
              <a:t>, profil et 3/4</a:t>
            </a:r>
            <a:r>
              <a:rPr lang="fr-FR" dirty="0" smtClean="0"/>
              <a:t> </a:t>
            </a:r>
            <a:endParaRPr lang="fr-FR" dirty="0"/>
          </a:p>
          <a:p>
            <a:pPr>
              <a:buFontTx/>
              <a:buChar char="-"/>
            </a:pPr>
            <a:r>
              <a:rPr lang="fr-FR" dirty="0" smtClean="0"/>
              <a:t>Tassement vertébral, Vertèbre borgne (lyse d’un pédicule) : métastase</a:t>
            </a:r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err="1" smtClean="0"/>
              <a:t>Scalloping</a:t>
            </a:r>
            <a:r>
              <a:rPr lang="fr-FR" dirty="0" smtClean="0"/>
              <a:t> et écart inter-pédiculaire : processus intradural d’évolution lente</a:t>
            </a:r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r>
              <a:rPr lang="fr-FR" dirty="0" smtClean="0"/>
              <a:t>Élargissement du trou de conjugaison : neurinome</a:t>
            </a:r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Pincement discal avec érosion : étiologie infectieuse telle que la </a:t>
            </a:r>
            <a:r>
              <a:rPr lang="fr-FR" dirty="0" err="1" smtClean="0"/>
              <a:t>spondylodiscite</a:t>
            </a:r>
            <a:r>
              <a:rPr lang="fr-FR" dirty="0" smtClean="0"/>
              <a:t> 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Paraclinique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8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419774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00" y="5153683"/>
            <a:ext cx="2340428" cy="69668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2000" dirty="0" err="1" smtClean="0"/>
              <a:t>Posterior</a:t>
            </a:r>
            <a:r>
              <a:rPr lang="fr-FR" sz="2000" dirty="0" smtClean="0"/>
              <a:t> </a:t>
            </a:r>
            <a:r>
              <a:rPr lang="fr-FR" sz="2000" dirty="0" err="1" smtClean="0"/>
              <a:t>Vertebral</a:t>
            </a:r>
            <a:r>
              <a:rPr lang="fr-FR" sz="2000" dirty="0" smtClean="0"/>
              <a:t> </a:t>
            </a:r>
          </a:p>
          <a:p>
            <a:pPr marL="0" indent="0" algn="ctr">
              <a:buNone/>
            </a:pPr>
            <a:r>
              <a:rPr lang="fr-FR" sz="2000" dirty="0" err="1" smtClean="0"/>
              <a:t>Scalloping</a:t>
            </a:r>
            <a:endParaRPr lang="fr-FR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178" y="1844345"/>
            <a:ext cx="1953493" cy="315079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Paraclinique </a:t>
            </a:r>
            <a:endParaRPr lang="fr-FR" sz="4800" b="1" dirty="0"/>
          </a:p>
        </p:txBody>
      </p:sp>
      <p:sp>
        <p:nvSpPr>
          <p:cNvPr id="6" name="Oval 5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8</a:t>
            </a:r>
            <a:endParaRPr lang="fr-FR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6355775"/>
            <a:ext cx="625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SL </a:t>
            </a:r>
            <a:r>
              <a:rPr lang="en-US" b="1" dirty="0" err="1"/>
              <a:t>Wakely</a:t>
            </a:r>
            <a:r>
              <a:rPr lang="en-US" b="1" dirty="0"/>
              <a:t>. Radiology, May 2006, </a:t>
            </a:r>
            <a:r>
              <a:rPr lang="en-US" b="1" dirty="0" smtClean="0"/>
              <a:t>Vol</a:t>
            </a:r>
            <a:r>
              <a:rPr lang="en-US" b="1" dirty="0"/>
              <a:t>. 239, Issue 2.</a:t>
            </a:r>
            <a:endParaRPr lang="fr-FR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81643" y="6344889"/>
            <a:ext cx="4686300" cy="1088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3899" y="1936583"/>
            <a:ext cx="3896190" cy="2960914"/>
          </a:xfrm>
          <a:prstGeom prst="rect">
            <a:avLst/>
          </a:prstGeom>
        </p:spPr>
      </p:pic>
      <p:sp>
        <p:nvSpPr>
          <p:cNvPr id="15" name="Content Placeholder 2"/>
          <p:cNvSpPr txBox="1">
            <a:spLocks/>
          </p:cNvSpPr>
          <p:nvPr/>
        </p:nvSpPr>
        <p:spPr>
          <a:xfrm>
            <a:off x="3721644" y="5264230"/>
            <a:ext cx="2318656" cy="4755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2000" dirty="0" smtClean="0"/>
              <a:t>Vertèbre borgne </a:t>
            </a:r>
            <a:endParaRPr lang="fr-FR" sz="20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44345"/>
            <a:ext cx="2929916" cy="2911430"/>
          </a:xfrm>
          <a:prstGeom prst="rect">
            <a:avLst/>
          </a:prstGeom>
        </p:spPr>
      </p:pic>
      <p:sp>
        <p:nvSpPr>
          <p:cNvPr id="17" name="Content Placeholder 2"/>
          <p:cNvSpPr txBox="1">
            <a:spLocks/>
          </p:cNvSpPr>
          <p:nvPr/>
        </p:nvSpPr>
        <p:spPr>
          <a:xfrm>
            <a:off x="0" y="5130550"/>
            <a:ext cx="2827872" cy="7198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2000" dirty="0" smtClean="0"/>
              <a:t>Elargissement du trou de conjugaison </a:t>
            </a:r>
            <a:endParaRPr lang="fr-FR" sz="20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5882" y="1844345"/>
            <a:ext cx="1929889" cy="3093714"/>
          </a:xfrm>
          <a:prstGeom prst="rect">
            <a:avLst/>
          </a:prstGeom>
        </p:spPr>
      </p:pic>
      <p:sp>
        <p:nvSpPr>
          <p:cNvPr id="21" name="Content Placeholder 2"/>
          <p:cNvSpPr txBox="1">
            <a:spLocks/>
          </p:cNvSpPr>
          <p:nvPr/>
        </p:nvSpPr>
        <p:spPr>
          <a:xfrm>
            <a:off x="7075715" y="5247561"/>
            <a:ext cx="2318656" cy="48579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fr-FR" sz="2000" dirty="0" smtClean="0"/>
              <a:t>tassement </a:t>
            </a:r>
            <a:r>
              <a:rPr lang="fr-FR" sz="2000" dirty="0" err="1" smtClean="0"/>
              <a:t>Vertebral</a:t>
            </a:r>
            <a:r>
              <a:rPr lang="fr-FR" sz="2000" dirty="0" smtClean="0"/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852" y="1055914"/>
            <a:ext cx="7823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844C83"/>
                </a:solidFill>
              </a:rPr>
              <a:t>3- LES RADIOGRAPHIES STANDARDS DU RACHIS :</a:t>
            </a:r>
            <a:endParaRPr lang="fr-FR" sz="2800" dirty="0"/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8200826" y="3229900"/>
            <a:ext cx="664029" cy="2271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2224576" y="3457018"/>
            <a:ext cx="664029" cy="2271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2231961" y="2933738"/>
            <a:ext cx="664029" cy="2271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2292878" y="3753180"/>
            <a:ext cx="664029" cy="2271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10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2337254"/>
            <a:ext cx="10515600" cy="1178832"/>
          </a:xfrm>
        </p:spPr>
        <p:txBody>
          <a:bodyPr/>
          <a:lstStyle/>
          <a:p>
            <a:pPr>
              <a:buFontTx/>
              <a:buChar char="-"/>
            </a:pPr>
            <a:r>
              <a:rPr lang="fr-FR" dirty="0" smtClean="0"/>
              <a:t>De </a:t>
            </a:r>
            <a:r>
              <a:rPr lang="fr-FR" dirty="0"/>
              <a:t>plus, des clichés du bassin et du thorax seront demandés à titre</a:t>
            </a:r>
            <a:br>
              <a:rPr lang="fr-FR" dirty="0"/>
            </a:br>
            <a:r>
              <a:rPr lang="fr-FR" dirty="0"/>
              <a:t>systématique. </a:t>
            </a:r>
            <a:endParaRPr lang="fr-FR" dirty="0" smtClean="0"/>
          </a:p>
          <a:p>
            <a:pPr>
              <a:buFontTx/>
              <a:buChar char="-"/>
            </a:pPr>
            <a:endParaRPr lang="fr-FR" dirty="0"/>
          </a:p>
          <a:p>
            <a:pPr marL="0" indent="0">
              <a:buNone/>
            </a:pPr>
            <a:endParaRPr lang="fr-FR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Paraclinique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8</a:t>
            </a:r>
            <a:endParaRPr lang="fr-FR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838199" y="1251857"/>
            <a:ext cx="7823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 smtClean="0">
                <a:solidFill>
                  <a:srgbClr val="844C83"/>
                </a:solidFill>
              </a:rPr>
              <a:t>3- LES RADIOGRAPHIES STANDARDS DU RACHIS :</a:t>
            </a:r>
            <a:endParaRPr lang="fr-FR" sz="2800" dirty="0"/>
          </a:p>
        </p:txBody>
      </p:sp>
      <p:sp>
        <p:nvSpPr>
          <p:cNvPr id="7" name="Rounded Rectangle 6"/>
          <p:cNvSpPr/>
          <p:nvPr/>
        </p:nvSpPr>
        <p:spPr>
          <a:xfrm>
            <a:off x="1001485" y="4397829"/>
            <a:ext cx="10189028" cy="132805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dirty="0" smtClean="0"/>
              <a:t>Dans certains cas, cette exploration s’avérera </a:t>
            </a:r>
            <a:r>
              <a:rPr lang="fr-FR" sz="2800" b="1" dirty="0" smtClean="0"/>
              <a:t>totalement négative, ce qui n’élimine en rien le diagnostic</a:t>
            </a:r>
            <a:r>
              <a:rPr lang="fr-FR" sz="2800" dirty="0" smtClean="0"/>
              <a:t>. </a:t>
            </a:r>
            <a:br>
              <a:rPr lang="fr-FR" sz="2800" dirty="0" smtClean="0"/>
            </a:b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40415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8943"/>
            <a:ext cx="10515600" cy="4838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</a:rPr>
              <a:t>4- Les </a:t>
            </a:r>
            <a:r>
              <a:rPr lang="fr-FR" b="1" dirty="0">
                <a:solidFill>
                  <a:srgbClr val="844C83"/>
                </a:solidFill>
              </a:rPr>
              <a:t>potentiels évoqués somesthésiques (PES) et moteurs (PEM) : </a:t>
            </a:r>
            <a:endParaRPr lang="fr-FR" b="1" dirty="0" smtClean="0">
              <a:solidFill>
                <a:srgbClr val="844C83"/>
              </a:solidFill>
            </a:endParaRPr>
          </a:p>
          <a:p>
            <a:pPr>
              <a:buFontTx/>
              <a:buChar char="-"/>
            </a:pPr>
            <a:r>
              <a:rPr lang="fr-FR" b="1" dirty="0" smtClean="0">
                <a:solidFill>
                  <a:srgbClr val="844C83"/>
                </a:solidFill>
              </a:rPr>
              <a:t>I</a:t>
            </a:r>
            <a:r>
              <a:rPr lang="fr-FR" dirty="0" smtClean="0"/>
              <a:t>ls </a:t>
            </a:r>
            <a:r>
              <a:rPr lang="fr-FR" dirty="0"/>
              <a:t>permettent d’apprécier l’état fonctionnel des voies</a:t>
            </a:r>
            <a:br>
              <a:rPr lang="fr-FR" dirty="0"/>
            </a:br>
            <a:r>
              <a:rPr lang="fr-FR" dirty="0" err="1"/>
              <a:t>lemniscales</a:t>
            </a:r>
            <a:r>
              <a:rPr lang="fr-FR" dirty="0"/>
              <a:t> et pyramidales, </a:t>
            </a:r>
            <a:endParaRPr lang="fr-FR" dirty="0" smtClean="0"/>
          </a:p>
          <a:p>
            <a:pPr>
              <a:buFontTx/>
              <a:buChar char="-"/>
            </a:pPr>
            <a:r>
              <a:rPr lang="fr-FR" dirty="0" smtClean="0"/>
              <a:t>Ne </a:t>
            </a:r>
            <a:r>
              <a:rPr lang="fr-FR" dirty="0"/>
              <a:t>constituent pas un instrument diagnostique.</a:t>
            </a:r>
            <a:r>
              <a:rPr lang="fr-FR" dirty="0" smtClean="0"/>
              <a:t> </a:t>
            </a:r>
          </a:p>
          <a:p>
            <a:pPr marL="0" indent="0">
              <a:buNone/>
            </a:pPr>
            <a:endParaRPr lang="fr-FR" dirty="0" smtClean="0"/>
          </a:p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</a:rPr>
              <a:t>5- Autres </a:t>
            </a:r>
            <a:r>
              <a:rPr lang="fr-FR" b="1" dirty="0">
                <a:solidFill>
                  <a:srgbClr val="844C83"/>
                </a:solidFill>
              </a:rPr>
              <a:t>examens biologiques </a:t>
            </a:r>
            <a:r>
              <a:rPr lang="fr-FR" dirty="0">
                <a:solidFill>
                  <a:srgbClr val="844C83"/>
                </a:solidFill>
              </a:rPr>
              <a:t>: </a:t>
            </a:r>
            <a:endParaRPr lang="fr-FR" dirty="0" smtClean="0">
              <a:solidFill>
                <a:srgbClr val="844C83"/>
              </a:solidFill>
            </a:endParaRPr>
          </a:p>
          <a:p>
            <a:pPr>
              <a:buFontTx/>
              <a:buChar char="-"/>
            </a:pPr>
            <a:r>
              <a:rPr lang="fr-FR" b="1" dirty="0" smtClean="0"/>
              <a:t>Une </a:t>
            </a:r>
            <a:r>
              <a:rPr lang="fr-FR" b="1" dirty="0"/>
              <a:t>vitesse de </a:t>
            </a:r>
            <a:r>
              <a:rPr lang="fr-FR" b="1" dirty="0" smtClean="0"/>
              <a:t>sédimentation élevée </a:t>
            </a:r>
            <a:r>
              <a:rPr lang="fr-FR" dirty="0" smtClean="0"/>
              <a:t>(     VS ): permet </a:t>
            </a:r>
            <a:r>
              <a:rPr lang="fr-FR" dirty="0"/>
              <a:t>de suspecter une origine </a:t>
            </a:r>
            <a:r>
              <a:rPr lang="fr-FR" dirty="0" smtClean="0"/>
              <a:t>inflammatoire infectieuse </a:t>
            </a:r>
            <a:r>
              <a:rPr lang="fr-FR" dirty="0"/>
              <a:t>ou tumorale maligne</a:t>
            </a:r>
            <a:r>
              <a:rPr lang="fr-FR" dirty="0" smtClean="0"/>
              <a:t>.</a:t>
            </a:r>
          </a:p>
          <a:p>
            <a:pPr>
              <a:buFontTx/>
              <a:buChar char="-"/>
            </a:pPr>
            <a:r>
              <a:rPr lang="fr-FR" dirty="0" smtClean="0"/>
              <a:t> </a:t>
            </a:r>
            <a:r>
              <a:rPr lang="fr-FR" b="1" dirty="0"/>
              <a:t>La numération formule </a:t>
            </a:r>
            <a:r>
              <a:rPr lang="fr-FR" b="1" dirty="0" smtClean="0"/>
              <a:t>sanguine </a:t>
            </a:r>
            <a:r>
              <a:rPr lang="fr-FR" dirty="0" smtClean="0"/>
              <a:t>( FNS): </a:t>
            </a:r>
            <a:r>
              <a:rPr lang="fr-FR" dirty="0"/>
              <a:t>peut orienter vers une origine infectieuse ou </a:t>
            </a:r>
            <a:r>
              <a:rPr lang="fr-FR" dirty="0" smtClean="0"/>
              <a:t>une pathologie </a:t>
            </a:r>
            <a:r>
              <a:rPr lang="fr-FR" dirty="0"/>
              <a:t>hématologique.</a:t>
            </a:r>
            <a:r>
              <a:rPr lang="fr-FR" dirty="0" smtClean="0"/>
              <a:t> </a:t>
            </a:r>
            <a:endParaRPr lang="fr-FR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Paraclinique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8</a:t>
            </a:r>
            <a:endParaRPr lang="fr-FR" sz="3200" dirty="0"/>
          </a:p>
        </p:txBody>
      </p:sp>
      <p:sp>
        <p:nvSpPr>
          <p:cNvPr id="6" name="Right Arrow 5"/>
          <p:cNvSpPr/>
          <p:nvPr/>
        </p:nvSpPr>
        <p:spPr>
          <a:xfrm rot="18858504">
            <a:off x="6821963" y="4367685"/>
            <a:ext cx="300676" cy="21744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21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853" y="1336560"/>
            <a:ext cx="10515600" cy="4816249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A- Les </a:t>
            </a:r>
            <a:r>
              <a:rPr lang="fr-FR" b="1" dirty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causes </a:t>
            </a: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extradurales:</a:t>
            </a:r>
          </a:p>
          <a:p>
            <a:pPr>
              <a:buNone/>
            </a:pPr>
            <a:r>
              <a:rPr lang="fr-FR" b="1" dirty="0" smtClean="0"/>
              <a:t>1- </a:t>
            </a:r>
            <a:r>
              <a:rPr lang="fr-FR" b="1" u="sng" dirty="0" smtClean="0"/>
              <a:t>Origine tumorale </a:t>
            </a:r>
          </a:p>
          <a:p>
            <a:pPr>
              <a:buNone/>
            </a:pPr>
            <a:r>
              <a:rPr lang="fr-FR" b="1" dirty="0" smtClean="0"/>
              <a:t>a) Métastases d’un cancer </a:t>
            </a:r>
            <a:r>
              <a:rPr lang="fr-FR" b="1" dirty="0" err="1" smtClean="0"/>
              <a:t>ostéophyle</a:t>
            </a:r>
            <a:r>
              <a:rPr lang="fr-FR" dirty="0" smtClean="0"/>
              <a:t> : sein, rein, prostate, poumon, thyroïde</a:t>
            </a:r>
          </a:p>
          <a:p>
            <a:pPr marL="0" indent="0">
              <a:buNone/>
            </a:pPr>
            <a:r>
              <a:rPr lang="fr-FR" b="1" dirty="0" smtClean="0"/>
              <a:t> </a:t>
            </a:r>
            <a:endParaRPr lang="fr-FR" dirty="0"/>
          </a:p>
          <a:p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Etiologies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9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989" y="2838109"/>
            <a:ext cx="2188254" cy="34725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0171" y="2903423"/>
            <a:ext cx="4813974" cy="309154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5739" y="6344121"/>
            <a:ext cx="5627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hlinkClick r:id="rId5"/>
              </a:rPr>
              <a:t>Andreas Raabe</a:t>
            </a:r>
            <a:r>
              <a:rPr lang="fr-FR" b="1" u="sng" dirty="0" smtClean="0"/>
              <a:t>, </a:t>
            </a:r>
            <a:r>
              <a:rPr lang="fr-FR" dirty="0"/>
              <a:t>Métastases </a:t>
            </a:r>
            <a:r>
              <a:rPr lang="fr-FR" dirty="0" err="1" smtClean="0"/>
              <a:t>vertébralesINSELSPITAL</a:t>
            </a:r>
            <a:r>
              <a:rPr lang="fr-FR" dirty="0" smtClean="0"/>
              <a:t> </a:t>
            </a:r>
            <a:r>
              <a:rPr lang="fr-FR" dirty="0"/>
              <a:t> 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11629" y="6310652"/>
            <a:ext cx="462642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13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4029" y="1251857"/>
            <a:ext cx="11201400" cy="4925106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A- Les causes extradurales:</a:t>
            </a:r>
          </a:p>
          <a:p>
            <a:pPr>
              <a:buNone/>
            </a:pPr>
            <a:r>
              <a:rPr lang="fr-FR" b="1" dirty="0" smtClean="0"/>
              <a:t>1- </a:t>
            </a:r>
            <a:r>
              <a:rPr lang="fr-FR" b="1" u="sng" dirty="0" smtClean="0"/>
              <a:t>Origine tumorale </a:t>
            </a:r>
            <a:endParaRPr lang="fr-FR" dirty="0" smtClean="0"/>
          </a:p>
          <a:p>
            <a:pPr marL="0" indent="0">
              <a:buNone/>
            </a:pPr>
            <a:r>
              <a:rPr lang="fr-FR" b="1" dirty="0" smtClean="0"/>
              <a:t>b) Hémopathies malignes</a:t>
            </a:r>
            <a:r>
              <a:rPr lang="fr-FR" dirty="0" smtClean="0"/>
              <a:t> : lymphome d’Hodgkin, myélome multiple ou solitaire</a:t>
            </a:r>
          </a:p>
          <a:p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Etiologies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9</a:t>
            </a:r>
            <a:endParaRPr lang="fr-FR" sz="3200" dirty="0"/>
          </a:p>
        </p:txBody>
      </p:sp>
      <p:pic>
        <p:nvPicPr>
          <p:cNvPr id="1026" name="Picture 2" descr="Compression médullaire révélatrice d'un lymphome folliculaire : à propos  d'un cas - ScienceDirec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718" y="2917370"/>
            <a:ext cx="4358562" cy="3017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04800" y="6176963"/>
            <a:ext cx="9100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S. </a:t>
            </a:r>
            <a:r>
              <a:rPr lang="fr-FR" b="1" dirty="0" err="1" smtClean="0"/>
              <a:t>Charfi</a:t>
            </a:r>
            <a:r>
              <a:rPr lang="fr-FR" b="1" dirty="0" smtClean="0"/>
              <a:t>, </a:t>
            </a:r>
            <a:r>
              <a:rPr lang="fr-FR" b="1" dirty="0"/>
              <a:t>Compression médullaire révélatrice d'un lymphome folliculaire : à propos d'un cas</a:t>
            </a:r>
          </a:p>
          <a:p>
            <a:r>
              <a:rPr lang="fr-FR" dirty="0" smtClean="0">
                <a:hlinkClick r:id="rId3" tooltip="Go to Cancer/Radiothérapie on ScienceDirect"/>
              </a:rPr>
              <a:t>Cancer/Radiothérapie</a:t>
            </a:r>
            <a:r>
              <a:rPr lang="fr-FR" dirty="0" smtClean="0"/>
              <a:t> </a:t>
            </a:r>
            <a:r>
              <a:rPr lang="fr-FR" dirty="0" smtClean="0">
                <a:hlinkClick r:id="rId4" tooltip="Go to table of contents for this volume/issue"/>
              </a:rPr>
              <a:t>Volume </a:t>
            </a:r>
            <a:r>
              <a:rPr lang="fr-FR" dirty="0">
                <a:hlinkClick r:id="rId4" tooltip="Go to table of contents for this volume/issue"/>
              </a:rPr>
              <a:t>10, Issue 8</a:t>
            </a:r>
            <a:r>
              <a:rPr lang="fr-FR" dirty="0"/>
              <a:t>, </a:t>
            </a:r>
            <a:r>
              <a:rPr lang="fr-FR" dirty="0" err="1"/>
              <a:t>December</a:t>
            </a:r>
            <a:r>
              <a:rPr lang="fr-FR" dirty="0"/>
              <a:t> 2006, Pages </a:t>
            </a:r>
            <a:r>
              <a:rPr lang="fr-FR" dirty="0" smtClean="0"/>
              <a:t>586-589</a:t>
            </a:r>
            <a:endParaRPr lang="fr-FR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304800" y="6176963"/>
            <a:ext cx="867591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85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584" y="1600942"/>
            <a:ext cx="10874829" cy="4946877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A- Les causes extradurales:</a:t>
            </a:r>
          </a:p>
          <a:p>
            <a:pPr>
              <a:buNone/>
            </a:pPr>
            <a:r>
              <a:rPr lang="fr-FR" b="1" dirty="0" smtClean="0"/>
              <a:t>1- </a:t>
            </a:r>
            <a:r>
              <a:rPr lang="fr-FR" b="1" u="sng" dirty="0" smtClean="0"/>
              <a:t>Origine tumorale </a:t>
            </a:r>
            <a:endParaRPr lang="fr-FR" dirty="0" smtClean="0"/>
          </a:p>
          <a:p>
            <a:pPr>
              <a:buNone/>
            </a:pPr>
            <a:r>
              <a:rPr lang="fr-FR" b="1" dirty="0" smtClean="0"/>
              <a:t>c) Tumeurs vertébrales primitives</a:t>
            </a:r>
            <a:r>
              <a:rPr lang="fr-FR" dirty="0" smtClean="0"/>
              <a:t> : plus rare,</a:t>
            </a:r>
          </a:p>
          <a:p>
            <a:pPr lvl="0">
              <a:buNone/>
            </a:pPr>
            <a:r>
              <a:rPr lang="fr-FR" dirty="0" smtClean="0"/>
              <a:t>           - bénignes : angiome vertébrale (vertèbres</a:t>
            </a:r>
          </a:p>
          <a:p>
            <a:pPr lvl="0">
              <a:buNone/>
            </a:pPr>
            <a:r>
              <a:rPr lang="fr-FR" dirty="0" smtClean="0"/>
              <a:t>           </a:t>
            </a:r>
            <a:r>
              <a:rPr lang="fr-FR" dirty="0"/>
              <a:t>« grillagées </a:t>
            </a:r>
            <a:r>
              <a:rPr lang="fr-FR" dirty="0" smtClean="0"/>
              <a:t>»), kyste anévrysmale</a:t>
            </a:r>
          </a:p>
          <a:p>
            <a:pPr lvl="0">
              <a:buNone/>
            </a:pPr>
            <a:endParaRPr lang="fr-FR" dirty="0" smtClean="0"/>
          </a:p>
          <a:p>
            <a:pPr lvl="0">
              <a:buNone/>
            </a:pPr>
            <a:r>
              <a:rPr lang="fr-FR" dirty="0" smtClean="0"/>
              <a:t>            - malignes : sarcome, réticulosarcome</a:t>
            </a:r>
          </a:p>
          <a:p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Etiologies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9</a:t>
            </a:r>
            <a:endParaRPr lang="fr-FR" sz="3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4105" y="1694632"/>
            <a:ext cx="1990807" cy="33092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201192" y="5256312"/>
            <a:ext cx="199080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Angiome vertébral</a:t>
            </a:r>
            <a:endParaRPr lang="fr-FR" dirty="0"/>
          </a:p>
        </p:txBody>
      </p:sp>
      <p:sp>
        <p:nvSpPr>
          <p:cNvPr id="8" name="TextBox 7"/>
          <p:cNvSpPr txBox="1"/>
          <p:nvPr/>
        </p:nvSpPr>
        <p:spPr>
          <a:xfrm>
            <a:off x="6459824" y="6281214"/>
            <a:ext cx="578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/>
              <a:t>IRM pratique en </a:t>
            </a:r>
            <a:r>
              <a:rPr lang="fr-FR" b="1" i="1" dirty="0" smtClean="0"/>
              <a:t>neuroradiologie</a:t>
            </a:r>
            <a:r>
              <a:rPr lang="fr-FR" b="1" dirty="0" smtClean="0"/>
              <a:t> </a:t>
            </a:r>
            <a:r>
              <a:rPr lang="fr-FR" dirty="0"/>
              <a:t>2014 Elsevier Masson SAS</a:t>
            </a:r>
            <a:r>
              <a:rPr lang="fr-FR" dirty="0" smtClean="0"/>
              <a:t> </a:t>
            </a:r>
            <a:endParaRPr lang="fr-FR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6459824" y="6154071"/>
            <a:ext cx="543197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396" y="1706422"/>
            <a:ext cx="1912017" cy="33092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52001" y="5279893"/>
            <a:ext cx="199080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 err="1" smtClean="0"/>
              <a:t>Ostéosacrome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14" name="TextBox 13"/>
          <p:cNvSpPr txBox="1"/>
          <p:nvPr/>
        </p:nvSpPr>
        <p:spPr>
          <a:xfrm>
            <a:off x="87085" y="6216017"/>
            <a:ext cx="6063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Guillaume </a:t>
            </a:r>
            <a:r>
              <a:rPr lang="fr-FR" b="1" dirty="0" smtClean="0"/>
              <a:t>Lefebvre, </a:t>
            </a:r>
            <a:r>
              <a:rPr lang="fr-FR" b="1" dirty="0"/>
              <a:t>Ostéosarcome vertébral primitif </a:t>
            </a:r>
            <a:r>
              <a:rPr lang="fr-FR" dirty="0"/>
              <a:t>: </a:t>
            </a:r>
            <a:r>
              <a:rPr lang="fr-FR" dirty="0" smtClean="0"/>
              <a:t>cinq cas</a:t>
            </a:r>
          </a:p>
          <a:p>
            <a:r>
              <a:rPr lang="fr-FR" dirty="0"/>
              <a:t>Revue du rhumatisme 81 (2014) 81–84</a:t>
            </a:r>
            <a:r>
              <a:rPr lang="fr-FR" dirty="0" smtClean="0"/>
              <a:t>  </a:t>
            </a:r>
            <a:r>
              <a:rPr lang="fr-FR" b="1" dirty="0" smtClean="0"/>
              <a:t> </a:t>
            </a:r>
            <a:endParaRPr lang="fr-FR" b="1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17714" y="6154071"/>
            <a:ext cx="593271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360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8686"/>
            <a:ext cx="10515600" cy="4718277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A- Les causes extradurales:</a:t>
            </a:r>
          </a:p>
          <a:p>
            <a:pPr marL="0" indent="0">
              <a:buNone/>
            </a:pPr>
            <a:r>
              <a:rPr lang="fr-FR" b="1" dirty="0" smtClean="0"/>
              <a:t>2- </a:t>
            </a:r>
            <a:r>
              <a:rPr lang="fr-FR" b="1" u="sng" dirty="0" smtClean="0"/>
              <a:t>Compression d’origine infectieuse ou parasitaire: </a:t>
            </a:r>
            <a:r>
              <a:rPr lang="fr-FR" dirty="0" err="1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spondylodiscite</a:t>
            </a:r>
            <a:endParaRPr lang="fr-FR" dirty="0" smtClean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Tx/>
              <a:buChar char="-"/>
            </a:pPr>
            <a:endParaRPr lang="fr-FR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Tx/>
              <a:buChar char="-"/>
            </a:pPr>
            <a:r>
              <a:rPr lang="fr-FR" b="1" dirty="0" smtClean="0"/>
              <a:t>La </a:t>
            </a:r>
            <a:r>
              <a:rPr lang="fr-FR" b="1" dirty="0"/>
              <a:t>tuberculose vertébrale (Mal de Pott) </a:t>
            </a:r>
            <a:r>
              <a:rPr lang="fr-FR" dirty="0" smtClean="0"/>
              <a:t>:</a:t>
            </a:r>
          </a:p>
          <a:p>
            <a:pPr marL="0" indent="0">
              <a:buNone/>
            </a:pPr>
            <a:r>
              <a:rPr lang="fr-FR" dirty="0" smtClean="0"/>
              <a:t> </a:t>
            </a:r>
          </a:p>
          <a:p>
            <a:pPr>
              <a:buNone/>
            </a:pPr>
            <a:r>
              <a:rPr lang="fr-FR" dirty="0" smtClean="0"/>
              <a:t>- </a:t>
            </a:r>
            <a:r>
              <a:rPr lang="fr-FR" b="1" dirty="0" smtClean="0"/>
              <a:t>Spondylite </a:t>
            </a:r>
            <a:r>
              <a:rPr lang="fr-FR" b="1" dirty="0" err="1" smtClean="0"/>
              <a:t>Brucellienne</a:t>
            </a:r>
            <a:r>
              <a:rPr lang="fr-FR" b="1" dirty="0" smtClean="0"/>
              <a:t> </a:t>
            </a:r>
            <a:r>
              <a:rPr lang="fr-FR" dirty="0" smtClean="0"/>
              <a:t>, staphylococcie</a:t>
            </a:r>
          </a:p>
          <a:p>
            <a:pPr>
              <a:buNone/>
            </a:pPr>
            <a:r>
              <a:rPr lang="fr-FR" dirty="0" smtClean="0"/>
              <a:t> vertébrale, parasitose rachidienne</a:t>
            </a:r>
            <a:br>
              <a:rPr lang="fr-FR" dirty="0" smtClean="0"/>
            </a:br>
            <a:endParaRPr lang="fr-FR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Etiologies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9</a:t>
            </a:r>
            <a:endParaRPr lang="fr-FR" sz="3200" dirty="0"/>
          </a:p>
        </p:txBody>
      </p:sp>
      <p:pic>
        <p:nvPicPr>
          <p:cNvPr id="23554" name="Picture 2" descr="pic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485" y="2807814"/>
            <a:ext cx="5123915" cy="369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26571" y="6176963"/>
            <a:ext cx="7336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hlinkClick r:id="rId3"/>
              </a:rPr>
              <a:t> ALLIEZ Jean </a:t>
            </a:r>
            <a:r>
              <a:rPr lang="fr-FR" b="1" dirty="0" smtClean="0">
                <a:hlinkClick r:id="rId3"/>
              </a:rPr>
              <a:t>Roch</a:t>
            </a:r>
            <a:r>
              <a:rPr lang="fr-FR" b="1" dirty="0" smtClean="0"/>
              <a:t> </a:t>
            </a:r>
            <a:r>
              <a:rPr lang="fr-FR" b="1" dirty="0"/>
              <a:t>MAL DE POTT ET PARAPLEGIE </a:t>
            </a:r>
            <a:r>
              <a:rPr lang="fr-FR" b="1" dirty="0" smtClean="0"/>
              <a:t>POTTIQUE</a:t>
            </a:r>
          </a:p>
          <a:p>
            <a:r>
              <a:rPr lang="fr-FR" dirty="0" smtClean="0"/>
              <a:t>Africain Journal of </a:t>
            </a:r>
            <a:r>
              <a:rPr lang="fr-FR" dirty="0" err="1" smtClean="0"/>
              <a:t>Neurological</a:t>
            </a:r>
            <a:r>
              <a:rPr lang="fr-FR" dirty="0" smtClean="0"/>
              <a:t> Science 2006 VOL 25 No2</a:t>
            </a:r>
            <a:endParaRPr lang="fr-FR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26571" y="6176963"/>
            <a:ext cx="576942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90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798" y="1393371"/>
            <a:ext cx="10515600" cy="4816249"/>
          </a:xfrm>
        </p:spPr>
        <p:txBody>
          <a:bodyPr/>
          <a:lstStyle/>
          <a:p>
            <a:pPr marL="0" indent="0"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A- Les causes extradurales:</a:t>
            </a:r>
          </a:p>
          <a:p>
            <a:pPr>
              <a:buNone/>
            </a:pPr>
            <a:r>
              <a:rPr lang="fr-FR" b="1" dirty="0" smtClean="0"/>
              <a:t>3-</a:t>
            </a:r>
            <a:r>
              <a:rPr lang="fr-FR" b="1" u="sng" dirty="0" smtClean="0"/>
              <a:t>Origine dégénérative</a:t>
            </a:r>
            <a:r>
              <a:rPr lang="fr-FR" b="1" dirty="0" smtClean="0"/>
              <a:t> 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   -Hernie discale, </a:t>
            </a:r>
            <a:r>
              <a:rPr lang="fr-FR" dirty="0"/>
              <a:t>Il s’agit presque toujours </a:t>
            </a:r>
            <a:endParaRPr lang="fr-FR" dirty="0" smtClean="0"/>
          </a:p>
          <a:p>
            <a:pPr>
              <a:buNone/>
            </a:pPr>
            <a:r>
              <a:rPr lang="fr-FR" dirty="0"/>
              <a:t> </a:t>
            </a:r>
            <a:r>
              <a:rPr lang="fr-FR" dirty="0" smtClean="0"/>
              <a:t>   d’une </a:t>
            </a:r>
            <a:r>
              <a:rPr lang="fr-FR" dirty="0"/>
              <a:t>hernie discale cervicale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   -canal rachidien étroit</a:t>
            </a:r>
          </a:p>
          <a:p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Etiologies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9</a:t>
            </a:r>
            <a:endParaRPr lang="fr-FR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286" y="2280556"/>
            <a:ext cx="3259668" cy="3733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838" y="4147456"/>
            <a:ext cx="2934503" cy="235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1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853" y="1401082"/>
            <a:ext cx="10515600" cy="1222375"/>
          </a:xfrm>
        </p:spPr>
        <p:txBody>
          <a:bodyPr/>
          <a:lstStyle/>
          <a:p>
            <a:pPr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B- Les causes intradurales extra-médullaires </a:t>
            </a:r>
          </a:p>
          <a:p>
            <a:pPr>
              <a:buNone/>
            </a:pPr>
            <a:r>
              <a:rPr lang="fr-FR" b="1" dirty="0" smtClean="0"/>
              <a:t>   - Neurinome</a:t>
            </a:r>
            <a:r>
              <a:rPr lang="fr-FR" dirty="0"/>
              <a:t> </a:t>
            </a:r>
            <a:r>
              <a:rPr lang="fr-FR" dirty="0" smtClean="0"/>
              <a:t>                                                           - </a:t>
            </a:r>
            <a:r>
              <a:rPr lang="fr-FR" b="1" dirty="0" smtClean="0"/>
              <a:t>Méningiome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Etiologies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9</a:t>
            </a:r>
            <a:endParaRPr lang="fr-FR" sz="32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06143" y="2340429"/>
            <a:ext cx="21771" cy="355962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475" y="3080660"/>
            <a:ext cx="2090057" cy="25370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343" y="2950027"/>
            <a:ext cx="3003942" cy="3102430"/>
          </a:xfrm>
          <a:prstGeom prst="rect">
            <a:avLst/>
          </a:prstGeom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961799" y="3385841"/>
            <a:ext cx="3230200" cy="2230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02201" y="3213543"/>
            <a:ext cx="2792273" cy="227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3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8686"/>
            <a:ext cx="10515600" cy="4718277"/>
          </a:xfrm>
        </p:spPr>
        <p:txBody>
          <a:bodyPr/>
          <a:lstStyle/>
          <a:p>
            <a:pPr>
              <a:buNone/>
            </a:pPr>
            <a:r>
              <a:rPr lang="fr-FR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C- </a:t>
            </a:r>
            <a:r>
              <a:rPr lang="fr-FR" b="1" u="sng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 causes intramédullaire:</a:t>
            </a:r>
          </a:p>
          <a:p>
            <a:pPr marL="0" indent="0">
              <a:buNone/>
            </a:pPr>
            <a:r>
              <a:rPr lang="fr-FR" b="1" dirty="0" smtClean="0"/>
              <a:t>1- causes tumorales </a:t>
            </a:r>
            <a:endParaRPr lang="fr-FR" dirty="0" smtClean="0"/>
          </a:p>
          <a:p>
            <a:pPr>
              <a:buNone/>
            </a:pPr>
            <a:r>
              <a:rPr lang="en-US" dirty="0" smtClean="0"/>
              <a:t>    - </a:t>
            </a:r>
            <a:r>
              <a:rPr lang="en-US" dirty="0" err="1" smtClean="0"/>
              <a:t>épendymome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- </a:t>
            </a:r>
            <a:r>
              <a:rPr lang="en-US" dirty="0" err="1" smtClean="0"/>
              <a:t>Astrocytome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 - </a:t>
            </a:r>
            <a:r>
              <a:rPr lang="en-US" dirty="0" err="1" smtClean="0"/>
              <a:t>hémangioblastome</a:t>
            </a:r>
            <a:endParaRPr lang="en-US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2- Malformations </a:t>
            </a:r>
            <a:r>
              <a:rPr lang="en-US" b="1" dirty="0" err="1" smtClean="0"/>
              <a:t>vasculaires</a:t>
            </a:r>
            <a:r>
              <a:rPr lang="en-US" b="1" dirty="0" smtClean="0"/>
              <a:t> </a:t>
            </a:r>
            <a:endParaRPr lang="fr-FR" b="1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Etiologies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581891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9</a:t>
            </a:r>
            <a:endParaRPr lang="fr-FR" sz="32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029" y="1643742"/>
            <a:ext cx="5041299" cy="394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29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86" y="1491343"/>
            <a:ext cx="10885714" cy="4903334"/>
          </a:xfrm>
        </p:spPr>
        <p:txBody>
          <a:bodyPr/>
          <a:lstStyle/>
          <a:p>
            <a:pPr>
              <a:buFontTx/>
              <a:buChar char="-"/>
            </a:pPr>
            <a:r>
              <a:rPr lang="fr-FR" dirty="0" smtClean="0"/>
              <a:t>L’apparition </a:t>
            </a:r>
            <a:r>
              <a:rPr lang="fr-FR" dirty="0"/>
              <a:t>subaiguë d’une </a:t>
            </a:r>
            <a:r>
              <a:rPr lang="fr-FR" dirty="0" err="1"/>
              <a:t>paraparésie</a:t>
            </a:r>
            <a:r>
              <a:rPr lang="fr-FR" dirty="0"/>
              <a:t> ou une paralysie flasque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 </a:t>
            </a:r>
            <a:r>
              <a:rPr lang="fr-FR" dirty="0" smtClean="0"/>
              <a:t>aréflexie </a:t>
            </a:r>
            <a:r>
              <a:rPr lang="fr-FR" dirty="0"/>
              <a:t>ostéo-tendineuse des </a:t>
            </a:r>
            <a:r>
              <a:rPr lang="fr-FR" dirty="0" smtClean="0"/>
              <a:t>membres </a:t>
            </a:r>
            <a:r>
              <a:rPr lang="fr-FR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fr-FR" dirty="0" smtClean="0"/>
              <a:t> des </a:t>
            </a:r>
            <a:r>
              <a:rPr lang="fr-FR" dirty="0"/>
              <a:t>troubles sensitifs mais </a:t>
            </a:r>
            <a:r>
              <a:rPr lang="fr-FR" u="sng" dirty="0">
                <a:solidFill>
                  <a:srgbClr val="FF0000"/>
                </a:solidFill>
              </a:rPr>
              <a:t>sans</a:t>
            </a:r>
            <a:r>
              <a:rPr lang="fr-FR" dirty="0"/>
              <a:t> troubles sphinctériens</a:t>
            </a:r>
            <a:r>
              <a:rPr lang="fr-FR" dirty="0" smtClean="0"/>
              <a:t>,             </a:t>
            </a:r>
            <a:r>
              <a:rPr lang="fr-FR" b="1" dirty="0"/>
              <a:t>une polyradiculonévrite </a:t>
            </a:r>
            <a:r>
              <a:rPr lang="fr-FR" dirty="0"/>
              <a:t>peut être évoquée.</a:t>
            </a:r>
            <a:br>
              <a:rPr lang="fr-FR" dirty="0"/>
            </a:br>
            <a:endParaRPr lang="fr-FR" dirty="0" smtClean="0"/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r>
              <a:rPr lang="fr-FR" dirty="0" smtClean="0"/>
              <a:t>L’apparition </a:t>
            </a:r>
            <a:r>
              <a:rPr lang="fr-FR" dirty="0"/>
              <a:t>d’une </a:t>
            </a:r>
            <a:r>
              <a:rPr lang="fr-FR" dirty="0" err="1"/>
              <a:t>paraparésie</a:t>
            </a:r>
            <a:r>
              <a:rPr lang="fr-FR" dirty="0"/>
              <a:t> spastique progressive 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fr-FR" dirty="0" smtClean="0"/>
              <a:t> </a:t>
            </a:r>
            <a:r>
              <a:rPr lang="fr-FR" dirty="0"/>
              <a:t>d’autres signes de souffrance médullaire </a:t>
            </a:r>
            <a:r>
              <a:rPr lang="fr-FR" dirty="0" smtClean="0"/>
              <a:t>               le premier </a:t>
            </a:r>
            <a:r>
              <a:rPr lang="fr-FR" dirty="0"/>
              <a:t>signe d’</a:t>
            </a:r>
            <a:r>
              <a:rPr lang="fr-FR" b="1" dirty="0"/>
              <a:t>une sclérose en plaque (SEP)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Diagnostic différentiel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976747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10</a:t>
            </a:r>
            <a:endParaRPr lang="fr-FR" sz="3200" dirty="0"/>
          </a:p>
        </p:txBody>
      </p:sp>
      <p:sp>
        <p:nvSpPr>
          <p:cNvPr id="6" name="Right Arrow 5"/>
          <p:cNvSpPr/>
          <p:nvPr/>
        </p:nvSpPr>
        <p:spPr>
          <a:xfrm>
            <a:off x="4561115" y="4713518"/>
            <a:ext cx="936172" cy="32657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ight Arrow 6"/>
          <p:cNvSpPr/>
          <p:nvPr/>
        </p:nvSpPr>
        <p:spPr>
          <a:xfrm>
            <a:off x="4887687" y="2536374"/>
            <a:ext cx="936172" cy="32657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889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3" y="1251857"/>
            <a:ext cx="11005457" cy="536665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fr-FR" b="1" dirty="0" smtClean="0"/>
              <a:t>La </a:t>
            </a:r>
            <a:r>
              <a:rPr lang="fr-FR" b="1" dirty="0"/>
              <a:t>sclérose latérale amyotrophique </a:t>
            </a:r>
            <a:r>
              <a:rPr lang="fr-FR" dirty="0"/>
              <a:t>peut simuler une compression médullaire, mais les signes sensitifs </a:t>
            </a:r>
            <a:r>
              <a:rPr lang="fr-FR" dirty="0" smtClean="0"/>
              <a:t>et sphinctériens </a:t>
            </a:r>
            <a:r>
              <a:rPr lang="fr-FR" dirty="0"/>
              <a:t>sont absents. Il existe des fasciculations et une amyotrophie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 smtClean="0"/>
              <a:t>-  </a:t>
            </a:r>
            <a:r>
              <a:rPr lang="fr-FR" b="1" dirty="0"/>
              <a:t>La sclérose combinée de la moelle </a:t>
            </a:r>
            <a:r>
              <a:rPr lang="fr-FR" dirty="0"/>
              <a:t>s’observe au cours de la maladie de Biermer. Le diagnostic est biologique </a:t>
            </a:r>
            <a:r>
              <a:rPr lang="fr-FR" dirty="0" smtClean="0"/>
              <a:t>: </a:t>
            </a:r>
            <a:r>
              <a:rPr lang="fr-FR" dirty="0" err="1" smtClean="0"/>
              <a:t>macrocytose</a:t>
            </a:r>
            <a:r>
              <a:rPr lang="fr-FR" dirty="0" smtClean="0"/>
              <a:t> </a:t>
            </a:r>
            <a:r>
              <a:rPr lang="fr-FR" dirty="0"/>
              <a:t>et déficit vitaminique B12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 smtClean="0"/>
              <a:t>-  </a:t>
            </a:r>
            <a:r>
              <a:rPr lang="fr-FR" dirty="0"/>
              <a:t>Les autres causes de claudication des membres inférieurs : </a:t>
            </a:r>
            <a:r>
              <a:rPr lang="fr-FR" b="1" dirty="0"/>
              <a:t>l’artérite et le canal lombaire étroit</a:t>
            </a:r>
            <a:r>
              <a:rPr lang="fr-FR" b="1" dirty="0" smtClean="0"/>
              <a:t>.</a:t>
            </a:r>
          </a:p>
          <a:p>
            <a:pPr marL="0" indent="0">
              <a:buNone/>
            </a:pPr>
            <a:r>
              <a:rPr lang="fr-FR" b="1" dirty="0"/>
              <a:t/>
            </a:r>
            <a:br>
              <a:rPr lang="fr-FR" b="1" dirty="0"/>
            </a:br>
            <a:r>
              <a:rPr lang="fr-FR" dirty="0" smtClean="0"/>
              <a:t>- </a:t>
            </a:r>
            <a:r>
              <a:rPr lang="fr-FR" b="1" dirty="0" smtClean="0"/>
              <a:t>La </a:t>
            </a:r>
            <a:r>
              <a:rPr lang="fr-FR" b="1" dirty="0"/>
              <a:t>syringomyélie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Diagnostic différentiel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976747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10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163003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172" y="2329543"/>
            <a:ext cx="10515600" cy="2492828"/>
          </a:xfrm>
        </p:spPr>
        <p:txBody>
          <a:bodyPr/>
          <a:lstStyle/>
          <a:p>
            <a:pPr>
              <a:buFontTx/>
              <a:buChar char="-"/>
            </a:pPr>
            <a:r>
              <a:rPr lang="fr-FR" dirty="0" smtClean="0"/>
              <a:t>La </a:t>
            </a:r>
            <a:r>
              <a:rPr lang="fr-FR" dirty="0"/>
              <a:t>compression médullaire constitue </a:t>
            </a:r>
            <a:r>
              <a:rPr lang="fr-FR" b="1" dirty="0" smtClean="0"/>
              <a:t>une </a:t>
            </a:r>
            <a:r>
              <a:rPr lang="fr-FR" b="1" dirty="0"/>
              <a:t>urgence thérapeutique</a:t>
            </a:r>
            <a:r>
              <a:rPr lang="fr-FR" dirty="0"/>
              <a:t>. </a:t>
            </a:r>
            <a:endParaRPr lang="fr-FR" dirty="0" smtClean="0"/>
          </a:p>
          <a:p>
            <a:pPr>
              <a:buFontTx/>
              <a:buChar char="-"/>
            </a:pPr>
            <a:endParaRPr lang="fr-FR" dirty="0"/>
          </a:p>
          <a:p>
            <a:pPr>
              <a:buFontTx/>
              <a:buChar char="-"/>
            </a:pPr>
            <a:endParaRPr lang="fr-FR" dirty="0" smtClean="0"/>
          </a:p>
          <a:p>
            <a:pPr>
              <a:buFontTx/>
              <a:buChar char="-"/>
            </a:pPr>
            <a:r>
              <a:rPr lang="fr-FR" dirty="0"/>
              <a:t>Plus il est précoce, </a:t>
            </a:r>
            <a:r>
              <a:rPr lang="fr-FR" dirty="0" smtClean="0"/>
              <a:t>meilleur sera </a:t>
            </a:r>
            <a:r>
              <a:rPr lang="fr-FR" dirty="0"/>
              <a:t>le pronostic</a:t>
            </a:r>
            <a:r>
              <a:rPr lang="fr-FR" dirty="0" smtClean="0"/>
              <a:t> 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Traitement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976747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11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40894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2057" y="1694996"/>
            <a:ext cx="694508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BUTS </a:t>
            </a:r>
            <a:r>
              <a:rPr lang="fr-FR" dirty="0" smtClean="0"/>
              <a:t>: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- décompression </a:t>
            </a:r>
            <a:r>
              <a:rPr lang="fr-FR" dirty="0" err="1"/>
              <a:t>radiculo</a:t>
            </a:r>
            <a:r>
              <a:rPr lang="fr-FR" dirty="0"/>
              <a:t>-médullaire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endParaRPr lang="fr-FR" dirty="0"/>
          </a:p>
          <a:p>
            <a:pPr>
              <a:buFontTx/>
              <a:buChar char="-"/>
            </a:pPr>
            <a:r>
              <a:rPr lang="fr-FR" dirty="0" smtClean="0"/>
              <a:t>étude </a:t>
            </a:r>
            <a:r>
              <a:rPr lang="fr-FR" dirty="0"/>
              <a:t>anatomo-pathologique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- traitement étiologique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- stabilité rachidienne.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1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Traitement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976747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11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421571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4886"/>
            <a:ext cx="10515600" cy="4833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/>
              <a:t>MOYENS </a:t>
            </a:r>
            <a:r>
              <a:rPr lang="fr-FR" b="1" dirty="0" smtClean="0"/>
              <a:t>:</a:t>
            </a:r>
          </a:p>
          <a:p>
            <a:pPr marL="0" indent="0">
              <a:buNone/>
            </a:pPr>
            <a:r>
              <a:rPr lang="fr-FR" b="1" dirty="0"/>
              <a:t/>
            </a:r>
            <a:br>
              <a:rPr lang="fr-FR" b="1" dirty="0"/>
            </a:br>
            <a:r>
              <a:rPr lang="fr-FR" dirty="0"/>
              <a:t>- </a:t>
            </a:r>
            <a:r>
              <a:rPr lang="fr-FR" dirty="0" smtClean="0">
                <a:solidFill>
                  <a:srgbClr val="844C83"/>
                </a:solidFill>
              </a:rPr>
              <a:t>Médicaux </a:t>
            </a:r>
            <a:r>
              <a:rPr lang="fr-FR" dirty="0">
                <a:solidFill>
                  <a:srgbClr val="844C83"/>
                </a:solidFill>
              </a:rPr>
              <a:t>:</a:t>
            </a:r>
            <a:r>
              <a:rPr lang="fr-FR" dirty="0"/>
              <a:t> antalgiques, AINS, antibiotiques, </a:t>
            </a:r>
            <a:r>
              <a:rPr lang="fr-FR" dirty="0" err="1"/>
              <a:t>antibacillaires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- </a:t>
            </a:r>
            <a:r>
              <a:rPr lang="fr-FR" dirty="0" smtClean="0">
                <a:solidFill>
                  <a:srgbClr val="844C83"/>
                </a:solidFill>
              </a:rPr>
              <a:t>Chirurgicaux </a:t>
            </a:r>
            <a:r>
              <a:rPr lang="fr-FR" dirty="0">
                <a:solidFill>
                  <a:srgbClr val="844C83"/>
                </a:solidFill>
              </a:rPr>
              <a:t>:</a:t>
            </a:r>
            <a:r>
              <a:rPr lang="fr-FR" dirty="0"/>
              <a:t> abord postérieur (laminectomie) ou antérieur, tumorectomie, biopsie </a:t>
            </a:r>
            <a:r>
              <a:rPr lang="fr-FR" dirty="0" err="1" smtClean="0"/>
              <a:t>scanno</a:t>
            </a:r>
            <a:r>
              <a:rPr lang="fr-FR" dirty="0" smtClean="0"/>
              <a:t>-guidée, ostéosynthèse </a:t>
            </a:r>
            <a:r>
              <a:rPr lang="fr-FR" dirty="0"/>
              <a:t>en </a:t>
            </a:r>
            <a:r>
              <a:rPr lang="fr-FR" dirty="0" smtClean="0"/>
              <a:t>cas d’instabilité </a:t>
            </a:r>
            <a:r>
              <a:rPr lang="fr-FR" dirty="0"/>
              <a:t>rachidienne</a:t>
            </a:r>
            <a:r>
              <a:rPr lang="fr-FR" dirty="0" smtClean="0"/>
              <a:t>.</a:t>
            </a:r>
          </a:p>
          <a:p>
            <a:pPr marL="0" indent="0">
              <a:buNone/>
            </a:pPr>
            <a:r>
              <a:rPr lang="fr-FR" dirty="0"/>
              <a:t/>
            </a:r>
            <a:br>
              <a:rPr lang="fr-FR" dirty="0"/>
            </a:br>
            <a:r>
              <a:rPr lang="fr-FR" dirty="0"/>
              <a:t>- </a:t>
            </a:r>
            <a:r>
              <a:rPr lang="fr-FR" dirty="0" smtClean="0">
                <a:solidFill>
                  <a:srgbClr val="844C83"/>
                </a:solidFill>
              </a:rPr>
              <a:t>Radiothérapie</a:t>
            </a:r>
            <a:r>
              <a:rPr lang="fr-FR" dirty="0">
                <a:solidFill>
                  <a:srgbClr val="844C83"/>
                </a:solidFill>
              </a:rPr>
              <a:t>, chimiothérapie</a:t>
            </a:r>
            <a:r>
              <a:rPr lang="fr-FR" dirty="0" smtClean="0">
                <a:solidFill>
                  <a:srgbClr val="844C83"/>
                </a:solidFill>
              </a:rPr>
              <a:t>.</a:t>
            </a:r>
          </a:p>
          <a:p>
            <a:pPr marL="0" indent="0">
              <a:buNone/>
            </a:pPr>
            <a:r>
              <a:rPr lang="fr-FR" dirty="0">
                <a:solidFill>
                  <a:srgbClr val="844C83"/>
                </a:solidFill>
              </a:rPr>
              <a:t/>
            </a:r>
            <a:br>
              <a:rPr lang="fr-FR" dirty="0">
                <a:solidFill>
                  <a:srgbClr val="844C83"/>
                </a:solidFill>
              </a:rPr>
            </a:br>
            <a:r>
              <a:rPr lang="fr-FR" dirty="0"/>
              <a:t>- </a:t>
            </a:r>
            <a:r>
              <a:rPr lang="fr-FR" dirty="0" smtClean="0">
                <a:solidFill>
                  <a:srgbClr val="844C83"/>
                </a:solidFill>
              </a:rPr>
              <a:t>Kinésithérapie </a:t>
            </a:r>
            <a:r>
              <a:rPr lang="fr-FR" dirty="0">
                <a:solidFill>
                  <a:srgbClr val="844C83"/>
                </a:solidFill>
              </a:rPr>
              <a:t>:</a:t>
            </a:r>
            <a:r>
              <a:rPr lang="fr-FR" dirty="0"/>
              <a:t> prévention des complications du décubitus.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-5974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Traitement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976747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11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116451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4968"/>
            <a:ext cx="4090061" cy="54190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fr-FR" dirty="0" err="1" smtClean="0"/>
              <a:t>Meningiome</a:t>
            </a:r>
            <a:r>
              <a:rPr lang="fr-FR" dirty="0" smtClean="0"/>
              <a:t> dorsale </a:t>
            </a:r>
            <a:endParaRPr lang="fr-FR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-5974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Traitement </a:t>
            </a:r>
            <a:endParaRPr lang="fr-FR" sz="4800" b="1" dirty="0"/>
          </a:p>
        </p:txBody>
      </p:sp>
      <p:sp>
        <p:nvSpPr>
          <p:cNvPr id="5" name="Oval 4"/>
          <p:cNvSpPr/>
          <p:nvPr/>
        </p:nvSpPr>
        <p:spPr>
          <a:xfrm>
            <a:off x="775853" y="175490"/>
            <a:ext cx="976747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11</a:t>
            </a:r>
            <a:endParaRPr lang="fr-FR" sz="32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53655" y="1722143"/>
            <a:ext cx="8331286" cy="4978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09247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199" y="1714909"/>
            <a:ext cx="8958944" cy="5079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val 4"/>
          <p:cNvSpPr/>
          <p:nvPr/>
        </p:nvSpPr>
        <p:spPr>
          <a:xfrm>
            <a:off x="775853" y="175490"/>
            <a:ext cx="976747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11</a:t>
            </a:r>
            <a:endParaRPr lang="fr-FR" sz="32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-5974"/>
            <a:ext cx="12191999" cy="955671"/>
          </a:xfrm>
          <a:solidFill>
            <a:srgbClr val="844C83"/>
          </a:solidFill>
        </p:spPr>
        <p:txBody>
          <a:bodyPr>
            <a:normAutofit/>
          </a:bodyPr>
          <a:lstStyle/>
          <a:p>
            <a:pPr algn="ctr"/>
            <a:r>
              <a:rPr lang="fr-FR" sz="4800" b="1" dirty="0" smtClean="0">
                <a:solidFill>
                  <a:schemeClr val="bg1"/>
                </a:solidFill>
              </a:rPr>
              <a:t>Traitement </a:t>
            </a:r>
            <a:endParaRPr lang="fr-FR" sz="4800" b="1" dirty="0"/>
          </a:p>
        </p:txBody>
      </p:sp>
      <p:sp>
        <p:nvSpPr>
          <p:cNvPr id="7" name="Oval 6"/>
          <p:cNvSpPr/>
          <p:nvPr/>
        </p:nvSpPr>
        <p:spPr>
          <a:xfrm>
            <a:off x="928253" y="153718"/>
            <a:ext cx="976747" cy="614511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200" dirty="0" smtClean="0"/>
              <a:t>11</a:t>
            </a:r>
            <a:endParaRPr lang="fr-FR" sz="32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0" y="1064968"/>
            <a:ext cx="4090061" cy="541904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 algn="ctr">
              <a:buNone/>
            </a:pPr>
            <a:r>
              <a:rPr lang="fr-FR" dirty="0" smtClean="0"/>
              <a:t>Neurinome cervicale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139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4C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3229"/>
            <a:ext cx="10515600" cy="4293734"/>
          </a:xfrm>
        </p:spPr>
        <p:txBody>
          <a:bodyPr/>
          <a:lstStyle/>
          <a:p>
            <a:pPr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La compression </a:t>
            </a:r>
            <a:r>
              <a:rPr lang="fr-FR" dirty="0" err="1" smtClean="0">
                <a:solidFill>
                  <a:schemeClr val="bg1"/>
                </a:solidFill>
              </a:rPr>
              <a:t>medullaire</a:t>
            </a:r>
            <a:r>
              <a:rPr lang="fr-FR" dirty="0" smtClean="0">
                <a:solidFill>
                  <a:schemeClr val="bg1"/>
                </a:solidFill>
              </a:rPr>
              <a:t> lente </a:t>
            </a:r>
            <a:r>
              <a:rPr lang="fr-FR" dirty="0">
                <a:solidFill>
                  <a:schemeClr val="bg1"/>
                </a:solidFill>
              </a:rPr>
              <a:t>est une urgence fonctionnelle diagnostique et </a:t>
            </a:r>
            <a:r>
              <a:rPr lang="fr-FR" dirty="0" smtClean="0">
                <a:solidFill>
                  <a:schemeClr val="bg1"/>
                </a:solidFill>
              </a:rPr>
              <a:t>thérapeutique</a:t>
            </a:r>
          </a:p>
          <a:p>
            <a:pPr>
              <a:buFontTx/>
              <a:buChar char="-"/>
            </a:pPr>
            <a:endParaRPr lang="fr-FR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 </a:t>
            </a:r>
            <a:r>
              <a:rPr lang="fr-FR" dirty="0">
                <a:solidFill>
                  <a:schemeClr val="bg1"/>
                </a:solidFill>
              </a:rPr>
              <a:t>L’IRM reste l’examen complémentaire de </a:t>
            </a:r>
            <a:r>
              <a:rPr lang="fr-FR" dirty="0" smtClean="0">
                <a:solidFill>
                  <a:schemeClr val="bg1"/>
                </a:solidFill>
              </a:rPr>
              <a:t>choix</a:t>
            </a:r>
          </a:p>
          <a:p>
            <a:pPr>
              <a:buFontTx/>
              <a:buChar char="-"/>
            </a:pPr>
            <a:endParaRPr lang="fr-FR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fr-FR" dirty="0" smtClean="0">
                <a:solidFill>
                  <a:schemeClr val="bg1"/>
                </a:solidFill>
              </a:rPr>
              <a:t>Dans </a:t>
            </a:r>
            <a:r>
              <a:rPr lang="fr-FR" dirty="0">
                <a:solidFill>
                  <a:schemeClr val="bg1"/>
                </a:solidFill>
              </a:rPr>
              <a:t>la majorité des cas ,le traitement repose sur la chirurgie avec un </a:t>
            </a:r>
            <a:r>
              <a:rPr lang="fr-FR" dirty="0" smtClean="0">
                <a:solidFill>
                  <a:schemeClr val="bg1"/>
                </a:solidFill>
              </a:rPr>
              <a:t>traitement complémentaire </a:t>
            </a:r>
            <a:r>
              <a:rPr lang="fr-FR" dirty="0">
                <a:solidFill>
                  <a:schemeClr val="bg1"/>
                </a:solidFill>
              </a:rPr>
              <a:t>en fonction de l’étiologie</a:t>
            </a:r>
            <a:r>
              <a:rPr lang="fr-FR" dirty="0" smtClean="0">
                <a:solidFill>
                  <a:schemeClr val="bg1"/>
                </a:solidFill>
              </a:rPr>
              <a:t> </a:t>
            </a:r>
            <a:br>
              <a:rPr lang="fr-FR" dirty="0" smtClean="0">
                <a:solidFill>
                  <a:schemeClr val="bg1"/>
                </a:solidFill>
              </a:rPr>
            </a:b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4916"/>
            <a:ext cx="12191999" cy="1168102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fr-FR" sz="5400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</a:t>
            </a:r>
            <a:endParaRPr lang="fr-FR" sz="5400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470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44C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971" y="1825625"/>
            <a:ext cx="11408229" cy="4351338"/>
          </a:xfrm>
        </p:spPr>
        <p:txBody>
          <a:bodyPr/>
          <a:lstStyle/>
          <a:p>
            <a:pPr lvl="0"/>
            <a:r>
              <a:rPr lang="fr-FR" dirty="0">
                <a:solidFill>
                  <a:schemeClr val="bg1"/>
                </a:solidFill>
              </a:rPr>
              <a:t>E. </a:t>
            </a:r>
            <a:r>
              <a:rPr lang="fr-FR" dirty="0" err="1">
                <a:solidFill>
                  <a:schemeClr val="bg1"/>
                </a:solidFill>
              </a:rPr>
              <a:t>Mireau</a:t>
            </a:r>
            <a:r>
              <a:rPr lang="fr-FR" dirty="0">
                <a:solidFill>
                  <a:schemeClr val="bg1"/>
                </a:solidFill>
              </a:rPr>
              <a:t>, Compression </a:t>
            </a:r>
            <a:r>
              <a:rPr lang="fr-FR" dirty="0" err="1">
                <a:solidFill>
                  <a:schemeClr val="bg1"/>
                </a:solidFill>
              </a:rPr>
              <a:t>medullaire</a:t>
            </a:r>
            <a:r>
              <a:rPr lang="fr-FR" dirty="0">
                <a:solidFill>
                  <a:schemeClr val="bg1"/>
                </a:solidFill>
              </a:rPr>
              <a:t> lente. EMC. 2009 </a:t>
            </a:r>
            <a:r>
              <a:rPr lang="fr-FR" i="1" dirty="0">
                <a:solidFill>
                  <a:schemeClr val="bg1"/>
                </a:solidFill>
              </a:rPr>
              <a:t>Elsevier Masson SAS</a:t>
            </a:r>
            <a:endParaRPr lang="fr-FR" dirty="0">
              <a:solidFill>
                <a:schemeClr val="bg1"/>
              </a:solidFill>
            </a:endParaRPr>
          </a:p>
          <a:p>
            <a:pPr lvl="0"/>
            <a:r>
              <a:rPr lang="fr-FR" dirty="0" err="1">
                <a:solidFill>
                  <a:schemeClr val="bg1"/>
                </a:solidFill>
                <a:hlinkClick r:id="rId2"/>
              </a:rPr>
              <a:t>Nfally</a:t>
            </a:r>
            <a:r>
              <a:rPr lang="fr-FR" dirty="0">
                <a:solidFill>
                  <a:schemeClr val="bg1"/>
                </a:solidFill>
                <a:hlinkClick r:id="rId2"/>
              </a:rPr>
              <a:t> </a:t>
            </a:r>
            <a:r>
              <a:rPr lang="fr-FR" dirty="0" err="1">
                <a:solidFill>
                  <a:schemeClr val="bg1"/>
                </a:solidFill>
                <a:hlinkClick r:id="rId2"/>
              </a:rPr>
              <a:t>Badji</a:t>
            </a:r>
            <a:r>
              <a:rPr lang="fr-FR" dirty="0">
                <a:solidFill>
                  <a:schemeClr val="bg1"/>
                </a:solidFill>
              </a:rPr>
              <a:t>, Apport de l’IRM dans la prise en charge des compressions médullaires lentes non traumatiques. </a:t>
            </a:r>
            <a:r>
              <a:rPr lang="fr-FR" dirty="0">
                <a:solidFill>
                  <a:schemeClr val="bg1"/>
                </a:solidFill>
                <a:hlinkClick r:id="rId3"/>
              </a:rPr>
              <a:t>Pan </a:t>
            </a:r>
            <a:r>
              <a:rPr lang="fr-FR" dirty="0" err="1">
                <a:solidFill>
                  <a:schemeClr val="bg1"/>
                </a:solidFill>
                <a:hlinkClick r:id="rId3"/>
              </a:rPr>
              <a:t>Afr</a:t>
            </a:r>
            <a:r>
              <a:rPr lang="fr-FR" dirty="0">
                <a:solidFill>
                  <a:schemeClr val="bg1"/>
                </a:solidFill>
                <a:hlinkClick r:id="rId3"/>
              </a:rPr>
              <a:t> Med J.</a:t>
            </a:r>
            <a:r>
              <a:rPr lang="fr-FR" dirty="0">
                <a:solidFill>
                  <a:schemeClr val="bg1"/>
                </a:solidFill>
              </a:rPr>
              <a:t> 2016; 24: 221.</a:t>
            </a:r>
          </a:p>
          <a:p>
            <a:pPr lvl="0"/>
            <a:r>
              <a:rPr lang="en-US" dirty="0" err="1">
                <a:solidFill>
                  <a:schemeClr val="bg1"/>
                </a:solidFill>
                <a:hlinkClick r:id="rId4"/>
              </a:rPr>
              <a:t>Touria</a:t>
            </a:r>
            <a:r>
              <a:rPr lang="en-US" dirty="0">
                <a:solidFill>
                  <a:schemeClr val="bg1"/>
                </a:solidFill>
                <a:hlinkClick r:id="rId4"/>
              </a:rPr>
              <a:t> </a:t>
            </a:r>
            <a:r>
              <a:rPr lang="en-US" dirty="0" err="1">
                <a:solidFill>
                  <a:schemeClr val="bg1"/>
                </a:solidFill>
                <a:hlinkClick r:id="rId4"/>
              </a:rPr>
              <a:t>Bouhafa</a:t>
            </a:r>
            <a:r>
              <a:rPr lang="en-US" dirty="0">
                <a:solidFill>
                  <a:schemeClr val="bg1"/>
                </a:solidFill>
              </a:rPr>
              <a:t>, Spinal cord compression due to metastases </a:t>
            </a:r>
            <a:r>
              <a:rPr lang="en-US" dirty="0">
                <a:solidFill>
                  <a:schemeClr val="bg1"/>
                </a:solidFill>
                <a:hlinkClick r:id="rId5"/>
              </a:rPr>
              <a:t>Pan </a:t>
            </a:r>
            <a:r>
              <a:rPr lang="en-US" dirty="0" err="1">
                <a:solidFill>
                  <a:schemeClr val="bg1"/>
                </a:solidFill>
                <a:hlinkClick r:id="rId5"/>
              </a:rPr>
              <a:t>Afr</a:t>
            </a:r>
            <a:r>
              <a:rPr lang="en-US" dirty="0">
                <a:solidFill>
                  <a:schemeClr val="bg1"/>
                </a:solidFill>
                <a:hlinkClick r:id="rId5"/>
              </a:rPr>
              <a:t> Med J.</a:t>
            </a:r>
            <a:r>
              <a:rPr lang="en-US" dirty="0">
                <a:solidFill>
                  <a:schemeClr val="bg1"/>
                </a:solidFill>
              </a:rPr>
              <a:t> 2014; 19: 209.</a:t>
            </a:r>
            <a:endParaRPr lang="fr-FR" dirty="0">
              <a:solidFill>
                <a:schemeClr val="bg1"/>
              </a:solidFill>
            </a:endParaRPr>
          </a:p>
          <a:p>
            <a:pPr lvl="0"/>
            <a:r>
              <a:rPr lang="fr-FR" dirty="0">
                <a:solidFill>
                  <a:schemeClr val="bg1"/>
                </a:solidFill>
                <a:hlinkClick r:id="rId6"/>
              </a:rPr>
              <a:t>ALLIEZ Jean Roch</a:t>
            </a:r>
            <a:r>
              <a:rPr lang="fr-FR" dirty="0">
                <a:solidFill>
                  <a:schemeClr val="bg1"/>
                </a:solidFill>
              </a:rPr>
              <a:t> MAL DE POTT ET PARAPLEGIE POTTIQUE Africain Journal of </a:t>
            </a:r>
            <a:r>
              <a:rPr lang="fr-FR" dirty="0" err="1">
                <a:solidFill>
                  <a:schemeClr val="bg1"/>
                </a:solidFill>
              </a:rPr>
              <a:t>Neurological</a:t>
            </a:r>
            <a:r>
              <a:rPr lang="fr-FR" dirty="0">
                <a:solidFill>
                  <a:schemeClr val="bg1"/>
                </a:solidFill>
              </a:rPr>
              <a:t> Science 2006 VOL 25 No2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168102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fr-FR" sz="5400" b="1" dirty="0" smtClean="0">
                <a:solidFill>
                  <a:srgbClr val="844C8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Référence </a:t>
            </a:r>
            <a:endParaRPr lang="fr-FR" sz="5400" b="1" dirty="0">
              <a:solidFill>
                <a:srgbClr val="844C8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8896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22826</TotalTime>
  <Words>1285</Words>
  <Application>Microsoft Office PowerPoint</Application>
  <PresentationFormat>Widescreen</PresentationFormat>
  <Paragraphs>430</Paragraphs>
  <Slides>48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Calibri</vt:lpstr>
      <vt:lpstr>Calibri Light</vt:lpstr>
      <vt:lpstr>Courier New</vt:lpstr>
      <vt:lpstr>Wingdings</vt:lpstr>
      <vt:lpstr>Office Theme</vt:lpstr>
      <vt:lpstr>Compression médullaire lente </vt:lpstr>
      <vt:lpstr>Objectifs du cours </vt:lpstr>
      <vt:lpstr>Plan </vt:lpstr>
      <vt:lpstr>Introduction </vt:lpstr>
      <vt:lpstr>Définition </vt:lpstr>
      <vt:lpstr>Rappel Anatomique </vt:lpstr>
      <vt:lpstr>Rappel Anatomique </vt:lpstr>
      <vt:lpstr>PowerPoint Presentation</vt:lpstr>
      <vt:lpstr>Physiopathologie</vt:lpstr>
      <vt:lpstr>Clinique </vt:lpstr>
      <vt:lpstr>Clinique </vt:lpstr>
      <vt:lpstr>Clinique </vt:lpstr>
      <vt:lpstr>Clinique </vt:lpstr>
      <vt:lpstr>PowerPoint Presentation</vt:lpstr>
      <vt:lpstr>PowerPoint Presentation</vt:lpstr>
      <vt:lpstr>PowerPoint Presentation</vt:lpstr>
      <vt:lpstr>Formes Cliniques </vt:lpstr>
      <vt:lpstr>Formes Cliniques </vt:lpstr>
      <vt:lpstr>Formes Cliniques </vt:lpstr>
      <vt:lpstr>Formes Cliniques </vt:lpstr>
      <vt:lpstr>Formes Cliniques </vt:lpstr>
      <vt:lpstr>Formes Cliniques </vt:lpstr>
      <vt:lpstr>Formes Cliniques </vt:lpstr>
      <vt:lpstr>Formes Cliniques </vt:lpstr>
      <vt:lpstr>Formes Cliniques </vt:lpstr>
      <vt:lpstr>Formes Cliniques </vt:lpstr>
      <vt:lpstr>Formes Cliniques </vt:lpstr>
      <vt:lpstr>Paraclinique </vt:lpstr>
      <vt:lpstr>Paraclinique </vt:lpstr>
      <vt:lpstr>Paraclinique </vt:lpstr>
      <vt:lpstr>Paraclinique </vt:lpstr>
      <vt:lpstr>Paraclinique </vt:lpstr>
      <vt:lpstr>Etiologies </vt:lpstr>
      <vt:lpstr>Etiologies </vt:lpstr>
      <vt:lpstr>Etiologies </vt:lpstr>
      <vt:lpstr>Etiologies </vt:lpstr>
      <vt:lpstr>Etiologies </vt:lpstr>
      <vt:lpstr>Etiologies </vt:lpstr>
      <vt:lpstr>Etiologies </vt:lpstr>
      <vt:lpstr>Diagnostic différentiel </vt:lpstr>
      <vt:lpstr>Diagnostic différentiel </vt:lpstr>
      <vt:lpstr>Traitement </vt:lpstr>
      <vt:lpstr>Traitement </vt:lpstr>
      <vt:lpstr>Traitement </vt:lpstr>
      <vt:lpstr>Traitement </vt:lpstr>
      <vt:lpstr>Traitement </vt:lpstr>
      <vt:lpstr>Conclusion </vt:lpstr>
      <vt:lpstr>Référence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Compte Microsoft</dc:creator>
  <cp:lastModifiedBy>Compte Microsoft</cp:lastModifiedBy>
  <cp:revision>87</cp:revision>
  <dcterms:created xsi:type="dcterms:W3CDTF">2023-08-11T20:17:10Z</dcterms:created>
  <dcterms:modified xsi:type="dcterms:W3CDTF">2024-10-03T17:08:54Z</dcterms:modified>
</cp:coreProperties>
</file>