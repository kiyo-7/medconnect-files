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4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Default Extension="jpeg" ContentType="image/jpeg"/>
  <Override PartName="/ppt/slideLayouts/slideLayout3.xml" ContentType="application/vnd.openxmlformats-officedocument.presentationml.slideLayout+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304" r:id="rId3"/>
    <p:sldId id="257" r:id="rId4"/>
    <p:sldId id="258" r:id="rId5"/>
    <p:sldId id="259" r:id="rId6"/>
    <p:sldId id="260" r:id="rId7"/>
    <p:sldId id="261" r:id="rId8"/>
    <p:sldId id="294" r:id="rId9"/>
    <p:sldId id="305" r:id="rId10"/>
    <p:sldId id="262" r:id="rId11"/>
    <p:sldId id="263" r:id="rId12"/>
    <p:sldId id="264" r:id="rId13"/>
    <p:sldId id="265" r:id="rId14"/>
    <p:sldId id="266" r:id="rId15"/>
    <p:sldId id="267" r:id="rId16"/>
    <p:sldId id="268" r:id="rId17"/>
    <p:sldId id="269" r:id="rId18"/>
    <p:sldId id="271" r:id="rId19"/>
    <p:sldId id="272" r:id="rId20"/>
    <p:sldId id="273" r:id="rId21"/>
    <p:sldId id="274" r:id="rId22"/>
    <p:sldId id="275" r:id="rId23"/>
    <p:sldId id="276" r:id="rId24"/>
    <p:sldId id="279" r:id="rId25"/>
    <p:sldId id="280" r:id="rId26"/>
    <p:sldId id="277" r:id="rId27"/>
    <p:sldId id="278"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5" r:id="rId42"/>
    <p:sldId id="296" r:id="rId43"/>
    <p:sldId id="297" r:id="rId44"/>
    <p:sldId id="298" r:id="rId45"/>
    <p:sldId id="299" r:id="rId46"/>
    <p:sldId id="300" r:id="rId47"/>
    <p:sldId id="301" r:id="rId48"/>
    <p:sldId id="302" r:id="rId49"/>
    <p:sldId id="303" r:id="rId50"/>
  </p:sldIdLst>
  <p:sldSz cx="9144000" cy="6858000" type="screen4x3"/>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83" d="100"/>
          <a:sy n="83" d="100"/>
        </p:scale>
        <p:origin x="-1426" y="-77"/>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e de titre">
    <p:bg>
      <p:bgRef idx="1001">
        <a:schemeClr val="bg2"/>
      </p:bgRef>
    </p:bg>
    <p:spTree>
      <p:nvGrpSpPr>
        <p:cNvPr id="1" name=""/>
        <p:cNvGrpSpPr/>
        <p:nvPr/>
      </p:nvGrpSpPr>
      <p:grpSpPr>
        <a:xfrm>
          <a:off x="0" y="0"/>
          <a:ext cx="0" cy="0"/>
          <a:chOff x="0" y="0"/>
          <a:chExt cx="0" cy="0"/>
        </a:xfrm>
      </p:grpSpPr>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3048"/>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25146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Sous-titre 8"/>
          <p:cNvSpPr>
            <a:spLocks noGrp="1"/>
          </p:cNvSpPr>
          <p:nvPr>
            <p:ph type="subTitle" idx="1"/>
          </p:nvPr>
        </p:nvSpPr>
        <p:spPr>
          <a:xfrm>
            <a:off x="1371600" y="2819400"/>
            <a:ext cx="6400800" cy="1752600"/>
          </a:xfrm>
        </p:spPr>
        <p:txBody>
          <a:bodyPr/>
          <a:lstStyle>
            <a:lvl1pPr marL="0" indent="0" algn="ctr">
              <a:buNone/>
              <a:defRPr sz="1600" b="1" cap="all" spc="250" baseline="0">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fr-FR" smtClean="0"/>
              <a:t>Cliquez pour modifier le style des sous-titres du masque</a:t>
            </a:r>
            <a:endParaRPr kumimoji="0" lang="en-US"/>
          </a:p>
        </p:txBody>
      </p:sp>
      <p:sp>
        <p:nvSpPr>
          <p:cNvPr id="28" name="Espace réservé de la date 27"/>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17" name="Espace réservé du pied de page 16"/>
          <p:cNvSpPr>
            <a:spLocks noGrp="1"/>
          </p:cNvSpPr>
          <p:nvPr>
            <p:ph type="ftr" sz="quarter" idx="11"/>
          </p:nvPr>
        </p:nvSpPr>
        <p:spPr/>
        <p:txBody>
          <a:bodyPr/>
          <a:lstStyle/>
          <a:p>
            <a:endParaRPr lang="fr-BE"/>
          </a:p>
        </p:txBody>
      </p:sp>
      <p:sp>
        <p:nvSpPr>
          <p:cNvPr id="7" name="Connecteur droit 6"/>
          <p:cNvSpPr>
            <a:spLocks noChangeShapeType="1"/>
          </p:cNvSpPr>
          <p:nvPr/>
        </p:nvSpPr>
        <p:spPr bwMode="auto">
          <a:xfrm>
            <a:off x="155448" y="2420112"/>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Ellipse 12"/>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4" name="Ellipse 13"/>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9" name="Espace réservé du numéro de diapositive 28"/>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CF4668DC-857F-487D-BFFA-8C0CA5037977}" type="slidenum">
              <a:rPr lang="fr-BE" smtClean="0"/>
              <a:pPr/>
              <a:t>‹N°›</a:t>
            </a:fld>
            <a:endParaRPr lang="fr-BE"/>
          </a:p>
        </p:txBody>
      </p:sp>
      <p:sp>
        <p:nvSpPr>
          <p:cNvPr id="8" name="Titre 7"/>
          <p:cNvSpPr>
            <a:spLocks noGrp="1"/>
          </p:cNvSpPr>
          <p:nvPr>
            <p:ph type="ctrTitle"/>
          </p:nvPr>
        </p:nvSpPr>
        <p:spPr>
          <a:xfrm>
            <a:off x="685800" y="381000"/>
            <a:ext cx="7772400" cy="1752600"/>
          </a:xfrm>
        </p:spPr>
        <p:txBody>
          <a:bodyPr anchor="b"/>
          <a:lstStyle>
            <a:lvl1pPr>
              <a:defRPr sz="4200">
                <a:solidFill>
                  <a:schemeClr val="accent1"/>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lvl1pPr>
              <a:defRPr>
                <a:solidFill>
                  <a:schemeClr val="accent3">
                    <a:shade val="75000"/>
                  </a:schemeClr>
                </a:solidFill>
              </a:defRPr>
            </a:lvl1pPr>
          </a:lstStyle>
          <a:p>
            <a:r>
              <a:rPr kumimoji="0" lang="fr-FR" smtClean="0"/>
              <a:t>Cliquez pour modifier le style du titre</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a:xfrm>
            <a:off x="4361688" y="1026372"/>
            <a:ext cx="457200" cy="441325"/>
          </a:xfrm>
        </p:spPr>
        <p:txBody>
          <a:bodyPr/>
          <a:lstStyle/>
          <a:p>
            <a:fld id="{CF4668DC-857F-487D-BFFA-8C0CA5037977}" type="slidenum">
              <a:rPr lang="fr-BE" smtClean="0"/>
              <a:pPr/>
              <a:t>‹N°›</a:t>
            </a:fld>
            <a:endParaRPr lang="fr-BE"/>
          </a:p>
        </p:txBody>
      </p:sp>
      <p:sp>
        <p:nvSpPr>
          <p:cNvPr id="8" name="Espace réservé du contenu 7"/>
          <p:cNvSpPr>
            <a:spLocks noGrp="1"/>
          </p:cNvSpPr>
          <p:nvPr>
            <p:ph sz="quarter" idx="1"/>
          </p:nvPr>
        </p:nvSpPr>
        <p:spPr>
          <a:xfrm>
            <a:off x="301752" y="1527048"/>
            <a:ext cx="8503920" cy="45720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Titre de section">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1905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152400" y="2286000"/>
            <a:ext cx="8833104" cy="304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5448" y="142352"/>
            <a:ext cx="8833104" cy="2139696"/>
          </a:xfrm>
          <a:prstGeom prst="rect">
            <a:avLst/>
          </a:prstGeom>
          <a:solidFill>
            <a:schemeClr val="accent1"/>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1368426" y="2743200"/>
            <a:ext cx="6480174" cy="1673225"/>
          </a:xfrm>
        </p:spPr>
        <p:txBody>
          <a:bodyPr anchor="t"/>
          <a:lstStyle>
            <a:lvl1pPr marL="0" indent="0" algn="ctr">
              <a:buNone/>
              <a:defRPr sz="1600" b="1" cap="all" spc="250" baseline="0">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fr-FR" smtClean="0"/>
              <a:t>Cliquez pour modifier les styles du texte du masque</a:t>
            </a:r>
          </a:p>
        </p:txBody>
      </p:sp>
      <p:sp>
        <p:nvSpPr>
          <p:cNvPr id="13" name="Rectangle 12"/>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Rectangle 13"/>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5" name="Espace réservé du pied de page 4"/>
          <p:cNvSpPr>
            <a:spLocks noGrp="1"/>
          </p:cNvSpPr>
          <p:nvPr>
            <p:ph type="ftr" sz="quarter" idx="11"/>
          </p:nvPr>
        </p:nvSpPr>
        <p:spPr/>
        <p:txBody>
          <a:bodyPr/>
          <a:lstStyle/>
          <a:p>
            <a:endParaRPr lang="fr-BE"/>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8" name="Connecteur droit 7"/>
          <p:cNvSpPr>
            <a:spLocks noChangeShapeType="1"/>
          </p:cNvSpPr>
          <p:nvPr/>
        </p:nvSpPr>
        <p:spPr bwMode="auto">
          <a:xfrm>
            <a:off x="152400" y="2438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llipse 9"/>
          <p:cNvSpPr/>
          <p:nvPr/>
        </p:nvSpPr>
        <p:spPr>
          <a:xfrm>
            <a:off x="4267200" y="2115312"/>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4361688" y="2209800"/>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4343400" y="2199450"/>
            <a:ext cx="457200" cy="441325"/>
          </a:xfrm>
        </p:spPr>
        <p:txBody>
          <a:bodyPr/>
          <a:lstStyle>
            <a:lvl1pPr>
              <a:defRPr>
                <a:solidFill>
                  <a:schemeClr val="accent3">
                    <a:shade val="75000"/>
                  </a:schemeClr>
                </a:solidFill>
              </a:defRPr>
            </a:lvl1pPr>
          </a:lstStyle>
          <a:p>
            <a:fld id="{CF4668DC-857F-487D-BFFA-8C0CA5037977}" type="slidenum">
              <a:rPr lang="fr-BE" smtClean="0"/>
              <a:pPr/>
              <a:t>‹N°›</a:t>
            </a:fld>
            <a:endParaRPr lang="fr-BE"/>
          </a:p>
        </p:txBody>
      </p:sp>
      <p:sp>
        <p:nvSpPr>
          <p:cNvPr id="2" name="Titre 1"/>
          <p:cNvSpPr>
            <a:spLocks noGrp="1"/>
          </p:cNvSpPr>
          <p:nvPr>
            <p:ph type="title"/>
          </p:nvPr>
        </p:nvSpPr>
        <p:spPr>
          <a:xfrm>
            <a:off x="722313" y="533400"/>
            <a:ext cx="7772400" cy="1524000"/>
          </a:xfrm>
        </p:spPr>
        <p:txBody>
          <a:bodyPr anchor="b"/>
          <a:lstStyle>
            <a:lvl1pPr algn="ctr">
              <a:buNone/>
              <a:defRPr sz="4200" b="0" cap="none" baseline="0">
                <a:solidFill>
                  <a:srgbClr val="FFFFFF"/>
                </a:solidFill>
              </a:defRPr>
            </a:lvl1pPr>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a:xfrm>
            <a:off x="301752" y="228600"/>
            <a:ext cx="8534400" cy="758952"/>
          </a:xfrm>
        </p:spPr>
        <p:txBody>
          <a:bodyPr/>
          <a:lstStyle/>
          <a:p>
            <a:r>
              <a:rPr kumimoji="0" lang="fr-FR" smtClean="0"/>
              <a:t>Cliquez pour modifier le style du titre</a:t>
            </a:r>
            <a:endParaRPr kumimoji="0" lang="en-US"/>
          </a:p>
        </p:txBody>
      </p:sp>
      <p:sp>
        <p:nvSpPr>
          <p:cNvPr id="5" name="Espace réservé de la date 4"/>
          <p:cNvSpPr>
            <a:spLocks noGrp="1"/>
          </p:cNvSpPr>
          <p:nvPr>
            <p:ph type="dt" sz="half" idx="10"/>
          </p:nvPr>
        </p:nvSpPr>
        <p:spPr>
          <a:xfrm>
            <a:off x="5791200" y="6409944"/>
            <a:ext cx="3044952" cy="365760"/>
          </a:xfrm>
        </p:spPr>
        <p:txBody>
          <a:bodyPr/>
          <a:lstStyle/>
          <a:p>
            <a:fld id="{AA309A6D-C09C-4548-B29A-6CF363A7E532}" type="datetimeFigureOut">
              <a:rPr lang="fr-FR" smtClean="0"/>
              <a:pPr/>
              <a:t>05/05/2026</a:t>
            </a:fld>
            <a:endParaRPr lang="fr-BE"/>
          </a:p>
        </p:txBody>
      </p:sp>
      <p:sp>
        <p:nvSpPr>
          <p:cNvPr id="6" name="Espace réservé du pied de page 5"/>
          <p:cNvSpPr>
            <a:spLocks noGrp="1"/>
          </p:cNvSpPr>
          <p:nvPr>
            <p:ph type="ftr" sz="quarter" idx="11"/>
          </p:nvPr>
        </p:nvSpPr>
        <p:spPr/>
        <p:txBody>
          <a:bodyPr/>
          <a:lstStyle/>
          <a:p>
            <a:endParaRPr lang="fr-BE"/>
          </a:p>
        </p:txBody>
      </p:sp>
      <p:sp>
        <p:nvSpPr>
          <p:cNvPr id="7" name="Espace réservé du numéro de diapositive 6"/>
          <p:cNvSpPr>
            <a:spLocks noGrp="1"/>
          </p:cNvSpPr>
          <p:nvPr>
            <p:ph type="sldNum" sz="quarter" idx="12"/>
          </p:nvPr>
        </p:nvSpPr>
        <p:spPr/>
        <p:txBody>
          <a:bodyPr/>
          <a:lstStyle/>
          <a:p>
            <a:fld id="{CF4668DC-857F-487D-BFFA-8C0CA5037977}" type="slidenum">
              <a:rPr lang="fr-BE" smtClean="0"/>
              <a:pPr/>
              <a:t>‹N°›</a:t>
            </a:fld>
            <a:endParaRPr lang="fr-BE"/>
          </a:p>
        </p:txBody>
      </p:sp>
      <p:sp>
        <p:nvSpPr>
          <p:cNvPr id="8" name="Connecteur droit 7"/>
          <p:cNvSpPr>
            <a:spLocks noChangeShapeType="1"/>
          </p:cNvSpPr>
          <p:nvPr/>
        </p:nvSpPr>
        <p:spPr bwMode="auto">
          <a:xfrm flipV="1">
            <a:off x="4563080" y="1575652"/>
            <a:ext cx="8921" cy="4819557"/>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0" name="Espace réservé du contenu 9"/>
          <p:cNvSpPr>
            <a:spLocks noGrp="1"/>
          </p:cNvSpPr>
          <p:nvPr>
            <p:ph sz="half" idx="1"/>
          </p:nvPr>
        </p:nvSpPr>
        <p:spPr>
          <a:xfrm>
            <a:off x="301752"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2" name="Espace réservé du contenu 11"/>
          <p:cNvSpPr>
            <a:spLocks noGrp="1"/>
          </p:cNvSpPr>
          <p:nvPr>
            <p:ph sz="half" idx="2"/>
          </p:nvPr>
        </p:nvSpPr>
        <p:spPr>
          <a:xfrm>
            <a:off x="4800600" y="1371600"/>
            <a:ext cx="4038600" cy="4681728"/>
          </a:xfrm>
        </p:spPr>
        <p:txBody>
          <a:bodyPr/>
          <a:lstStyle>
            <a:lvl1pPr>
              <a:defRPr sz="2500"/>
            </a:lvl1p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aison">
    <p:bg>
      <p:bgRef idx="1001">
        <a:schemeClr val="bg2"/>
      </p:bgRef>
    </p:bg>
    <p:spTree>
      <p:nvGrpSpPr>
        <p:cNvPr id="1" name=""/>
        <p:cNvGrpSpPr/>
        <p:nvPr/>
      </p:nvGrpSpPr>
      <p:grpSpPr>
        <a:xfrm>
          <a:off x="0" y="0"/>
          <a:ext cx="0" cy="0"/>
          <a:chOff x="0" y="0"/>
          <a:chExt cx="0" cy="0"/>
        </a:xfrm>
      </p:grpSpPr>
      <p:sp>
        <p:nvSpPr>
          <p:cNvPr id="10" name="Connecteur droit 9"/>
          <p:cNvSpPr>
            <a:spLocks noChangeShapeType="1"/>
          </p:cNvSpPr>
          <p:nvPr/>
        </p:nvSpPr>
        <p:spPr bwMode="auto">
          <a:xfrm flipV="1">
            <a:off x="4572000" y="2200275"/>
            <a:ext cx="0" cy="4187952"/>
          </a:xfrm>
          <a:prstGeom prst="line">
            <a:avLst/>
          </a:prstGeom>
          <a:noFill/>
          <a:ln w="9525" cap="flat" cmpd="sng" algn="ctr">
            <a:solidFill>
              <a:schemeClr val="tx2"/>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Rectangle 19"/>
          <p:cNvSpPr>
            <a:spLocks noChangeArrowheads="1"/>
          </p:cNvSpPr>
          <p:nvPr/>
        </p:nvSpPr>
        <p:spPr bwMode="white">
          <a:xfrm>
            <a:off x="0" y="0"/>
            <a:ext cx="9144000" cy="14478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1" name="Rectangle 20"/>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22" name="Rectangle 21"/>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p:nvPr/>
        </p:nvSpPr>
        <p:spPr>
          <a:xfrm>
            <a:off x="152400" y="1371600"/>
            <a:ext cx="8833104" cy="914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Rectangle 12"/>
          <p:cNvSpPr>
            <a:spLocks noChangeArrowheads="1"/>
          </p:cNvSpPr>
          <p:nvPr/>
        </p:nvSpPr>
        <p:spPr bwMode="auto">
          <a:xfrm>
            <a:off x="145923" y="6391656"/>
            <a:ext cx="8833104" cy="310896"/>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3" name="Espace réservé du texte 2"/>
          <p:cNvSpPr>
            <a:spLocks noGrp="1"/>
          </p:cNvSpPr>
          <p:nvPr>
            <p:ph type="body" idx="1"/>
          </p:nvPr>
        </p:nvSpPr>
        <p:spPr>
          <a:xfrm>
            <a:off x="301752" y="1524000"/>
            <a:ext cx="4040188" cy="732974"/>
          </a:xfrm>
          <a:noFill/>
          <a:ln w="15875" cap="rnd" cmpd="sng" algn="ctr">
            <a:noFill/>
            <a:prstDash val="solid"/>
          </a:ln>
        </p:spPr>
        <p:style>
          <a:lnRef idx="3">
            <a:schemeClr val="lt1"/>
          </a:lnRef>
          <a:fillRef idx="1">
            <a:schemeClr val="accent1"/>
          </a:fillRef>
          <a:effectRef idx="1">
            <a:schemeClr val="accent1"/>
          </a:effectRef>
          <a:fontRef idx="minor">
            <a:schemeClr val="lt1"/>
          </a:fontRef>
        </p:style>
        <p:txBody>
          <a:bodyPr anchor="ctr">
            <a:noAutofit/>
          </a:bodyPr>
          <a:lstStyle>
            <a:lvl1pPr marL="0" indent="0">
              <a:buNone/>
              <a:defRPr lang="en-US" sz="2200" b="1" dirty="0" smtClean="0">
                <a:solidFill>
                  <a:srgbClr val="FFFFFF"/>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4" name="Espace réservé du texte 3"/>
          <p:cNvSpPr>
            <a:spLocks noGrp="1"/>
          </p:cNvSpPr>
          <p:nvPr>
            <p:ph type="body" sz="half" idx="3"/>
          </p:nvPr>
        </p:nvSpPr>
        <p:spPr>
          <a:xfrm>
            <a:off x="4791330" y="1524000"/>
            <a:ext cx="4041775" cy="731520"/>
          </a:xfrm>
          <a:noFill/>
          <a:ln w="15875" cap="rnd" cmpd="sng" algn="ctr">
            <a:noFill/>
            <a:prstDash val="solid"/>
          </a:ln>
        </p:spPr>
        <p:style>
          <a:lnRef idx="3">
            <a:schemeClr val="lt1"/>
          </a:lnRef>
          <a:fillRef idx="1">
            <a:schemeClr val="accent2"/>
          </a:fillRef>
          <a:effectRef idx="1">
            <a:schemeClr val="accent2"/>
          </a:effectRef>
          <a:fontRef idx="minor">
            <a:schemeClr val="lt1"/>
          </a:fontRef>
        </p:style>
        <p:txBody>
          <a:bodyPr anchor="ctr">
            <a:noAutofit/>
          </a:bodyPr>
          <a:lstStyle>
            <a:lvl1pPr marL="0" indent="0">
              <a:buNone/>
              <a:defRPr sz="2200" b="1"/>
            </a:lvl1pPr>
            <a:lvl2pPr>
              <a:buNone/>
              <a:defRPr sz="2000" b="1"/>
            </a:lvl2pPr>
            <a:lvl3pPr>
              <a:buNone/>
              <a:defRPr sz="1800" b="1"/>
            </a:lvl3pPr>
            <a:lvl4pPr>
              <a:buNone/>
              <a:defRPr sz="1600" b="1"/>
            </a:lvl4pPr>
            <a:lvl5pPr>
              <a:buNone/>
              <a:defRPr sz="1600" b="1"/>
            </a:lvl5pPr>
          </a:lstStyle>
          <a:p>
            <a:pPr lvl="0" eaLnBrk="1" latinLnBrk="0" hangingPunct="1"/>
            <a:r>
              <a:rPr kumimoji="0" lang="fr-FR" smtClean="0"/>
              <a:t>Cliquez pour modifier les styles du texte du masque</a:t>
            </a:r>
          </a:p>
        </p:txBody>
      </p:sp>
      <p:sp>
        <p:nvSpPr>
          <p:cNvPr id="7" name="Espace réservé de la date 6"/>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8" name="Espace réservé du pied de page 7"/>
          <p:cNvSpPr>
            <a:spLocks noGrp="1"/>
          </p:cNvSpPr>
          <p:nvPr>
            <p:ph type="ftr" sz="quarter" idx="11"/>
          </p:nvPr>
        </p:nvSpPr>
        <p:spPr>
          <a:xfrm>
            <a:off x="304800" y="6409944"/>
            <a:ext cx="3581400" cy="365760"/>
          </a:xfrm>
        </p:spPr>
        <p:txBody>
          <a:bodyPr/>
          <a:lstStyle/>
          <a:p>
            <a:endParaRPr lang="fr-BE"/>
          </a:p>
        </p:txBody>
      </p:sp>
      <p:sp>
        <p:nvSpPr>
          <p:cNvPr id="15" name="Connecteur droit 14"/>
          <p:cNvSpPr>
            <a:spLocks noChangeShapeType="1"/>
          </p:cNvSpPr>
          <p:nvPr/>
        </p:nvSpPr>
        <p:spPr bwMode="auto">
          <a:xfrm>
            <a:off x="152400" y="128016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4" name="Espace réservé du contenu 23"/>
          <p:cNvSpPr>
            <a:spLocks noGrp="1"/>
          </p:cNvSpPr>
          <p:nvPr>
            <p:ph sz="quarter" idx="2"/>
          </p:nvPr>
        </p:nvSpPr>
        <p:spPr>
          <a:xfrm>
            <a:off x="301752" y="2471383"/>
            <a:ext cx="4041648" cy="3818404"/>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6" name="Espace réservé du contenu 25"/>
          <p:cNvSpPr>
            <a:spLocks noGrp="1"/>
          </p:cNvSpPr>
          <p:nvPr>
            <p:ph sz="quarter" idx="4"/>
          </p:nvPr>
        </p:nvSpPr>
        <p:spPr>
          <a:xfrm>
            <a:off x="4800600" y="2471383"/>
            <a:ext cx="4038600" cy="3822192"/>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25" name="Ellipse 24"/>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7" name="Ellipse 26"/>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Espace réservé du numéro de diapositive 8"/>
          <p:cNvSpPr>
            <a:spLocks noGrp="1"/>
          </p:cNvSpPr>
          <p:nvPr>
            <p:ph type="sldNum" sz="quarter" idx="12"/>
          </p:nvPr>
        </p:nvSpPr>
        <p:spPr>
          <a:xfrm>
            <a:off x="4343400" y="1042416"/>
            <a:ext cx="457200" cy="441325"/>
          </a:xfrm>
        </p:spPr>
        <p:txBody>
          <a:bodyPr/>
          <a:lstStyle>
            <a:lvl1pPr algn="ctr">
              <a:defRPr/>
            </a:lvl1pPr>
          </a:lstStyle>
          <a:p>
            <a:fld id="{CF4668DC-857F-487D-BFFA-8C0CA5037977}" type="slidenum">
              <a:rPr lang="fr-BE" smtClean="0"/>
              <a:pPr/>
              <a:t>‹N°›</a:t>
            </a:fld>
            <a:endParaRPr lang="fr-BE"/>
          </a:p>
        </p:txBody>
      </p:sp>
      <p:sp>
        <p:nvSpPr>
          <p:cNvPr id="23" name="Titre 22"/>
          <p:cNvSpPr>
            <a:spLocks noGrp="1"/>
          </p:cNvSpPr>
          <p:nvPr>
            <p:ph type="title"/>
          </p:nvPr>
        </p:nvSpPr>
        <p:spPr/>
        <p:txBody>
          <a:bodyPr rtlCol="0" anchor="b" anchorCtr="0"/>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e la date 2"/>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4" name="Espace réservé du pied de page 3"/>
          <p:cNvSpPr>
            <a:spLocks noGrp="1"/>
          </p:cNvSpPr>
          <p:nvPr>
            <p:ph type="ftr" sz="quarter" idx="11"/>
          </p:nvPr>
        </p:nvSpPr>
        <p:spPr/>
        <p:txBody>
          <a:bodyPr/>
          <a:lstStyle/>
          <a:p>
            <a:endParaRPr lang="fr-BE"/>
          </a:p>
        </p:txBody>
      </p:sp>
      <p:sp>
        <p:nvSpPr>
          <p:cNvPr id="5" name="Espace réservé du numéro de diapositive 4"/>
          <p:cNvSpPr>
            <a:spLocks noGrp="1"/>
          </p:cNvSpPr>
          <p:nvPr>
            <p:ph type="sldNum" sz="quarter" idx="12"/>
          </p:nvPr>
        </p:nvSpPr>
        <p:spPr>
          <a:xfrm>
            <a:off x="4343400" y="1036020"/>
            <a:ext cx="457200" cy="441325"/>
          </a:xfrm>
        </p:spPr>
        <p:txBody>
          <a:bodyPr/>
          <a:lstStyle/>
          <a:p>
            <a:fld id="{CF4668DC-857F-487D-BFFA-8C0CA5037977}" type="slidenum">
              <a:rPr lang="fr-BE" smtClean="0"/>
              <a:pPr/>
              <a:t>‹N°›</a:t>
            </a:fld>
            <a:endParaRPr lang="fr-B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Vide">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Rectangle 4"/>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6" name="Rectangle 5"/>
          <p:cNvSpPr>
            <a:spLocks noChangeArrowheads="1"/>
          </p:cNvSpPr>
          <p:nvPr/>
        </p:nvSpPr>
        <p:spPr bwMode="auto">
          <a:xfrm>
            <a:off x="152400" y="158496"/>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 name="Espace réservé de la date 1"/>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3" name="Espace réservé du pied de page 2"/>
          <p:cNvSpPr>
            <a:spLocks noGrp="1"/>
          </p:cNvSpPr>
          <p:nvPr>
            <p:ph type="ftr" sz="quarter" idx="11"/>
          </p:nvPr>
        </p:nvSpPr>
        <p:spPr/>
        <p:txBody>
          <a:bodyPr/>
          <a:lstStyle/>
          <a:p>
            <a:endParaRPr lang="fr-BE"/>
          </a:p>
        </p:txBody>
      </p:sp>
      <p:sp>
        <p:nvSpPr>
          <p:cNvPr id="4" name="Espace réservé du numéro de diapositive 3"/>
          <p:cNvSpPr>
            <a:spLocks noGrp="1"/>
          </p:cNvSpPr>
          <p:nvPr>
            <p:ph type="sldNum" sz="quarter" idx="12"/>
          </p:nvPr>
        </p:nvSpPr>
        <p:spPr>
          <a:xfrm>
            <a:off x="4267200" y="6324600"/>
            <a:ext cx="609600" cy="441324"/>
          </a:xfrm>
        </p:spPr>
        <p:txBody>
          <a:bodyPr/>
          <a:lstStyle>
            <a:lvl1pPr>
              <a:defRPr>
                <a:solidFill>
                  <a:srgbClr val="FFFFFF"/>
                </a:solidFill>
              </a:defRPr>
            </a:lvl1pPr>
          </a:lstStyle>
          <a:p>
            <a:fld id="{CF4668DC-857F-487D-BFFA-8C0CA5037977}" type="slidenum">
              <a:rPr lang="fr-BE" smtClean="0"/>
              <a:pPr/>
              <a:t>‹N°›</a:t>
            </a:fld>
            <a:endParaRPr lang="fr-B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u avec légende">
    <p:bg>
      <p:bgRef idx="1001">
        <a:schemeClr val="bg1"/>
      </p:bgRef>
    </p:bg>
    <p:spTree>
      <p:nvGrpSpPr>
        <p:cNvPr id="1" name=""/>
        <p:cNvGrpSpPr/>
        <p:nvPr/>
      </p:nvGrpSpPr>
      <p:grpSpPr>
        <a:xfrm>
          <a:off x="0" y="0"/>
          <a:ext cx="0" cy="0"/>
          <a:chOff x="0" y="0"/>
          <a:chExt cx="0" cy="0"/>
        </a:xfrm>
      </p:grpSpPr>
      <p:sp>
        <p:nvSpPr>
          <p:cNvPr id="19" name="Rectangle 18"/>
          <p:cNvSpPr>
            <a:spLocks noChangeArrowheads="1"/>
          </p:cNvSpPr>
          <p:nvPr/>
        </p:nvSpPr>
        <p:spPr bwMode="auto">
          <a:xfrm>
            <a:off x="152400" y="152400"/>
            <a:ext cx="8833104" cy="304800"/>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5" name="Rectangle 14"/>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18872"/>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3" name="Rectangle 12"/>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 name="Titre 1"/>
          <p:cNvSpPr>
            <a:spLocks noGrp="1"/>
          </p:cNvSpPr>
          <p:nvPr>
            <p:ph type="title"/>
          </p:nvPr>
        </p:nvSpPr>
        <p:spPr>
          <a:xfrm>
            <a:off x="381000" y="914400"/>
            <a:ext cx="2362200" cy="990600"/>
          </a:xfrm>
        </p:spPr>
        <p:txBody>
          <a:bodyPr anchor="b">
            <a:noAutofit/>
          </a:bodyPr>
          <a:lstStyle>
            <a:lvl1pPr algn="l">
              <a:buNone/>
              <a:defRPr sz="2200" b="1">
                <a:solidFill>
                  <a:srgbClr val="FFFFFF"/>
                </a:solidFill>
              </a:defRPr>
            </a:lvl1pPr>
          </a:lstStyle>
          <a:p>
            <a:r>
              <a:rPr kumimoji="0" lang="fr-FR" smtClean="0"/>
              <a:t>Cliquez pour modifier le style du titre</a:t>
            </a:r>
            <a:endParaRPr kumimoji="0" lang="en-US"/>
          </a:p>
        </p:txBody>
      </p:sp>
      <p:sp>
        <p:nvSpPr>
          <p:cNvPr id="3" name="Espace réservé du texte 2"/>
          <p:cNvSpPr>
            <a:spLocks noGrp="1"/>
          </p:cNvSpPr>
          <p:nvPr>
            <p:ph type="body" idx="2"/>
          </p:nvPr>
        </p:nvSpPr>
        <p:spPr>
          <a:xfrm>
            <a:off x="381000" y="1981200"/>
            <a:ext cx="2362200" cy="4144963"/>
          </a:xfrm>
        </p:spPr>
        <p:txBody>
          <a:bodyPr/>
          <a:lstStyle>
            <a:lvl1pPr marL="0" indent="0">
              <a:spcAft>
                <a:spcPts val="1000"/>
              </a:spcAft>
              <a:buNone/>
              <a:defRPr sz="1600">
                <a:solidFill>
                  <a:srgbClr val="FFFFFF"/>
                </a:solidFill>
              </a:defRPr>
            </a:lvl1pPr>
            <a:lvl2pPr>
              <a:buNone/>
              <a:defRPr sz="1200"/>
            </a:lvl2pPr>
            <a:lvl3pPr>
              <a:buNone/>
              <a:defRPr sz="1000"/>
            </a:lvl3pPr>
            <a:lvl4pPr>
              <a:buNone/>
              <a:defRPr sz="900"/>
            </a:lvl4pPr>
            <a:lvl5pPr>
              <a:buNone/>
              <a:defRPr sz="900"/>
            </a:lvl5pPr>
          </a:lstStyle>
          <a:p>
            <a:pPr lvl="0" eaLnBrk="1" latinLnBrk="0" hangingPunct="1"/>
            <a:r>
              <a:rPr kumimoji="0" lang="fr-FR" smtClean="0"/>
              <a:t>Cliquez pour modifier les styles du texte du masque</a:t>
            </a:r>
          </a:p>
        </p:txBody>
      </p:sp>
      <p:sp>
        <p:nvSpPr>
          <p:cNvPr id="8" name="Rectangle 7"/>
          <p:cNvSpPr>
            <a:spLocks noChangeArrowheads="1"/>
          </p:cNvSpPr>
          <p:nvPr/>
        </p:nvSpPr>
        <p:spPr bwMode="auto">
          <a:xfrm>
            <a:off x="152400" y="152400"/>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9" name="Connecteur droit 8"/>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20" name="Espace réservé du contenu 19"/>
          <p:cNvSpPr>
            <a:spLocks noGrp="1"/>
          </p:cNvSpPr>
          <p:nvPr>
            <p:ph sz="quarter" idx="1"/>
          </p:nvPr>
        </p:nvSpPr>
        <p:spPr>
          <a:xfrm>
            <a:off x="3124200" y="685800"/>
            <a:ext cx="5638800" cy="5410200"/>
          </a:xfrm>
        </p:spPr>
        <p:txBody>
          <a:bodyPr/>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10" name="Ellipse 9"/>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1" name="Ellipse 10"/>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lvl1pPr>
              <a:defRPr>
                <a:solidFill>
                  <a:schemeClr val="accent3">
                    <a:shade val="75000"/>
                  </a:schemeClr>
                </a:solidFill>
              </a:defRPr>
            </a:lvl1pPr>
          </a:lstStyle>
          <a:p>
            <a:fld id="{CF4668DC-857F-487D-BFFA-8C0CA5037977}" type="slidenum">
              <a:rPr lang="fr-BE" smtClean="0"/>
              <a:pPr/>
              <a:t>‹N°›</a:t>
            </a:fld>
            <a:endParaRPr lang="fr-BE"/>
          </a:p>
        </p:txBody>
      </p:sp>
      <p:sp>
        <p:nvSpPr>
          <p:cNvPr id="21" name="Rectangle 20"/>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6" name="Espace réservé du pied de page 5"/>
          <p:cNvSpPr>
            <a:spLocks noGrp="1"/>
          </p:cNvSpPr>
          <p:nvPr>
            <p:ph type="ftr" sz="quarter" idx="11"/>
          </p:nvPr>
        </p:nvSpPr>
        <p:spPr>
          <a:xfrm>
            <a:off x="301752" y="6410848"/>
            <a:ext cx="3383280" cy="365760"/>
          </a:xfrm>
        </p:spPr>
        <p:txBody>
          <a:bodyPr/>
          <a:lstStyle/>
          <a:p>
            <a:endParaRPr lang="fr-BE"/>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 avec légende">
    <p:spTree>
      <p:nvGrpSpPr>
        <p:cNvPr id="1" name=""/>
        <p:cNvGrpSpPr/>
        <p:nvPr/>
      </p:nvGrpSpPr>
      <p:grpSpPr>
        <a:xfrm>
          <a:off x="0" y="0"/>
          <a:ext cx="0" cy="0"/>
          <a:chOff x="0" y="0"/>
          <a:chExt cx="0" cy="0"/>
        </a:xfrm>
      </p:grpSpPr>
      <p:sp>
        <p:nvSpPr>
          <p:cNvPr id="21" name="Connecteur droit 20"/>
          <p:cNvSpPr>
            <a:spLocks noChangeShapeType="1"/>
          </p:cNvSpPr>
          <p:nvPr/>
        </p:nvSpPr>
        <p:spPr bwMode="auto">
          <a:xfrm>
            <a:off x="152400" y="533400"/>
            <a:ext cx="8833104" cy="0"/>
          </a:xfrm>
          <a:prstGeom prst="line">
            <a:avLst/>
          </a:prstGeom>
          <a:noFill/>
          <a:ln w="11430"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7" name="Rectangle 16"/>
          <p:cNvSpPr>
            <a:spLocks noChangeArrowheads="1"/>
          </p:cNvSpPr>
          <p:nvPr/>
        </p:nvSpPr>
        <p:spPr bwMode="white">
          <a:xfrm>
            <a:off x="0" y="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20" name="Rectangle 19"/>
          <p:cNvSpPr>
            <a:spLocks noChangeArrowheads="1"/>
          </p:cNvSpPr>
          <p:nvPr/>
        </p:nvSpPr>
        <p:spPr bwMode="auto">
          <a:xfrm>
            <a:off x="152400" y="152400"/>
            <a:ext cx="8833104" cy="301752"/>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p:nvPr/>
        </p:nvSpPr>
        <p:spPr>
          <a:xfrm>
            <a:off x="152400" y="609600"/>
            <a:ext cx="2743200" cy="5867400"/>
          </a:xfrm>
          <a:prstGeom prst="rect">
            <a:avLst/>
          </a:prstGeom>
          <a:solidFill>
            <a:schemeClr val="accent1"/>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Rectangle 14"/>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2" name="Ellipse 11"/>
          <p:cNvSpPr/>
          <p:nvPr/>
        </p:nvSpPr>
        <p:spPr>
          <a:xfrm>
            <a:off x="1295400" y="228600"/>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3" name="Ellipse 12"/>
          <p:cNvSpPr/>
          <p:nvPr/>
        </p:nvSpPr>
        <p:spPr>
          <a:xfrm>
            <a:off x="1389888" y="323088"/>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7" name="Espace réservé du numéro de diapositive 6"/>
          <p:cNvSpPr>
            <a:spLocks noGrp="1"/>
          </p:cNvSpPr>
          <p:nvPr>
            <p:ph type="sldNum" sz="quarter" idx="12"/>
          </p:nvPr>
        </p:nvSpPr>
        <p:spPr>
          <a:xfrm>
            <a:off x="1371600" y="312738"/>
            <a:ext cx="457200" cy="441325"/>
          </a:xfrm>
        </p:spPr>
        <p:txBody>
          <a:bodyPr/>
          <a:lstStyle/>
          <a:p>
            <a:fld id="{CF4668DC-857F-487D-BFFA-8C0CA5037977}" type="slidenum">
              <a:rPr lang="fr-BE" smtClean="0"/>
              <a:pPr/>
              <a:t>‹N°›</a:t>
            </a:fld>
            <a:endParaRPr lang="fr-BE"/>
          </a:p>
        </p:txBody>
      </p:sp>
      <p:sp>
        <p:nvSpPr>
          <p:cNvPr id="2" name="Titre 1"/>
          <p:cNvSpPr>
            <a:spLocks noGrp="1"/>
          </p:cNvSpPr>
          <p:nvPr>
            <p:ph type="title"/>
          </p:nvPr>
        </p:nvSpPr>
        <p:spPr>
          <a:xfrm>
            <a:off x="3000375" y="5029200"/>
            <a:ext cx="5867400" cy="1219200"/>
          </a:xfrm>
        </p:spPr>
        <p:txBody>
          <a:bodyPr anchor="t">
            <a:noAutofit/>
          </a:bodyPr>
          <a:lstStyle>
            <a:lvl1pPr algn="l">
              <a:buNone/>
              <a:defRPr sz="2400" b="1">
                <a:solidFill>
                  <a:schemeClr val="tx2"/>
                </a:solidFill>
              </a:defRPr>
            </a:lvl1pPr>
          </a:lstStyle>
          <a:p>
            <a:r>
              <a:rPr kumimoji="0" lang="fr-FR" smtClean="0"/>
              <a:t>Cliquez pour modifier le style du titre</a:t>
            </a:r>
            <a:endParaRPr kumimoji="0" lang="en-US"/>
          </a:p>
        </p:txBody>
      </p:sp>
      <p:sp>
        <p:nvSpPr>
          <p:cNvPr id="3" name="Espace réservé pour une image  2"/>
          <p:cNvSpPr>
            <a:spLocks noGrp="1"/>
          </p:cNvSpPr>
          <p:nvPr>
            <p:ph type="pic" idx="1"/>
          </p:nvPr>
        </p:nvSpPr>
        <p:spPr>
          <a:xfrm>
            <a:off x="3000375" y="609600"/>
            <a:ext cx="5867400" cy="4267200"/>
          </a:xfrm>
        </p:spPr>
        <p:txBody>
          <a:bodyPr/>
          <a:lstStyle>
            <a:lvl1pPr marL="0" indent="0">
              <a:buNone/>
              <a:defRPr sz="3200"/>
            </a:lvl1pPr>
          </a:lstStyle>
          <a:p>
            <a:r>
              <a:rPr kumimoji="0" lang="fr-FR" smtClean="0"/>
              <a:t>Cliquez sur l'icône pour ajouter une image</a:t>
            </a:r>
            <a:endParaRPr kumimoji="0" lang="en-US" dirty="0"/>
          </a:p>
        </p:txBody>
      </p:sp>
      <p:sp>
        <p:nvSpPr>
          <p:cNvPr id="4" name="Espace réservé du texte 3"/>
          <p:cNvSpPr>
            <a:spLocks noGrp="1"/>
          </p:cNvSpPr>
          <p:nvPr>
            <p:ph type="body" sz="half" idx="2"/>
          </p:nvPr>
        </p:nvSpPr>
        <p:spPr>
          <a:xfrm>
            <a:off x="381000" y="990600"/>
            <a:ext cx="2438400" cy="5257800"/>
          </a:xfrm>
        </p:spPr>
        <p:txBody>
          <a:bodyPr/>
          <a:lstStyle>
            <a:lvl1pPr marL="0" indent="0">
              <a:spcAft>
                <a:spcPts val="1000"/>
              </a:spcAft>
              <a:buFontTx/>
              <a:buNone/>
              <a:defRPr sz="1600">
                <a:solidFill>
                  <a:srgbClr val="FFFFFF"/>
                </a:solidFill>
              </a:defRPr>
            </a:lvl1pPr>
            <a:lvl2pPr>
              <a:defRPr sz="1200"/>
            </a:lvl2pPr>
            <a:lvl3pPr>
              <a:defRPr sz="1000"/>
            </a:lvl3pPr>
            <a:lvl4pPr>
              <a:defRPr sz="900"/>
            </a:lvl4pPr>
            <a:lvl5pPr>
              <a:defRPr sz="900"/>
            </a:lvl5pPr>
          </a:lstStyle>
          <a:p>
            <a:pPr lvl="0" eaLnBrk="1" latinLnBrk="0" hangingPunct="1"/>
            <a:r>
              <a:rPr kumimoji="0" lang="fr-FR" smtClean="0"/>
              <a:t>Cliquez pour modifier les styles du texte du masque</a:t>
            </a:r>
          </a:p>
        </p:txBody>
      </p:sp>
      <p:sp>
        <p:nvSpPr>
          <p:cNvPr id="22" name="Rectangle 21"/>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5" name="Espace réservé de la date 4"/>
          <p:cNvSpPr>
            <a:spLocks noGrp="1"/>
          </p:cNvSpPr>
          <p:nvPr>
            <p:ph type="dt" sz="half" idx="10"/>
          </p:nvPr>
        </p:nvSpPr>
        <p:spPr>
          <a:xfrm>
            <a:off x="5788152" y="6404984"/>
            <a:ext cx="3044952" cy="365760"/>
          </a:xfrm>
        </p:spPr>
        <p:txBody>
          <a:bodyPr/>
          <a:lstStyle/>
          <a:p>
            <a:fld id="{AA309A6D-C09C-4548-B29A-6CF363A7E532}" type="datetimeFigureOut">
              <a:rPr lang="fr-FR" smtClean="0"/>
              <a:pPr/>
              <a:t>05/05/2026</a:t>
            </a:fld>
            <a:endParaRPr lang="fr-BE"/>
          </a:p>
        </p:txBody>
      </p:sp>
      <p:sp>
        <p:nvSpPr>
          <p:cNvPr id="6" name="Espace réservé du pied de page 5"/>
          <p:cNvSpPr>
            <a:spLocks noGrp="1"/>
          </p:cNvSpPr>
          <p:nvPr>
            <p:ph type="ftr" sz="quarter" idx="11"/>
          </p:nvPr>
        </p:nvSpPr>
        <p:spPr>
          <a:xfrm>
            <a:off x="301752" y="6410848"/>
            <a:ext cx="3584448" cy="365760"/>
          </a:xfrm>
        </p:spPr>
        <p:txBody>
          <a:bodyPr/>
          <a:lstStyle/>
          <a:p>
            <a:endParaRPr lang="fr-B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bg>
      <p:bgRef idx="1001">
        <a:schemeClr val="bg2"/>
      </p:bgRef>
    </p:bg>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kumimoji="0" lang="fr-FR" smtClean="0"/>
              <a:t>Cliquez pour modifier le style du titre</a:t>
            </a:r>
            <a:endParaRPr kumimoji="0" lang="en-US"/>
          </a:p>
        </p:txBody>
      </p:sp>
      <p:sp>
        <p:nvSpPr>
          <p:cNvPr id="3" name="Espace réservé du texte vertical 2"/>
          <p:cNvSpPr>
            <a:spLocks noGrp="1"/>
          </p:cNvSpPr>
          <p:nvPr>
            <p:ph type="body" orient="vert" idx="1"/>
          </p:nvPr>
        </p:nvSpPr>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6" name="Espace réservé du numéro de diapositive 5"/>
          <p:cNvSpPr>
            <a:spLocks noGrp="1"/>
          </p:cNvSpPr>
          <p:nvPr>
            <p:ph type="sldNum" sz="quarter" idx="12"/>
          </p:nvPr>
        </p:nvSpPr>
        <p:spPr/>
        <p:txBody>
          <a:bodyPr/>
          <a:lstStyle/>
          <a:p>
            <a:fld id="{CF4668DC-857F-487D-BFFA-8C0CA5037977}" type="slidenum">
              <a:rPr lang="fr-BE" smtClean="0"/>
              <a:pPr/>
              <a:t>‹N°›</a:t>
            </a:fld>
            <a:endParaRPr lang="fr-BE"/>
          </a:p>
        </p:txBody>
      </p:sp>
    </p:spTree>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Titre vertical et texte">
    <p:bg>
      <p:bgRef idx="1001">
        <a:schemeClr val="bg2"/>
      </p:bgRef>
    </p:bg>
    <p:spTree>
      <p:nvGrpSpPr>
        <p:cNvPr id="1" name=""/>
        <p:cNvGrpSpPr/>
        <p:nvPr/>
      </p:nvGrpSpPr>
      <p:grpSpPr>
        <a:xfrm>
          <a:off x="0" y="0"/>
          <a:ext cx="0" cy="0"/>
          <a:chOff x="0" y="0"/>
          <a:chExt cx="0" cy="0"/>
        </a:xfrm>
      </p:grpSpPr>
      <p:sp>
        <p:nvSpPr>
          <p:cNvPr id="7" name="Rectangle 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8" name="Rectangle 7"/>
          <p:cNvSpPr>
            <a:spLocks noChangeArrowheads="1"/>
          </p:cNvSpPr>
          <p:nvPr/>
        </p:nvSpPr>
        <p:spPr bwMode="white">
          <a:xfrm>
            <a:off x="7010400" y="0"/>
            <a:ext cx="21336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white">
          <a:xfrm>
            <a:off x="0" y="0"/>
            <a:ext cx="9144000" cy="155448"/>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0" name="Rectangle 9"/>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1" name="Rectangle 10"/>
          <p:cNvSpPr>
            <a:spLocks noChangeArrowheads="1"/>
          </p:cNvSpPr>
          <p:nvPr/>
        </p:nvSpPr>
        <p:spPr bwMode="auto">
          <a:xfrm>
            <a:off x="146304" y="6391656"/>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2" name="Rectangle 11"/>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3" name="Connecteur droit 12"/>
          <p:cNvSpPr>
            <a:spLocks noChangeShapeType="1"/>
          </p:cNvSpPr>
          <p:nvPr/>
        </p:nvSpPr>
        <p:spPr bwMode="auto">
          <a:xfrm rot="5400000">
            <a:off x="4021836" y="3278124"/>
            <a:ext cx="6245352"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4" name="Ellipse 13"/>
          <p:cNvSpPr/>
          <p:nvPr/>
        </p:nvSpPr>
        <p:spPr>
          <a:xfrm>
            <a:off x="6839712" y="2925763"/>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6934200" y="3020251"/>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6" name="Espace réservé du numéro de diapositive 5"/>
          <p:cNvSpPr>
            <a:spLocks noGrp="1"/>
          </p:cNvSpPr>
          <p:nvPr>
            <p:ph type="sldNum" sz="quarter" idx="12"/>
          </p:nvPr>
        </p:nvSpPr>
        <p:spPr>
          <a:xfrm>
            <a:off x="6915912" y="3009901"/>
            <a:ext cx="457200" cy="441325"/>
          </a:xfrm>
        </p:spPr>
        <p:txBody>
          <a:bodyPr/>
          <a:lstStyle/>
          <a:p>
            <a:fld id="{CF4668DC-857F-487D-BFFA-8C0CA5037977}" type="slidenum">
              <a:rPr lang="fr-BE" smtClean="0"/>
              <a:pPr/>
              <a:t>‹N°›</a:t>
            </a:fld>
            <a:endParaRPr lang="fr-BE"/>
          </a:p>
        </p:txBody>
      </p:sp>
      <p:sp>
        <p:nvSpPr>
          <p:cNvPr id="3" name="Espace réservé du texte vertical 2"/>
          <p:cNvSpPr>
            <a:spLocks noGrp="1"/>
          </p:cNvSpPr>
          <p:nvPr>
            <p:ph type="body" orient="vert" idx="1"/>
          </p:nvPr>
        </p:nvSpPr>
        <p:spPr>
          <a:xfrm>
            <a:off x="304800" y="304800"/>
            <a:ext cx="6553200" cy="5821366"/>
          </a:xfrm>
        </p:spPr>
        <p:txBody>
          <a:bodyPr vert="eaVert"/>
          <a:lstStyle/>
          <a:p>
            <a:pPr lvl="0" eaLnBrk="1" latinLnBrk="0" hangingPunct="1"/>
            <a:r>
              <a:rPr lang="fr-FR" smtClean="0"/>
              <a:t>Cliquez pour modifier les styles du texte du masque</a:t>
            </a:r>
          </a:p>
          <a:p>
            <a:pPr lvl="1" eaLnBrk="1" latinLnBrk="0" hangingPunct="1"/>
            <a:r>
              <a:rPr lang="fr-FR" smtClean="0"/>
              <a:t>Deuxième niveau</a:t>
            </a:r>
          </a:p>
          <a:p>
            <a:pPr lvl="2" eaLnBrk="1" latinLnBrk="0" hangingPunct="1"/>
            <a:r>
              <a:rPr lang="fr-FR" smtClean="0"/>
              <a:t>Troisième niveau</a:t>
            </a:r>
          </a:p>
          <a:p>
            <a:pPr lvl="3" eaLnBrk="1" latinLnBrk="0" hangingPunct="1"/>
            <a:r>
              <a:rPr lang="fr-FR" smtClean="0"/>
              <a:t>Quatrième niveau</a:t>
            </a:r>
          </a:p>
          <a:p>
            <a:pPr lvl="4" eaLnBrk="1" latinLnBrk="0" hangingPunct="1"/>
            <a:r>
              <a:rPr lang="fr-FR" smtClean="0"/>
              <a:t>Cinquième niveau</a:t>
            </a:r>
            <a:endParaRPr kumimoji="0" lang="en-US"/>
          </a:p>
        </p:txBody>
      </p:sp>
      <p:sp>
        <p:nvSpPr>
          <p:cNvPr id="4" name="Espace réservé de la date 3"/>
          <p:cNvSpPr>
            <a:spLocks noGrp="1"/>
          </p:cNvSpPr>
          <p:nvPr>
            <p:ph type="dt" sz="half" idx="10"/>
          </p:nvPr>
        </p:nvSpPr>
        <p:spPr/>
        <p:txBody>
          <a:bodyPr/>
          <a:lstStyle/>
          <a:p>
            <a:fld id="{AA309A6D-C09C-4548-B29A-6CF363A7E532}" type="datetimeFigureOut">
              <a:rPr lang="fr-FR" smtClean="0"/>
              <a:pPr/>
              <a:t>05/05/2026</a:t>
            </a:fld>
            <a:endParaRPr lang="fr-BE"/>
          </a:p>
        </p:txBody>
      </p:sp>
      <p:sp>
        <p:nvSpPr>
          <p:cNvPr id="5" name="Espace réservé du pied de page 4"/>
          <p:cNvSpPr>
            <a:spLocks noGrp="1"/>
          </p:cNvSpPr>
          <p:nvPr>
            <p:ph type="ftr" sz="quarter" idx="11"/>
          </p:nvPr>
        </p:nvSpPr>
        <p:spPr/>
        <p:txBody>
          <a:bodyPr/>
          <a:lstStyle/>
          <a:p>
            <a:endParaRPr lang="fr-BE"/>
          </a:p>
        </p:txBody>
      </p:sp>
      <p:sp>
        <p:nvSpPr>
          <p:cNvPr id="2" name="Titre vertical 1"/>
          <p:cNvSpPr>
            <a:spLocks noGrp="1"/>
          </p:cNvSpPr>
          <p:nvPr>
            <p:ph type="title" orient="vert"/>
          </p:nvPr>
        </p:nvSpPr>
        <p:spPr>
          <a:xfrm>
            <a:off x="7391400" y="304801"/>
            <a:ext cx="1447800" cy="5851525"/>
          </a:xfrm>
        </p:spPr>
        <p:txBody>
          <a:bodyPr vert="eaVert"/>
          <a:lstStyle/>
          <a:p>
            <a:r>
              <a:rPr kumimoji="0" lang="fr-FR" smtClean="0"/>
              <a:t>Cliquez pour modifier le style du titre</a:t>
            </a:r>
            <a:endParaRPr kumimoji="0" lang="en-US"/>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 name="Rectangle 16"/>
          <p:cNvSpPr>
            <a:spLocks noChangeArrowheads="1"/>
          </p:cNvSpPr>
          <p:nvPr/>
        </p:nvSpPr>
        <p:spPr bwMode="white">
          <a:xfrm>
            <a:off x="0" y="6705600"/>
            <a:ext cx="9144000" cy="1524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6" name="Rectangle 15"/>
          <p:cNvSpPr>
            <a:spLocks noChangeArrowheads="1"/>
          </p:cNvSpPr>
          <p:nvPr/>
        </p:nvSpPr>
        <p:spPr bwMode="white">
          <a:xfrm>
            <a:off x="0" y="0"/>
            <a:ext cx="9144000" cy="1393371"/>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8" name="Rectangle 17"/>
          <p:cNvSpPr>
            <a:spLocks noChangeArrowheads="1"/>
          </p:cNvSpPr>
          <p:nvPr/>
        </p:nvSpPr>
        <p:spPr bwMode="white">
          <a:xfrm>
            <a:off x="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9" name="Rectangle 18"/>
          <p:cNvSpPr>
            <a:spLocks noChangeArrowheads="1"/>
          </p:cNvSpPr>
          <p:nvPr/>
        </p:nvSpPr>
        <p:spPr bwMode="white">
          <a:xfrm>
            <a:off x="8991600" y="0"/>
            <a:ext cx="152400" cy="6858000"/>
          </a:xfrm>
          <a:prstGeom prst="rect">
            <a:avLst/>
          </a:prstGeom>
          <a:solidFill>
            <a:srgbClr val="FFFFFF"/>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9" name="Rectangle 8"/>
          <p:cNvSpPr>
            <a:spLocks noChangeArrowheads="1"/>
          </p:cNvSpPr>
          <p:nvPr/>
        </p:nvSpPr>
        <p:spPr bwMode="auto">
          <a:xfrm>
            <a:off x="149352" y="6388385"/>
            <a:ext cx="8833104" cy="309563"/>
          </a:xfrm>
          <a:prstGeom prst="rect">
            <a:avLst/>
          </a:prstGeom>
          <a:solidFill>
            <a:schemeClr val="accent3"/>
          </a:solidFill>
          <a:ln w="9525" cap="flat" cmpd="sng" algn="ctr">
            <a:noFill/>
            <a:prstDash val="solid"/>
            <a:miter lim="800000"/>
            <a:headEnd type="none" w="med" len="med"/>
            <a:tailEnd type="none" w="med" len="med"/>
          </a:ln>
          <a:effectLst/>
        </p:spPr>
        <p:txBody>
          <a:bodyPr vert="horz" wrap="none" lIns="91440" tIns="45720" rIns="91440" bIns="45720" anchor="ctr" compatLnSpc="1"/>
          <a:lstStyle/>
          <a:p>
            <a:endParaRPr kumimoji="0" lang="en-US"/>
          </a:p>
        </p:txBody>
      </p:sp>
      <p:sp>
        <p:nvSpPr>
          <p:cNvPr id="14" name="Espace réservé de la date 13"/>
          <p:cNvSpPr>
            <a:spLocks noGrp="1"/>
          </p:cNvSpPr>
          <p:nvPr>
            <p:ph type="dt" sz="half" idx="2"/>
          </p:nvPr>
        </p:nvSpPr>
        <p:spPr>
          <a:xfrm>
            <a:off x="5791200" y="6404984"/>
            <a:ext cx="3044952" cy="365760"/>
          </a:xfrm>
          <a:prstGeom prst="rect">
            <a:avLst/>
          </a:prstGeom>
        </p:spPr>
        <p:txBody>
          <a:bodyPr vert="horz"/>
          <a:lstStyle>
            <a:lvl1pPr algn="r" eaLnBrk="1" latinLnBrk="0" hangingPunct="1">
              <a:defRPr kumimoji="0" sz="1400">
                <a:solidFill>
                  <a:srgbClr val="FFFFFF"/>
                </a:solidFill>
              </a:defRPr>
            </a:lvl1pPr>
          </a:lstStyle>
          <a:p>
            <a:fld id="{AA309A6D-C09C-4548-B29A-6CF363A7E532}" type="datetimeFigureOut">
              <a:rPr lang="fr-FR" smtClean="0"/>
              <a:pPr/>
              <a:t>05/05/2026</a:t>
            </a:fld>
            <a:endParaRPr lang="fr-BE"/>
          </a:p>
        </p:txBody>
      </p:sp>
      <p:sp>
        <p:nvSpPr>
          <p:cNvPr id="3" name="Espace réservé du pied de page 2"/>
          <p:cNvSpPr>
            <a:spLocks noGrp="1"/>
          </p:cNvSpPr>
          <p:nvPr>
            <p:ph type="ftr" sz="quarter" idx="3"/>
          </p:nvPr>
        </p:nvSpPr>
        <p:spPr>
          <a:xfrm>
            <a:off x="304800" y="6410848"/>
            <a:ext cx="3581400" cy="365760"/>
          </a:xfrm>
          <a:prstGeom prst="rect">
            <a:avLst/>
          </a:prstGeom>
        </p:spPr>
        <p:txBody>
          <a:bodyPr vert="horz"/>
          <a:lstStyle>
            <a:lvl1pPr algn="l" eaLnBrk="1" latinLnBrk="0" hangingPunct="1">
              <a:defRPr kumimoji="0" sz="1200">
                <a:solidFill>
                  <a:srgbClr val="FFFFFF"/>
                </a:solidFill>
              </a:defRPr>
            </a:lvl1pPr>
          </a:lstStyle>
          <a:p>
            <a:endParaRPr lang="fr-BE"/>
          </a:p>
        </p:txBody>
      </p:sp>
      <p:sp>
        <p:nvSpPr>
          <p:cNvPr id="8" name="Rectangle 7"/>
          <p:cNvSpPr>
            <a:spLocks noChangeArrowheads="1"/>
          </p:cNvSpPr>
          <p:nvPr/>
        </p:nvSpPr>
        <p:spPr bwMode="auto">
          <a:xfrm>
            <a:off x="152400" y="155448"/>
            <a:ext cx="8833104" cy="6547104"/>
          </a:xfrm>
          <a:prstGeom prst="rect">
            <a:avLst/>
          </a:prstGeom>
          <a:noFill/>
          <a:ln w="9525" cap="flat" cmpd="sng" algn="ctr">
            <a:solidFill>
              <a:schemeClr val="accent3">
                <a:shade val="75000"/>
              </a:schemeClr>
            </a:solidFill>
            <a:prstDash val="solid"/>
            <a:miter lim="800000"/>
            <a:headEnd type="none" w="med" len="med"/>
            <a:tailEnd type="none" w="med" len="med"/>
          </a:ln>
          <a:effectLst/>
        </p:spPr>
        <p:txBody>
          <a:bodyPr vert="horz" wrap="none" lIns="91440" tIns="45720" rIns="91440" bIns="45720" anchor="ctr" compatLnSpc="1"/>
          <a:lstStyle/>
          <a:p>
            <a:endParaRPr kumimoji="0" lang="en-US" dirty="0"/>
          </a:p>
        </p:txBody>
      </p:sp>
      <p:sp>
        <p:nvSpPr>
          <p:cNvPr id="10" name="Connecteur droit 9"/>
          <p:cNvSpPr>
            <a:spLocks noChangeShapeType="1"/>
          </p:cNvSpPr>
          <p:nvPr/>
        </p:nvSpPr>
        <p:spPr bwMode="auto">
          <a:xfrm>
            <a:off x="152400" y="1276743"/>
            <a:ext cx="8833104" cy="0"/>
          </a:xfrm>
          <a:prstGeom prst="line">
            <a:avLst/>
          </a:prstGeom>
          <a:noFill/>
          <a:ln w="9525" cap="flat" cmpd="sng" algn="ctr">
            <a:solidFill>
              <a:schemeClr val="accent3">
                <a:shade val="75000"/>
              </a:schemeClr>
            </a:solidFill>
            <a:prstDash val="sysDash"/>
            <a:round/>
            <a:headEnd type="none" w="med" len="med"/>
            <a:tailEnd type="none" w="med" len="med"/>
          </a:ln>
          <a:effectLst/>
        </p:spPr>
        <p:txBody>
          <a:bodyPr vert="horz" wrap="none" lIns="91440" tIns="45720" rIns="91440" bIns="45720" anchor="ctr" compatLnSpc="1"/>
          <a:lstStyle/>
          <a:p>
            <a:endParaRPr kumimoji="0" lang="en-US"/>
          </a:p>
        </p:txBody>
      </p:sp>
      <p:sp>
        <p:nvSpPr>
          <p:cNvPr id="12" name="Ellipse 11"/>
          <p:cNvSpPr/>
          <p:nvPr/>
        </p:nvSpPr>
        <p:spPr>
          <a:xfrm>
            <a:off x="4267200" y="956036"/>
            <a:ext cx="609600" cy="609600"/>
          </a:xfrm>
          <a:prstGeom prst="ellipse">
            <a:avLst/>
          </a:prstGeom>
          <a:solidFill>
            <a:srgbClr val="FFFFFF"/>
          </a:solidFill>
          <a:ln w="158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5" name="Ellipse 14"/>
          <p:cNvSpPr/>
          <p:nvPr/>
        </p:nvSpPr>
        <p:spPr>
          <a:xfrm>
            <a:off x="4361688" y="1050524"/>
            <a:ext cx="420624" cy="420624"/>
          </a:xfrm>
          <a:prstGeom prst="ellipse">
            <a:avLst/>
          </a:prstGeom>
          <a:solidFill>
            <a:srgbClr val="FFFFFF"/>
          </a:solidFill>
          <a:ln w="50800" cap="rnd" cmpd="dbl" algn="ctr">
            <a:solidFill>
              <a:schemeClr val="accent3">
                <a:shade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3" name="Espace réservé du numéro de diapositive 22"/>
          <p:cNvSpPr>
            <a:spLocks noGrp="1"/>
          </p:cNvSpPr>
          <p:nvPr>
            <p:ph type="sldNum" sz="quarter" idx="4"/>
          </p:nvPr>
        </p:nvSpPr>
        <p:spPr>
          <a:xfrm>
            <a:off x="4343400" y="1040174"/>
            <a:ext cx="457200" cy="441325"/>
          </a:xfrm>
          <a:prstGeom prst="rect">
            <a:avLst/>
          </a:prstGeom>
        </p:spPr>
        <p:txBody>
          <a:bodyPr vert="horz" lIns="45720" rIns="45720" anchor="ctr">
            <a:normAutofit/>
          </a:bodyPr>
          <a:lstStyle>
            <a:lvl1pPr algn="ctr" eaLnBrk="1" latinLnBrk="0" hangingPunct="1">
              <a:defRPr kumimoji="0" sz="1600">
                <a:solidFill>
                  <a:schemeClr val="accent3">
                    <a:shade val="75000"/>
                  </a:schemeClr>
                </a:solidFill>
              </a:defRPr>
            </a:lvl1pPr>
          </a:lstStyle>
          <a:p>
            <a:fld id="{CF4668DC-857F-487D-BFFA-8C0CA5037977}" type="slidenum">
              <a:rPr lang="fr-BE" smtClean="0"/>
              <a:pPr/>
              <a:t>‹N°›</a:t>
            </a:fld>
            <a:endParaRPr lang="fr-BE"/>
          </a:p>
        </p:txBody>
      </p:sp>
      <p:sp>
        <p:nvSpPr>
          <p:cNvPr id="22" name="Espace réservé du titre 21"/>
          <p:cNvSpPr>
            <a:spLocks noGrp="1"/>
          </p:cNvSpPr>
          <p:nvPr>
            <p:ph type="title"/>
          </p:nvPr>
        </p:nvSpPr>
        <p:spPr>
          <a:xfrm>
            <a:off x="301752" y="228600"/>
            <a:ext cx="8534400" cy="758952"/>
          </a:xfrm>
          <a:prstGeom prst="rect">
            <a:avLst/>
          </a:prstGeom>
        </p:spPr>
        <p:txBody>
          <a:bodyPr vert="horz" anchor="b">
            <a:normAutofit/>
          </a:bodyPr>
          <a:lstStyle/>
          <a:p>
            <a:r>
              <a:rPr kumimoji="0" lang="fr-FR" smtClean="0"/>
              <a:t>Cliquez pour modifier le style du titre</a:t>
            </a:r>
            <a:endParaRPr kumimoji="0" lang="en-US"/>
          </a:p>
        </p:txBody>
      </p:sp>
      <p:sp>
        <p:nvSpPr>
          <p:cNvPr id="13" name="Espace réservé du texte 12"/>
          <p:cNvSpPr>
            <a:spLocks noGrp="1"/>
          </p:cNvSpPr>
          <p:nvPr>
            <p:ph type="body" idx="1"/>
          </p:nvPr>
        </p:nvSpPr>
        <p:spPr>
          <a:xfrm>
            <a:off x="301752" y="1524000"/>
            <a:ext cx="8534400" cy="4599432"/>
          </a:xfrm>
          <a:prstGeom prst="rect">
            <a:avLst/>
          </a:prstGeom>
        </p:spPr>
        <p:txBody>
          <a:bodyPr vert="horz">
            <a:normAutofit/>
          </a:bodyPr>
          <a:lstStyle/>
          <a:p>
            <a:pPr lvl="0" eaLnBrk="1" latinLnBrk="0" hangingPunct="1"/>
            <a:r>
              <a:rPr kumimoji="0" lang="fr-FR" smtClean="0"/>
              <a:t>Cliquez pour modifier les styles du texte du masque</a:t>
            </a:r>
          </a:p>
          <a:p>
            <a:pPr lvl="1" eaLnBrk="1" latinLnBrk="0" hangingPunct="1"/>
            <a:r>
              <a:rPr kumimoji="0" lang="fr-FR" smtClean="0"/>
              <a:t>Deuxième niveau</a:t>
            </a:r>
          </a:p>
          <a:p>
            <a:pPr lvl="2" eaLnBrk="1" latinLnBrk="0" hangingPunct="1"/>
            <a:r>
              <a:rPr kumimoji="0" lang="fr-FR" smtClean="0"/>
              <a:t>Troisième niveau</a:t>
            </a:r>
          </a:p>
          <a:p>
            <a:pPr lvl="3" eaLnBrk="1" latinLnBrk="0" hangingPunct="1"/>
            <a:r>
              <a:rPr kumimoji="0" lang="fr-FR" smtClean="0"/>
              <a:t>Quatrième niveau</a:t>
            </a:r>
          </a:p>
          <a:p>
            <a:pPr lvl="4" eaLnBrk="1" latinLnBrk="0" hangingPunct="1"/>
            <a:r>
              <a:rPr kumimoji="0" lang="fr-FR" smtClean="0"/>
              <a:t>Cinquième niveau</a:t>
            </a:r>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3300" kern="1200">
          <a:solidFill>
            <a:schemeClr val="accent3">
              <a:shade val="75000"/>
            </a:schemeClr>
          </a:solidFill>
          <a:latin typeface="+mj-lt"/>
          <a:ea typeface="+mj-ea"/>
          <a:cs typeface="+mj-cs"/>
        </a:defRPr>
      </a:lvl1pPr>
    </p:titleStyle>
    <p:bodyStyle>
      <a:lvl1pPr marL="274320" indent="-274320" algn="l" rtl="0" eaLnBrk="1" latinLnBrk="0" hangingPunct="1">
        <a:spcBef>
          <a:spcPct val="20000"/>
        </a:spcBef>
        <a:buClr>
          <a:schemeClr val="accent1"/>
        </a:buClr>
        <a:buSzPct val="85000"/>
        <a:buFont typeface="Wingdings 2"/>
        <a:buChar char=""/>
        <a:defRPr kumimoji="0" sz="2700" kern="1200">
          <a:solidFill>
            <a:schemeClr val="tx1"/>
          </a:solidFill>
          <a:latin typeface="+mn-lt"/>
          <a:ea typeface="+mn-ea"/>
          <a:cs typeface="+mn-cs"/>
        </a:defRPr>
      </a:lvl1pPr>
      <a:lvl2pPr marL="548640" indent="-274320" algn="l" rtl="0" eaLnBrk="1" latinLnBrk="0" hangingPunct="1">
        <a:spcBef>
          <a:spcPct val="20000"/>
        </a:spcBef>
        <a:buClr>
          <a:schemeClr val="accent2"/>
        </a:buClr>
        <a:buSzPct val="70000"/>
        <a:buFont typeface="Wingdings"/>
        <a:buChar char=""/>
        <a:defRPr kumimoji="0" sz="2200" kern="1200">
          <a:solidFill>
            <a:schemeClr val="tx2"/>
          </a:solidFill>
          <a:latin typeface="+mn-lt"/>
          <a:ea typeface="+mn-ea"/>
          <a:cs typeface="+mn-cs"/>
        </a:defRPr>
      </a:lvl2pPr>
      <a:lvl3pPr marL="822960" indent="-228600" algn="l" rtl="0" eaLnBrk="1" latinLnBrk="0" hangingPunct="1">
        <a:spcBef>
          <a:spcPct val="20000"/>
        </a:spcBef>
        <a:buClr>
          <a:schemeClr val="accent3"/>
        </a:buClr>
        <a:buSzPct val="75000"/>
        <a:buFont typeface="Wingdings 2"/>
        <a:buChar char=""/>
        <a:defRPr kumimoji="0" sz="2000" kern="1200">
          <a:solidFill>
            <a:schemeClr val="tx1"/>
          </a:solidFill>
          <a:latin typeface="+mn-lt"/>
          <a:ea typeface="+mn-ea"/>
          <a:cs typeface="+mn-cs"/>
        </a:defRPr>
      </a:lvl3pPr>
      <a:lvl4pPr marL="1097280" indent="-228600" algn="l" rtl="0" eaLnBrk="1" latinLnBrk="0" hangingPunct="1">
        <a:spcBef>
          <a:spcPct val="20000"/>
        </a:spcBef>
        <a:buClr>
          <a:schemeClr val="accent4"/>
        </a:buClr>
        <a:buSzPct val="70000"/>
        <a:buFont typeface="Wingdings"/>
        <a:buChar char=""/>
        <a:defRPr kumimoji="0" sz="2000" kern="1200">
          <a:solidFill>
            <a:schemeClr val="tx2"/>
          </a:solidFill>
          <a:latin typeface="+mn-lt"/>
          <a:ea typeface="+mn-ea"/>
          <a:cs typeface="+mn-cs"/>
        </a:defRPr>
      </a:lvl4pPr>
      <a:lvl5pPr marL="1371600" indent="-228600" algn="l" rtl="0" eaLnBrk="1" latinLnBrk="0" hangingPunct="1">
        <a:spcBef>
          <a:spcPct val="20000"/>
        </a:spcBef>
        <a:buClr>
          <a:schemeClr val="accent5"/>
        </a:buClr>
        <a:buFontTx/>
        <a:buChar char="•"/>
        <a:defRPr kumimoji="0" sz="1800" kern="1200">
          <a:solidFill>
            <a:schemeClr val="tx1"/>
          </a:solidFill>
          <a:latin typeface="+mn-lt"/>
          <a:ea typeface="+mn-ea"/>
          <a:cs typeface="+mn-cs"/>
        </a:defRPr>
      </a:lvl5pPr>
      <a:lvl6pPr marL="1645920" indent="-182880" algn="l" rtl="0" eaLnBrk="1" latinLnBrk="0" hangingPunct="1">
        <a:spcBef>
          <a:spcPct val="20000"/>
        </a:spcBef>
        <a:buClr>
          <a:schemeClr val="accent6"/>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1">
            <a:shade val="75000"/>
          </a:schemeClr>
        </a:buClr>
        <a:buSzPct val="90000"/>
        <a:buChar char="•"/>
        <a:defRPr kumimoji="0" sz="1600" kern="1200" baseline="0">
          <a:solidFill>
            <a:schemeClr val="tx1"/>
          </a:solidFill>
          <a:latin typeface="+mn-lt"/>
          <a:ea typeface="+mn-ea"/>
          <a:cs typeface="+mn-cs"/>
        </a:defRPr>
      </a:lvl7pPr>
      <a:lvl8pPr marL="2103120" indent="-182880" algn="l" rtl="0" eaLnBrk="1" latinLnBrk="0" hangingPunct="1">
        <a:spcBef>
          <a:spcPct val="20000"/>
        </a:spcBef>
        <a:buClr>
          <a:schemeClr val="accent4">
            <a:shade val="75000"/>
          </a:schemeClr>
        </a:buClr>
        <a:buChar char="•"/>
        <a:defRPr kumimoji="0" sz="1600" kern="1200">
          <a:solidFill>
            <a:schemeClr val="tx1"/>
          </a:solidFill>
          <a:latin typeface="+mn-lt"/>
          <a:ea typeface="+mn-ea"/>
          <a:cs typeface="+mn-cs"/>
        </a:defRPr>
      </a:lvl8pPr>
      <a:lvl9pPr marL="2377440" indent="-182880" algn="l" rtl="0" eaLnBrk="1" latinLnBrk="0" hangingPunct="1">
        <a:spcBef>
          <a:spcPct val="20000"/>
        </a:spcBef>
        <a:buClr>
          <a:schemeClr val="accent2">
            <a:shade val="75000"/>
          </a:schemeClr>
        </a:buClr>
        <a:buSzPct val="90000"/>
        <a:buChar char="•"/>
        <a:defRPr kumimoji="0" sz="1400" kern="1200" cap="all"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20.jpeg"/><Relationship Id="rId1" Type="http://schemas.openxmlformats.org/officeDocument/2006/relationships/slideLayout" Target="../slideLayouts/slideLayout7.xml"/><Relationship Id="rId4" Type="http://schemas.openxmlformats.org/officeDocument/2006/relationships/image" Target="../media/image22.jpe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ous-titre 2"/>
          <p:cNvSpPr>
            <a:spLocks noGrp="1"/>
          </p:cNvSpPr>
          <p:nvPr>
            <p:ph type="subTitle" idx="1"/>
          </p:nvPr>
        </p:nvSpPr>
        <p:spPr/>
        <p:txBody>
          <a:bodyPr/>
          <a:lstStyle/>
          <a:p>
            <a:r>
              <a:rPr lang="fr-FR" dirty="0" smtClean="0"/>
              <a:t>Cours réalisé et présenté par : </a:t>
            </a:r>
          </a:p>
          <a:p>
            <a:r>
              <a:rPr lang="fr-FR" dirty="0" smtClean="0">
                <a:solidFill>
                  <a:schemeClr val="tx1"/>
                </a:solidFill>
              </a:rPr>
              <a:t>DR L.BENNACEUR</a:t>
            </a:r>
          </a:p>
          <a:p>
            <a:r>
              <a:rPr lang="fr-FR" dirty="0" smtClean="0"/>
              <a:t>Maitre Assistant: service de Neurochirurgie</a:t>
            </a:r>
          </a:p>
          <a:p>
            <a:r>
              <a:rPr lang="fr-FR" dirty="0" smtClean="0"/>
              <a:t>Hôpital militaire régional universitaire de Constantine</a:t>
            </a:r>
            <a:endParaRPr lang="fr-FR" dirty="0"/>
          </a:p>
        </p:txBody>
      </p:sp>
      <p:sp>
        <p:nvSpPr>
          <p:cNvPr id="2" name="Titre 1"/>
          <p:cNvSpPr>
            <a:spLocks noGrp="1"/>
          </p:cNvSpPr>
          <p:nvPr>
            <p:ph type="ctrTitle"/>
          </p:nvPr>
        </p:nvSpPr>
        <p:spPr/>
        <p:txBody>
          <a:bodyPr>
            <a:normAutofit/>
          </a:bodyPr>
          <a:lstStyle/>
          <a:p>
            <a:r>
              <a:rPr lang="fr-FR" sz="2400" dirty="0" smtClean="0"/>
              <a:t>LES MALFORMATIONS DE LA CHARNIERE</a:t>
            </a:r>
            <a:br>
              <a:rPr lang="fr-FR" sz="2400" dirty="0" smtClean="0"/>
            </a:br>
            <a:r>
              <a:rPr lang="fr-FR" sz="2400" dirty="0" smtClean="0"/>
              <a:t>OCCIPITO-VERTÉBRALE </a:t>
            </a:r>
            <a:br>
              <a:rPr lang="fr-FR" sz="2400" dirty="0" smtClean="0"/>
            </a:br>
            <a:r>
              <a:rPr lang="fr-FR" sz="2400" dirty="0" smtClean="0"/>
              <a:t>(MCOV)</a:t>
            </a:r>
            <a:endParaRPr lang="fr-FR" sz="2400" dirty="0"/>
          </a:p>
        </p:txBody>
      </p:sp>
      <p:pic>
        <p:nvPicPr>
          <p:cNvPr id="6146" name="Picture 2"/>
          <p:cNvPicPr>
            <a:picLocks noChangeAspect="1" noChangeArrowheads="1"/>
          </p:cNvPicPr>
          <p:nvPr/>
        </p:nvPicPr>
        <p:blipFill>
          <a:blip r:embed="rId2"/>
          <a:srcRect/>
          <a:stretch>
            <a:fillRect/>
          </a:stretch>
        </p:blipFill>
        <p:spPr bwMode="auto">
          <a:xfrm>
            <a:off x="3214678" y="4714884"/>
            <a:ext cx="2024063" cy="164307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Plan: </a:t>
            </a:r>
            <a:endParaRPr lang="fr-FR" dirty="0"/>
          </a:p>
        </p:txBody>
      </p:sp>
      <p:sp>
        <p:nvSpPr>
          <p:cNvPr id="3" name="Espace réservé du contenu 2"/>
          <p:cNvSpPr>
            <a:spLocks noGrp="1"/>
          </p:cNvSpPr>
          <p:nvPr>
            <p:ph sz="quarter" idx="1"/>
          </p:nvPr>
        </p:nvSpPr>
        <p:spPr/>
        <p:txBody>
          <a:bodyPr>
            <a:normAutofit/>
          </a:bodyPr>
          <a:lstStyle/>
          <a:p>
            <a:pPr marL="571500" indent="-571500">
              <a:buFont typeface="+mj-lt"/>
              <a:buAutoNum type="romanUcPeriod"/>
            </a:pPr>
            <a:r>
              <a:rPr lang="fr-FR" dirty="0" smtClean="0">
                <a:latin typeface="Calibri" pitchFamily="34" charset="0"/>
                <a:cs typeface="Calibri" pitchFamily="34" charset="0"/>
              </a:rPr>
              <a:t>Introduction </a:t>
            </a:r>
            <a:r>
              <a:rPr lang="fr-FR" dirty="0" smtClean="0">
                <a:latin typeface="Calibri" pitchFamily="34" charset="0"/>
                <a:cs typeface="Calibri" pitchFamily="34" charset="0"/>
              </a:rPr>
              <a:t>– </a:t>
            </a:r>
            <a:r>
              <a:rPr lang="fr-FR" dirty="0" smtClean="0">
                <a:latin typeface="Calibri" pitchFamily="34" charset="0"/>
                <a:cs typeface="Calibri" pitchFamily="34" charset="0"/>
              </a:rPr>
              <a:t>Définition</a:t>
            </a:r>
          </a:p>
          <a:p>
            <a:pPr marL="571500" indent="-571500">
              <a:buFont typeface="+mj-lt"/>
              <a:buAutoNum type="romanUcPeriod"/>
            </a:pPr>
            <a:r>
              <a:rPr lang="fr-FR" dirty="0" smtClean="0">
                <a:latin typeface="Calibri" pitchFamily="34" charset="0"/>
                <a:cs typeface="Calibri" pitchFamily="34" charset="0"/>
              </a:rPr>
              <a:t>Epidémiologie </a:t>
            </a:r>
            <a:endParaRPr lang="fr-FR" dirty="0" smtClean="0">
              <a:latin typeface="Calibri" pitchFamily="34" charset="0"/>
              <a:cs typeface="Calibri" pitchFamily="34" charset="0"/>
            </a:endParaRPr>
          </a:p>
          <a:p>
            <a:pPr marL="571500" indent="-571500">
              <a:buFont typeface="+mj-lt"/>
              <a:buAutoNum type="romanUcPeriod"/>
            </a:pPr>
            <a:r>
              <a:rPr lang="fr-FR" dirty="0" smtClean="0">
                <a:latin typeface="Calibri" pitchFamily="34" charset="0"/>
                <a:cs typeface="Calibri" pitchFamily="34" charset="0"/>
              </a:rPr>
              <a:t>Rappel </a:t>
            </a:r>
            <a:r>
              <a:rPr lang="fr-FR" dirty="0" smtClean="0">
                <a:latin typeface="Calibri" pitchFamily="34" charset="0"/>
                <a:cs typeface="Calibri" pitchFamily="34" charset="0"/>
              </a:rPr>
              <a:t>anatomique</a:t>
            </a:r>
          </a:p>
          <a:p>
            <a:pPr marL="571500" indent="-571500">
              <a:buFont typeface="+mj-lt"/>
              <a:buAutoNum type="romanUcPeriod"/>
            </a:pPr>
            <a:r>
              <a:rPr lang="fr-FR" dirty="0" smtClean="0">
                <a:latin typeface="Calibri" pitchFamily="34" charset="0"/>
                <a:cs typeface="Calibri" pitchFamily="34" charset="0"/>
              </a:rPr>
              <a:t>Sémiologie </a:t>
            </a:r>
            <a:r>
              <a:rPr lang="fr-FR" dirty="0" smtClean="0">
                <a:latin typeface="Calibri" pitchFamily="34" charset="0"/>
                <a:cs typeface="Calibri" pitchFamily="34" charset="0"/>
              </a:rPr>
              <a:t>clinique</a:t>
            </a:r>
          </a:p>
          <a:p>
            <a:pPr marL="571500" indent="-571500">
              <a:buFont typeface="+mj-lt"/>
              <a:buAutoNum type="romanUcPeriod"/>
            </a:pPr>
            <a:r>
              <a:rPr lang="fr-FR" dirty="0" smtClean="0">
                <a:latin typeface="Calibri" pitchFamily="34" charset="0"/>
                <a:cs typeface="Calibri" pitchFamily="34" charset="0"/>
              </a:rPr>
              <a:t>Exploration </a:t>
            </a:r>
            <a:r>
              <a:rPr lang="fr-FR" dirty="0" smtClean="0">
                <a:latin typeface="Calibri" pitchFamily="34" charset="0"/>
                <a:cs typeface="Calibri" pitchFamily="34" charset="0"/>
              </a:rPr>
              <a:t>radiologique</a:t>
            </a:r>
          </a:p>
          <a:p>
            <a:pPr marL="571500" indent="-571500">
              <a:buFont typeface="+mj-lt"/>
              <a:buAutoNum type="romanUcPeriod"/>
            </a:pPr>
            <a:r>
              <a:rPr lang="fr-FR" dirty="0" smtClean="0">
                <a:latin typeface="Calibri" pitchFamily="34" charset="0"/>
                <a:cs typeface="Calibri" pitchFamily="34" charset="0"/>
              </a:rPr>
              <a:t>Anatomie </a:t>
            </a:r>
            <a:r>
              <a:rPr lang="fr-FR" dirty="0" smtClean="0">
                <a:latin typeface="Calibri" pitchFamily="34" charset="0"/>
                <a:cs typeface="Calibri" pitchFamily="34" charset="0"/>
              </a:rPr>
              <a:t>pathologie</a:t>
            </a:r>
          </a:p>
          <a:p>
            <a:pPr marL="571500" indent="-571500">
              <a:buFont typeface="+mj-lt"/>
              <a:buAutoNum type="romanUcPeriod"/>
            </a:pPr>
            <a:r>
              <a:rPr lang="fr-FR" dirty="0" smtClean="0">
                <a:latin typeface="Calibri" pitchFamily="34" charset="0"/>
                <a:cs typeface="Calibri" pitchFamily="34" charset="0"/>
              </a:rPr>
              <a:t>Traitement</a:t>
            </a:r>
            <a:endParaRPr lang="fr-FR" dirty="0" smtClean="0">
              <a:latin typeface="Calibri" pitchFamily="34" charset="0"/>
              <a:cs typeface="Calibri" pitchFamily="34" charset="0"/>
            </a:endParaRPr>
          </a:p>
          <a:p>
            <a:pPr marL="571500" indent="-571500">
              <a:buFont typeface="+mj-lt"/>
              <a:buAutoNum type="romanUcPeriod"/>
            </a:pPr>
            <a:r>
              <a:rPr lang="fr-FR" dirty="0" smtClean="0">
                <a:latin typeface="Calibri" pitchFamily="34" charset="0"/>
                <a:cs typeface="Calibri" pitchFamily="34" charset="0"/>
              </a:rPr>
              <a:t>Conclusion</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b="1" dirty="0" smtClean="0">
                <a:solidFill>
                  <a:srgbClr val="FF0000"/>
                </a:solidFill>
              </a:rPr>
              <a:t>Objectifs</a:t>
            </a:r>
            <a:endParaRPr lang="fr-FR" dirty="0">
              <a:solidFill>
                <a:srgbClr val="FF0000"/>
              </a:solidFill>
            </a:endParaRPr>
          </a:p>
        </p:txBody>
      </p:sp>
      <p:sp>
        <p:nvSpPr>
          <p:cNvPr id="3" name="Espace réservé du contenu 2"/>
          <p:cNvSpPr>
            <a:spLocks noGrp="1"/>
          </p:cNvSpPr>
          <p:nvPr>
            <p:ph sz="quarter" idx="1"/>
          </p:nvPr>
        </p:nvSpPr>
        <p:spPr/>
        <p:txBody>
          <a:bodyPr/>
          <a:lstStyle/>
          <a:p>
            <a:pPr>
              <a:defRPr/>
            </a:pPr>
            <a:r>
              <a:rPr lang="fr-FR" sz="2400" dirty="0" smtClean="0"/>
              <a:t>L’ anatomie de la charnière </a:t>
            </a:r>
            <a:r>
              <a:rPr lang="fr-FR" sz="2400" dirty="0" err="1" smtClean="0"/>
              <a:t>occipito</a:t>
            </a:r>
            <a:r>
              <a:rPr lang="fr-FR" sz="2400" dirty="0" smtClean="0"/>
              <a:t>-</a:t>
            </a:r>
            <a:r>
              <a:rPr lang="fr-FR" sz="2400" dirty="0" err="1" smtClean="0"/>
              <a:t>vertèbrale</a:t>
            </a:r>
            <a:r>
              <a:rPr lang="fr-FR" sz="2400" dirty="0" smtClean="0"/>
              <a:t>: système nerveux et étui </a:t>
            </a:r>
            <a:r>
              <a:rPr lang="fr-FR" sz="2400" dirty="0" err="1" smtClean="0"/>
              <a:t>ostéo</a:t>
            </a:r>
            <a:r>
              <a:rPr lang="fr-FR" sz="2400" dirty="0" smtClean="0"/>
              <a:t>-ligamentaire.</a:t>
            </a:r>
          </a:p>
          <a:p>
            <a:pPr>
              <a:defRPr/>
            </a:pPr>
            <a:r>
              <a:rPr lang="fr-FR" sz="2400" dirty="0" smtClean="0"/>
              <a:t>Les différentes malformations de cette charnière: osseuses et nerveuses</a:t>
            </a:r>
          </a:p>
          <a:p>
            <a:pPr>
              <a:defRPr/>
            </a:pPr>
            <a:r>
              <a:rPr lang="fr-FR" sz="2400" dirty="0" smtClean="0"/>
              <a:t>Les symptômes d’appel </a:t>
            </a:r>
          </a:p>
          <a:p>
            <a:pPr>
              <a:defRPr/>
            </a:pPr>
            <a:r>
              <a:rPr lang="fr-FR" sz="2400" dirty="0" smtClean="0"/>
              <a:t>Leurs aspects en imagerie: standard avec les repères et la </a:t>
            </a:r>
            <a:r>
              <a:rPr lang="fr-FR" sz="2400" dirty="0" err="1" smtClean="0"/>
              <a:t>crâniométrie</a:t>
            </a:r>
            <a:r>
              <a:rPr lang="fr-FR" sz="2400" dirty="0" smtClean="0"/>
              <a:t>, TDM et IRM</a:t>
            </a:r>
          </a:p>
          <a:p>
            <a:pPr>
              <a:defRPr/>
            </a:pPr>
            <a:r>
              <a:rPr lang="fr-FR" sz="2400" dirty="0" smtClean="0"/>
              <a:t>Leurs modalités thérapeutiques</a:t>
            </a:r>
          </a:p>
          <a:p>
            <a:endParaRPr lang="fr-FR"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 INTRODUCTION ET DEFINITION :</a:t>
            </a:r>
            <a:endParaRPr lang="fr-FR" dirty="0"/>
          </a:p>
        </p:txBody>
      </p:sp>
      <p:sp>
        <p:nvSpPr>
          <p:cNvPr id="3" name="Espace réservé du contenu 2"/>
          <p:cNvSpPr>
            <a:spLocks noGrp="1"/>
          </p:cNvSpPr>
          <p:nvPr>
            <p:ph sz="quarter" idx="1"/>
          </p:nvPr>
        </p:nvSpPr>
        <p:spPr/>
        <p:txBody>
          <a:bodyPr/>
          <a:lstStyle/>
          <a:p>
            <a:pPr>
              <a:buNone/>
            </a:pPr>
            <a:endParaRPr lang="fr-FR" dirty="0" smtClean="0">
              <a:latin typeface="Calibri" pitchFamily="34" charset="0"/>
              <a:cs typeface="Calibri" pitchFamily="34" charset="0"/>
            </a:endParaRPr>
          </a:p>
          <a:p>
            <a:r>
              <a:rPr lang="fr-FR" dirty="0" smtClean="0">
                <a:latin typeface="Calibri" pitchFamily="34" charset="0"/>
                <a:cs typeface="Calibri" pitchFamily="34" charset="0"/>
              </a:rPr>
              <a:t>Les malformations de la charnière ou jonction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-cervicale (MCOV) sont des anomalies morphologiques de la jonction </a:t>
            </a:r>
            <a:r>
              <a:rPr lang="fr-FR" dirty="0" err="1" smtClean="0">
                <a:latin typeface="Calibri" pitchFamily="34" charset="0"/>
                <a:cs typeface="Calibri" pitchFamily="34" charset="0"/>
              </a:rPr>
              <a:t>crânio</a:t>
            </a:r>
            <a:r>
              <a:rPr lang="fr-FR" dirty="0" smtClean="0">
                <a:latin typeface="Calibri" pitchFamily="34" charset="0"/>
                <a:cs typeface="Calibri" pitchFamily="34" charset="0"/>
              </a:rPr>
              <a:t>-rachidienne, d'origine embryologique, regroupant d’une part les malformations osseuses majeures et mineures et d’autres part les malformations du névraxe. Elles sont diverses et souvent associés entre elles.</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II. Epidémiologie</a:t>
            </a:r>
            <a:endParaRPr lang="fr-FR" dirty="0"/>
          </a:p>
        </p:txBody>
      </p:sp>
      <p:sp>
        <p:nvSpPr>
          <p:cNvPr id="3" name="Espace réservé du contenu 2"/>
          <p:cNvSpPr>
            <a:spLocks noGrp="1"/>
          </p:cNvSpPr>
          <p:nvPr>
            <p:ph sz="quarter" idx="1"/>
          </p:nvPr>
        </p:nvSpPr>
        <p:spPr/>
        <p:txBody>
          <a:bodyPr/>
          <a:lstStyle/>
          <a:p>
            <a:endParaRPr lang="fr-FR" dirty="0" smtClean="0"/>
          </a:p>
          <a:p>
            <a:endParaRPr lang="fr-FR" dirty="0" smtClean="0"/>
          </a:p>
          <a:p>
            <a:r>
              <a:rPr lang="fr-FR" dirty="0" smtClean="0">
                <a:latin typeface="Calibri" pitchFamily="34" charset="0"/>
                <a:cs typeface="Calibri" pitchFamily="34" charset="0"/>
              </a:rPr>
              <a:t>Sexe: Prédominance masculine.</a:t>
            </a:r>
          </a:p>
          <a:p>
            <a:r>
              <a:rPr lang="fr-FR" dirty="0" smtClean="0">
                <a:latin typeface="Calibri" pitchFamily="34" charset="0"/>
                <a:cs typeface="Calibri" pitchFamily="34" charset="0"/>
              </a:rPr>
              <a:t>Race: Surtout les noirs africains.</a:t>
            </a:r>
          </a:p>
          <a:p>
            <a:r>
              <a:rPr lang="fr-FR" dirty="0" smtClean="0">
                <a:latin typeface="Calibri" pitchFamily="34" charset="0"/>
                <a:cs typeface="Calibri" pitchFamily="34" charset="0"/>
              </a:rPr>
              <a:t>Age: Généralement à la 2ème ou à la 3ème décade</a:t>
            </a:r>
            <a:r>
              <a:rPr lang="fr-FR" dirty="0" smtClean="0"/>
              <a:t>.</a:t>
            </a:r>
            <a:endParaRPr lang="fr-FR"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III. RAPPEL </a:t>
            </a:r>
            <a:r>
              <a:rPr lang="fr-FR" dirty="0" smtClean="0"/>
              <a:t>ANATOMIQUE</a:t>
            </a:r>
            <a:endParaRPr lang="fr-FR" dirty="0"/>
          </a:p>
        </p:txBody>
      </p:sp>
      <p:sp>
        <p:nvSpPr>
          <p:cNvPr id="3" name="Espace réservé du contenu 2"/>
          <p:cNvSpPr>
            <a:spLocks noGrp="1"/>
          </p:cNvSpPr>
          <p:nvPr>
            <p:ph sz="quarter" idx="1"/>
          </p:nvPr>
        </p:nvSpPr>
        <p:spPr/>
        <p:txBody>
          <a:bodyPr>
            <a:normAutofit/>
          </a:bodyPr>
          <a:lstStyle/>
          <a:p>
            <a:r>
              <a:rPr lang="fr-FR" dirty="0" smtClean="0">
                <a:latin typeface="Calibri" pitchFamily="34" charset="0"/>
                <a:cs typeface="Calibri" pitchFamily="34" charset="0"/>
              </a:rPr>
              <a:t>La charnière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-vertébrale (COV) constitue un trait d'union entre la base du crâne et le rachis cervical ainsi qu'entre le tronc cérébral et la moelle épinière.</a:t>
            </a:r>
          </a:p>
          <a:p>
            <a:r>
              <a:rPr lang="fr-FR" dirty="0" smtClean="0">
                <a:latin typeface="Calibri" pitchFamily="34" charset="0"/>
                <a:cs typeface="Calibri" pitchFamily="34" charset="0"/>
              </a:rPr>
              <a:t>Sur le plan osseux, la COV est constituée par l’empilement de l’os occipital, de l’atlas(C1) et de l’axis(C2).</a:t>
            </a:r>
          </a:p>
          <a:p>
            <a:r>
              <a:rPr lang="fr-FR" dirty="0" smtClean="0">
                <a:latin typeface="Calibri" pitchFamily="34" charset="0"/>
                <a:cs typeface="Calibri" pitchFamily="34" charset="0"/>
              </a:rPr>
              <a:t>Sur le plan ligamentaire, par des ligaments qui solidarisent la base du crâne aux deux premières vertèbres cervicales (ligaments :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-atloïdien, </a:t>
            </a:r>
            <a:r>
              <a:rPr lang="fr-FR" dirty="0" err="1" smtClean="0">
                <a:latin typeface="Calibri" pitchFamily="34" charset="0"/>
                <a:cs typeface="Calibri" pitchFamily="34" charset="0"/>
              </a:rPr>
              <a:t>atloïdo</a:t>
            </a:r>
            <a:r>
              <a:rPr lang="fr-FR" dirty="0" smtClean="0">
                <a:latin typeface="Calibri" pitchFamily="34" charset="0"/>
                <a:cs typeface="Calibri" pitchFamily="34" charset="0"/>
              </a:rPr>
              <a:t>-</a:t>
            </a:r>
            <a:r>
              <a:rPr lang="fr-FR" dirty="0" err="1" smtClean="0">
                <a:latin typeface="Calibri" pitchFamily="34" charset="0"/>
                <a:cs typeface="Calibri" pitchFamily="34" charset="0"/>
              </a:rPr>
              <a:t>axoïdien</a:t>
            </a:r>
            <a:r>
              <a:rPr lang="fr-FR" dirty="0" smtClean="0">
                <a:latin typeface="Calibri" pitchFamily="34" charset="0"/>
                <a:cs typeface="Calibri" pitchFamily="34" charset="0"/>
              </a:rPr>
              <a:t>, alaire, cruciforme..) et sur le plan neurologique par la jonction bulbo-médullaire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pic>
        <p:nvPicPr>
          <p:cNvPr id="4" name="Picture 3"/>
          <p:cNvPicPr>
            <a:picLocks noGrp="1" noChangeAspect="1" noChangeArrowheads="1"/>
          </p:cNvPicPr>
          <p:nvPr>
            <p:ph sz="quarter" idx="1"/>
          </p:nvPr>
        </p:nvPicPr>
        <p:blipFill>
          <a:blip r:embed="rId2"/>
          <a:srcRect/>
          <a:stretch>
            <a:fillRect/>
          </a:stretch>
        </p:blipFill>
        <p:spPr bwMode="auto">
          <a:xfrm>
            <a:off x="500034" y="1571612"/>
            <a:ext cx="8072494" cy="4572031"/>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a:xfrm>
            <a:off x="571472" y="500042"/>
            <a:ext cx="7572428" cy="5143536"/>
          </a:xfrm>
          <a:prstGeom prst="rect">
            <a:avLst/>
          </a:prstGeom>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a:xfrm>
            <a:off x="285720" y="428604"/>
            <a:ext cx="8001023" cy="564357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IV. SEMIOLOGIE </a:t>
            </a:r>
            <a:r>
              <a:rPr lang="fr-FR" dirty="0" smtClean="0"/>
              <a:t>CLINIQUE :</a:t>
            </a:r>
            <a:endParaRPr lang="fr-FR" dirty="0"/>
          </a:p>
        </p:txBody>
      </p:sp>
      <p:sp>
        <p:nvSpPr>
          <p:cNvPr id="3" name="Espace réservé du contenu 2"/>
          <p:cNvSpPr>
            <a:spLocks noGrp="1"/>
          </p:cNvSpPr>
          <p:nvPr>
            <p:ph sz="quarter" idx="1"/>
          </p:nvPr>
        </p:nvSpPr>
        <p:spPr/>
        <p:txBody>
          <a:bodyPr/>
          <a:lstStyle/>
          <a:p>
            <a:endParaRPr lang="fr-FR" dirty="0" smtClean="0"/>
          </a:p>
          <a:p>
            <a:endParaRPr lang="fr-FR" dirty="0" smtClean="0"/>
          </a:p>
          <a:p>
            <a:r>
              <a:rPr lang="fr-FR" dirty="0" smtClean="0">
                <a:latin typeface="Calibri" pitchFamily="34" charset="0"/>
                <a:cs typeface="Calibri" pitchFamily="34" charset="0"/>
              </a:rPr>
              <a:t>La MCOV est caractérisée par son polymorphisme clinique, sans parallélisme entre le type de la malformation et la gravité du tableau clinique. L’expression clinique peut rester asymptomatique, apparaitre de façon aigue suite à un traumatisme ou de façon progressive</a:t>
            </a:r>
            <a:r>
              <a:rPr lang="fr-FR" dirty="0" smtClean="0"/>
              <a:t>.</a:t>
            </a:r>
            <a:endParaRPr lang="fr-FR"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pPr>
              <a:buNone/>
            </a:pPr>
            <a:r>
              <a:rPr lang="fr-FR" dirty="0" smtClean="0">
                <a:latin typeface="Calibri" pitchFamily="34" charset="0"/>
                <a:cs typeface="Calibri" pitchFamily="34" charset="0"/>
              </a:rPr>
              <a:t>            </a:t>
            </a:r>
            <a:r>
              <a:rPr lang="fr-FR" dirty="0" smtClean="0">
                <a:solidFill>
                  <a:srgbClr val="FF0000"/>
                </a:solidFill>
                <a:latin typeface="Calibri" pitchFamily="34" charset="0"/>
                <a:cs typeface="Calibri" pitchFamily="34" charset="0"/>
              </a:rPr>
              <a:t>1. Signes fonctionnels :</a:t>
            </a:r>
          </a:p>
          <a:p>
            <a:r>
              <a:rPr lang="fr-FR" dirty="0" smtClean="0">
                <a:latin typeface="Calibri" pitchFamily="34" charset="0"/>
                <a:cs typeface="Calibri" pitchFamily="34" charset="0"/>
              </a:rPr>
              <a:t>- Episode de blocage de la nuque ;</a:t>
            </a:r>
          </a:p>
          <a:p>
            <a:r>
              <a:rPr lang="fr-FR" dirty="0" smtClean="0">
                <a:latin typeface="Calibri" pitchFamily="34" charset="0"/>
                <a:cs typeface="Calibri" pitchFamily="34" charset="0"/>
              </a:rPr>
              <a:t>- Crises douloureuses cervicales ;</a:t>
            </a:r>
          </a:p>
          <a:p>
            <a:r>
              <a:rPr lang="fr-FR" dirty="0" smtClean="0">
                <a:latin typeface="Calibri" pitchFamily="34" charset="0"/>
                <a:cs typeface="Calibri" pitchFamily="34" charset="0"/>
              </a:rPr>
              <a:t>- Sensation vertigineuses ;</a:t>
            </a:r>
          </a:p>
          <a:p>
            <a:r>
              <a:rPr lang="fr-FR" dirty="0" smtClean="0">
                <a:latin typeface="Calibri" pitchFamily="34" charset="0"/>
                <a:cs typeface="Calibri" pitchFamily="34" charset="0"/>
              </a:rPr>
              <a:t>- Paresthésie du cou, du dos et des membres ;</a:t>
            </a:r>
          </a:p>
          <a:p>
            <a:r>
              <a:rPr lang="fr-FR" dirty="0" smtClean="0">
                <a:latin typeface="Calibri" pitchFamily="34" charset="0"/>
                <a:cs typeface="Calibri" pitchFamily="34" charset="0"/>
              </a:rPr>
              <a:t>- Troubles de la déglutition ;</a:t>
            </a:r>
          </a:p>
          <a:p>
            <a:r>
              <a:rPr lang="fr-FR" dirty="0" smtClean="0">
                <a:latin typeface="Calibri" pitchFamily="34" charset="0"/>
                <a:cs typeface="Calibri" pitchFamily="34" charset="0"/>
              </a:rPr>
              <a:t>- Dérobement des membres inférieurs pouvant entrainer des chutes.</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pPr>
              <a:buNone/>
            </a:pPr>
            <a:r>
              <a:rPr lang="fr-FR" dirty="0" smtClean="0">
                <a:solidFill>
                  <a:srgbClr val="FF0000"/>
                </a:solidFill>
                <a:latin typeface="Calibri" pitchFamily="34" charset="0"/>
                <a:cs typeface="Calibri" pitchFamily="34" charset="0"/>
              </a:rPr>
              <a:t>              2. Signes physiques :</a:t>
            </a:r>
          </a:p>
          <a:p>
            <a:r>
              <a:rPr lang="fr-FR" dirty="0" smtClean="0">
                <a:latin typeface="Calibri" pitchFamily="34" charset="0"/>
                <a:cs typeface="Calibri" pitchFamily="34" charset="0"/>
              </a:rPr>
              <a:t>Brièveté du cou.</a:t>
            </a:r>
          </a:p>
          <a:p>
            <a:r>
              <a:rPr lang="fr-FR" dirty="0" smtClean="0">
                <a:latin typeface="Calibri" pitchFamily="34" charset="0"/>
                <a:cs typeface="Calibri" pitchFamily="34" charset="0"/>
              </a:rPr>
              <a:t>Implantation basse des cheveux.</a:t>
            </a:r>
          </a:p>
          <a:p>
            <a:r>
              <a:rPr lang="fr-FR" dirty="0" smtClean="0">
                <a:latin typeface="Calibri" pitchFamily="34" charset="0"/>
                <a:cs typeface="Calibri" pitchFamily="34" charset="0"/>
              </a:rPr>
              <a:t>Signes neurologiques très variables.</a:t>
            </a:r>
          </a:p>
          <a:p>
            <a:pPr>
              <a:buNone/>
            </a:pPr>
            <a:r>
              <a:rPr lang="fr-FR" dirty="0" smtClean="0">
                <a:latin typeface="Calibri" pitchFamily="34" charset="0"/>
                <a:cs typeface="Calibri" pitchFamily="34" charset="0"/>
              </a:rPr>
              <a:t>             - Troubles de l'équilibre de type vestibulaire (crises vertigineuses) ou cérébelleux.</a:t>
            </a:r>
          </a:p>
          <a:p>
            <a:pPr>
              <a:buNone/>
            </a:pPr>
            <a:r>
              <a:rPr lang="fr-FR" dirty="0" smtClean="0">
                <a:latin typeface="Calibri" pitchFamily="34" charset="0"/>
                <a:cs typeface="Calibri" pitchFamily="34" charset="0"/>
              </a:rPr>
              <a:t>             - Paresthésie des membres.</a:t>
            </a:r>
          </a:p>
          <a:p>
            <a:pPr>
              <a:buNone/>
            </a:pPr>
            <a:r>
              <a:rPr lang="fr-FR" dirty="0" smtClean="0">
                <a:latin typeface="Calibri" pitchFamily="34" charset="0"/>
                <a:cs typeface="Calibri" pitchFamily="34" charset="0"/>
              </a:rPr>
              <a:t>             - Déficit moteur.</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normAutofit/>
          </a:bodyPr>
          <a:lstStyle/>
          <a:p>
            <a:pPr>
              <a:buNone/>
            </a:pPr>
            <a:r>
              <a:rPr lang="fr-FR" u="sng" dirty="0" smtClean="0">
                <a:latin typeface="Calibri" pitchFamily="34" charset="0"/>
                <a:cs typeface="Calibri" pitchFamily="34" charset="0"/>
              </a:rPr>
              <a:t>A la phase d’état</a:t>
            </a:r>
            <a:r>
              <a:rPr lang="fr-FR" dirty="0" smtClean="0">
                <a:latin typeface="Calibri" pitchFamily="34" charset="0"/>
                <a:cs typeface="Calibri" pitchFamily="34" charset="0"/>
              </a:rPr>
              <a:t>, la symptomatologie est caractérisée par :</a:t>
            </a:r>
          </a:p>
          <a:p>
            <a:r>
              <a:rPr lang="fr-FR" dirty="0" smtClean="0">
                <a:latin typeface="Calibri" pitchFamily="34" charset="0"/>
                <a:cs typeface="Calibri" pitchFamily="34" charset="0"/>
              </a:rPr>
              <a:t>Syndrome bulbaire avec atteinte des dernières paires crâniennes (IX, X, XI, XII) avec troubles de la déglutition et de la phonation ;</a:t>
            </a:r>
          </a:p>
          <a:p>
            <a:r>
              <a:rPr lang="fr-FR" dirty="0" smtClean="0">
                <a:latin typeface="Calibri" pitchFamily="34" charset="0"/>
                <a:cs typeface="Calibri" pitchFamily="34" charset="0"/>
              </a:rPr>
              <a:t>Troubles </a:t>
            </a:r>
            <a:r>
              <a:rPr lang="fr-FR" dirty="0" err="1" smtClean="0">
                <a:latin typeface="Calibri" pitchFamily="34" charset="0"/>
                <a:cs typeface="Calibri" pitchFamily="34" charset="0"/>
              </a:rPr>
              <a:t>vestibulo</a:t>
            </a:r>
            <a:r>
              <a:rPr lang="fr-FR" dirty="0" smtClean="0">
                <a:latin typeface="Calibri" pitchFamily="34" charset="0"/>
                <a:cs typeface="Calibri" pitchFamily="34" charset="0"/>
              </a:rPr>
              <a:t>-cérébelleux, se traduisant par un syndrome cérébelleux statique et par un nystagmus ;</a:t>
            </a:r>
          </a:p>
          <a:p>
            <a:r>
              <a:rPr lang="fr-FR" dirty="0" smtClean="0">
                <a:latin typeface="Calibri" pitchFamily="34" charset="0"/>
                <a:cs typeface="Calibri" pitchFamily="34" charset="0"/>
              </a:rPr>
              <a:t>Syndrome médullaire variable : réalise , une paralysie spasmodique ou encore une </a:t>
            </a:r>
            <a:r>
              <a:rPr lang="fr-FR" dirty="0" err="1" smtClean="0">
                <a:latin typeface="Calibri" pitchFamily="34" charset="0"/>
                <a:cs typeface="Calibri" pitchFamily="34" charset="0"/>
              </a:rPr>
              <a:t>tétraparésie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Evolution :</a:t>
            </a:r>
            <a:endParaRPr lang="fr-FR" dirty="0"/>
          </a:p>
        </p:txBody>
      </p:sp>
      <p:sp>
        <p:nvSpPr>
          <p:cNvPr id="3" name="Espace réservé du contenu 2"/>
          <p:cNvSpPr>
            <a:spLocks noGrp="1"/>
          </p:cNvSpPr>
          <p:nvPr>
            <p:ph sz="quarter" idx="1"/>
          </p:nvPr>
        </p:nvSpPr>
        <p:spPr/>
        <p:txBody>
          <a:bodyPr/>
          <a:lstStyle/>
          <a:p>
            <a:endParaRPr lang="fr-FR" dirty="0" smtClean="0"/>
          </a:p>
          <a:p>
            <a:pPr>
              <a:buNone/>
            </a:pPr>
            <a:endParaRPr lang="fr-FR" dirty="0" smtClean="0"/>
          </a:p>
          <a:p>
            <a:r>
              <a:rPr lang="fr-FR" dirty="0" smtClean="0">
                <a:latin typeface="Calibri" pitchFamily="34" charset="0"/>
                <a:cs typeface="Calibri" pitchFamily="34" charset="0"/>
              </a:rPr>
              <a:t>Longtemps progressive, elle est plus invalidante que mortelle. Certaines malformations resteront latentes toute la vie.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V. EXPLORATION </a:t>
            </a:r>
            <a:r>
              <a:rPr lang="fr-FR" dirty="0" smtClean="0"/>
              <a:t>RADIOLOGIQUE :</a:t>
            </a:r>
            <a:endParaRPr lang="fr-FR" dirty="0"/>
          </a:p>
        </p:txBody>
      </p:sp>
      <p:sp>
        <p:nvSpPr>
          <p:cNvPr id="3" name="Espace réservé du contenu 2"/>
          <p:cNvSpPr>
            <a:spLocks noGrp="1"/>
          </p:cNvSpPr>
          <p:nvPr>
            <p:ph sz="quarter" idx="1"/>
          </p:nvPr>
        </p:nvSpPr>
        <p:spPr/>
        <p:txBody>
          <a:bodyPr/>
          <a:lstStyle/>
          <a:p>
            <a:r>
              <a:rPr lang="fr-FR" dirty="0" smtClean="0">
                <a:solidFill>
                  <a:srgbClr val="FF0000"/>
                </a:solidFill>
                <a:latin typeface="Calibri" pitchFamily="34" charset="0"/>
                <a:cs typeface="Calibri" pitchFamily="34" charset="0"/>
              </a:rPr>
              <a:t>Radiographie standards </a:t>
            </a:r>
            <a:r>
              <a:rPr lang="fr-FR" dirty="0" smtClean="0">
                <a:latin typeface="Calibri" pitchFamily="34" charset="0"/>
                <a:cs typeface="Calibri" pitchFamily="34" charset="0"/>
              </a:rPr>
              <a:t>: c’est la première approche des lésions osseuses, elle permet de faire une étude dynamique de la charnière (à la recherche d’instabilité).</a:t>
            </a:r>
          </a:p>
          <a:p>
            <a:pPr>
              <a:buNone/>
            </a:pPr>
            <a:r>
              <a:rPr lang="fr-FR" dirty="0" smtClean="0">
                <a:latin typeface="Calibri" pitchFamily="34" charset="0"/>
                <a:cs typeface="Calibri" pitchFamily="34" charset="0"/>
              </a:rPr>
              <a:t>   Les incidences :</a:t>
            </a:r>
          </a:p>
          <a:p>
            <a:pPr>
              <a:buNone/>
            </a:pPr>
            <a:r>
              <a:rPr lang="fr-FR" dirty="0" smtClean="0">
                <a:latin typeface="Calibri" pitchFamily="34" charset="0"/>
                <a:cs typeface="Calibri" pitchFamily="34" charset="0"/>
              </a:rPr>
              <a:t>                 - </a:t>
            </a:r>
            <a:r>
              <a:rPr lang="fr-FR" u="sng" dirty="0" smtClean="0">
                <a:latin typeface="Calibri" pitchFamily="34" charset="0"/>
                <a:cs typeface="Calibri" pitchFamily="34" charset="0"/>
              </a:rPr>
              <a:t>Profil : </a:t>
            </a:r>
            <a:r>
              <a:rPr lang="fr-FR" dirty="0" smtClean="0">
                <a:latin typeface="Calibri" pitchFamily="34" charset="0"/>
                <a:cs typeface="Calibri" pitchFamily="34" charset="0"/>
              </a:rPr>
              <a:t>centrée sur la charnière</a:t>
            </a:r>
          </a:p>
          <a:p>
            <a:pPr>
              <a:buNone/>
            </a:pPr>
            <a:r>
              <a:rPr lang="fr-FR" dirty="0" smtClean="0">
                <a:latin typeface="Calibri" pitchFamily="34" charset="0"/>
                <a:cs typeface="Calibri" pitchFamily="34" charset="0"/>
              </a:rPr>
              <a:t>                 - </a:t>
            </a:r>
            <a:r>
              <a:rPr lang="fr-FR" u="sng" dirty="0" smtClean="0">
                <a:latin typeface="Calibri" pitchFamily="34" charset="0"/>
                <a:cs typeface="Calibri" pitchFamily="34" charset="0"/>
              </a:rPr>
              <a:t>Face : </a:t>
            </a:r>
            <a:r>
              <a:rPr lang="fr-FR" dirty="0" smtClean="0">
                <a:latin typeface="Calibri" pitchFamily="34" charset="0"/>
                <a:cs typeface="Calibri" pitchFamily="34" charset="0"/>
              </a:rPr>
              <a:t>bouche ouverte</a:t>
            </a:r>
          </a:p>
          <a:p>
            <a:pPr>
              <a:buNone/>
            </a:pPr>
            <a:r>
              <a:rPr lang="fr-FR" dirty="0" smtClean="0">
                <a:latin typeface="Calibri" pitchFamily="34" charset="0"/>
                <a:cs typeface="Calibri" pitchFamily="34" charset="0"/>
              </a:rPr>
              <a:t>                 - </a:t>
            </a:r>
            <a:r>
              <a:rPr lang="fr-FR" u="sng" dirty="0" smtClean="0">
                <a:latin typeface="Calibri" pitchFamily="34" charset="0"/>
                <a:cs typeface="Calibri" pitchFamily="34" charset="0"/>
              </a:rPr>
              <a:t>Dynamique : </a:t>
            </a:r>
            <a:r>
              <a:rPr lang="fr-FR" dirty="0" smtClean="0">
                <a:latin typeface="Calibri" pitchFamily="34" charset="0"/>
                <a:cs typeface="Calibri" pitchFamily="34" charset="0"/>
              </a:rPr>
              <a:t>flexion / extension</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endParaRPr lang="fr-FR" dirty="0" smtClean="0"/>
          </a:p>
          <a:p>
            <a:r>
              <a:rPr lang="fr-FR" dirty="0" smtClean="0">
                <a:solidFill>
                  <a:srgbClr val="FF0000"/>
                </a:solidFill>
                <a:latin typeface="Calibri" pitchFamily="34" charset="0"/>
                <a:cs typeface="Calibri" pitchFamily="34" charset="0"/>
              </a:rPr>
              <a:t>TDM : </a:t>
            </a:r>
            <a:r>
              <a:rPr lang="fr-FR" dirty="0" smtClean="0">
                <a:latin typeface="Calibri" pitchFamily="34" charset="0"/>
                <a:cs typeface="Calibri" pitchFamily="34" charset="0"/>
              </a:rPr>
              <a:t>elle explore mieux les anomalies osseuses et permet de faire des reconstructions 3D.</a:t>
            </a:r>
          </a:p>
          <a:p>
            <a:endParaRPr lang="fr-FR" dirty="0" smtClean="0">
              <a:latin typeface="Calibri" pitchFamily="34" charset="0"/>
              <a:cs typeface="Calibri" pitchFamily="34" charset="0"/>
            </a:endParaRPr>
          </a:p>
          <a:p>
            <a:r>
              <a:rPr lang="fr-FR" dirty="0" smtClean="0">
                <a:solidFill>
                  <a:srgbClr val="FF0000"/>
                </a:solidFill>
                <a:latin typeface="Calibri" pitchFamily="34" charset="0"/>
                <a:cs typeface="Calibri" pitchFamily="34" charset="0"/>
              </a:rPr>
              <a:t>IRM : </a:t>
            </a:r>
            <a:r>
              <a:rPr lang="fr-FR" dirty="0" smtClean="0">
                <a:latin typeface="Calibri" pitchFamily="34" charset="0"/>
                <a:cs typeface="Calibri" pitchFamily="34" charset="0"/>
              </a:rPr>
              <a:t>elle explore mieux les anomalies nerveuses. Elle apprécie l'importance des malformations nerveuses et leurs retentissements sur le névraxe. Enfin, elle permet l’étude des structures ligamentaires et la cinétique du LCR.</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smtClean="0">
                <a:solidFill>
                  <a:srgbClr val="FF0000"/>
                </a:solidFill>
                <a:latin typeface="Calibri" pitchFamily="34" charset="0"/>
                <a:cs typeface="Calibri" pitchFamily="34" charset="0"/>
              </a:rPr>
              <a:t>Craniométrie de la charnière </a:t>
            </a:r>
            <a:r>
              <a:rPr lang="fr-FR" dirty="0" err="1" smtClean="0">
                <a:solidFill>
                  <a:srgbClr val="FF0000"/>
                </a:solidFill>
                <a:latin typeface="Calibri" pitchFamily="34" charset="0"/>
                <a:cs typeface="Calibri" pitchFamily="34" charset="0"/>
              </a:rPr>
              <a:t>occipito</a:t>
            </a:r>
            <a:r>
              <a:rPr lang="fr-FR" dirty="0" smtClean="0">
                <a:solidFill>
                  <a:srgbClr val="FF0000"/>
                </a:solidFill>
                <a:latin typeface="Calibri" pitchFamily="34" charset="0"/>
                <a:cs typeface="Calibri" pitchFamily="34" charset="0"/>
              </a:rPr>
              <a:t>-vertébrale de </a:t>
            </a:r>
          </a:p>
          <a:p>
            <a:pPr>
              <a:buNone/>
            </a:pPr>
            <a:r>
              <a:rPr lang="fr-FR" dirty="0" smtClean="0">
                <a:solidFill>
                  <a:srgbClr val="FF0000"/>
                </a:solidFill>
                <a:latin typeface="Calibri" pitchFamily="34" charset="0"/>
                <a:cs typeface="Calibri" pitchFamily="34" charset="0"/>
              </a:rPr>
              <a:t>« FACE » (Fig.3)</a:t>
            </a:r>
            <a:endParaRPr lang="fr-FR" dirty="0">
              <a:solidFill>
                <a:srgbClr val="FF0000"/>
              </a:solidFill>
              <a:latin typeface="Calibri" pitchFamily="34" charset="0"/>
              <a:cs typeface="Calibri" pitchFamily="34" charset="0"/>
            </a:endParaRPr>
          </a:p>
        </p:txBody>
      </p:sp>
      <p:sp>
        <p:nvSpPr>
          <p:cNvPr id="4" name="Rectangle 3"/>
          <p:cNvSpPr/>
          <p:nvPr/>
        </p:nvSpPr>
        <p:spPr>
          <a:xfrm>
            <a:off x="428596" y="2928934"/>
            <a:ext cx="8215370" cy="3139321"/>
          </a:xfrm>
          <a:prstGeom prst="rect">
            <a:avLst/>
          </a:prstGeom>
        </p:spPr>
        <p:txBody>
          <a:bodyPr wrap="square">
            <a:spAutoFit/>
          </a:bodyPr>
          <a:lstStyle/>
          <a:p>
            <a:r>
              <a:rPr lang="fr-FR" u="sng" dirty="0" smtClean="0">
                <a:latin typeface="Calibri" pitchFamily="34" charset="0"/>
                <a:cs typeface="Calibri" pitchFamily="34" charset="0"/>
              </a:rPr>
              <a:t>La ligne </a:t>
            </a:r>
            <a:r>
              <a:rPr lang="fr-FR" u="sng" dirty="0" err="1" smtClean="0">
                <a:latin typeface="Calibri" pitchFamily="34" charset="0"/>
                <a:cs typeface="Calibri" pitchFamily="34" charset="0"/>
              </a:rPr>
              <a:t>bimastoïdienne</a:t>
            </a:r>
            <a:r>
              <a:rPr lang="fr-FR" u="sng" dirty="0" smtClean="0">
                <a:latin typeface="Calibri" pitchFamily="34" charset="0"/>
                <a:cs typeface="Calibri" pitchFamily="34" charset="0"/>
              </a:rPr>
              <a:t> de </a:t>
            </a:r>
            <a:r>
              <a:rPr lang="fr-FR" u="sng" dirty="0" err="1" smtClean="0">
                <a:latin typeface="Calibri" pitchFamily="34" charset="0"/>
                <a:cs typeface="Calibri" pitchFamily="34" charset="0"/>
              </a:rPr>
              <a:t>Fishgold</a:t>
            </a:r>
            <a:r>
              <a:rPr lang="fr-FR" u="sng" dirty="0" smtClean="0">
                <a:latin typeface="Calibri" pitchFamily="34" charset="0"/>
                <a:cs typeface="Calibri" pitchFamily="34" charset="0"/>
              </a:rPr>
              <a:t> </a:t>
            </a:r>
            <a:r>
              <a:rPr lang="fr-FR" dirty="0" smtClean="0">
                <a:latin typeface="Calibri" pitchFamily="34" charset="0"/>
                <a:cs typeface="Calibri" pitchFamily="34" charset="0"/>
              </a:rPr>
              <a:t>: obtenue en réunissant la pointe des mastoïdes. Elle passe normalement par les articulations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-atloïdiennes et la pointe de l’odontoïde qui peut la dépasser de quelques millimètres. </a:t>
            </a:r>
          </a:p>
          <a:p>
            <a:endParaRPr lang="fr-FR" dirty="0" smtClean="0">
              <a:latin typeface="Calibri" pitchFamily="34" charset="0"/>
              <a:cs typeface="Calibri" pitchFamily="34" charset="0"/>
            </a:endParaRPr>
          </a:p>
          <a:p>
            <a:endParaRPr lang="fr-FR" dirty="0" smtClean="0">
              <a:latin typeface="Calibri" pitchFamily="34" charset="0"/>
              <a:cs typeface="Calibri" pitchFamily="34" charset="0"/>
            </a:endParaRPr>
          </a:p>
          <a:p>
            <a:r>
              <a:rPr lang="fr-FR" u="sng" dirty="0" smtClean="0">
                <a:latin typeface="Calibri" pitchFamily="34" charset="0"/>
                <a:cs typeface="Calibri" pitchFamily="34" charset="0"/>
              </a:rPr>
              <a:t>Ligne bi-digastrique de </a:t>
            </a:r>
            <a:r>
              <a:rPr lang="fr-FR" u="sng" dirty="0" err="1" smtClean="0">
                <a:latin typeface="Calibri" pitchFamily="34" charset="0"/>
                <a:cs typeface="Calibri" pitchFamily="34" charset="0"/>
              </a:rPr>
              <a:t>Fishgold</a:t>
            </a:r>
            <a:r>
              <a:rPr lang="fr-FR" u="sng" dirty="0" smtClean="0">
                <a:latin typeface="Calibri" pitchFamily="34" charset="0"/>
                <a:cs typeface="Calibri" pitchFamily="34" charset="0"/>
              </a:rPr>
              <a:t> </a:t>
            </a:r>
            <a:r>
              <a:rPr lang="fr-FR" dirty="0" smtClean="0">
                <a:latin typeface="Calibri" pitchFamily="34" charset="0"/>
                <a:cs typeface="Calibri" pitchFamily="34" charset="0"/>
              </a:rPr>
              <a:t>: obtenue en réunissant les deux rainures digastriques (union mastoïde et bas du crâne), passe normalement 1,5 cm au-dessus des articulations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 atloïdiennes et du somment de l’odontoïde</a:t>
            </a:r>
          </a:p>
          <a:p>
            <a:endParaRPr lang="fr-FR" dirty="0" smtClean="0">
              <a:latin typeface="Calibri" pitchFamily="34" charset="0"/>
              <a:cs typeface="Calibri" pitchFamily="34" charset="0"/>
            </a:endParaRPr>
          </a:p>
          <a:p>
            <a:endParaRPr lang="fr-FR" u="sng" dirty="0" smtClean="0">
              <a:latin typeface="Calibri" pitchFamily="34" charset="0"/>
              <a:cs typeface="Calibri" pitchFamily="34" charset="0"/>
            </a:endParaRPr>
          </a:p>
          <a:p>
            <a:endParaRPr lang="fr-FR" u="sng" dirty="0" smtClean="0"/>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5656" name="Rectangle 56"/>
          <p:cNvSpPr>
            <a:spLocks noGrp="1" noChangeArrowheads="1"/>
          </p:cNvSpPr>
          <p:nvPr>
            <p:ph type="title"/>
          </p:nvPr>
        </p:nvSpPr>
        <p:spPr>
          <a:xfrm>
            <a:off x="3000364" y="0"/>
            <a:ext cx="3929090" cy="642918"/>
          </a:xfrm>
          <a:solidFill>
            <a:schemeClr val="accent1"/>
          </a:solidFill>
          <a:ln>
            <a:solidFill>
              <a:schemeClr val="bg1">
                <a:lumMod val="20000"/>
                <a:lumOff val="80000"/>
              </a:schemeClr>
            </a:solidFill>
          </a:ln>
        </p:spPr>
        <p:txBody>
          <a:bodyPr/>
          <a:lstStyle/>
          <a:p>
            <a:pPr eaLnBrk="1" hangingPunct="1">
              <a:defRPr/>
            </a:pPr>
            <a:r>
              <a:rPr lang="fr-FR" sz="2800" b="1" dirty="0" smtClean="0">
                <a:solidFill>
                  <a:srgbClr val="FFFF00"/>
                </a:solidFill>
              </a:rPr>
              <a:t>Face (plan frontal)</a:t>
            </a:r>
          </a:p>
        </p:txBody>
      </p:sp>
      <p:sp>
        <p:nvSpPr>
          <p:cNvPr id="25659" name="Line 59"/>
          <p:cNvSpPr>
            <a:spLocks noChangeShapeType="1"/>
          </p:cNvSpPr>
          <p:nvPr/>
        </p:nvSpPr>
        <p:spPr bwMode="auto">
          <a:xfrm flipV="1">
            <a:off x="3143240" y="1428735"/>
            <a:ext cx="4981556" cy="45719"/>
          </a:xfrm>
          <a:prstGeom prst="line">
            <a:avLst/>
          </a:prstGeom>
          <a:noFill/>
          <a:ln w="31750" cap="rnd">
            <a:solidFill>
              <a:srgbClr val="003399"/>
            </a:solidFill>
            <a:prstDash val="sysDot"/>
            <a:round/>
            <a:headEnd/>
            <a:tailEnd/>
          </a:ln>
        </p:spPr>
        <p:txBody>
          <a:bodyPr/>
          <a:lstStyle/>
          <a:p>
            <a:endParaRPr lang="fr-FR"/>
          </a:p>
        </p:txBody>
      </p:sp>
      <p:sp>
        <p:nvSpPr>
          <p:cNvPr id="25681" name="Text Box 81"/>
          <p:cNvSpPr txBox="1">
            <a:spLocks noChangeArrowheads="1"/>
          </p:cNvSpPr>
          <p:nvPr/>
        </p:nvSpPr>
        <p:spPr bwMode="auto">
          <a:xfrm>
            <a:off x="0" y="6000768"/>
            <a:ext cx="3286116" cy="461665"/>
          </a:xfrm>
          <a:prstGeom prst="rect">
            <a:avLst/>
          </a:prstGeom>
          <a:noFill/>
          <a:ln w="9525">
            <a:noFill/>
            <a:miter lim="800000"/>
            <a:headEnd/>
            <a:tailEnd/>
          </a:ln>
        </p:spPr>
        <p:txBody>
          <a:bodyPr wrap="square">
            <a:spAutoFit/>
          </a:bodyPr>
          <a:lstStyle/>
          <a:p>
            <a:pPr>
              <a:spcBef>
                <a:spcPct val="50000"/>
              </a:spcBef>
            </a:pPr>
            <a:r>
              <a:rPr lang="fr-FR" sz="2400" b="1" dirty="0">
                <a:solidFill>
                  <a:srgbClr val="00B0F0"/>
                </a:solidFill>
                <a:latin typeface="Arial Unicode MS" pitchFamily="34" charset="-128"/>
                <a:ea typeface="Arial Unicode MS" pitchFamily="34" charset="-128"/>
                <a:cs typeface="Arial Unicode MS" pitchFamily="34" charset="-128"/>
              </a:rPr>
              <a:t>Ligne </a:t>
            </a:r>
            <a:r>
              <a:rPr lang="fr-FR" sz="2400" b="1" dirty="0" err="1">
                <a:solidFill>
                  <a:srgbClr val="00B0F0"/>
                </a:solidFill>
                <a:latin typeface="Arial Unicode MS" pitchFamily="34" charset="-128"/>
                <a:ea typeface="Arial Unicode MS" pitchFamily="34" charset="-128"/>
                <a:cs typeface="Arial Unicode MS" pitchFamily="34" charset="-128"/>
              </a:rPr>
              <a:t>bimastoidienne</a:t>
            </a:r>
            <a:endParaRPr lang="fr-FR" sz="2400" b="1" dirty="0">
              <a:solidFill>
                <a:srgbClr val="00B0F0"/>
              </a:solidFill>
              <a:latin typeface="Arial Unicode MS" pitchFamily="34" charset="-128"/>
              <a:ea typeface="Arial Unicode MS" pitchFamily="34" charset="-128"/>
              <a:cs typeface="Arial Unicode MS" pitchFamily="34" charset="-128"/>
            </a:endParaRPr>
          </a:p>
        </p:txBody>
      </p:sp>
      <p:sp>
        <p:nvSpPr>
          <p:cNvPr id="25682" name="Text Box 82"/>
          <p:cNvSpPr txBox="1">
            <a:spLocks noChangeArrowheads="1"/>
          </p:cNvSpPr>
          <p:nvPr/>
        </p:nvSpPr>
        <p:spPr bwMode="auto">
          <a:xfrm>
            <a:off x="0" y="5572140"/>
            <a:ext cx="2895600" cy="461963"/>
          </a:xfrm>
          <a:prstGeom prst="rect">
            <a:avLst/>
          </a:prstGeom>
          <a:noFill/>
          <a:ln w="9525">
            <a:noFill/>
            <a:miter lim="800000"/>
            <a:headEnd/>
            <a:tailEnd/>
          </a:ln>
        </p:spPr>
        <p:txBody>
          <a:bodyPr>
            <a:spAutoFit/>
          </a:bodyPr>
          <a:lstStyle/>
          <a:p>
            <a:pPr>
              <a:spcBef>
                <a:spcPct val="50000"/>
              </a:spcBef>
            </a:pPr>
            <a:r>
              <a:rPr lang="fr-FR" sz="2400" b="1" dirty="0">
                <a:solidFill>
                  <a:srgbClr val="FF0000"/>
                </a:solidFill>
                <a:latin typeface="Arial Unicode MS" pitchFamily="34" charset="-128"/>
                <a:ea typeface="Arial Unicode MS" pitchFamily="34" charset="-128"/>
                <a:cs typeface="Arial Unicode MS" pitchFamily="34" charset="-128"/>
              </a:rPr>
              <a:t>Ligne </a:t>
            </a:r>
            <a:r>
              <a:rPr lang="fr-FR" sz="2400" b="1" dirty="0" err="1">
                <a:solidFill>
                  <a:srgbClr val="FF0000"/>
                </a:solidFill>
                <a:latin typeface="Arial Unicode MS" pitchFamily="34" charset="-128"/>
                <a:ea typeface="Arial Unicode MS" pitchFamily="34" charset="-128"/>
                <a:cs typeface="Arial Unicode MS" pitchFamily="34" charset="-128"/>
              </a:rPr>
              <a:t>bidigastrique</a:t>
            </a:r>
            <a:endParaRPr lang="fr-FR" sz="2400" b="1" dirty="0">
              <a:solidFill>
                <a:srgbClr val="FF0000"/>
              </a:solidFill>
              <a:latin typeface="Arial Unicode MS" pitchFamily="34" charset="-128"/>
              <a:ea typeface="Arial Unicode MS" pitchFamily="34" charset="-128"/>
              <a:cs typeface="Arial Unicode MS" pitchFamily="34" charset="-128"/>
            </a:endParaRPr>
          </a:p>
        </p:txBody>
      </p:sp>
      <p:sp>
        <p:nvSpPr>
          <p:cNvPr id="25684" name="Text Box 84"/>
          <p:cNvSpPr txBox="1">
            <a:spLocks noChangeArrowheads="1"/>
          </p:cNvSpPr>
          <p:nvPr/>
        </p:nvSpPr>
        <p:spPr bwMode="auto">
          <a:xfrm>
            <a:off x="0" y="6396335"/>
            <a:ext cx="6215074" cy="461665"/>
          </a:xfrm>
          <a:prstGeom prst="rect">
            <a:avLst/>
          </a:prstGeom>
          <a:noFill/>
          <a:ln w="9525">
            <a:noFill/>
            <a:miter lim="800000"/>
            <a:headEnd/>
            <a:tailEnd/>
          </a:ln>
        </p:spPr>
        <p:txBody>
          <a:bodyPr wrap="square">
            <a:spAutoFit/>
          </a:bodyPr>
          <a:lstStyle/>
          <a:p>
            <a:pPr>
              <a:spcBef>
                <a:spcPct val="50000"/>
              </a:spcBef>
            </a:pPr>
            <a:r>
              <a:rPr lang="fr-FR" sz="2400" b="1" dirty="0">
                <a:solidFill>
                  <a:srgbClr val="FFFF00"/>
                </a:solidFill>
                <a:latin typeface="Arial Unicode MS" pitchFamily="34" charset="-128"/>
                <a:ea typeface="Arial Unicode MS" pitchFamily="34" charset="-128"/>
                <a:cs typeface="Arial Unicode MS" pitchFamily="34" charset="-128"/>
              </a:rPr>
              <a:t>Angle condylien de Schmidt et Fischer</a:t>
            </a:r>
          </a:p>
        </p:txBody>
      </p:sp>
      <p:pic>
        <p:nvPicPr>
          <p:cNvPr id="3074" name="Picture 2"/>
          <p:cNvPicPr>
            <a:picLocks noChangeAspect="1" noChangeArrowheads="1"/>
          </p:cNvPicPr>
          <p:nvPr/>
        </p:nvPicPr>
        <p:blipFill>
          <a:blip r:embed="rId2"/>
          <a:srcRect/>
          <a:stretch>
            <a:fillRect/>
          </a:stretch>
        </p:blipFill>
        <p:spPr bwMode="auto">
          <a:xfrm>
            <a:off x="1428728" y="857232"/>
            <a:ext cx="6000760" cy="450059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normAutofit lnSpcReduction="10000"/>
          </a:bodyPr>
          <a:lstStyle/>
          <a:p>
            <a:r>
              <a:rPr lang="fr-FR" sz="2000" dirty="0" smtClean="0">
                <a:solidFill>
                  <a:srgbClr val="FF0000"/>
                </a:solidFill>
                <a:latin typeface="Calibri" pitchFamily="34" charset="0"/>
                <a:cs typeface="Calibri" pitchFamily="34" charset="0"/>
              </a:rPr>
              <a:t>Craniométrie de la charnière </a:t>
            </a:r>
            <a:r>
              <a:rPr lang="fr-FR" sz="2000" dirty="0" err="1" smtClean="0">
                <a:solidFill>
                  <a:srgbClr val="FF0000"/>
                </a:solidFill>
                <a:latin typeface="Calibri" pitchFamily="34" charset="0"/>
                <a:cs typeface="Calibri" pitchFamily="34" charset="0"/>
              </a:rPr>
              <a:t>occipito</a:t>
            </a:r>
            <a:r>
              <a:rPr lang="fr-FR" sz="2000" dirty="0" smtClean="0">
                <a:solidFill>
                  <a:srgbClr val="FF0000"/>
                </a:solidFill>
                <a:latin typeface="Calibri" pitchFamily="34" charset="0"/>
                <a:cs typeface="Calibri" pitchFamily="34" charset="0"/>
              </a:rPr>
              <a:t>-vertébrale de « PROFIL »</a:t>
            </a:r>
          </a:p>
          <a:p>
            <a:r>
              <a:rPr lang="fr-FR" sz="2000" dirty="0" smtClean="0">
                <a:solidFill>
                  <a:srgbClr val="FF0000"/>
                </a:solidFill>
                <a:latin typeface="Calibri" pitchFamily="34" charset="0"/>
                <a:cs typeface="Calibri" pitchFamily="34" charset="0"/>
              </a:rPr>
              <a:t> La ligne de Chamberlain </a:t>
            </a:r>
            <a:r>
              <a:rPr lang="fr-FR" sz="2000" dirty="0" smtClean="0">
                <a:latin typeface="Calibri" pitchFamily="34" charset="0"/>
                <a:cs typeface="Calibri" pitchFamily="34" charset="0"/>
              </a:rPr>
              <a:t>: unit le bord postérieur du palais osseux au bord postérieur du trou occipital. A l’état normal, le sommet de l’odontoïde et l’arc antérieur de l’atlas restent au-dessous de cette ligne.</a:t>
            </a:r>
          </a:p>
          <a:p>
            <a:endParaRPr lang="fr-FR" sz="2000" dirty="0" smtClean="0">
              <a:latin typeface="Calibri" pitchFamily="34" charset="0"/>
              <a:cs typeface="Calibri" pitchFamily="34" charset="0"/>
            </a:endParaRPr>
          </a:p>
          <a:p>
            <a:r>
              <a:rPr lang="fr-FR" sz="2000" dirty="0" smtClean="0">
                <a:solidFill>
                  <a:srgbClr val="FF0000"/>
                </a:solidFill>
                <a:latin typeface="Calibri" pitchFamily="34" charset="0"/>
                <a:cs typeface="Calibri" pitchFamily="34" charset="0"/>
              </a:rPr>
              <a:t>Ligne de </a:t>
            </a:r>
            <a:r>
              <a:rPr lang="fr-FR" sz="2000" dirty="0" err="1" smtClean="0">
                <a:solidFill>
                  <a:srgbClr val="FF0000"/>
                </a:solidFill>
                <a:latin typeface="Calibri" pitchFamily="34" charset="0"/>
                <a:cs typeface="Calibri" pitchFamily="34" charset="0"/>
              </a:rPr>
              <a:t>MacGregor</a:t>
            </a:r>
            <a:r>
              <a:rPr lang="fr-FR" sz="2000" dirty="0" smtClean="0">
                <a:solidFill>
                  <a:srgbClr val="FF0000"/>
                </a:solidFill>
                <a:latin typeface="Calibri" pitchFamily="34" charset="0"/>
                <a:cs typeface="Calibri" pitchFamily="34" charset="0"/>
              </a:rPr>
              <a:t> : </a:t>
            </a:r>
            <a:r>
              <a:rPr lang="fr-FR" sz="2000" dirty="0" smtClean="0">
                <a:latin typeface="Calibri" pitchFamily="34" charset="0"/>
                <a:cs typeface="Calibri" pitchFamily="34" charset="0"/>
              </a:rPr>
              <a:t>est utilisée en cas de difficulté à situer le bord postérieur du trou occipital. Cette ligne s’étend entre le bord postérieur du palais osseux et le point le plus déclive de l’écaille occipitale. Tout déplacement du sommet de l’odontoïde de plus de 5 mm au-dessus de cette ligne est considérée comme pathologique.</a:t>
            </a:r>
          </a:p>
          <a:p>
            <a:endParaRPr lang="fr-FR" sz="2000" dirty="0" smtClean="0">
              <a:latin typeface="Calibri" pitchFamily="34" charset="0"/>
              <a:cs typeface="Calibri" pitchFamily="34" charset="0"/>
            </a:endParaRPr>
          </a:p>
          <a:p>
            <a:r>
              <a:rPr lang="fr-FR" sz="2000" dirty="0" smtClean="0">
                <a:solidFill>
                  <a:srgbClr val="FF0000"/>
                </a:solidFill>
                <a:latin typeface="Calibri" pitchFamily="34" charset="0"/>
                <a:cs typeface="Calibri" pitchFamily="34" charset="0"/>
              </a:rPr>
              <a:t>Ligne basilaire de </a:t>
            </a:r>
            <a:r>
              <a:rPr lang="fr-FR" sz="2000" dirty="0" err="1" smtClean="0">
                <a:solidFill>
                  <a:srgbClr val="FF0000"/>
                </a:solidFill>
                <a:latin typeface="Calibri" pitchFamily="34" charset="0"/>
                <a:cs typeface="Calibri" pitchFamily="34" charset="0"/>
              </a:rPr>
              <a:t>Wackenheim</a:t>
            </a:r>
            <a:r>
              <a:rPr lang="fr-FR" sz="2000" dirty="0" smtClean="0">
                <a:solidFill>
                  <a:srgbClr val="FF0000"/>
                </a:solidFill>
                <a:latin typeface="Calibri" pitchFamily="34" charset="0"/>
                <a:cs typeface="Calibri" pitchFamily="34" charset="0"/>
              </a:rPr>
              <a:t> : </a:t>
            </a:r>
            <a:r>
              <a:rPr lang="fr-FR" sz="2000" dirty="0" smtClean="0">
                <a:latin typeface="Calibri" pitchFamily="34" charset="0"/>
                <a:cs typeface="Calibri" pitchFamily="34" charset="0"/>
              </a:rPr>
              <a:t>elle prolonge vers le bas la tangente au </a:t>
            </a:r>
            <a:r>
              <a:rPr lang="fr-FR" sz="2000" dirty="0" err="1" smtClean="0">
                <a:latin typeface="Calibri" pitchFamily="34" charset="0"/>
                <a:cs typeface="Calibri" pitchFamily="34" charset="0"/>
              </a:rPr>
              <a:t>clivus</a:t>
            </a:r>
            <a:r>
              <a:rPr lang="fr-FR" sz="2000" dirty="0" smtClean="0">
                <a:latin typeface="Calibri" pitchFamily="34" charset="0"/>
                <a:cs typeface="Calibri" pitchFamily="34" charset="0"/>
              </a:rPr>
              <a:t>, affleure chez un sujet normal le bord supérieur de l’odontoïde. Elle apprécie le déplacement </a:t>
            </a:r>
            <a:r>
              <a:rPr lang="fr-FR" sz="2000" dirty="0" err="1" smtClean="0">
                <a:latin typeface="Calibri" pitchFamily="34" charset="0"/>
                <a:cs typeface="Calibri" pitchFamily="34" charset="0"/>
              </a:rPr>
              <a:t>antéro-postérieur</a:t>
            </a:r>
            <a:r>
              <a:rPr lang="fr-FR" sz="2000" dirty="0" smtClean="0">
                <a:latin typeface="Calibri" pitchFamily="34" charset="0"/>
                <a:cs typeface="Calibri" pitchFamily="34" charset="0"/>
              </a:rPr>
              <a:t> de l’odontoïde.</a:t>
            </a:r>
          </a:p>
          <a:p>
            <a:endParaRPr lang="fr-FR" sz="2000" dirty="0" smtClean="0">
              <a:latin typeface="Calibri" pitchFamily="34" charset="0"/>
              <a:cs typeface="Calibri" pitchFamily="34" charset="0"/>
            </a:endParaRPr>
          </a:p>
          <a:p>
            <a:endParaRPr lang="fr-FR" sz="2000" dirty="0">
              <a:solidFill>
                <a:srgbClr val="FF0000"/>
              </a:solidFil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8" name="Text Box 6"/>
          <p:cNvSpPr txBox="1">
            <a:spLocks noChangeArrowheads="1"/>
          </p:cNvSpPr>
          <p:nvPr/>
        </p:nvSpPr>
        <p:spPr bwMode="auto">
          <a:xfrm>
            <a:off x="6215074" y="2428868"/>
            <a:ext cx="2928926" cy="523220"/>
          </a:xfrm>
          <a:prstGeom prst="rect">
            <a:avLst/>
          </a:prstGeom>
          <a:noFill/>
          <a:ln w="9525">
            <a:noFill/>
            <a:miter lim="800000"/>
            <a:headEnd/>
            <a:tailEnd/>
          </a:ln>
        </p:spPr>
        <p:txBody>
          <a:bodyPr wrap="square">
            <a:spAutoFit/>
          </a:bodyPr>
          <a:lstStyle/>
          <a:p>
            <a:pPr>
              <a:spcBef>
                <a:spcPct val="50000"/>
              </a:spcBef>
            </a:pPr>
            <a:r>
              <a:rPr lang="fr-FR" sz="1400" b="1" dirty="0">
                <a:solidFill>
                  <a:schemeClr val="tx2"/>
                </a:solidFill>
                <a:latin typeface="Arial Unicode MS" pitchFamily="34" charset="-128"/>
                <a:ea typeface="Arial Unicode MS" pitchFamily="34" charset="-128"/>
                <a:cs typeface="Arial Unicode MS" pitchFamily="34" charset="-128"/>
              </a:rPr>
              <a:t>Ligne palato-sous </a:t>
            </a:r>
            <a:r>
              <a:rPr lang="fr-FR" sz="1400" b="1" dirty="0" smtClean="0">
                <a:solidFill>
                  <a:schemeClr val="tx2"/>
                </a:solidFill>
                <a:latin typeface="Arial Unicode MS" pitchFamily="34" charset="-128"/>
                <a:ea typeface="Arial Unicode MS" pitchFamily="34" charset="-128"/>
                <a:cs typeface="Arial Unicode MS" pitchFamily="34" charset="-128"/>
              </a:rPr>
              <a:t>-occipitale  de </a:t>
            </a:r>
            <a:r>
              <a:rPr lang="fr-FR" sz="1400" b="1" dirty="0">
                <a:solidFill>
                  <a:schemeClr val="tx2"/>
                </a:solidFill>
                <a:latin typeface="Arial Unicode MS" pitchFamily="34" charset="-128"/>
                <a:ea typeface="Arial Unicode MS" pitchFamily="34" charset="-128"/>
                <a:cs typeface="Arial Unicode MS" pitchFamily="34" charset="-128"/>
              </a:rPr>
              <a:t>Mac </a:t>
            </a:r>
            <a:r>
              <a:rPr lang="fr-FR" sz="1400" b="1" dirty="0" smtClean="0">
                <a:solidFill>
                  <a:schemeClr val="tx2"/>
                </a:solidFill>
                <a:latin typeface="Arial Unicode MS" pitchFamily="34" charset="-128"/>
                <a:ea typeface="Arial Unicode MS" pitchFamily="34" charset="-128"/>
                <a:cs typeface="Arial Unicode MS" pitchFamily="34" charset="-128"/>
              </a:rPr>
              <a:t>Gregor</a:t>
            </a:r>
            <a:endParaRPr lang="fr-FR" sz="1400" b="1" dirty="0">
              <a:solidFill>
                <a:schemeClr val="tx2"/>
              </a:solidFill>
              <a:latin typeface="Arial Unicode MS" pitchFamily="34" charset="-128"/>
              <a:ea typeface="Arial Unicode MS" pitchFamily="34" charset="-128"/>
              <a:cs typeface="Arial Unicode MS" pitchFamily="34" charset="-128"/>
            </a:endParaRPr>
          </a:p>
        </p:txBody>
      </p:sp>
      <p:sp>
        <p:nvSpPr>
          <p:cNvPr id="28679" name="Text Box 7"/>
          <p:cNvSpPr txBox="1">
            <a:spLocks noChangeArrowheads="1"/>
          </p:cNvSpPr>
          <p:nvPr/>
        </p:nvSpPr>
        <p:spPr bwMode="auto">
          <a:xfrm>
            <a:off x="0" y="2571744"/>
            <a:ext cx="2928926" cy="584775"/>
          </a:xfrm>
          <a:prstGeom prst="rect">
            <a:avLst/>
          </a:prstGeom>
          <a:noFill/>
          <a:ln w="9525">
            <a:noFill/>
            <a:miter lim="800000"/>
            <a:headEnd/>
            <a:tailEnd/>
          </a:ln>
        </p:spPr>
        <p:txBody>
          <a:bodyPr wrap="square">
            <a:spAutoFit/>
          </a:bodyPr>
          <a:lstStyle/>
          <a:p>
            <a:pPr>
              <a:spcBef>
                <a:spcPct val="50000"/>
              </a:spcBef>
            </a:pPr>
            <a:r>
              <a:rPr lang="fr-FR" sz="1600" b="1" dirty="0">
                <a:solidFill>
                  <a:schemeClr val="tx2"/>
                </a:solidFill>
                <a:latin typeface="Arial Unicode MS" pitchFamily="34" charset="-128"/>
                <a:ea typeface="Arial Unicode MS" pitchFamily="34" charset="-128"/>
                <a:cs typeface="Arial Unicode MS" pitchFamily="34" charset="-128"/>
              </a:rPr>
              <a:t>Ligne </a:t>
            </a:r>
            <a:r>
              <a:rPr lang="fr-FR" sz="1600" b="1" dirty="0" smtClean="0">
                <a:solidFill>
                  <a:schemeClr val="tx2"/>
                </a:solidFill>
                <a:latin typeface="Arial Unicode MS" pitchFamily="34" charset="-128"/>
                <a:ea typeface="Arial Unicode MS" pitchFamily="34" charset="-128"/>
                <a:cs typeface="Arial Unicode MS" pitchFamily="34" charset="-128"/>
              </a:rPr>
              <a:t>palato-occipitale </a:t>
            </a:r>
            <a:r>
              <a:rPr lang="fr-FR" sz="1600" b="1" dirty="0">
                <a:solidFill>
                  <a:schemeClr val="tx2"/>
                </a:solidFill>
                <a:latin typeface="Arial Unicode MS" pitchFamily="34" charset="-128"/>
                <a:ea typeface="Arial Unicode MS" pitchFamily="34" charset="-128"/>
                <a:cs typeface="Arial Unicode MS" pitchFamily="34" charset="-128"/>
              </a:rPr>
              <a:t>de </a:t>
            </a:r>
            <a:r>
              <a:rPr lang="fr-FR" sz="1600" b="1" dirty="0" err="1" smtClean="0">
                <a:solidFill>
                  <a:schemeClr val="tx2"/>
                </a:solidFill>
                <a:latin typeface="Arial Unicode MS" pitchFamily="34" charset="-128"/>
                <a:ea typeface="Arial Unicode MS" pitchFamily="34" charset="-128"/>
                <a:cs typeface="Arial Unicode MS" pitchFamily="34" charset="-128"/>
              </a:rPr>
              <a:t>Chamberlin</a:t>
            </a:r>
            <a:endParaRPr lang="fr-FR" sz="1600" b="1" dirty="0">
              <a:solidFill>
                <a:schemeClr val="tx2"/>
              </a:solidFill>
              <a:latin typeface="Arial Unicode MS" pitchFamily="34" charset="-128"/>
              <a:ea typeface="Arial Unicode MS" pitchFamily="34" charset="-128"/>
              <a:cs typeface="Arial Unicode MS" pitchFamily="34" charset="-128"/>
            </a:endParaRPr>
          </a:p>
        </p:txBody>
      </p:sp>
      <p:sp>
        <p:nvSpPr>
          <p:cNvPr id="28680" name="Text Box 8"/>
          <p:cNvSpPr txBox="1">
            <a:spLocks noChangeArrowheads="1"/>
          </p:cNvSpPr>
          <p:nvPr/>
        </p:nvSpPr>
        <p:spPr bwMode="auto">
          <a:xfrm>
            <a:off x="0" y="4071942"/>
            <a:ext cx="2714612" cy="584775"/>
          </a:xfrm>
          <a:prstGeom prst="rect">
            <a:avLst/>
          </a:prstGeom>
          <a:noFill/>
          <a:ln w="9525">
            <a:noFill/>
            <a:miter lim="800000"/>
            <a:headEnd/>
            <a:tailEnd/>
          </a:ln>
        </p:spPr>
        <p:txBody>
          <a:bodyPr wrap="square">
            <a:spAutoFit/>
          </a:bodyPr>
          <a:lstStyle/>
          <a:p>
            <a:pPr>
              <a:spcBef>
                <a:spcPct val="50000"/>
              </a:spcBef>
            </a:pPr>
            <a:r>
              <a:rPr lang="fr-FR" sz="1600" b="1" dirty="0">
                <a:solidFill>
                  <a:schemeClr val="tx2"/>
                </a:solidFill>
                <a:latin typeface="Arial Unicode MS" pitchFamily="34" charset="-128"/>
                <a:ea typeface="Arial Unicode MS" pitchFamily="34" charset="-128"/>
                <a:cs typeface="Arial Unicode MS" pitchFamily="34" charset="-128"/>
              </a:rPr>
              <a:t>Ligne du trou occipital de Mac </a:t>
            </a:r>
            <a:r>
              <a:rPr lang="fr-FR" sz="1600" b="1" dirty="0" smtClean="0">
                <a:solidFill>
                  <a:schemeClr val="tx2"/>
                </a:solidFill>
                <a:latin typeface="Arial Unicode MS" pitchFamily="34" charset="-128"/>
                <a:ea typeface="Arial Unicode MS" pitchFamily="34" charset="-128"/>
                <a:cs typeface="Arial Unicode MS" pitchFamily="34" charset="-128"/>
              </a:rPr>
              <a:t>Rae</a:t>
            </a:r>
            <a:endParaRPr lang="fr-FR" b="1" dirty="0">
              <a:solidFill>
                <a:schemeClr val="tx2"/>
              </a:solidFill>
              <a:latin typeface="Arial Unicode MS" pitchFamily="34" charset="-128"/>
              <a:ea typeface="Arial Unicode MS" pitchFamily="34" charset="-128"/>
              <a:cs typeface="Arial Unicode MS" pitchFamily="34" charset="-128"/>
            </a:endParaRPr>
          </a:p>
        </p:txBody>
      </p:sp>
      <p:sp>
        <p:nvSpPr>
          <p:cNvPr id="28681" name="Text Box 9"/>
          <p:cNvSpPr txBox="1">
            <a:spLocks noChangeArrowheads="1"/>
          </p:cNvSpPr>
          <p:nvPr/>
        </p:nvSpPr>
        <p:spPr bwMode="auto">
          <a:xfrm>
            <a:off x="6429388" y="4071942"/>
            <a:ext cx="2714612" cy="584775"/>
          </a:xfrm>
          <a:prstGeom prst="rect">
            <a:avLst/>
          </a:prstGeom>
          <a:noFill/>
          <a:ln w="9525">
            <a:noFill/>
            <a:miter lim="800000"/>
            <a:headEnd/>
            <a:tailEnd/>
          </a:ln>
        </p:spPr>
        <p:txBody>
          <a:bodyPr wrap="square">
            <a:spAutoFit/>
          </a:bodyPr>
          <a:lstStyle/>
          <a:p>
            <a:pPr>
              <a:spcBef>
                <a:spcPct val="50000"/>
              </a:spcBef>
            </a:pPr>
            <a:r>
              <a:rPr lang="fr-FR" sz="1600" b="1" dirty="0">
                <a:solidFill>
                  <a:schemeClr val="tx2"/>
                </a:solidFill>
                <a:latin typeface="Arial Unicode MS" pitchFamily="34" charset="-128"/>
                <a:ea typeface="Arial Unicode MS" pitchFamily="34" charset="-128"/>
                <a:cs typeface="Arial Unicode MS" pitchFamily="34" charset="-128"/>
              </a:rPr>
              <a:t>Ligne </a:t>
            </a:r>
            <a:r>
              <a:rPr lang="fr-FR" sz="1600" b="1" dirty="0" smtClean="0">
                <a:solidFill>
                  <a:schemeClr val="tx2"/>
                </a:solidFill>
                <a:latin typeface="Arial Unicode MS" pitchFamily="34" charset="-128"/>
                <a:ea typeface="Arial Unicode MS" pitchFamily="34" charset="-128"/>
                <a:cs typeface="Arial Unicode MS" pitchFamily="34" charset="-128"/>
              </a:rPr>
              <a:t>basilaire  de  </a:t>
            </a:r>
            <a:r>
              <a:rPr lang="fr-FR" sz="1600" b="1" dirty="0" err="1" smtClean="0">
                <a:solidFill>
                  <a:schemeClr val="tx2"/>
                </a:solidFill>
                <a:latin typeface="Arial Unicode MS" pitchFamily="34" charset="-128"/>
                <a:ea typeface="Arial Unicode MS" pitchFamily="34" charset="-128"/>
                <a:cs typeface="Arial Unicode MS" pitchFamily="34" charset="-128"/>
              </a:rPr>
              <a:t>wackenheim</a:t>
            </a:r>
            <a:endParaRPr lang="fr-FR" sz="1600" b="1" dirty="0">
              <a:solidFill>
                <a:schemeClr val="tx2"/>
              </a:solidFill>
              <a:latin typeface="Arial Unicode MS" pitchFamily="34" charset="-128"/>
              <a:ea typeface="Arial Unicode MS" pitchFamily="34" charset="-128"/>
              <a:cs typeface="Arial Unicode MS" pitchFamily="34" charset="-128"/>
            </a:endParaRPr>
          </a:p>
        </p:txBody>
      </p:sp>
      <p:sp>
        <p:nvSpPr>
          <p:cNvPr id="23562" name="Rectangle 12"/>
          <p:cNvSpPr>
            <a:spLocks noChangeArrowheads="1"/>
          </p:cNvSpPr>
          <p:nvPr/>
        </p:nvSpPr>
        <p:spPr bwMode="auto">
          <a:xfrm>
            <a:off x="685800" y="76200"/>
            <a:ext cx="7772400" cy="423863"/>
          </a:xfrm>
          <a:prstGeom prst="rect">
            <a:avLst/>
          </a:prstGeom>
          <a:noFill/>
          <a:ln w="9525">
            <a:noFill/>
            <a:miter lim="800000"/>
            <a:headEnd/>
            <a:tailEnd/>
          </a:ln>
        </p:spPr>
        <p:txBody>
          <a:bodyPr anchor="ctr"/>
          <a:lstStyle/>
          <a:p>
            <a:pPr algn="ctr"/>
            <a:r>
              <a:rPr lang="fr-FR" sz="2400" b="1">
                <a:solidFill>
                  <a:srgbClr val="FFFF00"/>
                </a:solidFill>
                <a:latin typeface="Arial Unicode MS" pitchFamily="34" charset="-128"/>
                <a:ea typeface="Arial Unicode MS" pitchFamily="34" charset="-128"/>
                <a:cs typeface="Arial Unicode MS" pitchFamily="34" charset="-128"/>
              </a:rPr>
              <a:t>Profil (Plan Sagittal)</a:t>
            </a:r>
          </a:p>
        </p:txBody>
      </p:sp>
      <p:pic>
        <p:nvPicPr>
          <p:cNvPr id="2050" name="Picture 2"/>
          <p:cNvPicPr>
            <a:picLocks noChangeAspect="1" noChangeArrowheads="1"/>
          </p:cNvPicPr>
          <p:nvPr/>
        </p:nvPicPr>
        <p:blipFill>
          <a:blip r:embed="rId2"/>
          <a:srcRect/>
          <a:stretch>
            <a:fillRect/>
          </a:stretch>
        </p:blipFill>
        <p:spPr bwMode="auto">
          <a:xfrm>
            <a:off x="0" y="0"/>
            <a:ext cx="2857520" cy="2571768"/>
          </a:xfrm>
          <a:prstGeom prst="rect">
            <a:avLst/>
          </a:prstGeom>
          <a:noFill/>
          <a:ln w="9525">
            <a:noFill/>
            <a:miter lim="800000"/>
            <a:headEnd/>
            <a:tailEnd/>
          </a:ln>
          <a:effectLst/>
        </p:spPr>
      </p:pic>
      <p:pic>
        <p:nvPicPr>
          <p:cNvPr id="2051" name="Picture 3"/>
          <p:cNvPicPr>
            <a:picLocks noChangeAspect="1" noChangeArrowheads="1"/>
          </p:cNvPicPr>
          <p:nvPr/>
        </p:nvPicPr>
        <p:blipFill>
          <a:blip r:embed="rId3"/>
          <a:srcRect/>
          <a:stretch>
            <a:fillRect/>
          </a:stretch>
        </p:blipFill>
        <p:spPr bwMode="auto">
          <a:xfrm>
            <a:off x="6215074" y="0"/>
            <a:ext cx="2928926" cy="2428868"/>
          </a:xfrm>
          <a:prstGeom prst="rect">
            <a:avLst/>
          </a:prstGeom>
          <a:noFill/>
          <a:ln w="9525">
            <a:noFill/>
            <a:miter lim="800000"/>
            <a:headEnd/>
            <a:tailEnd/>
          </a:ln>
          <a:effectLst/>
        </p:spPr>
      </p:pic>
      <p:pic>
        <p:nvPicPr>
          <p:cNvPr id="2052" name="Picture 4"/>
          <p:cNvPicPr>
            <a:picLocks noChangeAspect="1" noChangeArrowheads="1"/>
          </p:cNvPicPr>
          <p:nvPr/>
        </p:nvPicPr>
        <p:blipFill>
          <a:blip r:embed="rId4"/>
          <a:srcRect/>
          <a:stretch>
            <a:fillRect/>
          </a:stretch>
        </p:blipFill>
        <p:spPr bwMode="auto">
          <a:xfrm>
            <a:off x="0" y="4714860"/>
            <a:ext cx="2714643" cy="2143140"/>
          </a:xfrm>
          <a:prstGeom prst="rect">
            <a:avLst/>
          </a:prstGeom>
          <a:noFill/>
          <a:ln w="9525">
            <a:noFill/>
            <a:miter lim="800000"/>
            <a:headEnd/>
            <a:tailEnd/>
          </a:ln>
          <a:effectLst/>
        </p:spPr>
      </p:pic>
      <p:pic>
        <p:nvPicPr>
          <p:cNvPr id="2053" name="Picture 5"/>
          <p:cNvPicPr>
            <a:picLocks noChangeAspect="1" noChangeArrowheads="1"/>
          </p:cNvPicPr>
          <p:nvPr/>
        </p:nvPicPr>
        <p:blipFill>
          <a:blip r:embed="rId5"/>
          <a:srcRect/>
          <a:stretch>
            <a:fillRect/>
          </a:stretch>
        </p:blipFill>
        <p:spPr bwMode="auto">
          <a:xfrm>
            <a:off x="6434141" y="4629150"/>
            <a:ext cx="2709859" cy="2228850"/>
          </a:xfrm>
          <a:prstGeom prst="rect">
            <a:avLst/>
          </a:prstGeom>
          <a:noFill/>
          <a:ln w="9525">
            <a:noFill/>
            <a:miter lim="800000"/>
            <a:headEnd/>
            <a:tailEnd/>
          </a:ln>
          <a:effectLst/>
        </p:spPr>
      </p:pic>
      <p:pic>
        <p:nvPicPr>
          <p:cNvPr id="11" name="Picture 3"/>
          <p:cNvPicPr>
            <a:picLocks noChangeAspect="1" noChangeArrowheads="1"/>
          </p:cNvPicPr>
          <p:nvPr/>
        </p:nvPicPr>
        <p:blipFill>
          <a:blip r:embed="rId6"/>
          <a:srcRect/>
          <a:stretch>
            <a:fillRect/>
          </a:stretch>
        </p:blipFill>
        <p:spPr bwMode="auto">
          <a:xfrm>
            <a:off x="2928926" y="1071546"/>
            <a:ext cx="3214678" cy="3886208"/>
          </a:xfrm>
          <a:prstGeom prst="rect">
            <a:avLst/>
          </a:prstGeom>
          <a:noFill/>
          <a:ln w="9525">
            <a:noFill/>
            <a:miter lim="800000"/>
            <a:headEnd/>
            <a:tailEnd/>
          </a:ln>
          <a:effectLst/>
        </p:spPr>
      </p:pic>
      <p:sp>
        <p:nvSpPr>
          <p:cNvPr id="12" name="Rectangle 11"/>
          <p:cNvSpPr/>
          <p:nvPr/>
        </p:nvSpPr>
        <p:spPr>
          <a:xfrm>
            <a:off x="2928926" y="5000636"/>
            <a:ext cx="3214710" cy="642942"/>
          </a:xfrm>
          <a:prstGeom prst="rect">
            <a:avLst/>
          </a:prstGeom>
          <a:solidFill>
            <a:schemeClr val="accent2"/>
          </a:solid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r>
              <a:rPr lang="fr-FR" dirty="0" smtClean="0"/>
              <a:t>Angle basal de Welcker</a:t>
            </a:r>
          </a:p>
          <a:p>
            <a:pPr algn="ctr"/>
            <a:r>
              <a:rPr lang="fr-FR" dirty="0" smtClean="0"/>
              <a:t>&lt; 140 °</a:t>
            </a:r>
            <a:endParaRPr lang="ar-DZ"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VI. ANATOMIE </a:t>
            </a:r>
            <a:r>
              <a:rPr lang="fr-FR" dirty="0" smtClean="0"/>
              <a:t>PATHOLOGIE</a:t>
            </a:r>
            <a:endParaRPr lang="fr-FR" dirty="0"/>
          </a:p>
        </p:txBody>
      </p:sp>
      <p:sp>
        <p:nvSpPr>
          <p:cNvPr id="3" name="Espace réservé du contenu 2"/>
          <p:cNvSpPr>
            <a:spLocks noGrp="1"/>
          </p:cNvSpPr>
          <p:nvPr>
            <p:ph sz="quarter" idx="1"/>
          </p:nvPr>
        </p:nvSpPr>
        <p:spPr/>
        <p:txBody>
          <a:bodyPr/>
          <a:lstStyle/>
          <a:p>
            <a:r>
              <a:rPr lang="fr-FR" dirty="0" smtClean="0">
                <a:solidFill>
                  <a:srgbClr val="FF0000"/>
                </a:solidFill>
                <a:latin typeface="Calibri" pitchFamily="34" charset="0"/>
                <a:cs typeface="Calibri" pitchFamily="34" charset="0"/>
              </a:rPr>
              <a:t>A. Malformations osseuses :</a:t>
            </a:r>
          </a:p>
          <a:p>
            <a:endParaRPr lang="fr-FR" dirty="0" smtClean="0">
              <a:latin typeface="Calibri" pitchFamily="34" charset="0"/>
              <a:cs typeface="Calibri" pitchFamily="34" charset="0"/>
            </a:endParaRPr>
          </a:p>
          <a:p>
            <a:pPr>
              <a:buNone/>
            </a:pPr>
            <a:r>
              <a:rPr lang="fr-FR" dirty="0" smtClean="0">
                <a:latin typeface="Calibri" pitchFamily="34" charset="0"/>
                <a:cs typeface="Calibri" pitchFamily="34" charset="0"/>
              </a:rPr>
              <a:t>   Elles peuvent être majeurs responsable de sténose </a:t>
            </a:r>
            <a:r>
              <a:rPr lang="fr-FR" dirty="0" err="1" smtClean="0">
                <a:latin typeface="Calibri" pitchFamily="34" charset="0"/>
                <a:cs typeface="Calibri" pitchFamily="34" charset="0"/>
              </a:rPr>
              <a:t>canalaire</a:t>
            </a:r>
            <a:r>
              <a:rPr lang="fr-FR" dirty="0" smtClean="0">
                <a:latin typeface="Calibri" pitchFamily="34" charset="0"/>
                <a:cs typeface="Calibri" pitchFamily="34" charset="0"/>
              </a:rPr>
              <a:t> et de compression neurologique ou être mineurs sans gravité notable mais qui peuvent prêter confusion avec d’autres anomalies notamment traumatiques. Les malformations les plus graves et les plus fréquentes :</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smtClean="0">
                <a:solidFill>
                  <a:srgbClr val="FF0000"/>
                </a:solidFill>
                <a:latin typeface="Calibri" pitchFamily="34" charset="0"/>
                <a:cs typeface="Calibri" pitchFamily="34" charset="0"/>
              </a:rPr>
              <a:t>1. Impression basilaire:</a:t>
            </a:r>
          </a:p>
          <a:p>
            <a:pPr>
              <a:buNone/>
            </a:pPr>
            <a:r>
              <a:rPr lang="fr-FR" dirty="0" smtClean="0">
                <a:latin typeface="Calibri" pitchFamily="34" charset="0"/>
                <a:cs typeface="Calibri" pitchFamily="34" charset="0"/>
              </a:rPr>
              <a:t>C’est La plus fréquente, correspond à l'enfoncement dans le crâne du pourtour du trou occipital et des parties voisines. Il s’ensuit une réduction du volume de la FCP et une remontée de l’apophyse odontoïde dans le trou occipital.</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3"/>
          <p:cNvPicPr>
            <a:picLocks noChangeAspect="1" noChangeArrowheads="1"/>
          </p:cNvPicPr>
          <p:nvPr/>
        </p:nvPicPr>
        <p:blipFill>
          <a:blip r:embed="rId2">
            <a:lum contrast="6000"/>
          </a:blip>
          <a:srcRect l="33000" t="16667" r="28000" b="11333"/>
          <a:stretch>
            <a:fillRect/>
          </a:stretch>
        </p:blipFill>
        <p:spPr bwMode="auto">
          <a:xfrm>
            <a:off x="428596" y="571480"/>
            <a:ext cx="4357687" cy="5302250"/>
          </a:xfrm>
          <a:prstGeom prst="rect">
            <a:avLst/>
          </a:prstGeom>
          <a:noFill/>
          <a:ln w="9525">
            <a:noFill/>
            <a:miter lim="800000"/>
            <a:headEnd/>
            <a:tailEnd/>
          </a:ln>
        </p:spPr>
      </p:pic>
      <p:pic>
        <p:nvPicPr>
          <p:cNvPr id="3" name="Picture 2"/>
          <p:cNvPicPr>
            <a:picLocks noChangeAspect="1" noChangeArrowheads="1"/>
          </p:cNvPicPr>
          <p:nvPr/>
        </p:nvPicPr>
        <p:blipFill>
          <a:blip r:embed="rId3">
            <a:lum bright="6000" contrast="24000"/>
          </a:blip>
          <a:srcRect/>
          <a:stretch>
            <a:fillRect/>
          </a:stretch>
        </p:blipFill>
        <p:spPr bwMode="auto">
          <a:xfrm>
            <a:off x="4857752" y="571480"/>
            <a:ext cx="4143375" cy="5302250"/>
          </a:xfrm>
          <a:prstGeom prst="rect">
            <a:avLst/>
          </a:prstGeom>
          <a:noFill/>
          <a:ln w="9525">
            <a:noFill/>
            <a:miter lim="800000"/>
            <a:headEnd/>
            <a:tailEnd/>
          </a:ln>
        </p:spPr>
      </p:pic>
      <p:sp>
        <p:nvSpPr>
          <p:cNvPr id="4" name="Rectangle 3"/>
          <p:cNvSpPr/>
          <p:nvPr/>
        </p:nvSpPr>
        <p:spPr>
          <a:xfrm>
            <a:off x="1428728" y="4286256"/>
            <a:ext cx="2138727" cy="523220"/>
          </a:xfrm>
          <a:prstGeom prst="rect">
            <a:avLst/>
          </a:prstGeom>
          <a:noFill/>
        </p:spPr>
        <p:txBody>
          <a:bodyPr wrap="none" lIns="91440" tIns="45720" rIns="91440" bIns="45720">
            <a:spAutoFit/>
          </a:bodyPr>
          <a:lstStyle/>
          <a:p>
            <a:pPr algn="ctr"/>
            <a:r>
              <a:rPr lang="fr-FR" sz="2800" b="1" cap="none" spc="0" dirty="0" err="1"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Rx</a:t>
            </a:r>
            <a:r>
              <a:rPr lang="fr-FR" sz="28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 normal</a:t>
            </a:r>
            <a:endParaRPr lang="fr-FR" sz="28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5" name="Rectangle 4"/>
          <p:cNvSpPr/>
          <p:nvPr/>
        </p:nvSpPr>
        <p:spPr>
          <a:xfrm>
            <a:off x="5072066" y="4357694"/>
            <a:ext cx="3859666" cy="461665"/>
          </a:xfrm>
          <a:prstGeom prst="rect">
            <a:avLst/>
          </a:prstGeom>
          <a:noFill/>
        </p:spPr>
        <p:txBody>
          <a:bodyPr wrap="square" lIns="91440" tIns="45720" rIns="91440" bIns="45720">
            <a:spAutoFit/>
          </a:bodyPr>
          <a:lstStyle/>
          <a:p>
            <a:pPr algn="ctr"/>
            <a:r>
              <a:rPr lang="fr-FR" sz="2400" b="1" cap="none" spc="0" dirty="0" smtClean="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rPr>
              <a:t>Impression basilaire</a:t>
            </a:r>
            <a:endParaRPr lang="fr-FR" sz="2400" b="1" cap="none" spc="0"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0" y="714356"/>
            <a:ext cx="9144000" cy="6143644"/>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noChangeArrowheads="1"/>
          </p:cNvPicPr>
          <p:nvPr/>
        </p:nvPicPr>
        <p:blipFill>
          <a:blip r:embed="rId2"/>
          <a:srcRect/>
          <a:stretch>
            <a:fillRect/>
          </a:stretch>
        </p:blipFill>
        <p:spPr bwMode="auto">
          <a:xfrm>
            <a:off x="0" y="642918"/>
            <a:ext cx="9144000" cy="621508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err="1" smtClean="0">
                <a:solidFill>
                  <a:srgbClr val="FF0000"/>
                </a:solidFill>
                <a:latin typeface="Calibri" pitchFamily="34" charset="0"/>
                <a:cs typeface="Calibri" pitchFamily="34" charset="0"/>
              </a:rPr>
              <a:t>Occipitalisation</a:t>
            </a:r>
            <a:r>
              <a:rPr lang="fr-FR" dirty="0" smtClean="0">
                <a:solidFill>
                  <a:srgbClr val="FF0000"/>
                </a:solidFill>
                <a:latin typeface="Calibri" pitchFamily="34" charset="0"/>
                <a:cs typeface="Calibri" pitchFamily="34" charset="0"/>
              </a:rPr>
              <a:t> de l’atlas</a:t>
            </a:r>
          </a:p>
          <a:p>
            <a:pPr>
              <a:buNone/>
            </a:pPr>
            <a:r>
              <a:rPr lang="fr-FR" dirty="0" smtClean="0">
                <a:latin typeface="Calibri" pitchFamily="34" charset="0"/>
                <a:cs typeface="Calibri" pitchFamily="34" charset="0"/>
              </a:rPr>
              <a:t>C'est la fusion +/- complète de l'atlas, souvent hypoplasique, à l'occipital. 3 formes :</a:t>
            </a:r>
          </a:p>
          <a:p>
            <a:pPr>
              <a:buNone/>
            </a:pPr>
            <a:endParaRPr lang="fr-FR" dirty="0" smtClean="0">
              <a:latin typeface="Calibri" pitchFamily="34" charset="0"/>
              <a:cs typeface="Calibri" pitchFamily="34" charset="0"/>
            </a:endParaRPr>
          </a:p>
          <a:p>
            <a:pPr>
              <a:buNone/>
            </a:pPr>
            <a:r>
              <a:rPr lang="fr-FR" dirty="0" smtClean="0">
                <a:latin typeface="Calibri" pitchFamily="34" charset="0"/>
                <a:cs typeface="Calibri" pitchFamily="34" charset="0"/>
              </a:rPr>
              <a:t>- Fusion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-atloïdienne complète : assimilation de l’atlas,</a:t>
            </a:r>
          </a:p>
          <a:p>
            <a:pPr>
              <a:buNone/>
            </a:pPr>
            <a:r>
              <a:rPr lang="fr-FR" dirty="0" smtClean="0">
                <a:latin typeface="Calibri" pitchFamily="34" charset="0"/>
                <a:cs typeface="Calibri" pitchFamily="34" charset="0"/>
              </a:rPr>
              <a:t>- Fusion partielle: </a:t>
            </a:r>
            <a:r>
              <a:rPr lang="fr-FR" dirty="0" err="1" smtClean="0">
                <a:latin typeface="Calibri" pitchFamily="34" charset="0"/>
                <a:cs typeface="Calibri" pitchFamily="34" charset="0"/>
              </a:rPr>
              <a:t>occipitalisation</a:t>
            </a:r>
            <a:r>
              <a:rPr lang="fr-FR" dirty="0" smtClean="0">
                <a:latin typeface="Calibri" pitchFamily="34" charset="0"/>
                <a:cs typeface="Calibri" pitchFamily="34" charset="0"/>
              </a:rPr>
              <a:t> de l’atlas,</a:t>
            </a:r>
          </a:p>
          <a:p>
            <a:pPr>
              <a:buNone/>
            </a:pPr>
            <a:r>
              <a:rPr lang="fr-FR" dirty="0" smtClean="0">
                <a:latin typeface="Calibri" pitchFamily="34" charset="0"/>
                <a:cs typeface="Calibri" pitchFamily="34" charset="0"/>
              </a:rPr>
              <a:t>- Forme mineure: pincement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-atloïdien</a:t>
            </a:r>
            <a:r>
              <a:rPr lang="fr-FR" dirty="0" smtClean="0"/>
              <a:t>.</a:t>
            </a:r>
            <a:endParaRPr lang="fr-FR" dirty="0"/>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5"/>
          <p:cNvPicPr>
            <a:picLocks noChangeAspect="1" noChangeArrowheads="1"/>
          </p:cNvPicPr>
          <p:nvPr/>
        </p:nvPicPr>
        <p:blipFill>
          <a:blip r:embed="rId2"/>
          <a:srcRect l="57648" t="46205" r="6900" b="22206"/>
          <a:stretch>
            <a:fillRect/>
          </a:stretch>
        </p:blipFill>
        <p:spPr bwMode="auto">
          <a:xfrm>
            <a:off x="3286116" y="428604"/>
            <a:ext cx="3124200" cy="2343150"/>
          </a:xfrm>
          <a:prstGeom prst="rect">
            <a:avLst/>
          </a:prstGeom>
          <a:noFill/>
          <a:ln w="9525">
            <a:noFill/>
            <a:miter lim="800000"/>
            <a:headEnd/>
            <a:tailEnd/>
          </a:ln>
        </p:spPr>
      </p:pic>
      <p:pic>
        <p:nvPicPr>
          <p:cNvPr id="3" name="Picture 3"/>
          <p:cNvPicPr>
            <a:picLocks noChangeAspect="1" noChangeArrowheads="1"/>
          </p:cNvPicPr>
          <p:nvPr/>
        </p:nvPicPr>
        <p:blipFill>
          <a:blip r:embed="rId2">
            <a:lum bright="-12000"/>
          </a:blip>
          <a:srcRect l="9534" t="34171" r="49950" b="20702"/>
          <a:stretch>
            <a:fillRect/>
          </a:stretch>
        </p:blipFill>
        <p:spPr bwMode="auto">
          <a:xfrm>
            <a:off x="857224" y="3286124"/>
            <a:ext cx="2667000" cy="2500313"/>
          </a:xfrm>
          <a:prstGeom prst="rect">
            <a:avLst/>
          </a:prstGeom>
          <a:noFill/>
          <a:ln w="9525">
            <a:noFill/>
            <a:miter lim="800000"/>
            <a:headEnd/>
            <a:tailEnd/>
          </a:ln>
        </p:spPr>
      </p:pic>
      <p:pic>
        <p:nvPicPr>
          <p:cNvPr id="4" name="Picture 4"/>
          <p:cNvPicPr>
            <a:picLocks noChangeAspect="1" noChangeArrowheads="1"/>
          </p:cNvPicPr>
          <p:nvPr/>
        </p:nvPicPr>
        <p:blipFill>
          <a:blip r:embed="rId3"/>
          <a:srcRect l="38000" t="36667" r="10001" b="24731"/>
          <a:stretch>
            <a:fillRect/>
          </a:stretch>
        </p:blipFill>
        <p:spPr bwMode="auto">
          <a:xfrm>
            <a:off x="5072066" y="3357562"/>
            <a:ext cx="3581400" cy="2446338"/>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pPr>
              <a:buNone/>
            </a:pPr>
            <a:r>
              <a:rPr lang="fr-FR" dirty="0" smtClean="0">
                <a:solidFill>
                  <a:srgbClr val="FF0000"/>
                </a:solidFill>
                <a:latin typeface="Calibri" pitchFamily="34" charset="0"/>
                <a:cs typeface="Calibri" pitchFamily="34" charset="0"/>
              </a:rPr>
              <a:t>3. Anomalies de l’odontoïde</a:t>
            </a:r>
          </a:p>
          <a:p>
            <a:pPr>
              <a:buNone/>
            </a:pPr>
            <a:r>
              <a:rPr lang="fr-FR" dirty="0" smtClean="0">
                <a:latin typeface="Calibri" pitchFamily="34" charset="0"/>
                <a:cs typeface="Calibri" pitchFamily="34" charset="0"/>
              </a:rPr>
              <a:t>Il peut être hypoplasique ou totalement détaché du corps de l'axis.</a:t>
            </a:r>
            <a:endParaRPr lang="fr-FR" dirty="0">
              <a:latin typeface="Calibri" pitchFamily="34" charset="0"/>
              <a:cs typeface="Calibri" pitchFamily="34" charset="0"/>
            </a:endParaRPr>
          </a:p>
        </p:txBody>
      </p:sp>
      <p:pic>
        <p:nvPicPr>
          <p:cNvPr id="4" name="Picture 4"/>
          <p:cNvPicPr>
            <a:picLocks noChangeAspect="1" noChangeArrowheads="1"/>
          </p:cNvPicPr>
          <p:nvPr/>
        </p:nvPicPr>
        <p:blipFill>
          <a:blip r:embed="rId2"/>
          <a:srcRect/>
          <a:stretch>
            <a:fillRect/>
          </a:stretch>
        </p:blipFill>
        <p:spPr bwMode="auto">
          <a:xfrm>
            <a:off x="1285852" y="2928934"/>
            <a:ext cx="5811865" cy="34290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pPr>
              <a:buNone/>
            </a:pPr>
            <a:r>
              <a:rPr lang="fr-FR" dirty="0" smtClean="0">
                <a:solidFill>
                  <a:srgbClr val="FF0000"/>
                </a:solidFill>
                <a:latin typeface="Calibri" pitchFamily="34" charset="0"/>
                <a:cs typeface="Calibri" pitchFamily="34" charset="0"/>
              </a:rPr>
              <a:t>4. Dislocations </a:t>
            </a:r>
            <a:r>
              <a:rPr lang="fr-FR" dirty="0" err="1" smtClean="0">
                <a:solidFill>
                  <a:srgbClr val="FF0000"/>
                </a:solidFill>
                <a:latin typeface="Calibri" pitchFamily="34" charset="0"/>
                <a:cs typeface="Calibri" pitchFamily="34" charset="0"/>
              </a:rPr>
              <a:t>atloïdo</a:t>
            </a:r>
            <a:r>
              <a:rPr lang="fr-FR" dirty="0" smtClean="0">
                <a:solidFill>
                  <a:srgbClr val="FF0000"/>
                </a:solidFill>
                <a:latin typeface="Calibri" pitchFamily="34" charset="0"/>
                <a:cs typeface="Calibri" pitchFamily="34" charset="0"/>
              </a:rPr>
              <a:t>-</a:t>
            </a:r>
            <a:r>
              <a:rPr lang="fr-FR" dirty="0" err="1" smtClean="0">
                <a:solidFill>
                  <a:srgbClr val="FF0000"/>
                </a:solidFill>
                <a:latin typeface="Calibri" pitchFamily="34" charset="0"/>
                <a:cs typeface="Calibri" pitchFamily="34" charset="0"/>
              </a:rPr>
              <a:t>axoïdiennes</a:t>
            </a:r>
            <a:endParaRPr lang="fr-FR" dirty="0" smtClean="0">
              <a:solidFill>
                <a:srgbClr val="FF0000"/>
              </a:solidFill>
              <a:latin typeface="Calibri" pitchFamily="34" charset="0"/>
              <a:cs typeface="Calibri" pitchFamily="34" charset="0"/>
            </a:endParaRPr>
          </a:p>
          <a:p>
            <a:pPr>
              <a:buNone/>
            </a:pPr>
            <a:r>
              <a:rPr lang="fr-FR" dirty="0" smtClean="0">
                <a:latin typeface="Calibri" pitchFamily="34" charset="0"/>
                <a:cs typeface="Calibri" pitchFamily="34" charset="0"/>
              </a:rPr>
              <a:t>C’est la malformation la plus dangereuse en raison des signes de compressions aigués de la jonction bulbo médullaire par l’odontoïde qui est entrainée par l’atlas (&gt;3mm chez l’adulte et &gt;5mm chez l’enfant).</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4"/>
          <p:cNvPicPr>
            <a:picLocks noChangeAspect="1" noChangeArrowheads="1"/>
          </p:cNvPicPr>
          <p:nvPr/>
        </p:nvPicPr>
        <p:blipFill>
          <a:blip r:embed="rId2"/>
          <a:srcRect l="54800" t="40936" r="21399" b="34880"/>
          <a:stretch>
            <a:fillRect/>
          </a:stretch>
        </p:blipFill>
        <p:spPr bwMode="auto">
          <a:xfrm>
            <a:off x="5572132" y="642918"/>
            <a:ext cx="3352800" cy="2554288"/>
          </a:xfrm>
          <a:prstGeom prst="rect">
            <a:avLst/>
          </a:prstGeom>
          <a:noFill/>
          <a:ln w="9525">
            <a:noFill/>
            <a:miter lim="800000"/>
            <a:headEnd/>
            <a:tailEnd/>
          </a:ln>
        </p:spPr>
      </p:pic>
      <p:pic>
        <p:nvPicPr>
          <p:cNvPr id="3" name="Picture 12"/>
          <p:cNvPicPr>
            <a:picLocks noChangeAspect="1" noChangeArrowheads="1"/>
          </p:cNvPicPr>
          <p:nvPr/>
        </p:nvPicPr>
        <p:blipFill>
          <a:blip r:embed="rId3"/>
          <a:srcRect l="20313" t="20833" r="20313" b="20833"/>
          <a:stretch>
            <a:fillRect/>
          </a:stretch>
        </p:blipFill>
        <p:spPr bwMode="auto">
          <a:xfrm>
            <a:off x="5500694" y="3357562"/>
            <a:ext cx="3278217" cy="3313112"/>
          </a:xfrm>
          <a:prstGeom prst="rect">
            <a:avLst/>
          </a:prstGeom>
          <a:noFill/>
          <a:ln w="9525">
            <a:noFill/>
            <a:miter lim="800000"/>
            <a:headEnd/>
            <a:tailEnd/>
          </a:ln>
        </p:spPr>
      </p:pic>
      <p:pic>
        <p:nvPicPr>
          <p:cNvPr id="4" name="Picture 6"/>
          <p:cNvPicPr>
            <a:picLocks noChangeAspect="1" noChangeArrowheads="1"/>
          </p:cNvPicPr>
          <p:nvPr/>
        </p:nvPicPr>
        <p:blipFill>
          <a:blip r:embed="rId2"/>
          <a:srcRect l="17400" t="28845" r="52000" b="34880"/>
          <a:stretch>
            <a:fillRect/>
          </a:stretch>
        </p:blipFill>
        <p:spPr bwMode="auto">
          <a:xfrm>
            <a:off x="179388" y="3644900"/>
            <a:ext cx="2665412" cy="2927372"/>
          </a:xfrm>
          <a:prstGeom prst="rect">
            <a:avLst/>
          </a:prstGeom>
          <a:noFill/>
          <a:ln w="9525">
            <a:noFill/>
            <a:miter lim="800000"/>
            <a:headEnd/>
            <a:tailEnd/>
          </a:ln>
        </p:spPr>
      </p:pic>
      <p:pic>
        <p:nvPicPr>
          <p:cNvPr id="5" name="Picture 5"/>
          <p:cNvPicPr>
            <a:picLocks noChangeAspect="1" noChangeArrowheads="1"/>
          </p:cNvPicPr>
          <p:nvPr/>
        </p:nvPicPr>
        <p:blipFill>
          <a:blip r:embed="rId4"/>
          <a:srcRect l="16000" t="31953" r="53233" b="34833"/>
          <a:stretch>
            <a:fillRect/>
          </a:stretch>
        </p:blipFill>
        <p:spPr bwMode="auto">
          <a:xfrm>
            <a:off x="3071802" y="1928802"/>
            <a:ext cx="1800225" cy="1457325"/>
          </a:xfrm>
          <a:prstGeom prst="rect">
            <a:avLst/>
          </a:prstGeom>
          <a:noFill/>
          <a:ln w="9525">
            <a:noFill/>
            <a:miter lim="800000"/>
            <a:headEnd/>
            <a:tailEnd/>
          </a:ln>
        </p:spPr>
      </p:pic>
      <p:pic>
        <p:nvPicPr>
          <p:cNvPr id="6" name="Picture 7"/>
          <p:cNvPicPr>
            <a:picLocks noChangeAspect="1" noChangeArrowheads="1"/>
          </p:cNvPicPr>
          <p:nvPr/>
        </p:nvPicPr>
        <p:blipFill>
          <a:blip r:embed="rId4"/>
          <a:srcRect l="52628" t="31953" r="21001" b="34833"/>
          <a:stretch>
            <a:fillRect/>
          </a:stretch>
        </p:blipFill>
        <p:spPr bwMode="auto">
          <a:xfrm>
            <a:off x="3000364" y="4357694"/>
            <a:ext cx="1800225" cy="17002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normAutofit fontScale="92500" lnSpcReduction="10000"/>
          </a:bodyPr>
          <a:lstStyle/>
          <a:p>
            <a:pPr>
              <a:buNone/>
            </a:pPr>
            <a:r>
              <a:rPr lang="fr-FR" dirty="0" smtClean="0">
                <a:solidFill>
                  <a:srgbClr val="FF0000"/>
                </a:solidFill>
                <a:latin typeface="Calibri" pitchFamily="34" charset="0"/>
                <a:cs typeface="Calibri" pitchFamily="34" charset="0"/>
              </a:rPr>
              <a:t>5. Blocs cervicaux:</a:t>
            </a:r>
          </a:p>
          <a:p>
            <a:pPr>
              <a:buNone/>
            </a:pPr>
            <a:r>
              <a:rPr lang="fr-FR" dirty="0" smtClean="0">
                <a:latin typeface="Calibri" pitchFamily="34" charset="0"/>
                <a:cs typeface="Calibri" pitchFamily="34" charset="0"/>
              </a:rPr>
              <a:t>La fusion d'une ou de plusieurs vertèbres : syndrome de </a:t>
            </a:r>
            <a:r>
              <a:rPr lang="fr-FR" dirty="0" err="1" smtClean="0">
                <a:latin typeface="Calibri" pitchFamily="34" charset="0"/>
                <a:cs typeface="Calibri" pitchFamily="34" charset="0"/>
              </a:rPr>
              <a:t>Klippel</a:t>
            </a:r>
            <a:r>
              <a:rPr lang="fr-FR" dirty="0" smtClean="0">
                <a:latin typeface="Calibri" pitchFamily="34" charset="0"/>
                <a:cs typeface="Calibri" pitchFamily="34" charset="0"/>
              </a:rPr>
              <a:t> – </a:t>
            </a:r>
            <a:r>
              <a:rPr lang="fr-FR" dirty="0" err="1" smtClean="0">
                <a:latin typeface="Calibri" pitchFamily="34" charset="0"/>
                <a:cs typeface="Calibri" pitchFamily="34" charset="0"/>
              </a:rPr>
              <a:t>Feil</a:t>
            </a:r>
            <a:r>
              <a:rPr lang="fr-FR" dirty="0" smtClean="0">
                <a:latin typeface="Calibri" pitchFamily="34" charset="0"/>
                <a:cs typeface="Calibri" pitchFamily="34" charset="0"/>
              </a:rPr>
              <a:t>.</a:t>
            </a:r>
          </a:p>
          <a:p>
            <a:pPr>
              <a:buNone/>
            </a:pPr>
            <a:r>
              <a:rPr lang="fr-FR" dirty="0" smtClean="0">
                <a:latin typeface="Calibri" pitchFamily="34" charset="0"/>
                <a:cs typeface="Calibri" pitchFamily="34" charset="0"/>
              </a:rPr>
              <a:t>Syndrome de </a:t>
            </a:r>
            <a:r>
              <a:rPr lang="fr-FR" dirty="0" err="1" smtClean="0">
                <a:latin typeface="Calibri" pitchFamily="34" charset="0"/>
                <a:cs typeface="Calibri" pitchFamily="34" charset="0"/>
              </a:rPr>
              <a:t>Klippel</a:t>
            </a:r>
            <a:r>
              <a:rPr lang="fr-FR" dirty="0" smtClean="0">
                <a:latin typeface="Calibri" pitchFamily="34" charset="0"/>
                <a:cs typeface="Calibri" pitchFamily="34" charset="0"/>
              </a:rPr>
              <a:t>-</a:t>
            </a:r>
            <a:r>
              <a:rPr lang="fr-FR" dirty="0" err="1" smtClean="0">
                <a:latin typeface="Calibri" pitchFamily="34" charset="0"/>
                <a:cs typeface="Calibri" pitchFamily="34" charset="0"/>
              </a:rPr>
              <a:t>Feil</a:t>
            </a:r>
            <a:endParaRPr lang="fr-FR" dirty="0" smtClean="0">
              <a:latin typeface="Calibri" pitchFamily="34" charset="0"/>
              <a:cs typeface="Calibri" pitchFamily="34" charset="0"/>
            </a:endParaRPr>
          </a:p>
          <a:p>
            <a:pPr>
              <a:buNone/>
            </a:pPr>
            <a:r>
              <a:rPr lang="fr-FR" dirty="0" smtClean="0">
                <a:latin typeface="Calibri" pitchFamily="34" charset="0"/>
                <a:cs typeface="Calibri" pitchFamily="34" charset="0"/>
              </a:rPr>
              <a:t>    Anomalie congénitale de la colonne cervicale décrite en 1912 par </a:t>
            </a:r>
            <a:r>
              <a:rPr lang="fr-FR" dirty="0" err="1" smtClean="0">
                <a:latin typeface="Calibri" pitchFamily="34" charset="0"/>
                <a:cs typeface="Calibri" pitchFamily="34" charset="0"/>
              </a:rPr>
              <a:t>Klippel</a:t>
            </a:r>
            <a:r>
              <a:rPr lang="fr-FR" dirty="0" smtClean="0">
                <a:latin typeface="Calibri" pitchFamily="34" charset="0"/>
                <a:cs typeface="Calibri" pitchFamily="34" charset="0"/>
              </a:rPr>
              <a:t> et </a:t>
            </a:r>
            <a:r>
              <a:rPr lang="fr-FR" dirty="0" err="1" smtClean="0">
                <a:latin typeface="Calibri" pitchFamily="34" charset="0"/>
                <a:cs typeface="Calibri" pitchFamily="34" charset="0"/>
              </a:rPr>
              <a:t>Feil</a:t>
            </a:r>
            <a:r>
              <a:rPr lang="fr-FR" dirty="0" smtClean="0">
                <a:latin typeface="Calibri" pitchFamily="34" charset="0"/>
                <a:cs typeface="Calibri" pitchFamily="34" charset="0"/>
              </a:rPr>
              <a:t>, ce syndrome résulte d’un désordre de la segmentation et associe :</a:t>
            </a:r>
          </a:p>
          <a:p>
            <a:pPr>
              <a:buNone/>
            </a:pPr>
            <a:r>
              <a:rPr lang="fr-FR" dirty="0" smtClean="0">
                <a:latin typeface="Calibri" pitchFamily="34" charset="0"/>
                <a:cs typeface="Calibri" pitchFamily="34" charset="0"/>
              </a:rPr>
              <a:t> – une brièveté du cou ;</a:t>
            </a:r>
          </a:p>
          <a:p>
            <a:pPr>
              <a:buNone/>
            </a:pPr>
            <a:r>
              <a:rPr lang="fr-FR" dirty="0" smtClean="0">
                <a:latin typeface="Calibri" pitchFamily="34" charset="0"/>
                <a:cs typeface="Calibri" pitchFamily="34" charset="0"/>
              </a:rPr>
              <a:t> – une implantation basse des cheveux ;</a:t>
            </a:r>
          </a:p>
          <a:p>
            <a:pPr>
              <a:buNone/>
            </a:pPr>
            <a:r>
              <a:rPr lang="fr-FR" dirty="0" smtClean="0">
                <a:latin typeface="Calibri" pitchFamily="34" charset="0"/>
                <a:cs typeface="Calibri" pitchFamily="34" charset="0"/>
              </a:rPr>
              <a:t> – une limitation des mouvements du cou ayant fait parler d’« hommes sans cou » ;</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1428728" y="500042"/>
            <a:ext cx="6429420" cy="528641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endParaRPr lang="fr-FR" dirty="0" smtClean="0">
              <a:solidFill>
                <a:srgbClr val="FF0000"/>
              </a:solidFill>
            </a:endParaRPr>
          </a:p>
          <a:p>
            <a:endParaRPr lang="fr-FR" dirty="0" smtClean="0">
              <a:solidFill>
                <a:srgbClr val="FF0000"/>
              </a:solidFill>
            </a:endParaRPr>
          </a:p>
          <a:p>
            <a:r>
              <a:rPr lang="fr-FR" dirty="0" smtClean="0">
                <a:solidFill>
                  <a:srgbClr val="FF0000"/>
                </a:solidFill>
                <a:latin typeface="Calibri" pitchFamily="34" charset="0"/>
                <a:cs typeface="Calibri" pitchFamily="34" charset="0"/>
              </a:rPr>
              <a:t>6. Spina </a:t>
            </a:r>
            <a:r>
              <a:rPr lang="fr-FR" dirty="0" err="1" smtClean="0">
                <a:solidFill>
                  <a:srgbClr val="FF0000"/>
                </a:solidFill>
                <a:latin typeface="Calibri" pitchFamily="34" charset="0"/>
                <a:cs typeface="Calibri" pitchFamily="34" charset="0"/>
              </a:rPr>
              <a:t>bifida</a:t>
            </a:r>
            <a:r>
              <a:rPr lang="fr-FR" dirty="0" smtClean="0">
                <a:solidFill>
                  <a:srgbClr val="FF0000"/>
                </a:solidFill>
                <a:latin typeface="Calibri" pitchFamily="34" charset="0"/>
                <a:cs typeface="Calibri" pitchFamily="34" charset="0"/>
              </a:rPr>
              <a:t> : </a:t>
            </a:r>
            <a:r>
              <a:rPr lang="fr-FR" dirty="0" smtClean="0">
                <a:latin typeface="Calibri" pitchFamily="34" charset="0"/>
                <a:cs typeface="Calibri" pitchFamily="34" charset="0"/>
              </a:rPr>
              <a:t>C’est une malformation congénitale liée à un défaut de fermeture du tube neural durant la vie embryonnaire. Le plus souvent il reste ouvert à son extrémité caudale. Il en résulte l'absence de l'apophyse épineuse d'une ou plusieurs vertèbres.</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smtClean="0">
                <a:solidFill>
                  <a:srgbClr val="FF0000"/>
                </a:solidFill>
                <a:latin typeface="Calibri" pitchFamily="34" charset="0"/>
                <a:cs typeface="Calibri" pitchFamily="34" charset="0"/>
              </a:rPr>
              <a:t>B. Malformations nerveuses :</a:t>
            </a:r>
          </a:p>
          <a:p>
            <a:pPr marL="514350" indent="-514350">
              <a:buAutoNum type="arabicParenR"/>
            </a:pPr>
            <a:r>
              <a:rPr lang="fr-FR" u="sng" dirty="0" smtClean="0">
                <a:solidFill>
                  <a:srgbClr val="FF0000"/>
                </a:solidFill>
                <a:latin typeface="Calibri" pitchFamily="34" charset="0"/>
                <a:cs typeface="Calibri" pitchFamily="34" charset="0"/>
              </a:rPr>
              <a:t>Malformation d’Arnold Chiari</a:t>
            </a:r>
          </a:p>
          <a:p>
            <a:pPr marL="514350" indent="-514350">
              <a:buNone/>
            </a:pPr>
            <a:r>
              <a:rPr lang="fr-FR" dirty="0" smtClean="0">
                <a:latin typeface="Calibri" pitchFamily="34" charset="0"/>
                <a:cs typeface="Calibri" pitchFamily="34" charset="0"/>
              </a:rPr>
              <a:t>     C’est la plus fréquente des malformations nerveuses, définie par une situation anormalement basse du cervelet, des amygdales cérébelleuses et du bulbe qui descendent à travers le trou occipital dans le canal cervical, il existe pratiquement toujours une hydrocéphalie, qui pour certains auteurs serait la cause et non une conséquence</a:t>
            </a:r>
            <a:r>
              <a:rPr lang="fr-FR" dirty="0" smtClean="0"/>
              <a:t>.</a:t>
            </a:r>
            <a:endParaRPr lang="fr-FR"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28596" y="500042"/>
            <a:ext cx="8429684" cy="1477328"/>
          </a:xfrm>
          <a:prstGeom prst="rect">
            <a:avLst/>
          </a:prstGeom>
        </p:spPr>
        <p:txBody>
          <a:bodyPr wrap="square">
            <a:spAutoFit/>
          </a:bodyPr>
          <a:lstStyle/>
          <a:p>
            <a:r>
              <a:rPr lang="fr-FR" dirty="0" smtClean="0">
                <a:latin typeface="Calibri" pitchFamily="34" charset="0"/>
                <a:cs typeface="Calibri" pitchFamily="34" charset="0"/>
              </a:rPr>
              <a:t>Théoriquement on décrit 4 types de cette malformation:</a:t>
            </a:r>
          </a:p>
          <a:p>
            <a:endParaRPr lang="fr-FR" dirty="0" smtClean="0">
              <a:latin typeface="Calibri" pitchFamily="34" charset="0"/>
              <a:cs typeface="Calibri" pitchFamily="34" charset="0"/>
            </a:endParaRPr>
          </a:p>
          <a:p>
            <a:r>
              <a:rPr lang="fr-FR" dirty="0" smtClean="0">
                <a:solidFill>
                  <a:srgbClr val="FF0000"/>
                </a:solidFill>
                <a:latin typeface="Calibri" pitchFamily="34" charset="0"/>
                <a:cs typeface="Calibri" pitchFamily="34" charset="0"/>
              </a:rPr>
              <a:t>Typ1 : </a:t>
            </a:r>
            <a:r>
              <a:rPr lang="fr-FR" dirty="0" smtClean="0">
                <a:latin typeface="Calibri" pitchFamily="34" charset="0"/>
                <a:cs typeface="Calibri" pitchFamily="34" charset="0"/>
              </a:rPr>
              <a:t>Correspond à un déplacement variable des amygdales et des parties médianes des lobes inférieurs du cervelet à travers le foramen magnum dans le canal rachidien.</a:t>
            </a:r>
          </a:p>
          <a:p>
            <a:r>
              <a:rPr lang="fr-FR" dirty="0" smtClean="0">
                <a:latin typeface="Calibri" pitchFamily="34" charset="0"/>
                <a:cs typeface="Calibri" pitchFamily="34" charset="0"/>
              </a:rPr>
              <a:t>Le V4 est en place.</a:t>
            </a:r>
            <a:endParaRPr lang="fr-FR" dirty="0">
              <a:latin typeface="Calibri" pitchFamily="34" charset="0"/>
              <a:cs typeface="Calibri" pitchFamily="34" charset="0"/>
            </a:endParaRPr>
          </a:p>
        </p:txBody>
      </p:sp>
      <p:pic>
        <p:nvPicPr>
          <p:cNvPr id="2050" name="Picture 2"/>
          <p:cNvPicPr>
            <a:picLocks noChangeAspect="1" noChangeArrowheads="1"/>
          </p:cNvPicPr>
          <p:nvPr/>
        </p:nvPicPr>
        <p:blipFill>
          <a:blip r:embed="rId2"/>
          <a:srcRect/>
          <a:stretch>
            <a:fillRect/>
          </a:stretch>
        </p:blipFill>
        <p:spPr bwMode="auto">
          <a:xfrm>
            <a:off x="714348" y="2285992"/>
            <a:ext cx="7505700" cy="3786196"/>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500042"/>
            <a:ext cx="8429684" cy="1754326"/>
          </a:xfrm>
          <a:prstGeom prst="rect">
            <a:avLst/>
          </a:prstGeom>
        </p:spPr>
        <p:txBody>
          <a:bodyPr wrap="square">
            <a:spAutoFit/>
          </a:bodyPr>
          <a:lstStyle/>
          <a:p>
            <a:r>
              <a:rPr lang="fr-FR" dirty="0" smtClean="0"/>
              <a:t> </a:t>
            </a:r>
            <a:r>
              <a:rPr lang="fr-FR" dirty="0" smtClean="0">
                <a:latin typeface="Calibri" pitchFamily="34" charset="0"/>
                <a:cs typeface="Calibri" pitchFamily="34" charset="0"/>
              </a:rPr>
              <a:t>Type II :</a:t>
            </a:r>
          </a:p>
          <a:p>
            <a:r>
              <a:rPr lang="fr-FR" dirty="0" smtClean="0">
                <a:latin typeface="Calibri" pitchFamily="34" charset="0"/>
                <a:cs typeface="Calibri" pitchFamily="34" charset="0"/>
              </a:rPr>
              <a:t> Caractérisé par un déplacement des amygdales ,du vermis inférieur, de la protubérance et du bulbe dans le canal cervical jusqu’au niveau de C2-C3, avec le 4ème ventricule, allongé, aplati et attiré vers le bas au-dessous de la ligne de </a:t>
            </a:r>
            <a:r>
              <a:rPr lang="fr-FR" b="1" dirty="0" smtClean="0">
                <a:latin typeface="Calibri" pitchFamily="34" charset="0"/>
                <a:cs typeface="Calibri" pitchFamily="34" charset="0"/>
              </a:rPr>
              <a:t>repère de </a:t>
            </a:r>
            <a:r>
              <a:rPr lang="fr-FR" b="1" dirty="0" err="1" smtClean="0">
                <a:latin typeface="Calibri" pitchFamily="34" charset="0"/>
                <a:cs typeface="Calibri" pitchFamily="34" charset="0"/>
              </a:rPr>
              <a:t>twining</a:t>
            </a:r>
            <a:r>
              <a:rPr lang="fr-FR" b="1" dirty="0" smtClean="0">
                <a:latin typeface="Calibri" pitchFamily="34" charset="0"/>
                <a:cs typeface="Calibri" pitchFamily="34" charset="0"/>
              </a:rPr>
              <a:t> </a:t>
            </a:r>
            <a:r>
              <a:rPr lang="fr-FR" dirty="0" smtClean="0">
                <a:latin typeface="Calibri" pitchFamily="34" charset="0"/>
                <a:cs typeface="Calibri" pitchFamily="34" charset="0"/>
              </a:rPr>
              <a:t>(qui rejoint la tubérosité </a:t>
            </a:r>
            <a:r>
              <a:rPr lang="fr-FR" dirty="0" err="1" smtClean="0">
                <a:latin typeface="Calibri" pitchFamily="34" charset="0"/>
                <a:cs typeface="Calibri" pitchFamily="34" charset="0"/>
              </a:rPr>
              <a:t>sellaire</a:t>
            </a:r>
            <a:r>
              <a:rPr lang="fr-FR" dirty="0" smtClean="0">
                <a:latin typeface="Calibri" pitchFamily="34" charset="0"/>
                <a:cs typeface="Calibri" pitchFamily="34" charset="0"/>
              </a:rPr>
              <a:t> antérieure à la POE, et dont le milieu coupe normalement la partie moyenne du ventricule)</a:t>
            </a:r>
            <a:endParaRPr lang="fr-FR" dirty="0">
              <a:latin typeface="Calibri" pitchFamily="34" charset="0"/>
              <a:cs typeface="Calibri" pitchFamily="34" charset="0"/>
            </a:endParaRPr>
          </a:p>
        </p:txBody>
      </p:sp>
      <p:pic>
        <p:nvPicPr>
          <p:cNvPr id="3075" name="Picture 3"/>
          <p:cNvPicPr>
            <a:picLocks noChangeAspect="1" noChangeArrowheads="1"/>
          </p:cNvPicPr>
          <p:nvPr/>
        </p:nvPicPr>
        <p:blipFill>
          <a:blip r:embed="rId2"/>
          <a:srcRect/>
          <a:stretch>
            <a:fillRect/>
          </a:stretch>
        </p:blipFill>
        <p:spPr bwMode="auto">
          <a:xfrm>
            <a:off x="785786" y="2428868"/>
            <a:ext cx="7381875" cy="325755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42844" y="500042"/>
            <a:ext cx="8072494" cy="923330"/>
          </a:xfrm>
          <a:prstGeom prst="rect">
            <a:avLst/>
          </a:prstGeom>
        </p:spPr>
        <p:txBody>
          <a:bodyPr wrap="square">
            <a:spAutoFit/>
          </a:bodyPr>
          <a:lstStyle/>
          <a:p>
            <a:r>
              <a:rPr lang="fr-FR" dirty="0" smtClean="0">
                <a:latin typeface="Calibri" pitchFamily="34" charset="0"/>
                <a:cs typeface="Calibri" pitchFamily="34" charset="0"/>
              </a:rPr>
              <a:t>Type III :</a:t>
            </a:r>
          </a:p>
          <a:p>
            <a:r>
              <a:rPr lang="fr-FR" dirty="0" smtClean="0">
                <a:latin typeface="Calibri" pitchFamily="34" charset="0"/>
                <a:cs typeface="Calibri" pitchFamily="34" charset="0"/>
              </a:rPr>
              <a:t> Exceptionnel et en général létal ;</a:t>
            </a:r>
          </a:p>
          <a:p>
            <a:r>
              <a:rPr lang="fr-FR" dirty="0" smtClean="0">
                <a:latin typeface="Calibri" pitchFamily="34" charset="0"/>
                <a:cs typeface="Calibri" pitchFamily="34" charset="0"/>
              </a:rPr>
              <a:t> S’y ajoute une </a:t>
            </a:r>
            <a:r>
              <a:rPr lang="fr-FR" dirty="0" err="1" smtClean="0">
                <a:latin typeface="Calibri" pitchFamily="34" charset="0"/>
                <a:cs typeface="Calibri" pitchFamily="34" charset="0"/>
              </a:rPr>
              <a:t>méningocèle</a:t>
            </a:r>
            <a:r>
              <a:rPr lang="fr-FR" dirty="0" smtClean="0">
                <a:latin typeface="Calibri" pitchFamily="34" charset="0"/>
                <a:cs typeface="Calibri" pitchFamily="34" charset="0"/>
              </a:rPr>
              <a:t> occipitale</a:t>
            </a:r>
            <a:endParaRPr lang="fr-FR" dirty="0">
              <a:latin typeface="Calibri" pitchFamily="34" charset="0"/>
              <a:cs typeface="Calibri" pitchFamily="34" charset="0"/>
            </a:endParaRPr>
          </a:p>
        </p:txBody>
      </p:sp>
      <p:pic>
        <p:nvPicPr>
          <p:cNvPr id="4098" name="Picture 2"/>
          <p:cNvPicPr>
            <a:picLocks noChangeAspect="1" noChangeArrowheads="1"/>
          </p:cNvPicPr>
          <p:nvPr/>
        </p:nvPicPr>
        <p:blipFill>
          <a:blip r:embed="rId2"/>
          <a:srcRect/>
          <a:stretch>
            <a:fillRect/>
          </a:stretch>
        </p:blipFill>
        <p:spPr bwMode="auto">
          <a:xfrm>
            <a:off x="785813" y="1890713"/>
            <a:ext cx="7572375" cy="3076575"/>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00034" y="857232"/>
            <a:ext cx="8643966" cy="646331"/>
          </a:xfrm>
          <a:prstGeom prst="rect">
            <a:avLst/>
          </a:prstGeom>
        </p:spPr>
        <p:txBody>
          <a:bodyPr wrap="square">
            <a:spAutoFit/>
          </a:bodyPr>
          <a:lstStyle/>
          <a:p>
            <a:r>
              <a:rPr lang="fr-FR" dirty="0" smtClean="0"/>
              <a:t>Type IV :</a:t>
            </a:r>
          </a:p>
          <a:p>
            <a:r>
              <a:rPr lang="fr-FR" dirty="0" smtClean="0"/>
              <a:t>d’individualisation discutée, correspond à l’hypoplasie du cervelet.</a:t>
            </a:r>
            <a:endParaRPr lang="fr-FR" dirty="0"/>
          </a:p>
        </p:txBody>
      </p:sp>
      <p:sp>
        <p:nvSpPr>
          <p:cNvPr id="3" name="Rectangle 2"/>
          <p:cNvSpPr/>
          <p:nvPr/>
        </p:nvSpPr>
        <p:spPr>
          <a:xfrm>
            <a:off x="500034" y="2500306"/>
            <a:ext cx="8215370" cy="2585323"/>
          </a:xfrm>
          <a:prstGeom prst="rect">
            <a:avLst/>
          </a:prstGeom>
        </p:spPr>
        <p:txBody>
          <a:bodyPr wrap="square">
            <a:spAutoFit/>
          </a:bodyPr>
          <a:lstStyle/>
          <a:p>
            <a:r>
              <a:rPr lang="fr-FR" dirty="0" smtClean="0"/>
              <a:t>conséquences physiopathologiques : </a:t>
            </a:r>
          </a:p>
          <a:p>
            <a:pPr>
              <a:buFontTx/>
              <a:buChar char="-"/>
            </a:pPr>
            <a:r>
              <a:rPr lang="fr-FR" dirty="0" smtClean="0"/>
              <a:t>La malformation d’Arnold-Chiari peut, par elle-même, être à  l’origine d’une compression du névraxe.</a:t>
            </a:r>
          </a:p>
          <a:p>
            <a:pPr>
              <a:buFontTx/>
              <a:buChar char="-"/>
            </a:pPr>
            <a:endParaRPr lang="fr-FR" dirty="0" smtClean="0"/>
          </a:p>
          <a:p>
            <a:pPr>
              <a:buFontTx/>
              <a:buChar char="-"/>
            </a:pPr>
            <a:r>
              <a:rPr lang="fr-FR" dirty="0" smtClean="0"/>
              <a:t>L’écoulement du LCR entre les espaces ventriculaires et la grande citerne peut être compromis et générer une hydrocéphalie,</a:t>
            </a:r>
          </a:p>
          <a:p>
            <a:pPr>
              <a:buFontTx/>
              <a:buChar char="-"/>
            </a:pPr>
            <a:endParaRPr lang="fr-FR" dirty="0" smtClean="0"/>
          </a:p>
          <a:p>
            <a:r>
              <a:rPr lang="fr-FR" dirty="0" smtClean="0"/>
              <a:t>- La circulation du liquide entre l’espace </a:t>
            </a:r>
            <a:r>
              <a:rPr lang="fr-FR" dirty="0" err="1" smtClean="0"/>
              <a:t>sousarachnoïdien</a:t>
            </a:r>
            <a:r>
              <a:rPr lang="fr-FR" dirty="0" smtClean="0"/>
              <a:t> spinal et la grande citerne peut être à l’origine d’une </a:t>
            </a:r>
            <a:r>
              <a:rPr lang="fr-FR" dirty="0" err="1" smtClean="0"/>
              <a:t>hydromyélie</a:t>
            </a:r>
            <a:r>
              <a:rPr lang="fr-FR" dirty="0" smtClean="0"/>
              <a:t> ou aggraver une syringomyélie.</a:t>
            </a:r>
            <a:endParaRPr lang="fr-FR"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normAutofit fontScale="70000" lnSpcReduction="20000"/>
          </a:bodyPr>
          <a:lstStyle/>
          <a:p>
            <a:pPr>
              <a:buNone/>
            </a:pPr>
            <a:r>
              <a:rPr lang="fr-FR" dirty="0" smtClean="0">
                <a:solidFill>
                  <a:srgbClr val="FF0000"/>
                </a:solidFill>
                <a:latin typeface="Calibri" pitchFamily="34" charset="0"/>
                <a:cs typeface="Calibri" pitchFamily="34" charset="0"/>
              </a:rPr>
              <a:t>2) Dandy Walker</a:t>
            </a:r>
          </a:p>
          <a:p>
            <a:pPr>
              <a:buNone/>
            </a:pPr>
            <a:r>
              <a:rPr lang="fr-FR" dirty="0" smtClean="0">
                <a:latin typeface="Calibri" pitchFamily="34" charset="0"/>
                <a:cs typeface="Calibri" pitchFamily="34" charset="0"/>
              </a:rPr>
              <a:t>C’est une anomalie de la toile choroïdienne du V4, portant sur sa perméabilité, avec une importante expansion postérieure, associée à </a:t>
            </a:r>
          </a:p>
          <a:p>
            <a:pPr>
              <a:buNone/>
            </a:pPr>
            <a:r>
              <a:rPr lang="fr-FR" dirty="0" smtClean="0">
                <a:latin typeface="Calibri" pitchFamily="34" charset="0"/>
                <a:cs typeface="Calibri" pitchFamily="34" charset="0"/>
              </a:rPr>
              <a:t>un trouble du développement du vermis cérébelleux.</a:t>
            </a:r>
          </a:p>
          <a:p>
            <a:pPr>
              <a:buNone/>
            </a:pPr>
            <a:r>
              <a:rPr lang="fr-FR" dirty="0" smtClean="0">
                <a:latin typeface="Calibri" pitchFamily="34" charset="0"/>
                <a:cs typeface="Calibri" pitchFamily="34" charset="0"/>
              </a:rPr>
              <a:t> La notion d’atrésie congénitale des trous de </a:t>
            </a:r>
            <a:r>
              <a:rPr lang="fr-FR" dirty="0" err="1" smtClean="0">
                <a:latin typeface="Calibri" pitchFamily="34" charset="0"/>
                <a:cs typeface="Calibri" pitchFamily="34" charset="0"/>
              </a:rPr>
              <a:t>Luschka</a:t>
            </a:r>
            <a:r>
              <a:rPr lang="fr-FR" dirty="0" smtClean="0">
                <a:latin typeface="Calibri" pitchFamily="34" charset="0"/>
                <a:cs typeface="Calibri" pitchFamily="34" charset="0"/>
              </a:rPr>
              <a:t> et Magendie est critiquable. On distingue ainsi :</a:t>
            </a:r>
          </a:p>
          <a:p>
            <a:pPr>
              <a:buNone/>
            </a:pPr>
            <a:r>
              <a:rPr lang="fr-FR" u="sng" dirty="0" smtClean="0">
                <a:latin typeface="Calibri" pitchFamily="34" charset="0"/>
                <a:cs typeface="Calibri" pitchFamily="34" charset="0"/>
              </a:rPr>
              <a:t>Les Dandy Walker vrais</a:t>
            </a:r>
            <a:r>
              <a:rPr lang="fr-FR" dirty="0" smtClean="0">
                <a:latin typeface="Calibri" pitchFamily="34" charset="0"/>
                <a:cs typeface="Calibri" pitchFamily="34" charset="0"/>
              </a:rPr>
              <a:t>, constitué par :</a:t>
            </a:r>
          </a:p>
          <a:p>
            <a:pPr>
              <a:buNone/>
            </a:pPr>
            <a:r>
              <a:rPr lang="fr-FR" dirty="0" smtClean="0">
                <a:latin typeface="Calibri" pitchFamily="34" charset="0"/>
                <a:cs typeface="Calibri" pitchFamily="34" charset="0"/>
              </a:rPr>
              <a:t> - Atrésie des trous </a:t>
            </a:r>
            <a:r>
              <a:rPr lang="fr-FR" dirty="0" err="1" smtClean="0">
                <a:latin typeface="Calibri" pitchFamily="34" charset="0"/>
                <a:cs typeface="Calibri" pitchFamily="34" charset="0"/>
              </a:rPr>
              <a:t>Luschka</a:t>
            </a:r>
            <a:r>
              <a:rPr lang="fr-FR" dirty="0" smtClean="0">
                <a:latin typeface="Calibri" pitchFamily="34" charset="0"/>
                <a:cs typeface="Calibri" pitchFamily="34" charset="0"/>
              </a:rPr>
              <a:t> et Magendie ;</a:t>
            </a:r>
          </a:p>
          <a:p>
            <a:pPr>
              <a:buNone/>
            </a:pPr>
            <a:r>
              <a:rPr lang="fr-FR" dirty="0" smtClean="0">
                <a:latin typeface="Calibri" pitchFamily="34" charset="0"/>
                <a:cs typeface="Calibri" pitchFamily="34" charset="0"/>
              </a:rPr>
              <a:t> - Dilatation kystique du V4 ;</a:t>
            </a:r>
          </a:p>
          <a:p>
            <a:pPr>
              <a:buNone/>
            </a:pPr>
            <a:r>
              <a:rPr lang="fr-FR" dirty="0" smtClean="0">
                <a:latin typeface="Calibri" pitchFamily="34" charset="0"/>
                <a:cs typeface="Calibri" pitchFamily="34" charset="0"/>
              </a:rPr>
              <a:t> - Agénésie +/- complète du vermis ;</a:t>
            </a:r>
          </a:p>
          <a:p>
            <a:pPr>
              <a:buNone/>
            </a:pPr>
            <a:r>
              <a:rPr lang="fr-FR" dirty="0" smtClean="0">
                <a:latin typeface="Calibri" pitchFamily="34" charset="0"/>
                <a:cs typeface="Calibri" pitchFamily="34" charset="0"/>
              </a:rPr>
              <a:t> - Surélévation de la tente ;</a:t>
            </a:r>
          </a:p>
          <a:p>
            <a:pPr>
              <a:buNone/>
            </a:pPr>
            <a:r>
              <a:rPr lang="fr-FR" dirty="0" smtClean="0">
                <a:latin typeface="Calibri" pitchFamily="34" charset="0"/>
                <a:cs typeface="Calibri" pitchFamily="34" charset="0"/>
              </a:rPr>
              <a:t> - Hydrocéphalie non communicante.</a:t>
            </a:r>
          </a:p>
          <a:p>
            <a:pPr>
              <a:buNone/>
            </a:pPr>
            <a:r>
              <a:rPr lang="fr-FR" u="sng" dirty="0" smtClean="0">
                <a:latin typeface="Calibri" pitchFamily="34" charset="0"/>
                <a:cs typeface="Calibri" pitchFamily="34" charset="0"/>
              </a:rPr>
              <a:t>Les Dandy Walker variant :</a:t>
            </a:r>
          </a:p>
          <a:p>
            <a:pPr>
              <a:buNone/>
            </a:pPr>
            <a:r>
              <a:rPr lang="fr-FR" dirty="0" smtClean="0">
                <a:latin typeface="Calibri" pitchFamily="34" charset="0"/>
                <a:cs typeface="Calibri" pitchFamily="34" charset="0"/>
              </a:rPr>
              <a:t>- Dilatation moins importante du V4 par perméabilité incomplète des trous ;</a:t>
            </a:r>
          </a:p>
          <a:p>
            <a:pPr>
              <a:buNone/>
            </a:pPr>
            <a:r>
              <a:rPr lang="fr-FR" dirty="0" smtClean="0">
                <a:latin typeface="Calibri" pitchFamily="34" charset="0"/>
                <a:cs typeface="Calibri" pitchFamily="34" charset="0"/>
              </a:rPr>
              <a:t>- Agénésie partielle du vermis.</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srcRect/>
          <a:stretch>
            <a:fillRect/>
          </a:stretch>
        </p:blipFill>
        <p:spPr bwMode="auto">
          <a:xfrm>
            <a:off x="785786" y="571480"/>
            <a:ext cx="7143799" cy="5643602"/>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dirty="0" smtClean="0"/>
              <a:t>VII. TRAITEMENT </a:t>
            </a:r>
            <a:r>
              <a:rPr lang="fr-FR" dirty="0" smtClean="0"/>
              <a:t>:</a:t>
            </a:r>
            <a:endParaRPr lang="fr-FR" dirty="0"/>
          </a:p>
        </p:txBody>
      </p:sp>
      <p:sp>
        <p:nvSpPr>
          <p:cNvPr id="3" name="Espace réservé du contenu 2"/>
          <p:cNvSpPr>
            <a:spLocks noGrp="1"/>
          </p:cNvSpPr>
          <p:nvPr>
            <p:ph sz="quarter" idx="1"/>
          </p:nvPr>
        </p:nvSpPr>
        <p:spPr/>
        <p:txBody>
          <a:bodyPr/>
          <a:lstStyle/>
          <a:p>
            <a:endParaRPr lang="fr-FR" dirty="0" smtClean="0"/>
          </a:p>
          <a:p>
            <a:endParaRPr lang="fr-FR" dirty="0" smtClean="0"/>
          </a:p>
          <a:p>
            <a:r>
              <a:rPr lang="fr-FR" dirty="0" smtClean="0">
                <a:latin typeface="Calibri" pitchFamily="34" charset="0"/>
                <a:cs typeface="Calibri" pitchFamily="34" charset="0"/>
              </a:rPr>
              <a:t>La meilleure compréhension anatomo-physiologique des MCOV a conduit à enrichir notre arsenal thérapeutique.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u="sng" dirty="0" smtClean="0">
                <a:solidFill>
                  <a:srgbClr val="FF0000"/>
                </a:solidFill>
                <a:latin typeface="Calibri" pitchFamily="34" charset="0"/>
                <a:cs typeface="Calibri" pitchFamily="34" charset="0"/>
              </a:rPr>
              <a:t>Traitement conservateur</a:t>
            </a:r>
          </a:p>
          <a:p>
            <a:pPr>
              <a:buNone/>
            </a:pPr>
            <a:r>
              <a:rPr lang="fr-FR" dirty="0" smtClean="0">
                <a:latin typeface="Calibri" pitchFamily="34" charset="0"/>
                <a:cs typeface="Calibri" pitchFamily="34" charset="0"/>
              </a:rPr>
              <a:t>Il ne permet pas d’obtenir une amélioration durable en cas de souffrance neurologique. Il est indiqué en cas de cervicalgies isolées :</a:t>
            </a:r>
          </a:p>
          <a:p>
            <a:pPr>
              <a:buNone/>
            </a:pPr>
            <a:endParaRPr lang="fr-FR" dirty="0" smtClean="0">
              <a:latin typeface="Calibri" pitchFamily="34" charset="0"/>
              <a:cs typeface="Calibri" pitchFamily="34" charset="0"/>
            </a:endParaRPr>
          </a:p>
          <a:p>
            <a:pPr>
              <a:buNone/>
            </a:pPr>
            <a:r>
              <a:rPr lang="fr-FR" dirty="0" smtClean="0">
                <a:latin typeface="Calibri" pitchFamily="34" charset="0"/>
                <a:cs typeface="Calibri" pitchFamily="34" charset="0"/>
              </a:rPr>
              <a:t>          - Immobilisation du rachis cervical et de la Charnière par le port d'une minerve.</a:t>
            </a:r>
          </a:p>
          <a:p>
            <a:pPr>
              <a:buNone/>
            </a:pPr>
            <a:r>
              <a:rPr lang="fr-FR" dirty="0" smtClean="0">
                <a:latin typeface="Calibri" pitchFamily="34" charset="0"/>
                <a:cs typeface="Calibri" pitchFamily="34" charset="0"/>
              </a:rPr>
              <a:t>          - Traitement anti-inflammatoire et antalgique.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u="sng" dirty="0" smtClean="0">
                <a:solidFill>
                  <a:srgbClr val="FF0000"/>
                </a:solidFill>
                <a:latin typeface="Calibri" pitchFamily="34" charset="0"/>
                <a:cs typeface="Calibri" pitchFamily="34" charset="0"/>
              </a:rPr>
              <a:t>Traitement chirurgical</a:t>
            </a:r>
          </a:p>
          <a:p>
            <a:endParaRPr lang="fr-FR" u="sng" dirty="0" smtClean="0">
              <a:solidFill>
                <a:srgbClr val="FF0000"/>
              </a:solidFill>
              <a:latin typeface="Calibri" pitchFamily="34" charset="0"/>
              <a:cs typeface="Calibri" pitchFamily="34" charset="0"/>
            </a:endParaRPr>
          </a:p>
          <a:p>
            <a:pPr>
              <a:buNone/>
            </a:pPr>
            <a:r>
              <a:rPr lang="fr-FR" dirty="0" smtClean="0">
                <a:latin typeface="Calibri" pitchFamily="34" charset="0"/>
                <a:cs typeface="Calibri" pitchFamily="34" charset="0"/>
              </a:rPr>
              <a:t>        1. But :</a:t>
            </a:r>
          </a:p>
          <a:p>
            <a:pPr>
              <a:buNone/>
            </a:pPr>
            <a:r>
              <a:rPr lang="fr-FR" dirty="0" smtClean="0">
                <a:latin typeface="Calibri" pitchFamily="34" charset="0"/>
                <a:cs typeface="Calibri" pitchFamily="34" charset="0"/>
              </a:rPr>
              <a:t>- Décomprimer la Charnière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-vertébrale et rétablir sa stabilité,</a:t>
            </a:r>
          </a:p>
          <a:p>
            <a:pPr>
              <a:buNone/>
            </a:pPr>
            <a:r>
              <a:rPr lang="fr-FR" dirty="0" smtClean="0">
                <a:latin typeface="Calibri" pitchFamily="34" charset="0"/>
                <a:cs typeface="Calibri" pitchFamily="34" charset="0"/>
              </a:rPr>
              <a:t>- Lever la compression et supprimer la souffrance nerveuse,</a:t>
            </a:r>
          </a:p>
          <a:p>
            <a:pPr>
              <a:buNone/>
            </a:pPr>
            <a:r>
              <a:rPr lang="fr-FR" dirty="0" smtClean="0">
                <a:latin typeface="Calibri" pitchFamily="34" charset="0"/>
                <a:cs typeface="Calibri" pitchFamily="34" charset="0"/>
              </a:rPr>
              <a:t>- Rétablir la circulation du LCR.</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normAutofit fontScale="92500" lnSpcReduction="10000"/>
          </a:bodyPr>
          <a:lstStyle/>
          <a:p>
            <a:r>
              <a:rPr lang="fr-FR" dirty="0" smtClean="0">
                <a:solidFill>
                  <a:srgbClr val="FF0000"/>
                </a:solidFill>
                <a:latin typeface="Calibri" pitchFamily="34" charset="0"/>
                <a:cs typeface="Calibri" pitchFamily="34" charset="0"/>
              </a:rPr>
              <a:t>Indications chirurgicales</a:t>
            </a:r>
          </a:p>
          <a:p>
            <a:pPr>
              <a:buNone/>
            </a:pPr>
            <a:r>
              <a:rPr lang="fr-FR" dirty="0" smtClean="0">
                <a:latin typeface="Calibri" pitchFamily="34" charset="0"/>
                <a:cs typeface="Calibri" pitchFamily="34" charset="0"/>
              </a:rPr>
              <a:t>Les indications sont très controversés, difficiles à poser et dépend avant tout du degré de la souffrance neurologique et de l’évolutivité des symptômes.</a:t>
            </a:r>
          </a:p>
          <a:p>
            <a:pPr>
              <a:buNone/>
            </a:pPr>
            <a:endParaRPr lang="fr-FR" dirty="0" smtClean="0">
              <a:latin typeface="Calibri" pitchFamily="34" charset="0"/>
              <a:cs typeface="Calibri" pitchFamily="34" charset="0"/>
            </a:endParaRPr>
          </a:p>
          <a:p>
            <a:pPr>
              <a:buNone/>
            </a:pPr>
            <a:r>
              <a:rPr lang="fr-FR" dirty="0" smtClean="0">
                <a:latin typeface="Calibri" pitchFamily="34" charset="0"/>
                <a:cs typeface="Calibri" pitchFamily="34" charset="0"/>
              </a:rPr>
              <a:t>- Une malformation radiologiquement importante mais asymptomatique ou de découverte fortuite, une simple surveillance sera instaurée.</a:t>
            </a:r>
          </a:p>
          <a:p>
            <a:pPr>
              <a:buNone/>
            </a:pPr>
            <a:endParaRPr lang="fr-FR" dirty="0" smtClean="0">
              <a:latin typeface="Calibri" pitchFamily="34" charset="0"/>
              <a:cs typeface="Calibri" pitchFamily="34" charset="0"/>
            </a:endParaRPr>
          </a:p>
          <a:p>
            <a:pPr>
              <a:buNone/>
            </a:pPr>
            <a:r>
              <a:rPr lang="fr-FR" dirty="0" smtClean="0">
                <a:latin typeface="Calibri" pitchFamily="34" charset="0"/>
                <a:cs typeface="Calibri" pitchFamily="34" charset="0"/>
              </a:rPr>
              <a:t>- Inversement, un déficit neurologique amène à considérer précocement l’indication chirurgicale.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u="sng" dirty="0" smtClean="0">
                <a:solidFill>
                  <a:srgbClr val="FF0000"/>
                </a:solidFill>
                <a:latin typeface="Calibri" pitchFamily="34" charset="0"/>
                <a:cs typeface="Calibri" pitchFamily="34" charset="0"/>
              </a:rPr>
              <a:t>Modalités thérapeutiques</a:t>
            </a:r>
          </a:p>
          <a:p>
            <a:endParaRPr lang="fr-FR" u="sng" dirty="0" smtClean="0">
              <a:solidFill>
                <a:srgbClr val="FF0000"/>
              </a:solidFill>
              <a:latin typeface="Calibri" pitchFamily="34" charset="0"/>
              <a:cs typeface="Calibri" pitchFamily="34" charset="0"/>
            </a:endParaRPr>
          </a:p>
          <a:p>
            <a:endParaRPr lang="fr-FR" u="sng" dirty="0" smtClean="0">
              <a:solidFill>
                <a:srgbClr val="FF0000"/>
              </a:solidFill>
              <a:latin typeface="Calibri" pitchFamily="34" charset="0"/>
              <a:cs typeface="Calibri" pitchFamily="34" charset="0"/>
            </a:endParaRPr>
          </a:p>
          <a:p>
            <a:pPr>
              <a:buNone/>
            </a:pPr>
            <a:r>
              <a:rPr lang="fr-FR" dirty="0" smtClean="0">
                <a:latin typeface="Calibri" pitchFamily="34" charset="0"/>
                <a:cs typeface="Calibri" pitchFamily="34" charset="0"/>
              </a:rPr>
              <a:t>   Les choix thérapeutiques se déterminent selon les formes cliniques et anatomiques en présence :</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endParaRPr lang="fr-FR" dirty="0" smtClean="0"/>
          </a:p>
          <a:p>
            <a:r>
              <a:rPr lang="fr-FR" u="sng" dirty="0" smtClean="0">
                <a:solidFill>
                  <a:srgbClr val="FF0000"/>
                </a:solidFill>
                <a:latin typeface="Calibri" pitchFamily="34" charset="0"/>
                <a:cs typeface="Calibri" pitchFamily="34" charset="0"/>
              </a:rPr>
              <a:t>Malformation de Chiari :</a:t>
            </a:r>
          </a:p>
          <a:p>
            <a:endParaRPr lang="fr-FR" u="sng" dirty="0" smtClean="0">
              <a:solidFill>
                <a:srgbClr val="FF0000"/>
              </a:solidFill>
              <a:latin typeface="Calibri" pitchFamily="34" charset="0"/>
              <a:cs typeface="Calibri" pitchFamily="34" charset="0"/>
            </a:endParaRPr>
          </a:p>
          <a:p>
            <a:pPr>
              <a:buNone/>
            </a:pPr>
            <a:r>
              <a:rPr lang="fr-FR" dirty="0" smtClean="0">
                <a:latin typeface="Calibri" pitchFamily="34" charset="0"/>
                <a:cs typeface="Calibri" pitchFamily="34" charset="0"/>
              </a:rPr>
              <a:t>• La décompression osseuse du trou occipital par </a:t>
            </a:r>
            <a:r>
              <a:rPr lang="fr-FR" dirty="0" err="1" smtClean="0">
                <a:latin typeface="Calibri" pitchFamily="34" charset="0"/>
                <a:cs typeface="Calibri" pitchFamily="34" charset="0"/>
              </a:rPr>
              <a:t>crâniectomie</a:t>
            </a:r>
            <a:r>
              <a:rPr lang="fr-FR" dirty="0" smtClean="0">
                <a:latin typeface="Calibri" pitchFamily="34" charset="0"/>
                <a:cs typeface="Calibri" pitchFamily="34" charset="0"/>
              </a:rPr>
              <a:t>,</a:t>
            </a:r>
          </a:p>
          <a:p>
            <a:pPr>
              <a:buNone/>
            </a:pPr>
            <a:r>
              <a:rPr lang="fr-FR" dirty="0" smtClean="0">
                <a:latin typeface="Calibri" pitchFamily="34" charset="0"/>
                <a:cs typeface="Calibri" pitchFamily="34" charset="0"/>
              </a:rPr>
              <a:t>• Laminectomie C1 (ou C1-C2),</a:t>
            </a:r>
          </a:p>
          <a:p>
            <a:pPr>
              <a:buNone/>
            </a:pPr>
            <a:r>
              <a:rPr lang="fr-FR" dirty="0" smtClean="0">
                <a:latin typeface="Calibri" pitchFamily="34" charset="0"/>
                <a:cs typeface="Calibri" pitchFamily="34" charset="0"/>
              </a:rPr>
              <a:t>• élargissement dural.</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smtClean="0">
                <a:solidFill>
                  <a:srgbClr val="FF0000"/>
                </a:solidFill>
                <a:latin typeface="Calibri" pitchFamily="34" charset="0"/>
                <a:cs typeface="Calibri" pitchFamily="34" charset="0"/>
              </a:rPr>
              <a:t>l'invagination basilaire isolée et symptomatique :</a:t>
            </a:r>
          </a:p>
          <a:p>
            <a:pPr>
              <a:buNone/>
            </a:pPr>
            <a:r>
              <a:rPr lang="fr-FR" dirty="0" smtClean="0">
                <a:latin typeface="Calibri" pitchFamily="34" charset="0"/>
                <a:cs typeface="Calibri" pitchFamily="34" charset="0"/>
              </a:rPr>
              <a:t>• un abord </a:t>
            </a:r>
            <a:r>
              <a:rPr lang="fr-FR" dirty="0" err="1" smtClean="0">
                <a:latin typeface="Calibri" pitchFamily="34" charset="0"/>
                <a:cs typeface="Calibri" pitchFamily="34" charset="0"/>
              </a:rPr>
              <a:t>trans</a:t>
            </a:r>
            <a:r>
              <a:rPr lang="fr-FR" dirty="0" smtClean="0">
                <a:latin typeface="Calibri" pitchFamily="34" charset="0"/>
                <a:cs typeface="Calibri" pitchFamily="34" charset="0"/>
              </a:rPr>
              <a:t>-oral pourra être réalisé,</a:t>
            </a:r>
          </a:p>
          <a:p>
            <a:pPr>
              <a:buNone/>
            </a:pPr>
            <a:r>
              <a:rPr lang="fr-FR" dirty="0" smtClean="0">
                <a:latin typeface="Calibri" pitchFamily="34" charset="0"/>
                <a:cs typeface="Calibri" pitchFamily="34" charset="0"/>
              </a:rPr>
              <a:t>• souvent associé à une fixation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-cervicale (si nécessaire).</a:t>
            </a:r>
          </a:p>
          <a:p>
            <a:pPr>
              <a:buNone/>
            </a:pPr>
            <a:endParaRPr lang="fr-FR" dirty="0" smtClean="0">
              <a:latin typeface="Calibri" pitchFamily="34" charset="0"/>
              <a:cs typeface="Calibri" pitchFamily="34" charset="0"/>
            </a:endParaRPr>
          </a:p>
          <a:p>
            <a:r>
              <a:rPr lang="fr-FR" dirty="0" smtClean="0">
                <a:solidFill>
                  <a:srgbClr val="FF0000"/>
                </a:solidFill>
                <a:latin typeface="Calibri" pitchFamily="34" charset="0"/>
                <a:cs typeface="Calibri" pitchFamily="34" charset="0"/>
              </a:rPr>
              <a:t>Les formes mixtes :</a:t>
            </a:r>
          </a:p>
          <a:p>
            <a:pPr>
              <a:buNone/>
            </a:pPr>
            <a:r>
              <a:rPr lang="fr-FR" dirty="0" smtClean="0">
                <a:latin typeface="Calibri" pitchFamily="34" charset="0"/>
                <a:cs typeface="Calibri" pitchFamily="34" charset="0"/>
              </a:rPr>
              <a:t>• une décompression postérieure première,</a:t>
            </a:r>
          </a:p>
          <a:p>
            <a:pPr>
              <a:buNone/>
            </a:pPr>
            <a:r>
              <a:rPr lang="fr-FR" dirty="0" smtClean="0">
                <a:latin typeface="Calibri" pitchFamily="34" charset="0"/>
                <a:cs typeface="Calibri" pitchFamily="34" charset="0"/>
              </a:rPr>
              <a:t>• sous couvert d'une fixation postérieure éventuelle.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endParaRPr lang="fr-FR"/>
          </a:p>
        </p:txBody>
      </p:sp>
      <p:sp>
        <p:nvSpPr>
          <p:cNvPr id="3" name="Espace réservé du contenu 2"/>
          <p:cNvSpPr>
            <a:spLocks noGrp="1"/>
          </p:cNvSpPr>
          <p:nvPr>
            <p:ph sz="quarter" idx="1"/>
          </p:nvPr>
        </p:nvSpPr>
        <p:spPr/>
        <p:txBody>
          <a:bodyPr/>
          <a:lstStyle/>
          <a:p>
            <a:r>
              <a:rPr lang="fr-FR" dirty="0" smtClean="0">
                <a:solidFill>
                  <a:srgbClr val="FF0000"/>
                </a:solidFill>
                <a:latin typeface="Calibri" pitchFamily="34" charset="0"/>
                <a:cs typeface="Calibri" pitchFamily="34" charset="0"/>
              </a:rPr>
              <a:t>Syringomyélie :</a:t>
            </a:r>
          </a:p>
          <a:p>
            <a:pPr>
              <a:buNone/>
            </a:pPr>
            <a:r>
              <a:rPr lang="fr-FR" dirty="0" smtClean="0">
                <a:latin typeface="Calibri" pitchFamily="34" charset="0"/>
                <a:cs typeface="Calibri" pitchFamily="34" charset="0"/>
              </a:rPr>
              <a:t>• Drainage (</a:t>
            </a:r>
            <a:r>
              <a:rPr lang="fr-FR" dirty="0" err="1" smtClean="0">
                <a:latin typeface="Calibri" pitchFamily="34" charset="0"/>
                <a:cs typeface="Calibri" pitchFamily="34" charset="0"/>
              </a:rPr>
              <a:t>syringo</a:t>
            </a:r>
            <a:r>
              <a:rPr lang="fr-FR" dirty="0" smtClean="0">
                <a:latin typeface="Calibri" pitchFamily="34" charset="0"/>
                <a:cs typeface="Calibri" pitchFamily="34" charset="0"/>
              </a:rPr>
              <a:t>-péritonéale ou </a:t>
            </a:r>
            <a:r>
              <a:rPr lang="fr-FR" dirty="0" err="1" smtClean="0">
                <a:latin typeface="Calibri" pitchFamily="34" charset="0"/>
                <a:cs typeface="Calibri" pitchFamily="34" charset="0"/>
              </a:rPr>
              <a:t>syringo</a:t>
            </a:r>
            <a:r>
              <a:rPr lang="fr-FR" dirty="0" smtClean="0">
                <a:latin typeface="Calibri" pitchFamily="34" charset="0"/>
                <a:cs typeface="Calibri" pitchFamily="34" charset="0"/>
              </a:rPr>
              <a:t>-</a:t>
            </a:r>
            <a:r>
              <a:rPr lang="fr-FR" dirty="0" err="1" smtClean="0">
                <a:latin typeface="Calibri" pitchFamily="34" charset="0"/>
                <a:cs typeface="Calibri" pitchFamily="34" charset="0"/>
              </a:rPr>
              <a:t>sous-arachnoidien</a:t>
            </a:r>
            <a:r>
              <a:rPr lang="fr-FR" dirty="0" smtClean="0">
                <a:latin typeface="Calibri" pitchFamily="34" charset="0"/>
                <a:cs typeface="Calibri" pitchFamily="34" charset="0"/>
              </a:rPr>
              <a:t>),</a:t>
            </a:r>
          </a:p>
          <a:p>
            <a:pPr>
              <a:buNone/>
            </a:pPr>
            <a:r>
              <a:rPr lang="fr-FR" dirty="0" smtClean="0">
                <a:latin typeface="Calibri" pitchFamily="34" charset="0"/>
                <a:cs typeface="Calibri" pitchFamily="34" charset="0"/>
              </a:rPr>
              <a:t>• Décompression de la charnière.</a:t>
            </a:r>
          </a:p>
          <a:p>
            <a:pPr>
              <a:buNone/>
            </a:pPr>
            <a:endParaRPr lang="fr-FR" dirty="0" smtClean="0">
              <a:latin typeface="Calibri" pitchFamily="34" charset="0"/>
              <a:cs typeface="Calibri" pitchFamily="34" charset="0"/>
            </a:endParaRPr>
          </a:p>
          <a:p>
            <a:r>
              <a:rPr lang="fr-FR" dirty="0" smtClean="0">
                <a:solidFill>
                  <a:srgbClr val="FF0000"/>
                </a:solidFill>
                <a:latin typeface="Calibri" pitchFamily="34" charset="0"/>
                <a:cs typeface="Calibri" pitchFamily="34" charset="0"/>
              </a:rPr>
              <a:t>Hydrocéphalie :</a:t>
            </a:r>
          </a:p>
          <a:p>
            <a:pPr>
              <a:buNone/>
            </a:pPr>
            <a:r>
              <a:rPr lang="fr-FR" dirty="0" smtClean="0">
                <a:latin typeface="Calibri" pitchFamily="34" charset="0"/>
                <a:cs typeface="Calibri" pitchFamily="34" charset="0"/>
              </a:rPr>
              <a:t>• Dérivation du LCR (dérivation </a:t>
            </a:r>
            <a:r>
              <a:rPr lang="fr-FR" dirty="0" err="1" smtClean="0">
                <a:latin typeface="Calibri" pitchFamily="34" charset="0"/>
                <a:cs typeface="Calibri" pitchFamily="34" charset="0"/>
              </a:rPr>
              <a:t>ventriculo</a:t>
            </a:r>
            <a:r>
              <a:rPr lang="fr-FR" dirty="0" smtClean="0">
                <a:latin typeface="Calibri" pitchFamily="34" charset="0"/>
                <a:cs typeface="Calibri" pitchFamily="34" charset="0"/>
              </a:rPr>
              <a:t>-péritonéale).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smtClean="0"/>
              <a:t>VIII. Conclusion</a:t>
            </a:r>
            <a:r>
              <a:rPr lang="fr-FR" dirty="0" smtClean="0"/>
              <a:t>:</a:t>
            </a:r>
            <a:endParaRPr lang="fr-FR" dirty="0"/>
          </a:p>
        </p:txBody>
      </p:sp>
      <p:sp>
        <p:nvSpPr>
          <p:cNvPr id="3" name="Espace réservé du contenu 2"/>
          <p:cNvSpPr>
            <a:spLocks noGrp="1"/>
          </p:cNvSpPr>
          <p:nvPr>
            <p:ph sz="quarter" idx="1"/>
          </p:nvPr>
        </p:nvSpPr>
        <p:spPr/>
        <p:txBody>
          <a:bodyPr>
            <a:normAutofit lnSpcReduction="10000"/>
          </a:bodyPr>
          <a:lstStyle/>
          <a:p>
            <a:r>
              <a:rPr lang="fr-FR" dirty="0" smtClean="0">
                <a:latin typeface="Calibri" pitchFamily="34" charset="0"/>
                <a:cs typeface="Calibri" pitchFamily="34" charset="0"/>
              </a:rPr>
              <a:t>La Charnière </a:t>
            </a:r>
            <a:r>
              <a:rPr lang="fr-FR" dirty="0" err="1" smtClean="0">
                <a:latin typeface="Calibri" pitchFamily="34" charset="0"/>
                <a:cs typeface="Calibri" pitchFamily="34" charset="0"/>
              </a:rPr>
              <a:t>Occipito</a:t>
            </a:r>
            <a:r>
              <a:rPr lang="fr-FR" dirty="0" smtClean="0">
                <a:latin typeface="Calibri" pitchFamily="34" charset="0"/>
                <a:cs typeface="Calibri" pitchFamily="34" charset="0"/>
              </a:rPr>
              <a:t>-Vertébrale est une zone anatomique complexe à proximité des structures vitales. Sa pathologie est variée, pouvant s’intégrer dans un syndrome </a:t>
            </a:r>
            <a:r>
              <a:rPr lang="fr-FR" dirty="0" err="1" smtClean="0">
                <a:latin typeface="Calibri" pitchFamily="34" charset="0"/>
                <a:cs typeface="Calibri" pitchFamily="34" charset="0"/>
              </a:rPr>
              <a:t>polymalformatif</a:t>
            </a:r>
            <a:r>
              <a:rPr lang="fr-FR" dirty="0" smtClean="0">
                <a:latin typeface="Calibri" pitchFamily="34" charset="0"/>
                <a:cs typeface="Calibri" pitchFamily="34" charset="0"/>
              </a:rPr>
              <a:t> dont la symptomatologie clinique est polymorphe nécessitant d’adapter les moyens d’imagerie aux symptômes cliniques et à la malformation recherchée. La connaissance des repères radio-anatomiques normaux, ainsi que les variantes de la normale, est nécessaire pour permettre de faire le diagnostic et d’adapter le traitement à la malformation en cause.</a:t>
            </a:r>
            <a:endParaRPr lang="fr-FR" dirty="0">
              <a:latin typeface="Calibri" pitchFamily="34" charset="0"/>
              <a:cs typeface="Calibri" pitchFamily="34" charset="0"/>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ivil">
  <a:themeElements>
    <a:clrScheme name="Civil">
      <a:dk1>
        <a:sysClr val="windowText" lastClr="000000"/>
      </a:dk1>
      <a:lt1>
        <a:sysClr val="window" lastClr="FFFFFF"/>
      </a:lt1>
      <a:dk2>
        <a:srgbClr val="646B86"/>
      </a:dk2>
      <a:lt2>
        <a:srgbClr val="C5D1D7"/>
      </a:lt2>
      <a:accent1>
        <a:srgbClr val="D16349"/>
      </a:accent1>
      <a:accent2>
        <a:srgbClr val="CCB400"/>
      </a:accent2>
      <a:accent3>
        <a:srgbClr val="8CADAE"/>
      </a:accent3>
      <a:accent4>
        <a:srgbClr val="8C7B70"/>
      </a:accent4>
      <a:accent5>
        <a:srgbClr val="8FB08C"/>
      </a:accent5>
      <a:accent6>
        <a:srgbClr val="D19049"/>
      </a:accent6>
      <a:hlink>
        <a:srgbClr val="00A3D6"/>
      </a:hlink>
      <a:folHlink>
        <a:srgbClr val="694F07"/>
      </a:folHlink>
    </a:clrScheme>
    <a:fontScheme name="Civil">
      <a:majorFont>
        <a:latin typeface="Georgia"/>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Georgia"/>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Civil">
      <a:fillStyleLst>
        <a:solidFill>
          <a:schemeClr val="phClr"/>
        </a:solidFill>
        <a:solidFill>
          <a:schemeClr val="phClr">
            <a:tint val="45000"/>
          </a:schemeClr>
        </a:solidFill>
        <a:solidFill>
          <a:schemeClr val="phClr">
            <a:tint val="95000"/>
          </a:schemeClr>
        </a:solidFill>
      </a:fillStyleLst>
      <a:lnStyleLst>
        <a:ln w="9525" cap="flat" cmpd="sng" algn="ctr">
          <a:solidFill>
            <a:schemeClr val="phClr"/>
          </a:solidFill>
          <a:prstDash val="solid"/>
        </a:ln>
        <a:ln w="11429" cap="flat" cmpd="sng" algn="ctr">
          <a:solidFill>
            <a:schemeClr val="phClr"/>
          </a:solidFill>
          <a:prstDash val="sysDash"/>
        </a:ln>
        <a:ln w="20000" cap="flat" cmpd="sng" algn="ctr">
          <a:solidFill>
            <a:schemeClr val="phClr"/>
          </a:solidFill>
          <a:prstDash val="solid"/>
        </a:ln>
      </a:lnStyleLst>
      <a:effectStyleLst>
        <a:effectStyle>
          <a:effectLst>
            <a:outerShdw blurRad="50800" dist="25400" dir="5400000" rotWithShape="0">
              <a:srgbClr val="000000">
                <a:alpha val="35000"/>
              </a:srgbClr>
            </a:outerShdw>
          </a:effectLst>
        </a:effectStyle>
        <a:effectStyle>
          <a:effectLst>
            <a:outerShdw blurRad="50800" dist="25400" dir="5400000" rotWithShape="0">
              <a:srgbClr val="000000">
                <a:alpha val="45000"/>
              </a:srgbClr>
            </a:outerShdw>
          </a:effectLst>
          <a:scene3d>
            <a:camera prst="orthographicFront" fov="0">
              <a:rot lat="0" lon="0" rev="0"/>
            </a:camera>
            <a:lightRig rig="threePt" dir="t">
              <a:rot lat="0" lon="0" rev="0"/>
            </a:lightRig>
          </a:scene3d>
          <a:sp3d contourW="9525" prstMaterial="matte">
            <a:bevelT w="0" h="0"/>
            <a:contourClr>
              <a:schemeClr val="phClr">
                <a:shade val="70000"/>
                <a:satMod val="105000"/>
              </a:schemeClr>
            </a:contourClr>
          </a:sp3d>
        </a:effectStyle>
        <a:effectStyle>
          <a:effectLst>
            <a:outerShdw blurRad="50800" dist="25400" dir="5400000" rotWithShape="0">
              <a:srgbClr val="000000">
                <a:alpha val="45000"/>
              </a:srgbClr>
            </a:outerShdw>
          </a:effectLst>
          <a:scene3d>
            <a:camera prst="orthographicFront" fov="0">
              <a:rot lat="0" lon="0" rev="0"/>
            </a:camera>
            <a:lightRig rig="soft" dir="b">
              <a:rot lat="0" lon="0" rev="0"/>
            </a:lightRig>
          </a:scene3d>
          <a:sp3d prstMaterial="dkEdge">
            <a:bevelT w="63500" h="63500" prst="cross"/>
            <a:contourClr>
              <a:schemeClr val="phClr"/>
            </a:contourClr>
          </a:sp3d>
        </a:effectStyle>
      </a:effectStyleLst>
      <a:bgFillStyleLst>
        <a:solidFill>
          <a:schemeClr val="phClr"/>
        </a:solidFill>
        <a:blipFill>
          <a:blip xmlns:r="http://schemas.openxmlformats.org/officeDocument/2006/relationships" r:embed="rId1">
            <a:duotone>
              <a:schemeClr val="phClr">
                <a:shade val="70000"/>
                <a:satMod val="115000"/>
              </a:schemeClr>
              <a:schemeClr val="phClr">
                <a:tint val="85000"/>
              </a:schemeClr>
            </a:duotone>
          </a:blip>
          <a:tile tx="0" ty="0" sx="85000" sy="85000" flip="none" algn="tl"/>
        </a:blipFill>
        <a:blipFill>
          <a:blip xmlns:r="http://schemas.openxmlformats.org/officeDocument/2006/relationships" r:embed="rId2">
            <a:duotone>
              <a:schemeClr val="phClr">
                <a:shade val="65000"/>
                <a:satMod val="115000"/>
              </a:schemeClr>
              <a:schemeClr val="phClr">
                <a:tint val="85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137</TotalTime>
  <Words>1941</Words>
  <PresentationFormat>Affichage à l'écran (4:3)</PresentationFormat>
  <Paragraphs>200</Paragraphs>
  <Slides>49</Slides>
  <Notes>0</Notes>
  <HiddenSlides>0</HiddenSlides>
  <MMClips>0</MMClips>
  <ScaleCrop>false</ScaleCrop>
  <HeadingPairs>
    <vt:vector size="4" baseType="variant">
      <vt:variant>
        <vt:lpstr>Thème</vt:lpstr>
      </vt:variant>
      <vt:variant>
        <vt:i4>1</vt:i4>
      </vt:variant>
      <vt:variant>
        <vt:lpstr>Titres des diapositives</vt:lpstr>
      </vt:variant>
      <vt:variant>
        <vt:i4>49</vt:i4>
      </vt:variant>
    </vt:vector>
  </HeadingPairs>
  <TitlesOfParts>
    <vt:vector size="50" baseType="lpstr">
      <vt:lpstr>Civil</vt:lpstr>
      <vt:lpstr>LES MALFORMATIONS DE LA CHARNIERE OCCIPITO-VERTÉBRALE  (MCOV)</vt:lpstr>
      <vt:lpstr>Plan: </vt:lpstr>
      <vt:lpstr>Objectifs</vt:lpstr>
      <vt:lpstr>I. INTRODUCTION ET DEFINITION :</vt:lpstr>
      <vt:lpstr>II. Epidémiologie</vt:lpstr>
      <vt:lpstr>III. RAPPEL ANATOMIQUE</vt:lpstr>
      <vt:lpstr>Diapositive 7</vt:lpstr>
      <vt:lpstr>Diapositive 8</vt:lpstr>
      <vt:lpstr>Diapositive 9</vt:lpstr>
      <vt:lpstr>IV. SEMIOLOGIE CLINIQUE :</vt:lpstr>
      <vt:lpstr>Diapositive 11</vt:lpstr>
      <vt:lpstr>Diapositive 12</vt:lpstr>
      <vt:lpstr>Diapositive 13</vt:lpstr>
      <vt:lpstr>Evolution :</vt:lpstr>
      <vt:lpstr>V. EXPLORATION RADIOLOGIQUE :</vt:lpstr>
      <vt:lpstr>Diapositive 16</vt:lpstr>
      <vt:lpstr>Diapositive 17</vt:lpstr>
      <vt:lpstr>Face (plan frontal)</vt:lpstr>
      <vt:lpstr>Diapositive 19</vt:lpstr>
      <vt:lpstr>Diapositive 20</vt:lpstr>
      <vt:lpstr>VI. ANATOMIE PATHOLOGIE</vt:lpstr>
      <vt:lpstr>Diapositive 22</vt:lpstr>
      <vt:lpstr>Diapositive 23</vt:lpstr>
      <vt:lpstr>Diapositive 24</vt:lpstr>
      <vt:lpstr>Diapositive 25</vt:lpstr>
      <vt:lpstr>Diapositive 26</vt:lpstr>
      <vt:lpstr>Diapositive 27</vt:lpstr>
      <vt:lpstr>Diapositive 28</vt:lpstr>
      <vt:lpstr>Diapositive 29</vt:lpstr>
      <vt:lpstr>Diapositive 30</vt:lpstr>
      <vt:lpstr>Diapositive 31</vt:lpstr>
      <vt:lpstr>Diapositive 32</vt:lpstr>
      <vt:lpstr>Diapositive 33</vt:lpstr>
      <vt:lpstr>Diapositive 34</vt:lpstr>
      <vt:lpstr>Diapositive 35</vt:lpstr>
      <vt:lpstr>Diapositive 36</vt:lpstr>
      <vt:lpstr>Diapositive 37</vt:lpstr>
      <vt:lpstr>Diapositive 38</vt:lpstr>
      <vt:lpstr>Diapositive 39</vt:lpstr>
      <vt:lpstr>Diapositive 40</vt:lpstr>
      <vt:lpstr>VII. TRAITEMENT :</vt:lpstr>
      <vt:lpstr>Diapositive 42</vt:lpstr>
      <vt:lpstr>Diapositive 43</vt:lpstr>
      <vt:lpstr>Diapositive 44</vt:lpstr>
      <vt:lpstr>Diapositive 45</vt:lpstr>
      <vt:lpstr>Diapositive 46</vt:lpstr>
      <vt:lpstr>Diapositive 47</vt:lpstr>
      <vt:lpstr>Diapositive 48</vt:lpstr>
      <vt:lpstr>VIII. 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 MALFORMATIONS DE LA CHARNIERE OCCIPITO-VERTÉBRALE (MCOV)</dc:title>
  <dc:creator>pc</dc:creator>
  <cp:lastModifiedBy>pc</cp:lastModifiedBy>
  <cp:revision>27</cp:revision>
  <dcterms:created xsi:type="dcterms:W3CDTF">2026-05-04T21:24:13Z</dcterms:created>
  <dcterms:modified xsi:type="dcterms:W3CDTF">2026-05-05T09:31:01Z</dcterms:modified>
</cp:coreProperties>
</file>