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4"/>
  </p:notes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91" r:id="rId9"/>
    <p:sldId id="261" r:id="rId10"/>
    <p:sldId id="262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6" r:id="rId22"/>
    <p:sldId id="277" r:id="rId23"/>
    <p:sldId id="279" r:id="rId24"/>
    <p:sldId id="288" r:id="rId25"/>
    <p:sldId id="280" r:id="rId26"/>
    <p:sldId id="281" r:id="rId27"/>
    <p:sldId id="284" r:id="rId28"/>
    <p:sldId id="282" r:id="rId29"/>
    <p:sldId id="283" r:id="rId30"/>
    <p:sldId id="285" r:id="rId31"/>
    <p:sldId id="286" r:id="rId32"/>
    <p:sldId id="290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797BF-5CF2-4058-8AB1-F8338BDECDEE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0BD4A-5D5B-4592-A994-7C4CC872B3B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5E3749A-94F2-4124-9434-749FA07F2A18}" type="datetimeFigureOut">
              <a:rPr lang="fr-FR" smtClean="0"/>
              <a:pPr/>
              <a:t>05/03/2025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F184DD8-DC14-4782-9E2C-7297AD2BB9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Dr </a:t>
            </a:r>
            <a:r>
              <a:rPr lang="fr-FR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fr-FR" b="1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ohamed Amine KECIR</a:t>
            </a:r>
            <a:endParaRPr lang="fr-FR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Maitre assistant en chirurgie thoracique           </a:t>
            </a:r>
          </a:p>
          <a:p>
            <a:r>
              <a:rPr lang="fr-FR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fr-FR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Faculté de Médecine de Constantine</a:t>
            </a:r>
            <a:endParaRPr lang="fr-FR" i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i="1" u="sng" dirty="0" smtClean="0">
                <a:solidFill>
                  <a:srgbClr val="0070C0"/>
                </a:solidFill>
                <a:latin typeface="Arial Narrow" pitchFamily="34" charset="0"/>
                <a:ea typeface="Calibri" pitchFamily="34" charset="0"/>
                <a:cs typeface="Times New Roman" pitchFamily="18" charset="0"/>
              </a:rPr>
              <a:t>LE PNEUMOTHORAX</a:t>
            </a:r>
            <a:endParaRPr lang="fr-FR" dirty="0"/>
          </a:p>
        </p:txBody>
      </p:sp>
      <p:pic>
        <p:nvPicPr>
          <p:cNvPr id="4" name="Image 3" descr="uni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0"/>
            <a:ext cx="2169092" cy="1285860"/>
          </a:xfrm>
          <a:prstGeom prst="rect">
            <a:avLst/>
          </a:prstGeom>
        </p:spPr>
      </p:pic>
      <p:pic>
        <p:nvPicPr>
          <p:cNvPr id="5" name="Image 4" descr="med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00" y="0"/>
            <a:ext cx="2466500" cy="1428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28860" y="285734"/>
            <a:ext cx="44291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200" u="sng" dirty="0" smtClean="0"/>
              <a:t>REPUBLIQUE ALGERIENNE DEMOCRATIQUE ET POPULAIRE</a:t>
            </a:r>
            <a:br>
              <a:rPr lang="fr-FR" sz="1200" u="sng" dirty="0" smtClean="0"/>
            </a:br>
            <a:r>
              <a:rPr lang="fr-FR" sz="1200" u="sng" dirty="0" smtClean="0"/>
              <a:t>MINISTERE DE L’ENSEIGNEMENT SUPERIEUR ET DE LA RECHERCHE SCIENTIFIQUE</a:t>
            </a:r>
            <a:br>
              <a:rPr lang="fr-FR" sz="1200" u="sng" dirty="0" smtClean="0"/>
            </a:br>
            <a:r>
              <a:rPr lang="fr-FR" sz="1200" dirty="0" smtClean="0"/>
              <a:t>FACULTÉ DE MEDECINE DE CONSTANTINE</a:t>
            </a:r>
            <a:br>
              <a:rPr lang="fr-FR" sz="1200" dirty="0" smtClean="0"/>
            </a:br>
            <a:r>
              <a:rPr lang="fr-FR" sz="1200" dirty="0" smtClean="0"/>
              <a:t>Département de médecine</a:t>
            </a:r>
            <a:endParaRPr lang="fr-F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Définir un Pneumothorax.</a:t>
            </a:r>
          </a:p>
          <a:p>
            <a:pPr>
              <a:lnSpc>
                <a:spcPct val="150000"/>
              </a:lnSpc>
            </a:pP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Connaitre les  différents mécanismes physiopathologiques.</a:t>
            </a:r>
          </a:p>
          <a:p>
            <a:pPr>
              <a:lnSpc>
                <a:spcPct val="150000"/>
              </a:lnSpc>
            </a:pP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Diagnostiquer un pneumothorax.</a:t>
            </a:r>
          </a:p>
          <a:p>
            <a:pPr>
              <a:lnSpc>
                <a:spcPct val="150000"/>
              </a:lnSpc>
            </a:pP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Identifier les situations d’urgence et entreprendre leur pris en charge.</a:t>
            </a:r>
          </a:p>
          <a:p>
            <a:pPr>
              <a:lnSpc>
                <a:spcPct val="150000"/>
              </a:lnSpc>
            </a:pP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Élaborer une stratégie thérapeutique 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1- DEFINITION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2- INTERET DE LA QUESTION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3- PHYSIOPATHOLOGIE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4- FACTEURS FAVORISANTS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5- DIAGNOSTIC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6- DIAGNOSTIC DE GRAVITE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7- DIAGNOSTIC ETIOLOGIQUE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8- DIAGNOSTIC DIFFERENIEL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9- EVOLUTION 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10- STRATEGIE THERAPEUTIQUE</a:t>
            </a:r>
          </a:p>
          <a:p>
            <a:pPr>
              <a:lnSpc>
                <a:spcPct val="150000"/>
              </a:lnSpc>
              <a:buNone/>
            </a:pPr>
            <a:r>
              <a:rPr lang="fr-FR" b="1" i="1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11- CONCLUSION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1- Définition  </a:t>
            </a:r>
            <a:endParaRPr lang="fr-FR" dirty="0"/>
          </a:p>
        </p:txBody>
      </p:sp>
      <p:pic>
        <p:nvPicPr>
          <p:cNvPr id="4" name="Picture 2" descr="C:\Users\KHALIL\Pictures\Ma\100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4786314" y="2071678"/>
            <a:ext cx="3730190" cy="371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KHALIL\Pictures\Ma\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214282" y="2071678"/>
            <a:ext cx="4028221" cy="364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1- Définition </a:t>
            </a:r>
            <a:endParaRPr lang="fr-F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914400" y="2239781"/>
            <a:ext cx="7772400" cy="298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1- Définition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Spontané :  primaire / secondaire</a:t>
            </a:r>
          </a:p>
          <a:p>
            <a:pPr>
              <a:lnSpc>
                <a:spcPct val="150000"/>
              </a:lnSpc>
            </a:pPr>
            <a:endParaRPr lang="fr-FR" b="1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fr-FR" b="1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fr-FR" b="1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Provoqué: traumatisme / iatrogène.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2- Intérêt de la question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Problème de santé publique</a:t>
            </a:r>
          </a:p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Diagnostic facile  </a:t>
            </a:r>
          </a:p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Urgence thérapeutique = prise en charge rapide.</a:t>
            </a:r>
          </a:p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Evolution / risque de récidives.</a:t>
            </a:r>
          </a:p>
          <a:p>
            <a:pPr>
              <a:lnSpc>
                <a:spcPct val="150000"/>
              </a:lnSpc>
            </a:pPr>
            <a:r>
              <a:rPr lang="fr-FR" b="1" i="1" dirty="0" smtClean="0">
                <a:latin typeface="Arial" pitchFamily="34" charset="0"/>
                <a:cs typeface="Arial" pitchFamily="34" charset="0"/>
              </a:rPr>
              <a:t>La chirurgie +++.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3- MECANISMES PHYSIOPATHOLOGIQUES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58204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Traumatisme/ Iatrogène</a:t>
            </a:r>
            <a:endParaRPr lang="fr-FR" sz="2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3372" y="2428868"/>
            <a:ext cx="3107936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9140" y="2500306"/>
            <a:ext cx="1982663" cy="3267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cs typeface="Arial" pitchFamily="34" charset="0"/>
              </a:rPr>
              <a:t>3- MECANISMES PHYSIOPATHOLOGIQUES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sz="1800" b="1" i="1" dirty="0" smtClean="0">
                <a:latin typeface="Times New Roman" pitchFamily="18" charset="0"/>
                <a:cs typeface="Times New Roman" pitchFamily="18" charset="0"/>
              </a:rPr>
              <a:t>SPONTANE:</a:t>
            </a:r>
          </a:p>
          <a:p>
            <a:pPr>
              <a:buNone/>
            </a:pPr>
            <a:endParaRPr lang="fr-FR" sz="18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18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18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18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1800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sz="1800" b="1" i="1" dirty="0" smtClean="0">
                <a:latin typeface="Times New Roman" pitchFamily="18" charset="0"/>
                <a:cs typeface="Times New Roman" pitchFamily="18" charset="0"/>
              </a:rPr>
              <a:t>BLEPS &lt; 1 cm</a:t>
            </a:r>
            <a:endParaRPr lang="fr-FR" sz="1800" dirty="0" smtClean="0">
              <a:latin typeface="Arial" pitchFamily="34" charset="0"/>
              <a:cs typeface="Arial" pitchFamily="34" charset="0"/>
            </a:endParaRPr>
          </a:p>
          <a:p>
            <a:endParaRPr lang="fr-FR" dirty="0"/>
          </a:p>
        </p:txBody>
      </p:sp>
      <p:pic>
        <p:nvPicPr>
          <p:cNvPr id="4" name="Picture 3" descr="C:\Users\KHALIL\Pictures\Ma\1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2" y="2000240"/>
            <a:ext cx="4763615" cy="33575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>
                <a:cs typeface="Arial" pitchFamily="34" charset="0"/>
              </a:rPr>
              <a:t>3- MECANISMES PHYSIOPATHOLOGIQUES</a:t>
            </a:r>
            <a:endParaRPr lang="fr-FR" dirty="0"/>
          </a:p>
        </p:txBody>
      </p:sp>
      <p:pic>
        <p:nvPicPr>
          <p:cNvPr id="4" name="Picture 2" descr="C:\Users\KHALIL\Pictures\Ma\104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6050" y="1857364"/>
            <a:ext cx="5824203" cy="392909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28662" y="1785926"/>
            <a:ext cx="59293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i="1" dirty="0" smtClean="0">
                <a:latin typeface="Times New Roman" pitchFamily="18" charset="0"/>
                <a:cs typeface="Times New Roman" pitchFamily="18" charset="0"/>
              </a:rPr>
              <a:t>SPONTANE:</a:t>
            </a:r>
          </a:p>
          <a:p>
            <a:pPr>
              <a:buNone/>
            </a:pPr>
            <a:endParaRPr lang="fr-F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i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b="1" i="1" dirty="0" smtClean="0">
                <a:latin typeface="Times New Roman" pitchFamily="18" charset="0"/>
                <a:cs typeface="Times New Roman" pitchFamily="18" charset="0"/>
              </a:rPr>
              <a:t>BULLES &gt; 1 cm</a:t>
            </a:r>
            <a:endParaRPr lang="fr-FR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4- Facteurs favorisants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1- PNO PRIMAIRE</a:t>
            </a:r>
          </a:p>
          <a:p>
            <a:pPr>
              <a:buNone/>
            </a:pP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Adulte jeune (20-30ans)</a:t>
            </a:r>
          </a:p>
          <a:p>
            <a:pPr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- 9 Hommes pour 1 Femme</a:t>
            </a:r>
          </a:p>
          <a:p>
            <a:pPr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Sujet longiligne, très maigre</a:t>
            </a:r>
          </a:p>
          <a:p>
            <a:pPr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L’abus de tabac</a:t>
            </a:r>
            <a:endParaRPr lang="fr-FR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4- Facteurs favorisants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2- PNO SECONDAIRE</a:t>
            </a:r>
          </a:p>
          <a:p>
            <a:pPr>
              <a:buNone/>
            </a:pP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Adulte sup 35 ans</a:t>
            </a:r>
          </a:p>
          <a:p>
            <a:pPr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	- L’abus de tabac; BPCO +++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5- Diagnostic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i="1" dirty="0" smtClean="0">
                <a:latin typeface="Times New Roman" pitchFamily="18" charset="0"/>
                <a:cs typeface="Times New Roman" pitchFamily="18" charset="0"/>
              </a:rPr>
              <a:t>1- Clinique:</a:t>
            </a:r>
          </a:p>
          <a:p>
            <a:pPr>
              <a:buNone/>
            </a:pPr>
            <a:endParaRPr lang="fr-FR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b="1" i="1" dirty="0" smtClean="0">
                <a:latin typeface="Times New Roman" pitchFamily="18" charset="0"/>
                <a:cs typeface="Times New Roman" pitchFamily="18" charset="0"/>
              </a:rPr>
              <a:t>A- Circonstances de découverte:</a:t>
            </a:r>
          </a:p>
          <a:p>
            <a:pPr>
              <a:buNone/>
            </a:pPr>
            <a:endParaRPr lang="fr-FR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FR" b="1" i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i="1" dirty="0" smtClean="0">
                <a:latin typeface="Arial" pitchFamily="34" charset="0"/>
                <a:cs typeface="Arial" pitchFamily="34" charset="0"/>
              </a:rPr>
              <a:t>Effort physique.</a:t>
            </a:r>
          </a:p>
          <a:p>
            <a:endParaRPr lang="fr-FR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i="1" dirty="0" smtClean="0">
                <a:latin typeface="Arial" pitchFamily="34" charset="0"/>
                <a:cs typeface="Arial" pitchFamily="34" charset="0"/>
              </a:rPr>
              <a:t>- Effort respiratoire brutal</a:t>
            </a:r>
          </a:p>
          <a:p>
            <a:pPr>
              <a:buNone/>
            </a:pPr>
            <a:endParaRPr lang="fr-FR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i="1" dirty="0" smtClean="0">
                <a:latin typeface="Arial" pitchFamily="34" charset="0"/>
                <a:cs typeface="Arial" pitchFamily="34" charset="0"/>
              </a:rPr>
              <a:t>- Variations barométriques</a:t>
            </a:r>
          </a:p>
          <a:p>
            <a:endParaRPr lang="fr-FR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i="1" dirty="0" smtClean="0">
                <a:latin typeface="Arial" pitchFamily="34" charset="0"/>
                <a:cs typeface="Arial" pitchFamily="34" charset="0"/>
              </a:rPr>
              <a:t>- Aucune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5- Diagnostic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B- signes fonctionnels: </a:t>
            </a:r>
          </a:p>
          <a:p>
            <a:pPr>
              <a:buFontTx/>
              <a:buChar char="-"/>
            </a:pPr>
            <a:endParaRPr lang="fr-FR" b="1" i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endParaRPr lang="fr-FR" b="1" i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Douleur thoracique: COUP DE POIGNARD</a:t>
            </a:r>
          </a:p>
          <a:p>
            <a:pPr>
              <a:buFontTx/>
              <a:buChar char="-"/>
            </a:pPr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 Dyspnée</a:t>
            </a:r>
          </a:p>
          <a:p>
            <a:pPr>
              <a:buFontTx/>
              <a:buChar char="-"/>
            </a:pPr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 Toux sèche</a:t>
            </a:r>
          </a:p>
          <a:p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Parfois  asymptomatique.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5- Diagnostic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C- signes physiques:</a:t>
            </a:r>
          </a:p>
          <a:p>
            <a:pPr>
              <a:lnSpc>
                <a:spcPct val="150000"/>
              </a:lnSpc>
              <a:buNone/>
            </a:pPr>
            <a:endParaRPr lang="fr-FR" sz="2200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fr-FR" sz="2200" i="1" dirty="0" err="1" smtClean="0">
                <a:latin typeface="Arial" pitchFamily="34" charset="0"/>
                <a:cs typeface="Arial" pitchFamily="34" charset="0"/>
              </a:rPr>
              <a:t>Hémithorax</a:t>
            </a: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 normal ou distendu et moins mobile. </a:t>
            </a:r>
          </a:p>
          <a:p>
            <a:pPr>
              <a:lnSpc>
                <a:spcPct val="150000"/>
              </a:lnSpc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-Tympanisme.</a:t>
            </a:r>
          </a:p>
          <a:p>
            <a:pPr>
              <a:lnSpc>
                <a:spcPct val="150000"/>
              </a:lnSpc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- MV abolis.</a:t>
            </a:r>
          </a:p>
          <a:p>
            <a:pPr>
              <a:lnSpc>
                <a:spcPct val="150000"/>
              </a:lnSpc>
              <a:buNone/>
            </a:pPr>
            <a:r>
              <a:rPr lang="fr-FR" sz="2200" i="1" dirty="0" smtClean="0">
                <a:latin typeface="Arial" pitchFamily="34" charset="0"/>
                <a:cs typeface="Arial" pitchFamily="34" charset="0"/>
              </a:rPr>
              <a:t>- Abolition des VV.</a:t>
            </a:r>
          </a:p>
          <a:p>
            <a:endParaRPr lang="fr-FR" dirty="0"/>
          </a:p>
        </p:txBody>
      </p:sp>
      <p:sp>
        <p:nvSpPr>
          <p:cNvPr id="5" name="Accolade fermante 4"/>
          <p:cNvSpPr/>
          <p:nvPr/>
        </p:nvSpPr>
        <p:spPr>
          <a:xfrm>
            <a:off x="3714744" y="4000504"/>
            <a:ext cx="500066" cy="14287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Organigramme : Alternative 5"/>
          <p:cNvSpPr/>
          <p:nvPr/>
        </p:nvSpPr>
        <p:spPr>
          <a:xfrm>
            <a:off x="5072066" y="4143380"/>
            <a:ext cx="3000396" cy="107157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TRIADE DE GAILLARD</a:t>
            </a: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5- Diagnostic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/>
              <a:t>2- Examens </a:t>
            </a:r>
            <a:r>
              <a:rPr lang="fr-FR" sz="2200" dirty="0" err="1" smtClean="0"/>
              <a:t>paracliniques</a:t>
            </a:r>
            <a:r>
              <a:rPr lang="fr-FR" sz="2200" dirty="0" smtClean="0"/>
              <a:t>: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2200" dirty="0" smtClean="0"/>
              <a:t>A- Radiographie du thorax: </a:t>
            </a:r>
            <a:endParaRPr lang="fr-FR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2928934"/>
            <a:ext cx="4044605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928934"/>
            <a:ext cx="4133458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lèche droite 5"/>
          <p:cNvSpPr/>
          <p:nvPr/>
        </p:nvSpPr>
        <p:spPr>
          <a:xfrm>
            <a:off x="500034" y="428625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10800000">
            <a:off x="7929586" y="450057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5- Diagnostic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/>
              <a:t>B- La TDM thoracique:</a:t>
            </a:r>
            <a:endParaRPr lang="fr-FR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2571744"/>
            <a:ext cx="4500562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571744"/>
            <a:ext cx="4444825" cy="355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lèche droite 5"/>
          <p:cNvSpPr/>
          <p:nvPr/>
        </p:nvSpPr>
        <p:spPr>
          <a:xfrm rot="7352327">
            <a:off x="3050006" y="25864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>
            <a:off x="4643438" y="414338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6- Diagnostic de gravité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000" b="1" i="1" dirty="0" smtClean="0">
                <a:latin typeface="Arial" pitchFamily="34" charset="0"/>
                <a:cs typeface="Arial" pitchFamily="34" charset="0"/>
              </a:rPr>
              <a:t>1- Clinique:</a:t>
            </a:r>
          </a:p>
          <a:p>
            <a:pPr>
              <a:lnSpc>
                <a:spcPct val="150000"/>
              </a:lnSpc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Antécédents respiratoires (I.R obstructive ou restrictive, Séquelles pleuro pulmonaires…)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PNO Bilatéral.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Détresse respiratoire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Détresse hémodynamique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Syndrome d’épanchement liquidien surajouté</a:t>
            </a:r>
          </a:p>
          <a:p>
            <a:pPr>
              <a:buNone/>
            </a:pPr>
            <a:endParaRPr lang="fr-FR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6- Diagnostic de gravité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fr-FR" sz="2200" b="1" dirty="0" smtClean="0"/>
          </a:p>
          <a:p>
            <a:pPr>
              <a:buNone/>
            </a:pPr>
            <a:r>
              <a:rPr lang="fr-FR" sz="2200" b="1" dirty="0" smtClean="0"/>
              <a:t>2- Radiologique: </a:t>
            </a:r>
          </a:p>
          <a:p>
            <a:pPr>
              <a:buNone/>
            </a:pPr>
            <a:endParaRPr lang="fr-FR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3500438"/>
            <a:ext cx="4429742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500438"/>
            <a:ext cx="4143404" cy="308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6- Diagnostic de gravité</a:t>
            </a:r>
            <a:endParaRPr lang="fr-F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5" y="2714620"/>
            <a:ext cx="400052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lèche droite 4"/>
          <p:cNvSpPr/>
          <p:nvPr/>
        </p:nvSpPr>
        <p:spPr>
          <a:xfrm rot="2388900">
            <a:off x="2786050" y="292893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 descr="C:\Users\Amine\Desktop\PNO cours externes\images (4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2714620"/>
            <a:ext cx="4143404" cy="2928958"/>
          </a:xfrm>
          <a:prstGeom prst="rect">
            <a:avLst/>
          </a:prstGeom>
          <a:noFill/>
        </p:spPr>
      </p:pic>
      <p:sp>
        <p:nvSpPr>
          <p:cNvPr id="7" name="Flèche droite 6"/>
          <p:cNvSpPr/>
          <p:nvPr/>
        </p:nvSpPr>
        <p:spPr>
          <a:xfrm>
            <a:off x="4429124" y="46434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 rot="8691321">
            <a:off x="5408124" y="252342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droite 8"/>
          <p:cNvSpPr/>
          <p:nvPr/>
        </p:nvSpPr>
        <p:spPr>
          <a:xfrm rot="10988143">
            <a:off x="6513348" y="438409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6- Diagnostic de gravité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b="1" dirty="0" smtClean="0"/>
              <a:t>3- Biologique: </a:t>
            </a:r>
          </a:p>
          <a:p>
            <a:pPr>
              <a:buNone/>
            </a:pPr>
            <a:r>
              <a:rPr lang="fr-FR" sz="2200" dirty="0" smtClean="0"/>
              <a:t>Hypercapnie (gazométrie)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endParaRPr lang="fr-FR" sz="2200" b="1" dirty="0" smtClean="0"/>
          </a:p>
          <a:p>
            <a:pPr>
              <a:buNone/>
            </a:pPr>
            <a:endParaRPr lang="fr-FR" sz="2200" b="1" dirty="0" smtClean="0"/>
          </a:p>
          <a:p>
            <a:pPr>
              <a:buNone/>
            </a:pPr>
            <a:r>
              <a:rPr lang="fr-FR" sz="2200" b="1" dirty="0" smtClean="0"/>
              <a:t>4- Électriques:</a:t>
            </a:r>
          </a:p>
          <a:p>
            <a:pPr>
              <a:buNone/>
            </a:pPr>
            <a:r>
              <a:rPr lang="fr-FR" sz="2200" dirty="0" smtClean="0"/>
              <a:t>ESV</a:t>
            </a:r>
            <a:endParaRPr lang="fr-FR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7- Diagnostic étiologique (PNO secondaire)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50000"/>
              </a:lnSpc>
              <a:buFontTx/>
              <a:buChar char="-"/>
            </a:pP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sz="4000" dirty="0" smtClean="0">
                <a:latin typeface="Arial" pitchFamily="34" charset="0"/>
                <a:cs typeface="Arial" pitchFamily="34" charset="0"/>
              </a:rPr>
              <a:t>PATHOLOGIES DES VOIES AERIENNES (</a:t>
            </a:r>
            <a:r>
              <a:rPr lang="fr-FR" sz="4000" dirty="0" err="1" smtClean="0">
                <a:latin typeface="Arial" pitchFamily="34" charset="0"/>
                <a:cs typeface="Arial" pitchFamily="34" charset="0"/>
              </a:rPr>
              <a:t>bpco</a:t>
            </a:r>
            <a:r>
              <a:rPr lang="fr-FR" sz="4000" dirty="0" smtClean="0">
                <a:latin typeface="Arial" pitchFamily="34" charset="0"/>
                <a:cs typeface="Arial" pitchFamily="34" charset="0"/>
              </a:rPr>
              <a:t>- asthme- mucoviscidose…)</a:t>
            </a:r>
          </a:p>
          <a:p>
            <a:pPr>
              <a:lnSpc>
                <a:spcPct val="150000"/>
              </a:lnSpc>
              <a:buNone/>
            </a:pP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sz="4000" dirty="0" smtClean="0">
                <a:latin typeface="Arial" pitchFamily="34" charset="0"/>
                <a:cs typeface="Arial" pitchFamily="34" charset="0"/>
              </a:rPr>
              <a:t>PATHOLOGIES INGECTIEUSES (</a:t>
            </a:r>
            <a:r>
              <a:rPr lang="fr-FR" sz="4000" dirty="0" err="1" smtClean="0">
                <a:latin typeface="Arial" pitchFamily="34" charset="0"/>
                <a:cs typeface="Arial" pitchFamily="34" charset="0"/>
              </a:rPr>
              <a:t>Tbc</a:t>
            </a:r>
            <a:r>
              <a:rPr lang="fr-FR" sz="4000" dirty="0" smtClean="0">
                <a:latin typeface="Arial" pitchFamily="34" charset="0"/>
                <a:cs typeface="Arial" pitchFamily="34" charset="0"/>
              </a:rPr>
              <a:t>- pneumonies- VIH…) 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sz="4000" dirty="0" smtClean="0">
                <a:latin typeface="Arial" pitchFamily="34" charset="0"/>
                <a:cs typeface="Arial" pitchFamily="34" charset="0"/>
              </a:rPr>
              <a:t>PATHOLOGIES INTERSTITIELLES ( </a:t>
            </a:r>
            <a:r>
              <a:rPr lang="fr-FR" sz="4000" dirty="0" err="1" smtClean="0">
                <a:latin typeface="Arial" pitchFamily="34" charset="0"/>
                <a:cs typeface="Arial" pitchFamily="34" charset="0"/>
              </a:rPr>
              <a:t>sarcoidose</a:t>
            </a:r>
            <a:r>
              <a:rPr lang="fr-FR" sz="4000" dirty="0" smtClean="0">
                <a:latin typeface="Arial" pitchFamily="34" charset="0"/>
                <a:cs typeface="Arial" pitchFamily="34" charset="0"/>
              </a:rPr>
              <a:t>….)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sz="4000" dirty="0" smtClean="0">
                <a:latin typeface="Arial" pitchFamily="34" charset="0"/>
                <a:cs typeface="Arial" pitchFamily="34" charset="0"/>
              </a:rPr>
              <a:t>PATHOLOGIES NEOPLASIQUES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fr-FR" sz="4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sz="4000" dirty="0" smtClean="0">
                <a:latin typeface="Arial" pitchFamily="34" charset="0"/>
                <a:cs typeface="Arial" pitchFamily="34" charset="0"/>
              </a:rPr>
              <a:t>ENDOMETRIOSE THORACIQUE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8- Diagnostic différentiel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1- Clinique: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IDM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Embolie pulmonaire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Perforation d’organe creux</a:t>
            </a:r>
          </a:p>
          <a:p>
            <a:pPr>
              <a:lnSpc>
                <a:spcPct val="150000"/>
              </a:lnSpc>
              <a:buNone/>
            </a:pP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2- Radiologique: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Caverne tuberculeuse.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Emphysème kystique.</a:t>
            </a:r>
          </a:p>
          <a:p>
            <a:pPr>
              <a:lnSpc>
                <a:spcPct val="15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Syndrome de Mac </a:t>
            </a:r>
            <a:r>
              <a:rPr lang="fr-FR" sz="2000" dirty="0" err="1" smtClean="0">
                <a:latin typeface="Arial" pitchFamily="34" charset="0"/>
                <a:cs typeface="Arial" pitchFamily="34" charset="0"/>
              </a:rPr>
              <a:t>Leod</a:t>
            </a:r>
            <a:endParaRPr lang="fr-FR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fr-FR" sz="2000" b="1" i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9- Evolution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500206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Récidive +++</a:t>
            </a:r>
          </a:p>
          <a:p>
            <a:pPr>
              <a:buFontTx/>
              <a:buChar char="-"/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endParaRPr lang="fr-FR" sz="2200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Simple</a:t>
            </a:r>
            <a:endParaRPr lang="fr-FR"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fr-FR" sz="2200" b="1" dirty="0" smtClean="0">
                <a:latin typeface="Arial" pitchFamily="34" charset="0"/>
                <a:ea typeface="Segoe UI" pitchFamily="34" charset="0"/>
                <a:cs typeface="Arial" pitchFamily="34" charset="0"/>
              </a:rPr>
              <a:t>1- BUTS      </a:t>
            </a:r>
          </a:p>
          <a:p>
            <a:pPr>
              <a:lnSpc>
                <a:spcPct val="150000"/>
              </a:lnSpc>
              <a:buNone/>
            </a:pPr>
            <a:endParaRPr lang="fr-FR" sz="2200" b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- Obtenir une </a:t>
            </a:r>
            <a:r>
              <a:rPr lang="fr-FR" sz="2200" dirty="0" err="1" smtClean="0">
                <a:latin typeface="Arial" pitchFamily="34" charset="0"/>
                <a:cs typeface="Arial" pitchFamily="34" charset="0"/>
              </a:rPr>
              <a:t>réexpansion</a:t>
            </a:r>
            <a:r>
              <a:rPr lang="fr-FR" sz="2200" dirty="0" smtClean="0">
                <a:latin typeface="Arial" pitchFamily="34" charset="0"/>
                <a:cs typeface="Arial" pitchFamily="34" charset="0"/>
              </a:rPr>
              <a:t> pulmonaire complète</a:t>
            </a:r>
          </a:p>
          <a:p>
            <a:pPr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                   </a:t>
            </a:r>
          </a:p>
          <a:p>
            <a:pPr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- Traiter éventuellement la cause</a:t>
            </a:r>
          </a:p>
          <a:p>
            <a:pPr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fr-FR" sz="2200" dirty="0" smtClean="0">
                <a:latin typeface="Arial" pitchFamily="34" charset="0"/>
                <a:cs typeface="Arial" pitchFamily="34" charset="0"/>
              </a:rPr>
              <a:t>- Prévenir la récidive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fr-FR" sz="2200" b="1" dirty="0" smtClean="0"/>
          </a:p>
          <a:p>
            <a:pPr>
              <a:buNone/>
            </a:pPr>
            <a:r>
              <a:rPr lang="fr-FR" sz="2200" b="1" dirty="0" smtClean="0"/>
              <a:t>2- </a:t>
            </a:r>
            <a:r>
              <a:rPr lang="fr-FR" sz="2200" b="1" dirty="0" smtClean="0">
                <a:latin typeface="Arial" pitchFamily="34" charset="0"/>
                <a:cs typeface="Arial" pitchFamily="34" charset="0"/>
              </a:rPr>
              <a:t>Moyens</a:t>
            </a:r>
            <a:r>
              <a:rPr lang="fr-FR" sz="2200" b="1" dirty="0" smtClean="0"/>
              <a:t>: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2200" dirty="0" smtClean="0"/>
              <a:t>Repos strict au lit</a:t>
            </a:r>
          </a:p>
          <a:p>
            <a:pPr>
              <a:buNone/>
            </a:pPr>
            <a:endParaRPr lang="fr-FR" sz="2200" dirty="0" smtClean="0"/>
          </a:p>
        </p:txBody>
      </p:sp>
      <p:pic>
        <p:nvPicPr>
          <p:cNvPr id="3074" name="Picture 2" descr="C:\Users\Amine\Desktop\PNO cours externes\images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2000240"/>
            <a:ext cx="3514744" cy="39528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/>
              <a:t>Exsufflation à l’aiguille </a:t>
            </a:r>
            <a:endParaRPr lang="fr-FR" sz="2200" dirty="0"/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2" y="3429000"/>
            <a:ext cx="3438750" cy="208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90" y="3429000"/>
            <a:ext cx="3357586" cy="2071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/>
              <a:t>Drainage thoracique:</a:t>
            </a:r>
            <a:endParaRPr lang="fr-FR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00240"/>
            <a:ext cx="3973406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C:\Users\Amine\Desktop\Com Mila 29 30 oct 2017\i603-1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429124" y="1428736"/>
            <a:ext cx="4357718" cy="3073477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5000628" y="4214818"/>
            <a:ext cx="3174909" cy="238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 xmlns:lc="http://schemas.openxmlformats.org/drawingml/2006/lockedCanvas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xmlns:lc="http://schemas.openxmlformats.org/drawingml/2006/lockedCanvas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 xmlns:lc="http://schemas.openxmlformats.org/drawingml/2006/lockedCanvas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dirty="0" smtClean="0"/>
              <a:t>La chirurgie</a:t>
            </a:r>
            <a:endParaRPr lang="fr-FR" sz="2200" dirty="0"/>
          </a:p>
        </p:txBody>
      </p:sp>
      <p:pic>
        <p:nvPicPr>
          <p:cNvPr id="5" name="Picture 10" descr="42-39114-06c-minia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54" y="2500306"/>
            <a:ext cx="2643206" cy="210071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42-39114-07k-minia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8" y="2571744"/>
            <a:ext cx="2447927" cy="2000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Amine\Desktop\PNO cours externes\image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500306"/>
            <a:ext cx="2571768" cy="20717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200" b="1" dirty="0" smtClean="0">
                <a:latin typeface="Arial" pitchFamily="34" charset="0"/>
                <a:cs typeface="Arial" pitchFamily="34" charset="0"/>
              </a:rPr>
              <a:t>3- Indications: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2200" dirty="0" smtClean="0"/>
              <a:t>A- repos:</a:t>
            </a:r>
          </a:p>
          <a:p>
            <a:pPr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Décollement &lt; 3cm chez le patient non en insuffisance respiratoire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2200" dirty="0" smtClean="0"/>
              <a:t>B- Exsufflation:</a:t>
            </a:r>
          </a:p>
          <a:p>
            <a:pPr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PNO  incomplet mal toléré en attendant le drainage </a:t>
            </a:r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2200" dirty="0" smtClean="0"/>
              <a:t>C- Drainage thoracique:</a:t>
            </a:r>
          </a:p>
          <a:p>
            <a:pPr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PNO complet</a:t>
            </a:r>
            <a:endParaRPr lang="fr-FR" sz="2200" dirty="0" smtClean="0"/>
          </a:p>
          <a:p>
            <a:pPr>
              <a:buNone/>
            </a:pPr>
            <a:endParaRPr lang="fr-FR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10- Stratégie thérapeutique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sz="2200" dirty="0" smtClean="0"/>
              <a:t>D- Chirurgie:</a:t>
            </a:r>
          </a:p>
          <a:p>
            <a:pPr>
              <a:buNone/>
            </a:pPr>
            <a:endParaRPr lang="fr-FR" sz="2200" dirty="0" smtClean="0"/>
          </a:p>
          <a:p>
            <a:pPr lvl="1"/>
            <a:r>
              <a:rPr lang="fr-FR" sz="2400" dirty="0" smtClean="0">
                <a:latin typeface="Arial" pitchFamily="34" charset="0"/>
                <a:cs typeface="Arial" pitchFamily="34" charset="0"/>
              </a:rPr>
              <a:t>PNO persistant au drainage&gt; 7jrs</a:t>
            </a:r>
          </a:p>
          <a:p>
            <a:pPr lvl="1"/>
            <a:r>
              <a:rPr lang="fr-FR" sz="2400" dirty="0" smtClean="0">
                <a:latin typeface="Arial" pitchFamily="34" charset="0"/>
                <a:cs typeface="Arial" pitchFamily="34" charset="0"/>
              </a:rPr>
              <a:t>PNO récidivant: récidive homo ou </a:t>
            </a:r>
            <a:r>
              <a:rPr lang="fr-FR" sz="2400" dirty="0" err="1" smtClean="0">
                <a:latin typeface="Arial" pitchFamily="34" charset="0"/>
                <a:cs typeface="Arial" pitchFamily="34" charset="0"/>
              </a:rPr>
              <a:t>contro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 latérale</a:t>
            </a:r>
          </a:p>
          <a:p>
            <a:pPr lvl="1"/>
            <a:r>
              <a:rPr lang="fr-FR" sz="2400" dirty="0" smtClean="0">
                <a:latin typeface="Arial" pitchFamily="34" charset="0"/>
                <a:cs typeface="Arial" pitchFamily="34" charset="0"/>
              </a:rPr>
              <a:t>PNO bilatéral</a:t>
            </a:r>
          </a:p>
          <a:p>
            <a:pPr lvl="1"/>
            <a:r>
              <a:rPr lang="fr-FR" sz="2400" dirty="0" smtClean="0">
                <a:latin typeface="Arial" pitchFamily="34" charset="0"/>
                <a:cs typeface="Arial" pitchFamily="34" charset="0"/>
              </a:rPr>
              <a:t>PNO spontané </a:t>
            </a:r>
            <a:r>
              <a:rPr lang="fr-FR" sz="2400" dirty="0" err="1" smtClean="0">
                <a:latin typeface="Arial" pitchFamily="34" charset="0"/>
                <a:cs typeface="Arial" pitchFamily="34" charset="0"/>
              </a:rPr>
              <a:t>II</a:t>
            </a:r>
            <a:r>
              <a:rPr lang="fr-FR" sz="2400" baseline="30000" dirty="0" err="1" smtClean="0">
                <a:latin typeface="Arial" pitchFamily="34" charset="0"/>
                <a:cs typeface="Arial" pitchFamily="34" charset="0"/>
              </a:rPr>
              <a:t>aire</a:t>
            </a:r>
            <a:endParaRPr lang="fr-FR" sz="2400" baseline="30000" dirty="0" smtClean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sz="24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fr-FR" sz="2400" baseline="30000" dirty="0" smtClean="0">
                <a:latin typeface="Arial" pitchFamily="34" charset="0"/>
                <a:cs typeface="Arial" pitchFamily="34" charset="0"/>
              </a:rPr>
              <a:t>er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 épisode d’un PNO (impératif socio professionnelle)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11- 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Le PNO spontané reste un problème majeur de santé publique,</a:t>
            </a:r>
          </a:p>
          <a:p>
            <a:pPr>
              <a:lnSpc>
                <a:spcPct val="20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Diagnostic CLINIQUE et RADIOLOGIQUE +++ </a:t>
            </a:r>
          </a:p>
          <a:p>
            <a:pPr>
              <a:lnSpc>
                <a:spcPct val="20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Selon son importance, il peut constituer une urgence nécessitant une prise en charge immédiate.</a:t>
            </a:r>
          </a:p>
          <a:p>
            <a:pPr>
              <a:lnSpc>
                <a:spcPct val="200000"/>
              </a:lnSpc>
              <a:buNone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- Son évolution est marquée par le risque de récidive. </a:t>
            </a:r>
          </a:p>
          <a:p>
            <a:pPr>
              <a:buNone/>
            </a:pPr>
            <a:endParaRPr lang="fr-FR" sz="2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1696</TotalTime>
  <Words>553</Words>
  <Application>Microsoft Office PowerPoint</Application>
  <PresentationFormat>Affichage à l'écran (4:3)</PresentationFormat>
  <Paragraphs>203</Paragraphs>
  <Slides>32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3" baseType="lpstr">
      <vt:lpstr>Capitaux</vt:lpstr>
      <vt:lpstr>LE PNEUMOTHORAX</vt:lpstr>
      <vt:lpstr>objectifs </vt:lpstr>
      <vt:lpstr>Plan </vt:lpstr>
      <vt:lpstr>1- Définition  </vt:lpstr>
      <vt:lpstr>1- Définition </vt:lpstr>
      <vt:lpstr>1- Définition</vt:lpstr>
      <vt:lpstr>2- Intérêt de la question</vt:lpstr>
      <vt:lpstr>3- MECANISMES PHYSIOPATHOLOGIQUES</vt:lpstr>
      <vt:lpstr>3- MECANISMES PHYSIOPATHOLOGIQUES</vt:lpstr>
      <vt:lpstr>3- MECANISMES PHYSIOPATHOLOGIQUES</vt:lpstr>
      <vt:lpstr>4- Facteurs favorisants</vt:lpstr>
      <vt:lpstr>4- Facteurs favorisants</vt:lpstr>
      <vt:lpstr>5- Diagnostic</vt:lpstr>
      <vt:lpstr>5- Diagnostic</vt:lpstr>
      <vt:lpstr>5- Diagnostic</vt:lpstr>
      <vt:lpstr>5- Diagnostic</vt:lpstr>
      <vt:lpstr>5- Diagnostic</vt:lpstr>
      <vt:lpstr>6- Diagnostic de gravité </vt:lpstr>
      <vt:lpstr>6- Diagnostic de gravité</vt:lpstr>
      <vt:lpstr>6- Diagnostic de gravité</vt:lpstr>
      <vt:lpstr>6- Diagnostic de gravité</vt:lpstr>
      <vt:lpstr>7- Diagnostic étiologique (PNO secondaire)</vt:lpstr>
      <vt:lpstr>8- Diagnostic différentiel </vt:lpstr>
      <vt:lpstr>9- Evolution</vt:lpstr>
      <vt:lpstr>10- Stratégie thérapeutique</vt:lpstr>
      <vt:lpstr>10- Stratégie thérapeutique</vt:lpstr>
      <vt:lpstr>10- Stratégie thérapeutique</vt:lpstr>
      <vt:lpstr>10- Stratégie thérapeutique</vt:lpstr>
      <vt:lpstr>10- Stratégie thérapeutique</vt:lpstr>
      <vt:lpstr>10- Stratégie thérapeutique</vt:lpstr>
      <vt:lpstr>10- Stratégie thérapeutique</vt:lpstr>
      <vt:lpstr>11- 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Amine</dc:creator>
  <cp:lastModifiedBy>Amine</cp:lastModifiedBy>
  <cp:revision>40</cp:revision>
  <dcterms:created xsi:type="dcterms:W3CDTF">2025-03-02T10:03:04Z</dcterms:created>
  <dcterms:modified xsi:type="dcterms:W3CDTF">2025-03-05T00:14:53Z</dcterms:modified>
</cp:coreProperties>
</file>