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5"/>
  </p:notesMasterIdLst>
  <p:handoutMasterIdLst>
    <p:handoutMasterId r:id="rId46"/>
  </p:handoutMasterIdLst>
  <p:sldIdLst>
    <p:sldId id="256" r:id="rId2"/>
    <p:sldId id="282" r:id="rId3"/>
    <p:sldId id="299" r:id="rId4"/>
    <p:sldId id="300" r:id="rId5"/>
    <p:sldId id="301" r:id="rId6"/>
    <p:sldId id="257" r:id="rId7"/>
    <p:sldId id="258" r:id="rId8"/>
    <p:sldId id="305" r:id="rId9"/>
    <p:sldId id="304" r:id="rId10"/>
    <p:sldId id="303" r:id="rId11"/>
    <p:sldId id="259" r:id="rId12"/>
    <p:sldId id="261" r:id="rId13"/>
    <p:sldId id="278" r:id="rId14"/>
    <p:sldId id="314" r:id="rId15"/>
    <p:sldId id="312" r:id="rId16"/>
    <p:sldId id="313" r:id="rId17"/>
    <p:sldId id="317" r:id="rId18"/>
    <p:sldId id="302" r:id="rId19"/>
    <p:sldId id="276" r:id="rId20"/>
    <p:sldId id="265" r:id="rId21"/>
    <p:sldId id="266" r:id="rId22"/>
    <p:sldId id="267" r:id="rId23"/>
    <p:sldId id="272" r:id="rId24"/>
    <p:sldId id="320" r:id="rId25"/>
    <p:sldId id="273" r:id="rId26"/>
    <p:sldId id="271" r:id="rId27"/>
    <p:sldId id="306" r:id="rId28"/>
    <p:sldId id="319" r:id="rId29"/>
    <p:sldId id="274" r:id="rId30"/>
    <p:sldId id="307" r:id="rId31"/>
    <p:sldId id="280" r:id="rId32"/>
    <p:sldId id="281" r:id="rId33"/>
    <p:sldId id="275" r:id="rId34"/>
    <p:sldId id="283" r:id="rId35"/>
    <p:sldId id="309" r:id="rId36"/>
    <p:sldId id="310" r:id="rId37"/>
    <p:sldId id="311" r:id="rId38"/>
    <p:sldId id="284" r:id="rId39"/>
    <p:sldId id="285" r:id="rId40"/>
    <p:sldId id="286" r:id="rId41"/>
    <p:sldId id="315" r:id="rId42"/>
    <p:sldId id="287" r:id="rId43"/>
    <p:sldId id="288" r:id="rId4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1921" autoAdjust="0"/>
  </p:normalViewPr>
  <p:slideViewPr>
    <p:cSldViewPr>
      <p:cViewPr varScale="1">
        <p:scale>
          <a:sx n="68" d="100"/>
          <a:sy n="68" d="100"/>
        </p:scale>
        <p:origin x="1470" y="7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128D68-CFE6-4C49-B218-43CD93C8A8FC}" type="datetimeFigureOut">
              <a:rPr lang="fr-FR" smtClean="0"/>
              <a:t>29/04/2026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r-FR" smtClean="0"/>
              <a:t>maladie coeliaque 2025</a:t>
            </a:r>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62D4A5-41DD-458E-8A0C-A386741DFCC9}" type="slidenum">
              <a:rPr lang="fr-FR" smtClean="0"/>
              <a:t>‹N°›</a:t>
            </a:fld>
            <a:endParaRPr lang="fr-FR"/>
          </a:p>
        </p:txBody>
      </p:sp>
    </p:spTree>
    <p:extLst>
      <p:ext uri="{BB962C8B-B14F-4D97-AF65-F5344CB8AC3E}">
        <p14:creationId xmlns:p14="http://schemas.microsoft.com/office/powerpoint/2010/main" val="38962472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7F6724-FDC2-4B87-9F67-16CD6C17369B}" type="datetimeFigureOut">
              <a:rPr lang="fr-FR" smtClean="0"/>
              <a:pPr/>
              <a:t>29/04/2026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fr-FR" smtClean="0"/>
              <a:t>maladie coeliaque 2025</a:t>
            </a: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4EB56A-01D6-4FAD-B7E0-98D61D9A907E}" type="slidenum">
              <a:rPr lang="fr-FR" smtClean="0"/>
              <a:pPr/>
              <a:t>‹N°›</a:t>
            </a:fld>
            <a:endParaRPr lang="fr-FR"/>
          </a:p>
        </p:txBody>
      </p:sp>
    </p:spTree>
    <p:extLst>
      <p:ext uri="{BB962C8B-B14F-4D97-AF65-F5344CB8AC3E}">
        <p14:creationId xmlns:p14="http://schemas.microsoft.com/office/powerpoint/2010/main" val="325179158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3E4EB56A-01D6-4FAD-B7E0-98D61D9A907E}" type="slidenum">
              <a:rPr lang="fr-FR" smtClean="0"/>
              <a:pPr/>
              <a:t>1</a:t>
            </a:fld>
            <a:endParaRPr lang="fr-FR"/>
          </a:p>
        </p:txBody>
      </p:sp>
      <p:sp>
        <p:nvSpPr>
          <p:cNvPr id="5" name="Espace réservé du pied de page 4"/>
          <p:cNvSpPr>
            <a:spLocks noGrp="1"/>
          </p:cNvSpPr>
          <p:nvPr>
            <p:ph type="ftr" sz="quarter" idx="11"/>
          </p:nvPr>
        </p:nvSpPr>
        <p:spPr/>
        <p:txBody>
          <a:bodyPr/>
          <a:lstStyle/>
          <a:p>
            <a:r>
              <a:rPr lang="fr-FR" smtClean="0"/>
              <a:t>maladie coeliaque 2025</a:t>
            </a:r>
            <a:endParaRPr lang="fr-FR"/>
          </a:p>
        </p:txBody>
      </p:sp>
    </p:spTree>
    <p:extLst>
      <p:ext uri="{BB962C8B-B14F-4D97-AF65-F5344CB8AC3E}">
        <p14:creationId xmlns:p14="http://schemas.microsoft.com/office/powerpoint/2010/main" val="143560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smtClean="0"/>
              <a:t>Enteropathie</a:t>
            </a:r>
            <a:r>
              <a:rPr lang="fr-FR" dirty="0" smtClean="0"/>
              <a:t>: </a:t>
            </a:r>
            <a:r>
              <a:rPr lang="fr-FR" dirty="0" err="1" smtClean="0"/>
              <a:t>grele</a:t>
            </a:r>
            <a:r>
              <a:rPr lang="fr-FR" dirty="0" smtClean="0"/>
              <a:t> , </a:t>
            </a:r>
            <a:r>
              <a:rPr lang="fr-FR" dirty="0" err="1" smtClean="0"/>
              <a:t>mermanente</a:t>
            </a:r>
            <a:r>
              <a:rPr lang="fr-FR" baseline="0" dirty="0" smtClean="0"/>
              <a:t> : à vie, </a:t>
            </a:r>
            <a:r>
              <a:rPr lang="fr-FR" baseline="0" dirty="0" err="1" smtClean="0"/>
              <a:t>autoimmune</a:t>
            </a:r>
            <a:r>
              <a:rPr lang="fr-FR" baseline="0" dirty="0" smtClean="0"/>
              <a:t>, prédisposition génétique </a:t>
            </a:r>
            <a:endParaRPr lang="fr-FR" dirty="0"/>
          </a:p>
        </p:txBody>
      </p:sp>
      <p:sp>
        <p:nvSpPr>
          <p:cNvPr id="4" name="Espace réservé du pied de page 3"/>
          <p:cNvSpPr>
            <a:spLocks noGrp="1"/>
          </p:cNvSpPr>
          <p:nvPr>
            <p:ph type="ftr" sz="quarter" idx="10"/>
          </p:nvPr>
        </p:nvSpPr>
        <p:spPr/>
        <p:txBody>
          <a:bodyPr/>
          <a:lstStyle/>
          <a:p>
            <a:r>
              <a:rPr lang="fr-FR" smtClean="0"/>
              <a:t>maladie coeliaque 2025</a:t>
            </a:r>
            <a:endParaRPr lang="fr-FR"/>
          </a:p>
        </p:txBody>
      </p:sp>
      <p:sp>
        <p:nvSpPr>
          <p:cNvPr id="5" name="Espace réservé du numéro de diapositive 4"/>
          <p:cNvSpPr>
            <a:spLocks noGrp="1"/>
          </p:cNvSpPr>
          <p:nvPr>
            <p:ph type="sldNum" sz="quarter" idx="11"/>
          </p:nvPr>
        </p:nvSpPr>
        <p:spPr/>
        <p:txBody>
          <a:bodyPr/>
          <a:lstStyle/>
          <a:p>
            <a:fld id="{3E4EB56A-01D6-4FAD-B7E0-98D61D9A907E}" type="slidenum">
              <a:rPr lang="fr-FR" smtClean="0"/>
              <a:pPr/>
              <a:t>3</a:t>
            </a:fld>
            <a:endParaRPr lang="fr-FR"/>
          </a:p>
        </p:txBody>
      </p:sp>
    </p:spTree>
    <p:extLst>
      <p:ext uri="{BB962C8B-B14F-4D97-AF65-F5344CB8AC3E}">
        <p14:creationId xmlns:p14="http://schemas.microsoft.com/office/powerpoint/2010/main" val="888578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E4EB56A-01D6-4FAD-B7E0-98D61D9A907E}" type="slidenum">
              <a:rPr lang="fr-FR" smtClean="0"/>
              <a:pPr/>
              <a:t>6</a:t>
            </a:fld>
            <a:endParaRPr lang="fr-FR"/>
          </a:p>
        </p:txBody>
      </p:sp>
      <p:sp>
        <p:nvSpPr>
          <p:cNvPr id="5" name="Espace réservé du pied de page 4"/>
          <p:cNvSpPr>
            <a:spLocks noGrp="1"/>
          </p:cNvSpPr>
          <p:nvPr>
            <p:ph type="ftr" sz="quarter" idx="11"/>
          </p:nvPr>
        </p:nvSpPr>
        <p:spPr/>
        <p:txBody>
          <a:bodyPr/>
          <a:lstStyle/>
          <a:p>
            <a:r>
              <a:rPr lang="fr-FR" smtClean="0"/>
              <a:t>maladie coeliaque 2025</a:t>
            </a:r>
            <a:endParaRPr lang="fr-FR"/>
          </a:p>
        </p:txBody>
      </p:sp>
    </p:spTree>
    <p:extLst>
      <p:ext uri="{BB962C8B-B14F-4D97-AF65-F5344CB8AC3E}">
        <p14:creationId xmlns:p14="http://schemas.microsoft.com/office/powerpoint/2010/main" val="2594538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457200" indent="-457200">
              <a:buFont typeface="+mj-lt"/>
              <a:buAutoNum type="arabicParenR"/>
            </a:pPr>
            <a:r>
              <a:rPr lang="fr-FR" sz="1200" dirty="0" smtClean="0"/>
              <a:t>Digestion </a:t>
            </a:r>
            <a:r>
              <a:rPr lang="fr-FR" sz="1200" dirty="0" err="1" smtClean="0"/>
              <a:t>incomplete</a:t>
            </a:r>
            <a:r>
              <a:rPr lang="fr-FR" sz="1200" dirty="0" smtClean="0"/>
              <a:t> des </a:t>
            </a:r>
            <a:r>
              <a:rPr lang="fr-FR" sz="1200" dirty="0" smtClean="0">
                <a:solidFill>
                  <a:srgbClr val="C00000"/>
                </a:solidFill>
              </a:rPr>
              <a:t>peptides du gluten </a:t>
            </a:r>
            <a:r>
              <a:rPr lang="fr-FR" sz="1200" dirty="0" smtClean="0"/>
              <a:t>chez les personnes atteintes de MC. </a:t>
            </a:r>
          </a:p>
          <a:p>
            <a:pPr marL="457200" indent="-457200">
              <a:buFont typeface="+mj-lt"/>
              <a:buAutoNum type="arabicParenR"/>
            </a:pPr>
            <a:r>
              <a:rPr lang="fr-FR" sz="1200" dirty="0" smtClean="0"/>
              <a:t> Ce peptide </a:t>
            </a:r>
            <a:r>
              <a:rPr lang="fr-FR" sz="1200" dirty="0" smtClean="0">
                <a:solidFill>
                  <a:srgbClr val="C00000"/>
                </a:solidFill>
              </a:rPr>
              <a:t>réagit avec la transglutaminase tissulaire (</a:t>
            </a:r>
            <a:r>
              <a:rPr lang="fr-FR" sz="1200" dirty="0" err="1" smtClean="0">
                <a:solidFill>
                  <a:srgbClr val="C00000"/>
                </a:solidFill>
              </a:rPr>
              <a:t>tTG</a:t>
            </a:r>
            <a:r>
              <a:rPr lang="fr-FR" sz="1200" dirty="0" smtClean="0">
                <a:solidFill>
                  <a:srgbClr val="C00000"/>
                </a:solidFill>
              </a:rPr>
              <a:t>)</a:t>
            </a:r>
            <a:r>
              <a:rPr lang="fr-FR" sz="1200" dirty="0" smtClean="0"/>
              <a:t>, principal autoantigène CD, par lequel des résidus glutamine spécifiques </a:t>
            </a:r>
            <a:r>
              <a:rPr lang="fr-FR" sz="1200" dirty="0" smtClean="0">
                <a:solidFill>
                  <a:srgbClr val="C00000"/>
                </a:solidFill>
              </a:rPr>
              <a:t>du gluten sont désamidés en acide glutamique</a:t>
            </a:r>
            <a:r>
              <a:rPr lang="fr-FR" sz="1200" dirty="0" smtClean="0"/>
              <a:t>. </a:t>
            </a:r>
          </a:p>
          <a:p>
            <a:pPr marL="457200" indent="-457200">
              <a:buFont typeface="+mj-lt"/>
              <a:buAutoNum type="arabicParenR"/>
            </a:pPr>
            <a:r>
              <a:rPr lang="fr-FR" sz="1200" dirty="0" smtClean="0"/>
              <a:t>CPA</a:t>
            </a:r>
            <a:r>
              <a:rPr lang="fr-FR" sz="1200" baseline="0" dirty="0" smtClean="0"/>
              <a:t> </a:t>
            </a:r>
            <a:r>
              <a:rPr lang="fr-FR" sz="1200" dirty="0" smtClean="0"/>
              <a:t>qui expriment les molécules HLA-DQ2 et HLA-DQ8 présentent une plus </a:t>
            </a:r>
            <a:r>
              <a:rPr lang="fr-FR" sz="1200" dirty="0" smtClean="0">
                <a:solidFill>
                  <a:srgbClr val="C00000"/>
                </a:solidFill>
              </a:rPr>
              <a:t>grande affinité pour les peptides </a:t>
            </a:r>
            <a:r>
              <a:rPr lang="fr-FR" sz="1200" dirty="0" smtClean="0"/>
              <a:t>désamidés.</a:t>
            </a:r>
          </a:p>
          <a:p>
            <a:pPr marL="457200" indent="-457200">
              <a:buFont typeface="+mj-lt"/>
              <a:buAutoNum type="arabicParenR"/>
            </a:pPr>
            <a:r>
              <a:rPr lang="fr-FR" sz="1200" dirty="0" smtClean="0"/>
              <a:t>Par la suite,  </a:t>
            </a:r>
            <a:r>
              <a:rPr lang="fr-FR" sz="1200" dirty="0" smtClean="0">
                <a:solidFill>
                  <a:srgbClr val="C00000"/>
                </a:solidFill>
              </a:rPr>
              <a:t>d'activer les lymphocytes T CD4+</a:t>
            </a:r>
            <a:r>
              <a:rPr lang="fr-FR" sz="1200" b="1" dirty="0" smtClean="0">
                <a:solidFill>
                  <a:srgbClr val="C00000"/>
                </a:solidFill>
              </a:rPr>
              <a:t> </a:t>
            </a:r>
            <a:r>
              <a:rPr lang="fr-FR" sz="1200" dirty="0" smtClean="0"/>
              <a:t>spécifiques du gluten de l'hôte, présents dans la lamina </a:t>
            </a:r>
            <a:r>
              <a:rPr lang="fr-FR" sz="1200" dirty="0" err="1" smtClean="0"/>
              <a:t>propria</a:t>
            </a:r>
            <a:r>
              <a:rPr lang="fr-FR" sz="1200" dirty="0" smtClean="0"/>
              <a:t>. </a:t>
            </a:r>
          </a:p>
          <a:p>
            <a:pPr marL="457200" indent="-457200">
              <a:buFont typeface="+mj-lt"/>
              <a:buAutoNum type="arabicParenR"/>
            </a:pPr>
            <a:r>
              <a:rPr lang="fr-FR" sz="1200" dirty="0" smtClean="0"/>
              <a:t> lymphocytes T sont activés, un certain nombre de </a:t>
            </a:r>
            <a:r>
              <a:rPr lang="fr-FR" sz="1200" dirty="0" smtClean="0">
                <a:solidFill>
                  <a:srgbClr val="C00000"/>
                </a:solidFill>
              </a:rPr>
              <a:t>cytokines</a:t>
            </a:r>
            <a:r>
              <a:rPr lang="fr-FR" sz="1200" dirty="0" smtClean="0"/>
              <a:t> sont produites, favorisant à leur tour </a:t>
            </a:r>
            <a:r>
              <a:rPr lang="fr-FR" sz="1200" dirty="0" smtClean="0">
                <a:solidFill>
                  <a:srgbClr val="C00000"/>
                </a:solidFill>
              </a:rPr>
              <a:t>l'inflammation et les lésions des villosités de l'intestin</a:t>
            </a:r>
            <a:r>
              <a:rPr lang="fr-FR" sz="1200" b="1" dirty="0" smtClean="0">
                <a:solidFill>
                  <a:srgbClr val="C00000"/>
                </a:solidFill>
              </a:rPr>
              <a:t> </a:t>
            </a:r>
            <a:r>
              <a:rPr lang="fr-FR" sz="1200" dirty="0" smtClean="0"/>
              <a:t>grêle </a:t>
            </a:r>
          </a:p>
          <a:p>
            <a:endParaRPr lang="fr-FR" dirty="0"/>
          </a:p>
        </p:txBody>
      </p:sp>
      <p:sp>
        <p:nvSpPr>
          <p:cNvPr id="4" name="Espace réservé du pied de page 3"/>
          <p:cNvSpPr>
            <a:spLocks noGrp="1"/>
          </p:cNvSpPr>
          <p:nvPr>
            <p:ph type="ftr" sz="quarter" idx="10"/>
          </p:nvPr>
        </p:nvSpPr>
        <p:spPr/>
        <p:txBody>
          <a:bodyPr/>
          <a:lstStyle/>
          <a:p>
            <a:r>
              <a:rPr lang="fr-FR" smtClean="0"/>
              <a:t>maladie coeliaque 2025</a:t>
            </a:r>
            <a:endParaRPr lang="fr-FR"/>
          </a:p>
        </p:txBody>
      </p:sp>
      <p:sp>
        <p:nvSpPr>
          <p:cNvPr id="5" name="Espace réservé du numéro de diapositive 4"/>
          <p:cNvSpPr>
            <a:spLocks noGrp="1"/>
          </p:cNvSpPr>
          <p:nvPr>
            <p:ph type="sldNum" sz="quarter" idx="11"/>
          </p:nvPr>
        </p:nvSpPr>
        <p:spPr/>
        <p:txBody>
          <a:bodyPr/>
          <a:lstStyle/>
          <a:p>
            <a:fld id="{3E4EB56A-01D6-4FAD-B7E0-98D61D9A907E}" type="slidenum">
              <a:rPr lang="fr-FR" smtClean="0"/>
              <a:pPr/>
              <a:t>9</a:t>
            </a:fld>
            <a:endParaRPr lang="fr-FR"/>
          </a:p>
        </p:txBody>
      </p:sp>
    </p:spTree>
    <p:extLst>
      <p:ext uri="{BB962C8B-B14F-4D97-AF65-F5344CB8AC3E}">
        <p14:creationId xmlns:p14="http://schemas.microsoft.com/office/powerpoint/2010/main" val="853693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10"/>
          </p:nvPr>
        </p:nvSpPr>
        <p:spPr/>
        <p:txBody>
          <a:bodyPr/>
          <a:lstStyle/>
          <a:p>
            <a:r>
              <a:rPr lang="fr-FR" smtClean="0"/>
              <a:t>maladie coeliaque 2025</a:t>
            </a:r>
            <a:endParaRPr lang="fr-FR"/>
          </a:p>
        </p:txBody>
      </p:sp>
      <p:sp>
        <p:nvSpPr>
          <p:cNvPr id="5" name="Espace réservé du numéro de diapositive 4"/>
          <p:cNvSpPr>
            <a:spLocks noGrp="1"/>
          </p:cNvSpPr>
          <p:nvPr>
            <p:ph type="sldNum" sz="quarter" idx="11"/>
          </p:nvPr>
        </p:nvSpPr>
        <p:spPr/>
        <p:txBody>
          <a:bodyPr/>
          <a:lstStyle/>
          <a:p>
            <a:fld id="{3E4EB56A-01D6-4FAD-B7E0-98D61D9A907E}" type="slidenum">
              <a:rPr lang="fr-FR" smtClean="0"/>
              <a:pPr/>
              <a:t>39</a:t>
            </a:fld>
            <a:endParaRPr lang="fr-FR"/>
          </a:p>
        </p:txBody>
      </p:sp>
    </p:spTree>
    <p:extLst>
      <p:ext uri="{BB962C8B-B14F-4D97-AF65-F5344CB8AC3E}">
        <p14:creationId xmlns:p14="http://schemas.microsoft.com/office/powerpoint/2010/main" val="3126577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D76197FB-8865-41AC-B6F1-DC7289842E03}" type="datetime1">
              <a:rPr lang="fr-FR" smtClean="0"/>
              <a:t>29/04/2026</a:t>
            </a:fld>
            <a:endParaRPr lang="fr-FR"/>
          </a:p>
        </p:txBody>
      </p:sp>
      <p:sp>
        <p:nvSpPr>
          <p:cNvPr id="17" name="Espace réservé du pied de page 16"/>
          <p:cNvSpPr>
            <a:spLocks noGrp="1"/>
          </p:cNvSpPr>
          <p:nvPr>
            <p:ph type="ftr" sz="quarter" idx="11"/>
          </p:nvPr>
        </p:nvSpPr>
        <p:spPr/>
        <p:txBody>
          <a:bodyPr/>
          <a:lstStyle/>
          <a:p>
            <a:r>
              <a:rPr lang="fr-FR" smtClean="0"/>
              <a:t>dr yakhlef smail (HMRUC2025)                        </a:t>
            </a:r>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E45DE23A-236E-47DD-9286-7BC7C2C86D6D}"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F0B97B06-82AF-4E00-AC66-9005B16C80D8}" type="datetime1">
              <a:rPr lang="fr-FR" smtClean="0"/>
              <a:t>29/04/2026</a:t>
            </a:fld>
            <a:endParaRPr lang="fr-FR"/>
          </a:p>
        </p:txBody>
      </p:sp>
      <p:sp>
        <p:nvSpPr>
          <p:cNvPr id="5" name="Espace réservé du pied de page 4"/>
          <p:cNvSpPr>
            <a:spLocks noGrp="1"/>
          </p:cNvSpPr>
          <p:nvPr>
            <p:ph type="ftr" sz="quarter" idx="11"/>
          </p:nvPr>
        </p:nvSpPr>
        <p:spPr/>
        <p:txBody>
          <a:bodyPr/>
          <a:lstStyle/>
          <a:p>
            <a:r>
              <a:rPr lang="fr-FR" smtClean="0"/>
              <a:t>dr yakhlef smail (HMRUC2025)                        </a:t>
            </a:r>
            <a:endParaRPr lang="fr-FR"/>
          </a:p>
        </p:txBody>
      </p:sp>
      <p:sp>
        <p:nvSpPr>
          <p:cNvPr id="6" name="Espace réservé du numéro de diapositive 5"/>
          <p:cNvSpPr>
            <a:spLocks noGrp="1"/>
          </p:cNvSpPr>
          <p:nvPr>
            <p:ph type="sldNum" sz="quarter" idx="12"/>
          </p:nvPr>
        </p:nvSpPr>
        <p:spPr/>
        <p:txBody>
          <a:bodyPr/>
          <a:lstStyle/>
          <a:p>
            <a:fld id="{E45DE23A-236E-47DD-9286-7BC7C2C86D6D}"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60853150-18B8-404A-9227-F6399D9256C7}" type="datetime1">
              <a:rPr lang="fr-FR" smtClean="0"/>
              <a:t>29/04/2026</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r>
              <a:rPr lang="fr-FR" smtClean="0"/>
              <a:t>dr yakhlef smail (HMRUC2025)                        </a:t>
            </a:r>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E45DE23A-236E-47DD-9286-7BC7C2C86D6D}"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C39FEBC9-28B0-4634-A7F8-89450485440A}" type="datetime1">
              <a:rPr lang="fr-FR" smtClean="0"/>
              <a:t>29/04/2026</a:t>
            </a:fld>
            <a:endParaRPr lang="fr-FR"/>
          </a:p>
        </p:txBody>
      </p:sp>
      <p:sp>
        <p:nvSpPr>
          <p:cNvPr id="6" name="Espace réservé du pied de page 5"/>
          <p:cNvSpPr>
            <a:spLocks noGrp="1"/>
          </p:cNvSpPr>
          <p:nvPr>
            <p:ph type="ftr" sz="quarter" idx="11"/>
          </p:nvPr>
        </p:nvSpPr>
        <p:spPr/>
        <p:txBody>
          <a:bodyPr/>
          <a:lstStyle/>
          <a:p>
            <a:r>
              <a:rPr lang="fr-FR" smtClean="0"/>
              <a:t>dr yakhlef smail (HMRUC2025)                        </a:t>
            </a:r>
            <a:endParaRPr lang="fr-FR"/>
          </a:p>
        </p:txBody>
      </p:sp>
      <p:sp>
        <p:nvSpPr>
          <p:cNvPr id="7" name="Espace réservé du numéro de diapositive 6"/>
          <p:cNvSpPr>
            <a:spLocks noGrp="1"/>
          </p:cNvSpPr>
          <p:nvPr>
            <p:ph type="sldNum" sz="quarter" idx="12"/>
          </p:nvPr>
        </p:nvSpPr>
        <p:spPr/>
        <p:txBody>
          <a:bodyPr/>
          <a:lstStyle/>
          <a:p>
            <a:fld id="{E45DE23A-236E-47DD-9286-7BC7C2C86D6D}"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4CE1365F-1FA7-4A85-8A58-B56A23E0E4FB}" type="datetime1">
              <a:rPr lang="fr-FR" smtClean="0"/>
              <a:t>29/04/2026</a:t>
            </a:fld>
            <a:endParaRPr lang="fr-FR"/>
          </a:p>
        </p:txBody>
      </p:sp>
      <p:sp>
        <p:nvSpPr>
          <p:cNvPr id="8" name="Espace réservé du pied de page 7"/>
          <p:cNvSpPr>
            <a:spLocks noGrp="1"/>
          </p:cNvSpPr>
          <p:nvPr>
            <p:ph type="ftr" sz="quarter" idx="11"/>
          </p:nvPr>
        </p:nvSpPr>
        <p:spPr/>
        <p:txBody>
          <a:bodyPr/>
          <a:lstStyle/>
          <a:p>
            <a:r>
              <a:rPr lang="fr-FR" smtClean="0"/>
              <a:t>dr yakhlef smail (HMRUC2025)                        </a:t>
            </a:r>
            <a:endParaRPr lang="fr-FR"/>
          </a:p>
        </p:txBody>
      </p:sp>
      <p:sp>
        <p:nvSpPr>
          <p:cNvPr id="9" name="Espace réservé du numéro de diapositive 8"/>
          <p:cNvSpPr>
            <a:spLocks noGrp="1"/>
          </p:cNvSpPr>
          <p:nvPr>
            <p:ph type="sldNum" sz="quarter" idx="12"/>
          </p:nvPr>
        </p:nvSpPr>
        <p:spPr/>
        <p:txBody>
          <a:bodyPr/>
          <a:lstStyle/>
          <a:p>
            <a:fld id="{E45DE23A-236E-47DD-9286-7BC7C2C86D6D}"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28A0DD5-34C2-4CEB-A22B-054B86894E85}" type="datetime1">
              <a:rPr lang="fr-FR" smtClean="0"/>
              <a:t>29/04/2026</a:t>
            </a:fld>
            <a:endParaRPr lang="fr-FR"/>
          </a:p>
        </p:txBody>
      </p:sp>
      <p:sp>
        <p:nvSpPr>
          <p:cNvPr id="4" name="Espace réservé du pied de page 3"/>
          <p:cNvSpPr>
            <a:spLocks noGrp="1"/>
          </p:cNvSpPr>
          <p:nvPr>
            <p:ph type="ftr" sz="quarter" idx="11"/>
          </p:nvPr>
        </p:nvSpPr>
        <p:spPr/>
        <p:txBody>
          <a:bodyPr/>
          <a:lstStyle/>
          <a:p>
            <a:r>
              <a:rPr lang="fr-FR" smtClean="0"/>
              <a:t>dr yakhlef smail (HMRUC2025)                        </a:t>
            </a:r>
            <a:endParaRPr lang="fr-FR"/>
          </a:p>
        </p:txBody>
      </p:sp>
      <p:sp>
        <p:nvSpPr>
          <p:cNvPr id="5" name="Espace réservé du numéro de diapositive 4"/>
          <p:cNvSpPr>
            <a:spLocks noGrp="1"/>
          </p:cNvSpPr>
          <p:nvPr>
            <p:ph type="sldNum" sz="quarter" idx="12"/>
          </p:nvPr>
        </p:nvSpPr>
        <p:spPr/>
        <p:txBody>
          <a:bodyPr/>
          <a:lstStyle/>
          <a:p>
            <a:fld id="{E45DE23A-236E-47DD-9286-7BC7C2C86D6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00798C3-31B6-42F8-BBE0-2E84AAD08100}" type="datetime1">
              <a:rPr lang="fr-FR" smtClean="0"/>
              <a:t>29/04/2026</a:t>
            </a:fld>
            <a:endParaRPr lang="fr-FR"/>
          </a:p>
        </p:txBody>
      </p:sp>
      <p:sp>
        <p:nvSpPr>
          <p:cNvPr id="3" name="Espace réservé du pied de page 2"/>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0552373-28A8-4FF7-B1ED-7E16E1058D5B}" type="datetime1">
              <a:rPr lang="fr-FR" smtClean="0"/>
              <a:t>29/04/2026</a:t>
            </a:fld>
            <a:endParaRPr lang="fr-FR"/>
          </a:p>
        </p:txBody>
      </p:sp>
      <p:sp>
        <p:nvSpPr>
          <p:cNvPr id="6" name="Espace réservé du pied de page 5"/>
          <p:cNvSpPr>
            <a:spLocks noGrp="1"/>
          </p:cNvSpPr>
          <p:nvPr>
            <p:ph type="ftr" sz="quarter" idx="11"/>
          </p:nvPr>
        </p:nvSpPr>
        <p:spPr/>
        <p:txBody>
          <a:bodyPr/>
          <a:lstStyle/>
          <a:p>
            <a:r>
              <a:rPr lang="fr-FR" smtClean="0"/>
              <a:t>dr yakhlef smail (HMRUC2025)                        </a:t>
            </a:r>
            <a:endParaRPr lang="fr-FR"/>
          </a:p>
        </p:txBody>
      </p:sp>
      <p:sp>
        <p:nvSpPr>
          <p:cNvPr id="7" name="Espace réservé du numéro de diapositive 6"/>
          <p:cNvSpPr>
            <a:spLocks noGrp="1"/>
          </p:cNvSpPr>
          <p:nvPr>
            <p:ph type="sldNum" sz="quarter" idx="12"/>
          </p:nvPr>
        </p:nvSpPr>
        <p:spPr/>
        <p:txBody>
          <a:bodyPr/>
          <a:lstStyle/>
          <a:p>
            <a:fld id="{E45DE23A-236E-47DD-9286-7BC7C2C86D6D}"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A31C4EFD-D2E0-49AE-88CF-89C1A37F62DB}" type="datetime1">
              <a:rPr lang="fr-FR" smtClean="0"/>
              <a:t>29/04/2026</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r>
              <a:rPr lang="fr-FR" smtClean="0"/>
              <a:t>dr yakhlef smail (HMRUC2025)                        </a:t>
            </a:r>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E45DE23A-236E-47DD-9286-7BC7C2C86D6D}"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0F0E25B4-9EA2-4453-8015-21173DC27AEE}" type="datetime1">
              <a:rPr lang="fr-FR" smtClean="0"/>
              <a:t>29/04/2026</a:t>
            </a:fld>
            <a:endParaRPr lang="fr-FR"/>
          </a:p>
        </p:txBody>
      </p:sp>
      <p:sp>
        <p:nvSpPr>
          <p:cNvPr id="5" name="Espace réservé du pied de page 4"/>
          <p:cNvSpPr>
            <a:spLocks noGrp="1"/>
          </p:cNvSpPr>
          <p:nvPr>
            <p:ph type="ftr" sz="quarter" idx="11"/>
          </p:nvPr>
        </p:nvSpPr>
        <p:spPr/>
        <p:txBody>
          <a:bodyPr/>
          <a:lstStyle/>
          <a:p>
            <a:r>
              <a:rPr lang="fr-FR" smtClean="0"/>
              <a:t>dr yakhlef smail (HMRUC2025)                        </a:t>
            </a:r>
            <a:endParaRPr lang="fr-FR"/>
          </a:p>
        </p:txBody>
      </p:sp>
      <p:sp>
        <p:nvSpPr>
          <p:cNvPr id="6" name="Espace réservé du numéro de diapositive 5"/>
          <p:cNvSpPr>
            <a:spLocks noGrp="1"/>
          </p:cNvSpPr>
          <p:nvPr>
            <p:ph type="sldNum" sz="quarter" idx="12"/>
          </p:nvPr>
        </p:nvSpPr>
        <p:spPr/>
        <p:txBody>
          <a:bodyPr/>
          <a:lstStyle/>
          <a:p>
            <a:fld id="{E45DE23A-236E-47DD-9286-7BC7C2C86D6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54B5AB04-F74A-4727-9CBE-1A33401859A8}" type="datetime1">
              <a:rPr lang="fr-FR" smtClean="0"/>
              <a:t>29/04/2026</a:t>
            </a:fld>
            <a:endParaRPr lang="fr-FR"/>
          </a:p>
        </p:txBody>
      </p:sp>
      <p:sp>
        <p:nvSpPr>
          <p:cNvPr id="5" name="Espace réservé du pied de page 4"/>
          <p:cNvSpPr>
            <a:spLocks noGrp="1"/>
          </p:cNvSpPr>
          <p:nvPr>
            <p:ph type="ftr" sz="quarter" idx="11"/>
          </p:nvPr>
        </p:nvSpPr>
        <p:spPr/>
        <p:txBody>
          <a:bodyPr/>
          <a:lstStyle/>
          <a:p>
            <a:r>
              <a:rPr lang="fr-FR" smtClean="0"/>
              <a:t>dr yakhlef smail (HMRUC2025)                        </a:t>
            </a:r>
            <a:endParaRPr lang="fr-FR"/>
          </a:p>
        </p:txBody>
      </p:sp>
      <p:sp>
        <p:nvSpPr>
          <p:cNvPr id="6" name="Espace réservé du numéro de diapositive 5"/>
          <p:cNvSpPr>
            <a:spLocks noGrp="1"/>
          </p:cNvSpPr>
          <p:nvPr>
            <p:ph type="sldNum" sz="quarter" idx="12"/>
          </p:nvPr>
        </p:nvSpPr>
        <p:spPr/>
        <p:txBody>
          <a:bodyPr/>
          <a:lstStyle/>
          <a:p>
            <a:fld id="{E45DE23A-236E-47DD-9286-7BC7C2C86D6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CDAEF01-9AA0-4BCE-BAD5-C516B4C7E994}" type="datetime1">
              <a:rPr lang="fr-FR" smtClean="0"/>
              <a:t>29/04/2026</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fr-FR" smtClean="0"/>
              <a:t>dr yakhlef smail (HMRUC2025)                        </a:t>
            </a:r>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45DE23A-236E-47DD-9286-7BC7C2C86D6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323528" y="4149080"/>
            <a:ext cx="8208912" cy="1752600"/>
          </a:xfrm>
        </p:spPr>
        <p:txBody>
          <a:bodyPr>
            <a:normAutofit/>
          </a:bodyPr>
          <a:lstStyle/>
          <a:p>
            <a:r>
              <a:rPr lang="fr-FR" b="1" i="1" dirty="0" smtClean="0">
                <a:solidFill>
                  <a:schemeClr val="tx1"/>
                </a:solidFill>
              </a:rPr>
              <a:t>Dr </a:t>
            </a:r>
            <a:r>
              <a:rPr lang="fr-FR" b="1" i="1" dirty="0" err="1" smtClean="0">
                <a:solidFill>
                  <a:schemeClr val="tx1"/>
                </a:solidFill>
              </a:rPr>
              <a:t>Yakhlef</a:t>
            </a:r>
            <a:r>
              <a:rPr lang="fr-FR" b="1" i="1" dirty="0" smtClean="0">
                <a:solidFill>
                  <a:schemeClr val="tx1"/>
                </a:solidFill>
              </a:rPr>
              <a:t> .S</a:t>
            </a:r>
          </a:p>
          <a:p>
            <a:r>
              <a:rPr lang="fr-FR" sz="3000" dirty="0" smtClean="0">
                <a:solidFill>
                  <a:schemeClr val="accent1"/>
                </a:solidFill>
              </a:rPr>
              <a:t>Hôpital militaire régional universitaire de Constantine </a:t>
            </a:r>
          </a:p>
          <a:p>
            <a:r>
              <a:rPr lang="fr-FR" dirty="0" smtClean="0">
                <a:solidFill>
                  <a:schemeClr val="accent1"/>
                </a:solidFill>
              </a:rPr>
              <a:t>2025/2026</a:t>
            </a:r>
            <a:endParaRPr lang="fr-FR" dirty="0">
              <a:solidFill>
                <a:schemeClr val="accent1"/>
              </a:solidFill>
            </a:endParaRPr>
          </a:p>
        </p:txBody>
      </p:sp>
      <p:sp>
        <p:nvSpPr>
          <p:cNvPr id="2" name="Titre 1"/>
          <p:cNvSpPr>
            <a:spLocks noGrp="1"/>
          </p:cNvSpPr>
          <p:nvPr>
            <p:ph type="ctrTitle"/>
          </p:nvPr>
        </p:nvSpPr>
        <p:spPr>
          <a:xfrm>
            <a:off x="611560" y="0"/>
            <a:ext cx="7772400" cy="1470025"/>
          </a:xfrm>
        </p:spPr>
        <p:txBody>
          <a:bodyPr>
            <a:normAutofit/>
          </a:bodyPr>
          <a:lstStyle/>
          <a:p>
            <a:r>
              <a:rPr lang="fr-FR" dirty="0" smtClean="0">
                <a:solidFill>
                  <a:srgbClr val="FF0000"/>
                </a:solidFill>
              </a:rPr>
              <a:t>La maladie cœliaque  </a:t>
            </a:r>
            <a:endParaRPr lang="fr-FR" dirty="0">
              <a:solidFill>
                <a:srgbClr val="FF0000"/>
              </a:solidFill>
            </a:endParaRPr>
          </a:p>
        </p:txBody>
      </p:sp>
      <p:sp>
        <p:nvSpPr>
          <p:cNvPr id="4" name="Espace réservé du pied de page 3"/>
          <p:cNvSpPr>
            <a:spLocks noGrp="1"/>
          </p:cNvSpPr>
          <p:nvPr>
            <p:ph type="ftr" sz="quarter" idx="11"/>
          </p:nvPr>
        </p:nvSpPr>
        <p:spPr>
          <a:xfrm>
            <a:off x="899592" y="6381328"/>
            <a:ext cx="7632848" cy="248072"/>
          </a:xfrm>
        </p:spPr>
        <p:txBody>
          <a:bodyPr/>
          <a:lstStyle/>
          <a:p>
            <a:r>
              <a:rPr lang="fr-FR" dirty="0" err="1" smtClean="0"/>
              <a:t>dr</a:t>
            </a:r>
            <a:r>
              <a:rPr lang="fr-FR" dirty="0" smtClean="0"/>
              <a:t> </a:t>
            </a:r>
            <a:r>
              <a:rPr lang="fr-FR" dirty="0" err="1" smtClean="0"/>
              <a:t>yakhlef</a:t>
            </a:r>
            <a:r>
              <a:rPr lang="fr-FR" dirty="0" smtClean="0"/>
              <a:t> smail (HMRUC2025)                        </a:t>
            </a:r>
            <a:endParaRPr lang="fr-FR" dirty="0"/>
          </a:p>
        </p:txBody>
      </p:sp>
      <p:sp>
        <p:nvSpPr>
          <p:cNvPr id="5" name="Espace réservé du numéro de diapositive 4"/>
          <p:cNvSpPr>
            <a:spLocks noGrp="1"/>
          </p:cNvSpPr>
          <p:nvPr>
            <p:ph type="sldNum" sz="quarter" idx="12"/>
          </p:nvPr>
        </p:nvSpPr>
        <p:spPr/>
        <p:txBody>
          <a:bodyPr/>
          <a:lstStyle/>
          <a:p>
            <a:fld id="{E45DE23A-236E-47DD-9286-7BC7C2C86D6D}" type="slidenum">
              <a:rPr lang="fr-FR" smtClean="0"/>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116632"/>
            <a:ext cx="8507288" cy="6741368"/>
          </a:xfrm>
        </p:spPr>
        <p:txBody>
          <a:bodyPr>
            <a:normAutofit fontScale="92500" lnSpcReduction="20000"/>
          </a:bodyPr>
          <a:lstStyle/>
          <a:p>
            <a:pPr marL="0" indent="0" algn="ctr">
              <a:buNone/>
            </a:pPr>
            <a:r>
              <a:rPr lang="fr-FR" sz="3000" b="1" dirty="0">
                <a:solidFill>
                  <a:srgbClr val="FF0000"/>
                </a:solidFill>
              </a:rPr>
              <a:t>Plan</a:t>
            </a:r>
            <a:r>
              <a:rPr lang="fr-FR" sz="3000" dirty="0"/>
              <a:t> </a:t>
            </a:r>
            <a:endParaRPr lang="fr-FR" sz="3000" dirty="0" smtClean="0"/>
          </a:p>
          <a:p>
            <a:pPr marL="571500" indent="-571500">
              <a:buFont typeface="+mj-lt"/>
              <a:buAutoNum type="romanUcPeriod"/>
            </a:pPr>
            <a:r>
              <a:rPr lang="fr-FR" b="1" dirty="0" smtClean="0">
                <a:solidFill>
                  <a:schemeClr val="accent1"/>
                </a:solidFill>
              </a:rPr>
              <a:t>Généralités définition</a:t>
            </a:r>
          </a:p>
          <a:p>
            <a:pPr marL="1165860" lvl="3" indent="-342900">
              <a:buFont typeface="Wingdings" panose="05000000000000000000" pitchFamily="2" charset="2"/>
              <a:buChar char="v"/>
            </a:pPr>
            <a:r>
              <a:rPr lang="fr-FR" sz="2600" dirty="0" smtClean="0">
                <a:solidFill>
                  <a:srgbClr val="00B0F0"/>
                </a:solidFill>
              </a:rPr>
              <a:t>Définition </a:t>
            </a:r>
            <a:r>
              <a:rPr lang="fr-FR" sz="2600" dirty="0">
                <a:solidFill>
                  <a:srgbClr val="00B0F0"/>
                </a:solidFill>
              </a:rPr>
              <a:t>de la maladie </a:t>
            </a:r>
            <a:r>
              <a:rPr lang="fr-FR" sz="2600" dirty="0" smtClean="0">
                <a:solidFill>
                  <a:srgbClr val="00B0F0"/>
                </a:solidFill>
              </a:rPr>
              <a:t>cœliaque </a:t>
            </a:r>
          </a:p>
          <a:p>
            <a:pPr marL="1165860" lvl="3" indent="-342900">
              <a:buFont typeface="Wingdings" panose="05000000000000000000" pitchFamily="2" charset="2"/>
              <a:buChar char="v"/>
            </a:pPr>
            <a:r>
              <a:rPr lang="fr-FR" sz="2600" dirty="0" smtClean="0">
                <a:solidFill>
                  <a:srgbClr val="00B0F0"/>
                </a:solidFill>
              </a:rPr>
              <a:t>Intérêt de la question </a:t>
            </a:r>
          </a:p>
          <a:p>
            <a:pPr marL="571500" indent="-571500">
              <a:buFont typeface="+mj-lt"/>
              <a:buAutoNum type="romanUcPeriod"/>
            </a:pPr>
            <a:r>
              <a:rPr lang="fr-FR" b="1" dirty="0" smtClean="0">
                <a:solidFill>
                  <a:schemeClr val="accent1"/>
                </a:solidFill>
              </a:rPr>
              <a:t>Épidémiologie</a:t>
            </a:r>
          </a:p>
          <a:p>
            <a:pPr marL="571500" indent="-571500">
              <a:buFont typeface="+mj-lt"/>
              <a:buAutoNum type="romanUcPeriod"/>
            </a:pPr>
            <a:r>
              <a:rPr lang="fr-FR" b="1" dirty="0" smtClean="0">
                <a:solidFill>
                  <a:schemeClr val="accent1"/>
                </a:solidFill>
              </a:rPr>
              <a:t>pathogénie</a:t>
            </a:r>
          </a:p>
          <a:p>
            <a:pPr marL="571500" indent="-571500">
              <a:buFont typeface="+mj-lt"/>
              <a:buAutoNum type="romanUcPeriod"/>
            </a:pPr>
            <a:r>
              <a:rPr lang="fr-FR" b="1" dirty="0" smtClean="0">
                <a:solidFill>
                  <a:schemeClr val="accent1"/>
                </a:solidFill>
              </a:rPr>
              <a:t>Diagnostic positif</a:t>
            </a:r>
          </a:p>
          <a:p>
            <a:pPr marL="1165860" lvl="3" indent="-342900">
              <a:buFont typeface="Wingdings" panose="05000000000000000000" pitchFamily="2" charset="2"/>
              <a:buChar char="v"/>
            </a:pPr>
            <a:r>
              <a:rPr lang="fr-FR" sz="2600" dirty="0" smtClean="0">
                <a:solidFill>
                  <a:srgbClr val="0070C0"/>
                </a:solidFill>
              </a:rPr>
              <a:t>Aspects cliniques </a:t>
            </a:r>
          </a:p>
          <a:p>
            <a:pPr marL="1165860" lvl="3" indent="-342900">
              <a:buFont typeface="Wingdings" panose="05000000000000000000" pitchFamily="2" charset="2"/>
              <a:buChar char="v"/>
            </a:pPr>
            <a:r>
              <a:rPr lang="fr-FR" sz="2600" dirty="0" smtClean="0">
                <a:solidFill>
                  <a:srgbClr val="0070C0"/>
                </a:solidFill>
              </a:rPr>
              <a:t>Sérologie</a:t>
            </a:r>
          </a:p>
          <a:p>
            <a:pPr marL="1165860" lvl="3" indent="-342900">
              <a:buFont typeface="Wingdings" panose="05000000000000000000" pitchFamily="2" charset="2"/>
              <a:buChar char="v"/>
            </a:pPr>
            <a:r>
              <a:rPr lang="fr-FR" sz="2600" dirty="0" smtClean="0">
                <a:solidFill>
                  <a:srgbClr val="0070C0"/>
                </a:solidFill>
              </a:rPr>
              <a:t>Histologie</a:t>
            </a:r>
          </a:p>
          <a:p>
            <a:pPr marL="1165860" lvl="3" indent="-342900">
              <a:buFont typeface="Wingdings" panose="05000000000000000000" pitchFamily="2" charset="2"/>
              <a:buChar char="v"/>
            </a:pPr>
            <a:r>
              <a:rPr lang="fr-FR" sz="2600" dirty="0" smtClean="0">
                <a:solidFill>
                  <a:srgbClr val="0070C0"/>
                </a:solidFill>
              </a:rPr>
              <a:t>Génétique</a:t>
            </a:r>
          </a:p>
          <a:p>
            <a:pPr marL="1165860" lvl="3" indent="-342900">
              <a:buFont typeface="Wingdings" panose="05000000000000000000" pitchFamily="2" charset="2"/>
              <a:buChar char="v"/>
            </a:pPr>
            <a:r>
              <a:rPr lang="fr-FR" sz="2600" dirty="0" smtClean="0">
                <a:solidFill>
                  <a:srgbClr val="0070C0"/>
                </a:solidFill>
              </a:rPr>
              <a:t>Maladies associées </a:t>
            </a:r>
          </a:p>
          <a:p>
            <a:pPr marL="571500" indent="-571500">
              <a:buFont typeface="Wingdings 2"/>
              <a:buAutoNum type="romanUcPeriod" startAt="6"/>
            </a:pPr>
            <a:r>
              <a:rPr lang="fr-FR" b="1" dirty="0">
                <a:solidFill>
                  <a:schemeClr val="accent1"/>
                </a:solidFill>
              </a:rPr>
              <a:t>Diagnostic </a:t>
            </a:r>
            <a:r>
              <a:rPr lang="fr-FR" b="1" dirty="0" smtClean="0">
                <a:solidFill>
                  <a:schemeClr val="accent1"/>
                </a:solidFill>
              </a:rPr>
              <a:t>différentiel </a:t>
            </a:r>
            <a:endParaRPr lang="fr-FR" b="1" dirty="0">
              <a:solidFill>
                <a:schemeClr val="accent1"/>
              </a:solidFill>
            </a:endParaRPr>
          </a:p>
          <a:p>
            <a:pPr marL="571500" indent="-571500">
              <a:buFont typeface="Wingdings 2"/>
              <a:buAutoNum type="romanUcPeriod" startAt="6"/>
            </a:pPr>
            <a:r>
              <a:rPr lang="fr-FR" b="1" dirty="0">
                <a:solidFill>
                  <a:schemeClr val="accent1"/>
                </a:solidFill>
              </a:rPr>
              <a:t>Complication</a:t>
            </a:r>
          </a:p>
          <a:p>
            <a:pPr marL="571500" indent="-571500">
              <a:buAutoNum type="romanUcPeriod" startAt="6"/>
            </a:pPr>
            <a:r>
              <a:rPr lang="fr-FR" b="1" dirty="0" smtClean="0">
                <a:solidFill>
                  <a:schemeClr val="accent1"/>
                </a:solidFill>
              </a:rPr>
              <a:t>Traitement</a:t>
            </a:r>
          </a:p>
          <a:p>
            <a:pPr marL="571500" indent="-571500">
              <a:buFont typeface="Wingdings 2"/>
              <a:buAutoNum type="romanUcPeriod" startAt="6"/>
            </a:pPr>
            <a:r>
              <a:rPr lang="fr-FR" b="1" dirty="0" smtClean="0">
                <a:solidFill>
                  <a:schemeClr val="accent1"/>
                </a:solidFill>
              </a:rPr>
              <a:t>Suivi </a:t>
            </a:r>
            <a:endParaRPr lang="fr-FR" b="1" dirty="0">
              <a:solidFill>
                <a:schemeClr val="accent1"/>
              </a:solidFill>
            </a:endParaRPr>
          </a:p>
          <a:p>
            <a:pPr marL="571500" indent="-571500">
              <a:buFont typeface="Wingdings 2"/>
              <a:buAutoNum type="romanUcPeriod" startAt="6"/>
            </a:pPr>
            <a:r>
              <a:rPr lang="fr-FR" b="1" dirty="0" smtClean="0">
                <a:solidFill>
                  <a:schemeClr val="accent1"/>
                </a:solidFill>
              </a:rPr>
              <a:t> Conclusion </a:t>
            </a:r>
          </a:p>
          <a:p>
            <a:pPr marL="571500" indent="-571500">
              <a:buFont typeface="+mj-lt"/>
              <a:buAutoNum type="romanUcPeriod"/>
            </a:pPr>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a:t>
            </a:fld>
            <a:endParaRPr lang="fr-F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188640"/>
            <a:ext cx="8856984" cy="6480720"/>
          </a:xfrm>
        </p:spPr>
        <p:txBody>
          <a:bodyPr/>
          <a:lstStyle/>
          <a:p>
            <a:pPr marL="514350" indent="-514350">
              <a:buFont typeface="+mj-lt"/>
              <a:buAutoNum type="romanUcPeriod"/>
            </a:pPr>
            <a:r>
              <a:rPr lang="fr-FR" sz="2400" dirty="0" smtClean="0">
                <a:solidFill>
                  <a:srgbClr val="FF0000"/>
                </a:solidFill>
              </a:rPr>
              <a:t> </a:t>
            </a:r>
            <a:r>
              <a:rPr lang="fr-FR" sz="2400" b="1" dirty="0">
                <a:solidFill>
                  <a:srgbClr val="FF0000"/>
                </a:solidFill>
              </a:rPr>
              <a:t>Introduction : </a:t>
            </a:r>
            <a:endParaRPr lang="fr-FR" sz="2400" b="1" dirty="0" smtClean="0">
              <a:solidFill>
                <a:srgbClr val="FF0000"/>
              </a:solidFill>
            </a:endParaRPr>
          </a:p>
          <a:p>
            <a:endParaRPr lang="fr-FR" sz="2400" dirty="0">
              <a:solidFill>
                <a:srgbClr val="FF0000"/>
              </a:solidFill>
            </a:endParaRPr>
          </a:p>
          <a:p>
            <a:pPr>
              <a:buClr>
                <a:srgbClr val="0070C0"/>
              </a:buClr>
              <a:buFont typeface="Wingdings" panose="05000000000000000000" pitchFamily="2" charset="2"/>
              <a:buChar char="q"/>
            </a:pPr>
            <a:r>
              <a:rPr lang="fr-FR" sz="2400" b="1" dirty="0">
                <a:solidFill>
                  <a:srgbClr val="00B0F0"/>
                </a:solidFill>
              </a:rPr>
              <a:t>Définition :</a:t>
            </a:r>
            <a:r>
              <a:rPr lang="fr-FR" sz="2400" dirty="0">
                <a:solidFill>
                  <a:srgbClr val="00B0F0"/>
                </a:solidFill>
              </a:rPr>
              <a:t> </a:t>
            </a:r>
            <a:endParaRPr lang="fr-FR" sz="2400" dirty="0" smtClean="0">
              <a:solidFill>
                <a:srgbClr val="00B0F0"/>
              </a:solidFill>
            </a:endParaRPr>
          </a:p>
          <a:p>
            <a:pPr>
              <a:buClr>
                <a:srgbClr val="0070C0"/>
              </a:buClr>
              <a:buFont typeface="Wingdings" panose="05000000000000000000" pitchFamily="2" charset="2"/>
              <a:buChar char="q"/>
            </a:pPr>
            <a:endParaRPr lang="fr-FR" sz="2200" dirty="0" smtClean="0"/>
          </a:p>
          <a:p>
            <a:pPr>
              <a:buClr>
                <a:srgbClr val="0070C0"/>
              </a:buClr>
              <a:buFont typeface="Wingdings" panose="05000000000000000000" pitchFamily="2" charset="2"/>
              <a:buChar char="v"/>
            </a:pPr>
            <a:r>
              <a:rPr lang="fr-FR" sz="1800" dirty="0"/>
              <a:t>La maladie cœliaque (MC) ou intolérance au gluten </a:t>
            </a:r>
            <a:r>
              <a:rPr lang="fr-FR" sz="1800" dirty="0" smtClean="0"/>
              <a:t>est </a:t>
            </a:r>
            <a:r>
              <a:rPr lang="fr-FR" sz="1800" dirty="0"/>
              <a:t>une </a:t>
            </a:r>
            <a:r>
              <a:rPr lang="fr-FR" sz="1800" dirty="0" smtClean="0"/>
              <a:t>entéropathie chronique et </a:t>
            </a:r>
            <a:r>
              <a:rPr lang="fr-FR" sz="1800" dirty="0"/>
              <a:t>permanente</a:t>
            </a:r>
            <a:r>
              <a:rPr lang="fr-FR" sz="1800" dirty="0" smtClean="0"/>
              <a:t> </a:t>
            </a:r>
            <a:r>
              <a:rPr lang="fr-FR" sz="1800" dirty="0"/>
              <a:t>auto-immune</a:t>
            </a:r>
            <a:r>
              <a:rPr lang="fr-FR" sz="1800" dirty="0" smtClean="0"/>
              <a:t> à </a:t>
            </a:r>
            <a:r>
              <a:rPr lang="fr-FR" sz="1800" dirty="0"/>
              <a:t>médiation par les lymphocytes T, </a:t>
            </a:r>
            <a:r>
              <a:rPr lang="fr-FR" sz="1800" dirty="0" smtClean="0"/>
              <a:t>chez </a:t>
            </a:r>
            <a:r>
              <a:rPr lang="fr-FR" sz="1800" dirty="0"/>
              <a:t>des individus génétiquement </a:t>
            </a:r>
            <a:r>
              <a:rPr lang="fr-FR" sz="1800" dirty="0" smtClean="0"/>
              <a:t>prédisposés</a:t>
            </a:r>
          </a:p>
          <a:p>
            <a:pPr>
              <a:buClr>
                <a:srgbClr val="0070C0"/>
              </a:buClr>
              <a:buFont typeface="Wingdings" panose="05000000000000000000" pitchFamily="2" charset="2"/>
              <a:buChar char="v"/>
            </a:pPr>
            <a:endParaRPr lang="fr-FR" sz="1800" dirty="0" smtClean="0"/>
          </a:p>
          <a:p>
            <a:pPr>
              <a:buClr>
                <a:srgbClr val="0070C0"/>
              </a:buClr>
              <a:buFont typeface="Wingdings" panose="05000000000000000000" pitchFamily="2" charset="2"/>
              <a:buChar char="v"/>
            </a:pPr>
            <a:r>
              <a:rPr lang="fr-FR" sz="1800" dirty="0" smtClean="0"/>
              <a:t> Elle </a:t>
            </a:r>
            <a:r>
              <a:rPr lang="fr-FR" sz="1800" dirty="0"/>
              <a:t>est induite par </a:t>
            </a:r>
            <a:r>
              <a:rPr lang="fr-FR" sz="1800" dirty="0" smtClean="0"/>
              <a:t>l’ingestion </a:t>
            </a:r>
            <a:r>
              <a:rPr lang="fr-FR" sz="1800" dirty="0"/>
              <a:t>de gluten, protéine non digestible présente dans le blé, le seigle et l’orge et largement utilisée dans l’industrie agro-alimentaire </a:t>
            </a:r>
            <a:endParaRPr lang="fr-FR" sz="1800" dirty="0" smtClean="0"/>
          </a:p>
          <a:p>
            <a:pPr>
              <a:buClr>
                <a:srgbClr val="0070C0"/>
              </a:buClr>
              <a:buFont typeface="Wingdings" panose="05000000000000000000" pitchFamily="2" charset="2"/>
              <a:buChar char="v"/>
            </a:pPr>
            <a:endParaRPr lang="fr-FR" sz="1800" dirty="0" smtClean="0"/>
          </a:p>
          <a:p>
            <a:pPr>
              <a:buClr>
                <a:srgbClr val="0070C0"/>
              </a:buClr>
              <a:buFont typeface="Wingdings" panose="05000000000000000000" pitchFamily="2" charset="2"/>
              <a:buChar char="v"/>
            </a:pPr>
            <a:r>
              <a:rPr lang="fr-FR" sz="1800" dirty="0" smtClean="0"/>
              <a:t> </a:t>
            </a:r>
            <a:r>
              <a:rPr lang="fr-FR" sz="1800" dirty="0"/>
              <a:t>La MC est caractérisée par une atteinte inflammatoire de la muqueuse de l’intestin grêle et une élévation d’anticorps sériques spécifiques</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a:t>
            </a:fld>
            <a:endParaRPr lang="fr-FR"/>
          </a:p>
        </p:txBody>
      </p:sp>
    </p:spTree>
    <p:extLst>
      <p:ext uri="{BB962C8B-B14F-4D97-AF65-F5344CB8AC3E}">
        <p14:creationId xmlns:p14="http://schemas.microsoft.com/office/powerpoint/2010/main" val="14384619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07504" y="116632"/>
            <a:ext cx="9036496" cy="6624736"/>
          </a:xfrm>
        </p:spPr>
        <p:txBody>
          <a:bodyPr>
            <a:normAutofit/>
          </a:bodyPr>
          <a:lstStyle/>
          <a:p>
            <a:pPr>
              <a:buClr>
                <a:srgbClr val="0070C0"/>
              </a:buClr>
              <a:buFont typeface="Wingdings" panose="05000000000000000000" pitchFamily="2" charset="2"/>
              <a:buChar char="q"/>
            </a:pPr>
            <a:endParaRPr lang="fr-FR" sz="2400" b="1" dirty="0" smtClean="0">
              <a:solidFill>
                <a:srgbClr val="00B0F0"/>
              </a:solidFill>
            </a:endParaRPr>
          </a:p>
          <a:p>
            <a:pPr>
              <a:buClr>
                <a:srgbClr val="0070C0"/>
              </a:buClr>
              <a:buFont typeface="Wingdings" panose="05000000000000000000" pitchFamily="2" charset="2"/>
              <a:buChar char="q"/>
            </a:pPr>
            <a:r>
              <a:rPr lang="fr-FR" sz="2400" b="1" dirty="0" smtClean="0">
                <a:solidFill>
                  <a:srgbClr val="00B0F0"/>
                </a:solidFill>
              </a:rPr>
              <a:t>Intérêt</a:t>
            </a:r>
            <a:r>
              <a:rPr lang="fr-FR" sz="2400" b="1" dirty="0">
                <a:solidFill>
                  <a:srgbClr val="00B0F0"/>
                </a:solidFill>
              </a:rPr>
              <a:t> :</a:t>
            </a:r>
            <a:endParaRPr lang="fr-FR" sz="2400" dirty="0">
              <a:solidFill>
                <a:srgbClr val="00B0F0"/>
              </a:solidFill>
            </a:endParaRPr>
          </a:p>
          <a:p>
            <a:pPr lvl="1">
              <a:buFont typeface="Wingdings" panose="05000000000000000000" pitchFamily="2" charset="2"/>
              <a:buChar char="v"/>
            </a:pPr>
            <a:r>
              <a:rPr lang="fr-FR" sz="2200" dirty="0" smtClean="0"/>
              <a:t> une </a:t>
            </a:r>
            <a:r>
              <a:rPr lang="fr-FR" sz="2200" dirty="0"/>
              <a:t>grande variabilité de son tableau clinique, ce qui peut être responsable de </a:t>
            </a:r>
            <a:r>
              <a:rPr lang="fr-FR" sz="2200" dirty="0" smtClean="0"/>
              <a:t>diagnostics </a:t>
            </a:r>
            <a:r>
              <a:rPr lang="fr-FR" sz="2200" dirty="0"/>
              <a:t>tardifs ou manqués et, par conséquent, de complications à long terme</a:t>
            </a:r>
            <a:r>
              <a:rPr lang="fr-FR" sz="2200" dirty="0" smtClean="0"/>
              <a:t>.</a:t>
            </a:r>
          </a:p>
          <a:p>
            <a:pPr lvl="1">
              <a:buFont typeface="Wingdings" panose="05000000000000000000" pitchFamily="2" charset="2"/>
              <a:buChar char="v"/>
            </a:pPr>
            <a:endParaRPr lang="fr-FR" sz="2200" dirty="0"/>
          </a:p>
          <a:p>
            <a:pPr lvl="1">
              <a:buFont typeface="Wingdings" panose="05000000000000000000" pitchFamily="2" charset="2"/>
              <a:buChar char="v"/>
            </a:pPr>
            <a:r>
              <a:rPr lang="fr-FR" sz="2200" dirty="0"/>
              <a:t>L'algorithme de diagnostic, auparavant basé principalement sur les résultats de la biopsie de l'intestin grêle, évolue actuellement grâce à la disponibilité de biomarqueurs sérologiques simples et spécifiques</a:t>
            </a:r>
            <a:r>
              <a:rPr lang="fr-FR" sz="2200" dirty="0" smtClean="0"/>
              <a:t>.</a:t>
            </a:r>
          </a:p>
          <a:p>
            <a:pPr lvl="1">
              <a:buFont typeface="Wingdings" panose="05000000000000000000" pitchFamily="2" charset="2"/>
              <a:buChar char="v"/>
            </a:pPr>
            <a:endParaRPr lang="fr-FR" sz="2200" dirty="0"/>
          </a:p>
          <a:p>
            <a:pPr lvl="1">
              <a:buFont typeface="Wingdings" panose="05000000000000000000" pitchFamily="2" charset="2"/>
              <a:buChar char="v"/>
            </a:pPr>
            <a:r>
              <a:rPr lang="fr-FR" sz="2200" dirty="0"/>
              <a:t>Un régime sans gluten est un traitement efficace contre la maladie cœliaque. </a:t>
            </a:r>
            <a:endParaRPr lang="fr-FR" sz="2200" dirty="0" smtClean="0"/>
          </a:p>
          <a:p>
            <a:pPr lvl="1">
              <a:buFont typeface="Wingdings" panose="05000000000000000000" pitchFamily="2" charset="2"/>
              <a:buChar char="v"/>
            </a:pPr>
            <a:endParaRPr lang="fr-FR" sz="2200" dirty="0" smtClean="0"/>
          </a:p>
          <a:p>
            <a:pPr lvl="1">
              <a:buFont typeface="Wingdings" panose="05000000000000000000" pitchFamily="2" charset="2"/>
              <a:buChar char="v"/>
            </a:pPr>
            <a:r>
              <a:rPr lang="fr-FR" sz="2200" dirty="0" smtClean="0"/>
              <a:t>l’effet </a:t>
            </a:r>
            <a:r>
              <a:rPr lang="fr-FR" sz="2200" dirty="0"/>
              <a:t>psychosocial </a:t>
            </a:r>
            <a:r>
              <a:rPr lang="fr-FR" sz="2200" dirty="0" smtClean="0"/>
              <a:t>d’un </a:t>
            </a:r>
            <a:r>
              <a:rPr lang="fr-FR" sz="2200" dirty="0"/>
              <a:t>régime sans </a:t>
            </a:r>
            <a:r>
              <a:rPr lang="fr-FR" sz="2200" dirty="0" smtClean="0"/>
              <a:t>gluten à vie pose un problème </a:t>
            </a:r>
            <a:r>
              <a:rPr lang="fr-FR" sz="2200" dirty="0"/>
              <a:t>d</a:t>
            </a:r>
            <a:r>
              <a:rPr lang="fr-FR" sz="2200" dirty="0" smtClean="0"/>
              <a:t>’adhésion qui peut </a:t>
            </a:r>
            <a:r>
              <a:rPr lang="fr-FR" sz="2200" dirty="0"/>
              <a:t>être </a:t>
            </a:r>
            <a:r>
              <a:rPr lang="fr-FR" sz="2200" dirty="0" smtClean="0"/>
              <a:t>incomplet.</a:t>
            </a:r>
            <a:endParaRPr lang="fr-FR" sz="22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4</a:t>
            </a:fld>
            <a:endParaRPr lang="fr-FR"/>
          </a:p>
        </p:txBody>
      </p:sp>
    </p:spTree>
    <p:extLst>
      <p:ext uri="{BB962C8B-B14F-4D97-AF65-F5344CB8AC3E}">
        <p14:creationId xmlns:p14="http://schemas.microsoft.com/office/powerpoint/2010/main" val="42632878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46304" y="188640"/>
            <a:ext cx="8818184" cy="6669360"/>
          </a:xfrm>
        </p:spPr>
        <p:txBody>
          <a:bodyPr>
            <a:normAutofit/>
          </a:bodyPr>
          <a:lstStyle/>
          <a:p>
            <a:pPr marL="514350" indent="-514350">
              <a:buClr>
                <a:srgbClr val="FF0000"/>
              </a:buClr>
              <a:buSzPct val="100000"/>
              <a:buFont typeface="+mj-lt"/>
              <a:buAutoNum type="romanUcPeriod" startAt="2"/>
            </a:pPr>
            <a:r>
              <a:rPr lang="fr-FR" b="1" dirty="0" smtClean="0">
                <a:solidFill>
                  <a:srgbClr val="FF0000"/>
                </a:solidFill>
              </a:rPr>
              <a:t>Epidémiologie:</a:t>
            </a:r>
          </a:p>
          <a:p>
            <a:pPr marL="514350" indent="-514350">
              <a:buClr>
                <a:srgbClr val="FF0000"/>
              </a:buClr>
              <a:buSzPct val="100000"/>
              <a:buFont typeface="+mj-lt"/>
              <a:buAutoNum type="romanUcPeriod" startAt="2"/>
            </a:pPr>
            <a:endParaRPr lang="fr-FR" dirty="0">
              <a:solidFill>
                <a:srgbClr val="FF0000"/>
              </a:solidFill>
            </a:endParaRPr>
          </a:p>
          <a:p>
            <a:pPr lvl="1">
              <a:buFont typeface="Wingdings" panose="05000000000000000000" pitchFamily="2" charset="2"/>
              <a:buChar char="v"/>
            </a:pPr>
            <a:r>
              <a:rPr lang="fr-FR" sz="2200" dirty="0" smtClean="0"/>
              <a:t>la </a:t>
            </a:r>
            <a:r>
              <a:rPr lang="fr-FR" sz="2200" dirty="0"/>
              <a:t>prévalence globale de la maladie cœliaque dans la population générale varie de 0,5 % à 2 %, avec une moyenne d'environ 1 %. </a:t>
            </a:r>
            <a:endParaRPr lang="fr-FR" sz="2200" dirty="0" smtClean="0"/>
          </a:p>
          <a:p>
            <a:pPr lvl="1">
              <a:buFont typeface="Wingdings" panose="05000000000000000000" pitchFamily="2" charset="2"/>
              <a:buChar char="v"/>
            </a:pPr>
            <a:r>
              <a:rPr lang="fr-FR" sz="2200" dirty="0" smtClean="0"/>
              <a:t>Des </a:t>
            </a:r>
            <a:r>
              <a:rPr lang="fr-FR" sz="2200" dirty="0"/>
              <a:t>valeurs plus élevées ont parfois été rapportées </a:t>
            </a:r>
            <a:r>
              <a:rPr lang="fr-FR" sz="2200" dirty="0" smtClean="0"/>
              <a:t>(3 </a:t>
            </a:r>
            <a:r>
              <a:rPr lang="fr-FR" sz="2200" dirty="0"/>
              <a:t>% en Suède et 5,6 % chez les Sahraouis</a:t>
            </a:r>
            <a:r>
              <a:rPr lang="fr-FR" sz="2200" dirty="0" smtClean="0"/>
              <a:t>)</a:t>
            </a:r>
            <a:endParaRPr lang="fr-FR" sz="2200" dirty="0"/>
          </a:p>
          <a:p>
            <a:pPr lvl="1">
              <a:buFont typeface="Wingdings" panose="05000000000000000000" pitchFamily="2" charset="2"/>
              <a:buChar char="v"/>
            </a:pPr>
            <a:r>
              <a:rPr lang="fr-FR" sz="2200" dirty="0" smtClean="0"/>
              <a:t> moins </a:t>
            </a:r>
            <a:r>
              <a:rPr lang="fr-FR" sz="2200" dirty="0"/>
              <a:t>fréquente </a:t>
            </a:r>
            <a:r>
              <a:rPr lang="fr-FR" sz="2200" dirty="0" smtClean="0"/>
              <a:t>dans </a:t>
            </a:r>
            <a:r>
              <a:rPr lang="fr-FR" sz="2000" dirty="0"/>
              <a:t>les pays</a:t>
            </a:r>
            <a:r>
              <a:rPr lang="fr-FR" sz="2200" dirty="0" smtClean="0"/>
              <a:t> :</a:t>
            </a:r>
          </a:p>
          <a:p>
            <a:pPr lvl="2">
              <a:buClr>
                <a:srgbClr val="0070C0"/>
              </a:buClr>
              <a:buFont typeface="Wingdings" panose="05000000000000000000" pitchFamily="2" charset="2"/>
              <a:buChar char="q"/>
            </a:pPr>
            <a:r>
              <a:rPr lang="fr-FR" sz="1800" dirty="0" smtClean="0"/>
              <a:t>où </a:t>
            </a:r>
            <a:r>
              <a:rPr lang="fr-FR" sz="1800" dirty="0"/>
              <a:t>les céréales contenant du gluten ne constituent pas l'alimentation de base </a:t>
            </a:r>
            <a:endParaRPr lang="fr-FR" sz="1800" dirty="0" smtClean="0"/>
          </a:p>
          <a:p>
            <a:pPr lvl="2">
              <a:buClr>
                <a:srgbClr val="0070C0"/>
              </a:buClr>
              <a:buFont typeface="Wingdings" panose="05000000000000000000" pitchFamily="2" charset="2"/>
              <a:buChar char="q"/>
            </a:pPr>
            <a:r>
              <a:rPr lang="fr-FR" sz="1800" dirty="0" smtClean="0"/>
              <a:t>où </a:t>
            </a:r>
            <a:r>
              <a:rPr lang="fr-FR" sz="1800" dirty="0"/>
              <a:t>la diffusion des principaux gènes (HLA-DQ2 /</a:t>
            </a:r>
            <a:r>
              <a:rPr lang="fr-FR" sz="1800" dirty="0" smtClean="0"/>
              <a:t>DQ8</a:t>
            </a:r>
            <a:r>
              <a:rPr lang="fr-FR" sz="1800" dirty="0"/>
              <a:t>) qui prédisposent à la maladie est </a:t>
            </a:r>
            <a:r>
              <a:rPr lang="fr-FR" sz="1800" dirty="0" smtClean="0"/>
              <a:t>faible</a:t>
            </a:r>
            <a:endParaRPr lang="fr-FR" sz="1800" dirty="0"/>
          </a:p>
          <a:p>
            <a:pPr marL="320040" lvl="1" indent="0">
              <a:buNone/>
            </a:pPr>
            <a:r>
              <a:rPr lang="fr-FR" sz="2200" dirty="0" smtClean="0"/>
              <a:t>  </a:t>
            </a:r>
          </a:p>
          <a:p>
            <a:pPr lvl="1">
              <a:buFont typeface="Wingdings" panose="05000000000000000000" pitchFamily="2" charset="2"/>
              <a:buChar char="v"/>
            </a:pPr>
            <a:r>
              <a:rPr lang="fr-FR" sz="2200" dirty="0" smtClean="0"/>
              <a:t>La </a:t>
            </a:r>
            <a:r>
              <a:rPr lang="fr-FR" sz="2200" dirty="0"/>
              <a:t>maladie cœliaque est plus fréquente chez les femmes que chez les hommes,(ratio femmes/hommes = 1,85</a:t>
            </a:r>
            <a:r>
              <a:rPr lang="fr-FR" sz="2200" dirty="0" smtClean="0"/>
              <a:t>)</a:t>
            </a:r>
            <a:endParaRPr lang="fr-FR" sz="2200" dirty="0"/>
          </a:p>
          <a:p>
            <a:pPr lvl="1">
              <a:buFont typeface="Wingdings" panose="05000000000000000000" pitchFamily="2" charset="2"/>
              <a:buChar char="v"/>
            </a:pPr>
            <a:r>
              <a:rPr lang="fr-FR" sz="2200" dirty="0" smtClean="0"/>
              <a:t>la </a:t>
            </a:r>
            <a:r>
              <a:rPr lang="fr-FR" sz="2200" dirty="0"/>
              <a:t>forte proportion de cas cliniquement silencieux </a:t>
            </a:r>
            <a:r>
              <a:rPr lang="fr-FR" sz="2200" dirty="0" smtClean="0"/>
              <a:t>la </a:t>
            </a:r>
            <a:r>
              <a:rPr lang="fr-FR" sz="2200" dirty="0"/>
              <a:t>maladie cœliaque reste largement sous-diagnostiquée, notamment dans les pays aux ressources </a:t>
            </a:r>
            <a:r>
              <a:rPr lang="fr-FR" sz="2200" dirty="0" smtClean="0"/>
              <a:t>limitées</a:t>
            </a:r>
            <a:endParaRPr lang="fr-FR" sz="2200" dirty="0"/>
          </a:p>
          <a:p>
            <a:pPr lvl="1">
              <a:buFont typeface="Wingdings" panose="05000000000000000000" pitchFamily="2" charset="2"/>
              <a:buChar char="v"/>
            </a:pPr>
            <a:endParaRPr lang="fr-FR" sz="2200" dirty="0"/>
          </a:p>
          <a:p>
            <a:pPr lvl="1">
              <a:buFont typeface="Wingdings" panose="05000000000000000000" pitchFamily="2" charset="2"/>
              <a:buChar char="v"/>
            </a:pPr>
            <a:endParaRPr lang="fr-FR" dirty="0"/>
          </a:p>
          <a:p>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5</a:t>
            </a:fld>
            <a:endParaRPr lang="fr-FR"/>
          </a:p>
        </p:txBody>
      </p:sp>
    </p:spTree>
    <p:extLst>
      <p:ext uri="{BB962C8B-B14F-4D97-AF65-F5344CB8AC3E}">
        <p14:creationId xmlns:p14="http://schemas.microsoft.com/office/powerpoint/2010/main" val="42214527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188640"/>
            <a:ext cx="9144000" cy="6669360"/>
          </a:xfrm>
        </p:spPr>
        <p:txBody>
          <a:bodyPr>
            <a:normAutofit/>
          </a:bodyPr>
          <a:lstStyle/>
          <a:p>
            <a:pPr marL="514350" indent="-514350">
              <a:buClr>
                <a:srgbClr val="FF0000"/>
              </a:buClr>
              <a:buSzPct val="100000"/>
              <a:buFont typeface="+mj-lt"/>
              <a:buAutoNum type="romanUcPeriod" startAt="3"/>
            </a:pPr>
            <a:r>
              <a:rPr lang="fr-FR" sz="2400" b="1" dirty="0" smtClean="0">
                <a:solidFill>
                  <a:srgbClr val="FF0000"/>
                </a:solidFill>
              </a:rPr>
              <a:t>Pathogénie:</a:t>
            </a:r>
            <a:endParaRPr lang="fr-FR" sz="2400" dirty="0">
              <a:solidFill>
                <a:srgbClr val="FF0000"/>
              </a:solidFill>
            </a:endParaRPr>
          </a:p>
          <a:p>
            <a:pPr>
              <a:buClr>
                <a:srgbClr val="0070C0"/>
              </a:buClr>
              <a:buFont typeface="Wingdings" panose="05000000000000000000" pitchFamily="2" charset="2"/>
              <a:buChar char="q"/>
            </a:pPr>
            <a:r>
              <a:rPr lang="fr-FR" sz="2400" dirty="0">
                <a:solidFill>
                  <a:srgbClr val="0070C0"/>
                </a:solidFill>
              </a:rPr>
              <a:t>Causes nécessaires </a:t>
            </a:r>
          </a:p>
          <a:p>
            <a:pPr>
              <a:buClr>
                <a:srgbClr val="00B050"/>
              </a:buClr>
              <a:buFont typeface="Courier New" panose="02070309020205020404" pitchFamily="49" charset="0"/>
              <a:buChar char="o"/>
            </a:pPr>
            <a:r>
              <a:rPr lang="fr-FR" sz="2200" dirty="0">
                <a:solidFill>
                  <a:srgbClr val="00B050"/>
                </a:solidFill>
              </a:rPr>
              <a:t>Facteurs génétiques</a:t>
            </a:r>
          </a:p>
          <a:p>
            <a:pPr lvl="1">
              <a:buFont typeface="Wingdings" panose="05000000000000000000" pitchFamily="2" charset="2"/>
              <a:buChar char="v"/>
            </a:pPr>
            <a:r>
              <a:rPr lang="fr-FR" sz="2000" dirty="0"/>
              <a:t>Les personnes ayant des antécédents familiaux de maladie cœliaque présentent un risque de 10 à 15 % de développer la maladie au cours de leur </a:t>
            </a:r>
            <a:r>
              <a:rPr lang="fr-FR" sz="2000" dirty="0" smtClean="0"/>
              <a:t>vie. </a:t>
            </a:r>
            <a:r>
              <a:rPr lang="fr-FR" sz="2000" dirty="0"/>
              <a:t>Les facteurs génétiques les plus importants sont </a:t>
            </a:r>
            <a:r>
              <a:rPr lang="fr-FR" sz="2000" dirty="0" smtClean="0"/>
              <a:t>les </a:t>
            </a:r>
            <a:r>
              <a:rPr lang="fr-FR" sz="2000" dirty="0"/>
              <a:t>gènes de classe II du CMH. </a:t>
            </a:r>
            <a:endParaRPr lang="fr-FR" sz="2000" dirty="0" smtClean="0"/>
          </a:p>
          <a:p>
            <a:pPr lvl="1">
              <a:buFont typeface="Wingdings" panose="05000000000000000000" pitchFamily="2" charset="2"/>
              <a:buChar char="v"/>
            </a:pPr>
            <a:r>
              <a:rPr lang="fr-FR" sz="2000" dirty="0" smtClean="0"/>
              <a:t>Environ </a:t>
            </a:r>
            <a:r>
              <a:rPr lang="fr-FR" sz="2000" b="1" dirty="0"/>
              <a:t>90 </a:t>
            </a:r>
            <a:r>
              <a:rPr lang="fr-FR" sz="2000" dirty="0"/>
              <a:t>% des patients atteints de maladie cœliaque expriment le gène HLA-DQ2.5, les autres patients expriment généralement soit le gène </a:t>
            </a:r>
            <a:r>
              <a:rPr lang="fr-FR" sz="2000" b="1" dirty="0"/>
              <a:t>HLA-DQ2. soit le gène HLA-DQ8</a:t>
            </a:r>
            <a:r>
              <a:rPr lang="fr-FR" sz="2000" b="1" dirty="0" smtClean="0"/>
              <a:t>.</a:t>
            </a:r>
            <a:endParaRPr lang="fr-FR" sz="2000" b="1" dirty="0"/>
          </a:p>
          <a:p>
            <a:pPr>
              <a:buClr>
                <a:srgbClr val="00B050"/>
              </a:buClr>
              <a:buFont typeface="Courier New" panose="02070309020205020404" pitchFamily="49" charset="0"/>
              <a:buChar char="o"/>
            </a:pPr>
            <a:r>
              <a:rPr lang="fr-FR" sz="2200" dirty="0">
                <a:solidFill>
                  <a:srgbClr val="00B050"/>
                </a:solidFill>
              </a:rPr>
              <a:t>Gluten alimentaire</a:t>
            </a:r>
          </a:p>
          <a:p>
            <a:pPr lvl="1">
              <a:buFont typeface="Wingdings" panose="05000000000000000000" pitchFamily="2" charset="2"/>
              <a:buChar char="v"/>
            </a:pPr>
            <a:r>
              <a:rPr lang="fr-FR" sz="2000" dirty="0" smtClean="0"/>
              <a:t> désigne </a:t>
            </a:r>
            <a:r>
              <a:rPr lang="fr-FR" sz="2000" dirty="0"/>
              <a:t>les protéines de réserve du blé, du seigle et de </a:t>
            </a:r>
            <a:r>
              <a:rPr lang="fr-FR" sz="2000" dirty="0" smtClean="0"/>
              <a:t>l'orge. Ces </a:t>
            </a:r>
            <a:r>
              <a:rPr lang="fr-FR" sz="2000" dirty="0"/>
              <a:t>protéines, qui contiennent </a:t>
            </a:r>
            <a:r>
              <a:rPr lang="fr-FR" sz="2000" dirty="0" smtClean="0"/>
              <a:t>une </a:t>
            </a:r>
            <a:r>
              <a:rPr lang="fr-FR" sz="2000" dirty="0"/>
              <a:t>forte proportion de résidus </a:t>
            </a:r>
            <a:r>
              <a:rPr lang="fr-FR" sz="2000" dirty="0" smtClean="0"/>
              <a:t>de proline </a:t>
            </a:r>
            <a:r>
              <a:rPr lang="fr-FR" sz="2000" dirty="0"/>
              <a:t>et de glutamine, sont appelées </a:t>
            </a:r>
            <a:r>
              <a:rPr lang="fr-FR" sz="2000" b="1" dirty="0"/>
              <a:t>prolamines.  </a:t>
            </a:r>
          </a:p>
          <a:p>
            <a:pPr lvl="1">
              <a:buFont typeface="Wingdings" panose="05000000000000000000" pitchFamily="2" charset="2"/>
              <a:buChar char="v"/>
            </a:pPr>
            <a:r>
              <a:rPr lang="fr-FR" sz="2000" dirty="0"/>
              <a:t>Les protéines du gluten stimulent la réponse immunitaire </a:t>
            </a:r>
            <a:r>
              <a:rPr lang="fr-FR" sz="2000" dirty="0" smtClean="0"/>
              <a:t>adaptative. </a:t>
            </a:r>
            <a:r>
              <a:rPr lang="fr-FR" sz="2000" dirty="0"/>
              <a:t>Les enzymes gastriques et pancréatiques sont incapables de dégrader complètement ces </a:t>
            </a:r>
            <a:r>
              <a:rPr lang="fr-FR" sz="2000" dirty="0" smtClean="0"/>
              <a:t>protéines</a:t>
            </a:r>
            <a:r>
              <a:rPr lang="fr-FR" sz="2000" dirty="0"/>
              <a:t>,</a:t>
            </a:r>
            <a:r>
              <a:rPr lang="fr-FR" sz="2000" dirty="0" smtClean="0"/>
              <a:t> </a:t>
            </a:r>
            <a:r>
              <a:rPr lang="fr-FR" sz="2000" dirty="0"/>
              <a:t>et cette stabilité protéolytique est un facteur clé de leur </a:t>
            </a:r>
            <a:r>
              <a:rPr lang="fr-FR" sz="2000" dirty="0" err="1"/>
              <a:t>immunogénicité</a:t>
            </a:r>
            <a:endParaRPr lang="fr-FR" sz="20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6</a:t>
            </a:fld>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07504" y="260648"/>
            <a:ext cx="8856984" cy="6408712"/>
          </a:xfrm>
        </p:spPr>
        <p:txBody>
          <a:bodyPr>
            <a:normAutofit/>
          </a:bodyPr>
          <a:lstStyle/>
          <a:p>
            <a:pPr>
              <a:buClr>
                <a:srgbClr val="0070C0"/>
              </a:buClr>
              <a:buFont typeface="Wingdings" panose="05000000000000000000" pitchFamily="2" charset="2"/>
              <a:buChar char="q"/>
            </a:pPr>
            <a:r>
              <a:rPr lang="fr-FR" sz="2400" dirty="0" smtClean="0"/>
              <a:t> </a:t>
            </a:r>
            <a:r>
              <a:rPr lang="fr-FR" sz="2400" dirty="0">
                <a:solidFill>
                  <a:srgbClr val="0070C0"/>
                </a:solidFill>
              </a:rPr>
              <a:t>Déclencheurs environnementaux </a:t>
            </a:r>
            <a:r>
              <a:rPr lang="fr-FR" sz="2400" dirty="0" smtClean="0">
                <a:solidFill>
                  <a:srgbClr val="0070C0"/>
                </a:solidFill>
              </a:rPr>
              <a:t>supplémentaires</a:t>
            </a:r>
          </a:p>
          <a:p>
            <a:pPr marL="0" indent="0">
              <a:buNone/>
            </a:pPr>
            <a:endParaRPr lang="fr-FR" sz="2400" dirty="0">
              <a:solidFill>
                <a:srgbClr val="0070C0"/>
              </a:solidFill>
            </a:endParaRPr>
          </a:p>
          <a:p>
            <a:pPr>
              <a:buFont typeface="Wingdings" panose="05000000000000000000" pitchFamily="2" charset="2"/>
              <a:buChar char="Ø"/>
            </a:pPr>
            <a:r>
              <a:rPr lang="fr-FR" sz="2400" dirty="0"/>
              <a:t>La consommation de gluten et une prédisposition génétique à la maladie cœliaque sont fréquentes dans la population générale</a:t>
            </a:r>
            <a:r>
              <a:rPr lang="fr-FR" sz="2400" dirty="0" smtClean="0"/>
              <a:t>.</a:t>
            </a:r>
          </a:p>
          <a:p>
            <a:pPr>
              <a:buFont typeface="Wingdings" panose="05000000000000000000" pitchFamily="2" charset="2"/>
              <a:buChar char="Ø"/>
            </a:pPr>
            <a:r>
              <a:rPr lang="fr-FR" sz="2400" dirty="0" smtClean="0"/>
              <a:t> </a:t>
            </a:r>
            <a:r>
              <a:rPr lang="fr-FR" sz="2400" dirty="0"/>
              <a:t>D'autres facteurs environnementaux, tels que </a:t>
            </a:r>
            <a:endParaRPr lang="fr-FR" sz="2400" dirty="0" smtClean="0"/>
          </a:p>
          <a:p>
            <a:pPr lvl="1">
              <a:buFont typeface="Wingdings" panose="05000000000000000000" pitchFamily="2" charset="2"/>
              <a:buChar char="v"/>
            </a:pPr>
            <a:r>
              <a:rPr lang="fr-FR" sz="2200" dirty="0" smtClean="0"/>
              <a:t>les </a:t>
            </a:r>
            <a:r>
              <a:rPr lang="fr-FR" sz="2200" dirty="0"/>
              <a:t>infections </a:t>
            </a:r>
            <a:r>
              <a:rPr lang="fr-FR" sz="2200" dirty="0" smtClean="0"/>
              <a:t> </a:t>
            </a:r>
          </a:p>
          <a:p>
            <a:pPr lvl="1">
              <a:buFont typeface="Wingdings" panose="05000000000000000000" pitchFamily="2" charset="2"/>
              <a:buChar char="v"/>
            </a:pPr>
            <a:r>
              <a:rPr lang="fr-FR" sz="2200" dirty="0" smtClean="0"/>
              <a:t>la </a:t>
            </a:r>
            <a:r>
              <a:rPr lang="fr-FR" sz="2200" dirty="0"/>
              <a:t>dose de </a:t>
            </a:r>
            <a:r>
              <a:rPr lang="fr-FR" sz="2200" dirty="0" smtClean="0"/>
              <a:t>gluten</a:t>
            </a:r>
          </a:p>
          <a:p>
            <a:pPr lvl="1">
              <a:buFont typeface="Wingdings" panose="05000000000000000000" pitchFamily="2" charset="2"/>
              <a:buChar char="v"/>
            </a:pPr>
            <a:r>
              <a:rPr lang="fr-FR" sz="2200" dirty="0" smtClean="0"/>
              <a:t>les </a:t>
            </a:r>
            <a:r>
              <a:rPr lang="fr-FR" sz="2200" dirty="0"/>
              <a:t>modifications quantitatives et qualitatives du </a:t>
            </a:r>
            <a:r>
              <a:rPr lang="fr-FR" sz="2200" dirty="0" err="1"/>
              <a:t>microbiome</a:t>
            </a:r>
            <a:r>
              <a:rPr lang="fr-FR" sz="2200" dirty="0"/>
              <a:t> </a:t>
            </a:r>
            <a:r>
              <a:rPr lang="fr-FR" sz="2200" dirty="0" smtClean="0"/>
              <a:t>intestinal</a:t>
            </a:r>
          </a:p>
          <a:p>
            <a:pPr marL="0" indent="0">
              <a:buNone/>
            </a:pPr>
            <a:r>
              <a:rPr lang="fr-FR" sz="2400" dirty="0" smtClean="0"/>
              <a:t> </a:t>
            </a:r>
            <a:r>
              <a:rPr lang="fr-FR" sz="2400" dirty="0"/>
              <a:t>sont susceptibles de jouer un rôle dans le développement de la maladie et font actuellement l'objet d'études. </a:t>
            </a:r>
            <a:r>
              <a:rPr lang="fr-FR" sz="2400" dirty="0" smtClean="0"/>
              <a:t> </a:t>
            </a:r>
            <a:endParaRPr lang="fr-FR" sz="2400" dirty="0"/>
          </a:p>
          <a:p>
            <a:endParaRPr lang="fr-FR" sz="24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7</a:t>
            </a:fld>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188640"/>
            <a:ext cx="8640960" cy="6552728"/>
          </a:xfrm>
        </p:spPr>
        <p:txBody>
          <a:bodyPr>
            <a:normAutofit/>
          </a:bodyPr>
          <a:lstStyle/>
          <a:p>
            <a:r>
              <a:rPr lang="fr-FR" sz="2000" dirty="0" smtClean="0"/>
              <a:t> En </a:t>
            </a:r>
            <a:r>
              <a:rPr lang="fr-FR" sz="2000" dirty="0"/>
              <a:t>présence d'antigènes (</a:t>
            </a:r>
            <a:r>
              <a:rPr lang="fr-FR" sz="2000" dirty="0" smtClean="0"/>
              <a:t>gluten), Les </a:t>
            </a:r>
            <a:r>
              <a:rPr lang="fr-FR" sz="2000" dirty="0"/>
              <a:t>effets toxiques de ces prolamines </a:t>
            </a:r>
            <a:r>
              <a:rPr lang="fr-FR" sz="2000" dirty="0" smtClean="0"/>
              <a:t>comprennent:   </a:t>
            </a:r>
          </a:p>
          <a:p>
            <a:pPr marL="548640" lvl="2" indent="0">
              <a:buNone/>
            </a:pPr>
            <a:r>
              <a:rPr lang="fr-FR" sz="1800" dirty="0"/>
              <a:t> </a:t>
            </a:r>
            <a:r>
              <a:rPr lang="fr-FR" sz="1800" dirty="0" smtClean="0"/>
              <a:t>      </a:t>
            </a:r>
            <a:r>
              <a:rPr lang="fr-FR" sz="1800" dirty="0" smtClean="0">
                <a:solidFill>
                  <a:srgbClr val="FF0000"/>
                </a:solidFill>
              </a:rPr>
              <a:t>*</a:t>
            </a:r>
            <a:r>
              <a:rPr lang="fr-FR" sz="1800" dirty="0" smtClean="0"/>
              <a:t>  l'inhibition </a:t>
            </a:r>
            <a:r>
              <a:rPr lang="fr-FR" sz="1800" dirty="0"/>
              <a:t>de la croissance </a:t>
            </a:r>
            <a:r>
              <a:rPr lang="fr-FR" sz="1800" dirty="0" smtClean="0"/>
              <a:t>cellulaire </a:t>
            </a:r>
          </a:p>
          <a:p>
            <a:pPr marL="548640" lvl="2" indent="0">
              <a:buNone/>
            </a:pPr>
            <a:r>
              <a:rPr lang="fr-FR" sz="1800" dirty="0"/>
              <a:t> </a:t>
            </a:r>
            <a:r>
              <a:rPr lang="fr-FR" sz="1800" dirty="0" smtClean="0"/>
              <a:t>      </a:t>
            </a:r>
            <a:r>
              <a:rPr lang="fr-FR" sz="1800" dirty="0" smtClean="0">
                <a:solidFill>
                  <a:srgbClr val="FF0000"/>
                </a:solidFill>
              </a:rPr>
              <a:t>*</a:t>
            </a:r>
            <a:r>
              <a:rPr lang="fr-FR" sz="1800" dirty="0" smtClean="0"/>
              <a:t>  la </a:t>
            </a:r>
            <a:r>
              <a:rPr lang="fr-FR" sz="1800" dirty="0"/>
              <a:t>mort cellulaire </a:t>
            </a:r>
            <a:r>
              <a:rPr lang="fr-FR" sz="1800" dirty="0" smtClean="0"/>
              <a:t>prématurée                                            </a:t>
            </a:r>
            <a:r>
              <a:rPr lang="fr-FR" sz="1800" b="1" dirty="0" smtClean="0">
                <a:solidFill>
                  <a:srgbClr val="00B0F0"/>
                </a:solidFill>
              </a:rPr>
              <a:t>atrophie + malabsorption </a:t>
            </a:r>
          </a:p>
          <a:p>
            <a:pPr marL="548640" lvl="2" indent="0">
              <a:buNone/>
            </a:pPr>
            <a:r>
              <a:rPr lang="fr-FR" sz="1800" dirty="0" smtClean="0"/>
              <a:t>       </a:t>
            </a:r>
            <a:r>
              <a:rPr lang="fr-FR" sz="1800" dirty="0" smtClean="0">
                <a:solidFill>
                  <a:srgbClr val="FF0000"/>
                </a:solidFill>
              </a:rPr>
              <a:t>* </a:t>
            </a:r>
            <a:r>
              <a:rPr lang="fr-FR" sz="1800" dirty="0" smtClean="0"/>
              <a:t> l'augmentation de la perméabilité de l'intestin grêle </a:t>
            </a:r>
          </a:p>
          <a:p>
            <a:pPr marL="457200" indent="-457200">
              <a:buFont typeface="+mj-lt"/>
              <a:buAutoNum type="arabicParenR"/>
            </a:pPr>
            <a:r>
              <a:rPr lang="fr-FR" sz="2000" dirty="0" smtClean="0"/>
              <a:t>Les </a:t>
            </a:r>
            <a:r>
              <a:rPr lang="fr-FR" sz="2000" dirty="0"/>
              <a:t>enzymes gastriques, intestinales et pancréatiques ne digèrent pas complètement les </a:t>
            </a:r>
            <a:r>
              <a:rPr lang="fr-FR" sz="2000" dirty="0">
                <a:solidFill>
                  <a:srgbClr val="C00000"/>
                </a:solidFill>
              </a:rPr>
              <a:t>peptides du gluten </a:t>
            </a:r>
            <a:r>
              <a:rPr lang="fr-FR" sz="2000" dirty="0"/>
              <a:t>chez les personnes atteintes de MC. </a:t>
            </a:r>
            <a:endParaRPr lang="fr-FR" sz="2000" dirty="0" smtClean="0"/>
          </a:p>
          <a:p>
            <a:pPr marL="457200" indent="-457200">
              <a:buFont typeface="+mj-lt"/>
              <a:buAutoNum type="arabicParenR"/>
            </a:pPr>
            <a:r>
              <a:rPr lang="fr-FR" sz="2000" dirty="0" smtClean="0"/>
              <a:t> </a:t>
            </a:r>
            <a:r>
              <a:rPr lang="fr-FR" sz="2000" dirty="0"/>
              <a:t>Ce peptide </a:t>
            </a:r>
            <a:r>
              <a:rPr lang="fr-FR" sz="2000" dirty="0">
                <a:solidFill>
                  <a:srgbClr val="C00000"/>
                </a:solidFill>
              </a:rPr>
              <a:t>réagit avec la transglutaminase tissulaire (</a:t>
            </a:r>
            <a:r>
              <a:rPr lang="fr-FR" sz="2000" dirty="0" err="1">
                <a:solidFill>
                  <a:srgbClr val="C00000"/>
                </a:solidFill>
              </a:rPr>
              <a:t>tTG</a:t>
            </a:r>
            <a:r>
              <a:rPr lang="fr-FR" sz="2000" dirty="0">
                <a:solidFill>
                  <a:srgbClr val="C00000"/>
                </a:solidFill>
              </a:rPr>
              <a:t>)</a:t>
            </a:r>
            <a:r>
              <a:rPr lang="fr-FR" sz="2000" dirty="0"/>
              <a:t>, principal autoantigène CD, par lequel des résidus glutamine spécifiques </a:t>
            </a:r>
            <a:r>
              <a:rPr lang="fr-FR" sz="2000" dirty="0">
                <a:solidFill>
                  <a:srgbClr val="C00000"/>
                </a:solidFill>
              </a:rPr>
              <a:t>du gluten sont désamidés en acide glutamique</a:t>
            </a:r>
            <a:r>
              <a:rPr lang="fr-FR" sz="2000" dirty="0"/>
              <a:t>. </a:t>
            </a:r>
            <a:endParaRPr lang="fr-FR" sz="2000" dirty="0" smtClean="0"/>
          </a:p>
          <a:p>
            <a:pPr marL="457200" indent="-457200">
              <a:buFont typeface="+mj-lt"/>
              <a:buAutoNum type="arabicParenR"/>
            </a:pPr>
            <a:r>
              <a:rPr lang="fr-FR" sz="2000" dirty="0" smtClean="0"/>
              <a:t>Les </a:t>
            </a:r>
            <a:r>
              <a:rPr lang="fr-FR" sz="2000" dirty="0"/>
              <a:t>cellules présentatrices d'antigènes qui expriment les molécules HLA-DQ2 et HLA-DQ8 présentent une plus </a:t>
            </a:r>
            <a:r>
              <a:rPr lang="fr-FR" sz="2000" dirty="0" smtClean="0">
                <a:solidFill>
                  <a:srgbClr val="C00000"/>
                </a:solidFill>
              </a:rPr>
              <a:t>grande affinité pour les peptides </a:t>
            </a:r>
            <a:r>
              <a:rPr lang="fr-FR" sz="2000" dirty="0" smtClean="0"/>
              <a:t>désamidés</a:t>
            </a:r>
            <a:r>
              <a:rPr lang="fr-FR" sz="2000" dirty="0"/>
              <a:t>.</a:t>
            </a:r>
          </a:p>
          <a:p>
            <a:pPr marL="457200" indent="-457200">
              <a:buFont typeface="+mj-lt"/>
              <a:buAutoNum type="arabicParenR"/>
            </a:pPr>
            <a:r>
              <a:rPr lang="fr-FR" sz="2000" dirty="0"/>
              <a:t>Par la suite, lorsque les peptides </a:t>
            </a:r>
            <a:r>
              <a:rPr lang="fr-FR" sz="2000" dirty="0" smtClean="0"/>
              <a:t>immunogènes </a:t>
            </a:r>
            <a:r>
              <a:rPr lang="fr-FR" sz="2000" dirty="0"/>
              <a:t>générés se lient aux molécules HLA, des </a:t>
            </a:r>
            <a:r>
              <a:rPr lang="fr-FR" sz="2000" dirty="0">
                <a:solidFill>
                  <a:srgbClr val="C00000"/>
                </a:solidFill>
              </a:rPr>
              <a:t>complexes peptidiques se forment </a:t>
            </a:r>
            <a:r>
              <a:rPr lang="fr-FR" sz="2000" dirty="0"/>
              <a:t>et sont capables </a:t>
            </a:r>
            <a:r>
              <a:rPr lang="fr-FR" sz="2000" dirty="0">
                <a:solidFill>
                  <a:srgbClr val="C00000"/>
                </a:solidFill>
              </a:rPr>
              <a:t>d'activer les lymphocytes T CD4+</a:t>
            </a:r>
            <a:r>
              <a:rPr lang="fr-FR" sz="2000" b="1" dirty="0">
                <a:solidFill>
                  <a:srgbClr val="C00000"/>
                </a:solidFill>
              </a:rPr>
              <a:t> </a:t>
            </a:r>
            <a:r>
              <a:rPr lang="fr-FR" sz="2000" dirty="0"/>
              <a:t>spécifiques du gluten de l'hôte, présents dans la lamina </a:t>
            </a:r>
            <a:r>
              <a:rPr lang="fr-FR" sz="2000" dirty="0" err="1"/>
              <a:t>propria</a:t>
            </a:r>
            <a:r>
              <a:rPr lang="fr-FR" sz="2000" dirty="0"/>
              <a:t>. </a:t>
            </a:r>
            <a:endParaRPr lang="fr-FR" sz="2000" dirty="0" smtClean="0"/>
          </a:p>
          <a:p>
            <a:pPr marL="457200" indent="-457200">
              <a:buFont typeface="+mj-lt"/>
              <a:buAutoNum type="arabicParenR"/>
            </a:pPr>
            <a:r>
              <a:rPr lang="fr-FR" sz="2000" dirty="0" smtClean="0"/>
              <a:t>Lorsque </a:t>
            </a:r>
            <a:r>
              <a:rPr lang="fr-FR" sz="2000" dirty="0"/>
              <a:t>ces lymphocytes T sont activés, un certain nombre de </a:t>
            </a:r>
            <a:r>
              <a:rPr lang="fr-FR" sz="2000" dirty="0">
                <a:solidFill>
                  <a:srgbClr val="C00000"/>
                </a:solidFill>
              </a:rPr>
              <a:t>cytokines</a:t>
            </a:r>
            <a:r>
              <a:rPr lang="fr-FR" sz="2000" dirty="0"/>
              <a:t> sont produites, favorisant à leur tour </a:t>
            </a:r>
            <a:r>
              <a:rPr lang="fr-FR" sz="2000" dirty="0">
                <a:solidFill>
                  <a:srgbClr val="C00000"/>
                </a:solidFill>
              </a:rPr>
              <a:t>l'inflammation et les lésions des villosités de l'intestin</a:t>
            </a:r>
            <a:r>
              <a:rPr lang="fr-FR" sz="2000" b="1" dirty="0">
                <a:solidFill>
                  <a:srgbClr val="C00000"/>
                </a:solidFill>
              </a:rPr>
              <a:t> </a:t>
            </a:r>
            <a:r>
              <a:rPr lang="fr-FR" sz="2000" dirty="0"/>
              <a:t>grêle </a:t>
            </a:r>
            <a:endParaRPr lang="fr-FR" sz="2000" dirty="0" smtClean="0"/>
          </a:p>
          <a:p>
            <a:pPr marL="0" indent="0">
              <a:buNone/>
            </a:pPr>
            <a:endParaRPr lang="fr-FR" sz="2000" dirty="0"/>
          </a:p>
        </p:txBody>
      </p:sp>
      <p:sp>
        <p:nvSpPr>
          <p:cNvPr id="4" name="Accolade fermante 3"/>
          <p:cNvSpPr/>
          <p:nvPr/>
        </p:nvSpPr>
        <p:spPr>
          <a:xfrm>
            <a:off x="5580112" y="692696"/>
            <a:ext cx="288032" cy="8640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5" name="Espace réservé du numéro de diapositive 4"/>
          <p:cNvSpPr>
            <a:spLocks noGrp="1"/>
          </p:cNvSpPr>
          <p:nvPr>
            <p:ph type="sldNum" sz="quarter" idx="12"/>
          </p:nvPr>
        </p:nvSpPr>
        <p:spPr/>
        <p:txBody>
          <a:bodyPr/>
          <a:lstStyle/>
          <a:p>
            <a:fld id="{E45DE23A-236E-47DD-9286-7BC7C2C86D6D}" type="slidenum">
              <a:rPr lang="fr-FR" smtClean="0"/>
              <a:pPr/>
              <a:t>8</a:t>
            </a:fld>
            <a:endParaRPr lang="fr-FR"/>
          </a:p>
        </p:txBody>
      </p:sp>
    </p:spTree>
    <p:extLst>
      <p:ext uri="{BB962C8B-B14F-4D97-AF65-F5344CB8AC3E}">
        <p14:creationId xmlns:p14="http://schemas.microsoft.com/office/powerpoint/2010/main" val="41313475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eliac Disease and Other Autoimmune Disorders | IntechOpen"/>
          <p:cNvPicPr>
            <a:picLocks noGrp="1" noChangeAspect="1" noChangeArrowheads="1"/>
          </p:cNvPicPr>
          <p:nvPr>
            <p:ph sz="quarter" idx="1"/>
          </p:nvPr>
        </p:nvPicPr>
        <p:blipFill>
          <a:blip r:embed="rId3" cstate="print">
            <a:extLst>
              <a:ext uri="{28A0092B-C50C-407E-A947-70E740481C1C}">
                <a14:useLocalDpi xmlns:a14="http://schemas.microsoft.com/office/drawing/2010/main" val="0"/>
              </a:ext>
            </a:extLst>
          </a:blip>
          <a:srcRect/>
          <a:stretch>
            <a:fillRect/>
          </a:stretch>
        </p:blipFill>
        <p:spPr bwMode="auto">
          <a:xfrm>
            <a:off x="295840" y="260649"/>
            <a:ext cx="8092584" cy="4046292"/>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pied de page 1"/>
          <p:cNvSpPr>
            <a:spLocks noGrp="1"/>
          </p:cNvSpPr>
          <p:nvPr>
            <p:ph type="ftr" sz="quarter" idx="11"/>
          </p:nvPr>
        </p:nvSpPr>
        <p:spPr>
          <a:xfrm>
            <a:off x="679704" y="6400800"/>
            <a:ext cx="3962400" cy="457200"/>
          </a:xfrm>
        </p:spPr>
        <p:txBody>
          <a:bodyPr/>
          <a:lstStyle/>
          <a:p>
            <a:r>
              <a:rPr lang="fr-FR" dirty="0" err="1" smtClean="0"/>
              <a:t>dr</a:t>
            </a:r>
            <a:r>
              <a:rPr lang="fr-FR" dirty="0" smtClean="0"/>
              <a:t> </a:t>
            </a:r>
            <a:r>
              <a:rPr lang="fr-FR" dirty="0" err="1" smtClean="0"/>
              <a:t>yakhlef</a:t>
            </a:r>
            <a:r>
              <a:rPr lang="fr-FR" dirty="0" smtClean="0"/>
              <a:t> </a:t>
            </a:r>
            <a:r>
              <a:rPr lang="fr-FR" dirty="0" err="1" smtClean="0"/>
              <a:t>smail</a:t>
            </a:r>
            <a:r>
              <a:rPr lang="fr-FR" dirty="0" smtClean="0"/>
              <a:t> (HMRUC2025)                        </a:t>
            </a:r>
            <a:endParaRPr lang="fr-FR" dirty="0"/>
          </a:p>
        </p:txBody>
      </p:sp>
      <p:sp>
        <p:nvSpPr>
          <p:cNvPr id="3" name="Espace réservé du numéro de diapositive 2"/>
          <p:cNvSpPr>
            <a:spLocks noGrp="1"/>
          </p:cNvSpPr>
          <p:nvPr>
            <p:ph type="sldNum" sz="quarter" idx="12"/>
          </p:nvPr>
        </p:nvSpPr>
        <p:spPr/>
        <p:txBody>
          <a:bodyPr/>
          <a:lstStyle/>
          <a:p>
            <a:fld id="{E45DE23A-236E-47DD-9286-7BC7C2C86D6D}" type="slidenum">
              <a:rPr lang="fr-FR" smtClean="0"/>
              <a:pPr/>
              <a:t>9</a:t>
            </a:fld>
            <a:endParaRPr lang="fr-FR"/>
          </a:p>
        </p:txBody>
      </p:sp>
      <p:sp>
        <p:nvSpPr>
          <p:cNvPr id="5" name="Espace réservé du pied de page 1"/>
          <p:cNvSpPr txBox="1">
            <a:spLocks/>
          </p:cNvSpPr>
          <p:nvPr/>
        </p:nvSpPr>
        <p:spPr>
          <a:xfrm>
            <a:off x="661804" y="4509122"/>
            <a:ext cx="7870636" cy="1891678"/>
          </a:xfrm>
          <a:prstGeom prst="rect">
            <a:avLst/>
          </a:prstGeom>
        </p:spPr>
        <p:txBody>
          <a:bodyPr anchor="ctr" anchorCtr="0"/>
          <a:lstStyle>
            <a:defPPr>
              <a:defRPr lang="fr-FR"/>
            </a:defPPr>
            <a:lvl1pPr marL="0" algn="l" defTabSz="914400" rtl="0" eaLnBrk="1" latinLnBrk="0" hangingPunct="1">
              <a:defRPr kumimoji="0" sz="14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q"/>
            </a:pPr>
            <a:r>
              <a:rPr lang="fr-FR" sz="1600" dirty="0">
                <a:solidFill>
                  <a:srgbClr val="C00000"/>
                </a:solidFill>
                <a:latin typeface="Arial" panose="020B0604020202020204" pitchFamily="34" charset="0"/>
                <a:cs typeface="Arial" panose="020B0604020202020204" pitchFamily="34" charset="0"/>
              </a:rPr>
              <a:t>Gluten</a:t>
            </a:r>
            <a:r>
              <a:rPr lang="fr-FR" sz="1600" dirty="0">
                <a:solidFill>
                  <a:schemeClr val="tx1"/>
                </a:solidFill>
                <a:latin typeface="Arial" panose="020B0604020202020204" pitchFamily="34" charset="0"/>
                <a:cs typeface="Arial" panose="020B0604020202020204" pitchFamily="34" charset="0"/>
              </a:rPr>
              <a:t> → </a:t>
            </a:r>
            <a:r>
              <a:rPr lang="fr-FR" sz="1600" dirty="0" err="1">
                <a:solidFill>
                  <a:schemeClr val="tx1"/>
                </a:solidFill>
                <a:latin typeface="Arial" panose="020B0604020202020204" pitchFamily="34" charset="0"/>
                <a:cs typeface="Arial" panose="020B0604020202020204" pitchFamily="34" charset="0"/>
              </a:rPr>
              <a:t>déamidation</a:t>
            </a:r>
            <a:r>
              <a:rPr lang="fr-FR" sz="1600" dirty="0">
                <a:solidFill>
                  <a:schemeClr val="tx1"/>
                </a:solidFill>
                <a:latin typeface="Arial" panose="020B0604020202020204" pitchFamily="34" charset="0"/>
                <a:cs typeface="Arial" panose="020B0604020202020204" pitchFamily="34" charset="0"/>
              </a:rPr>
              <a:t> par </a:t>
            </a:r>
            <a:r>
              <a:rPr lang="fr-FR" sz="1600" dirty="0" err="1">
                <a:solidFill>
                  <a:schemeClr val="tx1"/>
                </a:solidFill>
                <a:latin typeface="Arial" panose="020B0604020202020204" pitchFamily="34" charset="0"/>
                <a:cs typeface="Arial" panose="020B0604020202020204" pitchFamily="34" charset="0"/>
              </a:rPr>
              <a:t>tTG</a:t>
            </a:r>
            <a:r>
              <a:rPr lang="fr-FR" sz="1600" dirty="0">
                <a:solidFill>
                  <a:schemeClr val="tx1"/>
                </a:solidFill>
                <a:latin typeface="Arial" panose="020B0604020202020204" pitchFamily="34" charset="0"/>
                <a:cs typeface="Arial" panose="020B0604020202020204" pitchFamily="34" charset="0"/>
              </a:rPr>
              <a:t> → présentation HLA-DQ2/DQ8 </a:t>
            </a:r>
            <a:r>
              <a:rPr lang="fr-FR" sz="1600" dirty="0" smtClean="0">
                <a:solidFill>
                  <a:schemeClr val="tx1"/>
                </a:solidFill>
                <a:latin typeface="Arial" panose="020B0604020202020204" pitchFamily="34" charset="0"/>
                <a:cs typeface="Arial" panose="020B0604020202020204" pitchFamily="34" charset="0"/>
              </a:rPr>
              <a:t>→</a:t>
            </a:r>
          </a:p>
          <a:p>
            <a:r>
              <a:rPr lang="fr-FR" sz="1600" dirty="0">
                <a:solidFill>
                  <a:schemeClr val="tx1"/>
                </a:solidFill>
                <a:latin typeface="Arial" panose="020B0604020202020204" pitchFamily="34" charset="0"/>
                <a:cs typeface="Arial" panose="020B0604020202020204" pitchFamily="34" charset="0"/>
              </a:rPr>
              <a:t/>
            </a:r>
            <a:br>
              <a:rPr lang="fr-FR" sz="1600" dirty="0">
                <a:solidFill>
                  <a:schemeClr val="tx1"/>
                </a:solidFill>
                <a:latin typeface="Arial" panose="020B0604020202020204" pitchFamily="34" charset="0"/>
                <a:cs typeface="Arial" panose="020B0604020202020204" pitchFamily="34" charset="0"/>
              </a:rPr>
            </a:br>
            <a:r>
              <a:rPr lang="fr-FR" sz="1600" dirty="0">
                <a:solidFill>
                  <a:srgbClr val="C00000"/>
                </a:solidFill>
                <a:latin typeface="Arial" panose="020B0604020202020204" pitchFamily="34" charset="0"/>
                <a:cs typeface="Arial" panose="020B0604020202020204" pitchFamily="34" charset="0"/>
              </a:rPr>
              <a:t>→ activation T CD4 </a:t>
            </a:r>
            <a:r>
              <a:rPr lang="fr-FR" sz="1600" dirty="0">
                <a:solidFill>
                  <a:schemeClr val="tx1"/>
                </a:solidFill>
                <a:latin typeface="Arial" panose="020B0604020202020204" pitchFamily="34" charset="0"/>
                <a:cs typeface="Arial" panose="020B0604020202020204" pitchFamily="34" charset="0"/>
              </a:rPr>
              <a:t>+ immunité innée </a:t>
            </a:r>
            <a:r>
              <a:rPr lang="fr-FR" sz="1600" dirty="0" smtClean="0">
                <a:solidFill>
                  <a:schemeClr val="tx1"/>
                </a:solidFill>
                <a:latin typeface="Arial" panose="020B0604020202020204" pitchFamily="34" charset="0"/>
                <a:cs typeface="Arial" panose="020B0604020202020204" pitchFamily="34" charset="0"/>
              </a:rPr>
              <a:t>→</a:t>
            </a:r>
          </a:p>
          <a:p>
            <a:r>
              <a:rPr lang="fr-FR" sz="1600" dirty="0">
                <a:solidFill>
                  <a:schemeClr val="tx1"/>
                </a:solidFill>
                <a:latin typeface="Arial" panose="020B0604020202020204" pitchFamily="34" charset="0"/>
                <a:cs typeface="Arial" panose="020B0604020202020204" pitchFamily="34" charset="0"/>
              </a:rPr>
              <a:t/>
            </a:r>
            <a:br>
              <a:rPr lang="fr-FR" sz="1600" dirty="0">
                <a:solidFill>
                  <a:schemeClr val="tx1"/>
                </a:solidFill>
                <a:latin typeface="Arial" panose="020B0604020202020204" pitchFamily="34" charset="0"/>
                <a:cs typeface="Arial" panose="020B0604020202020204" pitchFamily="34" charset="0"/>
              </a:rPr>
            </a:br>
            <a:r>
              <a:rPr lang="fr-FR" sz="1600" dirty="0">
                <a:solidFill>
                  <a:schemeClr val="tx1"/>
                </a:solidFill>
                <a:latin typeface="Arial" panose="020B0604020202020204" pitchFamily="34" charset="0"/>
                <a:cs typeface="Arial" panose="020B0604020202020204" pitchFamily="34" charset="0"/>
              </a:rPr>
              <a:t>→ destruction </a:t>
            </a:r>
            <a:r>
              <a:rPr lang="fr-FR" sz="1600" dirty="0" err="1">
                <a:solidFill>
                  <a:schemeClr val="tx1"/>
                </a:solidFill>
                <a:latin typeface="Arial" panose="020B0604020202020204" pitchFamily="34" charset="0"/>
                <a:cs typeface="Arial" panose="020B0604020202020204" pitchFamily="34" charset="0"/>
              </a:rPr>
              <a:t>entérocytaire</a:t>
            </a:r>
            <a:r>
              <a:rPr lang="fr-FR" sz="1600" dirty="0">
                <a:solidFill>
                  <a:schemeClr val="tx1"/>
                </a:solidFill>
                <a:latin typeface="Arial" panose="020B0604020202020204" pitchFamily="34" charset="0"/>
                <a:cs typeface="Arial" panose="020B0604020202020204" pitchFamily="34" charset="0"/>
              </a:rPr>
              <a:t> </a:t>
            </a:r>
            <a:r>
              <a:rPr lang="fr-FR" sz="1600" dirty="0" smtClean="0">
                <a:solidFill>
                  <a:schemeClr val="tx1"/>
                </a:solidFill>
                <a:latin typeface="Arial" panose="020B0604020202020204" pitchFamily="34" charset="0"/>
                <a:cs typeface="Arial" panose="020B0604020202020204" pitchFamily="34" charset="0"/>
              </a:rPr>
              <a:t>→</a:t>
            </a:r>
          </a:p>
          <a:p>
            <a:r>
              <a:rPr lang="fr-FR" sz="1600" dirty="0">
                <a:solidFill>
                  <a:schemeClr val="tx1"/>
                </a:solidFill>
                <a:latin typeface="Arial" panose="020B0604020202020204" pitchFamily="34" charset="0"/>
                <a:cs typeface="Arial" panose="020B0604020202020204" pitchFamily="34" charset="0"/>
              </a:rPr>
              <a:t/>
            </a:r>
            <a:br>
              <a:rPr lang="fr-FR" sz="1600" dirty="0">
                <a:solidFill>
                  <a:schemeClr val="tx1"/>
                </a:solidFill>
                <a:latin typeface="Arial" panose="020B0604020202020204" pitchFamily="34" charset="0"/>
                <a:cs typeface="Arial" panose="020B0604020202020204" pitchFamily="34" charset="0"/>
              </a:rPr>
            </a:br>
            <a:r>
              <a:rPr lang="fr-FR" sz="1600" dirty="0" smtClean="0">
                <a:solidFill>
                  <a:schemeClr val="tx1"/>
                </a:solidFill>
                <a:latin typeface="Arial" panose="020B0604020202020204" pitchFamily="34" charset="0"/>
                <a:cs typeface="Arial" panose="020B0604020202020204" pitchFamily="34" charset="0"/>
              </a:rPr>
              <a:t>➡</a:t>
            </a:r>
            <a:r>
              <a:rPr lang="fr-FR" sz="1600" dirty="0" smtClean="0">
                <a:solidFill>
                  <a:srgbClr val="C00000"/>
                </a:solidFill>
                <a:latin typeface="Arial" panose="020B0604020202020204" pitchFamily="34" charset="0"/>
                <a:cs typeface="Arial" panose="020B0604020202020204" pitchFamily="34" charset="0"/>
              </a:rPr>
              <a:t>atrophie </a:t>
            </a:r>
            <a:r>
              <a:rPr lang="fr-FR" sz="1600" dirty="0">
                <a:solidFill>
                  <a:srgbClr val="C00000"/>
                </a:solidFill>
                <a:latin typeface="Arial" panose="020B0604020202020204" pitchFamily="34" charset="0"/>
                <a:cs typeface="Arial" panose="020B0604020202020204" pitchFamily="34" charset="0"/>
              </a:rPr>
              <a:t>villositaire → malabsorption </a:t>
            </a:r>
            <a:r>
              <a:rPr lang="fr-FR" sz="1600" dirty="0">
                <a:solidFill>
                  <a:schemeClr val="tx1"/>
                </a:solidFill>
                <a:latin typeface="Arial" panose="020B0604020202020204" pitchFamily="34" charset="0"/>
                <a:cs typeface="Arial" panose="020B0604020202020204" pitchFamily="34" charset="0"/>
              </a:rPr>
              <a:t>→ diarrhée</a:t>
            </a:r>
          </a:p>
        </p:txBody>
      </p:sp>
    </p:spTree>
    <p:extLst>
      <p:ext uri="{BB962C8B-B14F-4D97-AF65-F5344CB8AC3E}">
        <p14:creationId xmlns:p14="http://schemas.microsoft.com/office/powerpoint/2010/main" val="28159538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7458" y="116632"/>
            <a:ext cx="8754849" cy="6741368"/>
          </a:xfrm>
        </p:spPr>
        <p:style>
          <a:lnRef idx="2">
            <a:schemeClr val="accent6"/>
          </a:lnRef>
          <a:fillRef idx="1">
            <a:schemeClr val="lt1"/>
          </a:fillRef>
          <a:effectRef idx="0">
            <a:schemeClr val="accent6"/>
          </a:effectRef>
          <a:fontRef idx="minor">
            <a:schemeClr val="dk1"/>
          </a:fontRef>
        </p:style>
        <p:txBody>
          <a:bodyPr/>
          <a:lstStyle/>
          <a:p>
            <a:pPr marL="0" indent="0">
              <a:buNone/>
            </a:pPr>
            <a:r>
              <a:rPr lang="fr-FR" dirty="0"/>
              <a:t> </a:t>
            </a:r>
          </a:p>
        </p:txBody>
      </p:sp>
      <p:sp>
        <p:nvSpPr>
          <p:cNvPr id="4" name="Rectangle à coins arrondis 3"/>
          <p:cNvSpPr/>
          <p:nvPr/>
        </p:nvSpPr>
        <p:spPr>
          <a:xfrm>
            <a:off x="611560" y="1628800"/>
            <a:ext cx="2138536" cy="11304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Exposition au gluten de la barrière épithéliale de l'intestin grêle</a:t>
            </a:r>
          </a:p>
        </p:txBody>
      </p:sp>
      <p:sp>
        <p:nvSpPr>
          <p:cNvPr id="5" name="Rectangle à coins arrondis 4"/>
          <p:cNvSpPr/>
          <p:nvPr/>
        </p:nvSpPr>
        <p:spPr>
          <a:xfrm>
            <a:off x="6372200" y="2599792"/>
            <a:ext cx="2640108" cy="12248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 Signes/symptômes de la MC (malabsorption, anémie, diarrhée, douleurs abdominales)</a:t>
            </a:r>
          </a:p>
        </p:txBody>
      </p:sp>
      <p:sp>
        <p:nvSpPr>
          <p:cNvPr id="6" name="Rectangle à coins arrondis 5"/>
          <p:cNvSpPr/>
          <p:nvPr/>
        </p:nvSpPr>
        <p:spPr>
          <a:xfrm>
            <a:off x="717304" y="4004320"/>
            <a:ext cx="2116832"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Réponse immunitaire adaptative </a:t>
            </a:r>
            <a:r>
              <a:rPr lang="fr-FR" dirty="0" smtClean="0"/>
              <a:t> </a:t>
            </a:r>
            <a:endParaRPr lang="fr-FR" dirty="0"/>
          </a:p>
        </p:txBody>
      </p:sp>
      <p:sp>
        <p:nvSpPr>
          <p:cNvPr id="9" name="Rectangle à coins arrondis 8"/>
          <p:cNvSpPr/>
          <p:nvPr/>
        </p:nvSpPr>
        <p:spPr>
          <a:xfrm>
            <a:off x="3103499" y="1628800"/>
            <a:ext cx="254888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Atrophie villositaire de l'intestin grêle</a:t>
            </a:r>
          </a:p>
        </p:txBody>
      </p:sp>
      <p:sp>
        <p:nvSpPr>
          <p:cNvPr id="10" name="Rectangle à coins arrondis 9"/>
          <p:cNvSpPr/>
          <p:nvPr/>
        </p:nvSpPr>
        <p:spPr>
          <a:xfrm>
            <a:off x="3153803" y="4004320"/>
            <a:ext cx="249857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Destruction des entérocytes</a:t>
            </a:r>
          </a:p>
        </p:txBody>
      </p:sp>
      <p:cxnSp>
        <p:nvCxnSpPr>
          <p:cNvPr id="12" name="Connecteur droit avec flèche 11"/>
          <p:cNvCxnSpPr/>
          <p:nvPr/>
        </p:nvCxnSpPr>
        <p:spPr>
          <a:xfrm>
            <a:off x="1680828" y="2903240"/>
            <a:ext cx="0" cy="971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a:endCxn id="10" idx="1"/>
          </p:cNvCxnSpPr>
          <p:nvPr/>
        </p:nvCxnSpPr>
        <p:spPr>
          <a:xfrm>
            <a:off x="2834136" y="4461520"/>
            <a:ext cx="319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flipH="1" flipV="1">
            <a:off x="4283968" y="2654356"/>
            <a:ext cx="1" cy="1220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a:off x="5220072" y="2583024"/>
            <a:ext cx="1152128" cy="485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7" name="Espace réservé du numéro de diapositive 6"/>
          <p:cNvSpPr>
            <a:spLocks noGrp="1"/>
          </p:cNvSpPr>
          <p:nvPr>
            <p:ph type="sldNum" sz="quarter" idx="12"/>
          </p:nvPr>
        </p:nvSpPr>
        <p:spPr/>
        <p:txBody>
          <a:bodyPr/>
          <a:lstStyle/>
          <a:p>
            <a:fld id="{E45DE23A-236E-47DD-9286-7BC7C2C86D6D}" type="slidenum">
              <a:rPr lang="fr-FR" smtClean="0"/>
              <a:pPr/>
              <a:t>10</a:t>
            </a:fld>
            <a:endParaRPr lang="fr-FR"/>
          </a:p>
        </p:txBody>
      </p:sp>
    </p:spTree>
    <p:extLst>
      <p:ext uri="{BB962C8B-B14F-4D97-AF65-F5344CB8AC3E}">
        <p14:creationId xmlns:p14="http://schemas.microsoft.com/office/powerpoint/2010/main" val="2041643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91713" y="419384"/>
            <a:ext cx="9144000" cy="6453336"/>
          </a:xfrm>
        </p:spPr>
        <p:txBody>
          <a:bodyPr>
            <a:normAutofit/>
          </a:bodyPr>
          <a:lstStyle/>
          <a:p>
            <a:pPr marL="788670" lvl="1" indent="-514350">
              <a:buClr>
                <a:srgbClr val="FF0000"/>
              </a:buClr>
              <a:buSzPct val="100000"/>
              <a:buFont typeface="+mj-lt"/>
              <a:buAutoNum type="romanUcPeriod" startAt="4"/>
            </a:pPr>
            <a:r>
              <a:rPr lang="fr-FR" b="1" dirty="0">
                <a:solidFill>
                  <a:srgbClr val="FF0000"/>
                </a:solidFill>
              </a:rPr>
              <a:t>Clinique : </a:t>
            </a:r>
            <a:endParaRPr lang="fr-FR" b="1" dirty="0" smtClean="0">
              <a:solidFill>
                <a:srgbClr val="FF0000"/>
              </a:solidFill>
            </a:endParaRPr>
          </a:p>
          <a:p>
            <a:pPr marL="1005840" lvl="2" indent="-457200">
              <a:buClr>
                <a:srgbClr val="FF0000"/>
              </a:buClr>
              <a:buSzPct val="100000"/>
              <a:buFont typeface="+mj-lt"/>
              <a:buAutoNum type="alphaUcPeriod"/>
            </a:pPr>
            <a:r>
              <a:rPr lang="fr-FR" b="1" dirty="0" smtClean="0">
                <a:solidFill>
                  <a:srgbClr val="C00000"/>
                </a:solidFill>
              </a:rPr>
              <a:t>Formes clinique:</a:t>
            </a:r>
            <a:endParaRPr lang="fr-FR" dirty="0">
              <a:solidFill>
                <a:srgbClr val="C00000"/>
              </a:solidFill>
            </a:endParaRPr>
          </a:p>
          <a:p>
            <a:pPr>
              <a:buFont typeface="Wingdings" panose="05000000000000000000" pitchFamily="2" charset="2"/>
              <a:buChar char="v"/>
            </a:pPr>
            <a:r>
              <a:rPr lang="fr-FR" sz="2200" dirty="0"/>
              <a:t>La maladie cœliaque peut se manifester à tout âge, avec des manifestations variées. Selon les caractéristiques cliniques au moment du diagnostic, elle peut être divisée en 03 formes </a:t>
            </a:r>
            <a:r>
              <a:rPr lang="fr-FR" sz="2200" dirty="0" smtClean="0"/>
              <a:t>:</a:t>
            </a:r>
          </a:p>
          <a:p>
            <a:endParaRPr lang="fr-FR" sz="2400" dirty="0"/>
          </a:p>
          <a:p>
            <a:pPr marL="457200" indent="-457200">
              <a:buClr>
                <a:srgbClr val="0070C0"/>
              </a:buClr>
              <a:buSzPct val="100000"/>
              <a:buFont typeface="+mj-lt"/>
              <a:buAutoNum type="arabicPeriod"/>
            </a:pPr>
            <a:r>
              <a:rPr lang="fr-FR" sz="2400" dirty="0">
                <a:solidFill>
                  <a:srgbClr val="0070C0"/>
                </a:solidFill>
              </a:rPr>
              <a:t>Formes classique : </a:t>
            </a:r>
            <a:endParaRPr lang="fr-FR" sz="2400" dirty="0" smtClean="0">
              <a:solidFill>
                <a:srgbClr val="0070C0"/>
              </a:solidFill>
            </a:endParaRPr>
          </a:p>
          <a:p>
            <a:pPr lvl="1">
              <a:buFont typeface="Wingdings" panose="05000000000000000000" pitchFamily="2" charset="2"/>
              <a:buChar char="v"/>
            </a:pPr>
            <a:r>
              <a:rPr lang="fr-FR" sz="2200" dirty="0" smtClean="0"/>
              <a:t>plus </a:t>
            </a:r>
            <a:r>
              <a:rPr lang="fr-FR" sz="2200" dirty="0"/>
              <a:t>fréquente chez les enfants de moins de 5 ans, se manifeste par une diarrhée chronique, un manque d'appétit, une perte de poids, une distension abdominale, une atrophie musculaire et des sautes d'humeur. </a:t>
            </a:r>
            <a:endParaRPr lang="fr-FR" sz="2200" dirty="0" smtClean="0"/>
          </a:p>
          <a:p>
            <a:pPr lvl="1">
              <a:buFont typeface="Wingdings" panose="05000000000000000000" pitchFamily="2" charset="2"/>
              <a:buChar char="v"/>
            </a:pPr>
            <a:r>
              <a:rPr lang="fr-FR" sz="2200" dirty="0" smtClean="0"/>
              <a:t>Un </a:t>
            </a:r>
            <a:r>
              <a:rPr lang="fr-FR" sz="2200" dirty="0"/>
              <a:t>retard de diagnostic peut, dans de rares cas, entraîner une crise cœliaque potentiellement mortelle, caractérisée par une diarrhée aqueuse avec une distension abdominale dans un tableau de déshydratation et de dénutrition. </a:t>
            </a:r>
            <a:endParaRPr lang="fr-FR" sz="2200" dirty="0" smtClean="0"/>
          </a:p>
          <a:p>
            <a:pPr lvl="1">
              <a:buFont typeface="Wingdings" panose="05000000000000000000" pitchFamily="2" charset="2"/>
              <a:buChar char="v"/>
            </a:pPr>
            <a:r>
              <a:rPr lang="fr-FR" sz="2200" dirty="0" smtClean="0"/>
              <a:t>L'invagination </a:t>
            </a:r>
            <a:r>
              <a:rPr lang="fr-FR" sz="2200" dirty="0"/>
              <a:t>intestinale aiguë ou récurrente est une autre manifestation possible</a:t>
            </a:r>
            <a:r>
              <a:rPr lang="fr-FR" sz="2200" dirty="0" smtClean="0"/>
              <a:t>.</a:t>
            </a:r>
            <a:endParaRPr lang="fr-FR" sz="22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11</a:t>
            </a:fld>
            <a:endParaRPr lang="fr-F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0"/>
            <a:ext cx="9144000" cy="6858000"/>
          </a:xfrm>
        </p:spPr>
        <p:txBody>
          <a:bodyPr>
            <a:normAutofit/>
          </a:bodyPr>
          <a:lstStyle/>
          <a:p>
            <a:endParaRPr lang="fr-FR" dirty="0" smtClean="0"/>
          </a:p>
          <a:p>
            <a:endParaRPr lang="fr-FR" dirty="0"/>
          </a:p>
          <a:p>
            <a:pPr marL="514350" indent="-514350">
              <a:buClr>
                <a:srgbClr val="0070C0"/>
              </a:buClr>
              <a:buSzPct val="100000"/>
              <a:buFont typeface="+mj-lt"/>
              <a:buAutoNum type="arabicPeriod" startAt="2"/>
            </a:pPr>
            <a:r>
              <a:rPr lang="fr-FR" dirty="0" smtClean="0">
                <a:solidFill>
                  <a:srgbClr val="0070C0"/>
                </a:solidFill>
              </a:rPr>
              <a:t>La </a:t>
            </a:r>
            <a:r>
              <a:rPr lang="fr-FR" dirty="0">
                <a:solidFill>
                  <a:srgbClr val="0070C0"/>
                </a:solidFill>
              </a:rPr>
              <a:t>forme non classique </a:t>
            </a:r>
            <a:r>
              <a:rPr lang="fr-FR" dirty="0" smtClean="0">
                <a:solidFill>
                  <a:srgbClr val="0070C0"/>
                </a:solidFill>
              </a:rPr>
              <a:t>:</a:t>
            </a:r>
          </a:p>
          <a:p>
            <a:pPr marL="0" indent="0">
              <a:buNone/>
            </a:pPr>
            <a:endParaRPr lang="fr-FR" dirty="0" smtClean="0">
              <a:solidFill>
                <a:srgbClr val="0070C0"/>
              </a:solidFill>
            </a:endParaRPr>
          </a:p>
          <a:p>
            <a:pPr lvl="1">
              <a:buFont typeface="Wingdings" panose="05000000000000000000" pitchFamily="2" charset="2"/>
              <a:buChar char="v"/>
            </a:pPr>
            <a:r>
              <a:rPr lang="fr-FR" sz="2200" dirty="0" smtClean="0"/>
              <a:t> Se </a:t>
            </a:r>
            <a:r>
              <a:rPr lang="fr-FR" sz="2200" dirty="0"/>
              <a:t>caractérise </a:t>
            </a:r>
            <a:r>
              <a:rPr lang="fr-FR" sz="2200" dirty="0" smtClean="0"/>
              <a:t>par:  </a:t>
            </a:r>
          </a:p>
          <a:p>
            <a:pPr lvl="1">
              <a:buFont typeface="Wingdings" panose="05000000000000000000" pitchFamily="2" charset="2"/>
              <a:buChar char="v"/>
            </a:pPr>
            <a:endParaRPr lang="fr-FR" sz="2200" dirty="0" smtClean="0"/>
          </a:p>
          <a:p>
            <a:pPr lvl="2">
              <a:buClr>
                <a:srgbClr val="C00000"/>
              </a:buClr>
              <a:buSzPct val="100000"/>
              <a:buFont typeface="Wingdings" panose="05000000000000000000" pitchFamily="2" charset="2"/>
              <a:buChar char="Ø"/>
            </a:pPr>
            <a:r>
              <a:rPr lang="fr-FR" dirty="0" smtClean="0"/>
              <a:t>des </a:t>
            </a:r>
            <a:r>
              <a:rPr lang="fr-FR" dirty="0"/>
              <a:t>troubles intestinaux non spécifiques (douleurs abdominales récurrentes, ballonnements et diarrhée ou constipation), </a:t>
            </a:r>
            <a:endParaRPr lang="fr-FR" dirty="0" smtClean="0"/>
          </a:p>
          <a:p>
            <a:pPr lvl="2">
              <a:buClr>
                <a:srgbClr val="C00000"/>
              </a:buClr>
              <a:buSzPct val="100000"/>
              <a:buFont typeface="Wingdings" panose="05000000000000000000" pitchFamily="2" charset="2"/>
              <a:buChar char="Ø"/>
            </a:pPr>
            <a:r>
              <a:rPr lang="fr-FR" dirty="0" smtClean="0"/>
              <a:t>extra-intestinaux </a:t>
            </a:r>
            <a:r>
              <a:rPr lang="fr-FR" dirty="0"/>
              <a:t>(fatigue chronique ou hypertransaminasémie) ou </a:t>
            </a:r>
            <a:endParaRPr lang="fr-FR" dirty="0" smtClean="0"/>
          </a:p>
          <a:p>
            <a:pPr lvl="2">
              <a:buClr>
                <a:srgbClr val="C00000"/>
              </a:buClr>
              <a:buSzPct val="100000"/>
              <a:buFont typeface="Wingdings" panose="05000000000000000000" pitchFamily="2" charset="2"/>
              <a:buChar char="Ø"/>
            </a:pPr>
            <a:r>
              <a:rPr lang="fr-FR" dirty="0" smtClean="0"/>
              <a:t>autres </a:t>
            </a:r>
            <a:r>
              <a:rPr lang="fr-FR" dirty="0"/>
              <a:t>manifestations ou complications </a:t>
            </a:r>
            <a:r>
              <a:rPr lang="fr-FR" dirty="0" smtClean="0"/>
              <a:t>systémiques:</a:t>
            </a:r>
          </a:p>
          <a:p>
            <a:pPr lvl="3">
              <a:buClr>
                <a:srgbClr val="C00000"/>
              </a:buClr>
              <a:buSzPct val="100000"/>
              <a:buFont typeface="Wingdings" panose="05000000000000000000" pitchFamily="2" charset="2"/>
              <a:buChar char="v"/>
            </a:pPr>
            <a:r>
              <a:rPr lang="fr-FR" dirty="0"/>
              <a:t> </a:t>
            </a:r>
            <a:r>
              <a:rPr lang="fr-FR" dirty="0" smtClean="0"/>
              <a:t>   les </a:t>
            </a:r>
            <a:r>
              <a:rPr lang="fr-FR" dirty="0"/>
              <a:t>carences nutritionnelles (en vitamine D, vitamine B12, folate, fer ou zinc</a:t>
            </a:r>
            <a:r>
              <a:rPr lang="fr-FR" dirty="0" smtClean="0"/>
              <a:t>),</a:t>
            </a:r>
          </a:p>
          <a:p>
            <a:pPr lvl="3">
              <a:buClr>
                <a:srgbClr val="C00000"/>
              </a:buClr>
              <a:buSzPct val="100000"/>
              <a:buFont typeface="Wingdings" panose="05000000000000000000" pitchFamily="2" charset="2"/>
              <a:buChar char="v"/>
            </a:pPr>
            <a:r>
              <a:rPr lang="fr-FR" dirty="0" smtClean="0"/>
              <a:t>    l'arthralgie </a:t>
            </a:r>
            <a:r>
              <a:rPr lang="fr-FR" dirty="0"/>
              <a:t>ou l'arthrite, </a:t>
            </a:r>
            <a:endParaRPr lang="fr-FR" dirty="0" smtClean="0"/>
          </a:p>
          <a:p>
            <a:pPr lvl="3">
              <a:buClr>
                <a:srgbClr val="C00000"/>
              </a:buClr>
              <a:buSzPct val="100000"/>
              <a:buFont typeface="Wingdings" panose="05000000000000000000" pitchFamily="2" charset="2"/>
              <a:buChar char="v"/>
            </a:pPr>
            <a:r>
              <a:rPr lang="fr-FR" dirty="0"/>
              <a:t> </a:t>
            </a:r>
            <a:r>
              <a:rPr lang="fr-FR" dirty="0" smtClean="0"/>
              <a:t>   l'alopécie et </a:t>
            </a:r>
            <a:r>
              <a:rPr lang="fr-FR" dirty="0"/>
              <a:t>l'urticaire chronique. </a:t>
            </a:r>
            <a:endParaRPr lang="fr-FR" dirty="0" smtClean="0"/>
          </a:p>
          <a:p>
            <a:pPr lvl="3">
              <a:buClr>
                <a:srgbClr val="C00000"/>
              </a:buClr>
              <a:buSzPct val="100000"/>
              <a:buFont typeface="Wingdings" panose="05000000000000000000" pitchFamily="2" charset="2"/>
              <a:buChar char="v"/>
            </a:pPr>
            <a:r>
              <a:rPr lang="fr-FR" dirty="0"/>
              <a:t> </a:t>
            </a:r>
            <a:r>
              <a:rPr lang="fr-FR" dirty="0" smtClean="0"/>
              <a:t>   les </a:t>
            </a:r>
            <a:r>
              <a:rPr lang="fr-FR" dirty="0"/>
              <a:t>stomatites récurrentes </a:t>
            </a:r>
          </a:p>
          <a:p>
            <a:endParaRPr lang="fr-FR" b="1" dirty="0" smtClean="0">
              <a:solidFill>
                <a:schemeClr val="accent1"/>
              </a:solidFill>
            </a:endParaRP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12</a:t>
            </a:fld>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0"/>
            <a:ext cx="8964488" cy="6597352"/>
          </a:xfrm>
        </p:spPr>
        <p:txBody>
          <a:bodyPr>
            <a:normAutofit/>
          </a:bodyPr>
          <a:lstStyle/>
          <a:p>
            <a:endParaRPr lang="fr-FR" sz="2800" dirty="0" smtClean="0"/>
          </a:p>
          <a:p>
            <a:pPr marL="514350" indent="-514350">
              <a:buClr>
                <a:srgbClr val="0070C0"/>
              </a:buClr>
              <a:buSzPct val="100000"/>
              <a:buFont typeface="+mj-lt"/>
              <a:buAutoNum type="arabicPeriod" startAt="3"/>
            </a:pPr>
            <a:r>
              <a:rPr lang="fr-FR" sz="2800" dirty="0" smtClean="0">
                <a:solidFill>
                  <a:srgbClr val="0070C0"/>
                </a:solidFill>
              </a:rPr>
              <a:t>La </a:t>
            </a:r>
            <a:r>
              <a:rPr lang="fr-FR" sz="2800" dirty="0">
                <a:solidFill>
                  <a:srgbClr val="0070C0"/>
                </a:solidFill>
              </a:rPr>
              <a:t>maladie cœliaque infraclinique </a:t>
            </a:r>
            <a:r>
              <a:rPr lang="fr-FR" sz="2400" dirty="0" smtClean="0">
                <a:solidFill>
                  <a:srgbClr val="0070C0"/>
                </a:solidFill>
              </a:rPr>
              <a:t>:</a:t>
            </a:r>
            <a:r>
              <a:rPr lang="fr-FR" sz="2400" dirty="0" smtClean="0"/>
              <a:t>(</a:t>
            </a:r>
            <a:r>
              <a:rPr lang="fr-FR" sz="2400" dirty="0"/>
              <a:t>cliniquement silencieuse) est identifiée </a:t>
            </a:r>
            <a:endParaRPr lang="fr-FR" sz="2400" dirty="0" smtClean="0"/>
          </a:p>
          <a:p>
            <a:pPr marL="0" indent="0">
              <a:buNone/>
            </a:pPr>
            <a:endParaRPr lang="fr-FR" sz="2400" dirty="0" smtClean="0"/>
          </a:p>
          <a:p>
            <a:pPr lvl="1">
              <a:buFont typeface="Wingdings" panose="05000000000000000000" pitchFamily="2" charset="2"/>
              <a:buChar char="v"/>
            </a:pPr>
            <a:r>
              <a:rPr lang="fr-FR" sz="2200" dirty="0" smtClean="0"/>
              <a:t>soit </a:t>
            </a:r>
            <a:r>
              <a:rPr lang="fr-FR" sz="2200" dirty="0"/>
              <a:t>par des </a:t>
            </a:r>
            <a:r>
              <a:rPr lang="fr-FR" sz="2200" dirty="0">
                <a:solidFill>
                  <a:srgbClr val="C00000"/>
                </a:solidFill>
              </a:rPr>
              <a:t>programmes de dépistage dans la population générale</a:t>
            </a:r>
            <a:r>
              <a:rPr lang="fr-FR" sz="2200" dirty="0"/>
              <a:t>, </a:t>
            </a:r>
            <a:endParaRPr lang="fr-FR" sz="2200" dirty="0" smtClean="0"/>
          </a:p>
          <a:p>
            <a:pPr lvl="1">
              <a:buFont typeface="Wingdings" panose="05000000000000000000" pitchFamily="2" charset="2"/>
              <a:buChar char="v"/>
            </a:pPr>
            <a:r>
              <a:rPr lang="fr-FR" sz="2200" dirty="0" smtClean="0"/>
              <a:t>soit </a:t>
            </a:r>
            <a:r>
              <a:rPr lang="fr-FR" sz="2200" dirty="0"/>
              <a:t>par une </a:t>
            </a:r>
            <a:r>
              <a:rPr lang="fr-FR" sz="2200" dirty="0">
                <a:solidFill>
                  <a:srgbClr val="C00000"/>
                </a:solidFill>
              </a:rPr>
              <a:t>recherche de cas dans les groupes à risque</a:t>
            </a:r>
            <a:r>
              <a:rPr lang="fr-FR" sz="2200" dirty="0"/>
              <a:t>, tels que les proches de personnes atteintes de la maladie cœliaque</a:t>
            </a:r>
            <a:r>
              <a:rPr lang="fr-FR" sz="2200" dirty="0" smtClean="0"/>
              <a:t>.</a:t>
            </a:r>
            <a:endParaRPr lang="fr-FR" sz="2200" dirty="0"/>
          </a:p>
          <a:p>
            <a:pPr>
              <a:buNone/>
            </a:pPr>
            <a:endParaRPr lang="fr-FR" sz="24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13</a:t>
            </a:fld>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188640"/>
            <a:ext cx="8712968" cy="6480720"/>
          </a:xfrm>
        </p:spPr>
        <p:txBody>
          <a:bodyPr>
            <a:normAutofit/>
          </a:bodyPr>
          <a:lstStyle/>
          <a:p>
            <a:pPr marL="514350" indent="-514350">
              <a:buClr>
                <a:srgbClr val="0070C0"/>
              </a:buClr>
              <a:buFont typeface="+mj-lt"/>
              <a:buAutoNum type="alphaUcPeriod" startAt="2"/>
            </a:pPr>
            <a:r>
              <a:rPr lang="fr-FR" b="1" dirty="0">
                <a:solidFill>
                  <a:srgbClr val="C00000"/>
                </a:solidFill>
              </a:rPr>
              <a:t> Maladies auto-immunes </a:t>
            </a:r>
            <a:r>
              <a:rPr lang="fr-FR" b="1" dirty="0" smtClean="0">
                <a:solidFill>
                  <a:srgbClr val="C00000"/>
                </a:solidFill>
              </a:rPr>
              <a:t>associées:</a:t>
            </a:r>
            <a:endParaRPr lang="fr-FR" b="1" dirty="0" smtClean="0">
              <a:solidFill>
                <a:srgbClr val="C00000"/>
              </a:solidFill>
            </a:endParaRPr>
          </a:p>
          <a:p>
            <a:pPr>
              <a:buClr>
                <a:srgbClr val="0070C0"/>
              </a:buClr>
              <a:buFont typeface="Wingdings" panose="05000000000000000000" pitchFamily="2" charset="2"/>
              <a:buChar char="q"/>
            </a:pPr>
            <a:endParaRPr lang="fr-FR" dirty="0">
              <a:solidFill>
                <a:srgbClr val="0070C0"/>
              </a:solidFill>
            </a:endParaRPr>
          </a:p>
          <a:p>
            <a:pPr>
              <a:buClr>
                <a:srgbClr val="00B050"/>
              </a:buClr>
              <a:buFont typeface="Courier New" panose="02070309020205020404" pitchFamily="49" charset="0"/>
              <a:buChar char="o"/>
            </a:pPr>
            <a:r>
              <a:rPr lang="fr-FR" dirty="0"/>
              <a:t> </a:t>
            </a:r>
            <a:r>
              <a:rPr lang="fr-FR" sz="2200" b="1" dirty="0">
                <a:solidFill>
                  <a:srgbClr val="00B050"/>
                </a:solidFill>
              </a:rPr>
              <a:t>Diabète de type 1 (DT1)</a:t>
            </a:r>
            <a:r>
              <a:rPr lang="fr-FR" sz="2200" dirty="0">
                <a:solidFill>
                  <a:srgbClr val="00B050"/>
                </a:solidFill>
              </a:rPr>
              <a:t> : </a:t>
            </a:r>
          </a:p>
          <a:p>
            <a:pPr lvl="1">
              <a:buFont typeface="Wingdings" panose="05000000000000000000" pitchFamily="2" charset="2"/>
              <a:buChar char="v"/>
            </a:pPr>
            <a:r>
              <a:rPr lang="fr-FR" sz="2000" dirty="0"/>
              <a:t>Il </a:t>
            </a:r>
            <a:r>
              <a:rPr lang="fr-FR" sz="2000" dirty="0" smtClean="0"/>
              <a:t>a une origines </a:t>
            </a:r>
            <a:r>
              <a:rPr lang="fr-FR" sz="2000" dirty="0"/>
              <a:t>auto-immunes </a:t>
            </a:r>
            <a:r>
              <a:rPr lang="fr-FR" sz="2000" dirty="0" smtClean="0"/>
              <a:t>comme la </a:t>
            </a:r>
            <a:r>
              <a:rPr lang="fr-FR" sz="2000" dirty="0"/>
              <a:t>maladie cœliaque </a:t>
            </a:r>
            <a:r>
              <a:rPr lang="fr-FR" sz="2000" dirty="0" smtClean="0"/>
              <a:t> .</a:t>
            </a:r>
          </a:p>
          <a:p>
            <a:pPr lvl="1">
              <a:buFont typeface="Wingdings" panose="05000000000000000000" pitchFamily="2" charset="2"/>
              <a:buChar char="v"/>
            </a:pPr>
            <a:r>
              <a:rPr lang="fr-FR" sz="2000" dirty="0" smtClean="0"/>
              <a:t>ces </a:t>
            </a:r>
            <a:r>
              <a:rPr lang="fr-FR" sz="2000" dirty="0"/>
              <a:t>deux maladies ont été </a:t>
            </a:r>
            <a:r>
              <a:rPr lang="fr-FR" sz="2000" dirty="0">
                <a:solidFill>
                  <a:srgbClr val="C00000"/>
                </a:solidFill>
              </a:rPr>
              <a:t>associées à l'antigène DQ2</a:t>
            </a:r>
            <a:r>
              <a:rPr lang="fr-FR" sz="2000" dirty="0"/>
              <a:t>, ce qui offre une base génétique commune.</a:t>
            </a:r>
          </a:p>
          <a:p>
            <a:pPr lvl="1">
              <a:buFont typeface="Wingdings" panose="05000000000000000000" pitchFamily="2" charset="2"/>
              <a:buChar char="v"/>
            </a:pPr>
            <a:r>
              <a:rPr lang="fr-FR" sz="2000" dirty="0" smtClean="0"/>
              <a:t>Il est recommande </a:t>
            </a:r>
            <a:r>
              <a:rPr lang="fr-FR" sz="2000" dirty="0"/>
              <a:t>le dépistage de la MC chez les patients atteints de DT1 et l'instauration d'un régime sans gluten (RSG) </a:t>
            </a:r>
            <a:r>
              <a:rPr lang="fr-FR" sz="2000" dirty="0" smtClean="0"/>
              <a:t>si la MC </a:t>
            </a:r>
            <a:r>
              <a:rPr lang="fr-FR" sz="2000" dirty="0"/>
              <a:t>est confirmé</a:t>
            </a:r>
            <a:r>
              <a:rPr lang="fr-FR" sz="2000" dirty="0" smtClean="0"/>
              <a:t>.</a:t>
            </a:r>
          </a:p>
          <a:p>
            <a:pPr marL="320040" lvl="1" indent="0">
              <a:buNone/>
            </a:pPr>
            <a:r>
              <a:rPr lang="fr-FR" sz="2000" dirty="0" smtClean="0"/>
              <a:t> </a:t>
            </a:r>
            <a:endParaRPr lang="fr-FR" sz="2000" dirty="0"/>
          </a:p>
          <a:p>
            <a:r>
              <a:rPr lang="fr-FR" sz="2200" b="1" dirty="0">
                <a:solidFill>
                  <a:srgbClr val="00B050"/>
                </a:solidFill>
              </a:rPr>
              <a:t>Maladies de la thyroïde</a:t>
            </a:r>
            <a:endParaRPr lang="fr-FR" sz="2200" dirty="0">
              <a:solidFill>
                <a:srgbClr val="00B050"/>
              </a:solidFill>
            </a:endParaRPr>
          </a:p>
          <a:p>
            <a:pPr lvl="1">
              <a:buFont typeface="Wingdings" panose="05000000000000000000" pitchFamily="2" charset="2"/>
              <a:buChar char="v"/>
            </a:pPr>
            <a:r>
              <a:rPr lang="fr-FR" sz="2000" dirty="0"/>
              <a:t>Chez les sujets atteints d'une maladie thyroïdienne auto-immune (ex : la thyroïdite de Hashimoto), le taux de MC s'accélérerait et sa prévalence se situerait entre 2 % et 7 %.</a:t>
            </a:r>
          </a:p>
          <a:p>
            <a:pPr lvl="1">
              <a:buFont typeface="Wingdings" panose="05000000000000000000" pitchFamily="2" charset="2"/>
              <a:buChar char="v"/>
            </a:pPr>
            <a:r>
              <a:rPr lang="fr-FR" sz="2000" dirty="0"/>
              <a:t>La coexistence de la MC et de la MAIT a été expliquée par une </a:t>
            </a:r>
            <a:r>
              <a:rPr lang="fr-FR" sz="2000" dirty="0">
                <a:solidFill>
                  <a:srgbClr val="C00000"/>
                </a:solidFill>
              </a:rPr>
              <a:t>prédisposition génétique commune </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14</a:t>
            </a:fld>
            <a:endParaRPr lang="fr-FR"/>
          </a:p>
        </p:txBody>
      </p:sp>
    </p:spTree>
    <p:extLst>
      <p:ext uri="{BB962C8B-B14F-4D97-AF65-F5344CB8AC3E}">
        <p14:creationId xmlns:p14="http://schemas.microsoft.com/office/powerpoint/2010/main" val="6105331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188640"/>
            <a:ext cx="9036496" cy="6480720"/>
          </a:xfrm>
        </p:spPr>
        <p:txBody>
          <a:bodyPr/>
          <a:lstStyle/>
          <a:p>
            <a:pPr>
              <a:buClr>
                <a:srgbClr val="00B050"/>
              </a:buClr>
              <a:buFont typeface="Courier New" panose="02070309020205020404" pitchFamily="49" charset="0"/>
              <a:buChar char="o"/>
            </a:pPr>
            <a:endParaRPr lang="fr-FR" sz="2200" b="1" dirty="0" smtClean="0">
              <a:solidFill>
                <a:srgbClr val="00B050"/>
              </a:solidFill>
            </a:endParaRPr>
          </a:p>
          <a:p>
            <a:pPr>
              <a:buClr>
                <a:srgbClr val="00B050"/>
              </a:buClr>
              <a:buFont typeface="Courier New" panose="02070309020205020404" pitchFamily="49" charset="0"/>
              <a:buChar char="o"/>
            </a:pPr>
            <a:r>
              <a:rPr lang="fr-FR" sz="2200" b="1" dirty="0" smtClean="0">
                <a:solidFill>
                  <a:srgbClr val="00B050"/>
                </a:solidFill>
              </a:rPr>
              <a:t>Maladies </a:t>
            </a:r>
            <a:r>
              <a:rPr lang="fr-FR" sz="2200" b="1" dirty="0">
                <a:solidFill>
                  <a:srgbClr val="00B050"/>
                </a:solidFill>
              </a:rPr>
              <a:t>hépatiques auto-immunes </a:t>
            </a:r>
            <a:r>
              <a:rPr lang="fr-FR" sz="2200" b="1" dirty="0" smtClean="0">
                <a:solidFill>
                  <a:srgbClr val="00B050"/>
                </a:solidFill>
              </a:rPr>
              <a:t>associées:</a:t>
            </a:r>
            <a:endParaRPr lang="fr-FR" sz="2200" dirty="0">
              <a:solidFill>
                <a:srgbClr val="00B050"/>
              </a:solidFill>
            </a:endParaRPr>
          </a:p>
          <a:p>
            <a:pPr lvl="1">
              <a:buFont typeface="Wingdings" panose="05000000000000000000" pitchFamily="2" charset="2"/>
              <a:buChar char="v"/>
            </a:pPr>
            <a:r>
              <a:rPr lang="fr-FR" sz="2000" dirty="0"/>
              <a:t>L'hépatite auto-immune (HAI), la cirrhose biliaire primitive (CBP) et la cholangite sclérosante primitive (CSP</a:t>
            </a:r>
            <a:r>
              <a:rPr lang="fr-FR" sz="2000" dirty="0" smtClean="0"/>
              <a:t>).</a:t>
            </a:r>
          </a:p>
          <a:p>
            <a:pPr lvl="1">
              <a:buFont typeface="Wingdings" panose="05000000000000000000" pitchFamily="2" charset="2"/>
              <a:buChar char="v"/>
            </a:pPr>
            <a:r>
              <a:rPr lang="fr-FR" sz="2000" dirty="0" smtClean="0"/>
              <a:t>La </a:t>
            </a:r>
            <a:r>
              <a:rPr lang="fr-FR" sz="2000" dirty="0"/>
              <a:t>maladie cœliaque et la CBP présentent plusieurs caractéristiques communes, </a:t>
            </a:r>
            <a:r>
              <a:rPr lang="fr-FR" sz="2000" dirty="0" smtClean="0"/>
              <a:t>(plus fréquente chez </a:t>
            </a:r>
            <a:r>
              <a:rPr lang="fr-FR" sz="2000" dirty="0"/>
              <a:t>les femmes, des </a:t>
            </a:r>
            <a:r>
              <a:rPr lang="fr-FR" sz="2000" dirty="0" smtClean="0"/>
              <a:t>auto-AC </a:t>
            </a:r>
            <a:r>
              <a:rPr lang="fr-FR" sz="2000" dirty="0"/>
              <a:t>spécifiques et des comorbidités auto-immunes. </a:t>
            </a:r>
            <a:endParaRPr lang="fr-FR" sz="2000" dirty="0" smtClean="0"/>
          </a:p>
          <a:p>
            <a:pPr lvl="1">
              <a:buFont typeface="Wingdings" panose="05000000000000000000" pitchFamily="2" charset="2"/>
              <a:buChar char="v"/>
            </a:pPr>
            <a:r>
              <a:rPr lang="fr-FR" sz="2000" dirty="0" smtClean="0"/>
              <a:t>Pour ces </a:t>
            </a:r>
            <a:r>
              <a:rPr lang="fr-FR" sz="2000" dirty="0"/>
              <a:t>deux maladies, un dépistage réciproque est recommandé</a:t>
            </a:r>
            <a:r>
              <a:rPr lang="fr-FR" sz="2000" dirty="0" smtClean="0"/>
              <a:t>. </a:t>
            </a:r>
          </a:p>
          <a:p>
            <a:pPr lvl="1">
              <a:buFont typeface="Wingdings" panose="05000000000000000000" pitchFamily="2" charset="2"/>
              <a:buChar char="v"/>
            </a:pPr>
            <a:endParaRPr lang="fr-FR" sz="2000" dirty="0"/>
          </a:p>
          <a:p>
            <a:pPr>
              <a:buClr>
                <a:srgbClr val="00B050"/>
              </a:buClr>
              <a:buFont typeface="Courier New" panose="02070309020205020404" pitchFamily="49" charset="0"/>
              <a:buChar char="o"/>
            </a:pPr>
            <a:r>
              <a:rPr lang="fr-FR" sz="2200" b="1" dirty="0">
                <a:solidFill>
                  <a:srgbClr val="00B050"/>
                </a:solidFill>
              </a:rPr>
              <a:t>Dermatite </a:t>
            </a:r>
            <a:r>
              <a:rPr lang="fr-FR" sz="2200" b="1" dirty="0" smtClean="0">
                <a:solidFill>
                  <a:srgbClr val="00B050"/>
                </a:solidFill>
              </a:rPr>
              <a:t>herpétiforme:</a:t>
            </a:r>
            <a:endParaRPr lang="fr-FR" sz="2200" dirty="0">
              <a:solidFill>
                <a:srgbClr val="00B050"/>
              </a:solidFill>
            </a:endParaRPr>
          </a:p>
          <a:p>
            <a:pPr lvl="1">
              <a:buFont typeface="Wingdings" panose="05000000000000000000" pitchFamily="2" charset="2"/>
              <a:buChar char="v"/>
            </a:pPr>
            <a:r>
              <a:rPr lang="fr-FR" sz="2000" dirty="0"/>
              <a:t> Les patients atteints de DH présentent des modifications </a:t>
            </a:r>
            <a:r>
              <a:rPr lang="fr-FR" sz="2000" dirty="0" smtClean="0"/>
              <a:t>histologique de </a:t>
            </a:r>
            <a:r>
              <a:rPr lang="fr-FR" sz="2000" dirty="0"/>
              <a:t>l'intestin grêle </a:t>
            </a:r>
            <a:r>
              <a:rPr lang="fr-FR" sz="2000" dirty="0" smtClean="0"/>
              <a:t> </a:t>
            </a:r>
            <a:r>
              <a:rPr lang="fr-FR" sz="2000" dirty="0"/>
              <a:t>similaires à celles observées </a:t>
            </a:r>
            <a:r>
              <a:rPr lang="fr-FR" sz="2000" dirty="0" smtClean="0"/>
              <a:t>dans </a:t>
            </a:r>
            <a:r>
              <a:rPr lang="fr-FR" sz="2000" dirty="0"/>
              <a:t>MC</a:t>
            </a:r>
            <a:r>
              <a:rPr lang="fr-FR" sz="2000" dirty="0" smtClean="0"/>
              <a:t>.</a:t>
            </a:r>
          </a:p>
          <a:p>
            <a:pPr lvl="1">
              <a:buFont typeface="Wingdings" panose="05000000000000000000" pitchFamily="2" charset="2"/>
              <a:buChar char="v"/>
            </a:pPr>
            <a:r>
              <a:rPr lang="fr-FR" sz="2000" dirty="0" smtClean="0"/>
              <a:t>Mais </a:t>
            </a:r>
            <a:r>
              <a:rPr lang="fr-FR" sz="2000" dirty="0"/>
              <a:t>une grande majorité sont asymptomatiques en termes de symptômes digestifs. </a:t>
            </a:r>
            <a:endParaRPr lang="fr-FR" sz="2000" dirty="0" smtClean="0"/>
          </a:p>
          <a:p>
            <a:pPr lvl="1">
              <a:buFont typeface="Wingdings" panose="05000000000000000000" pitchFamily="2" charset="2"/>
              <a:buChar char="v"/>
            </a:pPr>
            <a:r>
              <a:rPr lang="fr-FR" sz="2000" b="1" i="1" dirty="0" smtClean="0"/>
              <a:t>La </a:t>
            </a:r>
            <a:r>
              <a:rPr lang="fr-FR" sz="2000" b="1" i="1" dirty="0"/>
              <a:t>prévalence de DQ8 et HLA DQ2 est identique à celle observée dans la MC, </a:t>
            </a:r>
            <a:r>
              <a:rPr lang="fr-FR" sz="2000" b="1" i="1" dirty="0" smtClean="0"/>
              <a:t> </a:t>
            </a:r>
            <a:endParaRPr lang="fr-FR" sz="2000" b="1" i="1" dirty="0"/>
          </a:p>
          <a:p>
            <a:endParaRPr lang="fr-FR" b="1" i="1"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15</a:t>
            </a:fld>
            <a:endParaRPr lang="fr-FR"/>
          </a:p>
        </p:txBody>
      </p:sp>
      <p:pic>
        <p:nvPicPr>
          <p:cNvPr id="1026" name="Picture 2" descr="Dermatite Herpetiforme ou Dermatite de Duhring Broc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4946537"/>
            <a:ext cx="3336305" cy="149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9858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116632"/>
            <a:ext cx="8856984" cy="6552728"/>
          </a:xfrm>
        </p:spPr>
        <p:txBody>
          <a:bodyPr>
            <a:normAutofit fontScale="92500" lnSpcReduction="10000"/>
          </a:bodyPr>
          <a:lstStyle/>
          <a:p>
            <a:pPr>
              <a:buClr>
                <a:srgbClr val="00B050"/>
              </a:buClr>
              <a:buFont typeface="Courier New" panose="02070309020205020404" pitchFamily="49" charset="0"/>
              <a:buChar char="o"/>
            </a:pPr>
            <a:endParaRPr lang="fr-FR" sz="2200" b="1" dirty="0" smtClean="0">
              <a:solidFill>
                <a:srgbClr val="00B050"/>
              </a:solidFill>
            </a:endParaRPr>
          </a:p>
          <a:p>
            <a:pPr>
              <a:buClr>
                <a:srgbClr val="00B050"/>
              </a:buClr>
              <a:buFont typeface="Courier New" panose="02070309020205020404" pitchFamily="49" charset="0"/>
              <a:buChar char="o"/>
            </a:pPr>
            <a:r>
              <a:rPr lang="fr-FR" sz="2200" b="1" dirty="0" smtClean="0">
                <a:solidFill>
                  <a:srgbClr val="00B050"/>
                </a:solidFill>
              </a:rPr>
              <a:t>Psoriasis</a:t>
            </a:r>
            <a:endParaRPr lang="fr-FR" sz="2200" dirty="0">
              <a:solidFill>
                <a:srgbClr val="00B050"/>
              </a:solidFill>
            </a:endParaRPr>
          </a:p>
          <a:p>
            <a:pPr lvl="1">
              <a:buFont typeface="Wingdings" panose="05000000000000000000" pitchFamily="2" charset="2"/>
              <a:buChar char="v"/>
            </a:pPr>
            <a:r>
              <a:rPr lang="fr-FR" sz="2000" dirty="0"/>
              <a:t>La positivité des anticorps anti-MC a été corrélée positivement à la gravité du psoriasis. </a:t>
            </a:r>
            <a:r>
              <a:rPr lang="fr-FR" sz="2000" dirty="0" smtClean="0"/>
              <a:t>ces </a:t>
            </a:r>
            <a:r>
              <a:rPr lang="fr-FR" sz="2000" dirty="0"/>
              <a:t>patients atteints de psoriasis présentant un taux élevé d'anticorps anti-CD ne correspondaient pas nécessairement à un diagnostic de maladie cœliaque </a:t>
            </a:r>
          </a:p>
          <a:p>
            <a:pPr lvl="1">
              <a:buFont typeface="Wingdings" panose="05000000000000000000" pitchFamily="2" charset="2"/>
              <a:buChar char="v"/>
            </a:pPr>
            <a:r>
              <a:rPr lang="fr-FR" sz="2000" dirty="0" smtClean="0"/>
              <a:t> une </a:t>
            </a:r>
            <a:r>
              <a:rPr lang="fr-FR" sz="2000" dirty="0"/>
              <a:t>diminution des marqueurs sérologiques de la </a:t>
            </a:r>
            <a:r>
              <a:rPr lang="fr-FR" sz="2000" dirty="0" smtClean="0"/>
              <a:t>maladie</a:t>
            </a:r>
          </a:p>
          <a:p>
            <a:pPr marL="320040" lvl="1" indent="0">
              <a:buNone/>
            </a:pPr>
            <a:r>
              <a:rPr lang="fr-FR" sz="2000" dirty="0" smtClean="0"/>
              <a:t>cœliaque </a:t>
            </a:r>
            <a:r>
              <a:rPr lang="fr-FR" sz="2000" dirty="0"/>
              <a:t>après un régime sans gluten et une </a:t>
            </a:r>
            <a:r>
              <a:rPr lang="fr-FR" sz="2000" dirty="0" smtClean="0"/>
              <a:t>réduction</a:t>
            </a:r>
          </a:p>
          <a:p>
            <a:pPr marL="320040" lvl="1" indent="0">
              <a:buNone/>
            </a:pPr>
            <a:r>
              <a:rPr lang="fr-FR" sz="2000" dirty="0" smtClean="0"/>
              <a:t>significative </a:t>
            </a:r>
            <a:r>
              <a:rPr lang="fr-FR" sz="2000" dirty="0"/>
              <a:t>du </a:t>
            </a:r>
            <a:r>
              <a:rPr lang="fr-FR" sz="2000" dirty="0" smtClean="0"/>
              <a:t>psoriasis  </a:t>
            </a:r>
          </a:p>
          <a:p>
            <a:pPr lvl="1">
              <a:buFont typeface="Wingdings" panose="05000000000000000000" pitchFamily="2" charset="2"/>
              <a:buChar char="v"/>
            </a:pPr>
            <a:endParaRPr lang="fr-FR" sz="2000" dirty="0"/>
          </a:p>
          <a:p>
            <a:pPr lvl="1">
              <a:buFont typeface="Wingdings" panose="05000000000000000000" pitchFamily="2" charset="2"/>
              <a:buChar char="v"/>
            </a:pPr>
            <a:endParaRPr lang="fr-FR" sz="2000" dirty="0"/>
          </a:p>
          <a:p>
            <a:pPr>
              <a:buClr>
                <a:srgbClr val="00B050"/>
              </a:buClr>
              <a:buFont typeface="Courier New" panose="02070309020205020404" pitchFamily="49" charset="0"/>
              <a:buChar char="o"/>
            </a:pPr>
            <a:r>
              <a:rPr lang="fr-FR" sz="2200" b="1" dirty="0">
                <a:solidFill>
                  <a:srgbClr val="00B050"/>
                </a:solidFill>
              </a:rPr>
              <a:t>Lupus érythémateux disséminé</a:t>
            </a:r>
            <a:r>
              <a:rPr lang="fr-FR" sz="2200" dirty="0">
                <a:solidFill>
                  <a:srgbClr val="00B050"/>
                </a:solidFill>
              </a:rPr>
              <a:t> </a:t>
            </a:r>
          </a:p>
          <a:p>
            <a:pPr lvl="1">
              <a:buFont typeface="Wingdings" panose="05000000000000000000" pitchFamily="2" charset="2"/>
              <a:buChar char="v"/>
            </a:pPr>
            <a:r>
              <a:rPr lang="fr-FR" sz="2000" dirty="0"/>
              <a:t>Les patients atteints de MC présentaient un risque </a:t>
            </a:r>
            <a:r>
              <a:rPr lang="fr-FR" sz="2000" b="1" dirty="0"/>
              <a:t>trois fois plus élevé de LED </a:t>
            </a:r>
            <a:r>
              <a:rPr lang="fr-FR" sz="2000" dirty="0"/>
              <a:t>que la population </a:t>
            </a:r>
            <a:r>
              <a:rPr lang="fr-FR" sz="2000" dirty="0" smtClean="0"/>
              <a:t>générale.</a:t>
            </a:r>
            <a:endParaRPr lang="fr-FR" sz="2000" dirty="0"/>
          </a:p>
          <a:p>
            <a:pPr>
              <a:buClr>
                <a:srgbClr val="00B050"/>
              </a:buClr>
              <a:buFont typeface="Courier New" panose="02070309020205020404" pitchFamily="49" charset="0"/>
              <a:buChar char="o"/>
            </a:pPr>
            <a:r>
              <a:rPr lang="fr-FR" sz="2300" b="1" dirty="0" smtClean="0">
                <a:solidFill>
                  <a:srgbClr val="00B050"/>
                </a:solidFill>
              </a:rPr>
              <a:t>Autres :</a:t>
            </a:r>
            <a:endParaRPr lang="fr-FR" sz="2300" dirty="0"/>
          </a:p>
          <a:p>
            <a:pPr lvl="1">
              <a:buFont typeface="Wingdings" panose="05000000000000000000" pitchFamily="2" charset="2"/>
              <a:buChar char="v"/>
            </a:pPr>
            <a:r>
              <a:rPr lang="fr-FR" sz="1900" dirty="0"/>
              <a:t>Une forte association avec la </a:t>
            </a:r>
            <a:r>
              <a:rPr lang="fr-FR" sz="1900" b="1" dirty="0"/>
              <a:t>colite microscopique  </a:t>
            </a:r>
            <a:endParaRPr lang="fr-FR" sz="1900" dirty="0"/>
          </a:p>
          <a:p>
            <a:pPr lvl="1">
              <a:buFont typeface="Wingdings" panose="05000000000000000000" pitchFamily="2" charset="2"/>
              <a:buChar char="v"/>
            </a:pPr>
            <a:r>
              <a:rPr lang="fr-FR" sz="1900" dirty="0"/>
              <a:t>La prévalence de la MC est également accrue chez les personnes atteintes de </a:t>
            </a:r>
            <a:r>
              <a:rPr lang="fr-FR" sz="1900" b="1" dirty="0"/>
              <a:t>troubles génétiques et chromosomiques</a:t>
            </a:r>
            <a:r>
              <a:rPr lang="fr-FR" sz="1900" dirty="0"/>
              <a:t>, en particulier le </a:t>
            </a:r>
            <a:r>
              <a:rPr lang="fr-FR" sz="1900" dirty="0">
                <a:solidFill>
                  <a:srgbClr val="C00000"/>
                </a:solidFill>
              </a:rPr>
              <a:t>déficit sélectif en IgA</a:t>
            </a:r>
            <a:r>
              <a:rPr lang="fr-FR" sz="1900" dirty="0"/>
              <a:t>, </a:t>
            </a:r>
            <a:r>
              <a:rPr lang="fr-FR" sz="1900" dirty="0">
                <a:solidFill>
                  <a:srgbClr val="C00000"/>
                </a:solidFill>
              </a:rPr>
              <a:t>le syndrome de Down, le syndrome de Turner</a:t>
            </a:r>
          </a:p>
          <a:p>
            <a:pPr>
              <a:buFont typeface="Wingdings" panose="05000000000000000000" pitchFamily="2" charset="2"/>
              <a:buChar char="Ø"/>
            </a:pPr>
            <a:endParaRPr lang="fr-FR" sz="1900" dirty="0">
              <a:solidFill>
                <a:srgbClr val="C00000"/>
              </a:solidFill>
            </a:endParaRPr>
          </a:p>
          <a:p>
            <a:pPr>
              <a:buFont typeface="Wingdings" panose="05000000000000000000" pitchFamily="2" charset="2"/>
              <a:buChar char="Ø"/>
            </a:pPr>
            <a:r>
              <a:rPr lang="fr-FR" sz="1900" dirty="0">
                <a:solidFill>
                  <a:srgbClr val="C00000"/>
                </a:solidFill>
              </a:rPr>
              <a:t> </a:t>
            </a:r>
            <a:r>
              <a:rPr lang="fr-FR" sz="1900" b="1" dirty="0">
                <a:solidFill>
                  <a:srgbClr val="C00000"/>
                </a:solidFill>
              </a:rPr>
              <a:t>L'ensemble des manifestations, complications et comorbidités mentionnées précédemment justifie un dépistage sérologique de la maladie cœliaque</a:t>
            </a:r>
            <a:endParaRPr lang="fr-FR" sz="1900" dirty="0">
              <a:solidFill>
                <a:srgbClr val="C00000"/>
              </a:solidFill>
            </a:endParaRPr>
          </a:p>
          <a:p>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16</a:t>
            </a:fld>
            <a:endParaRPr lang="fr-FR"/>
          </a:p>
        </p:txBody>
      </p:sp>
      <p:pic>
        <p:nvPicPr>
          <p:cNvPr id="2052" name="Picture 4" descr="Traitements et prévention du psoriasis : conseils pratiqu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8144" y="1412776"/>
            <a:ext cx="3168352" cy="1800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8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animEffect transition="in" filter="fade">
                                      <p:cBhvr>
                                        <p:cTn id="7" dur="1000"/>
                                        <p:tgtEl>
                                          <p:spTgt spid="3">
                                            <p:txEl>
                                              <p:pRg st="14" end="14"/>
                                            </p:txEl>
                                          </p:spTgt>
                                        </p:tgtEl>
                                      </p:cBhvr>
                                    </p:animEffect>
                                    <p:anim calcmode="lin" valueType="num">
                                      <p:cBhvr>
                                        <p:cTn id="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17</a:t>
            </a:fld>
            <a:endParaRPr lang="fr-FR"/>
          </a:p>
        </p:txBody>
      </p:sp>
      <p:pic>
        <p:nvPicPr>
          <p:cNvPr id="1026" name="Picture 2" descr="Extra-Intestinal Manifestations of Celiac Disease: What Should We Know in  2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504" y="764704"/>
            <a:ext cx="8072952"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4494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23528" y="404664"/>
            <a:ext cx="8640960" cy="6262836"/>
          </a:xfrm>
        </p:spPr>
        <p:txBody>
          <a:bodyPr>
            <a:normAutofit/>
          </a:bodyPr>
          <a:lstStyle/>
          <a:p>
            <a:pPr algn="ctr"/>
            <a:r>
              <a:rPr lang="fr-FR" dirty="0">
                <a:solidFill>
                  <a:srgbClr val="FF0000"/>
                </a:solidFill>
              </a:rPr>
              <a:t>Quand faire un test </a:t>
            </a:r>
            <a:r>
              <a:rPr lang="fr-FR" dirty="0" smtClean="0">
                <a:solidFill>
                  <a:srgbClr val="FF0000"/>
                </a:solidFill>
              </a:rPr>
              <a:t>?</a:t>
            </a:r>
          </a:p>
          <a:p>
            <a:pPr algn="ctr"/>
            <a:endParaRPr lang="fr-FR" dirty="0">
              <a:solidFill>
                <a:srgbClr val="FF0000"/>
              </a:solidFill>
            </a:endParaRPr>
          </a:p>
          <a:p>
            <a:pPr lvl="1">
              <a:buFont typeface="Wingdings" panose="05000000000000000000" pitchFamily="2" charset="2"/>
              <a:buChar char="Ø"/>
            </a:pPr>
            <a:r>
              <a:rPr lang="fr-FR" sz="2000" dirty="0" smtClean="0"/>
              <a:t>Signes/symptômes </a:t>
            </a:r>
            <a:r>
              <a:rPr lang="fr-FR" sz="2000" dirty="0"/>
              <a:t>de malabsorption</a:t>
            </a:r>
          </a:p>
          <a:p>
            <a:pPr lvl="1">
              <a:buFont typeface="Wingdings" panose="05000000000000000000" pitchFamily="2" charset="2"/>
              <a:buChar char="Ø"/>
            </a:pPr>
            <a:r>
              <a:rPr lang="fr-FR" sz="2000" dirty="0" smtClean="0"/>
              <a:t>Diarrhée </a:t>
            </a:r>
            <a:r>
              <a:rPr lang="fr-FR" sz="2000" dirty="0"/>
              <a:t>chronique et perte de poids</a:t>
            </a:r>
          </a:p>
          <a:p>
            <a:pPr lvl="1">
              <a:buFont typeface="Wingdings" panose="05000000000000000000" pitchFamily="2" charset="2"/>
              <a:buChar char="Ø"/>
            </a:pPr>
            <a:r>
              <a:rPr lang="fr-FR" sz="2000" dirty="0" smtClean="0"/>
              <a:t>Douleurs </a:t>
            </a:r>
            <a:r>
              <a:rPr lang="fr-FR" sz="2000" dirty="0"/>
              <a:t>abdominales et ballonnements postprandiaux</a:t>
            </a:r>
          </a:p>
          <a:p>
            <a:pPr lvl="1">
              <a:buFont typeface="Wingdings" panose="05000000000000000000" pitchFamily="2" charset="2"/>
              <a:buChar char="Ø"/>
            </a:pPr>
            <a:r>
              <a:rPr lang="fr-FR" sz="2000" dirty="0" smtClean="0"/>
              <a:t>Anémie ferriprive inexpliqué</a:t>
            </a:r>
            <a:endParaRPr lang="fr-FR" sz="2000" dirty="0"/>
          </a:p>
          <a:p>
            <a:pPr lvl="1">
              <a:buFont typeface="Wingdings" panose="05000000000000000000" pitchFamily="2" charset="2"/>
              <a:buChar char="Ø"/>
            </a:pPr>
            <a:r>
              <a:rPr lang="fr-FR" sz="2000" dirty="0" smtClean="0"/>
              <a:t>Patients </a:t>
            </a:r>
            <a:r>
              <a:rPr lang="fr-FR" sz="2000" dirty="0"/>
              <a:t>atteints de diabète de type 1 présentant des signes/symptômes cliniques</a:t>
            </a:r>
          </a:p>
          <a:p>
            <a:pPr lvl="1">
              <a:buFont typeface="Wingdings" panose="05000000000000000000" pitchFamily="2" charset="2"/>
              <a:buChar char="Ø"/>
            </a:pPr>
            <a:r>
              <a:rPr lang="fr-FR" sz="2000" dirty="0" smtClean="0"/>
              <a:t>Cytolyse inexpliquée </a:t>
            </a:r>
            <a:r>
              <a:rPr lang="fr-FR" sz="2000" dirty="0"/>
              <a:t>ou pancréatite récurrente</a:t>
            </a:r>
          </a:p>
          <a:p>
            <a:pPr lvl="1">
              <a:buFont typeface="Wingdings" panose="05000000000000000000" pitchFamily="2" charset="2"/>
              <a:buChar char="Ø"/>
            </a:pPr>
            <a:r>
              <a:rPr lang="fr-FR" sz="2000" dirty="0" smtClean="0"/>
              <a:t>Parents </a:t>
            </a:r>
            <a:r>
              <a:rPr lang="fr-FR" sz="2000" dirty="0"/>
              <a:t>au premier degré présentant des signes/symptômes possibles de MC</a:t>
            </a:r>
          </a:p>
          <a:p>
            <a:pPr lvl="1">
              <a:buFont typeface="Wingdings" panose="05000000000000000000" pitchFamily="2" charset="2"/>
              <a:buChar char="Ø"/>
            </a:pPr>
            <a:r>
              <a:rPr lang="fr-FR" sz="2000" dirty="0" smtClean="0"/>
              <a:t>Envisager </a:t>
            </a:r>
            <a:r>
              <a:rPr lang="fr-FR" sz="2000" dirty="0"/>
              <a:t>de tester les parents au premier degré asymptomatiques</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18</a:t>
            </a:fld>
            <a:endParaRPr lang="fr-FR"/>
          </a:p>
        </p:txBody>
      </p:sp>
    </p:spTree>
    <p:extLst>
      <p:ext uri="{BB962C8B-B14F-4D97-AF65-F5344CB8AC3E}">
        <p14:creationId xmlns:p14="http://schemas.microsoft.com/office/powerpoint/2010/main" val="16946470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260648"/>
            <a:ext cx="9144000" cy="6597352"/>
          </a:xfrm>
        </p:spPr>
        <p:txBody>
          <a:bodyPr>
            <a:normAutofit/>
          </a:bodyPr>
          <a:lstStyle/>
          <a:p>
            <a:r>
              <a:rPr lang="fr-FR" sz="2400" b="1" dirty="0">
                <a:solidFill>
                  <a:srgbClr val="FF0000"/>
                </a:solidFill>
              </a:rPr>
              <a:t>Diagnostic </a:t>
            </a:r>
            <a:endParaRPr lang="fr-FR" sz="2400" dirty="0">
              <a:solidFill>
                <a:srgbClr val="FF0000"/>
              </a:solidFill>
            </a:endParaRPr>
          </a:p>
          <a:p>
            <a:pPr>
              <a:buFont typeface="Wingdings" panose="05000000000000000000" pitchFamily="2" charset="2"/>
              <a:buChar char="q"/>
            </a:pPr>
            <a:r>
              <a:rPr lang="fr-FR" sz="2400" dirty="0" smtClean="0">
                <a:solidFill>
                  <a:srgbClr val="0070C0"/>
                </a:solidFill>
              </a:rPr>
              <a:t>Marqueurs sérologiques :</a:t>
            </a:r>
            <a:r>
              <a:rPr lang="fr-FR" sz="2400" dirty="0" smtClean="0"/>
              <a:t>jouent </a:t>
            </a:r>
            <a:r>
              <a:rPr lang="fr-FR" sz="2400" dirty="0"/>
              <a:t>aujourd'hui un rôle central dans le </a:t>
            </a:r>
            <a:r>
              <a:rPr lang="fr-FR" sz="2400" dirty="0" smtClean="0"/>
              <a:t>diagnostic</a:t>
            </a:r>
          </a:p>
          <a:p>
            <a:pPr>
              <a:buFont typeface="Wingdings" panose="05000000000000000000" pitchFamily="2" charset="2"/>
              <a:buChar char="q"/>
            </a:pPr>
            <a:endParaRPr lang="fr-FR" sz="2400" dirty="0"/>
          </a:p>
          <a:p>
            <a:pPr marL="457200" indent="-457200">
              <a:buFont typeface="+mj-lt"/>
              <a:buAutoNum type="alphaUcPeriod"/>
            </a:pPr>
            <a:r>
              <a:rPr lang="fr-FR" sz="2400" b="1" i="1" dirty="0">
                <a:solidFill>
                  <a:srgbClr val="00B050"/>
                </a:solidFill>
              </a:rPr>
              <a:t>Les anticorps anti-transglutaminase 2 (TG2</a:t>
            </a:r>
            <a:r>
              <a:rPr lang="fr-FR" sz="2400" b="1" i="1" dirty="0" smtClean="0">
                <a:solidFill>
                  <a:srgbClr val="00B050"/>
                </a:solidFill>
              </a:rPr>
              <a:t>):</a:t>
            </a:r>
          </a:p>
          <a:p>
            <a:pPr marL="0" indent="0">
              <a:buNone/>
            </a:pPr>
            <a:r>
              <a:rPr lang="fr-FR" sz="2400" dirty="0" smtClean="0">
                <a:solidFill>
                  <a:srgbClr val="00B050"/>
                </a:solidFill>
              </a:rPr>
              <a:t> </a:t>
            </a:r>
          </a:p>
          <a:p>
            <a:pPr lvl="1">
              <a:buFont typeface="Wingdings" panose="05000000000000000000" pitchFamily="2" charset="2"/>
              <a:buChar char="Ø"/>
            </a:pPr>
            <a:r>
              <a:rPr lang="fr-FR" sz="2200" dirty="0" smtClean="0"/>
              <a:t>sont </a:t>
            </a:r>
            <a:r>
              <a:rPr lang="fr-FR" sz="2200" dirty="0"/>
              <a:t>dirigés contre l'autoantigène majeur de la maladie cœliaque. </a:t>
            </a:r>
            <a:endParaRPr lang="fr-FR" sz="2200" dirty="0" smtClean="0"/>
          </a:p>
          <a:p>
            <a:pPr lvl="1">
              <a:buFont typeface="Wingdings" panose="05000000000000000000" pitchFamily="2" charset="2"/>
              <a:buChar char="Ø"/>
            </a:pPr>
            <a:r>
              <a:rPr lang="fr-FR" sz="2200" dirty="0" smtClean="0"/>
              <a:t>La </a:t>
            </a:r>
            <a:r>
              <a:rPr lang="fr-FR" sz="2200" dirty="0"/>
              <a:t>présence </a:t>
            </a:r>
            <a:r>
              <a:rPr lang="fr-FR" sz="2200" dirty="0" err="1"/>
              <a:t>d'IgA</a:t>
            </a:r>
            <a:r>
              <a:rPr lang="fr-FR" sz="2200" dirty="0"/>
              <a:t> anti-TG2 est très sensible et spécifique de la maladie cœliaque active (&gt; 95 %). </a:t>
            </a:r>
            <a:endParaRPr lang="fr-FR" sz="2200" dirty="0" smtClean="0"/>
          </a:p>
          <a:p>
            <a:pPr lvl="1">
              <a:buFont typeface="Wingdings" panose="05000000000000000000" pitchFamily="2" charset="2"/>
              <a:buChar char="Ø"/>
            </a:pPr>
            <a:r>
              <a:rPr lang="fr-FR" sz="2200" dirty="0" smtClean="0"/>
              <a:t>La </a:t>
            </a:r>
            <a:r>
              <a:rPr lang="fr-FR" sz="2200" dirty="0"/>
              <a:t>recherche de ces anticorps, associée ou précédée d'une mesure des IgA sériques totales pour exclure un déficit sélectif en IgA, est considérée comme le meilleur test de dépistage de premier niveau de la maladie cœliaque.</a:t>
            </a:r>
          </a:p>
          <a:p>
            <a:pPr lvl="1">
              <a:buFont typeface="Wingdings" panose="05000000000000000000" pitchFamily="2" charset="2"/>
              <a:buChar char="Ø"/>
            </a:pPr>
            <a:r>
              <a:rPr lang="fr-FR" sz="2200" dirty="0"/>
              <a:t> </a:t>
            </a:r>
            <a:r>
              <a:rPr lang="fr-FR" sz="2200" dirty="0">
                <a:solidFill>
                  <a:srgbClr val="C00000"/>
                </a:solidFill>
              </a:rPr>
              <a:t>Une concentration élevée </a:t>
            </a:r>
            <a:r>
              <a:rPr lang="fr-FR" sz="2200" dirty="0" err="1">
                <a:solidFill>
                  <a:srgbClr val="C00000"/>
                </a:solidFill>
              </a:rPr>
              <a:t>d'IgA</a:t>
            </a:r>
            <a:r>
              <a:rPr lang="fr-FR" sz="2200" dirty="0">
                <a:solidFill>
                  <a:srgbClr val="C00000"/>
                </a:solidFill>
              </a:rPr>
              <a:t> sérique anti-TG2 est fortement associée à la présence d'une atrophie </a:t>
            </a:r>
            <a:r>
              <a:rPr lang="fr-FR" sz="2200" dirty="0" smtClean="0">
                <a:solidFill>
                  <a:srgbClr val="C00000"/>
                </a:solidFill>
              </a:rPr>
              <a:t>villositaire</a:t>
            </a:r>
          </a:p>
          <a:p>
            <a:pPr lvl="1">
              <a:buFont typeface="Wingdings" panose="05000000000000000000" pitchFamily="2" charset="2"/>
              <a:buChar char="Ø"/>
            </a:pPr>
            <a:r>
              <a:rPr lang="fr-FR" sz="2200" dirty="0" smtClean="0"/>
              <a:t>La </a:t>
            </a:r>
            <a:r>
              <a:rPr lang="fr-FR" sz="2200" dirty="0"/>
              <a:t>recherche </a:t>
            </a:r>
            <a:r>
              <a:rPr lang="fr-FR" sz="2200" dirty="0" err="1">
                <a:solidFill>
                  <a:srgbClr val="C00000"/>
                </a:solidFill>
              </a:rPr>
              <a:t>d'IgG</a:t>
            </a:r>
            <a:r>
              <a:rPr lang="fr-FR" sz="2200" dirty="0"/>
              <a:t> anti-TG2, peut être indiquée chez les personnes présentant un déficit sélectif en IgA.  </a:t>
            </a:r>
          </a:p>
          <a:p>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19</a:t>
            </a:fld>
            <a:endParaRPr lang="fr-F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
          </p:nvPr>
        </p:nvSpPr>
        <p:spPr>
          <a:xfrm>
            <a:off x="0" y="188640"/>
            <a:ext cx="8964488" cy="6480720"/>
          </a:xfrm>
        </p:spPr>
        <p:txBody>
          <a:bodyPr>
            <a:normAutofit/>
          </a:bodyPr>
          <a:lstStyle/>
          <a:p>
            <a:pPr marL="0" indent="0">
              <a:buNone/>
            </a:pPr>
            <a:r>
              <a:rPr lang="fr-FR" b="1" dirty="0">
                <a:solidFill>
                  <a:srgbClr val="00B050"/>
                </a:solidFill>
              </a:rPr>
              <a:t> </a:t>
            </a:r>
            <a:endParaRPr lang="fr-FR" b="1" dirty="0" smtClean="0">
              <a:solidFill>
                <a:srgbClr val="00B050"/>
              </a:solidFill>
            </a:endParaRPr>
          </a:p>
          <a:p>
            <a:pPr marL="514350" indent="-514350">
              <a:buFont typeface="+mj-lt"/>
              <a:buAutoNum type="alphaUcPeriod" startAt="2"/>
            </a:pPr>
            <a:r>
              <a:rPr lang="fr-FR" dirty="0" smtClean="0">
                <a:solidFill>
                  <a:srgbClr val="00B050"/>
                </a:solidFill>
              </a:rPr>
              <a:t>L'anticorps </a:t>
            </a:r>
            <a:r>
              <a:rPr lang="fr-FR" dirty="0">
                <a:solidFill>
                  <a:srgbClr val="00B050"/>
                </a:solidFill>
              </a:rPr>
              <a:t>anti-endomysium (EMA) </a:t>
            </a:r>
            <a:endParaRPr lang="fr-FR" dirty="0" smtClean="0">
              <a:solidFill>
                <a:srgbClr val="00B050"/>
              </a:solidFill>
            </a:endParaRPr>
          </a:p>
          <a:p>
            <a:pPr marL="617220" lvl="1" indent="-342900">
              <a:buFont typeface="Wingdings" panose="05000000000000000000" pitchFamily="2" charset="2"/>
              <a:buChar char="Ø"/>
            </a:pPr>
            <a:r>
              <a:rPr lang="fr-FR" dirty="0" smtClean="0"/>
              <a:t>de </a:t>
            </a:r>
            <a:r>
              <a:rPr lang="fr-FR" dirty="0"/>
              <a:t>classe IgA est dirigé contre l'antigène TG2 présent dans </a:t>
            </a:r>
            <a:r>
              <a:rPr lang="fr-FR" dirty="0" smtClean="0"/>
              <a:t>l'endomysium</a:t>
            </a:r>
          </a:p>
          <a:p>
            <a:pPr marL="274320" lvl="1" indent="0">
              <a:buNone/>
            </a:pPr>
            <a:r>
              <a:rPr lang="fr-FR" dirty="0" smtClean="0"/>
              <a:t>  </a:t>
            </a:r>
          </a:p>
          <a:p>
            <a:pPr marL="617220" lvl="1" indent="-342900">
              <a:buFont typeface="Wingdings" panose="05000000000000000000" pitchFamily="2" charset="2"/>
              <a:buChar char="Ø"/>
            </a:pPr>
            <a:r>
              <a:rPr lang="fr-FR" dirty="0" smtClean="0"/>
              <a:t>La </a:t>
            </a:r>
            <a:r>
              <a:rPr lang="fr-FR" dirty="0"/>
              <a:t>spécificité de l'EMA IgA est proche de 100 %, supérieure même à celle de l'IgA anti-TG2</a:t>
            </a:r>
            <a:r>
              <a:rPr lang="fr-FR" dirty="0" smtClean="0"/>
              <a:t>.</a:t>
            </a:r>
          </a:p>
          <a:p>
            <a:pPr marL="617220" lvl="1" indent="-342900">
              <a:buFont typeface="Wingdings" panose="05000000000000000000" pitchFamily="2" charset="2"/>
              <a:buChar char="Ø"/>
            </a:pPr>
            <a:endParaRPr lang="fr-FR" dirty="0"/>
          </a:p>
          <a:p>
            <a:pPr marL="617220" lvl="1" indent="-342900">
              <a:buFont typeface="Wingdings" panose="05000000000000000000" pitchFamily="2" charset="2"/>
              <a:buChar char="Ø"/>
            </a:pPr>
            <a:r>
              <a:rPr lang="fr-FR" dirty="0" smtClean="0"/>
              <a:t> il </a:t>
            </a:r>
            <a:r>
              <a:rPr lang="fr-FR" dirty="0"/>
              <a:t>ne convient pas au </a:t>
            </a:r>
            <a:r>
              <a:rPr lang="fr-FR" dirty="0" smtClean="0"/>
              <a:t>dépistage, </a:t>
            </a:r>
            <a:r>
              <a:rPr lang="fr-FR" dirty="0"/>
              <a:t>mais constitue un excellent test de confirmation.</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3" name="Espace réservé du numéro de diapositive 2"/>
          <p:cNvSpPr>
            <a:spLocks noGrp="1"/>
          </p:cNvSpPr>
          <p:nvPr>
            <p:ph type="sldNum" sz="quarter" idx="12"/>
          </p:nvPr>
        </p:nvSpPr>
        <p:spPr/>
        <p:txBody>
          <a:bodyPr/>
          <a:lstStyle/>
          <a:p>
            <a:fld id="{E45DE23A-236E-47DD-9286-7BC7C2C86D6D}" type="slidenum">
              <a:rPr lang="fr-FR" smtClean="0"/>
              <a:pPr/>
              <a:t>20</a:t>
            </a:fld>
            <a:endParaRPr lang="fr-F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620688"/>
            <a:ext cx="8712968" cy="6048672"/>
          </a:xfrm>
        </p:spPr>
        <p:txBody>
          <a:bodyPr>
            <a:normAutofit/>
          </a:bodyPr>
          <a:lstStyle/>
          <a:p>
            <a:pPr marL="457200" indent="-457200">
              <a:buFont typeface="+mj-lt"/>
              <a:buAutoNum type="alphaUcPeriod" startAt="3"/>
            </a:pPr>
            <a:r>
              <a:rPr lang="fr-FR" sz="2400" dirty="0">
                <a:solidFill>
                  <a:srgbClr val="00B050"/>
                </a:solidFill>
              </a:rPr>
              <a:t> L'anticorps anti-peptide gliadine désamidé (DGP) : </a:t>
            </a:r>
            <a:endParaRPr lang="fr-FR" sz="2400" dirty="0" smtClean="0">
              <a:solidFill>
                <a:srgbClr val="00B050"/>
              </a:solidFill>
            </a:endParaRPr>
          </a:p>
          <a:p>
            <a:pPr marL="457200" indent="-457200">
              <a:buFont typeface="+mj-lt"/>
              <a:buAutoNum type="alphaUcPeriod" startAt="3"/>
            </a:pPr>
            <a:endParaRPr lang="fr-FR" sz="2400" dirty="0" smtClean="0">
              <a:solidFill>
                <a:srgbClr val="00B050"/>
              </a:solidFill>
            </a:endParaRPr>
          </a:p>
          <a:p>
            <a:pPr>
              <a:buFont typeface="Wingdings" panose="05000000000000000000" pitchFamily="2" charset="2"/>
              <a:buChar char="Ø"/>
            </a:pPr>
            <a:r>
              <a:rPr lang="fr-FR" sz="2400" dirty="0" smtClean="0"/>
              <a:t>de </a:t>
            </a:r>
            <a:r>
              <a:rPr lang="fr-FR" sz="2400" dirty="0"/>
              <a:t>classe IgG est légèrement moins sensible (88 %) et spécifique (94 %) que l'anticorps IgA anti-TG2 ; </a:t>
            </a:r>
            <a:endParaRPr lang="fr-FR" sz="2400" dirty="0" smtClean="0"/>
          </a:p>
          <a:p>
            <a:pPr>
              <a:buFont typeface="Wingdings" panose="05000000000000000000" pitchFamily="2" charset="2"/>
              <a:buChar char="Ø"/>
            </a:pPr>
            <a:endParaRPr lang="fr-FR" sz="2400" dirty="0" smtClean="0"/>
          </a:p>
          <a:p>
            <a:pPr>
              <a:buFont typeface="Wingdings" panose="05000000000000000000" pitchFamily="2" charset="2"/>
              <a:buChar char="Ø"/>
            </a:pPr>
            <a:r>
              <a:rPr lang="fr-FR" sz="2400" dirty="0" smtClean="0"/>
              <a:t>le </a:t>
            </a:r>
            <a:r>
              <a:rPr lang="fr-FR" sz="2400" dirty="0"/>
              <a:t>dépistage des IgG </a:t>
            </a:r>
            <a:r>
              <a:rPr lang="fr-FR" sz="2400" dirty="0" err="1"/>
              <a:t>anti-DGP</a:t>
            </a:r>
            <a:r>
              <a:rPr lang="fr-FR" sz="2400" dirty="0"/>
              <a:t> peut convenir </a:t>
            </a:r>
            <a:r>
              <a:rPr lang="fr-FR" sz="2400" dirty="0" smtClean="0"/>
              <a:t>aux:</a:t>
            </a:r>
          </a:p>
          <a:p>
            <a:pPr lvl="1">
              <a:buFont typeface="Wingdings" panose="05000000000000000000" pitchFamily="2" charset="2"/>
              <a:buChar char="v"/>
            </a:pPr>
            <a:r>
              <a:rPr lang="fr-FR" sz="2200" dirty="0" smtClean="0"/>
              <a:t> </a:t>
            </a:r>
            <a:r>
              <a:rPr lang="fr-FR" sz="2200" dirty="0"/>
              <a:t>patients présentant un déficit sélectif en IgA </a:t>
            </a:r>
            <a:endParaRPr lang="fr-FR" sz="2200" dirty="0" smtClean="0"/>
          </a:p>
          <a:p>
            <a:pPr lvl="1">
              <a:buFont typeface="Wingdings" panose="05000000000000000000" pitchFamily="2" charset="2"/>
              <a:buChar char="v"/>
            </a:pPr>
            <a:r>
              <a:rPr lang="fr-FR" sz="2200" dirty="0" smtClean="0"/>
              <a:t>enfants </a:t>
            </a:r>
            <a:r>
              <a:rPr lang="fr-FR" sz="2200" dirty="0"/>
              <a:t>de moins de 2 ans, </a:t>
            </a:r>
            <a:endParaRPr lang="fr-FR" sz="2200" dirty="0" smtClean="0"/>
          </a:p>
          <a:p>
            <a:pPr lvl="1">
              <a:buFont typeface="Wingdings" panose="05000000000000000000" pitchFamily="2" charset="2"/>
              <a:buChar char="v"/>
            </a:pPr>
            <a:endParaRPr lang="fr-FR" sz="2200" dirty="0" smtClean="0"/>
          </a:p>
          <a:p>
            <a:pPr marL="0" indent="0">
              <a:buNone/>
            </a:pPr>
            <a:r>
              <a:rPr lang="fr-FR" sz="2400" dirty="0" smtClean="0"/>
              <a:t>car </a:t>
            </a:r>
            <a:r>
              <a:rPr lang="fr-FR" sz="2400" dirty="0"/>
              <a:t>l'apparition des IgG </a:t>
            </a:r>
            <a:r>
              <a:rPr lang="fr-FR" sz="2400" dirty="0" err="1"/>
              <a:t>anti-DGP</a:t>
            </a:r>
            <a:r>
              <a:rPr lang="fr-FR" sz="2400" dirty="0"/>
              <a:t> peut précéder celle des IgA anti-TG2. </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21</a:t>
            </a:fld>
            <a:endParaRPr lang="fr-F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8"/>
          <p:cNvSpPr>
            <a:spLocks noGrp="1"/>
          </p:cNvSpPr>
          <p:nvPr>
            <p:ph sz="quarter" idx="1"/>
          </p:nvPr>
        </p:nvSpPr>
        <p:spPr>
          <a:xfrm>
            <a:off x="0" y="116632"/>
            <a:ext cx="9144000" cy="6336704"/>
          </a:xfrm>
        </p:spPr>
        <p:txBody>
          <a:bodyPr>
            <a:normAutofit/>
          </a:bodyPr>
          <a:lstStyle/>
          <a:p>
            <a:endParaRPr lang="fr-FR" sz="2400" b="1" i="1" dirty="0" smtClean="0">
              <a:solidFill>
                <a:srgbClr val="00B0F0"/>
              </a:solidFill>
            </a:endParaRPr>
          </a:p>
          <a:p>
            <a:pPr marL="0" indent="0" algn="ctr">
              <a:buNone/>
            </a:pPr>
            <a:r>
              <a:rPr lang="fr-FR" sz="2400" b="1" i="1" dirty="0" smtClean="0"/>
              <a:t>     </a:t>
            </a:r>
            <a:endParaRPr lang="fr-FR" sz="2400" dirty="0"/>
          </a:p>
          <a:p>
            <a:pPr marL="731520" lvl="1" indent="-457200">
              <a:buFont typeface="+mj-lt"/>
              <a:buAutoNum type="arabicParenR"/>
            </a:pPr>
            <a:endParaRPr lang="fr-FR" i="1" dirty="0" smtClean="0"/>
          </a:p>
          <a:p>
            <a:pPr marL="274320" lvl="1" indent="0">
              <a:buNone/>
            </a:pPr>
            <a:r>
              <a:rPr lang="fr-FR" i="1" dirty="0" smtClean="0"/>
              <a:t> </a:t>
            </a:r>
          </a:p>
          <a:p>
            <a:pPr marL="731520" lvl="1" indent="-457200">
              <a:buFont typeface="+mj-lt"/>
              <a:buAutoNum type="arabicParenR"/>
            </a:pPr>
            <a:r>
              <a:rPr lang="fr-FR" i="1" dirty="0" smtClean="0"/>
              <a:t>Le </a:t>
            </a:r>
            <a:r>
              <a:rPr lang="fr-FR" i="1" dirty="0"/>
              <a:t>dosage des anticorps IgA anti-transglutaminase tissulaire (TG2) </a:t>
            </a:r>
            <a:r>
              <a:rPr lang="fr-FR" i="1" dirty="0">
                <a:solidFill>
                  <a:srgbClr val="C00000"/>
                </a:solidFill>
              </a:rPr>
              <a:t>comme test unique pour le dépistage initial de la maladie cœliaque, quel que soit l’âge</a:t>
            </a:r>
            <a:r>
              <a:rPr lang="fr-FR" i="1" dirty="0" smtClean="0">
                <a:solidFill>
                  <a:srgbClr val="C00000"/>
                </a:solidFill>
              </a:rPr>
              <a:t>.</a:t>
            </a:r>
          </a:p>
          <a:p>
            <a:pPr marL="731520" lvl="1" indent="-457200">
              <a:buFont typeface="+mj-lt"/>
              <a:buAutoNum type="arabicParenR"/>
            </a:pPr>
            <a:endParaRPr lang="fr-FR" i="1" dirty="0">
              <a:solidFill>
                <a:srgbClr val="C00000"/>
              </a:solidFill>
            </a:endParaRPr>
          </a:p>
          <a:p>
            <a:pPr marL="731520" lvl="1" indent="-457200">
              <a:buFont typeface="+mj-lt"/>
              <a:buAutoNum type="arabicParenR"/>
            </a:pPr>
            <a:r>
              <a:rPr lang="fr-FR" i="1" dirty="0" smtClean="0"/>
              <a:t> </a:t>
            </a:r>
            <a:r>
              <a:rPr lang="fr-FR" i="1" dirty="0" smtClean="0">
                <a:solidFill>
                  <a:srgbClr val="C00000"/>
                </a:solidFill>
              </a:rPr>
              <a:t>Le </a:t>
            </a:r>
            <a:r>
              <a:rPr lang="fr-FR" i="1" dirty="0">
                <a:solidFill>
                  <a:srgbClr val="C00000"/>
                </a:solidFill>
              </a:rPr>
              <a:t>dosage simultané des IgA </a:t>
            </a:r>
            <a:r>
              <a:rPr lang="fr-FR" i="1" dirty="0"/>
              <a:t>totales pour exclure un déficit en IgA</a:t>
            </a:r>
            <a:r>
              <a:rPr lang="fr-FR" i="1" dirty="0" smtClean="0"/>
              <a:t>.</a:t>
            </a:r>
          </a:p>
          <a:p>
            <a:pPr marL="731520" lvl="1" indent="-457200">
              <a:buFont typeface="+mj-lt"/>
              <a:buAutoNum type="arabicParenR"/>
            </a:pPr>
            <a:endParaRPr lang="fr-FR" i="1" dirty="0"/>
          </a:p>
          <a:p>
            <a:pPr marL="731520" lvl="1" indent="-457200">
              <a:buFont typeface="+mj-lt"/>
              <a:buAutoNum type="arabicParenR"/>
            </a:pPr>
            <a:r>
              <a:rPr lang="fr-FR" i="1" dirty="0" smtClean="0"/>
              <a:t> Réaliser </a:t>
            </a:r>
            <a:r>
              <a:rPr lang="fr-FR" i="1" dirty="0"/>
              <a:t>le test lorsque le patient suit un </a:t>
            </a:r>
            <a:r>
              <a:rPr lang="fr-FR" i="1" dirty="0">
                <a:solidFill>
                  <a:srgbClr val="C00000"/>
                </a:solidFill>
              </a:rPr>
              <a:t>régime contenant du gluten.</a:t>
            </a:r>
          </a:p>
          <a:p>
            <a:pPr lvl="1">
              <a:buNone/>
            </a:pPr>
            <a:endParaRPr lang="fr-FR" sz="24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3" name="Espace réservé du numéro de diapositive 2"/>
          <p:cNvSpPr>
            <a:spLocks noGrp="1"/>
          </p:cNvSpPr>
          <p:nvPr>
            <p:ph type="sldNum" sz="quarter" idx="12"/>
          </p:nvPr>
        </p:nvSpPr>
        <p:spPr/>
        <p:txBody>
          <a:bodyPr/>
          <a:lstStyle/>
          <a:p>
            <a:fld id="{E45DE23A-236E-47DD-9286-7BC7C2C86D6D}" type="slidenum">
              <a:rPr lang="fr-FR" smtClean="0"/>
              <a:pPr/>
              <a:t>22</a:t>
            </a:fld>
            <a:endParaRPr lang="fr-FR"/>
          </a:p>
        </p:txBody>
      </p:sp>
      <p:sp>
        <p:nvSpPr>
          <p:cNvPr id="4" name="Rectangle à coins arrondis 3"/>
          <p:cNvSpPr/>
          <p:nvPr/>
        </p:nvSpPr>
        <p:spPr>
          <a:xfrm>
            <a:off x="2627784" y="476672"/>
            <a:ext cx="3384376"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2000" b="1" i="1" dirty="0" smtClean="0">
              <a:solidFill>
                <a:srgbClr val="C00000"/>
              </a:solidFill>
            </a:endParaRPr>
          </a:p>
          <a:p>
            <a:pPr algn="ctr"/>
            <a:r>
              <a:rPr lang="fr-FR" sz="2000" b="1" i="1" dirty="0" smtClean="0">
                <a:solidFill>
                  <a:srgbClr val="C00000"/>
                </a:solidFill>
              </a:rPr>
              <a:t>recommandations</a:t>
            </a:r>
            <a:r>
              <a:rPr lang="fr-FR" sz="2000" b="1" i="1" dirty="0">
                <a:solidFill>
                  <a:srgbClr val="C00000"/>
                </a:solidFill>
              </a:rPr>
              <a:t> :</a:t>
            </a:r>
          </a:p>
          <a:p>
            <a:pPr algn="ctr"/>
            <a:endParaRPr lang="fr-FR"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0"/>
            <a:ext cx="9144000" cy="6597352"/>
          </a:xfrm>
        </p:spPr>
        <p:txBody>
          <a:bodyPr>
            <a:normAutofit/>
          </a:bodyPr>
          <a:lstStyle/>
          <a:p>
            <a:pPr>
              <a:buNone/>
            </a:pPr>
            <a:endParaRPr lang="fr-FR" sz="2400" b="1" i="1" dirty="0" smtClean="0"/>
          </a:p>
          <a:p>
            <a:pPr marL="617220" lvl="1" indent="-342900">
              <a:buClr>
                <a:srgbClr val="0070C0"/>
              </a:buClr>
              <a:buSzPct val="100000"/>
              <a:buFont typeface="Wingdings" panose="05000000000000000000" pitchFamily="2" charset="2"/>
              <a:buChar char="q"/>
            </a:pPr>
            <a:r>
              <a:rPr lang="fr-FR" b="1" dirty="0">
                <a:solidFill>
                  <a:srgbClr val="0070C0"/>
                </a:solidFill>
              </a:rPr>
              <a:t>Biopsie de l'intestin grêle </a:t>
            </a:r>
            <a:r>
              <a:rPr lang="fr-FR" b="1" dirty="0" smtClean="0">
                <a:solidFill>
                  <a:srgbClr val="0070C0"/>
                </a:solidFill>
              </a:rPr>
              <a:t>:</a:t>
            </a:r>
          </a:p>
          <a:p>
            <a:pPr marL="274320" lvl="1" indent="0">
              <a:buNone/>
            </a:pPr>
            <a:endParaRPr lang="fr-FR" dirty="0">
              <a:solidFill>
                <a:srgbClr val="0070C0"/>
              </a:solidFill>
            </a:endParaRPr>
          </a:p>
          <a:p>
            <a:pPr lvl="1">
              <a:buFont typeface="Wingdings" panose="05000000000000000000" pitchFamily="2" charset="2"/>
              <a:buChar char="v"/>
            </a:pPr>
            <a:r>
              <a:rPr lang="fr-FR" sz="2000" dirty="0"/>
              <a:t>Le tableau histologique typique de la maladie cœliaque </a:t>
            </a:r>
            <a:r>
              <a:rPr lang="fr-FR" sz="2000" dirty="0" smtClean="0"/>
              <a:t>montre:</a:t>
            </a:r>
          </a:p>
          <a:p>
            <a:pPr lvl="2">
              <a:buFont typeface="Wingdings" panose="05000000000000000000" pitchFamily="2" charset="2"/>
              <a:buChar char="v"/>
            </a:pPr>
            <a:r>
              <a:rPr lang="fr-FR" sz="1800" b="1" dirty="0" smtClean="0"/>
              <a:t> </a:t>
            </a:r>
            <a:r>
              <a:rPr lang="fr-FR" sz="1800" b="1" dirty="0"/>
              <a:t>une atrophie villositaire sévère </a:t>
            </a:r>
            <a:endParaRPr lang="fr-FR" sz="1800" b="1" dirty="0" smtClean="0"/>
          </a:p>
          <a:p>
            <a:pPr lvl="2">
              <a:buFont typeface="Wingdings" panose="05000000000000000000" pitchFamily="2" charset="2"/>
              <a:buChar char="v"/>
            </a:pPr>
            <a:r>
              <a:rPr lang="fr-FR" sz="1800" b="1" dirty="0" smtClean="0"/>
              <a:t>hypertrophie </a:t>
            </a:r>
            <a:r>
              <a:rPr lang="fr-FR" sz="1800" b="1" dirty="0"/>
              <a:t>des cryptes </a:t>
            </a:r>
            <a:r>
              <a:rPr lang="fr-FR" sz="1800" b="1" dirty="0" smtClean="0"/>
              <a:t> </a:t>
            </a:r>
          </a:p>
          <a:p>
            <a:pPr lvl="2">
              <a:buFont typeface="Wingdings" panose="05000000000000000000" pitchFamily="2" charset="2"/>
              <a:buChar char="v"/>
            </a:pPr>
            <a:r>
              <a:rPr lang="fr-FR" sz="1800" b="1" dirty="0" smtClean="0"/>
              <a:t>augmentation </a:t>
            </a:r>
            <a:r>
              <a:rPr lang="fr-FR" sz="1800" b="1" dirty="0"/>
              <a:t>des lymphocytes </a:t>
            </a:r>
            <a:r>
              <a:rPr lang="fr-FR" sz="1800" b="1" dirty="0" smtClean="0"/>
              <a:t>intraépithéliaux(LIE). </a:t>
            </a:r>
          </a:p>
          <a:p>
            <a:pPr lvl="2">
              <a:buFont typeface="Wingdings" panose="05000000000000000000" pitchFamily="2" charset="2"/>
              <a:buChar char="v"/>
            </a:pPr>
            <a:endParaRPr lang="fr-FR" sz="1800" b="1" dirty="0" smtClean="0"/>
          </a:p>
          <a:p>
            <a:pPr lvl="1">
              <a:buFont typeface="Wingdings" panose="05000000000000000000" pitchFamily="2" charset="2"/>
              <a:buChar char="v"/>
            </a:pPr>
            <a:r>
              <a:rPr lang="fr-FR" sz="2000" dirty="0" smtClean="0"/>
              <a:t>Cependant</a:t>
            </a:r>
            <a:r>
              <a:rPr lang="fr-FR" sz="2000" dirty="0"/>
              <a:t>, l'entéropathie cœliaque est variable, allant de la lymphocytose duodénale </a:t>
            </a:r>
            <a:r>
              <a:rPr lang="fr-FR" sz="2000" dirty="0">
                <a:solidFill>
                  <a:srgbClr val="C00000"/>
                </a:solidFill>
              </a:rPr>
              <a:t>(augmentation isolée du nombre de lymphocytes intraépithéliaux) </a:t>
            </a:r>
            <a:r>
              <a:rPr lang="fr-FR" sz="2000" dirty="0"/>
              <a:t>à l'atrophie villositaire totale (muqueuse plate). </a:t>
            </a:r>
            <a:r>
              <a:rPr lang="fr-FR" sz="2000" dirty="0" smtClean="0"/>
              <a:t> </a:t>
            </a:r>
            <a:endParaRPr lang="fr-FR" sz="2000" dirty="0"/>
          </a:p>
          <a:p>
            <a:pPr marL="320040" lvl="1" indent="0">
              <a:buNone/>
            </a:pPr>
            <a:endParaRPr lang="fr-FR" sz="2200" dirty="0"/>
          </a:p>
        </p:txBody>
      </p:sp>
      <p:sp>
        <p:nvSpPr>
          <p:cNvPr id="4" name="Espace réservé du pied de page 3"/>
          <p:cNvSpPr>
            <a:spLocks noGrp="1"/>
          </p:cNvSpPr>
          <p:nvPr>
            <p:ph type="ftr" sz="quarter" idx="11"/>
          </p:nvPr>
        </p:nvSpPr>
        <p:spPr/>
        <p:txBody>
          <a:bodyPr/>
          <a:lstStyle/>
          <a:p>
            <a:r>
              <a:rPr lang="fr-FR" dirty="0" err="1" smtClean="0"/>
              <a:t>dr</a:t>
            </a:r>
            <a:r>
              <a:rPr lang="fr-FR" dirty="0" smtClean="0"/>
              <a:t> </a:t>
            </a:r>
            <a:r>
              <a:rPr lang="fr-FR" dirty="0" err="1" smtClean="0"/>
              <a:t>yakhlef</a:t>
            </a:r>
            <a:r>
              <a:rPr lang="fr-FR" dirty="0" smtClean="0"/>
              <a:t> smail (HMRUC2025)                        </a:t>
            </a:r>
            <a:endParaRPr lang="fr-FR" dirty="0"/>
          </a:p>
        </p:txBody>
      </p:sp>
      <p:sp>
        <p:nvSpPr>
          <p:cNvPr id="5" name="Espace réservé du numéro de diapositive 4"/>
          <p:cNvSpPr>
            <a:spLocks noGrp="1"/>
          </p:cNvSpPr>
          <p:nvPr>
            <p:ph type="sldNum" sz="quarter" idx="12"/>
          </p:nvPr>
        </p:nvSpPr>
        <p:spPr/>
        <p:txBody>
          <a:bodyPr/>
          <a:lstStyle/>
          <a:p>
            <a:fld id="{E45DE23A-236E-47DD-9286-7BC7C2C86D6D}" type="slidenum">
              <a:rPr lang="fr-FR" smtClean="0"/>
              <a:pPr/>
              <a:t>23</a:t>
            </a:fld>
            <a:endParaRPr lang="fr-F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24</a:t>
            </a:fld>
            <a:endParaRPr lang="fr-FR"/>
          </a:p>
        </p:txBody>
      </p:sp>
      <p:sp>
        <p:nvSpPr>
          <p:cNvPr id="5" name="Espace réservé du contenu 4"/>
          <p:cNvSpPr>
            <a:spLocks noGrp="1"/>
          </p:cNvSpPr>
          <p:nvPr>
            <p:ph sz="quarter" idx="1"/>
          </p:nvPr>
        </p:nvSpPr>
        <p:spPr>
          <a:xfrm>
            <a:off x="146304" y="260648"/>
            <a:ext cx="8746176" cy="6368752"/>
          </a:xfrm>
        </p:spPr>
        <p:txBody>
          <a:bodyPr/>
          <a:lstStyle/>
          <a:p>
            <a:pPr marL="274320" lvl="1" indent="-274320">
              <a:spcBef>
                <a:spcPts val="580"/>
              </a:spcBef>
              <a:buClr>
                <a:schemeClr val="accent1"/>
              </a:buClr>
              <a:buFont typeface="Wingdings" panose="05000000000000000000" pitchFamily="2" charset="2"/>
              <a:buChar char="v"/>
            </a:pPr>
            <a:endParaRPr lang="fr-FR" sz="1800" dirty="0" smtClean="0"/>
          </a:p>
          <a:p>
            <a:pPr marL="274320" lvl="1" indent="-274320">
              <a:spcBef>
                <a:spcPts val="580"/>
              </a:spcBef>
              <a:buClr>
                <a:schemeClr val="accent1"/>
              </a:buClr>
              <a:buFont typeface="Wingdings" panose="05000000000000000000" pitchFamily="2" charset="2"/>
              <a:buChar char="v"/>
            </a:pPr>
            <a:r>
              <a:rPr lang="fr-FR" sz="2000" dirty="0" smtClean="0"/>
              <a:t>Différents </a:t>
            </a:r>
            <a:r>
              <a:rPr lang="fr-FR" sz="2000" dirty="0"/>
              <a:t>scores sont utilisés dans l’évaluation des lésions histologiques dont la </a:t>
            </a:r>
            <a:r>
              <a:rPr lang="fr-FR" sz="2000" b="1" dirty="0">
                <a:solidFill>
                  <a:srgbClr val="C00000"/>
                </a:solidFill>
              </a:rPr>
              <a:t>classification de Marsh modifiée </a:t>
            </a:r>
            <a:r>
              <a:rPr lang="fr-FR" sz="2000" dirty="0"/>
              <a:t>étant la plus courante incluant la mesure du nombre de lymphocytes intraépithéliaux, de la hauteur des villosités, de la profondeur des cryptes et du rapport hauteur/profondeur des cryptes</a:t>
            </a:r>
            <a:r>
              <a:rPr lang="fr-FR" sz="2000" dirty="0" smtClean="0"/>
              <a:t>.</a:t>
            </a:r>
          </a:p>
          <a:p>
            <a:pPr marL="274320" lvl="1" indent="-274320">
              <a:spcBef>
                <a:spcPts val="580"/>
              </a:spcBef>
              <a:buClr>
                <a:schemeClr val="accent1"/>
              </a:buClr>
              <a:buFont typeface="Wingdings" panose="05000000000000000000" pitchFamily="2" charset="2"/>
              <a:buChar char="v"/>
            </a:pPr>
            <a:endParaRPr lang="fr-FR" sz="2000" dirty="0"/>
          </a:p>
          <a:p>
            <a:pPr>
              <a:buFont typeface="Wingdings" panose="05000000000000000000" pitchFamily="2" charset="2"/>
              <a:buChar char="v"/>
            </a:pPr>
            <a:r>
              <a:rPr lang="fr-FR" sz="2000" dirty="0" smtClean="0">
                <a:solidFill>
                  <a:srgbClr val="C00000"/>
                </a:solidFill>
              </a:rPr>
              <a:t>Une </a:t>
            </a:r>
            <a:r>
              <a:rPr lang="fr-FR" sz="2000" dirty="0">
                <a:solidFill>
                  <a:srgbClr val="C00000"/>
                </a:solidFill>
              </a:rPr>
              <a:t>augmentation des </a:t>
            </a:r>
            <a:r>
              <a:rPr lang="fr-FR" sz="2000" dirty="0" smtClean="0">
                <a:solidFill>
                  <a:srgbClr val="C00000"/>
                </a:solidFill>
              </a:rPr>
              <a:t>lymphocytes </a:t>
            </a:r>
            <a:r>
              <a:rPr lang="fr-FR" sz="2000" dirty="0">
                <a:solidFill>
                  <a:srgbClr val="C00000"/>
                </a:solidFill>
              </a:rPr>
              <a:t>intra-épithéliaux ≥ 25 </a:t>
            </a:r>
            <a:r>
              <a:rPr lang="fr-FR" sz="2000" dirty="0" smtClean="0">
                <a:solidFill>
                  <a:srgbClr val="C00000"/>
                </a:solidFill>
              </a:rPr>
              <a:t>% sans </a:t>
            </a:r>
            <a:r>
              <a:rPr lang="fr-FR" sz="2000" dirty="0">
                <a:solidFill>
                  <a:srgbClr val="C00000"/>
                </a:solidFill>
              </a:rPr>
              <a:t>atrophie villositaire n’est pas spécifique de la maladie cœliaque</a:t>
            </a:r>
            <a:r>
              <a:rPr lang="fr-FR" sz="2000" dirty="0"/>
              <a:t>.</a:t>
            </a:r>
          </a:p>
        </p:txBody>
      </p:sp>
      <p:sp>
        <p:nvSpPr>
          <p:cNvPr id="6" name="Rectangle à coins arrondis 5"/>
          <p:cNvSpPr/>
          <p:nvPr/>
        </p:nvSpPr>
        <p:spPr>
          <a:xfrm>
            <a:off x="1204392" y="3861048"/>
            <a:ext cx="7344816" cy="914400"/>
          </a:xfrm>
          <a:prstGeom prst="roundRect">
            <a:avLst/>
          </a:prstGeom>
          <a:solidFill>
            <a:schemeClr val="accent3">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a:t>Duodénite lymphocytaire (≥ 25 Is/100 cellules épithéliales) sans atrophie villositaire</a:t>
            </a:r>
            <a:r>
              <a:rPr lang="fr-FR" dirty="0" smtClean="0"/>
              <a:t> </a:t>
            </a:r>
            <a:r>
              <a:rPr lang="fr-FR" dirty="0"/>
              <a:t>≠ MC ⇨ envisager d'autres causes</a:t>
            </a:r>
          </a:p>
        </p:txBody>
      </p:sp>
    </p:spTree>
    <p:extLst>
      <p:ext uri="{BB962C8B-B14F-4D97-AF65-F5344CB8AC3E}">
        <p14:creationId xmlns:p14="http://schemas.microsoft.com/office/powerpoint/2010/main" val="9976671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0"/>
            <a:ext cx="8784976" cy="6669360"/>
          </a:xfrm>
        </p:spPr>
        <p:txBody>
          <a:bodyPr>
            <a:normAutofit/>
          </a:bodyPr>
          <a:lstStyle/>
          <a:p>
            <a:pPr>
              <a:buNone/>
            </a:pPr>
            <a:endParaRPr lang="fr-FR" sz="2600" b="1" i="1" dirty="0" smtClean="0">
              <a:solidFill>
                <a:srgbClr val="C00000"/>
              </a:solidFill>
            </a:endParaRPr>
          </a:p>
          <a:p>
            <a:pPr>
              <a:buNone/>
            </a:pPr>
            <a:endParaRPr lang="fr-FR" b="1" i="1" dirty="0">
              <a:solidFill>
                <a:srgbClr val="C00000"/>
              </a:solidFill>
            </a:endParaRPr>
          </a:p>
          <a:p>
            <a:pPr>
              <a:buNone/>
            </a:pPr>
            <a:endParaRPr lang="fr-FR" sz="2400" i="1" dirty="0" smtClean="0"/>
          </a:p>
          <a:p>
            <a:pPr>
              <a:buNone/>
            </a:pPr>
            <a:endParaRPr lang="fr-FR" sz="2400" i="1" dirty="0"/>
          </a:p>
          <a:p>
            <a:pPr>
              <a:buNone/>
            </a:pPr>
            <a:r>
              <a:rPr lang="fr-FR" sz="2400" i="1" dirty="0" smtClean="0"/>
              <a:t>Pour </a:t>
            </a:r>
            <a:r>
              <a:rPr lang="fr-FR" sz="2400" i="1" dirty="0"/>
              <a:t>le diagnostic de la maladie cœliaque, il est recommandé de réaliser au moins </a:t>
            </a:r>
            <a:r>
              <a:rPr lang="fr-FR" sz="2400" i="1" dirty="0">
                <a:solidFill>
                  <a:srgbClr val="C00000"/>
                </a:solidFill>
              </a:rPr>
              <a:t>quatre biopsies</a:t>
            </a:r>
            <a:r>
              <a:rPr lang="fr-FR" sz="2400" i="1" dirty="0"/>
              <a:t> du duodénum distal, </a:t>
            </a:r>
            <a:r>
              <a:rPr lang="fr-FR" sz="2400" i="1" dirty="0">
                <a:solidFill>
                  <a:srgbClr val="C00000"/>
                </a:solidFill>
              </a:rPr>
              <a:t>plus deux du bulbe</a:t>
            </a:r>
            <a:r>
              <a:rPr lang="fr-FR" sz="2400" i="1" dirty="0"/>
              <a:t> duodénal afin d'augmenter le taux de diagnostic</a:t>
            </a:r>
          </a:p>
          <a:p>
            <a:pPr>
              <a:buNone/>
            </a:pPr>
            <a:endParaRPr lang="fr-FR" sz="2400" dirty="0" smtClean="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25</a:t>
            </a:fld>
            <a:endParaRPr lang="fr-FR"/>
          </a:p>
        </p:txBody>
      </p:sp>
      <p:sp>
        <p:nvSpPr>
          <p:cNvPr id="5" name="Rectangle à coins arrondis 4"/>
          <p:cNvSpPr/>
          <p:nvPr/>
        </p:nvSpPr>
        <p:spPr>
          <a:xfrm>
            <a:off x="2987824" y="620688"/>
            <a:ext cx="316835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2400" b="1" i="1" dirty="0" smtClean="0">
              <a:solidFill>
                <a:srgbClr val="C00000"/>
              </a:solidFill>
            </a:endParaRPr>
          </a:p>
          <a:p>
            <a:pPr algn="ctr"/>
            <a:r>
              <a:rPr lang="fr-FR" sz="2400" b="1" i="1" dirty="0" smtClean="0">
                <a:solidFill>
                  <a:srgbClr val="C00000"/>
                </a:solidFill>
              </a:rPr>
              <a:t>Recommandation</a:t>
            </a:r>
            <a:r>
              <a:rPr lang="fr-FR" sz="2400" b="1" i="1" dirty="0">
                <a:solidFill>
                  <a:srgbClr val="C00000"/>
                </a:solidFill>
              </a:rPr>
              <a:t>: </a:t>
            </a:r>
          </a:p>
          <a:p>
            <a:pPr algn="ctr"/>
            <a:endParaRPr lang="fr-F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1851" y="270861"/>
            <a:ext cx="8964488" cy="6597352"/>
          </a:xfrm>
        </p:spPr>
        <p:txBody>
          <a:bodyPr>
            <a:normAutofit/>
          </a:bodyPr>
          <a:lstStyle/>
          <a:p>
            <a:pPr>
              <a:buClr>
                <a:srgbClr val="0070C0"/>
              </a:buClr>
              <a:buFont typeface="Wingdings" panose="05000000000000000000" pitchFamily="2" charset="2"/>
              <a:buChar char="q"/>
            </a:pPr>
            <a:r>
              <a:rPr lang="fr-FR" sz="2400" dirty="0" smtClean="0">
                <a:solidFill>
                  <a:srgbClr val="0070C0"/>
                </a:solidFill>
              </a:rPr>
              <a:t> </a:t>
            </a:r>
            <a:r>
              <a:rPr lang="fr-FR" sz="2400" b="1" dirty="0" smtClean="0">
                <a:solidFill>
                  <a:srgbClr val="0070C0"/>
                </a:solidFill>
              </a:rPr>
              <a:t>Détermination </a:t>
            </a:r>
            <a:r>
              <a:rPr lang="fr-FR" sz="2400" b="1" dirty="0">
                <a:solidFill>
                  <a:srgbClr val="0070C0"/>
                </a:solidFill>
              </a:rPr>
              <a:t>du </a:t>
            </a:r>
            <a:r>
              <a:rPr lang="fr-FR" sz="2400" b="1" dirty="0" smtClean="0">
                <a:solidFill>
                  <a:srgbClr val="0070C0"/>
                </a:solidFill>
              </a:rPr>
              <a:t>HLA:</a:t>
            </a:r>
            <a:endParaRPr lang="ar-DZ" sz="2400" b="1" dirty="0" smtClean="0">
              <a:solidFill>
                <a:srgbClr val="0070C0"/>
              </a:solidFill>
            </a:endParaRPr>
          </a:p>
          <a:p>
            <a:pPr marL="0" indent="0">
              <a:buNone/>
            </a:pPr>
            <a:r>
              <a:rPr lang="fr-FR" sz="2000" b="1" dirty="0" smtClean="0"/>
              <a:t>Le </a:t>
            </a:r>
            <a:r>
              <a:rPr lang="fr-FR" sz="2000" b="1" dirty="0"/>
              <a:t>test HLA-DQ2/8 est indiqué dans les cas suivants </a:t>
            </a:r>
            <a:r>
              <a:rPr lang="fr-FR" sz="2000" b="1" dirty="0" smtClean="0"/>
              <a:t>:</a:t>
            </a:r>
          </a:p>
          <a:p>
            <a:pPr marL="0" indent="0">
              <a:buNone/>
            </a:pPr>
            <a:endParaRPr lang="fr-FR" sz="2400" dirty="0"/>
          </a:p>
          <a:p>
            <a:pPr marL="1005840" lvl="2" indent="-457200">
              <a:buClr>
                <a:srgbClr val="00B050"/>
              </a:buClr>
              <a:buFont typeface="+mj-lt"/>
              <a:buAutoNum type="alphaUcPeriod"/>
            </a:pPr>
            <a:r>
              <a:rPr lang="fr-FR" sz="2400" b="1" dirty="0" smtClean="0">
                <a:solidFill>
                  <a:srgbClr val="00B050"/>
                </a:solidFill>
              </a:rPr>
              <a:t>Suspicion </a:t>
            </a:r>
            <a:r>
              <a:rPr lang="fr-FR" sz="2400" b="1" dirty="0">
                <a:solidFill>
                  <a:srgbClr val="00B050"/>
                </a:solidFill>
              </a:rPr>
              <a:t>de maladie </a:t>
            </a:r>
            <a:r>
              <a:rPr lang="fr-FR" sz="2400" b="1" dirty="0" smtClean="0">
                <a:solidFill>
                  <a:srgbClr val="00B050"/>
                </a:solidFill>
              </a:rPr>
              <a:t>cœliaque chez</a:t>
            </a:r>
            <a:r>
              <a:rPr lang="fr-FR" sz="2400" dirty="0" smtClean="0"/>
              <a:t> </a:t>
            </a:r>
            <a:r>
              <a:rPr lang="fr-FR" sz="2400" b="1" dirty="0">
                <a:solidFill>
                  <a:srgbClr val="00B050"/>
                </a:solidFill>
              </a:rPr>
              <a:t> </a:t>
            </a:r>
            <a:r>
              <a:rPr lang="fr-FR" sz="2400" b="1" dirty="0" smtClean="0">
                <a:solidFill>
                  <a:srgbClr val="00B050"/>
                </a:solidFill>
              </a:rPr>
              <a:t>:</a:t>
            </a:r>
          </a:p>
          <a:p>
            <a:pPr marL="1005840" lvl="2" indent="-457200">
              <a:buClr>
                <a:srgbClr val="00B050"/>
              </a:buClr>
              <a:buFont typeface="+mj-lt"/>
              <a:buAutoNum type="alphaUcPeriod"/>
            </a:pPr>
            <a:endParaRPr lang="fr-FR" sz="2400" b="1" dirty="0">
              <a:solidFill>
                <a:srgbClr val="00B050"/>
              </a:solidFill>
            </a:endParaRPr>
          </a:p>
          <a:p>
            <a:pPr lvl="1">
              <a:buFont typeface="Wingdings" panose="05000000000000000000" pitchFamily="2" charset="2"/>
              <a:buChar char="v"/>
            </a:pPr>
            <a:r>
              <a:rPr lang="fr-FR" sz="2200" dirty="0" smtClean="0"/>
              <a:t>les </a:t>
            </a:r>
            <a:r>
              <a:rPr lang="fr-FR" sz="2200" dirty="0"/>
              <a:t>patients qui </a:t>
            </a:r>
            <a:r>
              <a:rPr lang="fr-FR" sz="2200" b="1" dirty="0"/>
              <a:t>suivent déjà un régime sans gluten </a:t>
            </a:r>
            <a:r>
              <a:rPr lang="fr-FR" sz="2200" dirty="0"/>
              <a:t>avant que le diagnostic ne soit établi, les symptômes ont disparu, </a:t>
            </a:r>
            <a:r>
              <a:rPr lang="fr-FR" sz="2200" b="1" dirty="0"/>
              <a:t>l’histologie duodénale est devenue pratiquement normale</a:t>
            </a:r>
            <a:r>
              <a:rPr lang="fr-FR" sz="2200" dirty="0"/>
              <a:t> et les titres sérologiques de la maladie cœliaque sont déjà négatifs ; dans ce cas, le typage HLA-DQ2/8, lorsqu’il est négatif, </a:t>
            </a:r>
            <a:r>
              <a:rPr lang="fr-FR" sz="2200" dirty="0">
                <a:solidFill>
                  <a:srgbClr val="C00000"/>
                </a:solidFill>
              </a:rPr>
              <a:t>est utile pour exclure une </a:t>
            </a:r>
            <a:r>
              <a:rPr lang="fr-FR" sz="2200" dirty="0" smtClean="0">
                <a:solidFill>
                  <a:srgbClr val="C00000"/>
                </a:solidFill>
              </a:rPr>
              <a:t>MC</a:t>
            </a:r>
          </a:p>
          <a:p>
            <a:pPr lvl="1">
              <a:buFont typeface="Wingdings" panose="05000000000000000000" pitchFamily="2" charset="2"/>
              <a:buChar char="v"/>
            </a:pPr>
            <a:endParaRPr lang="fr-FR" sz="2200" dirty="0"/>
          </a:p>
          <a:p>
            <a:pPr lvl="1">
              <a:buFont typeface="Wingdings" panose="05000000000000000000" pitchFamily="2" charset="2"/>
              <a:buChar char="v"/>
            </a:pPr>
            <a:r>
              <a:rPr lang="fr-FR" sz="2200" dirty="0" smtClean="0"/>
              <a:t>En </a:t>
            </a:r>
            <a:r>
              <a:rPr lang="fr-FR" sz="2200" dirty="0"/>
              <a:t>cas de </a:t>
            </a:r>
            <a:r>
              <a:rPr lang="fr-FR" sz="2200" b="1" dirty="0"/>
              <a:t>discordance entre les résultats de la sérologie et de la biopsie</a:t>
            </a:r>
            <a:r>
              <a:rPr lang="fr-FR" sz="2200" dirty="0"/>
              <a:t>, ou lorsque les modifications à la biopsie sont </a:t>
            </a:r>
            <a:r>
              <a:rPr lang="fr-FR" sz="2200" dirty="0" smtClean="0"/>
              <a:t>minimes </a:t>
            </a:r>
            <a:r>
              <a:rPr lang="fr-FR" sz="2200" dirty="0"/>
              <a:t>en présence d’une sérologie de la maladie cœliaque à faible titre positif.</a:t>
            </a:r>
          </a:p>
        </p:txBody>
      </p:sp>
      <p:sp>
        <p:nvSpPr>
          <p:cNvPr id="8194" name="AutoShape 2" descr="GASTRITES CHRONIQU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8196" name="AutoShape 4" descr="GASTRITES CHRONIQU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8198" name="AutoShape 6" descr="GASTRITES CHRONIQU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26</a:t>
            </a:fld>
            <a:endParaRPr lang="fr-F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23528" y="332656"/>
            <a:ext cx="8363272" cy="6525344"/>
          </a:xfrm>
        </p:spPr>
        <p:txBody>
          <a:bodyPr/>
          <a:lstStyle/>
          <a:p>
            <a:pPr marL="514350" indent="-514350">
              <a:buClr>
                <a:srgbClr val="00B050"/>
              </a:buClr>
              <a:buFont typeface="+mj-lt"/>
              <a:buAutoNum type="alphaUcPeriod" startAt="2"/>
            </a:pPr>
            <a:endParaRPr lang="fr-FR" sz="2400" b="1" dirty="0" smtClean="0">
              <a:solidFill>
                <a:srgbClr val="00B050"/>
              </a:solidFill>
            </a:endParaRPr>
          </a:p>
          <a:p>
            <a:pPr marL="514350" indent="-514350">
              <a:buClr>
                <a:srgbClr val="00B050"/>
              </a:buClr>
              <a:buFont typeface="+mj-lt"/>
              <a:buAutoNum type="alphaUcPeriod" startAt="2"/>
            </a:pPr>
            <a:endParaRPr lang="fr-FR" sz="2400" b="1" dirty="0">
              <a:solidFill>
                <a:srgbClr val="00B050"/>
              </a:solidFill>
            </a:endParaRPr>
          </a:p>
          <a:p>
            <a:pPr marL="514350" indent="-514350">
              <a:buClr>
                <a:srgbClr val="00B050"/>
              </a:buClr>
              <a:buFont typeface="+mj-lt"/>
              <a:buAutoNum type="alphaUcPeriod" startAt="2"/>
            </a:pPr>
            <a:r>
              <a:rPr lang="fr-FR" sz="2400" b="1" dirty="0" smtClean="0">
                <a:solidFill>
                  <a:srgbClr val="00B050"/>
                </a:solidFill>
              </a:rPr>
              <a:t>Dépistage </a:t>
            </a:r>
            <a:r>
              <a:rPr lang="fr-FR" sz="2400" b="1" dirty="0">
                <a:solidFill>
                  <a:srgbClr val="00B050"/>
                </a:solidFill>
              </a:rPr>
              <a:t>des groupes à risque de développer une MC </a:t>
            </a:r>
            <a:r>
              <a:rPr lang="fr-FR" sz="2400" b="1" dirty="0" smtClean="0">
                <a:solidFill>
                  <a:srgbClr val="00B050"/>
                </a:solidFill>
              </a:rPr>
              <a:t>:</a:t>
            </a:r>
          </a:p>
          <a:p>
            <a:pPr marL="514350" indent="-514350">
              <a:buFont typeface="+mj-lt"/>
              <a:buAutoNum type="alphaUcPeriod" startAt="2"/>
            </a:pPr>
            <a:endParaRPr lang="fr-FR" dirty="0"/>
          </a:p>
          <a:p>
            <a:pPr lvl="1">
              <a:buFont typeface="Wingdings" panose="05000000000000000000" pitchFamily="2" charset="2"/>
              <a:buChar char="Ø"/>
            </a:pPr>
            <a:r>
              <a:rPr lang="fr-FR" dirty="0"/>
              <a:t>Enfants (parents au premier degré de patients atteints de MC).</a:t>
            </a:r>
          </a:p>
          <a:p>
            <a:pPr lvl="1">
              <a:buFont typeface="Wingdings" panose="05000000000000000000" pitchFamily="2" charset="2"/>
              <a:buChar char="Ø"/>
            </a:pPr>
            <a:r>
              <a:rPr lang="fr-FR" dirty="0"/>
              <a:t>les personnes présentant un déficit en IgA, des anomalies chromosomiques associées à un risque accru de MC, thyroïdite de Hashimoto ou de diabète type 1. </a:t>
            </a:r>
            <a:r>
              <a:rPr lang="fr-FR" dirty="0" smtClean="0"/>
              <a:t> </a:t>
            </a:r>
          </a:p>
          <a:p>
            <a:pPr lvl="1">
              <a:buFont typeface="Wingdings" panose="05000000000000000000" pitchFamily="2" charset="2"/>
              <a:buChar char="Ø"/>
            </a:pPr>
            <a:endParaRPr lang="fr-FR" dirty="0" smtClean="0"/>
          </a:p>
          <a:p>
            <a:pPr marL="320040" lvl="1" indent="0">
              <a:buNone/>
            </a:pPr>
            <a:endParaRPr lang="fr-FR" i="1" dirty="0" smtClean="0">
              <a:solidFill>
                <a:srgbClr val="C00000"/>
              </a:solidFill>
            </a:endParaRP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27</a:t>
            </a:fld>
            <a:endParaRPr lang="fr-FR"/>
          </a:p>
        </p:txBody>
      </p:sp>
    </p:spTree>
    <p:extLst>
      <p:ext uri="{BB962C8B-B14F-4D97-AF65-F5344CB8AC3E}">
        <p14:creationId xmlns:p14="http://schemas.microsoft.com/office/powerpoint/2010/main" val="10843196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28</a:t>
            </a:fld>
            <a:endParaRPr lang="fr-FR"/>
          </a:p>
        </p:txBody>
      </p:sp>
      <p:sp>
        <p:nvSpPr>
          <p:cNvPr id="5" name="Espace réservé du contenu 4"/>
          <p:cNvSpPr>
            <a:spLocks noGrp="1"/>
          </p:cNvSpPr>
          <p:nvPr>
            <p:ph sz="quarter" idx="1"/>
          </p:nvPr>
        </p:nvSpPr>
        <p:spPr>
          <a:xfrm>
            <a:off x="146304" y="188640"/>
            <a:ext cx="8997696" cy="6478860"/>
          </a:xfrm>
        </p:spPr>
        <p:txBody>
          <a:bodyPr/>
          <a:lstStyle/>
          <a:p>
            <a:pPr marL="320040" lvl="1" indent="0">
              <a:buNone/>
            </a:pPr>
            <a:endParaRPr lang="fr-FR" i="1" dirty="0" smtClean="0">
              <a:solidFill>
                <a:srgbClr val="FF0000"/>
              </a:solidFill>
            </a:endParaRPr>
          </a:p>
          <a:p>
            <a:pPr marL="320040" lvl="1" indent="0">
              <a:buNone/>
            </a:pPr>
            <a:endParaRPr lang="fr-FR" i="1" dirty="0">
              <a:solidFill>
                <a:srgbClr val="FF0000"/>
              </a:solidFill>
            </a:endParaRPr>
          </a:p>
          <a:p>
            <a:pPr marL="320040" lvl="1" indent="0">
              <a:buNone/>
            </a:pPr>
            <a:endParaRPr lang="fr-FR" i="1" dirty="0" smtClean="0">
              <a:solidFill>
                <a:srgbClr val="C00000"/>
              </a:solidFill>
            </a:endParaRPr>
          </a:p>
          <a:p>
            <a:pPr marL="320040" lvl="1" indent="0">
              <a:buNone/>
            </a:pPr>
            <a:endParaRPr lang="fr-FR" i="1" dirty="0">
              <a:solidFill>
                <a:srgbClr val="C00000"/>
              </a:solidFill>
            </a:endParaRPr>
          </a:p>
          <a:p>
            <a:pPr lvl="1">
              <a:buFont typeface="Wingdings" panose="05000000000000000000" pitchFamily="2" charset="2"/>
              <a:buChar char="v"/>
            </a:pPr>
            <a:r>
              <a:rPr lang="fr-FR" i="1" dirty="0" smtClean="0"/>
              <a:t>Le </a:t>
            </a:r>
            <a:r>
              <a:rPr lang="fr-FR" i="1" dirty="0"/>
              <a:t>test HLA a </a:t>
            </a:r>
            <a:r>
              <a:rPr lang="fr-FR" i="1" dirty="0">
                <a:solidFill>
                  <a:srgbClr val="C00000"/>
                </a:solidFill>
              </a:rPr>
              <a:t>une faible </a:t>
            </a:r>
            <a:r>
              <a:rPr lang="fr-FR" i="1" dirty="0"/>
              <a:t>valeur prédictive positive </a:t>
            </a:r>
            <a:r>
              <a:rPr lang="fr-FR" i="1" dirty="0">
                <a:solidFill>
                  <a:srgbClr val="C00000"/>
                </a:solidFill>
              </a:rPr>
              <a:t>(VPP), </a:t>
            </a:r>
            <a:r>
              <a:rPr lang="fr-FR" i="1" dirty="0"/>
              <a:t>mais une valeur prédictive négative </a:t>
            </a:r>
            <a:r>
              <a:rPr lang="fr-FR" i="1" dirty="0">
                <a:solidFill>
                  <a:srgbClr val="C00000"/>
                </a:solidFill>
              </a:rPr>
              <a:t>(VPN) élevée </a:t>
            </a:r>
            <a:r>
              <a:rPr lang="fr-FR" i="1" dirty="0"/>
              <a:t>pour la maladie cœliaque ; </a:t>
            </a:r>
            <a:endParaRPr lang="fr-FR" i="1" dirty="0" smtClean="0"/>
          </a:p>
          <a:p>
            <a:pPr lvl="1">
              <a:buFont typeface="Wingdings" panose="05000000000000000000" pitchFamily="2" charset="2"/>
              <a:buChar char="v"/>
            </a:pPr>
            <a:r>
              <a:rPr lang="fr-FR" i="1" dirty="0" smtClean="0"/>
              <a:t>par </a:t>
            </a:r>
            <a:r>
              <a:rPr lang="fr-FR" i="1" dirty="0"/>
              <a:t>conséquent il est recommandé que le test HLA-DQ2/8 ne soit pas utilisé systématiquement </a:t>
            </a:r>
            <a:r>
              <a:rPr lang="fr-FR" i="1" dirty="0">
                <a:solidFill>
                  <a:srgbClr val="C00000"/>
                </a:solidFill>
              </a:rPr>
              <a:t>mais en cas d'incertitude diagnostique </a:t>
            </a:r>
            <a:r>
              <a:rPr lang="fr-FR" i="1" dirty="0"/>
              <a:t>et pour le dépistage de certains groupes à risque.</a:t>
            </a:r>
          </a:p>
          <a:p>
            <a:endParaRPr lang="fr-FR" dirty="0"/>
          </a:p>
        </p:txBody>
      </p:sp>
      <p:sp>
        <p:nvSpPr>
          <p:cNvPr id="6" name="Rectangle à coins arrondis 5"/>
          <p:cNvSpPr/>
          <p:nvPr/>
        </p:nvSpPr>
        <p:spPr>
          <a:xfrm>
            <a:off x="2987824" y="836712"/>
            <a:ext cx="331236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lvl="1" algn="ctr"/>
            <a:endParaRPr lang="fr-FR" sz="2400" i="1" dirty="0" smtClean="0">
              <a:solidFill>
                <a:srgbClr val="FF0000"/>
              </a:solidFill>
            </a:endParaRPr>
          </a:p>
          <a:p>
            <a:pPr marL="0" lvl="1" algn="ctr"/>
            <a:r>
              <a:rPr lang="fr-FR" sz="2400" i="1" dirty="0" smtClean="0">
                <a:solidFill>
                  <a:srgbClr val="C00000"/>
                </a:solidFill>
              </a:rPr>
              <a:t>Recommandation</a:t>
            </a:r>
            <a:r>
              <a:rPr lang="fr-FR" sz="2400" i="1" dirty="0" smtClean="0">
                <a:solidFill>
                  <a:srgbClr val="FF0000"/>
                </a:solidFill>
              </a:rPr>
              <a:t> </a:t>
            </a:r>
            <a:endParaRPr lang="fr-FR" sz="2400" i="1" dirty="0">
              <a:solidFill>
                <a:srgbClr val="FF0000"/>
              </a:solidFill>
            </a:endParaRPr>
          </a:p>
          <a:p>
            <a:pPr algn="ctr"/>
            <a:endParaRPr lang="fr-FR" dirty="0"/>
          </a:p>
        </p:txBody>
      </p:sp>
    </p:spTree>
    <p:extLst>
      <p:ext uri="{BB962C8B-B14F-4D97-AF65-F5344CB8AC3E}">
        <p14:creationId xmlns:p14="http://schemas.microsoft.com/office/powerpoint/2010/main" val="21909274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116632"/>
            <a:ext cx="8892480" cy="6552728"/>
          </a:xfrm>
        </p:spPr>
        <p:txBody>
          <a:bodyPr>
            <a:normAutofit/>
          </a:bodyPr>
          <a:lstStyle/>
          <a:p>
            <a:pPr marL="0" indent="0">
              <a:buNone/>
            </a:pPr>
            <a:endParaRPr lang="fr-FR" sz="2400" b="1" i="1" dirty="0" smtClean="0">
              <a:solidFill>
                <a:srgbClr val="FF0000"/>
              </a:solidFill>
            </a:endParaRPr>
          </a:p>
          <a:p>
            <a:endParaRPr lang="fr-FR" sz="2400" b="1" i="1" dirty="0">
              <a:solidFill>
                <a:srgbClr val="FF0000"/>
              </a:solidFill>
            </a:endParaRPr>
          </a:p>
          <a:p>
            <a:r>
              <a:rPr lang="fr-FR" sz="2400" b="1" dirty="0" smtClean="0">
                <a:solidFill>
                  <a:srgbClr val="FF0000"/>
                </a:solidFill>
              </a:rPr>
              <a:t>Critères diagnostiques</a:t>
            </a:r>
          </a:p>
          <a:p>
            <a:pPr marL="662940" lvl="1" indent="-342900">
              <a:buClr>
                <a:srgbClr val="0070C0"/>
              </a:buClr>
              <a:buFont typeface="+mj-lt"/>
              <a:buAutoNum type="alphaUcPeriod"/>
            </a:pPr>
            <a:r>
              <a:rPr lang="fr-FR" b="1" dirty="0" smtClean="0">
                <a:solidFill>
                  <a:srgbClr val="0070C0"/>
                </a:solidFill>
                <a:cs typeface="Arial" panose="020B0604020202020204" pitchFamily="34" charset="0"/>
              </a:rPr>
              <a:t>Maladie cœliaque </a:t>
            </a:r>
            <a:r>
              <a:rPr lang="fr-FR" b="1" dirty="0" smtClean="0">
                <a:solidFill>
                  <a:srgbClr val="0070C0"/>
                </a:solidFill>
                <a:cs typeface="Arial" panose="020B0604020202020204" pitchFamily="34" charset="0"/>
              </a:rPr>
              <a:t>forme classique:</a:t>
            </a:r>
            <a:endParaRPr lang="fr-FR" b="1" dirty="0">
              <a:solidFill>
                <a:srgbClr val="0070C0"/>
              </a:solidFill>
              <a:cs typeface="Arial" panose="020B0604020202020204" pitchFamily="34" charset="0"/>
            </a:endParaRPr>
          </a:p>
          <a:p>
            <a:pPr marL="457200" indent="-457200">
              <a:buClr>
                <a:srgbClr val="C00000"/>
              </a:buClr>
              <a:buSzPct val="100000"/>
              <a:buFont typeface="+mj-lt"/>
              <a:buAutoNum type="arabicPeriod"/>
            </a:pPr>
            <a:r>
              <a:rPr lang="fr-FR" sz="2400" b="1" dirty="0">
                <a:solidFill>
                  <a:srgbClr val="C00000"/>
                </a:solidFill>
              </a:rPr>
              <a:t>Chez les </a:t>
            </a:r>
            <a:r>
              <a:rPr lang="fr-FR" sz="2400" b="1" dirty="0" smtClean="0">
                <a:solidFill>
                  <a:srgbClr val="C00000"/>
                </a:solidFill>
              </a:rPr>
              <a:t>enfants:</a:t>
            </a:r>
          </a:p>
          <a:p>
            <a:pPr>
              <a:buFont typeface="Wingdings" panose="05000000000000000000" pitchFamily="2" charset="2"/>
              <a:buChar char="q"/>
            </a:pPr>
            <a:endParaRPr lang="fr-FR" sz="2400" b="1" dirty="0" smtClean="0">
              <a:solidFill>
                <a:srgbClr val="0070C0"/>
              </a:solidFill>
            </a:endParaRPr>
          </a:p>
          <a:p>
            <a:pPr>
              <a:buFont typeface="Wingdings" panose="05000000000000000000" pitchFamily="2" charset="2"/>
              <a:buChar char="v"/>
            </a:pPr>
            <a:r>
              <a:rPr lang="fr-FR" sz="2400" dirty="0" smtClean="0"/>
              <a:t> </a:t>
            </a:r>
            <a:r>
              <a:rPr lang="fr-FR" sz="2400" dirty="0"/>
              <a:t>en raison de l'étroite corrélation entre une positivité élevée en IgA anti-TG2 et IgA-EMA et une atrophie villositaire, les recommandations diagnostiques actuelles </a:t>
            </a:r>
            <a:r>
              <a:rPr lang="fr-FR" sz="2400" dirty="0" smtClean="0"/>
              <a:t>prévoient:</a:t>
            </a:r>
          </a:p>
          <a:p>
            <a:pPr lvl="2">
              <a:buClr>
                <a:srgbClr val="C00000"/>
              </a:buClr>
              <a:buFont typeface="Wingdings" panose="05000000000000000000" pitchFamily="2" charset="2"/>
              <a:buChar char="Ø"/>
            </a:pPr>
            <a:r>
              <a:rPr lang="fr-FR" sz="1800" dirty="0" smtClean="0"/>
              <a:t> </a:t>
            </a:r>
            <a:r>
              <a:rPr lang="fr-FR" dirty="0"/>
              <a:t>une concentration </a:t>
            </a:r>
            <a:r>
              <a:rPr lang="fr-FR" dirty="0" err="1"/>
              <a:t>d'IgA</a:t>
            </a:r>
            <a:r>
              <a:rPr lang="fr-FR" dirty="0"/>
              <a:t> anti-TG2 supérieure à dix fois la </a:t>
            </a:r>
            <a:r>
              <a:rPr lang="fr-FR" dirty="0" smtClean="0"/>
              <a:t>LSN</a:t>
            </a:r>
          </a:p>
          <a:p>
            <a:pPr lvl="2">
              <a:buClr>
                <a:srgbClr val="C00000"/>
              </a:buClr>
              <a:buFont typeface="Wingdings" panose="05000000000000000000" pitchFamily="2" charset="2"/>
              <a:buChar char="Ø"/>
            </a:pPr>
            <a:r>
              <a:rPr lang="fr-FR" dirty="0" smtClean="0"/>
              <a:t>une </a:t>
            </a:r>
            <a:r>
              <a:rPr lang="fr-FR" dirty="0"/>
              <a:t>IgA-EMA positive sur un second prélèvement sanguin</a:t>
            </a:r>
            <a:r>
              <a:rPr lang="fr-FR" dirty="0" smtClean="0"/>
              <a:t>.</a:t>
            </a:r>
          </a:p>
          <a:p>
            <a:pPr lvl="2">
              <a:buClr>
                <a:srgbClr val="C00000"/>
              </a:buClr>
              <a:buFont typeface="Wingdings" panose="05000000000000000000" pitchFamily="2" charset="2"/>
              <a:buChar char="v"/>
            </a:pPr>
            <a:endParaRPr lang="fr-FR" dirty="0"/>
          </a:p>
          <a:p>
            <a:pPr>
              <a:buFont typeface="Wingdings" panose="05000000000000000000" pitchFamily="2" charset="2"/>
              <a:buChar char="v"/>
            </a:pPr>
            <a:r>
              <a:rPr lang="fr-FR" sz="2400" dirty="0"/>
              <a:t> Cet algorithme permet d'éviter les risques et le coût d'une endoscopie chez au moins 50 % des enfants suspectés de maladie cœliaque. </a:t>
            </a:r>
          </a:p>
          <a:p>
            <a:pPr>
              <a:buFont typeface="Wingdings" panose="05000000000000000000" pitchFamily="2" charset="2"/>
              <a:buChar char="Ø"/>
            </a:pPr>
            <a:endParaRPr lang="fr-FR" sz="2400" dirty="0"/>
          </a:p>
          <a:p>
            <a:endParaRPr lang="fr-FR" sz="24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29</a:t>
            </a:fld>
            <a:endParaRPr lang="fr-F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188640"/>
            <a:ext cx="8435280" cy="6480720"/>
          </a:xfrm>
        </p:spPr>
        <p:txBody>
          <a:bodyPr>
            <a:normAutofit fontScale="92500"/>
          </a:bodyPr>
          <a:lstStyle/>
          <a:p>
            <a:pPr marL="514350" indent="-514350">
              <a:buClr>
                <a:srgbClr val="C00000"/>
              </a:buClr>
              <a:buSzPct val="100000"/>
              <a:buFont typeface="+mj-lt"/>
              <a:buAutoNum type="arabicPeriod" startAt="2"/>
            </a:pPr>
            <a:r>
              <a:rPr lang="fr-FR" b="1" dirty="0" smtClean="0">
                <a:solidFill>
                  <a:srgbClr val="C00000"/>
                </a:solidFill>
              </a:rPr>
              <a:t>Chez l'adulte: </a:t>
            </a:r>
          </a:p>
          <a:p>
            <a:pPr marL="0" indent="0">
              <a:buNone/>
            </a:pPr>
            <a:r>
              <a:rPr lang="fr-FR" dirty="0"/>
              <a:t>La confirmation d’un diagnostic de maladie </a:t>
            </a:r>
            <a:r>
              <a:rPr lang="fr-FR" dirty="0" err="1"/>
              <a:t>coeliaque</a:t>
            </a:r>
            <a:r>
              <a:rPr lang="fr-FR" dirty="0"/>
              <a:t> chez l’adulte peut se baser uniquement sur une sérologie positive (sans biopsie), lorsque le taux initial </a:t>
            </a:r>
            <a:r>
              <a:rPr lang="fr-FR" dirty="0" err="1"/>
              <a:t>d’IgA</a:t>
            </a:r>
            <a:r>
              <a:rPr lang="fr-FR" dirty="0"/>
              <a:t> anti-TG2 est ≥ 10 fois la limite supérieure de la normale (LSN</a:t>
            </a:r>
            <a:r>
              <a:rPr lang="fr-FR" dirty="0" smtClean="0"/>
              <a:t>).</a:t>
            </a:r>
          </a:p>
          <a:p>
            <a:pPr marL="0" indent="0">
              <a:buNone/>
            </a:pPr>
            <a:endParaRPr lang="fr-FR" dirty="0"/>
          </a:p>
          <a:p>
            <a:pPr lvl="1">
              <a:buFont typeface="Wingdings" panose="05000000000000000000" pitchFamily="2" charset="2"/>
              <a:buChar char="v"/>
            </a:pPr>
            <a:r>
              <a:rPr lang="fr-FR" dirty="0"/>
              <a:t>Le résultat initial </a:t>
            </a:r>
            <a:r>
              <a:rPr lang="fr-FR" dirty="0" err="1"/>
              <a:t>d’IgA</a:t>
            </a:r>
            <a:r>
              <a:rPr lang="fr-FR" dirty="0"/>
              <a:t> anti-TG2 doit être confirmé par un second prélèvement sanguin. </a:t>
            </a:r>
            <a:endParaRPr lang="fr-FR" dirty="0" smtClean="0"/>
          </a:p>
          <a:p>
            <a:pPr lvl="1">
              <a:buFont typeface="Wingdings" panose="05000000000000000000" pitchFamily="2" charset="2"/>
              <a:buChar char="v"/>
            </a:pPr>
            <a:r>
              <a:rPr lang="fr-FR" dirty="0" smtClean="0"/>
              <a:t>Le </a:t>
            </a:r>
            <a:r>
              <a:rPr lang="fr-FR" dirty="0"/>
              <a:t>patient doit poursuivre un régime contenant du gluten jusqu’à confirmation. </a:t>
            </a:r>
            <a:r>
              <a:rPr lang="fr-FR" dirty="0" smtClean="0"/>
              <a:t> . </a:t>
            </a:r>
            <a:endParaRPr lang="fr-FR" dirty="0"/>
          </a:p>
          <a:p>
            <a:pPr lvl="1">
              <a:buFont typeface="Wingdings" panose="05000000000000000000" pitchFamily="2" charset="2"/>
              <a:buChar char="v"/>
            </a:pPr>
            <a:r>
              <a:rPr lang="fr-FR" dirty="0" smtClean="0"/>
              <a:t>Une </a:t>
            </a:r>
            <a:r>
              <a:rPr lang="fr-FR" dirty="0"/>
              <a:t>prise de </a:t>
            </a:r>
            <a:r>
              <a:rPr lang="fr-FR" dirty="0">
                <a:solidFill>
                  <a:srgbClr val="C00000"/>
                </a:solidFill>
              </a:rPr>
              <a:t>décision partagée avec le patient concernant </a:t>
            </a:r>
            <a:r>
              <a:rPr lang="fr-FR" dirty="0"/>
              <a:t>les bénéfices et les limites potentiels de l’omission des biopsies duodénales est cruciale. </a:t>
            </a:r>
          </a:p>
          <a:p>
            <a:pPr lvl="1">
              <a:buFont typeface="Wingdings" panose="05000000000000000000" pitchFamily="2" charset="2"/>
              <a:buChar char="v"/>
            </a:pPr>
            <a:r>
              <a:rPr lang="fr-FR" dirty="0"/>
              <a:t>Cette approche </a:t>
            </a:r>
            <a:r>
              <a:rPr lang="fr-FR" dirty="0">
                <a:solidFill>
                  <a:srgbClr val="C00000"/>
                </a:solidFill>
              </a:rPr>
              <a:t>n’est pas appropriée en présence d’autres signes d’alarme </a:t>
            </a:r>
            <a:r>
              <a:rPr lang="fr-FR" dirty="0"/>
              <a:t>(par exemple, hématémèse, dysphagie ou signes d’obstruction). </a:t>
            </a:r>
            <a:endParaRPr lang="fr-FR" dirty="0" smtClean="0"/>
          </a:p>
          <a:p>
            <a:pPr lvl="1">
              <a:buFont typeface="Wingdings" panose="05000000000000000000" pitchFamily="2" charset="2"/>
              <a:buChar char="v"/>
            </a:pPr>
            <a:r>
              <a:rPr lang="fr-FR" dirty="0" smtClean="0"/>
              <a:t> l’approche </a:t>
            </a:r>
            <a:r>
              <a:rPr lang="fr-FR" dirty="0"/>
              <a:t>sans biopsie doit être limitée aux patients de </a:t>
            </a:r>
            <a:r>
              <a:rPr lang="fr-FR" dirty="0">
                <a:solidFill>
                  <a:srgbClr val="C00000"/>
                </a:solidFill>
              </a:rPr>
              <a:t>moins de 45 ans.</a:t>
            </a:r>
          </a:p>
          <a:p>
            <a:pPr marL="0" indent="0">
              <a:buNone/>
            </a:pPr>
            <a:endParaRPr lang="fr-FR" dirty="0">
              <a:solidFill>
                <a:srgbClr val="0070C0"/>
              </a:solidFill>
            </a:endParaRP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30</a:t>
            </a:fld>
            <a:endParaRPr lang="fr-FR"/>
          </a:p>
        </p:txBody>
      </p:sp>
    </p:spTree>
    <p:extLst>
      <p:ext uri="{BB962C8B-B14F-4D97-AF65-F5344CB8AC3E}">
        <p14:creationId xmlns:p14="http://schemas.microsoft.com/office/powerpoint/2010/main" val="17090185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692696"/>
            <a:ext cx="8964488" cy="5327104"/>
          </a:xfrm>
        </p:spPr>
        <p:txBody>
          <a:bodyPr>
            <a:normAutofit/>
          </a:bodyPr>
          <a:lstStyle/>
          <a:p>
            <a:pPr marL="457200" indent="-457200">
              <a:buClr>
                <a:srgbClr val="0070C0"/>
              </a:buClr>
              <a:buSzPct val="100000"/>
              <a:buFont typeface="+mj-lt"/>
              <a:buAutoNum type="alphaUcPeriod" startAt="2"/>
            </a:pPr>
            <a:r>
              <a:rPr lang="fr-FR" sz="2400" b="1" dirty="0">
                <a:solidFill>
                  <a:srgbClr val="0070C0"/>
                </a:solidFill>
              </a:rPr>
              <a:t>Maladie cœliaque </a:t>
            </a:r>
            <a:r>
              <a:rPr lang="fr-FR" sz="2400" b="1" dirty="0" smtClean="0">
                <a:solidFill>
                  <a:srgbClr val="0070C0"/>
                </a:solidFill>
              </a:rPr>
              <a:t>potentielle:</a:t>
            </a:r>
          </a:p>
          <a:p>
            <a:pPr>
              <a:buClr>
                <a:srgbClr val="0070C0"/>
              </a:buClr>
              <a:buSzPct val="100000"/>
              <a:buFont typeface="Wingdings" panose="05000000000000000000" pitchFamily="2" charset="2"/>
              <a:buChar char="q"/>
            </a:pPr>
            <a:endParaRPr lang="fr-FR" sz="2400" b="1" dirty="0">
              <a:solidFill>
                <a:srgbClr val="0070C0"/>
              </a:solidFill>
            </a:endParaRPr>
          </a:p>
          <a:p>
            <a:pPr>
              <a:buFont typeface="Wingdings" panose="05000000000000000000" pitchFamily="2" charset="2"/>
              <a:buChar char="v"/>
            </a:pPr>
            <a:r>
              <a:rPr lang="fr-FR" sz="2200" dirty="0"/>
              <a:t>La maladie cœliaque potentielle est définie par la positivité des marqueurs sérologiques de la maladie cœliaque (IgA anti-TG2 et EMA) sans atrophie villositaire duodénale (type Marsh 0 ou 1).</a:t>
            </a:r>
          </a:p>
          <a:p>
            <a:pPr>
              <a:buFont typeface="Wingdings" panose="05000000000000000000" pitchFamily="2" charset="2"/>
              <a:buChar char="v"/>
            </a:pPr>
            <a:r>
              <a:rPr lang="fr-FR" sz="2200" dirty="0"/>
              <a:t>La progression vers la maladie cœliaque (type Marsh 3) survient dans 15 à 45 % des cas</a:t>
            </a:r>
            <a:r>
              <a:rPr lang="fr-FR" sz="2200" dirty="0" smtClean="0"/>
              <a:t>.</a:t>
            </a:r>
          </a:p>
          <a:p>
            <a:pPr>
              <a:buFont typeface="Wingdings" panose="05000000000000000000" pitchFamily="2" charset="2"/>
              <a:buChar char="v"/>
            </a:pPr>
            <a:r>
              <a:rPr lang="fr-FR" sz="2200" dirty="0" smtClean="0"/>
              <a:t>Les </a:t>
            </a:r>
            <a:r>
              <a:rPr lang="fr-FR" sz="2200" dirty="0"/>
              <a:t>patients doivent suivre un régime alimentaire normal contenant du gluten et </a:t>
            </a:r>
            <a:r>
              <a:rPr lang="fr-FR" sz="2200" dirty="0">
                <a:solidFill>
                  <a:srgbClr val="C00000"/>
                </a:solidFill>
              </a:rPr>
              <a:t>faire l'objet d'un suivi régulier par sérologie et, éventuellement, d'une nouvelle biopsie de l'intestin grêle. </a:t>
            </a:r>
            <a:endParaRPr lang="fr-FR" sz="2200" dirty="0" smtClean="0">
              <a:solidFill>
                <a:srgbClr val="C00000"/>
              </a:solidFill>
            </a:endParaRPr>
          </a:p>
          <a:p>
            <a:pPr>
              <a:buFont typeface="Wingdings" panose="05000000000000000000" pitchFamily="2" charset="2"/>
              <a:buChar char="v"/>
            </a:pPr>
            <a:r>
              <a:rPr lang="fr-FR" sz="2200" dirty="0" smtClean="0"/>
              <a:t>Un </a:t>
            </a:r>
            <a:r>
              <a:rPr lang="fr-FR" sz="2200" dirty="0"/>
              <a:t>régime sans gluten pourrait être recommandé aux patients symptomatiques. </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31</a:t>
            </a:fld>
            <a:endParaRPr lang="fr-F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188640"/>
            <a:ext cx="8784976" cy="6478860"/>
          </a:xfrm>
        </p:spPr>
        <p:txBody>
          <a:bodyPr>
            <a:normAutofit/>
          </a:bodyPr>
          <a:lstStyle/>
          <a:p>
            <a:pPr marL="457200" indent="-457200">
              <a:buClr>
                <a:srgbClr val="0070C0"/>
              </a:buClr>
              <a:buSzPct val="100000"/>
              <a:buFont typeface="+mj-lt"/>
              <a:buAutoNum type="alphaUcPeriod" startAt="3"/>
            </a:pPr>
            <a:r>
              <a:rPr lang="fr-FR" sz="2400" b="1" dirty="0">
                <a:solidFill>
                  <a:srgbClr val="0070C0"/>
                </a:solidFill>
              </a:rPr>
              <a:t>Cas difficiles</a:t>
            </a:r>
          </a:p>
          <a:p>
            <a:pPr>
              <a:buClr>
                <a:srgbClr val="00B050"/>
              </a:buClr>
              <a:buSzPct val="100000"/>
              <a:buFont typeface="Courier New" panose="02070309020205020404" pitchFamily="49" charset="0"/>
              <a:buChar char="o"/>
            </a:pPr>
            <a:r>
              <a:rPr lang="fr-FR" dirty="0"/>
              <a:t>  </a:t>
            </a:r>
            <a:r>
              <a:rPr lang="fr-FR" b="1" dirty="0" smtClean="0">
                <a:solidFill>
                  <a:srgbClr val="00B050"/>
                </a:solidFill>
              </a:rPr>
              <a:t>Premièrement:</a:t>
            </a:r>
          </a:p>
          <a:p>
            <a:pPr>
              <a:buClr>
                <a:srgbClr val="00B050"/>
              </a:buClr>
              <a:buSzPct val="100000"/>
              <a:buFont typeface="Courier New" panose="02070309020205020404" pitchFamily="49" charset="0"/>
              <a:buChar char="o"/>
            </a:pPr>
            <a:endParaRPr lang="fr-FR" sz="2200" dirty="0" smtClean="0"/>
          </a:p>
          <a:p>
            <a:pPr lvl="1">
              <a:buClr>
                <a:srgbClr val="C00000"/>
              </a:buClr>
              <a:buSzPct val="100000"/>
              <a:buFont typeface="Wingdings" panose="05000000000000000000" pitchFamily="2" charset="2"/>
              <a:buChar char="v"/>
            </a:pPr>
            <a:r>
              <a:rPr lang="fr-FR" sz="2200" dirty="0" smtClean="0"/>
              <a:t>des </a:t>
            </a:r>
            <a:r>
              <a:rPr lang="fr-FR" sz="2200" dirty="0"/>
              <a:t>symptômes évocateurs de la maladie cœliaque, mais </a:t>
            </a:r>
            <a:r>
              <a:rPr lang="fr-FR" sz="2200" b="1" dirty="0" smtClean="0"/>
              <a:t>sérologiques négative et </a:t>
            </a:r>
            <a:r>
              <a:rPr lang="fr-FR" sz="2200" b="1" dirty="0"/>
              <a:t>une atrophie villositaire </a:t>
            </a:r>
            <a:endParaRPr lang="fr-FR" sz="2200" dirty="0" smtClean="0"/>
          </a:p>
          <a:p>
            <a:pPr lvl="1">
              <a:buClr>
                <a:srgbClr val="C00000"/>
              </a:buClr>
              <a:buSzPct val="100000"/>
              <a:buFont typeface="Wingdings" panose="05000000000000000000" pitchFamily="2" charset="2"/>
              <a:buChar char="v"/>
            </a:pPr>
            <a:endParaRPr lang="fr-FR" sz="2200" dirty="0" smtClean="0"/>
          </a:p>
          <a:p>
            <a:pPr lvl="2">
              <a:buClr>
                <a:schemeClr val="accent2"/>
              </a:buClr>
              <a:buSzPct val="100000"/>
              <a:buFont typeface="Wingdings" panose="05000000000000000000" pitchFamily="2" charset="2"/>
              <a:buChar char="q"/>
            </a:pPr>
            <a:r>
              <a:rPr lang="fr-FR" sz="1800" dirty="0" smtClean="0"/>
              <a:t>la </a:t>
            </a:r>
            <a:r>
              <a:rPr lang="fr-FR" sz="1800" dirty="0"/>
              <a:t>possibilité d'une maladie cœliaque séronégative doit être </a:t>
            </a:r>
            <a:r>
              <a:rPr lang="fr-FR" sz="1800" dirty="0" smtClean="0"/>
              <a:t>envisagée</a:t>
            </a:r>
            <a:r>
              <a:rPr lang="fr-FR" sz="1800" dirty="0" smtClean="0"/>
              <a:t>:</a:t>
            </a:r>
          </a:p>
          <a:p>
            <a:pPr lvl="3">
              <a:buClr>
                <a:schemeClr val="accent2"/>
              </a:buClr>
              <a:buSzPct val="100000"/>
              <a:buFont typeface="Wingdings" panose="05000000000000000000" pitchFamily="2" charset="2"/>
              <a:buChar char="ü"/>
            </a:pPr>
            <a:r>
              <a:rPr lang="fr-FR" sz="1800" dirty="0"/>
              <a:t> Après avoir exclu les autres entéropathies de </a:t>
            </a:r>
            <a:r>
              <a:rPr lang="fr-FR" sz="1800" dirty="0" smtClean="0"/>
              <a:t>l'intestin</a:t>
            </a:r>
            <a:endParaRPr lang="fr-FR" sz="1800" dirty="0"/>
          </a:p>
          <a:p>
            <a:pPr lvl="3">
              <a:buClr>
                <a:schemeClr val="accent2"/>
              </a:buClr>
              <a:buFont typeface="Wingdings" panose="05000000000000000000" pitchFamily="2" charset="2"/>
              <a:buChar char="ü"/>
            </a:pPr>
            <a:r>
              <a:rPr lang="fr-FR" sz="1800" dirty="0" smtClean="0"/>
              <a:t> décrite </a:t>
            </a:r>
            <a:r>
              <a:rPr lang="fr-FR" sz="1800" dirty="0"/>
              <a:t>chez l'adulte, avec une faible incidence (&lt; 2 % de tous les cas). </a:t>
            </a:r>
            <a:endParaRPr lang="fr-FR" sz="1800" dirty="0" smtClean="0"/>
          </a:p>
          <a:p>
            <a:pPr lvl="2">
              <a:buClr>
                <a:schemeClr val="accent2"/>
              </a:buClr>
              <a:buFont typeface="Wingdings" panose="05000000000000000000" pitchFamily="2" charset="2"/>
              <a:buChar char="q"/>
            </a:pPr>
            <a:endParaRPr lang="fr-FR" sz="1800" dirty="0" smtClean="0"/>
          </a:p>
          <a:p>
            <a:pPr lvl="2">
              <a:buClr>
                <a:schemeClr val="accent2"/>
              </a:buClr>
              <a:buFont typeface="Wingdings" panose="05000000000000000000" pitchFamily="2" charset="2"/>
              <a:buChar char="q"/>
            </a:pPr>
            <a:r>
              <a:rPr lang="fr-FR" sz="1800" dirty="0" smtClean="0"/>
              <a:t>La </a:t>
            </a:r>
            <a:r>
              <a:rPr lang="fr-FR" sz="1800" dirty="0"/>
              <a:t>confirmation du diagnostic nécessite </a:t>
            </a:r>
            <a:r>
              <a:rPr lang="fr-FR" sz="1800" dirty="0" smtClean="0"/>
              <a:t>:</a:t>
            </a:r>
          </a:p>
          <a:p>
            <a:pPr lvl="3">
              <a:buClr>
                <a:schemeClr val="accent2"/>
              </a:buClr>
              <a:buFont typeface="Wingdings" panose="05000000000000000000" pitchFamily="2" charset="2"/>
              <a:buChar char="ü"/>
            </a:pPr>
            <a:r>
              <a:rPr lang="fr-FR" sz="1800" dirty="0" smtClean="0">
                <a:solidFill>
                  <a:srgbClr val="C00000"/>
                </a:solidFill>
              </a:rPr>
              <a:t>Test </a:t>
            </a:r>
            <a:r>
              <a:rPr lang="fr-FR" sz="1800" dirty="0" err="1" smtClean="0">
                <a:solidFill>
                  <a:srgbClr val="C00000"/>
                </a:solidFill>
              </a:rPr>
              <a:t>génitique</a:t>
            </a:r>
            <a:r>
              <a:rPr lang="fr-FR" sz="1800" dirty="0" smtClean="0">
                <a:solidFill>
                  <a:srgbClr val="C00000"/>
                </a:solidFill>
              </a:rPr>
              <a:t> </a:t>
            </a:r>
            <a:r>
              <a:rPr lang="fr-FR" sz="1800" dirty="0" smtClean="0">
                <a:solidFill>
                  <a:srgbClr val="C00000"/>
                </a:solidFill>
              </a:rPr>
              <a:t>cœliaque </a:t>
            </a:r>
            <a:r>
              <a:rPr lang="fr-FR" sz="1800" dirty="0">
                <a:solidFill>
                  <a:srgbClr val="C00000"/>
                </a:solidFill>
              </a:rPr>
              <a:t>(HLA-DQ2, HLA-DQ8 ou les deux) </a:t>
            </a:r>
            <a:endParaRPr lang="fr-FR" sz="1800" dirty="0" smtClean="0">
              <a:solidFill>
                <a:srgbClr val="C00000"/>
              </a:solidFill>
            </a:endParaRPr>
          </a:p>
          <a:p>
            <a:pPr lvl="3">
              <a:buClr>
                <a:schemeClr val="accent2"/>
              </a:buClr>
              <a:buFont typeface="Wingdings" panose="05000000000000000000" pitchFamily="2" charset="2"/>
              <a:buChar char="ü"/>
            </a:pPr>
            <a:r>
              <a:rPr lang="fr-FR" sz="1800" dirty="0" smtClean="0">
                <a:solidFill>
                  <a:srgbClr val="C00000"/>
                </a:solidFill>
              </a:rPr>
              <a:t>et </a:t>
            </a:r>
            <a:r>
              <a:rPr lang="fr-FR" sz="1800" dirty="0">
                <a:solidFill>
                  <a:srgbClr val="C00000"/>
                </a:solidFill>
              </a:rPr>
              <a:t>une nette amélioration clinique et histologique après l'instauration d'un régime sans gluten.</a:t>
            </a:r>
          </a:p>
          <a:p>
            <a:endParaRPr lang="fr-FR" dirty="0">
              <a:solidFill>
                <a:srgbClr val="C00000"/>
              </a:solidFill>
            </a:endParaRP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32</a:t>
            </a:fld>
            <a:endParaRPr lang="fr-F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46304" y="260648"/>
            <a:ext cx="8997696" cy="6192688"/>
          </a:xfrm>
        </p:spPr>
        <p:txBody>
          <a:bodyPr>
            <a:normAutofit/>
          </a:bodyPr>
          <a:lstStyle/>
          <a:p>
            <a:pPr>
              <a:buClr>
                <a:srgbClr val="00B050"/>
              </a:buClr>
              <a:buSzPct val="100000"/>
              <a:buFont typeface="Courier New" panose="02070309020205020404" pitchFamily="49" charset="0"/>
              <a:buChar char="o"/>
            </a:pPr>
            <a:endParaRPr lang="fr-FR" sz="2400" b="1" dirty="0" smtClean="0"/>
          </a:p>
          <a:p>
            <a:pPr>
              <a:buClr>
                <a:srgbClr val="00B050"/>
              </a:buClr>
              <a:buSzPct val="100000"/>
              <a:buFont typeface="Courier New" panose="02070309020205020404" pitchFamily="49" charset="0"/>
              <a:buChar char="o"/>
            </a:pPr>
            <a:r>
              <a:rPr lang="fr-FR" sz="2400" b="1" dirty="0" smtClean="0">
                <a:solidFill>
                  <a:srgbClr val="00B050"/>
                </a:solidFill>
              </a:rPr>
              <a:t>Deuxièmes:</a:t>
            </a:r>
          </a:p>
          <a:p>
            <a:pPr>
              <a:buClr>
                <a:srgbClr val="00B050"/>
              </a:buClr>
              <a:buSzPct val="100000"/>
              <a:buFont typeface="Courier New" panose="02070309020205020404" pitchFamily="49" charset="0"/>
              <a:buChar char="o"/>
            </a:pPr>
            <a:endParaRPr lang="fr-FR" sz="2400" b="1" dirty="0" smtClean="0">
              <a:solidFill>
                <a:srgbClr val="00B050"/>
              </a:solidFill>
            </a:endParaRPr>
          </a:p>
          <a:p>
            <a:pPr lvl="1">
              <a:buFont typeface="Wingdings" panose="05000000000000000000" pitchFamily="2" charset="2"/>
              <a:buChar char="v"/>
            </a:pPr>
            <a:r>
              <a:rPr lang="fr-FR" sz="2200" dirty="0" smtClean="0"/>
              <a:t>résultats </a:t>
            </a:r>
            <a:r>
              <a:rPr lang="fr-FR" sz="2200" dirty="0" smtClean="0"/>
              <a:t>divergents </a:t>
            </a:r>
            <a:r>
              <a:rPr lang="fr-FR" sz="2200" dirty="0" smtClean="0"/>
              <a:t>des </a:t>
            </a:r>
            <a:r>
              <a:rPr lang="fr-FR" sz="2200" dirty="0"/>
              <a:t>tests anti-TG2 et EMA</a:t>
            </a:r>
            <a:r>
              <a:rPr lang="fr-FR" sz="2200" dirty="0" smtClean="0"/>
              <a:t>.</a:t>
            </a:r>
          </a:p>
          <a:p>
            <a:pPr lvl="1">
              <a:buFont typeface="Wingdings" panose="05000000000000000000" pitchFamily="2" charset="2"/>
              <a:buChar char="v"/>
            </a:pPr>
            <a:endParaRPr lang="fr-FR" sz="2200" dirty="0" smtClean="0"/>
          </a:p>
          <a:p>
            <a:pPr lvl="2">
              <a:buClr>
                <a:schemeClr val="accent2"/>
              </a:buClr>
              <a:buFont typeface="Wingdings" panose="05000000000000000000" pitchFamily="2" charset="2"/>
              <a:buChar char="q"/>
            </a:pPr>
            <a:r>
              <a:rPr lang="fr-FR" sz="1800" dirty="0" smtClean="0"/>
              <a:t> </a:t>
            </a:r>
            <a:r>
              <a:rPr lang="fr-FR" sz="1800" dirty="0"/>
              <a:t>Chez les patients présentant un </a:t>
            </a:r>
            <a:r>
              <a:rPr lang="fr-FR" sz="1800" dirty="0">
                <a:solidFill>
                  <a:srgbClr val="C00000"/>
                </a:solidFill>
              </a:rPr>
              <a:t>faible titre isolé </a:t>
            </a:r>
            <a:r>
              <a:rPr lang="fr-FR" sz="1800" dirty="0" err="1">
                <a:solidFill>
                  <a:srgbClr val="C00000"/>
                </a:solidFill>
              </a:rPr>
              <a:t>d'IgA</a:t>
            </a:r>
            <a:r>
              <a:rPr lang="fr-FR" sz="1800" dirty="0">
                <a:solidFill>
                  <a:srgbClr val="C00000"/>
                </a:solidFill>
              </a:rPr>
              <a:t> anti-TG2</a:t>
            </a:r>
            <a:r>
              <a:rPr lang="fr-FR" sz="1800" dirty="0"/>
              <a:t>, une évolution peut se produire au fil du temps, soit vers un profil sérologique de maladie cœliaque pleinement exprimé, soit vers une normalisation de l'expression de l'IgA anti-TG2</a:t>
            </a:r>
            <a:r>
              <a:rPr lang="fr-FR" sz="1800" dirty="0" smtClean="0"/>
              <a:t>.</a:t>
            </a:r>
          </a:p>
          <a:p>
            <a:pPr lvl="2">
              <a:buClr>
                <a:schemeClr val="accent2"/>
              </a:buClr>
              <a:buFont typeface="Wingdings" panose="05000000000000000000" pitchFamily="2" charset="2"/>
              <a:buChar char="q"/>
            </a:pPr>
            <a:endParaRPr lang="fr-FR" sz="1800" dirty="0"/>
          </a:p>
          <a:p>
            <a:pPr lvl="2">
              <a:buClr>
                <a:schemeClr val="accent2"/>
              </a:buClr>
              <a:buFont typeface="Wingdings" panose="05000000000000000000" pitchFamily="2" charset="2"/>
              <a:buChar char="q"/>
            </a:pPr>
            <a:r>
              <a:rPr lang="fr-FR" sz="1800" dirty="0"/>
              <a:t>À l'inverse, </a:t>
            </a:r>
            <a:r>
              <a:rPr lang="fr-FR" sz="1800" dirty="0">
                <a:solidFill>
                  <a:srgbClr val="C00000"/>
                </a:solidFill>
              </a:rPr>
              <a:t>une positivité à l'EMA avec une IgA anti-TG2 négative </a:t>
            </a:r>
            <a:r>
              <a:rPr lang="fr-FR" sz="1800" dirty="0"/>
              <a:t>résulte généralement d'une interprétation incorrecte du test EMA, parfois liée à une positivité aux anticorps anti-muscle lisse.</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33</a:t>
            </a:fld>
            <a:endParaRPr lang="fr-F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23528" y="188640"/>
            <a:ext cx="8568952" cy="6480720"/>
          </a:xfrm>
        </p:spPr>
        <p:txBody>
          <a:bodyPr/>
          <a:lstStyle/>
          <a:p>
            <a:pPr marL="0" indent="0">
              <a:buNone/>
            </a:pPr>
            <a:endParaRPr lang="fr-FR" b="1" dirty="0" smtClean="0"/>
          </a:p>
          <a:p>
            <a:pPr>
              <a:buClr>
                <a:srgbClr val="00B050"/>
              </a:buClr>
              <a:buSzPct val="100000"/>
              <a:buFont typeface="Courier New" panose="02070309020205020404" pitchFamily="49" charset="0"/>
              <a:buChar char="o"/>
            </a:pPr>
            <a:r>
              <a:rPr lang="fr-FR" b="1" dirty="0" smtClean="0">
                <a:solidFill>
                  <a:srgbClr val="00B050"/>
                </a:solidFill>
              </a:rPr>
              <a:t>Troisièmement:</a:t>
            </a:r>
          </a:p>
          <a:p>
            <a:pPr>
              <a:buClr>
                <a:srgbClr val="00B050"/>
              </a:buClr>
              <a:buSzPct val="100000"/>
              <a:buFont typeface="Courier New" panose="02070309020205020404" pitchFamily="49" charset="0"/>
              <a:buChar char="o"/>
            </a:pPr>
            <a:endParaRPr lang="fr-FR" dirty="0" smtClean="0">
              <a:solidFill>
                <a:srgbClr val="00B050"/>
              </a:solidFill>
            </a:endParaRPr>
          </a:p>
          <a:p>
            <a:pPr lvl="1">
              <a:buFont typeface="Wingdings" panose="05000000000000000000" pitchFamily="2" charset="2"/>
              <a:buChar char="v"/>
            </a:pPr>
            <a:r>
              <a:rPr lang="fr-FR" sz="2200" dirty="0" smtClean="0"/>
              <a:t>des </a:t>
            </a:r>
            <a:r>
              <a:rPr lang="fr-FR" sz="2200" dirty="0"/>
              <a:t>biomarqueurs de la maladie cœliaque peut être faible chez les personnes ayant une très faible consommation d'aliments contenant du </a:t>
            </a:r>
            <a:r>
              <a:rPr lang="fr-FR" sz="2200" dirty="0" smtClean="0"/>
              <a:t>gluten</a:t>
            </a:r>
          </a:p>
          <a:p>
            <a:pPr lvl="1">
              <a:buFont typeface="Wingdings" panose="05000000000000000000" pitchFamily="2" charset="2"/>
              <a:buChar char="v"/>
            </a:pPr>
            <a:endParaRPr lang="fr-FR" sz="2200" dirty="0"/>
          </a:p>
          <a:p>
            <a:pPr lvl="1">
              <a:buFont typeface="Wingdings" panose="05000000000000000000" pitchFamily="2" charset="2"/>
              <a:buChar char="v"/>
            </a:pPr>
            <a:endParaRPr lang="fr-FR" sz="2200" dirty="0"/>
          </a:p>
          <a:p>
            <a:pPr lvl="1">
              <a:buFont typeface="Wingdings" panose="05000000000000000000" pitchFamily="2" charset="2"/>
              <a:buChar char="v"/>
            </a:pPr>
            <a:r>
              <a:rPr lang="fr-FR" sz="2200" dirty="0"/>
              <a:t>. Jusqu'à présent, ces situations ont été gérées par un test de provocation au gluten (c'est-à-dire la répétition du test après au moins 1 à 3 mois d'exposition accrue au gluten</a:t>
            </a:r>
            <a:r>
              <a:rPr lang="fr-FR" sz="2200" dirty="0" smtClean="0"/>
              <a:t>).</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34</a:t>
            </a:fld>
            <a:endParaRPr lang="fr-F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260648"/>
            <a:ext cx="8856984" cy="6480720"/>
          </a:xfrm>
        </p:spPr>
        <p:txBody>
          <a:bodyPr>
            <a:normAutofit/>
          </a:bodyPr>
          <a:lstStyle/>
          <a:p>
            <a:pPr marL="514350" indent="-514350">
              <a:buFont typeface="+mj-lt"/>
              <a:buAutoNum type="romanUcPeriod" startAt="6"/>
            </a:pPr>
            <a:r>
              <a:rPr lang="fr-FR" sz="2800" b="1" dirty="0">
                <a:solidFill>
                  <a:srgbClr val="FF0000"/>
                </a:solidFill>
              </a:rPr>
              <a:t>Complications de la maladie </a:t>
            </a:r>
            <a:r>
              <a:rPr lang="fr-FR" sz="2800" b="1" dirty="0" smtClean="0">
                <a:solidFill>
                  <a:srgbClr val="FF0000"/>
                </a:solidFill>
              </a:rPr>
              <a:t>cœliaque:</a:t>
            </a:r>
            <a:endParaRPr lang="fr-FR" sz="2800" b="1" dirty="0">
              <a:solidFill>
                <a:srgbClr val="FF0000"/>
              </a:solidFill>
            </a:endParaRPr>
          </a:p>
          <a:p>
            <a:pPr>
              <a:buClr>
                <a:srgbClr val="0070C0"/>
              </a:buClr>
              <a:buFont typeface="Wingdings" panose="05000000000000000000" pitchFamily="2" charset="2"/>
              <a:buChar char="q"/>
            </a:pPr>
            <a:r>
              <a:rPr lang="fr-FR" sz="2200" b="1" dirty="0">
                <a:solidFill>
                  <a:srgbClr val="0070C0"/>
                </a:solidFill>
              </a:rPr>
              <a:t>Complications gastro-intestinales :</a:t>
            </a:r>
            <a:endParaRPr lang="fr-FR" sz="2200" dirty="0">
              <a:solidFill>
                <a:srgbClr val="0070C0"/>
              </a:solidFill>
            </a:endParaRPr>
          </a:p>
          <a:p>
            <a:pPr marL="617220" lvl="1" indent="-342900">
              <a:buFont typeface="Wingdings" panose="05000000000000000000" pitchFamily="2" charset="2"/>
              <a:buChar char="v"/>
            </a:pPr>
            <a:r>
              <a:rPr lang="fr-FR" sz="2000" dirty="0" smtClean="0"/>
              <a:t> peut </a:t>
            </a:r>
            <a:r>
              <a:rPr lang="fr-FR" sz="2000" dirty="0"/>
              <a:t>se compliquer par une petite taille ou un retard de croissance. </a:t>
            </a:r>
          </a:p>
          <a:p>
            <a:pPr marL="617220" lvl="1" indent="-342900">
              <a:buFont typeface="Wingdings" panose="05000000000000000000" pitchFamily="2" charset="2"/>
              <a:buChar char="v"/>
            </a:pPr>
            <a:r>
              <a:rPr lang="fr-FR" sz="2000" dirty="0" smtClean="0"/>
              <a:t> le </a:t>
            </a:r>
            <a:r>
              <a:rPr lang="fr-FR" sz="2000" dirty="0"/>
              <a:t>reflux gastroœsophagien et ses complications. </a:t>
            </a:r>
          </a:p>
          <a:p>
            <a:pPr marL="617220" lvl="1" indent="-342900">
              <a:buFont typeface="Wingdings" panose="05000000000000000000" pitchFamily="2" charset="2"/>
              <a:buChar char="v"/>
            </a:pPr>
            <a:r>
              <a:rPr lang="fr-FR" sz="2000" dirty="0" smtClean="0"/>
              <a:t>rarement  </a:t>
            </a:r>
            <a:r>
              <a:rPr lang="fr-FR" sz="2000" dirty="0"/>
              <a:t>une crise cœliaque, </a:t>
            </a:r>
            <a:r>
              <a:rPr lang="fr-FR" sz="2000" dirty="0" smtClean="0"/>
              <a:t>sous </a:t>
            </a:r>
            <a:r>
              <a:rPr lang="fr-FR" sz="2000" dirty="0"/>
              <a:t>la forme d'une diarrhée abondante</a:t>
            </a:r>
            <a:r>
              <a:rPr lang="fr-FR" sz="2000" dirty="0" smtClean="0"/>
              <a:t>.  </a:t>
            </a:r>
            <a:endParaRPr lang="fr-FR" sz="2000" dirty="0"/>
          </a:p>
          <a:p>
            <a:pPr>
              <a:buClr>
                <a:srgbClr val="0070C0"/>
              </a:buClr>
              <a:buFont typeface="Wingdings" panose="05000000000000000000" pitchFamily="2" charset="2"/>
              <a:buChar char="q"/>
            </a:pPr>
            <a:r>
              <a:rPr lang="fr-FR" sz="2200" b="1" dirty="0">
                <a:solidFill>
                  <a:srgbClr val="0070C0"/>
                </a:solidFill>
              </a:rPr>
              <a:t>Carences nutritionnelles :</a:t>
            </a:r>
            <a:endParaRPr lang="fr-FR" sz="2200" dirty="0">
              <a:solidFill>
                <a:srgbClr val="0070C0"/>
              </a:solidFill>
            </a:endParaRPr>
          </a:p>
          <a:p>
            <a:pPr marL="617220" lvl="1" indent="-342900">
              <a:buFont typeface="Wingdings" panose="05000000000000000000" pitchFamily="2" charset="2"/>
              <a:buChar char="v"/>
            </a:pPr>
            <a:r>
              <a:rPr lang="fr-FR" sz="2000" dirty="0" smtClean="0"/>
              <a:t>l'anémie </a:t>
            </a:r>
            <a:r>
              <a:rPr lang="fr-FR" sz="2000" dirty="0"/>
              <a:t>ferriprive. </a:t>
            </a:r>
            <a:r>
              <a:rPr lang="fr-FR" sz="2000" dirty="0" smtClean="0"/>
              <a:t>Par diminution </a:t>
            </a:r>
            <a:r>
              <a:rPr lang="fr-FR" sz="2000" dirty="0"/>
              <a:t>de </a:t>
            </a:r>
            <a:r>
              <a:rPr lang="fr-FR" sz="2000" dirty="0" smtClean="0"/>
              <a:t>l'apport, </a:t>
            </a:r>
            <a:r>
              <a:rPr lang="fr-FR" sz="2000" dirty="0"/>
              <a:t>une absorption réduite et des pertes sanguines</a:t>
            </a:r>
            <a:r>
              <a:rPr lang="fr-FR" sz="2000" dirty="0" smtClean="0"/>
              <a:t>.</a:t>
            </a:r>
          </a:p>
          <a:p>
            <a:pPr marL="617220" lvl="1" indent="-342900">
              <a:buFont typeface="Wingdings" panose="05000000000000000000" pitchFamily="2" charset="2"/>
              <a:buChar char="v"/>
            </a:pPr>
            <a:r>
              <a:rPr lang="fr-FR" sz="2000" dirty="0" smtClean="0"/>
              <a:t> </a:t>
            </a:r>
            <a:r>
              <a:rPr lang="fr-FR" sz="2000" dirty="0"/>
              <a:t>Les vitamines hydrosolubles sont la B6 et l'acide folique qui sont absorbées proximalement et la B12 qui est absorbée distalement sont les </a:t>
            </a:r>
            <a:r>
              <a:rPr lang="fr-FR" sz="2000" dirty="0" smtClean="0"/>
              <a:t>vitamines </a:t>
            </a:r>
            <a:r>
              <a:rPr lang="fr-FR" sz="2000" dirty="0"/>
              <a:t>fréquemment carencées. </a:t>
            </a:r>
          </a:p>
          <a:p>
            <a:pPr>
              <a:buClr>
                <a:srgbClr val="0070C0"/>
              </a:buClr>
              <a:buFont typeface="Wingdings" panose="05000000000000000000" pitchFamily="2" charset="2"/>
              <a:buChar char="q"/>
            </a:pPr>
            <a:r>
              <a:rPr lang="fr-FR" sz="2200" b="1" dirty="0">
                <a:solidFill>
                  <a:srgbClr val="0070C0"/>
                </a:solidFill>
              </a:rPr>
              <a:t>Complications neuropsychiatriques : </a:t>
            </a:r>
            <a:endParaRPr lang="fr-FR" sz="2200" dirty="0">
              <a:solidFill>
                <a:srgbClr val="0070C0"/>
              </a:solidFill>
            </a:endParaRPr>
          </a:p>
          <a:p>
            <a:pPr marL="617220" lvl="1" indent="-342900">
              <a:buFont typeface="Wingdings" panose="05000000000000000000" pitchFamily="2" charset="2"/>
              <a:buChar char="v"/>
            </a:pPr>
            <a:r>
              <a:rPr lang="fr-FR" dirty="0"/>
              <a:t> </a:t>
            </a:r>
            <a:r>
              <a:rPr lang="fr-FR" sz="2000" dirty="0"/>
              <a:t>Notamment les céphalées, la neuropathie </a:t>
            </a:r>
            <a:r>
              <a:rPr lang="fr-FR" sz="2000" dirty="0" smtClean="0"/>
              <a:t>périphérique , </a:t>
            </a:r>
            <a:r>
              <a:rPr lang="fr-FR" sz="2000" dirty="0"/>
              <a:t>la dépression, la dysthymie, l'anxiété, l'épilepsie et Les neuropathies périphériques. </a:t>
            </a:r>
            <a:endParaRPr lang="fr-FR" sz="2000" dirty="0" smtClean="0"/>
          </a:p>
          <a:p>
            <a:pPr marL="617220" lvl="1" indent="-342900">
              <a:buFont typeface="Wingdings" panose="05000000000000000000" pitchFamily="2" charset="2"/>
              <a:buChar char="v"/>
            </a:pPr>
            <a:r>
              <a:rPr lang="fr-FR" sz="2000" dirty="0" smtClean="0"/>
              <a:t>Et </a:t>
            </a:r>
            <a:r>
              <a:rPr lang="fr-FR" sz="2000" dirty="0"/>
              <a:t>sont associées à des carences en différentes vitamines, notamment B1, B6, B12, et E. </a:t>
            </a:r>
            <a:r>
              <a:rPr lang="fr-FR" sz="2000" dirty="0" smtClean="0"/>
              <a:t> </a:t>
            </a:r>
            <a:endParaRPr lang="fr-FR" sz="2000" dirty="0"/>
          </a:p>
          <a:p>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35</a:t>
            </a:fld>
            <a:endParaRPr lang="fr-FR"/>
          </a:p>
        </p:txBody>
      </p:sp>
    </p:spTree>
    <p:extLst>
      <p:ext uri="{BB962C8B-B14F-4D97-AF65-F5344CB8AC3E}">
        <p14:creationId xmlns:p14="http://schemas.microsoft.com/office/powerpoint/2010/main" val="33307635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260648"/>
            <a:ext cx="8856984" cy="6408712"/>
          </a:xfrm>
        </p:spPr>
        <p:txBody>
          <a:bodyPr>
            <a:normAutofit/>
          </a:bodyPr>
          <a:lstStyle/>
          <a:p>
            <a:pPr>
              <a:buClr>
                <a:srgbClr val="0070C0"/>
              </a:buClr>
              <a:buFont typeface="Wingdings" panose="05000000000000000000" pitchFamily="2" charset="2"/>
              <a:buChar char="q"/>
            </a:pPr>
            <a:r>
              <a:rPr lang="fr-FR" sz="2400" b="1" dirty="0">
                <a:solidFill>
                  <a:srgbClr val="0070C0"/>
                </a:solidFill>
              </a:rPr>
              <a:t>Maladie métabolique osseuse et complications articulaires :</a:t>
            </a:r>
            <a:endParaRPr lang="fr-FR" sz="2400" dirty="0">
              <a:solidFill>
                <a:srgbClr val="0070C0"/>
              </a:solidFill>
            </a:endParaRPr>
          </a:p>
          <a:p>
            <a:pPr lvl="1">
              <a:buFont typeface="Wingdings" panose="05000000000000000000" pitchFamily="2" charset="2"/>
              <a:buChar char="v"/>
            </a:pPr>
            <a:r>
              <a:rPr lang="fr-FR" sz="1800" dirty="0"/>
              <a:t>Une faible densité minérale osseuse, une masse osseuse réduite et une fragilité, entraînant un risque accumulé de </a:t>
            </a:r>
            <a:r>
              <a:rPr lang="fr-FR" sz="1800" dirty="0" smtClean="0"/>
              <a:t>fracture  </a:t>
            </a:r>
          </a:p>
          <a:p>
            <a:pPr lvl="1">
              <a:buFont typeface="Wingdings" panose="05000000000000000000" pitchFamily="2" charset="2"/>
              <a:buChar char="v"/>
            </a:pPr>
            <a:r>
              <a:rPr lang="fr-FR" sz="1800" dirty="0" smtClean="0"/>
              <a:t>Qui </a:t>
            </a:r>
            <a:r>
              <a:rPr lang="fr-FR" sz="1800" dirty="0"/>
              <a:t>sont la conséquence d'une mauvaise absorption du calcium et de la vitamine D et d'une hyperparathyroïdie </a:t>
            </a:r>
            <a:r>
              <a:rPr lang="fr-FR" sz="1800" dirty="0" smtClean="0"/>
              <a:t>secondaire.</a:t>
            </a:r>
          </a:p>
          <a:p>
            <a:pPr lvl="1">
              <a:buFont typeface="Wingdings" panose="05000000000000000000" pitchFamily="2" charset="2"/>
              <a:buChar char="v"/>
            </a:pPr>
            <a:r>
              <a:rPr lang="fr-FR" sz="1800" dirty="0" smtClean="0"/>
              <a:t>La </a:t>
            </a:r>
            <a:r>
              <a:rPr lang="fr-FR" sz="1800" dirty="0"/>
              <a:t>prévalence de l’ostéopénie et de l’ostéoporose chez l’adulte est d’environ 14 à 35 </a:t>
            </a:r>
            <a:r>
              <a:rPr lang="fr-FR" sz="1800" dirty="0" smtClean="0"/>
              <a:t>%</a:t>
            </a:r>
            <a:endParaRPr lang="fr-FR" sz="1800" dirty="0"/>
          </a:p>
          <a:p>
            <a:pPr lvl="1">
              <a:buFont typeface="Wingdings" panose="05000000000000000000" pitchFamily="2" charset="2"/>
              <a:buChar char="v"/>
            </a:pPr>
            <a:r>
              <a:rPr lang="fr-FR" sz="1800" dirty="0" smtClean="0"/>
              <a:t>Se manifestent </a:t>
            </a:r>
            <a:r>
              <a:rPr lang="fr-FR" sz="1800" dirty="0"/>
              <a:t>par des douleurs et courbatures accompagnées d'une sensibilité osseuse, </a:t>
            </a:r>
            <a:r>
              <a:rPr lang="fr-FR" sz="1800" dirty="0" smtClean="0"/>
              <a:t> </a:t>
            </a:r>
          </a:p>
          <a:p>
            <a:pPr lvl="1">
              <a:buFont typeface="Wingdings" panose="05000000000000000000" pitchFamily="2" charset="2"/>
              <a:buChar char="v"/>
            </a:pPr>
            <a:endParaRPr lang="fr-FR" sz="1800" dirty="0"/>
          </a:p>
          <a:p>
            <a:pPr>
              <a:buClr>
                <a:srgbClr val="0070C0"/>
              </a:buClr>
              <a:buFont typeface="Wingdings" panose="05000000000000000000" pitchFamily="2" charset="2"/>
              <a:buChar char="q"/>
            </a:pPr>
            <a:r>
              <a:rPr lang="fr-FR" sz="2400" b="1" dirty="0">
                <a:solidFill>
                  <a:srgbClr val="0070C0"/>
                </a:solidFill>
              </a:rPr>
              <a:t>Tumeurs malignes :</a:t>
            </a:r>
            <a:endParaRPr lang="fr-FR" sz="2400" dirty="0">
              <a:solidFill>
                <a:srgbClr val="0070C0"/>
              </a:solidFill>
            </a:endParaRPr>
          </a:p>
          <a:p>
            <a:pPr lvl="1">
              <a:buFont typeface="Wingdings" panose="05000000000000000000" pitchFamily="2" charset="2"/>
              <a:buChar char="v"/>
            </a:pPr>
            <a:r>
              <a:rPr lang="fr-FR" sz="1800" dirty="0"/>
              <a:t>Le lymphome </a:t>
            </a:r>
            <a:r>
              <a:rPr lang="fr-FR" sz="1800" dirty="0" smtClean="0"/>
              <a:t>est </a:t>
            </a:r>
            <a:r>
              <a:rPr lang="fr-FR" sz="1800" dirty="0"/>
              <a:t>le plus fréquent des cancers, Il s'agite généralement de lymphomes non hodgkiniens. </a:t>
            </a:r>
            <a:endParaRPr lang="fr-FR" sz="1800" dirty="0" smtClean="0"/>
          </a:p>
          <a:p>
            <a:pPr lvl="1">
              <a:buFont typeface="Wingdings" panose="05000000000000000000" pitchFamily="2" charset="2"/>
              <a:buChar char="v"/>
            </a:pPr>
            <a:r>
              <a:rPr lang="fr-FR" sz="1800" dirty="0" smtClean="0"/>
              <a:t>Le </a:t>
            </a:r>
            <a:r>
              <a:rPr lang="fr-FR" sz="1800" dirty="0"/>
              <a:t>site d'atteinte le plus fréquent est l'estomac, </a:t>
            </a:r>
            <a:r>
              <a:rPr lang="fr-FR" sz="1800" dirty="0" smtClean="0"/>
              <a:t> suivi </a:t>
            </a:r>
            <a:r>
              <a:rPr lang="fr-FR" sz="1800" dirty="0"/>
              <a:t>de l'intestin grêle.  </a:t>
            </a:r>
          </a:p>
          <a:p>
            <a:pPr lvl="1">
              <a:buFont typeface="Wingdings" panose="05000000000000000000" pitchFamily="2" charset="2"/>
              <a:buChar char="v"/>
            </a:pPr>
            <a:r>
              <a:rPr lang="fr-FR" sz="1800" dirty="0"/>
              <a:t>Le lymphome T associé à une entéropathie (EATL) variante des lymphocytes T, touchant principalement l'intestin grêle, </a:t>
            </a:r>
            <a:r>
              <a:rPr lang="fr-FR" sz="1800" dirty="0" smtClean="0"/>
              <a:t> </a:t>
            </a:r>
            <a:endParaRPr lang="fr-FR" sz="1800" dirty="0"/>
          </a:p>
          <a:p>
            <a:pPr lvl="1">
              <a:buFont typeface="Wingdings" panose="05000000000000000000" pitchFamily="2" charset="2"/>
              <a:buChar char="v"/>
            </a:pPr>
            <a:r>
              <a:rPr lang="fr-FR" sz="1800" dirty="0"/>
              <a:t>Le risque d'autres tumeurs </a:t>
            </a:r>
            <a:r>
              <a:rPr lang="fr-FR" sz="1800" dirty="0" smtClean="0"/>
              <a:t>malignes est </a:t>
            </a:r>
            <a:r>
              <a:rPr lang="fr-FR" sz="1800" dirty="0"/>
              <a:t>également fréquent </a:t>
            </a:r>
            <a:r>
              <a:rPr lang="fr-FR" sz="1800" dirty="0" smtClean="0"/>
              <a:t>(notamment </a:t>
            </a:r>
            <a:r>
              <a:rPr lang="fr-FR" sz="1800" dirty="0"/>
              <a:t>les adénocarcinomes oropharyngés, colorectaux, de l'intestin </a:t>
            </a:r>
            <a:r>
              <a:rPr lang="fr-FR" sz="1800" dirty="0" smtClean="0"/>
              <a:t>grêle)  </a:t>
            </a:r>
            <a:endParaRPr lang="fr-FR" sz="18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36</a:t>
            </a:fld>
            <a:endParaRPr lang="fr-FR"/>
          </a:p>
        </p:txBody>
      </p:sp>
    </p:spTree>
    <p:extLst>
      <p:ext uri="{BB962C8B-B14F-4D97-AF65-F5344CB8AC3E}">
        <p14:creationId xmlns:p14="http://schemas.microsoft.com/office/powerpoint/2010/main" val="24395590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188640"/>
            <a:ext cx="8892480" cy="6669360"/>
          </a:xfrm>
        </p:spPr>
        <p:txBody>
          <a:bodyPr>
            <a:normAutofit lnSpcReduction="10000"/>
          </a:bodyPr>
          <a:lstStyle/>
          <a:p>
            <a:pPr>
              <a:buClr>
                <a:srgbClr val="0070C0"/>
              </a:buClr>
              <a:buFont typeface="Wingdings" panose="05000000000000000000" pitchFamily="2" charset="2"/>
              <a:buChar char="q"/>
            </a:pPr>
            <a:r>
              <a:rPr lang="fr-FR" b="1" dirty="0" smtClean="0">
                <a:solidFill>
                  <a:srgbClr val="0070C0"/>
                </a:solidFill>
              </a:rPr>
              <a:t>Autres: </a:t>
            </a:r>
            <a:endParaRPr lang="fr-FR" dirty="0">
              <a:solidFill>
                <a:srgbClr val="0070C0"/>
              </a:solidFill>
            </a:endParaRPr>
          </a:p>
          <a:p>
            <a:r>
              <a:rPr lang="fr-FR" sz="2400" b="1" i="1" dirty="0" err="1" smtClean="0">
                <a:solidFill>
                  <a:srgbClr val="00B050"/>
                </a:solidFill>
              </a:rPr>
              <a:t>Hyposplénisme</a:t>
            </a:r>
            <a:r>
              <a:rPr lang="fr-FR" sz="2400" b="1" i="1" dirty="0">
                <a:solidFill>
                  <a:srgbClr val="00B050"/>
                </a:solidFill>
              </a:rPr>
              <a:t> :</a:t>
            </a:r>
            <a:r>
              <a:rPr lang="fr-FR" sz="2400" dirty="0">
                <a:solidFill>
                  <a:srgbClr val="00B050"/>
                </a:solidFill>
              </a:rPr>
              <a:t>   </a:t>
            </a:r>
            <a:endParaRPr lang="fr-FR" sz="2400" dirty="0" smtClean="0">
              <a:solidFill>
                <a:srgbClr val="00B050"/>
              </a:solidFill>
            </a:endParaRPr>
          </a:p>
          <a:p>
            <a:pPr lvl="1">
              <a:buFont typeface="Wingdings" panose="05000000000000000000" pitchFamily="2" charset="2"/>
              <a:buChar char="v"/>
            </a:pPr>
            <a:r>
              <a:rPr lang="fr-FR" sz="2000" dirty="0" smtClean="0"/>
              <a:t>son </a:t>
            </a:r>
            <a:r>
              <a:rPr lang="fr-FR" sz="2000" dirty="0"/>
              <a:t>mécanisme exact de développement n’est pas connu. </a:t>
            </a:r>
            <a:endParaRPr lang="fr-FR" sz="2000" dirty="0" smtClean="0"/>
          </a:p>
          <a:p>
            <a:pPr lvl="1">
              <a:buFont typeface="Wingdings" panose="05000000000000000000" pitchFamily="2" charset="2"/>
              <a:buChar char="v"/>
            </a:pPr>
            <a:r>
              <a:rPr lang="fr-FR" sz="2000" dirty="0" smtClean="0"/>
              <a:t>la </a:t>
            </a:r>
            <a:r>
              <a:rPr lang="fr-FR" sz="2000" dirty="0"/>
              <a:t>sensibilité aux </a:t>
            </a:r>
            <a:r>
              <a:rPr lang="fr-FR" sz="2000" dirty="0" smtClean="0"/>
              <a:t>infections augmente, </a:t>
            </a:r>
            <a:r>
              <a:rPr lang="fr-FR" sz="2000" dirty="0"/>
              <a:t>notamment dues aux bactéries encapsulées</a:t>
            </a:r>
            <a:r>
              <a:rPr lang="fr-FR" dirty="0" smtClean="0"/>
              <a:t>.</a:t>
            </a:r>
          </a:p>
          <a:p>
            <a:pPr lvl="1">
              <a:buFont typeface="Wingdings" panose="05000000000000000000" pitchFamily="2" charset="2"/>
              <a:buChar char="v"/>
            </a:pPr>
            <a:endParaRPr lang="fr-FR" dirty="0"/>
          </a:p>
          <a:p>
            <a:r>
              <a:rPr lang="fr-FR" sz="2400" b="1" i="1" dirty="0">
                <a:solidFill>
                  <a:srgbClr val="00B050"/>
                </a:solidFill>
              </a:rPr>
              <a:t>Thrombo-embolie veineuse :</a:t>
            </a:r>
            <a:r>
              <a:rPr lang="fr-FR" sz="2400" dirty="0">
                <a:solidFill>
                  <a:srgbClr val="00B050"/>
                </a:solidFill>
              </a:rPr>
              <a:t> </a:t>
            </a:r>
            <a:r>
              <a:rPr lang="fr-FR" sz="2000" dirty="0"/>
              <a:t>dans la MC L'hypercoagulabilité avec un taux élevé d'homocystéine et de faibles protéines anticoagulantes dépendantes de la vitamine K (protéines C et S), ainsi que de l'auto-immunité de la MC</a:t>
            </a:r>
            <a:r>
              <a:rPr lang="fr-FR" sz="2000" dirty="0" smtClean="0"/>
              <a:t>.</a:t>
            </a:r>
          </a:p>
          <a:p>
            <a:endParaRPr lang="fr-FR" sz="2000" dirty="0"/>
          </a:p>
          <a:p>
            <a:r>
              <a:rPr lang="fr-FR" sz="2400" b="1" i="1" dirty="0">
                <a:solidFill>
                  <a:srgbClr val="00B050"/>
                </a:solidFill>
              </a:rPr>
              <a:t>Défauts dentaires :</a:t>
            </a:r>
            <a:r>
              <a:rPr lang="fr-FR" sz="2400" dirty="0">
                <a:solidFill>
                  <a:srgbClr val="00B050"/>
                </a:solidFill>
              </a:rPr>
              <a:t> </a:t>
            </a:r>
            <a:r>
              <a:rPr lang="fr-FR" sz="2000" dirty="0"/>
              <a:t>comprennent l'hypoplasie de l'émail dentaire, l'aphtose Ulcères et le retard </a:t>
            </a:r>
            <a:r>
              <a:rPr lang="fr-FR" sz="2000" dirty="0" smtClean="0"/>
              <a:t>d'éruption.</a:t>
            </a:r>
          </a:p>
          <a:p>
            <a:endParaRPr lang="fr-FR" dirty="0"/>
          </a:p>
          <a:p>
            <a:r>
              <a:rPr lang="fr-FR" sz="2400" b="1" i="1" dirty="0">
                <a:solidFill>
                  <a:srgbClr val="00B050"/>
                </a:solidFill>
              </a:rPr>
              <a:t>Complications reproductives :</a:t>
            </a:r>
            <a:r>
              <a:rPr lang="fr-FR" sz="2400" dirty="0">
                <a:solidFill>
                  <a:srgbClr val="00B050"/>
                </a:solidFill>
              </a:rPr>
              <a:t> </a:t>
            </a:r>
            <a:endParaRPr lang="fr-FR" sz="2400" dirty="0" smtClean="0">
              <a:solidFill>
                <a:srgbClr val="00B050"/>
              </a:solidFill>
            </a:endParaRPr>
          </a:p>
          <a:p>
            <a:pPr lvl="1">
              <a:buFont typeface="Wingdings" panose="05000000000000000000" pitchFamily="2" charset="2"/>
              <a:buChar char="v"/>
            </a:pPr>
            <a:r>
              <a:rPr lang="fr-FR" sz="2000" b="1" dirty="0" smtClean="0"/>
              <a:t>Les </a:t>
            </a:r>
            <a:r>
              <a:rPr lang="fr-FR" sz="2000" b="1" dirty="0"/>
              <a:t>femmes   </a:t>
            </a:r>
            <a:r>
              <a:rPr lang="fr-FR" sz="2000" dirty="0"/>
              <a:t>peuvent présenter des règles tardives, des fausses couches à répétition, une infertilité, un accouchement prématuré et un faible poids à la naissance</a:t>
            </a:r>
            <a:r>
              <a:rPr lang="fr-FR" sz="2000" dirty="0" smtClean="0"/>
              <a:t>.</a:t>
            </a:r>
          </a:p>
          <a:p>
            <a:pPr lvl="1">
              <a:buFont typeface="Wingdings" panose="05000000000000000000" pitchFamily="2" charset="2"/>
              <a:buChar char="v"/>
            </a:pPr>
            <a:r>
              <a:rPr lang="fr-FR" sz="2000" dirty="0" smtClean="0"/>
              <a:t> </a:t>
            </a:r>
            <a:r>
              <a:rPr lang="fr-FR" sz="2000" b="1" dirty="0"/>
              <a:t>Les hommes </a:t>
            </a:r>
            <a:r>
              <a:rPr lang="fr-FR" sz="2000" dirty="0"/>
              <a:t>présentent également une infertilité, caractérisée par une dysmotilité des spermatozoïdes et des modifications morphologiques </a:t>
            </a:r>
            <a:endParaRPr lang="fr-FR" sz="2000" dirty="0" smtClean="0"/>
          </a:p>
          <a:p>
            <a:pPr lvl="1">
              <a:buFont typeface="Wingdings" panose="05000000000000000000" pitchFamily="2" charset="2"/>
              <a:buChar char="v"/>
            </a:pPr>
            <a:r>
              <a:rPr lang="fr-FR" sz="2000" dirty="0" smtClean="0"/>
              <a:t>Tous </a:t>
            </a:r>
            <a:r>
              <a:rPr lang="fr-FR" sz="2000" dirty="0"/>
              <a:t>ces problèmes peuvent être résolus par un régime sans gluten</a:t>
            </a:r>
            <a:r>
              <a:rPr lang="fr-FR" sz="2000" dirty="0" smtClean="0"/>
              <a:t>.</a:t>
            </a:r>
            <a:endParaRPr lang="fr-FR" sz="2000" dirty="0"/>
          </a:p>
          <a:p>
            <a:endParaRPr lang="fr-FR" sz="2000"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37</a:t>
            </a:fld>
            <a:endParaRPr lang="fr-FR"/>
          </a:p>
        </p:txBody>
      </p:sp>
    </p:spTree>
    <p:extLst>
      <p:ext uri="{BB962C8B-B14F-4D97-AF65-F5344CB8AC3E}">
        <p14:creationId xmlns:p14="http://schemas.microsoft.com/office/powerpoint/2010/main" val="4184093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332656"/>
            <a:ext cx="8892480" cy="6334844"/>
          </a:xfrm>
        </p:spPr>
        <p:txBody>
          <a:bodyPr>
            <a:normAutofit/>
          </a:bodyPr>
          <a:lstStyle/>
          <a:p>
            <a:pPr marL="571500" indent="-571500">
              <a:buFont typeface="+mj-lt"/>
              <a:buAutoNum type="romanUcPeriod" startAt="7"/>
            </a:pPr>
            <a:r>
              <a:rPr lang="fr-FR" b="1" dirty="0" smtClean="0">
                <a:solidFill>
                  <a:srgbClr val="FF0000"/>
                </a:solidFill>
              </a:rPr>
              <a:t>Traitement:</a:t>
            </a:r>
          </a:p>
          <a:p>
            <a:pPr>
              <a:buClr>
                <a:srgbClr val="0070C0"/>
              </a:buClr>
              <a:buSzPct val="100000"/>
              <a:buFont typeface="Wingdings" panose="05000000000000000000" pitchFamily="2" charset="2"/>
              <a:buChar char="q"/>
            </a:pPr>
            <a:r>
              <a:rPr lang="fr-FR" dirty="0" smtClean="0">
                <a:solidFill>
                  <a:srgbClr val="0070C0"/>
                </a:solidFill>
              </a:rPr>
              <a:t>   </a:t>
            </a:r>
            <a:r>
              <a:rPr lang="fr-FR" sz="2400" b="1" dirty="0" smtClean="0">
                <a:solidFill>
                  <a:srgbClr val="00B0F0"/>
                </a:solidFill>
              </a:rPr>
              <a:t>Régime </a:t>
            </a:r>
            <a:r>
              <a:rPr lang="fr-FR" sz="2400" b="1" dirty="0">
                <a:solidFill>
                  <a:srgbClr val="00B0F0"/>
                </a:solidFill>
              </a:rPr>
              <a:t>sans </a:t>
            </a:r>
            <a:r>
              <a:rPr lang="fr-FR" sz="2400" b="1" dirty="0" smtClean="0">
                <a:solidFill>
                  <a:srgbClr val="00B0F0"/>
                </a:solidFill>
              </a:rPr>
              <a:t>gluten:</a:t>
            </a:r>
          </a:p>
          <a:p>
            <a:pPr marL="0" indent="0">
              <a:buClr>
                <a:srgbClr val="0070C0"/>
              </a:buClr>
              <a:buSzPct val="100000"/>
              <a:buNone/>
            </a:pPr>
            <a:endParaRPr lang="fr-FR" b="1" dirty="0">
              <a:solidFill>
                <a:srgbClr val="00B0F0"/>
              </a:solidFill>
            </a:endParaRPr>
          </a:p>
          <a:p>
            <a:pPr lvl="1">
              <a:buFont typeface="Wingdings" panose="05000000000000000000" pitchFamily="2" charset="2"/>
              <a:buChar char="v"/>
            </a:pPr>
            <a:r>
              <a:rPr lang="fr-FR" sz="2200" dirty="0"/>
              <a:t>Le traitement de la maladie cœliaque repose sur l'observance d'un régime sans gluten. Le gluten est présent dans </a:t>
            </a:r>
            <a:r>
              <a:rPr lang="fr-FR" sz="2200" b="1" dirty="0">
                <a:solidFill>
                  <a:srgbClr val="FF0000"/>
                </a:solidFill>
              </a:rPr>
              <a:t>le blé et les espèces apparentées, le seigle, l'orge et leurs dérivés</a:t>
            </a:r>
            <a:r>
              <a:rPr lang="fr-FR" sz="2200" dirty="0"/>
              <a:t>, à ​​l'exception des ingrédients purifiés tels que l'amidon de blé </a:t>
            </a:r>
            <a:r>
              <a:rPr lang="fr-FR" sz="2200" dirty="0" smtClean="0"/>
              <a:t>déglutiné.</a:t>
            </a:r>
          </a:p>
          <a:p>
            <a:pPr lvl="1">
              <a:buFont typeface="Wingdings" panose="05000000000000000000" pitchFamily="2" charset="2"/>
              <a:buChar char="v"/>
            </a:pPr>
            <a:r>
              <a:rPr lang="fr-FR" sz="2200" dirty="0" smtClean="0"/>
              <a:t> </a:t>
            </a:r>
            <a:r>
              <a:rPr lang="fr-FR" sz="2200" dirty="0"/>
              <a:t>Les céréales naturellement sans gluten, telles que </a:t>
            </a:r>
            <a:r>
              <a:rPr lang="fr-FR" sz="2200" b="1" dirty="0">
                <a:solidFill>
                  <a:srgbClr val="C00000"/>
                </a:solidFill>
              </a:rPr>
              <a:t>le riz, le </a:t>
            </a:r>
            <a:r>
              <a:rPr lang="fr-FR" sz="2200" b="1" dirty="0" smtClean="0">
                <a:solidFill>
                  <a:srgbClr val="C00000"/>
                </a:solidFill>
              </a:rPr>
              <a:t>maïs </a:t>
            </a:r>
            <a:r>
              <a:rPr lang="fr-FR" sz="2200" dirty="0" smtClean="0"/>
              <a:t>sont </a:t>
            </a:r>
            <a:r>
              <a:rPr lang="fr-FR" sz="2200" dirty="0"/>
              <a:t>autorisées dans un régime sans gluten. </a:t>
            </a:r>
          </a:p>
          <a:p>
            <a:pPr lvl="1">
              <a:buFont typeface="Wingdings" panose="05000000000000000000" pitchFamily="2" charset="2"/>
              <a:buChar char="v"/>
            </a:pPr>
            <a:r>
              <a:rPr lang="fr-FR" sz="2200" b="1" dirty="0">
                <a:solidFill>
                  <a:srgbClr val="002060"/>
                </a:solidFill>
              </a:rPr>
              <a:t>L'avoine</a:t>
            </a:r>
            <a:r>
              <a:rPr lang="fr-FR" sz="2200" dirty="0">
                <a:solidFill>
                  <a:srgbClr val="002060"/>
                </a:solidFill>
              </a:rPr>
              <a:t>, </a:t>
            </a:r>
            <a:r>
              <a:rPr lang="fr-FR" sz="2200" dirty="0"/>
              <a:t>une céréale riche en nutriments importants tels que les fibres, les acides gras insaturés et les antioxydants, est bien tolérée par la plupart des patients atteints de la maladie cœliaque. Cependant, parfois responsables d'une réactivation de la maladie.  </a:t>
            </a:r>
          </a:p>
          <a:p>
            <a:endParaRPr lang="fr-FR" dirty="0"/>
          </a:p>
          <a:p>
            <a:endParaRPr lang="fr-FR" dirty="0">
              <a:solidFill>
                <a:srgbClr val="FF0000"/>
              </a:solidFill>
            </a:endParaRP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38</a:t>
            </a:fld>
            <a:endParaRPr lang="fr-F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116632"/>
            <a:ext cx="8640960" cy="6741368"/>
          </a:xfrm>
        </p:spPr>
        <p:txBody>
          <a:bodyPr>
            <a:normAutofit/>
          </a:bodyPr>
          <a:lstStyle/>
          <a:p>
            <a:pPr>
              <a:buFont typeface="Wingdings" panose="05000000000000000000" pitchFamily="2" charset="2"/>
              <a:buChar char="v"/>
            </a:pPr>
            <a:endParaRPr lang="fr-FR" sz="2200" dirty="0" smtClean="0"/>
          </a:p>
          <a:p>
            <a:pPr>
              <a:buFont typeface="Wingdings" panose="05000000000000000000" pitchFamily="2" charset="2"/>
              <a:buChar char="v"/>
            </a:pPr>
            <a:endParaRPr lang="fr-FR" sz="2200" dirty="0"/>
          </a:p>
          <a:p>
            <a:pPr>
              <a:buFont typeface="Wingdings" panose="05000000000000000000" pitchFamily="2" charset="2"/>
              <a:buChar char="v"/>
            </a:pPr>
            <a:r>
              <a:rPr lang="fr-FR" sz="2200" dirty="0" smtClean="0"/>
              <a:t>De </a:t>
            </a:r>
            <a:r>
              <a:rPr lang="fr-FR" sz="2200" dirty="0"/>
              <a:t>plus, le gluten est un ingrédient omniprésent</a:t>
            </a:r>
            <a:r>
              <a:rPr lang="fr-FR" sz="2200" dirty="0" smtClean="0"/>
              <a:t>, et </a:t>
            </a:r>
            <a:r>
              <a:rPr lang="fr-FR" sz="2200" dirty="0"/>
              <a:t>on le retrouve dans de nombreux produits </a:t>
            </a:r>
            <a:r>
              <a:rPr lang="fr-FR" sz="2200" dirty="0" smtClean="0"/>
              <a:t>inattendus. Ce qui augmente le </a:t>
            </a:r>
            <a:r>
              <a:rPr lang="fr-FR" sz="2200" dirty="0">
                <a:solidFill>
                  <a:srgbClr val="C00000"/>
                </a:solidFill>
              </a:rPr>
              <a:t>risque de contamination </a:t>
            </a:r>
            <a:r>
              <a:rPr lang="fr-FR" sz="2200" dirty="0" smtClean="0">
                <a:solidFill>
                  <a:srgbClr val="C00000"/>
                </a:solidFill>
              </a:rPr>
              <a:t>accidentelle</a:t>
            </a:r>
          </a:p>
          <a:p>
            <a:pPr>
              <a:buFont typeface="Wingdings" panose="05000000000000000000" pitchFamily="2" charset="2"/>
              <a:buChar char="v"/>
            </a:pPr>
            <a:endParaRPr lang="fr-FR" sz="2200" dirty="0"/>
          </a:p>
          <a:p>
            <a:pPr>
              <a:buFont typeface="Wingdings" panose="05000000000000000000" pitchFamily="2" charset="2"/>
              <a:buChar char="v"/>
            </a:pPr>
            <a:r>
              <a:rPr lang="fr-FR" sz="2200" dirty="0"/>
              <a:t> </a:t>
            </a:r>
            <a:r>
              <a:rPr lang="fr-FR" sz="2200" dirty="0">
                <a:solidFill>
                  <a:srgbClr val="C00000"/>
                </a:solidFill>
              </a:rPr>
              <a:t>L'observance incomplète </a:t>
            </a:r>
            <a:r>
              <a:rPr lang="fr-FR" sz="2200" dirty="0"/>
              <a:t>d'un régime sans gluten est plus fréquente chez les hommes, les adolescents et les cas cliniquement silencieux. À long terme, une </a:t>
            </a:r>
            <a:r>
              <a:rPr lang="fr-FR" sz="2200" dirty="0">
                <a:solidFill>
                  <a:srgbClr val="C00000"/>
                </a:solidFill>
              </a:rPr>
              <a:t>cicatrisation incomplète de la muqueuse </a:t>
            </a:r>
            <a:r>
              <a:rPr lang="fr-FR" sz="2200" dirty="0"/>
              <a:t>a été associée à un </a:t>
            </a:r>
            <a:r>
              <a:rPr lang="fr-FR" sz="2200" dirty="0">
                <a:solidFill>
                  <a:srgbClr val="C00000"/>
                </a:solidFill>
              </a:rPr>
              <a:t>risque </a:t>
            </a:r>
            <a:r>
              <a:rPr lang="fr-FR" sz="2200" dirty="0" smtClean="0">
                <a:solidFill>
                  <a:srgbClr val="C00000"/>
                </a:solidFill>
              </a:rPr>
              <a:t>de complications à long terme</a:t>
            </a:r>
            <a:endParaRPr lang="fr-FR" sz="2200" dirty="0">
              <a:solidFill>
                <a:srgbClr val="C00000"/>
              </a:solidFill>
            </a:endParaRP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39</a:t>
            </a:fld>
            <a:endParaRPr lang="fr-F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0"/>
            <a:ext cx="8892480" cy="6858000"/>
          </a:xfrm>
        </p:spPr>
        <p:txBody>
          <a:bodyPr>
            <a:normAutofit/>
          </a:bodyPr>
          <a:lstStyle/>
          <a:p>
            <a:pPr marL="0" indent="0">
              <a:buClr>
                <a:srgbClr val="0070C0"/>
              </a:buClr>
              <a:buSzPct val="100000"/>
              <a:buNone/>
            </a:pPr>
            <a:r>
              <a:rPr lang="fr-FR" dirty="0" smtClean="0">
                <a:solidFill>
                  <a:srgbClr val="0070C0"/>
                </a:solidFill>
              </a:rPr>
              <a:t>   </a:t>
            </a:r>
            <a:endParaRPr lang="fr-FR" sz="2400" b="1" dirty="0">
              <a:solidFill>
                <a:srgbClr val="0070C0"/>
              </a:solidFill>
            </a:endParaRPr>
          </a:p>
          <a:p>
            <a:pPr>
              <a:buClr>
                <a:srgbClr val="0070C0"/>
              </a:buClr>
              <a:buSzPct val="100000"/>
              <a:buFont typeface="Wingdings" panose="05000000000000000000" pitchFamily="2" charset="2"/>
              <a:buChar char="q"/>
            </a:pPr>
            <a:r>
              <a:rPr lang="fr-FR" sz="2400" b="1" dirty="0" smtClean="0">
                <a:solidFill>
                  <a:srgbClr val="00B0F0"/>
                </a:solidFill>
              </a:rPr>
              <a:t>Thérapies </a:t>
            </a:r>
            <a:r>
              <a:rPr lang="fr-FR" sz="2400" b="1" dirty="0">
                <a:solidFill>
                  <a:srgbClr val="00B0F0"/>
                </a:solidFill>
              </a:rPr>
              <a:t>en complément d'un régime sans </a:t>
            </a:r>
            <a:r>
              <a:rPr lang="fr-FR" sz="2400" b="1" dirty="0" smtClean="0">
                <a:solidFill>
                  <a:srgbClr val="00B0F0"/>
                </a:solidFill>
              </a:rPr>
              <a:t>gluten:</a:t>
            </a:r>
            <a:endParaRPr lang="fr-FR" sz="2400" b="1" dirty="0">
              <a:solidFill>
                <a:srgbClr val="00B0F0"/>
              </a:solidFill>
            </a:endParaRPr>
          </a:p>
          <a:p>
            <a:pPr lvl="0">
              <a:buFont typeface="Wingdings" panose="05000000000000000000" pitchFamily="2" charset="2"/>
              <a:buChar char="v"/>
            </a:pPr>
            <a:r>
              <a:rPr lang="fr-FR" sz="2200" dirty="0"/>
              <a:t>Le traitement de la </a:t>
            </a:r>
            <a:r>
              <a:rPr lang="fr-FR" sz="2200" dirty="0">
                <a:solidFill>
                  <a:srgbClr val="C00000"/>
                </a:solidFill>
              </a:rPr>
              <a:t>dysbiose</a:t>
            </a:r>
            <a:r>
              <a:rPr lang="fr-FR" sz="2200" dirty="0"/>
              <a:t> associée à la maladie cœliaque a été tenté par l'administration de </a:t>
            </a:r>
            <a:r>
              <a:rPr lang="fr-FR" sz="2200" b="1" dirty="0">
                <a:solidFill>
                  <a:srgbClr val="C00000"/>
                </a:solidFill>
              </a:rPr>
              <a:t>probiotiques. </a:t>
            </a:r>
            <a:endParaRPr lang="fr-FR" sz="2200" b="1" dirty="0" smtClean="0">
              <a:solidFill>
                <a:srgbClr val="C00000"/>
              </a:solidFill>
            </a:endParaRPr>
          </a:p>
          <a:p>
            <a:pPr marL="0" lvl="0" indent="0">
              <a:buNone/>
            </a:pPr>
            <a:endParaRPr lang="fr-FR" sz="2200" dirty="0" smtClean="0"/>
          </a:p>
          <a:p>
            <a:pPr lvl="0">
              <a:buFont typeface="Wingdings" panose="05000000000000000000" pitchFamily="2" charset="2"/>
              <a:buChar char="v"/>
            </a:pPr>
            <a:endParaRPr lang="fr-FR" sz="2200" dirty="0"/>
          </a:p>
          <a:p>
            <a:pPr lvl="0">
              <a:buFont typeface="Wingdings" panose="05000000000000000000" pitchFamily="2" charset="2"/>
              <a:buChar char="v"/>
            </a:pPr>
            <a:r>
              <a:rPr lang="fr-FR" sz="2200" dirty="0"/>
              <a:t>Les options thérapeutiques actuellement recommandées pour la </a:t>
            </a:r>
            <a:r>
              <a:rPr lang="fr-FR" sz="2200" dirty="0">
                <a:solidFill>
                  <a:srgbClr val="C00000"/>
                </a:solidFill>
              </a:rPr>
              <a:t>maladie cœliaque réfractaire </a:t>
            </a:r>
            <a:r>
              <a:rPr lang="fr-FR" sz="2200" dirty="0"/>
              <a:t>comprennent </a:t>
            </a:r>
            <a:r>
              <a:rPr lang="fr-FR" sz="2200" b="1" dirty="0"/>
              <a:t>un soutien nutritionnel</a:t>
            </a:r>
            <a:r>
              <a:rPr lang="fr-FR" sz="2200" dirty="0"/>
              <a:t>, </a:t>
            </a:r>
            <a:r>
              <a:rPr lang="fr-FR" sz="2200" b="1" dirty="0"/>
              <a:t>des agents pharmacologiques </a:t>
            </a:r>
            <a:r>
              <a:rPr lang="fr-FR" sz="2200" dirty="0"/>
              <a:t>(</a:t>
            </a:r>
            <a:r>
              <a:rPr lang="fr-FR" sz="2200" b="1" i="1" dirty="0"/>
              <a:t>budésonide et azathioprine </a:t>
            </a:r>
            <a:r>
              <a:rPr lang="fr-FR" sz="2200" dirty="0"/>
              <a:t>pour le type 1 ; </a:t>
            </a:r>
            <a:r>
              <a:rPr lang="fr-FR" sz="2200" b="1" i="1" dirty="0"/>
              <a:t>budésonide ou prednisone et cladribine </a:t>
            </a:r>
            <a:r>
              <a:rPr lang="fr-FR" sz="2200" dirty="0"/>
              <a:t>pour le type 2) et une </a:t>
            </a:r>
            <a:r>
              <a:rPr lang="fr-FR" sz="2200" b="1" i="1" dirty="0"/>
              <a:t>autogreffe de cellules souches hématopoïétiques </a:t>
            </a:r>
            <a:r>
              <a:rPr lang="fr-FR" sz="2200" dirty="0"/>
              <a:t>chez les patients atteints de type 2 non répondeurs.</a:t>
            </a:r>
          </a:p>
          <a:p>
            <a:pPr marL="0" indent="0">
              <a:buNone/>
            </a:pPr>
            <a:r>
              <a:rPr lang="fr-FR" b="1" dirty="0" smtClean="0">
                <a:solidFill>
                  <a:schemeClr val="accent2"/>
                </a:solidFill>
              </a:rPr>
              <a:t> </a:t>
            </a:r>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40</a:t>
            </a:fld>
            <a:endParaRPr lang="fr-F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41</a:t>
            </a:fld>
            <a:endParaRPr lang="fr-FR"/>
          </a:p>
        </p:txBody>
      </p:sp>
      <p:sp>
        <p:nvSpPr>
          <p:cNvPr id="5" name="Espace réservé du contenu 4"/>
          <p:cNvSpPr>
            <a:spLocks noGrp="1"/>
          </p:cNvSpPr>
          <p:nvPr>
            <p:ph sz="quarter" idx="1"/>
          </p:nvPr>
        </p:nvSpPr>
        <p:spPr>
          <a:xfrm>
            <a:off x="146304" y="188640"/>
            <a:ext cx="8997696" cy="6478860"/>
          </a:xfrm>
        </p:spPr>
        <p:txBody>
          <a:bodyPr>
            <a:normAutofit/>
          </a:bodyPr>
          <a:lstStyle/>
          <a:p>
            <a:pPr algn="ctr">
              <a:buClr>
                <a:srgbClr val="0070C0"/>
              </a:buClr>
              <a:buSzPct val="100000"/>
              <a:buFont typeface="Wingdings" panose="05000000000000000000" pitchFamily="2" charset="2"/>
              <a:buChar char="q"/>
            </a:pPr>
            <a:r>
              <a:rPr lang="fr-FR" b="1" dirty="0" smtClean="0">
                <a:solidFill>
                  <a:srgbClr val="00B0F0"/>
                </a:solidFill>
              </a:rPr>
              <a:t>Management (résumé)</a:t>
            </a:r>
          </a:p>
          <a:p>
            <a:pPr algn="ctr">
              <a:buClr>
                <a:srgbClr val="0070C0"/>
              </a:buClr>
              <a:buSzPct val="100000"/>
              <a:buFont typeface="Wingdings" panose="05000000000000000000" pitchFamily="2" charset="2"/>
              <a:buChar char="q"/>
            </a:pPr>
            <a:endParaRPr lang="fr-FR" b="1" dirty="0" smtClean="0">
              <a:solidFill>
                <a:srgbClr val="00B0F0"/>
              </a:solidFill>
            </a:endParaRPr>
          </a:p>
          <a:p>
            <a:pPr lvl="1">
              <a:buFont typeface="Wingdings" panose="05000000000000000000" pitchFamily="2" charset="2"/>
              <a:buChar char="v"/>
            </a:pPr>
            <a:r>
              <a:rPr lang="fr-FR" sz="2200" dirty="0"/>
              <a:t>Adhésion stricte au régime sans gluten à vie (RSG)</a:t>
            </a:r>
          </a:p>
          <a:p>
            <a:pPr lvl="1">
              <a:buFont typeface="Wingdings" panose="05000000000000000000" pitchFamily="2" charset="2"/>
              <a:buChar char="v"/>
            </a:pPr>
            <a:r>
              <a:rPr lang="fr-FR" sz="2200" dirty="0" smtClean="0"/>
              <a:t>Éviter </a:t>
            </a:r>
            <a:r>
              <a:rPr lang="fr-FR" sz="2200" dirty="0"/>
              <a:t>toute source de blé, d'orge et de seigle</a:t>
            </a:r>
          </a:p>
          <a:p>
            <a:pPr lvl="1">
              <a:buFont typeface="Wingdings" panose="05000000000000000000" pitchFamily="2" charset="2"/>
              <a:buChar char="v"/>
            </a:pPr>
            <a:r>
              <a:rPr lang="fr-FR" sz="2200" dirty="0" smtClean="0"/>
              <a:t>Éviter </a:t>
            </a:r>
            <a:r>
              <a:rPr lang="fr-FR" sz="2200" dirty="0"/>
              <a:t>les expositions accidentelles </a:t>
            </a:r>
            <a:r>
              <a:rPr lang="fr-FR" sz="2200" dirty="0" smtClean="0"/>
              <a:t> </a:t>
            </a:r>
            <a:endParaRPr lang="fr-FR" sz="2200" dirty="0"/>
          </a:p>
          <a:p>
            <a:pPr lvl="1">
              <a:buFont typeface="Wingdings" panose="05000000000000000000" pitchFamily="2" charset="2"/>
              <a:buChar char="v"/>
            </a:pPr>
            <a:r>
              <a:rPr lang="fr-FR" sz="2200" dirty="0" smtClean="0"/>
              <a:t>Tous </a:t>
            </a:r>
            <a:r>
              <a:rPr lang="fr-FR" sz="2200" dirty="0"/>
              <a:t>les patients doivent bénéficier d'une première consultation avec un diététicien après le diagnostic pour une évaluation et une éducation nutritionnelles</a:t>
            </a:r>
          </a:p>
          <a:p>
            <a:pPr lvl="1">
              <a:buFont typeface="Wingdings" panose="05000000000000000000" pitchFamily="2" charset="2"/>
              <a:buChar char="v"/>
            </a:pPr>
            <a:r>
              <a:rPr lang="fr-FR" sz="2200" dirty="0" smtClean="0"/>
              <a:t>Avoine </a:t>
            </a:r>
            <a:r>
              <a:rPr lang="fr-FR" sz="2200" dirty="0"/>
              <a:t>sans gluten ⇨ généralement sans danger, mais une surveillance de la tolérance peut être </a:t>
            </a:r>
            <a:r>
              <a:rPr lang="fr-FR" sz="2200" dirty="0" smtClean="0"/>
              <a:t>nécessaire</a:t>
            </a:r>
            <a:endParaRPr lang="fr-FR" sz="2200" dirty="0"/>
          </a:p>
          <a:p>
            <a:pPr lvl="1">
              <a:buFont typeface="Wingdings" panose="05000000000000000000" pitchFamily="2" charset="2"/>
              <a:buChar char="v"/>
            </a:pPr>
            <a:r>
              <a:rPr lang="fr-FR" sz="2200" dirty="0" smtClean="0"/>
              <a:t>Probiotiques </a:t>
            </a:r>
            <a:r>
              <a:rPr lang="fr-FR" sz="2200" dirty="0"/>
              <a:t>⇨ preuves insuffisantes pour recommander</a:t>
            </a:r>
          </a:p>
          <a:p>
            <a:pPr marL="0" indent="0">
              <a:buClr>
                <a:srgbClr val="0070C0"/>
              </a:buClr>
              <a:buSzPct val="100000"/>
              <a:buNone/>
            </a:pPr>
            <a:endParaRPr lang="fr-FR" b="1" dirty="0" smtClean="0">
              <a:solidFill>
                <a:srgbClr val="00B0F0"/>
              </a:solidFill>
            </a:endParaRPr>
          </a:p>
        </p:txBody>
      </p:sp>
    </p:spTree>
    <p:extLst>
      <p:ext uri="{BB962C8B-B14F-4D97-AF65-F5344CB8AC3E}">
        <p14:creationId xmlns:p14="http://schemas.microsoft.com/office/powerpoint/2010/main" val="9353209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79512" y="260648"/>
            <a:ext cx="8712968" cy="6264696"/>
          </a:xfrm>
        </p:spPr>
        <p:txBody>
          <a:bodyPr>
            <a:normAutofit/>
          </a:bodyPr>
          <a:lstStyle/>
          <a:p>
            <a:pPr marL="571500" indent="-571500">
              <a:buClr>
                <a:srgbClr val="FF0000"/>
              </a:buClr>
              <a:buFont typeface="+mj-lt"/>
              <a:buAutoNum type="romanUcPeriod" startAt="8"/>
            </a:pPr>
            <a:r>
              <a:rPr lang="fr-FR" sz="2800" b="1" dirty="0" smtClean="0">
                <a:solidFill>
                  <a:srgbClr val="FF0000"/>
                </a:solidFill>
              </a:rPr>
              <a:t>   Suivi</a:t>
            </a:r>
            <a:endParaRPr lang="fr-FR" sz="2800" b="1" dirty="0">
              <a:solidFill>
                <a:srgbClr val="FF0000"/>
              </a:solidFill>
            </a:endParaRPr>
          </a:p>
          <a:p>
            <a:pPr lvl="1">
              <a:buFont typeface="Wingdings" panose="05000000000000000000" pitchFamily="2" charset="2"/>
              <a:buChar char="v"/>
            </a:pPr>
            <a:r>
              <a:rPr lang="fr-FR" sz="2000" dirty="0" smtClean="0"/>
              <a:t> un suivi </a:t>
            </a:r>
            <a:r>
              <a:rPr lang="fr-FR" sz="2000" dirty="0"/>
              <a:t>régulier est </a:t>
            </a:r>
            <a:r>
              <a:rPr lang="fr-FR" sz="2000" dirty="0" smtClean="0"/>
              <a:t>recommandé (évaluer </a:t>
            </a:r>
            <a:r>
              <a:rPr lang="fr-FR" sz="2000" dirty="0"/>
              <a:t>l'observance du </a:t>
            </a:r>
            <a:r>
              <a:rPr lang="fr-FR" sz="2000" dirty="0" smtClean="0"/>
              <a:t>RSG, renforcer l’éducation </a:t>
            </a:r>
            <a:r>
              <a:rPr lang="fr-FR" sz="2000" dirty="0"/>
              <a:t>sur la maladie </a:t>
            </a:r>
            <a:r>
              <a:rPr lang="fr-FR" sz="2000" dirty="0" smtClean="0"/>
              <a:t>)</a:t>
            </a:r>
            <a:endParaRPr lang="fr-FR" sz="2000" dirty="0" smtClean="0"/>
          </a:p>
          <a:p>
            <a:pPr lvl="1">
              <a:buFont typeface="Wingdings" panose="05000000000000000000" pitchFamily="2" charset="2"/>
              <a:buChar char="v"/>
            </a:pPr>
            <a:endParaRPr lang="fr-FR" sz="2000" dirty="0"/>
          </a:p>
          <a:p>
            <a:pPr lvl="1">
              <a:buFont typeface="Wingdings" panose="05000000000000000000" pitchFamily="2" charset="2"/>
              <a:buChar char="v"/>
            </a:pPr>
            <a:r>
              <a:rPr lang="fr-FR" sz="2000" dirty="0" smtClean="0"/>
              <a:t>Bonne observance = amélioration </a:t>
            </a:r>
            <a:r>
              <a:rPr lang="fr-FR" sz="2000" dirty="0"/>
              <a:t>ou une </a:t>
            </a:r>
            <a:r>
              <a:rPr lang="fr-FR" sz="2000" dirty="0">
                <a:solidFill>
                  <a:srgbClr val="C00000"/>
                </a:solidFill>
              </a:rPr>
              <a:t>résolution des symptômes </a:t>
            </a:r>
            <a:r>
              <a:rPr lang="fr-FR" sz="2000" dirty="0"/>
              <a:t>au cours </a:t>
            </a:r>
            <a:r>
              <a:rPr lang="fr-FR" sz="2000" b="1" dirty="0"/>
              <a:t>des 6 premiers </a:t>
            </a:r>
            <a:r>
              <a:rPr lang="fr-FR" sz="2000" b="1" dirty="0" smtClean="0"/>
              <a:t>mois</a:t>
            </a:r>
            <a:r>
              <a:rPr lang="fr-FR" sz="2000" dirty="0" smtClean="0"/>
              <a:t>.</a:t>
            </a:r>
          </a:p>
          <a:p>
            <a:pPr lvl="1">
              <a:buFont typeface="Wingdings" panose="05000000000000000000" pitchFamily="2" charset="2"/>
              <a:buChar char="v"/>
            </a:pPr>
            <a:endParaRPr lang="fr-FR" sz="2000" dirty="0" smtClean="0"/>
          </a:p>
          <a:p>
            <a:pPr lvl="1">
              <a:buFont typeface="Wingdings" panose="05000000000000000000" pitchFamily="2" charset="2"/>
              <a:buChar char="v"/>
            </a:pPr>
            <a:r>
              <a:rPr lang="fr-FR" sz="2000" dirty="0" smtClean="0"/>
              <a:t> la </a:t>
            </a:r>
            <a:r>
              <a:rPr lang="fr-FR" sz="2000" dirty="0"/>
              <a:t>persistance des </a:t>
            </a:r>
            <a:r>
              <a:rPr lang="fr-FR" sz="2000" dirty="0" smtClean="0"/>
              <a:t>symptômes: explorer (l observance ,syndrome </a:t>
            </a:r>
            <a:r>
              <a:rPr lang="fr-FR" sz="2000" dirty="0"/>
              <a:t>du côlon irritable, </a:t>
            </a:r>
            <a:r>
              <a:rPr lang="fr-FR" sz="2000" dirty="0" smtClean="0"/>
              <a:t> ou </a:t>
            </a:r>
            <a:r>
              <a:rPr lang="fr-FR" sz="2000" dirty="0"/>
              <a:t>la colite </a:t>
            </a:r>
            <a:r>
              <a:rPr lang="fr-FR" sz="2000" dirty="0" err="1" smtClean="0"/>
              <a:t>microscopique,autres</a:t>
            </a:r>
            <a:r>
              <a:rPr lang="fr-FR" sz="2000" dirty="0" smtClean="0"/>
              <a:t> complication,,,).</a:t>
            </a:r>
          </a:p>
          <a:p>
            <a:pPr lvl="1">
              <a:buFont typeface="Wingdings" panose="05000000000000000000" pitchFamily="2" charset="2"/>
              <a:buChar char="v"/>
            </a:pPr>
            <a:endParaRPr lang="fr-FR" sz="2000" dirty="0"/>
          </a:p>
          <a:p>
            <a:pPr lvl="1">
              <a:buFont typeface="Wingdings" panose="05000000000000000000" pitchFamily="2" charset="2"/>
              <a:buChar char="v"/>
            </a:pPr>
            <a:r>
              <a:rPr lang="fr-FR" sz="2000" dirty="0"/>
              <a:t>Un diététicien expert doit être impliqué lors du diagnostic et </a:t>
            </a:r>
            <a:r>
              <a:rPr lang="fr-FR" sz="2000" dirty="0" smtClean="0"/>
              <a:t>le suivi </a:t>
            </a:r>
          </a:p>
          <a:p>
            <a:pPr lvl="1">
              <a:buFont typeface="Wingdings" panose="05000000000000000000" pitchFamily="2" charset="2"/>
              <a:buChar char="v"/>
            </a:pPr>
            <a:endParaRPr lang="fr-FR" sz="2000" dirty="0"/>
          </a:p>
          <a:p>
            <a:pPr lvl="1">
              <a:buFont typeface="Wingdings" panose="05000000000000000000" pitchFamily="2" charset="2"/>
              <a:buChar char="v"/>
            </a:pPr>
            <a:r>
              <a:rPr lang="fr-FR" sz="2000" dirty="0" smtClean="0"/>
              <a:t>Vérifier et  corriger les carences ( fer sérique , vit D , ca , DMO ,,,,)</a:t>
            </a:r>
            <a:endParaRPr lang="fr-FR" sz="2000" dirty="0" smtClean="0"/>
          </a:p>
          <a:p>
            <a:pPr lvl="1">
              <a:buFont typeface="Wingdings" panose="05000000000000000000" pitchFamily="2" charset="2"/>
              <a:buChar char="v"/>
            </a:pPr>
            <a:endParaRPr lang="fr-FR" sz="2000" dirty="0"/>
          </a:p>
          <a:p>
            <a:endParaRPr lang="fr-FR" dirty="0"/>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42</a:t>
            </a:fld>
            <a:endParaRPr lang="fr-F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0" y="0"/>
            <a:ext cx="9144000" cy="6858000"/>
          </a:xfrm>
        </p:spPr>
        <p:txBody>
          <a:bodyPr>
            <a:normAutofit/>
          </a:bodyPr>
          <a:lstStyle/>
          <a:p>
            <a:pPr lvl="1">
              <a:buFont typeface="Wingdings" panose="05000000000000000000" pitchFamily="2" charset="2"/>
              <a:buChar char="v"/>
            </a:pPr>
            <a:endParaRPr lang="fr-FR" sz="2000" dirty="0" smtClean="0"/>
          </a:p>
          <a:p>
            <a:pPr lvl="1">
              <a:buFont typeface="Wingdings" panose="05000000000000000000" pitchFamily="2" charset="2"/>
              <a:buChar char="v"/>
            </a:pPr>
            <a:r>
              <a:rPr lang="fr-FR" sz="2000" dirty="0" smtClean="0">
                <a:solidFill>
                  <a:srgbClr val="C00000"/>
                </a:solidFill>
              </a:rPr>
              <a:t>Le </a:t>
            </a:r>
            <a:r>
              <a:rPr lang="fr-FR" sz="2000" dirty="0">
                <a:solidFill>
                  <a:srgbClr val="C00000"/>
                </a:solidFill>
              </a:rPr>
              <a:t>taux </a:t>
            </a:r>
            <a:r>
              <a:rPr lang="fr-FR" sz="2000" dirty="0" err="1">
                <a:solidFill>
                  <a:srgbClr val="C00000"/>
                </a:solidFill>
              </a:rPr>
              <a:t>d'IgA</a:t>
            </a:r>
            <a:r>
              <a:rPr lang="fr-FR" sz="2000" dirty="0">
                <a:solidFill>
                  <a:srgbClr val="C00000"/>
                </a:solidFill>
              </a:rPr>
              <a:t> anti-TG2 </a:t>
            </a:r>
            <a:r>
              <a:rPr lang="fr-FR" sz="2000" dirty="0"/>
              <a:t>doit être </a:t>
            </a:r>
            <a:r>
              <a:rPr lang="fr-FR" sz="2000" dirty="0" smtClean="0"/>
              <a:t>surveillé: </a:t>
            </a:r>
            <a:r>
              <a:rPr lang="fr-FR" sz="2000" b="1" dirty="0"/>
              <a:t>Une diminution </a:t>
            </a:r>
            <a:r>
              <a:rPr lang="fr-FR" sz="2000" b="1" dirty="0" smtClean="0"/>
              <a:t>après </a:t>
            </a:r>
            <a:r>
              <a:rPr lang="fr-FR" sz="2000" b="1" dirty="0"/>
              <a:t>quelques mois de régime </a:t>
            </a:r>
            <a:r>
              <a:rPr lang="fr-FR" sz="2000" dirty="0" smtClean="0"/>
              <a:t>et </a:t>
            </a:r>
            <a:r>
              <a:rPr lang="fr-FR" sz="2000" b="1" dirty="0" smtClean="0"/>
              <a:t>normalisation </a:t>
            </a:r>
            <a:r>
              <a:rPr lang="fr-FR" sz="2000" b="1" dirty="0"/>
              <a:t>complète </a:t>
            </a:r>
            <a:r>
              <a:rPr lang="fr-FR" sz="2000" dirty="0" smtClean="0"/>
              <a:t>tardive (</a:t>
            </a:r>
            <a:r>
              <a:rPr lang="fr-FR" sz="2000" b="1" dirty="0" smtClean="0"/>
              <a:t>plus </a:t>
            </a:r>
            <a:r>
              <a:rPr lang="fr-FR" sz="2000" b="1" dirty="0"/>
              <a:t>de deux ans</a:t>
            </a:r>
            <a:r>
              <a:rPr lang="fr-FR" sz="2000" b="1" dirty="0" smtClean="0"/>
              <a:t>.)</a:t>
            </a:r>
            <a:endParaRPr lang="fr-FR" sz="2000" dirty="0"/>
          </a:p>
          <a:p>
            <a:pPr lvl="1">
              <a:buFont typeface="Wingdings" panose="05000000000000000000" pitchFamily="2" charset="2"/>
              <a:buChar char="v"/>
            </a:pPr>
            <a:endParaRPr lang="fr-FR" sz="2000" dirty="0"/>
          </a:p>
          <a:p>
            <a:pPr lvl="1">
              <a:buFont typeface="Wingdings" panose="05000000000000000000" pitchFamily="2" charset="2"/>
              <a:buChar char="v"/>
            </a:pPr>
            <a:r>
              <a:rPr lang="fr-FR" sz="2000" dirty="0"/>
              <a:t>Les adultes doivent être </a:t>
            </a:r>
            <a:r>
              <a:rPr lang="fr-FR" sz="2000" dirty="0">
                <a:solidFill>
                  <a:srgbClr val="C00000"/>
                </a:solidFill>
              </a:rPr>
              <a:t>vaccinés contre les pneumocoques</a:t>
            </a:r>
            <a:r>
              <a:rPr lang="fr-FR" sz="2000" dirty="0"/>
              <a:t>, l'</a:t>
            </a:r>
            <a:r>
              <a:rPr lang="fr-FR" sz="2000" dirty="0" err="1"/>
              <a:t>Haemophilus</a:t>
            </a:r>
            <a:r>
              <a:rPr lang="fr-FR" sz="2000" dirty="0"/>
              <a:t> </a:t>
            </a:r>
            <a:r>
              <a:rPr lang="fr-FR" sz="2000" dirty="0" err="1"/>
              <a:t>influenzae</a:t>
            </a:r>
            <a:r>
              <a:rPr lang="fr-FR" sz="2000" dirty="0"/>
              <a:t> et les méningocoques, en raison du risque d'</a:t>
            </a:r>
            <a:r>
              <a:rPr lang="fr-FR" sz="2000" dirty="0" err="1"/>
              <a:t>hyposplénisme</a:t>
            </a:r>
            <a:r>
              <a:rPr lang="fr-FR" sz="2000" dirty="0"/>
              <a:t> ou d'</a:t>
            </a:r>
            <a:r>
              <a:rPr lang="fr-FR" sz="2000" dirty="0" err="1"/>
              <a:t>asplénie</a:t>
            </a:r>
            <a:r>
              <a:rPr lang="fr-FR" sz="2000" dirty="0"/>
              <a:t> fonctionnelle associé à la maladie cœliaque. </a:t>
            </a:r>
            <a:r>
              <a:rPr lang="fr-FR" sz="2000" dirty="0" smtClean="0"/>
              <a:t> </a:t>
            </a:r>
          </a:p>
          <a:p>
            <a:pPr lvl="1">
              <a:buFont typeface="Wingdings" panose="05000000000000000000" pitchFamily="2" charset="2"/>
              <a:buChar char="v"/>
            </a:pPr>
            <a:endParaRPr lang="fr-FR" sz="2000" dirty="0"/>
          </a:p>
          <a:p>
            <a:pPr lvl="1">
              <a:buFont typeface="Wingdings" panose="05000000000000000000" pitchFamily="2" charset="2"/>
              <a:buChar char="v"/>
            </a:pPr>
            <a:r>
              <a:rPr lang="fr-FR" sz="2000" dirty="0" smtClean="0"/>
              <a:t>Le suivi histologique font </a:t>
            </a:r>
            <a:r>
              <a:rPr lang="fr-FR" sz="2000" dirty="0"/>
              <a:t>encore l'objet de débats, </a:t>
            </a:r>
            <a:endParaRPr lang="fr-FR" sz="2000" dirty="0" smtClean="0"/>
          </a:p>
          <a:p>
            <a:pPr lvl="2">
              <a:buFont typeface="Wingdings" panose="05000000000000000000" pitchFamily="2" charset="2"/>
              <a:buChar char="ü"/>
            </a:pPr>
            <a:r>
              <a:rPr lang="fr-FR" sz="1800" dirty="0" smtClean="0"/>
              <a:t> raisonnable après 2 ans de RSG pour </a:t>
            </a:r>
            <a:r>
              <a:rPr lang="fr-FR" sz="1800" dirty="0"/>
              <a:t>les patients âgés de plus de 40 ans au moment du diagnostic </a:t>
            </a:r>
            <a:endParaRPr lang="fr-FR" sz="1800" dirty="0" smtClean="0"/>
          </a:p>
          <a:p>
            <a:pPr lvl="2">
              <a:buFont typeface="Wingdings" panose="05000000000000000000" pitchFamily="2" charset="2"/>
              <a:buChar char="ü"/>
            </a:pPr>
            <a:r>
              <a:rPr lang="fr-FR" sz="1800" dirty="0" smtClean="0"/>
              <a:t>ou </a:t>
            </a:r>
            <a:r>
              <a:rPr lang="fr-FR" sz="1800" dirty="0"/>
              <a:t>présentant des symptômes persistants. </a:t>
            </a:r>
          </a:p>
        </p:txBody>
      </p:sp>
      <p:sp>
        <p:nvSpPr>
          <p:cNvPr id="2" name="Espace réservé du pied de page 1"/>
          <p:cNvSpPr>
            <a:spLocks noGrp="1"/>
          </p:cNvSpPr>
          <p:nvPr>
            <p:ph type="ftr" sz="quarter" idx="11"/>
          </p:nvPr>
        </p:nvSpPr>
        <p:spPr/>
        <p:txBody>
          <a:bodyPr/>
          <a:lstStyle/>
          <a:p>
            <a:r>
              <a:rPr lang="fr-FR" smtClean="0"/>
              <a:t>dr yakhlef smail (HMRUC2025)                        </a:t>
            </a:r>
            <a:endParaRPr lang="fr-FR"/>
          </a:p>
        </p:txBody>
      </p:sp>
      <p:sp>
        <p:nvSpPr>
          <p:cNvPr id="4" name="Espace réservé du numéro de diapositive 3"/>
          <p:cNvSpPr>
            <a:spLocks noGrp="1"/>
          </p:cNvSpPr>
          <p:nvPr>
            <p:ph type="sldNum" sz="quarter" idx="12"/>
          </p:nvPr>
        </p:nvSpPr>
        <p:spPr/>
        <p:txBody>
          <a:bodyPr/>
          <a:lstStyle/>
          <a:p>
            <a:fld id="{E45DE23A-236E-47DD-9286-7BC7C2C86D6D}" type="slidenum">
              <a:rPr lang="fr-FR" smtClean="0"/>
              <a:pPr/>
              <a:t>43</a:t>
            </a:fld>
            <a:endParaRPr lang="fr-F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15184</TotalTime>
  <Words>2783</Words>
  <Application>Microsoft Office PowerPoint</Application>
  <PresentationFormat>Affichage à l'écran (4:3)</PresentationFormat>
  <Paragraphs>471</Paragraphs>
  <Slides>43</Slides>
  <Notes>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43</vt:i4>
      </vt:variant>
    </vt:vector>
  </HeadingPairs>
  <TitlesOfParts>
    <vt:vector size="52" baseType="lpstr">
      <vt:lpstr>Arial</vt:lpstr>
      <vt:lpstr>Calibri</vt:lpstr>
      <vt:lpstr>Courier New</vt:lpstr>
      <vt:lpstr>Franklin Gothic Book</vt:lpstr>
      <vt:lpstr>Perpetua</vt:lpstr>
      <vt:lpstr>Times New Roman</vt:lpstr>
      <vt:lpstr>Wingdings</vt:lpstr>
      <vt:lpstr>Wingdings 2</vt:lpstr>
      <vt:lpstr>Capitaux</vt:lpstr>
      <vt:lpstr>La maladie cœliaque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 clinique  Réactivation HVB sous rituximab (R-CHOP)</dc:title>
  <dc:creator>seven</dc:creator>
  <cp:lastModifiedBy>Compte Microsoft</cp:lastModifiedBy>
  <cp:revision>323</cp:revision>
  <dcterms:created xsi:type="dcterms:W3CDTF">2021-09-27T05:36:25Z</dcterms:created>
  <dcterms:modified xsi:type="dcterms:W3CDTF">2026-04-29T11:54:10Z</dcterms:modified>
</cp:coreProperties>
</file>