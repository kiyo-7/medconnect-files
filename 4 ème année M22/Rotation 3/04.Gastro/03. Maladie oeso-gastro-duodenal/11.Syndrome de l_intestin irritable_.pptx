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0" r:id="rId2"/>
    <p:sldId id="289" r:id="rId3"/>
    <p:sldId id="290" r:id="rId4"/>
    <p:sldId id="257" r:id="rId5"/>
    <p:sldId id="269" r:id="rId6"/>
    <p:sldId id="291" r:id="rId7"/>
    <p:sldId id="292" r:id="rId8"/>
    <p:sldId id="293" r:id="rId9"/>
    <p:sldId id="295" r:id="rId10"/>
    <p:sldId id="294" r:id="rId11"/>
    <p:sldId id="296" r:id="rId12"/>
    <p:sldId id="298" r:id="rId13"/>
    <p:sldId id="299" r:id="rId14"/>
    <p:sldId id="274" r:id="rId15"/>
    <p:sldId id="297" r:id="rId16"/>
    <p:sldId id="300" r:id="rId17"/>
    <p:sldId id="315" r:id="rId18"/>
    <p:sldId id="318" r:id="rId19"/>
    <p:sldId id="258" r:id="rId20"/>
    <p:sldId id="259" r:id="rId21"/>
    <p:sldId id="302" r:id="rId22"/>
    <p:sldId id="261" r:id="rId23"/>
    <p:sldId id="263" r:id="rId24"/>
    <p:sldId id="264" r:id="rId25"/>
    <p:sldId id="265" r:id="rId26"/>
    <p:sldId id="306" r:id="rId27"/>
    <p:sldId id="310" r:id="rId28"/>
    <p:sldId id="313" r:id="rId29"/>
    <p:sldId id="307" r:id="rId30"/>
    <p:sldId id="312" r:id="rId31"/>
  </p:sldIdLst>
  <p:sldSz cx="12192000" cy="6858000"/>
  <p:notesSz cx="6858000" cy="9144000"/>
  <p:defaultTextStyle>
    <a:defPPr>
      <a:defRPr lang="fr-D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DZ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7D97F-03BA-4682-8AD7-C75EFB93A6EC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DZ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DZ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593DD-60AE-4C46-B8DB-02304187D16D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117677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E233C9-1991-4A87-8815-6A0827CD3A87}" type="slidenum">
              <a:rPr lang="en-US"/>
              <a:pPr/>
              <a:t>3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Critères diagnostiques développés en comparant deux groupes de patients symptômes avec bilan négatif et ceux ayant une pathologie organique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84187A-CE7C-4373-B57C-E04E96080DD3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Par</a:t>
            </a:r>
            <a:r>
              <a:rPr lang="fr-FR" baseline="0" dirty="0"/>
              <a:t> rapport aux critères de Rome II plus restrictifs mais sélectionnant des formes plus sévères, 12 </a:t>
            </a:r>
            <a:r>
              <a:rPr lang="fr-FR" baseline="0" dirty="0" err="1"/>
              <a:t>sem</a:t>
            </a:r>
            <a:r>
              <a:rPr lang="fr-FR" baseline="0" dirty="0"/>
              <a:t> sur les 12 derniers mois, et disparition des signes après la selle.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84187A-CE7C-4373-B57C-E04E96080DD3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95B8CA-3268-40EB-A96B-699EB13D739A}" type="slidenum">
              <a:rPr lang="fr-FR"/>
              <a:pPr/>
              <a:t>7</a:t>
            </a:fld>
            <a:endParaRPr lang="fr-FR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0150" y="730250"/>
            <a:ext cx="4462463" cy="334645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560" y="4341242"/>
            <a:ext cx="5590881" cy="4117926"/>
          </a:xfrm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DZ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593DD-60AE-4C46-B8DB-02304187D16D}" type="slidenum">
              <a:rPr lang="fr-DZ" smtClean="0"/>
              <a:t>8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35076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954A2-864A-1F70-5EA9-B62578457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4BC4843-3F58-72E5-EE0C-C1D39A206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DZ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D10E47-D326-78F8-2F7A-AFD95DD3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074061-D2B8-3F57-E455-A9789659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895D0B-902C-7EA4-7D52-154FF68D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544743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99BB9-9AB1-25D5-17C1-6A0AAF7B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D3C1CA-A88A-DB76-4921-B43820AE9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A806F6-C05D-14CC-2D88-531F25A1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4FEA05-E3C1-C015-292C-E1706E8A5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E0C398-7ED0-F0B8-367B-B32AA448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94359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AFD93C-98A5-72FC-36C0-98C1ED83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7A27D6-6EFA-4530-19C8-804E16203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97C378-577D-8209-26B6-96A2F1CEF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A86FFE-3399-4485-C697-DBB5FA02B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C261D9-63D5-14A1-857A-173AD96A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240333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CEFAAB-BC90-AB9C-A5D4-CD1C3401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26DC07-2A77-3475-6BC7-E69A22561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8787BD-8358-7008-0897-75FFFC044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D9841A-27CE-CC79-85A4-3FCA4CD0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7447C7-C095-2368-DD8C-0F665AD14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0F8269-1E3B-C019-AA10-F0C4EF9D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3466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4F3E45-9397-7A04-E728-2F89B8A35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C57CFD-C73E-7644-C748-950F1EBC7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6169D7-E646-A40E-CE4B-5BFB86029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369E131-6E92-AD36-12E2-897FD916B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14352F-BB1D-9E19-DF11-FA3C6560F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993B44A-696E-F224-5B3D-8495B005B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7B3B11A-9327-5B8B-9FB8-F15460F8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6A1073F-C1BF-C014-F831-4031FEA1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8053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A1E10-D278-250F-EA87-B6564068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0C61E1F-A63E-E9D2-F159-1FE5B2E3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76C1E8-45B1-9DD4-254A-79BB6755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4D1491F-A362-D1C9-1BAD-AAF4BC4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636158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20E4F65-C4F2-B03A-0D96-D7310ADC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545D081-4B81-695A-3455-04333AD9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D7A249-6A05-9960-2D42-1C226FDB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250161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E6741-8662-99EB-9D25-3B89B671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8F096A-30B3-4C7E-5CA7-276D32646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F63B2B-8B19-782E-9B78-4A3581E8A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A1FC21-9BF3-B6E8-49D4-42E3602B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ACF847-EE64-9AD4-CEA8-E28F6638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3A7A483-29FD-51AB-96F0-CEF32E2E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712857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79183-1941-D979-B014-45ABFCC83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E0244E5-7FE0-8B61-896E-A705D952C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DZ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E69136-E2FD-C982-746F-AC515DA62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B47F74-A3A9-CE35-56B9-BB9047224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3DCC6F-8C9A-1C7C-67A6-CBD23ADA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B11845-C0EE-8044-23DC-D1B9963E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291985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694E7-8B90-A031-332E-B1347874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76C412-E75C-9729-8CB1-2AD57832D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607D96-5FA7-DE4B-D2B4-865F3B2E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F4F5A1-51FC-A03A-8DFB-42D65F569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769277-AD92-BB07-D4DD-EE47034D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74832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AB1252D-E96F-1F79-9629-3A930D8DA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79CF01E-09CD-1718-E0EE-4F6F7CCA7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5CA90E-7FA1-E01F-EB46-1E3DF402E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E35416-6332-B8FD-90AE-8482A8A3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57870C-8782-513C-64B1-2A61CE80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995948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ACE14C1-D4D2-B973-8E29-005AA6FE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DZ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633125-D791-A801-EC78-DAFE83AD1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C9A167-D23E-E1C6-C3C9-CB2106B0A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45BAF-732B-4682-B3D2-E1A54ADA2153}" type="datetimeFigureOut">
              <a:rPr lang="fr-DZ" smtClean="0"/>
              <a:t>21/10/2025</a:t>
            </a:fld>
            <a:endParaRPr lang="fr-DZ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6F27F7-5E15-5926-D794-8EA7C1DA1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DZ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DBFE3D-7060-207F-101B-C60704D06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A8D2C-B3E7-4084-870E-67F446205185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253266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D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38348" y="1744662"/>
            <a:ext cx="7772400" cy="1470025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Syndrome de l’intestin irritable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24562" y="5572140"/>
            <a:ext cx="3771904" cy="900122"/>
          </a:xfrm>
        </p:spPr>
        <p:txBody>
          <a:bodyPr>
            <a:noAutofit/>
          </a:bodyPr>
          <a:lstStyle/>
          <a:p>
            <a:r>
              <a:rPr lang="fr-FR" sz="1400" b="1" dirty="0"/>
              <a:t>Dr MHAMDIA,A</a:t>
            </a:r>
          </a:p>
          <a:p>
            <a:r>
              <a:rPr lang="fr-FR" sz="1400" b="1" dirty="0"/>
              <a:t>Maitre assistante </a:t>
            </a:r>
          </a:p>
          <a:p>
            <a:r>
              <a:rPr lang="fr-FR" sz="1400" b="1" dirty="0"/>
              <a:t>Hépato-gastro-</a:t>
            </a:r>
            <a:r>
              <a:rPr lang="fr-FR" sz="1400" b="1" dirty="0" err="1"/>
              <a:t>enterologie</a:t>
            </a:r>
            <a:endParaRPr lang="fr-FR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24232" y="285728"/>
            <a:ext cx="5543560" cy="1011222"/>
          </a:xfrm>
          <a:solidFill>
            <a:srgbClr val="FF0000"/>
          </a:solidFill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822858" cy="4746647"/>
          </a:xfrm>
        </p:spPr>
        <p:txBody>
          <a:bodyPr>
            <a:normAutofit lnSpcReduction="10000"/>
          </a:bodyPr>
          <a:lstStyle/>
          <a:p>
            <a:r>
              <a:rPr lang="fr-FR" dirty="0"/>
              <a:t>Motif de consultation le plus fréquent</a:t>
            </a:r>
          </a:p>
          <a:p>
            <a:r>
              <a:rPr lang="fr-FR" altLang="fr-DZ" dirty="0"/>
              <a:t>Entité nosologique faisant partie des TFI ( troubles fonctionnels intestinaux)</a:t>
            </a:r>
          </a:p>
          <a:p>
            <a:r>
              <a:rPr lang="fr-FR" altLang="fr-DZ" dirty="0"/>
              <a:t>Ensemble de symptômes digestifs chroniques, intermittents ou permanents </a:t>
            </a:r>
          </a:p>
          <a:p>
            <a:r>
              <a:rPr lang="fr-FR" altLang="fr-DZ" dirty="0"/>
              <a:t>Pas d’altération de nature </a:t>
            </a:r>
            <a:r>
              <a:rPr lang="fr-FR" altLang="fr-DZ" dirty="0" err="1"/>
              <a:t>anatomique,biochimique</a:t>
            </a:r>
            <a:r>
              <a:rPr lang="fr-FR" altLang="fr-DZ" dirty="0"/>
              <a:t> ou  métabolique  </a:t>
            </a:r>
            <a:endParaRPr lang="fr-FR" dirty="0"/>
          </a:p>
          <a:p>
            <a:r>
              <a:rPr lang="fr-FR" dirty="0"/>
              <a:t>Prévalence: variable en fonction des critères de définition ≈ 10%</a:t>
            </a:r>
          </a:p>
          <a:p>
            <a:r>
              <a:rPr lang="fr-FR" dirty="0"/>
              <a:t>Sexe ratio: 2F/1H</a:t>
            </a:r>
          </a:p>
          <a:p>
            <a:r>
              <a:rPr lang="fr-FR" dirty="0"/>
              <a:t>Cout ↗:</a:t>
            </a:r>
          </a:p>
          <a:p>
            <a:pPr lvl="1"/>
            <a:r>
              <a:rPr lang="fr-FR" dirty="0"/>
              <a:t>Direct: consultations, ex. complémentaires, médicaments</a:t>
            </a:r>
          </a:p>
          <a:p>
            <a:pPr lvl="1"/>
            <a:r>
              <a:rPr lang="fr-FR" dirty="0"/>
              <a:t>Indirect: arrêt de travail, présentéisme perturbé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4" name="Rectangle 12"/>
          <p:cNvSpPr>
            <a:spLocks noGrp="1" noChangeArrowheads="1"/>
          </p:cNvSpPr>
          <p:nvPr>
            <p:ph type="title"/>
          </p:nvPr>
        </p:nvSpPr>
        <p:spPr>
          <a:xfrm>
            <a:off x="4452926" y="285728"/>
            <a:ext cx="3686172" cy="846158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Epidémiologie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8933" name="Text Box 21"/>
          <p:cNvSpPr txBox="1">
            <a:spLocks noChangeArrowheads="1"/>
          </p:cNvSpPr>
          <p:nvPr/>
        </p:nvSpPr>
        <p:spPr bwMode="auto">
          <a:xfrm>
            <a:off x="3797301" y="6343650"/>
            <a:ext cx="469378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dirty="0"/>
              <a:t>25 à 50% de consultations en gastro-</a:t>
            </a:r>
            <a:r>
              <a:rPr lang="en-US" dirty="0" err="1"/>
              <a:t>entérologie</a:t>
            </a:r>
            <a:endParaRPr lang="en-US" dirty="0"/>
          </a:p>
        </p:txBody>
      </p:sp>
      <p:grpSp>
        <p:nvGrpSpPr>
          <p:cNvPr id="19" name="Groupe 18"/>
          <p:cNvGrpSpPr/>
          <p:nvPr/>
        </p:nvGrpSpPr>
        <p:grpSpPr>
          <a:xfrm>
            <a:off x="3081372" y="1357299"/>
            <a:ext cx="6443653" cy="4645025"/>
            <a:chOff x="1408101" y="1571612"/>
            <a:chExt cx="6443653" cy="4645025"/>
          </a:xfrm>
        </p:grpSpPr>
        <p:grpSp>
          <p:nvGrpSpPr>
            <p:cNvPr id="2" name="Group 20"/>
            <p:cNvGrpSpPr>
              <a:grpSpLocks/>
            </p:cNvGrpSpPr>
            <p:nvPr/>
          </p:nvGrpSpPr>
          <p:grpSpPr bwMode="auto">
            <a:xfrm>
              <a:off x="1643042" y="1571612"/>
              <a:ext cx="6208712" cy="4645025"/>
              <a:chOff x="1015" y="1104"/>
              <a:chExt cx="3911" cy="2926"/>
            </a:xfrm>
          </p:grpSpPr>
          <p:sp>
            <p:nvSpPr>
              <p:cNvPr id="38917" name="Freeform 5"/>
              <p:cNvSpPr>
                <a:spLocks/>
              </p:cNvSpPr>
              <p:nvPr/>
            </p:nvSpPr>
            <p:spPr bwMode="auto">
              <a:xfrm>
                <a:off x="2733" y="1104"/>
                <a:ext cx="2193" cy="29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33" y="2926"/>
                  </a:cxn>
                  <a:cxn ang="0">
                    <a:pos x="2193" y="2570"/>
                  </a:cxn>
                  <a:cxn ang="0">
                    <a:pos x="0" y="0"/>
                  </a:cxn>
                </a:cxnLst>
                <a:rect l="0" t="0" r="r" b="b"/>
                <a:pathLst>
                  <a:path w="2193" h="2926">
                    <a:moveTo>
                      <a:pt x="0" y="0"/>
                    </a:moveTo>
                    <a:lnTo>
                      <a:pt x="1733" y="2926"/>
                    </a:lnTo>
                    <a:lnTo>
                      <a:pt x="2193" y="2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8538C"/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918" name="Freeform 6"/>
              <p:cNvSpPr>
                <a:spLocks/>
              </p:cNvSpPr>
              <p:nvPr/>
            </p:nvSpPr>
            <p:spPr bwMode="auto">
              <a:xfrm>
                <a:off x="1015" y="1104"/>
                <a:ext cx="3451" cy="2926"/>
              </a:xfrm>
              <a:custGeom>
                <a:avLst/>
                <a:gdLst/>
                <a:ahLst/>
                <a:cxnLst>
                  <a:cxn ang="0">
                    <a:pos x="1718" y="0"/>
                  </a:cxn>
                  <a:cxn ang="0">
                    <a:pos x="3451" y="2926"/>
                  </a:cxn>
                  <a:cxn ang="0">
                    <a:pos x="0" y="2926"/>
                  </a:cxn>
                  <a:cxn ang="0">
                    <a:pos x="1718" y="0"/>
                  </a:cxn>
                </a:cxnLst>
                <a:rect l="0" t="0" r="r" b="b"/>
                <a:pathLst>
                  <a:path w="3451" h="2926">
                    <a:moveTo>
                      <a:pt x="1718" y="0"/>
                    </a:moveTo>
                    <a:lnTo>
                      <a:pt x="3451" y="2926"/>
                    </a:lnTo>
                    <a:lnTo>
                      <a:pt x="0" y="2926"/>
                    </a:lnTo>
                    <a:lnTo>
                      <a:pt x="17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38921" name="Freeform 9"/>
            <p:cNvSpPr>
              <a:spLocks/>
            </p:cNvSpPr>
            <p:nvPr/>
          </p:nvSpPr>
          <p:spPr bwMode="auto">
            <a:xfrm>
              <a:off x="3259138" y="1641475"/>
              <a:ext cx="2168525" cy="1828800"/>
            </a:xfrm>
            <a:custGeom>
              <a:avLst/>
              <a:gdLst/>
              <a:ahLst/>
              <a:cxnLst>
                <a:cxn ang="0">
                  <a:pos x="0" y="1152"/>
                </a:cxn>
                <a:cxn ang="0">
                  <a:pos x="1344" y="1152"/>
                </a:cxn>
                <a:cxn ang="0">
                  <a:pos x="672" y="0"/>
                </a:cxn>
                <a:cxn ang="0">
                  <a:pos x="0" y="1152"/>
                </a:cxn>
              </a:cxnLst>
              <a:rect l="0" t="0" r="r" b="b"/>
              <a:pathLst>
                <a:path w="1344" h="1152">
                  <a:moveTo>
                    <a:pt x="0" y="1152"/>
                  </a:moveTo>
                  <a:lnTo>
                    <a:pt x="1344" y="1152"/>
                  </a:lnTo>
                  <a:lnTo>
                    <a:pt x="672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chemeClr val="folHlink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22" name="Freeform 10"/>
            <p:cNvSpPr>
              <a:spLocks/>
            </p:cNvSpPr>
            <p:nvPr/>
          </p:nvSpPr>
          <p:spPr bwMode="auto">
            <a:xfrm>
              <a:off x="4343400" y="1641475"/>
              <a:ext cx="1489075" cy="1828800"/>
            </a:xfrm>
            <a:custGeom>
              <a:avLst/>
              <a:gdLst/>
              <a:ahLst/>
              <a:cxnLst>
                <a:cxn ang="0">
                  <a:pos x="938" y="1104"/>
                </a:cxn>
                <a:cxn ang="0">
                  <a:pos x="683" y="1152"/>
                </a:cxn>
                <a:cxn ang="0">
                  <a:pos x="0" y="0"/>
                </a:cxn>
                <a:cxn ang="0">
                  <a:pos x="938" y="1104"/>
                </a:cxn>
              </a:cxnLst>
              <a:rect l="0" t="0" r="r" b="b"/>
              <a:pathLst>
                <a:path w="938" h="1152">
                  <a:moveTo>
                    <a:pt x="938" y="1104"/>
                  </a:moveTo>
                  <a:lnTo>
                    <a:pt x="683" y="1152"/>
                  </a:lnTo>
                  <a:lnTo>
                    <a:pt x="0" y="0"/>
                  </a:lnTo>
                  <a:lnTo>
                    <a:pt x="938" y="1104"/>
                  </a:lnTo>
                  <a:close/>
                </a:path>
              </a:pathLst>
            </a:custGeom>
            <a:solidFill>
              <a:srgbClr val="087230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26" name="Freeform 14"/>
            <p:cNvSpPr>
              <a:spLocks/>
            </p:cNvSpPr>
            <p:nvPr/>
          </p:nvSpPr>
          <p:spPr bwMode="auto">
            <a:xfrm>
              <a:off x="4016375" y="1641475"/>
              <a:ext cx="655638" cy="554038"/>
            </a:xfrm>
            <a:custGeom>
              <a:avLst/>
              <a:gdLst/>
              <a:ahLst/>
              <a:cxnLst>
                <a:cxn ang="0">
                  <a:pos x="0" y="1152"/>
                </a:cxn>
                <a:cxn ang="0">
                  <a:pos x="1344" y="1152"/>
                </a:cxn>
                <a:cxn ang="0">
                  <a:pos x="672" y="0"/>
                </a:cxn>
                <a:cxn ang="0">
                  <a:pos x="0" y="1152"/>
                </a:cxn>
              </a:cxnLst>
              <a:rect l="0" t="0" r="r" b="b"/>
              <a:pathLst>
                <a:path w="1344" h="1152">
                  <a:moveTo>
                    <a:pt x="0" y="1152"/>
                  </a:moveTo>
                  <a:lnTo>
                    <a:pt x="1344" y="1152"/>
                  </a:lnTo>
                  <a:lnTo>
                    <a:pt x="672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FFCC00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27" name="Freeform 15"/>
            <p:cNvSpPr>
              <a:spLocks/>
            </p:cNvSpPr>
            <p:nvPr/>
          </p:nvSpPr>
          <p:spPr bwMode="auto">
            <a:xfrm>
              <a:off x="4344988" y="1641475"/>
              <a:ext cx="474662" cy="561975"/>
            </a:xfrm>
            <a:custGeom>
              <a:avLst/>
              <a:gdLst/>
              <a:ahLst/>
              <a:cxnLst>
                <a:cxn ang="0">
                  <a:pos x="299" y="354"/>
                </a:cxn>
                <a:cxn ang="0">
                  <a:pos x="206" y="349"/>
                </a:cxn>
                <a:cxn ang="0">
                  <a:pos x="0" y="0"/>
                </a:cxn>
                <a:cxn ang="0">
                  <a:pos x="299" y="354"/>
                </a:cxn>
              </a:cxnLst>
              <a:rect l="0" t="0" r="r" b="b"/>
              <a:pathLst>
                <a:path w="299" h="354">
                  <a:moveTo>
                    <a:pt x="299" y="354"/>
                  </a:moveTo>
                  <a:lnTo>
                    <a:pt x="206" y="349"/>
                  </a:lnTo>
                  <a:lnTo>
                    <a:pt x="0" y="0"/>
                  </a:lnTo>
                  <a:lnTo>
                    <a:pt x="299" y="354"/>
                  </a:lnTo>
                  <a:close/>
                </a:path>
              </a:pathLst>
            </a:custGeom>
            <a:solidFill>
              <a:srgbClr val="B26100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28" name="Rectangle 16"/>
            <p:cNvSpPr>
              <a:spLocks noChangeArrowheads="1"/>
            </p:cNvSpPr>
            <p:nvPr/>
          </p:nvSpPr>
          <p:spPr bwMode="auto">
            <a:xfrm>
              <a:off x="5199825" y="1773238"/>
              <a:ext cx="2223301" cy="8309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en-US" sz="2400" b="1" dirty="0" err="1"/>
                <a:t>Spécialiste</a:t>
              </a:r>
              <a:r>
                <a:rPr lang="en-US" sz="2400" b="1" dirty="0"/>
                <a:t> 5%</a:t>
              </a:r>
            </a:p>
            <a:p>
              <a:r>
                <a:rPr lang="en-US" sz="2400" b="1" dirty="0" err="1"/>
                <a:t>Formes</a:t>
              </a:r>
              <a:r>
                <a:rPr lang="en-US" sz="2400" b="1" dirty="0"/>
                <a:t> </a:t>
              </a:r>
              <a:r>
                <a:rPr lang="en-US" sz="2400" b="1" dirty="0" err="1"/>
                <a:t>sévères</a:t>
              </a:r>
              <a:r>
                <a:rPr lang="en-US" sz="2400" b="1" dirty="0"/>
                <a:t> </a:t>
              </a:r>
            </a:p>
          </p:txBody>
        </p:sp>
        <p:sp>
          <p:nvSpPr>
            <p:cNvPr id="38929" name="Line 17"/>
            <p:cNvSpPr>
              <a:spLocks noChangeShapeType="1"/>
            </p:cNvSpPr>
            <p:nvPr/>
          </p:nvSpPr>
          <p:spPr bwMode="auto">
            <a:xfrm flipH="1" flipV="1">
              <a:off x="4397375" y="1976438"/>
              <a:ext cx="541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19" name="Text Box 7"/>
            <p:cNvSpPr txBox="1">
              <a:spLocks noChangeArrowheads="1"/>
            </p:cNvSpPr>
            <p:nvPr/>
          </p:nvSpPr>
          <p:spPr bwMode="auto">
            <a:xfrm>
              <a:off x="2714612" y="4714884"/>
              <a:ext cx="3100396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/>
                <a:t>Non consultants</a:t>
              </a:r>
            </a:p>
            <a:p>
              <a:pPr algn="ctr"/>
              <a:r>
                <a:rPr lang="en-US" sz="2800" b="1" dirty="0"/>
                <a:t>80%</a:t>
              </a:r>
            </a:p>
          </p:txBody>
        </p:sp>
        <p:sp>
          <p:nvSpPr>
            <p:cNvPr id="38923" name="Text Box 11"/>
            <p:cNvSpPr txBox="1">
              <a:spLocks noChangeArrowheads="1"/>
            </p:cNvSpPr>
            <p:nvPr/>
          </p:nvSpPr>
          <p:spPr bwMode="auto">
            <a:xfrm>
              <a:off x="1408101" y="2428868"/>
              <a:ext cx="1949453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 err="1">
                  <a:solidFill>
                    <a:srgbClr val="FF0000"/>
                  </a:solidFill>
                </a:rPr>
                <a:t>Généraliste</a:t>
              </a:r>
              <a:endParaRPr lang="en-US" sz="2800" b="1" dirty="0">
                <a:solidFill>
                  <a:srgbClr val="FF0000"/>
                </a:solidFill>
              </a:endParaRPr>
            </a:p>
            <a:p>
              <a:pPr algn="ctr"/>
              <a:r>
                <a:rPr lang="en-US" sz="2800" b="1" dirty="0">
                  <a:solidFill>
                    <a:srgbClr val="FF0000"/>
                  </a:solidFill>
                </a:rPr>
                <a:t>15%</a:t>
              </a:r>
            </a:p>
          </p:txBody>
        </p:sp>
        <p:cxnSp>
          <p:nvCxnSpPr>
            <p:cNvPr id="18" name="Connecteur droit 17"/>
            <p:cNvCxnSpPr/>
            <p:nvPr/>
          </p:nvCxnSpPr>
          <p:spPr>
            <a:xfrm>
              <a:off x="3357554" y="2786058"/>
              <a:ext cx="857256" cy="230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54A7BF-5B1B-1574-2E2D-F7FDFF2C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486231"/>
          </a:xfrm>
        </p:spPr>
        <p:txBody>
          <a:bodyPr>
            <a:normAutofit/>
          </a:bodyPr>
          <a:lstStyle/>
          <a:p>
            <a:r>
              <a:rPr lang="fr-FR" b="1" dirty="0">
                <a:latin typeface="+mn-lt"/>
              </a:rPr>
              <a:t>Troubles fonctionnels de l’intestin</a:t>
            </a:r>
            <a:br>
              <a:rPr lang="fr-FR" b="1" dirty="0">
                <a:latin typeface="+mn-lt"/>
              </a:rPr>
            </a:br>
            <a:r>
              <a:rPr lang="fr-FR" sz="2200" dirty="0">
                <a:latin typeface="+mn-lt"/>
              </a:rPr>
              <a:t> caractérisés par un ensemble de symptômes pouvant associer douleurs</a:t>
            </a:r>
            <a:br>
              <a:rPr lang="fr-FR" sz="2200" dirty="0">
                <a:latin typeface="+mn-lt"/>
              </a:rPr>
            </a:br>
            <a:r>
              <a:rPr lang="fr-FR" sz="2200" dirty="0">
                <a:latin typeface="+mn-lt"/>
              </a:rPr>
              <a:t>abdominales, troubles du transit (diarrhée, constipation ou alternance des deux) et/ou ballonnements.</a:t>
            </a:r>
            <a:br>
              <a:rPr lang="fr-FR" sz="2200" b="1" dirty="0">
                <a:latin typeface="+mn-lt"/>
              </a:rPr>
            </a:br>
            <a:endParaRPr lang="fr-DZ" sz="2200" dirty="0">
              <a:latin typeface="+mn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B7FCD9-ABDB-7DF0-75CD-8728AEFE5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360" y="2477729"/>
            <a:ext cx="7037439" cy="3795252"/>
          </a:xfrm>
        </p:spPr>
        <p:txBody>
          <a:bodyPr>
            <a:normAutofit lnSpcReduction="10000"/>
          </a:bodyPr>
          <a:lstStyle/>
          <a:p>
            <a:pPr>
              <a:spcBef>
                <a:spcPct val="50000"/>
              </a:spcBef>
            </a:pPr>
            <a:r>
              <a:rPr lang="fr-FR" b="1" dirty="0">
                <a:solidFill>
                  <a:srgbClr val="FF0000"/>
                </a:solidFill>
                <a:latin typeface="Garamond" panose="02020404030301010803" pitchFamily="18" charset="0"/>
              </a:rPr>
              <a:t>Syndrome de l’intestin irritable</a:t>
            </a:r>
          </a:p>
          <a:p>
            <a:pPr>
              <a:spcBef>
                <a:spcPct val="50000"/>
              </a:spcBef>
            </a:pPr>
            <a:r>
              <a:rPr lang="fr-FR" b="1" dirty="0">
                <a:latin typeface="Garamond" panose="02020404030301010803" pitchFamily="18" charset="0"/>
              </a:rPr>
              <a:t>Ballonnement fonctionnel</a:t>
            </a:r>
          </a:p>
          <a:p>
            <a:pPr>
              <a:spcBef>
                <a:spcPct val="50000"/>
              </a:spcBef>
            </a:pPr>
            <a:r>
              <a:rPr lang="fr-FR" b="1" dirty="0">
                <a:latin typeface="Garamond" panose="02020404030301010803" pitchFamily="18" charset="0"/>
              </a:rPr>
              <a:t>Constipation fonctionnelle</a:t>
            </a:r>
          </a:p>
          <a:p>
            <a:pPr>
              <a:spcBef>
                <a:spcPct val="50000"/>
              </a:spcBef>
            </a:pPr>
            <a:r>
              <a:rPr lang="fr-FR" b="1" dirty="0">
                <a:latin typeface="Garamond" panose="02020404030301010803" pitchFamily="18" charset="0"/>
              </a:rPr>
              <a:t>Diarrhée fonctionnelle</a:t>
            </a:r>
          </a:p>
          <a:p>
            <a:pPr>
              <a:spcBef>
                <a:spcPct val="50000"/>
              </a:spcBef>
            </a:pPr>
            <a:r>
              <a:rPr lang="fr-FR" b="1" dirty="0">
                <a:latin typeface="Garamond" panose="02020404030301010803" pitchFamily="18" charset="0"/>
              </a:rPr>
              <a:t>Désordres fonctionnels coliques non     	spécifiques</a:t>
            </a:r>
          </a:p>
          <a:p>
            <a:pPr>
              <a:spcBef>
                <a:spcPct val="50000"/>
              </a:spcBef>
            </a:pPr>
            <a:r>
              <a:rPr lang="fr-FR" b="1" dirty="0">
                <a:latin typeface="Garamond" panose="02020404030301010803" pitchFamily="18" charset="0"/>
              </a:rPr>
              <a:t>Constipation induite par les </a:t>
            </a:r>
            <a:r>
              <a:rPr lang="fr-FR" b="1" dirty="0" err="1">
                <a:latin typeface="Garamond" panose="02020404030301010803" pitchFamily="18" charset="0"/>
              </a:rPr>
              <a:t>opoides</a:t>
            </a:r>
            <a:endParaRPr lang="fr-FR" b="1" dirty="0">
              <a:latin typeface="Garamond" panose="02020404030301010803" pitchFamily="18" charset="0"/>
            </a:endParaRPr>
          </a:p>
          <a:p>
            <a:endParaRPr lang="fr-DZ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9F66A108-CB2E-ED93-26A1-4DDF264D673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25" y="2477729"/>
            <a:ext cx="2644877" cy="4181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3016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38546" y="285728"/>
            <a:ext cx="3929090" cy="868346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Définition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24034" y="1357298"/>
            <a:ext cx="8229600" cy="1971676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    Association d’une douleur/inconfort de l’abdomen associé à des troubles du transit intestinal pendant des périodes ± longues, récurrentes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024034" y="3786190"/>
            <a:ext cx="8286808" cy="24191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2800" dirty="0"/>
              <a:t>Plusieurs critères diagnostiques cliniques: Diagnostic + </a:t>
            </a:r>
          </a:p>
          <a:p>
            <a:pPr>
              <a:lnSpc>
                <a:spcPct val="90000"/>
              </a:lnSpc>
            </a:pPr>
            <a:r>
              <a:rPr lang="fr-FR" sz="2800" dirty="0"/>
              <a:t>             Manning : 1978</a:t>
            </a:r>
          </a:p>
          <a:p>
            <a:pPr>
              <a:lnSpc>
                <a:spcPct val="90000"/>
              </a:lnSpc>
            </a:pPr>
            <a:r>
              <a:rPr lang="fr-FR" sz="2800" dirty="0"/>
              <a:t>             Rome I     : 1992 </a:t>
            </a:r>
          </a:p>
          <a:p>
            <a:pPr>
              <a:lnSpc>
                <a:spcPct val="90000"/>
              </a:lnSpc>
            </a:pPr>
            <a:r>
              <a:rPr lang="fr-FR" sz="2800" dirty="0"/>
              <a:t>             Rome II    : 1999</a:t>
            </a:r>
          </a:p>
          <a:p>
            <a:pPr>
              <a:lnSpc>
                <a:spcPct val="90000"/>
              </a:lnSpc>
            </a:pPr>
            <a:r>
              <a:rPr lang="fr-FR" sz="2800" dirty="0"/>
              <a:t>             Rome III   : 2005 (publié 2006)</a:t>
            </a:r>
          </a:p>
          <a:p>
            <a:pPr>
              <a:lnSpc>
                <a:spcPct val="90000"/>
              </a:lnSpc>
            </a:pPr>
            <a:r>
              <a:rPr lang="fr-FR" sz="2800" dirty="0"/>
              <a:t>             Rome IV   : 2016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309918" y="214290"/>
            <a:ext cx="5643602" cy="144655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bg1"/>
                </a:solidFill>
              </a:rPr>
              <a:t>Définition </a:t>
            </a:r>
          </a:p>
          <a:p>
            <a:pPr algn="ctr"/>
            <a:r>
              <a:rPr lang="fr-FR" sz="4400" b="1" dirty="0">
                <a:solidFill>
                  <a:schemeClr val="bg1"/>
                </a:solidFill>
              </a:rPr>
              <a:t>Critères Rome IV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BAE6D4C-F8DE-76A5-A8F5-EFF235CD8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93" y="2025445"/>
            <a:ext cx="9261987" cy="4618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9767888" y="914400"/>
            <a:ext cx="23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 </a:t>
            </a:r>
            <a:endParaRPr lang="fr-FR"/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1809752" y="1643612"/>
            <a:ext cx="8643966" cy="378565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-"/>
            </a:pPr>
            <a:r>
              <a:rPr lang="fr-FR" sz="2400" dirty="0"/>
              <a:t>SII avec constipation prédominante (C-SII): </a:t>
            </a:r>
          </a:p>
          <a:p>
            <a:pPr>
              <a:spcBef>
                <a:spcPct val="50000"/>
              </a:spcBef>
            </a:pPr>
            <a:r>
              <a:rPr lang="fr-FR" dirty="0"/>
              <a:t>     </a:t>
            </a:r>
            <a:r>
              <a:rPr lang="fr-FR" sz="2000" i="1" dirty="0"/>
              <a:t>Bristol 1-2 ≥ 25% du temps, Bristol 6-7 ≤ 25% du temps.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 sz="2400" dirty="0"/>
              <a:t>SII avec diarrhée prédominante (D-SII):</a:t>
            </a:r>
          </a:p>
          <a:p>
            <a:r>
              <a:rPr lang="fr-FR" dirty="0"/>
              <a:t>     </a:t>
            </a:r>
            <a:r>
              <a:rPr lang="fr-FR" i="1" dirty="0"/>
              <a:t>Bristol 6-7 ≥ 25% du temps, Bristol 1-2 ≤ 25% du temps. </a:t>
            </a:r>
          </a:p>
          <a:p>
            <a:endParaRPr lang="fr-FR" i="1" dirty="0"/>
          </a:p>
          <a:p>
            <a:r>
              <a:rPr lang="fr-FR" sz="2400" dirty="0"/>
              <a:t>-SII avec alternance diarrhée-constipation (M-SII):</a:t>
            </a:r>
          </a:p>
          <a:p>
            <a:r>
              <a:rPr lang="fr-FR" sz="2400" i="1" dirty="0"/>
              <a:t>    </a:t>
            </a:r>
            <a:r>
              <a:rPr lang="fr-FR" i="1" dirty="0"/>
              <a:t>Bristol 1-2 ≥ 25% du temps, Bristol 6-7 ≥ 25% du temps.</a:t>
            </a:r>
            <a:endParaRPr lang="fr-FR" sz="20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fr-FR" sz="2400" dirty="0"/>
              <a:t>SII non spécifié: </a:t>
            </a:r>
          </a:p>
          <a:p>
            <a:pPr>
              <a:spcBef>
                <a:spcPct val="50000"/>
              </a:spcBef>
            </a:pPr>
            <a:r>
              <a:rPr lang="fr-FR" sz="2000" dirty="0"/>
              <a:t>     Absence de critères suffisants pour être classé parmi les 3 formes précédentes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2309786" y="214290"/>
            <a:ext cx="8072494" cy="1077218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</a:rPr>
              <a:t>Sous groupes </a:t>
            </a:r>
          </a:p>
          <a:p>
            <a:pPr algn="ctr"/>
            <a:r>
              <a:rPr lang="fr-FR" sz="3200" b="1" dirty="0">
                <a:solidFill>
                  <a:schemeClr val="bg1"/>
                </a:solidFill>
              </a:rPr>
              <a:t>en fonction de la consistance des selles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6238876" y="6286520"/>
            <a:ext cx="414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Gastroenterology</a:t>
            </a:r>
            <a:r>
              <a:rPr lang="fr-FR" sz="1600" dirty="0"/>
              <a:t> 2006; 130: 1480-91</a:t>
            </a:r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53389" y="1857365"/>
            <a:ext cx="11334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39273" y="1857364"/>
            <a:ext cx="10572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167702" y="2928934"/>
            <a:ext cx="163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8790E3-9D8E-4E1B-C4EC-DE9C2159C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fr-FR" sz="3200" dirty="0"/>
              <a:t>Maladie multifactorielle 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200" dirty="0"/>
              <a:t>Troubles de la motricité intestinale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200" dirty="0"/>
              <a:t>Hypersensibilité viscérale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200" dirty="0"/>
              <a:t>Alteration du microbiote intestinal et augmentation de la perméabilité intestinale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200" dirty="0"/>
              <a:t>Alteration de l’axe ( cerveau-intestin 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200" dirty="0"/>
              <a:t>Stress et troubles psychologiques</a:t>
            </a:r>
          </a:p>
          <a:p>
            <a:endParaRPr lang="fr-FR" sz="3200" dirty="0"/>
          </a:p>
          <a:p>
            <a:endParaRPr lang="fr-DZ" sz="32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A306216-0E7E-8733-EDD0-026DA9F2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physiopathologie</a:t>
            </a:r>
          </a:p>
        </p:txBody>
      </p:sp>
    </p:spTree>
    <p:extLst>
      <p:ext uri="{BB962C8B-B14F-4D97-AF65-F5344CB8AC3E}">
        <p14:creationId xmlns:p14="http://schemas.microsoft.com/office/powerpoint/2010/main" val="1356891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167504-C55C-E092-294C-BC0523D3F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DZ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2E384E3-1AFC-31DA-3C12-7A177B485B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" y="264160"/>
            <a:ext cx="10942319" cy="6156959"/>
          </a:xfrm>
        </p:spPr>
      </p:pic>
    </p:spTree>
    <p:extLst>
      <p:ext uri="{BB962C8B-B14F-4D97-AF65-F5344CB8AC3E}">
        <p14:creationId xmlns:p14="http://schemas.microsoft.com/office/powerpoint/2010/main" val="3723747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59405E-2C84-CF23-8E22-C5BB5CC2E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INTERROGATOIRE</a:t>
            </a:r>
          </a:p>
          <a:p>
            <a:r>
              <a:rPr lang="fr-FR" dirty="0"/>
              <a:t>Terrain : femme ++ d'âge jeune ou moyen, fréquence accrue des troubles anxiodépressifs.</a:t>
            </a:r>
          </a:p>
          <a:p>
            <a:r>
              <a:rPr lang="fr-FR" dirty="0"/>
              <a:t>Symptomatologie : triade classique, pas constant 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Douleurs abdominales 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r-FR" dirty="0"/>
              <a:t>A type de spasme, soulagées par l’émission des selles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r-FR" dirty="0"/>
              <a:t>Siege : fosse iliaque gauche ++, fosse iliaque droite ou le long du cadre colique, diffuses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r-FR" dirty="0"/>
              <a:t>Migratrices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DZ" dirty="0"/>
              <a:t>Ballonnements</a:t>
            </a:r>
            <a:r>
              <a:rPr lang="fr-FR" dirty="0"/>
              <a:t> </a:t>
            </a:r>
            <a:r>
              <a:rPr lang="fr-DZ" dirty="0"/>
              <a:t>abdominaux</a:t>
            </a:r>
            <a:r>
              <a:rPr lang="fr-FR" dirty="0"/>
              <a:t> : </a:t>
            </a:r>
            <a:r>
              <a:rPr lang="fr-DZ" dirty="0"/>
              <a:t>postprandiaux</a:t>
            </a:r>
            <a:r>
              <a:rPr lang="fr-FR" dirty="0"/>
              <a:t>++</a:t>
            </a:r>
            <a:endParaRPr lang="fr-DZ" dirty="0"/>
          </a:p>
          <a:p>
            <a:pPr>
              <a:buFont typeface="Wingdings" panose="05000000000000000000" pitchFamily="2" charset="2"/>
              <a:buChar char="Ø"/>
            </a:pPr>
            <a:r>
              <a:rPr lang="fr-DZ" dirty="0"/>
              <a:t> Troubles du transit :</a:t>
            </a:r>
          </a:p>
          <a:p>
            <a:r>
              <a:rPr lang="fr-DZ" dirty="0"/>
              <a:t>Constipation</a:t>
            </a:r>
          </a:p>
          <a:p>
            <a:r>
              <a:rPr lang="fr-FR" dirty="0"/>
              <a:t>Diarrhée, le plus souvent motrice</a:t>
            </a:r>
          </a:p>
          <a:p>
            <a:r>
              <a:rPr lang="fr-DZ" dirty="0"/>
              <a:t>Alternance </a:t>
            </a:r>
            <a:r>
              <a:rPr lang="fr-DZ" dirty="0" err="1"/>
              <a:t>diarrh</a:t>
            </a:r>
            <a:r>
              <a:rPr lang="fr-FR" dirty="0"/>
              <a:t>é</a:t>
            </a:r>
            <a:r>
              <a:rPr lang="fr-DZ" dirty="0"/>
              <a:t>e-constipation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A0A0F3D-D33D-8392-A76E-7CD689582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CLINIQUE </a:t>
            </a:r>
          </a:p>
        </p:txBody>
      </p:sp>
    </p:spTree>
    <p:extLst>
      <p:ext uri="{BB962C8B-B14F-4D97-AF65-F5344CB8AC3E}">
        <p14:creationId xmlns:p14="http://schemas.microsoft.com/office/powerpoint/2010/main" val="597996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B8E37D-134B-33B1-CFCD-1E0C4CF57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DZ" dirty="0" err="1"/>
              <a:t>Sympt</a:t>
            </a:r>
            <a:r>
              <a:rPr lang="fr-FR" dirty="0"/>
              <a:t>o</a:t>
            </a:r>
            <a:r>
              <a:rPr lang="fr-DZ" dirty="0"/>
              <a:t>mes </a:t>
            </a:r>
            <a:r>
              <a:rPr lang="fr-DZ" dirty="0" err="1"/>
              <a:t>associ</a:t>
            </a:r>
            <a:r>
              <a:rPr lang="fr-FR" dirty="0"/>
              <a:t>é</a:t>
            </a:r>
            <a:r>
              <a:rPr lang="fr-DZ" dirty="0"/>
              <a:t>s </a:t>
            </a:r>
            <a:r>
              <a:rPr lang="fr-DZ" dirty="0" err="1"/>
              <a:t>fr</a:t>
            </a:r>
            <a:r>
              <a:rPr lang="fr-FR" dirty="0"/>
              <a:t>é</a:t>
            </a:r>
            <a:r>
              <a:rPr lang="fr-DZ" dirty="0" err="1"/>
              <a:t>quents</a:t>
            </a:r>
            <a:r>
              <a:rPr lang="fr-DZ" dirty="0"/>
              <a:t> :</a:t>
            </a:r>
          </a:p>
          <a:p>
            <a:r>
              <a:rPr lang="fr-DZ" dirty="0"/>
              <a:t> Digestifs : dyspepsie ++</a:t>
            </a:r>
          </a:p>
          <a:p>
            <a:r>
              <a:rPr lang="fr-FR" dirty="0"/>
              <a:t> Extradigestifs : syndrome de fatigue chronique, fibromyalgie, céphalées, lombalgies chroniques, signes fonctionnels urinaires (cystite interstitielle ou syndrome de la vessie douloureuse), dyspareunie</a:t>
            </a:r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2538425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09852" y="285728"/>
            <a:ext cx="4643470" cy="868346"/>
          </a:xfrm>
          <a:solidFill>
            <a:srgbClr val="FF0000"/>
          </a:solidFill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Signes d’alarme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095472" y="1785926"/>
            <a:ext cx="7572428" cy="452431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sz="3200" dirty="0"/>
              <a:t>Age &gt; 50 ans</a:t>
            </a:r>
          </a:p>
          <a:p>
            <a:pPr>
              <a:buFont typeface="Arial" pitchFamily="34" charset="0"/>
              <a:buChar char="•"/>
            </a:pPr>
            <a:r>
              <a:rPr lang="fr-FR" sz="3200" dirty="0"/>
              <a:t>Présence de sang mêlé aux selles +</a:t>
            </a:r>
          </a:p>
          <a:p>
            <a:pPr>
              <a:buFont typeface="Arial" pitchFamily="34" charset="0"/>
              <a:buChar char="•"/>
            </a:pPr>
            <a:r>
              <a:rPr lang="fr-FR" sz="3200" dirty="0"/>
              <a:t>Antécédents familiaux de cancer colique + </a:t>
            </a:r>
          </a:p>
          <a:p>
            <a:pPr>
              <a:buFont typeface="Arial" pitchFamily="34" charset="0"/>
              <a:buChar char="•"/>
            </a:pPr>
            <a:r>
              <a:rPr lang="fr-FR" sz="3200" dirty="0"/>
              <a:t>Anomalie de l’examen clinique +</a:t>
            </a:r>
          </a:p>
          <a:p>
            <a:pPr>
              <a:buFont typeface="Arial" pitchFamily="34" charset="0"/>
              <a:buChar char="•"/>
            </a:pPr>
            <a:r>
              <a:rPr lang="fr-FR" sz="3200" dirty="0"/>
              <a:t>Une diarrhée</a:t>
            </a:r>
          </a:p>
          <a:p>
            <a:pPr>
              <a:buFont typeface="Arial" pitchFamily="34" charset="0"/>
              <a:buChar char="•"/>
            </a:pPr>
            <a:r>
              <a:rPr lang="fr-FR" sz="3200" dirty="0"/>
              <a:t>Amaigrissement </a:t>
            </a:r>
          </a:p>
          <a:p>
            <a:pPr>
              <a:buFont typeface="Arial" pitchFamily="34" charset="0"/>
              <a:buChar char="•"/>
            </a:pPr>
            <a:r>
              <a:rPr lang="fr-FR" sz="3200" b="1" i="0" u="none" strike="noStrike" baseline="0" dirty="0">
                <a:latin typeface="+mj-lt"/>
              </a:rPr>
              <a:t>symptômes d'apparition récente ou récemment modifies</a:t>
            </a:r>
          </a:p>
          <a:p>
            <a:pPr>
              <a:buFont typeface="Arial" pitchFamily="34" charset="0"/>
              <a:buChar char="•"/>
            </a:pPr>
            <a:r>
              <a:rPr lang="fr-FR" sz="3200" b="1" dirty="0">
                <a:latin typeface="+mj-lt"/>
              </a:rPr>
              <a:t>Resistance au traitement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CCFC75-D942-9C56-3F7B-D2946EFBD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355600"/>
            <a:ext cx="10957560" cy="6289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Examen clinique</a:t>
            </a:r>
          </a:p>
          <a:p>
            <a:pPr marL="0" indent="0">
              <a:buNone/>
            </a:pPr>
            <a:r>
              <a:rPr lang="fr-FR" dirty="0"/>
              <a:t>Souvent pauvre +++ </a:t>
            </a:r>
            <a:r>
              <a:rPr lang="fr-FR" b="1" dirty="0"/>
              <a:t>Rechercher </a:t>
            </a:r>
            <a:r>
              <a:rPr lang="fr-FR" b="1" dirty="0">
                <a:solidFill>
                  <a:srgbClr val="FF0000"/>
                </a:solidFill>
              </a:rPr>
              <a:t>:</a:t>
            </a:r>
          </a:p>
          <a:p>
            <a:r>
              <a:rPr lang="fr-FR" dirty="0"/>
              <a:t>un amaigrissement ++ (peser le patient !), </a:t>
            </a:r>
          </a:p>
          <a:p>
            <a:r>
              <a:rPr lang="fr-FR" dirty="0"/>
              <a:t>palpation des aires ganglionnaires (</a:t>
            </a:r>
            <a:r>
              <a:rPr lang="fr-DZ" dirty="0"/>
              <a:t>ad</a:t>
            </a:r>
            <a:r>
              <a:rPr lang="fr-FR" dirty="0"/>
              <a:t>é</a:t>
            </a:r>
            <a:r>
              <a:rPr lang="fr-DZ" dirty="0" err="1"/>
              <a:t>nopathie</a:t>
            </a:r>
            <a:r>
              <a:rPr lang="fr-DZ" dirty="0"/>
              <a:t> de </a:t>
            </a:r>
            <a:r>
              <a:rPr lang="fr-DZ" dirty="0" err="1"/>
              <a:t>Troisier</a:t>
            </a:r>
            <a:r>
              <a:rPr lang="fr-DZ" dirty="0"/>
              <a:t>).</a:t>
            </a:r>
          </a:p>
          <a:p>
            <a:r>
              <a:rPr lang="fr-FR" dirty="0"/>
              <a:t>Si troubles du transit : palpation de la </a:t>
            </a:r>
            <a:r>
              <a:rPr lang="fr-FR" dirty="0" err="1"/>
              <a:t>thyroide</a:t>
            </a:r>
            <a:r>
              <a:rPr lang="fr-FR" dirty="0"/>
              <a:t> de principe.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                            </a:t>
            </a:r>
            <a:r>
              <a:rPr lang="fr-DZ" b="1" dirty="0"/>
              <a:t>Peut retrouver :</a:t>
            </a:r>
          </a:p>
          <a:p>
            <a:r>
              <a:rPr lang="fr-FR" dirty="0"/>
              <a:t>Une douleur de la palpation de la fosse iliaque gauche, </a:t>
            </a:r>
          </a:p>
          <a:p>
            <a:r>
              <a:rPr lang="fr-FR" dirty="0"/>
              <a:t> Parfois une douleur d la palpation abdominale le long du cadre colique</a:t>
            </a:r>
          </a:p>
          <a:p>
            <a:r>
              <a:rPr lang="fr-FR" b="1" dirty="0"/>
              <a:t>Toucher rectal </a:t>
            </a:r>
            <a:r>
              <a:rPr lang="fr-FR" dirty="0"/>
              <a:t>et examen proctologique </a:t>
            </a:r>
            <a:r>
              <a:rPr lang="fr-FR" dirty="0" err="1"/>
              <a:t>systematiques</a:t>
            </a:r>
            <a:r>
              <a:rPr lang="fr-FR" dirty="0"/>
              <a:t> en cas de sang dans les selles ou de doute sur une tumeur colorectale ou une </a:t>
            </a:r>
            <a:r>
              <a:rPr lang="fr-FR" dirty="0" err="1"/>
              <a:t>MlCl</a:t>
            </a:r>
            <a:r>
              <a:rPr lang="fr-FR" dirty="0"/>
              <a:t> </a:t>
            </a:r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844546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Diagnostic positif de SII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38348" y="1714488"/>
            <a:ext cx="8043890" cy="3000396"/>
          </a:xfrm>
          <a:ln w="28575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fr-FR" sz="2400" dirty="0"/>
              <a:t>Sujet jeune: âge &lt; 50 ans</a:t>
            </a:r>
          </a:p>
          <a:p>
            <a:r>
              <a:rPr lang="fr-FR" sz="2400" dirty="0"/>
              <a:t>Troubles anciens sans aggravation ou modification récente des symptômes</a:t>
            </a:r>
          </a:p>
          <a:p>
            <a:r>
              <a:rPr lang="fr-FR" sz="2400" dirty="0"/>
              <a:t>Absence de signes d’alarme</a:t>
            </a:r>
          </a:p>
          <a:p>
            <a:r>
              <a:rPr lang="fr-FR" sz="2400" dirty="0"/>
              <a:t>Antécédents familiaux négatifs: cancer  digestif++, MICI, maladie cœliaque</a:t>
            </a:r>
          </a:p>
          <a:p>
            <a:r>
              <a:rPr lang="fr-FR" sz="2400" dirty="0"/>
              <a:t>Bilan morphologique &lt; 5 ans négatif</a:t>
            </a:r>
          </a:p>
          <a:p>
            <a:endParaRPr lang="fr-FR" dirty="0"/>
          </a:p>
          <a:p>
            <a:pPr>
              <a:buNone/>
            </a:pP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1881158" y="4857761"/>
            <a:ext cx="5572164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3200" b="1" dirty="0"/>
              <a:t>Pas </a:t>
            </a:r>
            <a:r>
              <a:rPr lang="fr-FR" sz="2800" b="1" dirty="0"/>
              <a:t>d’examens</a:t>
            </a:r>
            <a:r>
              <a:rPr lang="fr-FR" sz="3200" b="1" dirty="0"/>
              <a:t> </a:t>
            </a:r>
            <a:r>
              <a:rPr lang="fr-FR" sz="2800" b="1" dirty="0"/>
              <a:t>complémentaires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5453058" y="5715016"/>
            <a:ext cx="3500462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b="1" dirty="0"/>
              <a:t>Traitement d’épreuve</a:t>
            </a:r>
          </a:p>
        </p:txBody>
      </p:sp>
      <p:sp>
        <p:nvSpPr>
          <p:cNvPr id="7" name="Flèche à angle droit 6"/>
          <p:cNvSpPr/>
          <p:nvPr/>
        </p:nvSpPr>
        <p:spPr>
          <a:xfrm rot="5400000">
            <a:off x="4649381" y="5411405"/>
            <a:ext cx="785818" cy="821537"/>
          </a:xfrm>
          <a:prstGeom prst="bent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09918" y="285728"/>
            <a:ext cx="7186634" cy="1143000"/>
          </a:xfrm>
          <a:solidFill>
            <a:srgbClr val="FF0000"/>
          </a:solidFill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Diagnostic d’exclusion du SII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95604" y="1500174"/>
            <a:ext cx="5857916" cy="1757362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fr-FR" dirty="0"/>
              <a:t>Age &gt; 50 ans </a:t>
            </a:r>
          </a:p>
          <a:p>
            <a:r>
              <a:rPr lang="fr-FR" dirty="0"/>
              <a:t>Présence de signes d’alarme</a:t>
            </a:r>
          </a:p>
          <a:p>
            <a:r>
              <a:rPr lang="fr-FR" dirty="0"/>
              <a:t>SII avec diarrhée prédominante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952860" y="4143380"/>
            <a:ext cx="4143404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/>
              <a:t>Examens complémentaires </a:t>
            </a:r>
          </a:p>
        </p:txBody>
      </p:sp>
      <p:sp>
        <p:nvSpPr>
          <p:cNvPr id="5" name="Flèche vers le bas 4"/>
          <p:cNvSpPr/>
          <p:nvPr/>
        </p:nvSpPr>
        <p:spPr>
          <a:xfrm>
            <a:off x="5738810" y="3286124"/>
            <a:ext cx="500066" cy="78581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095868" y="5477548"/>
            <a:ext cx="1785950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/>
              <a:t>Lesquels ?</a:t>
            </a:r>
          </a:p>
        </p:txBody>
      </p:sp>
      <p:sp>
        <p:nvSpPr>
          <p:cNvPr id="7" name="Flèche vers le bas 6"/>
          <p:cNvSpPr/>
          <p:nvPr/>
        </p:nvSpPr>
        <p:spPr>
          <a:xfrm>
            <a:off x="5738810" y="4643446"/>
            <a:ext cx="500066" cy="78581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"/>
            <a:ext cx="1643042" cy="1424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09786" y="285728"/>
            <a:ext cx="7543824" cy="796908"/>
          </a:xfrm>
          <a:solidFill>
            <a:srgbClr val="FF0000"/>
          </a:solidFill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Examens complémentaires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09752" y="1885954"/>
            <a:ext cx="8643966" cy="3614749"/>
          </a:xfrm>
          <a:ln w="28575"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r>
              <a:rPr lang="fr-FR" sz="2600" dirty="0"/>
              <a:t>Bilan biologique: NFS, </a:t>
            </a:r>
            <a:r>
              <a:rPr lang="fr-FR" sz="2600" dirty="0" err="1"/>
              <a:t>Sd</a:t>
            </a:r>
            <a:r>
              <a:rPr lang="fr-FR" sz="2600" dirty="0"/>
              <a:t> inflammatoire (VS, CRP)                                                   	faible rendement diagnostique</a:t>
            </a:r>
          </a:p>
          <a:p>
            <a:r>
              <a:rPr lang="fr-FR" sz="2600" dirty="0"/>
              <a:t>Recherche d’une </a:t>
            </a:r>
            <a:r>
              <a:rPr lang="fr-FR" sz="2600" dirty="0" err="1"/>
              <a:t>dysthroïdie</a:t>
            </a:r>
            <a:r>
              <a:rPr lang="fr-FR" sz="2600" dirty="0"/>
              <a:t>: </a:t>
            </a:r>
            <a:r>
              <a:rPr lang="fr-FR" sz="2600" dirty="0" err="1"/>
              <a:t>TSHus</a:t>
            </a:r>
            <a:endParaRPr lang="fr-FR" sz="2600" dirty="0"/>
          </a:p>
          <a:p>
            <a:r>
              <a:rPr lang="fr-DZ" dirty="0"/>
              <a:t>En cas de </a:t>
            </a:r>
            <a:r>
              <a:rPr lang="fr-DZ" dirty="0" err="1"/>
              <a:t>Sll-Diarrh</a:t>
            </a:r>
            <a:r>
              <a:rPr lang="fr-FR" dirty="0"/>
              <a:t>é</a:t>
            </a:r>
            <a:r>
              <a:rPr lang="fr-DZ" dirty="0"/>
              <a:t>e : dosage de </a:t>
            </a:r>
            <a:r>
              <a:rPr lang="fr-DZ" dirty="0" err="1"/>
              <a:t>lgA</a:t>
            </a:r>
            <a:r>
              <a:rPr lang="fr-DZ" dirty="0"/>
              <a:t> anti </a:t>
            </a:r>
            <a:r>
              <a:rPr lang="fr-DZ" dirty="0" err="1"/>
              <a:t>transglutaminase</a:t>
            </a:r>
            <a:endParaRPr lang="fr-FR" sz="2600" dirty="0"/>
          </a:p>
          <a:p>
            <a:r>
              <a:rPr lang="fr-FR" sz="2600" dirty="0" err="1"/>
              <a:t>Calprotectine</a:t>
            </a:r>
            <a:r>
              <a:rPr lang="fr-FR" sz="2600" dirty="0"/>
              <a:t> fécale:  diarrhée++</a:t>
            </a:r>
          </a:p>
          <a:p>
            <a:r>
              <a:rPr lang="fr-FR" sz="2600" dirty="0"/>
              <a:t>Parasitologie des selles: le plus souvent -, </a:t>
            </a:r>
          </a:p>
          <a:p>
            <a:r>
              <a:rPr lang="fr-FR" sz="2600" dirty="0"/>
              <a:t>Echographie abdominale: si associée a des douleurs biliaires ou </a:t>
            </a:r>
            <a:r>
              <a:rPr lang="fr-FR" sz="2600" dirty="0" err="1"/>
              <a:t>pancreatiques</a:t>
            </a:r>
            <a:endParaRPr lang="fr-FR" sz="2600" dirty="0"/>
          </a:p>
          <a:p>
            <a:r>
              <a:rPr lang="fr-FR" sz="2600" dirty="0"/>
              <a:t>EOGD: </a:t>
            </a:r>
            <a:r>
              <a:rPr lang="fr-DZ" dirty="0"/>
              <a:t>si dyspepsie associ6e avec signes d'alarme</a:t>
            </a:r>
            <a:endParaRPr lang="fr-FR" dirty="0"/>
          </a:p>
          <a:p>
            <a:r>
              <a:rPr lang="fr-FR" sz="2600" dirty="0"/>
              <a:t>Coloscopie: CCR, MICI…</a:t>
            </a:r>
          </a:p>
          <a:p>
            <a:endParaRPr lang="fr-FR" sz="2600" dirty="0"/>
          </a:p>
          <a:p>
            <a:endParaRPr lang="fr-FR" sz="2600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44" y="2714620"/>
            <a:ext cx="2928958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1952596" y="1857364"/>
            <a:ext cx="1928826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</a:rPr>
              <a:t>ADK colon </a:t>
            </a: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2992" y="2714620"/>
            <a:ext cx="2857520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53389" y="2714621"/>
            <a:ext cx="2547943" cy="2762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5667372" y="1928802"/>
            <a:ext cx="1071570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</a:rPr>
              <a:t>RCH 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8310578" y="1928802"/>
            <a:ext cx="1928826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rgbClr val="FF0000"/>
                </a:solidFill>
              </a:rPr>
              <a:t>Crohn</a:t>
            </a:r>
            <a:r>
              <a:rPr lang="fr-FR" sz="2800" dirty="0">
                <a:solidFill>
                  <a:srgbClr val="FF0000"/>
                </a:solidFill>
              </a:rPr>
              <a:t> iléal 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4238612" y="428605"/>
            <a:ext cx="3357586" cy="8309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Coloscopie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20" y="1500174"/>
            <a:ext cx="2786082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09918" y="4071942"/>
            <a:ext cx="3228226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3738546" y="642918"/>
            <a:ext cx="4143404" cy="707886"/>
          </a:xfrm>
          <a:prstGeom prst="rect">
            <a:avLst/>
          </a:prstGeom>
          <a:solidFill>
            <a:srgbClr val="FF0000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</a:rPr>
              <a:t>Maladie cœliaque </a:t>
            </a:r>
          </a:p>
        </p:txBody>
      </p:sp>
      <p:pic>
        <p:nvPicPr>
          <p:cNvPr id="5" name="Picture 5" descr="GIC0702-05-017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96066" y="1571612"/>
            <a:ext cx="3646510" cy="3049154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67150" y="214290"/>
            <a:ext cx="6043626" cy="1082660"/>
          </a:xfrm>
          <a:solidFill>
            <a:srgbClr val="FF0000"/>
          </a:solidFill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 TRAITEMENT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774017" y="2882854"/>
            <a:ext cx="8643966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Soulagement de la douleur : objectif principal +++</a:t>
            </a:r>
          </a:p>
          <a:p>
            <a:r>
              <a:rPr lang="fr-FR" sz="2400" dirty="0"/>
              <a:t>Correction /des troubles du transit et du ballonnement abdominal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1" y="0"/>
            <a:ext cx="2316735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3381356" y="4885369"/>
            <a:ext cx="507209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/>
              <a:t>Amélioration de la qualité de vie</a:t>
            </a:r>
          </a:p>
        </p:txBody>
      </p:sp>
      <p:sp>
        <p:nvSpPr>
          <p:cNvPr id="6" name="Flèche vers le bas 5"/>
          <p:cNvSpPr/>
          <p:nvPr/>
        </p:nvSpPr>
        <p:spPr>
          <a:xfrm>
            <a:off x="5381620" y="3801579"/>
            <a:ext cx="1000132" cy="107157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 rot="10800000" flipV="1">
            <a:off x="6453190" y="5539103"/>
            <a:ext cx="392909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Relation médecin-malade +++</a:t>
            </a:r>
          </a:p>
        </p:txBody>
      </p:sp>
      <p:sp>
        <p:nvSpPr>
          <p:cNvPr id="8" name="ZoneTexte 7"/>
          <p:cNvSpPr txBox="1"/>
          <p:nvPr/>
        </p:nvSpPr>
        <p:spPr>
          <a:xfrm rot="10800000" flipV="1">
            <a:off x="2024034" y="5539104"/>
            <a:ext cx="27146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Effet placebo </a:t>
            </a:r>
            <a:r>
              <a:rPr lang="fr-FR" sz="2400" dirty="0">
                <a:sym typeface="Symbol"/>
              </a:rPr>
              <a:t></a:t>
            </a:r>
            <a:endParaRPr lang="fr-FR" sz="2400" dirty="0"/>
          </a:p>
        </p:txBody>
      </p:sp>
      <p:sp>
        <p:nvSpPr>
          <p:cNvPr id="9" name="Flèche droite 8"/>
          <p:cNvSpPr/>
          <p:nvPr/>
        </p:nvSpPr>
        <p:spPr>
          <a:xfrm>
            <a:off x="4881554" y="5500702"/>
            <a:ext cx="1500198" cy="5715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E21784CD-6E66-F044-885D-A91554B14C28}"/>
              </a:ext>
            </a:extLst>
          </p:cNvPr>
          <p:cNvSpPr txBox="1">
            <a:spLocks/>
          </p:cNvSpPr>
          <p:nvPr/>
        </p:nvSpPr>
        <p:spPr>
          <a:xfrm>
            <a:off x="1614010" y="1702424"/>
            <a:ext cx="6043626" cy="1082660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solidFill>
                  <a:schemeClr val="bg1"/>
                </a:solidFill>
              </a:rPr>
              <a:t>Buts du traitement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6976" y="285728"/>
            <a:ext cx="7258072" cy="796908"/>
          </a:xfrm>
          <a:solidFill>
            <a:srgbClr val="FF0000"/>
          </a:solidFill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Règles hygiéno-diététiques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09720" y="1462234"/>
            <a:ext cx="8643998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sz="2000" dirty="0"/>
              <a:t>Patients très attentifs aux conseils diététiques</a:t>
            </a:r>
          </a:p>
          <a:p>
            <a:pPr>
              <a:buFont typeface="Arial" pitchFamily="34" charset="0"/>
              <a:buChar char="•"/>
            </a:pPr>
            <a:r>
              <a:rPr lang="fr-FR" sz="2000" dirty="0"/>
              <a:t>Lien chronologique entre la prise alimentaire et l’apparition ou l’aggravation des symptômes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809720" y="2857496"/>
            <a:ext cx="8501122" cy="160043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dirty="0" err="1"/>
              <a:t>Exlclusion</a:t>
            </a:r>
            <a:r>
              <a:rPr lang="fr-FR" sz="2000" dirty="0"/>
              <a:t> alimentaire: attention, pas d’exclusion systématique (listes d’aliments autorisés et interdits?)</a:t>
            </a:r>
          </a:p>
          <a:p>
            <a:r>
              <a:rPr lang="fr-FR" sz="2000" dirty="0"/>
              <a:t>Uniquement si relation claire reproductible entre ingestion de certains aliments et la survenue des symptômes</a:t>
            </a:r>
          </a:p>
          <a:p>
            <a:r>
              <a:rPr lang="fr-FR" dirty="0"/>
              <a:t>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845439" y="4636413"/>
            <a:ext cx="8501121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/>
              <a:t>En cas de constipation, il est habituel de recommander I'enrichissement de la ration quotidienne en fibres.</a:t>
            </a:r>
            <a:endParaRPr lang="fr-FR" sz="2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FFAB590-602E-696B-966D-AFE71FBA6B75}"/>
              </a:ext>
            </a:extLst>
          </p:cNvPr>
          <p:cNvSpPr txBox="1"/>
          <p:nvPr/>
        </p:nvSpPr>
        <p:spPr>
          <a:xfrm>
            <a:off x="1845439" y="5500701"/>
            <a:ext cx="8501121" cy="12926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SII avec ballonnement ou diarrhée: régime sans FODMAP désignant certains hydrates de carbone présents dans l'alimentation (oligosaccharides, disaccharides, monosaccharides, polyols). </a:t>
            </a:r>
          </a:p>
          <a:p>
            <a:endParaRPr lang="fr-FR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95712" y="285728"/>
            <a:ext cx="6186502" cy="654032"/>
          </a:xfrm>
          <a:solidFill>
            <a:srgbClr val="FF0000"/>
          </a:solidFill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Antispasmodiques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238348" y="2214555"/>
            <a:ext cx="8072494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b="1" dirty="0"/>
              <a:t>Troubles moteurs: anomalies des contractions (amplitude, propagation), réponse motrice recto-sigmoïdienne excessive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381356" y="1357299"/>
            <a:ext cx="5643602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Largement prescrits en première intention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881158" y="4071943"/>
            <a:ext cx="8286808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b="1" dirty="0"/>
              <a:t>Efficacité démontrée sur plusieurs méta-analyses sur la douleur mais pas sur le trouble du transit intestinal </a:t>
            </a:r>
          </a:p>
        </p:txBody>
      </p:sp>
      <p:sp>
        <p:nvSpPr>
          <p:cNvPr id="9" name="Flèche vers le bas 8"/>
          <p:cNvSpPr/>
          <p:nvPr/>
        </p:nvSpPr>
        <p:spPr>
          <a:xfrm>
            <a:off x="5738810" y="3071810"/>
            <a:ext cx="714380" cy="100013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2595538" y="5643579"/>
            <a:ext cx="6929486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Douleur abdominale déclenchée par les repas +++</a:t>
            </a:r>
          </a:p>
        </p:txBody>
      </p:sp>
      <p:pic>
        <p:nvPicPr>
          <p:cNvPr id="10" name="Picture 5" descr="D:\clipart\ED00204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0" y="1"/>
            <a:ext cx="2000264" cy="201658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38810" y="214290"/>
            <a:ext cx="4357718" cy="725470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Antispasmodiques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809720" y="3357562"/>
            <a:ext cx="8572560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sz="2400" dirty="0" err="1"/>
              <a:t>Trimébutine</a:t>
            </a:r>
            <a:r>
              <a:rPr lang="fr-FR" sz="2400" dirty="0"/>
              <a:t>: </a:t>
            </a:r>
            <a:r>
              <a:rPr lang="fr-FR" sz="2400" dirty="0" err="1"/>
              <a:t>Débridat</a:t>
            </a:r>
            <a:endParaRPr lang="fr-FR" sz="2400" dirty="0"/>
          </a:p>
          <a:p>
            <a:pPr>
              <a:buFont typeface="Arial" pitchFamily="34" charset="0"/>
              <a:buChar char="•"/>
            </a:pPr>
            <a:r>
              <a:rPr lang="fr-FR" sz="2400" dirty="0" err="1"/>
              <a:t>Pinaverium</a:t>
            </a:r>
            <a:r>
              <a:rPr lang="fr-FR" sz="2400" dirty="0"/>
              <a:t>: </a:t>
            </a:r>
            <a:r>
              <a:rPr lang="fr-FR" sz="2400" dirty="0" err="1"/>
              <a:t>Dicétel</a:t>
            </a:r>
            <a:endParaRPr lang="fr-FR" sz="2400" dirty="0"/>
          </a:p>
          <a:p>
            <a:pPr>
              <a:buFont typeface="Arial" pitchFamily="34" charset="0"/>
              <a:buChar char="•"/>
            </a:pPr>
            <a:r>
              <a:rPr lang="fr-FR" sz="2400" dirty="0" err="1"/>
              <a:t>Mébévérine</a:t>
            </a:r>
            <a:r>
              <a:rPr lang="fr-FR" sz="2400" dirty="0"/>
              <a:t>: </a:t>
            </a:r>
            <a:r>
              <a:rPr lang="fr-FR" sz="2400" dirty="0" err="1"/>
              <a:t>Duspatalin</a:t>
            </a:r>
            <a:endParaRPr lang="fr-FR" sz="2400" dirty="0"/>
          </a:p>
          <a:p>
            <a:pPr>
              <a:buFont typeface="Arial" pitchFamily="34" charset="0"/>
              <a:buChar char="•"/>
            </a:pPr>
            <a:r>
              <a:rPr lang="fr-FR" sz="2400" dirty="0"/>
              <a:t>Association </a:t>
            </a:r>
            <a:r>
              <a:rPr lang="fr-FR" sz="2400" dirty="0" err="1"/>
              <a:t>Alvérine</a:t>
            </a:r>
            <a:r>
              <a:rPr lang="fr-FR" sz="2400" dirty="0"/>
              <a:t>-</a:t>
            </a:r>
            <a:r>
              <a:rPr lang="fr-FR" sz="2400" dirty="0" err="1"/>
              <a:t>simethicone</a:t>
            </a:r>
            <a:r>
              <a:rPr lang="fr-FR" sz="2400" dirty="0"/>
              <a:t>: </a:t>
            </a:r>
            <a:r>
              <a:rPr lang="fr-FR" sz="2400" dirty="0" err="1"/>
              <a:t>Météospasmyl</a:t>
            </a:r>
            <a:endParaRPr lang="fr-FR" sz="2400" dirty="0"/>
          </a:p>
          <a:p>
            <a:pPr>
              <a:buFont typeface="Arial" pitchFamily="34" charset="0"/>
              <a:buChar char="•"/>
            </a:pPr>
            <a:r>
              <a:rPr lang="fr-FR" sz="2400" dirty="0" err="1"/>
              <a:t>Phloroglucinol</a:t>
            </a:r>
            <a:r>
              <a:rPr lang="fr-FR" sz="2400" dirty="0"/>
              <a:t>: </a:t>
            </a:r>
            <a:r>
              <a:rPr lang="fr-FR" sz="2400" dirty="0" err="1"/>
              <a:t>Spasfon</a:t>
            </a:r>
            <a:endParaRPr lang="fr-FR" sz="2400" dirty="0"/>
          </a:p>
          <a:p>
            <a:pPr lvl="1"/>
            <a:r>
              <a:rPr lang="fr-FR" sz="2400" dirty="0"/>
              <a:t>action rapide             à la demande: douleurs </a:t>
            </a:r>
            <a:r>
              <a:rPr lang="fr-FR" sz="2400" dirty="0" err="1"/>
              <a:t>abd</a:t>
            </a:r>
            <a:r>
              <a:rPr lang="fr-FR" sz="2400" dirty="0"/>
              <a:t>. paroxystiques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452662" y="5929331"/>
            <a:ext cx="6143668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Traitement continu vs traitement des poussées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738282" y="114783"/>
          <a:ext cx="3857652" cy="3116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2" imgW="4277322" imgH="3505689" progId="PBrush">
                  <p:embed/>
                </p:oleObj>
              </mc:Choice>
              <mc:Fallback>
                <p:oleObj name="Image bitmap" r:id="rId2" imgW="4277322" imgH="3505689" progId="PBrush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282" y="114783"/>
                        <a:ext cx="3857652" cy="3116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lèche droite 9"/>
          <p:cNvSpPr/>
          <p:nvPr/>
        </p:nvSpPr>
        <p:spPr>
          <a:xfrm>
            <a:off x="4024298" y="5286388"/>
            <a:ext cx="785818" cy="35719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Montmorillonite </a:t>
            </a:r>
            <a:r>
              <a:rPr lang="fr-FR" b="1" dirty="0" err="1">
                <a:solidFill>
                  <a:schemeClr val="bg1"/>
                </a:solidFill>
              </a:rPr>
              <a:t>beidellitique</a:t>
            </a:r>
            <a:br>
              <a:rPr lang="fr-FR" b="1" dirty="0">
                <a:solidFill>
                  <a:schemeClr val="bg1"/>
                </a:solidFill>
              </a:rPr>
            </a:br>
            <a:r>
              <a:rPr lang="fr-FR" b="1" dirty="0" err="1">
                <a:solidFill>
                  <a:schemeClr val="bg1"/>
                </a:solidFill>
              </a:rPr>
              <a:t>Bébélix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64422" y="1931196"/>
            <a:ext cx="8472518" cy="3614750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fr-FR" dirty="0" err="1"/>
              <a:t>Argille</a:t>
            </a:r>
            <a:r>
              <a:rPr lang="fr-FR" dirty="0"/>
              <a:t> naturelle</a:t>
            </a:r>
          </a:p>
          <a:p>
            <a:r>
              <a:rPr lang="fr-FR" dirty="0"/>
              <a:t>SII-C: amélioration de la douleur abdominale et le confort digestif de façon significativement supérieure au placebo</a:t>
            </a:r>
          </a:p>
          <a:p>
            <a:r>
              <a:rPr lang="fr-FR" dirty="0"/>
              <a:t>Effet moins net dans les sous groupes SII-D et SII-C/D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5738810" y="5786454"/>
            <a:ext cx="407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Ducrotté</a:t>
            </a:r>
            <a:r>
              <a:rPr lang="fr-FR" dirty="0"/>
              <a:t> et al. APT 2005;21: 435-444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9382" y="1714488"/>
            <a:ext cx="5007212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5881686" y="214290"/>
            <a:ext cx="4429156" cy="989034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Antidépresseurs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214290"/>
            <a:ext cx="4305300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1595438" y="4071943"/>
            <a:ext cx="3857620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Action sur la douleur</a:t>
            </a:r>
          </a:p>
          <a:p>
            <a:r>
              <a:rPr lang="fr-FR" sz="2400" dirty="0"/>
              <a:t>Mécanisme d’action incertain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2452662" y="214290"/>
            <a:ext cx="6257940" cy="796908"/>
          </a:xfrm>
          <a:solidFill>
            <a:srgbClr val="FF0000"/>
          </a:solidFill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Antidépresseurs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09720" y="1428736"/>
            <a:ext cx="8501122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sz="2400" dirty="0"/>
              <a:t>Action sur l’humeur non nécessaire</a:t>
            </a:r>
          </a:p>
          <a:p>
            <a:pPr>
              <a:buFont typeface="Arial" pitchFamily="34" charset="0"/>
              <a:buChar char="•"/>
            </a:pPr>
            <a:r>
              <a:rPr lang="fr-FR" sz="2400" dirty="0"/>
              <a:t>Utilisés à des doses plus faibles / dépression</a:t>
            </a:r>
          </a:p>
          <a:p>
            <a:pPr>
              <a:buFont typeface="Arial" pitchFamily="34" charset="0"/>
              <a:buChar char="•"/>
            </a:pPr>
            <a:r>
              <a:rPr lang="fr-FR" sz="2400" dirty="0"/>
              <a:t>Bénéfice thérapeutique  &gt; 2 semaines de traitement </a:t>
            </a:r>
          </a:p>
          <a:p>
            <a:pPr>
              <a:buFont typeface="Arial" pitchFamily="34" charset="0"/>
              <a:buChar char="•"/>
            </a:pPr>
            <a:r>
              <a:rPr lang="fr-FR" sz="2400" dirty="0" err="1"/>
              <a:t>Compliance</a:t>
            </a:r>
            <a:r>
              <a:rPr lang="fr-FR" sz="2400" dirty="0"/>
              <a:t> du malade est la clé du succès thérapeutique</a:t>
            </a:r>
          </a:p>
          <a:p>
            <a:pPr>
              <a:buFont typeface="Arial" pitchFamily="34" charset="0"/>
              <a:buChar char="•"/>
            </a:pPr>
            <a:r>
              <a:rPr lang="fr-FR" sz="2400" dirty="0"/>
              <a:t>Doses progressivement croissantes                    limiter les effets II </a:t>
            </a:r>
          </a:p>
        </p:txBody>
      </p:sp>
      <p:sp>
        <p:nvSpPr>
          <p:cNvPr id="5" name="Flèche droite 4"/>
          <p:cNvSpPr/>
          <p:nvPr/>
        </p:nvSpPr>
        <p:spPr>
          <a:xfrm>
            <a:off x="6453190" y="3000372"/>
            <a:ext cx="1071570" cy="28575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1809720" y="6143645"/>
            <a:ext cx="8572528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Indication de choix: SII modéré à sévère notamment avec diarrhée</a:t>
            </a:r>
          </a:p>
        </p:txBody>
      </p:sp>
      <p:sp>
        <p:nvSpPr>
          <p:cNvPr id="9" name="Espace réservé du contenu 2"/>
          <p:cNvSpPr>
            <a:spLocks noGrp="1"/>
          </p:cNvSpPr>
          <p:nvPr>
            <p:ph idx="1"/>
          </p:nvPr>
        </p:nvSpPr>
        <p:spPr>
          <a:xfrm>
            <a:off x="1809720" y="3643315"/>
            <a:ext cx="8229600" cy="2357454"/>
          </a:xfrm>
          <a:ln w="28575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fr-FR" sz="2400" dirty="0"/>
              <a:t>Tricycliques+++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/>
              <a:t>Dose initiale réduite puis ↗ par paliers 4/5 jours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/>
              <a:t>Prise vespérale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/>
              <a:t>Dose 30-50 mg/j voire moins 10 mg/j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/>
              <a:t>Echec si inefficacité 1-3 mois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/>
              <a:t>Si succès, diminuer la dose après 6 mois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95406" y="214290"/>
            <a:ext cx="8929718" cy="1143000"/>
          </a:xfrm>
          <a:solidFill>
            <a:srgbClr val="FF0000"/>
          </a:solidFill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Médicaments agissant sur les récepteurs de la sérotonine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809720" y="1500174"/>
            <a:ext cx="8572528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dirty="0"/>
              <a:t>Sérotonine = médiateur clé de  la sensibilité viscérale et de la motricité digestive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095472" y="2610146"/>
            <a:ext cx="2643206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Antagonistes 5-HT3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7167570" y="2571745"/>
            <a:ext cx="2643206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Agonistes 5-HT4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666844" y="3571877"/>
            <a:ext cx="3643338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Bloquent la transmission du message sensitif et ralentissent le transit 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452662" y="4714884"/>
            <a:ext cx="192882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Indication: SSI-D</a:t>
            </a:r>
          </a:p>
        </p:txBody>
      </p:sp>
      <p:cxnSp>
        <p:nvCxnSpPr>
          <p:cNvPr id="19" name="Connecteur en angle 18"/>
          <p:cNvCxnSpPr/>
          <p:nvPr/>
        </p:nvCxnSpPr>
        <p:spPr>
          <a:xfrm rot="16200000" flipH="1">
            <a:off x="6956848" y="1067939"/>
            <a:ext cx="671460" cy="239318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2452662" y="5715016"/>
            <a:ext cx="2000264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Alosetron</a:t>
            </a:r>
            <a:r>
              <a:rPr lang="fr-FR" dirty="0"/>
              <a:t>(US)</a:t>
            </a:r>
          </a:p>
          <a:p>
            <a:r>
              <a:rPr lang="fr-FR" dirty="0" err="1"/>
              <a:t>Cilansetron</a:t>
            </a:r>
            <a:r>
              <a:rPr lang="fr-FR" dirty="0"/>
              <a:t>(retiré)</a:t>
            </a:r>
          </a:p>
          <a:p>
            <a:r>
              <a:rPr lang="fr-FR" dirty="0" err="1"/>
              <a:t>Ramosetron</a:t>
            </a:r>
            <a:endParaRPr lang="fr-FR" dirty="0"/>
          </a:p>
        </p:txBody>
      </p:sp>
      <p:sp>
        <p:nvSpPr>
          <p:cNvPr id="22" name="Flèche vers le bas 21"/>
          <p:cNvSpPr/>
          <p:nvPr/>
        </p:nvSpPr>
        <p:spPr>
          <a:xfrm>
            <a:off x="3309918" y="3071810"/>
            <a:ext cx="285752" cy="50006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 vers le bas 22"/>
          <p:cNvSpPr/>
          <p:nvPr/>
        </p:nvSpPr>
        <p:spPr>
          <a:xfrm>
            <a:off x="3309918" y="4214818"/>
            <a:ext cx="285752" cy="50006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en angle 24"/>
          <p:cNvCxnSpPr>
            <a:stCxn id="6" idx="2"/>
            <a:endCxn id="8" idx="0"/>
          </p:cNvCxnSpPr>
          <p:nvPr/>
        </p:nvCxnSpPr>
        <p:spPr>
          <a:xfrm rot="5400000">
            <a:off x="4401601" y="915761"/>
            <a:ext cx="709861" cy="267890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1666844" y="5286388"/>
            <a:ext cx="364333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EII: constipation, colite ischémique?</a:t>
            </a:r>
          </a:p>
        </p:txBody>
      </p:sp>
      <p:sp>
        <p:nvSpPr>
          <p:cNvPr id="27" name="Flèche vers le bas 26"/>
          <p:cNvSpPr/>
          <p:nvPr/>
        </p:nvSpPr>
        <p:spPr>
          <a:xfrm>
            <a:off x="8310578" y="3071810"/>
            <a:ext cx="285752" cy="50006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/>
          <p:cNvSpPr txBox="1"/>
          <p:nvPr/>
        </p:nvSpPr>
        <p:spPr>
          <a:xfrm>
            <a:off x="6881818" y="3571876"/>
            <a:ext cx="321471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Accélèrent le transit </a:t>
            </a:r>
            <a:r>
              <a:rPr lang="fr-FR" dirty="0" err="1"/>
              <a:t>oro</a:t>
            </a:r>
            <a:r>
              <a:rPr lang="fr-FR" dirty="0"/>
              <a:t>-caecal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7453322" y="4429132"/>
            <a:ext cx="192882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Indication: SSI-C</a:t>
            </a:r>
          </a:p>
        </p:txBody>
      </p:sp>
      <p:sp>
        <p:nvSpPr>
          <p:cNvPr id="30" name="Flèche vers le bas 29"/>
          <p:cNvSpPr/>
          <p:nvPr/>
        </p:nvSpPr>
        <p:spPr>
          <a:xfrm>
            <a:off x="8239140" y="3929066"/>
            <a:ext cx="357190" cy="50006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>
            <a:off x="6667504" y="5214950"/>
            <a:ext cx="350046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Accidents cardiovasculaires? 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7524760" y="5857893"/>
            <a:ext cx="1714512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Tégaserod</a:t>
            </a:r>
            <a:endParaRPr lang="fr-FR" dirty="0"/>
          </a:p>
          <a:p>
            <a:r>
              <a:rPr lang="fr-FR" dirty="0" err="1"/>
              <a:t>Prucaloprid</a:t>
            </a:r>
            <a:r>
              <a:rPr lang="fr-FR" dirty="0"/>
              <a:t>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Médicaments agissant sur l’écosystème intestinal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809852" y="1857365"/>
            <a:ext cx="1857388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Antibiotiques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7453322" y="1785927"/>
            <a:ext cx="1785950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 err="1"/>
              <a:t>Probiotiques</a:t>
            </a:r>
            <a:endParaRPr lang="fr-FR" sz="2400" dirty="0"/>
          </a:p>
        </p:txBody>
      </p:sp>
      <p:sp>
        <p:nvSpPr>
          <p:cNvPr id="7" name="ZoneTexte 6"/>
          <p:cNvSpPr txBox="1"/>
          <p:nvPr/>
        </p:nvSpPr>
        <p:spPr>
          <a:xfrm>
            <a:off x="1881158" y="2786059"/>
            <a:ext cx="3857652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Pullulation microbienne?</a:t>
            </a:r>
          </a:p>
          <a:p>
            <a:r>
              <a:rPr lang="fr-FR" dirty="0"/>
              <a:t>Rôle de la flore bactérienne anormale?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809852" y="3929067"/>
            <a:ext cx="1785950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Métronidazole</a:t>
            </a:r>
            <a:endParaRPr lang="fr-FR" dirty="0"/>
          </a:p>
          <a:p>
            <a:r>
              <a:rPr lang="fr-FR" dirty="0"/>
              <a:t>Néomycine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5953124" y="2786059"/>
            <a:ext cx="4500594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Microorganismes (bactéries, levures) exercent un effet bénéfique après leur ingestion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5953124" y="4000505"/>
            <a:ext cx="4500594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Restauration de la balance cytokines pro-inflammatoires et anti-inflammatoires?</a:t>
            </a:r>
          </a:p>
        </p:txBody>
      </p:sp>
      <p:sp>
        <p:nvSpPr>
          <p:cNvPr id="11" name="Flèche vers le bas 10"/>
          <p:cNvSpPr/>
          <p:nvPr/>
        </p:nvSpPr>
        <p:spPr>
          <a:xfrm>
            <a:off x="3595670" y="2285992"/>
            <a:ext cx="285752" cy="500066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 vers le bas 11"/>
          <p:cNvSpPr/>
          <p:nvPr/>
        </p:nvSpPr>
        <p:spPr>
          <a:xfrm>
            <a:off x="8096264" y="2285992"/>
            <a:ext cx="285752" cy="500066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vers le bas 12"/>
          <p:cNvSpPr/>
          <p:nvPr/>
        </p:nvSpPr>
        <p:spPr>
          <a:xfrm>
            <a:off x="3595670" y="3429000"/>
            <a:ext cx="285752" cy="500066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 vers le bas 13"/>
          <p:cNvSpPr/>
          <p:nvPr/>
        </p:nvSpPr>
        <p:spPr>
          <a:xfrm>
            <a:off x="8096264" y="3429000"/>
            <a:ext cx="285752" cy="500066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3952860" y="5143513"/>
            <a:ext cx="4071966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Effet sur le ballonnement abdominal +</a:t>
            </a:r>
          </a:p>
          <a:p>
            <a:r>
              <a:rPr lang="fr-FR" dirty="0"/>
              <a:t>Autre: à préciser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rgbClr val="FF0000"/>
          </a:solidFill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Régulateurs du transit intestinal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81158" y="1857364"/>
            <a:ext cx="8329642" cy="3500462"/>
          </a:xfrm>
          <a:ln w="28575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fr-FR" dirty="0"/>
              <a:t>Constipation: </a:t>
            </a:r>
          </a:p>
          <a:p>
            <a:pPr lvl="1"/>
            <a:r>
              <a:rPr lang="fr-FR" dirty="0"/>
              <a:t>RHD</a:t>
            </a:r>
          </a:p>
          <a:p>
            <a:pPr lvl="1"/>
            <a:r>
              <a:rPr lang="fr-FR" dirty="0"/>
              <a:t>Laxatifs osmotiques ++(</a:t>
            </a:r>
            <a:r>
              <a:rPr lang="fr-FR" dirty="0" err="1"/>
              <a:t>Forlax</a:t>
            </a:r>
            <a:r>
              <a:rPr lang="fr-FR" dirty="0"/>
              <a:t>, </a:t>
            </a:r>
            <a:r>
              <a:rPr lang="fr-FR" dirty="0" err="1"/>
              <a:t>Duphalac</a:t>
            </a:r>
            <a:r>
              <a:rPr lang="fr-FR" dirty="0"/>
              <a:t>..)</a:t>
            </a:r>
          </a:p>
          <a:p>
            <a:pPr lvl="1"/>
            <a:r>
              <a:rPr lang="fr-FR" dirty="0"/>
              <a:t>Mucilages (</a:t>
            </a:r>
            <a:r>
              <a:rPr lang="fr-FR" dirty="0" err="1"/>
              <a:t>Normacol</a:t>
            </a:r>
            <a:r>
              <a:rPr lang="fr-FR" dirty="0"/>
              <a:t>, </a:t>
            </a:r>
            <a:r>
              <a:rPr lang="fr-FR" dirty="0" err="1"/>
              <a:t>Kaologeais</a:t>
            </a:r>
            <a:r>
              <a:rPr lang="fr-FR" dirty="0"/>
              <a:t>…) </a:t>
            </a:r>
          </a:p>
          <a:p>
            <a:pPr lvl="1"/>
            <a:r>
              <a:rPr lang="fr-FR" dirty="0"/>
              <a:t>Attention aux laxatifs irritants</a:t>
            </a:r>
          </a:p>
          <a:p>
            <a:r>
              <a:rPr lang="fr-FR" dirty="0"/>
              <a:t>Diarrhée: </a:t>
            </a:r>
            <a:r>
              <a:rPr lang="fr-FR" dirty="0" err="1"/>
              <a:t>lopéramide</a:t>
            </a:r>
            <a:r>
              <a:rPr lang="fr-FR" dirty="0"/>
              <a:t> +++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4298" y="131762"/>
            <a:ext cx="3429024" cy="796908"/>
          </a:xfrm>
          <a:solidFill>
            <a:srgbClr val="FF0000"/>
          </a:solidFill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Algorithme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2238348" y="1571613"/>
            <a:ext cx="2428892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SII Intermittents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2381224" y="2857497"/>
            <a:ext cx="2071702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Antispasmodiques Régulateurs du transit intestinal….</a:t>
            </a:r>
          </a:p>
          <a:p>
            <a:pPr algn="ctr"/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2881290" y="4600526"/>
            <a:ext cx="1000132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FF0000"/>
                </a:solidFill>
              </a:rPr>
              <a:t>Echec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453322" y="4572009"/>
            <a:ext cx="1714512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Tricycliques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595538" y="5715016"/>
            <a:ext cx="4214842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Alternatives non médicamenteuses: psychothérapie, hypnose, relaxation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310314" y="1071547"/>
            <a:ext cx="4071966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SII Continus</a:t>
            </a:r>
          </a:p>
          <a:p>
            <a:pPr algn="ctr"/>
            <a:r>
              <a:rPr lang="fr-FR" sz="2400" dirty="0"/>
              <a:t>Terrain psychologique ++</a:t>
            </a:r>
          </a:p>
        </p:txBody>
      </p:sp>
      <p:sp>
        <p:nvSpPr>
          <p:cNvPr id="12" name="Flèche vers le bas 11"/>
          <p:cNvSpPr/>
          <p:nvPr/>
        </p:nvSpPr>
        <p:spPr>
          <a:xfrm>
            <a:off x="3309918" y="2071678"/>
            <a:ext cx="357190" cy="7143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8024826" y="5814972"/>
            <a:ext cx="1000132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FF0000"/>
                </a:solidFill>
              </a:rPr>
              <a:t>Echec</a:t>
            </a:r>
          </a:p>
        </p:txBody>
      </p:sp>
      <p:sp>
        <p:nvSpPr>
          <p:cNvPr id="25" name="Flèche vers le bas 24"/>
          <p:cNvSpPr/>
          <p:nvPr/>
        </p:nvSpPr>
        <p:spPr>
          <a:xfrm>
            <a:off x="8382016" y="5072074"/>
            <a:ext cx="357190" cy="7143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lèche vers le bas 25"/>
          <p:cNvSpPr/>
          <p:nvPr/>
        </p:nvSpPr>
        <p:spPr>
          <a:xfrm>
            <a:off x="3381356" y="4071942"/>
            <a:ext cx="285752" cy="42862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Flèche droite 30"/>
          <p:cNvSpPr/>
          <p:nvPr/>
        </p:nvSpPr>
        <p:spPr>
          <a:xfrm>
            <a:off x="3881422" y="4643446"/>
            <a:ext cx="3571900" cy="28575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Flèche gauche 31"/>
          <p:cNvSpPr/>
          <p:nvPr/>
        </p:nvSpPr>
        <p:spPr>
          <a:xfrm>
            <a:off x="6881818" y="5857892"/>
            <a:ext cx="1071570" cy="35719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9096396" y="3000373"/>
            <a:ext cx="1214446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5 HT3 –</a:t>
            </a:r>
          </a:p>
          <a:p>
            <a:r>
              <a:rPr lang="fr-FR" dirty="0"/>
              <a:t>5HT4 +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 rot="10800000">
            <a:off x="7953388" y="2000240"/>
            <a:ext cx="1571636" cy="9286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>
            <a:stCxn id="36" idx="1"/>
          </p:cNvCxnSpPr>
          <p:nvPr/>
        </p:nvCxnSpPr>
        <p:spPr>
          <a:xfrm rot="10800000">
            <a:off x="3809984" y="2071678"/>
            <a:ext cx="5286412" cy="12518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 rot="10800000" flipV="1">
            <a:off x="3881422" y="3429000"/>
            <a:ext cx="5143536" cy="114300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>
            <a:stCxn id="36" idx="2"/>
            <a:endCxn id="21" idx="3"/>
          </p:cNvCxnSpPr>
          <p:nvPr/>
        </p:nvCxnSpPr>
        <p:spPr>
          <a:xfrm rot="5400000">
            <a:off x="8180127" y="4491536"/>
            <a:ext cx="2368324" cy="67866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/>
          <p:cNvSpPr txBox="1"/>
          <p:nvPr/>
        </p:nvSpPr>
        <p:spPr>
          <a:xfrm>
            <a:off x="5667372" y="3691598"/>
            <a:ext cx="571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5837957" y="2089863"/>
            <a:ext cx="571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8810644" y="2143116"/>
            <a:ext cx="571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8882082" y="3857628"/>
            <a:ext cx="571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?</a:t>
            </a:r>
          </a:p>
        </p:txBody>
      </p:sp>
      <p:cxnSp>
        <p:nvCxnSpPr>
          <p:cNvPr id="50" name="Connecteur droit avec flèche 49"/>
          <p:cNvCxnSpPr/>
          <p:nvPr/>
        </p:nvCxnSpPr>
        <p:spPr>
          <a:xfrm rot="10800000" flipV="1">
            <a:off x="4452926" y="1928802"/>
            <a:ext cx="2928958" cy="128588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>
            <a:stCxn id="11" idx="2"/>
            <a:endCxn id="8" idx="0"/>
          </p:cNvCxnSpPr>
          <p:nvPr/>
        </p:nvCxnSpPr>
        <p:spPr>
          <a:xfrm rot="5400000">
            <a:off x="6993707" y="3219417"/>
            <a:ext cx="2669465" cy="3571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5" grpId="0"/>
      <p:bldP spid="46" grpId="0"/>
      <p:bldP spid="47" grpId="0"/>
      <p:bldP spid="4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52794" y="214290"/>
            <a:ext cx="4972056" cy="725470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09720" y="1285860"/>
            <a:ext cx="8643998" cy="4714908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fr-FR" dirty="0"/>
              <a:t>SII = pathologie fréquente encore mal définie</a:t>
            </a:r>
          </a:p>
          <a:p>
            <a:r>
              <a:rPr lang="fr-FR" dirty="0"/>
              <a:t>Présentations cliniques polymorphes</a:t>
            </a:r>
          </a:p>
          <a:p>
            <a:r>
              <a:rPr lang="fr-FR" dirty="0"/>
              <a:t>Mécanismes physiopathologiques complexes</a:t>
            </a:r>
          </a:p>
          <a:p>
            <a:pPr lvl="1">
              <a:buNone/>
            </a:pPr>
            <a:r>
              <a:rPr lang="fr-FR" dirty="0"/>
              <a:t>     approche thérapeutique rationnelle difficile</a:t>
            </a:r>
          </a:p>
          <a:p>
            <a:r>
              <a:rPr lang="fr-FR" dirty="0"/>
              <a:t>Symptômes cliniques chroniques: suivi et médicaments au long cours</a:t>
            </a:r>
          </a:p>
          <a:p>
            <a:r>
              <a:rPr lang="fr-FR" dirty="0"/>
              <a:t>Mesure de l’efficacité thérapeutique difficile: effet placebo ↑</a:t>
            </a:r>
          </a:p>
          <a:p>
            <a:r>
              <a:rPr lang="fr-FR" dirty="0"/>
              <a:t>Approche thérapeutique basée sur un diagnostic fiable </a:t>
            </a:r>
          </a:p>
          <a:p>
            <a:pPr>
              <a:buNone/>
            </a:pPr>
            <a:r>
              <a:rPr lang="fr-FR" dirty="0"/>
              <a:t>	et une bonne relation médecin-malade</a:t>
            </a:r>
          </a:p>
          <a:p>
            <a:r>
              <a:rPr lang="fr-FR" dirty="0"/>
              <a:t>Eviter les erreurs de prescription: régime++, multiplication des médicaments, des explorations….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1404</Words>
  <Application>Microsoft Office PowerPoint</Application>
  <PresentationFormat>Grand écran</PresentationFormat>
  <Paragraphs>238</Paragraphs>
  <Slides>30</Slides>
  <Notes>5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Calibri Light</vt:lpstr>
      <vt:lpstr>Courier New</vt:lpstr>
      <vt:lpstr>Garamond</vt:lpstr>
      <vt:lpstr>Symbol</vt:lpstr>
      <vt:lpstr>Wingdings</vt:lpstr>
      <vt:lpstr>Thème Office</vt:lpstr>
      <vt:lpstr>Image bitmap</vt:lpstr>
      <vt:lpstr>Syndrome de l’intestin irritable</vt:lpstr>
      <vt:lpstr>Introduction</vt:lpstr>
      <vt:lpstr>Epidémiologie</vt:lpstr>
      <vt:lpstr>Troubles fonctionnels de l’intestin  caractérisés par un ensemble de symptômes pouvant associer douleurs abdominales, troubles du transit (diarrhée, constipation ou alternance des deux) et/ou ballonnements. </vt:lpstr>
      <vt:lpstr>Définition</vt:lpstr>
      <vt:lpstr>Présentation PowerPoint</vt:lpstr>
      <vt:lpstr>Présentation PowerPoint</vt:lpstr>
      <vt:lpstr>physiopathologie</vt:lpstr>
      <vt:lpstr>Présentation PowerPoint</vt:lpstr>
      <vt:lpstr>CLINIQUE </vt:lpstr>
      <vt:lpstr>Présentation PowerPoint</vt:lpstr>
      <vt:lpstr>Signes d’alarme</vt:lpstr>
      <vt:lpstr>Présentation PowerPoint</vt:lpstr>
      <vt:lpstr>Diagnostic positif de SII</vt:lpstr>
      <vt:lpstr>Diagnostic d’exclusion du SII</vt:lpstr>
      <vt:lpstr>Examens complémentaires</vt:lpstr>
      <vt:lpstr>Présentation PowerPoint</vt:lpstr>
      <vt:lpstr>Présentation PowerPoint</vt:lpstr>
      <vt:lpstr> TRAITEMENT</vt:lpstr>
      <vt:lpstr>Règles hygiéno-diététiques</vt:lpstr>
      <vt:lpstr>Antispasmodiques</vt:lpstr>
      <vt:lpstr>Antispasmodiques</vt:lpstr>
      <vt:lpstr>Montmorillonite beidellitique Bébélix</vt:lpstr>
      <vt:lpstr>Antidépresseurs</vt:lpstr>
      <vt:lpstr>Antidépresseurs</vt:lpstr>
      <vt:lpstr>Médicaments agissant sur les récepteurs de la sérotonine</vt:lpstr>
      <vt:lpstr>Médicaments agissant sur l’écosystème intestinal</vt:lpstr>
      <vt:lpstr>Régulateurs du transit intestinal</vt:lpstr>
      <vt:lpstr>Algorithme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Nassim N'as</dc:creator>
  <cp:lastModifiedBy>Nassim N'as</cp:lastModifiedBy>
  <cp:revision>28</cp:revision>
  <dcterms:created xsi:type="dcterms:W3CDTF">2025-10-21T19:29:49Z</dcterms:created>
  <dcterms:modified xsi:type="dcterms:W3CDTF">2025-10-21T23:17:25Z</dcterms:modified>
</cp:coreProperties>
</file>