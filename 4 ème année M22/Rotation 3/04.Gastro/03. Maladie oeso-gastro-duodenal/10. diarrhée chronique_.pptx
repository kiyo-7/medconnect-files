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35"/>
  </p:notesMasterIdLst>
  <p:sldIdLst>
    <p:sldId id="256" r:id="rId2"/>
    <p:sldId id="257" r:id="rId3"/>
    <p:sldId id="258" r:id="rId4"/>
    <p:sldId id="262" r:id="rId5"/>
    <p:sldId id="259" r:id="rId6"/>
    <p:sldId id="260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86" r:id="rId19"/>
    <p:sldId id="274" r:id="rId20"/>
    <p:sldId id="275" r:id="rId21"/>
    <p:sldId id="276" r:id="rId22"/>
    <p:sldId id="277" r:id="rId23"/>
    <p:sldId id="287" r:id="rId24"/>
    <p:sldId id="278" r:id="rId25"/>
    <p:sldId id="279" r:id="rId26"/>
    <p:sldId id="280" r:id="rId27"/>
    <p:sldId id="281" r:id="rId28"/>
    <p:sldId id="282" r:id="rId29"/>
    <p:sldId id="283" r:id="rId30"/>
    <p:sldId id="290" r:id="rId31"/>
    <p:sldId id="261" r:id="rId32"/>
    <p:sldId id="284" r:id="rId33"/>
    <p:sldId id="285" r:id="rId34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Style à thème 1 - Accentuation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C083E6E3-FA7D-4D7B-A595-EF9225AFEA82}" styleName="Style léger 1 - Accentuation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BDBED569-4797-4DF1-A0F4-6AAB3CD982D8}" styleName="Style léger 3 - Accentuation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382" autoAdjust="0"/>
  </p:normalViewPr>
  <p:slideViewPr>
    <p:cSldViewPr>
      <p:cViewPr varScale="1">
        <p:scale>
          <a:sx n="68" d="100"/>
          <a:sy n="68" d="100"/>
        </p:scale>
        <p:origin x="1446" y="66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7F6724-FDC2-4B87-9F67-16CD6C17369B}" type="datetimeFigureOut">
              <a:rPr lang="fr-FR" smtClean="0"/>
              <a:pPr/>
              <a:t>29/04/2026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4EB56A-01D6-4FAD-B7E0-98D61D9A907E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06403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4EB56A-01D6-4FAD-B7E0-98D61D9A907E}" type="slidenum">
              <a:rPr lang="fr-FR" smtClean="0"/>
              <a:pPr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59414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dirty="0" smtClean="0"/>
              <a:t>certains patients ne s’en plaignent pas et ont une vraie DC, beaucoup s’en plaignent et n’ont pas de DC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4EB56A-01D6-4FAD-B7E0-98D61D9A907E}" type="slidenum">
              <a:rPr lang="fr-FR" smtClean="0"/>
              <a:pPr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34625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fr-FR" dirty="0" smtClean="0"/>
              <a:t>Un taux </a:t>
            </a:r>
            <a:r>
              <a:rPr lang="fr-FR" b="1" dirty="0" smtClean="0"/>
              <a:t>inférieur à </a:t>
            </a:r>
            <a:r>
              <a:rPr lang="fr-FR" b="1" dirty="0" smtClean="0">
                <a:effectLst/>
              </a:rPr>
              <a:t>200g/g</a:t>
            </a:r>
          </a:p>
          <a:p>
            <a:r>
              <a:rPr lang="fr-FR" dirty="0" smtClean="0"/>
              <a:t>peut indiquer une insuffisance pancréatique exocrine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4EB56A-01D6-4FAD-B7E0-98D61D9A907E}" type="slidenum">
              <a:rPr lang="fr-FR" smtClean="0"/>
              <a:pPr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96751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Mécanisme</a:t>
            </a:r>
          </a:p>
          <a:p>
            <a:r>
              <a:rPr lang="fr-FR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Obstruction lymphatique :</a:t>
            </a:r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pPr fontAlgn="ctr"/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empêche le drainage normal des liquides et des protéines. </a:t>
            </a:r>
          </a:p>
          <a:p>
            <a:r>
              <a:rPr lang="fr-FR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Fuite de protéines :</a:t>
            </a:r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Cette obstruction entraîne  une fuite de protéines plasmatiques   dans la lumière intestinale 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4EB56A-01D6-4FAD-B7E0-98D61D9A907E}" type="slidenum">
              <a:rPr lang="fr-FR" smtClean="0"/>
              <a:pPr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404045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Hmruc  </a:t>
            </a: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 yakhlef  smail               hmruc 2025</a:t>
            </a: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5E257-A840-410A-BEB9-3E0C6CFA154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4267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Hmruc  </a:t>
            </a: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 yakhlef  smail               hmruc 2025</a:t>
            </a: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5E257-A840-410A-BEB9-3E0C6CFA154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90760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Hmruc  </a:t>
            </a: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 yakhlef  smail               hmruc 2025</a:t>
            </a: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5E257-A840-410A-BEB9-3E0C6CFA154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39118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Hmruc  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 yakhlef  smail               hmruc 2025</a:t>
            </a: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5E257-A840-410A-BEB9-3E0C6CFA154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4174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Hmruc  </a:t>
            </a:r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 yakhlef  smail               hmruc 2025</a:t>
            </a:r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5E257-A840-410A-BEB9-3E0C6CFA154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30148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Hmruc  </a:t>
            </a:r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 yakhlef  smail               hmruc 2025</a:t>
            </a: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5E257-A840-410A-BEB9-3E0C6CFA154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6310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Hmruc  </a:t>
            </a:r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 yakhlef  smail               hmruc 2025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5E257-A840-410A-BEB9-3E0C6CFA154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90593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Hmruc  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 yakhlef  smail               hmruc 2025</a:t>
            </a: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5E257-A840-410A-BEB9-3E0C6CFA154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88622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Hmruc  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 yakhlef  smail               hmruc 2025</a:t>
            </a: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5E257-A840-410A-BEB9-3E0C6CFA154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96364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Hmruc  </a:t>
            </a: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 yakhlef  smail               hmruc 2025</a:t>
            </a: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5E257-A840-410A-BEB9-3E0C6CFA154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79128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Hmruc  </a:t>
            </a: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 yakhlef  smail               hmruc 2025</a:t>
            </a: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5E257-A840-410A-BEB9-3E0C6CFA154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24174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fr-FR" smtClean="0"/>
              <a:t>Hmruc  </a:t>
            </a: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Dr yakhlef  smail               hmruc 2025</a:t>
            </a:r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A5E257-A840-410A-BEB9-3E0C6CFA154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263441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iming>
    <p:tnLst>
      <p:par>
        <p:cTn id="1" dur="indefinite" restart="never" nodeType="tmRoot"/>
      </p:par>
    </p:tnLst>
  </p:timing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371600" y="1556792"/>
            <a:ext cx="6768081" cy="1296145"/>
          </a:xfrm>
        </p:spPr>
        <p:txBody>
          <a:bodyPr>
            <a:normAutofit/>
          </a:bodyPr>
          <a:lstStyle/>
          <a:p>
            <a:r>
              <a:rPr lang="fr-FR" b="1" i="1" dirty="0" smtClean="0">
                <a:solidFill>
                  <a:srgbClr val="FF0000"/>
                </a:solidFill>
              </a:rPr>
              <a:t>Diarrhée chronique</a:t>
            </a:r>
            <a:endParaRPr lang="fr-FR" b="1" i="1" dirty="0">
              <a:solidFill>
                <a:srgbClr val="FF0000"/>
              </a:solidFill>
            </a:endParaRP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467544" y="4149080"/>
            <a:ext cx="8208912" cy="1752600"/>
          </a:xfrm>
        </p:spPr>
        <p:txBody>
          <a:bodyPr>
            <a:normAutofit/>
          </a:bodyPr>
          <a:lstStyle/>
          <a:p>
            <a:pPr algn="ctr"/>
            <a:r>
              <a:rPr lang="fr-FR" b="1" i="1" dirty="0" smtClean="0">
                <a:solidFill>
                  <a:schemeClr val="tx1"/>
                </a:solidFill>
              </a:rPr>
              <a:t>Dr </a:t>
            </a:r>
            <a:r>
              <a:rPr lang="fr-FR" b="1" i="1" dirty="0" err="1" smtClean="0">
                <a:solidFill>
                  <a:schemeClr val="tx1"/>
                </a:solidFill>
              </a:rPr>
              <a:t>Yakhlef</a:t>
            </a:r>
            <a:r>
              <a:rPr lang="fr-FR" b="1" i="1" dirty="0" smtClean="0">
                <a:solidFill>
                  <a:schemeClr val="tx1"/>
                </a:solidFill>
              </a:rPr>
              <a:t> .S</a:t>
            </a:r>
          </a:p>
          <a:p>
            <a:pPr algn="ctr"/>
            <a:r>
              <a:rPr lang="fr-FR" sz="2000" b="1" dirty="0" smtClean="0">
                <a:solidFill>
                  <a:schemeClr val="accent3">
                    <a:lumMod val="50000"/>
                  </a:schemeClr>
                </a:solidFill>
              </a:rPr>
              <a:t>Hôpital militaire régional universitaire de Constantine </a:t>
            </a:r>
          </a:p>
          <a:p>
            <a:pPr algn="ctr"/>
            <a:r>
              <a:rPr lang="fr-FR" sz="2000" dirty="0" smtClean="0">
                <a:solidFill>
                  <a:schemeClr val="accent1"/>
                </a:solidFill>
              </a:rPr>
              <a:t>2025/2026</a:t>
            </a:r>
            <a:endParaRPr lang="fr-FR" sz="2000" dirty="0">
              <a:solidFill>
                <a:schemeClr val="accent1"/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 yakhlef  smail               hmruc 2025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DE23A-236E-47DD-9286-7BC7C2C86D6D}" type="slidenum">
              <a:rPr lang="fr-FR" smtClean="0"/>
              <a:pPr/>
              <a:t>1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151109" y="260648"/>
            <a:ext cx="8795320" cy="6264696"/>
          </a:xfrm>
        </p:spPr>
        <p:txBody>
          <a:bodyPr/>
          <a:lstStyle/>
          <a:p>
            <a:pPr algn="ctr"/>
            <a:endParaRPr lang="fr-FR" b="1" i="1" u="sng" dirty="0" smtClean="0">
              <a:solidFill>
                <a:srgbClr val="FF0000"/>
              </a:solidFill>
            </a:endParaRPr>
          </a:p>
          <a:p>
            <a:pPr algn="ctr"/>
            <a:r>
              <a:rPr lang="fr-FR" b="1" i="1" u="sng" dirty="0" smtClean="0">
                <a:solidFill>
                  <a:srgbClr val="FF0000"/>
                </a:solidFill>
              </a:rPr>
              <a:t>Plan </a:t>
            </a:r>
            <a:endParaRPr lang="fr-FR" b="1" dirty="0">
              <a:solidFill>
                <a:srgbClr val="FF0000"/>
              </a:solidFill>
            </a:endParaRPr>
          </a:p>
          <a:p>
            <a:pPr algn="ctr"/>
            <a:endParaRPr lang="fr-FR" b="1" dirty="0" smtClean="0">
              <a:solidFill>
                <a:srgbClr val="FF0000"/>
              </a:solidFill>
            </a:endParaRPr>
          </a:p>
          <a:p>
            <a:pPr marL="971550" lvl="1" indent="-514350">
              <a:lnSpc>
                <a:spcPct val="150000"/>
              </a:lnSpc>
              <a:buFont typeface="+mj-lt"/>
              <a:buAutoNum type="romanUcPeriod"/>
            </a:pPr>
            <a:r>
              <a:rPr lang="fr-FR" sz="2000" b="1" i="1" dirty="0" smtClean="0">
                <a:solidFill>
                  <a:schemeClr val="tx2">
                    <a:lumMod val="50000"/>
                  </a:schemeClr>
                </a:solidFill>
              </a:rPr>
              <a:t>Introduction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romanUcPeriod"/>
            </a:pPr>
            <a:r>
              <a:rPr lang="fr-FR" sz="2000" b="1" i="1" dirty="0" smtClean="0">
                <a:solidFill>
                  <a:schemeClr val="tx2">
                    <a:lumMod val="50000"/>
                  </a:schemeClr>
                </a:solidFill>
              </a:rPr>
              <a:t>Physiopathologie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romanUcPeriod"/>
            </a:pPr>
            <a:r>
              <a:rPr lang="fr-FR" sz="2000" b="1" i="1" dirty="0">
                <a:solidFill>
                  <a:schemeClr val="tx2">
                    <a:lumMod val="50000"/>
                  </a:schemeClr>
                </a:solidFill>
              </a:rPr>
              <a:t>Orientation diagnostique</a:t>
            </a:r>
            <a:r>
              <a:rPr lang="fr-FR" sz="2000" b="1" i="1" dirty="0" smtClean="0">
                <a:solidFill>
                  <a:schemeClr val="tx2">
                    <a:lumMod val="50000"/>
                  </a:schemeClr>
                </a:solidFill>
              </a:rPr>
              <a:t>: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romanUcPeriod"/>
            </a:pPr>
            <a:r>
              <a:rPr lang="fr-FR" sz="2000" b="1" i="1" dirty="0">
                <a:solidFill>
                  <a:schemeClr val="tx2">
                    <a:lumMod val="50000"/>
                  </a:schemeClr>
                </a:solidFill>
              </a:rPr>
              <a:t>DIAGNOSTIC DIFFERENCIEL: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romanUcPeriod"/>
            </a:pPr>
            <a:r>
              <a:rPr lang="fr-FR" sz="2000" b="1" i="1" dirty="0" smtClean="0">
                <a:solidFill>
                  <a:schemeClr val="tx2">
                    <a:lumMod val="50000"/>
                  </a:schemeClr>
                </a:solidFill>
              </a:rPr>
              <a:t>Les étiologies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romanUcPeriod"/>
            </a:pPr>
            <a:r>
              <a:rPr lang="fr-FR" sz="2000" b="1" i="1" dirty="0" smtClean="0">
                <a:solidFill>
                  <a:schemeClr val="tx2">
                    <a:lumMod val="50000"/>
                  </a:schemeClr>
                </a:solidFill>
              </a:rPr>
              <a:t>Traitement 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romanUcPeriod"/>
            </a:pPr>
            <a:r>
              <a:rPr lang="fr-FR" sz="2000" b="1" i="1" dirty="0" smtClean="0">
                <a:solidFill>
                  <a:schemeClr val="tx2">
                    <a:lumMod val="50000"/>
                  </a:schemeClr>
                </a:solidFill>
              </a:rPr>
              <a:t>Conclusion </a:t>
            </a:r>
          </a:p>
          <a:p>
            <a:pPr marL="0" indent="0">
              <a:buNone/>
            </a:pPr>
            <a:endParaRPr lang="fr-FR" b="1" dirty="0">
              <a:solidFill>
                <a:srgbClr val="FF0000"/>
              </a:solidFill>
            </a:endParaRP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 yakhlef  smail               hmruc 2025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DE23A-236E-47DD-9286-7BC7C2C86D6D}" type="slidenum">
              <a:rPr lang="fr-FR" smtClean="0"/>
              <a:pPr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6904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0"/>
            <a:ext cx="9036496" cy="6858000"/>
          </a:xfrm>
        </p:spPr>
        <p:txBody>
          <a:bodyPr>
            <a:normAutofit/>
          </a:bodyPr>
          <a:lstStyle/>
          <a:p>
            <a:pPr marL="571500" indent="-571500">
              <a:buFont typeface="+mj-lt"/>
              <a:buAutoNum type="romanUcPeriod"/>
            </a:pPr>
            <a:r>
              <a:rPr lang="fr-FR" sz="2400" b="1" dirty="0" smtClean="0">
                <a:solidFill>
                  <a:srgbClr val="FF0000"/>
                </a:solidFill>
              </a:rPr>
              <a:t>Introduction: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fr-FR" sz="2000" b="1" dirty="0" smtClean="0">
                <a:solidFill>
                  <a:srgbClr val="0070C0"/>
                </a:solidFill>
              </a:rPr>
              <a:t>  Définition:</a:t>
            </a:r>
          </a:p>
          <a:p>
            <a:pPr lvl="1"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fr-FR" sz="2200" dirty="0" smtClean="0"/>
              <a:t> </a:t>
            </a:r>
            <a:r>
              <a:rPr lang="fr-FR" sz="2000" dirty="0" smtClean="0"/>
              <a:t>La </a:t>
            </a:r>
            <a:r>
              <a:rPr lang="fr-FR" sz="2000" dirty="0"/>
              <a:t>diarrhée chronique se définit par une diminution de la consistance des selles </a:t>
            </a:r>
            <a:r>
              <a:rPr lang="fr-FR" sz="2000" dirty="0">
                <a:solidFill>
                  <a:srgbClr val="FF0000"/>
                </a:solidFill>
              </a:rPr>
              <a:t>ou</a:t>
            </a:r>
            <a:r>
              <a:rPr lang="fr-FR" sz="2000" dirty="0"/>
              <a:t> une augmentation de leur fréquence, pendant </a:t>
            </a:r>
            <a:r>
              <a:rPr lang="fr-FR" sz="2000" dirty="0">
                <a:solidFill>
                  <a:srgbClr val="FF0000"/>
                </a:solidFill>
              </a:rPr>
              <a:t>plus de quatre semaines</a:t>
            </a:r>
            <a:r>
              <a:rPr lang="fr-FR" sz="2000" dirty="0" smtClean="0">
                <a:solidFill>
                  <a:srgbClr val="FF0000"/>
                </a:solidFill>
              </a:rPr>
              <a:t>.</a:t>
            </a:r>
            <a:r>
              <a:rPr lang="fr-FR" sz="2000" dirty="0">
                <a:solidFill>
                  <a:srgbClr val="FF0000"/>
                </a:solidFill>
              </a:rPr>
              <a:t>  </a:t>
            </a:r>
            <a:endParaRPr lang="fr-FR" sz="2000" dirty="0" smtClean="0">
              <a:solidFill>
                <a:srgbClr val="FF0000"/>
              </a:solidFill>
            </a:endParaRPr>
          </a:p>
          <a:p>
            <a:pPr marL="457200" lvl="1" indent="0">
              <a:buClr>
                <a:srgbClr val="C00000"/>
              </a:buClr>
              <a:buNone/>
            </a:pPr>
            <a:endParaRPr lang="fr-FR" sz="2000" dirty="0"/>
          </a:p>
          <a:p>
            <a:pPr marL="457200" lvl="1" indent="0" fontAlgn="base">
              <a:buClr>
                <a:srgbClr val="C00000"/>
              </a:buClr>
              <a:buNone/>
            </a:pPr>
            <a:endParaRPr lang="fr-FR" sz="2000" dirty="0" smtClean="0"/>
          </a:p>
          <a:p>
            <a:pPr lvl="1" fontAlgn="base"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fr-FR" sz="2000" b="1" dirty="0" smtClean="0">
                <a:solidFill>
                  <a:srgbClr val="C00000"/>
                </a:solidFill>
              </a:rPr>
              <a:t>La définition subjective:</a:t>
            </a:r>
            <a:endParaRPr lang="fr-FR" sz="2000" dirty="0"/>
          </a:p>
          <a:p>
            <a:endParaRPr lang="fr-FR" b="1" dirty="0">
              <a:solidFill>
                <a:srgbClr val="0070C0"/>
              </a:solidFill>
            </a:endParaRPr>
          </a:p>
          <a:p>
            <a:endParaRPr lang="fr-FR" b="1" dirty="0" smtClean="0">
              <a:solidFill>
                <a:srgbClr val="0070C0"/>
              </a:solidFill>
            </a:endParaRPr>
          </a:p>
          <a:p>
            <a:endParaRPr lang="fr-FR" sz="2000" dirty="0" smtClean="0"/>
          </a:p>
          <a:p>
            <a:pPr lvl="1">
              <a:buFont typeface="Wingdings" panose="05000000000000000000" pitchFamily="2" charset="2"/>
              <a:buChar char="v"/>
            </a:pPr>
            <a:r>
              <a:rPr lang="fr-FR" sz="2000" b="1" dirty="0" smtClean="0">
                <a:solidFill>
                  <a:srgbClr val="C00000"/>
                </a:solidFill>
              </a:rPr>
              <a:t>La</a:t>
            </a:r>
            <a:r>
              <a:rPr lang="fr-FR" sz="2000" dirty="0">
                <a:solidFill>
                  <a:srgbClr val="C00000"/>
                </a:solidFill>
              </a:rPr>
              <a:t> </a:t>
            </a:r>
            <a:r>
              <a:rPr lang="fr-FR" sz="2000" b="1" dirty="0">
                <a:solidFill>
                  <a:srgbClr val="C00000"/>
                </a:solidFill>
              </a:rPr>
              <a:t>définition objective</a:t>
            </a:r>
            <a:r>
              <a:rPr lang="fr-FR" sz="2000" dirty="0">
                <a:solidFill>
                  <a:srgbClr val="C00000"/>
                </a:solidFill>
              </a:rPr>
              <a:t> </a:t>
            </a:r>
            <a:r>
              <a:rPr lang="fr-FR" sz="2000" dirty="0" smtClean="0">
                <a:solidFill>
                  <a:srgbClr val="C00000"/>
                </a:solidFill>
              </a:rPr>
              <a:t>:</a:t>
            </a:r>
            <a:endParaRPr lang="fr-FR" sz="2000" b="1" dirty="0">
              <a:solidFill>
                <a:srgbClr val="C00000"/>
              </a:solidFill>
            </a:endParaRP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 yakhlef  smail               hmruc 2025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DE23A-236E-47DD-9286-7BC7C2C86D6D}" type="slidenum">
              <a:rPr lang="fr-FR" smtClean="0"/>
              <a:pPr/>
              <a:t>3</a:t>
            </a:fld>
            <a:endParaRPr lang="fr-FR"/>
          </a:p>
        </p:txBody>
      </p:sp>
      <p:sp>
        <p:nvSpPr>
          <p:cNvPr id="6" name="Rectangle 5"/>
          <p:cNvSpPr/>
          <p:nvPr/>
        </p:nvSpPr>
        <p:spPr>
          <a:xfrm>
            <a:off x="683568" y="4725144"/>
            <a:ext cx="8255053" cy="10801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1" algn="ctr">
              <a:lnSpc>
                <a:spcPct val="115000"/>
              </a:lnSpc>
              <a:spcAft>
                <a:spcPts val="1000"/>
              </a:spcAft>
            </a:pPr>
            <a:r>
              <a:rPr lang="fr-FR" sz="2000" dirty="0" smtClean="0"/>
              <a:t>nécessite </a:t>
            </a:r>
            <a:r>
              <a:rPr lang="fr-FR" sz="2000" dirty="0"/>
              <a:t>cependant la pesée des selles (sur 3 jours) </a:t>
            </a:r>
          </a:p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fr-FR" dirty="0" smtClean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Diarrhée </a:t>
            </a:r>
            <a:r>
              <a:rPr lang="fr-FR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chronique (DC) = </a:t>
            </a:r>
            <a:r>
              <a:rPr lang="fr-FR" b="1" dirty="0">
                <a:solidFill>
                  <a:srgbClr val="3D3D3D"/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&gt; 300 g de selles/j depuis &gt; 4 semaines</a:t>
            </a:r>
            <a:r>
              <a:rPr lang="fr-FR" sz="12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  <a:endParaRPr lang="fr-FR" sz="11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à coins arrondis 1"/>
          <p:cNvSpPr/>
          <p:nvPr/>
        </p:nvSpPr>
        <p:spPr>
          <a:xfrm>
            <a:off x="657701" y="2971800"/>
            <a:ext cx="8280920" cy="9144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lvl="1" algn="ctr"/>
            <a:r>
              <a:rPr lang="fr-FR" sz="2000" dirty="0"/>
              <a:t>La perception de </a:t>
            </a:r>
            <a:r>
              <a:rPr lang="fr-FR" sz="2000" b="1" dirty="0"/>
              <a:t>selles trop fréquentes et/ou trop </a:t>
            </a:r>
            <a:r>
              <a:rPr lang="fr-FR" sz="2000" b="1" dirty="0" smtClean="0"/>
              <a:t>liquides </a:t>
            </a:r>
            <a:r>
              <a:rPr lang="fr-FR" sz="2000" b="1" dirty="0">
                <a:solidFill>
                  <a:srgbClr val="3D3D3D"/>
                </a:solidFill>
                <a:ea typeface="Calibri" panose="020F0502020204030204" pitchFamily="34" charset="0"/>
                <a:cs typeface="Arial" panose="020B0604020202020204" pitchFamily="34" charset="0"/>
              </a:rPr>
              <a:t>depuis &gt; 4 semaines </a:t>
            </a:r>
            <a:r>
              <a:rPr lang="fr-FR" sz="2000" dirty="0"/>
              <a:t> </a:t>
            </a:r>
            <a:r>
              <a:rPr lang="fr-FR" sz="2000" dirty="0" smtClean="0"/>
              <a:t> 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35506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95536" y="260648"/>
            <a:ext cx="8119814" cy="5916315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fr-FR" sz="2400" b="1" dirty="0" smtClean="0">
                <a:solidFill>
                  <a:srgbClr val="0070C0"/>
                </a:solidFill>
              </a:rPr>
              <a:t>Intérêt:</a:t>
            </a:r>
          </a:p>
          <a:p>
            <a:pPr>
              <a:buFont typeface="Wingdings" panose="05000000000000000000" pitchFamily="2" charset="2"/>
              <a:buChar char="q"/>
            </a:pPr>
            <a:endParaRPr lang="fr-FR" sz="2400" b="1" dirty="0" smtClean="0">
              <a:solidFill>
                <a:srgbClr val="0070C0"/>
              </a:solidFill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r-FR" sz="2000" dirty="0" smtClean="0"/>
              <a:t>Problème fréquent de la pratique clinique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r-FR" sz="2000" dirty="0" smtClean="0"/>
              <a:t>Causes multiples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r-FR" sz="2000" dirty="0" smtClean="0"/>
              <a:t>Interrogatoire et examen clinique complet orientent les examens complémentaires </a:t>
            </a:r>
          </a:p>
          <a:p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 yakhlef  smail               hmruc 2025</a:t>
            </a: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5E257-A840-410A-BEB9-3E0C6CFA1544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50453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107504" y="188640"/>
            <a:ext cx="8855902" cy="6449270"/>
          </a:xfrm>
        </p:spPr>
        <p:txBody>
          <a:bodyPr/>
          <a:lstStyle/>
          <a:p>
            <a:pPr marL="571500" indent="-571500">
              <a:buFont typeface="+mj-lt"/>
              <a:buAutoNum type="romanUcPeriod" startAt="2"/>
            </a:pPr>
            <a:r>
              <a:rPr lang="fr-FR" b="1" dirty="0" smtClean="0">
                <a:solidFill>
                  <a:srgbClr val="FF0000"/>
                </a:solidFill>
              </a:rPr>
              <a:t>Physiopathologie:</a:t>
            </a:r>
            <a:endParaRPr lang="fr-FR" b="1" dirty="0">
              <a:solidFill>
                <a:srgbClr val="FF0000"/>
              </a:solidFill>
            </a:endParaRPr>
          </a:p>
          <a:p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 yakhlef  smail               hmruc 2025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DE23A-236E-47DD-9286-7BC7C2C86D6D}" type="slidenum">
              <a:rPr lang="fr-FR" smtClean="0"/>
              <a:pPr/>
              <a:t>5</a:t>
            </a:fld>
            <a:endParaRPr lang="fr-FR"/>
          </a:p>
        </p:txBody>
      </p:sp>
      <p:graphicFrame>
        <p:nvGraphicFramePr>
          <p:cNvPr id="6" name="Tableau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0068632"/>
              </p:ext>
            </p:extLst>
          </p:nvPr>
        </p:nvGraphicFramePr>
        <p:xfrm>
          <a:off x="107504" y="908720"/>
          <a:ext cx="9036496" cy="3974867"/>
        </p:xfrm>
        <a:graphic>
          <a:graphicData uri="http://schemas.openxmlformats.org/drawingml/2006/table">
            <a:tbl>
              <a:tblPr firstRow="1" bandRow="1"/>
              <a:tblGrid>
                <a:gridCol w="1717894"/>
                <a:gridCol w="7318602"/>
              </a:tblGrid>
              <a:tr h="576064"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catégorie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mécanisme</a:t>
                      </a:r>
                      <a:endParaRPr lang="fr-FR" dirty="0"/>
                    </a:p>
                  </a:txBody>
                  <a:tcPr/>
                </a:tc>
              </a:tr>
              <a:tr h="1661443">
                <a:tc>
                  <a:txBody>
                    <a:bodyPr/>
                    <a:lstStyle/>
                    <a:p>
                      <a:pPr algn="ctr"/>
                      <a:endParaRPr lang="fr-FR" sz="1400" b="1" dirty="0" smtClean="0"/>
                    </a:p>
                    <a:p>
                      <a:pPr algn="ctr"/>
                      <a:endParaRPr lang="fr-FR" sz="1400" b="1" dirty="0" smtClean="0"/>
                    </a:p>
                    <a:p>
                      <a:pPr algn="ctr"/>
                      <a:r>
                        <a:rPr lang="fr-FR" sz="1600" b="1" dirty="0" smtClean="0">
                          <a:solidFill>
                            <a:srgbClr val="C00000"/>
                          </a:solidFill>
                          <a:latin typeface="+mn-lt"/>
                          <a:cs typeface="Arabic Typesetting" panose="03020402040406030203" pitchFamily="66" charset="-78"/>
                        </a:rPr>
                        <a:t>inflammatoire</a:t>
                      </a:r>
                      <a:endParaRPr lang="fr-FR" sz="1600" b="1" dirty="0">
                        <a:solidFill>
                          <a:srgbClr val="C00000"/>
                        </a:solidFill>
                        <a:latin typeface="+mn-lt"/>
                        <a:cs typeface="Arabic Typesetting" panose="03020402040406030203" pitchFamily="66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v"/>
                        <a:tabLst/>
                        <a:defRPr/>
                      </a:pPr>
                      <a:r>
                        <a:rPr lang="fr-FR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Arabic Typesetting" panose="03020402040406030203" pitchFamily="66" charset="-78"/>
                        </a:rPr>
                        <a:t> causée par des dommages directs à la muqueuse intestinale. </a:t>
                      </a: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v"/>
                        <a:tabLst/>
                        <a:defRPr/>
                      </a:pPr>
                      <a:r>
                        <a:rPr lang="fr-FR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Arabic Typesetting" panose="03020402040406030203" pitchFamily="66" charset="-78"/>
                        </a:rPr>
                        <a:t>Les mécanismes spécifiques varient en fonction des étiologies (maladies inflammatoires de l'intestin, envahissement par une néoplasie, radiothérapie, infections, etc.).</a:t>
                      </a:r>
                    </a:p>
                    <a:p>
                      <a:endParaRPr lang="fr-FR" dirty="0"/>
                    </a:p>
                  </a:txBody>
                  <a:tcPr/>
                </a:tc>
              </a:tr>
              <a:tr h="1661443">
                <a:tc>
                  <a:txBody>
                    <a:bodyPr/>
                    <a:lstStyle/>
                    <a:p>
                      <a:endParaRPr lang="fr-FR" sz="1600" b="1" i="0" kern="1200" dirty="0" smtClean="0">
                        <a:solidFill>
                          <a:srgbClr val="C00000"/>
                        </a:solidFill>
                        <a:effectLst/>
                        <a:latin typeface="+mn-lt"/>
                        <a:ea typeface="+mn-ea"/>
                        <a:cs typeface="Arabic Typesetting" panose="03020402040406030203" pitchFamily="66" charset="-78"/>
                      </a:endParaRPr>
                    </a:p>
                    <a:p>
                      <a:endParaRPr lang="fr-FR" sz="1600" b="1" i="0" kern="1200" dirty="0" smtClean="0">
                        <a:solidFill>
                          <a:srgbClr val="C00000"/>
                        </a:solidFill>
                        <a:effectLst/>
                        <a:latin typeface="+mn-lt"/>
                        <a:ea typeface="+mn-ea"/>
                        <a:cs typeface="Arabic Typesetting" panose="03020402040406030203" pitchFamily="66" charset="-78"/>
                      </a:endParaRPr>
                    </a:p>
                    <a:p>
                      <a:r>
                        <a:rPr lang="fr-FR" sz="1600" b="1" i="0" kern="1200" dirty="0" smtClean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Arabic Typesetting" panose="03020402040406030203" pitchFamily="66" charset="-78"/>
                        </a:rPr>
                        <a:t>Osmotique</a:t>
                      </a:r>
                      <a:endParaRPr lang="fr-FR" sz="1600" dirty="0">
                        <a:solidFill>
                          <a:srgbClr val="C00000"/>
                        </a:solidFill>
                        <a:latin typeface="+mn-lt"/>
                        <a:cs typeface="Arabic Typesetting" panose="03020402040406030203" pitchFamily="66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v"/>
                        <a:tabLst/>
                        <a:defRPr/>
                      </a:pPr>
                      <a:r>
                        <a:rPr lang="fr-FR" dirty="0" smtClean="0"/>
                        <a:t>Augmentation du contenu hydrique des selles liée à des solutés non absorbables dans l’intestin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fr-FR" sz="18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Arabic Typesetting" panose="03020402040406030203" pitchFamily="66" charset="-78"/>
                      </a:endParaRP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v"/>
                        <a:tabLst/>
                        <a:defRPr/>
                      </a:pPr>
                      <a:r>
                        <a:rPr lang="fr-FR" dirty="0" smtClean="0"/>
                        <a:t>Des substances non digérées (ex : sucres, laxatifs) restent dans l’intestin → elles attirent l’eau → augmentation du volume des selles.</a:t>
                      </a:r>
                      <a:r>
                        <a:rPr lang="fr-FR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Arabic Typesetting" panose="03020402040406030203" pitchFamily="66" charset="-78"/>
                        </a:rPr>
                        <a:t>.</a:t>
                      </a:r>
                    </a:p>
                    <a:p>
                      <a:endParaRPr lang="fr-FR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4747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Espace réservé du contenu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22514558"/>
              </p:ext>
            </p:extLst>
          </p:nvPr>
        </p:nvGraphicFramePr>
        <p:xfrm>
          <a:off x="0" y="0"/>
          <a:ext cx="9144000" cy="685246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71217"/>
                <a:gridCol w="7172783"/>
              </a:tblGrid>
              <a:tr h="2137697">
                <a:tc>
                  <a:txBody>
                    <a:bodyPr/>
                    <a:lstStyle/>
                    <a:p>
                      <a:pPr algn="ctr"/>
                      <a:endParaRPr lang="fr-FR" sz="1800" b="1" i="0" kern="1200" dirty="0" smtClean="0">
                        <a:solidFill>
                          <a:srgbClr val="C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fr-FR" sz="1800" b="1" i="0" kern="1200" dirty="0" smtClean="0">
                        <a:solidFill>
                          <a:srgbClr val="C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fr-FR" sz="1800" b="1" i="0" kern="1200" dirty="0" smtClean="0">
                        <a:solidFill>
                          <a:srgbClr val="C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fr-FR" sz="1800" b="1" i="0" kern="1200" dirty="0" smtClean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Sécrétoire</a:t>
                      </a:r>
                      <a:endParaRPr lang="fr-FR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Les diarrhées sécrétoires sont secondaires à:</a:t>
                      </a:r>
                    </a:p>
                    <a:p>
                      <a:pPr marL="742950" marR="0" lvl="1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v"/>
                        <a:tabLst/>
                        <a:defRPr/>
                      </a:pPr>
                      <a:r>
                        <a:rPr lang="fr-FR" dirty="0" smtClean="0"/>
                        <a:t>Augmentation des sécrétions intestinales (eau + ions) entraînant des selles liquides abondantes.</a:t>
                      </a:r>
                    </a:p>
                    <a:p>
                      <a:pPr marL="742950" marR="0" lvl="1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v"/>
                        <a:tabLst/>
                        <a:defRPr/>
                      </a:pPr>
                      <a:r>
                        <a:rPr lang="fr-FR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Elle peut également être secondaire à la présence d'acides biliaires dans les intestins(colon) (ex: post-cholécystectomie ou résection iléale).</a:t>
                      </a:r>
                    </a:p>
                    <a:p>
                      <a:pPr marL="742950" marR="0" lvl="1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v"/>
                        <a:tabLst/>
                        <a:defRPr/>
                      </a:pPr>
                      <a:r>
                        <a:rPr lang="fr-FR" dirty="0" smtClean="0"/>
                        <a:t>Activation des sécrétions intestinales (chlore, sodium) → appel d’eau → diarrhée massive</a:t>
                      </a:r>
                      <a:endParaRPr lang="fr-FR" sz="18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fr-FR" dirty="0"/>
                    </a:p>
                  </a:txBody>
                  <a:tcPr/>
                </a:tc>
              </a:tr>
              <a:tr h="1867367">
                <a:tc>
                  <a:txBody>
                    <a:bodyPr/>
                    <a:lstStyle/>
                    <a:p>
                      <a:pPr algn="ctr"/>
                      <a:endParaRPr lang="fr-FR" sz="1800" b="1" i="0" kern="1200" dirty="0" smtClean="0">
                        <a:solidFill>
                          <a:srgbClr val="C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fr-FR" sz="1800" b="1" i="0" kern="1200" dirty="0" smtClean="0">
                        <a:solidFill>
                          <a:srgbClr val="C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fr-FR" sz="1800" b="1" i="0" kern="1200" dirty="0" smtClean="0">
                        <a:solidFill>
                          <a:srgbClr val="C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fr-FR" sz="1800" b="1" i="0" kern="1200" dirty="0" smtClean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Stéatorrhée</a:t>
                      </a:r>
                      <a:endParaRPr lang="fr-FR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fr-FR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 stéatorrhée résulte de la malabsorption ou de la maldigestion des lipides et autres nutriments, ce qui crée un appel d'eau dans la lumière intestinal 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fr-FR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 maldigestion résulte de l'absence ou d'une quantité insuffisante d'enzymes nécessaires à la digestion( ex: pancréatite</a:t>
                      </a:r>
                      <a:r>
                        <a:rPr lang="fr-FR" sz="18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chronique)</a:t>
                      </a: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v"/>
                        <a:tabLst/>
                        <a:defRPr/>
                      </a:pPr>
                      <a:r>
                        <a:rPr lang="fr-FR" dirty="0" smtClean="0"/>
                        <a:t>Émission de selles riches en lipides non absorbés (&gt; 7 g/jour en général).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endParaRPr lang="fr-FR" sz="18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006146">
                <a:tc>
                  <a:txBody>
                    <a:bodyPr/>
                    <a:lstStyle/>
                    <a:p>
                      <a:pPr algn="ctr"/>
                      <a:endParaRPr lang="fr-FR" sz="1800" b="1" i="0" kern="1200" dirty="0" smtClean="0">
                        <a:solidFill>
                          <a:srgbClr val="C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fr-FR" sz="1800" b="1" i="0" kern="1200" dirty="0" smtClean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Fonctionnelle</a:t>
                      </a:r>
                      <a:endParaRPr lang="fr-FR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fr-FR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caractérisée par une perturbation du fonctionnement normal du tractus digestif 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fr-FR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l'absence d'anomalies identifiables aux bilans sanguins, aux imageries et à l'endoscopie</a:t>
                      </a:r>
                      <a:endParaRPr lang="fr-FR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 yakhlef  smail               hmruc 2025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DE23A-236E-47DD-9286-7BC7C2C86D6D}" type="slidenum">
              <a:rPr lang="fr-FR" smtClean="0"/>
              <a:pPr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969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0"/>
            <a:ext cx="9036496" cy="6721475"/>
          </a:xfrm>
        </p:spPr>
        <p:txBody>
          <a:bodyPr>
            <a:normAutofit/>
          </a:bodyPr>
          <a:lstStyle/>
          <a:p>
            <a:pPr marL="571500" indent="-571500">
              <a:buFont typeface="+mj-lt"/>
              <a:buAutoNum type="romanUcPeriod" startAt="3"/>
            </a:pPr>
            <a:r>
              <a:rPr lang="fr-FR" b="1" dirty="0" smtClean="0">
                <a:solidFill>
                  <a:srgbClr val="FF0000"/>
                </a:solidFill>
              </a:rPr>
              <a:t>Orientation diagnostique: </a:t>
            </a:r>
            <a:r>
              <a:rPr lang="fr-FR" dirty="0" smtClean="0"/>
              <a:t>03 étapes </a:t>
            </a:r>
          </a:p>
          <a:p>
            <a:pPr marL="514350" indent="-514350">
              <a:buFont typeface="+mj-lt"/>
              <a:buAutoNum type="alphaUcPeriod"/>
            </a:pPr>
            <a:r>
              <a:rPr lang="fr-FR" sz="2400" dirty="0" smtClean="0">
                <a:solidFill>
                  <a:srgbClr val="0070C0"/>
                </a:solidFill>
              </a:rPr>
              <a:t>Clinique 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fr-FR" sz="2400" dirty="0" smtClean="0">
                <a:solidFill>
                  <a:srgbClr val="00B050"/>
                </a:solidFill>
              </a:rPr>
              <a:t>Interrogatoire:</a:t>
            </a:r>
          </a:p>
          <a:p>
            <a:pPr marL="0" indent="0">
              <a:buNone/>
            </a:pPr>
            <a:r>
              <a:rPr lang="fr-FR" sz="2200" dirty="0" smtClean="0"/>
              <a:t> complet et systématisé = renseignement de grande valeur </a:t>
            </a:r>
          </a:p>
          <a:p>
            <a:endParaRPr lang="fr-FR" sz="1800" dirty="0" smtClean="0"/>
          </a:p>
          <a:p>
            <a:r>
              <a:rPr lang="fr-FR" sz="1800" dirty="0" smtClean="0"/>
              <a:t>On </a:t>
            </a:r>
            <a:r>
              <a:rPr lang="fr-FR" sz="1800" dirty="0"/>
              <a:t>étudiera successivement</a:t>
            </a:r>
            <a:r>
              <a:rPr lang="fr-FR" sz="1800" dirty="0" smtClean="0"/>
              <a:t>:</a:t>
            </a:r>
          </a:p>
          <a:p>
            <a:pPr marL="0" indent="0">
              <a:buNone/>
            </a:pPr>
            <a:endParaRPr lang="fr-FR" sz="1800" dirty="0" smtClean="0"/>
          </a:p>
          <a:p>
            <a:pPr lvl="1"/>
            <a:r>
              <a:rPr lang="fr-FR" dirty="0" smtClean="0">
                <a:solidFill>
                  <a:srgbClr val="C00000"/>
                </a:solidFill>
              </a:rPr>
              <a:t>1- </a:t>
            </a:r>
            <a:r>
              <a:rPr lang="fr-FR" dirty="0">
                <a:solidFill>
                  <a:srgbClr val="C00000"/>
                </a:solidFill>
              </a:rPr>
              <a:t>Les antécédents </a:t>
            </a:r>
            <a:endParaRPr lang="fr-FR" dirty="0" smtClean="0">
              <a:solidFill>
                <a:srgbClr val="C00000"/>
              </a:solidFill>
            </a:endParaRPr>
          </a:p>
          <a:p>
            <a:pPr lvl="1"/>
            <a:r>
              <a:rPr lang="fr-FR" dirty="0" smtClean="0">
                <a:solidFill>
                  <a:srgbClr val="C00000"/>
                </a:solidFill>
              </a:rPr>
              <a:t>2- </a:t>
            </a:r>
            <a:r>
              <a:rPr lang="fr-FR" dirty="0">
                <a:solidFill>
                  <a:srgbClr val="C00000"/>
                </a:solidFill>
              </a:rPr>
              <a:t>Le terrain </a:t>
            </a:r>
            <a:endParaRPr lang="fr-FR" dirty="0" smtClean="0">
              <a:solidFill>
                <a:srgbClr val="C00000"/>
              </a:solidFill>
            </a:endParaRPr>
          </a:p>
          <a:p>
            <a:pPr lvl="1"/>
            <a:r>
              <a:rPr lang="fr-FR" dirty="0" smtClean="0">
                <a:solidFill>
                  <a:srgbClr val="C00000"/>
                </a:solidFill>
              </a:rPr>
              <a:t>3- </a:t>
            </a:r>
            <a:r>
              <a:rPr lang="fr-FR" dirty="0">
                <a:solidFill>
                  <a:srgbClr val="C00000"/>
                </a:solidFill>
              </a:rPr>
              <a:t>Les caractères de la diarrhée </a:t>
            </a:r>
            <a:endParaRPr lang="fr-FR" dirty="0" smtClean="0">
              <a:solidFill>
                <a:srgbClr val="C00000"/>
              </a:solidFill>
            </a:endParaRPr>
          </a:p>
          <a:p>
            <a:pPr lvl="1"/>
            <a:r>
              <a:rPr lang="fr-FR" dirty="0" smtClean="0">
                <a:solidFill>
                  <a:srgbClr val="C00000"/>
                </a:solidFill>
              </a:rPr>
              <a:t>4- </a:t>
            </a:r>
            <a:r>
              <a:rPr lang="fr-FR" dirty="0">
                <a:solidFill>
                  <a:srgbClr val="C00000"/>
                </a:solidFill>
              </a:rPr>
              <a:t>Les signes associés</a:t>
            </a:r>
            <a:endParaRPr lang="fr-FR" dirty="0" smtClean="0">
              <a:solidFill>
                <a:srgbClr val="C00000"/>
              </a:solidFill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 yakhlef  smail               hmruc 2025</a:t>
            </a: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5E257-A840-410A-BEB9-3E0C6CFA1544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8281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51520" y="116632"/>
            <a:ext cx="8892480" cy="67413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>
                <a:solidFill>
                  <a:srgbClr val="C00000"/>
                </a:solidFill>
              </a:rPr>
              <a:t>1- </a:t>
            </a:r>
            <a:r>
              <a:rPr lang="fr-FR" sz="2400" dirty="0">
                <a:solidFill>
                  <a:srgbClr val="C00000"/>
                </a:solidFill>
              </a:rPr>
              <a:t>antécédents: </a:t>
            </a:r>
          </a:p>
          <a:p>
            <a:pPr marL="0" indent="0">
              <a:buNone/>
            </a:pPr>
            <a:r>
              <a:rPr lang="fr-FR" sz="2400" dirty="0"/>
              <a:t>Médicaux: 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fr-FR" sz="1800" dirty="0"/>
              <a:t>Pathologie préexistante :  endocrinien (Diabète ou hyperthyroïdie), vasculaire, neurologique, psychiatrique, maladie de système,  …)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fr-FR" sz="1800" dirty="0"/>
              <a:t>Statut sérologique (VIH).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fr-FR" sz="1800" dirty="0"/>
              <a:t>Intolérance au lait.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fr-FR" sz="1800" dirty="0"/>
              <a:t>Alcoolisme chronique et/ou tabagisme.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fr-FR" sz="1800" dirty="0"/>
              <a:t>Prise des médicaments: </a:t>
            </a:r>
            <a:r>
              <a:rPr lang="fr-FR" sz="1800" dirty="0" err="1"/>
              <a:t>veino</a:t>
            </a:r>
            <a:r>
              <a:rPr lang="fr-FR" sz="1800" dirty="0"/>
              <a:t>-toniques, hormones thyroïdiennes,   laxatifs, AINS,   …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fr-FR" sz="1800" dirty="0"/>
              <a:t>Radiothérapie avec irradiation abdominale et pelvienne </a:t>
            </a:r>
          </a:p>
          <a:p>
            <a:pPr marL="0" indent="0">
              <a:buNone/>
            </a:pPr>
            <a:r>
              <a:rPr lang="fr-FR" sz="2400" dirty="0"/>
              <a:t>Chirurgicaux: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fr-FR" sz="1800" dirty="0"/>
              <a:t>Chirurgie digestive (vagotomie, </a:t>
            </a:r>
            <a:r>
              <a:rPr lang="fr-FR" sz="1800" dirty="0" smtClean="0"/>
              <a:t>résection(estomac </a:t>
            </a:r>
            <a:r>
              <a:rPr lang="fr-FR" sz="1800" dirty="0"/>
              <a:t>,</a:t>
            </a:r>
            <a:r>
              <a:rPr lang="fr-FR" sz="1800" dirty="0" smtClean="0"/>
              <a:t>grêle ou côlon, VB)</a:t>
            </a:r>
            <a:endParaRPr lang="fr-FR" sz="1800" dirty="0"/>
          </a:p>
          <a:p>
            <a:pPr lvl="1">
              <a:buFont typeface="Wingdings" panose="05000000000000000000" pitchFamily="2" charset="2"/>
              <a:buChar char="q"/>
            </a:pPr>
            <a:r>
              <a:rPr lang="fr-FR" sz="1800" dirty="0"/>
              <a:t>Polypes et cancers coliques, autres cancer  </a:t>
            </a:r>
          </a:p>
          <a:p>
            <a:pPr marL="0" indent="0">
              <a:buNone/>
            </a:pPr>
            <a:r>
              <a:rPr lang="fr-FR" sz="2400" dirty="0" smtClean="0"/>
              <a:t>familiaux </a:t>
            </a:r>
            <a:r>
              <a:rPr lang="fr-FR" sz="2400" dirty="0"/>
              <a:t>: </a:t>
            </a:r>
            <a:endParaRPr lang="fr-FR" sz="2400" dirty="0" smtClean="0"/>
          </a:p>
          <a:p>
            <a:pPr lvl="1">
              <a:buFont typeface="Wingdings" panose="05000000000000000000" pitchFamily="2" charset="2"/>
              <a:buChar char="q"/>
            </a:pPr>
            <a:r>
              <a:rPr lang="fr-FR" sz="1800" dirty="0" smtClean="0"/>
              <a:t>Terrain </a:t>
            </a:r>
            <a:r>
              <a:rPr lang="fr-FR" sz="1800" dirty="0"/>
              <a:t>génétique prédisposant : Pathologie </a:t>
            </a:r>
            <a:r>
              <a:rPr lang="fr-FR" sz="1800" dirty="0" smtClean="0"/>
              <a:t>thyroïdienne, </a:t>
            </a:r>
            <a:r>
              <a:rPr lang="fr-FR" sz="1800" dirty="0"/>
              <a:t>Maladie </a:t>
            </a:r>
            <a:r>
              <a:rPr lang="fr-FR" sz="1800" dirty="0" err="1"/>
              <a:t>coeliaque</a:t>
            </a:r>
            <a:r>
              <a:rPr lang="fr-FR" sz="1800" dirty="0"/>
              <a:t>, MICI</a:t>
            </a:r>
            <a:r>
              <a:rPr lang="fr-FR" sz="1800" dirty="0" smtClean="0"/>
              <a:t>.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fr-FR" sz="1800" dirty="0" smtClean="0"/>
              <a:t>Polypes </a:t>
            </a:r>
            <a:r>
              <a:rPr lang="fr-FR" sz="1800" dirty="0"/>
              <a:t>ou cancers colorectaux. </a:t>
            </a:r>
            <a:endParaRPr lang="fr-FR" sz="1800" dirty="0" smtClean="0"/>
          </a:p>
          <a:p>
            <a:pPr lvl="1">
              <a:buFont typeface="Wingdings" panose="05000000000000000000" pitchFamily="2" charset="2"/>
              <a:buChar char="q"/>
            </a:pPr>
            <a:r>
              <a:rPr lang="fr-FR" sz="1800" dirty="0" smtClean="0"/>
              <a:t>Maladies génétique </a:t>
            </a:r>
            <a:r>
              <a:rPr lang="fr-FR" sz="1800" dirty="0"/>
              <a:t>: </a:t>
            </a:r>
            <a:r>
              <a:rPr lang="fr-FR" sz="1800" dirty="0" smtClean="0"/>
              <a:t>PAF, </a:t>
            </a:r>
            <a:r>
              <a:rPr lang="fr-FR" sz="1800" dirty="0"/>
              <a:t>Néoplasie endocrine multiple (types 1 ou 2) 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 smtClean="0"/>
              <a:t>Dr</a:t>
            </a:r>
            <a:r>
              <a:rPr lang="en-US" dirty="0" smtClean="0"/>
              <a:t> </a:t>
            </a:r>
            <a:r>
              <a:rPr lang="en-US" dirty="0" err="1" smtClean="0"/>
              <a:t>yakhlef</a:t>
            </a:r>
            <a:r>
              <a:rPr lang="en-US" dirty="0" smtClean="0"/>
              <a:t>  smail               </a:t>
            </a:r>
            <a:r>
              <a:rPr lang="en-US" dirty="0" err="1" smtClean="0"/>
              <a:t>hmruc</a:t>
            </a:r>
            <a:r>
              <a:rPr lang="en-US" dirty="0" smtClean="0"/>
              <a:t> 2025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5E257-A840-410A-BEB9-3E0C6CFA1544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13347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16632"/>
            <a:ext cx="8964488" cy="6604843"/>
          </a:xfrm>
        </p:spPr>
        <p:txBody>
          <a:bodyPr lIns="360000">
            <a:normAutofit/>
          </a:bodyPr>
          <a:lstStyle/>
          <a:p>
            <a:pPr marL="0" indent="0">
              <a:buNone/>
            </a:pPr>
            <a:endParaRPr lang="fr-FR" sz="2400" dirty="0" smtClean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fr-FR" sz="2400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fr-FR" sz="2400" dirty="0" smtClean="0">
                <a:solidFill>
                  <a:srgbClr val="C00000"/>
                </a:solidFill>
              </a:rPr>
              <a:t>2-Terrain:</a:t>
            </a:r>
          </a:p>
          <a:p>
            <a:pPr marL="0" indent="0">
              <a:buNone/>
            </a:pPr>
            <a:endParaRPr lang="fr-FR" sz="2400" dirty="0" smtClean="0">
              <a:solidFill>
                <a:srgbClr val="C00000"/>
              </a:solidFill>
            </a:endParaRPr>
          </a:p>
          <a:p>
            <a:pPr lvl="1">
              <a:buFont typeface="Wingdings" panose="05000000000000000000" pitchFamily="2" charset="2"/>
              <a:buChar char="q"/>
            </a:pPr>
            <a:r>
              <a:rPr lang="fr-FR" sz="1800" dirty="0" smtClean="0"/>
              <a:t>Alimentation </a:t>
            </a:r>
            <a:r>
              <a:rPr lang="fr-FR" sz="1800" dirty="0"/>
              <a:t>habituelle</a:t>
            </a:r>
            <a:r>
              <a:rPr lang="fr-FR" sz="1800" dirty="0" smtClean="0"/>
              <a:t>.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fr-FR" sz="1800" dirty="0" smtClean="0"/>
              <a:t>Profession.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fr-FR" sz="1800" dirty="0" smtClean="0"/>
              <a:t>Voyages </a:t>
            </a:r>
            <a:r>
              <a:rPr lang="fr-FR" sz="1800" dirty="0"/>
              <a:t>en zone tropicale</a:t>
            </a:r>
            <a:r>
              <a:rPr lang="fr-FR" sz="1800" dirty="0" smtClean="0"/>
              <a:t>.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fr-FR" sz="1800" dirty="0" smtClean="0"/>
              <a:t>Profil psychologique</a:t>
            </a:r>
            <a:endParaRPr lang="fr-FR" sz="1800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 yakhlef  smail               hmruc 2025</a:t>
            </a: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5E257-A840-410A-BEB9-3E0C6CFA1544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86072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16632"/>
            <a:ext cx="9036496" cy="6604843"/>
          </a:xfrm>
        </p:spPr>
        <p:txBody>
          <a:bodyPr lIns="360000">
            <a:normAutofit/>
          </a:bodyPr>
          <a:lstStyle/>
          <a:p>
            <a:pPr marL="0" indent="0">
              <a:buNone/>
            </a:pPr>
            <a:endParaRPr lang="fr-FR" dirty="0" smtClean="0"/>
          </a:p>
          <a:p>
            <a:pPr marL="0" indent="0">
              <a:buNone/>
            </a:pPr>
            <a:r>
              <a:rPr lang="fr-FR" dirty="0" smtClean="0">
                <a:solidFill>
                  <a:srgbClr val="C00000"/>
                </a:solidFill>
              </a:rPr>
              <a:t>3- les caractères </a:t>
            </a:r>
            <a:r>
              <a:rPr lang="fr-FR" dirty="0">
                <a:solidFill>
                  <a:srgbClr val="C00000"/>
                </a:solidFill>
              </a:rPr>
              <a:t>de la diarrhée : </a:t>
            </a:r>
            <a:endParaRPr lang="fr-FR" dirty="0" smtClean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fr-FR" dirty="0" smtClean="0"/>
          </a:p>
          <a:p>
            <a:pPr lvl="1">
              <a:buFont typeface="Wingdings" panose="05000000000000000000" pitchFamily="2" charset="2"/>
              <a:buChar char="q"/>
            </a:pPr>
            <a:r>
              <a:rPr lang="fr-FR" sz="1600" dirty="0" smtClean="0"/>
              <a:t> </a:t>
            </a:r>
            <a:r>
              <a:rPr lang="fr-FR" sz="2000" dirty="0"/>
              <a:t>Installation brutale ou progressive </a:t>
            </a:r>
            <a:endParaRPr lang="fr-FR" sz="2000" dirty="0" smtClean="0"/>
          </a:p>
          <a:p>
            <a:pPr lvl="2">
              <a:buFont typeface="Wingdings" panose="05000000000000000000" pitchFamily="2" charset="2"/>
              <a:buChar char="v"/>
            </a:pPr>
            <a:r>
              <a:rPr lang="fr-FR" sz="1800" dirty="0" smtClean="0"/>
              <a:t>Ancienneté 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fr-FR" sz="1800" dirty="0" smtClean="0"/>
              <a:t>continu </a:t>
            </a:r>
            <a:r>
              <a:rPr lang="fr-FR" sz="1800" dirty="0"/>
              <a:t>ou rémissions spontanées </a:t>
            </a:r>
            <a:endParaRPr lang="fr-FR" sz="1800" dirty="0" smtClean="0"/>
          </a:p>
          <a:p>
            <a:pPr lvl="2">
              <a:buFont typeface="Wingdings" panose="05000000000000000000" pitchFamily="2" charset="2"/>
              <a:buChar char="v"/>
            </a:pPr>
            <a:r>
              <a:rPr lang="fr-FR" sz="1800" dirty="0" smtClean="0"/>
              <a:t>Facteurs </a:t>
            </a:r>
            <a:r>
              <a:rPr lang="fr-FR" sz="1800" dirty="0"/>
              <a:t>déclenchant ou aggravant (aliments, stress, médicaments) 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fr-FR" sz="2000" dirty="0" smtClean="0"/>
              <a:t>Fréquence 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fr-FR" sz="2000" dirty="0" smtClean="0"/>
              <a:t>Horaire (</a:t>
            </a:r>
            <a:r>
              <a:rPr lang="fr-FR" sz="2000" dirty="0"/>
              <a:t>nocturnes, « réveille-matin </a:t>
            </a:r>
            <a:r>
              <a:rPr lang="fr-FR" sz="2000" dirty="0" smtClean="0"/>
              <a:t>»</a:t>
            </a:r>
            <a:endParaRPr lang="fr-FR" sz="2000" dirty="0"/>
          </a:p>
          <a:p>
            <a:pPr lvl="1">
              <a:buFont typeface="Wingdings" panose="05000000000000000000" pitchFamily="2" charset="2"/>
              <a:buChar char="q"/>
            </a:pPr>
            <a:r>
              <a:rPr lang="fr-FR" sz="2000" dirty="0" smtClean="0"/>
              <a:t>Relation </a:t>
            </a:r>
            <a:r>
              <a:rPr lang="fr-FR" sz="2000" dirty="0"/>
              <a:t>avec le jeûne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fr-FR" sz="1800" dirty="0" smtClean="0"/>
              <a:t>S’arrête </a:t>
            </a:r>
            <a:r>
              <a:rPr lang="fr-FR" sz="1800" dirty="0"/>
              <a:t>à jeun → diarrhée osmotique 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fr-FR" sz="1800" dirty="0" smtClean="0"/>
              <a:t>Persiste </a:t>
            </a:r>
            <a:r>
              <a:rPr lang="fr-FR" sz="1800" dirty="0"/>
              <a:t>à jeun / nocturne → diarrhée sécrétoire ou </a:t>
            </a:r>
            <a:r>
              <a:rPr lang="fr-FR" sz="1800" dirty="0" smtClean="0"/>
              <a:t>organique</a:t>
            </a:r>
            <a:endParaRPr lang="fr-FR" sz="2000" dirty="0"/>
          </a:p>
          <a:p>
            <a:pPr lvl="1">
              <a:buFont typeface="Wingdings" panose="05000000000000000000" pitchFamily="2" charset="2"/>
              <a:buChar char="q"/>
            </a:pPr>
            <a:r>
              <a:rPr lang="fr-FR" sz="2000" dirty="0" smtClean="0"/>
              <a:t>Impériosité </a:t>
            </a:r>
            <a:r>
              <a:rPr lang="fr-FR" sz="2000" dirty="0"/>
              <a:t>ou non, incontinence ou suintements </a:t>
            </a:r>
            <a:r>
              <a:rPr lang="fr-FR" sz="2000" dirty="0" smtClean="0"/>
              <a:t>anaux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fr-FR" sz="2000" dirty="0" smtClean="0"/>
              <a:t>  </a:t>
            </a:r>
            <a:r>
              <a:rPr lang="fr-FR" sz="2000" dirty="0"/>
              <a:t>Aspect des selles : fécales, </a:t>
            </a:r>
            <a:r>
              <a:rPr lang="fr-FR" sz="2000" dirty="0" err="1"/>
              <a:t>afécales</a:t>
            </a:r>
            <a:r>
              <a:rPr lang="fr-FR" sz="2000" dirty="0"/>
              <a:t>, grasses, décolorées, mousseuses, présence d’aliments non digérés et ingérés le jour même, glaires, pus, sang 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fr-FR" sz="2000" dirty="0" smtClean="0"/>
              <a:t>Efficacité </a:t>
            </a:r>
            <a:r>
              <a:rPr lang="fr-FR" sz="2000" dirty="0"/>
              <a:t>des ralentisseurs du transit ou d’autres médicaments (antibiotiques, corticoïdes…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 yakhlef  smail               hmruc 2025</a:t>
            </a: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5E257-A840-410A-BEB9-3E0C6CFA1544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3099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200" dirty="0" smtClean="0"/>
              <a:t> </a:t>
            </a:r>
            <a:r>
              <a:rPr lang="fr-FR" sz="2400" dirty="0" smtClean="0">
                <a:solidFill>
                  <a:srgbClr val="C00000"/>
                </a:solidFill>
              </a:rPr>
              <a:t>4- Signes associés:  </a:t>
            </a:r>
          </a:p>
          <a:p>
            <a:pPr marL="0" indent="0">
              <a:buNone/>
            </a:pPr>
            <a:endParaRPr lang="fr-FR" sz="2400" dirty="0" smtClean="0"/>
          </a:p>
          <a:p>
            <a:pPr marL="457200" indent="-457200">
              <a:buFont typeface="+mj-lt"/>
              <a:buAutoNum type="alphaUcPeriod"/>
            </a:pPr>
            <a:r>
              <a:rPr lang="fr-FR" sz="2000" dirty="0" smtClean="0">
                <a:solidFill>
                  <a:srgbClr val="00B050"/>
                </a:solidFill>
              </a:rPr>
              <a:t>Digestifs :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fr-FR" sz="1800" dirty="0" smtClean="0"/>
              <a:t>Douleurs </a:t>
            </a:r>
            <a:r>
              <a:rPr lang="fr-FR" sz="1800" dirty="0"/>
              <a:t>abdominales : crampes, brûlures, pyrosis, coliques, épreintes, Koenig, </a:t>
            </a:r>
            <a:r>
              <a:rPr lang="fr-FR" sz="1800" dirty="0" smtClean="0"/>
              <a:t>siège, localisées </a:t>
            </a:r>
            <a:r>
              <a:rPr lang="fr-FR" sz="1800" dirty="0"/>
              <a:t>ou non, </a:t>
            </a:r>
            <a:r>
              <a:rPr lang="fr-FR" sz="1800" dirty="0" smtClean="0"/>
              <a:t>proctalgies.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fr-FR" sz="1800" dirty="0" smtClean="0"/>
              <a:t>Ballonnement </a:t>
            </a:r>
            <a:r>
              <a:rPr lang="fr-FR" sz="1800" dirty="0"/>
              <a:t>abdominal, borborygmes, </a:t>
            </a:r>
            <a:r>
              <a:rPr lang="fr-FR" sz="1800" dirty="0" smtClean="0"/>
              <a:t>émissions </a:t>
            </a:r>
            <a:r>
              <a:rPr lang="fr-FR" sz="1800" dirty="0"/>
              <a:t>de gaz, </a:t>
            </a:r>
            <a:endParaRPr lang="fr-FR" sz="1800" dirty="0" smtClean="0"/>
          </a:p>
          <a:p>
            <a:pPr lvl="1">
              <a:buFont typeface="Wingdings" panose="05000000000000000000" pitchFamily="2" charset="2"/>
              <a:buChar char="q"/>
            </a:pPr>
            <a:r>
              <a:rPr lang="fr-FR" sz="1800" dirty="0" smtClean="0"/>
              <a:t>Nausées</a:t>
            </a:r>
            <a:r>
              <a:rPr lang="fr-FR" sz="1800" dirty="0"/>
              <a:t>, vomissements, anorexie, polyphagie. </a:t>
            </a:r>
            <a:endParaRPr lang="fr-FR" sz="1800" dirty="0" smtClean="0"/>
          </a:p>
          <a:p>
            <a:pPr marL="457200" lvl="1" indent="0">
              <a:buNone/>
            </a:pPr>
            <a:endParaRPr lang="fr-FR" sz="1800" dirty="0" smtClean="0"/>
          </a:p>
          <a:p>
            <a:pPr marL="0" indent="0">
              <a:buNone/>
            </a:pPr>
            <a:r>
              <a:rPr lang="fr-FR" sz="2000" dirty="0" smtClean="0">
                <a:solidFill>
                  <a:srgbClr val="C00000"/>
                </a:solidFill>
              </a:rPr>
              <a:t>Diarrhée </a:t>
            </a:r>
            <a:r>
              <a:rPr lang="fr-FR" sz="2000" dirty="0">
                <a:solidFill>
                  <a:srgbClr val="C00000"/>
                </a:solidFill>
              </a:rPr>
              <a:t>grêlique: </a:t>
            </a:r>
            <a:r>
              <a:rPr lang="fr-FR" sz="2000" dirty="0"/>
              <a:t>selles abondantes, fétides parfois graisseuses associées à des douleurs abdominales diffuses ou péri-ombilicales avec retentissement sur l’état général +/- signes de </a:t>
            </a:r>
            <a:r>
              <a:rPr lang="fr-FR" sz="2000" dirty="0" smtClean="0"/>
              <a:t>malabsorption. </a:t>
            </a:r>
          </a:p>
          <a:p>
            <a:pPr marL="0" indent="0">
              <a:buNone/>
            </a:pPr>
            <a:endParaRPr lang="fr-FR" sz="2000" dirty="0" smtClean="0"/>
          </a:p>
          <a:p>
            <a:pPr marL="0" indent="0">
              <a:buNone/>
            </a:pPr>
            <a:r>
              <a:rPr lang="fr-FR" sz="2000" dirty="0" smtClean="0">
                <a:solidFill>
                  <a:srgbClr val="C00000"/>
                </a:solidFill>
              </a:rPr>
              <a:t>Diarrhée </a:t>
            </a:r>
            <a:r>
              <a:rPr lang="fr-FR" sz="2000" dirty="0">
                <a:solidFill>
                  <a:srgbClr val="C00000"/>
                </a:solidFill>
              </a:rPr>
              <a:t>colique: </a:t>
            </a:r>
            <a:r>
              <a:rPr lang="fr-FR" sz="2000" dirty="0"/>
              <a:t>selles fréquentes, urgentes , peu abondantes + mucus ou sang rouge ou du pus, associée a des douleurs abdominales sur le cadre colique </a:t>
            </a:r>
            <a:r>
              <a:rPr lang="fr-FR" sz="2000" dirty="0" smtClean="0"/>
              <a:t> </a:t>
            </a:r>
            <a:endParaRPr lang="fr-FR" sz="2000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 smtClean="0"/>
              <a:t>Dr</a:t>
            </a:r>
            <a:r>
              <a:rPr lang="en-US" dirty="0" smtClean="0"/>
              <a:t> </a:t>
            </a:r>
            <a:r>
              <a:rPr lang="en-US" dirty="0" err="1" smtClean="0"/>
              <a:t>yakhlef</a:t>
            </a:r>
            <a:r>
              <a:rPr lang="en-US" dirty="0" smtClean="0"/>
              <a:t>  smail               </a:t>
            </a:r>
            <a:r>
              <a:rPr lang="en-US" dirty="0" err="1" smtClean="0"/>
              <a:t>hmruc</a:t>
            </a:r>
            <a:r>
              <a:rPr lang="en-US" dirty="0" smtClean="0"/>
              <a:t> 2025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5E257-A840-410A-BEB9-3E0C6CFA1544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80294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7504" y="188640"/>
            <a:ext cx="9036496" cy="6532835"/>
          </a:xfrm>
        </p:spPr>
        <p:txBody>
          <a:bodyPr/>
          <a:lstStyle/>
          <a:p>
            <a:pPr marL="457200" indent="-457200">
              <a:buFont typeface="+mj-lt"/>
              <a:buAutoNum type="alphaUcPeriod" startAt="2"/>
            </a:pPr>
            <a:r>
              <a:rPr lang="fr-FR" sz="2000" dirty="0" smtClean="0">
                <a:solidFill>
                  <a:srgbClr val="00B050"/>
                </a:solidFill>
              </a:rPr>
              <a:t>extra-digestifs :</a:t>
            </a:r>
          </a:p>
          <a:p>
            <a:pPr marL="0" indent="0">
              <a:buNone/>
            </a:pPr>
            <a:endParaRPr lang="fr-FR" dirty="0" smtClean="0"/>
          </a:p>
          <a:p>
            <a:pPr lvl="1">
              <a:buFont typeface="Wingdings" panose="05000000000000000000" pitchFamily="2" charset="2"/>
              <a:buChar char="q"/>
            </a:pPr>
            <a:r>
              <a:rPr lang="fr-FR" sz="2000" dirty="0"/>
              <a:t> </a:t>
            </a:r>
            <a:r>
              <a:rPr lang="fr-FR" sz="2000" dirty="0" smtClean="0"/>
              <a:t>Asthénie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fr-FR" sz="2000" dirty="0" smtClean="0"/>
              <a:t> Amaigrissement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fr-FR" sz="2000" dirty="0" smtClean="0"/>
              <a:t> </a:t>
            </a:r>
            <a:r>
              <a:rPr lang="fr-FR" sz="2000" dirty="0"/>
              <a:t>Signes de carence en vitamines ou sels </a:t>
            </a:r>
            <a:r>
              <a:rPr lang="fr-FR" sz="2000" dirty="0" smtClean="0"/>
              <a:t>minéraux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fr-FR" sz="2000" dirty="0" smtClean="0"/>
              <a:t> </a:t>
            </a:r>
            <a:r>
              <a:rPr lang="fr-FR" sz="2000" dirty="0"/>
              <a:t>Manifestations des maladies inflammatoires chroniques de l’intestin (MICI) (fièvre, arthrites, signes oculaires, lésions cutanées, aphtes </a:t>
            </a:r>
            <a:r>
              <a:rPr lang="fr-FR" sz="2000" dirty="0" smtClean="0"/>
              <a:t>…)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fr-FR" sz="2000" dirty="0" smtClean="0"/>
              <a:t> </a:t>
            </a:r>
            <a:r>
              <a:rPr lang="fr-FR" sz="2000" dirty="0"/>
              <a:t>Flushes et autres manifestations du syndrome carcinoïde : bronchospasme, insuffisance cardiaque droite, souffle d’insuffisance tricuspidienne ou pulmonaire.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 yakhlef  smail               hmruc 2025</a:t>
            </a: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5E257-A840-410A-BEB9-3E0C6CFA1544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5277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88640"/>
            <a:ext cx="8712968" cy="6532835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fr-FR" sz="2400" dirty="0">
                <a:solidFill>
                  <a:srgbClr val="00B050"/>
                </a:solidFill>
              </a:rPr>
              <a:t>EXAMEN </a:t>
            </a:r>
            <a:r>
              <a:rPr lang="fr-FR" sz="2400" dirty="0" smtClean="0">
                <a:solidFill>
                  <a:srgbClr val="00B050"/>
                </a:solidFill>
              </a:rPr>
              <a:t>CLINIQUE: </a:t>
            </a:r>
          </a:p>
          <a:p>
            <a:pPr marL="457200" indent="-457200">
              <a:buFont typeface="+mj-lt"/>
              <a:buAutoNum type="arabicPeriod"/>
            </a:pPr>
            <a:r>
              <a:rPr lang="fr-FR" sz="2400" dirty="0" smtClean="0">
                <a:solidFill>
                  <a:srgbClr val="C00000"/>
                </a:solidFill>
              </a:rPr>
              <a:t>Général </a:t>
            </a:r>
            <a:r>
              <a:rPr lang="fr-FR" sz="2400" dirty="0">
                <a:solidFill>
                  <a:srgbClr val="C00000"/>
                </a:solidFill>
              </a:rPr>
              <a:t>: </a:t>
            </a:r>
            <a:endParaRPr lang="fr-FR" sz="2400" dirty="0" smtClean="0">
              <a:solidFill>
                <a:srgbClr val="C00000"/>
              </a:solidFill>
            </a:endParaRPr>
          </a:p>
          <a:p>
            <a:pPr lvl="1">
              <a:buFont typeface="Wingdings" panose="05000000000000000000" pitchFamily="2" charset="2"/>
              <a:buChar char="v"/>
            </a:pPr>
            <a:r>
              <a:rPr lang="fr-FR" sz="1800" dirty="0" smtClean="0"/>
              <a:t>Poids</a:t>
            </a:r>
            <a:r>
              <a:rPr lang="fr-FR" sz="1800" dirty="0"/>
              <a:t>, taille +++ → </a:t>
            </a:r>
            <a:r>
              <a:rPr lang="fr-FR" sz="1800" dirty="0" smtClean="0"/>
              <a:t>BMI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fr-FR" sz="1800" dirty="0" smtClean="0"/>
              <a:t>Etat </a:t>
            </a:r>
            <a:r>
              <a:rPr lang="fr-FR" sz="1800" dirty="0"/>
              <a:t>général Signes de dénutrition </a:t>
            </a:r>
            <a:r>
              <a:rPr lang="fr-FR" sz="1800" dirty="0" smtClean="0"/>
              <a:t>+++,Signes </a:t>
            </a:r>
            <a:r>
              <a:rPr lang="fr-FR" sz="1800" dirty="0"/>
              <a:t>de déshydratation +++ </a:t>
            </a:r>
            <a:endParaRPr lang="fr-FR" sz="1800" dirty="0" smtClean="0"/>
          </a:p>
          <a:p>
            <a:pPr lvl="1">
              <a:buFont typeface="Wingdings" panose="05000000000000000000" pitchFamily="2" charset="2"/>
              <a:buChar char="v"/>
            </a:pPr>
            <a:r>
              <a:rPr lang="fr-FR" sz="1800" dirty="0" smtClean="0"/>
              <a:t>Pâleur,oedèmes</a:t>
            </a:r>
            <a:r>
              <a:rPr lang="fr-FR" sz="1800" dirty="0"/>
              <a:t>, </a:t>
            </a:r>
            <a:r>
              <a:rPr lang="fr-FR" sz="1800" dirty="0" smtClean="0"/>
              <a:t>fièvre </a:t>
            </a:r>
          </a:p>
          <a:p>
            <a:pPr lvl="1">
              <a:buFont typeface="Wingdings" panose="05000000000000000000" pitchFamily="2" charset="2"/>
              <a:buChar char="v"/>
            </a:pPr>
            <a:endParaRPr lang="fr-FR" sz="1800" dirty="0" smtClean="0"/>
          </a:p>
          <a:p>
            <a:pPr marL="457200" indent="-457200">
              <a:buFont typeface="+mj-lt"/>
              <a:buAutoNum type="arabicPeriod" startAt="2"/>
            </a:pPr>
            <a:r>
              <a:rPr lang="fr-FR" sz="2400" dirty="0" smtClean="0">
                <a:solidFill>
                  <a:srgbClr val="C00000"/>
                </a:solidFill>
              </a:rPr>
              <a:t>Examen </a:t>
            </a:r>
            <a:r>
              <a:rPr lang="fr-FR" sz="2400" dirty="0">
                <a:solidFill>
                  <a:srgbClr val="C00000"/>
                </a:solidFill>
              </a:rPr>
              <a:t>digestif : </a:t>
            </a:r>
            <a:endParaRPr lang="fr-FR" sz="2400" dirty="0" smtClean="0">
              <a:solidFill>
                <a:srgbClr val="C00000"/>
              </a:solidFill>
            </a:endParaRPr>
          </a:p>
          <a:p>
            <a:pPr lvl="1">
              <a:buFont typeface="Wingdings" panose="05000000000000000000" pitchFamily="2" charset="2"/>
              <a:buChar char="v"/>
            </a:pPr>
            <a:r>
              <a:rPr lang="fr-FR" sz="1800" dirty="0" smtClean="0"/>
              <a:t>Inspection </a:t>
            </a:r>
            <a:r>
              <a:rPr lang="fr-FR" sz="1800" dirty="0"/>
              <a:t>: </a:t>
            </a:r>
            <a:r>
              <a:rPr lang="fr-FR" sz="1800" dirty="0" smtClean="0"/>
              <a:t>Météorisme</a:t>
            </a:r>
            <a:r>
              <a:rPr lang="fr-FR" sz="1800" dirty="0"/>
              <a:t>, cicatrice abdominale </a:t>
            </a:r>
            <a:endParaRPr lang="fr-FR" sz="1800" dirty="0" smtClean="0"/>
          </a:p>
          <a:p>
            <a:pPr lvl="1">
              <a:buFont typeface="Wingdings" panose="05000000000000000000" pitchFamily="2" charset="2"/>
              <a:buChar char="v"/>
            </a:pPr>
            <a:r>
              <a:rPr lang="fr-FR" sz="1800" dirty="0" smtClean="0"/>
              <a:t>Palpation </a:t>
            </a:r>
            <a:r>
              <a:rPr lang="fr-FR" sz="1800" dirty="0"/>
              <a:t>: Masse abdominale </a:t>
            </a:r>
            <a:r>
              <a:rPr lang="fr-FR" sz="1800" dirty="0" smtClean="0"/>
              <a:t>(inflammatoire</a:t>
            </a:r>
            <a:r>
              <a:rPr lang="fr-FR" sz="1800" dirty="0"/>
              <a:t>, tumorale ou </a:t>
            </a:r>
            <a:r>
              <a:rPr lang="fr-FR" sz="1800" dirty="0" smtClean="0"/>
              <a:t>vasculaire), </a:t>
            </a:r>
            <a:r>
              <a:rPr lang="fr-FR" sz="1800" dirty="0"/>
              <a:t>HPM </a:t>
            </a:r>
            <a:r>
              <a:rPr lang="fr-FR" sz="1800" dirty="0" smtClean="0"/>
              <a:t>tumorale </a:t>
            </a:r>
            <a:r>
              <a:rPr lang="fr-FR" sz="1800" dirty="0"/>
              <a:t>ou non , SPM </a:t>
            </a:r>
            <a:endParaRPr lang="fr-FR" sz="1800" dirty="0" smtClean="0"/>
          </a:p>
          <a:p>
            <a:pPr lvl="1">
              <a:buFont typeface="Wingdings" panose="05000000000000000000" pitchFamily="2" charset="2"/>
              <a:buChar char="v"/>
            </a:pPr>
            <a:r>
              <a:rPr lang="fr-FR" sz="1800" dirty="0"/>
              <a:t>Percussion : Une matité déclive traduisant une ascite isolée ou associée à des OMI. </a:t>
            </a:r>
            <a:endParaRPr lang="fr-FR" sz="1800" dirty="0" smtClean="0"/>
          </a:p>
          <a:p>
            <a:pPr lvl="1">
              <a:buFont typeface="Wingdings" panose="05000000000000000000" pitchFamily="2" charset="2"/>
              <a:buChar char="v"/>
            </a:pPr>
            <a:r>
              <a:rPr lang="fr-FR" sz="1800" dirty="0" smtClean="0"/>
              <a:t>Examen </a:t>
            </a:r>
            <a:r>
              <a:rPr lang="fr-FR" sz="1800" dirty="0"/>
              <a:t>proctologique : </a:t>
            </a:r>
            <a:endParaRPr lang="fr-FR" sz="1800" dirty="0" smtClean="0"/>
          </a:p>
          <a:p>
            <a:pPr lvl="2">
              <a:buFont typeface="Wingdings" panose="05000000000000000000" pitchFamily="2" charset="2"/>
              <a:buChar char="Ø"/>
            </a:pPr>
            <a:r>
              <a:rPr lang="fr-FR" sz="1600" dirty="0" smtClean="0"/>
              <a:t>Examen </a:t>
            </a:r>
            <a:r>
              <a:rPr lang="fr-FR" sz="1600" dirty="0"/>
              <a:t>de la marge anale : fissure, fistule anale </a:t>
            </a:r>
            <a:endParaRPr lang="fr-FR" sz="1600" dirty="0" smtClean="0"/>
          </a:p>
          <a:p>
            <a:pPr lvl="2">
              <a:buFont typeface="Wingdings" panose="05000000000000000000" pitchFamily="2" charset="2"/>
              <a:buChar char="Ø"/>
            </a:pPr>
            <a:r>
              <a:rPr lang="fr-FR" sz="1600" dirty="0" smtClean="0"/>
              <a:t>Toucher </a:t>
            </a:r>
            <a:r>
              <a:rPr lang="fr-FR" sz="1600" dirty="0"/>
              <a:t>rectal:- Tonicité et contraction sphinctérienne- Examen du doigtier au retrait (aspect des selles)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 yakhlef  smail               hmruc 2025</a:t>
            </a: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5E257-A840-410A-BEB9-3E0C6CFA1544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0553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51520" y="116632"/>
            <a:ext cx="8784976" cy="6741368"/>
          </a:xfrm>
        </p:spPr>
        <p:txBody>
          <a:bodyPr/>
          <a:lstStyle/>
          <a:p>
            <a:endParaRPr lang="fr-FR" sz="2400" dirty="0" smtClean="0"/>
          </a:p>
          <a:p>
            <a:pPr marL="457200" indent="-457200">
              <a:buFont typeface="+mj-lt"/>
              <a:buAutoNum type="arabicPeriod" startAt="3"/>
            </a:pPr>
            <a:r>
              <a:rPr lang="fr-FR" sz="2400" dirty="0" smtClean="0">
                <a:solidFill>
                  <a:srgbClr val="C00000"/>
                </a:solidFill>
              </a:rPr>
              <a:t>Examen </a:t>
            </a:r>
            <a:r>
              <a:rPr lang="fr-FR" sz="2400" dirty="0">
                <a:solidFill>
                  <a:srgbClr val="C00000"/>
                </a:solidFill>
              </a:rPr>
              <a:t>extra digestif </a:t>
            </a:r>
            <a:r>
              <a:rPr lang="fr-FR" sz="2400" dirty="0" smtClean="0">
                <a:solidFill>
                  <a:srgbClr val="C00000"/>
                </a:solidFill>
              </a:rPr>
              <a:t>:</a:t>
            </a:r>
          </a:p>
          <a:p>
            <a:endParaRPr lang="fr-FR" sz="2400" dirty="0" smtClean="0"/>
          </a:p>
          <a:p>
            <a:pPr lvl="1">
              <a:buFont typeface="Wingdings" panose="05000000000000000000" pitchFamily="2" charset="2"/>
              <a:buChar char="v"/>
            </a:pPr>
            <a:r>
              <a:rPr lang="fr-FR" sz="1800" dirty="0" smtClean="0"/>
              <a:t>Examen </a:t>
            </a:r>
            <a:r>
              <a:rPr lang="fr-FR" sz="1800" b="1" dirty="0"/>
              <a:t>cutanéomuqueux</a:t>
            </a:r>
            <a:r>
              <a:rPr lang="fr-FR" sz="1800" dirty="0"/>
              <a:t> : Ictère , lésions cutanées </a:t>
            </a:r>
            <a:r>
              <a:rPr lang="fr-FR" sz="1800" dirty="0" smtClean="0"/>
              <a:t>,buccales </a:t>
            </a:r>
            <a:r>
              <a:rPr lang="fr-FR" sz="1800" dirty="0"/>
              <a:t>(aphtes, glossite, chéilite ), génitales (aphtes </a:t>
            </a:r>
            <a:r>
              <a:rPr lang="fr-FR" sz="1800" dirty="0" smtClean="0"/>
              <a:t>)</a:t>
            </a:r>
          </a:p>
          <a:p>
            <a:pPr lvl="1">
              <a:buFont typeface="Wingdings" panose="05000000000000000000" pitchFamily="2" charset="2"/>
              <a:buChar char="v"/>
            </a:pPr>
            <a:endParaRPr lang="fr-FR" sz="1800" dirty="0" smtClean="0"/>
          </a:p>
          <a:p>
            <a:pPr lvl="1">
              <a:buFont typeface="Wingdings" panose="05000000000000000000" pitchFamily="2" charset="2"/>
              <a:buChar char="v"/>
            </a:pPr>
            <a:r>
              <a:rPr lang="fr-FR" sz="1800" dirty="0" smtClean="0"/>
              <a:t>Examen </a:t>
            </a:r>
            <a:r>
              <a:rPr lang="fr-FR" sz="1800" b="1" dirty="0"/>
              <a:t>ostéo-articulaire </a:t>
            </a:r>
            <a:r>
              <a:rPr lang="fr-FR" sz="1800" dirty="0"/>
              <a:t>: articulations périphériques et axe </a:t>
            </a:r>
            <a:r>
              <a:rPr lang="fr-FR" sz="1800" dirty="0" smtClean="0"/>
              <a:t>pelvi-rachidien.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fr-FR" sz="1800" dirty="0" smtClean="0"/>
              <a:t>Examen </a:t>
            </a:r>
            <a:r>
              <a:rPr lang="fr-FR" sz="1800" b="1" dirty="0"/>
              <a:t>neurologique </a:t>
            </a:r>
            <a:r>
              <a:rPr lang="fr-FR" sz="1800" dirty="0"/>
              <a:t>: Neuropathie périphérique , syndrome pyramidal</a:t>
            </a:r>
            <a:r>
              <a:rPr lang="fr-FR" sz="1800" dirty="0" smtClean="0"/>
              <a:t>.</a:t>
            </a:r>
          </a:p>
          <a:p>
            <a:pPr lvl="1">
              <a:buFont typeface="Wingdings" panose="05000000000000000000" pitchFamily="2" charset="2"/>
              <a:buChar char="v"/>
            </a:pPr>
            <a:endParaRPr lang="fr-FR" sz="1800" dirty="0" smtClean="0"/>
          </a:p>
          <a:p>
            <a:pPr lvl="1">
              <a:buFont typeface="Wingdings" panose="05000000000000000000" pitchFamily="2" charset="2"/>
              <a:buChar char="v"/>
            </a:pPr>
            <a:r>
              <a:rPr lang="fr-FR" sz="1800" dirty="0" smtClean="0"/>
              <a:t>Examen </a:t>
            </a:r>
            <a:r>
              <a:rPr lang="fr-FR" sz="1800" dirty="0"/>
              <a:t>de </a:t>
            </a:r>
            <a:r>
              <a:rPr lang="fr-FR" sz="1800" b="1" dirty="0"/>
              <a:t>la thyroïde </a:t>
            </a:r>
            <a:r>
              <a:rPr lang="fr-FR" sz="1800" dirty="0"/>
              <a:t>: goitre ou nodules</a:t>
            </a:r>
            <a:r>
              <a:rPr lang="fr-FR" sz="1800" dirty="0" smtClean="0"/>
              <a:t>.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fr-FR" sz="1800" dirty="0" smtClean="0"/>
              <a:t>Examen </a:t>
            </a:r>
            <a:r>
              <a:rPr lang="fr-FR" sz="1800" dirty="0"/>
              <a:t>des </a:t>
            </a:r>
            <a:r>
              <a:rPr lang="fr-FR" sz="1800" b="1" dirty="0"/>
              <a:t>aires ganglionnaires </a:t>
            </a:r>
            <a:r>
              <a:rPr lang="fr-FR" sz="1800" dirty="0"/>
              <a:t>: surtout ganglion de </a:t>
            </a:r>
            <a:r>
              <a:rPr lang="fr-FR" sz="1800" dirty="0" err="1" smtClean="0"/>
              <a:t>Troisier</a:t>
            </a:r>
            <a:endParaRPr lang="fr-FR" sz="1800" dirty="0" smtClean="0"/>
          </a:p>
          <a:p>
            <a:pPr lvl="1">
              <a:buFont typeface="Wingdings" panose="05000000000000000000" pitchFamily="2" charset="2"/>
              <a:buChar char="v"/>
            </a:pPr>
            <a:endParaRPr lang="fr-FR" sz="1800" dirty="0" smtClean="0"/>
          </a:p>
          <a:p>
            <a:pPr lvl="1">
              <a:buFont typeface="Wingdings" panose="05000000000000000000" pitchFamily="2" charset="2"/>
              <a:buChar char="v"/>
            </a:pPr>
            <a:r>
              <a:rPr lang="fr-FR" sz="1800" dirty="0" smtClean="0"/>
              <a:t>Examen</a:t>
            </a:r>
            <a:r>
              <a:rPr lang="fr-FR" sz="1800" b="1" dirty="0" smtClean="0"/>
              <a:t> </a:t>
            </a:r>
            <a:r>
              <a:rPr lang="fr-FR" sz="1800" b="1" dirty="0"/>
              <a:t>oculaire </a:t>
            </a:r>
            <a:r>
              <a:rPr lang="fr-FR" sz="1800" dirty="0"/>
              <a:t>: rougeur, iritis, uvéite, </a:t>
            </a:r>
            <a:r>
              <a:rPr lang="fr-FR" sz="1800" dirty="0" smtClean="0"/>
              <a:t>épisclérite</a:t>
            </a:r>
            <a:endParaRPr lang="fr-FR" sz="1800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 yakhlef  smail               hmruc 2025</a:t>
            </a: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5E257-A840-410A-BEB9-3E0C6CFA1544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0080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7504" y="116632"/>
            <a:ext cx="8928992" cy="6741368"/>
          </a:xfrm>
        </p:spPr>
        <p:txBody>
          <a:bodyPr/>
          <a:lstStyle/>
          <a:p>
            <a:pPr marL="514350" indent="-514350">
              <a:buFont typeface="+mj-lt"/>
              <a:buAutoNum type="alphaUcPeriod" startAt="2"/>
            </a:pPr>
            <a:r>
              <a:rPr lang="fr-FR" dirty="0">
                <a:solidFill>
                  <a:srgbClr val="0070C0"/>
                </a:solidFill>
              </a:rPr>
              <a:t>EXAMENS </a:t>
            </a:r>
            <a:r>
              <a:rPr lang="fr-FR" dirty="0" smtClean="0">
                <a:solidFill>
                  <a:srgbClr val="0070C0"/>
                </a:solidFill>
              </a:rPr>
              <a:t>COMPLEMENTAIRES: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fr-FR" sz="2400" dirty="0" smtClean="0">
                <a:solidFill>
                  <a:srgbClr val="00B050"/>
                </a:solidFill>
              </a:rPr>
              <a:t> </a:t>
            </a:r>
            <a:r>
              <a:rPr lang="fr-FR" sz="2400" dirty="0">
                <a:solidFill>
                  <a:srgbClr val="00B050"/>
                </a:solidFill>
              </a:rPr>
              <a:t>En absence </a:t>
            </a:r>
            <a:r>
              <a:rPr lang="fr-FR" sz="2400" dirty="0" smtClean="0">
                <a:solidFill>
                  <a:srgbClr val="00B050"/>
                </a:solidFill>
              </a:rPr>
              <a:t>d’orientation:</a:t>
            </a:r>
          </a:p>
          <a:p>
            <a:r>
              <a:rPr lang="fr-FR" sz="2000" dirty="0" smtClean="0"/>
              <a:t> </a:t>
            </a:r>
            <a:r>
              <a:rPr lang="fr-FR" sz="2000" dirty="0"/>
              <a:t>(examens de 1ère ligne) : </a:t>
            </a:r>
            <a:endParaRPr lang="fr-FR" sz="2000" dirty="0" smtClean="0"/>
          </a:p>
          <a:p>
            <a:pPr marL="457200" indent="-457200">
              <a:buFont typeface="+mj-lt"/>
              <a:buAutoNum type="arabicPeriod"/>
            </a:pPr>
            <a:r>
              <a:rPr lang="fr-FR" sz="2200" dirty="0" smtClean="0">
                <a:solidFill>
                  <a:srgbClr val="C00000"/>
                </a:solidFill>
              </a:rPr>
              <a:t>Biologique :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fr-FR" sz="1800" dirty="0" smtClean="0"/>
              <a:t>NFS, ionogramme, </a:t>
            </a:r>
            <a:r>
              <a:rPr lang="fr-FR" sz="1800" dirty="0"/>
              <a:t>créatininémie, calcémie, TP, protidémie, </a:t>
            </a:r>
            <a:r>
              <a:rPr lang="fr-FR" sz="1800" dirty="0" err="1" smtClean="0"/>
              <a:t>ferritinémie</a:t>
            </a:r>
            <a:endParaRPr lang="fr-FR" sz="1800" dirty="0" smtClean="0"/>
          </a:p>
          <a:p>
            <a:pPr lvl="1">
              <a:buFont typeface="Wingdings" panose="05000000000000000000" pitchFamily="2" charset="2"/>
              <a:buChar char="v"/>
            </a:pPr>
            <a:r>
              <a:rPr lang="fr-FR" sz="1800" dirty="0" smtClean="0"/>
              <a:t>électrophorèse </a:t>
            </a:r>
            <a:r>
              <a:rPr lang="fr-FR" sz="1800" dirty="0"/>
              <a:t>des protides →Bilan de </a:t>
            </a:r>
            <a:r>
              <a:rPr lang="fr-FR" sz="1800" dirty="0" smtClean="0"/>
              <a:t>retentissement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fr-FR" sz="1800" dirty="0" smtClean="0"/>
              <a:t> </a:t>
            </a:r>
            <a:r>
              <a:rPr lang="fr-FR" sz="1800" dirty="0"/>
              <a:t>VS, CRP → </a:t>
            </a:r>
            <a:r>
              <a:rPr lang="fr-FR" sz="1800" dirty="0" err="1"/>
              <a:t>Sd</a:t>
            </a:r>
            <a:r>
              <a:rPr lang="fr-FR" sz="1800" dirty="0"/>
              <a:t> </a:t>
            </a:r>
            <a:r>
              <a:rPr lang="fr-FR" sz="1800" dirty="0" smtClean="0"/>
              <a:t>inflammatoire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fr-FR" sz="1800" dirty="0" smtClean="0"/>
              <a:t>Sérologie </a:t>
            </a:r>
            <a:r>
              <a:rPr lang="fr-FR" sz="1800" dirty="0"/>
              <a:t>VIH et </a:t>
            </a:r>
            <a:r>
              <a:rPr lang="fr-FR" sz="1800" dirty="0" smtClean="0"/>
              <a:t>TSH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fr-FR" sz="1800" dirty="0" smtClean="0"/>
              <a:t> </a:t>
            </a:r>
            <a:r>
              <a:rPr lang="fr-FR" sz="1800" dirty="0"/>
              <a:t>Etude </a:t>
            </a:r>
            <a:r>
              <a:rPr lang="fr-FR" sz="1800" dirty="0" err="1" smtClean="0"/>
              <a:t>parasitologique</a:t>
            </a:r>
            <a:r>
              <a:rPr lang="fr-FR" sz="1800" dirty="0" smtClean="0"/>
              <a:t> </a:t>
            </a:r>
            <a:r>
              <a:rPr lang="fr-FR" sz="1800" dirty="0"/>
              <a:t>des selles :3 jours de suite (coproculture sans </a:t>
            </a:r>
            <a:r>
              <a:rPr lang="fr-FR" sz="1800" dirty="0" smtClean="0"/>
              <a:t>intérêt sauf immunodéprimé) </a:t>
            </a:r>
            <a:endParaRPr lang="fr-FR" sz="1800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 yakhlef  smail               hmruc 2025</a:t>
            </a: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5E257-A840-410A-BEB9-3E0C6CFA1544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69941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0"/>
            <a:ext cx="9144000" cy="6721475"/>
          </a:xfrm>
        </p:spPr>
        <p:txBody>
          <a:bodyPr>
            <a:normAutofit/>
          </a:bodyPr>
          <a:lstStyle/>
          <a:p>
            <a:endParaRPr lang="fr-FR" sz="2200" dirty="0" smtClean="0"/>
          </a:p>
          <a:p>
            <a:pPr marL="457200" indent="-457200">
              <a:buFont typeface="+mj-lt"/>
              <a:buAutoNum type="arabicPeriod" startAt="2"/>
            </a:pPr>
            <a:r>
              <a:rPr lang="fr-FR" sz="2200" dirty="0" smtClean="0">
                <a:solidFill>
                  <a:srgbClr val="C00000"/>
                </a:solidFill>
              </a:rPr>
              <a:t>Examens </a:t>
            </a:r>
            <a:r>
              <a:rPr lang="fr-FR" sz="2200" dirty="0">
                <a:solidFill>
                  <a:srgbClr val="C00000"/>
                </a:solidFill>
              </a:rPr>
              <a:t>endoscopiques </a:t>
            </a:r>
            <a:r>
              <a:rPr lang="fr-FR" sz="2200" dirty="0"/>
              <a:t>:</a:t>
            </a:r>
            <a:r>
              <a:rPr lang="fr-FR" sz="2000" dirty="0"/>
              <a:t> </a:t>
            </a:r>
            <a:r>
              <a:rPr lang="fr-FR" sz="2000" dirty="0" smtClean="0"/>
              <a:t>++++</a:t>
            </a:r>
          </a:p>
          <a:p>
            <a:endParaRPr lang="fr-FR" sz="2000" dirty="0" smtClean="0"/>
          </a:p>
          <a:p>
            <a:pPr lvl="1"/>
            <a:r>
              <a:rPr lang="fr-FR" sz="1800" dirty="0" smtClean="0"/>
              <a:t>EOGD </a:t>
            </a:r>
            <a:r>
              <a:rPr lang="fr-FR" sz="1800" dirty="0"/>
              <a:t>avec biopsies gastrique et duodénale : </a:t>
            </a:r>
            <a:endParaRPr lang="fr-FR" sz="1800" dirty="0" smtClean="0"/>
          </a:p>
          <a:p>
            <a:pPr lvl="2">
              <a:buFont typeface="Wingdings" panose="05000000000000000000" pitchFamily="2" charset="2"/>
              <a:buChar char="Ø"/>
            </a:pPr>
            <a:r>
              <a:rPr lang="fr-FR" sz="1600" dirty="0" smtClean="0"/>
              <a:t>-</a:t>
            </a:r>
            <a:r>
              <a:rPr lang="fr-FR" sz="1600" dirty="0"/>
              <a:t>la maladie cœliaque (atrophie duodénale) ou un lymphome intestinal (gros plis, nodules, ulcérations, sténose au niveau du duodénum</a:t>
            </a:r>
            <a:r>
              <a:rPr lang="fr-FR" sz="1600" dirty="0" smtClean="0"/>
              <a:t>)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fr-FR" sz="1600" dirty="0" smtClean="0"/>
              <a:t>-</a:t>
            </a:r>
            <a:r>
              <a:rPr lang="fr-FR" sz="1600" dirty="0"/>
              <a:t>une maladie de Crohn (lésions antroduodénales :gros plis ulcération) </a:t>
            </a:r>
            <a:endParaRPr lang="fr-FR" sz="1600" dirty="0" smtClean="0"/>
          </a:p>
          <a:p>
            <a:pPr lvl="1"/>
            <a:r>
              <a:rPr lang="fr-FR" sz="1800" dirty="0" smtClean="0"/>
              <a:t> Iléo-coloscopie </a:t>
            </a:r>
            <a:r>
              <a:rPr lang="fr-FR" sz="1800" dirty="0"/>
              <a:t>: affections tumorales ou inflammatoires avec biopsies ileo-coliques systématiques étagées (au moins 8). </a:t>
            </a:r>
            <a:endParaRPr lang="fr-FR" sz="1800" dirty="0" smtClean="0"/>
          </a:p>
          <a:p>
            <a:endParaRPr lang="fr-FR" sz="2200" dirty="0" smtClean="0"/>
          </a:p>
          <a:p>
            <a:pPr marL="457200" indent="-457200">
              <a:buFont typeface="+mj-lt"/>
              <a:buAutoNum type="arabicPeriod" startAt="2"/>
            </a:pPr>
            <a:r>
              <a:rPr lang="fr-FR" sz="2200" dirty="0" smtClean="0">
                <a:solidFill>
                  <a:srgbClr val="C00000"/>
                </a:solidFill>
              </a:rPr>
              <a:t>Examens </a:t>
            </a:r>
            <a:r>
              <a:rPr lang="fr-FR" sz="2200" dirty="0">
                <a:solidFill>
                  <a:srgbClr val="C00000"/>
                </a:solidFill>
              </a:rPr>
              <a:t>d’imagerie </a:t>
            </a:r>
            <a:r>
              <a:rPr lang="fr-FR" sz="2200" dirty="0" smtClean="0">
                <a:solidFill>
                  <a:srgbClr val="C00000"/>
                </a:solidFill>
              </a:rPr>
              <a:t>:</a:t>
            </a:r>
          </a:p>
          <a:p>
            <a:pPr lvl="1"/>
            <a:r>
              <a:rPr lang="fr-FR" sz="1800" dirty="0" smtClean="0"/>
              <a:t>ASP (syndrome subocclusif)</a:t>
            </a:r>
          </a:p>
          <a:p>
            <a:pPr lvl="1"/>
            <a:r>
              <a:rPr lang="fr-FR" sz="1800" dirty="0" smtClean="0"/>
              <a:t>Echographie </a:t>
            </a:r>
            <a:r>
              <a:rPr lang="fr-FR" sz="1800" dirty="0"/>
              <a:t>abdominale : épaississement pariétal intestinal, adénopathies, anomalies morphologiques du pancréas</a:t>
            </a:r>
            <a:r>
              <a:rPr lang="fr-FR" sz="1800" dirty="0" smtClean="0"/>
              <a:t>…</a:t>
            </a:r>
          </a:p>
          <a:p>
            <a:pPr lvl="1"/>
            <a:r>
              <a:rPr lang="fr-FR" sz="1800" dirty="0" smtClean="0"/>
              <a:t>TDM </a:t>
            </a:r>
            <a:r>
              <a:rPr lang="fr-FR" sz="1800" dirty="0"/>
              <a:t>abdominopelvienne (+++ coupes pancréatiques) 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 yakhlef  smail               hmruc 2025</a:t>
            </a: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5E257-A840-410A-BEB9-3E0C6CFA1544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8565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260648"/>
            <a:ext cx="8856984" cy="659735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fr-FR" sz="2400" dirty="0">
                <a:solidFill>
                  <a:srgbClr val="00B050"/>
                </a:solidFill>
              </a:rPr>
              <a:t>Si orientation étiologique </a:t>
            </a:r>
            <a:r>
              <a:rPr lang="fr-FR" sz="2400" dirty="0" smtClean="0">
                <a:solidFill>
                  <a:srgbClr val="00B050"/>
                </a:solidFill>
              </a:rPr>
              <a:t>:</a:t>
            </a:r>
            <a:r>
              <a:rPr lang="fr-FR" sz="1800" dirty="0" smtClean="0"/>
              <a:t>ou </a:t>
            </a:r>
            <a:r>
              <a:rPr lang="fr-FR" sz="1800" dirty="0"/>
              <a:t>en fonction des résultats du bilan de 1ère ligne ci dessus, on peut demander un ou plusieurs des examens suivants </a:t>
            </a:r>
            <a:endParaRPr lang="fr-FR" sz="1800" dirty="0" smtClean="0"/>
          </a:p>
          <a:p>
            <a:r>
              <a:rPr lang="fr-FR" sz="2200" b="1" i="1" dirty="0" smtClean="0"/>
              <a:t>Les </a:t>
            </a:r>
            <a:r>
              <a:rPr lang="fr-FR" sz="2200" b="1" i="1" dirty="0"/>
              <a:t>examens de 2ème ligne </a:t>
            </a:r>
            <a:r>
              <a:rPr lang="fr-FR" sz="2200" b="1" i="1" dirty="0" smtClean="0"/>
              <a:t>:</a:t>
            </a:r>
          </a:p>
          <a:p>
            <a:r>
              <a:rPr lang="fr-FR" dirty="0" smtClean="0"/>
              <a:t> </a:t>
            </a:r>
            <a:r>
              <a:rPr lang="fr-FR" sz="2200" dirty="0"/>
              <a:t>Examens des selles </a:t>
            </a:r>
            <a:r>
              <a:rPr lang="fr-FR" sz="2200" dirty="0" smtClean="0"/>
              <a:t>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fr-FR" sz="2000" dirty="0" smtClean="0">
                <a:solidFill>
                  <a:srgbClr val="C00000"/>
                </a:solidFill>
              </a:rPr>
              <a:t>Le </a:t>
            </a:r>
            <a:r>
              <a:rPr lang="fr-FR" sz="2000" dirty="0">
                <a:solidFill>
                  <a:srgbClr val="C00000"/>
                </a:solidFill>
              </a:rPr>
              <a:t>fécalogramme: </a:t>
            </a:r>
            <a:endParaRPr lang="fr-FR" sz="2000" dirty="0" smtClean="0">
              <a:solidFill>
                <a:srgbClr val="C00000"/>
              </a:solidFill>
            </a:endParaRPr>
          </a:p>
          <a:p>
            <a:pPr lvl="1">
              <a:buFont typeface="Wingdings" panose="05000000000000000000" pitchFamily="2" charset="2"/>
              <a:buChar char="v"/>
            </a:pPr>
            <a:r>
              <a:rPr lang="fr-FR" sz="1800" dirty="0" smtClean="0"/>
              <a:t>Le </a:t>
            </a:r>
            <a:r>
              <a:rPr lang="fr-FR" sz="1800" dirty="0"/>
              <a:t>poids moyen des selles </a:t>
            </a:r>
            <a:r>
              <a:rPr lang="fr-FR" sz="1800" dirty="0" smtClean="0"/>
              <a:t>( </a:t>
            </a:r>
            <a:r>
              <a:rPr lang="fr-FR" sz="1800" dirty="0"/>
              <a:t>200mg/24h). </a:t>
            </a:r>
            <a:endParaRPr lang="fr-FR" sz="1800" dirty="0" smtClean="0"/>
          </a:p>
          <a:p>
            <a:pPr lvl="1">
              <a:buFont typeface="Wingdings" panose="05000000000000000000" pitchFamily="2" charset="2"/>
              <a:buChar char="v"/>
            </a:pPr>
            <a:r>
              <a:rPr lang="fr-FR" sz="1800" b="1" dirty="0" smtClean="0"/>
              <a:t>Stéatorrhée</a:t>
            </a:r>
            <a:r>
              <a:rPr lang="fr-FR" sz="1800" dirty="0"/>
              <a:t>: taux de graisses fécales &gt; 6 g/24 </a:t>
            </a:r>
            <a:r>
              <a:rPr lang="fr-FR" sz="1800" dirty="0" smtClean="0"/>
              <a:t>heurs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fr-FR" sz="1600" dirty="0" smtClean="0"/>
              <a:t>entre </a:t>
            </a:r>
            <a:r>
              <a:rPr lang="fr-FR" sz="1600" dirty="0"/>
              <a:t>6 et 14 g/24 heurs peut se voir au cours d’une </a:t>
            </a:r>
            <a:r>
              <a:rPr lang="fr-FR" sz="1600" dirty="0">
                <a:solidFill>
                  <a:srgbClr val="C00000"/>
                </a:solidFill>
              </a:rPr>
              <a:t>diarrhée motrice </a:t>
            </a:r>
            <a:r>
              <a:rPr lang="fr-FR" sz="1600" dirty="0"/>
              <a:t>(stéatorrhée d’entrainement</a:t>
            </a:r>
            <a:r>
              <a:rPr lang="fr-FR" sz="1600" dirty="0" smtClean="0"/>
              <a:t>)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fr-FR" sz="1600" dirty="0" smtClean="0"/>
              <a:t>une </a:t>
            </a:r>
            <a:r>
              <a:rPr lang="fr-FR" sz="1600" dirty="0"/>
              <a:t>stéatorrhée &gt; 14g/24 heurs = </a:t>
            </a:r>
            <a:r>
              <a:rPr lang="fr-FR" sz="1600" dirty="0">
                <a:solidFill>
                  <a:srgbClr val="C00000"/>
                </a:solidFill>
              </a:rPr>
              <a:t>une </a:t>
            </a:r>
            <a:r>
              <a:rPr lang="fr-FR" sz="1600" dirty="0" smtClean="0">
                <a:solidFill>
                  <a:srgbClr val="C00000"/>
                </a:solidFill>
              </a:rPr>
              <a:t>malabsorption /</a:t>
            </a:r>
            <a:r>
              <a:rPr lang="fr-FR" sz="1600" dirty="0" err="1" smtClean="0">
                <a:solidFill>
                  <a:srgbClr val="C00000"/>
                </a:solidFill>
              </a:rPr>
              <a:t>maldigestion</a:t>
            </a:r>
            <a:r>
              <a:rPr lang="fr-FR" sz="1600" dirty="0" smtClean="0"/>
              <a:t>. élevée </a:t>
            </a:r>
            <a:r>
              <a:rPr lang="fr-FR" sz="1600" dirty="0"/>
              <a:t>dans les entéropathies exsudatives. </a:t>
            </a:r>
            <a:endParaRPr lang="fr-FR" sz="1600" dirty="0" smtClean="0"/>
          </a:p>
          <a:p>
            <a:pPr lvl="2">
              <a:buFont typeface="Wingdings" panose="05000000000000000000" pitchFamily="2" charset="2"/>
              <a:buChar char="v"/>
            </a:pPr>
            <a:endParaRPr lang="fr-FR" sz="1600" dirty="0" smtClean="0"/>
          </a:p>
          <a:p>
            <a:pPr lvl="1">
              <a:buFont typeface="Wingdings" panose="05000000000000000000" pitchFamily="2" charset="2"/>
              <a:buChar char="v"/>
            </a:pPr>
            <a:r>
              <a:rPr lang="fr-FR" sz="1800" b="1" dirty="0" smtClean="0"/>
              <a:t>Clairance de l’alpha-1- antitrypsine</a:t>
            </a:r>
            <a:r>
              <a:rPr lang="fr-FR" sz="1800" dirty="0" smtClean="0"/>
              <a:t>: </a:t>
            </a:r>
            <a:r>
              <a:rPr lang="fr-FR" sz="1800" dirty="0"/>
              <a:t>Un taux élevé suggère une </a:t>
            </a:r>
            <a:r>
              <a:rPr lang="fr-FR" sz="1800" dirty="0">
                <a:solidFill>
                  <a:srgbClr val="C00000"/>
                </a:solidFill>
              </a:rPr>
              <a:t>perte de protéines </a:t>
            </a:r>
            <a:r>
              <a:rPr lang="fr-FR" sz="1800" dirty="0"/>
              <a:t>intestinales due à des maladies comme la maladie de Crohn, la maladie cœliaque </a:t>
            </a:r>
            <a:r>
              <a:rPr lang="fr-FR" sz="1800" dirty="0" smtClean="0"/>
              <a:t>…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fr-FR" sz="1800" b="1" dirty="0" smtClean="0"/>
              <a:t>Le </a:t>
            </a:r>
            <a:r>
              <a:rPr lang="fr-FR" sz="1800" b="1" dirty="0"/>
              <a:t>taux d’</a:t>
            </a:r>
            <a:r>
              <a:rPr lang="fr-FR" sz="1800" b="1" dirty="0" err="1"/>
              <a:t>élastase</a:t>
            </a:r>
            <a:r>
              <a:rPr lang="fr-FR" sz="1800" b="1" dirty="0"/>
              <a:t> fécale</a:t>
            </a:r>
            <a:r>
              <a:rPr lang="fr-FR" sz="1800" dirty="0"/>
              <a:t>: bas est un bon marqueur d’une </a:t>
            </a:r>
            <a:r>
              <a:rPr lang="fr-FR" sz="1800" dirty="0">
                <a:solidFill>
                  <a:srgbClr val="C00000"/>
                </a:solidFill>
              </a:rPr>
              <a:t>insuffisance pancréatique exocrine. </a:t>
            </a:r>
            <a:endParaRPr lang="fr-FR" sz="1800" dirty="0" smtClean="0">
              <a:solidFill>
                <a:srgbClr val="C00000"/>
              </a:solidFill>
            </a:endParaRPr>
          </a:p>
          <a:p>
            <a:pPr lvl="1">
              <a:buFont typeface="Wingdings" panose="05000000000000000000" pitchFamily="2" charset="2"/>
              <a:buChar char="v"/>
            </a:pPr>
            <a:r>
              <a:rPr lang="fr-FR" sz="1800" b="1" dirty="0" smtClean="0"/>
              <a:t>Le </a:t>
            </a:r>
            <a:r>
              <a:rPr lang="fr-FR" sz="1800" b="1" dirty="0"/>
              <a:t>taux de la calprotectine fécale</a:t>
            </a:r>
            <a:r>
              <a:rPr lang="fr-FR" sz="1800" dirty="0"/>
              <a:t>: élevé est un bon marqueur d’une </a:t>
            </a:r>
            <a:r>
              <a:rPr lang="fr-FR" sz="1800" dirty="0">
                <a:solidFill>
                  <a:srgbClr val="C00000"/>
                </a:solidFill>
              </a:rPr>
              <a:t>inflammation colique</a:t>
            </a:r>
            <a:r>
              <a:rPr lang="fr-FR" sz="1800" dirty="0"/>
              <a:t> (et parfois iléale</a:t>
            </a:r>
            <a:r>
              <a:rPr lang="fr-FR" sz="1800" dirty="0" smtClean="0"/>
              <a:t>)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 yakhlef  smail               hmruc 2025</a:t>
            </a: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5E257-A840-410A-BEB9-3E0C6CFA1544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8226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23528" y="332656"/>
            <a:ext cx="8191822" cy="5844307"/>
          </a:xfrm>
        </p:spPr>
        <p:txBody>
          <a:bodyPr/>
          <a:lstStyle/>
          <a:p>
            <a:pPr lvl="1">
              <a:buFont typeface="Wingdings" panose="05000000000000000000" pitchFamily="2" charset="2"/>
              <a:buChar char="v"/>
            </a:pPr>
            <a:endParaRPr lang="fr-FR" sz="1800" b="1" dirty="0" smtClean="0"/>
          </a:p>
          <a:p>
            <a:pPr lvl="1">
              <a:buFont typeface="Wingdings" panose="05000000000000000000" pitchFamily="2" charset="2"/>
              <a:buChar char="v"/>
            </a:pPr>
            <a:endParaRPr lang="fr-FR" sz="1800" b="1" dirty="0"/>
          </a:p>
          <a:p>
            <a:pPr lvl="1">
              <a:buFont typeface="Wingdings" panose="05000000000000000000" pitchFamily="2" charset="2"/>
              <a:buChar char="v"/>
            </a:pPr>
            <a:endParaRPr lang="fr-FR" sz="1800" b="1" dirty="0" smtClean="0"/>
          </a:p>
          <a:p>
            <a:pPr lvl="1">
              <a:buFont typeface="Wingdings" panose="05000000000000000000" pitchFamily="2" charset="2"/>
              <a:buChar char="v"/>
            </a:pPr>
            <a:r>
              <a:rPr lang="fr-FR" sz="1800" b="1" dirty="0" smtClean="0"/>
              <a:t>Trou </a:t>
            </a:r>
            <a:r>
              <a:rPr lang="fr-FR" sz="1800" b="1" dirty="0"/>
              <a:t>osmotique </a:t>
            </a:r>
            <a:r>
              <a:rPr lang="fr-FR" sz="1800" dirty="0"/>
              <a:t>: en cas de suspicion d’une une diarrhée osmotique trou anionique </a:t>
            </a:r>
            <a:r>
              <a:rPr lang="fr-FR" sz="1800" dirty="0" smtClean="0"/>
              <a:t>   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fr-FR" sz="1800" i="1" dirty="0" smtClean="0">
                <a:solidFill>
                  <a:srgbClr val="00B050"/>
                </a:solidFill>
              </a:rPr>
              <a:t>Trou </a:t>
            </a:r>
            <a:r>
              <a:rPr lang="fr-FR" sz="1800" i="1" dirty="0">
                <a:solidFill>
                  <a:srgbClr val="00B050"/>
                </a:solidFill>
              </a:rPr>
              <a:t>osmotique élevé (&gt; 100)</a:t>
            </a:r>
            <a:r>
              <a:rPr lang="fr-FR" sz="1800" dirty="0"/>
              <a:t/>
            </a:r>
            <a:br>
              <a:rPr lang="fr-FR" sz="1800" dirty="0"/>
            </a:br>
            <a:r>
              <a:rPr lang="fr-FR" sz="1800" dirty="0"/>
              <a:t>→ présence de solutés non absorbés</a:t>
            </a:r>
            <a:br>
              <a:rPr lang="fr-FR" sz="1800" dirty="0"/>
            </a:br>
            <a:r>
              <a:rPr lang="fr-FR" sz="1800" dirty="0"/>
              <a:t>→ diarrhée </a:t>
            </a:r>
            <a:r>
              <a:rPr lang="fr-FR" sz="1800" b="1" dirty="0" smtClean="0"/>
              <a:t>osmotique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fr-FR" sz="1800" dirty="0" smtClean="0">
                <a:solidFill>
                  <a:srgbClr val="00B050"/>
                </a:solidFill>
              </a:rPr>
              <a:t>Trou </a:t>
            </a:r>
            <a:r>
              <a:rPr lang="fr-FR" sz="1800" dirty="0">
                <a:solidFill>
                  <a:srgbClr val="00B050"/>
                </a:solidFill>
              </a:rPr>
              <a:t>osmotique bas (&lt; 50)</a:t>
            </a:r>
            <a:r>
              <a:rPr lang="fr-FR" sz="1800" dirty="0"/>
              <a:t/>
            </a:r>
            <a:br>
              <a:rPr lang="fr-FR" sz="1800" dirty="0"/>
            </a:br>
            <a:r>
              <a:rPr lang="fr-FR" sz="1800" dirty="0"/>
              <a:t>→ diarrhée due aux électrolytes</a:t>
            </a:r>
            <a:br>
              <a:rPr lang="fr-FR" sz="1800" dirty="0"/>
            </a:br>
            <a:r>
              <a:rPr lang="fr-FR" sz="1800" dirty="0"/>
              <a:t>→ diarrhée </a:t>
            </a:r>
            <a:r>
              <a:rPr lang="fr-FR" sz="1800" b="1" dirty="0"/>
              <a:t>sécrétoire</a:t>
            </a:r>
            <a:endParaRPr lang="fr-FR" sz="1800" dirty="0" smtClean="0"/>
          </a:p>
          <a:p>
            <a:pPr lvl="1">
              <a:buFont typeface="Wingdings" panose="05000000000000000000" pitchFamily="2" charset="2"/>
              <a:buChar char="v"/>
            </a:pPr>
            <a:endParaRPr lang="fr-FR" sz="1800" dirty="0"/>
          </a:p>
          <a:p>
            <a:pPr lvl="1">
              <a:buFont typeface="Wingdings" panose="05000000000000000000" pitchFamily="2" charset="2"/>
              <a:buChar char="v"/>
            </a:pPr>
            <a:r>
              <a:rPr lang="fr-FR" sz="1800" dirty="0"/>
              <a:t>R</a:t>
            </a:r>
            <a:r>
              <a:rPr lang="fr-FR" sz="1800" b="1" dirty="0"/>
              <a:t>echerche de laxatifs dans les selles: </a:t>
            </a:r>
            <a:r>
              <a:rPr lang="fr-FR" sz="1800" dirty="0"/>
              <a:t>le prise cachée de laxatifs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fr-FR" sz="1800" b="1" dirty="0"/>
              <a:t>La mesure de la PH fécal: </a:t>
            </a:r>
            <a:r>
              <a:rPr lang="fr-FR" sz="1800" dirty="0"/>
              <a:t>acide = malabsorption des hydrates de </a:t>
            </a:r>
            <a:r>
              <a:rPr lang="fr-FR" sz="1800" dirty="0" smtClean="0"/>
              <a:t>carbone</a:t>
            </a:r>
          </a:p>
          <a:p>
            <a:pPr lvl="1">
              <a:buFont typeface="Wingdings" panose="05000000000000000000" pitchFamily="2" charset="2"/>
              <a:buChar char="v"/>
            </a:pPr>
            <a:endParaRPr lang="fr-FR" sz="1800" dirty="0"/>
          </a:p>
          <a:p>
            <a:pPr lvl="1">
              <a:buFont typeface="Wingdings" panose="05000000000000000000" pitchFamily="2" charset="2"/>
              <a:buChar char="v"/>
            </a:pPr>
            <a:r>
              <a:rPr lang="fr-FR" sz="1800" b="1" dirty="0"/>
              <a:t>Le test au rouge carmin: </a:t>
            </a:r>
            <a:r>
              <a:rPr lang="fr-FR" sz="1800" dirty="0"/>
              <a:t>qui mesure la vitesse du transit </a:t>
            </a:r>
            <a:r>
              <a:rPr lang="fr-FR" sz="1800" dirty="0" err="1"/>
              <a:t>oro</a:t>
            </a:r>
            <a:r>
              <a:rPr lang="fr-FR" sz="1800" dirty="0"/>
              <a:t>-anal.</a:t>
            </a:r>
          </a:p>
          <a:p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 yakhlef  smail               hmruc 2025</a:t>
            </a: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5E257-A840-410A-BEB9-3E0C6CFA1544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40141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260648"/>
            <a:ext cx="8712968" cy="659735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fr-FR" sz="2000" dirty="0">
                <a:solidFill>
                  <a:srgbClr val="C00000"/>
                </a:solidFill>
              </a:rPr>
              <a:t>Tests dynamiques ou fonctionnels </a:t>
            </a:r>
            <a:r>
              <a:rPr lang="fr-FR" sz="2000" dirty="0" smtClean="0">
                <a:solidFill>
                  <a:srgbClr val="C00000"/>
                </a:solidFill>
              </a:rPr>
              <a:t>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fr-FR" sz="1800" b="1" dirty="0" smtClean="0"/>
              <a:t>Test </a:t>
            </a:r>
            <a:r>
              <a:rPr lang="fr-FR" sz="1800" b="1" dirty="0"/>
              <a:t>au D-xylose </a:t>
            </a:r>
            <a:r>
              <a:rPr lang="fr-FR" sz="1800" b="1" dirty="0" smtClean="0"/>
              <a:t>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1800" dirty="0" smtClean="0"/>
              <a:t>Test </a:t>
            </a:r>
            <a:r>
              <a:rPr lang="fr-FR" sz="1800" dirty="0"/>
              <a:t>global </a:t>
            </a:r>
            <a:r>
              <a:rPr lang="fr-FR" sz="1800" dirty="0" smtClean="0"/>
              <a:t>d’absorption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1800" dirty="0" smtClean="0"/>
              <a:t>Il </a:t>
            </a:r>
            <a:r>
              <a:rPr lang="fr-FR" sz="1800" dirty="0"/>
              <a:t>existe un faux positif dans la pullulation bactérienne chronique du </a:t>
            </a:r>
            <a:r>
              <a:rPr lang="fr-FR" sz="1800" dirty="0" smtClean="0"/>
              <a:t>grêle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fr-FR" sz="1800" b="1" dirty="0" smtClean="0"/>
              <a:t>Test </a:t>
            </a:r>
            <a:r>
              <a:rPr lang="fr-FR" sz="1800" b="1" dirty="0"/>
              <a:t>de Schilling </a:t>
            </a:r>
            <a:r>
              <a:rPr lang="fr-FR" sz="1800" dirty="0"/>
              <a:t>avec facteur intrinsèque : Il mesure </a:t>
            </a:r>
            <a:r>
              <a:rPr lang="fr-FR" sz="1800" dirty="0">
                <a:solidFill>
                  <a:srgbClr val="C00000"/>
                </a:solidFill>
              </a:rPr>
              <a:t>l’absorption de la vitamine B12 </a:t>
            </a:r>
            <a:r>
              <a:rPr lang="fr-FR" sz="1800" dirty="0"/>
              <a:t>au niveau de </a:t>
            </a:r>
            <a:r>
              <a:rPr lang="fr-FR" sz="1800" dirty="0" smtClean="0"/>
              <a:t>l’iléon </a:t>
            </a:r>
            <a:r>
              <a:rPr lang="fr-FR" sz="1800" dirty="0"/>
              <a:t>terminal.( rarement fait) </a:t>
            </a:r>
            <a:endParaRPr lang="fr-FR" sz="1800" dirty="0" smtClean="0"/>
          </a:p>
          <a:p>
            <a:pPr>
              <a:buFont typeface="Wingdings" panose="05000000000000000000" pitchFamily="2" charset="2"/>
              <a:buChar char="q"/>
            </a:pPr>
            <a:r>
              <a:rPr lang="fr-FR" sz="2000" dirty="0">
                <a:solidFill>
                  <a:srgbClr val="C00000"/>
                </a:solidFill>
              </a:rPr>
              <a:t>Autres examens </a:t>
            </a:r>
            <a:r>
              <a:rPr lang="fr-FR" sz="2000" dirty="0" smtClean="0">
                <a:solidFill>
                  <a:srgbClr val="C00000"/>
                </a:solidFill>
              </a:rPr>
              <a:t>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1800" b="1" dirty="0" smtClean="0"/>
              <a:t>Transit </a:t>
            </a:r>
            <a:r>
              <a:rPr lang="fr-FR" sz="1800" b="1" dirty="0"/>
              <a:t>de grêle: </a:t>
            </a:r>
            <a:r>
              <a:rPr lang="fr-FR" sz="1800" dirty="0" smtClean="0"/>
              <a:t>abandonné dans la pratique clinique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1800" b="1" dirty="0" smtClean="0"/>
              <a:t> </a:t>
            </a:r>
            <a:r>
              <a:rPr lang="fr-FR" sz="1800" b="1" dirty="0"/>
              <a:t>L’IRM abdominale </a:t>
            </a:r>
            <a:r>
              <a:rPr lang="fr-FR" sz="1800" dirty="0"/>
              <a:t>: signe de pancréatite chronique ou de tumeur (adénocarcinome ou tumeur endocrine</a:t>
            </a:r>
            <a:r>
              <a:rPr lang="fr-FR" sz="1800" dirty="0" smtClean="0"/>
              <a:t>).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1800" b="1" dirty="0" err="1" smtClean="0"/>
              <a:t>Entéroscanner</a:t>
            </a:r>
            <a:r>
              <a:rPr lang="fr-FR" sz="1800" b="1" dirty="0"/>
              <a:t>, vidéo-capsule endoscopique</a:t>
            </a:r>
            <a:r>
              <a:rPr lang="fr-FR" sz="1800" dirty="0"/>
              <a:t> du grêle et </a:t>
            </a:r>
            <a:r>
              <a:rPr lang="fr-FR" sz="1800" b="1" dirty="0"/>
              <a:t>l’</a:t>
            </a:r>
            <a:r>
              <a:rPr lang="fr-FR" sz="1800" b="1" dirty="0" err="1"/>
              <a:t>entéroscopie</a:t>
            </a:r>
            <a:r>
              <a:rPr lang="fr-FR" sz="1800" dirty="0"/>
              <a:t> à double ballon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 yakhlef  smail               hmruc 2025</a:t>
            </a: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5E257-A840-410A-BEB9-3E0C6CFA1544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20056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28650" y="476672"/>
            <a:ext cx="7886700" cy="570029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endParaRPr lang="fr-FR" sz="1800" b="1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fr-FR" sz="1800" b="1" dirty="0" smtClean="0"/>
              <a:t>Dosages </a:t>
            </a:r>
            <a:r>
              <a:rPr lang="fr-FR" sz="1800" b="1" dirty="0"/>
              <a:t>Hormonaux </a:t>
            </a:r>
            <a:r>
              <a:rPr lang="fr-FR" sz="1800" b="1" dirty="0" smtClean="0"/>
              <a:t>:</a:t>
            </a:r>
            <a:r>
              <a:rPr lang="fr-FR" sz="1800" dirty="0" smtClean="0"/>
              <a:t>en </a:t>
            </a:r>
            <a:r>
              <a:rPr lang="fr-FR" sz="1800" dirty="0"/>
              <a:t>cas de négativité du bilan digestif ou lorsqu’il existe une orientation vers ce type de pathologie</a:t>
            </a:r>
            <a:r>
              <a:rPr lang="fr-FR" sz="1800" dirty="0" smtClean="0"/>
              <a:t>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1600" dirty="0" smtClean="0"/>
              <a:t>La </a:t>
            </a:r>
            <a:r>
              <a:rPr lang="fr-FR" sz="1600" dirty="0" err="1"/>
              <a:t>gastrinémie</a:t>
            </a:r>
            <a:r>
              <a:rPr lang="fr-FR" sz="1600" dirty="0"/>
              <a:t> = syndrome de </a:t>
            </a:r>
            <a:r>
              <a:rPr lang="fr-FR" sz="1600" dirty="0" err="1"/>
              <a:t>Zollinger</a:t>
            </a:r>
            <a:r>
              <a:rPr lang="fr-FR" sz="1600" dirty="0"/>
              <a:t> Ellison</a:t>
            </a:r>
            <a:r>
              <a:rPr lang="fr-FR" sz="1600" dirty="0" smtClean="0"/>
              <a:t>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1600" dirty="0" smtClean="0"/>
              <a:t>La </a:t>
            </a:r>
            <a:r>
              <a:rPr lang="fr-FR" sz="1600" dirty="0"/>
              <a:t>sérotonine, 5 HIAA urinaire = syndrome carcinoïde</a:t>
            </a:r>
            <a:r>
              <a:rPr lang="fr-FR" sz="1600" dirty="0" smtClean="0"/>
              <a:t>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1600" dirty="0" smtClean="0"/>
              <a:t>La </a:t>
            </a:r>
            <a:r>
              <a:rPr lang="fr-FR" sz="1600" dirty="0" err="1"/>
              <a:t>thyrocalcitonine</a:t>
            </a:r>
            <a:r>
              <a:rPr lang="fr-FR" sz="1600" dirty="0"/>
              <a:t> = cancer médullaire de la </a:t>
            </a:r>
            <a:r>
              <a:rPr lang="fr-FR" sz="1600" dirty="0" smtClean="0"/>
              <a:t>thyroïde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1600" dirty="0" smtClean="0"/>
              <a:t>Le </a:t>
            </a:r>
            <a:r>
              <a:rPr lang="fr-FR" sz="1600" dirty="0"/>
              <a:t>VIP = </a:t>
            </a:r>
            <a:r>
              <a:rPr lang="fr-FR" sz="1600" dirty="0" err="1"/>
              <a:t>VIPome</a:t>
            </a:r>
            <a:r>
              <a:rPr lang="fr-FR" sz="1600" dirty="0"/>
              <a:t>.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 yakhlef  smail               hmruc 2025</a:t>
            </a: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5E257-A840-410A-BEB9-3E0C6CFA1544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46813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260648"/>
            <a:ext cx="9036496" cy="6597352"/>
          </a:xfrm>
        </p:spPr>
        <p:txBody>
          <a:bodyPr lIns="360000"/>
          <a:lstStyle/>
          <a:p>
            <a:pPr marL="571500" indent="-571500">
              <a:buFont typeface="+mj-lt"/>
              <a:buAutoNum type="romanUcPeriod" startAt="4"/>
            </a:pPr>
            <a:r>
              <a:rPr lang="fr-FR" b="1" dirty="0">
                <a:solidFill>
                  <a:srgbClr val="FF0000"/>
                </a:solidFill>
              </a:rPr>
              <a:t>DIAGNOSTIC DIFFERENCIEL: </a:t>
            </a:r>
            <a:endParaRPr lang="fr-FR" b="1" dirty="0" smtClean="0">
              <a:solidFill>
                <a:srgbClr val="FF0000"/>
              </a:solidFill>
            </a:endParaRPr>
          </a:p>
          <a:p>
            <a:endParaRPr lang="fr-FR" sz="2600" b="1" dirty="0" smtClean="0">
              <a:solidFill>
                <a:srgbClr val="FF0000"/>
              </a:solidFill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fr-FR" sz="2000" dirty="0" smtClean="0">
                <a:solidFill>
                  <a:srgbClr val="0070C0"/>
                </a:solidFill>
              </a:rPr>
              <a:t>1-La </a:t>
            </a:r>
            <a:r>
              <a:rPr lang="fr-FR" sz="2000" dirty="0">
                <a:solidFill>
                  <a:srgbClr val="0070C0"/>
                </a:solidFill>
              </a:rPr>
              <a:t>fausse diarrhée du constipé : </a:t>
            </a:r>
            <a:r>
              <a:rPr lang="fr-FR" sz="2000" dirty="0"/>
              <a:t>dans le cadre de TFI. </a:t>
            </a:r>
            <a:endParaRPr lang="fr-FR" sz="2000" dirty="0" smtClean="0"/>
          </a:p>
          <a:p>
            <a:pPr>
              <a:buFont typeface="Wingdings" panose="05000000000000000000" pitchFamily="2" charset="2"/>
              <a:buChar char="q"/>
            </a:pPr>
            <a:endParaRPr lang="fr-FR" sz="2000" dirty="0" smtClean="0"/>
          </a:p>
          <a:p>
            <a:pPr>
              <a:buFont typeface="Wingdings" panose="05000000000000000000" pitchFamily="2" charset="2"/>
              <a:buChar char="q"/>
            </a:pPr>
            <a:r>
              <a:rPr lang="fr-FR" sz="2000" dirty="0" smtClean="0">
                <a:solidFill>
                  <a:srgbClr val="0070C0"/>
                </a:solidFill>
              </a:rPr>
              <a:t>2-L’incontinence </a:t>
            </a:r>
            <a:r>
              <a:rPr lang="fr-FR" sz="2000" dirty="0">
                <a:solidFill>
                  <a:srgbClr val="0070C0"/>
                </a:solidFill>
              </a:rPr>
              <a:t>anale (très fréquente): </a:t>
            </a:r>
            <a:r>
              <a:rPr lang="fr-FR" sz="2000" dirty="0"/>
              <a:t>évoquée à l’interrogatoire et au TR</a:t>
            </a:r>
            <a:r>
              <a:rPr lang="fr-FR" sz="2000" dirty="0" smtClean="0"/>
              <a:t>.</a:t>
            </a:r>
          </a:p>
          <a:p>
            <a:pPr marL="0" indent="0">
              <a:buNone/>
            </a:pPr>
            <a:r>
              <a:rPr lang="fr-FR" sz="2000" dirty="0" smtClean="0"/>
              <a:t>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fr-FR" sz="2000" dirty="0" smtClean="0">
                <a:solidFill>
                  <a:srgbClr val="0070C0"/>
                </a:solidFill>
              </a:rPr>
              <a:t>3-Le </a:t>
            </a:r>
            <a:r>
              <a:rPr lang="fr-FR" sz="2000" dirty="0">
                <a:solidFill>
                  <a:srgbClr val="0070C0"/>
                </a:solidFill>
              </a:rPr>
              <a:t>syndrome rectal : </a:t>
            </a:r>
            <a:r>
              <a:rPr lang="fr-FR" sz="2000" dirty="0"/>
              <a:t>il associe: </a:t>
            </a:r>
            <a:endParaRPr lang="fr-FR" sz="2000" dirty="0" smtClean="0"/>
          </a:p>
          <a:p>
            <a:pPr>
              <a:buFont typeface="Wingdings" panose="05000000000000000000" pitchFamily="2" charset="2"/>
              <a:buChar char="q"/>
            </a:pPr>
            <a:endParaRPr lang="fr-FR" sz="2000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1800" dirty="0" smtClean="0"/>
              <a:t>d’écoulements </a:t>
            </a:r>
            <a:r>
              <a:rPr lang="fr-FR" sz="1800" dirty="0"/>
              <a:t>anormaux : glaires ou sécrétions muco-purulentes ; </a:t>
            </a:r>
            <a:endParaRPr lang="fr-FR" sz="1800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1800" dirty="0" smtClean="0"/>
              <a:t>de </a:t>
            </a:r>
            <a:r>
              <a:rPr lang="fr-FR" sz="1800" dirty="0"/>
              <a:t>faux besoins : sensation de pesanteur, de corps étranger intra-rectal </a:t>
            </a:r>
            <a:r>
              <a:rPr lang="fr-FR" sz="1800" dirty="0" smtClean="0"/>
              <a:t>;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1800" dirty="0" smtClean="0"/>
              <a:t> </a:t>
            </a:r>
            <a:r>
              <a:rPr lang="fr-FR" sz="1800" dirty="0"/>
              <a:t>de manifestations douloureuses: ténesmes et épreintes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 yakhlef  smail               hmruc 2025</a:t>
            </a: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5E257-A840-410A-BEB9-3E0C6CFA1544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4295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7504" y="116632"/>
            <a:ext cx="9036496" cy="6741368"/>
          </a:xfrm>
        </p:spPr>
        <p:txBody>
          <a:bodyPr lIns="360000"/>
          <a:lstStyle/>
          <a:p>
            <a:pPr marL="571500" indent="-571500">
              <a:buFont typeface="+mj-lt"/>
              <a:buAutoNum type="romanUcPeriod" startAt="5"/>
            </a:pPr>
            <a:r>
              <a:rPr lang="fr-FR" sz="2600" b="1" dirty="0" smtClean="0">
                <a:solidFill>
                  <a:srgbClr val="FF0000"/>
                </a:solidFill>
              </a:rPr>
              <a:t>LES ETIOLOGIES:</a:t>
            </a:r>
          </a:p>
          <a:p>
            <a:pPr marL="0" indent="0">
              <a:buNone/>
            </a:pPr>
            <a:r>
              <a:rPr lang="fr-FR" dirty="0" smtClean="0"/>
              <a:t> </a:t>
            </a:r>
            <a:r>
              <a:rPr lang="fr-FR" sz="2400" dirty="0">
                <a:solidFill>
                  <a:srgbClr val="0070C0"/>
                </a:solidFill>
              </a:rPr>
              <a:t>A-Diarrhée chronique avec syndrome de malabsorption </a:t>
            </a:r>
            <a:r>
              <a:rPr lang="fr-FR" sz="2400" dirty="0" smtClean="0">
                <a:solidFill>
                  <a:srgbClr val="0070C0"/>
                </a:solidFill>
              </a:rPr>
              <a:t>:</a:t>
            </a:r>
          </a:p>
          <a:p>
            <a:pPr>
              <a:buFont typeface="Wingdings" panose="05000000000000000000" pitchFamily="2" charset="2"/>
              <a:buChar char="q"/>
            </a:pPr>
            <a:endParaRPr lang="fr-FR" sz="2400" dirty="0" smtClean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fr-FR" sz="1800" dirty="0">
                <a:solidFill>
                  <a:srgbClr val="C00000"/>
                </a:solidFill>
              </a:rPr>
              <a:t>La malabsorption: </a:t>
            </a:r>
            <a:r>
              <a:rPr lang="fr-FR" sz="1800" dirty="0"/>
              <a:t>est liée à une atteinte des fonctions digestives, </a:t>
            </a:r>
            <a:endParaRPr lang="fr-FR" sz="1800" dirty="0" smtClean="0"/>
          </a:p>
          <a:p>
            <a:pPr lvl="1">
              <a:buFont typeface="Wingdings" panose="05000000000000000000" pitchFamily="2" charset="2"/>
              <a:buChar char="v"/>
            </a:pPr>
            <a:r>
              <a:rPr lang="fr-FR" sz="1800" dirty="0" smtClean="0"/>
              <a:t>donc </a:t>
            </a:r>
            <a:r>
              <a:rPr lang="fr-FR" sz="1800" dirty="0"/>
              <a:t>à une maladie soit du </a:t>
            </a:r>
            <a:r>
              <a:rPr lang="fr-FR" sz="1800" b="1" dirty="0"/>
              <a:t>tractus biliopancréatique</a:t>
            </a:r>
            <a:r>
              <a:rPr lang="fr-FR" sz="1800" dirty="0"/>
              <a:t>, soit de l’</a:t>
            </a:r>
            <a:r>
              <a:rPr lang="fr-FR" sz="1800" b="1" dirty="0"/>
              <a:t>intestin grêle</a:t>
            </a:r>
            <a:r>
              <a:rPr lang="fr-FR" sz="1800" dirty="0"/>
              <a:t>. </a:t>
            </a:r>
            <a:endParaRPr lang="fr-FR" sz="1800" dirty="0" smtClean="0"/>
          </a:p>
          <a:p>
            <a:pPr lvl="1">
              <a:buFont typeface="Wingdings" panose="05000000000000000000" pitchFamily="2" charset="2"/>
              <a:buChar char="v"/>
            </a:pPr>
            <a:r>
              <a:rPr lang="fr-FR" sz="1800" dirty="0" smtClean="0"/>
              <a:t>Une </a:t>
            </a:r>
            <a:r>
              <a:rPr lang="fr-FR" sz="1800" b="1" i="1" dirty="0"/>
              <a:t>diarrhée d’origine colique ne donne donc pas de malabsorption</a:t>
            </a:r>
            <a:r>
              <a:rPr lang="fr-FR" sz="1800" dirty="0" smtClean="0"/>
              <a:t>.</a:t>
            </a:r>
          </a:p>
          <a:p>
            <a:pPr marL="0" indent="0">
              <a:buNone/>
            </a:pPr>
            <a:endParaRPr lang="fr-FR" sz="1800" dirty="0"/>
          </a:p>
          <a:p>
            <a:pPr marL="0" indent="0" fontAlgn="base">
              <a:buNone/>
            </a:pPr>
            <a:r>
              <a:rPr lang="fr-FR" sz="1800" b="1" dirty="0" smtClean="0">
                <a:solidFill>
                  <a:srgbClr val="C00000"/>
                </a:solidFill>
              </a:rPr>
              <a:t>Les </a:t>
            </a:r>
            <a:r>
              <a:rPr lang="fr-FR" sz="1800" b="1" dirty="0">
                <a:solidFill>
                  <a:srgbClr val="C00000"/>
                </a:solidFill>
              </a:rPr>
              <a:t>causes peuvent être </a:t>
            </a:r>
            <a:r>
              <a:rPr lang="fr-FR" sz="1800" b="1" dirty="0" smtClean="0">
                <a:solidFill>
                  <a:srgbClr val="C00000"/>
                </a:solidFill>
              </a:rPr>
              <a:t>:</a:t>
            </a:r>
          </a:p>
          <a:p>
            <a:pPr marL="0" indent="0" fontAlgn="base">
              <a:buNone/>
            </a:pPr>
            <a:endParaRPr lang="fr-FR" sz="1800" b="1" dirty="0"/>
          </a:p>
          <a:p>
            <a:pPr marL="342900" indent="-342900" fontAlgn="base">
              <a:buFont typeface="+mj-lt"/>
              <a:buAutoNum type="arabicPeriod"/>
            </a:pPr>
            <a:r>
              <a:rPr lang="fr-FR" sz="1800" dirty="0">
                <a:solidFill>
                  <a:srgbClr val="00B050"/>
                </a:solidFill>
              </a:rPr>
              <a:t> </a:t>
            </a:r>
            <a:r>
              <a:rPr lang="fr-FR" sz="1800" b="1" dirty="0" smtClean="0">
                <a:solidFill>
                  <a:srgbClr val="00B050"/>
                </a:solidFill>
              </a:rPr>
              <a:t>pré-</a:t>
            </a:r>
            <a:r>
              <a:rPr lang="fr-FR" sz="1800" b="1" dirty="0" err="1" smtClean="0">
                <a:solidFill>
                  <a:srgbClr val="00B050"/>
                </a:solidFill>
              </a:rPr>
              <a:t>entérocytaires</a:t>
            </a:r>
            <a:r>
              <a:rPr lang="fr-FR" sz="1800" dirty="0" smtClean="0">
                <a:solidFill>
                  <a:srgbClr val="00B050"/>
                </a:solidFill>
              </a:rPr>
              <a:t>:</a:t>
            </a:r>
          </a:p>
          <a:p>
            <a:pPr fontAlgn="base"/>
            <a:r>
              <a:rPr lang="fr-FR" sz="1800" dirty="0" smtClean="0"/>
              <a:t>causes </a:t>
            </a:r>
            <a:r>
              <a:rPr lang="fr-FR" sz="1800" dirty="0" err="1"/>
              <a:t>intraluminales</a:t>
            </a:r>
            <a:r>
              <a:rPr lang="fr-FR" sz="1800" dirty="0"/>
              <a:t> = </a:t>
            </a:r>
            <a:r>
              <a:rPr lang="fr-FR" sz="1800" b="1" dirty="0"/>
              <a:t>maldigestion</a:t>
            </a:r>
            <a:r>
              <a:rPr lang="fr-FR" sz="1800" dirty="0"/>
              <a:t> : par diminution des sucs pancréatiques et/ou des sels biliaires. Les causes </a:t>
            </a:r>
            <a:r>
              <a:rPr lang="fr-FR" sz="1800" dirty="0" smtClean="0"/>
              <a:t>sont:</a:t>
            </a:r>
          </a:p>
          <a:p>
            <a:pPr marL="0" indent="0" fontAlgn="base">
              <a:buNone/>
            </a:pPr>
            <a:endParaRPr lang="fr-FR" sz="1800" dirty="0" smtClean="0"/>
          </a:p>
          <a:p>
            <a:pPr lvl="1" fontAlgn="base">
              <a:buFont typeface="Wingdings" panose="05000000000000000000" pitchFamily="2" charset="2"/>
              <a:buChar char="q"/>
            </a:pPr>
            <a:r>
              <a:rPr lang="fr-FR" sz="1600" dirty="0" smtClean="0"/>
              <a:t> </a:t>
            </a:r>
            <a:r>
              <a:rPr lang="fr-FR" sz="1600" dirty="0"/>
              <a:t>les pathologies </a:t>
            </a:r>
            <a:r>
              <a:rPr lang="fr-FR" sz="1600" dirty="0" err="1"/>
              <a:t>biliopancréatiques</a:t>
            </a:r>
            <a:r>
              <a:rPr lang="fr-FR" sz="1600" dirty="0"/>
              <a:t> (ex. : pancréatite chronique, cholestase chronique). </a:t>
            </a:r>
            <a:endParaRPr lang="fr-FR" sz="1600" dirty="0" smtClean="0"/>
          </a:p>
          <a:p>
            <a:pPr lvl="1" fontAlgn="base">
              <a:buFont typeface="Wingdings" panose="05000000000000000000" pitchFamily="2" charset="2"/>
              <a:buChar char="q"/>
            </a:pPr>
            <a:r>
              <a:rPr lang="fr-FR" sz="1600" dirty="0" smtClean="0"/>
              <a:t>L’insuffisance </a:t>
            </a:r>
            <a:r>
              <a:rPr lang="fr-FR" sz="1600" dirty="0"/>
              <a:t>en sels biliaires (cholestase) affecte principalement l’absorption des substances liposolubles : lipides, vitamines A, D, E, K ;</a:t>
            </a:r>
          </a:p>
          <a:p>
            <a:pPr marL="0" indent="0">
              <a:buNone/>
            </a:pPr>
            <a:endParaRPr lang="fr-FR" sz="1800" dirty="0" smtClean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fr-FR" sz="2400" dirty="0" smtClean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fr-FR" sz="2400" dirty="0" smtClean="0">
              <a:solidFill>
                <a:srgbClr val="0070C0"/>
              </a:solidFill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 yakhlef  smail               hmruc 2025</a:t>
            </a: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5E257-A840-410A-BEB9-3E0C6CFA1544}" type="slidenum">
              <a:rPr lang="fr-FR" smtClean="0"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93271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7504" y="188640"/>
            <a:ext cx="9036496" cy="6532835"/>
          </a:xfrm>
        </p:spPr>
        <p:txBody>
          <a:bodyPr lIns="360000">
            <a:normAutofit/>
          </a:bodyPr>
          <a:lstStyle/>
          <a:p>
            <a:pPr fontAlgn="base"/>
            <a:endParaRPr lang="fr-FR" sz="1800" dirty="0" smtClean="0">
              <a:solidFill>
                <a:srgbClr val="C00000"/>
              </a:solidFill>
            </a:endParaRPr>
          </a:p>
          <a:p>
            <a:pPr fontAlgn="base"/>
            <a:endParaRPr lang="fr-FR" sz="1800" dirty="0">
              <a:solidFill>
                <a:srgbClr val="C00000"/>
              </a:solidFill>
            </a:endParaRPr>
          </a:p>
          <a:p>
            <a:pPr marL="342900" indent="-342900" fontAlgn="base">
              <a:buFont typeface="+mj-lt"/>
              <a:buAutoNum type="arabicPeriod" startAt="2"/>
            </a:pPr>
            <a:r>
              <a:rPr lang="fr-FR" sz="1800" dirty="0">
                <a:solidFill>
                  <a:srgbClr val="00B050"/>
                </a:solidFill>
              </a:rPr>
              <a:t> </a:t>
            </a:r>
            <a:r>
              <a:rPr lang="fr-FR" sz="1800" b="1" dirty="0" smtClean="0">
                <a:solidFill>
                  <a:srgbClr val="00B050"/>
                </a:solidFill>
              </a:rPr>
              <a:t>Entérocytaires</a:t>
            </a:r>
            <a:r>
              <a:rPr lang="fr-FR" sz="1800" dirty="0" smtClean="0">
                <a:solidFill>
                  <a:srgbClr val="00B050"/>
                </a:solidFill>
              </a:rPr>
              <a:t>: </a:t>
            </a:r>
          </a:p>
          <a:p>
            <a:pPr fontAlgn="base"/>
            <a:r>
              <a:rPr lang="fr-FR" sz="1800" dirty="0" smtClean="0"/>
              <a:t>causes </a:t>
            </a:r>
            <a:r>
              <a:rPr lang="fr-FR" sz="1800" dirty="0"/>
              <a:t>pariétales = </a:t>
            </a:r>
            <a:r>
              <a:rPr lang="fr-FR" sz="1800" b="1" dirty="0"/>
              <a:t>malabsorption</a:t>
            </a:r>
            <a:r>
              <a:rPr lang="fr-FR" sz="1800" dirty="0"/>
              <a:t> : l’épithélium intestinal n’assure plus ses fonctions d’absorption. Ceci peut être dû à </a:t>
            </a:r>
            <a:r>
              <a:rPr lang="fr-FR" sz="1800" dirty="0" smtClean="0"/>
              <a:t>:</a:t>
            </a:r>
          </a:p>
          <a:p>
            <a:pPr fontAlgn="base"/>
            <a:endParaRPr lang="fr-FR" sz="1800" dirty="0"/>
          </a:p>
          <a:p>
            <a:pPr lvl="1" fontAlgn="base">
              <a:buFont typeface="Wingdings" panose="05000000000000000000" pitchFamily="2" charset="2"/>
              <a:buChar char="q"/>
            </a:pPr>
            <a:r>
              <a:rPr lang="fr-FR" sz="1600" dirty="0"/>
              <a:t>• une insuffisance qualitative des entérocytes (ex. : atrophie villositaire),</a:t>
            </a:r>
          </a:p>
          <a:p>
            <a:pPr lvl="1" fontAlgn="base">
              <a:buFont typeface="Wingdings" panose="05000000000000000000" pitchFamily="2" charset="2"/>
              <a:buChar char="q"/>
            </a:pPr>
            <a:r>
              <a:rPr lang="fr-FR" sz="1600" dirty="0"/>
              <a:t>• une insuffisance quantitative des entérocytes (ex. : résection chirurgicale de grêle) ;</a:t>
            </a:r>
          </a:p>
          <a:p>
            <a:pPr marL="342900" indent="-342900" fontAlgn="base">
              <a:buFont typeface="+mj-lt"/>
              <a:buAutoNum type="arabicPeriod" startAt="3"/>
            </a:pPr>
            <a:r>
              <a:rPr lang="fr-FR" sz="1800" b="1" dirty="0" smtClean="0">
                <a:solidFill>
                  <a:srgbClr val="00B050"/>
                </a:solidFill>
              </a:rPr>
              <a:t>post-</a:t>
            </a:r>
            <a:r>
              <a:rPr lang="fr-FR" sz="1800" b="1" dirty="0" err="1" smtClean="0">
                <a:solidFill>
                  <a:srgbClr val="00B050"/>
                </a:solidFill>
              </a:rPr>
              <a:t>entérocytaires</a:t>
            </a:r>
            <a:r>
              <a:rPr lang="fr-FR" sz="1800" dirty="0">
                <a:solidFill>
                  <a:srgbClr val="00B050"/>
                </a:solidFill>
              </a:rPr>
              <a:t> </a:t>
            </a:r>
            <a:r>
              <a:rPr lang="fr-FR" sz="1800" dirty="0" smtClean="0">
                <a:solidFill>
                  <a:srgbClr val="00B050"/>
                </a:solidFill>
              </a:rPr>
              <a:t>:</a:t>
            </a:r>
          </a:p>
          <a:p>
            <a:pPr marL="0" indent="0" fontAlgn="base">
              <a:buNone/>
            </a:pPr>
            <a:r>
              <a:rPr lang="fr-FR" sz="1800" dirty="0" smtClean="0">
                <a:solidFill>
                  <a:srgbClr val="00B050"/>
                </a:solidFill>
              </a:rPr>
              <a:t> </a:t>
            </a:r>
            <a:r>
              <a:rPr lang="fr-FR" sz="1800" dirty="0"/>
              <a:t>O</a:t>
            </a:r>
            <a:r>
              <a:rPr lang="fr-FR" sz="1800" dirty="0" smtClean="0"/>
              <a:t>bstacle </a:t>
            </a:r>
            <a:r>
              <a:rPr lang="fr-FR" sz="1800" dirty="0"/>
              <a:t>lymphatique. Il s’agit des </a:t>
            </a:r>
            <a:r>
              <a:rPr lang="fr-FR" sz="1800" b="1" dirty="0"/>
              <a:t>entéropathies exsudatives</a:t>
            </a:r>
            <a:r>
              <a:rPr lang="fr-FR" sz="1800" dirty="0"/>
              <a:t>, qui associent malabsorption et exsudation.</a:t>
            </a:r>
          </a:p>
          <a:p>
            <a:endParaRPr lang="fr-FR" sz="1800" dirty="0" smtClean="0"/>
          </a:p>
          <a:p>
            <a:pPr marL="342900" indent="-342900">
              <a:buFont typeface="+mj-lt"/>
              <a:buAutoNum type="arabicPeriod" startAt="4"/>
            </a:pPr>
            <a:r>
              <a:rPr lang="fr-FR" sz="1800" b="1" dirty="0">
                <a:solidFill>
                  <a:srgbClr val="00B050"/>
                </a:solidFill>
              </a:rPr>
              <a:t>La malabsorption des sels biliaires </a:t>
            </a:r>
            <a:r>
              <a:rPr lang="fr-FR" sz="1800" dirty="0"/>
              <a:t>(normalement absorbés dans l’iléon terminal au cours du cycle </a:t>
            </a:r>
            <a:r>
              <a:rPr lang="fr-FR" sz="1800" dirty="0" err="1"/>
              <a:t>entérohépatique</a:t>
            </a:r>
            <a:r>
              <a:rPr lang="fr-FR" sz="1800" dirty="0"/>
              <a:t>) dans certaines pathologies du grêle génère, en plus, une diarrhée motrice et sécrétoire par leur effet direct sur la muqueuse colique.</a:t>
            </a:r>
          </a:p>
          <a:p>
            <a:endParaRPr lang="fr-FR" sz="1800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 yakhlef  smail               hmruc 2025</a:t>
            </a: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5E257-A840-410A-BEB9-3E0C6CFA1544}" type="slidenum">
              <a:rPr lang="fr-FR" smtClean="0"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6079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0"/>
            <a:ext cx="9036496" cy="6858000"/>
          </a:xfrm>
        </p:spPr>
        <p:txBody>
          <a:bodyPr lIns="360000"/>
          <a:lstStyle/>
          <a:p>
            <a:pPr>
              <a:buFont typeface="Wingdings" panose="05000000000000000000" pitchFamily="2" charset="2"/>
              <a:buChar char="q"/>
            </a:pPr>
            <a:endParaRPr lang="fr-FR" sz="2400" dirty="0" smtClean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fr-FR" sz="2400" dirty="0" smtClean="0">
                <a:solidFill>
                  <a:srgbClr val="0070C0"/>
                </a:solidFill>
              </a:rPr>
              <a:t>B- </a:t>
            </a:r>
            <a:r>
              <a:rPr lang="fr-FR" sz="2400" dirty="0">
                <a:solidFill>
                  <a:srgbClr val="0070C0"/>
                </a:solidFill>
              </a:rPr>
              <a:t>Diarrhée chronique sans syndrome de malabsorption</a:t>
            </a:r>
            <a:r>
              <a:rPr lang="fr-FR" sz="2400" dirty="0" smtClean="0">
                <a:solidFill>
                  <a:srgbClr val="0070C0"/>
                </a:solidFill>
              </a:rPr>
              <a:t>:</a:t>
            </a:r>
          </a:p>
          <a:p>
            <a:endParaRPr lang="fr-FR" dirty="0" smtClean="0"/>
          </a:p>
          <a:p>
            <a:pPr marL="457200" lvl="1" indent="0">
              <a:buNone/>
            </a:pPr>
            <a:r>
              <a:rPr lang="fr-FR" sz="2000" dirty="0" smtClean="0"/>
              <a:t> </a:t>
            </a:r>
            <a:r>
              <a:rPr lang="fr-FR" sz="2000" dirty="0"/>
              <a:t>1. D. Motrice </a:t>
            </a:r>
            <a:endParaRPr lang="fr-FR" sz="2000" dirty="0" smtClean="0"/>
          </a:p>
          <a:p>
            <a:pPr marL="457200" lvl="1" indent="0">
              <a:buNone/>
            </a:pPr>
            <a:r>
              <a:rPr lang="fr-FR" sz="2000" dirty="0" smtClean="0"/>
              <a:t>2</a:t>
            </a:r>
            <a:r>
              <a:rPr lang="fr-FR" sz="2000" dirty="0"/>
              <a:t>. D. Osmotique </a:t>
            </a:r>
            <a:endParaRPr lang="fr-FR" sz="2000" dirty="0" smtClean="0"/>
          </a:p>
          <a:p>
            <a:pPr marL="457200" lvl="1" indent="0">
              <a:buNone/>
            </a:pPr>
            <a:r>
              <a:rPr lang="fr-FR" sz="2000" dirty="0" smtClean="0"/>
              <a:t>3</a:t>
            </a:r>
            <a:r>
              <a:rPr lang="fr-FR" sz="2000" dirty="0"/>
              <a:t>. D. Sécrétoire </a:t>
            </a:r>
            <a:endParaRPr lang="fr-FR" sz="2000" dirty="0" smtClean="0"/>
          </a:p>
          <a:p>
            <a:pPr marL="457200" lvl="1" indent="0">
              <a:buNone/>
            </a:pPr>
            <a:r>
              <a:rPr lang="fr-FR" sz="2000" dirty="0" smtClean="0"/>
              <a:t>4</a:t>
            </a:r>
            <a:r>
              <a:rPr lang="fr-FR" sz="2000" dirty="0"/>
              <a:t>. D. Volumogénique </a:t>
            </a:r>
            <a:endParaRPr lang="fr-FR" sz="2000" dirty="0" smtClean="0"/>
          </a:p>
          <a:p>
            <a:pPr marL="457200" lvl="1" indent="0">
              <a:buNone/>
            </a:pPr>
            <a:r>
              <a:rPr lang="fr-FR" sz="2000" dirty="0" smtClean="0"/>
              <a:t>5</a:t>
            </a:r>
            <a:r>
              <a:rPr lang="fr-FR" sz="2000" dirty="0"/>
              <a:t>. Autres causes 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 yakhlef  smail               hmruc 2025</a:t>
            </a: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5E257-A840-410A-BEB9-3E0C6CFA1544}" type="slidenum">
              <a:rPr lang="fr-FR" smtClean="0"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92244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260648"/>
            <a:ext cx="8856984" cy="6597352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fr-FR" sz="2000" b="1" dirty="0">
                <a:solidFill>
                  <a:srgbClr val="00B050"/>
                </a:solidFill>
              </a:rPr>
              <a:t>Diarrhée </a:t>
            </a:r>
            <a:r>
              <a:rPr lang="fr-FR" sz="2000" b="1" dirty="0" smtClean="0">
                <a:solidFill>
                  <a:srgbClr val="00B050"/>
                </a:solidFill>
              </a:rPr>
              <a:t>motrice:</a:t>
            </a:r>
          </a:p>
          <a:p>
            <a:pPr marL="0" indent="0">
              <a:buNone/>
            </a:pPr>
            <a:r>
              <a:rPr lang="fr-FR" dirty="0" smtClean="0">
                <a:solidFill>
                  <a:srgbClr val="00B050"/>
                </a:solidFill>
              </a:rPr>
              <a:t> 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fr-FR" sz="1800" dirty="0" smtClean="0"/>
              <a:t>l’absorption </a:t>
            </a:r>
            <a:r>
              <a:rPr lang="fr-FR" sz="1800" dirty="0"/>
              <a:t>des nutriments reste normale. Seule l’absorption de l’eau et des électrolytes (qui est normalement lente, assurée par le côlon) peut être diminuée en cas de transit très accéléré.</a:t>
            </a:r>
            <a:endParaRPr lang="fr-FR" sz="1800" b="1" dirty="0">
              <a:solidFill>
                <a:srgbClr val="C00000"/>
              </a:solidFill>
            </a:endParaRPr>
          </a:p>
          <a:p>
            <a:pPr lvl="1">
              <a:buFont typeface="Wingdings" panose="05000000000000000000" pitchFamily="2" charset="2"/>
              <a:buChar char="q"/>
            </a:pPr>
            <a:r>
              <a:rPr lang="fr-FR" sz="1800" dirty="0" smtClean="0">
                <a:solidFill>
                  <a:srgbClr val="C00000"/>
                </a:solidFill>
              </a:rPr>
              <a:t>Nombreuses</a:t>
            </a:r>
            <a:r>
              <a:rPr lang="fr-FR" sz="1800" dirty="0" smtClean="0"/>
              <a:t> </a:t>
            </a:r>
            <a:r>
              <a:rPr lang="fr-FR" sz="1800" dirty="0"/>
              <a:t>(≥ 5/24h), de petit volume (≤ 500 g/24h), </a:t>
            </a:r>
            <a:r>
              <a:rPr lang="fr-FR" sz="1800" dirty="0">
                <a:solidFill>
                  <a:srgbClr val="C00000"/>
                </a:solidFill>
              </a:rPr>
              <a:t>hydrique</a:t>
            </a:r>
            <a:r>
              <a:rPr lang="fr-FR" sz="1800" dirty="0"/>
              <a:t> </a:t>
            </a:r>
            <a:r>
              <a:rPr lang="fr-FR" sz="1800" dirty="0">
                <a:solidFill>
                  <a:srgbClr val="C00000"/>
                </a:solidFill>
              </a:rPr>
              <a:t>avec des résidus alimentaires ingérés le jour </a:t>
            </a:r>
            <a:r>
              <a:rPr lang="fr-FR" sz="1800" dirty="0" smtClean="0">
                <a:solidFill>
                  <a:srgbClr val="C00000"/>
                </a:solidFill>
              </a:rPr>
              <a:t>même</a:t>
            </a:r>
          </a:p>
          <a:p>
            <a:pPr lvl="1">
              <a:buFont typeface="Wingdings" panose="05000000000000000000" pitchFamily="2" charset="2"/>
              <a:buChar char="q"/>
            </a:pPr>
            <a:endParaRPr lang="fr-FR" sz="1800" dirty="0" smtClean="0"/>
          </a:p>
          <a:p>
            <a:pPr lvl="1">
              <a:buFont typeface="Wingdings" panose="05000000000000000000" pitchFamily="2" charset="2"/>
              <a:buChar char="q"/>
            </a:pPr>
            <a:r>
              <a:rPr lang="fr-FR" sz="1800" dirty="0" smtClean="0">
                <a:solidFill>
                  <a:srgbClr val="C00000"/>
                </a:solidFill>
              </a:rPr>
              <a:t>Matinal </a:t>
            </a:r>
            <a:r>
              <a:rPr lang="fr-FR" sz="1800" dirty="0">
                <a:solidFill>
                  <a:srgbClr val="C00000"/>
                </a:solidFill>
              </a:rPr>
              <a:t>et postprandial </a:t>
            </a:r>
            <a:r>
              <a:rPr lang="fr-FR" sz="1800" dirty="0"/>
              <a:t>précoce des selles, rareté des selles nocturnes </a:t>
            </a:r>
            <a:r>
              <a:rPr lang="fr-FR" sz="1800" dirty="0" smtClean="0"/>
              <a:t>+++</a:t>
            </a:r>
          </a:p>
          <a:p>
            <a:pPr lvl="1">
              <a:buFont typeface="Wingdings" panose="05000000000000000000" pitchFamily="2" charset="2"/>
              <a:buChar char="q"/>
            </a:pPr>
            <a:endParaRPr lang="fr-FR" sz="1800" dirty="0" smtClean="0"/>
          </a:p>
          <a:p>
            <a:pPr lvl="1">
              <a:buFont typeface="Wingdings" panose="05000000000000000000" pitchFamily="2" charset="2"/>
              <a:buChar char="q"/>
            </a:pPr>
            <a:r>
              <a:rPr lang="fr-FR" sz="1800" dirty="0" smtClean="0"/>
              <a:t>Besoins </a:t>
            </a:r>
            <a:r>
              <a:rPr lang="fr-FR" sz="1800" dirty="0"/>
              <a:t>d’exonération impérieux, douleurs </a:t>
            </a:r>
            <a:r>
              <a:rPr lang="fr-FR" sz="1800" dirty="0" smtClean="0"/>
              <a:t>abdominales</a:t>
            </a:r>
          </a:p>
          <a:p>
            <a:pPr lvl="1">
              <a:buFont typeface="Wingdings" panose="05000000000000000000" pitchFamily="2" charset="2"/>
              <a:buChar char="q"/>
            </a:pPr>
            <a:endParaRPr lang="fr-FR" sz="1800" dirty="0" smtClean="0"/>
          </a:p>
          <a:p>
            <a:pPr lvl="1">
              <a:buFont typeface="Wingdings" panose="05000000000000000000" pitchFamily="2" charset="2"/>
              <a:buChar char="q"/>
            </a:pPr>
            <a:r>
              <a:rPr lang="fr-FR" sz="1800" dirty="0" smtClean="0"/>
              <a:t>Amélioration </a:t>
            </a:r>
            <a:r>
              <a:rPr lang="fr-FR" sz="1800" dirty="0"/>
              <a:t>lors de la prise de ralentisseurs du transit (</a:t>
            </a:r>
            <a:r>
              <a:rPr lang="fr-FR" sz="1800" dirty="0" err="1"/>
              <a:t>lopéramide</a:t>
            </a:r>
            <a:r>
              <a:rPr lang="fr-FR" sz="1800" dirty="0"/>
              <a:t>, codéine</a:t>
            </a:r>
            <a:r>
              <a:rPr lang="fr-FR" sz="1800" dirty="0" smtClean="0"/>
              <a:t>…)</a:t>
            </a:r>
          </a:p>
          <a:p>
            <a:pPr marL="457200" lvl="1" indent="0">
              <a:buNone/>
            </a:pPr>
            <a:r>
              <a:rPr lang="fr-FR" sz="1800" dirty="0" smtClean="0"/>
              <a:t>+++ </a:t>
            </a:r>
            <a:r>
              <a:rPr lang="fr-FR" sz="1800" dirty="0"/>
              <a:t>et aggravation par le </a:t>
            </a:r>
            <a:r>
              <a:rPr lang="fr-FR" sz="1800" dirty="0" smtClean="0"/>
              <a:t>stress 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fr-FR" sz="1800" dirty="0" smtClean="0"/>
              <a:t>Conservation </a:t>
            </a:r>
            <a:r>
              <a:rPr lang="fr-FR" sz="1800" dirty="0"/>
              <a:t>de l’EG ++ </a:t>
            </a:r>
            <a:endParaRPr lang="fr-FR" sz="1800" dirty="0" smtClean="0"/>
          </a:p>
          <a:p>
            <a:pPr lvl="1">
              <a:buFont typeface="Wingdings" panose="05000000000000000000" pitchFamily="2" charset="2"/>
              <a:buChar char="q"/>
            </a:pPr>
            <a:endParaRPr lang="fr-FR" sz="1800" dirty="0" smtClean="0"/>
          </a:p>
          <a:p>
            <a:pPr lvl="1">
              <a:buFont typeface="Wingdings" panose="05000000000000000000" pitchFamily="2" charset="2"/>
              <a:buChar char="q"/>
            </a:pPr>
            <a:r>
              <a:rPr lang="fr-FR" sz="1800" dirty="0" smtClean="0"/>
              <a:t>Absence </a:t>
            </a:r>
            <a:r>
              <a:rPr lang="fr-FR" sz="1800" dirty="0"/>
              <a:t>de déshydratation et de troubles de l’équilibre </a:t>
            </a:r>
            <a:r>
              <a:rPr lang="fr-FR" sz="1800" dirty="0" smtClean="0"/>
              <a:t>hydro électrolytique</a:t>
            </a:r>
          </a:p>
          <a:p>
            <a:pPr lvl="1">
              <a:buFont typeface="Wingdings" panose="05000000000000000000" pitchFamily="2" charset="2"/>
              <a:buChar char="q"/>
            </a:pPr>
            <a:endParaRPr lang="fr-FR" sz="1800" dirty="0" smtClean="0"/>
          </a:p>
          <a:p>
            <a:pPr lvl="1">
              <a:buFont typeface="Wingdings" panose="05000000000000000000" pitchFamily="2" charset="2"/>
              <a:buChar char="q"/>
            </a:pPr>
            <a:r>
              <a:rPr lang="fr-FR" sz="1800" dirty="0" smtClean="0"/>
              <a:t>Absence </a:t>
            </a:r>
            <a:r>
              <a:rPr lang="fr-FR" sz="1800" dirty="0"/>
              <a:t>de signes de carence spécifique </a:t>
            </a:r>
            <a:r>
              <a:rPr lang="fr-FR" sz="1800" dirty="0" smtClean="0"/>
              <a:t>(pas de malabsorption</a:t>
            </a:r>
            <a:r>
              <a:rPr lang="fr-FR" sz="1800" dirty="0"/>
              <a:t>) 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 yakhlef  smail               hmruc 2025</a:t>
            </a: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5E257-A840-410A-BEB9-3E0C6CFA1544}" type="slidenum">
              <a:rPr lang="fr-FR" smtClean="0"/>
              <a:t>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25424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88640"/>
            <a:ext cx="8712968" cy="6532835"/>
          </a:xfrm>
        </p:spPr>
        <p:txBody>
          <a:bodyPr>
            <a:normAutofit/>
          </a:bodyPr>
          <a:lstStyle/>
          <a:p>
            <a:r>
              <a:rPr lang="fr-FR" sz="2000" b="1" dirty="0">
                <a:solidFill>
                  <a:srgbClr val="C00000"/>
                </a:solidFill>
              </a:rPr>
              <a:t>Diagnostic: </a:t>
            </a:r>
            <a:endParaRPr lang="fr-FR" sz="2000" b="1" dirty="0" smtClean="0">
              <a:solidFill>
                <a:srgbClr val="C00000"/>
              </a:solidFill>
            </a:endParaRPr>
          </a:p>
          <a:p>
            <a:pPr lvl="1">
              <a:buFont typeface="Wingdings" panose="05000000000000000000" pitchFamily="2" charset="2"/>
              <a:buChar char="q"/>
            </a:pPr>
            <a:r>
              <a:rPr lang="fr-FR" sz="1800" dirty="0" smtClean="0"/>
              <a:t>Le </a:t>
            </a:r>
            <a:r>
              <a:rPr lang="fr-FR" sz="1800" dirty="0"/>
              <a:t>test au rouge carmin: la première selle rouge après &lt; 8 h </a:t>
            </a:r>
            <a:r>
              <a:rPr lang="fr-FR" sz="1800" dirty="0" smtClean="0"/>
              <a:t> </a:t>
            </a:r>
          </a:p>
          <a:p>
            <a:r>
              <a:rPr lang="fr-FR" sz="2000" b="1" dirty="0" smtClean="0">
                <a:solidFill>
                  <a:srgbClr val="C00000"/>
                </a:solidFill>
              </a:rPr>
              <a:t>Les étiologies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fr-FR" sz="1800" dirty="0" smtClean="0"/>
              <a:t>-</a:t>
            </a:r>
            <a:r>
              <a:rPr lang="fr-FR" sz="1800" dirty="0"/>
              <a:t>Endocriniennes</a:t>
            </a:r>
            <a:r>
              <a:rPr lang="fr-FR" sz="1800" dirty="0" smtClean="0"/>
              <a:t>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1800" dirty="0" smtClean="0"/>
              <a:t>- </a:t>
            </a:r>
            <a:r>
              <a:rPr lang="fr-FR" sz="1800" b="1" dirty="0"/>
              <a:t>Hyperthyroïdie: dosage de </a:t>
            </a:r>
            <a:r>
              <a:rPr lang="fr-FR" sz="1800" b="1" dirty="0" smtClean="0"/>
              <a:t>TSH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1800" dirty="0" smtClean="0"/>
              <a:t>-</a:t>
            </a:r>
            <a:r>
              <a:rPr lang="fr-FR" sz="1800" dirty="0"/>
              <a:t>Carcinome médullaire de la thyroïde: dosage de la </a:t>
            </a:r>
            <a:r>
              <a:rPr lang="fr-FR" sz="1800" dirty="0" err="1" smtClean="0"/>
              <a:t>thyrocalcitonine</a:t>
            </a:r>
            <a:endParaRPr lang="fr-FR" sz="1800" dirty="0" smtClean="0"/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1800" dirty="0" smtClean="0"/>
              <a:t>-</a:t>
            </a:r>
            <a:r>
              <a:rPr lang="fr-FR" sz="1800" dirty="0"/>
              <a:t>Syndrome carcinoïde: lié à la hypersécrétion de la sérotonine → flushes, HPM tumorale et+/- une atteinte cardiaque droite (IT</a:t>
            </a:r>
            <a:r>
              <a:rPr lang="fr-FR" sz="1800" dirty="0" smtClean="0"/>
              <a:t>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fr-FR" sz="1900" dirty="0" smtClean="0"/>
              <a:t>Causes </a:t>
            </a:r>
            <a:r>
              <a:rPr lang="fr-FR" sz="1900" dirty="0"/>
              <a:t>nerveuses :Vagotomie tronculaire ou sélective, </a:t>
            </a:r>
            <a:r>
              <a:rPr lang="fr-FR" sz="1900" b="1" dirty="0"/>
              <a:t>Neuropathie diabétique</a:t>
            </a:r>
            <a:r>
              <a:rPr lang="fr-FR" sz="1900" dirty="0"/>
              <a:t> et </a:t>
            </a:r>
            <a:r>
              <a:rPr lang="fr-FR" sz="1900" dirty="0" smtClean="0"/>
              <a:t>  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fr-FR" sz="1900" dirty="0" smtClean="0"/>
              <a:t>Lésions </a:t>
            </a:r>
            <a:r>
              <a:rPr lang="fr-FR" sz="1900" dirty="0"/>
              <a:t>organiques du tube digestif </a:t>
            </a:r>
            <a:r>
              <a:rPr lang="fr-FR" sz="1900" dirty="0" smtClean="0"/>
              <a:t>: </a:t>
            </a:r>
          </a:p>
          <a:p>
            <a:pPr marL="0" indent="0">
              <a:buNone/>
            </a:pPr>
            <a:r>
              <a:rPr lang="fr-FR" sz="1900" dirty="0"/>
              <a:t> </a:t>
            </a:r>
            <a:r>
              <a:rPr lang="fr-FR" sz="1900" dirty="0" smtClean="0"/>
              <a:t>               - Gastrectomisés</a:t>
            </a:r>
            <a:r>
              <a:rPr lang="fr-FR" sz="1900" dirty="0"/>
              <a:t> </a:t>
            </a:r>
            <a:r>
              <a:rPr lang="fr-FR" sz="1900" dirty="0" smtClean="0"/>
              <a:t> - résection intestinale (</a:t>
            </a:r>
            <a:r>
              <a:rPr lang="fr-FR" sz="1900" dirty="0" err="1" smtClean="0"/>
              <a:t>ex:Crohn</a:t>
            </a:r>
            <a:r>
              <a:rPr lang="fr-FR" sz="1900" dirty="0" smtClean="0"/>
              <a:t>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fr-FR" sz="1900" dirty="0" smtClean="0"/>
              <a:t>-</a:t>
            </a:r>
            <a:r>
              <a:rPr lang="fr-FR" sz="1900" dirty="0"/>
              <a:t>Les </a:t>
            </a:r>
            <a:r>
              <a:rPr lang="fr-FR" sz="1900" b="1" dirty="0"/>
              <a:t>trouble fonctionnels intestinaux (TFI)+++: </a:t>
            </a:r>
            <a:r>
              <a:rPr lang="fr-FR" sz="1900" dirty="0" err="1"/>
              <a:t>dgc</a:t>
            </a:r>
            <a:r>
              <a:rPr lang="fr-FR" sz="1900" dirty="0"/>
              <a:t> </a:t>
            </a:r>
            <a:r>
              <a:rPr lang="fr-FR" sz="1900" dirty="0" smtClean="0"/>
              <a:t>d’élimination</a:t>
            </a:r>
            <a:endParaRPr lang="fr-FR" sz="1900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 yakhlef  smail               hmruc 2025</a:t>
            </a: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5E257-A840-410A-BEB9-3E0C6CFA1544}" type="slidenum">
              <a:rPr lang="fr-FR" smtClean="0"/>
              <a:t>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3817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16632"/>
            <a:ext cx="9007522" cy="6598067"/>
          </a:xfrm>
        </p:spPr>
        <p:txBody>
          <a:bodyPr lIns="360000">
            <a:norm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fr-FR" sz="2000" b="1" dirty="0" smtClean="0">
                <a:solidFill>
                  <a:srgbClr val="00B050"/>
                </a:solidFill>
              </a:rPr>
              <a:t>diarrhée </a:t>
            </a:r>
            <a:r>
              <a:rPr lang="fr-FR" sz="2000" b="1" dirty="0">
                <a:solidFill>
                  <a:srgbClr val="00B050"/>
                </a:solidFill>
              </a:rPr>
              <a:t>osmotique </a:t>
            </a:r>
            <a:r>
              <a:rPr lang="fr-FR" sz="2000" b="1" dirty="0" smtClean="0">
                <a:solidFill>
                  <a:srgbClr val="00B050"/>
                </a:solidFill>
              </a:rPr>
              <a:t>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fr-FR" sz="1800" dirty="0" smtClean="0"/>
              <a:t> </a:t>
            </a:r>
            <a:r>
              <a:rPr lang="fr-FR" sz="1800" dirty="0"/>
              <a:t>Due à l’ingestion de solutés partiellement ou non absorbables entraînant un appel osmotique d’eau et d’électrolytes dans le grêle. </a:t>
            </a:r>
            <a:endParaRPr lang="fr-FR" sz="1800" dirty="0" smtClean="0"/>
          </a:p>
          <a:p>
            <a:pPr>
              <a:buFont typeface="Wingdings" panose="05000000000000000000" pitchFamily="2" charset="2"/>
              <a:buChar char="q"/>
            </a:pPr>
            <a:r>
              <a:rPr lang="fr-FR" sz="1800" dirty="0" smtClean="0"/>
              <a:t>Dans </a:t>
            </a:r>
            <a:r>
              <a:rPr lang="fr-FR" sz="1800" dirty="0"/>
              <a:t>les selles, il exister un trou osmotique représenté par le soluté </a:t>
            </a:r>
            <a:r>
              <a:rPr lang="fr-FR" sz="1800" dirty="0" smtClean="0"/>
              <a:t>mal absorbé </a:t>
            </a:r>
            <a:r>
              <a:rPr lang="fr-FR" sz="1800" dirty="0"/>
              <a:t>(&gt; 125 </a:t>
            </a:r>
            <a:r>
              <a:rPr lang="fr-FR" sz="1800" dirty="0" err="1"/>
              <a:t>mOsm</a:t>
            </a:r>
            <a:r>
              <a:rPr lang="fr-FR" sz="1800" dirty="0"/>
              <a:t>/kg</a:t>
            </a:r>
            <a:r>
              <a:rPr lang="fr-FR" sz="1800" dirty="0" smtClean="0"/>
              <a:t>).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fr-FR" sz="1800" dirty="0" smtClean="0"/>
              <a:t>Selles </a:t>
            </a:r>
            <a:r>
              <a:rPr lang="fr-FR" sz="1800" dirty="0"/>
              <a:t>hydrique, </a:t>
            </a:r>
            <a:r>
              <a:rPr lang="fr-FR" sz="1800" dirty="0" smtClean="0"/>
              <a:t>mousseuses, </a:t>
            </a:r>
            <a:r>
              <a:rPr lang="fr-FR" sz="1800" dirty="0"/>
              <a:t>cède à l’arrêt de l’ingestion de l’agent </a:t>
            </a:r>
            <a:r>
              <a:rPr lang="fr-FR" sz="1800" dirty="0" smtClean="0"/>
              <a:t>responsable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fr-FR" sz="1800" dirty="0" smtClean="0"/>
              <a:t> </a:t>
            </a:r>
            <a:r>
              <a:rPr lang="fr-FR" sz="1800" dirty="0"/>
              <a:t>Coliques abdominales, borborygmes, excès de gaz, irritation </a:t>
            </a:r>
            <a:r>
              <a:rPr lang="fr-FR" sz="1800" dirty="0" smtClean="0"/>
              <a:t>anale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fr-FR" sz="1800" dirty="0" smtClean="0"/>
              <a:t> </a:t>
            </a:r>
            <a:r>
              <a:rPr lang="fr-FR" sz="1800" dirty="0"/>
              <a:t>Pas de retentissement sur l’état </a:t>
            </a:r>
            <a:r>
              <a:rPr lang="fr-FR" sz="1800" dirty="0" smtClean="0"/>
              <a:t>général</a:t>
            </a:r>
          </a:p>
          <a:p>
            <a:pPr>
              <a:buFont typeface="Wingdings" panose="05000000000000000000" pitchFamily="2" charset="2"/>
              <a:buChar char="q"/>
            </a:pPr>
            <a:endParaRPr lang="fr-FR" sz="1800" dirty="0" smtClean="0"/>
          </a:p>
          <a:p>
            <a:r>
              <a:rPr lang="fr-FR" sz="2000" b="1" dirty="0" smtClean="0">
                <a:solidFill>
                  <a:srgbClr val="C00000"/>
                </a:solidFill>
              </a:rPr>
              <a:t> étiologies:</a:t>
            </a:r>
          </a:p>
          <a:p>
            <a:endParaRPr lang="fr-FR" sz="2000" b="1" dirty="0" smtClean="0">
              <a:solidFill>
                <a:srgbClr val="C0000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1800" dirty="0" smtClean="0"/>
              <a:t>Déficit </a:t>
            </a:r>
            <a:r>
              <a:rPr lang="fr-FR" sz="1800" dirty="0"/>
              <a:t>en lactase : très fréquent, mais rarement symptomatique(déficit en d’autres enzymes saccharase-</a:t>
            </a:r>
            <a:r>
              <a:rPr lang="fr-FR" sz="1800" dirty="0" err="1"/>
              <a:t>isomaltase</a:t>
            </a:r>
            <a:r>
              <a:rPr lang="fr-FR" sz="1800" dirty="0" smtClean="0"/>
              <a:t>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1800" dirty="0" smtClean="0"/>
              <a:t>Laxatifs </a:t>
            </a:r>
            <a:r>
              <a:rPr lang="fr-FR" sz="1800" dirty="0"/>
              <a:t>osmotiques +++ :mannitol, sorbitol, lactulose</a:t>
            </a:r>
            <a:r>
              <a:rPr lang="fr-FR" sz="1800" dirty="0" smtClean="0"/>
              <a:t>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1800" dirty="0" smtClean="0"/>
              <a:t>Antiacides </a:t>
            </a:r>
            <a:r>
              <a:rPr lang="fr-FR" sz="1800" dirty="0"/>
              <a:t>à base de </a:t>
            </a:r>
            <a:r>
              <a:rPr lang="fr-FR" sz="1800" dirty="0" smtClean="0"/>
              <a:t>magnésium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 yakhlef  smail               hmruc 2025</a:t>
            </a: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5E257-A840-410A-BEB9-3E0C6CFA1544}" type="slidenum">
              <a:rPr lang="fr-FR" smtClean="0"/>
              <a:t>27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7453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7504" y="116632"/>
            <a:ext cx="9036496" cy="6741368"/>
          </a:xfrm>
        </p:spPr>
        <p:txBody>
          <a:bodyPr>
            <a:normAutofit/>
          </a:bodyPr>
          <a:lstStyle/>
          <a:p>
            <a:endParaRPr lang="fr-FR" sz="2200" b="1" dirty="0" smtClean="0">
              <a:solidFill>
                <a:srgbClr val="00B050"/>
              </a:solidFill>
            </a:endParaRPr>
          </a:p>
          <a:p>
            <a:pPr marL="457200" indent="-457200">
              <a:buFont typeface="+mj-lt"/>
              <a:buAutoNum type="arabicPeriod" startAt="3"/>
            </a:pPr>
            <a:r>
              <a:rPr lang="fr-FR" sz="2200" b="1" dirty="0" smtClean="0">
                <a:solidFill>
                  <a:srgbClr val="00B050"/>
                </a:solidFill>
              </a:rPr>
              <a:t>diarrhée sécrétoire:</a:t>
            </a:r>
          </a:p>
          <a:p>
            <a:r>
              <a:rPr lang="fr-FR" sz="2000" dirty="0" smtClean="0"/>
              <a:t>Abondante </a:t>
            </a:r>
            <a:r>
              <a:rPr lang="fr-FR" sz="2000" dirty="0"/>
              <a:t>(&gt; 500 g/24h) ,ne cède pas au jeûne, pas de trou osmotique, risque </a:t>
            </a:r>
            <a:r>
              <a:rPr lang="fr-FR" sz="2000" dirty="0" smtClean="0"/>
              <a:t>de: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fr-FR" sz="1600" dirty="0" smtClean="0"/>
              <a:t> </a:t>
            </a:r>
            <a:r>
              <a:rPr lang="fr-FR" sz="1600" dirty="0"/>
              <a:t>déshydratation, </a:t>
            </a:r>
            <a:endParaRPr lang="fr-FR" sz="1600" dirty="0" smtClean="0"/>
          </a:p>
          <a:p>
            <a:pPr lvl="1">
              <a:buFont typeface="Wingdings" panose="05000000000000000000" pitchFamily="2" charset="2"/>
              <a:buChar char="v"/>
            </a:pPr>
            <a:r>
              <a:rPr lang="fr-FR" sz="1600" dirty="0" smtClean="0"/>
              <a:t>insuffisance </a:t>
            </a:r>
            <a:r>
              <a:rPr lang="fr-FR" sz="1600" dirty="0"/>
              <a:t>rénale fonctionnelle, </a:t>
            </a:r>
            <a:endParaRPr lang="fr-FR" sz="1600" dirty="0" smtClean="0"/>
          </a:p>
          <a:p>
            <a:pPr lvl="1">
              <a:buFont typeface="Wingdings" panose="05000000000000000000" pitchFamily="2" charset="2"/>
              <a:buChar char="v"/>
            </a:pPr>
            <a:r>
              <a:rPr lang="fr-FR" sz="1600" dirty="0" smtClean="0"/>
              <a:t>hypokaliémie</a:t>
            </a:r>
            <a:r>
              <a:rPr lang="fr-FR" sz="1600" dirty="0"/>
              <a:t>, Acidose métabolique </a:t>
            </a:r>
            <a:endParaRPr lang="fr-FR" sz="1600" dirty="0" smtClean="0"/>
          </a:p>
          <a:p>
            <a:endParaRPr lang="fr-FR" sz="2000" dirty="0" smtClean="0"/>
          </a:p>
          <a:p>
            <a:r>
              <a:rPr lang="fr-FR" sz="2000" b="1" dirty="0" smtClean="0">
                <a:solidFill>
                  <a:srgbClr val="C00000"/>
                </a:solidFill>
              </a:rPr>
              <a:t>Les </a:t>
            </a:r>
            <a:r>
              <a:rPr lang="fr-FR" sz="2000" b="1" dirty="0">
                <a:solidFill>
                  <a:srgbClr val="C00000"/>
                </a:solidFill>
              </a:rPr>
              <a:t>étiologies </a:t>
            </a:r>
            <a:r>
              <a:rPr lang="fr-FR" sz="2000" b="1" dirty="0" smtClean="0">
                <a:solidFill>
                  <a:srgbClr val="C00000"/>
                </a:solidFill>
              </a:rPr>
              <a:t>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1800" dirty="0" smtClean="0"/>
              <a:t>Laxatifs </a:t>
            </a:r>
            <a:r>
              <a:rPr lang="fr-FR" sz="1800" dirty="0"/>
              <a:t>irritants</a:t>
            </a:r>
            <a:r>
              <a:rPr lang="fr-FR" sz="1800" dirty="0" smtClean="0"/>
              <a:t>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1800" dirty="0" smtClean="0"/>
              <a:t>Médicaments </a:t>
            </a:r>
            <a:r>
              <a:rPr lang="fr-FR" sz="1800" dirty="0"/>
              <a:t>: biguanide, colchicine, digitaliques </a:t>
            </a:r>
            <a:r>
              <a:rPr lang="fr-FR" sz="1800" dirty="0" smtClean="0"/>
              <a:t>…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1800" dirty="0" smtClean="0"/>
              <a:t>Résections </a:t>
            </a:r>
            <a:r>
              <a:rPr lang="fr-FR" sz="1800" dirty="0"/>
              <a:t>iléales &lt; 1 m</a:t>
            </a:r>
            <a:r>
              <a:rPr lang="fr-FR" sz="1800" dirty="0" smtClean="0"/>
              <a:t>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1800" dirty="0" smtClean="0"/>
              <a:t>Lésions </a:t>
            </a:r>
            <a:r>
              <a:rPr lang="fr-FR" sz="1800" dirty="0"/>
              <a:t>organiques coliques : polypose </a:t>
            </a:r>
            <a:r>
              <a:rPr lang="fr-FR" sz="1800" dirty="0" err="1"/>
              <a:t>adénomateuse</a:t>
            </a:r>
            <a:r>
              <a:rPr lang="fr-FR" sz="1800" dirty="0"/>
              <a:t> familiale, tumeurs villeuses </a:t>
            </a:r>
            <a:r>
              <a:rPr lang="fr-FR" sz="1800" dirty="0" smtClean="0"/>
              <a:t> , </a:t>
            </a:r>
            <a:r>
              <a:rPr lang="fr-FR" sz="1800" dirty="0"/>
              <a:t>MICI </a:t>
            </a:r>
            <a:r>
              <a:rPr lang="fr-FR" sz="1800" dirty="0" err="1"/>
              <a:t>hypersécrétantes</a:t>
            </a:r>
            <a:r>
              <a:rPr lang="fr-FR" sz="1800" dirty="0"/>
              <a:t>, colite microscopique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1800" dirty="0" smtClean="0"/>
              <a:t>Infections </a:t>
            </a:r>
            <a:r>
              <a:rPr lang="fr-FR" sz="1800" dirty="0"/>
              <a:t>: lambliase, amibiase et, en cas de SIDA </a:t>
            </a:r>
            <a:r>
              <a:rPr lang="fr-FR" sz="1800" dirty="0" smtClean="0"/>
              <a:t>:CMV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1800" dirty="0" smtClean="0"/>
              <a:t>Tumeurs </a:t>
            </a:r>
            <a:r>
              <a:rPr lang="fr-FR" sz="1800" dirty="0"/>
              <a:t>endocrines : </a:t>
            </a:r>
            <a:r>
              <a:rPr lang="fr-FR" sz="1800" dirty="0" err="1"/>
              <a:t>VIPome</a:t>
            </a:r>
            <a:r>
              <a:rPr lang="fr-FR" sz="1800" dirty="0"/>
              <a:t> → </a:t>
            </a:r>
            <a:r>
              <a:rPr lang="fr-FR" sz="1800" dirty="0" err="1"/>
              <a:t>Vipémie</a:t>
            </a:r>
            <a:r>
              <a:rPr lang="fr-FR" sz="1800" dirty="0"/>
              <a:t>.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 yakhlef  smail               hmruc 2025</a:t>
            </a: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5E257-A840-410A-BEB9-3E0C6CFA1544}" type="slidenum">
              <a:rPr lang="fr-FR" smtClean="0"/>
              <a:t>28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30487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260648"/>
            <a:ext cx="8964488" cy="6597352"/>
          </a:xfrm>
        </p:spPr>
        <p:txBody>
          <a:bodyPr/>
          <a:lstStyle/>
          <a:p>
            <a:pPr marL="457200" indent="-457200">
              <a:buFont typeface="+mj-lt"/>
              <a:buAutoNum type="arabicPeriod" startAt="4"/>
            </a:pPr>
            <a:r>
              <a:rPr lang="fr-FR" sz="2200" b="1" dirty="0" smtClean="0">
                <a:solidFill>
                  <a:srgbClr val="00B050"/>
                </a:solidFill>
              </a:rPr>
              <a:t>diarrhée Volumogénique: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fr-FR" sz="1800" dirty="0" smtClean="0"/>
              <a:t> </a:t>
            </a:r>
            <a:r>
              <a:rPr lang="fr-FR" sz="1800" dirty="0"/>
              <a:t>Inondation de l’intestin par une des sécrétions digestives hautes ( +++ hypersécrétion gastrique acide) La diarrhée est rarement le signe </a:t>
            </a:r>
            <a:r>
              <a:rPr lang="fr-FR" sz="1800" dirty="0" smtClean="0"/>
              <a:t>prédominant</a:t>
            </a:r>
          </a:p>
          <a:p>
            <a:endParaRPr lang="fr-FR" sz="2000" dirty="0" smtClean="0"/>
          </a:p>
          <a:p>
            <a:r>
              <a:rPr lang="fr-FR" sz="2000" b="1" dirty="0" smtClean="0">
                <a:solidFill>
                  <a:srgbClr val="C00000"/>
                </a:solidFill>
              </a:rPr>
              <a:t>Les </a:t>
            </a:r>
            <a:r>
              <a:rPr lang="fr-FR" sz="2000" b="1" dirty="0">
                <a:solidFill>
                  <a:srgbClr val="C00000"/>
                </a:solidFill>
              </a:rPr>
              <a:t>étiologies </a:t>
            </a:r>
            <a:r>
              <a:rPr lang="fr-FR" sz="2000" b="1" dirty="0" smtClean="0">
                <a:solidFill>
                  <a:srgbClr val="C00000"/>
                </a:solidFill>
              </a:rPr>
              <a:t>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fr-FR" sz="2000" dirty="0" smtClean="0"/>
              <a:t>Syndrome </a:t>
            </a:r>
            <a:r>
              <a:rPr lang="fr-FR" sz="2000" dirty="0"/>
              <a:t>de </a:t>
            </a:r>
            <a:r>
              <a:rPr lang="fr-FR" sz="2000" dirty="0" err="1"/>
              <a:t>Zollinger</a:t>
            </a:r>
            <a:r>
              <a:rPr lang="fr-FR" sz="2000" dirty="0"/>
              <a:t>-Ellison: Tumeurs endocrines sécrétant de la gastrine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 yakhlef  smail               hmruc 2025</a:t>
            </a: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5E257-A840-410A-BEB9-3E0C6CFA1544}" type="slidenum">
              <a:rPr lang="fr-FR" smtClean="0"/>
              <a:t>29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34875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Espace réservé du contenu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91565862"/>
              </p:ext>
            </p:extLst>
          </p:nvPr>
        </p:nvGraphicFramePr>
        <p:xfrm>
          <a:off x="323526" y="260646"/>
          <a:ext cx="8640964" cy="6095702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2160241"/>
                <a:gridCol w="2160241"/>
                <a:gridCol w="2160241"/>
                <a:gridCol w="2160241"/>
              </a:tblGrid>
              <a:tr h="775712">
                <a:tc>
                  <a:txBody>
                    <a:bodyPr/>
                    <a:lstStyle/>
                    <a:p>
                      <a:pPr algn="ctr"/>
                      <a:r>
                        <a:rPr lang="fr-FR" sz="1600" b="1" i="1" dirty="0">
                          <a:solidFill>
                            <a:srgbClr val="C00000"/>
                          </a:solidFill>
                        </a:rPr>
                        <a:t>Type de diarrhée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i="1">
                          <a:solidFill>
                            <a:srgbClr val="C00000"/>
                          </a:solidFill>
                        </a:rPr>
                        <a:t>Mécanisme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i="1" dirty="0">
                          <a:solidFill>
                            <a:srgbClr val="C00000"/>
                          </a:solidFill>
                        </a:rPr>
                        <a:t>Caractéristiques clés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i="1" dirty="0">
                          <a:solidFill>
                            <a:srgbClr val="C00000"/>
                          </a:solidFill>
                        </a:rPr>
                        <a:t>Exemple typique</a:t>
                      </a:r>
                    </a:p>
                  </a:txBody>
                  <a:tcPr marL="80580" marR="80580" marT="40290" marB="40290" anchor="ctr"/>
                </a:tc>
              </a:tr>
              <a:tr h="775712">
                <a:tc>
                  <a:txBody>
                    <a:bodyPr/>
                    <a:lstStyle/>
                    <a:p>
                      <a:r>
                        <a:rPr lang="fr-FR" sz="1600" dirty="0" smtClean="0"/>
                        <a:t>Malabsorption</a:t>
                      </a:r>
                      <a:endParaRPr lang="fr-FR" sz="1600" dirty="0"/>
                    </a:p>
                  </a:txBody>
                  <a:tcPr marL="80580" marR="80580" marT="40290" marB="4029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baseline="0" dirty="0" smtClean="0"/>
                        <a:t> défaut d’</a:t>
                      </a:r>
                      <a:r>
                        <a:rPr lang="fr-FR" sz="1600" dirty="0" smtClean="0"/>
                        <a:t>absorption  </a:t>
                      </a:r>
                      <a:endParaRPr lang="fr-FR" sz="1600" dirty="0"/>
                    </a:p>
                  </a:txBody>
                  <a:tcPr marL="80580" marR="80580" marT="40290" marB="4029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dirty="0" smtClean="0"/>
                        <a:t>Amaigrissement</a:t>
                      </a:r>
                      <a:endParaRPr lang="fr-FR" sz="1600" dirty="0"/>
                    </a:p>
                  </a:txBody>
                  <a:tcPr marL="80580" marR="80580" marT="40290" marB="4029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dirty="0"/>
                        <a:t>Maladie cœliaque</a:t>
                      </a:r>
                    </a:p>
                  </a:txBody>
                  <a:tcPr marL="80580" marR="80580" marT="40290" marB="4029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77571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60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dirty="0" smtClean="0"/>
                        <a:t>stéatorrhée</a:t>
                      </a:r>
                    </a:p>
                  </a:txBody>
                  <a:tcPr marL="80580" marR="80580" marT="40290" marB="4029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dirty="0" smtClean="0"/>
                        <a:t>Défaut digestion</a:t>
                      </a:r>
                      <a:endParaRPr lang="fr-FR" sz="1600" dirty="0"/>
                    </a:p>
                  </a:txBody>
                  <a:tcPr marL="80580" marR="80580" marT="40290" marB="4029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dirty="0" smtClean="0"/>
                        <a:t>✨ Selles grasses ⚖️ </a:t>
                      </a:r>
                      <a:endParaRPr lang="fr-FR" sz="1600" dirty="0"/>
                    </a:p>
                  </a:txBody>
                  <a:tcPr marL="80580" marR="80580" marT="40290" marB="4029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500" dirty="0" smtClean="0"/>
                        <a:t>Insuffisance pancréatique</a:t>
                      </a:r>
                      <a:endParaRPr lang="fr-FR" sz="1500" dirty="0"/>
                    </a:p>
                  </a:txBody>
                  <a:tcPr marL="80580" marR="80580" marT="40290" marB="4029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775712">
                <a:tc>
                  <a:txBody>
                    <a:bodyPr/>
                    <a:lstStyle/>
                    <a:p>
                      <a:r>
                        <a:rPr lang="fr-FR" sz="1600" dirty="0"/>
                        <a:t>Obstacle lymphatique</a:t>
                      </a:r>
                    </a:p>
                  </a:txBody>
                  <a:tcPr marL="80580" marR="80580" marT="40290" marB="4029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dirty="0"/>
                        <a:t>Fuite de lymphe (graisses + protéines)</a:t>
                      </a:r>
                    </a:p>
                  </a:txBody>
                  <a:tcPr marL="80580" marR="80580" marT="40290" marB="4029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dirty="0"/>
                        <a:t>🧈 Stéatorrhée 💧 Œdèmes</a:t>
                      </a:r>
                    </a:p>
                  </a:txBody>
                  <a:tcPr marL="80580" marR="80580" marT="40290" marB="4029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dirty="0" err="1"/>
                        <a:t>Lymphangiectasie</a:t>
                      </a:r>
                      <a:endParaRPr lang="fr-FR" sz="1600" dirty="0"/>
                    </a:p>
                  </a:txBody>
                  <a:tcPr marL="80580" marR="80580" marT="40290" marB="4029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1108571">
                <a:tc>
                  <a:txBody>
                    <a:bodyPr/>
                    <a:lstStyle/>
                    <a:p>
                      <a:r>
                        <a:rPr lang="fr-FR" sz="1600" dirty="0"/>
                        <a:t>Osmotique</a:t>
                      </a:r>
                    </a:p>
                  </a:txBody>
                  <a:tcPr marL="80580" marR="80580" marT="40290" marB="4029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dirty="0"/>
                        <a:t>Solutés non absorbés attirent l’eau</a:t>
                      </a:r>
                    </a:p>
                  </a:txBody>
                  <a:tcPr marL="80580" marR="80580" marT="40290" marB="4029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dirty="0"/>
                        <a:t>✔️ S’arrête à jeun 💨 Ballonnements</a:t>
                      </a:r>
                    </a:p>
                  </a:txBody>
                  <a:tcPr marL="80580" marR="80580" marT="40290" marB="4029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dirty="0"/>
                        <a:t>Intolérance au lactose</a:t>
                      </a:r>
                    </a:p>
                  </a:txBody>
                  <a:tcPr marL="80580" marR="80580" marT="40290" marB="4029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1108571">
                <a:tc>
                  <a:txBody>
                    <a:bodyPr/>
                    <a:lstStyle/>
                    <a:p>
                      <a:r>
                        <a:rPr lang="fr-FR" sz="1600" dirty="0"/>
                        <a:t>Sécrétoire</a:t>
                      </a:r>
                    </a:p>
                  </a:txBody>
                  <a:tcPr marL="80580" marR="80580" marT="40290" marB="4029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dirty="0"/>
                        <a:t>Hyper-sécrétion d’eau et électrolytes</a:t>
                      </a:r>
                    </a:p>
                  </a:txBody>
                  <a:tcPr marL="80580" marR="80580" marT="40290" marB="4029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dirty="0"/>
                        <a:t>❌ Persiste à jeun 💧 Très abondante</a:t>
                      </a:r>
                    </a:p>
                  </a:txBody>
                  <a:tcPr marL="80580" marR="80580" marT="40290" marB="4029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dirty="0"/>
                        <a:t>Choléra</a:t>
                      </a:r>
                    </a:p>
                  </a:txBody>
                  <a:tcPr marL="80580" marR="80580" marT="40290" marB="4029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775712">
                <a:tc>
                  <a:txBody>
                    <a:bodyPr/>
                    <a:lstStyle/>
                    <a:p>
                      <a:r>
                        <a:rPr lang="fr-FR" sz="1600" dirty="0"/>
                        <a:t>Inflammatoire</a:t>
                      </a:r>
                    </a:p>
                  </a:txBody>
                  <a:tcPr marL="80580" marR="80580" marT="40290" marB="4029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dirty="0"/>
                        <a:t>Lésion muqueuse + exsudat</a:t>
                      </a:r>
                    </a:p>
                  </a:txBody>
                  <a:tcPr marL="80580" marR="80580" marT="40290" marB="4029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dirty="0"/>
                        <a:t>🩸 Sang + glaires 🤒 Fièvre, douleur</a:t>
                      </a:r>
                    </a:p>
                  </a:txBody>
                  <a:tcPr marL="80580" marR="80580" marT="40290" marB="4029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dirty="0"/>
                        <a:t>Rectocolite hémorragique</a:t>
                      </a:r>
                    </a:p>
                  </a:txBody>
                  <a:tcPr marL="80580" marR="80580" marT="40290" marB="4029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 smtClean="0"/>
              <a:t>Dr</a:t>
            </a:r>
            <a:r>
              <a:rPr lang="en-US" dirty="0" smtClean="0"/>
              <a:t> </a:t>
            </a:r>
            <a:r>
              <a:rPr lang="en-US" dirty="0" err="1" smtClean="0"/>
              <a:t>yakhlef</a:t>
            </a:r>
            <a:r>
              <a:rPr lang="en-US" dirty="0" smtClean="0"/>
              <a:t>  </a:t>
            </a:r>
            <a:r>
              <a:rPr lang="en-US" dirty="0" err="1" smtClean="0"/>
              <a:t>smail</a:t>
            </a:r>
            <a:r>
              <a:rPr lang="en-US" dirty="0" smtClean="0"/>
              <a:t>               </a:t>
            </a:r>
            <a:r>
              <a:rPr lang="en-US" dirty="0" err="1" smtClean="0"/>
              <a:t>hmruc</a:t>
            </a:r>
            <a:r>
              <a:rPr lang="en-US" dirty="0" smtClean="0"/>
              <a:t> 2025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5E257-A840-410A-BEB9-3E0C6CFA1544}" type="slidenum">
              <a:rPr lang="fr-FR" smtClean="0"/>
              <a:t>30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61453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67544" y="260648"/>
            <a:ext cx="7886700" cy="523255"/>
          </a:xfrm>
        </p:spPr>
        <p:txBody>
          <a:bodyPr/>
          <a:lstStyle/>
          <a:p>
            <a:pPr algn="ctr"/>
            <a:r>
              <a:rPr lang="fr-FR" dirty="0" smtClean="0">
                <a:solidFill>
                  <a:srgbClr val="0070C0"/>
                </a:solidFill>
              </a:rPr>
              <a:t>algorithme</a:t>
            </a:r>
            <a:endParaRPr lang="fr-FR" dirty="0">
              <a:solidFill>
                <a:srgbClr val="0070C0"/>
              </a:solidFill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 yakhlef  smail               hmruc 2025</a:t>
            </a: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5E257-A840-410A-BEB9-3E0C6CFA1544}" type="slidenum">
              <a:rPr lang="fr-FR" smtClean="0"/>
              <a:t>31</a:t>
            </a:fld>
            <a:endParaRPr lang="fr-FR"/>
          </a:p>
        </p:txBody>
      </p:sp>
      <p:pic>
        <p:nvPicPr>
          <p:cNvPr id="1026" name="Picture 2" descr="303: Diarrhée chronique | Medicine Ke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805394"/>
            <a:ext cx="9036495" cy="5610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4902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95536" y="260648"/>
            <a:ext cx="8496944" cy="6336704"/>
          </a:xfrm>
        </p:spPr>
        <p:txBody>
          <a:bodyPr/>
          <a:lstStyle/>
          <a:p>
            <a:pPr marL="571500" indent="-571500">
              <a:buFont typeface="+mj-lt"/>
              <a:buAutoNum type="romanUcPeriod" startAt="6"/>
            </a:pPr>
            <a:r>
              <a:rPr lang="fr-FR" b="1" dirty="0">
                <a:solidFill>
                  <a:srgbClr val="FF0000"/>
                </a:solidFill>
              </a:rPr>
              <a:t>Conduite </a:t>
            </a:r>
            <a:r>
              <a:rPr lang="fr-FR" b="1" dirty="0" smtClean="0">
                <a:solidFill>
                  <a:srgbClr val="FF0000"/>
                </a:solidFill>
              </a:rPr>
              <a:t>thérapeutique</a:t>
            </a:r>
          </a:p>
          <a:p>
            <a:pPr marL="0" indent="0">
              <a:buNone/>
            </a:pPr>
            <a:endParaRPr lang="fr-FR" sz="2000" b="1" dirty="0">
              <a:solidFill>
                <a:srgbClr val="FF0000"/>
              </a:solidFill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fr-FR" sz="1800" dirty="0" smtClean="0"/>
              <a:t> la correction </a:t>
            </a:r>
            <a:r>
              <a:rPr lang="fr-FR" sz="1800" dirty="0"/>
              <a:t>des </a:t>
            </a:r>
            <a:r>
              <a:rPr lang="fr-FR" sz="1800" dirty="0">
                <a:solidFill>
                  <a:srgbClr val="C00000"/>
                </a:solidFill>
              </a:rPr>
              <a:t>troubles hydro-électrolytiques </a:t>
            </a:r>
            <a:r>
              <a:rPr lang="fr-FR" sz="1800" dirty="0"/>
              <a:t>induits par la diarrhée</a:t>
            </a:r>
            <a:r>
              <a:rPr lang="fr-FR" sz="1800" dirty="0" smtClean="0"/>
              <a:t>.</a:t>
            </a:r>
          </a:p>
          <a:p>
            <a:pPr>
              <a:buFont typeface="Wingdings" panose="05000000000000000000" pitchFamily="2" charset="2"/>
              <a:buChar char="q"/>
            </a:pPr>
            <a:endParaRPr lang="fr-FR" sz="1800" dirty="0" smtClean="0"/>
          </a:p>
          <a:p>
            <a:pPr>
              <a:buFont typeface="Wingdings" panose="05000000000000000000" pitchFamily="2" charset="2"/>
              <a:buChar char="q"/>
            </a:pPr>
            <a:r>
              <a:rPr lang="fr-FR" sz="1800" dirty="0" smtClean="0"/>
              <a:t>La </a:t>
            </a:r>
            <a:r>
              <a:rPr lang="fr-FR" sz="1800" dirty="0">
                <a:solidFill>
                  <a:srgbClr val="C00000"/>
                </a:solidFill>
              </a:rPr>
              <a:t>correction des carences </a:t>
            </a:r>
            <a:r>
              <a:rPr lang="fr-FR" sz="1800" dirty="0"/>
              <a:t>induites par une malabsorption</a:t>
            </a:r>
            <a:r>
              <a:rPr lang="fr-FR" sz="1800" dirty="0" smtClean="0"/>
              <a:t>.</a:t>
            </a:r>
          </a:p>
          <a:p>
            <a:pPr>
              <a:buFont typeface="Wingdings" panose="05000000000000000000" pitchFamily="2" charset="2"/>
              <a:buChar char="q"/>
            </a:pPr>
            <a:endParaRPr lang="fr-FR" sz="1800" dirty="0" smtClean="0"/>
          </a:p>
          <a:p>
            <a:pPr>
              <a:buFont typeface="Wingdings" panose="05000000000000000000" pitchFamily="2" charset="2"/>
              <a:buChar char="q"/>
            </a:pPr>
            <a:r>
              <a:rPr lang="fr-FR" sz="1800" dirty="0" smtClean="0"/>
              <a:t>Le </a:t>
            </a:r>
            <a:r>
              <a:rPr lang="fr-FR" sz="1800" dirty="0"/>
              <a:t>traitement de la diarrhée est </a:t>
            </a:r>
            <a:r>
              <a:rPr lang="fr-FR" sz="1800" dirty="0">
                <a:solidFill>
                  <a:srgbClr val="C00000"/>
                </a:solidFill>
              </a:rPr>
              <a:t>avant tout étiologique</a:t>
            </a:r>
            <a:r>
              <a:rPr lang="fr-FR" sz="1800" dirty="0" smtClean="0">
                <a:solidFill>
                  <a:srgbClr val="C00000"/>
                </a:solidFill>
              </a:rPr>
              <a:t>.</a:t>
            </a:r>
          </a:p>
          <a:p>
            <a:pPr>
              <a:buFont typeface="Wingdings" panose="05000000000000000000" pitchFamily="2" charset="2"/>
              <a:buChar char="q"/>
            </a:pPr>
            <a:endParaRPr lang="fr-FR" sz="1800" dirty="0" smtClean="0"/>
          </a:p>
          <a:p>
            <a:pPr>
              <a:buFont typeface="Wingdings" panose="05000000000000000000" pitchFamily="2" charset="2"/>
              <a:buChar char="q"/>
            </a:pPr>
            <a:r>
              <a:rPr lang="fr-FR" sz="1800" dirty="0" smtClean="0"/>
              <a:t>Lorsque </a:t>
            </a:r>
            <a:r>
              <a:rPr lang="fr-FR" sz="1800" dirty="0"/>
              <a:t>l’étiologie n’a pas de traitement spécifique ou si </a:t>
            </a:r>
            <a:r>
              <a:rPr lang="fr-FR" sz="1800" dirty="0" smtClean="0"/>
              <a:t>diarrhée </a:t>
            </a:r>
            <a:r>
              <a:rPr lang="fr-FR" sz="1800" dirty="0"/>
              <a:t>fonctionnelle, le </a:t>
            </a:r>
            <a:r>
              <a:rPr lang="fr-FR" sz="1800" dirty="0">
                <a:solidFill>
                  <a:srgbClr val="C00000"/>
                </a:solidFill>
              </a:rPr>
              <a:t>traitement est symptomatique</a:t>
            </a:r>
            <a:r>
              <a:rPr lang="fr-FR" sz="1800" dirty="0"/>
              <a:t> et repose essentiellement sur les médicaments ralentisseurs du transit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 yakhlef  smail               hmruc 2025</a:t>
            </a: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5E257-A840-410A-BEB9-3E0C6CFA1544}" type="slidenum">
              <a:rPr lang="fr-FR" smtClean="0"/>
              <a:t>32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54223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16632"/>
            <a:ext cx="9036496" cy="6741368"/>
          </a:xfrm>
        </p:spPr>
        <p:txBody>
          <a:bodyPr lIns="360000"/>
          <a:lstStyle/>
          <a:p>
            <a:pPr marL="571500" indent="-571500">
              <a:buFont typeface="+mj-lt"/>
              <a:buAutoNum type="romanUcPeriod" startAt="7"/>
            </a:pPr>
            <a:r>
              <a:rPr lang="fr-FR" b="1" dirty="0" smtClean="0">
                <a:solidFill>
                  <a:srgbClr val="FF0000"/>
                </a:solidFill>
              </a:rPr>
              <a:t>conclusion:</a:t>
            </a:r>
          </a:p>
          <a:p>
            <a:pPr marL="0" indent="0">
              <a:buNone/>
            </a:pPr>
            <a:endParaRPr lang="fr-FR" b="1" dirty="0" smtClean="0">
              <a:solidFill>
                <a:srgbClr val="FF0000"/>
              </a:solidFill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fr-FR" sz="1800" dirty="0" smtClean="0">
                <a:solidFill>
                  <a:srgbClr val="C00000"/>
                </a:solidFill>
              </a:rPr>
              <a:t>Les </a:t>
            </a:r>
            <a:r>
              <a:rPr lang="fr-FR" sz="1800" dirty="0">
                <a:solidFill>
                  <a:srgbClr val="C00000"/>
                </a:solidFill>
              </a:rPr>
              <a:t>causes </a:t>
            </a:r>
            <a:r>
              <a:rPr lang="fr-FR" sz="1800" dirty="0"/>
              <a:t>de diarrhée chronique sont </a:t>
            </a:r>
            <a:r>
              <a:rPr lang="fr-FR" sz="1800" dirty="0">
                <a:solidFill>
                  <a:srgbClr val="C00000"/>
                </a:solidFill>
              </a:rPr>
              <a:t>nombreuses</a:t>
            </a:r>
            <a:r>
              <a:rPr lang="fr-FR" sz="1800" dirty="0" smtClean="0">
                <a:solidFill>
                  <a:srgbClr val="C00000"/>
                </a:solidFill>
              </a:rPr>
              <a:t>.</a:t>
            </a:r>
          </a:p>
          <a:p>
            <a:pPr>
              <a:buFont typeface="Wingdings" panose="05000000000000000000" pitchFamily="2" charset="2"/>
              <a:buChar char="q"/>
            </a:pPr>
            <a:endParaRPr lang="fr-FR" sz="1800" dirty="0" smtClean="0"/>
          </a:p>
          <a:p>
            <a:pPr>
              <a:buFont typeface="Wingdings" panose="05000000000000000000" pitchFamily="2" charset="2"/>
              <a:buChar char="q"/>
            </a:pPr>
            <a:r>
              <a:rPr lang="fr-FR" sz="1800" dirty="0" smtClean="0">
                <a:solidFill>
                  <a:srgbClr val="C00000"/>
                </a:solidFill>
              </a:rPr>
              <a:t>L'affection responsable </a:t>
            </a:r>
            <a:r>
              <a:rPr lang="fr-FR" sz="1800" dirty="0" smtClean="0"/>
              <a:t>peut être gastrique, </a:t>
            </a:r>
            <a:r>
              <a:rPr lang="fr-FR" sz="1800" dirty="0"/>
              <a:t>pancréatique, </a:t>
            </a:r>
            <a:r>
              <a:rPr lang="fr-FR" sz="1800" dirty="0" err="1"/>
              <a:t>jéjuno</a:t>
            </a:r>
            <a:r>
              <a:rPr lang="fr-FR" sz="1800" dirty="0"/>
              <a:t>-iléale, colique, extradigestive, métabolique, </a:t>
            </a:r>
            <a:r>
              <a:rPr lang="fr-FR" sz="1800" dirty="0" smtClean="0"/>
              <a:t>endocrinienne </a:t>
            </a:r>
            <a:r>
              <a:rPr lang="fr-FR" sz="1800" dirty="0"/>
              <a:t>ou neurologique</a:t>
            </a:r>
            <a:r>
              <a:rPr lang="fr-FR" sz="1800" dirty="0" smtClean="0"/>
              <a:t>.</a:t>
            </a:r>
          </a:p>
          <a:p>
            <a:pPr>
              <a:buFont typeface="Wingdings" panose="05000000000000000000" pitchFamily="2" charset="2"/>
              <a:buChar char="q"/>
            </a:pPr>
            <a:endParaRPr lang="fr-FR" sz="1800" dirty="0" smtClean="0"/>
          </a:p>
          <a:p>
            <a:pPr>
              <a:buFont typeface="Wingdings" panose="05000000000000000000" pitchFamily="2" charset="2"/>
              <a:buChar char="q"/>
            </a:pPr>
            <a:r>
              <a:rPr lang="fr-FR" sz="1800" dirty="0" smtClean="0"/>
              <a:t>Une </a:t>
            </a:r>
            <a:r>
              <a:rPr lang="fr-FR" sz="1800" dirty="0">
                <a:solidFill>
                  <a:srgbClr val="C00000"/>
                </a:solidFill>
              </a:rPr>
              <a:t>affection organique doit toujours être </a:t>
            </a:r>
            <a:r>
              <a:rPr lang="fr-FR" sz="1800" dirty="0" smtClean="0">
                <a:solidFill>
                  <a:srgbClr val="C00000"/>
                </a:solidFill>
              </a:rPr>
              <a:t>recherchée</a:t>
            </a:r>
          </a:p>
          <a:p>
            <a:pPr>
              <a:buFont typeface="Wingdings" panose="05000000000000000000" pitchFamily="2" charset="2"/>
              <a:buChar char="q"/>
            </a:pPr>
            <a:endParaRPr lang="fr-FR" sz="1800" dirty="0" smtClean="0"/>
          </a:p>
          <a:p>
            <a:pPr>
              <a:buFont typeface="Wingdings" panose="05000000000000000000" pitchFamily="2" charset="2"/>
              <a:buChar char="q"/>
            </a:pPr>
            <a:r>
              <a:rPr lang="fr-FR" sz="1800" dirty="0" smtClean="0"/>
              <a:t>l’exploration </a:t>
            </a:r>
            <a:r>
              <a:rPr lang="fr-FR" sz="1800" dirty="0">
                <a:solidFill>
                  <a:srgbClr val="C00000"/>
                </a:solidFill>
              </a:rPr>
              <a:t>doit éviter deux erreurs </a:t>
            </a:r>
            <a:r>
              <a:rPr lang="fr-FR" sz="1800" dirty="0"/>
              <a:t>: </a:t>
            </a:r>
            <a:endParaRPr lang="fr-FR" sz="1800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1800" dirty="0" smtClean="0"/>
              <a:t>multiplier </a:t>
            </a:r>
            <a:r>
              <a:rPr lang="fr-FR" sz="1800" dirty="0"/>
              <a:t>les examens coûteux et souvent déplaisants pour une simple colopathie ; </a:t>
            </a:r>
            <a:endParaRPr lang="fr-FR" sz="1800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1800" dirty="0" smtClean="0"/>
              <a:t>et </a:t>
            </a:r>
            <a:r>
              <a:rPr lang="fr-FR" sz="1800" dirty="0"/>
              <a:t>inversement, méconnaître une malabsorption du grêle.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 yakhlef  smail               hmruc 2025</a:t>
            </a: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5E257-A840-410A-BEB9-3E0C6CFA1544}" type="slidenum">
              <a:rPr lang="fr-FR" smtClean="0"/>
              <a:t>33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07776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onception personnalisé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10770</TotalTime>
  <Words>2420</Words>
  <Application>Microsoft Office PowerPoint</Application>
  <PresentationFormat>Affichage à l'écran (4:3)</PresentationFormat>
  <Paragraphs>446</Paragraphs>
  <Slides>33</Slides>
  <Notes>4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33</vt:i4>
      </vt:variant>
    </vt:vector>
  </HeadingPairs>
  <TitlesOfParts>
    <vt:vector size="39" baseType="lpstr">
      <vt:lpstr>Arabic Typesetting</vt:lpstr>
      <vt:lpstr>Arial</vt:lpstr>
      <vt:lpstr>Calibri</vt:lpstr>
      <vt:lpstr>Calibri Light</vt:lpstr>
      <vt:lpstr>Wingdings</vt:lpstr>
      <vt:lpstr>Conception personnalisée</vt:lpstr>
      <vt:lpstr>Diarrhée chronique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 clinique  Réactivation HVB sous rituximab (R-CHOP)</dc:title>
  <dc:creator>seven</dc:creator>
  <cp:lastModifiedBy>Compte Microsoft</cp:lastModifiedBy>
  <cp:revision>310</cp:revision>
  <dcterms:created xsi:type="dcterms:W3CDTF">2021-09-27T05:36:25Z</dcterms:created>
  <dcterms:modified xsi:type="dcterms:W3CDTF">2026-04-29T19:30:15Z</dcterms:modified>
</cp:coreProperties>
</file>