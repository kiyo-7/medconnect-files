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9144000"/>
  <p:notesSz cx="7102475" cy="10234600"/>
  <p:embeddedFontLst>
    <p:embeddedFont>
      <p:font typeface="Arimo"/>
      <p:regular r:id="rId47"/>
      <p:bold r:id="rId48"/>
      <p:italic r:id="rId49"/>
      <p:boldItalic r:id="rId50"/>
    </p:embeddedFont>
    <p:embeddedFont>
      <p:font typeface="Quattrocento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5" roundtripDataSignature="AMtx7mj6jTaaOmJSCLyQY9hptfyrBsDO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Arimo-bold.fntdata"/><Relationship Id="rId47" Type="http://schemas.openxmlformats.org/officeDocument/2006/relationships/font" Target="fonts/Arimo-regular.fntdata"/><Relationship Id="rId49" Type="http://schemas.openxmlformats.org/officeDocument/2006/relationships/font" Target="fonts/Arim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QuattrocentoSans-regular.fntdata"/><Relationship Id="rId50" Type="http://schemas.openxmlformats.org/officeDocument/2006/relationships/font" Target="fonts/Arimo-boldItalic.fntdata"/><Relationship Id="rId53" Type="http://schemas.openxmlformats.org/officeDocument/2006/relationships/font" Target="fonts/QuattrocentoSans-italic.fntdata"/><Relationship Id="rId52" Type="http://schemas.openxmlformats.org/officeDocument/2006/relationships/font" Target="fonts/QuattrocentoSans-bold.fntdata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font" Target="fonts/Quattrocento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3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4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5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6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7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8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11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13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14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15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17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p18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p19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20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p21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2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p22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3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p23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p24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5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p25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6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p26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7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5" name="Google Shape;405;p27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8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p28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9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0" name="Google Shape;420;p29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6" name="Google Shape;426;p30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3" name="Google Shape;433;p31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2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0" name="Google Shape;440;p32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3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5" name="Google Shape;445;p33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4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7" name="Google Shape;497;p34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5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3" name="Google Shape;503;p35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6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8" name="Google Shape;508;p36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7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6" name="Google Shape;526;p37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8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2" name="Google Shape;532;p38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9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9" name="Google Shape;539;p39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0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4" name="Google Shape;544;p40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1" name="Google Shape;551;p41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. Texte et contenu" type="txAndObj">
  <p:cSld name="TEXT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6"/>
          <p:cNvSpPr txBox="1"/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 sur texte" type="objOverTx">
  <p:cSld name="OBJECT_OVER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7"/>
          <p:cNvSpPr txBox="1"/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7"/>
          <p:cNvSpPr txBox="1"/>
          <p:nvPr>
            <p:ph idx="1" type="body"/>
          </p:nvPr>
        </p:nvSpPr>
        <p:spPr>
          <a:xfrm>
            <a:off x="457200" y="1600200"/>
            <a:ext cx="82296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7"/>
          <p:cNvSpPr txBox="1"/>
          <p:nvPr>
            <p:ph idx="2" type="body"/>
          </p:nvPr>
        </p:nvSpPr>
        <p:spPr>
          <a:xfrm>
            <a:off x="457200" y="3938588"/>
            <a:ext cx="82296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4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6" name="Google Shape;56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5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3" name="Google Shape;63;p5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5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5" name="Google Shape;65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1" name="Google Shape;71;p5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5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9" name="Google Shape;79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 txBox="1"/>
          <p:nvPr>
            <p:ph type="title"/>
          </p:nvPr>
        </p:nvSpPr>
        <p:spPr>
          <a:xfrm>
            <a:off x="428625" y="1571625"/>
            <a:ext cx="8229600" cy="7858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CIRCULATION CORONAIRE</a:t>
            </a:r>
            <a:endParaRPr/>
          </a:p>
        </p:txBody>
      </p:sp>
      <p:sp>
        <p:nvSpPr>
          <p:cNvPr id="99" name="Google Shape;99;p1"/>
          <p:cNvSpPr txBox="1"/>
          <p:nvPr>
            <p:ph idx="1" type="body"/>
          </p:nvPr>
        </p:nvSpPr>
        <p:spPr>
          <a:xfrm>
            <a:off x="214313" y="2446345"/>
            <a:ext cx="8929687" cy="2054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fr-FR" sz="2000">
                <a:latin typeface="Arial"/>
                <a:ea typeface="Arial"/>
                <a:cs typeface="Arial"/>
                <a:sym typeface="Arial"/>
              </a:rPr>
              <a:t>Présenté par : M.K.Bourahli</a:t>
            </a:r>
            <a:endParaRPr sz="2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Noto Sans Symbols"/>
              <a:buNone/>
            </a:pPr>
            <a:r>
              <a:rPr lang="fr-FR" sz="2400">
                <a:solidFill>
                  <a:srgbClr val="FFFF00"/>
                </a:solidFill>
              </a:rPr>
              <a:t>                 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Faculté de Médecine Université Constantine 3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fr-FR" sz="2000">
                <a:latin typeface="Arial"/>
                <a:ea typeface="Arial"/>
                <a:cs typeface="Arial"/>
                <a:sym typeface="Arial"/>
              </a:rPr>
              <a:t>       Service de Physiologie Clinique et des Explorations Fonctionnelles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fr-FR" sz="2000">
                <a:latin typeface="Arial"/>
                <a:ea typeface="Arial"/>
                <a:cs typeface="Arial"/>
                <a:sym typeface="Arial"/>
              </a:rPr>
              <a:t>                                            CHU Constantine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fr-FR" sz="2000">
                <a:latin typeface="Arial"/>
                <a:ea typeface="Arial"/>
                <a:cs typeface="Arial"/>
                <a:sym typeface="Arial"/>
              </a:rPr>
              <a:t>                                 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C:\Users\insol\Desktop\2 éme Année Medecine\Cours Physio 2016 17\Cardio Vx\Artéres Coro.jp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5188" y="4714875"/>
            <a:ext cx="1857375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" name="Google Shape;105;p2"/>
          <p:cNvCxnSpPr/>
          <p:nvPr/>
        </p:nvCxnSpPr>
        <p:spPr>
          <a:xfrm>
            <a:off x="4784725" y="1239838"/>
            <a:ext cx="1588" cy="1587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106" name="Google Shape;106;p2"/>
          <p:cNvCxnSpPr/>
          <p:nvPr/>
        </p:nvCxnSpPr>
        <p:spPr>
          <a:xfrm>
            <a:off x="4784725" y="1239838"/>
            <a:ext cx="1588" cy="1587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107" name="Google Shape;107;p2"/>
          <p:cNvGrpSpPr/>
          <p:nvPr/>
        </p:nvGrpSpPr>
        <p:grpSpPr>
          <a:xfrm>
            <a:off x="1714500" y="1295400"/>
            <a:ext cx="5715000" cy="5205413"/>
            <a:chOff x="1475" y="816"/>
            <a:chExt cx="2872" cy="2910"/>
          </a:xfrm>
        </p:grpSpPr>
        <p:sp>
          <p:nvSpPr>
            <p:cNvPr id="108" name="Google Shape;108;p2"/>
            <p:cNvSpPr/>
            <p:nvPr/>
          </p:nvSpPr>
          <p:spPr>
            <a:xfrm>
              <a:off x="1850" y="2992"/>
              <a:ext cx="445" cy="650"/>
            </a:xfrm>
            <a:custGeom>
              <a:rect b="b" l="l" r="r" t="t"/>
              <a:pathLst>
                <a:path extrusionOk="0" h="241" w="165">
                  <a:moveTo>
                    <a:pt x="0" y="0"/>
                  </a:moveTo>
                  <a:cubicBezTo>
                    <a:pt x="0" y="0"/>
                    <a:pt x="28" y="134"/>
                    <a:pt x="23" y="191"/>
                  </a:cubicBezTo>
                  <a:cubicBezTo>
                    <a:pt x="23" y="191"/>
                    <a:pt x="113" y="241"/>
                    <a:pt x="165" y="181"/>
                  </a:cubicBezTo>
                  <a:cubicBezTo>
                    <a:pt x="165" y="181"/>
                    <a:pt x="157" y="134"/>
                    <a:pt x="164" y="78"/>
                  </a:cubicBezTo>
                  <a:cubicBezTo>
                    <a:pt x="164" y="78"/>
                    <a:pt x="49" y="3"/>
                    <a:pt x="0" y="0"/>
                  </a:cubicBezTo>
                  <a:close/>
                </a:path>
              </a:pathLst>
            </a:custGeom>
            <a:solidFill>
              <a:srgbClr val="AFCFE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850" y="2990"/>
              <a:ext cx="445" cy="652"/>
            </a:xfrm>
            <a:custGeom>
              <a:rect b="b" l="l" r="r" t="t"/>
              <a:pathLst>
                <a:path extrusionOk="0" h="242" w="165">
                  <a:moveTo>
                    <a:pt x="0" y="0"/>
                  </a:moveTo>
                  <a:cubicBezTo>
                    <a:pt x="0" y="0"/>
                    <a:pt x="28" y="135"/>
                    <a:pt x="23" y="192"/>
                  </a:cubicBezTo>
                  <a:cubicBezTo>
                    <a:pt x="23" y="192"/>
                    <a:pt x="113" y="242"/>
                    <a:pt x="165" y="181"/>
                  </a:cubicBezTo>
                  <a:cubicBezTo>
                    <a:pt x="165" y="181"/>
                    <a:pt x="157" y="135"/>
                    <a:pt x="164" y="78"/>
                  </a:cubicBezTo>
                  <a:cubicBezTo>
                    <a:pt x="164" y="78"/>
                    <a:pt x="49" y="3"/>
                    <a:pt x="0" y="0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866" y="3035"/>
              <a:ext cx="95" cy="480"/>
            </a:xfrm>
            <a:custGeom>
              <a:rect b="b" l="l" r="r" t="t"/>
              <a:pathLst>
                <a:path extrusionOk="0" h="178" w="35">
                  <a:moveTo>
                    <a:pt x="20" y="174"/>
                  </a:moveTo>
                  <a:cubicBezTo>
                    <a:pt x="20" y="174"/>
                    <a:pt x="27" y="150"/>
                    <a:pt x="0" y="0"/>
                  </a:cubicBezTo>
                  <a:cubicBezTo>
                    <a:pt x="0" y="0"/>
                    <a:pt x="20" y="11"/>
                    <a:pt x="27" y="15"/>
                  </a:cubicBezTo>
                  <a:cubicBezTo>
                    <a:pt x="35" y="19"/>
                    <a:pt x="21" y="166"/>
                    <a:pt x="28" y="178"/>
                  </a:cubicBezTo>
                  <a:cubicBezTo>
                    <a:pt x="28" y="178"/>
                    <a:pt x="22" y="175"/>
                    <a:pt x="20" y="174"/>
                  </a:cubicBezTo>
                  <a:close/>
                </a:path>
              </a:pathLst>
            </a:custGeom>
            <a:solidFill>
              <a:srgbClr val="DDE6E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874" y="3057"/>
              <a:ext cx="49" cy="356"/>
            </a:xfrm>
            <a:custGeom>
              <a:rect b="b" l="l" r="r" t="t"/>
              <a:pathLst>
                <a:path extrusionOk="0" h="132" w="18">
                  <a:moveTo>
                    <a:pt x="0" y="0"/>
                  </a:moveTo>
                  <a:cubicBezTo>
                    <a:pt x="0" y="0"/>
                    <a:pt x="16" y="100"/>
                    <a:pt x="18" y="132"/>
                  </a:cubicBezTo>
                  <a:cubicBezTo>
                    <a:pt x="18" y="132"/>
                    <a:pt x="9" y="2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761" y="1625"/>
              <a:ext cx="2583" cy="2101"/>
            </a:xfrm>
            <a:custGeom>
              <a:rect b="b" l="l" r="r" t="t"/>
              <a:pathLst>
                <a:path extrusionOk="0" h="779" w="958">
                  <a:moveTo>
                    <a:pt x="639" y="71"/>
                  </a:moveTo>
                  <a:cubicBezTo>
                    <a:pt x="639" y="71"/>
                    <a:pt x="774" y="131"/>
                    <a:pt x="808" y="319"/>
                  </a:cubicBezTo>
                  <a:cubicBezTo>
                    <a:pt x="842" y="507"/>
                    <a:pt x="958" y="609"/>
                    <a:pt x="808" y="703"/>
                  </a:cubicBezTo>
                  <a:cubicBezTo>
                    <a:pt x="706" y="767"/>
                    <a:pt x="705" y="779"/>
                    <a:pt x="603" y="753"/>
                  </a:cubicBezTo>
                  <a:cubicBezTo>
                    <a:pt x="520" y="733"/>
                    <a:pt x="168" y="693"/>
                    <a:pt x="84" y="514"/>
                  </a:cubicBezTo>
                  <a:cubicBezTo>
                    <a:pt x="0" y="335"/>
                    <a:pt x="144" y="145"/>
                    <a:pt x="289" y="76"/>
                  </a:cubicBezTo>
                  <a:cubicBezTo>
                    <a:pt x="448" y="0"/>
                    <a:pt x="639" y="71"/>
                    <a:pt x="639" y="71"/>
                  </a:cubicBezTo>
                  <a:close/>
                </a:path>
              </a:pathLst>
            </a:custGeom>
            <a:solidFill>
              <a:srgbClr val="EFE2E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2039" y="1838"/>
              <a:ext cx="2308" cy="1888"/>
            </a:xfrm>
            <a:custGeom>
              <a:rect b="b" l="l" r="r" t="t"/>
              <a:pathLst>
                <a:path extrusionOk="0" h="700" w="856">
                  <a:moveTo>
                    <a:pt x="551" y="0"/>
                  </a:moveTo>
                  <a:cubicBezTo>
                    <a:pt x="586" y="21"/>
                    <a:pt x="679" y="90"/>
                    <a:pt x="706" y="240"/>
                  </a:cubicBezTo>
                  <a:cubicBezTo>
                    <a:pt x="740" y="428"/>
                    <a:pt x="856" y="530"/>
                    <a:pt x="706" y="624"/>
                  </a:cubicBezTo>
                  <a:cubicBezTo>
                    <a:pt x="604" y="689"/>
                    <a:pt x="603" y="700"/>
                    <a:pt x="501" y="675"/>
                  </a:cubicBezTo>
                  <a:cubicBezTo>
                    <a:pt x="423" y="656"/>
                    <a:pt x="107" y="619"/>
                    <a:pt x="0" y="466"/>
                  </a:cubicBezTo>
                </a:path>
              </a:pathLst>
            </a:custGeom>
            <a:noFill/>
            <a:ln cap="flat" cmpd="sng" w="12700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939" y="2307"/>
              <a:ext cx="1715" cy="861"/>
            </a:xfrm>
            <a:custGeom>
              <a:rect b="b" l="l" r="r" t="t"/>
              <a:pathLst>
                <a:path extrusionOk="0" h="319" w="636">
                  <a:moveTo>
                    <a:pt x="475" y="269"/>
                  </a:moveTo>
                  <a:cubicBezTo>
                    <a:pt x="476" y="273"/>
                    <a:pt x="478" y="278"/>
                    <a:pt x="480" y="283"/>
                  </a:cubicBezTo>
                  <a:cubicBezTo>
                    <a:pt x="478" y="278"/>
                    <a:pt x="476" y="273"/>
                    <a:pt x="475" y="269"/>
                  </a:cubicBezTo>
                  <a:close/>
                  <a:moveTo>
                    <a:pt x="623" y="243"/>
                  </a:moveTo>
                  <a:cubicBezTo>
                    <a:pt x="616" y="234"/>
                    <a:pt x="605" y="229"/>
                    <a:pt x="598" y="221"/>
                  </a:cubicBezTo>
                  <a:cubicBezTo>
                    <a:pt x="591" y="213"/>
                    <a:pt x="587" y="203"/>
                    <a:pt x="580" y="196"/>
                  </a:cubicBezTo>
                  <a:cubicBezTo>
                    <a:pt x="573" y="191"/>
                    <a:pt x="567" y="190"/>
                    <a:pt x="560" y="188"/>
                  </a:cubicBezTo>
                  <a:cubicBezTo>
                    <a:pt x="553" y="182"/>
                    <a:pt x="542" y="177"/>
                    <a:pt x="533" y="172"/>
                  </a:cubicBezTo>
                  <a:cubicBezTo>
                    <a:pt x="500" y="155"/>
                    <a:pt x="487" y="121"/>
                    <a:pt x="447" y="116"/>
                  </a:cubicBezTo>
                  <a:cubicBezTo>
                    <a:pt x="415" y="111"/>
                    <a:pt x="392" y="93"/>
                    <a:pt x="362" y="82"/>
                  </a:cubicBezTo>
                  <a:cubicBezTo>
                    <a:pt x="351" y="77"/>
                    <a:pt x="339" y="73"/>
                    <a:pt x="327" y="70"/>
                  </a:cubicBezTo>
                  <a:cubicBezTo>
                    <a:pt x="333" y="65"/>
                    <a:pt x="340" y="60"/>
                    <a:pt x="346" y="55"/>
                  </a:cubicBezTo>
                  <a:cubicBezTo>
                    <a:pt x="356" y="47"/>
                    <a:pt x="362" y="37"/>
                    <a:pt x="372" y="29"/>
                  </a:cubicBezTo>
                  <a:cubicBezTo>
                    <a:pt x="382" y="20"/>
                    <a:pt x="391" y="20"/>
                    <a:pt x="402" y="16"/>
                  </a:cubicBezTo>
                  <a:cubicBezTo>
                    <a:pt x="415" y="12"/>
                    <a:pt x="430" y="7"/>
                    <a:pt x="441" y="0"/>
                  </a:cubicBezTo>
                  <a:cubicBezTo>
                    <a:pt x="416" y="13"/>
                    <a:pt x="384" y="7"/>
                    <a:pt x="361" y="26"/>
                  </a:cubicBezTo>
                  <a:cubicBezTo>
                    <a:pt x="354" y="32"/>
                    <a:pt x="350" y="41"/>
                    <a:pt x="343" y="48"/>
                  </a:cubicBezTo>
                  <a:cubicBezTo>
                    <a:pt x="337" y="53"/>
                    <a:pt x="329" y="57"/>
                    <a:pt x="323" y="61"/>
                  </a:cubicBezTo>
                  <a:cubicBezTo>
                    <a:pt x="312" y="66"/>
                    <a:pt x="303" y="65"/>
                    <a:pt x="292" y="64"/>
                  </a:cubicBezTo>
                  <a:cubicBezTo>
                    <a:pt x="292" y="64"/>
                    <a:pt x="292" y="64"/>
                    <a:pt x="292" y="64"/>
                  </a:cubicBezTo>
                  <a:cubicBezTo>
                    <a:pt x="288" y="64"/>
                    <a:pt x="285" y="64"/>
                    <a:pt x="281" y="64"/>
                  </a:cubicBezTo>
                  <a:cubicBezTo>
                    <a:pt x="252" y="67"/>
                    <a:pt x="223" y="69"/>
                    <a:pt x="198" y="85"/>
                  </a:cubicBezTo>
                  <a:cubicBezTo>
                    <a:pt x="184" y="95"/>
                    <a:pt x="170" y="103"/>
                    <a:pt x="157" y="116"/>
                  </a:cubicBezTo>
                  <a:cubicBezTo>
                    <a:pt x="148" y="126"/>
                    <a:pt x="139" y="136"/>
                    <a:pt x="128" y="146"/>
                  </a:cubicBezTo>
                  <a:cubicBezTo>
                    <a:pt x="106" y="163"/>
                    <a:pt x="82" y="178"/>
                    <a:pt x="57" y="189"/>
                  </a:cubicBezTo>
                  <a:cubicBezTo>
                    <a:pt x="39" y="196"/>
                    <a:pt x="19" y="206"/>
                    <a:pt x="0" y="206"/>
                  </a:cubicBezTo>
                  <a:cubicBezTo>
                    <a:pt x="6" y="221"/>
                    <a:pt x="6" y="221"/>
                    <a:pt x="6" y="221"/>
                  </a:cubicBezTo>
                  <a:cubicBezTo>
                    <a:pt x="19" y="222"/>
                    <a:pt x="32" y="218"/>
                    <a:pt x="44" y="213"/>
                  </a:cubicBezTo>
                  <a:cubicBezTo>
                    <a:pt x="51" y="215"/>
                    <a:pt x="61" y="212"/>
                    <a:pt x="69" y="214"/>
                  </a:cubicBezTo>
                  <a:cubicBezTo>
                    <a:pt x="79" y="217"/>
                    <a:pt x="87" y="224"/>
                    <a:pt x="97" y="227"/>
                  </a:cubicBezTo>
                  <a:cubicBezTo>
                    <a:pt x="103" y="232"/>
                    <a:pt x="106" y="238"/>
                    <a:pt x="110" y="243"/>
                  </a:cubicBezTo>
                  <a:cubicBezTo>
                    <a:pt x="115" y="251"/>
                    <a:pt x="123" y="250"/>
                    <a:pt x="132" y="251"/>
                  </a:cubicBezTo>
                  <a:cubicBezTo>
                    <a:pt x="136" y="252"/>
                    <a:pt x="140" y="251"/>
                    <a:pt x="145" y="252"/>
                  </a:cubicBezTo>
                  <a:cubicBezTo>
                    <a:pt x="151" y="255"/>
                    <a:pt x="155" y="260"/>
                    <a:pt x="161" y="263"/>
                  </a:cubicBezTo>
                  <a:cubicBezTo>
                    <a:pt x="171" y="270"/>
                    <a:pt x="179" y="274"/>
                    <a:pt x="191" y="274"/>
                  </a:cubicBezTo>
                  <a:cubicBezTo>
                    <a:pt x="179" y="274"/>
                    <a:pt x="172" y="268"/>
                    <a:pt x="162" y="261"/>
                  </a:cubicBezTo>
                  <a:cubicBezTo>
                    <a:pt x="157" y="258"/>
                    <a:pt x="152" y="253"/>
                    <a:pt x="146" y="250"/>
                  </a:cubicBezTo>
                  <a:cubicBezTo>
                    <a:pt x="142" y="249"/>
                    <a:pt x="138" y="250"/>
                    <a:pt x="133" y="249"/>
                  </a:cubicBezTo>
                  <a:cubicBezTo>
                    <a:pt x="124" y="248"/>
                    <a:pt x="116" y="249"/>
                    <a:pt x="111" y="241"/>
                  </a:cubicBezTo>
                  <a:cubicBezTo>
                    <a:pt x="108" y="237"/>
                    <a:pt x="106" y="233"/>
                    <a:pt x="102" y="229"/>
                  </a:cubicBezTo>
                  <a:cubicBezTo>
                    <a:pt x="103" y="229"/>
                    <a:pt x="105" y="230"/>
                    <a:pt x="106" y="230"/>
                  </a:cubicBezTo>
                  <a:cubicBezTo>
                    <a:pt x="117" y="231"/>
                    <a:pt x="130" y="229"/>
                    <a:pt x="141" y="230"/>
                  </a:cubicBezTo>
                  <a:cubicBezTo>
                    <a:pt x="155" y="230"/>
                    <a:pt x="167" y="233"/>
                    <a:pt x="180" y="239"/>
                  </a:cubicBezTo>
                  <a:cubicBezTo>
                    <a:pt x="196" y="247"/>
                    <a:pt x="211" y="245"/>
                    <a:pt x="228" y="245"/>
                  </a:cubicBezTo>
                  <a:cubicBezTo>
                    <a:pt x="211" y="245"/>
                    <a:pt x="197" y="243"/>
                    <a:pt x="181" y="235"/>
                  </a:cubicBezTo>
                  <a:cubicBezTo>
                    <a:pt x="169" y="229"/>
                    <a:pt x="157" y="226"/>
                    <a:pt x="143" y="226"/>
                  </a:cubicBezTo>
                  <a:cubicBezTo>
                    <a:pt x="131" y="225"/>
                    <a:pt x="119" y="227"/>
                    <a:pt x="107" y="226"/>
                  </a:cubicBezTo>
                  <a:cubicBezTo>
                    <a:pt x="93" y="224"/>
                    <a:pt x="84" y="213"/>
                    <a:pt x="70" y="210"/>
                  </a:cubicBezTo>
                  <a:cubicBezTo>
                    <a:pt x="65" y="209"/>
                    <a:pt x="57" y="210"/>
                    <a:pt x="51" y="210"/>
                  </a:cubicBezTo>
                  <a:cubicBezTo>
                    <a:pt x="55" y="208"/>
                    <a:pt x="59" y="206"/>
                    <a:pt x="63" y="205"/>
                  </a:cubicBezTo>
                  <a:cubicBezTo>
                    <a:pt x="85" y="195"/>
                    <a:pt x="106" y="182"/>
                    <a:pt x="125" y="168"/>
                  </a:cubicBezTo>
                  <a:cubicBezTo>
                    <a:pt x="131" y="165"/>
                    <a:pt x="137" y="163"/>
                    <a:pt x="143" y="162"/>
                  </a:cubicBezTo>
                  <a:cubicBezTo>
                    <a:pt x="157" y="160"/>
                    <a:pt x="172" y="161"/>
                    <a:pt x="186" y="160"/>
                  </a:cubicBezTo>
                  <a:cubicBezTo>
                    <a:pt x="201" y="158"/>
                    <a:pt x="211" y="167"/>
                    <a:pt x="226" y="166"/>
                  </a:cubicBezTo>
                  <a:cubicBezTo>
                    <a:pt x="233" y="166"/>
                    <a:pt x="241" y="163"/>
                    <a:pt x="249" y="162"/>
                  </a:cubicBezTo>
                  <a:cubicBezTo>
                    <a:pt x="241" y="162"/>
                    <a:pt x="234" y="161"/>
                    <a:pt x="226" y="162"/>
                  </a:cubicBezTo>
                  <a:cubicBezTo>
                    <a:pt x="219" y="162"/>
                    <a:pt x="213" y="161"/>
                    <a:pt x="206" y="159"/>
                  </a:cubicBezTo>
                  <a:cubicBezTo>
                    <a:pt x="200" y="157"/>
                    <a:pt x="194" y="156"/>
                    <a:pt x="187" y="156"/>
                  </a:cubicBezTo>
                  <a:cubicBezTo>
                    <a:pt x="181" y="157"/>
                    <a:pt x="175" y="158"/>
                    <a:pt x="169" y="158"/>
                  </a:cubicBezTo>
                  <a:cubicBezTo>
                    <a:pt x="164" y="158"/>
                    <a:pt x="158" y="158"/>
                    <a:pt x="151" y="159"/>
                  </a:cubicBezTo>
                  <a:cubicBezTo>
                    <a:pt x="146" y="159"/>
                    <a:pt x="140" y="159"/>
                    <a:pt x="135" y="160"/>
                  </a:cubicBezTo>
                  <a:cubicBezTo>
                    <a:pt x="145" y="151"/>
                    <a:pt x="154" y="141"/>
                    <a:pt x="163" y="132"/>
                  </a:cubicBezTo>
                  <a:cubicBezTo>
                    <a:pt x="176" y="119"/>
                    <a:pt x="190" y="111"/>
                    <a:pt x="204" y="101"/>
                  </a:cubicBezTo>
                  <a:cubicBezTo>
                    <a:pt x="213" y="95"/>
                    <a:pt x="223" y="91"/>
                    <a:pt x="233" y="88"/>
                  </a:cubicBezTo>
                  <a:cubicBezTo>
                    <a:pt x="259" y="91"/>
                    <a:pt x="271" y="107"/>
                    <a:pt x="287" y="130"/>
                  </a:cubicBezTo>
                  <a:cubicBezTo>
                    <a:pt x="297" y="143"/>
                    <a:pt x="305" y="160"/>
                    <a:pt x="318" y="169"/>
                  </a:cubicBezTo>
                  <a:cubicBezTo>
                    <a:pt x="328" y="176"/>
                    <a:pt x="340" y="179"/>
                    <a:pt x="351" y="181"/>
                  </a:cubicBezTo>
                  <a:cubicBezTo>
                    <a:pt x="338" y="176"/>
                    <a:pt x="328" y="172"/>
                    <a:pt x="318" y="162"/>
                  </a:cubicBezTo>
                  <a:cubicBezTo>
                    <a:pt x="307" y="151"/>
                    <a:pt x="299" y="138"/>
                    <a:pt x="292" y="125"/>
                  </a:cubicBezTo>
                  <a:cubicBezTo>
                    <a:pt x="286" y="114"/>
                    <a:pt x="278" y="105"/>
                    <a:pt x="270" y="95"/>
                  </a:cubicBezTo>
                  <a:cubicBezTo>
                    <a:pt x="268" y="93"/>
                    <a:pt x="261" y="88"/>
                    <a:pt x="254" y="84"/>
                  </a:cubicBezTo>
                  <a:cubicBezTo>
                    <a:pt x="265" y="82"/>
                    <a:pt x="276" y="81"/>
                    <a:pt x="287" y="80"/>
                  </a:cubicBezTo>
                  <a:cubicBezTo>
                    <a:pt x="314" y="78"/>
                    <a:pt x="343" y="88"/>
                    <a:pt x="368" y="97"/>
                  </a:cubicBezTo>
                  <a:cubicBezTo>
                    <a:pt x="374" y="99"/>
                    <a:pt x="379" y="102"/>
                    <a:pt x="385" y="104"/>
                  </a:cubicBezTo>
                  <a:cubicBezTo>
                    <a:pt x="395" y="113"/>
                    <a:pt x="403" y="124"/>
                    <a:pt x="408" y="139"/>
                  </a:cubicBezTo>
                  <a:cubicBezTo>
                    <a:pt x="414" y="159"/>
                    <a:pt x="411" y="181"/>
                    <a:pt x="418" y="201"/>
                  </a:cubicBezTo>
                  <a:cubicBezTo>
                    <a:pt x="425" y="219"/>
                    <a:pt x="440" y="229"/>
                    <a:pt x="454" y="241"/>
                  </a:cubicBezTo>
                  <a:cubicBezTo>
                    <a:pt x="465" y="250"/>
                    <a:pt x="470" y="258"/>
                    <a:pt x="475" y="269"/>
                  </a:cubicBezTo>
                  <a:cubicBezTo>
                    <a:pt x="470" y="256"/>
                    <a:pt x="467" y="244"/>
                    <a:pt x="456" y="233"/>
                  </a:cubicBezTo>
                  <a:cubicBezTo>
                    <a:pt x="451" y="227"/>
                    <a:pt x="444" y="222"/>
                    <a:pt x="439" y="217"/>
                  </a:cubicBezTo>
                  <a:cubicBezTo>
                    <a:pt x="433" y="210"/>
                    <a:pt x="428" y="201"/>
                    <a:pt x="424" y="193"/>
                  </a:cubicBezTo>
                  <a:cubicBezTo>
                    <a:pt x="413" y="169"/>
                    <a:pt x="418" y="138"/>
                    <a:pt x="406" y="115"/>
                  </a:cubicBezTo>
                  <a:cubicBezTo>
                    <a:pt x="421" y="122"/>
                    <a:pt x="435" y="129"/>
                    <a:pt x="453" y="131"/>
                  </a:cubicBezTo>
                  <a:cubicBezTo>
                    <a:pt x="493" y="137"/>
                    <a:pt x="506" y="171"/>
                    <a:pt x="539" y="188"/>
                  </a:cubicBezTo>
                  <a:cubicBezTo>
                    <a:pt x="555" y="197"/>
                    <a:pt x="564" y="205"/>
                    <a:pt x="566" y="224"/>
                  </a:cubicBezTo>
                  <a:cubicBezTo>
                    <a:pt x="567" y="233"/>
                    <a:pt x="565" y="243"/>
                    <a:pt x="567" y="251"/>
                  </a:cubicBezTo>
                  <a:cubicBezTo>
                    <a:pt x="570" y="261"/>
                    <a:pt x="577" y="264"/>
                    <a:pt x="583" y="270"/>
                  </a:cubicBezTo>
                  <a:cubicBezTo>
                    <a:pt x="596" y="285"/>
                    <a:pt x="594" y="302"/>
                    <a:pt x="590" y="319"/>
                  </a:cubicBezTo>
                  <a:cubicBezTo>
                    <a:pt x="607" y="294"/>
                    <a:pt x="590" y="269"/>
                    <a:pt x="577" y="255"/>
                  </a:cubicBezTo>
                  <a:cubicBezTo>
                    <a:pt x="571" y="248"/>
                    <a:pt x="572" y="216"/>
                    <a:pt x="571" y="207"/>
                  </a:cubicBezTo>
                  <a:cubicBezTo>
                    <a:pt x="571" y="203"/>
                    <a:pt x="570" y="200"/>
                    <a:pt x="568" y="197"/>
                  </a:cubicBezTo>
                  <a:cubicBezTo>
                    <a:pt x="579" y="205"/>
                    <a:pt x="591" y="224"/>
                    <a:pt x="598" y="231"/>
                  </a:cubicBezTo>
                  <a:cubicBezTo>
                    <a:pt x="604" y="237"/>
                    <a:pt x="612" y="240"/>
                    <a:pt x="619" y="246"/>
                  </a:cubicBezTo>
                  <a:cubicBezTo>
                    <a:pt x="627" y="251"/>
                    <a:pt x="630" y="258"/>
                    <a:pt x="636" y="266"/>
                  </a:cubicBezTo>
                  <a:cubicBezTo>
                    <a:pt x="632" y="257"/>
                    <a:pt x="629" y="249"/>
                    <a:pt x="623" y="243"/>
                  </a:cubicBez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3764" y="2124"/>
              <a:ext cx="100" cy="507"/>
            </a:xfrm>
            <a:custGeom>
              <a:rect b="b" l="l" r="r" t="t"/>
              <a:pathLst>
                <a:path extrusionOk="0" h="188" w="37">
                  <a:moveTo>
                    <a:pt x="33" y="34"/>
                  </a:moveTo>
                  <a:cubicBezTo>
                    <a:pt x="37" y="46"/>
                    <a:pt x="34" y="56"/>
                    <a:pt x="34" y="59"/>
                  </a:cubicBezTo>
                  <a:cubicBezTo>
                    <a:pt x="33" y="72"/>
                    <a:pt x="18" y="79"/>
                    <a:pt x="13" y="91"/>
                  </a:cubicBezTo>
                  <a:cubicBezTo>
                    <a:pt x="7" y="108"/>
                    <a:pt x="12" y="124"/>
                    <a:pt x="20" y="138"/>
                  </a:cubicBezTo>
                  <a:cubicBezTo>
                    <a:pt x="29" y="154"/>
                    <a:pt x="31" y="170"/>
                    <a:pt x="28" y="188"/>
                  </a:cubicBezTo>
                  <a:cubicBezTo>
                    <a:pt x="28" y="176"/>
                    <a:pt x="27" y="165"/>
                    <a:pt x="22" y="154"/>
                  </a:cubicBezTo>
                  <a:cubicBezTo>
                    <a:pt x="19" y="147"/>
                    <a:pt x="14" y="142"/>
                    <a:pt x="10" y="134"/>
                  </a:cubicBezTo>
                  <a:cubicBezTo>
                    <a:pt x="3" y="120"/>
                    <a:pt x="0" y="102"/>
                    <a:pt x="6" y="86"/>
                  </a:cubicBezTo>
                  <a:cubicBezTo>
                    <a:pt x="12" y="69"/>
                    <a:pt x="27" y="56"/>
                    <a:pt x="28" y="37"/>
                  </a:cubicBezTo>
                  <a:cubicBezTo>
                    <a:pt x="29" y="22"/>
                    <a:pt x="14" y="15"/>
                    <a:pt x="13" y="0"/>
                  </a:cubicBezTo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2316" y="3192"/>
              <a:ext cx="480" cy="159"/>
            </a:xfrm>
            <a:custGeom>
              <a:rect b="b" l="l" r="r" t="t"/>
              <a:pathLst>
                <a:path extrusionOk="0" h="59" w="178">
                  <a:moveTo>
                    <a:pt x="10" y="59"/>
                  </a:moveTo>
                  <a:cubicBezTo>
                    <a:pt x="15" y="58"/>
                    <a:pt x="24" y="51"/>
                    <a:pt x="30" y="47"/>
                  </a:cubicBezTo>
                  <a:cubicBezTo>
                    <a:pt x="35" y="43"/>
                    <a:pt x="39" y="37"/>
                    <a:pt x="44" y="32"/>
                  </a:cubicBezTo>
                  <a:cubicBezTo>
                    <a:pt x="52" y="26"/>
                    <a:pt x="60" y="25"/>
                    <a:pt x="70" y="25"/>
                  </a:cubicBezTo>
                  <a:cubicBezTo>
                    <a:pt x="82" y="25"/>
                    <a:pt x="90" y="25"/>
                    <a:pt x="101" y="21"/>
                  </a:cubicBezTo>
                  <a:cubicBezTo>
                    <a:pt x="112" y="17"/>
                    <a:pt x="121" y="12"/>
                    <a:pt x="131" y="8"/>
                  </a:cubicBezTo>
                  <a:cubicBezTo>
                    <a:pt x="141" y="4"/>
                    <a:pt x="149" y="2"/>
                    <a:pt x="160" y="3"/>
                  </a:cubicBezTo>
                  <a:cubicBezTo>
                    <a:pt x="165" y="3"/>
                    <a:pt x="175" y="5"/>
                    <a:pt x="178" y="8"/>
                  </a:cubicBezTo>
                  <a:cubicBezTo>
                    <a:pt x="170" y="1"/>
                    <a:pt x="155" y="0"/>
                    <a:pt x="144" y="1"/>
                  </a:cubicBezTo>
                  <a:cubicBezTo>
                    <a:pt x="133" y="2"/>
                    <a:pt x="125" y="7"/>
                    <a:pt x="114" y="10"/>
                  </a:cubicBezTo>
                  <a:cubicBezTo>
                    <a:pt x="103" y="13"/>
                    <a:pt x="92" y="16"/>
                    <a:pt x="81" y="18"/>
                  </a:cubicBezTo>
                  <a:cubicBezTo>
                    <a:pt x="70" y="21"/>
                    <a:pt x="58" y="17"/>
                    <a:pt x="48" y="19"/>
                  </a:cubicBezTo>
                  <a:cubicBezTo>
                    <a:pt x="39" y="22"/>
                    <a:pt x="33" y="33"/>
                    <a:pt x="26" y="38"/>
                  </a:cubicBezTo>
                  <a:cubicBezTo>
                    <a:pt x="21" y="41"/>
                    <a:pt x="17" y="44"/>
                    <a:pt x="12" y="47"/>
                  </a:cubicBezTo>
                  <a:cubicBezTo>
                    <a:pt x="8" y="50"/>
                    <a:pt x="4" y="50"/>
                    <a:pt x="0" y="51"/>
                  </a:cubicBezTo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3816" y="2979"/>
              <a:ext cx="283" cy="86"/>
            </a:xfrm>
            <a:custGeom>
              <a:rect b="b" l="l" r="r" t="t"/>
              <a:pathLst>
                <a:path extrusionOk="0" h="32" w="105">
                  <a:moveTo>
                    <a:pt x="105" y="10"/>
                  </a:moveTo>
                  <a:cubicBezTo>
                    <a:pt x="87" y="23"/>
                    <a:pt x="72" y="32"/>
                    <a:pt x="48" y="22"/>
                  </a:cubicBezTo>
                  <a:cubicBezTo>
                    <a:pt x="39" y="18"/>
                    <a:pt x="33" y="11"/>
                    <a:pt x="23" y="9"/>
                  </a:cubicBezTo>
                  <a:cubicBezTo>
                    <a:pt x="15" y="7"/>
                    <a:pt x="6" y="9"/>
                    <a:pt x="0" y="3"/>
                  </a:cubicBezTo>
                  <a:cubicBezTo>
                    <a:pt x="8" y="7"/>
                    <a:pt x="20" y="4"/>
                    <a:pt x="29" y="6"/>
                  </a:cubicBezTo>
                  <a:cubicBezTo>
                    <a:pt x="39" y="8"/>
                    <a:pt x="44" y="15"/>
                    <a:pt x="53" y="19"/>
                  </a:cubicBezTo>
                  <a:cubicBezTo>
                    <a:pt x="69" y="24"/>
                    <a:pt x="98" y="20"/>
                    <a:pt x="100" y="0"/>
                  </a:cubicBezTo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748" y="3343"/>
              <a:ext cx="256" cy="159"/>
            </a:xfrm>
            <a:custGeom>
              <a:rect b="b" l="l" r="r" t="t"/>
              <a:pathLst>
                <a:path extrusionOk="0" h="59" w="95">
                  <a:moveTo>
                    <a:pt x="95" y="48"/>
                  </a:moveTo>
                  <a:cubicBezTo>
                    <a:pt x="69" y="59"/>
                    <a:pt x="71" y="46"/>
                    <a:pt x="56" y="27"/>
                  </a:cubicBezTo>
                  <a:cubicBezTo>
                    <a:pt x="44" y="12"/>
                    <a:pt x="24" y="0"/>
                    <a:pt x="0" y="12"/>
                  </a:cubicBezTo>
                  <a:cubicBezTo>
                    <a:pt x="24" y="5"/>
                    <a:pt x="40" y="14"/>
                    <a:pt x="56" y="32"/>
                  </a:cubicBezTo>
                  <a:cubicBezTo>
                    <a:pt x="69" y="46"/>
                    <a:pt x="65" y="59"/>
                    <a:pt x="87" y="54"/>
                  </a:cubicBezTo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3422" y="3203"/>
              <a:ext cx="299" cy="482"/>
            </a:xfrm>
            <a:custGeom>
              <a:rect b="b" l="l" r="r" t="t"/>
              <a:pathLst>
                <a:path extrusionOk="0" h="179" w="111">
                  <a:moveTo>
                    <a:pt x="48" y="0"/>
                  </a:moveTo>
                  <a:cubicBezTo>
                    <a:pt x="49" y="0"/>
                    <a:pt x="50" y="1"/>
                    <a:pt x="50" y="2"/>
                  </a:cubicBezTo>
                  <a:cubicBezTo>
                    <a:pt x="50" y="1"/>
                    <a:pt x="49" y="0"/>
                    <a:pt x="48" y="0"/>
                  </a:cubicBezTo>
                  <a:close/>
                  <a:moveTo>
                    <a:pt x="108" y="8"/>
                  </a:moveTo>
                  <a:cubicBezTo>
                    <a:pt x="106" y="29"/>
                    <a:pt x="106" y="51"/>
                    <a:pt x="88" y="63"/>
                  </a:cubicBezTo>
                  <a:cubicBezTo>
                    <a:pt x="82" y="68"/>
                    <a:pt x="73" y="70"/>
                    <a:pt x="66" y="74"/>
                  </a:cubicBezTo>
                  <a:cubicBezTo>
                    <a:pt x="60" y="78"/>
                    <a:pt x="54" y="83"/>
                    <a:pt x="50" y="89"/>
                  </a:cubicBezTo>
                  <a:cubicBezTo>
                    <a:pt x="52" y="84"/>
                    <a:pt x="54" y="79"/>
                    <a:pt x="57" y="73"/>
                  </a:cubicBezTo>
                  <a:cubicBezTo>
                    <a:pt x="60" y="62"/>
                    <a:pt x="64" y="49"/>
                    <a:pt x="64" y="38"/>
                  </a:cubicBezTo>
                  <a:cubicBezTo>
                    <a:pt x="63" y="27"/>
                    <a:pt x="59" y="11"/>
                    <a:pt x="50" y="2"/>
                  </a:cubicBezTo>
                  <a:cubicBezTo>
                    <a:pt x="59" y="12"/>
                    <a:pt x="62" y="34"/>
                    <a:pt x="61" y="44"/>
                  </a:cubicBezTo>
                  <a:cubicBezTo>
                    <a:pt x="58" y="60"/>
                    <a:pt x="47" y="72"/>
                    <a:pt x="42" y="87"/>
                  </a:cubicBezTo>
                  <a:cubicBezTo>
                    <a:pt x="36" y="103"/>
                    <a:pt x="45" y="115"/>
                    <a:pt x="45" y="130"/>
                  </a:cubicBezTo>
                  <a:cubicBezTo>
                    <a:pt x="45" y="143"/>
                    <a:pt x="37" y="156"/>
                    <a:pt x="26" y="164"/>
                  </a:cubicBezTo>
                  <a:cubicBezTo>
                    <a:pt x="19" y="169"/>
                    <a:pt x="9" y="170"/>
                    <a:pt x="0" y="170"/>
                  </a:cubicBezTo>
                  <a:cubicBezTo>
                    <a:pt x="20" y="178"/>
                    <a:pt x="20" y="178"/>
                    <a:pt x="20" y="178"/>
                  </a:cubicBezTo>
                  <a:cubicBezTo>
                    <a:pt x="31" y="179"/>
                    <a:pt x="44" y="156"/>
                    <a:pt x="48" y="148"/>
                  </a:cubicBezTo>
                  <a:cubicBezTo>
                    <a:pt x="51" y="141"/>
                    <a:pt x="54" y="134"/>
                    <a:pt x="54" y="126"/>
                  </a:cubicBezTo>
                  <a:cubicBezTo>
                    <a:pt x="53" y="119"/>
                    <a:pt x="50" y="113"/>
                    <a:pt x="49" y="107"/>
                  </a:cubicBezTo>
                  <a:cubicBezTo>
                    <a:pt x="51" y="99"/>
                    <a:pt x="59" y="91"/>
                    <a:pt x="62" y="87"/>
                  </a:cubicBezTo>
                  <a:cubicBezTo>
                    <a:pt x="72" y="77"/>
                    <a:pt x="86" y="72"/>
                    <a:pt x="95" y="62"/>
                  </a:cubicBezTo>
                  <a:cubicBezTo>
                    <a:pt x="104" y="52"/>
                    <a:pt x="108" y="41"/>
                    <a:pt x="110" y="28"/>
                  </a:cubicBezTo>
                  <a:cubicBezTo>
                    <a:pt x="111" y="20"/>
                    <a:pt x="109" y="16"/>
                    <a:pt x="108" y="8"/>
                  </a:cubicBez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2039" y="3111"/>
              <a:ext cx="240" cy="261"/>
            </a:xfrm>
            <a:custGeom>
              <a:rect b="b" l="l" r="r" t="t"/>
              <a:pathLst>
                <a:path extrusionOk="0" h="97" w="89">
                  <a:moveTo>
                    <a:pt x="0" y="0"/>
                  </a:moveTo>
                  <a:cubicBezTo>
                    <a:pt x="0" y="0"/>
                    <a:pt x="45" y="58"/>
                    <a:pt x="88" y="78"/>
                  </a:cubicBezTo>
                  <a:cubicBezTo>
                    <a:pt x="89" y="97"/>
                    <a:pt x="89" y="97"/>
                    <a:pt x="89" y="97"/>
                  </a:cubicBezTo>
                  <a:cubicBezTo>
                    <a:pt x="89" y="97"/>
                    <a:pt x="9" y="35"/>
                    <a:pt x="0" y="0"/>
                  </a:cubicBezTo>
                  <a:close/>
                </a:path>
              </a:pathLst>
            </a:custGeom>
            <a:solidFill>
              <a:srgbClr val="89BED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133" y="1957"/>
              <a:ext cx="718" cy="1739"/>
            </a:xfrm>
            <a:custGeom>
              <a:rect b="b" l="l" r="r" t="t"/>
              <a:pathLst>
                <a:path extrusionOk="0" h="645" w="266">
                  <a:moveTo>
                    <a:pt x="139" y="285"/>
                  </a:moveTo>
                  <a:cubicBezTo>
                    <a:pt x="145" y="304"/>
                    <a:pt x="158" y="317"/>
                    <a:pt x="172" y="330"/>
                  </a:cubicBezTo>
                  <a:cubicBezTo>
                    <a:pt x="189" y="348"/>
                    <a:pt x="190" y="366"/>
                    <a:pt x="191" y="389"/>
                  </a:cubicBezTo>
                  <a:cubicBezTo>
                    <a:pt x="194" y="437"/>
                    <a:pt x="259" y="435"/>
                    <a:pt x="266" y="481"/>
                  </a:cubicBezTo>
                  <a:cubicBezTo>
                    <a:pt x="259" y="435"/>
                    <a:pt x="199" y="427"/>
                    <a:pt x="197" y="380"/>
                  </a:cubicBezTo>
                  <a:cubicBezTo>
                    <a:pt x="196" y="356"/>
                    <a:pt x="195" y="338"/>
                    <a:pt x="178" y="321"/>
                  </a:cubicBezTo>
                  <a:cubicBezTo>
                    <a:pt x="164" y="307"/>
                    <a:pt x="151" y="295"/>
                    <a:pt x="144" y="276"/>
                  </a:cubicBezTo>
                  <a:cubicBezTo>
                    <a:pt x="139" y="260"/>
                    <a:pt x="139" y="243"/>
                    <a:pt x="138" y="227"/>
                  </a:cubicBezTo>
                  <a:cubicBezTo>
                    <a:pt x="154" y="198"/>
                    <a:pt x="154" y="160"/>
                    <a:pt x="148" y="129"/>
                  </a:cubicBezTo>
                  <a:cubicBezTo>
                    <a:pt x="142" y="97"/>
                    <a:pt x="153" y="66"/>
                    <a:pt x="176" y="42"/>
                  </a:cubicBezTo>
                  <a:cubicBezTo>
                    <a:pt x="188" y="29"/>
                    <a:pt x="194" y="36"/>
                    <a:pt x="222" y="21"/>
                  </a:cubicBezTo>
                  <a:cubicBezTo>
                    <a:pt x="229" y="31"/>
                    <a:pt x="229" y="31"/>
                    <a:pt x="229" y="31"/>
                  </a:cubicBezTo>
                  <a:cubicBezTo>
                    <a:pt x="229" y="31"/>
                    <a:pt x="230" y="14"/>
                    <a:pt x="224" y="7"/>
                  </a:cubicBezTo>
                  <a:cubicBezTo>
                    <a:pt x="217" y="0"/>
                    <a:pt x="205" y="3"/>
                    <a:pt x="205" y="3"/>
                  </a:cubicBezTo>
                  <a:cubicBezTo>
                    <a:pt x="184" y="14"/>
                    <a:pt x="167" y="15"/>
                    <a:pt x="149" y="34"/>
                  </a:cubicBezTo>
                  <a:cubicBezTo>
                    <a:pt x="126" y="58"/>
                    <a:pt x="119" y="89"/>
                    <a:pt x="125" y="121"/>
                  </a:cubicBezTo>
                  <a:cubicBezTo>
                    <a:pt x="131" y="152"/>
                    <a:pt x="133" y="190"/>
                    <a:pt x="118" y="219"/>
                  </a:cubicBezTo>
                  <a:cubicBezTo>
                    <a:pt x="98" y="255"/>
                    <a:pt x="94" y="284"/>
                    <a:pt x="107" y="325"/>
                  </a:cubicBezTo>
                  <a:cubicBezTo>
                    <a:pt x="114" y="346"/>
                    <a:pt x="122" y="361"/>
                    <a:pt x="122" y="383"/>
                  </a:cubicBezTo>
                  <a:cubicBezTo>
                    <a:pt x="122" y="399"/>
                    <a:pt x="119" y="413"/>
                    <a:pt x="115" y="427"/>
                  </a:cubicBezTo>
                  <a:cubicBezTo>
                    <a:pt x="108" y="439"/>
                    <a:pt x="100" y="450"/>
                    <a:pt x="92" y="456"/>
                  </a:cubicBezTo>
                  <a:cubicBezTo>
                    <a:pt x="82" y="464"/>
                    <a:pt x="70" y="464"/>
                    <a:pt x="60" y="471"/>
                  </a:cubicBezTo>
                  <a:cubicBezTo>
                    <a:pt x="53" y="476"/>
                    <a:pt x="45" y="487"/>
                    <a:pt x="42" y="495"/>
                  </a:cubicBezTo>
                  <a:cubicBezTo>
                    <a:pt x="34" y="513"/>
                    <a:pt x="37" y="531"/>
                    <a:pt x="22" y="547"/>
                  </a:cubicBezTo>
                  <a:cubicBezTo>
                    <a:pt x="13" y="557"/>
                    <a:pt x="4" y="559"/>
                    <a:pt x="0" y="573"/>
                  </a:cubicBezTo>
                  <a:cubicBezTo>
                    <a:pt x="4" y="559"/>
                    <a:pt x="16" y="565"/>
                    <a:pt x="25" y="555"/>
                  </a:cubicBezTo>
                  <a:cubicBezTo>
                    <a:pt x="41" y="540"/>
                    <a:pt x="37" y="521"/>
                    <a:pt x="45" y="503"/>
                  </a:cubicBezTo>
                  <a:cubicBezTo>
                    <a:pt x="49" y="495"/>
                    <a:pt x="56" y="484"/>
                    <a:pt x="64" y="479"/>
                  </a:cubicBezTo>
                  <a:cubicBezTo>
                    <a:pt x="73" y="472"/>
                    <a:pt x="85" y="472"/>
                    <a:pt x="95" y="464"/>
                  </a:cubicBezTo>
                  <a:cubicBezTo>
                    <a:pt x="100" y="460"/>
                    <a:pt x="105" y="455"/>
                    <a:pt x="109" y="449"/>
                  </a:cubicBezTo>
                  <a:cubicBezTo>
                    <a:pt x="103" y="477"/>
                    <a:pt x="99" y="503"/>
                    <a:pt x="97" y="533"/>
                  </a:cubicBezTo>
                  <a:cubicBezTo>
                    <a:pt x="95" y="571"/>
                    <a:pt x="106" y="607"/>
                    <a:pt x="130" y="636"/>
                  </a:cubicBezTo>
                  <a:cubicBezTo>
                    <a:pt x="132" y="639"/>
                    <a:pt x="134" y="642"/>
                    <a:pt x="138" y="645"/>
                  </a:cubicBezTo>
                  <a:cubicBezTo>
                    <a:pt x="115" y="616"/>
                    <a:pt x="111" y="579"/>
                    <a:pt x="113" y="541"/>
                  </a:cubicBezTo>
                  <a:cubicBezTo>
                    <a:pt x="115" y="507"/>
                    <a:pt x="126" y="480"/>
                    <a:pt x="134" y="447"/>
                  </a:cubicBezTo>
                  <a:cubicBezTo>
                    <a:pt x="135" y="442"/>
                    <a:pt x="136" y="436"/>
                    <a:pt x="138" y="431"/>
                  </a:cubicBezTo>
                  <a:cubicBezTo>
                    <a:pt x="144" y="451"/>
                    <a:pt x="154" y="471"/>
                    <a:pt x="168" y="485"/>
                  </a:cubicBezTo>
                  <a:cubicBezTo>
                    <a:pt x="168" y="485"/>
                    <a:pt x="168" y="486"/>
                    <a:pt x="169" y="486"/>
                  </a:cubicBezTo>
                  <a:cubicBezTo>
                    <a:pt x="176" y="509"/>
                    <a:pt x="165" y="523"/>
                    <a:pt x="154" y="543"/>
                  </a:cubicBezTo>
                  <a:cubicBezTo>
                    <a:pt x="144" y="563"/>
                    <a:pt x="141" y="586"/>
                    <a:pt x="152" y="606"/>
                  </a:cubicBezTo>
                  <a:cubicBezTo>
                    <a:pt x="141" y="586"/>
                    <a:pt x="151" y="565"/>
                    <a:pt x="162" y="546"/>
                  </a:cubicBezTo>
                  <a:cubicBezTo>
                    <a:pt x="172" y="527"/>
                    <a:pt x="181" y="513"/>
                    <a:pt x="177" y="494"/>
                  </a:cubicBezTo>
                  <a:cubicBezTo>
                    <a:pt x="194" y="507"/>
                    <a:pt x="212" y="519"/>
                    <a:pt x="219" y="540"/>
                  </a:cubicBezTo>
                  <a:cubicBezTo>
                    <a:pt x="227" y="562"/>
                    <a:pt x="234" y="593"/>
                    <a:pt x="223" y="614"/>
                  </a:cubicBezTo>
                  <a:cubicBezTo>
                    <a:pt x="234" y="593"/>
                    <a:pt x="234" y="558"/>
                    <a:pt x="226" y="536"/>
                  </a:cubicBezTo>
                  <a:cubicBezTo>
                    <a:pt x="217" y="511"/>
                    <a:pt x="193" y="499"/>
                    <a:pt x="174" y="481"/>
                  </a:cubicBezTo>
                  <a:cubicBezTo>
                    <a:pt x="158" y="465"/>
                    <a:pt x="147" y="438"/>
                    <a:pt x="141" y="413"/>
                  </a:cubicBezTo>
                  <a:cubicBezTo>
                    <a:pt x="142" y="405"/>
                    <a:pt x="143" y="397"/>
                    <a:pt x="143" y="389"/>
                  </a:cubicBezTo>
                  <a:cubicBezTo>
                    <a:pt x="143" y="367"/>
                    <a:pt x="133" y="351"/>
                    <a:pt x="127" y="331"/>
                  </a:cubicBezTo>
                  <a:cubicBezTo>
                    <a:pt x="115" y="294"/>
                    <a:pt x="118" y="269"/>
                    <a:pt x="133" y="238"/>
                  </a:cubicBezTo>
                  <a:cubicBezTo>
                    <a:pt x="133" y="254"/>
                    <a:pt x="134" y="270"/>
                    <a:pt x="139" y="285"/>
                  </a:cubicBezTo>
                  <a:close/>
                </a:path>
              </a:pathLst>
            </a:custGeom>
            <a:solidFill>
              <a:srgbClr val="AFCFE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133" y="1957"/>
              <a:ext cx="718" cy="1739"/>
            </a:xfrm>
            <a:custGeom>
              <a:rect b="b" l="l" r="r" t="t"/>
              <a:pathLst>
                <a:path extrusionOk="0" h="645" w="266">
                  <a:moveTo>
                    <a:pt x="139" y="285"/>
                  </a:moveTo>
                  <a:cubicBezTo>
                    <a:pt x="145" y="304"/>
                    <a:pt x="158" y="317"/>
                    <a:pt x="172" y="330"/>
                  </a:cubicBezTo>
                  <a:cubicBezTo>
                    <a:pt x="189" y="348"/>
                    <a:pt x="190" y="366"/>
                    <a:pt x="191" y="389"/>
                  </a:cubicBezTo>
                  <a:cubicBezTo>
                    <a:pt x="194" y="437"/>
                    <a:pt x="259" y="435"/>
                    <a:pt x="266" y="481"/>
                  </a:cubicBezTo>
                  <a:cubicBezTo>
                    <a:pt x="259" y="435"/>
                    <a:pt x="199" y="427"/>
                    <a:pt x="197" y="380"/>
                  </a:cubicBezTo>
                  <a:cubicBezTo>
                    <a:pt x="196" y="356"/>
                    <a:pt x="195" y="338"/>
                    <a:pt x="178" y="321"/>
                  </a:cubicBezTo>
                  <a:cubicBezTo>
                    <a:pt x="164" y="307"/>
                    <a:pt x="151" y="295"/>
                    <a:pt x="144" y="276"/>
                  </a:cubicBezTo>
                  <a:cubicBezTo>
                    <a:pt x="139" y="260"/>
                    <a:pt x="139" y="243"/>
                    <a:pt x="138" y="227"/>
                  </a:cubicBezTo>
                  <a:cubicBezTo>
                    <a:pt x="154" y="198"/>
                    <a:pt x="154" y="160"/>
                    <a:pt x="148" y="129"/>
                  </a:cubicBezTo>
                  <a:cubicBezTo>
                    <a:pt x="142" y="97"/>
                    <a:pt x="153" y="66"/>
                    <a:pt x="176" y="42"/>
                  </a:cubicBezTo>
                  <a:cubicBezTo>
                    <a:pt x="188" y="29"/>
                    <a:pt x="194" y="36"/>
                    <a:pt x="222" y="21"/>
                  </a:cubicBezTo>
                  <a:cubicBezTo>
                    <a:pt x="229" y="31"/>
                    <a:pt x="229" y="31"/>
                    <a:pt x="229" y="31"/>
                  </a:cubicBezTo>
                  <a:cubicBezTo>
                    <a:pt x="229" y="31"/>
                    <a:pt x="230" y="14"/>
                    <a:pt x="224" y="7"/>
                  </a:cubicBezTo>
                  <a:cubicBezTo>
                    <a:pt x="217" y="0"/>
                    <a:pt x="205" y="3"/>
                    <a:pt x="205" y="3"/>
                  </a:cubicBezTo>
                  <a:cubicBezTo>
                    <a:pt x="184" y="14"/>
                    <a:pt x="167" y="15"/>
                    <a:pt x="149" y="34"/>
                  </a:cubicBezTo>
                  <a:cubicBezTo>
                    <a:pt x="126" y="58"/>
                    <a:pt x="119" y="89"/>
                    <a:pt x="125" y="121"/>
                  </a:cubicBezTo>
                  <a:cubicBezTo>
                    <a:pt x="131" y="152"/>
                    <a:pt x="133" y="190"/>
                    <a:pt x="118" y="219"/>
                  </a:cubicBezTo>
                  <a:cubicBezTo>
                    <a:pt x="98" y="255"/>
                    <a:pt x="94" y="284"/>
                    <a:pt x="107" y="325"/>
                  </a:cubicBezTo>
                  <a:cubicBezTo>
                    <a:pt x="114" y="346"/>
                    <a:pt x="122" y="361"/>
                    <a:pt x="122" y="383"/>
                  </a:cubicBezTo>
                  <a:cubicBezTo>
                    <a:pt x="122" y="399"/>
                    <a:pt x="119" y="413"/>
                    <a:pt x="115" y="427"/>
                  </a:cubicBezTo>
                  <a:cubicBezTo>
                    <a:pt x="108" y="439"/>
                    <a:pt x="100" y="450"/>
                    <a:pt x="92" y="456"/>
                  </a:cubicBezTo>
                  <a:cubicBezTo>
                    <a:pt x="82" y="464"/>
                    <a:pt x="70" y="464"/>
                    <a:pt x="60" y="471"/>
                  </a:cubicBezTo>
                  <a:cubicBezTo>
                    <a:pt x="53" y="476"/>
                    <a:pt x="45" y="487"/>
                    <a:pt x="42" y="495"/>
                  </a:cubicBezTo>
                  <a:cubicBezTo>
                    <a:pt x="34" y="513"/>
                    <a:pt x="37" y="531"/>
                    <a:pt x="22" y="547"/>
                  </a:cubicBezTo>
                  <a:cubicBezTo>
                    <a:pt x="13" y="557"/>
                    <a:pt x="4" y="559"/>
                    <a:pt x="0" y="573"/>
                  </a:cubicBezTo>
                  <a:cubicBezTo>
                    <a:pt x="4" y="559"/>
                    <a:pt x="16" y="565"/>
                    <a:pt x="25" y="555"/>
                  </a:cubicBezTo>
                  <a:cubicBezTo>
                    <a:pt x="41" y="540"/>
                    <a:pt x="37" y="521"/>
                    <a:pt x="45" y="503"/>
                  </a:cubicBezTo>
                  <a:cubicBezTo>
                    <a:pt x="49" y="495"/>
                    <a:pt x="56" y="484"/>
                    <a:pt x="64" y="479"/>
                  </a:cubicBezTo>
                  <a:cubicBezTo>
                    <a:pt x="73" y="472"/>
                    <a:pt x="85" y="472"/>
                    <a:pt x="95" y="464"/>
                  </a:cubicBezTo>
                  <a:cubicBezTo>
                    <a:pt x="100" y="460"/>
                    <a:pt x="105" y="455"/>
                    <a:pt x="109" y="449"/>
                  </a:cubicBezTo>
                  <a:cubicBezTo>
                    <a:pt x="103" y="477"/>
                    <a:pt x="99" y="503"/>
                    <a:pt x="97" y="533"/>
                  </a:cubicBezTo>
                  <a:cubicBezTo>
                    <a:pt x="95" y="571"/>
                    <a:pt x="106" y="607"/>
                    <a:pt x="130" y="636"/>
                  </a:cubicBezTo>
                  <a:cubicBezTo>
                    <a:pt x="132" y="639"/>
                    <a:pt x="134" y="642"/>
                    <a:pt x="138" y="645"/>
                  </a:cubicBezTo>
                  <a:cubicBezTo>
                    <a:pt x="115" y="616"/>
                    <a:pt x="111" y="579"/>
                    <a:pt x="113" y="541"/>
                  </a:cubicBezTo>
                  <a:cubicBezTo>
                    <a:pt x="115" y="507"/>
                    <a:pt x="126" y="480"/>
                    <a:pt x="134" y="447"/>
                  </a:cubicBezTo>
                  <a:cubicBezTo>
                    <a:pt x="135" y="442"/>
                    <a:pt x="136" y="436"/>
                    <a:pt x="138" y="431"/>
                  </a:cubicBezTo>
                  <a:cubicBezTo>
                    <a:pt x="144" y="451"/>
                    <a:pt x="154" y="471"/>
                    <a:pt x="168" y="485"/>
                  </a:cubicBezTo>
                  <a:cubicBezTo>
                    <a:pt x="168" y="485"/>
                    <a:pt x="168" y="486"/>
                    <a:pt x="169" y="486"/>
                  </a:cubicBezTo>
                  <a:cubicBezTo>
                    <a:pt x="176" y="509"/>
                    <a:pt x="165" y="523"/>
                    <a:pt x="154" y="543"/>
                  </a:cubicBezTo>
                  <a:cubicBezTo>
                    <a:pt x="144" y="563"/>
                    <a:pt x="141" y="586"/>
                    <a:pt x="152" y="606"/>
                  </a:cubicBezTo>
                  <a:cubicBezTo>
                    <a:pt x="141" y="586"/>
                    <a:pt x="151" y="565"/>
                    <a:pt x="162" y="546"/>
                  </a:cubicBezTo>
                  <a:cubicBezTo>
                    <a:pt x="172" y="527"/>
                    <a:pt x="181" y="513"/>
                    <a:pt x="177" y="494"/>
                  </a:cubicBezTo>
                  <a:cubicBezTo>
                    <a:pt x="194" y="507"/>
                    <a:pt x="212" y="519"/>
                    <a:pt x="219" y="540"/>
                  </a:cubicBezTo>
                  <a:cubicBezTo>
                    <a:pt x="227" y="562"/>
                    <a:pt x="234" y="593"/>
                    <a:pt x="223" y="614"/>
                  </a:cubicBezTo>
                  <a:cubicBezTo>
                    <a:pt x="234" y="593"/>
                    <a:pt x="234" y="558"/>
                    <a:pt x="226" y="536"/>
                  </a:cubicBezTo>
                  <a:cubicBezTo>
                    <a:pt x="217" y="511"/>
                    <a:pt x="193" y="499"/>
                    <a:pt x="174" y="481"/>
                  </a:cubicBezTo>
                  <a:cubicBezTo>
                    <a:pt x="158" y="465"/>
                    <a:pt x="147" y="438"/>
                    <a:pt x="141" y="413"/>
                  </a:cubicBezTo>
                  <a:cubicBezTo>
                    <a:pt x="142" y="405"/>
                    <a:pt x="143" y="397"/>
                    <a:pt x="143" y="389"/>
                  </a:cubicBezTo>
                  <a:cubicBezTo>
                    <a:pt x="143" y="367"/>
                    <a:pt x="133" y="351"/>
                    <a:pt x="127" y="331"/>
                  </a:cubicBezTo>
                  <a:cubicBezTo>
                    <a:pt x="115" y="294"/>
                    <a:pt x="118" y="269"/>
                    <a:pt x="133" y="238"/>
                  </a:cubicBezTo>
                  <a:cubicBezTo>
                    <a:pt x="133" y="254"/>
                    <a:pt x="134" y="270"/>
                    <a:pt x="139" y="28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2562" y="1320"/>
              <a:ext cx="1229" cy="669"/>
            </a:xfrm>
            <a:custGeom>
              <a:rect b="b" l="l" r="r" t="t"/>
              <a:pathLst>
                <a:path extrusionOk="0" h="248" w="456">
                  <a:moveTo>
                    <a:pt x="20" y="58"/>
                  </a:moveTo>
                  <a:cubicBezTo>
                    <a:pt x="20" y="58"/>
                    <a:pt x="147" y="0"/>
                    <a:pt x="287" y="51"/>
                  </a:cubicBezTo>
                  <a:cubicBezTo>
                    <a:pt x="384" y="87"/>
                    <a:pt x="456" y="248"/>
                    <a:pt x="392" y="235"/>
                  </a:cubicBezTo>
                  <a:cubicBezTo>
                    <a:pt x="328" y="222"/>
                    <a:pt x="336" y="207"/>
                    <a:pt x="323" y="196"/>
                  </a:cubicBezTo>
                  <a:cubicBezTo>
                    <a:pt x="309" y="186"/>
                    <a:pt x="317" y="207"/>
                    <a:pt x="289" y="199"/>
                  </a:cubicBezTo>
                  <a:cubicBezTo>
                    <a:pt x="261" y="191"/>
                    <a:pt x="261" y="186"/>
                    <a:pt x="247" y="178"/>
                  </a:cubicBezTo>
                  <a:cubicBezTo>
                    <a:pt x="232" y="170"/>
                    <a:pt x="203" y="170"/>
                    <a:pt x="190" y="146"/>
                  </a:cubicBezTo>
                  <a:cubicBezTo>
                    <a:pt x="0" y="175"/>
                    <a:pt x="0" y="175"/>
                    <a:pt x="0" y="175"/>
                  </a:cubicBezTo>
                  <a:lnTo>
                    <a:pt x="20" y="58"/>
                  </a:lnTo>
                  <a:close/>
                </a:path>
              </a:pathLst>
            </a:custGeom>
            <a:solidFill>
              <a:srgbClr val="CBB1C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745" y="1042"/>
              <a:ext cx="450" cy="761"/>
            </a:xfrm>
            <a:custGeom>
              <a:rect b="b" l="l" r="r" t="t"/>
              <a:pathLst>
                <a:path extrusionOk="0" h="282" w="167">
                  <a:moveTo>
                    <a:pt x="0" y="0"/>
                  </a:moveTo>
                  <a:cubicBezTo>
                    <a:pt x="0" y="0"/>
                    <a:pt x="10" y="202"/>
                    <a:pt x="7" y="234"/>
                  </a:cubicBezTo>
                  <a:cubicBezTo>
                    <a:pt x="7" y="234"/>
                    <a:pt x="77" y="282"/>
                    <a:pt x="160" y="181"/>
                  </a:cubicBezTo>
                  <a:cubicBezTo>
                    <a:pt x="167" y="0"/>
                    <a:pt x="167" y="0"/>
                    <a:pt x="1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FCFE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033" y="859"/>
              <a:ext cx="707" cy="1116"/>
            </a:xfrm>
            <a:custGeom>
              <a:rect b="b" l="l" r="r" t="t"/>
              <a:pathLst>
                <a:path extrusionOk="0" h="414" w="262">
                  <a:moveTo>
                    <a:pt x="262" y="104"/>
                  </a:moveTo>
                  <a:cubicBezTo>
                    <a:pt x="195" y="178"/>
                    <a:pt x="237" y="346"/>
                    <a:pt x="237" y="346"/>
                  </a:cubicBezTo>
                  <a:cubicBezTo>
                    <a:pt x="237" y="346"/>
                    <a:pt x="172" y="414"/>
                    <a:pt x="71" y="363"/>
                  </a:cubicBezTo>
                  <a:cubicBezTo>
                    <a:pt x="71" y="363"/>
                    <a:pt x="0" y="124"/>
                    <a:pt x="107" y="0"/>
                  </a:cubicBezTo>
                </a:path>
              </a:pathLst>
            </a:custGeom>
            <a:solidFill>
              <a:srgbClr val="E6785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2033" y="862"/>
              <a:ext cx="707" cy="1119"/>
            </a:xfrm>
            <a:custGeom>
              <a:rect b="b" l="l" r="r" t="t"/>
              <a:pathLst>
                <a:path extrusionOk="0" h="415" w="262">
                  <a:moveTo>
                    <a:pt x="262" y="103"/>
                  </a:moveTo>
                  <a:cubicBezTo>
                    <a:pt x="195" y="177"/>
                    <a:pt x="237" y="347"/>
                    <a:pt x="237" y="347"/>
                  </a:cubicBezTo>
                  <a:cubicBezTo>
                    <a:pt x="237" y="347"/>
                    <a:pt x="171" y="415"/>
                    <a:pt x="70" y="364"/>
                  </a:cubicBezTo>
                  <a:cubicBezTo>
                    <a:pt x="70" y="364"/>
                    <a:pt x="0" y="125"/>
                    <a:pt x="106" y="0"/>
                  </a:cubicBezTo>
                </a:path>
              </a:pathLst>
            </a:custGeom>
            <a:noFill/>
            <a:ln cap="flat" cmpd="sng" w="12700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475" y="1431"/>
              <a:ext cx="1014" cy="1688"/>
            </a:xfrm>
            <a:custGeom>
              <a:rect b="b" l="l" r="r" t="t"/>
              <a:pathLst>
                <a:path extrusionOk="0" h="626" w="376">
                  <a:moveTo>
                    <a:pt x="266" y="59"/>
                  </a:moveTo>
                  <a:cubicBezTo>
                    <a:pt x="266" y="59"/>
                    <a:pt x="322" y="0"/>
                    <a:pt x="362" y="104"/>
                  </a:cubicBezTo>
                  <a:cubicBezTo>
                    <a:pt x="370" y="125"/>
                    <a:pt x="376" y="163"/>
                    <a:pt x="351" y="198"/>
                  </a:cubicBezTo>
                  <a:cubicBezTo>
                    <a:pt x="325" y="233"/>
                    <a:pt x="342" y="238"/>
                    <a:pt x="311" y="256"/>
                  </a:cubicBezTo>
                  <a:cubicBezTo>
                    <a:pt x="280" y="275"/>
                    <a:pt x="282" y="328"/>
                    <a:pt x="238" y="352"/>
                  </a:cubicBezTo>
                  <a:cubicBezTo>
                    <a:pt x="195" y="376"/>
                    <a:pt x="121" y="440"/>
                    <a:pt x="206" y="610"/>
                  </a:cubicBezTo>
                  <a:cubicBezTo>
                    <a:pt x="212" y="621"/>
                    <a:pt x="209" y="626"/>
                    <a:pt x="182" y="613"/>
                  </a:cubicBezTo>
                  <a:cubicBezTo>
                    <a:pt x="156" y="600"/>
                    <a:pt x="140" y="591"/>
                    <a:pt x="140" y="591"/>
                  </a:cubicBezTo>
                  <a:cubicBezTo>
                    <a:pt x="140" y="591"/>
                    <a:pt x="138" y="570"/>
                    <a:pt x="123" y="548"/>
                  </a:cubicBezTo>
                  <a:cubicBezTo>
                    <a:pt x="108" y="526"/>
                    <a:pt x="0" y="376"/>
                    <a:pt x="83" y="193"/>
                  </a:cubicBezTo>
                  <a:cubicBezTo>
                    <a:pt x="101" y="153"/>
                    <a:pt x="112" y="125"/>
                    <a:pt x="105" y="115"/>
                  </a:cubicBezTo>
                  <a:cubicBezTo>
                    <a:pt x="98" y="105"/>
                    <a:pt x="95" y="78"/>
                    <a:pt x="126" y="87"/>
                  </a:cubicBezTo>
                  <a:cubicBezTo>
                    <a:pt x="157" y="95"/>
                    <a:pt x="161" y="106"/>
                    <a:pt x="193" y="77"/>
                  </a:cubicBezTo>
                  <a:cubicBezTo>
                    <a:pt x="226" y="47"/>
                    <a:pt x="239" y="62"/>
                    <a:pt x="256" y="13"/>
                  </a:cubicBezTo>
                  <a:cubicBezTo>
                    <a:pt x="256" y="13"/>
                    <a:pt x="263" y="51"/>
                    <a:pt x="266" y="59"/>
                  </a:cubicBezTo>
                  <a:close/>
                </a:path>
              </a:pathLst>
            </a:custGeom>
            <a:solidFill>
              <a:srgbClr val="CBB1C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745" y="988"/>
              <a:ext cx="450" cy="108"/>
            </a:xfrm>
            <a:prstGeom prst="ellipse">
              <a:avLst/>
            </a:prstGeom>
            <a:solidFill>
              <a:srgbClr val="DDE6E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777" y="1010"/>
              <a:ext cx="383" cy="65"/>
            </a:xfrm>
            <a:prstGeom prst="ellipse">
              <a:avLst/>
            </a:prstGeom>
            <a:solidFill>
              <a:srgbClr val="2D93B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777" y="1002"/>
              <a:ext cx="383" cy="54"/>
            </a:xfrm>
            <a:custGeom>
              <a:rect b="b" l="l" r="r" t="t"/>
              <a:pathLst>
                <a:path extrusionOk="0" h="20" w="142">
                  <a:moveTo>
                    <a:pt x="135" y="20"/>
                  </a:moveTo>
                  <a:cubicBezTo>
                    <a:pt x="140" y="19"/>
                    <a:pt x="142" y="17"/>
                    <a:pt x="142" y="15"/>
                  </a:cubicBezTo>
                  <a:cubicBezTo>
                    <a:pt x="142" y="9"/>
                    <a:pt x="110" y="4"/>
                    <a:pt x="71" y="4"/>
                  </a:cubicBezTo>
                  <a:cubicBezTo>
                    <a:pt x="32" y="4"/>
                    <a:pt x="0" y="9"/>
                    <a:pt x="0" y="15"/>
                  </a:cubicBezTo>
                  <a:cubicBezTo>
                    <a:pt x="0" y="17"/>
                    <a:pt x="3" y="19"/>
                    <a:pt x="7" y="20"/>
                  </a:cubicBezTo>
                  <a:cubicBezTo>
                    <a:pt x="7" y="20"/>
                    <a:pt x="75" y="0"/>
                    <a:pt x="135" y="20"/>
                  </a:cubicBezTo>
                  <a:close/>
                </a:path>
              </a:pathLst>
            </a:custGeom>
            <a:solidFill>
              <a:srgbClr val="AFCFE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1" name="Google Shape;131;p2"/>
            <p:cNvCxnSpPr/>
            <p:nvPr/>
          </p:nvCxnSpPr>
          <p:spPr>
            <a:xfrm flipH="1" rot="10800000">
              <a:off x="2192" y="1042"/>
              <a:ext cx="3" cy="79"/>
            </a:xfrm>
            <a:prstGeom prst="straightConnector1">
              <a:avLst/>
            </a:prstGeom>
            <a:noFill/>
            <a:ln cap="flat" cmpd="sng" w="12700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2" name="Google Shape;132;p2"/>
            <p:cNvSpPr/>
            <p:nvPr/>
          </p:nvSpPr>
          <p:spPr>
            <a:xfrm>
              <a:off x="1745" y="1042"/>
              <a:ext cx="24" cy="621"/>
            </a:xfrm>
            <a:custGeom>
              <a:rect b="b" l="l" r="r" t="t"/>
              <a:pathLst>
                <a:path extrusionOk="0" h="230" w="9">
                  <a:moveTo>
                    <a:pt x="0" y="0"/>
                  </a:moveTo>
                  <a:cubicBezTo>
                    <a:pt x="0" y="0"/>
                    <a:pt x="9" y="186"/>
                    <a:pt x="7" y="230"/>
                  </a:cubicBezTo>
                </a:path>
              </a:pathLst>
            </a:custGeom>
            <a:noFill/>
            <a:ln cap="flat" cmpd="sng" w="12700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745" y="991"/>
              <a:ext cx="450" cy="105"/>
            </a:xfrm>
            <a:prstGeom prst="ellipse">
              <a:avLst/>
            </a:prstGeom>
            <a:noFill/>
            <a:ln cap="flat" cmpd="sng" w="12700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777" y="1013"/>
              <a:ext cx="383" cy="62"/>
            </a:xfrm>
            <a:prstGeom prst="ellipse">
              <a:avLst/>
            </a:prstGeom>
            <a:noFill/>
            <a:ln cap="flat" cmpd="sng" w="9525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961" y="1582"/>
              <a:ext cx="234" cy="331"/>
            </a:xfrm>
            <a:custGeom>
              <a:rect b="b" l="l" r="r" t="t"/>
              <a:pathLst>
                <a:path extrusionOk="0" h="123" w="87">
                  <a:moveTo>
                    <a:pt x="87" y="0"/>
                  </a:moveTo>
                  <a:cubicBezTo>
                    <a:pt x="85" y="6"/>
                    <a:pt x="81" y="11"/>
                    <a:pt x="79" y="17"/>
                  </a:cubicBezTo>
                  <a:cubicBezTo>
                    <a:pt x="75" y="25"/>
                    <a:pt x="74" y="35"/>
                    <a:pt x="66" y="40"/>
                  </a:cubicBezTo>
                  <a:cubicBezTo>
                    <a:pt x="54" y="49"/>
                    <a:pt x="34" y="53"/>
                    <a:pt x="35" y="73"/>
                  </a:cubicBezTo>
                  <a:cubicBezTo>
                    <a:pt x="36" y="84"/>
                    <a:pt x="39" y="88"/>
                    <a:pt x="27" y="95"/>
                  </a:cubicBezTo>
                  <a:cubicBezTo>
                    <a:pt x="22" y="98"/>
                    <a:pt x="17" y="98"/>
                    <a:pt x="11" y="100"/>
                  </a:cubicBezTo>
                  <a:cubicBezTo>
                    <a:pt x="3" y="105"/>
                    <a:pt x="0" y="115"/>
                    <a:pt x="3" y="123"/>
                  </a:cubicBezTo>
                </a:path>
              </a:pathLst>
            </a:custGeom>
            <a:noFill/>
            <a:ln cap="flat" cmpd="sng" w="12700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931" y="1846"/>
              <a:ext cx="65" cy="57"/>
            </a:xfrm>
            <a:custGeom>
              <a:rect b="b" l="l" r="r" t="t"/>
              <a:pathLst>
                <a:path extrusionOk="0" h="21" w="24">
                  <a:moveTo>
                    <a:pt x="17" y="20"/>
                  </a:moveTo>
                  <a:cubicBezTo>
                    <a:pt x="11" y="21"/>
                    <a:pt x="0" y="17"/>
                    <a:pt x="4" y="9"/>
                  </a:cubicBezTo>
                  <a:cubicBezTo>
                    <a:pt x="8" y="0"/>
                    <a:pt x="20" y="7"/>
                    <a:pt x="24" y="11"/>
                  </a:cubicBezTo>
                </a:path>
              </a:pathLst>
            </a:custGeom>
            <a:noFill/>
            <a:ln cap="flat" cmpd="sng" w="33325">
              <a:solidFill>
                <a:srgbClr val="CBB1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998" y="1816"/>
              <a:ext cx="54" cy="49"/>
            </a:xfrm>
            <a:custGeom>
              <a:rect b="b" l="l" r="r" t="t"/>
              <a:pathLst>
                <a:path extrusionOk="0" h="18" w="20">
                  <a:moveTo>
                    <a:pt x="8" y="17"/>
                  </a:moveTo>
                  <a:cubicBezTo>
                    <a:pt x="5" y="15"/>
                    <a:pt x="0" y="6"/>
                    <a:pt x="5" y="3"/>
                  </a:cubicBezTo>
                  <a:cubicBezTo>
                    <a:pt x="11" y="0"/>
                    <a:pt x="17" y="15"/>
                    <a:pt x="20" y="18"/>
                  </a:cubicBezTo>
                </a:path>
              </a:pathLst>
            </a:custGeom>
            <a:noFill/>
            <a:ln cap="flat" cmpd="sng" w="17450">
              <a:solidFill>
                <a:srgbClr val="CBB1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753" y="2256"/>
              <a:ext cx="380" cy="240"/>
            </a:xfrm>
            <a:custGeom>
              <a:rect b="b" l="l" r="r" t="t"/>
              <a:pathLst>
                <a:path extrusionOk="0" h="89" w="141">
                  <a:moveTo>
                    <a:pt x="138" y="32"/>
                  </a:moveTo>
                  <a:cubicBezTo>
                    <a:pt x="123" y="34"/>
                    <a:pt x="107" y="40"/>
                    <a:pt x="91" y="41"/>
                  </a:cubicBezTo>
                  <a:cubicBezTo>
                    <a:pt x="65" y="44"/>
                    <a:pt x="47" y="32"/>
                    <a:pt x="28" y="16"/>
                  </a:cubicBezTo>
                  <a:cubicBezTo>
                    <a:pt x="25" y="12"/>
                    <a:pt x="13" y="0"/>
                    <a:pt x="7" y="3"/>
                  </a:cubicBezTo>
                  <a:cubicBezTo>
                    <a:pt x="0" y="7"/>
                    <a:pt x="9" y="23"/>
                    <a:pt x="12" y="27"/>
                  </a:cubicBezTo>
                  <a:cubicBezTo>
                    <a:pt x="17" y="35"/>
                    <a:pt x="26" y="40"/>
                    <a:pt x="32" y="48"/>
                  </a:cubicBezTo>
                  <a:cubicBezTo>
                    <a:pt x="39" y="54"/>
                    <a:pt x="43" y="63"/>
                    <a:pt x="50" y="69"/>
                  </a:cubicBezTo>
                  <a:cubicBezTo>
                    <a:pt x="58" y="77"/>
                    <a:pt x="73" y="89"/>
                    <a:pt x="83" y="84"/>
                  </a:cubicBezTo>
                  <a:cubicBezTo>
                    <a:pt x="92" y="80"/>
                    <a:pt x="104" y="61"/>
                    <a:pt x="112" y="55"/>
                  </a:cubicBezTo>
                  <a:cubicBezTo>
                    <a:pt x="121" y="49"/>
                    <a:pt x="139" y="45"/>
                    <a:pt x="141" y="34"/>
                  </a:cubicBezTo>
                  <a:cubicBezTo>
                    <a:pt x="140" y="34"/>
                    <a:pt x="139" y="33"/>
                    <a:pt x="138" y="32"/>
                  </a:cubicBezTo>
                </a:path>
              </a:pathLst>
            </a:custGeom>
            <a:solidFill>
              <a:srgbClr val="B296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793" y="2669"/>
              <a:ext cx="143" cy="172"/>
            </a:xfrm>
            <a:custGeom>
              <a:rect b="b" l="l" r="r" t="t"/>
              <a:pathLst>
                <a:path extrusionOk="0" h="64" w="53">
                  <a:moveTo>
                    <a:pt x="49" y="45"/>
                  </a:moveTo>
                  <a:cubicBezTo>
                    <a:pt x="45" y="32"/>
                    <a:pt x="37" y="28"/>
                    <a:pt x="28" y="20"/>
                  </a:cubicBezTo>
                  <a:cubicBezTo>
                    <a:pt x="21" y="13"/>
                    <a:pt x="15" y="0"/>
                    <a:pt x="3" y="3"/>
                  </a:cubicBezTo>
                  <a:cubicBezTo>
                    <a:pt x="0" y="18"/>
                    <a:pt x="17" y="29"/>
                    <a:pt x="25" y="39"/>
                  </a:cubicBezTo>
                  <a:cubicBezTo>
                    <a:pt x="30" y="46"/>
                    <a:pt x="41" y="64"/>
                    <a:pt x="51" y="63"/>
                  </a:cubicBezTo>
                  <a:cubicBezTo>
                    <a:pt x="53" y="57"/>
                    <a:pt x="49" y="50"/>
                    <a:pt x="49" y="45"/>
                  </a:cubicBezTo>
                </a:path>
              </a:pathLst>
            </a:custGeom>
            <a:solidFill>
              <a:srgbClr val="B296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2044" y="1487"/>
              <a:ext cx="140" cy="262"/>
            </a:xfrm>
            <a:custGeom>
              <a:rect b="b" l="l" r="r" t="t"/>
              <a:pathLst>
                <a:path extrusionOk="0" h="97" w="52">
                  <a:moveTo>
                    <a:pt x="45" y="0"/>
                  </a:moveTo>
                  <a:cubicBezTo>
                    <a:pt x="45" y="7"/>
                    <a:pt x="47" y="14"/>
                    <a:pt x="48" y="20"/>
                  </a:cubicBezTo>
                  <a:cubicBezTo>
                    <a:pt x="48" y="26"/>
                    <a:pt x="52" y="31"/>
                    <a:pt x="52" y="36"/>
                  </a:cubicBezTo>
                  <a:cubicBezTo>
                    <a:pt x="51" y="41"/>
                    <a:pt x="47" y="46"/>
                    <a:pt x="46" y="51"/>
                  </a:cubicBezTo>
                  <a:cubicBezTo>
                    <a:pt x="44" y="55"/>
                    <a:pt x="43" y="61"/>
                    <a:pt x="41" y="66"/>
                  </a:cubicBezTo>
                  <a:cubicBezTo>
                    <a:pt x="36" y="75"/>
                    <a:pt x="24" y="76"/>
                    <a:pt x="16" y="83"/>
                  </a:cubicBezTo>
                  <a:cubicBezTo>
                    <a:pt x="11" y="86"/>
                    <a:pt x="5" y="97"/>
                    <a:pt x="1" y="88"/>
                  </a:cubicBezTo>
                  <a:cubicBezTo>
                    <a:pt x="0" y="85"/>
                    <a:pt x="2" y="82"/>
                    <a:pt x="2" y="78"/>
                  </a:cubicBezTo>
                  <a:cubicBezTo>
                    <a:pt x="3" y="74"/>
                    <a:pt x="2" y="70"/>
                    <a:pt x="2" y="66"/>
                  </a:cubicBezTo>
                  <a:cubicBezTo>
                    <a:pt x="2" y="56"/>
                    <a:pt x="2" y="49"/>
                    <a:pt x="10" y="42"/>
                  </a:cubicBezTo>
                  <a:cubicBezTo>
                    <a:pt x="16" y="37"/>
                    <a:pt x="21" y="33"/>
                    <a:pt x="27" y="28"/>
                  </a:cubicBezTo>
                  <a:cubicBezTo>
                    <a:pt x="32" y="24"/>
                    <a:pt x="36" y="20"/>
                    <a:pt x="39" y="15"/>
                  </a:cubicBezTo>
                  <a:cubicBezTo>
                    <a:pt x="41" y="10"/>
                    <a:pt x="42" y="5"/>
                    <a:pt x="44" y="0"/>
                  </a:cubicBezTo>
                </a:path>
              </a:pathLst>
            </a:custGeom>
            <a:solidFill>
              <a:srgbClr val="B296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750" y="1657"/>
              <a:ext cx="159" cy="46"/>
            </a:xfrm>
            <a:custGeom>
              <a:rect b="b" l="l" r="r" t="t"/>
              <a:pathLst>
                <a:path extrusionOk="0" h="17" w="59">
                  <a:moveTo>
                    <a:pt x="2" y="15"/>
                  </a:moveTo>
                  <a:cubicBezTo>
                    <a:pt x="2" y="15"/>
                    <a:pt x="0" y="0"/>
                    <a:pt x="19" y="5"/>
                  </a:cubicBezTo>
                  <a:cubicBezTo>
                    <a:pt x="38" y="11"/>
                    <a:pt x="53" y="16"/>
                    <a:pt x="59" y="14"/>
                  </a:cubicBezTo>
                  <a:cubicBezTo>
                    <a:pt x="59" y="14"/>
                    <a:pt x="42" y="17"/>
                    <a:pt x="25" y="10"/>
                  </a:cubicBezTo>
                  <a:cubicBezTo>
                    <a:pt x="8" y="4"/>
                    <a:pt x="2" y="15"/>
                    <a:pt x="2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780" y="1994"/>
              <a:ext cx="404" cy="359"/>
            </a:xfrm>
            <a:custGeom>
              <a:rect b="b" l="l" r="r" t="t"/>
              <a:pathLst>
                <a:path extrusionOk="0" h="133" w="150">
                  <a:moveTo>
                    <a:pt x="15" y="97"/>
                  </a:moveTo>
                  <a:cubicBezTo>
                    <a:pt x="37" y="115"/>
                    <a:pt x="59" y="133"/>
                    <a:pt x="88" y="126"/>
                  </a:cubicBezTo>
                  <a:cubicBezTo>
                    <a:pt x="101" y="122"/>
                    <a:pt x="116" y="122"/>
                    <a:pt x="129" y="119"/>
                  </a:cubicBezTo>
                  <a:cubicBezTo>
                    <a:pt x="142" y="116"/>
                    <a:pt x="150" y="98"/>
                    <a:pt x="147" y="84"/>
                  </a:cubicBezTo>
                  <a:cubicBezTo>
                    <a:pt x="145" y="77"/>
                    <a:pt x="140" y="73"/>
                    <a:pt x="135" y="67"/>
                  </a:cubicBezTo>
                  <a:cubicBezTo>
                    <a:pt x="129" y="60"/>
                    <a:pt x="126" y="52"/>
                    <a:pt x="122" y="44"/>
                  </a:cubicBezTo>
                  <a:cubicBezTo>
                    <a:pt x="116" y="35"/>
                    <a:pt x="92" y="0"/>
                    <a:pt x="78" y="7"/>
                  </a:cubicBezTo>
                  <a:cubicBezTo>
                    <a:pt x="66" y="13"/>
                    <a:pt x="83" y="45"/>
                    <a:pt x="79" y="56"/>
                  </a:cubicBezTo>
                  <a:cubicBezTo>
                    <a:pt x="74" y="71"/>
                    <a:pt x="56" y="67"/>
                    <a:pt x="42" y="67"/>
                  </a:cubicBezTo>
                  <a:cubicBezTo>
                    <a:pt x="24" y="68"/>
                    <a:pt x="0" y="80"/>
                    <a:pt x="18" y="99"/>
                  </a:cubicBezTo>
                </a:path>
              </a:pathLst>
            </a:custGeom>
            <a:solidFill>
              <a:srgbClr val="D4C0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777" y="2353"/>
              <a:ext cx="140" cy="348"/>
            </a:xfrm>
            <a:custGeom>
              <a:rect b="b" l="l" r="r" t="t"/>
              <a:pathLst>
                <a:path extrusionOk="0" h="129" w="52">
                  <a:moveTo>
                    <a:pt x="6" y="95"/>
                  </a:moveTo>
                  <a:cubicBezTo>
                    <a:pt x="12" y="103"/>
                    <a:pt x="34" y="129"/>
                    <a:pt x="46" y="126"/>
                  </a:cubicBezTo>
                  <a:cubicBezTo>
                    <a:pt x="47" y="115"/>
                    <a:pt x="43" y="103"/>
                    <a:pt x="45" y="92"/>
                  </a:cubicBezTo>
                  <a:cubicBezTo>
                    <a:pt x="47" y="80"/>
                    <a:pt x="52" y="75"/>
                    <a:pt x="48" y="62"/>
                  </a:cubicBezTo>
                  <a:cubicBezTo>
                    <a:pt x="45" y="53"/>
                    <a:pt x="6" y="0"/>
                    <a:pt x="3" y="25"/>
                  </a:cubicBezTo>
                  <a:cubicBezTo>
                    <a:pt x="0" y="40"/>
                    <a:pt x="23" y="53"/>
                    <a:pt x="14" y="71"/>
                  </a:cubicBezTo>
                  <a:cubicBezTo>
                    <a:pt x="11" y="76"/>
                    <a:pt x="5" y="76"/>
                    <a:pt x="4" y="84"/>
                  </a:cubicBezTo>
                  <a:cubicBezTo>
                    <a:pt x="2" y="89"/>
                    <a:pt x="3" y="94"/>
                    <a:pt x="7" y="97"/>
                  </a:cubicBezTo>
                </a:path>
              </a:pathLst>
            </a:custGeom>
            <a:solidFill>
              <a:srgbClr val="D4C0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998" y="2032"/>
              <a:ext cx="116" cy="170"/>
            </a:xfrm>
            <a:custGeom>
              <a:rect b="b" l="l" r="r" t="t"/>
              <a:pathLst>
                <a:path extrusionOk="0" h="63" w="43">
                  <a:moveTo>
                    <a:pt x="2" y="18"/>
                  </a:moveTo>
                  <a:cubicBezTo>
                    <a:pt x="0" y="13"/>
                    <a:pt x="0" y="8"/>
                    <a:pt x="1" y="3"/>
                  </a:cubicBezTo>
                  <a:cubicBezTo>
                    <a:pt x="17" y="0"/>
                    <a:pt x="39" y="32"/>
                    <a:pt x="41" y="46"/>
                  </a:cubicBezTo>
                  <a:cubicBezTo>
                    <a:pt x="43" y="59"/>
                    <a:pt x="32" y="63"/>
                    <a:pt x="22" y="55"/>
                  </a:cubicBezTo>
                  <a:cubicBezTo>
                    <a:pt x="17" y="50"/>
                    <a:pt x="7" y="33"/>
                    <a:pt x="6" y="26"/>
                  </a:cubicBezTo>
                  <a:cubicBezTo>
                    <a:pt x="1" y="24"/>
                    <a:pt x="1" y="21"/>
                    <a:pt x="0" y="17"/>
                  </a:cubicBezTo>
                </a:path>
              </a:pathLst>
            </a:custGeom>
            <a:solidFill>
              <a:srgbClr val="E3D5D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796" y="2407"/>
              <a:ext cx="76" cy="100"/>
            </a:xfrm>
            <a:custGeom>
              <a:rect b="b" l="l" r="r" t="t"/>
              <a:pathLst>
                <a:path extrusionOk="0" h="37" w="28">
                  <a:moveTo>
                    <a:pt x="1" y="12"/>
                  </a:moveTo>
                  <a:cubicBezTo>
                    <a:pt x="13" y="0"/>
                    <a:pt x="28" y="27"/>
                    <a:pt x="28" y="37"/>
                  </a:cubicBezTo>
                  <a:cubicBezTo>
                    <a:pt x="19" y="37"/>
                    <a:pt x="3" y="20"/>
                    <a:pt x="0" y="12"/>
                  </a:cubicBezTo>
                </a:path>
              </a:pathLst>
            </a:custGeom>
            <a:solidFill>
              <a:srgbClr val="E3D5D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2527" y="1765"/>
              <a:ext cx="585" cy="335"/>
            </a:xfrm>
            <a:custGeom>
              <a:rect b="b" l="l" r="r" t="t"/>
              <a:pathLst>
                <a:path extrusionOk="0" h="124" w="217">
                  <a:moveTo>
                    <a:pt x="2" y="64"/>
                  </a:moveTo>
                  <a:cubicBezTo>
                    <a:pt x="2" y="64"/>
                    <a:pt x="2" y="86"/>
                    <a:pt x="58" y="96"/>
                  </a:cubicBezTo>
                  <a:cubicBezTo>
                    <a:pt x="113" y="107"/>
                    <a:pt x="161" y="61"/>
                    <a:pt x="173" y="42"/>
                  </a:cubicBezTo>
                  <a:cubicBezTo>
                    <a:pt x="185" y="23"/>
                    <a:pt x="205" y="0"/>
                    <a:pt x="217" y="4"/>
                  </a:cubicBezTo>
                  <a:cubicBezTo>
                    <a:pt x="217" y="4"/>
                    <a:pt x="189" y="16"/>
                    <a:pt x="174" y="60"/>
                  </a:cubicBezTo>
                  <a:cubicBezTo>
                    <a:pt x="158" y="104"/>
                    <a:pt x="81" y="124"/>
                    <a:pt x="50" y="109"/>
                  </a:cubicBezTo>
                  <a:cubicBezTo>
                    <a:pt x="19" y="95"/>
                    <a:pt x="0" y="84"/>
                    <a:pt x="2" y="64"/>
                  </a:cubicBezTo>
                  <a:close/>
                </a:path>
              </a:pathLst>
            </a:custGeom>
            <a:solidFill>
              <a:srgbClr val="F3EFF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2616" y="1959"/>
              <a:ext cx="307" cy="151"/>
            </a:xfrm>
            <a:custGeom>
              <a:rect b="b" l="l" r="r" t="t"/>
              <a:pathLst>
                <a:path extrusionOk="0" h="56" w="114">
                  <a:moveTo>
                    <a:pt x="0" y="20"/>
                  </a:moveTo>
                  <a:cubicBezTo>
                    <a:pt x="0" y="20"/>
                    <a:pt x="70" y="46"/>
                    <a:pt x="114" y="0"/>
                  </a:cubicBezTo>
                  <a:cubicBezTo>
                    <a:pt x="114" y="0"/>
                    <a:pt x="81" y="56"/>
                    <a:pt x="0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2004" y="2949"/>
              <a:ext cx="234" cy="329"/>
            </a:xfrm>
            <a:custGeom>
              <a:rect b="b" l="l" r="r" t="t"/>
              <a:pathLst>
                <a:path extrusionOk="0" h="122" w="87">
                  <a:moveTo>
                    <a:pt x="0" y="0"/>
                  </a:moveTo>
                  <a:cubicBezTo>
                    <a:pt x="0" y="0"/>
                    <a:pt x="4" y="70"/>
                    <a:pt x="87" y="122"/>
                  </a:cubicBezTo>
                  <a:cubicBezTo>
                    <a:pt x="87" y="122"/>
                    <a:pt x="18" y="7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2093" y="907"/>
              <a:ext cx="232" cy="621"/>
            </a:xfrm>
            <a:custGeom>
              <a:rect b="b" l="l" r="r" t="t"/>
              <a:pathLst>
                <a:path extrusionOk="0" h="230" w="86">
                  <a:moveTo>
                    <a:pt x="43" y="230"/>
                  </a:moveTo>
                  <a:cubicBezTo>
                    <a:pt x="43" y="230"/>
                    <a:pt x="0" y="96"/>
                    <a:pt x="86" y="0"/>
                  </a:cubicBezTo>
                  <a:cubicBezTo>
                    <a:pt x="86" y="0"/>
                    <a:pt x="26" y="94"/>
                    <a:pt x="43" y="230"/>
                  </a:cubicBezTo>
                  <a:close/>
                </a:path>
              </a:pathLst>
            </a:custGeom>
            <a:solidFill>
              <a:srgbClr val="EC9E8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2149" y="996"/>
              <a:ext cx="119" cy="454"/>
            </a:xfrm>
            <a:custGeom>
              <a:rect b="b" l="l" r="r" t="t"/>
              <a:pathLst>
                <a:path extrusionOk="0" h="168" w="44">
                  <a:moveTo>
                    <a:pt x="44" y="0"/>
                  </a:moveTo>
                  <a:cubicBezTo>
                    <a:pt x="44" y="0"/>
                    <a:pt x="0" y="65"/>
                    <a:pt x="17" y="168"/>
                  </a:cubicBezTo>
                  <a:cubicBezTo>
                    <a:pt x="17" y="168"/>
                    <a:pt x="5" y="75"/>
                    <a:pt x="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2535" y="1655"/>
              <a:ext cx="580" cy="382"/>
            </a:xfrm>
            <a:custGeom>
              <a:rect b="b" l="l" r="r" t="t"/>
              <a:pathLst>
                <a:path extrusionOk="0" h="142" w="215">
                  <a:moveTo>
                    <a:pt x="215" y="37"/>
                  </a:moveTo>
                  <a:cubicBezTo>
                    <a:pt x="215" y="37"/>
                    <a:pt x="194" y="37"/>
                    <a:pt x="187" y="49"/>
                  </a:cubicBezTo>
                  <a:cubicBezTo>
                    <a:pt x="180" y="61"/>
                    <a:pt x="148" y="105"/>
                    <a:pt x="98" y="124"/>
                  </a:cubicBezTo>
                  <a:cubicBezTo>
                    <a:pt x="47" y="142"/>
                    <a:pt x="0" y="118"/>
                    <a:pt x="2" y="103"/>
                  </a:cubicBezTo>
                  <a:cubicBezTo>
                    <a:pt x="3" y="92"/>
                    <a:pt x="8" y="82"/>
                    <a:pt x="6" y="67"/>
                  </a:cubicBezTo>
                  <a:cubicBezTo>
                    <a:pt x="3" y="52"/>
                    <a:pt x="25" y="86"/>
                    <a:pt x="170" y="0"/>
                  </a:cubicBezTo>
                  <a:cubicBezTo>
                    <a:pt x="170" y="0"/>
                    <a:pt x="191" y="1"/>
                    <a:pt x="215" y="37"/>
                  </a:cubicBezTo>
                  <a:close/>
                </a:path>
              </a:pathLst>
            </a:custGeom>
            <a:solidFill>
              <a:srgbClr val="AFCFE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2535" y="1652"/>
              <a:ext cx="580" cy="385"/>
            </a:xfrm>
            <a:custGeom>
              <a:rect b="b" l="l" r="r" t="t"/>
              <a:pathLst>
                <a:path extrusionOk="0" h="143" w="215">
                  <a:moveTo>
                    <a:pt x="215" y="38"/>
                  </a:moveTo>
                  <a:cubicBezTo>
                    <a:pt x="215" y="38"/>
                    <a:pt x="194" y="38"/>
                    <a:pt x="187" y="50"/>
                  </a:cubicBezTo>
                  <a:cubicBezTo>
                    <a:pt x="180" y="62"/>
                    <a:pt x="148" y="106"/>
                    <a:pt x="98" y="125"/>
                  </a:cubicBezTo>
                  <a:cubicBezTo>
                    <a:pt x="47" y="143"/>
                    <a:pt x="0" y="119"/>
                    <a:pt x="2" y="104"/>
                  </a:cubicBezTo>
                  <a:cubicBezTo>
                    <a:pt x="3" y="93"/>
                    <a:pt x="8" y="83"/>
                    <a:pt x="6" y="68"/>
                  </a:cubicBezTo>
                  <a:cubicBezTo>
                    <a:pt x="3" y="53"/>
                    <a:pt x="21" y="86"/>
                    <a:pt x="166" y="0"/>
                  </a:cubicBezTo>
                  <a:cubicBezTo>
                    <a:pt x="166" y="0"/>
                    <a:pt x="191" y="2"/>
                    <a:pt x="215" y="38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2047" y="1361"/>
              <a:ext cx="116" cy="218"/>
            </a:xfrm>
            <a:custGeom>
              <a:rect b="b" l="l" r="r" t="t"/>
              <a:pathLst>
                <a:path extrusionOk="0" h="81" w="43">
                  <a:moveTo>
                    <a:pt x="37" y="0"/>
                  </a:moveTo>
                  <a:cubicBezTo>
                    <a:pt x="37" y="0"/>
                    <a:pt x="40" y="29"/>
                    <a:pt x="41" y="36"/>
                  </a:cubicBezTo>
                  <a:cubicBezTo>
                    <a:pt x="42" y="41"/>
                    <a:pt x="37" y="49"/>
                    <a:pt x="35" y="56"/>
                  </a:cubicBezTo>
                  <a:cubicBezTo>
                    <a:pt x="32" y="63"/>
                    <a:pt x="19" y="75"/>
                    <a:pt x="10" y="78"/>
                  </a:cubicBezTo>
                  <a:cubicBezTo>
                    <a:pt x="0" y="81"/>
                    <a:pt x="43" y="49"/>
                    <a:pt x="37" y="0"/>
                  </a:cubicBezTo>
                  <a:close/>
                </a:path>
              </a:pathLst>
            </a:custGeom>
            <a:solidFill>
              <a:srgbClr val="89BED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756" y="1075"/>
              <a:ext cx="67" cy="561"/>
            </a:xfrm>
            <a:custGeom>
              <a:rect b="b" l="l" r="r" t="t"/>
              <a:pathLst>
                <a:path extrusionOk="0" h="208" w="25">
                  <a:moveTo>
                    <a:pt x="0" y="0"/>
                  </a:moveTo>
                  <a:cubicBezTo>
                    <a:pt x="0" y="0"/>
                    <a:pt x="10" y="193"/>
                    <a:pt x="8" y="208"/>
                  </a:cubicBezTo>
                  <a:cubicBezTo>
                    <a:pt x="8" y="208"/>
                    <a:pt x="5" y="8"/>
                    <a:pt x="25" y="8"/>
                  </a:cubicBezTo>
                  <a:cubicBezTo>
                    <a:pt x="25" y="8"/>
                    <a:pt x="5" y="6"/>
                    <a:pt x="0" y="0"/>
                  </a:cubicBezTo>
                  <a:close/>
                </a:path>
              </a:pathLst>
            </a:custGeom>
            <a:solidFill>
              <a:srgbClr val="DDE6E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761" y="1104"/>
              <a:ext cx="16" cy="340"/>
            </a:xfrm>
            <a:custGeom>
              <a:rect b="b" l="l" r="r" t="t"/>
              <a:pathLst>
                <a:path extrusionOk="0" h="126" w="6">
                  <a:moveTo>
                    <a:pt x="0" y="0"/>
                  </a:moveTo>
                  <a:cubicBezTo>
                    <a:pt x="5" y="126"/>
                    <a:pt x="5" y="126"/>
                    <a:pt x="5" y="126"/>
                  </a:cubicBezTo>
                  <a:cubicBezTo>
                    <a:pt x="5" y="126"/>
                    <a:pt x="6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958" y="3068"/>
              <a:ext cx="108" cy="56"/>
            </a:xfrm>
            <a:custGeom>
              <a:rect b="b" l="l" r="r" t="t"/>
              <a:pathLst>
                <a:path extrusionOk="0" h="21" w="40">
                  <a:moveTo>
                    <a:pt x="23" y="0"/>
                  </a:moveTo>
                  <a:cubicBezTo>
                    <a:pt x="23" y="0"/>
                    <a:pt x="40" y="21"/>
                    <a:pt x="0" y="0"/>
                  </a:cubicBezTo>
                  <a:cubicBezTo>
                    <a:pt x="0" y="0"/>
                    <a:pt x="34" y="15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2071" y="1946"/>
              <a:ext cx="229" cy="248"/>
            </a:xfrm>
            <a:custGeom>
              <a:rect b="b" l="l" r="r" t="t"/>
              <a:pathLst>
                <a:path extrusionOk="0" h="92" w="85">
                  <a:moveTo>
                    <a:pt x="0" y="22"/>
                  </a:moveTo>
                  <a:cubicBezTo>
                    <a:pt x="7" y="32"/>
                    <a:pt x="19" y="40"/>
                    <a:pt x="27" y="50"/>
                  </a:cubicBezTo>
                  <a:cubicBezTo>
                    <a:pt x="32" y="57"/>
                    <a:pt x="33" y="66"/>
                    <a:pt x="37" y="74"/>
                  </a:cubicBezTo>
                  <a:cubicBezTo>
                    <a:pt x="39" y="78"/>
                    <a:pt x="44" y="92"/>
                    <a:pt x="51" y="90"/>
                  </a:cubicBezTo>
                  <a:cubicBezTo>
                    <a:pt x="54" y="89"/>
                    <a:pt x="62" y="70"/>
                    <a:pt x="66" y="67"/>
                  </a:cubicBezTo>
                  <a:cubicBezTo>
                    <a:pt x="72" y="61"/>
                    <a:pt x="85" y="55"/>
                    <a:pt x="76" y="45"/>
                  </a:cubicBezTo>
                  <a:cubicBezTo>
                    <a:pt x="68" y="37"/>
                    <a:pt x="51" y="39"/>
                    <a:pt x="41" y="35"/>
                  </a:cubicBezTo>
                  <a:cubicBezTo>
                    <a:pt x="36" y="32"/>
                    <a:pt x="1" y="0"/>
                    <a:pt x="0" y="21"/>
                  </a:cubicBezTo>
                </a:path>
              </a:pathLst>
            </a:custGeom>
            <a:solidFill>
              <a:srgbClr val="B296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2106" y="1557"/>
              <a:ext cx="329" cy="499"/>
            </a:xfrm>
            <a:custGeom>
              <a:rect b="b" l="l" r="r" t="t"/>
              <a:pathLst>
                <a:path extrusionOk="0" h="185" w="122">
                  <a:moveTo>
                    <a:pt x="99" y="26"/>
                  </a:moveTo>
                  <a:cubicBezTo>
                    <a:pt x="82" y="0"/>
                    <a:pt x="46" y="22"/>
                    <a:pt x="37" y="43"/>
                  </a:cubicBezTo>
                  <a:cubicBezTo>
                    <a:pt x="24" y="76"/>
                    <a:pt x="0" y="99"/>
                    <a:pt x="20" y="136"/>
                  </a:cubicBezTo>
                  <a:cubicBezTo>
                    <a:pt x="35" y="162"/>
                    <a:pt x="74" y="185"/>
                    <a:pt x="96" y="156"/>
                  </a:cubicBezTo>
                  <a:cubicBezTo>
                    <a:pt x="113" y="133"/>
                    <a:pt x="122" y="96"/>
                    <a:pt x="117" y="68"/>
                  </a:cubicBezTo>
                  <a:cubicBezTo>
                    <a:pt x="114" y="53"/>
                    <a:pt x="109" y="37"/>
                    <a:pt x="100" y="25"/>
                  </a:cubicBezTo>
                </a:path>
              </a:pathLst>
            </a:custGeom>
            <a:solidFill>
              <a:srgbClr val="D4C0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2273" y="1617"/>
              <a:ext cx="135" cy="226"/>
            </a:xfrm>
            <a:custGeom>
              <a:rect b="b" l="l" r="r" t="t"/>
              <a:pathLst>
                <a:path extrusionOk="0" h="84" w="50">
                  <a:moveTo>
                    <a:pt x="17" y="4"/>
                  </a:moveTo>
                  <a:cubicBezTo>
                    <a:pt x="8" y="4"/>
                    <a:pt x="3" y="15"/>
                    <a:pt x="2" y="23"/>
                  </a:cubicBezTo>
                  <a:cubicBezTo>
                    <a:pt x="0" y="38"/>
                    <a:pt x="9" y="38"/>
                    <a:pt x="17" y="47"/>
                  </a:cubicBezTo>
                  <a:cubicBezTo>
                    <a:pt x="24" y="55"/>
                    <a:pt x="20" y="71"/>
                    <a:pt x="27" y="77"/>
                  </a:cubicBezTo>
                  <a:cubicBezTo>
                    <a:pt x="34" y="84"/>
                    <a:pt x="41" y="71"/>
                    <a:pt x="44" y="65"/>
                  </a:cubicBezTo>
                  <a:cubicBezTo>
                    <a:pt x="50" y="49"/>
                    <a:pt x="47" y="34"/>
                    <a:pt x="39" y="20"/>
                  </a:cubicBezTo>
                  <a:cubicBezTo>
                    <a:pt x="34" y="13"/>
                    <a:pt x="26" y="0"/>
                    <a:pt x="17" y="3"/>
                  </a:cubicBezTo>
                </a:path>
              </a:pathLst>
            </a:custGeom>
            <a:solidFill>
              <a:srgbClr val="E3D5D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2295" y="816"/>
              <a:ext cx="477" cy="358"/>
            </a:xfrm>
            <a:custGeom>
              <a:rect b="b" l="l" r="r" t="t"/>
              <a:pathLst>
                <a:path extrusionOk="0" h="133" w="177">
                  <a:moveTo>
                    <a:pt x="167" y="117"/>
                  </a:moveTo>
                  <a:cubicBezTo>
                    <a:pt x="157" y="133"/>
                    <a:pt x="113" y="124"/>
                    <a:pt x="70" y="96"/>
                  </a:cubicBezTo>
                  <a:cubicBezTo>
                    <a:pt x="27" y="68"/>
                    <a:pt x="0" y="32"/>
                    <a:pt x="10" y="16"/>
                  </a:cubicBezTo>
                  <a:cubicBezTo>
                    <a:pt x="21" y="0"/>
                    <a:pt x="64" y="10"/>
                    <a:pt x="107" y="37"/>
                  </a:cubicBezTo>
                  <a:cubicBezTo>
                    <a:pt x="151" y="65"/>
                    <a:pt x="177" y="101"/>
                    <a:pt x="167" y="117"/>
                  </a:cubicBezTo>
                  <a:close/>
                </a:path>
              </a:pathLst>
            </a:custGeom>
            <a:solidFill>
              <a:srgbClr val="EA846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2357" y="859"/>
              <a:ext cx="353" cy="264"/>
            </a:xfrm>
            <a:custGeom>
              <a:rect b="b" l="l" r="r" t="t"/>
              <a:pathLst>
                <a:path extrusionOk="0" h="98" w="131">
                  <a:moveTo>
                    <a:pt x="123" y="86"/>
                  </a:moveTo>
                  <a:cubicBezTo>
                    <a:pt x="115" y="98"/>
                    <a:pt x="83" y="91"/>
                    <a:pt x="51" y="71"/>
                  </a:cubicBezTo>
                  <a:cubicBezTo>
                    <a:pt x="19" y="50"/>
                    <a:pt x="0" y="24"/>
                    <a:pt x="7" y="12"/>
                  </a:cubicBezTo>
                  <a:cubicBezTo>
                    <a:pt x="15" y="0"/>
                    <a:pt x="47" y="7"/>
                    <a:pt x="79" y="28"/>
                  </a:cubicBezTo>
                  <a:cubicBezTo>
                    <a:pt x="111" y="48"/>
                    <a:pt x="131" y="74"/>
                    <a:pt x="123" y="86"/>
                  </a:cubicBezTo>
                  <a:close/>
                </a:path>
              </a:pathLst>
            </a:custGeom>
            <a:solidFill>
              <a:srgbClr val="E6785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2295" y="816"/>
              <a:ext cx="477" cy="358"/>
            </a:xfrm>
            <a:custGeom>
              <a:rect b="b" l="l" r="r" t="t"/>
              <a:pathLst>
                <a:path extrusionOk="0" h="133" w="177">
                  <a:moveTo>
                    <a:pt x="167" y="117"/>
                  </a:moveTo>
                  <a:cubicBezTo>
                    <a:pt x="157" y="133"/>
                    <a:pt x="113" y="124"/>
                    <a:pt x="70" y="96"/>
                  </a:cubicBezTo>
                  <a:cubicBezTo>
                    <a:pt x="27" y="68"/>
                    <a:pt x="0" y="32"/>
                    <a:pt x="10" y="16"/>
                  </a:cubicBezTo>
                  <a:cubicBezTo>
                    <a:pt x="21" y="0"/>
                    <a:pt x="64" y="10"/>
                    <a:pt x="107" y="37"/>
                  </a:cubicBezTo>
                  <a:cubicBezTo>
                    <a:pt x="151" y="65"/>
                    <a:pt x="177" y="101"/>
                    <a:pt x="167" y="117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2365" y="889"/>
              <a:ext cx="310" cy="226"/>
            </a:xfrm>
            <a:custGeom>
              <a:rect b="b" l="l" r="r" t="t"/>
              <a:pathLst>
                <a:path extrusionOk="0" h="84" w="115">
                  <a:moveTo>
                    <a:pt x="67" y="24"/>
                  </a:moveTo>
                  <a:cubicBezTo>
                    <a:pt x="42" y="8"/>
                    <a:pt x="16" y="0"/>
                    <a:pt x="3" y="4"/>
                  </a:cubicBezTo>
                  <a:cubicBezTo>
                    <a:pt x="0" y="17"/>
                    <a:pt x="19" y="40"/>
                    <a:pt x="48" y="59"/>
                  </a:cubicBezTo>
                  <a:cubicBezTo>
                    <a:pt x="74" y="76"/>
                    <a:pt x="100" y="84"/>
                    <a:pt x="113" y="80"/>
                  </a:cubicBezTo>
                  <a:cubicBezTo>
                    <a:pt x="115" y="67"/>
                    <a:pt x="96" y="43"/>
                    <a:pt x="67" y="24"/>
                  </a:cubicBezTo>
                  <a:close/>
                </a:path>
              </a:pathLst>
            </a:custGeom>
            <a:solidFill>
              <a:srgbClr val="D55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2357" y="859"/>
              <a:ext cx="353" cy="264"/>
            </a:xfrm>
            <a:custGeom>
              <a:rect b="b" l="l" r="r" t="t"/>
              <a:pathLst>
                <a:path extrusionOk="0" h="98" w="131">
                  <a:moveTo>
                    <a:pt x="123" y="86"/>
                  </a:moveTo>
                  <a:cubicBezTo>
                    <a:pt x="115" y="98"/>
                    <a:pt x="83" y="91"/>
                    <a:pt x="51" y="71"/>
                  </a:cubicBezTo>
                  <a:cubicBezTo>
                    <a:pt x="19" y="50"/>
                    <a:pt x="0" y="24"/>
                    <a:pt x="7" y="12"/>
                  </a:cubicBezTo>
                  <a:cubicBezTo>
                    <a:pt x="15" y="0"/>
                    <a:pt x="47" y="7"/>
                    <a:pt x="79" y="28"/>
                  </a:cubicBezTo>
                  <a:cubicBezTo>
                    <a:pt x="111" y="48"/>
                    <a:pt x="131" y="74"/>
                    <a:pt x="123" y="8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2535" y="1630"/>
              <a:ext cx="528" cy="278"/>
            </a:xfrm>
            <a:custGeom>
              <a:rect b="b" l="l" r="r" t="t"/>
              <a:pathLst>
                <a:path extrusionOk="0" h="103" w="196">
                  <a:moveTo>
                    <a:pt x="190" y="23"/>
                  </a:moveTo>
                  <a:cubicBezTo>
                    <a:pt x="196" y="43"/>
                    <a:pt x="160" y="71"/>
                    <a:pt x="109" y="87"/>
                  </a:cubicBezTo>
                  <a:cubicBezTo>
                    <a:pt x="58" y="103"/>
                    <a:pt x="12" y="99"/>
                    <a:pt x="6" y="80"/>
                  </a:cubicBezTo>
                  <a:cubicBezTo>
                    <a:pt x="0" y="60"/>
                    <a:pt x="36" y="31"/>
                    <a:pt x="87" y="16"/>
                  </a:cubicBezTo>
                  <a:cubicBezTo>
                    <a:pt x="138" y="0"/>
                    <a:pt x="184" y="3"/>
                    <a:pt x="190" y="23"/>
                  </a:cubicBezTo>
                  <a:close/>
                </a:path>
              </a:pathLst>
            </a:custGeom>
            <a:solidFill>
              <a:srgbClr val="DDE6E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2535" y="1630"/>
              <a:ext cx="528" cy="278"/>
            </a:xfrm>
            <a:custGeom>
              <a:rect b="b" l="l" r="r" t="t"/>
              <a:pathLst>
                <a:path extrusionOk="0" h="103" w="196">
                  <a:moveTo>
                    <a:pt x="190" y="23"/>
                  </a:moveTo>
                  <a:cubicBezTo>
                    <a:pt x="196" y="43"/>
                    <a:pt x="160" y="71"/>
                    <a:pt x="109" y="87"/>
                  </a:cubicBezTo>
                  <a:cubicBezTo>
                    <a:pt x="58" y="103"/>
                    <a:pt x="12" y="99"/>
                    <a:pt x="6" y="80"/>
                  </a:cubicBezTo>
                  <a:cubicBezTo>
                    <a:pt x="0" y="60"/>
                    <a:pt x="36" y="31"/>
                    <a:pt x="87" y="16"/>
                  </a:cubicBezTo>
                  <a:cubicBezTo>
                    <a:pt x="138" y="0"/>
                    <a:pt x="184" y="3"/>
                    <a:pt x="190" y="23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2589" y="1657"/>
              <a:ext cx="415" cy="219"/>
            </a:xfrm>
            <a:custGeom>
              <a:rect b="b" l="l" r="r" t="t"/>
              <a:pathLst>
                <a:path extrusionOk="0" h="81" w="154">
                  <a:moveTo>
                    <a:pt x="149" y="18"/>
                  </a:moveTo>
                  <a:cubicBezTo>
                    <a:pt x="154" y="34"/>
                    <a:pt x="126" y="57"/>
                    <a:pt x="86" y="69"/>
                  </a:cubicBezTo>
                  <a:cubicBezTo>
                    <a:pt x="46" y="81"/>
                    <a:pt x="10" y="79"/>
                    <a:pt x="5" y="63"/>
                  </a:cubicBezTo>
                  <a:cubicBezTo>
                    <a:pt x="0" y="47"/>
                    <a:pt x="29" y="25"/>
                    <a:pt x="68" y="13"/>
                  </a:cubicBezTo>
                  <a:cubicBezTo>
                    <a:pt x="108" y="0"/>
                    <a:pt x="145" y="3"/>
                    <a:pt x="149" y="18"/>
                  </a:cubicBezTo>
                  <a:close/>
                </a:path>
              </a:pathLst>
            </a:custGeom>
            <a:solidFill>
              <a:srgbClr val="AFCFE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2629" y="1719"/>
              <a:ext cx="359" cy="151"/>
            </a:xfrm>
            <a:custGeom>
              <a:rect b="b" l="l" r="r" t="t"/>
              <a:pathLst>
                <a:path extrusionOk="0" h="56" w="133">
                  <a:moveTo>
                    <a:pt x="63" y="10"/>
                  </a:moveTo>
                  <a:cubicBezTo>
                    <a:pt x="31" y="19"/>
                    <a:pt x="7" y="36"/>
                    <a:pt x="0" y="50"/>
                  </a:cubicBezTo>
                  <a:cubicBezTo>
                    <a:pt x="15" y="56"/>
                    <a:pt x="42" y="55"/>
                    <a:pt x="71" y="46"/>
                  </a:cubicBezTo>
                  <a:cubicBezTo>
                    <a:pt x="103" y="36"/>
                    <a:pt x="127" y="20"/>
                    <a:pt x="133" y="6"/>
                  </a:cubicBezTo>
                  <a:cubicBezTo>
                    <a:pt x="119" y="0"/>
                    <a:pt x="92" y="1"/>
                    <a:pt x="63" y="10"/>
                  </a:cubicBezTo>
                  <a:close/>
                </a:path>
              </a:pathLst>
            </a:custGeom>
            <a:solidFill>
              <a:srgbClr val="2D93B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2591" y="1657"/>
              <a:ext cx="416" cy="216"/>
            </a:xfrm>
            <a:custGeom>
              <a:rect b="b" l="l" r="r" t="t"/>
              <a:pathLst>
                <a:path extrusionOk="0" h="80" w="154">
                  <a:moveTo>
                    <a:pt x="149" y="18"/>
                  </a:moveTo>
                  <a:cubicBezTo>
                    <a:pt x="154" y="33"/>
                    <a:pt x="125" y="56"/>
                    <a:pt x="85" y="68"/>
                  </a:cubicBezTo>
                  <a:cubicBezTo>
                    <a:pt x="46" y="80"/>
                    <a:pt x="9" y="78"/>
                    <a:pt x="5" y="62"/>
                  </a:cubicBezTo>
                  <a:cubicBezTo>
                    <a:pt x="0" y="47"/>
                    <a:pt x="28" y="24"/>
                    <a:pt x="68" y="12"/>
                  </a:cubicBezTo>
                  <a:cubicBezTo>
                    <a:pt x="108" y="0"/>
                    <a:pt x="144" y="2"/>
                    <a:pt x="149" y="1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3371" y="1571"/>
              <a:ext cx="240" cy="334"/>
            </a:xfrm>
            <a:custGeom>
              <a:rect b="b" l="l" r="r" t="t"/>
              <a:pathLst>
                <a:path extrusionOk="0" h="124" w="89">
                  <a:moveTo>
                    <a:pt x="3" y="28"/>
                  </a:moveTo>
                  <a:cubicBezTo>
                    <a:pt x="32" y="40"/>
                    <a:pt x="29" y="84"/>
                    <a:pt x="46" y="105"/>
                  </a:cubicBezTo>
                  <a:cubicBezTo>
                    <a:pt x="53" y="114"/>
                    <a:pt x="61" y="124"/>
                    <a:pt x="74" y="123"/>
                  </a:cubicBezTo>
                  <a:cubicBezTo>
                    <a:pt x="86" y="121"/>
                    <a:pt x="89" y="110"/>
                    <a:pt x="88" y="99"/>
                  </a:cubicBezTo>
                  <a:cubicBezTo>
                    <a:pt x="86" y="70"/>
                    <a:pt x="74" y="36"/>
                    <a:pt x="49" y="19"/>
                  </a:cubicBezTo>
                  <a:cubicBezTo>
                    <a:pt x="37" y="10"/>
                    <a:pt x="0" y="0"/>
                    <a:pt x="5" y="27"/>
                  </a:cubicBezTo>
                </a:path>
              </a:pathLst>
            </a:custGeom>
            <a:solidFill>
              <a:srgbClr val="D4C0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3204" y="1587"/>
              <a:ext cx="191" cy="251"/>
            </a:xfrm>
            <a:custGeom>
              <a:rect b="b" l="l" r="r" t="t"/>
              <a:pathLst>
                <a:path extrusionOk="0" h="93" w="71">
                  <a:moveTo>
                    <a:pt x="49" y="9"/>
                  </a:moveTo>
                  <a:cubicBezTo>
                    <a:pt x="52" y="18"/>
                    <a:pt x="53" y="27"/>
                    <a:pt x="57" y="37"/>
                  </a:cubicBezTo>
                  <a:cubicBezTo>
                    <a:pt x="61" y="46"/>
                    <a:pt x="65" y="55"/>
                    <a:pt x="67" y="65"/>
                  </a:cubicBezTo>
                  <a:cubicBezTo>
                    <a:pt x="69" y="76"/>
                    <a:pt x="71" y="83"/>
                    <a:pt x="60" y="88"/>
                  </a:cubicBezTo>
                  <a:cubicBezTo>
                    <a:pt x="49" y="93"/>
                    <a:pt x="38" y="87"/>
                    <a:pt x="29" y="80"/>
                  </a:cubicBezTo>
                  <a:cubicBezTo>
                    <a:pt x="16" y="70"/>
                    <a:pt x="0" y="45"/>
                    <a:pt x="14" y="20"/>
                  </a:cubicBezTo>
                  <a:cubicBezTo>
                    <a:pt x="19" y="10"/>
                    <a:pt x="40" y="0"/>
                    <a:pt x="49" y="11"/>
                  </a:cubicBezTo>
                </a:path>
              </a:pathLst>
            </a:custGeom>
            <a:solidFill>
              <a:srgbClr val="D4C0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3503" y="1776"/>
              <a:ext cx="89" cy="86"/>
            </a:xfrm>
            <a:custGeom>
              <a:rect b="b" l="l" r="r" t="t"/>
              <a:pathLst>
                <a:path extrusionOk="0" h="32" w="33">
                  <a:moveTo>
                    <a:pt x="0" y="8"/>
                  </a:moveTo>
                  <a:cubicBezTo>
                    <a:pt x="3" y="16"/>
                    <a:pt x="9" y="32"/>
                    <a:pt x="20" y="31"/>
                  </a:cubicBezTo>
                  <a:cubicBezTo>
                    <a:pt x="27" y="30"/>
                    <a:pt x="33" y="20"/>
                    <a:pt x="31" y="13"/>
                  </a:cubicBezTo>
                  <a:cubicBezTo>
                    <a:pt x="26" y="0"/>
                    <a:pt x="24" y="12"/>
                    <a:pt x="18" y="15"/>
                  </a:cubicBezTo>
                  <a:cubicBezTo>
                    <a:pt x="13" y="17"/>
                    <a:pt x="6" y="11"/>
                    <a:pt x="3" y="8"/>
                  </a:cubicBezTo>
                </a:path>
              </a:pathLst>
            </a:custGeom>
            <a:solidFill>
              <a:srgbClr val="E3D5D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3260" y="1722"/>
              <a:ext cx="105" cy="81"/>
            </a:xfrm>
            <a:custGeom>
              <a:rect b="b" l="l" r="r" t="t"/>
              <a:pathLst>
                <a:path extrusionOk="0" h="30" w="39">
                  <a:moveTo>
                    <a:pt x="2" y="6"/>
                  </a:moveTo>
                  <a:cubicBezTo>
                    <a:pt x="6" y="16"/>
                    <a:pt x="14" y="30"/>
                    <a:pt x="27" y="26"/>
                  </a:cubicBezTo>
                  <a:cubicBezTo>
                    <a:pt x="32" y="24"/>
                    <a:pt x="39" y="14"/>
                    <a:pt x="32" y="9"/>
                  </a:cubicBezTo>
                  <a:cubicBezTo>
                    <a:pt x="28" y="7"/>
                    <a:pt x="22" y="15"/>
                    <a:pt x="16" y="12"/>
                  </a:cubicBezTo>
                  <a:cubicBezTo>
                    <a:pt x="10" y="10"/>
                    <a:pt x="9" y="0"/>
                    <a:pt x="0" y="7"/>
                  </a:cubicBezTo>
                </a:path>
              </a:pathLst>
            </a:custGeom>
            <a:solidFill>
              <a:srgbClr val="E3D5D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3379" y="1687"/>
              <a:ext cx="54" cy="148"/>
            </a:xfrm>
            <a:custGeom>
              <a:rect b="b" l="l" r="r" t="t"/>
              <a:pathLst>
                <a:path extrusionOk="0" h="55" w="20">
                  <a:moveTo>
                    <a:pt x="0" y="0"/>
                  </a:moveTo>
                  <a:cubicBezTo>
                    <a:pt x="3" y="10"/>
                    <a:pt x="8" y="19"/>
                    <a:pt x="9" y="30"/>
                  </a:cubicBezTo>
                  <a:cubicBezTo>
                    <a:pt x="9" y="39"/>
                    <a:pt x="5" y="47"/>
                    <a:pt x="5" y="55"/>
                  </a:cubicBezTo>
                  <a:cubicBezTo>
                    <a:pt x="11" y="52"/>
                    <a:pt x="13" y="46"/>
                    <a:pt x="20" y="52"/>
                  </a:cubicBezTo>
                  <a:cubicBezTo>
                    <a:pt x="20" y="43"/>
                    <a:pt x="13" y="34"/>
                    <a:pt x="11" y="24"/>
                  </a:cubicBezTo>
                  <a:cubicBezTo>
                    <a:pt x="10" y="17"/>
                    <a:pt x="7" y="7"/>
                    <a:pt x="1" y="2"/>
                  </a:cubicBezTo>
                </a:path>
              </a:pathLst>
            </a:custGeom>
            <a:solidFill>
              <a:srgbClr val="B296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3152" y="1730"/>
              <a:ext cx="27" cy="27"/>
            </a:xfrm>
            <a:custGeom>
              <a:rect b="b" l="l" r="r" t="t"/>
              <a:pathLst>
                <a:path extrusionOk="0" h="10" w="10">
                  <a:moveTo>
                    <a:pt x="0" y="6"/>
                  </a:moveTo>
                  <a:cubicBezTo>
                    <a:pt x="2" y="8"/>
                    <a:pt x="5" y="9"/>
                    <a:pt x="8" y="10"/>
                  </a:cubicBezTo>
                  <a:cubicBezTo>
                    <a:pt x="10" y="8"/>
                    <a:pt x="10" y="3"/>
                    <a:pt x="8" y="0"/>
                  </a:cubicBezTo>
                  <a:cubicBezTo>
                    <a:pt x="7" y="4"/>
                    <a:pt x="4" y="8"/>
                    <a:pt x="0" y="5"/>
                  </a:cubicBezTo>
                </a:path>
              </a:pathLst>
            </a:custGeom>
            <a:solidFill>
              <a:srgbClr val="E3D5D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475" y="1428"/>
              <a:ext cx="1014" cy="1686"/>
            </a:xfrm>
            <a:custGeom>
              <a:rect b="b" l="l" r="r" t="t"/>
              <a:pathLst>
                <a:path extrusionOk="0" h="625" w="376">
                  <a:moveTo>
                    <a:pt x="266" y="59"/>
                  </a:moveTo>
                  <a:cubicBezTo>
                    <a:pt x="266" y="59"/>
                    <a:pt x="322" y="0"/>
                    <a:pt x="362" y="104"/>
                  </a:cubicBezTo>
                  <a:cubicBezTo>
                    <a:pt x="370" y="125"/>
                    <a:pt x="376" y="163"/>
                    <a:pt x="351" y="198"/>
                  </a:cubicBezTo>
                  <a:cubicBezTo>
                    <a:pt x="325" y="233"/>
                    <a:pt x="342" y="238"/>
                    <a:pt x="311" y="256"/>
                  </a:cubicBezTo>
                  <a:cubicBezTo>
                    <a:pt x="281" y="274"/>
                    <a:pt x="282" y="328"/>
                    <a:pt x="238" y="352"/>
                  </a:cubicBezTo>
                  <a:cubicBezTo>
                    <a:pt x="195" y="375"/>
                    <a:pt x="121" y="440"/>
                    <a:pt x="206" y="610"/>
                  </a:cubicBezTo>
                  <a:cubicBezTo>
                    <a:pt x="211" y="621"/>
                    <a:pt x="209" y="625"/>
                    <a:pt x="182" y="613"/>
                  </a:cubicBezTo>
                  <a:cubicBezTo>
                    <a:pt x="155" y="600"/>
                    <a:pt x="139" y="590"/>
                    <a:pt x="139" y="590"/>
                  </a:cubicBezTo>
                  <a:cubicBezTo>
                    <a:pt x="139" y="590"/>
                    <a:pt x="138" y="569"/>
                    <a:pt x="123" y="548"/>
                  </a:cubicBezTo>
                  <a:cubicBezTo>
                    <a:pt x="108" y="526"/>
                    <a:pt x="0" y="376"/>
                    <a:pt x="83" y="193"/>
                  </a:cubicBezTo>
                  <a:cubicBezTo>
                    <a:pt x="101" y="152"/>
                    <a:pt x="112" y="124"/>
                    <a:pt x="105" y="114"/>
                  </a:cubicBezTo>
                  <a:cubicBezTo>
                    <a:pt x="98" y="104"/>
                    <a:pt x="95" y="78"/>
                    <a:pt x="126" y="86"/>
                  </a:cubicBezTo>
                  <a:cubicBezTo>
                    <a:pt x="157" y="95"/>
                    <a:pt x="161" y="106"/>
                    <a:pt x="194" y="76"/>
                  </a:cubicBezTo>
                  <a:cubicBezTo>
                    <a:pt x="226" y="47"/>
                    <a:pt x="239" y="62"/>
                    <a:pt x="256" y="13"/>
                  </a:cubicBezTo>
                  <a:cubicBezTo>
                    <a:pt x="256" y="13"/>
                    <a:pt x="263" y="51"/>
                    <a:pt x="266" y="59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2529" y="3292"/>
              <a:ext cx="316" cy="156"/>
            </a:xfrm>
            <a:custGeom>
              <a:rect b="b" l="l" r="r" t="t"/>
              <a:pathLst>
                <a:path extrusionOk="0" h="58" w="117">
                  <a:moveTo>
                    <a:pt x="0" y="56"/>
                  </a:moveTo>
                  <a:cubicBezTo>
                    <a:pt x="3" y="54"/>
                    <a:pt x="5" y="51"/>
                    <a:pt x="8" y="49"/>
                  </a:cubicBezTo>
                  <a:cubicBezTo>
                    <a:pt x="12" y="47"/>
                    <a:pt x="16" y="46"/>
                    <a:pt x="20" y="46"/>
                  </a:cubicBezTo>
                  <a:cubicBezTo>
                    <a:pt x="32" y="45"/>
                    <a:pt x="41" y="39"/>
                    <a:pt x="50" y="32"/>
                  </a:cubicBezTo>
                  <a:cubicBezTo>
                    <a:pt x="62" y="23"/>
                    <a:pt x="77" y="21"/>
                    <a:pt x="91" y="15"/>
                  </a:cubicBezTo>
                  <a:cubicBezTo>
                    <a:pt x="97" y="13"/>
                    <a:pt x="102" y="10"/>
                    <a:pt x="107" y="6"/>
                  </a:cubicBezTo>
                  <a:cubicBezTo>
                    <a:pt x="110" y="4"/>
                    <a:pt x="114" y="3"/>
                    <a:pt x="117" y="0"/>
                  </a:cubicBezTo>
                  <a:cubicBezTo>
                    <a:pt x="113" y="4"/>
                    <a:pt x="109" y="6"/>
                    <a:pt x="105" y="9"/>
                  </a:cubicBezTo>
                  <a:cubicBezTo>
                    <a:pt x="99" y="13"/>
                    <a:pt x="92" y="15"/>
                    <a:pt x="86" y="18"/>
                  </a:cubicBezTo>
                  <a:cubicBezTo>
                    <a:pt x="79" y="22"/>
                    <a:pt x="72" y="24"/>
                    <a:pt x="64" y="27"/>
                  </a:cubicBezTo>
                  <a:cubicBezTo>
                    <a:pt x="58" y="29"/>
                    <a:pt x="53" y="30"/>
                    <a:pt x="47" y="35"/>
                  </a:cubicBezTo>
                  <a:cubicBezTo>
                    <a:pt x="43" y="39"/>
                    <a:pt x="40" y="42"/>
                    <a:pt x="34" y="45"/>
                  </a:cubicBezTo>
                  <a:cubicBezTo>
                    <a:pt x="30" y="47"/>
                    <a:pt x="25" y="48"/>
                    <a:pt x="20" y="50"/>
                  </a:cubicBezTo>
                  <a:cubicBezTo>
                    <a:pt x="16" y="51"/>
                    <a:pt x="13" y="53"/>
                    <a:pt x="10" y="56"/>
                  </a:cubicBezTo>
                  <a:cubicBezTo>
                    <a:pt x="9" y="57"/>
                    <a:pt x="7" y="57"/>
                    <a:pt x="6" y="58"/>
                  </a:cubicBezTo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2573" y="1544"/>
              <a:ext cx="1545" cy="2163"/>
            </a:xfrm>
            <a:custGeom>
              <a:rect b="b" l="l" r="r" t="t"/>
              <a:pathLst>
                <a:path extrusionOk="0" h="802" w="573">
                  <a:moveTo>
                    <a:pt x="560" y="517"/>
                  </a:moveTo>
                  <a:cubicBezTo>
                    <a:pt x="548" y="508"/>
                    <a:pt x="532" y="503"/>
                    <a:pt x="519" y="493"/>
                  </a:cubicBezTo>
                  <a:cubicBezTo>
                    <a:pt x="509" y="486"/>
                    <a:pt x="502" y="477"/>
                    <a:pt x="491" y="471"/>
                  </a:cubicBezTo>
                  <a:cubicBezTo>
                    <a:pt x="479" y="465"/>
                    <a:pt x="467" y="463"/>
                    <a:pt x="453" y="462"/>
                  </a:cubicBezTo>
                  <a:cubicBezTo>
                    <a:pt x="441" y="460"/>
                    <a:pt x="430" y="459"/>
                    <a:pt x="420" y="454"/>
                  </a:cubicBezTo>
                  <a:cubicBezTo>
                    <a:pt x="411" y="442"/>
                    <a:pt x="397" y="437"/>
                    <a:pt x="387" y="425"/>
                  </a:cubicBezTo>
                  <a:cubicBezTo>
                    <a:pt x="374" y="409"/>
                    <a:pt x="373" y="380"/>
                    <a:pt x="368" y="361"/>
                  </a:cubicBezTo>
                  <a:cubicBezTo>
                    <a:pt x="355" y="313"/>
                    <a:pt x="319" y="300"/>
                    <a:pt x="281" y="278"/>
                  </a:cubicBezTo>
                  <a:cubicBezTo>
                    <a:pt x="279" y="267"/>
                    <a:pt x="277" y="257"/>
                    <a:pt x="275" y="246"/>
                  </a:cubicBezTo>
                  <a:cubicBezTo>
                    <a:pt x="269" y="209"/>
                    <a:pt x="270" y="170"/>
                    <a:pt x="264" y="134"/>
                  </a:cubicBezTo>
                  <a:cubicBezTo>
                    <a:pt x="273" y="134"/>
                    <a:pt x="283" y="135"/>
                    <a:pt x="291" y="138"/>
                  </a:cubicBezTo>
                  <a:cubicBezTo>
                    <a:pt x="313" y="147"/>
                    <a:pt x="325" y="170"/>
                    <a:pt x="342" y="185"/>
                  </a:cubicBezTo>
                  <a:cubicBezTo>
                    <a:pt x="351" y="193"/>
                    <a:pt x="362" y="200"/>
                    <a:pt x="373" y="206"/>
                  </a:cubicBezTo>
                  <a:cubicBezTo>
                    <a:pt x="376" y="214"/>
                    <a:pt x="378" y="223"/>
                    <a:pt x="379" y="230"/>
                  </a:cubicBezTo>
                  <a:cubicBezTo>
                    <a:pt x="382" y="256"/>
                    <a:pt x="370" y="281"/>
                    <a:pt x="387" y="305"/>
                  </a:cubicBezTo>
                  <a:cubicBezTo>
                    <a:pt x="399" y="324"/>
                    <a:pt x="422" y="328"/>
                    <a:pt x="429" y="350"/>
                  </a:cubicBezTo>
                  <a:cubicBezTo>
                    <a:pt x="435" y="367"/>
                    <a:pt x="434" y="396"/>
                    <a:pt x="452" y="404"/>
                  </a:cubicBezTo>
                  <a:cubicBezTo>
                    <a:pt x="434" y="396"/>
                    <a:pt x="441" y="366"/>
                    <a:pt x="435" y="350"/>
                  </a:cubicBezTo>
                  <a:cubicBezTo>
                    <a:pt x="427" y="328"/>
                    <a:pt x="405" y="323"/>
                    <a:pt x="392" y="305"/>
                  </a:cubicBezTo>
                  <a:cubicBezTo>
                    <a:pt x="376" y="281"/>
                    <a:pt x="388" y="256"/>
                    <a:pt x="385" y="230"/>
                  </a:cubicBezTo>
                  <a:cubicBezTo>
                    <a:pt x="384" y="224"/>
                    <a:pt x="383" y="216"/>
                    <a:pt x="380" y="209"/>
                  </a:cubicBezTo>
                  <a:cubicBezTo>
                    <a:pt x="384" y="211"/>
                    <a:pt x="389" y="213"/>
                    <a:pt x="393" y="215"/>
                  </a:cubicBezTo>
                  <a:cubicBezTo>
                    <a:pt x="409" y="222"/>
                    <a:pt x="423" y="233"/>
                    <a:pt x="436" y="244"/>
                  </a:cubicBezTo>
                  <a:cubicBezTo>
                    <a:pt x="456" y="259"/>
                    <a:pt x="471" y="280"/>
                    <a:pt x="485" y="299"/>
                  </a:cubicBezTo>
                  <a:cubicBezTo>
                    <a:pt x="492" y="309"/>
                    <a:pt x="507" y="326"/>
                    <a:pt x="505" y="336"/>
                  </a:cubicBezTo>
                  <a:cubicBezTo>
                    <a:pt x="521" y="324"/>
                    <a:pt x="493" y="289"/>
                    <a:pt x="486" y="279"/>
                  </a:cubicBezTo>
                  <a:cubicBezTo>
                    <a:pt x="474" y="263"/>
                    <a:pt x="462" y="246"/>
                    <a:pt x="447" y="232"/>
                  </a:cubicBezTo>
                  <a:cubicBezTo>
                    <a:pt x="448" y="231"/>
                    <a:pt x="449" y="231"/>
                    <a:pt x="449" y="230"/>
                  </a:cubicBezTo>
                  <a:cubicBezTo>
                    <a:pt x="463" y="229"/>
                    <a:pt x="466" y="233"/>
                    <a:pt x="475" y="241"/>
                  </a:cubicBezTo>
                  <a:cubicBezTo>
                    <a:pt x="476" y="231"/>
                    <a:pt x="467" y="220"/>
                    <a:pt x="459" y="215"/>
                  </a:cubicBezTo>
                  <a:cubicBezTo>
                    <a:pt x="448" y="210"/>
                    <a:pt x="438" y="215"/>
                    <a:pt x="427" y="215"/>
                  </a:cubicBezTo>
                  <a:cubicBezTo>
                    <a:pt x="417" y="208"/>
                    <a:pt x="406" y="201"/>
                    <a:pt x="394" y="195"/>
                  </a:cubicBezTo>
                  <a:cubicBezTo>
                    <a:pt x="376" y="188"/>
                    <a:pt x="357" y="178"/>
                    <a:pt x="343" y="165"/>
                  </a:cubicBezTo>
                  <a:cubicBezTo>
                    <a:pt x="326" y="150"/>
                    <a:pt x="314" y="127"/>
                    <a:pt x="292" y="118"/>
                  </a:cubicBezTo>
                  <a:cubicBezTo>
                    <a:pt x="282" y="114"/>
                    <a:pt x="271" y="114"/>
                    <a:pt x="260" y="113"/>
                  </a:cubicBezTo>
                  <a:cubicBezTo>
                    <a:pt x="255" y="96"/>
                    <a:pt x="248" y="79"/>
                    <a:pt x="237" y="64"/>
                  </a:cubicBezTo>
                  <a:cubicBezTo>
                    <a:pt x="216" y="37"/>
                    <a:pt x="184" y="10"/>
                    <a:pt x="152" y="6"/>
                  </a:cubicBezTo>
                  <a:cubicBezTo>
                    <a:pt x="102" y="0"/>
                    <a:pt x="45" y="37"/>
                    <a:pt x="14" y="9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31" y="66"/>
                    <a:pt x="83" y="30"/>
                    <a:pt x="120" y="31"/>
                  </a:cubicBezTo>
                  <a:cubicBezTo>
                    <a:pt x="152" y="33"/>
                    <a:pt x="182" y="42"/>
                    <a:pt x="203" y="69"/>
                  </a:cubicBezTo>
                  <a:cubicBezTo>
                    <a:pt x="239" y="117"/>
                    <a:pt x="238" y="176"/>
                    <a:pt x="245" y="233"/>
                  </a:cubicBezTo>
                  <a:cubicBezTo>
                    <a:pt x="227" y="236"/>
                    <a:pt x="226" y="280"/>
                    <a:pt x="227" y="291"/>
                  </a:cubicBezTo>
                  <a:cubicBezTo>
                    <a:pt x="230" y="316"/>
                    <a:pt x="241" y="340"/>
                    <a:pt x="241" y="365"/>
                  </a:cubicBezTo>
                  <a:cubicBezTo>
                    <a:pt x="241" y="392"/>
                    <a:pt x="229" y="416"/>
                    <a:pt x="237" y="443"/>
                  </a:cubicBezTo>
                  <a:cubicBezTo>
                    <a:pt x="242" y="459"/>
                    <a:pt x="243" y="470"/>
                    <a:pt x="234" y="485"/>
                  </a:cubicBezTo>
                  <a:cubicBezTo>
                    <a:pt x="224" y="501"/>
                    <a:pt x="211" y="502"/>
                    <a:pt x="194" y="506"/>
                  </a:cubicBezTo>
                  <a:cubicBezTo>
                    <a:pt x="211" y="502"/>
                    <a:pt x="232" y="506"/>
                    <a:pt x="242" y="490"/>
                  </a:cubicBezTo>
                  <a:cubicBezTo>
                    <a:pt x="251" y="475"/>
                    <a:pt x="250" y="464"/>
                    <a:pt x="245" y="448"/>
                  </a:cubicBezTo>
                  <a:cubicBezTo>
                    <a:pt x="237" y="421"/>
                    <a:pt x="249" y="397"/>
                    <a:pt x="249" y="370"/>
                  </a:cubicBezTo>
                  <a:cubicBezTo>
                    <a:pt x="249" y="345"/>
                    <a:pt x="238" y="321"/>
                    <a:pt x="235" y="296"/>
                  </a:cubicBezTo>
                  <a:cubicBezTo>
                    <a:pt x="234" y="287"/>
                    <a:pt x="235" y="253"/>
                    <a:pt x="246" y="241"/>
                  </a:cubicBezTo>
                  <a:cubicBezTo>
                    <a:pt x="247" y="244"/>
                    <a:pt x="247" y="246"/>
                    <a:pt x="248" y="249"/>
                  </a:cubicBezTo>
                  <a:cubicBezTo>
                    <a:pt x="252" y="278"/>
                    <a:pt x="261" y="307"/>
                    <a:pt x="265" y="337"/>
                  </a:cubicBezTo>
                  <a:cubicBezTo>
                    <a:pt x="270" y="372"/>
                    <a:pt x="272" y="403"/>
                    <a:pt x="268" y="439"/>
                  </a:cubicBezTo>
                  <a:cubicBezTo>
                    <a:pt x="266" y="461"/>
                    <a:pt x="265" y="482"/>
                    <a:pt x="268" y="503"/>
                  </a:cubicBezTo>
                  <a:cubicBezTo>
                    <a:pt x="271" y="521"/>
                    <a:pt x="276" y="541"/>
                    <a:pt x="272" y="560"/>
                  </a:cubicBezTo>
                  <a:cubicBezTo>
                    <a:pt x="268" y="578"/>
                    <a:pt x="259" y="596"/>
                    <a:pt x="259" y="615"/>
                  </a:cubicBezTo>
                  <a:cubicBezTo>
                    <a:pt x="259" y="627"/>
                    <a:pt x="265" y="638"/>
                    <a:pt x="264" y="650"/>
                  </a:cubicBezTo>
                  <a:cubicBezTo>
                    <a:pt x="264" y="661"/>
                    <a:pt x="262" y="673"/>
                    <a:pt x="262" y="685"/>
                  </a:cubicBezTo>
                  <a:cubicBezTo>
                    <a:pt x="261" y="714"/>
                    <a:pt x="261" y="743"/>
                    <a:pt x="276" y="768"/>
                  </a:cubicBezTo>
                  <a:cubicBezTo>
                    <a:pt x="290" y="791"/>
                    <a:pt x="316" y="802"/>
                    <a:pt x="341" y="792"/>
                  </a:cubicBezTo>
                  <a:cubicBezTo>
                    <a:pt x="330" y="797"/>
                    <a:pt x="303" y="771"/>
                    <a:pt x="296" y="762"/>
                  </a:cubicBezTo>
                  <a:cubicBezTo>
                    <a:pt x="278" y="739"/>
                    <a:pt x="288" y="711"/>
                    <a:pt x="289" y="682"/>
                  </a:cubicBezTo>
                  <a:cubicBezTo>
                    <a:pt x="289" y="671"/>
                    <a:pt x="291" y="658"/>
                    <a:pt x="292" y="647"/>
                  </a:cubicBezTo>
                  <a:cubicBezTo>
                    <a:pt x="292" y="635"/>
                    <a:pt x="286" y="624"/>
                    <a:pt x="286" y="612"/>
                  </a:cubicBezTo>
                  <a:cubicBezTo>
                    <a:pt x="286" y="593"/>
                    <a:pt x="295" y="575"/>
                    <a:pt x="299" y="557"/>
                  </a:cubicBezTo>
                  <a:cubicBezTo>
                    <a:pt x="303" y="539"/>
                    <a:pt x="299" y="519"/>
                    <a:pt x="296" y="500"/>
                  </a:cubicBezTo>
                  <a:cubicBezTo>
                    <a:pt x="292" y="479"/>
                    <a:pt x="294" y="458"/>
                    <a:pt x="296" y="436"/>
                  </a:cubicBezTo>
                  <a:cubicBezTo>
                    <a:pt x="299" y="400"/>
                    <a:pt x="298" y="369"/>
                    <a:pt x="293" y="334"/>
                  </a:cubicBezTo>
                  <a:cubicBezTo>
                    <a:pt x="291" y="322"/>
                    <a:pt x="289" y="310"/>
                    <a:pt x="286" y="298"/>
                  </a:cubicBezTo>
                  <a:cubicBezTo>
                    <a:pt x="319" y="317"/>
                    <a:pt x="350" y="332"/>
                    <a:pt x="362" y="375"/>
                  </a:cubicBezTo>
                  <a:cubicBezTo>
                    <a:pt x="367" y="395"/>
                    <a:pt x="367" y="423"/>
                    <a:pt x="381" y="439"/>
                  </a:cubicBezTo>
                  <a:cubicBezTo>
                    <a:pt x="393" y="454"/>
                    <a:pt x="411" y="458"/>
                    <a:pt x="418" y="477"/>
                  </a:cubicBezTo>
                  <a:cubicBezTo>
                    <a:pt x="425" y="496"/>
                    <a:pt x="419" y="517"/>
                    <a:pt x="427" y="535"/>
                  </a:cubicBezTo>
                  <a:cubicBezTo>
                    <a:pt x="429" y="540"/>
                    <a:pt x="431" y="544"/>
                    <a:pt x="435" y="547"/>
                  </a:cubicBezTo>
                  <a:cubicBezTo>
                    <a:pt x="436" y="563"/>
                    <a:pt x="432" y="579"/>
                    <a:pt x="431" y="593"/>
                  </a:cubicBezTo>
                  <a:cubicBezTo>
                    <a:pt x="430" y="604"/>
                    <a:pt x="432" y="616"/>
                    <a:pt x="437" y="625"/>
                  </a:cubicBezTo>
                  <a:cubicBezTo>
                    <a:pt x="443" y="636"/>
                    <a:pt x="455" y="641"/>
                    <a:pt x="463" y="650"/>
                  </a:cubicBezTo>
                  <a:cubicBezTo>
                    <a:pt x="480" y="666"/>
                    <a:pt x="481" y="679"/>
                    <a:pt x="478" y="700"/>
                  </a:cubicBezTo>
                  <a:cubicBezTo>
                    <a:pt x="477" y="710"/>
                    <a:pt x="477" y="730"/>
                    <a:pt x="485" y="735"/>
                  </a:cubicBezTo>
                  <a:cubicBezTo>
                    <a:pt x="477" y="730"/>
                    <a:pt x="481" y="710"/>
                    <a:pt x="482" y="699"/>
                  </a:cubicBezTo>
                  <a:cubicBezTo>
                    <a:pt x="484" y="678"/>
                    <a:pt x="487" y="668"/>
                    <a:pt x="471" y="652"/>
                  </a:cubicBezTo>
                  <a:cubicBezTo>
                    <a:pt x="462" y="643"/>
                    <a:pt x="451" y="638"/>
                    <a:pt x="445" y="627"/>
                  </a:cubicBezTo>
                  <a:cubicBezTo>
                    <a:pt x="440" y="618"/>
                    <a:pt x="438" y="606"/>
                    <a:pt x="439" y="595"/>
                  </a:cubicBezTo>
                  <a:cubicBezTo>
                    <a:pt x="440" y="583"/>
                    <a:pt x="443" y="569"/>
                    <a:pt x="443" y="556"/>
                  </a:cubicBezTo>
                  <a:cubicBezTo>
                    <a:pt x="450" y="562"/>
                    <a:pt x="459" y="568"/>
                    <a:pt x="466" y="575"/>
                  </a:cubicBezTo>
                  <a:cubicBezTo>
                    <a:pt x="481" y="588"/>
                    <a:pt x="482" y="607"/>
                    <a:pt x="492" y="623"/>
                  </a:cubicBezTo>
                  <a:cubicBezTo>
                    <a:pt x="500" y="638"/>
                    <a:pt x="511" y="643"/>
                    <a:pt x="523" y="652"/>
                  </a:cubicBezTo>
                  <a:cubicBezTo>
                    <a:pt x="549" y="671"/>
                    <a:pt x="559" y="695"/>
                    <a:pt x="539" y="710"/>
                  </a:cubicBezTo>
                  <a:cubicBezTo>
                    <a:pt x="570" y="691"/>
                    <a:pt x="552" y="661"/>
                    <a:pt x="527" y="642"/>
                  </a:cubicBezTo>
                  <a:cubicBezTo>
                    <a:pt x="514" y="633"/>
                    <a:pt x="507" y="624"/>
                    <a:pt x="498" y="609"/>
                  </a:cubicBezTo>
                  <a:cubicBezTo>
                    <a:pt x="489" y="592"/>
                    <a:pt x="487" y="574"/>
                    <a:pt x="473" y="561"/>
                  </a:cubicBezTo>
                  <a:cubicBezTo>
                    <a:pt x="459" y="548"/>
                    <a:pt x="440" y="538"/>
                    <a:pt x="433" y="521"/>
                  </a:cubicBezTo>
                  <a:cubicBezTo>
                    <a:pt x="426" y="503"/>
                    <a:pt x="431" y="482"/>
                    <a:pt x="425" y="464"/>
                  </a:cubicBezTo>
                  <a:cubicBezTo>
                    <a:pt x="434" y="467"/>
                    <a:pt x="443" y="468"/>
                    <a:pt x="453" y="469"/>
                  </a:cubicBezTo>
                  <a:cubicBezTo>
                    <a:pt x="467" y="470"/>
                    <a:pt x="479" y="472"/>
                    <a:pt x="491" y="479"/>
                  </a:cubicBezTo>
                  <a:cubicBezTo>
                    <a:pt x="502" y="484"/>
                    <a:pt x="510" y="494"/>
                    <a:pt x="520" y="501"/>
                  </a:cubicBezTo>
                  <a:cubicBezTo>
                    <a:pt x="532" y="510"/>
                    <a:pt x="549" y="515"/>
                    <a:pt x="560" y="525"/>
                  </a:cubicBezTo>
                  <a:cubicBezTo>
                    <a:pt x="566" y="530"/>
                    <a:pt x="565" y="532"/>
                    <a:pt x="568" y="541"/>
                  </a:cubicBezTo>
                  <a:cubicBezTo>
                    <a:pt x="573" y="536"/>
                    <a:pt x="566" y="522"/>
                    <a:pt x="560" y="517"/>
                  </a:cubicBezTo>
                  <a:close/>
                </a:path>
              </a:pathLst>
            </a:custGeom>
            <a:solidFill>
              <a:srgbClr val="E6785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2780" y="1530"/>
              <a:ext cx="486" cy="294"/>
            </a:xfrm>
            <a:custGeom>
              <a:rect b="b" l="l" r="r" t="t"/>
              <a:pathLst>
                <a:path extrusionOk="0" h="109" w="180">
                  <a:moveTo>
                    <a:pt x="0" y="22"/>
                  </a:moveTo>
                  <a:cubicBezTo>
                    <a:pt x="23" y="38"/>
                    <a:pt x="23" y="38"/>
                    <a:pt x="23" y="38"/>
                  </a:cubicBezTo>
                  <a:cubicBezTo>
                    <a:pt x="23" y="38"/>
                    <a:pt x="100" y="22"/>
                    <a:pt x="137" y="90"/>
                  </a:cubicBezTo>
                  <a:cubicBezTo>
                    <a:pt x="137" y="90"/>
                    <a:pt x="164" y="98"/>
                    <a:pt x="180" y="109"/>
                  </a:cubicBezTo>
                  <a:cubicBezTo>
                    <a:pt x="180" y="109"/>
                    <a:pt x="155" y="46"/>
                    <a:pt x="108" y="23"/>
                  </a:cubicBezTo>
                  <a:cubicBezTo>
                    <a:pt x="60" y="0"/>
                    <a:pt x="31" y="17"/>
                    <a:pt x="0" y="22"/>
                  </a:cubicBez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2573" y="1544"/>
              <a:ext cx="1545" cy="2163"/>
            </a:xfrm>
            <a:custGeom>
              <a:rect b="b" l="l" r="r" t="t"/>
              <a:pathLst>
                <a:path extrusionOk="0" h="802" w="573">
                  <a:moveTo>
                    <a:pt x="0" y="38"/>
                  </a:moveTo>
                  <a:cubicBezTo>
                    <a:pt x="31" y="66"/>
                    <a:pt x="83" y="30"/>
                    <a:pt x="120" y="31"/>
                  </a:cubicBezTo>
                  <a:cubicBezTo>
                    <a:pt x="152" y="33"/>
                    <a:pt x="182" y="42"/>
                    <a:pt x="203" y="69"/>
                  </a:cubicBezTo>
                  <a:cubicBezTo>
                    <a:pt x="239" y="117"/>
                    <a:pt x="238" y="176"/>
                    <a:pt x="245" y="233"/>
                  </a:cubicBezTo>
                  <a:cubicBezTo>
                    <a:pt x="227" y="236"/>
                    <a:pt x="226" y="280"/>
                    <a:pt x="227" y="291"/>
                  </a:cubicBezTo>
                  <a:cubicBezTo>
                    <a:pt x="230" y="316"/>
                    <a:pt x="241" y="340"/>
                    <a:pt x="241" y="365"/>
                  </a:cubicBezTo>
                  <a:cubicBezTo>
                    <a:pt x="241" y="392"/>
                    <a:pt x="229" y="416"/>
                    <a:pt x="237" y="443"/>
                  </a:cubicBezTo>
                  <a:cubicBezTo>
                    <a:pt x="242" y="459"/>
                    <a:pt x="243" y="470"/>
                    <a:pt x="234" y="485"/>
                  </a:cubicBezTo>
                  <a:cubicBezTo>
                    <a:pt x="224" y="501"/>
                    <a:pt x="211" y="502"/>
                    <a:pt x="194" y="506"/>
                  </a:cubicBezTo>
                  <a:cubicBezTo>
                    <a:pt x="211" y="502"/>
                    <a:pt x="232" y="506"/>
                    <a:pt x="242" y="490"/>
                  </a:cubicBezTo>
                  <a:cubicBezTo>
                    <a:pt x="251" y="475"/>
                    <a:pt x="250" y="464"/>
                    <a:pt x="245" y="448"/>
                  </a:cubicBezTo>
                  <a:cubicBezTo>
                    <a:pt x="237" y="421"/>
                    <a:pt x="249" y="397"/>
                    <a:pt x="249" y="370"/>
                  </a:cubicBezTo>
                  <a:cubicBezTo>
                    <a:pt x="249" y="345"/>
                    <a:pt x="238" y="321"/>
                    <a:pt x="235" y="296"/>
                  </a:cubicBezTo>
                  <a:cubicBezTo>
                    <a:pt x="234" y="287"/>
                    <a:pt x="235" y="253"/>
                    <a:pt x="246" y="241"/>
                  </a:cubicBezTo>
                  <a:cubicBezTo>
                    <a:pt x="247" y="244"/>
                    <a:pt x="247" y="246"/>
                    <a:pt x="248" y="249"/>
                  </a:cubicBezTo>
                  <a:cubicBezTo>
                    <a:pt x="252" y="278"/>
                    <a:pt x="261" y="307"/>
                    <a:pt x="265" y="337"/>
                  </a:cubicBezTo>
                  <a:cubicBezTo>
                    <a:pt x="270" y="372"/>
                    <a:pt x="272" y="403"/>
                    <a:pt x="268" y="439"/>
                  </a:cubicBezTo>
                  <a:cubicBezTo>
                    <a:pt x="266" y="461"/>
                    <a:pt x="265" y="482"/>
                    <a:pt x="268" y="503"/>
                  </a:cubicBezTo>
                  <a:cubicBezTo>
                    <a:pt x="271" y="521"/>
                    <a:pt x="276" y="541"/>
                    <a:pt x="272" y="560"/>
                  </a:cubicBezTo>
                  <a:cubicBezTo>
                    <a:pt x="268" y="578"/>
                    <a:pt x="259" y="596"/>
                    <a:pt x="259" y="615"/>
                  </a:cubicBezTo>
                  <a:cubicBezTo>
                    <a:pt x="259" y="627"/>
                    <a:pt x="265" y="638"/>
                    <a:pt x="264" y="650"/>
                  </a:cubicBezTo>
                  <a:cubicBezTo>
                    <a:pt x="264" y="661"/>
                    <a:pt x="262" y="673"/>
                    <a:pt x="262" y="685"/>
                  </a:cubicBezTo>
                  <a:cubicBezTo>
                    <a:pt x="261" y="714"/>
                    <a:pt x="261" y="743"/>
                    <a:pt x="276" y="768"/>
                  </a:cubicBezTo>
                  <a:cubicBezTo>
                    <a:pt x="290" y="791"/>
                    <a:pt x="316" y="802"/>
                    <a:pt x="341" y="792"/>
                  </a:cubicBezTo>
                  <a:cubicBezTo>
                    <a:pt x="330" y="797"/>
                    <a:pt x="303" y="771"/>
                    <a:pt x="296" y="762"/>
                  </a:cubicBezTo>
                  <a:cubicBezTo>
                    <a:pt x="278" y="739"/>
                    <a:pt x="288" y="711"/>
                    <a:pt x="289" y="682"/>
                  </a:cubicBezTo>
                  <a:cubicBezTo>
                    <a:pt x="289" y="671"/>
                    <a:pt x="291" y="658"/>
                    <a:pt x="292" y="647"/>
                  </a:cubicBezTo>
                  <a:cubicBezTo>
                    <a:pt x="292" y="635"/>
                    <a:pt x="286" y="624"/>
                    <a:pt x="286" y="612"/>
                  </a:cubicBezTo>
                  <a:cubicBezTo>
                    <a:pt x="286" y="593"/>
                    <a:pt x="295" y="575"/>
                    <a:pt x="299" y="557"/>
                  </a:cubicBezTo>
                  <a:cubicBezTo>
                    <a:pt x="303" y="539"/>
                    <a:pt x="299" y="519"/>
                    <a:pt x="296" y="500"/>
                  </a:cubicBezTo>
                  <a:cubicBezTo>
                    <a:pt x="292" y="479"/>
                    <a:pt x="294" y="458"/>
                    <a:pt x="296" y="436"/>
                  </a:cubicBezTo>
                  <a:cubicBezTo>
                    <a:pt x="299" y="400"/>
                    <a:pt x="298" y="369"/>
                    <a:pt x="293" y="334"/>
                  </a:cubicBezTo>
                  <a:cubicBezTo>
                    <a:pt x="291" y="322"/>
                    <a:pt x="289" y="310"/>
                    <a:pt x="286" y="298"/>
                  </a:cubicBezTo>
                  <a:cubicBezTo>
                    <a:pt x="319" y="317"/>
                    <a:pt x="350" y="332"/>
                    <a:pt x="362" y="375"/>
                  </a:cubicBezTo>
                  <a:cubicBezTo>
                    <a:pt x="367" y="395"/>
                    <a:pt x="367" y="423"/>
                    <a:pt x="381" y="439"/>
                  </a:cubicBezTo>
                  <a:cubicBezTo>
                    <a:pt x="393" y="454"/>
                    <a:pt x="411" y="458"/>
                    <a:pt x="418" y="477"/>
                  </a:cubicBezTo>
                  <a:cubicBezTo>
                    <a:pt x="425" y="496"/>
                    <a:pt x="419" y="517"/>
                    <a:pt x="427" y="535"/>
                  </a:cubicBezTo>
                  <a:cubicBezTo>
                    <a:pt x="429" y="540"/>
                    <a:pt x="431" y="544"/>
                    <a:pt x="435" y="547"/>
                  </a:cubicBezTo>
                  <a:cubicBezTo>
                    <a:pt x="436" y="563"/>
                    <a:pt x="432" y="579"/>
                    <a:pt x="431" y="593"/>
                  </a:cubicBezTo>
                  <a:cubicBezTo>
                    <a:pt x="430" y="604"/>
                    <a:pt x="432" y="616"/>
                    <a:pt x="437" y="625"/>
                  </a:cubicBezTo>
                  <a:cubicBezTo>
                    <a:pt x="443" y="636"/>
                    <a:pt x="455" y="641"/>
                    <a:pt x="463" y="650"/>
                  </a:cubicBezTo>
                  <a:cubicBezTo>
                    <a:pt x="480" y="666"/>
                    <a:pt x="481" y="679"/>
                    <a:pt x="478" y="700"/>
                  </a:cubicBezTo>
                  <a:cubicBezTo>
                    <a:pt x="477" y="710"/>
                    <a:pt x="477" y="730"/>
                    <a:pt x="485" y="735"/>
                  </a:cubicBezTo>
                  <a:cubicBezTo>
                    <a:pt x="477" y="730"/>
                    <a:pt x="481" y="710"/>
                    <a:pt x="482" y="699"/>
                  </a:cubicBezTo>
                  <a:cubicBezTo>
                    <a:pt x="484" y="678"/>
                    <a:pt x="487" y="668"/>
                    <a:pt x="471" y="652"/>
                  </a:cubicBezTo>
                  <a:cubicBezTo>
                    <a:pt x="462" y="643"/>
                    <a:pt x="451" y="638"/>
                    <a:pt x="445" y="627"/>
                  </a:cubicBezTo>
                  <a:cubicBezTo>
                    <a:pt x="440" y="618"/>
                    <a:pt x="438" y="606"/>
                    <a:pt x="439" y="595"/>
                  </a:cubicBezTo>
                  <a:cubicBezTo>
                    <a:pt x="440" y="583"/>
                    <a:pt x="443" y="569"/>
                    <a:pt x="443" y="556"/>
                  </a:cubicBezTo>
                  <a:cubicBezTo>
                    <a:pt x="450" y="562"/>
                    <a:pt x="459" y="568"/>
                    <a:pt x="466" y="575"/>
                  </a:cubicBezTo>
                  <a:cubicBezTo>
                    <a:pt x="481" y="588"/>
                    <a:pt x="482" y="607"/>
                    <a:pt x="492" y="623"/>
                  </a:cubicBezTo>
                  <a:cubicBezTo>
                    <a:pt x="500" y="638"/>
                    <a:pt x="511" y="643"/>
                    <a:pt x="523" y="652"/>
                  </a:cubicBezTo>
                  <a:cubicBezTo>
                    <a:pt x="549" y="671"/>
                    <a:pt x="559" y="695"/>
                    <a:pt x="539" y="710"/>
                  </a:cubicBezTo>
                  <a:cubicBezTo>
                    <a:pt x="570" y="691"/>
                    <a:pt x="552" y="661"/>
                    <a:pt x="527" y="642"/>
                  </a:cubicBezTo>
                  <a:cubicBezTo>
                    <a:pt x="514" y="633"/>
                    <a:pt x="507" y="624"/>
                    <a:pt x="498" y="609"/>
                  </a:cubicBezTo>
                  <a:cubicBezTo>
                    <a:pt x="489" y="592"/>
                    <a:pt x="487" y="574"/>
                    <a:pt x="473" y="561"/>
                  </a:cubicBezTo>
                  <a:cubicBezTo>
                    <a:pt x="459" y="548"/>
                    <a:pt x="440" y="538"/>
                    <a:pt x="433" y="521"/>
                  </a:cubicBezTo>
                  <a:cubicBezTo>
                    <a:pt x="426" y="503"/>
                    <a:pt x="431" y="482"/>
                    <a:pt x="425" y="464"/>
                  </a:cubicBezTo>
                  <a:cubicBezTo>
                    <a:pt x="434" y="467"/>
                    <a:pt x="443" y="468"/>
                    <a:pt x="453" y="469"/>
                  </a:cubicBezTo>
                  <a:cubicBezTo>
                    <a:pt x="467" y="470"/>
                    <a:pt x="479" y="472"/>
                    <a:pt x="491" y="479"/>
                  </a:cubicBezTo>
                  <a:cubicBezTo>
                    <a:pt x="502" y="484"/>
                    <a:pt x="510" y="494"/>
                    <a:pt x="520" y="501"/>
                  </a:cubicBezTo>
                  <a:cubicBezTo>
                    <a:pt x="532" y="510"/>
                    <a:pt x="549" y="515"/>
                    <a:pt x="560" y="525"/>
                  </a:cubicBezTo>
                  <a:cubicBezTo>
                    <a:pt x="566" y="530"/>
                    <a:pt x="565" y="532"/>
                    <a:pt x="568" y="541"/>
                  </a:cubicBezTo>
                  <a:cubicBezTo>
                    <a:pt x="573" y="536"/>
                    <a:pt x="566" y="522"/>
                    <a:pt x="560" y="517"/>
                  </a:cubicBezTo>
                  <a:cubicBezTo>
                    <a:pt x="548" y="508"/>
                    <a:pt x="532" y="503"/>
                    <a:pt x="519" y="493"/>
                  </a:cubicBezTo>
                  <a:cubicBezTo>
                    <a:pt x="509" y="486"/>
                    <a:pt x="502" y="477"/>
                    <a:pt x="491" y="471"/>
                  </a:cubicBezTo>
                  <a:cubicBezTo>
                    <a:pt x="479" y="465"/>
                    <a:pt x="467" y="463"/>
                    <a:pt x="453" y="462"/>
                  </a:cubicBezTo>
                  <a:cubicBezTo>
                    <a:pt x="441" y="460"/>
                    <a:pt x="430" y="459"/>
                    <a:pt x="420" y="454"/>
                  </a:cubicBezTo>
                  <a:cubicBezTo>
                    <a:pt x="411" y="442"/>
                    <a:pt x="397" y="437"/>
                    <a:pt x="387" y="425"/>
                  </a:cubicBezTo>
                  <a:cubicBezTo>
                    <a:pt x="374" y="409"/>
                    <a:pt x="373" y="380"/>
                    <a:pt x="368" y="361"/>
                  </a:cubicBezTo>
                  <a:cubicBezTo>
                    <a:pt x="355" y="313"/>
                    <a:pt x="319" y="300"/>
                    <a:pt x="281" y="278"/>
                  </a:cubicBezTo>
                  <a:cubicBezTo>
                    <a:pt x="279" y="267"/>
                    <a:pt x="277" y="257"/>
                    <a:pt x="275" y="246"/>
                  </a:cubicBezTo>
                  <a:cubicBezTo>
                    <a:pt x="269" y="209"/>
                    <a:pt x="270" y="170"/>
                    <a:pt x="264" y="134"/>
                  </a:cubicBezTo>
                  <a:cubicBezTo>
                    <a:pt x="273" y="134"/>
                    <a:pt x="283" y="135"/>
                    <a:pt x="291" y="138"/>
                  </a:cubicBezTo>
                  <a:cubicBezTo>
                    <a:pt x="313" y="147"/>
                    <a:pt x="325" y="170"/>
                    <a:pt x="342" y="185"/>
                  </a:cubicBezTo>
                  <a:cubicBezTo>
                    <a:pt x="351" y="193"/>
                    <a:pt x="362" y="200"/>
                    <a:pt x="373" y="206"/>
                  </a:cubicBezTo>
                  <a:cubicBezTo>
                    <a:pt x="376" y="214"/>
                    <a:pt x="378" y="223"/>
                    <a:pt x="379" y="230"/>
                  </a:cubicBezTo>
                  <a:cubicBezTo>
                    <a:pt x="382" y="256"/>
                    <a:pt x="370" y="281"/>
                    <a:pt x="387" y="305"/>
                  </a:cubicBezTo>
                  <a:cubicBezTo>
                    <a:pt x="399" y="324"/>
                    <a:pt x="422" y="328"/>
                    <a:pt x="429" y="350"/>
                  </a:cubicBezTo>
                  <a:cubicBezTo>
                    <a:pt x="435" y="367"/>
                    <a:pt x="434" y="396"/>
                    <a:pt x="452" y="404"/>
                  </a:cubicBezTo>
                  <a:cubicBezTo>
                    <a:pt x="434" y="396"/>
                    <a:pt x="441" y="366"/>
                    <a:pt x="435" y="350"/>
                  </a:cubicBezTo>
                  <a:cubicBezTo>
                    <a:pt x="427" y="328"/>
                    <a:pt x="405" y="323"/>
                    <a:pt x="392" y="305"/>
                  </a:cubicBezTo>
                  <a:cubicBezTo>
                    <a:pt x="376" y="281"/>
                    <a:pt x="388" y="256"/>
                    <a:pt x="385" y="230"/>
                  </a:cubicBezTo>
                  <a:cubicBezTo>
                    <a:pt x="384" y="224"/>
                    <a:pt x="383" y="216"/>
                    <a:pt x="380" y="209"/>
                  </a:cubicBezTo>
                  <a:cubicBezTo>
                    <a:pt x="384" y="211"/>
                    <a:pt x="389" y="213"/>
                    <a:pt x="393" y="215"/>
                  </a:cubicBezTo>
                  <a:cubicBezTo>
                    <a:pt x="409" y="222"/>
                    <a:pt x="423" y="233"/>
                    <a:pt x="436" y="244"/>
                  </a:cubicBezTo>
                  <a:cubicBezTo>
                    <a:pt x="456" y="259"/>
                    <a:pt x="471" y="280"/>
                    <a:pt x="485" y="299"/>
                  </a:cubicBezTo>
                  <a:cubicBezTo>
                    <a:pt x="492" y="309"/>
                    <a:pt x="507" y="326"/>
                    <a:pt x="505" y="336"/>
                  </a:cubicBezTo>
                  <a:cubicBezTo>
                    <a:pt x="521" y="324"/>
                    <a:pt x="493" y="289"/>
                    <a:pt x="486" y="279"/>
                  </a:cubicBezTo>
                  <a:cubicBezTo>
                    <a:pt x="474" y="263"/>
                    <a:pt x="462" y="246"/>
                    <a:pt x="447" y="232"/>
                  </a:cubicBezTo>
                  <a:cubicBezTo>
                    <a:pt x="448" y="231"/>
                    <a:pt x="449" y="231"/>
                    <a:pt x="449" y="230"/>
                  </a:cubicBezTo>
                  <a:cubicBezTo>
                    <a:pt x="463" y="229"/>
                    <a:pt x="466" y="233"/>
                    <a:pt x="475" y="241"/>
                  </a:cubicBezTo>
                  <a:cubicBezTo>
                    <a:pt x="476" y="231"/>
                    <a:pt x="467" y="220"/>
                    <a:pt x="459" y="215"/>
                  </a:cubicBezTo>
                  <a:cubicBezTo>
                    <a:pt x="448" y="210"/>
                    <a:pt x="438" y="215"/>
                    <a:pt x="427" y="215"/>
                  </a:cubicBezTo>
                  <a:cubicBezTo>
                    <a:pt x="417" y="208"/>
                    <a:pt x="406" y="201"/>
                    <a:pt x="394" y="195"/>
                  </a:cubicBezTo>
                  <a:cubicBezTo>
                    <a:pt x="376" y="188"/>
                    <a:pt x="357" y="178"/>
                    <a:pt x="343" y="165"/>
                  </a:cubicBezTo>
                  <a:cubicBezTo>
                    <a:pt x="326" y="150"/>
                    <a:pt x="314" y="127"/>
                    <a:pt x="292" y="118"/>
                  </a:cubicBezTo>
                  <a:cubicBezTo>
                    <a:pt x="282" y="114"/>
                    <a:pt x="271" y="114"/>
                    <a:pt x="260" y="113"/>
                  </a:cubicBezTo>
                  <a:cubicBezTo>
                    <a:pt x="255" y="96"/>
                    <a:pt x="248" y="79"/>
                    <a:pt x="237" y="64"/>
                  </a:cubicBezTo>
                  <a:cubicBezTo>
                    <a:pt x="216" y="37"/>
                    <a:pt x="184" y="10"/>
                    <a:pt x="152" y="6"/>
                  </a:cubicBezTo>
                  <a:cubicBezTo>
                    <a:pt x="102" y="0"/>
                    <a:pt x="45" y="37"/>
                    <a:pt x="14" y="9"/>
                  </a:cubicBezTo>
                </a:path>
              </a:pathLst>
            </a:custGeom>
            <a:noFill/>
            <a:ln cap="flat" cmpd="sng" w="9525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2670" y="1547"/>
              <a:ext cx="202" cy="99"/>
            </a:xfrm>
            <a:custGeom>
              <a:rect b="b" l="l" r="r" t="t"/>
              <a:pathLst>
                <a:path extrusionOk="0" h="37" w="75">
                  <a:moveTo>
                    <a:pt x="75" y="36"/>
                  </a:moveTo>
                  <a:cubicBezTo>
                    <a:pt x="70" y="37"/>
                    <a:pt x="65" y="32"/>
                    <a:pt x="60" y="30"/>
                  </a:cubicBezTo>
                  <a:cubicBezTo>
                    <a:pt x="53" y="25"/>
                    <a:pt x="46" y="19"/>
                    <a:pt x="39" y="14"/>
                  </a:cubicBezTo>
                  <a:cubicBezTo>
                    <a:pt x="26" y="6"/>
                    <a:pt x="15" y="2"/>
                    <a:pt x="0" y="0"/>
                  </a:cubicBezTo>
                </a:path>
              </a:pathLst>
            </a:custGeom>
            <a:noFill/>
            <a:ln cap="rnd" cmpd="sng" w="12700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2640" y="1342"/>
              <a:ext cx="1151" cy="647"/>
            </a:xfrm>
            <a:custGeom>
              <a:rect b="b" l="l" r="r" t="t"/>
              <a:pathLst>
                <a:path extrusionOk="0" h="240" w="427">
                  <a:moveTo>
                    <a:pt x="0" y="46"/>
                  </a:moveTo>
                  <a:cubicBezTo>
                    <a:pt x="29" y="34"/>
                    <a:pt x="133" y="0"/>
                    <a:pt x="251" y="41"/>
                  </a:cubicBezTo>
                  <a:cubicBezTo>
                    <a:pt x="349" y="76"/>
                    <a:pt x="427" y="240"/>
                    <a:pt x="363" y="227"/>
                  </a:cubicBezTo>
                  <a:cubicBezTo>
                    <a:pt x="299" y="214"/>
                    <a:pt x="307" y="199"/>
                    <a:pt x="294" y="188"/>
                  </a:cubicBezTo>
                  <a:cubicBezTo>
                    <a:pt x="280" y="178"/>
                    <a:pt x="288" y="199"/>
                    <a:pt x="260" y="191"/>
                  </a:cubicBezTo>
                  <a:cubicBezTo>
                    <a:pt x="232" y="183"/>
                    <a:pt x="232" y="178"/>
                    <a:pt x="218" y="170"/>
                  </a:cubicBezTo>
                  <a:cubicBezTo>
                    <a:pt x="205" y="163"/>
                    <a:pt x="189" y="165"/>
                    <a:pt x="176" y="152"/>
                  </a:cubicBezTo>
                </a:path>
              </a:pathLst>
            </a:custGeom>
            <a:noFill/>
            <a:ln cap="flat" cmpd="sng" w="12700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3077" y="1652"/>
              <a:ext cx="135" cy="129"/>
            </a:xfrm>
            <a:custGeom>
              <a:rect b="b" l="l" r="r" t="t"/>
              <a:pathLst>
                <a:path extrusionOk="0" h="48" w="50">
                  <a:moveTo>
                    <a:pt x="38" y="0"/>
                  </a:moveTo>
                  <a:cubicBezTo>
                    <a:pt x="35" y="10"/>
                    <a:pt x="40" y="19"/>
                    <a:pt x="44" y="29"/>
                  </a:cubicBezTo>
                  <a:cubicBezTo>
                    <a:pt x="46" y="37"/>
                    <a:pt x="50" y="48"/>
                    <a:pt x="36" y="44"/>
                  </a:cubicBezTo>
                  <a:cubicBezTo>
                    <a:pt x="29" y="42"/>
                    <a:pt x="21" y="36"/>
                    <a:pt x="15" y="32"/>
                  </a:cubicBezTo>
                  <a:cubicBezTo>
                    <a:pt x="9" y="29"/>
                    <a:pt x="3" y="24"/>
                    <a:pt x="0" y="17"/>
                  </a:cubicBezTo>
                  <a:cubicBezTo>
                    <a:pt x="5" y="19"/>
                    <a:pt x="10" y="23"/>
                    <a:pt x="15" y="25"/>
                  </a:cubicBezTo>
                  <a:cubicBezTo>
                    <a:pt x="19" y="27"/>
                    <a:pt x="26" y="32"/>
                    <a:pt x="30" y="31"/>
                  </a:cubicBezTo>
                  <a:cubicBezTo>
                    <a:pt x="36" y="30"/>
                    <a:pt x="34" y="10"/>
                    <a:pt x="37" y="4"/>
                  </a:cubicBezTo>
                </a:path>
              </a:pathLst>
            </a:custGeom>
            <a:solidFill>
              <a:srgbClr val="D4C0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3125" y="1725"/>
              <a:ext cx="76" cy="40"/>
            </a:xfrm>
            <a:custGeom>
              <a:rect b="b" l="l" r="r" t="t"/>
              <a:pathLst>
                <a:path extrusionOk="0" h="15" w="28">
                  <a:moveTo>
                    <a:pt x="0" y="5"/>
                  </a:moveTo>
                  <a:cubicBezTo>
                    <a:pt x="5" y="8"/>
                    <a:pt x="15" y="13"/>
                    <a:pt x="21" y="14"/>
                  </a:cubicBezTo>
                  <a:cubicBezTo>
                    <a:pt x="28" y="15"/>
                    <a:pt x="24" y="3"/>
                    <a:pt x="21" y="0"/>
                  </a:cubicBezTo>
                  <a:cubicBezTo>
                    <a:pt x="20" y="6"/>
                    <a:pt x="25" y="9"/>
                    <a:pt x="17" y="10"/>
                  </a:cubicBezTo>
                  <a:cubicBezTo>
                    <a:pt x="13" y="10"/>
                    <a:pt x="6" y="9"/>
                    <a:pt x="3" y="6"/>
                  </a:cubicBezTo>
                </a:path>
              </a:pathLst>
            </a:custGeom>
            <a:solidFill>
              <a:srgbClr val="E3D5D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2640" y="1425"/>
              <a:ext cx="391" cy="211"/>
            </a:xfrm>
            <a:custGeom>
              <a:rect b="b" l="l" r="r" t="t"/>
              <a:pathLst>
                <a:path extrusionOk="0" h="78" w="145">
                  <a:moveTo>
                    <a:pt x="16" y="16"/>
                  </a:moveTo>
                  <a:cubicBezTo>
                    <a:pt x="0" y="29"/>
                    <a:pt x="52" y="49"/>
                    <a:pt x="60" y="54"/>
                  </a:cubicBezTo>
                  <a:cubicBezTo>
                    <a:pt x="67" y="59"/>
                    <a:pt x="73" y="66"/>
                    <a:pt x="81" y="71"/>
                  </a:cubicBezTo>
                  <a:cubicBezTo>
                    <a:pt x="89" y="76"/>
                    <a:pt x="98" y="75"/>
                    <a:pt x="106" y="78"/>
                  </a:cubicBezTo>
                  <a:cubicBezTo>
                    <a:pt x="97" y="74"/>
                    <a:pt x="90" y="71"/>
                    <a:pt x="83" y="64"/>
                  </a:cubicBezTo>
                  <a:cubicBezTo>
                    <a:pt x="78" y="59"/>
                    <a:pt x="67" y="51"/>
                    <a:pt x="68" y="42"/>
                  </a:cubicBezTo>
                  <a:cubicBezTo>
                    <a:pt x="70" y="30"/>
                    <a:pt x="92" y="26"/>
                    <a:pt x="101" y="22"/>
                  </a:cubicBezTo>
                  <a:cubicBezTo>
                    <a:pt x="108" y="19"/>
                    <a:pt x="117" y="16"/>
                    <a:pt x="124" y="15"/>
                  </a:cubicBezTo>
                  <a:cubicBezTo>
                    <a:pt x="130" y="14"/>
                    <a:pt x="141" y="16"/>
                    <a:pt x="145" y="12"/>
                  </a:cubicBezTo>
                  <a:cubicBezTo>
                    <a:pt x="139" y="5"/>
                    <a:pt x="123" y="3"/>
                    <a:pt x="114" y="2"/>
                  </a:cubicBezTo>
                  <a:cubicBezTo>
                    <a:pt x="102" y="0"/>
                    <a:pt x="89" y="0"/>
                    <a:pt x="77" y="2"/>
                  </a:cubicBezTo>
                  <a:cubicBezTo>
                    <a:pt x="56" y="5"/>
                    <a:pt x="33" y="7"/>
                    <a:pt x="14" y="16"/>
                  </a:cubicBezTo>
                </a:path>
              </a:pathLst>
            </a:custGeom>
            <a:solidFill>
              <a:srgbClr val="D4C0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2699" y="1466"/>
              <a:ext cx="124" cy="102"/>
            </a:xfrm>
            <a:custGeom>
              <a:rect b="b" l="l" r="r" t="t"/>
              <a:pathLst>
                <a:path extrusionOk="0" h="38" w="46">
                  <a:moveTo>
                    <a:pt x="8" y="2"/>
                  </a:moveTo>
                  <a:cubicBezTo>
                    <a:pt x="0" y="3"/>
                    <a:pt x="2" y="9"/>
                    <a:pt x="6" y="14"/>
                  </a:cubicBezTo>
                  <a:cubicBezTo>
                    <a:pt x="10" y="19"/>
                    <a:pt x="17" y="21"/>
                    <a:pt x="23" y="24"/>
                  </a:cubicBezTo>
                  <a:cubicBezTo>
                    <a:pt x="27" y="26"/>
                    <a:pt x="33" y="27"/>
                    <a:pt x="37" y="30"/>
                  </a:cubicBezTo>
                  <a:cubicBezTo>
                    <a:pt x="40" y="32"/>
                    <a:pt x="42" y="36"/>
                    <a:pt x="46" y="38"/>
                  </a:cubicBezTo>
                  <a:cubicBezTo>
                    <a:pt x="38" y="34"/>
                    <a:pt x="34" y="25"/>
                    <a:pt x="26" y="20"/>
                  </a:cubicBezTo>
                  <a:cubicBezTo>
                    <a:pt x="19" y="17"/>
                    <a:pt x="8" y="9"/>
                    <a:pt x="10" y="0"/>
                  </a:cubicBezTo>
                </a:path>
              </a:pathLst>
            </a:custGeom>
            <a:solidFill>
              <a:srgbClr val="E3D5D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950" y="2518"/>
              <a:ext cx="1310" cy="900"/>
            </a:xfrm>
            <a:custGeom>
              <a:rect b="b" l="l" r="r" t="t"/>
              <a:pathLst>
                <a:path extrusionOk="0" h="334" w="486">
                  <a:moveTo>
                    <a:pt x="381" y="266"/>
                  </a:moveTo>
                  <a:cubicBezTo>
                    <a:pt x="359" y="251"/>
                    <a:pt x="324" y="258"/>
                    <a:pt x="310" y="233"/>
                  </a:cubicBezTo>
                  <a:cubicBezTo>
                    <a:pt x="310" y="231"/>
                    <a:pt x="309" y="229"/>
                    <a:pt x="308" y="227"/>
                  </a:cubicBezTo>
                  <a:cubicBezTo>
                    <a:pt x="332" y="238"/>
                    <a:pt x="356" y="246"/>
                    <a:pt x="383" y="249"/>
                  </a:cubicBezTo>
                  <a:cubicBezTo>
                    <a:pt x="415" y="252"/>
                    <a:pt x="461" y="248"/>
                    <a:pt x="486" y="271"/>
                  </a:cubicBezTo>
                  <a:cubicBezTo>
                    <a:pt x="474" y="260"/>
                    <a:pt x="459" y="253"/>
                    <a:pt x="444" y="248"/>
                  </a:cubicBezTo>
                  <a:cubicBezTo>
                    <a:pt x="425" y="241"/>
                    <a:pt x="404" y="246"/>
                    <a:pt x="385" y="243"/>
                  </a:cubicBezTo>
                  <a:cubicBezTo>
                    <a:pt x="334" y="235"/>
                    <a:pt x="307" y="207"/>
                    <a:pt x="257" y="187"/>
                  </a:cubicBezTo>
                  <a:cubicBezTo>
                    <a:pt x="232" y="177"/>
                    <a:pt x="199" y="174"/>
                    <a:pt x="178" y="157"/>
                  </a:cubicBezTo>
                  <a:cubicBezTo>
                    <a:pt x="177" y="157"/>
                    <a:pt x="177" y="156"/>
                    <a:pt x="176" y="156"/>
                  </a:cubicBezTo>
                  <a:cubicBezTo>
                    <a:pt x="194" y="159"/>
                    <a:pt x="219" y="145"/>
                    <a:pt x="235" y="140"/>
                  </a:cubicBezTo>
                  <a:cubicBezTo>
                    <a:pt x="251" y="135"/>
                    <a:pt x="264" y="138"/>
                    <a:pt x="280" y="142"/>
                  </a:cubicBezTo>
                  <a:cubicBezTo>
                    <a:pt x="295" y="145"/>
                    <a:pt x="307" y="146"/>
                    <a:pt x="323" y="145"/>
                  </a:cubicBezTo>
                  <a:cubicBezTo>
                    <a:pt x="337" y="145"/>
                    <a:pt x="352" y="141"/>
                    <a:pt x="361" y="129"/>
                  </a:cubicBezTo>
                  <a:cubicBezTo>
                    <a:pt x="371" y="116"/>
                    <a:pt x="374" y="109"/>
                    <a:pt x="391" y="104"/>
                  </a:cubicBezTo>
                  <a:cubicBezTo>
                    <a:pt x="370" y="106"/>
                    <a:pt x="365" y="121"/>
                    <a:pt x="349" y="132"/>
                  </a:cubicBezTo>
                  <a:cubicBezTo>
                    <a:pt x="321" y="150"/>
                    <a:pt x="304" y="137"/>
                    <a:pt x="276" y="130"/>
                  </a:cubicBezTo>
                  <a:cubicBezTo>
                    <a:pt x="263" y="127"/>
                    <a:pt x="251" y="125"/>
                    <a:pt x="238" y="129"/>
                  </a:cubicBezTo>
                  <a:cubicBezTo>
                    <a:pt x="225" y="133"/>
                    <a:pt x="212" y="144"/>
                    <a:pt x="198" y="146"/>
                  </a:cubicBezTo>
                  <a:cubicBezTo>
                    <a:pt x="175" y="148"/>
                    <a:pt x="163" y="137"/>
                    <a:pt x="147" y="123"/>
                  </a:cubicBezTo>
                  <a:cubicBezTo>
                    <a:pt x="139" y="111"/>
                    <a:pt x="131" y="98"/>
                    <a:pt x="121" y="86"/>
                  </a:cubicBezTo>
                  <a:cubicBezTo>
                    <a:pt x="102" y="61"/>
                    <a:pt x="80" y="60"/>
                    <a:pt x="53" y="49"/>
                  </a:cubicBezTo>
                  <a:cubicBezTo>
                    <a:pt x="39" y="43"/>
                    <a:pt x="27" y="32"/>
                    <a:pt x="19" y="19"/>
                  </a:cubicBezTo>
                  <a:cubicBezTo>
                    <a:pt x="12" y="9"/>
                    <a:pt x="9" y="4"/>
                    <a:pt x="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4" y="29"/>
                    <a:pt x="19" y="47"/>
                    <a:pt x="36" y="56"/>
                  </a:cubicBezTo>
                  <a:cubicBezTo>
                    <a:pt x="58" y="68"/>
                    <a:pt x="80" y="73"/>
                    <a:pt x="100" y="90"/>
                  </a:cubicBezTo>
                  <a:cubicBezTo>
                    <a:pt x="117" y="104"/>
                    <a:pt x="128" y="121"/>
                    <a:pt x="142" y="138"/>
                  </a:cubicBezTo>
                  <a:cubicBezTo>
                    <a:pt x="160" y="158"/>
                    <a:pt x="178" y="172"/>
                    <a:pt x="203" y="181"/>
                  </a:cubicBezTo>
                  <a:cubicBezTo>
                    <a:pt x="226" y="189"/>
                    <a:pt x="248" y="193"/>
                    <a:pt x="270" y="204"/>
                  </a:cubicBezTo>
                  <a:cubicBezTo>
                    <a:pt x="277" y="208"/>
                    <a:pt x="286" y="212"/>
                    <a:pt x="291" y="219"/>
                  </a:cubicBezTo>
                  <a:cubicBezTo>
                    <a:pt x="293" y="221"/>
                    <a:pt x="294" y="222"/>
                    <a:pt x="295" y="224"/>
                  </a:cubicBezTo>
                  <a:cubicBezTo>
                    <a:pt x="298" y="230"/>
                    <a:pt x="301" y="237"/>
                    <a:pt x="305" y="244"/>
                  </a:cubicBezTo>
                  <a:cubicBezTo>
                    <a:pt x="317" y="262"/>
                    <a:pt x="330" y="260"/>
                    <a:pt x="348" y="265"/>
                  </a:cubicBezTo>
                  <a:cubicBezTo>
                    <a:pt x="372" y="270"/>
                    <a:pt x="386" y="284"/>
                    <a:pt x="400" y="304"/>
                  </a:cubicBezTo>
                  <a:cubicBezTo>
                    <a:pt x="407" y="315"/>
                    <a:pt x="416" y="323"/>
                    <a:pt x="427" y="328"/>
                  </a:cubicBezTo>
                  <a:cubicBezTo>
                    <a:pt x="407" y="315"/>
                    <a:pt x="402" y="281"/>
                    <a:pt x="381" y="266"/>
                  </a:cubicBezTo>
                  <a:close/>
                  <a:moveTo>
                    <a:pt x="440" y="334"/>
                  </a:moveTo>
                  <a:cubicBezTo>
                    <a:pt x="436" y="332"/>
                    <a:pt x="431" y="331"/>
                    <a:pt x="427" y="328"/>
                  </a:cubicBezTo>
                  <a:cubicBezTo>
                    <a:pt x="431" y="331"/>
                    <a:pt x="435" y="333"/>
                    <a:pt x="440" y="334"/>
                  </a:cubicBezTo>
                  <a:close/>
                </a:path>
              </a:pathLst>
            </a:custGeom>
            <a:solidFill>
              <a:srgbClr val="AFCFE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2330" y="2100"/>
              <a:ext cx="717" cy="353"/>
            </a:xfrm>
            <a:custGeom>
              <a:rect b="b" l="l" r="r" t="t"/>
              <a:pathLst>
                <a:path extrusionOk="0" h="131" w="266">
                  <a:moveTo>
                    <a:pt x="0" y="6"/>
                  </a:moveTo>
                  <a:cubicBezTo>
                    <a:pt x="12" y="20"/>
                    <a:pt x="8" y="18"/>
                    <a:pt x="28" y="24"/>
                  </a:cubicBezTo>
                  <a:cubicBezTo>
                    <a:pt x="46" y="29"/>
                    <a:pt x="66" y="29"/>
                    <a:pt x="84" y="30"/>
                  </a:cubicBezTo>
                  <a:cubicBezTo>
                    <a:pt x="103" y="31"/>
                    <a:pt x="115" y="38"/>
                    <a:pt x="129" y="50"/>
                  </a:cubicBezTo>
                  <a:cubicBezTo>
                    <a:pt x="138" y="59"/>
                    <a:pt x="146" y="67"/>
                    <a:pt x="159" y="72"/>
                  </a:cubicBezTo>
                  <a:cubicBezTo>
                    <a:pt x="183" y="80"/>
                    <a:pt x="196" y="88"/>
                    <a:pt x="215" y="106"/>
                  </a:cubicBezTo>
                  <a:cubicBezTo>
                    <a:pt x="229" y="120"/>
                    <a:pt x="245" y="130"/>
                    <a:pt x="266" y="131"/>
                  </a:cubicBezTo>
                  <a:cubicBezTo>
                    <a:pt x="227" y="125"/>
                    <a:pt x="210" y="87"/>
                    <a:pt x="178" y="72"/>
                  </a:cubicBezTo>
                  <a:cubicBezTo>
                    <a:pt x="163" y="66"/>
                    <a:pt x="149" y="63"/>
                    <a:pt x="139" y="45"/>
                  </a:cubicBezTo>
                  <a:cubicBezTo>
                    <a:pt x="145" y="44"/>
                    <a:pt x="151" y="39"/>
                    <a:pt x="156" y="36"/>
                  </a:cubicBezTo>
                  <a:cubicBezTo>
                    <a:pt x="162" y="33"/>
                    <a:pt x="169" y="31"/>
                    <a:pt x="175" y="29"/>
                  </a:cubicBezTo>
                  <a:cubicBezTo>
                    <a:pt x="182" y="26"/>
                    <a:pt x="188" y="26"/>
                    <a:pt x="195" y="25"/>
                  </a:cubicBezTo>
                  <a:cubicBezTo>
                    <a:pt x="202" y="25"/>
                    <a:pt x="210" y="25"/>
                    <a:pt x="216" y="24"/>
                  </a:cubicBezTo>
                  <a:cubicBezTo>
                    <a:pt x="222" y="23"/>
                    <a:pt x="232" y="20"/>
                    <a:pt x="235" y="15"/>
                  </a:cubicBezTo>
                  <a:cubicBezTo>
                    <a:pt x="229" y="18"/>
                    <a:pt x="219" y="20"/>
                    <a:pt x="211" y="20"/>
                  </a:cubicBezTo>
                  <a:cubicBezTo>
                    <a:pt x="200" y="20"/>
                    <a:pt x="187" y="18"/>
                    <a:pt x="177" y="21"/>
                  </a:cubicBezTo>
                  <a:cubicBezTo>
                    <a:pt x="165" y="25"/>
                    <a:pt x="156" y="32"/>
                    <a:pt x="144" y="35"/>
                  </a:cubicBezTo>
                  <a:cubicBezTo>
                    <a:pt x="136" y="36"/>
                    <a:pt x="130" y="36"/>
                    <a:pt x="123" y="34"/>
                  </a:cubicBezTo>
                  <a:cubicBezTo>
                    <a:pt x="112" y="28"/>
                    <a:pt x="100" y="23"/>
                    <a:pt x="83" y="23"/>
                  </a:cubicBezTo>
                  <a:cubicBezTo>
                    <a:pt x="66" y="22"/>
                    <a:pt x="49" y="20"/>
                    <a:pt x="33" y="16"/>
                  </a:cubicBezTo>
                  <a:cubicBezTo>
                    <a:pt x="12" y="11"/>
                    <a:pt x="21" y="15"/>
                    <a:pt x="7" y="0"/>
                  </a:cubicBezTo>
                </a:path>
              </a:pathLst>
            </a:custGeom>
            <a:solidFill>
              <a:srgbClr val="AFCFE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2182" y="2291"/>
              <a:ext cx="900" cy="456"/>
            </a:xfrm>
            <a:custGeom>
              <a:rect b="b" l="l" r="r" t="t"/>
              <a:pathLst>
                <a:path extrusionOk="0" h="169" w="334">
                  <a:moveTo>
                    <a:pt x="0" y="14"/>
                  </a:moveTo>
                  <a:cubicBezTo>
                    <a:pt x="20" y="14"/>
                    <a:pt x="19" y="26"/>
                    <a:pt x="28" y="37"/>
                  </a:cubicBezTo>
                  <a:cubicBezTo>
                    <a:pt x="43" y="57"/>
                    <a:pt x="45" y="84"/>
                    <a:pt x="63" y="102"/>
                  </a:cubicBezTo>
                  <a:cubicBezTo>
                    <a:pt x="77" y="115"/>
                    <a:pt x="91" y="113"/>
                    <a:pt x="108" y="113"/>
                  </a:cubicBezTo>
                  <a:cubicBezTo>
                    <a:pt x="126" y="113"/>
                    <a:pt x="141" y="113"/>
                    <a:pt x="158" y="121"/>
                  </a:cubicBezTo>
                  <a:cubicBezTo>
                    <a:pt x="184" y="134"/>
                    <a:pt x="206" y="158"/>
                    <a:pt x="236" y="164"/>
                  </a:cubicBezTo>
                  <a:cubicBezTo>
                    <a:pt x="266" y="169"/>
                    <a:pt x="308" y="149"/>
                    <a:pt x="334" y="169"/>
                  </a:cubicBezTo>
                  <a:cubicBezTo>
                    <a:pt x="325" y="157"/>
                    <a:pt x="303" y="158"/>
                    <a:pt x="290" y="158"/>
                  </a:cubicBezTo>
                  <a:cubicBezTo>
                    <a:pt x="274" y="157"/>
                    <a:pt x="258" y="159"/>
                    <a:pt x="243" y="158"/>
                  </a:cubicBezTo>
                  <a:cubicBezTo>
                    <a:pt x="229" y="157"/>
                    <a:pt x="217" y="150"/>
                    <a:pt x="205" y="143"/>
                  </a:cubicBezTo>
                  <a:cubicBezTo>
                    <a:pt x="208" y="142"/>
                    <a:pt x="210" y="140"/>
                    <a:pt x="212" y="140"/>
                  </a:cubicBezTo>
                  <a:cubicBezTo>
                    <a:pt x="221" y="136"/>
                    <a:pt x="230" y="130"/>
                    <a:pt x="238" y="124"/>
                  </a:cubicBezTo>
                  <a:cubicBezTo>
                    <a:pt x="254" y="114"/>
                    <a:pt x="274" y="108"/>
                    <a:pt x="293" y="111"/>
                  </a:cubicBezTo>
                  <a:cubicBezTo>
                    <a:pt x="278" y="101"/>
                    <a:pt x="254" y="108"/>
                    <a:pt x="239" y="117"/>
                  </a:cubicBezTo>
                  <a:cubicBezTo>
                    <a:pt x="228" y="123"/>
                    <a:pt x="204" y="135"/>
                    <a:pt x="187" y="132"/>
                  </a:cubicBezTo>
                  <a:cubicBezTo>
                    <a:pt x="173" y="123"/>
                    <a:pt x="156" y="111"/>
                    <a:pt x="141" y="107"/>
                  </a:cubicBezTo>
                  <a:cubicBezTo>
                    <a:pt x="119" y="100"/>
                    <a:pt x="90" y="113"/>
                    <a:pt x="74" y="95"/>
                  </a:cubicBezTo>
                  <a:cubicBezTo>
                    <a:pt x="47" y="63"/>
                    <a:pt x="46" y="25"/>
                    <a:pt x="11" y="0"/>
                  </a:cubicBezTo>
                </a:path>
              </a:pathLst>
            </a:custGeom>
            <a:solidFill>
              <a:srgbClr val="AFCFE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1950" y="2518"/>
              <a:ext cx="1310" cy="900"/>
            </a:xfrm>
            <a:custGeom>
              <a:rect b="b" l="l" r="r" t="t"/>
              <a:pathLst>
                <a:path extrusionOk="0" h="334" w="486">
                  <a:moveTo>
                    <a:pt x="381" y="266"/>
                  </a:moveTo>
                  <a:cubicBezTo>
                    <a:pt x="359" y="251"/>
                    <a:pt x="324" y="258"/>
                    <a:pt x="310" y="233"/>
                  </a:cubicBezTo>
                  <a:cubicBezTo>
                    <a:pt x="310" y="231"/>
                    <a:pt x="309" y="229"/>
                    <a:pt x="308" y="227"/>
                  </a:cubicBezTo>
                  <a:cubicBezTo>
                    <a:pt x="332" y="238"/>
                    <a:pt x="356" y="246"/>
                    <a:pt x="383" y="249"/>
                  </a:cubicBezTo>
                  <a:cubicBezTo>
                    <a:pt x="415" y="252"/>
                    <a:pt x="461" y="248"/>
                    <a:pt x="486" y="271"/>
                  </a:cubicBezTo>
                  <a:cubicBezTo>
                    <a:pt x="474" y="260"/>
                    <a:pt x="459" y="253"/>
                    <a:pt x="444" y="248"/>
                  </a:cubicBezTo>
                  <a:cubicBezTo>
                    <a:pt x="425" y="241"/>
                    <a:pt x="404" y="246"/>
                    <a:pt x="385" y="243"/>
                  </a:cubicBezTo>
                  <a:cubicBezTo>
                    <a:pt x="334" y="235"/>
                    <a:pt x="307" y="207"/>
                    <a:pt x="257" y="187"/>
                  </a:cubicBezTo>
                  <a:cubicBezTo>
                    <a:pt x="232" y="177"/>
                    <a:pt x="199" y="174"/>
                    <a:pt x="178" y="157"/>
                  </a:cubicBezTo>
                  <a:cubicBezTo>
                    <a:pt x="177" y="157"/>
                    <a:pt x="177" y="156"/>
                    <a:pt x="176" y="156"/>
                  </a:cubicBezTo>
                  <a:cubicBezTo>
                    <a:pt x="194" y="159"/>
                    <a:pt x="219" y="145"/>
                    <a:pt x="235" y="140"/>
                  </a:cubicBezTo>
                  <a:cubicBezTo>
                    <a:pt x="251" y="135"/>
                    <a:pt x="264" y="138"/>
                    <a:pt x="280" y="142"/>
                  </a:cubicBezTo>
                  <a:cubicBezTo>
                    <a:pt x="295" y="145"/>
                    <a:pt x="307" y="146"/>
                    <a:pt x="323" y="145"/>
                  </a:cubicBezTo>
                  <a:cubicBezTo>
                    <a:pt x="337" y="145"/>
                    <a:pt x="352" y="141"/>
                    <a:pt x="361" y="129"/>
                  </a:cubicBezTo>
                  <a:cubicBezTo>
                    <a:pt x="371" y="116"/>
                    <a:pt x="374" y="109"/>
                    <a:pt x="391" y="104"/>
                  </a:cubicBezTo>
                  <a:cubicBezTo>
                    <a:pt x="370" y="106"/>
                    <a:pt x="365" y="121"/>
                    <a:pt x="349" y="132"/>
                  </a:cubicBezTo>
                  <a:cubicBezTo>
                    <a:pt x="321" y="150"/>
                    <a:pt x="304" y="137"/>
                    <a:pt x="276" y="130"/>
                  </a:cubicBezTo>
                  <a:cubicBezTo>
                    <a:pt x="263" y="127"/>
                    <a:pt x="251" y="125"/>
                    <a:pt x="238" y="129"/>
                  </a:cubicBezTo>
                  <a:cubicBezTo>
                    <a:pt x="225" y="133"/>
                    <a:pt x="212" y="144"/>
                    <a:pt x="198" y="146"/>
                  </a:cubicBezTo>
                  <a:cubicBezTo>
                    <a:pt x="175" y="148"/>
                    <a:pt x="163" y="137"/>
                    <a:pt x="147" y="123"/>
                  </a:cubicBezTo>
                  <a:cubicBezTo>
                    <a:pt x="139" y="111"/>
                    <a:pt x="131" y="98"/>
                    <a:pt x="121" y="86"/>
                  </a:cubicBezTo>
                  <a:cubicBezTo>
                    <a:pt x="102" y="61"/>
                    <a:pt x="80" y="60"/>
                    <a:pt x="53" y="49"/>
                  </a:cubicBezTo>
                  <a:cubicBezTo>
                    <a:pt x="39" y="43"/>
                    <a:pt x="27" y="32"/>
                    <a:pt x="19" y="19"/>
                  </a:cubicBezTo>
                  <a:cubicBezTo>
                    <a:pt x="12" y="9"/>
                    <a:pt x="9" y="4"/>
                    <a:pt x="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4" y="29"/>
                    <a:pt x="19" y="47"/>
                    <a:pt x="36" y="56"/>
                  </a:cubicBezTo>
                  <a:cubicBezTo>
                    <a:pt x="58" y="68"/>
                    <a:pt x="80" y="73"/>
                    <a:pt x="100" y="90"/>
                  </a:cubicBezTo>
                  <a:cubicBezTo>
                    <a:pt x="117" y="104"/>
                    <a:pt x="128" y="121"/>
                    <a:pt x="142" y="138"/>
                  </a:cubicBezTo>
                  <a:cubicBezTo>
                    <a:pt x="160" y="158"/>
                    <a:pt x="178" y="172"/>
                    <a:pt x="203" y="181"/>
                  </a:cubicBezTo>
                  <a:cubicBezTo>
                    <a:pt x="226" y="189"/>
                    <a:pt x="248" y="193"/>
                    <a:pt x="270" y="204"/>
                  </a:cubicBezTo>
                  <a:cubicBezTo>
                    <a:pt x="277" y="208"/>
                    <a:pt x="286" y="212"/>
                    <a:pt x="291" y="219"/>
                  </a:cubicBezTo>
                  <a:cubicBezTo>
                    <a:pt x="293" y="221"/>
                    <a:pt x="294" y="222"/>
                    <a:pt x="295" y="224"/>
                  </a:cubicBezTo>
                  <a:cubicBezTo>
                    <a:pt x="298" y="230"/>
                    <a:pt x="301" y="237"/>
                    <a:pt x="305" y="244"/>
                  </a:cubicBezTo>
                  <a:cubicBezTo>
                    <a:pt x="317" y="262"/>
                    <a:pt x="330" y="260"/>
                    <a:pt x="348" y="265"/>
                  </a:cubicBezTo>
                  <a:cubicBezTo>
                    <a:pt x="372" y="270"/>
                    <a:pt x="386" y="284"/>
                    <a:pt x="400" y="304"/>
                  </a:cubicBezTo>
                  <a:cubicBezTo>
                    <a:pt x="407" y="315"/>
                    <a:pt x="416" y="323"/>
                    <a:pt x="427" y="328"/>
                  </a:cubicBezTo>
                  <a:cubicBezTo>
                    <a:pt x="407" y="315"/>
                    <a:pt x="402" y="281"/>
                    <a:pt x="381" y="266"/>
                  </a:cubicBezTo>
                  <a:close/>
                  <a:moveTo>
                    <a:pt x="440" y="334"/>
                  </a:moveTo>
                  <a:cubicBezTo>
                    <a:pt x="436" y="332"/>
                    <a:pt x="431" y="331"/>
                    <a:pt x="427" y="328"/>
                  </a:cubicBezTo>
                  <a:cubicBezTo>
                    <a:pt x="431" y="331"/>
                    <a:pt x="435" y="333"/>
                    <a:pt x="440" y="334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2330" y="2100"/>
              <a:ext cx="717" cy="353"/>
            </a:xfrm>
            <a:custGeom>
              <a:rect b="b" l="l" r="r" t="t"/>
              <a:pathLst>
                <a:path extrusionOk="0" h="131" w="266">
                  <a:moveTo>
                    <a:pt x="0" y="6"/>
                  </a:moveTo>
                  <a:cubicBezTo>
                    <a:pt x="12" y="20"/>
                    <a:pt x="8" y="18"/>
                    <a:pt x="28" y="24"/>
                  </a:cubicBezTo>
                  <a:cubicBezTo>
                    <a:pt x="46" y="29"/>
                    <a:pt x="66" y="29"/>
                    <a:pt x="84" y="30"/>
                  </a:cubicBezTo>
                  <a:cubicBezTo>
                    <a:pt x="103" y="31"/>
                    <a:pt x="115" y="38"/>
                    <a:pt x="129" y="50"/>
                  </a:cubicBezTo>
                  <a:cubicBezTo>
                    <a:pt x="138" y="59"/>
                    <a:pt x="146" y="67"/>
                    <a:pt x="159" y="72"/>
                  </a:cubicBezTo>
                  <a:cubicBezTo>
                    <a:pt x="183" y="80"/>
                    <a:pt x="196" y="88"/>
                    <a:pt x="215" y="106"/>
                  </a:cubicBezTo>
                  <a:cubicBezTo>
                    <a:pt x="229" y="120"/>
                    <a:pt x="245" y="130"/>
                    <a:pt x="266" y="131"/>
                  </a:cubicBezTo>
                  <a:cubicBezTo>
                    <a:pt x="227" y="125"/>
                    <a:pt x="210" y="87"/>
                    <a:pt x="178" y="72"/>
                  </a:cubicBezTo>
                  <a:cubicBezTo>
                    <a:pt x="163" y="66"/>
                    <a:pt x="149" y="63"/>
                    <a:pt x="139" y="45"/>
                  </a:cubicBezTo>
                  <a:cubicBezTo>
                    <a:pt x="145" y="44"/>
                    <a:pt x="151" y="39"/>
                    <a:pt x="156" y="36"/>
                  </a:cubicBezTo>
                  <a:cubicBezTo>
                    <a:pt x="162" y="33"/>
                    <a:pt x="169" y="31"/>
                    <a:pt x="175" y="29"/>
                  </a:cubicBezTo>
                  <a:cubicBezTo>
                    <a:pt x="182" y="26"/>
                    <a:pt x="188" y="26"/>
                    <a:pt x="195" y="25"/>
                  </a:cubicBezTo>
                  <a:cubicBezTo>
                    <a:pt x="202" y="25"/>
                    <a:pt x="210" y="25"/>
                    <a:pt x="216" y="24"/>
                  </a:cubicBezTo>
                  <a:cubicBezTo>
                    <a:pt x="222" y="23"/>
                    <a:pt x="232" y="20"/>
                    <a:pt x="235" y="15"/>
                  </a:cubicBezTo>
                  <a:cubicBezTo>
                    <a:pt x="229" y="18"/>
                    <a:pt x="219" y="20"/>
                    <a:pt x="211" y="20"/>
                  </a:cubicBezTo>
                  <a:cubicBezTo>
                    <a:pt x="200" y="20"/>
                    <a:pt x="187" y="18"/>
                    <a:pt x="177" y="21"/>
                  </a:cubicBezTo>
                  <a:cubicBezTo>
                    <a:pt x="165" y="25"/>
                    <a:pt x="156" y="32"/>
                    <a:pt x="144" y="35"/>
                  </a:cubicBezTo>
                  <a:cubicBezTo>
                    <a:pt x="136" y="36"/>
                    <a:pt x="130" y="36"/>
                    <a:pt x="123" y="34"/>
                  </a:cubicBezTo>
                  <a:cubicBezTo>
                    <a:pt x="112" y="28"/>
                    <a:pt x="100" y="23"/>
                    <a:pt x="83" y="23"/>
                  </a:cubicBezTo>
                  <a:cubicBezTo>
                    <a:pt x="66" y="22"/>
                    <a:pt x="49" y="20"/>
                    <a:pt x="33" y="16"/>
                  </a:cubicBezTo>
                  <a:cubicBezTo>
                    <a:pt x="12" y="11"/>
                    <a:pt x="21" y="15"/>
                    <a:pt x="7" y="0"/>
                  </a:cubicBezTo>
                </a:path>
              </a:pathLst>
            </a:custGeom>
            <a:noFill/>
            <a:ln cap="flat" cmpd="sng" w="9525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2182" y="2291"/>
              <a:ext cx="900" cy="456"/>
            </a:xfrm>
            <a:custGeom>
              <a:rect b="b" l="l" r="r" t="t"/>
              <a:pathLst>
                <a:path extrusionOk="0" h="169" w="334">
                  <a:moveTo>
                    <a:pt x="0" y="14"/>
                  </a:moveTo>
                  <a:cubicBezTo>
                    <a:pt x="20" y="14"/>
                    <a:pt x="19" y="26"/>
                    <a:pt x="28" y="37"/>
                  </a:cubicBezTo>
                  <a:cubicBezTo>
                    <a:pt x="43" y="57"/>
                    <a:pt x="45" y="84"/>
                    <a:pt x="63" y="102"/>
                  </a:cubicBezTo>
                  <a:cubicBezTo>
                    <a:pt x="77" y="115"/>
                    <a:pt x="91" y="113"/>
                    <a:pt x="108" y="113"/>
                  </a:cubicBezTo>
                  <a:cubicBezTo>
                    <a:pt x="126" y="113"/>
                    <a:pt x="141" y="113"/>
                    <a:pt x="158" y="121"/>
                  </a:cubicBezTo>
                  <a:cubicBezTo>
                    <a:pt x="184" y="134"/>
                    <a:pt x="206" y="158"/>
                    <a:pt x="236" y="164"/>
                  </a:cubicBezTo>
                  <a:cubicBezTo>
                    <a:pt x="266" y="169"/>
                    <a:pt x="308" y="149"/>
                    <a:pt x="334" y="169"/>
                  </a:cubicBezTo>
                  <a:cubicBezTo>
                    <a:pt x="325" y="157"/>
                    <a:pt x="303" y="158"/>
                    <a:pt x="290" y="158"/>
                  </a:cubicBezTo>
                  <a:cubicBezTo>
                    <a:pt x="274" y="157"/>
                    <a:pt x="258" y="159"/>
                    <a:pt x="243" y="158"/>
                  </a:cubicBezTo>
                  <a:cubicBezTo>
                    <a:pt x="229" y="157"/>
                    <a:pt x="217" y="150"/>
                    <a:pt x="205" y="143"/>
                  </a:cubicBezTo>
                  <a:cubicBezTo>
                    <a:pt x="208" y="142"/>
                    <a:pt x="210" y="140"/>
                    <a:pt x="212" y="140"/>
                  </a:cubicBezTo>
                  <a:cubicBezTo>
                    <a:pt x="221" y="136"/>
                    <a:pt x="230" y="130"/>
                    <a:pt x="238" y="124"/>
                  </a:cubicBezTo>
                  <a:cubicBezTo>
                    <a:pt x="254" y="114"/>
                    <a:pt x="274" y="108"/>
                    <a:pt x="293" y="111"/>
                  </a:cubicBezTo>
                  <a:cubicBezTo>
                    <a:pt x="278" y="101"/>
                    <a:pt x="254" y="108"/>
                    <a:pt x="239" y="117"/>
                  </a:cubicBezTo>
                  <a:cubicBezTo>
                    <a:pt x="228" y="123"/>
                    <a:pt x="204" y="135"/>
                    <a:pt x="187" y="132"/>
                  </a:cubicBezTo>
                  <a:cubicBezTo>
                    <a:pt x="173" y="123"/>
                    <a:pt x="156" y="111"/>
                    <a:pt x="141" y="107"/>
                  </a:cubicBezTo>
                  <a:cubicBezTo>
                    <a:pt x="119" y="100"/>
                    <a:pt x="90" y="113"/>
                    <a:pt x="74" y="95"/>
                  </a:cubicBezTo>
                  <a:cubicBezTo>
                    <a:pt x="47" y="63"/>
                    <a:pt x="46" y="25"/>
                    <a:pt x="11" y="0"/>
                  </a:cubicBezTo>
                </a:path>
              </a:pathLst>
            </a:custGeom>
            <a:noFill/>
            <a:ln cap="flat" cmpd="sng" w="9525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880" y="1738"/>
              <a:ext cx="1350" cy="1839"/>
            </a:xfrm>
            <a:custGeom>
              <a:rect b="b" l="l" r="r" t="t"/>
              <a:pathLst>
                <a:path extrusionOk="0" h="682" w="501">
                  <a:moveTo>
                    <a:pt x="351" y="656"/>
                  </a:moveTo>
                  <a:cubicBezTo>
                    <a:pt x="360" y="654"/>
                    <a:pt x="371" y="651"/>
                    <a:pt x="380" y="648"/>
                  </a:cubicBezTo>
                  <a:cubicBezTo>
                    <a:pt x="397" y="643"/>
                    <a:pt x="409" y="631"/>
                    <a:pt x="420" y="619"/>
                  </a:cubicBezTo>
                  <a:cubicBezTo>
                    <a:pt x="427" y="612"/>
                    <a:pt x="432" y="604"/>
                    <a:pt x="439" y="598"/>
                  </a:cubicBezTo>
                  <a:cubicBezTo>
                    <a:pt x="446" y="593"/>
                    <a:pt x="454" y="590"/>
                    <a:pt x="461" y="586"/>
                  </a:cubicBezTo>
                  <a:cubicBezTo>
                    <a:pt x="471" y="580"/>
                    <a:pt x="475" y="573"/>
                    <a:pt x="483" y="566"/>
                  </a:cubicBezTo>
                  <a:cubicBezTo>
                    <a:pt x="472" y="575"/>
                    <a:pt x="457" y="579"/>
                    <a:pt x="444" y="587"/>
                  </a:cubicBezTo>
                  <a:cubicBezTo>
                    <a:pt x="432" y="594"/>
                    <a:pt x="421" y="605"/>
                    <a:pt x="410" y="614"/>
                  </a:cubicBezTo>
                  <a:cubicBezTo>
                    <a:pt x="404" y="619"/>
                    <a:pt x="397" y="624"/>
                    <a:pt x="390" y="630"/>
                  </a:cubicBezTo>
                  <a:cubicBezTo>
                    <a:pt x="383" y="636"/>
                    <a:pt x="377" y="638"/>
                    <a:pt x="369" y="642"/>
                  </a:cubicBezTo>
                  <a:cubicBezTo>
                    <a:pt x="356" y="649"/>
                    <a:pt x="349" y="651"/>
                    <a:pt x="335" y="651"/>
                  </a:cubicBezTo>
                  <a:cubicBezTo>
                    <a:pt x="334" y="651"/>
                    <a:pt x="333" y="650"/>
                    <a:pt x="333" y="650"/>
                  </a:cubicBezTo>
                  <a:cubicBezTo>
                    <a:pt x="315" y="642"/>
                    <a:pt x="297" y="630"/>
                    <a:pt x="278" y="624"/>
                  </a:cubicBezTo>
                  <a:cubicBezTo>
                    <a:pt x="275" y="623"/>
                    <a:pt x="271" y="622"/>
                    <a:pt x="267" y="620"/>
                  </a:cubicBezTo>
                  <a:cubicBezTo>
                    <a:pt x="261" y="618"/>
                    <a:pt x="261" y="618"/>
                    <a:pt x="261" y="618"/>
                  </a:cubicBezTo>
                  <a:cubicBezTo>
                    <a:pt x="247" y="613"/>
                    <a:pt x="236" y="607"/>
                    <a:pt x="224" y="595"/>
                  </a:cubicBezTo>
                  <a:cubicBezTo>
                    <a:pt x="219" y="590"/>
                    <a:pt x="213" y="586"/>
                    <a:pt x="208" y="582"/>
                  </a:cubicBezTo>
                  <a:cubicBezTo>
                    <a:pt x="218" y="581"/>
                    <a:pt x="229" y="580"/>
                    <a:pt x="240" y="582"/>
                  </a:cubicBezTo>
                  <a:cubicBezTo>
                    <a:pt x="252" y="585"/>
                    <a:pt x="262" y="595"/>
                    <a:pt x="275" y="597"/>
                  </a:cubicBezTo>
                  <a:cubicBezTo>
                    <a:pt x="281" y="598"/>
                    <a:pt x="289" y="594"/>
                    <a:pt x="296" y="594"/>
                  </a:cubicBezTo>
                  <a:cubicBezTo>
                    <a:pt x="304" y="593"/>
                    <a:pt x="310" y="595"/>
                    <a:pt x="318" y="599"/>
                  </a:cubicBezTo>
                  <a:cubicBezTo>
                    <a:pt x="318" y="600"/>
                    <a:pt x="318" y="600"/>
                    <a:pt x="319" y="600"/>
                  </a:cubicBezTo>
                  <a:cubicBezTo>
                    <a:pt x="322" y="602"/>
                    <a:pt x="322" y="602"/>
                    <a:pt x="322" y="602"/>
                  </a:cubicBezTo>
                  <a:cubicBezTo>
                    <a:pt x="335" y="608"/>
                    <a:pt x="343" y="604"/>
                    <a:pt x="359" y="601"/>
                  </a:cubicBezTo>
                  <a:cubicBezTo>
                    <a:pt x="347" y="603"/>
                    <a:pt x="338" y="603"/>
                    <a:pt x="328" y="599"/>
                  </a:cubicBezTo>
                  <a:cubicBezTo>
                    <a:pt x="323" y="597"/>
                    <a:pt x="323" y="597"/>
                    <a:pt x="323" y="597"/>
                  </a:cubicBezTo>
                  <a:cubicBezTo>
                    <a:pt x="320" y="596"/>
                    <a:pt x="316" y="594"/>
                    <a:pt x="313" y="592"/>
                  </a:cubicBezTo>
                  <a:cubicBezTo>
                    <a:pt x="306" y="588"/>
                    <a:pt x="300" y="586"/>
                    <a:pt x="291" y="587"/>
                  </a:cubicBezTo>
                  <a:cubicBezTo>
                    <a:pt x="284" y="587"/>
                    <a:pt x="277" y="591"/>
                    <a:pt x="270" y="590"/>
                  </a:cubicBezTo>
                  <a:cubicBezTo>
                    <a:pt x="258" y="588"/>
                    <a:pt x="247" y="577"/>
                    <a:pt x="235" y="575"/>
                  </a:cubicBezTo>
                  <a:cubicBezTo>
                    <a:pt x="222" y="572"/>
                    <a:pt x="210" y="574"/>
                    <a:pt x="198" y="575"/>
                  </a:cubicBezTo>
                  <a:cubicBezTo>
                    <a:pt x="197" y="574"/>
                    <a:pt x="195" y="573"/>
                    <a:pt x="194" y="572"/>
                  </a:cubicBezTo>
                  <a:cubicBezTo>
                    <a:pt x="192" y="570"/>
                    <a:pt x="192" y="570"/>
                    <a:pt x="192" y="570"/>
                  </a:cubicBezTo>
                  <a:cubicBezTo>
                    <a:pt x="192" y="570"/>
                    <a:pt x="192" y="570"/>
                    <a:pt x="192" y="570"/>
                  </a:cubicBezTo>
                  <a:cubicBezTo>
                    <a:pt x="187" y="567"/>
                    <a:pt x="182" y="563"/>
                    <a:pt x="178" y="560"/>
                  </a:cubicBezTo>
                  <a:cubicBezTo>
                    <a:pt x="159" y="543"/>
                    <a:pt x="140" y="526"/>
                    <a:pt x="123" y="508"/>
                  </a:cubicBezTo>
                  <a:cubicBezTo>
                    <a:pt x="137" y="511"/>
                    <a:pt x="151" y="510"/>
                    <a:pt x="166" y="510"/>
                  </a:cubicBezTo>
                  <a:cubicBezTo>
                    <a:pt x="171" y="510"/>
                    <a:pt x="175" y="510"/>
                    <a:pt x="180" y="511"/>
                  </a:cubicBezTo>
                  <a:cubicBezTo>
                    <a:pt x="184" y="512"/>
                    <a:pt x="188" y="515"/>
                    <a:pt x="192" y="515"/>
                  </a:cubicBezTo>
                  <a:cubicBezTo>
                    <a:pt x="195" y="515"/>
                    <a:pt x="197" y="514"/>
                    <a:pt x="200" y="513"/>
                  </a:cubicBezTo>
                  <a:cubicBezTo>
                    <a:pt x="211" y="514"/>
                    <a:pt x="220" y="517"/>
                    <a:pt x="228" y="526"/>
                  </a:cubicBezTo>
                  <a:cubicBezTo>
                    <a:pt x="232" y="531"/>
                    <a:pt x="234" y="534"/>
                    <a:pt x="239" y="535"/>
                  </a:cubicBezTo>
                  <a:cubicBezTo>
                    <a:pt x="246" y="537"/>
                    <a:pt x="252" y="536"/>
                    <a:pt x="259" y="536"/>
                  </a:cubicBezTo>
                  <a:cubicBezTo>
                    <a:pt x="272" y="535"/>
                    <a:pt x="282" y="542"/>
                    <a:pt x="290" y="551"/>
                  </a:cubicBezTo>
                  <a:cubicBezTo>
                    <a:pt x="295" y="557"/>
                    <a:pt x="300" y="560"/>
                    <a:pt x="306" y="563"/>
                  </a:cubicBezTo>
                  <a:cubicBezTo>
                    <a:pt x="300" y="559"/>
                    <a:pt x="295" y="550"/>
                    <a:pt x="291" y="545"/>
                  </a:cubicBezTo>
                  <a:cubicBezTo>
                    <a:pt x="285" y="538"/>
                    <a:pt x="278" y="533"/>
                    <a:pt x="269" y="531"/>
                  </a:cubicBezTo>
                  <a:cubicBezTo>
                    <a:pt x="261" y="529"/>
                    <a:pt x="252" y="532"/>
                    <a:pt x="244" y="530"/>
                  </a:cubicBezTo>
                  <a:cubicBezTo>
                    <a:pt x="235" y="528"/>
                    <a:pt x="233" y="520"/>
                    <a:pt x="227" y="515"/>
                  </a:cubicBezTo>
                  <a:cubicBezTo>
                    <a:pt x="224" y="512"/>
                    <a:pt x="219" y="508"/>
                    <a:pt x="214" y="507"/>
                  </a:cubicBezTo>
                  <a:cubicBezTo>
                    <a:pt x="218" y="505"/>
                    <a:pt x="223" y="504"/>
                    <a:pt x="228" y="504"/>
                  </a:cubicBezTo>
                  <a:cubicBezTo>
                    <a:pt x="241" y="502"/>
                    <a:pt x="253" y="509"/>
                    <a:pt x="266" y="513"/>
                  </a:cubicBezTo>
                  <a:cubicBezTo>
                    <a:pt x="282" y="519"/>
                    <a:pt x="297" y="523"/>
                    <a:pt x="314" y="523"/>
                  </a:cubicBezTo>
                  <a:cubicBezTo>
                    <a:pt x="321" y="523"/>
                    <a:pt x="328" y="523"/>
                    <a:pt x="335" y="525"/>
                  </a:cubicBezTo>
                  <a:cubicBezTo>
                    <a:pt x="342" y="527"/>
                    <a:pt x="346" y="531"/>
                    <a:pt x="353" y="534"/>
                  </a:cubicBezTo>
                  <a:cubicBezTo>
                    <a:pt x="364" y="540"/>
                    <a:pt x="379" y="527"/>
                    <a:pt x="388" y="532"/>
                  </a:cubicBezTo>
                  <a:cubicBezTo>
                    <a:pt x="379" y="527"/>
                    <a:pt x="364" y="532"/>
                    <a:pt x="353" y="527"/>
                  </a:cubicBezTo>
                  <a:cubicBezTo>
                    <a:pt x="346" y="524"/>
                    <a:pt x="342" y="520"/>
                    <a:pt x="335" y="518"/>
                  </a:cubicBezTo>
                  <a:cubicBezTo>
                    <a:pt x="328" y="516"/>
                    <a:pt x="321" y="515"/>
                    <a:pt x="314" y="515"/>
                  </a:cubicBezTo>
                  <a:cubicBezTo>
                    <a:pt x="297" y="515"/>
                    <a:pt x="282" y="511"/>
                    <a:pt x="266" y="506"/>
                  </a:cubicBezTo>
                  <a:cubicBezTo>
                    <a:pt x="253" y="501"/>
                    <a:pt x="241" y="495"/>
                    <a:pt x="228" y="497"/>
                  </a:cubicBezTo>
                  <a:cubicBezTo>
                    <a:pt x="220" y="497"/>
                    <a:pt x="213" y="499"/>
                    <a:pt x="207" y="502"/>
                  </a:cubicBezTo>
                  <a:cubicBezTo>
                    <a:pt x="202" y="504"/>
                    <a:pt x="197" y="508"/>
                    <a:pt x="192" y="508"/>
                  </a:cubicBezTo>
                  <a:cubicBezTo>
                    <a:pt x="188" y="507"/>
                    <a:pt x="184" y="504"/>
                    <a:pt x="180" y="504"/>
                  </a:cubicBezTo>
                  <a:cubicBezTo>
                    <a:pt x="175" y="503"/>
                    <a:pt x="171" y="503"/>
                    <a:pt x="166" y="503"/>
                  </a:cubicBezTo>
                  <a:cubicBezTo>
                    <a:pt x="148" y="503"/>
                    <a:pt x="131" y="504"/>
                    <a:pt x="113" y="499"/>
                  </a:cubicBezTo>
                  <a:cubicBezTo>
                    <a:pt x="107" y="492"/>
                    <a:pt x="101" y="485"/>
                    <a:pt x="95" y="478"/>
                  </a:cubicBezTo>
                  <a:cubicBezTo>
                    <a:pt x="82" y="462"/>
                    <a:pt x="72" y="445"/>
                    <a:pt x="61" y="428"/>
                  </a:cubicBezTo>
                  <a:cubicBezTo>
                    <a:pt x="53" y="417"/>
                    <a:pt x="38" y="406"/>
                    <a:pt x="32" y="393"/>
                  </a:cubicBezTo>
                  <a:cubicBezTo>
                    <a:pt x="37" y="369"/>
                    <a:pt x="46" y="339"/>
                    <a:pt x="60" y="317"/>
                  </a:cubicBezTo>
                  <a:cubicBezTo>
                    <a:pt x="65" y="309"/>
                    <a:pt x="71" y="302"/>
                    <a:pt x="77" y="295"/>
                  </a:cubicBezTo>
                  <a:cubicBezTo>
                    <a:pt x="77" y="309"/>
                    <a:pt x="88" y="323"/>
                    <a:pt x="98" y="330"/>
                  </a:cubicBezTo>
                  <a:cubicBezTo>
                    <a:pt x="113" y="341"/>
                    <a:pt x="130" y="348"/>
                    <a:pt x="144" y="360"/>
                  </a:cubicBezTo>
                  <a:cubicBezTo>
                    <a:pt x="159" y="372"/>
                    <a:pt x="167" y="390"/>
                    <a:pt x="187" y="395"/>
                  </a:cubicBezTo>
                  <a:cubicBezTo>
                    <a:pt x="207" y="401"/>
                    <a:pt x="230" y="395"/>
                    <a:pt x="250" y="401"/>
                  </a:cubicBezTo>
                  <a:cubicBezTo>
                    <a:pt x="284" y="410"/>
                    <a:pt x="305" y="444"/>
                    <a:pt x="341" y="450"/>
                  </a:cubicBezTo>
                  <a:cubicBezTo>
                    <a:pt x="358" y="454"/>
                    <a:pt x="374" y="454"/>
                    <a:pt x="391" y="449"/>
                  </a:cubicBezTo>
                  <a:cubicBezTo>
                    <a:pt x="403" y="446"/>
                    <a:pt x="421" y="433"/>
                    <a:pt x="433" y="439"/>
                  </a:cubicBezTo>
                  <a:cubicBezTo>
                    <a:pt x="421" y="433"/>
                    <a:pt x="410" y="436"/>
                    <a:pt x="398" y="440"/>
                  </a:cubicBezTo>
                  <a:cubicBezTo>
                    <a:pt x="381" y="444"/>
                    <a:pt x="365" y="444"/>
                    <a:pt x="348" y="441"/>
                  </a:cubicBezTo>
                  <a:cubicBezTo>
                    <a:pt x="313" y="434"/>
                    <a:pt x="291" y="401"/>
                    <a:pt x="257" y="392"/>
                  </a:cubicBezTo>
                  <a:cubicBezTo>
                    <a:pt x="237" y="386"/>
                    <a:pt x="214" y="391"/>
                    <a:pt x="194" y="386"/>
                  </a:cubicBezTo>
                  <a:cubicBezTo>
                    <a:pt x="175" y="381"/>
                    <a:pt x="166" y="362"/>
                    <a:pt x="152" y="350"/>
                  </a:cubicBezTo>
                  <a:cubicBezTo>
                    <a:pt x="137" y="338"/>
                    <a:pt x="121" y="331"/>
                    <a:pt x="105" y="321"/>
                  </a:cubicBezTo>
                  <a:cubicBezTo>
                    <a:pt x="96" y="314"/>
                    <a:pt x="85" y="300"/>
                    <a:pt x="84" y="287"/>
                  </a:cubicBezTo>
                  <a:cubicBezTo>
                    <a:pt x="121" y="250"/>
                    <a:pt x="175" y="221"/>
                    <a:pt x="205" y="190"/>
                  </a:cubicBezTo>
                  <a:cubicBezTo>
                    <a:pt x="209" y="196"/>
                    <a:pt x="215" y="199"/>
                    <a:pt x="221" y="202"/>
                  </a:cubicBezTo>
                  <a:cubicBezTo>
                    <a:pt x="229" y="208"/>
                    <a:pt x="240" y="221"/>
                    <a:pt x="247" y="224"/>
                  </a:cubicBezTo>
                  <a:cubicBezTo>
                    <a:pt x="257" y="229"/>
                    <a:pt x="266" y="229"/>
                    <a:pt x="277" y="226"/>
                  </a:cubicBezTo>
                  <a:cubicBezTo>
                    <a:pt x="282" y="225"/>
                    <a:pt x="287" y="224"/>
                    <a:pt x="292" y="224"/>
                  </a:cubicBezTo>
                  <a:cubicBezTo>
                    <a:pt x="297" y="224"/>
                    <a:pt x="300" y="227"/>
                    <a:pt x="304" y="228"/>
                  </a:cubicBezTo>
                  <a:cubicBezTo>
                    <a:pt x="310" y="229"/>
                    <a:pt x="316" y="227"/>
                    <a:pt x="322" y="228"/>
                  </a:cubicBezTo>
                  <a:cubicBezTo>
                    <a:pt x="329" y="229"/>
                    <a:pt x="337" y="232"/>
                    <a:pt x="344" y="234"/>
                  </a:cubicBezTo>
                  <a:cubicBezTo>
                    <a:pt x="337" y="232"/>
                    <a:pt x="332" y="225"/>
                    <a:pt x="325" y="224"/>
                  </a:cubicBezTo>
                  <a:cubicBezTo>
                    <a:pt x="319" y="223"/>
                    <a:pt x="313" y="225"/>
                    <a:pt x="307" y="224"/>
                  </a:cubicBezTo>
                  <a:cubicBezTo>
                    <a:pt x="303" y="223"/>
                    <a:pt x="300" y="220"/>
                    <a:pt x="295" y="220"/>
                  </a:cubicBezTo>
                  <a:cubicBezTo>
                    <a:pt x="290" y="220"/>
                    <a:pt x="285" y="221"/>
                    <a:pt x="280" y="223"/>
                  </a:cubicBezTo>
                  <a:cubicBezTo>
                    <a:pt x="269" y="225"/>
                    <a:pt x="260" y="225"/>
                    <a:pt x="250" y="221"/>
                  </a:cubicBezTo>
                  <a:cubicBezTo>
                    <a:pt x="243" y="217"/>
                    <a:pt x="240" y="211"/>
                    <a:pt x="235" y="206"/>
                  </a:cubicBezTo>
                  <a:cubicBezTo>
                    <a:pt x="240" y="207"/>
                    <a:pt x="244" y="208"/>
                    <a:pt x="249" y="211"/>
                  </a:cubicBezTo>
                  <a:cubicBezTo>
                    <a:pt x="257" y="215"/>
                    <a:pt x="261" y="215"/>
                    <a:pt x="270" y="213"/>
                  </a:cubicBezTo>
                  <a:cubicBezTo>
                    <a:pt x="291" y="208"/>
                    <a:pt x="306" y="203"/>
                    <a:pt x="327" y="211"/>
                  </a:cubicBezTo>
                  <a:cubicBezTo>
                    <a:pt x="342" y="216"/>
                    <a:pt x="357" y="205"/>
                    <a:pt x="370" y="206"/>
                  </a:cubicBezTo>
                  <a:cubicBezTo>
                    <a:pt x="357" y="205"/>
                    <a:pt x="343" y="211"/>
                    <a:pt x="328" y="205"/>
                  </a:cubicBezTo>
                  <a:cubicBezTo>
                    <a:pt x="306" y="197"/>
                    <a:pt x="292" y="203"/>
                    <a:pt x="271" y="208"/>
                  </a:cubicBezTo>
                  <a:cubicBezTo>
                    <a:pt x="262" y="210"/>
                    <a:pt x="258" y="210"/>
                    <a:pt x="250" y="206"/>
                  </a:cubicBezTo>
                  <a:cubicBezTo>
                    <a:pt x="244" y="203"/>
                    <a:pt x="239" y="201"/>
                    <a:pt x="232" y="200"/>
                  </a:cubicBezTo>
                  <a:cubicBezTo>
                    <a:pt x="223" y="198"/>
                    <a:pt x="214" y="194"/>
                    <a:pt x="208" y="187"/>
                  </a:cubicBezTo>
                  <a:cubicBezTo>
                    <a:pt x="217" y="178"/>
                    <a:pt x="223" y="168"/>
                    <a:pt x="227" y="158"/>
                  </a:cubicBezTo>
                  <a:cubicBezTo>
                    <a:pt x="244" y="105"/>
                    <a:pt x="242" y="86"/>
                    <a:pt x="241" y="71"/>
                  </a:cubicBezTo>
                  <a:cubicBezTo>
                    <a:pt x="239" y="50"/>
                    <a:pt x="246" y="25"/>
                    <a:pt x="256" y="10"/>
                  </a:cubicBezTo>
                  <a:cubicBezTo>
                    <a:pt x="226" y="0"/>
                    <a:pt x="226" y="0"/>
                    <a:pt x="226" y="0"/>
                  </a:cubicBezTo>
                  <a:cubicBezTo>
                    <a:pt x="226" y="0"/>
                    <a:pt x="229" y="7"/>
                    <a:pt x="226" y="15"/>
                  </a:cubicBezTo>
                  <a:cubicBezTo>
                    <a:pt x="222" y="27"/>
                    <a:pt x="216" y="50"/>
                    <a:pt x="219" y="77"/>
                  </a:cubicBezTo>
                  <a:cubicBezTo>
                    <a:pt x="220" y="97"/>
                    <a:pt x="207" y="162"/>
                    <a:pt x="161" y="195"/>
                  </a:cubicBezTo>
                  <a:cubicBezTo>
                    <a:pt x="114" y="227"/>
                    <a:pt x="0" y="279"/>
                    <a:pt x="2" y="397"/>
                  </a:cubicBezTo>
                  <a:cubicBezTo>
                    <a:pt x="3" y="432"/>
                    <a:pt x="23" y="436"/>
                    <a:pt x="30" y="433"/>
                  </a:cubicBezTo>
                  <a:cubicBezTo>
                    <a:pt x="26" y="425"/>
                    <a:pt x="26" y="425"/>
                    <a:pt x="26" y="425"/>
                  </a:cubicBezTo>
                  <a:cubicBezTo>
                    <a:pt x="26" y="425"/>
                    <a:pt x="27" y="421"/>
                    <a:pt x="28" y="415"/>
                  </a:cubicBezTo>
                  <a:cubicBezTo>
                    <a:pt x="34" y="424"/>
                    <a:pt x="43" y="432"/>
                    <a:pt x="47" y="439"/>
                  </a:cubicBezTo>
                  <a:cubicBezTo>
                    <a:pt x="58" y="455"/>
                    <a:pt x="66" y="471"/>
                    <a:pt x="77" y="486"/>
                  </a:cubicBezTo>
                  <a:cubicBezTo>
                    <a:pt x="87" y="502"/>
                    <a:pt x="107" y="515"/>
                    <a:pt x="121" y="528"/>
                  </a:cubicBezTo>
                  <a:cubicBezTo>
                    <a:pt x="124" y="531"/>
                    <a:pt x="127" y="534"/>
                    <a:pt x="130" y="537"/>
                  </a:cubicBezTo>
                  <a:cubicBezTo>
                    <a:pt x="135" y="551"/>
                    <a:pt x="135" y="567"/>
                    <a:pt x="139" y="580"/>
                  </a:cubicBezTo>
                  <a:cubicBezTo>
                    <a:pt x="143" y="589"/>
                    <a:pt x="152" y="601"/>
                    <a:pt x="163" y="601"/>
                  </a:cubicBezTo>
                  <a:cubicBezTo>
                    <a:pt x="166" y="601"/>
                    <a:pt x="169" y="600"/>
                    <a:pt x="172" y="598"/>
                  </a:cubicBezTo>
                  <a:cubicBezTo>
                    <a:pt x="162" y="592"/>
                    <a:pt x="162" y="592"/>
                    <a:pt x="162" y="592"/>
                  </a:cubicBezTo>
                  <a:cubicBezTo>
                    <a:pt x="161" y="592"/>
                    <a:pt x="159" y="592"/>
                    <a:pt x="158" y="591"/>
                  </a:cubicBezTo>
                  <a:cubicBezTo>
                    <a:pt x="139" y="586"/>
                    <a:pt x="142" y="559"/>
                    <a:pt x="137" y="543"/>
                  </a:cubicBezTo>
                  <a:cubicBezTo>
                    <a:pt x="147" y="552"/>
                    <a:pt x="158" y="560"/>
                    <a:pt x="169" y="569"/>
                  </a:cubicBezTo>
                  <a:cubicBezTo>
                    <a:pt x="174" y="573"/>
                    <a:pt x="178" y="577"/>
                    <a:pt x="183" y="581"/>
                  </a:cubicBezTo>
                  <a:cubicBezTo>
                    <a:pt x="184" y="582"/>
                    <a:pt x="184" y="582"/>
                    <a:pt x="184" y="582"/>
                  </a:cubicBezTo>
                  <a:cubicBezTo>
                    <a:pt x="188" y="586"/>
                    <a:pt x="192" y="590"/>
                    <a:pt x="196" y="593"/>
                  </a:cubicBezTo>
                  <a:cubicBezTo>
                    <a:pt x="198" y="596"/>
                    <a:pt x="201" y="599"/>
                    <a:pt x="203" y="602"/>
                  </a:cubicBezTo>
                  <a:cubicBezTo>
                    <a:pt x="205" y="606"/>
                    <a:pt x="205" y="610"/>
                    <a:pt x="206" y="614"/>
                  </a:cubicBezTo>
                  <a:cubicBezTo>
                    <a:pt x="208" y="622"/>
                    <a:pt x="211" y="629"/>
                    <a:pt x="218" y="634"/>
                  </a:cubicBezTo>
                  <a:cubicBezTo>
                    <a:pt x="227" y="641"/>
                    <a:pt x="239" y="639"/>
                    <a:pt x="248" y="634"/>
                  </a:cubicBezTo>
                  <a:cubicBezTo>
                    <a:pt x="241" y="631"/>
                    <a:pt x="241" y="631"/>
                    <a:pt x="241" y="631"/>
                  </a:cubicBezTo>
                  <a:cubicBezTo>
                    <a:pt x="237" y="633"/>
                    <a:pt x="233" y="633"/>
                    <a:pt x="228" y="628"/>
                  </a:cubicBezTo>
                  <a:cubicBezTo>
                    <a:pt x="223" y="624"/>
                    <a:pt x="219" y="616"/>
                    <a:pt x="217" y="610"/>
                  </a:cubicBezTo>
                  <a:cubicBezTo>
                    <a:pt x="219" y="611"/>
                    <a:pt x="221" y="612"/>
                    <a:pt x="223" y="613"/>
                  </a:cubicBezTo>
                  <a:cubicBezTo>
                    <a:pt x="231" y="619"/>
                    <a:pt x="240" y="623"/>
                    <a:pt x="249" y="626"/>
                  </a:cubicBezTo>
                  <a:cubicBezTo>
                    <a:pt x="256" y="629"/>
                    <a:pt x="256" y="629"/>
                    <a:pt x="256" y="629"/>
                  </a:cubicBezTo>
                  <a:cubicBezTo>
                    <a:pt x="263" y="631"/>
                    <a:pt x="270" y="633"/>
                    <a:pt x="278" y="635"/>
                  </a:cubicBezTo>
                  <a:cubicBezTo>
                    <a:pt x="296" y="641"/>
                    <a:pt x="312" y="647"/>
                    <a:pt x="329" y="657"/>
                  </a:cubicBezTo>
                  <a:cubicBezTo>
                    <a:pt x="347" y="666"/>
                    <a:pt x="364" y="668"/>
                    <a:pt x="385" y="667"/>
                  </a:cubicBezTo>
                  <a:cubicBezTo>
                    <a:pt x="407" y="666"/>
                    <a:pt x="423" y="665"/>
                    <a:pt x="443" y="674"/>
                  </a:cubicBezTo>
                  <a:cubicBezTo>
                    <a:pt x="459" y="681"/>
                    <a:pt x="473" y="681"/>
                    <a:pt x="490" y="681"/>
                  </a:cubicBezTo>
                  <a:cubicBezTo>
                    <a:pt x="460" y="677"/>
                    <a:pt x="433" y="660"/>
                    <a:pt x="402" y="658"/>
                  </a:cubicBezTo>
                  <a:cubicBezTo>
                    <a:pt x="384" y="658"/>
                    <a:pt x="367" y="659"/>
                    <a:pt x="351" y="656"/>
                  </a:cubicBezTo>
                  <a:close/>
                  <a:moveTo>
                    <a:pt x="490" y="681"/>
                  </a:moveTo>
                  <a:cubicBezTo>
                    <a:pt x="493" y="682"/>
                    <a:pt x="497" y="682"/>
                    <a:pt x="501" y="682"/>
                  </a:cubicBezTo>
                  <a:cubicBezTo>
                    <a:pt x="497" y="682"/>
                    <a:pt x="493" y="682"/>
                    <a:pt x="490" y="681"/>
                  </a:cubicBezTo>
                  <a:close/>
                  <a:moveTo>
                    <a:pt x="306" y="563"/>
                  </a:moveTo>
                  <a:cubicBezTo>
                    <a:pt x="309" y="565"/>
                    <a:pt x="311" y="566"/>
                    <a:pt x="314" y="566"/>
                  </a:cubicBezTo>
                  <a:cubicBezTo>
                    <a:pt x="311" y="565"/>
                    <a:pt x="309" y="564"/>
                    <a:pt x="306" y="563"/>
                  </a:cubicBezTo>
                  <a:close/>
                </a:path>
              </a:pathLst>
            </a:custGeom>
            <a:solidFill>
              <a:srgbClr val="E6785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880" y="1738"/>
              <a:ext cx="1350" cy="1839"/>
            </a:xfrm>
            <a:custGeom>
              <a:rect b="b" l="l" r="r" t="t"/>
              <a:pathLst>
                <a:path extrusionOk="0" h="682" w="501">
                  <a:moveTo>
                    <a:pt x="226" y="0"/>
                  </a:moveTo>
                  <a:cubicBezTo>
                    <a:pt x="226" y="0"/>
                    <a:pt x="229" y="7"/>
                    <a:pt x="226" y="15"/>
                  </a:cubicBezTo>
                  <a:cubicBezTo>
                    <a:pt x="222" y="27"/>
                    <a:pt x="216" y="50"/>
                    <a:pt x="219" y="77"/>
                  </a:cubicBezTo>
                  <a:cubicBezTo>
                    <a:pt x="220" y="97"/>
                    <a:pt x="207" y="162"/>
                    <a:pt x="161" y="195"/>
                  </a:cubicBezTo>
                  <a:cubicBezTo>
                    <a:pt x="114" y="227"/>
                    <a:pt x="0" y="279"/>
                    <a:pt x="2" y="397"/>
                  </a:cubicBezTo>
                  <a:cubicBezTo>
                    <a:pt x="3" y="432"/>
                    <a:pt x="23" y="436"/>
                    <a:pt x="30" y="433"/>
                  </a:cubicBezTo>
                  <a:cubicBezTo>
                    <a:pt x="26" y="425"/>
                    <a:pt x="26" y="425"/>
                    <a:pt x="26" y="425"/>
                  </a:cubicBezTo>
                  <a:cubicBezTo>
                    <a:pt x="26" y="425"/>
                    <a:pt x="27" y="421"/>
                    <a:pt x="28" y="415"/>
                  </a:cubicBezTo>
                  <a:cubicBezTo>
                    <a:pt x="34" y="424"/>
                    <a:pt x="43" y="432"/>
                    <a:pt x="47" y="439"/>
                  </a:cubicBezTo>
                  <a:cubicBezTo>
                    <a:pt x="58" y="455"/>
                    <a:pt x="66" y="471"/>
                    <a:pt x="77" y="486"/>
                  </a:cubicBezTo>
                  <a:cubicBezTo>
                    <a:pt x="87" y="502"/>
                    <a:pt x="107" y="515"/>
                    <a:pt x="121" y="528"/>
                  </a:cubicBezTo>
                  <a:cubicBezTo>
                    <a:pt x="124" y="531"/>
                    <a:pt x="127" y="534"/>
                    <a:pt x="130" y="537"/>
                  </a:cubicBezTo>
                  <a:cubicBezTo>
                    <a:pt x="135" y="551"/>
                    <a:pt x="135" y="567"/>
                    <a:pt x="139" y="580"/>
                  </a:cubicBezTo>
                  <a:cubicBezTo>
                    <a:pt x="143" y="589"/>
                    <a:pt x="152" y="601"/>
                    <a:pt x="163" y="601"/>
                  </a:cubicBezTo>
                  <a:cubicBezTo>
                    <a:pt x="166" y="601"/>
                    <a:pt x="169" y="600"/>
                    <a:pt x="172" y="598"/>
                  </a:cubicBezTo>
                  <a:cubicBezTo>
                    <a:pt x="162" y="592"/>
                    <a:pt x="162" y="592"/>
                    <a:pt x="162" y="592"/>
                  </a:cubicBezTo>
                  <a:cubicBezTo>
                    <a:pt x="161" y="592"/>
                    <a:pt x="159" y="592"/>
                    <a:pt x="158" y="591"/>
                  </a:cubicBezTo>
                  <a:cubicBezTo>
                    <a:pt x="139" y="586"/>
                    <a:pt x="142" y="559"/>
                    <a:pt x="137" y="543"/>
                  </a:cubicBezTo>
                  <a:cubicBezTo>
                    <a:pt x="147" y="552"/>
                    <a:pt x="158" y="560"/>
                    <a:pt x="169" y="569"/>
                  </a:cubicBezTo>
                  <a:cubicBezTo>
                    <a:pt x="174" y="573"/>
                    <a:pt x="178" y="577"/>
                    <a:pt x="183" y="581"/>
                  </a:cubicBezTo>
                  <a:cubicBezTo>
                    <a:pt x="184" y="582"/>
                    <a:pt x="184" y="582"/>
                    <a:pt x="184" y="582"/>
                  </a:cubicBezTo>
                  <a:cubicBezTo>
                    <a:pt x="188" y="586"/>
                    <a:pt x="192" y="590"/>
                    <a:pt x="196" y="593"/>
                  </a:cubicBezTo>
                  <a:cubicBezTo>
                    <a:pt x="198" y="596"/>
                    <a:pt x="201" y="599"/>
                    <a:pt x="203" y="602"/>
                  </a:cubicBezTo>
                  <a:cubicBezTo>
                    <a:pt x="205" y="606"/>
                    <a:pt x="205" y="610"/>
                    <a:pt x="206" y="614"/>
                  </a:cubicBezTo>
                  <a:cubicBezTo>
                    <a:pt x="208" y="622"/>
                    <a:pt x="211" y="629"/>
                    <a:pt x="218" y="634"/>
                  </a:cubicBezTo>
                  <a:cubicBezTo>
                    <a:pt x="227" y="641"/>
                    <a:pt x="239" y="639"/>
                    <a:pt x="248" y="634"/>
                  </a:cubicBezTo>
                  <a:cubicBezTo>
                    <a:pt x="241" y="631"/>
                    <a:pt x="241" y="631"/>
                    <a:pt x="241" y="631"/>
                  </a:cubicBezTo>
                  <a:cubicBezTo>
                    <a:pt x="237" y="633"/>
                    <a:pt x="233" y="633"/>
                    <a:pt x="228" y="628"/>
                  </a:cubicBezTo>
                  <a:cubicBezTo>
                    <a:pt x="223" y="624"/>
                    <a:pt x="219" y="616"/>
                    <a:pt x="217" y="610"/>
                  </a:cubicBezTo>
                  <a:cubicBezTo>
                    <a:pt x="219" y="611"/>
                    <a:pt x="221" y="612"/>
                    <a:pt x="223" y="613"/>
                  </a:cubicBezTo>
                  <a:cubicBezTo>
                    <a:pt x="231" y="619"/>
                    <a:pt x="240" y="623"/>
                    <a:pt x="249" y="626"/>
                  </a:cubicBezTo>
                  <a:cubicBezTo>
                    <a:pt x="256" y="629"/>
                    <a:pt x="256" y="629"/>
                    <a:pt x="256" y="629"/>
                  </a:cubicBezTo>
                  <a:cubicBezTo>
                    <a:pt x="263" y="631"/>
                    <a:pt x="270" y="633"/>
                    <a:pt x="278" y="635"/>
                  </a:cubicBezTo>
                  <a:cubicBezTo>
                    <a:pt x="296" y="641"/>
                    <a:pt x="312" y="647"/>
                    <a:pt x="329" y="657"/>
                  </a:cubicBezTo>
                  <a:cubicBezTo>
                    <a:pt x="347" y="666"/>
                    <a:pt x="364" y="668"/>
                    <a:pt x="385" y="667"/>
                  </a:cubicBezTo>
                  <a:cubicBezTo>
                    <a:pt x="407" y="666"/>
                    <a:pt x="423" y="665"/>
                    <a:pt x="443" y="674"/>
                  </a:cubicBezTo>
                  <a:cubicBezTo>
                    <a:pt x="459" y="681"/>
                    <a:pt x="473" y="681"/>
                    <a:pt x="490" y="681"/>
                  </a:cubicBezTo>
                  <a:cubicBezTo>
                    <a:pt x="460" y="677"/>
                    <a:pt x="433" y="660"/>
                    <a:pt x="402" y="658"/>
                  </a:cubicBezTo>
                  <a:cubicBezTo>
                    <a:pt x="384" y="658"/>
                    <a:pt x="367" y="659"/>
                    <a:pt x="351" y="656"/>
                  </a:cubicBezTo>
                  <a:cubicBezTo>
                    <a:pt x="360" y="654"/>
                    <a:pt x="371" y="651"/>
                    <a:pt x="380" y="648"/>
                  </a:cubicBezTo>
                  <a:cubicBezTo>
                    <a:pt x="397" y="643"/>
                    <a:pt x="409" y="631"/>
                    <a:pt x="420" y="619"/>
                  </a:cubicBezTo>
                  <a:cubicBezTo>
                    <a:pt x="427" y="612"/>
                    <a:pt x="432" y="604"/>
                    <a:pt x="439" y="598"/>
                  </a:cubicBezTo>
                  <a:cubicBezTo>
                    <a:pt x="446" y="593"/>
                    <a:pt x="454" y="590"/>
                    <a:pt x="461" y="586"/>
                  </a:cubicBezTo>
                  <a:cubicBezTo>
                    <a:pt x="471" y="580"/>
                    <a:pt x="475" y="573"/>
                    <a:pt x="483" y="566"/>
                  </a:cubicBezTo>
                  <a:cubicBezTo>
                    <a:pt x="472" y="575"/>
                    <a:pt x="457" y="579"/>
                    <a:pt x="444" y="587"/>
                  </a:cubicBezTo>
                  <a:cubicBezTo>
                    <a:pt x="432" y="594"/>
                    <a:pt x="421" y="605"/>
                    <a:pt x="410" y="614"/>
                  </a:cubicBezTo>
                  <a:cubicBezTo>
                    <a:pt x="404" y="619"/>
                    <a:pt x="397" y="624"/>
                    <a:pt x="390" y="630"/>
                  </a:cubicBezTo>
                  <a:cubicBezTo>
                    <a:pt x="383" y="636"/>
                    <a:pt x="377" y="638"/>
                    <a:pt x="369" y="642"/>
                  </a:cubicBezTo>
                  <a:cubicBezTo>
                    <a:pt x="356" y="649"/>
                    <a:pt x="349" y="651"/>
                    <a:pt x="335" y="651"/>
                  </a:cubicBezTo>
                  <a:cubicBezTo>
                    <a:pt x="334" y="651"/>
                    <a:pt x="333" y="650"/>
                    <a:pt x="333" y="650"/>
                  </a:cubicBezTo>
                  <a:cubicBezTo>
                    <a:pt x="315" y="642"/>
                    <a:pt x="297" y="630"/>
                    <a:pt x="278" y="624"/>
                  </a:cubicBezTo>
                  <a:cubicBezTo>
                    <a:pt x="275" y="623"/>
                    <a:pt x="271" y="622"/>
                    <a:pt x="267" y="620"/>
                  </a:cubicBezTo>
                  <a:cubicBezTo>
                    <a:pt x="261" y="618"/>
                    <a:pt x="261" y="618"/>
                    <a:pt x="261" y="618"/>
                  </a:cubicBezTo>
                  <a:cubicBezTo>
                    <a:pt x="247" y="613"/>
                    <a:pt x="236" y="607"/>
                    <a:pt x="224" y="595"/>
                  </a:cubicBezTo>
                  <a:cubicBezTo>
                    <a:pt x="219" y="590"/>
                    <a:pt x="213" y="586"/>
                    <a:pt x="208" y="582"/>
                  </a:cubicBezTo>
                  <a:cubicBezTo>
                    <a:pt x="218" y="581"/>
                    <a:pt x="229" y="580"/>
                    <a:pt x="240" y="582"/>
                  </a:cubicBezTo>
                  <a:cubicBezTo>
                    <a:pt x="252" y="585"/>
                    <a:pt x="262" y="595"/>
                    <a:pt x="275" y="597"/>
                  </a:cubicBezTo>
                  <a:cubicBezTo>
                    <a:pt x="281" y="598"/>
                    <a:pt x="289" y="594"/>
                    <a:pt x="296" y="594"/>
                  </a:cubicBezTo>
                  <a:cubicBezTo>
                    <a:pt x="304" y="593"/>
                    <a:pt x="310" y="595"/>
                    <a:pt x="318" y="599"/>
                  </a:cubicBezTo>
                  <a:cubicBezTo>
                    <a:pt x="318" y="600"/>
                    <a:pt x="318" y="600"/>
                    <a:pt x="319" y="600"/>
                  </a:cubicBezTo>
                  <a:cubicBezTo>
                    <a:pt x="322" y="602"/>
                    <a:pt x="322" y="602"/>
                    <a:pt x="322" y="602"/>
                  </a:cubicBezTo>
                  <a:cubicBezTo>
                    <a:pt x="335" y="608"/>
                    <a:pt x="343" y="604"/>
                    <a:pt x="359" y="601"/>
                  </a:cubicBezTo>
                  <a:cubicBezTo>
                    <a:pt x="347" y="603"/>
                    <a:pt x="338" y="603"/>
                    <a:pt x="328" y="599"/>
                  </a:cubicBezTo>
                  <a:cubicBezTo>
                    <a:pt x="323" y="597"/>
                    <a:pt x="323" y="597"/>
                    <a:pt x="323" y="597"/>
                  </a:cubicBezTo>
                  <a:cubicBezTo>
                    <a:pt x="320" y="596"/>
                    <a:pt x="316" y="594"/>
                    <a:pt x="313" y="592"/>
                  </a:cubicBezTo>
                  <a:cubicBezTo>
                    <a:pt x="306" y="588"/>
                    <a:pt x="300" y="586"/>
                    <a:pt x="291" y="587"/>
                  </a:cubicBezTo>
                  <a:cubicBezTo>
                    <a:pt x="284" y="587"/>
                    <a:pt x="277" y="591"/>
                    <a:pt x="270" y="590"/>
                  </a:cubicBezTo>
                  <a:cubicBezTo>
                    <a:pt x="258" y="588"/>
                    <a:pt x="247" y="577"/>
                    <a:pt x="235" y="575"/>
                  </a:cubicBezTo>
                  <a:cubicBezTo>
                    <a:pt x="222" y="572"/>
                    <a:pt x="210" y="574"/>
                    <a:pt x="198" y="575"/>
                  </a:cubicBezTo>
                  <a:cubicBezTo>
                    <a:pt x="197" y="574"/>
                    <a:pt x="195" y="573"/>
                    <a:pt x="194" y="572"/>
                  </a:cubicBezTo>
                  <a:cubicBezTo>
                    <a:pt x="192" y="570"/>
                    <a:pt x="192" y="570"/>
                    <a:pt x="192" y="570"/>
                  </a:cubicBezTo>
                  <a:cubicBezTo>
                    <a:pt x="192" y="570"/>
                    <a:pt x="192" y="570"/>
                    <a:pt x="192" y="570"/>
                  </a:cubicBezTo>
                  <a:cubicBezTo>
                    <a:pt x="187" y="567"/>
                    <a:pt x="182" y="563"/>
                    <a:pt x="178" y="560"/>
                  </a:cubicBezTo>
                  <a:cubicBezTo>
                    <a:pt x="159" y="543"/>
                    <a:pt x="140" y="526"/>
                    <a:pt x="123" y="508"/>
                  </a:cubicBezTo>
                  <a:cubicBezTo>
                    <a:pt x="137" y="511"/>
                    <a:pt x="151" y="510"/>
                    <a:pt x="166" y="510"/>
                  </a:cubicBezTo>
                  <a:cubicBezTo>
                    <a:pt x="171" y="510"/>
                    <a:pt x="175" y="510"/>
                    <a:pt x="180" y="511"/>
                  </a:cubicBezTo>
                  <a:cubicBezTo>
                    <a:pt x="184" y="512"/>
                    <a:pt x="188" y="515"/>
                    <a:pt x="192" y="515"/>
                  </a:cubicBezTo>
                  <a:cubicBezTo>
                    <a:pt x="195" y="515"/>
                    <a:pt x="197" y="514"/>
                    <a:pt x="200" y="513"/>
                  </a:cubicBezTo>
                  <a:cubicBezTo>
                    <a:pt x="211" y="514"/>
                    <a:pt x="220" y="517"/>
                    <a:pt x="228" y="526"/>
                  </a:cubicBezTo>
                  <a:cubicBezTo>
                    <a:pt x="232" y="531"/>
                    <a:pt x="234" y="534"/>
                    <a:pt x="239" y="535"/>
                  </a:cubicBezTo>
                  <a:cubicBezTo>
                    <a:pt x="246" y="537"/>
                    <a:pt x="252" y="536"/>
                    <a:pt x="259" y="536"/>
                  </a:cubicBezTo>
                  <a:cubicBezTo>
                    <a:pt x="272" y="535"/>
                    <a:pt x="282" y="542"/>
                    <a:pt x="290" y="551"/>
                  </a:cubicBezTo>
                  <a:cubicBezTo>
                    <a:pt x="295" y="557"/>
                    <a:pt x="300" y="560"/>
                    <a:pt x="306" y="563"/>
                  </a:cubicBezTo>
                  <a:cubicBezTo>
                    <a:pt x="300" y="559"/>
                    <a:pt x="295" y="550"/>
                    <a:pt x="291" y="545"/>
                  </a:cubicBezTo>
                  <a:cubicBezTo>
                    <a:pt x="285" y="538"/>
                    <a:pt x="278" y="533"/>
                    <a:pt x="269" y="531"/>
                  </a:cubicBezTo>
                  <a:cubicBezTo>
                    <a:pt x="261" y="529"/>
                    <a:pt x="252" y="532"/>
                    <a:pt x="244" y="530"/>
                  </a:cubicBezTo>
                  <a:cubicBezTo>
                    <a:pt x="235" y="528"/>
                    <a:pt x="233" y="520"/>
                    <a:pt x="227" y="515"/>
                  </a:cubicBezTo>
                  <a:cubicBezTo>
                    <a:pt x="224" y="512"/>
                    <a:pt x="219" y="508"/>
                    <a:pt x="214" y="507"/>
                  </a:cubicBezTo>
                  <a:cubicBezTo>
                    <a:pt x="218" y="505"/>
                    <a:pt x="223" y="504"/>
                    <a:pt x="228" y="504"/>
                  </a:cubicBezTo>
                  <a:cubicBezTo>
                    <a:pt x="241" y="502"/>
                    <a:pt x="253" y="509"/>
                    <a:pt x="266" y="513"/>
                  </a:cubicBezTo>
                  <a:cubicBezTo>
                    <a:pt x="282" y="519"/>
                    <a:pt x="297" y="523"/>
                    <a:pt x="314" y="523"/>
                  </a:cubicBezTo>
                  <a:cubicBezTo>
                    <a:pt x="321" y="523"/>
                    <a:pt x="328" y="523"/>
                    <a:pt x="335" y="525"/>
                  </a:cubicBezTo>
                  <a:cubicBezTo>
                    <a:pt x="342" y="527"/>
                    <a:pt x="346" y="531"/>
                    <a:pt x="353" y="534"/>
                  </a:cubicBezTo>
                  <a:cubicBezTo>
                    <a:pt x="364" y="540"/>
                    <a:pt x="379" y="527"/>
                    <a:pt x="388" y="532"/>
                  </a:cubicBezTo>
                  <a:cubicBezTo>
                    <a:pt x="379" y="527"/>
                    <a:pt x="364" y="532"/>
                    <a:pt x="353" y="527"/>
                  </a:cubicBezTo>
                  <a:cubicBezTo>
                    <a:pt x="346" y="524"/>
                    <a:pt x="342" y="520"/>
                    <a:pt x="335" y="518"/>
                  </a:cubicBezTo>
                  <a:cubicBezTo>
                    <a:pt x="328" y="516"/>
                    <a:pt x="321" y="515"/>
                    <a:pt x="314" y="515"/>
                  </a:cubicBezTo>
                  <a:cubicBezTo>
                    <a:pt x="297" y="515"/>
                    <a:pt x="282" y="511"/>
                    <a:pt x="266" y="506"/>
                  </a:cubicBezTo>
                  <a:cubicBezTo>
                    <a:pt x="253" y="501"/>
                    <a:pt x="241" y="495"/>
                    <a:pt x="228" y="497"/>
                  </a:cubicBezTo>
                  <a:cubicBezTo>
                    <a:pt x="220" y="497"/>
                    <a:pt x="213" y="499"/>
                    <a:pt x="207" y="502"/>
                  </a:cubicBezTo>
                  <a:cubicBezTo>
                    <a:pt x="202" y="504"/>
                    <a:pt x="197" y="508"/>
                    <a:pt x="192" y="508"/>
                  </a:cubicBezTo>
                  <a:cubicBezTo>
                    <a:pt x="188" y="507"/>
                    <a:pt x="184" y="504"/>
                    <a:pt x="180" y="504"/>
                  </a:cubicBezTo>
                  <a:cubicBezTo>
                    <a:pt x="175" y="503"/>
                    <a:pt x="171" y="503"/>
                    <a:pt x="166" y="503"/>
                  </a:cubicBezTo>
                  <a:cubicBezTo>
                    <a:pt x="148" y="503"/>
                    <a:pt x="131" y="504"/>
                    <a:pt x="113" y="499"/>
                  </a:cubicBezTo>
                  <a:cubicBezTo>
                    <a:pt x="107" y="492"/>
                    <a:pt x="101" y="485"/>
                    <a:pt x="95" y="478"/>
                  </a:cubicBezTo>
                  <a:cubicBezTo>
                    <a:pt x="82" y="462"/>
                    <a:pt x="72" y="445"/>
                    <a:pt x="61" y="428"/>
                  </a:cubicBezTo>
                  <a:cubicBezTo>
                    <a:pt x="53" y="417"/>
                    <a:pt x="38" y="406"/>
                    <a:pt x="32" y="393"/>
                  </a:cubicBezTo>
                  <a:cubicBezTo>
                    <a:pt x="37" y="369"/>
                    <a:pt x="46" y="339"/>
                    <a:pt x="60" y="317"/>
                  </a:cubicBezTo>
                  <a:cubicBezTo>
                    <a:pt x="65" y="309"/>
                    <a:pt x="71" y="302"/>
                    <a:pt x="77" y="295"/>
                  </a:cubicBezTo>
                  <a:cubicBezTo>
                    <a:pt x="77" y="309"/>
                    <a:pt x="88" y="323"/>
                    <a:pt x="98" y="330"/>
                  </a:cubicBezTo>
                  <a:cubicBezTo>
                    <a:pt x="113" y="341"/>
                    <a:pt x="130" y="348"/>
                    <a:pt x="144" y="360"/>
                  </a:cubicBezTo>
                  <a:cubicBezTo>
                    <a:pt x="159" y="372"/>
                    <a:pt x="167" y="390"/>
                    <a:pt x="187" y="395"/>
                  </a:cubicBezTo>
                  <a:cubicBezTo>
                    <a:pt x="207" y="401"/>
                    <a:pt x="230" y="395"/>
                    <a:pt x="250" y="401"/>
                  </a:cubicBezTo>
                  <a:cubicBezTo>
                    <a:pt x="284" y="410"/>
                    <a:pt x="305" y="444"/>
                    <a:pt x="341" y="450"/>
                  </a:cubicBezTo>
                  <a:cubicBezTo>
                    <a:pt x="358" y="454"/>
                    <a:pt x="374" y="454"/>
                    <a:pt x="391" y="449"/>
                  </a:cubicBezTo>
                  <a:cubicBezTo>
                    <a:pt x="403" y="446"/>
                    <a:pt x="421" y="433"/>
                    <a:pt x="433" y="439"/>
                  </a:cubicBezTo>
                  <a:cubicBezTo>
                    <a:pt x="421" y="433"/>
                    <a:pt x="410" y="436"/>
                    <a:pt x="398" y="440"/>
                  </a:cubicBezTo>
                  <a:cubicBezTo>
                    <a:pt x="381" y="444"/>
                    <a:pt x="365" y="444"/>
                    <a:pt x="348" y="441"/>
                  </a:cubicBezTo>
                  <a:cubicBezTo>
                    <a:pt x="313" y="434"/>
                    <a:pt x="291" y="401"/>
                    <a:pt x="257" y="392"/>
                  </a:cubicBezTo>
                  <a:cubicBezTo>
                    <a:pt x="237" y="386"/>
                    <a:pt x="214" y="391"/>
                    <a:pt x="194" y="386"/>
                  </a:cubicBezTo>
                  <a:cubicBezTo>
                    <a:pt x="175" y="381"/>
                    <a:pt x="166" y="362"/>
                    <a:pt x="152" y="350"/>
                  </a:cubicBezTo>
                  <a:cubicBezTo>
                    <a:pt x="137" y="338"/>
                    <a:pt x="121" y="331"/>
                    <a:pt x="105" y="321"/>
                  </a:cubicBezTo>
                  <a:cubicBezTo>
                    <a:pt x="96" y="314"/>
                    <a:pt x="85" y="300"/>
                    <a:pt x="84" y="287"/>
                  </a:cubicBezTo>
                  <a:cubicBezTo>
                    <a:pt x="121" y="250"/>
                    <a:pt x="175" y="221"/>
                    <a:pt x="205" y="190"/>
                  </a:cubicBezTo>
                  <a:cubicBezTo>
                    <a:pt x="209" y="196"/>
                    <a:pt x="215" y="199"/>
                    <a:pt x="221" y="202"/>
                  </a:cubicBezTo>
                  <a:cubicBezTo>
                    <a:pt x="229" y="208"/>
                    <a:pt x="240" y="221"/>
                    <a:pt x="247" y="224"/>
                  </a:cubicBezTo>
                  <a:cubicBezTo>
                    <a:pt x="257" y="229"/>
                    <a:pt x="266" y="229"/>
                    <a:pt x="277" y="226"/>
                  </a:cubicBezTo>
                  <a:cubicBezTo>
                    <a:pt x="282" y="225"/>
                    <a:pt x="287" y="224"/>
                    <a:pt x="292" y="224"/>
                  </a:cubicBezTo>
                  <a:cubicBezTo>
                    <a:pt x="297" y="224"/>
                    <a:pt x="300" y="227"/>
                    <a:pt x="304" y="228"/>
                  </a:cubicBezTo>
                  <a:cubicBezTo>
                    <a:pt x="310" y="229"/>
                    <a:pt x="316" y="227"/>
                    <a:pt x="322" y="228"/>
                  </a:cubicBezTo>
                  <a:cubicBezTo>
                    <a:pt x="329" y="229"/>
                    <a:pt x="337" y="232"/>
                    <a:pt x="344" y="234"/>
                  </a:cubicBezTo>
                  <a:cubicBezTo>
                    <a:pt x="337" y="232"/>
                    <a:pt x="332" y="225"/>
                    <a:pt x="325" y="224"/>
                  </a:cubicBezTo>
                  <a:cubicBezTo>
                    <a:pt x="319" y="223"/>
                    <a:pt x="313" y="225"/>
                    <a:pt x="307" y="224"/>
                  </a:cubicBezTo>
                  <a:cubicBezTo>
                    <a:pt x="303" y="223"/>
                    <a:pt x="300" y="220"/>
                    <a:pt x="295" y="220"/>
                  </a:cubicBezTo>
                  <a:cubicBezTo>
                    <a:pt x="290" y="220"/>
                    <a:pt x="285" y="221"/>
                    <a:pt x="280" y="223"/>
                  </a:cubicBezTo>
                  <a:cubicBezTo>
                    <a:pt x="269" y="225"/>
                    <a:pt x="260" y="225"/>
                    <a:pt x="250" y="221"/>
                  </a:cubicBezTo>
                  <a:cubicBezTo>
                    <a:pt x="243" y="217"/>
                    <a:pt x="240" y="211"/>
                    <a:pt x="235" y="206"/>
                  </a:cubicBezTo>
                  <a:cubicBezTo>
                    <a:pt x="240" y="207"/>
                    <a:pt x="244" y="208"/>
                    <a:pt x="249" y="211"/>
                  </a:cubicBezTo>
                  <a:cubicBezTo>
                    <a:pt x="257" y="215"/>
                    <a:pt x="261" y="215"/>
                    <a:pt x="270" y="213"/>
                  </a:cubicBezTo>
                  <a:cubicBezTo>
                    <a:pt x="291" y="208"/>
                    <a:pt x="306" y="203"/>
                    <a:pt x="327" y="211"/>
                  </a:cubicBezTo>
                  <a:cubicBezTo>
                    <a:pt x="342" y="216"/>
                    <a:pt x="357" y="205"/>
                    <a:pt x="370" y="206"/>
                  </a:cubicBezTo>
                  <a:cubicBezTo>
                    <a:pt x="357" y="205"/>
                    <a:pt x="343" y="211"/>
                    <a:pt x="328" y="205"/>
                  </a:cubicBezTo>
                  <a:cubicBezTo>
                    <a:pt x="306" y="197"/>
                    <a:pt x="292" y="203"/>
                    <a:pt x="271" y="208"/>
                  </a:cubicBezTo>
                  <a:cubicBezTo>
                    <a:pt x="262" y="210"/>
                    <a:pt x="258" y="210"/>
                    <a:pt x="250" y="206"/>
                  </a:cubicBezTo>
                  <a:cubicBezTo>
                    <a:pt x="244" y="203"/>
                    <a:pt x="239" y="201"/>
                    <a:pt x="232" y="200"/>
                  </a:cubicBezTo>
                  <a:cubicBezTo>
                    <a:pt x="223" y="198"/>
                    <a:pt x="214" y="194"/>
                    <a:pt x="208" y="187"/>
                  </a:cubicBezTo>
                  <a:cubicBezTo>
                    <a:pt x="217" y="178"/>
                    <a:pt x="223" y="168"/>
                    <a:pt x="227" y="158"/>
                  </a:cubicBezTo>
                  <a:cubicBezTo>
                    <a:pt x="244" y="105"/>
                    <a:pt x="242" y="86"/>
                    <a:pt x="241" y="71"/>
                  </a:cubicBezTo>
                  <a:cubicBezTo>
                    <a:pt x="239" y="50"/>
                    <a:pt x="246" y="25"/>
                    <a:pt x="256" y="10"/>
                  </a:cubicBezTo>
                  <a:moveTo>
                    <a:pt x="490" y="681"/>
                  </a:moveTo>
                  <a:cubicBezTo>
                    <a:pt x="493" y="682"/>
                    <a:pt x="497" y="682"/>
                    <a:pt x="501" y="682"/>
                  </a:cubicBezTo>
                  <a:cubicBezTo>
                    <a:pt x="497" y="682"/>
                    <a:pt x="493" y="682"/>
                    <a:pt x="490" y="681"/>
                  </a:cubicBezTo>
                  <a:close/>
                  <a:moveTo>
                    <a:pt x="306" y="563"/>
                  </a:moveTo>
                  <a:cubicBezTo>
                    <a:pt x="309" y="565"/>
                    <a:pt x="311" y="566"/>
                    <a:pt x="314" y="566"/>
                  </a:cubicBezTo>
                  <a:cubicBezTo>
                    <a:pt x="311" y="565"/>
                    <a:pt x="309" y="564"/>
                    <a:pt x="306" y="563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94E4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896" y="2396"/>
              <a:ext cx="251" cy="356"/>
            </a:xfrm>
            <a:custGeom>
              <a:rect b="b" l="l" r="r" t="t"/>
              <a:pathLst>
                <a:path extrusionOk="0" h="132" w="93">
                  <a:moveTo>
                    <a:pt x="93" y="0"/>
                  </a:moveTo>
                  <a:cubicBezTo>
                    <a:pt x="93" y="0"/>
                    <a:pt x="11" y="38"/>
                    <a:pt x="0" y="132"/>
                  </a:cubicBezTo>
                  <a:cubicBezTo>
                    <a:pt x="0" y="132"/>
                    <a:pt x="6" y="57"/>
                    <a:pt x="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2311" y="2029"/>
              <a:ext cx="165" cy="249"/>
            </a:xfrm>
            <a:custGeom>
              <a:rect b="b" l="l" r="r" t="t"/>
              <a:pathLst>
                <a:path extrusionOk="0" h="92" w="61">
                  <a:moveTo>
                    <a:pt x="61" y="0"/>
                  </a:moveTo>
                  <a:cubicBezTo>
                    <a:pt x="61" y="0"/>
                    <a:pt x="56" y="52"/>
                    <a:pt x="0" y="92"/>
                  </a:cubicBezTo>
                  <a:cubicBezTo>
                    <a:pt x="0" y="92"/>
                    <a:pt x="54" y="68"/>
                    <a:pt x="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2047" y="2957"/>
              <a:ext cx="135" cy="170"/>
            </a:xfrm>
            <a:custGeom>
              <a:rect b="b" l="l" r="r" t="t"/>
              <a:pathLst>
                <a:path extrusionOk="0" h="63" w="50">
                  <a:moveTo>
                    <a:pt x="0" y="0"/>
                  </a:moveTo>
                  <a:cubicBezTo>
                    <a:pt x="0" y="0"/>
                    <a:pt x="19" y="41"/>
                    <a:pt x="50" y="63"/>
                  </a:cubicBezTo>
                  <a:cubicBezTo>
                    <a:pt x="50" y="63"/>
                    <a:pt x="14" y="3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2440" y="3386"/>
              <a:ext cx="65" cy="67"/>
            </a:xfrm>
            <a:custGeom>
              <a:rect b="b" l="l" r="r" t="t"/>
              <a:pathLst>
                <a:path extrusionOk="0" h="25" w="24">
                  <a:moveTo>
                    <a:pt x="0" y="0"/>
                  </a:moveTo>
                  <a:cubicBezTo>
                    <a:pt x="3" y="11"/>
                    <a:pt x="9" y="25"/>
                    <a:pt x="24" y="24"/>
                  </a:cubicBezTo>
                  <a:cubicBezTo>
                    <a:pt x="11" y="24"/>
                    <a:pt x="5" y="12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3209" y="1873"/>
              <a:ext cx="94" cy="569"/>
            </a:xfrm>
            <a:custGeom>
              <a:rect b="b" l="l" r="r" t="t"/>
              <a:pathLst>
                <a:path extrusionOk="0" h="211" w="35">
                  <a:moveTo>
                    <a:pt x="0" y="0"/>
                  </a:moveTo>
                  <a:cubicBezTo>
                    <a:pt x="0" y="0"/>
                    <a:pt x="22" y="125"/>
                    <a:pt x="28" y="168"/>
                  </a:cubicBezTo>
                  <a:cubicBezTo>
                    <a:pt x="35" y="211"/>
                    <a:pt x="14" y="3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3292" y="2917"/>
              <a:ext cx="95" cy="480"/>
            </a:xfrm>
            <a:custGeom>
              <a:rect b="b" l="l" r="r" t="t"/>
              <a:pathLst>
                <a:path extrusionOk="0" h="178" w="35">
                  <a:moveTo>
                    <a:pt x="21" y="0"/>
                  </a:moveTo>
                  <a:cubicBezTo>
                    <a:pt x="21" y="0"/>
                    <a:pt x="35" y="38"/>
                    <a:pt x="17" y="69"/>
                  </a:cubicBezTo>
                  <a:cubicBezTo>
                    <a:pt x="0" y="100"/>
                    <a:pt x="12" y="116"/>
                    <a:pt x="16" y="129"/>
                  </a:cubicBezTo>
                  <a:cubicBezTo>
                    <a:pt x="20" y="142"/>
                    <a:pt x="13" y="170"/>
                    <a:pt x="13" y="174"/>
                  </a:cubicBezTo>
                  <a:cubicBezTo>
                    <a:pt x="13" y="178"/>
                    <a:pt x="16" y="136"/>
                    <a:pt x="9" y="122"/>
                  </a:cubicBezTo>
                  <a:cubicBezTo>
                    <a:pt x="3" y="109"/>
                    <a:pt x="5" y="86"/>
                    <a:pt x="12" y="68"/>
                  </a:cubicBezTo>
                  <a:cubicBezTo>
                    <a:pt x="19" y="49"/>
                    <a:pt x="28" y="4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3756" y="2151"/>
              <a:ext cx="33" cy="46"/>
            </a:xfrm>
            <a:custGeom>
              <a:rect b="b" l="l" r="r" t="t"/>
              <a:pathLst>
                <a:path extrusionOk="0" h="17" w="12">
                  <a:moveTo>
                    <a:pt x="12" y="1"/>
                  </a:moveTo>
                  <a:cubicBezTo>
                    <a:pt x="1" y="3"/>
                    <a:pt x="5" y="11"/>
                    <a:pt x="11" y="17"/>
                  </a:cubicBezTo>
                  <a:cubicBezTo>
                    <a:pt x="8" y="14"/>
                    <a:pt x="0" y="11"/>
                    <a:pt x="2" y="5"/>
                  </a:cubicBezTo>
                  <a:cubicBezTo>
                    <a:pt x="3" y="2"/>
                    <a:pt x="7" y="0"/>
                    <a:pt x="1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3476" y="2089"/>
              <a:ext cx="43" cy="256"/>
            </a:xfrm>
            <a:custGeom>
              <a:rect b="b" l="l" r="r" t="t"/>
              <a:pathLst>
                <a:path extrusionOk="0" h="95" w="16">
                  <a:moveTo>
                    <a:pt x="15" y="0"/>
                  </a:moveTo>
                  <a:cubicBezTo>
                    <a:pt x="6" y="13"/>
                    <a:pt x="2" y="28"/>
                    <a:pt x="1" y="44"/>
                  </a:cubicBezTo>
                  <a:cubicBezTo>
                    <a:pt x="0" y="61"/>
                    <a:pt x="9" y="78"/>
                    <a:pt x="9" y="95"/>
                  </a:cubicBezTo>
                  <a:cubicBezTo>
                    <a:pt x="8" y="88"/>
                    <a:pt x="9" y="81"/>
                    <a:pt x="8" y="74"/>
                  </a:cubicBezTo>
                  <a:cubicBezTo>
                    <a:pt x="7" y="70"/>
                    <a:pt x="6" y="66"/>
                    <a:pt x="5" y="62"/>
                  </a:cubicBezTo>
                  <a:cubicBezTo>
                    <a:pt x="4" y="55"/>
                    <a:pt x="3" y="49"/>
                    <a:pt x="4" y="43"/>
                  </a:cubicBezTo>
                  <a:cubicBezTo>
                    <a:pt x="5" y="34"/>
                    <a:pt x="7" y="27"/>
                    <a:pt x="9" y="19"/>
                  </a:cubicBezTo>
                  <a:cubicBezTo>
                    <a:pt x="11" y="13"/>
                    <a:pt x="12" y="5"/>
                    <a:pt x="1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3673" y="1970"/>
              <a:ext cx="70" cy="32"/>
            </a:xfrm>
            <a:custGeom>
              <a:rect b="b" l="l" r="r" t="t"/>
              <a:pathLst>
                <a:path extrusionOk="0" h="12" w="26">
                  <a:moveTo>
                    <a:pt x="0" y="4"/>
                  </a:moveTo>
                  <a:cubicBezTo>
                    <a:pt x="3" y="4"/>
                    <a:pt x="5" y="1"/>
                    <a:pt x="8" y="0"/>
                  </a:cubicBezTo>
                  <a:cubicBezTo>
                    <a:pt x="11" y="0"/>
                    <a:pt x="14" y="1"/>
                    <a:pt x="17" y="2"/>
                  </a:cubicBezTo>
                  <a:cubicBezTo>
                    <a:pt x="22" y="4"/>
                    <a:pt x="24" y="7"/>
                    <a:pt x="26" y="12"/>
                  </a:cubicBezTo>
                  <a:cubicBezTo>
                    <a:pt x="21" y="8"/>
                    <a:pt x="21" y="4"/>
                    <a:pt x="14" y="3"/>
                  </a:cubicBezTo>
                  <a:cubicBezTo>
                    <a:pt x="10" y="1"/>
                    <a:pt x="6" y="2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3398" y="3011"/>
              <a:ext cx="78" cy="507"/>
            </a:xfrm>
            <a:custGeom>
              <a:rect b="b" l="l" r="r" t="t"/>
              <a:pathLst>
                <a:path extrusionOk="0" h="188" w="29">
                  <a:moveTo>
                    <a:pt x="29" y="0"/>
                  </a:moveTo>
                  <a:cubicBezTo>
                    <a:pt x="29" y="0"/>
                    <a:pt x="27" y="36"/>
                    <a:pt x="17" y="69"/>
                  </a:cubicBezTo>
                  <a:cubicBezTo>
                    <a:pt x="7" y="102"/>
                    <a:pt x="0" y="167"/>
                    <a:pt x="9" y="188"/>
                  </a:cubicBezTo>
                  <a:cubicBezTo>
                    <a:pt x="9" y="188"/>
                    <a:pt x="3" y="130"/>
                    <a:pt x="15" y="95"/>
                  </a:cubicBezTo>
                  <a:cubicBezTo>
                    <a:pt x="27" y="60"/>
                    <a:pt x="29" y="0"/>
                    <a:pt x="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3381" y="2563"/>
              <a:ext cx="76" cy="246"/>
            </a:xfrm>
            <a:custGeom>
              <a:rect b="b" l="l" r="r" t="t"/>
              <a:pathLst>
                <a:path extrusionOk="0" h="91" w="28">
                  <a:moveTo>
                    <a:pt x="28" y="0"/>
                  </a:moveTo>
                  <a:cubicBezTo>
                    <a:pt x="28" y="0"/>
                    <a:pt x="0" y="36"/>
                    <a:pt x="15" y="91"/>
                  </a:cubicBezTo>
                  <a:cubicBezTo>
                    <a:pt x="15" y="91"/>
                    <a:pt x="4" y="40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400" y="2917"/>
              <a:ext cx="30" cy="35"/>
            </a:xfrm>
            <a:custGeom>
              <a:rect b="b" l="l" r="r" t="t"/>
              <a:pathLst>
                <a:path extrusionOk="0" h="13" w="11">
                  <a:moveTo>
                    <a:pt x="11" y="13"/>
                  </a:moveTo>
                  <a:cubicBezTo>
                    <a:pt x="7" y="10"/>
                    <a:pt x="2" y="1"/>
                    <a:pt x="11" y="2"/>
                  </a:cubicBezTo>
                  <a:cubicBezTo>
                    <a:pt x="9" y="2"/>
                    <a:pt x="3" y="0"/>
                    <a:pt x="2" y="1"/>
                  </a:cubicBezTo>
                  <a:cubicBezTo>
                    <a:pt x="0" y="4"/>
                    <a:pt x="6" y="9"/>
                    <a:pt x="9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2710" y="2652"/>
              <a:ext cx="24" cy="30"/>
            </a:xfrm>
            <a:custGeom>
              <a:rect b="b" l="l" r="r" t="t"/>
              <a:pathLst>
                <a:path extrusionOk="0" h="11" w="9">
                  <a:moveTo>
                    <a:pt x="7" y="11"/>
                  </a:moveTo>
                  <a:cubicBezTo>
                    <a:pt x="1" y="8"/>
                    <a:pt x="3" y="4"/>
                    <a:pt x="9" y="2"/>
                  </a:cubicBezTo>
                  <a:cubicBezTo>
                    <a:pt x="6" y="2"/>
                    <a:pt x="2" y="0"/>
                    <a:pt x="1" y="3"/>
                  </a:cubicBezTo>
                  <a:cubicBezTo>
                    <a:pt x="0" y="6"/>
                    <a:pt x="3" y="9"/>
                    <a:pt x="6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3346" y="1870"/>
              <a:ext cx="127" cy="105"/>
            </a:xfrm>
            <a:custGeom>
              <a:rect b="b" l="l" r="r" t="t"/>
              <a:pathLst>
                <a:path extrusionOk="0" h="39" w="47">
                  <a:moveTo>
                    <a:pt x="0" y="1"/>
                  </a:moveTo>
                  <a:cubicBezTo>
                    <a:pt x="21" y="0"/>
                    <a:pt x="34" y="26"/>
                    <a:pt x="47" y="39"/>
                  </a:cubicBezTo>
                  <a:cubicBezTo>
                    <a:pt x="38" y="33"/>
                    <a:pt x="32" y="24"/>
                    <a:pt x="24" y="16"/>
                  </a:cubicBezTo>
                  <a:cubicBezTo>
                    <a:pt x="18" y="10"/>
                    <a:pt x="11" y="4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3921" y="2367"/>
              <a:ext cx="19" cy="62"/>
            </a:xfrm>
            <a:custGeom>
              <a:rect b="b" l="l" r="r" t="t"/>
              <a:pathLst>
                <a:path extrusionOk="0" h="23" w="7">
                  <a:moveTo>
                    <a:pt x="0" y="0"/>
                  </a:moveTo>
                  <a:cubicBezTo>
                    <a:pt x="7" y="5"/>
                    <a:pt x="6" y="16"/>
                    <a:pt x="7" y="23"/>
                  </a:cubicBezTo>
                  <a:cubicBezTo>
                    <a:pt x="5" y="16"/>
                    <a:pt x="4" y="8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0" name="Google Shape;21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17600" lvl="0" marL="111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3200">
                <a:latin typeface="Arial"/>
                <a:ea typeface="Arial"/>
                <a:cs typeface="Arial"/>
                <a:sym typeface="Arial"/>
              </a:rPr>
              <a:t>I- RAPPEL ANATOMIQUE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"/>
          <p:cNvSpPr txBox="1"/>
          <p:nvPr>
            <p:ph type="title"/>
          </p:nvPr>
        </p:nvSpPr>
        <p:spPr>
          <a:xfrm>
            <a:off x="457200" y="274638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3200">
                <a:latin typeface="Arial"/>
                <a:ea typeface="Arial"/>
                <a:cs typeface="Arial"/>
                <a:sym typeface="Arial"/>
              </a:rPr>
              <a:t>I- Introduction –Rappel Anatomique 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"/>
          <p:cNvSpPr txBox="1"/>
          <p:nvPr>
            <p:ph idx="1" type="body"/>
          </p:nvPr>
        </p:nvSpPr>
        <p:spPr>
          <a:xfrm>
            <a:off x="323528" y="1091877"/>
            <a:ext cx="8784976" cy="5145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Circulation nourricière du Myocarde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Couronne Vasculaire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Artères coronaires droite et gauche : premières branches collatérales de l‘Aorte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Sur le plan fonctionnel il existe 3 réseaux coronaires principaux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La Coronaire Droite           RVG + IVP </a:t>
            </a:r>
            <a:r>
              <a:rPr b="1" lang="fr-FR" sz="2000">
                <a:latin typeface="Arial"/>
                <a:ea typeface="Arial"/>
                <a:cs typeface="Arial"/>
                <a:sym typeface="Arial"/>
              </a:rPr>
              <a:t>(Réseau droit dominant)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La Coronaire Gauche         TCG           IVA + Cx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La Cx           IVP </a:t>
            </a:r>
            <a:r>
              <a:rPr b="1" lang="fr-FR" sz="2000">
                <a:latin typeface="Arial"/>
                <a:ea typeface="Arial"/>
                <a:cs typeface="Arial"/>
                <a:sym typeface="Arial"/>
              </a:rPr>
              <a:t>(Réseau gauche dominant)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3563888" y="4941168"/>
            <a:ext cx="576064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"/>
          <p:cNvSpPr/>
          <p:nvPr/>
        </p:nvSpPr>
        <p:spPr>
          <a:xfrm>
            <a:off x="5220072" y="5589240"/>
            <a:ext cx="576064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3779912" y="5589240"/>
            <a:ext cx="576064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"/>
          <p:cNvSpPr/>
          <p:nvPr/>
        </p:nvSpPr>
        <p:spPr>
          <a:xfrm>
            <a:off x="1763688" y="6237312"/>
            <a:ext cx="576064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"/>
          <p:cNvSpPr txBox="1"/>
          <p:nvPr/>
        </p:nvSpPr>
        <p:spPr>
          <a:xfrm>
            <a:off x="2157450" y="214290"/>
            <a:ext cx="4914880" cy="579438"/>
          </a:xfrm>
          <a:prstGeom prst="rect">
            <a:avLst/>
          </a:prstGeom>
          <a:noFill/>
          <a:ln>
            <a:noFill/>
          </a:ln>
          <a:effectLst>
            <a:outerShdw blurRad="44450" algn="ctr" dir="5400000" dist="27940">
              <a:srgbClr val="000000">
                <a:alpha val="31372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-F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circulation coronaire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"/>
          <p:cNvSpPr txBox="1"/>
          <p:nvPr/>
        </p:nvSpPr>
        <p:spPr>
          <a:xfrm>
            <a:off x="133350" y="3929063"/>
            <a:ext cx="1295400" cy="650875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Coronaire droite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 txBox="1"/>
          <p:nvPr/>
        </p:nvSpPr>
        <p:spPr>
          <a:xfrm>
            <a:off x="7062788" y="1000125"/>
            <a:ext cx="1295400" cy="650875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Coronaire gauche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insol\Desktop\2 éme Année Medecine\Cours Physio 2016 17\Cardio Vx\Artéres Coro.jpg" id="228" name="Google Shape;2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625" y="928688"/>
            <a:ext cx="5429250" cy="57864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" name="Google Shape;229;p4"/>
          <p:cNvCxnSpPr/>
          <p:nvPr/>
        </p:nvCxnSpPr>
        <p:spPr>
          <a:xfrm flipH="1">
            <a:off x="6143625" y="1600200"/>
            <a:ext cx="928688" cy="1185863"/>
          </a:xfrm>
          <a:prstGeom prst="straightConnector1">
            <a:avLst/>
          </a:prstGeom>
          <a:noFill/>
          <a:ln cap="flat" cmpd="sng" w="38100">
            <a:solidFill>
              <a:srgbClr val="FF33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" name="Google Shape;230;p4"/>
          <p:cNvCxnSpPr/>
          <p:nvPr/>
        </p:nvCxnSpPr>
        <p:spPr>
          <a:xfrm flipH="1" rot="10800000">
            <a:off x="357188" y="2357438"/>
            <a:ext cx="1428750" cy="1428750"/>
          </a:xfrm>
          <a:prstGeom prst="straightConnector1">
            <a:avLst/>
          </a:prstGeom>
          <a:noFill/>
          <a:ln cap="flat" cmpd="sng" w="38100">
            <a:solidFill>
              <a:srgbClr val="FF33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"/>
          <p:cNvSpPr txBox="1"/>
          <p:nvPr>
            <p:ph type="title"/>
          </p:nvPr>
        </p:nvSpPr>
        <p:spPr>
          <a:xfrm>
            <a:off x="0" y="1988840"/>
            <a:ext cx="864235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17600" lvl="0" marL="111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3200">
                <a:latin typeface="Arial"/>
                <a:ea typeface="Arial"/>
                <a:cs typeface="Arial"/>
                <a:sym typeface="Arial"/>
              </a:rPr>
              <a:t>II - VALEURS ET CARACTERISTIQUE DU DEBIT SANGUIN CORONAIRE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"/>
          <p:cNvSpPr txBox="1"/>
          <p:nvPr>
            <p:ph idx="1" type="body"/>
          </p:nvPr>
        </p:nvSpPr>
        <p:spPr>
          <a:xfrm>
            <a:off x="468313" y="836613"/>
            <a:ext cx="8229600" cy="5500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DSC normal: 250 ml / min, soit 5% du Qc                       (le cœur ≈ 0,5% du poids corporel)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fr-F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250 ml / mn soit 0,8 ml / g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DSC est ⭧ car VO</a:t>
            </a:r>
            <a:r>
              <a:rPr baseline="-25000" lang="fr-FR" sz="2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 du myocarde rapportée au poids de l’organisme est ⭧ ⭧; c’est à ce niveau que l’extraction de l’O</a:t>
            </a:r>
            <a:r>
              <a:rPr baseline="-25000" lang="fr-FR" sz="2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 est très importante: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fr-F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DAVO</a:t>
            </a:r>
            <a:r>
              <a:rPr baseline="-25000" lang="fr-F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fr-F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la plus large de l’organisme.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L’importance du DSC et l’élargissement de la DAVO</a:t>
            </a:r>
            <a:r>
              <a:rPr baseline="-25000" lang="fr-FR" sz="2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 observés au niveau du cœur explique le fort niveau de consommation d’O</a:t>
            </a:r>
            <a:r>
              <a:rPr baseline="-25000" lang="fr-FR" sz="2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 myocardique (MVO</a:t>
            </a:r>
            <a:r>
              <a:rPr baseline="-25000" lang="fr-FR" sz="2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"/>
          <p:cNvSpPr txBox="1"/>
          <p:nvPr>
            <p:ph idx="1" type="body"/>
          </p:nvPr>
        </p:nvSpPr>
        <p:spPr>
          <a:xfrm>
            <a:off x="457200" y="908050"/>
            <a:ext cx="8229600" cy="5218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fr-F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MVO</a:t>
            </a:r>
            <a:r>
              <a:rPr baseline="-25000" lang="fr-F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fr-F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physiologique = 11 ml / min / 100 g de cœur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Soit 13% de la VO</a:t>
            </a:r>
            <a:r>
              <a:rPr baseline="-25000" lang="fr-FR" sz="2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 de l’organisme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A titre indicatif 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		VO</a:t>
            </a:r>
            <a:r>
              <a:rPr baseline="-25000" lang="fr-FR" sz="2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 du rein = 6 ml / mn / 100 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		VO</a:t>
            </a:r>
            <a:r>
              <a:rPr baseline="-25000" lang="fr-FR" sz="2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 du foie = 2 ml / mn / 100 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		VO</a:t>
            </a:r>
            <a:r>
              <a:rPr baseline="-25000" lang="fr-FR" sz="2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 du muscle = 0,16 ml / mn / 100 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17600" lvl="0" marL="111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3600">
                <a:latin typeface="Arial"/>
                <a:ea typeface="Arial"/>
                <a:cs typeface="Arial"/>
                <a:sym typeface="Arial"/>
              </a:rPr>
              <a:t>III- MOYENS DE MESURE</a:t>
            </a:r>
            <a:endParaRPr/>
          </a:p>
        </p:txBody>
      </p:sp>
      <p:sp>
        <p:nvSpPr>
          <p:cNvPr id="251" name="Google Shape;251;p8"/>
          <p:cNvSpPr txBox="1"/>
          <p:nvPr>
            <p:ph idx="1" type="body"/>
          </p:nvPr>
        </p:nvSpPr>
        <p:spPr>
          <a:xfrm>
            <a:off x="539750" y="1916113"/>
            <a:ext cx="8229600" cy="424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fr-FR"/>
              <a:t>		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Les techniques de mesure du DSC reposent sur les mêmes principes que ceux qui évaluent le Qc:</a:t>
            </a:r>
            <a:endParaRPr/>
          </a:p>
          <a:p>
            <a:pPr indent="-106680" lvl="3" marL="1600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192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3" marL="1600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1920"/>
              <a:buFont typeface="Arial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Principe de Fick direct à l’O</a:t>
            </a:r>
            <a:r>
              <a:rPr baseline="-25000" lang="fr-FR" sz="2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1920"/>
              <a:buFont typeface="Arial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Radio-isotopes.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1920"/>
              <a:buFont typeface="Arial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Thermodilution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 txBox="1"/>
          <p:nvPr>
            <p:ph type="title"/>
          </p:nvPr>
        </p:nvSpPr>
        <p:spPr>
          <a:xfrm>
            <a:off x="395288" y="2565400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17600" lvl="0" marL="111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3600">
                <a:latin typeface="Arial"/>
                <a:ea typeface="Arial"/>
                <a:cs typeface="Arial"/>
                <a:sym typeface="Arial"/>
              </a:rPr>
              <a:t>IV- REGULATION DU DSC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838200" lvl="0" marL="838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3200">
                <a:latin typeface="Arial"/>
                <a:ea typeface="Arial"/>
                <a:cs typeface="Arial"/>
                <a:sym typeface="Arial"/>
              </a:rPr>
              <a:t>A- Facteurs mécaniques</a:t>
            </a:r>
            <a:endParaRPr/>
          </a:p>
        </p:txBody>
      </p:sp>
      <p:sp>
        <p:nvSpPr>
          <p:cNvPr id="262" name="Google Shape;262;p10"/>
          <p:cNvSpPr txBox="1"/>
          <p:nvPr>
            <p:ph idx="1" type="body"/>
          </p:nvPr>
        </p:nvSpPr>
        <p:spPr>
          <a:xfrm>
            <a:off x="250825" y="1628775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DSC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   P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ression de perfusion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Résistances à l’écoulement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</p:txBody>
      </p:sp>
      <p:cxnSp>
        <p:nvCxnSpPr>
          <p:cNvPr id="263" name="Google Shape;263;p10"/>
          <p:cNvCxnSpPr/>
          <p:nvPr/>
        </p:nvCxnSpPr>
        <p:spPr>
          <a:xfrm>
            <a:off x="4787900" y="2133600"/>
            <a:ext cx="1800225" cy="1582738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lg" w="lg" type="stealth"/>
          </a:ln>
        </p:spPr>
      </p:cxnSp>
      <p:cxnSp>
        <p:nvCxnSpPr>
          <p:cNvPr id="264" name="Google Shape;264;p10"/>
          <p:cNvCxnSpPr/>
          <p:nvPr/>
        </p:nvCxnSpPr>
        <p:spPr>
          <a:xfrm flipH="1">
            <a:off x="2843213" y="2133600"/>
            <a:ext cx="1657350" cy="8636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lg" w="lg" type="stealth"/>
          </a:ln>
        </p:spPr>
      </p:cxn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468313" y="476250"/>
            <a:ext cx="8229600" cy="59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rPr lang="fr-FR" sz="3600"/>
              <a:t>			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Noto Sans Symbols"/>
              <a:buNone/>
            </a:pPr>
            <a:r>
              <a:rPr lang="fr-FR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                             </a:t>
            </a:r>
            <a:endParaRPr sz="2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Δ P:   différence de pression de part et d’autres d’un système; dans le système coronaire  ΔP c’est la pression de perfusion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Noto Sans Symbols"/>
              <a:buNone/>
            </a:pPr>
            <a:r>
              <a:rPr lang="fr-FR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Δ P = différence entre PAo et Pad 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R = résistance coronaire totale</a:t>
            </a:r>
            <a:endParaRPr/>
          </a:p>
        </p:txBody>
      </p:sp>
      <p:cxnSp>
        <p:nvCxnSpPr>
          <p:cNvPr id="270" name="Google Shape;270;p11"/>
          <p:cNvCxnSpPr/>
          <p:nvPr/>
        </p:nvCxnSpPr>
        <p:spPr>
          <a:xfrm>
            <a:off x="3995738" y="1557338"/>
            <a:ext cx="863600" cy="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1"/>
          <p:cNvSpPr/>
          <p:nvPr/>
        </p:nvSpPr>
        <p:spPr>
          <a:xfrm>
            <a:off x="2428875" y="928688"/>
            <a:ext cx="3021013" cy="11525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ΔP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DSC =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11"/>
          <p:cNvCxnSpPr/>
          <p:nvPr/>
        </p:nvCxnSpPr>
        <p:spPr>
          <a:xfrm>
            <a:off x="3571875" y="1571625"/>
            <a:ext cx="1285875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"/>
          <p:cNvSpPr txBox="1"/>
          <p:nvPr>
            <p:ph idx="1" type="body"/>
          </p:nvPr>
        </p:nvSpPr>
        <p:spPr>
          <a:xfrm>
            <a:off x="500063" y="285750"/>
            <a:ext cx="8229600" cy="5840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                  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PAo – Pad 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DSC =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                         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R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                  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PAo – Pad </a:t>
            </a:r>
            <a:r>
              <a:rPr lang="fr-F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0 </a:t>
            </a:r>
            <a:endParaRPr sz="2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DSC =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                          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                  PAo Syst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DSC =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                        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R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                  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PAo Disat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DSC =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                         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R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p12"/>
          <p:cNvCxnSpPr/>
          <p:nvPr/>
        </p:nvCxnSpPr>
        <p:spPr>
          <a:xfrm>
            <a:off x="2286000" y="1071563"/>
            <a:ext cx="1928813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12"/>
          <p:cNvCxnSpPr/>
          <p:nvPr/>
        </p:nvCxnSpPr>
        <p:spPr>
          <a:xfrm>
            <a:off x="2214563" y="2643188"/>
            <a:ext cx="1928812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12"/>
          <p:cNvCxnSpPr/>
          <p:nvPr/>
        </p:nvCxnSpPr>
        <p:spPr>
          <a:xfrm>
            <a:off x="2214563" y="4000500"/>
            <a:ext cx="1928812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12"/>
          <p:cNvCxnSpPr/>
          <p:nvPr/>
        </p:nvCxnSpPr>
        <p:spPr>
          <a:xfrm>
            <a:off x="2214563" y="5500688"/>
            <a:ext cx="1928812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 txBox="1"/>
          <p:nvPr>
            <p:ph idx="1" type="body"/>
          </p:nvPr>
        </p:nvSpPr>
        <p:spPr>
          <a:xfrm>
            <a:off x="500063" y="285750"/>
            <a:ext cx="8229600" cy="5840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                   PAo Syst                           PAo Disat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DSC</a:t>
            </a:r>
            <a:r>
              <a:rPr b="1" lang="fr-FR" sz="2800">
                <a:latin typeface="Arial"/>
                <a:ea typeface="Arial"/>
                <a:cs typeface="Arial"/>
                <a:sym typeface="Arial"/>
              </a:rPr>
              <a:t> =                             +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                        R                                 R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               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                        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La résistance R est subdivisée en 3 types de résistances qui varient au cours d’une révolution cardiaque et obéissent à différents facteurs de régulation.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lang="fr-FR" sz="2400">
                <a:latin typeface="Arial"/>
                <a:ea typeface="Arial"/>
                <a:cs typeface="Arial"/>
                <a:sym typeface="Arial"/>
              </a:rPr>
              <a:t> R = R1 + R2 + R3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" name="Google Shape;287;p13"/>
          <p:cNvCxnSpPr/>
          <p:nvPr/>
        </p:nvCxnSpPr>
        <p:spPr>
          <a:xfrm>
            <a:off x="2286000" y="1071563"/>
            <a:ext cx="1928813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13"/>
          <p:cNvCxnSpPr/>
          <p:nvPr/>
        </p:nvCxnSpPr>
        <p:spPr>
          <a:xfrm>
            <a:off x="5652120" y="1071563"/>
            <a:ext cx="1928812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"/>
          <p:cNvSpPr txBox="1"/>
          <p:nvPr>
            <p:ph idx="1" type="body"/>
          </p:nvPr>
        </p:nvSpPr>
        <p:spPr>
          <a:xfrm>
            <a:off x="357188" y="260350"/>
            <a:ext cx="8572500" cy="63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R1: Résistance visqueuse de base.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       Résistance la plus minime 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       Pendant la diastole lorsque le lit vasculaire est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       totalement dilaté.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R2: Résistance variable dépend de l’autorégulation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       métabolique; R2 &gt; 4 à 5 fois R1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R3: Résistance extrinsèque liée à la tension intra myocardique comprimant les vaisseaux et variant durant le cycle cardiaque.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"/>
          <p:cNvSpPr txBox="1"/>
          <p:nvPr>
            <p:ph idx="1" type="body"/>
          </p:nvPr>
        </p:nvSpPr>
        <p:spPr>
          <a:xfrm>
            <a:off x="457200" y="428625"/>
            <a:ext cx="8229600" cy="5697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Le DSC n’est pas constant durant une révolution cardiaque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Le DSC n’est pas uniforme dans toute l’épaisseur de la paroi myocardique, notamment celle du VG 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 txBox="1"/>
          <p:nvPr>
            <p:ph idx="1" type="body"/>
          </p:nvPr>
        </p:nvSpPr>
        <p:spPr>
          <a:xfrm>
            <a:off x="285750" y="285750"/>
            <a:ext cx="8572500" cy="6357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R3 est ⭧⭧ en systole, son rôle est négligé en diastole, elle n’a pas la même valeur dans toute l’épaisseur du myocarde: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R3 endocarde &gt;&gt;&gt; R3 épicarde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 inégalité de distribution de la tension intra myocardique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 Compensation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⭨ du débit systolique                   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      dans les couches                     ⭧ du débit diastolique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     sous endocardiques</a:t>
            </a: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4071938" y="3500438"/>
            <a:ext cx="215900" cy="1657350"/>
          </a:xfrm>
          <a:prstGeom prst="rightBracket">
            <a:avLst>
              <a:gd fmla="val 63971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/>
          <p:nvPr>
            <p:ph idx="1" type="body"/>
          </p:nvPr>
        </p:nvSpPr>
        <p:spPr>
          <a:xfrm>
            <a:off x="457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R1 est constante quelque soit le cas de figure considéré.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Pour rétablir un niveau de résistance à peu près égal dans les couches myocardiques les résistances autorégulées R2 ⭨ dans l’endocarde.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R2 est la seule résistance adaptable aux besoins métaboliques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 txBox="1"/>
          <p:nvPr>
            <p:ph idx="1" type="body"/>
          </p:nvPr>
        </p:nvSpPr>
        <p:spPr>
          <a:xfrm>
            <a:off x="0" y="214313"/>
            <a:ext cx="8929688" cy="6238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Elle est toujours faible dans les couches sous-endocardiques que ce soit en systole ou en diastole.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Malgré cette compensation: </a:t>
            </a:r>
            <a:endParaRPr/>
          </a:p>
          <a:p>
            <a:pPr indent="-342900" lvl="0" marL="34290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R systolique endocardique &gt; R systolique épicardique.</a:t>
            </a:r>
            <a:endParaRPr/>
          </a:p>
          <a:p>
            <a:pPr indent="-342900" lvl="0" marL="34290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🡺 DSC endocardique &lt; DSC épicardique.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Les couches sous endocardiques ont donc moins de réserve que les couches sous épicardiques, et sont donc plus vulnérables</a:t>
            </a:r>
            <a:r>
              <a:rPr lang="fr-FR" sz="2800"/>
              <a:t>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>
            <p:ph idx="1" type="body"/>
          </p:nvPr>
        </p:nvSpPr>
        <p:spPr>
          <a:xfrm>
            <a:off x="457200" y="620713"/>
            <a:ext cx="4402138" cy="583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Ces 2 paramètres varient de façon plus importante au cours de la contraction cardiaque: le DSC aura des variations cycliques.</a:t>
            </a:r>
            <a:endParaRPr/>
          </a:p>
          <a:p>
            <a:pPr indent="-1905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Ces variations ne sont pas quantitativement identiques dans la CD et la CG du fait des différences de pression dans le VD et le VG.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NB: le DSCG ⭨ en systole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                  ⭧ en diastole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 	le DSCD a une valeur comparable en systole et en diastole.</a:t>
            </a:r>
            <a:endParaRPr/>
          </a:p>
        </p:txBody>
      </p:sp>
      <p:pic>
        <p:nvPicPr>
          <p:cNvPr descr="Physio17" id="320" name="Google Shape;3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0" y="357188"/>
            <a:ext cx="4143375" cy="6138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0"/>
          <p:cNvSpPr txBox="1"/>
          <p:nvPr>
            <p:ph idx="1" type="body"/>
          </p:nvPr>
        </p:nvSpPr>
        <p:spPr>
          <a:xfrm>
            <a:off x="214313" y="285750"/>
            <a:ext cx="4714875" cy="612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b="1" lang="fr-FR" sz="2400">
                <a:latin typeface="Arial"/>
                <a:ea typeface="Arial"/>
                <a:cs typeface="Arial"/>
                <a:sym typeface="Arial"/>
              </a:rPr>
              <a:t>Coronaire gauche: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⭨ brutale du DSC au début de la CIV ou légèrement après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  due à l’⭧ R :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None/>
            </a:pPr>
            <a:r>
              <a:rPr lang="fr-F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Ecrasement mécanique des coronaires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Dès l’ouverture des sigmoïdes, ⭧ de la PAo =&gt; ⭧ DSC qui atteint son maximum systolique avant le sommet de la courbe de P Ao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Pendant la phase d’éjection lente, les résistances coronaires restent élevées et la PAo ⭨ progressivement  =&gt; ⭨ du DSC qui peut être nul en proto diastole</a:t>
            </a:r>
            <a:endParaRPr/>
          </a:p>
        </p:txBody>
      </p:sp>
      <p:pic>
        <p:nvPicPr>
          <p:cNvPr descr="Physio17" id="326" name="Google Shape;3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375" y="765175"/>
            <a:ext cx="3632200" cy="5472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"/>
          <p:cNvSpPr txBox="1"/>
          <p:nvPr>
            <p:ph idx="1" type="body"/>
          </p:nvPr>
        </p:nvSpPr>
        <p:spPr>
          <a:xfrm>
            <a:off x="179388" y="260350"/>
            <a:ext cx="4679950" cy="6408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fr-FR" sz="2300">
                <a:latin typeface="Arial"/>
                <a:ea typeface="Arial"/>
                <a:cs typeface="Arial"/>
                <a:sym typeface="Arial"/>
              </a:rPr>
              <a:t>Après fermeture des valves sigmoïdes, la relaxation ventriculaire gauche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None/>
            </a:pPr>
            <a:r>
              <a:rPr lang="fr-FR" sz="2300">
                <a:latin typeface="Arial"/>
                <a:ea typeface="Arial"/>
                <a:cs typeface="Arial"/>
                <a:sym typeface="Arial"/>
              </a:rPr>
              <a:t>=&gt; ⭨ brutale des résistances Vx coronaires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None/>
            </a:pPr>
            <a:r>
              <a:rPr lang="fr-FR" sz="2300">
                <a:latin typeface="Arial"/>
                <a:ea typeface="Arial"/>
                <a:cs typeface="Arial"/>
                <a:sym typeface="Arial"/>
              </a:rPr>
              <a:t>=&gt;le DSC  remonte rapidement inscrivant sur la courbe un 2</a:t>
            </a:r>
            <a:r>
              <a:rPr baseline="30000" lang="fr-FR" sz="2300">
                <a:latin typeface="Arial"/>
                <a:ea typeface="Arial"/>
                <a:cs typeface="Arial"/>
                <a:sym typeface="Arial"/>
              </a:rPr>
              <a:t>ème</a:t>
            </a:r>
            <a:r>
              <a:rPr lang="fr-FR" sz="2300">
                <a:latin typeface="Arial"/>
                <a:ea typeface="Arial"/>
                <a:cs typeface="Arial"/>
                <a:sym typeface="Arial"/>
              </a:rPr>
              <a:t> pic avant de ⭨ à nouveau //</a:t>
            </a:r>
            <a:r>
              <a:rPr baseline="30000" lang="fr-FR" sz="2300">
                <a:latin typeface="Arial"/>
                <a:ea typeface="Arial"/>
                <a:cs typeface="Arial"/>
                <a:sym typeface="Arial"/>
              </a:rPr>
              <a:t>ment</a:t>
            </a:r>
            <a:r>
              <a:rPr lang="fr-FR" sz="2300">
                <a:latin typeface="Arial"/>
                <a:ea typeface="Arial"/>
                <a:cs typeface="Arial"/>
                <a:sym typeface="Arial"/>
              </a:rPr>
              <a:t> à la ⭨ PAo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None/>
            </a:pPr>
            <a:r>
              <a:rPr lang="fr-FR" sz="2300">
                <a:latin typeface="Arial"/>
                <a:ea typeface="Arial"/>
                <a:cs typeface="Arial"/>
                <a:sym typeface="Arial"/>
              </a:rPr>
              <a:t>La majeur partie du DSC se fait durant la diastole.</a:t>
            </a:r>
            <a:endParaRPr/>
          </a:p>
          <a:p>
            <a:pPr indent="-342900" lvl="0" marL="342900" rtl="0" algn="ctr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None/>
            </a:pPr>
            <a:r>
              <a:rPr lang="fr-FR" sz="2300">
                <a:latin typeface="Arial"/>
                <a:ea typeface="Arial"/>
                <a:cs typeface="Arial"/>
                <a:sym typeface="Arial"/>
              </a:rPr>
              <a:t>    Le flux systolique représente       7 à 45% du flux diastolique.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None/>
            </a:pPr>
            <a:r>
              <a:rPr b="1" lang="fr-FR" sz="2300">
                <a:latin typeface="Arial"/>
                <a:ea typeface="Arial"/>
                <a:cs typeface="Arial"/>
                <a:sym typeface="Arial"/>
              </a:rPr>
              <a:t>Coronaire droite: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fr-FR" sz="2300">
                <a:latin typeface="Arial"/>
                <a:ea typeface="Arial"/>
                <a:cs typeface="Arial"/>
                <a:sym typeface="Arial"/>
              </a:rPr>
              <a:t>La P° intra coronaire &gt; tension pariétale du VD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fr-FR" sz="2300">
                <a:latin typeface="Arial"/>
                <a:ea typeface="Arial"/>
                <a:cs typeface="Arial"/>
                <a:sym typeface="Arial"/>
              </a:rPr>
              <a:t>En systole le DSCD est important, le pic du débit systolique ≥ pic du début diastolique </a:t>
            </a:r>
            <a:endParaRPr/>
          </a:p>
        </p:txBody>
      </p:sp>
      <p:pic>
        <p:nvPicPr>
          <p:cNvPr descr="Physio17" id="332" name="Google Shape;3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375" y="765175"/>
            <a:ext cx="3632200" cy="5472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838200" lvl="0" marL="838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3600">
                <a:latin typeface="Arial"/>
                <a:ea typeface="Arial"/>
                <a:cs typeface="Arial"/>
                <a:sym typeface="Arial"/>
              </a:rPr>
              <a:t>B- RÔLE DE LA FC</a:t>
            </a:r>
            <a:endParaRPr/>
          </a:p>
        </p:txBody>
      </p:sp>
      <p:sp>
        <p:nvSpPr>
          <p:cNvPr id="338" name="Google Shape;338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fr-FR"/>
              <a:t>	</a:t>
            </a:r>
            <a:r>
              <a:rPr lang="fr-FR" sz="2800">
                <a:latin typeface="Arial"/>
                <a:ea typeface="Arial"/>
                <a:cs typeface="Arial"/>
                <a:sym typeface="Arial"/>
              </a:rPr>
              <a:t>Les variations de la Fc =&gt; par deux mécanismes différents des variations opposées du DSC qui ont tendance à se compenser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None/>
            </a:pPr>
            <a:r>
              <a:rPr lang="fr-FR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Les variations de la Fc ont peu d’effet sur le DSC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3"/>
          <p:cNvSpPr txBox="1"/>
          <p:nvPr>
            <p:ph type="title"/>
          </p:nvPr>
        </p:nvSpPr>
        <p:spPr>
          <a:xfrm>
            <a:off x="395288" y="188913"/>
            <a:ext cx="8229600" cy="1052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C - RÔLE DE LA MVO</a:t>
            </a:r>
            <a:r>
              <a:rPr baseline="-25000" lang="fr-FR" sz="2800">
                <a:latin typeface="Arial"/>
                <a:ea typeface="Arial"/>
                <a:cs typeface="Arial"/>
                <a:sym typeface="Arial"/>
              </a:rPr>
              <a:t>2</a:t>
            </a:r>
            <a:br>
              <a:rPr baseline="-25000" lang="fr-FR" sz="2800">
                <a:latin typeface="Arial"/>
                <a:ea typeface="Arial"/>
                <a:cs typeface="Arial"/>
                <a:sym typeface="Arial"/>
              </a:rPr>
            </a:br>
            <a:r>
              <a:rPr lang="fr-FR" sz="2400">
                <a:latin typeface="Arial"/>
                <a:ea typeface="Arial"/>
                <a:cs typeface="Arial"/>
                <a:sym typeface="Arial"/>
              </a:rPr>
              <a:t>phénomène d’autorégulation du débit coronaire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3"/>
          <p:cNvSpPr txBox="1"/>
          <p:nvPr>
            <p:ph idx="1" type="body"/>
          </p:nvPr>
        </p:nvSpPr>
        <p:spPr>
          <a:xfrm>
            <a:off x="323850" y="1700213"/>
            <a:ext cx="8435975" cy="4681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Le DSC s’adapte aux besoins en O</a:t>
            </a:r>
            <a:r>
              <a:rPr baseline="-25000" lang="fr-FR" sz="2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 du myocarde, tant que la pression de perfusion reste dans les limites physiologiques </a:t>
            </a:r>
            <a:r>
              <a:rPr lang="fr-F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[70-140] mm Hg.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Dans ces limites, du fait de la vasomotricité coronaire, il s’établit un état d’équilibre entre la pression de perfusion et les résistances Vx </a:t>
            </a:r>
            <a:r>
              <a:rPr baseline="30000" lang="fr-FR" sz="2400">
                <a:latin typeface="Arial"/>
                <a:ea typeface="Arial"/>
                <a:cs typeface="Arial"/>
                <a:sym typeface="Arial"/>
              </a:rPr>
              <a:t>aires</a:t>
            </a:r>
            <a:r>
              <a:rPr lang="fr-FR" sz="2400">
                <a:latin typeface="Arial"/>
                <a:ea typeface="Arial"/>
                <a:cs typeface="Arial"/>
                <a:sym typeface="Arial"/>
              </a:rPr>
              <a:t>, de sorte que le débit reste constant et étroitement lié aux besoins métaboliques du myocarde en O</a:t>
            </a:r>
            <a:r>
              <a:rPr baseline="-25000" lang="fr-FR" sz="2400"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4"/>
          <p:cNvSpPr txBox="1"/>
          <p:nvPr>
            <p:ph idx="2" type="body"/>
          </p:nvPr>
        </p:nvSpPr>
        <p:spPr>
          <a:xfrm>
            <a:off x="0" y="4652963"/>
            <a:ext cx="9644063" cy="201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2000"/>
              <a:buFont typeface="Arial"/>
              <a:buChar char="•"/>
            </a:pPr>
            <a:r>
              <a:rPr lang="fr-FR" sz="2000">
                <a:latin typeface="Arial"/>
                <a:ea typeface="Arial"/>
                <a:cs typeface="Arial"/>
                <a:sym typeface="Arial"/>
              </a:rPr>
              <a:t>La ⭨ P° de perfusion</a:t>
            </a:r>
            <a:r>
              <a:rPr lang="fr-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 70 mm Hg</a:t>
            </a:r>
            <a:r>
              <a:rPr lang="fr-FR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2000">
                <a:latin typeface="Arial"/>
                <a:ea typeface="Arial"/>
                <a:cs typeface="Arial"/>
                <a:sym typeface="Arial"/>
              </a:rPr>
              <a:t>=&gt; vasodilatation coronaire.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2000"/>
              <a:buFont typeface="Noto Sans Symbols"/>
              <a:buNone/>
            </a:pPr>
            <a:r>
              <a:rPr lang="fr-FR" sz="2000">
                <a:latin typeface="Arial"/>
                <a:ea typeface="Arial"/>
                <a:cs typeface="Arial"/>
                <a:sym typeface="Arial"/>
              </a:rPr>
              <a:t>  elle est maximum et le DSC est incapable de s’adapter à une nouvelle ⭨ de P°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2000"/>
              <a:buFont typeface="Arial"/>
              <a:buChar char="•"/>
            </a:pPr>
            <a:r>
              <a:rPr lang="fr-FR" sz="2000">
                <a:latin typeface="Arial"/>
                <a:ea typeface="Arial"/>
                <a:cs typeface="Arial"/>
                <a:sym typeface="Arial"/>
              </a:rPr>
              <a:t>L’⭧ de P° de perfusion </a:t>
            </a:r>
            <a:r>
              <a:rPr b="1" lang="fr-FR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&gt; 140 mm Hg</a:t>
            </a:r>
            <a:r>
              <a:rPr lang="fr-FR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2000">
                <a:latin typeface="Arial"/>
                <a:ea typeface="Arial"/>
                <a:cs typeface="Arial"/>
                <a:sym typeface="Arial"/>
              </a:rPr>
              <a:t>=&gt; vasoconstriction coronaire.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2000"/>
              <a:buFont typeface="Noto Sans Symbols"/>
              <a:buNone/>
            </a:pPr>
            <a:r>
              <a:rPr lang="fr-FR" sz="2000">
                <a:latin typeface="Arial"/>
                <a:ea typeface="Arial"/>
                <a:cs typeface="Arial"/>
                <a:sym typeface="Arial"/>
              </a:rPr>
              <a:t> elle est maximum et toute ⭧ de pression de perfusion =&gt; ⭧ DSC.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2000"/>
              <a:buFont typeface="Arial"/>
              <a:buChar char="•"/>
            </a:pPr>
            <a:r>
              <a:rPr lang="fr-FR" sz="2000">
                <a:latin typeface="Arial"/>
                <a:ea typeface="Arial"/>
                <a:cs typeface="Arial"/>
                <a:sym typeface="Arial"/>
              </a:rPr>
              <a:t> à PP Cte le DSC ⭧ ou ⭨ selon que </a:t>
            </a:r>
            <a:r>
              <a:rPr b="1" lang="fr-FR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 besoin métabolique</a:t>
            </a:r>
            <a:r>
              <a:rPr lang="fr-FR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2000">
                <a:latin typeface="Arial"/>
                <a:ea typeface="Arial"/>
                <a:cs typeface="Arial"/>
                <a:sym typeface="Arial"/>
              </a:rPr>
              <a:t>⭧ ou ⭨.</a:t>
            </a:r>
            <a:endParaRPr/>
          </a:p>
        </p:txBody>
      </p:sp>
      <p:cxnSp>
        <p:nvCxnSpPr>
          <p:cNvPr id="350" name="Google Shape;350;p24"/>
          <p:cNvCxnSpPr/>
          <p:nvPr/>
        </p:nvCxnSpPr>
        <p:spPr>
          <a:xfrm>
            <a:off x="971550" y="188913"/>
            <a:ext cx="0" cy="352901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51" name="Google Shape;351;p24"/>
          <p:cNvCxnSpPr/>
          <p:nvPr/>
        </p:nvCxnSpPr>
        <p:spPr>
          <a:xfrm>
            <a:off x="971550" y="3716338"/>
            <a:ext cx="74882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2" name="Google Shape;352;p24"/>
          <p:cNvCxnSpPr/>
          <p:nvPr/>
        </p:nvCxnSpPr>
        <p:spPr>
          <a:xfrm>
            <a:off x="900113" y="549275"/>
            <a:ext cx="1428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24"/>
          <p:cNvCxnSpPr/>
          <p:nvPr/>
        </p:nvCxnSpPr>
        <p:spPr>
          <a:xfrm>
            <a:off x="900113" y="1268413"/>
            <a:ext cx="1428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24"/>
          <p:cNvCxnSpPr/>
          <p:nvPr/>
        </p:nvCxnSpPr>
        <p:spPr>
          <a:xfrm>
            <a:off x="900113" y="1989138"/>
            <a:ext cx="1428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24"/>
          <p:cNvCxnSpPr/>
          <p:nvPr/>
        </p:nvCxnSpPr>
        <p:spPr>
          <a:xfrm>
            <a:off x="900113" y="2708275"/>
            <a:ext cx="1428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24"/>
          <p:cNvCxnSpPr/>
          <p:nvPr/>
        </p:nvCxnSpPr>
        <p:spPr>
          <a:xfrm>
            <a:off x="8172450" y="3644900"/>
            <a:ext cx="0" cy="1444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24"/>
          <p:cNvCxnSpPr/>
          <p:nvPr/>
        </p:nvCxnSpPr>
        <p:spPr>
          <a:xfrm>
            <a:off x="7451725" y="3644900"/>
            <a:ext cx="0" cy="1444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24"/>
          <p:cNvCxnSpPr/>
          <p:nvPr/>
        </p:nvCxnSpPr>
        <p:spPr>
          <a:xfrm>
            <a:off x="6732588" y="3644900"/>
            <a:ext cx="0" cy="1444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24"/>
          <p:cNvCxnSpPr/>
          <p:nvPr/>
        </p:nvCxnSpPr>
        <p:spPr>
          <a:xfrm>
            <a:off x="6011863" y="3644900"/>
            <a:ext cx="0" cy="1444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24"/>
          <p:cNvCxnSpPr/>
          <p:nvPr/>
        </p:nvCxnSpPr>
        <p:spPr>
          <a:xfrm>
            <a:off x="5292725" y="3644900"/>
            <a:ext cx="0" cy="1444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24"/>
          <p:cNvCxnSpPr/>
          <p:nvPr/>
        </p:nvCxnSpPr>
        <p:spPr>
          <a:xfrm>
            <a:off x="4572000" y="3644900"/>
            <a:ext cx="0" cy="1444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24"/>
          <p:cNvCxnSpPr/>
          <p:nvPr/>
        </p:nvCxnSpPr>
        <p:spPr>
          <a:xfrm>
            <a:off x="3851275" y="3644900"/>
            <a:ext cx="0" cy="1444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" name="Google Shape;363;p24"/>
          <p:cNvCxnSpPr/>
          <p:nvPr/>
        </p:nvCxnSpPr>
        <p:spPr>
          <a:xfrm>
            <a:off x="3132138" y="3644900"/>
            <a:ext cx="0" cy="1444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" name="Google Shape;364;p24"/>
          <p:cNvCxnSpPr/>
          <p:nvPr/>
        </p:nvCxnSpPr>
        <p:spPr>
          <a:xfrm>
            <a:off x="2411413" y="3644900"/>
            <a:ext cx="0" cy="1444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" name="Google Shape;365;p24"/>
          <p:cNvCxnSpPr/>
          <p:nvPr/>
        </p:nvCxnSpPr>
        <p:spPr>
          <a:xfrm>
            <a:off x="1692275" y="3644900"/>
            <a:ext cx="0" cy="1444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24"/>
          <p:cNvSpPr/>
          <p:nvPr/>
        </p:nvSpPr>
        <p:spPr>
          <a:xfrm>
            <a:off x="1116013" y="3860800"/>
            <a:ext cx="7704137" cy="360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20        40       60        80      100      120      140     160     180    200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" name="Google Shape;367;p24"/>
          <p:cNvCxnSpPr/>
          <p:nvPr/>
        </p:nvCxnSpPr>
        <p:spPr>
          <a:xfrm rot="10800000">
            <a:off x="3492500" y="549275"/>
            <a:ext cx="0" cy="316706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</p:cxnSp>
      <p:cxnSp>
        <p:nvCxnSpPr>
          <p:cNvPr id="368" name="Google Shape;368;p24"/>
          <p:cNvCxnSpPr/>
          <p:nvPr/>
        </p:nvCxnSpPr>
        <p:spPr>
          <a:xfrm rot="10800000">
            <a:off x="6011863" y="476250"/>
            <a:ext cx="0" cy="32400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</p:cxnSp>
      <p:sp>
        <p:nvSpPr>
          <p:cNvPr id="369" name="Google Shape;369;p24"/>
          <p:cNvSpPr/>
          <p:nvPr/>
        </p:nvSpPr>
        <p:spPr>
          <a:xfrm rot="-5400000">
            <a:off x="540544" y="261144"/>
            <a:ext cx="4318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4"/>
          <p:cNvSpPr/>
          <p:nvPr/>
        </p:nvSpPr>
        <p:spPr>
          <a:xfrm rot="-5400000">
            <a:off x="538957" y="1124744"/>
            <a:ext cx="431800" cy="287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4"/>
          <p:cNvSpPr/>
          <p:nvPr/>
        </p:nvSpPr>
        <p:spPr>
          <a:xfrm rot="-5400000">
            <a:off x="575469" y="1808957"/>
            <a:ext cx="431800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4"/>
          <p:cNvSpPr/>
          <p:nvPr/>
        </p:nvSpPr>
        <p:spPr>
          <a:xfrm rot="-5400000">
            <a:off x="648494" y="2456657"/>
            <a:ext cx="287338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4"/>
          <p:cNvSpPr/>
          <p:nvPr/>
        </p:nvSpPr>
        <p:spPr>
          <a:xfrm>
            <a:off x="1692275" y="765175"/>
            <a:ext cx="6048375" cy="2951163"/>
          </a:xfrm>
          <a:custGeom>
            <a:rect b="b" l="l" r="r" t="t"/>
            <a:pathLst>
              <a:path extrusionOk="0" h="1859" w="3810">
                <a:moveTo>
                  <a:pt x="0" y="1859"/>
                </a:moveTo>
                <a:cubicBezTo>
                  <a:pt x="340" y="1549"/>
                  <a:pt x="681" y="1239"/>
                  <a:pt x="1134" y="1043"/>
                </a:cubicBezTo>
                <a:cubicBezTo>
                  <a:pt x="1587" y="847"/>
                  <a:pt x="2275" y="854"/>
                  <a:pt x="2721" y="680"/>
                </a:cubicBezTo>
                <a:cubicBezTo>
                  <a:pt x="3167" y="506"/>
                  <a:pt x="3488" y="253"/>
                  <a:pt x="3810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4"/>
          <p:cNvSpPr/>
          <p:nvPr/>
        </p:nvSpPr>
        <p:spPr>
          <a:xfrm>
            <a:off x="1692275" y="1000125"/>
            <a:ext cx="6451600" cy="2716213"/>
          </a:xfrm>
          <a:custGeom>
            <a:rect b="b" l="l" r="r" t="t"/>
            <a:pathLst>
              <a:path extrusionOk="0" h="1678" w="4037">
                <a:moveTo>
                  <a:pt x="0" y="1678"/>
                </a:moveTo>
                <a:cubicBezTo>
                  <a:pt x="340" y="1432"/>
                  <a:pt x="680" y="1187"/>
                  <a:pt x="1134" y="1043"/>
                </a:cubicBezTo>
                <a:cubicBezTo>
                  <a:pt x="1588" y="899"/>
                  <a:pt x="2237" y="991"/>
                  <a:pt x="2721" y="817"/>
                </a:cubicBezTo>
                <a:cubicBezTo>
                  <a:pt x="3205" y="643"/>
                  <a:pt x="3803" y="151"/>
                  <a:pt x="4037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4"/>
          <p:cNvSpPr/>
          <p:nvPr/>
        </p:nvSpPr>
        <p:spPr>
          <a:xfrm>
            <a:off x="1692275" y="404813"/>
            <a:ext cx="5832475" cy="3311525"/>
          </a:xfrm>
          <a:custGeom>
            <a:rect b="b" l="l" r="r" t="t"/>
            <a:pathLst>
              <a:path extrusionOk="0" h="2086" w="3674">
                <a:moveTo>
                  <a:pt x="0" y="2086"/>
                </a:moveTo>
                <a:cubicBezTo>
                  <a:pt x="340" y="1613"/>
                  <a:pt x="681" y="1141"/>
                  <a:pt x="1134" y="907"/>
                </a:cubicBezTo>
                <a:cubicBezTo>
                  <a:pt x="1587" y="673"/>
                  <a:pt x="2298" y="831"/>
                  <a:pt x="2721" y="680"/>
                </a:cubicBezTo>
                <a:cubicBezTo>
                  <a:pt x="3144" y="529"/>
                  <a:pt x="3515" y="113"/>
                  <a:pt x="3674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4"/>
          <p:cNvSpPr/>
          <p:nvPr/>
        </p:nvSpPr>
        <p:spPr>
          <a:xfrm>
            <a:off x="4067175" y="1412875"/>
            <a:ext cx="1009650" cy="3603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MVO2 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4"/>
          <p:cNvSpPr/>
          <p:nvPr/>
        </p:nvSpPr>
        <p:spPr>
          <a:xfrm>
            <a:off x="3995738" y="1989138"/>
            <a:ext cx="863600" cy="2873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3995738" y="2349500"/>
            <a:ext cx="1008062" cy="43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MVO2 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1331913" y="836613"/>
            <a:ext cx="1944687" cy="8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VASODILATATION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MAXIMUM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3635375" y="0"/>
            <a:ext cx="2232025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AUTOREGULATION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6372225" y="2492375"/>
            <a:ext cx="2447925" cy="792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VASOCONSTRICTION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MAXIMUM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4"/>
          <p:cNvSpPr/>
          <p:nvPr/>
        </p:nvSpPr>
        <p:spPr>
          <a:xfrm rot="-5400000">
            <a:off x="-1732756" y="1732756"/>
            <a:ext cx="4005263" cy="539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Débit circonflexe [ml / 100g myoc / mn]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2916238" y="4221163"/>
            <a:ext cx="3671887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 de perfusion [ mm Hg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5"/>
          <p:cNvSpPr txBox="1"/>
          <p:nvPr>
            <p:ph idx="1" type="body"/>
          </p:nvPr>
        </p:nvSpPr>
        <p:spPr>
          <a:xfrm>
            <a:off x="457200" y="620713"/>
            <a:ext cx="822960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Pour expliquer le phénomène de l’autorégulation du DSC, 3 théories ont été proposée: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Hypothèse myogène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Rôle du système nerveux autonome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Théorie métabolique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6"/>
          <p:cNvSpPr txBox="1"/>
          <p:nvPr>
            <p:ph type="title"/>
          </p:nvPr>
        </p:nvSpPr>
        <p:spPr>
          <a:xfrm>
            <a:off x="468313" y="0"/>
            <a:ext cx="8229600" cy="7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838200" lvl="0" marL="838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Hypothèse myogène</a:t>
            </a:r>
            <a:endParaRPr/>
          </a:p>
        </p:txBody>
      </p:sp>
      <p:sp>
        <p:nvSpPr>
          <p:cNvPr id="394" name="Google Shape;394;p26"/>
          <p:cNvSpPr txBox="1"/>
          <p:nvPr>
            <p:ph idx="1" type="body"/>
          </p:nvPr>
        </p:nvSpPr>
        <p:spPr>
          <a:xfrm>
            <a:off x="395288" y="908050"/>
            <a:ext cx="4038600" cy="4784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⭧ Perfusion coronaire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Etirement des muscles lisses Vx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Vasoconstriction coronaire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⭧ Résistance coronaire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Retour du DSC à des valeurs de contrôle</a:t>
            </a:r>
            <a:endParaRPr/>
          </a:p>
        </p:txBody>
      </p:sp>
      <p:sp>
        <p:nvSpPr>
          <p:cNvPr id="395" name="Google Shape;395;p26"/>
          <p:cNvSpPr txBox="1"/>
          <p:nvPr>
            <p:ph idx="2" type="body"/>
          </p:nvPr>
        </p:nvSpPr>
        <p:spPr>
          <a:xfrm>
            <a:off x="4572000" y="908050"/>
            <a:ext cx="4038600" cy="4784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⭨ Perfusion coronaire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Vasodilatation coronaire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⭨ Résistance coronaire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Retour du DSC à des valeurs de contrôle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96" name="Google Shape;396;p26"/>
          <p:cNvSpPr/>
          <p:nvPr/>
        </p:nvSpPr>
        <p:spPr>
          <a:xfrm>
            <a:off x="2411413" y="1341438"/>
            <a:ext cx="144462" cy="504825"/>
          </a:xfrm>
          <a:prstGeom prst="downArrow">
            <a:avLst>
              <a:gd fmla="val 50000" name="adj1"/>
              <a:gd fmla="val 87363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6"/>
          <p:cNvSpPr/>
          <p:nvPr/>
        </p:nvSpPr>
        <p:spPr>
          <a:xfrm>
            <a:off x="2411413" y="2565400"/>
            <a:ext cx="144462" cy="504825"/>
          </a:xfrm>
          <a:prstGeom prst="downArrow">
            <a:avLst>
              <a:gd fmla="val 50000" name="adj1"/>
              <a:gd fmla="val 87363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6"/>
          <p:cNvSpPr/>
          <p:nvPr/>
        </p:nvSpPr>
        <p:spPr>
          <a:xfrm>
            <a:off x="2411413" y="3429000"/>
            <a:ext cx="144462" cy="504825"/>
          </a:xfrm>
          <a:prstGeom prst="downArrow">
            <a:avLst>
              <a:gd fmla="val 50000" name="adj1"/>
              <a:gd fmla="val 87363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6"/>
          <p:cNvSpPr/>
          <p:nvPr/>
        </p:nvSpPr>
        <p:spPr>
          <a:xfrm>
            <a:off x="2411413" y="4292600"/>
            <a:ext cx="144462" cy="504825"/>
          </a:xfrm>
          <a:prstGeom prst="downArrow">
            <a:avLst>
              <a:gd fmla="val 50000" name="adj1"/>
              <a:gd fmla="val 87363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6"/>
          <p:cNvSpPr/>
          <p:nvPr/>
        </p:nvSpPr>
        <p:spPr>
          <a:xfrm>
            <a:off x="6516688" y="1341438"/>
            <a:ext cx="215900" cy="863600"/>
          </a:xfrm>
          <a:prstGeom prst="downArrow">
            <a:avLst>
              <a:gd fmla="val 50000" name="adj1"/>
              <a:gd fmla="val 10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6"/>
          <p:cNvSpPr/>
          <p:nvPr/>
        </p:nvSpPr>
        <p:spPr>
          <a:xfrm>
            <a:off x="6516688" y="2708275"/>
            <a:ext cx="215900" cy="792163"/>
          </a:xfrm>
          <a:prstGeom prst="downArrow">
            <a:avLst>
              <a:gd fmla="val 50000" name="adj1"/>
              <a:gd fmla="val 9172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6"/>
          <p:cNvSpPr/>
          <p:nvPr/>
        </p:nvSpPr>
        <p:spPr>
          <a:xfrm>
            <a:off x="6516688" y="4005263"/>
            <a:ext cx="215900" cy="863600"/>
          </a:xfrm>
          <a:prstGeom prst="downArrow">
            <a:avLst>
              <a:gd fmla="val 50000" name="adj1"/>
              <a:gd fmla="val 10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7"/>
          <p:cNvSpPr txBox="1"/>
          <p:nvPr>
            <p:ph type="title"/>
          </p:nvPr>
        </p:nvSpPr>
        <p:spPr>
          <a:xfrm>
            <a:off x="395536" y="980728"/>
            <a:ext cx="8229600" cy="7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838200" lvl="0" marL="838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Hypothèse myogène</a:t>
            </a: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382238" y="2276872"/>
            <a:ext cx="7704856" cy="119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-FR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Il n’existe aucune preuve formelle du rôle déterminant </a:t>
            </a:r>
            <a:endParaRPr b="0" i="0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-FR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 ce mécanisme dans la régulation du DSC.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-FR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Ce mécanisme reste II</a:t>
            </a:r>
            <a:r>
              <a:rPr b="0" baseline="30000" i="0" lang="fr-FR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aire</a:t>
            </a:r>
            <a:r>
              <a:rPr b="0" i="0" lang="fr-FR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s’il existe</a:t>
            </a:r>
            <a:r>
              <a:rPr b="0" i="0" lang="fr-FR" sz="2800" u="none" cap="none" strike="noStrik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/>
          <p:nvPr>
            <p:ph type="title"/>
          </p:nvPr>
        </p:nvSpPr>
        <p:spPr>
          <a:xfrm>
            <a:off x="214313" y="277813"/>
            <a:ext cx="9215437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fr-FR" sz="3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800">
                <a:latin typeface="Arial"/>
                <a:ea typeface="Arial"/>
                <a:cs typeface="Arial"/>
                <a:sym typeface="Arial"/>
              </a:rPr>
              <a:t>2.   Rôle du système nerveux autonome</a:t>
            </a:r>
            <a:endParaRPr/>
          </a:p>
        </p:txBody>
      </p:sp>
      <p:sp>
        <p:nvSpPr>
          <p:cNvPr id="414" name="Google Shape;414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Innervation Sympathique des Vx Coronaires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L’action des catécholamines sur la circulation coronaire est  la résultante de leur action vasoconstrictrice et vasodilatatrice.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415" name="Google Shape;415;p28"/>
          <p:cNvSpPr/>
          <p:nvPr/>
        </p:nvSpPr>
        <p:spPr>
          <a:xfrm>
            <a:off x="500063" y="4429125"/>
            <a:ext cx="3743325" cy="2016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α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Effet Vasoconstricteur direct sur les Vx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8"/>
          <p:cNvSpPr/>
          <p:nvPr/>
        </p:nvSpPr>
        <p:spPr>
          <a:xfrm>
            <a:off x="5076825" y="4365625"/>
            <a:ext cx="3749675" cy="213518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Effet vasodilatateur direct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 les Vx et indirect sur le myocarde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(⭧ contractilité)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8"/>
          <p:cNvSpPr/>
          <p:nvPr/>
        </p:nvSpPr>
        <p:spPr>
          <a:xfrm>
            <a:off x="4500563" y="5072063"/>
            <a:ext cx="3190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9"/>
          <p:cNvSpPr txBox="1"/>
          <p:nvPr>
            <p:ph type="title"/>
          </p:nvPr>
        </p:nvSpPr>
        <p:spPr>
          <a:xfrm>
            <a:off x="500063" y="0"/>
            <a:ext cx="8429625" cy="963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838200" lvl="0" marL="838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800">
                <a:latin typeface="Arial"/>
                <a:ea typeface="Arial"/>
                <a:cs typeface="Arial"/>
                <a:sym typeface="Arial"/>
              </a:rPr>
              <a:t>2.Rôle du système nerveux autonome</a:t>
            </a:r>
            <a:endParaRPr/>
          </a:p>
        </p:txBody>
      </p:sp>
      <p:sp>
        <p:nvSpPr>
          <p:cNvPr id="423" name="Google Shape;423;p29"/>
          <p:cNvSpPr txBox="1"/>
          <p:nvPr>
            <p:ph idx="1" type="body"/>
          </p:nvPr>
        </p:nvSpPr>
        <p:spPr>
          <a:xfrm>
            <a:off x="428625" y="1643063"/>
            <a:ext cx="8229600" cy="3071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L’innervation parasympathique des Vx coronaires est connue, mais le rôle direct du vague est difficile à mettre en évidence.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L’existence d’une vasomotricité coronaire (directe ou indirecte)sous l’influence du SNA ne fait aucun doute cependant, son rôle dans la régulation du DSC n’est pas élucidé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0"/>
          <p:cNvSpPr/>
          <p:nvPr/>
        </p:nvSpPr>
        <p:spPr>
          <a:xfrm>
            <a:off x="285750" y="642938"/>
            <a:ext cx="8280400" cy="1484312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-1028700" lvl="0" marL="1028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 startAt="3"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THÉORIE MÉTABOLIQUE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0"/>
          <p:cNvSpPr/>
          <p:nvPr/>
        </p:nvSpPr>
        <p:spPr>
          <a:xfrm>
            <a:off x="2124075" y="3068638"/>
            <a:ext cx="53292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plus admise actuellement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0"/>
          <p:cNvSpPr txBox="1"/>
          <p:nvPr>
            <p:ph idx="1" type="subTitle"/>
          </p:nvPr>
        </p:nvSpPr>
        <p:spPr>
          <a:xfrm>
            <a:off x="1331913" y="3933825"/>
            <a:ext cx="6400800" cy="1439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fr-F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a) Rôle de l’O</a:t>
            </a:r>
            <a:r>
              <a:rPr baseline="-25000" lang="fr-F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609600" lvl="0" marL="6096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00"/>
              </a:buClr>
              <a:buSzPts val="3200"/>
              <a:buNone/>
            </a:pPr>
            <a:r>
              <a:rPr lang="fr-F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b) Adénosine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1"/>
          <p:cNvSpPr txBox="1"/>
          <p:nvPr>
            <p:ph type="title"/>
          </p:nvPr>
        </p:nvSpPr>
        <p:spPr>
          <a:xfrm>
            <a:off x="395288" y="158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838200" lvl="0" marL="838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3200">
                <a:latin typeface="Arial"/>
                <a:ea typeface="Arial"/>
                <a:cs typeface="Arial"/>
                <a:sym typeface="Arial"/>
              </a:rPr>
              <a:t>a) Rôle de l’O</a:t>
            </a:r>
            <a:r>
              <a:rPr baseline="-25000" lang="fr-FR" sz="3200"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36" name="Google Shape;436;p31"/>
          <p:cNvSpPr txBox="1"/>
          <p:nvPr>
            <p:ph idx="1" type="body"/>
          </p:nvPr>
        </p:nvSpPr>
        <p:spPr>
          <a:xfrm>
            <a:off x="214313" y="793750"/>
            <a:ext cx="8929687" cy="5875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None/>
            </a:pPr>
            <a:r>
              <a:rPr b="1" i="1" lang="fr-F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L’O</a:t>
            </a:r>
            <a:r>
              <a:rPr b="1" baseline="-25000" i="1" lang="fr-F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1" lang="fr-F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 un effet vasoactif important sur les Vx résistif des coronaires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fr-FR" sz="2600">
                <a:latin typeface="Arial"/>
                <a:ea typeface="Arial"/>
                <a:cs typeface="Arial"/>
                <a:sym typeface="Arial"/>
              </a:rPr>
              <a:t>Il a été démontré par HILTON-ALGHOLTZ 1925 que le tonus vasculaire était directement proportionnel à la PaO</a:t>
            </a:r>
            <a:r>
              <a:rPr baseline="-25000" lang="fr-FR" sz="26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fr-FR" sz="26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fr-FR" sz="2600">
                <a:latin typeface="Arial"/>
                <a:ea typeface="Arial"/>
                <a:cs typeface="Arial"/>
                <a:sym typeface="Arial"/>
              </a:rPr>
              <a:t>⭨ PaO</a:t>
            </a:r>
            <a:r>
              <a:rPr baseline="-25000" lang="fr-FR" sz="26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fr-FR" sz="2600">
                <a:latin typeface="Arial"/>
                <a:ea typeface="Arial"/>
                <a:cs typeface="Arial"/>
                <a:sym typeface="Arial"/>
              </a:rPr>
              <a:t> (hypoxémie)                      vasodilatation directe   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fr-FR" sz="2600">
                <a:latin typeface="Arial"/>
                <a:ea typeface="Arial"/>
                <a:cs typeface="Arial"/>
                <a:sym typeface="Arial"/>
              </a:rPr>
              <a:t>                  protégeant le myocarde de l’hypoxie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fr-FR" sz="2600">
                <a:latin typeface="Arial"/>
                <a:ea typeface="Arial"/>
                <a:cs typeface="Arial"/>
                <a:sym typeface="Arial"/>
              </a:rPr>
              <a:t>Plus récemment il a été montré que:</a:t>
            </a:r>
            <a:endParaRPr/>
          </a:p>
          <a:p>
            <a:pPr indent="-342900" lvl="0" marL="342900" rtl="0" algn="ctr">
              <a:lnSpc>
                <a:spcPct val="9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fr-FR" sz="2600">
                <a:latin typeface="Arial"/>
                <a:ea typeface="Arial"/>
                <a:cs typeface="Arial"/>
                <a:sym typeface="Arial"/>
              </a:rPr>
              <a:t> Oxygénation hyperbare  🡺 vasoconstriction</a:t>
            </a:r>
            <a:endParaRPr/>
          </a:p>
          <a:p>
            <a:pPr indent="-342900" lvl="0" marL="342900" rtl="0" algn="ctr">
              <a:lnSpc>
                <a:spcPct val="9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fr-FR" sz="2600">
                <a:latin typeface="Arial"/>
                <a:ea typeface="Arial"/>
                <a:cs typeface="Arial"/>
                <a:sym typeface="Arial"/>
              </a:rPr>
              <a:t>Hypoxie                         🡺  vasodilatation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fr-FR" sz="2600">
                <a:latin typeface="Arial"/>
                <a:ea typeface="Arial"/>
                <a:cs typeface="Arial"/>
                <a:sym typeface="Arial"/>
              </a:rPr>
              <a:t>Cependant le rôle exact de l’O2 à l’état physiologique et son mécanisme d’action sont actuellement encore discutés.</a:t>
            </a:r>
            <a:endParaRPr/>
          </a:p>
        </p:txBody>
      </p:sp>
      <p:sp>
        <p:nvSpPr>
          <p:cNvPr id="437" name="Google Shape;437;p31"/>
          <p:cNvSpPr/>
          <p:nvPr/>
        </p:nvSpPr>
        <p:spPr>
          <a:xfrm>
            <a:off x="3357563" y="2928938"/>
            <a:ext cx="1296987" cy="360362"/>
          </a:xfrm>
          <a:prstGeom prst="rightArrow">
            <a:avLst>
              <a:gd fmla="val 50000" name="adj1"/>
              <a:gd fmla="val 89978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2"/>
          <p:cNvSpPr txBox="1"/>
          <p:nvPr>
            <p:ph idx="1" type="body"/>
          </p:nvPr>
        </p:nvSpPr>
        <p:spPr>
          <a:xfrm>
            <a:off x="457200" y="642938"/>
            <a:ext cx="8229600" cy="5881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Théoriquement, 2 mécanismes peuvent être proposés: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Directement sur la paroi des Vx coronaires (ajuste les apports aux besoins).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Indirectement  par l’intermédiaire d’une substance vasodilatatrice libérée par le myocarde sous l’influence de l’hypoxie.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(Adénosine)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3"/>
          <p:cNvSpPr/>
          <p:nvPr/>
        </p:nvSpPr>
        <p:spPr>
          <a:xfrm>
            <a:off x="4067175" y="5157788"/>
            <a:ext cx="1104900" cy="334962"/>
          </a:xfrm>
          <a:custGeom>
            <a:rect b="b" l="l" r="r" t="t"/>
            <a:pathLst>
              <a:path extrusionOk="0" h="211" w="696">
                <a:moveTo>
                  <a:pt x="635" y="0"/>
                </a:moveTo>
                <a:cubicBezTo>
                  <a:pt x="665" y="75"/>
                  <a:pt x="696" y="151"/>
                  <a:pt x="590" y="181"/>
                </a:cubicBezTo>
                <a:cubicBezTo>
                  <a:pt x="484" y="211"/>
                  <a:pt x="106" y="181"/>
                  <a:pt x="0" y="181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3"/>
          <p:cNvSpPr/>
          <p:nvPr/>
        </p:nvSpPr>
        <p:spPr>
          <a:xfrm>
            <a:off x="179388" y="188913"/>
            <a:ext cx="2592387" cy="503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ARTERIOLE CORONAIRE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3"/>
          <p:cNvSpPr/>
          <p:nvPr/>
        </p:nvSpPr>
        <p:spPr>
          <a:xfrm>
            <a:off x="3348038" y="476250"/>
            <a:ext cx="1871662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INTERSTITIUM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3"/>
          <p:cNvSpPr/>
          <p:nvPr/>
        </p:nvSpPr>
        <p:spPr>
          <a:xfrm>
            <a:off x="6084888" y="404813"/>
            <a:ext cx="28797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CELLULE MYOCARDIQUE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3"/>
          <p:cNvSpPr/>
          <p:nvPr/>
        </p:nvSpPr>
        <p:spPr>
          <a:xfrm rot="3052855">
            <a:off x="756444" y="840582"/>
            <a:ext cx="720725" cy="1512887"/>
          </a:xfrm>
          <a:prstGeom prst="ellipse">
            <a:avLst/>
          </a:prstGeom>
          <a:noFill/>
          <a:ln cap="flat" cmpd="dbl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3"/>
          <p:cNvSpPr/>
          <p:nvPr/>
        </p:nvSpPr>
        <p:spPr>
          <a:xfrm rot="-4528484">
            <a:off x="1042988" y="4510088"/>
            <a:ext cx="647700" cy="1511300"/>
          </a:xfrm>
          <a:prstGeom prst="ellipse">
            <a:avLst/>
          </a:prstGeom>
          <a:noFill/>
          <a:ln cap="flat" cmpd="dbl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3"/>
          <p:cNvSpPr/>
          <p:nvPr/>
        </p:nvSpPr>
        <p:spPr>
          <a:xfrm>
            <a:off x="539750" y="2060575"/>
            <a:ext cx="215900" cy="2952750"/>
          </a:xfrm>
          <a:custGeom>
            <a:rect b="b" l="l" r="r" t="t"/>
            <a:pathLst>
              <a:path extrusionOk="0" h="1860" w="196">
                <a:moveTo>
                  <a:pt x="0" y="0"/>
                </a:moveTo>
                <a:cubicBezTo>
                  <a:pt x="83" y="253"/>
                  <a:pt x="166" y="507"/>
                  <a:pt x="181" y="817"/>
                </a:cubicBezTo>
                <a:cubicBezTo>
                  <a:pt x="196" y="1127"/>
                  <a:pt x="106" y="1686"/>
                  <a:pt x="91" y="186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3"/>
          <p:cNvSpPr/>
          <p:nvPr/>
        </p:nvSpPr>
        <p:spPr>
          <a:xfrm>
            <a:off x="1763713" y="1196975"/>
            <a:ext cx="492125" cy="4176713"/>
          </a:xfrm>
          <a:custGeom>
            <a:rect b="b" l="l" r="r" t="t"/>
            <a:pathLst>
              <a:path extrusionOk="0" h="2631" w="310">
                <a:moveTo>
                  <a:pt x="0" y="0"/>
                </a:moveTo>
                <a:cubicBezTo>
                  <a:pt x="117" y="280"/>
                  <a:pt x="234" y="560"/>
                  <a:pt x="272" y="998"/>
                </a:cubicBezTo>
                <a:cubicBezTo>
                  <a:pt x="310" y="1436"/>
                  <a:pt x="268" y="2033"/>
                  <a:pt x="227" y="2631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3"/>
          <p:cNvSpPr/>
          <p:nvPr/>
        </p:nvSpPr>
        <p:spPr>
          <a:xfrm>
            <a:off x="1042988" y="1989138"/>
            <a:ext cx="576262" cy="7191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3"/>
          <p:cNvSpPr/>
          <p:nvPr/>
        </p:nvSpPr>
        <p:spPr>
          <a:xfrm>
            <a:off x="3635375" y="1916113"/>
            <a:ext cx="576263" cy="7191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3"/>
          <p:cNvSpPr/>
          <p:nvPr/>
        </p:nvSpPr>
        <p:spPr>
          <a:xfrm>
            <a:off x="827088" y="1412875"/>
            <a:ext cx="1800225" cy="358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Intra artériolaire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3"/>
          <p:cNvSpPr/>
          <p:nvPr/>
        </p:nvSpPr>
        <p:spPr>
          <a:xfrm>
            <a:off x="2987675" y="1412875"/>
            <a:ext cx="1800225" cy="358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Interstitiel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3"/>
          <p:cNvSpPr/>
          <p:nvPr/>
        </p:nvSpPr>
        <p:spPr>
          <a:xfrm>
            <a:off x="1979613" y="2060575"/>
            <a:ext cx="215900" cy="3603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0" name="Google Shape;460;p33"/>
          <p:cNvCxnSpPr/>
          <p:nvPr/>
        </p:nvCxnSpPr>
        <p:spPr>
          <a:xfrm rot="10800000">
            <a:off x="1763713" y="2349500"/>
            <a:ext cx="172878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61" name="Google Shape;461;p33"/>
          <p:cNvCxnSpPr/>
          <p:nvPr/>
        </p:nvCxnSpPr>
        <p:spPr>
          <a:xfrm>
            <a:off x="1763713" y="2133600"/>
            <a:ext cx="172878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62" name="Google Shape;462;p33"/>
          <p:cNvSpPr/>
          <p:nvPr/>
        </p:nvSpPr>
        <p:spPr>
          <a:xfrm>
            <a:off x="1547813" y="2852738"/>
            <a:ext cx="1727200" cy="57626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Contrôle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 l’O</a:t>
            </a:r>
            <a:r>
              <a:rPr b="1" baseline="-2500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3"/>
          <p:cNvSpPr/>
          <p:nvPr/>
        </p:nvSpPr>
        <p:spPr>
          <a:xfrm>
            <a:off x="1092200" y="2708275"/>
            <a:ext cx="671513" cy="517525"/>
          </a:xfrm>
          <a:custGeom>
            <a:rect b="b" l="l" r="r" t="t"/>
            <a:pathLst>
              <a:path extrusionOk="0" h="326" w="423">
                <a:moveTo>
                  <a:pt x="60" y="0"/>
                </a:moveTo>
                <a:cubicBezTo>
                  <a:pt x="30" y="110"/>
                  <a:pt x="0" y="220"/>
                  <a:pt x="60" y="273"/>
                </a:cubicBezTo>
                <a:cubicBezTo>
                  <a:pt x="120" y="326"/>
                  <a:pt x="271" y="322"/>
                  <a:pt x="423" y="318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3"/>
          <p:cNvSpPr/>
          <p:nvPr/>
        </p:nvSpPr>
        <p:spPr>
          <a:xfrm>
            <a:off x="3203575" y="2708275"/>
            <a:ext cx="839788" cy="517525"/>
          </a:xfrm>
          <a:custGeom>
            <a:rect b="b" l="l" r="r" t="t"/>
            <a:pathLst>
              <a:path extrusionOk="0" h="326" w="529">
                <a:moveTo>
                  <a:pt x="454" y="0"/>
                </a:moveTo>
                <a:cubicBezTo>
                  <a:pt x="491" y="110"/>
                  <a:pt x="529" y="220"/>
                  <a:pt x="454" y="273"/>
                </a:cubicBezTo>
                <a:cubicBezTo>
                  <a:pt x="379" y="326"/>
                  <a:pt x="189" y="322"/>
                  <a:pt x="0" y="318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3"/>
          <p:cNvSpPr/>
          <p:nvPr/>
        </p:nvSpPr>
        <p:spPr>
          <a:xfrm>
            <a:off x="4572000" y="1125538"/>
            <a:ext cx="4394200" cy="4391025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6" name="Google Shape;466;p33"/>
          <p:cNvCxnSpPr/>
          <p:nvPr/>
        </p:nvCxnSpPr>
        <p:spPr>
          <a:xfrm>
            <a:off x="4284663" y="2133600"/>
            <a:ext cx="143986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67" name="Google Shape;467;p33"/>
          <p:cNvCxnSpPr/>
          <p:nvPr/>
        </p:nvCxnSpPr>
        <p:spPr>
          <a:xfrm rot="10800000">
            <a:off x="4284663" y="2349500"/>
            <a:ext cx="143986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68" name="Google Shape;468;p33"/>
          <p:cNvSpPr/>
          <p:nvPr/>
        </p:nvSpPr>
        <p:spPr>
          <a:xfrm>
            <a:off x="5795963" y="1773238"/>
            <a:ext cx="576262" cy="7191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3"/>
          <p:cNvSpPr/>
          <p:nvPr/>
        </p:nvSpPr>
        <p:spPr>
          <a:xfrm>
            <a:off x="6227763" y="2276475"/>
            <a:ext cx="2376487" cy="647700"/>
          </a:xfrm>
          <a:prstGeom prst="curvedDownArrow">
            <a:avLst>
              <a:gd fmla="val 41872" name="adj1"/>
              <a:gd fmla="val 119807" name="adj2"/>
              <a:gd fmla="val 54088" name="adj3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3"/>
          <p:cNvSpPr/>
          <p:nvPr/>
        </p:nvSpPr>
        <p:spPr>
          <a:xfrm rot="10800000">
            <a:off x="6011863" y="3716338"/>
            <a:ext cx="2376487" cy="647700"/>
          </a:xfrm>
          <a:prstGeom prst="curvedDownArrow">
            <a:avLst>
              <a:gd fmla="val 41872" name="adj1"/>
              <a:gd fmla="val 119807" name="adj2"/>
              <a:gd fmla="val 54088" name="adj3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3"/>
          <p:cNvSpPr/>
          <p:nvPr/>
        </p:nvSpPr>
        <p:spPr>
          <a:xfrm>
            <a:off x="7885113" y="2924175"/>
            <a:ext cx="863600" cy="649288"/>
          </a:xfrm>
          <a:prstGeom prst="ellipse">
            <a:avLst/>
          </a:prstGeom>
          <a:gradFill>
            <a:gsLst>
              <a:gs pos="0">
                <a:srgbClr val="99FF33"/>
              </a:gs>
              <a:gs pos="100000">
                <a:srgbClr val="CCFF99"/>
              </a:gs>
            </a:gsLst>
            <a:path path="circle">
              <a:fillToRect b="100%" r="100%"/>
            </a:path>
            <a:tileRect l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3"/>
          <p:cNvSpPr/>
          <p:nvPr/>
        </p:nvSpPr>
        <p:spPr>
          <a:xfrm>
            <a:off x="5580063" y="3068638"/>
            <a:ext cx="504825" cy="647700"/>
          </a:xfrm>
          <a:prstGeom prst="ellipse">
            <a:avLst/>
          </a:prstGeom>
          <a:gradFill>
            <a:gsLst>
              <a:gs pos="0">
                <a:srgbClr val="FFCC00"/>
              </a:gs>
              <a:gs pos="100000">
                <a:srgbClr val="FFFF99"/>
              </a:gs>
            </a:gsLst>
            <a:path path="circle">
              <a:fillToRect b="100%" r="100%"/>
            </a:path>
            <a:tileRect l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3"/>
          <p:cNvSpPr/>
          <p:nvPr/>
        </p:nvSpPr>
        <p:spPr>
          <a:xfrm>
            <a:off x="6227763" y="3284538"/>
            <a:ext cx="215900" cy="2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3"/>
          <p:cNvSpPr/>
          <p:nvPr/>
        </p:nvSpPr>
        <p:spPr>
          <a:xfrm>
            <a:off x="6659563" y="3141663"/>
            <a:ext cx="288925" cy="574675"/>
          </a:xfrm>
          <a:prstGeom prst="ellipse">
            <a:avLst/>
          </a:prstGeom>
          <a:gradFill>
            <a:gsLst>
              <a:gs pos="0">
                <a:srgbClr val="FF7C80"/>
              </a:gs>
              <a:gs pos="100000">
                <a:srgbClr val="800000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3"/>
          <p:cNvSpPr/>
          <p:nvPr/>
        </p:nvSpPr>
        <p:spPr>
          <a:xfrm>
            <a:off x="7092950" y="908050"/>
            <a:ext cx="2051050" cy="792163"/>
          </a:xfrm>
          <a:prstGeom prst="wedgeEllipseCallout">
            <a:avLst>
              <a:gd fmla="val -43111" name="adj1"/>
              <a:gd fmla="val 107315" name="adj2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0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Voie anabolique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3"/>
          <p:cNvSpPr/>
          <p:nvPr/>
        </p:nvSpPr>
        <p:spPr>
          <a:xfrm>
            <a:off x="7885113" y="4365625"/>
            <a:ext cx="1258887" cy="1296988"/>
          </a:xfrm>
          <a:prstGeom prst="irregularSeal2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ENERGIE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3"/>
          <p:cNvSpPr/>
          <p:nvPr/>
        </p:nvSpPr>
        <p:spPr>
          <a:xfrm rot="4261775">
            <a:off x="7956550" y="4076701"/>
            <a:ext cx="936625" cy="215900"/>
          </a:xfrm>
          <a:prstGeom prst="curvedDownArrow">
            <a:avLst>
              <a:gd fmla="val 100141" name="adj1"/>
              <a:gd fmla="val 160033" name="adj2"/>
              <a:gd fmla="val 66912" name="adj3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3"/>
          <p:cNvSpPr/>
          <p:nvPr/>
        </p:nvSpPr>
        <p:spPr>
          <a:xfrm>
            <a:off x="4716463" y="2924175"/>
            <a:ext cx="288925" cy="574675"/>
          </a:xfrm>
          <a:prstGeom prst="ellipse">
            <a:avLst/>
          </a:prstGeom>
          <a:gradFill>
            <a:gsLst>
              <a:gs pos="0">
                <a:srgbClr val="FF7C80"/>
              </a:gs>
              <a:gs pos="100000">
                <a:srgbClr val="800000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9" name="Google Shape;479;p33"/>
          <p:cNvCxnSpPr/>
          <p:nvPr/>
        </p:nvCxnSpPr>
        <p:spPr>
          <a:xfrm rot="10800000">
            <a:off x="5003800" y="3284538"/>
            <a:ext cx="504825" cy="14446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0" name="Google Shape;480;p33"/>
          <p:cNvCxnSpPr/>
          <p:nvPr/>
        </p:nvCxnSpPr>
        <p:spPr>
          <a:xfrm flipH="1">
            <a:off x="5435600" y="3429000"/>
            <a:ext cx="73025" cy="28733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1" name="Google Shape;481;p33"/>
          <p:cNvSpPr/>
          <p:nvPr/>
        </p:nvSpPr>
        <p:spPr>
          <a:xfrm>
            <a:off x="4572000" y="4149725"/>
            <a:ext cx="288925" cy="574675"/>
          </a:xfrm>
          <a:prstGeom prst="ellipse">
            <a:avLst/>
          </a:prstGeom>
          <a:gradFill>
            <a:gsLst>
              <a:gs pos="0">
                <a:srgbClr val="FF7C80"/>
              </a:gs>
              <a:gs pos="100000">
                <a:srgbClr val="800000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" name="Google Shape;482;p33"/>
          <p:cNvCxnSpPr/>
          <p:nvPr/>
        </p:nvCxnSpPr>
        <p:spPr>
          <a:xfrm>
            <a:off x="5364163" y="4437063"/>
            <a:ext cx="287337" cy="36036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3" name="Google Shape;483;p33"/>
          <p:cNvCxnSpPr/>
          <p:nvPr/>
        </p:nvCxnSpPr>
        <p:spPr>
          <a:xfrm flipH="1">
            <a:off x="4859338" y="4437063"/>
            <a:ext cx="503237" cy="14446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descr="Bouquet" id="484" name="Google Shape;484;p33"/>
          <p:cNvSpPr/>
          <p:nvPr/>
        </p:nvSpPr>
        <p:spPr>
          <a:xfrm>
            <a:off x="4643438" y="4797425"/>
            <a:ext cx="1584325" cy="431800"/>
          </a:xfrm>
          <a:prstGeom prst="ellipse">
            <a:avLst/>
          </a:prstGeom>
          <a:solidFill>
            <a:srgbClr val="8CB3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ADENOSINE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ouquet" id="485" name="Google Shape;485;p33"/>
          <p:cNvSpPr/>
          <p:nvPr/>
        </p:nvSpPr>
        <p:spPr>
          <a:xfrm>
            <a:off x="2700338" y="5013325"/>
            <a:ext cx="1584325" cy="431800"/>
          </a:xfrm>
          <a:prstGeom prst="ellipse">
            <a:avLst/>
          </a:prstGeom>
          <a:solidFill>
            <a:srgbClr val="8CB3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ADENOSINE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3"/>
          <p:cNvSpPr/>
          <p:nvPr/>
        </p:nvSpPr>
        <p:spPr>
          <a:xfrm>
            <a:off x="1331913" y="4724400"/>
            <a:ext cx="1584325" cy="719138"/>
          </a:xfrm>
          <a:custGeom>
            <a:rect b="b" l="l" r="r" t="t"/>
            <a:pathLst>
              <a:path extrusionOk="0" h="453" w="998">
                <a:moveTo>
                  <a:pt x="998" y="181"/>
                </a:moveTo>
                <a:cubicBezTo>
                  <a:pt x="967" y="90"/>
                  <a:pt x="937" y="0"/>
                  <a:pt x="771" y="45"/>
                </a:cubicBezTo>
                <a:cubicBezTo>
                  <a:pt x="605" y="90"/>
                  <a:pt x="128" y="393"/>
                  <a:pt x="0" y="453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3"/>
          <p:cNvSpPr/>
          <p:nvPr/>
        </p:nvSpPr>
        <p:spPr>
          <a:xfrm rot="-1860381">
            <a:off x="1089025" y="4552950"/>
            <a:ext cx="1439863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Disparition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3"/>
          <p:cNvSpPr txBox="1"/>
          <p:nvPr/>
        </p:nvSpPr>
        <p:spPr>
          <a:xfrm>
            <a:off x="468313" y="5805488"/>
            <a:ext cx="8135937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fr-F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Schéma du contrôle de la vasomotricité coronaire par l’O</a:t>
            </a:r>
            <a:r>
              <a:rPr b="1" baseline="-25000" i="0" lang="fr-F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D’après Gellai et Coll.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3"/>
          <p:cNvSpPr/>
          <p:nvPr/>
        </p:nvSpPr>
        <p:spPr>
          <a:xfrm>
            <a:off x="2700338" y="3994150"/>
            <a:ext cx="839787" cy="947738"/>
          </a:xfrm>
          <a:custGeom>
            <a:rect b="b" l="l" r="r" t="t"/>
            <a:pathLst>
              <a:path extrusionOk="0" h="597" w="529">
                <a:moveTo>
                  <a:pt x="453" y="597"/>
                </a:moveTo>
                <a:cubicBezTo>
                  <a:pt x="491" y="396"/>
                  <a:pt x="529" y="196"/>
                  <a:pt x="453" y="98"/>
                </a:cubicBezTo>
                <a:cubicBezTo>
                  <a:pt x="377" y="0"/>
                  <a:pt x="188" y="3"/>
                  <a:pt x="0" y="7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3"/>
          <p:cNvSpPr/>
          <p:nvPr/>
        </p:nvSpPr>
        <p:spPr>
          <a:xfrm>
            <a:off x="1403350" y="3644900"/>
            <a:ext cx="1150938" cy="5048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Contrôle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métabolique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3"/>
          <p:cNvSpPr/>
          <p:nvPr/>
        </p:nvSpPr>
        <p:spPr>
          <a:xfrm>
            <a:off x="6372225" y="1879600"/>
            <a:ext cx="576263" cy="325438"/>
          </a:xfrm>
          <a:custGeom>
            <a:rect b="b" l="l" r="r" t="t"/>
            <a:pathLst>
              <a:path extrusionOk="0" h="205" w="363">
                <a:moveTo>
                  <a:pt x="0" y="69"/>
                </a:moveTo>
                <a:cubicBezTo>
                  <a:pt x="60" y="34"/>
                  <a:pt x="120" y="0"/>
                  <a:pt x="181" y="23"/>
                </a:cubicBezTo>
                <a:cubicBezTo>
                  <a:pt x="242" y="46"/>
                  <a:pt x="302" y="125"/>
                  <a:pt x="363" y="205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3"/>
          <p:cNvSpPr/>
          <p:nvPr/>
        </p:nvSpPr>
        <p:spPr>
          <a:xfrm>
            <a:off x="5148263" y="1196975"/>
            <a:ext cx="1800225" cy="358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Intracellulaire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3"/>
          <p:cNvSpPr/>
          <p:nvPr/>
        </p:nvSpPr>
        <p:spPr>
          <a:xfrm>
            <a:off x="5219700" y="3716338"/>
            <a:ext cx="504825" cy="720725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3"/>
          <p:cNvSpPr/>
          <p:nvPr/>
        </p:nvSpPr>
        <p:spPr>
          <a:xfrm>
            <a:off x="6372225" y="4941888"/>
            <a:ext cx="1509713" cy="630237"/>
          </a:xfrm>
          <a:prstGeom prst="wedgeEllipseCallout">
            <a:avLst>
              <a:gd fmla="val -25815" name="adj1"/>
              <a:gd fmla="val -138162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Voie catabolique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4"/>
          <p:cNvSpPr txBox="1"/>
          <p:nvPr>
            <p:ph type="title"/>
          </p:nvPr>
        </p:nvSpPr>
        <p:spPr>
          <a:xfrm>
            <a:off x="457200" y="277813"/>
            <a:ext cx="8229600" cy="7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838200" lvl="0" marL="838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R" startAt="2"/>
            </a:pPr>
            <a:r>
              <a:rPr lang="fr-FR" sz="3200">
                <a:latin typeface="Arial"/>
                <a:ea typeface="Arial"/>
                <a:cs typeface="Arial"/>
                <a:sym typeface="Arial"/>
              </a:rPr>
              <a:t>ADÉNOSINE</a:t>
            </a:r>
            <a:endParaRPr/>
          </a:p>
        </p:txBody>
      </p:sp>
      <p:sp>
        <p:nvSpPr>
          <p:cNvPr id="500" name="Google Shape;500;p34"/>
          <p:cNvSpPr txBox="1"/>
          <p:nvPr>
            <p:ph idx="1" type="body"/>
          </p:nvPr>
        </p:nvSpPr>
        <p:spPr>
          <a:xfrm>
            <a:off x="457200" y="1000125"/>
            <a:ext cx="8229600" cy="538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Puissant vasodilatateur coronarien.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Une occlusion artérielle coronaire (même brève) =&gt;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    ⭧   [adénosine] du tissu ischémique.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Le taux d’adénosine ⭧ dans le sinus coronaire lors des crises d’angine de poitrine.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En admettant le rôle primordial de l’adénosine dans la régulation du DSC, on aura la réaction suivante:                                                                                                                                    </a:t>
            </a:r>
            <a:r>
              <a:rPr baseline="-25000" lang="fr-FR" sz="2400"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                                                2</a:t>
            </a:r>
            <a:r>
              <a:rPr baseline="-25000" lang="fr-FR" sz="24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ADP + Pi  ⮀ ATP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                                                   1                         </a:t>
            </a:r>
            <a:endParaRPr baseline="30000"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Arial"/>
                <a:ea typeface="Arial"/>
                <a:cs typeface="Arial"/>
                <a:sym typeface="Arial"/>
              </a:rPr>
              <a:t>Tous les facteurs qui entrainent un déséquilibre entre besoins et apports en O2 du myocarde (hypoxémie, ⭨DSC, ⭧ MVO2) déplacent la Réaction dans le sens 2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5"/>
          <p:cNvSpPr txBox="1"/>
          <p:nvPr>
            <p:ph type="ctrTitle"/>
          </p:nvPr>
        </p:nvSpPr>
        <p:spPr>
          <a:xfrm>
            <a:off x="0" y="2205038"/>
            <a:ext cx="9144000" cy="2232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200" lvl="0" marL="1219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romanUcPeriod" startAt="5"/>
            </a:pPr>
            <a:r>
              <a:rPr lang="fr-FR" sz="3200">
                <a:latin typeface="Arial"/>
                <a:ea typeface="Arial"/>
                <a:cs typeface="Arial"/>
                <a:sym typeface="Arial"/>
              </a:rPr>
              <a:t>FACTEURS DETERMINANTS DE LA MVO2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6"/>
          <p:cNvSpPr/>
          <p:nvPr/>
        </p:nvSpPr>
        <p:spPr>
          <a:xfrm>
            <a:off x="3214688" y="2428875"/>
            <a:ext cx="2665412" cy="1800225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fr-F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MVO2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6"/>
          <p:cNvSpPr/>
          <p:nvPr/>
        </p:nvSpPr>
        <p:spPr>
          <a:xfrm>
            <a:off x="6786563" y="2924746"/>
            <a:ext cx="23574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CONTRACTILITE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6"/>
          <p:cNvSpPr/>
          <p:nvPr/>
        </p:nvSpPr>
        <p:spPr>
          <a:xfrm>
            <a:off x="0" y="3000375"/>
            <a:ext cx="2233613" cy="576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TRAVAIL INTERNE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6"/>
          <p:cNvSpPr/>
          <p:nvPr/>
        </p:nvSpPr>
        <p:spPr>
          <a:xfrm>
            <a:off x="3276600" y="404813"/>
            <a:ext cx="24479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FREQUENCE CARDIAQUE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6"/>
          <p:cNvSpPr/>
          <p:nvPr/>
        </p:nvSpPr>
        <p:spPr>
          <a:xfrm>
            <a:off x="3276600" y="5229225"/>
            <a:ext cx="2233613" cy="792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Travail externe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(Charge × raccourcissement)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6"/>
          <p:cNvSpPr/>
          <p:nvPr/>
        </p:nvSpPr>
        <p:spPr>
          <a:xfrm>
            <a:off x="6732588" y="4292600"/>
            <a:ext cx="2233612" cy="576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O2 d’activation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468313" y="4076700"/>
            <a:ext cx="2233612" cy="576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O2 basal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6"/>
          <p:cNvSpPr/>
          <p:nvPr/>
        </p:nvSpPr>
        <p:spPr>
          <a:xfrm>
            <a:off x="4284216" y="1125538"/>
            <a:ext cx="431800" cy="1152525"/>
          </a:xfrm>
          <a:prstGeom prst="downArrow">
            <a:avLst>
              <a:gd fmla="val 50000" name="adj1"/>
              <a:gd fmla="val 66728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6"/>
          <p:cNvSpPr/>
          <p:nvPr/>
        </p:nvSpPr>
        <p:spPr>
          <a:xfrm>
            <a:off x="2500313" y="3071813"/>
            <a:ext cx="646112" cy="433387"/>
          </a:xfrm>
          <a:prstGeom prst="rightArrow">
            <a:avLst>
              <a:gd fmla="val 50000" name="adj1"/>
              <a:gd fmla="val 37271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6"/>
          <p:cNvSpPr/>
          <p:nvPr/>
        </p:nvSpPr>
        <p:spPr>
          <a:xfrm>
            <a:off x="6012085" y="2995612"/>
            <a:ext cx="792163" cy="433388"/>
          </a:xfrm>
          <a:prstGeom prst="leftArrow">
            <a:avLst>
              <a:gd fmla="val 50000" name="adj1"/>
              <a:gd fmla="val 45696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0" name="Google Shape;520;p36"/>
          <p:cNvCxnSpPr/>
          <p:nvPr/>
        </p:nvCxnSpPr>
        <p:spPr>
          <a:xfrm flipH="1" rot="10800000">
            <a:off x="2411413" y="3860800"/>
            <a:ext cx="792162" cy="431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1" name="Google Shape;521;p36"/>
          <p:cNvCxnSpPr/>
          <p:nvPr/>
        </p:nvCxnSpPr>
        <p:spPr>
          <a:xfrm rot="10800000">
            <a:off x="4356100" y="4508500"/>
            <a:ext cx="0" cy="6477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2" name="Google Shape;522;p36"/>
          <p:cNvCxnSpPr/>
          <p:nvPr/>
        </p:nvCxnSpPr>
        <p:spPr>
          <a:xfrm rot="10800000">
            <a:off x="5651500" y="4005263"/>
            <a:ext cx="1008063" cy="503237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3" name="Google Shape;523;p36"/>
          <p:cNvSpPr txBox="1"/>
          <p:nvPr/>
        </p:nvSpPr>
        <p:spPr>
          <a:xfrm>
            <a:off x="250825" y="6165850"/>
            <a:ext cx="83534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Facteurs déterminants de la consommation d’O2 du myocarde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7"/>
          <p:cNvSpPr txBox="1"/>
          <p:nvPr>
            <p:ph type="title"/>
          </p:nvPr>
        </p:nvSpPr>
        <p:spPr>
          <a:xfrm>
            <a:off x="179512" y="188640"/>
            <a:ext cx="878497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400">
                <a:latin typeface="Arimo"/>
                <a:ea typeface="Arimo"/>
                <a:cs typeface="Arimo"/>
                <a:sym typeface="Arimo"/>
              </a:rPr>
              <a:t>William G.Kaelin,Jr. Sir Peter J.Ratcliff, and Gregg L.Semenza</a:t>
            </a:r>
            <a:endParaRPr sz="2400"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529" name="Google Shape;529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208" y="1600200"/>
            <a:ext cx="8033584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800">
                <a:latin typeface="Arimo"/>
                <a:ea typeface="Arimo"/>
                <a:cs typeface="Arimo"/>
                <a:sym typeface="Arimo"/>
              </a:rPr>
              <a:t>Les Mécanismes d’adaptation des cellules en fonction de la disponibilité de l’O</a:t>
            </a:r>
            <a:r>
              <a:rPr b="1" lang="fr-FR" sz="2800">
                <a:latin typeface="Arimo"/>
                <a:ea typeface="Arimo"/>
                <a:cs typeface="Arimo"/>
                <a:sym typeface="Arimo"/>
              </a:rPr>
              <a:t>2</a:t>
            </a:r>
            <a:endParaRPr b="1" sz="2800"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535" name="Google Shape;535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1700808"/>
            <a:ext cx="4172272" cy="468052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>
                <a:latin typeface="Arimo"/>
                <a:ea typeface="Arimo"/>
                <a:cs typeface="Arimo"/>
                <a:sym typeface="Arimo"/>
              </a:rPr>
              <a:t>The 2019 Nobel Prize in Physiology or Medecine</a:t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404664"/>
            <a:ext cx="8280920" cy="6120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4800"/>
              <a:t>Erythropoietin gene</a:t>
            </a:r>
            <a:endParaRPr sz="4800"/>
          </a:p>
        </p:txBody>
      </p:sp>
      <p:pic>
        <p:nvPicPr>
          <p:cNvPr id="547" name="Google Shape;547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1268760"/>
            <a:ext cx="4172272" cy="5256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40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1268760"/>
            <a:ext cx="4172272" cy="5256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1"/>
          <p:cNvSpPr txBox="1"/>
          <p:nvPr>
            <p:ph type="title"/>
          </p:nvPr>
        </p:nvSpPr>
        <p:spPr>
          <a:xfrm>
            <a:off x="400135" y="149847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1" lang="fr-FR" sz="5400">
                <a:latin typeface="Quattrocento Sans"/>
                <a:ea typeface="Quattrocento Sans"/>
                <a:cs typeface="Quattrocento Sans"/>
                <a:sym typeface="Quattrocento Sans"/>
              </a:rPr>
              <a:t>MERCI Pour votre Attention</a:t>
            </a:r>
            <a:endParaRPr/>
          </a:p>
        </p:txBody>
      </p:sp>
      <p:sp>
        <p:nvSpPr>
          <p:cNvPr id="554" name="Google Shape;554;p41"/>
          <p:cNvSpPr txBox="1"/>
          <p:nvPr>
            <p:ph idx="1" type="body"/>
          </p:nvPr>
        </p:nvSpPr>
        <p:spPr>
          <a:xfrm>
            <a:off x="457200" y="4221089"/>
            <a:ext cx="8229600" cy="1512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Noto Sans Symbols"/>
              <a:buNone/>
            </a:pPr>
            <a:r>
              <a:rPr lang="fr-FR">
                <a:solidFill>
                  <a:srgbClr val="FFFF00"/>
                </a:solidFill>
              </a:rPr>
              <a:t>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Noto Sans Symbols"/>
              <a:buNone/>
            </a:pPr>
            <a:r>
              <a:rPr lang="fr-FR">
                <a:solidFill>
                  <a:srgbClr val="FFFF00"/>
                </a:solidFill>
              </a:rPr>
              <a:t> </a:t>
            </a:r>
            <a:r>
              <a:rPr i="1" lang="fr-FR"/>
              <a:t>Références  Bibliographiques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/>
              <a:t> </a:t>
            </a:r>
            <a:r>
              <a:rPr i="1" lang="fr-FR"/>
              <a:t>Arthur – C  Guyton</a:t>
            </a:r>
            <a:endParaRPr i="1"/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i="1" lang="fr-FR"/>
              <a:t> Ph. Meyer   </a:t>
            </a:r>
            <a:r>
              <a:rPr i="1" lang="fr-FR" sz="3600"/>
              <a:t>      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Noto Sans Symbols"/>
              <a:buNone/>
            </a:pPr>
            <a:r>
              <a:rPr i="1" lang="fr-FR">
                <a:solidFill>
                  <a:srgbClr val="FFFF00"/>
                </a:solidFill>
              </a:rPr>
              <a:t> </a:t>
            </a:r>
            <a:endParaRPr/>
          </a:p>
        </p:txBody>
      </p:sp>
      <p:sp>
        <p:nvSpPr>
          <p:cNvPr id="555" name="Google Shape;555;p41"/>
          <p:cNvSpPr txBox="1"/>
          <p:nvPr/>
        </p:nvSpPr>
        <p:spPr>
          <a:xfrm>
            <a:off x="1907704" y="3284984"/>
            <a:ext cx="62646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1" lang="fr-FR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Bonne Continuation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2007-11-07T11:37:07Z</dcterms:created>
  <dc:creator>Benyoucef</dc:creator>
</cp:coreProperties>
</file>