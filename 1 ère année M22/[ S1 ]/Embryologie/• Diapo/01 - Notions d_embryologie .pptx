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7" r:id="rId2"/>
    <p:sldId id="280" r:id="rId3"/>
    <p:sldId id="259" r:id="rId4"/>
    <p:sldId id="266" r:id="rId5"/>
    <p:sldId id="267" r:id="rId6"/>
    <p:sldId id="268" r:id="rId7"/>
    <p:sldId id="281" r:id="rId8"/>
    <p:sldId id="282" r:id="rId9"/>
    <p:sldId id="269" r:id="rId10"/>
    <p:sldId id="270" r:id="rId11"/>
    <p:sldId id="271" r:id="rId12"/>
    <p:sldId id="272" r:id="rId13"/>
    <p:sldId id="274" r:id="rId14"/>
    <p:sldId id="283" r:id="rId15"/>
    <p:sldId id="277" r:id="rId16"/>
    <p:sldId id="278" r:id="rId17"/>
    <p:sldId id="279" r:id="rId18"/>
    <p:sldId id="261" r:id="rId19"/>
    <p:sldId id="284" r:id="rId20"/>
    <p:sldId id="275" r:id="rId21"/>
    <p:sldId id="264" r:id="rId22"/>
    <p:sldId id="276" r:id="rId23"/>
    <p:sldId id="265" r:id="rId24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8" autoAdjust="0"/>
    <p:restoredTop sz="94579" autoAdjust="0"/>
  </p:normalViewPr>
  <p:slideViewPr>
    <p:cSldViewPr>
      <p:cViewPr varScale="1">
        <p:scale>
          <a:sx n="62" d="100"/>
          <a:sy n="62" d="100"/>
        </p:scale>
        <p:origin x="-1500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7"/>
          <p:cNvSpPr>
            <a:spLocks noGrp="1"/>
          </p:cNvSpPr>
          <p:nvPr>
            <p:ph type="ctrTitle"/>
          </p:nvPr>
        </p:nvSpPr>
        <p:spPr>
          <a:xfrm>
            <a:off x="422030" y="1371600"/>
            <a:ext cx="8229600" cy="1828800"/>
          </a:xfrm>
        </p:spPr>
        <p:txBody>
          <a:bodyPr vert="horz" lIns="45720" tIns="0" rIns="45720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>
              <a:defRPr sz="48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28" name="Espace réservé de la date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0C602-D888-4E09-9428-83378769A370}" type="datetimeFigureOut">
              <a:rPr lang="fr-FR" smtClean="0"/>
              <a:pPr/>
              <a:t>06/10/2022</a:t>
            </a:fld>
            <a:endParaRPr lang="fr-FR"/>
          </a:p>
        </p:txBody>
      </p:sp>
      <p:sp>
        <p:nvSpPr>
          <p:cNvPr id="17" name="Espace réservé du pied de page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29" name="Espace réservé du numéro de diapositive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837AD-CFBA-4AA0-93E0-3FAA7C81694B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9" name="Sous-titre 8"/>
          <p:cNvSpPr>
            <a:spLocks noGrp="1"/>
          </p:cNvSpPr>
          <p:nvPr>
            <p:ph type="subTitle" idx="1"/>
          </p:nvPr>
        </p:nvSpPr>
        <p:spPr>
          <a:xfrm>
            <a:off x="1371600" y="3331698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fr-FR" smtClean="0"/>
              <a:t>Cliquez pour modifier le style des sous-titres du masque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0C602-D888-4E09-9428-83378769A370}" type="datetimeFigureOut">
              <a:rPr lang="fr-FR" smtClean="0"/>
              <a:pPr/>
              <a:t>06/10/2022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837AD-CFBA-4AA0-93E0-3FAA7C81694B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600200" y="609600"/>
            <a:ext cx="7086600" cy="1828800"/>
          </a:xfrm>
        </p:spPr>
        <p:txBody>
          <a:bodyPr vert="horz" bIns="0" anchor="b">
            <a:no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  <a:contourClr>
                <a:schemeClr val="tx2">
                  <a:shade val="50000"/>
                </a:schemeClr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800" b="1" cap="none" baseline="0">
                <a:ln w="6350">
                  <a:noFill/>
                </a:ln>
                <a:solidFill>
                  <a:schemeClr val="accent1">
                    <a:tint val="90000"/>
                    <a:satMod val="120000"/>
                  </a:schemeClr>
                </a:soli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600200" y="2507786"/>
            <a:ext cx="7086600" cy="1509712"/>
          </a:xfrm>
        </p:spPr>
        <p:txBody>
          <a:bodyPr anchor="t"/>
          <a:lstStyle>
            <a:lvl1pPr marL="73152" indent="0" algn="l"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0C602-D888-4E09-9428-83378769A370}" type="datetimeFigureOut">
              <a:rPr lang="fr-FR" smtClean="0"/>
              <a:pPr/>
              <a:t>06/10/2022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7924800" y="6416675"/>
            <a:ext cx="762000" cy="365125"/>
          </a:xfrm>
        </p:spPr>
        <p:txBody>
          <a:bodyPr/>
          <a:lstStyle/>
          <a:p>
            <a:fld id="{8C3837AD-CFBA-4AA0-93E0-3FAA7C81694B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0C602-D888-4E09-9428-83378769A370}" type="datetimeFigureOut">
              <a:rPr lang="fr-FR" smtClean="0"/>
              <a:pPr/>
              <a:t>06/10/2022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837AD-CFBA-4AA0-93E0-3FAA7C81694B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3"/>
          </p:nvPr>
        </p:nvSpPr>
        <p:spPr>
          <a:xfrm>
            <a:off x="4645025" y="1535112"/>
            <a:ext cx="4041775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0C602-D888-4E09-9428-83378769A370}" type="datetimeFigureOut">
              <a:rPr lang="fr-FR" smtClean="0"/>
              <a:pPr/>
              <a:t>06/10/2022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837AD-CFBA-4AA0-93E0-3FAA7C81694B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0C602-D888-4E09-9428-83378769A370}" type="datetimeFigureOut">
              <a:rPr lang="fr-FR" smtClean="0"/>
              <a:pPr/>
              <a:t>06/10/2022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837AD-CFBA-4AA0-93E0-3FAA7C81694B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0C602-D888-4E09-9428-83378769A370}" type="datetimeFigureOut">
              <a:rPr lang="fr-FR" smtClean="0"/>
              <a:pPr/>
              <a:t>06/10/2022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837AD-CFBA-4AA0-93E0-3FAA7C81694B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vert="horz" anchor="b">
            <a:normAutofit/>
            <a:sp3d prstMaterial="softEdge"/>
          </a:bodyPr>
          <a:lstStyle>
            <a:lvl1pPr algn="l">
              <a:buNone/>
              <a:defRPr sz="2200" b="0">
                <a:ln w="6350">
                  <a:noFill/>
                </a:ln>
                <a:solidFill>
                  <a:schemeClr val="accent1">
                    <a:tint val="73000"/>
                    <a:satMod val="180000"/>
                  </a:schemeClr>
                </a:solidFill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457200" y="1524000"/>
            <a:ext cx="3008313" cy="4602163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0C602-D888-4E09-9428-83378769A370}" type="datetimeFigureOut">
              <a:rPr lang="fr-FR" smtClean="0"/>
              <a:pPr/>
              <a:t>06/10/2022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837AD-CFBA-4AA0-93E0-3FAA7C81694B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828800" y="609600"/>
            <a:ext cx="5486400" cy="522288"/>
          </a:xfrm>
        </p:spPr>
        <p:txBody>
          <a:bodyPr lIns="45720" rIns="45720" bIns="0" anchor="b">
            <a:sp3d prstMaterial="softEdge"/>
          </a:bodyPr>
          <a:lstStyle>
            <a:lvl1pPr algn="ctr">
              <a:buNone/>
              <a:defRPr sz="2000" b="1"/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828800" y="1831975"/>
            <a:ext cx="5486400" cy="3962400"/>
          </a:xfrm>
          <a:solidFill>
            <a:schemeClr val="bg2"/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</a:lstStyle>
          <a:p>
            <a:pPr marL="0" algn="l" rtl="0" eaLnBrk="1" latinLnBrk="0" hangingPunct="1"/>
            <a:r>
              <a:rPr kumimoji="0" lang="fr-FR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Cliquez sur l'icône pour ajouter une image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828800" y="1166787"/>
            <a:ext cx="5486400" cy="530352"/>
          </a:xfrm>
        </p:spPr>
        <p:txBody>
          <a:bodyPr lIns="45720" tIns="45720" rIns="45720" anchor="t"/>
          <a:lstStyle>
            <a:lvl1pPr marL="0" indent="0" algn="ct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0C602-D888-4E09-9428-83378769A370}" type="datetimeFigureOut">
              <a:rPr lang="fr-FR" smtClean="0"/>
              <a:pPr/>
              <a:t>06/10/2022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837AD-CFBA-4AA0-93E0-3FAA7C81694B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0C602-D888-4E09-9428-83378769A370}" type="datetimeFigureOut">
              <a:rPr lang="fr-FR" smtClean="0"/>
              <a:pPr/>
              <a:t>06/10/2022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837AD-CFBA-4AA0-93E0-3FAA7C81694B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0C602-D888-4E09-9428-83378769A370}" type="datetimeFigureOut">
              <a:rPr lang="fr-FR" smtClean="0"/>
              <a:pPr/>
              <a:t>06/10/2022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837AD-CFBA-4AA0-93E0-3FAA7C81694B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ce réservé du titre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13" name="Espace réservé du texte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70916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  <a:p>
            <a:pPr lvl="1" eaLnBrk="1" latinLnBrk="0" hangingPunct="1"/>
            <a:r>
              <a:rPr kumimoji="0" lang="fr-FR" smtClean="0"/>
              <a:t>Deuxième niveau</a:t>
            </a:r>
          </a:p>
          <a:p>
            <a:pPr lvl="2" eaLnBrk="1" latinLnBrk="0" hangingPunct="1"/>
            <a:r>
              <a:rPr kumimoji="0" lang="fr-FR" smtClean="0"/>
              <a:t>Troisième niveau</a:t>
            </a:r>
          </a:p>
          <a:p>
            <a:pPr lvl="3" eaLnBrk="1" latinLnBrk="0" hangingPunct="1"/>
            <a:r>
              <a:rPr kumimoji="0" lang="fr-FR" smtClean="0"/>
              <a:t>Quatrième niveau</a:t>
            </a:r>
          </a:p>
          <a:p>
            <a:pPr lvl="4" eaLnBrk="1" latinLnBrk="0" hangingPunct="1"/>
            <a:r>
              <a:rPr kumimoji="0" lang="fr-FR" smtClean="0"/>
              <a:t>Cinquième niveau</a:t>
            </a:r>
            <a:endParaRPr kumimoji="0" lang="en-US"/>
          </a:p>
        </p:txBody>
      </p:sp>
      <p:sp>
        <p:nvSpPr>
          <p:cNvPr id="14" name="Espace réservé de la date 13"/>
          <p:cNvSpPr>
            <a:spLocks noGrp="1"/>
          </p:cNvSpPr>
          <p:nvPr>
            <p:ph type="dt" sz="half" idx="2"/>
          </p:nvPr>
        </p:nvSpPr>
        <p:spPr>
          <a:xfrm>
            <a:off x="4572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1740C602-D888-4E09-9428-83378769A370}" type="datetimeFigureOut">
              <a:rPr lang="fr-FR" smtClean="0"/>
              <a:pPr/>
              <a:t>06/10/2022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3124200" y="6416675"/>
            <a:ext cx="2895600" cy="3651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4"/>
          </p:nvPr>
        </p:nvSpPr>
        <p:spPr>
          <a:xfrm>
            <a:off x="7924800" y="6416675"/>
            <a:ext cx="762000" cy="365125"/>
          </a:xfrm>
          <a:prstGeom prst="rect">
            <a:avLst/>
          </a:prstGeom>
        </p:spPr>
        <p:txBody>
          <a:bodyPr vert="horz" lIns="0" rIns="0" anchor="b"/>
          <a:lstStyle>
            <a:lvl1pPr algn="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8C3837AD-CFBA-4AA0-93E0-3FAA7C81694B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rtl="0" eaLnBrk="1" latinLnBrk="0" hangingPunct="1">
        <a:spcBef>
          <a:spcPct val="0"/>
        </a:spcBef>
        <a:buNone/>
        <a:defRPr kumimoji="0" sz="4100" b="1" kern="1200" cap="none" baseline="0">
          <a:ln w="6350">
            <a:noFill/>
          </a:ln>
          <a:gradFill>
            <a:gsLst>
              <a:gs pos="0">
                <a:schemeClr val="accent1">
                  <a:tint val="73000"/>
                  <a:satMod val="145000"/>
                </a:schemeClr>
              </a:gs>
              <a:gs pos="73000">
                <a:schemeClr val="accent1">
                  <a:tint val="73000"/>
                  <a:satMod val="145000"/>
                </a:schemeClr>
              </a:gs>
              <a:gs pos="100000">
                <a:schemeClr val="accent1">
                  <a:tint val="83000"/>
                  <a:satMod val="143000"/>
                </a:schemeClr>
              </a:gs>
            </a:gsLst>
            <a:lin ang="4800000" scaled="1"/>
          </a:gra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548640" indent="-411480" algn="l" rtl="0" eaLnBrk="1" latinLnBrk="0" hangingPunct="1">
        <a:spcBef>
          <a:spcPct val="20000"/>
        </a:spcBef>
        <a:buClr>
          <a:schemeClr val="tx1">
            <a:shade val="95000"/>
          </a:schemeClr>
        </a:buClr>
        <a:buSzPct val="65000"/>
        <a:buFont typeface="Wingdings 2"/>
        <a:buChar char="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68680" indent="-283464" algn="l" rtl="0" eaLnBrk="1" latinLnBrk="0" hangingPunct="1">
        <a:spcBef>
          <a:spcPct val="20000"/>
        </a:spcBef>
        <a:buClr>
          <a:schemeClr val="tx1"/>
        </a:buClr>
        <a:buSzPct val="80000"/>
        <a:buFont typeface="Wingdings 2"/>
        <a:buChar char="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3856" indent="-228600" algn="l" rtl="0" eaLnBrk="1" latinLnBrk="0" hangingPunct="1">
        <a:spcBef>
          <a:spcPct val="20000"/>
        </a:spcBef>
        <a:buClr>
          <a:schemeClr val="tx1"/>
        </a:buClr>
        <a:buSzPct val="95000"/>
        <a:buFont typeface="Wingdings"/>
        <a:buChar char="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53312" indent="-182880" algn="l" rtl="0" eaLnBrk="1" latinLnBrk="0" hangingPunct="1">
        <a:spcBef>
          <a:spcPct val="20000"/>
        </a:spcBef>
        <a:buClr>
          <a:schemeClr val="tx1"/>
        </a:buClr>
        <a:buSzPct val="100000"/>
        <a:buFont typeface="Wingdings 3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533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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64792" indent="-182880" algn="l" rtl="0" eaLnBrk="1" latinLnBrk="0" hangingPunct="1">
        <a:spcBef>
          <a:spcPct val="20000"/>
        </a:spcBef>
        <a:buClr>
          <a:schemeClr val="tx1"/>
        </a:buClr>
        <a:buFont typeface="Wingdings 3"/>
        <a:buChar char="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65960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67128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6829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611560" y="-805636"/>
            <a:ext cx="8532440" cy="76636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dirty="0"/>
          </a:p>
          <a:p>
            <a:endParaRPr lang="fr-FR" dirty="0"/>
          </a:p>
          <a:p>
            <a:r>
              <a:rPr lang="fr-FR" sz="32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                   </a:t>
            </a:r>
            <a:r>
              <a:rPr lang="fr-FR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Quelques </a:t>
            </a:r>
            <a:r>
              <a:rPr lang="fr-FR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définitions utiles </a:t>
            </a:r>
          </a:p>
          <a:p>
            <a:r>
              <a:rPr lang="fr-FR" sz="32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•</a:t>
            </a:r>
            <a:r>
              <a:rPr lang="fr-FR" sz="2800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Un germe</a:t>
            </a:r>
            <a:r>
              <a:rPr lang="fr-FR" sz="2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: appelé ainsi tant </a:t>
            </a:r>
            <a:r>
              <a:rPr lang="fr-FR" sz="28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que la </a:t>
            </a:r>
            <a:r>
              <a:rPr lang="fr-FR" sz="2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forme est </a:t>
            </a:r>
            <a:r>
              <a:rPr lang="fr-FR" sz="28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encore</a:t>
            </a:r>
          </a:p>
          <a:p>
            <a:r>
              <a:rPr lang="fr-FR" sz="28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sphérique. </a:t>
            </a:r>
            <a:endParaRPr lang="fr-FR" sz="28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r>
              <a:rPr lang="fr-FR" sz="28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•</a:t>
            </a:r>
            <a:r>
              <a:rPr lang="fr-FR" sz="28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Un </a:t>
            </a:r>
            <a:r>
              <a:rPr lang="fr-FR" sz="28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embryon</a:t>
            </a:r>
            <a:r>
              <a:rPr lang="fr-FR" sz="28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: un </a:t>
            </a:r>
            <a:r>
              <a:rPr lang="fr-FR" sz="2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organisme en </a:t>
            </a:r>
            <a:r>
              <a:rPr lang="fr-FR" sz="28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développement</a:t>
            </a:r>
          </a:p>
          <a:p>
            <a:pPr algn="just"/>
            <a:r>
              <a:rPr lang="fr-FR" sz="28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fr-FR" sz="2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depuis la première division de l’</a:t>
            </a:r>
            <a:r>
              <a:rPr lang="fr-FR" sz="2800" b="1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oeuf</a:t>
            </a:r>
            <a:r>
              <a:rPr lang="fr-FR" sz="2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fr-FR" sz="28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fécondé</a:t>
            </a:r>
          </a:p>
          <a:p>
            <a:r>
              <a:rPr lang="fr-FR" sz="28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fr-FR" sz="2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(zygote) jusqu’au stade où les principaux </a:t>
            </a:r>
            <a:endParaRPr lang="fr-FR" sz="2800" b="1" dirty="0" smtClean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r>
              <a:rPr lang="fr-FR" sz="28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organes </a:t>
            </a:r>
            <a:r>
              <a:rPr lang="fr-FR" sz="2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sont ébauchés (</a:t>
            </a:r>
            <a:r>
              <a:rPr lang="fr-FR" sz="28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4</a:t>
            </a:r>
            <a:r>
              <a:rPr lang="fr-FR" sz="2800" b="1" baseline="300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ème</a:t>
            </a:r>
            <a:r>
              <a:rPr lang="fr-FR" sz="28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- </a:t>
            </a:r>
            <a:r>
              <a:rPr lang="fr-FR" sz="2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8</a:t>
            </a:r>
            <a:r>
              <a:rPr lang="fr-FR" sz="2800" b="1" baseline="30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ème</a:t>
            </a:r>
            <a:r>
              <a:rPr lang="fr-FR" sz="2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). </a:t>
            </a:r>
          </a:p>
          <a:p>
            <a:r>
              <a:rPr lang="fr-FR" sz="28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• </a:t>
            </a:r>
            <a:r>
              <a:rPr lang="fr-FR" sz="28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Un </a:t>
            </a:r>
            <a:r>
              <a:rPr lang="fr-FR" sz="28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fœtus</a:t>
            </a:r>
            <a:r>
              <a:rPr lang="fr-FR" sz="28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: </a:t>
            </a:r>
            <a:r>
              <a:rPr lang="fr-FR" sz="2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possède une symétrie </a:t>
            </a:r>
            <a:r>
              <a:rPr lang="fr-FR" sz="28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bilatérale</a:t>
            </a:r>
          </a:p>
          <a:p>
            <a:r>
              <a:rPr lang="fr-FR" sz="28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fr-FR" sz="2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c’est un organisme en développement </a:t>
            </a:r>
            <a:r>
              <a:rPr lang="fr-FR" sz="28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depuis</a:t>
            </a:r>
          </a:p>
          <a:p>
            <a:r>
              <a:rPr lang="fr-FR" sz="28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fr-FR" sz="2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la 8ème semaine de grossesse jusqu’à </a:t>
            </a:r>
            <a:r>
              <a:rPr lang="fr-FR" sz="28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la</a:t>
            </a:r>
          </a:p>
          <a:p>
            <a:r>
              <a:rPr lang="fr-FR" sz="28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fr-FR" sz="2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naissance. </a:t>
            </a:r>
          </a:p>
          <a:p>
            <a:r>
              <a:rPr lang="fr-FR" sz="28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• Chez l’espèce humaine, l’</a:t>
            </a:r>
            <a:r>
              <a:rPr lang="fr-FR" sz="2800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oeuf</a:t>
            </a:r>
            <a:r>
              <a:rPr lang="fr-FR" sz="28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vierge </a:t>
            </a:r>
            <a:r>
              <a:rPr lang="fr-FR" sz="28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= (</a:t>
            </a:r>
            <a:r>
              <a:rPr lang="fr-FR" sz="28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gamète </a:t>
            </a:r>
            <a:r>
              <a:rPr lang="fr-FR" sz="28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féminin</a:t>
            </a:r>
          </a:p>
          <a:p>
            <a:r>
              <a:rPr lang="fr-FR" sz="28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= </a:t>
            </a:r>
            <a:r>
              <a:rPr lang="fr-FR" sz="28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ovocyte II bloqué en métaphase II</a:t>
            </a:r>
            <a:r>
              <a:rPr lang="fr-FR" sz="28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) est </a:t>
            </a:r>
            <a:r>
              <a:rPr lang="fr-FR" sz="28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alécithe</a:t>
            </a:r>
          </a:p>
          <a:p>
            <a:r>
              <a:rPr lang="fr-FR" sz="28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(dépourvu de </a:t>
            </a:r>
            <a:r>
              <a:rPr lang="fr-FR" sz="28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réserves). </a:t>
            </a:r>
            <a:endParaRPr lang="fr-FR" sz="32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9666429" cy="66787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dirty="0"/>
          </a:p>
          <a:p>
            <a:r>
              <a:rPr lang="fr-FR" sz="2800" dirty="0" smtClean="0"/>
              <a:t>                             </a:t>
            </a:r>
            <a:r>
              <a:rPr lang="fr-FR" sz="2800" dirty="0" smtClean="0">
                <a:solidFill>
                  <a:srgbClr val="FF0000"/>
                </a:solidFill>
              </a:rPr>
              <a:t>Coupes </a:t>
            </a:r>
            <a:r>
              <a:rPr lang="fr-FR" sz="2800" dirty="0">
                <a:solidFill>
                  <a:srgbClr val="FF0000"/>
                </a:solidFill>
              </a:rPr>
              <a:t>utilisées en embryologie </a:t>
            </a:r>
          </a:p>
          <a:p>
            <a:r>
              <a:rPr lang="fr-FR" sz="2800" b="1" dirty="0" smtClean="0">
                <a:solidFill>
                  <a:srgbClr val="FFFF00"/>
                </a:solidFill>
              </a:rPr>
              <a:t>Chez </a:t>
            </a:r>
            <a:r>
              <a:rPr lang="fr-FR" sz="2800" b="1" dirty="0">
                <a:solidFill>
                  <a:srgbClr val="FFFF00"/>
                </a:solidFill>
              </a:rPr>
              <a:t>l’embryon </a:t>
            </a:r>
          </a:p>
          <a:p>
            <a:endParaRPr lang="fr-FR" sz="2800" b="1" dirty="0" smtClean="0">
              <a:solidFill>
                <a:srgbClr val="C00000"/>
              </a:solidFill>
            </a:endParaRPr>
          </a:p>
          <a:p>
            <a:r>
              <a:rPr lang="fr-FR" sz="2800" b="1" dirty="0" smtClean="0"/>
              <a:t>Coupes </a:t>
            </a:r>
            <a:r>
              <a:rPr lang="fr-FR" sz="2800" b="1" dirty="0"/>
              <a:t>longitudinales </a:t>
            </a:r>
            <a:r>
              <a:rPr lang="fr-FR" sz="2800" b="1" dirty="0">
                <a:solidFill>
                  <a:schemeClr val="bg1"/>
                </a:solidFill>
              </a:rPr>
              <a:t>: elles sont de 02 types à savoir </a:t>
            </a:r>
            <a:r>
              <a:rPr lang="fr-FR" sz="2800" b="1" dirty="0" smtClean="0">
                <a:solidFill>
                  <a:schemeClr val="bg1"/>
                </a:solidFill>
              </a:rPr>
              <a:t>:</a:t>
            </a:r>
          </a:p>
          <a:p>
            <a:r>
              <a:rPr lang="fr-FR" sz="2800" b="1" dirty="0" smtClean="0">
                <a:solidFill>
                  <a:schemeClr val="bg1"/>
                </a:solidFill>
              </a:rPr>
              <a:t> </a:t>
            </a:r>
            <a:r>
              <a:rPr lang="fr-FR" sz="2800" b="1" dirty="0" smtClean="0">
                <a:solidFill>
                  <a:srgbClr val="FF0000"/>
                </a:solidFill>
              </a:rPr>
              <a:t>coupe </a:t>
            </a:r>
            <a:r>
              <a:rPr lang="fr-FR" sz="2800" b="1" dirty="0">
                <a:solidFill>
                  <a:srgbClr val="FF0000"/>
                </a:solidFill>
              </a:rPr>
              <a:t>sagittale (médiane)</a:t>
            </a:r>
            <a:r>
              <a:rPr lang="fr-FR" sz="2800" b="1" dirty="0">
                <a:solidFill>
                  <a:srgbClr val="00B050"/>
                </a:solidFill>
              </a:rPr>
              <a:t> </a:t>
            </a:r>
            <a:r>
              <a:rPr lang="fr-FR" sz="2800" b="1" dirty="0">
                <a:solidFill>
                  <a:schemeClr val="bg1"/>
                </a:solidFill>
              </a:rPr>
              <a:t>: elle passe </a:t>
            </a:r>
            <a:r>
              <a:rPr lang="fr-FR" sz="2800" b="1" dirty="0" smtClean="0">
                <a:solidFill>
                  <a:schemeClr val="bg1"/>
                </a:solidFill>
              </a:rPr>
              <a:t>par l’axe</a:t>
            </a:r>
          </a:p>
          <a:p>
            <a:r>
              <a:rPr lang="fr-FR" sz="2800" b="1" dirty="0" smtClean="0">
                <a:solidFill>
                  <a:schemeClr val="bg1"/>
                </a:solidFill>
              </a:rPr>
              <a:t> </a:t>
            </a:r>
            <a:r>
              <a:rPr lang="fr-FR" sz="2800" b="1" dirty="0">
                <a:solidFill>
                  <a:schemeClr val="bg1"/>
                </a:solidFill>
              </a:rPr>
              <a:t>de symétrie de l’embryon donnant ainsi </a:t>
            </a:r>
            <a:r>
              <a:rPr lang="fr-FR" sz="2800" b="1" dirty="0" smtClean="0">
                <a:solidFill>
                  <a:schemeClr val="bg1"/>
                </a:solidFill>
              </a:rPr>
              <a:t>02 parties égales.</a:t>
            </a:r>
          </a:p>
          <a:p>
            <a:r>
              <a:rPr lang="fr-FR" sz="2800" b="1" dirty="0" smtClean="0">
                <a:solidFill>
                  <a:srgbClr val="FF0000"/>
                </a:solidFill>
              </a:rPr>
              <a:t> coupe par-sagittale</a:t>
            </a:r>
            <a:r>
              <a:rPr lang="fr-FR" sz="2800" b="1" dirty="0" smtClean="0">
                <a:solidFill>
                  <a:schemeClr val="bg1"/>
                </a:solidFill>
              </a:rPr>
              <a:t>: </a:t>
            </a:r>
            <a:r>
              <a:rPr lang="fr-FR" sz="2800" b="1" dirty="0">
                <a:solidFill>
                  <a:schemeClr val="bg1"/>
                </a:solidFill>
              </a:rPr>
              <a:t>elle est </a:t>
            </a:r>
            <a:r>
              <a:rPr lang="fr-FR" sz="2800" b="1" dirty="0" smtClean="0">
                <a:solidFill>
                  <a:schemeClr val="bg1"/>
                </a:solidFill>
              </a:rPr>
              <a:t>parallèle  </a:t>
            </a:r>
            <a:r>
              <a:rPr lang="fr-FR" sz="2800" b="1" dirty="0">
                <a:solidFill>
                  <a:schemeClr val="bg1"/>
                </a:solidFill>
              </a:rPr>
              <a:t>au plan de </a:t>
            </a:r>
            <a:r>
              <a:rPr lang="fr-FR" sz="2800" b="1" dirty="0" smtClean="0">
                <a:solidFill>
                  <a:schemeClr val="bg1"/>
                </a:solidFill>
              </a:rPr>
              <a:t>coupe</a:t>
            </a:r>
          </a:p>
          <a:p>
            <a:r>
              <a:rPr lang="fr-FR" sz="2800" b="1" dirty="0" smtClean="0">
                <a:solidFill>
                  <a:schemeClr val="bg1"/>
                </a:solidFill>
              </a:rPr>
              <a:t> </a:t>
            </a:r>
            <a:r>
              <a:rPr lang="fr-FR" sz="2800" b="1" dirty="0">
                <a:solidFill>
                  <a:schemeClr val="bg1"/>
                </a:solidFill>
              </a:rPr>
              <a:t>sagittal. </a:t>
            </a:r>
          </a:p>
          <a:p>
            <a:r>
              <a:rPr lang="fr-FR" sz="2800" b="1" dirty="0"/>
              <a:t>Coupes transversales </a:t>
            </a:r>
            <a:r>
              <a:rPr lang="fr-FR" sz="2800" b="1" dirty="0">
                <a:solidFill>
                  <a:schemeClr val="bg1"/>
                </a:solidFill>
              </a:rPr>
              <a:t>: elles peuvent passer par </a:t>
            </a:r>
            <a:r>
              <a:rPr lang="fr-FR" sz="2800" b="1" dirty="0" smtClean="0">
                <a:solidFill>
                  <a:schemeClr val="bg1"/>
                </a:solidFill>
              </a:rPr>
              <a:t>n’importe</a:t>
            </a:r>
          </a:p>
          <a:p>
            <a:r>
              <a:rPr lang="fr-FR" sz="2800" b="1" dirty="0" smtClean="0">
                <a:solidFill>
                  <a:schemeClr val="bg1"/>
                </a:solidFill>
              </a:rPr>
              <a:t> </a:t>
            </a:r>
            <a:r>
              <a:rPr lang="fr-FR" sz="2800" b="1" dirty="0">
                <a:solidFill>
                  <a:schemeClr val="bg1"/>
                </a:solidFill>
              </a:rPr>
              <a:t>quelle région de </a:t>
            </a:r>
            <a:r>
              <a:rPr lang="fr-FR" sz="2800" b="1" dirty="0" smtClean="0">
                <a:solidFill>
                  <a:schemeClr val="bg1"/>
                </a:solidFill>
              </a:rPr>
              <a:t>l’embryon restant </a:t>
            </a:r>
            <a:r>
              <a:rPr lang="fr-FR" sz="2800" b="1" dirty="0" err="1" smtClean="0">
                <a:solidFill>
                  <a:schemeClr val="bg1"/>
                </a:solidFill>
              </a:rPr>
              <a:t>perpendiculairs</a:t>
            </a:r>
            <a:r>
              <a:rPr lang="fr-FR" sz="2800" b="1" dirty="0" smtClean="0">
                <a:solidFill>
                  <a:schemeClr val="bg1"/>
                </a:solidFill>
              </a:rPr>
              <a:t> </a:t>
            </a:r>
          </a:p>
          <a:p>
            <a:r>
              <a:rPr lang="fr-FR" sz="2800" b="1" dirty="0" smtClean="0">
                <a:solidFill>
                  <a:schemeClr val="bg1"/>
                </a:solidFill>
              </a:rPr>
              <a:t>au </a:t>
            </a:r>
            <a:r>
              <a:rPr lang="fr-FR" sz="2800" b="1" dirty="0">
                <a:solidFill>
                  <a:schemeClr val="bg1"/>
                </a:solidFill>
              </a:rPr>
              <a:t>plan longitudinal. </a:t>
            </a:r>
          </a:p>
          <a:p>
            <a:endParaRPr lang="fr-FR" sz="2800" b="1" dirty="0" smtClean="0">
              <a:solidFill>
                <a:srgbClr val="FFFF00"/>
              </a:solidFill>
            </a:endParaRPr>
          </a:p>
          <a:p>
            <a:r>
              <a:rPr lang="fr-FR" sz="2800" b="1" dirty="0" smtClean="0">
                <a:solidFill>
                  <a:srgbClr val="FFFF00"/>
                </a:solidFill>
              </a:rPr>
              <a:t>Chez </a:t>
            </a:r>
            <a:r>
              <a:rPr lang="fr-FR" sz="2800" b="1" dirty="0">
                <a:solidFill>
                  <a:srgbClr val="FFFF00"/>
                </a:solidFill>
              </a:rPr>
              <a:t>le </a:t>
            </a:r>
            <a:r>
              <a:rPr lang="fr-FR" sz="2800" b="1" dirty="0" smtClean="0">
                <a:solidFill>
                  <a:srgbClr val="FFFF00"/>
                </a:solidFill>
              </a:rPr>
              <a:t>fœtus </a:t>
            </a:r>
            <a:r>
              <a:rPr lang="fr-FR" sz="2800" b="1" dirty="0">
                <a:solidFill>
                  <a:schemeClr val="bg1"/>
                </a:solidFill>
              </a:rPr>
              <a:t>la symétrie bilatérale est </a:t>
            </a:r>
            <a:r>
              <a:rPr lang="fr-FR" sz="2800" b="1" dirty="0" smtClean="0">
                <a:solidFill>
                  <a:schemeClr val="bg1"/>
                </a:solidFill>
              </a:rPr>
              <a:t>acquise donc </a:t>
            </a:r>
          </a:p>
          <a:p>
            <a:r>
              <a:rPr lang="fr-FR" sz="2800" b="1" dirty="0" smtClean="0">
                <a:solidFill>
                  <a:schemeClr val="bg1"/>
                </a:solidFill>
              </a:rPr>
              <a:t>les plans  </a:t>
            </a:r>
            <a:r>
              <a:rPr lang="fr-FR" sz="2800" b="1" dirty="0">
                <a:solidFill>
                  <a:schemeClr val="bg1"/>
                </a:solidFill>
              </a:rPr>
              <a:t>de coupes sont de l’adulte </a:t>
            </a:r>
          </a:p>
          <a:p>
            <a:endParaRPr lang="fr-FR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33450" y="433388"/>
            <a:ext cx="7277100" cy="5991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1"/>
          <p:cNvSpPr>
            <a:spLocks noChangeArrowheads="1"/>
          </p:cNvSpPr>
          <p:nvPr/>
        </p:nvSpPr>
        <p:spPr bwMode="auto">
          <a:xfrm>
            <a:off x="467544" y="672390"/>
            <a:ext cx="8424936" cy="3970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28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L'embryologie</a:t>
            </a:r>
            <a:r>
              <a:rPr kumimoji="0" lang="fr-FR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: </a:t>
            </a:r>
            <a:r>
              <a:rPr kumimoji="0" lang="fr-FR" sz="280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la science du développement des organismes  pluricellulaires.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28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endParaRPr kumimoji="0" lang="fr-FR" sz="2800" b="1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800" b="1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ea typeface="Times New Roman" pitchFamily="18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280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Espèces supérieures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280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                     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800" dirty="0" smtClean="0">
                <a:solidFill>
                  <a:schemeClr val="bg1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                         </a:t>
            </a:r>
            <a:r>
              <a:rPr kumimoji="0" lang="fr-FR" sz="280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Reproduction sexuée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28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                                  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800" b="1" dirty="0" smtClean="0">
                <a:solidFill>
                  <a:schemeClr val="bg1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                                        </a:t>
            </a:r>
            <a:r>
              <a:rPr kumimoji="0" lang="fr-FR" sz="28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Cycle de reproduction </a:t>
            </a:r>
            <a:endParaRPr kumimoji="0" lang="fr-FR" sz="2800" b="1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2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2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2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2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2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2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2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2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2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2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24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24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1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1"/>
          <p:cNvSpPr>
            <a:spLocks noChangeArrowheads="1"/>
          </p:cNvSpPr>
          <p:nvPr/>
        </p:nvSpPr>
        <p:spPr bwMode="auto">
          <a:xfrm>
            <a:off x="0" y="548680"/>
            <a:ext cx="8608447" cy="1077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Le cycle de reproduction comprend 3 étapes : </a:t>
            </a:r>
            <a:endParaRPr kumimoji="0" lang="fr-FR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 La gamétogénèse</a:t>
            </a:r>
            <a:r>
              <a:rPr kumimoji="0" lang="fr-FR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endParaRPr kumimoji="0" lang="fr-FR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95536" y="1556792"/>
            <a:ext cx="8015336" cy="29238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3200" dirty="0" smtClean="0">
                <a:latin typeface="Arial" pitchFamily="34" charset="0"/>
                <a:cs typeface="Arial" pitchFamily="34" charset="0"/>
              </a:rPr>
              <a:t>                   formation </a:t>
            </a:r>
            <a:r>
              <a:rPr lang="fr-FR" sz="3200" dirty="0">
                <a:latin typeface="Arial" pitchFamily="34" charset="0"/>
                <a:cs typeface="Arial" pitchFamily="34" charset="0"/>
              </a:rPr>
              <a:t>des </a:t>
            </a:r>
            <a:r>
              <a:rPr lang="fr-FR" sz="3200" dirty="0" smtClean="0">
                <a:latin typeface="Arial" pitchFamily="34" charset="0"/>
                <a:cs typeface="Arial" pitchFamily="34" charset="0"/>
              </a:rPr>
              <a:t>gamètes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3200" dirty="0" smtClean="0">
                <a:latin typeface="Arial" pitchFamily="34" charset="0"/>
                <a:ea typeface="Times New Roman" pitchFamily="18" charset="0"/>
                <a:cs typeface="Arial" pitchFamily="34" charset="0"/>
              </a:rPr>
              <a:t>           gamète mâle : </a:t>
            </a:r>
            <a:r>
              <a:rPr lang="fr-FR" sz="3200" dirty="0" smtClean="0">
                <a:solidFill>
                  <a:srgbClr val="92D05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spermatozoïde (n </a:t>
            </a:r>
            <a:r>
              <a:rPr lang="fr-FR" sz="3200" dirty="0" err="1" smtClean="0">
                <a:solidFill>
                  <a:srgbClr val="92D05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ch</a:t>
            </a:r>
            <a:r>
              <a:rPr lang="fr-FR" sz="3200" dirty="0" smtClean="0">
                <a:solidFill>
                  <a:srgbClr val="92D05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)</a:t>
            </a:r>
            <a:endParaRPr lang="fr-FR" sz="3200" dirty="0" smtClean="0">
              <a:solidFill>
                <a:srgbClr val="92D050"/>
              </a:solidFill>
              <a:latin typeface="Arial" pitchFamily="34" charset="0"/>
              <a:ea typeface="Times New Roman" pitchFamily="18" charset="0"/>
              <a:cs typeface="Arial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3200" dirty="0" smtClean="0">
                <a:latin typeface="Arial" pitchFamily="34" charset="0"/>
                <a:ea typeface="Times New Roman" pitchFamily="18" charset="0"/>
                <a:cs typeface="Arial" pitchFamily="34" charset="0"/>
              </a:rPr>
              <a:t>           gamète femelle: </a:t>
            </a:r>
            <a:r>
              <a:rPr lang="fr-FR" sz="3200" dirty="0" smtClean="0">
                <a:solidFill>
                  <a:srgbClr val="92D05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ovocyte</a:t>
            </a:r>
            <a:r>
              <a:rPr lang="fr-FR" sz="3200" dirty="0" smtClean="0">
                <a:solidFill>
                  <a:srgbClr val="92D05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fr-FR" sz="3200" dirty="0" smtClean="0">
                <a:solidFill>
                  <a:srgbClr val="92D050"/>
                </a:solidFill>
                <a:latin typeface="Arial" pitchFamily="34" charset="0"/>
                <a:cs typeface="Arial" pitchFamily="34" charset="0"/>
              </a:rPr>
              <a:t>(</a:t>
            </a:r>
            <a:r>
              <a:rPr lang="fr-FR" sz="3200" dirty="0" err="1" smtClean="0">
                <a:solidFill>
                  <a:srgbClr val="92D050"/>
                </a:solidFill>
                <a:latin typeface="Arial" pitchFamily="34" charset="0"/>
                <a:cs typeface="Arial" pitchFamily="34" charset="0"/>
              </a:rPr>
              <a:t>nch</a:t>
            </a:r>
            <a:r>
              <a:rPr lang="fr-FR" sz="3200" dirty="0" smtClean="0">
                <a:solidFill>
                  <a:srgbClr val="92D050"/>
                </a:solidFill>
                <a:latin typeface="Arial" pitchFamily="34" charset="0"/>
                <a:cs typeface="Arial" pitchFamily="34" charset="0"/>
              </a:rPr>
              <a:t>)</a:t>
            </a:r>
            <a:endParaRPr lang="fr-FR" sz="3200" dirty="0" smtClean="0">
              <a:solidFill>
                <a:srgbClr val="92D050"/>
              </a:solidFill>
              <a:latin typeface="Arial" pitchFamily="34" charset="0"/>
              <a:cs typeface="Arial" pitchFamily="34" charset="0"/>
            </a:endParaRPr>
          </a:p>
          <a:p>
            <a:endParaRPr lang="fr-FR" sz="3200" dirty="0" smtClean="0">
              <a:latin typeface="Arial" pitchFamily="34" charset="0"/>
              <a:cs typeface="Arial" pitchFamily="34" charset="0"/>
            </a:endParaRPr>
          </a:p>
          <a:p>
            <a:endParaRPr lang="fr-FR" sz="3200" dirty="0" smtClean="0">
              <a:latin typeface="Arial" pitchFamily="34" charset="0"/>
              <a:cs typeface="Arial" pitchFamily="34" charset="0"/>
            </a:endParaRPr>
          </a:p>
          <a:p>
            <a:endParaRPr lang="fr-FR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6386" name="Rectangle 2"/>
          <p:cNvSpPr>
            <a:spLocks noChangeArrowheads="1"/>
          </p:cNvSpPr>
          <p:nvPr/>
        </p:nvSpPr>
        <p:spPr bwMode="auto">
          <a:xfrm>
            <a:off x="0" y="1631122"/>
            <a:ext cx="5899372" cy="32932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fr-FR" sz="2400" b="1" dirty="0" smtClean="0">
              <a:latin typeface="Arial" pitchFamily="34" charset="0"/>
              <a:ea typeface="Times New Roman" pitchFamily="18" charset="0"/>
              <a:cs typeface="Arial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Times New Roman" pitchFamily="18" charset="0"/>
              <a:cs typeface="Arial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fr-FR" sz="2400" b="1" dirty="0" smtClean="0">
              <a:latin typeface="Arial" pitchFamily="34" charset="0"/>
              <a:ea typeface="Times New Roman" pitchFamily="18" charset="0"/>
              <a:cs typeface="Arial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Times New Roman" pitchFamily="18" charset="0"/>
              <a:cs typeface="Arial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fr-FR" sz="2400" b="1" dirty="0" smtClean="0">
              <a:latin typeface="Arial" pitchFamily="34" charset="0"/>
              <a:ea typeface="Times New Roman" pitchFamily="18" charset="0"/>
              <a:cs typeface="Arial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q"/>
              <a:tabLst/>
            </a:pPr>
            <a:r>
              <a:rPr kumimoji="0" lang="fr-FR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La fécondation</a:t>
            </a:r>
            <a:r>
              <a:rPr kumimoji="0" lang="fr-FR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               fusion des 2 gamètes</a:t>
            </a:r>
            <a:endParaRPr kumimoji="0" lang="fr-FR" sz="3200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6388" name="Rectangle 4"/>
          <p:cNvSpPr>
            <a:spLocks noChangeArrowheads="1"/>
          </p:cNvSpPr>
          <p:nvPr/>
        </p:nvSpPr>
        <p:spPr bwMode="auto">
          <a:xfrm>
            <a:off x="0" y="5085184"/>
            <a:ext cx="54006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q"/>
              <a:tabLst/>
            </a:pPr>
            <a:r>
              <a:rPr kumimoji="0" lang="fr-FR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Le développement</a:t>
            </a:r>
            <a:r>
              <a:rPr kumimoji="0" lang="fr-FR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endParaRPr kumimoji="0" lang="fr-FR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67544" y="5657671"/>
            <a:ext cx="756084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3600" dirty="0" smtClean="0"/>
              <a:t>              formation </a:t>
            </a:r>
            <a:r>
              <a:rPr lang="fr-FR" sz="3600" dirty="0"/>
              <a:t>de </a:t>
            </a:r>
            <a:r>
              <a:rPr lang="fr-FR" sz="3600" dirty="0" smtClean="0"/>
              <a:t>l'individu</a:t>
            </a:r>
            <a:endParaRPr lang="fr-FR" sz="3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63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63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163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163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1638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6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6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5" grpId="0" build="p"/>
      <p:bldP spid="3" grpId="0" build="p"/>
      <p:bldP spid="16386" grpId="0" build="p"/>
      <p:bldP spid="16388" grpId="0" build="p"/>
      <p:bldP spid="7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1"/>
          <p:cNvSpPr>
            <a:spLocks noChangeArrowheads="1"/>
          </p:cNvSpPr>
          <p:nvPr/>
        </p:nvSpPr>
        <p:spPr bwMode="auto">
          <a:xfrm>
            <a:off x="0" y="-2106325"/>
            <a:ext cx="21207259" cy="112107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152352" rIns="91440" bIns="38088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4445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endParaRPr kumimoji="0" lang="fr-FR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4445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fr-FR" sz="2400" b="1" dirty="0" smtClean="0">
              <a:latin typeface="Arial" pitchFamily="34" charset="0"/>
              <a:cs typeface="Arial" pitchFamily="34" charset="0"/>
            </a:endParaRPr>
          </a:p>
          <a:p>
            <a:pPr marL="0" marR="0" lvl="0" indent="4445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fr-FR" sz="2400" b="1" dirty="0" smtClean="0">
              <a:latin typeface="Arial" pitchFamily="34" charset="0"/>
              <a:cs typeface="Arial" pitchFamily="34" charset="0"/>
            </a:endParaRPr>
          </a:p>
          <a:p>
            <a:pPr marL="0" marR="0" lvl="0" indent="4445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fr-FR" sz="2400" b="1" dirty="0" smtClean="0">
              <a:latin typeface="Arial" pitchFamily="34" charset="0"/>
              <a:cs typeface="Arial" pitchFamily="34" charset="0"/>
            </a:endParaRPr>
          </a:p>
          <a:p>
            <a:pPr marL="0" marR="0" lvl="0" indent="4445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fr-FR" sz="2400" b="1" dirty="0" smtClean="0">
              <a:latin typeface="Arial" pitchFamily="34" charset="0"/>
              <a:cs typeface="Arial" pitchFamily="34" charset="0"/>
            </a:endParaRPr>
          </a:p>
          <a:p>
            <a:pPr marL="0" marR="0" lvl="0" indent="4445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fr-FR" sz="2400" b="1" dirty="0" smtClean="0">
              <a:latin typeface="Arial" pitchFamily="34" charset="0"/>
              <a:cs typeface="Arial" pitchFamily="34" charset="0"/>
            </a:endParaRPr>
          </a:p>
          <a:p>
            <a:pPr marL="0" marR="0" lvl="0" indent="4445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fr-FR" sz="2400" b="1" dirty="0" smtClean="0">
              <a:latin typeface="Arial" pitchFamily="34" charset="0"/>
              <a:cs typeface="Arial" pitchFamily="34" charset="0"/>
            </a:endParaRPr>
          </a:p>
          <a:p>
            <a:pPr marL="0" marR="0" lvl="0" indent="4445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fr-FR" sz="2400" b="1" dirty="0" smtClean="0">
              <a:latin typeface="Arial" pitchFamily="34" charset="0"/>
              <a:cs typeface="Arial" pitchFamily="34" charset="0"/>
            </a:endParaRPr>
          </a:p>
          <a:p>
            <a:pPr marL="0" marR="0" lvl="0" indent="4445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fr-FR" sz="2400" b="1" dirty="0" smtClean="0">
              <a:latin typeface="Arial" pitchFamily="34" charset="0"/>
              <a:cs typeface="Arial" pitchFamily="34" charset="0"/>
            </a:endParaRPr>
          </a:p>
          <a:p>
            <a:pPr marL="0" marR="0" lvl="0" indent="4445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fr-FR" sz="28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PREMIÈRE SEMAINE</a:t>
            </a:r>
          </a:p>
          <a:p>
            <a:pPr marL="0" marR="0" lvl="0" indent="4445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endParaRPr kumimoji="0" lang="fr-FR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444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fr-FR" sz="2400" b="1" i="0" u="none" strike="noStrike" cap="none" normalizeH="0" baseline="0" dirty="0" smtClean="0">
                <a:ln>
                  <a:noFill/>
                </a:ln>
                <a:solidFill>
                  <a:srgbClr val="FFFF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1. Fécondation</a:t>
            </a:r>
          </a:p>
          <a:p>
            <a:pPr marL="0" marR="0" lvl="0" indent="444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800" b="1" dirty="0" smtClean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Spermatozoïde + Ovocyte =     </a:t>
            </a:r>
            <a:r>
              <a:rPr lang="fr-FR" sz="2400" b="1" dirty="0" smtClean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œuf : Zygote</a:t>
            </a:r>
          </a:p>
          <a:p>
            <a:pPr marL="0" marR="0" lvl="0" indent="444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400" b="1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pitchFamily="34" charset="0"/>
              <a:ea typeface="Times New Roman" pitchFamily="18" charset="0"/>
              <a:cs typeface="Arial" pitchFamily="34" charset="0"/>
            </a:endParaRPr>
          </a:p>
          <a:p>
            <a:pPr marL="0" marR="0" lvl="0" indent="444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 b="1" dirty="0" smtClean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lang="fr-FR" sz="2400" b="1" dirty="0" smtClean="0">
                <a:solidFill>
                  <a:srgbClr val="FFFF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2. Segmentation</a:t>
            </a:r>
            <a:endParaRPr kumimoji="0" lang="fr-FR" sz="2400" b="1" i="0" u="none" strike="noStrike" cap="none" normalizeH="0" baseline="0" dirty="0" smtClean="0">
              <a:ln>
                <a:noFill/>
              </a:ln>
              <a:solidFill>
                <a:srgbClr val="FFFF00"/>
              </a:solidFill>
              <a:effectLst/>
              <a:latin typeface="Arial" pitchFamily="34" charset="0"/>
              <a:ea typeface="Times New Roman" pitchFamily="18" charset="0"/>
              <a:cs typeface="Arial" pitchFamily="34" charset="0"/>
            </a:endParaRPr>
          </a:p>
          <a:p>
            <a:pPr indent="444500" eaLnBrk="0" fontAlgn="base" hangingPunct="0">
              <a:spcBef>
                <a:spcPct val="0"/>
              </a:spcBef>
              <a:spcAft>
                <a:spcPct val="0"/>
              </a:spcAft>
            </a:pPr>
            <a:endParaRPr lang="fr-FR" sz="3200" b="1" dirty="0" smtClean="0">
              <a:solidFill>
                <a:srgbClr val="000000"/>
              </a:solidFill>
              <a:latin typeface="Arial" pitchFamily="34" charset="0"/>
              <a:ea typeface="Times New Roman" pitchFamily="18" charset="0"/>
              <a:cs typeface="Arial" pitchFamily="34" charset="0"/>
            </a:endParaRPr>
          </a:p>
          <a:p>
            <a:pPr marL="0" marR="0" lvl="0" indent="444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28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œuf                      Morula</a:t>
            </a:r>
          </a:p>
          <a:p>
            <a:pPr lvl="0" indent="444500" eaLnBrk="0" fontAlgn="base" hangingPunct="0">
              <a:spcBef>
                <a:spcPct val="0"/>
              </a:spcBef>
              <a:spcAft>
                <a:spcPct val="0"/>
              </a:spcAft>
            </a:pPr>
            <a:endParaRPr lang="fr-FR" sz="2800" b="1" dirty="0" smtClean="0">
              <a:solidFill>
                <a:srgbClr val="000000"/>
              </a:solidFill>
              <a:latin typeface="Arial" pitchFamily="34" charset="0"/>
              <a:ea typeface="Times New Roman" pitchFamily="18" charset="0"/>
              <a:cs typeface="Arial" pitchFamily="34" charset="0"/>
            </a:endParaRPr>
          </a:p>
          <a:p>
            <a:pPr lvl="0" indent="444500" eaLnBrk="0" fontAlgn="base" hangingPunct="0">
              <a:spcBef>
                <a:spcPct val="0"/>
              </a:spcBef>
              <a:spcAft>
                <a:spcPct val="0"/>
              </a:spcAft>
            </a:pPr>
            <a:endParaRPr lang="fr-FR" sz="2800" b="1" dirty="0" smtClean="0">
              <a:solidFill>
                <a:srgbClr val="000000"/>
              </a:solidFill>
              <a:latin typeface="Arial" pitchFamily="34" charset="0"/>
              <a:ea typeface="Times New Roman" pitchFamily="18" charset="0"/>
              <a:cs typeface="Arial" pitchFamily="34" charset="0"/>
            </a:endParaRPr>
          </a:p>
          <a:p>
            <a:pPr lvl="0" indent="4445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800" b="1" dirty="0" smtClean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Morula                   </a:t>
            </a:r>
            <a:r>
              <a:rPr lang="fr-FR" sz="2800" b="1" dirty="0" err="1" smtClean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Blastocyste</a:t>
            </a:r>
            <a:endParaRPr lang="fr-FR" sz="2800" b="1" dirty="0" smtClean="0">
              <a:solidFill>
                <a:srgbClr val="000000"/>
              </a:solidFill>
              <a:latin typeface="Arial" pitchFamily="34" charset="0"/>
              <a:ea typeface="Times New Roman" pitchFamily="18" charset="0"/>
              <a:cs typeface="Arial" pitchFamily="34" charset="0"/>
            </a:endParaRPr>
          </a:p>
          <a:p>
            <a:pPr lvl="0" indent="4445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800" b="1" dirty="0" smtClean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endParaRPr lang="fr-FR" sz="2800" b="1" dirty="0" smtClean="0">
              <a:latin typeface="Arial" pitchFamily="34" charset="0"/>
              <a:cs typeface="Arial" pitchFamily="34" charset="0"/>
            </a:endParaRPr>
          </a:p>
          <a:p>
            <a:pPr marL="0" marR="0" lvl="0" indent="444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28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 </a:t>
            </a:r>
            <a:r>
              <a:rPr kumimoji="0" lang="fr-FR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         </a:t>
            </a:r>
          </a:p>
          <a:p>
            <a:pPr marL="0" marR="0" lvl="0" indent="444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fr-FR" sz="2400" b="1" dirty="0" smtClean="0">
              <a:solidFill>
                <a:srgbClr val="000000"/>
              </a:solidFill>
              <a:latin typeface="Arial" pitchFamily="34" charset="0"/>
              <a:ea typeface="Times New Roman" pitchFamily="18" charset="0"/>
              <a:cs typeface="Arial" pitchFamily="34" charset="0"/>
            </a:endParaRPr>
          </a:p>
          <a:p>
            <a:pPr marL="0" marR="0" lvl="0" indent="444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400" b="1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pitchFamily="34" charset="0"/>
              <a:ea typeface="Times New Roman" pitchFamily="18" charset="0"/>
              <a:cs typeface="Arial" pitchFamily="34" charset="0"/>
            </a:endParaRPr>
          </a:p>
          <a:p>
            <a:pPr marL="0" marR="0" lvl="0" indent="444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fr-FR" sz="2400" b="1" dirty="0" smtClean="0">
              <a:solidFill>
                <a:srgbClr val="000000"/>
              </a:solidFill>
              <a:latin typeface="Arial" pitchFamily="34" charset="0"/>
              <a:ea typeface="Times New Roman" pitchFamily="18" charset="0"/>
              <a:cs typeface="Arial" pitchFamily="34" charset="0"/>
            </a:endParaRPr>
          </a:p>
          <a:p>
            <a:pPr indent="444500" eaLnBrk="0" fontAlgn="base" hangingPunct="0">
              <a:spcBef>
                <a:spcPct val="0"/>
              </a:spcBef>
              <a:spcAft>
                <a:spcPct val="0"/>
              </a:spcAft>
            </a:pPr>
            <a:endParaRPr lang="fr-FR" sz="3200" b="1" dirty="0" smtClean="0">
              <a:solidFill>
                <a:srgbClr val="000000"/>
              </a:solidFill>
              <a:latin typeface="Arial" pitchFamily="34" charset="0"/>
              <a:ea typeface="Times New Roman" pitchFamily="18" charset="0"/>
              <a:cs typeface="Arial" pitchFamily="34" charset="0"/>
            </a:endParaRPr>
          </a:p>
          <a:p>
            <a:pPr lvl="0" indent="444500" eaLnBrk="0" fontAlgn="base" hangingPunct="0">
              <a:spcBef>
                <a:spcPct val="0"/>
              </a:spcBef>
              <a:spcAft>
                <a:spcPct val="0"/>
              </a:spcAft>
            </a:pPr>
            <a:endParaRPr lang="fr-FR" sz="2400" b="1" dirty="0" smtClean="0">
              <a:solidFill>
                <a:srgbClr val="000000"/>
              </a:solidFill>
              <a:latin typeface="Arial" pitchFamily="34" charset="0"/>
              <a:ea typeface="Times New Roman" pitchFamily="18" charset="0"/>
              <a:cs typeface="Arial" pitchFamily="34" charset="0"/>
            </a:endParaRPr>
          </a:p>
          <a:p>
            <a:pPr lvl="0" indent="444500" eaLnBrk="0" fontAlgn="base" hangingPunct="0">
              <a:spcBef>
                <a:spcPct val="0"/>
              </a:spcBef>
              <a:spcAft>
                <a:spcPct val="0"/>
              </a:spcAft>
            </a:pPr>
            <a:endParaRPr lang="fr-FR" sz="2400" b="1" dirty="0" smtClean="0">
              <a:solidFill>
                <a:srgbClr val="000000"/>
              </a:solidFill>
              <a:latin typeface="Arial" pitchFamily="34" charset="0"/>
              <a:ea typeface="Times New Roman" pitchFamily="18" charset="0"/>
              <a:cs typeface="Arial" pitchFamily="34" charset="0"/>
            </a:endParaRPr>
          </a:p>
        </p:txBody>
      </p:sp>
      <p:sp>
        <p:nvSpPr>
          <p:cNvPr id="5" name="Flèche droite 4"/>
          <p:cNvSpPr/>
          <p:nvPr/>
        </p:nvSpPr>
        <p:spPr>
          <a:xfrm>
            <a:off x="1691680" y="4365104"/>
            <a:ext cx="978408" cy="1440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" name="ZoneTexte 9"/>
          <p:cNvSpPr txBox="1"/>
          <p:nvPr/>
        </p:nvSpPr>
        <p:spPr>
          <a:xfrm>
            <a:off x="2483768" y="332656"/>
            <a:ext cx="52220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fr-FR" sz="2800" b="1" dirty="0" smtClean="0">
                <a:latin typeface="Calibri" pitchFamily="34" charset="0"/>
                <a:cs typeface="Calibri" pitchFamily="34" charset="0"/>
              </a:rPr>
              <a:t>DÉVELOPPEMENT DE L'EMBRYON</a:t>
            </a:r>
            <a:endParaRPr lang="fr-FR" sz="28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2" name="Flèche droite 11"/>
          <p:cNvSpPr/>
          <p:nvPr/>
        </p:nvSpPr>
        <p:spPr>
          <a:xfrm>
            <a:off x="2123728" y="5661248"/>
            <a:ext cx="978408" cy="1440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0"/>
            <a:ext cx="889248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Résultat de recherche d'images pour &quot;blastocyste&quot;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0"/>
            <a:ext cx="8064896" cy="659735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/>
          <p:cNvSpPr txBox="1"/>
          <p:nvPr/>
        </p:nvSpPr>
        <p:spPr>
          <a:xfrm>
            <a:off x="4427984" y="1196752"/>
            <a:ext cx="44566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solidFill>
                  <a:schemeClr val="bg1"/>
                </a:solidFill>
              </a:rPr>
              <a:t>    </a:t>
            </a:r>
            <a:r>
              <a:rPr lang="fr-FR" sz="2800" b="1" dirty="0" smtClean="0">
                <a:solidFill>
                  <a:srgbClr val="FFFF00"/>
                </a:solidFill>
              </a:rPr>
              <a:t>=</a:t>
            </a:r>
            <a:r>
              <a:rPr lang="fr-FR" sz="2800" b="1" dirty="0" smtClean="0">
                <a:solidFill>
                  <a:schemeClr val="bg1"/>
                </a:solidFill>
              </a:rPr>
              <a:t> </a:t>
            </a:r>
            <a:r>
              <a:rPr lang="fr-FR" sz="2800" b="1" dirty="0" smtClean="0">
                <a:solidFill>
                  <a:srgbClr val="FFFF00"/>
                </a:solidFill>
              </a:rPr>
              <a:t>Bouton embryonnaire</a:t>
            </a:r>
            <a:endParaRPr lang="fr-FR" sz="2800" b="1" dirty="0">
              <a:solidFill>
                <a:srgbClr val="FFFF00"/>
              </a:solidFill>
            </a:endParaRPr>
          </a:p>
        </p:txBody>
      </p:sp>
      <p:pic>
        <p:nvPicPr>
          <p:cNvPr id="17410" name="Picture 2" descr="Résultat de recherche d'images pour &quot;blastocyste&quot;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9592" y="980728"/>
            <a:ext cx="3733800" cy="54006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900592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b="1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DEUXIÈME SEMAINE</a:t>
            </a:r>
          </a:p>
          <a:p>
            <a:endParaRPr lang="fr-FR" sz="2800" b="1" dirty="0" smtClean="0">
              <a:solidFill>
                <a:srgbClr val="FFFF00"/>
              </a:solidFill>
              <a:latin typeface="Calibri" pitchFamily="34" charset="0"/>
              <a:cs typeface="Calibri" pitchFamily="34" charset="0"/>
            </a:endParaRPr>
          </a:p>
          <a:p>
            <a:r>
              <a:rPr lang="fr-FR" sz="2800" b="1" dirty="0" smtClean="0">
                <a:solidFill>
                  <a:srgbClr val="FFFF00"/>
                </a:solidFill>
                <a:latin typeface="Calibri" pitchFamily="34" charset="0"/>
                <a:cs typeface="Calibri" pitchFamily="34" charset="0"/>
              </a:rPr>
              <a:t>PRÉGASTRULATION= DISQUE EMBRYONNAIRE DIDERMIQUE </a:t>
            </a:r>
          </a:p>
        </p:txBody>
      </p:sp>
      <p:sp>
        <p:nvSpPr>
          <p:cNvPr id="3" name="Rectangle 2"/>
          <p:cNvSpPr/>
          <p:nvPr/>
        </p:nvSpPr>
        <p:spPr>
          <a:xfrm>
            <a:off x="3995936" y="2708920"/>
            <a:ext cx="914400" cy="12241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Rectangle 3"/>
          <p:cNvSpPr/>
          <p:nvPr/>
        </p:nvSpPr>
        <p:spPr>
          <a:xfrm>
            <a:off x="4932040" y="2708920"/>
            <a:ext cx="914400" cy="12241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/>
          <p:cNvSpPr/>
          <p:nvPr/>
        </p:nvSpPr>
        <p:spPr>
          <a:xfrm>
            <a:off x="5796136" y="2708920"/>
            <a:ext cx="914400" cy="12241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Organigramme : Connecteur 8"/>
          <p:cNvSpPr/>
          <p:nvPr/>
        </p:nvSpPr>
        <p:spPr>
          <a:xfrm>
            <a:off x="3923928" y="3933056"/>
            <a:ext cx="457200" cy="457200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Organigramme : Connecteur 9"/>
          <p:cNvSpPr/>
          <p:nvPr/>
        </p:nvSpPr>
        <p:spPr>
          <a:xfrm>
            <a:off x="4355976" y="3933056"/>
            <a:ext cx="457200" cy="457200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Organigramme : Connecteur 10"/>
          <p:cNvSpPr/>
          <p:nvPr/>
        </p:nvSpPr>
        <p:spPr>
          <a:xfrm>
            <a:off x="4860032" y="3933056"/>
            <a:ext cx="457200" cy="457200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Organigramme : Connecteur 11"/>
          <p:cNvSpPr/>
          <p:nvPr/>
        </p:nvSpPr>
        <p:spPr>
          <a:xfrm>
            <a:off x="5292080" y="3933056"/>
            <a:ext cx="457200" cy="457200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Organigramme : Connecteur 12"/>
          <p:cNvSpPr/>
          <p:nvPr/>
        </p:nvSpPr>
        <p:spPr>
          <a:xfrm>
            <a:off x="5724128" y="3933056"/>
            <a:ext cx="457200" cy="457200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Organigramme : Connecteur 13"/>
          <p:cNvSpPr/>
          <p:nvPr/>
        </p:nvSpPr>
        <p:spPr>
          <a:xfrm>
            <a:off x="6156176" y="3933056"/>
            <a:ext cx="457200" cy="457200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Organigramme : Connecteur 14"/>
          <p:cNvSpPr/>
          <p:nvPr/>
        </p:nvSpPr>
        <p:spPr>
          <a:xfrm>
            <a:off x="6588224" y="3933056"/>
            <a:ext cx="457200" cy="457200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6385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1772816"/>
            <a:ext cx="7848872" cy="4608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8947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b="1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TROISIÈME SEMAINE</a:t>
            </a:r>
          </a:p>
          <a:p>
            <a:r>
              <a:rPr lang="fr-FR" sz="2800" b="1" dirty="0" smtClean="0">
                <a:solidFill>
                  <a:srgbClr val="FFFF00"/>
                </a:solidFill>
                <a:latin typeface="Calibri" pitchFamily="34" charset="0"/>
                <a:cs typeface="Calibri" pitchFamily="34" charset="0"/>
              </a:rPr>
              <a:t>GASTRULATION= DISQUE EMBRYONNAIRE TRI DERMIQUE </a:t>
            </a:r>
          </a:p>
          <a:p>
            <a:endParaRPr lang="fr-FR" sz="2800" dirty="0" smtClean="0">
              <a:latin typeface="Calibri" pitchFamily="34" charset="0"/>
              <a:cs typeface="Calibri" pitchFamily="34" charset="0"/>
            </a:endParaRPr>
          </a:p>
          <a:p>
            <a:r>
              <a:rPr lang="fr-FR" sz="2800" dirty="0" smtClean="0">
                <a:latin typeface="Calibri" pitchFamily="34" charset="0"/>
                <a:cs typeface="Calibri" pitchFamily="34" charset="0"/>
              </a:rPr>
              <a:t>                                                                   </a:t>
            </a:r>
            <a:r>
              <a:rPr lang="fr-FR" sz="2800" dirty="0" err="1" smtClean="0">
                <a:latin typeface="Calibri" pitchFamily="34" charset="0"/>
                <a:cs typeface="Calibri" pitchFamily="34" charset="0"/>
              </a:rPr>
              <a:t>ectophylle</a:t>
            </a:r>
            <a:endParaRPr lang="fr-FR" sz="2800" dirty="0" smtClean="0">
              <a:latin typeface="Calibri" pitchFamily="34" charset="0"/>
              <a:cs typeface="Calibri" pitchFamily="34" charset="0"/>
            </a:endParaRPr>
          </a:p>
          <a:p>
            <a:r>
              <a:rPr lang="fr-FR" sz="2800" dirty="0" smtClean="0">
                <a:latin typeface="Calibri" pitchFamily="34" charset="0"/>
                <a:cs typeface="Calibri" pitchFamily="34" charset="0"/>
              </a:rPr>
              <a:t>  Troisième feuillet :       </a:t>
            </a:r>
            <a:r>
              <a:rPr lang="fr-FR" sz="2800" b="1" dirty="0" smtClean="0">
                <a:latin typeface="Calibri" pitchFamily="34" charset="0"/>
                <a:cs typeface="Calibri" pitchFamily="34" charset="0"/>
              </a:rPr>
              <a:t>le   mésoblaste</a:t>
            </a:r>
          </a:p>
          <a:p>
            <a:r>
              <a:rPr lang="fr-FR" sz="2800" b="1" dirty="0" smtClean="0">
                <a:latin typeface="Calibri" pitchFamily="34" charset="0"/>
                <a:cs typeface="Calibri" pitchFamily="34" charset="0"/>
              </a:rPr>
              <a:t>                                                                  </a:t>
            </a:r>
            <a:r>
              <a:rPr lang="fr-FR" sz="2800" b="1" dirty="0" err="1" smtClean="0">
                <a:latin typeface="Calibri" pitchFamily="34" charset="0"/>
                <a:cs typeface="Calibri" pitchFamily="34" charset="0"/>
              </a:rPr>
              <a:t>entophylle</a:t>
            </a:r>
            <a:endParaRPr lang="fr-FR" sz="2800" dirty="0" smtClean="0">
              <a:latin typeface="Calibri" pitchFamily="34" charset="0"/>
              <a:cs typeface="Calibri" pitchFamily="34" charset="0"/>
            </a:endParaRPr>
          </a:p>
          <a:p>
            <a:r>
              <a:rPr lang="fr-FR" sz="2800" b="1" dirty="0" smtClean="0">
                <a:latin typeface="Calibri" pitchFamily="34" charset="0"/>
                <a:cs typeface="Calibri" pitchFamily="34" charset="0"/>
              </a:rPr>
              <a:t>  </a:t>
            </a:r>
            <a:r>
              <a:rPr lang="fr-FR" sz="2800" b="1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  </a:t>
            </a:r>
          </a:p>
          <a:p>
            <a:r>
              <a:rPr lang="fr-FR" sz="2800" b="1" dirty="0" smtClean="0">
                <a:latin typeface="Calibri" pitchFamily="34" charset="0"/>
                <a:cs typeface="Calibri" pitchFamily="34" charset="0"/>
              </a:rPr>
              <a:t>                            </a:t>
            </a:r>
          </a:p>
          <a:p>
            <a:r>
              <a:rPr lang="fr-FR" sz="28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fr-FR" sz="2800" dirty="0" err="1" smtClean="0">
                <a:latin typeface="Calibri" pitchFamily="34" charset="0"/>
                <a:cs typeface="Calibri" pitchFamily="34" charset="0"/>
              </a:rPr>
              <a:t>Ectophylle</a:t>
            </a:r>
            <a:r>
              <a:rPr lang="fr-FR" sz="2800" dirty="0" smtClean="0">
                <a:latin typeface="Calibri" pitchFamily="34" charset="0"/>
                <a:cs typeface="Calibri" pitchFamily="34" charset="0"/>
              </a:rPr>
              <a:t> =  Ectoblaste</a:t>
            </a:r>
          </a:p>
          <a:p>
            <a:r>
              <a:rPr lang="fr-FR" sz="2800" dirty="0" smtClean="0">
                <a:latin typeface="Calibri" pitchFamily="34" charset="0"/>
                <a:cs typeface="Calibri" pitchFamily="34" charset="0"/>
              </a:rPr>
              <a:t>                       Mésoblaste </a:t>
            </a:r>
          </a:p>
          <a:p>
            <a:r>
              <a:rPr lang="fr-FR" sz="28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fr-FR" sz="2800" dirty="0" err="1" smtClean="0">
                <a:latin typeface="Calibri" pitchFamily="34" charset="0"/>
                <a:cs typeface="Calibri" pitchFamily="34" charset="0"/>
              </a:rPr>
              <a:t>Entophylle</a:t>
            </a:r>
            <a:r>
              <a:rPr lang="fr-FR" sz="2800" dirty="0" smtClean="0">
                <a:latin typeface="Calibri" pitchFamily="34" charset="0"/>
                <a:cs typeface="Calibri" pitchFamily="34" charset="0"/>
              </a:rPr>
              <a:t> =  </a:t>
            </a:r>
            <a:r>
              <a:rPr lang="fr-FR" sz="2800" dirty="0" err="1" smtClean="0">
                <a:latin typeface="Calibri" pitchFamily="34" charset="0"/>
                <a:cs typeface="Calibri" pitchFamily="34" charset="0"/>
              </a:rPr>
              <a:t>Entoblaste</a:t>
            </a:r>
            <a:endParaRPr lang="fr-FR" sz="2800" dirty="0" smtClean="0">
              <a:latin typeface="Calibri" pitchFamily="34" charset="0"/>
              <a:cs typeface="Calibri" pitchFamily="34" charset="0"/>
            </a:endParaRPr>
          </a:p>
          <a:p>
            <a:r>
              <a:rPr lang="fr-FR" sz="2800" b="1" dirty="0" smtClean="0">
                <a:latin typeface="Calibri" pitchFamily="34" charset="0"/>
                <a:cs typeface="Calibri" pitchFamily="34" charset="0"/>
              </a:rPr>
              <a:t> = </a:t>
            </a:r>
            <a:r>
              <a:rPr lang="fr-FR" sz="2800" b="1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Trois </a:t>
            </a:r>
            <a:r>
              <a:rPr lang="fr-FR" sz="2800" b="1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feuillets </a:t>
            </a:r>
            <a:r>
              <a:rPr lang="fr-FR" sz="2800" b="1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fondamentaux</a:t>
            </a:r>
            <a:r>
              <a:rPr lang="fr-FR" sz="2800" b="1" dirty="0" smtClean="0">
                <a:latin typeface="Calibri" pitchFamily="34" charset="0"/>
                <a:cs typeface="Calibri" pitchFamily="34" charset="0"/>
              </a:rPr>
              <a:t>:     ébauches des organes </a:t>
            </a:r>
            <a:r>
              <a:rPr lang="fr-FR" sz="2800" b="1" dirty="0">
                <a:latin typeface="Calibri" pitchFamily="34" charset="0"/>
                <a:cs typeface="Calibri" pitchFamily="34" charset="0"/>
              </a:rPr>
              <a:t>et </a:t>
            </a:r>
            <a:r>
              <a:rPr lang="fr-FR" sz="2800" b="1" dirty="0" smtClean="0">
                <a:latin typeface="Calibri" pitchFamily="34" charset="0"/>
                <a:cs typeface="Calibri" pitchFamily="34" charset="0"/>
              </a:rPr>
              <a:t>systèmes </a:t>
            </a:r>
            <a:r>
              <a:rPr lang="fr-FR" sz="2800" b="1" dirty="0">
                <a:latin typeface="Calibri" pitchFamily="34" charset="0"/>
                <a:cs typeface="Calibri" pitchFamily="34" charset="0"/>
              </a:rPr>
              <a:t>qui vont permettre à l'organisme humain de fonctionner normalement</a:t>
            </a:r>
            <a:r>
              <a:rPr lang="fr-FR" sz="2800" dirty="0" smtClean="0">
                <a:latin typeface="Calibri" pitchFamily="34" charset="0"/>
                <a:cs typeface="Calibri" pitchFamily="34" charset="0"/>
              </a:rPr>
              <a:t>.</a:t>
            </a:r>
          </a:p>
          <a:p>
            <a:endParaRPr lang="fr-FR" sz="2800" dirty="0" smtClean="0">
              <a:latin typeface="Calibri" pitchFamily="34" charset="0"/>
              <a:cs typeface="Calibri" pitchFamily="34" charset="0"/>
            </a:endParaRPr>
          </a:p>
          <a:p>
            <a:endParaRPr lang="fr-FR" sz="2800" dirty="0" smtClean="0">
              <a:latin typeface="Calibri" pitchFamily="34" charset="0"/>
              <a:cs typeface="Calibri" pitchFamily="34" charset="0"/>
            </a:endParaRPr>
          </a:p>
          <a:p>
            <a:endParaRPr lang="fr-FR" sz="2800" dirty="0" smtClean="0">
              <a:latin typeface="Calibri" pitchFamily="34" charset="0"/>
              <a:cs typeface="Calibri" pitchFamily="34" charset="0"/>
            </a:endParaRPr>
          </a:p>
          <a:p>
            <a:endParaRPr lang="fr-FR" sz="2400" dirty="0">
              <a:latin typeface="Arial" pitchFamily="34" charset="0"/>
              <a:cs typeface="Arial" pitchFamily="34" charset="0"/>
            </a:endParaRPr>
          </a:p>
          <a:p>
            <a:endParaRPr lang="fr-FR" sz="2400" dirty="0" smtClean="0">
              <a:latin typeface="Arial" pitchFamily="34" charset="0"/>
              <a:cs typeface="Arial" pitchFamily="34" charset="0"/>
            </a:endParaRPr>
          </a:p>
          <a:p>
            <a:endParaRPr lang="fr-FR" sz="2400" dirty="0">
              <a:latin typeface="Arial" pitchFamily="34" charset="0"/>
              <a:cs typeface="Arial" pitchFamily="34" charset="0"/>
            </a:endParaRPr>
          </a:p>
          <a:p>
            <a:r>
              <a:rPr lang="fr-FR" sz="2400" dirty="0" smtClean="0">
                <a:latin typeface="Arial" pitchFamily="34" charset="0"/>
                <a:cs typeface="Arial" pitchFamily="34" charset="0"/>
              </a:rPr>
              <a:t> </a:t>
            </a:r>
            <a:endParaRPr lang="fr-FR" sz="24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675456"/>
            <a:ext cx="8820472" cy="176048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fr-FR" sz="2400" b="1" dirty="0" smtClean="0">
              <a:latin typeface="Arial" pitchFamily="34" charset="0"/>
              <a:cs typeface="Arial" pitchFamily="34" charset="0"/>
            </a:endParaRPr>
          </a:p>
          <a:p>
            <a:r>
              <a:rPr lang="fr-FR" sz="2400" b="1" dirty="0" smtClean="0">
                <a:latin typeface="Arial" pitchFamily="34" charset="0"/>
                <a:cs typeface="Arial" pitchFamily="34" charset="0"/>
              </a:rPr>
              <a:t>                         </a:t>
            </a:r>
            <a:endParaRPr lang="fr-FR" sz="3600" b="1" dirty="0" smtClean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r>
              <a:rPr lang="fr-FR" sz="2800" b="1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QUATRIÈME SEMAINE</a:t>
            </a:r>
          </a:p>
          <a:p>
            <a:endParaRPr lang="fr-FR" sz="2800" b="1" dirty="0" smtClean="0">
              <a:latin typeface="Calibri" pitchFamily="34" charset="0"/>
              <a:cs typeface="Calibri" pitchFamily="34" charset="0"/>
            </a:endParaRPr>
          </a:p>
          <a:p>
            <a:r>
              <a:rPr lang="fr-FR" sz="2800" b="1" dirty="0" smtClean="0">
                <a:solidFill>
                  <a:srgbClr val="FFFF00"/>
                </a:solidFill>
                <a:latin typeface="Calibri" pitchFamily="34" charset="0"/>
                <a:cs typeface="Calibri" pitchFamily="34" charset="0"/>
              </a:rPr>
              <a:t>1. DEVENIR DES TROIS FEUILLETS</a:t>
            </a:r>
          </a:p>
          <a:p>
            <a:endParaRPr lang="fr-FR" sz="2800" b="1" dirty="0" smtClean="0">
              <a:latin typeface="Calibri" pitchFamily="34" charset="0"/>
              <a:cs typeface="Calibri" pitchFamily="34" charset="0"/>
            </a:endParaRPr>
          </a:p>
          <a:p>
            <a:r>
              <a:rPr lang="fr-FR" sz="2800" b="1" dirty="0" smtClean="0">
                <a:latin typeface="Calibri" pitchFamily="34" charset="0"/>
                <a:cs typeface="Calibri" pitchFamily="34" charset="0"/>
              </a:rPr>
              <a:t>Ectoblaste                         système nerveux</a:t>
            </a:r>
          </a:p>
          <a:p>
            <a:endParaRPr lang="fr-FR" sz="2800" b="1" dirty="0" smtClean="0">
              <a:latin typeface="Calibri" pitchFamily="34" charset="0"/>
              <a:cs typeface="Calibri" pitchFamily="34" charset="0"/>
            </a:endParaRPr>
          </a:p>
          <a:p>
            <a:r>
              <a:rPr lang="fr-FR" sz="2800" b="1" dirty="0" smtClean="0">
                <a:latin typeface="Calibri" pitchFamily="34" charset="0"/>
                <a:cs typeface="Calibri" pitchFamily="34" charset="0"/>
              </a:rPr>
              <a:t>Mésoblaste                        chorde</a:t>
            </a:r>
          </a:p>
          <a:p>
            <a:endParaRPr lang="fr-FR" sz="2800" b="1" dirty="0" smtClean="0">
              <a:latin typeface="Calibri" pitchFamily="34" charset="0"/>
              <a:cs typeface="Calibri" pitchFamily="34" charset="0"/>
            </a:endParaRPr>
          </a:p>
          <a:p>
            <a:r>
              <a:rPr lang="fr-FR" sz="2800" b="1" dirty="0" err="1" smtClean="0">
                <a:latin typeface="Calibri" pitchFamily="34" charset="0"/>
                <a:cs typeface="Calibri" pitchFamily="34" charset="0"/>
              </a:rPr>
              <a:t>Entoblaste</a:t>
            </a:r>
            <a:r>
              <a:rPr lang="fr-FR" sz="2800" b="1" dirty="0" smtClean="0">
                <a:latin typeface="Calibri" pitchFamily="34" charset="0"/>
                <a:cs typeface="Calibri" pitchFamily="34" charset="0"/>
              </a:rPr>
              <a:t>                         Tube digestif primitif</a:t>
            </a:r>
          </a:p>
          <a:p>
            <a:endParaRPr lang="fr-FR" sz="2800" b="1" dirty="0" smtClean="0">
              <a:solidFill>
                <a:srgbClr val="FFFF00"/>
              </a:solidFill>
              <a:latin typeface="Calibri" pitchFamily="34" charset="0"/>
              <a:cs typeface="Calibri" pitchFamily="34" charset="0"/>
            </a:endParaRPr>
          </a:p>
          <a:p>
            <a:endParaRPr lang="fr-FR" sz="2800" b="1" dirty="0" smtClean="0">
              <a:latin typeface="Calibri" pitchFamily="34" charset="0"/>
              <a:cs typeface="Calibri" pitchFamily="34" charset="0"/>
            </a:endParaRPr>
          </a:p>
          <a:p>
            <a:r>
              <a:rPr lang="fr-FR" sz="2800" b="1" dirty="0" smtClean="0">
                <a:latin typeface="Calibri" pitchFamily="34" charset="0"/>
                <a:cs typeface="Calibri" pitchFamily="34" charset="0"/>
              </a:rPr>
              <a:t>            </a:t>
            </a:r>
          </a:p>
          <a:p>
            <a:r>
              <a:rPr lang="fr-FR" sz="2800" b="1" dirty="0" smtClean="0">
                <a:latin typeface="Arial" pitchFamily="34" charset="0"/>
                <a:cs typeface="Arial" pitchFamily="34" charset="0"/>
              </a:rPr>
              <a:t>                           </a:t>
            </a:r>
          </a:p>
          <a:p>
            <a:r>
              <a:rPr lang="fr-FR" sz="2800" b="1" dirty="0" smtClean="0">
                <a:latin typeface="Arial" pitchFamily="34" charset="0"/>
                <a:cs typeface="Arial" pitchFamily="34" charset="0"/>
              </a:rPr>
              <a:t>                              </a:t>
            </a:r>
            <a:endParaRPr lang="fr-FR" sz="2800" dirty="0" smtClean="0">
              <a:latin typeface="Arial" pitchFamily="34" charset="0"/>
              <a:cs typeface="Arial" pitchFamily="34" charset="0"/>
            </a:endParaRPr>
          </a:p>
          <a:p>
            <a:r>
              <a:rPr lang="fr-FR" sz="2800" dirty="0" smtClean="0">
                <a:latin typeface="Arial" pitchFamily="34" charset="0"/>
                <a:cs typeface="Arial" pitchFamily="34" charset="0"/>
              </a:rPr>
              <a:t>                          </a:t>
            </a:r>
          </a:p>
          <a:p>
            <a:r>
              <a:rPr lang="fr-FR" sz="2800" dirty="0" smtClean="0">
                <a:latin typeface="Arial" pitchFamily="34" charset="0"/>
                <a:cs typeface="Arial" pitchFamily="34" charset="0"/>
              </a:rPr>
              <a:t>                                     </a:t>
            </a:r>
          </a:p>
          <a:p>
            <a:endParaRPr lang="fr-FR" sz="2800" dirty="0" smtClean="0">
              <a:latin typeface="Arial" pitchFamily="34" charset="0"/>
              <a:cs typeface="Arial" pitchFamily="34" charset="0"/>
            </a:endParaRPr>
          </a:p>
          <a:p>
            <a:r>
              <a:rPr lang="fr-FR" sz="2800" dirty="0" smtClean="0">
                <a:latin typeface="Arial" pitchFamily="34" charset="0"/>
                <a:cs typeface="Arial" pitchFamily="34" charset="0"/>
              </a:rPr>
              <a:t>                         </a:t>
            </a:r>
          </a:p>
          <a:p>
            <a:r>
              <a:rPr lang="fr-FR" sz="2800" dirty="0" smtClean="0">
                <a:latin typeface="Arial" pitchFamily="34" charset="0"/>
                <a:cs typeface="Arial" pitchFamily="34" charset="0"/>
              </a:rPr>
              <a:t>                                                  </a:t>
            </a:r>
          </a:p>
          <a:p>
            <a:endParaRPr lang="fr-FR" sz="2800" dirty="0" smtClean="0">
              <a:latin typeface="Arial" pitchFamily="34" charset="0"/>
              <a:cs typeface="Arial" pitchFamily="34" charset="0"/>
            </a:endParaRPr>
          </a:p>
          <a:p>
            <a:endParaRPr lang="fr-FR" sz="2800" dirty="0" smtClean="0">
              <a:latin typeface="Arial" pitchFamily="34" charset="0"/>
              <a:cs typeface="Arial" pitchFamily="34" charset="0"/>
            </a:endParaRPr>
          </a:p>
          <a:p>
            <a:r>
              <a:rPr lang="fr-FR" sz="2800" dirty="0" smtClean="0">
                <a:latin typeface="Arial" pitchFamily="34" charset="0"/>
                <a:cs typeface="Arial" pitchFamily="34" charset="0"/>
              </a:rPr>
              <a:t>                                           </a:t>
            </a:r>
            <a:endParaRPr lang="fr-FR" sz="2800" b="1" dirty="0" smtClean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endParaRPr lang="fr-FR" sz="2800" b="1" dirty="0" smtClean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endParaRPr lang="fr-FR" sz="2800" b="1" dirty="0" smtClean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endParaRPr lang="fr-FR" sz="2800" dirty="0" smtClean="0">
              <a:latin typeface="Arial" pitchFamily="34" charset="0"/>
              <a:cs typeface="Arial" pitchFamily="34" charset="0"/>
            </a:endParaRPr>
          </a:p>
          <a:p>
            <a:endParaRPr lang="fr-FR" sz="2800" dirty="0" smtClean="0">
              <a:latin typeface="Arial" pitchFamily="34" charset="0"/>
              <a:cs typeface="Arial" pitchFamily="34" charset="0"/>
            </a:endParaRPr>
          </a:p>
          <a:p>
            <a:endParaRPr lang="fr-FR" sz="2800" dirty="0">
              <a:latin typeface="Arial" pitchFamily="34" charset="0"/>
              <a:cs typeface="Arial" pitchFamily="34" charset="0"/>
            </a:endParaRPr>
          </a:p>
          <a:p>
            <a:endParaRPr lang="fr-FR" sz="2800" dirty="0" smtClean="0">
              <a:latin typeface="Arial" pitchFamily="34" charset="0"/>
              <a:cs typeface="Arial" pitchFamily="34" charset="0"/>
            </a:endParaRPr>
          </a:p>
          <a:p>
            <a:endParaRPr lang="fr-FR" sz="2800" dirty="0">
              <a:latin typeface="Arial" pitchFamily="34" charset="0"/>
              <a:cs typeface="Arial" pitchFamily="34" charset="0"/>
            </a:endParaRPr>
          </a:p>
          <a:p>
            <a:endParaRPr lang="fr-FR" sz="2800" dirty="0" smtClean="0">
              <a:latin typeface="Arial" pitchFamily="34" charset="0"/>
              <a:cs typeface="Arial" pitchFamily="34" charset="0"/>
            </a:endParaRPr>
          </a:p>
          <a:p>
            <a:endParaRPr lang="fr-FR" sz="2800" dirty="0">
              <a:latin typeface="Arial" pitchFamily="34" charset="0"/>
              <a:cs typeface="Arial" pitchFamily="34" charset="0"/>
            </a:endParaRPr>
          </a:p>
          <a:p>
            <a:endParaRPr lang="fr-FR" sz="2800" dirty="0" smtClean="0">
              <a:latin typeface="Arial" pitchFamily="34" charset="0"/>
              <a:cs typeface="Arial" pitchFamily="34" charset="0"/>
            </a:endParaRPr>
          </a:p>
          <a:p>
            <a:endParaRPr lang="fr-FR" sz="2800" dirty="0">
              <a:latin typeface="Arial" pitchFamily="34" charset="0"/>
              <a:cs typeface="Arial" pitchFamily="34" charset="0"/>
            </a:endParaRPr>
          </a:p>
          <a:p>
            <a:endParaRPr lang="fr-FR" sz="2800" dirty="0" smtClean="0">
              <a:latin typeface="Arial" pitchFamily="34" charset="0"/>
              <a:cs typeface="Arial" pitchFamily="34" charset="0"/>
            </a:endParaRPr>
          </a:p>
          <a:p>
            <a:endParaRPr lang="fr-FR" sz="2800" dirty="0">
              <a:latin typeface="Arial" pitchFamily="34" charset="0"/>
              <a:cs typeface="Arial" pitchFamily="34" charset="0"/>
            </a:endParaRPr>
          </a:p>
          <a:p>
            <a:endParaRPr lang="fr-FR" sz="2800" dirty="0" smtClean="0">
              <a:latin typeface="Arial" pitchFamily="34" charset="0"/>
              <a:cs typeface="Arial" pitchFamily="34" charset="0"/>
            </a:endParaRPr>
          </a:p>
          <a:p>
            <a:endParaRPr lang="fr-FR" dirty="0">
              <a:latin typeface="Arial" pitchFamily="34" charset="0"/>
              <a:cs typeface="Arial" pitchFamily="34" charset="0"/>
            </a:endParaRPr>
          </a:p>
          <a:p>
            <a:endParaRPr lang="fr-FR" dirty="0" smtClean="0">
              <a:latin typeface="Arial" pitchFamily="34" charset="0"/>
              <a:cs typeface="Arial" pitchFamily="34" charset="0"/>
            </a:endParaRPr>
          </a:p>
          <a:p>
            <a:r>
              <a:rPr lang="fr-FR" dirty="0" smtClean="0">
                <a:latin typeface="Arial" pitchFamily="34" charset="0"/>
                <a:cs typeface="Arial" pitchFamily="34" charset="0"/>
              </a:rPr>
              <a:t> </a:t>
            </a:r>
            <a:endParaRPr lang="fr-F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Flèche droite 11"/>
          <p:cNvSpPr/>
          <p:nvPr/>
        </p:nvSpPr>
        <p:spPr>
          <a:xfrm>
            <a:off x="1907704" y="1844824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Flèche droite 12"/>
          <p:cNvSpPr/>
          <p:nvPr/>
        </p:nvSpPr>
        <p:spPr>
          <a:xfrm>
            <a:off x="2411760" y="3573016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Flèche droite 13"/>
          <p:cNvSpPr/>
          <p:nvPr/>
        </p:nvSpPr>
        <p:spPr>
          <a:xfrm>
            <a:off x="2123728" y="2636912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9144000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400" dirty="0" smtClean="0">
                <a:latin typeface="Arial" pitchFamily="34" charset="0"/>
                <a:cs typeface="Arial" pitchFamily="34" charset="0"/>
              </a:rPr>
              <a:t> </a:t>
            </a:r>
            <a:endParaRPr lang="fr-FR" sz="2800" b="1" dirty="0" smtClean="0">
              <a:latin typeface="Arial" pitchFamily="34" charset="0"/>
              <a:cs typeface="Arial" pitchFamily="34" charset="0"/>
            </a:endParaRPr>
          </a:p>
          <a:p>
            <a:r>
              <a:rPr lang="fr-FR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fr-FR" sz="2800" b="1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DE LA  </a:t>
            </a:r>
            <a:r>
              <a:rPr lang="fr-FR" sz="2800" b="1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5</a:t>
            </a:r>
            <a:r>
              <a:rPr lang="fr-FR" sz="2800" b="1" baseline="30000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ÈME </a:t>
            </a:r>
            <a:r>
              <a:rPr lang="fr-FR" sz="2800" b="1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SEMAINE  À LA 8</a:t>
            </a:r>
            <a:r>
              <a:rPr lang="fr-FR" sz="2800" b="1" baseline="30000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ÈME</a:t>
            </a:r>
            <a:r>
              <a:rPr lang="fr-FR" sz="2800" b="1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 SEMAINE </a:t>
            </a:r>
          </a:p>
          <a:p>
            <a:r>
              <a:rPr lang="fr-FR" sz="28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</a:p>
          <a:p>
            <a:endParaRPr lang="fr-FR" sz="2800" b="1" dirty="0" smtClean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endParaRPr lang="fr-FR" sz="2800" b="1" dirty="0" smtClean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pPr marL="3581400" indent="-3581400"/>
            <a:r>
              <a:rPr lang="fr-FR" sz="2800" b="1" dirty="0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ORGANOGENÈSE = </a:t>
            </a:r>
            <a:r>
              <a:rPr lang="fr-FR" sz="2800" dirty="0" smtClean="0">
                <a:latin typeface="Arial" pitchFamily="34" charset="0"/>
                <a:cs typeface="Arial" pitchFamily="34" charset="0"/>
              </a:rPr>
              <a:t>développement  des organes à    partir des ébauches</a:t>
            </a:r>
          </a:p>
          <a:p>
            <a:r>
              <a:rPr lang="fr-FR" sz="2800" dirty="0" smtClean="0">
                <a:latin typeface="Arial" pitchFamily="34" charset="0"/>
                <a:cs typeface="Arial" pitchFamily="34" charset="0"/>
              </a:rPr>
              <a:t>                            </a:t>
            </a:r>
          </a:p>
          <a:p>
            <a:r>
              <a:rPr lang="fr-FR" sz="28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                             </a:t>
            </a:r>
            <a:endParaRPr lang="fr-FR" sz="28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3568" y="-531440"/>
            <a:ext cx="7560840" cy="150194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fr-FR" sz="2400" b="1" dirty="0" smtClean="0">
              <a:latin typeface="Arial" pitchFamily="34" charset="0"/>
              <a:cs typeface="Arial" pitchFamily="34" charset="0"/>
            </a:endParaRPr>
          </a:p>
          <a:p>
            <a:r>
              <a:rPr lang="fr-FR" sz="2400" b="1" dirty="0" smtClean="0">
                <a:latin typeface="Arial" pitchFamily="34" charset="0"/>
                <a:cs typeface="Arial" pitchFamily="34" charset="0"/>
              </a:rPr>
              <a:t>                         </a:t>
            </a:r>
            <a:endParaRPr lang="fr-FR" sz="2800" b="1" dirty="0" smtClean="0">
              <a:latin typeface="Arial" pitchFamily="34" charset="0"/>
              <a:cs typeface="Arial" pitchFamily="34" charset="0"/>
            </a:endParaRPr>
          </a:p>
          <a:p>
            <a:r>
              <a:rPr lang="fr-FR" sz="2800" b="1" dirty="0" smtClean="0">
                <a:latin typeface="Arial" pitchFamily="34" charset="0"/>
                <a:cs typeface="Arial" pitchFamily="34" charset="0"/>
              </a:rPr>
              <a:t>                           </a:t>
            </a:r>
          </a:p>
          <a:p>
            <a:r>
              <a:rPr lang="fr-FR" sz="2800" b="1" dirty="0" smtClean="0">
                <a:latin typeface="Arial" pitchFamily="34" charset="0"/>
                <a:cs typeface="Arial" pitchFamily="34" charset="0"/>
              </a:rPr>
              <a:t>                              </a:t>
            </a:r>
            <a:r>
              <a:rPr lang="fr-FR" sz="28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1. ECTOBLASTE</a:t>
            </a:r>
            <a:r>
              <a:rPr lang="fr-FR" sz="2800" dirty="0" smtClean="0">
                <a:latin typeface="Arial" pitchFamily="34" charset="0"/>
                <a:cs typeface="Arial" pitchFamily="34" charset="0"/>
              </a:rPr>
              <a:t> </a:t>
            </a:r>
          </a:p>
          <a:p>
            <a:r>
              <a:rPr lang="fr-FR" sz="2800" dirty="0" smtClean="0">
                <a:latin typeface="Arial" pitchFamily="34" charset="0"/>
                <a:cs typeface="Arial" pitchFamily="34" charset="0"/>
              </a:rPr>
              <a:t>                       </a:t>
            </a:r>
          </a:p>
          <a:p>
            <a:r>
              <a:rPr lang="fr-FR" sz="2800" dirty="0" smtClean="0">
                <a:latin typeface="Arial" pitchFamily="34" charset="0"/>
                <a:cs typeface="Arial" pitchFamily="34" charset="0"/>
              </a:rPr>
              <a:t>                          Plaque neurale</a:t>
            </a:r>
            <a:r>
              <a:rPr lang="fr-FR" sz="28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fr-FR" sz="2800" b="1" dirty="0" smtClean="0">
                <a:latin typeface="Arial" pitchFamily="34" charset="0"/>
                <a:cs typeface="Arial" pitchFamily="34" charset="0"/>
              </a:rPr>
              <a:t>  </a:t>
            </a:r>
            <a:r>
              <a:rPr lang="fr-FR" sz="2800" dirty="0" smtClean="0">
                <a:latin typeface="Arial" pitchFamily="34" charset="0"/>
                <a:cs typeface="Arial" pitchFamily="34" charset="0"/>
              </a:rPr>
              <a:t>                </a:t>
            </a:r>
          </a:p>
          <a:p>
            <a:endParaRPr lang="fr-FR" sz="2800" dirty="0" smtClean="0">
              <a:latin typeface="Arial" pitchFamily="34" charset="0"/>
              <a:cs typeface="Arial" pitchFamily="34" charset="0"/>
            </a:endParaRPr>
          </a:p>
          <a:p>
            <a:r>
              <a:rPr lang="fr-FR" sz="2800" dirty="0" smtClean="0">
                <a:latin typeface="Arial" pitchFamily="34" charset="0"/>
                <a:cs typeface="Arial" pitchFamily="34" charset="0"/>
              </a:rPr>
              <a:t>                          </a:t>
            </a:r>
          </a:p>
          <a:p>
            <a:r>
              <a:rPr lang="fr-FR" sz="2800" dirty="0" smtClean="0">
                <a:latin typeface="Arial" pitchFamily="34" charset="0"/>
                <a:cs typeface="Arial" pitchFamily="34" charset="0"/>
              </a:rPr>
              <a:t>                              </a:t>
            </a:r>
          </a:p>
          <a:p>
            <a:r>
              <a:rPr lang="fr-FR" sz="2800" dirty="0" smtClean="0">
                <a:latin typeface="Arial" pitchFamily="34" charset="0"/>
                <a:cs typeface="Arial" pitchFamily="34" charset="0"/>
              </a:rPr>
              <a:t>                        Gouttière neurale                   </a:t>
            </a:r>
          </a:p>
          <a:p>
            <a:endParaRPr lang="fr-FR" sz="2800" dirty="0" smtClean="0">
              <a:latin typeface="Arial" pitchFamily="34" charset="0"/>
              <a:cs typeface="Arial" pitchFamily="34" charset="0"/>
            </a:endParaRPr>
          </a:p>
          <a:p>
            <a:r>
              <a:rPr lang="fr-FR" sz="2800" dirty="0" smtClean="0">
                <a:latin typeface="Arial" pitchFamily="34" charset="0"/>
                <a:cs typeface="Arial" pitchFamily="34" charset="0"/>
              </a:rPr>
              <a:t>                         </a:t>
            </a:r>
          </a:p>
          <a:p>
            <a:r>
              <a:rPr lang="fr-FR" sz="2800" dirty="0" smtClean="0">
                <a:latin typeface="Arial" pitchFamily="34" charset="0"/>
                <a:cs typeface="Arial" pitchFamily="34" charset="0"/>
              </a:rPr>
              <a:t>                              Tube neural                            </a:t>
            </a:r>
          </a:p>
          <a:p>
            <a:endParaRPr lang="fr-FR" sz="2800" dirty="0" smtClean="0">
              <a:latin typeface="Arial" pitchFamily="34" charset="0"/>
              <a:cs typeface="Arial" pitchFamily="34" charset="0"/>
            </a:endParaRPr>
          </a:p>
          <a:p>
            <a:endParaRPr lang="fr-FR" sz="2800" dirty="0" smtClean="0">
              <a:latin typeface="Arial" pitchFamily="34" charset="0"/>
              <a:cs typeface="Arial" pitchFamily="34" charset="0"/>
            </a:endParaRPr>
          </a:p>
          <a:p>
            <a:r>
              <a:rPr lang="fr-FR" sz="2800" dirty="0" smtClean="0">
                <a:latin typeface="Arial" pitchFamily="34" charset="0"/>
                <a:cs typeface="Arial" pitchFamily="34" charset="0"/>
              </a:rPr>
              <a:t>                         </a:t>
            </a:r>
          </a:p>
          <a:p>
            <a:r>
              <a:rPr lang="fr-FR" sz="2800" dirty="0" smtClean="0">
                <a:latin typeface="Arial" pitchFamily="34" charset="0"/>
                <a:cs typeface="Arial" pitchFamily="34" charset="0"/>
              </a:rPr>
              <a:t>                        ébauche  du système nerveux</a:t>
            </a:r>
          </a:p>
          <a:p>
            <a:endParaRPr lang="fr-FR" sz="2800" dirty="0" smtClean="0">
              <a:latin typeface="Arial" pitchFamily="34" charset="0"/>
              <a:cs typeface="Arial" pitchFamily="34" charset="0"/>
            </a:endParaRPr>
          </a:p>
          <a:p>
            <a:r>
              <a:rPr lang="fr-FR" sz="2800" dirty="0" smtClean="0">
                <a:latin typeface="Arial" pitchFamily="34" charset="0"/>
                <a:cs typeface="Arial" pitchFamily="34" charset="0"/>
              </a:rPr>
              <a:t>                       </a:t>
            </a:r>
            <a:endParaRPr lang="fr-FR" sz="2800" b="1" dirty="0" smtClean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endParaRPr lang="fr-FR" sz="2800" b="1" dirty="0" smtClean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endParaRPr lang="fr-FR" sz="2800" b="1" dirty="0" smtClean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endParaRPr lang="fr-FR" sz="2800" dirty="0" smtClean="0">
              <a:latin typeface="Arial" pitchFamily="34" charset="0"/>
              <a:cs typeface="Arial" pitchFamily="34" charset="0"/>
            </a:endParaRPr>
          </a:p>
          <a:p>
            <a:endParaRPr lang="fr-FR" sz="2800" dirty="0" smtClean="0">
              <a:latin typeface="Arial" pitchFamily="34" charset="0"/>
              <a:cs typeface="Arial" pitchFamily="34" charset="0"/>
            </a:endParaRPr>
          </a:p>
          <a:p>
            <a:endParaRPr lang="fr-FR" sz="2800" dirty="0">
              <a:latin typeface="Arial" pitchFamily="34" charset="0"/>
              <a:cs typeface="Arial" pitchFamily="34" charset="0"/>
            </a:endParaRPr>
          </a:p>
          <a:p>
            <a:endParaRPr lang="fr-FR" sz="2800" dirty="0" smtClean="0">
              <a:latin typeface="Arial" pitchFamily="34" charset="0"/>
              <a:cs typeface="Arial" pitchFamily="34" charset="0"/>
            </a:endParaRPr>
          </a:p>
          <a:p>
            <a:endParaRPr lang="fr-FR" sz="2800" dirty="0">
              <a:latin typeface="Arial" pitchFamily="34" charset="0"/>
              <a:cs typeface="Arial" pitchFamily="34" charset="0"/>
            </a:endParaRPr>
          </a:p>
          <a:p>
            <a:endParaRPr lang="fr-FR" sz="2800" dirty="0" smtClean="0">
              <a:latin typeface="Arial" pitchFamily="34" charset="0"/>
              <a:cs typeface="Arial" pitchFamily="34" charset="0"/>
            </a:endParaRPr>
          </a:p>
          <a:p>
            <a:endParaRPr lang="fr-FR" sz="2800" dirty="0">
              <a:latin typeface="Arial" pitchFamily="34" charset="0"/>
              <a:cs typeface="Arial" pitchFamily="34" charset="0"/>
            </a:endParaRPr>
          </a:p>
          <a:p>
            <a:endParaRPr lang="fr-FR" sz="2800" dirty="0" smtClean="0">
              <a:latin typeface="Arial" pitchFamily="34" charset="0"/>
              <a:cs typeface="Arial" pitchFamily="34" charset="0"/>
            </a:endParaRPr>
          </a:p>
          <a:p>
            <a:endParaRPr lang="fr-FR" sz="2800" dirty="0">
              <a:latin typeface="Arial" pitchFamily="34" charset="0"/>
              <a:cs typeface="Arial" pitchFamily="34" charset="0"/>
            </a:endParaRPr>
          </a:p>
          <a:p>
            <a:endParaRPr lang="fr-FR" sz="2800" dirty="0" smtClean="0">
              <a:latin typeface="Arial" pitchFamily="34" charset="0"/>
              <a:cs typeface="Arial" pitchFamily="34" charset="0"/>
            </a:endParaRPr>
          </a:p>
          <a:p>
            <a:endParaRPr lang="fr-FR" sz="2800" dirty="0">
              <a:latin typeface="Arial" pitchFamily="34" charset="0"/>
              <a:cs typeface="Arial" pitchFamily="34" charset="0"/>
            </a:endParaRPr>
          </a:p>
          <a:p>
            <a:endParaRPr lang="fr-FR" sz="2800" dirty="0" smtClean="0">
              <a:latin typeface="Arial" pitchFamily="34" charset="0"/>
              <a:cs typeface="Arial" pitchFamily="34" charset="0"/>
            </a:endParaRPr>
          </a:p>
          <a:p>
            <a:endParaRPr lang="fr-FR" dirty="0">
              <a:latin typeface="Arial" pitchFamily="34" charset="0"/>
              <a:cs typeface="Arial" pitchFamily="34" charset="0"/>
            </a:endParaRPr>
          </a:p>
          <a:p>
            <a:endParaRPr lang="fr-FR" dirty="0" smtClean="0">
              <a:latin typeface="Arial" pitchFamily="34" charset="0"/>
              <a:cs typeface="Arial" pitchFamily="34" charset="0"/>
            </a:endParaRPr>
          </a:p>
          <a:p>
            <a:r>
              <a:rPr lang="fr-FR" dirty="0" smtClean="0">
                <a:latin typeface="Arial" pitchFamily="34" charset="0"/>
                <a:cs typeface="Arial" pitchFamily="34" charset="0"/>
              </a:rPr>
              <a:t> </a:t>
            </a:r>
            <a:endParaRPr lang="fr-F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Flèche droite 2"/>
          <p:cNvSpPr/>
          <p:nvPr/>
        </p:nvSpPr>
        <p:spPr>
          <a:xfrm rot="5400000">
            <a:off x="3758760" y="2514048"/>
            <a:ext cx="978408" cy="7200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Flèche droite 5"/>
          <p:cNvSpPr/>
          <p:nvPr/>
        </p:nvSpPr>
        <p:spPr>
          <a:xfrm rot="5400000" flipV="1">
            <a:off x="3961640" y="4111369"/>
            <a:ext cx="690376" cy="457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lèche droite 7"/>
          <p:cNvSpPr/>
          <p:nvPr/>
        </p:nvSpPr>
        <p:spPr>
          <a:xfrm rot="5400000">
            <a:off x="3758760" y="5394368"/>
            <a:ext cx="978408" cy="7200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ZoneTexte 8"/>
          <p:cNvSpPr txBox="1"/>
          <p:nvPr/>
        </p:nvSpPr>
        <p:spPr>
          <a:xfrm>
            <a:off x="0" y="3068960"/>
            <a:ext cx="27724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NEURULATION</a:t>
            </a:r>
            <a:endParaRPr lang="fr-FR" sz="2800" dirty="0">
              <a:solidFill>
                <a:srgbClr val="FFFF00"/>
              </a:solidFill>
            </a:endParaRPr>
          </a:p>
        </p:txBody>
      </p:sp>
      <p:sp>
        <p:nvSpPr>
          <p:cNvPr id="7" name="Accolade ouvrante 6"/>
          <p:cNvSpPr/>
          <p:nvPr/>
        </p:nvSpPr>
        <p:spPr>
          <a:xfrm>
            <a:off x="2881528" y="1484784"/>
            <a:ext cx="106296" cy="4896544"/>
          </a:xfrm>
          <a:prstGeom prst="leftBrace">
            <a:avLst/>
          </a:prstGeom>
          <a:solidFill>
            <a:schemeClr val="bg1"/>
          </a:solidFill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allAtOnce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3568" y="0"/>
            <a:ext cx="8460432" cy="180972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fr-FR" sz="2400" b="1" dirty="0" smtClean="0">
              <a:latin typeface="Arial" pitchFamily="34" charset="0"/>
              <a:cs typeface="Arial" pitchFamily="34" charset="0"/>
            </a:endParaRPr>
          </a:p>
          <a:p>
            <a:r>
              <a:rPr lang="fr-FR" sz="2400" b="1" dirty="0" smtClean="0">
                <a:latin typeface="Arial" pitchFamily="34" charset="0"/>
                <a:cs typeface="Arial" pitchFamily="34" charset="0"/>
              </a:rPr>
              <a:t>                         </a:t>
            </a:r>
            <a:r>
              <a:rPr lang="fr-FR" sz="2800" b="1" dirty="0" smtClean="0">
                <a:latin typeface="Arial" pitchFamily="34" charset="0"/>
                <a:cs typeface="Arial" pitchFamily="34" charset="0"/>
              </a:rPr>
              <a:t>                              </a:t>
            </a:r>
          </a:p>
          <a:p>
            <a:endParaRPr lang="fr-FR" sz="2800" b="1" dirty="0" smtClean="0">
              <a:latin typeface="Arial" pitchFamily="34" charset="0"/>
              <a:cs typeface="Arial" pitchFamily="34" charset="0"/>
            </a:endParaRPr>
          </a:p>
          <a:p>
            <a:r>
              <a:rPr lang="fr-FR" sz="2800" b="1" dirty="0" smtClean="0">
                <a:latin typeface="Arial" pitchFamily="34" charset="0"/>
                <a:cs typeface="Arial" pitchFamily="34" charset="0"/>
              </a:rPr>
              <a:t>                     a. M. chordal         b.  M. latéral      </a:t>
            </a:r>
          </a:p>
          <a:p>
            <a:r>
              <a:rPr lang="fr-FR" sz="2800" b="1" dirty="0" smtClean="0">
                <a:latin typeface="Arial" pitchFamily="34" charset="0"/>
                <a:cs typeface="Arial" pitchFamily="34" charset="0"/>
              </a:rPr>
              <a:t>                        </a:t>
            </a:r>
          </a:p>
          <a:p>
            <a:endParaRPr lang="fr-FR" sz="2800" b="1" dirty="0" smtClean="0">
              <a:latin typeface="Arial" pitchFamily="34" charset="0"/>
              <a:cs typeface="Arial" pitchFamily="34" charset="0"/>
            </a:endParaRPr>
          </a:p>
          <a:p>
            <a:r>
              <a:rPr lang="fr-FR" sz="2800" b="1" dirty="0" smtClean="0">
                <a:latin typeface="Arial" pitchFamily="34" charset="0"/>
                <a:cs typeface="Arial" pitchFamily="34" charset="0"/>
              </a:rPr>
              <a:t>                         chorde: axe </a:t>
            </a:r>
          </a:p>
          <a:p>
            <a:r>
              <a:rPr lang="fr-FR" sz="2800" b="1" dirty="0" smtClean="0">
                <a:latin typeface="Arial" pitchFamily="34" charset="0"/>
                <a:cs typeface="Arial" pitchFamily="34" charset="0"/>
              </a:rPr>
              <a:t>                      de l’embryon</a:t>
            </a:r>
          </a:p>
          <a:p>
            <a:endParaRPr lang="fr-FR" sz="2800" b="1" dirty="0" smtClean="0">
              <a:latin typeface="Arial" pitchFamily="34" charset="0"/>
              <a:cs typeface="Arial" pitchFamily="34" charset="0"/>
            </a:endParaRPr>
          </a:p>
          <a:p>
            <a:r>
              <a:rPr lang="fr-FR" sz="2800" b="1" dirty="0" smtClean="0">
                <a:latin typeface="Arial" pitchFamily="34" charset="0"/>
                <a:cs typeface="Arial" pitchFamily="34" charset="0"/>
              </a:rPr>
              <a:t>                  </a:t>
            </a:r>
          </a:p>
          <a:p>
            <a:r>
              <a:rPr lang="fr-FR" sz="2800" b="1" dirty="0" smtClean="0">
                <a:latin typeface="Arial" pitchFamily="34" charset="0"/>
                <a:cs typeface="Arial" pitchFamily="34" charset="0"/>
              </a:rPr>
              <a:t>                   </a:t>
            </a:r>
          </a:p>
          <a:p>
            <a:endParaRPr lang="fr-FR" sz="2800" b="1" dirty="0" smtClean="0">
              <a:latin typeface="Arial" pitchFamily="34" charset="0"/>
              <a:cs typeface="Arial" pitchFamily="34" charset="0"/>
            </a:endParaRPr>
          </a:p>
          <a:p>
            <a:endParaRPr lang="fr-FR" sz="2800" b="1" dirty="0" smtClean="0">
              <a:latin typeface="Arial" pitchFamily="34" charset="0"/>
              <a:cs typeface="Arial" pitchFamily="34" charset="0"/>
            </a:endParaRPr>
          </a:p>
          <a:p>
            <a:endParaRPr lang="fr-FR" sz="2800" b="1" dirty="0" smtClean="0">
              <a:latin typeface="Arial" pitchFamily="34" charset="0"/>
              <a:cs typeface="Arial" pitchFamily="34" charset="0"/>
            </a:endParaRPr>
          </a:p>
          <a:p>
            <a:r>
              <a:rPr lang="fr-FR" sz="2800" b="1" dirty="0" smtClean="0">
                <a:latin typeface="Arial" pitchFamily="34" charset="0"/>
                <a:cs typeface="Arial" pitchFamily="34" charset="0"/>
              </a:rPr>
              <a:t>   </a:t>
            </a:r>
            <a:r>
              <a:rPr lang="fr-FR" sz="2800" dirty="0" smtClean="0">
                <a:latin typeface="Arial" pitchFamily="34" charset="0"/>
                <a:cs typeface="Arial" pitchFamily="34" charset="0"/>
              </a:rPr>
              <a:t>                </a:t>
            </a:r>
          </a:p>
          <a:p>
            <a:endParaRPr lang="fr-FR" sz="2800" dirty="0" smtClean="0">
              <a:latin typeface="Arial" pitchFamily="34" charset="0"/>
              <a:cs typeface="Arial" pitchFamily="34" charset="0"/>
            </a:endParaRPr>
          </a:p>
          <a:p>
            <a:r>
              <a:rPr lang="fr-FR" sz="2800" dirty="0" smtClean="0">
                <a:latin typeface="Arial" pitchFamily="34" charset="0"/>
                <a:cs typeface="Arial" pitchFamily="34" charset="0"/>
              </a:rPr>
              <a:t>                          </a:t>
            </a:r>
          </a:p>
          <a:p>
            <a:r>
              <a:rPr lang="fr-FR" sz="2800" dirty="0" smtClean="0">
                <a:latin typeface="Arial" pitchFamily="34" charset="0"/>
                <a:cs typeface="Arial" pitchFamily="34" charset="0"/>
              </a:rPr>
              <a:t>                                               </a:t>
            </a:r>
          </a:p>
          <a:p>
            <a:endParaRPr lang="fr-FR" sz="2800" dirty="0" smtClean="0">
              <a:latin typeface="Arial" pitchFamily="34" charset="0"/>
              <a:cs typeface="Arial" pitchFamily="34" charset="0"/>
            </a:endParaRPr>
          </a:p>
          <a:p>
            <a:r>
              <a:rPr lang="fr-FR" sz="2800" dirty="0" smtClean="0">
                <a:latin typeface="Arial" pitchFamily="34" charset="0"/>
                <a:cs typeface="Arial" pitchFamily="34" charset="0"/>
              </a:rPr>
              <a:t>                         </a:t>
            </a:r>
          </a:p>
          <a:p>
            <a:r>
              <a:rPr lang="fr-FR" sz="2800" dirty="0" smtClean="0">
                <a:latin typeface="Arial" pitchFamily="34" charset="0"/>
                <a:cs typeface="Arial" pitchFamily="34" charset="0"/>
              </a:rPr>
              <a:t>                                                         </a:t>
            </a:r>
          </a:p>
          <a:p>
            <a:endParaRPr lang="fr-FR" sz="2800" dirty="0" smtClean="0">
              <a:latin typeface="Arial" pitchFamily="34" charset="0"/>
              <a:cs typeface="Arial" pitchFamily="34" charset="0"/>
            </a:endParaRPr>
          </a:p>
          <a:p>
            <a:endParaRPr lang="fr-FR" sz="2800" dirty="0" smtClean="0">
              <a:latin typeface="Arial" pitchFamily="34" charset="0"/>
              <a:cs typeface="Arial" pitchFamily="34" charset="0"/>
            </a:endParaRPr>
          </a:p>
          <a:p>
            <a:r>
              <a:rPr lang="fr-FR" sz="2800" dirty="0" smtClean="0">
                <a:latin typeface="Arial" pitchFamily="34" charset="0"/>
                <a:cs typeface="Arial" pitchFamily="34" charset="0"/>
              </a:rPr>
              <a:t>                           </a:t>
            </a:r>
          </a:p>
          <a:p>
            <a:endParaRPr lang="fr-FR" sz="2800" dirty="0" smtClean="0">
              <a:latin typeface="Arial" pitchFamily="34" charset="0"/>
              <a:cs typeface="Arial" pitchFamily="34" charset="0"/>
            </a:endParaRPr>
          </a:p>
          <a:p>
            <a:r>
              <a:rPr lang="fr-FR" sz="2800" dirty="0" smtClean="0">
                <a:latin typeface="Arial" pitchFamily="34" charset="0"/>
                <a:cs typeface="Arial" pitchFamily="34" charset="0"/>
              </a:rPr>
              <a:t>                       </a:t>
            </a:r>
            <a:endParaRPr lang="fr-FR" sz="2800" b="1" dirty="0" smtClean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endParaRPr lang="fr-FR" sz="2800" b="1" dirty="0" smtClean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endParaRPr lang="fr-FR" sz="2800" b="1" dirty="0" smtClean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endParaRPr lang="fr-FR" sz="2800" dirty="0" smtClean="0">
              <a:latin typeface="Arial" pitchFamily="34" charset="0"/>
              <a:cs typeface="Arial" pitchFamily="34" charset="0"/>
            </a:endParaRPr>
          </a:p>
          <a:p>
            <a:endParaRPr lang="fr-FR" sz="2800" dirty="0" smtClean="0">
              <a:latin typeface="Arial" pitchFamily="34" charset="0"/>
              <a:cs typeface="Arial" pitchFamily="34" charset="0"/>
            </a:endParaRPr>
          </a:p>
          <a:p>
            <a:endParaRPr lang="fr-FR" sz="2800" dirty="0">
              <a:latin typeface="Arial" pitchFamily="34" charset="0"/>
              <a:cs typeface="Arial" pitchFamily="34" charset="0"/>
            </a:endParaRPr>
          </a:p>
          <a:p>
            <a:endParaRPr lang="fr-FR" sz="2800" dirty="0" smtClean="0">
              <a:latin typeface="Arial" pitchFamily="34" charset="0"/>
              <a:cs typeface="Arial" pitchFamily="34" charset="0"/>
            </a:endParaRPr>
          </a:p>
          <a:p>
            <a:endParaRPr lang="fr-FR" sz="2800" dirty="0">
              <a:latin typeface="Arial" pitchFamily="34" charset="0"/>
              <a:cs typeface="Arial" pitchFamily="34" charset="0"/>
            </a:endParaRPr>
          </a:p>
          <a:p>
            <a:endParaRPr lang="fr-FR" sz="2800" dirty="0" smtClean="0">
              <a:latin typeface="Arial" pitchFamily="34" charset="0"/>
              <a:cs typeface="Arial" pitchFamily="34" charset="0"/>
            </a:endParaRPr>
          </a:p>
          <a:p>
            <a:endParaRPr lang="fr-FR" sz="2800" dirty="0">
              <a:latin typeface="Arial" pitchFamily="34" charset="0"/>
              <a:cs typeface="Arial" pitchFamily="34" charset="0"/>
            </a:endParaRPr>
          </a:p>
          <a:p>
            <a:endParaRPr lang="fr-FR" sz="2800" dirty="0" smtClean="0">
              <a:latin typeface="Arial" pitchFamily="34" charset="0"/>
              <a:cs typeface="Arial" pitchFamily="34" charset="0"/>
            </a:endParaRPr>
          </a:p>
          <a:p>
            <a:endParaRPr lang="fr-FR" sz="2800" dirty="0">
              <a:latin typeface="Arial" pitchFamily="34" charset="0"/>
              <a:cs typeface="Arial" pitchFamily="34" charset="0"/>
            </a:endParaRPr>
          </a:p>
          <a:p>
            <a:endParaRPr lang="fr-FR" sz="2800" dirty="0" smtClean="0">
              <a:latin typeface="Arial" pitchFamily="34" charset="0"/>
              <a:cs typeface="Arial" pitchFamily="34" charset="0"/>
            </a:endParaRPr>
          </a:p>
          <a:p>
            <a:endParaRPr lang="fr-FR" sz="2800" dirty="0">
              <a:latin typeface="Arial" pitchFamily="34" charset="0"/>
              <a:cs typeface="Arial" pitchFamily="34" charset="0"/>
            </a:endParaRPr>
          </a:p>
          <a:p>
            <a:endParaRPr lang="fr-FR" sz="2800" dirty="0" smtClean="0">
              <a:latin typeface="Arial" pitchFamily="34" charset="0"/>
              <a:cs typeface="Arial" pitchFamily="34" charset="0"/>
            </a:endParaRPr>
          </a:p>
          <a:p>
            <a:endParaRPr lang="fr-FR" dirty="0">
              <a:latin typeface="Arial" pitchFamily="34" charset="0"/>
              <a:cs typeface="Arial" pitchFamily="34" charset="0"/>
            </a:endParaRPr>
          </a:p>
          <a:p>
            <a:endParaRPr lang="fr-FR" dirty="0" smtClean="0">
              <a:latin typeface="Arial" pitchFamily="34" charset="0"/>
              <a:cs typeface="Arial" pitchFamily="34" charset="0"/>
            </a:endParaRPr>
          </a:p>
          <a:p>
            <a:r>
              <a:rPr lang="fr-FR" dirty="0" smtClean="0">
                <a:latin typeface="Arial" pitchFamily="34" charset="0"/>
                <a:cs typeface="Arial" pitchFamily="34" charset="0"/>
              </a:rPr>
              <a:t> </a:t>
            </a:r>
            <a:endParaRPr lang="fr-F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ZoneTexte 8"/>
          <p:cNvSpPr txBox="1"/>
          <p:nvPr/>
        </p:nvSpPr>
        <p:spPr>
          <a:xfrm rot="20519452">
            <a:off x="-18705" y="4260657"/>
            <a:ext cx="40654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b. METAMERISATION</a:t>
            </a:r>
            <a:endParaRPr lang="fr-FR" sz="2800" dirty="0"/>
          </a:p>
        </p:txBody>
      </p:sp>
      <p:sp>
        <p:nvSpPr>
          <p:cNvPr id="7" name="Accolade ouvrante 6"/>
          <p:cNvSpPr/>
          <p:nvPr/>
        </p:nvSpPr>
        <p:spPr>
          <a:xfrm>
            <a:off x="2627784" y="1556792"/>
            <a:ext cx="106296" cy="4896544"/>
          </a:xfrm>
          <a:prstGeom prst="leftBrace">
            <a:avLst/>
          </a:prstGeom>
          <a:solidFill>
            <a:schemeClr val="bg1"/>
          </a:solidFill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1" name="Connecteur droit avec flèche 10"/>
          <p:cNvCxnSpPr/>
          <p:nvPr/>
        </p:nvCxnSpPr>
        <p:spPr>
          <a:xfrm flipH="1">
            <a:off x="3275856" y="836712"/>
            <a:ext cx="1368152" cy="43204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ZoneTexte 17"/>
          <p:cNvSpPr txBox="1"/>
          <p:nvPr/>
        </p:nvSpPr>
        <p:spPr>
          <a:xfrm>
            <a:off x="6156176" y="1844824"/>
            <a:ext cx="298782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latin typeface="Arial Black" pitchFamily="34" charset="0"/>
              </a:rPr>
              <a:t>M. Para axial : somites</a:t>
            </a:r>
          </a:p>
          <a:p>
            <a:endParaRPr lang="fr-FR" b="1" dirty="0" smtClean="0">
              <a:latin typeface="Arial Black" pitchFamily="34" charset="0"/>
            </a:endParaRPr>
          </a:p>
          <a:p>
            <a:endParaRPr lang="fr-FR" b="1" dirty="0" smtClean="0">
              <a:latin typeface="Arial Black" pitchFamily="34" charset="0"/>
            </a:endParaRPr>
          </a:p>
          <a:p>
            <a:r>
              <a:rPr lang="fr-FR" b="1" dirty="0" smtClean="0">
                <a:latin typeface="Arial Black" pitchFamily="34" charset="0"/>
              </a:rPr>
              <a:t>M. Intermédiaire : futur rein</a:t>
            </a:r>
          </a:p>
          <a:p>
            <a:endParaRPr lang="fr-FR" b="1" dirty="0" smtClean="0">
              <a:latin typeface="Arial Black" pitchFamily="34" charset="0"/>
            </a:endParaRPr>
          </a:p>
          <a:p>
            <a:endParaRPr lang="fr-FR" b="1" dirty="0" smtClean="0">
              <a:latin typeface="Arial Black" pitchFamily="34" charset="0"/>
            </a:endParaRPr>
          </a:p>
          <a:p>
            <a:r>
              <a:rPr lang="fr-FR" b="1" dirty="0" smtClean="0">
                <a:latin typeface="Arial Black" pitchFamily="34" charset="0"/>
              </a:rPr>
              <a:t>M. latéral: parois latérales et viscérales</a:t>
            </a:r>
            <a:endParaRPr lang="fr-FR" b="1" dirty="0">
              <a:latin typeface="Arial Black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347864" y="332656"/>
            <a:ext cx="319283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fr-FR" sz="28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2. MESOBLASTE    </a:t>
            </a:r>
          </a:p>
        </p:txBody>
      </p:sp>
      <p:cxnSp>
        <p:nvCxnSpPr>
          <p:cNvPr id="17" name="Connecteur droit avec flèche 16"/>
          <p:cNvCxnSpPr/>
          <p:nvPr/>
        </p:nvCxnSpPr>
        <p:spPr>
          <a:xfrm>
            <a:off x="5364088" y="836712"/>
            <a:ext cx="936104" cy="43204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avec flèche 20"/>
          <p:cNvCxnSpPr/>
          <p:nvPr/>
        </p:nvCxnSpPr>
        <p:spPr>
          <a:xfrm>
            <a:off x="3563888" y="1772816"/>
            <a:ext cx="0" cy="72008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ZoneTexte 11"/>
          <p:cNvSpPr txBox="1"/>
          <p:nvPr/>
        </p:nvSpPr>
        <p:spPr>
          <a:xfrm rot="20519452">
            <a:off x="47902" y="2017852"/>
            <a:ext cx="406541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a. PROCESSUS CHORDAL</a:t>
            </a:r>
            <a:endParaRPr lang="fr-FR" sz="2800" dirty="0"/>
          </a:p>
        </p:txBody>
      </p:sp>
      <p:cxnSp>
        <p:nvCxnSpPr>
          <p:cNvPr id="13" name="Connecteur droit avec flèche 12"/>
          <p:cNvCxnSpPr/>
          <p:nvPr/>
        </p:nvCxnSpPr>
        <p:spPr>
          <a:xfrm>
            <a:off x="5364088" y="2060848"/>
            <a:ext cx="792088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avec flèche 14"/>
          <p:cNvCxnSpPr/>
          <p:nvPr/>
        </p:nvCxnSpPr>
        <p:spPr>
          <a:xfrm>
            <a:off x="5292080" y="2924944"/>
            <a:ext cx="792088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/>
          <p:nvPr/>
        </p:nvCxnSpPr>
        <p:spPr>
          <a:xfrm>
            <a:off x="5220072" y="3933056"/>
            <a:ext cx="792088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allAtOnce"/>
      <p:bldP spid="12" grpId="0" build="allAtOnce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3568" y="0"/>
            <a:ext cx="8460432" cy="159428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fr-FR" sz="2400" b="1" dirty="0" smtClean="0">
              <a:latin typeface="Arial" pitchFamily="34" charset="0"/>
              <a:cs typeface="Arial" pitchFamily="34" charset="0"/>
            </a:endParaRPr>
          </a:p>
          <a:p>
            <a:r>
              <a:rPr lang="fr-FR" sz="2800" b="1" dirty="0" smtClean="0">
                <a:latin typeface="Arial" pitchFamily="34" charset="0"/>
                <a:cs typeface="Arial" pitchFamily="34" charset="0"/>
              </a:rPr>
              <a:t>                           </a:t>
            </a:r>
          </a:p>
          <a:p>
            <a:r>
              <a:rPr lang="fr-FR" sz="2800" b="1" dirty="0" smtClean="0">
                <a:latin typeface="Arial" pitchFamily="34" charset="0"/>
                <a:cs typeface="Arial" pitchFamily="34" charset="0"/>
              </a:rPr>
              <a:t>                              </a:t>
            </a:r>
          </a:p>
          <a:p>
            <a:endParaRPr lang="fr-FR" sz="2800" b="1" dirty="0" smtClean="0">
              <a:latin typeface="Arial" pitchFamily="34" charset="0"/>
              <a:cs typeface="Arial" pitchFamily="34" charset="0"/>
            </a:endParaRPr>
          </a:p>
          <a:p>
            <a:pPr marL="2154238" indent="-2154238"/>
            <a:r>
              <a:rPr lang="fr-FR" sz="2800" b="1" dirty="0" smtClean="0">
                <a:latin typeface="Arial" pitchFamily="34" charset="0"/>
                <a:cs typeface="Arial" pitchFamily="34" charset="0"/>
              </a:rPr>
              <a:t>                                                                                     </a:t>
            </a:r>
          </a:p>
          <a:p>
            <a:endParaRPr lang="fr-FR" sz="2800" b="1" dirty="0" smtClean="0">
              <a:latin typeface="Arial" pitchFamily="34" charset="0"/>
              <a:cs typeface="Arial" pitchFamily="34" charset="0"/>
            </a:endParaRPr>
          </a:p>
          <a:p>
            <a:endParaRPr lang="fr-FR" sz="2800" b="1" dirty="0" smtClean="0">
              <a:latin typeface="Arial" pitchFamily="34" charset="0"/>
              <a:cs typeface="Arial" pitchFamily="34" charset="0"/>
            </a:endParaRPr>
          </a:p>
          <a:p>
            <a:endParaRPr lang="fr-FR" sz="2800" b="1" dirty="0" smtClean="0">
              <a:latin typeface="Arial" pitchFamily="34" charset="0"/>
              <a:cs typeface="Arial" pitchFamily="34" charset="0"/>
            </a:endParaRPr>
          </a:p>
          <a:p>
            <a:r>
              <a:rPr lang="fr-FR" sz="2800" b="1" dirty="0" smtClean="0">
                <a:latin typeface="Arial" pitchFamily="34" charset="0"/>
                <a:cs typeface="Arial" pitchFamily="34" charset="0"/>
              </a:rPr>
              <a:t>   </a:t>
            </a:r>
            <a:r>
              <a:rPr lang="fr-FR" sz="2800" dirty="0" smtClean="0">
                <a:latin typeface="Arial" pitchFamily="34" charset="0"/>
                <a:cs typeface="Arial" pitchFamily="34" charset="0"/>
              </a:rPr>
              <a:t>                </a:t>
            </a:r>
          </a:p>
          <a:p>
            <a:endParaRPr lang="fr-FR" sz="2800" dirty="0" smtClean="0">
              <a:latin typeface="Arial" pitchFamily="34" charset="0"/>
              <a:cs typeface="Arial" pitchFamily="34" charset="0"/>
            </a:endParaRPr>
          </a:p>
          <a:p>
            <a:r>
              <a:rPr lang="fr-FR" sz="2800" dirty="0" smtClean="0">
                <a:latin typeface="Arial" pitchFamily="34" charset="0"/>
                <a:cs typeface="Arial" pitchFamily="34" charset="0"/>
              </a:rPr>
              <a:t>                          </a:t>
            </a:r>
          </a:p>
          <a:p>
            <a:r>
              <a:rPr lang="fr-FR" sz="2800" dirty="0" smtClean="0">
                <a:latin typeface="Arial" pitchFamily="34" charset="0"/>
                <a:cs typeface="Arial" pitchFamily="34" charset="0"/>
              </a:rPr>
              <a:t>                                               </a:t>
            </a:r>
          </a:p>
          <a:p>
            <a:endParaRPr lang="fr-FR" sz="2800" dirty="0" smtClean="0">
              <a:latin typeface="Arial" pitchFamily="34" charset="0"/>
              <a:cs typeface="Arial" pitchFamily="34" charset="0"/>
            </a:endParaRPr>
          </a:p>
          <a:p>
            <a:r>
              <a:rPr lang="fr-FR" sz="2800" dirty="0" smtClean="0">
                <a:latin typeface="Arial" pitchFamily="34" charset="0"/>
                <a:cs typeface="Arial" pitchFamily="34" charset="0"/>
              </a:rPr>
              <a:t>                         </a:t>
            </a:r>
          </a:p>
          <a:p>
            <a:r>
              <a:rPr lang="fr-FR" sz="2800" dirty="0" smtClean="0">
                <a:latin typeface="Arial" pitchFamily="34" charset="0"/>
                <a:cs typeface="Arial" pitchFamily="34" charset="0"/>
              </a:rPr>
              <a:t>                                                         </a:t>
            </a:r>
          </a:p>
          <a:p>
            <a:endParaRPr lang="fr-FR" sz="2800" dirty="0" smtClean="0">
              <a:latin typeface="Arial" pitchFamily="34" charset="0"/>
              <a:cs typeface="Arial" pitchFamily="34" charset="0"/>
            </a:endParaRPr>
          </a:p>
          <a:p>
            <a:endParaRPr lang="fr-FR" sz="2800" dirty="0" smtClean="0">
              <a:latin typeface="Arial" pitchFamily="34" charset="0"/>
              <a:cs typeface="Arial" pitchFamily="34" charset="0"/>
            </a:endParaRPr>
          </a:p>
          <a:p>
            <a:r>
              <a:rPr lang="fr-FR" sz="2800" dirty="0" smtClean="0">
                <a:latin typeface="Arial" pitchFamily="34" charset="0"/>
                <a:cs typeface="Arial" pitchFamily="34" charset="0"/>
              </a:rPr>
              <a:t>                           </a:t>
            </a:r>
          </a:p>
          <a:p>
            <a:endParaRPr lang="fr-FR" sz="2800" dirty="0" smtClean="0">
              <a:latin typeface="Arial" pitchFamily="34" charset="0"/>
              <a:cs typeface="Arial" pitchFamily="34" charset="0"/>
            </a:endParaRPr>
          </a:p>
          <a:p>
            <a:r>
              <a:rPr lang="fr-FR" sz="2800" dirty="0" smtClean="0">
                <a:latin typeface="Arial" pitchFamily="34" charset="0"/>
                <a:cs typeface="Arial" pitchFamily="34" charset="0"/>
              </a:rPr>
              <a:t>                       </a:t>
            </a:r>
            <a:endParaRPr lang="fr-FR" sz="2800" b="1" dirty="0" smtClean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endParaRPr lang="fr-FR" sz="2800" b="1" dirty="0" smtClean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endParaRPr lang="fr-FR" sz="2800" b="1" dirty="0" smtClean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endParaRPr lang="fr-FR" sz="2800" dirty="0" smtClean="0">
              <a:latin typeface="Arial" pitchFamily="34" charset="0"/>
              <a:cs typeface="Arial" pitchFamily="34" charset="0"/>
            </a:endParaRPr>
          </a:p>
          <a:p>
            <a:endParaRPr lang="fr-FR" sz="2800" dirty="0" smtClean="0">
              <a:latin typeface="Arial" pitchFamily="34" charset="0"/>
              <a:cs typeface="Arial" pitchFamily="34" charset="0"/>
            </a:endParaRPr>
          </a:p>
          <a:p>
            <a:endParaRPr lang="fr-FR" sz="2800" dirty="0">
              <a:latin typeface="Arial" pitchFamily="34" charset="0"/>
              <a:cs typeface="Arial" pitchFamily="34" charset="0"/>
            </a:endParaRPr>
          </a:p>
          <a:p>
            <a:endParaRPr lang="fr-FR" sz="2800" dirty="0" smtClean="0">
              <a:latin typeface="Arial" pitchFamily="34" charset="0"/>
              <a:cs typeface="Arial" pitchFamily="34" charset="0"/>
            </a:endParaRPr>
          </a:p>
          <a:p>
            <a:endParaRPr lang="fr-FR" sz="2800" dirty="0">
              <a:latin typeface="Arial" pitchFamily="34" charset="0"/>
              <a:cs typeface="Arial" pitchFamily="34" charset="0"/>
            </a:endParaRPr>
          </a:p>
          <a:p>
            <a:endParaRPr lang="fr-FR" sz="2800" dirty="0" smtClean="0">
              <a:latin typeface="Arial" pitchFamily="34" charset="0"/>
              <a:cs typeface="Arial" pitchFamily="34" charset="0"/>
            </a:endParaRPr>
          </a:p>
          <a:p>
            <a:endParaRPr lang="fr-FR" sz="2800" dirty="0">
              <a:latin typeface="Arial" pitchFamily="34" charset="0"/>
              <a:cs typeface="Arial" pitchFamily="34" charset="0"/>
            </a:endParaRPr>
          </a:p>
          <a:p>
            <a:endParaRPr lang="fr-FR" sz="2800" dirty="0" smtClean="0">
              <a:latin typeface="Arial" pitchFamily="34" charset="0"/>
              <a:cs typeface="Arial" pitchFamily="34" charset="0"/>
            </a:endParaRPr>
          </a:p>
          <a:p>
            <a:endParaRPr lang="fr-FR" sz="2800" dirty="0">
              <a:latin typeface="Arial" pitchFamily="34" charset="0"/>
              <a:cs typeface="Arial" pitchFamily="34" charset="0"/>
            </a:endParaRPr>
          </a:p>
          <a:p>
            <a:endParaRPr lang="fr-FR" sz="2800" dirty="0" smtClean="0">
              <a:latin typeface="Arial" pitchFamily="34" charset="0"/>
              <a:cs typeface="Arial" pitchFamily="34" charset="0"/>
            </a:endParaRPr>
          </a:p>
          <a:p>
            <a:endParaRPr lang="fr-FR" sz="2800" dirty="0">
              <a:latin typeface="Arial" pitchFamily="34" charset="0"/>
              <a:cs typeface="Arial" pitchFamily="34" charset="0"/>
            </a:endParaRPr>
          </a:p>
          <a:p>
            <a:endParaRPr lang="fr-FR" sz="2800" dirty="0" smtClean="0">
              <a:latin typeface="Arial" pitchFamily="34" charset="0"/>
              <a:cs typeface="Arial" pitchFamily="34" charset="0"/>
            </a:endParaRPr>
          </a:p>
          <a:p>
            <a:endParaRPr lang="fr-FR" dirty="0">
              <a:latin typeface="Arial" pitchFamily="34" charset="0"/>
              <a:cs typeface="Arial" pitchFamily="34" charset="0"/>
            </a:endParaRPr>
          </a:p>
          <a:p>
            <a:endParaRPr lang="fr-FR" dirty="0" smtClean="0">
              <a:latin typeface="Arial" pitchFamily="34" charset="0"/>
              <a:cs typeface="Arial" pitchFamily="34" charset="0"/>
            </a:endParaRPr>
          </a:p>
          <a:p>
            <a:r>
              <a:rPr lang="fr-FR" dirty="0" smtClean="0">
                <a:latin typeface="Arial" pitchFamily="34" charset="0"/>
                <a:cs typeface="Arial" pitchFamily="34" charset="0"/>
              </a:rPr>
              <a:t> </a:t>
            </a:r>
            <a:endParaRPr lang="fr-F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ZoneTexte 8"/>
          <p:cNvSpPr txBox="1"/>
          <p:nvPr/>
        </p:nvSpPr>
        <p:spPr>
          <a:xfrm rot="16200000">
            <a:off x="0" y="3068960"/>
            <a:ext cx="291618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EBAUCHE DU</a:t>
            </a:r>
          </a:p>
          <a:p>
            <a:r>
              <a:rPr lang="fr-FR" sz="2800" b="1" dirty="0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TUBE DIGESTIF</a:t>
            </a:r>
            <a:endParaRPr lang="fr-FR" sz="2800" dirty="0">
              <a:solidFill>
                <a:srgbClr val="FFFF00"/>
              </a:solidFill>
            </a:endParaRPr>
          </a:p>
        </p:txBody>
      </p:sp>
      <p:sp>
        <p:nvSpPr>
          <p:cNvPr id="7" name="Accolade ouvrante 6"/>
          <p:cNvSpPr/>
          <p:nvPr/>
        </p:nvSpPr>
        <p:spPr>
          <a:xfrm>
            <a:off x="2699792" y="1484784"/>
            <a:ext cx="106296" cy="4896544"/>
          </a:xfrm>
          <a:prstGeom prst="leftBrace">
            <a:avLst/>
          </a:prstGeom>
          <a:solidFill>
            <a:schemeClr val="bg1"/>
          </a:solidFill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877888" indent="-1733550" algn="ctr"/>
            <a:r>
              <a:rPr lang="fr-FR" dirty="0" smtClean="0"/>
              <a:t>  </a:t>
            </a:r>
            <a:endParaRPr lang="fr-FR" dirty="0"/>
          </a:p>
        </p:txBody>
      </p:sp>
      <p:cxnSp>
        <p:nvCxnSpPr>
          <p:cNvPr id="11" name="Connecteur droit avec flèche 10"/>
          <p:cNvCxnSpPr/>
          <p:nvPr/>
        </p:nvCxnSpPr>
        <p:spPr>
          <a:xfrm>
            <a:off x="5076056" y="1124744"/>
            <a:ext cx="0" cy="151216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ZoneTexte 16"/>
          <p:cNvSpPr txBox="1"/>
          <p:nvPr/>
        </p:nvSpPr>
        <p:spPr>
          <a:xfrm>
            <a:off x="3419872" y="2708920"/>
            <a:ext cx="5134739" cy="50475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/>
              <a:t>Tube digestif primitif</a:t>
            </a:r>
          </a:p>
          <a:p>
            <a:r>
              <a:rPr lang="fr-FR" sz="2400" b="1" dirty="0" smtClean="0"/>
              <a:t> </a:t>
            </a:r>
          </a:p>
          <a:p>
            <a:r>
              <a:rPr lang="fr-FR" sz="2400" b="1" dirty="0" smtClean="0"/>
              <a:t>               Intestin primitif  antérieur</a:t>
            </a:r>
          </a:p>
          <a:p>
            <a:endParaRPr lang="fr-FR" sz="2400" b="1" dirty="0" smtClean="0"/>
          </a:p>
          <a:p>
            <a:r>
              <a:rPr lang="fr-FR" sz="2400" b="1" dirty="0" smtClean="0"/>
              <a:t>               Intestin primitif moyen</a:t>
            </a:r>
          </a:p>
          <a:p>
            <a:endParaRPr lang="fr-FR" sz="2400" b="1" dirty="0" smtClean="0"/>
          </a:p>
          <a:p>
            <a:r>
              <a:rPr lang="fr-FR" sz="2400" b="1" dirty="0" smtClean="0"/>
              <a:t>               Intestin primitif postérieur</a:t>
            </a:r>
            <a:endParaRPr lang="fr-FR" sz="2400" dirty="0" smtClean="0"/>
          </a:p>
          <a:p>
            <a:endParaRPr lang="fr-FR" sz="2400" dirty="0" smtClean="0"/>
          </a:p>
          <a:p>
            <a:endParaRPr lang="fr-FR" sz="2400" dirty="0" smtClean="0"/>
          </a:p>
          <a:p>
            <a:endParaRPr lang="fr-FR" sz="2400" dirty="0" smtClean="0"/>
          </a:p>
          <a:p>
            <a:endParaRPr lang="fr-FR" sz="2400" b="1" dirty="0" smtClean="0"/>
          </a:p>
          <a:p>
            <a:endParaRPr lang="fr-FR" dirty="0" smtClean="0"/>
          </a:p>
          <a:p>
            <a:endParaRPr lang="fr-FR" dirty="0" smtClean="0"/>
          </a:p>
          <a:p>
            <a:endParaRPr lang="fr-FR" dirty="0" smtClean="0"/>
          </a:p>
        </p:txBody>
      </p:sp>
      <p:sp>
        <p:nvSpPr>
          <p:cNvPr id="10" name="ZoneTexte 9"/>
          <p:cNvSpPr txBox="1"/>
          <p:nvPr/>
        </p:nvSpPr>
        <p:spPr>
          <a:xfrm>
            <a:off x="3707904" y="476672"/>
            <a:ext cx="30106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3. ENTOBLASTE</a:t>
            </a:r>
            <a:endParaRPr lang="fr-FR" sz="2800" dirty="0">
              <a:solidFill>
                <a:srgbClr val="FF0000"/>
              </a:solidFill>
            </a:endParaRPr>
          </a:p>
        </p:txBody>
      </p:sp>
      <p:cxnSp>
        <p:nvCxnSpPr>
          <p:cNvPr id="14" name="Connecteur droit avec flèche 13"/>
          <p:cNvCxnSpPr/>
          <p:nvPr/>
        </p:nvCxnSpPr>
        <p:spPr>
          <a:xfrm>
            <a:off x="3779912" y="3717032"/>
            <a:ext cx="792088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avec flèche 14"/>
          <p:cNvCxnSpPr/>
          <p:nvPr/>
        </p:nvCxnSpPr>
        <p:spPr>
          <a:xfrm>
            <a:off x="3851920" y="4365104"/>
            <a:ext cx="792088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/>
          <p:nvPr/>
        </p:nvCxnSpPr>
        <p:spPr>
          <a:xfrm>
            <a:off x="3851920" y="5157192"/>
            <a:ext cx="792088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allAtOnce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06210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fr-FR" sz="2400" b="1" dirty="0" smtClean="0">
              <a:latin typeface="Arial" pitchFamily="34" charset="0"/>
              <a:cs typeface="Arial" pitchFamily="34" charset="0"/>
            </a:endParaRPr>
          </a:p>
          <a:p>
            <a:r>
              <a:rPr lang="fr-FR" sz="2400" b="1" dirty="0" smtClean="0">
                <a:latin typeface="Arial" pitchFamily="34" charset="0"/>
                <a:cs typeface="Arial" pitchFamily="34" charset="0"/>
              </a:rPr>
              <a:t>                         </a:t>
            </a:r>
            <a:endParaRPr lang="fr-FR" sz="3600" b="1" dirty="0" smtClean="0">
              <a:latin typeface="Arial" pitchFamily="34" charset="0"/>
              <a:cs typeface="Arial" pitchFamily="34" charset="0"/>
            </a:endParaRPr>
          </a:p>
          <a:p>
            <a:r>
              <a:rPr lang="fr-FR" sz="2800" b="1" dirty="0" smtClean="0">
                <a:latin typeface="Arial" pitchFamily="34" charset="0"/>
                <a:cs typeface="Arial" pitchFamily="34" charset="0"/>
              </a:rPr>
              <a:t>                           </a:t>
            </a:r>
          </a:p>
          <a:p>
            <a:r>
              <a:rPr lang="fr-FR" sz="2800" b="1" dirty="0" smtClean="0">
                <a:latin typeface="Arial" pitchFamily="34" charset="0"/>
                <a:cs typeface="Arial" pitchFamily="34" charset="0"/>
              </a:rPr>
              <a:t>                              </a:t>
            </a:r>
          </a:p>
          <a:p>
            <a:endParaRPr lang="fr-FR" sz="2800" b="1" dirty="0" smtClean="0">
              <a:latin typeface="Arial" pitchFamily="34" charset="0"/>
              <a:cs typeface="Arial" pitchFamily="34" charset="0"/>
            </a:endParaRPr>
          </a:p>
          <a:p>
            <a:pPr marL="2960688" indent="-2960688"/>
            <a:r>
              <a:rPr lang="fr-FR" sz="2800" b="1" dirty="0" smtClean="0">
                <a:latin typeface="Arial" pitchFamily="34" charset="0"/>
                <a:cs typeface="Arial" pitchFamily="34" charset="0"/>
              </a:rPr>
              <a:t>                                                                                       </a:t>
            </a:r>
          </a:p>
          <a:p>
            <a:pPr marL="2960688" indent="-2960688"/>
            <a:r>
              <a:rPr lang="fr-FR" sz="28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                            </a:t>
            </a:r>
            <a:r>
              <a:rPr lang="fr-FR" sz="2800" b="1" dirty="0" smtClean="0">
                <a:latin typeface="Arial" pitchFamily="34" charset="0"/>
                <a:cs typeface="Arial" pitchFamily="34" charset="0"/>
              </a:rPr>
              <a:t>P. LONGITUDINALE</a:t>
            </a:r>
          </a:p>
          <a:p>
            <a:pPr marL="2960688" indent="-2960688"/>
            <a:endParaRPr lang="fr-FR" sz="2800" b="1" dirty="0" smtClean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pPr marL="2960688" indent="-2960688"/>
            <a:endParaRPr lang="fr-FR" sz="2800" b="1" dirty="0" smtClean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pPr marL="2960688" indent="-2960688"/>
            <a:endParaRPr lang="fr-FR" sz="2800" b="1" dirty="0" smtClean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pPr marL="2960688" indent="-2960688"/>
            <a:endParaRPr lang="fr-FR" sz="2800" b="1" dirty="0" smtClean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pPr marL="2960688" indent="-2960688"/>
            <a:endParaRPr lang="fr-FR" sz="2800" b="1" dirty="0" smtClean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pPr marL="2960688" indent="-2960688"/>
            <a:endParaRPr lang="fr-FR" sz="2800" b="1" dirty="0" smtClean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pPr marL="2960688" indent="-2960688"/>
            <a:endParaRPr lang="fr-FR" sz="2800" b="1" dirty="0" smtClean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pPr marL="2960688" indent="-2960688"/>
            <a:endParaRPr lang="fr-FR" sz="2800" b="1" dirty="0" smtClean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pPr marL="2960688" indent="-2960688"/>
            <a:endParaRPr lang="fr-FR" sz="2800" b="1" dirty="0" smtClean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pPr marL="2154238" indent="-2154238"/>
            <a:r>
              <a:rPr lang="fr-FR" sz="28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  </a:t>
            </a:r>
          </a:p>
          <a:p>
            <a:endParaRPr lang="fr-FR" sz="2800" b="1" dirty="0" smtClean="0">
              <a:latin typeface="Arial" pitchFamily="34" charset="0"/>
              <a:cs typeface="Arial" pitchFamily="34" charset="0"/>
            </a:endParaRPr>
          </a:p>
          <a:p>
            <a:endParaRPr lang="fr-FR" sz="2800" b="1" dirty="0" smtClean="0">
              <a:latin typeface="Arial" pitchFamily="34" charset="0"/>
              <a:cs typeface="Arial" pitchFamily="34" charset="0"/>
            </a:endParaRPr>
          </a:p>
          <a:p>
            <a:endParaRPr lang="fr-FR" sz="2800" b="1" dirty="0" smtClean="0">
              <a:latin typeface="Arial" pitchFamily="34" charset="0"/>
              <a:cs typeface="Arial" pitchFamily="34" charset="0"/>
            </a:endParaRPr>
          </a:p>
          <a:p>
            <a:r>
              <a:rPr lang="fr-FR" sz="2800" b="1" dirty="0" smtClean="0">
                <a:latin typeface="Arial" pitchFamily="34" charset="0"/>
                <a:cs typeface="Arial" pitchFamily="34" charset="0"/>
              </a:rPr>
              <a:t>   </a:t>
            </a:r>
            <a:r>
              <a:rPr lang="fr-FR" sz="2800" dirty="0" smtClean="0">
                <a:latin typeface="Arial" pitchFamily="34" charset="0"/>
                <a:cs typeface="Arial" pitchFamily="34" charset="0"/>
              </a:rPr>
              <a:t>                </a:t>
            </a:r>
          </a:p>
          <a:p>
            <a:endParaRPr lang="fr-FR" sz="2800" dirty="0" smtClean="0">
              <a:latin typeface="Arial" pitchFamily="34" charset="0"/>
              <a:cs typeface="Arial" pitchFamily="34" charset="0"/>
            </a:endParaRPr>
          </a:p>
          <a:p>
            <a:r>
              <a:rPr lang="fr-FR" sz="2800" dirty="0" smtClean="0">
                <a:latin typeface="Arial" pitchFamily="34" charset="0"/>
                <a:cs typeface="Arial" pitchFamily="34" charset="0"/>
              </a:rPr>
              <a:t>                          </a:t>
            </a:r>
          </a:p>
          <a:p>
            <a:r>
              <a:rPr lang="fr-FR" sz="2800" dirty="0" smtClean="0">
                <a:latin typeface="Arial" pitchFamily="34" charset="0"/>
                <a:cs typeface="Arial" pitchFamily="34" charset="0"/>
              </a:rPr>
              <a:t>                                               </a:t>
            </a:r>
          </a:p>
          <a:p>
            <a:endParaRPr lang="fr-FR" sz="2800" dirty="0" smtClean="0">
              <a:latin typeface="Arial" pitchFamily="34" charset="0"/>
              <a:cs typeface="Arial" pitchFamily="34" charset="0"/>
            </a:endParaRPr>
          </a:p>
          <a:p>
            <a:r>
              <a:rPr lang="fr-FR" sz="2800" dirty="0" smtClean="0">
                <a:latin typeface="Arial" pitchFamily="34" charset="0"/>
                <a:cs typeface="Arial" pitchFamily="34" charset="0"/>
              </a:rPr>
              <a:t>                         </a:t>
            </a:r>
          </a:p>
          <a:p>
            <a:r>
              <a:rPr lang="fr-FR" sz="2800" dirty="0" smtClean="0">
                <a:latin typeface="Arial" pitchFamily="34" charset="0"/>
                <a:cs typeface="Arial" pitchFamily="34" charset="0"/>
              </a:rPr>
              <a:t>                                                         </a:t>
            </a:r>
          </a:p>
          <a:p>
            <a:endParaRPr lang="fr-FR" sz="2800" dirty="0" smtClean="0">
              <a:latin typeface="Arial" pitchFamily="34" charset="0"/>
              <a:cs typeface="Arial" pitchFamily="34" charset="0"/>
            </a:endParaRPr>
          </a:p>
          <a:p>
            <a:endParaRPr lang="fr-FR" sz="2800" dirty="0" smtClean="0">
              <a:latin typeface="Arial" pitchFamily="34" charset="0"/>
              <a:cs typeface="Arial" pitchFamily="34" charset="0"/>
            </a:endParaRPr>
          </a:p>
          <a:p>
            <a:r>
              <a:rPr lang="fr-FR" sz="2800" dirty="0" smtClean="0">
                <a:latin typeface="Arial" pitchFamily="34" charset="0"/>
                <a:cs typeface="Arial" pitchFamily="34" charset="0"/>
              </a:rPr>
              <a:t>                           </a:t>
            </a:r>
          </a:p>
          <a:p>
            <a:endParaRPr lang="fr-FR" sz="2800" dirty="0" smtClean="0">
              <a:latin typeface="Arial" pitchFamily="34" charset="0"/>
              <a:cs typeface="Arial" pitchFamily="34" charset="0"/>
            </a:endParaRPr>
          </a:p>
          <a:p>
            <a:r>
              <a:rPr lang="fr-FR" sz="2800" dirty="0" smtClean="0">
                <a:latin typeface="Arial" pitchFamily="34" charset="0"/>
                <a:cs typeface="Arial" pitchFamily="34" charset="0"/>
              </a:rPr>
              <a:t>                       </a:t>
            </a:r>
            <a:endParaRPr lang="fr-FR" sz="2800" b="1" dirty="0" smtClean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endParaRPr lang="fr-FR" sz="2800" b="1" dirty="0" smtClean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endParaRPr lang="fr-FR" sz="2800" b="1" dirty="0" smtClean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endParaRPr lang="fr-FR" sz="2800" dirty="0" smtClean="0">
              <a:latin typeface="Arial" pitchFamily="34" charset="0"/>
              <a:cs typeface="Arial" pitchFamily="34" charset="0"/>
            </a:endParaRPr>
          </a:p>
          <a:p>
            <a:endParaRPr lang="fr-FR" sz="2800" dirty="0" smtClean="0">
              <a:latin typeface="Arial" pitchFamily="34" charset="0"/>
              <a:cs typeface="Arial" pitchFamily="34" charset="0"/>
            </a:endParaRPr>
          </a:p>
          <a:p>
            <a:endParaRPr lang="fr-FR" sz="2800" dirty="0">
              <a:latin typeface="Arial" pitchFamily="34" charset="0"/>
              <a:cs typeface="Arial" pitchFamily="34" charset="0"/>
            </a:endParaRPr>
          </a:p>
          <a:p>
            <a:endParaRPr lang="fr-FR" sz="2800" dirty="0" smtClean="0">
              <a:latin typeface="Arial" pitchFamily="34" charset="0"/>
              <a:cs typeface="Arial" pitchFamily="34" charset="0"/>
            </a:endParaRPr>
          </a:p>
          <a:p>
            <a:endParaRPr lang="fr-FR" sz="2800" dirty="0">
              <a:latin typeface="Arial" pitchFamily="34" charset="0"/>
              <a:cs typeface="Arial" pitchFamily="34" charset="0"/>
            </a:endParaRPr>
          </a:p>
          <a:p>
            <a:endParaRPr lang="fr-FR" sz="2800" dirty="0" smtClean="0">
              <a:latin typeface="Arial" pitchFamily="34" charset="0"/>
              <a:cs typeface="Arial" pitchFamily="34" charset="0"/>
            </a:endParaRPr>
          </a:p>
          <a:p>
            <a:endParaRPr lang="fr-FR" sz="2800" dirty="0">
              <a:latin typeface="Arial" pitchFamily="34" charset="0"/>
              <a:cs typeface="Arial" pitchFamily="34" charset="0"/>
            </a:endParaRPr>
          </a:p>
          <a:p>
            <a:endParaRPr lang="fr-FR" sz="2800" dirty="0" smtClean="0">
              <a:latin typeface="Arial" pitchFamily="34" charset="0"/>
              <a:cs typeface="Arial" pitchFamily="34" charset="0"/>
            </a:endParaRPr>
          </a:p>
          <a:p>
            <a:endParaRPr lang="fr-FR" sz="2800" dirty="0">
              <a:latin typeface="Arial" pitchFamily="34" charset="0"/>
              <a:cs typeface="Arial" pitchFamily="34" charset="0"/>
            </a:endParaRPr>
          </a:p>
          <a:p>
            <a:endParaRPr lang="fr-FR" sz="2800" dirty="0" smtClean="0">
              <a:latin typeface="Arial" pitchFamily="34" charset="0"/>
              <a:cs typeface="Arial" pitchFamily="34" charset="0"/>
            </a:endParaRPr>
          </a:p>
          <a:p>
            <a:endParaRPr lang="fr-FR" sz="2800" dirty="0">
              <a:latin typeface="Arial" pitchFamily="34" charset="0"/>
              <a:cs typeface="Arial" pitchFamily="34" charset="0"/>
            </a:endParaRPr>
          </a:p>
          <a:p>
            <a:endParaRPr lang="fr-FR" sz="2800" dirty="0" smtClean="0">
              <a:latin typeface="Arial" pitchFamily="34" charset="0"/>
              <a:cs typeface="Arial" pitchFamily="34" charset="0"/>
            </a:endParaRPr>
          </a:p>
          <a:p>
            <a:endParaRPr lang="fr-FR" dirty="0">
              <a:latin typeface="Arial" pitchFamily="34" charset="0"/>
              <a:cs typeface="Arial" pitchFamily="34" charset="0"/>
            </a:endParaRPr>
          </a:p>
          <a:p>
            <a:endParaRPr lang="fr-FR" dirty="0" smtClean="0">
              <a:latin typeface="Arial" pitchFamily="34" charset="0"/>
              <a:cs typeface="Arial" pitchFamily="34" charset="0"/>
            </a:endParaRPr>
          </a:p>
          <a:p>
            <a:r>
              <a:rPr lang="fr-FR" dirty="0" smtClean="0">
                <a:latin typeface="Arial" pitchFamily="34" charset="0"/>
                <a:cs typeface="Arial" pitchFamily="34" charset="0"/>
              </a:rPr>
              <a:t> </a:t>
            </a:r>
            <a:endParaRPr lang="fr-F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Accolade ouvrante 6"/>
          <p:cNvSpPr/>
          <p:nvPr/>
        </p:nvSpPr>
        <p:spPr>
          <a:xfrm>
            <a:off x="2699792" y="1484784"/>
            <a:ext cx="106296" cy="4896544"/>
          </a:xfrm>
          <a:prstGeom prst="leftBrace">
            <a:avLst/>
          </a:prstGeom>
          <a:solidFill>
            <a:schemeClr val="bg1"/>
          </a:solidFill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877888" indent="-1733550" algn="ctr"/>
            <a:r>
              <a:rPr lang="fr-FR" dirty="0" smtClean="0"/>
              <a:t>  </a:t>
            </a:r>
            <a:endParaRPr lang="fr-FR" dirty="0"/>
          </a:p>
        </p:txBody>
      </p:sp>
      <p:sp>
        <p:nvSpPr>
          <p:cNvPr id="10" name="ZoneTexte 9"/>
          <p:cNvSpPr txBox="1"/>
          <p:nvPr/>
        </p:nvSpPr>
        <p:spPr>
          <a:xfrm>
            <a:off x="0" y="2780928"/>
            <a:ext cx="3068960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smtClean="0">
                <a:solidFill>
                  <a:srgbClr val="FFFF00"/>
                </a:solidFill>
              </a:rPr>
              <a:t>DELIMITATION DE L’EMBRYON</a:t>
            </a:r>
          </a:p>
          <a:p>
            <a:r>
              <a:rPr lang="fr-FR" sz="2400" b="1" dirty="0" smtClean="0">
                <a:solidFill>
                  <a:srgbClr val="FFFF00"/>
                </a:solidFill>
              </a:rPr>
              <a:t>     (PLICATURE)</a:t>
            </a:r>
            <a:r>
              <a:rPr lang="fr-FR" sz="2800" dirty="0" smtClean="0">
                <a:solidFill>
                  <a:srgbClr val="FFFF00"/>
                </a:solidFill>
              </a:rPr>
              <a:t>                                        </a:t>
            </a:r>
          </a:p>
          <a:p>
            <a:r>
              <a:rPr lang="fr-FR" sz="2800" b="1" dirty="0" smtClean="0">
                <a:solidFill>
                  <a:schemeClr val="bg1"/>
                </a:solidFill>
              </a:rPr>
              <a:t>                                </a:t>
            </a:r>
            <a:endParaRPr lang="fr-FR" sz="2800" b="1" dirty="0" smtClean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ZoneTexte 12"/>
          <p:cNvSpPr txBox="1"/>
          <p:nvPr/>
        </p:nvSpPr>
        <p:spPr>
          <a:xfrm>
            <a:off x="7236296" y="3356992"/>
            <a:ext cx="136608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EMBRYON</a:t>
            </a:r>
          </a:p>
          <a:p>
            <a:endParaRPr lang="fr-FR" dirty="0" smtClean="0"/>
          </a:p>
          <a:p>
            <a:r>
              <a:rPr lang="fr-FR" dirty="0" smtClean="0"/>
              <a:t>        +</a:t>
            </a:r>
          </a:p>
          <a:p>
            <a:endParaRPr lang="fr-FR" dirty="0" smtClean="0"/>
          </a:p>
          <a:p>
            <a:r>
              <a:rPr lang="fr-FR" dirty="0" smtClean="0"/>
              <a:t>ANNEXES</a:t>
            </a:r>
            <a:endParaRPr lang="fr-FR" dirty="0"/>
          </a:p>
        </p:txBody>
      </p:sp>
      <p:sp>
        <p:nvSpPr>
          <p:cNvPr id="6" name="ZoneTexte 5"/>
          <p:cNvSpPr txBox="1"/>
          <p:nvPr/>
        </p:nvSpPr>
        <p:spPr>
          <a:xfrm>
            <a:off x="2843808" y="4437112"/>
            <a:ext cx="31935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smtClean="0">
                <a:latin typeface="Arial" pitchFamily="34" charset="0"/>
                <a:cs typeface="Arial" pitchFamily="34" charset="0"/>
              </a:rPr>
              <a:t>P. TANSVERSALE</a:t>
            </a:r>
            <a:endParaRPr lang="fr-FR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11560" y="548680"/>
            <a:ext cx="783573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3200" b="1" dirty="0" smtClean="0">
                <a:solidFill>
                  <a:srgbClr val="FFFF00"/>
                </a:solidFill>
                <a:latin typeface="Calibri" pitchFamily="34" charset="0"/>
                <a:cs typeface="Calibri" pitchFamily="34" charset="0"/>
              </a:rPr>
              <a:t>2. DELIMITATION DE L’EMBRYON (PLICATURE</a:t>
            </a:r>
            <a:r>
              <a:rPr lang="fr-FR" b="1" dirty="0" smtClean="0">
                <a:solidFill>
                  <a:srgbClr val="FFFF00"/>
                </a:solidFill>
                <a:latin typeface="Calibri" pitchFamily="34" charset="0"/>
                <a:cs typeface="Calibri" pitchFamily="34" charset="0"/>
              </a:rPr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-315416"/>
            <a:ext cx="9024715" cy="72635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dirty="0"/>
          </a:p>
          <a:p>
            <a:r>
              <a:rPr lang="fr-FR" sz="28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     </a:t>
            </a:r>
            <a:r>
              <a:rPr lang="fr-FR" sz="2800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GRANDES ÉTAPES DU DÉVELOPPEMENT EMBRYONNAIRE</a:t>
            </a:r>
          </a:p>
          <a:p>
            <a:r>
              <a:rPr lang="fr-FR" sz="2800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fr-FR" sz="2800" dirty="0" smtClean="0">
                <a:latin typeface="Calibri" pitchFamily="34" charset="0"/>
                <a:cs typeface="Calibri" pitchFamily="34" charset="0"/>
              </a:rPr>
              <a:t> </a:t>
            </a:r>
          </a:p>
          <a:p>
            <a:r>
              <a:rPr lang="fr-FR" sz="2800" b="1" dirty="0" smtClean="0">
                <a:solidFill>
                  <a:srgbClr val="FFFF00"/>
                </a:solidFill>
                <a:latin typeface="Calibri" pitchFamily="34" charset="0"/>
                <a:cs typeface="Calibri" pitchFamily="34" charset="0"/>
              </a:rPr>
              <a:t>PRÉ-MORPHOGENÈSE </a:t>
            </a:r>
          </a:p>
          <a:p>
            <a:r>
              <a:rPr lang="fr-FR" sz="2800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Elle se déroule au cours de la </a:t>
            </a:r>
            <a:r>
              <a:rPr lang="fr-FR" sz="2800" b="1" dirty="0" smtClean="0">
                <a:solidFill>
                  <a:srgbClr val="00B050"/>
                </a:solidFill>
                <a:latin typeface="Calibri" pitchFamily="34" charset="0"/>
                <a:cs typeface="Calibri" pitchFamily="34" charset="0"/>
              </a:rPr>
              <a:t>1</a:t>
            </a:r>
            <a:r>
              <a:rPr lang="fr-FR" sz="2800" b="1" baseline="30000" dirty="0" smtClean="0">
                <a:solidFill>
                  <a:srgbClr val="00B050"/>
                </a:solidFill>
                <a:latin typeface="Calibri" pitchFamily="34" charset="0"/>
                <a:cs typeface="Calibri" pitchFamily="34" charset="0"/>
              </a:rPr>
              <a:t>ère </a:t>
            </a:r>
            <a:r>
              <a:rPr lang="fr-FR" sz="2800" b="1" dirty="0" smtClean="0">
                <a:solidFill>
                  <a:srgbClr val="00B050"/>
                </a:solidFill>
                <a:latin typeface="Calibri" pitchFamily="34" charset="0"/>
                <a:cs typeface="Calibri" pitchFamily="34" charset="0"/>
              </a:rPr>
              <a:t>semaine </a:t>
            </a:r>
            <a:r>
              <a:rPr lang="fr-FR" sz="2800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du </a:t>
            </a:r>
          </a:p>
          <a:p>
            <a:r>
              <a:rPr lang="fr-FR" sz="2800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développement embryonnaire:</a:t>
            </a:r>
          </a:p>
          <a:p>
            <a:pPr>
              <a:buFont typeface="Wingdings" pitchFamily="2" charset="2"/>
              <a:buChar char="§"/>
            </a:pPr>
            <a:r>
              <a:rPr lang="fr-FR" sz="2800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la fécondation</a:t>
            </a:r>
          </a:p>
          <a:p>
            <a:pPr>
              <a:buFont typeface="Wingdings" pitchFamily="2" charset="2"/>
              <a:buChar char="§"/>
            </a:pPr>
            <a:r>
              <a:rPr lang="fr-FR" sz="2800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la segmentation</a:t>
            </a:r>
          </a:p>
          <a:p>
            <a:pPr>
              <a:buFont typeface="Wingdings" pitchFamily="2" charset="2"/>
              <a:buChar char="§"/>
            </a:pPr>
            <a:r>
              <a:rPr lang="fr-FR" sz="2800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la formation du </a:t>
            </a:r>
            <a:r>
              <a:rPr lang="fr-FR" sz="2800" dirty="0" err="1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blastocyste</a:t>
            </a:r>
            <a:r>
              <a:rPr lang="fr-FR" sz="2800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</a:t>
            </a:r>
          </a:p>
          <a:p>
            <a:r>
              <a:rPr lang="fr-FR" sz="2800" b="1" dirty="0" smtClean="0">
                <a:solidFill>
                  <a:srgbClr val="FFFF00"/>
                </a:solidFill>
                <a:latin typeface="Calibri" pitchFamily="34" charset="0"/>
                <a:cs typeface="Calibri" pitchFamily="34" charset="0"/>
              </a:rPr>
              <a:t>  </a:t>
            </a:r>
          </a:p>
          <a:p>
            <a:r>
              <a:rPr lang="fr-FR" sz="2800" b="1" dirty="0" smtClean="0">
                <a:solidFill>
                  <a:srgbClr val="FFFF00"/>
                </a:solidFill>
                <a:latin typeface="Calibri" pitchFamily="34" charset="0"/>
                <a:cs typeface="Calibri" pitchFamily="34" charset="0"/>
              </a:rPr>
              <a:t>MORPHOGENÈSE PRIMORDIALE </a:t>
            </a:r>
          </a:p>
          <a:p>
            <a:r>
              <a:rPr lang="fr-FR" sz="2800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Elle s’effectue pendant la </a:t>
            </a:r>
            <a:r>
              <a:rPr lang="fr-FR" sz="2800" b="1" dirty="0" smtClean="0">
                <a:solidFill>
                  <a:srgbClr val="00B050"/>
                </a:solidFill>
                <a:latin typeface="Calibri" pitchFamily="34" charset="0"/>
                <a:cs typeface="Calibri" pitchFamily="34" charset="0"/>
              </a:rPr>
              <a:t>2</a:t>
            </a:r>
            <a:r>
              <a:rPr lang="fr-FR" sz="2800" b="1" baseline="30000" dirty="0" smtClean="0">
                <a:solidFill>
                  <a:srgbClr val="00B050"/>
                </a:solidFill>
                <a:latin typeface="Calibri" pitchFamily="34" charset="0"/>
                <a:cs typeface="Calibri" pitchFamily="34" charset="0"/>
              </a:rPr>
              <a:t>ème</a:t>
            </a:r>
            <a:r>
              <a:rPr lang="fr-FR" sz="2800" b="1" dirty="0" smtClean="0">
                <a:solidFill>
                  <a:srgbClr val="00B050"/>
                </a:solidFill>
                <a:latin typeface="Calibri" pitchFamily="34" charset="0"/>
                <a:cs typeface="Calibri" pitchFamily="34" charset="0"/>
              </a:rPr>
              <a:t>  semaine </a:t>
            </a:r>
            <a:r>
              <a:rPr lang="fr-FR" sz="2800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du</a:t>
            </a:r>
          </a:p>
          <a:p>
            <a:r>
              <a:rPr lang="fr-FR" sz="2800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développement embryonnaire. :</a:t>
            </a:r>
          </a:p>
          <a:p>
            <a:pPr>
              <a:buFont typeface="Wingdings" pitchFamily="2" charset="2"/>
              <a:buChar char="§"/>
            </a:pPr>
            <a:r>
              <a:rPr lang="fr-FR" sz="2800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la pré-gastrulation: transformation du bouton</a:t>
            </a:r>
          </a:p>
          <a:p>
            <a:r>
              <a:rPr lang="fr-FR" sz="2800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embryonnaire en un germe didermique</a:t>
            </a:r>
          </a:p>
          <a:p>
            <a:r>
              <a:rPr lang="fr-FR" sz="2800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</a:t>
            </a:r>
          </a:p>
          <a:p>
            <a:r>
              <a:rPr lang="fr-FR" sz="2800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8164415" cy="59708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dirty="0"/>
          </a:p>
          <a:p>
            <a:r>
              <a:rPr lang="fr-FR" sz="2800" b="1" dirty="0" smtClean="0">
                <a:solidFill>
                  <a:srgbClr val="FFFF00"/>
                </a:solidFill>
              </a:rPr>
              <a:t>MORPHOGENÈSE PRIMAIRE </a:t>
            </a:r>
          </a:p>
          <a:p>
            <a:r>
              <a:rPr lang="fr-FR" sz="2800" dirty="0" smtClean="0">
                <a:solidFill>
                  <a:schemeClr val="bg1"/>
                </a:solidFill>
              </a:rPr>
              <a:t>Elle s’effectue pendant la </a:t>
            </a:r>
            <a:r>
              <a:rPr lang="fr-FR" sz="2800" b="1" dirty="0" smtClean="0">
                <a:solidFill>
                  <a:srgbClr val="00B050"/>
                </a:solidFill>
              </a:rPr>
              <a:t>3</a:t>
            </a:r>
            <a:r>
              <a:rPr lang="fr-FR" sz="2800" b="1" baseline="30000" dirty="0" smtClean="0">
                <a:solidFill>
                  <a:srgbClr val="00B050"/>
                </a:solidFill>
              </a:rPr>
              <a:t>ème</a:t>
            </a:r>
            <a:r>
              <a:rPr lang="fr-FR" sz="2800" b="1" dirty="0" smtClean="0">
                <a:solidFill>
                  <a:srgbClr val="00B050"/>
                </a:solidFill>
              </a:rPr>
              <a:t>  semaine </a:t>
            </a:r>
            <a:r>
              <a:rPr lang="fr-FR" sz="2800" dirty="0" smtClean="0">
                <a:solidFill>
                  <a:schemeClr val="bg1"/>
                </a:solidFill>
              </a:rPr>
              <a:t>du</a:t>
            </a:r>
          </a:p>
          <a:p>
            <a:r>
              <a:rPr lang="fr-FR" sz="2800" dirty="0" smtClean="0">
                <a:solidFill>
                  <a:schemeClr val="bg1"/>
                </a:solidFill>
              </a:rPr>
              <a:t> développement embryonnaire. :</a:t>
            </a:r>
          </a:p>
          <a:p>
            <a:r>
              <a:rPr lang="fr-FR" sz="2800" dirty="0" smtClean="0">
                <a:solidFill>
                  <a:schemeClr val="bg1"/>
                </a:solidFill>
              </a:rPr>
              <a:t>  </a:t>
            </a:r>
          </a:p>
          <a:p>
            <a:pPr>
              <a:buFont typeface="Wingdings" pitchFamily="2" charset="2"/>
              <a:buChar char="§"/>
            </a:pPr>
            <a:r>
              <a:rPr lang="fr-FR" sz="2800" dirty="0" smtClean="0">
                <a:solidFill>
                  <a:schemeClr val="bg1"/>
                </a:solidFill>
              </a:rPr>
              <a:t> La gastrulation: transformation du germe </a:t>
            </a:r>
          </a:p>
          <a:p>
            <a:r>
              <a:rPr lang="fr-FR" sz="2800" dirty="0" smtClean="0">
                <a:solidFill>
                  <a:schemeClr val="bg1"/>
                </a:solidFill>
              </a:rPr>
              <a:t>didermique en germe  tri dermique</a:t>
            </a:r>
          </a:p>
          <a:p>
            <a:endParaRPr lang="fr-FR" sz="2800" b="1" dirty="0" smtClean="0">
              <a:solidFill>
                <a:srgbClr val="FFFF00"/>
              </a:solidFill>
            </a:endParaRPr>
          </a:p>
          <a:p>
            <a:r>
              <a:rPr lang="fr-FR" sz="2800" b="1" dirty="0" smtClean="0">
                <a:solidFill>
                  <a:srgbClr val="FFFF00"/>
                </a:solidFill>
              </a:rPr>
              <a:t>MORPHOGENÈSE SECONDAIRE </a:t>
            </a:r>
          </a:p>
          <a:p>
            <a:r>
              <a:rPr lang="fr-FR" sz="2800" dirty="0" smtClean="0">
                <a:solidFill>
                  <a:schemeClr val="bg1"/>
                </a:solidFill>
              </a:rPr>
              <a:t>Elle correspond à la </a:t>
            </a:r>
            <a:r>
              <a:rPr lang="fr-FR" sz="2800" b="1" dirty="0" smtClean="0">
                <a:solidFill>
                  <a:srgbClr val="00B050"/>
                </a:solidFill>
              </a:rPr>
              <a:t>4</a:t>
            </a:r>
            <a:r>
              <a:rPr lang="fr-FR" sz="2800" b="1" baseline="30000" dirty="0" smtClean="0">
                <a:solidFill>
                  <a:srgbClr val="00B050"/>
                </a:solidFill>
              </a:rPr>
              <a:t>ème</a:t>
            </a:r>
            <a:r>
              <a:rPr lang="fr-FR" sz="2800" b="1" dirty="0" smtClean="0">
                <a:solidFill>
                  <a:srgbClr val="00B050"/>
                </a:solidFill>
              </a:rPr>
              <a:t> semaine </a:t>
            </a:r>
            <a:r>
              <a:rPr lang="fr-FR" sz="2800" dirty="0" smtClean="0">
                <a:solidFill>
                  <a:schemeClr val="bg1"/>
                </a:solidFill>
              </a:rPr>
              <a:t>de la grossesse </a:t>
            </a:r>
          </a:p>
          <a:p>
            <a:r>
              <a:rPr lang="fr-FR" sz="2800" dirty="0" smtClean="0">
                <a:solidFill>
                  <a:schemeClr val="bg1"/>
                </a:solidFill>
              </a:rPr>
              <a:t>(20ème -29ème jours). </a:t>
            </a:r>
          </a:p>
          <a:p>
            <a:pPr>
              <a:buFont typeface="Wingdings" pitchFamily="2" charset="2"/>
              <a:buChar char="§"/>
            </a:pPr>
            <a:r>
              <a:rPr lang="fr-FR" sz="2800" dirty="0" smtClean="0">
                <a:solidFill>
                  <a:schemeClr val="bg1"/>
                </a:solidFill>
              </a:rPr>
              <a:t> La </a:t>
            </a:r>
            <a:r>
              <a:rPr lang="fr-FR" sz="2800" dirty="0" err="1" smtClean="0">
                <a:solidFill>
                  <a:schemeClr val="bg1"/>
                </a:solidFill>
              </a:rPr>
              <a:t>neurulation</a:t>
            </a:r>
            <a:r>
              <a:rPr lang="fr-FR" sz="2800" dirty="0" smtClean="0">
                <a:solidFill>
                  <a:schemeClr val="bg1"/>
                </a:solidFill>
              </a:rPr>
              <a:t>:  mise en place de la première </a:t>
            </a:r>
          </a:p>
          <a:p>
            <a:r>
              <a:rPr lang="fr-FR" sz="2800" dirty="0" smtClean="0">
                <a:solidFill>
                  <a:schemeClr val="bg1"/>
                </a:solidFill>
              </a:rPr>
              <a:t>ébauche du système nerveux.</a:t>
            </a:r>
          </a:p>
          <a:p>
            <a:r>
              <a:rPr lang="fr-FR" sz="2800" dirty="0" smtClean="0">
                <a:solidFill>
                  <a:schemeClr val="bg1"/>
                </a:solidFill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-315416"/>
            <a:ext cx="9230412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smtClean="0">
                <a:solidFill>
                  <a:schemeClr val="bg1"/>
                </a:solidFill>
              </a:rPr>
              <a:t> </a:t>
            </a:r>
          </a:p>
          <a:p>
            <a:r>
              <a:rPr lang="fr-FR" sz="2800" dirty="0" smtClean="0">
                <a:solidFill>
                  <a:schemeClr val="bg1"/>
                </a:solidFill>
              </a:rPr>
              <a:t> </a:t>
            </a:r>
            <a:r>
              <a:rPr lang="fr-FR" sz="2800" b="1" dirty="0" smtClean="0">
                <a:solidFill>
                  <a:srgbClr val="FFFF00"/>
                </a:solidFill>
              </a:rPr>
              <a:t>MORPHOGENÈSE DÉFINITIVE</a:t>
            </a:r>
            <a:endParaRPr lang="fr-FR" sz="2800" dirty="0" smtClean="0">
              <a:solidFill>
                <a:srgbClr val="FFFF00"/>
              </a:solidFill>
            </a:endParaRPr>
          </a:p>
          <a:p>
            <a:r>
              <a:rPr lang="fr-FR" sz="2800" dirty="0" smtClean="0">
                <a:solidFill>
                  <a:schemeClr val="bg1"/>
                </a:solidFill>
              </a:rPr>
              <a:t>Elle s’observe à partir de la 5ème semaine de la grossesse</a:t>
            </a:r>
          </a:p>
          <a:p>
            <a:pPr>
              <a:buFont typeface="Wingdings" pitchFamily="2" charset="2"/>
              <a:buChar char="§"/>
            </a:pPr>
            <a:r>
              <a:rPr lang="fr-FR" sz="2800" dirty="0" smtClean="0">
                <a:solidFill>
                  <a:schemeClr val="bg1"/>
                </a:solidFill>
              </a:rPr>
              <a:t> L’</a:t>
            </a:r>
            <a:r>
              <a:rPr lang="fr-FR" sz="2800" dirty="0" err="1" smtClean="0">
                <a:solidFill>
                  <a:schemeClr val="bg1"/>
                </a:solidFill>
              </a:rPr>
              <a:t>organogènèse</a:t>
            </a:r>
            <a:r>
              <a:rPr lang="fr-FR" sz="2800" dirty="0" smtClean="0">
                <a:solidFill>
                  <a:schemeClr val="bg1"/>
                </a:solidFill>
              </a:rPr>
              <a:t>: au cours de laquelle les  différents </a:t>
            </a:r>
          </a:p>
          <a:p>
            <a:r>
              <a:rPr lang="fr-FR" sz="2800" dirty="0" smtClean="0">
                <a:solidFill>
                  <a:schemeClr val="bg1"/>
                </a:solidFill>
              </a:rPr>
              <a:t>organes se différencient à </a:t>
            </a:r>
            <a:r>
              <a:rPr lang="fr-FR" sz="2800" dirty="0" smtClean="0">
                <a:solidFill>
                  <a:schemeClr val="bg1"/>
                </a:solidFill>
              </a:rPr>
              <a:t>partir des ébauches.</a:t>
            </a:r>
            <a:endParaRPr lang="fr-FR" sz="28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268760"/>
            <a:ext cx="9144000" cy="5589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ZoneTexte 2"/>
          <p:cNvSpPr txBox="1"/>
          <p:nvPr/>
        </p:nvSpPr>
        <p:spPr>
          <a:xfrm>
            <a:off x="0" y="260648"/>
            <a:ext cx="72172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PERIODE EMBRYONNAIRE ET PERIODE FOETALE</a:t>
            </a:r>
            <a:endParaRPr lang="fr-FR" sz="2800" b="1" dirty="0">
              <a:solidFill>
                <a:srgbClr val="FF00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2181838" y="5949280"/>
            <a:ext cx="696216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dirty="0" smtClean="0">
                <a:solidFill>
                  <a:schemeClr val="bg2"/>
                </a:solidFill>
              </a:rPr>
              <a:t> grossesse (gestation) 39- 41 semaines</a:t>
            </a:r>
            <a:endParaRPr lang="fr-FR" sz="3200" dirty="0">
              <a:solidFill>
                <a:schemeClr val="bg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9552" y="620688"/>
            <a:ext cx="763284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fr-FR" sz="3200" b="1" dirty="0" smtClean="0"/>
              <a:t> </a:t>
            </a:r>
            <a:r>
              <a:rPr lang="fr-FR" sz="3200" b="1" dirty="0" smtClean="0">
                <a:solidFill>
                  <a:srgbClr val="FF0000"/>
                </a:solidFill>
              </a:rPr>
              <a:t>La </a:t>
            </a:r>
            <a:r>
              <a:rPr lang="fr-FR" sz="3200" b="1" dirty="0">
                <a:solidFill>
                  <a:srgbClr val="FF0000"/>
                </a:solidFill>
              </a:rPr>
              <a:t>période embryonnaire </a:t>
            </a:r>
            <a:r>
              <a:rPr lang="fr-FR" sz="3200" dirty="0"/>
              <a:t/>
            </a:r>
            <a:br>
              <a:rPr lang="fr-FR" sz="3200" dirty="0"/>
            </a:br>
            <a:r>
              <a:rPr lang="fr-FR" sz="3200" dirty="0" smtClean="0"/>
              <a:t>mise </a:t>
            </a:r>
            <a:r>
              <a:rPr lang="fr-FR" sz="3200" dirty="0"/>
              <a:t>en place des ébauches des </a:t>
            </a:r>
            <a:r>
              <a:rPr lang="fr-FR" sz="3200" dirty="0" smtClean="0"/>
              <a:t>organes</a:t>
            </a:r>
            <a:r>
              <a:rPr lang="fr-FR" sz="3200" dirty="0"/>
              <a:t>. </a:t>
            </a:r>
          </a:p>
        </p:txBody>
      </p:sp>
      <p:sp>
        <p:nvSpPr>
          <p:cNvPr id="3" name="Rectangle 2"/>
          <p:cNvSpPr/>
          <p:nvPr/>
        </p:nvSpPr>
        <p:spPr>
          <a:xfrm>
            <a:off x="539552" y="3140968"/>
            <a:ext cx="7488832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fr-FR" sz="3200" b="1" dirty="0" smtClean="0"/>
              <a:t> </a:t>
            </a:r>
            <a:r>
              <a:rPr lang="fr-FR" sz="3200" b="1" dirty="0" smtClean="0">
                <a:solidFill>
                  <a:srgbClr val="FF0000"/>
                </a:solidFill>
              </a:rPr>
              <a:t>La </a:t>
            </a:r>
            <a:r>
              <a:rPr lang="fr-FR" sz="3200" b="1" dirty="0">
                <a:solidFill>
                  <a:srgbClr val="FF0000"/>
                </a:solidFill>
              </a:rPr>
              <a:t>période fœtale </a:t>
            </a:r>
            <a:r>
              <a:rPr lang="fr-FR" sz="3200" dirty="0"/>
              <a:t/>
            </a:r>
            <a:br>
              <a:rPr lang="fr-FR" sz="3200" dirty="0"/>
            </a:br>
            <a:r>
              <a:rPr lang="fr-FR" sz="3200" dirty="0"/>
              <a:t>C'est la formation des organes à partir des </a:t>
            </a:r>
            <a:r>
              <a:rPr lang="fr-FR" sz="3200" dirty="0" smtClean="0"/>
              <a:t>ébauches</a:t>
            </a:r>
            <a:endParaRPr lang="fr-FR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allAtOnce"/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48680"/>
            <a:ext cx="91440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fr-FR" b="1" dirty="0" smtClean="0"/>
              <a:t> </a:t>
            </a:r>
            <a:r>
              <a:rPr lang="fr-FR" sz="2400" b="1" dirty="0" err="1" smtClean="0"/>
              <a:t>Catala</a:t>
            </a:r>
            <a:r>
              <a:rPr lang="fr-FR" sz="2400" b="1" dirty="0" smtClean="0"/>
              <a:t> </a:t>
            </a:r>
            <a:r>
              <a:rPr lang="fr-FR" sz="2400" b="1" dirty="0"/>
              <a:t>M. Embryologie, développement précoce chez l’humain. Ed Masson, 3ème édition, 2006. </a:t>
            </a:r>
          </a:p>
          <a:p>
            <a:pPr>
              <a:buFont typeface="Wingdings" pitchFamily="2" charset="2"/>
              <a:buChar char="Ø"/>
            </a:pPr>
            <a:r>
              <a:rPr lang="fr-FR" sz="2400" b="1" dirty="0" smtClean="0"/>
              <a:t> </a:t>
            </a:r>
            <a:r>
              <a:rPr lang="fr-FR" sz="2400" b="1" dirty="0" err="1" smtClean="0"/>
              <a:t>Dollander</a:t>
            </a:r>
            <a:r>
              <a:rPr lang="fr-FR" sz="2400" b="1" dirty="0" smtClean="0"/>
              <a:t> </a:t>
            </a:r>
            <a:r>
              <a:rPr lang="fr-FR" sz="2400" b="1" dirty="0"/>
              <a:t>A. Eléments d’embryologie. Ed Flammarion, 4ème édition, 1979. </a:t>
            </a:r>
          </a:p>
          <a:p>
            <a:pPr>
              <a:buFont typeface="Wingdings" pitchFamily="2" charset="2"/>
              <a:buChar char="Ø"/>
            </a:pPr>
            <a:r>
              <a:rPr lang="fr-FR" sz="2400" b="1" dirty="0" smtClean="0"/>
              <a:t> </a:t>
            </a:r>
            <a:r>
              <a:rPr lang="fr-FR" sz="2400" b="1" dirty="0" err="1" smtClean="0"/>
              <a:t>Encha</a:t>
            </a:r>
            <a:r>
              <a:rPr lang="fr-FR" sz="2400" b="1" dirty="0" smtClean="0"/>
              <a:t>-</a:t>
            </a:r>
            <a:r>
              <a:rPr lang="fr-FR" sz="2400" b="1" dirty="0" err="1" smtClean="0"/>
              <a:t>Razavi</a:t>
            </a:r>
            <a:r>
              <a:rPr lang="fr-FR" sz="2400" b="1" dirty="0" smtClean="0"/>
              <a:t> </a:t>
            </a:r>
            <a:r>
              <a:rPr lang="fr-FR" sz="2400" b="1" dirty="0"/>
              <a:t>F, Escudier E. Embryologie humaine, de la molécule à la clinique. Ed Masson, 2ème édition, Paris, 2001. </a:t>
            </a:r>
          </a:p>
          <a:p>
            <a:pPr>
              <a:buFont typeface="Wingdings" pitchFamily="2" charset="2"/>
              <a:buChar char="Ø"/>
            </a:pPr>
            <a:r>
              <a:rPr lang="fr-FR" sz="2400" b="1" dirty="0" smtClean="0"/>
              <a:t> </a:t>
            </a:r>
            <a:r>
              <a:rPr lang="fr-FR" sz="2400" b="1" dirty="0" err="1" smtClean="0"/>
              <a:t>Houillon</a:t>
            </a:r>
            <a:r>
              <a:rPr lang="fr-FR" sz="2400" b="1" dirty="0" smtClean="0"/>
              <a:t> </a:t>
            </a:r>
            <a:r>
              <a:rPr lang="fr-FR" sz="2400" b="1" dirty="0"/>
              <a:t>H. Embryologie. Ed Hermann, 1967. </a:t>
            </a:r>
          </a:p>
          <a:p>
            <a:pPr>
              <a:buFont typeface="Wingdings" pitchFamily="2" charset="2"/>
              <a:buChar char="Ø"/>
            </a:pPr>
            <a:r>
              <a:rPr lang="fr-FR" sz="2400" b="1" dirty="0" smtClean="0"/>
              <a:t> Larsen </a:t>
            </a:r>
            <a:r>
              <a:rPr lang="fr-FR" sz="2400" b="1" dirty="0"/>
              <a:t>WJ. Embryologie humaine. Ed De Boeck, 2ème édition, 2003. </a:t>
            </a:r>
          </a:p>
          <a:p>
            <a:pPr>
              <a:buFont typeface="Wingdings" pitchFamily="2" charset="2"/>
              <a:buChar char="Ø"/>
            </a:pPr>
            <a:r>
              <a:rPr lang="fr-FR" sz="2400" b="1" dirty="0" smtClean="0"/>
              <a:t> </a:t>
            </a:r>
            <a:r>
              <a:rPr lang="fr-FR" sz="2400" b="1" dirty="0" err="1" smtClean="0"/>
              <a:t>Pansky</a:t>
            </a:r>
            <a:r>
              <a:rPr lang="fr-FR" sz="2400" b="1" dirty="0" smtClean="0"/>
              <a:t> </a:t>
            </a:r>
            <a:r>
              <a:rPr lang="fr-FR" sz="2400" b="1" dirty="0"/>
              <a:t>B. Embryologie humaine. Ed ellipses, 1982. </a:t>
            </a:r>
            <a:endParaRPr lang="fr-FR" sz="2400" b="1" dirty="0" smtClean="0"/>
          </a:p>
          <a:p>
            <a:endParaRPr lang="fr-FR" sz="2400" dirty="0"/>
          </a:p>
          <a:p>
            <a:r>
              <a:rPr lang="fr-FR" sz="2400" dirty="0" smtClean="0"/>
              <a:t>Site </a:t>
            </a:r>
            <a:r>
              <a:rPr lang="fr-FR" sz="2400" dirty="0"/>
              <a:t>d’embryologie de l’UMVF </a:t>
            </a:r>
          </a:p>
          <a:p>
            <a:r>
              <a:rPr lang="fr-FR" sz="2400" dirty="0"/>
              <a:t>•http://cvirtuel.cochin.univ-paris5.fr/Embryologie </a:t>
            </a:r>
          </a:p>
          <a:p>
            <a:r>
              <a:rPr lang="fr-FR" sz="2400" dirty="0" smtClean="0"/>
              <a:t>Site </a:t>
            </a:r>
            <a:r>
              <a:rPr lang="fr-FR" sz="2400" dirty="0"/>
              <a:t>d’embryologie des universités de Bern, </a:t>
            </a:r>
            <a:r>
              <a:rPr lang="fr-FR" sz="2400" dirty="0" smtClean="0"/>
              <a:t>Lausanne </a:t>
            </a:r>
            <a:r>
              <a:rPr lang="fr-FR" sz="2400" dirty="0"/>
              <a:t>et Fribourg </a:t>
            </a:r>
          </a:p>
          <a:p>
            <a:r>
              <a:rPr lang="fr-FR" sz="2400" dirty="0"/>
              <a:t>•http://www.embryology.ch </a:t>
            </a:r>
          </a:p>
          <a:p>
            <a:endParaRPr lang="fr-FR" sz="2400" b="1" dirty="0"/>
          </a:p>
        </p:txBody>
      </p:sp>
      <p:sp>
        <p:nvSpPr>
          <p:cNvPr id="3" name="ZoneTexte 2"/>
          <p:cNvSpPr txBox="1"/>
          <p:nvPr/>
        </p:nvSpPr>
        <p:spPr>
          <a:xfrm>
            <a:off x="-180528" y="0"/>
            <a:ext cx="67698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                                                      </a:t>
            </a:r>
            <a:r>
              <a:rPr lang="fr-FR" sz="2400" b="1" dirty="0" smtClean="0"/>
              <a:t>REFERENCES UTILES   </a:t>
            </a:r>
            <a:endParaRPr lang="fr-FR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pex">
  <a:themeElements>
    <a:clrScheme name="Apex">
      <a:dk1>
        <a:sysClr val="windowText" lastClr="000000"/>
      </a:dk1>
      <a:lt1>
        <a:sysClr val="window" lastClr="FFFFFF"/>
      </a:lt1>
      <a:dk2>
        <a:srgbClr val="69676D"/>
      </a:dk2>
      <a:lt2>
        <a:srgbClr val="C9C2D1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Apex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Apex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1591</TotalTime>
  <Words>867</Words>
  <Application>Microsoft Office PowerPoint</Application>
  <PresentationFormat>Affichage à l'écran (4:3)</PresentationFormat>
  <Paragraphs>409</Paragraphs>
  <Slides>23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23</vt:i4>
      </vt:variant>
    </vt:vector>
  </HeadingPairs>
  <TitlesOfParts>
    <vt:vector size="24" baseType="lpstr">
      <vt:lpstr>Apex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  <vt:lpstr>Diapositive 21</vt:lpstr>
      <vt:lpstr>Diapositive 22</vt:lpstr>
      <vt:lpstr>Diapositive 23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dell</dc:creator>
  <cp:lastModifiedBy>dell</cp:lastModifiedBy>
  <cp:revision>23</cp:revision>
  <dcterms:created xsi:type="dcterms:W3CDTF">2018-03-26T16:37:30Z</dcterms:created>
  <dcterms:modified xsi:type="dcterms:W3CDTF">2022-10-06T19:56:27Z</dcterms:modified>
</cp:coreProperties>
</file>