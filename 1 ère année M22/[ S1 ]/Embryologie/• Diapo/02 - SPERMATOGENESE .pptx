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50"/>
  </p:notesMasterIdLst>
  <p:sldIdLst>
    <p:sldId id="325" r:id="rId2"/>
    <p:sldId id="326" r:id="rId3"/>
    <p:sldId id="329" r:id="rId4"/>
    <p:sldId id="327" r:id="rId5"/>
    <p:sldId id="328" r:id="rId6"/>
    <p:sldId id="330" r:id="rId7"/>
    <p:sldId id="331" r:id="rId8"/>
    <p:sldId id="332" r:id="rId9"/>
    <p:sldId id="333" r:id="rId10"/>
    <p:sldId id="334" r:id="rId11"/>
    <p:sldId id="335" r:id="rId12"/>
    <p:sldId id="270" r:id="rId13"/>
    <p:sldId id="271" r:id="rId14"/>
    <p:sldId id="272" r:id="rId15"/>
    <p:sldId id="273" r:id="rId16"/>
    <p:sldId id="284" r:id="rId17"/>
    <p:sldId id="340" r:id="rId18"/>
    <p:sldId id="281" r:id="rId19"/>
    <p:sldId id="282" r:id="rId20"/>
    <p:sldId id="319" r:id="rId21"/>
    <p:sldId id="306" r:id="rId22"/>
    <p:sldId id="339" r:id="rId23"/>
    <p:sldId id="311" r:id="rId24"/>
    <p:sldId id="313" r:id="rId25"/>
    <p:sldId id="307" r:id="rId26"/>
    <p:sldId id="309" r:id="rId27"/>
    <p:sldId id="310" r:id="rId28"/>
    <p:sldId id="312" r:id="rId29"/>
    <p:sldId id="314" r:id="rId30"/>
    <p:sldId id="315" r:id="rId31"/>
    <p:sldId id="316" r:id="rId32"/>
    <p:sldId id="317" r:id="rId33"/>
    <p:sldId id="318" r:id="rId34"/>
    <p:sldId id="337" r:id="rId35"/>
    <p:sldId id="338" r:id="rId36"/>
    <p:sldId id="320" r:id="rId37"/>
    <p:sldId id="324" r:id="rId38"/>
    <p:sldId id="322" r:id="rId39"/>
    <p:sldId id="323" r:id="rId40"/>
    <p:sldId id="296" r:id="rId41"/>
    <p:sldId id="297" r:id="rId42"/>
    <p:sldId id="298" r:id="rId43"/>
    <p:sldId id="299" r:id="rId44"/>
    <p:sldId id="300" r:id="rId45"/>
    <p:sldId id="301" r:id="rId46"/>
    <p:sldId id="305" r:id="rId47"/>
    <p:sldId id="303" r:id="rId48"/>
    <p:sldId id="304" r:id="rId4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579" autoAdjust="0"/>
  </p:normalViewPr>
  <p:slideViewPr>
    <p:cSldViewPr>
      <p:cViewPr>
        <p:scale>
          <a:sx n="60" d="100"/>
          <a:sy n="60" d="100"/>
        </p:scale>
        <p:origin x="-1572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F6AC8-22A0-4347-AAA0-D2BF06A057F1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B848D-6FC9-4274-A270-6DAE05A5700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55484-901E-4F40-996A-068B2829A5A0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50C34-9AF1-472F-9926-446E8CA8DD28}" type="datetimeFigureOut">
              <a:rPr lang="fr-FR" smtClean="0"/>
              <a:pPr/>
              <a:t>15/10/2022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Gam%C3%A8te" TargetMode="External"/><Relationship Id="rId3" Type="http://schemas.openxmlformats.org/officeDocument/2006/relationships/hyperlink" Target="https://fr.wikipedia.org/wiki/Testicule" TargetMode="External"/><Relationship Id="rId7" Type="http://schemas.openxmlformats.org/officeDocument/2006/relationships/hyperlink" Target="https://fr.wikipedia.org/wiki/Chromosome" TargetMode="External"/><Relationship Id="rId2" Type="http://schemas.openxmlformats.org/officeDocument/2006/relationships/hyperlink" Target="https://fr.wikipedia.org/wiki/Spermatozo%C3%AFd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.wikipedia.org/wiki/Diplo%C3%AFde" TargetMode="External"/><Relationship Id="rId5" Type="http://schemas.openxmlformats.org/officeDocument/2006/relationships/hyperlink" Target="https://fr.wikipedia.org/wiki/Cellule_souche" TargetMode="External"/><Relationship Id="rId4" Type="http://schemas.openxmlformats.org/officeDocument/2006/relationships/hyperlink" Target="https://fr.wikipedia.org/wiki/Spermatogonie" TargetMode="External"/><Relationship Id="rId9" Type="http://schemas.openxmlformats.org/officeDocument/2006/relationships/hyperlink" Target="https://fr.wikipedia.org/wiki/Haplo%C3%AFd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Syst%C3%A8me_reproducteur" TargetMode="External"/><Relationship Id="rId2" Type="http://schemas.openxmlformats.org/officeDocument/2006/relationships/hyperlink" Target="https://fr.wikipedia.org/wiki/Canal_de_Wolf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.wikipedia.org/wiki/Appareil_g%C3%A9nital" TargetMode="External"/><Relationship Id="rId4" Type="http://schemas.openxmlformats.org/officeDocument/2006/relationships/hyperlink" Target="https://fr.wikipedia.org/wiki/Embryon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Hormone" TargetMode="External"/><Relationship Id="rId7" Type="http://schemas.openxmlformats.org/officeDocument/2006/relationships/hyperlink" Target="https://fr.wikipedia.org/wiki/Cellule_de_Sertoli" TargetMode="External"/><Relationship Id="rId2" Type="http://schemas.openxmlformats.org/officeDocument/2006/relationships/hyperlink" Target="https://fr.wikipedia.org/wiki/Testicul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.wikipedia.org/wiki/Hormone_de_r%C3%A9gression_m%C3%BCll%C3%A9rienne" TargetMode="External"/><Relationship Id="rId5" Type="http://schemas.openxmlformats.org/officeDocument/2006/relationships/hyperlink" Target="https://fr.wikipedia.org/wiki/Cellule_de_Leydig" TargetMode="External"/><Relationship Id="rId4" Type="http://schemas.openxmlformats.org/officeDocument/2006/relationships/hyperlink" Target="https://fr.wikipedia.org/wiki/Testost%C3%A9rone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Testost%C3%A9ron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739806"/>
            <a:ext cx="19832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9448740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AutoNum type="romanUcPeriod"/>
            </a:pPr>
            <a:r>
              <a:rPr lang="fr-FR" sz="2800" b="1" dirty="0" smtClean="0"/>
              <a:t>LA  SPERMATOGENESE</a:t>
            </a:r>
            <a:r>
              <a:rPr lang="fr-FR" sz="2800" dirty="0" smtClean="0"/>
              <a:t>  </a:t>
            </a:r>
          </a:p>
          <a:p>
            <a:pPr marL="571500" indent="-571500"/>
            <a:endParaRPr lang="fr-FR" sz="2800" dirty="0" smtClean="0"/>
          </a:p>
          <a:p>
            <a:pPr marL="571500" indent="-571500"/>
            <a:r>
              <a:rPr lang="fr-FR" sz="2800" dirty="0" smtClean="0"/>
              <a:t> </a:t>
            </a:r>
            <a:r>
              <a:rPr lang="fr-FR" sz="2800" b="1" dirty="0" smtClean="0">
                <a:solidFill>
                  <a:srgbClr val="00B050"/>
                </a:solidFill>
              </a:rPr>
              <a:t>La spermatogenèse </a:t>
            </a:r>
            <a:r>
              <a:rPr lang="fr-FR" sz="2800" dirty="0" smtClean="0"/>
              <a:t>est le processus de production des </a:t>
            </a:r>
          </a:p>
          <a:p>
            <a:r>
              <a:rPr lang="fr-FR" sz="2800" dirty="0" smtClean="0">
                <a:hlinkClick r:id="rId2" tooltip="Spermatozoïde"/>
              </a:rPr>
              <a:t>spermatozoïdes</a:t>
            </a:r>
            <a:r>
              <a:rPr lang="fr-FR" sz="2800" dirty="0" smtClean="0"/>
              <a:t>, qui a lieu dans les tubes séminifères des </a:t>
            </a:r>
          </a:p>
          <a:p>
            <a:r>
              <a:rPr lang="fr-FR" sz="2800" dirty="0" smtClean="0">
                <a:hlinkClick r:id="rId3" tooltip="Testicule"/>
              </a:rPr>
              <a:t>testicules</a:t>
            </a:r>
            <a:r>
              <a:rPr lang="fr-FR" sz="2800" dirty="0" smtClean="0"/>
              <a:t>. </a:t>
            </a:r>
          </a:p>
          <a:p>
            <a:endParaRPr lang="fr-FR" sz="2800" dirty="0" smtClean="0"/>
          </a:p>
          <a:p>
            <a:r>
              <a:rPr lang="fr-FR" sz="2800" b="1" dirty="0" smtClean="0">
                <a:solidFill>
                  <a:srgbClr val="00B050"/>
                </a:solidFill>
              </a:rPr>
              <a:t>La spermatogenèse </a:t>
            </a:r>
            <a:r>
              <a:rPr lang="fr-FR" sz="2800" dirty="0" smtClean="0"/>
              <a:t>englobe 4 phases:</a:t>
            </a:r>
          </a:p>
          <a:p>
            <a:r>
              <a:rPr lang="fr-FR" sz="2800" dirty="0" smtClean="0"/>
              <a:t> depuis les </a:t>
            </a:r>
            <a:r>
              <a:rPr lang="fr-FR" sz="2800" dirty="0" smtClean="0">
                <a:hlinkClick r:id="rId4" tooltip="Spermatogonie"/>
              </a:rPr>
              <a:t>spermatogonies</a:t>
            </a:r>
            <a:r>
              <a:rPr lang="fr-FR" sz="2800" dirty="0" smtClean="0"/>
              <a:t>, </a:t>
            </a:r>
            <a:r>
              <a:rPr lang="fr-FR" sz="2800" dirty="0" smtClean="0">
                <a:hlinkClick r:id="rId5" tooltip="Cellule souche"/>
              </a:rPr>
              <a:t>cellules souches</a:t>
            </a:r>
            <a:r>
              <a:rPr lang="fr-FR" sz="2800" dirty="0" smtClean="0"/>
              <a:t> </a:t>
            </a:r>
            <a:r>
              <a:rPr lang="fr-FR" sz="2800" dirty="0" smtClean="0">
                <a:hlinkClick r:id="rId6" tooltip="Diploïde"/>
              </a:rPr>
              <a:t>diploïdes</a:t>
            </a:r>
            <a:r>
              <a:rPr lang="fr-FR" sz="2800" dirty="0" smtClean="0"/>
              <a:t> (</a:t>
            </a:r>
            <a:r>
              <a:rPr lang="fr-FR" sz="2800" b="1" dirty="0" smtClean="0">
                <a:solidFill>
                  <a:schemeClr val="accent1"/>
                </a:solidFill>
              </a:rPr>
              <a:t>2n </a:t>
            </a:r>
            <a:r>
              <a:rPr lang="fr-FR" sz="2800" b="1" dirty="0" err="1" smtClean="0">
                <a:solidFill>
                  <a:schemeClr val="accent1"/>
                </a:solidFill>
                <a:hlinkClick r:id="rId7" tooltip="Chromosome"/>
              </a:rPr>
              <a:t>chr</a:t>
            </a:r>
            <a:r>
              <a:rPr lang="fr-FR" sz="2800" dirty="0" smtClean="0"/>
              <a:t>), </a:t>
            </a:r>
          </a:p>
          <a:p>
            <a:r>
              <a:rPr lang="fr-FR" sz="2800" dirty="0" smtClean="0"/>
              <a:t>Jusqu’aux  </a:t>
            </a:r>
            <a:r>
              <a:rPr lang="fr-FR" sz="2800" dirty="0" smtClean="0">
                <a:hlinkClick r:id="rId2" tooltip="Spermatozoïde"/>
              </a:rPr>
              <a:t>spermatozoïdes</a:t>
            </a:r>
            <a:r>
              <a:rPr lang="fr-FR" sz="2800" dirty="0" smtClean="0"/>
              <a:t>, </a:t>
            </a:r>
            <a:r>
              <a:rPr lang="fr-FR" sz="2800" dirty="0" smtClean="0">
                <a:hlinkClick r:id="rId8" tooltip="Gamète"/>
              </a:rPr>
              <a:t>gamètes</a:t>
            </a:r>
            <a:r>
              <a:rPr lang="fr-FR" sz="2800" dirty="0" smtClean="0"/>
              <a:t> mâles </a:t>
            </a:r>
            <a:r>
              <a:rPr lang="fr-FR" sz="2800" dirty="0" smtClean="0">
                <a:hlinkClick r:id="rId9" tooltip="Haploïde"/>
              </a:rPr>
              <a:t>haploïdes</a:t>
            </a:r>
            <a:r>
              <a:rPr lang="fr-FR" sz="2800" dirty="0" smtClean="0"/>
              <a:t> (</a:t>
            </a:r>
            <a:r>
              <a:rPr lang="fr-FR" sz="2800" b="1" dirty="0" smtClean="0">
                <a:solidFill>
                  <a:srgbClr val="0070C0"/>
                </a:solidFill>
              </a:rPr>
              <a:t>n </a:t>
            </a:r>
            <a:r>
              <a:rPr lang="fr-FR" sz="2800" b="1" dirty="0" err="1" smtClean="0">
                <a:solidFill>
                  <a:srgbClr val="0070C0"/>
                </a:solidFill>
              </a:rPr>
              <a:t>chr</a:t>
            </a:r>
            <a:r>
              <a:rPr lang="fr-FR" sz="2800" dirty="0" smtClean="0"/>
              <a:t>). </a:t>
            </a:r>
          </a:p>
          <a:p>
            <a:endParaRPr lang="fr-FR" sz="2800" b="1" dirty="0" smtClean="0"/>
          </a:p>
          <a:p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-1394955"/>
            <a:ext cx="9144000" cy="871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Gonades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Testicules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Organes génitaux externes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Pénis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Scrotum.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Voies génitales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épididyme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conduit déférent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canal éjaculateur et urètre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Glandes annexes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Vésicules séminales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Prostate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Glandes de Cowper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43608" y="260648"/>
            <a:ext cx="7590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1.1. Structure de l’appareil reproducteur masculin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0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416186" y="6093296"/>
            <a:ext cx="43609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L’appareil reproducteur masculin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42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54726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476672"/>
            <a:ext cx="8064896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200" dirty="0"/>
          </a:p>
          <a:p>
            <a:endParaRPr lang="fr-FR" sz="2800" dirty="0" smtClean="0"/>
          </a:p>
          <a:p>
            <a:r>
              <a:rPr lang="fr-FR" sz="2800" dirty="0" smtClean="0"/>
              <a:t>Il </a:t>
            </a:r>
            <a:r>
              <a:rPr lang="fr-FR" sz="2800" dirty="0"/>
              <a:t>a deux fonctions : </a:t>
            </a: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b="1" dirty="0">
                <a:solidFill>
                  <a:srgbClr val="00B050"/>
                </a:solidFill>
              </a:rPr>
              <a:t>Fonction exocrine </a:t>
            </a:r>
            <a:r>
              <a:rPr lang="fr-FR" sz="2800" dirty="0"/>
              <a:t>: l'émission des </a:t>
            </a:r>
            <a:r>
              <a:rPr lang="fr-FR" sz="2800" dirty="0" smtClean="0"/>
              <a:t>spermatozoïdes.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b="1" dirty="0">
                <a:solidFill>
                  <a:srgbClr val="00B050"/>
                </a:solidFill>
              </a:rPr>
              <a:t>Fonction endocrine </a:t>
            </a:r>
            <a:r>
              <a:rPr lang="fr-FR" sz="2800" dirty="0"/>
              <a:t>: la production d'hormones sexuelles mâles (principalement la testostérone).</a:t>
            </a:r>
          </a:p>
          <a:p>
            <a:endParaRPr lang="fr-FR" sz="28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23528" y="332656"/>
            <a:ext cx="8024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       1.2. </a:t>
            </a:r>
            <a:r>
              <a:rPr lang="fr-FR" sz="2800" b="1" dirty="0" smtClean="0"/>
              <a:t>Fonctions de l’appareil reproducteur masculin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28528"/>
            <a:ext cx="946854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dirty="0" smtClean="0"/>
          </a:p>
          <a:p>
            <a:r>
              <a:rPr lang="fr-FR" sz="2800" b="1" dirty="0" smtClean="0"/>
              <a:t>       1.3. Les glandes annexes à l’appareil reproducteur mâle</a:t>
            </a:r>
          </a:p>
          <a:p>
            <a:r>
              <a:rPr lang="fr-FR" sz="2800" b="1" dirty="0" smtClean="0"/>
              <a:t> </a:t>
            </a:r>
            <a:r>
              <a:rPr lang="fr-FR" sz="2400" b="1" dirty="0" smtClean="0">
                <a:solidFill>
                  <a:srgbClr val="C00000"/>
                </a:solidFill>
              </a:rPr>
              <a:t>Vésicules séminales </a:t>
            </a:r>
            <a:r>
              <a:rPr lang="fr-FR" sz="2400" b="1" dirty="0" smtClean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400" b="1" dirty="0" smtClean="0"/>
              <a:t> </a:t>
            </a:r>
            <a:r>
              <a:rPr lang="fr-FR" sz="2400" dirty="0" smtClean="0"/>
              <a:t>glandes vésiculeuses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débouchant dans la prostate pour se relier aux canaux déférents.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 produisent un liquide riche en fructose. </a:t>
            </a:r>
          </a:p>
          <a:p>
            <a:r>
              <a:rPr lang="fr-FR" sz="2400" b="1" dirty="0" smtClean="0">
                <a:solidFill>
                  <a:srgbClr val="C00000"/>
                </a:solidFill>
              </a:rPr>
              <a:t>Prostate: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Glande exocrine.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Sécrète une partie du liquide séminal et le stocke.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son PH alcalin neutralise l’acidité du liquide séminal.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riche en Zinc, qui a un pouvoir bactéricide;</a:t>
            </a:r>
          </a:p>
          <a:p>
            <a:r>
              <a:rPr lang="fr-FR" sz="2400" dirty="0" smtClean="0"/>
              <a:t> </a:t>
            </a:r>
            <a:r>
              <a:rPr lang="fr-FR" sz="2400" b="1" dirty="0" smtClean="0">
                <a:solidFill>
                  <a:srgbClr val="C00000"/>
                </a:solidFill>
              </a:rPr>
              <a:t>Glandes de Cowper </a:t>
            </a:r>
            <a:r>
              <a:rPr lang="fr-FR" sz="2400" dirty="0" smtClean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situées de chaque côté de l'urètre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appelées glandes bulbo-urétrales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Ont un rôle de lubrifiant avant l'éjaculation.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élaborent un fluide alcalin qui neutralise  l’acidité au niveau de l’urètre 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411760" y="6334780"/>
            <a:ext cx="3828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du testicule</a:t>
            </a:r>
            <a:endParaRPr lang="fr-FR" sz="2800" b="1" dirty="0"/>
          </a:p>
        </p:txBody>
      </p:sp>
      <p:pic>
        <p:nvPicPr>
          <p:cNvPr id="6146" name="Picture 2" descr="Résultat de recherche d'images pour &quot;testicul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532440" cy="6165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www.bio-top.net/Schemas/Spermatogenese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384"/>
            <a:ext cx="8172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68951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827584" y="6396335"/>
            <a:ext cx="7606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Coupe transversale au niveau des tubes séminifères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273225"/>
            <a:ext cx="8711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Cellules impliquées dans la spermatogénèse</a:t>
            </a:r>
            <a:endParaRPr lang="fr-FR" sz="3200" b="1" dirty="0"/>
          </a:p>
        </p:txBody>
      </p:sp>
      <p:pic>
        <p:nvPicPr>
          <p:cNvPr id="4" name="Image 3" descr="Résultat de recherche d'images pour &quot;spermatogenese&quot;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"/>
            <a:ext cx="7632848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520" y="404664"/>
            <a:ext cx="6346994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 smtClean="0"/>
              <a:t>1.4. Cellules de la spermatogénèse</a:t>
            </a:r>
          </a:p>
          <a:p>
            <a:pPr>
              <a:buFont typeface="Wingdings" pitchFamily="2" charset="2"/>
              <a:buChar char="Ø"/>
            </a:pPr>
            <a:r>
              <a:rPr lang="fr-FR" sz="3200" b="1" u="sng" dirty="0" smtClean="0">
                <a:solidFill>
                  <a:srgbClr val="FF0000"/>
                </a:solidFill>
              </a:rPr>
              <a:t>Les </a:t>
            </a:r>
            <a:r>
              <a:rPr lang="fr-FR" sz="3200" b="1" u="sng" dirty="0">
                <a:solidFill>
                  <a:srgbClr val="FF0000"/>
                </a:solidFill>
              </a:rPr>
              <a:t>cellules de la lignée germinale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endParaRPr lang="fr-FR" sz="3200" dirty="0" smtClean="0">
              <a:solidFill>
                <a:srgbClr val="FF0000"/>
              </a:solidFill>
            </a:endParaRPr>
          </a:p>
          <a:p>
            <a:r>
              <a:rPr lang="fr-FR" sz="3200" dirty="0" smtClean="0"/>
              <a:t>-Spermatogonies </a:t>
            </a:r>
            <a:r>
              <a:rPr lang="fr-FR" sz="3200" dirty="0"/>
              <a:t>(</a:t>
            </a:r>
            <a:r>
              <a:rPr lang="fr-FR" sz="3200" b="1" dirty="0" err="1"/>
              <a:t>Sg</a:t>
            </a:r>
            <a:r>
              <a:rPr lang="fr-FR" sz="3200" dirty="0"/>
              <a:t>). </a:t>
            </a:r>
            <a:br>
              <a:rPr lang="fr-FR" sz="3200" dirty="0"/>
            </a:br>
            <a:r>
              <a:rPr lang="fr-FR" sz="3200" dirty="0"/>
              <a:t>- </a:t>
            </a:r>
            <a:r>
              <a:rPr lang="fr-FR" sz="3200" dirty="0" smtClean="0"/>
              <a:t>Spermatocytes </a:t>
            </a:r>
            <a:r>
              <a:rPr lang="fr-FR" sz="3200" dirty="0"/>
              <a:t>primaires (</a:t>
            </a:r>
            <a:r>
              <a:rPr lang="fr-FR" sz="3200" b="1" dirty="0"/>
              <a:t>S I</a:t>
            </a:r>
            <a:r>
              <a:rPr lang="fr-FR" sz="3200" dirty="0" smtClean="0"/>
              <a:t>)</a:t>
            </a:r>
          </a:p>
          <a:p>
            <a:pPr>
              <a:buFontTx/>
              <a:buChar char="-"/>
            </a:pPr>
            <a:r>
              <a:rPr lang="fr-FR" sz="3200" dirty="0" smtClean="0"/>
              <a:t>Spermatocytes secondaires </a:t>
            </a:r>
            <a:r>
              <a:rPr lang="fr-FR" sz="3200" b="1" dirty="0" smtClean="0"/>
              <a:t>(S II)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 smtClean="0"/>
              <a:t>- Spermatides </a:t>
            </a:r>
            <a:r>
              <a:rPr lang="fr-FR" sz="3200" dirty="0"/>
              <a:t>(</a:t>
            </a:r>
            <a:r>
              <a:rPr lang="fr-FR" sz="3200" b="1" dirty="0" err="1"/>
              <a:t>Sp</a:t>
            </a:r>
            <a:r>
              <a:rPr lang="fr-FR" sz="3200" dirty="0"/>
              <a:t>) </a:t>
            </a:r>
            <a:br>
              <a:rPr lang="fr-FR" sz="3200" dirty="0"/>
            </a:br>
            <a:r>
              <a:rPr lang="fr-FR" sz="3200" dirty="0"/>
              <a:t>- </a:t>
            </a:r>
            <a:r>
              <a:rPr lang="fr-FR" sz="3200" dirty="0" smtClean="0"/>
              <a:t>Spermatozoïdes </a:t>
            </a:r>
            <a:r>
              <a:rPr lang="fr-FR" sz="3200" dirty="0"/>
              <a:t>(</a:t>
            </a:r>
            <a:r>
              <a:rPr lang="fr-FR" sz="3200" b="1" dirty="0" err="1"/>
              <a:t>Spz</a:t>
            </a:r>
            <a:r>
              <a:rPr lang="fr-FR" sz="3200" dirty="0" smtClean="0"/>
              <a:t>)</a:t>
            </a:r>
          </a:p>
          <a:p>
            <a:pPr>
              <a:buFontTx/>
              <a:buChar char="-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u="sng" dirty="0" smtClean="0">
                <a:solidFill>
                  <a:srgbClr val="FF0000"/>
                </a:solidFill>
              </a:rPr>
              <a:t>Les </a:t>
            </a:r>
            <a:r>
              <a:rPr lang="fr-FR" sz="3200" b="1" u="sng" dirty="0">
                <a:solidFill>
                  <a:srgbClr val="FF0000"/>
                </a:solidFill>
              </a:rPr>
              <a:t>cellules de </a:t>
            </a:r>
            <a:r>
              <a:rPr lang="fr-FR" sz="3200" b="1" u="sng" dirty="0" err="1" smtClean="0">
                <a:solidFill>
                  <a:srgbClr val="FF0000"/>
                </a:solidFill>
              </a:rPr>
              <a:t>Sertoli</a:t>
            </a:r>
            <a:endParaRPr lang="fr-FR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0" y="-877163"/>
            <a:ext cx="780450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98475" algn="l"/>
              </a:tabLs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98475" algn="l"/>
              </a:tabLst>
            </a:pPr>
            <a:endParaRPr lang="fr-FR" sz="1200" b="1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98475" algn="l"/>
              </a:tabLst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98475" algn="l"/>
              </a:tabLst>
            </a:pPr>
            <a:r>
              <a:rPr lang="fr-FR" sz="2800" b="1" dirty="0" smtClean="0"/>
              <a:t>                         1.2. STRUCTURE DU SPERMATOZOIDE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2" descr="http://moodle.univ-brest.fr/medecine/public/sites/Serveur_2009/Embryologie/Emb_gen/E_gamet/Dgamszm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908720"/>
            <a:ext cx="3528391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980728"/>
            <a:ext cx="18890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TETE</a:t>
            </a:r>
          </a:p>
          <a:p>
            <a:r>
              <a:rPr lang="fr-FR" sz="3200" b="1" dirty="0" smtClean="0"/>
              <a:t>COU   COL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FLAGELLE</a:t>
            </a: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932040" y="2924944"/>
            <a:ext cx="394729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PIECE INTERMEDIAIRE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PIECE PRINCIPALE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PIECE TERMINALE</a:t>
            </a:r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436096" y="980728"/>
            <a:ext cx="21811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ACROSOME</a:t>
            </a:r>
          </a:p>
          <a:p>
            <a:r>
              <a:rPr lang="fr-FR" sz="3200" b="1" dirty="0" smtClean="0"/>
              <a:t>NOYAU</a:t>
            </a:r>
            <a:endParaRPr lang="fr-FR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ttp://moodle.univ-brest.fr/medecine/public/sites/Serveur_2009/Embryologie/Emb_gen/E_gamet/Dgamszc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0"/>
            <a:ext cx="30963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139952" y="404664"/>
            <a:ext cx="4381712" cy="503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</a:t>
            </a:r>
            <a:r>
              <a:rPr lang="fr-FR" sz="2800" b="1" dirty="0" smtClean="0"/>
              <a:t>Noyau</a:t>
            </a:r>
          </a:p>
          <a:p>
            <a:r>
              <a:rPr lang="fr-FR" sz="2800" b="1" dirty="0" smtClean="0"/>
              <a:t>Fossette d’implantation</a:t>
            </a:r>
          </a:p>
          <a:p>
            <a:r>
              <a:rPr lang="fr-FR" sz="2800" b="1" dirty="0" smtClean="0"/>
              <a:t>       Plaque basale</a:t>
            </a:r>
          </a:p>
          <a:p>
            <a:r>
              <a:rPr lang="fr-FR" sz="2800" b="1" dirty="0" smtClean="0"/>
              <a:t>       </a:t>
            </a:r>
          </a:p>
          <a:p>
            <a:r>
              <a:rPr lang="fr-FR" sz="2800" b="1" dirty="0" smtClean="0"/>
              <a:t>        </a:t>
            </a:r>
            <a:r>
              <a:rPr lang="fr-FR" sz="2800" b="1" dirty="0" err="1" smtClean="0"/>
              <a:t>Capitellum</a:t>
            </a:r>
            <a:endParaRPr lang="fr-FR" sz="2800" b="1" dirty="0" smtClean="0"/>
          </a:p>
          <a:p>
            <a:r>
              <a:rPr lang="fr-FR" sz="2800" b="1" dirty="0" smtClean="0"/>
              <a:t>      Centriole proximal</a:t>
            </a:r>
          </a:p>
          <a:p>
            <a:r>
              <a:rPr lang="fr-FR" sz="2800" b="1" dirty="0" smtClean="0"/>
              <a:t>      </a:t>
            </a:r>
          </a:p>
          <a:p>
            <a:r>
              <a:rPr lang="fr-FR" sz="2800" b="1" dirty="0" smtClean="0"/>
              <a:t>       9 colonnes segmentées</a:t>
            </a:r>
          </a:p>
          <a:p>
            <a:r>
              <a:rPr lang="fr-FR" sz="2800" b="1" dirty="0" smtClean="0"/>
              <a:t>         Gaine mitochondriale</a:t>
            </a:r>
          </a:p>
          <a:p>
            <a:r>
              <a:rPr lang="fr-FR" sz="2800" b="1" dirty="0" smtClean="0"/>
              <a:t>      Fibres denses</a:t>
            </a:r>
          </a:p>
          <a:p>
            <a:r>
              <a:rPr lang="fr-FR" sz="2800" b="1" dirty="0" smtClean="0"/>
              <a:t> Complexe filamenteux axial</a:t>
            </a:r>
            <a:endParaRPr lang="fr-FR" sz="28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5805264"/>
            <a:ext cx="5976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       </a:t>
            </a:r>
            <a:r>
              <a:rPr lang="fr-FR" sz="2400" b="1" dirty="0" smtClean="0">
                <a:solidFill>
                  <a:srgbClr val="00B050"/>
                </a:solidFill>
              </a:rPr>
              <a:t>COUPE SAGITTALE MEDIANE  au niveau de la tête et la pièce  intermédiaire d’un </a:t>
            </a:r>
            <a:r>
              <a:rPr lang="fr-FR" sz="2400" b="1" dirty="0" err="1" smtClean="0">
                <a:solidFill>
                  <a:srgbClr val="00B050"/>
                </a:solidFill>
              </a:rPr>
              <a:t>spz</a:t>
            </a:r>
            <a:endParaRPr lang="fr-FR" sz="2400" b="1" dirty="0">
              <a:solidFill>
                <a:srgbClr val="00B050"/>
              </a:solidFill>
            </a:endParaRPr>
          </a:p>
        </p:txBody>
      </p:sp>
      <p:sp>
        <p:nvSpPr>
          <p:cNvPr id="7" name="Flèche gauche 6"/>
          <p:cNvSpPr/>
          <p:nvPr/>
        </p:nvSpPr>
        <p:spPr>
          <a:xfrm>
            <a:off x="2843808" y="620688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gauche 7"/>
          <p:cNvSpPr/>
          <p:nvPr/>
        </p:nvSpPr>
        <p:spPr>
          <a:xfrm rot="18905391">
            <a:off x="1750100" y="2315278"/>
            <a:ext cx="2801799" cy="99531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gauche 8"/>
          <p:cNvSpPr/>
          <p:nvPr/>
        </p:nvSpPr>
        <p:spPr>
          <a:xfrm rot="19776025">
            <a:off x="1886818" y="2534920"/>
            <a:ext cx="3060980" cy="17988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gauche 9"/>
          <p:cNvSpPr/>
          <p:nvPr/>
        </p:nvSpPr>
        <p:spPr>
          <a:xfrm rot="20446678">
            <a:off x="2057000" y="3136946"/>
            <a:ext cx="3067149" cy="114021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gauche 10"/>
          <p:cNvSpPr/>
          <p:nvPr/>
        </p:nvSpPr>
        <p:spPr>
          <a:xfrm rot="19988945">
            <a:off x="1800050" y="3513869"/>
            <a:ext cx="2875621" cy="20972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gauche 11"/>
          <p:cNvSpPr/>
          <p:nvPr/>
        </p:nvSpPr>
        <p:spPr>
          <a:xfrm rot="20623569">
            <a:off x="2590077" y="4119932"/>
            <a:ext cx="2212552" cy="100509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gauche 12"/>
          <p:cNvSpPr/>
          <p:nvPr/>
        </p:nvSpPr>
        <p:spPr>
          <a:xfrm>
            <a:off x="2339752" y="4581128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gauche 13"/>
          <p:cNvSpPr/>
          <p:nvPr/>
        </p:nvSpPr>
        <p:spPr>
          <a:xfrm>
            <a:off x="1979712" y="5085184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gauche 14"/>
          <p:cNvSpPr/>
          <p:nvPr/>
        </p:nvSpPr>
        <p:spPr>
          <a:xfrm rot="19892607" flipV="1">
            <a:off x="2449201" y="4944401"/>
            <a:ext cx="2874862" cy="45719"/>
          </a:xfrm>
          <a:prstGeom prst="leftArrow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-877163"/>
            <a:ext cx="8844216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98475" algn="l"/>
              </a:tabLs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98475" algn="l"/>
              </a:tabLst>
            </a:pPr>
            <a:endParaRPr lang="fr-FR" sz="1200" b="1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98475" algn="l"/>
              </a:tabLst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98475" algn="l"/>
              </a:tabLst>
            </a:pPr>
            <a:r>
              <a:rPr lang="fr-FR" sz="2800" b="1" dirty="0" smtClean="0"/>
              <a:t>                          1.3. ULTRASTRUCTURE DU SPERMATOZOIDE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moodle.univ-brest.fr/medecine/public/sites/Serveur_2009/Embryologie/Emb_gen/E_gamet/Dgamszp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4752528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323528" y="5877272"/>
            <a:ext cx="7952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      PIECE INTERMEDIAIRE EN COUPE TRANSVERSALE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4762288" y="476672"/>
            <a:ext cx="438171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Membrane cytoplasmique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Gaine mitochondriale</a:t>
            </a: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fr-FR" sz="2800" b="1" dirty="0" smtClean="0">
                <a:solidFill>
                  <a:schemeClr val="accent6">
                    <a:lumMod val="50000"/>
                  </a:schemeClr>
                </a:solidFill>
              </a:rPr>
              <a:t>9 Fibres denses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= </a:t>
            </a:r>
            <a:r>
              <a:rPr lang="fr-FR" sz="2800" b="1" dirty="0" err="1" smtClean="0">
                <a:solidFill>
                  <a:srgbClr val="FF0000"/>
                </a:solidFill>
              </a:rPr>
              <a:t>Axonème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(9 couplets périphériques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1 couplet central)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moodle.univ-brest.fr/medecine/public/sites/Serveur_2009/Embryologie/Emb_gen/E_gamet/Dgamszp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4464496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395536" y="6021288"/>
            <a:ext cx="7737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PIECE PRINCIPALE EN COUPE TRANSVERSALE</a:t>
            </a: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762288" y="476672"/>
            <a:ext cx="438171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Membrane cytoplasmique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Gaine fibreuse</a:t>
            </a: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fr-FR" sz="2800" b="1" dirty="0" smtClean="0">
                <a:solidFill>
                  <a:schemeClr val="accent6">
                    <a:lumMod val="50000"/>
                  </a:schemeClr>
                </a:solidFill>
              </a:rPr>
              <a:t>9 Fibres denses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= </a:t>
            </a:r>
            <a:r>
              <a:rPr lang="fr-FR" sz="2800" b="1" dirty="0" err="1" smtClean="0">
                <a:solidFill>
                  <a:srgbClr val="FF0000"/>
                </a:solidFill>
              </a:rPr>
              <a:t>Axonème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(9 couplets périphériques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1 couplet central)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396536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La tête</a:t>
            </a:r>
          </a:p>
          <a:p>
            <a:r>
              <a:rPr lang="fr-FR" sz="3200" dirty="0" smtClean="0"/>
              <a:t>Noyau + Acrosome</a:t>
            </a:r>
          </a:p>
          <a:p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Col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Flagelle</a:t>
            </a:r>
          </a:p>
          <a:p>
            <a:r>
              <a:rPr lang="fr-FR" sz="3200" b="1" dirty="0" smtClean="0"/>
              <a:t>Pièce intermédiaire</a:t>
            </a:r>
          </a:p>
          <a:p>
            <a:r>
              <a:rPr lang="fr-FR" sz="3200" dirty="0" smtClean="0"/>
              <a:t>Mb cytoplasmique + gaine mitochondriale + fibres </a:t>
            </a:r>
          </a:p>
          <a:p>
            <a:r>
              <a:rPr lang="fr-FR" sz="3200" dirty="0" smtClean="0"/>
              <a:t>Denses + </a:t>
            </a:r>
            <a:r>
              <a:rPr lang="fr-FR" sz="3200" dirty="0" err="1" smtClean="0"/>
              <a:t>axonème</a:t>
            </a:r>
            <a:endParaRPr lang="fr-FR" sz="3200" dirty="0" smtClean="0"/>
          </a:p>
          <a:p>
            <a:r>
              <a:rPr lang="fr-FR" sz="3200" b="1" dirty="0" smtClean="0"/>
              <a:t>Pièce principale</a:t>
            </a:r>
          </a:p>
          <a:p>
            <a:r>
              <a:rPr lang="fr-FR" sz="3200" dirty="0" smtClean="0"/>
              <a:t>Mb cytoplasmique + gaine fibreuse + fibres </a:t>
            </a:r>
          </a:p>
          <a:p>
            <a:r>
              <a:rPr lang="fr-FR" sz="3200" dirty="0" smtClean="0"/>
              <a:t>Denses + </a:t>
            </a:r>
            <a:r>
              <a:rPr lang="fr-FR" sz="3200" dirty="0" err="1" smtClean="0"/>
              <a:t>axonème</a:t>
            </a:r>
            <a:endParaRPr lang="fr-FR" sz="3200" dirty="0" smtClean="0"/>
          </a:p>
          <a:p>
            <a:r>
              <a:rPr lang="fr-FR" sz="3200" b="1" dirty="0" smtClean="0"/>
              <a:t>Pièce terminale</a:t>
            </a:r>
          </a:p>
          <a:p>
            <a:r>
              <a:rPr lang="fr-FR" sz="3200" dirty="0" smtClean="0"/>
              <a:t>Mb cytoplasmique + </a:t>
            </a:r>
            <a:r>
              <a:rPr lang="fr-FR" sz="3200" dirty="0" err="1" smtClean="0"/>
              <a:t>axonème</a:t>
            </a:r>
            <a:endParaRPr lang="fr-FR" sz="3200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dirty="0" smtClean="0"/>
              <a:t>  </a:t>
            </a:r>
          </a:p>
          <a:p>
            <a:endParaRPr lang="fr-FR" sz="3200" b="1" dirty="0"/>
          </a:p>
        </p:txBody>
      </p:sp>
      <p:sp>
        <p:nvSpPr>
          <p:cNvPr id="19458" name="AutoShape 2" descr="Résultat de recherche d'images pour &quot;SPERMATOGENES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123728" y="6309320"/>
            <a:ext cx="493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LES PHASES DE LA SPERMATOGENESE</a:t>
            </a:r>
            <a:endParaRPr lang="fr-FR" sz="2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996952"/>
            <a:ext cx="35335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r>
              <a:rPr lang="fr-FR" sz="3200" b="1" dirty="0" smtClean="0"/>
              <a:t>SPERMATOGONIE A</a:t>
            </a:r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1979712" y="1916832"/>
            <a:ext cx="7360926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</a:t>
            </a:r>
          </a:p>
          <a:p>
            <a:r>
              <a:rPr lang="fr-FR" sz="3200" dirty="0" smtClean="0"/>
              <a:t>                </a:t>
            </a:r>
          </a:p>
          <a:p>
            <a:r>
              <a:rPr lang="fr-FR" sz="3200" dirty="0" smtClean="0"/>
              <a:t>                  SPERMATOGONIE A1  (Ad : </a:t>
            </a:r>
            <a:r>
              <a:rPr lang="fr-FR" sz="3200" dirty="0" err="1" smtClean="0"/>
              <a:t>dark</a:t>
            </a:r>
            <a:r>
              <a:rPr lang="fr-FR" sz="3200" dirty="0" smtClean="0"/>
              <a:t>) </a:t>
            </a:r>
          </a:p>
          <a:p>
            <a:r>
              <a:rPr lang="fr-FR" sz="3200" dirty="0" smtClean="0"/>
              <a:t>                             </a:t>
            </a:r>
          </a:p>
          <a:p>
            <a:r>
              <a:rPr lang="fr-FR" sz="3200" dirty="0" smtClean="0"/>
              <a:t>                  </a:t>
            </a:r>
          </a:p>
          <a:p>
            <a:r>
              <a:rPr lang="fr-FR" sz="3200" dirty="0" smtClean="0"/>
              <a:t>                   SPERMATOGONIE A2   (</a:t>
            </a:r>
            <a:r>
              <a:rPr lang="fr-FR" sz="3200" dirty="0" err="1" smtClean="0"/>
              <a:t>Ap</a:t>
            </a:r>
            <a:r>
              <a:rPr lang="fr-FR" sz="3200" dirty="0" smtClean="0"/>
              <a:t> : pale)</a:t>
            </a:r>
            <a:endParaRPr lang="fr-FR" sz="3200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80042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1.4.  </a:t>
            </a:r>
            <a:r>
              <a:rPr lang="fr-FR" sz="3200" b="1" dirty="0" smtClean="0"/>
              <a:t>DEROULEMENT DE LA SPERMATOGENESE</a:t>
            </a:r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A- Phase de multiplication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4941168"/>
            <a:ext cx="896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1 SPEMATOGONIE A2                </a:t>
            </a:r>
            <a:r>
              <a:rPr lang="fr-FR" sz="3200" smtClean="0"/>
              <a:t>2 SPERMATOGONIES </a:t>
            </a:r>
            <a:r>
              <a:rPr lang="fr-FR" sz="3200" dirty="0" smtClean="0"/>
              <a:t>B</a:t>
            </a:r>
            <a:endParaRPr lang="fr-FR" sz="3200" dirty="0"/>
          </a:p>
        </p:txBody>
      </p:sp>
      <p:sp>
        <p:nvSpPr>
          <p:cNvPr id="7" name="Flèche gauche 6"/>
          <p:cNvSpPr/>
          <p:nvPr/>
        </p:nvSpPr>
        <p:spPr>
          <a:xfrm rot="10800000">
            <a:off x="3635896" y="5301208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gauche 9"/>
          <p:cNvSpPr/>
          <p:nvPr/>
        </p:nvSpPr>
        <p:spPr>
          <a:xfrm rot="12761858">
            <a:off x="2671089" y="4198776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0" y="6021288"/>
            <a:ext cx="37445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/>
              <a:t>1SPERMATOGONIE B </a:t>
            </a:r>
            <a:endParaRPr lang="fr-FR" sz="3200" dirty="0"/>
          </a:p>
        </p:txBody>
      </p:sp>
      <p:sp>
        <p:nvSpPr>
          <p:cNvPr id="12" name="Flèche gauche 11"/>
          <p:cNvSpPr/>
          <p:nvPr/>
        </p:nvSpPr>
        <p:spPr>
          <a:xfrm rot="10800000">
            <a:off x="3635896" y="6237312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220072" y="6021288"/>
            <a:ext cx="36234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/>
              <a:t>2 SPERMATOCYTES I </a:t>
            </a:r>
            <a:endParaRPr lang="fr-FR" sz="3200" dirty="0"/>
          </a:p>
        </p:txBody>
      </p:sp>
      <p:sp>
        <p:nvSpPr>
          <p:cNvPr id="14" name="Double flèche horizontale 13"/>
          <p:cNvSpPr/>
          <p:nvPr/>
        </p:nvSpPr>
        <p:spPr>
          <a:xfrm rot="20058650">
            <a:off x="2411760" y="3140968"/>
            <a:ext cx="1216152" cy="2160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gauche 14"/>
          <p:cNvSpPr/>
          <p:nvPr/>
        </p:nvSpPr>
        <p:spPr>
          <a:xfrm rot="19332836">
            <a:off x="3520089" y="4727126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06084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963488"/>
            <a:ext cx="887390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                  </a:t>
            </a:r>
          </a:p>
          <a:p>
            <a:endParaRPr lang="fr-FR" sz="3200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B- Phase d’accroissement</a:t>
            </a:r>
          </a:p>
          <a:p>
            <a:endParaRPr lang="fr-FR" sz="3200" dirty="0" smtClean="0"/>
          </a:p>
          <a:p>
            <a:r>
              <a:rPr lang="fr-FR" sz="3200" dirty="0" smtClean="0"/>
              <a:t>2 SPERMATOCYTES I                                 2 AUXOCYTES</a:t>
            </a:r>
            <a:endParaRPr lang="fr-FR" sz="32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124744"/>
            <a:ext cx="58314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C- Phase de maturation  (méiose)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2348880"/>
            <a:ext cx="33454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dirty="0" smtClean="0"/>
          </a:p>
          <a:p>
            <a:r>
              <a:rPr lang="fr-FR" sz="3200" dirty="0" smtClean="0"/>
              <a:t>1 SPERMATOCYTE I</a:t>
            </a:r>
            <a:endParaRPr lang="fr-FR" sz="3200" dirty="0"/>
          </a:p>
        </p:txBody>
      </p:sp>
      <p:sp>
        <p:nvSpPr>
          <p:cNvPr id="7" name="ZoneTexte 6"/>
          <p:cNvSpPr txBox="1"/>
          <p:nvPr/>
        </p:nvSpPr>
        <p:spPr>
          <a:xfrm>
            <a:off x="4139952" y="2852936"/>
            <a:ext cx="45836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2 SPERMATOCYTES II (</a:t>
            </a:r>
            <a:r>
              <a:rPr lang="fr-FR" sz="3200" dirty="0" err="1" smtClean="0">
                <a:solidFill>
                  <a:srgbClr val="FF0000"/>
                </a:solidFill>
              </a:rPr>
              <a:t>nch</a:t>
            </a:r>
            <a:r>
              <a:rPr lang="fr-FR" sz="3200" dirty="0" smtClean="0">
                <a:solidFill>
                  <a:srgbClr val="FF0000"/>
                </a:solidFill>
              </a:rPr>
              <a:t>)</a:t>
            </a:r>
            <a:endParaRPr lang="fr-FR" sz="3200" dirty="0" smtClean="0"/>
          </a:p>
          <a:p>
            <a:endParaRPr lang="fr-FR" sz="32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2123728" y="2924944"/>
            <a:ext cx="39462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Mitose réductionnelle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635896" y="1556792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FF0000"/>
                </a:solidFill>
              </a:rPr>
              <a:t>(2nch)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11" name="Flèche gauche 10"/>
          <p:cNvSpPr/>
          <p:nvPr/>
        </p:nvSpPr>
        <p:spPr>
          <a:xfrm rot="10800000">
            <a:off x="3851919" y="1268759"/>
            <a:ext cx="1800200" cy="133859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0" y="4077072"/>
            <a:ext cx="3449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1 SPERMATOCYTE II</a:t>
            </a:r>
            <a:endParaRPr lang="fr-FR" sz="32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563888" y="3717032"/>
            <a:ext cx="459529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</a:t>
            </a:r>
          </a:p>
          <a:p>
            <a:r>
              <a:rPr lang="fr-FR" sz="3200" dirty="0" smtClean="0"/>
              <a:t>         2 SPERMATIDES (</a:t>
            </a:r>
            <a:r>
              <a:rPr lang="fr-FR" sz="3200" dirty="0" err="1" smtClean="0">
                <a:solidFill>
                  <a:srgbClr val="FF0000"/>
                </a:solidFill>
              </a:rPr>
              <a:t>nch</a:t>
            </a:r>
            <a:r>
              <a:rPr lang="fr-FR" sz="3200" dirty="0" smtClean="0">
                <a:solidFill>
                  <a:srgbClr val="FF0000"/>
                </a:solidFill>
              </a:rPr>
              <a:t>)</a:t>
            </a:r>
            <a:endParaRPr lang="fr-FR" sz="3200" dirty="0" smtClean="0"/>
          </a:p>
          <a:p>
            <a:endParaRPr lang="fr-FR" sz="3200" dirty="0" smtClean="0"/>
          </a:p>
          <a:p>
            <a:r>
              <a:rPr lang="fr-FR" sz="3200" dirty="0" smtClean="0"/>
              <a:t>    </a:t>
            </a:r>
            <a:endParaRPr lang="fr-FR" sz="3200" dirty="0"/>
          </a:p>
        </p:txBody>
      </p:sp>
      <p:sp>
        <p:nvSpPr>
          <p:cNvPr id="16" name="Flèche gauche 15"/>
          <p:cNvSpPr/>
          <p:nvPr/>
        </p:nvSpPr>
        <p:spPr>
          <a:xfrm rot="10800000">
            <a:off x="3419872" y="3140968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gauche 16"/>
          <p:cNvSpPr/>
          <p:nvPr/>
        </p:nvSpPr>
        <p:spPr>
          <a:xfrm rot="10800000">
            <a:off x="3419872" y="4365104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2051720" y="4941168"/>
            <a:ext cx="3831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Mitose équationnelle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5445224"/>
            <a:ext cx="4785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D- Phase de différenciation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395536" y="5949280"/>
            <a:ext cx="8101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1 SPERMATIDE                         1 SPERMATOZOIDE</a:t>
            </a:r>
            <a:endParaRPr lang="fr-FR" sz="3200" dirty="0"/>
          </a:p>
        </p:txBody>
      </p:sp>
      <p:sp>
        <p:nvSpPr>
          <p:cNvPr id="21" name="Flèche gauche 20"/>
          <p:cNvSpPr/>
          <p:nvPr/>
        </p:nvSpPr>
        <p:spPr>
          <a:xfrm rot="10800000">
            <a:off x="3347864" y="6093296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483768" y="6273225"/>
            <a:ext cx="3096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SPERMIOGENESE</a:t>
            </a:r>
            <a:endParaRPr lang="fr-FR" sz="32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820472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30831"/>
            <a:ext cx="9144000" cy="717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Times New Roman" pitchFamily="18" charset="0"/>
              </a:rPr>
              <a:t>                  LA MEIOSE: PHASE DE MATURATION 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Définition 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La méiose est un ensemble de deux divisions successives  qui, à partir d'une cellule à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2n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ch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(cellule diploïde), donne naissance à quatre cellules à filles à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n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ch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(cellules haploïdes).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Elle se situe donc au moment de la formation 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gamètes.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8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Dans la gamétogenèse des animaux, ce sont  les 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cytes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I (spermatocytes I et ovocytes I) qui subissent  la méiose et se transforment respectivement en  spermatides et ovotides</a:t>
            </a:r>
            <a:r>
              <a:rPr lang="fr-FR" sz="28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8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  La méiose = 02 mitoses successives: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ea typeface="Calibri" pitchFamily="34" charset="0"/>
                <a:cs typeface="Times New Roman" pitchFamily="18" charset="0"/>
              </a:rPr>
              <a:t>Mitose 1 réductionnelle</a:t>
            </a:r>
            <a:r>
              <a:rPr lang="fr-FR" sz="28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=  </a:t>
            </a:r>
            <a:r>
              <a:rPr lang="fr-FR" sz="20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prophase, métaphase, anaphase, télophase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ea typeface="Calibri" pitchFamily="34" charset="0"/>
                <a:cs typeface="Times New Roman" pitchFamily="18" charset="0"/>
              </a:rPr>
              <a:t>Mitose 2 équationnelle </a:t>
            </a:r>
            <a:r>
              <a:rPr lang="fr-FR" sz="28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=  </a:t>
            </a:r>
            <a:r>
              <a:rPr lang="fr-FR" sz="2000" dirty="0" smtClean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prophase, métaphase, anaphase, télophase</a:t>
            </a:r>
            <a:endParaRPr kumimoji="0" lang="fr-FR" sz="20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3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 </a:t>
            </a:r>
            <a:endParaRPr kumimoji="0" lang="fr-FR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éiose : définition, principes, vs. mito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32048"/>
            <a:ext cx="9143999" cy="6453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jpb-imagine.com/Sharjah/0t/0t3gen/media0t3/SchMeioseCori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9073008" cy="6525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1322947"/>
            <a:ext cx="10476656" cy="6678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                                     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dirty="0" smtClean="0">
              <a:solidFill>
                <a:srgbClr val="000000"/>
              </a:solidFill>
              <a:ea typeface="Calibri" pitchFamily="34" charset="0"/>
              <a:cs typeface="Times New Roman" pitchFamily="18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Déroulement de la méiose (Les étapes de la méiose)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endParaRPr lang="fr-FR" sz="28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solidFill>
                  <a:srgbClr val="92D050"/>
                </a:solidFill>
              </a:rPr>
              <a:t> </a:t>
            </a:r>
            <a:r>
              <a:rPr lang="fr-FR" sz="2800" b="1" dirty="0" smtClean="0">
                <a:solidFill>
                  <a:srgbClr val="92D050"/>
                </a:solidFill>
              </a:rPr>
              <a:t>La première division méiotique (ou division réductionnelle) </a:t>
            </a:r>
            <a:endParaRPr lang="fr-FR" sz="2800" dirty="0" smtClean="0">
              <a:solidFill>
                <a:srgbClr val="92D050"/>
              </a:solidFill>
            </a:endParaRPr>
          </a:p>
          <a:p>
            <a:r>
              <a:rPr lang="fr-FR" sz="2800" b="1" dirty="0" smtClean="0"/>
              <a:t>  </a:t>
            </a:r>
          </a:p>
          <a:p>
            <a:r>
              <a:rPr lang="fr-FR" sz="2800" b="1" dirty="0" smtClean="0"/>
              <a:t>Prophase I :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 i</a:t>
            </a:r>
            <a:r>
              <a:rPr lang="fr-FR" sz="2800" dirty="0" smtClean="0"/>
              <a:t>ndividualisation des chromosomes formés de deux  </a:t>
            </a:r>
          </a:p>
          <a:p>
            <a:r>
              <a:rPr lang="fr-FR" sz="2800" dirty="0" smtClean="0"/>
              <a:t>Chromatides.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Les chromosomes homologues s’accolent par paires pour</a:t>
            </a:r>
          </a:p>
          <a:p>
            <a:r>
              <a:rPr lang="fr-FR" sz="2800" dirty="0" smtClean="0"/>
              <a:t> former des  tétrades (paire de chromosomes bivalents).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Entrecroisements des chromosomes (chiasmas).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963488"/>
            <a:ext cx="34135677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Métaphase I </a:t>
            </a:r>
            <a:r>
              <a:rPr lang="fr-FR" sz="2800" dirty="0" smtClean="0"/>
              <a:t>: Les bivalents se placent au plan équatorial du</a:t>
            </a:r>
          </a:p>
          <a:p>
            <a:r>
              <a:rPr lang="fr-FR" sz="2800" dirty="0" smtClean="0"/>
              <a:t> fuseau. </a:t>
            </a:r>
          </a:p>
          <a:p>
            <a:r>
              <a:rPr lang="fr-FR" sz="2800" b="1" dirty="0" smtClean="0"/>
              <a:t>Anaphase I </a:t>
            </a:r>
            <a:r>
              <a:rPr lang="fr-FR" sz="2800" dirty="0" smtClean="0"/>
              <a:t>: Les deux chromosomes d’une même paire se </a:t>
            </a:r>
          </a:p>
          <a:p>
            <a:r>
              <a:rPr lang="fr-FR" sz="2800" dirty="0" smtClean="0"/>
              <a:t>séparent, pour se diriger vers les pôles de la cellule. </a:t>
            </a:r>
          </a:p>
          <a:p>
            <a:r>
              <a:rPr lang="fr-FR" sz="2800" dirty="0" smtClean="0"/>
              <a:t>Chaque chromosome qui migre est composé de 2 chromatides. </a:t>
            </a:r>
          </a:p>
          <a:p>
            <a:r>
              <a:rPr lang="fr-FR" sz="2800" dirty="0" smtClean="0"/>
              <a:t>A chaque pôle de la cellule il y a donc un chromosome de </a:t>
            </a:r>
          </a:p>
          <a:p>
            <a:r>
              <a:rPr lang="fr-FR" sz="2800" dirty="0" smtClean="0"/>
              <a:t>chaque paire. Ces cellules sont dites haploïdes. </a:t>
            </a:r>
          </a:p>
          <a:p>
            <a:endParaRPr lang="fr-FR" sz="2800" dirty="0" smtClean="0"/>
          </a:p>
          <a:p>
            <a:r>
              <a:rPr lang="fr-FR" sz="2800" dirty="0" smtClean="0"/>
              <a:t>T</a:t>
            </a:r>
            <a:r>
              <a:rPr lang="fr-FR" sz="2800" b="1" dirty="0" smtClean="0"/>
              <a:t>élophase I </a:t>
            </a:r>
            <a:r>
              <a:rPr lang="fr-FR" sz="2800" dirty="0" smtClean="0"/>
              <a:t>: Les n chromosomes à 2 chromatides se regroupent </a:t>
            </a:r>
          </a:p>
          <a:p>
            <a:r>
              <a:rPr lang="fr-FR" sz="2800" dirty="0" smtClean="0"/>
              <a:t>Aux  deux pôles de la cellule.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Chaque cellule fille reçoit un seul chromosome de chaque paire.</a:t>
            </a:r>
          </a:p>
          <a:p>
            <a:r>
              <a:rPr lang="fr-FR" sz="2800" dirty="0" smtClean="0">
                <a:solidFill>
                  <a:srgbClr val="FF0000"/>
                </a:solidFill>
              </a:rPr>
              <a:t>EX</a:t>
            </a:r>
            <a:r>
              <a:rPr lang="fr-FR" sz="2800" dirty="0" smtClean="0"/>
              <a:t>: dans le cas ou 2n = 6, chaque cellule fille reçoit  3 </a:t>
            </a:r>
            <a:r>
              <a:rPr lang="fr-FR" sz="2800" dirty="0" err="1" smtClean="0"/>
              <a:t>ch</a:t>
            </a:r>
            <a:r>
              <a:rPr lang="fr-FR" sz="2800" dirty="0" smtClean="0"/>
              <a:t> différents</a:t>
            </a:r>
          </a:p>
          <a:p>
            <a:r>
              <a:rPr lang="fr-FR" sz="2800" dirty="0" smtClean="0"/>
              <a:t> donc n chromosomes </a:t>
            </a:r>
            <a:r>
              <a:rPr lang="fr-FR" sz="2800" dirty="0" err="1" smtClean="0"/>
              <a:t>bichromatidiens</a:t>
            </a:r>
            <a:r>
              <a:rPr lang="fr-FR" sz="2800" dirty="0" smtClean="0"/>
              <a:t>. </a:t>
            </a:r>
          </a:p>
          <a:p>
            <a:r>
              <a:rPr lang="fr-FR" sz="2800" dirty="0" smtClean="0"/>
              <a:t>La méiose I est </a:t>
            </a:r>
            <a:r>
              <a:rPr lang="fr-FR" sz="2800" b="1" dirty="0" smtClean="0"/>
              <a:t>RÉDUCTIONNELLE</a:t>
            </a:r>
            <a:r>
              <a:rPr lang="fr-FR" sz="2800" dirty="0" smtClean="0"/>
              <a:t>, il y a passage de 2n </a:t>
            </a:r>
            <a:r>
              <a:rPr lang="fr-FR" sz="2800" dirty="0" err="1" smtClean="0"/>
              <a:t>ch</a:t>
            </a:r>
            <a:endParaRPr lang="fr-FR" sz="2800" dirty="0" smtClean="0"/>
          </a:p>
          <a:p>
            <a:r>
              <a:rPr lang="fr-FR" sz="2800" dirty="0" err="1" smtClean="0"/>
              <a:t>bichromatidiens</a:t>
            </a:r>
            <a:r>
              <a:rPr lang="fr-FR" sz="2800" dirty="0" smtClean="0"/>
              <a:t> à n </a:t>
            </a:r>
            <a:r>
              <a:rPr lang="fr-FR" sz="2800" dirty="0" err="1" smtClean="0"/>
              <a:t>ch</a:t>
            </a:r>
            <a:r>
              <a:rPr lang="fr-FR" sz="2800" dirty="0" smtClean="0"/>
              <a:t> </a:t>
            </a:r>
            <a:r>
              <a:rPr lang="fr-FR" sz="2800" dirty="0" err="1" smtClean="0"/>
              <a:t>bichromatidiens</a:t>
            </a:r>
            <a:r>
              <a:rPr lang="fr-FR" sz="2800" dirty="0" smtClean="0"/>
              <a:t>. </a:t>
            </a:r>
          </a:p>
          <a:p>
            <a:endParaRPr lang="fr-FR" sz="2400" dirty="0" smtClean="0"/>
          </a:p>
          <a:p>
            <a:endParaRPr lang="fr-FR" sz="2400" dirty="0" smtClean="0"/>
          </a:p>
          <a:p>
            <a:pPr>
              <a:buFont typeface="Wingdings" pitchFamily="2" charset="2"/>
              <a:buChar char="§"/>
            </a:pP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3273" cy="6832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 </a:t>
            </a:r>
            <a:r>
              <a:rPr lang="fr-FR" sz="2800" dirty="0">
                <a:solidFill>
                  <a:srgbClr val="00B050"/>
                </a:solidFill>
              </a:rPr>
              <a:t>La deuxième division méiotique (ou division équationnelle) </a:t>
            </a:r>
          </a:p>
          <a:p>
            <a:pPr>
              <a:buFontTx/>
              <a:buChar char="-"/>
            </a:pPr>
            <a:r>
              <a:rPr lang="fr-FR" sz="2800" dirty="0" smtClean="0"/>
              <a:t>P</a:t>
            </a:r>
            <a:r>
              <a:rPr lang="fr-FR" sz="2800" b="1" dirty="0" smtClean="0"/>
              <a:t>rophase </a:t>
            </a:r>
            <a:r>
              <a:rPr lang="fr-FR" sz="2800" b="1" dirty="0"/>
              <a:t>II </a:t>
            </a:r>
            <a:r>
              <a:rPr lang="fr-FR" sz="2800" dirty="0"/>
              <a:t>: Elle débute rapidement après la fin de la </a:t>
            </a:r>
            <a:r>
              <a:rPr lang="fr-FR" sz="2800" dirty="0" smtClean="0"/>
              <a:t>télophase</a:t>
            </a:r>
          </a:p>
          <a:p>
            <a:r>
              <a:rPr lang="fr-FR" sz="2800" i="1" dirty="0" smtClean="0"/>
              <a:t> </a:t>
            </a:r>
            <a:r>
              <a:rPr lang="fr-FR" sz="2800" dirty="0" smtClean="0"/>
              <a:t>I et mise en place du fuseau.</a:t>
            </a:r>
          </a:p>
          <a:p>
            <a:endParaRPr lang="fr-FR" sz="2800" dirty="0"/>
          </a:p>
          <a:p>
            <a:pPr>
              <a:buFontTx/>
              <a:buChar char="-"/>
            </a:pPr>
            <a:r>
              <a:rPr lang="fr-FR" sz="2800" b="1" dirty="0" smtClean="0"/>
              <a:t>Métaphase </a:t>
            </a:r>
            <a:r>
              <a:rPr lang="fr-FR" sz="2800" b="1" dirty="0"/>
              <a:t>II </a:t>
            </a:r>
            <a:r>
              <a:rPr lang="fr-FR" sz="2800" dirty="0"/>
              <a:t>: Les chromosomes se disposent dans la </a:t>
            </a:r>
            <a:r>
              <a:rPr lang="fr-FR" sz="2800" dirty="0" smtClean="0"/>
              <a:t>région</a:t>
            </a:r>
          </a:p>
          <a:p>
            <a:r>
              <a:rPr lang="fr-FR" sz="2800" dirty="0" smtClean="0"/>
              <a:t> médiane  </a:t>
            </a:r>
            <a:r>
              <a:rPr lang="fr-FR" sz="2800" dirty="0"/>
              <a:t>de la cellule formant la plaque équatoriale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Cette plaque est perpendiculaire à celle de la métaphase I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endParaRPr lang="fr-FR" sz="2800" dirty="0"/>
          </a:p>
          <a:p>
            <a:pPr>
              <a:buFontTx/>
              <a:buChar char="-"/>
            </a:pPr>
            <a:r>
              <a:rPr lang="fr-FR" sz="2800" b="1" dirty="0" smtClean="0"/>
              <a:t>Anaphase </a:t>
            </a:r>
            <a:r>
              <a:rPr lang="fr-FR" sz="2800" b="1" dirty="0"/>
              <a:t>II </a:t>
            </a:r>
            <a:r>
              <a:rPr lang="fr-FR" sz="2800" dirty="0"/>
              <a:t>: Les 2 chromatides de chaque chromosome se </a:t>
            </a:r>
            <a:endParaRPr lang="fr-FR" sz="2800" dirty="0" smtClean="0"/>
          </a:p>
          <a:p>
            <a:r>
              <a:rPr lang="fr-FR" sz="2800" dirty="0" smtClean="0"/>
              <a:t>Séparent au </a:t>
            </a:r>
            <a:r>
              <a:rPr lang="fr-FR" sz="2800" dirty="0"/>
              <a:t>niveau du centromère et migre vers les 2 </a:t>
            </a:r>
            <a:r>
              <a:rPr lang="fr-FR" sz="2800" dirty="0" smtClean="0"/>
              <a:t>pôles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opposées de la cellule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endParaRPr lang="fr-FR" sz="2800" dirty="0"/>
          </a:p>
          <a:p>
            <a:pPr>
              <a:buFontTx/>
              <a:buChar char="-"/>
            </a:pPr>
            <a:r>
              <a:rPr lang="fr-FR" sz="2800" b="1" dirty="0" smtClean="0"/>
              <a:t>Télophase </a:t>
            </a:r>
            <a:r>
              <a:rPr lang="fr-FR" sz="2800" b="1" dirty="0"/>
              <a:t>II </a:t>
            </a:r>
            <a:r>
              <a:rPr lang="fr-FR" sz="2800" dirty="0"/>
              <a:t>: A chaque pôle de la cellule, reconstitution </a:t>
            </a:r>
            <a:r>
              <a:rPr lang="fr-FR" sz="2800" dirty="0" smtClean="0"/>
              <a:t>d’un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noyau </a:t>
            </a:r>
            <a:r>
              <a:rPr lang="fr-FR" sz="2800" dirty="0" smtClean="0"/>
              <a:t>autour </a:t>
            </a:r>
            <a:r>
              <a:rPr lang="fr-FR" sz="2800" dirty="0"/>
              <a:t>des chromosomes. Chaque chromosome </a:t>
            </a:r>
            <a:r>
              <a:rPr lang="fr-FR" sz="2800" dirty="0" smtClean="0"/>
              <a:t>n’est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composé que d’une </a:t>
            </a:r>
            <a:r>
              <a:rPr lang="fr-FR" sz="2800" dirty="0" smtClean="0"/>
              <a:t>chromatide</a:t>
            </a:r>
            <a:r>
              <a:rPr lang="fr-FR" sz="280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35029" cy="6832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On obtient donc 4 cellules haploïdes différentes. </a:t>
            </a:r>
          </a:p>
          <a:p>
            <a:endParaRPr lang="fr-FR" sz="2800" dirty="0" smtClean="0"/>
          </a:p>
          <a:p>
            <a:r>
              <a:rPr lang="fr-FR" sz="2800" dirty="0" smtClean="0"/>
              <a:t>Ces cellules sont différentes puisqu’elles ne contiennent pas la</a:t>
            </a:r>
          </a:p>
          <a:p>
            <a:r>
              <a:rPr lang="fr-FR" sz="2800" dirty="0" smtClean="0"/>
              <a:t> même  information génétique. 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En </a:t>
            </a:r>
            <a:r>
              <a:rPr lang="fr-FR" sz="2800" b="1" dirty="0">
                <a:solidFill>
                  <a:srgbClr val="FF0000"/>
                </a:solidFill>
              </a:rPr>
              <a:t>résumé</a:t>
            </a:r>
            <a:r>
              <a:rPr lang="fr-FR" sz="2800" dirty="0"/>
              <a:t> : </a:t>
            </a:r>
          </a:p>
          <a:p>
            <a:r>
              <a:rPr lang="fr-FR" sz="2800" dirty="0"/>
              <a:t>Lors de la division réductionnelle : 1 cellule diploïde donne 2 </a:t>
            </a:r>
            <a:endParaRPr lang="fr-FR" sz="2800" dirty="0" smtClean="0"/>
          </a:p>
          <a:p>
            <a:r>
              <a:rPr lang="fr-FR" sz="2800" dirty="0" smtClean="0"/>
              <a:t>cellules </a:t>
            </a:r>
            <a:r>
              <a:rPr lang="fr-FR" sz="2800" dirty="0"/>
              <a:t>haploïdes. </a:t>
            </a:r>
          </a:p>
          <a:p>
            <a:endParaRPr lang="fr-FR" sz="2800" dirty="0" smtClean="0"/>
          </a:p>
          <a:p>
            <a:r>
              <a:rPr lang="fr-FR" sz="2800" dirty="0" smtClean="0"/>
              <a:t>Lors </a:t>
            </a:r>
            <a:r>
              <a:rPr lang="fr-FR" sz="2800" dirty="0"/>
              <a:t>de la division équationnelle : chaque cellule haploïde </a:t>
            </a:r>
            <a:endParaRPr lang="fr-FR" sz="2800" dirty="0" smtClean="0"/>
          </a:p>
          <a:p>
            <a:r>
              <a:rPr lang="fr-FR" sz="2800" dirty="0" smtClean="0"/>
              <a:t>donne </a:t>
            </a:r>
            <a:r>
              <a:rPr lang="fr-FR" sz="2800" dirty="0"/>
              <a:t>2 cellules haploïdes. </a:t>
            </a:r>
          </a:p>
          <a:p>
            <a:endParaRPr lang="fr-FR" sz="2800" dirty="0" smtClean="0"/>
          </a:p>
          <a:p>
            <a:r>
              <a:rPr lang="fr-FR" sz="2800" dirty="0" smtClean="0"/>
              <a:t>Chaque </a:t>
            </a:r>
            <a:r>
              <a:rPr lang="fr-FR" sz="2800" dirty="0"/>
              <a:t>cellule mère diploïde donne 4 cellules filles </a:t>
            </a:r>
            <a:r>
              <a:rPr lang="fr-FR" sz="2800" dirty="0" smtClean="0"/>
              <a:t>haploïdes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au cours de la méiose. </a:t>
            </a:r>
          </a:p>
          <a:p>
            <a:r>
              <a:rPr lang="fr-FR" sz="2800" dirty="0" smtClean="0"/>
              <a:t>.                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97329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Conséquences essentielles de la méiose</a:t>
            </a:r>
            <a:endParaRPr lang="fr-FR" sz="2800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fr-FR" sz="2800" dirty="0" smtClean="0"/>
              <a:t>La méiose permet le passage du stade diploïde au stade</a:t>
            </a:r>
          </a:p>
          <a:p>
            <a:r>
              <a:rPr lang="fr-FR" sz="2800" dirty="0" smtClean="0"/>
              <a:t> haploïde.</a:t>
            </a:r>
          </a:p>
          <a:p>
            <a:r>
              <a:rPr lang="fr-FR" sz="2800" dirty="0" smtClean="0"/>
              <a:t>A partir de cellules germinales souches contenant 2n  </a:t>
            </a:r>
            <a:r>
              <a:rPr lang="fr-FR" sz="2800" dirty="0" err="1" smtClean="0"/>
              <a:t>ch</a:t>
            </a:r>
            <a:r>
              <a:rPr lang="fr-FR" sz="2800" dirty="0" smtClean="0"/>
              <a:t> à  </a:t>
            </a:r>
          </a:p>
          <a:p>
            <a:r>
              <a:rPr lang="fr-FR" sz="2800" dirty="0" smtClean="0"/>
              <a:t>2 chromatides, on obtient 4 gamètes à n </a:t>
            </a:r>
            <a:r>
              <a:rPr lang="fr-FR" sz="2800" dirty="0" err="1" smtClean="0"/>
              <a:t>ch</a:t>
            </a:r>
            <a:r>
              <a:rPr lang="fr-FR" sz="2800" dirty="0" smtClean="0"/>
              <a:t> et 1 chromatide.</a:t>
            </a:r>
          </a:p>
          <a:p>
            <a:r>
              <a:rPr lang="fr-FR" sz="2800" dirty="0" smtClean="0"/>
              <a:t>Compensation de la  fécondation et  stabilité du caryotype </a:t>
            </a:r>
          </a:p>
          <a:p>
            <a:r>
              <a:rPr lang="fr-FR" sz="2800" dirty="0" smtClean="0"/>
              <a:t>dans l’espèce:</a:t>
            </a:r>
          </a:p>
          <a:p>
            <a:r>
              <a:rPr lang="fr-FR" sz="2800" dirty="0" smtClean="0"/>
              <a:t>- Le patrimoine génétique d’origine paternelle et maternelle</a:t>
            </a:r>
          </a:p>
          <a:p>
            <a:pPr lvl="1"/>
            <a:r>
              <a:rPr lang="fr-FR" sz="2800" dirty="0" smtClean="0"/>
              <a:t> n’est pas intégralement transmis aux gamètes, </a:t>
            </a:r>
          </a:p>
          <a:p>
            <a:pPr marL="0" lvl="1"/>
            <a:r>
              <a:rPr lang="fr-FR" sz="2800" dirty="0" smtClean="0"/>
              <a:t>- Les chromosomes d’une même paire sont distribués au</a:t>
            </a:r>
          </a:p>
          <a:p>
            <a:pPr lvl="1"/>
            <a:r>
              <a:rPr lang="fr-FR" sz="2800" dirty="0" smtClean="0"/>
              <a:t> hasard.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265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</a:t>
            </a:r>
            <a:r>
              <a:rPr lang="fr-FR" sz="3200" b="1" dirty="0" smtClean="0">
                <a:solidFill>
                  <a:srgbClr val="00B050"/>
                </a:solidFill>
              </a:rPr>
              <a:t>LA SPERMIOGÉNÈSE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dirty="0" smtClean="0"/>
          </a:p>
          <a:p>
            <a:r>
              <a:rPr lang="fr-FR" sz="2800" dirty="0" smtClean="0"/>
              <a:t>Comprend </a:t>
            </a:r>
            <a:r>
              <a:rPr lang="fr-FR" sz="2800" dirty="0"/>
              <a:t>5 phénomènes fondamentaux </a:t>
            </a:r>
            <a:r>
              <a:rPr lang="fr-FR" sz="2800" dirty="0" smtClean="0"/>
              <a:t>simultanés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Formation </a:t>
            </a:r>
            <a:r>
              <a:rPr lang="fr-FR" sz="2800" b="1" dirty="0">
                <a:solidFill>
                  <a:srgbClr val="FF0000"/>
                </a:solidFill>
              </a:rPr>
              <a:t>de l'acrosome à partir du Golgi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dirty="0" smtClean="0">
                <a:solidFill>
                  <a:srgbClr val="FF0000"/>
                </a:solidFill>
              </a:rPr>
              <a:t> </a:t>
            </a:r>
            <a:endParaRPr lang="fr-FR" sz="2800" dirty="0">
              <a:solidFill>
                <a:srgbClr val="FF000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833664"/>
            <a:ext cx="41044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441512" y="3645024"/>
            <a:ext cx="326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appareil de golgi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vésicule </a:t>
            </a:r>
            <a:r>
              <a:rPr lang="fr-FR" sz="2800" b="1" dirty="0" err="1" smtClean="0"/>
              <a:t>acrosomiale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>
            <a:off x="2771800" y="4725144"/>
            <a:ext cx="2520280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gauche 7"/>
          <p:cNvSpPr/>
          <p:nvPr/>
        </p:nvSpPr>
        <p:spPr>
          <a:xfrm rot="21132112">
            <a:off x="3131840" y="4005064"/>
            <a:ext cx="2232248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080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Formation </a:t>
            </a:r>
            <a:r>
              <a:rPr lang="fr-FR" sz="3200" b="1" dirty="0">
                <a:solidFill>
                  <a:srgbClr val="FF0000"/>
                </a:solidFill>
              </a:rPr>
              <a:t>du flagelle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468052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364088" y="1412776"/>
            <a:ext cx="333681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F</a:t>
            </a:r>
            <a:r>
              <a:rPr lang="fr-FR" sz="3200" b="1" dirty="0" smtClean="0"/>
              <a:t>lag</a:t>
            </a:r>
            <a:r>
              <a:rPr lang="fr-FR" sz="3200" dirty="0" smtClean="0"/>
              <a:t>e</a:t>
            </a:r>
            <a:r>
              <a:rPr lang="fr-FR" sz="3200" b="1" dirty="0" smtClean="0"/>
              <a:t>ll</a:t>
            </a:r>
            <a:r>
              <a:rPr lang="fr-FR" sz="3200" dirty="0" smtClean="0"/>
              <a:t>e</a:t>
            </a:r>
          </a:p>
          <a:p>
            <a:endParaRPr lang="fr-FR" sz="3200" dirty="0" smtClean="0"/>
          </a:p>
          <a:p>
            <a:endParaRPr lang="fr-FR" sz="3200" dirty="0" smtClean="0"/>
          </a:p>
          <a:p>
            <a:r>
              <a:rPr lang="fr-FR" sz="3200" dirty="0" smtClean="0"/>
              <a:t>C</a:t>
            </a:r>
            <a:r>
              <a:rPr lang="fr-FR" sz="3200" b="1" dirty="0" smtClean="0"/>
              <a:t>entriole distal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Centriole proximal</a:t>
            </a:r>
            <a:endParaRPr lang="fr-FR" sz="3200" dirty="0"/>
          </a:p>
        </p:txBody>
      </p:sp>
      <p:sp>
        <p:nvSpPr>
          <p:cNvPr id="5" name="Flèche gauche 4"/>
          <p:cNvSpPr/>
          <p:nvPr/>
        </p:nvSpPr>
        <p:spPr>
          <a:xfrm>
            <a:off x="3347864" y="1556792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2195736" y="3212976"/>
            <a:ext cx="3168352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gauche 6"/>
          <p:cNvSpPr/>
          <p:nvPr/>
        </p:nvSpPr>
        <p:spPr>
          <a:xfrm rot="1703000">
            <a:off x="2051720" y="4221088"/>
            <a:ext cx="3456384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Elongation nucléaire</a:t>
            </a:r>
            <a:endParaRPr lang="fr-FR" sz="3200" dirty="0">
              <a:solidFill>
                <a:srgbClr val="FF000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3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556792"/>
            <a:ext cx="4248472" cy="475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436096" y="4581128"/>
            <a:ext cx="1891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Noyau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Acrosome</a:t>
            </a:r>
            <a:endParaRPr lang="fr-FR" sz="3200" b="1" dirty="0"/>
          </a:p>
        </p:txBody>
      </p:sp>
      <p:sp>
        <p:nvSpPr>
          <p:cNvPr id="5" name="Flèche gauche 4"/>
          <p:cNvSpPr/>
          <p:nvPr/>
        </p:nvSpPr>
        <p:spPr>
          <a:xfrm>
            <a:off x="3491880" y="486916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3203848" y="558924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637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Formation </a:t>
            </a:r>
            <a:r>
              <a:rPr lang="fr-FR" sz="3200" b="1" dirty="0">
                <a:solidFill>
                  <a:srgbClr val="FF0000"/>
                </a:solidFill>
              </a:rPr>
              <a:t>du manchon mitochondrial </a:t>
            </a:r>
          </a:p>
        </p:txBody>
      </p:sp>
      <p:pic>
        <p:nvPicPr>
          <p:cNvPr id="3" name="Image 2" descr="http://moodle.univ-brest.fr/medecine/public/sites/Serveur_2009/Embryologie/Emb_gen/E_gamet/Dgamspo4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412776"/>
            <a:ext cx="468052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634210" y="2276872"/>
            <a:ext cx="2509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Mitochondrie</a:t>
            </a:r>
            <a:endParaRPr lang="fr-FR" sz="3200" b="1" dirty="0"/>
          </a:p>
        </p:txBody>
      </p:sp>
      <p:sp>
        <p:nvSpPr>
          <p:cNvPr id="5" name="Flèche gauche 4"/>
          <p:cNvSpPr/>
          <p:nvPr/>
        </p:nvSpPr>
        <p:spPr>
          <a:xfrm rot="20916326">
            <a:off x="4790203" y="2682821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95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Elimination </a:t>
            </a:r>
            <a:r>
              <a:rPr lang="fr-FR" sz="3200" b="1" dirty="0">
                <a:solidFill>
                  <a:srgbClr val="FF0000"/>
                </a:solidFill>
              </a:rPr>
              <a:t>du cytoplasme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5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24745"/>
            <a:ext cx="3584275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860032" y="1196752"/>
            <a:ext cx="44680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Cytoplasme excédentaire</a:t>
            </a:r>
            <a:endParaRPr lang="fr-FR" sz="3200" b="1" dirty="0"/>
          </a:p>
        </p:txBody>
      </p:sp>
      <p:sp>
        <p:nvSpPr>
          <p:cNvPr id="5" name="Flèche gauche 4"/>
          <p:cNvSpPr/>
          <p:nvPr/>
        </p:nvSpPr>
        <p:spPr>
          <a:xfrm rot="16522839">
            <a:off x="3654568" y="2426733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0701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1.5. ÉMISSION DES SPERMATOZOÏDES</a:t>
            </a:r>
            <a:endParaRPr lang="fr-FR" sz="2800" dirty="0" smtClean="0"/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spermatozoïdes sont produits et formés dans les testicules,</a:t>
            </a:r>
          </a:p>
          <a:p>
            <a:r>
              <a:rPr lang="fr-FR" sz="2800" dirty="0" smtClean="0"/>
              <a:t> puis libérés dans l’épididyme.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Ils passent d’abord du </a:t>
            </a:r>
            <a:r>
              <a:rPr lang="fr-FR" sz="2800" dirty="0" err="1" smtClean="0"/>
              <a:t>rete</a:t>
            </a:r>
            <a:r>
              <a:rPr lang="fr-FR" sz="2800" dirty="0" smtClean="0"/>
              <a:t> </a:t>
            </a:r>
            <a:r>
              <a:rPr lang="fr-FR" sz="2800" dirty="0" err="1" smtClean="0"/>
              <a:t>testis</a:t>
            </a:r>
            <a:r>
              <a:rPr lang="fr-FR" sz="2800" dirty="0" smtClean="0"/>
              <a:t> vers la tête de l’épididyme,</a:t>
            </a:r>
          </a:p>
          <a:p>
            <a:r>
              <a:rPr lang="fr-FR" sz="2800" dirty="0" smtClean="0"/>
              <a:t> puis dans les cônes efférents qui se poursuivent par le canal </a:t>
            </a:r>
          </a:p>
          <a:p>
            <a:r>
              <a:rPr lang="fr-FR" sz="2800" dirty="0" smtClean="0"/>
              <a:t>de l’épididyme.</a:t>
            </a:r>
          </a:p>
          <a:p>
            <a:endParaRPr lang="fr-FR" sz="2800" dirty="0" smtClean="0"/>
          </a:p>
          <a:p>
            <a:r>
              <a:rPr lang="fr-FR" sz="2800" dirty="0" smtClean="0"/>
              <a:t>Les gamètes sont modifiés tout au long de leur trajet dans les</a:t>
            </a:r>
          </a:p>
          <a:p>
            <a:r>
              <a:rPr lang="fr-FR" sz="2800" dirty="0" smtClean="0"/>
              <a:t> voies génitales.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 acquièrent leur mobilité.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subissent la </a:t>
            </a:r>
          </a:p>
          <a:p>
            <a:r>
              <a:rPr lang="fr-FR" sz="2800" b="1" dirty="0" err="1" smtClean="0">
                <a:solidFill>
                  <a:srgbClr val="C00000"/>
                </a:solidFill>
              </a:rPr>
              <a:t>Décapacitation</a:t>
            </a:r>
            <a:r>
              <a:rPr lang="fr-FR" sz="2800" b="1" dirty="0" smtClean="0">
                <a:solidFill>
                  <a:srgbClr val="C00000"/>
                </a:solidFill>
              </a:rPr>
              <a:t>:  </a:t>
            </a:r>
            <a:r>
              <a:rPr lang="fr-FR" sz="2800" dirty="0" smtClean="0"/>
              <a:t>ils  perdent momentanément leur possibilité</a:t>
            </a:r>
          </a:p>
          <a:p>
            <a:r>
              <a:rPr lang="fr-FR" sz="2800" dirty="0" smtClean="0"/>
              <a:t> de féconder.</a:t>
            </a:r>
          </a:p>
          <a:p>
            <a:r>
              <a:rPr lang="fr-F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511065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- Dans l’épididyme Les spermatozoïdes sont stockés et  peuvent</a:t>
            </a:r>
          </a:p>
          <a:p>
            <a:r>
              <a:rPr lang="fr-FR" sz="2800" dirty="0" smtClean="0"/>
              <a:t> y survivre jusqu’à trois semaines environ.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Les spermatozoïdes passent ensuite dans le canal déférent,</a:t>
            </a:r>
          </a:p>
          <a:p>
            <a:r>
              <a:rPr lang="fr-FR" sz="2800" dirty="0" smtClean="0"/>
              <a:t> qui est prolongé par le canal éjaculateur traversant la prostate</a:t>
            </a:r>
          </a:p>
          <a:p>
            <a:r>
              <a:rPr lang="fr-FR" sz="2800" dirty="0" smtClean="0"/>
              <a:t> et qui s’associe aux canaux urinaires.</a:t>
            </a:r>
          </a:p>
          <a:p>
            <a:pPr>
              <a:buFontTx/>
              <a:buChar char="-"/>
            </a:pPr>
            <a:r>
              <a:rPr lang="fr-FR" sz="2800" dirty="0" smtClean="0"/>
              <a:t>Ils prennent ensuite le chemin de l’urètre. 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Durant leur trajet, les spermatozoïdes sont mélangés à des</a:t>
            </a:r>
          </a:p>
          <a:p>
            <a:r>
              <a:rPr lang="fr-FR" sz="2800" dirty="0" smtClean="0"/>
              <a:t> liquides produits par les glandes sexuelles (prostate et vésicules</a:t>
            </a:r>
          </a:p>
          <a:p>
            <a:r>
              <a:rPr lang="fr-FR" sz="2800" dirty="0" smtClean="0"/>
              <a:t> séminales); le mélange de ces liquides donne le sperme.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On peut détailler la constitution de la phase liquide du sperme</a:t>
            </a:r>
          </a:p>
          <a:p>
            <a:r>
              <a:rPr lang="fr-FR" sz="2800" dirty="0" smtClean="0"/>
              <a:t>5 % de sécrétions </a:t>
            </a:r>
            <a:r>
              <a:rPr lang="fr-FR" sz="2800" dirty="0" err="1" smtClean="0"/>
              <a:t>épididymaires</a:t>
            </a:r>
            <a:r>
              <a:rPr lang="fr-FR" sz="2800" dirty="0" smtClean="0"/>
              <a:t>, 65 % de sécrétions issues </a:t>
            </a:r>
          </a:p>
          <a:p>
            <a:r>
              <a:rPr lang="fr-FR" sz="2800" dirty="0" smtClean="0"/>
              <a:t>des vésicules séminales, 30 % de sécrétions prostatiques </a:t>
            </a:r>
          </a:p>
          <a:p>
            <a:r>
              <a:rPr lang="fr-FR" sz="2800" dirty="0" smtClean="0"/>
              <a:t> 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231794"/>
            <a:ext cx="99726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Times New Roman" pitchFamily="18" charset="0"/>
              </a:rPr>
              <a:t>1.6. PROPRIETES PHYSIOLOGIQUES DES SPERMATOZOIDES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Times New Roman" pitchFamily="18" charset="0"/>
                <a:cs typeface="Arial" pitchFamily="34" charset="0"/>
              </a:rPr>
              <a:t>Mobilité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/>
            </a:r>
            <a:b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</a:b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 - Le déplacement du spermatozoïde se fait selon une sinusoïde, avec une vélocité variable suivant la viscosité du milieu.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- Le mouvement nécessite l'hydrolyse d'ATP.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L'AMP-cyclique et le Ca</a:t>
            </a:r>
            <a:r>
              <a:rPr kumimoji="0" lang="fr-FR" sz="32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++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sont indispensables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400" b="1" dirty="0" smtClean="0"/>
              <a:t>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8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B050"/>
                </a:solidFill>
              </a:rPr>
              <a:t>Fécondance</a:t>
            </a:r>
            <a:r>
              <a:rPr lang="fr-FR" sz="3200" dirty="0" smtClean="0">
                <a:solidFill>
                  <a:srgbClr val="00B050"/>
                </a:solidFill>
              </a:rPr>
              <a:t> </a:t>
            </a:r>
            <a:r>
              <a:rPr lang="fr-FR" sz="3200" dirty="0" smtClean="0"/>
              <a:t/>
            </a:r>
            <a:br>
              <a:rPr lang="fr-FR" sz="3200" dirty="0" smtClean="0"/>
            </a:br>
            <a:r>
              <a:rPr lang="fr-FR" sz="3200" dirty="0" smtClean="0"/>
              <a:t>- Le spermatozoïde ne devient fécondant qu'après</a:t>
            </a:r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3200" dirty="0" smtClean="0"/>
              <a:t>la</a:t>
            </a:r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capacitation </a:t>
            </a:r>
            <a:r>
              <a:rPr lang="fr-FR" sz="3200" dirty="0" smtClean="0"/>
              <a:t>qui se caractérise par : </a:t>
            </a:r>
            <a:br>
              <a:rPr lang="fr-FR" sz="3200" dirty="0" smtClean="0"/>
            </a:br>
            <a:r>
              <a:rPr lang="fr-FR" sz="3200" dirty="0" smtClean="0"/>
              <a:t>     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La perte du manteau de glycoprotéines de la membrane plasmique du spermatozoïde pendant le passage dans les  voies génitales femelles. </a:t>
            </a:r>
            <a:br>
              <a:rPr lang="fr-FR" sz="3200" dirty="0" smtClean="0"/>
            </a:br>
            <a:r>
              <a:rPr lang="fr-FR" sz="3200" dirty="0" smtClean="0"/>
              <a:t>    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Une augmentation de la vélocité.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solidFill>
                  <a:srgbClr val="00B05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Vitalité</a:t>
            </a:r>
            <a:r>
              <a:rPr lang="fr-FR" sz="3200" dirty="0" smtClean="0">
                <a:solidFill>
                  <a:srgbClr val="00B05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Le liquide séminal est un mauvais milieu de survie pour les gamètes.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Seulement 20% des spermatozoïdes y survivent 24 h à 37°C. </a:t>
            </a:r>
            <a:b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 survie peut atteindre  2 ou 3 jours dans les voies génitales féminines. </a:t>
            </a:r>
            <a:b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lang="fr-FR" sz="32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32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Après congélation dans l'azote liquide, la vitalité et la fécondance d'une  partie des spermatozoïdes sont sauvegardées.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0" y="-246221"/>
            <a:ext cx="9144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Activité métabolique</a:t>
            </a:r>
            <a:r>
              <a:rPr lang="fr-FR" sz="3200" dirty="0" smtClean="0">
                <a:solidFill>
                  <a:srgbClr val="00B050"/>
                </a:solidFill>
              </a:rPr>
              <a:t> </a:t>
            </a:r>
            <a:r>
              <a:rPr lang="fr-FR" sz="3200" dirty="0" smtClean="0"/>
              <a:t/>
            </a:r>
            <a:br>
              <a:rPr lang="fr-FR" sz="3200" dirty="0" smtClean="0"/>
            </a:br>
            <a:r>
              <a:rPr lang="fr-FR" sz="3200" dirty="0" smtClean="0"/>
              <a:t>Le spermatozoïde n'a pas d'activité nucléaire: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32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3200" dirty="0" smtClean="0"/>
              <a:t> Il n'effectue pas de  synthèse d'ADN, d'ARN, ni de protéines.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fr-FR" sz="32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3200" dirty="0" smtClean="0"/>
              <a:t> l'activité respiratoire  est importante,  car le mouvement flagellaire exige un important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/>
              <a:t> apport d'ATP.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8741175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Calibri" pitchFamily="34" charset="0"/>
              </a:rPr>
              <a:t>1.7. FACTEURS INFLUENCANT  LA SPERMATOGENESE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Facteurs externes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Température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spermatogenèse 34 ou 35°C.</a:t>
            </a:r>
          </a:p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Carences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nutritionnelles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Dénutrition protéique + altérations de la spermatogenèse. </a:t>
            </a:r>
          </a:p>
          <a:p>
            <a:r>
              <a:rPr lang="fr-FR" sz="2800" dirty="0" smtClean="0"/>
              <a:t>EX/ Carence en vitamine A= lésions dégénératives des </a:t>
            </a:r>
            <a:r>
              <a:rPr lang="fr-FR" sz="2800" dirty="0" err="1" smtClean="0"/>
              <a:t>spz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      Carence en vitamine E = lésions des spermatides .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Radiations ionisantes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Les spermatogonies se multiplient activement et sont très</a:t>
            </a:r>
          </a:p>
          <a:p>
            <a:r>
              <a:rPr lang="fr-FR" sz="2800" dirty="0" smtClean="0"/>
              <a:t> radiosensibles. </a:t>
            </a:r>
            <a:br>
              <a:rPr lang="fr-FR" sz="2800" dirty="0" smtClean="0"/>
            </a:br>
            <a:r>
              <a:rPr lang="fr-FR" sz="2800" b="1" dirty="0" smtClean="0">
                <a:solidFill>
                  <a:srgbClr val="00B050"/>
                </a:solidFill>
              </a:rPr>
              <a:t>Toxiques chimiques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De nombreux corps chimiques peuvent être toxiques:</a:t>
            </a:r>
          </a:p>
          <a:p>
            <a:r>
              <a:rPr lang="fr-FR" sz="2800" dirty="0" smtClean="0"/>
              <a:t>EX:  pesticides, organochlorés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29837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Certains médicaments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 EX: antihypertenseurs, neuroleptiques,  hormones stéroïdes, </a:t>
            </a:r>
          </a:p>
          <a:p>
            <a:r>
              <a:rPr lang="fr-FR" sz="2800" dirty="0" smtClean="0"/>
              <a:t>anti-inflammatoires, chimiothérapie.</a:t>
            </a:r>
          </a:p>
          <a:p>
            <a:r>
              <a:rPr lang="fr-FR" sz="2800" b="1" dirty="0" smtClean="0"/>
              <a:t> Autres facteurs exogènes:</a:t>
            </a:r>
          </a:p>
          <a:p>
            <a:r>
              <a:rPr lang="fr-FR" sz="2800" dirty="0" smtClean="0"/>
              <a:t>EX:  tabac, alcool, cannabis. </a:t>
            </a:r>
            <a:br>
              <a:rPr lang="fr-FR" sz="2800" dirty="0" smtClean="0"/>
            </a:b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88640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Contrôle hormonal</a:t>
            </a:r>
            <a:endParaRPr lang="fr-FR" sz="2800" b="1" dirty="0">
              <a:solidFill>
                <a:srgbClr val="FF0000"/>
              </a:solidFill>
            </a:endParaRPr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8676456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903640" y="4005064"/>
            <a:ext cx="324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 smtClean="0">
                <a:solidFill>
                  <a:srgbClr val="FF0000"/>
                </a:solidFill>
              </a:rPr>
              <a:t>Androgen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binding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protein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endParaRPr lang="fr-FR" sz="2000" b="1" dirty="0" smtClean="0">
              <a:solidFill>
                <a:srgbClr val="FF0000"/>
              </a:solidFill>
            </a:endParaRPr>
          </a:p>
          <a:p>
            <a:r>
              <a:rPr lang="fr-FR" sz="2000" b="1" dirty="0" err="1" smtClean="0">
                <a:solidFill>
                  <a:srgbClr val="FF0000"/>
                </a:solidFill>
              </a:rPr>
              <a:t>Transforming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growth</a:t>
            </a:r>
            <a:r>
              <a:rPr lang="fr-FR" sz="2000" b="1" dirty="0" smtClean="0">
                <a:solidFill>
                  <a:srgbClr val="FF0000"/>
                </a:solidFill>
              </a:rPr>
              <a:t> factor</a:t>
            </a: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         </a:t>
            </a:r>
            <a:r>
              <a:rPr lang="fr-FR" sz="2000" b="1" dirty="0" err="1" smtClean="0">
                <a:solidFill>
                  <a:srgbClr val="FF0000"/>
                </a:solidFill>
              </a:rPr>
              <a:t>Activine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hormone antimüllérienne</a:t>
            </a:r>
          </a:p>
          <a:p>
            <a:pPr marL="452438" indent="-452438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20610" y="1052736"/>
            <a:ext cx="8474628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L’hypothalamus secrète 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GnRh.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La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320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agit sur l’hypophyse.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lang="fr-FR" sz="3200" dirty="0" smtClean="0">
                <a:ea typeface="Calibri" pitchFamily="34" charset="0"/>
                <a:cs typeface="Calibri" pitchFamily="34" charset="0"/>
              </a:rPr>
              <a:t>L’hypophyse secrète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FSH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et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LH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La FSH: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lang="fr-FR" sz="3200" dirty="0" smtClean="0">
                <a:ea typeface="Calibri" pitchFamily="34" charset="0"/>
                <a:cs typeface="Calibri" pitchFamily="34" charset="0"/>
              </a:rPr>
              <a:t> développement des cellules de </a:t>
            </a:r>
            <a:r>
              <a:rPr lang="fr-FR" sz="3200" dirty="0" err="1" smtClean="0">
                <a:ea typeface="Calibri" pitchFamily="34" charset="0"/>
                <a:cs typeface="Calibri" pitchFamily="34" charset="0"/>
              </a:rPr>
              <a:t>Sertoli</a:t>
            </a:r>
            <a:r>
              <a:rPr lang="fr-FR" sz="3200" dirty="0" smtClean="0">
                <a:ea typeface="Calibri" pitchFamily="34" charset="0"/>
                <a:cs typeface="Calibri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d'ABP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Androgen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Binding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Protein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); </a:t>
            </a:r>
            <a:endParaRPr lang="fr-FR" sz="3200" dirty="0" smtClean="0"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inhibine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négatif sur</a:t>
            </a:r>
            <a:r>
              <a:rPr lang="fr-FR" sz="3200" dirty="0" smtClean="0"/>
              <a:t>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sécrétion d’</a:t>
            </a:r>
            <a:r>
              <a:rPr lang="fr-FR" sz="3200" b="1" dirty="0" err="1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activine</a:t>
            </a:r>
            <a:r>
              <a:rPr lang="fr-FR" sz="32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 </a:t>
            </a:r>
            <a:r>
              <a:rPr lang="fr-FR" sz="3200" dirty="0" smtClean="0"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/>
              <a:t>Positif sur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chemeClr val="accent1"/>
                </a:solidFill>
              </a:rPr>
              <a:t>sécrétion d’AMH  (</a:t>
            </a:r>
            <a:r>
              <a:rPr lang="fr-FR" sz="3200" dirty="0" smtClean="0"/>
              <a:t>hormone antimüllérienne)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476672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Contrôle hormonal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96770" y="-246221"/>
            <a:ext cx="8242193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3200" b="1" dirty="0" smtClean="0">
                <a:solidFill>
                  <a:srgbClr val="00B050"/>
                </a:solidFill>
              </a:rPr>
              <a:t> La LH</a:t>
            </a:r>
            <a:r>
              <a:rPr lang="fr-FR" sz="3200" b="1" dirty="0" smtClean="0">
                <a:solidFill>
                  <a:srgbClr val="C00000"/>
                </a:solidFill>
              </a:rPr>
              <a:t>:</a:t>
            </a:r>
          </a:p>
          <a:p>
            <a:pPr lvl="0">
              <a:buFont typeface="Wingdings" pitchFamily="2" charset="2"/>
              <a:buChar char="ü"/>
            </a:pPr>
            <a:r>
              <a:rPr lang="fr-FR" sz="3200" b="1" dirty="0" smtClean="0">
                <a:solidFill>
                  <a:srgbClr val="C00000"/>
                </a:solidFill>
              </a:rPr>
              <a:t> </a:t>
            </a:r>
            <a:r>
              <a:rPr lang="fr-FR" sz="3200" dirty="0" smtClean="0"/>
              <a:t>assure la multiplication des cellules de </a:t>
            </a:r>
            <a:r>
              <a:rPr lang="fr-FR" sz="3200" dirty="0" err="1" smtClean="0"/>
              <a:t>Leydig</a:t>
            </a:r>
            <a:r>
              <a:rPr lang="fr-FR" sz="3200" dirty="0" smtClean="0"/>
              <a:t>: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dirty="0" smtClean="0"/>
              <a:t>                </a:t>
            </a:r>
            <a:r>
              <a:rPr lang="fr-FR" sz="3200" b="1" dirty="0" smtClean="0">
                <a:solidFill>
                  <a:schemeClr val="accent1"/>
                </a:solidFill>
              </a:rPr>
              <a:t>sécrétion de testostérone</a:t>
            </a:r>
            <a:r>
              <a:rPr lang="fr-FR" sz="3200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endParaRPr lang="fr-FR" sz="3200" dirty="0" smtClean="0"/>
          </a:p>
          <a:p>
            <a:pPr lvl="0">
              <a:buFont typeface="Wingdings" pitchFamily="2" charset="2"/>
              <a:buChar char="ü"/>
            </a:pPr>
            <a:r>
              <a:rPr lang="fr-FR" sz="3200" dirty="0" smtClean="0"/>
              <a:t> testostérone + ABP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dirty="0" smtClean="0"/>
              <a:t>       </a:t>
            </a:r>
            <a:r>
              <a:rPr lang="fr-FR" sz="3200" b="1" dirty="0" smtClean="0">
                <a:solidFill>
                  <a:schemeClr val="tx2"/>
                </a:solidFill>
              </a:rPr>
              <a:t>développement de l'épithélium  séminal. 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b="1" dirty="0" smtClean="0">
                <a:solidFill>
                  <a:schemeClr val="tx2"/>
                </a:solidFill>
              </a:rPr>
              <a:t>       bon fonctionnement des voies génitales.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-1024463"/>
            <a:ext cx="9429376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Les 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charset="0"/>
              </a:rPr>
              <a:t>canaux de Müller 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et les 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2" tooltip="Canal de Wolff"/>
              </a:rPr>
              <a:t>canaux de Wolff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Constituent les 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3" tooltip="Système reproducteur"/>
              </a:rPr>
              <a:t>voies génitales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doubles 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l'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4" tooltip="Embryon"/>
              </a:rPr>
              <a:t>embryon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lors du stade  indifférencié du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développement de  l'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5" tooltip="Appareil génital"/>
              </a:rPr>
              <a:t>appareil génital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La différenciation a lieu à la 8</a:t>
            </a:r>
            <a:r>
              <a:rPr kumimoji="0" lang="fr-FR" sz="3600" b="1" i="0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ème</a:t>
            </a: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 semaine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Embryonnaire.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Selon le sexe de l'embryon, les canaux de Müller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disparaissent ou se transforment..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c/c0/The_uterus_differentiates_from_the_fetal_M%C3%BCllerian_ducts.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568952" cy="6525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-543054"/>
            <a:ext cx="9517349" cy="661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Lorsque l'embryon est mâle et donc possède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des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2" tooltip="Testicule"/>
              </a:rPr>
              <a:t>testicules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ces derniers vont sécréter deux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3" tooltip="Hormone"/>
              </a:rPr>
              <a:t>hormones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 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4" tooltip="Testostérone"/>
              </a:rPr>
              <a:t>testostérone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par les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5" tooltip="Cellule de Leydig"/>
              </a:rPr>
              <a:t>cellules de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5" tooltip="Cellule de Leydig"/>
              </a:rPr>
              <a:t>Leydig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6" tooltip="Hormone de régression müllérienne"/>
              </a:rPr>
              <a:t>’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  <a:cs typeface="Arial" charset="0"/>
              </a:rPr>
              <a:t>AMH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par les 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7" tooltip="Cellule de Sertoli"/>
              </a:rPr>
              <a:t>cellules de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7" tooltip="Cellule de Sertoli"/>
              </a:rPr>
              <a:t>Sertoli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Lorsque l'AMH est sécrétée, les canaux 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Müller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régréssent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4" tooltip="Testostérone"/>
              </a:rPr>
              <a:t>testostérone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entraîne le développement 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canaux de Wolff  et donc des voies génitales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mâles.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-1137701"/>
            <a:ext cx="9150262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Lorsque l'embryon est génétiquement une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femelle,  l'hormone AMH n'est pas sécrétée,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les canaux de Müller demeurent donc,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et se développent en voies génitales femelles.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hlinkClick r:id="rId2" tooltip="Testostérone"/>
              </a:rPr>
              <a:t>testostérone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n'étant pas produite, elle 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permet  alors pas le maintien des canaux 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Wolff qui vont régresser.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14491</TotalTime>
  <Words>1575</Words>
  <Application>Microsoft Office PowerPoint</Application>
  <PresentationFormat>Affichage à l'écran (4:3)</PresentationFormat>
  <Paragraphs>423</Paragraphs>
  <Slides>48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49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dell</cp:lastModifiedBy>
  <cp:revision>80</cp:revision>
  <dcterms:created xsi:type="dcterms:W3CDTF">2012-10-28T16:06:05Z</dcterms:created>
  <dcterms:modified xsi:type="dcterms:W3CDTF">2022-10-15T17:58:50Z</dcterms:modified>
</cp:coreProperties>
</file>