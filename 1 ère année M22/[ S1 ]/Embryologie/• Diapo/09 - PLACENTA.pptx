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7" r:id="rId2"/>
    <p:sldId id="258" r:id="rId3"/>
    <p:sldId id="259" r:id="rId4"/>
    <p:sldId id="262" r:id="rId5"/>
    <p:sldId id="263" r:id="rId6"/>
    <p:sldId id="264" r:id="rId7"/>
    <p:sldId id="279" r:id="rId8"/>
    <p:sldId id="280" r:id="rId9"/>
    <p:sldId id="281" r:id="rId10"/>
    <p:sldId id="265" r:id="rId11"/>
    <p:sldId id="266" r:id="rId12"/>
    <p:sldId id="267" r:id="rId13"/>
    <p:sldId id="268" r:id="rId14"/>
    <p:sldId id="271" r:id="rId15"/>
    <p:sldId id="269" r:id="rId16"/>
    <p:sldId id="270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141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F3D896-A875-4146-ABAC-6D28A1042223}" type="datetimeFigureOut">
              <a:rPr lang="fr-FR" smtClean="0"/>
              <a:t>08/01/2023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0F31D1-7840-47D4-9371-34914BCE3EBC}" type="slidenum">
              <a:rPr lang="fr-FR" smtClean="0"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0F31D1-7840-47D4-9371-34914BCE3EBC}" type="slidenum">
              <a:rPr lang="fr-FR" smtClean="0"/>
              <a:t>1</a:t>
            </a:fld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B7432-E56B-49CB-8BC7-A1E96E2E9B5A}" type="datetimeFigureOut">
              <a:rPr lang="fr-FR" smtClean="0"/>
              <a:pPr/>
              <a:t>08/01/2023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9594A-7AE6-4B19-B7DA-AF479C05389F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B7432-E56B-49CB-8BC7-A1E96E2E9B5A}" type="datetimeFigureOut">
              <a:rPr lang="fr-FR" smtClean="0"/>
              <a:pPr/>
              <a:t>08/01/2023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9594A-7AE6-4B19-B7DA-AF479C05389F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B7432-E56B-49CB-8BC7-A1E96E2E9B5A}" type="datetimeFigureOut">
              <a:rPr lang="fr-FR" smtClean="0"/>
              <a:pPr/>
              <a:t>08/01/2023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9594A-7AE6-4B19-B7DA-AF479C05389F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B7432-E56B-49CB-8BC7-A1E96E2E9B5A}" type="datetimeFigureOut">
              <a:rPr lang="fr-FR" smtClean="0"/>
              <a:pPr/>
              <a:t>08/01/2023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9594A-7AE6-4B19-B7DA-AF479C05389F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B7432-E56B-49CB-8BC7-A1E96E2E9B5A}" type="datetimeFigureOut">
              <a:rPr lang="fr-FR" smtClean="0"/>
              <a:pPr/>
              <a:t>08/01/2023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9594A-7AE6-4B19-B7DA-AF479C05389F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B7432-E56B-49CB-8BC7-A1E96E2E9B5A}" type="datetimeFigureOut">
              <a:rPr lang="fr-FR" smtClean="0"/>
              <a:pPr/>
              <a:t>08/01/2023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9594A-7AE6-4B19-B7DA-AF479C05389F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B7432-E56B-49CB-8BC7-A1E96E2E9B5A}" type="datetimeFigureOut">
              <a:rPr lang="fr-FR" smtClean="0"/>
              <a:pPr/>
              <a:t>08/01/2023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9594A-7AE6-4B19-B7DA-AF479C05389F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B7432-E56B-49CB-8BC7-A1E96E2E9B5A}" type="datetimeFigureOut">
              <a:rPr lang="fr-FR" smtClean="0"/>
              <a:pPr/>
              <a:t>08/01/2023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9594A-7AE6-4B19-B7DA-AF479C05389F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B7432-E56B-49CB-8BC7-A1E96E2E9B5A}" type="datetimeFigureOut">
              <a:rPr lang="fr-FR" smtClean="0"/>
              <a:pPr/>
              <a:t>08/01/2023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9594A-7AE6-4B19-B7DA-AF479C05389F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B7432-E56B-49CB-8BC7-A1E96E2E9B5A}" type="datetimeFigureOut">
              <a:rPr lang="fr-FR" smtClean="0"/>
              <a:pPr/>
              <a:t>08/01/2023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9594A-7AE6-4B19-B7DA-AF479C05389F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B7432-E56B-49CB-8BC7-A1E96E2E9B5A}" type="datetimeFigureOut">
              <a:rPr lang="fr-FR" smtClean="0"/>
              <a:pPr/>
              <a:t>08/01/2023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9594A-7AE6-4B19-B7DA-AF479C05389F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AB7432-E56B-49CB-8BC7-A1E96E2E9B5A}" type="datetimeFigureOut">
              <a:rPr lang="fr-FR" smtClean="0"/>
              <a:pPr/>
              <a:t>08/01/2023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39594A-7AE6-4B19-B7DA-AF479C05389F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fr.wikipedia.org/wiki/Myom%C3%A8tre" TargetMode="External"/><Relationship Id="rId2" Type="http://schemas.openxmlformats.org/officeDocument/2006/relationships/hyperlink" Target="https://fr.wikipedia.org/wiki/Placenta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144000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 smtClean="0"/>
              <a:t>                               </a:t>
            </a:r>
            <a:r>
              <a:rPr lang="fr-FR" sz="3200" b="1" dirty="0" smtClean="0">
                <a:solidFill>
                  <a:srgbClr val="FF0000"/>
                </a:solidFill>
              </a:rPr>
              <a:t>LE </a:t>
            </a:r>
            <a:r>
              <a:rPr lang="fr-FR" sz="3200" b="1" dirty="0" smtClean="0">
                <a:solidFill>
                  <a:srgbClr val="FF0000"/>
                </a:solidFill>
              </a:rPr>
              <a:t>PLACENTA    </a:t>
            </a:r>
          </a:p>
          <a:p>
            <a:r>
              <a:rPr lang="fr-FR" sz="3200" b="1">
                <a:solidFill>
                  <a:srgbClr val="FF0000"/>
                </a:solidFill>
              </a:rPr>
              <a:t> </a:t>
            </a:r>
            <a:r>
              <a:rPr lang="fr-FR" sz="3200" b="1" smtClean="0">
                <a:solidFill>
                  <a:srgbClr val="FF0000"/>
                </a:solidFill>
              </a:rPr>
              <a:t>                                                           </a:t>
            </a:r>
            <a:r>
              <a:rPr lang="fr-FR" sz="3200" b="1" smtClean="0">
                <a:solidFill>
                  <a:srgbClr val="FF0000"/>
                </a:solidFill>
              </a:rPr>
              <a:t>HECINI-HANNACHI</a:t>
            </a:r>
            <a:endParaRPr lang="fr-FR" sz="3200" b="1" dirty="0" smtClean="0">
              <a:solidFill>
                <a:srgbClr val="FF0000"/>
              </a:solidFill>
            </a:endParaRPr>
          </a:p>
          <a:p>
            <a:r>
              <a:rPr lang="fr-FR" sz="2800" b="1" dirty="0" smtClean="0">
                <a:solidFill>
                  <a:srgbClr val="00B050"/>
                </a:solidFill>
              </a:rPr>
              <a:t>CARACTERISTIQUES</a:t>
            </a:r>
          </a:p>
          <a:p>
            <a:r>
              <a:rPr lang="fr-FR" sz="3200" b="1" dirty="0" smtClean="0">
                <a:solidFill>
                  <a:srgbClr val="FF0000"/>
                </a:solidFill>
              </a:rPr>
              <a:t>Discoïdal</a:t>
            </a:r>
            <a:r>
              <a:rPr lang="fr-FR" sz="3200" dirty="0" smtClean="0"/>
              <a:t> </a:t>
            </a:r>
            <a:r>
              <a:rPr lang="fr-FR" sz="3200" dirty="0"/>
              <a:t>: en forme de </a:t>
            </a:r>
            <a:r>
              <a:rPr lang="fr-FR" sz="3200" dirty="0" smtClean="0"/>
              <a:t>disque</a:t>
            </a:r>
          </a:p>
          <a:p>
            <a:r>
              <a:rPr lang="fr-FR" sz="3200" b="1" dirty="0" smtClean="0">
                <a:solidFill>
                  <a:srgbClr val="FF0000"/>
                </a:solidFill>
              </a:rPr>
              <a:t>Villeux</a:t>
            </a:r>
            <a:r>
              <a:rPr lang="fr-FR" sz="3200" b="1" dirty="0" smtClean="0"/>
              <a:t>: </a:t>
            </a:r>
            <a:r>
              <a:rPr lang="fr-FR" sz="3200" dirty="0" smtClean="0"/>
              <a:t>formé de villosités</a:t>
            </a:r>
            <a:endParaRPr lang="fr-FR" sz="3200" b="1" dirty="0" smtClean="0"/>
          </a:p>
          <a:p>
            <a:r>
              <a:rPr lang="fr-FR" sz="3200" b="1" dirty="0" smtClean="0">
                <a:solidFill>
                  <a:srgbClr val="FF0000"/>
                </a:solidFill>
              </a:rPr>
              <a:t>Pseudo-cotylédoné</a:t>
            </a:r>
            <a:r>
              <a:rPr lang="fr-FR" sz="3200" dirty="0" smtClean="0"/>
              <a:t> </a:t>
            </a:r>
            <a:r>
              <a:rPr lang="fr-FR" sz="3200" dirty="0"/>
              <a:t>: les villosités </a:t>
            </a:r>
            <a:r>
              <a:rPr lang="fr-FR" sz="3200" dirty="0" smtClean="0"/>
              <a:t>placentaires</a:t>
            </a:r>
          </a:p>
          <a:p>
            <a:r>
              <a:rPr lang="fr-FR" sz="3200" dirty="0" smtClean="0"/>
              <a:t> </a:t>
            </a:r>
            <a:r>
              <a:rPr lang="fr-FR" sz="3200" dirty="0"/>
              <a:t>sont </a:t>
            </a:r>
            <a:r>
              <a:rPr lang="fr-FR" sz="3200" dirty="0" smtClean="0"/>
              <a:t>des cotylédons</a:t>
            </a:r>
            <a:endParaRPr lang="fr-FR" sz="3200" dirty="0"/>
          </a:p>
          <a:p>
            <a:r>
              <a:rPr lang="fr-FR" sz="3200" dirty="0" smtClean="0"/>
              <a:t> </a:t>
            </a:r>
            <a:r>
              <a:rPr lang="fr-FR" sz="3200" b="1" dirty="0" smtClean="0">
                <a:solidFill>
                  <a:srgbClr val="FF0000"/>
                </a:solidFill>
              </a:rPr>
              <a:t>Décidual</a:t>
            </a:r>
            <a:r>
              <a:rPr lang="fr-FR" sz="3200" dirty="0" smtClean="0"/>
              <a:t> </a:t>
            </a:r>
            <a:r>
              <a:rPr lang="fr-FR" sz="3200" dirty="0"/>
              <a:t>: son expulsion entraîne la perte </a:t>
            </a:r>
            <a:r>
              <a:rPr lang="fr-FR" sz="3200" dirty="0" smtClean="0"/>
              <a:t>d'une</a:t>
            </a:r>
          </a:p>
          <a:p>
            <a:r>
              <a:rPr lang="fr-FR" sz="3200" dirty="0" smtClean="0"/>
              <a:t> </a:t>
            </a:r>
            <a:r>
              <a:rPr lang="fr-FR" sz="3200" dirty="0"/>
              <a:t>partie de la muqueuse </a:t>
            </a:r>
            <a:r>
              <a:rPr lang="fr-FR" sz="3200" dirty="0" smtClean="0"/>
              <a:t>utérine: </a:t>
            </a:r>
            <a:r>
              <a:rPr lang="fr-FR" sz="3200" b="1" dirty="0" smtClean="0"/>
              <a:t>décidues</a:t>
            </a:r>
            <a:endParaRPr lang="fr-FR" sz="3200" dirty="0"/>
          </a:p>
          <a:p>
            <a:r>
              <a:rPr lang="fr-FR" sz="3200" dirty="0" smtClean="0"/>
              <a:t> </a:t>
            </a:r>
            <a:r>
              <a:rPr lang="fr-FR" sz="3200" b="1" dirty="0" err="1" smtClean="0">
                <a:solidFill>
                  <a:srgbClr val="FF0000"/>
                </a:solidFill>
              </a:rPr>
              <a:t>Hémochorial</a:t>
            </a:r>
            <a:r>
              <a:rPr lang="fr-FR" sz="3200" dirty="0" smtClean="0"/>
              <a:t> </a:t>
            </a:r>
            <a:r>
              <a:rPr lang="fr-FR" sz="3200" dirty="0"/>
              <a:t>: le trophoblaste entre </a:t>
            </a:r>
            <a:r>
              <a:rPr lang="fr-FR" sz="3200" dirty="0" smtClean="0"/>
              <a:t>au</a:t>
            </a:r>
          </a:p>
          <a:p>
            <a:r>
              <a:rPr lang="fr-FR" sz="3200" dirty="0" smtClean="0"/>
              <a:t> </a:t>
            </a:r>
            <a:r>
              <a:rPr lang="fr-FR" sz="3200" dirty="0"/>
              <a:t>contact du sang maternel</a:t>
            </a:r>
          </a:p>
          <a:p>
            <a:r>
              <a:rPr lang="fr-FR" sz="3200" dirty="0" smtClean="0"/>
              <a:t> </a:t>
            </a:r>
            <a:r>
              <a:rPr lang="fr-FR" sz="3200" b="1" dirty="0" err="1" smtClean="0">
                <a:solidFill>
                  <a:srgbClr val="FF0000"/>
                </a:solidFill>
              </a:rPr>
              <a:t>Chorio</a:t>
            </a:r>
            <a:r>
              <a:rPr lang="fr-FR" sz="3200" b="1" dirty="0" smtClean="0">
                <a:solidFill>
                  <a:srgbClr val="FF0000"/>
                </a:solidFill>
              </a:rPr>
              <a:t>-allantoïdien</a:t>
            </a:r>
            <a:r>
              <a:rPr lang="fr-FR" sz="3200" dirty="0" smtClean="0"/>
              <a:t> </a:t>
            </a:r>
            <a:r>
              <a:rPr lang="fr-FR" sz="3200" dirty="0"/>
              <a:t>: la circulation </a:t>
            </a:r>
            <a:r>
              <a:rPr lang="fr-FR" sz="3200" dirty="0" smtClean="0"/>
              <a:t>placentaire</a:t>
            </a:r>
          </a:p>
          <a:p>
            <a:r>
              <a:rPr lang="fr-FR" sz="3200" dirty="0" smtClean="0"/>
              <a:t> </a:t>
            </a:r>
            <a:r>
              <a:rPr lang="fr-FR" sz="3200" dirty="0"/>
              <a:t>(choriale) est reliée à la circulation </a:t>
            </a:r>
            <a:r>
              <a:rPr lang="fr-FR" sz="3200" dirty="0" smtClean="0"/>
              <a:t>fœtale</a:t>
            </a:r>
          </a:p>
          <a:p>
            <a:r>
              <a:rPr lang="fr-FR" sz="3200" dirty="0"/>
              <a:t> </a:t>
            </a:r>
            <a:r>
              <a:rPr lang="fr-FR" sz="3200" dirty="0" smtClean="0"/>
              <a:t>par les vaisseaux allantoïdiens</a:t>
            </a:r>
            <a:endParaRPr lang="fr-FR" sz="3200" dirty="0"/>
          </a:p>
          <a:p>
            <a:endParaRPr lang="fr-FR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836712"/>
            <a:ext cx="4032448" cy="55892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Image 2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95936" y="1052736"/>
            <a:ext cx="4392488" cy="5373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1187624" y="6165304"/>
            <a:ext cx="7200800" cy="3600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fr-FR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Arial" pitchFamily="34" charset="0"/>
              </a:rPr>
              <a:t>        FACE FŒTALE                                      FACE MATERNELLE        </a:t>
            </a:r>
            <a:endParaRPr kumimoji="0" lang="fr-FR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251520" y="332656"/>
            <a:ext cx="47148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/>
              <a:t>LES DEUX FACES DU PLACENTA</a:t>
            </a:r>
            <a:endParaRPr lang="fr-FR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404664"/>
            <a:ext cx="3816424" cy="2880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ZoneTexte 2"/>
          <p:cNvSpPr txBox="1"/>
          <p:nvPr/>
        </p:nvSpPr>
        <p:spPr>
          <a:xfrm>
            <a:off x="0" y="0"/>
            <a:ext cx="52126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b="1" dirty="0" smtClean="0"/>
              <a:t>STRUCTURE DU PLACENTA</a:t>
            </a:r>
            <a:endParaRPr lang="fr-FR" sz="3600" b="1" dirty="0"/>
          </a:p>
        </p:txBody>
      </p:sp>
      <p:pic>
        <p:nvPicPr>
          <p:cNvPr id="4" name="Picture 8" descr="Résultat de recherche d'images pour &quot;le placenta formation&quot;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139952" y="836712"/>
            <a:ext cx="4572000" cy="2636912"/>
          </a:xfrm>
          <a:prstGeom prst="rect">
            <a:avLst/>
          </a:prstGeom>
          <a:noFill/>
        </p:spPr>
      </p:pic>
      <p:pic>
        <p:nvPicPr>
          <p:cNvPr id="5" name="Picture 2" descr="https://upload.wikimedia.org/wikipedia/commons/thumb/f/f1/Placenta.svg/220px-Placenta.svg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55576" y="3429000"/>
            <a:ext cx="3923928" cy="302433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rc_mi" descr="http://www.vetopsy.fr/reproduction/gestation/images/villosites.gif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836712"/>
            <a:ext cx="8964488" cy="5832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ZoneTexte 2"/>
          <p:cNvSpPr txBox="1"/>
          <p:nvPr/>
        </p:nvSpPr>
        <p:spPr>
          <a:xfrm>
            <a:off x="0" y="0"/>
            <a:ext cx="66609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/>
              <a:t>FORMATION DES VILLOSITES PLACENTAIRES</a:t>
            </a:r>
            <a:endParaRPr lang="fr-FR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8784328" cy="67403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 err="1" smtClean="0"/>
              <a:t>Syncitiotrophoblaste</a:t>
            </a:r>
            <a:r>
              <a:rPr lang="fr-FR" sz="3600" dirty="0" smtClean="0"/>
              <a:t> + </a:t>
            </a:r>
            <a:r>
              <a:rPr lang="fr-FR" sz="3600" dirty="0" err="1" smtClean="0"/>
              <a:t>cytotrophoblaste</a:t>
            </a:r>
            <a:r>
              <a:rPr lang="fr-FR" sz="3600" dirty="0" smtClean="0"/>
              <a:t> </a:t>
            </a:r>
          </a:p>
          <a:p>
            <a:r>
              <a:rPr lang="fr-FR" sz="3600" b="1" dirty="0" smtClean="0"/>
              <a:t>                       </a:t>
            </a:r>
            <a:r>
              <a:rPr lang="fr-FR" sz="3600" b="1" dirty="0" smtClean="0">
                <a:solidFill>
                  <a:srgbClr val="00B050"/>
                </a:solidFill>
              </a:rPr>
              <a:t>villosité primaire</a:t>
            </a:r>
            <a:endParaRPr lang="fr-FR" sz="3600" b="1" baseline="30000" dirty="0" smtClean="0">
              <a:solidFill>
                <a:srgbClr val="00B050"/>
              </a:solidFill>
            </a:endParaRPr>
          </a:p>
          <a:p>
            <a:r>
              <a:rPr lang="fr-FR" sz="3600" dirty="0" smtClean="0">
                <a:solidFill>
                  <a:srgbClr val="FF0000"/>
                </a:solidFill>
              </a:rPr>
              <a:t>A partir du 13</a:t>
            </a:r>
            <a:r>
              <a:rPr lang="fr-FR" sz="3600" baseline="30000" dirty="0" smtClean="0">
                <a:solidFill>
                  <a:srgbClr val="FF0000"/>
                </a:solidFill>
              </a:rPr>
              <a:t>éme</a:t>
            </a:r>
            <a:r>
              <a:rPr lang="fr-FR" sz="3600" dirty="0" smtClean="0">
                <a:solidFill>
                  <a:srgbClr val="FF0000"/>
                </a:solidFill>
              </a:rPr>
              <a:t> jour</a:t>
            </a:r>
          </a:p>
          <a:p>
            <a:r>
              <a:rPr lang="fr-FR" sz="3600" dirty="0" smtClean="0"/>
              <a:t>Les colonnes </a:t>
            </a:r>
            <a:r>
              <a:rPr lang="fr-FR" sz="3600" dirty="0" err="1" smtClean="0"/>
              <a:t>syncitiales</a:t>
            </a:r>
            <a:r>
              <a:rPr lang="fr-FR" sz="3600" dirty="0" smtClean="0"/>
              <a:t> ouvrent les vaisseaux </a:t>
            </a:r>
          </a:p>
          <a:p>
            <a:r>
              <a:rPr lang="fr-FR" sz="3600" dirty="0" smtClean="0"/>
              <a:t>maternels : </a:t>
            </a:r>
          </a:p>
          <a:p>
            <a:r>
              <a:rPr lang="fr-FR" sz="3600" b="1" dirty="0" smtClean="0">
                <a:solidFill>
                  <a:schemeClr val="tx2"/>
                </a:solidFill>
              </a:rPr>
              <a:t>              circulation maternelle placentaire</a:t>
            </a:r>
            <a:r>
              <a:rPr lang="fr-FR" sz="3600" dirty="0" smtClean="0">
                <a:solidFill>
                  <a:schemeClr val="tx2"/>
                </a:solidFill>
              </a:rPr>
              <a:t>.</a:t>
            </a:r>
          </a:p>
          <a:p>
            <a:r>
              <a:rPr lang="fr-FR" sz="3600" dirty="0" smtClean="0">
                <a:solidFill>
                  <a:srgbClr val="FF0000"/>
                </a:solidFill>
              </a:rPr>
              <a:t>A la fin de la 3</a:t>
            </a:r>
            <a:r>
              <a:rPr lang="fr-FR" sz="3600" baseline="30000" dirty="0" smtClean="0">
                <a:solidFill>
                  <a:srgbClr val="FF0000"/>
                </a:solidFill>
              </a:rPr>
              <a:t>éme</a:t>
            </a:r>
            <a:r>
              <a:rPr lang="fr-FR" sz="3600" dirty="0" smtClean="0">
                <a:solidFill>
                  <a:srgbClr val="FF0000"/>
                </a:solidFill>
              </a:rPr>
              <a:t> semaine </a:t>
            </a:r>
          </a:p>
          <a:p>
            <a:r>
              <a:rPr lang="fr-FR" sz="3600" dirty="0" smtClean="0"/>
              <a:t>+ mésenchyme de la lame choriale</a:t>
            </a:r>
          </a:p>
          <a:p>
            <a:r>
              <a:rPr lang="fr-FR" sz="3600" dirty="0" smtClean="0"/>
              <a:t>                       </a:t>
            </a:r>
            <a:r>
              <a:rPr lang="fr-FR" sz="3600" b="1" dirty="0" smtClean="0">
                <a:solidFill>
                  <a:srgbClr val="00B050"/>
                </a:solidFill>
              </a:rPr>
              <a:t>villosité secondaire</a:t>
            </a:r>
            <a:endParaRPr lang="fr-FR" sz="3600" dirty="0" smtClean="0">
              <a:solidFill>
                <a:srgbClr val="00B050"/>
              </a:solidFill>
            </a:endParaRPr>
          </a:p>
          <a:p>
            <a:r>
              <a:rPr lang="fr-FR" sz="3600" dirty="0" smtClean="0"/>
              <a:t> + des ébauches vasculaires </a:t>
            </a:r>
          </a:p>
          <a:p>
            <a:r>
              <a:rPr lang="fr-FR" sz="3600" dirty="0" smtClean="0"/>
              <a:t>                       </a:t>
            </a:r>
            <a:r>
              <a:rPr lang="fr-FR" sz="3600" b="1" dirty="0" smtClean="0">
                <a:solidFill>
                  <a:srgbClr val="00B050"/>
                </a:solidFill>
              </a:rPr>
              <a:t>villosités tertiaire</a:t>
            </a:r>
          </a:p>
          <a:p>
            <a:r>
              <a:rPr lang="fr-FR" sz="3600" b="1" dirty="0" smtClean="0"/>
              <a:t>                            </a:t>
            </a:r>
            <a:endParaRPr lang="fr-FR" sz="3600" dirty="0" smtClean="0">
              <a:solidFill>
                <a:schemeClr val="tx2"/>
              </a:solidFill>
            </a:endParaRPr>
          </a:p>
        </p:txBody>
      </p:sp>
      <p:sp>
        <p:nvSpPr>
          <p:cNvPr id="4" name="Flèche droite 3"/>
          <p:cNvSpPr/>
          <p:nvPr/>
        </p:nvSpPr>
        <p:spPr>
          <a:xfrm>
            <a:off x="323528" y="2996952"/>
            <a:ext cx="978408" cy="216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3568" y="260648"/>
            <a:ext cx="8460432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3600" dirty="0" smtClean="0">
                <a:solidFill>
                  <a:srgbClr val="FF0000"/>
                </a:solidFill>
              </a:rPr>
              <a:t>Au 21</a:t>
            </a:r>
            <a:r>
              <a:rPr lang="fr-FR" sz="3600" baseline="30000" dirty="0" smtClean="0">
                <a:solidFill>
                  <a:srgbClr val="FF0000"/>
                </a:solidFill>
              </a:rPr>
              <a:t>ème</a:t>
            </a:r>
            <a:r>
              <a:rPr lang="fr-FR" sz="3600" dirty="0" smtClean="0">
                <a:solidFill>
                  <a:srgbClr val="FF0000"/>
                </a:solidFill>
              </a:rPr>
              <a:t>  jour</a:t>
            </a:r>
          </a:p>
          <a:p>
            <a:r>
              <a:rPr lang="fr-FR" sz="3600" dirty="0" smtClean="0"/>
              <a:t> Anastomose entre le réseau vasculaire intra- </a:t>
            </a:r>
            <a:r>
              <a:rPr lang="fr-FR" sz="3600" dirty="0" err="1" smtClean="0"/>
              <a:t>villositaire</a:t>
            </a:r>
            <a:r>
              <a:rPr lang="fr-FR" sz="3600" dirty="0" smtClean="0"/>
              <a:t>  et les  vaisseaux </a:t>
            </a:r>
            <a:r>
              <a:rPr lang="fr-FR" sz="3600" dirty="0" err="1" smtClean="0"/>
              <a:t>ombilico</a:t>
            </a:r>
            <a:r>
              <a:rPr lang="fr-FR" sz="3600" dirty="0" smtClean="0"/>
              <a:t>-allantoïdien</a:t>
            </a:r>
          </a:p>
          <a:p>
            <a:r>
              <a:rPr lang="fr-FR" sz="3600" dirty="0" smtClean="0"/>
              <a:t>              </a:t>
            </a:r>
            <a:r>
              <a:rPr lang="fr-FR" sz="3600" b="1" dirty="0" smtClean="0">
                <a:solidFill>
                  <a:srgbClr val="0070C0"/>
                </a:solidFill>
              </a:rPr>
              <a:t>circulation fœtale placentaire</a:t>
            </a:r>
          </a:p>
        </p:txBody>
      </p:sp>
      <p:sp>
        <p:nvSpPr>
          <p:cNvPr id="3" name="Flèche droite 2"/>
          <p:cNvSpPr/>
          <p:nvPr/>
        </p:nvSpPr>
        <p:spPr>
          <a:xfrm>
            <a:off x="971600" y="2708920"/>
            <a:ext cx="978408" cy="216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5973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0" y="425469"/>
            <a:ext cx="9144000" cy="5016758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1500" algn="l"/>
              </a:tabLst>
            </a:pPr>
            <a:r>
              <a:rPr kumimoji="0" lang="fr-FR" sz="32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Du 2</a:t>
            </a:r>
            <a:r>
              <a:rPr kumimoji="0" lang="fr-FR" sz="3200" b="0" i="0" u="none" strike="noStrike" cap="none" normalizeH="0" baseline="3000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/>
                <a:ea typeface="Times New Roman" pitchFamily="18" charset="0"/>
                <a:cs typeface="Calibri" pitchFamily="34" charset="0"/>
              </a:rPr>
              <a:t>è</a:t>
            </a:r>
            <a:r>
              <a:rPr kumimoji="0" lang="fr-FR" sz="3200" b="0" i="0" u="none" strike="noStrike" cap="none" normalizeH="0" baseline="30000" dirty="0" smtClean="0">
                <a:ln>
                  <a:noFill/>
                </a:ln>
                <a:solidFill>
                  <a:srgbClr val="FF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me</a:t>
            </a:r>
            <a:r>
              <a:rPr kumimoji="0" lang="fr-FR" sz="32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 au 4</a:t>
            </a:r>
            <a:r>
              <a:rPr kumimoji="0" lang="fr-FR" sz="3200" b="0" i="0" u="none" strike="noStrike" cap="none" normalizeH="0" baseline="3000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/>
                <a:ea typeface="Times New Roman" pitchFamily="18" charset="0"/>
                <a:cs typeface="Calibri" pitchFamily="34" charset="0"/>
              </a:rPr>
              <a:t>é</a:t>
            </a:r>
            <a:r>
              <a:rPr kumimoji="0" lang="fr-FR" sz="3200" b="0" i="0" u="none" strike="noStrike" cap="none" normalizeH="0" baseline="30000" dirty="0" smtClean="0">
                <a:ln>
                  <a:noFill/>
                </a:ln>
                <a:solidFill>
                  <a:srgbClr val="FF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me</a:t>
            </a:r>
            <a:r>
              <a:rPr kumimoji="0" lang="fr-FR" sz="32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 mois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1500" algn="l"/>
              </a:tabLst>
            </a:pPr>
            <a:r>
              <a:rPr kumimoji="0" lang="fr-FR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 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1500" algn="l"/>
              </a:tabLst>
            </a:pPr>
            <a:r>
              <a:rPr kumimoji="0" lang="fr-FR" sz="3200" b="1" i="0" u="none" strike="noStrike" cap="none" normalizeH="0" baseline="0" dirty="0" smtClean="0">
                <a:ln>
                  <a:noFill/>
                </a:ln>
                <a:solidFill>
                  <a:srgbClr val="00B05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villosit</a:t>
            </a:r>
            <a:r>
              <a:rPr kumimoji="0" lang="fr-FR" sz="3200" b="1" i="0" u="none" strike="noStrike" cap="none" normalizeH="0" baseline="0" dirty="0" smtClean="0">
                <a:ln>
                  <a:noFill/>
                </a:ln>
                <a:solidFill>
                  <a:srgbClr val="00B050"/>
                </a:solidFill>
                <a:effectLst/>
                <a:latin typeface="Times New Roman"/>
                <a:ea typeface="Times New Roman" pitchFamily="18" charset="0"/>
                <a:cs typeface="Calibri" pitchFamily="34" charset="0"/>
              </a:rPr>
              <a:t>é</a:t>
            </a:r>
            <a:r>
              <a:rPr kumimoji="0" lang="fr-FR" sz="3200" b="1" i="0" u="none" strike="noStrike" cap="none" normalizeH="0" baseline="0" dirty="0" smtClean="0">
                <a:ln>
                  <a:noFill/>
                </a:ln>
                <a:solidFill>
                  <a:srgbClr val="00B05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 arboriforme </a:t>
            </a:r>
            <a:r>
              <a:rPr kumimoji="0" lang="fr-FR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= </a:t>
            </a:r>
            <a:r>
              <a:rPr kumimoji="0" lang="fr-FR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 </a:t>
            </a:r>
          </a:p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1500" algn="l"/>
              </a:tabLst>
            </a:pPr>
            <a:r>
              <a:rPr kumimoji="0" lang="fr-FR" sz="32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Villosit</a:t>
            </a:r>
            <a:r>
              <a:rPr kumimoji="0" lang="fr-FR" sz="32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Times New Roman"/>
                <a:ea typeface="Times New Roman" pitchFamily="18" charset="0"/>
                <a:cs typeface="Calibri" pitchFamily="34" charset="0"/>
              </a:rPr>
              <a:t>é</a:t>
            </a:r>
            <a:r>
              <a:rPr lang="fr-FR" sz="3200" b="1" dirty="0" smtClean="0">
                <a:solidFill>
                  <a:srgbClr val="0070C0"/>
                </a:solidFill>
                <a:latin typeface="Calibri" pitchFamily="34" charset="0"/>
                <a:ea typeface="Times New Roman" pitchFamily="18" charset="0"/>
                <a:cs typeface="Calibri" pitchFamily="34" charset="0"/>
              </a:rPr>
              <a:t>s </a:t>
            </a:r>
            <a:r>
              <a:rPr kumimoji="0" lang="fr-FR" sz="32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crampons</a:t>
            </a:r>
            <a:r>
              <a:rPr lang="fr-FR" sz="3200" b="1" dirty="0" smtClean="0">
                <a:solidFill>
                  <a:srgbClr val="0070C0"/>
                </a:solidFill>
                <a:latin typeface="Calibri" pitchFamily="34" charset="0"/>
                <a:ea typeface="Times New Roman" pitchFamily="18" charset="0"/>
                <a:cs typeface="Calibri" pitchFamily="34" charset="0"/>
              </a:rPr>
              <a:t>      +</a:t>
            </a:r>
            <a:r>
              <a:rPr kumimoji="0" lang="fr-FR" sz="32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     </a:t>
            </a:r>
            <a:r>
              <a:rPr kumimoji="0" lang="fr-FR" sz="32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v</a:t>
            </a:r>
            <a:r>
              <a:rPr kumimoji="0" lang="fr-FR" sz="32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illosit</a:t>
            </a:r>
            <a:r>
              <a:rPr kumimoji="0" lang="fr-FR" sz="32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Times New Roman"/>
                <a:ea typeface="Times New Roman" pitchFamily="18" charset="0"/>
                <a:cs typeface="Calibri" pitchFamily="34" charset="0"/>
              </a:rPr>
              <a:t>é</a:t>
            </a:r>
            <a:r>
              <a:rPr kumimoji="0" lang="fr-FR" sz="32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s flottantes</a:t>
            </a:r>
            <a:r>
              <a:rPr kumimoji="0" lang="fr-FR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.</a:t>
            </a:r>
            <a:endParaRPr kumimoji="0" lang="fr-FR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571500" algn="l"/>
              </a:tabLst>
            </a:pPr>
            <a:r>
              <a:rPr kumimoji="0" lang="fr-FR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 Le sang f</a:t>
            </a:r>
            <a:r>
              <a:rPr kumimoji="0" lang="fr-FR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/>
                <a:ea typeface="Times New Roman" pitchFamily="18" charset="0"/>
                <a:cs typeface="Calibri" pitchFamily="34" charset="0"/>
              </a:rPr>
              <a:t>œ</a:t>
            </a:r>
            <a:r>
              <a:rPr kumimoji="0" lang="fr-FR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tal dans </a:t>
            </a:r>
            <a:r>
              <a:rPr kumimoji="0" lang="fr-FR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l'espace intra – villeux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571500" algn="l"/>
              </a:tabLst>
            </a:pPr>
            <a:r>
              <a:rPr kumimoji="0" lang="fr-FR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 Le sang maternel dans la </a:t>
            </a:r>
            <a:r>
              <a:rPr kumimoji="0" lang="fr-FR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chambre inter- villeuse</a:t>
            </a:r>
            <a:endParaRPr kumimoji="0" lang="fr-FR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Times New Roman" pitchFamily="18" charset="0"/>
              <a:cs typeface="Calibri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571500" algn="l"/>
              </a:tabLst>
            </a:pPr>
            <a:r>
              <a:rPr kumimoji="0" lang="fr-FR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L'ensemble des villosit</a:t>
            </a:r>
            <a:r>
              <a:rPr kumimoji="0" lang="fr-FR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/>
                <a:ea typeface="Times New Roman" pitchFamily="18" charset="0"/>
                <a:cs typeface="Calibri" pitchFamily="34" charset="0"/>
              </a:rPr>
              <a:t>é</a:t>
            </a:r>
            <a:r>
              <a:rPr kumimoji="0" lang="fr-FR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s = </a:t>
            </a:r>
            <a:r>
              <a:rPr kumimoji="0" lang="fr-FR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arbre </a:t>
            </a:r>
            <a:r>
              <a:rPr kumimoji="0" lang="fr-FR" sz="3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villositaire</a:t>
            </a:r>
            <a:endParaRPr kumimoji="0" lang="fr-FR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1500" algn="l"/>
              </a:tabLst>
            </a:pPr>
            <a:r>
              <a:rPr kumimoji="0" lang="fr-FR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/>
                <a:ea typeface="Times New Roman" pitchFamily="18" charset="0"/>
                <a:cs typeface="Calibri" pitchFamily="34" charset="0"/>
              </a:rPr>
              <a:t>• </a:t>
            </a:r>
            <a:r>
              <a:rPr kumimoji="0" lang="fr-FR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20 </a:t>
            </a:r>
            <a:r>
              <a:rPr kumimoji="0" lang="fr-FR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/>
                <a:ea typeface="Times New Roman" pitchFamily="18" charset="0"/>
                <a:cs typeface="Calibri" pitchFamily="34" charset="0"/>
              </a:rPr>
              <a:t>à</a:t>
            </a:r>
            <a:r>
              <a:rPr kumimoji="0" lang="fr-FR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 30 gros troncs </a:t>
            </a:r>
            <a:r>
              <a:rPr kumimoji="0" lang="fr-FR" sz="3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villositaires</a:t>
            </a:r>
            <a:r>
              <a:rPr kumimoji="0" lang="fr-FR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 = </a:t>
            </a:r>
            <a:r>
              <a:rPr kumimoji="0" lang="fr-FR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cotyl</a:t>
            </a:r>
            <a:r>
              <a:rPr kumimoji="0" lang="fr-FR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/>
                <a:ea typeface="Times New Roman" pitchFamily="18" charset="0"/>
                <a:cs typeface="Calibri" pitchFamily="34" charset="0"/>
              </a:rPr>
              <a:t>é</a:t>
            </a:r>
            <a:r>
              <a:rPr kumimoji="0" lang="fr-FR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dons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>
                <a:tab pos="571500" algn="l"/>
              </a:tabLst>
            </a:pPr>
            <a:r>
              <a:rPr lang="fr-FR" sz="3200" b="1" dirty="0" smtClean="0">
                <a:latin typeface="Calibri" pitchFamily="34" charset="0"/>
                <a:ea typeface="Times New Roman" pitchFamily="18" charset="0"/>
                <a:cs typeface="Calibri" pitchFamily="34" charset="0"/>
              </a:rPr>
              <a:t> </a:t>
            </a:r>
            <a:r>
              <a:rPr lang="fr-FR" sz="3200" dirty="0" smtClean="0">
                <a:latin typeface="Calibri" pitchFamily="34" charset="0"/>
                <a:ea typeface="Times New Roman" pitchFamily="18" charset="0"/>
                <a:cs typeface="Calibri" pitchFamily="34" charset="0"/>
              </a:rPr>
              <a:t>entre 2 troncs</a:t>
            </a:r>
            <a:r>
              <a:rPr kumimoji="0" lang="fr-FR" sz="3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 </a:t>
            </a:r>
            <a:r>
              <a:rPr kumimoji="0" lang="fr-FR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des </a:t>
            </a:r>
            <a:r>
              <a:rPr kumimoji="0" lang="fr-FR" sz="3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septa</a:t>
            </a:r>
            <a:r>
              <a:rPr kumimoji="0" lang="fr-FR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 inter-cotyl</a:t>
            </a:r>
            <a:r>
              <a:rPr kumimoji="0" lang="fr-FR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/>
                <a:ea typeface="Times New Roman" pitchFamily="18" charset="0"/>
                <a:cs typeface="Calibri" pitchFamily="34" charset="0"/>
              </a:rPr>
              <a:t>é</a:t>
            </a:r>
            <a:r>
              <a:rPr kumimoji="0" lang="fr-FR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donaires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571500" algn="l"/>
              </a:tabLst>
            </a:pPr>
            <a:r>
              <a:rPr lang="fr-FR" sz="3200" dirty="0">
                <a:latin typeface="Calibri" pitchFamily="34" charset="0"/>
                <a:ea typeface="Times New Roman" pitchFamily="18" charset="0"/>
                <a:cs typeface="Calibri" pitchFamily="34" charset="0"/>
              </a:rPr>
              <a:t> </a:t>
            </a:r>
            <a:r>
              <a:rPr lang="fr-FR" sz="3200" dirty="0" smtClean="0">
                <a:latin typeface="Calibri" pitchFamily="34" charset="0"/>
                <a:ea typeface="Times New Roman" pitchFamily="18" charset="0"/>
                <a:cs typeface="Calibri" pitchFamily="34" charset="0"/>
              </a:rPr>
              <a:t>                     </a:t>
            </a:r>
            <a:r>
              <a:rPr kumimoji="0" lang="fr-FR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= placenta </a:t>
            </a:r>
            <a:r>
              <a:rPr kumimoji="0" lang="fr-FR" sz="32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pseudo cotyl</a:t>
            </a:r>
            <a:r>
              <a:rPr kumimoji="0" lang="fr-FR" sz="32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Times New Roman"/>
                <a:ea typeface="Times New Roman" pitchFamily="18" charset="0"/>
                <a:cs typeface="Calibri" pitchFamily="34" charset="0"/>
              </a:rPr>
              <a:t>é</a:t>
            </a:r>
            <a:r>
              <a:rPr kumimoji="0" lang="fr-FR" sz="32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don</a:t>
            </a:r>
            <a:r>
              <a:rPr kumimoji="0" lang="fr-FR" sz="32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Times New Roman"/>
                <a:ea typeface="Times New Roman" pitchFamily="18" charset="0"/>
                <a:cs typeface="Calibri" pitchFamily="34" charset="0"/>
              </a:rPr>
              <a:t>é</a:t>
            </a:r>
            <a:r>
              <a:rPr kumimoji="0" lang="fr-FR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.</a:t>
            </a:r>
            <a:endParaRPr kumimoji="0" lang="fr-FR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188640"/>
            <a:ext cx="8298875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/>
              <a:t>                                   </a:t>
            </a:r>
            <a:r>
              <a:rPr lang="fr-FR" sz="3200" b="1" dirty="0" smtClean="0">
                <a:solidFill>
                  <a:srgbClr val="FF0000"/>
                </a:solidFill>
              </a:rPr>
              <a:t>Donc:</a:t>
            </a:r>
          </a:p>
          <a:p>
            <a:r>
              <a:rPr lang="fr-FR" sz="3200" b="1" dirty="0" smtClean="0"/>
              <a:t>le placenta: </a:t>
            </a:r>
          </a:p>
          <a:p>
            <a:endParaRPr lang="fr-FR" sz="3200" b="1" dirty="0" smtClean="0"/>
          </a:p>
          <a:p>
            <a:pPr>
              <a:buFont typeface="Wingdings" pitchFamily="2" charset="2"/>
              <a:buChar char="Ø"/>
            </a:pPr>
            <a:r>
              <a:rPr lang="fr-FR" sz="3200" b="1" dirty="0" smtClean="0"/>
              <a:t>  la plaque basale du coté maternel.</a:t>
            </a:r>
          </a:p>
          <a:p>
            <a:pPr>
              <a:buFont typeface="Wingdings" pitchFamily="2" charset="2"/>
              <a:buChar char="Ø"/>
            </a:pPr>
            <a:endParaRPr lang="fr-FR" sz="3200" b="1" dirty="0" smtClean="0"/>
          </a:p>
          <a:p>
            <a:pPr>
              <a:buFont typeface="Wingdings" pitchFamily="2" charset="2"/>
              <a:buChar char="Ø"/>
            </a:pPr>
            <a:r>
              <a:rPr lang="fr-FR" sz="3200" b="1" dirty="0" smtClean="0"/>
              <a:t>  la plaque choriale du coté fœtal.</a:t>
            </a:r>
          </a:p>
          <a:p>
            <a:pPr>
              <a:buFont typeface="Wingdings" pitchFamily="2" charset="2"/>
              <a:buChar char="Ø"/>
            </a:pPr>
            <a:endParaRPr lang="fr-FR" sz="3200" b="1" dirty="0" smtClean="0"/>
          </a:p>
          <a:p>
            <a:pPr>
              <a:buFont typeface="Wingdings" pitchFamily="2" charset="2"/>
              <a:buChar char="Ø"/>
            </a:pPr>
            <a:r>
              <a:rPr lang="fr-FR" sz="3200" b="1" dirty="0" smtClean="0"/>
              <a:t> entre les deux, la chambre </a:t>
            </a:r>
            <a:r>
              <a:rPr lang="fr-FR" sz="3200" b="1" dirty="0" err="1" smtClean="0"/>
              <a:t>intervilleuse</a:t>
            </a:r>
            <a:r>
              <a:rPr lang="fr-FR" sz="3200" b="1" dirty="0" smtClean="0"/>
              <a:t> et les</a:t>
            </a:r>
          </a:p>
          <a:p>
            <a:r>
              <a:rPr lang="fr-FR" sz="3200" b="1" dirty="0" smtClean="0"/>
              <a:t> villosités choriales.</a:t>
            </a:r>
            <a:endParaRPr lang="fr-FR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3429000"/>
            <a:ext cx="9144000" cy="44644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Image 2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4788024" cy="36724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3968" y="2708920"/>
            <a:ext cx="4454252" cy="259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ZoneTexte 2"/>
          <p:cNvSpPr txBox="1"/>
          <p:nvPr/>
        </p:nvSpPr>
        <p:spPr>
          <a:xfrm>
            <a:off x="1" y="1628800"/>
            <a:ext cx="428396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smtClean="0"/>
              <a:t>La plaque basale : </a:t>
            </a:r>
          </a:p>
          <a:p>
            <a:pPr>
              <a:buFont typeface="Wingdings" pitchFamily="2" charset="2"/>
              <a:buChar char="Ø"/>
            </a:pPr>
            <a:r>
              <a:rPr lang="fr-FR" sz="2400" dirty="0" smtClean="0"/>
              <a:t> Partie externe du placenta </a:t>
            </a:r>
          </a:p>
          <a:p>
            <a:pPr>
              <a:buFont typeface="Wingdings" pitchFamily="2" charset="2"/>
              <a:buChar char="Ø"/>
            </a:pPr>
            <a:r>
              <a:rPr lang="fr-FR" sz="2400" dirty="0" smtClean="0"/>
              <a:t> Au contact de la paroi utérine (8) </a:t>
            </a:r>
          </a:p>
          <a:p>
            <a:pPr>
              <a:buFont typeface="Wingdings" pitchFamily="2" charset="2"/>
              <a:buChar char="Ø"/>
            </a:pPr>
            <a:r>
              <a:rPr lang="fr-FR" sz="2400" dirty="0" smtClean="0"/>
              <a:t> formée par : </a:t>
            </a:r>
          </a:p>
          <a:p>
            <a:r>
              <a:rPr lang="fr-FR" sz="2400" dirty="0" smtClean="0"/>
              <a:t> Tissus embryonnaires : </a:t>
            </a:r>
          </a:p>
          <a:p>
            <a:r>
              <a:rPr lang="fr-FR" sz="2400" b="1" dirty="0" err="1" smtClean="0"/>
              <a:t>Cyto</a:t>
            </a:r>
            <a:r>
              <a:rPr lang="fr-FR" sz="2400" b="1" dirty="0" smtClean="0"/>
              <a:t> + </a:t>
            </a:r>
            <a:r>
              <a:rPr lang="fr-FR" sz="2400" b="1" dirty="0" err="1" smtClean="0"/>
              <a:t>syncitio</a:t>
            </a:r>
            <a:r>
              <a:rPr lang="fr-FR" sz="2400" b="1" dirty="0" smtClean="0"/>
              <a:t> </a:t>
            </a:r>
          </a:p>
          <a:p>
            <a:pPr>
              <a:buFont typeface="Wingdings" pitchFamily="2" charset="2"/>
              <a:buChar char="§"/>
            </a:pPr>
            <a:r>
              <a:rPr lang="fr-FR" sz="2400" dirty="0" smtClean="0"/>
              <a:t> Des tissus maternels : </a:t>
            </a:r>
          </a:p>
          <a:p>
            <a:r>
              <a:rPr lang="fr-FR" sz="2400" b="1" dirty="0" smtClean="0"/>
              <a:t>caduque basilaire (7) </a:t>
            </a:r>
          </a:p>
          <a:p>
            <a:endParaRPr lang="fr-FR" sz="2400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5157192"/>
            <a:ext cx="8676456" cy="14904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Image 4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995936" y="0"/>
            <a:ext cx="4788024" cy="29969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11129522" cy="79714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/>
              <a:t> </a:t>
            </a:r>
            <a:r>
              <a:rPr lang="fr-FR" sz="2800" b="1" dirty="0" smtClean="0">
                <a:solidFill>
                  <a:srgbClr val="FF0000"/>
                </a:solidFill>
              </a:rPr>
              <a:t>ORGANISATION</a:t>
            </a:r>
            <a:endParaRPr lang="fr-FR" sz="2800" dirty="0" smtClean="0">
              <a:solidFill>
                <a:srgbClr val="FF0000"/>
              </a:solidFill>
            </a:endParaRPr>
          </a:p>
          <a:p>
            <a:r>
              <a:rPr lang="fr-FR" sz="3200" dirty="0" smtClean="0"/>
              <a:t>a- </a:t>
            </a:r>
            <a:r>
              <a:rPr lang="fr-FR" sz="3200" dirty="0" smtClean="0">
                <a:solidFill>
                  <a:srgbClr val="00B050"/>
                </a:solidFill>
              </a:rPr>
              <a:t>C</a:t>
            </a:r>
            <a:r>
              <a:rPr lang="fr-FR" sz="3200" b="1" dirty="0" smtClean="0">
                <a:solidFill>
                  <a:srgbClr val="00B050"/>
                </a:solidFill>
              </a:rPr>
              <a:t>horion </a:t>
            </a:r>
            <a:r>
              <a:rPr lang="fr-FR" sz="3200" b="1" dirty="0" err="1" smtClean="0">
                <a:solidFill>
                  <a:srgbClr val="00B050"/>
                </a:solidFill>
              </a:rPr>
              <a:t>avilleux</a:t>
            </a:r>
            <a:r>
              <a:rPr lang="fr-FR" sz="3200" b="1" dirty="0" smtClean="0"/>
              <a:t>: </a:t>
            </a:r>
            <a:r>
              <a:rPr lang="fr-FR" sz="3200" dirty="0" smtClean="0"/>
              <a:t>le </a:t>
            </a:r>
            <a:r>
              <a:rPr lang="fr-FR" sz="3200" dirty="0" err="1" smtClean="0"/>
              <a:t>syncitiotrophoblaste</a:t>
            </a:r>
            <a:r>
              <a:rPr lang="fr-FR" sz="3200" dirty="0" smtClean="0"/>
              <a:t> est</a:t>
            </a:r>
          </a:p>
          <a:p>
            <a:r>
              <a:rPr lang="fr-FR" sz="3200" dirty="0" smtClean="0"/>
              <a:t> localisé à l'un des pôles  de</a:t>
            </a:r>
            <a:r>
              <a:rPr lang="fr-FR" sz="3200" b="1" dirty="0" smtClean="0"/>
              <a:t> l</a:t>
            </a:r>
            <a:r>
              <a:rPr lang="fr-FR" sz="3200" dirty="0" smtClean="0"/>
              <a:t>'œuf.</a:t>
            </a:r>
          </a:p>
          <a:p>
            <a:r>
              <a:rPr lang="fr-FR" sz="3200" dirty="0" smtClean="0"/>
              <a:t> </a:t>
            </a:r>
          </a:p>
          <a:p>
            <a:r>
              <a:rPr lang="fr-FR" sz="3200" dirty="0" smtClean="0"/>
              <a:t>b- </a:t>
            </a:r>
            <a:r>
              <a:rPr lang="fr-FR" sz="3200" dirty="0" smtClean="0">
                <a:solidFill>
                  <a:srgbClr val="00B050"/>
                </a:solidFill>
              </a:rPr>
              <a:t>C</a:t>
            </a:r>
            <a:r>
              <a:rPr lang="fr-FR" sz="3200" b="1" dirty="0" smtClean="0">
                <a:solidFill>
                  <a:srgbClr val="00B050"/>
                </a:solidFill>
              </a:rPr>
              <a:t>horion </a:t>
            </a:r>
            <a:r>
              <a:rPr lang="fr-FR" sz="3200" b="1" dirty="0" err="1" smtClean="0">
                <a:solidFill>
                  <a:srgbClr val="00B050"/>
                </a:solidFill>
              </a:rPr>
              <a:t>avilleux</a:t>
            </a:r>
            <a:r>
              <a:rPr lang="fr-FR" sz="3200" b="1" dirty="0" smtClean="0">
                <a:solidFill>
                  <a:srgbClr val="00B050"/>
                </a:solidFill>
              </a:rPr>
              <a:t>, fruste lacunaire</a:t>
            </a:r>
            <a:r>
              <a:rPr lang="fr-FR" sz="3200" b="1" dirty="0" smtClean="0"/>
              <a:t>: </a:t>
            </a:r>
            <a:r>
              <a:rPr lang="fr-FR" sz="3200" dirty="0" smtClean="0"/>
              <a:t>le </a:t>
            </a:r>
            <a:r>
              <a:rPr lang="fr-FR" sz="3200" dirty="0" err="1" smtClean="0"/>
              <a:t>syncitiotropho</a:t>
            </a:r>
            <a:endParaRPr lang="fr-FR" sz="3200" dirty="0" smtClean="0"/>
          </a:p>
          <a:p>
            <a:r>
              <a:rPr lang="fr-FR" sz="3200" dirty="0" smtClean="0"/>
              <a:t>blaste recouvre toute la surface de l'œuf. </a:t>
            </a:r>
          </a:p>
          <a:p>
            <a:endParaRPr lang="fr-FR" sz="3200" dirty="0" smtClean="0"/>
          </a:p>
          <a:p>
            <a:r>
              <a:rPr lang="fr-FR" sz="3200" dirty="0" smtClean="0"/>
              <a:t>c- </a:t>
            </a:r>
            <a:r>
              <a:rPr lang="fr-FR" sz="3200" dirty="0" smtClean="0">
                <a:solidFill>
                  <a:srgbClr val="00B050"/>
                </a:solidFill>
              </a:rPr>
              <a:t>C</a:t>
            </a:r>
            <a:r>
              <a:rPr lang="fr-FR" sz="3200" b="1" dirty="0" smtClean="0">
                <a:solidFill>
                  <a:srgbClr val="00B050"/>
                </a:solidFill>
              </a:rPr>
              <a:t>horion </a:t>
            </a:r>
            <a:r>
              <a:rPr lang="fr-FR" sz="3200" b="1" dirty="0" err="1" smtClean="0">
                <a:solidFill>
                  <a:srgbClr val="00B050"/>
                </a:solidFill>
              </a:rPr>
              <a:t>trabéculaire</a:t>
            </a:r>
            <a:r>
              <a:rPr lang="fr-FR" sz="3200" b="1" dirty="0" smtClean="0"/>
              <a:t>: </a:t>
            </a:r>
            <a:r>
              <a:rPr lang="fr-FR" sz="3200" dirty="0" smtClean="0"/>
              <a:t>villosités </a:t>
            </a:r>
            <a:r>
              <a:rPr lang="fr-FR" sz="3200" dirty="0" err="1" smtClean="0"/>
              <a:t>I</a:t>
            </a:r>
            <a:r>
              <a:rPr lang="fr-FR" sz="3200" baseline="30000" dirty="0" err="1" smtClean="0"/>
              <a:t>aires</a:t>
            </a:r>
            <a:r>
              <a:rPr lang="fr-FR" sz="3200" baseline="30000" dirty="0" smtClean="0"/>
              <a:t>.</a:t>
            </a:r>
            <a:endParaRPr lang="fr-FR" sz="3200" dirty="0" smtClean="0"/>
          </a:p>
          <a:p>
            <a:r>
              <a:rPr lang="fr-FR" sz="3200" dirty="0" smtClean="0"/>
              <a:t>d-</a:t>
            </a:r>
            <a:r>
              <a:rPr lang="fr-FR" sz="3200" b="1" dirty="0" smtClean="0"/>
              <a:t> </a:t>
            </a:r>
            <a:r>
              <a:rPr lang="fr-FR" sz="3200" b="1" dirty="0" smtClean="0">
                <a:solidFill>
                  <a:srgbClr val="00B050"/>
                </a:solidFill>
              </a:rPr>
              <a:t>Chorion villeux diffus </a:t>
            </a:r>
            <a:r>
              <a:rPr lang="fr-FR" sz="3200" b="1" dirty="0" smtClean="0"/>
              <a:t>:</a:t>
            </a:r>
            <a:r>
              <a:rPr lang="fr-FR" sz="3200" dirty="0" smtClean="0"/>
              <a:t>villosités </a:t>
            </a:r>
            <a:r>
              <a:rPr lang="fr-FR" sz="3200" dirty="0" err="1" smtClean="0"/>
              <a:t>II</a:t>
            </a:r>
            <a:r>
              <a:rPr lang="fr-FR" sz="3200" baseline="30000" dirty="0" err="1" smtClean="0"/>
              <a:t>aires</a:t>
            </a:r>
            <a:r>
              <a:rPr lang="fr-FR" sz="3200" dirty="0" smtClean="0"/>
              <a:t> et </a:t>
            </a:r>
            <a:r>
              <a:rPr lang="fr-FR" sz="3200" dirty="0" err="1" smtClean="0"/>
              <a:t>III</a:t>
            </a:r>
            <a:r>
              <a:rPr lang="fr-FR" sz="3200" baseline="30000" dirty="0" err="1" smtClean="0"/>
              <a:t>aires</a:t>
            </a:r>
            <a:r>
              <a:rPr lang="fr-FR" sz="3200" baseline="30000" dirty="0" smtClean="0"/>
              <a:t>.</a:t>
            </a:r>
            <a:endParaRPr lang="fr-FR" sz="3200" b="1" dirty="0" smtClean="0"/>
          </a:p>
          <a:p>
            <a:r>
              <a:rPr lang="fr-FR" sz="3200" b="1" dirty="0" smtClean="0"/>
              <a:t>                                                                         </a:t>
            </a:r>
            <a:endParaRPr lang="fr-FR" sz="3200" dirty="0" smtClean="0"/>
          </a:p>
          <a:p>
            <a:r>
              <a:rPr lang="fr-FR" sz="3200" dirty="0" smtClean="0"/>
              <a:t>e- </a:t>
            </a:r>
            <a:r>
              <a:rPr lang="fr-FR" sz="3200" dirty="0" smtClean="0">
                <a:solidFill>
                  <a:srgbClr val="00B050"/>
                </a:solidFill>
              </a:rPr>
              <a:t>C</a:t>
            </a:r>
            <a:r>
              <a:rPr lang="fr-FR" sz="3200" b="1" dirty="0" smtClean="0">
                <a:solidFill>
                  <a:srgbClr val="00B050"/>
                </a:solidFill>
              </a:rPr>
              <a:t>horion diffus et chorion touffu</a:t>
            </a:r>
            <a:r>
              <a:rPr lang="fr-FR" sz="3200" b="1" dirty="0" smtClean="0"/>
              <a:t>:                                                      </a:t>
            </a:r>
            <a:endParaRPr lang="fr-FR" sz="3200" dirty="0" smtClean="0"/>
          </a:p>
          <a:p>
            <a:r>
              <a:rPr lang="fr-FR" sz="3200" dirty="0" smtClean="0"/>
              <a:t>répartition inégale des villosités </a:t>
            </a:r>
            <a:r>
              <a:rPr lang="fr-FR" sz="3200" dirty="0" err="1" smtClean="0"/>
              <a:t>III</a:t>
            </a:r>
            <a:r>
              <a:rPr lang="fr-FR" sz="3200" baseline="30000" dirty="0" err="1" smtClean="0"/>
              <a:t>aires</a:t>
            </a:r>
            <a:r>
              <a:rPr lang="fr-FR" sz="3200" baseline="30000" dirty="0" smtClean="0"/>
              <a:t>.</a:t>
            </a:r>
          </a:p>
          <a:p>
            <a:r>
              <a:rPr lang="fr-FR" sz="3200" dirty="0" smtClean="0"/>
              <a:t>f- </a:t>
            </a:r>
            <a:r>
              <a:rPr lang="fr-FR" sz="3200" b="1" dirty="0" smtClean="0">
                <a:solidFill>
                  <a:srgbClr val="00B050"/>
                </a:solidFill>
              </a:rPr>
              <a:t>Placenta et chorion lisse</a:t>
            </a:r>
            <a:r>
              <a:rPr lang="fr-FR" sz="3200" b="1" dirty="0" smtClean="0"/>
              <a:t>: </a:t>
            </a:r>
            <a:r>
              <a:rPr lang="fr-FR" sz="3200" dirty="0" smtClean="0"/>
              <a:t>regroupement des</a:t>
            </a:r>
          </a:p>
          <a:p>
            <a:r>
              <a:rPr lang="fr-FR" sz="3200" dirty="0" smtClean="0"/>
              <a:t> villosités sur un coté.</a:t>
            </a:r>
            <a:r>
              <a:rPr lang="fr-FR" sz="3200" b="1" dirty="0" smtClean="0"/>
              <a:t> </a:t>
            </a:r>
          </a:p>
          <a:p>
            <a:r>
              <a:rPr lang="fr-FR" sz="3200" b="1" dirty="0" smtClean="0"/>
              <a:t>                    </a:t>
            </a:r>
            <a:endParaRPr lang="fr-FR" sz="3200" dirty="0" smtClean="0"/>
          </a:p>
          <a:p>
            <a:endParaRPr lang="fr-FR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https://encrypted-tbn0.gstatic.com/images?q=tbn:ANd9GcTizIzoTC3umQ4T0htJOFcp_A0Pp7C9LKqO1qJOwm_k2XQL43axl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669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72454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234003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 smtClean="0"/>
              <a:t> </a:t>
            </a:r>
            <a:r>
              <a:rPr lang="fr-FR" sz="3600" b="1" dirty="0" smtClean="0"/>
              <a:t>FONCTIONS</a:t>
            </a:r>
            <a:endParaRPr lang="fr-FR" sz="3600" dirty="0" smtClean="0"/>
          </a:p>
          <a:p>
            <a:r>
              <a:rPr lang="fr-FR" sz="3600" b="1" dirty="0" smtClean="0"/>
              <a:t>Filtre sélectif </a:t>
            </a:r>
            <a:r>
              <a:rPr lang="fr-FR" sz="3600" dirty="0" smtClean="0"/>
              <a:t>:</a:t>
            </a:r>
          </a:p>
          <a:p>
            <a:r>
              <a:rPr lang="fr-FR" sz="3600" dirty="0" smtClean="0"/>
              <a:t>- Sélectionne les molécules selon:</a:t>
            </a:r>
          </a:p>
          <a:p>
            <a:r>
              <a:rPr lang="fr-FR" sz="3600" dirty="0" smtClean="0"/>
              <a:t>- leurs tailles</a:t>
            </a:r>
          </a:p>
          <a:p>
            <a:r>
              <a:rPr lang="fr-FR" sz="3600" dirty="0" smtClean="0"/>
              <a:t>- leurs charges électriques</a:t>
            </a:r>
          </a:p>
          <a:p>
            <a:r>
              <a:rPr lang="fr-FR" sz="3600" dirty="0" smtClean="0"/>
              <a:t>- leurs configurations spatiales.</a:t>
            </a:r>
          </a:p>
          <a:p>
            <a:pPr>
              <a:buFontTx/>
              <a:buChar char="-"/>
            </a:pPr>
            <a:r>
              <a:rPr lang="fr-FR" sz="3600" dirty="0" smtClean="0"/>
              <a:t>Ce filtre est imparfait: bactéries, virus, parasites</a:t>
            </a:r>
          </a:p>
          <a:p>
            <a:pPr>
              <a:buFontTx/>
              <a:buChar char="-"/>
            </a:pPr>
            <a:r>
              <a:rPr lang="fr-FR" sz="3600" dirty="0" smtClean="0"/>
              <a:t>cellules fœtales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3600" b="1" dirty="0" smtClean="0"/>
              <a:t>Propriétés d'échanges :</a:t>
            </a:r>
            <a:endParaRPr lang="fr-FR" sz="3600" dirty="0" smtClean="0"/>
          </a:p>
          <a:p>
            <a:r>
              <a:rPr lang="fr-FR" sz="3600" dirty="0" smtClean="0"/>
              <a:t>Le placenta extrait du sang transforme distribue et peut stocker les matériaux utiles au fœtus, </a:t>
            </a:r>
            <a:endParaRPr lang="fr-FR" sz="3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174115" cy="55092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/>
              <a:t> Fonction endocrine</a:t>
            </a:r>
            <a:endParaRPr lang="fr-FR" sz="3200" dirty="0" smtClean="0"/>
          </a:p>
          <a:p>
            <a:pPr>
              <a:buFont typeface="Wingdings" pitchFamily="2" charset="2"/>
              <a:buChar char="Ø"/>
            </a:pPr>
            <a:r>
              <a:rPr lang="fr-FR" sz="3200" b="1" dirty="0" smtClean="0"/>
              <a:t>Le placenta </a:t>
            </a:r>
            <a:r>
              <a:rPr lang="fr-FR" sz="3200" dirty="0" smtClean="0"/>
              <a:t>est une volumineuse glande endocrine. </a:t>
            </a:r>
          </a:p>
          <a:p>
            <a:pPr>
              <a:buFont typeface="Wingdings" pitchFamily="2" charset="2"/>
              <a:buChar char="Ø"/>
            </a:pPr>
            <a:r>
              <a:rPr lang="fr-FR" sz="3200" b="1" dirty="0" smtClean="0">
                <a:solidFill>
                  <a:srgbClr val="FF0000"/>
                </a:solidFill>
              </a:rPr>
              <a:t>Les hormones </a:t>
            </a:r>
            <a:r>
              <a:rPr lang="fr-FR" sz="3200" dirty="0" smtClean="0"/>
              <a:t>sont nécessaires:</a:t>
            </a:r>
          </a:p>
          <a:p>
            <a:pPr>
              <a:buFont typeface="Wingdings" pitchFamily="2" charset="2"/>
              <a:buChar char="§"/>
            </a:pPr>
            <a:r>
              <a:rPr lang="fr-FR" sz="3200" dirty="0" smtClean="0"/>
              <a:t> maintien de la grossesse </a:t>
            </a:r>
          </a:p>
          <a:p>
            <a:pPr>
              <a:buFont typeface="Wingdings" pitchFamily="2" charset="2"/>
              <a:buChar char="§"/>
            </a:pPr>
            <a:r>
              <a:rPr lang="fr-FR" sz="3200" dirty="0" smtClean="0"/>
              <a:t> croissance du fœtus </a:t>
            </a:r>
          </a:p>
          <a:p>
            <a:pPr>
              <a:buFont typeface="Wingdings" pitchFamily="2" charset="2"/>
              <a:buChar char="§"/>
            </a:pPr>
            <a:r>
              <a:rPr lang="fr-FR" sz="3200" dirty="0" smtClean="0"/>
              <a:t> lactation.</a:t>
            </a:r>
          </a:p>
          <a:p>
            <a:pPr lvl="0"/>
            <a:r>
              <a:rPr lang="fr-FR" sz="3200" b="1" dirty="0" smtClean="0">
                <a:solidFill>
                  <a:srgbClr val="00B0F0"/>
                </a:solidFill>
              </a:rPr>
              <a:t>Progestérone </a:t>
            </a:r>
            <a:r>
              <a:rPr lang="fr-FR" sz="3200" dirty="0" smtClean="0"/>
              <a:t>: </a:t>
            </a:r>
          </a:p>
          <a:p>
            <a:pPr lvl="0">
              <a:buFont typeface="Wingdings" pitchFamily="2" charset="2"/>
              <a:buChar char="§"/>
            </a:pPr>
            <a:r>
              <a:rPr lang="fr-FR" sz="3200" dirty="0" smtClean="0"/>
              <a:t>Maintien au repos du </a:t>
            </a:r>
            <a:r>
              <a:rPr lang="fr-FR" sz="3200" dirty="0" err="1" smtClean="0"/>
              <a:t>myomètre</a:t>
            </a:r>
            <a:r>
              <a:rPr lang="fr-FR" sz="3200" dirty="0" smtClean="0"/>
              <a:t> </a:t>
            </a:r>
          </a:p>
          <a:p>
            <a:pPr lvl="0"/>
            <a:r>
              <a:rPr lang="fr-FR" sz="3200" b="1" dirty="0" smtClean="0">
                <a:solidFill>
                  <a:srgbClr val="00B0F0"/>
                </a:solidFill>
              </a:rPr>
              <a:t>Œstrogènes </a:t>
            </a:r>
            <a:r>
              <a:rPr lang="fr-FR" sz="3200" dirty="0" smtClean="0"/>
              <a:t>: </a:t>
            </a:r>
          </a:p>
          <a:p>
            <a:pPr lvl="0">
              <a:buFont typeface="Wingdings" pitchFamily="2" charset="2"/>
              <a:buChar char="§"/>
            </a:pPr>
            <a:r>
              <a:rPr lang="fr-FR" sz="3200" dirty="0" smtClean="0"/>
              <a:t>développement de la glande mammaire</a:t>
            </a:r>
          </a:p>
          <a:p>
            <a:endParaRPr lang="fr-FR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012660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fr-FR" sz="3600" b="1" dirty="0" smtClean="0">
                <a:solidFill>
                  <a:srgbClr val="00B0F0"/>
                </a:solidFill>
              </a:rPr>
              <a:t>Hormone chorionique </a:t>
            </a:r>
            <a:r>
              <a:rPr lang="fr-FR" sz="3600" b="1" dirty="0" err="1" smtClean="0">
                <a:solidFill>
                  <a:srgbClr val="00B0F0"/>
                </a:solidFill>
              </a:rPr>
              <a:t>gonadotrophique</a:t>
            </a:r>
            <a:r>
              <a:rPr lang="fr-FR" sz="3600" b="1" dirty="0" smtClean="0">
                <a:solidFill>
                  <a:srgbClr val="00B0F0"/>
                </a:solidFill>
              </a:rPr>
              <a:t> </a:t>
            </a:r>
            <a:r>
              <a:rPr lang="fr-FR" sz="3600" dirty="0" smtClean="0"/>
              <a:t>(</a:t>
            </a:r>
            <a:r>
              <a:rPr lang="fr-FR" sz="3600" dirty="0" err="1" smtClean="0"/>
              <a:t>hCG</a:t>
            </a:r>
            <a:r>
              <a:rPr lang="fr-FR" sz="3600" dirty="0" smtClean="0"/>
              <a:t>)</a:t>
            </a:r>
          </a:p>
          <a:p>
            <a:pPr lvl="0">
              <a:buFont typeface="Wingdings" pitchFamily="2" charset="2"/>
              <a:buChar char="§"/>
            </a:pPr>
            <a:r>
              <a:rPr lang="fr-FR" sz="3600" dirty="0" smtClean="0"/>
              <a:t>transformer le CJ cyclique  en CJ gravidique </a:t>
            </a:r>
          </a:p>
          <a:p>
            <a:pPr lvl="0">
              <a:buFont typeface="Wingdings" pitchFamily="2" charset="2"/>
              <a:buChar char="§"/>
            </a:pPr>
            <a:r>
              <a:rPr lang="fr-FR" sz="3600" dirty="0" smtClean="0"/>
              <a:t>stimuler la synthèse de progestérone.</a:t>
            </a:r>
          </a:p>
          <a:p>
            <a:pPr lvl="0"/>
            <a:r>
              <a:rPr lang="fr-FR" sz="3600" b="1" dirty="0" smtClean="0">
                <a:solidFill>
                  <a:srgbClr val="00B0F0"/>
                </a:solidFill>
              </a:rPr>
              <a:t>Hormone lactogène placentaire (</a:t>
            </a:r>
            <a:r>
              <a:rPr lang="fr-FR" sz="3600" b="1" dirty="0" err="1" smtClean="0">
                <a:solidFill>
                  <a:srgbClr val="00B0F0"/>
                </a:solidFill>
              </a:rPr>
              <a:t>hPL</a:t>
            </a:r>
            <a:r>
              <a:rPr lang="fr-FR" sz="3600" b="1" dirty="0" smtClean="0">
                <a:solidFill>
                  <a:srgbClr val="00B0F0"/>
                </a:solidFill>
              </a:rPr>
              <a:t>)</a:t>
            </a:r>
          </a:p>
          <a:p>
            <a:pPr lvl="0">
              <a:buFont typeface="Wingdings" pitchFamily="2" charset="2"/>
              <a:buChar char="§"/>
            </a:pPr>
            <a:r>
              <a:rPr lang="fr-FR" sz="3600" dirty="0" smtClean="0"/>
              <a:t>préparer la glande mammaire à la lactation</a:t>
            </a:r>
          </a:p>
          <a:p>
            <a:pPr lvl="0">
              <a:buFont typeface="Wingdings" pitchFamily="2" charset="2"/>
              <a:buChar char="§"/>
            </a:pPr>
            <a:r>
              <a:rPr lang="fr-FR" sz="3600" dirty="0" smtClean="0"/>
              <a:t>agit aussi sur la croissance fœtale.</a:t>
            </a:r>
          </a:p>
          <a:p>
            <a:endParaRPr lang="fr-FR" sz="36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468560" y="0"/>
            <a:ext cx="9001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ZoneTexte 2"/>
          <p:cNvSpPr txBox="1"/>
          <p:nvPr/>
        </p:nvSpPr>
        <p:spPr>
          <a:xfrm>
            <a:off x="1187624" y="404664"/>
            <a:ext cx="3312368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p:sp>
        <p:nvSpPr>
          <p:cNvPr id="4" name="ZoneTexte 3"/>
          <p:cNvSpPr txBox="1"/>
          <p:nvPr/>
        </p:nvSpPr>
        <p:spPr>
          <a:xfrm>
            <a:off x="539552" y="0"/>
            <a:ext cx="25356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>
                <a:solidFill>
                  <a:srgbClr val="FF0000"/>
                </a:solidFill>
              </a:rPr>
              <a:t>PATHOLOGIES</a:t>
            </a:r>
            <a:endParaRPr lang="fr-FR" sz="32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628800"/>
            <a:ext cx="9143999" cy="52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ZoneTexte 2"/>
          <p:cNvSpPr txBox="1"/>
          <p:nvPr/>
        </p:nvSpPr>
        <p:spPr>
          <a:xfrm>
            <a:off x="0" y="764704"/>
            <a:ext cx="25317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 smtClean="0">
                <a:solidFill>
                  <a:srgbClr val="00B050"/>
                </a:solidFill>
              </a:rPr>
              <a:t>1. Placenta prævia</a:t>
            </a:r>
            <a:endParaRPr lang="fr-FR" sz="2400" b="1" dirty="0">
              <a:solidFill>
                <a:srgbClr val="00B05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124744"/>
            <a:ext cx="9144000" cy="70567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ZoneTexte 2"/>
          <p:cNvSpPr txBox="1"/>
          <p:nvPr/>
        </p:nvSpPr>
        <p:spPr>
          <a:xfrm>
            <a:off x="0" y="908720"/>
            <a:ext cx="41467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 smtClean="0">
                <a:solidFill>
                  <a:srgbClr val="00B050"/>
                </a:solidFill>
              </a:rPr>
              <a:t>2. Hématome rétro-placentaire</a:t>
            </a:r>
            <a:endParaRPr lang="fr-FR" sz="2400" b="1" dirty="0">
              <a:solidFill>
                <a:srgbClr val="00B05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39552" y="2060848"/>
            <a:ext cx="3528392" cy="50405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56769" y="1268760"/>
            <a:ext cx="9087231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smtClean="0"/>
              <a:t>Le </a:t>
            </a:r>
            <a:r>
              <a:rPr lang="fr-FR" sz="2800" b="1" dirty="0" smtClean="0"/>
              <a:t>placenta </a:t>
            </a:r>
            <a:r>
              <a:rPr lang="fr-FR" sz="2800" b="1" dirty="0" err="1" smtClean="0"/>
              <a:t>accreta</a:t>
            </a:r>
            <a:r>
              <a:rPr lang="fr-FR" sz="2800" dirty="0" smtClean="0"/>
              <a:t> est une insertion</a:t>
            </a:r>
          </a:p>
          <a:p>
            <a:r>
              <a:rPr lang="fr-FR" sz="2800" dirty="0" smtClean="0"/>
              <a:t> du </a:t>
            </a:r>
            <a:r>
              <a:rPr lang="fr-FR" sz="2800" dirty="0" smtClean="0">
                <a:hlinkClick r:id="rId2" tooltip="Placenta"/>
              </a:rPr>
              <a:t>placenta</a:t>
            </a:r>
            <a:r>
              <a:rPr lang="fr-FR" sz="2800" dirty="0" smtClean="0"/>
              <a:t> dans le  </a:t>
            </a:r>
            <a:r>
              <a:rPr lang="fr-FR" sz="2800" dirty="0" err="1" smtClean="0">
                <a:hlinkClick r:id="rId3" tooltip="Myomètre"/>
              </a:rPr>
              <a:t>myomètre</a:t>
            </a:r>
            <a:r>
              <a:rPr lang="fr-FR" sz="2800" dirty="0" smtClean="0"/>
              <a:t>. </a:t>
            </a:r>
          </a:p>
          <a:p>
            <a:r>
              <a:rPr lang="fr-FR" sz="2800" dirty="0" smtClean="0"/>
              <a:t>On en distingue trois types selon</a:t>
            </a:r>
          </a:p>
          <a:p>
            <a:r>
              <a:rPr lang="fr-FR" sz="2800" dirty="0" smtClean="0"/>
              <a:t> la profondeur d'insertion</a:t>
            </a:r>
          </a:p>
          <a:p>
            <a:r>
              <a:rPr lang="fr-FR" sz="2800" dirty="0" smtClean="0"/>
              <a:t> des villosités dans le </a:t>
            </a:r>
            <a:r>
              <a:rPr lang="fr-FR" sz="2800" dirty="0" err="1" smtClean="0"/>
              <a:t>myomètre</a:t>
            </a:r>
            <a:r>
              <a:rPr lang="fr-FR" sz="2800" dirty="0" smtClean="0"/>
              <a:t>: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le </a:t>
            </a:r>
            <a:r>
              <a:rPr lang="fr-FR" sz="2800" i="1" dirty="0" smtClean="0"/>
              <a:t>placenta </a:t>
            </a:r>
            <a:r>
              <a:rPr lang="fr-FR" sz="2800" b="1" i="1" dirty="0" err="1" smtClean="0"/>
              <a:t>accreta</a:t>
            </a:r>
            <a:r>
              <a:rPr lang="fr-FR" sz="2800" b="1" dirty="0" smtClean="0"/>
              <a:t> </a:t>
            </a:r>
            <a:r>
              <a:rPr lang="fr-FR" sz="2800" dirty="0" smtClean="0"/>
              <a:t>proprement dit :</a:t>
            </a:r>
          </a:p>
          <a:p>
            <a:r>
              <a:rPr lang="fr-FR" sz="2800" dirty="0" smtClean="0"/>
              <a:t> les villosités sont en  contact du </a:t>
            </a:r>
            <a:r>
              <a:rPr lang="fr-FR" sz="2800" dirty="0" err="1" smtClean="0"/>
              <a:t>myomètre</a:t>
            </a:r>
            <a:r>
              <a:rPr lang="fr-FR" sz="2800" dirty="0" smtClean="0"/>
              <a:t>.</a:t>
            </a:r>
          </a:p>
          <a:p>
            <a:endParaRPr lang="fr-FR" sz="2800" dirty="0" smtClean="0"/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le </a:t>
            </a:r>
            <a:r>
              <a:rPr lang="fr-FR" sz="2800" i="1" dirty="0" smtClean="0"/>
              <a:t>placenta </a:t>
            </a:r>
            <a:r>
              <a:rPr lang="fr-FR" sz="2800" b="1" i="1" dirty="0" err="1" smtClean="0"/>
              <a:t>increta</a:t>
            </a:r>
            <a:r>
              <a:rPr lang="fr-FR" sz="2800" dirty="0" smtClean="0"/>
              <a:t> : les villosités envahissent le </a:t>
            </a:r>
            <a:r>
              <a:rPr lang="fr-FR" sz="2800" dirty="0" err="1" smtClean="0"/>
              <a:t>myomètre</a:t>
            </a:r>
            <a:r>
              <a:rPr lang="fr-FR" sz="2800" dirty="0" smtClean="0"/>
              <a:t>.</a:t>
            </a:r>
          </a:p>
          <a:p>
            <a:pPr>
              <a:buFont typeface="Wingdings" pitchFamily="2" charset="2"/>
              <a:buChar char="Ø"/>
            </a:pPr>
            <a:endParaRPr lang="fr-FR" sz="2800" dirty="0" smtClean="0"/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le </a:t>
            </a:r>
            <a:r>
              <a:rPr lang="fr-FR" sz="2800" i="1" dirty="0" smtClean="0"/>
              <a:t>placenta </a:t>
            </a:r>
            <a:r>
              <a:rPr lang="fr-FR" sz="2800" b="1" i="1" dirty="0" err="1" smtClean="0"/>
              <a:t>percreta</a:t>
            </a:r>
            <a:r>
              <a:rPr lang="fr-FR" sz="2800" b="1" dirty="0" smtClean="0"/>
              <a:t> </a:t>
            </a:r>
            <a:r>
              <a:rPr lang="fr-FR" sz="2800" dirty="0" smtClean="0"/>
              <a:t>: les villosités dépassent le </a:t>
            </a:r>
            <a:r>
              <a:rPr lang="fr-FR" sz="2800" dirty="0" err="1" smtClean="0"/>
              <a:t>myomètre</a:t>
            </a:r>
            <a:r>
              <a:rPr lang="fr-FR" sz="2800" dirty="0" smtClean="0"/>
              <a:t>,</a:t>
            </a:r>
          </a:p>
          <a:p>
            <a:r>
              <a:rPr lang="fr-FR" sz="2800" dirty="0" smtClean="0"/>
              <a:t> envahissant parfois les organes voisins (vessie).</a:t>
            </a:r>
            <a:endParaRPr lang="fr-FR" sz="2800" dirty="0"/>
          </a:p>
        </p:txBody>
      </p:sp>
      <p:sp>
        <p:nvSpPr>
          <p:cNvPr id="5122" name="AutoShape 2" descr="Résultat de recherche d'images pour &quot;placenta accreta&quot;"/>
          <p:cNvSpPr>
            <a:spLocks noChangeAspect="1" noChangeArrowheads="1"/>
          </p:cNvSpPr>
          <p:nvPr/>
        </p:nvSpPr>
        <p:spPr bwMode="auto">
          <a:xfrm>
            <a:off x="155575" y="-1431925"/>
            <a:ext cx="1905000" cy="299085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5124" name="AutoShape 4" descr="Résultat de recherche d'images pour &quot;placenta accreta&quot;"/>
          <p:cNvSpPr>
            <a:spLocks noChangeAspect="1" noChangeArrowheads="1"/>
          </p:cNvSpPr>
          <p:nvPr/>
        </p:nvSpPr>
        <p:spPr bwMode="auto">
          <a:xfrm>
            <a:off x="155575" y="-1431925"/>
            <a:ext cx="1905000" cy="299085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5126" name="Picture 6" descr="Résultat de recherche d'images pour &quot;placenta accreta&quot;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156176" y="1484784"/>
            <a:ext cx="2699792" cy="2232248"/>
          </a:xfrm>
          <a:prstGeom prst="rect">
            <a:avLst/>
          </a:prstGeom>
          <a:noFill/>
        </p:spPr>
      </p:pic>
      <p:sp>
        <p:nvSpPr>
          <p:cNvPr id="6" name="ZoneTexte 5"/>
          <p:cNvSpPr txBox="1"/>
          <p:nvPr/>
        </p:nvSpPr>
        <p:spPr>
          <a:xfrm>
            <a:off x="0" y="332656"/>
            <a:ext cx="26574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 smtClean="0">
                <a:solidFill>
                  <a:srgbClr val="00B050"/>
                </a:solidFill>
              </a:rPr>
              <a:t>3. Placenta  </a:t>
            </a:r>
            <a:r>
              <a:rPr lang="fr-FR" sz="2400" b="1" i="1" dirty="0" err="1" smtClean="0">
                <a:solidFill>
                  <a:srgbClr val="00B050"/>
                </a:solidFill>
              </a:rPr>
              <a:t>accreta</a:t>
            </a:r>
            <a:endParaRPr lang="fr-FR" sz="2400" b="1" i="1" dirty="0">
              <a:solidFill>
                <a:srgbClr val="00B05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3518</TotalTime>
  <Words>521</Words>
  <Application>Microsoft Office PowerPoint</Application>
  <PresentationFormat>Affichage à l'écran (4:3)</PresentationFormat>
  <Paragraphs>118</Paragraphs>
  <Slides>22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22</vt:i4>
      </vt:variant>
    </vt:vector>
  </HeadingPairs>
  <TitlesOfParts>
    <vt:vector size="27" baseType="lpstr">
      <vt:lpstr>Arial</vt:lpstr>
      <vt:lpstr>Calibri</vt:lpstr>
      <vt:lpstr>Times New Roman</vt:lpstr>
      <vt:lpstr>Wingdings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dell</dc:creator>
  <cp:lastModifiedBy>GE</cp:lastModifiedBy>
  <cp:revision>12</cp:revision>
  <dcterms:created xsi:type="dcterms:W3CDTF">2018-11-24T09:01:53Z</dcterms:created>
  <dcterms:modified xsi:type="dcterms:W3CDTF">2023-01-08T22:10:53Z</dcterms:modified>
</cp:coreProperties>
</file>