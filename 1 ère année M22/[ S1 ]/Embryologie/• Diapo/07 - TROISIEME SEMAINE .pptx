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9" roundtripDataSignature="AMtx7mjehfrYnMFNqBSmjdSJ4MzvgUUY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gif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gif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image" Target="../media/image20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0"/>
            <a:ext cx="879715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r>
              <a:rPr b="1" i="0" lang="fr-FR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 TROISIEME SEMAINE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DU DEVELOPPEMENT EMBRYONNAIRE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HECINI HANNACHI ABLA</a:t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0" y="0"/>
            <a:ext cx="10332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3</a:t>
            </a:r>
            <a:r>
              <a:rPr b="1" baseline="30000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 </a:t>
            </a: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semaine du développement est marquée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 PLUSIEURS phénomènes: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827584" y="2060848"/>
            <a:ext cx="555273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GASTRULATION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FORMATION DES ANNEXES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DEBUT DE NEURULATION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DEBUT DE METAMERISATION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0" y="0"/>
            <a:ext cx="919828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AutoNum type="arabicPeriod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GASTRULATION:   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d’un troisième  feuillet entre ectophylle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entophylle: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Disque  embryonnaire                Disque  embryonnaire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didermique                                    tridermique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Quelle est l’origine du 3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feuillet, le mésoblaste?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067944" y="2636912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euf à 14 jours : schéma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14267" cy="659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5292080" y="620688"/>
            <a:ext cx="3784562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sectionne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cavité Amniotique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 niveau de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L’amnios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1835696" y="1700808"/>
            <a:ext cx="2952328" cy="1512168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048" y="2780928"/>
            <a:ext cx="3888433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ue supérieure de la plaque embryonnaire : Ligne primitive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-171400"/>
            <a:ext cx="5904656" cy="640871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2627784" y="1844824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771800" y="2420888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347864" y="234888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131840" y="2852936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923928" y="270892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923928" y="198884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347864" y="1700808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499992" y="2204864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499992" y="2564904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195736" y="2492896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555776" y="342900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995936" y="342900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563888" y="3212976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347864" y="3861048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987824" y="3429000"/>
            <a:ext cx="432048" cy="28803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868144" y="476672"/>
            <a:ext cx="3298082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Amnios sectionné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Cavité amniotique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Ectophylle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Lécitocèle II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 flipH="1">
            <a:off x="3995936" y="764704"/>
            <a:ext cx="1872208" cy="648072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7" name="Google Shape;127;p5"/>
          <p:cNvCxnSpPr>
            <a:endCxn id="115" idx="4"/>
          </p:cNvCxnSpPr>
          <p:nvPr/>
        </p:nvCxnSpPr>
        <p:spPr>
          <a:xfrm flipH="1">
            <a:off x="4355976" y="1268758"/>
            <a:ext cx="1656300" cy="83010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" name="Google Shape;128;p5"/>
          <p:cNvCxnSpPr>
            <a:endCxn id="114" idx="0"/>
          </p:cNvCxnSpPr>
          <p:nvPr/>
        </p:nvCxnSpPr>
        <p:spPr>
          <a:xfrm flipH="1">
            <a:off x="4139952" y="1700920"/>
            <a:ext cx="2592300" cy="100800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9" name="Google Shape;129;p5"/>
          <p:cNvCxnSpPr/>
          <p:nvPr/>
        </p:nvCxnSpPr>
        <p:spPr>
          <a:xfrm flipH="1">
            <a:off x="4427984" y="2276872"/>
            <a:ext cx="2376264" cy="3672408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0" y="332656"/>
            <a:ext cx="904722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 16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Epaississement de l’ectophylle par différenciation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Pénétration des cellules de l’ectophylle entre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l’ectophylle préexistant et l’entophylle selon les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mouvements suivants: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852936"/>
            <a:ext cx="6332165" cy="33123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6"/>
          <p:cNvCxnSpPr/>
          <p:nvPr/>
        </p:nvCxnSpPr>
        <p:spPr>
          <a:xfrm>
            <a:off x="1331640" y="3429000"/>
            <a:ext cx="1224136" cy="7200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7" name="Google Shape;137;p6"/>
          <p:cNvCxnSpPr/>
          <p:nvPr/>
        </p:nvCxnSpPr>
        <p:spPr>
          <a:xfrm flipH="1">
            <a:off x="4788024" y="3429000"/>
            <a:ext cx="1152128" cy="7200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" name="Google Shape;138;p6"/>
          <p:cNvSpPr/>
          <p:nvPr/>
        </p:nvSpPr>
        <p:spPr>
          <a:xfrm>
            <a:off x="3635896" y="2780928"/>
            <a:ext cx="216024" cy="7200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835696" y="2780928"/>
            <a:ext cx="235833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lain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2     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051720" y="5288340"/>
            <a:ext cx="274786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convergence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invagination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divergence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0" y="0"/>
            <a:ext cx="8324779" cy="518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invagination fera dessiner sur l’ectophylle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sillon de l’extrémité vers le centre.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sillon: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 ligne primitive ou L I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</a:t>
            </a:r>
            <a:endParaRPr b="1" baseline="3000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igration des cellules du mésoblaste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58425" y="2218036"/>
            <a:ext cx="4896545" cy="371807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47" name="Google Shape;147;p7"/>
          <p:cNvSpPr txBox="1"/>
          <p:nvPr/>
        </p:nvSpPr>
        <p:spPr>
          <a:xfrm>
            <a:off x="5796136" y="5013176"/>
            <a:ext cx="27344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ligne primitive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6156176" y="34290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9" name="Google Shape;149;p7"/>
          <p:cNvCxnSpPr/>
          <p:nvPr/>
        </p:nvCxnSpPr>
        <p:spPr>
          <a:xfrm rot="10800000">
            <a:off x="3275856" y="4941168"/>
            <a:ext cx="2232248" cy="36004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0" y="0"/>
            <a:ext cx="85722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 17ème jour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ligne primitive se termine par une nodosité: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Le nœud de Hensen = NH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igration des cellules du mésoblaste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58425" y="2218036"/>
            <a:ext cx="4896545" cy="371807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156" name="Google Shape;156;p8"/>
          <p:cNvCxnSpPr/>
          <p:nvPr/>
        </p:nvCxnSpPr>
        <p:spPr>
          <a:xfrm flipH="1">
            <a:off x="3419872" y="4149080"/>
            <a:ext cx="2808312" cy="7200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7" name="Google Shape;157;p8"/>
          <p:cNvSpPr txBox="1"/>
          <p:nvPr/>
        </p:nvSpPr>
        <p:spPr>
          <a:xfrm>
            <a:off x="6014617" y="3717032"/>
            <a:ext cx="31293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Nœud de Hensen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/>
        </p:nvSpPr>
        <p:spPr>
          <a:xfrm>
            <a:off x="0" y="332656"/>
            <a:ext cx="934024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 la gastrulation il ya deux types de mésoblastes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se forment: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Mésoblaste issu de la ligne primitive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Mésoblaste issu du nœud de Hensen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igration des cellules du mésoblaste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6531" y="2744923"/>
            <a:ext cx="4104458" cy="316835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64" name="Google Shape;164;p9"/>
          <p:cNvSpPr/>
          <p:nvPr/>
        </p:nvSpPr>
        <p:spPr>
          <a:xfrm rot="5400000">
            <a:off x="1245522" y="3659134"/>
            <a:ext cx="1218328" cy="181997"/>
          </a:xfrm>
          <a:prstGeom prst="flowChartTerminator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3851920" y="2333685"/>
            <a:ext cx="473238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Coté céphalique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Mésoblaste issu du nœud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Hensen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Mésoblaste issu de la ligne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primitive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Coté caudal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9"/>
          <p:cNvCxnSpPr/>
          <p:nvPr/>
        </p:nvCxnSpPr>
        <p:spPr>
          <a:xfrm rot="10800000">
            <a:off x="1979712" y="2636912"/>
            <a:ext cx="172819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" name="Google Shape;167;p9"/>
          <p:cNvCxnSpPr/>
          <p:nvPr/>
        </p:nvCxnSpPr>
        <p:spPr>
          <a:xfrm rot="10800000">
            <a:off x="1979712" y="3717032"/>
            <a:ext cx="172819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8" name="Google Shape;168;p9"/>
          <p:cNvCxnSpPr/>
          <p:nvPr/>
        </p:nvCxnSpPr>
        <p:spPr>
          <a:xfrm rot="10800000">
            <a:off x="2123728" y="4581128"/>
            <a:ext cx="1728192" cy="50405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" name="Google Shape;169;p9"/>
          <p:cNvCxnSpPr/>
          <p:nvPr/>
        </p:nvCxnSpPr>
        <p:spPr>
          <a:xfrm flipH="1">
            <a:off x="2123728" y="5157192"/>
            <a:ext cx="1656184" cy="21602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0" name="Google Shape;170;p9"/>
          <p:cNvCxnSpPr/>
          <p:nvPr/>
        </p:nvCxnSpPr>
        <p:spPr>
          <a:xfrm rot="10800000">
            <a:off x="2411760" y="4077072"/>
            <a:ext cx="1368152" cy="1008112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1" name="Google Shape;171;p9"/>
          <p:cNvCxnSpPr/>
          <p:nvPr/>
        </p:nvCxnSpPr>
        <p:spPr>
          <a:xfrm rot="10800000">
            <a:off x="1907704" y="5949280"/>
            <a:ext cx="1800200" cy="57606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0" y="0"/>
            <a:ext cx="9509976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Mésoblaste issu de la ligne primitive: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Mésoblaste  latéral entre ectophylle et entophylle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ce stade: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Ectophylle =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ectoblaste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Entophylle =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entoblaste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Mésoblaste issu du nœud de Hensen: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Processus cordal  (chordal) pour former: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la corde (chorde) =     1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axe longitudinal de l’embryon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323528" y="0"/>
            <a:ext cx="10791159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MISE EN PLACE DE LA CORDE (CHORDE)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Processus cordal:  plusieurs stades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prolongement céphalique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(18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canal cordal                        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(19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canal cordal fissuré          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(19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gouttière cordale               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(20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plaque cordale                  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(21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Stade corde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(22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ration des cellules du mésoblaste" id="186" name="Google Shape;1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47017" y="2613423"/>
            <a:ext cx="4392488" cy="28552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 txBox="1"/>
          <p:nvPr/>
        </p:nvSpPr>
        <p:spPr>
          <a:xfrm>
            <a:off x="0" y="0"/>
            <a:ext cx="870885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Pour connaitre le processus de la mise en place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la corde: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2"/>
          <p:cNvCxnSpPr/>
          <p:nvPr/>
        </p:nvCxnSpPr>
        <p:spPr>
          <a:xfrm flipH="1" rot="10800000">
            <a:off x="2483768" y="809328"/>
            <a:ext cx="72008" cy="5644008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9" name="Google Shape;189;p12"/>
          <p:cNvSpPr txBox="1"/>
          <p:nvPr/>
        </p:nvSpPr>
        <p:spPr>
          <a:xfrm>
            <a:off x="2843808" y="363915"/>
            <a:ext cx="619080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3995936" y="1700808"/>
            <a:ext cx="5148064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effectue une coupe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Longitudinale selon l’axe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prend la moitié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droite et on observe dans l’épaisseur.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268760"/>
            <a:ext cx="6696743" cy="369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467544" y="2564904"/>
            <a:ext cx="70743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                                                              X1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6516216" y="908720"/>
            <a:ext cx="278922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primitive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Ectoblaste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Mésoblaste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Prolongement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céphalique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0" y="692696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Entoblaste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0" lvl="0" marL="1968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/>
          </a:p>
          <a:p>
            <a:pPr indent="-1968500" lvl="0" marL="1968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Coupe longitudinale sagittale: Embryon âgé de 18 jours                Stade prolongement céphalique 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067944" y="2204864"/>
            <a:ext cx="1440160" cy="2880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467544" y="0"/>
            <a:ext cx="2832827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 pharyngienne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827584" y="2420888"/>
            <a:ext cx="182864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Zone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cardiogène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3"/>
          <p:cNvCxnSpPr/>
          <p:nvPr/>
        </p:nvCxnSpPr>
        <p:spPr>
          <a:xfrm rot="10800000">
            <a:off x="1043608" y="3068960"/>
            <a:ext cx="792088" cy="86409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3" name="Google Shape;203;p13"/>
          <p:cNvSpPr txBox="1"/>
          <p:nvPr/>
        </p:nvSpPr>
        <p:spPr>
          <a:xfrm>
            <a:off x="6156176" y="-171400"/>
            <a:ext cx="26494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 cloacale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	angiogène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0" y="0"/>
            <a:ext cx="60279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1. Stade prolongement céphalique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3"/>
          <p:cNvCxnSpPr/>
          <p:nvPr/>
        </p:nvCxnSpPr>
        <p:spPr>
          <a:xfrm>
            <a:off x="2123728" y="1340768"/>
            <a:ext cx="0" cy="136815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13"/>
          <p:cNvCxnSpPr/>
          <p:nvPr/>
        </p:nvCxnSpPr>
        <p:spPr>
          <a:xfrm flipH="1">
            <a:off x="6012160" y="260648"/>
            <a:ext cx="360040" cy="252028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13"/>
          <p:cNvCxnSpPr/>
          <p:nvPr/>
        </p:nvCxnSpPr>
        <p:spPr>
          <a:xfrm>
            <a:off x="6156176" y="980728"/>
            <a:ext cx="1008112" cy="208823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8" name="Google Shape;208;p13"/>
          <p:cNvCxnSpPr/>
          <p:nvPr/>
        </p:nvCxnSpPr>
        <p:spPr>
          <a:xfrm flipH="1">
            <a:off x="5148064" y="2492896"/>
            <a:ext cx="1836712" cy="14401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9" name="Google Shape;209;p13"/>
          <p:cNvCxnSpPr/>
          <p:nvPr/>
        </p:nvCxnSpPr>
        <p:spPr>
          <a:xfrm flipH="1">
            <a:off x="4788024" y="1628800"/>
            <a:ext cx="1692696" cy="50405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13"/>
          <p:cNvCxnSpPr/>
          <p:nvPr/>
        </p:nvCxnSpPr>
        <p:spPr>
          <a:xfrm rot="10800000">
            <a:off x="4860032" y="3140968"/>
            <a:ext cx="2124744" cy="14401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1" name="Google Shape;211;p13"/>
          <p:cNvCxnSpPr/>
          <p:nvPr/>
        </p:nvCxnSpPr>
        <p:spPr>
          <a:xfrm rot="10800000">
            <a:off x="3635896" y="3717032"/>
            <a:ext cx="2988840" cy="172819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2" name="Google Shape;212;p13"/>
          <p:cNvCxnSpPr/>
          <p:nvPr/>
        </p:nvCxnSpPr>
        <p:spPr>
          <a:xfrm rot="10800000">
            <a:off x="3563888" y="3284984"/>
            <a:ext cx="3456384" cy="93610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0" y="0"/>
            <a:ext cx="9376905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mésoblaste issu du nœud de Hensen s’insinue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vers la  partie céphalique en creusant un petit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prolongement</a:t>
            </a:r>
            <a:r>
              <a:rPr b="1" lang="fr-FR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le prolongement céphalique.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le mésoblaste issu de la ligne primitive, Il ya partout du mésoblaste entre ectoblaste  et entoblaste sauf en deux endroits où on ne  trouve pas de mésoblaste: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fr-FR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La membrane pharyngienne (</a:t>
            </a:r>
            <a:r>
              <a:rPr b="1" lang="fr-FR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ébauche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   de la bouche)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❑"/>
            </a:pPr>
            <a:r>
              <a:rPr b="1" lang="fr-FR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La membrane cloacale (</a:t>
            </a:r>
            <a:r>
              <a:rPr b="1" lang="fr-FR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ébauche de l’anus</a:t>
            </a:r>
            <a:r>
              <a:rPr b="1" lang="fr-FR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1" sz="3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0" y="3501008"/>
            <a:ext cx="97565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04975" lvl="0" marL="1704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0688" lvl="0" marL="2960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Coupe longitudinale sagittale: Embryon âgé de19 jours            Stade canal cordal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404664"/>
            <a:ext cx="8712968" cy="3657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/>
        </p:nvSpPr>
        <p:spPr>
          <a:xfrm>
            <a:off x="0" y="0"/>
            <a:ext cx="36897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2. Stade canal cordal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0" y="4509120"/>
            <a:ext cx="9144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prolongement céphalique se prolonge constituant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canal: </a:t>
            </a:r>
            <a:r>
              <a:rPr b="1" lang="fr-FR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 canal cordal.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l’extrémité craniale du canal cordal et la membrane pharyngienne, se situe la plaque précordale qui induit le processus cordal.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7704856" cy="4752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 txBox="1"/>
          <p:nvPr/>
        </p:nvSpPr>
        <p:spPr>
          <a:xfrm>
            <a:off x="0" y="0"/>
            <a:ext cx="49082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3. Stade canal cordal fissuré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3131840" y="2060848"/>
            <a:ext cx="30839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 cordal fissuré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899592" y="5085184"/>
            <a:ext cx="3085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Plaque préchordale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0" y="5373216"/>
            <a:ext cx="97565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04975" lvl="0" marL="1704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60688" lvl="0" marL="2960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Coupe longitudinale sagittale: Embryon âgé de19 jours            Stade canal cordal fissuré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/>
        </p:nvSpPr>
        <p:spPr>
          <a:xfrm>
            <a:off x="0" y="-819472"/>
            <a:ext cx="10620672" cy="58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4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4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Des fissurations apparaissent le long de la ligne  de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soudure de l’entoblaste et le plancher du  canal cordal: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rPr>
              <a:t>canal cordal fissuré.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plancher du  canal cordal disparait,Il n’en reste 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toit.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CA communique avec le LII  par un canal: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le canal neurentérique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1556792"/>
            <a:ext cx="61912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/>
          <p:nvPr/>
        </p:nvSpPr>
        <p:spPr>
          <a:xfrm>
            <a:off x="0" y="3861048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41450" lvl="0" marL="14414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Coupe longitudinale sagittale: Embryon âgé de                20 jours stade gouttière cordale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4427984" y="908720"/>
            <a:ext cx="3657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Gouttière  cordale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8"/>
          <p:cNvCxnSpPr/>
          <p:nvPr/>
        </p:nvCxnSpPr>
        <p:spPr>
          <a:xfrm flipH="1">
            <a:off x="3779912" y="1628800"/>
            <a:ext cx="1728192" cy="648072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8" name="Google Shape;248;p18"/>
          <p:cNvSpPr txBox="1"/>
          <p:nvPr/>
        </p:nvSpPr>
        <p:spPr>
          <a:xfrm>
            <a:off x="333190" y="5085184"/>
            <a:ext cx="881081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lang="fr-FR" sz="3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toit du canal étant incurvé, formera une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gouttière:</a:t>
            </a:r>
            <a:r>
              <a:rPr b="1" lang="fr-FR" sz="3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gouttière cordale.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0" y="0"/>
            <a:ext cx="4570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4. Stade gouttière cordale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/>
        </p:nvSpPr>
        <p:spPr>
          <a:xfrm>
            <a:off x="0" y="0"/>
            <a:ext cx="41715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5. Stade plaque cordale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980728"/>
            <a:ext cx="7344816" cy="271956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539552" y="4725144"/>
            <a:ext cx="710014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gouttière  s’allonge sous forme d’une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plaque allongée qui occupe la région médiane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toit du LII, elle est continue à l’entoblaste</a:t>
            </a:r>
            <a:r>
              <a:rPr b="1" lang="fr-FR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plaque cordale 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0" y="3212976"/>
            <a:ext cx="9144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24100" lvl="0" marL="2324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Coupe longitudinale sagittale: Embryon âgé de 21 jours:  stade plaque cordale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356992"/>
            <a:ext cx="44005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/>
          <p:nvPr/>
        </p:nvSpPr>
        <p:spPr>
          <a:xfrm>
            <a:off x="0" y="2276872"/>
            <a:ext cx="9144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04975" lvl="0" marL="17049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Coupe longitudinale sagittale: Embryon âgé de 22 jours:    Stade corde pleine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0" y="4653136"/>
            <a:ext cx="690169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plaque s’individualise en </a:t>
            </a:r>
            <a:r>
              <a:rPr b="1" lang="fr-FR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corde pleine.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 le 22ème jour la plaque cordale se détache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l’entoblaste et ce dernier rétablit sa continuité.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toit de la corde est en contact avec l’ectoblaste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son plancher est posé sur l’entoblaste.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2657"/>
            <a:ext cx="8640960" cy="2088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0"/>
          <p:cNvCxnSpPr/>
          <p:nvPr/>
        </p:nvCxnSpPr>
        <p:spPr>
          <a:xfrm>
            <a:off x="3275856" y="764704"/>
            <a:ext cx="0" cy="259228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7" name="Google Shape;267;p20"/>
          <p:cNvSpPr txBox="1"/>
          <p:nvPr/>
        </p:nvSpPr>
        <p:spPr>
          <a:xfrm>
            <a:off x="0" y="0"/>
            <a:ext cx="37547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6. Stade corde pleine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associée"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76672" y="-1790700"/>
            <a:ext cx="12961439" cy="86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1259632" y="260648"/>
            <a:ext cx="691276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APPARITION DE CERTAINES EBAUCHES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ET DEVELOPPEMENT DES ANNEXES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/>
        </p:nvSpPr>
        <p:spPr>
          <a:xfrm>
            <a:off x="0" y="0"/>
            <a:ext cx="9717019" cy="951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A. Apparition des ébauches vasculaires:</a:t>
            </a: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baseline="30000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 </a:t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</a:t>
            </a: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angiogène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Ilots de Wolff et Pander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Réseau vasculaire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de la   lame choriale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calisation des ébauches vasculaires"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836712"/>
            <a:ext cx="3384376" cy="5184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3"/>
          <p:cNvCxnSpPr/>
          <p:nvPr/>
        </p:nvCxnSpPr>
        <p:spPr>
          <a:xfrm flipH="1">
            <a:off x="3059832" y="1988840"/>
            <a:ext cx="1584176" cy="72008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5" name="Google Shape;285;p23"/>
          <p:cNvCxnSpPr/>
          <p:nvPr/>
        </p:nvCxnSpPr>
        <p:spPr>
          <a:xfrm flipH="1">
            <a:off x="1475656" y="2564904"/>
            <a:ext cx="2880320" cy="122413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6" name="Google Shape;286;p23"/>
          <p:cNvCxnSpPr/>
          <p:nvPr/>
        </p:nvCxnSpPr>
        <p:spPr>
          <a:xfrm flipH="1">
            <a:off x="1403648" y="3645024"/>
            <a:ext cx="3096344" cy="10801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/>
        </p:nvSpPr>
        <p:spPr>
          <a:xfrm>
            <a:off x="0" y="260648"/>
            <a:ext cx="9200211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Ilots de Wolff et Pander </a:t>
            </a: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cellules sanguines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angiogène</a:t>
            </a: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circulation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allantoïdienne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Cordon ombilical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Réseau vasculaire                    </a:t>
            </a: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réseau vasculaire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lame choriale</a:t>
            </a: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du placenta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4788024" y="620688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995936" y="1700808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211960" y="3933056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/>
        </p:nvSpPr>
        <p:spPr>
          <a:xfrm>
            <a:off x="0" y="0"/>
            <a:ext cx="744005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B. Formation de l’Allantoïde: 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baseline="30000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jour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Évagination du toit du LII en doigt de gant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Allantoïde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Cordon ombilical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Ébauches vessie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et urètre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parition de l'allantoïde" id="300" name="Google Shape;3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032" y="2132856"/>
            <a:ext cx="4026964" cy="432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/>
          <p:nvPr/>
        </p:nvSpPr>
        <p:spPr>
          <a:xfrm rot="5400000">
            <a:off x="3059832" y="2492896"/>
            <a:ext cx="648072" cy="720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 rot="5400000">
            <a:off x="3131840" y="3789040"/>
            <a:ext cx="648072" cy="720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/>
        </p:nvSpPr>
        <p:spPr>
          <a:xfrm>
            <a:off x="0" y="0"/>
            <a:ext cx="8927252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C.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Apparition des Cellules germinales primitives: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aseline="30000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Cellules volumineuses: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Gonocytes primordiaux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migrent, à la 5</a:t>
            </a:r>
            <a:r>
              <a:rPr b="1" baseline="30000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semaine pour coloniser les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ébauches des gonades: sont à l'origine des gamètes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parition des gonocytes primordiaux"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1628800"/>
            <a:ext cx="5328592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"/>
          <p:cNvSpPr txBox="1"/>
          <p:nvPr/>
        </p:nvSpPr>
        <p:spPr>
          <a:xfrm>
            <a:off x="0" y="-675456"/>
            <a:ext cx="9900592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D. Début de la neurulation: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L’ectoblaste donne deux ensembles cellulaires distincts: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neurectoblaste: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tube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l'épiblaste: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 reste de l'ectoblaste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Mieux mise en évidence sur coupes  transversales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0" y="3789040"/>
            <a:ext cx="51736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Comprend plusieurs stades: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/>
        </p:nvSpPr>
        <p:spPr>
          <a:xfrm>
            <a:off x="0" y="0"/>
            <a:ext cx="9144000" cy="1055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a- Stade plaque neurale: 18</a:t>
            </a:r>
            <a:r>
              <a:rPr b="1" baseline="30000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épaississement du 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neurectoblaste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sous forme d'une raquette  renflée en avant: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Plaque neurale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C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laque neurale - Vue supérieure" id="320" name="Google Shape;3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836712"/>
            <a:ext cx="4172613" cy="2160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28"/>
          <p:cNvCxnSpPr/>
          <p:nvPr/>
        </p:nvCxnSpPr>
        <p:spPr>
          <a:xfrm flipH="1">
            <a:off x="2267744" y="1196752"/>
            <a:ext cx="72008" cy="1296144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322" name="Google Shape;32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72" y="2636912"/>
            <a:ext cx="5004048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620688"/>
            <a:ext cx="4608512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b- Stade gouttière neurale: 19</a:t>
            </a:r>
            <a:r>
              <a:rPr b="1" baseline="30000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5148064" y="1844824"/>
            <a:ext cx="320869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Gouttière neurale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Crêtes neurales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>
            <a:off x="2627784" y="1988840"/>
            <a:ext cx="2304256" cy="7200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p29"/>
          <p:cNvCxnSpPr/>
          <p:nvPr/>
        </p:nvCxnSpPr>
        <p:spPr>
          <a:xfrm rot="10800000">
            <a:off x="3059832" y="1124744"/>
            <a:ext cx="2304256" cy="338437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2" name="Google Shape;332;p29"/>
          <p:cNvCxnSpPr/>
          <p:nvPr/>
        </p:nvCxnSpPr>
        <p:spPr>
          <a:xfrm rot="10800000">
            <a:off x="2195736" y="1052736"/>
            <a:ext cx="2952328" cy="345638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3" name="Google Shape;333;p29"/>
          <p:cNvSpPr/>
          <p:nvPr/>
        </p:nvSpPr>
        <p:spPr>
          <a:xfrm>
            <a:off x="0" y="4941168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bords latéraux de la  plaque neurale  se relèvent transformant la plaque en: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gouttière neurale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/>
        </p:nvSpPr>
        <p:spPr>
          <a:xfrm>
            <a:off x="0" y="0"/>
            <a:ext cx="851040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c. Stade tube neural (début: 21</a:t>
            </a:r>
            <a:r>
              <a:rPr b="1" baseline="30000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764704"/>
            <a:ext cx="5832648" cy="336438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350824" y="980728"/>
            <a:ext cx="879317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Epiblaste                                      bandelettes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ganglionnaires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Tube neural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corde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30"/>
          <p:cNvCxnSpPr/>
          <p:nvPr/>
        </p:nvCxnSpPr>
        <p:spPr>
          <a:xfrm rot="10800000">
            <a:off x="4644008" y="3861048"/>
            <a:ext cx="2376264" cy="64807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2" name="Google Shape;342;p30"/>
          <p:cNvSpPr/>
          <p:nvPr/>
        </p:nvSpPr>
        <p:spPr>
          <a:xfrm>
            <a:off x="0" y="4941168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bords de la gouttière  se rejoignent et  fusionnent  par points formant un tube: 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tube neural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692696"/>
            <a:ext cx="5976664" cy="3312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/>
          <p:nvPr/>
        </p:nvSpPr>
        <p:spPr>
          <a:xfrm>
            <a:off x="5436096" y="1196752"/>
            <a:ext cx="3889206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Ebauches 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Ganglions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lymphatiques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Neuropore postérieur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urulation" id="349" name="Google Shape;3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616" y="3717032"/>
            <a:ext cx="5904656" cy="1872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1"/>
          <p:cNvCxnSpPr/>
          <p:nvPr/>
        </p:nvCxnSpPr>
        <p:spPr>
          <a:xfrm flipH="1" rot="10800000">
            <a:off x="1475656" y="4293096"/>
            <a:ext cx="288032" cy="144016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1" name="Google Shape;351;p31"/>
          <p:cNvCxnSpPr/>
          <p:nvPr/>
        </p:nvCxnSpPr>
        <p:spPr>
          <a:xfrm rot="10800000">
            <a:off x="5724128" y="4725144"/>
            <a:ext cx="576064" cy="115212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2" name="Google Shape;352;p31"/>
          <p:cNvSpPr txBox="1"/>
          <p:nvPr/>
        </p:nvSpPr>
        <p:spPr>
          <a:xfrm>
            <a:off x="899592" y="6093296"/>
            <a:ext cx="3707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Neuropore antérieur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/>
          <p:nvPr/>
        </p:nvSpPr>
        <p:spPr>
          <a:xfrm>
            <a:off x="0" y="0"/>
            <a:ext cx="929074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 Début de la métamerisation  (mésoblaste issu de la ligne primitive) 19 – 21</a:t>
            </a:r>
            <a:r>
              <a:rPr b="1" baseline="30000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jour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upe transversale" id="358" name="Google Shape;3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2204864"/>
            <a:ext cx="7704856" cy="251900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2"/>
          <p:cNvSpPr txBox="1"/>
          <p:nvPr/>
        </p:nvSpPr>
        <p:spPr>
          <a:xfrm>
            <a:off x="179512" y="5013176"/>
            <a:ext cx="715798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Formation du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 para-axial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Formation du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 intermédiaire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Formation du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 latéral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899592" y="4725144"/>
            <a:ext cx="18473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pe transversale"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0"/>
            <a:ext cx="7272808" cy="388843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0" y="4005064"/>
            <a:ext cx="970150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 para-axial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Somites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Mésoblaste intermédiaire           Nephrotomes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Somatopleure Intra-Emb(SoP) 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Font typeface="Calibri"/>
              <a:buChar char="-"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Mésoblaste latéral          </a:t>
            </a: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Cœlome Intra-Emb (CIE)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Splanchnopleure Intra-Emb(SpP)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4788024" y="4725144"/>
            <a:ext cx="69037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 rot="1118812">
            <a:off x="2636640" y="6100025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 rot="-1675549">
            <a:off x="2693412" y="5229707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33"/>
          <p:cNvCxnSpPr/>
          <p:nvPr/>
        </p:nvCxnSpPr>
        <p:spPr>
          <a:xfrm>
            <a:off x="1763688" y="908720"/>
            <a:ext cx="216024" cy="86409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1" name="Google Shape;371;p33"/>
          <p:cNvSpPr/>
          <p:nvPr/>
        </p:nvSpPr>
        <p:spPr>
          <a:xfrm>
            <a:off x="4283968" y="4221088"/>
            <a:ext cx="978408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33"/>
          <p:cNvCxnSpPr/>
          <p:nvPr/>
        </p:nvCxnSpPr>
        <p:spPr>
          <a:xfrm flipH="1" rot="10800000">
            <a:off x="1547664" y="2852936"/>
            <a:ext cx="360040" cy="288032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3" name="Google Shape;373;p33"/>
          <p:cNvCxnSpPr/>
          <p:nvPr/>
        </p:nvCxnSpPr>
        <p:spPr>
          <a:xfrm>
            <a:off x="971600" y="2276872"/>
            <a:ext cx="864096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4" name="Google Shape;374;p33"/>
          <p:cNvSpPr txBox="1"/>
          <p:nvPr/>
        </p:nvSpPr>
        <p:spPr>
          <a:xfrm>
            <a:off x="179512" y="1988840"/>
            <a:ext cx="7120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2014-12-02T20:44:30Z</dcterms:created>
  <dc:creator>dell</dc:creator>
</cp:coreProperties>
</file>