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6" r:id="rId3"/>
    <p:sldId id="258" r:id="rId4"/>
    <p:sldId id="275" r:id="rId5"/>
    <p:sldId id="276" r:id="rId6"/>
    <p:sldId id="277" r:id="rId7"/>
    <p:sldId id="278" r:id="rId8"/>
    <p:sldId id="264" r:id="rId9"/>
    <p:sldId id="265" r:id="rId10"/>
    <p:sldId id="266" r:id="rId11"/>
    <p:sldId id="270" r:id="rId12"/>
    <p:sldId id="288" r:id="rId13"/>
    <p:sldId id="289" r:id="rId14"/>
    <p:sldId id="273" r:id="rId15"/>
    <p:sldId id="290" r:id="rId16"/>
    <p:sldId id="291" r:id="rId17"/>
    <p:sldId id="292" r:id="rId18"/>
    <p:sldId id="293" r:id="rId19"/>
    <p:sldId id="294" r:id="rId20"/>
    <p:sldId id="295" r:id="rId21"/>
    <p:sldId id="279" r:id="rId22"/>
    <p:sldId id="281" r:id="rId23"/>
    <p:sldId id="282" r:id="rId24"/>
    <p:sldId id="283" r:id="rId25"/>
    <p:sldId id="284" r:id="rId26"/>
    <p:sldId id="285" r:id="rId27"/>
    <p:sldId id="272" r:id="rId2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" initials="G" lastIdx="0" clrIdx="0">
    <p:extLst>
      <p:ext uri="{19B8F6BF-5375-455C-9EA6-DF929625EA0E}">
        <p15:presenceInfo xmlns:p15="http://schemas.microsoft.com/office/powerpoint/2012/main" userId="G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5A8D3-A23A-4C03-A069-CFDB43C0B9C8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Cellule_souche_(m%C3%A9decine)" TargetMode="External"/><Relationship Id="rId2" Type="http://schemas.openxmlformats.org/officeDocument/2006/relationships/hyperlink" Target="https://fr.wikipedia.org/wiki/Cellule_souche_animale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1196752"/>
            <a:ext cx="890784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DÉFINITION</a:t>
            </a:r>
          </a:p>
          <a:p>
            <a:r>
              <a:rPr lang="fr-FR" sz="2800" dirty="0" smtClean="0"/>
              <a:t>Une cellule est dite « souche » si elle présente les deux </a:t>
            </a:r>
          </a:p>
          <a:p>
            <a:r>
              <a:rPr lang="fr-FR" sz="2800" dirty="0" smtClean="0"/>
              <a:t>propriétés fondamentales suivantes :</a:t>
            </a:r>
            <a:br>
              <a:rPr lang="fr-FR" sz="2800" dirty="0" smtClean="0"/>
            </a:br>
            <a:r>
              <a:rPr lang="fr-FR" sz="2800" b="1" dirty="0" smtClean="0"/>
              <a:t>1.1.  </a:t>
            </a:r>
            <a:r>
              <a:rPr lang="fr-FR" sz="2800" b="1" i="1" dirty="0" smtClean="0"/>
              <a:t>Auto-renouvellement</a:t>
            </a:r>
            <a:r>
              <a:rPr lang="fr-FR" sz="2800" i="1" dirty="0" smtClean="0"/>
              <a:t> : </a:t>
            </a:r>
            <a:r>
              <a:rPr lang="fr-FR" sz="2800" dirty="0" smtClean="0"/>
              <a:t>dans un environnement </a:t>
            </a:r>
            <a:r>
              <a:rPr lang="fr-FR" sz="2800" smtClean="0"/>
              <a:t>propice,  </a:t>
            </a:r>
            <a:r>
              <a:rPr lang="fr-FR" sz="2800" dirty="0" smtClean="0"/>
              <a:t>sa descendance a précisément les mêmes caractéristiques </a:t>
            </a:r>
          </a:p>
          <a:p>
            <a:r>
              <a:rPr lang="fr-FR" sz="2800" dirty="0" smtClean="0"/>
              <a:t>qu’elle, même après un grand nombre de divisions cellulaires.</a:t>
            </a:r>
            <a:br>
              <a:rPr lang="fr-FR" sz="2800" dirty="0" smtClean="0"/>
            </a:br>
            <a:endParaRPr lang="fr-FR" sz="2800" dirty="0" smtClean="0"/>
          </a:p>
          <a:p>
            <a:r>
              <a:rPr lang="fr-FR" sz="2800" b="1" dirty="0" smtClean="0"/>
              <a:t>1.2. </a:t>
            </a:r>
            <a:r>
              <a:rPr lang="fr-FR" sz="2800" b="1" i="1" dirty="0" smtClean="0"/>
              <a:t>Différenciation</a:t>
            </a:r>
            <a:r>
              <a:rPr lang="fr-FR" sz="2800" i="1" dirty="0" smtClean="0"/>
              <a:t> : </a:t>
            </a:r>
            <a:r>
              <a:rPr lang="fr-FR" sz="2800" dirty="0" smtClean="0"/>
              <a:t>dans des conditions appropriées, elle </a:t>
            </a:r>
          </a:p>
          <a:p>
            <a:r>
              <a:rPr lang="fr-FR" sz="2800" dirty="0" smtClean="0"/>
              <a:t>peut se différencier vers des types cellulaires matures</a:t>
            </a:r>
          </a:p>
          <a:p>
            <a:r>
              <a:rPr lang="fr-FR" sz="2800" dirty="0" smtClean="0"/>
              <a:t> (constituants des tissus de l’organisme.</a:t>
            </a:r>
            <a:br>
              <a:rPr lang="fr-FR" sz="2800" dirty="0" smtClean="0"/>
            </a:br>
            <a:endParaRPr lang="fr-FR" sz="2800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8964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LES </a:t>
            </a:r>
            <a:r>
              <a:rPr lang="fr-FR" sz="3200" b="1" dirty="0" smtClean="0">
                <a:solidFill>
                  <a:srgbClr val="FF0000"/>
                </a:solidFill>
              </a:rPr>
              <a:t>CELLULES </a:t>
            </a:r>
            <a:r>
              <a:rPr lang="fr-FR" sz="3200" b="1" dirty="0" smtClean="0">
                <a:solidFill>
                  <a:srgbClr val="FF0000"/>
                </a:solidFill>
              </a:rPr>
              <a:t>SOUCHES</a:t>
            </a:r>
          </a:p>
          <a:p>
            <a:r>
              <a:rPr lang="fr-FR" sz="3200" b="1" smtClean="0">
                <a:solidFill>
                  <a:srgbClr val="FF0000"/>
                </a:solidFill>
              </a:rPr>
              <a:t>                                                 MME HANNACHI-HECINI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764704"/>
            <a:ext cx="845981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Les cellules souches sont naturellement présentes chez</a:t>
            </a:r>
          </a:p>
          <a:p>
            <a:r>
              <a:rPr lang="fr-FR" sz="2800" dirty="0" smtClean="0"/>
              <a:t> l’embryon et dans certains organes ou tissus adultes.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L'étude des </a:t>
            </a:r>
            <a:r>
              <a:rPr lang="fr-FR" sz="2800" dirty="0" smtClean="0">
                <a:hlinkClick r:id="rId2" tooltip="Cellule souche animale"/>
              </a:rPr>
              <a:t>cellules souches animales</a:t>
            </a:r>
            <a:r>
              <a:rPr lang="fr-FR" sz="2800" dirty="0" smtClean="0"/>
              <a:t> est un domaine de</a:t>
            </a:r>
          </a:p>
          <a:p>
            <a:r>
              <a:rPr lang="fr-FR" sz="2800" dirty="0" smtClean="0"/>
              <a:t> recherche très actif notamment en raison de  </a:t>
            </a:r>
            <a:r>
              <a:rPr lang="fr-FR" sz="2800" dirty="0" smtClean="0">
                <a:hlinkClick r:id="rId3" tooltip="Cellule souche (médecine)"/>
              </a:rPr>
              <a:t>leurs</a:t>
            </a:r>
          </a:p>
          <a:p>
            <a:r>
              <a:rPr lang="fr-FR" sz="2800" dirty="0" smtClean="0">
                <a:hlinkClick r:id="rId3" tooltip="Cellule souche (médecine)"/>
              </a:rPr>
              <a:t> applications en médecine</a:t>
            </a:r>
            <a:r>
              <a:rPr lang="fr-FR" sz="2800" dirty="0" smtClean="0"/>
              <a:t>. </a:t>
            </a:r>
          </a:p>
          <a:p>
            <a:endParaRPr lang="fr-FR" sz="2800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764704"/>
            <a:ext cx="45190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TYPES DE CELLULES SOUCHES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340768"/>
            <a:ext cx="9542292" cy="59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Les cellules souches totipotentes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Issues des toutes premières divisions de l’œuf fécondé</a:t>
            </a:r>
          </a:p>
          <a:p>
            <a:r>
              <a:rPr lang="fr-FR" sz="2800" dirty="0" smtClean="0"/>
              <a:t> (entre la fécondation et le quatrième jour).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Elles peuvent se différencier en tous types de cellules de </a:t>
            </a:r>
          </a:p>
          <a:p>
            <a:r>
              <a:rPr lang="fr-FR" sz="2800" dirty="0" smtClean="0"/>
              <a:t>l'organisme et en annexes (placenta, cordon ombilical).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 sont les seules cellules souches pouvant donner naissance </a:t>
            </a:r>
          </a:p>
          <a:p>
            <a:r>
              <a:rPr lang="fr-FR" sz="2800" dirty="0" smtClean="0"/>
              <a:t>à un embryon complet. 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Les cellules souches embryonnaires concentrent de nombreux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espoirs, mais parce qu’elles soulèvent des questions éthiques,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leur utilisation est strictement encadrée par la loi.</a:t>
            </a:r>
          </a:p>
          <a:p>
            <a:pPr lvl="0">
              <a:buFont typeface="Wingdings" pitchFamily="2" charset="2"/>
              <a:buChar char="Ø"/>
            </a:pP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887135"/>
            <a:ext cx="8824082" cy="467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Les cellules souches pluripotentes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Issues d'un embryon de 5 à 7 jour (stade </a:t>
            </a:r>
            <a:r>
              <a:rPr lang="fr-FR" sz="2800" dirty="0" err="1" smtClean="0"/>
              <a:t>blastocyste</a:t>
            </a:r>
            <a:r>
              <a:rPr lang="fr-FR" sz="2800" dirty="0" smtClean="0"/>
              <a:t> :</a:t>
            </a:r>
          </a:p>
          <a:p>
            <a:r>
              <a:rPr lang="fr-FR" sz="2800" dirty="0" smtClean="0"/>
              <a:t> bouton embryonnaire).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Elles peuvent donner naissance à plus de 200 types de </a:t>
            </a:r>
          </a:p>
          <a:p>
            <a:r>
              <a:rPr lang="fr-FR" sz="2800" dirty="0" smtClean="0"/>
              <a:t>cellules représentatifs de tous les tissus de l'organisme.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Ces cellules sont prélevées et placées en culture où elles </a:t>
            </a:r>
          </a:p>
          <a:p>
            <a:r>
              <a:rPr lang="fr-FR" sz="2800" dirty="0" smtClean="0"/>
              <a:t>vont alors se multiplier et, selon leur milieu se culture, </a:t>
            </a:r>
          </a:p>
          <a:p>
            <a:r>
              <a:rPr lang="fr-FR" sz="2800" dirty="0" smtClean="0"/>
              <a:t>se différencier en tel ou tel type de cellules spécialisées : </a:t>
            </a:r>
          </a:p>
          <a:p>
            <a:r>
              <a:rPr lang="fr-FR" sz="2800" dirty="0" smtClean="0"/>
              <a:t>cellules sanguines, cellules du cerveau, cellules du foie, etc</a:t>
            </a:r>
            <a:r>
              <a:rPr lang="fr-FR" dirty="0" smtClean="0"/>
              <a:t>.</a:t>
            </a:r>
          </a:p>
          <a:p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980728"/>
            <a:ext cx="929401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Les cellules souches </a:t>
            </a:r>
            <a:r>
              <a:rPr lang="fr-FR" sz="2800" b="1" dirty="0" err="1" smtClean="0">
                <a:solidFill>
                  <a:srgbClr val="0070C0"/>
                </a:solidFill>
              </a:rPr>
              <a:t>multipotentes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Issues de tissus adultes, elles peuvent donner naissance à </a:t>
            </a:r>
          </a:p>
          <a:p>
            <a:r>
              <a:rPr lang="fr-FR" sz="2800" dirty="0" smtClean="0"/>
              <a:t>plusieurs types cellulaires.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Elles participent chez l’adulte au renouvellement des tissus</a:t>
            </a:r>
          </a:p>
          <a:p>
            <a:r>
              <a:rPr lang="fr-FR" sz="2800" dirty="0" smtClean="0"/>
              <a:t> comme les cellules </a:t>
            </a:r>
            <a:r>
              <a:rPr lang="fr-FR" sz="2800" b="1" dirty="0" smtClean="0">
                <a:solidFill>
                  <a:srgbClr val="00B050"/>
                </a:solidFill>
              </a:rPr>
              <a:t>souches mésenchymateuses (CSM).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solidFill>
                  <a:srgbClr val="0070C0"/>
                </a:solidFill>
              </a:rPr>
              <a:t> </a:t>
            </a:r>
            <a:r>
              <a:rPr lang="fr-FR" sz="2800" dirty="0" smtClean="0"/>
              <a:t>Il s’agit de cellules souches adultes présentes dans tout</a:t>
            </a:r>
          </a:p>
          <a:p>
            <a:r>
              <a:rPr lang="fr-FR" sz="2800" dirty="0" smtClean="0"/>
              <a:t> l’organisme au sein du tissu adipeux, de la moelle osseuse, </a:t>
            </a:r>
          </a:p>
          <a:p>
            <a:r>
              <a:rPr lang="fr-FR" sz="2800" dirty="0" smtClean="0"/>
              <a:t>des tissus de soutien des organes, des os, des cartilages, </a:t>
            </a:r>
          </a:p>
          <a:p>
            <a:r>
              <a:rPr lang="fr-FR" sz="2800" dirty="0" smtClean="0"/>
              <a:t>des muscles et pouvant donner naissance à des cellules</a:t>
            </a:r>
          </a:p>
          <a:p>
            <a:r>
              <a:rPr lang="fr-FR" sz="2800" dirty="0" smtClean="0"/>
              <a:t> cartilagineuses, osseuses, musculaires, etc.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1340768"/>
            <a:ext cx="920687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Les cellules souches </a:t>
            </a:r>
            <a:r>
              <a:rPr lang="fr-FR" sz="2800" b="1" dirty="0" err="1" smtClean="0">
                <a:solidFill>
                  <a:srgbClr val="0070C0"/>
                </a:solidFill>
              </a:rPr>
              <a:t>unipotentes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Issues de tissus adultes, elles ne peuvent donner naissance </a:t>
            </a:r>
          </a:p>
          <a:p>
            <a:r>
              <a:rPr lang="fr-FR" sz="2800" dirty="0" smtClean="0"/>
              <a:t>qu’à un type de cellule.</a:t>
            </a:r>
          </a:p>
          <a:p>
            <a:endParaRPr lang="fr-FR" sz="2800" dirty="0" smtClean="0"/>
          </a:p>
          <a:p>
            <a:r>
              <a:rPr lang="fr-FR" sz="2800" dirty="0" smtClean="0"/>
              <a:t>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1340768"/>
            <a:ext cx="953915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Les cellules souches pluripotentes induites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Egalement nommées cellules </a:t>
            </a:r>
            <a:r>
              <a:rPr lang="fr-FR" sz="2800" dirty="0" err="1" smtClean="0"/>
              <a:t>Ips</a:t>
            </a:r>
            <a:endParaRPr lang="fr-FR" sz="2800" dirty="0" smtClean="0"/>
          </a:p>
          <a:p>
            <a:r>
              <a:rPr lang="fr-FR" sz="2800" dirty="0" smtClean="0"/>
              <a:t>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("</a:t>
            </a:r>
            <a:r>
              <a:rPr lang="fr-FR" sz="2800" b="1" dirty="0" err="1" smtClean="0">
                <a:solidFill>
                  <a:srgbClr val="00B0F0"/>
                </a:solidFill>
              </a:rPr>
              <a:t>induced</a:t>
            </a:r>
            <a:r>
              <a:rPr lang="fr-FR" sz="2800" b="1" dirty="0" smtClean="0">
                <a:solidFill>
                  <a:srgbClr val="00B0F0"/>
                </a:solidFill>
              </a:rPr>
              <a:t> pluripotent stem </a:t>
            </a:r>
            <a:r>
              <a:rPr lang="fr-FR" sz="2800" b="1" dirty="0" err="1" smtClean="0">
                <a:solidFill>
                  <a:srgbClr val="00B0F0"/>
                </a:solidFill>
              </a:rPr>
              <a:t>cells</a:t>
            </a:r>
            <a:r>
              <a:rPr lang="fr-FR" sz="2800" b="1" dirty="0" smtClean="0">
                <a:solidFill>
                  <a:srgbClr val="00B0F0"/>
                </a:solidFill>
              </a:rPr>
              <a:t>")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Cellules souches adultes qui ont été reprogrammées </a:t>
            </a:r>
          </a:p>
          <a:p>
            <a:r>
              <a:rPr lang="fr-FR" sz="2800" dirty="0" smtClean="0"/>
              <a:t>génétiquement pour avoir les caractéristiques des cellules </a:t>
            </a:r>
          </a:p>
          <a:p>
            <a:r>
              <a:rPr lang="fr-FR" sz="2800" dirty="0" smtClean="0"/>
              <a:t>souches embryonnaires.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Comme les cellules souches embryonnaires, les cellules IPS </a:t>
            </a:r>
          </a:p>
          <a:p>
            <a:r>
              <a:rPr lang="fr-FR" sz="2800" dirty="0" smtClean="0"/>
              <a:t>ont cette capacité d’auto-</a:t>
            </a:r>
            <a:r>
              <a:rPr lang="fr-FR" sz="2800" dirty="0" err="1" smtClean="0"/>
              <a:t>renouvellemement</a:t>
            </a:r>
            <a:r>
              <a:rPr lang="fr-FR" sz="2800" dirty="0" smtClean="0"/>
              <a:t> et de </a:t>
            </a:r>
            <a:r>
              <a:rPr lang="fr-FR" sz="2800" dirty="0" err="1" smtClean="0"/>
              <a:t>pluripotence</a:t>
            </a:r>
            <a:r>
              <a:rPr lang="fr-FR" sz="2800" dirty="0" smtClean="0"/>
              <a:t>,</a:t>
            </a:r>
          </a:p>
          <a:p>
            <a:r>
              <a:rPr lang="fr-FR" sz="2800" dirty="0" smtClean="0"/>
              <a:t> avec l'avantage d'être faciles d’accès (une simple biopsie suffit)</a:t>
            </a:r>
          </a:p>
          <a:p>
            <a:r>
              <a:rPr lang="fr-FR" sz="2800" dirty="0" smtClean="0"/>
              <a:t> et de ne pas poser problèmes éthiques des cellules souches</a:t>
            </a:r>
          </a:p>
          <a:p>
            <a:r>
              <a:rPr lang="fr-FR" sz="2800" dirty="0" smtClean="0"/>
              <a:t> embryonnaires.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:\Users\dell\Desktop\cellules-souches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748463" cy="616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979712" y="64533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39552" y="6211669"/>
            <a:ext cx="76738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Les différents types de cellules souches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620688"/>
            <a:ext cx="902946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PERSPECTIVES THERAPEUTIQUES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endParaRPr lang="fr-FR" sz="2800" b="1" dirty="0" smtClean="0">
              <a:solidFill>
                <a:srgbClr val="FF000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L'espoir </a:t>
            </a:r>
            <a:r>
              <a:rPr lang="fr-FR" sz="2800" dirty="0"/>
              <a:t>des chercheurs et médecins est de pouvoir </a:t>
            </a:r>
            <a:r>
              <a:rPr lang="fr-FR" sz="2800" dirty="0" smtClean="0"/>
              <a:t>utiliser</a:t>
            </a:r>
          </a:p>
          <a:p>
            <a:pPr marL="514350" indent="-514350"/>
            <a:r>
              <a:rPr lang="fr-FR" sz="2800" dirty="0" smtClean="0"/>
              <a:t>Les cellules souches, ce  </a:t>
            </a:r>
            <a:r>
              <a:rPr lang="fr-FR" sz="2800" dirty="0"/>
              <a:t>potentiel pour réparer ou </a:t>
            </a:r>
            <a:r>
              <a:rPr lang="fr-FR" sz="2800" dirty="0" smtClean="0"/>
              <a:t>remplacer</a:t>
            </a:r>
          </a:p>
          <a:p>
            <a:pPr marL="514350" indent="-514350"/>
            <a:r>
              <a:rPr lang="fr-FR" sz="2800" dirty="0" smtClean="0"/>
              <a:t> </a:t>
            </a:r>
            <a:r>
              <a:rPr lang="fr-FR" sz="2800" dirty="0"/>
              <a:t>des organes abimés </a:t>
            </a:r>
            <a:r>
              <a:rPr lang="fr-FR" sz="2800" dirty="0" smtClean="0"/>
              <a:t>ou  </a:t>
            </a:r>
            <a:r>
              <a:rPr lang="fr-FR" sz="2800" dirty="0"/>
              <a:t>traiter certaines maladies</a:t>
            </a:r>
            <a:r>
              <a:rPr lang="fr-FR" sz="2800" dirty="0" smtClean="0"/>
              <a:t>.</a:t>
            </a:r>
          </a:p>
          <a:p>
            <a:pPr marL="514350" indent="-514350"/>
            <a:r>
              <a:rPr lang="fr-FR" sz="2800" dirty="0" smtClean="0"/>
              <a:t> </a:t>
            </a:r>
          </a:p>
          <a:p>
            <a:pPr marL="514350" indent="-514350"/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052736"/>
            <a:ext cx="277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3200" dirty="0" smtClean="0"/>
              <a:t> </a:t>
            </a:r>
            <a:endParaRPr lang="fr-FR" sz="3200" dirty="0"/>
          </a:p>
        </p:txBody>
      </p:sp>
      <p:sp>
        <p:nvSpPr>
          <p:cNvPr id="5" name="ZoneTexte 4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315416"/>
            <a:ext cx="960872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PERSPECTIVES 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CELLULAIRE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fr-FR" sz="2800" dirty="0" smtClean="0"/>
              <a:t>Consiste </a:t>
            </a:r>
            <a:r>
              <a:rPr lang="fr-FR" sz="2800" dirty="0"/>
              <a:t>à </a:t>
            </a:r>
            <a:r>
              <a:rPr lang="fr-FR" sz="2800" b="1" dirty="0">
                <a:solidFill>
                  <a:srgbClr val="FF0000"/>
                </a:solidFill>
              </a:rPr>
              <a:t>greffer</a:t>
            </a:r>
            <a:r>
              <a:rPr lang="fr-FR" sz="2800" dirty="0"/>
              <a:t> des cellules pour </a:t>
            </a:r>
            <a:r>
              <a:rPr lang="fr-FR" sz="2800" b="1" dirty="0">
                <a:solidFill>
                  <a:srgbClr val="FF0000"/>
                </a:solidFill>
              </a:rPr>
              <a:t>réparer</a:t>
            </a:r>
            <a:r>
              <a:rPr lang="fr-FR" sz="2800" dirty="0"/>
              <a:t> ou </a:t>
            </a:r>
            <a:r>
              <a:rPr lang="fr-FR" sz="2800" b="1" dirty="0">
                <a:solidFill>
                  <a:srgbClr val="FF0000"/>
                </a:solidFill>
              </a:rPr>
              <a:t>régénérer</a:t>
            </a:r>
            <a:r>
              <a:rPr lang="fr-FR" sz="2800" dirty="0"/>
              <a:t> </a:t>
            </a:r>
            <a:r>
              <a:rPr lang="fr-FR" sz="2800" dirty="0" smtClean="0"/>
              <a:t>un</a:t>
            </a:r>
          </a:p>
          <a:p>
            <a:pPr marL="514350" indent="-514350"/>
            <a:r>
              <a:rPr lang="fr-FR" sz="2800" dirty="0" smtClean="0"/>
              <a:t> </a:t>
            </a:r>
            <a:r>
              <a:rPr lang="fr-FR" sz="2800" dirty="0"/>
              <a:t>organe ou un tissu </a:t>
            </a:r>
            <a:r>
              <a:rPr lang="fr-FR" sz="2800" dirty="0" smtClean="0"/>
              <a:t>endommagé.</a:t>
            </a:r>
          </a:p>
          <a:p>
            <a:pPr marL="514350" indent="-514350"/>
            <a:endParaRPr lang="fr-FR" sz="2800" dirty="0" smtClean="0"/>
          </a:p>
          <a:p>
            <a:pPr marL="514350" indent="-514350">
              <a:buFont typeface="Wingdings" pitchFamily="2" charset="2"/>
              <a:buChar char="Ø"/>
            </a:pPr>
            <a:r>
              <a:rPr lang="fr-FR" sz="2800" dirty="0" smtClean="0"/>
              <a:t>En cas de maladie, certaines cellules souches peuvent être</a:t>
            </a:r>
          </a:p>
          <a:p>
            <a:r>
              <a:rPr lang="fr-FR" sz="2800" dirty="0" smtClean="0"/>
              <a:t> prélevées, cultivées puis réinjectées afin de restaurer la fonction</a:t>
            </a:r>
          </a:p>
          <a:p>
            <a:r>
              <a:rPr lang="fr-FR" sz="2800" dirty="0" smtClean="0"/>
              <a:t> du tissu ou de l'organe défaillant</a:t>
            </a:r>
            <a:r>
              <a:rPr lang="fr-FR" sz="2800" dirty="0"/>
              <a:t>. Grâce au fort potentiel régénératif des cellules souches, </a:t>
            </a:r>
          </a:p>
          <a:p>
            <a:r>
              <a:rPr lang="fr-FR" sz="2800" dirty="0"/>
              <a:t>cette </a:t>
            </a:r>
            <a:r>
              <a:rPr lang="fr-FR" sz="2800" dirty="0" smtClean="0"/>
              <a:t>approche, très prometteuse, comporte un;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risque </a:t>
            </a:r>
            <a:r>
              <a:rPr lang="fr-FR" sz="2800" dirty="0"/>
              <a:t>de dégénérescence </a:t>
            </a:r>
            <a:r>
              <a:rPr lang="fr-FR" sz="2800" dirty="0" smtClean="0"/>
              <a:t>cellulaire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Risque de croissance cellulaire incontrôlée ( tumorale).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:\Users\dell\Desktop\Sans titre2.bmp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0"/>
            <a:ext cx="8964488" cy="6162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55239" y="6211669"/>
            <a:ext cx="544251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THERAPIE CELLULAIRE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2592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PERSPECTIVES 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La thérapie génique constitue l’une des voies privilégiées pour  traiter les maladies génétiques.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Elle consiste à insérer, dans  les cellules du malade, une version normale d’un gène qui ne  fonctionne pas et cause la maladie.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Le gène fonctionnel permet alors au patient de produire à nouveau la protéine  dont la déficience était la source de la maladie.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600898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PERSPECTIVES 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r>
              <a:rPr lang="fr-FR" sz="2800" dirty="0" smtClean="0"/>
              <a:t>Pour réussir l’opération, trois conditions doivent être remplies :</a:t>
            </a:r>
          </a:p>
          <a:p>
            <a:pPr lvl="0"/>
            <a:endParaRPr lang="fr-FR" sz="2800" b="1" dirty="0" smtClean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Connaître le gène responsable de la maladie</a:t>
            </a:r>
            <a:r>
              <a:rPr lang="fr-FR" sz="2800" dirty="0" smtClean="0"/>
              <a:t>,</a:t>
            </a:r>
          </a:p>
          <a:p>
            <a:pPr lvl="0"/>
            <a:r>
              <a:rPr lang="fr-FR" sz="2800" dirty="0" smtClean="0"/>
              <a:t> soit la fonction de ce gène, afin de pouvoir « réparer » la cellule.</a:t>
            </a:r>
          </a:p>
          <a:p>
            <a:pPr lvl="0"/>
            <a:endParaRPr lang="fr-FR" sz="2800" b="1" dirty="0" smtClean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Permettre au gène d’atteindre et entrer dans la cellule</a:t>
            </a:r>
          </a:p>
          <a:p>
            <a:pPr lvl="0"/>
            <a:r>
              <a:rPr lang="fr-FR" sz="2800" b="1" dirty="0" smtClean="0"/>
              <a:t> </a:t>
            </a:r>
            <a:r>
              <a:rPr lang="fr-FR" sz="2800" dirty="0" smtClean="0"/>
              <a:t>à l’aide d’un « vecteur », le plus souvent un virus que l’on a </a:t>
            </a:r>
          </a:p>
          <a:p>
            <a:pPr lvl="0"/>
            <a:r>
              <a:rPr lang="fr-FR" sz="2800" dirty="0" smtClean="0"/>
              <a:t>rendu inoffensif pour le malade.</a:t>
            </a:r>
          </a:p>
          <a:p>
            <a:pPr lvl="0"/>
            <a:endParaRPr lang="fr-FR" sz="2800" b="1" dirty="0" smtClean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Associer le gène à un « promoteur »,</a:t>
            </a:r>
            <a:r>
              <a:rPr lang="fr-FR" sz="2800" dirty="0" smtClean="0"/>
              <a:t> une petite séquence</a:t>
            </a:r>
          </a:p>
          <a:p>
            <a:pPr lvl="0"/>
            <a:r>
              <a:rPr lang="fr-FR" sz="2800" dirty="0" smtClean="0"/>
              <a:t> d’ADN qui permet son fonctionnement une fois au sein de la</a:t>
            </a:r>
          </a:p>
          <a:p>
            <a:pPr lvl="0"/>
            <a:r>
              <a:rPr lang="fr-FR" sz="2800" dirty="0" smtClean="0"/>
              <a:t> cellule.</a:t>
            </a:r>
          </a:p>
          <a:p>
            <a:r>
              <a:rPr lang="fr-FR" sz="2800" dirty="0" smtClean="0"/>
              <a:t> 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 </a:t>
            </a:r>
          </a:p>
          <a:p>
            <a:pPr marL="514350" indent="-514350">
              <a:buFont typeface="Wingdings" pitchFamily="2" charset="2"/>
              <a:buChar char="Ø"/>
            </a:pPr>
            <a:endParaRPr lang="fr-FR" sz="2800" b="1" dirty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:\Users\dell\Desktop\Thérapie+génique+somatique+exvivo+utilisant+des+virus+modifiés+comme+vecteur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"/>
            <a:ext cx="8784976" cy="618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01487" y="6211669"/>
            <a:ext cx="47500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THERAPIE GENIQUE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91253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PERSPECTIVES 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r>
              <a:rPr lang="fr-FR" sz="2800" b="1" i="1" dirty="0" smtClean="0"/>
              <a:t>Thérapie génique in vivo</a:t>
            </a:r>
            <a:r>
              <a:rPr lang="fr-FR" sz="2800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consiste en un transfert de gènes  direct,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2800" dirty="0" smtClean="0"/>
              <a:t> soit par injection systémique dans la circulation </a:t>
            </a:r>
          </a:p>
          <a:p>
            <a:r>
              <a:rPr lang="fr-FR" sz="2800" dirty="0" smtClean="0"/>
              <a:t>sanguine,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2800" dirty="0" smtClean="0"/>
              <a:t>soit par injection locale au niveau d’un tissu ou </a:t>
            </a:r>
          </a:p>
          <a:p>
            <a:r>
              <a:rPr lang="fr-FR" sz="2800" dirty="0" smtClean="0"/>
              <a:t>organe,</a:t>
            </a:r>
          </a:p>
          <a:p>
            <a:r>
              <a:rPr lang="fr-FR" sz="2800" dirty="0" smtClean="0"/>
              <a:t>EX 1: transfert de gènes direct par  injection au niveau de la rétine  (maladies </a:t>
            </a:r>
            <a:r>
              <a:rPr lang="fr-FR" sz="2800" dirty="0"/>
              <a:t>génétiques </a:t>
            </a:r>
            <a:r>
              <a:rPr lang="fr-FR" sz="2800" dirty="0" smtClean="0"/>
              <a:t>affectant la </a:t>
            </a:r>
            <a:r>
              <a:rPr lang="fr-FR" sz="2800" dirty="0"/>
              <a:t>vision)</a:t>
            </a:r>
            <a:endParaRPr lang="fr-FR" sz="2800" dirty="0" smtClean="0"/>
          </a:p>
          <a:p>
            <a:r>
              <a:rPr lang="fr-FR" sz="2800" dirty="0" smtClean="0"/>
              <a:t>EX2:</a:t>
            </a:r>
            <a:r>
              <a:rPr lang="fr-FR" sz="2800" dirty="0"/>
              <a:t> transfert de gènes direct par  injection </a:t>
            </a:r>
            <a:r>
              <a:rPr lang="fr-FR" sz="2800" dirty="0" smtClean="0"/>
              <a:t>au niveau des muscles (dystrophies musculaires  d’origine génétique). </a:t>
            </a:r>
            <a:br>
              <a:rPr lang="fr-FR" sz="2800" dirty="0" smtClean="0"/>
            </a:br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 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 </a:t>
            </a:r>
          </a:p>
          <a:p>
            <a:pPr marL="514350" indent="-514350">
              <a:buFont typeface="Wingdings" pitchFamily="2" charset="2"/>
              <a:buChar char="Ø"/>
            </a:pPr>
            <a:endParaRPr lang="fr-FR" sz="2800" b="1" dirty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2405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PERSPECTIVES 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r>
              <a:rPr lang="fr-FR" sz="2800" b="1" i="1" dirty="0" smtClean="0"/>
              <a:t>Thérapie génique ex vivo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Prélèvement  de cellules chez l’individu à traiter.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Culture des cellules et transfert de gènes,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Réimplantation des cellules chez l’individu. </a:t>
            </a:r>
          </a:p>
          <a:p>
            <a:r>
              <a:rPr lang="fr-FR" sz="2800" dirty="0" smtClean="0"/>
              <a:t> 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 </a:t>
            </a:r>
          </a:p>
          <a:p>
            <a:pPr marL="514350" indent="-514350">
              <a:buFont typeface="Wingdings" pitchFamily="2" charset="2"/>
              <a:buChar char="Ø"/>
            </a:pPr>
            <a:endParaRPr lang="fr-FR" sz="2800" b="1" dirty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315416"/>
            <a:ext cx="977094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PERSPECTIVES 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r>
              <a:rPr lang="fr-FR" sz="2800" b="1" dirty="0" smtClean="0"/>
              <a:t>Les vecteurs</a:t>
            </a:r>
            <a:endParaRPr lang="fr-FR" sz="2800" dirty="0" smtClean="0"/>
          </a:p>
          <a:p>
            <a:r>
              <a:rPr lang="fr-FR" sz="2800" dirty="0" smtClean="0"/>
              <a:t>Le transfert de gènes s’effectue grâce à un outil appelé vecteur,</a:t>
            </a:r>
          </a:p>
          <a:p>
            <a:r>
              <a:rPr lang="fr-FR" sz="2800" dirty="0" smtClean="0"/>
              <a:t> qui permettra de transférer dans la cellule: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une séquence  codante (transfert de « transgène »),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des séquences  modifiant l’expression de certains gènes,</a:t>
            </a:r>
            <a:br>
              <a:rPr lang="fr-FR" sz="2800" dirty="0" smtClean="0"/>
            </a:br>
            <a:endParaRPr lang="fr-FR" sz="2800" dirty="0" smtClean="0"/>
          </a:p>
          <a:p>
            <a:r>
              <a:rPr lang="fr-FR" sz="2800" dirty="0" smtClean="0"/>
              <a:t>On distingue les vecteurs: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2800" dirty="0" smtClean="0"/>
              <a:t>viraux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2800" dirty="0" smtClean="0"/>
              <a:t> non-viraux </a:t>
            </a:r>
            <a:br>
              <a:rPr lang="fr-FR" sz="2800" dirty="0" smtClean="0"/>
            </a:br>
            <a:endParaRPr lang="fr-FR" sz="2800" dirty="0" smtClean="0"/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 </a:t>
            </a:r>
          </a:p>
          <a:p>
            <a:pPr marL="514350" indent="-514350">
              <a:buFont typeface="Wingdings" pitchFamily="2" charset="2"/>
              <a:buChar char="Ø"/>
            </a:pPr>
            <a:endParaRPr lang="fr-FR" sz="2800" b="1" dirty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121381"/>
            <a:ext cx="953344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PERSPECTIVES 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pPr lvl="0"/>
            <a:r>
              <a:rPr lang="fr-FR" sz="2800" b="1" i="1" dirty="0" smtClean="0"/>
              <a:t>Vecteurs viraux</a:t>
            </a:r>
            <a:endParaRPr lang="fr-FR" sz="2800" dirty="0" smtClean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fr-FR" sz="2800" dirty="0" smtClean="0"/>
              <a:t>Virus sauvages rendus non réplicatifs par modification</a:t>
            </a:r>
          </a:p>
          <a:p>
            <a:pPr lvl="0"/>
            <a:r>
              <a:rPr lang="fr-FR" sz="2800" dirty="0" smtClean="0"/>
              <a:t> de leur génome.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fr-FR" sz="2800" dirty="0" smtClean="0"/>
              <a:t> Les virus sauvages naturels ont développé  des systèmes très efficaces de transfert de gènes, puisque le</a:t>
            </a:r>
          </a:p>
          <a:p>
            <a:pPr lvl="0"/>
            <a:r>
              <a:rPr lang="fr-FR" sz="2800" dirty="0" smtClean="0"/>
              <a:t> cycle viral implique le transfert du génome viral dans le génome</a:t>
            </a:r>
          </a:p>
          <a:p>
            <a:pPr lvl="0"/>
            <a:r>
              <a:rPr lang="fr-FR" sz="2800" dirty="0" smtClean="0"/>
              <a:t> de la cellule hôte.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fr-FR" sz="2800" dirty="0" smtClean="0"/>
              <a:t> Tous les vecteurs viraux posent néanmoins des problèmes de</a:t>
            </a:r>
          </a:p>
          <a:p>
            <a:pPr lvl="0"/>
            <a:r>
              <a:rPr lang="fr-FR" sz="2800" dirty="0" smtClean="0"/>
              <a:t> toxicité et/ou d’</a:t>
            </a:r>
            <a:r>
              <a:rPr lang="fr-FR" sz="2800" dirty="0" err="1" smtClean="0"/>
              <a:t>immunogénicité</a:t>
            </a:r>
            <a:r>
              <a:rPr lang="fr-FR" sz="2800" dirty="0" smtClean="0"/>
              <a:t>.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 </a:t>
            </a:r>
          </a:p>
          <a:p>
            <a:pPr marL="514350" indent="-514350">
              <a:buFont typeface="Wingdings" pitchFamily="2" charset="2"/>
              <a:buChar char="Ø"/>
            </a:pPr>
            <a:endParaRPr lang="fr-FR" sz="2800" b="1" dirty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171400"/>
            <a:ext cx="21892596" cy="88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PERSPECTIVES 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pPr lvl="0"/>
            <a:r>
              <a:rPr lang="fr-FR" sz="2800" b="1" i="1" dirty="0" smtClean="0"/>
              <a:t>Vecteurs viraux</a:t>
            </a:r>
            <a:endParaRPr lang="fr-FR" sz="2800" dirty="0" smtClean="0"/>
          </a:p>
          <a:p>
            <a:pPr lvl="0"/>
            <a:r>
              <a:rPr lang="fr-FR" sz="2400" dirty="0" smtClean="0"/>
              <a:t>Avantages et  inconvénients  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400" dirty="0" smtClean="0"/>
              <a:t>la spécificité  du vecteur pour le transfert de gène dans un  type cellulaire</a:t>
            </a:r>
          </a:p>
          <a:p>
            <a:r>
              <a:rPr lang="fr-FR" sz="2400" dirty="0" smtClean="0"/>
              <a:t> donné ; </a:t>
            </a:r>
          </a:p>
          <a:p>
            <a:pPr lvl="0">
              <a:buFont typeface="Wingdings" pitchFamily="2" charset="2"/>
              <a:buChar char="Ø"/>
            </a:pPr>
            <a:r>
              <a:rPr lang="fr-FR" sz="2400" dirty="0" smtClean="0"/>
              <a:t>la taille plus ou moins grande de la séquence pouvant être transférée ; </a:t>
            </a:r>
          </a:p>
          <a:p>
            <a:pPr lvl="0">
              <a:buFont typeface="Wingdings" pitchFamily="2" charset="2"/>
              <a:buChar char="Ø"/>
            </a:pPr>
            <a:r>
              <a:rPr lang="fr-FR" sz="2400" dirty="0" smtClean="0"/>
              <a:t>la stabilité ou non du transfert de gène en fonction de  l’intégration du</a:t>
            </a:r>
          </a:p>
          <a:p>
            <a:pPr lvl="0"/>
            <a:r>
              <a:rPr lang="fr-FR" sz="2400" dirty="0" smtClean="0"/>
              <a:t> vecteur dans le génome de la cellule hôte ;</a:t>
            </a:r>
          </a:p>
          <a:p>
            <a:pPr lvl="0">
              <a:buFont typeface="Wingdings" pitchFamily="2" charset="2"/>
              <a:buChar char="Ø"/>
            </a:pPr>
            <a:r>
              <a:rPr lang="fr-FR" sz="2400" dirty="0" smtClean="0"/>
              <a:t>la perte du vecteur au cours de la réplication cellulaire ;</a:t>
            </a:r>
          </a:p>
          <a:p>
            <a:pPr lvl="0">
              <a:buFont typeface="Wingdings" pitchFamily="2" charset="2"/>
              <a:buChar char="Ø"/>
            </a:pPr>
            <a:r>
              <a:rPr lang="fr-FR" sz="2400" dirty="0" smtClean="0"/>
              <a:t>la toxicité spécifique du type de vecteur.</a:t>
            </a:r>
          </a:p>
          <a:p>
            <a:r>
              <a:rPr lang="fr-FR" sz="2400" dirty="0" smtClean="0"/>
              <a:t> </a:t>
            </a:r>
          </a:p>
          <a:p>
            <a:r>
              <a:rPr lang="fr-FR" sz="2400" dirty="0" smtClean="0"/>
              <a:t>A ce jour, les plus fréquemment utilisés sont: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/>
              <a:t> les vecteurs rétroviraux,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/>
              <a:t> les vecteurs lentiviraux,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/>
              <a:t> les vecteurs adénoviraux.</a:t>
            </a:r>
          </a:p>
          <a:p>
            <a:r>
              <a:rPr lang="fr-FR" sz="2800" dirty="0" smtClean="0"/>
              <a:t/>
            </a:r>
            <a:br>
              <a:rPr lang="fr-FR" sz="2800" dirty="0" smtClean="0"/>
            </a:br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 </a:t>
            </a:r>
          </a:p>
          <a:p>
            <a:pPr marL="514350" indent="-514350">
              <a:buFont typeface="Wingdings" pitchFamily="2" charset="2"/>
              <a:buChar char="Ø"/>
            </a:pPr>
            <a:endParaRPr lang="fr-FR" sz="2800" b="1" dirty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16632"/>
            <a:ext cx="21892596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PERSPECTIVES 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pPr lvl="0"/>
            <a:r>
              <a:rPr lang="fr-FR" sz="2800" b="1" i="1" dirty="0" smtClean="0"/>
              <a:t>Vecteurs non viraux</a:t>
            </a:r>
            <a:endParaRPr lang="fr-FR" sz="2800" dirty="0" smtClean="0"/>
          </a:p>
          <a:p>
            <a:r>
              <a:rPr lang="fr-FR" sz="2400" dirty="0" smtClean="0"/>
              <a:t>Transfert d’acides nucléiques  associés à des composés:</a:t>
            </a:r>
          </a:p>
          <a:p>
            <a:r>
              <a:rPr lang="fr-FR" sz="2400" dirty="0" smtClean="0"/>
              <a:t> chimiques</a:t>
            </a:r>
          </a:p>
          <a:p>
            <a:r>
              <a:rPr lang="fr-FR" sz="2400" dirty="0" smtClean="0"/>
              <a:t> lipidiques </a:t>
            </a:r>
          </a:p>
          <a:p>
            <a:r>
              <a:rPr lang="fr-FR" sz="2400" dirty="0" smtClean="0"/>
              <a:t> peptidiques </a:t>
            </a:r>
          </a:p>
          <a:p>
            <a:endParaRPr lang="fr-FR" sz="2400" dirty="0" smtClean="0"/>
          </a:p>
          <a:p>
            <a:r>
              <a:rPr lang="fr-FR" sz="2400" dirty="0" smtClean="0"/>
              <a:t>Acides nucléiques + composés chimiques                 organisme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 smtClean="0"/>
              <a:t>injection  (locale ou systémiques),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 smtClean="0"/>
              <a:t>couplé à l’utilisation de procédés physiques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 smtClean="0"/>
              <a:t>l’électroporation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 smtClean="0"/>
              <a:t>l’utilisation de champs magnétiques. </a:t>
            </a:r>
          </a:p>
          <a:p>
            <a:r>
              <a:rPr lang="fr-FR" sz="2400" dirty="0" smtClean="0"/>
              <a:t>Avantages et nconvenients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/>
              <a:t>risque de  toxicité réduit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/>
              <a:t>efficacité inférieure par comparaison à  un transfert viral.</a:t>
            </a:r>
          </a:p>
          <a:p>
            <a:pPr lvl="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 </a:t>
            </a:r>
          </a:p>
          <a:p>
            <a:pPr marL="514350" indent="-514350">
              <a:buFont typeface="Wingdings" pitchFamily="2" charset="2"/>
              <a:buChar char="Ø"/>
            </a:pPr>
            <a:endParaRPr lang="fr-FR" sz="2800" b="1" dirty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504485" y="2276872"/>
            <a:ext cx="36092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</a:rPr>
              <a:t>dans le but de stabiliser les acides</a:t>
            </a:r>
          </a:p>
          <a:p>
            <a:r>
              <a:rPr lang="fr-FR" b="1" dirty="0">
                <a:solidFill>
                  <a:srgbClr val="00B050"/>
                </a:solidFill>
              </a:rPr>
              <a:t> nucléiques et de faciliter le </a:t>
            </a:r>
            <a:r>
              <a:rPr lang="fr-FR" b="1" dirty="0" smtClean="0">
                <a:solidFill>
                  <a:srgbClr val="00B050"/>
                </a:solidFill>
              </a:rPr>
              <a:t>passage</a:t>
            </a:r>
          </a:p>
          <a:p>
            <a:r>
              <a:rPr lang="fr-FR" b="1" dirty="0" smtClean="0">
                <a:solidFill>
                  <a:srgbClr val="00B050"/>
                </a:solidFill>
              </a:rPr>
              <a:t> </a:t>
            </a:r>
            <a:r>
              <a:rPr lang="fr-FR" b="1" dirty="0">
                <a:solidFill>
                  <a:srgbClr val="00B050"/>
                </a:solidFill>
              </a:rPr>
              <a:t>membranaire et le cheminement</a:t>
            </a:r>
          </a:p>
          <a:p>
            <a:r>
              <a:rPr lang="fr-FR" b="1" dirty="0">
                <a:solidFill>
                  <a:srgbClr val="00B050"/>
                </a:solidFill>
              </a:rPr>
              <a:t> vers le noyau des cellules cibles. 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5436096" y="3933056"/>
            <a:ext cx="864096" cy="20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76672"/>
            <a:ext cx="1021279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APPLICATION DES CELLULES SOUCHES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Thérapie cellulaire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La thérapie cellulaire  est déjà mise en pratique depuis les </a:t>
            </a:r>
          </a:p>
          <a:p>
            <a:pPr lvl="0"/>
            <a:r>
              <a:rPr lang="fr-FR" sz="2800" dirty="0" smtClean="0"/>
              <a:t>années 70 avec la greffe de moelle osseuse, nécessaire dans</a:t>
            </a:r>
          </a:p>
          <a:p>
            <a:pPr lvl="0"/>
            <a:r>
              <a:rPr lang="fr-FR" sz="2800" dirty="0" smtClean="0"/>
              <a:t> certaines maladies graves du sang comme la leucémie, certains</a:t>
            </a:r>
          </a:p>
          <a:p>
            <a:pPr lvl="0"/>
            <a:r>
              <a:rPr lang="fr-FR" sz="2800" dirty="0" smtClean="0"/>
              <a:t> lymphomes non hodgkiniens, l’anémie aplasique, la thalassémie, </a:t>
            </a:r>
          </a:p>
          <a:p>
            <a:pPr lvl="0"/>
            <a:r>
              <a:rPr lang="fr-FR" sz="2800" dirty="0" smtClean="0"/>
              <a:t>la drépanocytose notamment.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Cette greffe concerne les cellules souches dites hématopoïétiques </a:t>
            </a:r>
          </a:p>
          <a:p>
            <a:pPr lvl="0"/>
            <a:r>
              <a:rPr lang="fr-FR" sz="2800" dirty="0" smtClean="0"/>
              <a:t>(CSH).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Issues de la moelle osseuse, ces cellules souches donnent</a:t>
            </a:r>
          </a:p>
          <a:p>
            <a:pPr lvl="0"/>
            <a:r>
              <a:rPr lang="fr-FR" sz="2800" dirty="0" smtClean="0"/>
              <a:t> naissance, tout au long de notre vie, aux cellules sanguines </a:t>
            </a:r>
          </a:p>
          <a:p>
            <a:r>
              <a:rPr lang="fr-FR" sz="2800" dirty="0" smtClean="0"/>
              <a:t>(globules rouges, globules blancs, plaquettes).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76672"/>
            <a:ext cx="9708363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APPLICATION DES CELLULES SOUCHES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                                THERAPIE CELLULAIRE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La greffe de cellules souches cutanées est également pratiquée</a:t>
            </a:r>
          </a:p>
          <a:p>
            <a:pPr lvl="0"/>
            <a:r>
              <a:rPr lang="fr-FR" sz="2800" dirty="0" smtClean="0"/>
              <a:t> depuis les années 80 pour reconstituer l’épiderme chez les</a:t>
            </a:r>
          </a:p>
          <a:p>
            <a:pPr lvl="0"/>
            <a:r>
              <a:rPr lang="fr-FR" sz="2800" dirty="0" smtClean="0"/>
              <a:t> grands brûlés.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Les cellules souches de l'œil sont quant à elle utilisées pour</a:t>
            </a:r>
          </a:p>
          <a:p>
            <a:pPr lvl="0"/>
            <a:r>
              <a:rPr lang="fr-FR" sz="2800" dirty="0" smtClean="0"/>
              <a:t> réparer certaines lésions de la cornée.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lvl="0"/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76672"/>
            <a:ext cx="12102865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APPLICATION DES CELLULES SOUCHES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                                THERAPIE CELLULAIRE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Des travaux de bio ingénierie cellulaire sont actuellement</a:t>
            </a:r>
          </a:p>
          <a:p>
            <a:pPr lvl="0"/>
            <a:r>
              <a:rPr lang="fr-FR" sz="2800" dirty="0" smtClean="0"/>
              <a:t> en cours pour tenter de régénérer ou réparer certains tissus,</a:t>
            </a:r>
          </a:p>
          <a:p>
            <a:pPr lvl="0"/>
            <a:r>
              <a:rPr lang="fr-FR" sz="2800" dirty="0" smtClean="0"/>
              <a:t> comme le cartilage par exemple, grâce à la greffe de cellules </a:t>
            </a:r>
          </a:p>
          <a:p>
            <a:pPr lvl="0"/>
            <a:r>
              <a:rPr lang="fr-FR" sz="2800" dirty="0" smtClean="0"/>
              <a:t>souches spécifiques, Il s’agit de cellules souches adultes </a:t>
            </a:r>
          </a:p>
          <a:p>
            <a:pPr lvl="0"/>
            <a:r>
              <a:rPr lang="fr-FR" sz="2800" dirty="0" smtClean="0"/>
              <a:t>présentes dans tout  l’organisme (tissu adipeux, moelle osseuse, tissus de soutien </a:t>
            </a:r>
          </a:p>
          <a:p>
            <a:pPr lvl="0"/>
            <a:r>
              <a:rPr lang="fr-FR" sz="2800" dirty="0" smtClean="0"/>
              <a:t>des organes, des os, des cartilages, des muscles) et pouvant </a:t>
            </a:r>
          </a:p>
          <a:p>
            <a:pPr lvl="0"/>
            <a:r>
              <a:rPr lang="fr-FR" sz="2800" dirty="0" smtClean="0"/>
              <a:t>donner naissance à des cellules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 cartilagineuses,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 osseuses,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 graisseuses,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 fibres musculaires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lvl="0"/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76672"/>
            <a:ext cx="874226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APPLICATION DES CELLULES SOUCHES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                                THERAPIE CELLULAIRE</a:t>
            </a:r>
          </a:p>
          <a:p>
            <a:pPr lvl="0"/>
            <a:r>
              <a:rPr lang="fr-FR" sz="2800" dirty="0" smtClean="0"/>
              <a:t> </a:t>
            </a:r>
          </a:p>
          <a:p>
            <a:pPr lvl="0"/>
            <a:endParaRPr lang="fr-FR" sz="2800" dirty="0" smtClean="0"/>
          </a:p>
          <a:p>
            <a:pPr lvl="0"/>
            <a:r>
              <a:rPr lang="fr-FR" sz="2800" dirty="0" smtClean="0"/>
              <a:t>De nombreux autres travaux basés sur ces cellules souches</a:t>
            </a:r>
          </a:p>
          <a:p>
            <a:pPr lvl="0"/>
            <a:r>
              <a:rPr lang="fr-FR" sz="2800" dirty="0" smtClean="0"/>
              <a:t>sont actuellement réalisés en/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rhumatologie,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cardiologie,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pour certaines myopathies,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le diabète, etc.</a:t>
            </a:r>
          </a:p>
          <a:p>
            <a:pPr lvl="0"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 lvl="0"/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76672"/>
            <a:ext cx="9679894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APPLICATION DES CELLULES SOUCHES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                                THERAPIE CELLULAIRE</a:t>
            </a:r>
          </a:p>
          <a:p>
            <a:pPr lvl="0"/>
            <a:r>
              <a:rPr lang="fr-FR" sz="2800" dirty="0" smtClean="0"/>
              <a:t> La recherche explore de nombreuses  autres approches de</a:t>
            </a:r>
          </a:p>
          <a:p>
            <a:r>
              <a:rPr lang="fr-FR" sz="2800" dirty="0" smtClean="0"/>
              <a:t> thérapie cellulaire pour des pathologies variées : </a:t>
            </a:r>
          </a:p>
          <a:p>
            <a:r>
              <a:rPr lang="fr-FR" sz="2800" dirty="0" smtClean="0"/>
              <a:t> 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la transplantation dans le pancréas de diabétiques de cellules</a:t>
            </a:r>
          </a:p>
          <a:p>
            <a:pPr lvl="0"/>
            <a:r>
              <a:rPr lang="fr-FR" sz="2800" dirty="0" smtClean="0"/>
              <a:t> productrices d’insuline.</a:t>
            </a:r>
          </a:p>
          <a:p>
            <a:pPr lvl="0"/>
            <a:r>
              <a:rPr lang="fr-FR" sz="2800" dirty="0" smtClean="0"/>
              <a:t>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la greffe de cellules souches dans les articulations de personnes</a:t>
            </a:r>
          </a:p>
          <a:p>
            <a:pPr lvl="0"/>
            <a:r>
              <a:rPr lang="fr-FR" sz="2800" dirty="0" smtClean="0"/>
              <a:t> atteintes d’arthrose.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la greffe de cellules souches de muscle pour renforcer les</a:t>
            </a:r>
          </a:p>
          <a:p>
            <a:pPr lvl="0"/>
            <a:r>
              <a:rPr lang="fr-FR" sz="2800" dirty="0" smtClean="0"/>
              <a:t> sphincter d’individus souffrant d’incontinence urinaire ou anale.</a:t>
            </a:r>
          </a:p>
          <a:p>
            <a:r>
              <a:rPr lang="fr-FR" sz="2800" dirty="0" smtClean="0"/>
              <a:t>Des essais cliniques sont aussi en cours :            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 lvl="0"/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76672"/>
            <a:ext cx="9600642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APPLICATION DES CELLULES SOUCHES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                                THERAPIE CELLULAIRE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le remplacement des neurones manquants dans le cerveau </a:t>
            </a:r>
          </a:p>
          <a:p>
            <a:pPr lvl="0"/>
            <a:r>
              <a:rPr lang="fr-FR" sz="2800" dirty="0" smtClean="0"/>
              <a:t>de malades de Parkinson.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la réparation de la moelle épinière de personnes paraplégiques</a:t>
            </a:r>
          </a:p>
          <a:p>
            <a:pPr lvl="0"/>
            <a:r>
              <a:rPr lang="fr-FR" sz="2800" dirty="0" smtClean="0"/>
              <a:t> après un accident. </a:t>
            </a:r>
          </a:p>
          <a:p>
            <a:pPr lvl="0"/>
            <a:endParaRPr lang="fr-FR" sz="2800" dirty="0" smtClean="0"/>
          </a:p>
          <a:p>
            <a:r>
              <a:rPr lang="fr-FR" sz="2800" dirty="0" smtClean="0"/>
              <a:t>Certains essais ont déjà été couronnés de succès comme la </a:t>
            </a:r>
          </a:p>
          <a:p>
            <a:r>
              <a:rPr lang="fr-FR" sz="2800" dirty="0" smtClean="0"/>
              <a:t>Réparation du muscle cardiaque lésé après un infarctus. </a:t>
            </a:r>
          </a:p>
          <a:p>
            <a:r>
              <a:rPr lang="fr-FR" sz="2800" dirty="0" smtClean="0"/>
              <a:t>   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 lvl="0"/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76672"/>
            <a:ext cx="7328609" cy="8279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APPLICATION DES CELLULES SOUCHES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THERAPIE GENIQUE</a:t>
            </a:r>
          </a:p>
          <a:p>
            <a:r>
              <a:rPr lang="fr-FR" sz="2800" b="1" dirty="0" smtClean="0">
                <a:solidFill>
                  <a:schemeClr val="tx2"/>
                </a:solidFill>
              </a:rPr>
              <a:t>Essais </a:t>
            </a:r>
            <a:r>
              <a:rPr lang="fr-FR" sz="2800" b="1" dirty="0">
                <a:solidFill>
                  <a:schemeClr val="tx2"/>
                </a:solidFill>
              </a:rPr>
              <a:t>cliniques ciblant différentes </a:t>
            </a:r>
            <a:r>
              <a:rPr lang="fr-FR" sz="2800" b="1" dirty="0" smtClean="0">
                <a:solidFill>
                  <a:schemeClr val="tx2"/>
                </a:solidFill>
              </a:rPr>
              <a:t>pathologies</a:t>
            </a:r>
            <a:r>
              <a:rPr lang="fr-FR" sz="2800" dirty="0"/>
              <a:t> :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Maladies </a:t>
            </a:r>
            <a:r>
              <a:rPr lang="fr-FR" sz="2800" dirty="0"/>
              <a:t>génétiques rares du </a:t>
            </a:r>
            <a:r>
              <a:rPr lang="fr-FR" sz="2800" dirty="0" smtClean="0"/>
              <a:t>sang:</a:t>
            </a:r>
          </a:p>
          <a:p>
            <a:pPr lvl="0"/>
            <a:r>
              <a:rPr lang="fr-FR" sz="2800" dirty="0" smtClean="0"/>
              <a:t>          </a:t>
            </a:r>
            <a:r>
              <a:rPr lang="fr-FR" sz="2800" b="1" dirty="0" smtClean="0">
                <a:solidFill>
                  <a:srgbClr val="FF0000"/>
                </a:solidFill>
              </a:rPr>
              <a:t>Immunodéficiences</a:t>
            </a:r>
            <a:r>
              <a:rPr lang="fr-FR" sz="2800" b="1" dirty="0">
                <a:solidFill>
                  <a:srgbClr val="FF0000"/>
                </a:solidFill>
              </a:rPr>
              <a:t>, </a:t>
            </a:r>
            <a:r>
              <a:rPr lang="fr-FR" sz="2800" b="1" dirty="0" smtClean="0">
                <a:solidFill>
                  <a:srgbClr val="FF0000"/>
                </a:solidFill>
              </a:rPr>
              <a:t>β-thalassémie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</a:t>
            </a:r>
            <a:r>
              <a:rPr lang="fr-FR" sz="2800" dirty="0" smtClean="0"/>
              <a:t>Maladies génétiques  </a:t>
            </a:r>
            <a:r>
              <a:rPr lang="fr-FR" sz="2800" dirty="0"/>
              <a:t>du </a:t>
            </a:r>
            <a:r>
              <a:rPr lang="fr-FR" sz="2800" dirty="0" smtClean="0"/>
              <a:t>cerveau:</a:t>
            </a:r>
          </a:p>
          <a:p>
            <a:pPr lvl="0"/>
            <a:r>
              <a:rPr lang="fr-FR" sz="2800" dirty="0" smtClean="0"/>
              <a:t>          </a:t>
            </a:r>
            <a:r>
              <a:rPr lang="fr-FR" sz="2800" b="1" dirty="0" err="1" smtClean="0">
                <a:solidFill>
                  <a:srgbClr val="FF0000"/>
                </a:solidFill>
              </a:rPr>
              <a:t>Adrénoleucodystrophie</a:t>
            </a:r>
            <a:r>
              <a:rPr lang="fr-FR" sz="2800" b="1" dirty="0">
                <a:solidFill>
                  <a:srgbClr val="FF0000"/>
                </a:solidFill>
              </a:rPr>
              <a:t> 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Maladie </a:t>
            </a:r>
            <a:r>
              <a:rPr lang="fr-FR" sz="2800" dirty="0"/>
              <a:t>génétique de la rétine : </a:t>
            </a:r>
            <a:endParaRPr lang="fr-FR" sz="2800" dirty="0" smtClean="0"/>
          </a:p>
          <a:p>
            <a:pPr lvl="0"/>
            <a:r>
              <a:rPr lang="fr-FR" sz="2800" dirty="0" smtClean="0"/>
              <a:t>         </a:t>
            </a:r>
            <a:r>
              <a:rPr lang="fr-FR" sz="2800" b="1" dirty="0" smtClean="0">
                <a:solidFill>
                  <a:srgbClr val="FF0000"/>
                </a:solidFill>
              </a:rPr>
              <a:t>Amaurose </a:t>
            </a:r>
            <a:r>
              <a:rPr lang="fr-FR" sz="2800" b="1" dirty="0">
                <a:solidFill>
                  <a:srgbClr val="FF0000"/>
                </a:solidFill>
              </a:rPr>
              <a:t>congénitale de </a:t>
            </a:r>
            <a:r>
              <a:rPr lang="fr-FR" sz="2800" b="1" dirty="0" err="1" smtClean="0">
                <a:solidFill>
                  <a:srgbClr val="FF0000"/>
                </a:solidFill>
              </a:rPr>
              <a:t>Leber</a:t>
            </a:r>
            <a:endParaRPr lang="fr-FR" sz="2800" b="1" dirty="0">
              <a:solidFill>
                <a:srgbClr val="FF0000"/>
              </a:solidFill>
            </a:endParaRP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Myopathies </a:t>
            </a:r>
            <a:r>
              <a:rPr lang="fr-FR" sz="2800" dirty="0"/>
              <a:t>sévères : </a:t>
            </a:r>
            <a:endParaRPr lang="fr-FR" sz="2800" dirty="0" smtClean="0"/>
          </a:p>
          <a:p>
            <a:pPr lvl="0"/>
            <a:r>
              <a:rPr lang="fr-FR" sz="2800" dirty="0"/>
              <a:t> </a:t>
            </a:r>
            <a:r>
              <a:rPr lang="fr-FR" sz="2800" dirty="0" smtClean="0"/>
              <a:t>         </a:t>
            </a:r>
            <a:r>
              <a:rPr lang="fr-FR" sz="2800" b="1" dirty="0" smtClean="0">
                <a:solidFill>
                  <a:srgbClr val="FF0000"/>
                </a:solidFill>
              </a:rPr>
              <a:t>Myopathie  </a:t>
            </a:r>
            <a:r>
              <a:rPr lang="fr-FR" sz="2800" b="1" dirty="0" err="1" smtClean="0">
                <a:solidFill>
                  <a:srgbClr val="FF0000"/>
                </a:solidFill>
              </a:rPr>
              <a:t>myotibulaire</a:t>
            </a:r>
            <a:endParaRPr lang="fr-FR" sz="2800" b="1" dirty="0">
              <a:solidFill>
                <a:srgbClr val="FF0000"/>
              </a:solidFill>
            </a:endParaRPr>
          </a:p>
          <a:p>
            <a:pPr lvl="0"/>
            <a:r>
              <a:rPr lang="fr-FR" sz="2800" b="1" dirty="0" smtClean="0">
                <a:solidFill>
                  <a:schemeClr val="tx2"/>
                </a:solidFill>
              </a:rPr>
              <a:t>Autres </a:t>
            </a:r>
            <a:r>
              <a:rPr lang="fr-FR" sz="2800" b="1" dirty="0">
                <a:solidFill>
                  <a:schemeClr val="tx2"/>
                </a:solidFill>
              </a:rPr>
              <a:t>essais  </a:t>
            </a:r>
            <a:r>
              <a:rPr lang="fr-FR" sz="2800" b="1" dirty="0" smtClean="0">
                <a:solidFill>
                  <a:schemeClr val="tx2"/>
                </a:solidFill>
              </a:rPr>
              <a:t>en voie:</a:t>
            </a:r>
          </a:p>
          <a:p>
            <a:pPr lvl="0"/>
            <a:r>
              <a:rPr lang="fr-FR" sz="2800" dirty="0" smtClean="0"/>
              <a:t> Déficits immunitaires      Maladies </a:t>
            </a:r>
            <a:r>
              <a:rPr lang="fr-FR" sz="2800" dirty="0"/>
              <a:t>du </a:t>
            </a:r>
            <a:r>
              <a:rPr lang="fr-FR" sz="2800" dirty="0" smtClean="0"/>
              <a:t>sang</a:t>
            </a:r>
          </a:p>
          <a:p>
            <a:pPr lvl="0"/>
            <a:r>
              <a:rPr lang="fr-FR" sz="2800" dirty="0"/>
              <a:t> </a:t>
            </a:r>
            <a:r>
              <a:rPr lang="fr-FR" sz="2800" dirty="0" smtClean="0"/>
              <a:t>Maladies  </a:t>
            </a:r>
            <a:r>
              <a:rPr lang="fr-FR" sz="2800" dirty="0"/>
              <a:t>de la vision, </a:t>
            </a:r>
            <a:r>
              <a:rPr lang="fr-FR" sz="2800" dirty="0" smtClean="0"/>
              <a:t>     Maladies du foie</a:t>
            </a:r>
          </a:p>
          <a:p>
            <a:pPr lvl="0"/>
            <a:r>
              <a:rPr lang="fr-FR" sz="2800" dirty="0" smtClean="0"/>
              <a:t> Maladies neuromusculaires</a:t>
            </a:r>
            <a:endParaRPr lang="fr-FR" sz="2800" dirty="0"/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 </a:t>
            </a:r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1979712" y="0"/>
            <a:ext cx="412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LES CELLULES SOUCHES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5864</TotalTime>
  <Words>1365</Words>
  <Application>Microsoft Office PowerPoint</Application>
  <PresentationFormat>Affichage à l'écran (4:3)</PresentationFormat>
  <Paragraphs>332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21</cp:revision>
  <dcterms:created xsi:type="dcterms:W3CDTF">2018-12-08T13:19:14Z</dcterms:created>
  <dcterms:modified xsi:type="dcterms:W3CDTF">2023-01-23T16:49:54Z</dcterms:modified>
</cp:coreProperties>
</file>