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96" r:id="rId5"/>
    <p:sldId id="260" r:id="rId6"/>
    <p:sldId id="261" r:id="rId7"/>
    <p:sldId id="269" r:id="rId8"/>
    <p:sldId id="295" r:id="rId9"/>
    <p:sldId id="272" r:id="rId10"/>
    <p:sldId id="271" r:id="rId11"/>
    <p:sldId id="302" r:id="rId12"/>
    <p:sldId id="273" r:id="rId13"/>
    <p:sldId id="292" r:id="rId14"/>
    <p:sldId id="293" r:id="rId15"/>
    <p:sldId id="294" r:id="rId16"/>
    <p:sldId id="297" r:id="rId17"/>
    <p:sldId id="298" r:id="rId18"/>
    <p:sldId id="299" r:id="rId19"/>
    <p:sldId id="291" r:id="rId20"/>
    <p:sldId id="274" r:id="rId21"/>
    <p:sldId id="300" r:id="rId22"/>
    <p:sldId id="275" r:id="rId23"/>
    <p:sldId id="276" r:id="rId24"/>
    <p:sldId id="301" r:id="rId25"/>
    <p:sldId id="277" r:id="rId26"/>
    <p:sldId id="278" r:id="rId27"/>
    <p:sldId id="279" r:id="rId28"/>
    <p:sldId id="280" r:id="rId29"/>
    <p:sldId id="281" r:id="rId30"/>
    <p:sldId id="290" r:id="rId31"/>
    <p:sldId id="282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79" autoAdjust="0"/>
  </p:normalViewPr>
  <p:slideViewPr>
    <p:cSldViewPr>
      <p:cViewPr>
        <p:scale>
          <a:sx n="57" d="100"/>
          <a:sy n="57" d="100"/>
        </p:scale>
        <p:origin x="-46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0D62-6D24-442B-B5BC-CFB0A8640C58}" type="datetimeFigureOut">
              <a:rPr lang="fr-FR" smtClean="0"/>
              <a:pPr/>
              <a:t>29/10/2022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04664"/>
            <a:ext cx="882047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7763" indent="-2417763"/>
            <a:r>
              <a:rPr lang="fr-FR" sz="4000" b="1" dirty="0" smtClean="0"/>
              <a:t>             		            Cours 3.             </a:t>
            </a:r>
          </a:p>
          <a:p>
            <a:pPr marL="2417763" indent="-2417763"/>
            <a:r>
              <a:rPr lang="fr-FR" sz="4000" b="1" dirty="0" smtClean="0"/>
              <a:t>                                  </a:t>
            </a:r>
            <a:r>
              <a:rPr lang="fr-FR" sz="3600" b="1" dirty="0" smtClean="0">
                <a:solidFill>
                  <a:srgbClr val="FF0000"/>
                </a:solidFill>
              </a:rPr>
              <a:t>OVULATION ,                   CYCLES OVARIEN ET UTERIN, </a:t>
            </a:r>
          </a:p>
          <a:p>
            <a:pPr marL="1430338" indent="-1430338"/>
            <a:r>
              <a:rPr lang="fr-FR" sz="3600" b="1" dirty="0" smtClean="0">
                <a:solidFill>
                  <a:srgbClr val="FF0000"/>
                </a:solidFill>
              </a:rPr>
              <a:t>                         REGULATION HORMONALE </a:t>
            </a:r>
            <a:endParaRPr lang="fr-FR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43408"/>
            <a:ext cx="9468544" cy="1228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sz="3600" b="1" dirty="0" smtClean="0"/>
          </a:p>
          <a:p>
            <a:pPr marL="742950" indent="-742950"/>
            <a:r>
              <a:rPr lang="fr-FR" sz="3600" b="1" dirty="0" smtClean="0"/>
              <a:t>C’est l’expulsion  hors de l’ovaire, de l’ovocyte II</a:t>
            </a:r>
          </a:p>
          <a:p>
            <a:r>
              <a:rPr lang="fr-FR" sz="3600" b="1" dirty="0" smtClean="0"/>
              <a:t>  l’ovocyte II n’est pas isolé: </a:t>
            </a:r>
          </a:p>
          <a:p>
            <a:r>
              <a:rPr lang="fr-FR" sz="3600" b="1" dirty="0" smtClean="0"/>
              <a:t>           + Z</a:t>
            </a:r>
            <a:r>
              <a:rPr lang="fr-FR" sz="3600" b="1" dirty="0" smtClean="0">
                <a:solidFill>
                  <a:srgbClr val="FF0000"/>
                </a:solidFill>
              </a:rPr>
              <a:t>one pellucide</a:t>
            </a:r>
          </a:p>
          <a:p>
            <a:r>
              <a:rPr lang="fr-FR" sz="3600" b="1" dirty="0" smtClean="0"/>
              <a:t>           + Cellules de la </a:t>
            </a:r>
            <a:r>
              <a:rPr lang="fr-FR" sz="3600" b="1" dirty="0" smtClean="0">
                <a:solidFill>
                  <a:srgbClr val="FF0000"/>
                </a:solidFill>
              </a:rPr>
              <a:t>Corona </a:t>
            </a:r>
            <a:r>
              <a:rPr lang="fr-FR" sz="3600" b="1" dirty="0" err="1" smtClean="0">
                <a:solidFill>
                  <a:srgbClr val="FF0000"/>
                </a:solidFill>
              </a:rPr>
              <a:t>Radiata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fr-FR" sz="3600" b="1" dirty="0" smtClean="0"/>
              <a:t>           + Cellules du </a:t>
            </a:r>
            <a:r>
              <a:rPr lang="fr-FR" sz="3600" b="1" dirty="0" smtClean="0">
                <a:solidFill>
                  <a:srgbClr val="FF0000"/>
                </a:solidFill>
              </a:rPr>
              <a:t>Cumulus </a:t>
            </a:r>
            <a:r>
              <a:rPr lang="fr-FR" sz="3600" b="1" dirty="0" err="1" smtClean="0">
                <a:solidFill>
                  <a:srgbClr val="FF0000"/>
                </a:solidFill>
              </a:rPr>
              <a:t>Oophorus</a:t>
            </a:r>
            <a:r>
              <a:rPr lang="fr-FR" sz="3600" b="1" dirty="0" smtClean="0"/>
              <a:t> </a:t>
            </a:r>
          </a:p>
          <a:p>
            <a:endParaRPr lang="fr-FR" sz="3600" b="1" dirty="0" smtClean="0"/>
          </a:p>
          <a:p>
            <a:r>
              <a:rPr lang="fr-FR" sz="3600" b="1" dirty="0" smtClean="0"/>
              <a:t>L’ensemble tombe dans le </a:t>
            </a:r>
            <a:r>
              <a:rPr lang="fr-FR" sz="3600" b="1" dirty="0" smtClean="0">
                <a:solidFill>
                  <a:srgbClr val="FF0000"/>
                </a:solidFill>
              </a:rPr>
              <a:t>tiers externe </a:t>
            </a:r>
            <a:r>
              <a:rPr lang="fr-FR" sz="3600" b="1" dirty="0" smtClean="0"/>
              <a:t>de la trompe  de Fallope (oviducte).</a:t>
            </a:r>
          </a:p>
          <a:p>
            <a:r>
              <a:rPr lang="fr-FR" sz="3600" b="1" dirty="0" smtClean="0"/>
              <a:t>                     =  </a:t>
            </a:r>
            <a:r>
              <a:rPr lang="fr-FR" sz="3600" b="1" dirty="0" smtClean="0">
                <a:solidFill>
                  <a:srgbClr val="00B050"/>
                </a:solidFill>
              </a:rPr>
              <a:t>lieu de la fécondation</a:t>
            </a:r>
          </a:p>
          <a:p>
            <a:endParaRPr lang="fr-FR" sz="3600" b="1" dirty="0" smtClean="0"/>
          </a:p>
          <a:p>
            <a:r>
              <a:rPr lang="fr-FR" sz="3600" b="1" dirty="0"/>
              <a:t/>
            </a:r>
            <a:br>
              <a:rPr lang="fr-FR" sz="3600" b="1" dirty="0"/>
            </a:br>
            <a:endParaRPr lang="fr-FR" sz="3600" b="1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2625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1. OVULATION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71000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a. MÉCANISMES DE L’OVULATION</a:t>
            </a:r>
          </a:p>
          <a:p>
            <a:r>
              <a:rPr lang="fr-FR" sz="3200" b="1" dirty="0" smtClean="0">
                <a:solidFill>
                  <a:srgbClr val="00B050"/>
                </a:solidFill>
              </a:rPr>
              <a:t>a</a:t>
            </a:r>
            <a:r>
              <a:rPr lang="fr-FR" sz="3200" b="1" dirty="0" smtClean="0">
                <a:solidFill>
                  <a:srgbClr val="FF0000"/>
                </a:solidFill>
              </a:rPr>
              <a:t>. </a:t>
            </a:r>
            <a:r>
              <a:rPr lang="fr-FR" sz="3200" b="1" dirty="0" smtClean="0">
                <a:solidFill>
                  <a:srgbClr val="00B050"/>
                </a:solidFill>
              </a:rPr>
              <a:t>Phénomènes vasculaires </a:t>
            </a:r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Pression du follicule                ischémie la partie </a:t>
            </a:r>
          </a:p>
          <a:p>
            <a:r>
              <a:rPr lang="fr-FR" sz="3200" b="1" dirty="0" smtClean="0"/>
              <a:t>                                              superficielle de l'ovaire </a:t>
            </a:r>
            <a:br>
              <a:rPr lang="fr-FR" sz="3200" b="1" dirty="0" smtClean="0"/>
            </a:b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b. Mécanismes enzymatiques </a:t>
            </a:r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 lyse enzymatique de la paroi ovarienne. </a:t>
            </a:r>
            <a:br>
              <a:rPr lang="fr-FR" sz="3200" b="1" dirty="0" smtClean="0"/>
            </a:b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c. Contractions musculaires </a:t>
            </a:r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Contraction des cellules musculaires lisses de l'ovaire</a:t>
            </a:r>
          </a:p>
          <a:p>
            <a:r>
              <a:rPr lang="fr-FR" sz="3200" b="1" dirty="0" smtClean="0"/>
              <a:t>                                </a:t>
            </a:r>
          </a:p>
          <a:p>
            <a:pPr>
              <a:buFont typeface="Arial" pitchFamily="34" charset="0"/>
              <a:buChar char="•"/>
            </a:pPr>
            <a:r>
              <a:rPr lang="fr-FR" sz="3200" b="1" dirty="0" smtClean="0"/>
              <a:t> Rupture de la paroi du follicule</a:t>
            </a:r>
          </a:p>
          <a:p>
            <a:r>
              <a:rPr lang="fr-FR" sz="3200" b="1" dirty="0" smtClean="0"/>
              <a:t> ( </a:t>
            </a:r>
            <a:r>
              <a:rPr lang="fr-FR" sz="3200" b="1" dirty="0" err="1" smtClean="0"/>
              <a:t>Granulosa</a:t>
            </a:r>
            <a:r>
              <a:rPr lang="fr-FR" sz="3200" b="1" dirty="0" smtClean="0"/>
              <a:t>, membrane de </a:t>
            </a:r>
            <a:r>
              <a:rPr lang="fr-FR" sz="3200" b="1" dirty="0" err="1" smtClean="0"/>
              <a:t>Slavjansky</a:t>
            </a:r>
            <a:r>
              <a:rPr lang="fr-FR" sz="3200" b="1" dirty="0" smtClean="0"/>
              <a:t> et thèques)</a:t>
            </a:r>
          </a:p>
          <a:p>
            <a:pPr>
              <a:buFont typeface="Arial" pitchFamily="34" charset="0"/>
              <a:buChar char="•"/>
            </a:pPr>
            <a:r>
              <a:rPr lang="fr-FR" sz="3200" b="1" dirty="0" smtClean="0"/>
              <a:t> Rupture de l’épithélium ovarien.</a:t>
            </a:r>
            <a:endParaRPr lang="fr-FR" sz="3200" dirty="0"/>
          </a:p>
        </p:txBody>
      </p:sp>
      <p:sp>
        <p:nvSpPr>
          <p:cNvPr id="3" name="Flèche droite 2"/>
          <p:cNvSpPr/>
          <p:nvPr/>
        </p:nvSpPr>
        <p:spPr>
          <a:xfrm>
            <a:off x="3707904" y="1628800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 droite 3"/>
          <p:cNvSpPr/>
          <p:nvPr/>
        </p:nvSpPr>
        <p:spPr>
          <a:xfrm>
            <a:off x="1043608" y="4581128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မမျိုးဥကြွေခြင်းဖြစ်စဉ်"/>
          <p:cNvSpPr>
            <a:spLocks noChangeAspect="1" noChangeArrowheads="1"/>
          </p:cNvSpPr>
          <p:nvPr/>
        </p:nvSpPr>
        <p:spPr bwMode="auto">
          <a:xfrm>
            <a:off x="155575" y="-914400"/>
            <a:ext cx="2400300" cy="1914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မမျိုးဥကြွေခြင်းဖြစ်စဉ်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0"/>
            <a:ext cx="4283968" cy="3573016"/>
          </a:xfrm>
          <a:prstGeom prst="rect">
            <a:avLst/>
          </a:prstGeom>
          <a:noFill/>
        </p:spPr>
      </p:pic>
      <p:pic>
        <p:nvPicPr>
          <p:cNvPr id="1030" name="Picture 6" descr="Ovulation Photograph by Cnri/science Photo Library - Fine Art Americ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0"/>
            <a:ext cx="4572000" cy="3573016"/>
          </a:xfrm>
          <a:prstGeom prst="rect">
            <a:avLst/>
          </a:prstGeom>
          <a:noFill/>
        </p:spPr>
      </p:pic>
      <p:pic>
        <p:nvPicPr>
          <p:cNvPr id="1032" name="Picture 8" descr="Fertility Mythbuster: A woman's ovulation is the same every month. - Austin  Fertility &amp; Reproductive Medic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717033"/>
            <a:ext cx="7632848" cy="31409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806515"/>
            <a:ext cx="91440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/>
              <a:t>  Le reste du </a:t>
            </a:r>
            <a:r>
              <a:rPr lang="fr-FR" sz="3200" b="1" dirty="0"/>
              <a:t>follicule </a:t>
            </a:r>
            <a:r>
              <a:rPr lang="fr-FR" sz="3200" b="1" dirty="0" smtClean="0"/>
              <a:t>se transforme en c</a:t>
            </a:r>
            <a:r>
              <a:rPr kumimoji="0" lang="fr-FR" sz="32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orps jaune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c’est la </a:t>
            </a:r>
            <a:r>
              <a:rPr lang="fr-FR" sz="3200" b="1" dirty="0" smtClean="0">
                <a:solidFill>
                  <a:srgbClr val="FF0000"/>
                </a:solidFill>
                <a:ea typeface="Times New Roman" pitchFamily="18" charset="0"/>
                <a:cs typeface="Times New Roman" pitchFamily="18" charset="0"/>
              </a:rPr>
              <a:t>Lutéinisation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                                     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Les cellules de la 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Granulosa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</a:t>
            </a: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cellules lutéales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            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                                                                   </a:t>
            </a:r>
            <a:r>
              <a:rPr lang="fr-FR" sz="3200" b="1" dirty="0" smtClean="0">
                <a:solidFill>
                  <a:srgbClr val="FF0000"/>
                </a:solidFill>
                <a:ea typeface="Times New Roman" pitchFamily="18" charset="0"/>
                <a:cs typeface="Times New Roman" pitchFamily="18" charset="0"/>
              </a:rPr>
              <a:t>Progestérone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Les cellules de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la thèque </a:t>
            </a:r>
            <a:r>
              <a:rPr lang="fr-FR" sz="3200" b="1" dirty="0" smtClean="0">
                <a:ea typeface="Times New Roman" pitchFamily="18" charset="0"/>
                <a:cs typeface="Times New Roman" pitchFamily="18" charset="0"/>
              </a:rPr>
              <a:t>           cellules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para lutéales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interne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fr-FR" sz="3200" b="1" dirty="0" smtClean="0"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                                                    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Times New Roman" pitchFamily="18" charset="0"/>
              </a:rPr>
              <a:t>Œstrogènes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.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5579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b. FORMATION DU CORP JAUNE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14" name="Flèche droite 13"/>
          <p:cNvSpPr/>
          <p:nvPr/>
        </p:nvSpPr>
        <p:spPr>
          <a:xfrm>
            <a:off x="4932040" y="2564904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>
            <a:off x="4283968" y="4509120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 vers le bas 15"/>
          <p:cNvSpPr/>
          <p:nvPr/>
        </p:nvSpPr>
        <p:spPr>
          <a:xfrm>
            <a:off x="6948264" y="2780928"/>
            <a:ext cx="28803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e bas 16"/>
          <p:cNvSpPr/>
          <p:nvPr/>
        </p:nvSpPr>
        <p:spPr>
          <a:xfrm>
            <a:off x="7236296" y="5229200"/>
            <a:ext cx="48463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14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267744" y="6488668"/>
            <a:ext cx="3835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Ovulation et formation du corps jaune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861773" y="3244334"/>
            <a:ext cx="1420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ea typeface="Times New Roman" pitchFamily="18" charset="0"/>
                <a:cs typeface="Times New Roman" pitchFamily="18" charset="0"/>
              </a:rPr>
              <a:t>Lutéinisation</a:t>
            </a:r>
            <a:endParaRPr lang="fr-FR" dirty="0"/>
          </a:p>
        </p:txBody>
      </p:sp>
      <p:sp>
        <p:nvSpPr>
          <p:cNvPr id="20482" name="AutoShape 2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4" name="AutoShape 4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6" name="AutoShape 6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488" name="Picture 8" descr="Corps jaune — Wikipédi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573016"/>
            <a:ext cx="6048672" cy="32849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7362" y="260648"/>
            <a:ext cx="9161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</a:t>
            </a:r>
            <a:r>
              <a:rPr lang="fr-FR" sz="3600" b="1" dirty="0" smtClean="0">
                <a:solidFill>
                  <a:srgbClr val="FF0000"/>
                </a:solidFill>
              </a:rPr>
              <a:t>2. LE CYCLE OVARIEN ET LE CYCLE UTERIN</a:t>
            </a:r>
          </a:p>
          <a:p>
            <a:r>
              <a:rPr lang="fr-FR" sz="2400" b="1" dirty="0" smtClean="0"/>
              <a:t>     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613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   A.LE CYCLE OVARIEN</a:t>
            </a:r>
          </a:p>
          <a:p>
            <a:endParaRPr lang="fr-FR" sz="3600" b="1" dirty="0" smtClean="0"/>
          </a:p>
          <a:p>
            <a:r>
              <a:rPr lang="fr-FR" sz="2400" b="1" dirty="0" smtClean="0"/>
              <a:t>     PHASE PRE-OVULATOIRE                     PHASE POST-OVULATOIRE</a:t>
            </a:r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717032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4293096"/>
            <a:ext cx="937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                                                        J 14                                                                          J 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563888" y="4941168"/>
            <a:ext cx="1961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OVULATION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6" name="Double flèche horizontale 15"/>
          <p:cNvSpPr/>
          <p:nvPr/>
        </p:nvSpPr>
        <p:spPr>
          <a:xfrm>
            <a:off x="0" y="3068960"/>
            <a:ext cx="4572000" cy="216024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6" y="3068960"/>
            <a:ext cx="4176464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971600" y="1772816"/>
            <a:ext cx="24410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     PHASE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FOLLICULAIRE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    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44008" y="1556792"/>
            <a:ext cx="337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                 PHASE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                  LUTEALE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27584" y="4293096"/>
            <a:ext cx="24843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développement</a:t>
            </a:r>
          </a:p>
          <a:p>
            <a:r>
              <a:rPr lang="fr-FR" sz="2800" dirty="0" smtClean="0"/>
              <a:t>folliculaire</a:t>
            </a:r>
          </a:p>
          <a:p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724128" y="4221088"/>
            <a:ext cx="2154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Formation du</a:t>
            </a:r>
          </a:p>
          <a:p>
            <a:r>
              <a:rPr lang="fr-FR" sz="2800" dirty="0" smtClean="0"/>
              <a:t> corps jaune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0" grpId="0" build="allAtOnce"/>
      <p:bldP spid="15" grpId="0" build="allAtOnce"/>
      <p:bldP spid="2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61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</a:t>
            </a:r>
            <a:r>
              <a:rPr lang="fr-FR" sz="3600" b="1" dirty="0" smtClean="0">
                <a:solidFill>
                  <a:srgbClr val="FF0000"/>
                </a:solidFill>
              </a:rPr>
              <a:t>B.  LE CYCLE UTERIN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07904" y="620688"/>
            <a:ext cx="1961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OVULATION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6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2348880"/>
            <a:ext cx="2105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FF00"/>
                </a:solidFill>
              </a:rPr>
              <a:t>        </a:t>
            </a:r>
            <a:r>
              <a:rPr lang="fr-FR" sz="2400" b="1" dirty="0" smtClean="0">
                <a:solidFill>
                  <a:srgbClr val="FF0000"/>
                </a:solidFill>
              </a:rPr>
              <a:t>PHASE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MENSTRUELLE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339752" y="2060848"/>
            <a:ext cx="2132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       PHASE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PROLIFERATIVE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44008" y="1556792"/>
            <a:ext cx="3371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            </a:t>
            </a:r>
            <a:r>
              <a:rPr lang="fr-FR" sz="2400" b="1" dirty="0" smtClean="0">
                <a:solidFill>
                  <a:srgbClr val="FF000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  SECRETOIRE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  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52320" y="2132856"/>
            <a:ext cx="1834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</a:t>
            </a:r>
            <a:r>
              <a:rPr lang="fr-FR" sz="2400" b="1" dirty="0" smtClean="0">
                <a:solidFill>
                  <a:srgbClr val="FF000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ISCHEMIQUE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331640" y="4180344"/>
            <a:ext cx="321697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rgbClr val="00B050"/>
                </a:solidFill>
              </a:rPr>
              <a:t> - </a:t>
            </a:r>
            <a:r>
              <a:rPr lang="fr-FR" sz="2800" dirty="0" smtClean="0"/>
              <a:t>Réapparition de</a:t>
            </a:r>
          </a:p>
          <a:p>
            <a:r>
              <a:rPr lang="fr-FR" sz="2800" dirty="0" smtClean="0"/>
              <a:t>      L’épithélium</a:t>
            </a:r>
          </a:p>
          <a:p>
            <a:pPr>
              <a:buFontTx/>
              <a:buChar char="-"/>
            </a:pPr>
            <a:r>
              <a:rPr lang="fr-FR" sz="2800" dirty="0" smtClean="0"/>
              <a:t> Augmentation des</a:t>
            </a:r>
          </a:p>
          <a:p>
            <a:r>
              <a:rPr lang="fr-FR" sz="2800" dirty="0" smtClean="0"/>
              <a:t> glandes</a:t>
            </a:r>
          </a:p>
          <a:p>
            <a:pPr>
              <a:buFontTx/>
              <a:buChar char="-"/>
            </a:pPr>
            <a:r>
              <a:rPr lang="fr-FR" sz="2800" dirty="0" smtClean="0"/>
              <a:t>Développement des</a:t>
            </a:r>
          </a:p>
          <a:p>
            <a:r>
              <a:rPr lang="fr-FR" sz="2800" dirty="0" smtClean="0"/>
              <a:t>artères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427984" y="3429000"/>
            <a:ext cx="6173678" cy="3970318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/>
              <a:t> -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>Epaississement de</a:t>
            </a:r>
          </a:p>
          <a:p>
            <a:r>
              <a:rPr lang="fr-FR" sz="2800" dirty="0" smtClean="0"/>
              <a:t>L’endomètre</a:t>
            </a:r>
          </a:p>
          <a:p>
            <a:r>
              <a:rPr lang="fr-FR" sz="2800" dirty="0" smtClean="0"/>
              <a:t>- Tubes glandulaires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contournés et </a:t>
            </a:r>
            <a:r>
              <a:rPr lang="fr-FR" sz="2800" dirty="0" smtClean="0"/>
              <a:t>sinueux:</a:t>
            </a:r>
          </a:p>
          <a:p>
            <a:r>
              <a:rPr lang="fr-FR" sz="2800" dirty="0" smtClean="0"/>
              <a:t>    = Dentelle utérine</a:t>
            </a:r>
          </a:p>
          <a:p>
            <a:pPr>
              <a:buFontTx/>
              <a:buChar char="-"/>
            </a:pPr>
            <a:r>
              <a:rPr lang="fr-FR" sz="2800" dirty="0" smtClean="0"/>
              <a:t> Signe de sécrétion= glycogène et mucus</a:t>
            </a:r>
          </a:p>
          <a:p>
            <a:r>
              <a:rPr lang="fr-FR" sz="2800" dirty="0" smtClean="0"/>
              <a:t>- Artérioles </a:t>
            </a:r>
            <a:r>
              <a:rPr lang="fr-FR" sz="2800" dirty="0"/>
              <a:t>spiralées.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  <p:bldP spid="20" grpId="0" build="allAtOnce"/>
      <p:bldP spid="22" grpId="0" build="allAtOnce"/>
      <p:bldP spid="15" grpId="0" build="allAtOnce"/>
      <p:bldP spid="23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9144000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61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LE CYCLE UTERIN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07904" y="620688"/>
            <a:ext cx="1961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OVULATION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6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2348880"/>
            <a:ext cx="1625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FF00"/>
                </a:solidFill>
              </a:rPr>
              <a:t>        </a:t>
            </a:r>
            <a:r>
              <a:rPr lang="fr-FR" b="1" dirty="0" smtClean="0">
                <a:solidFill>
                  <a:srgbClr val="FF0000"/>
                </a:solidFill>
              </a:rPr>
              <a:t>PHASE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MENSTRUELLE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1835696" y="2132856"/>
            <a:ext cx="1642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   PHASE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PROLIFERATIVE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44008" y="1556792"/>
            <a:ext cx="337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                   PHASE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                  SECRETOIRE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   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52320" y="2132856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PHASE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ISCHEMIQUE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004048" y="3573016"/>
            <a:ext cx="3175869" cy="31085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/>
              <a:t>- </a:t>
            </a:r>
            <a:r>
              <a:rPr lang="fr-FR" sz="2800" dirty="0" smtClean="0">
                <a:solidFill>
                  <a:schemeClr val="bg1"/>
                </a:solidFill>
              </a:rPr>
              <a:t>Ralentissement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    circulatoire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-Nécrose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superficielle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</a:t>
            </a:r>
            <a:r>
              <a:rPr lang="fr-FR" sz="2800" dirty="0">
                <a:solidFill>
                  <a:schemeClr val="bg1"/>
                </a:solidFill>
              </a:rPr>
              <a:t>rupture </a:t>
            </a:r>
            <a:r>
              <a:rPr lang="fr-FR" sz="2800" dirty="0" smtClean="0">
                <a:solidFill>
                  <a:schemeClr val="bg1"/>
                </a:solidFill>
              </a:rPr>
              <a:t> de la paroi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des </a:t>
            </a:r>
            <a:r>
              <a:rPr lang="fr-FR" sz="2800" dirty="0">
                <a:solidFill>
                  <a:schemeClr val="bg1"/>
                </a:solidFill>
              </a:rPr>
              <a:t>artérioles </a:t>
            </a:r>
            <a:endParaRPr lang="fr-FR" sz="2800" dirty="0" smtClean="0">
              <a:solidFill>
                <a:schemeClr val="bg1"/>
              </a:solidFill>
            </a:endParaRPr>
          </a:p>
          <a:p>
            <a:r>
              <a:rPr lang="fr-FR" sz="2800" dirty="0" smtClean="0">
                <a:solidFill>
                  <a:schemeClr val="bg1"/>
                </a:solidFill>
              </a:rPr>
              <a:t>spiralées 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043608" y="4437112"/>
            <a:ext cx="2470420" cy="224676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-Hémorragie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Elimination de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la couche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fonctionnelle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  <p:bldP spid="20" grpId="0" build="allAtOnce"/>
      <p:bldP spid="22" grpId="0" build="allAtOnce"/>
      <p:bldP spid="24" grpId="0" build="allAtOnce" animBg="1"/>
      <p:bldP spid="25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332656"/>
            <a:ext cx="9299341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C. LES TROUBLES DU CYCLE MENSTRUEL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B050"/>
                </a:solidFill>
              </a:rPr>
              <a:t>a. Les anomalies quantitatives </a:t>
            </a:r>
            <a:r>
              <a:rPr lang="fr-FR" sz="2800" b="1" dirty="0" smtClean="0"/>
              <a:t>:</a:t>
            </a:r>
          </a:p>
          <a:p>
            <a:pPr marL="342900" indent="-342900">
              <a:buAutoNum type="arabicPeriod"/>
            </a:pPr>
            <a:r>
              <a:rPr lang="fr-FR" sz="2800" b="1" dirty="0" smtClean="0"/>
              <a:t>    Aménorrhées:  C’est l’absence de règles</a:t>
            </a:r>
          </a:p>
          <a:p>
            <a:pPr marL="342900" indent="-342900"/>
            <a:r>
              <a:rPr lang="fr-FR" sz="2800" b="1" dirty="0" smtClean="0">
                <a:solidFill>
                  <a:srgbClr val="0070C0"/>
                </a:solidFill>
              </a:rPr>
              <a:t>Aménorrhée primaire </a:t>
            </a:r>
            <a:r>
              <a:rPr lang="fr-FR" sz="2800" dirty="0" smtClean="0"/>
              <a:t>: absence de règles à l’âge de 16 ans</a:t>
            </a:r>
          </a:p>
          <a:p>
            <a:pPr marL="342900" indent="-342900"/>
            <a:r>
              <a:rPr lang="fr-FR" sz="2800" b="1" dirty="0" smtClean="0">
                <a:solidFill>
                  <a:schemeClr val="accent1"/>
                </a:solidFill>
              </a:rPr>
              <a:t>Aménorrhée secondaire </a:t>
            </a:r>
            <a:r>
              <a:rPr lang="fr-FR" sz="2800" dirty="0" smtClean="0"/>
              <a:t>: absence de règles depuis plus de </a:t>
            </a:r>
          </a:p>
          <a:p>
            <a:pPr marL="342900" indent="-342900"/>
            <a:r>
              <a:rPr lang="fr-FR" sz="2800" dirty="0" smtClean="0"/>
              <a:t>3 mois.</a:t>
            </a:r>
          </a:p>
          <a:p>
            <a:r>
              <a:rPr lang="fr-FR" sz="2800" b="1" dirty="0" smtClean="0"/>
              <a:t>2.    Ménorragies: hémorragies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Ménorragies fonctionnelles</a:t>
            </a:r>
            <a:r>
              <a:rPr lang="fr-FR" sz="2800" dirty="0" smtClean="0"/>
              <a:t>: </a:t>
            </a:r>
            <a:r>
              <a:rPr lang="fr-FR" sz="2800" b="1" dirty="0" smtClean="0"/>
              <a:t> </a:t>
            </a:r>
            <a:r>
              <a:rPr lang="fr-FR" sz="2800" dirty="0" smtClean="0"/>
              <a:t>saignements anormaux en durée</a:t>
            </a:r>
          </a:p>
          <a:p>
            <a:r>
              <a:rPr lang="fr-FR" sz="2800" dirty="0" smtClean="0"/>
              <a:t> et/ou abondance.</a:t>
            </a:r>
          </a:p>
          <a:p>
            <a:r>
              <a:rPr lang="fr-FR" sz="2800" b="1" dirty="0" smtClean="0">
                <a:solidFill>
                  <a:schemeClr val="tx2"/>
                </a:solidFill>
              </a:rPr>
              <a:t>Ménorragies organiques</a:t>
            </a:r>
            <a:r>
              <a:rPr lang="fr-FR" sz="2800" dirty="0" smtClean="0"/>
              <a:t>:        liées à la présence d’un utérus</a:t>
            </a:r>
          </a:p>
          <a:p>
            <a:r>
              <a:rPr lang="fr-FR" sz="2800" dirty="0" smtClean="0"/>
              <a:t> fibromateux.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332656"/>
            <a:ext cx="6325771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lphaLcPeriod" startAt="2"/>
            </a:pPr>
            <a:r>
              <a:rPr lang="fr-FR" sz="2800" b="1" dirty="0" smtClean="0">
                <a:solidFill>
                  <a:srgbClr val="00B050"/>
                </a:solidFill>
              </a:rPr>
              <a:t>Les troubles du rythme menstruel </a:t>
            </a:r>
            <a:r>
              <a:rPr lang="fr-FR" sz="2800" b="1" dirty="0" smtClean="0"/>
              <a:t>:</a:t>
            </a:r>
          </a:p>
          <a:p>
            <a:pPr marL="514350" indent="-514350">
              <a:buAutoNum type="alphaLcPeriod" startAt="2"/>
            </a:pPr>
            <a:endParaRPr lang="fr-FR" sz="2800" b="1" dirty="0" smtClean="0"/>
          </a:p>
          <a:p>
            <a:pPr marL="342900" indent="-342900">
              <a:buAutoNum type="arabicPeriod"/>
            </a:pPr>
            <a:r>
              <a:rPr lang="fr-FR" sz="2800" b="1" dirty="0" smtClean="0"/>
              <a:t>Les cycles courts :</a:t>
            </a:r>
          </a:p>
          <a:p>
            <a:pPr marL="342900" indent="-342900"/>
            <a:r>
              <a:rPr lang="fr-FR" sz="2800" b="1" dirty="0" smtClean="0"/>
              <a:t>  </a:t>
            </a:r>
            <a:r>
              <a:rPr lang="fr-FR" sz="2800" b="1" dirty="0" err="1" smtClean="0">
                <a:solidFill>
                  <a:schemeClr val="accent1"/>
                </a:solidFill>
              </a:rPr>
              <a:t>polyménorrhées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ou  </a:t>
            </a:r>
            <a:r>
              <a:rPr lang="fr-FR" sz="2800" b="1" dirty="0" err="1" smtClean="0">
                <a:solidFill>
                  <a:schemeClr val="accent1"/>
                </a:solidFill>
              </a:rPr>
              <a:t>pollakiménorrhées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</a:t>
            </a:r>
          </a:p>
          <a:p>
            <a:pPr marL="342900" indent="-342900"/>
            <a:r>
              <a:rPr lang="fr-FR" sz="2800" dirty="0" smtClean="0"/>
              <a:t> menstruation  toutes les 2 à 3 semaines.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2. Les cycles longs :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</a:rPr>
              <a:t>spanioménorrhées</a:t>
            </a:r>
            <a:endParaRPr lang="fr-FR" sz="2800" b="1" dirty="0" smtClean="0"/>
          </a:p>
          <a:p>
            <a:r>
              <a:rPr lang="fr-FR" sz="2800" dirty="0" smtClean="0"/>
              <a:t> durée de cycle &gt; 32 jours.</a:t>
            </a:r>
          </a:p>
          <a:p>
            <a:endParaRPr lang="fr-FR" sz="2800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7595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c.  Les troubles de la durée :</a:t>
            </a:r>
          </a:p>
          <a:p>
            <a:r>
              <a:rPr lang="fr-FR" sz="2800" b="1" dirty="0" err="1" smtClean="0">
                <a:solidFill>
                  <a:schemeClr val="accent1"/>
                </a:solidFill>
              </a:rPr>
              <a:t>Hypoménorrhées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</a:t>
            </a:r>
            <a:r>
              <a:rPr lang="fr-FR" sz="2800" dirty="0" smtClean="0">
                <a:solidFill>
                  <a:schemeClr val="accent1"/>
                </a:solidFill>
              </a:rPr>
              <a:t>:</a:t>
            </a:r>
            <a:r>
              <a:rPr lang="fr-FR" sz="2800" dirty="0" smtClean="0"/>
              <a:t> règles courtes de moins de 03jours .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Hyperménorrhées </a:t>
            </a:r>
            <a:r>
              <a:rPr lang="fr-FR" sz="2800" dirty="0" smtClean="0"/>
              <a:t>: règles trop longues de plus de 08jours.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B050"/>
                </a:solidFill>
              </a:rPr>
              <a:t>d. Les troubles de l’abondance des règles :</a:t>
            </a:r>
          </a:p>
          <a:p>
            <a:pPr marL="514350" indent="-514350"/>
            <a:r>
              <a:rPr lang="fr-FR" sz="2800" b="1" dirty="0" err="1" smtClean="0">
                <a:solidFill>
                  <a:srgbClr val="0070C0"/>
                </a:solidFill>
              </a:rPr>
              <a:t>Oligoménorrhées</a:t>
            </a: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/>
              <a:t>: </a:t>
            </a:r>
            <a:r>
              <a:rPr lang="fr-FR" sz="2800" dirty="0" smtClean="0"/>
              <a:t>règles très réduites parfois quelques</a:t>
            </a:r>
          </a:p>
          <a:p>
            <a:pPr marL="514350" indent="-514350"/>
            <a:r>
              <a:rPr lang="fr-FR" sz="2800" dirty="0" smtClean="0"/>
              <a:t> gouttes.</a:t>
            </a:r>
          </a:p>
          <a:p>
            <a:r>
              <a:rPr lang="fr-FR" sz="2800" b="1" dirty="0" err="1" smtClean="0">
                <a:solidFill>
                  <a:srgbClr val="0070C0"/>
                </a:solidFill>
              </a:rPr>
              <a:t>Polyménorrhées</a:t>
            </a:r>
            <a:r>
              <a:rPr lang="fr-FR" sz="2800" dirty="0" smtClean="0"/>
              <a:t> : règles d’abondance excessive.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NB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</a:t>
            </a:r>
            <a:r>
              <a:rPr lang="fr-FR" sz="2800" b="1" dirty="0" smtClean="0"/>
              <a:t>Ménorragies:</a:t>
            </a:r>
            <a:r>
              <a:rPr lang="fr-FR" sz="2800" dirty="0" smtClean="0"/>
              <a:t> règles à la fois trop longues et trop </a:t>
            </a:r>
          </a:p>
          <a:p>
            <a:r>
              <a:rPr lang="fr-FR" sz="2800" dirty="0" smtClean="0"/>
              <a:t>abondantes.</a:t>
            </a:r>
          </a:p>
          <a:p>
            <a:pPr>
              <a:buFont typeface="Arial" pitchFamily="34" charset="0"/>
              <a:buChar char="•"/>
            </a:pPr>
            <a:r>
              <a:rPr lang="fr-FR" sz="2800" b="1" dirty="0" smtClean="0"/>
              <a:t>Métrorragies</a:t>
            </a:r>
            <a:r>
              <a:rPr lang="fr-FR" sz="2800" dirty="0" smtClean="0"/>
              <a:t>: hémorragies d’origine utérine survenant</a:t>
            </a:r>
          </a:p>
          <a:p>
            <a:r>
              <a:rPr lang="fr-FR" sz="2800" dirty="0" smtClean="0"/>
              <a:t>  indépendamment de toute menstruation.</a:t>
            </a:r>
          </a:p>
          <a:p>
            <a:r>
              <a:rPr lang="fr-FR" sz="2800" dirty="0" smtClean="0"/>
              <a:t>• </a:t>
            </a:r>
            <a:r>
              <a:rPr lang="fr-FR" sz="2800" b="1" dirty="0" err="1" smtClean="0"/>
              <a:t>Méno</a:t>
            </a:r>
            <a:r>
              <a:rPr lang="fr-FR" sz="2800" b="1" dirty="0" smtClean="0"/>
              <a:t>-métrorragies</a:t>
            </a:r>
            <a:r>
              <a:rPr lang="fr-FR" sz="2800" dirty="0" smtClean="0"/>
              <a:t> : association métrorragies et ménorragies.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0648"/>
            <a:ext cx="914400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8208912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0728"/>
            <a:ext cx="8712968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1988840"/>
            <a:ext cx="4209229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GONADO-RELEASING HORMON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GONADOLIBERINES</a:t>
            </a:r>
          </a:p>
          <a:p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3356992"/>
            <a:ext cx="3671774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FOLLICULO STIMULATING H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4005064"/>
            <a:ext cx="3125086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LUTEINISING HORMON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3429000"/>
            <a:ext cx="3918189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HORMONES HYPOPHYSAIRES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GONADOTROPINES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GONADOSTIMULINES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0" y="5157192"/>
            <a:ext cx="3460819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HORMONES OVARIENNES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80698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3. REGULATION </a:t>
            </a:r>
            <a:r>
              <a:rPr lang="fr-FR" sz="3200" b="1" dirty="0">
                <a:solidFill>
                  <a:srgbClr val="FF0000"/>
                </a:solidFill>
              </a:rPr>
              <a:t>HORMONALE CHEZ LA </a:t>
            </a:r>
            <a:r>
              <a:rPr lang="fr-FR" sz="3200" b="1" dirty="0" smtClean="0">
                <a:solidFill>
                  <a:srgbClr val="FF0000"/>
                </a:solidFill>
              </a:rPr>
              <a:t>FEMME</a:t>
            </a:r>
          </a:p>
          <a:p>
            <a:r>
              <a:rPr lang="fr-FR" sz="3200" b="1" dirty="0" smtClean="0"/>
              <a:t>A- Contrôle </a:t>
            </a:r>
            <a:r>
              <a:rPr lang="fr-FR" sz="3200" b="1" dirty="0"/>
              <a:t>hormonal </a:t>
            </a:r>
            <a:endParaRPr lang="fr-FR" sz="3200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  <p:bldP spid="4" grpId="0" build="allAtOnce" animBg="1"/>
      <p:bldP spid="5" grpId="0" build="allAtOnce" animBg="1"/>
      <p:bldP spid="6" grpId="0" build="allAtOnce" animBg="1"/>
      <p:bldP spid="7" grpId="0" build="allAtOnc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4544" y="0"/>
            <a:ext cx="9468544" cy="6565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39752" y="0"/>
            <a:ext cx="40772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B- </a:t>
            </a:r>
            <a:r>
              <a:rPr lang="fr-FR" sz="3200" b="1" cap="all" dirty="0">
                <a:solidFill>
                  <a:srgbClr val="FF0000"/>
                </a:solidFill>
              </a:rPr>
              <a:t>V</a:t>
            </a:r>
            <a:r>
              <a:rPr lang="fr-FR" sz="3200" b="1" dirty="0">
                <a:solidFill>
                  <a:srgbClr val="FF0000"/>
                </a:solidFill>
              </a:rPr>
              <a:t>ariations cycliques 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sz="3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8748463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395536" y="764705"/>
            <a:ext cx="4588970" cy="304698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FSH:</a:t>
            </a:r>
          </a:p>
          <a:p>
            <a:r>
              <a:rPr lang="fr-FR" sz="3200" dirty="0" smtClean="0"/>
              <a:t>-élevée </a:t>
            </a:r>
            <a:r>
              <a:rPr lang="fr-FR" sz="3200" dirty="0"/>
              <a:t>au début du </a:t>
            </a:r>
            <a:r>
              <a:rPr lang="fr-FR" sz="3200" dirty="0" smtClean="0"/>
              <a:t>cycle</a:t>
            </a:r>
          </a:p>
          <a:p>
            <a:r>
              <a:rPr lang="fr-FR" sz="3200" dirty="0" smtClean="0"/>
              <a:t>-</a:t>
            </a:r>
            <a:r>
              <a:rPr lang="fr-FR" sz="3200" dirty="0"/>
              <a:t>pic pré-ovulatoire au milieu </a:t>
            </a:r>
            <a:endParaRPr lang="fr-FR" sz="3200" dirty="0" smtClean="0"/>
          </a:p>
          <a:p>
            <a:r>
              <a:rPr lang="fr-FR" sz="3200" dirty="0" smtClean="0"/>
              <a:t> </a:t>
            </a:r>
            <a:r>
              <a:rPr lang="fr-FR" sz="3200" b="1" dirty="0" smtClean="0"/>
              <a:t> </a:t>
            </a:r>
            <a:endParaRPr lang="fr-FR" sz="3200" dirty="0"/>
          </a:p>
          <a:p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076056" y="0"/>
            <a:ext cx="4320670" cy="2554545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LH:</a:t>
            </a:r>
          </a:p>
          <a:p>
            <a:r>
              <a:rPr lang="fr-FR" sz="3200" dirty="0" smtClean="0"/>
              <a:t>-taux </a:t>
            </a:r>
            <a:r>
              <a:rPr lang="fr-FR" sz="3200" dirty="0"/>
              <a:t>bas tout </a:t>
            </a:r>
            <a:r>
              <a:rPr lang="fr-FR" sz="3200" dirty="0" smtClean="0"/>
              <a:t>au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long du </a:t>
            </a:r>
            <a:r>
              <a:rPr lang="fr-FR" sz="3200" dirty="0" smtClean="0"/>
              <a:t>cycle</a:t>
            </a:r>
          </a:p>
          <a:p>
            <a:r>
              <a:rPr lang="fr-FR" sz="3200" dirty="0" smtClean="0"/>
              <a:t>-</a:t>
            </a:r>
            <a:r>
              <a:rPr lang="fr-FR" sz="3200" dirty="0"/>
              <a:t>pic pré-ovulatoire </a:t>
            </a:r>
            <a:endParaRPr lang="fr-FR" sz="3200" dirty="0" smtClean="0"/>
          </a:p>
          <a:p>
            <a:r>
              <a:rPr lang="fr-FR" sz="3200" dirty="0" smtClean="0"/>
              <a:t>très </a:t>
            </a:r>
            <a:r>
              <a:rPr lang="fr-FR" sz="3200" dirty="0"/>
              <a:t>important au milieu</a:t>
            </a:r>
            <a:r>
              <a:rPr lang="fr-FR" sz="3200" dirty="0" smtClean="0"/>
              <a:t> </a:t>
            </a:r>
            <a:endParaRPr lang="fr-FR" sz="3200" b="1" dirty="0"/>
          </a:p>
        </p:txBody>
      </p:sp>
      <p:pic>
        <p:nvPicPr>
          <p:cNvPr id="1028" name="Picture 4" descr="https://encrypted-tbn2.gstatic.com/images?q=tbn:ANd9GcTCMVagroszbr3e0l3fQ_fXr3rN6EyousTnmFLHozGg7X9-jft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36912"/>
            <a:ext cx="9144000" cy="4221088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1835696" y="2780928"/>
            <a:ext cx="5361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CYCLE HORMONAL HYPOPHYSAIRE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http://p2.storage.canalblog.com/26/14/549241/54091393.jpg"/>
          <p:cNvSpPr>
            <a:spLocks noChangeAspect="1" noChangeArrowheads="1"/>
          </p:cNvSpPr>
          <p:nvPr/>
        </p:nvSpPr>
        <p:spPr bwMode="auto">
          <a:xfrm>
            <a:off x="63500" y="-136525"/>
            <a:ext cx="3800475" cy="2867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OESTROGENES:</a:t>
            </a:r>
          </a:p>
          <a:p>
            <a:r>
              <a:rPr lang="fr-FR" sz="3200" dirty="0" smtClean="0"/>
              <a:t>Augmentation progressive au cours de la phase folliculaire, jusqu'au 12è jour du cycle.</a:t>
            </a:r>
            <a:br>
              <a:rPr lang="fr-FR" sz="3200" dirty="0" smtClean="0"/>
            </a:br>
            <a:r>
              <a:rPr lang="fr-FR" sz="3200" dirty="0" smtClean="0"/>
              <a:t>Diminution après le 12è jour, puis remontée modérée en phase lutéale.</a:t>
            </a:r>
            <a:br>
              <a:rPr lang="fr-FR" sz="3200" dirty="0" smtClean="0"/>
            </a:br>
            <a:endParaRPr lang="fr-FR" sz="3200" b="1" dirty="0"/>
          </a:p>
        </p:txBody>
      </p:sp>
      <p:sp>
        <p:nvSpPr>
          <p:cNvPr id="9218" name="AutoShape 2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2" name="Picture 6" descr="Résultat de recherche d'images pour &quot;cycle des hormones ovariennes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67175"/>
            <a:ext cx="8892480" cy="2790825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1763688" y="3501008"/>
            <a:ext cx="4418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CYCLE HORMONAL OVARIEN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http://p2.storage.canalblog.com/26/14/549241/54091393.jpg"/>
          <p:cNvSpPr>
            <a:spLocks noChangeAspect="1" noChangeArrowheads="1"/>
          </p:cNvSpPr>
          <p:nvPr/>
        </p:nvSpPr>
        <p:spPr bwMode="auto">
          <a:xfrm>
            <a:off x="63500" y="-136525"/>
            <a:ext cx="3800475" cy="2867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9540552" cy="403187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PROGESTERONE</a:t>
            </a:r>
          </a:p>
          <a:p>
            <a:r>
              <a:rPr lang="fr-FR" sz="3200" dirty="0" smtClean="0"/>
              <a:t>Phase folliculaire: pas de sécrétion de progestérone.</a:t>
            </a:r>
            <a:br>
              <a:rPr lang="fr-FR" sz="3200" dirty="0" smtClean="0"/>
            </a:br>
            <a:r>
              <a:rPr lang="fr-FR" sz="3200" dirty="0" smtClean="0"/>
              <a:t>Phase lutéale: le taux de progestérone augmente progressivement puis diminue</a:t>
            </a:r>
            <a:br>
              <a:rPr lang="fr-FR" sz="3200" dirty="0" smtClean="0"/>
            </a:br>
            <a:r>
              <a:rPr lang="fr-FR" sz="3200" dirty="0" smtClean="0"/>
              <a:t>en raison de l’involution du corps jaune.</a:t>
            </a:r>
            <a:br>
              <a:rPr lang="fr-FR" sz="3200" dirty="0" smtClean="0"/>
            </a:br>
            <a:r>
              <a:rPr lang="fr-FR" sz="3200" dirty="0" smtClean="0"/>
              <a:t>Cette diminution précède et déclenche les règles du cycle suivant</a:t>
            </a:r>
            <a:br>
              <a:rPr lang="fr-FR" sz="3200" dirty="0" smtClean="0"/>
            </a:br>
            <a:endParaRPr lang="fr-FR" sz="3200" b="1" dirty="0"/>
          </a:p>
        </p:txBody>
      </p:sp>
      <p:sp>
        <p:nvSpPr>
          <p:cNvPr id="9218" name="AutoShape 2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Résultat de recherche d'images pour &quot;cycle des hormones ovarienn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2" name="Picture 6" descr="Résultat de recherche d'images pour &quot;cycle des hormones ovariennes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67175"/>
            <a:ext cx="8892480" cy="2790825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1763688" y="3501008"/>
            <a:ext cx="4418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CYCLE HORMONAL OVARIEN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9512" y="908720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1. FSH  stimule </a:t>
            </a:r>
            <a:r>
              <a:rPr lang="fr-FR" sz="3200" b="1" dirty="0"/>
              <a:t>le développement folliculaire </a:t>
            </a:r>
            <a:r>
              <a:rPr lang="fr-FR" sz="3200" b="1" dirty="0" smtClean="0"/>
              <a:t>: </a:t>
            </a:r>
            <a:r>
              <a:rPr lang="fr-FR" sz="3200" b="1" dirty="0" err="1" smtClean="0">
                <a:solidFill>
                  <a:srgbClr val="00B050"/>
                </a:solidFill>
              </a:rPr>
              <a:t>granulosa</a:t>
            </a:r>
            <a:r>
              <a:rPr lang="fr-FR" sz="3200" b="1" dirty="0" smtClean="0">
                <a:solidFill>
                  <a:srgbClr val="00B050"/>
                </a:solidFill>
              </a:rPr>
              <a:t>, zone </a:t>
            </a:r>
            <a:r>
              <a:rPr lang="fr-FR" sz="3200" b="1" dirty="0">
                <a:solidFill>
                  <a:srgbClr val="00B050"/>
                </a:solidFill>
              </a:rPr>
              <a:t>pellucide</a:t>
            </a:r>
            <a:r>
              <a:rPr lang="fr-FR" sz="3200" b="1" dirty="0"/>
              <a:t>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79512" y="2204864"/>
            <a:ext cx="7560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2. LH stimule </a:t>
            </a:r>
            <a:r>
              <a:rPr lang="fr-FR" sz="3200" b="1" dirty="0"/>
              <a:t>la différenciation des cellules de </a:t>
            </a:r>
            <a:r>
              <a:rPr lang="fr-FR" sz="3200" b="1" dirty="0">
                <a:solidFill>
                  <a:srgbClr val="00B050"/>
                </a:solidFill>
              </a:rPr>
              <a:t>la thèque </a:t>
            </a:r>
            <a:r>
              <a:rPr lang="fr-FR" sz="3200" b="1" dirty="0" smtClean="0">
                <a:solidFill>
                  <a:srgbClr val="00B050"/>
                </a:solidFill>
              </a:rPr>
              <a:t>interne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378904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  </a:t>
            </a:r>
            <a:r>
              <a:rPr lang="fr-FR" sz="3200" b="1" dirty="0" smtClean="0"/>
              <a:t>3. Les cellules </a:t>
            </a:r>
            <a:r>
              <a:rPr lang="fr-FR" sz="3200" b="1" dirty="0"/>
              <a:t>de </a:t>
            </a:r>
            <a:r>
              <a:rPr lang="fr-FR" sz="3200" b="1" dirty="0">
                <a:solidFill>
                  <a:srgbClr val="00B050"/>
                </a:solidFill>
              </a:rPr>
              <a:t>la thèque </a:t>
            </a:r>
            <a:r>
              <a:rPr lang="fr-FR" sz="3200" b="1" dirty="0" smtClean="0">
                <a:solidFill>
                  <a:srgbClr val="00B050"/>
                </a:solidFill>
              </a:rPr>
              <a:t>interne</a:t>
            </a:r>
            <a:r>
              <a:rPr lang="fr-FR" sz="3200" b="1" dirty="0" smtClean="0"/>
              <a:t> secrètent des </a:t>
            </a:r>
            <a:r>
              <a:rPr lang="fr-FR" sz="3200" b="1" dirty="0" smtClean="0">
                <a:solidFill>
                  <a:srgbClr val="00B050"/>
                </a:solidFill>
              </a:rPr>
              <a:t>œstrogènes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2411760" y="0"/>
            <a:ext cx="2881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Avant ovulation</a:t>
            </a:r>
            <a:endParaRPr lang="fr-FR" sz="3200" b="1" dirty="0">
              <a:solidFill>
                <a:srgbClr val="0070C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25144"/>
            <a:ext cx="8748463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59832" y="0"/>
            <a:ext cx="2443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A l’ ovulation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476672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r>
              <a:rPr lang="fr-FR" sz="3200" b="1" dirty="0" smtClean="0"/>
              <a:t>1. Œstrogènes             feed-back positif sur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4" name="Flèche droite 3"/>
          <p:cNvSpPr/>
          <p:nvPr/>
        </p:nvSpPr>
        <p:spPr>
          <a:xfrm>
            <a:off x="2771800" y="1268760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1556792"/>
            <a:ext cx="88924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                                    </a:t>
            </a:r>
            <a:r>
              <a:rPr lang="fr-FR" sz="3200" b="1" dirty="0" smtClean="0"/>
              <a:t>Pic de FSH et LH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2.  Dissociation </a:t>
            </a:r>
            <a:r>
              <a:rPr lang="fr-FR" sz="3200" b="1" dirty="0"/>
              <a:t>des cellules </a:t>
            </a:r>
            <a:r>
              <a:rPr lang="fr-FR" sz="3200" b="1" dirty="0" smtClean="0"/>
              <a:t>du </a:t>
            </a:r>
            <a:r>
              <a:rPr lang="fr-FR" sz="3200" b="1" dirty="0">
                <a:solidFill>
                  <a:srgbClr val="00B050"/>
                </a:solidFill>
              </a:rPr>
              <a:t>cumulus </a:t>
            </a:r>
            <a:r>
              <a:rPr lang="fr-FR" sz="3200" b="1" dirty="0" err="1" smtClean="0">
                <a:solidFill>
                  <a:srgbClr val="00B050"/>
                </a:solidFill>
              </a:rPr>
              <a:t>oophorus</a:t>
            </a:r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/>
          </a:p>
          <a:p>
            <a:r>
              <a:rPr lang="fr-FR" sz="3200" b="1" dirty="0" smtClean="0"/>
              <a:t>3. Reprise </a:t>
            </a:r>
            <a:r>
              <a:rPr lang="fr-FR" sz="3200" b="1" dirty="0"/>
              <a:t>de la première division de la </a:t>
            </a:r>
            <a:r>
              <a:rPr lang="fr-FR" sz="3200" b="1" dirty="0" smtClean="0"/>
              <a:t>méiose</a:t>
            </a:r>
          </a:p>
          <a:p>
            <a:r>
              <a:rPr lang="fr-FR" sz="3200" b="1" dirty="0" smtClean="0"/>
              <a:t>                OVOCYTE I                     OVOCYTE II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4.  Ovulation</a:t>
            </a:r>
            <a:endParaRPr lang="fr-FR" sz="3200" b="1" dirty="0"/>
          </a:p>
        </p:txBody>
      </p:sp>
      <p:sp>
        <p:nvSpPr>
          <p:cNvPr id="6" name="Flèche droite 5"/>
          <p:cNvSpPr/>
          <p:nvPr/>
        </p:nvSpPr>
        <p:spPr>
          <a:xfrm>
            <a:off x="3923928" y="4293096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3176"/>
            <a:ext cx="874846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75856" y="0"/>
            <a:ext cx="2874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Après ovulation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6926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1. LH transforme le reste du follicule  en corps jaune</a:t>
            </a:r>
            <a:endParaRPr lang="fr-FR" sz="32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628800"/>
            <a:ext cx="1090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2. Le corps jaune sécrète œstrogènes et progestérone                 </a:t>
            </a:r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2492896"/>
            <a:ext cx="929895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 </a:t>
            </a:r>
            <a:r>
              <a:rPr lang="fr-FR" sz="3200" b="1" dirty="0" smtClean="0"/>
              <a:t>3. Pic de progestérone              feed-back négatif sur</a:t>
            </a:r>
          </a:p>
          <a:p>
            <a:r>
              <a:rPr lang="fr-FR" sz="3200" b="1" dirty="0" smtClean="0"/>
              <a:t>                                                                 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</a:p>
          <a:p>
            <a:r>
              <a:rPr lang="fr-FR" sz="3200" b="1" dirty="0" smtClean="0"/>
              <a:t>4. Diminution de </a:t>
            </a:r>
            <a:r>
              <a:rPr lang="fr-FR" sz="3200" b="1" dirty="0" smtClean="0">
                <a:solidFill>
                  <a:srgbClr val="0070C0"/>
                </a:solidFill>
              </a:rPr>
              <a:t>LH</a:t>
            </a:r>
            <a:r>
              <a:rPr lang="fr-FR" sz="3200" b="1" dirty="0" smtClean="0"/>
              <a:t>               régression du corps jaune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5. Régression du corps jaune          diminution de </a:t>
            </a:r>
            <a:r>
              <a:rPr lang="fr-FR" sz="3200" b="1" dirty="0" err="1" smtClean="0"/>
              <a:t>pg</a:t>
            </a:r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6. Diminution de </a:t>
            </a:r>
            <a:r>
              <a:rPr lang="fr-FR" sz="3200" b="1" dirty="0" err="1" smtClean="0"/>
              <a:t>pg</a:t>
            </a:r>
            <a:r>
              <a:rPr lang="fr-FR" sz="3200" b="1" dirty="0" smtClean="0"/>
              <a:t>               feed-back positif </a:t>
            </a:r>
          </a:p>
          <a:p>
            <a:r>
              <a:rPr lang="fr-FR" sz="3200" b="1" dirty="0" smtClean="0"/>
              <a:t>                                                    sur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</a:p>
          <a:p>
            <a:r>
              <a:rPr lang="fr-FR" sz="2400" b="1" dirty="0" smtClean="0"/>
              <a:t>                    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763688" y="5780782"/>
            <a:ext cx="8280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  ET LE CYCLE REPREND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>
            <a:off x="4211960" y="2780928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>
            <a:off x="3779912" y="3717032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>
            <a:off x="4932040" y="4725144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>
            <a:off x="3635896" y="5661248"/>
            <a:ext cx="720080" cy="13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itxer:Cycle menstruel.sv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502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57581"/>
            <a:ext cx="34401854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Calibri" pitchFamily="34" charset="0"/>
              </a:rPr>
              <a:t>c. Rôles des hormones ovariennes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Elles déterminent: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Apparition des caractères sexuels primaires chez le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fœtus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Apparition des caractères sexuels secondaires au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moment de la puberté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Elles contrôlent l’ovogenèse.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492442"/>
            <a:ext cx="34401854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                  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Les œstrogènes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Ont une influence: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sur les variations cycliques de  l’épithélium de la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trompe de Fallope.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3200" dirty="0" smtClean="0">
                <a:ea typeface="Calibri" pitchFamily="34" charset="0"/>
                <a:cs typeface="Calibri" pitchFamily="34" charset="0"/>
              </a:rPr>
              <a:t> sur les variations cycliques de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l’endomètre 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sur la prolifération des glandes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endométriales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reconstitution de la muqueuse utérine.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Stimulent les contractions du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myomètre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Font que la glaire cervicale soit abondante au moment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de la fécondation.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4427"/>
            <a:ext cx="3440185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La progestérone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Prépare la muqueuse utérine à la nidation 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croissance des glandes et sécrétion.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Inhibe les contractions du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myomètre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Modifie l’abondance de la glaire.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13694</TotalTime>
  <Words>803</Words>
  <Application>Microsoft Office PowerPoint</Application>
  <PresentationFormat>Affichage à l'écran (4:3)</PresentationFormat>
  <Paragraphs>239</Paragraphs>
  <Slides>31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dell</cp:lastModifiedBy>
  <cp:revision>38</cp:revision>
  <dcterms:created xsi:type="dcterms:W3CDTF">2018-09-16T08:34:06Z</dcterms:created>
  <dcterms:modified xsi:type="dcterms:W3CDTF">2022-11-05T17:29:13Z</dcterms:modified>
</cp:coreProperties>
</file>