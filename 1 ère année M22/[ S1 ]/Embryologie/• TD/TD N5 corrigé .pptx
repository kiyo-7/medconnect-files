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7" r:id="rId6"/>
    <p:sldId id="266" r:id="rId7"/>
    <p:sldId id="262" r:id="rId8"/>
    <p:sldId id="263" r:id="rId9"/>
    <p:sldId id="268" r:id="rId10"/>
    <p:sldId id="269"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3"/>
            <a:ext cx="9144000" cy="2387600"/>
          </a:xfrm>
        </p:spPr>
        <p:txBody>
          <a:bodyPr anchor="b"/>
          <a:lstStyle>
            <a:lvl1pPr algn="ctr">
              <a:defRPr sz="6000"/>
            </a:lvl1pPr>
          </a:lstStyle>
          <a:p>
            <a:r>
              <a:rPr lang="fr-FR" smtClean="0"/>
              <a:t>Modifiez le style du titre</a:t>
            </a:r>
            <a:endParaRPr lang="fr-FR"/>
          </a:p>
        </p:txBody>
      </p:sp>
      <p:sp>
        <p:nvSpPr>
          <p:cNvPr id="3" name="Sous-titr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smtClean="0"/>
              <a:t>Modifier le style des sous-titres du masque</a:t>
            </a:r>
            <a:endParaRPr lang="fr-FR"/>
          </a:p>
        </p:txBody>
      </p:sp>
      <p:sp>
        <p:nvSpPr>
          <p:cNvPr id="4" name="Espace réservé de la date 3"/>
          <p:cNvSpPr>
            <a:spLocks noGrp="1"/>
          </p:cNvSpPr>
          <p:nvPr>
            <p:ph type="dt" sz="half" idx="10"/>
          </p:nvPr>
        </p:nvSpPr>
        <p:spPr/>
        <p:txBody>
          <a:bodyPr/>
          <a:lstStyle/>
          <a:p>
            <a:fld id="{FB16D35B-2EA3-4242-A2AF-D1BA27D3F461}" type="datetimeFigureOut">
              <a:rPr lang="fr-FR" smtClean="0"/>
              <a:t>06/01/2023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12138809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idx="1"/>
          </p:nvPr>
        </p:nvSpPr>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B16D35B-2EA3-4242-A2AF-D1BA27D3F461}" type="datetimeFigureOut">
              <a:rPr lang="fr-FR" smtClean="0"/>
              <a:t>06/01/2023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1865735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831850" y="1709738"/>
            <a:ext cx="10515600" cy="2852737"/>
          </a:xfrm>
        </p:spPr>
        <p:txBody>
          <a:bodyPr anchor="b"/>
          <a:lstStyle>
            <a:lvl1pPr>
              <a:defRPr sz="6000"/>
            </a:lvl1pPr>
          </a:lstStyle>
          <a:p>
            <a:r>
              <a:rPr lang="fr-FR" smtClean="0"/>
              <a:t>Modifiez le style du titre</a:t>
            </a:r>
            <a:endParaRPr lang="fr-FR"/>
          </a:p>
        </p:txBody>
      </p:sp>
      <p:sp>
        <p:nvSpPr>
          <p:cNvPr id="3" name="Espace réservé du texte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smtClean="0"/>
              <a:t>Modifier les styles du texte du masque</a:t>
            </a:r>
          </a:p>
        </p:txBody>
      </p:sp>
      <p:sp>
        <p:nvSpPr>
          <p:cNvPr id="4" name="Espace réservé de la date 3"/>
          <p:cNvSpPr>
            <a:spLocks noGrp="1"/>
          </p:cNvSpPr>
          <p:nvPr>
            <p:ph type="dt" sz="half" idx="10"/>
          </p:nvPr>
        </p:nvSpPr>
        <p:spPr/>
        <p:txBody>
          <a:bodyPr/>
          <a:lstStyle/>
          <a:p>
            <a:fld id="{FB16D35B-2EA3-4242-A2AF-D1BA27D3F461}" type="datetimeFigureOut">
              <a:rPr lang="fr-FR" smtClean="0"/>
              <a:t>06/01/2023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3731698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contenu 2"/>
          <p:cNvSpPr>
            <a:spLocks noGrp="1"/>
          </p:cNvSpPr>
          <p:nvPr>
            <p:ph sz="half" idx="1"/>
          </p:nvPr>
        </p:nvSpPr>
        <p:spPr>
          <a:xfrm>
            <a:off x="838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contenu 3"/>
          <p:cNvSpPr>
            <a:spLocks noGrp="1"/>
          </p:cNvSpPr>
          <p:nvPr>
            <p:ph sz="half" idx="2"/>
          </p:nvPr>
        </p:nvSpPr>
        <p:spPr>
          <a:xfrm>
            <a:off x="6172200" y="1825625"/>
            <a:ext cx="5181600" cy="435133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e la date 4"/>
          <p:cNvSpPr>
            <a:spLocks noGrp="1"/>
          </p:cNvSpPr>
          <p:nvPr>
            <p:ph type="dt" sz="half" idx="10"/>
          </p:nvPr>
        </p:nvSpPr>
        <p:spPr/>
        <p:txBody>
          <a:bodyPr/>
          <a:lstStyle/>
          <a:p>
            <a:fld id="{FB16D35B-2EA3-4242-A2AF-D1BA27D3F461}" type="datetimeFigureOut">
              <a:rPr lang="fr-FR" smtClean="0"/>
              <a:t>06/01/2023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2845195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839788" y="365125"/>
            <a:ext cx="10515600" cy="1325563"/>
          </a:xfrm>
        </p:spPr>
        <p:txBody>
          <a:bodyPr/>
          <a:lstStyle/>
          <a:p>
            <a:r>
              <a:rPr lang="fr-FR" smtClean="0"/>
              <a:t>Modifiez le style du titre</a:t>
            </a:r>
            <a:endParaRPr lang="fr-FR"/>
          </a:p>
        </p:txBody>
      </p:sp>
      <p:sp>
        <p:nvSpPr>
          <p:cNvPr id="3" name="Espace réservé du texte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4" name="Espace réservé du contenu 3"/>
          <p:cNvSpPr>
            <a:spLocks noGrp="1"/>
          </p:cNvSpPr>
          <p:nvPr>
            <p:ph sz="half" idx="2"/>
          </p:nvPr>
        </p:nvSpPr>
        <p:spPr>
          <a:xfrm>
            <a:off x="839788" y="2505075"/>
            <a:ext cx="5157787"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5" name="Espace réservé du texte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smtClean="0"/>
              <a:t>Modifier les styles du texte du masque</a:t>
            </a:r>
          </a:p>
        </p:txBody>
      </p:sp>
      <p:sp>
        <p:nvSpPr>
          <p:cNvPr id="6" name="Espace réservé du contenu 5"/>
          <p:cNvSpPr>
            <a:spLocks noGrp="1"/>
          </p:cNvSpPr>
          <p:nvPr>
            <p:ph sz="quarter" idx="4"/>
          </p:nvPr>
        </p:nvSpPr>
        <p:spPr>
          <a:xfrm>
            <a:off x="6172200" y="2505075"/>
            <a:ext cx="5183188" cy="3684588"/>
          </a:xfrm>
        </p:spPr>
        <p:txBody>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7" name="Espace réservé de la date 6"/>
          <p:cNvSpPr>
            <a:spLocks noGrp="1"/>
          </p:cNvSpPr>
          <p:nvPr>
            <p:ph type="dt" sz="half" idx="10"/>
          </p:nvPr>
        </p:nvSpPr>
        <p:spPr/>
        <p:txBody>
          <a:bodyPr/>
          <a:lstStyle/>
          <a:p>
            <a:fld id="{FB16D35B-2EA3-4242-A2AF-D1BA27D3F461}" type="datetimeFigureOut">
              <a:rPr lang="fr-FR" smtClean="0"/>
              <a:t>06/01/2023</a:t>
            </a:fld>
            <a:endParaRPr lang="fr-FR"/>
          </a:p>
        </p:txBody>
      </p:sp>
      <p:sp>
        <p:nvSpPr>
          <p:cNvPr id="8" name="Espace réservé du pied de page 7"/>
          <p:cNvSpPr>
            <a:spLocks noGrp="1"/>
          </p:cNvSpPr>
          <p:nvPr>
            <p:ph type="ftr" sz="quarter" idx="11"/>
          </p:nvPr>
        </p:nvSpPr>
        <p:spPr/>
        <p:txBody>
          <a:bodyPr/>
          <a:lstStyle/>
          <a:p>
            <a:endParaRPr lang="fr-FR"/>
          </a:p>
        </p:txBody>
      </p:sp>
      <p:sp>
        <p:nvSpPr>
          <p:cNvPr id="9" name="Espace réservé du numéro de diapositive 8"/>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1792950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e la date 2"/>
          <p:cNvSpPr>
            <a:spLocks noGrp="1"/>
          </p:cNvSpPr>
          <p:nvPr>
            <p:ph type="dt" sz="half" idx="10"/>
          </p:nvPr>
        </p:nvSpPr>
        <p:spPr/>
        <p:txBody>
          <a:bodyPr/>
          <a:lstStyle/>
          <a:p>
            <a:fld id="{FB16D35B-2EA3-4242-A2AF-D1BA27D3F461}" type="datetimeFigureOut">
              <a:rPr lang="fr-FR" smtClean="0"/>
              <a:t>06/01/2023</a:t>
            </a:fld>
            <a:endParaRPr lang="fr-FR"/>
          </a:p>
        </p:txBody>
      </p:sp>
      <p:sp>
        <p:nvSpPr>
          <p:cNvPr id="4" name="Espace réservé du pied de page 3"/>
          <p:cNvSpPr>
            <a:spLocks noGrp="1"/>
          </p:cNvSpPr>
          <p:nvPr>
            <p:ph type="ftr" sz="quarter" idx="11"/>
          </p:nvPr>
        </p:nvSpPr>
        <p:spPr/>
        <p:txBody>
          <a:bodyPr/>
          <a:lstStyle/>
          <a:p>
            <a:endParaRPr lang="fr-FR"/>
          </a:p>
        </p:txBody>
      </p:sp>
      <p:sp>
        <p:nvSpPr>
          <p:cNvPr id="5" name="Espace réservé du numéro de diapositive 4"/>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1977284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FB16D35B-2EA3-4242-A2AF-D1BA27D3F461}" type="datetimeFigureOut">
              <a:rPr lang="fr-FR" smtClean="0"/>
              <a:t>06/01/2023</a:t>
            </a:fld>
            <a:endParaRPr lang="fr-FR"/>
          </a:p>
        </p:txBody>
      </p:sp>
      <p:sp>
        <p:nvSpPr>
          <p:cNvPr id="3" name="Espace réservé du pied de page 2"/>
          <p:cNvSpPr>
            <a:spLocks noGrp="1"/>
          </p:cNvSpPr>
          <p:nvPr>
            <p:ph type="ftr" sz="quarter" idx="11"/>
          </p:nvPr>
        </p:nvSpPr>
        <p:spPr/>
        <p:txBody>
          <a:bodyPr/>
          <a:lstStyle/>
          <a:p>
            <a:endParaRPr lang="fr-FR"/>
          </a:p>
        </p:txBody>
      </p:sp>
      <p:sp>
        <p:nvSpPr>
          <p:cNvPr id="4" name="Espace réservé du numéro de diapositive 3"/>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6326845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du contenu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B16D35B-2EA3-4242-A2AF-D1BA27D3F461}" type="datetimeFigureOut">
              <a:rPr lang="fr-FR" smtClean="0"/>
              <a:t>06/01/2023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296860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839788" y="457200"/>
            <a:ext cx="3932237" cy="1600200"/>
          </a:xfrm>
        </p:spPr>
        <p:txBody>
          <a:bodyPr anchor="b"/>
          <a:lstStyle>
            <a:lvl1pPr>
              <a:defRPr sz="3200"/>
            </a:lvl1pPr>
          </a:lstStyle>
          <a:p>
            <a:r>
              <a:rPr lang="fr-FR" smtClean="0"/>
              <a:t>Modifiez le style du titre</a:t>
            </a:r>
            <a:endParaRPr lang="fr-FR"/>
          </a:p>
        </p:txBody>
      </p:sp>
      <p:sp>
        <p:nvSpPr>
          <p:cNvPr id="3" name="Espace réservé pour une image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smtClean="0"/>
              <a:t>Modifier les styles du texte du masque</a:t>
            </a:r>
          </a:p>
        </p:txBody>
      </p:sp>
      <p:sp>
        <p:nvSpPr>
          <p:cNvPr id="5" name="Espace réservé de la date 4"/>
          <p:cNvSpPr>
            <a:spLocks noGrp="1"/>
          </p:cNvSpPr>
          <p:nvPr>
            <p:ph type="dt" sz="half" idx="10"/>
          </p:nvPr>
        </p:nvSpPr>
        <p:spPr/>
        <p:txBody>
          <a:bodyPr/>
          <a:lstStyle/>
          <a:p>
            <a:fld id="{FB16D35B-2EA3-4242-A2AF-D1BA27D3F461}" type="datetimeFigureOut">
              <a:rPr lang="fr-FR" smtClean="0"/>
              <a:t>06/01/2023</a:t>
            </a:fld>
            <a:endParaRPr lang="fr-FR"/>
          </a:p>
        </p:txBody>
      </p:sp>
      <p:sp>
        <p:nvSpPr>
          <p:cNvPr id="6" name="Espace réservé du pied de page 5"/>
          <p:cNvSpPr>
            <a:spLocks noGrp="1"/>
          </p:cNvSpPr>
          <p:nvPr>
            <p:ph type="ftr" sz="quarter" idx="11"/>
          </p:nvPr>
        </p:nvSpPr>
        <p:spPr/>
        <p:txBody>
          <a:bodyPr/>
          <a:lstStyle/>
          <a:p>
            <a:endParaRPr lang="fr-FR"/>
          </a:p>
        </p:txBody>
      </p:sp>
      <p:sp>
        <p:nvSpPr>
          <p:cNvPr id="7" name="Espace réservé du numéro de diapositive 6"/>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2938286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Modifiez le style du titre</a:t>
            </a:r>
            <a:endParaRPr lang="fr-FR"/>
          </a:p>
        </p:txBody>
      </p:sp>
      <p:sp>
        <p:nvSpPr>
          <p:cNvPr id="3" name="Espace réservé du texte vertical 2"/>
          <p:cNvSpPr>
            <a:spLocks noGrp="1"/>
          </p:cNvSpPr>
          <p:nvPr>
            <p:ph type="body" orient="vert" idx="1"/>
          </p:nvPr>
        </p:nvSpPr>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B16D35B-2EA3-4242-A2AF-D1BA27D3F461}" type="datetimeFigureOut">
              <a:rPr lang="fr-FR" smtClean="0"/>
              <a:t>06/01/2023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17149713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8724900" y="365125"/>
            <a:ext cx="2628900" cy="5811838"/>
          </a:xfrm>
        </p:spPr>
        <p:txBody>
          <a:bodyPr vert="eaVert"/>
          <a:lstStyle/>
          <a:p>
            <a:r>
              <a:rPr lang="fr-FR" smtClean="0"/>
              <a:t>Modifiez le style du titre</a:t>
            </a:r>
            <a:endParaRPr lang="fr-FR"/>
          </a:p>
        </p:txBody>
      </p:sp>
      <p:sp>
        <p:nvSpPr>
          <p:cNvPr id="3" name="Espace réservé du texte vertical 2"/>
          <p:cNvSpPr>
            <a:spLocks noGrp="1"/>
          </p:cNvSpPr>
          <p:nvPr>
            <p:ph type="body" orient="vert" idx="1"/>
          </p:nvPr>
        </p:nvSpPr>
        <p:spPr>
          <a:xfrm>
            <a:off x="838200" y="365125"/>
            <a:ext cx="7734300" cy="5811838"/>
          </a:xfrm>
        </p:spPr>
        <p:txBody>
          <a:bodyPr vert="eaVert"/>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10"/>
          </p:nvPr>
        </p:nvSpPr>
        <p:spPr/>
        <p:txBody>
          <a:bodyPr/>
          <a:lstStyle/>
          <a:p>
            <a:fld id="{FB16D35B-2EA3-4242-A2AF-D1BA27D3F461}" type="datetimeFigureOut">
              <a:rPr lang="fr-FR" smtClean="0"/>
              <a:t>06/01/2023</a:t>
            </a:fld>
            <a:endParaRPr lang="fr-FR"/>
          </a:p>
        </p:txBody>
      </p:sp>
      <p:sp>
        <p:nvSpPr>
          <p:cNvPr id="5" name="Espace réservé du pied de page 4"/>
          <p:cNvSpPr>
            <a:spLocks noGrp="1"/>
          </p:cNvSpPr>
          <p:nvPr>
            <p:ph type="ftr" sz="quarter" idx="11"/>
          </p:nvPr>
        </p:nvSpPr>
        <p:spPr/>
        <p:txBody>
          <a:bodyPr/>
          <a:lstStyle/>
          <a:p>
            <a:endParaRPr lang="fr-FR"/>
          </a:p>
        </p:txBody>
      </p:sp>
      <p:sp>
        <p:nvSpPr>
          <p:cNvPr id="6" name="Espace réservé du numéro de diapositive 5"/>
          <p:cNvSpPr>
            <a:spLocks noGrp="1"/>
          </p:cNvSpPr>
          <p:nvPr>
            <p:ph type="sldNum" sz="quarter" idx="12"/>
          </p:nvPr>
        </p:nvSpPr>
        <p:spPr/>
        <p:txBody>
          <a:bodyPr/>
          <a:lstStyle/>
          <a:p>
            <a:fld id="{804C86D6-A163-4FFD-9E1E-252C2BC5BCD4}" type="slidenum">
              <a:rPr lang="fr-FR" smtClean="0"/>
              <a:t>‹N°›</a:t>
            </a:fld>
            <a:endParaRPr lang="fr-FR"/>
          </a:p>
        </p:txBody>
      </p:sp>
    </p:spTree>
    <p:extLst>
      <p:ext uri="{BB962C8B-B14F-4D97-AF65-F5344CB8AC3E}">
        <p14:creationId xmlns:p14="http://schemas.microsoft.com/office/powerpoint/2010/main" val="1963611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smtClean="0"/>
              <a:t>Modifiez le style du titre</a:t>
            </a:r>
            <a:endParaRPr lang="fr-FR"/>
          </a:p>
        </p:txBody>
      </p:sp>
      <p:sp>
        <p:nvSpPr>
          <p:cNvPr id="3" name="Espace réservé du texte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4" name="Espace réservé de la date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16D35B-2EA3-4242-A2AF-D1BA27D3F461}" type="datetimeFigureOut">
              <a:rPr lang="fr-FR" smtClean="0"/>
              <a:t>06/01/2023</a:t>
            </a:fld>
            <a:endParaRPr lang="fr-FR"/>
          </a:p>
        </p:txBody>
      </p:sp>
      <p:sp>
        <p:nvSpPr>
          <p:cNvPr id="5" name="Espace réservé du pied de page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4C86D6-A163-4FFD-9E1E-252C2BC5BCD4}" type="slidenum">
              <a:rPr lang="fr-FR" smtClean="0"/>
              <a:t>‹N°›</a:t>
            </a:fld>
            <a:endParaRPr lang="fr-FR"/>
          </a:p>
        </p:txBody>
      </p:sp>
    </p:spTree>
    <p:extLst>
      <p:ext uri="{BB962C8B-B14F-4D97-AF65-F5344CB8AC3E}">
        <p14:creationId xmlns:p14="http://schemas.microsoft.com/office/powerpoint/2010/main" val="10694126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08810" y="192817"/>
            <a:ext cx="6096000" cy="1200329"/>
          </a:xfrm>
          <a:prstGeom prst="rect">
            <a:avLst/>
          </a:prstGeom>
        </p:spPr>
        <p:txBody>
          <a:bodyPr>
            <a:spAutoFit/>
          </a:bodyPr>
          <a:lstStyle/>
          <a:p>
            <a:r>
              <a:rPr lang="fr-FR" dirty="0" smtClean="0"/>
              <a:t>                       </a:t>
            </a:r>
            <a:r>
              <a:rPr lang="fr-FR" sz="3600" dirty="0" smtClean="0"/>
              <a:t>Correction TD 5</a:t>
            </a:r>
          </a:p>
          <a:p>
            <a:r>
              <a:rPr lang="fr-FR" sz="3600" dirty="0" smtClean="0"/>
              <a:t>LES GROSSESSES GÉMELLAIRES </a:t>
            </a:r>
            <a:endParaRPr lang="fr-FR" sz="3600" dirty="0"/>
          </a:p>
        </p:txBody>
      </p:sp>
      <p:pic>
        <p:nvPicPr>
          <p:cNvPr id="4" name="Image 3"/>
          <p:cNvPicPr>
            <a:picLocks noChangeAspect="1"/>
          </p:cNvPicPr>
          <p:nvPr/>
        </p:nvPicPr>
        <p:blipFill>
          <a:blip r:embed="rId2"/>
          <a:stretch>
            <a:fillRect/>
          </a:stretch>
        </p:blipFill>
        <p:spPr>
          <a:xfrm>
            <a:off x="418011" y="1393146"/>
            <a:ext cx="9849395" cy="5334225"/>
          </a:xfrm>
          <a:prstGeom prst="rect">
            <a:avLst/>
          </a:prstGeom>
        </p:spPr>
      </p:pic>
    </p:spTree>
    <p:extLst>
      <p:ext uri="{BB962C8B-B14F-4D97-AF65-F5344CB8AC3E}">
        <p14:creationId xmlns:p14="http://schemas.microsoft.com/office/powerpoint/2010/main" val="37981281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56754" y="613953"/>
            <a:ext cx="11390812" cy="5930537"/>
          </a:xfrm>
          <a:prstGeom prst="rect">
            <a:avLst/>
          </a:prstGeom>
        </p:spPr>
      </p:pic>
    </p:spTree>
    <p:extLst>
      <p:ext uri="{BB962C8B-B14F-4D97-AF65-F5344CB8AC3E}">
        <p14:creationId xmlns:p14="http://schemas.microsoft.com/office/powerpoint/2010/main" val="1664788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966651" y="143691"/>
            <a:ext cx="10580915" cy="6714309"/>
          </a:xfrm>
          <a:prstGeom prst="rect">
            <a:avLst/>
          </a:prstGeom>
        </p:spPr>
      </p:pic>
    </p:spTree>
    <p:extLst>
      <p:ext uri="{BB962C8B-B14F-4D97-AF65-F5344CB8AC3E}">
        <p14:creationId xmlns:p14="http://schemas.microsoft.com/office/powerpoint/2010/main" val="40852691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444137" y="653142"/>
            <a:ext cx="10750732" cy="6361611"/>
          </a:xfrm>
          <a:prstGeom prst="rect">
            <a:avLst/>
          </a:prstGeom>
        </p:spPr>
      </p:pic>
    </p:spTree>
    <p:extLst>
      <p:ext uri="{BB962C8B-B14F-4D97-AF65-F5344CB8AC3E}">
        <p14:creationId xmlns:p14="http://schemas.microsoft.com/office/powerpoint/2010/main" val="2368739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1031965" y="209006"/>
            <a:ext cx="9078685" cy="6361611"/>
          </a:xfrm>
          <a:prstGeom prst="rect">
            <a:avLst/>
          </a:prstGeom>
        </p:spPr>
      </p:pic>
    </p:spTree>
    <p:extLst>
      <p:ext uri="{BB962C8B-B14F-4D97-AF65-F5344CB8AC3E}">
        <p14:creationId xmlns:p14="http://schemas.microsoft.com/office/powerpoint/2010/main" val="288496045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7755969"/>
          </a:xfrm>
          <a:prstGeom prst="rect">
            <a:avLst/>
          </a:prstGeom>
        </p:spPr>
        <p:txBody>
          <a:bodyPr wrap="square">
            <a:spAutoFit/>
          </a:bodyPr>
          <a:lstStyle/>
          <a:p>
            <a:r>
              <a:rPr lang="fr-FR" sz="2400" dirty="0" smtClean="0"/>
              <a:t>IV. RÉPONSES AUX QROC</a:t>
            </a:r>
          </a:p>
          <a:p>
            <a:r>
              <a:rPr lang="fr-FR" sz="2400" dirty="0" smtClean="0"/>
              <a:t> </a:t>
            </a:r>
          </a:p>
          <a:p>
            <a:r>
              <a:rPr lang="fr-FR" sz="2400" dirty="0" smtClean="0"/>
              <a:t>1.	Quels sont les facteurs qui favorisent les grossesses gémellaires ? </a:t>
            </a:r>
          </a:p>
          <a:p>
            <a:r>
              <a:rPr lang="fr-FR" sz="2400" dirty="0" smtClean="0"/>
              <a:t>Les deux facteurs étiologiques les plus évidents de la gémellité sont le facteur génétique (la fréquence de gémellité varie selon la population, la région et le caractère héréditaire et familial de la gémellité) et le facteur hormonal (l’hyperactivité gonadotrope FSH et LH, ce qui entraine le phénomène de polyovulation).</a:t>
            </a:r>
          </a:p>
          <a:p>
            <a:endParaRPr lang="fr-FR" sz="2400" dirty="0" smtClean="0"/>
          </a:p>
          <a:p>
            <a:r>
              <a:rPr lang="fr-FR" sz="2400" dirty="0" smtClean="0"/>
              <a:t>2.	A) Pourquoi les grossesses gémellaires donnent-elles lieu à des accouchements prématurés ? B) Quels risques cela entraîne-t-il ?</a:t>
            </a:r>
          </a:p>
          <a:p>
            <a:endParaRPr lang="fr-FR" sz="2400" dirty="0" smtClean="0"/>
          </a:p>
          <a:p>
            <a:r>
              <a:rPr lang="fr-FR" sz="2400" dirty="0" smtClean="0"/>
              <a:t>A) Il y a deux types d’accouchements prématurés :</a:t>
            </a:r>
          </a:p>
          <a:p>
            <a:r>
              <a:rPr lang="fr-FR" sz="2400" dirty="0" smtClean="0"/>
              <a:t>* Les accouchements prématurés spontanés: C'est le cas le plus fréquent. À la fin du 2ème trimestre, les jumeaux manquent souvent de place pour bien se développer. L’utérus subit alors une tension très grande. Avant la fin de la grossesse gémellaire, l’utérus atteint la taille de l’utérus d’une grossesse unique à terme. C’est pourquoi on estime le terme des grossesses gémellaires vers 8 mois plutôt que 9. </a:t>
            </a:r>
          </a:p>
          <a:p>
            <a:r>
              <a:rPr lang="fr-FR" sz="2400" dirty="0" smtClean="0"/>
              <a:t>* Les  accouchements prématurés sur indication médicale: Quand un des bébés ou les deux souffrent in-utero.</a:t>
            </a:r>
          </a:p>
          <a:p>
            <a:endParaRPr lang="fr-FR" sz="2400" dirty="0" smtClean="0"/>
          </a:p>
          <a:p>
            <a:endParaRPr lang="fr-FR" dirty="0"/>
          </a:p>
        </p:txBody>
      </p:sp>
    </p:spTree>
    <p:extLst>
      <p:ext uri="{BB962C8B-B14F-4D97-AF65-F5344CB8AC3E}">
        <p14:creationId xmlns:p14="http://schemas.microsoft.com/office/powerpoint/2010/main" val="250712630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4801314"/>
          </a:xfrm>
          <a:prstGeom prst="rect">
            <a:avLst/>
          </a:prstGeom>
        </p:spPr>
        <p:txBody>
          <a:bodyPr wrap="square">
            <a:spAutoFit/>
          </a:bodyPr>
          <a:lstStyle/>
          <a:p>
            <a:r>
              <a:rPr lang="fr-FR" sz="2400" dirty="0" smtClean="0"/>
              <a:t>IV. RÉPONSES AUX QROC </a:t>
            </a:r>
          </a:p>
          <a:p>
            <a:endParaRPr lang="fr-FR" sz="2400" dirty="0" smtClean="0"/>
          </a:p>
          <a:p>
            <a:r>
              <a:rPr lang="fr-FR" sz="2400" dirty="0" smtClean="0"/>
              <a:t>B) Les pathologies chez le nouveau-né liées à une trop grande prématurité sont nombreuses: respiratoires, infectieuses, hémorragiques, digestives, immaturité du système nerveux, hypotrophie … .</a:t>
            </a:r>
          </a:p>
          <a:p>
            <a:endParaRPr lang="fr-FR" sz="2400" dirty="0" smtClean="0"/>
          </a:p>
          <a:p>
            <a:r>
              <a:rPr lang="fr-FR" sz="2400" dirty="0" smtClean="0"/>
              <a:t>3.	Une césarienne est-elle obligatoire dans tous les types de grossesses gémellaires ?</a:t>
            </a:r>
          </a:p>
          <a:p>
            <a:r>
              <a:rPr lang="fr-FR" sz="2400" dirty="0" smtClean="0"/>
              <a:t>L’accouchement naturel est tout à fait possible en cas de jumeaux. La césarienne n’est pas systématique. Elle sera pratiquée si les jumeaux sont mal positionnés, ou si les bébés présentent une souffrance fœtale. L’accouchement peut en revanche être déclenché si l’équipe médicale estime que les bébés n’ont plus assez de place et de liquide amniotique pour bien se développer. </a:t>
            </a:r>
          </a:p>
          <a:p>
            <a:endParaRPr lang="fr-FR" sz="2400" dirty="0" smtClean="0"/>
          </a:p>
          <a:p>
            <a:endParaRPr lang="fr-FR" dirty="0"/>
          </a:p>
        </p:txBody>
      </p:sp>
    </p:spTree>
    <p:extLst>
      <p:ext uri="{BB962C8B-B14F-4D97-AF65-F5344CB8AC3E}">
        <p14:creationId xmlns:p14="http://schemas.microsoft.com/office/powerpoint/2010/main" val="24743872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977217" y="3244334"/>
            <a:ext cx="237566" cy="369332"/>
          </a:xfrm>
          <a:prstGeom prst="rect">
            <a:avLst/>
          </a:prstGeom>
        </p:spPr>
        <p:txBody>
          <a:bodyPr wrap="none">
            <a:spAutoFit/>
          </a:bodyPr>
          <a:lstStyle/>
          <a:p>
            <a:r>
              <a:rPr lang="fr-FR" dirty="0" smtClean="0"/>
              <a:t> </a:t>
            </a:r>
            <a:endParaRPr lang="fr-FR" dirty="0"/>
          </a:p>
        </p:txBody>
      </p:sp>
      <p:pic>
        <p:nvPicPr>
          <p:cNvPr id="6" name="Image 5"/>
          <p:cNvPicPr>
            <a:picLocks noChangeAspect="1"/>
          </p:cNvPicPr>
          <p:nvPr/>
        </p:nvPicPr>
        <p:blipFill>
          <a:blip r:embed="rId2"/>
          <a:stretch>
            <a:fillRect/>
          </a:stretch>
        </p:blipFill>
        <p:spPr>
          <a:xfrm>
            <a:off x="966651" y="156754"/>
            <a:ext cx="9679578" cy="6544492"/>
          </a:xfrm>
          <a:prstGeom prst="rect">
            <a:avLst/>
          </a:prstGeom>
        </p:spPr>
      </p:pic>
    </p:spTree>
    <p:extLst>
      <p:ext uri="{BB962C8B-B14F-4D97-AF65-F5344CB8AC3E}">
        <p14:creationId xmlns:p14="http://schemas.microsoft.com/office/powerpoint/2010/main" val="18929927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875211" y="63273"/>
            <a:ext cx="9627325" cy="6546533"/>
          </a:xfrm>
          <a:prstGeom prst="rect">
            <a:avLst/>
          </a:prstGeom>
        </p:spPr>
      </p:pic>
    </p:spTree>
    <p:extLst>
      <p:ext uri="{BB962C8B-B14F-4D97-AF65-F5344CB8AC3E}">
        <p14:creationId xmlns:p14="http://schemas.microsoft.com/office/powerpoint/2010/main" val="9959931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744583" y="142059"/>
            <a:ext cx="10045337" cy="6715941"/>
          </a:xfrm>
          <a:prstGeom prst="rect">
            <a:avLst/>
          </a:prstGeom>
        </p:spPr>
      </p:pic>
    </p:spTree>
    <p:extLst>
      <p:ext uri="{BB962C8B-B14F-4D97-AF65-F5344CB8AC3E}">
        <p14:creationId xmlns:p14="http://schemas.microsoft.com/office/powerpoint/2010/main" val="2600334563"/>
      </p:ext>
    </p:extLst>
  </p:cSld>
  <p:clrMapOvr>
    <a:masterClrMapping/>
  </p:clrMapOvr>
  <p:timing>
    <p:tnLst>
      <p:par>
        <p:cTn id="1" dur="indefinite" restart="never" nodeType="tmRoot"/>
      </p:par>
    </p:tn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TotalTime>
  <Words>55</Words>
  <Application>Microsoft Office PowerPoint</Application>
  <PresentationFormat>Grand écran</PresentationFormat>
  <Paragraphs>19</Paragraphs>
  <Slides>10</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10</vt:i4>
      </vt:variant>
    </vt:vector>
  </HeadingPairs>
  <TitlesOfParts>
    <vt:vector size="14" baseType="lpstr">
      <vt:lpstr>Arial</vt:lpstr>
      <vt:lpstr>Calibri</vt:lpstr>
      <vt:lpstr>Calibri Light</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GE</dc:creator>
  <cp:lastModifiedBy>GE</cp:lastModifiedBy>
  <cp:revision>5</cp:revision>
  <dcterms:created xsi:type="dcterms:W3CDTF">2023-01-06T11:46:19Z</dcterms:created>
  <dcterms:modified xsi:type="dcterms:W3CDTF">2023-01-06T12:56:12Z</dcterms:modified>
</cp:coreProperties>
</file>