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9144000"/>
  <p:notesSz cx="6858000" cy="9144000"/>
  <p:embeddedFontLst>
    <p:embeddedFont>
      <p:font typeface="Libre Baskerville"/>
      <p:regular r:id="rId47"/>
      <p:bold r:id="rId48"/>
      <p: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gpjfWdLFbki1iawbL3pznltdhq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83B932-D651-4F33-8E57-FC25769A4DAB}">
  <a:tblStyle styleId="{0A83B932-D651-4F33-8E57-FC25769A4D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ibreBaskerville-bold.fntdata"/><Relationship Id="rId47" Type="http://schemas.openxmlformats.org/officeDocument/2006/relationships/font" Target="fonts/LibreBaskerville-regular.fntdata"/><Relationship Id="rId49" Type="http://schemas.openxmlformats.org/officeDocument/2006/relationships/font" Target="fonts/LibreBaskervill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42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4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" name="Google Shape;42;p4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4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4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4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4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395536" y="6021288"/>
            <a:ext cx="7886700" cy="4644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fr-FR" sz="2000" u="sng"/>
              <a:t>Service de physiologie clinique et explorations fonctionnelles CHU Constantine</a:t>
            </a:r>
            <a:endParaRPr b="1" sz="2000" u="sng"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788024" y="476672"/>
            <a:ext cx="3886200" cy="1916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b="1" lang="fr-FR" sz="3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1"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b="1" sz="32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6" name="Google Shape;86;p1"/>
          <p:cNvSpPr txBox="1"/>
          <p:nvPr>
            <p:ph idx="2" type="body"/>
          </p:nvPr>
        </p:nvSpPr>
        <p:spPr>
          <a:xfrm>
            <a:off x="251520" y="3789040"/>
            <a:ext cx="2518223" cy="1799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1875588" y="2445245"/>
            <a:ext cx="53928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4400" u="none" cap="none" strike="noStrike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BIOÉNERGÉTIQUE</a:t>
            </a:r>
            <a:endParaRPr b="1" i="0" sz="4400" u="none" cap="none" strike="noStrike">
              <a:solidFill>
                <a:srgbClr val="FF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fr-FR" sz="3600" u="sng"/>
              <a:t> </a:t>
            </a:r>
            <a:endParaRPr b="1" sz="3600" u="sng"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I-introduction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II- métabolisme de base(MB)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III-Thermogénèse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IV-Activité physique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V-Equilibre apport-dépense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VI-Méthodes de mesure(calorimétrie)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VII-Ration alimentaire.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 sz="2400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fr-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I- Introduction</a:t>
            </a:r>
            <a:br>
              <a:rPr lang="fr-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Définitions :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3"/>
          <p:cNvGrpSpPr/>
          <p:nvPr/>
        </p:nvGrpSpPr>
        <p:grpSpPr>
          <a:xfrm>
            <a:off x="458807" y="3138334"/>
            <a:ext cx="8226385" cy="2152999"/>
            <a:chOff x="1607" y="1209500"/>
            <a:chExt cx="8226385" cy="2152999"/>
          </a:xfrm>
        </p:grpSpPr>
        <p:sp>
          <p:nvSpPr>
            <p:cNvPr id="100" name="Google Shape;100;p3"/>
            <p:cNvSpPr/>
            <p:nvPr/>
          </p:nvSpPr>
          <p:spPr>
            <a:xfrm>
              <a:off x="1607" y="1209500"/>
              <a:ext cx="3427660" cy="2152999"/>
            </a:xfrm>
            <a:prstGeom prst="roundRect">
              <a:avLst>
                <a:gd fmla="val 10000" name="adj"/>
              </a:avLst>
            </a:prstGeom>
            <a:solidFill>
              <a:srgbClr val="F2DAD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 txBox="1"/>
            <p:nvPr/>
          </p:nvSpPr>
          <p:spPr>
            <a:xfrm>
              <a:off x="1607" y="1209500"/>
              <a:ext cx="3427660" cy="2152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400" u="none" cap="none" strike="noStrike">
                  <a:solidFill>
                    <a:srgbClr val="FF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Bioénergétique</a:t>
              </a:r>
              <a:r>
                <a:rPr b="0" i="0" lang="fr-FR" sz="24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</a:t>
              </a:r>
              <a:r>
                <a:rPr b="0" i="0" lang="fr-FR" sz="28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: origine et devenir de l’énergie dans la matière vivante</a:t>
              </a:r>
              <a:r>
                <a:rPr b="0" i="0" lang="fr-F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3757260" y="1856940"/>
              <a:ext cx="726664" cy="850059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 txBox="1"/>
            <p:nvPr/>
          </p:nvSpPr>
          <p:spPr>
            <a:xfrm>
              <a:off x="3757260" y="1856940"/>
              <a:ext cx="726664" cy="850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800332" y="1209500"/>
              <a:ext cx="3427660" cy="2152999"/>
            </a:xfrm>
            <a:prstGeom prst="roundRect">
              <a:avLst>
                <a:gd fmla="val 10000" name="adj"/>
              </a:avLst>
            </a:prstGeom>
            <a:solidFill>
              <a:srgbClr val="DAE5F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 txBox="1"/>
            <p:nvPr/>
          </p:nvSpPr>
          <p:spPr>
            <a:xfrm>
              <a:off x="4800332" y="1209500"/>
              <a:ext cx="3427660" cy="2152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0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L’homme : être hétérotrophe(utilise l’énergie chimique contenue dans les Glucides les lipides et les protéines (</a:t>
              </a:r>
              <a:r>
                <a:rPr b="1" i="0" lang="fr-FR" sz="20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G.L.P</a:t>
              </a:r>
              <a:r>
                <a:rPr b="0" i="0" lang="fr-FR" sz="20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)          </a:t>
              </a:r>
              <a:r>
                <a:rPr b="0" i="0" lang="fr-FR" sz="18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alimentation(végétaux= êtres autotrophes) </a:t>
              </a:r>
              <a:r>
                <a:rPr b="0" i="0" lang="fr-FR" sz="20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</a:t>
              </a:r>
              <a:endParaRPr/>
            </a:p>
          </p:txBody>
        </p:sp>
      </p:grpSp>
      <p:sp>
        <p:nvSpPr>
          <p:cNvPr id="106" name="Google Shape;106;p3"/>
          <p:cNvSpPr/>
          <p:nvPr/>
        </p:nvSpPr>
        <p:spPr>
          <a:xfrm>
            <a:off x="7929586" y="4357694"/>
            <a:ext cx="642942" cy="2143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623888" y="4589464"/>
            <a:ext cx="819658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fr-FR">
                <a:solidFill>
                  <a:schemeClr val="dk1"/>
                </a:solidFill>
              </a:rPr>
              <a:t>                                     -métabolisme de base                        assure la continuité des 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fr-FR">
                <a:solidFill>
                  <a:schemeClr val="dk1"/>
                </a:solidFill>
              </a:rPr>
              <a:t>                                    +activité physiques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fr-FR">
                <a:solidFill>
                  <a:schemeClr val="dk1"/>
                </a:solidFill>
              </a:rPr>
              <a:t>                                    +thermogénèse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3" name="Google Shape;113;p4"/>
          <p:cNvGrpSpPr/>
          <p:nvPr/>
        </p:nvGrpSpPr>
        <p:grpSpPr>
          <a:xfrm>
            <a:off x="659241" y="142852"/>
            <a:ext cx="7697265" cy="1787482"/>
            <a:chOff x="159207" y="0"/>
            <a:chExt cx="7697265" cy="1787482"/>
          </a:xfrm>
        </p:grpSpPr>
        <p:sp>
          <p:nvSpPr>
            <p:cNvPr id="114" name="Google Shape;114;p4"/>
            <p:cNvSpPr/>
            <p:nvPr/>
          </p:nvSpPr>
          <p:spPr>
            <a:xfrm>
              <a:off x="2969200" y="0"/>
              <a:ext cx="1757948" cy="1757948"/>
            </a:xfrm>
            <a:prstGeom prst="ellipse">
              <a:avLst/>
            </a:prstGeom>
            <a:gradFill>
              <a:gsLst>
                <a:gs pos="0">
                  <a:srgbClr val="A5C26D"/>
                </a:gs>
                <a:gs pos="50000">
                  <a:srgbClr val="9CBF53"/>
                </a:gs>
                <a:gs pos="100000">
                  <a:srgbClr val="8BAE4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2969200" y="0"/>
              <a:ext cx="1757948" cy="1757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Dépense d’énergie</a:t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4896543" y="360039"/>
              <a:ext cx="1019610" cy="1019610"/>
            </a:xfrm>
            <a:prstGeom prst="mathPlus">
              <a:avLst>
                <a:gd fmla="val 23520" name="adj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 txBox="1"/>
            <p:nvPr/>
          </p:nvSpPr>
          <p:spPr>
            <a:xfrm>
              <a:off x="4896543" y="360039"/>
              <a:ext cx="1019610" cy="1019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098524" y="0"/>
              <a:ext cx="1757948" cy="1787482"/>
            </a:xfrm>
            <a:prstGeom prst="ellipse">
              <a:avLst/>
            </a:prstGeom>
            <a:gradFill>
              <a:gsLst>
                <a:gs pos="0">
                  <a:srgbClr val="61EB47"/>
                </a:gs>
                <a:gs pos="50000">
                  <a:srgbClr val="45ED00"/>
                </a:gs>
                <a:gs pos="100000">
                  <a:srgbClr val="39DA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6098524" y="0"/>
              <a:ext cx="1757948" cy="1787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Variation des réserve énergétique</a:t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1944219" y="360039"/>
              <a:ext cx="1019610" cy="1019610"/>
            </a:xfrm>
            <a:prstGeom prst="mathEqual">
              <a:avLst>
                <a:gd fmla="val 23520" name="adj1"/>
                <a:gd fmla="val 11760" name="adj2"/>
              </a:avLst>
            </a:prstGeom>
            <a:solidFill>
              <a:srgbClr val="00B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1944219" y="360039"/>
              <a:ext cx="1019610" cy="1019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159207" y="0"/>
              <a:ext cx="1757948" cy="1757948"/>
            </a:xfrm>
            <a:prstGeom prst="ellipse">
              <a:avLst/>
            </a:prstGeom>
            <a:gradFill>
              <a:gsLst>
                <a:gs pos="0">
                  <a:srgbClr val="47BD47"/>
                </a:gs>
                <a:gs pos="50000">
                  <a:srgbClr val="00BB00"/>
                </a:gs>
                <a:gs pos="100000">
                  <a:srgbClr val="00AD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159207" y="0"/>
              <a:ext cx="1757948" cy="1757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Apport d’énergie </a:t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4"/>
          <p:cNvSpPr/>
          <p:nvPr/>
        </p:nvSpPr>
        <p:spPr>
          <a:xfrm>
            <a:off x="3491880" y="2348880"/>
            <a:ext cx="648072" cy="165618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020272" y="2348880"/>
            <a:ext cx="648072" cy="165618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3000364" y="2071678"/>
            <a:ext cx="2343160" cy="1357322"/>
          </a:xfrm>
          <a:prstGeom prst="rect">
            <a:avLst/>
          </a:prstGeom>
          <a:solidFill>
            <a:srgbClr val="FDE9D8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Ensembles des activités métaboliques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285720" y="500042"/>
            <a:ext cx="1914532" cy="9144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Apport  d’énergie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215074" y="500042"/>
            <a:ext cx="1857388" cy="9144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Dépense d’énergie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071802" y="4786322"/>
            <a:ext cx="2128846" cy="9144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Stockage d’énergie  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28596" y="2571744"/>
            <a:ext cx="1985970" cy="571504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aliments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929322" y="1785926"/>
            <a:ext cx="2357454" cy="571504"/>
          </a:xfrm>
          <a:prstGeom prst="flowChartTerminator">
            <a:avLst/>
          </a:prstGeom>
          <a:solidFill>
            <a:schemeClr val="accent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Travail  Externe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000760" y="2571744"/>
            <a:ext cx="2286016" cy="571504"/>
          </a:xfrm>
          <a:prstGeom prst="flowChartTerminator">
            <a:avLst/>
          </a:prstGeom>
          <a:solidFill>
            <a:schemeClr val="accent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Travail Interne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857884" y="3286124"/>
            <a:ext cx="2714644" cy="2357454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dk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Posture, frisson , mvt respiratoires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Activité biologique: (transport actif , réactions de synthèse, entretien croissance et réparation cellulaire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00034" y="5786454"/>
            <a:ext cx="8215338" cy="1285884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APPORT ET DEPENCE D’ENERGIE</a:t>
            </a:r>
            <a:endParaRPr/>
          </a:p>
        </p:txBody>
      </p:sp>
      <p:cxnSp>
        <p:nvCxnSpPr>
          <p:cNvPr id="139" name="Google Shape;139;p5"/>
          <p:cNvCxnSpPr>
            <a:stCxn id="134" idx="6"/>
          </p:cNvCxnSpPr>
          <p:nvPr/>
        </p:nvCxnSpPr>
        <p:spPr>
          <a:xfrm>
            <a:off x="2414566" y="2857496"/>
            <a:ext cx="585900" cy="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0" name="Google Shape;140;p5"/>
          <p:cNvCxnSpPr/>
          <p:nvPr/>
        </p:nvCxnSpPr>
        <p:spPr>
          <a:xfrm flipH="1" rot="10800000">
            <a:off x="5429256" y="2214555"/>
            <a:ext cx="500066" cy="21431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1" name="Google Shape;141;p5"/>
          <p:cNvCxnSpPr>
            <a:endCxn id="136" idx="1"/>
          </p:cNvCxnSpPr>
          <p:nvPr/>
        </p:nvCxnSpPr>
        <p:spPr>
          <a:xfrm>
            <a:off x="5357860" y="2855996"/>
            <a:ext cx="642900" cy="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2" name="Google Shape;142;p5"/>
          <p:cNvSpPr/>
          <p:nvPr/>
        </p:nvSpPr>
        <p:spPr>
          <a:xfrm rot="-5400000">
            <a:off x="3491860" y="3866198"/>
            <a:ext cx="1216152" cy="48463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Dans l’organisme humain, cette énergie chimique est habituellement stockée sous forme de molécules hautement énergétiques ATP, ADP et CP</a:t>
            </a:r>
            <a:endParaRPr sz="3200">
              <a:solidFill>
                <a:srgbClr val="FF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Toutefois la transformation de l’énergie chimique en travail n’est pas parfaite </a:t>
            </a:r>
            <a:r>
              <a:rPr lang="fr-FR" sz="32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20%  </a:t>
            </a: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pour le</a:t>
            </a:r>
            <a:r>
              <a:rPr lang="fr-FR" sz="32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fonctionnement </a:t>
            </a: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de</a:t>
            </a:r>
            <a:r>
              <a:rPr lang="fr-FR" sz="32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l’organisme </a:t>
            </a: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et  </a:t>
            </a:r>
            <a:r>
              <a:rPr lang="fr-FR" sz="32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80%  </a:t>
            </a: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reste pour la production de la </a:t>
            </a:r>
            <a:r>
              <a:rPr lang="fr-FR" sz="32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chaleur</a:t>
            </a:r>
            <a:endParaRPr sz="3200">
              <a:solidFill>
                <a:srgbClr val="FF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3600"/>
              <a:buFont typeface="Calibri"/>
              <a:buNone/>
            </a:pPr>
            <a:r>
              <a:rPr lang="fr-FR" sz="3600" u="sng">
                <a:solidFill>
                  <a:srgbClr val="974806"/>
                </a:solidFill>
                <a:latin typeface="Calibri"/>
                <a:ea typeface="Calibri"/>
                <a:cs typeface="Calibri"/>
                <a:sym typeface="Calibri"/>
              </a:rPr>
              <a:t>Exemple de fonctionnement</a:t>
            </a:r>
            <a:endParaRPr/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Travail mécanique </a:t>
            </a:r>
            <a:r>
              <a:rPr lang="fr-FR"/>
              <a:t>: </a:t>
            </a:r>
            <a:r>
              <a:rPr lang="fr-FR" sz="2400"/>
              <a:t>contraction musculaire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Travail électrique genèse des potentiels membranaires(pompe: </a:t>
            </a:r>
            <a:r>
              <a:rPr lang="fr-FR" sz="2400">
                <a:solidFill>
                  <a:srgbClr val="FF0000"/>
                </a:solidFill>
              </a:rPr>
              <a:t>Na  +/K+ ATPase</a:t>
            </a:r>
            <a:r>
              <a:rPr lang="fr-FR" sz="2400">
                <a:solidFill>
                  <a:schemeClr val="lt1"/>
                </a:solidFill>
              </a:rPr>
              <a:t>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Travail chimique :synthèse de nouvelles molécules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                                                                           O²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La production d’énergie nécessite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                                                              Matière </a:t>
            </a:r>
            <a:r>
              <a:rPr b="1" lang="fr-FR" sz="2000"/>
              <a:t>organique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fr-FR" sz="2000"/>
              <a:t>                                                                        (origine alimentaire)</a:t>
            </a:r>
            <a:endParaRPr/>
          </a:p>
        </p:txBody>
      </p:sp>
      <p:cxnSp>
        <p:nvCxnSpPr>
          <p:cNvPr id="155" name="Google Shape;155;p7"/>
          <p:cNvCxnSpPr/>
          <p:nvPr/>
        </p:nvCxnSpPr>
        <p:spPr>
          <a:xfrm>
            <a:off x="5148064" y="4568898"/>
            <a:ext cx="785818" cy="64294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56" name="Google Shape;156;p7"/>
          <p:cNvCxnSpPr/>
          <p:nvPr/>
        </p:nvCxnSpPr>
        <p:spPr>
          <a:xfrm flipH="1" rot="10800000">
            <a:off x="5148064" y="4031608"/>
            <a:ext cx="714380" cy="500066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Libre Baskerville"/>
              <a:buNone/>
            </a:pPr>
            <a:r>
              <a:rPr b="1" lang="fr-FR" sz="540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/>
          </a:p>
        </p:txBody>
      </p:sp>
      <p:grpSp>
        <p:nvGrpSpPr>
          <p:cNvPr id="162" name="Google Shape;162;p8"/>
          <p:cNvGrpSpPr/>
          <p:nvPr/>
        </p:nvGrpSpPr>
        <p:grpSpPr>
          <a:xfrm>
            <a:off x="500034" y="2428879"/>
            <a:ext cx="8228595" cy="3681321"/>
            <a:chOff x="0" y="571515"/>
            <a:chExt cx="8228595" cy="3681321"/>
          </a:xfrm>
        </p:grpSpPr>
        <p:sp>
          <p:nvSpPr>
            <p:cNvPr id="163" name="Google Shape;163;p8"/>
            <p:cNvSpPr/>
            <p:nvPr/>
          </p:nvSpPr>
          <p:spPr>
            <a:xfrm>
              <a:off x="0" y="571515"/>
              <a:ext cx="3917900" cy="2350740"/>
            </a:xfrm>
            <a:prstGeom prst="rect">
              <a:avLst/>
            </a:prstGeom>
            <a:solidFill>
              <a:srgbClr val="DAE5F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8"/>
            <p:cNvSpPr txBox="1"/>
            <p:nvPr/>
          </p:nvSpPr>
          <p:spPr>
            <a:xfrm>
              <a:off x="0" y="571515"/>
              <a:ext cx="3917900" cy="2350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2800" u="none" cap="none" strike="noStrike">
                  <a:solidFill>
                    <a:srgbClr val="FF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Organique dont la dégradation produit de l’énergie</a:t>
              </a: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4310695" y="574265"/>
              <a:ext cx="3917900" cy="2350740"/>
            </a:xfrm>
            <a:prstGeom prst="rect">
              <a:avLst/>
            </a:prstGeom>
            <a:solidFill>
              <a:srgbClr val="F2DAD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 txBox="1"/>
            <p:nvPr/>
          </p:nvSpPr>
          <p:spPr>
            <a:xfrm>
              <a:off x="4310695" y="574265"/>
              <a:ext cx="3917900" cy="2350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2800" u="none" cap="none" strike="noStrike">
                  <a:solidFill>
                    <a:srgbClr val="974806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Non organique : non dégradé  pour avoir de l’énergie</a:t>
              </a: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0" y="3429031"/>
              <a:ext cx="1103241" cy="674145"/>
            </a:xfrm>
            <a:prstGeom prst="rect">
              <a:avLst/>
            </a:prstGeom>
            <a:solidFill>
              <a:srgbClr val="DAEEF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8"/>
            <p:cNvSpPr txBox="1"/>
            <p:nvPr/>
          </p:nvSpPr>
          <p:spPr>
            <a:xfrm>
              <a:off x="0" y="3429031"/>
              <a:ext cx="1103241" cy="674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Glucides</a:t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1428765" y="3429020"/>
              <a:ext cx="1017400" cy="669984"/>
            </a:xfrm>
            <a:prstGeom prst="rect">
              <a:avLst/>
            </a:prstGeom>
            <a:solidFill>
              <a:srgbClr val="D6E3B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 txBox="1"/>
            <p:nvPr/>
          </p:nvSpPr>
          <p:spPr>
            <a:xfrm>
              <a:off x="1428765" y="3429020"/>
              <a:ext cx="1017400" cy="6699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Lipides</a:t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2643197" y="3429020"/>
              <a:ext cx="1017400" cy="680938"/>
            </a:xfrm>
            <a:prstGeom prst="rect">
              <a:avLst/>
            </a:prstGeom>
            <a:solidFill>
              <a:srgbClr val="FFFF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8"/>
            <p:cNvSpPr txBox="1"/>
            <p:nvPr/>
          </p:nvSpPr>
          <p:spPr>
            <a:xfrm>
              <a:off x="2643197" y="3429020"/>
              <a:ext cx="1017400" cy="680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Protéines</a:t>
              </a: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289587" y="3571898"/>
              <a:ext cx="1439945" cy="68093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 txBox="1"/>
            <p:nvPr/>
          </p:nvSpPr>
          <p:spPr>
            <a:xfrm>
              <a:off x="6289587" y="3571898"/>
              <a:ext cx="1439945" cy="680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Eau , minéraux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oligoéléments</a:t>
              </a:r>
              <a:endParaRPr/>
            </a:p>
          </p:txBody>
        </p:sp>
      </p:grpSp>
      <p:cxnSp>
        <p:nvCxnSpPr>
          <p:cNvPr id="175" name="Google Shape;175;p8"/>
          <p:cNvCxnSpPr/>
          <p:nvPr/>
        </p:nvCxnSpPr>
        <p:spPr>
          <a:xfrm flipH="1" rot="-5400000">
            <a:off x="4607719" y="1393017"/>
            <a:ext cx="928694" cy="85725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6" name="Google Shape;176;p8"/>
          <p:cNvCxnSpPr/>
          <p:nvPr/>
        </p:nvCxnSpPr>
        <p:spPr>
          <a:xfrm rot="5400000">
            <a:off x="3750463" y="1393017"/>
            <a:ext cx="928694" cy="85725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7" name="Google Shape;177;p8"/>
          <p:cNvCxnSpPr/>
          <p:nvPr/>
        </p:nvCxnSpPr>
        <p:spPr>
          <a:xfrm rot="5400000">
            <a:off x="7215206" y="5143512"/>
            <a:ext cx="428628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50800" rotWithShape="0" algn="ctr" dir="5400000" dist="50800">
              <a:schemeClr val="accent6"/>
            </a:outerShdw>
          </a:effectLst>
        </p:spPr>
      </p:cxnSp>
      <p:cxnSp>
        <p:nvCxnSpPr>
          <p:cNvPr id="178" name="Google Shape;178;p8"/>
          <p:cNvCxnSpPr/>
          <p:nvPr/>
        </p:nvCxnSpPr>
        <p:spPr>
          <a:xfrm>
            <a:off x="2357422" y="4786322"/>
            <a:ext cx="1143008" cy="42862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50800" rotWithShape="0" algn="ctr" dir="5400000" dist="50800">
              <a:schemeClr val="accent5"/>
            </a:outerShdw>
          </a:effectLst>
        </p:spPr>
      </p:cxnSp>
      <p:cxnSp>
        <p:nvCxnSpPr>
          <p:cNvPr id="179" name="Google Shape;179;p8"/>
          <p:cNvCxnSpPr/>
          <p:nvPr/>
        </p:nvCxnSpPr>
        <p:spPr>
          <a:xfrm rot="5400000">
            <a:off x="2143108" y="5000636"/>
            <a:ext cx="428628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0" name="Google Shape;180;p8"/>
          <p:cNvCxnSpPr/>
          <p:nvPr/>
        </p:nvCxnSpPr>
        <p:spPr>
          <a:xfrm flipH="1">
            <a:off x="1214414" y="4786322"/>
            <a:ext cx="1143008" cy="42862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50800" rotWithShape="0" algn="ctr" dir="5400000" dist="50800">
              <a:schemeClr val="accent5"/>
            </a:outerShdw>
          </a:effectLst>
        </p:spPr>
      </p:cxnSp>
      <p:sp>
        <p:nvSpPr>
          <p:cNvPr id="181" name="Google Shape;181;p8"/>
          <p:cNvSpPr/>
          <p:nvPr/>
        </p:nvSpPr>
        <p:spPr>
          <a:xfrm>
            <a:off x="357158" y="357166"/>
            <a:ext cx="878684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ALIMENTATION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/>
          <p:nvPr>
            <p:ph type="title"/>
          </p:nvPr>
        </p:nvSpPr>
        <p:spPr>
          <a:xfrm>
            <a:off x="755576" y="0"/>
            <a:ext cx="7886700" cy="2055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fr-FR" sz="3600" u="sng"/>
              <a:t>II-Métabolisme de base(MB) </a:t>
            </a:r>
            <a:endParaRPr/>
          </a:p>
        </p:txBody>
      </p:sp>
      <p:sp>
        <p:nvSpPr>
          <p:cNvPr id="187" name="Google Shape;187;p9"/>
          <p:cNvSpPr txBox="1"/>
          <p:nvPr>
            <p:ph idx="1" type="body"/>
          </p:nvPr>
        </p:nvSpPr>
        <p:spPr>
          <a:xfrm>
            <a:off x="251520" y="1988840"/>
            <a:ext cx="8229600" cy="5500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fr-FR" sz="2000"/>
              <a:t>L’ Σ des transformations chimiques et biologiques qui s’effectuent dans l’organisme et qui permet le maintient et l’évolution de l’organisme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514350" lvl="0" marL="578358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fr-FR" sz="2000"/>
              <a:t>Anabolisme :activité de synthèse de la matière vivante </a:t>
            </a:r>
            <a:endParaRPr/>
          </a:p>
          <a:p>
            <a:pPr indent="-514350" lvl="0" marL="578358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fr-FR" sz="2000"/>
              <a:t>Catabolisme : activité de destruction(combustion )</a:t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fr-FR" sz="2000">
                <a:solidFill>
                  <a:srgbClr val="FF0000"/>
                </a:solidFill>
              </a:rPr>
              <a:t>* Métabolisme de base (MB)</a:t>
            </a:r>
            <a:endParaRPr/>
          </a:p>
          <a:p>
            <a:pPr indent="-44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fr-FR" sz="2000"/>
              <a:t>Il s’agit de </a:t>
            </a:r>
            <a:r>
              <a:rPr b="1" lang="fr-FR" sz="2000">
                <a:solidFill>
                  <a:srgbClr val="FF0000"/>
                </a:solidFill>
              </a:rPr>
              <a:t>la quantité d’énergie </a:t>
            </a:r>
            <a:r>
              <a:rPr b="1" lang="fr-FR" sz="2000"/>
              <a:t>utilisé pour le maintien de la vie végétative, liée au fonctionnement des organes de vie (cerveau, cœur , rein ….)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fr-FR" sz="2000"/>
              <a:t>Se mesure en </a:t>
            </a:r>
            <a:r>
              <a:rPr b="1" lang="fr-FR" sz="2000">
                <a:solidFill>
                  <a:srgbClr val="FF0000"/>
                </a:solidFill>
              </a:rPr>
              <a:t>Kcal /mètre carré de surface corporelle/heure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>
            <p:ph type="title"/>
          </p:nvPr>
        </p:nvSpPr>
        <p:spPr>
          <a:xfrm>
            <a:off x="899592" y="260648"/>
            <a:ext cx="7886700" cy="9174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fr-FR">
                <a:latin typeface="Calibri"/>
                <a:ea typeface="Calibri"/>
                <a:cs typeface="Calibri"/>
                <a:sym typeface="Calibri"/>
              </a:rPr>
              <a:t>Le métabolisme de base (MB)</a:t>
            </a:r>
            <a:endParaRPr/>
          </a:p>
        </p:txBody>
      </p:sp>
      <p:sp>
        <p:nvSpPr>
          <p:cNvPr id="193" name="Google Shape;193;p10"/>
          <p:cNvSpPr txBox="1"/>
          <p:nvPr>
            <p:ph idx="1" type="body"/>
          </p:nvPr>
        </p:nvSpPr>
        <p:spPr>
          <a:xfrm>
            <a:off x="323528" y="1964124"/>
            <a:ext cx="8120090" cy="4071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fr-FR" sz="3200"/>
              <a:t> </a:t>
            </a:r>
            <a:r>
              <a:rPr lang="fr-FR" sz="3600">
                <a:solidFill>
                  <a:schemeClr val="dk1"/>
                </a:solidFill>
              </a:rPr>
              <a:t>Le </a:t>
            </a:r>
            <a:r>
              <a:rPr b="1" lang="fr-FR" sz="3600">
                <a:solidFill>
                  <a:schemeClr val="dk1"/>
                </a:solidFill>
              </a:rPr>
              <a:t>MB</a:t>
            </a:r>
            <a:r>
              <a:rPr lang="fr-FR" sz="3600">
                <a:solidFill>
                  <a:schemeClr val="dk1"/>
                </a:solidFill>
              </a:rPr>
              <a:t> N’inclut pas les dépenses énergétiques liée à la lute contre le froid ou le  chaud et celles non immédiatement indispensable à la vie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fr-FR" sz="3600">
                <a:solidFill>
                  <a:schemeClr val="dk1"/>
                </a:solidFill>
              </a:rPr>
              <a:t>Le MB n’est pas le niveau de métabolisme le plus bas       sommeil</a:t>
            </a:r>
            <a:endParaRPr/>
          </a:p>
        </p:txBody>
      </p:sp>
      <p:cxnSp>
        <p:nvCxnSpPr>
          <p:cNvPr id="194" name="Google Shape;194;p10"/>
          <p:cNvCxnSpPr/>
          <p:nvPr/>
        </p:nvCxnSpPr>
        <p:spPr>
          <a:xfrm>
            <a:off x="2411760" y="5445224"/>
            <a:ext cx="571504" cy="1588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fr-FR" sz="3200"/>
              <a:t>Le métabolisme de base (MB)</a:t>
            </a:r>
            <a:endParaRPr b="1" sz="4000"/>
          </a:p>
        </p:txBody>
      </p:sp>
      <p:sp>
        <p:nvSpPr>
          <p:cNvPr id="200" name="Google Shape;200;p1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2400"/>
              <a:t>Représente 45 à 70% des dépenses totales=dépense des organes et des tissus ( foie 20%-  20%cerveau)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2400"/>
              <a:t> le métabolisme de base varie selon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400"/>
              <a:t>   -sexe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400"/>
              <a:t>   - l’âge.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400"/>
              <a:t>   -composition corporelle.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400"/>
              <a:t>Dépense énergétique totale diminue avec l’age 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400"/>
              <a:t>-métabolisme de base diminue environ 2% tous les 10 ans (réduction de la masse maigre associée à l’age)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400"/>
              <a:t>-le temps consacré à l’activité physique et son intensité diminuent avec l’ âge.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400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/>
          <p:nvPr>
            <p:ph type="title"/>
          </p:nvPr>
        </p:nvSpPr>
        <p:spPr>
          <a:xfrm>
            <a:off x="1194312" y="404664"/>
            <a:ext cx="7886700" cy="773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fr-FR"/>
              <a:t>Conditions de mesure de MB</a:t>
            </a:r>
            <a:endParaRPr/>
          </a:p>
        </p:txBody>
      </p:sp>
      <p:sp>
        <p:nvSpPr>
          <p:cNvPr id="206" name="Google Shape;206;p12"/>
          <p:cNvSpPr txBox="1"/>
          <p:nvPr>
            <p:ph idx="1" type="body"/>
          </p:nvPr>
        </p:nvSpPr>
        <p:spPr>
          <a:xfrm>
            <a:off x="251520" y="1412776"/>
            <a:ext cx="8620156" cy="3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Sujet éveillé</a:t>
            </a:r>
            <a:endParaRPr/>
          </a:p>
          <a:p>
            <a:pPr indent="-20320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Restriction alimentaire depuis 12  à 16 heures</a:t>
            </a:r>
            <a:endParaRPr/>
          </a:p>
          <a:p>
            <a:pPr indent="-20320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Repos stricte avec détente et relaxation  musculaire depuis au moins 30 minutes</a:t>
            </a:r>
            <a:endParaRPr/>
          </a:p>
          <a:p>
            <a:pPr indent="-20320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fr-FR" sz="3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Température ambiante = 21C° pour un sujet légèrement  vêtu.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 txBox="1"/>
          <p:nvPr>
            <p:ph type="title"/>
          </p:nvPr>
        </p:nvSpPr>
        <p:spPr>
          <a:xfrm>
            <a:off x="755576" y="260648"/>
            <a:ext cx="7886700" cy="1287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fr-FR"/>
              <a:t>Valeur du MB et variations physiologique</a:t>
            </a:r>
            <a:endParaRPr/>
          </a:p>
        </p:txBody>
      </p:sp>
      <p:sp>
        <p:nvSpPr>
          <p:cNvPr id="212" name="Google Shape;212;p13"/>
          <p:cNvSpPr txBox="1"/>
          <p:nvPr>
            <p:ph idx="1" type="body"/>
          </p:nvPr>
        </p:nvSpPr>
        <p:spPr>
          <a:xfrm>
            <a:off x="460286" y="1988840"/>
            <a:ext cx="8477280" cy="4714908"/>
          </a:xfrm>
          <a:prstGeom prst="rect">
            <a:avLst/>
          </a:prstGeom>
          <a:noFill/>
          <a:ln>
            <a:noFill/>
          </a:ln>
          <a:effectLst>
            <a:outerShdw blurRad="177800" rotWithShape="0" algn="ctr" dir="5400000" dist="50800">
              <a:schemeClr val="accent2"/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fr-FR"/>
              <a:t> </a:t>
            </a:r>
            <a:r>
              <a:rPr b="1" lang="fr-FR" sz="2400">
                <a:solidFill>
                  <a:schemeClr val="dk1"/>
                </a:solidFill>
              </a:rPr>
              <a:t>Adulte ( sain  sexe masculin ) </a:t>
            </a:r>
            <a:r>
              <a:rPr lang="fr-FR">
                <a:solidFill>
                  <a:schemeClr val="dk1"/>
                </a:solidFill>
              </a:rPr>
              <a:t>: </a:t>
            </a:r>
            <a:r>
              <a:rPr b="1" lang="fr-FR" sz="2800">
                <a:solidFill>
                  <a:srgbClr val="FF0000"/>
                </a:solidFill>
              </a:rPr>
              <a:t>MB = 40 Kcal/m²/h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fr-FR" sz="3200">
                <a:solidFill>
                  <a:schemeClr val="dk1"/>
                </a:solidFill>
              </a:rPr>
              <a:t> </a:t>
            </a:r>
            <a:r>
              <a:rPr b="1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r>
              <a:rPr b="1" lang="fr-FR" sz="3200">
                <a:solidFill>
                  <a:schemeClr val="dk1"/>
                </a:solidFill>
              </a:rPr>
              <a:t> </a:t>
            </a:r>
            <a:r>
              <a:rPr b="1" lang="fr-FR" sz="2400">
                <a:solidFill>
                  <a:schemeClr val="dk1"/>
                </a:solidFill>
              </a:rPr>
              <a:t>femme / homme  (</a:t>
            </a:r>
            <a:r>
              <a:rPr b="1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r>
              <a:rPr b="1" lang="fr-FR" sz="2400">
                <a:solidFill>
                  <a:schemeClr val="dk1"/>
                </a:solidFill>
              </a:rPr>
              <a:t> grossesse , l’allaitement et  </a:t>
            </a:r>
            <a:r>
              <a:rPr b="1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r>
              <a:rPr b="1" lang="fr-FR" sz="2400">
                <a:solidFill>
                  <a:schemeClr val="dk1"/>
                </a:solidFill>
              </a:rPr>
              <a:t> après la ménopause</a:t>
            </a:r>
            <a:endParaRPr/>
          </a:p>
          <a:p>
            <a:pPr indent="-20320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Char char="o"/>
            </a:pPr>
            <a:r>
              <a:rPr b="1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 </a:t>
            </a:r>
            <a:r>
              <a:rPr b="1" lang="fr-FR" sz="2400">
                <a:solidFill>
                  <a:schemeClr val="dk1"/>
                </a:solidFill>
              </a:rPr>
              <a:t>naissance             </a:t>
            </a:r>
            <a:r>
              <a:rPr b="1" lang="fr-FR" sz="3200">
                <a:solidFill>
                  <a:schemeClr val="dk1"/>
                </a:solidFill>
              </a:rPr>
              <a:t>01</a:t>
            </a:r>
            <a:r>
              <a:rPr b="1" lang="fr-FR" sz="2400">
                <a:solidFill>
                  <a:schemeClr val="dk1"/>
                </a:solidFill>
              </a:rPr>
              <a:t> an puis  </a:t>
            </a:r>
            <a:r>
              <a:rPr b="1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r>
              <a:rPr b="1" lang="fr-FR" sz="2400">
                <a:solidFill>
                  <a:schemeClr val="dk1"/>
                </a:solidFill>
              </a:rPr>
              <a:t>  progressivement pour </a:t>
            </a:r>
            <a:r>
              <a:rPr b="1"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r>
              <a:rPr b="1"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2400">
                <a:solidFill>
                  <a:schemeClr val="dk1"/>
                </a:solidFill>
              </a:rPr>
              <a:t>au moment de la puberté.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ourier New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-17780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b="1" lang="fr-FR" sz="2800">
                <a:solidFill>
                  <a:schemeClr val="dk1"/>
                </a:solidFill>
              </a:rPr>
              <a:t>Etat pathologique qui font augmenter le MB: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fr-FR" sz="2800">
                <a:solidFill>
                  <a:schemeClr val="dk1"/>
                </a:solidFill>
              </a:rPr>
              <a:t>-hyperthyroïdie, infection.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2411756" y="3429000"/>
            <a:ext cx="305100" cy="34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fr-FR"/>
              <a:t>III- THERMOGENESE</a:t>
            </a:r>
            <a:endParaRPr b="1"/>
          </a:p>
        </p:txBody>
      </p:sp>
      <p:sp>
        <p:nvSpPr>
          <p:cNvPr id="219" name="Google Shape;219;p14"/>
          <p:cNvSpPr txBox="1"/>
          <p:nvPr>
            <p:ph idx="1" type="body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/>
              <a:t>                           </a:t>
            </a:r>
            <a:endParaRPr/>
          </a:p>
        </p:txBody>
      </p:sp>
      <p:grpSp>
        <p:nvGrpSpPr>
          <p:cNvPr id="220" name="Google Shape;220;p14"/>
          <p:cNvGrpSpPr/>
          <p:nvPr/>
        </p:nvGrpSpPr>
        <p:grpSpPr>
          <a:xfrm>
            <a:off x="1115616" y="1726420"/>
            <a:ext cx="6818726" cy="4438883"/>
            <a:chOff x="144016" y="329420"/>
            <a:chExt cx="6818726" cy="4438883"/>
          </a:xfrm>
        </p:grpSpPr>
        <p:sp>
          <p:nvSpPr>
            <p:cNvPr id="221" name="Google Shape;221;p14"/>
            <p:cNvSpPr/>
            <p:nvPr/>
          </p:nvSpPr>
          <p:spPr>
            <a:xfrm>
              <a:off x="144016" y="2770944"/>
              <a:ext cx="2739980" cy="1997359"/>
            </a:xfrm>
            <a:prstGeom prst="ellipse">
              <a:avLst/>
            </a:prstGeom>
            <a:solidFill>
              <a:srgbClr val="BF504D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4"/>
            <p:cNvSpPr txBox="1"/>
            <p:nvPr/>
          </p:nvSpPr>
          <p:spPr>
            <a:xfrm>
              <a:off x="144016" y="2770944"/>
              <a:ext cx="2739980" cy="1997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thermorégulation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3437403" y="3480863"/>
              <a:ext cx="796067" cy="796067"/>
            </a:xfrm>
            <a:prstGeom prst="mathPlus">
              <a:avLst>
                <a:gd fmla="val 23520" name="adj1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 txBox="1"/>
            <p:nvPr/>
          </p:nvSpPr>
          <p:spPr>
            <a:xfrm>
              <a:off x="3437403" y="3480863"/>
              <a:ext cx="796067" cy="796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4354827" y="3018795"/>
              <a:ext cx="2607915" cy="1749508"/>
            </a:xfrm>
            <a:prstGeom prst="ellipse">
              <a:avLst/>
            </a:prstGeom>
            <a:solidFill>
              <a:srgbClr val="968A8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 txBox="1"/>
            <p:nvPr/>
          </p:nvSpPr>
          <p:spPr>
            <a:xfrm>
              <a:off x="4354827" y="3018795"/>
              <a:ext cx="2607915" cy="174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Thermogénèse des aliments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0" i="0" lang="fr-FR" sz="1400" u="none" cap="none" strike="noStrike">
                  <a:solidFill>
                    <a:srgbClr val="244061"/>
                  </a:solidFill>
                  <a:latin typeface="Calibri"/>
                  <a:ea typeface="Calibri"/>
                  <a:cs typeface="Calibri"/>
                  <a:sym typeface="Calibri"/>
                </a:rPr>
                <a:t>au cours de la digestion, absorption, du transport et du stockage</a:t>
              </a:r>
              <a:endParaRPr b="0" i="0" sz="14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4"/>
            <p:cNvSpPr/>
            <p:nvPr/>
          </p:nvSpPr>
          <p:spPr>
            <a:xfrm rot="5800909">
              <a:off x="3590429" y="1940377"/>
              <a:ext cx="204200" cy="51058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77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 txBox="1"/>
            <p:nvPr/>
          </p:nvSpPr>
          <p:spPr>
            <a:xfrm rot="-9998182">
              <a:off x="3590429" y="1940377"/>
              <a:ext cx="204200" cy="510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418215" y="329420"/>
              <a:ext cx="2745058" cy="2055774"/>
            </a:xfrm>
            <a:prstGeom prst="ellipse">
              <a:avLst/>
            </a:prstGeom>
            <a:solidFill>
              <a:srgbClr val="77BFB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 txBox="1"/>
            <p:nvPr/>
          </p:nvSpPr>
          <p:spPr>
            <a:xfrm>
              <a:off x="2418215" y="329420"/>
              <a:ext cx="2745058" cy="20557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31750" spcFirstLastPara="1" rIns="31750" wrap="square" tIns="31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thermogénèse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fr-FR"/>
              <a:t>THERMOGENESE</a:t>
            </a:r>
            <a:endParaRPr b="1"/>
          </a:p>
        </p:txBody>
      </p:sp>
      <p:sp>
        <p:nvSpPr>
          <p:cNvPr id="236" name="Google Shape;236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/>
              <a:t>THERMOGENESE DES ALIMENTS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/>
              <a:t>-Elle libère un peu d’énergie qui peut être utilisée pour maintenir la température du corps( effet thermique des aliments ou thermogénèse postprandiale)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/>
              <a:t>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/>
              <a:t>-représente Environ  10% de la dépense énergétique journalière</a:t>
            </a:r>
            <a:r>
              <a:rPr lang="fr-FR"/>
              <a:t>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/>
              <a:t>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fr-FR" sz="3600"/>
              <a:t>IV- activité physique</a:t>
            </a:r>
            <a:endParaRPr b="1" sz="3600"/>
          </a:p>
        </p:txBody>
      </p:sp>
      <p:sp>
        <p:nvSpPr>
          <p:cNvPr id="242" name="Google Shape;242;p1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Définitions de la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 u="sng"/>
              <a:t>* sédentarité: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État pendant lequel les mouvements sont réduits au minimum et la dépense énergétique est proche du métabolisme de repos.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*</a:t>
            </a:r>
            <a:r>
              <a:rPr b="1" lang="fr-FR" sz="2400" u="sng"/>
              <a:t>Activité physique: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tout mouvement produit par les muscles squelettique, responsable d’une augmentation significative de la dépense énergétique au dessus de la dépense de repos</a:t>
            </a:r>
            <a:r>
              <a:rPr lang="fr-FR"/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fr-FR" sz="3200"/>
              <a:t>IV- activité physique</a:t>
            </a:r>
            <a:endParaRPr/>
          </a:p>
        </p:txBody>
      </p:sp>
      <p:sp>
        <p:nvSpPr>
          <p:cNvPr id="248" name="Google Shape;248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fr-FR" sz="2800" u="sng"/>
              <a:t>*sport: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Exercice physique se présentant sous forme de jeux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individuels ou collectif, donnant généralement lieu à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compétition, pratiqués en observant certaines règles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 précises.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/>
          <p:nvPr>
            <p:ph type="title"/>
          </p:nvPr>
        </p:nvSpPr>
        <p:spPr>
          <a:xfrm>
            <a:off x="539552" y="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fr-FR" sz="3600" u="sng"/>
              <a:t>V-Equilibre apports-dépenses</a:t>
            </a:r>
            <a:endParaRPr b="1" u="sng"/>
          </a:p>
        </p:txBody>
      </p:sp>
      <p:grpSp>
        <p:nvGrpSpPr>
          <p:cNvPr id="254" name="Google Shape;254;p18"/>
          <p:cNvGrpSpPr/>
          <p:nvPr/>
        </p:nvGrpSpPr>
        <p:grpSpPr>
          <a:xfrm>
            <a:off x="887680" y="1456610"/>
            <a:ext cx="7640322" cy="5046178"/>
            <a:chOff x="420136" y="475882"/>
            <a:chExt cx="7640322" cy="5046178"/>
          </a:xfrm>
        </p:grpSpPr>
        <p:sp>
          <p:nvSpPr>
            <p:cNvPr id="255" name="Google Shape;255;p18"/>
            <p:cNvSpPr/>
            <p:nvPr/>
          </p:nvSpPr>
          <p:spPr>
            <a:xfrm>
              <a:off x="420142" y="1856449"/>
              <a:ext cx="2021984" cy="1123324"/>
            </a:xfrm>
            <a:prstGeom prst="roundRect">
              <a:avLst>
                <a:gd fmla="val 10000" name="adj"/>
              </a:avLst>
            </a:prstGeom>
            <a:solidFill>
              <a:srgbClr val="E7CFCF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420142" y="1856449"/>
              <a:ext cx="2021984" cy="1123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Protéine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None/>
              </a:pPr>
              <a:r>
                <a:rPr b="0" i="0" lang="fr-F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Lipide  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2287960" y="475882"/>
              <a:ext cx="4239454" cy="1123324"/>
            </a:xfrm>
            <a:prstGeom prst="roundRect">
              <a:avLst>
                <a:gd fmla="val 10000" name="adj"/>
              </a:avLst>
            </a:prstGeom>
            <a:solidFill>
              <a:srgbClr val="DDE5D0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8"/>
            <p:cNvSpPr txBox="1"/>
            <p:nvPr/>
          </p:nvSpPr>
          <p:spPr>
            <a:xfrm>
              <a:off x="2287960" y="475882"/>
              <a:ext cx="4239454" cy="1123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Gain de poids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rPr b="0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rPr b="0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perte de poids 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3888429" y="4248470"/>
              <a:ext cx="842493" cy="1115436"/>
            </a:xfrm>
            <a:prstGeom prst="triangle">
              <a:avLst>
                <a:gd fmla="val 50000" name="adj"/>
              </a:avLst>
            </a:prstGeom>
            <a:solidFill>
              <a:srgbClr val="D7D1DF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1745777" y="3896385"/>
              <a:ext cx="5056505" cy="353585"/>
            </a:xfrm>
            <a:prstGeom prst="rect">
              <a:avLst/>
            </a:prstGeom>
            <a:solidFill>
              <a:srgbClr val="CDE1E8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5679452" y="4607532"/>
              <a:ext cx="2381006" cy="914528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8"/>
            <p:cNvSpPr txBox="1"/>
            <p:nvPr/>
          </p:nvSpPr>
          <p:spPr>
            <a:xfrm>
              <a:off x="5679452" y="4607532"/>
              <a:ext cx="2381006" cy="914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Sortie d’énergie 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5617574" y="2970624"/>
              <a:ext cx="2017497" cy="939947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5617574" y="2970624"/>
              <a:ext cx="2017497" cy="939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Métabolisme de base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5617564" y="1996107"/>
              <a:ext cx="2017497" cy="939947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8"/>
            <p:cNvSpPr txBox="1"/>
            <p:nvPr/>
          </p:nvSpPr>
          <p:spPr>
            <a:xfrm>
              <a:off x="5617564" y="1996107"/>
              <a:ext cx="2017497" cy="939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Activité physique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470811" y="4511563"/>
              <a:ext cx="2301664" cy="920077"/>
            </a:xfrm>
            <a:prstGeom prst="roundRect">
              <a:avLst>
                <a:gd fmla="val 16667" name="adj"/>
              </a:avLst>
            </a:prstGeom>
            <a:solidFill>
              <a:srgbClr val="49A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 txBox="1"/>
            <p:nvPr/>
          </p:nvSpPr>
          <p:spPr>
            <a:xfrm>
              <a:off x="470811" y="4511563"/>
              <a:ext cx="2301664" cy="920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Entré d’énergie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420136" y="2970624"/>
              <a:ext cx="2017497" cy="939947"/>
            </a:xfrm>
            <a:prstGeom prst="roundRect">
              <a:avLst>
                <a:gd fmla="val 16667" name="adj"/>
              </a:avLst>
            </a:prstGeom>
            <a:solidFill>
              <a:srgbClr val="F795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 txBox="1"/>
            <p:nvPr/>
          </p:nvSpPr>
          <p:spPr>
            <a:xfrm>
              <a:off x="420136" y="2970624"/>
              <a:ext cx="2017497" cy="939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Hydrate de carbone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 sz="4400">
                <a:latin typeface="Calibri"/>
                <a:ea typeface="Calibri"/>
                <a:cs typeface="Calibri"/>
                <a:sym typeface="Calibri"/>
              </a:rPr>
              <a:t>III-Méthodes de mesure</a:t>
            </a:r>
            <a:endParaRPr/>
          </a:p>
        </p:txBody>
      </p:sp>
      <p:sp>
        <p:nvSpPr>
          <p:cNvPr id="276" name="Google Shape;276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fr-FR" sz="3600"/>
              <a:t>La calorimétrie</a:t>
            </a:r>
            <a:r>
              <a:rPr lang="fr-FR"/>
              <a:t>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 est la mesure de la quantité d’énergie, utilisée par un organisme vivant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 Ce qui permet une évaluation globale de son fonctionnement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   Unité de mesure=</a:t>
            </a:r>
            <a:r>
              <a:rPr b="1" lang="fr-FR" sz="2400">
                <a:solidFill>
                  <a:srgbClr val="C00000"/>
                </a:solidFill>
              </a:rPr>
              <a:t>Kilocalorie</a:t>
            </a:r>
            <a:r>
              <a:rPr lang="fr-FR" sz="2400">
                <a:solidFill>
                  <a:schemeClr val="accent2"/>
                </a:solidFill>
              </a:rPr>
              <a:t> </a:t>
            </a:r>
            <a:r>
              <a:rPr b="1" lang="fr-FR" sz="2400">
                <a:solidFill>
                  <a:schemeClr val="lt1"/>
                </a:solidFill>
              </a:rPr>
              <a:t>(Kcal ) ou Kilojoule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b="1" lang="fr-FR" sz="3600">
                <a:solidFill>
                  <a:srgbClr val="C00000"/>
                </a:solidFill>
              </a:rPr>
              <a:t>              1Kcal=4.185KJ</a:t>
            </a:r>
            <a:r>
              <a:rPr b="1" lang="fr-FR" sz="36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0"/>
          <p:cNvGrpSpPr/>
          <p:nvPr/>
        </p:nvGrpSpPr>
        <p:grpSpPr>
          <a:xfrm>
            <a:off x="285720" y="1143008"/>
            <a:ext cx="8453326" cy="5434785"/>
            <a:chOff x="0" y="0"/>
            <a:chExt cx="8453326" cy="5434785"/>
          </a:xfrm>
        </p:grpSpPr>
        <p:sp>
          <p:nvSpPr>
            <p:cNvPr id="282" name="Google Shape;282;p20"/>
            <p:cNvSpPr/>
            <p:nvPr/>
          </p:nvSpPr>
          <p:spPr>
            <a:xfrm>
              <a:off x="1614943" y="0"/>
              <a:ext cx="5109907" cy="2130004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2296264" y="372750"/>
              <a:ext cx="3747265" cy="958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32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LA CALORIMETRIE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120"/>
                </a:spcBef>
                <a:spcAft>
                  <a:spcPts val="0"/>
                </a:spcAft>
                <a:buNone/>
              </a:pPr>
              <a:r>
                <a:rPr b="0" i="0" lang="fr-FR" sz="32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PEUT SE FAIRE </a:t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4357724" y="2714625"/>
              <a:ext cx="4095602" cy="2701820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 txBox="1"/>
            <p:nvPr/>
          </p:nvSpPr>
          <p:spPr>
            <a:xfrm>
              <a:off x="5610295" y="3412595"/>
              <a:ext cx="2457361" cy="1486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24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Indirecte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None/>
              </a:pPr>
              <a:r>
                <a:rPr b="1" i="0" lang="fr-FR" sz="20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1° </a:t>
              </a:r>
              <a:r>
                <a:rPr b="1" i="0" lang="fr-FR" sz="20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Alimentaire ou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i="0" lang="fr-FR" sz="20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 </a:t>
              </a:r>
              <a:r>
                <a:rPr b="1" i="0" lang="fr-FR" sz="20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2°   </a:t>
              </a:r>
              <a:r>
                <a:rPr b="1" i="0" lang="fr-FR" sz="20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respiratoire</a:t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0" y="2613266"/>
              <a:ext cx="4086789" cy="2821519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 txBox="1"/>
            <p:nvPr/>
          </p:nvSpPr>
          <p:spPr>
            <a:xfrm>
              <a:off x="384839" y="3342158"/>
              <a:ext cx="2452073" cy="1551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24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DIRECTE</a:t>
              </a:r>
              <a:r>
                <a:rPr b="1" i="0" lang="fr-FR" sz="24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 (bombe calorimétrique) ou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None/>
              </a:pPr>
              <a:r>
                <a:rPr b="1" i="0" lang="fr-FR" sz="24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chambre isolante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fr-FR">
                <a:latin typeface="Calibri"/>
                <a:ea typeface="Calibri"/>
                <a:cs typeface="Calibri"/>
                <a:sym typeface="Calibri"/>
              </a:rPr>
              <a:t>Bombe calorimétrique</a:t>
            </a:r>
            <a:endParaRPr/>
          </a:p>
        </p:txBody>
      </p:sp>
      <p:sp>
        <p:nvSpPr>
          <p:cNvPr id="293" name="Google Shape;293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/>
              <a:t>Dans la bombe calorimétrique, la combustion complète des glucides et des lipides en présence d’o2 à haute pression donne de l’H2O du CO2 et de la chaleur en plus de l’azote pour les protides </a:t>
            </a:r>
            <a:endParaRPr/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/>
              <a:t>L’énergie résultante = théorique   </a:t>
            </a:r>
            <a:endParaRPr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type="title"/>
          </p:nvPr>
        </p:nvSpPr>
        <p:spPr>
          <a:xfrm>
            <a:off x="457200" y="0"/>
            <a:ext cx="8229600" cy="1571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ibre Baskerville"/>
              <a:buNone/>
            </a:pPr>
            <a:r>
              <a:rPr b="1" lang="fr-FR">
                <a:latin typeface="Libre Baskerville"/>
                <a:ea typeface="Libre Baskerville"/>
                <a:cs typeface="Libre Baskerville"/>
                <a:sym typeface="Libre Baskerville"/>
              </a:rPr>
              <a:t>Valeur énergétique théorique des nutriments </a:t>
            </a:r>
            <a:endParaRPr/>
          </a:p>
        </p:txBody>
      </p:sp>
      <p:grpSp>
        <p:nvGrpSpPr>
          <p:cNvPr id="299" name="Google Shape;299;p22"/>
          <p:cNvGrpSpPr/>
          <p:nvPr/>
        </p:nvGrpSpPr>
        <p:grpSpPr>
          <a:xfrm>
            <a:off x="977729" y="1458324"/>
            <a:ext cx="7709070" cy="5182563"/>
            <a:chOff x="520529" y="-184726"/>
            <a:chExt cx="7709070" cy="5182563"/>
          </a:xfrm>
        </p:grpSpPr>
        <p:sp>
          <p:nvSpPr>
            <p:cNvPr id="300" name="Google Shape;300;p22"/>
            <p:cNvSpPr/>
            <p:nvPr/>
          </p:nvSpPr>
          <p:spPr>
            <a:xfrm>
              <a:off x="520529" y="347719"/>
              <a:ext cx="5377956" cy="4650118"/>
            </a:xfrm>
            <a:prstGeom prst="ellipse">
              <a:avLst/>
            </a:prstGeom>
            <a:solidFill>
              <a:srgbClr val="CCC0D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1793496" y="1246293"/>
              <a:ext cx="2868240" cy="3161581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2317664" y="1995110"/>
              <a:ext cx="1988225" cy="1662288"/>
            </a:xfrm>
            <a:prstGeom prst="ellipse">
              <a:avLst/>
            </a:prstGeom>
            <a:solidFill>
              <a:srgbClr val="FBD4B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5785223" y="-184726"/>
              <a:ext cx="1955606" cy="114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5785223" y="-184726"/>
              <a:ext cx="1955606" cy="114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177800" spcFirstLastPara="1" rIns="31750" wrap="square" tIns="31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g de Glucide = </a:t>
              </a:r>
              <a:r>
                <a:rPr b="0" i="0" lang="fr-FR" sz="25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4.1</a:t>
              </a:r>
              <a:r>
                <a:rPr b="0" i="0" lang="fr-F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K cal</a:t>
              </a:r>
              <a:endParaRPr/>
            </a:p>
          </p:txBody>
        </p:sp>
        <p:cxnSp>
          <p:nvCxnSpPr>
            <p:cNvPr id="305" name="Google Shape;305;p22"/>
            <p:cNvCxnSpPr/>
            <p:nvPr/>
          </p:nvCxnSpPr>
          <p:spPr>
            <a:xfrm>
              <a:off x="5296321" y="385658"/>
              <a:ext cx="488901" cy="0"/>
            </a:xfrm>
            <a:prstGeom prst="straightConnector1">
              <a:avLst/>
            </a:prstGeom>
            <a:solidFill>
              <a:schemeClr val="accent1"/>
            </a:solidFill>
            <a:ln cap="flat" cmpd="sng" w="12700">
              <a:solidFill>
                <a:srgbClr val="C0CCE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22"/>
            <p:cNvCxnSpPr/>
            <p:nvPr/>
          </p:nvCxnSpPr>
          <p:spPr>
            <a:xfrm rot="5400000">
              <a:off x="2930384" y="633577"/>
              <a:ext cx="2688306" cy="2116617"/>
            </a:xfrm>
            <a:prstGeom prst="straightConnector1">
              <a:avLst/>
            </a:prstGeom>
            <a:solidFill>
              <a:schemeClr val="accen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7" name="Google Shape;307;p22"/>
            <p:cNvSpPr/>
            <p:nvPr/>
          </p:nvSpPr>
          <p:spPr>
            <a:xfrm>
              <a:off x="6340191" y="946780"/>
              <a:ext cx="1889408" cy="114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 txBox="1"/>
            <p:nvPr/>
          </p:nvSpPr>
          <p:spPr>
            <a:xfrm>
              <a:off x="6340191" y="946780"/>
              <a:ext cx="1889408" cy="114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177800" spcFirstLastPara="1" rIns="31750" wrap="square" tIns="31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g de protide =</a:t>
              </a:r>
              <a:r>
                <a:rPr b="0" i="0" lang="fr-FR" sz="25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5.7</a:t>
              </a:r>
              <a:r>
                <a:rPr b="0" i="0" lang="fr-F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Kcal</a:t>
              </a:r>
              <a:endParaRPr/>
            </a:p>
          </p:txBody>
        </p:sp>
        <p:cxnSp>
          <p:nvCxnSpPr>
            <p:cNvPr id="309" name="Google Shape;309;p22"/>
            <p:cNvCxnSpPr/>
            <p:nvPr/>
          </p:nvCxnSpPr>
          <p:spPr>
            <a:xfrm flipH="1" rot="10800000">
              <a:off x="5537533" y="1556099"/>
              <a:ext cx="1059298" cy="45720"/>
            </a:xfrm>
            <a:prstGeom prst="straightConnector1">
              <a:avLst/>
            </a:prstGeom>
            <a:solidFill>
              <a:schemeClr val="accent1"/>
            </a:solidFill>
            <a:ln cap="flat" cmpd="sng" w="12700">
              <a:solidFill>
                <a:srgbClr val="C0CCE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" name="Google Shape;310;p22"/>
            <p:cNvCxnSpPr/>
            <p:nvPr/>
          </p:nvCxnSpPr>
          <p:spPr>
            <a:xfrm rot="5400000">
              <a:off x="3725181" y="1860559"/>
              <a:ext cx="2107917" cy="1478443"/>
            </a:xfrm>
            <a:prstGeom prst="straightConnector1">
              <a:avLst/>
            </a:prstGeom>
            <a:solidFill>
              <a:schemeClr val="accen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1" name="Google Shape;311;p22"/>
            <p:cNvSpPr/>
            <p:nvPr/>
          </p:nvSpPr>
          <p:spPr>
            <a:xfrm>
              <a:off x="5785223" y="2096814"/>
              <a:ext cx="1955606" cy="114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 txBox="1"/>
            <p:nvPr/>
          </p:nvSpPr>
          <p:spPr>
            <a:xfrm>
              <a:off x="5785223" y="2096814"/>
              <a:ext cx="1955606" cy="114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177800" spcFirstLastPara="1" rIns="31750" wrap="square" tIns="31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1g de lipide =</a:t>
              </a:r>
              <a:r>
                <a:rPr b="0" i="0" lang="fr-FR" sz="25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9.3 </a:t>
              </a:r>
              <a:r>
                <a:rPr b="0" i="0" lang="fr-FR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Kcal</a:t>
              </a:r>
              <a:endParaRPr/>
            </a:p>
          </p:txBody>
        </p:sp>
        <p:cxnSp>
          <p:nvCxnSpPr>
            <p:cNvPr id="313" name="Google Shape;313;p22"/>
            <p:cNvCxnSpPr/>
            <p:nvPr/>
          </p:nvCxnSpPr>
          <p:spPr>
            <a:xfrm>
              <a:off x="5663000" y="2665306"/>
              <a:ext cx="244445" cy="45720"/>
            </a:xfrm>
            <a:prstGeom prst="straightConnector1">
              <a:avLst/>
            </a:prstGeom>
            <a:solidFill>
              <a:schemeClr val="accent1"/>
            </a:solidFill>
            <a:ln cap="flat" cmpd="sng" w="12700">
              <a:solidFill>
                <a:srgbClr val="C0CCE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2"/>
            <p:cNvCxnSpPr/>
            <p:nvPr/>
          </p:nvCxnSpPr>
          <p:spPr>
            <a:xfrm rot="5400000">
              <a:off x="4353064" y="2910605"/>
              <a:ext cx="1496690" cy="995403"/>
            </a:xfrm>
            <a:prstGeom prst="straightConnector1">
              <a:avLst/>
            </a:prstGeom>
            <a:solidFill>
              <a:schemeClr val="accen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fr-FR"/>
              <a:t>(2 )</a:t>
            </a:r>
            <a:r>
              <a:rPr b="1" lang="fr-FR" sz="3600">
                <a:latin typeface="Calibri"/>
                <a:ea typeface="Calibri"/>
                <a:cs typeface="Calibri"/>
                <a:sym typeface="Calibri"/>
              </a:rPr>
              <a:t>La chambre isolante</a:t>
            </a:r>
            <a:endParaRPr/>
          </a:p>
        </p:txBody>
      </p:sp>
      <p:sp>
        <p:nvSpPr>
          <p:cNvPr id="320" name="Google Shape;320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3200"/>
              <a:buChar char="•"/>
            </a:pPr>
            <a:r>
              <a:rPr b="1" lang="fr-FR" sz="3200" u="sng">
                <a:solidFill>
                  <a:srgbClr val="95373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L’objectif</a:t>
            </a: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 est la mesure de la chaleur produite par un organisme vivant (métabolisme thermique)qui est un reflet de sa bioénergétique  </a:t>
            </a:r>
            <a:endParaRPr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Le principe est le maintien de la température de la chambre isolante=Adiabatique (constante grâce à un échangeur thermique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"/>
          <p:cNvSpPr txBox="1"/>
          <p:nvPr>
            <p:ph type="title"/>
          </p:nvPr>
        </p:nvSpPr>
        <p:spPr>
          <a:xfrm>
            <a:off x="642910" y="35716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fr-FR">
                <a:latin typeface="Calibri"/>
                <a:ea typeface="Calibri"/>
                <a:cs typeface="Calibri"/>
                <a:sym typeface="Calibri"/>
              </a:rPr>
              <a:t>Calorimétrie directe</a:t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0" y="1643050"/>
            <a:ext cx="4000496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Un sujet est mis dans une enceinte dont les parois sont parcourues par de l’eau.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(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T°s –T°e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représente la quantité de chaleur produite par le sujet et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transférée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 l’eau </a:t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0" y="4714884"/>
            <a:ext cx="407193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Méthode couteuse, encombrante. 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se réalise pas en pratique clinique courante</a:t>
            </a:r>
            <a:endParaRPr/>
          </a:p>
        </p:txBody>
      </p:sp>
      <p:pic>
        <p:nvPicPr>
          <p:cNvPr descr="C:\Users\333M\Desktop\calorimétrie.jpg" id="328" name="Google Shape;3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9058" y="1285860"/>
            <a:ext cx="5038736" cy="5414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fr-FR">
                <a:latin typeface="Calibri"/>
                <a:ea typeface="Calibri"/>
                <a:cs typeface="Calibri"/>
                <a:sym typeface="Calibri"/>
              </a:rPr>
              <a:t>La calorimétrie Indirecte </a:t>
            </a:r>
            <a:br>
              <a:rPr b="1" lang="fr-FR">
                <a:latin typeface="Calibri"/>
                <a:ea typeface="Calibri"/>
                <a:cs typeface="Calibri"/>
                <a:sym typeface="Calibri"/>
              </a:rPr>
            </a:br>
            <a:r>
              <a:rPr lang="fr-FR" sz="3200" u="sng">
                <a:latin typeface="Calibri"/>
                <a:ea typeface="Calibri"/>
                <a:cs typeface="Calibri"/>
                <a:sym typeface="Calibri"/>
              </a:rPr>
              <a:t>1 ) Alimentaire </a:t>
            </a:r>
            <a:endParaRPr u="sng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/>
              <a:t>La valeur énergétique du nutriment protéique dans l’organisme est différente de sa valeur théorique </a:t>
            </a:r>
            <a:endParaRPr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/>
              <a:t>En effet le nutriment protéique est brulé </a:t>
            </a:r>
            <a:r>
              <a:rPr b="1" lang="fr-FR" sz="2800">
                <a:solidFill>
                  <a:srgbClr val="FFC000"/>
                </a:solidFill>
              </a:rPr>
              <a:t>partiellement</a:t>
            </a:r>
            <a:r>
              <a:rPr lang="fr-FR" sz="2800"/>
              <a:t> dans l’organisme ,pour donner une valeur énergétique dite </a:t>
            </a:r>
            <a:r>
              <a:rPr b="1" lang="fr-FR" sz="2800">
                <a:solidFill>
                  <a:srgbClr val="FF0000"/>
                </a:solidFill>
              </a:rPr>
              <a:t>biologique</a:t>
            </a:r>
            <a:r>
              <a:rPr lang="fr-FR" sz="2800">
                <a:solidFill>
                  <a:schemeClr val="accent6"/>
                </a:solidFill>
              </a:rPr>
              <a:t> </a:t>
            </a:r>
            <a:r>
              <a:rPr lang="fr-FR" sz="2800"/>
              <a:t>ou </a:t>
            </a:r>
            <a:r>
              <a:rPr b="1" lang="fr-FR" sz="2800">
                <a:solidFill>
                  <a:srgbClr val="FF0000"/>
                </a:solidFill>
              </a:rPr>
              <a:t>réelle</a:t>
            </a:r>
            <a:r>
              <a:rPr lang="fr-FR" sz="2800"/>
              <a:t> qui est ˂à sa valeur théorique</a:t>
            </a:r>
            <a:endParaRPr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/>
              <a:t>Par contre la valeur énergétique </a:t>
            </a:r>
            <a:r>
              <a:rPr b="1" lang="fr-FR" sz="2800">
                <a:solidFill>
                  <a:srgbClr val="FF0000"/>
                </a:solidFill>
              </a:rPr>
              <a:t>réelle</a:t>
            </a:r>
            <a:r>
              <a:rPr lang="fr-FR" sz="2800"/>
              <a:t> des glucides et des lipides est pratiquement = à la valeur </a:t>
            </a:r>
            <a:r>
              <a:rPr b="1" lang="fr-FR" sz="2800">
                <a:solidFill>
                  <a:srgbClr val="FF0000"/>
                </a:solidFill>
              </a:rPr>
              <a:t>théorique</a:t>
            </a:r>
            <a:endParaRPr b="1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fr-FR"/>
              <a:t>Valeur énergétique réelle des nutriments</a:t>
            </a:r>
            <a:endParaRPr/>
          </a:p>
        </p:txBody>
      </p:sp>
      <p:sp>
        <p:nvSpPr>
          <p:cNvPr id="340" name="Google Shape;340;p26"/>
          <p:cNvSpPr/>
          <p:nvPr/>
        </p:nvSpPr>
        <p:spPr>
          <a:xfrm>
            <a:off x="785786" y="2000240"/>
            <a:ext cx="2357454" cy="1985970"/>
          </a:xfrm>
          <a:prstGeom prst="roundRect">
            <a:avLst>
              <a:gd fmla="val 16667" name="adj"/>
            </a:avLst>
          </a:prstGeom>
          <a:solidFill>
            <a:srgbClr val="D6E3BC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g de Glucide =4.1 K cal</a:t>
            </a: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5429256" y="1857364"/>
            <a:ext cx="2771788" cy="2214578"/>
          </a:xfrm>
          <a:prstGeom prst="roundRect">
            <a:avLst>
              <a:gd fmla="val 16667" name="adj"/>
            </a:avLst>
          </a:prstGeom>
          <a:solidFill>
            <a:srgbClr val="66FF66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g de protide = 4.8 Kcal</a:t>
            </a: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3000364" y="4143380"/>
            <a:ext cx="2928958" cy="2714620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g de lipide = 9.3 Kcal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8" name="Google Shape;348;p27"/>
          <p:cNvSpPr txBox="1"/>
          <p:nvPr>
            <p:ph idx="1" type="body"/>
          </p:nvPr>
        </p:nvSpPr>
        <p:spPr>
          <a:xfrm>
            <a:off x="628650" y="1844824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/>
              <a:t>Cependant l’absorption  intestinal des nutriments est </a:t>
            </a:r>
            <a:r>
              <a:rPr lang="fr-FR" sz="3200">
                <a:solidFill>
                  <a:srgbClr val="FF0000"/>
                </a:solidFill>
              </a:rPr>
              <a:t>partielle</a:t>
            </a:r>
            <a:r>
              <a:rPr lang="fr-FR" sz="3200"/>
              <a:t> , ce qui est à l’origine d’une troisième valeur énergétique des nutriments  dite </a:t>
            </a:r>
            <a:r>
              <a:rPr lang="fr-FR" sz="3200">
                <a:solidFill>
                  <a:srgbClr val="FF0000"/>
                </a:solidFill>
              </a:rPr>
              <a:t>pratique </a:t>
            </a:r>
            <a:endParaRPr sz="3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"/>
          <p:cNvSpPr txBox="1"/>
          <p:nvPr>
            <p:ph type="title"/>
          </p:nvPr>
        </p:nvSpPr>
        <p:spPr>
          <a:xfrm>
            <a:off x="571472" y="42860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fr-FR"/>
              <a:t>Valeur énergétique pratique des nutriments</a:t>
            </a:r>
            <a:endParaRPr/>
          </a:p>
        </p:txBody>
      </p:sp>
      <p:sp>
        <p:nvSpPr>
          <p:cNvPr id="354" name="Google Shape;354;p28"/>
          <p:cNvSpPr txBox="1"/>
          <p:nvPr>
            <p:ph idx="1" type="body"/>
          </p:nvPr>
        </p:nvSpPr>
        <p:spPr>
          <a:xfrm>
            <a:off x="5072066" y="2500306"/>
            <a:ext cx="2071702" cy="1500198"/>
          </a:xfrm>
          <a:prstGeom prst="rect">
            <a:avLst/>
          </a:prstGeom>
          <a:solidFill>
            <a:srgbClr val="66FF66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85725" lvl="4" marL="1543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t/>
            </a:r>
            <a:endParaRPr/>
          </a:p>
        </p:txBody>
      </p:sp>
      <p:sp>
        <p:nvSpPr>
          <p:cNvPr id="355" name="Google Shape;355;p28"/>
          <p:cNvSpPr/>
          <p:nvPr/>
        </p:nvSpPr>
        <p:spPr>
          <a:xfrm>
            <a:off x="1071538" y="2500306"/>
            <a:ext cx="2128846" cy="1485904"/>
          </a:xfrm>
          <a:prstGeom prst="rect">
            <a:avLst/>
          </a:prstGeom>
          <a:solidFill>
            <a:srgbClr val="CCC0D9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g de Glucide = 4 Kcal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5072066" y="2857496"/>
            <a:ext cx="20002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g de protide =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 Kcal </a:t>
            </a:r>
            <a:endParaRPr/>
          </a:p>
        </p:txBody>
      </p:sp>
      <p:sp>
        <p:nvSpPr>
          <p:cNvPr id="357" name="Google Shape;357;p28"/>
          <p:cNvSpPr/>
          <p:nvPr/>
        </p:nvSpPr>
        <p:spPr>
          <a:xfrm>
            <a:off x="2857488" y="4572008"/>
            <a:ext cx="2643206" cy="1628780"/>
          </a:xfrm>
          <a:prstGeom prst="ellipse">
            <a:avLst/>
          </a:prstGeom>
          <a:solidFill>
            <a:srgbClr val="B6DDE7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g DE LIPIDE = 9 Kcal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3" name="Google Shape;363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/>
              <a:t>        la connaissance du poids de chaque nutriment dans les entrés alimentaires des 24 h (</a:t>
            </a:r>
            <a:r>
              <a:rPr lang="fr-FR" sz="3200">
                <a:solidFill>
                  <a:srgbClr val="FF0000"/>
                </a:solidFill>
              </a:rPr>
              <a:t>ration alimentaire</a:t>
            </a:r>
            <a:r>
              <a:rPr lang="fr-FR" sz="3200"/>
              <a:t>) permet le calcul de </a:t>
            </a:r>
            <a:r>
              <a:rPr lang="fr-FR" sz="3200">
                <a:solidFill>
                  <a:srgbClr val="FF0000"/>
                </a:solidFill>
              </a:rPr>
              <a:t>l’apport énergétique pratique </a:t>
            </a:r>
            <a:r>
              <a:rPr lang="fr-FR" sz="3200"/>
              <a:t>qui leurs correspond (</a:t>
            </a:r>
            <a:r>
              <a:rPr lang="fr-FR" sz="3200">
                <a:solidFill>
                  <a:srgbClr val="FF0000"/>
                </a:solidFill>
              </a:rPr>
              <a:t>ration calorique Q</a:t>
            </a:r>
            <a:r>
              <a:rPr lang="fr-FR" sz="3200"/>
              <a:t>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171450" lvl="0" marL="17145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</a:pPr>
            <a:r>
              <a:rPr b="1" lang="fr-FR" sz="3200">
                <a:solidFill>
                  <a:schemeClr val="accent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</a:t>
            </a:r>
            <a:r>
              <a:rPr b="1" lang="fr-FR" sz="3200">
                <a:solidFill>
                  <a:schemeClr val="accent6"/>
                </a:solidFill>
              </a:rPr>
              <a:t>Q=  4(G) + 4(P) + 9 (L) Kcal</a:t>
            </a:r>
            <a:endParaRPr/>
          </a:p>
        </p:txBody>
      </p:sp>
      <p:sp>
        <p:nvSpPr>
          <p:cNvPr id="364" name="Google Shape;364;p29"/>
          <p:cNvSpPr/>
          <p:nvPr/>
        </p:nvSpPr>
        <p:spPr>
          <a:xfrm>
            <a:off x="928662" y="2000240"/>
            <a:ext cx="642942" cy="21431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 sz="4400">
                <a:latin typeface="Calibri"/>
                <a:ea typeface="Calibri"/>
                <a:cs typeface="Calibri"/>
                <a:sym typeface="Calibri"/>
              </a:rPr>
              <a:t>Calorimétrie indirecte </a:t>
            </a:r>
            <a:br>
              <a:rPr b="1" lang="fr-FR" sz="4400"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fr-FR" sz="4000">
                <a:latin typeface="Calibri"/>
                <a:ea typeface="Calibri"/>
                <a:cs typeface="Calibri"/>
                <a:sym typeface="Calibri"/>
              </a:rPr>
              <a:t>2) respiratoire 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 La plus utilisée en pratique médical</a:t>
            </a:r>
            <a:endParaRPr/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Libre Baskerville"/>
                <a:ea typeface="Libre Baskerville"/>
                <a:cs typeface="Libre Baskerville"/>
                <a:sym typeface="Libre Baskerville"/>
              </a:rPr>
              <a:t>Se base sur la mesure de la consommation d’O2  en état stable et sur la connaissance de l’équivalent calorique du nutriment par litre d’O2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333M\Desktop\CALORIM2TRIE INDIRECTE.jpg" id="375" name="Google Shape;37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290"/>
            <a:ext cx="9143999" cy="6500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fr-FR" sz="3600"/>
              <a:t>Aliment+O2        H2O+NRJ + CO2</a:t>
            </a:r>
            <a:endParaRPr/>
          </a:p>
        </p:txBody>
      </p:sp>
      <p:sp>
        <p:nvSpPr>
          <p:cNvPr id="381" name="Google Shape;381;p3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800"/>
              <a:t>L’équivalent calorique=</a:t>
            </a:r>
            <a:r>
              <a:rPr b="1" lang="fr-FR" sz="3800"/>
              <a:t>équivalent énergétique </a:t>
            </a:r>
            <a:r>
              <a:rPr lang="fr-FR" sz="3800"/>
              <a:t>=coeff thermique de l’O2: c est la quantité d’énergie libérée par litre d’O2 pour la combustion d’un aliment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 sz="3800"/>
              <a:t>                        coeff thermique de l’O2 =NRJ/VO2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 sz="3800">
                <a:latin typeface="Libre Baskerville"/>
                <a:ea typeface="Libre Baskerville"/>
                <a:cs typeface="Libre Baskerville"/>
                <a:sym typeface="Libre Baskerville"/>
              </a:rPr>
              <a:t>Dont NRJ= 673 Kcal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38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800"/>
              <a:t>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800"/>
              <a:t>5.05 Kcal pour les glucides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800"/>
              <a:t>4.70 Kcal pour les lipides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800"/>
              <a:t>4.70 Kcal pour les protides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8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800"/>
              <a:t>En pratique il est difficile de connaitre la participation exacte de chacun des trois nutriments au moment de la mesure de la consommation d’O2 d’où l’utilisation généralement de </a:t>
            </a:r>
            <a:r>
              <a:rPr b="1" lang="fr-FR" sz="3800"/>
              <a:t>l’équivalent calorique moyen </a:t>
            </a:r>
            <a:r>
              <a:rPr lang="fr-FR" sz="3800"/>
              <a:t>qui est =à: </a:t>
            </a:r>
            <a:r>
              <a:rPr b="1" lang="fr-FR" sz="3800"/>
              <a:t>4.8 Kcal                                </a:t>
            </a:r>
            <a:r>
              <a:rPr lang="fr-FR" sz="3800">
                <a:solidFill>
                  <a:schemeClr val="lt1"/>
                </a:solidFill>
              </a:rPr>
              <a:t>DONC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fr-FR">
                <a:solidFill>
                  <a:schemeClr val="lt1"/>
                </a:solidFill>
              </a:rPr>
              <a:t> 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fr-FR">
                <a:solidFill>
                  <a:schemeClr val="lt1"/>
                </a:solidFill>
              </a:rPr>
              <a:t>                                           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2987824" y="821310"/>
            <a:ext cx="714380" cy="41319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1571604" y="5404596"/>
            <a:ext cx="6000792" cy="714380"/>
          </a:xfrm>
          <a:prstGeom prst="roundRect">
            <a:avLst>
              <a:gd fmla="val 16667" name="adj"/>
            </a:avLst>
          </a:prstGeom>
          <a:solidFill>
            <a:srgbClr val="66FF66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NRJ  =  4.85  x  VO2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Libre Baskerville"/>
              <a:buNone/>
            </a:pPr>
            <a:r>
              <a:rPr lang="fr-FR" sz="48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Oxydation du Glucose</a:t>
            </a:r>
            <a:endParaRPr/>
          </a:p>
        </p:txBody>
      </p:sp>
      <p:pic>
        <p:nvPicPr>
          <p:cNvPr descr="E:\glucose.png" id="389" name="Google Shape;3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57628"/>
            <a:ext cx="9144000" cy="3000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333M\Desktop\images.png" id="390" name="Google Shape;3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57364"/>
            <a:ext cx="9144000" cy="2000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fr-FR" sz="3600" u="sng">
                <a:latin typeface="Calibri"/>
                <a:ea typeface="Calibri"/>
                <a:cs typeface="Calibri"/>
                <a:sym typeface="Calibri"/>
              </a:rPr>
              <a:t>La notion de quotient respiratoire</a:t>
            </a:r>
            <a:endParaRPr/>
          </a:p>
        </p:txBody>
      </p:sp>
      <p:sp>
        <p:nvSpPr>
          <p:cNvPr id="396" name="Google Shape;396;p3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Il s’agit du rapport   </a:t>
            </a:r>
            <a:r>
              <a:rPr lang="fr-FR" sz="2400">
                <a:solidFill>
                  <a:srgbClr val="FF0000"/>
                </a:solidFill>
              </a:rPr>
              <a:t>R= VCO2/VO2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fr-FR" sz="2400">
                <a:solidFill>
                  <a:srgbClr val="FF0000"/>
                </a:solidFill>
              </a:rPr>
              <a:t>Il se calcule après la mesure supplémentaire de la quantité du CO2 produite (VCO2)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Sa valeur est variable selon la nature du nutriment brulé; ainsi elle est égale à 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Lipides               =0.7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Protéines  R       = 0.8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Glucides            =1(idéal)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/>
          <p:cNvSpPr txBox="1"/>
          <p:nvPr>
            <p:ph type="title"/>
          </p:nvPr>
        </p:nvSpPr>
        <p:spPr>
          <a:xfrm>
            <a:off x="755576" y="188640"/>
            <a:ext cx="7886700" cy="773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fr-FR" sz="4800"/>
              <a:t> VII</a:t>
            </a:r>
            <a:r>
              <a:rPr b="1" lang="fr-FR" sz="4800" u="sng"/>
              <a:t>-Ration alimentaire :</a:t>
            </a:r>
            <a:endParaRPr b="1" u="sng"/>
          </a:p>
        </p:txBody>
      </p:sp>
      <p:sp>
        <p:nvSpPr>
          <p:cNvPr id="402" name="Google Shape;402;p35"/>
          <p:cNvSpPr txBox="1"/>
          <p:nvPr>
            <p:ph idx="1" type="body"/>
          </p:nvPr>
        </p:nvSpPr>
        <p:spPr>
          <a:xfrm>
            <a:off x="638881" y="1268760"/>
            <a:ext cx="8120090" cy="4572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lang="fr-FR" sz="280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fr-FR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Composition qualitative et quantitative  de l’alimentation journalière qui doit apportée </a:t>
            </a:r>
            <a:endParaRPr/>
          </a:p>
          <a:p>
            <a:pPr indent="-457200" lvl="0" marL="512064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-"/>
            </a:pPr>
            <a:r>
              <a:rPr lang="fr-FR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une ration  calorique  suffisante destinée à l’entretien </a:t>
            </a:r>
            <a:r>
              <a:rPr lang="fr-FR" sz="2800">
                <a:latin typeface="Libre Baskerville"/>
                <a:ea typeface="Libre Baskerville"/>
                <a:cs typeface="Libre Baskerville"/>
                <a:sym typeface="Libre Baskerville"/>
              </a:rPr>
              <a:t>(</a:t>
            </a:r>
            <a:r>
              <a:rPr lang="fr-FR" sz="28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ration d’entretien)</a:t>
            </a:r>
            <a:r>
              <a:rPr lang="fr-FR" sz="280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/>
          </a:p>
          <a:p>
            <a:pPr indent="-457200" lvl="0" marL="512064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Libre Baskerville"/>
              <a:buChar char="-"/>
            </a:pPr>
            <a:r>
              <a:rPr lang="fr-FR" sz="280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fr-FR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 travail </a:t>
            </a:r>
            <a:r>
              <a:rPr lang="fr-FR" sz="2800">
                <a:latin typeface="Libre Baskerville"/>
                <a:ea typeface="Libre Baskerville"/>
                <a:cs typeface="Libre Baskerville"/>
                <a:sym typeface="Libre Baskerville"/>
              </a:rPr>
              <a:t>(</a:t>
            </a:r>
            <a:r>
              <a:rPr lang="fr-FR" sz="28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ration de travail</a:t>
            </a:r>
            <a:r>
              <a:rPr lang="fr-FR" sz="2800">
                <a:latin typeface="Libre Baskerville"/>
                <a:ea typeface="Libre Baskerville"/>
                <a:cs typeface="Libre Baskerville"/>
                <a:sym typeface="Libre Baskerville"/>
              </a:rPr>
              <a:t>) de l’organisme </a:t>
            </a:r>
            <a:endParaRPr/>
          </a:p>
          <a:p>
            <a:pPr indent="-17780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 ration d’entretien  </a:t>
            </a:r>
            <a:r>
              <a:rPr lang="fr-FR" sz="28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1600</a:t>
            </a:r>
            <a:r>
              <a:rPr lang="fr-FR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Kcal chez la femme </a:t>
            </a:r>
            <a:endParaRPr/>
          </a:p>
          <a:p>
            <a:pPr indent="-17780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 ration de travail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lang="fr-FR" sz="2800"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  <a:r>
              <a:rPr lang="fr-FR" sz="280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500</a:t>
            </a:r>
            <a:r>
              <a:rPr lang="fr-FR" sz="280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fr-FR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Kcal pour une activité physique légère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fr-FR" sz="28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4000</a:t>
            </a:r>
            <a:r>
              <a:rPr lang="fr-FR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Kcal pour une activité très intense dans des conditions de froid extrême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6"/>
          <p:cNvSpPr txBox="1"/>
          <p:nvPr>
            <p:ph type="title"/>
          </p:nvPr>
        </p:nvSpPr>
        <p:spPr>
          <a:xfrm>
            <a:off x="381000" y="271464"/>
            <a:ext cx="7477148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fr-FR"/>
              <a:t>Ration alimentaire: définition 2      </a:t>
            </a:r>
            <a:endParaRPr/>
          </a:p>
        </p:txBody>
      </p:sp>
      <p:sp>
        <p:nvSpPr>
          <p:cNvPr id="408" name="Google Shape;408;p36"/>
          <p:cNvSpPr txBox="1"/>
          <p:nvPr>
            <p:ph idx="1" type="body"/>
          </p:nvPr>
        </p:nvSpPr>
        <p:spPr>
          <a:xfrm>
            <a:off x="142844" y="1633536"/>
            <a:ext cx="8572560" cy="5224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fr-FR" sz="2400">
                <a:solidFill>
                  <a:schemeClr val="accen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Ration alimentaire </a:t>
            </a:r>
            <a:r>
              <a:rPr lang="fr-FR" sz="2400">
                <a:solidFill>
                  <a:schemeClr val="dk1"/>
                </a:solidFill>
              </a:rPr>
              <a:t>désigne la quantité et la qualité ( la nature) d’aliments ingérés quotidiennement  par un sujet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>
                <a:solidFill>
                  <a:schemeClr val="dk1"/>
                </a:solidFill>
              </a:rPr>
              <a:t>Elle  apporte de l’énergie, de l’eau des minéraux et des vitamines en quantité suffisante  pour couvrir les besoins de l’organisme</a:t>
            </a:r>
            <a:r>
              <a:rPr lang="fr-FR" sz="240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fr-FR" sz="240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24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lang="fr-FR" sz="2400">
                <a:solidFill>
                  <a:schemeClr val="accen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L’aliment </a:t>
            </a:r>
            <a:r>
              <a:rPr lang="fr-FR" sz="2400">
                <a:solidFill>
                  <a:schemeClr val="dk1"/>
                </a:solidFill>
              </a:rPr>
              <a:t>: toute substance qui peut servir de nourriture à un être vivant, il contient des nutriments ou des ingrédients qui sont reconnus comme bénéfiques  en terme d’effets physiologiques.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lang="fr-FR" sz="2400">
                <a:solidFill>
                  <a:schemeClr val="accen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</a:t>
            </a:r>
            <a:r>
              <a:rPr lang="fr-FR" sz="2400">
                <a:solidFill>
                  <a:schemeClr val="accent2"/>
                </a:solidFill>
              </a:rPr>
              <a:t> </a:t>
            </a:r>
            <a:r>
              <a:rPr lang="fr-FR" sz="2400">
                <a:solidFill>
                  <a:schemeClr val="accen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nutriment </a:t>
            </a:r>
            <a:r>
              <a:rPr lang="fr-FR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tout composé organique ou inorganique contenu dans les aliments qui peut être utilisé par l’organisme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sz="24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"/>
          <p:cNvSpPr txBox="1"/>
          <p:nvPr>
            <p:ph type="title"/>
          </p:nvPr>
        </p:nvSpPr>
        <p:spPr>
          <a:xfrm>
            <a:off x="971600" y="188640"/>
            <a:ext cx="7886700" cy="1421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 sz="4400">
                <a:solidFill>
                  <a:srgbClr val="FF0000"/>
                </a:solidFill>
              </a:rPr>
              <a:t>COMPOSITION DE LA RATION ALIMENTAIRE </a:t>
            </a:r>
            <a:endParaRPr sz="4400">
              <a:solidFill>
                <a:srgbClr val="FF0000"/>
              </a:solidFill>
            </a:endParaRPr>
          </a:p>
        </p:txBody>
      </p:sp>
      <p:sp>
        <p:nvSpPr>
          <p:cNvPr id="414" name="Google Shape;414;p37"/>
          <p:cNvSpPr txBox="1"/>
          <p:nvPr>
            <p:ph idx="1" type="body"/>
          </p:nvPr>
        </p:nvSpPr>
        <p:spPr>
          <a:xfrm>
            <a:off x="467544" y="1610148"/>
            <a:ext cx="9048784" cy="9196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fr-FR">
                <a:solidFill>
                  <a:schemeClr val="dk1"/>
                </a:solidFill>
              </a:rPr>
              <a:t>Se compose d’environ  </a:t>
            </a:r>
            <a:r>
              <a:rPr b="1" lang="fr-FR" sz="2400">
                <a:solidFill>
                  <a:schemeClr val="dk1"/>
                </a:solidFill>
              </a:rPr>
              <a:t>30 à 50 g= 15% </a:t>
            </a:r>
            <a:r>
              <a:rPr b="1" lang="fr-FR">
                <a:solidFill>
                  <a:schemeClr val="dk1"/>
                </a:solidFill>
              </a:rPr>
              <a:t>de protéines chez l’homme et plus chez la femme en période de grossesse ou d’allaitement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fr-FR">
                <a:solidFill>
                  <a:schemeClr val="dk1"/>
                </a:solidFill>
              </a:rPr>
              <a:t>Les protéines sont nécessaire essentiellement pour des fins de structures et  pour couvrir les pertes azotées estimées à 2.5g/j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fr-FR">
                <a:solidFill>
                  <a:schemeClr val="dk1"/>
                </a:solidFill>
              </a:rPr>
              <a:t>                    </a:t>
            </a:r>
            <a:r>
              <a:rPr lang="fr-FR" sz="3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voies et valeurs des pertes azotées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aphicFrame>
        <p:nvGraphicFramePr>
          <p:cNvPr id="415" name="Google Shape;415;p37"/>
          <p:cNvGraphicFramePr/>
          <p:nvPr/>
        </p:nvGraphicFramePr>
        <p:xfrm>
          <a:off x="857224" y="42862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{0A83B932-D651-4F33-8E57-FC25769A4DAB}</a:tableStyleId>
              </a:tblPr>
              <a:tblGrid>
                <a:gridCol w="1323975"/>
                <a:gridCol w="1323975"/>
                <a:gridCol w="1323975"/>
                <a:gridCol w="1323975"/>
                <a:gridCol w="1323975"/>
              </a:tblGrid>
              <a:tr h="78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>
                          <a:solidFill>
                            <a:schemeClr val="dk1"/>
                          </a:solidFill>
                        </a:rPr>
                        <a:t>urinaires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>
                          <a:solidFill>
                            <a:schemeClr val="dk1"/>
                          </a:solidFill>
                        </a:rPr>
                        <a:t>fécales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>
                          <a:solidFill>
                            <a:schemeClr val="dk1"/>
                          </a:solidFill>
                        </a:rPr>
                        <a:t>cutanées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>
                          <a:solidFill>
                            <a:schemeClr val="dk1"/>
                          </a:solidFill>
                        </a:rPr>
                        <a:t>sécrétions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Pertes Azotées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(g/24</a:t>
                      </a:r>
                      <a:r>
                        <a:rPr lang="fr-FR" sz="1350"/>
                        <a:t> 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1.4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0.4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0.13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0.08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6" name="Google Shape;416;p37"/>
          <p:cNvSpPr/>
          <p:nvPr/>
        </p:nvSpPr>
        <p:spPr>
          <a:xfrm>
            <a:off x="2357422" y="6286520"/>
            <a:ext cx="4429156" cy="428628"/>
          </a:xfrm>
          <a:prstGeom prst="rect">
            <a:avLst/>
          </a:prstGeom>
          <a:solidFill>
            <a:srgbClr val="00B0F0"/>
          </a:solidFill>
          <a:ln cap="flat" cmpd="sng" w="12700">
            <a:solidFill>
              <a:srgbClr val="395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= </a:t>
            </a: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g par jour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 txBox="1"/>
          <p:nvPr>
            <p:ph type="title"/>
          </p:nvPr>
        </p:nvSpPr>
        <p:spPr>
          <a:xfrm>
            <a:off x="628650" y="-99392"/>
            <a:ext cx="7886700" cy="12774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fr-FR" sz="4000" u="sng">
                <a:latin typeface="Calibri"/>
                <a:ea typeface="Calibri"/>
                <a:cs typeface="Calibri"/>
                <a:sym typeface="Calibri"/>
              </a:rPr>
              <a:t>Composition de la ration alimentaire </a:t>
            </a:r>
            <a:endParaRPr/>
          </a:p>
        </p:txBody>
      </p:sp>
      <p:sp>
        <p:nvSpPr>
          <p:cNvPr id="422" name="Google Shape;422;p38"/>
          <p:cNvSpPr txBox="1"/>
          <p:nvPr>
            <p:ph idx="1" type="body"/>
          </p:nvPr>
        </p:nvSpPr>
        <p:spPr>
          <a:xfrm>
            <a:off x="0" y="1988840"/>
            <a:ext cx="9144000" cy="48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fr-FR" sz="3200">
                <a:solidFill>
                  <a:srgbClr val="FF0000"/>
                </a:solidFill>
              </a:rPr>
              <a:t>Besoins de lipides </a:t>
            </a:r>
            <a:r>
              <a:rPr b="1" lang="fr-FR" sz="2800"/>
              <a:t>= </a:t>
            </a:r>
            <a:r>
              <a:rPr b="1" lang="fr-FR" sz="2800">
                <a:solidFill>
                  <a:schemeClr val="dk1"/>
                </a:solidFill>
              </a:rPr>
              <a:t>30 à 35  </a:t>
            </a:r>
            <a:r>
              <a:rPr b="1"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٪de la ration calorique</a:t>
            </a:r>
            <a:r>
              <a:rPr b="1" lang="fr-FR" sz="2800">
                <a:latin typeface="Arial"/>
                <a:ea typeface="Arial"/>
                <a:cs typeface="Arial"/>
                <a:sym typeface="Arial"/>
              </a:rPr>
              <a:t>, 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 sz="3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fr-FR" sz="3200">
                <a:solidFill>
                  <a:srgbClr val="FF0000"/>
                </a:solidFill>
              </a:rPr>
              <a:t>Besoins</a:t>
            </a:r>
            <a:r>
              <a:rPr b="1" lang="fr-FR" sz="3200"/>
              <a:t>  </a:t>
            </a:r>
            <a:r>
              <a:rPr b="1" lang="fr-FR" sz="3200">
                <a:solidFill>
                  <a:srgbClr val="FF0000"/>
                </a:solidFill>
              </a:rPr>
              <a:t>Glucides </a:t>
            </a:r>
            <a:r>
              <a:rPr b="1" lang="fr-FR" sz="2800">
                <a:latin typeface="Arial"/>
                <a:ea typeface="Arial"/>
                <a:cs typeface="Arial"/>
                <a:sym typeface="Arial"/>
              </a:rPr>
              <a:t>=  </a:t>
            </a:r>
            <a:r>
              <a:rPr b="1"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 à 55 ٪ de la ration calorique 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un besoin minimal de glucides = 150 g/ j est indiqué)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1058863" y="1358355"/>
            <a:ext cx="2286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5486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4864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9"/>
          <p:cNvSpPr txBox="1"/>
          <p:nvPr>
            <p:ph type="title"/>
          </p:nvPr>
        </p:nvSpPr>
        <p:spPr>
          <a:xfrm>
            <a:off x="569133" y="188640"/>
            <a:ext cx="7886700" cy="8454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sz="6000">
                <a:latin typeface="Calibri"/>
                <a:ea typeface="Calibri"/>
                <a:cs typeface="Calibri"/>
                <a:sym typeface="Calibri"/>
              </a:rPr>
              <a:t>Au  total </a:t>
            </a:r>
            <a:endParaRPr/>
          </a:p>
        </p:txBody>
      </p:sp>
      <p:sp>
        <p:nvSpPr>
          <p:cNvPr id="429" name="Google Shape;429;p39"/>
          <p:cNvSpPr txBox="1"/>
          <p:nvPr>
            <p:ph idx="1" type="body"/>
          </p:nvPr>
        </p:nvSpPr>
        <p:spPr>
          <a:xfrm>
            <a:off x="569133" y="1484784"/>
            <a:ext cx="8262966" cy="1368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12800">
                <a:solidFill>
                  <a:schemeClr val="dk1"/>
                </a:solidFill>
              </a:rPr>
              <a:t>Une ration alimentaire </a:t>
            </a:r>
            <a:r>
              <a:rPr lang="fr-FR" sz="12800">
                <a:solidFill>
                  <a:srgbClr val="FF0000"/>
                </a:solidFill>
              </a:rPr>
              <a:t>type</a:t>
            </a:r>
            <a:r>
              <a:rPr lang="fr-FR" sz="12800"/>
              <a:t> </a:t>
            </a:r>
            <a:r>
              <a:rPr lang="fr-FR" sz="12800">
                <a:solidFill>
                  <a:schemeClr val="dk1"/>
                </a:solidFill>
              </a:rPr>
              <a:t>doit comporter </a:t>
            </a:r>
            <a:r>
              <a:rPr lang="fr-FR" sz="12800">
                <a:solidFill>
                  <a:srgbClr val="FF0000"/>
                </a:solidFill>
              </a:rPr>
              <a:t>55% </a:t>
            </a:r>
            <a:r>
              <a:rPr lang="fr-FR" sz="12800">
                <a:solidFill>
                  <a:schemeClr val="dk1"/>
                </a:solidFill>
              </a:rPr>
              <a:t>de glucide</a:t>
            </a:r>
            <a:r>
              <a:rPr lang="fr-FR" sz="12800"/>
              <a:t>, </a:t>
            </a:r>
            <a:r>
              <a:rPr lang="fr-FR" sz="12800">
                <a:solidFill>
                  <a:srgbClr val="FF0000"/>
                </a:solidFill>
              </a:rPr>
              <a:t>30%</a:t>
            </a:r>
            <a:r>
              <a:rPr lang="fr-FR" sz="12800">
                <a:solidFill>
                  <a:srgbClr val="FFFF00"/>
                </a:solidFill>
              </a:rPr>
              <a:t> </a:t>
            </a:r>
            <a:r>
              <a:rPr lang="fr-FR" sz="12800"/>
              <a:t>de lipide et </a:t>
            </a:r>
            <a:r>
              <a:rPr lang="fr-FR" sz="12800">
                <a:solidFill>
                  <a:srgbClr val="FF0000"/>
                </a:solidFill>
              </a:rPr>
              <a:t>15% </a:t>
            </a:r>
            <a:r>
              <a:rPr lang="fr-FR" sz="12800">
                <a:solidFill>
                  <a:schemeClr val="dk1"/>
                </a:solidFill>
              </a:rPr>
              <a:t>de protéine, ainsi pour une ration à </a:t>
            </a:r>
            <a:r>
              <a:rPr b="1" lang="fr-FR" sz="14400">
                <a:solidFill>
                  <a:srgbClr val="FFC000"/>
                </a:solidFill>
              </a:rPr>
              <a:t>2400</a:t>
            </a:r>
            <a:r>
              <a:rPr lang="fr-FR" sz="12800"/>
              <a:t> K cal/j  </a:t>
            </a:r>
            <a:endParaRPr sz="128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96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9600">
              <a:solidFill>
                <a:schemeClr val="accent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9600">
              <a:solidFill>
                <a:schemeClr val="accent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9600">
              <a:solidFill>
                <a:schemeClr val="accent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fr-FR" sz="16000">
                <a:solidFill>
                  <a:schemeClr val="accent2"/>
                </a:solidFill>
              </a:rPr>
              <a:t>Les différents groupes d’aliments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11200">
                <a:solidFill>
                  <a:schemeClr val="dk1"/>
                </a:solidFill>
              </a:rPr>
              <a:t>Selon leurs propriétés et qualités nutritionnelles, les aliments sont regroupés en six ou sept groupes.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11200">
                <a:solidFill>
                  <a:schemeClr val="dk1"/>
                </a:solidFill>
              </a:rPr>
              <a:t> Un régime alimentaire équilibré puisera dans chacun des groupes d’aliments suivants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35" name="Google Shape;435;p40"/>
          <p:cNvSpPr txBox="1"/>
          <p:nvPr>
            <p:ph idx="1" type="body"/>
          </p:nvPr>
        </p:nvSpPr>
        <p:spPr>
          <a:xfrm>
            <a:off x="285720" y="1643050"/>
            <a:ext cx="8643998" cy="4929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436" name="Google Shape;436;p40"/>
          <p:cNvGraphicFramePr/>
          <p:nvPr/>
        </p:nvGraphicFramePr>
        <p:xfrm>
          <a:off x="285720" y="1428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{0A83B932-D651-4F33-8E57-FC25769A4DAB}</a:tableStyleId>
              </a:tblPr>
              <a:tblGrid>
                <a:gridCol w="928700"/>
                <a:gridCol w="4061425"/>
                <a:gridCol w="3725325"/>
              </a:tblGrid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Groupe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aliments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compositions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37" name="Google Shape;437;p40"/>
          <p:cNvGraphicFramePr/>
          <p:nvPr/>
        </p:nvGraphicFramePr>
        <p:xfrm>
          <a:off x="285719" y="6429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{0A83B932-D651-4F33-8E57-FC25769A4DAB}</a:tableStyleId>
              </a:tblPr>
              <a:tblGrid>
                <a:gridCol w="928700"/>
                <a:gridCol w="4071975"/>
                <a:gridCol w="3714775"/>
              </a:tblGrid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>
                          <a:solidFill>
                            <a:schemeClr val="dk1"/>
                          </a:solidFill>
                        </a:rPr>
                        <a:t>                      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Viandes, poissons, œufs , volaille, abats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35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Protéines animales, sels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35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minéraux, vitamine A, B,D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DAE5F1"/>
                    </a:solidFill>
                  </a:tcPr>
                </a:tc>
              </a:tr>
              <a:tr h="87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2 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Produits laitiers (lait , laitages et fromages)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protéines animales , Lipides, sels minéraux , vitamine A,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95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                    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Fruits et légumes 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 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Fruits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oléagineux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Glucides ,eau sels minéraux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vitamine C, E, protéines végétales ,lipides , glucides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91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                     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Céréales, pain, riz , féculents et pomme de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terre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Protéines végétales ,glucides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89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                     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35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Corps gras :</a:t>
                      </a:r>
                      <a:r>
                        <a:rPr b="0" i="0" lang="fr-FR" sz="135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- </a:t>
                      </a:r>
                      <a:r>
                        <a:rPr b="0" i="0" lang="fr-FR" sz="135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visibles : beurre , huile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35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- invisibles : lait, cacahuètes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Lipides</a:t>
                      </a:r>
                      <a:r>
                        <a:rPr lang="fr-FR" sz="1350"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, vitamine A</a:t>
                      </a:r>
                      <a:endParaRPr sz="1350"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/>
                </a:tc>
              </a:tr>
              <a:tr h="78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                     </a:t>
                      </a:r>
                      <a:r>
                        <a:rPr lang="fr-FR" sz="1350"/>
                        <a:t> 6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Sucre et produits sucrés(chocolat, miel , confiture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Glucides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4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Eau, café et thé sans sucre,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jus de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</a:t>
                      </a:r>
                      <a:r>
                        <a:rPr b="0" i="0" lang="fr-FR" sz="16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fruits, sodas et Coca cola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/>
                        <a:t>0 Kcal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50"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glucides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2015-11-15T10:33:48Z</dcterms:created>
  <dc:creator>Windows User</dc:creator>
</cp:coreProperties>
</file>