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B5D27-4D68-46C2-8C2A-F50D0E205ECA}" type="datetimeFigureOut">
              <a:rPr lang="fr-FR" smtClean="0"/>
              <a:t>14/02/2022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B947A-32FA-423D-8B58-AC80964A00F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428604"/>
            <a:ext cx="7772400" cy="5643601"/>
          </a:xfrm>
        </p:spPr>
        <p:txBody>
          <a:bodyPr/>
          <a:lstStyle/>
          <a:p>
            <a:r>
              <a:rPr lang="fr-FR" b="1" u="sng" dirty="0"/>
              <a:t>I- Les épidémies ayant sévi en Algérie au 19ème et 20ème siècle.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A-Introduction et Définition  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1-au sens </a:t>
            </a:r>
            <a:r>
              <a:rPr lang="fr-FR" dirty="0" smtClean="0"/>
              <a:t>classique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 </a:t>
            </a:r>
            <a:r>
              <a:rPr lang="fr-FR" dirty="0"/>
              <a:t>augmentation inhabituelle du </a:t>
            </a:r>
            <a:r>
              <a:rPr lang="fr-FR" dirty="0" smtClean="0"/>
              <a:t>nombre </a:t>
            </a:r>
            <a:r>
              <a:rPr lang="fr-FR" dirty="0"/>
              <a:t>des cas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d’une </a:t>
            </a:r>
            <a:r>
              <a:rPr lang="fr-FR" dirty="0"/>
              <a:t>maladie transmissible, </a:t>
            </a:r>
            <a:r>
              <a:rPr lang="fr-FR" dirty="0" smtClean="0"/>
              <a:t>dans </a:t>
            </a:r>
            <a:r>
              <a:rPr lang="fr-FR" dirty="0"/>
              <a:t>une région au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sein </a:t>
            </a:r>
            <a:r>
              <a:rPr lang="fr-FR" dirty="0"/>
              <a:t>d’une population donnée;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00042"/>
            <a:ext cx="8229600" cy="5786478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2-au sens moderne et par extension :</a:t>
            </a:r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multiplication considérable des cas de toute </a:t>
            </a:r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maladie ou de tout autre phénomène</a:t>
            </a:r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 ( accidents, suicides, etc.)</a:t>
            </a:r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L’Algérie fut atteinte et parfois très sévèrement, </a:t>
            </a:r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au cours des siècles, par les grandes épidémies </a:t>
            </a:r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qui désolèrent le bassin méditerranéen.   </a:t>
            </a: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B- La quarantaine 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Il s’agit d’une période d’isolement imposée </a:t>
            </a:r>
            <a:r>
              <a:rPr lang="fr-FR" dirty="0" smtClean="0"/>
              <a:t>à</a:t>
            </a:r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toute </a:t>
            </a:r>
            <a:r>
              <a:rPr lang="fr-FR" dirty="0"/>
              <a:t>personne et à toute marchandise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contaminée </a:t>
            </a:r>
            <a:r>
              <a:rPr lang="fr-FR" dirty="0"/>
              <a:t>par une pestilence, pour en éviter la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contagion</a:t>
            </a:r>
            <a:r>
              <a:rPr lang="fr-FR" dirty="0"/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626121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  <a:buNone/>
            </a:pPr>
            <a:r>
              <a:rPr lang="fr-FR" dirty="0"/>
              <a:t>Sa durée devait couvrir l’incubation la plus longue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constatée </a:t>
            </a:r>
            <a:r>
              <a:rPr lang="fr-FR" dirty="0"/>
              <a:t>pour cette maladie. Se protéger d’un mal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contagieux </a:t>
            </a:r>
            <a:r>
              <a:rPr lang="fr-FR" dirty="0"/>
              <a:t>est une démarche très ancienne de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l’humanité</a:t>
            </a:r>
            <a:r>
              <a:rPr lang="fr-FR" dirty="0"/>
              <a:t>: Moïse recommandait après tout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contact </a:t>
            </a:r>
            <a:r>
              <a:rPr lang="fr-FR" dirty="0"/>
              <a:t>avec un lépreux 40 jours de purification.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/>
          <a:lstStyle/>
          <a:p>
            <a:pPr>
              <a:lnSpc>
                <a:spcPct val="200000"/>
              </a:lnSpc>
              <a:buNone/>
            </a:pPr>
            <a:r>
              <a:rPr lang="fr-FR" dirty="0"/>
              <a:t>Progressivement, la quarantaine évolua vers un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principe </a:t>
            </a:r>
            <a:r>
              <a:rPr lang="fr-FR" dirty="0"/>
              <a:t>plutôt qu’un laps de temps, dont la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durée était </a:t>
            </a:r>
            <a:r>
              <a:rPr lang="fr-FR" dirty="0"/>
              <a:t>appréciée au cas par cas.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C- Les épidémies de peste en Algérie</a:t>
            </a:r>
            <a:r>
              <a:rPr lang="fr-FR" dirty="0" smtClean="0"/>
              <a:t> 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lnSpc>
                <a:spcPct val="200000"/>
              </a:lnSpc>
              <a:buNone/>
            </a:pPr>
            <a:r>
              <a:rPr lang="fr-FR" dirty="0"/>
              <a:t>Les épidémies de peste étaient connues depuis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l’antiquité</a:t>
            </a:r>
            <a:r>
              <a:rPr lang="fr-FR" dirty="0"/>
              <a:t>.</a:t>
            </a:r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Dans </a:t>
            </a:r>
            <a:r>
              <a:rPr lang="fr-FR" dirty="0"/>
              <a:t>le monde arabe et en particulier au Maghreb,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l’histoire </a:t>
            </a:r>
            <a:r>
              <a:rPr lang="fr-FR" dirty="0"/>
              <a:t>est parcourue de fréquentes épidémies.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/>
          <a:lstStyle/>
          <a:p>
            <a:pPr lvl="0">
              <a:lnSpc>
                <a:spcPct val="150000"/>
              </a:lnSpc>
              <a:buNone/>
            </a:pPr>
            <a:r>
              <a:rPr lang="fr-FR" dirty="0" smtClean="0"/>
              <a:t>Parmi </a:t>
            </a:r>
            <a:r>
              <a:rPr lang="fr-FR" dirty="0"/>
              <a:t>les épidémies qui ont touché l’Algérie, on </a:t>
            </a:r>
            <a:endParaRPr lang="fr-FR" dirty="0" smtClean="0"/>
          </a:p>
          <a:p>
            <a:pPr lvl="0">
              <a:lnSpc>
                <a:spcPct val="150000"/>
              </a:lnSpc>
              <a:buNone/>
            </a:pPr>
            <a:r>
              <a:rPr lang="fr-FR" dirty="0" smtClean="0"/>
              <a:t>peut </a:t>
            </a:r>
            <a:r>
              <a:rPr lang="fr-FR" dirty="0"/>
              <a:t>citer, au mois de juin 1556, l’épidémie qui </a:t>
            </a:r>
            <a:endParaRPr lang="fr-FR" dirty="0" smtClean="0"/>
          </a:p>
          <a:p>
            <a:pPr lvl="0">
              <a:lnSpc>
                <a:spcPct val="150000"/>
              </a:lnSpc>
              <a:buNone/>
            </a:pPr>
            <a:r>
              <a:rPr lang="fr-FR" dirty="0" smtClean="0"/>
              <a:t>sévissait </a:t>
            </a:r>
            <a:r>
              <a:rPr lang="fr-FR" dirty="0"/>
              <a:t>à Alger et fut à l’origine du décès de </a:t>
            </a:r>
            <a:endParaRPr lang="fr-FR" dirty="0" smtClean="0"/>
          </a:p>
          <a:p>
            <a:pPr lvl="0">
              <a:lnSpc>
                <a:spcPct val="150000"/>
              </a:lnSpc>
              <a:buNone/>
            </a:pPr>
            <a:r>
              <a:rPr lang="fr-FR" dirty="0" smtClean="0"/>
              <a:t>Salah </a:t>
            </a:r>
            <a:r>
              <a:rPr lang="fr-FR" dirty="0"/>
              <a:t>Rais, le Dey d’Alger .</a:t>
            </a:r>
          </a:p>
          <a:p>
            <a:pPr lvl="0">
              <a:lnSpc>
                <a:spcPct val="150000"/>
              </a:lnSpc>
              <a:buNone/>
            </a:pPr>
            <a:r>
              <a:rPr lang="fr-FR" dirty="0" smtClean="0"/>
              <a:t>En </a:t>
            </a:r>
            <a:r>
              <a:rPr lang="fr-FR" dirty="0"/>
              <a:t>1794, à Oran, des pèlerins revenant de la </a:t>
            </a:r>
            <a:endParaRPr lang="fr-FR" dirty="0" smtClean="0"/>
          </a:p>
          <a:p>
            <a:pPr lvl="0">
              <a:lnSpc>
                <a:spcPct val="150000"/>
              </a:lnSpc>
              <a:buNone/>
            </a:pPr>
            <a:r>
              <a:rPr lang="fr-FR" dirty="0" smtClean="0"/>
              <a:t>Mecque </a:t>
            </a:r>
            <a:r>
              <a:rPr lang="fr-FR" dirty="0"/>
              <a:t>apportèrent une nouvelle épidémie qui </a:t>
            </a:r>
            <a:endParaRPr lang="fr-FR" dirty="0" smtClean="0"/>
          </a:p>
          <a:p>
            <a:pPr lvl="0">
              <a:lnSpc>
                <a:spcPct val="150000"/>
              </a:lnSpc>
              <a:buNone/>
            </a:pPr>
            <a:r>
              <a:rPr lang="fr-FR" dirty="0" smtClean="0"/>
              <a:t>fera </a:t>
            </a:r>
            <a:r>
              <a:rPr lang="fr-FR" dirty="0"/>
              <a:t>déserter la ville.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62612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fr-FR" dirty="0"/>
              <a:t>Mais l’épidémie qui laissa le plus de séquelles  </a:t>
            </a:r>
            <a:endParaRPr lang="fr-FR" dirty="0" smtClean="0"/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dans </a:t>
            </a:r>
            <a:r>
              <a:rPr lang="fr-FR" dirty="0"/>
              <a:t>la population fut certainement celle de   </a:t>
            </a:r>
            <a:r>
              <a:rPr lang="fr-FR" dirty="0" smtClean="0"/>
              <a:t>1867-</a:t>
            </a:r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1868</a:t>
            </a:r>
            <a:r>
              <a:rPr lang="fr-FR" dirty="0"/>
              <a:t>, car elle survint pendant la  colonisation </a:t>
            </a:r>
            <a:endParaRPr lang="fr-FR" dirty="0" smtClean="0"/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française </a:t>
            </a:r>
            <a:r>
              <a:rPr lang="fr-FR" dirty="0"/>
              <a:t>et frappa des tribus parvenues au dernier </a:t>
            </a:r>
            <a:endParaRPr lang="fr-FR" dirty="0" smtClean="0"/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degré </a:t>
            </a:r>
            <a:r>
              <a:rPr lang="fr-FR" dirty="0"/>
              <a:t>de la misère, dont on avait saccagé les abris </a:t>
            </a:r>
            <a:endParaRPr lang="fr-FR" dirty="0" smtClean="0"/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et </a:t>
            </a:r>
            <a:r>
              <a:rPr lang="fr-FR" dirty="0"/>
              <a:t>les sources de vie, et était associée à d’autres </a:t>
            </a:r>
            <a:endParaRPr lang="fr-FR" dirty="0" smtClean="0"/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calamités </a:t>
            </a:r>
            <a:r>
              <a:rPr lang="fr-FR" dirty="0"/>
              <a:t>telles sécheresse, famine, épidémie de </a:t>
            </a:r>
            <a:endParaRPr lang="fr-FR" dirty="0" smtClean="0"/>
          </a:p>
          <a:p>
            <a:pPr>
              <a:lnSpc>
                <a:spcPct val="150000"/>
              </a:lnSpc>
              <a:buNone/>
            </a:pPr>
            <a:r>
              <a:rPr lang="fr-FR" dirty="0" smtClean="0"/>
              <a:t>choléra </a:t>
            </a:r>
            <a:r>
              <a:rPr lang="fr-FR" dirty="0"/>
              <a:t>et de typhus.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D-Les épidémies de choléra-morbus 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b="1" dirty="0" smtClean="0"/>
              <a:t>1-Définition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</a:p>
          <a:p>
            <a:pPr>
              <a:buNone/>
            </a:pPr>
            <a:r>
              <a:rPr lang="fr-FR" dirty="0"/>
              <a:t>infection intestinale grave, très  contagieuse, causée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par </a:t>
            </a:r>
            <a:r>
              <a:rPr lang="fr-FR" dirty="0"/>
              <a:t>un vibrion ( vibrion Cholérique :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microorganisme </a:t>
            </a:r>
            <a:r>
              <a:rPr lang="fr-FR" dirty="0"/>
              <a:t>mobile en forme  de bâtonnet 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incurvé  </a:t>
            </a:r>
            <a:r>
              <a:rPr lang="fr-FR" dirty="0"/>
              <a:t>), caractérisée par une diarrhée  abondante </a:t>
            </a:r>
          </a:p>
          <a:p>
            <a:pPr>
              <a:buNone/>
            </a:pPr>
            <a:r>
              <a:rPr lang="fr-FR" dirty="0"/>
              <a:t>‘selle à grains </a:t>
            </a:r>
            <a:r>
              <a:rPr lang="fr-FR" dirty="0" err="1"/>
              <a:t>riziforme</a:t>
            </a:r>
            <a:r>
              <a:rPr lang="fr-FR" dirty="0"/>
              <a:t>), des  vomissements, des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symptômes  </a:t>
            </a:r>
            <a:r>
              <a:rPr lang="fr-FR" dirty="0"/>
              <a:t>généraux de déshydratation et de </a:t>
            </a:r>
          </a:p>
          <a:p>
            <a:pPr>
              <a:buNone/>
            </a:pPr>
            <a:r>
              <a:rPr lang="fr-FR" dirty="0" smtClean="0"/>
              <a:t>collapsus</a:t>
            </a:r>
            <a:r>
              <a:rPr lang="fr-FR" dirty="0"/>
              <a:t>.  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  <a:buNone/>
            </a:pPr>
            <a:r>
              <a:rPr lang="fr-FR" b="1" dirty="0" smtClean="0"/>
              <a:t>2-Origine</a:t>
            </a:r>
            <a:r>
              <a:rPr lang="fr-FR" b="1" dirty="0"/>
              <a:t> :</a:t>
            </a:r>
            <a:endParaRPr lang="fr-FR" dirty="0"/>
          </a:p>
          <a:p>
            <a:pPr>
              <a:lnSpc>
                <a:spcPct val="200000"/>
              </a:lnSpc>
              <a:buNone/>
            </a:pPr>
            <a:r>
              <a:rPr lang="fr-FR" dirty="0"/>
              <a:t>L'origine du choléra-morbus provient d'un foyer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endémique </a:t>
            </a:r>
            <a:r>
              <a:rPr lang="fr-FR" dirty="0"/>
              <a:t>situé en Inde.</a:t>
            </a:r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L’Algérie</a:t>
            </a:r>
            <a:r>
              <a:rPr lang="fr-FR" dirty="0"/>
              <a:t>, de part sa vocation de port ouvert sur </a:t>
            </a:r>
            <a:endParaRPr lang="fr-FR" dirty="0" smtClean="0"/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la </a:t>
            </a:r>
            <a:r>
              <a:rPr lang="fr-FR" dirty="0"/>
              <a:t>Méditerranée, a été particulièrement </a:t>
            </a:r>
            <a:r>
              <a:rPr lang="fr-FR" dirty="0" smtClean="0"/>
              <a:t>exposée</a:t>
            </a:r>
            <a:r>
              <a:rPr lang="fr-FR" dirty="0"/>
              <a:t>.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5911873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200000"/>
              </a:lnSpc>
              <a:buNone/>
            </a:pPr>
            <a:r>
              <a:rPr lang="fr-FR" dirty="0"/>
              <a:t>Plusieurs épidémies se sont abattues dans l’Algérois,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l’</a:t>
            </a:r>
            <a:r>
              <a:rPr lang="fr-FR" dirty="0" err="1" smtClean="0"/>
              <a:t>Oranie</a:t>
            </a:r>
            <a:r>
              <a:rPr lang="fr-FR" dirty="0" smtClean="0"/>
              <a:t> </a:t>
            </a:r>
            <a:r>
              <a:rPr lang="fr-FR" dirty="0"/>
              <a:t>mais également dans le reste du pays, au </a:t>
            </a:r>
            <a:r>
              <a:rPr lang="fr-FR" dirty="0" err="1" smtClean="0"/>
              <a:t>coursdes</a:t>
            </a:r>
            <a:r>
              <a:rPr lang="fr-FR" dirty="0" smtClean="0"/>
              <a:t> </a:t>
            </a:r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premières </a:t>
            </a:r>
            <a:r>
              <a:rPr lang="fr-FR" dirty="0"/>
              <a:t>décennies de l’occupation française.</a:t>
            </a:r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Par </a:t>
            </a:r>
            <a:r>
              <a:rPr lang="fr-FR" dirty="0"/>
              <a:t>sa soudaineté et la rapidité avec laquelle il entraine le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décès</a:t>
            </a:r>
            <a:r>
              <a:rPr lang="fr-FR" dirty="0"/>
              <a:t>, le choléra avait marqué la population de l’époque: la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mort </a:t>
            </a:r>
            <a:r>
              <a:rPr lang="fr-FR" dirty="0"/>
              <a:t>survenait 48 heures après une incubation de </a:t>
            </a:r>
            <a:r>
              <a:rPr lang="fr-FR" dirty="0" smtClean="0"/>
              <a:t>quatre</a:t>
            </a:r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jours</a:t>
            </a:r>
            <a:r>
              <a:rPr lang="fr-FR" dirty="0"/>
              <a:t>.  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  <a:buNone/>
            </a:pPr>
            <a:r>
              <a:rPr lang="fr-FR" dirty="0"/>
              <a:t>Le choléra déclenchera sa </a:t>
            </a:r>
            <a:r>
              <a:rPr lang="fr-FR" dirty="0" smtClean="0"/>
              <a:t>1</a:t>
            </a:r>
            <a:r>
              <a:rPr lang="fr-FR" baseline="30000" dirty="0" smtClean="0"/>
              <a:t>ère</a:t>
            </a:r>
            <a:r>
              <a:rPr lang="fr-FR" dirty="0" smtClean="0"/>
              <a:t> épidémie en</a:t>
            </a:r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1934 </a:t>
            </a:r>
            <a:r>
              <a:rPr lang="fr-FR" dirty="0"/>
              <a:t>à l’hôpital miliaire d’Oran, à la suite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d’immigrants </a:t>
            </a:r>
            <a:r>
              <a:rPr lang="fr-FR" dirty="0"/>
              <a:t>venus de Gibraltar. l’épidémie se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propage </a:t>
            </a:r>
            <a:r>
              <a:rPr lang="fr-FR" dirty="0"/>
              <a:t>dans la ville tuant près de 1000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personnes.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200000"/>
              </a:lnSpc>
              <a:buNone/>
            </a:pPr>
            <a:r>
              <a:rPr lang="fr-FR" dirty="0" smtClean="0"/>
              <a:t>Elle s’étendra à Mascara, Mostaganem, Médéa </a:t>
            </a:r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et Miliana et on dénombrera près de 1500 victimes. </a:t>
            </a:r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L’année suivante, en 1835, Alger est atteinte par</a:t>
            </a:r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une épidémie importée de Marseille et de Toulon. </a:t>
            </a:r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Bilan 12000 décès dans l’Algérois et 14000 décès </a:t>
            </a:r>
          </a:p>
          <a:p>
            <a:pPr>
              <a:lnSpc>
                <a:spcPct val="200000"/>
              </a:lnSpc>
              <a:buNone/>
            </a:pPr>
            <a:r>
              <a:rPr lang="fr-FR" dirty="0" smtClean="0"/>
              <a:t>dans le Constantinois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E-Le paludisme en Algérie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dirty="0"/>
              <a:t>Avant l’occupation coloniale, le paludisme est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signalé </a:t>
            </a:r>
            <a:r>
              <a:rPr lang="fr-FR" dirty="0"/>
              <a:t>en Algérie au 12èmesiècle, époque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pendant </a:t>
            </a:r>
            <a:r>
              <a:rPr lang="fr-FR" dirty="0"/>
              <a:t>laquelle les guerres continuelles entre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tribus </a:t>
            </a:r>
            <a:r>
              <a:rPr lang="fr-FR" dirty="0"/>
              <a:t>accélèrent son éclosion et sa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dissémination </a:t>
            </a:r>
            <a:r>
              <a:rPr lang="fr-FR" dirty="0"/>
              <a:t>dans un pays où famine, guerres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et </a:t>
            </a:r>
            <a:r>
              <a:rPr lang="fr-FR" dirty="0"/>
              <a:t>épidémies de fièvre entravèrent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considérablement </a:t>
            </a:r>
            <a:r>
              <a:rPr lang="fr-FR" dirty="0"/>
              <a:t>le développement. 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200000"/>
              </a:lnSpc>
              <a:buNone/>
            </a:pPr>
            <a:r>
              <a:rPr lang="fr-FR" dirty="0"/>
              <a:t>Dès les premiers mois de colonisation française, les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troupes </a:t>
            </a:r>
            <a:r>
              <a:rPr lang="fr-FR" dirty="0"/>
              <a:t>du corps expéditionnaire </a:t>
            </a:r>
            <a:r>
              <a:rPr lang="fr-FR" dirty="0" smtClean="0"/>
              <a:t>subirent</a:t>
            </a:r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d’énormes </a:t>
            </a:r>
            <a:r>
              <a:rPr lang="fr-FR" dirty="0"/>
              <a:t>pertes dues à la fièvre palustre.</a:t>
            </a:r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En </a:t>
            </a:r>
            <a:r>
              <a:rPr lang="fr-FR" dirty="0"/>
              <a:t>1837, le Général </a:t>
            </a:r>
            <a:r>
              <a:rPr lang="fr-FR" dirty="0" err="1"/>
              <a:t>Berthezène</a:t>
            </a:r>
            <a:r>
              <a:rPr lang="fr-FR" dirty="0"/>
              <a:t>, déclarait :</a:t>
            </a:r>
            <a:r>
              <a:rPr lang="fr-FR" i="1" dirty="0"/>
              <a:t>"La </a:t>
            </a:r>
            <a:endParaRPr lang="fr-FR" i="1" dirty="0" smtClean="0"/>
          </a:p>
          <a:p>
            <a:pPr lvl="0">
              <a:lnSpc>
                <a:spcPct val="200000"/>
              </a:lnSpc>
              <a:buNone/>
            </a:pPr>
            <a:r>
              <a:rPr lang="fr-FR" i="1" dirty="0" smtClean="0"/>
              <a:t>Mitidja </a:t>
            </a:r>
            <a:r>
              <a:rPr lang="fr-FR" i="1" dirty="0"/>
              <a:t>n’est qu’un immense cloaque; elle sera le </a:t>
            </a:r>
            <a:endParaRPr lang="fr-FR" i="1" dirty="0" smtClean="0"/>
          </a:p>
          <a:p>
            <a:pPr lvl="0">
              <a:lnSpc>
                <a:spcPct val="200000"/>
              </a:lnSpc>
              <a:buNone/>
            </a:pPr>
            <a:r>
              <a:rPr lang="fr-FR" i="1" dirty="0" smtClean="0"/>
              <a:t>tombeau </a:t>
            </a:r>
            <a:r>
              <a:rPr lang="fr-FR" i="1" dirty="0"/>
              <a:t>de tous ceux qui oseront l’exploiter.’’  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200000"/>
              </a:lnSpc>
              <a:buNone/>
            </a:pPr>
            <a:r>
              <a:rPr lang="fr-FR" dirty="0" smtClean="0"/>
              <a:t>L’ Algérie </a:t>
            </a:r>
            <a:r>
              <a:rPr lang="fr-FR" dirty="0"/>
              <a:t>fut le premier champ d’expérience de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la </a:t>
            </a:r>
            <a:r>
              <a:rPr lang="fr-FR" dirty="0"/>
              <a:t>lutte antipaludique et le cadre des 1ères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expérimentations </a:t>
            </a:r>
            <a:r>
              <a:rPr lang="fr-FR" dirty="0"/>
              <a:t>des méthodes d’enquêtes </a:t>
            </a:r>
            <a:endParaRPr lang="fr-FR" dirty="0" smtClean="0"/>
          </a:p>
          <a:p>
            <a:pPr lvl="0">
              <a:lnSpc>
                <a:spcPct val="200000"/>
              </a:lnSpc>
              <a:buNone/>
            </a:pPr>
            <a:r>
              <a:rPr lang="fr-FR" dirty="0" err="1" smtClean="0"/>
              <a:t>paludométriques</a:t>
            </a:r>
            <a:r>
              <a:rPr lang="fr-FR" dirty="0" smtClean="0"/>
              <a:t> </a:t>
            </a:r>
            <a:r>
              <a:rPr lang="fr-FR" dirty="0"/>
              <a:t>et de la prophylaxie moderne du </a:t>
            </a:r>
          </a:p>
          <a:p>
            <a:pPr lvl="0">
              <a:lnSpc>
                <a:spcPct val="200000"/>
              </a:lnSpc>
              <a:buNone/>
            </a:pPr>
            <a:r>
              <a:rPr lang="fr-FR" dirty="0" smtClean="0"/>
              <a:t>paludisme </a:t>
            </a:r>
            <a:r>
              <a:rPr lang="fr-FR" dirty="0"/>
              <a:t>dont certaines ont cours jusqu’à l’heure actuelle.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/>
          <a:lstStyle/>
          <a:p>
            <a:pPr lvl="0">
              <a:buNone/>
            </a:pPr>
            <a:r>
              <a:rPr lang="fr-FR" b="1" dirty="0"/>
              <a:t>Les premières mesures de lutte antipaludique, </a:t>
            </a:r>
            <a:endParaRPr lang="fr-FR" b="1" dirty="0" smtClean="0"/>
          </a:p>
          <a:p>
            <a:pPr lvl="0">
              <a:buNone/>
            </a:pPr>
            <a:r>
              <a:rPr lang="fr-FR" b="1" dirty="0" smtClean="0"/>
              <a:t>furent </a:t>
            </a:r>
            <a:r>
              <a:rPr lang="fr-FR" b="1" dirty="0"/>
              <a:t>d’abord la ténacité et l’obstination des </a:t>
            </a:r>
            <a:endParaRPr lang="fr-FR" b="1" dirty="0" smtClean="0"/>
          </a:p>
          <a:p>
            <a:pPr lvl="0">
              <a:buNone/>
            </a:pPr>
            <a:r>
              <a:rPr lang="fr-FR" b="1" dirty="0" smtClean="0"/>
              <a:t>colons </a:t>
            </a:r>
            <a:r>
              <a:rPr lang="fr-FR" b="1" dirty="0"/>
              <a:t>européens qui, en s’ingéniant à </a:t>
            </a:r>
            <a:endParaRPr lang="fr-FR" b="1" dirty="0" smtClean="0"/>
          </a:p>
          <a:p>
            <a:pPr lvl="0">
              <a:buNone/>
            </a:pPr>
            <a:r>
              <a:rPr lang="fr-FR" b="1" dirty="0" smtClean="0"/>
              <a:t>défricher </a:t>
            </a:r>
            <a:r>
              <a:rPr lang="fr-FR" b="1" dirty="0"/>
              <a:t>et à assécher les marais. </a:t>
            </a:r>
            <a:endParaRPr lang="fr-FR" dirty="0"/>
          </a:p>
          <a:p>
            <a:pPr lvl="0">
              <a:buNone/>
            </a:pPr>
            <a:r>
              <a:rPr lang="fr-FR" dirty="0"/>
              <a:t>Grâce à la quinine, alcaloïde extrait de l’écorce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de </a:t>
            </a:r>
            <a:r>
              <a:rPr lang="fr-FR" dirty="0"/>
              <a:t>quinquina et dont la thérapeutique fut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codifiée </a:t>
            </a:r>
            <a:r>
              <a:rPr lang="fr-FR" dirty="0"/>
              <a:t>par Maillot en 1834 en Algérie, les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premières </a:t>
            </a:r>
            <a:r>
              <a:rPr lang="fr-FR" dirty="0"/>
              <a:t>victoires contre le paludisme furent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obtenues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F </a:t>
            </a:r>
            <a:r>
              <a:rPr lang="fr-FR" b="1" dirty="0"/>
              <a:t>-La Lutte antituberculeuse en Algérie</a:t>
            </a:r>
            <a:r>
              <a:rPr lang="fr-FR" dirty="0"/>
              <a:t>   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None/>
            </a:pPr>
            <a:r>
              <a:rPr lang="fr-FR" dirty="0"/>
              <a:t>La tuberculose est une maladie infectieuse,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contagieuse </a:t>
            </a:r>
            <a:r>
              <a:rPr lang="fr-FR" dirty="0"/>
              <a:t>et chronique qui atteint les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poumons</a:t>
            </a:r>
            <a:r>
              <a:rPr lang="fr-FR" dirty="0"/>
              <a:t>, mais aussi d’autres organes. </a:t>
            </a:r>
          </a:p>
          <a:p>
            <a:pPr lvl="0">
              <a:buNone/>
            </a:pPr>
            <a:r>
              <a:rPr lang="fr-FR" dirty="0" smtClean="0"/>
              <a:t>Due </a:t>
            </a:r>
            <a:r>
              <a:rPr lang="fr-FR" dirty="0"/>
              <a:t>à </a:t>
            </a:r>
            <a:r>
              <a:rPr lang="fr-FR" i="1" dirty="0" err="1"/>
              <a:t>Mycobacterium</a:t>
            </a:r>
            <a:r>
              <a:rPr lang="fr-FR" i="1" dirty="0"/>
              <a:t> </a:t>
            </a:r>
            <a:r>
              <a:rPr lang="fr-FR" i="1" dirty="0" err="1"/>
              <a:t>tuberculosis</a:t>
            </a:r>
            <a:r>
              <a:rPr lang="fr-FR" i="1" dirty="0"/>
              <a:t> (BK), </a:t>
            </a:r>
            <a:endParaRPr lang="fr-FR" i="1" dirty="0" smtClean="0"/>
          </a:p>
          <a:p>
            <a:pPr lvl="0">
              <a:buNone/>
            </a:pPr>
            <a:r>
              <a:rPr lang="fr-FR" i="1" dirty="0" smtClean="0"/>
              <a:t>l’homme </a:t>
            </a:r>
            <a:r>
              <a:rPr lang="fr-FR" i="1" dirty="0"/>
              <a:t>est le réservoir et l’agent de </a:t>
            </a:r>
            <a:endParaRPr lang="fr-FR" i="1" dirty="0" smtClean="0"/>
          </a:p>
          <a:p>
            <a:pPr lvl="0">
              <a:buNone/>
            </a:pPr>
            <a:r>
              <a:rPr lang="fr-FR" i="1" dirty="0" smtClean="0"/>
              <a:t>transmission </a:t>
            </a:r>
            <a:r>
              <a:rPr lang="fr-FR" i="1" dirty="0"/>
              <a:t>du bacille. Seul une personne chez </a:t>
            </a:r>
            <a:endParaRPr lang="fr-FR" i="1" dirty="0" smtClean="0"/>
          </a:p>
          <a:p>
            <a:pPr lvl="0">
              <a:buNone/>
            </a:pPr>
            <a:r>
              <a:rPr lang="fr-FR" i="1" dirty="0" smtClean="0"/>
              <a:t>qui </a:t>
            </a:r>
            <a:r>
              <a:rPr lang="fr-FR" i="1" dirty="0"/>
              <a:t>on a identifié des BK, à l’examen direct des </a:t>
            </a:r>
            <a:endParaRPr lang="fr-FR" i="1" dirty="0" smtClean="0"/>
          </a:p>
          <a:p>
            <a:pPr lvl="0">
              <a:buNone/>
            </a:pPr>
            <a:r>
              <a:rPr lang="fr-FR" i="1" dirty="0" smtClean="0"/>
              <a:t>crachats</a:t>
            </a:r>
            <a:r>
              <a:rPr lang="fr-FR" i="1" dirty="0"/>
              <a:t>, est contagieux. 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/>
          <a:lstStyle/>
          <a:p>
            <a:pPr lvl="0">
              <a:buNone/>
            </a:pPr>
            <a:r>
              <a:rPr lang="fr-FR" dirty="0" smtClean="0"/>
              <a:t>Au </a:t>
            </a:r>
            <a:r>
              <a:rPr lang="fr-FR" dirty="0"/>
              <a:t>XIXème siècle , elle est responsable de plus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de </a:t>
            </a:r>
            <a:r>
              <a:rPr lang="fr-FR" dirty="0"/>
              <a:t>mort que toutes les maladies épidémiques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réunies</a:t>
            </a:r>
            <a:r>
              <a:rPr lang="fr-FR" dirty="0"/>
              <a:t>.</a:t>
            </a:r>
          </a:p>
          <a:p>
            <a:pPr lvl="0">
              <a:buNone/>
            </a:pPr>
            <a:r>
              <a:rPr lang="fr-FR" dirty="0" smtClean="0"/>
              <a:t>Il </a:t>
            </a:r>
            <a:r>
              <a:rPr lang="fr-FR" dirty="0"/>
              <a:t>faut attendre le1921 pour la mise au point du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vaccin </a:t>
            </a:r>
            <a:r>
              <a:rPr lang="fr-FR" dirty="0"/>
              <a:t>BCG et ce n’est qu’en 1944 qu’on a mis en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évidence </a:t>
            </a:r>
            <a:r>
              <a:rPr lang="fr-FR" dirty="0"/>
              <a:t>l’activité antituberculeuse de la </a:t>
            </a:r>
            <a:endParaRPr lang="fr-FR" dirty="0" smtClean="0"/>
          </a:p>
          <a:p>
            <a:pPr lvl="0">
              <a:buNone/>
            </a:pPr>
            <a:r>
              <a:rPr lang="fr-FR" smtClean="0"/>
              <a:t>streptomycine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829</Words>
  <Application>Microsoft Office PowerPoint</Application>
  <PresentationFormat>Affichage à l'écran (4:3)</PresentationFormat>
  <Paragraphs>122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Thème Office</vt:lpstr>
      <vt:lpstr>I- Les épidémies ayant sévi en Algérie au 19ème et 20ème siècle.</vt:lpstr>
      <vt:lpstr>A-Introduction et Définition   </vt:lpstr>
      <vt:lpstr>Diapositive 3</vt:lpstr>
      <vt:lpstr>B- La quarantaine :</vt:lpstr>
      <vt:lpstr>Diapositive 5</vt:lpstr>
      <vt:lpstr>Diapositive 6</vt:lpstr>
      <vt:lpstr>C- Les épidémies de peste en Algérie :</vt:lpstr>
      <vt:lpstr>Diapositive 8</vt:lpstr>
      <vt:lpstr>Diapositive 9</vt:lpstr>
      <vt:lpstr>D-Les épidémies de choléra-morbus </vt:lpstr>
      <vt:lpstr>Diapositive 11</vt:lpstr>
      <vt:lpstr>Diapositive 12</vt:lpstr>
      <vt:lpstr>Diapositive 13</vt:lpstr>
      <vt:lpstr>Diapositive 14</vt:lpstr>
      <vt:lpstr>E-Le paludisme en Algérie  </vt:lpstr>
      <vt:lpstr>Diapositive 16</vt:lpstr>
      <vt:lpstr>Diapositive 17</vt:lpstr>
      <vt:lpstr>Diapositive 18</vt:lpstr>
      <vt:lpstr> F -La Lutte antituberculeuse en Algérie    </vt:lpstr>
      <vt:lpstr>Diapositive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I- Les épidémies ayant sévi en Algérie au 19ème et 20ème siècle.</dc:title>
  <dc:creator>TOSHIBA</dc:creator>
  <cp:lastModifiedBy>TOSHIBA</cp:lastModifiedBy>
  <cp:revision>22</cp:revision>
  <dcterms:created xsi:type="dcterms:W3CDTF">2022-02-14T08:29:35Z</dcterms:created>
  <dcterms:modified xsi:type="dcterms:W3CDTF">2022-02-14T09:22:31Z</dcterms:modified>
</cp:coreProperties>
</file>