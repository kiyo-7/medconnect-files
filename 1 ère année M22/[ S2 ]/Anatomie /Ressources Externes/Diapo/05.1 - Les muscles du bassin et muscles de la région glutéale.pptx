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4"/>
  </p:notesMasterIdLst>
  <p:sldIdLst>
    <p:sldId id="302" r:id="rId2"/>
    <p:sldId id="276" r:id="rId3"/>
    <p:sldId id="299" r:id="rId4"/>
    <p:sldId id="297" r:id="rId5"/>
    <p:sldId id="280" r:id="rId6"/>
    <p:sldId id="277" r:id="rId7"/>
    <p:sldId id="340" r:id="rId8"/>
    <p:sldId id="341" r:id="rId9"/>
    <p:sldId id="282" r:id="rId10"/>
    <p:sldId id="283" r:id="rId11"/>
    <p:sldId id="278" r:id="rId12"/>
    <p:sldId id="279" r:id="rId13"/>
    <p:sldId id="286" r:id="rId14"/>
    <p:sldId id="289" r:id="rId15"/>
    <p:sldId id="257" r:id="rId16"/>
    <p:sldId id="258" r:id="rId17"/>
    <p:sldId id="345" r:id="rId18"/>
    <p:sldId id="260" r:id="rId19"/>
    <p:sldId id="259" r:id="rId20"/>
    <p:sldId id="342" r:id="rId21"/>
    <p:sldId id="263" r:id="rId22"/>
    <p:sldId id="262" r:id="rId23"/>
    <p:sldId id="346" r:id="rId24"/>
    <p:sldId id="264" r:id="rId25"/>
    <p:sldId id="347" r:id="rId26"/>
    <p:sldId id="344" r:id="rId27"/>
    <p:sldId id="265" r:id="rId28"/>
    <p:sldId id="285" r:id="rId29"/>
    <p:sldId id="284" r:id="rId30"/>
    <p:sldId id="298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61" r:id="rId40"/>
    <p:sldId id="274" r:id="rId41"/>
    <p:sldId id="281" r:id="rId42"/>
    <p:sldId id="275" r:id="rId43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29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29A9494-CE45-45CF-82C6-EFC65E1255A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319091-D416-4FB6-AE3F-FFC5FBD9B200}" type="datetime1">
              <a:rPr lang="fr-FR" smtClean="0"/>
              <a:t>01/05/2021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B27DFC-F9D4-4591-9ADE-19236A084FA3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0051E-CD1E-48F9-80C8-AE17FAB76C02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F7EB24-29A2-4114-8CCC-42D62EED7F4D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6351C-EECF-468A-A4B0-41F44C7E26B1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A15DF0-A0AE-46A3-AA37-EC16D4313369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BC87B1-AB4C-4A65-B099-7FCF337FF14F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0EDFB7-77DB-4D18-A000-709484C681E7}" type="datetime1">
              <a:rPr lang="fr-FR" smtClean="0"/>
              <a:t>01/05/2021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2B4735-BEF9-4206-9E6F-B8E8BAE62A58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506818-5137-4194-9A44-8D6DA15E4BDA}" type="datetime1">
              <a:rPr lang="fr-FR" smtClean="0"/>
              <a:t>01/05/2021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D944-CBF5-49C6-A531-22486723234E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6F0F28-0E5E-4DA7-BDEB-B0E0A2713BCD}" type="datetime1">
              <a:rPr lang="fr-FR" smtClean="0"/>
              <a:t>01/05/2021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536AAE-68C1-4731-B7FF-670246C72413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71DF5F-EBDF-4214-BB06-625712CA4680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D05163-9F2B-44FD-87F2-054427A4975B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C94329-40A4-4E01-AFC3-4CCE1EBAB88C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>
              <a:defRPr/>
            </a:pPr>
            <a:fld id="{3735CFB6-D527-4B37-976B-CBEAEBC04E0A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5C1E76-A0DF-4B0A-88DF-5403861D8411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75F6F5-538B-4C58-9171-8E0FC3D9E179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367F8C2-3EA3-4624-B874-CFF49F96CC53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8614DA-5171-4032-927E-BDDFFA85C3DE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4EEB3039-4963-4C1F-94E4-C5E1071C14D5}" type="datetime1">
              <a:rPr lang="fr-FR" smtClean="0"/>
              <a:t>01/05/2021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01CEC9EF-F6D3-4864-AA3F-B1A4D86E565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easy-look.fr/anatomie_descriptive/muscle_hanche.php" TargetMode="External"/><Relationship Id="rId2" Type="http://schemas.openxmlformats.org/officeDocument/2006/relationships/hyperlink" Target="http://fr.academic.ru/pictures/frwiki/71/Gluteus_maximus_muscle.PNG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contenu 2"/>
          <p:cNvSpPr>
            <a:spLocks noGrp="1"/>
          </p:cNvSpPr>
          <p:nvPr>
            <p:ph idx="1"/>
          </p:nvPr>
        </p:nvSpPr>
        <p:spPr>
          <a:xfrm>
            <a:off x="457200" y="836613"/>
            <a:ext cx="8229600" cy="5289550"/>
          </a:xfrm>
        </p:spPr>
        <p:txBody>
          <a:bodyPr>
            <a:normAutofit lnSpcReduction="10000"/>
          </a:bodyPr>
          <a:lstStyle/>
          <a:p>
            <a:pPr algn="ctr"/>
            <a:r>
              <a:rPr lang="fr-FR" sz="8000" b="1" dirty="0" smtClean="0"/>
              <a:t>MYOLOGIE DU </a:t>
            </a:r>
            <a:r>
              <a:rPr lang="fr-FR" sz="8000" b="1" dirty="0" smtClean="0"/>
              <a:t>MEMBRE INFÉRIEUR</a:t>
            </a:r>
            <a:endParaRPr lang="fr-FR" sz="8000" b="1" dirty="0" smtClean="0"/>
          </a:p>
          <a:p>
            <a:pPr algn="ctr"/>
            <a:endParaRPr lang="fr-FR" sz="8000" b="1" dirty="0" smtClean="0"/>
          </a:p>
          <a:p>
            <a:pPr algn="ctr"/>
            <a:r>
              <a:rPr lang="fr-FR" sz="3200" b="1" dirty="0" smtClean="0"/>
              <a:t>Pr  BELHOULA-DJEROUA </a:t>
            </a:r>
            <a:r>
              <a:rPr lang="fr-FR" sz="3200" b="1" dirty="0" err="1" smtClean="0"/>
              <a:t>Hayette</a:t>
            </a:r>
            <a:endParaRPr lang="fr-FR" sz="3200" b="1" dirty="0" smtClean="0"/>
          </a:p>
          <a:p>
            <a:pPr algn="ctr"/>
            <a:endParaRPr lang="fr-FR" sz="8000" b="1" dirty="0" smtClean="0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5001E9-188F-4A6A-B84A-63AC86A9205E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642257" y="573541"/>
            <a:ext cx="8229600" cy="5040312"/>
          </a:xfrm>
        </p:spPr>
        <p:txBody>
          <a:bodyPr>
            <a:normAutofit lnSpcReduction="10000"/>
          </a:bodyPr>
          <a:lstStyle/>
          <a:p>
            <a:pPr algn="ctr" eaLnBrk="1" hangingPunct="1"/>
            <a:r>
              <a:rPr lang="fr-FR" sz="6600" b="1" dirty="0" smtClean="0"/>
              <a:t>MUSCLES DU BASSIN</a:t>
            </a:r>
            <a:br>
              <a:rPr lang="fr-FR" sz="6600" b="1" dirty="0" smtClean="0"/>
            </a:br>
            <a:r>
              <a:rPr lang="fr-FR" sz="6600" b="1" dirty="0" smtClean="0"/>
              <a:t>ET  MUSCLES DE LA RÉGION GLUTÉALE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E56AFC-7944-4C77-8A89-76156A0B0976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smtClean="0"/>
          </a:p>
        </p:txBody>
      </p:sp>
      <p:sp>
        <p:nvSpPr>
          <p:cNvPr id="4099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mtClean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7A5C24-EA5D-42F4-AC35-1A04F4BC52BE}" type="datetime1">
              <a:rPr lang="fr-FR" smtClean="0"/>
              <a:t>01/05/2021</a:t>
            </a:fld>
            <a:endParaRPr lang="fr-FR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  <p:sp>
        <p:nvSpPr>
          <p:cNvPr id="4100" name="AutoShape 2" descr="Afficher l'image d'origin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101" name="AutoShape 4" descr="Afficher l'image d'origin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pic>
        <p:nvPicPr>
          <p:cNvPr id="4102" name="Picture 8" descr="Résultat de recherche d'images pour &quot;muscles de la hanch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404813"/>
            <a:ext cx="7632700" cy="568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smtClean="0"/>
          </a:p>
        </p:txBody>
      </p:sp>
      <p:sp>
        <p:nvSpPr>
          <p:cNvPr id="512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mtClean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24A84B-49A0-4392-95B5-6807FAD1EC84}" type="datetime1">
              <a:rPr lang="fr-FR" smtClean="0"/>
              <a:t>01/05/2021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  <p:pic>
        <p:nvPicPr>
          <p:cNvPr id="5124" name="Picture 2" descr="Afficher l'image d'orig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2988" y="333375"/>
            <a:ext cx="6667500" cy="560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20713"/>
            <a:ext cx="8229600" cy="550545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fr-FR" sz="9600" b="1" dirty="0" smtClean="0"/>
              <a:t>MUSCLES </a:t>
            </a:r>
            <a:r>
              <a:rPr lang="fr-FR" sz="9600" b="1" dirty="0" smtClean="0"/>
              <a:t>DU BASSIN</a:t>
            </a:r>
            <a:r>
              <a:rPr lang="fr-FR" dirty="0" smtClean="0"/>
              <a:t> 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94B172-7629-4B5C-A912-1575985ACBAE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9"/>
            <a:ext cx="8229600" cy="6340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sz="5400" b="1" u="sng" dirty="0" smtClean="0">
                <a:solidFill>
                  <a:schemeClr val="tx1"/>
                </a:solidFill>
              </a:rPr>
              <a:t>Muscle psoas-iliaque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fr-FR" sz="2400" b="1" dirty="0" smtClean="0"/>
              <a:t/>
            </a:r>
            <a:br>
              <a:rPr lang="fr-FR" sz="2400" b="1" dirty="0" smtClean="0"/>
            </a:br>
            <a:r>
              <a:rPr lang="fr-FR" sz="3600" b="1" u="sng" dirty="0" smtClean="0">
                <a:solidFill>
                  <a:srgbClr val="FF0000"/>
                </a:solidFill>
              </a:rPr>
              <a:t>Origin</a:t>
            </a:r>
            <a:r>
              <a:rPr lang="fr-FR" sz="3600" b="1" dirty="0" smtClean="0">
                <a:solidFill>
                  <a:srgbClr val="FF0000"/>
                </a:solidFill>
              </a:rPr>
              <a:t>e </a:t>
            </a:r>
            <a:r>
              <a:rPr lang="fr-FR" sz="3600" b="1" dirty="0" smtClean="0"/>
              <a:t>: </a:t>
            </a:r>
            <a:br>
              <a:rPr lang="fr-FR" sz="3600" b="1" dirty="0" smtClean="0"/>
            </a:br>
            <a:endParaRPr lang="fr-FR" sz="3600" b="1" dirty="0" smtClean="0"/>
          </a:p>
          <a:p>
            <a:pPr eaLnBrk="1" hangingPunct="1">
              <a:lnSpc>
                <a:spcPct val="80000"/>
              </a:lnSpc>
            </a:pPr>
            <a:r>
              <a:rPr lang="fr-FR" sz="3600" b="1" u="sng" dirty="0" smtClean="0">
                <a:solidFill>
                  <a:schemeClr val="accent4">
                    <a:lumMod val="75000"/>
                  </a:schemeClr>
                </a:solidFill>
              </a:rPr>
              <a:t>- </a:t>
            </a:r>
            <a:r>
              <a:rPr lang="fr-FR" sz="3600" b="1" u="sng" dirty="0" smtClean="0">
                <a:solidFill>
                  <a:schemeClr val="accent4">
                    <a:lumMod val="75000"/>
                  </a:schemeClr>
                </a:solidFill>
              </a:rPr>
              <a:t>iliaque </a:t>
            </a:r>
            <a:r>
              <a:rPr lang="fr-FR" sz="3600" b="1" dirty="0" smtClean="0"/>
              <a:t>: lèvre interne de la crête iliaque et fosse iliaque </a:t>
            </a:r>
            <a:r>
              <a:rPr lang="fr-FR" sz="3600" b="1" dirty="0" smtClean="0"/>
              <a:t>interne</a:t>
            </a:r>
            <a:r>
              <a:rPr lang="fr-FR" sz="3600" b="1" dirty="0" smtClean="0"/>
              <a:t/>
            </a:r>
            <a:br>
              <a:rPr lang="fr-FR" sz="3600" b="1" dirty="0" smtClean="0"/>
            </a:br>
            <a:endParaRPr lang="fr-FR" sz="3600" b="1" dirty="0" smtClean="0"/>
          </a:p>
          <a:p>
            <a:pPr eaLnBrk="1" hangingPunct="1">
              <a:lnSpc>
                <a:spcPct val="80000"/>
              </a:lnSpc>
            </a:pPr>
            <a:r>
              <a:rPr lang="fr-FR" sz="3600" b="1" u="sng" dirty="0" smtClean="0">
                <a:solidFill>
                  <a:schemeClr val="accent4">
                    <a:lumMod val="75000"/>
                  </a:schemeClr>
                </a:solidFill>
              </a:rPr>
              <a:t>- grand psoas </a:t>
            </a:r>
            <a:r>
              <a:rPr lang="fr-FR" sz="3600" b="1" dirty="0" smtClean="0"/>
              <a:t>: </a:t>
            </a:r>
            <a:br>
              <a:rPr lang="fr-FR" sz="3600" b="1" dirty="0" smtClean="0"/>
            </a:br>
            <a:r>
              <a:rPr lang="fr-FR" sz="3600" b="1" dirty="0" smtClean="0">
                <a:solidFill>
                  <a:srgbClr val="FF0000"/>
                </a:solidFill>
              </a:rPr>
              <a:t>Le faisceau </a:t>
            </a:r>
            <a:r>
              <a:rPr lang="fr-FR" sz="3600" b="1" dirty="0" err="1" smtClean="0">
                <a:solidFill>
                  <a:srgbClr val="FF0000"/>
                </a:solidFill>
              </a:rPr>
              <a:t>transversaire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fr-FR" sz="3600" b="1" dirty="0" smtClean="0"/>
              <a:t>postérieur s'insère sur les processus transverses des quatre premières lombaires</a:t>
            </a:r>
            <a:br>
              <a:rPr lang="fr-FR" sz="3600" b="1" dirty="0" smtClean="0"/>
            </a:br>
            <a:endParaRPr lang="fr-FR" sz="3600" b="1" dirty="0" smtClean="0"/>
          </a:p>
          <a:p>
            <a:pPr eaLnBrk="1" hangingPunct="1">
              <a:lnSpc>
                <a:spcPct val="80000"/>
              </a:lnSpc>
            </a:pPr>
            <a:r>
              <a:rPr lang="fr-FR" sz="3600" b="1" dirty="0" smtClean="0">
                <a:solidFill>
                  <a:srgbClr val="FF0000"/>
                </a:solidFill>
              </a:rPr>
              <a:t>Le </a:t>
            </a:r>
            <a:r>
              <a:rPr lang="fr-FR" sz="3600" b="1" dirty="0" smtClean="0">
                <a:solidFill>
                  <a:srgbClr val="FF0000"/>
                </a:solidFill>
              </a:rPr>
              <a:t>faisceau corporal </a:t>
            </a:r>
            <a:r>
              <a:rPr lang="fr-FR" sz="3600" b="1" dirty="0" smtClean="0"/>
              <a:t>antérieur s'insère du disque intervertébrale D12L1 au corps de la quatrième vertèbre lombaire</a:t>
            </a:r>
            <a:r>
              <a:rPr lang="fr-FR" sz="3600" dirty="0" smtClean="0"/>
              <a:t/>
            </a:r>
            <a:br>
              <a:rPr lang="fr-FR" sz="3600" dirty="0" smtClean="0"/>
            </a:br>
            <a:endParaRPr lang="fr-FR" sz="3600" dirty="0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2A0F7B-CE4E-4705-BDC2-085034BCEAA5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r>
              <a:rPr lang="fr-FR" sz="2800" b="1" u="sng" dirty="0" smtClean="0">
                <a:solidFill>
                  <a:srgbClr val="FF0000"/>
                </a:solidFill>
              </a:rPr>
              <a:t>Trajet</a:t>
            </a:r>
            <a:r>
              <a:rPr lang="fr-FR" sz="2800" b="1" dirty="0" smtClean="0">
                <a:solidFill>
                  <a:srgbClr val="FF0000"/>
                </a:solidFill>
              </a:rPr>
              <a:t> 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les fibres se rejoignent au dessus de l'articulation coxo-fémorale pour former un tendon commun qui passe sous le ligament inguinal, qui cravate la coxo-fémorale vers l'avant et se réfléchie sur l'éminence </a:t>
            </a:r>
            <a:r>
              <a:rPr lang="fr-FR" sz="2800" b="1" dirty="0" err="1" smtClean="0"/>
              <a:t>ilio</a:t>
            </a:r>
            <a:r>
              <a:rPr lang="fr-FR" sz="2800" b="1" dirty="0" smtClean="0"/>
              <a:t>-pectinée pour se diriger vers le petit trochanter </a:t>
            </a:r>
            <a:br>
              <a:rPr lang="fr-FR" sz="2800" b="1" dirty="0" smtClean="0"/>
            </a:br>
            <a:endParaRPr lang="fr-FR" sz="2800" b="1" dirty="0" smtClean="0"/>
          </a:p>
          <a:p>
            <a:r>
              <a:rPr lang="fr-FR" sz="2800" b="1" u="sng" dirty="0" smtClean="0">
                <a:solidFill>
                  <a:srgbClr val="FF0000"/>
                </a:solidFill>
              </a:rPr>
              <a:t>Terminaison </a:t>
            </a:r>
            <a:r>
              <a:rPr lang="fr-FR" sz="2800" b="1" u="sng" dirty="0" smtClean="0">
                <a:solidFill>
                  <a:srgbClr val="FF0000"/>
                </a:solidFill>
              </a:rPr>
              <a:t>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sur la face postérieure du petit </a:t>
            </a:r>
            <a:r>
              <a:rPr lang="fr-FR" sz="2800" b="1" dirty="0" smtClean="0"/>
              <a:t>trochanter</a:t>
            </a:r>
            <a:endParaRPr lang="fr-FR" sz="2800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AD8145-9B57-4638-82AB-29AB4C529C31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/>
          <a:lstStyle/>
          <a:p>
            <a:r>
              <a:rPr lang="fr-FR" sz="4000" b="1" u="sng" dirty="0" smtClean="0">
                <a:solidFill>
                  <a:srgbClr val="FF0000"/>
                </a:solidFill>
              </a:rPr>
              <a:t>Action </a:t>
            </a:r>
            <a:r>
              <a:rPr lang="fr-FR" sz="4000" b="1" u="sng" dirty="0" smtClean="0"/>
              <a:t>:</a:t>
            </a:r>
            <a:r>
              <a:rPr lang="fr-FR" sz="4000" b="1" dirty="0" smtClean="0"/>
              <a:t> </a:t>
            </a:r>
            <a:br>
              <a:rPr lang="fr-FR" sz="4000" b="1" dirty="0" smtClean="0"/>
            </a:br>
            <a:r>
              <a:rPr lang="fr-FR" sz="4000" b="1" dirty="0" smtClean="0"/>
              <a:t>- fléchisseur de la hanche</a:t>
            </a:r>
            <a:br>
              <a:rPr lang="fr-FR" sz="4000" b="1" dirty="0" smtClean="0"/>
            </a:br>
            <a:r>
              <a:rPr lang="fr-FR" sz="4000" b="1" dirty="0" smtClean="0"/>
              <a:t>- rotateur </a:t>
            </a:r>
            <a:r>
              <a:rPr lang="fr-FR" sz="4000" b="1" dirty="0" smtClean="0"/>
              <a:t>latéral de la cuisse</a:t>
            </a:r>
            <a:r>
              <a:rPr lang="fr-FR" sz="4000" b="1" dirty="0" smtClean="0"/>
              <a:t/>
            </a:r>
            <a:br>
              <a:rPr lang="fr-FR" sz="4000" b="1" dirty="0" smtClean="0"/>
            </a:br>
            <a:endParaRPr lang="fr-FR" sz="4000" b="1" dirty="0" smtClean="0"/>
          </a:p>
          <a:p>
            <a:r>
              <a:rPr lang="fr-FR" sz="4000" b="1" u="sng" dirty="0" smtClean="0">
                <a:solidFill>
                  <a:srgbClr val="FF0000"/>
                </a:solidFill>
              </a:rPr>
              <a:t>Innervation </a:t>
            </a:r>
            <a:r>
              <a:rPr lang="fr-FR" sz="4000" b="1" u="sng" dirty="0" smtClean="0">
                <a:solidFill>
                  <a:srgbClr val="FF0000"/>
                </a:solidFill>
              </a:rPr>
              <a:t>:</a:t>
            </a:r>
            <a:r>
              <a:rPr lang="fr-FR" sz="4000" b="1" dirty="0" smtClean="0"/>
              <a:t/>
            </a:r>
            <a:br>
              <a:rPr lang="fr-FR" sz="4000" b="1" dirty="0" smtClean="0"/>
            </a:br>
            <a:r>
              <a:rPr lang="fr-FR" sz="4000" b="1" dirty="0" smtClean="0"/>
              <a:t>- par des branches du plexus lombaire</a:t>
            </a:r>
            <a:endParaRPr lang="fr-FR" sz="4000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0AC2B6-F254-4BE9-887C-7338DB6A5EE3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D4AAB5-BE8A-437C-BA92-FBF481B55793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  <p:pic>
        <p:nvPicPr>
          <p:cNvPr id="8195" name="Picture 5" descr="Legolas122929401998_ar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8888" y="692150"/>
            <a:ext cx="6100762" cy="545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Grp="1" noChangeArrowheads="1"/>
          </p:cNvSpPr>
          <p:nvPr>
            <p:ph idx="1"/>
          </p:nvPr>
        </p:nvSpPr>
        <p:spPr>
          <a:xfrm>
            <a:off x="539750" y="836613"/>
            <a:ext cx="8229600" cy="4525962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DBE8E6-6DD4-490D-830E-8ADAFF5E57EC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  <p:pic>
        <p:nvPicPr>
          <p:cNvPr id="9219" name="Picture 6" descr="psoa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775" y="549275"/>
            <a:ext cx="3732213" cy="59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fr-FR" dirty="0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7BBE22-8CCA-4213-8579-56AFE34DA750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  <p:pic>
        <p:nvPicPr>
          <p:cNvPr id="10243" name="Picture 5" descr="iliopsoa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813" y="381001"/>
            <a:ext cx="6402387" cy="588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92150"/>
            <a:ext cx="8229600" cy="5434013"/>
          </a:xfrm>
        </p:spPr>
        <p:txBody>
          <a:bodyPr/>
          <a:lstStyle/>
          <a:p>
            <a:pPr algn="ctr" eaLnBrk="1" hangingPunct="1"/>
            <a:endParaRPr lang="fr-FR" sz="5400" b="1" dirty="0" smtClean="0">
              <a:solidFill>
                <a:srgbClr val="CC0000"/>
              </a:solidFill>
            </a:endParaRPr>
          </a:p>
          <a:p>
            <a:pPr algn="ctr"/>
            <a:r>
              <a:rPr lang="fr-FR" sz="5400" b="1" dirty="0" smtClean="0"/>
              <a:t>LES MUSCLES DE LA RÉGION </a:t>
            </a:r>
            <a:r>
              <a:rPr lang="fr-FR" sz="5400" b="1" dirty="0" smtClean="0"/>
              <a:t>GLUTÉALE(F</a:t>
            </a:r>
            <a:r>
              <a:rPr lang="fr-FR" sz="5400" b="1" dirty="0" smtClean="0"/>
              <a:t>E</a:t>
            </a:r>
            <a:r>
              <a:rPr lang="fr-FR" sz="5400" b="1" dirty="0" smtClean="0"/>
              <a:t>SSIERE</a:t>
            </a:r>
            <a:r>
              <a:rPr lang="fr-FR" sz="5400" b="1" dirty="0" smtClean="0"/>
              <a:t>)</a:t>
            </a:r>
          </a:p>
          <a:p>
            <a:pPr eaLnBrk="1" hangingPunct="1"/>
            <a:endParaRPr lang="fr-FR" dirty="0" smtClean="0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243AF7-26A9-44E2-B230-E2B57F4DF52E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47058"/>
            <a:ext cx="8229600" cy="5179106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r>
              <a:rPr lang="fr-FR" sz="6000" b="1" dirty="0" smtClean="0"/>
              <a:t>A- Groupe des muscles </a:t>
            </a:r>
            <a:r>
              <a:rPr lang="fr-FR" sz="6000" b="1" dirty="0" err="1" smtClean="0"/>
              <a:t>glutéaux</a:t>
            </a:r>
            <a:r>
              <a:rPr lang="fr-FR" sz="6000" b="1" dirty="0" smtClean="0"/>
              <a:t> (muscles fessiers) et tenseurs du fascia </a:t>
            </a:r>
            <a:r>
              <a:rPr lang="fr-FR" sz="6000" b="1" dirty="0" err="1" smtClean="0"/>
              <a:t>lata</a:t>
            </a:r>
            <a:r>
              <a:rPr lang="fr-FR" sz="6000" dirty="0" smtClean="0"/>
              <a:t>.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B9FC5A-F4FF-48E8-B858-8B0D2E2A11D0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C4A4962-B4CC-4B10-9FB2-0A11239972FF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  <p:pic>
        <p:nvPicPr>
          <p:cNvPr id="14339" name="Picture 6" descr="46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613" y="476250"/>
            <a:ext cx="5400675" cy="595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6" descr="petitfessi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692697"/>
            <a:ext cx="8320088" cy="6165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FEE36F-B58C-4D5F-AE68-462D3F58E17A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>
            <a:normAutofit fontScale="90000"/>
          </a:bodyPr>
          <a:lstStyle/>
          <a:p>
            <a:r>
              <a:rPr lang="fr-FR" sz="4800" b="1" u="sng" dirty="0" smtClean="0">
                <a:solidFill>
                  <a:schemeClr val="tx1"/>
                </a:solidFill>
              </a:rPr>
              <a:t>Muscle petit </a:t>
            </a:r>
            <a:r>
              <a:rPr lang="fr-FR" sz="4800" b="1" u="sng" dirty="0" err="1" smtClean="0">
                <a:solidFill>
                  <a:schemeClr val="tx1"/>
                </a:solidFill>
              </a:rPr>
              <a:t>glutéal</a:t>
            </a:r>
            <a:r>
              <a:rPr lang="fr-FR" sz="4800" b="1" u="sng" dirty="0" smtClean="0">
                <a:solidFill>
                  <a:schemeClr val="tx1"/>
                </a:solidFill>
              </a:rPr>
              <a:t> (petit </a:t>
            </a:r>
            <a:r>
              <a:rPr lang="fr-FR" sz="4800" b="1" u="sng" dirty="0" smtClean="0">
                <a:solidFill>
                  <a:schemeClr val="tx1"/>
                </a:solidFill>
              </a:rPr>
              <a:t>f</a:t>
            </a:r>
            <a:r>
              <a:rPr lang="fr-FR" sz="4800" b="1" u="sng" dirty="0" smtClean="0">
                <a:solidFill>
                  <a:schemeClr val="tx1"/>
                </a:solidFill>
              </a:rPr>
              <a:t>e</a:t>
            </a:r>
            <a:r>
              <a:rPr lang="fr-FR" sz="4800" b="1" u="sng" dirty="0" smtClean="0">
                <a:solidFill>
                  <a:schemeClr val="tx1"/>
                </a:solidFill>
              </a:rPr>
              <a:t>ssier</a:t>
            </a:r>
            <a:r>
              <a:rPr lang="fr-FR" sz="4800" b="1" u="sng" dirty="0" smtClean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752"/>
            <a:ext cx="8229600" cy="5127848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fr-FR" sz="2800" b="1" u="sng" dirty="0" smtClean="0">
                <a:solidFill>
                  <a:srgbClr val="FF0000"/>
                </a:solidFill>
              </a:rPr>
              <a:t>Origine </a:t>
            </a:r>
            <a:r>
              <a:rPr lang="fr-FR" sz="2800" b="1" u="sng" dirty="0" smtClean="0">
                <a:solidFill>
                  <a:srgbClr val="FF0000"/>
                </a:solidFill>
              </a:rPr>
              <a:t>:</a:t>
            </a:r>
            <a:r>
              <a:rPr lang="fr-FR" sz="2800" b="1" u="sng" dirty="0" smtClean="0"/>
              <a:t/>
            </a:r>
            <a:br>
              <a:rPr lang="fr-FR" sz="2800" b="1" u="sng" dirty="0" smtClean="0"/>
            </a:br>
            <a:r>
              <a:rPr lang="fr-FR" sz="2800" b="1" dirty="0" smtClean="0"/>
              <a:t>- dans la fosse iliaque externe, en avant de la ligne semi circulaire antérieure </a:t>
            </a:r>
            <a:br>
              <a:rPr lang="fr-FR" sz="2800" b="1" dirty="0" smtClean="0"/>
            </a:br>
            <a:endParaRPr lang="fr-FR" sz="2800" b="1" dirty="0" smtClean="0"/>
          </a:p>
          <a:p>
            <a:pPr eaLnBrk="1" hangingPunct="1">
              <a:lnSpc>
                <a:spcPct val="80000"/>
              </a:lnSpc>
            </a:pPr>
            <a:r>
              <a:rPr lang="fr-FR" sz="2800" b="1" u="sng" dirty="0" smtClean="0">
                <a:solidFill>
                  <a:srgbClr val="FF0000"/>
                </a:solidFill>
              </a:rPr>
              <a:t>Trajet </a:t>
            </a:r>
            <a:r>
              <a:rPr lang="fr-FR" sz="2800" b="1" u="sng" dirty="0" smtClean="0">
                <a:solidFill>
                  <a:srgbClr val="FF0000"/>
                </a:solidFill>
              </a:rPr>
              <a:t>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muscle triangulaire à sommet inférieur et base supérieure, ses fibres convergent vers le bas, le dehors et l'arrière. Elles adhèrent à la capsule de la coxo-fémorale </a:t>
            </a:r>
            <a:br>
              <a:rPr lang="fr-FR" sz="2800" b="1" dirty="0" smtClean="0"/>
            </a:br>
            <a:endParaRPr lang="fr-FR" sz="2800" b="1" dirty="0" smtClean="0"/>
          </a:p>
          <a:p>
            <a:pPr eaLnBrk="1" hangingPunct="1">
              <a:lnSpc>
                <a:spcPct val="80000"/>
              </a:lnSpc>
            </a:pPr>
            <a:r>
              <a:rPr lang="fr-FR" sz="2800" b="1" u="sng" dirty="0" smtClean="0">
                <a:solidFill>
                  <a:srgbClr val="FF0000"/>
                </a:solidFill>
              </a:rPr>
              <a:t>Terminaison </a:t>
            </a:r>
            <a:r>
              <a:rPr lang="fr-FR" sz="2800" b="1" u="sng" dirty="0" smtClean="0">
                <a:solidFill>
                  <a:srgbClr val="FF0000"/>
                </a:solidFill>
              </a:rPr>
              <a:t>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face antérieure du grand trochanter </a:t>
            </a:r>
            <a:br>
              <a:rPr lang="fr-FR" sz="2800" b="1" dirty="0" smtClean="0"/>
            </a:br>
            <a:endParaRPr lang="fr-FR" sz="2800" b="1" dirty="0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9A3BAE-1C64-4CD8-B0B9-D12E022C19E8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16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775920"/>
          </a:xfrm>
        </p:spPr>
        <p:txBody>
          <a:bodyPr/>
          <a:lstStyle/>
          <a:p>
            <a:r>
              <a:rPr lang="fr-FR" sz="4000" b="1" u="sng" dirty="0" smtClean="0">
                <a:solidFill>
                  <a:srgbClr val="FF0000"/>
                </a:solidFill>
              </a:rPr>
              <a:t>Actions</a:t>
            </a:r>
            <a:r>
              <a:rPr lang="fr-FR" sz="4000" b="1" u="sng" dirty="0" smtClean="0"/>
              <a:t> </a:t>
            </a:r>
            <a:r>
              <a:rPr lang="fr-FR" sz="4000" b="1" u="sng" dirty="0" smtClean="0"/>
              <a:t>:</a:t>
            </a:r>
          </a:p>
          <a:p>
            <a:r>
              <a:rPr lang="fr-FR" sz="4000" b="1" dirty="0" smtClean="0"/>
              <a:t> </a:t>
            </a:r>
            <a:r>
              <a:rPr lang="fr-FR" sz="4000" b="1" dirty="0" smtClean="0"/>
              <a:t>abducteur de la cuisse </a:t>
            </a:r>
            <a:endParaRPr lang="fr-FR" sz="4000" b="1" dirty="0" smtClean="0"/>
          </a:p>
          <a:p>
            <a:r>
              <a:rPr lang="fr-FR" sz="4000" b="1" dirty="0" smtClean="0"/>
              <a:t> </a:t>
            </a:r>
            <a:r>
              <a:rPr lang="fr-FR" sz="4000" b="1" dirty="0" smtClean="0"/>
              <a:t>rotateur médial (interne) de la cuisse </a:t>
            </a:r>
            <a:endParaRPr lang="fr-FR" sz="4000" b="1" dirty="0" smtClean="0"/>
          </a:p>
          <a:p>
            <a:r>
              <a:rPr lang="fr-FR" sz="4000" b="1" dirty="0" smtClean="0"/>
              <a:t/>
            </a:r>
            <a:br>
              <a:rPr lang="fr-FR" sz="4000" b="1" dirty="0" smtClean="0"/>
            </a:br>
            <a:r>
              <a:rPr lang="fr-FR" sz="4000" b="1" u="sng" dirty="0" smtClean="0">
                <a:solidFill>
                  <a:srgbClr val="FF0000"/>
                </a:solidFill>
              </a:rPr>
              <a:t>Innervation </a:t>
            </a:r>
            <a:r>
              <a:rPr lang="fr-FR" sz="4000" b="1" dirty="0" smtClean="0"/>
              <a:t>: nerf </a:t>
            </a:r>
            <a:r>
              <a:rPr lang="fr-FR" sz="4000" b="1" dirty="0" err="1" smtClean="0"/>
              <a:t>glutéal</a:t>
            </a:r>
            <a:r>
              <a:rPr lang="fr-FR" sz="4000" b="1" dirty="0" smtClean="0"/>
              <a:t> supérieur (nerf fessier supérieur).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0051E-CD1E-48F9-80C8-AE17FAB76C02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17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81075"/>
            <a:ext cx="8229600" cy="5256213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5924B6-5828-406E-9964-E0FE9260D44B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18</a:t>
            </a:fld>
            <a:endParaRPr lang="fr-FR"/>
          </a:p>
        </p:txBody>
      </p:sp>
      <p:pic>
        <p:nvPicPr>
          <p:cNvPr id="17411" name="Picture 5" descr="moyenfessi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350" y="692150"/>
            <a:ext cx="7708900" cy="606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fr-FR" sz="900" dirty="0" smtClean="0"/>
              <a:t/>
            </a:r>
            <a:br>
              <a:rPr lang="fr-FR" sz="900" dirty="0" smtClean="0"/>
            </a:br>
            <a:endParaRPr lang="fr-FR" sz="900" dirty="0" smtClean="0"/>
          </a:p>
          <a:p>
            <a:pPr eaLnBrk="1" hangingPunct="1">
              <a:lnSpc>
                <a:spcPct val="80000"/>
              </a:lnSpc>
            </a:pPr>
            <a:endParaRPr lang="fr-FR" sz="900" b="1" dirty="0" smtClean="0"/>
          </a:p>
          <a:p>
            <a:pPr algn="ctr">
              <a:lnSpc>
                <a:spcPct val="80000"/>
              </a:lnSpc>
            </a:pPr>
            <a:r>
              <a:rPr lang="fr-FR" sz="3200" b="1" u="sng" dirty="0" smtClean="0"/>
              <a:t>Muscle moyen </a:t>
            </a:r>
            <a:r>
              <a:rPr lang="fr-FR" sz="3200" b="1" u="sng" dirty="0" err="1" smtClean="0"/>
              <a:t>glutéal</a:t>
            </a:r>
            <a:r>
              <a:rPr lang="fr-FR" sz="3200" b="1" u="sng" dirty="0" smtClean="0"/>
              <a:t> (moyen </a:t>
            </a:r>
            <a:r>
              <a:rPr lang="fr-FR" sz="3200" b="1" u="sng" dirty="0" smtClean="0"/>
              <a:t>fessier</a:t>
            </a:r>
            <a:r>
              <a:rPr lang="fr-FR" sz="3200" b="1" u="sng" dirty="0" smtClean="0"/>
              <a:t>)</a:t>
            </a:r>
          </a:p>
          <a:p>
            <a:pPr eaLnBrk="1" hangingPunct="1">
              <a:lnSpc>
                <a:spcPct val="80000"/>
              </a:lnSpc>
            </a:pPr>
            <a:endParaRPr lang="fr-FR" sz="900" b="1" dirty="0" smtClean="0"/>
          </a:p>
          <a:p>
            <a:pPr eaLnBrk="1" hangingPunct="1">
              <a:lnSpc>
                <a:spcPct val="80000"/>
              </a:lnSpc>
            </a:pPr>
            <a:endParaRPr lang="fr-FR" sz="900" b="1" dirty="0" smtClean="0"/>
          </a:p>
          <a:p>
            <a:pPr eaLnBrk="1" hangingPunct="1">
              <a:lnSpc>
                <a:spcPct val="80000"/>
              </a:lnSpc>
            </a:pPr>
            <a:endParaRPr lang="fr-FR" sz="900" b="1" dirty="0" smtClean="0"/>
          </a:p>
          <a:p>
            <a:pPr eaLnBrk="1" hangingPunct="1">
              <a:lnSpc>
                <a:spcPct val="80000"/>
              </a:lnSpc>
            </a:pPr>
            <a:endParaRPr lang="fr-FR" sz="900" b="1" dirty="0" smtClean="0"/>
          </a:p>
          <a:p>
            <a:pPr eaLnBrk="1" hangingPunct="1">
              <a:lnSpc>
                <a:spcPct val="80000"/>
              </a:lnSpc>
            </a:pPr>
            <a:r>
              <a:rPr lang="fr-FR" sz="3200" b="1" u="sng" dirty="0" smtClean="0">
                <a:solidFill>
                  <a:srgbClr val="FF0000"/>
                </a:solidFill>
              </a:rPr>
              <a:t>Origine :</a:t>
            </a:r>
            <a:r>
              <a:rPr lang="fr-FR" sz="3200" b="1" dirty="0" smtClean="0"/>
              <a:t/>
            </a:r>
            <a:br>
              <a:rPr lang="fr-FR" sz="3200" b="1" dirty="0" smtClean="0"/>
            </a:br>
            <a:r>
              <a:rPr lang="fr-FR" sz="3200" b="1" dirty="0" smtClean="0"/>
              <a:t>- dans la fosse iliaque externe, entre les lignes semi circulaire antérieure et postérieure</a:t>
            </a:r>
            <a:br>
              <a:rPr lang="fr-FR" sz="3200" b="1" dirty="0" smtClean="0"/>
            </a:br>
            <a:r>
              <a:rPr lang="fr-FR" sz="3200" b="1" dirty="0" smtClean="0"/>
              <a:t>- sur la partie moyenne de la crête iliaque (dont fait partie le tubercule fessier)</a:t>
            </a:r>
            <a:br>
              <a:rPr lang="fr-FR" sz="3200" b="1" dirty="0" smtClean="0"/>
            </a:br>
            <a:endParaRPr lang="fr-FR" sz="3200" b="1" dirty="0" smtClean="0"/>
          </a:p>
          <a:p>
            <a:pPr eaLnBrk="1" hangingPunct="1">
              <a:lnSpc>
                <a:spcPct val="80000"/>
              </a:lnSpc>
            </a:pPr>
            <a:r>
              <a:rPr lang="fr-FR" sz="3200" b="1" u="sng" dirty="0" smtClean="0">
                <a:solidFill>
                  <a:srgbClr val="FF0000"/>
                </a:solidFill>
              </a:rPr>
              <a:t>Trajet </a:t>
            </a:r>
            <a:r>
              <a:rPr lang="fr-FR" sz="3200" b="1" u="sng" dirty="0" smtClean="0">
                <a:solidFill>
                  <a:srgbClr val="FF0000"/>
                </a:solidFill>
              </a:rPr>
              <a:t>:</a:t>
            </a:r>
            <a:r>
              <a:rPr lang="fr-FR" sz="3200" b="1" dirty="0" smtClean="0"/>
              <a:t/>
            </a:r>
            <a:br>
              <a:rPr lang="fr-FR" sz="3200" b="1" dirty="0" smtClean="0"/>
            </a:br>
            <a:r>
              <a:rPr lang="fr-FR" sz="3200" b="1" dirty="0" smtClean="0"/>
              <a:t>- les fibres convergent en éventail : </a:t>
            </a:r>
            <a:br>
              <a:rPr lang="fr-FR" sz="3200" b="1" dirty="0" smtClean="0"/>
            </a:br>
            <a:r>
              <a:rPr lang="fr-FR" sz="3200" b="1" dirty="0" smtClean="0"/>
              <a:t> </a:t>
            </a:r>
            <a:r>
              <a:rPr lang="fr-FR" sz="2400" b="1" dirty="0" smtClean="0"/>
              <a:t/>
            </a:r>
            <a:br>
              <a:rPr lang="fr-FR" sz="2400" b="1" dirty="0" smtClean="0"/>
            </a:br>
            <a:endParaRPr lang="fr-FR" sz="2400" b="1" dirty="0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C1D81E-8B2A-42F5-8CF1-BEC89A0AFCF9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19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lnSpcReduction="10000"/>
          </a:bodyPr>
          <a:lstStyle/>
          <a:p>
            <a:r>
              <a:rPr lang="fr-FR" sz="2800" b="1" u="sng" dirty="0" smtClean="0">
                <a:solidFill>
                  <a:srgbClr val="FF0000"/>
                </a:solidFill>
              </a:rPr>
              <a:t>Terminaison 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tendon sur la face latérale du grand trochanter. L'insertion est continue avec celle du vaste latéral du quadriceps : continuité fonctionnelle entre les deux insertions </a:t>
            </a:r>
            <a:br>
              <a:rPr lang="fr-FR" sz="2800" b="1" dirty="0" smtClean="0"/>
            </a:br>
            <a:endParaRPr lang="fr-FR" sz="2800" b="1" dirty="0" smtClean="0"/>
          </a:p>
          <a:p>
            <a:r>
              <a:rPr lang="fr-FR" sz="2800" b="1" u="sng" dirty="0" smtClean="0">
                <a:solidFill>
                  <a:srgbClr val="FF0000"/>
                </a:solidFill>
              </a:rPr>
              <a:t>Actions </a:t>
            </a:r>
            <a:r>
              <a:rPr lang="fr-FR" sz="2800" b="1" u="sng" dirty="0" smtClean="0">
                <a:solidFill>
                  <a:srgbClr val="FF0000"/>
                </a:solidFill>
              </a:rPr>
              <a:t>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abducteur de la cuisse</a:t>
            </a:r>
            <a:br>
              <a:rPr lang="fr-FR" sz="2800" b="1" dirty="0" smtClean="0"/>
            </a:br>
            <a:r>
              <a:rPr lang="fr-FR" sz="2800" b="1" dirty="0" smtClean="0"/>
              <a:t>- stabilisateur frontal</a:t>
            </a:r>
            <a:br>
              <a:rPr lang="fr-FR" sz="2800" b="1" dirty="0" smtClean="0"/>
            </a:br>
            <a:r>
              <a:rPr lang="fr-FR" sz="2800" b="1" dirty="0" smtClean="0"/>
              <a:t>- il est impératif pour l'équilibre à la marche </a:t>
            </a:r>
            <a:br>
              <a:rPr lang="fr-FR" sz="2800" b="1" dirty="0" smtClean="0"/>
            </a:br>
            <a:endParaRPr lang="fr-FR" sz="2800" b="1" dirty="0" smtClean="0"/>
          </a:p>
          <a:p>
            <a:r>
              <a:rPr lang="fr-FR" sz="2800" b="1" u="sng" dirty="0" smtClean="0">
                <a:solidFill>
                  <a:srgbClr val="FF0000"/>
                </a:solidFill>
              </a:rPr>
              <a:t>Innervation </a:t>
            </a:r>
            <a:r>
              <a:rPr lang="fr-FR" sz="2800" b="1" u="sng" dirty="0" smtClean="0">
                <a:solidFill>
                  <a:srgbClr val="FF0000"/>
                </a:solidFill>
              </a:rPr>
              <a:t>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nerf </a:t>
            </a:r>
            <a:r>
              <a:rPr lang="fr-FR" sz="2800" b="1" dirty="0" err="1" smtClean="0"/>
              <a:t>glutéal</a:t>
            </a:r>
            <a:r>
              <a:rPr lang="fr-FR" sz="2800" b="1" dirty="0" smtClean="0"/>
              <a:t> supérieur</a:t>
            </a:r>
            <a:endParaRPr lang="fr-FR" sz="280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0C50B0-BE8F-49EF-8E89-ADBD5F8987BF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20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3166D8-1CB1-4E93-B793-8C211DC44CE8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21</a:t>
            </a:fld>
            <a:endParaRPr lang="fr-FR"/>
          </a:p>
        </p:txBody>
      </p:sp>
      <p:pic>
        <p:nvPicPr>
          <p:cNvPr id="19459" name="Picture 5" descr="grandfessi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60649"/>
            <a:ext cx="4585171" cy="65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25538"/>
          </a:xfrm>
        </p:spPr>
        <p:txBody>
          <a:bodyPr>
            <a:normAutofit fontScale="90000"/>
          </a:bodyPr>
          <a:lstStyle/>
          <a:p>
            <a:r>
              <a:rPr lang="fr-FR" sz="4000" b="1" u="sng" dirty="0" smtClean="0">
                <a:solidFill>
                  <a:schemeClr val="tx1"/>
                </a:solidFill>
              </a:rPr>
              <a:t>Muscle </a:t>
            </a:r>
            <a:r>
              <a:rPr lang="fr-FR" sz="4000" b="1" u="sng" dirty="0" smtClean="0">
                <a:solidFill>
                  <a:schemeClr val="tx1"/>
                </a:solidFill>
              </a:rPr>
              <a:t>grand </a:t>
            </a:r>
            <a:r>
              <a:rPr lang="fr-FR" sz="4000" b="1" u="sng" dirty="0" err="1" smtClean="0">
                <a:solidFill>
                  <a:schemeClr val="tx1"/>
                </a:solidFill>
              </a:rPr>
              <a:t>glutéal</a:t>
            </a:r>
            <a:r>
              <a:rPr lang="fr-FR" sz="4000" b="1" u="sng" dirty="0" smtClean="0">
                <a:solidFill>
                  <a:schemeClr val="tx1"/>
                </a:solidFill>
              </a:rPr>
              <a:t> (</a:t>
            </a:r>
            <a:r>
              <a:rPr lang="fr-FR" sz="4000" b="1" u="sng" dirty="0" smtClean="0">
                <a:solidFill>
                  <a:schemeClr val="tx1"/>
                </a:solidFill>
              </a:rPr>
              <a:t>grand </a:t>
            </a:r>
            <a:r>
              <a:rPr lang="fr-FR" sz="4000" b="1" u="sng" dirty="0" smtClean="0">
                <a:solidFill>
                  <a:schemeClr val="tx1"/>
                </a:solidFill>
              </a:rPr>
              <a:t>f</a:t>
            </a:r>
            <a:r>
              <a:rPr lang="fr-FR" sz="4000" b="1" u="sng" dirty="0" smtClean="0"/>
              <a:t>e</a:t>
            </a:r>
            <a:r>
              <a:rPr lang="fr-FR" sz="4000" b="1" u="sng" dirty="0" smtClean="0">
                <a:solidFill>
                  <a:schemeClr val="tx1"/>
                </a:solidFill>
              </a:rPr>
              <a:t>ssier</a:t>
            </a:r>
            <a:r>
              <a:rPr lang="fr-FR" sz="4000" b="1" dirty="0" smtClean="0"/>
              <a:t>)</a:t>
            </a:r>
            <a:br>
              <a:rPr lang="fr-FR" sz="4000" b="1" dirty="0" smtClean="0"/>
            </a:br>
            <a:endParaRPr lang="fr-FR" sz="4000" b="1" dirty="0" smtClean="0">
              <a:solidFill>
                <a:srgbClr val="FF0000"/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052513"/>
            <a:ext cx="8229600" cy="54625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fr-FR" b="1" u="sng" dirty="0" smtClean="0">
                <a:solidFill>
                  <a:srgbClr val="FF0000"/>
                </a:solidFill>
              </a:rPr>
              <a:t>Origine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sz="1800" b="1" dirty="0" smtClean="0">
                <a:solidFill>
                  <a:srgbClr val="FF0000"/>
                </a:solidFill>
              </a:rPr>
              <a:t>:</a:t>
            </a:r>
            <a:r>
              <a:rPr lang="fr-FR" sz="1800" b="1" dirty="0" smtClean="0"/>
              <a:t/>
            </a:r>
            <a:br>
              <a:rPr lang="fr-FR" sz="1800" b="1" dirty="0" smtClean="0"/>
            </a:br>
            <a:endParaRPr lang="fr-FR" sz="1800" b="1" dirty="0" smtClean="0"/>
          </a:p>
          <a:p>
            <a:pPr eaLnBrk="1" hangingPunct="1">
              <a:lnSpc>
                <a:spcPct val="80000"/>
              </a:lnSpc>
            </a:pPr>
            <a:r>
              <a:rPr lang="fr-FR" sz="1800" b="1" dirty="0" smtClean="0">
                <a:solidFill>
                  <a:srgbClr val="FF0000"/>
                </a:solidFill>
              </a:rPr>
              <a:t>- </a:t>
            </a:r>
            <a:r>
              <a:rPr lang="fr-FR" b="1" dirty="0" smtClean="0">
                <a:solidFill>
                  <a:srgbClr val="FF0000"/>
                </a:solidFill>
              </a:rPr>
              <a:t>faisceau profond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fosse iliaque externe en arrière de la ligne semi circulaire postérieure</a:t>
            </a:r>
            <a:br>
              <a:rPr lang="fr-FR" b="1" dirty="0" smtClean="0"/>
            </a:br>
            <a:r>
              <a:rPr lang="fr-FR" b="1" dirty="0" smtClean="0"/>
              <a:t>bord latéral du sacrum, tubercules </a:t>
            </a:r>
            <a:r>
              <a:rPr lang="fr-FR" b="1" dirty="0" err="1" smtClean="0"/>
              <a:t>ilio</a:t>
            </a:r>
            <a:r>
              <a:rPr lang="fr-FR" b="1" dirty="0" smtClean="0"/>
              <a:t> conjugués, se prolonge sur le grand ligament sacro-sciatique</a:t>
            </a:r>
            <a:br>
              <a:rPr lang="fr-FR" b="1" dirty="0" smtClean="0"/>
            </a:br>
            <a:endParaRPr lang="fr-FR" b="1" dirty="0" smtClean="0"/>
          </a:p>
          <a:p>
            <a:pPr eaLnBrk="1" hangingPunct="1">
              <a:lnSpc>
                <a:spcPct val="80000"/>
              </a:lnSpc>
            </a:pPr>
            <a:r>
              <a:rPr lang="fr-FR" b="1" dirty="0" smtClean="0">
                <a:solidFill>
                  <a:srgbClr val="FF0000"/>
                </a:solidFill>
              </a:rPr>
              <a:t>- </a:t>
            </a:r>
            <a:r>
              <a:rPr lang="fr-FR" b="1" dirty="0" smtClean="0">
                <a:solidFill>
                  <a:srgbClr val="FF0000"/>
                </a:solidFill>
              </a:rPr>
              <a:t>faisceau superficiel </a:t>
            </a:r>
            <a:r>
              <a:rPr lang="fr-FR" b="1" dirty="0" smtClean="0"/>
              <a:t>:</a:t>
            </a:r>
            <a:br>
              <a:rPr lang="fr-FR" b="1" dirty="0" smtClean="0"/>
            </a:br>
            <a:r>
              <a:rPr lang="fr-FR" b="1" dirty="0" smtClean="0"/>
              <a:t>1/5 postérieur de la crête iliaque, sur l'épine iliaque postéro supérieur</a:t>
            </a:r>
            <a:br>
              <a:rPr lang="fr-FR" b="1" dirty="0" smtClean="0"/>
            </a:br>
            <a:r>
              <a:rPr lang="fr-FR" b="1" dirty="0" smtClean="0"/>
              <a:t>crêtes sacrées et cornes du sacrum </a:t>
            </a:r>
            <a:br>
              <a:rPr lang="fr-FR" b="1" dirty="0" smtClean="0"/>
            </a:br>
            <a:endParaRPr lang="fr-FR" b="1" dirty="0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5D3C81-B4FF-42A2-AEB4-24D8B357A8D7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22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919936"/>
          </a:xfrm>
        </p:spPr>
        <p:txBody>
          <a:bodyPr>
            <a:normAutofit/>
          </a:bodyPr>
          <a:lstStyle/>
          <a:p>
            <a:r>
              <a:rPr lang="fr-FR" b="1" u="sng" dirty="0" smtClean="0">
                <a:solidFill>
                  <a:srgbClr val="FF0000"/>
                </a:solidFill>
              </a:rPr>
              <a:t>Trajet </a:t>
            </a:r>
            <a:r>
              <a:rPr lang="fr-FR" b="1" u="sng" dirty="0" smtClean="0"/>
              <a:t>:</a:t>
            </a:r>
            <a:r>
              <a:rPr lang="fr-FR" b="1" dirty="0" smtClean="0"/>
              <a:t> pour les deux faisceaux, les fibres convergent vers le bas, le dehors et l'avant </a:t>
            </a:r>
            <a:br>
              <a:rPr lang="fr-FR" b="1" dirty="0" smtClean="0"/>
            </a:br>
            <a:r>
              <a:rPr lang="fr-FR" b="1" u="sng" dirty="0" smtClean="0">
                <a:solidFill>
                  <a:srgbClr val="FF0000"/>
                </a:solidFill>
              </a:rPr>
              <a:t>Terminaison</a:t>
            </a:r>
            <a:r>
              <a:rPr lang="fr-FR" b="1" dirty="0" smtClean="0">
                <a:solidFill>
                  <a:srgbClr val="FF0000"/>
                </a:solidFill>
              </a:rPr>
              <a:t> :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u="sng" dirty="0" smtClean="0"/>
              <a:t>- faisceau profond</a:t>
            </a:r>
            <a:r>
              <a:rPr lang="fr-FR" b="1" dirty="0" smtClean="0"/>
              <a:t> : sur la tubérosité </a:t>
            </a:r>
            <a:r>
              <a:rPr lang="fr-FR" b="1" dirty="0" err="1" smtClean="0"/>
              <a:t>glutéale</a:t>
            </a:r>
            <a:r>
              <a:rPr lang="fr-FR" b="1" dirty="0" smtClean="0"/>
              <a:t> du fémur(crête du grand fessier de la ligne âpre)</a:t>
            </a:r>
          </a:p>
          <a:p>
            <a:r>
              <a:rPr lang="fr-FR" b="1" u="sng" dirty="0" smtClean="0"/>
              <a:t>- faisceau superficiel</a:t>
            </a:r>
            <a:r>
              <a:rPr lang="fr-FR" b="1" dirty="0" smtClean="0"/>
              <a:t> : sur la lame tendineuse du fascia </a:t>
            </a:r>
            <a:r>
              <a:rPr lang="fr-FR" b="1" dirty="0" err="1" smtClean="0"/>
              <a:t>lata</a:t>
            </a:r>
            <a:r>
              <a:rPr lang="fr-FR" b="1" dirty="0" smtClean="0"/>
              <a:t> </a:t>
            </a:r>
            <a:br>
              <a:rPr lang="fr-FR" b="1" dirty="0" smtClean="0"/>
            </a:br>
            <a:r>
              <a:rPr lang="fr-FR" b="1" u="sng" dirty="0" smtClean="0">
                <a:solidFill>
                  <a:srgbClr val="FF0000"/>
                </a:solidFill>
              </a:rPr>
              <a:t>Actions :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- extenseur de la cuisse sur le bassin. - rotateur externe de la cuisse. </a:t>
            </a:r>
          </a:p>
          <a:p>
            <a:r>
              <a:rPr lang="fr-FR" b="1" dirty="0" smtClean="0"/>
              <a:t>- abducteur et adducteur de la cuisse</a:t>
            </a:r>
            <a:br>
              <a:rPr lang="fr-FR" b="1" dirty="0" smtClean="0"/>
            </a:br>
            <a:r>
              <a:rPr lang="fr-FR" b="1" u="sng" dirty="0" smtClean="0">
                <a:solidFill>
                  <a:srgbClr val="FF0000"/>
                </a:solidFill>
              </a:rPr>
              <a:t>Innervation </a:t>
            </a:r>
            <a:r>
              <a:rPr lang="fr-FR" b="1" u="sng" dirty="0" smtClean="0"/>
              <a:t>:</a:t>
            </a:r>
            <a:r>
              <a:rPr lang="fr-FR" b="1" dirty="0" smtClean="0"/>
              <a:t> nerf </a:t>
            </a:r>
            <a:r>
              <a:rPr lang="fr-FR" b="1" dirty="0" err="1" smtClean="0"/>
              <a:t>glutéal</a:t>
            </a:r>
            <a:r>
              <a:rPr lang="fr-FR" b="1" dirty="0" smtClean="0"/>
              <a:t> inférieur (nerf fessier inférieur).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0051E-CD1E-48F9-80C8-AE17FAB76C02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23</a:t>
            </a:fld>
            <a:endParaRPr lang="fr-F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86409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4800" b="1" u="sng" dirty="0" smtClean="0">
                <a:solidFill>
                  <a:schemeClr val="tx1"/>
                </a:solidFill>
              </a:rPr>
              <a:t>Tenseur du fascia </a:t>
            </a:r>
            <a:r>
              <a:rPr lang="fr-FR" sz="4800" b="1" u="sng" dirty="0" err="1" smtClean="0">
                <a:solidFill>
                  <a:schemeClr val="tx1"/>
                </a:solidFill>
              </a:rPr>
              <a:t>lata</a:t>
            </a:r>
            <a:endParaRPr lang="fr-FR" sz="4800" b="1" u="sng" dirty="0" smtClean="0">
              <a:solidFill>
                <a:schemeClr val="tx1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505584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fr-FR" sz="2400" b="1" u="sng" dirty="0" smtClean="0">
                <a:solidFill>
                  <a:srgbClr val="FF0000"/>
                </a:solidFill>
              </a:rPr>
              <a:t>Origine </a:t>
            </a:r>
            <a:r>
              <a:rPr lang="fr-FR" sz="2400" b="1" dirty="0" smtClean="0">
                <a:solidFill>
                  <a:srgbClr val="FF0000"/>
                </a:solidFill>
              </a:rPr>
              <a:t>:</a:t>
            </a:r>
            <a:r>
              <a:rPr lang="fr-FR" sz="2400" b="1" dirty="0" smtClean="0"/>
              <a:t/>
            </a:r>
            <a:br>
              <a:rPr lang="fr-FR" sz="2400" b="1" dirty="0" smtClean="0"/>
            </a:br>
            <a:r>
              <a:rPr lang="fr-FR" sz="2400" b="1" dirty="0" smtClean="0"/>
              <a:t>- épine iliaque </a:t>
            </a:r>
            <a:r>
              <a:rPr lang="fr-FR" sz="2400" b="1" dirty="0" err="1" smtClean="0"/>
              <a:t>antéro</a:t>
            </a:r>
            <a:r>
              <a:rPr lang="fr-FR" sz="2400" b="1" dirty="0" smtClean="0"/>
              <a:t>-supérieure </a:t>
            </a:r>
            <a:br>
              <a:rPr lang="fr-FR" sz="2400" b="1" dirty="0" smtClean="0"/>
            </a:br>
            <a:endParaRPr lang="fr-FR" sz="2400" b="1" dirty="0" smtClean="0"/>
          </a:p>
          <a:p>
            <a:pPr eaLnBrk="1" hangingPunct="1">
              <a:lnSpc>
                <a:spcPct val="90000"/>
              </a:lnSpc>
            </a:pPr>
            <a:r>
              <a:rPr lang="fr-FR" sz="2400" b="1" u="sng" dirty="0" smtClean="0">
                <a:solidFill>
                  <a:srgbClr val="FF0000"/>
                </a:solidFill>
              </a:rPr>
              <a:t>Trajet</a:t>
            </a:r>
            <a:r>
              <a:rPr lang="fr-FR" sz="2400" b="1" u="sng" dirty="0" smtClean="0"/>
              <a:t> </a:t>
            </a:r>
            <a:r>
              <a:rPr lang="fr-FR" sz="2400" b="1" u="sng" dirty="0" smtClean="0"/>
              <a:t>:</a:t>
            </a:r>
            <a:br>
              <a:rPr lang="fr-FR" sz="2400" b="1" u="sng" dirty="0" smtClean="0"/>
            </a:br>
            <a:r>
              <a:rPr lang="fr-FR" sz="2400" b="1" dirty="0" smtClean="0"/>
              <a:t>- verticale à la face externe de la cuisse, il se prolonge, à partir du grand trochanter, sous la forme d'une bandelette fibreuse </a:t>
            </a:r>
            <a:br>
              <a:rPr lang="fr-FR" sz="2400" b="1" dirty="0" smtClean="0"/>
            </a:br>
            <a:endParaRPr lang="fr-FR" sz="2400" b="1" dirty="0" smtClean="0"/>
          </a:p>
          <a:p>
            <a:pPr eaLnBrk="1" hangingPunct="1">
              <a:lnSpc>
                <a:spcPct val="90000"/>
              </a:lnSpc>
            </a:pPr>
            <a:r>
              <a:rPr lang="fr-FR" sz="2400" b="1" u="sng" dirty="0" smtClean="0">
                <a:solidFill>
                  <a:srgbClr val="FF0000"/>
                </a:solidFill>
              </a:rPr>
              <a:t>Terminaison </a:t>
            </a:r>
            <a:r>
              <a:rPr lang="fr-FR" sz="2400" b="1" u="sng" dirty="0" smtClean="0">
                <a:solidFill>
                  <a:srgbClr val="FF0000"/>
                </a:solidFill>
              </a:rPr>
              <a:t>:</a:t>
            </a:r>
            <a:r>
              <a:rPr lang="fr-FR" sz="2400" b="1" u="sng" dirty="0" smtClean="0"/>
              <a:t/>
            </a:r>
            <a:br>
              <a:rPr lang="fr-FR" sz="2400" b="1" u="sng" dirty="0" smtClean="0"/>
            </a:br>
            <a:r>
              <a:rPr lang="fr-FR" sz="2400" b="1" dirty="0" smtClean="0"/>
              <a:t>- tubérosité externe du tibia </a:t>
            </a:r>
            <a:br>
              <a:rPr lang="fr-FR" sz="2400" b="1" dirty="0" smtClean="0"/>
            </a:br>
            <a:endParaRPr lang="fr-FR" sz="2400" b="1" dirty="0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B01EE3-1F39-4176-8896-A4B90B23DB37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24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991944"/>
          </a:xfrm>
        </p:spPr>
        <p:txBody>
          <a:bodyPr>
            <a:normAutofit/>
          </a:bodyPr>
          <a:lstStyle/>
          <a:p>
            <a:endParaRPr lang="fr-FR" u="sng" dirty="0" smtClean="0"/>
          </a:p>
          <a:p>
            <a:r>
              <a:rPr lang="fr-FR" sz="2800" b="1" u="sng" dirty="0" smtClean="0">
                <a:solidFill>
                  <a:srgbClr val="FF0000"/>
                </a:solidFill>
              </a:rPr>
              <a:t>Actions 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fixateur de la tête du fémur dans la cavité cotyloïde</a:t>
            </a:r>
            <a:br>
              <a:rPr lang="fr-FR" sz="2800" b="1" dirty="0" smtClean="0"/>
            </a:br>
            <a:r>
              <a:rPr lang="fr-FR" sz="2800" b="1" dirty="0" smtClean="0"/>
              <a:t>- fléchisseur</a:t>
            </a:r>
            <a:br>
              <a:rPr lang="fr-FR" sz="2800" b="1" dirty="0" smtClean="0"/>
            </a:br>
            <a:r>
              <a:rPr lang="fr-FR" sz="2800" b="1" dirty="0" smtClean="0"/>
              <a:t>- rotateur interne</a:t>
            </a:r>
            <a:br>
              <a:rPr lang="fr-FR" sz="2800" b="1" dirty="0" smtClean="0"/>
            </a:br>
            <a:r>
              <a:rPr lang="fr-FR" sz="2800" b="1" dirty="0" smtClean="0"/>
              <a:t>- abducteur cuisse/bassin </a:t>
            </a:r>
            <a:endParaRPr lang="fr-FR" sz="2800" b="1" u="sng" dirty="0" smtClean="0"/>
          </a:p>
          <a:p>
            <a:endParaRPr lang="fr-FR" sz="2800" b="1" u="sng" dirty="0" smtClean="0"/>
          </a:p>
          <a:p>
            <a:r>
              <a:rPr lang="fr-FR" sz="2800" b="1" u="sng" dirty="0" smtClean="0">
                <a:solidFill>
                  <a:srgbClr val="FF0000"/>
                </a:solidFill>
              </a:rPr>
              <a:t>Innervation :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/>
              <a:t>nerf </a:t>
            </a:r>
            <a:r>
              <a:rPr lang="fr-FR" sz="2800" b="1" dirty="0" err="1" smtClean="0"/>
              <a:t>glutéal</a:t>
            </a:r>
            <a:r>
              <a:rPr lang="fr-FR" sz="2800" b="1" dirty="0" smtClean="0"/>
              <a:t> supérieur (nerf fessier supérieur).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0051E-CD1E-48F9-80C8-AE17FAB76C02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25</a:t>
            </a:fld>
            <a:endParaRPr lang="fr-F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4608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489481-92A0-4F57-874D-4776827AAD28}" type="datetime1">
              <a:rPr lang="fr-FR" smtClean="0"/>
              <a:t>01/05/2021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26</a:t>
            </a:fld>
            <a:endParaRPr lang="fr-FR"/>
          </a:p>
        </p:txBody>
      </p:sp>
      <p:pic>
        <p:nvPicPr>
          <p:cNvPr id="46084" name="Picture 2" descr="Afficher l'image d'orig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6375" y="115888"/>
            <a:ext cx="5238750" cy="705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07F170-B5A2-454B-8E3A-103984816928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27</a:t>
            </a:fld>
            <a:endParaRPr lang="fr-FR"/>
          </a:p>
        </p:txBody>
      </p:sp>
      <p:pic>
        <p:nvPicPr>
          <p:cNvPr id="21507" name="Picture 5" descr="tenseurfascialat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6515" y="332657"/>
            <a:ext cx="3949474" cy="6258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92150"/>
            <a:ext cx="8229600" cy="5434013"/>
          </a:xfrm>
        </p:spPr>
        <p:txBody>
          <a:bodyPr>
            <a:normAutofit/>
          </a:bodyPr>
          <a:lstStyle/>
          <a:p>
            <a:pPr algn="ctr" eaLnBrk="1" hangingPunct="1"/>
            <a:r>
              <a:rPr lang="fr-FR" sz="8000" b="1" dirty="0" smtClean="0"/>
              <a:t>B- Groupe des  muscles </a:t>
            </a:r>
            <a:r>
              <a:rPr lang="fr-FR" sz="8000" b="1" dirty="0" err="1" smtClean="0"/>
              <a:t>pelvi</a:t>
            </a:r>
            <a:r>
              <a:rPr lang="fr-FR" sz="8000" b="1" dirty="0" smtClean="0"/>
              <a:t>-trochantériens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6CA3D3-FE44-420D-95D1-04A59AE136F3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28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B5766A-63CA-4B15-8596-A51F60639AB0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29</a:t>
            </a:fld>
            <a:endParaRPr lang="fr-FR"/>
          </a:p>
        </p:txBody>
      </p:sp>
      <p:pic>
        <p:nvPicPr>
          <p:cNvPr id="23555" name="Picture 5" descr="Semimembranosus_musc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113" y="0"/>
            <a:ext cx="2808287" cy="630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smtClean="0"/>
          </a:p>
        </p:txBody>
      </p:sp>
      <p:sp>
        <p:nvSpPr>
          <p:cNvPr id="26627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mtClean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AFF83-6D24-4F64-9502-7A1F6946396B}" type="datetime1">
              <a:rPr lang="fr-FR" smtClean="0"/>
              <a:t>01/05/2021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30</a:t>
            </a:fld>
            <a:endParaRPr lang="fr-FR"/>
          </a:p>
        </p:txBody>
      </p:sp>
      <p:pic>
        <p:nvPicPr>
          <p:cNvPr id="26628" name="Picture 2" descr="Afficher l'image d'orig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404813"/>
            <a:ext cx="7488237" cy="626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27664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sz="4800" b="1" u="sng" dirty="0" err="1" smtClean="0">
                <a:solidFill>
                  <a:schemeClr val="tx1"/>
                </a:solidFill>
              </a:rPr>
              <a:t>m.piriforme</a:t>
            </a:r>
            <a:r>
              <a:rPr lang="fr-FR" sz="4800" b="1" u="sng" dirty="0" smtClean="0">
                <a:solidFill>
                  <a:schemeClr val="tx1"/>
                </a:solidFill>
              </a:rPr>
              <a:t> (pyramidal)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5055840"/>
          </a:xfrm>
        </p:spPr>
        <p:txBody>
          <a:bodyPr>
            <a:normAutofit/>
          </a:bodyPr>
          <a:lstStyle/>
          <a:p>
            <a:pPr eaLnBrk="1" hangingPunct="1"/>
            <a:r>
              <a:rPr lang="fr-FR" sz="2800" b="1" u="sng" dirty="0" smtClean="0">
                <a:solidFill>
                  <a:srgbClr val="FF0000"/>
                </a:solidFill>
              </a:rPr>
              <a:t>Origine </a:t>
            </a:r>
            <a:r>
              <a:rPr lang="fr-FR" sz="2800" b="1" dirty="0" smtClean="0">
                <a:solidFill>
                  <a:srgbClr val="FF0000"/>
                </a:solidFill>
              </a:rPr>
              <a:t>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sur la face antérieure du sacrum de S2 à S4 en dehors des trous sacrées antérieurs 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Trajet 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oblique vers le dehors, l'avant et le bas 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Terminaison </a:t>
            </a:r>
            <a:r>
              <a:rPr lang="fr-FR" sz="2800" b="1" dirty="0" smtClean="0">
                <a:solidFill>
                  <a:srgbClr val="FF0000"/>
                </a:solidFill>
              </a:rPr>
              <a:t>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face supérieure du grand trochanter 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Actions 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abducteur</a:t>
            </a:r>
            <a:br>
              <a:rPr lang="fr-FR" sz="2800" b="1" dirty="0" smtClean="0"/>
            </a:br>
            <a:r>
              <a:rPr lang="fr-FR" sz="2800" b="1" dirty="0" smtClean="0"/>
              <a:t>- rotateur externe 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076622-DB7F-4B74-B99B-C9A7182702FD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31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ED2F2F-F48C-4729-9A23-6FFC77B332D3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32</a:t>
            </a:fld>
            <a:endParaRPr lang="fr-FR"/>
          </a:p>
        </p:txBody>
      </p:sp>
      <p:pic>
        <p:nvPicPr>
          <p:cNvPr id="28675" name="Picture 5" descr="pyramida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413" y="549275"/>
            <a:ext cx="4592637" cy="603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864096"/>
          </a:xfrm>
        </p:spPr>
        <p:txBody>
          <a:bodyPr/>
          <a:lstStyle/>
          <a:p>
            <a:pPr eaLnBrk="1" hangingPunct="1"/>
            <a:r>
              <a:rPr lang="fr-FR" sz="4800" b="1" u="sng" dirty="0" err="1" smtClean="0">
                <a:solidFill>
                  <a:schemeClr val="tx1"/>
                </a:solidFill>
              </a:rPr>
              <a:t>m.obturateur</a:t>
            </a:r>
            <a:r>
              <a:rPr lang="fr-FR" sz="4800" b="1" u="sng" dirty="0" smtClean="0">
                <a:solidFill>
                  <a:schemeClr val="tx1"/>
                </a:solidFill>
              </a:rPr>
              <a:t> interne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2776"/>
            <a:ext cx="8229600" cy="491182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fr-FR" sz="2800" b="1" u="sng" dirty="0" smtClean="0">
                <a:solidFill>
                  <a:srgbClr val="FF0000"/>
                </a:solidFill>
              </a:rPr>
              <a:t>Origine </a:t>
            </a:r>
            <a:r>
              <a:rPr lang="fr-FR" sz="2800" b="1" dirty="0" smtClean="0">
                <a:solidFill>
                  <a:srgbClr val="FF0000"/>
                </a:solidFill>
              </a:rPr>
              <a:t>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cadre interne du trou obturateur et de sa membrane obturatrice 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Trajet 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oblique en dedans et en arrière 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Terminaison</a:t>
            </a:r>
            <a:r>
              <a:rPr lang="fr-FR" sz="2800" b="1" dirty="0" smtClean="0">
                <a:solidFill>
                  <a:srgbClr val="FF0000"/>
                </a:solidFill>
              </a:rPr>
              <a:t> 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face interne du grand trochanter du fémur 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Actions </a:t>
            </a:r>
            <a:r>
              <a:rPr lang="fr-FR" sz="2800" b="1" dirty="0" smtClean="0">
                <a:solidFill>
                  <a:srgbClr val="FF0000"/>
                </a:solidFill>
              </a:rPr>
              <a:t>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puissant rotateur externe de la cuisse si le point d'appui est l'os iliaque</a:t>
            </a:r>
            <a:br>
              <a:rPr lang="fr-FR" sz="2800" b="1" dirty="0" smtClean="0"/>
            </a:br>
            <a:r>
              <a:rPr lang="fr-FR" sz="2800" b="1" dirty="0" smtClean="0"/>
              <a:t>- abducteur lorsqu'on est assis avec les jambes levées</a:t>
            </a:r>
          </a:p>
          <a:p>
            <a:pPr eaLnBrk="1" hangingPunct="1">
              <a:lnSpc>
                <a:spcPct val="80000"/>
              </a:lnSpc>
            </a:pPr>
            <a:r>
              <a:rPr lang="fr-FR" sz="2000" dirty="0" smtClean="0"/>
              <a:t>  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3C1C4C-5598-4900-BC7F-1E05E0588FB5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33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2A141C-726D-4B3B-9B4A-9EFB20A03087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34</a:t>
            </a:fld>
            <a:endParaRPr lang="fr-FR"/>
          </a:p>
        </p:txBody>
      </p:sp>
      <p:pic>
        <p:nvPicPr>
          <p:cNvPr id="30723" name="Picture 5" descr="obturateu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260649"/>
            <a:ext cx="8239125" cy="612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86409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4800" b="1" u="sng" dirty="0" err="1" smtClean="0">
                <a:solidFill>
                  <a:schemeClr val="tx1"/>
                </a:solidFill>
              </a:rPr>
              <a:t>m.obturateur</a:t>
            </a:r>
            <a:r>
              <a:rPr lang="fr-FR" sz="4800" b="1" u="sng" dirty="0" smtClean="0">
                <a:solidFill>
                  <a:schemeClr val="tx1"/>
                </a:solidFill>
              </a:rPr>
              <a:t> externe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Origine :</a:t>
            </a:r>
            <a:r>
              <a:rPr lang="fr-FR" sz="2800" b="1" u="sng" dirty="0" smtClean="0"/>
              <a:t/>
            </a:r>
            <a:br>
              <a:rPr lang="fr-FR" sz="2800" b="1" u="sng" dirty="0" smtClean="0"/>
            </a:br>
            <a:r>
              <a:rPr lang="fr-FR" sz="2800" b="1" dirty="0" smtClean="0"/>
              <a:t>- cadre externe du trou obturateur et de sa membrane obturatrice 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Trajet </a:t>
            </a:r>
            <a:r>
              <a:rPr lang="fr-FR" sz="2800" b="1" dirty="0" smtClean="0">
                <a:solidFill>
                  <a:srgbClr val="FF0000"/>
                </a:solidFill>
              </a:rPr>
              <a:t>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oblique en arrière et en dehors 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Terminaison :</a:t>
            </a:r>
            <a:r>
              <a:rPr lang="fr-FR" sz="2800" b="1" u="sng" dirty="0" smtClean="0"/>
              <a:t/>
            </a:r>
            <a:br>
              <a:rPr lang="fr-FR" sz="2800" b="1" u="sng" dirty="0" smtClean="0"/>
            </a:br>
            <a:r>
              <a:rPr lang="fr-FR" sz="2800" b="1" dirty="0" smtClean="0"/>
              <a:t>- face interne du grand trochanter en arrière et au dessous de l'obturateur interne 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Actions :</a:t>
            </a:r>
            <a:r>
              <a:rPr lang="fr-FR" sz="2800" b="1" u="sng" dirty="0" smtClean="0"/>
              <a:t/>
            </a:r>
            <a:br>
              <a:rPr lang="fr-FR" sz="2800" b="1" u="sng" dirty="0" smtClean="0"/>
            </a:br>
            <a:r>
              <a:rPr lang="fr-FR" sz="2800" b="1" dirty="0" smtClean="0"/>
              <a:t>- rotateur externe</a:t>
            </a:r>
            <a:br>
              <a:rPr lang="fr-FR" sz="2800" b="1" dirty="0" smtClean="0"/>
            </a:br>
            <a:r>
              <a:rPr lang="fr-FR" sz="2800" b="1" dirty="0" smtClean="0"/>
              <a:t>- adducteur faible</a:t>
            </a:r>
            <a:r>
              <a:rPr lang="fr-FR" sz="2800" dirty="0" smtClean="0"/>
              <a:t> 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AAA5AB-DB23-4212-B6D6-863C60851B52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35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EB5CF7-3B0A-4D0B-93AD-6A667582643C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36</a:t>
            </a:fld>
            <a:endParaRPr lang="fr-FR"/>
          </a:p>
        </p:txBody>
      </p:sp>
      <p:pic>
        <p:nvPicPr>
          <p:cNvPr id="32771" name="Picture 5" descr="obturateu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476250"/>
            <a:ext cx="7999413" cy="561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25538"/>
          </a:xfrm>
        </p:spPr>
        <p:txBody>
          <a:bodyPr/>
          <a:lstStyle/>
          <a:p>
            <a:pPr algn="ctr" eaLnBrk="1" hangingPunct="1"/>
            <a:r>
              <a:rPr lang="fr-FR" sz="4800" b="1" u="sng" dirty="0" err="1" smtClean="0">
                <a:solidFill>
                  <a:schemeClr val="tx1"/>
                </a:solidFill>
              </a:rPr>
              <a:t>m.jumeaux</a:t>
            </a:r>
            <a:endParaRPr lang="fr-FR" sz="4800" b="1" u="sng" dirty="0" smtClean="0">
              <a:solidFill>
                <a:schemeClr val="tx1"/>
              </a:solidFill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5000625"/>
          </a:xfrm>
        </p:spPr>
        <p:txBody>
          <a:bodyPr>
            <a:normAutofit/>
          </a:bodyPr>
          <a:lstStyle/>
          <a:p>
            <a:pPr eaLnBrk="1" hangingPunct="1"/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Origine :</a:t>
            </a:r>
            <a:r>
              <a:rPr lang="fr-FR" sz="2800" b="1" u="sng" dirty="0" smtClean="0"/>
              <a:t/>
            </a:r>
            <a:br>
              <a:rPr lang="fr-FR" sz="2800" b="1" u="sng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- jumeau supérieur </a:t>
            </a:r>
            <a:r>
              <a:rPr lang="fr-FR" sz="2800" b="1" dirty="0" smtClean="0"/>
              <a:t>: face externe de l'épine sciatique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- jumeau inférieur </a:t>
            </a:r>
            <a:r>
              <a:rPr lang="fr-FR" sz="2800" b="1" dirty="0" smtClean="0"/>
              <a:t>: tubérosité ischiatique 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Trajet </a:t>
            </a:r>
            <a:r>
              <a:rPr lang="fr-FR" sz="2800" b="1" dirty="0" smtClean="0">
                <a:solidFill>
                  <a:srgbClr val="FF0000"/>
                </a:solidFill>
              </a:rPr>
              <a:t>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suivent les bords de l'obturateur interne 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Terminaison </a:t>
            </a:r>
            <a:r>
              <a:rPr lang="fr-FR" sz="2800" b="1" dirty="0" smtClean="0">
                <a:solidFill>
                  <a:srgbClr val="FF0000"/>
                </a:solidFill>
              </a:rPr>
              <a:t>: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- face interne du grand trochanter du fémur </a:t>
            </a:r>
            <a:br>
              <a:rPr lang="fr-FR" sz="2800" b="1" dirty="0" smtClean="0"/>
            </a:br>
            <a:r>
              <a:rPr lang="fr-FR" sz="2800" b="1" u="sng" dirty="0" smtClean="0">
                <a:solidFill>
                  <a:srgbClr val="FF0000"/>
                </a:solidFill>
              </a:rPr>
              <a:t>Actions :</a:t>
            </a:r>
            <a:r>
              <a:rPr lang="fr-FR" sz="2800" b="1" u="sng" dirty="0" smtClean="0"/>
              <a:t/>
            </a:r>
            <a:br>
              <a:rPr lang="fr-FR" sz="2800" b="1" u="sng" dirty="0" smtClean="0"/>
            </a:br>
            <a:r>
              <a:rPr lang="fr-FR" sz="2800" b="1" dirty="0" smtClean="0"/>
              <a:t>- rotateur externe 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A0C417-2D39-4643-B2B5-EF232F5C2E29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37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3119CF-ED24-47CF-8E10-D6E3CC2B8EE7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38</a:t>
            </a:fld>
            <a:endParaRPr lang="fr-FR"/>
          </a:p>
        </p:txBody>
      </p:sp>
      <p:pic>
        <p:nvPicPr>
          <p:cNvPr id="34819" name="Picture 5" descr="obturateu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188641"/>
            <a:ext cx="8496300" cy="6264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1295400"/>
          </a:xfrm>
        </p:spPr>
        <p:txBody>
          <a:bodyPr/>
          <a:lstStyle/>
          <a:p>
            <a:pPr eaLnBrk="1" hangingPunct="1"/>
            <a:r>
              <a:rPr lang="fr-FR" b="1" u="sng" dirty="0" smtClean="0">
                <a:solidFill>
                  <a:schemeClr val="tx1"/>
                </a:solidFill>
              </a:rPr>
              <a:t>M carré fémoral (carré crural)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5000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b="1" u="sng" dirty="0" smtClean="0">
                <a:solidFill>
                  <a:srgbClr val="FF0000"/>
                </a:solidFill>
              </a:rPr>
              <a:t>Origine </a:t>
            </a:r>
            <a:r>
              <a:rPr lang="fr-FR" b="1" dirty="0" smtClean="0">
                <a:solidFill>
                  <a:srgbClr val="FF0000"/>
                </a:solidFill>
              </a:rPr>
              <a:t>: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- face externe de l'ischion en arrière de l'obturateur externe </a:t>
            </a:r>
            <a:br>
              <a:rPr lang="fr-FR" b="1" dirty="0" smtClean="0"/>
            </a:br>
            <a:r>
              <a:rPr lang="fr-FR" b="1" u="sng" dirty="0" smtClean="0">
                <a:solidFill>
                  <a:srgbClr val="FF0000"/>
                </a:solidFill>
              </a:rPr>
              <a:t>Trajet :</a:t>
            </a:r>
            <a:r>
              <a:rPr lang="fr-FR" b="1" u="sng" dirty="0" smtClean="0"/>
              <a:t/>
            </a:r>
            <a:br>
              <a:rPr lang="fr-FR" b="1" u="sng" dirty="0" smtClean="0"/>
            </a:br>
            <a:r>
              <a:rPr lang="fr-FR" b="1" dirty="0" smtClean="0"/>
              <a:t>- vers dehors </a:t>
            </a:r>
            <a:br>
              <a:rPr lang="fr-FR" b="1" dirty="0" smtClean="0"/>
            </a:br>
            <a:r>
              <a:rPr lang="fr-FR" b="1" u="sng" dirty="0" smtClean="0">
                <a:solidFill>
                  <a:srgbClr val="FF0000"/>
                </a:solidFill>
              </a:rPr>
              <a:t>Terminaison :</a:t>
            </a:r>
            <a:r>
              <a:rPr lang="fr-FR" b="1" u="sng" dirty="0" smtClean="0"/>
              <a:t/>
            </a:r>
            <a:br>
              <a:rPr lang="fr-FR" b="1" u="sng" dirty="0" smtClean="0"/>
            </a:br>
            <a:r>
              <a:rPr lang="fr-FR" b="1" dirty="0" smtClean="0"/>
              <a:t>- ligne inter trochantérienne postérieure </a:t>
            </a:r>
            <a:br>
              <a:rPr lang="fr-FR" b="1" dirty="0" smtClean="0"/>
            </a:br>
            <a:r>
              <a:rPr lang="fr-FR" b="1" u="sng" dirty="0" smtClean="0">
                <a:solidFill>
                  <a:srgbClr val="FF0000"/>
                </a:solidFill>
              </a:rPr>
              <a:t>Actions :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- rotateur externe</a:t>
            </a:r>
            <a:br>
              <a:rPr lang="fr-FR" b="1" dirty="0" smtClean="0"/>
            </a:br>
            <a:r>
              <a:rPr lang="fr-FR" b="1" dirty="0" smtClean="0"/>
              <a:t>- puissant adducteur de la cuisse 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647F00-48E8-4D66-B2B4-2E2305FBFF92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39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8361D5-7A4C-4352-AFEB-7E89EB49716E}" type="datetime1">
              <a:rPr lang="fr-FR" smtClean="0"/>
              <a:t>01/05/2021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40</a:t>
            </a:fld>
            <a:endParaRPr lang="fr-FR"/>
          </a:p>
        </p:txBody>
      </p:sp>
      <p:pic>
        <p:nvPicPr>
          <p:cNvPr id="36867" name="Picture 5" descr="obturateu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620713"/>
            <a:ext cx="8270875" cy="501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92150"/>
            <a:ext cx="8229600" cy="5434013"/>
          </a:xfrm>
        </p:spPr>
        <p:txBody>
          <a:bodyPr/>
          <a:lstStyle/>
          <a:p>
            <a:pPr eaLnBrk="1" hangingPunct="1"/>
            <a:r>
              <a:rPr lang="fr-FR" sz="2800" b="1" u="sng" dirty="0" smtClean="0">
                <a:solidFill>
                  <a:srgbClr val="FF0000"/>
                </a:solidFill>
              </a:rPr>
              <a:t>RÉFÉRENCES</a:t>
            </a:r>
            <a:endParaRPr lang="fr-FR" sz="2800" u="sng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fr-FR" sz="2000" dirty="0" smtClean="0"/>
              <a:t>1- BRIZON J, CASTAING J. Les Feuillets d’Anatomie. Muscles du membre inférieur. Fascicule V. Librairie </a:t>
            </a:r>
            <a:r>
              <a:rPr lang="fr-FR" sz="2000" dirty="0" err="1" smtClean="0"/>
              <a:t>Maloine</a:t>
            </a:r>
            <a:r>
              <a:rPr lang="fr-FR" sz="2000" dirty="0" smtClean="0"/>
              <a:t> SA. Paris 1953.</a:t>
            </a:r>
          </a:p>
          <a:p>
            <a:pPr eaLnBrk="1" hangingPunct="1"/>
            <a:r>
              <a:rPr lang="fr-FR" sz="2000" dirty="0" smtClean="0"/>
              <a:t>2- HAMMOUDI SS. Le cours d’Anatomie, appareil locomoteur 2, membre inférieur. Auto édition.2004.p162-171.</a:t>
            </a:r>
          </a:p>
          <a:p>
            <a:pPr eaLnBrk="1" hangingPunct="1"/>
            <a:r>
              <a:rPr lang="fr-FR" sz="2000" dirty="0" smtClean="0"/>
              <a:t>3- ROUVIERE H. Anatomie Humaine. Descriptive, topographique et fonctionnelle. Tome troisième. Membres. 13ème Ed. Masson éd. Paris 2002:p410-422.</a:t>
            </a:r>
            <a:endParaRPr lang="fr-FR" sz="2000" dirty="0" smtClean="0">
              <a:hlinkClick r:id="rId2"/>
            </a:endParaRPr>
          </a:p>
          <a:p>
            <a:pPr eaLnBrk="1" hangingPunct="1"/>
            <a:r>
              <a:rPr lang="fr-FR" sz="2000" dirty="0" smtClean="0">
                <a:hlinkClick r:id="rId2"/>
              </a:rPr>
              <a:t>http://fr.academic.ru/pictures/frwiki/71/Gluteus_maximus_muscle.PN</a:t>
            </a:r>
            <a:endParaRPr lang="fr-FR" sz="2000" dirty="0" smtClean="0">
              <a:hlinkClick r:id="rId3"/>
            </a:endParaRPr>
          </a:p>
          <a:p>
            <a:pPr eaLnBrk="1" hangingPunct="1"/>
            <a:r>
              <a:rPr lang="fr-FR" sz="2000" dirty="0" smtClean="0">
                <a:hlinkClick r:id="rId3"/>
              </a:rPr>
              <a:t>http://easy-look.fr/anatomie_descriptive/muscle_hanche.php</a:t>
            </a:r>
            <a:r>
              <a:rPr lang="fr-FR" dirty="0" smtClean="0"/>
              <a:t> 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33D90D-2CD1-44F5-A609-37D57FCF3105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41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908050"/>
            <a:ext cx="8229600" cy="4525963"/>
          </a:xfrm>
        </p:spPr>
        <p:txBody>
          <a:bodyPr/>
          <a:lstStyle/>
          <a:p>
            <a:pPr algn="ctr" eaLnBrk="1" hangingPunct="1"/>
            <a:r>
              <a:rPr lang="fr-FR" sz="9600" dirty="0" smtClean="0"/>
              <a:t>Merci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B96DDA-6E7D-4025-A837-8EF5D2292F30}" type="datetime1">
              <a:rPr lang="fr-FR" smtClean="0"/>
              <a:t>01/05/2021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smtClean="0"/>
              <a:t>m. bassin/ m region gluteale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01D3F-CE44-453E-BE23-9DA6F29FA687}" type="slidenum">
              <a:rPr lang="fr-FR" smtClean="0"/>
              <a:pPr>
                <a:defRPr/>
              </a:pPr>
              <a:t>42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518</TotalTime>
  <Words>585</Words>
  <Application>Microsoft Office PowerPoint</Application>
  <PresentationFormat>Affichage à l'écran (4:3)</PresentationFormat>
  <Paragraphs>198</Paragraphs>
  <Slides>42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43" baseType="lpstr">
      <vt:lpstr>Débit</vt:lpstr>
      <vt:lpstr>Diapositive 1</vt:lpstr>
      <vt:lpstr>Diapositive 2</vt:lpstr>
      <vt:lpstr>Diapositive 3</vt:lpstr>
      <vt:lpstr>Diapositive 4</vt:lpstr>
      <vt:lpstr>Diapositive 5</vt:lpstr>
      <vt:lpstr>Muscle psoas-iliaque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Muscle petit glutéal (petit fessier)</vt:lpstr>
      <vt:lpstr>Diapositive 17</vt:lpstr>
      <vt:lpstr>Diapositive 18</vt:lpstr>
      <vt:lpstr>Diapositive 19</vt:lpstr>
      <vt:lpstr>Diapositive 20</vt:lpstr>
      <vt:lpstr>Diapositive 21</vt:lpstr>
      <vt:lpstr>Muscle grand glutéal (grand fessier) </vt:lpstr>
      <vt:lpstr>Diapositive 23</vt:lpstr>
      <vt:lpstr>Tenseur du fascia lata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m.piriforme (pyramidal)</vt:lpstr>
      <vt:lpstr>Diapositive 32</vt:lpstr>
      <vt:lpstr>m.obturateur interne</vt:lpstr>
      <vt:lpstr>Diapositive 34</vt:lpstr>
      <vt:lpstr>m.obturateur externe</vt:lpstr>
      <vt:lpstr>Diapositive 36</vt:lpstr>
      <vt:lpstr>m.jumeaux</vt:lpstr>
      <vt:lpstr>Diapositive 38</vt:lpstr>
      <vt:lpstr>M carré fémoral (carré crural)</vt:lpstr>
      <vt:lpstr>Diapositive 40</vt:lpstr>
      <vt:lpstr>Diapositive 41</vt:lpstr>
      <vt:lpstr>Diapositive 42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PC</dc:creator>
  <cp:lastModifiedBy>pc</cp:lastModifiedBy>
  <cp:revision>217</cp:revision>
  <dcterms:created xsi:type="dcterms:W3CDTF">2010-02-16T18:54:55Z</dcterms:created>
  <dcterms:modified xsi:type="dcterms:W3CDTF">2021-05-01T15:55:27Z</dcterms:modified>
</cp:coreProperties>
</file>