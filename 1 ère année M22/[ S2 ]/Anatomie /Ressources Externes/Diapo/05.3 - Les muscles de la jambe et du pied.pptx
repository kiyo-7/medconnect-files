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4" roundtripDataSignature="AMtx7mjYWjg7508ERpztMDrg/G8y8Un2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2D8EF6-0EB8-4C9A-83CD-A3B7B3AC911A}">
  <a:tblStyle styleId="{732D8EF6-0EB8-4C9A-83CD-A3B7B3AC91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Relationship Id="rId4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485804" y="785794"/>
            <a:ext cx="8229600" cy="4214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6000"/>
              <a:buFont typeface="Calibri"/>
              <a:buNone/>
            </a:pPr>
            <a:r>
              <a:rPr b="1" lang="fr-FR" sz="6000">
                <a:solidFill>
                  <a:srgbClr val="953734"/>
                </a:solidFill>
              </a:rPr>
              <a:t>LES MUSCLES </a:t>
            </a:r>
            <a:br>
              <a:rPr b="1" lang="fr-FR" sz="6000">
                <a:solidFill>
                  <a:srgbClr val="953734"/>
                </a:solidFill>
              </a:rPr>
            </a:br>
            <a:r>
              <a:rPr b="1" lang="fr-FR" sz="6000">
                <a:solidFill>
                  <a:srgbClr val="953734"/>
                </a:solidFill>
              </a:rPr>
              <a:t>DE</a:t>
            </a:r>
            <a:br>
              <a:rPr b="1" lang="fr-FR" sz="6000">
                <a:solidFill>
                  <a:srgbClr val="953734"/>
                </a:solidFill>
              </a:rPr>
            </a:br>
            <a:r>
              <a:rPr b="1" lang="fr-FR" sz="6000">
                <a:solidFill>
                  <a:srgbClr val="953734"/>
                </a:solidFill>
              </a:rPr>
              <a:t> LA JAMBE ET DU PIED</a:t>
            </a:r>
            <a:endParaRPr sz="6000">
              <a:solidFill>
                <a:srgbClr val="953734"/>
              </a:solidFill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41834" y="5572148"/>
            <a:ext cx="3972976" cy="1143000"/>
          </a:xfrm>
          <a:prstGeom prst="rect">
            <a:avLst/>
          </a:prstGeom>
          <a:solidFill>
            <a:srgbClr val="E5B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139D"/>
              </a:buClr>
              <a:buSzPct val="100000"/>
              <a:buFont typeface="Calibri"/>
              <a:buNone/>
            </a:pPr>
            <a:r>
              <a:rPr b="1" i="1" lang="fr-FR" sz="4400" u="sng" cap="none" strike="noStrike">
                <a:solidFill>
                  <a:srgbClr val="BD139D"/>
                </a:solidFill>
                <a:latin typeface="Calibri"/>
                <a:ea typeface="Calibri"/>
                <a:cs typeface="Calibri"/>
                <a:sym typeface="Calibri"/>
              </a:rPr>
              <a:t>Dr BOUZIDI ESMA</a:t>
            </a:r>
            <a:endParaRPr b="1" i="1" sz="4400" u="sng" cap="none" strike="noStrike">
              <a:solidFill>
                <a:srgbClr val="BD139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6" name="Google Shape;96;p2"/>
          <p:cNvSpPr txBox="1"/>
          <p:nvPr>
            <p:ph type="title"/>
          </p:nvPr>
        </p:nvSpPr>
        <p:spPr>
          <a:xfrm>
            <a:off x="485804" y="785794"/>
            <a:ext cx="8229600" cy="4214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6000"/>
              <a:buFont typeface="Calibri"/>
              <a:buNone/>
            </a:pPr>
            <a:r>
              <a:rPr b="1" lang="fr-FR" sz="6000">
                <a:solidFill>
                  <a:srgbClr val="953734"/>
                </a:solidFill>
              </a:rPr>
              <a:t>LES MUSCLES </a:t>
            </a:r>
            <a:br>
              <a:rPr b="1" lang="fr-FR" sz="6000">
                <a:solidFill>
                  <a:srgbClr val="953734"/>
                </a:solidFill>
              </a:rPr>
            </a:br>
            <a:r>
              <a:rPr b="1" lang="fr-FR" sz="6000">
                <a:solidFill>
                  <a:srgbClr val="953734"/>
                </a:solidFill>
              </a:rPr>
              <a:t>DE</a:t>
            </a:r>
            <a:br>
              <a:rPr b="1" lang="fr-FR" sz="6000">
                <a:solidFill>
                  <a:srgbClr val="953734"/>
                </a:solidFill>
              </a:rPr>
            </a:br>
            <a:r>
              <a:rPr b="1" lang="fr-FR" sz="6000">
                <a:solidFill>
                  <a:srgbClr val="953734"/>
                </a:solidFill>
              </a:rPr>
              <a:t> LA JAMBE</a:t>
            </a:r>
            <a:endParaRPr sz="6000">
              <a:solidFill>
                <a:srgbClr val="95373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5466" r="0" t="4286"/>
          <a:stretch/>
        </p:blipFill>
        <p:spPr>
          <a:xfrm>
            <a:off x="4445874" y="1665613"/>
            <a:ext cx="4516857" cy="385332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157583" y="1600202"/>
            <a:ext cx="4227352" cy="1828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fr-FR" sz="2500"/>
              <a:t>La jambe est divisée en </a:t>
            </a:r>
            <a:r>
              <a:rPr b="1" lang="fr-FR" sz="2500">
                <a:solidFill>
                  <a:srgbClr val="C00000"/>
                </a:solidFill>
              </a:rPr>
              <a:t>3 loges </a:t>
            </a:r>
            <a:r>
              <a:rPr lang="fr-FR" sz="2500"/>
              <a:t>musculaires par les 2 septum intermusculaires :</a:t>
            </a:r>
            <a:endParaRPr/>
          </a:p>
          <a:p>
            <a:pPr indent="-342900" lvl="0" marL="3429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fr-FR" sz="2500"/>
              <a:t>                antérieur </a:t>
            </a:r>
            <a:endParaRPr/>
          </a:p>
          <a:p>
            <a:pPr indent="-342900" lvl="0" marL="342900" rtl="0" algn="l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fr-FR" sz="2500"/>
              <a:t>              et postérieur.</a:t>
            </a:r>
            <a:endParaRPr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4" name="Google Shape;104;p3"/>
          <p:cNvSpPr txBox="1"/>
          <p:nvPr>
            <p:ph type="title"/>
          </p:nvPr>
        </p:nvSpPr>
        <p:spPr>
          <a:xfrm>
            <a:off x="1418845" y="294090"/>
            <a:ext cx="6558563" cy="82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MUSCLES DE LA JAMBE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09835" y="4082106"/>
            <a:ext cx="630631" cy="1959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25" lIns="81250" spcFirstLastPara="1" rIns="81250" wrap="square" tIns="40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09835" y="4800523"/>
            <a:ext cx="630631" cy="1959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25" lIns="81250" spcFirstLastPara="1" rIns="81250" wrap="square" tIns="40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2" name="Google Shape;112;p4"/>
          <p:cNvSpPr txBox="1"/>
          <p:nvPr>
            <p:ph type="title"/>
          </p:nvPr>
        </p:nvSpPr>
        <p:spPr>
          <a:xfrm>
            <a:off x="1418845" y="294090"/>
            <a:ext cx="6558563" cy="82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lang="fr-FR" sz="3600">
                <a:solidFill>
                  <a:srgbClr val="FF0000"/>
                </a:solidFill>
              </a:rPr>
              <a:t>MUSCLES DE LA JAMBE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8501" r="0" t="0"/>
          <a:stretch/>
        </p:blipFill>
        <p:spPr>
          <a:xfrm>
            <a:off x="1357290" y="1214422"/>
            <a:ext cx="6429419" cy="5382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2932360" y="87586"/>
            <a:ext cx="4288291" cy="555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b="1" lang="fr-FR" sz="3200">
                <a:solidFill>
                  <a:srgbClr val="FF0000"/>
                </a:solidFill>
              </a:rPr>
              <a:t>LOGE ANTERIEURE</a:t>
            </a:r>
            <a:endParaRPr/>
          </a:p>
        </p:txBody>
      </p:sp>
      <p:graphicFrame>
        <p:nvGraphicFramePr>
          <p:cNvPr id="119" name="Google Shape;119;p5"/>
          <p:cNvGraphicFramePr/>
          <p:nvPr/>
        </p:nvGraphicFramePr>
        <p:xfrm>
          <a:off x="83096" y="6696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{732D8EF6-0EB8-4C9A-83CD-A3B7B3AC911A}</a:tableStyleId>
              </a:tblPr>
              <a:tblGrid>
                <a:gridCol w="1122225"/>
                <a:gridCol w="3117300"/>
                <a:gridCol w="1510650"/>
                <a:gridCol w="1731350"/>
                <a:gridCol w="1475425"/>
              </a:tblGrid>
              <a:tr h="32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 u="none" cap="none" strike="noStrike"/>
                        <a:t>Muscle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u="none" cap="none" strike="noStrike"/>
                        <a:t>Origine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Terminaison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Action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Innervation</a:t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10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Muscle Tibial</a:t>
                      </a: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 antérieur</a:t>
                      </a:r>
                      <a:endParaRPr b="1" sz="16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 Tubercule infracondylaire lat-du tibia (de Gerdy).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 Crête oblique et face latérale du tibia. 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1er cunéiforme et M1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fléchisseur,  adducteur et rotateur médial du pied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plexus sacré</a:t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10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Muscle Long</a:t>
                      </a: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 extenseur de l’hallux</a:t>
                      </a:r>
                      <a:endParaRPr b="1" sz="16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 Face médiale de la fibula.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 Membrane interosseuse.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•P1 et P2 de l’hallux.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Extenseur de P2 sur P1 et P1 sur M1 et  fléchisseur du pied sur jambe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          //</a:t>
                      </a:r>
                      <a:endParaRPr sz="1600"/>
                    </a:p>
                  </a:txBody>
                  <a:tcPr marT="40125" marB="40125" marR="79800" marL="79800"/>
                </a:tc>
              </a:tr>
            </a:tbl>
          </a:graphicData>
        </a:graphic>
      </p:graphicFrame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819" y="3178173"/>
            <a:ext cx="1433955" cy="363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258" y="3366287"/>
            <a:ext cx="1558647" cy="34917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6"/>
          <p:cNvGraphicFramePr/>
          <p:nvPr/>
        </p:nvGraphicFramePr>
        <p:xfrm>
          <a:off x="83096" y="2261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{732D8EF6-0EB8-4C9A-83CD-A3B7B3AC911A}</a:tableStyleId>
              </a:tblPr>
              <a:tblGrid>
                <a:gridCol w="1122225"/>
                <a:gridCol w="2618525"/>
                <a:gridCol w="1620975"/>
                <a:gridCol w="1995100"/>
                <a:gridCol w="1579400"/>
              </a:tblGrid>
              <a:tr h="36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Calibri"/>
                        <a:buNone/>
                      </a:pPr>
                      <a:r>
                        <a:rPr lang="fr-FR" sz="1700"/>
                        <a:t>Muscle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Origine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Terminaison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Action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Innervation</a:t>
                      </a:r>
                      <a:endParaRPr sz="1800"/>
                    </a:p>
                  </a:txBody>
                  <a:tcPr marT="40125" marB="40125" marR="79800" marL="79800"/>
                </a:tc>
              </a:tr>
              <a:tr h="1485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800">
                          <a:solidFill>
                            <a:srgbClr val="E0108C"/>
                          </a:solidFill>
                        </a:rPr>
                        <a:t>Muscle Long extenseur des orteils</a:t>
                      </a:r>
                      <a:endParaRPr b="1" sz="18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•Condyle latéral du tibia.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 • Face médiale de la fibula.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Membrane interosseuse crurale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4 tendons destinés aux 4 derniers orteils ( P2 et P3)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Extenseurs des orteils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Fléchisseur et rotateur latéral du pied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plexus sacré</a:t>
                      </a:r>
                      <a:endParaRPr sz="1800"/>
                    </a:p>
                  </a:txBody>
                  <a:tcPr marT="40125" marB="40125" marR="79800" marL="79800"/>
                </a:tc>
              </a:tr>
              <a:tr h="642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800">
                          <a:solidFill>
                            <a:srgbClr val="E0108C"/>
                          </a:solidFill>
                        </a:rPr>
                        <a:t>3</a:t>
                      </a:r>
                      <a:r>
                        <a:rPr b="1" baseline="30000" lang="fr-FR" sz="1800">
                          <a:solidFill>
                            <a:srgbClr val="E0108C"/>
                          </a:solidFill>
                        </a:rPr>
                        <a:t>ème</a:t>
                      </a:r>
                      <a:r>
                        <a:rPr b="1" lang="fr-FR" sz="1800">
                          <a:solidFill>
                            <a:srgbClr val="E0108C"/>
                          </a:solidFill>
                        </a:rPr>
                        <a:t>    Fibulaire</a:t>
                      </a:r>
                      <a:endParaRPr b="1" sz="18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Face médiale de la fibula. 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M5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•Fléchisseur et abducteur du pied. 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        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           //</a:t>
                      </a:r>
                      <a:endParaRPr sz="1800"/>
                    </a:p>
                  </a:txBody>
                  <a:tcPr marT="40125" marB="40125" marR="79800" marL="79800"/>
                </a:tc>
              </a:tr>
            </a:tbl>
          </a:graphicData>
        </a:graphic>
      </p:graphicFrame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4697" t="1515"/>
          <a:stretch/>
        </p:blipFill>
        <p:spPr>
          <a:xfrm>
            <a:off x="955939" y="2739154"/>
            <a:ext cx="1932723" cy="407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41445" t="21966"/>
          <a:stretch/>
        </p:blipFill>
        <p:spPr>
          <a:xfrm>
            <a:off x="6442377" y="2676441"/>
            <a:ext cx="1745685" cy="4139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 rot="-10616992">
            <a:off x="7692172" y="3696450"/>
            <a:ext cx="623459" cy="12542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7"/>
          <p:cNvGraphicFramePr/>
          <p:nvPr/>
        </p:nvGraphicFramePr>
        <p:xfrm>
          <a:off x="83096" y="571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{732D8EF6-0EB8-4C9A-83CD-A3B7B3AC911A}</a:tableStyleId>
              </a:tblPr>
              <a:tblGrid>
                <a:gridCol w="997525"/>
                <a:gridCol w="2743225"/>
                <a:gridCol w="1558650"/>
                <a:gridCol w="2119750"/>
                <a:gridCol w="1517050"/>
              </a:tblGrid>
              <a:tr h="36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Calibri"/>
                        <a:buNone/>
                      </a:pPr>
                      <a:r>
                        <a:rPr lang="fr-FR" sz="1700"/>
                        <a:t>Muscle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Origine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Terminaison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Action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Innervation</a:t>
                      </a:r>
                      <a:endParaRPr sz="1800"/>
                    </a:p>
                  </a:txBody>
                  <a:tcPr marT="40125" marB="40125" marR="79800" marL="79800"/>
                </a:tc>
              </a:tr>
              <a:tr h="92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800">
                          <a:solidFill>
                            <a:srgbClr val="E0108C"/>
                          </a:solidFill>
                        </a:rPr>
                        <a:t>Muscle Court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800">
                          <a:solidFill>
                            <a:srgbClr val="E0108C"/>
                          </a:solidFill>
                        </a:rPr>
                        <a:t>fibulaire</a:t>
                      </a:r>
                      <a:endParaRPr b="1" sz="18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Face latérale de la fibula</a:t>
                      </a:r>
                      <a:r>
                        <a:rPr lang="fr-FR" sz="1800"/>
                        <a:t> </a:t>
                      </a:r>
                      <a:r>
                        <a:rPr lang="fr-FR" sz="1800"/>
                        <a:t> et Septums intermusculaires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•M5.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Expansion pour M4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abducteur et rotateur latéral du pied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plexus sacré</a:t>
                      </a:r>
                      <a:endParaRPr sz="1800"/>
                    </a:p>
                  </a:txBody>
                  <a:tcPr marT="40125" marB="40125" marR="79800" marL="79800"/>
                </a:tc>
              </a:tr>
              <a:tr h="92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800">
                          <a:solidFill>
                            <a:srgbClr val="E0108C"/>
                          </a:solidFill>
                        </a:rPr>
                        <a:t>Muscle Long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800">
                          <a:solidFill>
                            <a:srgbClr val="E0108C"/>
                          </a:solidFill>
                        </a:rPr>
                        <a:t>fibulaire</a:t>
                      </a:r>
                      <a:endParaRPr b="1" sz="18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•Condyle latéral du tibia.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Tête et face lat- de la fibula. 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M1</a:t>
                      </a:r>
                      <a:r>
                        <a:rPr lang="fr-FR" sz="1800"/>
                        <a:t> ,</a:t>
                      </a:r>
                      <a:r>
                        <a:rPr lang="fr-FR" sz="1800"/>
                        <a:t>Expansion pour le 1er cuneiforme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•Extenseur du pied.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• abducteur et rotateur lat- du pied</a:t>
                      </a:r>
                      <a:endParaRPr sz="18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         //</a:t>
                      </a:r>
                      <a:endParaRPr sz="1800"/>
                    </a:p>
                  </a:txBody>
                  <a:tcPr marT="40125" marB="40125" marR="79800" marL="79800"/>
                </a:tc>
              </a:tr>
            </a:tbl>
          </a:graphicData>
        </a:graphic>
      </p:graphicFrame>
      <p:sp>
        <p:nvSpPr>
          <p:cNvPr id="137" name="Google Shape;137;p7"/>
          <p:cNvSpPr txBox="1"/>
          <p:nvPr>
            <p:ph type="title"/>
          </p:nvPr>
        </p:nvSpPr>
        <p:spPr>
          <a:xfrm>
            <a:off x="457201" y="59802"/>
            <a:ext cx="8229600" cy="583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b="1" lang="fr-FR" sz="3200">
                <a:solidFill>
                  <a:srgbClr val="FF0000"/>
                </a:solidFill>
              </a:rPr>
              <a:t>LOGE LATERALE</a:t>
            </a:r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648" y="2864581"/>
            <a:ext cx="1496301" cy="393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1744" y="2801867"/>
            <a:ext cx="1841274" cy="399341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8"/>
          <p:cNvGraphicFramePr/>
          <p:nvPr/>
        </p:nvGraphicFramePr>
        <p:xfrm>
          <a:off x="335350" y="585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{732D8EF6-0EB8-4C9A-83CD-A3B7B3AC911A}</a:tableStyleId>
              </a:tblPr>
              <a:tblGrid>
                <a:gridCol w="1272675"/>
                <a:gridCol w="1463250"/>
                <a:gridCol w="1907350"/>
                <a:gridCol w="2045475"/>
                <a:gridCol w="1836175"/>
              </a:tblGrid>
              <a:tr h="36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/>
                        <a:t>Muscle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Origine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Terminaison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Action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Innervation</a:t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64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Muscle Poplité</a:t>
                      </a:r>
                      <a:endParaRPr b="1" sz="16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condyle latéral du fémur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Surface poplité (face post-</a:t>
                      </a:r>
                      <a:r>
                        <a:rPr lang="fr-FR" sz="1600"/>
                        <a:t> tibia)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Fléchisseur et rotateur médial de la jambe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plexus    sacré</a:t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92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Muscle Long fléchisseur</a:t>
                      </a: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 des orteils</a:t>
                      </a:r>
                      <a:endParaRPr b="1" sz="16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Face postérieur du tibia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4 tendons sur P3 des 4 derniers orteils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Fléchisseur des orteils</a:t>
                      </a:r>
                      <a:r>
                        <a:rPr lang="fr-FR" sz="1600"/>
                        <a:t> et </a:t>
                      </a:r>
                      <a:r>
                        <a:rPr lang="fr-FR" sz="1600"/>
                        <a:t>Extenseur du pied.     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         //</a:t>
                      </a:r>
                      <a:endParaRPr sz="1600"/>
                    </a:p>
                  </a:txBody>
                  <a:tcPr marT="40125" marB="40125" marR="79800" marL="79800"/>
                </a:tc>
              </a:tr>
            </a:tbl>
          </a:graphicData>
        </a:graphic>
      </p:graphicFrame>
      <p:sp>
        <p:nvSpPr>
          <p:cNvPr id="146" name="Google Shape;146;p8"/>
          <p:cNvSpPr txBox="1"/>
          <p:nvPr>
            <p:ph type="title"/>
          </p:nvPr>
        </p:nvSpPr>
        <p:spPr>
          <a:xfrm>
            <a:off x="1500166" y="80032"/>
            <a:ext cx="6468868" cy="562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b="1" lang="fr-FR" sz="3200">
                <a:solidFill>
                  <a:srgbClr val="FF0000"/>
                </a:solidFill>
              </a:rPr>
              <a:t>LOGE POSTERIEURE : groupe profon</a:t>
            </a:r>
            <a:r>
              <a:rPr b="1" lang="fr-FR" sz="2500">
                <a:solidFill>
                  <a:srgbClr val="FF0000"/>
                </a:solidFill>
              </a:rPr>
              <a:t>d</a:t>
            </a:r>
            <a:endParaRPr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6941" y="2655575"/>
            <a:ext cx="2610195" cy="415994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3562990" y="3679853"/>
            <a:ext cx="685805" cy="376280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570879" y="4557839"/>
            <a:ext cx="685805" cy="313567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259554" y="3805280"/>
            <a:ext cx="249383" cy="6271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258119" y="4620553"/>
            <a:ext cx="124692" cy="12542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9"/>
          <p:cNvGraphicFramePr/>
          <p:nvPr/>
        </p:nvGraphicFramePr>
        <p:xfrm>
          <a:off x="377659" y="1454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{732D8EF6-0EB8-4C9A-83CD-A3B7B3AC911A}</a:tableStyleId>
              </a:tblPr>
              <a:tblGrid>
                <a:gridCol w="1230375"/>
                <a:gridCol w="1765775"/>
                <a:gridCol w="2018025"/>
                <a:gridCol w="1954950"/>
                <a:gridCol w="1324325"/>
              </a:tblGrid>
              <a:tr h="36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/>
                        <a:t>Muscle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Origine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/>
                        <a:t>Terminaison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Action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Innervation</a:t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113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Muscle Tibial postérieur</a:t>
                      </a:r>
                      <a:endParaRPr b="1" sz="16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fr-FR" sz="1600"/>
                        <a:t>Face postérieur du tibia.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 Face médiale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de la fibula</a:t>
                      </a:r>
                      <a:r>
                        <a:rPr lang="fr-FR" sz="1600"/>
                        <a:t> et </a:t>
                      </a:r>
                      <a:r>
                        <a:rPr lang="fr-FR" sz="1600"/>
                        <a:t>MIO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 Os naviculaire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 les 3 cunéiformes , sur M2, M3 et M4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Adducteur et rotateur médial du pied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plexus sacré</a:t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92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Muscle Long</a:t>
                      </a: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 fléchisseur de l’hallux</a:t>
                      </a:r>
                      <a:endParaRPr b="1" sz="16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Face postérieur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de la fibula</a:t>
                      </a:r>
                      <a:r>
                        <a:rPr lang="fr-FR" sz="1600"/>
                        <a:t> et </a:t>
                      </a:r>
                      <a:r>
                        <a:rPr lang="fr-FR" sz="1600"/>
                        <a:t>MIO. 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P2 de l’hallux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Fléchisseur de P2 sur P1 puis P1 sur M1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    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         //</a:t>
                      </a:r>
                      <a:endParaRPr sz="1600"/>
                    </a:p>
                  </a:txBody>
                  <a:tcPr marT="40125" marB="40125" marR="79800" marL="79800"/>
                </a:tc>
              </a:tr>
            </a:tbl>
          </a:graphicData>
        </a:graphic>
      </p:graphicFrame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3353" y="2655575"/>
            <a:ext cx="2743218" cy="415994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4946075" y="4432414"/>
            <a:ext cx="685805" cy="250853"/>
          </a:xfrm>
          <a:prstGeom prst="ellipse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821383" y="5184972"/>
            <a:ext cx="810497" cy="313567"/>
          </a:xfrm>
          <a:prstGeom prst="ellipse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 rot="10800000">
            <a:off x="4572000" y="4495127"/>
            <a:ext cx="374075" cy="4013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 flipH="1">
            <a:off x="4508938" y="5350535"/>
            <a:ext cx="311730" cy="4013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928662" y="100239"/>
            <a:ext cx="7358114" cy="520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b="1" lang="fr-FR" sz="3200">
                <a:solidFill>
                  <a:srgbClr val="FF0000"/>
                </a:solidFill>
              </a:rPr>
              <a:t>LOGE POSTERIEURE : groupe superficiel</a:t>
            </a:r>
            <a:endParaRPr/>
          </a:p>
        </p:txBody>
      </p:sp>
      <p:graphicFrame>
        <p:nvGraphicFramePr>
          <p:cNvPr id="169" name="Google Shape;169;p10"/>
          <p:cNvGraphicFramePr/>
          <p:nvPr/>
        </p:nvGraphicFramePr>
        <p:xfrm>
          <a:off x="4011606" y="10833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{732D8EF6-0EB8-4C9A-83CD-A3B7B3AC911A}</a:tableStyleId>
              </a:tblPr>
              <a:tblGrid>
                <a:gridCol w="1223075"/>
                <a:gridCol w="1783600"/>
                <a:gridCol w="1968125"/>
              </a:tblGrid>
              <a:tr h="86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solidFill>
                            <a:schemeClr val="lt1"/>
                          </a:solidFill>
                        </a:rPr>
                        <a:t>MUSCLE TRICEPS</a:t>
                      </a:r>
                      <a:r>
                        <a:rPr lang="fr-FR" sz="1600">
                          <a:solidFill>
                            <a:schemeClr val="lt1"/>
                          </a:solidFill>
                        </a:rPr>
                        <a:t> SURAL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FFFF00"/>
                          </a:solidFill>
                        </a:rPr>
                        <a:t>Muscle Soleaire</a:t>
                      </a:r>
                      <a:endParaRPr b="1" sz="1600">
                        <a:solidFill>
                          <a:srgbClr val="FFFF00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fr-FR" sz="1600">
                          <a:solidFill>
                            <a:srgbClr val="FFFF00"/>
                          </a:solidFill>
                        </a:rPr>
                        <a:t>Muscles</a:t>
                      </a:r>
                      <a:r>
                        <a:rPr b="1" lang="fr-FR" sz="160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b="1" lang="fr-FR" sz="1600">
                          <a:solidFill>
                            <a:srgbClr val="FFFF00"/>
                          </a:solidFill>
                        </a:rPr>
                        <a:t>Gastrocnémiens Médial et Latéral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T="40125" marB="40125" marR="79800" marL="79800"/>
                </a:tc>
              </a:tr>
              <a:tr h="195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/>
                        <a:t>Origine</a:t>
                      </a:r>
                      <a:endParaRPr b="1"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•Chef fibulaire: tête et face post de la fibula.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•Chef tibial: ligne oblique de la face post et bord médial du tibia.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/>
                        <a:t>Sur les tubercules supra-condylaires médial et latéral du fémur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7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/>
                        <a:t>Terminaison</a:t>
                      </a:r>
                      <a:endParaRPr b="1" sz="1600"/>
                    </a:p>
                  </a:txBody>
                  <a:tcPr marT="40125" marB="40125" marR="79800" marL="7980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Sur le calcanéus ( tendon d’Achille). </a:t>
                      </a:r>
                      <a:endParaRPr sz="1600"/>
                    </a:p>
                  </a:txBody>
                  <a:tcPr marT="40125" marB="40125" marR="79800" marL="79800"/>
                </a:tc>
                <a:tc hMerge="1"/>
              </a:tr>
              <a:tr h="92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/>
                        <a:t>Action</a:t>
                      </a:r>
                      <a:endParaRPr b="1" sz="1600"/>
                    </a:p>
                  </a:txBody>
                  <a:tcPr marT="40125" marB="40125" marR="79800" marL="7980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•Extension du pied. •Fléchisseur de la jambe sur la cuisse. •Adducteur et rotateur médial du pied</a:t>
                      </a:r>
                      <a:endParaRPr sz="1600"/>
                    </a:p>
                  </a:txBody>
                  <a:tcPr marT="40125" marB="40125" marR="79800" marL="79800"/>
                </a:tc>
                <a:tc hMerge="1"/>
              </a:tr>
              <a:tr h="36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/>
                        <a:t>Innervation</a:t>
                      </a:r>
                      <a:endParaRPr b="1" sz="1600"/>
                    </a:p>
                  </a:txBody>
                  <a:tcPr marT="40125" marB="40125" marR="79800" marL="7980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plexus sacré</a:t>
                      </a:r>
                      <a:endParaRPr sz="1600"/>
                    </a:p>
                  </a:txBody>
                  <a:tcPr marT="40125" marB="40125" marR="79800" marL="79800"/>
                </a:tc>
                <a:tc hMerge="1"/>
              </a:tr>
            </a:tbl>
          </a:graphicData>
        </a:graphic>
      </p:graphicFrame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390" y="669615"/>
            <a:ext cx="3532916" cy="595776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332479" y="1296749"/>
            <a:ext cx="1184572" cy="250853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2951007" y="1547601"/>
            <a:ext cx="872843" cy="31356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01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06556" y="2613727"/>
            <a:ext cx="997534" cy="31356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11"/>
          <p:cNvGraphicFramePr/>
          <p:nvPr/>
        </p:nvGraphicFramePr>
        <p:xfrm>
          <a:off x="587600" y="2201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{732D8EF6-0EB8-4C9A-83CD-A3B7B3AC911A}</a:tableStyleId>
              </a:tblPr>
              <a:tblGrid>
                <a:gridCol w="1020425"/>
                <a:gridCol w="1954950"/>
                <a:gridCol w="1324325"/>
                <a:gridCol w="2081075"/>
                <a:gridCol w="1639650"/>
              </a:tblGrid>
              <a:tr h="32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/>
                        <a:t>Muscle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Origine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/>
                        <a:t>Terminaison</a:t>
                      </a:r>
                      <a:endParaRPr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Action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Innervation</a:t>
                      </a:r>
                      <a:endParaRPr sz="1600"/>
                    </a:p>
                  </a:txBody>
                  <a:tcPr marT="40125" marB="40125" marR="79800" marL="79800"/>
                </a:tc>
              </a:tr>
              <a:tr h="6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rgbClr val="E0108C"/>
                          </a:solidFill>
                        </a:rPr>
                        <a:t>Muscle Plantaire</a:t>
                      </a:r>
                      <a:endParaRPr b="1" sz="1600">
                        <a:solidFill>
                          <a:srgbClr val="E0108C"/>
                        </a:solidFill>
                      </a:endParaRPr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Surface poplitée du condyle lat- du fémur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Calcanéus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très faible, auxiliaire du triceps sural</a:t>
                      </a:r>
                      <a:endParaRPr sz="1600"/>
                    </a:p>
                  </a:txBody>
                  <a:tcPr marT="40125" marB="40125" marR="79800" marL="798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fr-FR" sz="1600"/>
                        <a:t>plexus sacré</a:t>
                      </a:r>
                      <a:endParaRPr/>
                    </a:p>
                  </a:txBody>
                  <a:tcPr marT="40125" marB="40125" marR="79800" marL="79800"/>
                </a:tc>
              </a:tr>
            </a:tbl>
          </a:graphicData>
        </a:graphic>
      </p:graphicFrame>
      <p:pic>
        <p:nvPicPr>
          <p:cNvPr id="180" name="Google Shape;1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734" y="1367254"/>
            <a:ext cx="2821114" cy="506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/>
          <p:nvPr/>
        </p:nvSpPr>
        <p:spPr>
          <a:xfrm>
            <a:off x="145442" y="1860418"/>
            <a:ext cx="1371609" cy="31356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270134" y="1798454"/>
            <a:ext cx="1246918" cy="357768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m.Plantaire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1"/>
          <p:cNvCxnSpPr/>
          <p:nvPr/>
        </p:nvCxnSpPr>
        <p:spPr>
          <a:xfrm flipH="1" rot="10800000">
            <a:off x="1579397" y="1610315"/>
            <a:ext cx="623459" cy="344924"/>
          </a:xfrm>
          <a:prstGeom prst="straightConnector1">
            <a:avLst/>
          </a:prstGeom>
          <a:noFill/>
          <a:ln cap="flat" cmpd="sng" w="508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1"/>
          <p:cNvCxnSpPr>
            <a:stCxn id="181" idx="3"/>
          </p:cNvCxnSpPr>
          <p:nvPr/>
        </p:nvCxnSpPr>
        <p:spPr>
          <a:xfrm>
            <a:off x="1517051" y="2017202"/>
            <a:ext cx="561000" cy="219600"/>
          </a:xfrm>
          <a:prstGeom prst="straightConnector1">
            <a:avLst/>
          </a:prstGeom>
          <a:noFill/>
          <a:ln cap="flat" cmpd="sng" w="508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/>
        </p:nvSpPr>
        <p:spPr>
          <a:xfrm>
            <a:off x="-290979" y="4248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MUSCLES DU PIED</a:t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145442" y="1108609"/>
            <a:ext cx="8998558" cy="1542708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❑"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Région dorsale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❑"/>
            </a:pPr>
            <a:r>
              <a:rPr b="1"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Région plantaire: </a:t>
            </a:r>
            <a:r>
              <a:rPr lang="fr-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3 loges : moyenne(I),médiale(II) et latérale(III).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0031" y="-24"/>
            <a:ext cx="2743219" cy="156783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2"/>
          <p:cNvSpPr/>
          <p:nvPr/>
        </p:nvSpPr>
        <p:spPr>
          <a:xfrm>
            <a:off x="1828781" y="2237447"/>
            <a:ext cx="5368813" cy="43069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3138045" y="5122259"/>
            <a:ext cx="561113" cy="31356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4447309" y="5373112"/>
            <a:ext cx="561113" cy="31356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068302" y="5749392"/>
            <a:ext cx="561113" cy="31356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202856" y="6429396"/>
            <a:ext cx="4675979" cy="357768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Coupe frontale de l’avant pied(vue postérieure)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1285852" y="4324657"/>
            <a:ext cx="5725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285852" y="4357694"/>
            <a:ext cx="500066" cy="428628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/>
        </p:nvSpPr>
        <p:spPr>
          <a:xfrm>
            <a:off x="414366" y="4248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MUSCLES DU PIED</a:t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2202856" y="6429396"/>
            <a:ext cx="4575439" cy="357768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Coupe frontale de l’avant pied(vue antérieure)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08" name="Google Shape;2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480" y="1643050"/>
            <a:ext cx="5643602" cy="4357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>
            <p:ph type="title"/>
          </p:nvPr>
        </p:nvSpPr>
        <p:spPr>
          <a:xfrm>
            <a:off x="457201" y="149213"/>
            <a:ext cx="8229600" cy="708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alibri"/>
              <a:buNone/>
            </a:pPr>
            <a:r>
              <a:rPr b="1" lang="fr-FR" sz="3800">
                <a:solidFill>
                  <a:schemeClr val="dk2"/>
                </a:solidFill>
              </a:rPr>
              <a:t>Muscles de la région dorsale:</a:t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785786" y="2112022"/>
            <a:ext cx="2632967" cy="44526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5857884" y="1045896"/>
            <a:ext cx="2799633" cy="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Muscle court extenseur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fr-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l’hallux 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785786" y="1045896"/>
            <a:ext cx="2799633" cy="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Muscle court extenseur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lang="fr-F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orteils </a:t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5929322" y="2112022"/>
            <a:ext cx="2456356" cy="445264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5756572" y="1045894"/>
            <a:ext cx="2851467" cy="815273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775627" y="1045894"/>
            <a:ext cx="2796241" cy="815273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>
            <p:ph type="title"/>
          </p:nvPr>
        </p:nvSpPr>
        <p:spPr>
          <a:xfrm>
            <a:off x="1734161" y="86500"/>
            <a:ext cx="6180185" cy="708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1" lang="fr-FR" sz="3200">
                <a:solidFill>
                  <a:srgbClr val="C00000"/>
                </a:solidFill>
              </a:rPr>
              <a:t>Muscles de la région plantaire</a:t>
            </a:r>
            <a:endParaRPr b="1" sz="3800">
              <a:solidFill>
                <a:schemeClr val="dk2"/>
              </a:solidFill>
            </a:endParaRPr>
          </a:p>
        </p:txBody>
      </p:sp>
      <p:sp>
        <p:nvSpPr>
          <p:cNvPr id="226" name="Google Shape;226;p15"/>
          <p:cNvSpPr txBox="1"/>
          <p:nvPr>
            <p:ph idx="1" type="body"/>
          </p:nvPr>
        </p:nvSpPr>
        <p:spPr>
          <a:xfrm>
            <a:off x="157583" y="983182"/>
            <a:ext cx="5018843" cy="2289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Noto Sans Symbols"/>
              <a:buChar char="❑"/>
            </a:pPr>
            <a:r>
              <a:rPr b="1" i="1" lang="fr-FR" sz="2100">
                <a:solidFill>
                  <a:srgbClr val="FF0000"/>
                </a:solidFill>
              </a:rPr>
              <a:t>Loge moyenne 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Muscles interosseux (dorsaux et plantaires)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Muscles  lombricaux 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  carré plantaire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  court fléchisseur des orteils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 </a:t>
            </a:r>
            <a:endParaRPr/>
          </a:p>
          <a:p>
            <a:pPr indent="-20955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</p:txBody>
      </p:sp>
      <p:sp>
        <p:nvSpPr>
          <p:cNvPr id="227" name="Google Shape;227;p15"/>
          <p:cNvSpPr/>
          <p:nvPr/>
        </p:nvSpPr>
        <p:spPr>
          <a:xfrm>
            <a:off x="4384963" y="2864580"/>
            <a:ext cx="4675942" cy="30729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5"/>
          <p:cNvCxnSpPr/>
          <p:nvPr/>
        </p:nvCxnSpPr>
        <p:spPr>
          <a:xfrm rot="5400000">
            <a:off x="5534870" y="4968783"/>
            <a:ext cx="1191553" cy="1122226"/>
          </a:xfrm>
          <a:prstGeom prst="straightConnector1">
            <a:avLst/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15"/>
          <p:cNvCxnSpPr/>
          <p:nvPr/>
        </p:nvCxnSpPr>
        <p:spPr>
          <a:xfrm flipH="1">
            <a:off x="5507189" y="4934119"/>
            <a:ext cx="1558647" cy="1254266"/>
          </a:xfrm>
          <a:prstGeom prst="straightConnector1">
            <a:avLst/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15"/>
          <p:cNvCxnSpPr/>
          <p:nvPr/>
        </p:nvCxnSpPr>
        <p:spPr>
          <a:xfrm flipH="1">
            <a:off x="5507189" y="5059544"/>
            <a:ext cx="1932726" cy="1128841"/>
          </a:xfrm>
          <a:prstGeom prst="straightConnector1">
            <a:avLst/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15"/>
          <p:cNvCxnSpPr/>
          <p:nvPr/>
        </p:nvCxnSpPr>
        <p:spPr>
          <a:xfrm rot="5400000">
            <a:off x="6501416" y="2804072"/>
            <a:ext cx="1128840" cy="748151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15"/>
          <p:cNvCxnSpPr/>
          <p:nvPr/>
        </p:nvCxnSpPr>
        <p:spPr>
          <a:xfrm flipH="1" rot="-5400000">
            <a:off x="6812594" y="3241044"/>
            <a:ext cx="1316980" cy="62346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5"/>
          <p:cNvCxnSpPr/>
          <p:nvPr/>
        </p:nvCxnSpPr>
        <p:spPr>
          <a:xfrm flipH="1">
            <a:off x="5694226" y="2613727"/>
            <a:ext cx="1745685" cy="131698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5"/>
          <p:cNvCxnSpPr/>
          <p:nvPr/>
        </p:nvCxnSpPr>
        <p:spPr>
          <a:xfrm flipH="1" rot="-5400000">
            <a:off x="6967541" y="3148811"/>
            <a:ext cx="1630545" cy="685805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5"/>
          <p:cNvSpPr txBox="1"/>
          <p:nvPr/>
        </p:nvSpPr>
        <p:spPr>
          <a:xfrm>
            <a:off x="6600972" y="2237448"/>
            <a:ext cx="2295649" cy="357768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Interosseux dorsaux(4)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4821384" y="6199911"/>
            <a:ext cx="1248054" cy="357768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Lombricaux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5"/>
          <p:cNvCxnSpPr/>
          <p:nvPr/>
        </p:nvCxnSpPr>
        <p:spPr>
          <a:xfrm flipH="1">
            <a:off x="3262737" y="4181559"/>
            <a:ext cx="3366678" cy="112884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15"/>
          <p:cNvCxnSpPr/>
          <p:nvPr/>
        </p:nvCxnSpPr>
        <p:spPr>
          <a:xfrm flipH="1">
            <a:off x="3325082" y="4432413"/>
            <a:ext cx="4052483" cy="87798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5"/>
          <p:cNvCxnSpPr/>
          <p:nvPr/>
        </p:nvCxnSpPr>
        <p:spPr>
          <a:xfrm flipH="1">
            <a:off x="3262736" y="4620552"/>
            <a:ext cx="4738288" cy="689847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5"/>
          <p:cNvSpPr txBox="1"/>
          <p:nvPr/>
        </p:nvSpPr>
        <p:spPr>
          <a:xfrm>
            <a:off x="893593" y="5133786"/>
            <a:ext cx="2389456" cy="357768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Interosseux plantaire(3)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>
            <p:ph idx="1" type="body"/>
          </p:nvPr>
        </p:nvSpPr>
        <p:spPr>
          <a:xfrm>
            <a:off x="20750" y="857755"/>
            <a:ext cx="4052483" cy="191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Noto Sans Symbols"/>
              <a:buChar char="❑"/>
            </a:pPr>
            <a:r>
              <a:rPr b="1" lang="fr-FR" sz="2100">
                <a:solidFill>
                  <a:srgbClr val="C00000"/>
                </a:solidFill>
              </a:rPr>
              <a:t>Loge médiale </a:t>
            </a:r>
            <a:r>
              <a:rPr lang="fr-FR" sz="2100"/>
              <a:t>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 court fléchisseur de l’hallux. 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 adducteur de l’hallux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 abducteur de l’hallux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Noto Sans Symbols"/>
              <a:buChar char="❑"/>
            </a:pPr>
            <a:r>
              <a:rPr b="1" lang="fr-FR" sz="2100">
                <a:solidFill>
                  <a:srgbClr val="C00000"/>
                </a:solidFill>
              </a:rPr>
              <a:t>Loge latérale</a:t>
            </a:r>
            <a:r>
              <a:rPr lang="fr-FR" sz="2100"/>
              <a:t>: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 court fléchisseur du petit orteil. 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 - muscle opposant du petit orteil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fr-FR" sz="2100"/>
              <a:t>- Muscle abducteur du petit orteil</a:t>
            </a:r>
            <a:endParaRPr/>
          </a:p>
          <a:p>
            <a:pPr indent="-342900" lvl="0" marL="34290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/>
          </a:p>
        </p:txBody>
      </p:sp>
      <p:sp>
        <p:nvSpPr>
          <p:cNvPr id="247" name="Google Shape;247;p16"/>
          <p:cNvSpPr/>
          <p:nvPr/>
        </p:nvSpPr>
        <p:spPr>
          <a:xfrm>
            <a:off x="4125186" y="1012506"/>
            <a:ext cx="4748681" cy="30729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4135579" y="2488301"/>
            <a:ext cx="1558647" cy="940700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7585353" y="3052720"/>
            <a:ext cx="1558647" cy="940700"/>
          </a:xfrm>
          <a:prstGeom prst="ellipse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4384962" y="1057421"/>
            <a:ext cx="435652" cy="465490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8250408" y="1045894"/>
            <a:ext cx="296191" cy="465490"/>
          </a:xfrm>
          <a:prstGeom prst="rect">
            <a:avLst/>
          </a:prstGeom>
          <a:noFill/>
          <a:ln>
            <a:noFill/>
          </a:ln>
        </p:spPr>
        <p:txBody>
          <a:bodyPr anchorCtr="0" anchor="t" bIns="39975" lIns="79975" spcFirstLastPara="1" rIns="79975" wrap="square" tIns="39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252" name="Google Shape;2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/>
          <p:nvPr/>
        </p:nvSpPr>
        <p:spPr>
          <a:xfrm>
            <a:off x="1704090" y="1923881"/>
            <a:ext cx="5735822" cy="2822098"/>
          </a:xfrm>
          <a:prstGeom prst="ribbon">
            <a:avLst>
              <a:gd fmla="val 16667" name="adj1"/>
              <a:gd fmla="val 50000" name="adj2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975" lIns="79975" spcFirstLastPara="1" rIns="79975" wrap="square" tIns="39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BF8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>
            <p:ph type="title"/>
          </p:nvPr>
        </p:nvSpPr>
        <p:spPr>
          <a:xfrm>
            <a:off x="2265202" y="2975847"/>
            <a:ext cx="448890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0108C"/>
              </a:buClr>
              <a:buSzPct val="100000"/>
              <a:buFont typeface="Algerian"/>
              <a:buNone/>
            </a:pPr>
            <a:r>
              <a:rPr b="1" lang="fr-FR" sz="5200">
                <a:solidFill>
                  <a:srgbClr val="E0108C"/>
                </a:solidFill>
                <a:latin typeface="Algerian"/>
                <a:ea typeface="Algerian"/>
                <a:cs typeface="Algerian"/>
                <a:sym typeface="Algerian"/>
              </a:rPr>
              <a:t>BONNE</a:t>
            </a:r>
            <a:br>
              <a:rPr b="1" lang="fr-FR" sz="5200">
                <a:solidFill>
                  <a:srgbClr val="E0108C"/>
                </a:solidFill>
                <a:latin typeface="Algerian"/>
                <a:ea typeface="Algerian"/>
                <a:cs typeface="Algerian"/>
                <a:sym typeface="Algerian"/>
              </a:rPr>
            </a:br>
            <a:r>
              <a:rPr b="1" lang="fr-FR" sz="5200">
                <a:solidFill>
                  <a:srgbClr val="E0108C"/>
                </a:solidFill>
                <a:latin typeface="Algerian"/>
                <a:ea typeface="Algerian"/>
                <a:cs typeface="Algerian"/>
                <a:sym typeface="Algerian"/>
              </a:rPr>
              <a:t> REVISION</a:t>
            </a:r>
            <a:endParaRPr/>
          </a:p>
        </p:txBody>
      </p:sp>
      <p:sp>
        <p:nvSpPr>
          <p:cNvPr id="259" name="Google Shape;25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2020-08-28T10:11:07Z</dcterms:created>
  <dc:creator>Utilisateur Windows</dc:creator>
</cp:coreProperties>
</file>