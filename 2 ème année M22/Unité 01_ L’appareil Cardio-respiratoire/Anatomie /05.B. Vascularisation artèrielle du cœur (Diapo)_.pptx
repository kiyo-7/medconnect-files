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9" r:id="rId4"/>
    <p:sldId id="274" r:id="rId5"/>
    <p:sldId id="260" r:id="rId6"/>
    <p:sldId id="261" r:id="rId7"/>
    <p:sldId id="262" r:id="rId8"/>
    <p:sldId id="263" r:id="rId9"/>
    <p:sldId id="264" r:id="rId10"/>
    <p:sldId id="275" r:id="rId11"/>
    <p:sldId id="265" r:id="rId12"/>
    <p:sldId id="277" r:id="rId13"/>
    <p:sldId id="278" r:id="rId14"/>
    <p:sldId id="276" r:id="rId1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-123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ectangle à coins arrondis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F0DD-B83D-4E89-A1AB-ABB6CE4B088F}" type="datetimeFigureOut">
              <a:rPr lang="fr-FR" smtClean="0"/>
              <a:pPr/>
              <a:t>26/09/2022</a:t>
            </a:fld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1B4A5653-130E-40E2-BE7D-111961B546E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F0DD-B83D-4E89-A1AB-ABB6CE4B088F}" type="datetimeFigureOut">
              <a:rPr lang="fr-FR" smtClean="0"/>
              <a:pPr/>
              <a:t>26/09/2022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A5653-130E-40E2-BE7D-111961B546E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ectangle à coins arrondis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F0DD-B83D-4E89-A1AB-ABB6CE4B088F}" type="datetimeFigureOut">
              <a:rPr lang="fr-FR" smtClean="0"/>
              <a:pPr/>
              <a:t>26/09/2022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fr-FR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1B4A5653-130E-40E2-BE7D-111961B546E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F0DD-B83D-4E89-A1AB-ABB6CE4B088F}" type="datetimeFigureOut">
              <a:rPr lang="fr-FR" smtClean="0"/>
              <a:pPr/>
              <a:t>26/09/2022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A5653-130E-40E2-BE7D-111961B546E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F0DD-B83D-4E89-A1AB-ABB6CE4B088F}" type="datetimeFigureOut">
              <a:rPr lang="fr-FR" smtClean="0"/>
              <a:pPr/>
              <a:t>26/09/2022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A5653-130E-40E2-BE7D-111961B546E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contenu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F0DD-B83D-4E89-A1AB-ABB6CE4B088F}" type="datetimeFigureOut">
              <a:rPr lang="fr-FR" smtClean="0"/>
              <a:pPr/>
              <a:t>26/09/2022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A5653-130E-40E2-BE7D-111961B546E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F0DD-B83D-4E89-A1AB-ABB6CE4B088F}" type="datetimeFigureOut">
              <a:rPr lang="fr-FR" smtClean="0"/>
              <a:pPr/>
              <a:t>26/09/2022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A5653-130E-40E2-BE7D-111961B546E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ectangle à coins arrondis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F0DD-B83D-4E89-A1AB-ABB6CE4B088F}" type="datetimeFigureOut">
              <a:rPr lang="fr-FR" smtClean="0"/>
              <a:pPr/>
              <a:t>26/09/2022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A5653-130E-40E2-BE7D-111961B546E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F0DD-B83D-4E89-A1AB-ABB6CE4B088F}" type="datetimeFigureOut">
              <a:rPr lang="fr-FR" smtClean="0"/>
              <a:pPr/>
              <a:t>26/09/2022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1B4A5653-130E-40E2-BE7D-111961B546E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F0DD-B83D-4E89-A1AB-ABB6CE4B088F}" type="datetimeFigureOut">
              <a:rPr lang="fr-FR" smtClean="0"/>
              <a:pPr/>
              <a:t>26/09/2022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A5653-130E-40E2-BE7D-111961B546E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F0DD-B83D-4E89-A1AB-ABB6CE4B088F}" type="datetimeFigureOut">
              <a:rPr lang="fr-FR" smtClean="0"/>
              <a:pPr/>
              <a:t>26/09/2022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A5653-130E-40E2-BE7D-111961B546E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ectangle à coins arrondis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79ECF0DD-B83D-4E89-A1AB-ABB6CE4B088F}" type="datetimeFigureOut">
              <a:rPr lang="fr-FR" smtClean="0"/>
              <a:pPr/>
              <a:t>26/09/2022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1B4A5653-130E-40E2-BE7D-111961B546E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5661248"/>
            <a:ext cx="6400800" cy="648072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</a:rPr>
              <a:t>Dr </a:t>
            </a:r>
            <a:r>
              <a:rPr lang="fr-FR" b="1" dirty="0" err="1" smtClean="0">
                <a:solidFill>
                  <a:srgbClr val="0070C0"/>
                </a:solidFill>
              </a:rPr>
              <a:t>Dous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dirty="0">
                <a:solidFill>
                  <a:srgbClr val="FFFF00"/>
                </a:solidFill>
              </a:rPr>
              <a:t>Vascularisation </a:t>
            </a:r>
            <a:r>
              <a:rPr lang="fr-FR" b="1" dirty="0" smtClean="0">
                <a:solidFill>
                  <a:srgbClr val="FFFF00"/>
                </a:solidFill>
              </a:rPr>
              <a:t>artérielle du </a:t>
            </a:r>
            <a:r>
              <a:rPr lang="fr-FR" b="1" dirty="0">
                <a:solidFill>
                  <a:srgbClr val="FFFF00"/>
                </a:solidFill>
              </a:rPr>
              <a:t>cœur</a:t>
            </a:r>
            <a:endParaRPr lang="fr-FR" dirty="0">
              <a:solidFill>
                <a:srgbClr val="FFFF00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10658"/>
          <a:stretch>
            <a:fillRect/>
          </a:stretch>
        </p:blipFill>
        <p:spPr bwMode="auto">
          <a:xfrm>
            <a:off x="6908177" y="4535413"/>
            <a:ext cx="2235823" cy="206193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pic>
        <p:nvPicPr>
          <p:cNvPr id="6" name="Picture 10" descr="http://www.ands.dz/chu25/chu25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53250" y="208637"/>
            <a:ext cx="1867222" cy="1204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 descr="http://1.bp.blogspot.com/-yFXCB9aOQi8/TV7FL0oJIqI/AAAAAAAABRE/EYI3su8FnE4/s1600/Logo_CHU_Constantine_Negatif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5536" y="218498"/>
            <a:ext cx="2161927" cy="1194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 descr="C:\Users\hp  2016\Desktop\Nouveau dossier (4)\IMG_20220923_190603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3068960"/>
            <a:ext cx="9144000" cy="3789040"/>
          </a:xfrm>
          <a:prstGeom prst="rect">
            <a:avLst/>
          </a:prstGeom>
          <a:noFill/>
        </p:spPr>
      </p:pic>
    </p:spTree>
  </p:cSld>
  <p:clrMapOvr>
    <a:masterClrMapping/>
  </p:clrMapOvr>
  <p:transition>
    <p:whee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0" y="1844824"/>
            <a:ext cx="9144000" cy="5013176"/>
          </a:xfrm>
        </p:spPr>
        <p:txBody>
          <a:bodyPr>
            <a:normAutofit/>
          </a:bodyPr>
          <a:lstStyle/>
          <a:p>
            <a:endParaRPr lang="fr-FR" sz="4000" b="1" u="sng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fr-FR" sz="4000" b="1" u="sng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fr-FR" sz="4000" b="1" u="sng" dirty="0" smtClean="0">
              <a:solidFill>
                <a:srgbClr val="FF0000"/>
              </a:solidFill>
            </a:endParaRPr>
          </a:p>
          <a:p>
            <a:r>
              <a:rPr lang="fr-FR" sz="4000" b="1" u="sng" dirty="0" smtClean="0">
                <a:solidFill>
                  <a:srgbClr val="FF0000"/>
                </a:solidFill>
              </a:rPr>
              <a:t>Objectifs </a:t>
            </a:r>
            <a:r>
              <a:rPr lang="fr-FR" sz="4000" b="1" u="sng" dirty="0">
                <a:solidFill>
                  <a:srgbClr val="FF0000"/>
                </a:solidFill>
              </a:rPr>
              <a:t>pédagogiques </a:t>
            </a:r>
            <a:r>
              <a:rPr lang="fr-FR" sz="4000" b="1" u="sng" dirty="0" smtClean="0">
                <a:solidFill>
                  <a:srgbClr val="FF0000"/>
                </a:solidFill>
              </a:rPr>
              <a:t>:</a:t>
            </a:r>
            <a:endParaRPr lang="fr-FR" sz="4000" b="1" u="sng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fr-FR" b="1" dirty="0">
                <a:solidFill>
                  <a:schemeClr val="accent4">
                    <a:lumMod val="50000"/>
                  </a:schemeClr>
                </a:solidFill>
              </a:rPr>
              <a:t>A l’issue de ce cours l’étudiant doit être capable de :</a:t>
            </a:r>
          </a:p>
          <a:p>
            <a:pPr lvl="0"/>
            <a:r>
              <a:rPr lang="fr-FR" b="1" dirty="0">
                <a:solidFill>
                  <a:schemeClr val="accent4">
                    <a:lumMod val="50000"/>
                  </a:schemeClr>
                </a:solidFill>
              </a:rPr>
              <a:t> Décrire l’origine, trajet et terminaison des artères coronaires </a:t>
            </a:r>
          </a:p>
          <a:p>
            <a:pPr lvl="0"/>
            <a:r>
              <a:rPr lang="fr-FR" b="1" dirty="0">
                <a:solidFill>
                  <a:schemeClr val="accent4">
                    <a:lumMod val="50000"/>
                  </a:schemeClr>
                </a:solidFill>
              </a:rPr>
              <a:t> Décrire les branches collatérales et terminales des artères coronaires ainsi que leurs territoires </a:t>
            </a:r>
            <a:r>
              <a:rPr lang="fr-FR" b="1" dirty="0" smtClean="0">
                <a:solidFill>
                  <a:schemeClr val="accent4">
                    <a:lumMod val="50000"/>
                  </a:schemeClr>
                </a:solidFill>
              </a:rPr>
              <a:t>d’irrigation.</a:t>
            </a:r>
            <a:r>
              <a:rPr lang="fr-FR" b="1" dirty="0">
                <a:solidFill>
                  <a:schemeClr val="accent4">
                    <a:lumMod val="50000"/>
                  </a:schemeClr>
                </a:solidFill>
              </a:rPr>
              <a:t>.</a:t>
            </a:r>
            <a:r>
              <a:rPr lang="fr-FR" b="1" dirty="0" smtClean="0">
                <a:solidFill>
                  <a:schemeClr val="accent4">
                    <a:lumMod val="50000"/>
                  </a:schemeClr>
                </a:solidFill>
              </a:rPr>
              <a:t> </a:t>
            </a:r>
            <a:endParaRPr lang="fr-FR" dirty="0"/>
          </a:p>
        </p:txBody>
      </p:sp>
      <p:pic>
        <p:nvPicPr>
          <p:cNvPr id="1027" name="Picture 3" descr="C:\Users\hp  2016\Desktop\Nouveau dossier (4)\IMG_20220923_19052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63888" y="0"/>
            <a:ext cx="5580112" cy="3933055"/>
          </a:xfrm>
          <a:prstGeom prst="rect">
            <a:avLst/>
          </a:prstGeom>
          <a:noFill/>
        </p:spPr>
      </p:pic>
    </p:spTree>
  </p:cSld>
  <p:clrMapOvr>
    <a:masterClrMapping/>
  </p:clrMapOvr>
  <p:transition>
    <p:wheel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u="sng" dirty="0"/>
              <a:t>I/Vascularisation artérielle du cœur :</a:t>
            </a:r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0" y="1600200"/>
            <a:ext cx="4495800" cy="5257800"/>
          </a:xfrm>
        </p:spPr>
        <p:txBody>
          <a:bodyPr>
            <a:normAutofit lnSpcReduction="10000"/>
          </a:bodyPr>
          <a:lstStyle/>
          <a:p>
            <a:r>
              <a:rPr lang="fr-FR" b="1" dirty="0" smtClean="0">
                <a:solidFill>
                  <a:srgbClr val="C00000"/>
                </a:solidFill>
              </a:rPr>
              <a:t>sous </a:t>
            </a:r>
            <a:r>
              <a:rPr lang="fr-FR" b="1" dirty="0">
                <a:solidFill>
                  <a:srgbClr val="C00000"/>
                </a:solidFill>
              </a:rPr>
              <a:t>la dépendance des deux artères coronaires gauche et </a:t>
            </a:r>
            <a:r>
              <a:rPr lang="fr-FR" b="1" dirty="0" smtClean="0">
                <a:solidFill>
                  <a:srgbClr val="C00000"/>
                </a:solidFill>
              </a:rPr>
              <a:t>droite </a:t>
            </a:r>
          </a:p>
          <a:p>
            <a:endParaRPr lang="fr-FR" b="1" dirty="0" smtClean="0">
              <a:solidFill>
                <a:srgbClr val="C00000"/>
              </a:solidFill>
            </a:endParaRPr>
          </a:p>
          <a:p>
            <a:r>
              <a:rPr lang="fr-FR" b="1" dirty="0" smtClean="0">
                <a:solidFill>
                  <a:srgbClr val="C00000"/>
                </a:solidFill>
              </a:rPr>
              <a:t>issues </a:t>
            </a:r>
            <a:r>
              <a:rPr lang="fr-FR" b="1" dirty="0">
                <a:solidFill>
                  <a:srgbClr val="C00000"/>
                </a:solidFill>
              </a:rPr>
              <a:t>de l’aorte ascendante. </a:t>
            </a:r>
            <a:r>
              <a:rPr lang="fr-FR" b="1" dirty="0" smtClean="0">
                <a:solidFill>
                  <a:srgbClr val="C00000"/>
                </a:solidFill>
              </a:rPr>
              <a:t>Leurs troncs principaux cheminent dans les sillons coronaires (</a:t>
            </a:r>
            <a:r>
              <a:rPr lang="fr-FR" b="1" dirty="0" err="1" smtClean="0">
                <a:solidFill>
                  <a:srgbClr val="C00000"/>
                </a:solidFill>
              </a:rPr>
              <a:t>atrio</a:t>
            </a:r>
            <a:r>
              <a:rPr lang="fr-FR" b="1" dirty="0" smtClean="0">
                <a:solidFill>
                  <a:srgbClr val="C00000"/>
                </a:solidFill>
              </a:rPr>
              <a:t>-ventriculaires) réalisant ainsi une couronne autour de la base du cœur, d’où leurs noms d’artères coronaires. </a:t>
            </a:r>
            <a:endParaRPr lang="fr-FR" b="1" dirty="0">
              <a:solidFill>
                <a:srgbClr val="C00000"/>
              </a:solidFill>
            </a:endParaRPr>
          </a:p>
          <a:p>
            <a:endParaRPr lang="fr-FR" dirty="0"/>
          </a:p>
        </p:txBody>
      </p:sp>
      <p:pic>
        <p:nvPicPr>
          <p:cNvPr id="4098" name="Picture 2" descr="C:\Users\hp  2016\Desktop\vx du coeur\C1.PNG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9992" y="1268760"/>
            <a:ext cx="4248471" cy="4328213"/>
          </a:xfrm>
          <a:prstGeom prst="rect">
            <a:avLst/>
          </a:prstGeom>
          <a:noFill/>
        </p:spPr>
      </p:pic>
    </p:spTree>
  </p:cSld>
  <p:clrMapOvr>
    <a:masterClrMapping/>
  </p:clrMapOvr>
  <p:transition>
    <p:wheel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611560" y="1447800"/>
            <a:ext cx="8075240" cy="4572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C00000"/>
                </a:solidFill>
              </a:rPr>
              <a:t>« considérer que le cœur se nourrit du sang qui est dans le ventricule droit est inexact. La nutrition du cœur se fait par les vaisseaux répartis dans sa masse »</a:t>
            </a:r>
          </a:p>
          <a:p>
            <a:r>
              <a:rPr lang="fr-FR" b="1" dirty="0" smtClean="0">
                <a:solidFill>
                  <a:srgbClr val="C00000"/>
                </a:solidFill>
              </a:rPr>
              <a:t>Ibn Al </a:t>
            </a:r>
            <a:r>
              <a:rPr lang="fr-FR" b="1" dirty="0" err="1" smtClean="0">
                <a:solidFill>
                  <a:srgbClr val="C00000"/>
                </a:solidFill>
              </a:rPr>
              <a:t>Nafis</a:t>
            </a:r>
            <a:r>
              <a:rPr lang="fr-FR" b="1" dirty="0" smtClean="0">
                <a:solidFill>
                  <a:srgbClr val="C00000"/>
                </a:solidFill>
              </a:rPr>
              <a:t> (1210—1288)</a:t>
            </a:r>
          </a:p>
        </p:txBody>
      </p:sp>
      <p:pic>
        <p:nvPicPr>
          <p:cNvPr id="3074" name="Picture 2" descr="C:\Users\hp  2016\Desktop\vx du coeur\C1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8144" y="3212976"/>
            <a:ext cx="2600447" cy="3145135"/>
          </a:xfrm>
          <a:prstGeom prst="rect">
            <a:avLst/>
          </a:prstGeom>
          <a:noFill/>
        </p:spPr>
      </p:pic>
    </p:spTree>
  </p:cSld>
  <p:clrMapOvr>
    <a:masterClrMapping/>
  </p:clrMapOvr>
  <p:transition>
    <p:whee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u="sng" dirty="0">
                <a:solidFill>
                  <a:srgbClr val="C00000"/>
                </a:solidFill>
              </a:rPr>
              <a:t>A/L’artère coronaire gauche :</a:t>
            </a:r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539552" y="1447800"/>
            <a:ext cx="4123888" cy="5077544"/>
          </a:xfrm>
        </p:spPr>
        <p:txBody>
          <a:bodyPr>
            <a:normAutofit lnSpcReduction="10000"/>
          </a:bodyPr>
          <a:lstStyle/>
          <a:p>
            <a:r>
              <a:rPr lang="fr-FR" b="1" dirty="0" smtClean="0"/>
              <a:t>Nait </a:t>
            </a:r>
            <a:r>
              <a:rPr lang="fr-FR" b="1" dirty="0"/>
              <a:t>sur le flanc gauche du segment ascendant de la crosse aortique au-dessus de la partie moyenne de la valvule(ou valve) aortique antérolatérale gauche. </a:t>
            </a:r>
          </a:p>
          <a:p>
            <a:r>
              <a:rPr lang="fr-FR" b="1" dirty="0" smtClean="0"/>
              <a:t>Long </a:t>
            </a:r>
            <a:r>
              <a:rPr lang="fr-FR" b="1" dirty="0"/>
              <a:t>de 3 à 4 </a:t>
            </a:r>
            <a:r>
              <a:rPr lang="fr-FR" b="1" dirty="0" smtClean="0"/>
              <a:t>cm</a:t>
            </a:r>
            <a:endParaRPr lang="fr-FR" b="1" dirty="0"/>
          </a:p>
          <a:p>
            <a:r>
              <a:rPr lang="fr-FR" b="1" dirty="0" smtClean="0"/>
              <a:t>Branches </a:t>
            </a:r>
            <a:r>
              <a:rPr lang="fr-FR" b="1" dirty="0"/>
              <a:t>terminales :</a:t>
            </a:r>
          </a:p>
          <a:p>
            <a:r>
              <a:rPr lang="fr-FR" b="1" dirty="0" smtClean="0"/>
              <a:t> </a:t>
            </a:r>
            <a:r>
              <a:rPr lang="fr-FR" b="1" dirty="0">
                <a:solidFill>
                  <a:srgbClr val="0070C0"/>
                </a:solidFill>
              </a:rPr>
              <a:t>L’artère inter ventriculaire antérieure </a:t>
            </a:r>
          </a:p>
          <a:p>
            <a:r>
              <a:rPr lang="fr-FR" b="1" dirty="0" smtClean="0">
                <a:solidFill>
                  <a:srgbClr val="7030A0"/>
                </a:solidFill>
              </a:rPr>
              <a:t> </a:t>
            </a:r>
            <a:r>
              <a:rPr lang="fr-FR" b="1" dirty="0">
                <a:solidFill>
                  <a:srgbClr val="7030A0"/>
                </a:solidFill>
              </a:rPr>
              <a:t>L’artère </a:t>
            </a:r>
            <a:r>
              <a:rPr lang="fr-FR" b="1" dirty="0" smtClean="0">
                <a:solidFill>
                  <a:srgbClr val="7030A0"/>
                </a:solidFill>
              </a:rPr>
              <a:t>coronaire circonflexe gauche  </a:t>
            </a:r>
            <a:endParaRPr lang="fr-FR" b="1" dirty="0">
              <a:solidFill>
                <a:srgbClr val="7030A0"/>
              </a:solidFill>
            </a:endParaRPr>
          </a:p>
          <a:p>
            <a:endParaRPr lang="fr-FR" dirty="0"/>
          </a:p>
        </p:txBody>
      </p:sp>
      <p:pic>
        <p:nvPicPr>
          <p:cNvPr id="1026" name="Picture 2" descr="C:\Users\hp  2016\Desktop\anatomie\anatomie netter\205-1.JPG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08104" y="836712"/>
            <a:ext cx="3240358" cy="4104453"/>
          </a:xfrm>
          <a:prstGeom prst="rect">
            <a:avLst/>
          </a:prstGeom>
          <a:noFill/>
        </p:spPr>
      </p:pic>
      <p:pic>
        <p:nvPicPr>
          <p:cNvPr id="1027" name="Picture 3" descr="C:\Users\hp  2016\Desktop\anatomie\anatomie netter\204-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9992" y="3933056"/>
            <a:ext cx="4353397" cy="2607940"/>
          </a:xfrm>
          <a:prstGeom prst="rect">
            <a:avLst/>
          </a:prstGeom>
          <a:noFill/>
        </p:spPr>
      </p:pic>
    </p:spTree>
  </p:cSld>
  <p:clrMapOvr>
    <a:masterClrMapping/>
  </p:clrMapOvr>
  <p:transition>
    <p:wheel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u="sng" dirty="0" smtClean="0">
                <a:solidFill>
                  <a:srgbClr val="C00000"/>
                </a:solidFill>
              </a:rPr>
              <a:t>A/L’artère coronaire gauche :</a:t>
            </a: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0" y="1412776"/>
            <a:ext cx="4495800" cy="5445224"/>
          </a:xfrm>
        </p:spPr>
        <p:txBody>
          <a:bodyPr>
            <a:normAutofit fontScale="85000" lnSpcReduction="20000"/>
          </a:bodyPr>
          <a:lstStyle/>
          <a:p>
            <a:r>
              <a:rPr lang="fr-FR" b="1" dirty="0">
                <a:solidFill>
                  <a:srgbClr val="002060"/>
                </a:solidFill>
              </a:rPr>
              <a:t>3/Branches collatérales :</a:t>
            </a:r>
          </a:p>
          <a:p>
            <a:pPr lvl="0"/>
            <a:r>
              <a:rPr lang="fr-FR" b="1" dirty="0">
                <a:solidFill>
                  <a:srgbClr val="C00000"/>
                </a:solidFill>
              </a:rPr>
              <a:t>Rameaux vasculaires (artère graisseuse gauche de Vieussens</a:t>
            </a:r>
            <a:r>
              <a:rPr lang="fr-FR" b="1" dirty="0" smtClean="0">
                <a:solidFill>
                  <a:srgbClr val="C00000"/>
                </a:solidFill>
              </a:rPr>
              <a:t>):</a:t>
            </a:r>
            <a:endParaRPr lang="fr-FR" b="1" dirty="0">
              <a:solidFill>
                <a:srgbClr val="C00000"/>
              </a:solidFill>
            </a:endParaRPr>
          </a:p>
          <a:p>
            <a:pPr lvl="0"/>
            <a:r>
              <a:rPr lang="fr-FR" b="1" dirty="0">
                <a:solidFill>
                  <a:srgbClr val="C00000"/>
                </a:solidFill>
              </a:rPr>
              <a:t>Les artères atriales:</a:t>
            </a:r>
          </a:p>
          <a:p>
            <a:r>
              <a:rPr lang="fr-FR" b="1" dirty="0">
                <a:solidFill>
                  <a:srgbClr val="C00000"/>
                </a:solidFill>
              </a:rPr>
              <a:t>                  - Les artères atriales gauches antérieures ;</a:t>
            </a:r>
          </a:p>
          <a:p>
            <a:r>
              <a:rPr lang="fr-FR" b="1" dirty="0">
                <a:solidFill>
                  <a:srgbClr val="C00000"/>
                </a:solidFill>
              </a:rPr>
              <a:t>                  - Les artères atriales gauches postérieures ;</a:t>
            </a:r>
          </a:p>
          <a:p>
            <a:r>
              <a:rPr lang="fr-FR" b="1" dirty="0">
                <a:solidFill>
                  <a:srgbClr val="C00000"/>
                </a:solidFill>
              </a:rPr>
              <a:t>                  -  L’artère atriale du bord gauche.</a:t>
            </a:r>
          </a:p>
          <a:p>
            <a:r>
              <a:rPr lang="fr-FR" b="1" dirty="0">
                <a:solidFill>
                  <a:srgbClr val="C00000"/>
                </a:solidFill>
              </a:rPr>
              <a:t>                  </a:t>
            </a:r>
          </a:p>
          <a:p>
            <a:pPr lvl="0"/>
            <a:r>
              <a:rPr lang="fr-FR" b="1" dirty="0">
                <a:solidFill>
                  <a:srgbClr val="C00000"/>
                </a:solidFill>
              </a:rPr>
              <a:t>Les artères ventriculaires</a:t>
            </a:r>
            <a:r>
              <a:rPr lang="fr-FR" b="1" dirty="0" smtClean="0">
                <a:solidFill>
                  <a:srgbClr val="C00000"/>
                </a:solidFill>
              </a:rPr>
              <a:t>:</a:t>
            </a:r>
          </a:p>
          <a:p>
            <a:pPr lvl="0"/>
            <a:r>
              <a:rPr lang="fr-FR" b="1" dirty="0" smtClean="0">
                <a:solidFill>
                  <a:srgbClr val="C00000"/>
                </a:solidFill>
              </a:rPr>
              <a:t>                -  Les artères marginales</a:t>
            </a:r>
            <a:endParaRPr lang="fr-FR" b="1" dirty="0">
              <a:solidFill>
                <a:srgbClr val="C00000"/>
              </a:solidFill>
            </a:endParaRPr>
          </a:p>
          <a:p>
            <a:r>
              <a:rPr lang="fr-FR" b="1" dirty="0">
                <a:solidFill>
                  <a:srgbClr val="C00000"/>
                </a:solidFill>
              </a:rPr>
              <a:t>                -  L’artère du bord </a:t>
            </a:r>
            <a:r>
              <a:rPr lang="fr-FR" b="1" dirty="0" smtClean="0">
                <a:solidFill>
                  <a:srgbClr val="C00000"/>
                </a:solidFill>
              </a:rPr>
              <a:t>gauche</a:t>
            </a:r>
            <a:endParaRPr lang="fr-FR" b="1" dirty="0">
              <a:solidFill>
                <a:srgbClr val="C00000"/>
              </a:solidFill>
            </a:endParaRPr>
          </a:p>
          <a:p>
            <a:r>
              <a:rPr lang="fr-FR" b="1" dirty="0">
                <a:solidFill>
                  <a:srgbClr val="C00000"/>
                </a:solidFill>
              </a:rPr>
              <a:t>                -  Les artères septales </a:t>
            </a:r>
            <a:r>
              <a:rPr lang="fr-FR" b="1" dirty="0" smtClean="0">
                <a:solidFill>
                  <a:srgbClr val="C00000"/>
                </a:solidFill>
              </a:rPr>
              <a:t>antérieures</a:t>
            </a:r>
            <a:endParaRPr lang="fr-FR" b="1" dirty="0">
              <a:solidFill>
                <a:srgbClr val="C00000"/>
              </a:solidFill>
            </a:endParaRPr>
          </a:p>
          <a:p>
            <a:endParaRPr lang="fr-FR" dirty="0"/>
          </a:p>
        </p:txBody>
      </p:sp>
      <p:pic>
        <p:nvPicPr>
          <p:cNvPr id="2050" name="Picture 2" descr="C:\Users\hp  2016\Desktop\anatomie\anatomie netter\204-2.JPG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32040" y="4437112"/>
            <a:ext cx="3749675" cy="2140081"/>
          </a:xfrm>
          <a:prstGeom prst="rect">
            <a:avLst/>
          </a:prstGeom>
          <a:noFill/>
        </p:spPr>
      </p:pic>
      <p:pic>
        <p:nvPicPr>
          <p:cNvPr id="2051" name="Picture 3" descr="C:\Users\hp  2016\Desktop\anatomie\anatomie netter\204-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67944" y="1380713"/>
            <a:ext cx="5076056" cy="2961548"/>
          </a:xfrm>
          <a:prstGeom prst="rect">
            <a:avLst/>
          </a:prstGeom>
          <a:noFill/>
        </p:spPr>
      </p:pic>
    </p:spTree>
  </p:cSld>
  <p:clrMapOvr>
    <a:masterClrMapping/>
  </p:clrMapOvr>
  <p:transition>
    <p:wheel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u="sng" dirty="0">
                <a:solidFill>
                  <a:schemeClr val="accent6">
                    <a:lumMod val="50000"/>
                  </a:schemeClr>
                </a:solidFill>
              </a:rPr>
              <a:t>B/ L’artère coronaire droite :</a:t>
            </a:r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0" y="1600200"/>
            <a:ext cx="4495800" cy="5257800"/>
          </a:xfrm>
        </p:spPr>
        <p:txBody>
          <a:bodyPr>
            <a:normAutofit fontScale="92500"/>
          </a:bodyPr>
          <a:lstStyle/>
          <a:p>
            <a:r>
              <a:rPr lang="fr-FR" b="1" dirty="0" smtClean="0">
                <a:solidFill>
                  <a:schemeClr val="accent2">
                    <a:lumMod val="75000"/>
                  </a:schemeClr>
                </a:solidFill>
              </a:rPr>
              <a:t>Nait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sur le flanc droit du segment ascendant de la crosse </a:t>
            </a:r>
            <a:r>
              <a:rPr lang="fr-FR" b="1" dirty="0" smtClean="0">
                <a:solidFill>
                  <a:schemeClr val="accent2">
                    <a:lumMod val="75000"/>
                  </a:schemeClr>
                </a:solidFill>
              </a:rPr>
              <a:t>aortique</a:t>
            </a:r>
            <a:endParaRPr lang="fr-FR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fr-FR" b="1" dirty="0" smtClean="0">
                <a:solidFill>
                  <a:schemeClr val="accent2">
                    <a:lumMod val="75000"/>
                  </a:schemeClr>
                </a:solidFill>
              </a:rPr>
              <a:t>parcourt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le sillon </a:t>
            </a: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atrio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-ventriculaire antérieur  jusqu’au niveau du bord droit qu’elle contourne  pour ensuite rejoindre le sillon inter ventriculaire postérieur et devient à ce niveau artère inter ventriculaire postérieure et s’anastomose avec l’artère inter ventriculaire antérieure.</a:t>
            </a:r>
          </a:p>
          <a:p>
            <a:endParaRPr lang="fr-FR" dirty="0"/>
          </a:p>
        </p:txBody>
      </p:sp>
      <p:pic>
        <p:nvPicPr>
          <p:cNvPr id="7170" name="Picture 2" descr="C:\Users\hp  2016\Desktop\vx du coeur\C3.PNG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0152" y="908720"/>
            <a:ext cx="2880320" cy="2862012"/>
          </a:xfrm>
          <a:prstGeom prst="rect">
            <a:avLst/>
          </a:prstGeom>
          <a:noFill/>
        </p:spPr>
      </p:pic>
      <p:pic>
        <p:nvPicPr>
          <p:cNvPr id="7172" name="Picture 4" descr="C:\Users\hp  2016\Desktop\vx du coeur\C2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16016" y="3789040"/>
            <a:ext cx="3096344" cy="2724126"/>
          </a:xfrm>
          <a:prstGeom prst="rect">
            <a:avLst/>
          </a:prstGeom>
          <a:noFill/>
        </p:spPr>
      </p:pic>
    </p:spTree>
  </p:cSld>
  <p:clrMapOvr>
    <a:masterClrMapping/>
  </p:clrMapOvr>
  <p:transition>
    <p:wheel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u="sng" dirty="0" smtClean="0">
                <a:solidFill>
                  <a:schemeClr val="accent2">
                    <a:lumMod val="50000"/>
                  </a:schemeClr>
                </a:solidFill>
              </a:rPr>
              <a:t>B/ L’artère coronaire droite :</a:t>
            </a:r>
            <a:endParaRPr lang="fr-FR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0" y="1600200"/>
            <a:ext cx="4495800" cy="5257800"/>
          </a:xfrm>
        </p:spPr>
        <p:txBody>
          <a:bodyPr>
            <a:normAutofit fontScale="77500" lnSpcReduction="20000"/>
          </a:bodyPr>
          <a:lstStyle/>
          <a:p>
            <a:r>
              <a:rPr lang="fr-FR" b="1" dirty="0" smtClean="0">
                <a:solidFill>
                  <a:schemeClr val="accent6">
                    <a:lumMod val="50000"/>
                  </a:schemeClr>
                </a:solidFill>
              </a:rPr>
              <a:t>Branches </a:t>
            </a:r>
            <a:r>
              <a:rPr lang="fr-FR" b="1" dirty="0">
                <a:solidFill>
                  <a:schemeClr val="accent6">
                    <a:lumMod val="50000"/>
                  </a:schemeClr>
                </a:solidFill>
              </a:rPr>
              <a:t>collatérales : </a:t>
            </a:r>
          </a:p>
          <a:p>
            <a:pPr lvl="0"/>
            <a:r>
              <a:rPr lang="fr-FR" b="1" dirty="0">
                <a:solidFill>
                  <a:schemeClr val="accent4">
                    <a:lumMod val="50000"/>
                  </a:schemeClr>
                </a:solidFill>
              </a:rPr>
              <a:t>Rameaux vasculaires (1) (artère graisseuse droite de Vieussens</a:t>
            </a:r>
            <a:r>
              <a:rPr lang="fr-FR" b="1" dirty="0" smtClean="0">
                <a:solidFill>
                  <a:schemeClr val="accent4">
                    <a:lumMod val="50000"/>
                  </a:schemeClr>
                </a:solidFill>
              </a:rPr>
              <a:t>)</a:t>
            </a:r>
            <a:endParaRPr lang="fr-FR" b="1" dirty="0">
              <a:solidFill>
                <a:schemeClr val="accent4">
                  <a:lumMod val="50000"/>
                </a:schemeClr>
              </a:solidFill>
            </a:endParaRPr>
          </a:p>
          <a:p>
            <a:pPr lvl="0"/>
            <a:r>
              <a:rPr lang="fr-FR" b="1" dirty="0">
                <a:solidFill>
                  <a:schemeClr val="accent4">
                    <a:lumMod val="50000"/>
                  </a:schemeClr>
                </a:solidFill>
              </a:rPr>
              <a:t>Les artères atriales :</a:t>
            </a:r>
          </a:p>
          <a:p>
            <a:r>
              <a:rPr lang="fr-FR" b="1" dirty="0">
                <a:solidFill>
                  <a:schemeClr val="accent4">
                    <a:lumMod val="50000"/>
                  </a:schemeClr>
                </a:solidFill>
              </a:rPr>
              <a:t>               -  Les artères atriales droites antérieures ;</a:t>
            </a:r>
          </a:p>
          <a:p>
            <a:r>
              <a:rPr lang="fr-FR" b="1" dirty="0">
                <a:solidFill>
                  <a:schemeClr val="accent4">
                    <a:lumMod val="50000"/>
                  </a:schemeClr>
                </a:solidFill>
              </a:rPr>
              <a:t>               -  Les artères atriales droites postérieures ;</a:t>
            </a:r>
          </a:p>
          <a:p>
            <a:r>
              <a:rPr lang="fr-FR" b="1" dirty="0">
                <a:solidFill>
                  <a:schemeClr val="accent4">
                    <a:lumMod val="50000"/>
                  </a:schemeClr>
                </a:solidFill>
              </a:rPr>
              <a:t>               -  L’artère atriale du bord droit.</a:t>
            </a:r>
          </a:p>
          <a:p>
            <a:r>
              <a:rPr lang="fr-FR" b="1" dirty="0">
                <a:solidFill>
                  <a:schemeClr val="accent4">
                    <a:lumMod val="50000"/>
                  </a:schemeClr>
                </a:solidFill>
              </a:rPr>
              <a:t>               </a:t>
            </a:r>
          </a:p>
          <a:p>
            <a:pPr lvl="0"/>
            <a:r>
              <a:rPr lang="fr-FR" b="1" dirty="0">
                <a:solidFill>
                  <a:schemeClr val="accent4">
                    <a:lumMod val="50000"/>
                  </a:schemeClr>
                </a:solidFill>
              </a:rPr>
              <a:t>Les artères ventriculaires :</a:t>
            </a:r>
          </a:p>
          <a:p>
            <a:r>
              <a:rPr lang="fr-FR" b="1" dirty="0" smtClean="0">
                <a:solidFill>
                  <a:schemeClr val="accent4">
                    <a:lumMod val="50000"/>
                  </a:schemeClr>
                </a:solidFill>
              </a:rPr>
              <a:t>-  </a:t>
            </a:r>
            <a:r>
              <a:rPr lang="fr-FR" b="1" dirty="0">
                <a:solidFill>
                  <a:schemeClr val="accent4">
                    <a:lumMod val="50000"/>
                  </a:schemeClr>
                </a:solidFill>
              </a:rPr>
              <a:t>L’artère du bord droit: la plus importante.</a:t>
            </a:r>
          </a:p>
          <a:p>
            <a:r>
              <a:rPr lang="fr-FR" b="1" dirty="0">
                <a:solidFill>
                  <a:schemeClr val="accent4">
                    <a:lumMod val="50000"/>
                  </a:schemeClr>
                </a:solidFill>
              </a:rPr>
              <a:t>              -  Les artères septales postérieures: destinées à la cloison.</a:t>
            </a:r>
          </a:p>
          <a:p>
            <a:endParaRPr lang="fr-FR" dirty="0"/>
          </a:p>
        </p:txBody>
      </p:sp>
      <p:pic>
        <p:nvPicPr>
          <p:cNvPr id="3074" name="Picture 2" descr="C:\Users\hp  2016\Desktop\anatomie\anatomie netter\204-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85332" y="4199123"/>
            <a:ext cx="4658668" cy="2658877"/>
          </a:xfrm>
          <a:prstGeom prst="rect">
            <a:avLst/>
          </a:prstGeom>
          <a:noFill/>
        </p:spPr>
      </p:pic>
      <p:pic>
        <p:nvPicPr>
          <p:cNvPr id="3075" name="Picture 3" descr="C:\Users\hp  2016\Desktop\anatomie\anatomie netter\204-1.JPG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27984" y="1412776"/>
            <a:ext cx="4443149" cy="2592288"/>
          </a:xfrm>
          <a:prstGeom prst="rect">
            <a:avLst/>
          </a:prstGeom>
          <a:noFill/>
        </p:spPr>
      </p:pic>
    </p:spTree>
  </p:cSld>
  <p:clrMapOvr>
    <a:masterClrMapping/>
  </p:clrMapOvr>
  <p:transition>
    <p:wheel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u="sng" dirty="0">
                <a:solidFill>
                  <a:schemeClr val="accent6">
                    <a:lumMod val="50000"/>
                  </a:schemeClr>
                </a:solidFill>
              </a:rPr>
              <a:t>C/ territoires vasculaires :</a:t>
            </a:r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0" y="1052736"/>
            <a:ext cx="4495800" cy="5805264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1/Territoire de l’artère coronaire gauche : </a:t>
            </a:r>
            <a:endParaRPr lang="fr-FR" b="1" dirty="0" smtClean="0">
              <a:solidFill>
                <a:srgbClr val="C00000"/>
              </a:solidFill>
            </a:endParaRPr>
          </a:p>
          <a:p>
            <a:r>
              <a:rPr lang="fr-FR" dirty="0" smtClean="0"/>
              <a:t>l’atrium gauche</a:t>
            </a:r>
          </a:p>
          <a:p>
            <a:r>
              <a:rPr lang="fr-FR" dirty="0" smtClean="0"/>
              <a:t> </a:t>
            </a:r>
            <a:r>
              <a:rPr lang="fr-FR" dirty="0"/>
              <a:t>le ventricule </a:t>
            </a:r>
            <a:r>
              <a:rPr lang="fr-FR" dirty="0" smtClean="0"/>
              <a:t>gauche</a:t>
            </a:r>
          </a:p>
          <a:p>
            <a:r>
              <a:rPr lang="fr-FR" dirty="0" smtClean="0"/>
              <a:t> </a:t>
            </a:r>
            <a:r>
              <a:rPr lang="fr-FR" dirty="0"/>
              <a:t>la portion adjacente du ventricule droit (en avant), </a:t>
            </a:r>
            <a:endParaRPr lang="fr-FR" dirty="0" smtClean="0"/>
          </a:p>
          <a:p>
            <a:r>
              <a:rPr lang="fr-FR" dirty="0" smtClean="0"/>
              <a:t>les </a:t>
            </a:r>
            <a:r>
              <a:rPr lang="fr-FR" dirty="0"/>
              <a:t>deux tiers antérieurs du septum inter ventriculaire</a:t>
            </a:r>
            <a:r>
              <a:rPr lang="fr-FR" dirty="0" smtClean="0"/>
              <a:t>,</a:t>
            </a:r>
          </a:p>
          <a:p>
            <a:r>
              <a:rPr lang="fr-FR" dirty="0" smtClean="0"/>
              <a:t> </a:t>
            </a:r>
            <a:r>
              <a:rPr lang="fr-FR" dirty="0"/>
              <a:t>le nœud sinusal de Keith et Flack (dans 1/3 des cas), les deux branches du faisceau de </a:t>
            </a:r>
            <a:r>
              <a:rPr lang="fr-FR" dirty="0" err="1"/>
              <a:t>His</a:t>
            </a:r>
            <a:r>
              <a:rPr lang="fr-FR" dirty="0"/>
              <a:t> du tissu nodal.</a:t>
            </a:r>
          </a:p>
          <a:p>
            <a:endParaRPr lang="fr-FR" dirty="0"/>
          </a:p>
        </p:txBody>
      </p:sp>
      <p:pic>
        <p:nvPicPr>
          <p:cNvPr id="9218" name="Picture 2" descr="C:\Users\hp  2016\Desktop\vx du coeur\C24.PNG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4008" y="1340768"/>
            <a:ext cx="2333424" cy="2304256"/>
          </a:xfrm>
          <a:prstGeom prst="rect">
            <a:avLst/>
          </a:prstGeom>
          <a:noFill/>
        </p:spPr>
      </p:pic>
      <p:pic>
        <p:nvPicPr>
          <p:cNvPr id="9219" name="Picture 3" descr="C:\Users\hp  2016\Desktop\vx du coeur\C27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81825" y="1628800"/>
            <a:ext cx="1910655" cy="1885950"/>
          </a:xfrm>
          <a:prstGeom prst="rect">
            <a:avLst/>
          </a:prstGeom>
          <a:noFill/>
        </p:spPr>
      </p:pic>
      <p:pic>
        <p:nvPicPr>
          <p:cNvPr id="9220" name="Picture 4" descr="C:\Users\hp  2016\Desktop\vx du coeur\C28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76256" y="4149080"/>
            <a:ext cx="1924050" cy="2190750"/>
          </a:xfrm>
          <a:prstGeom prst="rect">
            <a:avLst/>
          </a:prstGeom>
          <a:noFill/>
        </p:spPr>
      </p:pic>
      <p:pic>
        <p:nvPicPr>
          <p:cNvPr id="9221" name="Picture 5" descr="C:\Users\hp  2016\Desktop\vx du coeur\C16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644008" y="4365104"/>
            <a:ext cx="2123877" cy="1882082"/>
          </a:xfrm>
          <a:prstGeom prst="rect">
            <a:avLst/>
          </a:prstGeom>
          <a:noFill/>
        </p:spPr>
      </p:pic>
    </p:spTree>
  </p:cSld>
  <p:clrMapOvr>
    <a:masterClrMapping/>
  </p:clrMapOvr>
  <p:transition>
    <p:wheel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u="sng" dirty="0">
                <a:solidFill>
                  <a:schemeClr val="accent6">
                    <a:lumMod val="50000"/>
                  </a:schemeClr>
                </a:solidFill>
              </a:rPr>
              <a:t>C/ territoires vasculaires :</a:t>
            </a:r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0" y="1052736"/>
            <a:ext cx="4495800" cy="5805264"/>
          </a:xfrm>
        </p:spPr>
        <p:txBody>
          <a:bodyPr>
            <a:normAutofit fontScale="92500" lnSpcReduction="10000"/>
          </a:bodyPr>
          <a:lstStyle/>
          <a:p>
            <a:r>
              <a:rPr lang="fr-FR" b="1" dirty="0" smtClean="0">
                <a:solidFill>
                  <a:srgbClr val="C00000"/>
                </a:solidFill>
              </a:rPr>
              <a:t>1/Territoire </a:t>
            </a:r>
            <a:r>
              <a:rPr lang="fr-FR" b="1" dirty="0">
                <a:solidFill>
                  <a:srgbClr val="C00000"/>
                </a:solidFill>
              </a:rPr>
              <a:t>de l’artère coronaire droite :</a:t>
            </a:r>
            <a:r>
              <a:rPr lang="fr-FR" dirty="0">
                <a:solidFill>
                  <a:srgbClr val="C00000"/>
                </a:solidFill>
              </a:rPr>
              <a:t> </a:t>
            </a:r>
            <a:endParaRPr lang="fr-FR" dirty="0" smtClean="0">
              <a:solidFill>
                <a:srgbClr val="C00000"/>
              </a:solidFill>
            </a:endParaRPr>
          </a:p>
          <a:p>
            <a:r>
              <a:rPr lang="fr-FR" dirty="0" smtClean="0"/>
              <a:t>l’atrium </a:t>
            </a:r>
            <a:r>
              <a:rPr lang="fr-FR" dirty="0"/>
              <a:t>droit, </a:t>
            </a:r>
            <a:endParaRPr lang="fr-FR" dirty="0" smtClean="0"/>
          </a:p>
          <a:p>
            <a:r>
              <a:rPr lang="fr-FR" dirty="0" smtClean="0"/>
              <a:t>Le ventricule droit</a:t>
            </a:r>
          </a:p>
          <a:p>
            <a:r>
              <a:rPr lang="fr-FR" dirty="0" smtClean="0"/>
              <a:t>la </a:t>
            </a:r>
            <a:r>
              <a:rPr lang="fr-FR" dirty="0"/>
              <a:t>portion adjacente du ventricule gauche en </a:t>
            </a:r>
            <a:r>
              <a:rPr lang="fr-FR" dirty="0" smtClean="0"/>
              <a:t>arrière</a:t>
            </a:r>
          </a:p>
          <a:p>
            <a:r>
              <a:rPr lang="fr-FR" dirty="0" smtClean="0"/>
              <a:t>le </a:t>
            </a:r>
            <a:r>
              <a:rPr lang="fr-FR" dirty="0"/>
              <a:t>septum </a:t>
            </a:r>
            <a:r>
              <a:rPr lang="fr-FR" dirty="0" smtClean="0"/>
              <a:t>inter-atrial</a:t>
            </a:r>
          </a:p>
          <a:p>
            <a:r>
              <a:rPr lang="fr-FR" dirty="0" smtClean="0"/>
              <a:t>le </a:t>
            </a:r>
            <a:r>
              <a:rPr lang="fr-FR" dirty="0"/>
              <a:t>tiers postérieur de la cloison inter </a:t>
            </a:r>
            <a:r>
              <a:rPr lang="fr-FR" dirty="0" smtClean="0"/>
              <a:t>ventriculaire</a:t>
            </a:r>
          </a:p>
          <a:p>
            <a:r>
              <a:rPr lang="fr-FR" dirty="0" smtClean="0"/>
              <a:t>le </a:t>
            </a:r>
            <a:r>
              <a:rPr lang="fr-FR" dirty="0"/>
              <a:t>nœud sinusal de Keith et Flack (dans 2/3 des cas), le nœud auriculo-ventriculaire d’</a:t>
            </a:r>
            <a:r>
              <a:rPr lang="fr-FR" dirty="0" err="1"/>
              <a:t>Aschoff</a:t>
            </a:r>
            <a:r>
              <a:rPr lang="fr-FR" dirty="0"/>
              <a:t>-</a:t>
            </a:r>
            <a:r>
              <a:rPr lang="fr-FR" dirty="0" err="1"/>
              <a:t>Tawara</a:t>
            </a:r>
            <a:r>
              <a:rPr lang="fr-FR" dirty="0"/>
              <a:t>, le tronc du faisceau de </a:t>
            </a:r>
            <a:r>
              <a:rPr lang="fr-FR" dirty="0" err="1"/>
              <a:t>His</a:t>
            </a:r>
            <a:r>
              <a:rPr lang="fr-FR" dirty="0"/>
              <a:t> et une partie de la branche gauche du faisceau de </a:t>
            </a:r>
            <a:r>
              <a:rPr lang="fr-FR" dirty="0" err="1"/>
              <a:t>His</a:t>
            </a:r>
            <a:r>
              <a:rPr lang="fr-FR" dirty="0"/>
              <a:t>.</a:t>
            </a:r>
          </a:p>
          <a:p>
            <a:endParaRPr lang="fr-FR" dirty="0"/>
          </a:p>
        </p:txBody>
      </p:sp>
      <p:pic>
        <p:nvPicPr>
          <p:cNvPr id="10242" name="Picture 2" descr="C:\Users\hp  2016\Desktop\vx du coeur\C24.PNG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1268760"/>
            <a:ext cx="2232248" cy="2204344"/>
          </a:xfrm>
          <a:prstGeom prst="rect">
            <a:avLst/>
          </a:prstGeom>
          <a:noFill/>
        </p:spPr>
      </p:pic>
      <p:pic>
        <p:nvPicPr>
          <p:cNvPr id="10243" name="Picture 3" descr="C:\Users\hp  2016\Desktop\vx du coeur\C28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19950" y="3861048"/>
            <a:ext cx="1672530" cy="2190750"/>
          </a:xfrm>
          <a:prstGeom prst="rect">
            <a:avLst/>
          </a:prstGeom>
          <a:noFill/>
        </p:spPr>
      </p:pic>
      <p:pic>
        <p:nvPicPr>
          <p:cNvPr id="7" name="Picture 3" descr="C:\Users\hp  2016\Desktop\vx du coeur\C27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81825" y="1268760"/>
            <a:ext cx="1910655" cy="1885950"/>
          </a:xfrm>
          <a:prstGeom prst="rect">
            <a:avLst/>
          </a:prstGeom>
          <a:noFill/>
        </p:spPr>
      </p:pic>
      <p:pic>
        <p:nvPicPr>
          <p:cNvPr id="10244" name="Picture 4" descr="C:\Users\hp  2016\Desktop\vx du coeur\C16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72000" y="4005064"/>
            <a:ext cx="2195885" cy="1945892"/>
          </a:xfrm>
          <a:prstGeom prst="rect">
            <a:avLst/>
          </a:prstGeom>
          <a:noFill/>
        </p:spPr>
      </p:pic>
    </p:spTree>
  </p:cSld>
  <p:clrMapOvr>
    <a:masterClrMapping/>
  </p:clrMapOvr>
  <p:transition>
    <p:wheel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u="sng" dirty="0">
                <a:solidFill>
                  <a:schemeClr val="accent6">
                    <a:lumMod val="50000"/>
                  </a:schemeClr>
                </a:solidFill>
              </a:rPr>
              <a:t>D/Anastomoses :</a:t>
            </a:r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0" y="1124744"/>
            <a:ext cx="4495800" cy="5733256"/>
          </a:xfrm>
        </p:spPr>
        <p:txBody>
          <a:bodyPr>
            <a:normAutofit lnSpcReduction="10000"/>
          </a:bodyPr>
          <a:lstStyle/>
          <a:p>
            <a:r>
              <a:rPr lang="fr-FR" b="1" dirty="0">
                <a:solidFill>
                  <a:schemeClr val="accent4">
                    <a:lumMod val="75000"/>
                  </a:schemeClr>
                </a:solidFill>
              </a:rPr>
              <a:t>Les artères coronaires forment un riche réseau anastomotique </a:t>
            </a:r>
            <a:r>
              <a:rPr lang="fr-FR" b="1" dirty="0" err="1">
                <a:solidFill>
                  <a:schemeClr val="accent4">
                    <a:lumMod val="75000"/>
                  </a:schemeClr>
                </a:solidFill>
              </a:rPr>
              <a:t>épicardique</a:t>
            </a:r>
            <a:r>
              <a:rPr lang="fr-FR" b="1" dirty="0">
                <a:solidFill>
                  <a:schemeClr val="accent4">
                    <a:lumMod val="75000"/>
                  </a:schemeClr>
                </a:solidFill>
              </a:rPr>
              <a:t>. A partir de ce réseau, des artères droites vont pénétrer dans le myocarde pour </a:t>
            </a:r>
            <a:r>
              <a:rPr lang="fr-FR" b="1" dirty="0" err="1">
                <a:solidFill>
                  <a:schemeClr val="accent4">
                    <a:lumMod val="75000"/>
                  </a:schemeClr>
                </a:solidFill>
              </a:rPr>
              <a:t>vasculariser</a:t>
            </a:r>
            <a:r>
              <a:rPr lang="fr-FR" b="1" dirty="0">
                <a:solidFill>
                  <a:schemeClr val="accent4">
                    <a:lumMod val="75000"/>
                  </a:schemeClr>
                </a:solidFill>
              </a:rPr>
              <a:t> les territoires correspondants. </a:t>
            </a:r>
          </a:p>
          <a:p>
            <a:r>
              <a:rPr lang="fr-FR" b="1" dirty="0">
                <a:solidFill>
                  <a:schemeClr val="accent3">
                    <a:lumMod val="50000"/>
                  </a:schemeClr>
                </a:solidFill>
              </a:rPr>
              <a:t>Ces artères droites ne présentent pas d’anastomoses entre elles (</a:t>
            </a:r>
            <a:r>
              <a:rPr lang="fr-FR" b="1" dirty="0">
                <a:solidFill>
                  <a:srgbClr val="FF0000"/>
                </a:solidFill>
              </a:rPr>
              <a:t>elles sont dites de type terminales</a:t>
            </a:r>
            <a:r>
              <a:rPr lang="fr-FR" b="1" dirty="0">
                <a:solidFill>
                  <a:schemeClr val="accent3">
                    <a:lumMod val="50000"/>
                  </a:schemeClr>
                </a:solidFill>
              </a:rPr>
              <a:t>). Ceci explique les mécanismes de </a:t>
            </a:r>
            <a:r>
              <a:rPr lang="fr-FR" b="1" dirty="0">
                <a:solidFill>
                  <a:srgbClr val="C00000"/>
                </a:solidFill>
              </a:rPr>
              <a:t>l’infarctus du myocarde. </a:t>
            </a:r>
          </a:p>
          <a:p>
            <a:endParaRPr lang="fr-FR" dirty="0"/>
          </a:p>
        </p:txBody>
      </p:sp>
      <p:pic>
        <p:nvPicPr>
          <p:cNvPr id="11266" name="Picture 2" descr="C:\Users\hp  2016\Desktop\vx du coeur\C15.PNG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32040" y="1484784"/>
            <a:ext cx="3737204" cy="3981559"/>
          </a:xfrm>
          <a:prstGeom prst="rect">
            <a:avLst/>
          </a:prstGeom>
          <a:noFill/>
        </p:spPr>
      </p:pic>
    </p:spTree>
  </p:cSld>
  <p:clrMapOvr>
    <a:masterClrMapping/>
  </p:clrMapOvr>
  <p:transition>
    <p:wheel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922114"/>
          </a:xfrm>
        </p:spPr>
        <p:txBody>
          <a:bodyPr/>
          <a:lstStyle/>
          <a:p>
            <a:r>
              <a:rPr lang="fr-FR" b="1" dirty="0" smtClean="0">
                <a:solidFill>
                  <a:srgbClr val="FF0000"/>
                </a:solidFill>
              </a:rPr>
              <a:t>Infarctus du myocarde IDM</a:t>
            </a:r>
            <a:endParaRPr lang="fr-FR" b="1" dirty="0">
              <a:solidFill>
                <a:srgbClr val="FF0000"/>
              </a:solidFill>
            </a:endParaRPr>
          </a:p>
        </p:txBody>
      </p:sp>
      <p:pic>
        <p:nvPicPr>
          <p:cNvPr id="3074" name="Picture 2" descr="C:\Users\hp  2016\Desktop\Nouveau dossier (4)\IMG_20220923_190420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2636912"/>
            <a:ext cx="4412556" cy="3965606"/>
          </a:xfrm>
          <a:prstGeom prst="rect">
            <a:avLst/>
          </a:prstGeom>
          <a:noFill/>
        </p:spPr>
      </p:pic>
      <p:pic>
        <p:nvPicPr>
          <p:cNvPr id="3075" name="Picture 3" descr="C:\Users\hp  2016\Desktop\Nouveau dossier (4)\IMG_20220923_190501.jpg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23728" y="1196752"/>
            <a:ext cx="6631905" cy="3905756"/>
          </a:xfrm>
          <a:prstGeom prst="rect">
            <a:avLst/>
          </a:prstGeom>
          <a:noFill/>
        </p:spPr>
      </p:pic>
    </p:spTree>
  </p:cSld>
  <p:clrMapOvr>
    <a:masterClrMapping/>
  </p:clrMapOvr>
  <p:transition>
    <p:wheel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 smtClean="0">
                <a:solidFill>
                  <a:srgbClr val="FF0000"/>
                </a:solidFill>
              </a:rPr>
              <a:t>Coronarographie</a:t>
            </a:r>
            <a:endParaRPr lang="fr-FR" b="1" u="sng" dirty="0">
              <a:solidFill>
                <a:srgbClr val="FF0000"/>
              </a:solidFill>
            </a:endParaRPr>
          </a:p>
        </p:txBody>
      </p:sp>
      <p:pic>
        <p:nvPicPr>
          <p:cNvPr id="4098" name="Picture 2" descr="C:\Users\hp  2016\Desktop\anatomie\anatomie netter\206-2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188" y="2624482"/>
            <a:ext cx="4523887" cy="3180782"/>
          </a:xfrm>
          <a:prstGeom prst="rect">
            <a:avLst/>
          </a:prstGeom>
          <a:noFill/>
        </p:spPr>
      </p:pic>
      <p:pic>
        <p:nvPicPr>
          <p:cNvPr id="4099" name="Picture 3" descr="C:\Users\hp  2016\Desktop\anatomie\anatomie netter\207-2.JPG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4008" y="2564904"/>
            <a:ext cx="4210050" cy="2952328"/>
          </a:xfrm>
          <a:prstGeom prst="rect">
            <a:avLst/>
          </a:prstGeom>
          <a:noFill/>
        </p:spPr>
      </p:pic>
    </p:spTree>
  </p:cSld>
  <p:clrMapOvr>
    <a:masterClrMapping/>
  </p:clrMapOvr>
  <p:transition>
    <p:whee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74133" y="2005013"/>
            <a:ext cx="8128000" cy="3352800"/>
          </a:xfrm>
        </p:spPr>
        <p:txBody>
          <a:bodyPr/>
          <a:lstStyle/>
          <a:p>
            <a:pPr algn="ctr">
              <a:buFont typeface="Monotype Sorts"/>
              <a:buNone/>
            </a:pPr>
            <a:r>
              <a:rPr lang="fr-FR" altLang="fr-FR" smtClean="0"/>
              <a:t>MEEEEEEERCI</a:t>
            </a:r>
          </a:p>
        </p:txBody>
      </p:sp>
      <p:pic>
        <p:nvPicPr>
          <p:cNvPr id="150531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703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0532" name="ZoneTexte 4"/>
          <p:cNvSpPr txBox="1">
            <a:spLocks noChangeArrowheads="1"/>
          </p:cNvSpPr>
          <p:nvPr/>
        </p:nvSpPr>
        <p:spPr bwMode="auto">
          <a:xfrm>
            <a:off x="0" y="5661026"/>
            <a:ext cx="38735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/>
            <a:r>
              <a:rPr lang="fr-FR" altLang="fr-FR" sz="6600">
                <a:solidFill>
                  <a:srgbClr val="000000"/>
                </a:solidFill>
              </a:rPr>
              <a:t>MERCI</a:t>
            </a:r>
          </a:p>
          <a:p>
            <a:pPr algn="ctr" eaLnBrk="0" hangingPunct="0"/>
            <a:endParaRPr lang="fr-FR" altLang="fr-FR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wheel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pitaux">
  <a:themeElements>
    <a:clrScheme name="Capitaux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pitaux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apitaux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379</TotalTime>
  <Words>576</Words>
  <Application>Microsoft Office PowerPoint</Application>
  <PresentationFormat>Affichage à l'écran (4:3)</PresentationFormat>
  <Paragraphs>69</Paragraphs>
  <Slides>14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5" baseType="lpstr">
      <vt:lpstr>Capitaux</vt:lpstr>
      <vt:lpstr>Vascularisation artérielle du cœur</vt:lpstr>
      <vt:lpstr>Diapositive 2</vt:lpstr>
      <vt:lpstr>I/Vascularisation artérielle du cœur : </vt:lpstr>
      <vt:lpstr>Diapositive 4</vt:lpstr>
      <vt:lpstr>A/L’artère coronaire gauche : </vt:lpstr>
      <vt:lpstr>A/L’artère coronaire gauche :</vt:lpstr>
      <vt:lpstr>B/ L’artère coronaire droite : </vt:lpstr>
      <vt:lpstr>B/ L’artère coronaire droite :</vt:lpstr>
      <vt:lpstr>C/ territoires vasculaires : </vt:lpstr>
      <vt:lpstr>C/ territoires vasculaires : </vt:lpstr>
      <vt:lpstr>D/Anastomoses : </vt:lpstr>
      <vt:lpstr>Infarctus du myocarde IDM</vt:lpstr>
      <vt:lpstr>Coronarographie</vt:lpstr>
      <vt:lpstr>Diapositive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Vascularisation du cœur</dc:title>
  <dc:creator>hp  2016</dc:creator>
  <cp:lastModifiedBy>hp  2016</cp:lastModifiedBy>
  <cp:revision>23</cp:revision>
  <dcterms:created xsi:type="dcterms:W3CDTF">2021-10-15T21:49:48Z</dcterms:created>
  <dcterms:modified xsi:type="dcterms:W3CDTF">2022-09-26T07:20:02Z</dcterms:modified>
</cp:coreProperties>
</file>