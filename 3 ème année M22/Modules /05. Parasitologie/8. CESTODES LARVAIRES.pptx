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447" r:id="rId3"/>
    <p:sldId id="371" r:id="rId4"/>
    <p:sldId id="443" r:id="rId5"/>
    <p:sldId id="419" r:id="rId6"/>
    <p:sldId id="453" r:id="rId7"/>
    <p:sldId id="463" r:id="rId8"/>
    <p:sldId id="420" r:id="rId9"/>
    <p:sldId id="372" r:id="rId10"/>
    <p:sldId id="450" r:id="rId11"/>
    <p:sldId id="397" r:id="rId12"/>
    <p:sldId id="457" r:id="rId13"/>
    <p:sldId id="421" r:id="rId14"/>
    <p:sldId id="261" r:id="rId15"/>
    <p:sldId id="431" r:id="rId16"/>
    <p:sldId id="422" r:id="rId17"/>
    <p:sldId id="434" r:id="rId18"/>
    <p:sldId id="435" r:id="rId19"/>
    <p:sldId id="445" r:id="rId20"/>
    <p:sldId id="423" r:id="rId21"/>
    <p:sldId id="441" r:id="rId22"/>
    <p:sldId id="444" r:id="rId23"/>
    <p:sldId id="437" r:id="rId24"/>
    <p:sldId id="448" r:id="rId25"/>
    <p:sldId id="438" r:id="rId26"/>
    <p:sldId id="264" r:id="rId27"/>
    <p:sldId id="300" r:id="rId28"/>
    <p:sldId id="272" r:id="rId29"/>
    <p:sldId id="301" r:id="rId3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C6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9C6B6-FE6D-497B-A402-FCFA637F17F7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E7BA0-AD0B-416E-B962-BD34CABF4F7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D4B35E-B5E7-4FE4-9863-D13B531D86BC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D4B35E-B5E7-4FE4-9863-D13B531D86BC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D4B35E-B5E7-4FE4-9863-D13B531D86BC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re et 4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DF0EBF-EEBE-4522-BEF6-89AF043012AE}" type="slidenum">
              <a:rPr lang="ar-DZ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52BB5-A78F-4583-998C-588DB53F22A3}" type="datetimeFigureOut">
              <a:rPr lang="fr-FR" smtClean="0"/>
              <a:pPr/>
              <a:t>30/10/2022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E30E-7415-4BE1-8E80-C02682B31F8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://upload.wikimedia.org/wikipedia/commons/3/3c/Histopathology_of_Echinococcus_granulosus_hydatid_cyst_in_a_sheep_09G0016_lores.jpg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hyperlink" Target="http://www.pathconsultddx.com/pathCon/largeImage?pii=S1559-8675(06)70829-4&amp;figureId=fig1" TargetMode="External"/><Relationship Id="rId7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5.jpeg"/><Relationship Id="rId7" Type="http://schemas.openxmlformats.org/officeDocument/2006/relationships/image" Target="../media/image23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hyperlink" Target="http://parasitology.ru/library/coenurus.jpg" TargetMode="External"/><Relationship Id="rId7" Type="http://schemas.openxmlformats.org/officeDocument/2006/relationships/image" Target="../media/image7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9" Type="http://schemas.openxmlformats.org/officeDocument/2006/relationships/image" Target="../media/image23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36.jpeg"/><Relationship Id="rId7" Type="http://schemas.openxmlformats.org/officeDocument/2006/relationships/image" Target="../media/image39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/>
          <p:cNvSpPr txBox="1">
            <a:spLocks/>
          </p:cNvSpPr>
          <p:nvPr/>
        </p:nvSpPr>
        <p:spPr>
          <a:xfrm>
            <a:off x="1071538" y="642918"/>
            <a:ext cx="6758006" cy="1143000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fr-FR" sz="5400" b="0" i="0" u="none" strike="noStrike" kern="1200" cap="none" spc="0" normalizeH="0" baseline="0" noProof="0" smtClean="0">
                <a:ln w="18415" cmpd="sng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+mj-lt"/>
                <a:ea typeface="+mn-ea"/>
                <a:cs typeface="Aharoni" pitchFamily="2" charset="-79"/>
              </a:rPr>
              <a:t>Cestodes </a:t>
            </a:r>
            <a:r>
              <a:rPr kumimoji="0" lang="fr-FR" sz="5400" b="0" i="0" u="none" strike="noStrike" kern="1200" cap="none" spc="0" normalizeH="0" noProof="0" dirty="0" smtClean="0">
                <a:ln w="18415" cmpd="sng">
                  <a:solidFill>
                    <a:sysClr val="windowText" lastClr="000000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+mj-lt"/>
                <a:ea typeface="+mn-ea"/>
                <a:cs typeface="Aharoni" pitchFamily="2" charset="-79"/>
              </a:rPr>
              <a:t>larvaires</a:t>
            </a:r>
            <a:endParaRPr kumimoji="0" lang="fr-FR" sz="5400" b="1" i="0" u="none" strike="noStrike" kern="1200" cap="none" spc="0" normalizeH="0" baseline="0" noProof="0" dirty="0">
              <a:ln w="18415" cmpd="sng">
                <a:solidFill>
                  <a:sysClr val="windowText" lastClr="000000"/>
                </a:solidFill>
                <a:prstDash val="solid"/>
              </a:ln>
              <a:solidFill>
                <a:schemeClr val="tx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+mj-lt"/>
              <a:ea typeface="+mn-ea"/>
              <a:cs typeface="Aharoni" pitchFamily="2" charset="-79"/>
            </a:endParaRPr>
          </a:p>
        </p:txBody>
      </p:sp>
      <p:sp>
        <p:nvSpPr>
          <p:cNvPr id="54274" name="AutoShape 2" descr="data:image/jpeg;base64,/9j/4AAQSkZJRgABAQAAAQABAAD/2wCEAAkGBhMREBQUEhQUFREWFBcYFhYYGBgWFxYVGBQWFRcVFRkdGyYeHBkjGRYVHzAhJispLSwsFx8yNTAqNygrLikBCQoKBQUFDQUFDSkYEhgpKSkpKSkpKSkpKSkpKSkpKSkpKSkpKSkpKSkpKSkpKSkpKSkpKSkpKSkpKSkpKSkpKf/AABEIAHoBmwMBIgACEQEDEQH/xAAbAAEAAgMBAQAAAAAAAAAAAAAABQYBAwQHAv/EAEYQAAIBAwIEBQEFBQIKCwAAAAECAwAEERIhBQYTMRQiQVFhMiNCYnGRByRScoEzghUlNFNkc5KxwdIWNVRVdJOhs8PR0//EABQBAQAAAAAAAAAAAAAAAAAAAAD/xAAUEQEAAAAAAAAAAAAAAAAAAAAA/9oADAMBAAIRAxEAPwD3ClKUClKUClM1jNBmlYJqLuOaLZGZTKpZPrVcyMpzjDBASp+DQStK4eE8cguk128qSp2JUg4Psw7qfg4ruoFKUoFKUoFKUoFKUoFKUoFKUoFKUoFKUoFKUoFKE1xcT4zDbR9SeRIkzjUxxknso9z8Deg7aVWLnm2VlzaWNzcA9mYJbIfnMxD4+QtV6w524ndXEcUMNjGzJK0iSPOzwmJ0R45cKuHzImAARg5zjGQ9IpVaF5xSMangtJQPuxTSI/8AdMkek/kSv51u5d5zt7wsiFkuEyJLeVenNGR3DL6423XI3HvQT9KUoFKUoFKVE8e5hjtVUENJLIdMMKbySvjJCjsABuWOAo3JoJUmo+75htos9SeFNPcNIikfmCc1DDgEk4MnEZcR4J8NG7JbxqN/tXGlpjjuWwnfC+tREfNXB4ZlFvCJZQCENtatIAudzGyJp7+q5z70FiHNZfeC1upl9HCJCh/lMzoSPkAj5rJ5guP+77j/AM21/wD3rksP2h2sk6wOJ7ed9kS4hkhLn2UsNJPxnf0q0CghBzBPnewuce4e1P8A89Y/6WKv9rb3cI92hLqPktEXAHyancVjFBy2HFYp11QyJIucEowYA+xx2Pwa681E8T5fSRuohMVyB5ZkAD/yuO0ifhbI9sHevng/F2ZzBOoS5QaiAfJKmw60Od9GTgg7qTg5yCQmKUpQKUpQKUpQKUpQQfNHHHt1jSEK11PIIoFY+XVjU8j436aICxx8D1rjh5LOktJd3jXLfVMsrIAe+Eg3hCD0UqfnNfPDAJ+K3cjb+Fjht4/wtIvXmYfLBoRn8NWG/vUhieWQ6Y40Z2PsqgsT+goKTxjj1x4KaFnxMl5DZy3CDT9lMYczqOyv05gD6K2SPSrlwrhcVtEsUCLHGvZVGB8k+5PqTufWoHgXA/EW1y13Hhb5zI0Db9OMxRxorEYxJpjVjjs3btXGLSXhl1babi4ns7iXoNHM3VaGRkzC0b41aMoVIJP1A0HZzVZrbSR38elJI3RLg4AEttJIqOJPcoSJFb00n0Jq1CormkA2N1qGV8NNkfHSaurgrlraEtuxijJPyUXNB2UpSgUpSgUpWGoM0qoy8z3V1MycOjhaKNistzOXERcbGOAJ5nIOxb6Qdt65L/n2WzkFvdxRm6l0+GEMhEc5Z9BDs6gw6TgnOrY7ZO1BeaVX9PEQmvXaO+CTCElRe/0rOXJBxtqMe59BXfwLjaXUWtQysGKSRtgSRSL9UcgHZhsfYggjIINBI0pSgUpSgUpSgUpWDQQ3MvMHhUQIhluZW0QQg4Mj4zlj92NR5mb0HyRnztob+xvkvuIweKB1QhopFfpySyqIehE4TpLsEzkk68k52q3cIuEm4he3Luui2K2seWwI8Istw25wCzsi5P8AmgK4eaebra5t3SEzuEdHFzFbyTwRSQyLKGd1ADICmG0k7ZoIvnzjPFUtg7RLFBNLHEYoXY3catIuD1B5dTgMmFGxcbnevpuJWmiJeExzC+iLlEEEu7SYEiXjygYRiqlmL6hoBBOMVPcN4PcXrwXF3cW8kEZEsMVsrdKSTfpzO7ks2AchRgZ33xVwxQVPifN8/Xa2s7Q3U0aqZ2MqwxRM66lXUwJYkebA9CPnENacuTXQktZ2RJVdbm5nRQZOvNkotoW/s1jjRY+qck6cADepzjHC7i3mnurWWBVkRWnS4EmgGJCBMrIcqdAAIIIIUHaoPl7mYpI13dw32qaNUWVbRhbiFWZkCpG8ku5YnVIM+b7tBa+VruTQ8E79S4t30O5ABkQjXFLgfxIRn8SuPSpyqHDxSWTicF0InhtJFa0zLrjkmchp45BCR5UDI6gvhj1Ttg1fKBSlDQcXF+KR20Mk0pxHGpZvf4Cj1YnAA9SQKhuXOHOoe9u/LdSrkqTkW0AyywLttgbufvNn2FfHFh4riENsR9jbqt1N7M5ZktkO/oyPLv6xrUjzdEW4ddqv1G1nA/MwuBQec8ZEnFLjF3eeCsXhWaziIQLMp1YecudDsNKOYjnCuO25q7cr24PDUkt0WOeWDVqOW1SFDpd2bzMurBGr7pFR9nzKZUtjcWsYsboxxwEkO4Zl+z6sRXSFfGxUkjK5AztdAwGBt8D/AOv6UHkcnCuGmyhiktyt0rRNczTROssbiRTO8sxXLs51Kqqzay66RjcXfkHmOO6iljSRpGtpWiLMGV2TvGzqwDB9PlOQCWRjXPzi89wWt7RP3iHpziZpFRYnPUCYBR9ZIWTIIAAPfPaL/ZvaReIa4haV2ntI5Lh5XDu0zTShdWnyjARwAu2kLQei1jNQ/NnHTZ2ryKuuU4SGP/OTudMSDf1YjPwCaonM3Lxjit0uJWe9unKNcXEj+Ht26RdunErLEPp0oMdznJxuHqeaiuYOEmaMNGQtzEdcD/wyYxpb8DjysPUH3AxTOUuCD7eGK4BltxFou4GcIzujEpNEZGicrpUsB3Eg+k71deAcUNxD51CTIzRzIDkJKvcAnupBVgfVWWg3cG4kLiFJAMah5lPdHBKvG34lYMp+RXdUBCnQ4gVXaK6jaTT6C4iKBiPYvGyk/MWe5NT9ApSlApSlApSlBVuHMYuL3aHYT28EyfJjLQS/1H2X6ipzi/DFuYJYXzokRkbGxAYYyPmuHmLgjTdOWFgl1ASYmOShDAB4ZQNzG4ABxuCFYbjfjtOe4QenefudwNik3lQn3imOI5FPoQc+4FB9R8Wu7YlLiCS4XbRPbquW9xLCXyj/ACpKnP3e1c3g7m9uYJZovD2tvKZUjdg00sojZEdwhKRqutjjUxJxnFTEnNdko3u7YfnNH/zVGSc9xynRYxveye8YxAv89ww0Afy6j8UG/ni802ckS7zXI8PCvYtJMCmR8KpZyfQIan4IwqhR2AAH5AYFV/g3L0nW8VeMsl1pKxqgIit0b6kizuWO2qQ7nAAwNqsYoFKUoFKUoFVrnviUkdssULFbi6lS2iYfcMhOqT+7GHbPuBVlqo88Yin4dctnpw3gR/4QtxG8Akb+V2Tf2Y0HVxRhw6wRLWNSVMMECn6Q0kixI0h74y2onud/U1iz5Jh0Si5/e5ZwBNJKB5lByqIo2jjUnIVex3yTvUjzBwjxUBjDmNw8ciPgNpkikWRCR6rqUZHtntUYOO30fkewaV/SSCaLot7n7VldPyIP5nvQcS2b8NurVIppZLW5lMJglcyGI9J5VeB284UdMgqSR5hjFSPEUMF/byp9Nzqt5l9ysUk0Mn8y9ORPkOP4RWjhnDLme8W6vFjiWJGW3gR+qVaTAkmkfSAWKjQAMgAn3ro41J1L2yhH1I8ly/4USJ4VyPTU8wx/I3tQWEVmsCs0ClKUClKUCsGs1g0HjXBP2VeOkuLqafQ3jLkBFiiYhkuZM9YupDnPbbYbVaZeZL6yiWGW0hLDyR3HXhgtm9FdkYhk9yig+uDW1eOpw67vYpI5mST98TpoXwjIqTk9sBZEyf8AWioTgHNNldT3V1NbXDo7ILeSS1lmUwCJQY4wqOq/arIcfeLD+gXjk3gZs7KOEuHYamZlGE1SO0jCMeiAsQPjFTea845a4rexxtbWdqmmB3ZhcSNF0o5XeaC1UKrfaCFoyc7IGUH4l4eYpb6RYbctauqyG41oryRvG6x9FQSUJy2ovuNOnH1bBZ7+ySaJ4pBmORGRh7qwKsP0JrzqTjs1vJ4H/CVuiKwiFxJDL10GBiJpCPDNKFKjUSO4JUmrPwTiUy30tnNIJ9MEcyyhBGyh3dDHKFOnPlDAgDYnPaq/xO3ubIX6vZm8sbmSSdmWWNOlG6DrKyP3YaSwxnPxQZ4xyb4SayktpJdL3sAuFkkaUzHVqE/mziUEHJXAKk7YFeiivOeQ7SeaWJ3u/FWVtDGICYREes8WxY6iWZIHUEn70hHdTXo9ArBrNYNBWeUPtJr+cj67xo1PulvGkAx/fWX9asrDaq7yHtbSDfK3l6Dnc/5ZMd/1qyUHndvy/b8NuercxvJCp/drk9SbwiYAFuyb9NRvpkAxjZiCATUOMc+Wc0crllbi/idNuwyVgRJwImjmxoEWhdTY+suQR7e4MQNztj19qpnE+fYQsr2Nu14YsGV4sCNBgkkyYJfAGcIGoPjinEI7xg1kl1JMVKGSIG3haPfyTTSJpZMsSCgZhk6cZNTvKfLgsoNHlLsQXKghRhQipGCSQiIqqMnJwSdyaiOKcYvooY5BJaM8zokESRSSCRnBZR1WmQadILFtI2U9+1bJ+abm0aFb2FH6zFFa16khV1QuQ0TDUV0qxypJ27dqCA/bEZzPw1YUuHHWldlt2KzYVEB6ZAODod9/93euvg9vDbidr8iCyn0CK3vZhK7MmdcziRmCs+V8gJxpycGrJxKAXsMU1pKnUjfqQSbsmrDIySAb6WVmRhsR8EV5w9zd2lxdtNaW0b3EjN4m6aSRER0CmJZEjZTGpBwCUJXAK0F7vOINE0dpwyG31tF1iWykEUJbSHxGMsztnAHfSSTtXHybxeSbiF6kkQjljjt1nCOJIjMOoA8bbHzRdMYYAjQAe1RfR4fJBbwQl726gt0hU2sskeVVQPtpo3CJEWGTqJxnYE1auS+U4+H2/TQLrdzJKVzpLt6Lk50KAFGcnAydyaDZxr/K7HHfqzfp4WX/AIlf/Sp2oO5w/EoB/m7eeT8md4Y1P6CWpygUpSg+XcKCSQABkk7AAdyTUXY80200gjjkyzAlMq6rIAMkwsyhZABvlCdt65+eCPBPq/stcPWz28P4iLxGr8PR6mfjNdnGRAVj8RjaeIxZ1Z6+sCPTp3zk7+mnVny5oN6cWiMckmtRHGzrIx8oUxkh8k47EHftXNYczW8xdY3OtF1lGSRH0fxqjqGZc7alBGdqgbS0jltLlJJBHq4jLoc42mW9DwjDbNmVUGn73b1rvtruRbqFLyGEykSi3uIiSDsGkRkYaoiyqDszg6O4OAQ+xz1aliv2+sAEr4W71BSSAxHRyASrDP4T7VKpPFKZI9nMbBZFIyAWRXAORg5VlPr3qNtf+tZ//BW3/v3lQXGM9HjOO2uPX/qvB23V+f7PX239t8UElY3HC5JAkcduWYnQ3QASQgEkRSmMJIQAT5CdgfY13XPNNtFI0R6pePAYRwTyhSVDgExxsoOllOM9iK3cXS2MC9bT0Q8JTGRhxKnQ6ejfVr0adPxUJZJdG9v/AA726p14tXUSRm1eCtuxV1GMY9Pegl7rmq3j6eoy6pE1qqwTu+gEDUyLGWXcgeYCuiDj9u8LTCRREmQ7N5OmRjKyBsFGGRswB3HvULxaSccUj8OkTt4OTIkkeMAdePcFY3JOfTAqHhjLyxXFwVDycSjjuI1GEiaCG4S2Qk+ZyZzbsHONWqLCgbUFw4bzDBcMUjY6wNRR0eJ9GcBwsiqxTO2oAjO2a1T82WqSmNpQGDBWOlzGjnGEklC9NHOpfKzA+ZfcZ2cSWHrQF8eJzILfvqyYm6g2+7pAzq8uQnrpqN5W6J4RD1NBia2zcasaSxXNyZc+pfq68+urNBZaVEcoGTwFr1dXU6EerVnVnQPqzvn3zv71L0CuLjHCo7mCSGUZjkQqw+D6j2IO4PuBXbSgpFhzS/DgLfiZYKvlivdJMMyjZeqRnpS476tjjIO9TY52sCmsXlro9+tH/wA2amitU+4s4YeMR64otNzbkRuUTIuIHZ2AOMhmjlz89P42Dbb87eNX/FsTTZJHXkVordCDgkkgNIR30oDn1K96mOBcDFurEsZJ5DqmmbGqRvTtsqAbKg2Uf1JiHH+DJZZAhNhKxlkKjPhpjtJIVG5hcAMSMlGDHGCdNohmDKGBBBGQQcgg7ggj0xQbKVw8Z4zFawvNMwWJBknv64AUDcsTgADuTWjl/mGO8RmjEiFHKOkiGORHADYZT2yrKfyNBK0pSgUpSgUpSgrPPfJ68RttAIWZd4nOcAnGtH0kExuvlYfkfSuOP9odpbQ6bsizmiAVrdgc7DA8OFH2sZ+6V9O+KuJrh4twOC6TRcRJKnoGGcH3U91PyMGgpPDrKae8lEjz2jXQ8S0cbhZEhiWO2hSRgCFkfLu2k5HTVc7Gpu/5D4eLcLImiKPWxk60kbYYq0jSShwzAlFY6iRlQfQUT9nkKOzwT3kDMqqdE7MNK5KriUPsCzED01H3pefs+jnQx3N1ezxNjUjzBVbGD5hGiZGQDQUvljmNuHNBdXxbw1/Z2+q4ZWYx3EMZVVkIBOl4zqB9Tk+5q5TcXfiKGO0Vlt5FIe6kQqpRhhlt43AaRyMjUQEHfzdj22fItjEwYQKzLjS0heYrjtpMjNj+lTwFBx8I4RHawRwwqFijUKo+B6k+pO5J9Sa7aUoFYNZpQVngGIL28tvR3F3H8rN5JR/dmRj+Uq1Zc1A80Wbjp3MILT2xZtA7ywsPtofzYKGX8SJ81LWV4k0SSRsGjdQysPVWAIP6GgofE7ZuK3N3DNdtb2NtIsZijKI8rCNZWklZgfs/McDsdGT2NZ5Y5Ze5tUnW6uIWmjaKR10t4mCOSRIZT1A2hzEc6lx9fbtW245PspeKXIu4I5HkWO4hZgckBBFMgII1aWjRtJzjq/JrHAubruU2dw6wJZ3kpiihUN1kXpyPHIz50nPSOVAAAYUFquuWoXto7fDLHEE6RRmV4zGMRsj9wwx3/XOarHMPBTZR+JM88swZI/EzlZPBwyOElnjjVAgIXuxU/JxkVYeL8421qxSQyFlXW4jikl6Sb+eUopCLgE5PoDUTzBxC2eWB7t0/we0BkQvnoSSllK9X7pxGcqrdyzHGRsFf5Q4qsfGGjt7pry1uYSXkwvkuYwW8zpGsbM0YO48x9fpFeogV5tydaxy8UmezfVwyDzRhB9iLyVNEqwnGNITcgbBpPnFelCg+QgFDX1UFzDcO7LawsVlmBLuO8MA2eQfjOQi/ibPZTQY5ebrSz3X3ZGEUXzDAXUMPhpGmYe66anq02lqsaKiAKiKFUDsFUYAHwAAK3UClKUGHQEYO4Pce4qKsuVreGQOiHUuQmqSSRYgRgiFHcrFkbeQDbbtUtSg4G4HAYpImjVopWZ3VssGZ21Mdzt5t9ux7YrVw3luCB9aCQuFKhpJppiqkglUMrtpBKrkDGdIz2FSlKDQtiglaUD7RkVC2TuiM7KMZxsZHP9fyrEFgiPI6jDSsGc5J1MqLGDudvKijb2ropQRFryrbRyK6ocoSUUvI0cZIIJiiZjHGcFhlVGxPvWLrlSCSR5D11dyC/TubmEMVUICVjlVc6VUZx6CpilBw2nBoo2VlDF1jMYZ5JJG0M4cgs7Et5gNzk7Y7VmTg8LdXKAibHVByVfSukErnGdIAz3wq+wx20oI3h3L0EDl0VjIV065JJJnCZzoVpHZlTO+kEDO+K1XHKltI5d0J1MGZOpIIncEEPJCH6TtkA5ZScge1S9KBSlKBSlKBUbx3gUd3EY5c9wyOp0vHIu6SRt3V1PY/8CakqUFOi5huLL7LiEbyRjZLyGNnRx/pEaAtE/uQCpztioZ+L8LjH7pxRrXuRFE4kjBJJ2gkR9IyfpUKPgV6TivkQgHON/f1/Wg8q6VzeSI0clxeyI2YpZYPCWNud1W4MbANcSruVAyM+1ejcB4IlpCI1LMSS0kjbvLK2Ncrn1Zj+mwGwFSIWs4oFKUoFKUoFcfGOIi3t5piCRFFJIQO5CIXIH6V2Vz39ks0TxOMpIjIw91ZSrD9CaCB/wAC3YjEq3TteYVmRmHhWbYtFoCeVDuA4842JLbgxV/xGHx10lzeXEOgxCNI5HRdJgRicKMZLFqljZ8QaMW5eJVwFa7DsZ2QbFhF0wqzMPvayATkA7LWTa3kNzcvDFBLHM0bAvO8TKUhSMgqIHHdc5zQcnHzcxT2iW0kjFIriQxswY3Iia2HSdm+8Vkk0t6MVJ2zXba8bE95bmJy1vJZyyY7AsJ7dQWB3DAM6kHcHIO9b47CaS4tp5VjQxw3COiuZMNI8BTSxRdQxEc5Axkd+9aLTlpouItcIw6DRSDp+qTSSxO7LtjQ/T1EejFjvq2Do5Qu3lsYXkYs7Kcse587DeqpHxhWThvi714Ek4aJWfriDqTYtt2YkZbDucfJqeteHXtvEbeAW5iBfpTO7ho0Z2ZQ0IjIkKA4zrXVgZxk11WHLvRntyh+xgsjbjJOvZ4NB7YPliOT742oIK145KdUVtM0sUs0cNtduA+CYppZ9LbCYIkJ0Pggu4BLBTUrLFJZSwETyywyyiKRJSJGDuDoljbAI8wCsv04bIAK4ZJy1IA6xsqhLgXFqdzodg3VicY/s2LyjIOdMxAxpGdy2FzcSxNcrDHFC2tY43aUySgEIzs0aaVXJIUAktpORpwQn6UpQYIqrSE8NlLY/wAXyMWf/RJG+p8elu7bnH0MSfpJ02qvl0BGDuD3HpQR3F+DR3SLr1KytrikQ6XjfGA6N+R7bgg4IIqocP5TeynSVrd7kRM5jMExRUaQFWdbORxEjkM2dDY8xwB2qdPAp7U5sWXpf9llJ6Q9+hIAWh/lwyewWvpOdoEOi6D2kntMMIflZlzEw+dX5gUFY45xC86kxsrS4AuV0zCaE+VxH0leJllA3TAIJx5AcjJqU5f4Tei0htQPCwRRJG0hZZLlwowdCrqiiyfUtIQDsAcGrLDzBavjTcQNntiVDn8sNWyfjNugy80Sj3aRB/vNB9cM4ZHbxLFEoWNewGT3OSSSSSSSSSdyTk111XpOebXOIXa5f+G2Rrg/1ZAVX82IFY8RfXBwsa2cXq8hWafH4I1JiU/LM38tB3cY40ISI0Uy3Dg9OIHBPoXc9kjGd3P5DJIB+eCcJaIM8rB7iUhpXAwNhhY4wdxGgJAHfck7sa28J4HHbhtGpncgySuxeSQjsXY+nfAGAM7AVI0AUpSgUpSgUpSgUpSgUpSgUpSgUpSgUpQ0GC2Kzmqrwvg0N6Z5rqJJm8TNEgkUOIo4ZDCqxgjy50FyRgkv3wBWbmwMDcNjMjShLyUKznLaPA32hWbuxVcLqO505O5NBaCwrBkA7kVS+NcKiWad760a6ikcGOdYxM1vFoUdPSD1YwrB3DRA/Vk4PdzVwO1ksElKRXDfuircSJHLJIniIVDGTT5tSk59DqPvQXUOD6ijMB3qtcwcKht7aNYIo4kN9ZMVjRUUt4y3GohQBnAG/wACvix4VDeT3T3UaTdOcwxLIqyJGiRxnyKwwGZnZi3c5AzhRQWgsB3rAkB7EVSuY+ErDBaQsrXcQvhphYRuxjMU5WHMrBW0A4Bcg4UdyN93EeHQpwy/aOyWzY2twpGi3VmAgYgkwOwK5J7nOx27ZC3rID2INZLCvPhBA0tvFaWBtLlnRxOYYrfEUTxtONSnU+pCU6YBzr3wASJTgnAbe9hae6iSaWWSbzOAWjRZXjSOFsZjCqo3XBzlvqJNBbSaA1U4eEie5FtdN4mK2tYWAkAKyySvcRmSZfpdlWAAZGMuxxnGCW620t3bRDTbm06yx/didjKjiMdlRtKtpGADqI+o0FrLgdyKyDVGt+GxTtwlJoo5U8DIdMiK65EVpg4YEZ3O/wA1K8PsUtL8QwAJBNA8piXaOOSKWFC0a9l1ibcDAzGDjJY0FjEq+4/WvqqByDwm3a2sieFqrC3hbxLR2eC4iVhICshlySMglQckZxV/oFKUoFKUoFKUoFKUoFKUoFKUoFfJSvqlBHS8uWrZ1W8DZ75ijOfzyta4uVbNTlbW2U/EMY/3LXWeJx9bog5l0ayoDHSmdILsBhcnOASCdLYzg46qD5WMAYHb0HpWcVmlApSlApSlApSlApSlApSlApSlApSlApSlApSlBC3XAHEjvbTtB1TqlXQkis2kJ1F1fS+lVHqvlHlzkn6h5ZjRbZUZgLeV5ck6mkd4p43aRjuWYzs5PqamKUEFNy/MskjW928SStrZDGkoVyAGaEtumcZwdS53AGSDum5bQ2aWqlljjEIU92xC6OM+5OgA/mal6UHFxbhguEVSxXTNDLkb5MMyTBfyJTH9a47zgL9RpbacwPJjqjQsiOVUIH0tjEgVVXUDggAEHAxM0oK/PykOjEkMrJJHP1+q4ErSSkOGeUbAltZ7YAwAAAAB9ScCuJYZ4p7oSJLDJF5YVjKl106wdZzgE7VPUoODiHCBKsQ1FXikSRHAyQV8rDHs0bOh+HNcM/LcgZ/D3LwRSszSIER8O5Jd4WYfZsxJY51DUcgAk5naUEJJyuqCM2rG3lij6auAJA0eQxSVW+vzDVqyG1EnPmYNtsuAaEm1yNJNOMSSsADjSVVUUbLGupsKP4mJJLEmWpQV+flhwLXoz9N7aIxBjGJA6ssanK6hg/ZKf6muvhHA+i7yySNNcSYDSMAoCKSVjjRdkQFmONySxJJ9JWlBWuF8uXdvFFCl6piiREUG3XOhFCgE9Tvgd6stKUClKUClKUClKUClKUClKUFb5m4n0LqyY9UoXmDLGkkhb7A4zHGCWAO/batcHHRPxKBUFwqi1uiyyQzwKx6tkFIEiKGIy3bONXpneXv+FGS4t5QwAhMhIxu2uMoMe2M5pPwstdxT5AEcM8ZXG5Mr27Ag+w6B/wBoUFVtVM9lwhJHkIllxIRJIjOBY3cgDOrBiNSKe/3RUtb25s7yGKN5Gt7hZfs5HeXpyxhXDxu7FgrLrBXJGQpGPNn4HLM8drYxxPEZbRw2XDaH/d54CMA5H9tn+ldVvwa4Z2nmliNwsTpAqIwhiLYJc5bU7kqmTkYUYAGWLBBQ8Tk8f4rqN4d7p7Lpa/IEChEm0ZwGN4jx6u5Eors5h5eiNzaHMw6104kxcXChl8HdS4wJAFGuNDtjtW5/2fWwtOkkUIuBEFW46adUTKvlmLBdRbWA2fWpi+4Y0r2rlgDBMZG2PmzbTwYX23mB39BQcAh6N9axIX6QtLs6S7vkiexwWLEliNbYJyRqNR3B+XkuEmkaS4Sbxd2qyJcTApoupUTSmsx4VQBpKlSBgg71YZ+GFruKfIxHBPGVxuTLJbOCD7DoH/aFQ9vwa+iEscUtskbzTyCQo7yoJpnl2UsELDXgZ22BIPYhDXvFOuvDzc9ZgTdJKLcXGXkhPS1hIDr0FlZgNwNW9Wzl60hSLVCJlVznExn15BK/TOda/oM964LrlmSPwnhGjHhlkXE2ttYdQCzMu5ckEknuSalOFC583ieh6aelr+dWrV/TGPmgkKUpQKUpQKUpQKUpQKUpQKUpQKUpQKUpQKUpQKUpQKUpQKUpQKUpQKUpQKUpQKUpQKUpQKUpQKUpQKUpQKUpQKUpQKUpQKUpQKUpQKUpQKUpQKUpQ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4276" name="AutoShape 4" descr="data:image/jpeg;base64,/9j/4AAQSkZJRgABAQAAAQABAAD/2wCEAAkGBhMREBQUEhQUFREWFBcYFhYYGBgWFxYVGBQWFRcVFRkdGyYeHBkjGRYVHzAhJispLSwsFx8yNTAqNygrLikBCQoKBQUFDQUFDSkYEhgpKSkpKSkpKSkpKSkpKSkpKSkpKSkpKSkpKSkpKSkpKSkpKSkpKSkpKSkpKSkpKSkpKf/AABEIAHoBmwMBIgACEQEDEQH/xAAbAAEAAgMBAQAAAAAAAAAAAAAABQYBAwQHAv/EAEYQAAIBAwIEBQEFBQIKCwAAAAECAwAEERIhBQYTMRQiQVFhMiNCYnGRByRScoEzghUlNFNkc5KxwdIWNVRVdJOhs8PR0//EABQBAQAAAAAAAAAAAAAAAAAAAAD/xAAUEQEAAAAAAAAAAAAAAAAAAAAA/9oADAMBAAIRAxEAPwD3ClKUClKUClM1jNBmlYJqLuOaLZGZTKpZPrVcyMpzjDBASp+DQStK4eE8cguk128qSp2JUg4Psw7qfg4ruoFKUoFKUoFKUoFKUoFKUoFKUoFKUoFKUoFKUoFKE1xcT4zDbR9SeRIkzjUxxknso9z8Deg7aVWLnm2VlzaWNzcA9mYJbIfnMxD4+QtV6w524ndXEcUMNjGzJK0iSPOzwmJ0R45cKuHzImAARg5zjGQ9IpVaF5xSMangtJQPuxTSI/8AdMkek/kSv51u5d5zt7wsiFkuEyJLeVenNGR3DL6423XI3HvQT9KUoFKUoFKVE8e5hjtVUENJLIdMMKbySvjJCjsABuWOAo3JoJUmo+75htos9SeFNPcNIikfmCc1DDgEk4MnEZcR4J8NG7JbxqN/tXGlpjjuWwnfC+tREfNXB4ZlFvCJZQCENtatIAudzGyJp7+q5z70FiHNZfeC1upl9HCJCh/lMzoSPkAj5rJ5guP+77j/AM21/wD3rksP2h2sk6wOJ7ed9kS4hkhLn2UsNJPxnf0q0CghBzBPnewuce4e1P8A89Y/6WKv9rb3cI92hLqPktEXAHyancVjFBy2HFYp11QyJIucEowYA+xx2Pwa681E8T5fSRuohMVyB5ZkAD/yuO0ifhbI9sHevng/F2ZzBOoS5QaiAfJKmw60Od9GTgg7qTg5yCQmKUpQKUpQKUpQKUpQQfNHHHt1jSEK11PIIoFY+XVjU8j436aICxx8D1rjh5LOktJd3jXLfVMsrIAe+Eg3hCD0UqfnNfPDAJ+K3cjb+Fjht4/wtIvXmYfLBoRn8NWG/vUhieWQ6Y40Z2PsqgsT+goKTxjj1x4KaFnxMl5DZy3CDT9lMYczqOyv05gD6K2SPSrlwrhcVtEsUCLHGvZVGB8k+5PqTufWoHgXA/EW1y13Hhb5zI0Db9OMxRxorEYxJpjVjjs3btXGLSXhl1babi4ns7iXoNHM3VaGRkzC0b41aMoVIJP1A0HZzVZrbSR38elJI3RLg4AEttJIqOJPcoSJFb00n0Jq1CormkA2N1qGV8NNkfHSaurgrlraEtuxijJPyUXNB2UpSgUpSgUpWGoM0qoy8z3V1MycOjhaKNistzOXERcbGOAJ5nIOxb6Qdt65L/n2WzkFvdxRm6l0+GEMhEc5Z9BDs6gw6TgnOrY7ZO1BeaVX9PEQmvXaO+CTCElRe/0rOXJBxtqMe59BXfwLjaXUWtQysGKSRtgSRSL9UcgHZhsfYggjIINBI0pSgUpSgUpSgUpWDQQ3MvMHhUQIhluZW0QQg4Mj4zlj92NR5mb0HyRnztob+xvkvuIweKB1QhopFfpySyqIehE4TpLsEzkk68k52q3cIuEm4he3Luui2K2seWwI8Istw25wCzsi5P8AmgK4eaebra5t3SEzuEdHFzFbyTwRSQyLKGd1ADICmG0k7ZoIvnzjPFUtg7RLFBNLHEYoXY3catIuD1B5dTgMmFGxcbnevpuJWmiJeExzC+iLlEEEu7SYEiXjygYRiqlmL6hoBBOMVPcN4PcXrwXF3cW8kEZEsMVsrdKSTfpzO7ks2AchRgZ33xVwxQVPifN8/Xa2s7Q3U0aqZ2MqwxRM66lXUwJYkebA9CPnENacuTXQktZ2RJVdbm5nRQZOvNkotoW/s1jjRY+qck6cADepzjHC7i3mnurWWBVkRWnS4EmgGJCBMrIcqdAAIIIIUHaoPl7mYpI13dw32qaNUWVbRhbiFWZkCpG8ku5YnVIM+b7tBa+VruTQ8E79S4t30O5ABkQjXFLgfxIRn8SuPSpyqHDxSWTicF0InhtJFa0zLrjkmchp45BCR5UDI6gvhj1Ttg1fKBSlDQcXF+KR20Mk0pxHGpZvf4Cj1YnAA9SQKhuXOHOoe9u/LdSrkqTkW0AyywLttgbufvNn2FfHFh4riENsR9jbqt1N7M5ZktkO/oyPLv6xrUjzdEW4ddqv1G1nA/MwuBQec8ZEnFLjF3eeCsXhWaziIQLMp1YecudDsNKOYjnCuO25q7cr24PDUkt0WOeWDVqOW1SFDpd2bzMurBGr7pFR9nzKZUtjcWsYsboxxwEkO4Zl+z6sRXSFfGxUkjK5AztdAwGBt8D/AOv6UHkcnCuGmyhiktyt0rRNczTROssbiRTO8sxXLs51Kqqzay66RjcXfkHmOO6iljSRpGtpWiLMGV2TvGzqwDB9PlOQCWRjXPzi89wWt7RP3iHpziZpFRYnPUCYBR9ZIWTIIAAPfPaL/ZvaReIa4haV2ntI5Lh5XDu0zTShdWnyjARwAu2kLQei1jNQ/NnHTZ2ryKuuU4SGP/OTudMSDf1YjPwCaonM3Lxjit0uJWe9unKNcXEj+Ht26RdunErLEPp0oMdznJxuHqeaiuYOEmaMNGQtzEdcD/wyYxpb8DjysPUH3AxTOUuCD7eGK4BltxFou4GcIzujEpNEZGicrpUsB3Eg+k71deAcUNxD51CTIzRzIDkJKvcAnupBVgfVWWg3cG4kLiFJAMah5lPdHBKvG34lYMp+RXdUBCnQ4gVXaK6jaTT6C4iKBiPYvGyk/MWe5NT9ApSlApSlApSlBVuHMYuL3aHYT28EyfJjLQS/1H2X6ipzi/DFuYJYXzokRkbGxAYYyPmuHmLgjTdOWFgl1ASYmOShDAB4ZQNzG4ABxuCFYbjfjtOe4QenefudwNik3lQn3imOI5FPoQc+4FB9R8Wu7YlLiCS4XbRPbquW9xLCXyj/ACpKnP3e1c3g7m9uYJZovD2tvKZUjdg00sojZEdwhKRqutjjUxJxnFTEnNdko3u7YfnNH/zVGSc9xynRYxveye8YxAv89ww0Afy6j8UG/ni802ckS7zXI8PCvYtJMCmR8KpZyfQIan4IwqhR2AAH5AYFV/g3L0nW8VeMsl1pKxqgIit0b6kizuWO2qQ7nAAwNqsYoFKUoFKUoFVrnviUkdssULFbi6lS2iYfcMhOqT+7GHbPuBVlqo88Yin4dctnpw3gR/4QtxG8Akb+V2Tf2Y0HVxRhw6wRLWNSVMMECn6Q0kixI0h74y2onud/U1iz5Jh0Si5/e5ZwBNJKB5lByqIo2jjUnIVex3yTvUjzBwjxUBjDmNw8ciPgNpkikWRCR6rqUZHtntUYOO30fkewaV/SSCaLot7n7VldPyIP5nvQcS2b8NurVIppZLW5lMJglcyGI9J5VeB284UdMgqSR5hjFSPEUMF/byp9Nzqt5l9ysUk0Mn8y9ORPkOP4RWjhnDLme8W6vFjiWJGW3gR+qVaTAkmkfSAWKjQAMgAn3ro41J1L2yhH1I8ly/4USJ4VyPTU8wx/I3tQWEVmsCs0ClKUClKUCsGs1g0HjXBP2VeOkuLqafQ3jLkBFiiYhkuZM9YupDnPbbYbVaZeZL6yiWGW0hLDyR3HXhgtm9FdkYhk9yig+uDW1eOpw67vYpI5mST98TpoXwjIqTk9sBZEyf8AWioTgHNNldT3V1NbXDo7ILeSS1lmUwCJQY4wqOq/arIcfeLD+gXjk3gZs7KOEuHYamZlGE1SO0jCMeiAsQPjFTea845a4rexxtbWdqmmB3ZhcSNF0o5XeaC1UKrfaCFoyc7IGUH4l4eYpb6RYbctauqyG41oryRvG6x9FQSUJy2ovuNOnH1bBZ7+ySaJ4pBmORGRh7qwKsP0JrzqTjs1vJ4H/CVuiKwiFxJDL10GBiJpCPDNKFKjUSO4JUmrPwTiUy30tnNIJ9MEcyyhBGyh3dDHKFOnPlDAgDYnPaq/xO3ubIX6vZm8sbmSSdmWWNOlG6DrKyP3YaSwxnPxQZ4xyb4SayktpJdL3sAuFkkaUzHVqE/mziUEHJXAKk7YFeiivOeQ7SeaWJ3u/FWVtDGICYREes8WxY6iWZIHUEn70hHdTXo9ArBrNYNBWeUPtJr+cj67xo1PulvGkAx/fWX9asrDaq7yHtbSDfK3l6Dnc/5ZMd/1qyUHndvy/b8NuercxvJCp/drk9SbwiYAFuyb9NRvpkAxjZiCATUOMc+Wc0crllbi/idNuwyVgRJwImjmxoEWhdTY+suQR7e4MQNztj19qpnE+fYQsr2Nu14YsGV4sCNBgkkyYJfAGcIGoPjinEI7xg1kl1JMVKGSIG3haPfyTTSJpZMsSCgZhk6cZNTvKfLgsoNHlLsQXKghRhQipGCSQiIqqMnJwSdyaiOKcYvooY5BJaM8zokESRSSCRnBZR1WmQadILFtI2U9+1bJ+abm0aFb2FH6zFFa16khV1QuQ0TDUV0qxypJ27dqCA/bEZzPw1YUuHHWldlt2KzYVEB6ZAODod9/93euvg9vDbidr8iCyn0CK3vZhK7MmdcziRmCs+V8gJxpycGrJxKAXsMU1pKnUjfqQSbsmrDIySAb6WVmRhsR8EV5w9zd2lxdtNaW0b3EjN4m6aSRER0CmJZEjZTGpBwCUJXAK0F7vOINE0dpwyG31tF1iWykEUJbSHxGMsztnAHfSSTtXHybxeSbiF6kkQjljjt1nCOJIjMOoA8bbHzRdMYYAjQAe1RfR4fJBbwQl726gt0hU2sskeVVQPtpo3CJEWGTqJxnYE1auS+U4+H2/TQLrdzJKVzpLt6Lk50KAFGcnAydyaDZxr/K7HHfqzfp4WX/AIlf/Sp2oO5w/EoB/m7eeT8md4Y1P6CWpygUpSg+XcKCSQABkk7AAdyTUXY80200gjjkyzAlMq6rIAMkwsyhZABvlCdt65+eCPBPq/stcPWz28P4iLxGr8PR6mfjNdnGRAVj8RjaeIxZ1Z6+sCPTp3zk7+mnVny5oN6cWiMckmtRHGzrIx8oUxkh8k47EHftXNYczW8xdY3OtF1lGSRH0fxqjqGZc7alBGdqgbS0jltLlJJBHq4jLoc42mW9DwjDbNmVUGn73b1rvtruRbqFLyGEykSi3uIiSDsGkRkYaoiyqDszg6O4OAQ+xz1aliv2+sAEr4W71BSSAxHRyASrDP4T7VKpPFKZI9nMbBZFIyAWRXAORg5VlPr3qNtf+tZ//BW3/v3lQXGM9HjOO2uPX/qvB23V+f7PX239t8UElY3HC5JAkcduWYnQ3QASQgEkRSmMJIQAT5CdgfY13XPNNtFI0R6pePAYRwTyhSVDgExxsoOllOM9iK3cXS2MC9bT0Q8JTGRhxKnQ6ejfVr0adPxUJZJdG9v/AA726p14tXUSRm1eCtuxV1GMY9Pegl7rmq3j6eoy6pE1qqwTu+gEDUyLGWXcgeYCuiDj9u8LTCRREmQ7N5OmRjKyBsFGGRswB3HvULxaSccUj8OkTt4OTIkkeMAdePcFY3JOfTAqHhjLyxXFwVDycSjjuI1GEiaCG4S2Qk+ZyZzbsHONWqLCgbUFw4bzDBcMUjY6wNRR0eJ9GcBwsiqxTO2oAjO2a1T82WqSmNpQGDBWOlzGjnGEklC9NHOpfKzA+ZfcZ2cSWHrQF8eJzILfvqyYm6g2+7pAzq8uQnrpqN5W6J4RD1NBia2zcasaSxXNyZc+pfq68+urNBZaVEcoGTwFr1dXU6EerVnVnQPqzvn3zv71L0CuLjHCo7mCSGUZjkQqw+D6j2IO4PuBXbSgpFhzS/DgLfiZYKvlivdJMMyjZeqRnpS476tjjIO9TY52sCmsXlro9+tH/wA2amitU+4s4YeMR64otNzbkRuUTIuIHZ2AOMhmjlz89P42Dbb87eNX/FsTTZJHXkVordCDgkkgNIR30oDn1K96mOBcDFurEsZJ5DqmmbGqRvTtsqAbKg2Uf1JiHH+DJZZAhNhKxlkKjPhpjtJIVG5hcAMSMlGDHGCdNohmDKGBBBGQQcgg7ggj0xQbKVw8Z4zFawvNMwWJBknv64AUDcsTgADuTWjl/mGO8RmjEiFHKOkiGORHADYZT2yrKfyNBK0pSgUpSgUpSgrPPfJ68RttAIWZd4nOcAnGtH0kExuvlYfkfSuOP9odpbQ6bsizmiAVrdgc7DA8OFH2sZ+6V9O+KuJrh4twOC6TRcRJKnoGGcH3U91PyMGgpPDrKae8lEjz2jXQ8S0cbhZEhiWO2hSRgCFkfLu2k5HTVc7Gpu/5D4eLcLImiKPWxk60kbYYq0jSShwzAlFY6iRlQfQUT9nkKOzwT3kDMqqdE7MNK5KriUPsCzED01H3pefs+jnQx3N1ezxNjUjzBVbGD5hGiZGQDQUvljmNuHNBdXxbw1/Z2+q4ZWYx3EMZVVkIBOl4zqB9Tk+5q5TcXfiKGO0Vlt5FIe6kQqpRhhlt43AaRyMjUQEHfzdj22fItjEwYQKzLjS0heYrjtpMjNj+lTwFBx8I4RHawRwwqFijUKo+B6k+pO5J9Sa7aUoFYNZpQVngGIL28tvR3F3H8rN5JR/dmRj+Uq1Zc1A80Wbjp3MILT2xZtA7ywsPtofzYKGX8SJ81LWV4k0SSRsGjdQysPVWAIP6GgofE7ZuK3N3DNdtb2NtIsZijKI8rCNZWklZgfs/McDsdGT2NZ5Y5Ze5tUnW6uIWmjaKR10t4mCOSRIZT1A2hzEc6lx9fbtW245PspeKXIu4I5HkWO4hZgckBBFMgII1aWjRtJzjq/JrHAubruU2dw6wJZ3kpiihUN1kXpyPHIz50nPSOVAAAYUFquuWoXto7fDLHEE6RRmV4zGMRsj9wwx3/XOarHMPBTZR+JM88swZI/EzlZPBwyOElnjjVAgIXuxU/JxkVYeL8421qxSQyFlXW4jikl6Sb+eUopCLgE5PoDUTzBxC2eWB7t0/we0BkQvnoSSllK9X7pxGcqrdyzHGRsFf5Q4qsfGGjt7pry1uYSXkwvkuYwW8zpGsbM0YO48x9fpFeogV5tydaxy8UmezfVwyDzRhB9iLyVNEqwnGNITcgbBpPnFelCg+QgFDX1UFzDcO7LawsVlmBLuO8MA2eQfjOQi/ibPZTQY5ebrSz3X3ZGEUXzDAXUMPhpGmYe66anq02lqsaKiAKiKFUDsFUYAHwAAK3UClKUGHQEYO4Pce4qKsuVreGQOiHUuQmqSSRYgRgiFHcrFkbeQDbbtUtSg4G4HAYpImjVopWZ3VssGZ21Mdzt5t9ux7YrVw3luCB9aCQuFKhpJppiqkglUMrtpBKrkDGdIz2FSlKDQtiglaUD7RkVC2TuiM7KMZxsZHP9fyrEFgiPI6jDSsGc5J1MqLGDudvKijb2ropQRFryrbRyK6ocoSUUvI0cZIIJiiZjHGcFhlVGxPvWLrlSCSR5D11dyC/TubmEMVUICVjlVc6VUZx6CpilBw2nBoo2VlDF1jMYZ5JJG0M4cgs7Et5gNzk7Y7VmTg8LdXKAibHVByVfSukErnGdIAz3wq+wx20oI3h3L0EDl0VjIV065JJJnCZzoVpHZlTO+kEDO+K1XHKltI5d0J1MGZOpIIncEEPJCH6TtkA5ZScge1S9KBSlKBSlKBUbx3gUd3EY5c9wyOp0vHIu6SRt3V1PY/8CakqUFOi5huLL7LiEbyRjZLyGNnRx/pEaAtE/uQCpztioZ+L8LjH7pxRrXuRFE4kjBJJ2gkR9IyfpUKPgV6TivkQgHON/f1/Wg8q6VzeSI0clxeyI2YpZYPCWNud1W4MbANcSruVAyM+1ejcB4IlpCI1LMSS0kjbvLK2Ncrn1Zj+mwGwFSIWs4oFKUoFKUoFcfGOIi3t5piCRFFJIQO5CIXIH6V2Vz39ks0TxOMpIjIw91ZSrD9CaCB/wAC3YjEq3TteYVmRmHhWbYtFoCeVDuA4842JLbgxV/xGHx10lzeXEOgxCNI5HRdJgRicKMZLFqljZ8QaMW5eJVwFa7DsZ2QbFhF0wqzMPvayATkA7LWTa3kNzcvDFBLHM0bAvO8TKUhSMgqIHHdc5zQcnHzcxT2iW0kjFIriQxswY3Iia2HSdm+8Vkk0t6MVJ2zXba8bE95bmJy1vJZyyY7AsJ7dQWB3DAM6kHcHIO9b47CaS4tp5VjQxw3COiuZMNI8BTSxRdQxEc5Axkd+9aLTlpouItcIw6DRSDp+qTSSxO7LtjQ/T1EejFjvq2Do5Qu3lsYXkYs7Kcse587DeqpHxhWThvi714Ek4aJWfriDqTYtt2YkZbDucfJqeteHXtvEbeAW5iBfpTO7ho0Z2ZQ0IjIkKA4zrXVgZxk11WHLvRntyh+xgsjbjJOvZ4NB7YPliOT742oIK145KdUVtM0sUs0cNtduA+CYppZ9LbCYIkJ0Pggu4BLBTUrLFJZSwETyywyyiKRJSJGDuDoljbAI8wCsv04bIAK4ZJy1IA6xsqhLgXFqdzodg3VicY/s2LyjIOdMxAxpGdy2FzcSxNcrDHFC2tY43aUySgEIzs0aaVXJIUAktpORpwQn6UpQYIqrSE8NlLY/wAXyMWf/RJG+p8elu7bnH0MSfpJ02qvl0BGDuD3HpQR3F+DR3SLr1KytrikQ6XjfGA6N+R7bgg4IIqocP5TeynSVrd7kRM5jMExRUaQFWdbORxEjkM2dDY8xwB2qdPAp7U5sWXpf9llJ6Q9+hIAWh/lwyewWvpOdoEOi6D2kntMMIflZlzEw+dX5gUFY45xC86kxsrS4AuV0zCaE+VxH0leJllA3TAIJx5AcjJqU5f4Tei0htQPCwRRJG0hZZLlwowdCrqiiyfUtIQDsAcGrLDzBavjTcQNntiVDn8sNWyfjNugy80Sj3aRB/vNB9cM4ZHbxLFEoWNewGT3OSSSSSSSSSdyTk111XpOebXOIXa5f+G2Rrg/1ZAVX82IFY8RfXBwsa2cXq8hWafH4I1JiU/LM38tB3cY40ISI0Uy3Dg9OIHBPoXc9kjGd3P5DJIB+eCcJaIM8rB7iUhpXAwNhhY4wdxGgJAHfck7sa28J4HHbhtGpncgySuxeSQjsXY+nfAGAM7AVI0AUpSgUpSgUpSgUpSgUpSgUpSgUpSgUpQ0GC2Kzmqrwvg0N6Z5rqJJm8TNEgkUOIo4ZDCqxgjy50FyRgkv3wBWbmwMDcNjMjShLyUKznLaPA32hWbuxVcLqO505O5NBaCwrBkA7kVS+NcKiWad760a6ikcGOdYxM1vFoUdPSD1YwrB3DRA/Vk4PdzVwO1ksElKRXDfuircSJHLJIniIVDGTT5tSk59DqPvQXUOD6ijMB3qtcwcKht7aNYIo4kN9ZMVjRUUt4y3GohQBnAG/wACvix4VDeT3T3UaTdOcwxLIqyJGiRxnyKwwGZnZi3c5AzhRQWgsB3rAkB7EVSuY+ErDBaQsrXcQvhphYRuxjMU5WHMrBW0A4Bcg4UdyN93EeHQpwy/aOyWzY2twpGi3VmAgYgkwOwK5J7nOx27ZC3rID2INZLCvPhBA0tvFaWBtLlnRxOYYrfEUTxtONSnU+pCU6YBzr3wASJTgnAbe9hae6iSaWWSbzOAWjRZXjSOFsZjCqo3XBzlvqJNBbSaA1U4eEie5FtdN4mK2tYWAkAKyySvcRmSZfpdlWAAZGMuxxnGCW620t3bRDTbm06yx/didjKjiMdlRtKtpGADqI+o0FrLgdyKyDVGt+GxTtwlJoo5U8DIdMiK65EVpg4YEZ3O/wA1K8PsUtL8QwAJBNA8piXaOOSKWFC0a9l1ibcDAzGDjJY0FjEq+4/WvqqByDwm3a2sieFqrC3hbxLR2eC4iVhICshlySMglQckZxV/oFKUoFKUoFKUoFKUoFKUoFKUoFfJSvqlBHS8uWrZ1W8DZ75ijOfzyta4uVbNTlbW2U/EMY/3LXWeJx9bog5l0ayoDHSmdILsBhcnOASCdLYzg46qD5WMAYHb0HpWcVmlApSlApSlApSlApSlApSlApSlApSlApSlApSlBC3XAHEjvbTtB1TqlXQkis2kJ1F1fS+lVHqvlHlzkn6h5ZjRbZUZgLeV5ck6mkd4p43aRjuWYzs5PqamKUEFNy/MskjW928SStrZDGkoVyAGaEtumcZwdS53AGSDum5bQ2aWqlljjEIU92xC6OM+5OgA/mal6UHFxbhguEVSxXTNDLkb5MMyTBfyJTH9a47zgL9RpbacwPJjqjQsiOVUIH0tjEgVVXUDggAEHAxM0oK/PykOjEkMrJJHP1+q4ErSSkOGeUbAltZ7YAwAAAAB9ScCuJYZ4p7oSJLDJF5YVjKl106wdZzgE7VPUoODiHCBKsQ1FXikSRHAyQV8rDHs0bOh+HNcM/LcgZ/D3LwRSszSIER8O5Jd4WYfZsxJY51DUcgAk5naUEJJyuqCM2rG3lij6auAJA0eQxSVW+vzDVqyG1EnPmYNtsuAaEm1yNJNOMSSsADjSVVUUbLGupsKP4mJJLEmWpQV+flhwLXoz9N7aIxBjGJA6ssanK6hg/ZKf6muvhHA+i7yySNNcSYDSMAoCKSVjjRdkQFmONySxJJ9JWlBWuF8uXdvFFCl6piiREUG3XOhFCgE9Tvgd6stKUClKUClKUClKUClKUClKUFb5m4n0LqyY9UoXmDLGkkhb7A4zHGCWAO/batcHHRPxKBUFwqi1uiyyQzwKx6tkFIEiKGIy3bONXpneXv+FGS4t5QwAhMhIxu2uMoMe2M5pPwstdxT5AEcM8ZXG5Mr27Ag+w6B/wBoUFVtVM9lwhJHkIllxIRJIjOBY3cgDOrBiNSKe/3RUtb25s7yGKN5Gt7hZfs5HeXpyxhXDxu7FgrLrBXJGQpGPNn4HLM8drYxxPEZbRw2XDaH/d54CMA5H9tn+ldVvwa4Z2nmliNwsTpAqIwhiLYJc5bU7kqmTkYUYAGWLBBQ8Tk8f4rqN4d7p7Lpa/IEChEm0ZwGN4jx6u5Eors5h5eiNzaHMw6104kxcXChl8HdS4wJAFGuNDtjtW5/2fWwtOkkUIuBEFW46adUTKvlmLBdRbWA2fWpi+4Y0r2rlgDBMZG2PmzbTwYX23mB39BQcAh6N9axIX6QtLs6S7vkiexwWLEliNbYJyRqNR3B+XkuEmkaS4Sbxd2qyJcTApoupUTSmsx4VQBpKlSBgg71YZ+GFruKfIxHBPGVxuTLJbOCD7DoH/aFQ9vwa+iEscUtskbzTyCQo7yoJpnl2UsELDXgZ22BIPYhDXvFOuvDzc9ZgTdJKLcXGXkhPS1hIDr0FlZgNwNW9Wzl60hSLVCJlVznExn15BK/TOda/oM964LrlmSPwnhGjHhlkXE2ttYdQCzMu5ckEknuSalOFC583ieh6aelr+dWrV/TGPmgkKUpQKUpQKUpQKUpQKUpQKUpQKUpQKUpQKUpQKUpQKUpQKUpQKUpQKUpQKUpQKUpQKUpQKUpQKUpQKUpQKUpQKUpQKUpQKUpQKUpQKUpQKUpQKUpQ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4278" name="Picture 6" descr="http://1.bp.blogspot.com/_oVDEQ4LWS4Y/TSKQHdRdrbI/AAAAAAAAAA8/1njjYlSDJD8/s1600/3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348880"/>
            <a:ext cx="8334375" cy="2486026"/>
          </a:xfrm>
          <a:prstGeom prst="rect">
            <a:avLst/>
          </a:prstGeom>
          <a:noFill/>
        </p:spPr>
      </p:pic>
      <p:pic>
        <p:nvPicPr>
          <p:cNvPr id="59394" name="Picture 2" descr="http://ts1.mm.bing.net/th?id=H.4715282578867336&amp;pid=15.1&amp;H=107&amp;W=16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4941168"/>
            <a:ext cx="1944216" cy="10191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ZoneTexte 6"/>
          <p:cNvSpPr txBox="1"/>
          <p:nvPr/>
        </p:nvSpPr>
        <p:spPr>
          <a:xfrm>
            <a:off x="971600" y="5949280"/>
            <a:ext cx="1834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SPARGANUM</a:t>
            </a:r>
            <a:endParaRPr lang="fr-FR" sz="2400" dirty="0"/>
          </a:p>
        </p:txBody>
      </p:sp>
      <p:sp>
        <p:nvSpPr>
          <p:cNvPr id="9" name="ZoneTexte 8"/>
          <p:cNvSpPr txBox="1"/>
          <p:nvPr/>
        </p:nvSpPr>
        <p:spPr>
          <a:xfrm>
            <a:off x="5508104" y="5805264"/>
            <a:ext cx="29523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Dr S </a:t>
            </a:r>
            <a:r>
              <a:rPr lang="fr-FR" sz="3600" b="1" dirty="0" err="1" smtClean="0"/>
              <a:t>Ahraou</a:t>
            </a:r>
            <a:r>
              <a:rPr lang="fr-FR" sz="3600" b="1" dirty="0" smtClean="0"/>
              <a:t> </a:t>
            </a:r>
          </a:p>
          <a:p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1472" y="214290"/>
            <a:ext cx="7643866" cy="954107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smtClean="0"/>
              <a:t>     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Embranchement des Plathelminthes</a:t>
            </a:r>
            <a:endParaRPr lang="fr-FR" sz="2000" b="1" dirty="0" smtClean="0">
              <a:solidFill>
                <a:srgbClr val="FF0000"/>
              </a:solidFill>
            </a:endParaRPr>
          </a:p>
          <a:p>
            <a:r>
              <a:rPr lang="fr-FR" sz="2800" dirty="0" smtClean="0">
                <a:solidFill>
                  <a:srgbClr val="FF0000"/>
                </a:solidFill>
              </a:rPr>
              <a:t>                                 « vers plats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7864" y="2780928"/>
            <a:ext cx="2100703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4000" b="1" dirty="0" smtClean="0">
                <a:solidFill>
                  <a:srgbClr val="FF0000"/>
                </a:solidFill>
              </a:rPr>
              <a:t>Cestodes</a:t>
            </a:r>
            <a:endParaRPr lang="fr-FR" sz="4000" b="1" dirty="0">
              <a:solidFill>
                <a:srgbClr val="FF0000"/>
              </a:solidFill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>
            <a:off x="4283968" y="1628800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4932040" y="3573016"/>
            <a:ext cx="1872208" cy="43204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1331640" y="4149080"/>
            <a:ext cx="15111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err="1" smtClean="0"/>
              <a:t>Cyclophyllidés</a:t>
            </a:r>
            <a:endParaRPr lang="fr-FR" dirty="0"/>
          </a:p>
        </p:txBody>
      </p:sp>
      <p:sp>
        <p:nvSpPr>
          <p:cNvPr id="38" name="ZoneTexte 37"/>
          <p:cNvSpPr txBox="1"/>
          <p:nvPr/>
        </p:nvSpPr>
        <p:spPr>
          <a:xfrm>
            <a:off x="6588224" y="4221088"/>
            <a:ext cx="16996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err="1" smtClean="0"/>
              <a:t>Pseudophyllidés</a:t>
            </a:r>
            <a:endParaRPr lang="fr-FR" dirty="0"/>
          </a:p>
        </p:txBody>
      </p:sp>
      <p:cxnSp>
        <p:nvCxnSpPr>
          <p:cNvPr id="41" name="Connecteur droit avec flèche 40"/>
          <p:cNvCxnSpPr/>
          <p:nvPr/>
        </p:nvCxnSpPr>
        <p:spPr>
          <a:xfrm flipH="1">
            <a:off x="2267744" y="3573016"/>
            <a:ext cx="1656184" cy="43204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>
            <a:off x="7380312" y="472514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ZoneTexte 44"/>
          <p:cNvSpPr txBox="1"/>
          <p:nvPr/>
        </p:nvSpPr>
        <p:spPr>
          <a:xfrm>
            <a:off x="6444208" y="5373216"/>
            <a:ext cx="212910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b="1" i="1" dirty="0" err="1" smtClean="0">
                <a:solidFill>
                  <a:srgbClr val="FF0000"/>
                </a:solidFill>
              </a:rPr>
              <a:t>Spirometra</a:t>
            </a:r>
            <a:r>
              <a:rPr lang="fr-FR" b="1" i="1" dirty="0" smtClean="0">
                <a:solidFill>
                  <a:srgbClr val="FF0000"/>
                </a:solidFill>
              </a:rPr>
              <a:t> </a:t>
            </a:r>
            <a:r>
              <a:rPr lang="fr-FR" b="1" i="1" dirty="0" err="1" smtClean="0">
                <a:solidFill>
                  <a:srgbClr val="FF0000"/>
                </a:solidFill>
              </a:rPr>
              <a:t>mansoni</a:t>
            </a:r>
            <a:endParaRPr lang="fr-FR" b="1" i="1" dirty="0">
              <a:solidFill>
                <a:srgbClr val="FF0000"/>
              </a:solidFill>
            </a:endParaRPr>
          </a:p>
        </p:txBody>
      </p:sp>
      <p:cxnSp>
        <p:nvCxnSpPr>
          <p:cNvPr id="46" name="Connecteur droit avec flèche 45"/>
          <p:cNvCxnSpPr/>
          <p:nvPr/>
        </p:nvCxnSpPr>
        <p:spPr>
          <a:xfrm flipH="1">
            <a:off x="1115616" y="4581128"/>
            <a:ext cx="504056" cy="5040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ZoneTexte 53"/>
          <p:cNvSpPr txBox="1"/>
          <p:nvPr/>
        </p:nvSpPr>
        <p:spPr>
          <a:xfrm>
            <a:off x="323528" y="5229200"/>
            <a:ext cx="94641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err="1" smtClean="0"/>
              <a:t>Teniidés</a:t>
            </a:r>
            <a:endParaRPr lang="fr-FR" dirty="0"/>
          </a:p>
        </p:txBody>
      </p:sp>
      <p:sp>
        <p:nvSpPr>
          <p:cNvPr id="56" name="ZoneTexte 55"/>
          <p:cNvSpPr txBox="1"/>
          <p:nvPr/>
        </p:nvSpPr>
        <p:spPr>
          <a:xfrm>
            <a:off x="251520" y="5589241"/>
            <a:ext cx="288032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i="1" dirty="0" err="1" smtClean="0">
                <a:solidFill>
                  <a:srgbClr val="FF0000"/>
                </a:solidFill>
              </a:rPr>
              <a:t>Taenia</a:t>
            </a:r>
            <a:r>
              <a:rPr lang="fr-FR" b="1" i="1" dirty="0" smtClean="0">
                <a:solidFill>
                  <a:srgbClr val="FF0000"/>
                </a:solidFill>
              </a:rPr>
              <a:t>  </a:t>
            </a:r>
            <a:r>
              <a:rPr lang="fr-FR" b="1" i="1" dirty="0" err="1" smtClean="0">
                <a:solidFill>
                  <a:srgbClr val="FF0000"/>
                </a:solidFill>
              </a:rPr>
              <a:t>solium</a:t>
            </a:r>
            <a:endParaRPr lang="fr-FR" b="1" i="1" dirty="0" smtClean="0">
              <a:solidFill>
                <a:srgbClr val="FF0000"/>
              </a:solidFill>
            </a:endParaRPr>
          </a:p>
          <a:p>
            <a:r>
              <a:rPr lang="fr-FR" b="1" i="1" dirty="0" err="1" smtClean="0">
                <a:solidFill>
                  <a:srgbClr val="FF0000"/>
                </a:solidFill>
              </a:rPr>
              <a:t>Echinococcus</a:t>
            </a:r>
            <a:r>
              <a:rPr lang="fr-FR" b="1" i="1" dirty="0" smtClean="0">
                <a:solidFill>
                  <a:srgbClr val="FF0000"/>
                </a:solidFill>
              </a:rPr>
              <a:t> </a:t>
            </a:r>
            <a:r>
              <a:rPr lang="fr-FR" b="1" i="1" dirty="0" err="1" smtClean="0">
                <a:solidFill>
                  <a:srgbClr val="FF0000"/>
                </a:solidFill>
              </a:rPr>
              <a:t>granulosus</a:t>
            </a:r>
            <a:endParaRPr lang="fr-FR" b="1" i="1" dirty="0" smtClean="0">
              <a:solidFill>
                <a:srgbClr val="FF0000"/>
              </a:solidFill>
            </a:endParaRPr>
          </a:p>
          <a:p>
            <a:r>
              <a:rPr lang="fr-FR" b="1" i="1" dirty="0" err="1" smtClean="0">
                <a:solidFill>
                  <a:srgbClr val="FF0000"/>
                </a:solidFill>
              </a:rPr>
              <a:t>Echicoccus</a:t>
            </a:r>
            <a:r>
              <a:rPr lang="fr-FR" b="1" i="1" dirty="0" smtClean="0">
                <a:solidFill>
                  <a:srgbClr val="FF0000"/>
                </a:solidFill>
              </a:rPr>
              <a:t> </a:t>
            </a:r>
            <a:r>
              <a:rPr lang="fr-FR" b="1" i="1" dirty="0" err="1" smtClean="0">
                <a:solidFill>
                  <a:srgbClr val="FF0000"/>
                </a:solidFill>
              </a:rPr>
              <a:t>multilocularis</a:t>
            </a:r>
            <a:endParaRPr lang="fr-FR" b="1" i="1" dirty="0" smtClean="0">
              <a:solidFill>
                <a:srgbClr val="FF0000"/>
              </a:solidFill>
            </a:endParaRPr>
          </a:p>
          <a:p>
            <a:r>
              <a:rPr lang="fr-FR" b="1" i="1" dirty="0" err="1" smtClean="0">
                <a:solidFill>
                  <a:srgbClr val="FF0000"/>
                </a:solidFill>
              </a:rPr>
              <a:t>Tenia</a:t>
            </a:r>
            <a:r>
              <a:rPr lang="fr-FR" b="1" i="1" dirty="0" smtClean="0">
                <a:solidFill>
                  <a:srgbClr val="FF0000"/>
                </a:solidFill>
              </a:rPr>
              <a:t> </a:t>
            </a:r>
            <a:r>
              <a:rPr lang="fr-FR" b="1" i="1" dirty="0" err="1" smtClean="0">
                <a:solidFill>
                  <a:srgbClr val="FF0000"/>
                </a:solidFill>
              </a:rPr>
              <a:t>multiceps</a:t>
            </a:r>
            <a:endParaRPr lang="fr-FR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28596" y="571480"/>
            <a:ext cx="8215370" cy="1285884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99CCFF">
                  <a:alpha val="39998"/>
                </a:srgbClr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 </a:t>
            </a:r>
            <a:r>
              <a:rPr kumimoji="0" lang="fr-FR" sz="5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 Light" pitchFamily="34" charset="0"/>
                <a:ea typeface="+mj-ea"/>
                <a:cs typeface="+mj-cs"/>
              </a:rPr>
              <a:t>Kyste hydatique</a:t>
            </a:r>
            <a:r>
              <a:rPr kumimoji="0" lang="fr-FR" sz="4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/>
            </a:r>
            <a:br>
              <a:rPr kumimoji="0" lang="fr-FR" sz="4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</a:br>
            <a:endParaRPr kumimoji="0" lang="fr-FR" sz="2400" b="1" i="1" u="none" strike="noStrike" kern="1200" cap="none" spc="0" normalizeH="0" baseline="0" noProof="0" dirty="0" smtClean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3" name="Picture 2" descr="echino_cy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2143116"/>
            <a:ext cx="7286676" cy="392909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sz="36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  <a:latin typeface="Times New Romans"/>
              </a:rPr>
              <a:t>                   INTRODUCTION </a:t>
            </a:r>
            <a:endParaRPr lang="fr-FR" sz="36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  <a:latin typeface="Times New Roma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99592" y="1412776"/>
            <a:ext cx="62646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Hydatidose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ou  Maladie hydatique</a:t>
            </a:r>
          </a:p>
          <a:p>
            <a:pPr algn="ctr"/>
            <a:endParaRPr lang="fr-FR" sz="32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544" y="1779687"/>
            <a:ext cx="824440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100000"/>
            </a:pPr>
            <a:r>
              <a:rPr lang="fr-FR" sz="2400" dirty="0" smtClean="0">
                <a:solidFill>
                  <a:schemeClr val="bg1"/>
                </a:solidFill>
                <a:latin typeface="Time New Romans"/>
              </a:rPr>
              <a:t>                </a:t>
            </a:r>
          </a:p>
          <a:p>
            <a:pPr marL="457200" indent="-4572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  <a:cs typeface="Times New Roman" pitchFamily="18" charset="0"/>
              </a:rPr>
              <a:t>Zoonose Cosmopolite</a:t>
            </a:r>
          </a:p>
          <a:p>
            <a:pPr marL="457200" indent="-4572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  <a:cs typeface="Times New Roman" pitchFamily="18" charset="0"/>
              </a:rPr>
              <a:t>Développement  tissulaire accidentel  chez l’homme de la larve d’un </a:t>
            </a:r>
            <a:r>
              <a:rPr lang="fr-FR" sz="2400" dirty="0" err="1" smtClean="0">
                <a:latin typeface="Time New Romans"/>
                <a:cs typeface="Times New Roman" pitchFamily="18" charset="0"/>
              </a:rPr>
              <a:t>Taenia</a:t>
            </a:r>
            <a:r>
              <a:rPr lang="fr-FR" sz="2400" dirty="0" smtClean="0">
                <a:latin typeface="Time New Romans"/>
                <a:cs typeface="Times New Roman" pitchFamily="18" charset="0"/>
              </a:rPr>
              <a:t> Echinocoque (</a:t>
            </a:r>
            <a:r>
              <a:rPr lang="fr-FR" sz="2400" i="1" dirty="0" err="1" smtClean="0">
                <a:latin typeface="Time New Romans"/>
                <a:cs typeface="Times New Roman" pitchFamily="18" charset="0"/>
              </a:rPr>
              <a:t>Echinococcus</a:t>
            </a:r>
            <a:r>
              <a:rPr lang="fr-FR" sz="2400" i="1" dirty="0" smtClean="0">
                <a:latin typeface="Time New Romans"/>
                <a:cs typeface="Times New Roman" pitchFamily="18" charset="0"/>
              </a:rPr>
              <a:t> </a:t>
            </a:r>
            <a:r>
              <a:rPr lang="fr-FR" sz="2400" i="1" dirty="0" err="1" smtClean="0">
                <a:latin typeface="Time New Romans"/>
                <a:cs typeface="Times New Roman" pitchFamily="18" charset="0"/>
              </a:rPr>
              <a:t>granulosus</a:t>
            </a:r>
            <a:r>
              <a:rPr lang="fr-FR" sz="2400" i="1" dirty="0" smtClean="0">
                <a:latin typeface="Time New Romans"/>
                <a:cs typeface="Times New Roman" pitchFamily="18" charset="0"/>
              </a:rPr>
              <a:t>)</a:t>
            </a:r>
          </a:p>
          <a:p>
            <a:pPr marL="457200" indent="-4572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Parasite à l’état adulte de l’intestin grêle des canidés(HD)</a:t>
            </a:r>
          </a:p>
          <a:p>
            <a:pPr marL="457200" indent="-4572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  <a:cs typeface="Times New Roman" pitchFamily="18" charset="0"/>
              </a:rPr>
              <a:t>HI : Herbivores</a:t>
            </a:r>
          </a:p>
          <a:p>
            <a:pPr marL="457200" indent="-4572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  <a:cs typeface="Times New Roman" pitchFamily="18" charset="0"/>
              </a:rPr>
              <a:t>Homme: HI accidentel ( impasse parasitaire)</a:t>
            </a:r>
          </a:p>
          <a:p>
            <a:pPr marL="457200" indent="-4572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100000"/>
            </a:pPr>
            <a:r>
              <a:rPr lang="fr-FR" sz="2400" dirty="0" smtClean="0">
                <a:latin typeface="Time New Romans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fr-FR" dirty="0" smtClean="0">
                <a:latin typeface="Calibri" pitchFamily="34" charset="0"/>
              </a:rPr>
              <a:t>                        </a:t>
            </a:r>
            <a:r>
              <a:rPr lang="fr-FR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Times New Romans"/>
              </a:rPr>
              <a:t>    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fr-FR" sz="3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  <a:latin typeface="Times New Romans"/>
              </a:rPr>
              <a:t>                INTRODUCTION </a:t>
            </a:r>
            <a:endParaRPr lang="fr-FR" sz="3000" dirty="0" smtClean="0">
              <a:solidFill>
                <a:srgbClr val="FF0000"/>
              </a:solidFill>
              <a:latin typeface="Calibri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endParaRPr lang="fr-FR" dirty="0" smtClean="0">
              <a:latin typeface="Calibri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dirty="0" smtClean="0">
                <a:latin typeface="Calibri" pitchFamily="34" charset="0"/>
              </a:rPr>
              <a:t>Très répandu dans les pays méditerranéens, où il est généralement maintenu grâce à un cycle domestique impliquant  chiens et moutons.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dirty="0" smtClean="0">
                <a:latin typeface="Calibri" pitchFamily="34" charset="0"/>
              </a:rPr>
              <a:t>L’ Algérie est un pays à forte endémicité et la parasitose constitue un problème de santé majeur.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2800" dirty="0" smtClean="0">
              <a:latin typeface="Calibri"/>
              <a:ea typeface="Calibri"/>
              <a:cs typeface="Arial"/>
            </a:endParaRPr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>
          <a:xfrm>
            <a:off x="142844" y="857232"/>
            <a:ext cx="9001156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                                   Classification</a:t>
            </a:r>
          </a:p>
          <a:p>
            <a:pPr>
              <a:buNone/>
            </a:pPr>
            <a:r>
              <a:rPr lang="fr-FR" dirty="0" smtClean="0"/>
              <a:t>    L’espèce </a:t>
            </a:r>
            <a:r>
              <a:rPr lang="fr-FR" i="1" dirty="0" err="1" smtClean="0"/>
              <a:t>granulosus</a:t>
            </a:r>
            <a:r>
              <a:rPr lang="fr-FR" dirty="0" smtClean="0"/>
              <a:t> est décomposée en </a:t>
            </a:r>
            <a:r>
              <a:rPr lang="fr-FR" dirty="0" smtClean="0"/>
              <a:t> </a:t>
            </a:r>
            <a:r>
              <a:rPr lang="fr-FR" dirty="0" err="1" smtClean="0"/>
              <a:t>ss</a:t>
            </a:r>
            <a:r>
              <a:rPr lang="fr-FR" dirty="0" smtClean="0"/>
              <a:t>/espèces </a:t>
            </a:r>
            <a:r>
              <a:rPr lang="fr-FR" dirty="0" smtClean="0"/>
              <a:t>en fonction des couples HD-HI, de la localisation de la larve et de la réceptivité de l’homme et de la répartition géographique </a:t>
            </a:r>
          </a:p>
          <a:p>
            <a:pPr>
              <a:buNone/>
            </a:pPr>
            <a:r>
              <a:rPr lang="fr-FR" b="1" i="1" dirty="0" smtClean="0">
                <a:solidFill>
                  <a:srgbClr val="0070C0"/>
                </a:solidFill>
              </a:rPr>
              <a:t>            E. </a:t>
            </a:r>
            <a:r>
              <a:rPr lang="fr-FR" b="1" i="1" dirty="0" err="1" smtClean="0">
                <a:solidFill>
                  <a:srgbClr val="0070C0"/>
                </a:solidFill>
              </a:rPr>
              <a:t>granulosus</a:t>
            </a:r>
            <a:r>
              <a:rPr lang="fr-FR" b="1" i="1" dirty="0" smtClean="0">
                <a:solidFill>
                  <a:srgbClr val="0070C0"/>
                </a:solidFill>
              </a:rPr>
              <a:t> </a:t>
            </a:r>
            <a:r>
              <a:rPr lang="fr-FR" b="1" i="1" dirty="0" err="1" smtClean="0">
                <a:solidFill>
                  <a:srgbClr val="0070C0"/>
                </a:solidFill>
              </a:rPr>
              <a:t>granulosus</a:t>
            </a:r>
            <a:r>
              <a:rPr lang="fr-FR" b="1" i="1" dirty="0" smtClean="0">
                <a:solidFill>
                  <a:srgbClr val="0070C0"/>
                </a:solidFill>
              </a:rPr>
              <a:t> </a:t>
            </a:r>
            <a:r>
              <a:rPr lang="fr-FR" dirty="0" smtClean="0"/>
              <a:t> cosmopolite. 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6F48E5B6-9109-4391-982A-F37FE8DA3164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    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b="1" dirty="0" smtClean="0"/>
              <a:t>      </a:t>
            </a:r>
            <a:r>
              <a:rPr lang="fr-FR" b="1" dirty="0" err="1" smtClean="0"/>
              <a:t>Genotypage</a:t>
            </a:r>
            <a:r>
              <a:rPr lang="fr-FR" b="1" dirty="0" smtClean="0"/>
              <a:t>: </a:t>
            </a:r>
            <a:r>
              <a:rPr lang="fr-FR" dirty="0" smtClean="0"/>
              <a:t>11 génotypes</a:t>
            </a:r>
            <a:r>
              <a:rPr lang="fr-FR" b="1" dirty="0" smtClean="0"/>
              <a:t>……</a:t>
            </a:r>
          </a:p>
          <a:p>
            <a:pPr>
              <a:buNone/>
            </a:pPr>
            <a:r>
              <a:rPr lang="fr-FR" b="1" dirty="0"/>
              <a:t> </a:t>
            </a:r>
            <a:r>
              <a:rPr lang="fr-FR" b="1" dirty="0" smtClean="0"/>
              <a:t>         </a:t>
            </a:r>
            <a:r>
              <a:rPr lang="fr-FR" b="1" dirty="0" smtClean="0"/>
              <a:t>souche</a:t>
            </a:r>
            <a:r>
              <a:rPr lang="fr-FR" dirty="0" smtClean="0"/>
              <a:t> </a:t>
            </a:r>
            <a:r>
              <a:rPr lang="fr-FR" b="1" dirty="0" smtClean="0"/>
              <a:t>ovine </a:t>
            </a:r>
            <a:r>
              <a:rPr lang="fr-FR" dirty="0" smtClean="0"/>
              <a:t>est la plus </a:t>
            </a:r>
            <a:r>
              <a:rPr lang="fr-FR" dirty="0" smtClean="0"/>
              <a:t>répandue et </a:t>
            </a:r>
            <a:r>
              <a:rPr lang="fr-FR" dirty="0" smtClean="0"/>
              <a:t>la plus fréquente)</a:t>
            </a:r>
          </a:p>
          <a:p>
            <a:pPr>
              <a:buNone/>
            </a:pPr>
            <a:r>
              <a:rPr lang="fr-FR" b="1" dirty="0" smtClean="0"/>
              <a:t>          souche caméline</a:t>
            </a:r>
            <a:r>
              <a:rPr lang="fr-FR" b="1" dirty="0" smtClean="0"/>
              <a:t>, </a:t>
            </a:r>
            <a:r>
              <a:rPr lang="fr-FR" dirty="0" smtClean="0"/>
              <a:t>Afrique </a:t>
            </a:r>
            <a:r>
              <a:rPr lang="fr-FR" dirty="0" smtClean="0"/>
              <a:t>de l’Est…)</a:t>
            </a:r>
          </a:p>
          <a:p>
            <a:pPr>
              <a:buNone/>
            </a:pPr>
            <a:r>
              <a:rPr lang="fr-FR" dirty="0" smtClean="0"/>
              <a:t>         ………………………………………………………………………..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7632848" cy="1143000"/>
          </a:xfrm>
        </p:spPr>
        <p:txBody>
          <a:bodyPr>
            <a:normAutofit fontScale="90000"/>
          </a:bodyPr>
          <a:lstStyle/>
          <a:p>
            <a:r>
              <a:rPr lang="fr-FR" sz="4000" b="1" dirty="0" smtClean="0">
                <a:solidFill>
                  <a:srgbClr val="FF0000"/>
                </a:solidFill>
              </a:rPr>
              <a:t>le parasite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pic>
        <p:nvPicPr>
          <p:cNvPr id="1027" name="Picture 3" descr="C:\Users\user\Desktop\Planchage Hydatidose\PIC\Capture01 copy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288" y="1412776"/>
            <a:ext cx="1600200" cy="4238625"/>
          </a:xfrm>
          <a:prstGeom prst="rect">
            <a:avLst/>
          </a:prstGeom>
          <a:noFill/>
        </p:spPr>
      </p:pic>
      <p:sp>
        <p:nvSpPr>
          <p:cNvPr id="7" name="ZoneTexte 6"/>
          <p:cNvSpPr txBox="1"/>
          <p:nvPr/>
        </p:nvSpPr>
        <p:spPr>
          <a:xfrm>
            <a:off x="395536" y="785794"/>
            <a:ext cx="7176860" cy="4485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fr-FR" sz="2400" dirty="0" smtClean="0"/>
              <a:t>mesure 5 à 8 mm de long.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fr-FR" sz="2400" dirty="0" smtClean="0"/>
              <a:t>scolex à 04 ventouses, rostre avec   02 couronnes de crochets.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fr-FR" sz="2400" dirty="0" smtClean="0"/>
              <a:t> Seul le dernier anneau est gravide (</a:t>
            </a:r>
            <a:r>
              <a:rPr lang="fr-FR" sz="2400" dirty="0" smtClean="0">
                <a:cs typeface="Times New Roman" pitchFamily="18" charset="0"/>
              </a:rPr>
              <a:t>segment </a:t>
            </a:r>
            <a:r>
              <a:rPr lang="fr-FR" sz="2400" dirty="0" err="1" smtClean="0">
                <a:cs typeface="Times New Roman" pitchFamily="18" charset="0"/>
              </a:rPr>
              <a:t>ovigère</a:t>
            </a:r>
            <a:r>
              <a:rPr lang="fr-FR" sz="2400" dirty="0" smtClean="0"/>
              <a:t> se détache tous les 7 à 12 jours</a:t>
            </a:r>
            <a:r>
              <a:rPr lang="fr-FR" sz="2400" dirty="0" smtClean="0">
                <a:cs typeface="Times New Roman" pitchFamily="18" charset="0"/>
              </a:rPr>
              <a:t> ) , et</a:t>
            </a:r>
            <a:r>
              <a:rPr lang="fr-FR" sz="2400" dirty="0" smtClean="0"/>
              <a:t> est entièrement occupé par l’utérus  contenant de 400 à 800 œufs</a:t>
            </a:r>
            <a:r>
              <a:rPr lang="fr-FR" sz="2400" dirty="0" smtClean="0">
                <a:cs typeface="Times New Roman" pitchFamily="18" charset="0"/>
              </a:rPr>
              <a:t>  murs </a:t>
            </a:r>
            <a:endParaRPr lang="fr-FR" sz="2400" dirty="0" smtClean="0"/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fr-FR" sz="2400" dirty="0" smtClean="0"/>
              <a:t> vit fixé entre les villosités de l’intestin grêle.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Ø"/>
            </a:pPr>
            <a:r>
              <a:rPr lang="fr-FR" sz="2400" dirty="0" smtClean="0"/>
              <a:t>longévité de 2 à 3 ans</a:t>
            </a:r>
            <a:r>
              <a:rPr lang="fr-FR" sz="2000" dirty="0" smtClean="0"/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000" dirty="0" smtClean="0"/>
              <a:t> </a:t>
            </a:r>
            <a:endParaRPr lang="fr-FR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21" name="Picture 17" descr="D:\documents\Base de données parasitologie\Base de données.CESTODES\E.gra.Adulte.jpg"/>
          <p:cNvPicPr>
            <a:picLocks noChangeAspect="1" noChangeArrowheads="1"/>
          </p:cNvPicPr>
          <p:nvPr/>
        </p:nvPicPr>
        <p:blipFill>
          <a:blip r:embed="rId2" cstate="print">
            <a:lum bright="12000" contrast="24000"/>
          </a:blip>
          <a:srcRect/>
          <a:stretch>
            <a:fillRect/>
          </a:stretch>
        </p:blipFill>
        <p:spPr bwMode="auto">
          <a:xfrm rot="16200000">
            <a:off x="-1357322" y="1571614"/>
            <a:ext cx="6643708" cy="3929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214282" y="428604"/>
            <a:ext cx="1643074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sz="2000" b="1" i="1" dirty="0" err="1" smtClean="0"/>
              <a:t>Echinococcus</a:t>
            </a:r>
            <a:r>
              <a:rPr lang="fr-FR" sz="2000" b="1" i="1" dirty="0" smtClean="0"/>
              <a:t> </a:t>
            </a:r>
            <a:r>
              <a:rPr lang="fr-FR" sz="2000" b="1" i="1" dirty="0" err="1" smtClean="0"/>
              <a:t>granulosus</a:t>
            </a:r>
            <a:endParaRPr lang="fr-FR" sz="2000" b="1" i="1" dirty="0"/>
          </a:p>
        </p:txBody>
      </p:sp>
      <p:pic>
        <p:nvPicPr>
          <p:cNvPr id="20" name="Picture 3" descr="C:\Documents and Settings\Administrateur\Mes documents\outils\ANOPHEL\diapo\H09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00562" y="285728"/>
            <a:ext cx="4429156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ZoneTexte 23"/>
          <p:cNvSpPr txBox="1"/>
          <p:nvPr/>
        </p:nvSpPr>
        <p:spPr>
          <a:xfrm>
            <a:off x="4643438" y="428604"/>
            <a:ext cx="487634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sz="2000" b="1" dirty="0" smtClean="0"/>
              <a:t>KH</a:t>
            </a:r>
            <a:endParaRPr lang="fr-FR" sz="2000" b="1" dirty="0"/>
          </a:p>
        </p:txBody>
      </p:sp>
      <p:pic>
        <p:nvPicPr>
          <p:cNvPr id="8" name="Picture 4" descr="http://ts4.mm.bing.net/th?id=H.5015771341652119&amp;pid=15.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010149"/>
            <a:ext cx="1285884" cy="1847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2226" name="Picture 2" descr="https://encrypted-tbn0.gstatic.com/images?q=tbn:ANd9GcSEhAAZC5XvABNPOW4EC2nfoLYIuAv3sTsgujP7KSYAG71tbLskS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71934" y="3714728"/>
            <a:ext cx="2466975" cy="31432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2228" name="AutoShape 4" descr="data:image/jpeg;base64,/9j/4AAQSkZJRgABAQAAAQABAAD/2wCEAAkGBhQSEBUUExQVFRQVFxgYGBcXGBcXHBgXFBgYFxUXFxgcHCYeGBsjGRgYHy8gIycpLCwsFx4xNTAqNSYrLCkBCQoKDgwOGg8PGikkHyUpLCosLCwsKiwsLCkpLCwtKiwsLCwtKSksLCkuLCwsKSksKSwpKSkpLCwsLCkpLCwsKf/AABEIAMIBBAMBIgACEQEDEQH/xAAbAAACAgMBAAAAAAAAAAAAAAAABQQGAQIDB//EAEEQAAEDAgQDBQYDBgQGAwAAAAEAAhEDIQQFEjEiQVEGE2FxgRQykaGx0SNSwRVCcpLh8Adi0vEWM0OCosIkVLL/xAAaAQACAwEBAAAAAAAAAAAAAAAAAgEDBAUG/8QANBEAAgIBAwIFAgUDAwUAAAAAAAECEQMSITEEQQUTIlFhkaEUFVJx8DKBscHR4TM0QnKC/9oADAMBAAIRAxEAPwDzJCEL3hxQQhCABCd5hgabcDQqhgD6jnhxl2zSQIBMDZZ7NZeyqzEama3U6Zez3vevAhpEjwXNl4ljjglnadRk4v8AdPT/AJLvKerSI0KbmbA0hndinUZIeAXQZDS2ziYIkgrGT0WvxFJjhLXPa0i4s5wB2IWr8QvJeWnSTf8AZfYTTvRDQrDm+UNw9V73UvwdTmU28XEQNy6ZAG+94sIkjXLcvp4jDVQxgGIp8Qgu4mcwGkxI+3VYl4pieJZ0npdb7bX779u/sP5TvT3ECE6y7BUnYilRqaW2Ot0u4nwS1hM2AOlpiLz4IzHC9w4NrYcB/F7pcGPGmGxDrQ65gyrH4hDzFiSdtWltut+Pfj7ohY3ViVCsWNw9Gnh8NV7lp73VrGqoLNtw8dj5yt/2S04OjVbRa5zu8NQk1IDaeozZ3DYKn82x6VJxdOTiuOVd9/gbyWVpC64pzS9xYNLSTpabwOQk7pv2cy5lWniC5gc6nSLmXcOKDEwRIstvUdVHp8PmzTrb993QkY6npQjQrBicsbTwDarqYFU1tBku90AnbVHJb5jlFNzKNei0NouH4glztDm3eCSZ5EDxjqFjj4ribSp05Sje1XHt/fsP5TK4hP8AJsLSq08U91Jv4bNbBL7TqseK4sFyzHKmHCU8TTGnU4seySQHCbtJvFtinXiePzvKkmnaj8W1a/nuR5TqxKhOquSD2IVmmajX/iD8rXgFkjwsf+7wXXsvhaNeuyk+kCNDi52p8lwJIiHQBEDbkpl4liWKeaKbUG06+P4q/cFidpe4gQn/AGfoUa+Jp0nUgAdeqC+8NlscUgiD52RhcrYKGIxD2gim/RTZJ06pAl15IGoc0k/FMeOThKLT9PtvqbS7/H0JWJtWv5QgQnn7PZVwTsQ1oa+k/S8CdLmmIME2PENjyK6doMvp0sTSYxgDXNplwlxkvMG5Mj0Ux8TxyyeVT1epP4cUm/s1RDxOrK+hWLKctZUpYp3dB76RHdtGvmSIgOk7JTmbWh2kMDHMlrwCSC5riJEkkW5TyVuHro5sssUU7jzx7J/6/UiWOlZDQhC3lQIQhAAhCEACEIQAIQp2W5Q6uHlrmju26natXujmIBlV5c0MMdeR0iUm3SJlfM6T8LRoE1AabnEkNaQdRJgcfiuuAzihS75oFTTUpCkLNnbie7iiS7kEvp5M5zqbWOY/vC4CCbaYLtUgEWM+SwzK9UFtSmWklsnUIhpcS4FsgQLHmuNLp+jcHjcnTbk1v3dvt7rYv1TW9GmNqscAWl7nk8TnACwADQIcehmfBYyvEinWpvdMMe11tzpIMC4Us9n3BlN5qUg2qdLCS8SQYM8Nr9VEy7LnVqoptIDnSBqmJAJNwDFgVsjk6eWCcdVxSab9uU/px8C1JSuh5/xLSc+u2qHuw9Y6g2BqY6dxeB/soHZ/M6eHxIqHWWNDgIAkyIE8UDrz2UfGZK+mzXLXMDzTLmk8L27tcCARt5Li7L3iiK0cDnFgPi0SfT7FZMXSdF5UoQl6Z1Gr5aX+aW/uM5zu2t0bUqlPvHF+osIdEASC6dJgmJB8VKx+basOyjqdU0vLtThECNIY25MblccJk7qlF9UPYGUyA6dUgu2sGmd1tWyKo19NpLYrR3bwSWukgC4Ei5G4V030ksi1S3h29nFf7btLkj11xydszzRlTDUKTdWqiHSSBB1dLyIXZ2cUzhqNKajXUi+XBrSCKmqRGscioeLyQ0zUaalPVSEuaC6eXuy0A7zv16Lf9gOHdh72U3VQCxrtUwbNLoBDZNrrP5fQ6IpS2UnJc8tNt8cU2ybnb2+CBiizWe7nRaNUTYAEmLSTJTHJM0ZSp12v1E1qZpiADEg3MkdVphez1V9Z9HhbUYCSHE7CJIIBncea408sJY15e1rXuLWF2riLYk2HCLi5WrNPpc+PyZztenh7+6/e6sWKlF3RKqZnT9hbhxq1CoakwNNwRG8890YfNWNwVSgdWp7w8GBpEabHim8bwltShpeWEjhcWk3IsYJtysmWL7L1aZeJY51Noe5rSZDT+8JAkdY2VWXF0eNKE5Vql5it97X2uhlKb3S7UZyTNKdKlXY/XNZmgaQDpibmXCd/ks1c3pmlSoQ4UGO1PMDU8kkmBMAXIAlRm5MRTZUqPbTbUPBq1EuA3dDQYbtc9V0Z2cq+0eznS2oRLZJ0uETIcAbQEk4dC8ksrnver4uK02v/AFX0YXOkqJmW9owDWbWL306rS3SA0ROxubQP06KL2czNmHxHeO1EAOAAAk6rTc2S6pQ0vLC4WME3ixg8pj0UvH5G+jUZTcWkvALS2SCHGBBi/pKsl03RrVjbrzFx7pLlfNchqnz7HXIMyZh8U2q7U5rdVgBJ1AjmYG66YXOGhlai+TSrO1AgXY6QQ6JgiwkTyUfD5K57armvYW0RLjxbXgt4b7FRMLhHVHhjBLnGAP72CmXT9JmlKbe6UU/jTun8PeyFKapDvMtWHwvcM42VHB76zfdfIGlrekQJm9jZcszzenWfSqnWHMa1rmQIcWGQWum0+IUc9n3E1Gsex76QJexuqYbZ2kkAOg2MLShkrnUe+1sazVoJdqs48jDT8VlxQ6SKU5zuVveqbc13Xykq7bbDNz4r+IkZZm1NlDEU365rxdrQQ2CTN3Cd1Ax9VjiC0uc46nPc4AS4mbAE28+ZUxvZisaxow3WG6hxWLfzNMQVwzHDCO8Z3Yp6tADHlxBDZl03ki87dFowPpVn1YpW5U3vtxS+qX29xZa9O5AQhC7JQCEIQAIQhAAhCEACsvY1p04q0zQIAvc3tbf0VaQCsfXdN+KwvEnV19nZZjlolY+ZSrCu2tTYaRMmm0gj/l0xraAdxbTfeQt89cyrQbW7rua3eaXNiA+xJeAb2MSfqq9Ky5xO5J87rL+XvzIZL3j7XbXs997+f7D+Zs0WLN2H9m4Sxs58+Ekx5KL2PH/zaPgTPhwOuUnlYlNHoK6bJg1f1at641X/AIsjzPUpew7zPG1HvdhmMDWmu92kaiXvLiASTy8Am2W6a9KvhAH8LQ6nqgQ6nw26aje/UqnIlU5fClLEscHpappr9ar1P34JWXe3/EWnIxpwGJ1sLgH05aZBIBGoWuCPku+aUS7EYSpTOrDk0xTAHuQW6mnxtMnp4KoShVy8IbzSza923223io/Xbn+w3nKkqLD2sxTe/qt0AO73Vqvxt0AXkkb9LXKk9paLsRiaNSkC9lRrIIkhpDjIcRYEbmVVVlryJAJvvc38+qsh4V5cceiXqhFxt8O0k/24sjzrbvuXzD4xtXM6zmXaKLmahsSNOx58x6JPkmKeylTpVaPf0KhMCCXMdqLXR0Np5earK2Dz1N97m46FUR8EjGLgpbVFK+VpT3TT2du9v2J8/eyTmOHa2u9lM62h5DTvIB38VZO1+aOpYiq1jQDVpMa59ydMXa3kPEqoIlbcnh0cuTHPI7UVW/d7bv6CLJSaXcs3aGcRRwr6TS4Cn3bmtBOl4gQQNvDqm3tDXZjhmNIJo09LyLgO0ukT4fqqI15GxI8iQsSscvBdWNY9WyU0v/vm/wBl9R/P3uvb7DPF5VU1VnlrmtYXGXNIBl8NA6zPyTYVi/LNbhL6LyxjouGOAnzgEieVlV5RK15ehlljBSkvS01t2XK579xFkSbpclj7NUycJjQASTTaAANyNdh1Pkjswz2bEUqtYaGvL2DUNP7olxnYSQ3/ALiq3KzKTL4c8nnRcvTk523XpqufjklZa07cFq7PUXUMXVqVQWsptqS4yAZPDpJs4ncQtsBqOXEtpCoTiJDC0kEGOQi3KdlUy8kAEmBtc28uiJVOXwh5XrlNX6O21Qv573uSs1Kkvf7noGHDf2oS15d+AdQnUGO/ICLAeHKVUMyw7ywP7o0mBrGaSHAFwBmJueZv13S4FYJTdH4U+myKandRjHjsr+a3sJ5da4BCELuGcEIQgAQhCABCEIAywXHmr+ez+HAJNJoA3977qgU9x5hej5hWAbpJjUDPlzWDrcnlq7L8MNboVOyug4jRRGnqZueXNdKeT0ueHYfIu+6X+3aX6WGfLl5lOMvzt5tI9RMjzXnV1mVu9TR2H0kEtlZ1oZFhXW7poPQz90xw/ZDCu/6Lf/L7rV3HxBsERspNHFOH/Ug8wWg/NbsfVya3ZhydPT2JjOw2DI/5DNurvup1PsFgCJOGZG+7v9S4nBYl7LODWnZxaB5cytP+HnPYQatZzjvBOk+QAUZOpfaTIhgZriez2VgcOHpudPLXHjeYS52RYJsE4aifDj/1KDmWWd0TDnEeLiNuRUAVyz94kE+6TJWb8Rk/U/qzVHp1xQ2FLA69Iy+gTe2uoCY9TyUnC4XK6hLDgm06kWlzi0u5CZFvPolVQamkljSGjUbCBe0nrKXYvOKIHEACUkc+S95P6smXTxa4LHj8py1tQTQYxjRcBxkmP4tpUWhlGXF2ospAbxD9IH80nyVabndN7gAQB1i/kpmKz2nOkOc8x1gK9dXKtn9yj8KlyRe0WZYWnU04fC0S0bue18k+A12HmqxicZrJhlNs8mtiPK/1U3OGs1STE+sKMcpkSx4cLRYg3F/gqZdRkb/qf1L1hglwiFxDp8JRRxEe8NRkEdLG4I5gqdTwMROqZvzHwUmrgGOFmkHql83I/wDyf1YOEV2RtgM9w8EVsK0nkWSPiC75hOsuzHLqlnUW0z/n1D/yDo+KrVTISTwnUemy4V8HpMNk9QVbHq80eWyuXTwfB6xl3YrCVIOiiWnaCST8HJgzsfgWGKmGYR+Yax8Rq+a8YoY+pQPA97PAG3qNk/wH+IdcAh0VPEnSfEGJ/RWrq9WzbKX0zXB6tT7F5a4S3DUyPN/+pbnsHl3/ANWmPV/+pec5b/idpP4tN7DPvMOoR4tt+quOX9vsNUj8ZgJ5E6Z8wYhMpuXE39WVODjyiRmHYTAtaYw7Aesu+6rb+y+Gm1Fvz+6uOaYnU3wi3ySUtWvHKdbtlUigdsctp0TT7tgbqDpibwWxufFVxWzt/wC9R8n/AFaqmurhdwRS+QQhCtIBCEIAEIQgDLDceYTTtBn/AH7oZIYLDkT4n15eCUrjVqCR/ey4PjM2oxiu/wDwdTw+K1OTJDKrxIaASYM8xCt2Q1C+m0Oa12lvKJkb+sT8FUsvxDQCSbqy5YYZqdA9J+A/vdeejudtbF6yjL3CObDsZ28COaetyabENI8QvOcBTrAio8vDfA8um48FZmZ+1ze7DQ50HiN7Hl6LRH08mfJUuBzXpaDpYDO1iY+sJRnD8TSDYqkA/umCB6QtWYs0WyefOZH+6TZlm4fpAJeeQmbFO17lcX+kh5hnriO6FIMf+88uJ1eQiyg+xOjUSZUjTDuKHHopWFH7uq/SJ+RVTp8FlNCerWfsdh8EjzbGAnS0RAgncnqfJWnPm6m6Gi9rCL9dljLOzlE0+O7yATIMgnl6JYwb2RE5UrKGwlHeEGQVcc07Kta1waC1zd5M+hVTxWDcwA8jzUSTjsxE9W6NO91b380xZmbtOmwi1gOSUNeVJpVInxSXQyGmDxRDpJkJ7U0OpyImfd2O28dFU6dS9imOErlx3KtjOhXBSJjqkPsYhOMBSoPdoq6Abw9w4YA+qU06UuiLldXPaAeoMSjX7k+WuUR8/wAupOIFI+7M7xvYCVV3NLSrG7MA0kFsg80mxBlxTSpcFaT7nJriecLejhHvMCCuIspuB1xraLDf/bmosnSNsh7Q1cDUDahc6g43Ezp/zNnaOY5r0rUHAOaQQRIPUcivG8wzDWyOv6K9/wCHecd5hjTfJdSIA/hd7v0I9Auj0ub1aDB1GOvUQu344qXk/wCrVU1b/wDEQcVHyf8AVqqC9Fg/oRz3yCEIVwoIQhAAhCEACh1BqAJ3i+8kgwbqawXHmFvmGqniH0BAphznxbctjc3PkuH4xG1F/udDopU2LKRIAVhy7MjIJJMbSoraDRBqNMaSYHibJhlWDwsO7w1LCRp5u5NJJsPG/kvPQTTs68mqocNxPfsdxRFhf42WuBy14cHgFjDAkE7jr4lVQV9LyGk6ZkXuOnmn9LM/wyS+4TuWp2yI+lUi743T7M3jl0kFpmwtefH9FT8tqN1km0O0g233hQD2oqVBoYOM2lYbgDTIpudxk36D1SyyW7Hxwa2ZcBhmvIDWyT8Z8FwxeAaBMRHObqVkGFBM6nRTaXu291vT1geqiZzmveVHO0BrSSYG39E8qrgrhGUpbOzOBwBJ0NA1ETJI6TvPTxXCtV033iIPn47+ikUMbqaNLCIaLeAG/ioGb1Ip6iR4Nm8yRccrqbqIuhudMm9pcfTp0eFxkgarzqd58gvOqmKOkt+SYZrn1SrTZTMBrJsABM/mP73hKi5Tg+8qQRIALiJaDAE2LiBvCrm9TGS0qiBSoklbNCbY2BADQ0j5+am4DszWxLQaNFzyQ4jTzDHAE3O/FtZRRAgamGTPHeS4kAXsJnlFyFGqYctcQ4QWmCDyIsR8U3yrLgW6jsbTyneFCVjfJ0wNcvrEzAvCZuypvCXFpDrmCDG4vGyiZfkrHPdxBumNzG9rRumeIohpMOmByQ0+40WuEIM+wIogFps7l5dDySrC1G6hPz/VM+0DDoZJ6/okGqERYstnQ9xuXtIkCJ9Ft2Vw9XvHMpMc8u4LCRLrgdJIBPok4zp8QSTyHgBsEYTG1ATpcQHES0E3jaRzNz8SrHJdiqMXwzTO6JFUnrePHmnn+G+PDMUWO2qtIH8QuPlKj4zC6wCd/utsDge4eyo272ODh0Mbt9U+GWmaZXljcWh72/N6Pk/6tVSVm7ZYttVmHez3XNef/wAyPMGyrK9h07vGmcSXIIQhXighCEACEIQBmnuPMfVW3tvk7HUXVo42ix2VSZuPMfVep1cO17S1wBBEX8Vz+tjqSRdidOzx7LnuqcOo2+iY1+8ENkEHmP1XTtP2bODqB7b0nmI5ieS44fHAU4FzM33C8tkxuL0s7OPIpKxphsh7wNuBPPf0WMV2fFN7GufZ1/hy81nC5w0C9lnMceK0Na0lwVUlRfGdjOk6lRDA1sgAzqMEk85be3TwWjqTHgPm5VfcHRc7cpkhScuxEQDJ+noi9x1J1VlqynNO7fuNiIIBlpEEfBNcZhaLgHU3RJvTdJjxDogj5pJSyoad5O4PSVozO20+BzXFwO4G/j4K+2uSqSTdxJ7qwot0ExJ5b6dyB0vCV4jLRVLw14ADXP1VCBZomB1PKAtMTmIBFSoJE8Ld1wObCppaWjT02+iL2J72yt1aN1qWGVZqWS96QB6u5BMMFiGCkaNZrahpnSxxF2AEyG/5TJMFVxhqJm1HcqtCm5x2l1vl9VIw2cVaQID6gF7Ne5vMEix2t9E+dRaGksI1fBIsywThxER/e6d43HuJHIpdiTgcspvpmp7RSa8kgsqB8nmSw6TqMc/HyK5ftU09dOm86XWsIkNPCb3alQMG6lOpy6REfdVpDk/K3h9S+qfDe8ehnp4q05pSawBukNIaNRtuRJMyZtCrOVZt3IqFti4aRz6zw7HpfrKg1cwqPkOcSCST67oaJTMZ7jtZBbsLep8EmNF2nVynf+/NMHYNx8iutPFPoNNMhrmOuQQLG2x5bJaEYhBTXJazASXbgW80vqsBNlLwmDEBxnfcdFK5IGNbMdTyBzt/VT67gAIPK5PzUmvlVMFpZpNpt0gbpJmNEtuDafgrEmvUyt03SOdeQdE8IJc0dNcE/MLku1ZpAaCZNzPnELivV+Hu+nizj9QqyMEIQtxQCEIQAIQhAG1PceY+q9Yi68np7jzH1XrJddYer7FkCvdu8SBSYzSCXEmTyiLfNec4mm2nD27Tdp+d/wBV7PVw9OoNNRjXgcnAH6rjTyXDtnTQpDUIdDW3B3C4+XA5u7NePKoqqPHqTWVHQyoWTydyPmFtWy4tI1Vh6ajB+XyVr7V9gGUqbq+HJAbc097c9J39FSe9O3Jc7LjljdSNuOamtiQMwc13vaoO/VTKONvqHwSdAKoLky1Uu0bojZb0c3glzjqcdh09VWqDS51ualvpuaYIVibZKpcE/NM0NYgxEKNTeeqMNh3PIAFyrI7sY4Bv4jZiXCCIPSefJOlKXAOSXIuwGYubwyRMf0XbGUHgl+ocR/v0UutllOnTtpL27uveenkoTMYagh14uPBTODjsyIyUt0RaWKLXSXT4LOYZq6p5KM5t0d3y6pEmNtycXLZr4upFLAOcYAuNxIF+l+dlzxVEsOkiCOSWu5NnI1QAZEki1yIMgyP69Va8Fi6LgCadnYdrIAFqrNI1AybEiT/EQqiYkAmx8CT6Qrdg6tIYbTEP1SDfaCI36+CI7kOSQYrE0qZaIsfkkudsDTMBwc0gdQTs5ZbR73VrfpII0AixEnU4unhgD1JASyo8usCYEbnnsDHkplbIiktzODyk1Wucwglpu3bfxUxtU0WhtQWvtHwTPH4NtJ5p0nNgAAubLg6w1GSBN/BKsye3VFTaLEdfVQ1XAt3sQ258WmwtJt4FMBiWVaXUncdFXKrLmFs9zqZsSDF/VCkxWiZhyZcCZgx8JXdQ8vdOr0/VTF63w7/t4nI6j/qMEIQtxnBCEIAEIQgDanuPMfVesFeTU9x5j6r1ljpCxdX2LIGQs6kObZaBywFh10hwINwZBXlOL7PNZXfSLoLHQ224N2/Ir1MPVG7c4JzMQyqBwPAaT0ePdn0WXqoaoWaMEqkUrEYcscR0XKFPzHfxO6hwuQdE6YWqWmQpxxM7pc1dWPUpkod5XmApuurBUzxpbe/qqXRElMqGVVHNLmtJDbkjkrIZGthZY1J2zrisbNhzXXL6zW6pEyCPQ9EveeWyzSqQQVGq2OoqKLPl+Q03AF5de52H3Uytk1PDPI7ymWuBBJOoRYgjSJkW9eVkoxGbloEzHRLcRnIPKfP7KxuCRWtbLbmLsNpY5rWa2s4iwGHReYIkO3k81Ts0xZrVS+AJ/S0qbg8WHm9pBHpzA6KTwMp6RdszHmFFWidWnkrjaulwdvy9OaYOxDXDhMzy2SnHV4qgAGDy/os08TBIBuOY+cKlNrYfZsc18fpYWGAXaQQBeG3gOMxJuYSh1Tpa8qO+oZutRUU2BZsopEsc95sLDxmdlGx+E7wC95Wcozhpa2lUmAd1zzPHt7z8ObfGydpaSvfUKMTS0GOiiVCnGYAFsm032gpY7DcJM2VdUNydcu2d6fqpq1wuXllFlQ7VS6B4MIE+pJ+C2Xr/AA9V08Uzi9Q7yMEIQtpQCEIQAIQhAGae48wvVGnxXldPceYXqLVh6vsWwJIK0cFq1y3KwjmAoWeYPvcO9m5glv8AELtj1UuVkOStWqJTrc8XxuML3cTdLhYja4+i4By9ezvs5RxTSHiH8qgHEPuPNeX51klTC1O7qbH3XjZw+65Wbp3Ddbo348ylsQw5btC5QQt2FZWaUSqdoVnwGYktADXGBtEiVA7P4BjuJwDoO33VtGYtZwgW5coPJX44OrsWc1dFXxOSueS4WnkVDOWuaeI/0VnpZwym+bTfeP1UDNMa2q0uiOscyocFQ3mb0KMQ4BoBMlK6wlGIqlRzW6qp7jXRJpYkt2Us5wYv0UNmjTcmfRRN026EbTLR2dwFPE0sRrBLzDaZbd2q+3h1Vdp4d1NzmvBBbYjoRyXqvY/Ihh8M0kDvHjU4x1uB6BVrtPUpvxz6T26SWgh+1wLz4RzWrNh040+5nxZNWRoqeHwz6rg1okrGIwxpuLTuF6L2dyalTYHjd0iT4c1Uu2LWCudO5ufXZZGqjZqfIhD4XbA4wNcJ2UV7looFsY4/MO8IHj/YU7I+ztTFag0hrW7vdJF9mgDc80sy7LH1Xta0XcYH6nyG5XrWUZW3DUW023i5MRqcd3f3yha8GHzHcuDNly6FSKn2lwzqdLDU3ODnMY5stEAgFsfKEhVn7b+9S8n/APqqwvVdMqxpHLn/AFAhCFeICEIQAIQhAGWbjzC9Omy8wXT2h35nfErPmw+ZW48ZUemyujXry72h35nfzFHtL/zO/mP3VH4R+43mHqJCF5d7S/8AO7+Y/dHtL/zO/mP3R+DfuT5h6o0rjj8BTrsLKrQ5p+XiDyK8x9pf+Z38x+6Pan/nd/Mfuj8JaqyNZPzfsZiaAPdfjUuTYlw9Psqu5uk6XNc1w3a4R9U69qf+d38x+65POoybnqb/AFWOfhKk9pGiHVtco5YDMjTERuutXO3TCxpHRGkdEn5TLjX9iz8XH9JBr48uMldhmkN4RBi/P4KRpHQLGgdAl/J5fr+wPrfgW+2mCCN1rRw7nmwJ+nxTTQOg+C2BUrwh95fYh9Z8EY5OQGnWLi4g8NyI6Exe3VS8ny1gxFMOfLS5oJO0EjcctlrKxCsXhVO7EfVX2PYD0hVbtzSY2kK5bLmHSLbg7tJ5Km+1P/O7+Y/dYfWcRBcSOhJI+C1T6LXHS2Uxy6ZWaO7WVdmnQ0bBtvRKcTiy9xcdymmgdB8EaB0HwWD8nf6/sa31t9hMHJlkeQVcU+GCw955nSPXmfALvoHQfBdWVnAQHEDoCQmj4RT3l9hJdZa2R6BknZ+nhWw0ann3nkXPgPyjwCYOevMPaX/nd/Mfuj2l35nfE/db10dKkzK8lu2WPtseKl5O/wDVVhbPqE7knzJK1WzHHRFIrbtghCE5AIQhAAhCEACEIQAIQhAAhCEACEIQAIQhAAhCEACEIQAIQhAAhCEACEIQAIQhAAhCEACEIQAIQhAAhCEACEIQAIQhAAhCEACEIQAIQhAAsLKEAYWUIQAIQhAAsLKEAYQsoQSCEIQQCEIQAIQhAAhCEACEIQBhZQhAAhCEACEIQ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2230" name="AutoShape 6" descr="data:image/jpeg;base64,/9j/4AAQSkZJRgABAQAAAQABAAD/2wCEAAkGBhQSEBUUExQVFRQVFxgYGBcXGBcXHBgXFBgYFxUXFxgcHCYeGBsjGRgYHy8gIycpLCwsFx4xNTAqNSYrLCkBCQoKDgwOGg8PGikkHyUpLCosLCwsKiwsLCkpLCwtKiwsLCwtKSksLCkuLCwsKSksKSwpKSkpLCwsLCkpLCwsKf/AABEIAMIBBAMBIgACEQEDEQH/xAAbAAACAgMBAAAAAAAAAAAAAAAABQQGAQIDB//EAEEQAAEDAgQDBQYDBgQGAwAAAAEAAhEDIQQFEjEiQVEGE2FxgRQykaGx0SNSwRVCcpLh8Adi0vEWM0OCosIkVLL/xAAaAQACAwEBAAAAAAAAAAAAAAAAAgEDBAUG/8QANBEAAgIBAwIFAgUDAwUAAAAAAAECEQMSITEEQQUTIlFhkaEUFVJx8DKBscHR4TM0QnKC/9oADAMBAAIRAxEAPwDzJCEL3hxQQhCABCd5hgabcDQqhgD6jnhxl2zSQIBMDZZ7NZeyqzEama3U6Zez3vevAhpEjwXNl4ljjglnadRk4v8AdPT/AJLvKerSI0KbmbA0hndinUZIeAXQZDS2ziYIkgrGT0WvxFJjhLXPa0i4s5wB2IWr8QvJeWnSTf8AZfYTTvRDQrDm+UNw9V73UvwdTmU28XEQNy6ZAG+94sIkjXLcvp4jDVQxgGIp8Qgu4mcwGkxI+3VYl4pieJZ0npdb7bX779u/sP5TvT3ECE6y7BUnYilRqaW2Ot0u4nwS1hM2AOlpiLz4IzHC9w4NrYcB/F7pcGPGmGxDrQ65gyrH4hDzFiSdtWltut+Pfj7ohY3ViVCsWNw9Gnh8NV7lp73VrGqoLNtw8dj5yt/2S04OjVbRa5zu8NQk1IDaeozZ3DYKn82x6VJxdOTiuOVd9/gbyWVpC64pzS9xYNLSTpabwOQk7pv2cy5lWniC5gc6nSLmXcOKDEwRIstvUdVHp8PmzTrb993QkY6npQjQrBicsbTwDarqYFU1tBku90AnbVHJb5jlFNzKNei0NouH4glztDm3eCSZ5EDxjqFjj4ribSp05Sje1XHt/fsP5TK4hP8AJsLSq08U91Jv4bNbBL7TqseK4sFyzHKmHCU8TTGnU4seySQHCbtJvFtinXiePzvKkmnaj8W1a/nuR5TqxKhOquSD2IVmmajX/iD8rXgFkjwsf+7wXXsvhaNeuyk+kCNDi52p8lwJIiHQBEDbkpl4liWKeaKbUG06+P4q/cFidpe4gQn/AGfoUa+Jp0nUgAdeqC+8NlscUgiD52RhcrYKGIxD2gim/RTZJ06pAl15IGoc0k/FMeOThKLT9PtvqbS7/H0JWJtWv5QgQnn7PZVwTsQ1oa+k/S8CdLmmIME2PENjyK6doMvp0sTSYxgDXNplwlxkvMG5Mj0Ux8TxyyeVT1epP4cUm/s1RDxOrK+hWLKctZUpYp3dB76RHdtGvmSIgOk7JTmbWh2kMDHMlrwCSC5riJEkkW5TyVuHro5sssUU7jzx7J/6/UiWOlZDQhC3lQIQhAAhCEACEIQAIQp2W5Q6uHlrmju26natXujmIBlV5c0MMdeR0iUm3SJlfM6T8LRoE1AabnEkNaQdRJgcfiuuAzihS75oFTTUpCkLNnbie7iiS7kEvp5M5zqbWOY/vC4CCbaYLtUgEWM+SwzK9UFtSmWklsnUIhpcS4FsgQLHmuNLp+jcHjcnTbk1v3dvt7rYv1TW9GmNqscAWl7nk8TnACwADQIcehmfBYyvEinWpvdMMe11tzpIMC4Us9n3BlN5qUg2qdLCS8SQYM8Nr9VEy7LnVqoptIDnSBqmJAJNwDFgVsjk6eWCcdVxSab9uU/px8C1JSuh5/xLSc+u2qHuw9Y6g2BqY6dxeB/soHZ/M6eHxIqHWWNDgIAkyIE8UDrz2UfGZK+mzXLXMDzTLmk8L27tcCARt5Li7L3iiK0cDnFgPi0SfT7FZMXSdF5UoQl6Z1Gr5aX+aW/uM5zu2t0bUqlPvHF+osIdEASC6dJgmJB8VKx+basOyjqdU0vLtThECNIY25MblccJk7qlF9UPYGUyA6dUgu2sGmd1tWyKo19NpLYrR3bwSWukgC4Ei5G4V030ksi1S3h29nFf7btLkj11xydszzRlTDUKTdWqiHSSBB1dLyIXZ2cUzhqNKajXUi+XBrSCKmqRGscioeLyQ0zUaalPVSEuaC6eXuy0A7zv16Lf9gOHdh72U3VQCxrtUwbNLoBDZNrrP5fQ6IpS2UnJc8tNt8cU2ybnb2+CBiizWe7nRaNUTYAEmLSTJTHJM0ZSp12v1E1qZpiADEg3MkdVphez1V9Z9HhbUYCSHE7CJIIBncea408sJY15e1rXuLWF2riLYk2HCLi5WrNPpc+PyZztenh7+6/e6sWKlF3RKqZnT9hbhxq1CoakwNNwRG8890YfNWNwVSgdWp7w8GBpEabHim8bwltShpeWEjhcWk3IsYJtysmWL7L1aZeJY51Noe5rSZDT+8JAkdY2VWXF0eNKE5Vql5it97X2uhlKb3S7UZyTNKdKlXY/XNZmgaQDpibmXCd/ks1c3pmlSoQ4UGO1PMDU8kkmBMAXIAlRm5MRTZUqPbTbUPBq1EuA3dDQYbtc9V0Z2cq+0eznS2oRLZJ0uETIcAbQEk4dC8ksrnver4uK02v/AFX0YXOkqJmW9owDWbWL306rS3SA0ROxubQP06KL2czNmHxHeO1EAOAAAk6rTc2S6pQ0vLC4WME3ixg8pj0UvH5G+jUZTcWkvALS2SCHGBBi/pKsl03RrVjbrzFx7pLlfNchqnz7HXIMyZh8U2q7U5rdVgBJ1AjmYG66YXOGhlai+TSrO1AgXY6QQ6JgiwkTyUfD5K57armvYW0RLjxbXgt4b7FRMLhHVHhjBLnGAP72CmXT9JmlKbe6UU/jTun8PeyFKapDvMtWHwvcM42VHB76zfdfIGlrekQJm9jZcszzenWfSqnWHMa1rmQIcWGQWum0+IUc9n3E1Gsex76QJexuqYbZ2kkAOg2MLShkrnUe+1sazVoJdqs48jDT8VlxQ6SKU5zuVveqbc13Xykq7bbDNz4r+IkZZm1NlDEU365rxdrQQ2CTN3Cd1Ax9VjiC0uc46nPc4AS4mbAE28+ZUxvZisaxow3WG6hxWLfzNMQVwzHDCO8Z3Yp6tADHlxBDZl03ki87dFowPpVn1YpW5U3vtxS+qX29xZa9O5AQhC7JQCEIQAIQhAAhCEACsvY1p04q0zQIAvc3tbf0VaQCsfXdN+KwvEnV19nZZjlolY+ZSrCu2tTYaRMmm0gj/l0xraAdxbTfeQt89cyrQbW7rua3eaXNiA+xJeAb2MSfqq9Ky5xO5J87rL+XvzIZL3j7XbXs997+f7D+Zs0WLN2H9m4Sxs58+Ekx5KL2PH/zaPgTPhwOuUnlYlNHoK6bJg1f1at641X/AIsjzPUpew7zPG1HvdhmMDWmu92kaiXvLiASTy8Am2W6a9KvhAH8LQ6nqgQ6nw26aje/UqnIlU5fClLEscHpappr9ar1P34JWXe3/EWnIxpwGJ1sLgH05aZBIBGoWuCPku+aUS7EYSpTOrDk0xTAHuQW6mnxtMnp4KoShVy8IbzSza923223io/Xbn+w3nKkqLD2sxTe/qt0AO73Vqvxt0AXkkb9LXKk9paLsRiaNSkC9lRrIIkhpDjIcRYEbmVVVlryJAJvvc38+qsh4V5cceiXqhFxt8O0k/24sjzrbvuXzD4xtXM6zmXaKLmahsSNOx58x6JPkmKeylTpVaPf0KhMCCXMdqLXR0Np5earK2Dz1N97m46FUR8EjGLgpbVFK+VpT3TT2du9v2J8/eyTmOHa2u9lM62h5DTvIB38VZO1+aOpYiq1jQDVpMa59ydMXa3kPEqoIlbcnh0cuTHPI7UVW/d7bv6CLJSaXcs3aGcRRwr6TS4Cn3bmtBOl4gQQNvDqm3tDXZjhmNIJo09LyLgO0ukT4fqqI15GxI8iQsSscvBdWNY9WyU0v/vm/wBl9R/P3uvb7DPF5VU1VnlrmtYXGXNIBl8NA6zPyTYVi/LNbhL6LyxjouGOAnzgEieVlV5RK15ehlljBSkvS01t2XK579xFkSbpclj7NUycJjQASTTaAANyNdh1Pkjswz2bEUqtYaGvL2DUNP7olxnYSQ3/ALiq3KzKTL4c8nnRcvTk523XpqufjklZa07cFq7PUXUMXVqVQWsptqS4yAZPDpJs4ncQtsBqOXEtpCoTiJDC0kEGOQi3KdlUy8kAEmBtc28uiJVOXwh5XrlNX6O21Qv573uSs1Kkvf7noGHDf2oS15d+AdQnUGO/ICLAeHKVUMyw7ywP7o0mBrGaSHAFwBmJueZv13S4FYJTdH4U+myKandRjHjsr+a3sJ5da4BCELuGcEIQgAQhCABCEIAywXHmr+ez+HAJNJoA3977qgU9x5hej5hWAbpJjUDPlzWDrcnlq7L8MNboVOyug4jRRGnqZueXNdKeT0ueHYfIu+6X+3aX6WGfLl5lOMvzt5tI9RMjzXnV1mVu9TR2H0kEtlZ1oZFhXW7poPQz90xw/ZDCu/6Lf/L7rV3HxBsERspNHFOH/Ug8wWg/NbsfVya3ZhydPT2JjOw2DI/5DNurvup1PsFgCJOGZG+7v9S4nBYl7LODWnZxaB5cytP+HnPYQatZzjvBOk+QAUZOpfaTIhgZriez2VgcOHpudPLXHjeYS52RYJsE4aifDj/1KDmWWd0TDnEeLiNuRUAVyz94kE+6TJWb8Rk/U/qzVHp1xQ2FLA69Iy+gTe2uoCY9TyUnC4XK6hLDgm06kWlzi0u5CZFvPolVQamkljSGjUbCBe0nrKXYvOKIHEACUkc+S95P6smXTxa4LHj8py1tQTQYxjRcBxkmP4tpUWhlGXF2ospAbxD9IH80nyVabndN7gAQB1i/kpmKz2nOkOc8x1gK9dXKtn9yj8KlyRe0WZYWnU04fC0S0bue18k+A12HmqxicZrJhlNs8mtiPK/1U3OGs1STE+sKMcpkSx4cLRYg3F/gqZdRkb/qf1L1hglwiFxDp8JRRxEe8NRkEdLG4I5gqdTwMROqZvzHwUmrgGOFmkHql83I/wDyf1YOEV2RtgM9w8EVsK0nkWSPiC75hOsuzHLqlnUW0z/n1D/yDo+KrVTISTwnUemy4V8HpMNk9QVbHq80eWyuXTwfB6xl3YrCVIOiiWnaCST8HJgzsfgWGKmGYR+Yax8Rq+a8YoY+pQPA97PAG3qNk/wH+IdcAh0VPEnSfEGJ/RWrq9WzbKX0zXB6tT7F5a4S3DUyPN/+pbnsHl3/ANWmPV/+pec5b/idpP4tN7DPvMOoR4tt+quOX9vsNUj8ZgJ5E6Z8wYhMpuXE39WVODjyiRmHYTAtaYw7Aesu+6rb+y+Gm1Fvz+6uOaYnU3wi3ySUtWvHKdbtlUigdsctp0TT7tgbqDpibwWxufFVxWzt/wC9R8n/AFaqmurhdwRS+QQhCtIBCEIAEIQgDLDceYTTtBn/AH7oZIYLDkT4n15eCUrjVqCR/ey4PjM2oxiu/wDwdTw+K1OTJDKrxIaASYM8xCt2Q1C+m0Oa12lvKJkb+sT8FUsvxDQCSbqy5YYZqdA9J+A/vdeejudtbF6yjL3CObDsZ28COaetyabENI8QvOcBTrAio8vDfA8um48FZmZ+1ze7DQ50HiN7Hl6LRH08mfJUuBzXpaDpYDO1iY+sJRnD8TSDYqkA/umCB6QtWYs0WyefOZH+6TZlm4fpAJeeQmbFO17lcX+kh5hnriO6FIMf+88uJ1eQiyg+xOjUSZUjTDuKHHopWFH7uq/SJ+RVTp8FlNCerWfsdh8EjzbGAnS0RAgncnqfJWnPm6m6Gi9rCL9dljLOzlE0+O7yATIMgnl6JYwb2RE5UrKGwlHeEGQVcc07Kta1waC1zd5M+hVTxWDcwA8jzUSTjsxE9W6NO91b380xZmbtOmwi1gOSUNeVJpVInxSXQyGmDxRDpJkJ7U0OpyImfd2O28dFU6dS9imOErlx3KtjOhXBSJjqkPsYhOMBSoPdoq6Abw9w4YA+qU06UuiLldXPaAeoMSjX7k+WuUR8/wAupOIFI+7M7xvYCVV3NLSrG7MA0kFsg80mxBlxTSpcFaT7nJriecLejhHvMCCuIspuB1xraLDf/bmosnSNsh7Q1cDUDahc6g43Ezp/zNnaOY5r0rUHAOaQQRIPUcivG8wzDWyOv6K9/wCHecd5hjTfJdSIA/hd7v0I9Auj0ub1aDB1GOvUQu344qXk/wCrVU1b/wDEQcVHyf8AVqqC9Fg/oRz3yCEIVwoIQhAAhCEACh1BqAJ3i+8kgwbqawXHmFvmGqniH0BAphznxbctjc3PkuH4xG1F/udDopU2LKRIAVhy7MjIJJMbSoraDRBqNMaSYHibJhlWDwsO7w1LCRp5u5NJJsPG/kvPQTTs68mqocNxPfsdxRFhf42WuBy14cHgFjDAkE7jr4lVQV9LyGk6ZkXuOnmn9LM/wyS+4TuWp2yI+lUi743T7M3jl0kFpmwtefH9FT8tqN1km0O0g233hQD2oqVBoYOM2lYbgDTIpudxk36D1SyyW7Hxwa2ZcBhmvIDWyT8Z8FwxeAaBMRHObqVkGFBM6nRTaXu291vT1geqiZzmveVHO0BrSSYG39E8qrgrhGUpbOzOBwBJ0NA1ETJI6TvPTxXCtV033iIPn47+ikUMbqaNLCIaLeAG/ioGb1Ip6iR4Nm8yRccrqbqIuhudMm9pcfTp0eFxkgarzqd58gvOqmKOkt+SYZrn1SrTZTMBrJsABM/mP73hKi5Tg+8qQRIALiJaDAE2LiBvCrm9TGS0qiBSoklbNCbY2BADQ0j5+am4DszWxLQaNFzyQ4jTzDHAE3O/FtZRRAgamGTPHeS4kAXsJnlFyFGqYctcQ4QWmCDyIsR8U3yrLgW6jsbTyneFCVjfJ0wNcvrEzAvCZuypvCXFpDrmCDG4vGyiZfkrHPdxBumNzG9rRumeIohpMOmByQ0+40WuEIM+wIogFps7l5dDySrC1G6hPz/VM+0DDoZJ6/okGqERYstnQ9xuXtIkCJ9Ft2Vw9XvHMpMc8u4LCRLrgdJIBPok4zp8QSTyHgBsEYTG1ATpcQHES0E3jaRzNz8SrHJdiqMXwzTO6JFUnrePHmnn+G+PDMUWO2qtIH8QuPlKj4zC6wCd/utsDge4eyo272ODh0Mbt9U+GWmaZXljcWh72/N6Pk/6tVSVm7ZYttVmHez3XNef/wAyPMGyrK9h07vGmcSXIIQhXighCEACEIQBmnuPMfVW3tvk7HUXVo42ix2VSZuPMfVep1cO17S1wBBEX8Vz+tjqSRdidOzx7LnuqcOo2+iY1+8ENkEHmP1XTtP2bODqB7b0nmI5ieS44fHAU4FzM33C8tkxuL0s7OPIpKxphsh7wNuBPPf0WMV2fFN7GufZ1/hy81nC5w0C9lnMceK0Na0lwVUlRfGdjOk6lRDA1sgAzqMEk85be3TwWjqTHgPm5VfcHRc7cpkhScuxEQDJ+noi9x1J1VlqynNO7fuNiIIBlpEEfBNcZhaLgHU3RJvTdJjxDogj5pJSyoad5O4PSVozO20+BzXFwO4G/j4K+2uSqSTdxJ7qwot0ExJ5b6dyB0vCV4jLRVLw14ADXP1VCBZomB1PKAtMTmIBFSoJE8Ld1wObCppaWjT02+iL2J72yt1aN1qWGVZqWS96QB6u5BMMFiGCkaNZrahpnSxxF2AEyG/5TJMFVxhqJm1HcqtCm5x2l1vl9VIw2cVaQID6gF7Ne5vMEix2t9E+dRaGksI1fBIsywThxER/e6d43HuJHIpdiTgcspvpmp7RSa8kgsqB8nmSw6TqMc/HyK5ftU09dOm86XWsIkNPCb3alQMG6lOpy6REfdVpDk/K3h9S+qfDe8ehnp4q05pSawBukNIaNRtuRJMyZtCrOVZt3IqFti4aRz6zw7HpfrKg1cwqPkOcSCST67oaJTMZ7jtZBbsLep8EmNF2nVynf+/NMHYNx8iutPFPoNNMhrmOuQQLG2x5bJaEYhBTXJazASXbgW80vqsBNlLwmDEBxnfcdFK5IGNbMdTyBzt/VT67gAIPK5PzUmvlVMFpZpNpt0gbpJmNEtuDafgrEmvUyt03SOdeQdE8IJc0dNcE/MLku1ZpAaCZNzPnELivV+Hu+nizj9QqyMEIQtxQCEIQAIQhAG1PceY+q9Yi68np7jzH1XrJddYer7FkCvdu8SBSYzSCXEmTyiLfNec4mm2nD27Tdp+d/wBV7PVw9OoNNRjXgcnAH6rjTyXDtnTQpDUIdDW3B3C4+XA5u7NePKoqqPHqTWVHQyoWTydyPmFtWy4tI1Vh6ajB+XyVr7V9gGUqbq+HJAbc097c9J39FSe9O3Jc7LjljdSNuOamtiQMwc13vaoO/VTKONvqHwSdAKoLky1Uu0bojZb0c3glzjqcdh09VWqDS51ualvpuaYIVibZKpcE/NM0NYgxEKNTeeqMNh3PIAFyrI7sY4Bv4jZiXCCIPSefJOlKXAOSXIuwGYubwyRMf0XbGUHgl+ocR/v0UutllOnTtpL27uveenkoTMYagh14uPBTODjsyIyUt0RaWKLXSXT4LOYZq6p5KM5t0d3y6pEmNtycXLZr4upFLAOcYAuNxIF+l+dlzxVEsOkiCOSWu5NnI1QAZEki1yIMgyP69Va8Fi6LgCadnYdrIAFqrNI1AybEiT/EQqiYkAmx8CT6Qrdg6tIYbTEP1SDfaCI36+CI7kOSQYrE0qZaIsfkkudsDTMBwc0gdQTs5ZbR73VrfpII0AixEnU4unhgD1JASyo8usCYEbnnsDHkplbIiktzODyk1Wucwglpu3bfxUxtU0WhtQWvtHwTPH4NtJ5p0nNgAAubLg6w1GSBN/BKsye3VFTaLEdfVQ1XAt3sQ258WmwtJt4FMBiWVaXUncdFXKrLmFs9zqZsSDF/VCkxWiZhyZcCZgx8JXdQ8vdOr0/VTF63w7/t4nI6j/qMEIQtxnBCEIAEIQgDanuPMfVesFeTU9x5j6r1ljpCxdX2LIGQs6kObZaBywFh10hwINwZBXlOL7PNZXfSLoLHQ224N2/Ir1MPVG7c4JzMQyqBwPAaT0ePdn0WXqoaoWaMEqkUrEYcscR0XKFPzHfxO6hwuQdE6YWqWmQpxxM7pc1dWPUpkod5XmApuurBUzxpbe/qqXRElMqGVVHNLmtJDbkjkrIZGthZY1J2zrisbNhzXXL6zW6pEyCPQ9EveeWyzSqQQVGq2OoqKLPl+Q03AF5de52H3Uytk1PDPI7ymWuBBJOoRYgjSJkW9eVkoxGbloEzHRLcRnIPKfP7KxuCRWtbLbmLsNpY5rWa2s4iwGHReYIkO3k81Ts0xZrVS+AJ/S0qbg8WHm9pBHpzA6KTwMp6RdszHmFFWidWnkrjaulwdvy9OaYOxDXDhMzy2SnHV4qgAGDy/os08TBIBuOY+cKlNrYfZsc18fpYWGAXaQQBeG3gOMxJuYSh1Tpa8qO+oZutRUU2BZsopEsc95sLDxmdlGx+E7wC95Wcozhpa2lUmAd1zzPHt7z8ObfGydpaSvfUKMTS0GOiiVCnGYAFsm032gpY7DcJM2VdUNydcu2d6fqpq1wuXllFlQ7VS6B4MIE+pJ+C2Xr/AA9V08Uzi9Q7yMEIQtpQCEIQAIQhAGae48wvVGnxXldPceYXqLVh6vsWwJIK0cFq1y3KwjmAoWeYPvcO9m5glv8AELtj1UuVkOStWqJTrc8XxuML3cTdLhYja4+i4By9ezvs5RxTSHiH8qgHEPuPNeX51klTC1O7qbH3XjZw+65Wbp3Ddbo348ylsQw5btC5QQt2FZWaUSqdoVnwGYktADXGBtEiVA7P4BjuJwDoO33VtGYtZwgW5coPJX44OrsWc1dFXxOSueS4WnkVDOWuaeI/0VnpZwym+bTfeP1UDNMa2q0uiOscyocFQ3mb0KMQ4BoBMlK6wlGIqlRzW6qp7jXRJpYkt2Us5wYv0UNmjTcmfRRN026EbTLR2dwFPE0sRrBLzDaZbd2q+3h1Vdp4d1NzmvBBbYjoRyXqvY/Ihh8M0kDvHjU4x1uB6BVrtPUpvxz6T26SWgh+1wLz4RzWrNh040+5nxZNWRoqeHwz6rg1okrGIwxpuLTuF6L2dyalTYHjd0iT4c1Uu2LWCudO5ufXZZGqjZqfIhD4XbA4wNcJ2UV7looFsY4/MO8IHj/YU7I+ztTFag0hrW7vdJF9mgDc80sy7LH1Xta0XcYH6nyG5XrWUZW3DUW023i5MRqcd3f3yha8GHzHcuDNly6FSKn2lwzqdLDU3ODnMY5stEAgFsfKEhVn7b+9S8n/APqqwvVdMqxpHLn/AFAhCFeICEIQAIQhAGWbjzC9Omy8wXT2h35nfErPmw+ZW48ZUemyujXry72h35nfzFHtL/zO/mP3VH4R+43mHqJCF5d7S/8AO7+Y/dHtL/zO/mP3R+DfuT5h6o0rjj8BTrsLKrQ5p+XiDyK8x9pf+Z38x+6Pan/nd/Mfuj8JaqyNZPzfsZiaAPdfjUuTYlw9Psqu5uk6XNc1w3a4R9U69qf+d38x+65POoybnqb/AFWOfhKk9pGiHVtco5YDMjTERuutXO3TCxpHRGkdEn5TLjX9iz8XH9JBr48uMldhmkN4RBi/P4KRpHQLGgdAl/J5fr+wPrfgW+2mCCN1rRw7nmwJ+nxTTQOg+C2BUrwh95fYh9Z8EY5OQGnWLi4g8NyI6Exe3VS8ny1gxFMOfLS5oJO0EjcctlrKxCsXhVO7EfVX2PYD0hVbtzSY2kK5bLmHSLbg7tJ5Km+1P/O7+Y/dYfWcRBcSOhJI+C1T6LXHS2Uxy6ZWaO7WVdmnQ0bBtvRKcTiy9xcdymmgdB8EaB0HwWD8nf6/sa31t9hMHJlkeQVcU+GCw955nSPXmfALvoHQfBdWVnAQHEDoCQmj4RT3l9hJdZa2R6BknZ+nhWw0ann3nkXPgPyjwCYOevMPaX/nd/Mfuj2l35nfE/db10dKkzK8lu2WPtseKl5O/wDVVhbPqE7knzJK1WzHHRFIrbtghCE5AIQhAAhCEACEIQAIQhAAhCEACEIQAIQhAAhCEACEIQAIQhAAhCEACEIQAIQhAAhCEACEIQAIQhAAhCEACEIQAIQhAAhCEACEIQAIQhAAsLKEAYWUIQAIQhAAsLKEAYQsoQSCEIQQCEIQAIQhAAhCEACEIQBhZQhAAhCEACEIQ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2232" name="AutoShape 8" descr="data:image/jpeg;base64,/9j/4AAQSkZJRgABAQAAAQABAAD/2wBDAAkGBwgHBgkIBwgKCgkLDRYPDQwMDRsUFRAWIB0iIiAdHx8kKDQsJCYxJx8fLT0tMTU3Ojo6Iys/RD84QzQ5Ojf/2wBDAQoKCg0MDRoPDxo3JR8lNzc3Nzc3Nzc3Nzc3Nzc3Nzc3Nzc3Nzc3Nzc3Nzc3Nzc3Nzc3Nzc3Nzc3Nzc3Nzc3Nzf/wAARCACgAMADASIAAhEBAxEB/8QAGwAAAgMBAQEAAAAAAAAAAAAAAwQCBQYBBwD/xAA5EAABAwMCBAQDBgUEAwAAAAABAgMRAAQhEjEFQVFhBhMicTKBkRQjQqGxwWJy0eHwBzNS8RU0U//EABoBAAIDAQEAAAAAAAAAAAAAAAECAAMEBQb/xAAlEQACAgEFAAIDAAMAAAAAAAAAAQIDEQQSITFBE1EFFCIyQmH/2gAMAwEAAhEDEQA/AKYNykJA1GQcbD5cv+q6lqAJEDE525+4/wCqmlYSnSoxExnA5D/I5miKBycRn1Tt8+dbMHHBpQMKUZBG3f3rgBylUieXKZomAMAiBn9sf5tUiBqzAjfHy2qAYNCZwUkkQZPWZ2NTRvDhmBuAcHtzri1bZg5kE/KgOrJABzHbag2DAZwpBGlRJ57EDsKAtzUQU5IOJ/wUMr1QFZ5Ca7BVlMgntucUMjYIqBmFKHfqag655RhtOr+YVNYKBkEyOvahKbUkTGSenvShFlqUSQVGN/TigL1kESOtNKGnVnfFDKZwcCgEjbpGnb1HYzTCUmJjFfIAQCTvyFTCgIgEk7kVEBnQ2TBIPT6/9VMISQDif7f3r4YHOfyr5QUROmiA4Ea9sGcRXyWUkCvgCnaMdqIDEECoQEW0gyoY996+LSQeVMr+EzEUuF4OCYODFFkBr5ifmOlBJ0nHvNML1KEETQVpIyP0oEIKBSDnNLuj1dT700QIGD86EpBOwMTQCXSAUluSmBpiRHKT/gqSXEbySoATB55NVQumyIQTJ3gd550U3HwkiZPLnVm4mGPF1M7TEEpGB3/UUFdwAn1rwOSar7i+SlMlQEjrVLecW9ZDSs9aRyGjBsvLzibbIISfrVQ5xh5TsiCOnWqyVvmSactrSaRyLlBIsrbiusgKtztuk1bIeDhBRIMTFIWvDUqSdc4E4q5s2vKWnaKCkyOCAhvVOIJ/zeuuJ0pAJk1q+FWdu8NL0KJ5daS8S8FVwh5tSgQy8JbcG3se9WeFLi0ZdaFKmQAahog5Ed6ddSUiUjA70toUQSqOkzv+VQAMkaucTijtNpTK1AGOdDSwVKBSDJ/Kp3l0hKEsJMqSPVBmoBhDdtpPpTmoG8Lg0hOTQre2LvqIKaeaYQlBmJG3SoBkWlJUlQWmFdq4UwMEEe9F9IM7nrXyoxEHpijggGCcE/vUUtpSqDHepuKODsefehqUepmgHBJYEycTtNCUEjAzNdUqR+dCWuO1QhB3GATmopIKsxjn0r5S5BEGgLUoKgCDQCAVeNtY3+dIXPEvUSkwOQmqdx9w/FihpCnDjNLk2Kr7Gbi8cdMSa6xbLcOpW1GtbMQFK36mrZphQA5DnFK2NwugVpamMA1YssaY1agRuAKK0zGmMSKIpK3CkaYVGYFARjrITEIIOBzqxZSBiROknOPpVex5yJCSUDRCgQKuLNhKkNvFAkGDqVmnisisu+DN6XU6gf0mtnxXhSOO+GXbMmXQmWlHdKxtWTs1IQWyknB9q2fBr0ai2vEnHemn0GvGeTw15x231Nv27mpBKSB1GKr3Lq5LkNW0fzGvTPHfD02PGluhIDV2PMAj8WxH71liEHT6EzMTAqLlGef8yaKNm34jcjS475aSchvB+tWTHDG7a31Y1E5kU0XPWAMDY0NRUsFG0GmxgrbyRcUj4WwI9tqCgwUkgkdKZbYn0iO9feQJwexqBSIFE+kjuMVxKSBz+VMEJEA7jvU3WSEaicdqpnbGJfVprLOkVykgTQlEAHeivnQYjeovJBSJ27UI2bgzqcOAJBKZmE9BQiQk4oxwmlnFCTT5KsEHXIE/pQHF6hMV1ahJmlnVEZGxokM2xbqdUJmra1sSmITJNfW7GlO2OtWVuApadZEAxFVZN3Z1i3Sj4gMcjTiUDQRtXAgFZSnEbdzTmn1kqHxYI6EVBGRYACkaglSeh50yhSfPOlKUJIxmaCho65GFT1nBpxtkwFgqlJjTtNERhUMpACwdRG560+wvAIPuDQWtLcKKtxseVTYUkk7JnkTTppAwXlmnUkrJ9xNXVg4pp1JkyIiTWfZu0pbAA5UwniLdsNbjg3kTtRcwqJdf6ktG48OM3iY823dBJHIKx/SvL0X7bqwjy1aycDTIJrY8d8UM3PCV8NSUq82NStW0Gf2rGsWy33PMZ9IGxmKonbtZcqPlY0wUPK0tkkg7DlTzNm66BDSyew3p7gvCkpSDBE1pGWQBpiljfJ+Eno4p9mbt+F3BV8CUgD8X9KIOEJbBLilOKPXYVpvKgbUJ5CCnNLOyT6HroijG8Ss1NgLQJA5UmHHlgJBEbRWuu7cKBgfWsrxJkt3xS2Cltw+kVV/1lyz1E+RbspXNynWCPSSvSB+9VtzAJCCFQeW1WimABkbczzpO+aCEh1I3wf601dq3YDfo5KG4rStUQcUs4RuTvtRnm1AkxjpBriUBXxHT71sOQ+xaCogCB78qiWQZlU9xTK0ACEiaApCyuVE/WmALSFKCUjf9aMhqQNe4OINQbUVYCIPSjKK0plyEgc6pNwwhwp9QSkkcwaOLlSgVHrmaQT5io0pyrYHc1ZcP4Ze3KwG2VBKsFIMSN6VzSGVUn4CL2k6jE9tqku/LYGk5PfNWj3BRaMKN3cpUomShrMHoVHb5UmxYG5T9wAhKVetatgJ60vzLws/Vklln1rePrOcg95py0Qp1YS2lS1qMBKM1peE+H7ThzP22/cQlsZS9cp+L+Ro5V7qx2pO48VW/D3ijglolpClHW+5l1c7iRGkdhU3+k+DwNxLgnErLhRvH1toLagFtBUrQDsT0rJ3DxUolZKj1UZqxTx69TaXVsl4lm5/3EqAMnrO81nlulbvlg1VKTk+DVXTGCy0GSdS4k1pOE2/ltguA6SdUTz6xVHwpkrdLhSTp2rTcPbedWkEAJHes9km3g0wglHJpLIN6QGznpNWDSCASuBQeHMQlKkgTHIVY+UFAkitVVbxlnPusjngASAJNQLIVmmwxjAJHtUfLUATGB3rUqk+zI7WuivuLcHlWf4vaJIJSnKcg1qlpkVn+LeaSUtpEExVeojFRLtM3KRnidTVLuIDrZSr4TTLqS04tBG1JOLKVQJJPauYuz0DacOSreZUoGVGQY3pXTpUBIM4NWdwypCufrzPekXEkDKI711Kpboo8rqK/jscTpRKZPKl3EQo7kflTbCpT6hqI/wA2ri4kwkADoKvRmFbexn43BPRHL61Z2lk26UgN6kg5K9ppO2u2U/HCiOp2ptq/cfcDVqlbiz8KGwSTXLk5yPTxhTBZZaptW2VDCI/gq0avWmWdkhP/ABRt8zzqHDfCnGrsB29Q3w9n/wCl0oA/StJw/hvhjhZDl1dniL439BUgfIY+poRqf+zFnqM8QRmG+G33GyXdKWrVHxPunS2n5nc9hTw4jwvhIS1wpKLq7SmPtbyRpSf4EH9TVlxXxJYOa1M3fEUto2aZaaShEdAZqkf40w4PunOJ6lDVJfbT+iKd7IrCZWo2zeZIRv1P37irh1bj7p3UrJNUj3DL5R+7tH1dg0r+la224tcaQ1bu3ySrYm+P7CgX3FLxpUPruHFJOdd68Y+iqVOP2WzhY1/jgyJS82C06hSHEmFJUCCPcVXL1IuNQwqcVfXfF2w+Fp4XZhYklSi4vVPXUqKonHVPPg6UgKMwBtTFb5STNl4Vs/tDetaQQd5rYW1kw3GlpI+VY3w3xA2wCQMEjHWtvbvoc0lOqFZBIwOxp9Psb57KdX8i5XRYMnQBphPQ0ZLkOJBnfNKa526UZtwJgmCQNjW+S+jmpv0vmm2iylQgqSCcc6q7pISpQVv7dagq7lvTJ0pzjf2pVd2HSSjfcgmYpM4eBsZRMjVIpZy1CtWoTimmxqI60rxm6RaWykg/eKwmluaUcss00ZSlhGD43cto4m6lJkJxilbVovOayInarJVkXVlRglWactrEpUkERXJlJdo9JVS0kmVXELYpt0uROhWapLgAKVA361t7qyV9jd1AEFJ+tY29BAB5d626RvbycP8ALQStyhZqQCBXzkifauJM9Sa4tUCtiZx2W1pwnw7bEBLd1xJwc3l+S1PsJJ/KtFw+/faCmbFLFg0n8No0EKj+Yyo/WqRVm0zhKyVDlG9EtFXYdV9ns1LSqBiTBrku2b6PYrRV19rJdW6U3F46u4Up3TjU6orMn3oF/ctNNG2ZEgbrB50g9/5FgPB5Ba1nUoHcTtS6DcKSA58P1ql5fZsqrh4j7SlK9YMFW4oTqQlMNA4ztRlkad80C2dVZOFaE+Ygn1IJooez+SSblaAmGyeihQLy9W56nUEciR+VGeShSS7aq9ByW5ymlF3LakEKMK2PemSM1j+2VF7KlygjbehW7frCiflTjFrrW4sj7tNdZaQp0kkCNqvzwYXDLyw9u6ppxO0c5rb8Iuw6w2ErAPtj2rCukSUzTfCuJKtDpUZQaVrHKJLDW1npLb48wIIIxgziprVmRz71n7XicBKl+ps/C4P0NWaL1tyS2pJ+daoXNrk5dlKjIbDu6SYNcYHlOGTIOdU0oXfUSuD0oVzekrSlvK4iBtSysxyPCvPBaXPFG7ZHpyYwOdZx24d4hcl11So2CelC4gXA95KCfUmVKij2DKpSADA51lttlLhnW0enjDlFiwyClICJIxVra8GU76xhP4u9AtGzILXsSrlWis1FsIn4dio8j2paoJ9j6m2UFwJ3Niym0WNImDk149xKEiAMScbV7ZxQhLaoPLNeJcWBTIn8R7866VcUlwec1dkpNZEUKHqP7UJxUxmflXyCM7CKi78E1amYmeiqsbMSm0aU6sDK3PyIApu24e+UEhakAmCmrHhbDemAZjcnpVkQkJIbgmNzXK2buT2kr9n89mSu+GOuOpRJURgSaVu+FuW7nlwSSmTitrbMsIV5jhCldsmu3aNUrLACgMKVSurjJI6tp4wedXFuWpChFVi3Q0PLgrB5ATWq4wwhbxKwcnAiBVY4y2gKDaQM7VWpJGuW6ayZ11q5cVqbaUhPKTFAesLlXqVknvWl8s6QAkY7VAtEnMVYrDFLTv7M8G7tq2KNKjmTFV2u4aXrLaoO4Ire2Fit59LaEaioxkTArSPeF2CghxKCuN96thJy8Md8dnDZ5L5/m5Bg/wDE1EFac1v7zwdaFctlCTPMUg74NWpKih0QOQE06z9FLkscspuGcSWwfLeBU0rcdKu1A+WkpVKT8Kxg1V3nh27tJylQHYgmmeAN3yAW7i1Uq25mYKfaoovPBW5xwMNLe84NB5cnmTV7ZMpaRCfW6o8+dULrzX2608kghYyTv863nAuFgnzFwVHnPLtQlF7sINcorLYC14Et0h5yZWcmKfPAg0dSNQTvitMwhDbYTipOLb0woin/AFsjLXSjwijsuHhqNeeR9qtA2lKIHSgcSv2rO2W6ltT60xpaaI1K+pqnR4wsHLH7Q8h22VqUnyXQNUjH0oxq28FVmo38ss79QShQkHGJrxPj0B9wA5Czge9afxB4xcuQpmx9CTuojNYq5WtxgrVJVOSa0xWEc2+ak+BYABUGM9anoAPqNAU58Mc6nrlMRn2pkZ2extPstiAoJHbnR2nUPq8olTbe5UowT2qntUgBJAG/0onFLwsKZwCCCk+/KuYpYWWet275YRcC4trZaksiBvrjekL3igfC0+ZCOg54qhvb9Vy4AiDHMbVxKglSQ6oHGQKplY/DXDSpcsJevec6lSEQ3ED6UssCYTBAFEfcCxKduQHKlluhCZBj351VjJrSUUdKRGkKn2riSiNxNIv8RZZCpI1GqV3jCtcg4nlVka5Mot1EK0emeHA00PPWoBRwkE7Cru5vWSkkq0jvXk9rx55InUSOQojviS4P4iTW+r+Y4POam12WbmehP3zKEEhQA6k1QXvH2WlHTA6xzrJOcR4hdgpbbcUKgjhN3c+pxwIHczV6T8MUrFnll4vxG04uFnA7U2rxDam2KUqSkkbVmz4cKkf+1Cv5aEnw+pJ9VyVD+EYNMozXhW7YP0ncK+zIs7oLGwURP8RrUWHjQstgBIPXvWfY4LbAIFy446UCEhSpAqxQxbtAhLKY9qPxPsV3pcF6vx+tTWlCTqjeq1XiDid4pSg8Uj9aQIt4X92kzI2pWycShSkH0jkADTqL9Kna/C1N0+6CHn1571W3hGr1LUv+Y00JidM0leRrkYp9iE+ST9Kq4XsQTA2oROoOJP4hIo1wZBFLpIChOxwBSNBzkTcWEDkT7zXWngrG5GwioXLUPEAHelZKVgg7cqBD1lN6huQpyEznNVvFOIIf0tByRMk9KwznHnnBGoiljd3TklvUSelcz421g9StRGLybocQZbSBKQkUncccYQsq8wE74rMscP4lcjU4dCT1VTzHh5ED7S8VHOBgU8dK2Cz8vGPCD3PiZP4B8xVevi93dK0tBR9pq7RwuxbyhlHbVmMc6YZt2kwUoCQOQFaIaVI5tv5acygZ4df3JKnTpSMyTTtnwhhRBWCo/wB6ufwqAJxyOKBbnSO4MGKvjTFHPnqrJenE8Kt2YlHPrTDFqyDqQlPYxtU3lTlIP1qDagFkiTmc/pVqgkUOyT9Gk6Uk6RuN5qaFiIkTvNDTCm0mUpVMCTPfauJ+KASroRzp+it5ZIrMyNj9D9KD5ilO559aLqMEAJB5kjMe9A1JCzmFapGOXvQywYCOAJQD+InHcVFSlaZzp7Zrl3/tEjpJihMKV5YIVuM5qBJBKSlQAJ59YqsVDdyYG3TFWZSkOA6iMTjqeVVd5p+1wEkY3J2oMKLVtwFv4gBSd6oAFQjtFcanbaMAUJ4gNqAz/WpknorceqDse1KPJgAyJnlR1rOjUYPUR0pd2Vo1J/vSMdEbgalAj3FIXCYMjAp6Sprumk3hk5jnQC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2234" name="AutoShape 10" descr="data:image/jpeg;base64,/9j/4AAQSkZJRgABAQAAAQABAAD/2wBDAAkGBwgHBgkIBwgKCgkLDRYPDQwMDRsUFRAWIB0iIiAdHx8kKDQsJCYxJx8fLT0tMTU3Ojo6Iys/RD84QzQ5Ojf/2wBDAQoKCg0MDRoPDxo3JR8lNzc3Nzc3Nzc3Nzc3Nzc3Nzc3Nzc3Nzc3Nzc3Nzc3Nzc3Nzc3Nzc3Nzc3Nzc3Nzc3Nzf/wAARCACgAMADASIAAhEBAxEB/8QAGwAAAgMBAQEAAAAAAAAAAAAAAwQCBQYBBwD/xAA5EAABAwMCBAQDBgUEAwAAAAABAgMRAAQhEjEFQVFhBhMicTKBkRQjQqGxwWJy0eHwBzNS8RU0U//EABoBAAIDAQEAAAAAAAAAAAAAAAECAAMEBQb/xAAlEQACAgEFAAIDAAMAAAAAAAAAAQIDEQQSITFBE1EFFCIyQmH/2gAMAwEAAhEDEQA/AKYNykJA1GQcbD5cv+q6lqAJEDE525+4/wCqmlYSnSoxExnA5D/I5miKBycRn1Tt8+dbMHHBpQMKUZBG3f3rgBylUieXKZomAMAiBn9sf5tUiBqzAjfHy2qAYNCZwUkkQZPWZ2NTRvDhmBuAcHtzri1bZg5kE/KgOrJABzHbag2DAZwpBGlRJ57EDsKAtzUQU5IOJ/wUMr1QFZ5Ca7BVlMgntucUMjYIqBmFKHfqag655RhtOr+YVNYKBkEyOvahKbUkTGSenvShFlqUSQVGN/TigL1kESOtNKGnVnfFDKZwcCgEjbpGnb1HYzTCUmJjFfIAQCTvyFTCgIgEk7kVEBnQ2TBIPT6/9VMISQDif7f3r4YHOfyr5QUROmiA4Ea9sGcRXyWUkCvgCnaMdqIDEECoQEW0gyoY996+LSQeVMr+EzEUuF4OCYODFFkBr5ifmOlBJ0nHvNML1KEETQVpIyP0oEIKBSDnNLuj1dT700QIGD86EpBOwMTQCXSAUluSmBpiRHKT/gqSXEbySoATB55NVQumyIQTJ3gd550U3HwkiZPLnVm4mGPF1M7TEEpGB3/UUFdwAn1rwOSar7i+SlMlQEjrVLecW9ZDSs9aRyGjBsvLzibbIISfrVQ5xh5TsiCOnWqyVvmSactrSaRyLlBIsrbiusgKtztuk1bIeDhBRIMTFIWvDUqSdc4E4q5s2vKWnaKCkyOCAhvVOIJ/zeuuJ0pAJk1q+FWdu8NL0KJ5daS8S8FVwh5tSgQy8JbcG3se9WeFLi0ZdaFKmQAahog5Ed6ddSUiUjA70toUQSqOkzv+VQAMkaucTijtNpTK1AGOdDSwVKBSDJ/Kp3l0hKEsJMqSPVBmoBhDdtpPpTmoG8Lg0hOTQre2LvqIKaeaYQlBmJG3SoBkWlJUlQWmFdq4UwMEEe9F9IM7nrXyoxEHpijggGCcE/vUUtpSqDHepuKODsefehqUepmgHBJYEycTtNCUEjAzNdUqR+dCWuO1QhB3GATmopIKsxjn0r5S5BEGgLUoKgCDQCAVeNtY3+dIXPEvUSkwOQmqdx9w/FihpCnDjNLk2Kr7Gbi8cdMSa6xbLcOpW1GtbMQFK36mrZphQA5DnFK2NwugVpamMA1YssaY1agRuAKK0zGmMSKIpK3CkaYVGYFARjrITEIIOBzqxZSBiROknOPpVex5yJCSUDRCgQKuLNhKkNvFAkGDqVmnisisu+DN6XU6gf0mtnxXhSOO+GXbMmXQmWlHdKxtWTs1IQWyknB9q2fBr0ai2vEnHemn0GvGeTw15x231Nv27mpBKSB1GKr3Lq5LkNW0fzGvTPHfD02PGluhIDV2PMAj8WxH71liEHT6EzMTAqLlGef8yaKNm34jcjS475aSchvB+tWTHDG7a31Y1E5kU0XPWAMDY0NRUsFG0GmxgrbyRcUj4WwI9tqCgwUkgkdKZbYn0iO9feQJwexqBSIFE+kjuMVxKSBz+VMEJEA7jvU3WSEaicdqpnbGJfVprLOkVykgTQlEAHeivnQYjeovJBSJ27UI2bgzqcOAJBKZmE9BQiQk4oxwmlnFCTT5KsEHXIE/pQHF6hMV1ahJmlnVEZGxokM2xbqdUJmra1sSmITJNfW7GlO2OtWVuApadZEAxFVZN3Z1i3Sj4gMcjTiUDQRtXAgFZSnEbdzTmn1kqHxYI6EVBGRYACkaglSeh50yhSfPOlKUJIxmaCho65GFT1nBpxtkwFgqlJjTtNERhUMpACwdRG560+wvAIPuDQWtLcKKtxseVTYUkk7JnkTTppAwXlmnUkrJ9xNXVg4pp1JkyIiTWfZu0pbAA5UwniLdsNbjg3kTtRcwqJdf6ktG48OM3iY823dBJHIKx/SvL0X7bqwjy1aycDTIJrY8d8UM3PCV8NSUq82NStW0Gf2rGsWy33PMZ9IGxmKonbtZcqPlY0wUPK0tkkg7DlTzNm66BDSyew3p7gvCkpSDBE1pGWQBpiljfJ+Eno4p9mbt+F3BV8CUgD8X9KIOEJbBLilOKPXYVpvKgbUJ5CCnNLOyT6HroijG8Ss1NgLQJA5UmHHlgJBEbRWuu7cKBgfWsrxJkt3xS2Cltw+kVV/1lyz1E+RbspXNynWCPSSvSB+9VtzAJCCFQeW1WimABkbczzpO+aCEh1I3wf601dq3YDfo5KG4rStUQcUs4RuTvtRnm1AkxjpBriUBXxHT71sOQ+xaCogCB78qiWQZlU9xTK0ACEiaApCyuVE/WmALSFKCUjf9aMhqQNe4OINQbUVYCIPSjKK0plyEgc6pNwwhwp9QSkkcwaOLlSgVHrmaQT5io0pyrYHc1ZcP4Ze3KwG2VBKsFIMSN6VzSGVUn4CL2k6jE9tqku/LYGk5PfNWj3BRaMKN3cpUomShrMHoVHb5UmxYG5T9wAhKVetatgJ60vzLws/Vklln1rePrOcg95py0Qp1YS2lS1qMBKM1peE+H7ThzP22/cQlsZS9cp+L+Ro5V7qx2pO48VW/D3ijglolpClHW+5l1c7iRGkdhU3+k+DwNxLgnErLhRvH1toLagFtBUrQDsT0rJ3DxUolZKj1UZqxTx69TaXVsl4lm5/3EqAMnrO81nlulbvlg1VKTk+DVXTGCy0GSdS4k1pOE2/ltguA6SdUTz6xVHwpkrdLhSTp2rTcPbedWkEAJHes9km3g0wglHJpLIN6QGznpNWDSCASuBQeHMQlKkgTHIVY+UFAkitVVbxlnPusjngASAJNQLIVmmwxjAJHtUfLUATGB3rUqk+zI7WuivuLcHlWf4vaJIJSnKcg1qlpkVn+LeaSUtpEExVeojFRLtM3KRnidTVLuIDrZSr4TTLqS04tBG1JOLKVQJJPauYuz0DacOSreZUoGVGQY3pXTpUBIM4NWdwypCufrzPekXEkDKI711Kpboo8rqK/jscTpRKZPKl3EQo7kflTbCpT6hqI/wA2ri4kwkADoKvRmFbexn43BPRHL61Z2lk26UgN6kg5K9ppO2u2U/HCiOp2ptq/cfcDVqlbiz8KGwSTXLk5yPTxhTBZZaptW2VDCI/gq0avWmWdkhP/ABRt8zzqHDfCnGrsB29Q3w9n/wCl0oA/StJw/hvhjhZDl1dniL439BUgfIY+poRqf+zFnqM8QRmG+G33GyXdKWrVHxPunS2n5nc9hTw4jwvhIS1wpKLq7SmPtbyRpSf4EH9TVlxXxJYOa1M3fEUto2aZaaShEdAZqkf40w4PunOJ6lDVJfbT+iKd7IrCZWo2zeZIRv1P37irh1bj7p3UrJNUj3DL5R+7tH1dg0r+la224tcaQ1bu3ySrYm+P7CgX3FLxpUPruHFJOdd68Y+iqVOP2WzhY1/jgyJS82C06hSHEmFJUCCPcVXL1IuNQwqcVfXfF2w+Fp4XZhYklSi4vVPXUqKonHVPPg6UgKMwBtTFb5STNl4Vs/tDetaQQd5rYW1kw3GlpI+VY3w3xA2wCQMEjHWtvbvoc0lOqFZBIwOxp9Psb57KdX8i5XRYMnQBphPQ0ZLkOJBnfNKa526UZtwJgmCQNjW+S+jmpv0vmm2iylQgqSCcc6q7pISpQVv7dagq7lvTJ0pzjf2pVd2HSSjfcgmYpM4eBsZRMjVIpZy1CtWoTimmxqI60rxm6RaWykg/eKwmluaUcss00ZSlhGD43cto4m6lJkJxilbVovOayInarJVkXVlRglWactrEpUkERXJlJdo9JVS0kmVXELYpt0uROhWapLgAKVA361t7qyV9jd1AEFJ+tY29BAB5d626RvbycP8ALQStyhZqQCBXzkifauJM9Sa4tUCtiZx2W1pwnw7bEBLd1xJwc3l+S1PsJJ/KtFw+/faCmbFLFg0n8No0EKj+Yyo/WqRVm0zhKyVDlG9EtFXYdV9ns1LSqBiTBrku2b6PYrRV19rJdW6U3F46u4Up3TjU6orMn3oF/ctNNG2ZEgbrB50g9/5FgPB5Ba1nUoHcTtS6DcKSA58P1ql5fZsqrh4j7SlK9YMFW4oTqQlMNA4ztRlkad80C2dVZOFaE+Ygn1IJooez+SSblaAmGyeihQLy9W56nUEciR+VGeShSS7aq9ByW5ymlF3LakEKMK2PemSM1j+2VF7KlygjbehW7frCiflTjFrrW4sj7tNdZaQp0kkCNqvzwYXDLyw9u6ppxO0c5rb8Iuw6w2ErAPtj2rCukSUzTfCuJKtDpUZQaVrHKJLDW1npLb48wIIIxgziprVmRz71n7XicBKl+ps/C4P0NWaL1tyS2pJ+daoXNrk5dlKjIbDu6SYNcYHlOGTIOdU0oXfUSuD0oVzekrSlvK4iBtSysxyPCvPBaXPFG7ZHpyYwOdZx24d4hcl11So2CelC4gXA95KCfUmVKij2DKpSADA51lttlLhnW0enjDlFiwyClICJIxVra8GU76xhP4u9AtGzILXsSrlWis1FsIn4dio8j2paoJ9j6m2UFwJ3Niym0WNImDk149xKEiAMScbV7ZxQhLaoPLNeJcWBTIn8R7866VcUlwec1dkpNZEUKHqP7UJxUxmflXyCM7CKi78E1amYmeiqsbMSm0aU6sDK3PyIApu24e+UEhakAmCmrHhbDemAZjcnpVkQkJIbgmNzXK2buT2kr9n89mSu+GOuOpRJURgSaVu+FuW7nlwSSmTitrbMsIV5jhCldsmu3aNUrLACgMKVSurjJI6tp4wedXFuWpChFVi3Q0PLgrB5ATWq4wwhbxKwcnAiBVY4y2gKDaQM7VWpJGuW6ayZ11q5cVqbaUhPKTFAesLlXqVknvWl8s6QAkY7VAtEnMVYrDFLTv7M8G7tq2KNKjmTFV2u4aXrLaoO4Ire2Fit59LaEaioxkTArSPeF2CghxKCuN96thJy8Md8dnDZ5L5/m5Bg/wDE1EFac1v7zwdaFctlCTPMUg74NWpKih0QOQE06z9FLkscspuGcSWwfLeBU0rcdKu1A+WkpVKT8Kxg1V3nh27tJylQHYgmmeAN3yAW7i1Uq25mYKfaoovPBW5xwMNLe84NB5cnmTV7ZMpaRCfW6o8+dULrzX2608kghYyTv863nAuFgnzFwVHnPLtQlF7sINcorLYC14Et0h5yZWcmKfPAg0dSNQTvitMwhDbYTipOLb0woin/AFsjLXSjwijsuHhqNeeR9qtA2lKIHSgcSv2rO2W6ltT60xpaaI1K+pqnR4wsHLH7Q8h22VqUnyXQNUjH0oxq28FVmo38ss79QShQkHGJrxPj0B9wA5Czge9afxB4xcuQpmx9CTuojNYq5WtxgrVJVOSa0xWEc2+ak+BYABUGM9anoAPqNAU58Mc6nrlMRn2pkZ2extPstiAoJHbnR2nUPq8olTbe5UowT2qntUgBJAG/0onFLwsKZwCCCk+/KuYpYWWet275YRcC4trZaksiBvrjekL3igfC0+ZCOg54qhvb9Vy4AiDHMbVxKglSQ6oHGQKplY/DXDSpcsJevec6lSEQ3ED6UssCYTBAFEfcCxKduQHKlluhCZBj351VjJrSUUdKRGkKn2riSiNxNIv8RZZCpI1GqV3jCtcg4nlVka5Mot1EK0emeHA00PPWoBRwkE7Cru5vWSkkq0jvXk9rx55InUSOQojviS4P4iTW+r+Y4POam12WbmehP3zKEEhQA6k1QXvH2WlHTA6xzrJOcR4hdgpbbcUKgjhN3c+pxwIHczV6T8MUrFnll4vxG04uFnA7U2rxDam2KUqSkkbVmz4cKkf+1Cv5aEnw+pJ9VyVD+EYNMozXhW7YP0ncK+zIs7oLGwURP8RrUWHjQstgBIPXvWfY4LbAIFy446UCEhSpAqxQxbtAhLKY9qPxPsV3pcF6vx+tTWlCTqjeq1XiDid4pSg8Uj9aQIt4X92kzI2pWycShSkH0jkADTqL9Kna/C1N0+6CHn1571W3hGr1LUv+Y00JidM0leRrkYp9iE+ST9Kq4XsQTA2oROoOJP4hIo1wZBFLpIChOxwBSNBzkTcWEDkT7zXWngrG5GwioXLUPEAHelZKVgg7cqBD1lN6huQpyEznNVvFOIIf0tByRMk9KwznHnnBGoiljd3TklvUSelcz421g9StRGLybocQZbSBKQkUncccYQsq8wE74rMscP4lcjU4dCT1VTzHh5ED7S8VHOBgU8dK2Cz8vGPCD3PiZP4B8xVevi93dK0tBR9pq7RwuxbyhlHbVmMc6YZt2kwUoCQOQFaIaVI5tv5acygZ4df3JKnTpSMyTTtnwhhRBWCo/wB6ufwqAJxyOKBbnSO4MGKvjTFHPnqrJenE8Kt2YlHPrTDFqyDqQlPYxtU3lTlIP1qDagFkiTmc/pVqgkUOyT9Gk6Uk6RuN5qaFiIkTvNDTCm0mUpVMCTPfauJ+KASroRzp+it5ZIrMyNj9D9KD5ilO559aLqMEAJB5kjMe9A1JCzmFapGOXvQywYCOAJQD+InHcVFSlaZzp7Zrl3/tEjpJihMKV5YIVuM5qBJBKSlQAJ59YqsVDdyYG3TFWZSkOA6iMTjqeVVd5p+1wEkY3J2oMKLVtwFv4gBSd6oAFQjtFcanbaMAUJ4gNqAz/WpknorceqDse1KPJgAyJnlR1rOjUYPUR0pd2Vo1J/vSMdEbgalAj3FIXCYMjAp6Sprumk3hk5jnQC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2236" name="AutoShape 12" descr="data:image/jpeg;base64,/9j/4AAQSkZJRgABAQAAAQABAAD/2wBDAAkGBwgHBgkIBwgKCgkLDRYPDQwMDRsUFRAWIB0iIiAdHx8kKDQsJCYxJx8fLT0tMTU3Ojo6Iys/RD84QzQ5Ojf/2wBDAQoKCg0MDRoPDxo3JR8lNzc3Nzc3Nzc3Nzc3Nzc3Nzc3Nzc3Nzc3Nzc3Nzc3Nzc3Nzc3Nzc3Nzc3Nzc3Nzc3Nzf/wAARCACgAMADASIAAhEBAxEB/8QAGwAAAgMBAQEAAAAAAAAAAAAAAwQCBQYBBwD/xAA5EAABAwMCBAQDBgUEAwAAAAABAgMRAAQhEjEFQVFhBhMicTKBkRQjQqGxwWJy0eHwBzNS8RU0U//EABoBAAIDAQEAAAAAAAAAAAAAAAECAAMEBQb/xAAlEQACAgEFAAIDAAMAAAAAAAAAAQIDEQQSITFBE1EFFCIyQmH/2gAMAwEAAhEDEQA/AKYNykJA1GQcbD5cv+q6lqAJEDE525+4/wCqmlYSnSoxExnA5D/I5miKBycRn1Tt8+dbMHHBpQMKUZBG3f3rgBylUieXKZomAMAiBn9sf5tUiBqzAjfHy2qAYNCZwUkkQZPWZ2NTRvDhmBuAcHtzri1bZg5kE/KgOrJABzHbag2DAZwpBGlRJ57EDsKAtzUQU5IOJ/wUMr1QFZ5Ca7BVlMgntucUMjYIqBmFKHfqag655RhtOr+YVNYKBkEyOvahKbUkTGSenvShFlqUSQVGN/TigL1kESOtNKGnVnfFDKZwcCgEjbpGnb1HYzTCUmJjFfIAQCTvyFTCgIgEk7kVEBnQ2TBIPT6/9VMISQDif7f3r4YHOfyr5QUROmiA4Ea9sGcRXyWUkCvgCnaMdqIDEECoQEW0gyoY996+LSQeVMr+EzEUuF4OCYODFFkBr5ifmOlBJ0nHvNML1KEETQVpIyP0oEIKBSDnNLuj1dT700QIGD86EpBOwMTQCXSAUluSmBpiRHKT/gqSXEbySoATB55NVQumyIQTJ3gd550U3HwkiZPLnVm4mGPF1M7TEEpGB3/UUFdwAn1rwOSar7i+SlMlQEjrVLecW9ZDSs9aRyGjBsvLzibbIISfrVQ5xh5TsiCOnWqyVvmSactrSaRyLlBIsrbiusgKtztuk1bIeDhBRIMTFIWvDUqSdc4E4q5s2vKWnaKCkyOCAhvVOIJ/zeuuJ0pAJk1q+FWdu8NL0KJ5daS8S8FVwh5tSgQy8JbcG3se9WeFLi0ZdaFKmQAahog5Ed6ddSUiUjA70toUQSqOkzv+VQAMkaucTijtNpTK1AGOdDSwVKBSDJ/Kp3l0hKEsJMqSPVBmoBhDdtpPpTmoG8Lg0hOTQre2LvqIKaeaYQlBmJG3SoBkWlJUlQWmFdq4UwMEEe9F9IM7nrXyoxEHpijggGCcE/vUUtpSqDHepuKODsefehqUepmgHBJYEycTtNCUEjAzNdUqR+dCWuO1QhB3GATmopIKsxjn0r5S5BEGgLUoKgCDQCAVeNtY3+dIXPEvUSkwOQmqdx9w/FihpCnDjNLk2Kr7Gbi8cdMSa6xbLcOpW1GtbMQFK36mrZphQA5DnFK2NwugVpamMA1YssaY1agRuAKK0zGmMSKIpK3CkaYVGYFARjrITEIIOBzqxZSBiROknOPpVex5yJCSUDRCgQKuLNhKkNvFAkGDqVmnisisu+DN6XU6gf0mtnxXhSOO+GXbMmXQmWlHdKxtWTs1IQWyknB9q2fBr0ai2vEnHemn0GvGeTw15x231Nv27mpBKSB1GKr3Lq5LkNW0fzGvTPHfD02PGluhIDV2PMAj8WxH71liEHT6EzMTAqLlGef8yaKNm34jcjS475aSchvB+tWTHDG7a31Y1E5kU0XPWAMDY0NRUsFG0GmxgrbyRcUj4WwI9tqCgwUkgkdKZbYn0iO9feQJwexqBSIFE+kjuMVxKSBz+VMEJEA7jvU3WSEaicdqpnbGJfVprLOkVykgTQlEAHeivnQYjeovJBSJ27UI2bgzqcOAJBKZmE9BQiQk4oxwmlnFCTT5KsEHXIE/pQHF6hMV1ahJmlnVEZGxokM2xbqdUJmra1sSmITJNfW7GlO2OtWVuApadZEAxFVZN3Z1i3Sj4gMcjTiUDQRtXAgFZSnEbdzTmn1kqHxYI6EVBGRYACkaglSeh50yhSfPOlKUJIxmaCho65GFT1nBpxtkwFgqlJjTtNERhUMpACwdRG560+wvAIPuDQWtLcKKtxseVTYUkk7JnkTTppAwXlmnUkrJ9xNXVg4pp1JkyIiTWfZu0pbAA5UwniLdsNbjg3kTtRcwqJdf6ktG48OM3iY823dBJHIKx/SvL0X7bqwjy1aycDTIJrY8d8UM3PCV8NSUq82NStW0Gf2rGsWy33PMZ9IGxmKonbtZcqPlY0wUPK0tkkg7DlTzNm66BDSyew3p7gvCkpSDBE1pGWQBpiljfJ+Eno4p9mbt+F3BV8CUgD8X9KIOEJbBLilOKPXYVpvKgbUJ5CCnNLOyT6HroijG8Ss1NgLQJA5UmHHlgJBEbRWuu7cKBgfWsrxJkt3xS2Cltw+kVV/1lyz1E+RbspXNynWCPSSvSB+9VtzAJCCFQeW1WimABkbczzpO+aCEh1I3wf601dq3YDfo5KG4rStUQcUs4RuTvtRnm1AkxjpBriUBXxHT71sOQ+xaCogCB78qiWQZlU9xTK0ACEiaApCyuVE/WmALSFKCUjf9aMhqQNe4OINQbUVYCIPSjKK0plyEgc6pNwwhwp9QSkkcwaOLlSgVHrmaQT5io0pyrYHc1ZcP4Ze3KwG2VBKsFIMSN6VzSGVUn4CL2k6jE9tqku/LYGk5PfNWj3BRaMKN3cpUomShrMHoVHb5UmxYG5T9wAhKVetatgJ60vzLws/Vklln1rePrOcg95py0Qp1YS2lS1qMBKM1peE+H7ThzP22/cQlsZS9cp+L+Ro5V7qx2pO48VW/D3ijglolpClHW+5l1c7iRGkdhU3+k+DwNxLgnErLhRvH1toLagFtBUrQDsT0rJ3DxUolZKj1UZqxTx69TaXVsl4lm5/3EqAMnrO81nlulbvlg1VKTk+DVXTGCy0GSdS4k1pOE2/ltguA6SdUTz6xVHwpkrdLhSTp2rTcPbedWkEAJHes9km3g0wglHJpLIN6QGznpNWDSCASuBQeHMQlKkgTHIVY+UFAkitVVbxlnPusjngASAJNQLIVmmwxjAJHtUfLUATGB3rUqk+zI7WuivuLcHlWf4vaJIJSnKcg1qlpkVn+LeaSUtpEExVeojFRLtM3KRnidTVLuIDrZSr4TTLqS04tBG1JOLKVQJJPauYuz0DacOSreZUoGVGQY3pXTpUBIM4NWdwypCufrzPekXEkDKI711Kpboo8rqK/jscTpRKZPKl3EQo7kflTbCpT6hqI/wA2ri4kwkADoKvRmFbexn43BPRHL61Z2lk26UgN6kg5K9ppO2u2U/HCiOp2ptq/cfcDVqlbiz8KGwSTXLk5yPTxhTBZZaptW2VDCI/gq0avWmWdkhP/ABRt8zzqHDfCnGrsB29Q3w9n/wCl0oA/StJw/hvhjhZDl1dniL439BUgfIY+poRqf+zFnqM8QRmG+G33GyXdKWrVHxPunS2n5nc9hTw4jwvhIS1wpKLq7SmPtbyRpSf4EH9TVlxXxJYOa1M3fEUto2aZaaShEdAZqkf40w4PunOJ6lDVJfbT+iKd7IrCZWo2zeZIRv1P37irh1bj7p3UrJNUj3DL5R+7tH1dg0r+la224tcaQ1bu3ySrYm+P7CgX3FLxpUPruHFJOdd68Y+iqVOP2WzhY1/jgyJS82C06hSHEmFJUCCPcVXL1IuNQwqcVfXfF2w+Fp4XZhYklSi4vVPXUqKonHVPPg6UgKMwBtTFb5STNl4Vs/tDetaQQd5rYW1kw3GlpI+VY3w3xA2wCQMEjHWtvbvoc0lOqFZBIwOxp9Psb57KdX8i5XRYMnQBphPQ0ZLkOJBnfNKa526UZtwJgmCQNjW+S+jmpv0vmm2iylQgqSCcc6q7pISpQVv7dagq7lvTJ0pzjf2pVd2HSSjfcgmYpM4eBsZRMjVIpZy1CtWoTimmxqI60rxm6RaWykg/eKwmluaUcss00ZSlhGD43cto4m6lJkJxilbVovOayInarJVkXVlRglWactrEpUkERXJlJdo9JVS0kmVXELYpt0uROhWapLgAKVA361t7qyV9jd1AEFJ+tY29BAB5d626RvbycP8ALQStyhZqQCBXzkifauJM9Sa4tUCtiZx2W1pwnw7bEBLd1xJwc3l+S1PsJJ/KtFw+/faCmbFLFg0n8No0EKj+Yyo/WqRVm0zhKyVDlG9EtFXYdV9ns1LSqBiTBrku2b6PYrRV19rJdW6U3F46u4Up3TjU6orMn3oF/ctNNG2ZEgbrB50g9/5FgPB5Ba1nUoHcTtS6DcKSA58P1ql5fZsqrh4j7SlK9YMFW4oTqQlMNA4ztRlkad80C2dVZOFaE+Ygn1IJooez+SSblaAmGyeihQLy9W56nUEciR+VGeShSS7aq9ByW5ymlF3LakEKMK2PemSM1j+2VF7KlygjbehW7frCiflTjFrrW4sj7tNdZaQp0kkCNqvzwYXDLyw9u6ppxO0c5rb8Iuw6w2ErAPtj2rCukSUzTfCuJKtDpUZQaVrHKJLDW1npLb48wIIIxgziprVmRz71n7XicBKl+ps/C4P0NWaL1tyS2pJ+daoXNrk5dlKjIbDu6SYNcYHlOGTIOdU0oXfUSuD0oVzekrSlvK4iBtSysxyPCvPBaXPFG7ZHpyYwOdZx24d4hcl11So2CelC4gXA95KCfUmVKij2DKpSADA51lttlLhnW0enjDlFiwyClICJIxVra8GU76xhP4u9AtGzILXsSrlWis1FsIn4dio8j2paoJ9j6m2UFwJ3Niym0WNImDk149xKEiAMScbV7ZxQhLaoPLNeJcWBTIn8R7866VcUlwec1dkpNZEUKHqP7UJxUxmflXyCM7CKi78E1amYmeiqsbMSm0aU6sDK3PyIApu24e+UEhakAmCmrHhbDemAZjcnpVkQkJIbgmNzXK2buT2kr9n89mSu+GOuOpRJURgSaVu+FuW7nlwSSmTitrbMsIV5jhCldsmu3aNUrLACgMKVSurjJI6tp4wedXFuWpChFVi3Q0PLgrB5ATWq4wwhbxKwcnAiBVY4y2gKDaQM7VWpJGuW6ayZ11q5cVqbaUhPKTFAesLlXqVknvWl8s6QAkY7VAtEnMVYrDFLTv7M8G7tq2KNKjmTFV2u4aXrLaoO4Ire2Fit59LaEaioxkTArSPeF2CghxKCuN96thJy8Md8dnDZ5L5/m5Bg/wDE1EFac1v7zwdaFctlCTPMUg74NWpKih0QOQE06z9FLkscspuGcSWwfLeBU0rcdKu1A+WkpVKT8Kxg1V3nh27tJylQHYgmmeAN3yAW7i1Uq25mYKfaoovPBW5xwMNLe84NB5cnmTV7ZMpaRCfW6o8+dULrzX2608kghYyTv863nAuFgnzFwVHnPLtQlF7sINcorLYC14Et0h5yZWcmKfPAg0dSNQTvitMwhDbYTipOLb0woin/AFsjLXSjwijsuHhqNeeR9qtA2lKIHSgcSv2rO2W6ltT60xpaaI1K+pqnR4wsHLH7Q8h22VqUnyXQNUjH0oxq28FVmo38ss79QShQkHGJrxPj0B9wA5Czge9afxB4xcuQpmx9CTuojNYq5WtxgrVJVOSa0xWEc2+ak+BYABUGM9anoAPqNAU58Mc6nrlMRn2pkZ2extPstiAoJHbnR2nUPq8olTbe5UowT2qntUgBJAG/0onFLwsKZwCCCk+/KuYpYWWet275YRcC4trZaksiBvrjekL3igfC0+ZCOg54qhvb9Vy4AiDHMbVxKglSQ6oHGQKplY/DXDSpcsJevec6lSEQ3ED6UssCYTBAFEfcCxKduQHKlluhCZBj351VjJrSUUdKRGkKn2riSiNxNIv8RZZCpI1GqV3jCtcg4nlVka5Mot1EK0emeHA00PPWoBRwkE7Cru5vWSkkq0jvXk9rx55InUSOQojviS4P4iTW+r+Y4POam12WbmehP3zKEEhQA6k1QXvH2WlHTA6xzrJOcR4hdgpbbcUKgjhN3c+pxwIHczV6T8MUrFnll4vxG04uFnA7U2rxDam2KUqSkkbVmz4cKkf+1Cv5aEnw+pJ9VyVD+EYNMozXhW7YP0ncK+zIs7oLGwURP8RrUWHjQstgBIPXvWfY4LbAIFy446UCEhSpAqxQxbtAhLKY9qPxPsV3pcF6vx+tTWlCTqjeq1XiDid4pSg8Uj9aQIt4X92kzI2pWycShSkH0jkADTqL9Kna/C1N0+6CHn1571W3hGr1LUv+Y00JidM0leRrkYp9iE+ST9Kq4XsQTA2oROoOJP4hIo1wZBFLpIChOxwBSNBzkTcWEDkT7zXWngrG5GwioXLUPEAHelZKVgg7cqBD1lN6huQpyEznNVvFOIIf0tByRMk9KwznHnnBGoiljd3TklvUSelcz421g9StRGLybocQZbSBKQkUncccYQsq8wE74rMscP4lcjU4dCT1VTzHh5ED7S8VHOBgU8dK2Cz8vGPCD3PiZP4B8xVevi93dK0tBR9pq7RwuxbyhlHbVmMc6YZt2kwUoCQOQFaIaVI5tv5acygZ4df3JKnTpSMyTTtnwhhRBWCo/wB6ufwqAJxyOKBbnSO4MGKvjTFHPnqrJenE8Kt2YlHPrTDFqyDqQlPYxtU3lTlIP1qDagFkiTmc/pVqgkUOyT9Gk6Uk6RuN5qaFiIkTvNDTCm0mUpVMCTPfauJ+KASroRzp+it5ZIrMyNj9D9KD5ilO559aLqMEAJB5kjMe9A1JCzmFapGOXvQywYCOAJQD+InHcVFSlaZzp7Zrl3/tEjpJihMKV5YIVuM5qBJBKSlQAJ59YqsVDdyYG3TFWZSkOA6iMTjqeVVd5p+1wEkY3J2oMKLVtwFv4gBSd6oAFQjtFcanbaMAUJ4gNqAz/WpknorceqDse1KPJgAyJnlR1rOjUYPUR0pd2Vo1J/vSMdEbgalAj3FIXCYMjAp6Sprumk3hk5jnQC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2050" name="Picture 2" descr="Afficher l'image d'origin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D:\documents\Base de données parasitologie\Base de données.CESTODES\Cycle1.jpg"/>
          <p:cNvPicPr>
            <a:picLocks noChangeAspect="1" noChangeArrowheads="1"/>
          </p:cNvPicPr>
          <p:nvPr/>
        </p:nvPicPr>
        <p:blipFill>
          <a:blip r:embed="rId2" cstate="print">
            <a:lum bright="6000" contrast="6000"/>
          </a:blip>
          <a:srcRect/>
          <a:stretch>
            <a:fillRect/>
          </a:stretch>
        </p:blipFill>
        <p:spPr bwMode="auto">
          <a:xfrm>
            <a:off x="0" y="0"/>
            <a:ext cx="9144000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285984" y="142852"/>
            <a:ext cx="3786214" cy="500066"/>
          </a:xfrm>
        </p:spPr>
        <p:txBody>
          <a:bodyPr>
            <a:normAutofit fontScale="90000"/>
          </a:bodyPr>
          <a:lstStyle/>
          <a:p>
            <a:endParaRPr lang="fr-FR" b="1" cap="none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>
          <a:xfrm>
            <a:off x="0" y="857232"/>
            <a:ext cx="9144000" cy="56167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800" b="1" dirty="0" smtClean="0">
                <a:solidFill>
                  <a:srgbClr val="FF0000"/>
                </a:solidFill>
                <a:cs typeface="Times New Roman" pitchFamily="18" charset="0"/>
              </a:rPr>
              <a:t>                             </a:t>
            </a:r>
            <a:r>
              <a:rPr lang="fr-FR" b="1" dirty="0" smtClean="0">
                <a:solidFill>
                  <a:srgbClr val="FF0000"/>
                </a:solidFill>
                <a:cs typeface="Times New Roman" pitchFamily="18" charset="0"/>
              </a:rPr>
              <a:t>La larve ou hydatide</a:t>
            </a:r>
            <a:endParaRPr lang="fr-FR" dirty="0" smtClean="0">
              <a:solidFill>
                <a:srgbClr val="FF0000"/>
              </a:solidFill>
              <a:cs typeface="Times New Roman" pitchFamily="18" charset="0"/>
            </a:endParaRPr>
          </a:p>
          <a:p>
            <a:r>
              <a:rPr lang="fr-FR" b="1" dirty="0" smtClean="0">
                <a:cs typeface="Times New Roman" pitchFamily="18" charset="0"/>
              </a:rPr>
              <a:t> C'est une sphère creuse;</a:t>
            </a:r>
          </a:p>
          <a:p>
            <a:pPr>
              <a:lnSpc>
                <a:spcPct val="150000"/>
              </a:lnSpc>
            </a:pPr>
            <a:r>
              <a:rPr lang="fr-FR" b="1" dirty="0" smtClean="0">
                <a:cs typeface="Times New Roman" pitchFamily="18" charset="0"/>
              </a:rPr>
              <a:t> délimitée par 2 membranes;</a:t>
            </a:r>
          </a:p>
          <a:p>
            <a:pPr>
              <a:lnSpc>
                <a:spcPct val="150000"/>
              </a:lnSpc>
            </a:pPr>
            <a:r>
              <a:rPr lang="fr-FR" b="1" dirty="0" smtClean="0">
                <a:cs typeface="Times New Roman" pitchFamily="18" charset="0"/>
              </a:rPr>
              <a:t> remplie de liquide eau de roche et de petite hydatides ou vésicules filles</a:t>
            </a:r>
          </a:p>
          <a:p>
            <a:pPr>
              <a:lnSpc>
                <a:spcPct val="150000"/>
              </a:lnSpc>
            </a:pPr>
            <a:r>
              <a:rPr lang="fr-FR" b="1" dirty="0" smtClean="0">
                <a:cs typeface="Times New Roman" pitchFamily="18" charset="0"/>
              </a:rPr>
              <a:t>le tout entouré d'une réaction fibreuse de l'organisme hôte: l'adventice.</a:t>
            </a:r>
            <a:endParaRPr lang="en-US" b="1" dirty="0" smtClean="0">
              <a:cs typeface="Times New Roman" pitchFamily="18" charset="0"/>
            </a:endParaRPr>
          </a:p>
          <a:p>
            <a:pPr>
              <a:buNone/>
            </a:pP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29496729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6F48E5B6-9109-4391-982A-F37FE8DA3164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000" b="1" dirty="0" smtClean="0">
                <a:solidFill>
                  <a:srgbClr val="FF0000"/>
                </a:solidFill>
              </a:rPr>
              <a:t> la larve hydatide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pic>
        <p:nvPicPr>
          <p:cNvPr id="2050" name="Picture 2" descr="C:\Users\user\Desktop\Planchage Hydatidose\PIC\Capture01 copy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268760"/>
            <a:ext cx="6192688" cy="4938330"/>
          </a:xfrm>
          <a:prstGeom prst="rect">
            <a:avLst/>
          </a:prstGeom>
          <a:noFill/>
        </p:spPr>
      </p:pic>
      <p:sp>
        <p:nvSpPr>
          <p:cNvPr id="7" name="ZoneTexte 6"/>
          <p:cNvSpPr txBox="1"/>
          <p:nvPr/>
        </p:nvSpPr>
        <p:spPr>
          <a:xfrm>
            <a:off x="6084168" y="1340768"/>
            <a:ext cx="155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Adventice </a:t>
            </a:r>
          </a:p>
          <a:p>
            <a:r>
              <a:rPr lang="fr-FR" dirty="0" smtClean="0"/>
              <a:t>réactionnelle</a:t>
            </a:r>
            <a:endParaRPr lang="fr-FR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084168" y="2996952"/>
            <a:ext cx="1986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membrane externe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012160" y="3429000"/>
            <a:ext cx="2291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membrane proligère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6156176" y="3861048"/>
            <a:ext cx="121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liquide</a:t>
            </a:r>
          </a:p>
          <a:p>
            <a:r>
              <a:rPr lang="fr-FR" dirty="0" smtClean="0"/>
              <a:t>hydatique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6012160" y="4581128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sable hydatique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6012160" y="5373216"/>
            <a:ext cx="1568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vésicule fille </a:t>
            </a:r>
          </a:p>
          <a:p>
            <a:r>
              <a:rPr lang="fr-FR" dirty="0" smtClean="0"/>
              <a:t>exogène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6084168" y="2132856"/>
            <a:ext cx="1568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vésicule fille </a:t>
            </a:r>
          </a:p>
          <a:p>
            <a:r>
              <a:rPr lang="fr-FR" dirty="0" smtClean="0"/>
              <a:t>exogène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611560" y="5301208"/>
            <a:ext cx="1117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vésicule</a:t>
            </a:r>
          </a:p>
          <a:p>
            <a:r>
              <a:rPr lang="fr-FR" dirty="0" smtClean="0"/>
              <a:t>proligère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251520" y="4149080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protoscolex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0" y="1700808"/>
            <a:ext cx="256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vésicule fille endogène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251520" y="2852936"/>
            <a:ext cx="1295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vésicule</a:t>
            </a:r>
          </a:p>
          <a:p>
            <a:r>
              <a:rPr lang="fr-FR" dirty="0" smtClean="0"/>
              <a:t>petite fille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2267744" y="6237312"/>
            <a:ext cx="3427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Structure du kyste hydatique.</a:t>
            </a:r>
          </a:p>
          <a:p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6" descr="File:Histopathology of Echinococcus granulosus hydatid cyst in a sheep 09G0016 lores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1143000" y="-1143000"/>
            <a:ext cx="6858000" cy="9144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928926" y="1571612"/>
            <a:ext cx="1511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 dirty="0">
                <a:latin typeface="Comic Sans MS" pitchFamily="66" charset="0"/>
              </a:rPr>
              <a:t>Adventice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-285784" y="2714620"/>
            <a:ext cx="1943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 dirty="0" smtClean="0">
                <a:latin typeface="Comic Sans MS" pitchFamily="66" charset="0"/>
              </a:rPr>
              <a:t>       Cuticule </a:t>
            </a:r>
            <a:endParaRPr lang="fr-FR" b="1" dirty="0">
              <a:latin typeface="Comic Sans MS" pitchFamily="66" charset="0"/>
            </a:endParaRP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7524750" y="2357430"/>
            <a:ext cx="1619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 dirty="0" smtClean="0">
                <a:latin typeface="Comic Sans MS" pitchFamily="66" charset="0"/>
              </a:rPr>
              <a:t>Proligère </a:t>
            </a:r>
            <a:endParaRPr lang="fr-FR" b="1" dirty="0">
              <a:latin typeface="Comic Sans MS" pitchFamily="66" charset="0"/>
            </a:endParaRPr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 flipH="1" flipV="1">
            <a:off x="7072330" y="2357430"/>
            <a:ext cx="500066" cy="142876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1285852" y="3000372"/>
            <a:ext cx="714380" cy="28575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 flipH="1" flipV="1">
            <a:off x="3714744" y="5000636"/>
            <a:ext cx="785818" cy="135732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4500562" y="6286520"/>
            <a:ext cx="23574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 dirty="0" smtClean="0">
                <a:latin typeface="Comic Sans MS" pitchFamily="66" charset="0"/>
              </a:rPr>
              <a:t>Vésicules filles</a:t>
            </a:r>
            <a:endParaRPr lang="fr-FR" b="1" dirty="0">
              <a:latin typeface="Comic Sans MS" pitchFamily="66" charset="0"/>
            </a:endParaRPr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H="1" flipV="1">
            <a:off x="2643174" y="5786454"/>
            <a:ext cx="1857388" cy="64294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6858016" y="4857760"/>
            <a:ext cx="1452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err="1" smtClean="0">
                <a:latin typeface="Comic Sans MS" pitchFamily="66" charset="0"/>
              </a:rPr>
              <a:t>Protoscolex</a:t>
            </a:r>
            <a:endParaRPr lang="fr-FR" dirty="0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 flipH="1" flipV="1">
            <a:off x="6357950" y="4429132"/>
            <a:ext cx="1000132" cy="571504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4716016" y="0"/>
            <a:ext cx="4427984" cy="314096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683568" y="2060848"/>
            <a:ext cx="6275040" cy="54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         </a:t>
            </a:r>
            <a:r>
              <a:rPr lang="fr-FR" sz="3600" b="1" dirty="0" smtClean="0">
                <a:solidFill>
                  <a:srgbClr val="FF0000"/>
                </a:solidFill>
              </a:rPr>
              <a:t>Modes de </a:t>
            </a:r>
            <a:r>
              <a:rPr lang="fr-FR" sz="3600" b="1" dirty="0" err="1" smtClean="0">
                <a:solidFill>
                  <a:srgbClr val="FF0000"/>
                </a:solidFill>
              </a:rPr>
              <a:t>contaminaton</a:t>
            </a:r>
            <a:endParaRPr lang="fr-FR" sz="36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fr-FR" dirty="0" smtClean="0"/>
              <a:t>Contact direct avec le chien     (caresses, léchage ,enfants+++)</a:t>
            </a:r>
          </a:p>
          <a:p>
            <a:pPr>
              <a:buFont typeface="Wingdings" pitchFamily="2" charset="2"/>
              <a:buChar char="ü"/>
            </a:pPr>
            <a:r>
              <a:rPr lang="fr-FR" dirty="0" smtClean="0"/>
              <a:t>Aliments et eau de boisson souillés par les déjections des chiens</a:t>
            </a:r>
          </a:p>
          <a:p>
            <a:pPr>
              <a:buFont typeface="Wingdings" pitchFamily="2" charset="2"/>
              <a:buChar char="ü"/>
            </a:pPr>
            <a:r>
              <a:rPr lang="fr-FR" dirty="0" smtClean="0"/>
              <a:t>  Professions exposées: bergers, chasseurs………….</a:t>
            </a:r>
            <a:endParaRPr lang="fr-FR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180528" y="274638"/>
            <a:ext cx="8867328" cy="11430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 </a:t>
            </a:r>
            <a:r>
              <a:rPr lang="fr-FR" sz="4000" b="1" dirty="0" smtClean="0">
                <a:solidFill>
                  <a:srgbClr val="FF0000"/>
                </a:solidFill>
              </a:rPr>
              <a:t>clinique</a:t>
            </a:r>
            <a:br>
              <a:rPr lang="fr-FR" sz="4000" b="1" dirty="0" smtClean="0">
                <a:solidFill>
                  <a:srgbClr val="FF0000"/>
                </a:solidFill>
              </a:rPr>
            </a:br>
            <a:endParaRPr lang="fr-FR" sz="4000" b="1" dirty="0">
              <a:solidFill>
                <a:srgbClr val="FF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 smtClean="0">
                <a:latin typeface="Calibri" pitchFamily="34" charset="0"/>
              </a:rPr>
              <a:t>Souvent de découverte fortuite.</a:t>
            </a:r>
          </a:p>
          <a:p>
            <a:r>
              <a:rPr lang="fr-FR" dirty="0" smtClean="0">
                <a:latin typeface="Calibri" pitchFamily="34" charset="0"/>
              </a:rPr>
              <a:t>Asymptomatique (50 % des cas)</a:t>
            </a:r>
          </a:p>
          <a:p>
            <a:r>
              <a:rPr lang="fr-FR" dirty="0" smtClean="0">
                <a:latin typeface="Calibri" pitchFamily="34" charset="0"/>
              </a:rPr>
              <a:t>Manifestations cliniques  en fonction de la localisation et de la taille des kystes. </a:t>
            </a:r>
          </a:p>
          <a:p>
            <a:r>
              <a:rPr lang="fr-FR" dirty="0" smtClean="0">
                <a:latin typeface="Calibri" pitchFamily="34" charset="0"/>
              </a:rPr>
              <a:t>Les KH peuvent se localiser dans toutes les parties de l’organisme. </a:t>
            </a:r>
          </a:p>
          <a:p>
            <a:r>
              <a:rPr lang="fr-FR" dirty="0" smtClean="0">
                <a:latin typeface="Calibri" pitchFamily="34" charset="0"/>
              </a:rPr>
              <a:t>Le foie est atteint deux fois sur trois, les poumons une fois sur quatre.</a:t>
            </a:r>
          </a:p>
          <a:p>
            <a:r>
              <a:rPr lang="fr-FR" dirty="0" smtClean="0">
                <a:latin typeface="Calibri" pitchFamily="34" charset="0"/>
              </a:rPr>
              <a:t> Les atteintes cérébrales, musculaires, rénales, osseuses, cardiaques, et pancréatiques sont plus rares.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1032" y="449288"/>
            <a:ext cx="8712968" cy="6408712"/>
          </a:xfrm>
          <a:effectLst/>
        </p:spPr>
        <p:txBody>
          <a:bodyPr/>
          <a:lstStyle/>
          <a:p>
            <a:pPr>
              <a:buNone/>
            </a:pPr>
            <a:r>
              <a:rPr lang="fr-FR" b="1" dirty="0" smtClean="0">
                <a:solidFill>
                  <a:srgbClr val="FF0000"/>
                </a:solidFill>
              </a:rPr>
              <a:t>          </a:t>
            </a:r>
            <a:r>
              <a:rPr lang="fr-FR" b="1" dirty="0" err="1" smtClean="0">
                <a:solidFill>
                  <a:srgbClr val="FF0000"/>
                </a:solidFill>
              </a:rPr>
              <a:t>Hydatidose</a:t>
            </a:r>
            <a:r>
              <a:rPr lang="fr-FR" b="1" dirty="0" smtClean="0">
                <a:solidFill>
                  <a:srgbClr val="FF0000"/>
                </a:solidFill>
              </a:rPr>
              <a:t> hépatique</a:t>
            </a:r>
          </a:p>
          <a:p>
            <a:pPr marL="514350" indent="-514350">
              <a:buFont typeface="Wingdings" pitchFamily="2" charset="2"/>
              <a:buChar char="ü"/>
            </a:pPr>
            <a:r>
              <a:rPr lang="fr-FR" dirty="0" smtClean="0"/>
              <a:t>  Latence clinique: plusieurs années</a:t>
            </a:r>
          </a:p>
          <a:p>
            <a:pPr>
              <a:buFont typeface="Wingdings" pitchFamily="2" charset="2"/>
              <a:buChar char="ü"/>
            </a:pPr>
            <a:r>
              <a:rPr lang="fr-FR" dirty="0" smtClean="0"/>
              <a:t> Hépatomégalie indolore</a:t>
            </a:r>
          </a:p>
          <a:p>
            <a:pPr>
              <a:buFont typeface="Wingdings" pitchFamily="2" charset="2"/>
              <a:buChar char="ü"/>
            </a:pPr>
            <a:r>
              <a:rPr lang="fr-FR" dirty="0" smtClean="0"/>
              <a:t> Compression biliaire ou compression vasculaire</a:t>
            </a:r>
          </a:p>
          <a:p>
            <a:pPr>
              <a:buNone/>
            </a:pPr>
            <a:r>
              <a:rPr lang="fr-FR" dirty="0" smtClean="0"/>
              <a:t>               Ictère ou hypertension portale</a:t>
            </a:r>
          </a:p>
          <a:p>
            <a:pPr>
              <a:buFont typeface="Wingdings" pitchFamily="2" charset="2"/>
              <a:buChar char="ü"/>
            </a:pPr>
            <a:r>
              <a:rPr lang="fr-FR" dirty="0" smtClean="0"/>
              <a:t>  Fissuration: réactions allergiques</a:t>
            </a:r>
          </a:p>
          <a:p>
            <a:pPr>
              <a:buFont typeface="Wingdings" pitchFamily="2" charset="2"/>
              <a:buChar char="ü"/>
            </a:pPr>
            <a:r>
              <a:rPr lang="fr-FR" dirty="0" smtClean="0"/>
              <a:t> Rupture: choc anaphylactique</a:t>
            </a:r>
          </a:p>
          <a:p>
            <a:pPr>
              <a:buFont typeface="Wingdings" pitchFamily="2" charset="2"/>
              <a:buChar char="ü"/>
            </a:pPr>
            <a:r>
              <a:rPr lang="fr-FR" dirty="0" smtClean="0"/>
              <a:t> infection: abcès du foie</a:t>
            </a:r>
          </a:p>
        </p:txBody>
      </p:sp>
      <p:sp>
        <p:nvSpPr>
          <p:cNvPr id="17" name="Flèche droite 16"/>
          <p:cNvSpPr/>
          <p:nvPr/>
        </p:nvSpPr>
        <p:spPr>
          <a:xfrm>
            <a:off x="683568" y="2924944"/>
            <a:ext cx="936104" cy="340616"/>
          </a:xfrm>
          <a:prstGeom prst="rightArrow">
            <a:avLst>
              <a:gd name="adj1" fmla="val 8071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8184" y="188640"/>
            <a:ext cx="2664296" cy="3168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12776"/>
            <a:ext cx="8229600" cy="309634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solidFill>
                  <a:schemeClr val="bg1"/>
                </a:solidFill>
                <a:latin typeface="Time New Romans"/>
              </a:rPr>
              <a:t> Latence clinique moins longue.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Latence clinique moins longue.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toux, dyspnée ou hémoptysie</a:t>
            </a: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latin typeface="Time New Romans"/>
              </a:rPr>
              <a:t> </a:t>
            </a:r>
            <a:endParaRPr lang="fr-FR" sz="2400" dirty="0" smtClean="0">
              <a:latin typeface="Time New Romans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Complication: rupture dans une bronche ( vomique hydatique) 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1680" y="620688"/>
            <a:ext cx="35862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err="1" smtClean="0">
                <a:solidFill>
                  <a:srgbClr val="FF0000"/>
                </a:solidFill>
                <a:latin typeface="Time New Romans"/>
              </a:rPr>
              <a:t>Hydatidose</a:t>
            </a:r>
            <a:r>
              <a:rPr lang="fr-FR" sz="2400" b="1" dirty="0" smtClean="0">
                <a:solidFill>
                  <a:srgbClr val="FF0000"/>
                </a:solidFill>
                <a:latin typeface="Time New Romans"/>
              </a:rPr>
              <a:t> pulmonaire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95536" y="1340768"/>
            <a:ext cx="8424936" cy="5256584"/>
          </a:xfrm>
        </p:spPr>
        <p:txBody>
          <a:bodyPr>
            <a:normAutofit fontScale="25000" lnSpcReduction="20000"/>
          </a:bodyPr>
          <a:lstStyle/>
          <a:p>
            <a:pPr marL="685800" indent="-685800">
              <a:lnSpc>
                <a:spcPct val="170000"/>
              </a:lnSpc>
              <a:buClr>
                <a:srgbClr val="0070C0"/>
              </a:buClr>
              <a:buNone/>
            </a:pPr>
            <a:r>
              <a:rPr lang="fr-FR" sz="9600" dirty="0" smtClean="0">
                <a:latin typeface="Times New Romans"/>
              </a:rPr>
              <a:t>Anamnèse</a:t>
            </a:r>
          </a:p>
          <a:p>
            <a:pPr marL="685800" indent="-685800">
              <a:lnSpc>
                <a:spcPct val="170000"/>
              </a:lnSpc>
              <a:buClr>
                <a:srgbClr val="0070C0"/>
              </a:buClr>
              <a:buNone/>
            </a:pPr>
            <a:r>
              <a:rPr lang="fr-FR" sz="9600" dirty="0" smtClean="0">
                <a:latin typeface="Times New Romans"/>
              </a:rPr>
              <a:t>Signes cliniques</a:t>
            </a:r>
          </a:p>
          <a:p>
            <a:pPr>
              <a:buNone/>
            </a:pPr>
            <a:r>
              <a:rPr lang="fr-FR" sz="11200" dirty="0" smtClean="0">
                <a:cs typeface="Times New Roman" pitchFamily="18" charset="0"/>
              </a:rPr>
              <a:t>FNS:   </a:t>
            </a:r>
            <a:r>
              <a:rPr lang="fr-FR" sz="11200" dirty="0" err="1" smtClean="0">
                <a:cs typeface="Times New Roman" pitchFamily="18" charset="0"/>
              </a:rPr>
              <a:t>hyperéosinophylie</a:t>
            </a:r>
            <a:r>
              <a:rPr lang="fr-FR" sz="11200" dirty="0" smtClean="0">
                <a:cs typeface="Times New Roman" pitchFamily="18" charset="0"/>
              </a:rPr>
              <a:t> </a:t>
            </a:r>
            <a:r>
              <a:rPr lang="fr-FR" sz="11200" dirty="0" smtClean="0">
                <a:latin typeface="Times New Romans"/>
              </a:rPr>
              <a:t>inconstante</a:t>
            </a:r>
            <a:r>
              <a:rPr lang="fr-FR" sz="11200" dirty="0" smtClean="0">
                <a:cs typeface="Times New Roman" pitchFamily="18" charset="0"/>
              </a:rPr>
              <a:t> (7-15% </a:t>
            </a:r>
            <a:r>
              <a:rPr lang="fr-FR" sz="11200" dirty="0" smtClean="0">
                <a:latin typeface="Times New Romans"/>
              </a:rPr>
              <a:t>au début de l’infestation)</a:t>
            </a:r>
            <a:endParaRPr lang="fr-FR" sz="11200" dirty="0" smtClean="0">
              <a:cs typeface="Times New Roman" pitchFamily="18" charset="0"/>
            </a:endParaRPr>
          </a:p>
          <a:p>
            <a:pPr>
              <a:buNone/>
            </a:pPr>
            <a:r>
              <a:rPr lang="fr-FR" sz="11200" dirty="0" smtClean="0">
                <a:cs typeface="Times New Roman" pitchFamily="18" charset="0"/>
              </a:rPr>
              <a:t>        (+++++ fissuration ou rupture)</a:t>
            </a:r>
          </a:p>
          <a:p>
            <a:pPr marL="685800" indent="-685800">
              <a:lnSpc>
                <a:spcPct val="170000"/>
              </a:lnSpc>
              <a:buClr>
                <a:srgbClr val="0070C0"/>
              </a:buClr>
              <a:buNone/>
            </a:pPr>
            <a:endParaRPr lang="fr-FR" sz="9600" dirty="0" smtClean="0">
              <a:latin typeface="Times New Romans"/>
            </a:endParaRPr>
          </a:p>
          <a:p>
            <a:pPr marL="685800" indent="-685800">
              <a:lnSpc>
                <a:spcPct val="170000"/>
              </a:lnSpc>
              <a:buClr>
                <a:srgbClr val="0070C0"/>
              </a:buClr>
              <a:buNone/>
            </a:pPr>
            <a:r>
              <a:rPr lang="fr-FR" sz="9600" dirty="0" smtClean="0">
                <a:latin typeface="Times New Romans"/>
              </a:rPr>
              <a:t>Bilan hépatique perturbé……. </a:t>
            </a:r>
            <a:br>
              <a:rPr lang="fr-FR" sz="9600" dirty="0" smtClean="0">
                <a:latin typeface="Times New Romans"/>
              </a:rPr>
            </a:br>
            <a:r>
              <a:rPr lang="fr-FR" sz="9600" dirty="0" smtClean="0">
                <a:solidFill>
                  <a:schemeClr val="bg1"/>
                </a:solidFill>
                <a:latin typeface="Times New Romans"/>
              </a:rPr>
              <a:t>  </a:t>
            </a:r>
            <a:r>
              <a:rPr lang="fr-FR" sz="3800" dirty="0" smtClean="0">
                <a:solidFill>
                  <a:schemeClr val="bg1"/>
                </a:solidFill>
                <a:latin typeface="Times New Romans"/>
              </a:rPr>
              <a:t/>
            </a:r>
            <a:br>
              <a:rPr lang="fr-FR" sz="3800" dirty="0" smtClean="0">
                <a:solidFill>
                  <a:schemeClr val="bg1"/>
                </a:solidFill>
                <a:latin typeface="Times New Romans"/>
              </a:rPr>
            </a:br>
            <a:r>
              <a:rPr lang="fr-FR" sz="3800" dirty="0" smtClean="0">
                <a:solidFill>
                  <a:schemeClr val="bg1"/>
                </a:solidFill>
                <a:latin typeface="Times New Romans"/>
              </a:rPr>
              <a:t/>
            </a:r>
            <a:br>
              <a:rPr lang="fr-FR" sz="3800" dirty="0" smtClean="0">
                <a:solidFill>
                  <a:schemeClr val="bg1"/>
                </a:solidFill>
                <a:latin typeface="Times New Romans"/>
              </a:rPr>
            </a:br>
            <a:endParaRPr lang="fr-FR" sz="3800" dirty="0" smtClean="0">
              <a:solidFill>
                <a:schemeClr val="bg1"/>
              </a:solidFill>
              <a:latin typeface="Times New Romans"/>
            </a:endParaRPr>
          </a:p>
          <a:p>
            <a:pPr>
              <a:buClr>
                <a:srgbClr val="0070C0"/>
              </a:buClr>
            </a:pPr>
            <a:endParaRPr lang="fr-FR" sz="1600" dirty="0" smtClean="0">
              <a:solidFill>
                <a:schemeClr val="bg1"/>
              </a:solidFill>
              <a:latin typeface="Comic Sans MS" pitchFamily="66" charset="0"/>
            </a:endParaRPr>
          </a:p>
          <a:p>
            <a:pPr>
              <a:buClr>
                <a:srgbClr val="0070C0"/>
              </a:buClr>
            </a:pPr>
            <a:endParaRPr lang="fr-FR" sz="1600" dirty="0" smtClean="0">
              <a:solidFill>
                <a:schemeClr val="bg1"/>
              </a:solidFill>
              <a:latin typeface="Comic Sans MS" pitchFamily="66" charset="0"/>
            </a:endParaRPr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619672" y="404664"/>
            <a:ext cx="60486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rgbClr val="0070C0"/>
              </a:buClr>
              <a:buNone/>
            </a:pPr>
            <a:r>
              <a:rPr lang="fr-FR" sz="3200" b="1" dirty="0" smtClean="0">
                <a:solidFill>
                  <a:srgbClr val="FF0000"/>
                </a:solidFill>
                <a:latin typeface="Times New Romans"/>
              </a:rPr>
              <a:t>Eléments d’orientation      </a:t>
            </a:r>
          </a:p>
        </p:txBody>
      </p:sp>
    </p:spTree>
  </p:cSld>
  <p:clrMapOvr>
    <a:masterClrMapping/>
  </p:clrMapOvr>
  <p:transition advClick="0" advTm="1000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180528" y="332656"/>
            <a:ext cx="8229600" cy="1484784"/>
          </a:xfrm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0000"/>
                </a:solidFill>
              </a:rPr>
              <a:t>DIAGNOSTIC</a:t>
            </a:r>
            <a:br>
              <a:rPr lang="fr-FR" sz="3600" b="1" dirty="0" smtClean="0">
                <a:solidFill>
                  <a:srgbClr val="FF0000"/>
                </a:solidFill>
              </a:rPr>
            </a:b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 smtClean="0">
                <a:latin typeface="Calibri" pitchFamily="34" charset="0"/>
              </a:rPr>
              <a:t> Le diagnostic du KH est basé sur :</a:t>
            </a:r>
          </a:p>
          <a:p>
            <a:pPr>
              <a:buFont typeface="Wingdings" pitchFamily="2" charset="2"/>
              <a:buChar char="§"/>
            </a:pPr>
            <a:r>
              <a:rPr lang="fr-FR" dirty="0" smtClean="0">
                <a:latin typeface="Calibri" pitchFamily="34" charset="0"/>
              </a:rPr>
              <a:t>  les techniques d'imagerie.</a:t>
            </a:r>
          </a:p>
          <a:p>
            <a:pPr>
              <a:buFont typeface="Wingdings" pitchFamily="2" charset="2"/>
              <a:buChar char="§"/>
            </a:pPr>
            <a:r>
              <a:rPr lang="fr-FR" b="1" dirty="0" smtClean="0">
                <a:latin typeface="Calibri" pitchFamily="34" charset="0"/>
              </a:rPr>
              <a:t>   la sérologie++++ </a:t>
            </a:r>
          </a:p>
          <a:p>
            <a:pPr>
              <a:buFont typeface="Wingdings" pitchFamily="2" charset="2"/>
              <a:buChar char="§"/>
            </a:pPr>
            <a:r>
              <a:rPr lang="fr-FR" dirty="0" smtClean="0">
                <a:latin typeface="Calibri" pitchFamily="34" charset="0"/>
              </a:rPr>
              <a:t>   la visualisation directe du parasite.</a:t>
            </a:r>
          </a:p>
          <a:p>
            <a:pPr>
              <a:buNone/>
            </a:pPr>
            <a:r>
              <a:rPr lang="fr-FR" dirty="0" smtClean="0"/>
              <a:t>       (uniquement en cas de vomique ou                     sur pièces opératoire)</a:t>
            </a:r>
          </a:p>
          <a:p>
            <a:pPr>
              <a:buNone/>
            </a:pPr>
            <a:r>
              <a:rPr lang="fr-FR" b="1" dirty="0" smtClean="0">
                <a:solidFill>
                  <a:srgbClr val="FF0000"/>
                </a:solidFill>
              </a:rPr>
              <a:t>Il est formellement proscrit de faire une ponction exploratrice à visée diagnostique</a:t>
            </a:r>
            <a:br>
              <a:rPr lang="fr-FR" b="1" dirty="0" smtClean="0">
                <a:solidFill>
                  <a:srgbClr val="FF0000"/>
                </a:solidFill>
              </a:rPr>
            </a:br>
            <a:endParaRPr lang="fr-FR" b="1" dirty="0" smtClean="0">
              <a:solidFill>
                <a:srgbClr val="FF0000"/>
              </a:solidFill>
            </a:endParaRP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</p:txBody>
      </p:sp>
      <p:pic>
        <p:nvPicPr>
          <p:cNvPr id="5" name="Picture 8" descr="C:\Documents and Settings\Administrateur\Mes documents\outils\ANOPHEL\diapo\H1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6644" y="1428736"/>
            <a:ext cx="1500198" cy="22860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692696"/>
            <a:ext cx="5781328" cy="778098"/>
          </a:xfrm>
        </p:spPr>
        <p:txBody>
          <a:bodyPr>
            <a:normAutofit fontScale="90000"/>
          </a:bodyPr>
          <a:lstStyle/>
          <a:p>
            <a:pPr algn="l"/>
            <a:r>
              <a:rPr lang="fr-FR" sz="27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s"/>
              </a:rPr>
              <a:t>                      </a:t>
            </a:r>
            <a:r>
              <a:rPr lang="fr-FR" sz="2700" b="1" dirty="0" smtClean="0">
                <a:solidFill>
                  <a:srgbClr val="FF0000"/>
                </a:solidFill>
                <a:latin typeface="Times New Romans"/>
              </a:rPr>
              <a:t>IMAGERIE</a:t>
            </a:r>
            <a:r>
              <a:rPr lang="fr-FR" dirty="0" smtClean="0">
                <a:solidFill>
                  <a:srgbClr val="FF0000"/>
                </a:solidFill>
                <a:latin typeface="Times New Romans"/>
              </a:rPr>
              <a:t/>
            </a:r>
            <a:br>
              <a:rPr lang="fr-FR" dirty="0" smtClean="0">
                <a:solidFill>
                  <a:srgbClr val="FF0000"/>
                </a:solidFill>
                <a:latin typeface="Times New Romans"/>
              </a:rPr>
            </a:b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1124744"/>
            <a:ext cx="8229600" cy="4525963"/>
          </a:xfrm>
        </p:spPr>
        <p:txBody>
          <a:bodyPr>
            <a:normAutofit/>
          </a:bodyPr>
          <a:lstStyle/>
          <a:p>
            <a:pPr marL="685800" indent="-685800">
              <a:lnSpc>
                <a:spcPct val="150000"/>
              </a:lnSpc>
              <a:buClr>
                <a:srgbClr val="0070C0"/>
              </a:buClr>
              <a:buNone/>
            </a:pPr>
            <a:r>
              <a:rPr lang="fr-FR" sz="2400" dirty="0" smtClean="0">
                <a:latin typeface="Times New Romans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s New Romans"/>
              </a:rPr>
              <a:t>    Etablir le diagnostic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s New Romans"/>
              </a:rPr>
              <a:t>    Classifications radiologiques:  stade évolutif du kyste</a:t>
            </a:r>
          </a:p>
          <a:p>
            <a:pPr>
              <a:lnSpc>
                <a:spcPct val="150000"/>
              </a:lnSpc>
              <a:buNone/>
            </a:pPr>
            <a:r>
              <a:rPr lang="fr-FR" sz="2400" dirty="0" smtClean="0">
                <a:latin typeface="Times New Romans"/>
              </a:rPr>
              <a:t>      (du kyste actif fertile au kyste inactif: dégénéré, calcifié, cuticule flottante).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s New Romans"/>
              </a:rPr>
              <a:t>        Juger des complications.</a:t>
            </a:r>
          </a:p>
          <a:p>
            <a:endParaRPr lang="fr-FR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0" y="476672"/>
          <a:ext cx="9144000" cy="418108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1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 smtClean="0"/>
                        <a:t> </a:t>
                      </a:r>
                      <a:r>
                        <a:rPr lang="fr-FR" sz="2400" u="non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s"/>
                        </a:rPr>
                        <a:t>Méthodes quantitatives</a:t>
                      </a:r>
                    </a:p>
                    <a:p>
                      <a:pPr>
                        <a:buNone/>
                      </a:pPr>
                      <a:r>
                        <a:rPr lang="fr-FR" sz="2400" dirty="0" smtClean="0">
                          <a:latin typeface="Times New Romans"/>
                        </a:rPr>
                        <a:t> 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fr-FR" sz="2400" dirty="0" smtClean="0">
                          <a:latin typeface="Times New Romans"/>
                        </a:rPr>
                        <a:t> </a:t>
                      </a:r>
                      <a:r>
                        <a:rPr lang="fr-FR" sz="2400" dirty="0" err="1" smtClean="0">
                          <a:latin typeface="Times New Romans"/>
                        </a:rPr>
                        <a:t>Hémmagglutination</a:t>
                      </a:r>
                      <a:r>
                        <a:rPr lang="fr-FR" sz="2400" dirty="0" smtClean="0">
                          <a:latin typeface="Times New Romans"/>
                        </a:rPr>
                        <a:t> indirecte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fr-FR" sz="2400" dirty="0" smtClean="0">
                          <a:latin typeface="Times New Romans"/>
                        </a:rPr>
                        <a:t> Immunofluorescence indirecte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fr-FR" sz="2400" dirty="0" smtClean="0">
                          <a:latin typeface="Times New Romans"/>
                        </a:rPr>
                        <a:t> Elisa                      </a:t>
                      </a:r>
                    </a:p>
                    <a:p>
                      <a:pPr>
                        <a:buNone/>
                      </a:pPr>
                      <a:r>
                        <a:rPr lang="fr-FR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s"/>
                        </a:rPr>
                        <a:t>sensibilité++++</a:t>
                      </a:r>
                    </a:p>
                    <a:p>
                      <a:pPr>
                        <a:buNone/>
                      </a:pPr>
                      <a:r>
                        <a:rPr lang="fr-FR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s"/>
                        </a:rPr>
                        <a:t>spécificité++ </a:t>
                      </a:r>
                    </a:p>
                    <a:p>
                      <a:pPr>
                        <a:buNone/>
                      </a:pPr>
                      <a:r>
                        <a:rPr lang="fr-FR" sz="2400" dirty="0" smtClean="0"/>
                        <a:t>      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fr-FR" sz="2400" i="1" u="none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s"/>
                        </a:rPr>
                        <a:t>Méthodes qualitatives</a:t>
                      </a:r>
                      <a:r>
                        <a:rPr lang="fr-FR" sz="2400" u="none" dirty="0" smtClean="0">
                          <a:latin typeface="Times New Romans"/>
                        </a:rPr>
                        <a:t/>
                      </a:r>
                      <a:br>
                        <a:rPr lang="fr-FR" sz="2400" u="none" dirty="0" smtClean="0">
                          <a:latin typeface="Times New Romans"/>
                        </a:rPr>
                      </a:br>
                      <a:endParaRPr lang="fr-FR" sz="2400" u="none" dirty="0" smtClean="0">
                        <a:latin typeface="Times New Roman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fr-FR" sz="2400" u="none" baseline="0" dirty="0" smtClean="0">
                          <a:latin typeface="Times New Romans"/>
                        </a:rPr>
                        <a:t> </a:t>
                      </a:r>
                      <a:r>
                        <a:rPr lang="fr-FR" sz="2400" dirty="0" smtClean="0">
                          <a:latin typeface="Times New Romans"/>
                        </a:rPr>
                        <a:t>Western blot  (bandes 7, 26, 28)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fr-FR" sz="2400" baseline="0" dirty="0" smtClean="0">
                          <a:latin typeface="Times New Romans"/>
                        </a:rPr>
                        <a:t> </a:t>
                      </a:r>
                      <a:r>
                        <a:rPr lang="fr-FR" sz="2400" dirty="0" smtClean="0">
                          <a:latin typeface="Times New Romans"/>
                        </a:rPr>
                        <a:t>Immunoélectrophorèse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fr-FR" sz="2400" baseline="0" dirty="0" smtClean="0">
                          <a:latin typeface="Times New Romans"/>
                        </a:rPr>
                        <a:t> </a:t>
                      </a:r>
                      <a:r>
                        <a:rPr lang="fr-FR" sz="2400" dirty="0" err="1" smtClean="0">
                          <a:latin typeface="Times New Romans"/>
                        </a:rPr>
                        <a:t>Electrosynérèse</a:t>
                      </a:r>
                      <a:r>
                        <a:rPr lang="fr-FR" sz="2400" dirty="0" smtClean="0">
                          <a:latin typeface="Times New Romans"/>
                        </a:rPr>
                        <a:t> (1a15 arcs)(arc 5)</a:t>
                      </a:r>
                    </a:p>
                    <a:p>
                      <a:r>
                        <a:rPr lang="fr-FR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s"/>
                        </a:rPr>
                        <a:t>Spécificité</a:t>
                      </a:r>
                      <a:r>
                        <a:rPr lang="fr-FR" sz="24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s"/>
                        </a:rPr>
                        <a:t> </a:t>
                      </a:r>
                      <a:r>
                        <a:rPr lang="fr-FR" sz="240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s"/>
                        </a:rPr>
                        <a:t>trés</a:t>
                      </a:r>
                      <a:r>
                        <a:rPr lang="fr-FR" sz="24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s"/>
                        </a:rPr>
                        <a:t> bonne</a:t>
                      </a:r>
                      <a:endParaRPr lang="fr-FR" sz="24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s"/>
                      </a:endParaRPr>
                    </a:p>
                    <a:p>
                      <a:r>
                        <a:rPr lang="fr-FR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s"/>
                        </a:rPr>
                        <a:t>Sensibilité insuffisante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4653136"/>
            <a:ext cx="94330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solidFill>
                  <a:schemeClr val="bg1"/>
                </a:solidFill>
                <a:latin typeface="Times New Romans"/>
              </a:rPr>
              <a:t> </a:t>
            </a:r>
            <a:r>
              <a:rPr lang="fr-FR" sz="2400" dirty="0" smtClean="0">
                <a:latin typeface="Times New Romans"/>
              </a:rPr>
              <a:t>Un résultat - ne permet jamais d’exclure une </a:t>
            </a:r>
            <a:r>
              <a:rPr lang="fr-FR" sz="2400" dirty="0" err="1" smtClean="0">
                <a:latin typeface="Times New Romans"/>
              </a:rPr>
              <a:t>hydatidose</a:t>
            </a:r>
            <a:r>
              <a:rPr lang="fr-FR" sz="2400" dirty="0" smtClean="0">
                <a:latin typeface="Times New Roman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fr-FR" sz="2400" b="1" dirty="0" smtClean="0">
                <a:latin typeface="Times New Romans"/>
              </a:rPr>
              <a:t>    </a:t>
            </a:r>
            <a:endParaRPr lang="fr-FR" sz="2400" dirty="0">
              <a:latin typeface="Times New Rom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472" y="5429264"/>
            <a:ext cx="6286544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 smtClean="0"/>
              <a:t>La sérologie est + (95% = </a:t>
            </a:r>
            <a:r>
              <a:rPr lang="fr-FR" sz="2000" b="1" dirty="0" smtClean="0">
                <a:solidFill>
                  <a:srgbClr val="C00000"/>
                </a:solidFill>
              </a:rPr>
              <a:t>foie</a:t>
            </a:r>
            <a:r>
              <a:rPr lang="fr-FR" sz="2000" b="1" dirty="0" smtClean="0"/>
              <a:t>)</a:t>
            </a:r>
            <a:endParaRPr lang="fr-FR" sz="2000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000" b="1" dirty="0" smtClean="0">
                <a:solidFill>
                  <a:srgbClr val="C00000"/>
                </a:solidFill>
              </a:rPr>
              <a:t>poumon et cerveau</a:t>
            </a:r>
            <a:r>
              <a:rPr lang="fr-FR" sz="2000" b="1" dirty="0" smtClean="0"/>
              <a:t> la sérologie souvent  (-)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196752"/>
            <a:ext cx="87129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50"/>
              </a:buClr>
            </a:pPr>
            <a:r>
              <a:rPr lang="fr-FR" sz="2400" b="1" i="1" dirty="0" smtClean="0">
                <a:latin typeface="Times New Romans"/>
              </a:rPr>
              <a:t>Chirurgical</a:t>
            </a:r>
          </a:p>
          <a:p>
            <a:pPr marL="457200" indent="-457200">
              <a:lnSpc>
                <a:spcPct val="150000"/>
              </a:lnSpc>
              <a:buClr>
                <a:srgbClr val="00B050"/>
              </a:buClr>
            </a:pPr>
            <a:r>
              <a:rPr lang="fr-FR" sz="2400" b="1" i="1" dirty="0" smtClean="0">
                <a:latin typeface="Times New Romans"/>
              </a:rPr>
              <a:t>    </a:t>
            </a:r>
            <a:r>
              <a:rPr lang="fr-FR" sz="2400" i="1" dirty="0" smtClean="0">
                <a:latin typeface="Times New Romans"/>
              </a:rPr>
              <a:t>exérèse complète, traitement de choix lorsqu’il est possible</a:t>
            </a:r>
          </a:p>
          <a:p>
            <a:pPr marL="457200" indent="-457200">
              <a:lnSpc>
                <a:spcPct val="150000"/>
              </a:lnSpc>
              <a:buClr>
                <a:srgbClr val="00B050"/>
              </a:buClr>
            </a:pPr>
            <a:r>
              <a:rPr lang="fr-FR" sz="2400" i="1" dirty="0" smtClean="0">
                <a:latin typeface="Times New Romans"/>
              </a:rPr>
              <a:t>      la  PAIR ?</a:t>
            </a:r>
          </a:p>
          <a:p>
            <a:pPr marL="457200" indent="-457200">
              <a:lnSpc>
                <a:spcPct val="150000"/>
              </a:lnSpc>
              <a:buClr>
                <a:srgbClr val="00B050"/>
              </a:buClr>
            </a:pPr>
            <a:r>
              <a:rPr lang="fr-FR" sz="24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s"/>
              </a:rPr>
              <a:t> </a:t>
            </a:r>
            <a:r>
              <a:rPr lang="fr-FR" sz="2400" dirty="0" smtClean="0">
                <a:latin typeface="Times New Romans"/>
              </a:rPr>
              <a:t>   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9792" y="404664"/>
            <a:ext cx="316835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  <a:latin typeface="Times New Romans"/>
              </a:rPr>
              <a:t>TRAITEMENT</a:t>
            </a:r>
            <a:endParaRPr lang="fr-FR" sz="24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  <a:latin typeface="Times New Rom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573016"/>
            <a:ext cx="83884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 smtClean="0">
                <a:solidFill>
                  <a:schemeClr val="bg1"/>
                </a:solidFill>
                <a:latin typeface="Time New Romans"/>
              </a:rPr>
              <a:t>gagner du temps opératoire sans risque</a:t>
            </a:r>
          </a:p>
          <a:p>
            <a:pPr>
              <a:lnSpc>
                <a:spcPct val="150000"/>
              </a:lnSpc>
            </a:pPr>
            <a:r>
              <a:rPr lang="fr-FR" sz="2400" dirty="0" smtClean="0">
                <a:solidFill>
                  <a:schemeClr val="bg1"/>
                </a:solidFill>
                <a:latin typeface="Time New Romans"/>
              </a:rPr>
              <a:t> de contamination de la paroi </a:t>
            </a:r>
            <a:endParaRPr lang="fr-FR" sz="2400" dirty="0">
              <a:solidFill>
                <a:schemeClr val="bg1"/>
              </a:solidFill>
              <a:latin typeface="Time New Rom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64502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i="1" dirty="0" smtClean="0">
                <a:latin typeface="Times New Romans"/>
              </a:rPr>
              <a:t>Médical</a:t>
            </a:r>
          </a:p>
          <a:p>
            <a:pPr>
              <a:lnSpc>
                <a:spcPct val="150000"/>
              </a:lnSpc>
            </a:pPr>
            <a:r>
              <a:rPr lang="fr-FR" sz="2400" dirty="0" smtClean="0">
                <a:latin typeface="Times New Romans"/>
              </a:rPr>
              <a:t>     </a:t>
            </a:r>
            <a:r>
              <a:rPr lang="fr-FR" sz="2400" dirty="0" err="1" smtClean="0">
                <a:latin typeface="Times New Romans"/>
              </a:rPr>
              <a:t>Mébendazole</a:t>
            </a:r>
            <a:r>
              <a:rPr lang="fr-FR" sz="2400" dirty="0" smtClean="0">
                <a:latin typeface="Times New Romans"/>
              </a:rPr>
              <a:t>  ou </a:t>
            </a:r>
            <a:r>
              <a:rPr lang="fr-FR" sz="2400" dirty="0" err="1" smtClean="0">
                <a:latin typeface="Times New Romans"/>
              </a:rPr>
              <a:t>Albendazole</a:t>
            </a:r>
            <a:r>
              <a:rPr lang="fr-FR" sz="2400" dirty="0" smtClean="0">
                <a:latin typeface="Times New Romans"/>
              </a:rPr>
              <a:t>?</a:t>
            </a:r>
            <a:endParaRPr lang="fr-FR" sz="2400" dirty="0">
              <a:latin typeface="Times New Rom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72400" y="3717032"/>
            <a:ext cx="718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latin typeface="Time New Romans"/>
              </a:rPr>
              <a:t>PAIR</a:t>
            </a:r>
            <a:endParaRPr lang="fr-F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C:\Users\samah\Desktop\larv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8640"/>
            <a:ext cx="7092280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  <a:latin typeface="Times New Romans"/>
              </a:rPr>
              <a:t>                              PRÉVENTION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chemeClr val="bg1"/>
              </a:solidFill>
              <a:latin typeface="Times New Rom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9512" y="908720"/>
            <a:ext cx="8712968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solidFill>
                <a:schemeClr val="bg1"/>
              </a:solidFill>
              <a:latin typeface="Time New Romans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Abattage des chiens errants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 Déparasitage des chiens domestiques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 Hygiène des mains (caresses, présence intra domiciliaire       des chiens)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Hygiène alimentaire(crudités souillés)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 L'établissement d’abattoirs officiels, bien contrôlés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 Destruction des viscères d’animaux de boucherie Infestés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r-FR" sz="2400" dirty="0" smtClean="0">
                <a:latin typeface="Time New Romans"/>
              </a:rPr>
              <a:t> Education sanitaire et surveillance des personnes à risque (agriculteurs, bergers, chasseurs…)</a:t>
            </a:r>
            <a:endParaRPr lang="fr-FR" sz="2400" dirty="0">
              <a:latin typeface="Time New Roman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25470"/>
          </a:xfrm>
          <a:gradFill rotWithShape="1">
            <a:gsLst>
              <a:gs pos="0">
                <a:schemeClr val="bg1"/>
              </a:gs>
              <a:gs pos="100000">
                <a:srgbClr val="99CCFF">
                  <a:alpha val="39998"/>
                </a:srgbClr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accent2"/>
            </a:solidFill>
          </a:ln>
        </p:spPr>
        <p:txBody>
          <a:bodyPr>
            <a:normAutofit fontScale="90000"/>
          </a:bodyPr>
          <a:lstStyle/>
          <a:p>
            <a:pPr rtl="0" eaLnBrk="1" hangingPunct="1"/>
            <a:r>
              <a:rPr lang="fr-FR" sz="2800" b="1" dirty="0" smtClean="0">
                <a:solidFill>
                  <a:srgbClr val="3333CC"/>
                </a:solidFill>
                <a:latin typeface="Calibri Light" pitchFamily="34" charset="0"/>
              </a:rPr>
              <a:t/>
            </a:r>
            <a:br>
              <a:rPr lang="fr-FR" sz="2800" b="1" dirty="0" smtClean="0">
                <a:solidFill>
                  <a:srgbClr val="3333CC"/>
                </a:solidFill>
                <a:latin typeface="Calibri Light" pitchFamily="34" charset="0"/>
              </a:rPr>
            </a:br>
            <a:r>
              <a:rPr lang="fr-FR" sz="3600" b="1" dirty="0" smtClean="0">
                <a:solidFill>
                  <a:srgbClr val="FF0000"/>
                </a:solidFill>
                <a:latin typeface="Calibri Light" pitchFamily="34" charset="0"/>
              </a:rPr>
              <a:t>Echinococcose alvéolaire</a:t>
            </a:r>
            <a:br>
              <a:rPr lang="fr-FR" sz="3600" b="1" dirty="0" smtClean="0">
                <a:solidFill>
                  <a:srgbClr val="FF0000"/>
                </a:solidFill>
                <a:latin typeface="Calibri Light" pitchFamily="34" charset="0"/>
              </a:rPr>
            </a:br>
            <a:r>
              <a:rPr lang="fr-FR" sz="3600" b="1" i="1" dirty="0" smtClean="0">
                <a:solidFill>
                  <a:srgbClr val="FF0000"/>
                </a:solidFill>
                <a:latin typeface="Calibri Light" pitchFamily="34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Calibri Light" pitchFamily="34" charset="0"/>
              </a:rPr>
              <a:t> </a:t>
            </a:r>
            <a:endParaRPr lang="fr-FR" sz="2800" b="1" dirty="0" smtClean="0">
              <a:solidFill>
                <a:srgbClr val="FF0000"/>
              </a:solidFill>
              <a:latin typeface="Calibri Light" pitchFamily="34" charset="0"/>
            </a:endParaRPr>
          </a:p>
        </p:txBody>
      </p:sp>
      <p:pic>
        <p:nvPicPr>
          <p:cNvPr id="7" name="Picture 11" descr="513309517_f97d46df0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643050"/>
            <a:ext cx="3071834" cy="5000660"/>
          </a:xfrm>
          <a:prstGeom prst="rect">
            <a:avLst/>
          </a:prstGeom>
          <a:noFill/>
        </p:spPr>
      </p:pic>
      <p:pic>
        <p:nvPicPr>
          <p:cNvPr id="11" name="Picture 4" descr="Echinococcosis of the liver.">
            <a:hlinkClick r:id="rId3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6248" y="1785926"/>
            <a:ext cx="4200552" cy="23350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6" name="Picture 3" descr="D:\documents\Base de données parasitologie\Base de données.CESTODES\E.multi.Ad.Photo.jpg"/>
          <p:cNvPicPr>
            <a:picLocks noChangeAspect="1" noChangeArrowheads="1"/>
          </p:cNvPicPr>
          <p:nvPr/>
        </p:nvPicPr>
        <p:blipFill>
          <a:blip r:embed="rId5" cstate="print">
            <a:lum bright="-6000"/>
          </a:blip>
          <a:srcRect/>
          <a:stretch>
            <a:fillRect/>
          </a:stretch>
        </p:blipFill>
        <p:spPr bwMode="auto">
          <a:xfrm rot="5400000">
            <a:off x="-857279" y="2500294"/>
            <a:ext cx="5643578" cy="307183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ZoneTexte 8"/>
          <p:cNvSpPr txBox="1"/>
          <p:nvPr/>
        </p:nvSpPr>
        <p:spPr>
          <a:xfrm>
            <a:off x="5786446" y="1357298"/>
            <a:ext cx="135037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b="1" dirty="0" smtClean="0"/>
              <a:t>Larve ( Foie)</a:t>
            </a:r>
            <a:endParaRPr lang="fr-FR" b="1" dirty="0"/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500034" y="1357298"/>
            <a:ext cx="1714512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 i="1" dirty="0" err="1" smtClean="0"/>
              <a:t>Echinococcusmultilocularis</a:t>
            </a:r>
            <a:endParaRPr lang="fr-FR" sz="2000" b="1" i="1" dirty="0"/>
          </a:p>
        </p:txBody>
      </p:sp>
      <p:pic>
        <p:nvPicPr>
          <p:cNvPr id="14" name="Picture 9" descr="fox_150x12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5648325"/>
            <a:ext cx="1428750" cy="12096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0177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214810" y="1785926"/>
            <a:ext cx="4357718" cy="507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6" descr="350px-Feldmaus_Microtus_arvali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57620" y="5214950"/>
            <a:ext cx="1368425" cy="1643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2" descr="http://ts2.mm.bing.net/th?id=H.4551485444457377&amp;pid=15.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292080" y="5157192"/>
            <a:ext cx="1714512" cy="1700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4" descr="Image1130 cysticerco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68" y="1071546"/>
            <a:ext cx="5357850" cy="5572164"/>
          </a:xfrm>
          <a:prstGeom prst="rect">
            <a:avLst/>
          </a:prstGeom>
          <a:noFill/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67544" y="260648"/>
            <a:ext cx="8229600" cy="59688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anchor="ctr"/>
          <a:lstStyle/>
          <a:p>
            <a:pPr algn="ctr" rtl="0"/>
            <a:endParaRPr lang="fr-FR" sz="2800" b="1" dirty="0" smtClean="0">
              <a:solidFill>
                <a:srgbClr val="3333CC"/>
              </a:solidFill>
              <a:latin typeface="Calibri Light" pitchFamily="34" charset="0"/>
            </a:endParaRPr>
          </a:p>
          <a:p>
            <a:pPr algn="ctr" rtl="0"/>
            <a:r>
              <a:rPr lang="fr-FR" sz="2800" b="1" dirty="0" smtClean="0">
                <a:solidFill>
                  <a:srgbClr val="FF0000"/>
                </a:solidFill>
                <a:latin typeface="Calibri Light" pitchFamily="34" charset="0"/>
              </a:rPr>
              <a:t>Cysticercose</a:t>
            </a:r>
          </a:p>
          <a:p>
            <a:pPr algn="ctr" rtl="0"/>
            <a:r>
              <a:rPr lang="fr-FR" sz="2800" b="1" i="1" dirty="0" smtClean="0">
                <a:solidFill>
                  <a:srgbClr val="FF0000"/>
                </a:solidFill>
                <a:latin typeface="Calibri Light" pitchFamily="34" charset="0"/>
              </a:rPr>
              <a:t> </a:t>
            </a:r>
            <a:endParaRPr lang="fr-FR" sz="2800" b="1" i="1" dirty="0">
              <a:solidFill>
                <a:srgbClr val="FF0000"/>
              </a:solidFill>
              <a:latin typeface="Calibri Light" pitchFamily="34" charset="0"/>
            </a:endParaRPr>
          </a:p>
        </p:txBody>
      </p:sp>
      <p:pic>
        <p:nvPicPr>
          <p:cNvPr id="3" name="Picture 8" descr="t185601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7020272" y="4000504"/>
            <a:ext cx="1838008" cy="28574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5" descr="D:\documents\Base de données parasitologie\Base de données.CESTODES\T.solium.Cystic.jpg"/>
          <p:cNvPicPr>
            <a:picLocks noChangeAspect="1" noChangeArrowheads="1"/>
          </p:cNvPicPr>
          <p:nvPr/>
        </p:nvPicPr>
        <p:blipFill>
          <a:blip r:embed="rId4" cstate="print">
            <a:lum bright="6000" contrast="12000"/>
          </a:blip>
          <a:srcRect/>
          <a:stretch>
            <a:fillRect/>
          </a:stretch>
        </p:blipFill>
        <p:spPr bwMode="auto">
          <a:xfrm>
            <a:off x="214282" y="3143248"/>
            <a:ext cx="2982914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 descr="D:\documents\Base de données parasitologie\Base de données.CESTODES\Cysticer.Boeuf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4282" y="5072074"/>
            <a:ext cx="3000396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 descr="D:\documents\Base de données parasitologie\Base de données.CESTODES\AdulteTSag Photo.jpg"/>
          <p:cNvPicPr>
            <a:picLocks noChangeAspect="1" noChangeArrowheads="1"/>
          </p:cNvPicPr>
          <p:nvPr/>
        </p:nvPicPr>
        <p:blipFill>
          <a:blip r:embed="rId6" cstate="print">
            <a:lum contrast="24000"/>
          </a:blip>
          <a:srcRect/>
          <a:stretch>
            <a:fillRect/>
          </a:stretch>
        </p:blipFill>
        <p:spPr bwMode="auto">
          <a:xfrm>
            <a:off x="142844" y="1142984"/>
            <a:ext cx="3214678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357158" y="1357298"/>
            <a:ext cx="1143008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sz="2000" b="1" i="1" dirty="0" smtClean="0"/>
              <a:t> </a:t>
            </a:r>
            <a:r>
              <a:rPr lang="fr-FR" sz="2000" b="1" i="1" dirty="0" err="1" smtClean="0"/>
              <a:t>T.solium</a:t>
            </a:r>
            <a:endParaRPr lang="fr-FR" sz="2000" b="1" i="1" dirty="0"/>
          </a:p>
        </p:txBody>
      </p:sp>
      <p:sp>
        <p:nvSpPr>
          <p:cNvPr id="15" name="Rectangle 14"/>
          <p:cNvSpPr/>
          <p:nvPr/>
        </p:nvSpPr>
        <p:spPr>
          <a:xfrm>
            <a:off x="3786182" y="1357298"/>
            <a:ext cx="229838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b="1" i="1" dirty="0" err="1" smtClean="0"/>
              <a:t>Cysticercus</a:t>
            </a:r>
            <a:r>
              <a:rPr lang="fr-FR" b="1" i="1" dirty="0" smtClean="0"/>
              <a:t> </a:t>
            </a:r>
            <a:r>
              <a:rPr lang="fr-FR" b="1" i="1" dirty="0" err="1" smtClean="0"/>
              <a:t>cellulosae</a:t>
            </a:r>
            <a:endParaRPr lang="fr-FR" b="1" i="1" dirty="0" smtClean="0"/>
          </a:p>
          <a:p>
            <a:r>
              <a:rPr lang="fr-FR" b="1" i="1" dirty="0" smtClean="0"/>
              <a:t>(</a:t>
            </a:r>
            <a:r>
              <a:rPr lang="fr-FR" b="1" i="1" dirty="0" err="1" smtClean="0"/>
              <a:t>Cerveau,œil,cutanée</a:t>
            </a:r>
            <a:r>
              <a:rPr lang="fr-FR" b="1" i="1" dirty="0" smtClean="0"/>
              <a:t>)</a:t>
            </a:r>
            <a:endParaRPr lang="fr-FR" i="1" dirty="0"/>
          </a:p>
        </p:txBody>
      </p:sp>
      <p:pic>
        <p:nvPicPr>
          <p:cNvPr id="49154" name="Picture 2" descr="http://ts2.mm.bing.net/th?id=H.4551485444457377&amp;pid=15.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4000500"/>
            <a:ext cx="1304925" cy="2857500"/>
          </a:xfrm>
          <a:prstGeom prst="rect">
            <a:avLst/>
          </a:prstGeom>
          <a:noFill/>
        </p:spPr>
      </p:pic>
      <p:pic>
        <p:nvPicPr>
          <p:cNvPr id="49156" name="Picture 4" descr="http://ts3.explicit.bing.net/th?id=H.4519917408749278&amp;pid=15.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500430" y="4000500"/>
            <a:ext cx="1857388" cy="2857500"/>
          </a:xfrm>
          <a:prstGeom prst="rect">
            <a:avLst/>
          </a:prstGeom>
          <a:noFill/>
        </p:spPr>
      </p:pic>
      <p:pic>
        <p:nvPicPr>
          <p:cNvPr id="16" name="Picture 2" descr="http://ts2.mm.bing.net/th?id=H.4551485444457377&amp;pid=15.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48064" y="4000500"/>
            <a:ext cx="1857388" cy="2857500"/>
          </a:xfrm>
          <a:prstGeom prst="rect">
            <a:avLst/>
          </a:prstGeom>
          <a:noFill/>
        </p:spPr>
      </p:pic>
      <p:sp>
        <p:nvSpPr>
          <p:cNvPr id="18" name="ZoneTexte 17"/>
          <p:cNvSpPr txBox="1"/>
          <p:nvPr/>
        </p:nvSpPr>
        <p:spPr>
          <a:xfrm>
            <a:off x="7740352" y="6660068"/>
            <a:ext cx="75212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≈1 cm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0" name="Rectangle 14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796908"/>
          </a:xfrm>
          <a:gradFill rotWithShape="1">
            <a:gsLst>
              <a:gs pos="0">
                <a:srgbClr val="FFFFFF"/>
              </a:gs>
              <a:gs pos="100000">
                <a:srgbClr val="99CCFF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accent2"/>
            </a:solidFill>
          </a:ln>
        </p:spPr>
        <p:txBody>
          <a:bodyPr/>
          <a:lstStyle/>
          <a:p>
            <a:pPr rtl="0"/>
            <a:r>
              <a:rPr lang="fr-FR" sz="3200" b="1" dirty="0" smtClean="0">
                <a:solidFill>
                  <a:srgbClr val="FF0000"/>
                </a:solidFill>
                <a:latin typeface="Calibri Light" pitchFamily="34" charset="0"/>
              </a:rPr>
              <a:t>Cénurose </a:t>
            </a:r>
            <a:endParaRPr lang="en-US" sz="3200" b="1" i="1" dirty="0" smtClean="0">
              <a:solidFill>
                <a:srgbClr val="FF0000"/>
              </a:solidFill>
              <a:latin typeface="Calibri Light" pitchFamily="34" charset="0"/>
            </a:endParaRPr>
          </a:p>
        </p:txBody>
      </p:sp>
      <p:pic>
        <p:nvPicPr>
          <p:cNvPr id="39961" name="Picture 25" descr="FIG_10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 cstate="print"/>
          <a:srcRect/>
          <a:stretch>
            <a:fillRect/>
          </a:stretch>
        </p:blipFill>
        <p:spPr>
          <a:xfrm rot="5400000">
            <a:off x="4714876" y="-71462"/>
            <a:ext cx="2928958" cy="5500726"/>
          </a:xfrm>
        </p:spPr>
      </p:pic>
      <p:pic>
        <p:nvPicPr>
          <p:cNvPr id="19" name="Picture 5" descr="coenurus">
            <a:hlinkClick r:id="rId3"/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3428992" y="4335440"/>
            <a:ext cx="2571768" cy="25225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0" name="Picture 5" descr="image2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6228184" y="4286232"/>
            <a:ext cx="2747952" cy="25717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ZoneTexte 10"/>
          <p:cNvSpPr txBox="1"/>
          <p:nvPr/>
        </p:nvSpPr>
        <p:spPr>
          <a:xfrm>
            <a:off x="3571868" y="1285860"/>
            <a:ext cx="107747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b="1" dirty="0" smtClean="0"/>
              <a:t>Cénure</a:t>
            </a:r>
          </a:p>
          <a:p>
            <a:r>
              <a:rPr lang="fr-FR" b="1" dirty="0" smtClean="0"/>
              <a:t>(</a:t>
            </a:r>
            <a:r>
              <a:rPr lang="fr-FR" b="1" dirty="0" err="1" smtClean="0"/>
              <a:t>Ceveau</a:t>
            </a:r>
            <a:r>
              <a:rPr lang="fr-FR" b="1" dirty="0" smtClean="0"/>
              <a:t>) </a:t>
            </a:r>
            <a:endParaRPr lang="fr-FR" b="1" dirty="0"/>
          </a:p>
        </p:txBody>
      </p:sp>
      <p:pic>
        <p:nvPicPr>
          <p:cNvPr id="48130" name="Picture 2" descr="http://ts2.mm.bing.net/th?id=H.5019778545091089&amp;pid=15.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2844" y="1357298"/>
            <a:ext cx="3071834" cy="5500702"/>
          </a:xfrm>
          <a:prstGeom prst="rect">
            <a:avLst/>
          </a:prstGeom>
          <a:noFill/>
        </p:spPr>
      </p:pic>
      <p:pic>
        <p:nvPicPr>
          <p:cNvPr id="48132" name="Picture 4" descr="http://ts4.mm.bing.net/th?id=H.5015771341652119&amp;pid=15.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5010149"/>
            <a:ext cx="1285884" cy="1847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3" name="ZoneTexte 12"/>
          <p:cNvSpPr txBox="1"/>
          <p:nvPr/>
        </p:nvSpPr>
        <p:spPr>
          <a:xfrm>
            <a:off x="7143768" y="6357958"/>
            <a:ext cx="75212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≈2 cm</a:t>
            </a:r>
            <a:endParaRPr lang="fr-FR" dirty="0"/>
          </a:p>
        </p:txBody>
      </p:sp>
      <p:pic>
        <p:nvPicPr>
          <p:cNvPr id="48138" name="Picture 10" descr="http://ts1.mm.bing.net/th?id=H.5044809616460052&amp;pid=15.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86116" y="4286256"/>
            <a:ext cx="1429900" cy="25717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2" descr="http://ts2.mm.bing.net/th?id=H.4551485444457377&amp;pid=15.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 flipH="1">
            <a:off x="4860031" y="4293096"/>
            <a:ext cx="1368153" cy="25649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214282" y="1428736"/>
            <a:ext cx="2053462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sz="2000" b="1" i="1" dirty="0" smtClean="0"/>
              <a:t>Ténia </a:t>
            </a:r>
            <a:r>
              <a:rPr lang="fr-FR" sz="2000" b="1" i="1" dirty="0" err="1" smtClean="0"/>
              <a:t>multiceps</a:t>
            </a:r>
            <a:endParaRPr lang="fr-FR" sz="20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Sparganosis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142984"/>
            <a:ext cx="2819390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33"/>
          <p:cNvSpPr txBox="1">
            <a:spLocks noChangeArrowheads="1"/>
          </p:cNvSpPr>
          <p:nvPr/>
        </p:nvSpPr>
        <p:spPr>
          <a:xfrm>
            <a:off x="395536" y="260648"/>
            <a:ext cx="8229600" cy="65403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>
                  <a:alpha val="50000"/>
                </a:srgbClr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accent2"/>
            </a:solidFill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itchFamily="34" charset="0"/>
                <a:ea typeface="+mj-ea"/>
                <a:cs typeface="+mj-cs"/>
              </a:rPr>
              <a:t>Sparganose</a:t>
            </a:r>
            <a:endParaRPr kumimoji="0" lang="en-US" sz="3200" b="1" i="1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 pitchFamily="34" charset="0"/>
              <a:ea typeface="+mj-ea"/>
              <a:cs typeface="+mj-cs"/>
            </a:endParaRPr>
          </a:p>
        </p:txBody>
      </p:sp>
      <p:pic>
        <p:nvPicPr>
          <p:cNvPr id="3" name="Picture 5" descr="Sparganosis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000496" y="1142984"/>
            <a:ext cx="4746629" cy="5370539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4143372" y="1214422"/>
            <a:ext cx="352256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b="1" dirty="0" smtClean="0"/>
              <a:t>Larve  </a:t>
            </a:r>
            <a:r>
              <a:rPr lang="fr-FR" b="1" dirty="0" err="1" smtClean="0"/>
              <a:t>plérocercoide</a:t>
            </a:r>
            <a:r>
              <a:rPr lang="fr-FR" b="1" dirty="0" smtClean="0"/>
              <a:t> ou </a:t>
            </a:r>
            <a:r>
              <a:rPr lang="fr-FR" b="1" dirty="0" err="1" smtClean="0"/>
              <a:t>sparganum</a:t>
            </a:r>
            <a:endParaRPr lang="fr-FR" b="1" dirty="0" smtClean="0"/>
          </a:p>
          <a:p>
            <a:r>
              <a:rPr lang="fr-FR" b="1" dirty="0" smtClean="0"/>
              <a:t>(Œil,….)</a:t>
            </a:r>
            <a:endParaRPr lang="fr-FR" b="1" dirty="0"/>
          </a:p>
        </p:txBody>
      </p:sp>
      <p:pic>
        <p:nvPicPr>
          <p:cNvPr id="6" name="Picture 4" descr="http://ts4.mm.bing.net/th?id=H.5015771341652119&amp;pid=15.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214950"/>
            <a:ext cx="1285884" cy="1643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ZoneTexte 6"/>
          <p:cNvSpPr txBox="1"/>
          <p:nvPr/>
        </p:nvSpPr>
        <p:spPr>
          <a:xfrm>
            <a:off x="214282" y="1285860"/>
            <a:ext cx="21196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b="1" i="1" dirty="0" err="1" smtClean="0"/>
              <a:t>Spirometra</a:t>
            </a:r>
            <a:r>
              <a:rPr lang="fr-FR" b="1" i="1" dirty="0" smtClean="0"/>
              <a:t> </a:t>
            </a:r>
            <a:r>
              <a:rPr lang="fr-FR" b="1" i="1" dirty="0" err="1" smtClean="0"/>
              <a:t>mansoni</a:t>
            </a:r>
            <a:endParaRPr lang="fr-FR" b="1" i="1" dirty="0"/>
          </a:p>
        </p:txBody>
      </p:sp>
      <p:pic>
        <p:nvPicPr>
          <p:cNvPr id="47106" name="Picture 2" descr="http://ts1.mm.bing.net/th?id=H.5002912180865404&amp;pid=15.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28794" y="5214950"/>
            <a:ext cx="1357322" cy="1643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7108" name="Picture 4" descr="http://ts4.mm.bing.net/th?id=H.4648912464512531&amp;pid=15.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64088" y="5286388"/>
            <a:ext cx="1296144" cy="15716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7110" name="Picture 6" descr="http://ts2.mm.bing.net/th?id=H.4686763982522477&amp;pid=15.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67944" y="5286388"/>
            <a:ext cx="1296144" cy="15716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2" descr="http://ts2.mm.bing.net/th?id=H.4551485444457377&amp;pid=15.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32240" y="5313772"/>
            <a:ext cx="2143108" cy="15716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5238</TotalTime>
  <Words>828</Words>
  <Application>Microsoft Office PowerPoint</Application>
  <PresentationFormat>Affichage à l'écran (4:3)</PresentationFormat>
  <Paragraphs>189</Paragraphs>
  <Slides>29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9" baseType="lpstr">
      <vt:lpstr>Aharoni</vt:lpstr>
      <vt:lpstr>Arial</vt:lpstr>
      <vt:lpstr>Calibri</vt:lpstr>
      <vt:lpstr>Calibri Light</vt:lpstr>
      <vt:lpstr>Comic Sans MS</vt:lpstr>
      <vt:lpstr>Time New Romans</vt:lpstr>
      <vt:lpstr>Times New Roman</vt:lpstr>
      <vt:lpstr>Times New Romans</vt:lpstr>
      <vt:lpstr>Wingdings</vt:lpstr>
      <vt:lpstr>Thème Office</vt:lpstr>
      <vt:lpstr>Présentation PowerPoint</vt:lpstr>
      <vt:lpstr>Présentation PowerPoint</vt:lpstr>
      <vt:lpstr>Présentation PowerPoint</vt:lpstr>
      <vt:lpstr>                   INTRODUCTION </vt:lpstr>
      <vt:lpstr> </vt:lpstr>
      <vt:lpstr>Présentation PowerPoint</vt:lpstr>
      <vt:lpstr>Présentation PowerPoint</vt:lpstr>
      <vt:lpstr>le parasite </vt:lpstr>
      <vt:lpstr>Présentation PowerPoint</vt:lpstr>
      <vt:lpstr>Présentation PowerPoint</vt:lpstr>
      <vt:lpstr>Présentation PowerPoint</vt:lpstr>
      <vt:lpstr>Présentation PowerPoint</vt:lpstr>
      <vt:lpstr> la larve hydatide </vt:lpstr>
      <vt:lpstr>Présentation PowerPoint</vt:lpstr>
      <vt:lpstr>Présentation PowerPoint</vt:lpstr>
      <vt:lpstr> clinique </vt:lpstr>
      <vt:lpstr>Présentation PowerPoint</vt:lpstr>
      <vt:lpstr>Présentation PowerPoint</vt:lpstr>
      <vt:lpstr>Présentation PowerPoint</vt:lpstr>
      <vt:lpstr>DIAGNOSTIC </vt:lpstr>
      <vt:lpstr>                      IMAGERIE </vt:lpstr>
      <vt:lpstr>Présentation PowerPoint</vt:lpstr>
      <vt:lpstr>Présentation PowerPoint</vt:lpstr>
      <vt:lpstr>Présentation PowerPoint</vt:lpstr>
      <vt:lpstr>Présentation PowerPoint</vt:lpstr>
      <vt:lpstr> Echinococcose alvéolaire   </vt:lpstr>
      <vt:lpstr>Présentation PowerPoint</vt:lpstr>
      <vt:lpstr>Cénurose </vt:lpstr>
      <vt:lpstr>Présentation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Meryem</dc:creator>
  <cp:lastModifiedBy>NEW.PC</cp:lastModifiedBy>
  <cp:revision>155</cp:revision>
  <dcterms:created xsi:type="dcterms:W3CDTF">2012-04-09T18:00:58Z</dcterms:created>
  <dcterms:modified xsi:type="dcterms:W3CDTF">2022-10-30T06:12:21Z</dcterms:modified>
</cp:coreProperties>
</file>