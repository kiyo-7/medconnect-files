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mf" ContentType="image/x-wmf"/>
  <Default Extension="gif" ContentType="image/gif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drawings/vmlDrawing5.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13.xml" ContentType="application/vnd.openxmlformats-officedocument.presentationml.notesSlide+xml"/>
  <Override PartName="/ppt/comments/comment1.xml" ContentType="application/vnd.openxmlformats-officedocument.presentationml.comments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  <p:sldMasterId id="2147483649" r:id="rId2"/>
  </p:sldMasterIdLst>
  <p:notesMasterIdLst>
    <p:notesMasterId r:id="rId3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type="screen4x3" cy="6858000" cx="9144000"/>
  <p:notesSz cx="6858000" cy="9144000"/>
  <p:defaultTextStyle>
    <a:defPPr>
      <a:defRPr lang="fr-FR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 xmlns:r="http://schemas.openxmlformats.org/officeDocument/2006/relationships" xmlns:a="http://schemas.openxmlformats.org/drawingml/2006/main">
  <p:cmAuthor id="1" name="RAFIKA" initials="R" lastIdx="1" clrIdx="0"/>
</p:cmAuthorLst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showOutlineIcons="0">
    <p:restoredLeft sz="19859" autoAdjust="0"/>
    <p:restoredTop sz="88612" autoAdjust="0"/>
  </p:normalViewPr>
  <p:slideViewPr>
    <p:cSldViewPr>
      <p:cViewPr>
        <p:scale>
          <a:sx n="70" d="100"/>
          <a:sy n="70" d="100"/>
        </p:scale>
        <p:origin x="-112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58" y="57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08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tableStyles" Target="tableStyles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commentAuthors" Target="commentAuthors.xml"/><Relationship Id="rId48" Type="http://schemas.openxmlformats.org/officeDocument/2006/relationships/theme" Target="theme/theme1.xml"/></Relationships>
</file>

<file path=ppt/comments/comment1.xml><?xml version="1.0" encoding="utf-8"?>
<p:cmLst xmlns:p="http://schemas.openxmlformats.org/presentationml/2006/main" xmlns:r="http://schemas.openxmlformats.org/officeDocument/2006/relationships" xmlns:a="http://schemas.openxmlformats.org/drawingml/2006/main">
  <p:cm authorId="1" dt="2008-04-14T23:49:40.630" idx="1">
    <p:pos x="10" y="10"/>
    <p:text/>
  </p:cm>
</p:cmLst>
</file>

<file path=ppt/drawings/_rels/vmlDrawing5.vml.rels><?xml version="1.0" encoding="UTF-8" standalone="yes"?>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5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1048936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102D447B-341C-4F9E-9BE3-B7015B4B33F6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937" name="Espace réservé de l'image des diapositives 3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fr-FR"/>
          </a:p>
        </p:txBody>
      </p:sp>
      <p:sp>
        <p:nvSpPr>
          <p:cNvPr id="1048938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939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1048940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5B2A868-B42D-4C7F-80BA-362AA2C00952}" type="slidenum">
              <a:rPr lang="fr-FR" smtClean="0"/>
              <a:t>‹N°›</a:t>
            </a:fld>
            <a:endParaRPr lang="fr-FR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Espace réservé de l'image des diapositives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0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fr-FR"/>
          </a:p>
        </p:txBody>
      </p:sp>
      <p:sp>
        <p:nvSpPr>
          <p:cNvPr id="1048611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i="0" lang="fr-FR" smtClean="0">
                <a:solidFill>
                  <a:srgbClr val="444444"/>
                </a:solidFill>
                <a:effectLst/>
                <a:latin typeface="arial"/>
              </a:rPr>
              <a:t>sphygmomanomètre'</a:t>
            </a:r>
            <a:endParaRPr dirty="0" lang="fr-FR"/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p>
            <a:fld id="{5D9102DB-0403-4FB2-AB8E-0F05D6F433AF}" type="slidenum">
              <a:rPr lang="fr-FR">
                <a:solidFill>
                  <a:prstClr val="white"/>
                </a:solidFill>
              </a:rPr>
              <a:t>4</a:t>
            </a:fld>
            <a:endParaRPr lang="fr-FR">
              <a:solidFill>
                <a:prstClr val="white"/>
              </a:solidFill>
            </a:endParaRPr>
          </a:p>
        </p:txBody>
      </p:sp>
      <p:sp>
        <p:nvSpPr>
          <p:cNvPr id="1048653" name="Rectangle 2"/>
          <p:cNvSpPr>
            <a:spLocks noChangeAspect="1" noRot="1" noGrp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48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p>
            <a:pPr algn="l" defTabSz="914400" eaLnBrk="1" fontAlgn="base" hangingPunct="1" indent="0" latinLnBrk="0" marL="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="1" dirty="0" sz="1200" lang="fr-FR" smtClean="0">
                <a:solidFill>
                  <a:schemeClr val="bg1"/>
                </a:solidFill>
              </a:rPr>
              <a:t>Débit cardiaque: </a:t>
            </a:r>
            <a:r>
              <a:rPr dirty="0" sz="1200" lang="fr-FR" smtClean="0">
                <a:solidFill>
                  <a:schemeClr val="bg1"/>
                </a:solidFill>
              </a:rPr>
              <a:t>Volume de sang brassé par minute</a:t>
            </a:r>
            <a:r>
              <a:rPr baseline="0" dirty="0" sz="1200" lang="fr-FR" smtClean="0">
                <a:solidFill>
                  <a:schemeClr val="bg1"/>
                </a:solidFill>
              </a:rPr>
              <a:t> </a:t>
            </a:r>
            <a:r>
              <a:rPr dirty="0" sz="1200" lang="fr-FR" smtClean="0">
                <a:solidFill>
                  <a:schemeClr val="bg1"/>
                </a:solidFill>
              </a:rPr>
              <a:t>[Litres / Minute]</a:t>
            </a:r>
          </a:p>
          <a:p>
            <a:pPr algn="l" defTabSz="914400" eaLnBrk="1" fontAlgn="base" hangingPunct="1" indent="0" latinLnBrk="0" marL="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="1" dirty="0" sz="1200" lang="fr-FR" smtClean="0">
                <a:solidFill>
                  <a:schemeClr val="bg1"/>
                </a:solidFill>
              </a:rPr>
              <a:t>Résistance périphérique vasculaire</a:t>
            </a:r>
            <a:r>
              <a:rPr baseline="0" b="1" dirty="0" sz="1200" lang="fr-FR" smtClean="0">
                <a:solidFill>
                  <a:schemeClr val="bg1"/>
                </a:solidFill>
              </a:rPr>
              <a:t> </a:t>
            </a:r>
            <a:r>
              <a:rPr b="1" dirty="0" sz="1200" lang="fr-FR" smtClean="0">
                <a:solidFill>
                  <a:schemeClr val="bg1"/>
                </a:solidFill>
              </a:rPr>
              <a:t>(RP): </a:t>
            </a:r>
            <a:r>
              <a:rPr dirty="0" sz="1200" lang="fr-FR" smtClean="0">
                <a:solidFill>
                  <a:schemeClr val="bg1"/>
                </a:solidFill>
              </a:rPr>
              <a:t>Opposition à l’écoulement du sang dans l’arbre vasculaire, </a:t>
            </a:r>
            <a:r>
              <a:rPr b="1" dirty="0" sz="1200" lang="fr-FR" smtClean="0"/>
              <a:t>Dépend du diamètre des vaisseaux</a:t>
            </a:r>
          </a:p>
          <a:p>
            <a:pPr algn="l" defTabSz="914400" eaLnBrk="1" fontAlgn="base" hangingPunct="1" indent="0" latinLnBrk="0" marL="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dirty="0" sz="1200" lang="fr-FR" smtClean="0">
              <a:solidFill>
                <a:schemeClr val="bg1"/>
              </a:solidFill>
            </a:endParaRPr>
          </a:p>
          <a:p>
            <a:pPr algn="l" defTabSz="914400" eaLnBrk="1" fontAlgn="base" hangingPunct="1" indent="0" latinLnBrk="0" marL="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b="1" dirty="0"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fr-FR"/>
          </a:p>
        </p:txBody>
      </p:sp>
      <p:sp>
        <p:nvSpPr>
          <p:cNvPr id="10486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p>
            <a:fld id="{6104E709-3C10-4B37-B4A9-015298C84122}" type="slidenum">
              <a:rPr lang="fr-FR"/>
              <a:t>6</a:t>
            </a:fld>
            <a:endParaRPr dirty="0" lang="fr-FR"/>
          </a:p>
        </p:txBody>
      </p:sp>
      <p:sp>
        <p:nvSpPr>
          <p:cNvPr id="1048668" name="Rectangle 2"/>
          <p:cNvSpPr>
            <a:spLocks noChangeAspect="1" noRot="1" noGrp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486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p>
            <a:endParaRPr dirty="0"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Espace réservé de l'image des diapositives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2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fr-FR"/>
          </a:p>
        </p:txBody>
      </p:sp>
      <p:sp>
        <p:nvSpPr>
          <p:cNvPr id="1048683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Espace réservé de l'image des diapositives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0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fr-FR"/>
          </a:p>
        </p:txBody>
      </p:sp>
      <p:sp>
        <p:nvSpPr>
          <p:cNvPr id="1048691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Espace réservé de l'image des diapositives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9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fr-FR"/>
          </a:p>
        </p:txBody>
      </p:sp>
      <p:sp>
        <p:nvSpPr>
          <p:cNvPr id="1048700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/>
              <a:t>12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fr-FR" smtClean="0"/>
              <a:t>Ce sont des antagonistes compétitifs réversibles des récepteurs bêta (β1et β2)</a:t>
            </a:r>
          </a:p>
          <a:p>
            <a:r>
              <a:rPr dirty="0" lang="fr-FR" smtClean="0"/>
              <a:t>-Le blocage des récepteurs β1 entraine une diminution simultanée de la fréquence et de la conductibilité myocardique (effet </a:t>
            </a:r>
            <a:r>
              <a:rPr dirty="0" lang="fr-FR" err="1" smtClean="0"/>
              <a:t>dromotrope</a:t>
            </a:r>
            <a:r>
              <a:rPr dirty="0" lang="fr-FR" smtClean="0"/>
              <a:t>, </a:t>
            </a:r>
            <a:r>
              <a:rPr dirty="0" lang="fr-FR" err="1" smtClean="0"/>
              <a:t>chronotrope</a:t>
            </a:r>
            <a:r>
              <a:rPr dirty="0" lang="fr-FR" smtClean="0"/>
              <a:t> négatif) d’où diminution du débit cardiaque et surtouts des besoins en oxygène.</a:t>
            </a:r>
          </a:p>
          <a:p>
            <a:r>
              <a:rPr dirty="0" lang="fr-FR" smtClean="0"/>
              <a:t>-Le blocage des récepteurs β2 entraine une vasoconstriction, une bronchoconstriction, une inhibition de la lipolyse et de la glycogénolyse.</a:t>
            </a:r>
          </a:p>
          <a:p>
            <a:endParaRPr dirty="0" lang="fr-FR" smtClean="0"/>
          </a:p>
          <a:p>
            <a:endParaRPr dirty="0" lang="fr-FR"/>
          </a:p>
        </p:txBody>
      </p:sp>
      <p:sp>
        <p:nvSpPr>
          <p:cNvPr id="10487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>
                <a:solidFill>
                  <a:prstClr val="black"/>
                </a:solidFill>
              </a:rPr>
              <a:t>16</a:t>
            </a:fld>
            <a:endParaRPr lang="fr-F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fr-FR" smtClean="0"/>
              <a:t>Ce sont des antagonistes compétitifs réversibles des récepteurs bêta (β1et β2)</a:t>
            </a:r>
          </a:p>
          <a:p>
            <a:r>
              <a:rPr dirty="0" lang="fr-FR" smtClean="0"/>
              <a:t>-Le blocage des récepteurs β1 entraine une diminution simultanée de la fréquence et de la conductibilité myocardique (effet </a:t>
            </a:r>
            <a:r>
              <a:rPr dirty="0" lang="fr-FR" err="1" smtClean="0"/>
              <a:t>dromotrope</a:t>
            </a:r>
            <a:r>
              <a:rPr dirty="0" lang="fr-FR" smtClean="0"/>
              <a:t>, </a:t>
            </a:r>
            <a:r>
              <a:rPr dirty="0" lang="fr-FR" err="1" smtClean="0"/>
              <a:t>chronotrope</a:t>
            </a:r>
            <a:r>
              <a:rPr dirty="0" lang="fr-FR" smtClean="0"/>
              <a:t> négatif) d’où diminution du débit cardiaque et surtouts des besoins en oxygène.</a:t>
            </a:r>
          </a:p>
          <a:p>
            <a:r>
              <a:rPr dirty="0" lang="fr-FR" smtClean="0"/>
              <a:t>-Le blocage des récepteurs β2 entraine une vasoconstriction, une bronchoconstriction, une inhibition de la lipolyse et de la glycogénolyse.</a:t>
            </a:r>
          </a:p>
          <a:p>
            <a:endParaRPr dirty="0" lang="fr-FR" smtClean="0"/>
          </a:p>
          <a:p>
            <a:endParaRPr dirty="0" lang="fr-FR"/>
          </a:p>
        </p:txBody>
      </p:sp>
      <p:sp>
        <p:nvSpPr>
          <p:cNvPr id="10487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>
                <a:solidFill>
                  <a:prstClr val="black"/>
                </a:solidFill>
              </a:rPr>
              <a:t>17</a:t>
            </a:fld>
            <a:endParaRPr lang="fr-F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Espace réservé de l'image des diapositives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44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dirty="0" lang="fr-FR" smtClean="0"/>
              <a:t> -effet inotrope positif</a:t>
            </a:r>
          </a:p>
          <a:p>
            <a:r>
              <a:rPr dirty="0" lang="fr-FR" smtClean="0"/>
              <a:t>-effet </a:t>
            </a:r>
            <a:r>
              <a:rPr dirty="0" lang="fr-FR" err="1" smtClean="0"/>
              <a:t>chronotrope</a:t>
            </a:r>
            <a:r>
              <a:rPr dirty="0" lang="fr-FR" smtClean="0"/>
              <a:t> positif</a:t>
            </a:r>
          </a:p>
          <a:p>
            <a:r>
              <a:rPr dirty="0" lang="fr-FR" smtClean="0"/>
              <a:t>-vasodilatation</a:t>
            </a:r>
          </a:p>
          <a:p>
            <a:r>
              <a:rPr dirty="0" lang="fr-FR" smtClean="0"/>
              <a:t>-augmentation de la sécrétion de rénine</a:t>
            </a:r>
          </a:p>
          <a:p>
            <a:r>
              <a:rPr dirty="0" lang="fr-FR" smtClean="0"/>
              <a:t>-</a:t>
            </a:r>
            <a:r>
              <a:rPr dirty="0" lang="fr-FR" err="1" smtClean="0"/>
              <a:t>bronchodilatation</a:t>
            </a:r>
            <a:endParaRPr dirty="0" lang="fr-FR" smtClean="0"/>
          </a:p>
          <a:p>
            <a:r>
              <a:rPr dirty="0" lang="fr-FR" smtClean="0"/>
              <a:t>-augmentation de la sécrétion d’insuline</a:t>
            </a:r>
          </a:p>
          <a:p>
            <a:r>
              <a:rPr dirty="0" lang="fr-FR" smtClean="0"/>
              <a:t>-stimulation de la lipolyse</a:t>
            </a:r>
          </a:p>
          <a:p>
            <a:endParaRPr dirty="0" lang="fr-FR"/>
          </a:p>
        </p:txBody>
      </p:sp>
      <p:sp>
        <p:nvSpPr>
          <p:cNvPr id="1048745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/>
              <a:t>24</a:t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Espace réservé de l'image des diapositives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1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fr-FR"/>
          </a:p>
        </p:txBody>
      </p:sp>
      <p:sp>
        <p:nvSpPr>
          <p:cNvPr id="1048752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/>
              <a:t>25</a:t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Espace réservé de l'image des diapositives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8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fr-FR"/>
          </a:p>
        </p:txBody>
      </p:sp>
      <p:sp>
        <p:nvSpPr>
          <p:cNvPr id="1048759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/>
              <a:t>27</a:t>
            </a:fld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Espace réservé de l'image des diapositives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2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fr-FR"/>
          </a:p>
        </p:txBody>
      </p:sp>
      <p:sp>
        <p:nvSpPr>
          <p:cNvPr id="1048793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5B2A868-B42D-4C7F-80BA-362AA2C00952}" type="slidenum">
              <a:rPr lang="fr-FR" smtClean="0"/>
              <a:t>35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Diapositive de titre">
    <p:bg>
      <p:bgRef idx="1001">
        <a:schemeClr val="bg1"/>
      </p:bgRef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588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algn="l" indent="0" marL="0">
              <a:buNone/>
              <a:defRPr b="1" sz="1800">
                <a:solidFill>
                  <a:schemeClr val="tx2"/>
                </a:solidFill>
              </a:defRPr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1048589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590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p>
            <a:endParaRPr lang="fr-FR"/>
          </a:p>
        </p:txBody>
      </p:sp>
      <p:sp>
        <p:nvSpPr>
          <p:cNvPr id="1048591" name="Rectangle 9"/>
          <p:cNvSpPr/>
          <p:nvPr/>
        </p:nvSpPr>
        <p:spPr bwMode="auto">
          <a:xfrm>
            <a:off x="381000" y="0"/>
            <a:ext cx="609600" cy="6858000"/>
          </a:xfrm>
          <a:prstGeom prst="rect"/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592" name="Rectangle 11"/>
          <p:cNvSpPr/>
          <p:nvPr/>
        </p:nvSpPr>
        <p:spPr bwMode="auto">
          <a:xfrm>
            <a:off x="276336" y="0"/>
            <a:ext cx="104664" cy="6858000"/>
          </a:xfrm>
          <a:prstGeom prst="rect"/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593" name="Rectangle 13"/>
          <p:cNvSpPr/>
          <p:nvPr/>
        </p:nvSpPr>
        <p:spPr bwMode="auto">
          <a:xfrm>
            <a:off x="990600" y="0"/>
            <a:ext cx="181872" cy="6858000"/>
          </a:xfrm>
          <a:prstGeom prst="rect"/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594" name="Rectangle 18"/>
          <p:cNvSpPr/>
          <p:nvPr/>
        </p:nvSpPr>
        <p:spPr bwMode="auto">
          <a:xfrm>
            <a:off x="1141320" y="0"/>
            <a:ext cx="230280" cy="6858000"/>
          </a:xfrm>
          <a:prstGeom prst="rect"/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595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/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596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/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597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/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598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/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599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/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600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/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601" name="Rectangle 26"/>
          <p:cNvSpPr/>
          <p:nvPr/>
        </p:nvSpPr>
        <p:spPr bwMode="auto">
          <a:xfrm>
            <a:off x="1219200" y="0"/>
            <a:ext cx="76200" cy="6858000"/>
          </a:xfrm>
          <a:prstGeom prst="rect"/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602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/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60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/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60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/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605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/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606" name="Ellipse 24"/>
          <p:cNvSpPr/>
          <p:nvPr/>
        </p:nvSpPr>
        <p:spPr>
          <a:xfrm>
            <a:off x="1905000" y="4495800"/>
            <a:ext cx="365760" cy="365760"/>
          </a:xfrm>
          <a:prstGeom prst="ellipse"/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607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re et contenu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613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p>
            <a:pPr eaLnBrk="1" hangingPunct="1" latinLnBrk="0" lvl="0"/>
            <a:r>
              <a:rPr lang="fr-FR" smtClean="0"/>
              <a:t>Cliquez pour modifier les styles du texte du masque</a:t>
            </a:r>
          </a:p>
          <a:p>
            <a:pPr eaLnBrk="1" hangingPunct="1" latinLnBrk="0" lvl="1"/>
            <a:r>
              <a:rPr lang="fr-FR" smtClean="0"/>
              <a:t>Deuxième niveau</a:t>
            </a:r>
          </a:p>
          <a:p>
            <a:pPr eaLnBrk="1" hangingPunct="1" latinLnBrk="0" lvl="2"/>
            <a:r>
              <a:rPr lang="fr-FR" smtClean="0"/>
              <a:t>Troisième niveau</a:t>
            </a:r>
          </a:p>
          <a:p>
            <a:pPr eaLnBrk="1" hangingPunct="1" latinLnBrk="0" lvl="3"/>
            <a:r>
              <a:rPr lang="fr-FR" smtClean="0"/>
              <a:t>Quatrième niveau</a:t>
            </a:r>
          </a:p>
          <a:p>
            <a:pPr eaLnBrk="1" hangingPunct="1" latinLnBrk="0" lvl="4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48614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615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  <p:sp>
        <p:nvSpPr>
          <p:cNvPr id="1048616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p>
            <a:endParaRPr lang="fr-FR"/>
          </a:p>
        </p:txBody>
      </p:sp>
    </p:spTree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secHead">
  <p:cSld name="Titre de section">
    <p:bg>
      <p:bgRef idx="1001">
        <a:schemeClr val="bg2"/>
      </p:bgRef>
    </p:bg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baseline="0" b="1" cap="small" sz="300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888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indent="0" marL="0">
              <a:buNone/>
              <a:defRPr b="1" sz="1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eaLnBrk="1" hangingPunct="1" latinLnBrk="0" lvl="0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48889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890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p>
            <a:endParaRPr lang="fr-FR"/>
          </a:p>
        </p:txBody>
      </p:sp>
      <p:sp>
        <p:nvSpPr>
          <p:cNvPr id="1048891" name="Rectangle 8"/>
          <p:cNvSpPr/>
          <p:nvPr/>
        </p:nvSpPr>
        <p:spPr bwMode="auto">
          <a:xfrm>
            <a:off x="381000" y="0"/>
            <a:ext cx="609600" cy="6858000"/>
          </a:xfrm>
          <a:prstGeom prst="rect"/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892" name="Rectangle 9"/>
          <p:cNvSpPr/>
          <p:nvPr/>
        </p:nvSpPr>
        <p:spPr bwMode="auto">
          <a:xfrm>
            <a:off x="276336" y="0"/>
            <a:ext cx="104664" cy="6858000"/>
          </a:xfrm>
          <a:prstGeom prst="rect"/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893" name="Rectangle 10"/>
          <p:cNvSpPr/>
          <p:nvPr/>
        </p:nvSpPr>
        <p:spPr bwMode="auto">
          <a:xfrm>
            <a:off x="990600" y="0"/>
            <a:ext cx="181872" cy="6858000"/>
          </a:xfrm>
          <a:prstGeom prst="rect"/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894" name="Rectangle 11"/>
          <p:cNvSpPr/>
          <p:nvPr/>
        </p:nvSpPr>
        <p:spPr bwMode="auto">
          <a:xfrm>
            <a:off x="1141320" y="0"/>
            <a:ext cx="230280" cy="6858000"/>
          </a:xfrm>
          <a:prstGeom prst="rect"/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895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/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896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/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897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/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898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/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899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/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900" name="Rectangle 17"/>
          <p:cNvSpPr/>
          <p:nvPr/>
        </p:nvSpPr>
        <p:spPr bwMode="auto">
          <a:xfrm>
            <a:off x="1219200" y="0"/>
            <a:ext cx="76200" cy="6858000"/>
          </a:xfrm>
          <a:prstGeom prst="rect"/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901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/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902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/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903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/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904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/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905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/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90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/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90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Deux contenus"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8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909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910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911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  <p:sp>
        <p:nvSpPr>
          <p:cNvPr id="1048912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p>
            <a:pPr eaLnBrk="1" hangingPunct="1" latinLnBrk="0" lvl="0"/>
            <a:r>
              <a:rPr lang="fr-FR" smtClean="0"/>
              <a:t>Cliquez pour modifier les styles du texte du masque</a:t>
            </a:r>
          </a:p>
          <a:p>
            <a:pPr eaLnBrk="1" hangingPunct="1" latinLnBrk="0" lvl="1"/>
            <a:r>
              <a:rPr lang="fr-FR" smtClean="0"/>
              <a:t>Deuxième niveau</a:t>
            </a:r>
          </a:p>
          <a:p>
            <a:pPr eaLnBrk="1" hangingPunct="1" latinLnBrk="0" lvl="2"/>
            <a:r>
              <a:rPr lang="fr-FR" smtClean="0"/>
              <a:t>Troisième niveau</a:t>
            </a:r>
          </a:p>
          <a:p>
            <a:pPr eaLnBrk="1" hangingPunct="1" latinLnBrk="0" lvl="3"/>
            <a:r>
              <a:rPr lang="fr-FR" smtClean="0"/>
              <a:t>Quatrième niveau</a:t>
            </a:r>
          </a:p>
          <a:p>
            <a:pPr eaLnBrk="1" hangingPunct="1" latinLnBrk="0" lvl="4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48913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p>
            <a:pPr eaLnBrk="1" hangingPunct="1" latinLnBrk="0" lvl="0"/>
            <a:r>
              <a:rPr lang="fr-FR" smtClean="0"/>
              <a:t>Cliquez pour modifier les styles du texte du masque</a:t>
            </a:r>
          </a:p>
          <a:p>
            <a:pPr eaLnBrk="1" hangingPunct="1" latinLnBrk="0" lvl="1"/>
            <a:r>
              <a:rPr lang="fr-FR" smtClean="0"/>
              <a:t>Deuxième niveau</a:t>
            </a:r>
          </a:p>
          <a:p>
            <a:pPr eaLnBrk="1" hangingPunct="1" latinLnBrk="0" lvl="2"/>
            <a:r>
              <a:rPr lang="fr-FR" smtClean="0"/>
              <a:t>Troisième niveau</a:t>
            </a:r>
          </a:p>
          <a:p>
            <a:pPr eaLnBrk="1" hangingPunct="1" latinLnBrk="0" lvl="3"/>
            <a:r>
              <a:rPr lang="fr-FR" smtClean="0"/>
              <a:t>Quatrième niveau</a:t>
            </a:r>
          </a:p>
          <a:p>
            <a:pPr eaLnBrk="1" hangingPunct="1" latinLnBrk="0" lvl="4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aison"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4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915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916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917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  <p:sp>
        <p:nvSpPr>
          <p:cNvPr id="1048918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p>
            <a:pPr eaLnBrk="1" hangingPunct="1" latinLnBrk="0" lvl="0"/>
            <a:r>
              <a:rPr lang="fr-FR" smtClean="0"/>
              <a:t>Cliquez pour modifier les styles du texte du masque</a:t>
            </a:r>
          </a:p>
          <a:p>
            <a:pPr eaLnBrk="1" hangingPunct="1" latinLnBrk="0" lvl="1"/>
            <a:r>
              <a:rPr lang="fr-FR" smtClean="0"/>
              <a:t>Deuxième niveau</a:t>
            </a:r>
          </a:p>
          <a:p>
            <a:pPr eaLnBrk="1" hangingPunct="1" latinLnBrk="0" lvl="2"/>
            <a:r>
              <a:rPr lang="fr-FR" smtClean="0"/>
              <a:t>Troisième niveau</a:t>
            </a:r>
          </a:p>
          <a:p>
            <a:pPr eaLnBrk="1" hangingPunct="1" latinLnBrk="0" lvl="3"/>
            <a:r>
              <a:rPr lang="fr-FR" smtClean="0"/>
              <a:t>Quatrième niveau</a:t>
            </a:r>
          </a:p>
          <a:p>
            <a:pPr eaLnBrk="1" hangingPunct="1" latinLnBrk="0" lvl="4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48919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p>
            <a:pPr eaLnBrk="1" hangingPunct="1" latinLnBrk="0" lvl="0"/>
            <a:r>
              <a:rPr lang="fr-FR" smtClean="0"/>
              <a:t>Cliquez pour modifier les styles du texte du masque</a:t>
            </a:r>
          </a:p>
          <a:p>
            <a:pPr eaLnBrk="1" hangingPunct="1" latinLnBrk="0" lvl="1"/>
            <a:r>
              <a:rPr lang="fr-FR" smtClean="0"/>
              <a:t>Deuxième niveau</a:t>
            </a:r>
          </a:p>
          <a:p>
            <a:pPr eaLnBrk="1" hangingPunct="1" latinLnBrk="0" lvl="2"/>
            <a:r>
              <a:rPr lang="fr-FR" smtClean="0"/>
              <a:t>Troisième niveau</a:t>
            </a:r>
          </a:p>
          <a:p>
            <a:pPr eaLnBrk="1" hangingPunct="1" latinLnBrk="0" lvl="3"/>
            <a:r>
              <a:rPr lang="fr-FR" smtClean="0"/>
              <a:t>Quatrième niveau</a:t>
            </a:r>
          </a:p>
          <a:p>
            <a:pPr eaLnBrk="1" hangingPunct="1" latinLnBrk="0" lvl="4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48920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anchor="ctr" rtlCol="0">
            <a:noAutofit/>
          </a:bodyPr>
          <a:lstStyle>
            <a:lvl1pPr indent="0" marL="0">
              <a:buFontTx/>
              <a:buNone/>
              <a:defRPr b="1" sz="2000">
                <a:solidFill>
                  <a:srgbClr val="FFFFFF"/>
                </a:solidFill>
              </a:defRPr>
            </a:lvl1pPr>
          </a:lstStyle>
          <a:p>
            <a:pPr eaLnBrk="1" hangingPunct="1" latinLnBrk="0" lvl="0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48921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anchor="ctr" rtlCol="0">
            <a:noAutofit/>
          </a:bodyPr>
          <a:lstStyle>
            <a:lvl1pPr indent="0" marL="0">
              <a:buFontTx/>
              <a:buNone/>
              <a:defRPr b="1" sz="2000">
                <a:solidFill>
                  <a:srgbClr val="FFFFFF"/>
                </a:solidFill>
              </a:defRPr>
            </a:lvl1pPr>
          </a:lstStyle>
          <a:p>
            <a:pPr eaLnBrk="1" hangingPunct="1" latinLnBrk="0" lvl="0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re seul"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861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862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  <p:sp>
        <p:nvSpPr>
          <p:cNvPr id="1048863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p>
            <a:endParaRPr lang="fr-FR"/>
          </a:p>
        </p:txBody>
      </p:sp>
    </p:spTree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Vide"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767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768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Tx">
  <p:cSld name="Contenu avec légende">
    <p:bg>
      <p:bgRef idx="1001">
        <a:schemeClr val="bg1"/>
      </p:bgRef>
    </p:bg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/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dirty="0" kumimoji="0" lang="en-US"/>
          </a:p>
        </p:txBody>
      </p:sp>
      <p:sp>
        <p:nvSpPr>
          <p:cNvPr id="1048923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baseline="0" b="1" cap="small" sz="200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924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indent="0" marL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eaLnBrk="1" hangingPunct="1" latinLnBrk="0" lvl="0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48925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/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dirty="0" kumimoji="0" lang="en-US"/>
          </a:p>
        </p:txBody>
      </p:sp>
      <p:sp>
        <p:nvSpPr>
          <p:cNvPr id="1048926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/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dirty="0" kumimoji="0" lang="en-US"/>
          </a:p>
        </p:txBody>
      </p:sp>
      <p:sp>
        <p:nvSpPr>
          <p:cNvPr id="1048927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/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928" name="Rectangle 11"/>
          <p:cNvSpPr/>
          <p:nvPr/>
        </p:nvSpPr>
        <p:spPr bwMode="auto">
          <a:xfrm>
            <a:off x="8839200" y="0"/>
            <a:ext cx="304800" cy="6858000"/>
          </a:xfrm>
          <a:prstGeom prst="rect"/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929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/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930" name="Ellipse 13"/>
          <p:cNvSpPr/>
          <p:nvPr/>
        </p:nvSpPr>
        <p:spPr>
          <a:xfrm>
            <a:off x="8156448" y="5715000"/>
            <a:ext cx="548640" cy="548640"/>
          </a:xfrm>
          <a:prstGeom prst="ellipse"/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931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p>
            <a:pPr eaLnBrk="1" hangingPunct="1" latinLnBrk="0" lvl="0"/>
            <a:r>
              <a:rPr lang="fr-FR" smtClean="0"/>
              <a:t>Cliquez pour modifier les styles du texte du masque</a:t>
            </a:r>
          </a:p>
          <a:p>
            <a:pPr eaLnBrk="1" hangingPunct="1" latinLnBrk="0" lvl="1"/>
            <a:r>
              <a:rPr lang="fr-FR" smtClean="0"/>
              <a:t>Deuxième niveau</a:t>
            </a:r>
          </a:p>
          <a:p>
            <a:pPr eaLnBrk="1" hangingPunct="1" latinLnBrk="0" lvl="2"/>
            <a:r>
              <a:rPr lang="fr-FR" smtClean="0"/>
              <a:t>Troisième niveau</a:t>
            </a:r>
          </a:p>
          <a:p>
            <a:pPr eaLnBrk="1" hangingPunct="1" latinLnBrk="0" lvl="3"/>
            <a:r>
              <a:rPr lang="fr-FR" smtClean="0"/>
              <a:t>Quatrième niveau</a:t>
            </a:r>
          </a:p>
          <a:p>
            <a:pPr eaLnBrk="1" hangingPunct="1" latinLnBrk="0" lvl="4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48932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933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  <p:sp>
        <p:nvSpPr>
          <p:cNvPr id="1048934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p>
            <a:endParaRPr lang="fr-FR"/>
          </a:p>
        </p:txBody>
      </p:sp>
    </p:spTree>
  </p:cSld>
  <p:clrMapOvr>
    <a:overrideClrMapping accent1="accent1" accent2="accent2" accent3="accent3" accent4="accent4" accent5="accent5" accent6="accent6" bg1="lt1" bg2="lt2" tx1="dk1" tx2="dk2" hlink="hlink" folHlink="folHlink"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Image avec légende"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/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870" name="Ellipse 12"/>
          <p:cNvSpPr/>
          <p:nvPr/>
        </p:nvSpPr>
        <p:spPr>
          <a:xfrm>
            <a:off x="8156448" y="5715000"/>
            <a:ext cx="548640" cy="548640"/>
          </a:xfrm>
          <a:prstGeom prst="ellipse"/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871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b="1" sz="200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872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indent="0" marL="0">
              <a:buNone/>
              <a:defRPr sz="3200"/>
            </a:lvl1pPr>
          </a:lstStyle>
          <a:p>
            <a:pPr algn="ctr" eaLnBrk="1" hangingPunct="1" latinLnBrk="0">
              <a:buFontTx/>
              <a:buNone/>
            </a:pPr>
            <a:r>
              <a:rPr kumimoji="0" lang="fr-FR" smtClean="0"/>
              <a:t>Cliquez sur l'icône pour ajouter une image</a:t>
            </a:r>
            <a:endParaRPr dirty="0" kumimoji="0" lang="en-US"/>
          </a:p>
        </p:txBody>
      </p:sp>
      <p:sp>
        <p:nvSpPr>
          <p:cNvPr id="1048873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anchor="t" anchorCtr="0" bIns="45720" compatLnSpc="1" forceAA="0" fromWordArt="0" horzOverflow="overflow" lIns="91440" numCol="1" rIns="91440" rot="0" rtlCol="0" spcCol="274320" spcFirstLastPara="0" tIns="45720" vert="horz" vertOverflow="overflow" wrap="square">
            <a:normAutofit/>
          </a:bodyPr>
          <a:lstStyle>
            <a:lvl1pPr indent="0" marL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eaLnBrk="1" hangingPunct="1" latinLnBrk="0" lvl="0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48874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/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875" name="Rectangle 10"/>
          <p:cNvSpPr/>
          <p:nvPr/>
        </p:nvSpPr>
        <p:spPr bwMode="auto">
          <a:xfrm>
            <a:off x="8839200" y="0"/>
            <a:ext cx="304800" cy="6858000"/>
          </a:xfrm>
          <a:prstGeom prst="rect"/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876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/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877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/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dirty="0" kumimoji="0" lang="en-US"/>
          </a:p>
        </p:txBody>
      </p:sp>
      <p:sp>
        <p:nvSpPr>
          <p:cNvPr id="1048878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/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dirty="0" kumimoji="0" lang="en-US"/>
          </a:p>
        </p:txBody>
      </p:sp>
      <p:sp>
        <p:nvSpPr>
          <p:cNvPr id="1048879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880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  <p:sp>
        <p:nvSpPr>
          <p:cNvPr id="104888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p>
            <a:endParaRPr lang="fr-FR"/>
          </a:p>
        </p:txBody>
      </p:sp>
    </p:spTree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re et texte vertical"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88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eaLnBrk="1" hangingPunct="1" latinLnBrk="0" lvl="0"/>
            <a:r>
              <a:rPr lang="fr-FR" smtClean="0"/>
              <a:t>Cliquez pour modifier les styles du texte du masque</a:t>
            </a:r>
          </a:p>
          <a:p>
            <a:pPr eaLnBrk="1" hangingPunct="1" latinLnBrk="0" lvl="1"/>
            <a:r>
              <a:rPr lang="fr-FR" smtClean="0"/>
              <a:t>Deuxième niveau</a:t>
            </a:r>
          </a:p>
          <a:p>
            <a:pPr eaLnBrk="1" hangingPunct="1" latinLnBrk="0" lvl="2"/>
            <a:r>
              <a:rPr lang="fr-FR" smtClean="0"/>
              <a:t>Troisième niveau</a:t>
            </a:r>
          </a:p>
          <a:p>
            <a:pPr eaLnBrk="1" hangingPunct="1" latinLnBrk="0" lvl="3"/>
            <a:r>
              <a:rPr lang="fr-FR" smtClean="0"/>
              <a:t>Quatrième niveau</a:t>
            </a:r>
          </a:p>
          <a:p>
            <a:pPr eaLnBrk="1" hangingPunct="1" latinLnBrk="0" lvl="4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4888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88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8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Titre vertical et texte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4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865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eaLnBrk="1" hangingPunct="1" latinLnBrk="0" lvl="0"/>
            <a:r>
              <a:rPr lang="fr-FR" smtClean="0"/>
              <a:t>Cliquez pour modifier les styles du texte du masque</a:t>
            </a:r>
          </a:p>
          <a:p>
            <a:pPr eaLnBrk="1" hangingPunct="1" latinLnBrk="0" lvl="1"/>
            <a:r>
              <a:rPr lang="fr-FR" smtClean="0"/>
              <a:t>Deuxième niveau</a:t>
            </a:r>
          </a:p>
          <a:p>
            <a:pPr eaLnBrk="1" hangingPunct="1" latinLnBrk="0" lvl="2"/>
            <a:r>
              <a:rPr lang="fr-FR" smtClean="0"/>
              <a:t>Troisième niveau</a:t>
            </a:r>
          </a:p>
          <a:p>
            <a:pPr eaLnBrk="1" hangingPunct="1" latinLnBrk="0" lvl="3"/>
            <a:r>
              <a:rPr lang="fr-FR" smtClean="0"/>
              <a:t>Quatrième niveau</a:t>
            </a:r>
          </a:p>
          <a:p>
            <a:pPr eaLnBrk="1" hangingPunct="1" latinLnBrk="0" lvl="4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4886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86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/>
          </a:p>
        </p:txBody>
      </p:sp>
      <p:sp>
        <p:nvSpPr>
          <p:cNvPr id="104886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Diapositive de titre"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1048807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1048808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09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10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8C68B3E-1FA5-4D9E-8343-616F5849EA0B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re et contenu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104863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63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63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63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F02379-3388-4DCB-B64C-92438E44838C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Titre de section"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1048838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48839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40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41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8E3ECB-DB33-406E-B2CE-2059F62D9E33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Deux contenus"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1048832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33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34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35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36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21CB74A-220E-4397-A771-2455D41CA2EC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aison"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104885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4885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5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4885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5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5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5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18BCD10-8993-44C6-B79B-E4F21F9BAB75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re seul"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1048849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50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51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F75381-782E-48E1-9ED9-D31C6CC3C2E9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Vide"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04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05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681236-FB02-4C32-9F68-D4E81D6EC522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u avec légende"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104884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4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4884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4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4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AFF3C06-91DA-47FE-B936-7DFF18F0B056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Image avec légende"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1048816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fr-FR"/>
          </a:p>
        </p:txBody>
      </p:sp>
      <p:sp>
        <p:nvSpPr>
          <p:cNvPr id="1048817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48818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19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20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A7ACE6F-5016-4479-BC27-8E67091C4704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re et texte vertical"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1048822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2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2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2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05FC9A0-83FF-454E-AA5F-6A4CC6136205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Titre vertical et texte"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1048827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28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29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30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F52D332-60F0-4614-B2F9-C4742F42F09D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Only">
  <p:cSld name="Contenu"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Espace réservé du contenu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48812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13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p>
            <a:endParaRPr lang="fr-FR">
              <a:solidFill>
                <a:srgbClr val="000000"/>
              </a:solidFill>
            </a:endParaRPr>
          </a:p>
        </p:txBody>
      </p:sp>
      <p:sp>
        <p:nvSpPr>
          <p:cNvPr id="1048814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p>
            <a:fld id="{563201F8-0177-43F6-9A95-EE4528B7FB3C}" type="slidenum">
              <a:rPr lang="fr-FR">
                <a:solidFill>
                  <a:srgbClr val="000000"/>
                </a:solidFill>
              </a:r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/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dirty="0" kumimoji="0" lang="en-US"/>
          </a:p>
        </p:txBody>
      </p:sp>
      <p:sp>
        <p:nvSpPr>
          <p:cNvPr id="1048577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/>
        </p:spPr>
        <p:txBody>
          <a:bodyPr anchor="b" vert="horz">
            <a:normAutofit/>
          </a:bodyPr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048578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/>
        </p:spPr>
        <p:txBody>
          <a:bodyPr vert="horz">
            <a:normAutofit/>
          </a:bodyPr>
          <a:p>
            <a:pPr eaLnBrk="1" hangingPunct="1" latinLnBrk="0" lvl="0"/>
            <a:r>
              <a:rPr kumimoji="0" lang="fr-FR" smtClean="0"/>
              <a:t>Cliquez pour modifier les styles du texte du masque</a:t>
            </a:r>
          </a:p>
          <a:p>
            <a:pPr eaLnBrk="1" hangingPunct="1" latinLnBrk="0" lvl="1"/>
            <a:r>
              <a:rPr kumimoji="0" lang="fr-FR" smtClean="0"/>
              <a:t>Deuxième niveau</a:t>
            </a:r>
          </a:p>
          <a:p>
            <a:pPr eaLnBrk="1" hangingPunct="1" latinLnBrk="0" lvl="2"/>
            <a:r>
              <a:rPr kumimoji="0" lang="fr-FR" smtClean="0"/>
              <a:t>Troisième niveau</a:t>
            </a:r>
          </a:p>
          <a:p>
            <a:pPr eaLnBrk="1" hangingPunct="1" latinLnBrk="0" lvl="3"/>
            <a:r>
              <a:rPr kumimoji="0" lang="fr-FR" smtClean="0"/>
              <a:t>Quatrième niveau</a:t>
            </a:r>
          </a:p>
          <a:p>
            <a:pPr eaLnBrk="1" hangingPunct="1" latinLnBrk="0" lvl="4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48579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/>
        </p:spPr>
        <p:txBody>
          <a:bodyPr anchor="ctr" anchorCtr="0" vert="horz"/>
          <a:lstStyle>
            <a:lvl1pPr algn="r" eaLnBrk="1" hangingPunct="1" latinLnBrk="0">
              <a:defRPr sz="1200" kumimoji="0">
                <a:solidFill>
                  <a:schemeClr val="tx2"/>
                </a:solidFill>
              </a:defRPr>
            </a:lvl1pPr>
          </a:lstStyle>
          <a:p>
            <a:fld id="{19799BC3-0D71-4D75-B667-3C3FD52A0CFD}" type="datetimeFigureOut">
              <a:rPr lang="fr-FR" smtClean="0"/>
              <a:t>29/01/2018</a:t>
            </a:fld>
            <a:endParaRPr lang="fr-FR"/>
          </a:p>
        </p:txBody>
      </p:sp>
      <p:sp>
        <p:nvSpPr>
          <p:cNvPr id="1048580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/>
        </p:spPr>
        <p:txBody>
          <a:bodyPr anchor="ctr" anchorCtr="0" vert="horz"/>
          <a:lstStyle>
            <a:lvl1pPr algn="l" eaLnBrk="1" hangingPunct="1" latinLnBrk="0">
              <a:defRPr sz="1200" kumimoji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1048581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/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582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/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583" name="Rectangle 9"/>
          <p:cNvSpPr/>
          <p:nvPr/>
        </p:nvSpPr>
        <p:spPr bwMode="auto">
          <a:xfrm>
            <a:off x="8839200" y="0"/>
            <a:ext cx="304800" cy="6858000"/>
          </a:xfrm>
          <a:prstGeom prst="rect"/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584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/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585" name="Ellipse 11"/>
          <p:cNvSpPr/>
          <p:nvPr/>
        </p:nvSpPr>
        <p:spPr>
          <a:xfrm>
            <a:off x="8156448" y="5715000"/>
            <a:ext cx="548640" cy="548640"/>
          </a:xfrm>
          <a:prstGeom prst="ellipse"/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dirty="0" kumimoji="0" lang="en-US"/>
          </a:p>
        </p:txBody>
      </p:sp>
      <p:sp>
        <p:nvSpPr>
          <p:cNvPr id="1048586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/>
        </p:spPr>
        <p:txBody>
          <a:bodyPr anchor="ctr" vert="horz"/>
          <a:lstStyle>
            <a:lvl1pPr algn="ctr" eaLnBrk="1" hangingPunct="1" latinLnBrk="0">
              <a:defRPr b="1" sz="1400" kumimoji="0">
                <a:solidFill>
                  <a:srgbClr val="FFFFFF"/>
                </a:solidFill>
              </a:defRPr>
            </a:lvl1pPr>
          </a:lstStyle>
          <a:p>
            <a:fld id="{2C6D85A0-835E-4E1B-B10C-52B886971ACE}" type="slidenum">
              <a:rPr lang="fr-FR" smtClean="0"/>
              <a:t>‹N°›</a:t>
            </a:fld>
            <a:endParaRPr lang="fr-FR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>
    <p:fade thruBlk="1"/>
  </p:transition>
  <p:txStyles>
    <p:titleStyle>
      <a:lvl1pPr algn="l" eaLnBrk="1" hangingPunct="1" latinLnBrk="0" rtl="0">
        <a:spcBef>
          <a:spcPct val="0"/>
        </a:spcBef>
        <a:buNone/>
        <a:defRPr baseline="0" b="0" cap="small" sz="3000" kern="1200" kumimoji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algn="l" eaLnBrk="1" hangingPunct="1" indent="-274320" latinLnBrk="0" marL="274320" rtl="0">
        <a:spcBef>
          <a:spcPts val="600"/>
        </a:spcBef>
        <a:buClr>
          <a:schemeClr val="accent1"/>
        </a:buClr>
        <a:buSzPct val="70000"/>
        <a:buFont typeface="Wingdings"/>
        <a:buChar char=""/>
        <a:defRPr sz="2400"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274320" latinLnBrk="0" marL="640080" rtl="0">
        <a:spcBef>
          <a:spcPct val="20000"/>
        </a:spcBef>
        <a:buClr>
          <a:schemeClr val="accent1"/>
        </a:buClr>
        <a:buSzPct val="80000"/>
        <a:buFont typeface="Wingdings 2"/>
        <a:buChar char=""/>
        <a:defRPr sz="2100"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indent="-182880" latinLnBrk="0" marL="914400" rtl="0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sz="1800"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182880" latinLnBrk="0" marL="1188720" rtl="0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sz="1800"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indent="-182880" latinLnBrk="0" marL="1463040" rtl="0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sz="1600"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182880" latinLnBrk="0" marL="1737360" rtl="0">
        <a:spcBef>
          <a:spcPct val="20000"/>
        </a:spcBef>
        <a:buClr>
          <a:schemeClr val="accent1"/>
        </a:buClr>
        <a:buChar char="•"/>
        <a:defRPr sz="1600" kern="1200" kumimoji="0">
          <a:solidFill>
            <a:schemeClr val="tx2"/>
          </a:solidFill>
          <a:latin typeface="+mn-lt"/>
          <a:ea typeface="+mn-ea"/>
          <a:cs typeface="+mn-cs"/>
        </a:defRPr>
      </a:lvl6pPr>
      <a:lvl7pPr algn="l" eaLnBrk="1" hangingPunct="1" indent="-182880" latinLnBrk="0" marL="2011680" rtl="0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baseline="0" sz="1400" kern="1200" kumimoji="0">
          <a:solidFill>
            <a:schemeClr val="tx2"/>
          </a:solidFill>
          <a:latin typeface="+mn-lt"/>
          <a:ea typeface="+mn-ea"/>
          <a:cs typeface="+mn-cs"/>
        </a:defRPr>
      </a:lvl7pPr>
      <a:lvl8pPr algn="l" eaLnBrk="1" hangingPunct="1" indent="-182880" latinLnBrk="0" marL="2286000" rtl="0">
        <a:spcBef>
          <a:spcPct val="20000"/>
        </a:spcBef>
        <a:buClr>
          <a:schemeClr val="accent2"/>
        </a:buClr>
        <a:buChar char="•"/>
        <a:defRPr baseline="0" cap="small" sz="1400" kern="1200" kumimoji="0">
          <a:solidFill>
            <a:schemeClr val="tx2"/>
          </a:solidFill>
          <a:latin typeface="+mn-lt"/>
          <a:ea typeface="+mn-ea"/>
          <a:cs typeface="+mn-cs"/>
        </a:defRPr>
      </a:lvl8pPr>
      <a:lvl9pPr algn="l" eaLnBrk="1" hangingPunct="1" indent="-182880" latinLnBrk="0" marL="2560320" rtl="0">
        <a:spcBef>
          <a:spcPct val="20000"/>
        </a:spcBef>
        <a:buClr>
          <a:schemeClr val="accent1">
            <a:shade val="75000"/>
          </a:schemeClr>
        </a:buClr>
        <a:buChar char="•"/>
        <a:defRPr baseline="0" sz="1400" kern="1200" kumimoji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66"/>
            </a:gs>
            <a:gs pos="50000">
              <a:srgbClr val="6277BC"/>
            </a:gs>
            <a:gs pos="100000">
              <a:srgbClr val="000066"/>
            </a:gs>
          </a:gsLst>
          <a:lin ang="0" scaled="1"/>
        </a:gradFill>
        <a:effectLst/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 bIns="46038" compatLnSpc="1" lIns="92075" numCol="1" rIns="92075" tIns="46038" vert="horz" wrap="square">
            <a:prstTxWarp prst="textNoShape"/>
          </a:bodyPr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486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6038" compatLnSpc="1" lIns="92075" numCol="1" rIns="92075" tIns="46038" vert="horz" wrap="square">
            <a:prstTxWarp prst="textNoShape"/>
          </a:bodyPr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04862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6038" compatLnSpc="1" lIns="92075" numCol="1" rIns="92075" tIns="46038" vert="horz" wrap="square">
            <a:prstTxWarp prst="textNoShape"/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104863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6038" compatLnSpc="1" lIns="92075" numCol="1" rIns="92075" tIns="46038" vert="horz" wrap="square">
            <a:prstTxWarp prst="textNoShape"/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104863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6038" compatLnSpc="1" lIns="92075" numCol="1" rIns="92075" tIns="46038" vert="horz" wrap="square">
            <a:prstTxWarp prst="textNoShape"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41220A5-AB42-4D53-8A27-C29AD196BF98}" type="slidenum">
              <a:rPr lang="fr-FR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fontAlgn="base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fontAlgn="base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fontAlgn="base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fontAlgn="base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fontAlgn="base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algn="l" fontAlgn="base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fontAlgn="base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algn="l" fontAlgn="base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algn="l" fontAlgn="base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algn="l" fontAlgn="base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vmlDrawing" Target="../drawings/vmlDrawing5.v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9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Relationship Id="rId4" Type="http://schemas.openxmlformats.org/officeDocument/2006/relationships/comments" Target="../comments/commen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7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2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 descr="C:\Users\ABDELKADER\Pictures\hipertension-arterial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0" y="-27384"/>
            <a:ext cx="9144000" cy="6858000"/>
          </a:xfrm>
          <a:prstGeom prst="rect"/>
          <a:noFill/>
        </p:spPr>
      </p:pic>
      <p:sp>
        <p:nvSpPr>
          <p:cNvPr id="1048608" name="Titre 1"/>
          <p:cNvSpPr>
            <a:spLocks noGrp="1"/>
          </p:cNvSpPr>
          <p:nvPr>
            <p:ph type="ctrTitle"/>
          </p:nvPr>
        </p:nvSpPr>
        <p:spPr>
          <a:xfrm>
            <a:off x="2298648" y="3190822"/>
            <a:ext cx="6845352" cy="1894362"/>
          </a:xfrm>
        </p:spPr>
        <p:txBody>
          <a:bodyPr>
            <a:noAutofit/>
          </a:bodyPr>
          <a:p>
            <a:pPr algn="ctr"/>
            <a:r>
              <a:rPr dirty="0" sz="4400" i="1" lang="fr-FR" smtClean="0">
                <a:solidFill>
                  <a:srgbClr val="FF0000"/>
                </a:solidFill>
                <a:latin typeface="Bradley Hand ITC" pitchFamily="66" charset="0"/>
                <a:ea typeface="Batang" pitchFamily="18" charset="-127"/>
              </a:rPr>
              <a:t>                                                                    </a:t>
            </a:r>
            <a:r>
              <a:rPr dirty="0" sz="5400" i="1" lang="fr-FR" smtClean="0">
                <a:solidFill>
                  <a:srgbClr val="FF0000"/>
                </a:solidFill>
                <a:latin typeface="Bookman Old Style" pitchFamily="18" charset="0"/>
                <a:ea typeface="Batang" pitchFamily="18" charset="-127"/>
              </a:rPr>
              <a:t>Les antihypertenseurs   </a:t>
            </a:r>
            <a:endParaRPr dirty="0" sz="4400" i="1" lang="fr-FR">
              <a:solidFill>
                <a:srgbClr val="FF0000"/>
              </a:solidFill>
              <a:latin typeface="Bookman Old Style" pitchFamily="18" charset="0"/>
              <a:ea typeface="Batang" pitchFamily="18" charset="-127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mph" presetID="34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accel="50000" autoRev="1" decel="50000" dur="250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dur="125" fill="hold" id="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dur="125" fill="hold" id="8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dur="125" fill="hold" id="9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dur="125" fill="hold" id="10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828668"/>
          </a:xfrm>
        </p:spPr>
        <p:txBody>
          <a:bodyPr>
            <a:normAutofit fontScale="83333" lnSpcReduction="20000"/>
          </a:bodyPr>
          <a:p>
            <a:pPr>
              <a:buNone/>
            </a:pPr>
            <a:r>
              <a:rPr b="1" dirty="0" sz="4300" lang="fr-FR" smtClean="0"/>
              <a:t>PA </a:t>
            </a:r>
            <a:r>
              <a:rPr dirty="0" sz="3100" lang="fr-FR" smtClean="0"/>
              <a:t>:Force / unité de surface exercée par le sang 	sur les parois des vaisseaux</a:t>
            </a:r>
            <a:endParaRPr dirty="0" lang="fr-FR" smtClean="0"/>
          </a:p>
          <a:p>
            <a:endParaRPr dirty="0" lang="fr-FR" smtClean="0"/>
          </a:p>
          <a:p>
            <a:endParaRPr dirty="0" lang="fr-FR" smtClean="0"/>
          </a:p>
          <a:p>
            <a:endParaRPr dirty="0" lang="fr-FR" smtClean="0"/>
          </a:p>
        </p:txBody>
      </p:sp>
      <p:pic>
        <p:nvPicPr>
          <p:cNvPr id="2097153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820910" y="718817"/>
            <a:ext cx="1071570" cy="1198015"/>
          </a:xfrm>
          <a:prstGeom prst="rect"/>
          <a:noFill/>
        </p:spPr>
      </p:pic>
      <p:sp>
        <p:nvSpPr>
          <p:cNvPr id="1048618" name="Espace réservé du contenu 2"/>
          <p:cNvSpPr txBox="1"/>
          <p:nvPr/>
        </p:nvSpPr>
        <p:spPr>
          <a:xfrm>
            <a:off x="457200" y="2643182"/>
            <a:ext cx="7467600" cy="3643338"/>
          </a:xfrm>
          <a:prstGeom prst="rect"/>
        </p:spPr>
        <p:txBody>
          <a:bodyPr vert="horz">
            <a:normAutofit fontScale="83333" lnSpcReduction="20000"/>
          </a:bodyPr>
          <a:p>
            <a:pPr algn="l" defTabSz="914400" eaLnBrk="1" fontAlgn="auto" hangingPunct="1" indent="-274320" latinLnBrk="0" lvl="0" marL="27432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</a:pPr>
            <a:r>
              <a:rPr baseline="0" b="1" cap="none" dirty="0" sz="24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algn="l" defTabSz="914400" eaLnBrk="1" fontAlgn="auto" hangingPunct="1" indent="-274320" latinLnBrk="0" lvl="0" marL="27432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</a:pPr>
            <a:r>
              <a:rPr baseline="0" b="1" cap="none" dirty="0" sz="26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baseline="0" b="1" cap="none" dirty="0" sz="3100" i="0" kern="1200" kumimoji="0" lang="fr-FR" noProof="0" normalizeH="0" spc="0" strike="noStrike" u="none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</a:rPr>
              <a:t>Valeur max: </a:t>
            </a:r>
            <a:r>
              <a:rPr baseline="0" b="0" cap="none" dirty="0" sz="26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éjection </a:t>
            </a:r>
            <a:r>
              <a:rPr baseline="0" b="1" cap="none" dirty="0" sz="26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P</a:t>
            </a:r>
            <a:r>
              <a:rPr baseline="0" b="0" cap="none" dirty="0" sz="26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sys: 120-130 </a:t>
            </a:r>
            <a:r>
              <a:rPr baseline="0" b="0" cap="none" dirty="0" sz="2600" i="0" kern="1200" kumimoji="0" lang="fr-FR" noProof="0" normalizeH="0" spc="0" err="1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mmHg</a:t>
            </a:r>
            <a:r>
              <a:rPr baseline="0" b="0" cap="none" dirty="0" sz="26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  </a:t>
            </a:r>
          </a:p>
          <a:p>
            <a:pPr algn="l" defTabSz="914400" eaLnBrk="1" fontAlgn="auto" hangingPunct="1" indent="-274320" latinLnBrk="0" lvl="0" marL="27432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</a:pPr>
            <a:endParaRPr baseline="0" b="0" cap="none" dirty="0" sz="3100" i="0" kern="1200" kumimoji="0" lang="fr-FR" noProof="0" normalizeH="0" spc="0" strike="noStrike" u="none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+mn-ea"/>
            </a:endParaRPr>
          </a:p>
          <a:p>
            <a:pPr algn="l" defTabSz="914400" eaLnBrk="1" fontAlgn="auto" hangingPunct="1" indent="-274320" latinLnBrk="0" lvl="0" marL="27432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</a:pPr>
            <a:r>
              <a:rPr baseline="0" b="0" cap="none" dirty="0" sz="3400" i="0" kern="1200" kumimoji="0" lang="fr-FR" noProof="0" normalizeH="0" spc="0" strike="noStrike" u="none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</a:rPr>
              <a:t>PA</a:t>
            </a:r>
            <a:endParaRPr baseline="0" b="0" cap="none" dirty="0" sz="3100" i="0" kern="1200" kumimoji="0" lang="fr-FR" noProof="0" normalizeH="0" spc="0" strike="noStrike" u="none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+mn-ea"/>
            </a:endParaRPr>
          </a:p>
          <a:p>
            <a:pPr algn="l" defTabSz="914400" eaLnBrk="1" fontAlgn="auto" hangingPunct="1" indent="-274320" latinLnBrk="0" lvl="0" marL="27432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</a:pPr>
            <a:endParaRPr baseline="0" b="0" cap="none" dirty="0" sz="3100" i="0" kern="1200" kumimoji="0" lang="fr-FR" noProof="0" normalizeH="0" spc="0" strike="noStrike" u="none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+mn-ea"/>
            </a:endParaRPr>
          </a:p>
          <a:p>
            <a:pPr algn="l" defTabSz="914400" eaLnBrk="1" fontAlgn="auto" hangingPunct="1" indent="-274320" latinLnBrk="0" lvl="0" marL="27432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</a:pPr>
            <a:r>
              <a:rPr baseline="0" b="1" cap="none" dirty="0" sz="31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       </a:t>
            </a:r>
            <a:r>
              <a:rPr baseline="0" b="1" cap="none" dirty="0" sz="3100" i="0" kern="1200" kumimoji="0" lang="fr-FR" noProof="0" normalizeH="0" spc="0" strike="noStrike" u="none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</a:rPr>
              <a:t>Valeur min:</a:t>
            </a:r>
            <a:r>
              <a:rPr dirty="0" sz="3100" lang="fr-FR"/>
              <a:t> </a:t>
            </a:r>
            <a:r>
              <a:rPr baseline="0" b="1" cap="none" dirty="0" sz="26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P</a:t>
            </a:r>
            <a:r>
              <a:rPr baseline="0" b="0" cap="none" dirty="0" sz="26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rPr>
              <a:t> diastolique </a:t>
            </a:r>
            <a:r>
              <a:rPr baseline="0" b="0" cap="none" dirty="0" sz="26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˂ 80mmHg</a:t>
            </a:r>
            <a:endParaRPr baseline="0" b="0" cap="none" dirty="0" sz="3100" i="0" kern="1200" kumimoji="0" lang="fr-FR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algn="l" defTabSz="914400" eaLnBrk="1" fontAlgn="auto" hangingPunct="1" indent="-274320" latinLnBrk="0" lvl="0" marL="27432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</a:pPr>
            <a:endParaRPr baseline="0" b="0" cap="none" dirty="0" sz="2600" i="0" kern="1200" kumimoji="0" lang="fr-FR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algn="l" defTabSz="914400" eaLnBrk="1" fontAlgn="auto" hangingPunct="1" indent="-274320" latinLnBrk="0" lvl="0" marL="27432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</a:pPr>
            <a:endParaRPr baseline="0" b="0" cap="none" dirty="0" sz="2600" i="0" kern="1200" kumimoji="0" lang="fr-FR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algn="l" defTabSz="914400" eaLnBrk="1" fontAlgn="auto" hangingPunct="1" indent="-274320" latinLnBrk="0" lvl="0" marL="27432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</a:pPr>
            <a:endParaRPr baseline="0" b="1" cap="none" dirty="0" sz="2600" i="0" kern="1200" kumimoji="0" lang="fr-FR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algn="l" defTabSz="914400" eaLnBrk="1" fontAlgn="auto" hangingPunct="1" indent="-274320" latinLnBrk="0" lvl="0" marL="274320" marR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</a:pPr>
            <a:r>
              <a:rPr baseline="0" b="1" cap="none" dirty="0" sz="2600" i="0" kern="1200" kumimoji="0" lang="fr-FR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                  </a:t>
            </a:r>
            <a:endParaRPr baseline="0" b="1" cap="none" dirty="0" sz="2600" i="0" kern="1200" kumimoji="0" lang="fr-FR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19" name="Accolade fermante 15"/>
          <p:cNvSpPr/>
          <p:nvPr/>
        </p:nvSpPr>
        <p:spPr>
          <a:xfrm>
            <a:off x="6643702" y="2428868"/>
            <a:ext cx="571504" cy="3071834"/>
          </a:xfrm>
          <a:prstGeom prst="rightBrac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tlCol="0"/>
          <a:p>
            <a:pPr algn="ctr"/>
            <a:endParaRPr lang="fr-FR"/>
          </a:p>
        </p:txBody>
      </p:sp>
      <p:sp>
        <p:nvSpPr>
          <p:cNvPr id="1048620" name="TextBox 5"/>
          <p:cNvSpPr txBox="1"/>
          <p:nvPr/>
        </p:nvSpPr>
        <p:spPr>
          <a:xfrm>
            <a:off x="107504" y="188640"/>
            <a:ext cx="8136904" cy="584775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3200" lang="fr-FR" smtClean="0">
                <a:solidFill>
                  <a:srgbClr val="7030A0"/>
                </a:solidFill>
              </a:rPr>
              <a:t>2. Définition de la Pression artérielle</a:t>
            </a:r>
            <a:endParaRPr b="1" dirty="0" sz="3200" lang="fr-FR">
              <a:solidFill>
                <a:srgbClr val="7030A0"/>
              </a:solidFill>
            </a:endParaRPr>
          </a:p>
        </p:txBody>
      </p:sp>
      <p:sp>
        <p:nvSpPr>
          <p:cNvPr id="1048621" name="TextBox 14"/>
          <p:cNvSpPr txBox="1">
            <a:spLocks noChangeAspect="1" noMove="1" noResize="1" noRot="1" noAdjustHandles="1" noEditPoints="1" noChangeArrowheads="1" noChangeShapeType="1" noTextEdit="1"/>
          </p:cNvSpPr>
          <p:nvPr/>
        </p:nvSpPr>
        <p:spPr>
          <a:xfrm>
            <a:off x="107504" y="5877272"/>
            <a:ext cx="7583102" cy="813171"/>
          </a:xfrm>
          <a:prstGeom prst="rect"/>
          <a:blipFill rotWithShape="1">
            <a:blip xmlns:r="http://schemas.openxmlformats.org/officeDocument/2006/relationships" r:embed="rId2"/>
            <a:stretch>
              <a:fillRect l="-1688" b="-3731"/>
            </a:stretch>
          </a:blipFill>
        </p:spPr>
        <p:txBody>
          <a:bodyPr/>
          <a:p>
            <a:r>
              <a:rPr lang="fr-FR">
                <a:noFill/>
              </a:rPr>
              <a:t> </a:t>
            </a:r>
          </a:p>
        </p:txBody>
      </p:sp>
      <p:cxnSp>
        <p:nvCxnSpPr>
          <p:cNvPr id="3145728" name="Straight Arrow Connector 7"/>
          <p:cNvCxnSpPr>
            <a:cxnSpLocks/>
            <a:stCxn id="1048619" idx="1"/>
          </p:cNvCxnSpPr>
          <p:nvPr/>
        </p:nvCxnSpPr>
        <p:spPr>
          <a:xfrm>
            <a:off x="7215206" y="3964785"/>
            <a:ext cx="0" cy="1912487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4" name="Picture 2" descr="C:\Users\ABDELKADER\Pictures\sphygmo2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 bwMode="auto">
          <a:xfrm>
            <a:off x="7308304" y="2204863"/>
            <a:ext cx="1440159" cy="1584177"/>
          </a:xfrm>
          <a:prstGeom prst="rect"/>
          <a:noFill/>
        </p:spPr>
      </p:pic>
      <p:pic>
        <p:nvPicPr>
          <p:cNvPr id="2097155" name="Picture 3" descr="C:\Users\ABDELKADER\Pictures\sphygmo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4"/>
          <a:srcRect/>
          <a:stretch>
            <a:fillRect/>
          </a:stretch>
        </p:blipFill>
        <p:spPr bwMode="auto">
          <a:xfrm>
            <a:off x="7308304" y="4206974"/>
            <a:ext cx="1410072" cy="1238250"/>
          </a:xfrm>
          <a:prstGeom prst="rect"/>
          <a:noFill/>
        </p:spPr>
      </p:pic>
    </p:spTree>
  </p:cSld>
  <p:clrMapOvr>
    <a:masterClrMapping/>
  </p:clrMapOvr>
  <p:transition spd="slow">
    <p:cover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5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0" fill="hold" id="17"/>
                                        <p:tgtEl>
                                          <p:spTgt spid="1048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0" fill="hold" id="18"/>
                                        <p:tgtEl>
                                          <p:spTgt spid="1048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0" id="19"/>
                                        <p:tgtEl>
                                          <p:spTgt spid="1048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0">
                            <p:stCondLst>
                              <p:cond delay="5000"/>
                            </p:stCondLst>
                            <p:childTnLst>
                              <p:par>
                                <p:cTn fill="hold" id="21" nodeType="afterEffect" presetClass="entr" presetID="5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23"/>
                                        <p:tgtEl>
                                          <p:spTgt spid="1048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4"/>
                                        <p:tgtEl>
                                          <p:spTgt spid="1048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25"/>
                                        <p:tgtEl>
                                          <p:spTgt spid="1048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6">
                            <p:stCondLst>
                              <p:cond delay="6000"/>
                            </p:stCondLst>
                            <p:childTnLst>
                              <p:par>
                                <p:cTn fill="hold" id="27" nodeType="afterEffect" presetClass="entr" presetID="5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29"/>
                                        <p:tgtEl>
                                          <p:spTgt spid="1048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0"/>
                                        <p:tgtEl>
                                          <p:spTgt spid="1048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31"/>
                                        <p:tgtEl>
                                          <p:spTgt spid="1048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32" nodeType="withEffect" presetClass="entr" presetID="5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34"/>
                                        <p:tgtEl>
                                          <p:spTgt spid="1048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5"/>
                                        <p:tgtEl>
                                          <p:spTgt spid="1048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36"/>
                                        <p:tgtEl>
                                          <p:spTgt spid="1048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39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0" id="43" nodeType="withEffect" presetClass="entr" presetID="5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45"/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46"/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47"/>
                                        <p:tgtEl>
                                          <p:spTgt spid="104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8">
                      <p:stCondLst>
                        <p:cond delay="indefinite"/>
                      </p:stCondLst>
                      <p:childTnLst>
                        <p:par>
                          <p:cTn fill="hold" id="49">
                            <p:stCondLst>
                              <p:cond delay="0"/>
                            </p:stCondLst>
                            <p:childTnLst>
                              <p:par>
                                <p:cTn fill="hold" id="50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2">
                      <p:stCondLst>
                        <p:cond delay="indefinite"/>
                      </p:stCondLst>
                      <p:childTnLst>
                        <p:par>
                          <p:cTn fill="hold" id="53">
                            <p:stCondLst>
                              <p:cond delay="0"/>
                            </p:stCondLst>
                            <p:childTnLst>
                              <p:par>
                                <p:cTn fill="hold" id="54" nodeType="clickEffect" presetClass="entr" presetID="4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000" id="56"/>
                                        <p:tgtEl>
                                          <p:spTgt spid="3145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2000" fill="hold" id="57"/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2000" fill="hold" id="58"/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59" nodeType="withEffect" presetClass="entr" presetID="4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000" id="61"/>
                                        <p:tgtEl>
                                          <p:spTgt spid="10486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2000" fill="hold" id="62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2000" fill="hold" id="63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9" grpId="0" animBg="1"/>
      <p:bldP spid="10486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fr-FR"/>
          </a:p>
        </p:txBody>
      </p:sp>
      <p:sp>
        <p:nvSpPr>
          <p:cNvPr id="1048626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endParaRPr lang="fr-FR"/>
          </a:p>
        </p:txBody>
      </p:sp>
      <p:pic>
        <p:nvPicPr>
          <p:cNvPr id="2097156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/>
          <a:noFill/>
          <a:ln>
            <a:noFill/>
          </a:ln>
          <a:effectLst/>
        </p:spPr>
      </p:pic>
    </p:spTree>
  </p:cSld>
  <p:clrMapOvr>
    <a:masterClrMapping/>
  </p:clrMapOvr>
  <p:transition spd="med">
    <p:fade thruBlk="1"/>
  </p:transition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8528"/>
          </a:xfrm>
          <a:solidFill>
            <a:srgbClr val="000066"/>
          </a:solidFill>
        </p:spPr>
        <p:txBody>
          <a:bodyPr anchor="t" lIns="93663" rIns="93663">
            <a:spAutoFit/>
          </a:bodyPr>
          <a:p>
            <a:r>
              <a:rPr dirty="0" sz="4000" lang="fr-FR">
                <a:solidFill>
                  <a:srgbClr val="FFFF00"/>
                </a:solidFill>
              </a:rPr>
              <a:t>Pression artérielle Moyenne</a:t>
            </a:r>
          </a:p>
        </p:txBody>
      </p:sp>
      <p:sp>
        <p:nvSpPr>
          <p:cNvPr id="10486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1268413"/>
            <a:ext cx="6119812" cy="1152525"/>
          </a:xfrm>
          <a:solidFill>
            <a:srgbClr val="000066"/>
          </a:solidFill>
        </p:spPr>
        <p:txBody>
          <a:bodyPr anchor="ctr"/>
          <a:p>
            <a:pPr algn="ctr">
              <a:buFontTx/>
              <a:buNone/>
            </a:pPr>
            <a:r>
              <a:rPr dirty="0" sz="2800" lang="fr-FR">
                <a:solidFill>
                  <a:schemeClr val="bg1"/>
                </a:solidFill>
              </a:rPr>
              <a:t>La pression artérielle moyenne est fonction de</a:t>
            </a:r>
          </a:p>
        </p:txBody>
      </p:sp>
      <p:sp>
        <p:nvSpPr>
          <p:cNvPr id="1048639" name="Rectangle 4"/>
          <p:cNvSpPr>
            <a:spLocks noChangeArrowheads="1"/>
          </p:cNvSpPr>
          <p:nvPr/>
        </p:nvSpPr>
        <p:spPr bwMode="auto">
          <a:xfrm>
            <a:off x="395288" y="3068638"/>
            <a:ext cx="3600450" cy="1223962"/>
          </a:xfrm>
          <a:prstGeom prst="rect"/>
          <a:solidFill>
            <a:srgbClr val="800000"/>
          </a:solidFill>
          <a:ln w="9525">
            <a:noFill/>
            <a:miter lim="800000"/>
            <a:headEnd/>
            <a:tailEnd/>
          </a:ln>
          <a:effectLst/>
        </p:spPr>
        <p:txBody>
          <a:bodyPr anchor="ctr" bIns="46038" lIns="92075" rIns="92075" tIns="46038"/>
          <a:p>
            <a:pPr algn="ctr" fontAlgn="base" indent="-342900" marL="342900">
              <a:spcBef>
                <a:spcPct val="20000"/>
              </a:spcBef>
              <a:spcAft>
                <a:spcPct val="0"/>
              </a:spcAft>
            </a:pPr>
            <a:r>
              <a:rPr b="1" dirty="0" sz="2400" lang="fr-FR">
                <a:solidFill>
                  <a:srgbClr val="FFFFFF"/>
                </a:solidFill>
              </a:rPr>
              <a:t>Débit </a:t>
            </a:r>
            <a:r>
              <a:rPr b="1" dirty="0" sz="2400" lang="fr-FR" smtClean="0">
                <a:solidFill>
                  <a:srgbClr val="FFFFFF"/>
                </a:solidFill>
              </a:rPr>
              <a:t>cardiaque (Q)</a:t>
            </a:r>
            <a:endParaRPr b="1" dirty="0" sz="2400" lang="fr-FR">
              <a:solidFill>
                <a:srgbClr val="FFFFFF"/>
              </a:solidFill>
            </a:endParaRPr>
          </a:p>
        </p:txBody>
      </p:sp>
      <p:sp>
        <p:nvSpPr>
          <p:cNvPr id="1048640" name="Rectangle 5"/>
          <p:cNvSpPr>
            <a:spLocks noChangeArrowheads="1"/>
          </p:cNvSpPr>
          <p:nvPr/>
        </p:nvSpPr>
        <p:spPr bwMode="auto">
          <a:xfrm>
            <a:off x="5148263" y="3068638"/>
            <a:ext cx="3600450" cy="1223962"/>
          </a:xfrm>
          <a:prstGeom prst="rect"/>
          <a:solidFill>
            <a:srgbClr val="003300"/>
          </a:solidFill>
          <a:ln w="9525">
            <a:noFill/>
            <a:miter lim="800000"/>
            <a:headEnd/>
            <a:tailEnd/>
          </a:ln>
          <a:effectLst/>
        </p:spPr>
        <p:txBody>
          <a:bodyPr anchor="ctr" bIns="46038" lIns="92075" rIns="92075" tIns="46038"/>
          <a:p>
            <a:pPr algn="ctr" fontAlgn="base" indent="-342900" marL="342900">
              <a:spcBef>
                <a:spcPct val="20000"/>
              </a:spcBef>
              <a:spcAft>
                <a:spcPct val="0"/>
              </a:spcAft>
            </a:pPr>
            <a:r>
              <a:rPr b="1" dirty="0" sz="2400" lang="fr-FR">
                <a:solidFill>
                  <a:srgbClr val="FFFFFF"/>
                </a:solidFill>
              </a:rPr>
              <a:t>Résistance périphérique </a:t>
            </a:r>
            <a:r>
              <a:rPr b="1" dirty="0" sz="2400" lang="fr-FR" smtClean="0">
                <a:solidFill>
                  <a:srgbClr val="FFFFFF"/>
                </a:solidFill>
              </a:rPr>
              <a:t>vasculaire (</a:t>
            </a:r>
            <a:r>
              <a:rPr b="1" dirty="0" sz="2400" lang="fr-FR" err="1" smtClean="0">
                <a:solidFill>
                  <a:srgbClr val="FFFFFF"/>
                </a:solidFill>
              </a:rPr>
              <a:t>Rp</a:t>
            </a:r>
            <a:r>
              <a:rPr b="1" dirty="0" sz="2400" lang="fr-FR" smtClean="0">
                <a:solidFill>
                  <a:srgbClr val="FFFFFF"/>
                </a:solidFill>
              </a:rPr>
              <a:t>)</a:t>
            </a:r>
            <a:endParaRPr b="1" dirty="0" sz="2400" lang="fr-FR">
              <a:solidFill>
                <a:srgbClr val="FFFFFF"/>
              </a:solidFill>
            </a:endParaRPr>
          </a:p>
        </p:txBody>
      </p:sp>
      <p:sp>
        <p:nvSpPr>
          <p:cNvPr id="1048641" name="Freeform 6"/>
          <p:cNvSpPr/>
          <p:nvPr/>
        </p:nvSpPr>
        <p:spPr bwMode="auto">
          <a:xfrm>
            <a:off x="2195513" y="2420938"/>
            <a:ext cx="2414587" cy="649287"/>
          </a:xfrm>
          <a:custGeom>
            <a:avLst/>
            <a:ahLst/>
            <a:cxnLst>
              <a:cxn ang="0">
                <a:pos x="1520" y="0"/>
              </a:cxn>
              <a:cxn ang="0">
                <a:pos x="1520" y="204"/>
              </a:cxn>
              <a:cxn ang="0">
                <a:pos x="0" y="204"/>
              </a:cxn>
              <a:cxn ang="0">
                <a:pos x="0" y="408"/>
              </a:cxn>
            </a:cxnLst>
            <a:rect l="0" t="0" r="r" b="b"/>
            <a:pathLst>
              <a:path w="1521" h="409">
                <a:moveTo>
                  <a:pt x="1520" y="0"/>
                </a:moveTo>
                <a:lnTo>
                  <a:pt x="1520" y="204"/>
                </a:lnTo>
                <a:lnTo>
                  <a:pt x="0" y="204"/>
                </a:lnTo>
                <a:lnTo>
                  <a:pt x="0" y="408"/>
                </a:lnTo>
              </a:path>
            </a:pathLst>
          </a:custGeom>
          <a:noFill/>
          <a:ln w="25400" cap="rnd" cmpd="sng">
            <a:solidFill>
              <a:srgbClr val="FFFFFF"/>
            </a:solidFill>
            <a:prstDash val="solid"/>
            <a:round/>
            <a:headEnd type="none" w="sm" len="sm"/>
            <a:tailEnd type="stealth" w="med" len="lg"/>
          </a:ln>
          <a:effectLst/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sz="3200" lang="fr-FR">
              <a:solidFill>
                <a:srgbClr val="FFFFFF"/>
              </a:solidFill>
            </a:endParaRPr>
          </a:p>
        </p:txBody>
      </p:sp>
      <p:sp>
        <p:nvSpPr>
          <p:cNvPr id="1048642" name="Freeform 7"/>
          <p:cNvSpPr/>
          <p:nvPr/>
        </p:nvSpPr>
        <p:spPr bwMode="auto">
          <a:xfrm>
            <a:off x="4608513" y="2420938"/>
            <a:ext cx="2341562" cy="649287"/>
          </a:xfrm>
          <a:custGeom>
            <a:avLst/>
            <a:ahLst/>
            <a:cxnLst>
              <a:cxn ang="0">
                <a:pos x="0" y="0"/>
              </a:cxn>
              <a:cxn ang="0">
                <a:pos x="0" y="204"/>
              </a:cxn>
              <a:cxn ang="0">
                <a:pos x="1474" y="204"/>
              </a:cxn>
              <a:cxn ang="0">
                <a:pos x="1474" y="408"/>
              </a:cxn>
            </a:cxnLst>
            <a:rect l="0" t="0" r="r" b="b"/>
            <a:pathLst>
              <a:path w="1475" h="409">
                <a:moveTo>
                  <a:pt x="0" y="0"/>
                </a:moveTo>
                <a:lnTo>
                  <a:pt x="0" y="204"/>
                </a:lnTo>
                <a:lnTo>
                  <a:pt x="1474" y="204"/>
                </a:lnTo>
                <a:lnTo>
                  <a:pt x="1474" y="408"/>
                </a:lnTo>
              </a:path>
            </a:pathLst>
          </a:custGeom>
          <a:noFill/>
          <a:ln w="25400" cap="rnd" cmpd="sng">
            <a:solidFill>
              <a:srgbClr val="FFFFFF"/>
            </a:solidFill>
            <a:prstDash val="solid"/>
            <a:round/>
            <a:headEnd type="none" w="sm" len="sm"/>
            <a:tailEnd type="stealth" w="med" len="lg"/>
          </a:ln>
          <a:effectLst/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sz="3200" lang="fr-FR">
              <a:solidFill>
                <a:srgbClr val="FFFFFF"/>
              </a:solidFill>
            </a:endParaRPr>
          </a:p>
        </p:txBody>
      </p:sp>
      <p:sp>
        <p:nvSpPr>
          <p:cNvPr id="1048643" name="Rectangle 8"/>
          <p:cNvSpPr>
            <a:spLocks noChangeArrowheads="1"/>
          </p:cNvSpPr>
          <p:nvPr/>
        </p:nvSpPr>
        <p:spPr bwMode="auto">
          <a:xfrm>
            <a:off x="5148263" y="4429132"/>
            <a:ext cx="3600450" cy="1584325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bIns="46038" lIns="92075" rIns="92075" tIns="46038"/>
          <a:p>
            <a:pPr fontAlgn="base" indent="-342900" marL="342900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b="1" sz="2400" lang="fr-FR">
                <a:solidFill>
                  <a:srgbClr val="FFFFFF"/>
                </a:solidFill>
                <a:latin typeface="Times New Roman" pitchFamily="18" charset="0"/>
              </a:rPr>
              <a:t>Diamètre des artérioles</a:t>
            </a:r>
          </a:p>
        </p:txBody>
      </p:sp>
      <p:sp>
        <p:nvSpPr>
          <p:cNvPr id="1048644" name="Rectangle 9"/>
          <p:cNvSpPr>
            <a:spLocks noChangeArrowheads="1"/>
          </p:cNvSpPr>
          <p:nvPr/>
        </p:nvSpPr>
        <p:spPr bwMode="auto">
          <a:xfrm>
            <a:off x="323280" y="4429132"/>
            <a:ext cx="3888680" cy="1584325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bIns="46038" lIns="92075" rIns="92075" tIns="46038"/>
          <a:p>
            <a:pPr fontAlgn="base" indent="-342900" marL="342900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b="1" dirty="0" sz="2400" lang="fr-FR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volume </a:t>
            </a:r>
            <a:r>
              <a:rPr b="1" dirty="0" sz="2400" lang="fr-FR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d’</a:t>
            </a:r>
            <a:r>
              <a:rPr b="1" dirty="0" sz="2400" lang="fr-FR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é</a:t>
            </a:r>
            <a:r>
              <a:rPr b="1" dirty="0" sz="2400" lang="fr-FR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jection systolique </a:t>
            </a:r>
            <a:r>
              <a:rPr b="1" dirty="0" sz="2400" lang="fr-FR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b="1" dirty="0" sz="2400" lang="fr-FR" err="1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Vsys</a:t>
            </a:r>
            <a:r>
              <a:rPr b="1" dirty="0" sz="2000" lang="fr-FR" smtClean="0">
                <a:solidFill>
                  <a:srgbClr val="FFFF00"/>
                </a:solidFill>
                <a:latin typeface="Times New Roman" pitchFamily="18" charset="0"/>
              </a:rPr>
              <a:t>)</a:t>
            </a:r>
            <a:endParaRPr b="1" dirty="0" sz="2000" lang="fr-FR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 indent="-342900" marL="342900">
              <a:spcBef>
                <a:spcPct val="20000"/>
              </a:spcBef>
              <a:spcAft>
                <a:spcPct val="0"/>
              </a:spcAft>
            </a:pPr>
            <a:endParaRPr b="1" dirty="0" sz="2400" lang="fr-FR">
              <a:solidFill>
                <a:srgbClr val="FFFFFF"/>
              </a:solidFill>
              <a:latin typeface="Times New Roman" pitchFamily="18" charset="0"/>
            </a:endParaRPr>
          </a:p>
          <a:p>
            <a:pPr fontAlgn="base" indent="-342900" marL="342900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b="1" dirty="0" sz="2400" lang="fr-FR">
                <a:solidFill>
                  <a:srgbClr val="FFFFFF"/>
                </a:solidFill>
                <a:latin typeface="Times New Roman" pitchFamily="18" charset="0"/>
              </a:rPr>
              <a:t>Rythme </a:t>
            </a:r>
            <a:r>
              <a:rPr b="1" dirty="0" sz="2400" lang="fr-FR" smtClean="0">
                <a:solidFill>
                  <a:srgbClr val="FFFFFF"/>
                </a:solidFill>
                <a:latin typeface="Times New Roman" pitchFamily="18" charset="0"/>
              </a:rPr>
              <a:t>cardiaque </a:t>
            </a:r>
            <a:r>
              <a:rPr b="1" dirty="0" sz="2400" lang="fr-FR" smtClean="0">
                <a:solidFill>
                  <a:srgbClr val="FFFF00"/>
                </a:solidFill>
                <a:latin typeface="Times New Roman" pitchFamily="18" charset="0"/>
              </a:rPr>
              <a:t>(</a:t>
            </a:r>
            <a:r>
              <a:rPr b="1" dirty="0" sz="2400" lang="fr-FR" err="1" smtClean="0">
                <a:solidFill>
                  <a:srgbClr val="FFFF00"/>
                </a:solidFill>
                <a:latin typeface="Times New Roman" pitchFamily="18" charset="0"/>
              </a:rPr>
              <a:t>Fc</a:t>
            </a:r>
            <a:r>
              <a:rPr b="1" dirty="0" sz="2400" lang="fr-FR" smtClean="0">
                <a:solidFill>
                  <a:srgbClr val="FFFF00"/>
                </a:solidFill>
                <a:latin typeface="Times New Roman" pitchFamily="18" charset="0"/>
              </a:rPr>
              <a:t>)</a:t>
            </a:r>
            <a:endParaRPr b="1" dirty="0" sz="2400" lang="fr-FR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1048645" name="Rectangle 10"/>
          <p:cNvSpPr>
            <a:spLocks noChangeArrowheads="1"/>
          </p:cNvSpPr>
          <p:nvPr/>
        </p:nvSpPr>
        <p:spPr bwMode="auto">
          <a:xfrm>
            <a:off x="4283968" y="3354388"/>
            <a:ext cx="562655" cy="770084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bIns="46038" lIns="92075" rIns="92075" tIns="46038" wrap="non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b="1" dirty="0" sz="4400" lang="fr-FR">
                <a:solidFill>
                  <a:srgbClr val="FFFF00"/>
                </a:solidFill>
              </a:rPr>
              <a:t>X</a:t>
            </a:r>
          </a:p>
        </p:txBody>
      </p:sp>
      <p:sp>
        <p:nvSpPr>
          <p:cNvPr id="1048646" name="Oval 8"/>
          <p:cNvSpPr>
            <a:spLocks noChangeArrowheads="1"/>
          </p:cNvSpPr>
          <p:nvPr/>
        </p:nvSpPr>
        <p:spPr bwMode="auto">
          <a:xfrm>
            <a:off x="5214942" y="5286388"/>
            <a:ext cx="865188" cy="865188"/>
          </a:xfrm>
          <a:prstGeom prst="ellipse"/>
          <a:gradFill rotWithShape="0">
            <a:gsLst>
              <a:gs pos="0">
                <a:srgbClr val="660033"/>
              </a:gs>
              <a:gs pos="50000">
                <a:srgbClr val="FF3300"/>
              </a:gs>
              <a:gs pos="100000">
                <a:srgbClr val="660033"/>
              </a:gs>
            </a:gsLst>
            <a:lin ang="2700000" scaled="1"/>
          </a:gra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 wrap="none"/>
          <a:p>
            <a:pPr fontAlgn="base">
              <a:spcBef>
                <a:spcPct val="0"/>
              </a:spcBef>
              <a:spcAft>
                <a:spcPct val="0"/>
              </a:spcAft>
            </a:pPr>
            <a:endParaRPr sz="3200" lang="fr-FR">
              <a:solidFill>
                <a:srgbClr val="FFFFFF"/>
              </a:solidFill>
            </a:endParaRPr>
          </a:p>
        </p:txBody>
      </p:sp>
      <p:sp>
        <p:nvSpPr>
          <p:cNvPr id="1048647" name="Oval 10"/>
          <p:cNvSpPr>
            <a:spLocks noChangeArrowheads="1"/>
          </p:cNvSpPr>
          <p:nvPr/>
        </p:nvSpPr>
        <p:spPr bwMode="auto">
          <a:xfrm>
            <a:off x="7564466" y="5143512"/>
            <a:ext cx="1079500" cy="1079500"/>
          </a:xfrm>
          <a:prstGeom prst="ellipse"/>
          <a:gradFill rotWithShape="0">
            <a:gsLst>
              <a:gs pos="0">
                <a:srgbClr val="660033"/>
              </a:gs>
              <a:gs pos="50000">
                <a:srgbClr val="FF3300"/>
              </a:gs>
              <a:gs pos="100000">
                <a:srgbClr val="660033"/>
              </a:gs>
            </a:gsLst>
            <a:lin ang="2700000" scaled="1"/>
          </a:gra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 wrap="none"/>
          <a:p>
            <a:pPr fontAlgn="base">
              <a:spcBef>
                <a:spcPct val="0"/>
              </a:spcBef>
              <a:spcAft>
                <a:spcPct val="0"/>
              </a:spcAft>
            </a:pPr>
            <a:endParaRPr sz="3200" lang="fr-FR">
              <a:solidFill>
                <a:srgbClr val="FFFFFF"/>
              </a:solidFill>
            </a:endParaRPr>
          </a:p>
        </p:txBody>
      </p:sp>
      <p:sp>
        <p:nvSpPr>
          <p:cNvPr id="1048648" name="Oval 9"/>
          <p:cNvSpPr>
            <a:spLocks noChangeArrowheads="1"/>
          </p:cNvSpPr>
          <p:nvPr/>
        </p:nvSpPr>
        <p:spPr bwMode="auto">
          <a:xfrm>
            <a:off x="5429256" y="5500702"/>
            <a:ext cx="431800" cy="431800"/>
          </a:xfrm>
          <a:prstGeom prst="ellipse"/>
          <a:gradFill rotWithShape="0">
            <a:gsLst>
              <a:gs pos="0">
                <a:srgbClr val="660033"/>
              </a:gs>
              <a:gs pos="50000">
                <a:schemeClr val="tx1"/>
              </a:gs>
              <a:gs pos="100000">
                <a:srgbClr val="660033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anchor="ctr" wrap="none"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dirty="0" sz="3200" lang="fr-FR" smtClean="0">
                <a:solidFill>
                  <a:srgbClr val="FFFFFF"/>
                </a:solidFill>
              </a:rPr>
              <a:t>         </a:t>
            </a:r>
            <a:endParaRPr dirty="0" sz="3200" lang="fr-FR">
              <a:solidFill>
                <a:srgbClr val="FFFFFF"/>
              </a:solidFill>
            </a:endParaRPr>
          </a:p>
        </p:txBody>
      </p:sp>
      <p:sp>
        <p:nvSpPr>
          <p:cNvPr id="1048649" name="Oval 11"/>
          <p:cNvSpPr>
            <a:spLocks noChangeArrowheads="1"/>
          </p:cNvSpPr>
          <p:nvPr/>
        </p:nvSpPr>
        <p:spPr bwMode="auto">
          <a:xfrm>
            <a:off x="7674003" y="5259399"/>
            <a:ext cx="863600" cy="863600"/>
          </a:xfrm>
          <a:prstGeom prst="ellipse"/>
          <a:gradFill rotWithShape="0">
            <a:gsLst>
              <a:gs pos="0">
                <a:srgbClr val="660033"/>
              </a:gs>
              <a:gs pos="50000">
                <a:schemeClr val="tx1"/>
              </a:gs>
              <a:gs pos="100000">
                <a:srgbClr val="660033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anchor="ctr" wrap="none"/>
          <a:p>
            <a:pPr fontAlgn="base">
              <a:spcBef>
                <a:spcPct val="0"/>
              </a:spcBef>
              <a:spcAft>
                <a:spcPct val="0"/>
              </a:spcAft>
            </a:pPr>
            <a:endParaRPr sz="3200" lang="fr-FR">
              <a:solidFill>
                <a:srgbClr val="FFFFFF"/>
              </a:solidFill>
            </a:endParaRPr>
          </a:p>
        </p:txBody>
      </p:sp>
      <p:sp>
        <p:nvSpPr>
          <p:cNvPr id="1048650" name="Rectangle 17"/>
          <p:cNvSpPr/>
          <p:nvPr/>
        </p:nvSpPr>
        <p:spPr>
          <a:xfrm>
            <a:off x="5077598" y="6143644"/>
            <a:ext cx="665480" cy="574041"/>
          </a:xfrm>
          <a:prstGeom prst="rect"/>
        </p:spPr>
        <p:txBody>
          <a:bodyPr wrap="none">
            <a:spAutoFit/>
          </a:bodyPr>
          <a:p>
            <a:pPr algn="ctr" fontAlgn="base" indent="-342900" marL="342900">
              <a:spcBef>
                <a:spcPct val="0"/>
              </a:spcBef>
              <a:spcAft>
                <a:spcPct val="0"/>
              </a:spcAft>
            </a:pPr>
            <a:r>
              <a:rPr b="1" dirty="0" sz="3200" lang="fr-FR" err="1" smtClean="0">
                <a:solidFill>
                  <a:srgbClr val="FFFFFF"/>
                </a:solidFill>
                <a:latin typeface="Times New Roman" pitchFamily="18" charset="0"/>
              </a:rPr>
              <a:t>Rp</a:t>
            </a:r>
            <a:endParaRPr b="1" dirty="0" sz="3200" lang="fr-FR">
              <a:solidFill>
                <a:srgbClr val="FFFFFF"/>
              </a:solidFill>
              <a:latin typeface="Times New Roman" pitchFamily="18" charset="0"/>
            </a:endParaRPr>
          </a:p>
        </p:txBody>
      </p:sp>
      <p:cxnSp>
        <p:nvCxnSpPr>
          <p:cNvPr id="3145729" name="Connecteur droit avec flèche 18"/>
          <p:cNvCxnSpPr>
            <a:cxnSpLocks/>
          </p:cNvCxnSpPr>
          <p:nvPr/>
        </p:nvCxnSpPr>
        <p:spPr>
          <a:xfrm rot="5400000" flipH="1" flipV="1">
            <a:off x="5793593" y="6293667"/>
            <a:ext cx="285752" cy="271458"/>
          </a:xfrm>
          <a:prstGeom prst="straightConnector1"/>
          <a:ln w="127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1" name="Rectangle 19"/>
          <p:cNvSpPr/>
          <p:nvPr/>
        </p:nvSpPr>
        <p:spPr>
          <a:xfrm>
            <a:off x="7577928" y="6143644"/>
            <a:ext cx="665480" cy="574041"/>
          </a:xfrm>
          <a:prstGeom prst="rect"/>
        </p:spPr>
        <p:txBody>
          <a:bodyPr wrap="none">
            <a:spAutoFit/>
          </a:bodyPr>
          <a:p>
            <a:pPr algn="ctr" fontAlgn="base" indent="-342900" marL="342900">
              <a:spcBef>
                <a:spcPct val="0"/>
              </a:spcBef>
              <a:spcAft>
                <a:spcPct val="0"/>
              </a:spcAft>
            </a:pPr>
            <a:r>
              <a:rPr b="1" dirty="0" sz="3200" lang="fr-FR" err="1" smtClean="0">
                <a:solidFill>
                  <a:srgbClr val="FFFFFF"/>
                </a:solidFill>
                <a:latin typeface="Times New Roman" pitchFamily="18" charset="0"/>
              </a:rPr>
              <a:t>Rp</a:t>
            </a:r>
            <a:endParaRPr b="1" dirty="0" sz="3200" lang="fr-FR">
              <a:solidFill>
                <a:srgbClr val="FFFFFF"/>
              </a:solidFill>
              <a:latin typeface="Times New Roman" pitchFamily="18" charset="0"/>
            </a:endParaRPr>
          </a:p>
        </p:txBody>
      </p:sp>
      <p:cxnSp>
        <p:nvCxnSpPr>
          <p:cNvPr id="3145730" name="Connecteur droit avec flèche 21"/>
          <p:cNvCxnSpPr>
            <a:cxnSpLocks/>
          </p:cNvCxnSpPr>
          <p:nvPr/>
        </p:nvCxnSpPr>
        <p:spPr>
          <a:xfrm rot="16200000" flipH="1">
            <a:off x="8322495" y="6322239"/>
            <a:ext cx="285752" cy="214314"/>
          </a:xfrm>
          <a:prstGeom prst="straightConnector1"/>
          <a:ln w="127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re 1"/>
          <p:cNvSpPr>
            <a:spLocks noGrp="1"/>
          </p:cNvSpPr>
          <p:nvPr>
            <p:ph type="title"/>
          </p:nvPr>
        </p:nvSpPr>
        <p:spPr>
          <a:xfrm>
            <a:off x="560784" y="274638"/>
            <a:ext cx="7467600" cy="1143000"/>
          </a:xfrm>
        </p:spPr>
        <p:txBody>
          <a:bodyPr>
            <a:noAutofit/>
          </a:bodyPr>
          <a:p>
            <a:pPr algn="ctr"/>
            <a:r>
              <a:rPr b="1" dirty="0" sz="3600" lang="fr-FR" smtClean="0">
                <a:solidFill>
                  <a:srgbClr val="7030A0"/>
                </a:solidFill>
              </a:rPr>
              <a:t>Régulation de la pression artérielle</a:t>
            </a:r>
            <a:endParaRPr b="1" dirty="0" sz="3600" lang="fr-FR">
              <a:solidFill>
                <a:srgbClr val="7030A0"/>
              </a:solidFill>
            </a:endParaRPr>
          </a:p>
        </p:txBody>
      </p:sp>
      <p:sp>
        <p:nvSpPr>
          <p:cNvPr id="1048656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92832" y="1571612"/>
            <a:ext cx="7467600" cy="4873752"/>
          </a:xfrm>
        </p:spPr>
        <p:txBody>
          <a:bodyPr/>
          <a:p>
            <a:pPr>
              <a:buNone/>
            </a:pPr>
            <a:r>
              <a:rPr b="1" dirty="0" lang="fr-FR" smtClean="0"/>
              <a:t>                          Régulation</a:t>
            </a:r>
          </a:p>
          <a:p>
            <a:endParaRPr dirty="0" lang="fr-FR" smtClean="0"/>
          </a:p>
          <a:p>
            <a:pPr>
              <a:buNone/>
            </a:pPr>
            <a:r>
              <a:rPr b="1" dirty="0" lang="fr-FR" smtClean="0">
                <a:solidFill>
                  <a:srgbClr val="FF0000"/>
                </a:solidFill>
              </a:rPr>
              <a:t>Court terme                             long terme</a:t>
            </a:r>
          </a:p>
          <a:p>
            <a:pPr>
              <a:buNone/>
            </a:pPr>
            <a:r>
              <a:rPr dirty="0" lang="fr-FR" smtClean="0">
                <a:solidFill>
                  <a:srgbClr val="FF0000"/>
                </a:solidFill>
              </a:rPr>
              <a:t>      (Sec)                                        (Min , Jours)</a:t>
            </a:r>
          </a:p>
          <a:p>
            <a:endParaRPr dirty="0" lang="fr-FR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dirty="0" lang="fr-FR" smtClean="0"/>
              <a:t>Q            </a:t>
            </a:r>
            <a:r>
              <a:rPr dirty="0" lang="fr-FR" err="1" smtClean="0"/>
              <a:t>Rsys</a:t>
            </a:r>
            <a:r>
              <a:rPr dirty="0" lang="fr-FR" smtClean="0"/>
              <a:t>                                        V </a:t>
            </a:r>
            <a:r>
              <a:rPr dirty="0" lang="fr-FR" err="1" smtClean="0"/>
              <a:t>sg</a:t>
            </a:r>
            <a:endParaRPr dirty="0" lang="fr-FR" smtClean="0"/>
          </a:p>
          <a:p>
            <a:endParaRPr dirty="0" lang="fr-FR" smtClean="0"/>
          </a:p>
          <a:p>
            <a:pPr>
              <a:buNone/>
            </a:pPr>
            <a:r>
              <a:rPr dirty="0" lang="fr-FR" smtClean="0"/>
              <a:t>       SNA                                            V urinaire  </a:t>
            </a:r>
            <a:endParaRPr dirty="0" lang="fr-FR"/>
          </a:p>
        </p:txBody>
      </p:sp>
      <p:sp>
        <p:nvSpPr>
          <p:cNvPr id="1048657" name="Flèche courbée vers la droite 5"/>
          <p:cNvSpPr/>
          <p:nvPr/>
        </p:nvSpPr>
        <p:spPr>
          <a:xfrm>
            <a:off x="2123728" y="1928802"/>
            <a:ext cx="1214446" cy="714380"/>
          </a:xfrm>
          <a:prstGeom prst="curvedRigh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48658" name="Flèche courbée vers la gauche 6"/>
          <p:cNvSpPr/>
          <p:nvPr/>
        </p:nvSpPr>
        <p:spPr>
          <a:xfrm>
            <a:off x="5052686" y="1928802"/>
            <a:ext cx="1285884" cy="714380"/>
          </a:xfrm>
          <a:prstGeom prst="curvedLef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145731" name="Connecteur droit avec flèche 8"/>
          <p:cNvCxnSpPr>
            <a:cxnSpLocks/>
          </p:cNvCxnSpPr>
          <p:nvPr/>
        </p:nvCxnSpPr>
        <p:spPr>
          <a:xfrm rot="5400000">
            <a:off x="1047028" y="3428430"/>
            <a:ext cx="500066" cy="357190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2" name="Connecteur droit avec flèche 10"/>
          <p:cNvCxnSpPr>
            <a:cxnSpLocks/>
          </p:cNvCxnSpPr>
          <p:nvPr/>
        </p:nvCxnSpPr>
        <p:spPr>
          <a:xfrm rot="16200000" flipH="1">
            <a:off x="2234875" y="3464150"/>
            <a:ext cx="500066" cy="285752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Connecteur droit avec flèche 12"/>
          <p:cNvCxnSpPr>
            <a:cxnSpLocks/>
          </p:cNvCxnSpPr>
          <p:nvPr/>
        </p:nvCxnSpPr>
        <p:spPr>
          <a:xfrm rot="5400000">
            <a:off x="6338191" y="3607595"/>
            <a:ext cx="499272" cy="794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4" name="Connecteur droit avec flèche 15"/>
          <p:cNvCxnSpPr>
            <a:cxnSpLocks/>
          </p:cNvCxnSpPr>
          <p:nvPr/>
        </p:nvCxnSpPr>
        <p:spPr>
          <a:xfrm rot="16200000" flipV="1">
            <a:off x="1154185" y="4392843"/>
            <a:ext cx="428628" cy="214314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eur droit avec flèche 17"/>
          <p:cNvCxnSpPr>
            <a:cxnSpLocks/>
          </p:cNvCxnSpPr>
          <p:nvPr/>
        </p:nvCxnSpPr>
        <p:spPr>
          <a:xfrm rot="5400000" flipH="1" flipV="1">
            <a:off x="2306313" y="4392844"/>
            <a:ext cx="428628" cy="214314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6" name="Connecteur droit avec flèche 19"/>
          <p:cNvCxnSpPr>
            <a:cxnSpLocks/>
          </p:cNvCxnSpPr>
          <p:nvPr/>
        </p:nvCxnSpPr>
        <p:spPr>
          <a:xfrm flipV="1">
            <a:off x="6588224" y="4214819"/>
            <a:ext cx="0" cy="499495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9" name="TextBox 3"/>
          <p:cNvSpPr txBox="1"/>
          <p:nvPr/>
        </p:nvSpPr>
        <p:spPr>
          <a:xfrm>
            <a:off x="755576" y="5910371"/>
            <a:ext cx="2438582" cy="802640"/>
          </a:xfrm>
          <a:prstGeom prst="rect"/>
          <a:solidFill>
            <a:schemeClr val="accent2">
              <a:lumMod val="60000"/>
              <a:lumOff val="40000"/>
            </a:schemeClr>
          </a:solidFill>
        </p:spPr>
        <p:txBody>
          <a:bodyPr rtlCol="0" wrap="square">
            <a:spAutoFit/>
          </a:bodyPr>
          <a:p>
            <a:r>
              <a:rPr dirty="0" sz="2400" lang="fr-FR" smtClean="0">
                <a:solidFill>
                  <a:srgbClr val="FF0000"/>
                </a:solidFill>
              </a:rPr>
              <a:t>Arc réflexe des barorécepteurs</a:t>
            </a:r>
            <a:endParaRPr dirty="0" sz="2400" lang="fr-FR">
              <a:solidFill>
                <a:srgbClr val="FF0000"/>
              </a:solidFill>
            </a:endParaRPr>
          </a:p>
        </p:txBody>
      </p:sp>
      <p:sp>
        <p:nvSpPr>
          <p:cNvPr id="1048660" name="TextBox 7"/>
          <p:cNvSpPr txBox="1"/>
          <p:nvPr/>
        </p:nvSpPr>
        <p:spPr>
          <a:xfrm>
            <a:off x="4572000" y="5561945"/>
            <a:ext cx="4139952" cy="1323439"/>
          </a:xfrm>
          <a:prstGeom prst="rect"/>
          <a:solidFill>
            <a:srgbClr val="92D050"/>
          </a:solidFill>
        </p:spPr>
        <p:txBody>
          <a:bodyPr rtlCol="0" wrap="square">
            <a:spAutoFit/>
          </a:bodyPr>
          <a:p>
            <a:pPr indent="-285750" marL="285750">
              <a:buFontTx/>
              <a:buChar char="-"/>
            </a:pPr>
            <a:r>
              <a:rPr dirty="0" sz="2000" lang="fr-FR" smtClean="0"/>
              <a:t> SRAA (</a:t>
            </a:r>
            <a:r>
              <a:rPr dirty="0" sz="2000" lang="fr-FR" err="1"/>
              <a:t>S</a:t>
            </a:r>
            <a:r>
              <a:rPr dirty="0" sz="2000" lang="fr-FR" err="1" smtClean="0"/>
              <a:t>yst</a:t>
            </a:r>
            <a:r>
              <a:rPr dirty="0" sz="2000" lang="fr-FR" smtClean="0"/>
              <a:t> </a:t>
            </a:r>
            <a:r>
              <a:rPr dirty="0" sz="2000" lang="fr-FR" err="1" smtClean="0"/>
              <a:t>Renine</a:t>
            </a:r>
            <a:r>
              <a:rPr dirty="0" sz="2000" lang="fr-FR" smtClean="0"/>
              <a:t>-Ang-</a:t>
            </a:r>
            <a:r>
              <a:rPr dirty="0" sz="2000" lang="fr-FR" err="1" smtClean="0"/>
              <a:t>Ald</a:t>
            </a:r>
            <a:r>
              <a:rPr dirty="0" sz="2000" lang="fr-FR" smtClean="0"/>
              <a:t>)</a:t>
            </a:r>
          </a:p>
          <a:p>
            <a:pPr indent="-285750" marL="285750">
              <a:buFontTx/>
              <a:buChar char="-"/>
            </a:pPr>
            <a:r>
              <a:rPr dirty="0" sz="2000" lang="fr-FR"/>
              <a:t> </a:t>
            </a:r>
            <a:r>
              <a:rPr dirty="0" sz="2000" lang="fr-FR" smtClean="0"/>
              <a:t>ADH</a:t>
            </a:r>
          </a:p>
          <a:p>
            <a:pPr indent="-285750" marL="285750">
              <a:buFontTx/>
              <a:buChar char="-"/>
            </a:pPr>
            <a:r>
              <a:rPr dirty="0" sz="2000" lang="fr-FR"/>
              <a:t> </a:t>
            </a:r>
            <a:r>
              <a:rPr dirty="0" sz="2000" lang="fr-FR" smtClean="0"/>
              <a:t>NAF</a:t>
            </a:r>
          </a:p>
          <a:p>
            <a:pPr indent="-285750" marL="285750">
              <a:buFontTx/>
              <a:buChar char="-"/>
            </a:pPr>
            <a:r>
              <a:rPr dirty="0" sz="2000" lang="fr-FR"/>
              <a:t> S</a:t>
            </a:r>
            <a:r>
              <a:rPr dirty="0" sz="2000" lang="fr-FR" smtClean="0"/>
              <a:t>ystème </a:t>
            </a:r>
            <a:r>
              <a:rPr dirty="0" sz="2000" lang="fr-FR" err="1" smtClean="0"/>
              <a:t>kinine</a:t>
            </a:r>
            <a:r>
              <a:rPr dirty="0" sz="2000" lang="fr-FR" smtClean="0"/>
              <a:t> </a:t>
            </a:r>
            <a:r>
              <a:rPr dirty="0" sz="2000" lang="fr-FR" err="1" smtClean="0"/>
              <a:t>Kallicréine</a:t>
            </a:r>
            <a:endParaRPr dirty="0" sz="2000" lang="fr-FR"/>
          </a:p>
        </p:txBody>
      </p:sp>
      <p:sp>
        <p:nvSpPr>
          <p:cNvPr id="1048661" name="Up Arrow 9"/>
          <p:cNvSpPr/>
          <p:nvPr/>
        </p:nvSpPr>
        <p:spPr>
          <a:xfrm>
            <a:off x="1763688" y="5268109"/>
            <a:ext cx="434328" cy="537155"/>
          </a:xfrm>
          <a:prstGeom prst="up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sp>
        <p:nvSpPr>
          <p:cNvPr id="1048662" name="Up Arrow 18"/>
          <p:cNvSpPr/>
          <p:nvPr/>
        </p:nvSpPr>
        <p:spPr>
          <a:xfrm>
            <a:off x="6423970" y="5107625"/>
            <a:ext cx="434328" cy="429062"/>
          </a:xfrm>
          <a:prstGeom prst="up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</p:spTree>
  </p:cSld>
  <p:clrMapOvr>
    <a:masterClrMapping/>
  </p:clrMapOvr>
  <p:transition spd="slow">
    <p:cover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9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dur="1000" id="9"/>
                                        <p:tgtEl>
                                          <p:spTgt spid="104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0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2">
                      <p:stCondLst>
                        <p:cond delay="indefinite"/>
                      </p:stCondLst>
                      <p:childTnLst>
                        <p:par>
                          <p:cTn fill="hold" id="13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4" nodeType="clickEffect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8" nodeType="withEffect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2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4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6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8">
                      <p:stCondLst>
                        <p:cond delay="indefinite"/>
                      </p:stCondLst>
                      <p:childTnLst>
                        <p:par>
                          <p:cTn fill="hold" id="29">
                            <p:stCondLst>
                              <p:cond delay="0"/>
                            </p:stCondLst>
                            <p:childTnLst>
                              <p:par>
                                <p:cTn fill="hold" id="30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32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34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6">
                      <p:stCondLst>
                        <p:cond delay="indefinite"/>
                      </p:stCondLst>
                      <p:childTnLst>
                        <p:par>
                          <p:cTn fill="hold" id="37">
                            <p:stCondLst>
                              <p:cond delay="0"/>
                            </p:stCondLst>
                            <p:childTnLst>
                              <p:par>
                                <p:cTn fill="hold" id="38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40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42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44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6">
                      <p:stCondLst>
                        <p:cond delay="indefinite"/>
                      </p:stCondLst>
                      <p:childTnLst>
                        <p:par>
                          <p:cTn fill="hold" id="47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8" nodeType="clickEffect" presetClass="entr" presetID="3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50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51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52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53"/>
                                        <p:tgtEl>
                                          <p:spTgt spid="104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54" nodeType="withEffect" presetClass="entr" presetID="3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56"/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57"/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58"/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59"/>
                                        <p:tgtEl>
                                          <p:spTgt spid="104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0">
                      <p:stCondLst>
                        <p:cond delay="indefinite"/>
                      </p:stCondLst>
                      <p:childTnLst>
                        <p:par>
                          <p:cTn fill="hold" id="6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62" nodeType="clickEffect" presetClass="entr" presetID="3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64"/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65"/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66"/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67"/>
                                        <p:tgtEl>
                                          <p:spTgt spid="104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68" nodeType="withEffect" presetClass="entr" presetID="3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0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71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72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73"/>
                                        <p:tgtEl>
                                          <p:spTgt spid="104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5" grpId="0"/>
      <p:bldP spid="1048657" grpId="0" animBg="1"/>
      <p:bldP spid="1048658" grpId="0" animBg="1"/>
      <p:bldP spid="1048659" grpId="0" animBg="1"/>
      <p:bldP spid="1048660" grpId="0" animBg="1"/>
      <p:bldP spid="1048661" grpId="0" animBg="1"/>
      <p:bldP spid="10486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206500" y="1993900"/>
            <a:ext cx="6896100" cy="4851400"/>
          </a:xfrm>
          <a:prstGeom prst="rect"/>
        </p:spPr>
      </p:pic>
      <p:sp>
        <p:nvSpPr>
          <p:cNvPr id="104866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fr-FR" smtClean="0">
                <a:solidFill>
                  <a:srgbClr val="7030A0"/>
                </a:solidFill>
              </a:rPr>
              <a:t>Régulation de PA à court terme</a:t>
            </a:r>
            <a:br>
              <a:rPr b="1" dirty="0" lang="fr-FR" smtClean="0">
                <a:solidFill>
                  <a:srgbClr val="7030A0"/>
                </a:solidFill>
              </a:rPr>
            </a:br>
            <a:r>
              <a:rPr b="1" dirty="0" lang="fr-FR" smtClean="0">
                <a:solidFill>
                  <a:srgbClr val="FF0000"/>
                </a:solidFill>
              </a:rPr>
              <a:t>a) arc réflexe des </a:t>
            </a:r>
            <a:r>
              <a:rPr b="1" dirty="0" lang="fr-FR" err="1" smtClean="0">
                <a:solidFill>
                  <a:srgbClr val="FF0000"/>
                </a:solidFill>
              </a:rPr>
              <a:t>baro</a:t>
            </a:r>
            <a:r>
              <a:rPr b="1" dirty="0" lang="fr-FR" err="1">
                <a:solidFill>
                  <a:srgbClr val="FF0000"/>
                </a:solidFill>
              </a:rPr>
              <a:t>-</a:t>
            </a:r>
            <a:r>
              <a:rPr b="1" dirty="0" lang="fr-FR" err="1" smtClean="0">
                <a:solidFill>
                  <a:srgbClr val="FF0000"/>
                </a:solidFill>
              </a:rPr>
              <a:t>récepteurs</a:t>
            </a:r>
            <a:r>
              <a:rPr b="1" dirty="0" lang="fr-FR" smtClean="0">
                <a:solidFill>
                  <a:srgbClr val="FF0000"/>
                </a:solidFill>
              </a:rPr>
              <a:t>:</a:t>
            </a:r>
            <a:br>
              <a:rPr b="1" dirty="0" lang="fr-FR" smtClean="0">
                <a:solidFill>
                  <a:srgbClr val="FF0000"/>
                </a:solidFill>
              </a:rPr>
            </a:br>
            <a:endParaRPr b="1" dirty="0" sz="2200"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re 1"/>
          <p:cNvSpPr>
            <a:spLocks noGrp="1"/>
          </p:cNvSpPr>
          <p:nvPr>
            <p:ph type="title"/>
          </p:nvPr>
        </p:nvSpPr>
        <p:spPr>
          <a:xfrm>
            <a:off x="23026" y="116632"/>
            <a:ext cx="7467600" cy="675779"/>
          </a:xfrm>
        </p:spPr>
        <p:txBody>
          <a:bodyPr>
            <a:normAutofit/>
          </a:bodyPr>
          <a:p>
            <a:pPr algn="ctr"/>
            <a:r>
              <a:rPr dirty="0" sz="3200" lang="fr-FR" smtClean="0">
                <a:solidFill>
                  <a:srgbClr val="7030A0"/>
                </a:solidFill>
              </a:rPr>
              <a:t>HYPERTENSION ARTÉRIELLE</a:t>
            </a:r>
            <a:endParaRPr dirty="0" sz="3200" lang="fr-FR">
              <a:solidFill>
                <a:srgbClr val="7030A0"/>
              </a:solidFill>
            </a:endParaRPr>
          </a:p>
        </p:txBody>
      </p:sp>
      <p:sp>
        <p:nvSpPr>
          <p:cNvPr id="1048671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51520" y="1844824"/>
            <a:ext cx="8329642" cy="4824535"/>
          </a:xfrm>
        </p:spPr>
        <p:txBody>
          <a:bodyPr>
            <a:normAutofit fontScale="95000" lnSpcReduction="10000"/>
          </a:bodyPr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dirty="0" lang="fr-FR" smtClean="0"/>
              <a:t>                                  </a:t>
            </a:r>
            <a:r>
              <a:rPr b="1" dirty="0" sz="2800" lang="fr-FR" smtClean="0"/>
              <a:t>HTA</a:t>
            </a:r>
            <a:endParaRPr b="1" dirty="0" lang="fr-FR" smtClean="0"/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b="1" dirty="0" lang="fr-FR" smtClean="0">
                <a:solidFill>
                  <a:srgbClr val="FF0000"/>
                </a:solidFill>
              </a:rPr>
              <a:t>ESSENTIELLE                                  SECONDAIRE</a:t>
            </a:r>
          </a:p>
          <a:p>
            <a:pPr>
              <a:buNone/>
            </a:pPr>
            <a:r>
              <a:rPr dirty="0" lang="fr-FR" smtClean="0"/>
              <a:t>    90%                                                      10%</a:t>
            </a:r>
          </a:p>
          <a:p>
            <a:pPr>
              <a:buNone/>
            </a:pPr>
            <a:r>
              <a:rPr dirty="0" sz="2000" lang="fr-FR" smtClean="0"/>
              <a:t>IDIOPATHIQUE                                      ATHÉROSCLÉROSE</a:t>
            </a:r>
          </a:p>
          <a:p>
            <a:pPr>
              <a:buNone/>
            </a:pPr>
            <a:r>
              <a:rPr dirty="0" sz="2000" lang="fr-FR" smtClean="0"/>
              <a:t>                                                               INSUFFISANCE RÉNALE</a:t>
            </a:r>
          </a:p>
          <a:p>
            <a:pPr>
              <a:buNone/>
            </a:pPr>
            <a:r>
              <a:rPr dirty="0" sz="2000" lang="fr-FR" smtClean="0"/>
              <a:t>                                                              </a:t>
            </a:r>
            <a:r>
              <a:rPr dirty="0" sz="2000" lang="fr-FR" err="1" smtClean="0"/>
              <a:t>HYPERALDOSTERONISME</a:t>
            </a:r>
            <a:endParaRPr dirty="0" sz="2000" lang="fr-FR" smtClean="0"/>
          </a:p>
          <a:p>
            <a:pPr>
              <a:buNone/>
            </a:pPr>
            <a:r>
              <a:rPr dirty="0" sz="2000" lang="fr-FR" smtClean="0"/>
              <a:t>                                                               </a:t>
            </a:r>
          </a:p>
          <a:p>
            <a:pPr>
              <a:buNone/>
            </a:pPr>
            <a:r>
              <a:rPr dirty="0" sz="2000" lang="fr-FR" smtClean="0">
                <a:solidFill>
                  <a:srgbClr val="FF0000"/>
                </a:solidFill>
              </a:rPr>
              <a:t>COMPLICATIONS</a:t>
            </a:r>
          </a:p>
          <a:p>
            <a:pPr>
              <a:buNone/>
            </a:pPr>
            <a:r>
              <a:rPr dirty="0" sz="2000" lang="fr-FR" smtClean="0"/>
              <a:t>INSUFFISANCE CARDIAQUE</a:t>
            </a:r>
          </a:p>
          <a:p>
            <a:pPr>
              <a:buNone/>
            </a:pPr>
            <a:r>
              <a:rPr dirty="0" sz="2000" lang="fr-FR" smtClean="0"/>
              <a:t>INSUFFISANCE CORONAIRE..AVC….          </a:t>
            </a:r>
            <a:endParaRPr dirty="0" sz="2000" lang="fr-FR"/>
          </a:p>
        </p:txBody>
      </p:sp>
      <p:pic>
        <p:nvPicPr>
          <p:cNvPr id="2097158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cxnSp>
        <p:nvCxnSpPr>
          <p:cNvPr id="3145737" name="Connecteur droit avec flèche 5"/>
          <p:cNvCxnSpPr>
            <a:cxnSpLocks/>
          </p:cNvCxnSpPr>
          <p:nvPr/>
        </p:nvCxnSpPr>
        <p:spPr>
          <a:xfrm rot="10800000" flipV="1">
            <a:off x="755577" y="2496885"/>
            <a:ext cx="2357454" cy="500066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Connecteur droit avec flèche 7"/>
          <p:cNvCxnSpPr>
            <a:cxnSpLocks/>
          </p:cNvCxnSpPr>
          <p:nvPr/>
        </p:nvCxnSpPr>
        <p:spPr>
          <a:xfrm>
            <a:off x="4159332" y="2496885"/>
            <a:ext cx="2428892" cy="42862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2" name="Rectangle 4"/>
          <p:cNvSpPr/>
          <p:nvPr/>
        </p:nvSpPr>
        <p:spPr>
          <a:xfrm>
            <a:off x="107505" y="836712"/>
            <a:ext cx="7322015" cy="1158240"/>
          </a:xfrm>
          <a:prstGeom prst="rect"/>
        </p:spPr>
        <p:txBody>
          <a:bodyPr wrap="square">
            <a:spAutoFit/>
          </a:bodyPr>
          <a:p>
            <a:pPr algn="just"/>
            <a:r>
              <a:rPr dirty="0" sz="2400" lang="fr-FR" smtClean="0"/>
              <a:t>tension </a:t>
            </a:r>
            <a:r>
              <a:rPr dirty="0" sz="2400" lang="fr-FR"/>
              <a:t>systolique ≥140 et/ou une tension diastolique </a:t>
            </a:r>
            <a:r>
              <a:rPr dirty="0" sz="2400" lang="fr-FR" smtClean="0"/>
              <a:t>≥ 90</a:t>
            </a:r>
            <a:r>
              <a:rPr dirty="0" sz="2400" lang="fr-FR"/>
              <a:t>) chez les personnes de 18 ans et plus.</a:t>
            </a:r>
          </a:p>
        </p:txBody>
      </p:sp>
    </p:spTree>
  </p:cSld>
  <p:clrMapOvr>
    <a:masterClrMapping/>
  </p:clrMapOvr>
  <p:transition spd="slow">
    <p:cover/>
  </p:transition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fr-FR" smtClean="0">
                <a:solidFill>
                  <a:srgbClr val="C00000"/>
                </a:solidFill>
              </a:rPr>
              <a:t>II)LES ANTIHYPERTENSEURS:</a:t>
            </a:r>
            <a:endParaRPr b="1" dirty="0" lang="fr-FR">
              <a:solidFill>
                <a:srgbClr val="C00000"/>
              </a:solidFill>
            </a:endParaRPr>
          </a:p>
        </p:txBody>
      </p:sp>
      <p:sp>
        <p:nvSpPr>
          <p:cNvPr id="1048674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p>
            <a:pPr>
              <a:buNone/>
            </a:pPr>
            <a:r>
              <a:rPr dirty="0" lang="fr-FR" smtClean="0">
                <a:solidFill>
                  <a:srgbClr val="FF0000"/>
                </a:solidFill>
              </a:rPr>
              <a:t>                                      </a:t>
            </a:r>
            <a:r>
              <a:rPr b="1" dirty="0" sz="3200" lang="fr-FR" smtClean="0">
                <a:solidFill>
                  <a:srgbClr val="FF0000"/>
                </a:solidFill>
              </a:rPr>
              <a:t>PA</a:t>
            </a:r>
            <a:r>
              <a:rPr dirty="0" lang="fr-FR" smtClean="0"/>
              <a:t>                                    </a:t>
            </a:r>
            <a:r>
              <a:rPr dirty="0" sz="1800" lang="fr-FR" smtClean="0"/>
              <a:t>    </a:t>
            </a:r>
          </a:p>
          <a:p>
            <a:pPr>
              <a:buNone/>
            </a:pPr>
            <a:endParaRPr dirty="0" sz="1800" lang="fr-FR" smtClean="0"/>
          </a:p>
          <a:p>
            <a:pPr>
              <a:buNone/>
            </a:pPr>
            <a:endParaRPr dirty="0" sz="1800" lang="fr-FR" smtClean="0"/>
          </a:p>
          <a:p>
            <a:pPr>
              <a:buNone/>
            </a:pPr>
            <a:endParaRPr dirty="0" sz="1800" lang="fr-FR" smtClean="0"/>
          </a:p>
          <a:p>
            <a:pPr>
              <a:buNone/>
            </a:pPr>
            <a:endParaRPr dirty="0" sz="1800" lang="fr-FR" smtClean="0"/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dirty="0" lang="fr-FR" smtClean="0"/>
              <a:t>                                    PA</a:t>
            </a:r>
            <a:r>
              <a:rPr dirty="0" sz="1800" lang="fr-FR" smtClean="0"/>
              <a:t> NORMALE</a:t>
            </a:r>
            <a:endParaRPr dirty="0" lang="fr-FR" smtClean="0"/>
          </a:p>
          <a:p>
            <a:endParaRPr dirty="0" lang="fr-FR" smtClean="0"/>
          </a:p>
          <a:p>
            <a:pPr>
              <a:buNone/>
            </a:pPr>
            <a:r>
              <a:rPr dirty="0" lang="fr-FR" smtClean="0"/>
              <a:t>                                  ACTION     </a:t>
            </a:r>
          </a:p>
          <a:p>
            <a:endParaRPr dirty="0" lang="fr-FR" smtClean="0"/>
          </a:p>
          <a:p>
            <a:pPr>
              <a:buNone/>
            </a:pPr>
            <a:r>
              <a:rPr dirty="0" lang="fr-FR" smtClean="0"/>
              <a:t>DÉBIT                                               RESISTANCES</a:t>
            </a:r>
          </a:p>
          <a:p>
            <a:endParaRPr dirty="0" lang="fr-FR"/>
          </a:p>
        </p:txBody>
      </p:sp>
      <p:pic>
        <p:nvPicPr>
          <p:cNvPr id="2097159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cxnSp>
        <p:nvCxnSpPr>
          <p:cNvPr id="3145739" name="Connecteur droit avec flèche 5"/>
          <p:cNvCxnSpPr>
            <a:cxnSpLocks/>
          </p:cNvCxnSpPr>
          <p:nvPr/>
        </p:nvCxnSpPr>
        <p:spPr>
          <a:xfrm rot="5400000" flipH="1" flipV="1">
            <a:off x="4428000" y="1784802"/>
            <a:ext cx="288000" cy="285752"/>
          </a:xfrm>
          <a:prstGeom prst="straightConnector1"/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48675" name="Flèche courbée vers la droite 12"/>
          <p:cNvSpPr/>
          <p:nvPr/>
        </p:nvSpPr>
        <p:spPr>
          <a:xfrm flipH="1">
            <a:off x="5286380" y="5000636"/>
            <a:ext cx="3071834" cy="714380"/>
          </a:xfrm>
          <a:prstGeom prst="curvedRightArrow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p>
            <a:pPr algn="ctr"/>
            <a:endParaRPr dirty="0" lang="fr-FR">
              <a:solidFill>
                <a:schemeClr val="tx1"/>
              </a:solidFill>
            </a:endParaRPr>
          </a:p>
        </p:txBody>
      </p:sp>
      <p:sp>
        <p:nvSpPr>
          <p:cNvPr id="1048676" name="Flèche courbée vers la droite 13"/>
          <p:cNvSpPr/>
          <p:nvPr/>
        </p:nvSpPr>
        <p:spPr>
          <a:xfrm>
            <a:off x="0" y="5072074"/>
            <a:ext cx="3000364" cy="714380"/>
          </a:xfrm>
          <a:prstGeom prst="curvedRightArrow">
            <a:avLst>
              <a:gd name="adj1" fmla="val 25000"/>
              <a:gd name="adj2" fmla="val 50000"/>
              <a:gd name="adj3" fmla="val 2828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p>
            <a:pPr algn="ctr"/>
            <a:endParaRPr dirty="0" lang="fr-FR">
              <a:solidFill>
                <a:schemeClr val="tx1"/>
              </a:solidFill>
            </a:endParaRPr>
          </a:p>
        </p:txBody>
      </p:sp>
      <p:sp>
        <p:nvSpPr>
          <p:cNvPr id="1048677" name="Flèche vers le bas 14"/>
          <p:cNvSpPr/>
          <p:nvPr/>
        </p:nvSpPr>
        <p:spPr>
          <a:xfrm>
            <a:off x="3786182" y="2214554"/>
            <a:ext cx="285752" cy="1714512"/>
          </a:xfrm>
          <a:prstGeom prst="downArrow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fr-FR"/>
          </a:p>
        </p:txBody>
      </p:sp>
    </p:spTree>
  </p:cSld>
  <p:clrMapOvr>
    <a:masterClrMapping/>
  </p:clrMapOvr>
  <p:transition spd="slow">
    <p:cover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5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ecel="100000" dur="770" id="9"/>
                                        <p:tgtEl>
                                          <p:spTgt spid="31457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decel="100000" dur="770" id="10"/>
                                        <p:tgtEl>
                                          <p:spTgt spid="314573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accel="100000" dur="1230" fill="hold" id="11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573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dur="770" fill="hold" id="12"/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from="(0.5)" to="(#ppt_x)" valueType="num">
                                      <p:cBhvr>
                                        <p:cTn accel="100000" dur="1230" fill="hold" id="13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dur="770" fill="hold" id="14"/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from="(#ppt_y+0.4)" to="(#ppt_y)" valueType="num">
                                      <p:cBhvr>
                                        <p:cTn accel="100000" dur="1230" fill="hold" id="15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fill="hold" id="16" nodeType="withEffect" presetClass="entr" presetID="5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ecel="100000" dur="770" id="18"/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decel="100000" dur="770" id="19"/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accel="100000" dur="1230" fill="hold" id="20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dur="770" fill="hold" id="21"/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from="(0.5)" to="(#ppt_x)" valueType="num">
                                      <p:cBhvr>
                                        <p:cTn accel="100000" dur="1230" fill="hold" id="22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dur="770" fill="hold" id="23"/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from="(#ppt_y+0.4)" to="(#ppt_y)" valueType="num">
                                      <p:cBhvr>
                                        <p:cTn accel="100000" dur="1230" fill="hold" id="24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5">
                      <p:stCondLst>
                        <p:cond delay="indefinite"/>
                      </p:stCondLst>
                      <p:childTnLst>
                        <p:par>
                          <p:cTn fill="hold" id="2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7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1"/>
                                        <p:tgtEl>
                                          <p:spTgt spid="104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2"/>
                                        <p:tgtEl>
                                          <p:spTgt spid="104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id="35" nodeType="clickEffect" presetClass="entr" presetID="5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37"/>
                                        <p:tgtEl>
                                          <p:spTgt spid="104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8"/>
                                        <p:tgtEl>
                                          <p:spTgt spid="104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39"/>
                                        <p:tgtEl>
                                          <p:spTgt spid="104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0">
                      <p:stCondLst>
                        <p:cond delay="indefinite"/>
                      </p:stCondLst>
                      <p:childTnLst>
                        <p:par>
                          <p:cTn fill="hold" id="4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2" nodeType="clickEffect" presetClass="entr" presetID="5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44"/>
                                        <p:tgtEl>
                                          <p:spTgt spid="1048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45"/>
                                        <p:tgtEl>
                                          <p:spTgt spid="1048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46"/>
                                        <p:tgtEl>
                                          <p:spTgt spid="104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7" nodeType="withEffect" presetClass="entr" presetID="5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49"/>
                                        <p:tgtEl>
                                          <p:spTgt spid="104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50"/>
                                        <p:tgtEl>
                                          <p:spTgt spid="104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51"/>
                                        <p:tgtEl>
                                          <p:spTgt spid="104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2">
                      <p:stCondLst>
                        <p:cond delay="indefinite"/>
                      </p:stCondLst>
                      <p:childTnLst>
                        <p:par>
                          <p:cTn fill="hold" id="53">
                            <p:stCondLst>
                              <p:cond delay="0"/>
                            </p:stCondLst>
                            <p:childTnLst>
                              <p:par>
                                <p:cTn fill="hold" id="54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3" grpId="0"/>
      <p:bldP spid="1048675" grpId="0" animBg="1"/>
      <p:bldP spid="1048676" grpId="0" animBg="1"/>
      <p:bldP spid="104867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re 1"/>
          <p:cNvSpPr>
            <a:spLocks noGrp="1"/>
          </p:cNvSpPr>
          <p:nvPr>
            <p:ph type="title"/>
          </p:nvPr>
        </p:nvSpPr>
        <p:spPr>
          <a:xfrm>
            <a:off x="107504" y="-243408"/>
            <a:ext cx="9144000" cy="1143000"/>
          </a:xfrm>
        </p:spPr>
        <p:txBody>
          <a:bodyPr>
            <a:normAutofit/>
          </a:bodyPr>
          <a:p>
            <a:r>
              <a:rPr b="1" dirty="0" sz="3200" lang="fr-FR" smtClean="0">
                <a:solidFill>
                  <a:srgbClr val="7030A0"/>
                </a:solidFill>
              </a:rPr>
              <a:t>Classification des antihypertenseurs:</a:t>
            </a:r>
            <a:endParaRPr b="1" dirty="0" sz="3200" lang="fr-FR">
              <a:solidFill>
                <a:srgbClr val="7030A0"/>
              </a:solidFill>
            </a:endParaRPr>
          </a:p>
        </p:txBody>
      </p:sp>
      <p:sp>
        <p:nvSpPr>
          <p:cNvPr id="1048679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686800" cy="4873752"/>
          </a:xfrm>
        </p:spPr>
        <p:txBody>
          <a:bodyPr/>
          <a:p>
            <a:pPr algn="ctr">
              <a:buNone/>
            </a:pPr>
            <a:r>
              <a:rPr b="1" dirty="0" lang="fr-FR" smtClean="0">
                <a:solidFill>
                  <a:srgbClr val="7030A0"/>
                </a:solidFill>
              </a:rPr>
              <a:t>Selon </a:t>
            </a:r>
            <a:r>
              <a:rPr b="1" dirty="0" lang="fr-FR">
                <a:solidFill>
                  <a:srgbClr val="7030A0"/>
                </a:solidFill>
              </a:rPr>
              <a:t>m</a:t>
            </a:r>
            <a:r>
              <a:rPr b="1" dirty="0" lang="fr-FR" smtClean="0">
                <a:solidFill>
                  <a:srgbClr val="7030A0"/>
                </a:solidFill>
              </a:rPr>
              <a:t>écanisme d’action et site d’action</a:t>
            </a:r>
          </a:p>
          <a:p>
            <a:pPr>
              <a:buNone/>
            </a:pPr>
            <a:r>
              <a:rPr dirty="0" lang="fr-FR" smtClean="0"/>
              <a:t>                                antihypertenseurs</a:t>
            </a:r>
          </a:p>
          <a:p>
            <a:pPr>
              <a:buNone/>
            </a:pPr>
            <a:endParaRPr b="1" dirty="0" sz="1800" lang="fr-FR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b="1" dirty="0" sz="1800" lang="fr-FR" smtClean="0">
                <a:solidFill>
                  <a:srgbClr val="FF0000"/>
                </a:solidFill>
              </a:rPr>
              <a:t> </a:t>
            </a:r>
            <a:r>
              <a:rPr b="1" dirty="0" sz="1800" lang="fr-FR" err="1" smtClean="0">
                <a:solidFill>
                  <a:srgbClr val="FF0000"/>
                </a:solidFill>
              </a:rPr>
              <a:t>Sympatho</a:t>
            </a:r>
            <a:r>
              <a:rPr b="1" dirty="0" sz="1800" lang="fr-FR" smtClean="0">
                <a:solidFill>
                  <a:srgbClr val="FF0000"/>
                </a:solidFill>
              </a:rPr>
              <a:t>-</a:t>
            </a:r>
          </a:p>
          <a:p>
            <a:pPr>
              <a:buNone/>
            </a:pPr>
            <a:r>
              <a:rPr b="1" dirty="0" sz="1800" lang="fr-FR">
                <a:solidFill>
                  <a:srgbClr val="FF0000"/>
                </a:solidFill>
              </a:rPr>
              <a:t>-</a:t>
            </a:r>
            <a:r>
              <a:rPr b="1" dirty="0" sz="1800" lang="fr-FR" smtClean="0">
                <a:solidFill>
                  <a:srgbClr val="FF0000"/>
                </a:solidFill>
              </a:rPr>
              <a:t>modulateurs                                                                          Vasodilatateurs </a:t>
            </a:r>
          </a:p>
          <a:p>
            <a:pPr>
              <a:buNone/>
            </a:pPr>
            <a:r>
              <a:rPr dirty="0" sz="1800" lang="fr-FR" smtClean="0"/>
              <a:t>α/</a:t>
            </a:r>
            <a:r>
              <a:rPr dirty="0" sz="1800" lang="el-GR" smtClean="0"/>
              <a:t>β</a:t>
            </a:r>
            <a:r>
              <a:rPr dirty="0" sz="1800" lang="en-GB" smtClean="0"/>
              <a:t> </a:t>
            </a:r>
            <a:r>
              <a:rPr dirty="0" sz="1800" lang="en-GB" err="1" smtClean="0"/>
              <a:t>bloquants</a:t>
            </a:r>
            <a:r>
              <a:rPr dirty="0" sz="1800" lang="en-GB" smtClean="0"/>
              <a:t>         </a:t>
            </a:r>
            <a:r>
              <a:rPr b="1" dirty="0" sz="1800" lang="en-GB" err="1" smtClean="0">
                <a:solidFill>
                  <a:srgbClr val="FF0000"/>
                </a:solidFill>
              </a:rPr>
              <a:t>Antagonistes</a:t>
            </a:r>
            <a:r>
              <a:rPr b="1" dirty="0" sz="1800" lang="en-GB" smtClean="0">
                <a:solidFill>
                  <a:srgbClr val="FF0000"/>
                </a:solidFill>
              </a:rPr>
              <a:t> </a:t>
            </a:r>
            <a:r>
              <a:rPr b="1" dirty="0" sz="1800" lang="en-GB" err="1" smtClean="0">
                <a:solidFill>
                  <a:srgbClr val="FF0000"/>
                </a:solidFill>
              </a:rPr>
              <a:t>Ca</a:t>
            </a:r>
            <a:r>
              <a:rPr b="1" dirty="0" sz="1800" lang="en-GB" smtClean="0">
                <a:solidFill>
                  <a:srgbClr val="FF0000"/>
                </a:solidFill>
              </a:rPr>
              <a:t>   </a:t>
            </a:r>
          </a:p>
          <a:p>
            <a:pPr>
              <a:buNone/>
            </a:pPr>
            <a:r>
              <a:rPr b="1" dirty="0" sz="1600" lang="en-GB" smtClean="0"/>
              <a:t>                                                         </a:t>
            </a:r>
            <a:r>
              <a:rPr dirty="0" sz="1600" lang="en-GB" smtClean="0"/>
              <a:t>   </a:t>
            </a:r>
            <a:r>
              <a:rPr b="1" dirty="0" sz="1600" lang="en-GB" err="1" smtClean="0">
                <a:solidFill>
                  <a:srgbClr val="FF0000"/>
                </a:solidFill>
              </a:rPr>
              <a:t>Antagonistes</a:t>
            </a:r>
            <a:r>
              <a:rPr dirty="0" sz="1600" lang="en-GB" smtClean="0"/>
              <a:t> </a:t>
            </a:r>
            <a:r>
              <a:rPr b="1" dirty="0" sz="1600" lang="en-GB" err="1" smtClean="0">
                <a:solidFill>
                  <a:srgbClr val="FF0000"/>
                </a:solidFill>
              </a:rPr>
              <a:t>du</a:t>
            </a:r>
            <a:r>
              <a:rPr b="1" dirty="0" sz="1600" lang="en-GB" smtClean="0">
                <a:solidFill>
                  <a:srgbClr val="FF0000"/>
                </a:solidFill>
              </a:rPr>
              <a:t> sys    </a:t>
            </a:r>
          </a:p>
          <a:p>
            <a:pPr>
              <a:buNone/>
            </a:pPr>
            <a:r>
              <a:rPr b="1" dirty="0" sz="1800" lang="en-GB" smtClean="0"/>
              <a:t>                                                     </a:t>
            </a:r>
            <a:r>
              <a:rPr b="1" dirty="0" sz="1800" lang="en-GB" err="1" smtClean="0">
                <a:solidFill>
                  <a:srgbClr val="FF0000"/>
                </a:solidFill>
              </a:rPr>
              <a:t>renine</a:t>
            </a:r>
            <a:r>
              <a:rPr b="1" dirty="0" sz="1800" lang="en-GB" smtClean="0">
                <a:solidFill>
                  <a:srgbClr val="FF0000"/>
                </a:solidFill>
              </a:rPr>
              <a:t> _</a:t>
            </a:r>
            <a:r>
              <a:rPr b="1" dirty="0" sz="1800" lang="en-GB" err="1" smtClean="0">
                <a:solidFill>
                  <a:srgbClr val="FF0000"/>
                </a:solidFill>
              </a:rPr>
              <a:t>angiotensine</a:t>
            </a:r>
            <a:r>
              <a:rPr b="1" dirty="0" sz="1800" lang="en-GB" smtClean="0"/>
              <a:t>      </a:t>
            </a:r>
            <a:endParaRPr b="1" dirty="0" sz="1800" lang="en-GB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b="1" dirty="0" sz="1800" lang="en-GB" smtClean="0"/>
              <a:t>                                                     -</a:t>
            </a:r>
            <a:r>
              <a:rPr dirty="0" sz="1800" lang="en-GB" smtClean="0"/>
              <a:t>Inhibiteurs de l’enz</a:t>
            </a:r>
          </a:p>
          <a:p>
            <a:pPr>
              <a:buNone/>
            </a:pPr>
            <a:r>
              <a:rPr dirty="0" sz="1800" lang="en-GB" smtClean="0"/>
              <a:t>                                                           de conversion</a:t>
            </a:r>
          </a:p>
          <a:p>
            <a:pPr>
              <a:buNone/>
            </a:pPr>
            <a:r>
              <a:rPr dirty="0" sz="1800" lang="en-GB" smtClean="0"/>
              <a:t>                                                         -bloqueurs des rcp AT1</a:t>
            </a:r>
            <a:r>
              <a:rPr b="1" dirty="0" sz="1800" lang="en-GB" smtClean="0"/>
              <a:t> </a:t>
            </a:r>
            <a:endParaRPr dirty="0" sz="1800" lang="en-GB" smtClean="0"/>
          </a:p>
          <a:p>
            <a:pPr>
              <a:buNone/>
            </a:pPr>
            <a:r>
              <a:rPr dirty="0" sz="1800" lang="en-GB" smtClean="0"/>
              <a:t>                                   </a:t>
            </a:r>
            <a:endParaRPr dirty="0" lang="fr-FR"/>
          </a:p>
        </p:txBody>
      </p:sp>
      <p:cxnSp>
        <p:nvCxnSpPr>
          <p:cNvPr id="3145740" name="Connecteur droit avec flèche 19"/>
          <p:cNvCxnSpPr>
            <a:cxnSpLocks/>
          </p:cNvCxnSpPr>
          <p:nvPr/>
        </p:nvCxnSpPr>
        <p:spPr>
          <a:xfrm flipH="1">
            <a:off x="1907704" y="2428868"/>
            <a:ext cx="1152128" cy="496076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1" name="Connecteur droit avec flèche 21"/>
          <p:cNvCxnSpPr>
            <a:cxnSpLocks/>
          </p:cNvCxnSpPr>
          <p:nvPr/>
        </p:nvCxnSpPr>
        <p:spPr>
          <a:xfrm flipH="1">
            <a:off x="3709492" y="2676906"/>
            <a:ext cx="214436" cy="824102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2" name="Connecteur droit avec flèche 24"/>
          <p:cNvCxnSpPr>
            <a:cxnSpLocks/>
          </p:cNvCxnSpPr>
          <p:nvPr/>
        </p:nvCxnSpPr>
        <p:spPr>
          <a:xfrm>
            <a:off x="4716016" y="2578986"/>
            <a:ext cx="500514" cy="1282062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3" name="Connecteur droit avec flèche 26"/>
          <p:cNvCxnSpPr>
            <a:cxnSpLocks/>
          </p:cNvCxnSpPr>
          <p:nvPr/>
        </p:nvCxnSpPr>
        <p:spPr>
          <a:xfrm>
            <a:off x="5436096" y="2500306"/>
            <a:ext cx="1440160" cy="680371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4" name="Connecteur droit avec flèche 26"/>
          <p:cNvCxnSpPr>
            <a:cxnSpLocks/>
            <a:endCxn id="1048680" idx="1"/>
          </p:cNvCxnSpPr>
          <p:nvPr/>
        </p:nvCxnSpPr>
        <p:spPr>
          <a:xfrm>
            <a:off x="5868144" y="2401563"/>
            <a:ext cx="1224136" cy="354847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80" name="TextBox 15"/>
          <p:cNvSpPr txBox="1"/>
          <p:nvPr/>
        </p:nvSpPr>
        <p:spPr>
          <a:xfrm>
            <a:off x="7092280" y="2571744"/>
            <a:ext cx="1728192" cy="369332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fr-FR" smtClean="0">
                <a:solidFill>
                  <a:srgbClr val="C00000"/>
                </a:solidFill>
              </a:rPr>
              <a:t>Diurétiques</a:t>
            </a:r>
            <a:endParaRPr b="1" dirty="0" lang="fr-FR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re 1"/>
          <p:cNvSpPr>
            <a:spLocks noGrp="1"/>
          </p:cNvSpPr>
          <p:nvPr>
            <p:ph type="title"/>
          </p:nvPr>
        </p:nvSpPr>
        <p:spPr>
          <a:xfrm>
            <a:off x="107504" y="-243408"/>
            <a:ext cx="7467600" cy="1143000"/>
          </a:xfrm>
        </p:spPr>
        <p:txBody>
          <a:bodyPr/>
          <a:p>
            <a:r>
              <a:rPr b="1" dirty="0" lang="fr-FR" smtClean="0">
                <a:solidFill>
                  <a:srgbClr val="7030A0"/>
                </a:solidFill>
              </a:rPr>
              <a:t>A)LES SYMPATHOMODULATEURS:</a:t>
            </a:r>
            <a:endParaRPr b="1" dirty="0" lang="fr-FR">
              <a:solidFill>
                <a:srgbClr val="7030A0"/>
              </a:solidFill>
            </a:endParaRPr>
          </a:p>
        </p:txBody>
      </p:sp>
      <p:sp>
        <p:nvSpPr>
          <p:cNvPr id="1048685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556792"/>
            <a:ext cx="8795320" cy="4873752"/>
          </a:xfrm>
        </p:spPr>
        <p:txBody>
          <a:bodyPr>
            <a:normAutofit/>
          </a:bodyPr>
          <a:p>
            <a:pPr>
              <a:buNone/>
            </a:pPr>
            <a:r>
              <a:rPr b="1" dirty="0" lang="en-GB" smtClean="0">
                <a:solidFill>
                  <a:schemeClr val="accent2">
                    <a:lumMod val="50000"/>
                  </a:schemeClr>
                </a:solidFill>
              </a:rPr>
              <a:t>A1) </a:t>
            </a:r>
            <a:r>
              <a:rPr b="1" dirty="0" lang="en-GB" err="1" smtClean="0">
                <a:solidFill>
                  <a:schemeClr val="accent2">
                    <a:lumMod val="50000"/>
                  </a:schemeClr>
                </a:solidFill>
              </a:rPr>
              <a:t>antihypertenseurs</a:t>
            </a:r>
            <a:r>
              <a:rPr b="1" dirty="0" lang="en-GB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b="1" dirty="0" lang="en-GB" err="1" smtClean="0">
                <a:solidFill>
                  <a:schemeClr val="accent2">
                    <a:lumMod val="50000"/>
                  </a:schemeClr>
                </a:solidFill>
              </a:rPr>
              <a:t>centraux</a:t>
            </a:r>
            <a:r>
              <a:rPr b="1" dirty="0" lang="en-GB" smtClean="0">
                <a:solidFill>
                  <a:schemeClr val="accent2">
                    <a:lumMod val="50000"/>
                  </a:schemeClr>
                </a:solidFill>
              </a:rPr>
              <a:t>: </a:t>
            </a:r>
          </a:p>
          <a:p>
            <a:pPr>
              <a:buFont typeface="Wingdings" pitchFamily="2" charset="2"/>
              <a:buChar char="§"/>
            </a:pPr>
            <a:r>
              <a:rPr b="1" dirty="0" lang="en-GB" smtClean="0">
                <a:solidFill>
                  <a:schemeClr val="accent2">
                    <a:lumMod val="50000"/>
                  </a:schemeClr>
                </a:solidFill>
              </a:rPr>
              <a:t>Clonidine (</a:t>
            </a:r>
            <a:r>
              <a:rPr b="1" dirty="0" lang="en-GB" err="1" smtClean="0">
                <a:solidFill>
                  <a:schemeClr val="accent2">
                    <a:lumMod val="50000"/>
                  </a:schemeClr>
                </a:solidFill>
              </a:rPr>
              <a:t>Catapressan</a:t>
            </a:r>
            <a:r>
              <a:rPr b="1" dirty="0" lang="en-GB" smtClean="0">
                <a:solidFill>
                  <a:schemeClr val="accent2">
                    <a:lumMod val="50000"/>
                  </a:schemeClr>
                </a:solidFill>
              </a:rPr>
              <a:t>®)</a:t>
            </a:r>
          </a:p>
          <a:p>
            <a:pPr>
              <a:buFont typeface="Wingdings" pitchFamily="2" charset="2"/>
              <a:buChar char="§"/>
            </a:pPr>
            <a:r>
              <a:rPr b="1" dirty="0" lang="el-GR" smtClean="0">
                <a:solidFill>
                  <a:schemeClr val="accent2">
                    <a:lumMod val="50000"/>
                  </a:schemeClr>
                </a:solidFill>
              </a:rPr>
              <a:t>α</a:t>
            </a:r>
            <a:r>
              <a:rPr b="1" dirty="0" lang="fr-FR" smtClean="0">
                <a:solidFill>
                  <a:schemeClr val="accent2">
                    <a:lumMod val="50000"/>
                  </a:schemeClr>
                </a:solidFill>
              </a:rPr>
              <a:t>-méthyl-dopa (</a:t>
            </a:r>
            <a:r>
              <a:rPr b="1" dirty="0" lang="fr-FR" err="1" smtClean="0">
                <a:solidFill>
                  <a:schemeClr val="accent2">
                    <a:lumMod val="50000"/>
                  </a:schemeClr>
                </a:solidFill>
              </a:rPr>
              <a:t>Aldomet</a:t>
            </a:r>
            <a:r>
              <a:rPr b="1" dirty="0" lang="fr-FR" smtClean="0">
                <a:solidFill>
                  <a:schemeClr val="accent2">
                    <a:lumMod val="50000"/>
                  </a:schemeClr>
                </a:solidFill>
              </a:rPr>
              <a:t>®)</a:t>
            </a:r>
            <a:endParaRPr b="1" dirty="0" lang="en-GB" smtClean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endParaRPr b="1" dirty="0" lang="en-GB" smtClean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dirty="0" lang="fr-FR" smtClean="0"/>
              <a:t>*Molécule</a:t>
            </a:r>
            <a:r>
              <a:rPr dirty="0" lang="en-GB" smtClean="0"/>
              <a:t> mere </a:t>
            </a:r>
            <a:r>
              <a:rPr dirty="0" lang="fr-FR" smtClean="0"/>
              <a:t>ou</a:t>
            </a:r>
            <a:r>
              <a:rPr dirty="0" lang="en-GB" smtClean="0"/>
              <a:t> </a:t>
            </a:r>
            <a:r>
              <a:rPr dirty="0" lang="fr-FR" smtClean="0"/>
              <a:t>métabolite</a:t>
            </a:r>
            <a:r>
              <a:rPr dirty="0" lang="en-GB" smtClean="0"/>
              <a:t>             stimulation </a:t>
            </a:r>
          </a:p>
          <a:p>
            <a:pPr>
              <a:buNone/>
            </a:pPr>
            <a:r>
              <a:rPr dirty="0" lang="el-GR" smtClean="0"/>
              <a:t>α2</a:t>
            </a:r>
            <a:r>
              <a:rPr dirty="0" lang="en-GB" smtClean="0"/>
              <a:t>(</a:t>
            </a:r>
            <a:r>
              <a:rPr dirty="0" lang="en-GB" err="1" smtClean="0"/>
              <a:t>tronc</a:t>
            </a:r>
            <a:r>
              <a:rPr dirty="0" lang="en-GB" smtClean="0"/>
              <a:t> cerebral)                  tonus </a:t>
            </a:r>
            <a:r>
              <a:rPr dirty="0" lang="en-GB" err="1" smtClean="0"/>
              <a:t>sympathique</a:t>
            </a:r>
            <a:endParaRPr dirty="0" lang="en-GB" smtClean="0"/>
          </a:p>
          <a:p>
            <a:pPr>
              <a:buNone/>
            </a:pPr>
            <a:r>
              <a:rPr dirty="0" lang="en-GB" smtClean="0"/>
              <a:t>                 </a:t>
            </a:r>
            <a:r>
              <a:rPr dirty="0" lang="fr-FR" smtClean="0"/>
              <a:t>catécholamines</a:t>
            </a:r>
            <a:r>
              <a:rPr dirty="0" lang="en-GB" smtClean="0"/>
              <a:t> </a:t>
            </a:r>
            <a:r>
              <a:rPr dirty="0" lang="en-GB" err="1" smtClean="0"/>
              <a:t>circulantes</a:t>
            </a:r>
            <a:endParaRPr dirty="0" lang="en-GB" smtClean="0"/>
          </a:p>
          <a:p>
            <a:pPr>
              <a:buNone/>
            </a:pPr>
            <a:endParaRPr dirty="0" lang="en-GB" smtClean="0"/>
          </a:p>
          <a:p>
            <a:pPr>
              <a:buNone/>
            </a:pPr>
            <a:r>
              <a:rPr b="1" dirty="0" lang="fr-FR" smtClean="0"/>
              <a:t>*</a:t>
            </a:r>
            <a:r>
              <a:rPr b="1" dirty="0" lang="fr-FR" err="1" smtClean="0"/>
              <a:t>péripherie</a:t>
            </a:r>
            <a:endParaRPr dirty="0" lang="fr-FR" smtClean="0"/>
          </a:p>
          <a:p>
            <a:pPr>
              <a:buNone/>
            </a:pPr>
            <a:r>
              <a:rPr dirty="0" lang="fr-FR" err="1" smtClean="0"/>
              <a:t>Reduction</a:t>
            </a:r>
            <a:r>
              <a:rPr dirty="0" lang="fr-FR" smtClean="0"/>
              <a:t> de la </a:t>
            </a:r>
            <a:r>
              <a:rPr dirty="0" lang="fr-FR" err="1" smtClean="0"/>
              <a:t>liberation</a:t>
            </a:r>
            <a:r>
              <a:rPr dirty="0" lang="fr-FR" smtClean="0"/>
              <a:t> de NA(</a:t>
            </a:r>
            <a:r>
              <a:rPr dirty="0" lang="fr-FR" smtClean="0">
                <a:solidFill>
                  <a:srgbClr val="C00000"/>
                </a:solidFill>
              </a:rPr>
              <a:t> stimulation des </a:t>
            </a:r>
            <a:r>
              <a:rPr dirty="0" lang="fr-FR" err="1" smtClean="0">
                <a:solidFill>
                  <a:srgbClr val="C00000"/>
                </a:solidFill>
              </a:rPr>
              <a:t>rcp</a:t>
            </a:r>
            <a:r>
              <a:rPr dirty="0" lang="fr-FR">
                <a:solidFill>
                  <a:srgbClr val="C00000"/>
                </a:solidFill>
              </a:rPr>
              <a:t> </a:t>
            </a:r>
            <a:r>
              <a:rPr dirty="0" lang="el-GR" smtClean="0">
                <a:solidFill>
                  <a:srgbClr val="C00000"/>
                </a:solidFill>
              </a:rPr>
              <a:t>α2</a:t>
            </a:r>
            <a:r>
              <a:rPr dirty="0" lang="en-GB" smtClean="0">
                <a:solidFill>
                  <a:srgbClr val="C00000"/>
                </a:solidFill>
              </a:rPr>
              <a:t> </a:t>
            </a:r>
            <a:r>
              <a:rPr dirty="0" lang="en-GB" err="1" smtClean="0">
                <a:solidFill>
                  <a:srgbClr val="C00000"/>
                </a:solidFill>
              </a:rPr>
              <a:t>presynaptiques</a:t>
            </a:r>
            <a:r>
              <a:rPr dirty="0" lang="en-GB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dirty="0" lang="en-GB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dirty="0" lang="en-GB" smtClean="0">
                <a:solidFill>
                  <a:schemeClr val="bg1"/>
                </a:solidFill>
              </a:rPr>
              <a:t>LIMITES:</a:t>
            </a:r>
            <a:endParaRPr dirty="0" lang="fr-FR" smtClean="0">
              <a:solidFill>
                <a:schemeClr val="bg1"/>
              </a:solidFill>
            </a:endParaRPr>
          </a:p>
          <a:p>
            <a:pPr>
              <a:buNone/>
            </a:pPr>
            <a:endParaRPr dirty="0" lang="fr-FR" smtClean="0">
              <a:solidFill>
                <a:srgbClr val="C00000"/>
              </a:solidFill>
            </a:endParaRPr>
          </a:p>
        </p:txBody>
      </p:sp>
      <p:sp>
        <p:nvSpPr>
          <p:cNvPr id="1048686" name="Flèche droite 4"/>
          <p:cNvSpPr/>
          <p:nvPr/>
        </p:nvSpPr>
        <p:spPr>
          <a:xfrm>
            <a:off x="4572000" y="3188396"/>
            <a:ext cx="714380" cy="168596"/>
          </a:xfrm>
          <a:prstGeom prst="righ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fr-FR"/>
          </a:p>
        </p:txBody>
      </p:sp>
      <p:grpSp>
        <p:nvGrpSpPr>
          <p:cNvPr id="93" name="Groupe 11"/>
          <p:cNvGrpSpPr/>
          <p:nvPr/>
        </p:nvGrpSpPr>
        <p:grpSpPr>
          <a:xfrm>
            <a:off x="3059832" y="3503288"/>
            <a:ext cx="1071570" cy="285752"/>
            <a:chOff x="3214678" y="2575164"/>
            <a:chExt cx="1071570" cy="285752"/>
          </a:xfrm>
        </p:grpSpPr>
        <p:sp>
          <p:nvSpPr>
            <p:cNvPr id="1048687" name="Flèche droite 5"/>
            <p:cNvSpPr/>
            <p:nvPr/>
          </p:nvSpPr>
          <p:spPr>
            <a:xfrm flipV="1">
              <a:off x="3214678" y="2643182"/>
              <a:ext cx="714380" cy="214314"/>
            </a:xfrm>
            <a:prstGeom prst="rightArrow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fr-FR"/>
            </a:p>
          </p:txBody>
        </p:sp>
        <p:cxnSp>
          <p:nvCxnSpPr>
            <p:cNvPr id="3145745" name="Connecteur droit avec flèche 7"/>
            <p:cNvCxnSpPr>
              <a:cxnSpLocks/>
            </p:cNvCxnSpPr>
            <p:nvPr/>
          </p:nvCxnSpPr>
          <p:spPr>
            <a:xfrm rot="16200000" flipH="1">
              <a:off x="4000496" y="2575164"/>
              <a:ext cx="285752" cy="285752"/>
            </a:xfrm>
            <a:prstGeom prst="straightConnector1"/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e 12"/>
          <p:cNvGrpSpPr/>
          <p:nvPr/>
        </p:nvGrpSpPr>
        <p:grpSpPr>
          <a:xfrm>
            <a:off x="650890" y="3863328"/>
            <a:ext cx="1071570" cy="285752"/>
            <a:chOff x="642910" y="3357562"/>
            <a:chExt cx="1071570" cy="285752"/>
          </a:xfrm>
        </p:grpSpPr>
        <p:sp>
          <p:nvSpPr>
            <p:cNvPr id="1048688" name="Flèche droite 8"/>
            <p:cNvSpPr/>
            <p:nvPr/>
          </p:nvSpPr>
          <p:spPr>
            <a:xfrm>
              <a:off x="642910" y="3429000"/>
              <a:ext cx="714380" cy="204790"/>
            </a:xfrm>
            <a:prstGeom prst="rightArrow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fr-FR"/>
            </a:p>
          </p:txBody>
        </p:sp>
        <p:cxnSp>
          <p:nvCxnSpPr>
            <p:cNvPr id="3145746" name="Connecteur droit avec flèche 9"/>
            <p:cNvCxnSpPr>
              <a:cxnSpLocks/>
            </p:cNvCxnSpPr>
            <p:nvPr/>
          </p:nvCxnSpPr>
          <p:spPr>
            <a:xfrm rot="16200000" flipH="1">
              <a:off x="1428728" y="3357562"/>
              <a:ext cx="285752" cy="285752"/>
            </a:xfrm>
            <a:prstGeom prst="straightConnector1"/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cover/>
  </p:transition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fr-FR" smtClean="0">
                <a:solidFill>
                  <a:srgbClr val="C00000"/>
                </a:solidFill>
              </a:rPr>
              <a:t>1) </a:t>
            </a:r>
            <a:r>
              <a:rPr b="1" dirty="0" lang="fr-FR" err="1" smtClean="0">
                <a:solidFill>
                  <a:srgbClr val="C00000"/>
                </a:solidFill>
              </a:rPr>
              <a:t>clonidine</a:t>
            </a:r>
            <a:r>
              <a:rPr b="1" dirty="0" lang="fr-FR" smtClean="0">
                <a:solidFill>
                  <a:srgbClr val="C00000"/>
                </a:solidFill>
              </a:rPr>
              <a:t>: </a:t>
            </a:r>
            <a:r>
              <a:rPr b="1" dirty="0" lang="fr-FR" err="1" smtClean="0">
                <a:solidFill>
                  <a:srgbClr val="C00000"/>
                </a:solidFill>
              </a:rPr>
              <a:t>catapressan</a:t>
            </a:r>
            <a:r>
              <a:rPr b="1" dirty="0" lang="fr-FR" smtClean="0">
                <a:solidFill>
                  <a:srgbClr val="C00000"/>
                </a:solidFill>
              </a:rPr>
              <a:t>*</a:t>
            </a:r>
            <a:endParaRPr b="1" dirty="0" lang="fr-FR">
              <a:solidFill>
                <a:srgbClr val="C00000"/>
              </a:solidFill>
            </a:endParaRPr>
          </a:p>
        </p:txBody>
      </p:sp>
      <p:sp>
        <p:nvSpPr>
          <p:cNvPr id="104869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31224" cy="4873752"/>
          </a:xfrm>
        </p:spPr>
        <p:txBody>
          <a:bodyPr>
            <a:normAutofit/>
          </a:bodyPr>
          <a:p>
            <a:pPr>
              <a:buNone/>
            </a:pPr>
            <a:r>
              <a:rPr dirty="0" lang="fr-FR" smtClean="0"/>
              <a:t>                               </a:t>
            </a:r>
            <a:r>
              <a:rPr b="1" dirty="0" lang="fr-FR" err="1" smtClean="0"/>
              <a:t>clonidine</a:t>
            </a:r>
            <a:endParaRPr b="1" dirty="0" lang="fr-FR" smtClean="0"/>
          </a:p>
          <a:p>
            <a:endParaRPr dirty="0" lang="fr-FR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dirty="0" lang="fr-FR" smtClean="0">
                <a:solidFill>
                  <a:srgbClr val="7030A0"/>
                </a:solidFill>
              </a:rPr>
              <a:t>Court terme                                           Long terme</a:t>
            </a:r>
          </a:p>
          <a:p>
            <a:pPr>
              <a:buNone/>
            </a:pPr>
            <a:r>
              <a:rPr dirty="0" lang="fr-FR" err="1" smtClean="0"/>
              <a:t>HTA</a:t>
            </a:r>
            <a:r>
              <a:rPr dirty="0" lang="fr-FR" smtClean="0"/>
              <a:t> fugace                                            Q </a:t>
            </a:r>
          </a:p>
          <a:p>
            <a:pPr>
              <a:buNone/>
            </a:pPr>
            <a:r>
              <a:rPr dirty="0" lang="fr-FR" smtClean="0"/>
              <a:t>      PA                                                       </a:t>
            </a:r>
            <a:r>
              <a:rPr dirty="0" lang="fr-FR" err="1" smtClean="0"/>
              <a:t>Rsys</a:t>
            </a:r>
            <a:endParaRPr dirty="0" lang="fr-FR" smtClean="0"/>
          </a:p>
          <a:p>
            <a:pPr>
              <a:buNone/>
            </a:pPr>
            <a:r>
              <a:rPr dirty="0" lang="fr-FR" smtClean="0"/>
              <a:t>                           </a:t>
            </a:r>
            <a:r>
              <a:rPr b="1" dirty="0" lang="fr-FR" smtClean="0"/>
              <a:t>EFFETS </a:t>
            </a:r>
            <a:r>
              <a:rPr b="1" dirty="0" lang="fr-FR" err="1" smtClean="0"/>
              <a:t>IIaires</a:t>
            </a:r>
            <a:r>
              <a:rPr b="1" dirty="0" lang="fr-FR" smtClean="0"/>
              <a:t>:</a:t>
            </a:r>
          </a:p>
          <a:p>
            <a:pPr>
              <a:buNone/>
            </a:pPr>
            <a:endParaRPr b="1" dirty="0" lang="fr-FR" smtClean="0"/>
          </a:p>
          <a:p>
            <a:pPr>
              <a:buNone/>
            </a:pPr>
            <a:r>
              <a:rPr dirty="0" sz="1800" lang="fr-FR" smtClean="0">
                <a:solidFill>
                  <a:srgbClr val="7030A0"/>
                </a:solidFill>
              </a:rPr>
              <a:t>SOMNOLENCE                                                             SÉCHERESSE             </a:t>
            </a:r>
          </a:p>
          <a:p>
            <a:pPr>
              <a:buNone/>
            </a:pPr>
            <a:r>
              <a:rPr dirty="0" sz="1800" lang="fr-FR" smtClean="0">
                <a:solidFill>
                  <a:srgbClr val="7030A0"/>
                </a:solidFill>
              </a:rPr>
              <a:t>                                                                                           DE BOUCHE</a:t>
            </a:r>
          </a:p>
          <a:p>
            <a:pPr>
              <a:buNone/>
            </a:pPr>
            <a:r>
              <a:rPr dirty="0" sz="1800" lang="fr-FR" smtClean="0">
                <a:solidFill>
                  <a:srgbClr val="FF0000"/>
                </a:solidFill>
              </a:rPr>
              <a:t>ATTENTION:</a:t>
            </a:r>
          </a:p>
          <a:p>
            <a:pPr>
              <a:buNone/>
            </a:pPr>
            <a:r>
              <a:rPr dirty="0" sz="2000" lang="fr-FR" smtClean="0"/>
              <a:t>ARRET BRUTAL                       POUSSÉE HYPERTENSIVE</a:t>
            </a:r>
          </a:p>
        </p:txBody>
      </p:sp>
      <p:cxnSp>
        <p:nvCxnSpPr>
          <p:cNvPr id="3145747" name="Connecteur droit avec flèche 8"/>
          <p:cNvCxnSpPr>
            <a:cxnSpLocks/>
          </p:cNvCxnSpPr>
          <p:nvPr/>
        </p:nvCxnSpPr>
        <p:spPr>
          <a:xfrm rot="16200000" flipH="1">
            <a:off x="5607851" y="3464719"/>
            <a:ext cx="285752" cy="214314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8" name="Connecteur droit avec flèche 13"/>
          <p:cNvCxnSpPr>
            <a:cxnSpLocks/>
          </p:cNvCxnSpPr>
          <p:nvPr/>
        </p:nvCxnSpPr>
        <p:spPr>
          <a:xfrm rot="10800000" flipV="1">
            <a:off x="2285984" y="2000240"/>
            <a:ext cx="714380" cy="571504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9" name="Connecteur droit avec flèche 15"/>
          <p:cNvCxnSpPr>
            <a:cxnSpLocks/>
          </p:cNvCxnSpPr>
          <p:nvPr/>
        </p:nvCxnSpPr>
        <p:spPr>
          <a:xfrm>
            <a:off x="4788024" y="2000240"/>
            <a:ext cx="714380" cy="571504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0" name="Connecteur droit avec flèche 18"/>
          <p:cNvCxnSpPr>
            <a:cxnSpLocks/>
          </p:cNvCxnSpPr>
          <p:nvPr/>
        </p:nvCxnSpPr>
        <p:spPr>
          <a:xfrm rot="16200000" flipH="1">
            <a:off x="5607851" y="3036091"/>
            <a:ext cx="285752" cy="214314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1" name="Connecteur droit avec flèche 19"/>
          <p:cNvCxnSpPr>
            <a:cxnSpLocks/>
          </p:cNvCxnSpPr>
          <p:nvPr/>
        </p:nvCxnSpPr>
        <p:spPr>
          <a:xfrm rot="16200000" flipH="1">
            <a:off x="642910" y="3500438"/>
            <a:ext cx="285752" cy="142876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2" name="Connecteur droit avec flèche 20"/>
          <p:cNvCxnSpPr>
            <a:cxnSpLocks/>
          </p:cNvCxnSpPr>
          <p:nvPr/>
        </p:nvCxnSpPr>
        <p:spPr>
          <a:xfrm rot="10800000" flipV="1">
            <a:off x="1928794" y="4071942"/>
            <a:ext cx="714380" cy="571504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3" name="Connecteur droit avec flèche 21"/>
          <p:cNvCxnSpPr>
            <a:cxnSpLocks/>
          </p:cNvCxnSpPr>
          <p:nvPr/>
        </p:nvCxnSpPr>
        <p:spPr>
          <a:xfrm>
            <a:off x="5513804" y="4143380"/>
            <a:ext cx="714380" cy="571504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4" name="Connecteur droit avec flèche 23"/>
          <p:cNvCxnSpPr>
            <a:cxnSpLocks/>
          </p:cNvCxnSpPr>
          <p:nvPr/>
        </p:nvCxnSpPr>
        <p:spPr>
          <a:xfrm>
            <a:off x="2915816" y="6019700"/>
            <a:ext cx="1000132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mph" presetID="4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to="1.5" valueType="num">
                                      <p:cBhvr override="childStyle">
                                        <p:cTn dur="2000" fill="hold" id="6"/>
                                        <p:tgtEl>
                                          <p:spTgt spid="10486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214290"/>
            <a:ext cx="7467600" cy="6259662"/>
          </a:xfrm>
        </p:spPr>
        <p:txBody>
          <a:bodyPr>
            <a:normAutofit/>
          </a:bodyPr>
          <a:p>
            <a:pPr>
              <a:buNone/>
            </a:pPr>
            <a:r>
              <a:rPr b="1" dirty="0" sz="3000" lang="en-GB" smtClean="0">
                <a:solidFill>
                  <a:srgbClr val="C00000"/>
                </a:solidFill>
              </a:rPr>
              <a:t>2</a:t>
            </a:r>
            <a:r>
              <a:rPr b="1" dirty="0" sz="2600" lang="en-GB" smtClean="0">
                <a:solidFill>
                  <a:srgbClr val="C00000"/>
                </a:solidFill>
              </a:rPr>
              <a:t>) </a:t>
            </a:r>
            <a:r>
              <a:rPr b="1" dirty="0" sz="2600" lang="el-GR" smtClean="0">
                <a:solidFill>
                  <a:srgbClr val="C00000"/>
                </a:solidFill>
              </a:rPr>
              <a:t>α</a:t>
            </a:r>
            <a:r>
              <a:rPr b="1" dirty="0" sz="2600" lang="en-GB" smtClean="0">
                <a:solidFill>
                  <a:srgbClr val="C00000"/>
                </a:solidFill>
              </a:rPr>
              <a:t>- METHYL DOPA: ALDOMET* </a:t>
            </a:r>
          </a:p>
          <a:p>
            <a:pPr>
              <a:buNone/>
            </a:pPr>
            <a:r>
              <a:rPr dirty="0" lang="en-GB" smtClean="0">
                <a:solidFill>
                  <a:srgbClr val="0070C0"/>
                </a:solidFill>
              </a:rPr>
              <a:t>                              Decarboxylase                </a:t>
            </a:r>
          </a:p>
          <a:p>
            <a:pPr>
              <a:buNone/>
            </a:pPr>
            <a:r>
              <a:rPr b="1" dirty="0" lang="en-GB" smtClean="0"/>
              <a:t>α –Methyl-dopa                          </a:t>
            </a:r>
            <a:r>
              <a:rPr b="1" dirty="0" lang="el-GR" smtClean="0"/>
              <a:t>α</a:t>
            </a:r>
            <a:r>
              <a:rPr b="1" dirty="0" lang="en-GB" smtClean="0"/>
              <a:t>- </a:t>
            </a:r>
            <a:r>
              <a:rPr b="1" dirty="0" lang="en-GB" err="1" smtClean="0"/>
              <a:t>Methyldopamine</a:t>
            </a:r>
            <a:endParaRPr b="1" dirty="0" lang="en-GB" smtClean="0"/>
          </a:p>
          <a:p>
            <a:pPr>
              <a:buNone/>
            </a:pPr>
            <a:r>
              <a:rPr dirty="0" lang="en-GB" smtClean="0">
                <a:solidFill>
                  <a:srgbClr val="FFC000"/>
                </a:solidFill>
              </a:rPr>
              <a:t>                              </a:t>
            </a:r>
          </a:p>
          <a:p>
            <a:pPr>
              <a:buNone/>
            </a:pPr>
            <a:r>
              <a:rPr dirty="0" lang="en-GB" smtClean="0">
                <a:solidFill>
                  <a:srgbClr val="0070C0"/>
                </a:solidFill>
              </a:rPr>
              <a:t>Dopamine</a:t>
            </a:r>
          </a:p>
          <a:p>
            <a:pPr>
              <a:buNone/>
            </a:pPr>
            <a:r>
              <a:rPr dirty="0" lang="en-GB" smtClean="0"/>
              <a:t>                          </a:t>
            </a:r>
            <a:r>
              <a:rPr dirty="0" lang="el-GR" smtClean="0"/>
              <a:t>α</a:t>
            </a:r>
            <a:r>
              <a:rPr dirty="0" lang="en-GB" smtClean="0"/>
              <a:t>- Methyl NA </a:t>
            </a:r>
          </a:p>
          <a:p>
            <a:pPr>
              <a:buNone/>
            </a:pPr>
            <a:r>
              <a:rPr dirty="0" lang="el-GR" smtClean="0">
                <a:solidFill>
                  <a:srgbClr val="0070C0"/>
                </a:solidFill>
              </a:rPr>
              <a:t>Β</a:t>
            </a:r>
            <a:r>
              <a:rPr dirty="0" lang="en-GB">
                <a:solidFill>
                  <a:srgbClr val="0070C0"/>
                </a:solidFill>
              </a:rPr>
              <a:t>-</a:t>
            </a:r>
            <a:r>
              <a:rPr dirty="0" lang="en-GB" err="1" smtClean="0">
                <a:solidFill>
                  <a:srgbClr val="0070C0"/>
                </a:solidFill>
              </a:rPr>
              <a:t>oxydase</a:t>
            </a:r>
            <a:endParaRPr dirty="0" lang="en-GB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b="1" dirty="0" lang="en-GB" smtClean="0">
                <a:solidFill>
                  <a:sysClr lastClr="000000" val="windowText"/>
                </a:solidFill>
              </a:rPr>
              <a:t>2 </a:t>
            </a:r>
            <a:r>
              <a:rPr b="1" dirty="0" lang="fr-FR" smtClean="0">
                <a:solidFill>
                  <a:sysClr lastClr="000000" val="windowText"/>
                </a:solidFill>
              </a:rPr>
              <a:t>mécanismes</a:t>
            </a:r>
            <a:r>
              <a:rPr b="1" dirty="0" lang="en-GB" smtClean="0">
                <a:solidFill>
                  <a:sysClr lastClr="000000" val="windowText"/>
                </a:solidFill>
              </a:rPr>
              <a:t> </a:t>
            </a:r>
            <a:r>
              <a:rPr b="1" dirty="0" lang="en-GB" err="1" smtClean="0">
                <a:solidFill>
                  <a:sysClr lastClr="000000" val="windowText"/>
                </a:solidFill>
              </a:rPr>
              <a:t>d’action</a:t>
            </a:r>
            <a:r>
              <a:rPr b="1" dirty="0" lang="en-GB" smtClean="0">
                <a:solidFill>
                  <a:sysClr lastClr="000000" val="windowText"/>
                </a:solidFill>
              </a:rPr>
              <a:t>:</a:t>
            </a:r>
          </a:p>
          <a:p>
            <a:pPr>
              <a:buNone/>
            </a:pPr>
            <a:endParaRPr dirty="0" lang="en-GB" smtClean="0">
              <a:solidFill>
                <a:sysClr lastClr="000000" val="windowText"/>
              </a:solidFill>
            </a:endParaRPr>
          </a:p>
          <a:p>
            <a:pPr>
              <a:buNone/>
            </a:pPr>
            <a:r>
              <a:rPr dirty="0" lang="en-GB" smtClean="0">
                <a:solidFill>
                  <a:sysClr lastClr="000000" val="windowText"/>
                </a:solidFill>
              </a:rPr>
              <a:t>-Faux </a:t>
            </a:r>
            <a:r>
              <a:rPr dirty="0" lang="fr-FR" smtClean="0">
                <a:solidFill>
                  <a:sysClr lastClr="000000" val="windowText"/>
                </a:solidFill>
              </a:rPr>
              <a:t>neurotransmetteur (périphérie</a:t>
            </a:r>
            <a:r>
              <a:rPr dirty="0" lang="en-GB" smtClean="0">
                <a:solidFill>
                  <a:sysClr lastClr="000000" val="windowText"/>
                </a:solidFill>
              </a:rPr>
              <a:t>)                       </a:t>
            </a:r>
            <a:r>
              <a:rPr dirty="0" lang="en-GB" smtClean="0">
                <a:solidFill>
                  <a:srgbClr val="FF0000"/>
                </a:solidFill>
              </a:rPr>
              <a:t>PA</a:t>
            </a:r>
          </a:p>
          <a:p>
            <a:pPr>
              <a:buNone/>
            </a:pPr>
            <a:r>
              <a:rPr dirty="0" lang="en-GB" smtClean="0">
                <a:solidFill>
                  <a:sysClr lastClr="000000" val="windowText"/>
                </a:solidFill>
              </a:rPr>
              <a:t>-Stimulation </a:t>
            </a:r>
            <a:r>
              <a:rPr dirty="0" lang="el-GR" smtClean="0">
                <a:solidFill>
                  <a:sysClr lastClr="000000" val="windowText"/>
                </a:solidFill>
              </a:rPr>
              <a:t>α2</a:t>
            </a:r>
            <a:r>
              <a:rPr dirty="0" lang="fr-FR" smtClean="0">
                <a:solidFill>
                  <a:sysClr lastClr="000000" val="windowText"/>
                </a:solidFill>
              </a:rPr>
              <a:t> </a:t>
            </a:r>
            <a:r>
              <a:rPr dirty="0" lang="en-GB" smtClean="0">
                <a:solidFill>
                  <a:sysClr lastClr="000000" val="windowText"/>
                </a:solidFill>
              </a:rPr>
              <a:t>(central):                                </a:t>
            </a:r>
          </a:p>
          <a:p>
            <a:pPr>
              <a:buNone/>
            </a:pPr>
            <a:r>
              <a:rPr dirty="0" sz="2000" lang="en-GB" smtClean="0">
                <a:solidFill>
                  <a:sysClr lastClr="000000" val="windowText"/>
                </a:solidFill>
              </a:rPr>
              <a:t>                                                                                        </a:t>
            </a:r>
            <a:r>
              <a:rPr b="1" dirty="0" sz="2200" lang="en-GB" err="1">
                <a:solidFill>
                  <a:sysClr lastClr="000000" val="windowText"/>
                </a:solidFill>
              </a:rPr>
              <a:t>T</a:t>
            </a:r>
            <a:r>
              <a:rPr b="1" dirty="0" sz="2200" lang="en-GB" err="1" smtClean="0">
                <a:solidFill>
                  <a:sysClr lastClr="000000" val="windowText"/>
                </a:solidFill>
              </a:rPr>
              <a:t>rt</a:t>
            </a:r>
            <a:r>
              <a:rPr b="1" dirty="0" sz="2200" lang="en-GB" smtClean="0">
                <a:solidFill>
                  <a:sysClr lastClr="000000" val="windowText"/>
                </a:solidFill>
              </a:rPr>
              <a:t> HTA    </a:t>
            </a:r>
          </a:p>
          <a:p>
            <a:pPr>
              <a:buNone/>
            </a:pPr>
            <a:r>
              <a:rPr b="1" dirty="0" sz="2200" lang="en-GB" smtClean="0">
                <a:solidFill>
                  <a:sysClr lastClr="000000" val="windowText"/>
                </a:solidFill>
              </a:rPr>
              <a:t>                                                                               long </a:t>
            </a:r>
            <a:r>
              <a:rPr b="1" dirty="0" sz="2200" lang="en-GB" err="1" smtClean="0">
                <a:solidFill>
                  <a:sysClr lastClr="000000" val="windowText"/>
                </a:solidFill>
              </a:rPr>
              <a:t>terme</a:t>
            </a:r>
            <a:endParaRPr b="1" dirty="0" sz="2200" lang="en-GB" smtClean="0">
              <a:solidFill>
                <a:sysClr lastClr="000000" val="windowText"/>
              </a:solidFill>
            </a:endParaRPr>
          </a:p>
          <a:p>
            <a:pPr>
              <a:buNone/>
            </a:pPr>
            <a:r>
              <a:rPr dirty="0" sz="2000" lang="en-GB" smtClean="0">
                <a:solidFill>
                  <a:sysClr lastClr="000000" val="windowText"/>
                </a:solidFill>
              </a:rPr>
              <a:t>      </a:t>
            </a:r>
            <a:endParaRPr dirty="0" sz="2000" lang="fr-FR">
              <a:solidFill>
                <a:sysClr lastClr="000000" val="windowText"/>
              </a:solidFill>
            </a:endParaRPr>
          </a:p>
        </p:txBody>
      </p:sp>
      <p:cxnSp>
        <p:nvCxnSpPr>
          <p:cNvPr id="3145755" name="Connecteur droit avec flèche 5"/>
          <p:cNvCxnSpPr>
            <a:cxnSpLocks/>
          </p:cNvCxnSpPr>
          <p:nvPr/>
        </p:nvCxnSpPr>
        <p:spPr>
          <a:xfrm>
            <a:off x="2987824" y="1428736"/>
            <a:ext cx="1728192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6" name="Connecteur droit avec flèche 8"/>
          <p:cNvCxnSpPr>
            <a:cxnSpLocks/>
          </p:cNvCxnSpPr>
          <p:nvPr/>
        </p:nvCxnSpPr>
        <p:spPr>
          <a:xfrm>
            <a:off x="482364" y="2636912"/>
            <a:ext cx="1857388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5" name="Accolade fermante 19"/>
          <p:cNvSpPr/>
          <p:nvPr/>
        </p:nvSpPr>
        <p:spPr>
          <a:xfrm>
            <a:off x="5369218" y="3298664"/>
            <a:ext cx="642942" cy="1714512"/>
          </a:xfrm>
          <a:prstGeom prst="rightBrace">
            <a:avLst>
              <a:gd name="adj1" fmla="val 6750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tlCol="0"/>
          <a:p>
            <a:pPr algn="ctr"/>
            <a:endParaRPr lang="fr-FR"/>
          </a:p>
        </p:txBody>
      </p:sp>
      <p:grpSp>
        <p:nvGrpSpPr>
          <p:cNvPr id="99" name="Groupe 24"/>
          <p:cNvGrpSpPr/>
          <p:nvPr/>
        </p:nvGrpSpPr>
        <p:grpSpPr>
          <a:xfrm>
            <a:off x="6084168" y="3933056"/>
            <a:ext cx="1000132" cy="357190"/>
            <a:chOff x="6143636" y="4289676"/>
            <a:chExt cx="1000132" cy="357190"/>
          </a:xfrm>
        </p:grpSpPr>
        <p:pic>
          <p:nvPicPr>
            <p:cNvPr id="2097160" name="Picture 4" descr="AG00090_"/>
            <p:cNvPicPr>
              <a:picLocks noChangeAspect="1" noChangeArrowheads="1" noCrop="1"/>
            </p:cNvPicPr>
            <p:nvPr/>
          </p:nvPicPr>
          <p:blipFill>
            <a:blip xmlns:r="http://schemas.openxmlformats.org/officeDocument/2006/relationships" r:embed="rId1"/>
            <a:srcRect/>
            <a:stretch>
              <a:fillRect/>
            </a:stretch>
          </p:blipFill>
          <p:spPr bwMode="auto">
            <a:xfrm rot="16200000">
              <a:off x="6514796" y="4057972"/>
              <a:ext cx="142876" cy="885196"/>
            </a:xfrm>
            <a:prstGeom prst="rect"/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145757" name="Connecteur droit avec flèche 22"/>
            <p:cNvCxnSpPr>
              <a:cxnSpLocks/>
            </p:cNvCxnSpPr>
            <p:nvPr/>
          </p:nvCxnSpPr>
          <p:spPr>
            <a:xfrm rot="16200000" flipH="1">
              <a:off x="6822297" y="4325395"/>
              <a:ext cx="357190" cy="285752"/>
            </a:xfrm>
            <a:prstGeom prst="straightConnector1"/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696" name="Rectangle 29"/>
          <p:cNvSpPr/>
          <p:nvPr/>
        </p:nvSpPr>
        <p:spPr>
          <a:xfrm>
            <a:off x="428596" y="5643578"/>
            <a:ext cx="8143932" cy="738664"/>
          </a:xfrm>
          <a:prstGeom prst="rect"/>
        </p:spPr>
        <p:txBody>
          <a:bodyPr wrap="square">
            <a:spAutoFit/>
          </a:bodyPr>
          <a:p>
            <a:pPr>
              <a:buNone/>
            </a:pPr>
            <a:r>
              <a:rPr dirty="0" lang="fr-FR" smtClean="0">
                <a:solidFill>
                  <a:srgbClr val="C00000"/>
                </a:solidFill>
              </a:rPr>
              <a:t>     RÉTENTION D’EAU ET Na</a:t>
            </a:r>
          </a:p>
          <a:p>
            <a:pPr>
              <a:buNone/>
            </a:pPr>
            <a:r>
              <a:rPr dirty="0" sz="2400" lang="fr-FR" smtClean="0">
                <a:solidFill>
                  <a:srgbClr val="C00000"/>
                </a:solidFill>
              </a:rPr>
              <a:t>                  + diurétique</a:t>
            </a:r>
            <a:endParaRPr dirty="0" sz="2400" lang="fr-FR">
              <a:solidFill>
                <a:srgbClr val="C00000"/>
              </a:solidFill>
            </a:endParaRPr>
          </a:p>
        </p:txBody>
      </p:sp>
      <p:sp>
        <p:nvSpPr>
          <p:cNvPr id="1048697" name="Flèche droite 30"/>
          <p:cNvSpPr/>
          <p:nvPr/>
        </p:nvSpPr>
        <p:spPr>
          <a:xfrm>
            <a:off x="907572" y="6165874"/>
            <a:ext cx="1000132" cy="71438"/>
          </a:xfrm>
          <a:prstGeom prst="rightArrow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cxnSp>
        <p:nvCxnSpPr>
          <p:cNvPr id="3145758" name="Connecteur en arc 32"/>
          <p:cNvCxnSpPr>
            <a:cxnSpLocks/>
          </p:cNvCxnSpPr>
          <p:nvPr/>
        </p:nvCxnSpPr>
        <p:spPr>
          <a:xfrm rot="10800000" flipV="1">
            <a:off x="6786578" y="4437112"/>
            <a:ext cx="642942" cy="42064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p>
            <a:pPr>
              <a:buNone/>
            </a:pPr>
            <a:r>
              <a:rPr dirty="0" lang="fr-FR" smtClean="0"/>
              <a:t>-Autres représentants de groupe:</a:t>
            </a:r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b="1" dirty="0" sz="2800" lang="fr-FR" smtClean="0">
                <a:sym typeface="Wingdings 2"/>
              </a:rPr>
              <a:t> </a:t>
            </a:r>
            <a:r>
              <a:rPr b="1" dirty="0" sz="2800" lang="fr-FR" err="1">
                <a:sym typeface="Wingdings 2"/>
              </a:rPr>
              <a:t>G</a:t>
            </a:r>
            <a:r>
              <a:rPr b="1" dirty="0" sz="2800" lang="fr-FR" err="1" smtClean="0"/>
              <a:t>uanfacine</a:t>
            </a:r>
            <a:r>
              <a:rPr b="1" dirty="0" sz="2800" lang="fr-FR" smtClean="0"/>
              <a:t>: </a:t>
            </a:r>
            <a:r>
              <a:rPr dirty="0" lang="fr-FR" smtClean="0"/>
              <a:t>ESTULIC*:</a:t>
            </a:r>
            <a:r>
              <a:rPr dirty="0" sz="3200" lang="fr-FR" smtClean="0"/>
              <a:t>T</a:t>
            </a:r>
            <a:r>
              <a:rPr b="1" dirty="0" sz="2000" lang="fr-FR" smtClean="0"/>
              <a:t>1/2 </a:t>
            </a:r>
            <a:r>
              <a:rPr dirty="0" lang="fr-FR" smtClean="0"/>
              <a:t>= </a:t>
            </a:r>
            <a:r>
              <a:rPr b="1" dirty="0" lang="fr-FR" smtClean="0"/>
              <a:t>21h</a:t>
            </a:r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b="1" dirty="0" sz="2800" lang="fr-FR" smtClean="0">
                <a:sym typeface="Wingdings 2"/>
              </a:rPr>
              <a:t> </a:t>
            </a:r>
            <a:r>
              <a:rPr b="1" dirty="0" sz="2800" lang="fr-FR" err="1">
                <a:sym typeface="Wingdings 2"/>
              </a:rPr>
              <a:t>R</a:t>
            </a:r>
            <a:r>
              <a:rPr b="1" dirty="0" sz="2800" lang="fr-FR" err="1" smtClean="0">
                <a:sym typeface="Wingdings 2"/>
              </a:rPr>
              <a:t>ilmenidine</a:t>
            </a:r>
            <a:r>
              <a:rPr b="1" dirty="0" sz="2800" lang="fr-FR" smtClean="0">
                <a:sym typeface="Wingdings 2"/>
              </a:rPr>
              <a:t>: </a:t>
            </a:r>
            <a:r>
              <a:rPr dirty="0" lang="fr-FR" smtClean="0">
                <a:sym typeface="Wingdings 2"/>
              </a:rPr>
              <a:t>HYPERIUM*:durée d’action</a:t>
            </a:r>
          </a:p>
          <a:p>
            <a:pPr>
              <a:buNone/>
            </a:pPr>
            <a:endParaRPr dirty="0" lang="fr-FR" smtClean="0">
              <a:sym typeface="Wingdings 2"/>
            </a:endParaRPr>
          </a:p>
          <a:p>
            <a:pPr>
              <a:buNone/>
            </a:pPr>
            <a:endParaRPr dirty="0" lang="fr-FR"/>
          </a:p>
        </p:txBody>
      </p:sp>
      <p:pic>
        <p:nvPicPr>
          <p:cNvPr id="2097161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cxnSp>
        <p:nvCxnSpPr>
          <p:cNvPr id="3145759" name="Connecteur droit avec flèche 5"/>
          <p:cNvCxnSpPr>
            <a:cxnSpLocks/>
          </p:cNvCxnSpPr>
          <p:nvPr/>
        </p:nvCxnSpPr>
        <p:spPr>
          <a:xfrm rot="5400000" flipH="1" flipV="1">
            <a:off x="7429520" y="3643314"/>
            <a:ext cx="285752" cy="285752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02" name="Rectangle 1"/>
          <p:cNvSpPr/>
          <p:nvPr/>
        </p:nvSpPr>
        <p:spPr>
          <a:xfrm>
            <a:off x="251520" y="744147"/>
            <a:ext cx="5760640" cy="461665"/>
          </a:xfrm>
          <a:prstGeom prst="rect"/>
        </p:spPr>
        <p:txBody>
          <a:bodyPr wrap="square">
            <a:spAutoFit/>
          </a:bodyPr>
          <a:p>
            <a:pPr indent="-274320" lvl="0" marL="274320">
              <a:spcBef>
                <a:spcPts val="600"/>
              </a:spcBef>
              <a:buClr>
                <a:srgbClr val="FE8637"/>
              </a:buClr>
              <a:buSzPct val="70000"/>
            </a:pPr>
            <a:r>
              <a:rPr b="1" dirty="0" sz="2400" lang="en-GB">
                <a:solidFill>
                  <a:srgbClr val="7598D9">
                    <a:lumMod val="50000"/>
                  </a:srgbClr>
                </a:solidFill>
              </a:rPr>
              <a:t>A1) </a:t>
            </a:r>
            <a:r>
              <a:rPr b="1" dirty="0" sz="2400" lang="en-GB" err="1">
                <a:solidFill>
                  <a:srgbClr val="7598D9">
                    <a:lumMod val="50000"/>
                  </a:srgbClr>
                </a:solidFill>
              </a:rPr>
              <a:t>antihypertenseurs</a:t>
            </a:r>
            <a:r>
              <a:rPr b="1" dirty="0" sz="2400" lang="en-GB">
                <a:solidFill>
                  <a:srgbClr val="7598D9">
                    <a:lumMod val="50000"/>
                  </a:srgbClr>
                </a:solidFill>
              </a:rPr>
              <a:t> </a:t>
            </a:r>
            <a:r>
              <a:rPr b="1" dirty="0" sz="2400" lang="en-GB" err="1">
                <a:solidFill>
                  <a:srgbClr val="7598D9">
                    <a:lumMod val="50000"/>
                  </a:srgbClr>
                </a:solidFill>
              </a:rPr>
              <a:t>centraux</a:t>
            </a:r>
            <a:r>
              <a:rPr b="1" dirty="0" sz="2400" lang="en-GB">
                <a:solidFill>
                  <a:srgbClr val="7598D9">
                    <a:lumMod val="50000"/>
                  </a:srgbClr>
                </a:solidFill>
              </a:rPr>
              <a:t>: </a:t>
            </a:r>
          </a:p>
        </p:txBody>
      </p:sp>
    </p:spTree>
  </p:cSld>
  <p:clrMapOvr>
    <a:masterClrMapping/>
  </p:clrMapOvr>
  <p:transition spd="slow">
    <p:cover/>
  </p:transition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re 1"/>
          <p:cNvSpPr>
            <a:spLocks noGrp="1"/>
          </p:cNvSpPr>
          <p:nvPr>
            <p:ph type="title"/>
          </p:nvPr>
        </p:nvSpPr>
        <p:spPr>
          <a:xfrm>
            <a:off x="179512" y="-99392"/>
            <a:ext cx="7467600" cy="1214422"/>
          </a:xfrm>
        </p:spPr>
        <p:txBody>
          <a:bodyPr>
            <a:normAutofit/>
          </a:bodyPr>
          <a:p>
            <a:r>
              <a:rPr b="1" dirty="0" lang="fr-FR" smtClean="0">
                <a:solidFill>
                  <a:srgbClr val="7030A0"/>
                </a:solidFill>
              </a:rPr>
              <a:t>A2) sympatholytiques périphériques:</a:t>
            </a:r>
            <a:br>
              <a:rPr b="1" dirty="0" lang="fr-FR" smtClean="0">
                <a:solidFill>
                  <a:srgbClr val="7030A0"/>
                </a:solidFill>
              </a:rPr>
            </a:br>
            <a:r>
              <a:rPr b="1" dirty="0" lang="fr-FR" smtClean="0">
                <a:solidFill>
                  <a:srgbClr val="7030A0"/>
                </a:solidFill>
              </a:rPr>
              <a:t>  </a:t>
            </a:r>
            <a:r>
              <a:rPr b="1" dirty="0" sz="3200" lang="el-GR" smtClean="0">
                <a:solidFill>
                  <a:srgbClr val="7030A0"/>
                </a:solidFill>
              </a:rPr>
              <a:t> </a:t>
            </a:r>
            <a:endParaRPr b="1" dirty="0" lang="fr-FR">
              <a:solidFill>
                <a:srgbClr val="7030A0"/>
              </a:solidFill>
            </a:endParaRPr>
          </a:p>
        </p:txBody>
      </p:sp>
      <p:sp>
        <p:nvSpPr>
          <p:cNvPr id="1048704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508105" cy="4873752"/>
          </a:xfrm>
        </p:spPr>
        <p:txBody>
          <a:bodyPr>
            <a:normAutofit/>
          </a:bodyPr>
          <a:p>
            <a:pPr>
              <a:buNone/>
            </a:pPr>
            <a:r>
              <a:rPr dirty="0" sz="5400" lang="el-GR" smtClean="0"/>
              <a:t>α</a:t>
            </a:r>
            <a:r>
              <a:rPr dirty="0" sz="5400" lang="en-GB" smtClean="0"/>
              <a:t>2                               </a:t>
            </a:r>
            <a:r>
              <a:rPr dirty="0" sz="5400" lang="el-GR" smtClean="0"/>
              <a:t>α</a:t>
            </a:r>
            <a:r>
              <a:rPr dirty="0" sz="5400" lang="en-GB" smtClean="0"/>
              <a:t>1</a:t>
            </a:r>
          </a:p>
          <a:p>
            <a:pPr>
              <a:buNone/>
            </a:pPr>
            <a:endParaRPr dirty="0" sz="5400" lang="en-GB" smtClean="0"/>
          </a:p>
          <a:p>
            <a:pPr>
              <a:buNone/>
            </a:pPr>
            <a:r>
              <a:rPr dirty="0" lang="en-GB" smtClean="0"/>
              <a:t> NA                         </a:t>
            </a:r>
            <a:r>
              <a:rPr dirty="0" lang="en-GB" err="1" smtClean="0"/>
              <a:t>phentolamine</a:t>
            </a:r>
            <a:r>
              <a:rPr dirty="0" lang="en-GB" smtClean="0"/>
              <a:t>                       </a:t>
            </a:r>
            <a:r>
              <a:rPr dirty="0" lang="en-GB" err="1" smtClean="0">
                <a:solidFill>
                  <a:srgbClr val="C00000"/>
                </a:solidFill>
              </a:rPr>
              <a:t>prazosine</a:t>
            </a:r>
            <a:r>
              <a:rPr dirty="0" lang="en-GB" smtClean="0"/>
              <a:t>        </a:t>
            </a:r>
          </a:p>
          <a:p>
            <a:pPr>
              <a:buNone/>
            </a:pPr>
            <a:r>
              <a:rPr dirty="0" lang="en-GB" smtClean="0"/>
              <a:t>Fc                     derive de </a:t>
            </a:r>
            <a:r>
              <a:rPr dirty="0" lang="en-GB" err="1" smtClean="0"/>
              <a:t>l’ergot</a:t>
            </a:r>
            <a:r>
              <a:rPr dirty="0" lang="en-GB" smtClean="0"/>
              <a:t> de </a:t>
            </a:r>
            <a:r>
              <a:rPr dirty="0" lang="en-GB" err="1" smtClean="0"/>
              <a:t>seigle</a:t>
            </a:r>
            <a:r>
              <a:rPr dirty="0" lang="en-GB" smtClean="0"/>
              <a:t>          </a:t>
            </a:r>
            <a:r>
              <a:rPr dirty="0" lang="en-GB" err="1" smtClean="0">
                <a:solidFill>
                  <a:srgbClr val="C00000"/>
                </a:solidFill>
              </a:rPr>
              <a:t>urapidil</a:t>
            </a:r>
            <a:endParaRPr dirty="0" lang="en-GB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dirty="0" lang="en-GB" smtClean="0"/>
              <a:t>                                                                            </a:t>
            </a:r>
          </a:p>
          <a:p>
            <a:pPr>
              <a:buNone/>
            </a:pPr>
            <a:r>
              <a:rPr dirty="0" lang="en-GB" smtClean="0"/>
              <a:t>PA</a:t>
            </a:r>
          </a:p>
          <a:p>
            <a:pPr>
              <a:buNone/>
            </a:pPr>
            <a:r>
              <a:rPr dirty="0" lang="en-GB" smtClean="0"/>
              <a:t>                                  </a:t>
            </a:r>
            <a:endParaRPr dirty="0" lang="fr-FR"/>
          </a:p>
        </p:txBody>
      </p:sp>
      <p:pic>
        <p:nvPicPr>
          <p:cNvPr id="2097162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sp>
        <p:nvSpPr>
          <p:cNvPr id="1048705" name="Flèche droite à entaille 4"/>
          <p:cNvSpPr/>
          <p:nvPr/>
        </p:nvSpPr>
        <p:spPr>
          <a:xfrm>
            <a:off x="428596" y="2571744"/>
            <a:ext cx="6786610" cy="214314"/>
          </a:xfrm>
          <a:prstGeom prst="notchedRightArrow"/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cxnSp>
        <p:nvCxnSpPr>
          <p:cNvPr id="3145760" name="Connecteur droit avec flèche 6"/>
          <p:cNvCxnSpPr>
            <a:cxnSpLocks/>
          </p:cNvCxnSpPr>
          <p:nvPr/>
        </p:nvCxnSpPr>
        <p:spPr>
          <a:xfrm rot="5400000">
            <a:off x="3500430" y="2928934"/>
            <a:ext cx="428628" cy="1588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1" name="Connecteur droit avec flèche 9"/>
          <p:cNvCxnSpPr>
            <a:cxnSpLocks/>
          </p:cNvCxnSpPr>
          <p:nvPr/>
        </p:nvCxnSpPr>
        <p:spPr>
          <a:xfrm>
            <a:off x="6858016" y="2715414"/>
            <a:ext cx="0" cy="425554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2" name="Connecteur droit avec flèche 16"/>
          <p:cNvCxnSpPr>
            <a:cxnSpLocks/>
          </p:cNvCxnSpPr>
          <p:nvPr/>
        </p:nvCxnSpPr>
        <p:spPr>
          <a:xfrm rot="5400000">
            <a:off x="572266" y="2922440"/>
            <a:ext cx="427834" cy="794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3" name="Connecteur droit avec flèche 19"/>
          <p:cNvCxnSpPr>
            <a:cxnSpLocks/>
          </p:cNvCxnSpPr>
          <p:nvPr/>
        </p:nvCxnSpPr>
        <p:spPr>
          <a:xfrm rot="5400000" flipH="1" flipV="1">
            <a:off x="321439" y="3392711"/>
            <a:ext cx="214314" cy="142876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4" name="Connecteur droit avec flèche 21"/>
          <p:cNvCxnSpPr>
            <a:cxnSpLocks/>
          </p:cNvCxnSpPr>
          <p:nvPr/>
        </p:nvCxnSpPr>
        <p:spPr>
          <a:xfrm rot="5400000" flipH="1" flipV="1">
            <a:off x="250001" y="3824759"/>
            <a:ext cx="214314" cy="142876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06" name="Accolade fermante 22"/>
          <p:cNvSpPr/>
          <p:nvPr/>
        </p:nvSpPr>
        <p:spPr>
          <a:xfrm rot="5400000">
            <a:off x="545838" y="3648460"/>
            <a:ext cx="357190" cy="1214414"/>
          </a:xfrm>
          <a:prstGeom prst="rightBrace"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tlCol="0"/>
          <a:p>
            <a:pPr algn="ctr"/>
            <a:endParaRPr lang="fr-FR"/>
          </a:p>
        </p:txBody>
      </p:sp>
      <p:cxnSp>
        <p:nvCxnSpPr>
          <p:cNvPr id="3145765" name="Connecteur droit avec flèche 42"/>
          <p:cNvCxnSpPr>
            <a:cxnSpLocks/>
          </p:cNvCxnSpPr>
          <p:nvPr/>
        </p:nvCxnSpPr>
        <p:spPr>
          <a:xfrm rot="5400000" flipH="1" flipV="1">
            <a:off x="285720" y="4582838"/>
            <a:ext cx="214314" cy="214314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07" name="Rectangle 12"/>
          <p:cNvSpPr/>
          <p:nvPr/>
        </p:nvSpPr>
        <p:spPr>
          <a:xfrm>
            <a:off x="428596" y="692696"/>
            <a:ext cx="4832134" cy="69956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sz="4000" lang="fr-FR" smtClean="0">
                <a:solidFill>
                  <a:schemeClr val="tx1"/>
                </a:solidFill>
              </a:rPr>
              <a:t>Alpha-1</a:t>
            </a:r>
            <a:r>
              <a:rPr dirty="0" sz="4000" lang="en-GB" smtClean="0"/>
              <a:t> </a:t>
            </a:r>
            <a:r>
              <a:rPr dirty="0" sz="2800" lang="fr-FR" smtClean="0">
                <a:solidFill>
                  <a:schemeClr val="tx1"/>
                </a:solidFill>
              </a:rPr>
              <a:t>BLOQUANTS</a:t>
            </a:r>
            <a:endParaRPr dirty="0" sz="2800"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sz="2000" lang="fr-FR" smtClean="0">
                <a:solidFill>
                  <a:srgbClr val="C00000"/>
                </a:solidFill>
              </a:rPr>
              <a:t>PRAZOSINE:(MINIPRESS</a:t>
            </a:r>
            <a:r>
              <a:rPr b="1" dirty="0" sz="1800" lang="fr-FR" smtClean="0">
                <a:solidFill>
                  <a:srgbClr val="C00000"/>
                </a:solidFill>
              </a:rPr>
              <a:t>*,</a:t>
            </a:r>
            <a:r>
              <a:rPr b="1" dirty="0" sz="2800" lang="fr-FR" err="1" smtClean="0">
                <a:solidFill>
                  <a:srgbClr val="C00000"/>
                </a:solidFill>
              </a:rPr>
              <a:t>alpress</a:t>
            </a:r>
            <a:r>
              <a:rPr b="1" dirty="0" sz="1800" lang="fr-FR" smtClean="0">
                <a:solidFill>
                  <a:srgbClr val="C00000"/>
                </a:solidFill>
              </a:rPr>
              <a:t>*),</a:t>
            </a:r>
            <a:br>
              <a:rPr b="1" dirty="0" sz="1800" lang="fr-FR" smtClean="0">
                <a:solidFill>
                  <a:srgbClr val="C00000"/>
                </a:solidFill>
              </a:rPr>
            </a:br>
            <a:r>
              <a:rPr b="1" dirty="0" sz="2000" lang="fr-FR" smtClean="0">
                <a:solidFill>
                  <a:srgbClr val="C00000"/>
                </a:solidFill>
              </a:rPr>
              <a:t>URAPIDIL(EUPRESSYL*,MEDIATENSYL*)</a:t>
            </a:r>
            <a:br>
              <a:rPr b="1" dirty="0" sz="2000" lang="fr-FR" smtClean="0">
                <a:solidFill>
                  <a:srgbClr val="C00000"/>
                </a:solidFill>
              </a:rPr>
            </a:br>
            <a:endParaRPr b="1" dirty="0" sz="1800" lang="fr-FR">
              <a:solidFill>
                <a:srgbClr val="C00000"/>
              </a:solidFill>
            </a:endParaRPr>
          </a:p>
        </p:txBody>
      </p:sp>
      <p:sp>
        <p:nvSpPr>
          <p:cNvPr id="1048709" name="Espace réservé du contenu 2"/>
          <p:cNvSpPr>
            <a:spLocks noGrp="1"/>
          </p:cNvSpPr>
          <p:nvPr>
            <p:ph sz="quarter" idx="1"/>
          </p:nvPr>
        </p:nvSpPr>
        <p:spPr>
          <a:solidFill>
            <a:schemeClr val="bg1"/>
          </a:solidFill>
        </p:spPr>
        <p:txBody>
          <a:bodyPr>
            <a:normAutofit/>
          </a:bodyPr>
          <a:p>
            <a:pPr>
              <a:buNone/>
            </a:pPr>
            <a:r>
              <a:rPr dirty="0" lang="fr-FR" smtClean="0">
                <a:sym typeface="Wingdings 2"/>
              </a:rPr>
              <a:t> </a:t>
            </a:r>
            <a:r>
              <a:rPr dirty="0" lang="fr-FR" smtClean="0"/>
              <a:t>MECANISME D’ACTION:</a:t>
            </a:r>
          </a:p>
          <a:p>
            <a:pPr>
              <a:buNone/>
            </a:pPr>
            <a:r>
              <a:rPr dirty="0" lang="fr-FR" smtClean="0"/>
              <a:t>-Blocage </a:t>
            </a:r>
            <a:r>
              <a:rPr dirty="0" lang="el-GR" smtClean="0"/>
              <a:t>α</a:t>
            </a:r>
            <a:r>
              <a:rPr dirty="0" lang="en-GB" smtClean="0"/>
              <a:t>1                    vasodilatation               </a:t>
            </a:r>
            <a:r>
              <a:rPr dirty="0" lang="en-GB" err="1" smtClean="0"/>
              <a:t>Rsys</a:t>
            </a:r>
            <a:endParaRPr dirty="0" lang="en-GB" smtClean="0"/>
          </a:p>
          <a:p>
            <a:pPr>
              <a:buNone/>
            </a:pPr>
            <a:r>
              <a:rPr dirty="0" lang="en-GB" smtClean="0"/>
              <a:t> (post-</a:t>
            </a:r>
            <a:r>
              <a:rPr dirty="0" lang="en-GB" err="1" smtClean="0"/>
              <a:t>syn</a:t>
            </a:r>
            <a:r>
              <a:rPr dirty="0" lang="en-GB" smtClean="0"/>
              <a:t>)                                                            sans    Fc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>
              <a:buNone/>
            </a:pPr>
            <a:r>
              <a:rPr dirty="0" lang="en-GB" smtClean="0">
                <a:solidFill>
                  <a:schemeClr val="bg1"/>
                </a:solidFill>
              </a:rPr>
              <a:t>Hypotension </a:t>
            </a:r>
            <a:r>
              <a:rPr dirty="0" lang="en-GB" err="1" smtClean="0">
                <a:solidFill>
                  <a:schemeClr val="bg1"/>
                </a:solidFill>
              </a:rPr>
              <a:t>orthostatique</a:t>
            </a:r>
            <a:endParaRPr dirty="0" lang="en-GB" smtClean="0">
              <a:solidFill>
                <a:schemeClr val="bg1"/>
              </a:solidFill>
            </a:endParaRPr>
          </a:p>
          <a:p>
            <a:endParaRPr dirty="0" lang="fr-FR" smtClean="0"/>
          </a:p>
          <a:p>
            <a:pPr>
              <a:buNone/>
            </a:pPr>
            <a:r>
              <a:rPr dirty="0" lang="fr-FR" smtClean="0"/>
              <a:t>-</a:t>
            </a:r>
            <a:r>
              <a:rPr dirty="0" lang="fr-FR" err="1" smtClean="0"/>
              <a:t>Phosphodiesterase</a:t>
            </a:r>
            <a:r>
              <a:rPr dirty="0" lang="fr-FR" smtClean="0"/>
              <a:t>                    vasodilatateur direct</a:t>
            </a:r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dirty="0" lang="fr-FR" smtClean="0"/>
              <a:t>                                                                           </a:t>
            </a:r>
          </a:p>
          <a:p>
            <a:pPr>
              <a:buNone/>
            </a:pPr>
            <a:r>
              <a:rPr dirty="0" lang="fr-FR" smtClean="0">
                <a:solidFill>
                  <a:srgbClr val="C00000"/>
                </a:solidFill>
              </a:rPr>
              <a:t>                                                                           PA   </a:t>
            </a:r>
          </a:p>
          <a:p>
            <a:pPr>
              <a:buNone/>
            </a:pPr>
            <a:r>
              <a:rPr dirty="0" lang="fr-FR" smtClean="0"/>
              <a:t>                                                                     </a:t>
            </a:r>
          </a:p>
          <a:p>
            <a:pPr>
              <a:buNone/>
            </a:pPr>
            <a:r>
              <a:rPr dirty="0" lang="fr-FR" smtClean="0"/>
              <a:t>                                                                       </a:t>
            </a:r>
          </a:p>
          <a:p>
            <a:pPr algn="r">
              <a:buNone/>
            </a:pPr>
            <a:r>
              <a:rPr dirty="0" lang="fr-FR" smtClean="0"/>
              <a:t>Traitement HTA   </a:t>
            </a:r>
          </a:p>
          <a:p>
            <a:pPr>
              <a:buNone/>
            </a:pPr>
            <a:r>
              <a:rPr dirty="0" lang="fr-FR" smtClean="0"/>
              <a:t>                                                                                           </a:t>
            </a:r>
            <a:r>
              <a:rPr dirty="0" sz="1800" lang="fr-FR" smtClean="0"/>
              <a:t>  </a:t>
            </a:r>
          </a:p>
          <a:p>
            <a:pPr>
              <a:buNone/>
            </a:pPr>
            <a:r>
              <a:rPr dirty="0" sz="1800" lang="fr-FR" smtClean="0"/>
              <a:t>    </a:t>
            </a:r>
            <a:endParaRPr dirty="0" lang="fr-FR" smtClean="0"/>
          </a:p>
        </p:txBody>
      </p:sp>
      <p:pic>
        <p:nvPicPr>
          <p:cNvPr id="2097163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cxnSp>
        <p:nvCxnSpPr>
          <p:cNvPr id="3145766" name="Connecteur droit 5"/>
          <p:cNvCxnSpPr>
            <a:cxnSpLocks/>
          </p:cNvCxnSpPr>
          <p:nvPr/>
        </p:nvCxnSpPr>
        <p:spPr>
          <a:xfrm>
            <a:off x="1000100" y="3068960"/>
            <a:ext cx="1524024" cy="877886"/>
          </a:xfrm>
          <a:prstGeom prst="line"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7" name="Connecteur droit 7"/>
          <p:cNvCxnSpPr>
            <a:cxnSpLocks/>
          </p:cNvCxnSpPr>
          <p:nvPr/>
        </p:nvCxnSpPr>
        <p:spPr>
          <a:xfrm rot="10800000" flipV="1">
            <a:off x="1214414" y="3068960"/>
            <a:ext cx="1500198" cy="785818"/>
          </a:xfrm>
          <a:prstGeom prst="line"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8" name="Connecteur droit avec flèche 9"/>
          <p:cNvCxnSpPr>
            <a:cxnSpLocks/>
          </p:cNvCxnSpPr>
          <p:nvPr/>
        </p:nvCxnSpPr>
        <p:spPr>
          <a:xfrm>
            <a:off x="2339752" y="2203276"/>
            <a:ext cx="1000132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9" name="Connecteur droit avec flèche 10"/>
          <p:cNvCxnSpPr>
            <a:cxnSpLocks/>
          </p:cNvCxnSpPr>
          <p:nvPr/>
        </p:nvCxnSpPr>
        <p:spPr>
          <a:xfrm>
            <a:off x="3357554" y="3501008"/>
            <a:ext cx="1000132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70" name="Connecteur droit avec flèche 12"/>
          <p:cNvCxnSpPr>
            <a:cxnSpLocks/>
          </p:cNvCxnSpPr>
          <p:nvPr/>
        </p:nvCxnSpPr>
        <p:spPr>
          <a:xfrm>
            <a:off x="5580112" y="2203276"/>
            <a:ext cx="642942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71" name="Connecteur droit avec flèche 14"/>
          <p:cNvCxnSpPr>
            <a:cxnSpLocks/>
          </p:cNvCxnSpPr>
          <p:nvPr/>
        </p:nvCxnSpPr>
        <p:spPr>
          <a:xfrm rot="16200000" flipH="1">
            <a:off x="6286512" y="1916832"/>
            <a:ext cx="214314" cy="214314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72" name="Connecteur droit avec flèche 18"/>
          <p:cNvCxnSpPr>
            <a:cxnSpLocks/>
          </p:cNvCxnSpPr>
          <p:nvPr/>
        </p:nvCxnSpPr>
        <p:spPr>
          <a:xfrm rot="5400000" flipH="1" flipV="1">
            <a:off x="7143768" y="2285992"/>
            <a:ext cx="285752" cy="285752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0" name="Accolade fermante 21"/>
          <p:cNvSpPr/>
          <p:nvPr/>
        </p:nvSpPr>
        <p:spPr>
          <a:xfrm>
            <a:off x="7500958" y="1714488"/>
            <a:ext cx="571504" cy="2571768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tlCol="0"/>
          <a:p>
            <a:pPr algn="ctr"/>
            <a:endParaRPr lang="fr-FR"/>
          </a:p>
        </p:txBody>
      </p:sp>
      <p:cxnSp>
        <p:nvCxnSpPr>
          <p:cNvPr id="3145773" name="Connecteur droit 23"/>
          <p:cNvCxnSpPr>
            <a:cxnSpLocks/>
            <a:stCxn id="1048710" idx="1"/>
          </p:cNvCxnSpPr>
          <p:nvPr/>
        </p:nvCxnSpPr>
        <p:spPr>
          <a:xfrm flipH="1">
            <a:off x="8072461" y="3000372"/>
            <a:ext cx="1" cy="1579616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74" name="Connecteur droit avec flèche 25"/>
          <p:cNvCxnSpPr>
            <a:cxnSpLocks/>
          </p:cNvCxnSpPr>
          <p:nvPr/>
        </p:nvCxnSpPr>
        <p:spPr>
          <a:xfrm flipH="1">
            <a:off x="6876256" y="4582716"/>
            <a:ext cx="1224136" cy="1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75" name="Connecteur droit avec flèche 30"/>
          <p:cNvCxnSpPr>
            <a:cxnSpLocks/>
          </p:cNvCxnSpPr>
          <p:nvPr/>
        </p:nvCxnSpPr>
        <p:spPr>
          <a:xfrm rot="16200000" flipH="1">
            <a:off x="6036479" y="4472832"/>
            <a:ext cx="285752" cy="214314"/>
          </a:xfrm>
          <a:prstGeom prst="straightConnector1"/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76" name="Connecteur droit avec flèche 33"/>
          <p:cNvCxnSpPr>
            <a:cxnSpLocks/>
          </p:cNvCxnSpPr>
          <p:nvPr/>
        </p:nvCxnSpPr>
        <p:spPr>
          <a:xfrm flipH="1">
            <a:off x="6500826" y="5016596"/>
            <a:ext cx="794" cy="356620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Rectangle 4"/>
          <p:cNvSpPr/>
          <p:nvPr/>
        </p:nvSpPr>
        <p:spPr>
          <a:xfrm>
            <a:off x="395536" y="116632"/>
            <a:ext cx="3414730" cy="71438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sz="2800" lang="el-GR" smtClean="0">
                <a:solidFill>
                  <a:prstClr val="black"/>
                </a:solidFill>
              </a:rPr>
              <a:t>β</a:t>
            </a:r>
            <a:r>
              <a:rPr dirty="0" sz="2800" lang="fr-FR" smtClean="0">
                <a:solidFill>
                  <a:prstClr val="black"/>
                </a:solidFill>
              </a:rPr>
              <a:t>- </a:t>
            </a:r>
            <a:r>
              <a:rPr dirty="0" sz="2800" lang="en-GB" smtClean="0">
                <a:solidFill>
                  <a:prstClr val="black"/>
                </a:solidFill>
              </a:rPr>
              <a:t>BLOQUANTS:</a:t>
            </a:r>
            <a:endParaRPr dirty="0" sz="2800" lang="fr-FR">
              <a:solidFill>
                <a:prstClr val="black"/>
              </a:solidFill>
            </a:endParaRPr>
          </a:p>
        </p:txBody>
      </p:sp>
      <p:sp>
        <p:nvSpPr>
          <p:cNvPr id="1048712" name="Rectangle 5"/>
          <p:cNvSpPr/>
          <p:nvPr/>
        </p:nvSpPr>
        <p:spPr>
          <a:xfrm>
            <a:off x="107504" y="893209"/>
            <a:ext cx="8856984" cy="4356101"/>
          </a:xfrm>
          <a:prstGeom prst="rect"/>
        </p:spPr>
        <p:txBody>
          <a:bodyPr wrap="square">
            <a:spAutoFit/>
          </a:bodyPr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dirty="0" sz="2800" lang="fr-FR">
                <a:latin typeface="Times New Roman"/>
                <a:ea typeface="Times New Roman"/>
                <a:cs typeface="Arial"/>
              </a:rPr>
              <a:t>La stimulation des récepteurs β-adrénergiques conduit aux effets physiologiques suivants </a:t>
            </a:r>
            <a:r>
              <a:rPr dirty="0" sz="2800" lang="fr-FR" smtClean="0">
                <a:latin typeface="Times New Roman"/>
                <a:ea typeface="Times New Roman"/>
                <a:cs typeface="Arial"/>
              </a:rPr>
              <a:t>: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dirty="0" sz="2400" lang="fr-FR">
              <a:latin typeface="Calibri"/>
              <a:ea typeface="Calibri"/>
              <a:cs typeface="Arial"/>
            </a:endParaRPr>
          </a:p>
          <a:p>
            <a:pPr algn="just" marL="449580">
              <a:lnSpc>
                <a:spcPct val="115000"/>
              </a:lnSpc>
              <a:spcAft>
                <a:spcPts val="0"/>
              </a:spcAft>
            </a:pPr>
            <a:r>
              <a:rPr dirty="0" sz="2800" lang="fr-FR">
                <a:latin typeface="Times New Roman"/>
                <a:ea typeface="Times New Roman"/>
                <a:cs typeface="Arial"/>
              </a:rPr>
              <a:t>- effet inotrope positif</a:t>
            </a:r>
            <a:endParaRPr dirty="0" sz="2400" lang="fr-FR">
              <a:latin typeface="Calibri"/>
              <a:ea typeface="Calibri"/>
              <a:cs typeface="Arial"/>
            </a:endParaRPr>
          </a:p>
          <a:p>
            <a:pPr algn="just" marL="449580">
              <a:lnSpc>
                <a:spcPct val="115000"/>
              </a:lnSpc>
              <a:spcAft>
                <a:spcPts val="0"/>
              </a:spcAft>
            </a:pPr>
            <a:r>
              <a:rPr dirty="0" sz="2800" lang="fr-FR">
                <a:latin typeface="Times New Roman"/>
                <a:ea typeface="Times New Roman"/>
                <a:cs typeface="Arial"/>
              </a:rPr>
              <a:t>- effet </a:t>
            </a:r>
            <a:r>
              <a:rPr dirty="0" sz="2800" lang="fr-FR" err="1">
                <a:latin typeface="Times New Roman"/>
                <a:ea typeface="Times New Roman"/>
                <a:cs typeface="Arial"/>
              </a:rPr>
              <a:t>chronotrope</a:t>
            </a:r>
            <a:r>
              <a:rPr dirty="0" sz="2800" lang="fr-FR">
                <a:latin typeface="Times New Roman"/>
                <a:ea typeface="Times New Roman"/>
                <a:cs typeface="Arial"/>
              </a:rPr>
              <a:t> positif</a:t>
            </a:r>
            <a:endParaRPr dirty="0" sz="2400" lang="fr-FR">
              <a:latin typeface="Calibri"/>
              <a:ea typeface="Calibri"/>
              <a:cs typeface="Arial"/>
            </a:endParaRPr>
          </a:p>
          <a:p>
            <a:pPr algn="just" lvl="0" marL="449580">
              <a:lnSpc>
                <a:spcPct val="115000"/>
              </a:lnSpc>
            </a:pPr>
            <a:r>
              <a:rPr dirty="0" sz="2800" lang="fr-FR">
                <a:latin typeface="Times New Roman"/>
                <a:ea typeface="Times New Roman"/>
                <a:cs typeface="Arial"/>
              </a:rPr>
              <a:t>- </a:t>
            </a:r>
            <a:r>
              <a:rPr dirty="0" sz="2800" lang="fr-FR" smtClean="0">
                <a:latin typeface="Times New Roman"/>
                <a:ea typeface="Times New Roman"/>
                <a:cs typeface="Arial"/>
              </a:rPr>
              <a:t>Vasodilatation et </a:t>
            </a:r>
            <a:r>
              <a:rPr dirty="0" sz="2800" lang="fr-FR" err="1" smtClean="0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bronchodilatation</a:t>
            </a:r>
            <a:endParaRPr dirty="0" sz="2400" lang="fr-FR">
              <a:latin typeface="Calibri"/>
              <a:ea typeface="Calibri"/>
              <a:cs typeface="Arial"/>
            </a:endParaRPr>
          </a:p>
          <a:p>
            <a:pPr algn="just" marL="449580">
              <a:lnSpc>
                <a:spcPct val="115000"/>
              </a:lnSpc>
              <a:spcAft>
                <a:spcPts val="0"/>
              </a:spcAft>
            </a:pPr>
            <a:r>
              <a:rPr dirty="0" sz="2800" lang="fr-FR">
                <a:latin typeface="Times New Roman"/>
                <a:ea typeface="Times New Roman"/>
                <a:cs typeface="Arial"/>
              </a:rPr>
              <a:t>- augmentation de la sécrétion de rénine</a:t>
            </a:r>
            <a:endParaRPr dirty="0" sz="2400" lang="fr-FR">
              <a:latin typeface="Calibri"/>
              <a:ea typeface="Calibri"/>
              <a:cs typeface="Arial"/>
            </a:endParaRPr>
          </a:p>
          <a:p>
            <a:pPr algn="just" marL="449580">
              <a:lnSpc>
                <a:spcPct val="115000"/>
              </a:lnSpc>
              <a:spcAft>
                <a:spcPts val="0"/>
              </a:spcAft>
            </a:pPr>
            <a:r>
              <a:rPr dirty="0" sz="2800" lang="fr-FR">
                <a:latin typeface="Times New Roman"/>
                <a:ea typeface="Times New Roman"/>
                <a:cs typeface="Arial"/>
              </a:rPr>
              <a:t>- </a:t>
            </a:r>
            <a:r>
              <a:rPr dirty="0" sz="2800" lang="fr-FR" smtClean="0">
                <a:latin typeface="Times New Roman"/>
                <a:ea typeface="Times New Roman"/>
                <a:cs typeface="Arial"/>
              </a:rPr>
              <a:t>augmentation </a:t>
            </a:r>
            <a:r>
              <a:rPr dirty="0" sz="2800" lang="fr-FR">
                <a:latin typeface="Times New Roman"/>
                <a:ea typeface="Times New Roman"/>
                <a:cs typeface="Arial"/>
              </a:rPr>
              <a:t>de la sécrétion d’insuline</a:t>
            </a:r>
            <a:endParaRPr dirty="0" sz="2400" lang="fr-FR">
              <a:latin typeface="Calibri"/>
              <a:ea typeface="Calibri"/>
              <a:cs typeface="Arial"/>
            </a:endParaRPr>
          </a:p>
          <a:p>
            <a:pPr algn="just" marL="449580">
              <a:lnSpc>
                <a:spcPct val="115000"/>
              </a:lnSpc>
              <a:spcAft>
                <a:spcPts val="0"/>
              </a:spcAft>
            </a:pPr>
            <a:r>
              <a:rPr dirty="0" sz="2800" lang="fr-FR">
                <a:latin typeface="Times New Roman"/>
                <a:ea typeface="Times New Roman"/>
                <a:cs typeface="Arial"/>
              </a:rPr>
              <a:t>- stimulation de la lipolyse</a:t>
            </a:r>
            <a:endParaRPr dirty="0" sz="2400" lang="fr-FR">
              <a:effectLst/>
              <a:latin typeface="Calibri"/>
              <a:ea typeface="Calibri"/>
              <a:cs typeface="Arial"/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51520" y="1600200"/>
            <a:ext cx="8678198" cy="4873752"/>
          </a:xfrm>
        </p:spPr>
        <p:txBody>
          <a:bodyPr>
            <a:normAutofit/>
          </a:bodyPr>
          <a:p>
            <a:pPr>
              <a:buNone/>
            </a:pPr>
            <a:r>
              <a:rPr dirty="0" lang="fr-FR" smtClean="0"/>
              <a:t>MÉCANISME D’ACTION:</a:t>
            </a:r>
          </a:p>
          <a:p>
            <a:pPr>
              <a:buNone/>
            </a:pPr>
            <a:r>
              <a:rPr dirty="0" lang="fr-FR" smtClean="0"/>
              <a:t>                                     </a:t>
            </a:r>
            <a:r>
              <a:rPr dirty="0" lang="el-GR" smtClean="0"/>
              <a:t>β</a:t>
            </a:r>
            <a:r>
              <a:rPr dirty="0" lang="en-GB" smtClean="0"/>
              <a:t>1       inotrope _, </a:t>
            </a:r>
            <a:r>
              <a:rPr dirty="0" lang="en-GB" err="1" smtClean="0"/>
              <a:t>bathmotrope</a:t>
            </a:r>
            <a:r>
              <a:rPr dirty="0" lang="en-GB" smtClean="0"/>
              <a:t> _                     </a:t>
            </a:r>
          </a:p>
          <a:p>
            <a:pPr>
              <a:buNone/>
            </a:pPr>
            <a:r>
              <a:rPr dirty="0" lang="en-GB" smtClean="0"/>
              <a:t>                                               </a:t>
            </a:r>
            <a:r>
              <a:rPr dirty="0" lang="en-GB" err="1" smtClean="0"/>
              <a:t>dromotrope</a:t>
            </a:r>
            <a:r>
              <a:rPr dirty="0" lang="en-GB" smtClean="0"/>
              <a:t> _, </a:t>
            </a:r>
            <a:r>
              <a:rPr dirty="0" lang="en-GB" err="1" smtClean="0"/>
              <a:t>chronotrope</a:t>
            </a:r>
            <a:r>
              <a:rPr dirty="0" lang="en-GB" smtClean="0"/>
              <a:t>_</a:t>
            </a:r>
            <a:endParaRPr dirty="0" lang="fr-FR" smtClean="0"/>
          </a:p>
          <a:p>
            <a:pPr>
              <a:buNone/>
            </a:pPr>
            <a:r>
              <a:rPr dirty="0" lang="fr-FR" smtClean="0"/>
              <a:t>                 </a:t>
            </a:r>
          </a:p>
          <a:p>
            <a:endParaRPr dirty="0" lang="fr-FR" smtClean="0"/>
          </a:p>
          <a:p>
            <a:pPr>
              <a:buNone/>
            </a:pPr>
            <a:r>
              <a:rPr b="1" dirty="0" lang="fr-FR" smtClean="0"/>
              <a:t>Blocage</a:t>
            </a:r>
            <a:r>
              <a:rPr dirty="0" lang="fr-FR"/>
              <a:t>-</a:t>
            </a:r>
            <a:r>
              <a:rPr b="1" dirty="0" lang="el-GR" smtClean="0"/>
              <a:t>β</a:t>
            </a:r>
            <a:endParaRPr b="1" dirty="0" lang="en-GB" smtClean="0"/>
          </a:p>
          <a:p>
            <a:pPr>
              <a:buNone/>
            </a:pPr>
            <a:endParaRPr dirty="0" lang="en-GB" smtClean="0"/>
          </a:p>
          <a:p>
            <a:pPr>
              <a:buNone/>
            </a:pPr>
            <a:endParaRPr dirty="0" lang="en-GB" smtClean="0"/>
          </a:p>
          <a:p>
            <a:pPr>
              <a:buNone/>
            </a:pPr>
            <a:r>
              <a:rPr dirty="0" lang="en-GB" smtClean="0"/>
              <a:t>                                   </a:t>
            </a:r>
            <a:r>
              <a:rPr dirty="0" lang="el-GR" smtClean="0"/>
              <a:t>β</a:t>
            </a:r>
            <a:r>
              <a:rPr dirty="0" lang="en-GB" smtClean="0"/>
              <a:t>2      </a:t>
            </a:r>
            <a:r>
              <a:rPr dirty="0" lang="en-GB" err="1" smtClean="0"/>
              <a:t>vaso</a:t>
            </a:r>
            <a:r>
              <a:rPr dirty="0" lang="en-GB" smtClean="0"/>
              <a:t> et </a:t>
            </a:r>
            <a:r>
              <a:rPr dirty="0" lang="en-GB" err="1" smtClean="0"/>
              <a:t>bronchoconstriction</a:t>
            </a:r>
            <a:endParaRPr dirty="0" lang="fr-FR"/>
          </a:p>
        </p:txBody>
      </p:sp>
      <p:pic>
        <p:nvPicPr>
          <p:cNvPr id="2097164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sp>
        <p:nvSpPr>
          <p:cNvPr id="1048717" name="Rectangle 4"/>
          <p:cNvSpPr/>
          <p:nvPr/>
        </p:nvSpPr>
        <p:spPr>
          <a:xfrm>
            <a:off x="785786" y="642918"/>
            <a:ext cx="3414730" cy="71438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sz="2800" lang="el-GR" smtClean="0">
                <a:solidFill>
                  <a:prstClr val="black"/>
                </a:solidFill>
              </a:rPr>
              <a:t>β</a:t>
            </a:r>
            <a:r>
              <a:rPr dirty="0" sz="2800" lang="fr-FR" smtClean="0">
                <a:solidFill>
                  <a:prstClr val="black"/>
                </a:solidFill>
              </a:rPr>
              <a:t>- </a:t>
            </a:r>
            <a:r>
              <a:rPr dirty="0" sz="2800" lang="en-GB" smtClean="0">
                <a:solidFill>
                  <a:prstClr val="black"/>
                </a:solidFill>
              </a:rPr>
              <a:t>BLOQUANTS:</a:t>
            </a:r>
            <a:endParaRPr dirty="0" sz="2800" lang="fr-FR">
              <a:solidFill>
                <a:prstClr val="black"/>
              </a:solidFill>
            </a:endParaRPr>
          </a:p>
        </p:txBody>
      </p:sp>
      <p:cxnSp>
        <p:nvCxnSpPr>
          <p:cNvPr id="3145777" name="Connecteur en arc 9"/>
          <p:cNvCxnSpPr>
            <a:cxnSpLocks/>
          </p:cNvCxnSpPr>
          <p:nvPr/>
        </p:nvCxnSpPr>
        <p:spPr>
          <a:xfrm rot="5400000" flipH="1" flipV="1">
            <a:off x="1919104" y="2500306"/>
            <a:ext cx="1500198" cy="1357322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78" name="Connecteur en arc 11"/>
          <p:cNvCxnSpPr>
            <a:cxnSpLocks/>
          </p:cNvCxnSpPr>
          <p:nvPr/>
        </p:nvCxnSpPr>
        <p:spPr>
          <a:xfrm rot="16200000" flipH="1">
            <a:off x="1883385" y="4107661"/>
            <a:ext cx="1428760" cy="1214446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79" name="Connecteur droit avec flèche 13"/>
          <p:cNvCxnSpPr>
            <a:cxnSpLocks/>
          </p:cNvCxnSpPr>
          <p:nvPr/>
        </p:nvCxnSpPr>
        <p:spPr>
          <a:xfrm>
            <a:off x="3779912" y="5429264"/>
            <a:ext cx="357190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0" name="Connecteur droit avec flèche 14"/>
          <p:cNvCxnSpPr>
            <a:cxnSpLocks/>
          </p:cNvCxnSpPr>
          <p:nvPr/>
        </p:nvCxnSpPr>
        <p:spPr>
          <a:xfrm>
            <a:off x="3923928" y="2276872"/>
            <a:ext cx="357190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re 1"/>
          <p:cNvSpPr>
            <a:spLocks noGrp="1"/>
          </p:cNvSpPr>
          <p:nvPr>
            <p:ph type="title"/>
          </p:nvPr>
        </p:nvSpPr>
        <p:spPr>
          <a:xfrm>
            <a:off x="107504" y="341784"/>
            <a:ext cx="7467600" cy="1143000"/>
          </a:xfrm>
        </p:spPr>
        <p:txBody>
          <a:bodyPr>
            <a:normAutofit/>
          </a:bodyPr>
          <a:p>
            <a:r>
              <a:rPr b="1" dirty="0" sz="2400" lang="fr-FR" smtClean="0">
                <a:solidFill>
                  <a:srgbClr val="C00000"/>
                </a:solidFill>
              </a:rPr>
              <a:t>PROPRIÉTÉS PHARMACOLOGIQUES:</a:t>
            </a:r>
            <a:endParaRPr b="1" dirty="0" sz="2400" lang="fr-FR">
              <a:solidFill>
                <a:srgbClr val="C00000"/>
              </a:solidFill>
            </a:endParaRPr>
          </a:p>
        </p:txBody>
      </p:sp>
      <p:sp>
        <p:nvSpPr>
          <p:cNvPr id="1048722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07504" y="1600200"/>
            <a:ext cx="9361040" cy="4873752"/>
          </a:xfrm>
        </p:spPr>
        <p:txBody>
          <a:bodyPr/>
          <a:p>
            <a:pPr>
              <a:buNone/>
            </a:pPr>
            <a:r>
              <a:rPr dirty="0" lang="fr-FR" u="sng" smtClean="0">
                <a:solidFill>
                  <a:srgbClr val="7030A0"/>
                </a:solidFill>
              </a:rPr>
              <a:t>1) ACTIVITÉ ADRÉNOLYTIQUE</a:t>
            </a:r>
          </a:p>
          <a:p>
            <a:pPr>
              <a:buNone/>
            </a:pPr>
            <a:r>
              <a:rPr dirty="0" lang="fr-FR" smtClean="0">
                <a:latin typeface="Times New Roman"/>
                <a:ea typeface="Times New Roman"/>
                <a:cs typeface="Arial"/>
              </a:rPr>
              <a:t>L’activité </a:t>
            </a:r>
            <a:r>
              <a:rPr dirty="0" lang="fr-FR" err="1">
                <a:latin typeface="Times New Roman"/>
                <a:ea typeface="Times New Roman"/>
                <a:cs typeface="Arial"/>
              </a:rPr>
              <a:t>antihypertensive</a:t>
            </a:r>
            <a:r>
              <a:rPr dirty="0" lang="fr-FR">
                <a:latin typeface="Times New Roman"/>
                <a:ea typeface="Times New Roman"/>
                <a:cs typeface="Arial"/>
              </a:rPr>
              <a:t> résulte du blocage des récepteurs β.</a:t>
            </a:r>
            <a:endParaRPr dirty="0" sz="2000" lang="fr-FR">
              <a:latin typeface="Calibri"/>
              <a:ea typeface="Calibri"/>
              <a:cs typeface="Arial"/>
            </a:endParaRPr>
          </a:p>
          <a:p>
            <a:pPr>
              <a:buNone/>
            </a:pPr>
            <a:endParaRPr dirty="0" lang="fr-FR" u="sng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dirty="0" lang="fr-FR" u="sng" smtClean="0">
                <a:solidFill>
                  <a:srgbClr val="7030A0"/>
                </a:solidFill>
              </a:rPr>
              <a:t>2) ACTIVITÉ SYMPATHOMIMÉTIQUE INTRINSÈQUE (ASI):</a:t>
            </a:r>
          </a:p>
          <a:p>
            <a:pPr>
              <a:buNone/>
            </a:pPr>
            <a:r>
              <a:rPr dirty="0" sz="2000" lang="fr-FR" smtClean="0"/>
              <a:t>AGONISTES PARTIELS </a:t>
            </a:r>
            <a:r>
              <a:rPr dirty="0" sz="2000" lang="el-GR" smtClean="0"/>
              <a:t>β</a:t>
            </a:r>
            <a:r>
              <a:rPr dirty="0" sz="2000" lang="en-GB" smtClean="0"/>
              <a:t>              </a:t>
            </a:r>
            <a:endParaRPr dirty="0" lang="fr-FR" smtClean="0"/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dirty="0" lang="fr-FR" u="sng" smtClean="0">
                <a:solidFill>
                  <a:srgbClr val="7030A0"/>
                </a:solidFill>
              </a:rPr>
              <a:t>3) EFFET STABILISANT DE LA MEMBRANE:</a:t>
            </a:r>
          </a:p>
          <a:p>
            <a:pPr>
              <a:buNone/>
            </a:pPr>
            <a:r>
              <a:rPr dirty="0" lang="fr-FR" err="1" smtClean="0"/>
              <a:t>Anésthésie</a:t>
            </a:r>
            <a:r>
              <a:rPr dirty="0" lang="fr-FR"/>
              <a:t> </a:t>
            </a:r>
            <a:r>
              <a:rPr dirty="0" lang="fr-FR" smtClean="0"/>
              <a:t>locale: effet </a:t>
            </a:r>
            <a:r>
              <a:rPr dirty="0" lang="fr-FR"/>
              <a:t>« </a:t>
            </a:r>
            <a:r>
              <a:rPr dirty="0" lang="fr-FR" err="1"/>
              <a:t>quinidine</a:t>
            </a:r>
            <a:r>
              <a:rPr dirty="0" lang="fr-FR"/>
              <a:t> </a:t>
            </a:r>
            <a:r>
              <a:rPr dirty="0" lang="fr-FR" err="1"/>
              <a:t>like</a:t>
            </a:r>
            <a:r>
              <a:rPr dirty="0" lang="fr-FR"/>
              <a:t> »</a:t>
            </a:r>
            <a:endParaRPr dirty="0" lang="fr-FR" smtClean="0"/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dirty="0" lang="fr-FR" u="sng" smtClean="0">
                <a:solidFill>
                  <a:srgbClr val="7030A0"/>
                </a:solidFill>
              </a:rPr>
              <a:t>4) CARDIOSÉLECTIVITÉ (béta-1)</a:t>
            </a:r>
          </a:p>
          <a:p>
            <a:pPr>
              <a:buNone/>
            </a:pPr>
            <a:endParaRPr dirty="0" lang="fr-FR" u="sng" smtClean="0">
              <a:solidFill>
                <a:srgbClr val="7030A0"/>
              </a:solidFill>
            </a:endParaRPr>
          </a:p>
          <a:p>
            <a:pPr>
              <a:buNone/>
            </a:pPr>
            <a:endParaRPr dirty="0" lang="fr-FR" u="sng">
              <a:solidFill>
                <a:srgbClr val="7030A0"/>
              </a:solidFill>
            </a:endParaRPr>
          </a:p>
        </p:txBody>
      </p:sp>
      <p:pic>
        <p:nvPicPr>
          <p:cNvPr id="2097165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sp>
        <p:nvSpPr>
          <p:cNvPr id="1048723" name="Rectangle 5"/>
          <p:cNvSpPr/>
          <p:nvPr/>
        </p:nvSpPr>
        <p:spPr>
          <a:xfrm>
            <a:off x="251520" y="123618"/>
            <a:ext cx="3414730" cy="71438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sz="2800" lang="el-GR" smtClean="0">
                <a:solidFill>
                  <a:prstClr val="black"/>
                </a:solidFill>
              </a:rPr>
              <a:t>β</a:t>
            </a:r>
            <a:r>
              <a:rPr dirty="0" sz="2800" lang="fr-FR" smtClean="0">
                <a:solidFill>
                  <a:prstClr val="black"/>
                </a:solidFill>
              </a:rPr>
              <a:t>- </a:t>
            </a:r>
            <a:r>
              <a:rPr dirty="0" sz="2800" lang="en-GB" smtClean="0">
                <a:solidFill>
                  <a:prstClr val="black"/>
                </a:solidFill>
              </a:rPr>
              <a:t>BLOQUANTS:</a:t>
            </a:r>
            <a:endParaRPr dirty="0" sz="2800" lang="fr-FR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re 1"/>
          <p:cNvSpPr>
            <a:spLocks noGrp="1"/>
          </p:cNvSpPr>
          <p:nvPr>
            <p:ph type="title"/>
          </p:nvPr>
        </p:nvSpPr>
        <p:spPr>
          <a:xfrm>
            <a:off x="107504" y="341784"/>
            <a:ext cx="7467600" cy="1143000"/>
          </a:xfrm>
        </p:spPr>
        <p:txBody>
          <a:bodyPr>
            <a:normAutofit/>
          </a:bodyPr>
          <a:p>
            <a:r>
              <a:rPr b="1" dirty="0" sz="2400" lang="fr-FR" smtClean="0">
                <a:solidFill>
                  <a:srgbClr val="C00000"/>
                </a:solidFill>
              </a:rPr>
              <a:t>PROPRIÉTÉS PHARMACOLOGIQUES:</a:t>
            </a:r>
            <a:endParaRPr b="1" dirty="0" sz="2400" lang="fr-FR">
              <a:solidFill>
                <a:srgbClr val="C00000"/>
              </a:solidFill>
            </a:endParaRPr>
          </a:p>
        </p:txBody>
      </p:sp>
      <p:sp>
        <p:nvSpPr>
          <p:cNvPr id="1048725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07504" y="1600200"/>
            <a:ext cx="9036496" cy="4873752"/>
          </a:xfrm>
        </p:spPr>
        <p:txBody>
          <a:bodyPr/>
          <a:p>
            <a:pPr>
              <a:buNone/>
            </a:pPr>
            <a:r>
              <a:rPr dirty="0" lang="fr-FR" u="sng" smtClean="0">
                <a:solidFill>
                  <a:srgbClr val="7030A0"/>
                </a:solidFill>
              </a:rPr>
              <a:t>1) ACTIVITÉ ADRÉNOLYTIQUE</a:t>
            </a:r>
          </a:p>
          <a:p>
            <a:pPr>
              <a:buNone/>
            </a:pPr>
            <a:r>
              <a:rPr dirty="0" lang="fr-FR" smtClean="0">
                <a:latin typeface="Times New Roman"/>
                <a:ea typeface="Times New Roman"/>
                <a:cs typeface="Arial"/>
              </a:rPr>
              <a:t>L’activité </a:t>
            </a:r>
            <a:r>
              <a:rPr dirty="0" lang="fr-FR" err="1">
                <a:latin typeface="Times New Roman"/>
                <a:ea typeface="Times New Roman"/>
                <a:cs typeface="Arial"/>
              </a:rPr>
              <a:t>antihypertensive</a:t>
            </a:r>
            <a:r>
              <a:rPr dirty="0" lang="fr-FR">
                <a:latin typeface="Times New Roman"/>
                <a:ea typeface="Times New Roman"/>
                <a:cs typeface="Arial"/>
              </a:rPr>
              <a:t> résulte du blocage des récepteurs </a:t>
            </a:r>
            <a:r>
              <a:rPr dirty="0" lang="fr-FR" smtClean="0">
                <a:latin typeface="Times New Roman"/>
                <a:ea typeface="Times New Roman"/>
                <a:cs typeface="Arial"/>
              </a:rPr>
              <a:t>β:</a:t>
            </a:r>
            <a:endParaRPr dirty="0" sz="2000" lang="fr-FR">
              <a:latin typeface="Calibri"/>
              <a:ea typeface="Calibri"/>
              <a:cs typeface="Arial"/>
            </a:endParaRPr>
          </a:p>
          <a:p>
            <a:pPr>
              <a:buNone/>
            </a:pPr>
            <a:endParaRPr dirty="0" lang="fr-FR" u="sng" smtClean="0">
              <a:solidFill>
                <a:srgbClr val="7030A0"/>
              </a:solidFill>
            </a:endParaRPr>
          </a:p>
          <a:p>
            <a:pPr>
              <a:buNone/>
            </a:pPr>
            <a:endParaRPr dirty="0" lang="fr-FR" u="sng" smtClean="0">
              <a:solidFill>
                <a:srgbClr val="7030A0"/>
              </a:solidFill>
            </a:endParaRPr>
          </a:p>
          <a:p>
            <a:pPr>
              <a:buNone/>
            </a:pPr>
            <a:endParaRPr dirty="0" lang="fr-FR" u="sng">
              <a:solidFill>
                <a:srgbClr val="7030A0"/>
              </a:solidFill>
            </a:endParaRPr>
          </a:p>
        </p:txBody>
      </p:sp>
      <p:pic>
        <p:nvPicPr>
          <p:cNvPr id="2097166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sp>
        <p:nvSpPr>
          <p:cNvPr id="1048726" name="Rectangle 5"/>
          <p:cNvSpPr/>
          <p:nvPr/>
        </p:nvSpPr>
        <p:spPr>
          <a:xfrm>
            <a:off x="251520" y="123618"/>
            <a:ext cx="3414730" cy="71438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sz="2800" lang="el-GR" smtClean="0">
                <a:solidFill>
                  <a:schemeClr val="tx1"/>
                </a:solidFill>
              </a:rPr>
              <a:t>β</a:t>
            </a:r>
            <a:r>
              <a:rPr dirty="0" sz="2800" lang="fr-FR" smtClean="0">
                <a:solidFill>
                  <a:schemeClr val="tx1"/>
                </a:solidFill>
              </a:rPr>
              <a:t>- </a:t>
            </a:r>
            <a:r>
              <a:rPr dirty="0" sz="2800" lang="en-GB" smtClean="0">
                <a:solidFill>
                  <a:schemeClr val="tx1"/>
                </a:solidFill>
              </a:rPr>
              <a:t>BLOQUANTS:</a:t>
            </a:r>
            <a:endParaRPr dirty="0" sz="2800" lang="fr-FR">
              <a:solidFill>
                <a:schemeClr val="tx1"/>
              </a:solidFill>
            </a:endParaRPr>
          </a:p>
        </p:txBody>
      </p:sp>
      <p:sp>
        <p:nvSpPr>
          <p:cNvPr id="1048727" name="Rectangle 4"/>
          <p:cNvSpPr/>
          <p:nvPr/>
        </p:nvSpPr>
        <p:spPr>
          <a:xfrm>
            <a:off x="251520" y="3099849"/>
            <a:ext cx="8424936" cy="2983230"/>
          </a:xfrm>
          <a:prstGeom prst="rect"/>
        </p:spPr>
        <p:txBody>
          <a:bodyPr wrap="square">
            <a:spAutoFit/>
          </a:bodyPr>
          <a:p>
            <a:pPr algn="just" lvl="0" marL="449580">
              <a:lnSpc>
                <a:spcPct val="115000"/>
              </a:lnSpc>
            </a:pPr>
            <a:r>
              <a:rPr dirty="0" sz="2800" lang="fr-FR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- </a:t>
            </a:r>
            <a:r>
              <a:rPr dirty="0" sz="2800" lang="fr-FR" smtClean="0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  effet inotrope négatif</a:t>
            </a:r>
            <a:endParaRPr dirty="0" sz="2400" lang="fr-FR">
              <a:solidFill>
                <a:prstClr val="black"/>
              </a:solidFill>
              <a:latin typeface="Calibri"/>
              <a:ea typeface="Calibri"/>
              <a:cs typeface="Arial"/>
            </a:endParaRPr>
          </a:p>
          <a:p>
            <a:pPr algn="just" indent="-457200" lvl="0" marL="906780">
              <a:lnSpc>
                <a:spcPct val="115000"/>
              </a:lnSpc>
              <a:buFontTx/>
              <a:buChar char="-"/>
            </a:pPr>
            <a:r>
              <a:rPr dirty="0" sz="2800" lang="fr-FR" smtClean="0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effet </a:t>
            </a:r>
            <a:r>
              <a:rPr dirty="0" sz="2800" lang="fr-FR" err="1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chronotrope</a:t>
            </a:r>
            <a:r>
              <a:rPr dirty="0" sz="2800" lang="fr-FR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 </a:t>
            </a:r>
            <a:r>
              <a:rPr dirty="0" sz="2800" lang="fr-FR" smtClean="0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négatif</a:t>
            </a:r>
            <a:endParaRPr dirty="0" sz="2400" lang="fr-FR" smtClean="0">
              <a:solidFill>
                <a:prstClr val="black"/>
              </a:solidFill>
              <a:latin typeface="Calibri"/>
              <a:ea typeface="Times New Roman"/>
              <a:cs typeface="Arial"/>
            </a:endParaRPr>
          </a:p>
          <a:p>
            <a:pPr algn="just" indent="-457200" lvl="0" marL="906780">
              <a:lnSpc>
                <a:spcPct val="115000"/>
              </a:lnSpc>
              <a:buFontTx/>
              <a:buChar char="-"/>
            </a:pPr>
            <a:r>
              <a:rPr dirty="0" sz="2800" lang="fr-FR" smtClean="0">
                <a:solidFill>
                  <a:srgbClr val="C00000"/>
                </a:solidFill>
                <a:latin typeface="Times New Roman"/>
                <a:ea typeface="Times New Roman"/>
                <a:cs typeface="Arial"/>
              </a:rPr>
              <a:t>Vasoconstriction et bronchoconstriction</a:t>
            </a:r>
          </a:p>
          <a:p>
            <a:pPr algn="just" indent="-457200" lvl="0" marL="906780">
              <a:lnSpc>
                <a:spcPct val="115000"/>
              </a:lnSpc>
              <a:buFontTx/>
              <a:buChar char="-"/>
            </a:pPr>
            <a:r>
              <a:rPr dirty="0" sz="2800" lang="fr-FR" smtClean="0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diminution </a:t>
            </a:r>
            <a:r>
              <a:rPr dirty="0" sz="2800" lang="fr-FR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de la sécrétion de rénine</a:t>
            </a:r>
            <a:endParaRPr dirty="0" sz="2400" lang="fr-FR">
              <a:solidFill>
                <a:prstClr val="black"/>
              </a:solidFill>
              <a:latin typeface="Calibri"/>
              <a:ea typeface="Calibri"/>
              <a:cs typeface="Arial"/>
            </a:endParaRPr>
          </a:p>
          <a:p>
            <a:pPr algn="just" lvl="0" marL="449580">
              <a:lnSpc>
                <a:spcPct val="115000"/>
              </a:lnSpc>
            </a:pPr>
            <a:r>
              <a:rPr dirty="0" sz="2800" lang="fr-FR">
                <a:solidFill>
                  <a:srgbClr val="C00000"/>
                </a:solidFill>
                <a:latin typeface="Times New Roman"/>
                <a:ea typeface="Times New Roman"/>
                <a:cs typeface="Arial"/>
              </a:rPr>
              <a:t>- </a:t>
            </a:r>
            <a:r>
              <a:rPr dirty="0" sz="2800" lang="fr-FR" smtClean="0">
                <a:solidFill>
                  <a:srgbClr val="C00000"/>
                </a:solidFill>
                <a:latin typeface="Times New Roman"/>
                <a:ea typeface="Times New Roman"/>
                <a:cs typeface="Arial"/>
              </a:rPr>
              <a:t>   diminution de </a:t>
            </a:r>
            <a:r>
              <a:rPr dirty="0" sz="2800" lang="fr-FR">
                <a:solidFill>
                  <a:srgbClr val="C00000"/>
                </a:solidFill>
                <a:latin typeface="Times New Roman"/>
                <a:ea typeface="Times New Roman"/>
                <a:cs typeface="Arial"/>
              </a:rPr>
              <a:t>la sécrétion d’insuline</a:t>
            </a:r>
            <a:endParaRPr dirty="0" sz="2400" lang="fr-FR">
              <a:solidFill>
                <a:srgbClr val="C00000"/>
              </a:solidFill>
              <a:latin typeface="Calibri"/>
              <a:ea typeface="Calibri"/>
              <a:cs typeface="Arial"/>
            </a:endParaRPr>
          </a:p>
          <a:p>
            <a:pPr algn="just" lvl="0" marL="449580">
              <a:lnSpc>
                <a:spcPct val="115000"/>
              </a:lnSpc>
            </a:pPr>
            <a:r>
              <a:rPr dirty="0" sz="2800" lang="fr-FR">
                <a:solidFill>
                  <a:srgbClr val="C00000"/>
                </a:solidFill>
                <a:latin typeface="Times New Roman"/>
                <a:ea typeface="Times New Roman"/>
                <a:cs typeface="Arial"/>
              </a:rPr>
              <a:t>- </a:t>
            </a:r>
            <a:r>
              <a:rPr dirty="0" sz="2800" lang="fr-FR" smtClean="0">
                <a:solidFill>
                  <a:srgbClr val="C00000"/>
                </a:solidFill>
                <a:latin typeface="Times New Roman"/>
                <a:ea typeface="Times New Roman"/>
                <a:cs typeface="Arial"/>
              </a:rPr>
              <a:t>   inhibition </a:t>
            </a:r>
            <a:r>
              <a:rPr dirty="0" sz="2800" lang="fr-FR">
                <a:solidFill>
                  <a:srgbClr val="C00000"/>
                </a:solidFill>
                <a:latin typeface="Times New Roman"/>
                <a:ea typeface="Times New Roman"/>
                <a:cs typeface="Arial"/>
              </a:rPr>
              <a:t>de la lipolyse</a:t>
            </a:r>
            <a:endParaRPr dirty="0" sz="2400" lang="fr-FR">
              <a:solidFill>
                <a:srgbClr val="C00000"/>
              </a:solidFill>
              <a:latin typeface="Calibri"/>
              <a:ea typeface="Calibri"/>
              <a:cs typeface="Arial"/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re 1"/>
          <p:cNvSpPr>
            <a:spLocks noGrp="1"/>
          </p:cNvSpPr>
          <p:nvPr>
            <p:ph type="title"/>
          </p:nvPr>
        </p:nvSpPr>
        <p:spPr>
          <a:xfrm>
            <a:off x="107504" y="341784"/>
            <a:ext cx="7467600" cy="1143000"/>
          </a:xfrm>
        </p:spPr>
        <p:txBody>
          <a:bodyPr>
            <a:normAutofit/>
          </a:bodyPr>
          <a:p>
            <a:r>
              <a:rPr b="1" dirty="0" sz="2400" lang="fr-FR" smtClean="0">
                <a:solidFill>
                  <a:srgbClr val="C00000"/>
                </a:solidFill>
              </a:rPr>
              <a:t>PROPRIÉTÉS PHARMACOLOGIQUES:</a:t>
            </a:r>
            <a:endParaRPr b="1" dirty="0" sz="2400" lang="fr-FR">
              <a:solidFill>
                <a:srgbClr val="C00000"/>
              </a:solidFill>
            </a:endParaRPr>
          </a:p>
        </p:txBody>
      </p:sp>
      <p:sp>
        <p:nvSpPr>
          <p:cNvPr id="1048729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07504" y="2515688"/>
            <a:ext cx="9036496" cy="4873752"/>
          </a:xfrm>
        </p:spPr>
        <p:txBody>
          <a:bodyPr>
            <a:normAutofit fontScale="66667" lnSpcReduction="20000"/>
          </a:bodyPr>
          <a:p>
            <a:pPr>
              <a:buNone/>
            </a:pPr>
            <a:r>
              <a:rPr b="1" dirty="0" sz="4400" lang="fr-FR" smtClean="0">
                <a:latin typeface="Times New Roman"/>
                <a:ea typeface="Times New Roman"/>
                <a:cs typeface="Arial"/>
              </a:rPr>
              <a:t>Au </a:t>
            </a:r>
            <a:r>
              <a:rPr b="1" dirty="0" sz="4400" lang="fr-FR">
                <a:latin typeface="Times New Roman"/>
                <a:ea typeface="Times New Roman"/>
                <a:cs typeface="Arial"/>
              </a:rPr>
              <a:t>repos :</a:t>
            </a:r>
            <a:r>
              <a:rPr dirty="0" sz="4400" lang="fr-FR">
                <a:latin typeface="Times New Roman"/>
                <a:ea typeface="Times New Roman"/>
                <a:cs typeface="Arial"/>
              </a:rPr>
              <a:t> certains β-bloquants peuvent paradoxalement stimuler les récepteurs β par effet β agoniste partiel. </a:t>
            </a:r>
            <a:endParaRPr dirty="0" sz="4400" lang="fr-FR">
              <a:latin typeface="Calibri"/>
              <a:ea typeface="Calibri"/>
              <a:cs typeface="Arial"/>
            </a:endParaRPr>
          </a:p>
          <a:p>
            <a:pPr algn="just" indent="0" lvl="1" marL="365760">
              <a:lnSpc>
                <a:spcPct val="115000"/>
              </a:lnSpc>
              <a:buNone/>
            </a:pPr>
            <a:r>
              <a:rPr b="1" dirty="0" sz="4400" lang="fr-FR" u="sng" smtClean="0">
                <a:solidFill>
                  <a:srgbClr val="C00000"/>
                </a:solidFill>
                <a:latin typeface="Times New Roman"/>
                <a:ea typeface="Times New Roman"/>
                <a:cs typeface="Arial"/>
              </a:rPr>
              <a:t>Avantages</a:t>
            </a:r>
            <a:r>
              <a:rPr b="1" dirty="0" sz="4400" lang="fr-FR" u="sng">
                <a:solidFill>
                  <a:srgbClr val="C00000"/>
                </a:solidFill>
                <a:latin typeface="Times New Roman"/>
                <a:ea typeface="Times New Roman"/>
                <a:cs typeface="Arial"/>
              </a:rPr>
              <a:t> :</a:t>
            </a:r>
            <a:r>
              <a:rPr dirty="0" sz="4400" lang="fr-FR" u="sng">
                <a:latin typeface="Times New Roman"/>
                <a:ea typeface="Times New Roman"/>
                <a:cs typeface="Arial"/>
              </a:rPr>
              <a:t> </a:t>
            </a:r>
            <a:endParaRPr dirty="0" sz="4400" lang="fr-FR" u="sng" smtClean="0">
              <a:latin typeface="Times New Roman"/>
              <a:ea typeface="Times New Roman"/>
              <a:cs typeface="Arial"/>
            </a:endParaRPr>
          </a:p>
          <a:p>
            <a:pPr algn="just" indent="0" lvl="1" marL="365760">
              <a:lnSpc>
                <a:spcPct val="115000"/>
              </a:lnSpc>
              <a:buNone/>
            </a:pPr>
            <a:r>
              <a:rPr dirty="0" sz="4400" lang="fr-FR" smtClean="0">
                <a:latin typeface="Times New Roman"/>
                <a:ea typeface="Times New Roman"/>
                <a:cs typeface="Arial"/>
              </a:rPr>
              <a:t>- moins </a:t>
            </a:r>
            <a:r>
              <a:rPr dirty="0" sz="4400" lang="fr-FR">
                <a:latin typeface="Times New Roman"/>
                <a:ea typeface="Times New Roman"/>
                <a:cs typeface="Arial"/>
              </a:rPr>
              <a:t>de bradycardie au repos.</a:t>
            </a:r>
            <a:endParaRPr dirty="0" sz="4400" lang="fr-FR">
              <a:latin typeface="Calibri"/>
              <a:ea typeface="Calibri"/>
              <a:cs typeface="Arial"/>
            </a:endParaRPr>
          </a:p>
          <a:p>
            <a:pPr algn="just" indent="0" lvl="1" marL="365760">
              <a:lnSpc>
                <a:spcPct val="115000"/>
              </a:lnSpc>
              <a:buNone/>
            </a:pPr>
            <a:r>
              <a:rPr dirty="0" sz="4400" lang="fr-FR" smtClean="0">
                <a:latin typeface="Times New Roman"/>
                <a:ea typeface="Times New Roman"/>
                <a:cs typeface="Arial"/>
              </a:rPr>
              <a:t>- On </a:t>
            </a:r>
            <a:r>
              <a:rPr dirty="0" sz="4400" lang="fr-FR">
                <a:latin typeface="Times New Roman"/>
                <a:ea typeface="Times New Roman"/>
                <a:cs typeface="Arial"/>
              </a:rPr>
              <a:t>préfère les produits avec ASI chez les patients </a:t>
            </a:r>
            <a:r>
              <a:rPr dirty="0" sz="4400" lang="fr-FR" err="1" smtClean="0">
                <a:latin typeface="Times New Roman"/>
                <a:ea typeface="Times New Roman"/>
                <a:cs typeface="Arial"/>
              </a:rPr>
              <a:t>bradycardes</a:t>
            </a:r>
            <a:r>
              <a:rPr dirty="0" sz="4400" lang="fr-FR" smtClean="0">
                <a:latin typeface="Times New Roman"/>
                <a:ea typeface="Times New Roman"/>
                <a:cs typeface="Arial"/>
              </a:rPr>
              <a:t> et </a:t>
            </a:r>
            <a:r>
              <a:rPr dirty="0" sz="4400" lang="fr-FR" err="1" smtClean="0">
                <a:latin typeface="Times New Roman"/>
                <a:ea typeface="Times New Roman"/>
                <a:cs typeface="Arial"/>
              </a:rPr>
              <a:t>bronchopathes</a:t>
            </a:r>
            <a:r>
              <a:rPr dirty="0" sz="4400" lang="fr-FR">
                <a:latin typeface="Times New Roman"/>
                <a:ea typeface="Times New Roman"/>
                <a:cs typeface="Arial"/>
              </a:rPr>
              <a:t>. </a:t>
            </a:r>
            <a:endParaRPr dirty="0" sz="4400" lang="fr-FR" smtClean="0">
              <a:latin typeface="Times New Roman"/>
              <a:ea typeface="Times New Roman"/>
              <a:cs typeface="Arial"/>
            </a:endParaRPr>
          </a:p>
          <a:p>
            <a:pPr algn="just" indent="0" marL="0">
              <a:lnSpc>
                <a:spcPct val="115000"/>
              </a:lnSpc>
              <a:spcAft>
                <a:spcPts val="0"/>
              </a:spcAft>
              <a:buNone/>
            </a:pPr>
            <a:endParaRPr dirty="0" sz="4400" lang="fr-FR">
              <a:latin typeface="Calibri"/>
              <a:ea typeface="Calibri"/>
              <a:cs typeface="Arial"/>
            </a:endParaRPr>
          </a:p>
          <a:p>
            <a:pPr algn="just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b="1" dirty="0" sz="4400" lang="fr-FR" smtClean="0">
                <a:latin typeface="Times New Roman"/>
                <a:ea typeface="Times New Roman"/>
                <a:cs typeface="Arial"/>
              </a:rPr>
              <a:t>A </a:t>
            </a:r>
            <a:r>
              <a:rPr b="1" dirty="0" sz="4400" lang="fr-FR">
                <a:latin typeface="Times New Roman"/>
                <a:ea typeface="Times New Roman"/>
                <a:cs typeface="Arial"/>
              </a:rPr>
              <a:t>l’effort :</a:t>
            </a:r>
            <a:r>
              <a:rPr dirty="0" sz="4400" lang="fr-FR">
                <a:latin typeface="Times New Roman"/>
                <a:ea typeface="Times New Roman"/>
                <a:cs typeface="Arial"/>
              </a:rPr>
              <a:t> action β bloquante.</a:t>
            </a:r>
            <a:endParaRPr dirty="0" sz="4400" lang="fr-FR">
              <a:latin typeface="Calibri"/>
              <a:ea typeface="Calibri"/>
              <a:cs typeface="Arial"/>
            </a:endParaRPr>
          </a:p>
          <a:p>
            <a:pPr algn="just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dirty="0" sz="4400" lang="fr-FR" smtClean="0">
                <a:latin typeface="Times New Roman"/>
                <a:ea typeface="Times New Roman"/>
                <a:cs typeface="Arial"/>
              </a:rPr>
              <a:t>               </a:t>
            </a:r>
            <a:r>
              <a:rPr dirty="0" sz="4400" lang="fr-FR" err="1" smtClean="0">
                <a:latin typeface="Times New Roman"/>
                <a:ea typeface="Times New Roman"/>
                <a:cs typeface="Arial"/>
              </a:rPr>
              <a:t>Exp</a:t>
            </a:r>
            <a:r>
              <a:rPr dirty="0" sz="4400" lang="fr-FR">
                <a:latin typeface="Times New Roman"/>
                <a:ea typeface="Times New Roman"/>
                <a:cs typeface="Arial"/>
              </a:rPr>
              <a:t> : </a:t>
            </a:r>
            <a:r>
              <a:rPr dirty="0" sz="4400" lang="fr-FR" err="1">
                <a:latin typeface="Times New Roman"/>
                <a:ea typeface="Times New Roman"/>
                <a:cs typeface="Arial"/>
              </a:rPr>
              <a:t>acébutolol</a:t>
            </a:r>
            <a:endParaRPr dirty="0" sz="4400" lang="fr-FR">
              <a:latin typeface="Calibri"/>
              <a:ea typeface="Calibri"/>
              <a:cs typeface="Arial"/>
            </a:endParaRPr>
          </a:p>
          <a:p>
            <a:pPr>
              <a:buNone/>
            </a:pPr>
            <a:r>
              <a:rPr dirty="0" sz="4400" lang="en-GB" smtClean="0"/>
              <a:t>             </a:t>
            </a:r>
            <a:endParaRPr dirty="0" sz="4400" lang="fr-FR" smtClean="0"/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endParaRPr dirty="0" lang="fr-FR" u="sng" smtClean="0">
              <a:solidFill>
                <a:srgbClr val="7030A0"/>
              </a:solidFill>
            </a:endParaRPr>
          </a:p>
          <a:p>
            <a:pPr>
              <a:buNone/>
            </a:pPr>
            <a:endParaRPr dirty="0" lang="fr-FR" u="sng">
              <a:solidFill>
                <a:srgbClr val="7030A0"/>
              </a:solidFill>
            </a:endParaRPr>
          </a:p>
        </p:txBody>
      </p:sp>
      <p:pic>
        <p:nvPicPr>
          <p:cNvPr id="2097167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sp>
        <p:nvSpPr>
          <p:cNvPr id="1048730" name="Rectangle 5"/>
          <p:cNvSpPr/>
          <p:nvPr/>
        </p:nvSpPr>
        <p:spPr>
          <a:xfrm>
            <a:off x="251520" y="123618"/>
            <a:ext cx="3414730" cy="71438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sz="2800" lang="el-GR" smtClean="0">
                <a:solidFill>
                  <a:prstClr val="black"/>
                </a:solidFill>
              </a:rPr>
              <a:t>β</a:t>
            </a:r>
            <a:r>
              <a:rPr dirty="0" sz="2800" lang="fr-FR" smtClean="0">
                <a:solidFill>
                  <a:prstClr val="black"/>
                </a:solidFill>
              </a:rPr>
              <a:t>- </a:t>
            </a:r>
            <a:r>
              <a:rPr dirty="0" sz="2800" lang="en-GB" smtClean="0">
                <a:solidFill>
                  <a:prstClr val="black"/>
                </a:solidFill>
              </a:rPr>
              <a:t>BLOQUANTS:</a:t>
            </a:r>
            <a:endParaRPr dirty="0" sz="2800" lang="fr-FR">
              <a:solidFill>
                <a:prstClr val="black"/>
              </a:solidFill>
            </a:endParaRPr>
          </a:p>
        </p:txBody>
      </p:sp>
      <p:sp>
        <p:nvSpPr>
          <p:cNvPr id="1048731" name="Rectangle 4"/>
          <p:cNvSpPr/>
          <p:nvPr/>
        </p:nvSpPr>
        <p:spPr>
          <a:xfrm>
            <a:off x="107504" y="1412776"/>
            <a:ext cx="9036496" cy="751840"/>
          </a:xfrm>
          <a:prstGeom prst="rect"/>
        </p:spPr>
        <p:txBody>
          <a:bodyPr wrap="square">
            <a:spAutoFit/>
          </a:bodyPr>
          <a:p>
            <a:pPr indent="-274320" lvl="0" marL="274320">
              <a:spcBef>
                <a:spcPts val="600"/>
              </a:spcBef>
              <a:buClr>
                <a:srgbClr val="FE8637"/>
              </a:buClr>
              <a:buSzPct val="70000"/>
            </a:pPr>
            <a:r>
              <a:rPr dirty="0" sz="2400" lang="fr-FR" u="sng">
                <a:solidFill>
                  <a:srgbClr val="7030A0"/>
                </a:solidFill>
              </a:rPr>
              <a:t>2) ACTIVITÉ SYMPATHOMIMÉTIQUE INTRINSÈQUE (ASI</a:t>
            </a:r>
            <a:r>
              <a:rPr dirty="0" sz="2400" lang="fr-FR" u="sng" smtClean="0">
                <a:solidFill>
                  <a:srgbClr val="7030A0"/>
                </a:solidFill>
              </a:rPr>
              <a:t>):   </a:t>
            </a:r>
            <a:r>
              <a:rPr dirty="0" sz="2000" lang="fr-FR" smtClean="0">
                <a:solidFill>
                  <a:prstClr val="black"/>
                </a:solidFill>
              </a:rPr>
              <a:t>AGONISTES </a:t>
            </a:r>
            <a:r>
              <a:rPr dirty="0" sz="2000" lang="fr-FR">
                <a:solidFill>
                  <a:prstClr val="black"/>
                </a:solidFill>
              </a:rPr>
              <a:t>PARTIELS </a:t>
            </a:r>
            <a:r>
              <a:rPr b="1" dirty="0" sz="2000" lang="el-GR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dirty="0" sz="2000" lang="en-GB">
                <a:solidFill>
                  <a:prstClr val="black"/>
                </a:solidFill>
              </a:rPr>
              <a:t>              </a:t>
            </a:r>
            <a:endParaRPr dirty="0" sz="2400" lang="fr-FR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re 1"/>
          <p:cNvSpPr>
            <a:spLocks noGrp="1"/>
          </p:cNvSpPr>
          <p:nvPr>
            <p:ph type="title"/>
          </p:nvPr>
        </p:nvSpPr>
        <p:spPr>
          <a:xfrm>
            <a:off x="107504" y="341784"/>
            <a:ext cx="7467600" cy="1143000"/>
          </a:xfrm>
        </p:spPr>
        <p:txBody>
          <a:bodyPr>
            <a:normAutofit/>
          </a:bodyPr>
          <a:p>
            <a:r>
              <a:rPr b="1" dirty="0" sz="2400" lang="fr-FR" smtClean="0">
                <a:solidFill>
                  <a:srgbClr val="C00000"/>
                </a:solidFill>
              </a:rPr>
              <a:t>PROPRIÉTÉS PHARMACOLOGIQUES:</a:t>
            </a:r>
            <a:endParaRPr b="1" dirty="0" sz="2400" lang="fr-FR">
              <a:solidFill>
                <a:srgbClr val="C00000"/>
              </a:solidFill>
            </a:endParaRPr>
          </a:p>
        </p:txBody>
      </p:sp>
      <p:sp>
        <p:nvSpPr>
          <p:cNvPr id="104873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07504" y="1600200"/>
            <a:ext cx="8640960" cy="4873752"/>
          </a:xfrm>
        </p:spPr>
        <p:txBody>
          <a:bodyPr>
            <a:normAutofit lnSpcReduction="10000"/>
          </a:bodyPr>
          <a:p>
            <a:pPr>
              <a:buNone/>
            </a:pPr>
            <a:r>
              <a:rPr dirty="0" lang="fr-FR" u="sng" smtClean="0">
                <a:solidFill>
                  <a:srgbClr val="7030A0"/>
                </a:solidFill>
              </a:rPr>
              <a:t>3) EFFET STABILISANT DE LA MEMBRANE:</a:t>
            </a:r>
          </a:p>
          <a:p>
            <a:pPr>
              <a:buNone/>
            </a:pPr>
            <a:r>
              <a:rPr dirty="0" lang="fr-FR" err="1" smtClean="0"/>
              <a:t>Anésthésie</a:t>
            </a:r>
            <a:r>
              <a:rPr dirty="0" lang="fr-FR"/>
              <a:t> </a:t>
            </a:r>
            <a:r>
              <a:rPr dirty="0" lang="fr-FR" smtClean="0"/>
              <a:t>locale: effet </a:t>
            </a:r>
            <a:r>
              <a:rPr dirty="0" lang="fr-FR"/>
              <a:t>« </a:t>
            </a:r>
            <a:r>
              <a:rPr dirty="0" lang="fr-FR" err="1"/>
              <a:t>quinidine</a:t>
            </a:r>
            <a:r>
              <a:rPr dirty="0" lang="fr-FR"/>
              <a:t> </a:t>
            </a:r>
            <a:r>
              <a:rPr dirty="0" lang="fr-FR" err="1"/>
              <a:t>like</a:t>
            </a:r>
            <a:r>
              <a:rPr dirty="0" lang="fr-FR"/>
              <a:t> »</a:t>
            </a:r>
            <a:endParaRPr dirty="0" lang="fr-FR" smtClean="0"/>
          </a:p>
          <a:p>
            <a:pPr>
              <a:buNone/>
            </a:pPr>
            <a:endParaRPr dirty="0" lang="fr-FR" smtClean="0"/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dirty="0" lang="fr-FR" smtClean="0">
                <a:latin typeface="Times New Roman"/>
                <a:ea typeface="Times New Roman"/>
                <a:cs typeface="Arial"/>
              </a:rPr>
              <a:t>réduction </a:t>
            </a:r>
            <a:r>
              <a:rPr dirty="0" lang="fr-FR">
                <a:latin typeface="Times New Roman"/>
                <a:ea typeface="Times New Roman"/>
                <a:cs typeface="Arial"/>
              </a:rPr>
              <a:t>de la perméabilité membranaire aux échanges ioniques </a:t>
            </a:r>
            <a:r>
              <a:rPr dirty="0" lang="fr-FR" smtClean="0">
                <a:latin typeface="Times New Roman"/>
                <a:ea typeface="Times New Roman"/>
                <a:cs typeface="Arial"/>
              </a:rPr>
              <a:t>(Na et Ca) entre </a:t>
            </a:r>
            <a:r>
              <a:rPr dirty="0" lang="fr-FR">
                <a:latin typeface="Times New Roman"/>
                <a:ea typeface="Times New Roman"/>
                <a:cs typeface="Arial"/>
              </a:rPr>
              <a:t>l’intérieur et l’extérieur de la cellule myocardique</a:t>
            </a:r>
            <a:r>
              <a:rPr dirty="0" lang="fr-FR" smtClean="0">
                <a:latin typeface="Times New Roman"/>
                <a:ea typeface="Times New Roman"/>
                <a:cs typeface="Arial"/>
              </a:rPr>
              <a:t>.</a:t>
            </a:r>
          </a:p>
          <a:p>
            <a:pPr algn="just" indent="0" marL="0">
              <a:lnSpc>
                <a:spcPct val="115000"/>
              </a:lnSpc>
              <a:spcAft>
                <a:spcPts val="0"/>
              </a:spcAft>
              <a:buNone/>
            </a:pPr>
            <a:r>
              <a:rPr dirty="0" lang="fr-FR" smtClean="0">
                <a:latin typeface="Times New Roman"/>
                <a:ea typeface="Times New Roman"/>
                <a:cs typeface="Arial"/>
              </a:rPr>
              <a:t> 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dirty="0" lang="fr-FR" smtClean="0">
                <a:latin typeface="Times New Roman"/>
                <a:ea typeface="Times New Roman"/>
                <a:cs typeface="Arial"/>
              </a:rPr>
              <a:t>réduction </a:t>
            </a:r>
            <a:r>
              <a:rPr dirty="0" lang="fr-FR">
                <a:latin typeface="Times New Roman"/>
                <a:ea typeface="Times New Roman"/>
                <a:cs typeface="Arial"/>
              </a:rPr>
              <a:t>de l’automatisme, de la conduction et de la force de contraction cardiaque</a:t>
            </a:r>
            <a:r>
              <a:rPr dirty="0" lang="fr-FR" smtClean="0">
                <a:latin typeface="Times New Roman"/>
                <a:ea typeface="Times New Roman"/>
                <a:cs typeface="Arial"/>
              </a:rPr>
              <a:t>.</a:t>
            </a:r>
          </a:p>
          <a:p>
            <a:pPr algn="just" indent="0" marL="0">
              <a:lnSpc>
                <a:spcPct val="115000"/>
              </a:lnSpc>
              <a:spcAft>
                <a:spcPts val="0"/>
              </a:spcAft>
              <a:buNone/>
            </a:pPr>
            <a:endParaRPr dirty="0" sz="2000" lang="fr-FR">
              <a:latin typeface="Calibri"/>
              <a:ea typeface="Calibri"/>
              <a:cs typeface="Arial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dirty="0" lang="fr-FR" smtClean="0">
                <a:latin typeface="Times New Roman"/>
                <a:ea typeface="Times New Roman"/>
                <a:cs typeface="Arial"/>
              </a:rPr>
              <a:t>aucune </a:t>
            </a:r>
            <a:r>
              <a:rPr dirty="0" lang="fr-FR">
                <a:latin typeface="Times New Roman"/>
                <a:ea typeface="Times New Roman"/>
                <a:cs typeface="Arial"/>
              </a:rPr>
              <a:t>incidence en thérapeutique de l’hypertension, mais peut majorer les risques de dépression en cas de surdosage.</a:t>
            </a:r>
            <a:endParaRPr dirty="0" sz="2000" lang="fr-FR">
              <a:latin typeface="Calibri"/>
              <a:ea typeface="Calibri"/>
              <a:cs typeface="Arial"/>
            </a:endParaRPr>
          </a:p>
          <a:p>
            <a:pPr>
              <a:buNone/>
            </a:pPr>
            <a:endParaRPr dirty="0" lang="fr-FR" u="sng" smtClean="0">
              <a:solidFill>
                <a:srgbClr val="7030A0"/>
              </a:solidFill>
            </a:endParaRPr>
          </a:p>
          <a:p>
            <a:pPr>
              <a:buNone/>
            </a:pPr>
            <a:endParaRPr dirty="0" lang="fr-FR" u="sng">
              <a:solidFill>
                <a:srgbClr val="7030A0"/>
              </a:solidFill>
            </a:endParaRPr>
          </a:p>
        </p:txBody>
      </p:sp>
      <p:pic>
        <p:nvPicPr>
          <p:cNvPr id="2097168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sp>
        <p:nvSpPr>
          <p:cNvPr id="1048734" name="Rectangle 5"/>
          <p:cNvSpPr/>
          <p:nvPr/>
        </p:nvSpPr>
        <p:spPr>
          <a:xfrm>
            <a:off x="251520" y="123618"/>
            <a:ext cx="3414730" cy="71438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sz="2800" lang="el-GR" smtClean="0">
                <a:solidFill>
                  <a:prstClr val="black"/>
                </a:solidFill>
              </a:rPr>
              <a:t>β</a:t>
            </a:r>
            <a:r>
              <a:rPr dirty="0" sz="2800" lang="fr-FR" smtClean="0">
                <a:solidFill>
                  <a:prstClr val="black"/>
                </a:solidFill>
              </a:rPr>
              <a:t>- </a:t>
            </a:r>
            <a:r>
              <a:rPr dirty="0" sz="2800" lang="en-GB" smtClean="0">
                <a:solidFill>
                  <a:prstClr val="black"/>
                </a:solidFill>
              </a:rPr>
              <a:t>BLOQUANTS:</a:t>
            </a:r>
            <a:endParaRPr dirty="0" sz="2800" lang="fr-FR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re 1"/>
          <p:cNvSpPr>
            <a:spLocks noGrp="1"/>
          </p:cNvSpPr>
          <p:nvPr>
            <p:ph type="title"/>
          </p:nvPr>
        </p:nvSpPr>
        <p:spPr>
          <a:xfrm>
            <a:off x="107504" y="341784"/>
            <a:ext cx="7467600" cy="1143000"/>
          </a:xfrm>
        </p:spPr>
        <p:txBody>
          <a:bodyPr>
            <a:normAutofit/>
          </a:bodyPr>
          <a:p>
            <a:r>
              <a:rPr b="1" dirty="0" sz="2400" lang="fr-FR" smtClean="0">
                <a:solidFill>
                  <a:srgbClr val="C00000"/>
                </a:solidFill>
              </a:rPr>
              <a:t>PROPRIÉTÉS PHARMACOLOGIQUES:</a:t>
            </a:r>
            <a:endParaRPr b="1" dirty="0" sz="2400" lang="fr-FR">
              <a:solidFill>
                <a:srgbClr val="C00000"/>
              </a:solidFill>
            </a:endParaRPr>
          </a:p>
        </p:txBody>
      </p:sp>
      <p:sp>
        <p:nvSpPr>
          <p:cNvPr id="1048736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07504" y="1600200"/>
            <a:ext cx="8640960" cy="4873752"/>
          </a:xfrm>
        </p:spPr>
        <p:txBody>
          <a:bodyPr/>
          <a:p>
            <a:pPr>
              <a:buNone/>
            </a:pPr>
            <a:r>
              <a:rPr dirty="0" lang="fr-FR" u="sng" smtClean="0">
                <a:solidFill>
                  <a:srgbClr val="7030A0"/>
                </a:solidFill>
              </a:rPr>
              <a:t>4) CARDIOSÉLECTIVITÉ (béta-1)</a:t>
            </a:r>
          </a:p>
          <a:p>
            <a:pPr>
              <a:buNone/>
            </a:pPr>
            <a:endParaRPr dirty="0" lang="fr-FR" u="sng" smtClean="0">
              <a:solidFill>
                <a:srgbClr val="7030A0"/>
              </a:solidFill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dirty="0" lang="fr-FR" smtClean="0">
                <a:latin typeface="Times New Roman"/>
                <a:ea typeface="Times New Roman"/>
                <a:cs typeface="Arial"/>
              </a:rPr>
              <a:t>respectent </a:t>
            </a:r>
            <a:r>
              <a:rPr dirty="0" lang="fr-FR">
                <a:latin typeface="Times New Roman"/>
                <a:ea typeface="Times New Roman"/>
                <a:cs typeface="Arial"/>
              </a:rPr>
              <a:t>les récepteurs β</a:t>
            </a:r>
            <a:r>
              <a:rPr baseline="-25000" dirty="0" lang="fr-FR">
                <a:latin typeface="Times New Roman"/>
                <a:ea typeface="Times New Roman"/>
                <a:cs typeface="Arial"/>
              </a:rPr>
              <a:t>2</a:t>
            </a:r>
            <a:r>
              <a:rPr dirty="0" lang="fr-FR">
                <a:latin typeface="Times New Roman"/>
                <a:ea typeface="Times New Roman"/>
                <a:cs typeface="Arial"/>
              </a:rPr>
              <a:t> des bronches et des vaisseaux, </a:t>
            </a:r>
            <a:endParaRPr dirty="0" lang="fr-FR" smtClean="0">
              <a:latin typeface="Times New Roman"/>
              <a:ea typeface="Times New Roman"/>
              <a:cs typeface="Arial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dirty="0" lang="fr-FR" smtClean="0">
              <a:latin typeface="Times New Roman"/>
              <a:ea typeface="Times New Roman"/>
              <a:cs typeface="Arial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dirty="0" lang="fr-FR" smtClean="0">
                <a:latin typeface="Times New Roman"/>
                <a:ea typeface="Times New Roman"/>
                <a:cs typeface="Arial"/>
              </a:rPr>
              <a:t>meilleure </a:t>
            </a:r>
            <a:r>
              <a:rPr dirty="0" lang="fr-FR">
                <a:latin typeface="Times New Roman"/>
                <a:ea typeface="Times New Roman"/>
                <a:cs typeface="Arial"/>
              </a:rPr>
              <a:t>tolérance chez l’insuffisant respiratoire (possible utilisation chez l’asthmatique). </a:t>
            </a:r>
            <a:endParaRPr dirty="0" lang="fr-FR" smtClean="0">
              <a:latin typeface="Times New Roman"/>
              <a:ea typeface="Times New Roman"/>
              <a:cs typeface="Arial"/>
            </a:endParaRPr>
          </a:p>
          <a:p>
            <a:pPr algn="just" indent="0" marL="0">
              <a:lnSpc>
                <a:spcPct val="115000"/>
              </a:lnSpc>
              <a:spcAft>
                <a:spcPts val="0"/>
              </a:spcAft>
              <a:buNone/>
            </a:pPr>
            <a:endParaRPr dirty="0" lang="fr-FR" smtClean="0">
              <a:latin typeface="Times New Roman"/>
              <a:ea typeface="Times New Roman"/>
              <a:cs typeface="Arial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dirty="0" lang="fr-FR" smtClean="0">
                <a:latin typeface="Times New Roman"/>
                <a:ea typeface="Times New Roman"/>
                <a:cs typeface="Arial"/>
              </a:rPr>
              <a:t>De </a:t>
            </a:r>
            <a:r>
              <a:rPr dirty="0" lang="fr-FR">
                <a:latin typeface="Times New Roman"/>
                <a:ea typeface="Times New Roman"/>
                <a:cs typeface="Arial"/>
              </a:rPr>
              <a:t>même le risque de masquer une hypoglycémie spontanée ou thérapeutique chez le diabétique fait préférer des </a:t>
            </a:r>
            <a:r>
              <a:rPr dirty="0" lang="fr-FR" smtClean="0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β</a:t>
            </a:r>
            <a:r>
              <a:rPr baseline="-25000" dirty="0" lang="fr-FR" smtClean="0">
                <a:solidFill>
                  <a:prstClr val="black"/>
                </a:solidFill>
                <a:latin typeface="Times New Roman"/>
                <a:ea typeface="Times New Roman"/>
                <a:cs typeface="Arial"/>
              </a:rPr>
              <a:t>1 </a:t>
            </a:r>
            <a:r>
              <a:rPr dirty="0" lang="fr-FR" smtClean="0">
                <a:latin typeface="Times New Roman"/>
                <a:ea typeface="Times New Roman"/>
                <a:cs typeface="Arial"/>
              </a:rPr>
              <a:t>sélectifs. </a:t>
            </a:r>
            <a:endParaRPr dirty="0" sz="2000" lang="fr-FR">
              <a:latin typeface="Calibri"/>
              <a:ea typeface="Calibri"/>
              <a:cs typeface="Arial"/>
            </a:endParaRPr>
          </a:p>
          <a:p>
            <a:pPr>
              <a:buNone/>
            </a:pPr>
            <a:endParaRPr dirty="0" lang="fr-FR" u="sng">
              <a:solidFill>
                <a:srgbClr val="7030A0"/>
              </a:solidFill>
            </a:endParaRPr>
          </a:p>
        </p:txBody>
      </p:sp>
      <p:pic>
        <p:nvPicPr>
          <p:cNvPr id="2097169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sp>
        <p:nvSpPr>
          <p:cNvPr id="1048737" name="Rectangle 5"/>
          <p:cNvSpPr/>
          <p:nvPr/>
        </p:nvSpPr>
        <p:spPr>
          <a:xfrm>
            <a:off x="251520" y="123618"/>
            <a:ext cx="3414730" cy="71438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sz="2800" lang="el-GR" smtClean="0">
                <a:solidFill>
                  <a:prstClr val="black"/>
                </a:solidFill>
              </a:rPr>
              <a:t>β</a:t>
            </a:r>
            <a:r>
              <a:rPr dirty="0" sz="2800" lang="fr-FR" smtClean="0">
                <a:solidFill>
                  <a:prstClr val="black"/>
                </a:solidFill>
              </a:rPr>
              <a:t>- </a:t>
            </a:r>
            <a:r>
              <a:rPr dirty="0" sz="2800" lang="en-GB" smtClean="0">
                <a:solidFill>
                  <a:prstClr val="black"/>
                </a:solidFill>
              </a:rPr>
              <a:t>BLOQUANTS:</a:t>
            </a:r>
            <a:endParaRPr dirty="0" sz="2800" lang="fr-FR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Image 4"/>
          <p:cNvPicPr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0" y="-27384"/>
            <a:ext cx="9144000" cy="3645024"/>
          </a:xfrm>
          <a:prstGeom prst="rect"/>
          <a:noFill/>
          <a:ln w="9525">
            <a:noFill/>
            <a:miter lim="800000"/>
            <a:headEnd/>
            <a:tailEnd/>
          </a:ln>
        </p:spPr>
      </p:pic>
      <p:sp>
        <p:nvSpPr>
          <p:cNvPr id="1048738" name="Text Box 14"/>
          <p:cNvSpPr txBox="1">
            <a:spLocks noChangeArrowheads="1"/>
          </p:cNvSpPr>
          <p:nvPr/>
        </p:nvSpPr>
        <p:spPr bwMode="auto">
          <a:xfrm>
            <a:off x="899592" y="-27384"/>
            <a:ext cx="6336704" cy="492443"/>
          </a:xfrm>
          <a:prstGeom prst="rect"/>
          <a:gradFill rotWithShape="1">
            <a:gsLst>
              <a:gs pos="0">
                <a:srgbClr val="CC0099">
                  <a:gamma/>
                  <a:shade val="46275"/>
                  <a:invGamma/>
                </a:srgbClr>
              </a:gs>
              <a:gs pos="100000">
                <a:srgbClr val="CC0099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p>
            <a:pPr algn="ctr"/>
            <a:r>
              <a:rPr b="1" dirty="0" sz="2600" lang="fr-FR" smtClean="0">
                <a:solidFill>
                  <a:srgbClr val="FFFF00"/>
                </a:solidFill>
                <a:latin typeface="Arial" charset="0"/>
              </a:rPr>
              <a:t> B-bloquants non cardio-sélectifs  </a:t>
            </a:r>
            <a:endParaRPr b="1" dirty="0" sz="2600" lang="fr-FR">
              <a:solidFill>
                <a:srgbClr val="FFFF00"/>
              </a:solidFill>
              <a:latin typeface="Arial" charset="0"/>
            </a:endParaRPr>
          </a:p>
        </p:txBody>
      </p:sp>
      <p:pic>
        <p:nvPicPr>
          <p:cNvPr id="2097171" name="Image 5"/>
          <p:cNvPicPr>
            <a:picLocks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0" y="3429000"/>
            <a:ext cx="9144000" cy="3456384"/>
          </a:xfrm>
          <a:prstGeom prst="rect"/>
          <a:noFill/>
          <a:ln w="9525">
            <a:noFill/>
            <a:miter lim="800000"/>
            <a:headEnd/>
            <a:tailEnd/>
          </a:ln>
        </p:spPr>
      </p:pic>
      <p:sp>
        <p:nvSpPr>
          <p:cNvPr id="1048739" name="Text Box 14"/>
          <p:cNvSpPr txBox="1">
            <a:spLocks noChangeArrowheads="1"/>
          </p:cNvSpPr>
          <p:nvPr/>
        </p:nvSpPr>
        <p:spPr bwMode="auto">
          <a:xfrm>
            <a:off x="1051992" y="3512621"/>
            <a:ext cx="6336704" cy="492443"/>
          </a:xfrm>
          <a:prstGeom prst="rect"/>
          <a:gradFill rotWithShape="1">
            <a:gsLst>
              <a:gs pos="0">
                <a:srgbClr val="CC0099">
                  <a:gamma/>
                  <a:shade val="46275"/>
                  <a:invGamma/>
                </a:srgbClr>
              </a:gs>
              <a:gs pos="100000">
                <a:srgbClr val="CC0099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p>
            <a:pPr algn="ctr"/>
            <a:r>
              <a:rPr b="1" dirty="0" sz="2600" lang="fr-FR" smtClean="0">
                <a:solidFill>
                  <a:srgbClr val="FFFF00"/>
                </a:solidFill>
                <a:latin typeface="Arial" charset="0"/>
              </a:rPr>
              <a:t> B-bloquants cardio-sélectifs  </a:t>
            </a:r>
            <a:endParaRPr b="1" dirty="0" sz="2600" lang="fr-FR">
              <a:solidFill>
                <a:srgbClr val="FFFF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1048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8" grpId="0" animBg="1"/>
      <p:bldP spid="10487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sz="3200" lang="fr-FR" smtClean="0"/>
              <a:t>PROPRIÉTÉS PHARMACODYNAMIQUES:</a:t>
            </a:r>
            <a:endParaRPr dirty="0" sz="3200" lang="fr-FR"/>
          </a:p>
        </p:txBody>
      </p:sp>
      <p:sp>
        <p:nvSpPr>
          <p:cNvPr id="1048741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79512" y="1571612"/>
            <a:ext cx="7467600" cy="4873752"/>
          </a:xfrm>
        </p:spPr>
        <p:txBody>
          <a:bodyPr>
            <a:normAutofit/>
          </a:bodyPr>
          <a:p>
            <a:pPr>
              <a:buNone/>
            </a:pPr>
            <a:r>
              <a:rPr dirty="0" lang="fr-FR" smtClean="0"/>
              <a:t>  </a:t>
            </a:r>
          </a:p>
          <a:p>
            <a:pPr>
              <a:buNone/>
            </a:pPr>
            <a:r>
              <a:rPr dirty="0" sz="2000" lang="fr-FR" smtClean="0"/>
              <a:t>                                       </a:t>
            </a:r>
          </a:p>
          <a:p>
            <a:pPr>
              <a:buNone/>
            </a:pPr>
            <a:r>
              <a:rPr dirty="0" sz="3200" lang="fr-FR" smtClean="0"/>
              <a:t>                                Contractilité                                      </a:t>
            </a:r>
          </a:p>
          <a:p>
            <a:pPr>
              <a:buNone/>
            </a:pPr>
            <a:r>
              <a:rPr dirty="0" sz="2800" lang="fr-FR" smtClean="0"/>
              <a:t>BLOCAGE</a:t>
            </a:r>
            <a:r>
              <a:rPr dirty="0" sz="2800" lang="el-GR" smtClean="0"/>
              <a:t>β</a:t>
            </a:r>
            <a:r>
              <a:rPr dirty="0" sz="2800" lang="en-GB" smtClean="0"/>
              <a:t>1                Q                                                    </a:t>
            </a:r>
          </a:p>
          <a:p>
            <a:pPr>
              <a:buNone/>
            </a:pPr>
            <a:r>
              <a:rPr dirty="0" lang="en-GB" smtClean="0"/>
              <a:t>                      </a:t>
            </a:r>
          </a:p>
          <a:p>
            <a:pPr>
              <a:buNone/>
            </a:pPr>
            <a:r>
              <a:rPr dirty="0" lang="en-GB" smtClean="0"/>
              <a:t>                                           RENINE</a:t>
            </a:r>
            <a:r>
              <a:rPr dirty="0" sz="2000" lang="en-GB" smtClean="0"/>
              <a:t>  </a:t>
            </a:r>
          </a:p>
          <a:p>
            <a:pPr>
              <a:buNone/>
            </a:pPr>
            <a:r>
              <a:rPr dirty="0" sz="2000" lang="en-GB" smtClean="0"/>
              <a:t>                                                                                                     </a:t>
            </a:r>
          </a:p>
          <a:p>
            <a:pPr>
              <a:buNone/>
            </a:pPr>
            <a:r>
              <a:rPr dirty="0" sz="2000" lang="en-GB" smtClean="0"/>
              <a:t>                                                                                      </a:t>
            </a:r>
          </a:p>
          <a:p>
            <a:pPr>
              <a:buNone/>
            </a:pPr>
            <a:endParaRPr dirty="0" lang="en-GB" smtClean="0"/>
          </a:p>
          <a:p>
            <a:pPr>
              <a:buNone/>
            </a:pPr>
            <a:endParaRPr dirty="0" lang="en-GB" smtClean="0"/>
          </a:p>
          <a:p>
            <a:pPr>
              <a:buNone/>
            </a:pPr>
            <a:r>
              <a:rPr dirty="0" lang="en-GB" smtClean="0"/>
              <a:t>                                   </a:t>
            </a:r>
          </a:p>
          <a:p>
            <a:pPr>
              <a:buNone/>
            </a:pPr>
            <a:r>
              <a:rPr dirty="0" lang="en-GB" smtClean="0"/>
              <a:t>                                                      </a:t>
            </a:r>
            <a:endParaRPr dirty="0" lang="fr-FR"/>
          </a:p>
        </p:txBody>
      </p:sp>
      <p:pic>
        <p:nvPicPr>
          <p:cNvPr id="2097172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grpSp>
        <p:nvGrpSpPr>
          <p:cNvPr id="118" name="Groupe 16"/>
          <p:cNvGrpSpPr/>
          <p:nvPr/>
        </p:nvGrpSpPr>
        <p:grpSpPr>
          <a:xfrm>
            <a:off x="2339752" y="1508154"/>
            <a:ext cx="1285884" cy="2928958"/>
            <a:chOff x="2500298" y="1571612"/>
            <a:chExt cx="1285884" cy="2928958"/>
          </a:xfrm>
        </p:grpSpPr>
        <p:grpSp>
          <p:nvGrpSpPr>
            <p:cNvPr id="119" name="Groupe 13"/>
            <p:cNvGrpSpPr/>
            <p:nvPr/>
          </p:nvGrpSpPr>
          <p:grpSpPr>
            <a:xfrm>
              <a:off x="2500298" y="1571612"/>
              <a:ext cx="1214446" cy="2928958"/>
              <a:chOff x="2500298" y="1571612"/>
              <a:chExt cx="1214446" cy="2928958"/>
            </a:xfrm>
          </p:grpSpPr>
          <p:sp>
            <p:nvSpPr>
              <p:cNvPr id="1048742" name="Accolade ouvrante 17"/>
              <p:cNvSpPr/>
              <p:nvPr/>
            </p:nvSpPr>
            <p:spPr>
              <a:xfrm>
                <a:off x="2500298" y="1571612"/>
                <a:ext cx="831537" cy="2928958"/>
              </a:xfrm>
              <a:prstGeom prst="leftBrac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 rtlCol="0"/>
              <a:p>
                <a:pPr algn="ctr"/>
                <a:r>
                  <a:rPr dirty="0" lang="fr-FR" smtClean="0"/>
                  <a:t>  </a:t>
                </a:r>
                <a:endParaRPr dirty="0" lang="fr-FR"/>
              </a:p>
            </p:txBody>
          </p:sp>
          <p:cxnSp>
            <p:nvCxnSpPr>
              <p:cNvPr id="3145781" name="Connecteur droit avec flèche 19"/>
              <p:cNvCxnSpPr>
                <a:cxnSpLocks/>
              </p:cNvCxnSpPr>
              <p:nvPr/>
            </p:nvCxnSpPr>
            <p:spPr>
              <a:xfrm rot="16200000" flipH="1">
                <a:off x="3286116" y="3571876"/>
                <a:ext cx="357190" cy="357190"/>
              </a:xfrm>
              <a:prstGeom prst="straightConnector1"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82" name="Connecteur droit avec flèche 11"/>
              <p:cNvCxnSpPr>
                <a:cxnSpLocks/>
              </p:cNvCxnSpPr>
              <p:nvPr/>
            </p:nvCxnSpPr>
            <p:spPr>
              <a:xfrm>
                <a:off x="3357554" y="2928934"/>
                <a:ext cx="357190" cy="285752"/>
              </a:xfrm>
              <a:prstGeom prst="straightConnector1"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45783" name="Connecteur droit avec flèche 15"/>
            <p:cNvCxnSpPr>
              <a:cxnSpLocks/>
            </p:cNvCxnSpPr>
            <p:nvPr/>
          </p:nvCxnSpPr>
          <p:spPr>
            <a:xfrm>
              <a:off x="3357554" y="2285992"/>
              <a:ext cx="428628" cy="357190"/>
            </a:xfrm>
            <a:prstGeom prst="straightConnector1"/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cover/>
  </p:transition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Titre 1"/>
          <p:cNvSpPr>
            <a:spLocks noGrp="1"/>
          </p:cNvSpPr>
          <p:nvPr>
            <p:ph type="title"/>
          </p:nvPr>
        </p:nvSpPr>
        <p:spPr>
          <a:xfrm>
            <a:off x="107504" y="341784"/>
            <a:ext cx="7467600" cy="1143000"/>
          </a:xfrm>
        </p:spPr>
        <p:txBody>
          <a:bodyPr/>
          <a:p>
            <a:r>
              <a:rPr b="1" dirty="0" lang="fr-FR" smtClean="0">
                <a:solidFill>
                  <a:srgbClr val="7030A0"/>
                </a:solidFill>
              </a:rPr>
              <a:t>Contre indications:</a:t>
            </a:r>
            <a:endParaRPr b="1" dirty="0" lang="fr-FR">
              <a:solidFill>
                <a:srgbClr val="7030A0"/>
              </a:solidFill>
            </a:endParaRPr>
          </a:p>
        </p:txBody>
      </p:sp>
      <p:sp>
        <p:nvSpPr>
          <p:cNvPr id="1048747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p>
            <a:pPr>
              <a:buNone/>
            </a:pPr>
            <a:r>
              <a:rPr dirty="0" lang="fr-FR" smtClean="0"/>
              <a:t>- ASTHME</a:t>
            </a:r>
          </a:p>
          <a:p>
            <a:pPr>
              <a:buNone/>
            </a:pPr>
            <a:r>
              <a:rPr dirty="0" lang="fr-FR" smtClean="0"/>
              <a:t>- BRADYCARDIE  SINUSALE IMPORTANTE</a:t>
            </a:r>
          </a:p>
          <a:p>
            <a:pPr>
              <a:buNone/>
            </a:pPr>
            <a:r>
              <a:rPr dirty="0" lang="fr-FR" smtClean="0"/>
              <a:t>- SYNDROME DE RAYNAUD</a:t>
            </a:r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b="1" dirty="0" lang="fr-FR" smtClean="0">
                <a:solidFill>
                  <a:srgbClr val="C00000"/>
                </a:solidFill>
              </a:rPr>
              <a:t>CHOIX D’UNE MOLÉCULE  </a:t>
            </a:r>
            <a:r>
              <a:rPr b="1" dirty="0" lang="el-GR" smtClean="0">
                <a:solidFill>
                  <a:srgbClr val="C00000"/>
                </a:solidFill>
              </a:rPr>
              <a:t>β</a:t>
            </a:r>
            <a:r>
              <a:rPr b="1" dirty="0" lang="en-GB" smtClean="0">
                <a:solidFill>
                  <a:srgbClr val="C00000"/>
                </a:solidFill>
              </a:rPr>
              <a:t> BLOQUANTE:</a:t>
            </a:r>
          </a:p>
          <a:p>
            <a:pPr>
              <a:buNone/>
            </a:pPr>
            <a:r>
              <a:rPr dirty="0" lang="en-GB" smtClean="0"/>
              <a:t>    - EFFICACITE</a:t>
            </a:r>
          </a:p>
          <a:p>
            <a:pPr>
              <a:buNone/>
            </a:pPr>
            <a:r>
              <a:rPr dirty="0" lang="en-GB" smtClean="0"/>
              <a:t>                                                        </a:t>
            </a:r>
            <a:r>
              <a:rPr dirty="0" lang="en-GB" err="1" smtClean="0"/>
              <a:t>Asthmathique</a:t>
            </a:r>
            <a:endParaRPr dirty="0" lang="en-GB" smtClean="0"/>
          </a:p>
          <a:p>
            <a:pPr>
              <a:buNone/>
            </a:pPr>
            <a:r>
              <a:rPr dirty="0" lang="en-GB" smtClean="0"/>
              <a:t>    - TOLERANCE : </a:t>
            </a:r>
            <a:r>
              <a:rPr dirty="0" lang="el-GR" smtClean="0"/>
              <a:t>β</a:t>
            </a:r>
            <a:r>
              <a:rPr dirty="0" lang="en-GB" smtClean="0"/>
              <a:t>1 </a:t>
            </a:r>
            <a:r>
              <a:rPr dirty="0" lang="en-GB" err="1" smtClean="0"/>
              <a:t>que</a:t>
            </a:r>
            <a:r>
              <a:rPr dirty="0" lang="en-GB" smtClean="0"/>
              <a:t> </a:t>
            </a:r>
            <a:r>
              <a:rPr dirty="0" lang="el-GR" smtClean="0"/>
              <a:t>β</a:t>
            </a:r>
            <a:r>
              <a:rPr dirty="0" lang="fr-FR" smtClean="0"/>
              <a:t>2       </a:t>
            </a:r>
          </a:p>
          <a:p>
            <a:pPr>
              <a:buNone/>
            </a:pPr>
            <a:r>
              <a:rPr dirty="0" lang="fr-FR"/>
              <a:t> </a:t>
            </a:r>
            <a:r>
              <a:rPr dirty="0" lang="fr-FR" smtClean="0"/>
              <a:t>                                                       Diabétique</a:t>
            </a:r>
            <a:endParaRPr dirty="0" lang="en-GB" smtClean="0"/>
          </a:p>
        </p:txBody>
      </p:sp>
      <p:pic>
        <p:nvPicPr>
          <p:cNvPr id="2097173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sp>
        <p:nvSpPr>
          <p:cNvPr id="1048748" name="Accolade ouvrante 4"/>
          <p:cNvSpPr/>
          <p:nvPr/>
        </p:nvSpPr>
        <p:spPr>
          <a:xfrm>
            <a:off x="4718296" y="3861048"/>
            <a:ext cx="285752" cy="2071702"/>
          </a:xfrm>
          <a:prstGeom prst="leftBrac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tlCol="0"/>
          <a:p>
            <a:pPr algn="ctr"/>
            <a:endParaRPr lang="fr-FR"/>
          </a:p>
        </p:txBody>
      </p:sp>
      <p:sp>
        <p:nvSpPr>
          <p:cNvPr id="1048749" name="Rectangle 7"/>
          <p:cNvSpPr/>
          <p:nvPr/>
        </p:nvSpPr>
        <p:spPr>
          <a:xfrm>
            <a:off x="251520" y="123618"/>
            <a:ext cx="3414730" cy="71438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sz="2800" lang="el-GR" smtClean="0">
                <a:solidFill>
                  <a:schemeClr val="tx1"/>
                </a:solidFill>
              </a:rPr>
              <a:t>β</a:t>
            </a:r>
            <a:r>
              <a:rPr dirty="0" sz="2800" lang="fr-FR" smtClean="0">
                <a:solidFill>
                  <a:schemeClr val="tx1"/>
                </a:solidFill>
              </a:rPr>
              <a:t>- </a:t>
            </a:r>
            <a:r>
              <a:rPr dirty="0" sz="2800" lang="en-GB" smtClean="0">
                <a:solidFill>
                  <a:schemeClr val="tx1"/>
                </a:solidFill>
              </a:rPr>
              <a:t>BLOQUANTS:</a:t>
            </a:r>
            <a:endParaRPr dirty="0" sz="2800"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re 1"/>
          <p:cNvSpPr>
            <a:spLocks noGrp="1"/>
          </p:cNvSpPr>
          <p:nvPr>
            <p:ph type="title"/>
          </p:nvPr>
        </p:nvSpPr>
        <p:spPr>
          <a:xfrm>
            <a:off x="107504" y="44624"/>
            <a:ext cx="7467600" cy="1143000"/>
          </a:xfrm>
        </p:spPr>
        <p:txBody>
          <a:bodyPr>
            <a:normAutofit/>
          </a:bodyPr>
          <a:p>
            <a:r>
              <a:rPr b="1" dirty="0" sz="2800" lang="fr-FR" smtClean="0">
                <a:solidFill>
                  <a:srgbClr val="7030A0"/>
                </a:solidFill>
              </a:rPr>
              <a:t>B) ANTAGONISTES DU SYS RÉNINE-ANGIOTENSINE:</a:t>
            </a:r>
            <a:endParaRPr b="1" dirty="0" sz="2800" lang="fr-FR">
              <a:solidFill>
                <a:srgbClr val="7030A0"/>
              </a:solidFill>
            </a:endParaRPr>
          </a:p>
        </p:txBody>
      </p:sp>
      <p:sp>
        <p:nvSpPr>
          <p:cNvPr id="1048754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9396536" cy="4873752"/>
          </a:xfrm>
        </p:spPr>
        <p:txBody>
          <a:bodyPr>
            <a:normAutofit/>
          </a:bodyPr>
          <a:p>
            <a:pPr>
              <a:buNone/>
            </a:pPr>
            <a:r>
              <a:rPr b="1" dirty="0" lang="fr-FR" smtClean="0">
                <a:solidFill>
                  <a:srgbClr val="C00000"/>
                </a:solidFill>
              </a:rPr>
              <a:t>- INHIBITEURS DE L’ENZ DE CONVERSION</a:t>
            </a:r>
            <a:endParaRPr b="1" dirty="0" sz="2800" lang="fr-FR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b="1" dirty="0" sz="2800" lang="fr-FR" smtClean="0"/>
              <a:t>          Les « IEC »</a:t>
            </a:r>
            <a:endParaRPr b="1" dirty="0" sz="2800" lang="fr-FR"/>
          </a:p>
          <a:p>
            <a:pPr>
              <a:buNone/>
            </a:pPr>
            <a:endParaRPr dirty="0" sz="2800" lang="fr-FR" smtClean="0">
              <a:solidFill>
                <a:srgbClr val="C00000"/>
              </a:solidFill>
            </a:endParaRPr>
          </a:p>
          <a:p>
            <a:pPr indent="0" marL="0">
              <a:buNone/>
            </a:pPr>
            <a:r>
              <a:rPr b="1" dirty="0" lang="fr-FR" smtClean="0">
                <a:solidFill>
                  <a:srgbClr val="C00000"/>
                </a:solidFill>
              </a:rPr>
              <a:t>- ANTAGONISTES DES RCP AT1 DE L’ANG II</a:t>
            </a:r>
          </a:p>
          <a:p>
            <a:pPr indent="0" marL="0">
              <a:buNone/>
            </a:pPr>
            <a:r>
              <a:rPr b="1" dirty="0" sz="2800" lang="fr-FR" smtClean="0"/>
              <a:t>          Les  « </a:t>
            </a:r>
            <a:r>
              <a:rPr b="1" dirty="0" sz="2800" lang="fr-FR" err="1" smtClean="0"/>
              <a:t>Sartans</a:t>
            </a:r>
            <a:r>
              <a:rPr b="1" dirty="0" sz="2800" lang="fr-FR" smtClean="0"/>
              <a:t> »</a:t>
            </a:r>
            <a:endParaRPr b="1" dirty="0" sz="2800" lang="fr-FR"/>
          </a:p>
        </p:txBody>
      </p:sp>
      <p:pic>
        <p:nvPicPr>
          <p:cNvPr id="2097174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</p:spTree>
  </p:cSld>
  <p:clrMapOvr>
    <a:masterClrMapping/>
  </p:clrMapOvr>
  <p:transition spd="slow">
    <p:cover/>
  </p:transition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357166"/>
            <a:ext cx="9144000" cy="6143668"/>
          </a:xfrm>
        </p:spPr>
        <p:txBody>
          <a:bodyPr>
            <a:normAutofit/>
          </a:bodyPr>
          <a:p>
            <a:pPr>
              <a:buNone/>
            </a:pPr>
            <a:r>
              <a:rPr dirty="0" sz="2000" lang="fr-FR" smtClean="0">
                <a:solidFill>
                  <a:srgbClr val="FF0000"/>
                </a:solidFill>
              </a:rPr>
              <a:t>          EFFETS                                                        </a:t>
            </a:r>
            <a:r>
              <a:rPr dirty="0" sz="2000" lang="fr-FR" err="1" smtClean="0">
                <a:solidFill>
                  <a:srgbClr val="FF0000"/>
                </a:solidFill>
              </a:rPr>
              <a:t>EFFETS</a:t>
            </a:r>
            <a:endParaRPr dirty="0" sz="2000" lang="fr-FR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dirty="0" sz="2000" lang="fr-FR" smtClean="0">
                <a:solidFill>
                  <a:srgbClr val="FF0000"/>
                </a:solidFill>
              </a:rPr>
              <a:t>PHARMACOLOGIQUS                                   MÉTABOLIQUES</a:t>
            </a:r>
          </a:p>
          <a:p>
            <a:pPr>
              <a:buNone/>
            </a:pPr>
            <a:endParaRPr dirty="0" sz="2000" lang="fr-FR" smtClean="0"/>
          </a:p>
          <a:p>
            <a:pPr>
              <a:buNone/>
            </a:pPr>
            <a:endParaRPr dirty="0" sz="2000" lang="fr-FR" smtClean="0"/>
          </a:p>
          <a:p>
            <a:pPr>
              <a:buNone/>
            </a:pPr>
            <a:endParaRPr dirty="0" sz="2000" lang="fr-FR" smtClean="0"/>
          </a:p>
          <a:p>
            <a:pPr>
              <a:buFontTx/>
              <a:buChar char="-"/>
            </a:pPr>
            <a:r>
              <a:rPr dirty="0" sz="2000" lang="fr-FR" err="1" smtClean="0"/>
              <a:t>Rsys</a:t>
            </a:r>
            <a:r>
              <a:rPr dirty="0" sz="2000" lang="fr-FR" smtClean="0"/>
              <a:t>(vasodilatation                                              * </a:t>
            </a:r>
            <a:r>
              <a:rPr dirty="0" sz="2000" lang="fr-FR" smtClean="0">
                <a:solidFill>
                  <a:srgbClr val="0070C0"/>
                </a:solidFill>
              </a:rPr>
              <a:t>Bilan sodé</a:t>
            </a:r>
          </a:p>
          <a:p>
            <a:pPr>
              <a:buNone/>
            </a:pPr>
            <a:r>
              <a:rPr dirty="0" sz="2000" lang="fr-FR" smtClean="0"/>
              <a:t>Artériolaire)           PA                                                   </a:t>
            </a:r>
            <a:r>
              <a:rPr dirty="0" sz="2800" lang="fr-FR" smtClean="0"/>
              <a:t>Q </a:t>
            </a:r>
            <a:r>
              <a:rPr dirty="0" sz="1600" lang="fr-FR" smtClean="0"/>
              <a:t>RENAL</a:t>
            </a:r>
            <a:endParaRPr dirty="0" sz="2000" lang="fr-FR" smtClean="0"/>
          </a:p>
          <a:p>
            <a:pPr>
              <a:buNone/>
            </a:pPr>
            <a:r>
              <a:rPr dirty="0" sz="2000" lang="fr-FR" smtClean="0"/>
              <a:t>Sans stimulation sympa               </a:t>
            </a:r>
            <a:r>
              <a:rPr dirty="0" sz="2000" lang="fr-FR" err="1" smtClean="0"/>
              <a:t>natriurése</a:t>
            </a:r>
            <a:endParaRPr dirty="0" sz="2000" lang="fr-FR" smtClean="0"/>
          </a:p>
          <a:p>
            <a:pPr>
              <a:buNone/>
            </a:pPr>
            <a:r>
              <a:rPr dirty="0" sz="2000" lang="fr-FR" smtClean="0"/>
              <a:t>ni rétention hydro sodée                                        </a:t>
            </a:r>
            <a:r>
              <a:rPr dirty="0" sz="1800" lang="fr-FR" smtClean="0"/>
              <a:t>INHIBITION DES</a:t>
            </a:r>
          </a:p>
          <a:p>
            <a:pPr>
              <a:buNone/>
            </a:pPr>
            <a:r>
              <a:rPr dirty="0" sz="1800" lang="fr-FR" smtClean="0"/>
              <a:t>                                                                                          EFFETS TUBULAIRES</a:t>
            </a:r>
          </a:p>
          <a:p>
            <a:pPr>
              <a:buNone/>
            </a:pPr>
            <a:r>
              <a:rPr dirty="0" sz="1800" lang="fr-FR" smtClean="0"/>
              <a:t>                                                                                           DE L’ANG II</a:t>
            </a:r>
            <a:endParaRPr dirty="0" lang="fr-FR" smtClean="0"/>
          </a:p>
          <a:p>
            <a:pPr>
              <a:buNone/>
            </a:pPr>
            <a:endParaRPr dirty="0" sz="2800" lang="fr-FR" smtClean="0"/>
          </a:p>
          <a:p>
            <a:pPr>
              <a:buNone/>
            </a:pPr>
            <a:endParaRPr dirty="0" sz="2000" lang="fr-FR"/>
          </a:p>
        </p:txBody>
      </p:sp>
      <p:pic>
        <p:nvPicPr>
          <p:cNvPr id="2097175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820910" y="44624"/>
            <a:ext cx="1071570" cy="1198015"/>
          </a:xfrm>
          <a:prstGeom prst="rect"/>
          <a:noFill/>
        </p:spPr>
      </p:pic>
      <p:cxnSp>
        <p:nvCxnSpPr>
          <p:cNvPr id="3145784" name="Connecteur droit avec flèche 5"/>
          <p:cNvCxnSpPr>
            <a:cxnSpLocks/>
          </p:cNvCxnSpPr>
          <p:nvPr/>
        </p:nvCxnSpPr>
        <p:spPr>
          <a:xfrm rot="5400000">
            <a:off x="714348" y="1704004"/>
            <a:ext cx="1000132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5" name="Connecteur droit avec flèche 7"/>
          <p:cNvCxnSpPr>
            <a:cxnSpLocks/>
          </p:cNvCxnSpPr>
          <p:nvPr/>
        </p:nvCxnSpPr>
        <p:spPr>
          <a:xfrm rot="5400000">
            <a:off x="5944936" y="1704004"/>
            <a:ext cx="1000132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6" name="Connecteur droit avec flèche 9"/>
          <p:cNvCxnSpPr>
            <a:cxnSpLocks/>
          </p:cNvCxnSpPr>
          <p:nvPr/>
        </p:nvCxnSpPr>
        <p:spPr>
          <a:xfrm rot="16200000" flipH="1">
            <a:off x="35687" y="2321711"/>
            <a:ext cx="357190" cy="142876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7" name="Connecteur droit avec flèche 11"/>
          <p:cNvCxnSpPr>
            <a:cxnSpLocks/>
          </p:cNvCxnSpPr>
          <p:nvPr/>
        </p:nvCxnSpPr>
        <p:spPr>
          <a:xfrm>
            <a:off x="1623662" y="2995364"/>
            <a:ext cx="500066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8" name="Connecteur droit avec flèche 13"/>
          <p:cNvCxnSpPr>
            <a:cxnSpLocks/>
          </p:cNvCxnSpPr>
          <p:nvPr/>
        </p:nvCxnSpPr>
        <p:spPr>
          <a:xfrm rot="16200000" flipH="1">
            <a:off x="2629494" y="2854646"/>
            <a:ext cx="285752" cy="142876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9" name="Connecteur droit avec flèche 19"/>
          <p:cNvCxnSpPr>
            <a:cxnSpLocks/>
          </p:cNvCxnSpPr>
          <p:nvPr/>
        </p:nvCxnSpPr>
        <p:spPr>
          <a:xfrm rot="10800000" flipV="1">
            <a:off x="5286380" y="2928934"/>
            <a:ext cx="357190" cy="285752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0" name="Connecteur droit avec flèche 21"/>
          <p:cNvCxnSpPr>
            <a:cxnSpLocks/>
          </p:cNvCxnSpPr>
          <p:nvPr/>
        </p:nvCxnSpPr>
        <p:spPr>
          <a:xfrm rot="10800000">
            <a:off x="5286380" y="3357562"/>
            <a:ext cx="357190" cy="285752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1" name="Connecteur droit avec flèche 23"/>
          <p:cNvCxnSpPr>
            <a:cxnSpLocks/>
          </p:cNvCxnSpPr>
          <p:nvPr/>
        </p:nvCxnSpPr>
        <p:spPr>
          <a:xfrm rot="5400000" flipH="1" flipV="1">
            <a:off x="5906143" y="2816647"/>
            <a:ext cx="285752" cy="214314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56" name="Rectangle 1"/>
          <p:cNvSpPr/>
          <p:nvPr/>
        </p:nvSpPr>
        <p:spPr>
          <a:xfrm>
            <a:off x="2445385" y="-27384"/>
            <a:ext cx="2468880" cy="624840"/>
          </a:xfrm>
          <a:prstGeom prst="rect"/>
        </p:spPr>
        <p:txBody>
          <a:bodyPr wrap="none">
            <a:spAutoFit/>
          </a:bodyPr>
          <a:p>
            <a:r>
              <a:rPr b="1" dirty="0" sz="3600" lang="fr-FR">
                <a:solidFill>
                  <a:srgbClr val="7030A0"/>
                </a:solidFill>
              </a:rPr>
              <a:t> Les « IEC »</a:t>
            </a:r>
            <a:endParaRPr dirty="0" sz="3600" lang="fr-FR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Table 3"/>
          <p:cNvGraphicFramePr>
            <a:graphicFrameLocks noGrp="1"/>
          </p:cNvGraphicFramePr>
          <p:nvPr/>
        </p:nvGraphicFramePr>
        <p:xfrm>
          <a:off x="31972" y="1844824"/>
          <a:ext cx="9036500" cy="2944368"/>
        </p:xfrm>
        <a:graphic>
          <a:graphicData uri="http://schemas.openxmlformats.org/drawingml/2006/table">
            <a:tbl>
              <a:tblPr firstRow="1" firstCol="1" bandRow="1"/>
              <a:tblGrid>
                <a:gridCol w="2259125"/>
                <a:gridCol w="2259125"/>
                <a:gridCol w="2259125"/>
                <a:gridCol w="2259125"/>
              </a:tblGrid>
              <a:tr h="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b="1" dirty="0" sz="2400" lang="fr-FR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DCI</a:t>
                      </a:r>
                      <a:endParaRPr dirty="0" sz="2000" lang="fr-FR">
                        <a:solidFill>
                          <a:srgbClr val="FF0000"/>
                        </a:solidFill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b="1" dirty="0" sz="2400" lang="fr-FR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Spécialité</a:t>
                      </a:r>
                      <a:endParaRPr dirty="0" sz="2000" lang="fr-FR">
                        <a:solidFill>
                          <a:srgbClr val="FF0000"/>
                        </a:solidFill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b="1" dirty="0" sz="2400" lang="fr-FR" err="1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Prodrogue</a:t>
                      </a:r>
                      <a:endParaRPr dirty="0" sz="2000" lang="fr-FR">
                        <a:solidFill>
                          <a:srgbClr val="FF0000"/>
                        </a:solidFill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b="1" dirty="0" sz="2400" lang="fr-FR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T1/2</a:t>
                      </a:r>
                      <a:endParaRPr dirty="0" sz="2000" lang="fr-FR">
                        <a:solidFill>
                          <a:srgbClr val="FF0000"/>
                        </a:solidFill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CAPTOPRIL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ENALAPRIL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LISINOPRIL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BENAZEPRIL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PERINDOPRIL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RAMIPRIL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LOPRIL</a:t>
                      </a:r>
                      <a:r>
                        <a:rPr baseline="30000"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®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RENITEC</a:t>
                      </a:r>
                      <a:r>
                        <a:rPr baseline="30000"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®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ZESTRIL</a:t>
                      </a:r>
                      <a:r>
                        <a:rPr baseline="30000"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®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BRIEM</a:t>
                      </a:r>
                      <a:r>
                        <a:rPr baseline="30000"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®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COVERSYL</a:t>
                      </a:r>
                      <a:r>
                        <a:rPr baseline="30000" dirty="0" sz="2400" lang="en-US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®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TRIATEC</a:t>
                      </a:r>
                      <a:r>
                        <a:rPr baseline="30000"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®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Non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Oui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Non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Oui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Oui 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Oui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0.7-0.9 courte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2-8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6-8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1-12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3-4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dirty="0" sz="2400" lang="fr-FR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3  longue</a:t>
                      </a:r>
                      <a:endParaRPr dirty="0" sz="2000" lang="fr-FR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760" name="Rectangle 4"/>
          <p:cNvSpPr/>
          <p:nvPr/>
        </p:nvSpPr>
        <p:spPr>
          <a:xfrm>
            <a:off x="1619672" y="610652"/>
            <a:ext cx="4919980" cy="574040"/>
          </a:xfrm>
          <a:prstGeom prst="rect"/>
        </p:spPr>
        <p:txBody>
          <a:bodyPr wrap="none">
            <a:spAutoFit/>
          </a:bodyPr>
          <a:p>
            <a:r>
              <a:rPr b="1" dirty="0" sz="3200" lang="fr-FR">
                <a:solidFill>
                  <a:srgbClr val="7030A0"/>
                </a:solidFill>
              </a:rPr>
              <a:t>Principaux </a:t>
            </a:r>
            <a:r>
              <a:rPr b="1" dirty="0" sz="3200" lang="fr-FR" smtClean="0">
                <a:solidFill>
                  <a:srgbClr val="7030A0"/>
                </a:solidFill>
              </a:rPr>
              <a:t>composés IEC </a:t>
            </a:r>
            <a:endParaRPr b="1" dirty="0" sz="3200" lang="fr-FR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med">
    <p:fade thruBlk="1"/>
  </p:transition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INDICATIONS: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762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p>
            <a:pPr>
              <a:buNone/>
            </a:pPr>
            <a:r>
              <a:rPr dirty="0" lang="fr-FR" smtClean="0"/>
              <a:t>-</a:t>
            </a:r>
            <a:r>
              <a:rPr dirty="0" lang="fr-FR" err="1" smtClean="0"/>
              <a:t>HTA</a:t>
            </a:r>
            <a:r>
              <a:rPr dirty="0" lang="fr-FR" smtClean="0"/>
              <a:t>  essentielle</a:t>
            </a:r>
          </a:p>
          <a:p>
            <a:pPr>
              <a:buNone/>
            </a:pPr>
            <a:r>
              <a:rPr dirty="0" lang="fr-FR" smtClean="0"/>
              <a:t>-</a:t>
            </a:r>
            <a:r>
              <a:rPr dirty="0" lang="fr-FR" err="1" smtClean="0"/>
              <a:t>HTA</a:t>
            </a:r>
            <a:r>
              <a:rPr dirty="0" lang="fr-FR" smtClean="0"/>
              <a:t> du diabétique</a:t>
            </a:r>
          </a:p>
          <a:p>
            <a:pPr>
              <a:buNone/>
            </a:pPr>
            <a:r>
              <a:rPr dirty="0" lang="fr-FR" smtClean="0"/>
              <a:t>-Insuffisance cardiaque</a:t>
            </a:r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dirty="0" sz="2800" lang="fr-FR" smtClean="0">
                <a:solidFill>
                  <a:srgbClr val="FF0000"/>
                </a:solidFill>
              </a:rPr>
              <a:t>CONTRE-INDICATION:</a:t>
            </a:r>
          </a:p>
          <a:p>
            <a:pPr>
              <a:buNone/>
            </a:pPr>
            <a:r>
              <a:rPr dirty="0" lang="fr-FR" smtClean="0"/>
              <a:t>Allergie</a:t>
            </a:r>
          </a:p>
          <a:p>
            <a:pPr>
              <a:buNone/>
            </a:pPr>
            <a:r>
              <a:rPr dirty="0" sz="2800" lang="fr-FR" smtClean="0"/>
              <a:t>Grossesse</a:t>
            </a:r>
          </a:p>
          <a:p>
            <a:pPr>
              <a:buNone/>
            </a:pPr>
            <a:r>
              <a:rPr dirty="0" lang="fr-FR" smtClean="0"/>
              <a:t> </a:t>
            </a:r>
          </a:p>
          <a:p>
            <a:pPr>
              <a:buNone/>
            </a:pPr>
            <a:endParaRPr dirty="0" sz="3200" lang="fr-FR" smtClean="0">
              <a:solidFill>
                <a:srgbClr val="FF0000"/>
              </a:solidFill>
            </a:endParaRPr>
          </a:p>
          <a:p>
            <a:pPr>
              <a:buNone/>
            </a:pPr>
            <a:endParaRPr dirty="0" sz="3200" lang="fr-FR" smtClean="0">
              <a:solidFill>
                <a:srgbClr val="FF0000"/>
              </a:solidFill>
            </a:endParaRPr>
          </a:p>
          <a:p>
            <a:pPr>
              <a:buNone/>
            </a:pPr>
            <a:endParaRPr dirty="0" lang="fr-FR"/>
          </a:p>
        </p:txBody>
      </p:sp>
      <p:pic>
        <p:nvPicPr>
          <p:cNvPr id="2097176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sp>
        <p:nvSpPr>
          <p:cNvPr id="1048763" name="Rectangle 4"/>
          <p:cNvSpPr/>
          <p:nvPr/>
        </p:nvSpPr>
        <p:spPr>
          <a:xfrm>
            <a:off x="3059832" y="46365"/>
            <a:ext cx="2468880" cy="624840"/>
          </a:xfrm>
          <a:prstGeom prst="rect"/>
        </p:spPr>
        <p:txBody>
          <a:bodyPr wrap="none">
            <a:spAutoFit/>
          </a:bodyPr>
          <a:p>
            <a:r>
              <a:rPr b="1" dirty="0" sz="3600" lang="fr-FR">
                <a:solidFill>
                  <a:srgbClr val="7030A0"/>
                </a:solidFill>
              </a:rPr>
              <a:t> Les « IEC »</a:t>
            </a:r>
            <a:endParaRPr dirty="0" sz="3600" lang="fr-FR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>
    <p:cover/>
  </p:transition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Titr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7467600" cy="1143000"/>
          </a:xfrm>
        </p:spPr>
        <p:txBody>
          <a:bodyPr>
            <a:normAutofit/>
          </a:bodyPr>
          <a:p>
            <a:r>
              <a:rPr dirty="0" sz="2800" lang="fr-FR" smtClean="0">
                <a:solidFill>
                  <a:srgbClr val="FF0000"/>
                </a:solidFill>
              </a:rPr>
              <a:t>INTERACTIONS  MÉDICAMENTEUSES:</a:t>
            </a:r>
            <a:endParaRPr dirty="0" sz="2800" lang="fr-FR">
              <a:solidFill>
                <a:srgbClr val="FF0000"/>
              </a:solidFill>
            </a:endParaRPr>
          </a:p>
        </p:txBody>
      </p:sp>
      <p:sp>
        <p:nvSpPr>
          <p:cNvPr id="1048765" name="Espace réservé du contenu 2"/>
          <p:cNvSpPr>
            <a:spLocks noGrp="1"/>
          </p:cNvSpPr>
          <p:nvPr>
            <p:ph sz="quarter" idx="1"/>
          </p:nvPr>
        </p:nvSpPr>
        <p:spPr>
          <a:ln>
            <a:solidFill>
              <a:schemeClr val="bg1"/>
            </a:solidFill>
          </a:ln>
        </p:spPr>
        <p:txBody>
          <a:bodyPr/>
          <a:p>
            <a:pPr>
              <a:lnSpc>
                <a:spcPct val="200000"/>
              </a:lnSpc>
              <a:buNone/>
            </a:pPr>
            <a:r>
              <a:rPr dirty="0" lang="fr-FR" smtClean="0"/>
              <a:t>-Diurétiques  d’épargne potassique</a:t>
            </a:r>
          </a:p>
          <a:p>
            <a:pPr>
              <a:lnSpc>
                <a:spcPct val="200000"/>
              </a:lnSpc>
              <a:buNone/>
            </a:pPr>
            <a:r>
              <a:rPr dirty="0" lang="fr-FR" smtClean="0"/>
              <a:t>-Suppléments  potassiques</a:t>
            </a:r>
            <a:endParaRPr dirty="0" lang="en-GB" smtClean="0"/>
          </a:p>
          <a:p>
            <a:pPr>
              <a:lnSpc>
                <a:spcPct val="200000"/>
              </a:lnSpc>
              <a:buNone/>
            </a:pPr>
            <a:r>
              <a:rPr dirty="0" lang="en-GB" smtClean="0"/>
              <a:t>-</a:t>
            </a:r>
            <a:r>
              <a:rPr dirty="0" lang="en-GB" err="1" smtClean="0"/>
              <a:t>Heparine</a:t>
            </a:r>
            <a:r>
              <a:rPr dirty="0" lang="en-GB" smtClean="0"/>
              <a:t>: </a:t>
            </a:r>
            <a:r>
              <a:rPr dirty="0" lang="en-GB" err="1" smtClean="0"/>
              <a:t>risque</a:t>
            </a:r>
            <a:r>
              <a:rPr dirty="0" lang="en-GB" smtClean="0"/>
              <a:t> d’  K (Aldosterone)</a:t>
            </a:r>
          </a:p>
          <a:p>
            <a:pPr>
              <a:lnSpc>
                <a:spcPct val="200000"/>
              </a:lnSpc>
              <a:buNone/>
            </a:pPr>
            <a:r>
              <a:rPr dirty="0" lang="en-GB" smtClean="0"/>
              <a:t>- AINS</a:t>
            </a:r>
            <a:endParaRPr dirty="0" lang="fr-FR"/>
          </a:p>
        </p:txBody>
      </p:sp>
      <p:pic>
        <p:nvPicPr>
          <p:cNvPr id="2097177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cxnSp>
        <p:nvCxnSpPr>
          <p:cNvPr id="3145792" name="Connecteur droit avec flèche 5"/>
          <p:cNvCxnSpPr>
            <a:cxnSpLocks/>
          </p:cNvCxnSpPr>
          <p:nvPr/>
        </p:nvCxnSpPr>
        <p:spPr>
          <a:xfrm rot="5400000" flipH="1" flipV="1">
            <a:off x="3313285" y="3607595"/>
            <a:ext cx="214314" cy="142876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3" name="Connecteur droit 10"/>
          <p:cNvCxnSpPr>
            <a:cxnSpLocks/>
          </p:cNvCxnSpPr>
          <p:nvPr/>
        </p:nvCxnSpPr>
        <p:spPr>
          <a:xfrm rot="10800000">
            <a:off x="4000496" y="3429000"/>
            <a:ext cx="1143008" cy="714380"/>
          </a:xfrm>
          <a:prstGeom prst="line"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4" name="Connecteur droit 18"/>
          <p:cNvCxnSpPr>
            <a:cxnSpLocks/>
          </p:cNvCxnSpPr>
          <p:nvPr/>
        </p:nvCxnSpPr>
        <p:spPr>
          <a:xfrm rot="10800000" flipV="1">
            <a:off x="4000496" y="3429000"/>
            <a:ext cx="1000132" cy="714380"/>
          </a:xfrm>
          <a:prstGeom prst="line"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0" y="1357298"/>
            <a:ext cx="9144000" cy="5116527"/>
          </a:xfrm>
        </p:spPr>
        <p:txBody>
          <a:bodyPr>
            <a:normAutofit fontScale="87500" lnSpcReduction="20000"/>
          </a:bodyPr>
          <a:p>
            <a:pPr>
              <a:buNone/>
            </a:pPr>
            <a:endParaRPr dirty="0" sz="2000" lang="fr-FR" smtClean="0"/>
          </a:p>
          <a:p>
            <a:pPr>
              <a:buNone/>
            </a:pPr>
            <a:r>
              <a:rPr dirty="0" sz="1800" lang="fr-FR" smtClean="0"/>
              <a:t>                                                     STIMULATION SYMPATHIQUE                 </a:t>
            </a:r>
          </a:p>
          <a:p>
            <a:pPr>
              <a:buNone/>
            </a:pPr>
            <a:r>
              <a:rPr dirty="0" sz="2000" lang="fr-FR" smtClean="0"/>
              <a:t>                                                                                                           </a:t>
            </a:r>
          </a:p>
          <a:p>
            <a:pPr>
              <a:buNone/>
            </a:pPr>
            <a:r>
              <a:rPr dirty="0" sz="2000" lang="fr-FR" smtClean="0"/>
              <a:t>Antagoniste AT1                    RETENTION  HYDROSODEE                       PA</a:t>
            </a:r>
          </a:p>
          <a:p>
            <a:pPr>
              <a:buNone/>
            </a:pPr>
            <a:r>
              <a:rPr dirty="0" sz="2000" lang="fr-FR" smtClean="0"/>
              <a:t>                                                 </a:t>
            </a:r>
          </a:p>
          <a:p>
            <a:pPr>
              <a:buNone/>
            </a:pPr>
            <a:r>
              <a:rPr dirty="0" sz="2000" lang="fr-FR" smtClean="0"/>
              <a:t>                                                   </a:t>
            </a:r>
          </a:p>
          <a:p>
            <a:pPr>
              <a:buNone/>
            </a:pPr>
            <a:r>
              <a:rPr dirty="0" sz="2000" lang="fr-FR" smtClean="0"/>
              <a:t>                                              VASOCONSTRICTION</a:t>
            </a:r>
          </a:p>
          <a:p>
            <a:pPr>
              <a:buNone/>
            </a:pPr>
            <a:endParaRPr dirty="0" sz="2000" lang="fr-FR" smtClean="0"/>
          </a:p>
          <a:p>
            <a:pPr>
              <a:buNone/>
            </a:pPr>
            <a:endParaRPr dirty="0" sz="2000" lang="fr-FR" smtClean="0"/>
          </a:p>
          <a:p>
            <a:pPr>
              <a:buNone/>
            </a:pPr>
            <a:r>
              <a:rPr dirty="0" sz="2000" lang="fr-FR" smtClean="0"/>
              <a:t>                                                                                                                  ANGIO</a:t>
            </a:r>
          </a:p>
          <a:p>
            <a:pPr>
              <a:buNone/>
            </a:pPr>
            <a:r>
              <a:rPr dirty="0" sz="2000" lang="fr-FR" smtClean="0"/>
              <a:t>                                                                                                                       II</a:t>
            </a:r>
          </a:p>
          <a:p>
            <a:pPr>
              <a:buNone/>
            </a:pPr>
            <a:r>
              <a:rPr dirty="0" sz="1600" lang="fr-FR" smtClean="0"/>
              <a:t>                                                                                                                                </a:t>
            </a:r>
            <a:endParaRPr dirty="0" sz="2000" lang="fr-FR" smtClean="0"/>
          </a:p>
          <a:p>
            <a:pPr>
              <a:buNone/>
            </a:pPr>
            <a:r>
              <a:rPr dirty="0" sz="2000" lang="fr-FR" smtClean="0"/>
              <a:t>                                                                                                                                  </a:t>
            </a:r>
          </a:p>
          <a:p>
            <a:pPr>
              <a:buNone/>
            </a:pPr>
            <a:endParaRPr dirty="0" sz="2000" lang="fr-FR" smtClean="0"/>
          </a:p>
          <a:p>
            <a:pPr>
              <a:buNone/>
            </a:pPr>
            <a:r>
              <a:rPr dirty="0" sz="2000" lang="fr-FR" smtClean="0"/>
              <a:t>                                                             </a:t>
            </a:r>
          </a:p>
          <a:p>
            <a:pPr>
              <a:buNone/>
            </a:pPr>
            <a:r>
              <a:rPr dirty="0" sz="2000" lang="fr-FR" smtClean="0"/>
              <a:t>                                                                                                             AT1</a:t>
            </a:r>
          </a:p>
          <a:p>
            <a:pPr>
              <a:buNone/>
            </a:pPr>
            <a:endParaRPr dirty="0" sz="2000" lang="fr-FR" smtClean="0"/>
          </a:p>
          <a:p>
            <a:pPr>
              <a:buNone/>
            </a:pPr>
            <a:r>
              <a:rPr dirty="0" sz="2000" lang="fr-FR" smtClean="0"/>
              <a:t>                                              </a:t>
            </a:r>
            <a:endParaRPr dirty="0" sz="2000" lang="fr-FR"/>
          </a:p>
        </p:txBody>
      </p:sp>
      <p:sp>
        <p:nvSpPr>
          <p:cNvPr id="1048770" name="Rectangle 24"/>
          <p:cNvSpPr/>
          <p:nvPr/>
        </p:nvSpPr>
        <p:spPr>
          <a:xfrm>
            <a:off x="5786446" y="3500438"/>
            <a:ext cx="357190" cy="35719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sp>
        <p:nvSpPr>
          <p:cNvPr id="1048771" name="Rectangle 25"/>
          <p:cNvSpPr/>
          <p:nvPr/>
        </p:nvSpPr>
        <p:spPr>
          <a:xfrm>
            <a:off x="5357818" y="4000504"/>
            <a:ext cx="357190" cy="35719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sp>
        <p:nvSpPr>
          <p:cNvPr id="1048772" name="Rectangle 26"/>
          <p:cNvSpPr/>
          <p:nvPr/>
        </p:nvSpPr>
        <p:spPr>
          <a:xfrm>
            <a:off x="6286512" y="3786190"/>
            <a:ext cx="357190" cy="35719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cxnSp>
        <p:nvCxnSpPr>
          <p:cNvPr id="3145795" name="Connecteur droit 28"/>
          <p:cNvCxnSpPr>
            <a:cxnSpLocks/>
          </p:cNvCxnSpPr>
          <p:nvPr/>
        </p:nvCxnSpPr>
        <p:spPr>
          <a:xfrm>
            <a:off x="4714876" y="6000768"/>
            <a:ext cx="1643074" cy="1588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6" name="Connecteur droit 30"/>
          <p:cNvCxnSpPr>
            <a:cxnSpLocks/>
          </p:cNvCxnSpPr>
          <p:nvPr/>
        </p:nvCxnSpPr>
        <p:spPr>
          <a:xfrm rot="5400000">
            <a:off x="6180149" y="6178569"/>
            <a:ext cx="357190" cy="1588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7" name="Connecteur droit 32"/>
          <p:cNvCxnSpPr>
            <a:cxnSpLocks/>
          </p:cNvCxnSpPr>
          <p:nvPr/>
        </p:nvCxnSpPr>
        <p:spPr>
          <a:xfrm>
            <a:off x="6357950" y="6357958"/>
            <a:ext cx="500066" cy="1588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8" name="Connecteur droit 35"/>
          <p:cNvCxnSpPr>
            <a:cxnSpLocks/>
          </p:cNvCxnSpPr>
          <p:nvPr/>
        </p:nvCxnSpPr>
        <p:spPr>
          <a:xfrm rot="5400000" flipH="1" flipV="1">
            <a:off x="6680215" y="6178569"/>
            <a:ext cx="356396" cy="794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9" name="Connecteur droit 40"/>
          <p:cNvCxnSpPr>
            <a:cxnSpLocks/>
          </p:cNvCxnSpPr>
          <p:nvPr/>
        </p:nvCxnSpPr>
        <p:spPr>
          <a:xfrm>
            <a:off x="6858016" y="6000768"/>
            <a:ext cx="1357322" cy="1588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73" name="Rectangle 41"/>
          <p:cNvSpPr/>
          <p:nvPr/>
        </p:nvSpPr>
        <p:spPr>
          <a:xfrm>
            <a:off x="6000760" y="4286256"/>
            <a:ext cx="357190" cy="35719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sp>
        <p:nvSpPr>
          <p:cNvPr id="1048774" name="Rectangle 42"/>
          <p:cNvSpPr/>
          <p:nvPr/>
        </p:nvSpPr>
        <p:spPr>
          <a:xfrm>
            <a:off x="6429388" y="5929330"/>
            <a:ext cx="357190" cy="357190"/>
          </a:xfrm>
          <a:prstGeom prst="rect"/>
          <a:solidFill>
            <a:schemeClr val="accent2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cxnSp>
        <p:nvCxnSpPr>
          <p:cNvPr id="3145800" name="Connecteur droit avec flèche 23"/>
          <p:cNvCxnSpPr>
            <a:cxnSpLocks/>
          </p:cNvCxnSpPr>
          <p:nvPr/>
        </p:nvCxnSpPr>
        <p:spPr>
          <a:xfrm>
            <a:off x="1714480" y="2571744"/>
            <a:ext cx="928694" cy="158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Groupe 20"/>
          <p:cNvGrpSpPr/>
          <p:nvPr/>
        </p:nvGrpSpPr>
        <p:grpSpPr>
          <a:xfrm>
            <a:off x="1714480" y="1785926"/>
            <a:ext cx="857256" cy="1500198"/>
            <a:chOff x="2071670" y="1928802"/>
            <a:chExt cx="857256" cy="1500198"/>
          </a:xfrm>
        </p:grpSpPr>
        <p:cxnSp>
          <p:nvCxnSpPr>
            <p:cNvPr id="3145801" name="Connecteur droit avec flèche 6"/>
            <p:cNvCxnSpPr>
              <a:cxnSpLocks/>
            </p:cNvCxnSpPr>
            <p:nvPr/>
          </p:nvCxnSpPr>
          <p:spPr>
            <a:xfrm flipV="1">
              <a:off x="2071670" y="1928802"/>
              <a:ext cx="857256" cy="714380"/>
            </a:xfrm>
            <a:prstGeom prst="straightConnector1"/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802" name="Connecteur droit avec flèche 8"/>
            <p:cNvCxnSpPr>
              <a:cxnSpLocks/>
            </p:cNvCxnSpPr>
            <p:nvPr/>
          </p:nvCxnSpPr>
          <p:spPr>
            <a:xfrm>
              <a:off x="2071670" y="2714620"/>
              <a:ext cx="785818" cy="714380"/>
            </a:xfrm>
            <a:prstGeom prst="straightConnector1"/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775" name="Accolade fermante 39"/>
          <p:cNvSpPr/>
          <p:nvPr/>
        </p:nvSpPr>
        <p:spPr>
          <a:xfrm>
            <a:off x="5874414" y="1412776"/>
            <a:ext cx="785818" cy="1873348"/>
          </a:xfrm>
          <a:prstGeom prst="rightBrac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tlCol="0"/>
          <a:p>
            <a:pPr algn="ctr"/>
            <a:endParaRPr lang="fr-FR"/>
          </a:p>
        </p:txBody>
      </p:sp>
      <p:cxnSp>
        <p:nvCxnSpPr>
          <p:cNvPr id="3145803" name="Connecteur droit avec flèche 51"/>
          <p:cNvCxnSpPr>
            <a:cxnSpLocks/>
          </p:cNvCxnSpPr>
          <p:nvPr/>
        </p:nvCxnSpPr>
        <p:spPr>
          <a:xfrm rot="16200000" flipH="1">
            <a:off x="6985693" y="2240013"/>
            <a:ext cx="285752" cy="71438"/>
          </a:xfrm>
          <a:prstGeom prst="straightConnector1"/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78" name="Picture 2" descr="http://t0.gstatic.com/images?q=tbn:ANd9GcTQ14_8_WGyC-uJDPKaBbOzR6fJfpabrpvVAnGgrF2vLR_-6mN4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788037" y="2155429"/>
            <a:ext cx="963550" cy="720824"/>
          </a:xfrm>
          <a:prstGeom prst="rect"/>
          <a:noFill/>
        </p:spPr>
      </p:pic>
      <p:sp>
        <p:nvSpPr>
          <p:cNvPr id="1048776" name="Rectangle 4"/>
          <p:cNvSpPr/>
          <p:nvPr/>
        </p:nvSpPr>
        <p:spPr>
          <a:xfrm>
            <a:off x="-1" y="155248"/>
            <a:ext cx="9144001" cy="942340"/>
          </a:xfrm>
          <a:prstGeom prst="rect"/>
        </p:spPr>
        <p:txBody>
          <a:bodyPr wrap="square">
            <a:spAutoFit/>
          </a:bodyPr>
          <a:p>
            <a:pPr lvl="0">
              <a:spcBef>
                <a:spcPts val="600"/>
              </a:spcBef>
              <a:buClr>
                <a:srgbClr val="FE8637"/>
              </a:buClr>
              <a:buSzPct val="70000"/>
            </a:pPr>
            <a:r>
              <a:rPr b="1" dirty="0" sz="2400" lang="fr-FR">
                <a:solidFill>
                  <a:srgbClr val="C00000"/>
                </a:solidFill>
              </a:rPr>
              <a:t>- ANTAGONISTES DES RCP AT1 DE L’ANG II</a:t>
            </a:r>
          </a:p>
          <a:p>
            <a:pPr lvl="0">
              <a:spcBef>
                <a:spcPts val="600"/>
              </a:spcBef>
              <a:buClr>
                <a:srgbClr val="FE8637"/>
              </a:buClr>
              <a:buSzPct val="70000"/>
            </a:pPr>
            <a:r>
              <a:rPr b="1" dirty="0" sz="2800" lang="fr-FR">
                <a:solidFill>
                  <a:prstClr val="black"/>
                </a:solidFill>
              </a:rPr>
              <a:t>          Les  « </a:t>
            </a:r>
            <a:r>
              <a:rPr b="1" dirty="0" sz="2800" lang="fr-FR" err="1">
                <a:solidFill>
                  <a:prstClr val="black"/>
                </a:solidFill>
              </a:rPr>
              <a:t>Sartans</a:t>
            </a:r>
            <a:r>
              <a:rPr b="1" dirty="0" sz="2800" lang="fr-FR">
                <a:solidFill>
                  <a:prstClr val="black"/>
                </a:solidFill>
              </a:rPr>
              <a:t> »</a:t>
            </a:r>
          </a:p>
        </p:txBody>
      </p:sp>
      <p:sp>
        <p:nvSpPr>
          <p:cNvPr id="1048777" name="Rectangle 5"/>
          <p:cNvSpPr/>
          <p:nvPr/>
        </p:nvSpPr>
        <p:spPr>
          <a:xfrm>
            <a:off x="214298" y="4643446"/>
            <a:ext cx="4572000" cy="1513840"/>
          </a:xfrm>
          <a:prstGeom prst="rect"/>
        </p:spPr>
        <p:txBody>
          <a:bodyPr>
            <a:spAutoFit/>
          </a:bodyPr>
          <a:p>
            <a:r>
              <a:rPr b="1" dirty="0" sz="2400" lang="fr-FR" err="1">
                <a:solidFill>
                  <a:srgbClr val="7030A0"/>
                </a:solidFill>
              </a:rPr>
              <a:t>Losartan</a:t>
            </a:r>
            <a:r>
              <a:rPr b="1" dirty="0" sz="2400" lang="fr-FR">
                <a:solidFill>
                  <a:srgbClr val="7030A0"/>
                </a:solidFill>
              </a:rPr>
              <a:t> (COZAAR</a:t>
            </a:r>
            <a:r>
              <a:rPr b="1" dirty="0" sz="2400" lang="fr-FR" smtClean="0">
                <a:solidFill>
                  <a:srgbClr val="7030A0"/>
                </a:solidFill>
              </a:rPr>
              <a:t>®) </a:t>
            </a:r>
          </a:p>
          <a:p>
            <a:r>
              <a:rPr b="1" dirty="0" sz="2400" lang="fr-FR" err="1" smtClean="0">
                <a:solidFill>
                  <a:srgbClr val="7030A0"/>
                </a:solidFill>
              </a:rPr>
              <a:t>Irbésartan</a:t>
            </a:r>
            <a:r>
              <a:rPr b="1" dirty="0" sz="2400" lang="fr-FR" smtClean="0">
                <a:solidFill>
                  <a:srgbClr val="7030A0"/>
                </a:solidFill>
              </a:rPr>
              <a:t> </a:t>
            </a:r>
            <a:r>
              <a:rPr b="1" dirty="0" sz="2400" lang="fr-FR">
                <a:solidFill>
                  <a:srgbClr val="7030A0"/>
                </a:solidFill>
              </a:rPr>
              <a:t>(APROVEL</a:t>
            </a:r>
            <a:r>
              <a:rPr b="1" dirty="0" sz="2400" lang="fr-FR" smtClean="0">
                <a:solidFill>
                  <a:srgbClr val="7030A0"/>
                </a:solidFill>
              </a:rPr>
              <a:t>®) </a:t>
            </a:r>
          </a:p>
          <a:p>
            <a:r>
              <a:rPr b="1" dirty="0" sz="2400" lang="fr-FR" err="1" smtClean="0">
                <a:solidFill>
                  <a:srgbClr val="7030A0"/>
                </a:solidFill>
              </a:rPr>
              <a:t>Valsartran</a:t>
            </a:r>
            <a:r>
              <a:rPr b="1" dirty="0" sz="2400" lang="fr-FR" smtClean="0">
                <a:solidFill>
                  <a:srgbClr val="7030A0"/>
                </a:solidFill>
              </a:rPr>
              <a:t> </a:t>
            </a:r>
            <a:r>
              <a:rPr b="1" dirty="0" sz="2400" lang="fr-FR">
                <a:solidFill>
                  <a:srgbClr val="7030A0"/>
                </a:solidFill>
              </a:rPr>
              <a:t>(COTAREG</a:t>
            </a:r>
            <a:r>
              <a:rPr b="1" dirty="0" sz="2400" lang="fr-FR" smtClean="0">
                <a:solidFill>
                  <a:srgbClr val="7030A0"/>
                </a:solidFill>
              </a:rPr>
              <a:t>®) </a:t>
            </a:r>
          </a:p>
          <a:p>
            <a:r>
              <a:rPr b="1" dirty="0" sz="2400" lang="fr-FR" err="1" smtClean="0">
                <a:solidFill>
                  <a:srgbClr val="7030A0"/>
                </a:solidFill>
              </a:rPr>
              <a:t>Eprosartran</a:t>
            </a:r>
            <a:r>
              <a:rPr b="1" dirty="0" sz="2400" lang="fr-FR" smtClean="0">
                <a:solidFill>
                  <a:srgbClr val="7030A0"/>
                </a:solidFill>
              </a:rPr>
              <a:t> </a:t>
            </a:r>
            <a:r>
              <a:rPr b="1" dirty="0" sz="2400" lang="fr-FR">
                <a:solidFill>
                  <a:srgbClr val="7030A0"/>
                </a:solidFill>
              </a:rPr>
              <a:t>(TEVETEN</a:t>
            </a:r>
            <a:r>
              <a:rPr b="1" dirty="0" sz="2400" lang="fr-FR" smtClean="0">
                <a:solidFill>
                  <a:srgbClr val="7030A0"/>
                </a:solidFill>
              </a:rPr>
              <a:t>®)</a:t>
            </a:r>
            <a:endParaRPr b="1" dirty="0" sz="2400" lang="fr-FR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accel="50000" decel="50000" fill="hold" grpId="0" id="5" nodeType="clickEffect" presetClass="path" presetID="22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59 0.00602 C 0.04358 0.00602 0.07066 0.04213 0.07066 0.08611 C 0.07066 0.13796 0.04063 0.15671 0.02257 0.16458 L -0.00138 0.17268 C -0.01944 0.18079 -0.04947 0.20069 -0.04947 0.25926 C -0.04947 0.29676 -0.02239 0.33935 0.01059 0.33935 C 0.04358 0.33935 0.07066 0.29676 0.07066 0.25926 C 0.07066 0.20069 0.04063 0.18079 0.02257 0.17268 L -0.00138 0.16458 C -0.01944 0.15671 -0.04947 0.13796 -0.04947 0.08611 C -0.04947 0.04213 -0.02239 0.00602 0.01059 0.00602 Z " pathEditMode="relative" rAng="0" ptsTypes="ffFffffFfff">
                                      <p:cBhvr>
                                        <p:cTn dur="2000" fill="hold" id="6"/>
                                        <p:tgtEl>
                                          <p:spTgt spid="104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7"/>
                                    </p:animMotion>
                                  </p:childTnLst>
                                </p:cTn>
                              </p:par>
                              <p:par>
                                <p:cTn accel="50000" decel="50000" fill="hold" grpId="0" id="7" nodeType="withEffect" presetClass="path" presetID="22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C 0.033 0  0.06 0.036  0.06 0.08  C 0.06 0.132  0.03 0.15067  0.012 0.15867  L -0.012 0.16667  C -0.03 0.17467  -0.06 0.19467  -0.06 0.25333  C -0.06 0.29067  -0.033 0.33333  0 0.33333  C 0.033 0.33333  0.06 0.29067  0.06 0.25333  C 0.06 0.19467  0.03 0.17467  0.012 0.16667  L -0.012 0.15867  C -0.03 0.15067  -0.06 0.132  -0.06 0.08  C -0.06 0.036  -0.033 0  0 0  Z" pathEditMode="relative" ptsTypes="">
                                      <p:cBhvr>
                                        <p:cTn dur="2000" fill="hold" id="8"/>
                                        <p:tgtEl>
                                          <p:spTgt spid="10487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accel="50000" decel="50000" fill="hold" grpId="0" id="9" nodeType="withEffect" presetClass="path" presetID="22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C 0.033 0  0.06 0.036  0.06 0.08  C 0.06 0.132  0.03 0.15067  0.012 0.15867  L -0.012 0.16667  C -0.03 0.17467  -0.06 0.19467  -0.06 0.25333  C -0.06 0.29067  -0.033 0.33333  0 0.33333  C 0.033 0.33333  0.06 0.29067  0.06 0.25333  C 0.06 0.19467  0.03 0.17467  0.012 0.16667  L -0.012 0.15867  C -0.03 0.15067  -0.06 0.132  -0.06 0.08  C -0.06 0.036  -0.033 0  0 0  Z" pathEditMode="relative" ptsTypes="">
                                      <p:cBhvr>
                                        <p:cTn dur="2000" fill="hold" id="10"/>
                                        <p:tgtEl>
                                          <p:spTgt spid="104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accel="50000" decel="50000" fill="hold" grpId="0" id="11" nodeType="withEffect" presetClass="path" presetID="22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C 0.033 0  0.06 0.036  0.06 0.08  C 0.06 0.132  0.03 0.15067  0.012 0.15867  L -0.012 0.16667  C -0.03 0.17467  -0.06 0.19467  -0.06 0.25333  C -0.06 0.29067  -0.033 0.33333  0 0.33333  C 0.033 0.33333  0.06 0.29067  0.06 0.25333  C 0.06 0.19467  0.03 0.17467  0.012 0.16667  L -0.012 0.15867  C -0.03 0.15067  -0.06 0.132  -0.06 0.08  C -0.06 0.036  -0.033 0  0 0  Z" pathEditMode="relative" ptsTypes="">
                                      <p:cBhvr>
                                        <p:cTn dur="2000" fill="hold" id="12"/>
                                        <p:tgtEl>
                                          <p:spTgt spid="10487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4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000" id="17"/>
                                        <p:tgtEl>
                                          <p:spTgt spid="2097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2000" fill="hold" id="18"/>
                                        <p:tgtEl>
                                          <p:spTgt spid="2097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2000" fill="hold" id="19"/>
                                        <p:tgtEl>
                                          <p:spTgt spid="2097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70" grpId="0" animBg="1"/>
      <p:bldP spid="1048771" grpId="0" animBg="1"/>
      <p:bldP spid="1048772" grpId="0" animBg="1"/>
      <p:bldP spid="104877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Titre 1"/>
          <p:cNvSpPr>
            <a:spLocks noGrp="1"/>
          </p:cNvSpPr>
          <p:nvPr>
            <p:ph type="title"/>
          </p:nvPr>
        </p:nvSpPr>
        <p:spPr>
          <a:xfrm>
            <a:off x="-36512" y="-387424"/>
            <a:ext cx="7929809" cy="1143000"/>
          </a:xfrm>
        </p:spPr>
        <p:txBody>
          <a:bodyPr/>
          <a:p>
            <a:r>
              <a:rPr b="1" dirty="0" lang="fr-FR" smtClean="0">
                <a:solidFill>
                  <a:srgbClr val="7030A0"/>
                </a:solidFill>
              </a:rPr>
              <a:t>C) LES ANTAGONISTES CALCIQUES:</a:t>
            </a:r>
            <a:endParaRPr b="1" dirty="0" lang="fr-FR">
              <a:solidFill>
                <a:srgbClr val="7030A0"/>
              </a:solidFill>
            </a:endParaRPr>
          </a:p>
        </p:txBody>
      </p:sp>
      <p:sp>
        <p:nvSpPr>
          <p:cNvPr id="1048779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24522" y="1600200"/>
            <a:ext cx="9044022" cy="4873752"/>
          </a:xfrm>
        </p:spPr>
        <p:txBody>
          <a:bodyPr/>
          <a:p>
            <a:pPr>
              <a:buNone/>
            </a:pPr>
            <a:r>
              <a:rPr dirty="0" lang="fr-FR" smtClean="0"/>
              <a:t>1)</a:t>
            </a:r>
            <a:r>
              <a:rPr dirty="0" lang="fr-FR" err="1" smtClean="0"/>
              <a:t>DHP:</a:t>
            </a:r>
            <a:r>
              <a:rPr b="1" dirty="0" lang="fr-FR" err="1" smtClean="0"/>
              <a:t>NIFEDIPINE</a:t>
            </a:r>
            <a:r>
              <a:rPr dirty="0" lang="fr-FR" smtClean="0"/>
              <a:t>(</a:t>
            </a:r>
            <a:r>
              <a:rPr dirty="0" lang="fr-FR" err="1" smtClean="0"/>
              <a:t>ADALATE</a:t>
            </a:r>
            <a:r>
              <a:rPr dirty="0" lang="fr-FR" smtClean="0"/>
              <a:t>*)            Vaisseaux</a:t>
            </a:r>
          </a:p>
          <a:p>
            <a:pPr>
              <a:buNone/>
            </a:pPr>
            <a:endParaRPr dirty="0" lang="fr-FR" smtClean="0"/>
          </a:p>
          <a:p>
            <a:endParaRPr dirty="0" lang="fr-FR" smtClean="0"/>
          </a:p>
          <a:p>
            <a:pPr>
              <a:buNone/>
            </a:pPr>
            <a:r>
              <a:rPr dirty="0" lang="fr-FR" smtClean="0"/>
              <a:t>2)</a:t>
            </a:r>
            <a:r>
              <a:rPr dirty="0" lang="fr-FR" err="1" smtClean="0"/>
              <a:t>Phenylalkylamine</a:t>
            </a:r>
            <a:r>
              <a:rPr dirty="0" lang="fr-FR" smtClean="0"/>
              <a:t>: </a:t>
            </a:r>
            <a:r>
              <a:rPr b="1" dirty="0" lang="fr-FR" smtClean="0"/>
              <a:t>VERAPAMIL </a:t>
            </a:r>
            <a:r>
              <a:rPr dirty="0" lang="fr-FR" smtClean="0"/>
              <a:t>(ISOPTINE*)       Cœur</a:t>
            </a:r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dirty="0" lang="fr-FR" smtClean="0"/>
              <a:t>3)</a:t>
            </a:r>
            <a:r>
              <a:rPr dirty="0" lang="fr-FR" err="1" smtClean="0"/>
              <a:t>Benzothiazepines</a:t>
            </a:r>
            <a:r>
              <a:rPr dirty="0" lang="fr-FR" smtClean="0"/>
              <a:t>: </a:t>
            </a:r>
            <a:r>
              <a:rPr b="1" dirty="0" lang="fr-FR" smtClean="0"/>
              <a:t>DILTIAZEM </a:t>
            </a:r>
            <a:r>
              <a:rPr dirty="0" lang="fr-FR" smtClean="0"/>
              <a:t>(TILDIEM*)        Mixte</a:t>
            </a:r>
            <a:endParaRPr dirty="0" lang="fr-FR"/>
          </a:p>
        </p:txBody>
      </p:sp>
      <p:pic>
        <p:nvPicPr>
          <p:cNvPr id="2097179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532878" y="142852"/>
            <a:ext cx="1071570" cy="1198015"/>
          </a:xfrm>
          <a:prstGeom prst="rect"/>
          <a:noFill/>
        </p:spPr>
      </p:pic>
      <p:grpSp>
        <p:nvGrpSpPr>
          <p:cNvPr id="136" name="Groupe 19"/>
          <p:cNvGrpSpPr/>
          <p:nvPr/>
        </p:nvGrpSpPr>
        <p:grpSpPr>
          <a:xfrm>
            <a:off x="5652120" y="1858952"/>
            <a:ext cx="2448272" cy="2643206"/>
            <a:chOff x="5411586" y="1858952"/>
            <a:chExt cx="2448272" cy="2643206"/>
          </a:xfrm>
        </p:grpSpPr>
        <p:cxnSp>
          <p:nvCxnSpPr>
            <p:cNvPr id="3145804" name="Connecteur droit avec flèche 5"/>
            <p:cNvCxnSpPr>
              <a:cxnSpLocks/>
            </p:cNvCxnSpPr>
            <p:nvPr/>
          </p:nvCxnSpPr>
          <p:spPr>
            <a:xfrm>
              <a:off x="5411586" y="1858952"/>
              <a:ext cx="589174" cy="0"/>
            </a:xfrm>
            <a:prstGeom prst="straightConnector1"/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805" name="Connecteur droit avec flèche 7"/>
            <p:cNvCxnSpPr>
              <a:cxnSpLocks/>
            </p:cNvCxnSpPr>
            <p:nvPr/>
          </p:nvCxnSpPr>
          <p:spPr>
            <a:xfrm>
              <a:off x="7431230" y="3140968"/>
              <a:ext cx="428628" cy="1588"/>
            </a:xfrm>
            <a:prstGeom prst="straightConnector1"/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806" name="Connecteur droit avec flèche 15"/>
            <p:cNvCxnSpPr>
              <a:cxnSpLocks/>
            </p:cNvCxnSpPr>
            <p:nvPr/>
          </p:nvCxnSpPr>
          <p:spPr>
            <a:xfrm>
              <a:off x="7142628" y="4500570"/>
              <a:ext cx="357190" cy="1588"/>
            </a:xfrm>
            <a:prstGeom prst="straightConnector1"/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cover/>
  </p:transition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Mécanisme d’action: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781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571612"/>
            <a:ext cx="8686800" cy="4873752"/>
          </a:xfrm>
        </p:spPr>
        <p:txBody>
          <a:bodyPr/>
          <a:p>
            <a:pPr>
              <a:buNone/>
            </a:pPr>
            <a:endParaRPr dirty="0" lang="fr-FR" smtClean="0"/>
          </a:p>
          <a:p>
            <a:endParaRPr dirty="0" lang="fr-FR" smtClean="0"/>
          </a:p>
          <a:p>
            <a:endParaRPr dirty="0" lang="fr-FR" smtClean="0"/>
          </a:p>
          <a:p>
            <a:pPr>
              <a:buNone/>
            </a:pPr>
            <a:r>
              <a:rPr dirty="0" lang="fr-FR" smtClean="0"/>
              <a:t>Ca </a:t>
            </a:r>
            <a:r>
              <a:rPr dirty="0" lang="fr-FR" err="1" smtClean="0"/>
              <a:t>Ca</a:t>
            </a:r>
            <a:r>
              <a:rPr dirty="0" lang="fr-FR" smtClean="0"/>
              <a:t>        L</a:t>
            </a:r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endParaRPr dirty="0" lang="fr-FR" smtClean="0"/>
          </a:p>
          <a:p>
            <a:pPr>
              <a:buNone/>
            </a:pPr>
            <a:r>
              <a:rPr dirty="0" lang="fr-FR" smtClean="0"/>
              <a:t>Ca </a:t>
            </a:r>
            <a:r>
              <a:rPr dirty="0" lang="fr-FR" err="1" smtClean="0"/>
              <a:t>Ca</a:t>
            </a:r>
            <a:r>
              <a:rPr dirty="0" lang="fr-FR" smtClean="0"/>
              <a:t>       L</a:t>
            </a:r>
            <a:endParaRPr dirty="0" lang="fr-FR"/>
          </a:p>
        </p:txBody>
      </p:sp>
      <p:pic>
        <p:nvPicPr>
          <p:cNvPr id="2097180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820910" y="142852"/>
            <a:ext cx="1071570" cy="1198015"/>
          </a:xfrm>
          <a:prstGeom prst="rect"/>
          <a:noFill/>
        </p:spPr>
      </p:pic>
      <p:sp>
        <p:nvSpPr>
          <p:cNvPr id="1048782" name="Arc 7"/>
          <p:cNvSpPr/>
          <p:nvPr/>
        </p:nvSpPr>
        <p:spPr>
          <a:xfrm rot="10800000">
            <a:off x="1571604" y="2071678"/>
            <a:ext cx="642942" cy="4071966"/>
          </a:xfrm>
          <a:prstGeom prst="arc">
            <a:avLst>
              <a:gd name="adj1" fmla="val 16084516"/>
              <a:gd name="adj2" fmla="val 551475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 rtlCol="0"/>
          <a:p>
            <a:pPr algn="ctr"/>
            <a:endParaRPr lang="fr-FR"/>
          </a:p>
        </p:txBody>
      </p:sp>
      <p:sp>
        <p:nvSpPr>
          <p:cNvPr id="1048783" name="Rectangle 8"/>
          <p:cNvSpPr/>
          <p:nvPr/>
        </p:nvSpPr>
        <p:spPr>
          <a:xfrm>
            <a:off x="2357422" y="1785926"/>
            <a:ext cx="6786578" cy="428628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lang="fr-FR" smtClean="0"/>
              <a:t>               CŒUR :               CHRONOTROPE(_)</a:t>
            </a:r>
          </a:p>
          <a:p>
            <a:pPr algn="ctr"/>
            <a:r>
              <a:rPr dirty="0" lang="fr-FR" smtClean="0"/>
              <a:t>                                           DROMOTROPE(_)</a:t>
            </a:r>
          </a:p>
          <a:p>
            <a:pPr algn="ctr"/>
            <a:endParaRPr dirty="0" lang="fr-FR" smtClean="0"/>
          </a:p>
          <a:p>
            <a:pPr algn="ctr"/>
            <a:endParaRPr dirty="0" lang="fr-FR" smtClean="0"/>
          </a:p>
          <a:p>
            <a:pPr algn="ctr"/>
            <a:endParaRPr dirty="0" lang="fr-FR" smtClean="0"/>
          </a:p>
          <a:p>
            <a:pPr algn="ctr"/>
            <a:endParaRPr dirty="0" lang="fr-FR" smtClean="0"/>
          </a:p>
          <a:p>
            <a:pPr algn="ctr"/>
            <a:endParaRPr dirty="0" lang="fr-FR" smtClean="0"/>
          </a:p>
          <a:p>
            <a:pPr algn="ctr"/>
            <a:endParaRPr dirty="0" lang="fr-FR" smtClean="0"/>
          </a:p>
          <a:p>
            <a:pPr algn="ctr"/>
            <a:endParaRPr dirty="0" lang="fr-FR" smtClean="0"/>
          </a:p>
          <a:p>
            <a:pPr algn="ctr"/>
            <a:endParaRPr dirty="0" lang="fr-FR" smtClean="0"/>
          </a:p>
          <a:p>
            <a:pPr algn="ctr"/>
            <a:r>
              <a:rPr dirty="0" lang="fr-FR" smtClean="0"/>
              <a:t>      </a:t>
            </a:r>
          </a:p>
          <a:p>
            <a:pPr algn="ctr"/>
            <a:r>
              <a:rPr dirty="0" sz="2000" lang="fr-FR" smtClean="0"/>
              <a:t>                    VAISSEAUX:     Relaxation du muscle lisse</a:t>
            </a:r>
          </a:p>
          <a:p>
            <a:pPr algn="ctr"/>
            <a:r>
              <a:rPr dirty="0" sz="2000" lang="fr-FR" err="1" smtClean="0"/>
              <a:t>arteriolaire</a:t>
            </a:r>
            <a:r>
              <a:rPr dirty="0" sz="2000" lang="fr-FR" smtClean="0"/>
              <a:t>              </a:t>
            </a:r>
            <a:r>
              <a:rPr dirty="0" sz="2000" lang="fr-FR" err="1" smtClean="0"/>
              <a:t>Fc</a:t>
            </a:r>
            <a:endParaRPr dirty="0" sz="2000" lang="fr-FR" smtClean="0"/>
          </a:p>
          <a:p>
            <a:pPr algn="ctr"/>
            <a:endParaRPr dirty="0" lang="fr-FR"/>
          </a:p>
        </p:txBody>
      </p:sp>
      <p:cxnSp>
        <p:nvCxnSpPr>
          <p:cNvPr id="3145807" name="Connecteur droit 18"/>
          <p:cNvCxnSpPr>
            <a:cxnSpLocks/>
          </p:cNvCxnSpPr>
          <p:nvPr/>
        </p:nvCxnSpPr>
        <p:spPr>
          <a:xfrm>
            <a:off x="1428728" y="3000372"/>
            <a:ext cx="428628" cy="1588"/>
          </a:xfrm>
          <a:prstGeom prst="line"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8" name="Connecteur droit 23"/>
          <p:cNvCxnSpPr>
            <a:cxnSpLocks/>
          </p:cNvCxnSpPr>
          <p:nvPr/>
        </p:nvCxnSpPr>
        <p:spPr>
          <a:xfrm>
            <a:off x="1428728" y="3143248"/>
            <a:ext cx="428628" cy="1588"/>
          </a:xfrm>
          <a:prstGeom prst="line"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9" name="Connecteur droit 25"/>
          <p:cNvCxnSpPr>
            <a:cxnSpLocks/>
          </p:cNvCxnSpPr>
          <p:nvPr/>
        </p:nvCxnSpPr>
        <p:spPr>
          <a:xfrm>
            <a:off x="1478506" y="4436664"/>
            <a:ext cx="357190" cy="1588"/>
          </a:xfrm>
          <a:prstGeom prst="line"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10" name="Connecteur droit 27"/>
          <p:cNvCxnSpPr>
            <a:cxnSpLocks/>
          </p:cNvCxnSpPr>
          <p:nvPr/>
        </p:nvCxnSpPr>
        <p:spPr>
          <a:xfrm>
            <a:off x="1478506" y="4579540"/>
            <a:ext cx="357190" cy="1588"/>
          </a:xfrm>
          <a:prstGeom prst="line"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84" name="Flèche droite 37"/>
          <p:cNvSpPr/>
          <p:nvPr/>
        </p:nvSpPr>
        <p:spPr>
          <a:xfrm>
            <a:off x="2411760" y="3490178"/>
            <a:ext cx="714380" cy="285752"/>
          </a:xfrm>
          <a:prstGeom prst="rightArrow"/>
          <a:solidFill>
            <a:srgbClr val="FF0000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/>
          </a:p>
        </p:txBody>
      </p:sp>
      <p:cxnSp>
        <p:nvCxnSpPr>
          <p:cNvPr id="3145811" name="Connecteur en arc 43"/>
          <p:cNvCxnSpPr>
            <a:cxnSpLocks/>
          </p:cNvCxnSpPr>
          <p:nvPr/>
        </p:nvCxnSpPr>
        <p:spPr>
          <a:xfrm rot="16200000" flipH="1">
            <a:off x="2743491" y="4264787"/>
            <a:ext cx="1357322" cy="571504"/>
          </a:xfrm>
          <a:prstGeom prst="curvedConnector3">
            <a:avLst>
              <a:gd name="adj1" fmla="val 50000"/>
            </a:avLst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12" name="Connecteur en arc 46"/>
          <p:cNvCxnSpPr>
            <a:cxnSpLocks/>
          </p:cNvCxnSpPr>
          <p:nvPr/>
        </p:nvCxnSpPr>
        <p:spPr>
          <a:xfrm rot="5400000" flipH="1" flipV="1">
            <a:off x="2851787" y="2418608"/>
            <a:ext cx="1285884" cy="714380"/>
          </a:xfrm>
          <a:prstGeom prst="curvedConnector3">
            <a:avLst>
              <a:gd name="adj1" fmla="val 50000"/>
            </a:avLst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85" name="Interdiction 51"/>
          <p:cNvSpPr/>
          <p:nvPr/>
        </p:nvSpPr>
        <p:spPr>
          <a:xfrm>
            <a:off x="1142976" y="3356992"/>
            <a:ext cx="914400" cy="914400"/>
          </a:xfrm>
          <a:prstGeom prst="noSmoking"/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138" name="Groupe 24"/>
          <p:cNvGrpSpPr/>
          <p:nvPr/>
        </p:nvGrpSpPr>
        <p:grpSpPr>
          <a:xfrm>
            <a:off x="5940152" y="5374926"/>
            <a:ext cx="648072" cy="214314"/>
            <a:chOff x="6072198" y="5232050"/>
            <a:chExt cx="648072" cy="214314"/>
          </a:xfrm>
        </p:grpSpPr>
        <p:cxnSp>
          <p:nvCxnSpPr>
            <p:cNvPr id="3145813" name="Connecteur droit avec flèche 53"/>
            <p:cNvCxnSpPr>
              <a:cxnSpLocks/>
            </p:cNvCxnSpPr>
            <p:nvPr/>
          </p:nvCxnSpPr>
          <p:spPr>
            <a:xfrm>
              <a:off x="6072198" y="5357826"/>
              <a:ext cx="357190" cy="1588"/>
            </a:xfrm>
            <a:prstGeom prst="straightConnector1"/>
            <a:ln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814" name="Connecteur droit avec flèche 55"/>
            <p:cNvCxnSpPr>
              <a:cxnSpLocks/>
            </p:cNvCxnSpPr>
            <p:nvPr/>
          </p:nvCxnSpPr>
          <p:spPr>
            <a:xfrm rot="5400000" flipH="1" flipV="1">
              <a:off x="6505956" y="5232050"/>
              <a:ext cx="214314" cy="214314"/>
            </a:xfrm>
            <a:prstGeom prst="straightConnector1"/>
            <a:ln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786" name="Titre 1"/>
          <p:cNvSpPr txBox="1"/>
          <p:nvPr/>
        </p:nvSpPr>
        <p:spPr>
          <a:xfrm>
            <a:off x="-36512" y="-387424"/>
            <a:ext cx="7929809" cy="1143000"/>
          </a:xfrm>
          <a:prstGeom prst="rect"/>
        </p:spPr>
        <p:txBody>
          <a:bodyPr anchor="b" vert="horz">
            <a:normAutofit/>
          </a:bodyPr>
          <a:lstStyle>
            <a:lvl1pPr algn="l" eaLnBrk="1" hangingPunct="1" latinLnBrk="0" rtl="0">
              <a:spcBef>
                <a:spcPct val="0"/>
              </a:spcBef>
              <a:buNone/>
              <a:defRPr baseline="0" b="0" cap="small" sz="3000" kern="1200" kumimoji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 lang="fr-FR" smtClean="0">
                <a:solidFill>
                  <a:srgbClr val="7030A0"/>
                </a:solidFill>
              </a:rPr>
              <a:t>C) LES ANTAGONISTES CALCIQUES:</a:t>
            </a:r>
            <a:endParaRPr b="1" dirty="0" lang="fr-FR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5000" id="7"/>
                                        <p:tgtEl>
                                          <p:spTgt spid="1048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lang="fr-FR" smtClean="0">
                <a:solidFill>
                  <a:srgbClr val="FF0000"/>
                </a:solidFill>
              </a:rPr>
              <a:t>INTERACTIONS MEDICAMENTEUSES: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788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/>
          <a:p>
            <a:pPr>
              <a:buNone/>
            </a:pPr>
            <a:r>
              <a:rPr dirty="0" lang="fr-FR" smtClean="0"/>
              <a:t>AT Ca + </a:t>
            </a:r>
            <a:r>
              <a:rPr dirty="0" lang="el-GR" smtClean="0"/>
              <a:t>βb</a:t>
            </a:r>
            <a:r>
              <a:rPr dirty="0" lang="en-GB" err="1" smtClean="0"/>
              <a:t>loquant</a:t>
            </a:r>
            <a:r>
              <a:rPr dirty="0" lang="en-GB" smtClean="0"/>
              <a:t> = aggravation de </a:t>
            </a:r>
            <a:r>
              <a:rPr dirty="0" lang="en-GB" err="1" smtClean="0"/>
              <a:t>l’effet</a:t>
            </a:r>
            <a:r>
              <a:rPr dirty="0" lang="en-GB" smtClean="0"/>
              <a:t> inotrope(_)</a:t>
            </a:r>
          </a:p>
          <a:p>
            <a:pPr>
              <a:buNone/>
            </a:pPr>
            <a:endParaRPr dirty="0" lang="en-GB" smtClean="0"/>
          </a:p>
          <a:p>
            <a:pPr>
              <a:buNone/>
            </a:pPr>
            <a:r>
              <a:rPr dirty="0" lang="en-GB" smtClean="0"/>
              <a:t>Verapamil, </a:t>
            </a:r>
            <a:r>
              <a:rPr dirty="0" lang="en-GB" err="1" smtClean="0"/>
              <a:t>diltiazem</a:t>
            </a:r>
            <a:r>
              <a:rPr dirty="0" lang="en-GB" smtClean="0"/>
              <a:t> +</a:t>
            </a:r>
            <a:r>
              <a:rPr dirty="0" lang="en-GB" err="1" smtClean="0"/>
              <a:t>autre</a:t>
            </a:r>
            <a:r>
              <a:rPr dirty="0" lang="en-GB" smtClean="0"/>
              <a:t> </a:t>
            </a:r>
            <a:r>
              <a:rPr dirty="0" lang="en-GB" err="1" smtClean="0"/>
              <a:t>antiarythmique</a:t>
            </a:r>
            <a:r>
              <a:rPr dirty="0" lang="en-GB" smtClean="0"/>
              <a:t> = surveillance</a:t>
            </a:r>
            <a:r>
              <a:rPr dirty="0" lang="en-GB" smtClean="0">
                <a:solidFill>
                  <a:schemeClr val="accent1">
                    <a:lumMod val="75000"/>
                  </a:schemeClr>
                </a:solidFill>
              </a:rPr>
              <a:t>   </a:t>
            </a:r>
            <a:endParaRPr dirty="0" lang="fr-FR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97181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</p:spTree>
  </p:cSld>
  <p:clrMapOvr>
    <a:masterClrMapping/>
  </p:clrMapOvr>
  <p:transition spd="slow">
    <p:cover/>
  </p:transition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Titre 1"/>
          <p:cNvSpPr>
            <a:spLocks noGrp="1"/>
          </p:cNvSpPr>
          <p:nvPr>
            <p:ph type="title"/>
          </p:nvPr>
        </p:nvSpPr>
        <p:spPr>
          <a:xfrm>
            <a:off x="107504" y="-99392"/>
            <a:ext cx="7467600" cy="1143000"/>
          </a:xfrm>
        </p:spPr>
        <p:txBody>
          <a:bodyPr>
            <a:normAutofit/>
          </a:bodyPr>
          <a:p>
            <a:r>
              <a:rPr dirty="0" sz="3200" lang="fr-FR" smtClean="0">
                <a:solidFill>
                  <a:srgbClr val="7030A0"/>
                </a:solidFill>
              </a:rPr>
              <a:t>d)Vasodilatateurs directs</a:t>
            </a:r>
            <a:endParaRPr dirty="0" sz="3200" lang="fr-FR">
              <a:solidFill>
                <a:srgbClr val="7030A0"/>
              </a:solidFill>
            </a:endParaRPr>
          </a:p>
        </p:txBody>
      </p:sp>
      <p:sp>
        <p:nvSpPr>
          <p:cNvPr id="1048790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686800" cy="4873752"/>
          </a:xfrm>
        </p:spPr>
        <p:txBody>
          <a:bodyPr/>
          <a:p>
            <a:pPr>
              <a:buNone/>
            </a:pPr>
            <a:r>
              <a:rPr dirty="0" lang="fr-FR" smtClean="0">
                <a:solidFill>
                  <a:srgbClr val="FF0000"/>
                </a:solidFill>
              </a:rPr>
              <a:t>Activateur potassique: MINOXIDIL(LONOTEN*)</a:t>
            </a:r>
          </a:p>
          <a:p>
            <a:pPr>
              <a:buNone/>
            </a:pPr>
            <a:r>
              <a:rPr dirty="0" lang="fr-FR" err="1" smtClean="0"/>
              <a:t>Minoxidil</a:t>
            </a:r>
            <a:r>
              <a:rPr dirty="0" lang="fr-FR" smtClean="0"/>
              <a:t>            </a:t>
            </a:r>
            <a:r>
              <a:rPr dirty="0" lang="fr-FR" err="1" smtClean="0"/>
              <a:t>Minoxidil</a:t>
            </a:r>
            <a:r>
              <a:rPr dirty="0" lang="fr-FR" smtClean="0"/>
              <a:t> N O sulfate            sortie </a:t>
            </a:r>
          </a:p>
          <a:p>
            <a:pPr>
              <a:buNone/>
            </a:pPr>
            <a:r>
              <a:rPr dirty="0" lang="fr-FR" smtClean="0"/>
              <a:t>K+        Hyperpolarisation et </a:t>
            </a:r>
            <a:r>
              <a:rPr dirty="0" lang="fr-FR" err="1" smtClean="0"/>
              <a:t>relachement</a:t>
            </a:r>
            <a:endParaRPr dirty="0" lang="fr-FR" smtClean="0"/>
          </a:p>
          <a:p>
            <a:endParaRPr dirty="0" lang="fr-FR" smtClean="0"/>
          </a:p>
          <a:p>
            <a:pPr>
              <a:buNone/>
            </a:pPr>
            <a:r>
              <a:rPr dirty="0" lang="fr-FR"/>
              <a:t> </a:t>
            </a:r>
            <a:r>
              <a:rPr dirty="0" lang="fr-FR" smtClean="0"/>
              <a:t>         +</a:t>
            </a:r>
            <a:r>
              <a:rPr dirty="0" lang="el-GR" smtClean="0"/>
              <a:t>β</a:t>
            </a:r>
            <a:r>
              <a:rPr dirty="0" lang="en-GB" smtClean="0"/>
              <a:t> </a:t>
            </a:r>
            <a:r>
              <a:rPr dirty="0" lang="en-GB" err="1" smtClean="0"/>
              <a:t>bloquant</a:t>
            </a:r>
            <a:endParaRPr dirty="0" lang="en-GB" smtClean="0"/>
          </a:p>
          <a:p>
            <a:pPr>
              <a:buNone/>
            </a:pPr>
            <a:r>
              <a:rPr dirty="0" lang="en-GB" smtClean="0"/>
              <a:t>           +</a:t>
            </a:r>
            <a:r>
              <a:rPr dirty="0" lang="en-GB" err="1" smtClean="0"/>
              <a:t>diuretique</a:t>
            </a:r>
            <a:endParaRPr dirty="0" lang="fr-FR" smtClean="0"/>
          </a:p>
        </p:txBody>
      </p:sp>
      <p:pic>
        <p:nvPicPr>
          <p:cNvPr id="2097182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cxnSp>
        <p:nvCxnSpPr>
          <p:cNvPr id="3145815" name="Connecteur droit avec flèche 5"/>
          <p:cNvCxnSpPr>
            <a:cxnSpLocks/>
          </p:cNvCxnSpPr>
          <p:nvPr/>
        </p:nvCxnSpPr>
        <p:spPr>
          <a:xfrm>
            <a:off x="2214546" y="2285992"/>
            <a:ext cx="714380" cy="1588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16" name="Connecteur droit avec flèche 7"/>
          <p:cNvCxnSpPr>
            <a:cxnSpLocks/>
          </p:cNvCxnSpPr>
          <p:nvPr/>
        </p:nvCxnSpPr>
        <p:spPr>
          <a:xfrm>
            <a:off x="6072198" y="2285992"/>
            <a:ext cx="642942" cy="1588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17" name="Connecteur droit avec flèche 9"/>
          <p:cNvCxnSpPr>
            <a:cxnSpLocks/>
          </p:cNvCxnSpPr>
          <p:nvPr/>
        </p:nvCxnSpPr>
        <p:spPr>
          <a:xfrm>
            <a:off x="1071538" y="2714620"/>
            <a:ext cx="500066" cy="1588"/>
          </a:xfrm>
          <a:prstGeom prst="straightConnector1"/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18" name="Connecteur en arc 12"/>
          <p:cNvCxnSpPr>
            <a:cxnSpLocks/>
          </p:cNvCxnSpPr>
          <p:nvPr/>
        </p:nvCxnSpPr>
        <p:spPr>
          <a:xfrm rot="10800000" flipV="1">
            <a:off x="4000496" y="2857496"/>
            <a:ext cx="2428892" cy="642942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19" name="Connecteur en arc 14"/>
          <p:cNvCxnSpPr>
            <a:cxnSpLocks/>
          </p:cNvCxnSpPr>
          <p:nvPr/>
        </p:nvCxnSpPr>
        <p:spPr>
          <a:xfrm rot="10800000" flipV="1">
            <a:off x="4429124" y="2857496"/>
            <a:ext cx="1928826" cy="1143008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fr-FR" smtClean="0">
                <a:solidFill>
                  <a:srgbClr val="FF0000"/>
                </a:solidFill>
              </a:rPr>
              <a:t>III) CRITÈRES  DE CHOIX D’UN </a:t>
            </a:r>
            <a:r>
              <a:rPr dirty="0" lang="fr-FR" err="1" smtClean="0">
                <a:solidFill>
                  <a:srgbClr val="FF0000"/>
                </a:solidFill>
              </a:rPr>
              <a:t>TRT</a:t>
            </a:r>
            <a:r>
              <a:rPr dirty="0" lang="fr-FR" smtClean="0">
                <a:solidFill>
                  <a:srgbClr val="FF0000"/>
                </a:solidFill>
              </a:rPr>
              <a:t> ANTIHYPERTENSEUR:</a:t>
            </a:r>
            <a:endParaRPr dirty="0" lang="fr-FR">
              <a:solidFill>
                <a:srgbClr val="FF0000"/>
              </a:solidFill>
            </a:endParaRPr>
          </a:p>
        </p:txBody>
      </p:sp>
      <p:sp>
        <p:nvSpPr>
          <p:cNvPr id="1048795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9329774" cy="4873752"/>
          </a:xfrm>
        </p:spPr>
        <p:txBody>
          <a:bodyPr/>
          <a:p>
            <a:endParaRPr dirty="0" lang="fr-FR" smtClean="0"/>
          </a:p>
          <a:p>
            <a:pPr>
              <a:buNone/>
            </a:pPr>
            <a:r>
              <a:rPr dirty="0" lang="fr-FR" smtClean="0"/>
              <a:t>                                            contre-indication</a:t>
            </a:r>
          </a:p>
          <a:p>
            <a:pPr>
              <a:buNone/>
            </a:pPr>
            <a:r>
              <a:rPr dirty="0" lang="fr-FR" smtClean="0"/>
              <a:t>1)Mono thérapie                 complication cardiovasculaire</a:t>
            </a:r>
          </a:p>
          <a:p>
            <a:pPr>
              <a:buNone/>
            </a:pPr>
            <a:r>
              <a:rPr dirty="0" lang="fr-FR" smtClean="0"/>
              <a:t>                                            interaction</a:t>
            </a:r>
          </a:p>
          <a:p>
            <a:endParaRPr dirty="0" lang="fr-FR" smtClean="0"/>
          </a:p>
          <a:p>
            <a:pPr>
              <a:buNone/>
            </a:pPr>
            <a:r>
              <a:rPr dirty="0" lang="fr-FR" smtClean="0"/>
              <a:t>2)Pluri  thérapie</a:t>
            </a:r>
            <a:endParaRPr dirty="0" lang="fr-FR"/>
          </a:p>
        </p:txBody>
      </p:sp>
      <p:pic>
        <p:nvPicPr>
          <p:cNvPr id="2097183" name="Picture 4" descr="coeur2"/>
          <p:cNvPicPr>
            <a:picLocks noChangeAspect="1" noChangeArrowheads="1" noCrop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7429520" y="142852"/>
            <a:ext cx="1071570" cy="1198015"/>
          </a:xfrm>
          <a:prstGeom prst="rect"/>
          <a:noFill/>
        </p:spPr>
      </p:pic>
      <p:grpSp>
        <p:nvGrpSpPr>
          <p:cNvPr id="144" name="Groupe 10"/>
          <p:cNvGrpSpPr/>
          <p:nvPr/>
        </p:nvGrpSpPr>
        <p:grpSpPr>
          <a:xfrm>
            <a:off x="3000364" y="2357430"/>
            <a:ext cx="928694" cy="857256"/>
            <a:chOff x="3000364" y="2357430"/>
            <a:chExt cx="928694" cy="857256"/>
          </a:xfrm>
        </p:grpSpPr>
        <p:cxnSp>
          <p:nvCxnSpPr>
            <p:cNvPr id="3145820" name="Connecteur droit avec flèche 5"/>
            <p:cNvCxnSpPr>
              <a:cxnSpLocks/>
            </p:cNvCxnSpPr>
            <p:nvPr/>
          </p:nvCxnSpPr>
          <p:spPr>
            <a:xfrm flipV="1">
              <a:off x="3000364" y="2357430"/>
              <a:ext cx="857256" cy="428628"/>
            </a:xfrm>
            <a:prstGeom prst="straightConnector1"/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821" name="Connecteur droit avec flèche 7"/>
            <p:cNvCxnSpPr>
              <a:cxnSpLocks/>
            </p:cNvCxnSpPr>
            <p:nvPr/>
          </p:nvCxnSpPr>
          <p:spPr>
            <a:xfrm>
              <a:off x="3071802" y="2928934"/>
              <a:ext cx="857256" cy="285752"/>
            </a:xfrm>
            <a:prstGeom prst="straightConnector1"/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822" name="Connecteur droit avec flèche 9"/>
            <p:cNvCxnSpPr>
              <a:cxnSpLocks/>
            </p:cNvCxnSpPr>
            <p:nvPr/>
          </p:nvCxnSpPr>
          <p:spPr>
            <a:xfrm>
              <a:off x="3071802" y="2857496"/>
              <a:ext cx="857256" cy="1588"/>
            </a:xfrm>
            <a:prstGeom prst="straightConnector1"/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cover/>
  </p:transition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Espace réservé du contenu 4"/>
          <p:cNvGraphicFramePr>
            <a:graphicFrameLocks noGrp="1"/>
          </p:cNvGraphicFramePr>
          <p:nvPr>
            <p:ph sz="quarter" idx="1"/>
          </p:nvPr>
        </p:nvGraphicFramePr>
        <p:xfrm>
          <a:off x="72007" y="1340864"/>
          <a:ext cx="8964489" cy="489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8163"/>
                <a:gridCol w="2988163"/>
                <a:gridCol w="2988163"/>
              </a:tblGrid>
              <a:tr h="952087">
                <a:tc>
                  <a:txBody>
                    <a:bodyPr/>
                    <a:p>
                      <a:pPr algn="ctr"/>
                      <a:r>
                        <a:rPr dirty="0" sz="2400" lang="fr-FR" smtClean="0"/>
                        <a:t>Complication</a:t>
                      </a:r>
                    </a:p>
                    <a:p>
                      <a:pPr algn="ctr"/>
                      <a:r>
                        <a:rPr dirty="0" sz="2400" lang="fr-FR" smtClean="0"/>
                        <a:t>cardiovasculaire</a:t>
                      </a:r>
                      <a:endParaRPr dirty="0" sz="2400" lang="fr-FR"/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sz="2400" lang="fr-FR" smtClean="0"/>
                        <a:t>Choix</a:t>
                      </a:r>
                    </a:p>
                    <a:p>
                      <a:pPr algn="ctr"/>
                      <a:r>
                        <a:rPr dirty="0" sz="2400" lang="fr-FR" smtClean="0"/>
                        <a:t>préférentiel</a:t>
                      </a:r>
                      <a:endParaRPr dirty="0" sz="2400" lang="fr-FR"/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sz="2400" lang="fr-FR" smtClean="0"/>
                        <a:t>Contre-indication</a:t>
                      </a:r>
                      <a:endParaRPr dirty="0" sz="2400" lang="fr-FR"/>
                    </a:p>
                  </a:txBody>
                </a:tc>
              </a:tr>
              <a:tr h="952087">
                <a:tc>
                  <a:txBody>
                    <a:bodyPr/>
                    <a:p>
                      <a:r>
                        <a:rPr dirty="0" lang="fr-FR" smtClean="0"/>
                        <a:t>INFARCTUS</a:t>
                      </a:r>
                      <a:r>
                        <a:rPr baseline="0" dirty="0" lang="fr-FR" smtClean="0"/>
                        <a:t> DU MYOCARDE</a:t>
                      </a:r>
                      <a:endParaRPr dirty="0" lang="fr-FR"/>
                    </a:p>
                  </a:txBody>
                </a:tc>
                <a:tc>
                  <a:txBody>
                    <a:bodyPr/>
                    <a:p>
                      <a:r>
                        <a:rPr dirty="0" lang="el-GR" smtClean="0"/>
                        <a:t>Β</a:t>
                      </a:r>
                      <a:r>
                        <a:rPr dirty="0" lang="fr-FR" smtClean="0"/>
                        <a:t> </a:t>
                      </a:r>
                      <a:r>
                        <a:rPr dirty="0" lang="en-GB" smtClean="0"/>
                        <a:t>BLOQUANT</a:t>
                      </a:r>
                      <a:r>
                        <a:rPr baseline="0" dirty="0" lang="en-GB" smtClean="0"/>
                        <a:t> S  SANS ASI</a:t>
                      </a:r>
                      <a:endParaRPr dirty="0" lang="fr-FR"/>
                    </a:p>
                  </a:txBody>
                </a:tc>
                <a:tc>
                  <a:txBody>
                    <a:bodyPr/>
                    <a:p>
                      <a:endParaRPr dirty="0" lang="fr-FR"/>
                    </a:p>
                  </a:txBody>
                </a:tc>
              </a:tr>
              <a:tr h="952087">
                <a:tc>
                  <a:txBody>
                    <a:bodyPr/>
                    <a:p>
                      <a:r>
                        <a:rPr dirty="0" lang="fr-FR" smtClean="0"/>
                        <a:t>INSUFFISANCE</a:t>
                      </a:r>
                    </a:p>
                    <a:p>
                      <a:r>
                        <a:rPr dirty="0" lang="fr-FR" smtClean="0"/>
                        <a:t>CARDIAQUE</a:t>
                      </a:r>
                      <a:endParaRPr dirty="0" lang="fr-FR"/>
                    </a:p>
                  </a:txBody>
                </a:tc>
                <a:tc>
                  <a:txBody>
                    <a:bodyPr/>
                    <a:p>
                      <a:r>
                        <a:rPr dirty="0" lang="fr-FR" err="1" smtClean="0"/>
                        <a:t>DIURETIQUE</a:t>
                      </a:r>
                      <a:endParaRPr dirty="0" lang="fr-FR" smtClean="0"/>
                    </a:p>
                    <a:p>
                      <a:r>
                        <a:rPr dirty="0" lang="fr-FR" smtClean="0"/>
                        <a:t>IEC</a:t>
                      </a:r>
                      <a:endParaRPr dirty="0" lang="fr-FR"/>
                    </a:p>
                  </a:txBody>
                </a:tc>
                <a:tc>
                  <a:txBody>
                    <a:bodyPr/>
                    <a:p>
                      <a:r>
                        <a:rPr dirty="0" lang="el-GR" smtClean="0"/>
                        <a:t>β</a:t>
                      </a:r>
                      <a:r>
                        <a:rPr dirty="0" lang="en-GB" smtClean="0"/>
                        <a:t> </a:t>
                      </a:r>
                      <a:r>
                        <a:rPr dirty="0" lang="en-GB" err="1" smtClean="0"/>
                        <a:t>BLOQUANTS</a:t>
                      </a:r>
                      <a:endParaRPr dirty="0" lang="fr-FR"/>
                    </a:p>
                  </a:txBody>
                </a:tc>
              </a:tr>
              <a:tr h="952087">
                <a:tc>
                  <a:txBody>
                    <a:bodyPr/>
                    <a:p>
                      <a:r>
                        <a:rPr dirty="0" lang="fr-FR" smtClean="0"/>
                        <a:t>TROUBLE DU RYTHME VENTRICULAIRE</a:t>
                      </a:r>
                      <a:endParaRPr dirty="0" lang="fr-FR"/>
                    </a:p>
                  </a:txBody>
                </a:tc>
                <a:tc>
                  <a:txBody>
                    <a:bodyPr/>
                    <a:p>
                      <a:r>
                        <a:rPr dirty="0" lang="el-GR" smtClean="0"/>
                        <a:t>Β</a:t>
                      </a:r>
                      <a:r>
                        <a:rPr dirty="0" lang="fr-FR" smtClean="0"/>
                        <a:t> </a:t>
                      </a:r>
                      <a:r>
                        <a:rPr dirty="0" lang="en-GB" smtClean="0"/>
                        <a:t>BLOQUANTS</a:t>
                      </a:r>
                      <a:endParaRPr dirty="0" lang="fr-FR"/>
                    </a:p>
                  </a:txBody>
                </a:tc>
                <a:tc>
                  <a:txBody>
                    <a:bodyPr/>
                    <a:p>
                      <a:r>
                        <a:rPr dirty="0" lang="fr-FR" smtClean="0"/>
                        <a:t>DIURÉTIQUES </a:t>
                      </a:r>
                      <a:r>
                        <a:rPr dirty="0" lang="fr-FR" err="1" smtClean="0"/>
                        <a:t>HYPOKALIEMIANTS</a:t>
                      </a:r>
                      <a:endParaRPr dirty="0" lang="fr-FR"/>
                    </a:p>
                  </a:txBody>
                </a:tc>
              </a:tr>
              <a:tr h="1088100">
                <a:tc>
                  <a:txBody>
                    <a:bodyPr/>
                    <a:p>
                      <a:r>
                        <a:rPr dirty="0" lang="fr-FR" smtClean="0"/>
                        <a:t>BLOC AURICULO VENTRICULAIRE</a:t>
                      </a:r>
                      <a:endParaRPr dirty="0" lang="fr-FR"/>
                    </a:p>
                  </a:txBody>
                </a:tc>
                <a:tc>
                  <a:txBody>
                    <a:bodyPr/>
                    <a:p>
                      <a:endParaRPr dirty="0" lang="fr-FR"/>
                    </a:p>
                  </a:txBody>
                </a:tc>
                <a:tc>
                  <a:txBody>
                    <a:bodyPr/>
                    <a:p>
                      <a:r>
                        <a:rPr dirty="0" lang="el-GR" smtClean="0"/>
                        <a:t>Β</a:t>
                      </a:r>
                      <a:r>
                        <a:rPr dirty="0" lang="fr-FR" smtClean="0"/>
                        <a:t> </a:t>
                      </a:r>
                      <a:r>
                        <a:rPr dirty="0" lang="en-GB" smtClean="0"/>
                        <a:t>BLOQUANTS</a:t>
                      </a:r>
                    </a:p>
                    <a:p>
                      <a:r>
                        <a:rPr dirty="0" sz="2400" lang="fr-FR" err="1" smtClean="0"/>
                        <a:t>verapamil</a:t>
                      </a:r>
                      <a:endParaRPr dirty="0" sz="2400" lang="fr-FR"/>
                    </a:p>
                  </a:txBody>
                </a:tc>
              </a:tr>
            </a:tbl>
          </a:graphicData>
        </a:graphic>
      </p:graphicFrame>
      <p:sp>
        <p:nvSpPr>
          <p:cNvPr id="1048796" name="Rectangle 2"/>
          <p:cNvSpPr/>
          <p:nvPr/>
        </p:nvSpPr>
        <p:spPr>
          <a:xfrm>
            <a:off x="0" y="188640"/>
            <a:ext cx="9144000" cy="447040"/>
          </a:xfrm>
          <a:prstGeom prst="rect"/>
        </p:spPr>
        <p:txBody>
          <a:bodyPr wrap="square">
            <a:spAutoFit/>
          </a:bodyPr>
          <a:p>
            <a:pPr algn="ctr"/>
            <a:r>
              <a:rPr dirty="0" sz="2400" lang="fr-FR">
                <a:solidFill>
                  <a:srgbClr val="FF0000"/>
                </a:solidFill>
              </a:rPr>
              <a:t>III) CRITÈRES  DE CHOIX D’UN TRT ANTIHYPERTENSEUR:</a:t>
            </a:r>
            <a:endParaRPr dirty="0" sz="2400" lang="fr-FR"/>
          </a:p>
        </p:txBody>
      </p:sp>
    </p:spTree>
  </p:cSld>
  <p:clrMapOvr>
    <a:masterClrMapping/>
  </p:clrMapOvr>
  <p:transition spd="slow">
    <p:cover/>
  </p:transition>
  <p:timing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7" name="Espace réservé du contenu 4"/>
          <p:cNvGraphicFramePr>
            <a:graphicFrameLocks noGrp="1"/>
          </p:cNvGraphicFramePr>
          <p:nvPr>
            <p:ph sz="quarter" idx="4294967295"/>
          </p:nvPr>
        </p:nvGraphicFramePr>
        <p:xfrm>
          <a:off x="0" y="1365994"/>
          <a:ext cx="9144000" cy="5447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1214446">
                <a:tc>
                  <a:txBody>
                    <a:bodyPr/>
                    <a:p>
                      <a:pPr algn="ctr"/>
                      <a:endParaRPr dirty="0" sz="2000" lang="fr-FR" smtClean="0"/>
                    </a:p>
                    <a:p>
                      <a:pPr algn="ctr"/>
                      <a:r>
                        <a:rPr dirty="0" sz="2000" lang="fr-FR" smtClean="0"/>
                        <a:t>MALADIE </a:t>
                      </a:r>
                      <a:r>
                        <a:rPr dirty="0" sz="2000" lang="fr-FR" err="1" smtClean="0"/>
                        <a:t>ASSOCIEE</a:t>
                      </a:r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pPr algn="ctr"/>
                      <a:endParaRPr dirty="0" sz="2000" lang="fr-FR" smtClean="0"/>
                    </a:p>
                    <a:p>
                      <a:pPr algn="ctr"/>
                      <a:r>
                        <a:rPr dirty="0" sz="2000" lang="fr-FR" smtClean="0"/>
                        <a:t>CHOIX </a:t>
                      </a:r>
                      <a:r>
                        <a:rPr dirty="0" sz="2000" lang="fr-FR" err="1" smtClean="0"/>
                        <a:t>PREFERENTIEL</a:t>
                      </a:r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pPr algn="ctr"/>
                      <a:endParaRPr dirty="0" sz="2000" lang="fr-FR" smtClean="0"/>
                    </a:p>
                    <a:p>
                      <a:pPr algn="ctr"/>
                      <a:r>
                        <a:rPr dirty="0" sz="2000" lang="fr-FR" smtClean="0"/>
                        <a:t>C</a:t>
                      </a:r>
                      <a:r>
                        <a:rPr baseline="0" dirty="0" sz="2000" lang="fr-FR" smtClean="0"/>
                        <a:t> I OU </a:t>
                      </a:r>
                      <a:r>
                        <a:rPr baseline="0" dirty="0" sz="2000" lang="fr-FR" err="1" smtClean="0"/>
                        <a:t>PRECAUTION</a:t>
                      </a:r>
                      <a:endParaRPr baseline="0" dirty="0" sz="2000" lang="fr-FR" smtClean="0"/>
                    </a:p>
                    <a:p>
                      <a:pPr algn="ctr"/>
                      <a:r>
                        <a:rPr baseline="0" dirty="0" sz="2000" lang="fr-FR" smtClean="0"/>
                        <a:t>D’EMPLOI</a:t>
                      </a:r>
                      <a:endParaRPr dirty="0" sz="2000" lang="fr-FR"/>
                    </a:p>
                  </a:txBody>
                </a:tc>
              </a:tr>
              <a:tr h="594919">
                <a:tc>
                  <a:txBody>
                    <a:bodyPr/>
                    <a:p>
                      <a:r>
                        <a:rPr dirty="0" sz="2000" lang="fr-FR" smtClean="0"/>
                        <a:t>DIABÈTE</a:t>
                      </a:r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r>
                        <a:rPr dirty="0" sz="2000" lang="fr-FR" smtClean="0"/>
                        <a:t>IEC</a:t>
                      </a:r>
                    </a:p>
                    <a:p>
                      <a:r>
                        <a:rPr dirty="0" sz="2000" lang="fr-FR" err="1" smtClean="0"/>
                        <a:t>ANT</a:t>
                      </a:r>
                      <a:r>
                        <a:rPr dirty="0" sz="2000" lang="fr-FR" smtClean="0"/>
                        <a:t> Ca</a:t>
                      </a:r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r>
                        <a:rPr dirty="0" sz="2000" lang="el-GR" smtClean="0"/>
                        <a:t>β</a:t>
                      </a:r>
                      <a:r>
                        <a:rPr dirty="0" sz="2000" lang="en-GB" smtClean="0"/>
                        <a:t> </a:t>
                      </a:r>
                      <a:r>
                        <a:rPr dirty="0" sz="2000" lang="en-GB" err="1" smtClean="0"/>
                        <a:t>BLOQUANTS</a:t>
                      </a:r>
                      <a:endParaRPr dirty="0" sz="2000" lang="en-GB" smtClean="0"/>
                    </a:p>
                    <a:p>
                      <a:endParaRPr dirty="0" sz="2000" lang="fr-FR"/>
                    </a:p>
                  </a:txBody>
                </a:tc>
              </a:tr>
              <a:tr h="594919">
                <a:tc>
                  <a:txBody>
                    <a:bodyPr/>
                    <a:p>
                      <a:r>
                        <a:rPr dirty="0" sz="2000" lang="fr-FR" smtClean="0"/>
                        <a:t>INSUFFISANCE</a:t>
                      </a:r>
                    </a:p>
                    <a:p>
                      <a:r>
                        <a:rPr dirty="0" sz="2000" lang="fr-FR" smtClean="0"/>
                        <a:t>RÉNALE</a:t>
                      </a:r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r>
                        <a:rPr dirty="0" sz="2000" lang="fr-FR" smtClean="0"/>
                        <a:t>IEC</a:t>
                      </a:r>
                    </a:p>
                    <a:p>
                      <a:r>
                        <a:rPr dirty="0" sz="2000" lang="fr-FR" err="1" smtClean="0"/>
                        <a:t>DIURETIQUES</a:t>
                      </a:r>
                      <a:r>
                        <a:rPr dirty="0" sz="2000" lang="fr-FR" smtClean="0"/>
                        <a:t> DE L’ANSE</a:t>
                      </a:r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r>
                        <a:rPr dirty="0" sz="2000" lang="fr-FR" smtClean="0"/>
                        <a:t>D ÉPARGNE DE K</a:t>
                      </a:r>
                    </a:p>
                    <a:p>
                      <a:r>
                        <a:rPr dirty="0" sz="2000" lang="fr-FR" smtClean="0"/>
                        <a:t>THIAZIDIQUES</a:t>
                      </a:r>
                      <a:endParaRPr dirty="0" sz="2000" lang="fr-FR"/>
                    </a:p>
                  </a:txBody>
                </a:tc>
              </a:tr>
              <a:tr h="594919">
                <a:tc>
                  <a:txBody>
                    <a:bodyPr/>
                    <a:p>
                      <a:r>
                        <a:rPr dirty="0" sz="2000" lang="fr-FR" smtClean="0"/>
                        <a:t>BRONCHOPATHIE</a:t>
                      </a:r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r>
                        <a:rPr dirty="0" sz="2000" lang="el-GR" smtClean="0"/>
                        <a:t>β</a:t>
                      </a:r>
                      <a:r>
                        <a:rPr dirty="0" sz="2000" lang="en-GB" err="1" smtClean="0"/>
                        <a:t>BLOQUANTS</a:t>
                      </a:r>
                      <a:endParaRPr dirty="0" sz="2000" lang="fr-FR"/>
                    </a:p>
                  </a:txBody>
                </a:tc>
              </a:tr>
              <a:tr h="594919">
                <a:tc>
                  <a:txBody>
                    <a:bodyPr/>
                    <a:p>
                      <a:r>
                        <a:rPr dirty="0" sz="2000" lang="fr-FR" smtClean="0"/>
                        <a:t>GROSSESSE</a:t>
                      </a:r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r>
                        <a:rPr dirty="0" sz="2000" lang="el-GR" smtClean="0"/>
                        <a:t>β</a:t>
                      </a:r>
                      <a:r>
                        <a:rPr dirty="0" sz="2000" lang="en-GB" err="1" smtClean="0"/>
                        <a:t>BLOQUANTS</a:t>
                      </a:r>
                      <a:endParaRPr dirty="0" sz="2000" lang="en-GB" smtClean="0"/>
                    </a:p>
                    <a:p>
                      <a:r>
                        <a:rPr dirty="0" sz="2000" lang="fr-FR" smtClean="0"/>
                        <a:t>ANTI</a:t>
                      </a:r>
                      <a:r>
                        <a:rPr baseline="0" dirty="0" sz="2000" lang="fr-FR" smtClean="0"/>
                        <a:t> </a:t>
                      </a:r>
                      <a:r>
                        <a:rPr baseline="0" dirty="0" sz="2000" lang="fr-FR" err="1" smtClean="0"/>
                        <a:t>HTA</a:t>
                      </a:r>
                      <a:r>
                        <a:rPr baseline="0" dirty="0" sz="2000" lang="fr-FR" smtClean="0"/>
                        <a:t> CENTRAUX</a:t>
                      </a:r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endParaRPr dirty="0" sz="2000" lang="fr-FR"/>
                    </a:p>
                  </a:txBody>
                </a:tc>
              </a:tr>
              <a:tr h="925297">
                <a:tc>
                  <a:txBody>
                    <a:bodyPr/>
                    <a:p>
                      <a:r>
                        <a:rPr dirty="0" sz="2000" lang="fr-FR" smtClean="0"/>
                        <a:t>DYSLIPIDÉMIES</a:t>
                      </a:r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endParaRPr dirty="0" sz="2000" lang="fr-FR"/>
                    </a:p>
                  </a:txBody>
                </a:tc>
                <a:tc>
                  <a:txBody>
                    <a:bodyPr/>
                    <a:p>
                      <a:r>
                        <a:rPr dirty="0" sz="2000" lang="el-GR" smtClean="0"/>
                        <a:t>β</a:t>
                      </a:r>
                      <a:r>
                        <a:rPr dirty="0" sz="2000" lang="en-GB" err="1" smtClean="0"/>
                        <a:t>BLOQUANTS</a:t>
                      </a:r>
                      <a:endParaRPr dirty="0" sz="2000" lang="fr-FR"/>
                    </a:p>
                  </a:txBody>
                </a:tc>
              </a:tr>
            </a:tbl>
          </a:graphicData>
        </a:graphic>
      </p:graphicFrame>
      <p:sp>
        <p:nvSpPr>
          <p:cNvPr id="1048797" name="Rectangle 2"/>
          <p:cNvSpPr/>
          <p:nvPr/>
        </p:nvSpPr>
        <p:spPr>
          <a:xfrm>
            <a:off x="0" y="188640"/>
            <a:ext cx="9144000" cy="447040"/>
          </a:xfrm>
          <a:prstGeom prst="rect"/>
        </p:spPr>
        <p:txBody>
          <a:bodyPr wrap="square">
            <a:spAutoFit/>
          </a:bodyPr>
          <a:p>
            <a:pPr algn="ctr"/>
            <a:r>
              <a:rPr dirty="0" sz="2400" lang="fr-FR">
                <a:solidFill>
                  <a:srgbClr val="FF0000"/>
                </a:solidFill>
              </a:rPr>
              <a:t>III) CRITÈRES  DE CHOIX D’UN TRT ANTIHYPERTENSEUR:</a:t>
            </a:r>
            <a:endParaRPr dirty="0" sz="2400" lang="fr-FR"/>
          </a:p>
        </p:txBody>
      </p:sp>
    </p:spTree>
  </p:cSld>
  <p:clrMapOvr>
    <a:masterClrMapping/>
  </p:clrMapOvr>
  <p:transition spd="slow">
    <p:cover/>
  </p:transition>
  <p:timing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Titre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7467600" cy="917596"/>
          </a:xfrm>
        </p:spPr>
        <p:txBody>
          <a:bodyPr>
            <a:normAutofit fontScale="93333"/>
          </a:bodyPr>
          <a:p>
            <a:r>
              <a:rPr dirty="0" lang="fr-FR" smtClean="0"/>
              <a:t>ASSOCIATIONS A PRIVILÉGIER POUR LEUR SYNERGIE D’ACTION:</a:t>
            </a:r>
            <a:endParaRPr dirty="0" lang="fr-FR"/>
          </a:p>
        </p:txBody>
      </p:sp>
      <p:sp>
        <p:nvSpPr>
          <p:cNvPr id="1048799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2083640"/>
            <a:ext cx="7467600" cy="4873752"/>
          </a:xfrm>
        </p:spPr>
        <p:txBody>
          <a:bodyPr/>
          <a:p>
            <a:pPr>
              <a:buNone/>
            </a:pPr>
            <a:r>
              <a:rPr dirty="0" sz="2800" lang="el-GR" smtClean="0">
                <a:solidFill>
                  <a:srgbClr val="0070C0"/>
                </a:solidFill>
              </a:rPr>
              <a:t>Β</a:t>
            </a:r>
            <a:r>
              <a:rPr dirty="0" sz="2800" lang="fr-FR" smtClean="0">
                <a:solidFill>
                  <a:srgbClr val="0070C0"/>
                </a:solidFill>
              </a:rPr>
              <a:t> </a:t>
            </a:r>
            <a:r>
              <a:rPr dirty="0" sz="2800" lang="en-GB" err="1" smtClean="0">
                <a:solidFill>
                  <a:srgbClr val="0070C0"/>
                </a:solidFill>
              </a:rPr>
              <a:t>boquants</a:t>
            </a:r>
            <a:r>
              <a:rPr dirty="0" sz="2800" lang="en-GB" smtClean="0">
                <a:solidFill>
                  <a:srgbClr val="0070C0"/>
                </a:solidFill>
              </a:rPr>
              <a:t>+ </a:t>
            </a:r>
            <a:r>
              <a:rPr dirty="0" sz="2800" lang="en-GB" err="1" smtClean="0">
                <a:solidFill>
                  <a:srgbClr val="0070C0"/>
                </a:solidFill>
              </a:rPr>
              <a:t>diuretiques</a:t>
            </a:r>
            <a:r>
              <a:rPr dirty="0" sz="2800" lang="en-GB" smtClean="0">
                <a:solidFill>
                  <a:srgbClr val="0070C0"/>
                </a:solidFill>
              </a:rPr>
              <a:t>:</a:t>
            </a:r>
          </a:p>
          <a:p>
            <a:pPr>
              <a:buNone/>
            </a:pPr>
            <a:endParaRPr dirty="0" lang="en-GB" smtClean="0"/>
          </a:p>
          <a:p>
            <a:pPr>
              <a:buNone/>
            </a:pPr>
            <a:r>
              <a:rPr dirty="0" lang="en-GB" err="1" smtClean="0">
                <a:solidFill>
                  <a:srgbClr val="0070C0"/>
                </a:solidFill>
              </a:rPr>
              <a:t>IEC+DIURETIQUE</a:t>
            </a:r>
            <a:r>
              <a:rPr dirty="0" lang="en-GB" smtClean="0">
                <a:solidFill>
                  <a:srgbClr val="0070C0"/>
                </a:solidFill>
              </a:rPr>
              <a:t>;</a:t>
            </a:r>
          </a:p>
          <a:p>
            <a:pPr>
              <a:buNone/>
            </a:pPr>
            <a:endParaRPr dirty="0" lang="en-GB" smtClean="0"/>
          </a:p>
          <a:p>
            <a:pPr>
              <a:buNone/>
            </a:pPr>
            <a:r>
              <a:rPr dirty="0" lang="en-GB" err="1" smtClean="0">
                <a:solidFill>
                  <a:srgbClr val="0070C0"/>
                </a:solidFill>
              </a:rPr>
              <a:t>IEC</a:t>
            </a:r>
            <a:r>
              <a:rPr dirty="0" lang="en-GB" smtClean="0">
                <a:solidFill>
                  <a:srgbClr val="0070C0"/>
                </a:solidFill>
              </a:rPr>
              <a:t>+</a:t>
            </a:r>
            <a:r>
              <a:rPr dirty="0" lang="el-GR" smtClean="0">
                <a:solidFill>
                  <a:srgbClr val="0070C0"/>
                </a:solidFill>
              </a:rPr>
              <a:t>β </a:t>
            </a:r>
            <a:r>
              <a:rPr dirty="0" lang="en-GB" err="1" smtClean="0">
                <a:solidFill>
                  <a:srgbClr val="0070C0"/>
                </a:solidFill>
              </a:rPr>
              <a:t>BLOQUANTS</a:t>
            </a:r>
            <a:endParaRPr dirty="0" lang="en-GB" smtClean="0">
              <a:solidFill>
                <a:srgbClr val="0070C0"/>
              </a:solidFill>
            </a:endParaRPr>
          </a:p>
          <a:p>
            <a:pPr>
              <a:buNone/>
            </a:pPr>
            <a:endParaRPr dirty="0" lang="en-GB" smtClean="0"/>
          </a:p>
          <a:p>
            <a:pPr>
              <a:buNone/>
            </a:pPr>
            <a:r>
              <a:rPr dirty="0" lang="en-GB" err="1" smtClean="0">
                <a:solidFill>
                  <a:srgbClr val="0070C0"/>
                </a:solidFill>
              </a:rPr>
              <a:t>IEC+ANT</a:t>
            </a:r>
            <a:r>
              <a:rPr dirty="0" lang="en-GB" smtClean="0">
                <a:solidFill>
                  <a:srgbClr val="0070C0"/>
                </a:solidFill>
              </a:rPr>
              <a:t> Ca</a:t>
            </a:r>
          </a:p>
          <a:p>
            <a:endParaRPr dirty="0" sz="2000" lang="en-GB" smtClean="0"/>
          </a:p>
          <a:p>
            <a:endParaRPr dirty="0" sz="2000" lang="fr-FR"/>
          </a:p>
        </p:txBody>
      </p:sp>
    </p:spTree>
  </p:cSld>
  <p:clrMapOvr>
    <a:masterClrMapping/>
  </p:clrMapOvr>
  <p:transition spd="slow">
    <p:cover/>
  </p:transition>
  <p:timing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26D328-0D78-427A-AE82-0BC301FA078B}" type="slidenum">
              <a:rPr lang="fr-FR">
                <a:solidFill>
                  <a:srgbClr val="FFFFFF"/>
                </a:solidFill>
              </a:rPr>
              <a:t>40</a:t>
            </a:fld>
            <a:endParaRPr dirty="0" lang="fr-FR">
              <a:solidFill>
                <a:srgbClr val="FFFFFF"/>
              </a:solidFill>
            </a:endParaRPr>
          </a:p>
        </p:txBody>
      </p:sp>
      <p:grpSp>
        <p:nvGrpSpPr>
          <p:cNvPr id="149" name="Group 7"/>
          <p:cNvGrpSpPr/>
          <p:nvPr/>
        </p:nvGrpSpPr>
        <p:grpSpPr>
          <a:xfrm>
            <a:off x="0" y="2060848"/>
            <a:ext cx="9144000" cy="2736304"/>
            <a:chOff x="3149500" y="1422995"/>
            <a:chExt cx="5703430" cy="1218009"/>
          </a:xfrm>
        </p:grpSpPr>
        <p:sp>
          <p:nvSpPr>
            <p:cNvPr id="1048801" name="Rectangle 8"/>
            <p:cNvSpPr/>
            <p:nvPr/>
          </p:nvSpPr>
          <p:spPr>
            <a:xfrm>
              <a:off x="3149500" y="1422995"/>
              <a:ext cx="5703430" cy="978458"/>
            </a:xfrm>
            <a:prstGeom prst="rect"/>
            <a:solidFill>
              <a:srgbClr val="7030A0"/>
            </a:solidFill>
            <a:ln>
              <a:noFill/>
            </a:ln>
            <a:effectLst>
              <a:outerShdw blurRad="40000" dir="5400000" dist="23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dir="t" rig="threePt">
                <a:rot lat="0" lon="0" rev="1200000"/>
              </a:lightRig>
            </a:scene3d>
            <a:sp3d>
              <a:bevelT w="63500" h="25400"/>
            </a:sp3d>
          </p:spPr>
          <p:txBody>
            <a:bodyPr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b="1" dirty="0" sz="4000" lang="fr-FR">
                  <a:solidFill>
                    <a:prstClr val="black"/>
                  </a:solidFill>
                  <a:latin typeface="Palatino Linotype"/>
                  <a:cs typeface="+mn-cs"/>
                </a:rPr>
                <a:t>     </a:t>
              </a:r>
              <a:endParaRPr b="1" dirty="0" sz="4000" lang="fr-FR" smtClean="0">
                <a:solidFill>
                  <a:prstClr val="black"/>
                </a:solidFill>
                <a:latin typeface="Palatino Linotype"/>
                <a:cs typeface="+mn-cs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b="1" dirty="0" sz="5400" lang="fr-FR" smtClean="0">
                  <a:solidFill>
                    <a:schemeClr val="bg1"/>
                  </a:solidFill>
                  <a:latin typeface="Palatino Linotype"/>
                  <a:cs typeface="+mn-cs"/>
                </a:rPr>
                <a:t>Merci </a:t>
              </a:r>
              <a:r>
                <a:rPr b="1" dirty="0" sz="5400" lang="fr-FR" smtClean="0">
                  <a:solidFill>
                    <a:schemeClr val="bg1"/>
                  </a:solidFill>
                  <a:latin typeface="Palatino Linotype"/>
                </a:rPr>
                <a:t>de</a:t>
              </a:r>
              <a:r>
                <a:rPr b="1" dirty="0" sz="5400" lang="fr-FR" smtClean="0">
                  <a:solidFill>
                    <a:schemeClr val="bg1"/>
                  </a:solidFill>
                  <a:latin typeface="Palatino Linotype"/>
                  <a:cs typeface="+mn-cs"/>
                </a:rPr>
                <a:t> votre attention</a:t>
              </a:r>
              <a:endParaRPr dirty="0" sz="4000" lang="fr-FR">
                <a:solidFill>
                  <a:schemeClr val="bg1"/>
                </a:solidFill>
                <a:latin typeface="Palatino Linotype"/>
                <a:cs typeface="+mn-cs"/>
              </a:endParaRPr>
            </a:p>
          </p:txBody>
        </p:sp>
        <p:sp>
          <p:nvSpPr>
            <p:cNvPr id="1048802" name="Rectangle 9"/>
            <p:cNvSpPr/>
            <p:nvPr/>
          </p:nvSpPr>
          <p:spPr>
            <a:xfrm>
              <a:off x="3149500" y="1422995"/>
              <a:ext cx="2030015" cy="1218009"/>
            </a:xfrm>
            <a:prstGeom prst="rect"/>
            <a:noFill/>
            <a:ln>
              <a:noFill/>
            </a:ln>
            <a:effectLst/>
          </p:spPr>
          <p:txBody>
            <a:bodyPr anchor="ctr" anchorCtr="0" bIns="209550" lIns="209550" numCol="1" rIns="209550" spcCol="1270" spcFirstLastPara="0" tIns="209550" vert="horz" wrap="square">
              <a:noAutofit/>
            </a:bodyPr>
            <a:p>
              <a:pPr algn="ctr" defTabSz="2444750" fontAlgn="auto">
                <a:lnSpc>
                  <a:spcPct val="90000"/>
                </a:lnSpc>
                <a:spcAft>
                  <a:spcPct val="35000"/>
                </a:spcAft>
              </a:pPr>
              <a:endParaRPr dirty="0" sz="5500" lang="fr-FR">
                <a:solidFill>
                  <a:sysClr lastClr="FFFFFF" val="window"/>
                </a:solidFill>
                <a:latin typeface="Palatino Linotype"/>
                <a:cs typeface="+mn-cs"/>
              </a:endParaRPr>
            </a:p>
          </p:txBody>
        </p:sp>
      </p:grpSp>
    </p:spTree>
  </p:cSld>
  <p:clrMapOvr>
    <a:masterClrMapping/>
  </p:clrMapOvr>
  <p:transition spd="med">
    <p:fade thruBlk="1"/>
  </p:transition>
  <p:timing/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lastClr="000000" val="windowText"/>
      </a:dk1>
      <a:lt1>
        <a:sysClr lastClr="FFFFFF" val="window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r="5400000" dist="25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r="5400000" dist="2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r="5400000" dist="2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dir="t" rig="balanced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algn="tl" flip="y" sx="40000" sy="50000" tx="0" ty="0"/>
        </a:blipFill>
      </a:bgFillStyleLst>
    </a:fmtScheme>
  </a:themeElements>
</a:theme>
</file>

<file path=ppt/theme/theme2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noFill/>
        <a:ln w="25400" cap="flat" cmpd="sng" algn="ctr">
          <a:solidFill>
            <a:srgbClr val="FFFFFF"/>
          </a:solidFill>
          <a:prstDash val="solid"/>
          <a:round/>
          <a:headEnd type="none" w="sm" len="sm"/>
          <a:tailEnd type="none" w="sm" len="sm"/>
        </a:ln>
        <a:effectLst/>
      </a:spPr>
      <a:bodyPr anchor="t" anchorCtr="0" bIns="45720" compatLnSpc="1" lIns="91440" numCol="1" rIns="91440" tIns="45720" vert="horz" wrap="square">
        <a:prstTxWarp prst="textNoShape"/>
      </a:bodyPr>
      <a:lstStyle>
        <a:defPPr algn="l" defTabSz="914400" eaLnBrk="1" fontAlgn="base" hangingPunct="1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baseline="0" b="0" cap="none" sz="3200" i="0" kumimoji="0" lang="fr-FR" normalizeH="0" strike="noStrike" u="none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noFill/>
        <a:ln w="25400" cap="flat" cmpd="sng" algn="ctr">
          <a:solidFill>
            <a:srgbClr val="FFFFFF"/>
          </a:solidFill>
          <a:prstDash val="solid"/>
          <a:round/>
          <a:headEnd type="none" w="sm" len="sm"/>
          <a:tailEnd type="none" w="sm" len="sm"/>
        </a:ln>
        <a:effectLst/>
      </a:spPr>
      <a:bodyPr anchor="t" anchorCtr="0" bIns="45720" compatLnSpc="1" lIns="91440" numCol="1" rIns="91440" tIns="45720" vert="horz" wrap="square">
        <a:prstTxWarp prst="textNoShape"/>
      </a:bodyPr>
      <a:lstStyle>
        <a:defPPr algn="l" defTabSz="914400" eaLnBrk="1" fontAlgn="base" hangingPunct="1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baseline="0" b="0" cap="none" sz="3200" i="0" kumimoji="0" lang="fr-FR" normalizeH="0" strike="noStrike" u="none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Windows-Trust</Company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Diapositive 1</dc:title>
  <dc:creator>Enigma</dc:creator>
  <cp:lastModifiedBy>pc</cp:lastModifiedBy>
  <dcterms:created xsi:type="dcterms:W3CDTF">2008-04-03T14:44:49Z</dcterms:created>
  <dcterms:modified xsi:type="dcterms:W3CDTF">2025-05-31T08:33:13Z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99d368b76c4c45608b19047dc931421d</vt:lpwstr>
  </property>
</Properties>
</file>