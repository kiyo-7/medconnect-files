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6" r:id="rId5"/>
    <p:sldId id="259" r:id="rId6"/>
    <p:sldId id="261" r:id="rId7"/>
    <p:sldId id="262" r:id="rId8"/>
    <p:sldId id="263" r:id="rId9"/>
    <p:sldId id="264" r:id="rId10"/>
    <p:sldId id="260" r:id="rId11"/>
    <p:sldId id="265" r:id="rId12"/>
    <p:sldId id="281" r:id="rId13"/>
    <p:sldId id="279" r:id="rId14"/>
    <p:sldId id="271" r:id="rId15"/>
    <p:sldId id="280" r:id="rId16"/>
    <p:sldId id="272" r:id="rId17"/>
    <p:sldId id="273" r:id="rId18"/>
    <p:sldId id="284" r:id="rId19"/>
    <p:sldId id="276" r:id="rId20"/>
    <p:sldId id="277" r:id="rId21"/>
    <p:sldId id="267" r:id="rId22"/>
    <p:sldId id="268" r:id="rId23"/>
    <p:sldId id="269" r:id="rId24"/>
    <p:sldId id="270" r:id="rId25"/>
    <p:sldId id="282" r:id="rId26"/>
    <p:sldId id="285" r:id="rId27"/>
    <p:sldId id="278" r:id="rId28"/>
    <p:sldId id="274" r:id="rId29"/>
    <p:sldId id="275" r:id="rId3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D6AC-B6FC-463D-80CA-0D29980CE8DB}" type="datetimeFigureOut">
              <a:rPr lang="fr-FR" smtClean="0"/>
              <a:pPr/>
              <a:t>19/05/2025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8A712-F710-4E7B-BC09-225AE76ED05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D6AC-B6FC-463D-80CA-0D29980CE8DB}" type="datetimeFigureOut">
              <a:rPr lang="fr-FR" smtClean="0"/>
              <a:pPr/>
              <a:t>19/05/2025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8A712-F710-4E7B-BC09-225AE76ED0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D6AC-B6FC-463D-80CA-0D29980CE8DB}" type="datetimeFigureOut">
              <a:rPr lang="fr-FR" smtClean="0"/>
              <a:pPr/>
              <a:t>19/05/2025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8628A712-F710-4E7B-BC09-225AE76ED0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D6AC-B6FC-463D-80CA-0D29980CE8DB}" type="datetimeFigureOut">
              <a:rPr lang="fr-FR" smtClean="0"/>
              <a:pPr/>
              <a:t>19/05/2025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8A712-F710-4E7B-BC09-225AE76ED0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D6AC-B6FC-463D-80CA-0D29980CE8DB}" type="datetimeFigureOut">
              <a:rPr lang="fr-FR" smtClean="0"/>
              <a:pPr/>
              <a:t>19/05/2025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8A712-F710-4E7B-BC09-225AE76ED0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D6AC-B6FC-463D-80CA-0D29980CE8DB}" type="datetimeFigureOut">
              <a:rPr lang="fr-FR" smtClean="0"/>
              <a:pPr/>
              <a:t>19/05/2025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8A712-F710-4E7B-BC09-225AE76ED0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D6AC-B6FC-463D-80CA-0D29980CE8DB}" type="datetimeFigureOut">
              <a:rPr lang="fr-FR" smtClean="0"/>
              <a:pPr/>
              <a:t>19/05/2025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8A712-F710-4E7B-BC09-225AE76ED0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D6AC-B6FC-463D-80CA-0D29980CE8DB}" type="datetimeFigureOut">
              <a:rPr lang="fr-FR" smtClean="0"/>
              <a:pPr/>
              <a:t>19/05/2025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8A712-F710-4E7B-BC09-225AE76ED0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fr-FR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D6AC-B6FC-463D-80CA-0D29980CE8DB}" type="datetimeFigureOut">
              <a:rPr lang="fr-FR" smtClean="0"/>
              <a:pPr/>
              <a:t>19/05/2025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8A712-F710-4E7B-BC09-225AE76ED0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D6AC-B6FC-463D-80CA-0D29980CE8DB}" type="datetimeFigureOut">
              <a:rPr lang="fr-FR" smtClean="0"/>
              <a:pPr/>
              <a:t>19/05/2025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8A712-F710-4E7B-BC09-225AE76ED0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D6AC-B6FC-463D-80CA-0D29980CE8DB}" type="datetimeFigureOut">
              <a:rPr lang="fr-FR" smtClean="0"/>
              <a:pPr/>
              <a:t>19/05/2025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8A712-F710-4E7B-BC09-225AE76ED0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A979D6AC-B6FC-463D-80CA-0D29980CE8DB}" type="datetimeFigureOut">
              <a:rPr lang="fr-FR" smtClean="0"/>
              <a:pPr/>
              <a:t>19/05/2025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628A712-F710-4E7B-BC09-225AE76ED0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tx1"/>
                </a:solidFill>
              </a:rPr>
              <a:t>Les </a:t>
            </a:r>
            <a:r>
              <a:rPr lang="fr-FR" dirty="0" err="1" smtClean="0">
                <a:solidFill>
                  <a:schemeClr val="tx1"/>
                </a:solidFill>
              </a:rPr>
              <a:t>betalactamines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endParaRPr lang="fr-FR" dirty="0" smtClean="0"/>
          </a:p>
          <a:p>
            <a:r>
              <a:rPr lang="fr-FR" sz="3200" dirty="0" smtClean="0"/>
              <a:t>Classification chimiques</a:t>
            </a:r>
          </a:p>
          <a:p>
            <a:r>
              <a:rPr lang="fr-FR" sz="3200" dirty="0" smtClean="0"/>
              <a:t>On distingue selon la structure  :</a:t>
            </a:r>
          </a:p>
          <a:p>
            <a:r>
              <a:rPr lang="fr-FR" sz="3200" dirty="0" smtClean="0"/>
              <a:t>Les pénicillines</a:t>
            </a:r>
          </a:p>
          <a:p>
            <a:r>
              <a:rPr lang="fr-FR" sz="3200" dirty="0" smtClean="0"/>
              <a:t>Les céphalosporines</a:t>
            </a:r>
          </a:p>
          <a:p>
            <a:r>
              <a:rPr lang="fr-FR" sz="3200" dirty="0" smtClean="0"/>
              <a:t>Les </a:t>
            </a:r>
            <a:r>
              <a:rPr lang="fr-FR" sz="3200" dirty="0" err="1" smtClean="0"/>
              <a:t>carbapénems</a:t>
            </a:r>
            <a:endParaRPr lang="fr-FR" sz="3200" dirty="0" smtClean="0"/>
          </a:p>
          <a:p>
            <a:r>
              <a:rPr lang="fr-FR" sz="3200" dirty="0" smtClean="0"/>
              <a:t>Les </a:t>
            </a:r>
            <a:r>
              <a:rPr lang="fr-FR" sz="3200" dirty="0" err="1" smtClean="0"/>
              <a:t>monobactams</a:t>
            </a:r>
            <a:r>
              <a:rPr lang="fr-FR" sz="3200" dirty="0" smtClean="0"/>
              <a:t>      </a:t>
            </a:r>
          </a:p>
          <a:p>
            <a:r>
              <a:rPr lang="fr-FR" sz="3200" dirty="0" smtClean="0"/>
              <a:t>Remarque : mécanisme d’action principalement identique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Les pénicillines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Historique : </a:t>
            </a:r>
            <a:r>
              <a:rPr lang="fr-FR" sz="3200" dirty="0" err="1" smtClean="0"/>
              <a:t>premiere</a:t>
            </a:r>
            <a:r>
              <a:rPr lang="fr-FR" sz="3200" dirty="0" smtClean="0"/>
              <a:t> classe d’antibiotiques  </a:t>
            </a:r>
            <a:r>
              <a:rPr lang="fr-FR" sz="3200" dirty="0" err="1" smtClean="0"/>
              <a:t>dévouverte</a:t>
            </a:r>
            <a:r>
              <a:rPr lang="fr-FR" sz="3200" dirty="0" smtClean="0"/>
              <a:t>  </a:t>
            </a:r>
          </a:p>
          <a:p>
            <a:endParaRPr lang="fr-FR" sz="3200" dirty="0" smtClean="0"/>
          </a:p>
          <a:p>
            <a:r>
              <a:rPr lang="fr-FR" sz="3200" dirty="0" smtClean="0"/>
              <a:t>Structure: cycle </a:t>
            </a:r>
            <a:r>
              <a:rPr lang="fr-FR" sz="3200" dirty="0" err="1" smtClean="0"/>
              <a:t>bétalactame</a:t>
            </a:r>
            <a:r>
              <a:rPr lang="fr-FR" sz="3200" dirty="0" smtClean="0"/>
              <a:t> commun</a:t>
            </a:r>
          </a:p>
          <a:p>
            <a:endParaRPr lang="fr-FR" sz="3200" dirty="0" smtClean="0"/>
          </a:p>
          <a:p>
            <a:endParaRPr lang="fr-FR" sz="3200" dirty="0" smtClean="0"/>
          </a:p>
          <a:p>
            <a:r>
              <a:rPr lang="fr-FR" sz="3200" dirty="0" smtClean="0"/>
              <a:t>PK  : </a:t>
            </a:r>
            <a:r>
              <a:rPr lang="fr-FR" sz="3200" dirty="0" err="1" smtClean="0"/>
              <a:t>propietés</a:t>
            </a:r>
            <a:r>
              <a:rPr lang="fr-FR" sz="3200" dirty="0" smtClean="0"/>
              <a:t> pharmacocinétiques variables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122" name="AutoShape 2" descr="mk:@MSITStore:F:\taha\Bureau\livres%20Pharmaco\GOODMAN%20&amp;%20GILMAN'S%20THE%20PHARMACOLOGICAL%20BASIS%20OF%20THERAPEUTICS%2011th%20(2006).chm::/online.statref.com/document/image.aspxmimeimage_2fgiffxid75mediagg_2fc044f001sess~1.htm"/>
          <p:cNvSpPr>
            <a:spLocks noChangeAspect="1" noChangeArrowheads="1"/>
          </p:cNvSpPr>
          <p:nvPr/>
        </p:nvSpPr>
        <p:spPr bwMode="auto">
          <a:xfrm>
            <a:off x="155575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124" name="AutoShape 4" descr="mk:@MSITStore:F:\taha\Bureau\livres%20Pharmaco\GOODMAN%20&amp;%20GILMAN'S%20THE%20PHARMACOLOGICAL%20BASIS%20OF%20THERAPEUTICS%2011th%20(2006).chm::/online.statref.com/document/image.aspxmimeimage_2fgiffxid75mediagg_2fc044f001sess~1.htm"/>
          <p:cNvSpPr>
            <a:spLocks noChangeAspect="1" noChangeArrowheads="1"/>
          </p:cNvSpPr>
          <p:nvPr/>
        </p:nvSpPr>
        <p:spPr bwMode="auto">
          <a:xfrm>
            <a:off x="155575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5125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42918"/>
            <a:ext cx="9150873" cy="50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Mecanisme</a:t>
            </a:r>
            <a:r>
              <a:rPr lang="fr-FR" dirty="0" smtClean="0"/>
              <a:t> d’action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Les BL interagissent avec de nombreux PLP</a:t>
            </a:r>
          </a:p>
          <a:p>
            <a:r>
              <a:rPr lang="fr-FR" sz="3200" dirty="0" smtClean="0"/>
              <a:t>L’une d’elle est la </a:t>
            </a:r>
            <a:r>
              <a:rPr lang="fr-FR" sz="3200" dirty="0" err="1" smtClean="0"/>
              <a:t>trans</a:t>
            </a:r>
            <a:r>
              <a:rPr lang="fr-FR" sz="3200" dirty="0" smtClean="0"/>
              <a:t>-peptidase  ,enzyme responsable de l’ étape finale de synthèse du peptidoglycane   ( principal composant de la paroi bactérienne)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Paroi chez les Gram +</a:t>
            </a:r>
            <a:endParaRPr lang="fr-FR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206000"/>
            <a:ext cx="7732354" cy="565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1772816"/>
            <a:ext cx="7860040" cy="5103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57232"/>
            <a:ext cx="9071965" cy="52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42918"/>
            <a:ext cx="9212821" cy="511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Mécanisme de résistance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 err="1" smtClean="0"/>
              <a:t>Bétalactamases</a:t>
            </a:r>
            <a:r>
              <a:rPr lang="fr-FR" sz="3200" dirty="0" smtClean="0"/>
              <a:t>  (majoritairement pénicillinases) </a:t>
            </a:r>
          </a:p>
          <a:p>
            <a:pPr>
              <a:buNone/>
            </a:pPr>
            <a:r>
              <a:rPr lang="fr-FR" sz="3200" dirty="0" smtClean="0"/>
              <a:t>     </a:t>
            </a:r>
          </a:p>
          <a:p>
            <a:r>
              <a:rPr lang="fr-FR" sz="3200" dirty="0" smtClean="0"/>
              <a:t>Mutation structurale des PLP</a:t>
            </a:r>
          </a:p>
          <a:p>
            <a:endParaRPr lang="fr-FR" sz="3200" dirty="0" smtClean="0"/>
          </a:p>
          <a:p>
            <a:r>
              <a:rPr lang="fr-FR" sz="3200" dirty="0" smtClean="0"/>
              <a:t>Défaut de perméabilité  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Allergie aux pénicillines 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Croisée entre  toutes les pénicillines , et parfois avec les  céphalosporines ( 5 à 10 % des cas )</a:t>
            </a:r>
          </a:p>
          <a:p>
            <a:r>
              <a:rPr lang="fr-FR" sz="3200" dirty="0" smtClean="0"/>
              <a:t>Réaction plus moins précoce ( l’urticaire.. Jusqu’à plus rarement choc anaphylactique )</a:t>
            </a:r>
          </a:p>
          <a:p>
            <a:endParaRPr lang="fr-FR" sz="3200" dirty="0" smtClean="0"/>
          </a:p>
          <a:p>
            <a:r>
              <a:rPr lang="fr-FR" sz="3200" dirty="0" smtClean="0"/>
              <a:t>Contre indication en cas d’ATCD d’allergie     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Effets secondaires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Généralement bien tolérées </a:t>
            </a:r>
          </a:p>
          <a:p>
            <a:r>
              <a:rPr lang="fr-FR" dirty="0" smtClean="0"/>
              <a:t>Troubles digestifs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Classification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Les pénicillines différent par la PK , spectre  d’action , et la résistance aux  </a:t>
            </a:r>
            <a:r>
              <a:rPr lang="fr-FR" sz="3200" dirty="0" err="1" smtClean="0"/>
              <a:t>bétalactamases</a:t>
            </a:r>
            <a:r>
              <a:rPr lang="fr-FR" sz="3200" dirty="0" smtClean="0"/>
              <a:t>  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Pénicillines 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3200" dirty="0" smtClean="0"/>
              <a:t>Instable dans le milieux digestif</a:t>
            </a:r>
          </a:p>
          <a:p>
            <a:r>
              <a:rPr lang="fr-FR" sz="3200" dirty="0" smtClean="0"/>
              <a:t>  </a:t>
            </a:r>
            <a:r>
              <a:rPr lang="fr-FR" sz="3200" b="1" dirty="0" smtClean="0"/>
              <a:t>BICLINOCILLINE</a:t>
            </a:r>
            <a:r>
              <a:rPr lang="fr-FR" sz="3200" b="1" baseline="30000" dirty="0" smtClean="0"/>
              <a:t>®</a:t>
            </a:r>
            <a:r>
              <a:rPr lang="fr-FR" sz="3200" b="1" dirty="0" smtClean="0"/>
              <a:t> </a:t>
            </a:r>
          </a:p>
          <a:p>
            <a:r>
              <a:rPr lang="fr-FR" sz="3200" b="1" dirty="0" err="1" smtClean="0"/>
              <a:t>benzathine</a:t>
            </a:r>
            <a:r>
              <a:rPr lang="fr-FR" sz="3200" b="1" dirty="0" smtClean="0"/>
              <a:t> </a:t>
            </a:r>
            <a:r>
              <a:rPr lang="fr-FR" sz="3200" b="1" dirty="0" err="1" smtClean="0"/>
              <a:t>benzylpénicilline</a:t>
            </a:r>
            <a:r>
              <a:rPr lang="fr-FR" sz="3200" b="1" dirty="0" smtClean="0"/>
              <a:t> EXTENCILLINE</a:t>
            </a:r>
            <a:r>
              <a:rPr lang="fr-FR" sz="3200" b="1" baseline="30000" dirty="0" smtClean="0"/>
              <a:t>®</a:t>
            </a:r>
            <a:r>
              <a:rPr lang="fr-FR" sz="3200" b="1" dirty="0" smtClean="0"/>
              <a:t> </a:t>
            </a:r>
          </a:p>
          <a:p>
            <a:r>
              <a:rPr lang="fr-FR" sz="3200" b="1" dirty="0" smtClean="0"/>
              <a:t>Indiction : prévention de rechute de RAA</a:t>
            </a:r>
            <a:br>
              <a:rPr lang="fr-FR" sz="3200" b="1" dirty="0" smtClean="0"/>
            </a:b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dirty="0" smtClean="0"/>
              <a:t>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Pénicillines V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b="1" dirty="0" err="1" smtClean="0"/>
              <a:t>Phénoxyméthylpénicilline</a:t>
            </a:r>
            <a:r>
              <a:rPr lang="fr-FR" sz="3200" b="1" dirty="0" smtClean="0"/>
              <a:t> ORACILLINE</a:t>
            </a:r>
            <a:r>
              <a:rPr lang="fr-FR" sz="3200" b="1" baseline="30000" dirty="0" smtClean="0"/>
              <a:t>®</a:t>
            </a:r>
            <a:r>
              <a:rPr lang="fr-FR" sz="3200" b="1" dirty="0" smtClean="0"/>
              <a:t> </a:t>
            </a:r>
          </a:p>
          <a:p>
            <a:r>
              <a:rPr lang="fr-FR" sz="3200" b="1" dirty="0" smtClean="0"/>
              <a:t>Administration  orale </a:t>
            </a:r>
            <a:br>
              <a:rPr lang="fr-FR" sz="3200" b="1" dirty="0" smtClean="0"/>
            </a:b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Pénicillines M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 err="1" smtClean="0"/>
              <a:t>Oxacilline</a:t>
            </a:r>
            <a:r>
              <a:rPr lang="fr-FR" sz="3200" dirty="0" smtClean="0"/>
              <a:t> </a:t>
            </a:r>
            <a:r>
              <a:rPr lang="fr-FR" sz="3200" b="1" dirty="0" smtClean="0"/>
              <a:t>BRISTOPEN</a:t>
            </a:r>
            <a:r>
              <a:rPr lang="fr-FR" sz="3200" b="1" baseline="30000" dirty="0" smtClean="0"/>
              <a:t>®</a:t>
            </a:r>
            <a:endParaRPr lang="fr-FR" sz="3200" dirty="0" smtClean="0"/>
          </a:p>
          <a:p>
            <a:r>
              <a:rPr lang="fr-FR" sz="3200" dirty="0" smtClean="0"/>
              <a:t> résistante à la pénicillinase.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Penicillines</a:t>
            </a:r>
            <a:r>
              <a:rPr lang="fr-FR" dirty="0" smtClean="0"/>
              <a:t> 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3200" dirty="0" err="1" smtClean="0"/>
              <a:t>Amino</a:t>
            </a:r>
            <a:r>
              <a:rPr lang="fr-FR" sz="3200" dirty="0" smtClean="0"/>
              <a:t>- </a:t>
            </a:r>
            <a:r>
              <a:rPr lang="fr-FR" sz="3200" dirty="0" err="1" smtClean="0"/>
              <a:t>penicillines</a:t>
            </a:r>
            <a:r>
              <a:rPr lang="fr-FR" sz="3200" dirty="0" smtClean="0"/>
              <a:t>  ( spectre plus large ) mais sensible aux </a:t>
            </a:r>
            <a:r>
              <a:rPr lang="fr-FR" sz="3200" dirty="0" err="1" smtClean="0"/>
              <a:t>betalactamases</a:t>
            </a:r>
            <a:endParaRPr lang="fr-FR" sz="3200" dirty="0" smtClean="0"/>
          </a:p>
          <a:p>
            <a:r>
              <a:rPr lang="fr-FR" sz="3200" b="1" dirty="0" smtClean="0"/>
              <a:t>Ampicilline TOTAPEN</a:t>
            </a:r>
            <a:r>
              <a:rPr lang="fr-FR" sz="3200" b="1" baseline="30000" dirty="0" smtClean="0"/>
              <a:t>®</a:t>
            </a:r>
            <a:r>
              <a:rPr lang="fr-FR" sz="3200" b="1" dirty="0" smtClean="0"/>
              <a:t> </a:t>
            </a:r>
          </a:p>
          <a:p>
            <a:r>
              <a:rPr lang="fr-FR" sz="3200" b="1" dirty="0" err="1" smtClean="0"/>
              <a:t>Amoxicilline</a:t>
            </a:r>
            <a:r>
              <a:rPr lang="fr-FR" sz="3200" b="1" dirty="0" smtClean="0"/>
              <a:t> CLAMOXYL</a:t>
            </a:r>
            <a:r>
              <a:rPr lang="fr-FR" sz="3200" b="1" baseline="30000" dirty="0" smtClean="0"/>
              <a:t>®</a:t>
            </a:r>
          </a:p>
          <a:p>
            <a:r>
              <a:rPr lang="fr-FR" sz="3200" b="1" dirty="0" err="1" smtClean="0"/>
              <a:t>amoxicilline</a:t>
            </a:r>
            <a:r>
              <a:rPr lang="fr-FR" sz="3200" b="1" dirty="0" smtClean="0"/>
              <a:t>, acide </a:t>
            </a:r>
            <a:r>
              <a:rPr lang="fr-FR" sz="3200" b="1" dirty="0" err="1" smtClean="0"/>
              <a:t>clavulanique</a:t>
            </a:r>
            <a:r>
              <a:rPr lang="fr-FR" sz="3200" b="1" dirty="0" smtClean="0"/>
              <a:t> AUGMENTIN</a:t>
            </a:r>
            <a:r>
              <a:rPr lang="fr-FR" sz="3200" b="1" baseline="30000" dirty="0" smtClean="0"/>
              <a:t>®</a:t>
            </a:r>
            <a:r>
              <a:rPr lang="fr-FR" sz="3200" b="1" dirty="0" smtClean="0"/>
              <a:t> 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Inhibiteurs des beta-</a:t>
            </a:r>
            <a:r>
              <a:rPr lang="fr-FR" dirty="0" err="1" smtClean="0"/>
              <a:t>lactamases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Bonne activité contre les </a:t>
            </a:r>
            <a:r>
              <a:rPr lang="fr-FR" sz="3200" dirty="0" err="1" smtClean="0"/>
              <a:t>penicillinases</a:t>
            </a:r>
            <a:endParaRPr lang="fr-FR" sz="3200" dirty="0" smtClean="0"/>
          </a:p>
          <a:p>
            <a:r>
              <a:rPr lang="fr-FR" sz="3200" dirty="0" smtClean="0"/>
              <a:t>peu efficaces conte les b-</a:t>
            </a:r>
            <a:r>
              <a:rPr lang="fr-FR" sz="3200" dirty="0" err="1" smtClean="0"/>
              <a:t>lactamases</a:t>
            </a:r>
            <a:r>
              <a:rPr lang="fr-FR" sz="3200" dirty="0" smtClean="0"/>
              <a:t> a spectre étendu</a:t>
            </a:r>
          </a:p>
          <a:p>
            <a:r>
              <a:rPr lang="fr-FR" sz="3200" dirty="0" smtClean="0"/>
              <a:t>inefficaces contre les </a:t>
            </a:r>
            <a:r>
              <a:rPr lang="fr-FR" sz="3200" dirty="0" err="1" smtClean="0"/>
              <a:t>cephalosporinases</a:t>
            </a:r>
            <a:r>
              <a:rPr lang="fr-FR" sz="3200" dirty="0" smtClean="0"/>
              <a:t> chromosomiques</a:t>
            </a:r>
          </a:p>
          <a:p>
            <a:r>
              <a:rPr lang="fr-FR" sz="3200" dirty="0" smtClean="0"/>
              <a:t>Pas d’ activité antibiotique propre</a:t>
            </a:r>
          </a:p>
          <a:p>
            <a:r>
              <a:rPr lang="fr-FR" sz="3200" dirty="0" smtClean="0"/>
              <a:t>Inhibition enzymatique irréversible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dirty="0" err="1" smtClean="0"/>
              <a:t>Carboxypénicillines</a:t>
            </a:r>
            <a:endParaRPr lang="fr-FR" sz="4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b="1" dirty="0" err="1" smtClean="0"/>
              <a:t>ticarcilline</a:t>
            </a:r>
            <a:r>
              <a:rPr lang="fr-FR" sz="3200" b="1" dirty="0" smtClean="0"/>
              <a:t>, acide </a:t>
            </a:r>
            <a:r>
              <a:rPr lang="fr-FR" sz="3200" b="1" dirty="0" err="1" smtClean="0"/>
              <a:t>clavulanique</a:t>
            </a:r>
            <a:r>
              <a:rPr lang="fr-FR" sz="3200" b="1" dirty="0" smtClean="0"/>
              <a:t> CLAVENTIN</a:t>
            </a:r>
            <a:r>
              <a:rPr lang="fr-FR" sz="3200" b="1" baseline="30000" dirty="0" smtClean="0"/>
              <a:t>®</a:t>
            </a:r>
            <a:r>
              <a:rPr lang="fr-FR" sz="3200" b="1" dirty="0" smtClean="0"/>
              <a:t> 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900" dirty="0" err="1" smtClean="0"/>
              <a:t>Uréidopénicillines</a:t>
            </a:r>
            <a:r>
              <a:rPr lang="fr-FR" sz="4900" dirty="0" smtClean="0"/>
              <a:t>.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3200" b="1" dirty="0" err="1" smtClean="0"/>
              <a:t>pipéracilline</a:t>
            </a:r>
            <a:r>
              <a:rPr lang="fr-FR" sz="3200" b="1" dirty="0" smtClean="0"/>
              <a:t>, </a:t>
            </a:r>
            <a:r>
              <a:rPr lang="fr-FR" sz="3200" b="1" dirty="0" err="1" smtClean="0"/>
              <a:t>tazobactam</a:t>
            </a:r>
            <a:r>
              <a:rPr lang="fr-FR" sz="3200" b="1" dirty="0" smtClean="0"/>
              <a:t> TAZOCILLINE</a:t>
            </a:r>
            <a:r>
              <a:rPr lang="fr-FR" sz="3200" b="1" baseline="30000" dirty="0" smtClean="0"/>
              <a:t>®</a:t>
            </a:r>
            <a:r>
              <a:rPr lang="fr-FR" sz="3200" b="1" dirty="0" smtClean="0"/>
              <a:t> </a:t>
            </a:r>
          </a:p>
          <a:p>
            <a:endParaRPr lang="fr-FR" sz="3200" b="1" dirty="0" smtClean="0"/>
          </a:p>
          <a:p>
            <a:r>
              <a:rPr lang="fr-FR" dirty="0" smtClean="0"/>
              <a:t>Bonne diffusion</a:t>
            </a:r>
          </a:p>
          <a:p>
            <a:r>
              <a:rPr lang="fr-FR" dirty="0" smtClean="0"/>
              <a:t>Elimination essentiellement urinaire, mais non négligeable par voie hépatique</a:t>
            </a:r>
            <a:r>
              <a:rPr lang="fr-FR" b="1" dirty="0" smtClean="0"/>
              <a:t/>
            </a:r>
            <a:br>
              <a:rPr lang="fr-FR" b="1" dirty="0" smtClean="0"/>
            </a:b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900" dirty="0" smtClean="0"/>
              <a:t>Les céphalosporines</a:t>
            </a:r>
            <a:r>
              <a:rPr lang="fr-FR" dirty="0" smtClean="0"/>
              <a:t>    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On </a:t>
            </a:r>
            <a:r>
              <a:rPr lang="fr-FR" sz="3200" smtClean="0"/>
              <a:t>distingue </a:t>
            </a:r>
            <a:r>
              <a:rPr lang="fr-FR" sz="3200" smtClean="0"/>
              <a:t>5 </a:t>
            </a:r>
            <a:r>
              <a:rPr lang="fr-FR" sz="3200" dirty="0" smtClean="0"/>
              <a:t>générations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Première génération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b="1" dirty="0" err="1" smtClean="0"/>
              <a:t>Céfadroxil</a:t>
            </a:r>
            <a:r>
              <a:rPr lang="fr-FR" sz="3200" b="1" dirty="0" smtClean="0"/>
              <a:t> ORACÉFAL</a:t>
            </a:r>
            <a:r>
              <a:rPr lang="fr-FR" sz="3200" b="1" baseline="30000" dirty="0" smtClean="0"/>
              <a:t>®</a:t>
            </a:r>
            <a:r>
              <a:rPr lang="fr-FR" sz="3200" b="1" dirty="0" smtClean="0"/>
              <a:t> </a:t>
            </a:r>
          </a:p>
          <a:p>
            <a:r>
              <a:rPr lang="fr-FR" sz="3200" b="1" dirty="0" err="1" smtClean="0"/>
              <a:t>Céfalexine</a:t>
            </a:r>
            <a:r>
              <a:rPr lang="fr-FR" sz="3200" b="1" dirty="0" smtClean="0"/>
              <a:t> KEFORAL</a:t>
            </a:r>
            <a:r>
              <a:rPr lang="fr-FR" sz="3200" b="1" baseline="30000" dirty="0" smtClean="0"/>
              <a:t>®</a:t>
            </a:r>
            <a:endParaRPr lang="fr-FR" sz="3200" b="1" dirty="0" smtClean="0"/>
          </a:p>
          <a:p>
            <a:r>
              <a:rPr lang="fr-FR" sz="3200" b="1" dirty="0" smtClean="0"/>
              <a:t>Pharmacocinétique : bonne absorption orale , mauvaise diffusion </a:t>
            </a:r>
          </a:p>
          <a:p>
            <a:r>
              <a:rPr lang="fr-FR" sz="3200" b="1" dirty="0" smtClean="0"/>
              <a:t>Elimination urinaire </a:t>
            </a:r>
          </a:p>
          <a:p>
            <a:endParaRPr lang="fr-FR" sz="3200" b="1" baseline="30000" dirty="0" smtClean="0"/>
          </a:p>
          <a:p>
            <a:endParaRPr lang="fr-FR" sz="3200" b="1" baseline="30000" dirty="0" smtClean="0"/>
          </a:p>
          <a:p>
            <a:endParaRPr lang="fr-FR" sz="3200" b="1" baseline="30000" dirty="0" smtClean="0"/>
          </a:p>
          <a:p>
            <a:endParaRPr lang="fr-FR" sz="3200" b="1" baseline="30000" dirty="0" smtClean="0"/>
          </a:p>
          <a:p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Deuxième génération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643050"/>
            <a:ext cx="8229600" cy="4709160"/>
          </a:xfrm>
        </p:spPr>
        <p:txBody>
          <a:bodyPr>
            <a:normAutofit/>
          </a:bodyPr>
          <a:lstStyle/>
          <a:p>
            <a:r>
              <a:rPr lang="fr-FR" sz="3200" b="1" dirty="0" err="1" smtClean="0"/>
              <a:t>Céfuroxime</a:t>
            </a:r>
            <a:r>
              <a:rPr lang="fr-FR" sz="3200" b="1" dirty="0" smtClean="0"/>
              <a:t> ZINNAT</a:t>
            </a:r>
            <a:r>
              <a:rPr lang="fr-FR" sz="3200" b="1" baseline="30000" dirty="0" smtClean="0"/>
              <a:t>®     </a:t>
            </a:r>
          </a:p>
          <a:p>
            <a:endParaRPr lang="fr-FR" sz="3200" b="1" baseline="30000" dirty="0" smtClean="0"/>
          </a:p>
          <a:p>
            <a:r>
              <a:rPr lang="fr-FR" sz="3200" dirty="0" smtClean="0"/>
              <a:t>Bonne diffusion mais pas dans le LCR</a:t>
            </a:r>
          </a:p>
          <a:p>
            <a:endParaRPr lang="fr-FR" sz="3200" dirty="0" smtClean="0"/>
          </a:p>
          <a:p>
            <a:r>
              <a:rPr lang="fr-FR" sz="3200" dirty="0" smtClean="0"/>
              <a:t>Meilleure résistance au </a:t>
            </a:r>
            <a:r>
              <a:rPr lang="fr-FR" sz="3200" dirty="0" err="1" smtClean="0"/>
              <a:t>betalactamases</a:t>
            </a:r>
            <a:r>
              <a:rPr lang="fr-FR" sz="3200" dirty="0" smtClean="0"/>
              <a:t> 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Troisième génération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/>
              <a:t> </a:t>
            </a:r>
            <a:r>
              <a:rPr lang="fr-FR" sz="3200" b="1" dirty="0" err="1" smtClean="0"/>
              <a:t>Céfotaxime</a:t>
            </a:r>
            <a:r>
              <a:rPr lang="fr-FR" sz="3200" b="1" dirty="0" smtClean="0"/>
              <a:t>  CLAFORAN</a:t>
            </a:r>
            <a:r>
              <a:rPr lang="fr-FR" sz="3200" b="1" baseline="30000" dirty="0" smtClean="0"/>
              <a:t>®</a:t>
            </a:r>
          </a:p>
          <a:p>
            <a:r>
              <a:rPr lang="fr-FR" sz="3200" b="1" dirty="0" smtClean="0"/>
              <a:t> </a:t>
            </a:r>
            <a:r>
              <a:rPr lang="fr-FR" sz="3200" b="1" dirty="0" err="1" smtClean="0"/>
              <a:t>Ceftazidime</a:t>
            </a:r>
            <a:r>
              <a:rPr lang="fr-FR" sz="3200" b="1" dirty="0" smtClean="0"/>
              <a:t> FORTUM</a:t>
            </a:r>
            <a:r>
              <a:rPr lang="fr-FR" sz="3200" b="1" baseline="30000" dirty="0" smtClean="0"/>
              <a:t>®</a:t>
            </a:r>
          </a:p>
          <a:p>
            <a:r>
              <a:rPr lang="fr-FR" sz="3200" b="1" dirty="0" smtClean="0"/>
              <a:t> </a:t>
            </a:r>
            <a:r>
              <a:rPr lang="fr-FR" sz="3200" b="1" dirty="0" err="1" smtClean="0"/>
              <a:t>Ceftriaxone</a:t>
            </a:r>
            <a:r>
              <a:rPr lang="fr-FR" sz="3200" b="1" dirty="0" smtClean="0"/>
              <a:t> ROCÉPHINE</a:t>
            </a:r>
            <a:r>
              <a:rPr lang="fr-FR" sz="3200" b="1" baseline="30000" dirty="0" smtClean="0"/>
              <a:t>®</a:t>
            </a:r>
            <a:endParaRPr lang="fr-FR" sz="3200" b="1" dirty="0" smtClean="0"/>
          </a:p>
          <a:p>
            <a:r>
              <a:rPr lang="fr-FR" sz="3200" b="1" dirty="0" smtClean="0"/>
              <a:t> </a:t>
            </a:r>
            <a:r>
              <a:rPr lang="fr-FR" sz="3200" b="1" dirty="0" err="1" smtClean="0"/>
              <a:t>Céfixime</a:t>
            </a:r>
            <a:r>
              <a:rPr lang="fr-FR" sz="3200" b="1" dirty="0" smtClean="0"/>
              <a:t> OROKEN</a:t>
            </a:r>
            <a:r>
              <a:rPr lang="fr-FR" sz="3200" b="1" baseline="30000" dirty="0" smtClean="0"/>
              <a:t>®</a:t>
            </a:r>
            <a:r>
              <a:rPr lang="fr-FR" sz="3200" b="1" dirty="0" smtClean="0"/>
              <a:t>    voie orale </a:t>
            </a:r>
          </a:p>
          <a:p>
            <a:r>
              <a:rPr lang="fr-FR" sz="3200" b="1" dirty="0" smtClean="0"/>
              <a:t> passage dans le LCR particulièrement par voie injectable   </a:t>
            </a:r>
            <a:endParaRPr lang="fr-FR" sz="3200" b="1" baseline="30000" dirty="0" smtClean="0"/>
          </a:p>
          <a:p>
            <a:r>
              <a:rPr lang="fr-FR" sz="3200" b="1" dirty="0" smtClean="0"/>
              <a:t> spectre élargi , CMI  plus faible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Quatrième génération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 smtClean="0"/>
          </a:p>
          <a:p>
            <a:r>
              <a:rPr lang="fr-FR" b="1" dirty="0" err="1" smtClean="0"/>
              <a:t>Cefepime</a:t>
            </a:r>
            <a:r>
              <a:rPr lang="fr-FR" b="1" dirty="0" smtClean="0"/>
              <a:t>(AXEPIM®): </a:t>
            </a:r>
          </a:p>
          <a:p>
            <a:endParaRPr lang="fr-FR" dirty="0" smtClean="0"/>
          </a:p>
          <a:p>
            <a:r>
              <a:rPr lang="fr-FR" b="1" dirty="0" err="1" smtClean="0"/>
              <a:t>Cefpirome</a:t>
            </a:r>
            <a:r>
              <a:rPr lang="fr-FR" b="1" dirty="0" smtClean="0"/>
              <a:t>(CEFROM®)</a:t>
            </a:r>
          </a:p>
          <a:p>
            <a:endParaRPr lang="fr-FR" b="1" dirty="0" smtClean="0"/>
          </a:p>
          <a:p>
            <a:r>
              <a:rPr lang="fr-FR" b="1" dirty="0" smtClean="0"/>
              <a:t>Spectre élargi </a:t>
            </a:r>
            <a:r>
              <a:rPr lang="fr-FR" b="1" smtClean="0"/>
              <a:t>à  </a:t>
            </a:r>
            <a:r>
              <a:rPr lang="fr-FR" i="1" smtClean="0"/>
              <a:t>P</a:t>
            </a:r>
            <a:r>
              <a:rPr lang="fr-FR" i="1" dirty="0" smtClean="0"/>
              <a:t>. </a:t>
            </a:r>
            <a:r>
              <a:rPr lang="fr-FR" i="1" dirty="0" err="1" smtClean="0"/>
              <a:t>aeruginosa</a:t>
            </a:r>
            <a:r>
              <a:rPr lang="fr-FR" i="1" dirty="0" smtClean="0"/>
              <a:t>, </a:t>
            </a:r>
          </a:p>
          <a:p>
            <a:endParaRPr lang="fr-FR" b="1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5eme génération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 smtClean="0"/>
              <a:t>Céftaroline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Spectre : </a:t>
            </a:r>
          </a:p>
          <a:p>
            <a:r>
              <a:rPr lang="fr-FR" dirty="0"/>
              <a:t>gram -</a:t>
            </a:r>
          </a:p>
          <a:p>
            <a:r>
              <a:rPr lang="fr-FR" dirty="0"/>
              <a:t>gram +</a:t>
            </a:r>
          </a:p>
          <a:p>
            <a:r>
              <a:rPr lang="fr-FR" dirty="0"/>
              <a:t>SARM :  Staphylococcus aureus résistant à la </a:t>
            </a:r>
            <a:r>
              <a:rPr lang="fr-FR" dirty="0" err="1" smtClean="0"/>
              <a:t>méthicilline</a:t>
            </a:r>
            <a:endParaRPr lang="fr-FR" dirty="0" smtClean="0"/>
          </a:p>
          <a:p>
            <a:r>
              <a:rPr lang="fr-FR" dirty="0"/>
              <a:t>Le Pseudomonas </a:t>
            </a:r>
            <a:r>
              <a:rPr lang="fr-FR" dirty="0" err="1"/>
              <a:t>aeruginosa</a:t>
            </a:r>
            <a:r>
              <a:rPr lang="fr-FR"/>
              <a:t> n'est pas couvert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558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Remarque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3200" dirty="0" smtClean="0"/>
              <a:t>Les </a:t>
            </a:r>
            <a:r>
              <a:rPr lang="fr-FR" sz="3200" dirty="0" err="1" smtClean="0"/>
              <a:t>oxacéphèms</a:t>
            </a:r>
            <a:r>
              <a:rPr lang="fr-FR" sz="3200" dirty="0" smtClean="0"/>
              <a:t> et les </a:t>
            </a:r>
            <a:r>
              <a:rPr lang="fr-FR" sz="3200" dirty="0" err="1" smtClean="0"/>
              <a:t>carbacéphèmes</a:t>
            </a:r>
            <a:r>
              <a:rPr lang="fr-FR" sz="3200" dirty="0" smtClean="0"/>
              <a:t> sont apparentés aux céphalosporine</a:t>
            </a:r>
            <a:r>
              <a:rPr lang="fr-FR" dirty="0" smtClean="0"/>
              <a:t>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dirty="0" smtClean="0"/>
              <a:t>Les </a:t>
            </a:r>
            <a:r>
              <a:rPr lang="fr-FR" sz="4400" dirty="0" err="1" smtClean="0"/>
              <a:t>carbapénems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3200" b="1" dirty="0" err="1" smtClean="0"/>
              <a:t>Imipénem</a:t>
            </a:r>
            <a:r>
              <a:rPr lang="fr-FR" sz="3200" b="1" dirty="0" smtClean="0"/>
              <a:t>, </a:t>
            </a:r>
            <a:r>
              <a:rPr lang="fr-FR" sz="3200" b="1" dirty="0" err="1" smtClean="0"/>
              <a:t>cilastatine</a:t>
            </a:r>
            <a:r>
              <a:rPr lang="fr-FR" sz="3200" b="1" dirty="0" smtClean="0"/>
              <a:t> TIENAM</a:t>
            </a:r>
            <a:r>
              <a:rPr lang="fr-FR" sz="3200" b="1" baseline="30000" dirty="0" smtClean="0"/>
              <a:t>®</a:t>
            </a:r>
            <a:r>
              <a:rPr lang="fr-FR" sz="3200" b="1" dirty="0" smtClean="0"/>
              <a:t>  </a:t>
            </a:r>
          </a:p>
          <a:p>
            <a:r>
              <a:rPr lang="fr-FR" sz="3200" dirty="0" err="1" smtClean="0"/>
              <a:t>cilastatine</a:t>
            </a:r>
            <a:r>
              <a:rPr lang="fr-FR" sz="3200" dirty="0" smtClean="0"/>
              <a:t>, inhibiteur compétitif  de la </a:t>
            </a:r>
            <a:r>
              <a:rPr lang="fr-FR" sz="3200" dirty="0" err="1" smtClean="0"/>
              <a:t>déhydropeptidase</a:t>
            </a:r>
            <a:r>
              <a:rPr lang="fr-FR" sz="3200" dirty="0" smtClean="0"/>
              <a:t> I, enzyme rénale qui métabolise et inactive l'</a:t>
            </a:r>
            <a:r>
              <a:rPr lang="fr-FR" sz="3200" dirty="0" err="1" smtClean="0"/>
              <a:t>imipénem</a:t>
            </a:r>
            <a:r>
              <a:rPr lang="fr-FR" sz="3200" dirty="0" smtClean="0"/>
              <a:t>. </a:t>
            </a:r>
          </a:p>
          <a:p>
            <a:endParaRPr lang="fr-FR" sz="3200" dirty="0" smtClean="0"/>
          </a:p>
          <a:p>
            <a:r>
              <a:rPr lang="fr-FR" dirty="0" smtClean="0"/>
              <a:t>Spectre très large</a:t>
            </a:r>
            <a:br>
              <a:rPr lang="fr-FR" dirty="0" smtClean="0"/>
            </a:br>
            <a:endParaRPr lang="fr-FR" b="1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dirty="0" smtClean="0"/>
              <a:t>Les </a:t>
            </a:r>
            <a:r>
              <a:rPr lang="fr-FR" sz="4400" dirty="0" err="1" smtClean="0"/>
              <a:t>monobactams</a:t>
            </a:r>
            <a:r>
              <a:rPr lang="fr-FR" sz="4400" dirty="0" smtClean="0"/>
              <a:t>      </a:t>
            </a:r>
            <a:br>
              <a:rPr lang="fr-FR" sz="4400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b="1" dirty="0" err="1" smtClean="0"/>
              <a:t>Aztréonam</a:t>
            </a:r>
            <a:r>
              <a:rPr lang="fr-FR" sz="3200" b="1" dirty="0" smtClean="0"/>
              <a:t> AZACTAM</a:t>
            </a:r>
            <a:r>
              <a:rPr lang="fr-FR" sz="3200" b="1" baseline="30000" dirty="0" smtClean="0"/>
              <a:t>®</a:t>
            </a:r>
            <a:r>
              <a:rPr lang="fr-FR" sz="3200" b="1" dirty="0" smtClean="0"/>
              <a:t> </a:t>
            </a:r>
          </a:p>
          <a:p>
            <a:r>
              <a:rPr lang="fr-FR" sz="3200" dirty="0" smtClean="0"/>
              <a:t>Inactif sur Gram (+) </a:t>
            </a:r>
            <a:r>
              <a:rPr lang="fr-FR" sz="3200" dirty="0" err="1" smtClean="0"/>
              <a:t>etanaérobies</a:t>
            </a:r>
            <a:r>
              <a:rPr lang="fr-FR" sz="3200" dirty="0" smtClean="0"/>
              <a:t>.</a:t>
            </a:r>
          </a:p>
          <a:p>
            <a:r>
              <a:rPr lang="fr-FR" sz="3200" dirty="0" smtClean="0"/>
              <a:t>Très actif sur les aérobies Gram (-), dont</a:t>
            </a:r>
          </a:p>
          <a:p>
            <a:pPr>
              <a:buNone/>
            </a:pPr>
            <a:r>
              <a:rPr lang="fr-FR" sz="3200" dirty="0" smtClean="0"/>
              <a:t>entérobactéries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12011</TotalTime>
  <Words>438</Words>
  <Application>Microsoft Office PowerPoint</Application>
  <PresentationFormat>Affichage à l'écran (4:3)</PresentationFormat>
  <Paragraphs>116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5" baseType="lpstr">
      <vt:lpstr>Book Antiqua</vt:lpstr>
      <vt:lpstr>Lucida Sans</vt:lpstr>
      <vt:lpstr>Wingdings</vt:lpstr>
      <vt:lpstr>Wingdings 2</vt:lpstr>
      <vt:lpstr>Wingdings 3</vt:lpstr>
      <vt:lpstr>Apex</vt:lpstr>
      <vt:lpstr>Les betalactamines</vt:lpstr>
      <vt:lpstr>Introduction </vt:lpstr>
      <vt:lpstr>Les pénicillines </vt:lpstr>
      <vt:lpstr>Présentation PowerPoint</vt:lpstr>
      <vt:lpstr>Mecanisme d’action</vt:lpstr>
      <vt:lpstr>Paroi chez les Gram +</vt:lpstr>
      <vt:lpstr>Présentation PowerPoint</vt:lpstr>
      <vt:lpstr>Présentation PowerPoint</vt:lpstr>
      <vt:lpstr>Présentation PowerPoint</vt:lpstr>
      <vt:lpstr>Mécanisme de résistance </vt:lpstr>
      <vt:lpstr>Allergie aux pénicillines  </vt:lpstr>
      <vt:lpstr>Effets secondaires</vt:lpstr>
      <vt:lpstr>Classification</vt:lpstr>
      <vt:lpstr>Pénicillines G</vt:lpstr>
      <vt:lpstr>Pénicillines V</vt:lpstr>
      <vt:lpstr>Pénicillines M</vt:lpstr>
      <vt:lpstr>Penicillines A</vt:lpstr>
      <vt:lpstr>Inhibiteurs des beta-lactamases </vt:lpstr>
      <vt:lpstr>Carboxypénicillines</vt:lpstr>
      <vt:lpstr>Uréidopénicillines. </vt:lpstr>
      <vt:lpstr>Les céphalosporines     </vt:lpstr>
      <vt:lpstr>Première génération </vt:lpstr>
      <vt:lpstr>Deuxième génération </vt:lpstr>
      <vt:lpstr>Troisième génération </vt:lpstr>
      <vt:lpstr>Quatrième génération</vt:lpstr>
      <vt:lpstr>5eme génération </vt:lpstr>
      <vt:lpstr>Remarque </vt:lpstr>
      <vt:lpstr>Les carbapénems</vt:lpstr>
      <vt:lpstr>Les monobactams       </vt:lpstr>
    </vt:vector>
  </TitlesOfParts>
  <Company>FX® Core Perso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betalactamines</dc:title>
  <dc:creator>Taha Deroich</dc:creator>
  <cp:lastModifiedBy>DELL</cp:lastModifiedBy>
  <cp:revision>49</cp:revision>
  <dcterms:created xsi:type="dcterms:W3CDTF">2009-05-09T20:02:11Z</dcterms:created>
  <dcterms:modified xsi:type="dcterms:W3CDTF">2025-05-26T10:19:55Z</dcterms:modified>
</cp:coreProperties>
</file>