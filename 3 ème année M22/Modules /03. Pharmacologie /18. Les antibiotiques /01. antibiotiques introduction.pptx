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7" r:id="rId2"/>
    <p:sldId id="258" r:id="rId3"/>
    <p:sldId id="267" r:id="rId4"/>
    <p:sldId id="259" r:id="rId5"/>
    <p:sldId id="261" r:id="rId6"/>
    <p:sldId id="262" r:id="rId7"/>
    <p:sldId id="269" r:id="rId8"/>
    <p:sldId id="263" r:id="rId9"/>
    <p:sldId id="271" r:id="rId10"/>
    <p:sldId id="268" r:id="rId11"/>
    <p:sldId id="264" r:id="rId12"/>
    <p:sldId id="270" r:id="rId13"/>
    <p:sldId id="284" r:id="rId14"/>
    <p:sldId id="285" r:id="rId15"/>
    <p:sldId id="272" r:id="rId16"/>
    <p:sldId id="278" r:id="rId17"/>
    <p:sldId id="279" r:id="rId18"/>
    <p:sldId id="280" r:id="rId19"/>
    <p:sldId id="286" r:id="rId20"/>
    <p:sldId id="287" r:id="rId21"/>
    <p:sldId id="288" r:id="rId22"/>
    <p:sldId id="289" r:id="rId2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03" autoAdjust="0"/>
    <p:restoredTop sz="94660"/>
  </p:normalViewPr>
  <p:slideViewPr>
    <p:cSldViewPr>
      <p:cViewPr varScale="1">
        <p:scale>
          <a:sx n="70" d="100"/>
          <a:sy n="70" d="100"/>
        </p:scale>
        <p:origin x="1350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A95CC8-1CF6-4DEA-ABFC-C720EDB7ED01}" type="datetimeFigureOut">
              <a:rPr lang="fr-FR" smtClean="0"/>
              <a:pPr/>
              <a:t>26/05/2025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942FD-BAF2-4037-AF90-0CDEF32757DB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72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812A9-5EF7-4EE1-943C-0824E45C512E}" type="datetimeFigureOut">
              <a:rPr lang="fr-FR" smtClean="0"/>
              <a:pPr/>
              <a:t>26/05/2025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11107-D7B6-4B33-A7D6-1D208047CF1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812A9-5EF7-4EE1-943C-0824E45C512E}" type="datetimeFigureOut">
              <a:rPr lang="fr-FR" smtClean="0"/>
              <a:pPr/>
              <a:t>26/05/2025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11107-D7B6-4B33-A7D6-1D208047CF1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812A9-5EF7-4EE1-943C-0824E45C512E}" type="datetimeFigureOut">
              <a:rPr lang="fr-FR" smtClean="0"/>
              <a:pPr/>
              <a:t>26/05/2025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56B11107-D7B6-4B33-A7D6-1D208047CF1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812A9-5EF7-4EE1-943C-0824E45C512E}" type="datetimeFigureOut">
              <a:rPr lang="fr-FR" smtClean="0"/>
              <a:pPr/>
              <a:t>26/05/2025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11107-D7B6-4B33-A7D6-1D208047CF1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812A9-5EF7-4EE1-943C-0824E45C512E}" type="datetimeFigureOut">
              <a:rPr lang="fr-FR" smtClean="0"/>
              <a:pPr/>
              <a:t>26/05/2025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11107-D7B6-4B33-A7D6-1D208047CF1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812A9-5EF7-4EE1-943C-0824E45C512E}" type="datetimeFigureOut">
              <a:rPr lang="fr-FR" smtClean="0"/>
              <a:pPr/>
              <a:t>26/05/2025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11107-D7B6-4B33-A7D6-1D208047CF1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812A9-5EF7-4EE1-943C-0824E45C512E}" type="datetimeFigureOut">
              <a:rPr lang="fr-FR" smtClean="0"/>
              <a:pPr/>
              <a:t>26/05/2025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11107-D7B6-4B33-A7D6-1D208047CF1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812A9-5EF7-4EE1-943C-0824E45C512E}" type="datetimeFigureOut">
              <a:rPr lang="fr-FR" smtClean="0"/>
              <a:pPr/>
              <a:t>26/05/2025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11107-D7B6-4B33-A7D6-1D208047CF1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fr-FR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Cliquez sur l'icône pour ajouter une image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812A9-5EF7-4EE1-943C-0824E45C512E}" type="datetimeFigureOut">
              <a:rPr lang="fr-FR" smtClean="0"/>
              <a:pPr/>
              <a:t>26/05/2025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11107-D7B6-4B33-A7D6-1D208047CF1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812A9-5EF7-4EE1-943C-0824E45C512E}" type="datetimeFigureOut">
              <a:rPr lang="fr-FR" smtClean="0"/>
              <a:pPr/>
              <a:t>26/05/2025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11107-D7B6-4B33-A7D6-1D208047CF1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812A9-5EF7-4EE1-943C-0824E45C512E}" type="datetimeFigureOut">
              <a:rPr lang="fr-FR" smtClean="0"/>
              <a:pPr/>
              <a:t>26/05/2025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11107-D7B6-4B33-A7D6-1D208047CF1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9F4812A9-5EF7-4EE1-943C-0824E45C512E}" type="datetimeFigureOut">
              <a:rPr lang="fr-FR" smtClean="0"/>
              <a:pPr/>
              <a:t>26/05/2025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6B11107-D7B6-4B33-A7D6-1D208047CF1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ln>
            <a:solidFill>
              <a:srgbClr val="FFFF00"/>
            </a:solidFill>
          </a:ln>
        </p:spPr>
        <p:txBody>
          <a:bodyPr/>
          <a:lstStyle/>
          <a:p>
            <a:r>
              <a:rPr lang="fr-FR" b="0" dirty="0" smtClean="0">
                <a:solidFill>
                  <a:schemeClr val="tx1"/>
                </a:solidFill>
                <a:effectLst/>
              </a:rPr>
              <a:t>antibiothérapie</a:t>
            </a:r>
            <a:endParaRPr lang="fr-FR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>
                <a:solidFill>
                  <a:schemeClr val="tx1"/>
                </a:solidFill>
              </a:rPr>
              <a:t>Introduction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dirty="0" smtClean="0"/>
              <a:t>Définition : traitement par antibiotiques  </a:t>
            </a:r>
          </a:p>
          <a:p>
            <a:r>
              <a:rPr lang="fr-FR" sz="3200" dirty="0" smtClean="0"/>
              <a:t>Antibiotique (ATB) : agent pharmacologique capable de détruire de manière spécifique une colonie bactérienne ou stopper sa croissance</a:t>
            </a:r>
          </a:p>
          <a:p>
            <a:endParaRPr lang="fr-FR" sz="3200" dirty="0"/>
          </a:p>
          <a:p>
            <a:r>
              <a:rPr lang="fr-FR" sz="3200" dirty="0" smtClean="0"/>
              <a:t>Ne pas confondre avec les antiseptiques a action non spécifique</a:t>
            </a:r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>
                <a:solidFill>
                  <a:schemeClr val="tx1"/>
                </a:solidFill>
              </a:rPr>
              <a:t>Indications des ATB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dirty="0" smtClean="0"/>
              <a:t>Traitement et prévention ( couverture d’opérations chirurgicale) des infections bactériennes</a:t>
            </a:r>
          </a:p>
          <a:p>
            <a:r>
              <a:rPr lang="fr-FR" sz="3200" dirty="0" smtClean="0"/>
              <a:t>On distingue : </a:t>
            </a:r>
          </a:p>
          <a:p>
            <a:r>
              <a:rPr lang="fr-FR" sz="3200" dirty="0" smtClean="0"/>
              <a:t>ATB bactéricides : destruction de la colonie bactérienne </a:t>
            </a:r>
          </a:p>
          <a:p>
            <a:r>
              <a:rPr lang="fr-FR" sz="3200" dirty="0" smtClean="0"/>
              <a:t>ATB bactériostatiques  : inhibition de la croissance de la colonie </a:t>
            </a:r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>
                <a:solidFill>
                  <a:schemeClr val="tx1"/>
                </a:solidFill>
              </a:rPr>
              <a:t>Classification des ATB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dirty="0" smtClean="0"/>
              <a:t>Classification                                       chimique /pharmacologique</a:t>
            </a:r>
          </a:p>
          <a:p>
            <a:r>
              <a:rPr lang="fr-FR" sz="3200" dirty="0" smtClean="0"/>
              <a:t>Chaque classe d’ATB est caractérisée par une structure chimique commune et un même mécanisme d’action</a:t>
            </a:r>
          </a:p>
          <a:p>
            <a:endParaRPr lang="fr-FR" sz="3200" dirty="0"/>
          </a:p>
          <a:p>
            <a:r>
              <a:rPr lang="fr-FR" sz="3200" dirty="0" smtClean="0"/>
              <a:t>Exemple des béta </a:t>
            </a:r>
            <a:r>
              <a:rPr lang="fr-FR" sz="3200" dirty="0" err="1" smtClean="0"/>
              <a:t>lactamines</a:t>
            </a:r>
            <a:r>
              <a:rPr lang="fr-FR" sz="3200" dirty="0" smtClean="0"/>
              <a:t> classe chimique</a:t>
            </a:r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>
                <a:solidFill>
                  <a:schemeClr val="tx1"/>
                </a:solidFill>
              </a:rPr>
              <a:t>Critères de  choix d’un ATB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dirty="0" smtClean="0"/>
              <a:t>Pharmacodynamie </a:t>
            </a:r>
          </a:p>
          <a:p>
            <a:r>
              <a:rPr lang="fr-FR" sz="3200" dirty="0" smtClean="0"/>
              <a:t>Pharmacocinétique </a:t>
            </a:r>
          </a:p>
          <a:p>
            <a:r>
              <a:rPr lang="fr-FR" sz="3200" dirty="0" smtClean="0"/>
              <a:t>Tolérance </a:t>
            </a:r>
          </a:p>
          <a:p>
            <a:r>
              <a:rPr lang="fr-FR" sz="3200" dirty="0" smtClean="0"/>
              <a:t>Cout </a:t>
            </a:r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>
                <a:solidFill>
                  <a:schemeClr val="tx1"/>
                </a:solidFill>
              </a:rPr>
              <a:t>Pharmacodynamie</a:t>
            </a:r>
            <a:r>
              <a:rPr lang="fr-FR" dirty="0" smtClean="0"/>
              <a:t> 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3200" dirty="0" smtClean="0"/>
              <a:t>Sensibilité de la souche </a:t>
            </a:r>
          </a:p>
          <a:p>
            <a:r>
              <a:rPr lang="fr-FR" sz="3200" dirty="0" smtClean="0"/>
              <a:t>Notion de spectre d’activité: ensemble des souches bactériennes sensible à l’ATB</a:t>
            </a:r>
          </a:p>
          <a:p>
            <a:r>
              <a:rPr lang="fr-FR" sz="3200" dirty="0" smtClean="0"/>
              <a:t>Place de prescription probabiliste :en fonction de la clinique  </a:t>
            </a:r>
          </a:p>
          <a:p>
            <a:endParaRPr lang="fr-FR" sz="3200" dirty="0" smtClean="0"/>
          </a:p>
          <a:p>
            <a:r>
              <a:rPr lang="fr-FR" sz="3200" dirty="0" smtClean="0"/>
              <a:t>Valeur prédictive de l’antibiogramme – test in vitro sur milieu de culture</a:t>
            </a:r>
          </a:p>
          <a:p>
            <a:endParaRPr lang="fr-FR" sz="3200" dirty="0" smtClean="0"/>
          </a:p>
          <a:p>
            <a:r>
              <a:rPr lang="fr-FR" sz="3200" dirty="0" smtClean="0"/>
              <a:t>Les  CMI ( concentration minimale inhibitrice </a:t>
            </a:r>
          </a:p>
          <a:p>
            <a:endParaRPr lang="fr-FR" sz="3200" dirty="0" smtClean="0"/>
          </a:p>
          <a:p>
            <a:r>
              <a:rPr lang="fr-FR" sz="3200" dirty="0" smtClean="0"/>
              <a:t>Possible EPA </a:t>
            </a:r>
          </a:p>
          <a:p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Effet post antibiotique 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3200" dirty="0" smtClean="0"/>
              <a:t>Maintien de l’inhibition de la croissance bactrienne après disparition  de l’antibiotique du milieu   </a:t>
            </a:r>
          </a:p>
          <a:p>
            <a:r>
              <a:rPr lang="fr-FR" sz="3200" dirty="0" smtClean="0"/>
              <a:t>Exemple : aminoside </a:t>
            </a:r>
          </a:p>
          <a:p>
            <a:r>
              <a:rPr lang="fr-FR" sz="3200" dirty="0" smtClean="0"/>
              <a:t>Explication : temps de régénération de la cible </a:t>
            </a:r>
          </a:p>
          <a:p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>
                <a:solidFill>
                  <a:schemeClr val="tx1"/>
                </a:solidFill>
              </a:rPr>
              <a:t>Pharmacocinétique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z="3500" dirty="0" smtClean="0"/>
              <a:t>L’efficacité d’un ATB dépend du rapport entre les paramètres pharmacocinétiques et les CMI</a:t>
            </a:r>
          </a:p>
          <a:p>
            <a:r>
              <a:rPr lang="fr-FR" sz="3500" dirty="0" smtClean="0"/>
              <a:t>C’est quotient d’inhibition  : QI </a:t>
            </a:r>
          </a:p>
          <a:p>
            <a:r>
              <a:rPr lang="fr-FR" sz="3500" dirty="0" smtClean="0"/>
              <a:t>Cmax /CMI</a:t>
            </a:r>
          </a:p>
          <a:p>
            <a:r>
              <a:rPr lang="fr-FR" sz="3500" dirty="0" smtClean="0"/>
              <a:t>AUC /CMI</a:t>
            </a:r>
          </a:p>
          <a:p>
            <a:r>
              <a:rPr lang="fr-FR" sz="3500" dirty="0" smtClean="0"/>
              <a:t>Temps /CMI  : temps d’exposition (Cp ≥ CMI) </a:t>
            </a:r>
          </a:p>
          <a:p>
            <a:r>
              <a:rPr lang="fr-FR" sz="3500" dirty="0" smtClean="0"/>
              <a:t> le succès de l’antibiothérapie est proportionnel à la valeur de QI     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>
                <a:solidFill>
                  <a:schemeClr val="tx1"/>
                </a:solidFill>
              </a:rPr>
              <a:t>Pharmacocinétique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La nature du QI envisagé dépend de la famille d’antibiotiques </a:t>
            </a:r>
          </a:p>
          <a:p>
            <a:r>
              <a:rPr lang="fr-FR" dirty="0" smtClean="0"/>
              <a:t>action T dépendante : </a:t>
            </a:r>
            <a:r>
              <a:rPr lang="fr-FR" dirty="0" err="1" smtClean="0"/>
              <a:t>Betalactamines</a:t>
            </a:r>
            <a:r>
              <a:rPr lang="fr-FR" dirty="0" smtClean="0"/>
              <a:t>     </a:t>
            </a:r>
          </a:p>
          <a:p>
            <a:r>
              <a:rPr lang="fr-FR" dirty="0" smtClean="0"/>
              <a:t>action </a:t>
            </a:r>
            <a:r>
              <a:rPr lang="fr-FR" dirty="0" err="1" smtClean="0"/>
              <a:t>Cmax</a:t>
            </a:r>
            <a:r>
              <a:rPr lang="fr-FR" dirty="0" smtClean="0"/>
              <a:t> dépendante :aminosides</a:t>
            </a:r>
          </a:p>
          <a:p>
            <a:r>
              <a:rPr lang="fr-FR" dirty="0" smtClean="0"/>
              <a:t> action AUC dépendante  </a:t>
            </a:r>
            <a:r>
              <a:rPr lang="fr-FR" dirty="0" err="1" smtClean="0"/>
              <a:t>fluoro</a:t>
            </a:r>
            <a:r>
              <a:rPr lang="fr-FR" dirty="0" smtClean="0"/>
              <a:t>-quinolones 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>
                <a:solidFill>
                  <a:schemeClr val="tx1"/>
                </a:solidFill>
              </a:rPr>
              <a:t>Pharmacocinétique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3200" dirty="0" smtClean="0"/>
              <a:t>Importance de diffusion  dans les tissus périphériques</a:t>
            </a:r>
          </a:p>
          <a:p>
            <a:r>
              <a:rPr lang="fr-FR" sz="3200" dirty="0" smtClean="0"/>
              <a:t>Exemples :</a:t>
            </a:r>
          </a:p>
          <a:p>
            <a:r>
              <a:rPr lang="fr-FR" sz="3200" dirty="0" smtClean="0"/>
              <a:t>LCR - méningites</a:t>
            </a:r>
          </a:p>
          <a:p>
            <a:r>
              <a:rPr lang="fr-FR" sz="3200" dirty="0" smtClean="0"/>
              <a:t>Diffusion intracellulaire    </a:t>
            </a:r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>
                <a:solidFill>
                  <a:schemeClr val="tx1"/>
                </a:solidFill>
              </a:rPr>
              <a:t>Cout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dirty="0" smtClean="0"/>
              <a:t>Pharmaco- économie</a:t>
            </a:r>
          </a:p>
          <a:p>
            <a:r>
              <a:rPr lang="fr-FR" sz="3200" dirty="0" smtClean="0"/>
              <a:t>La santé  n’a pas de prix mais elle a un cout </a:t>
            </a:r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Tolérance 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dirty="0" smtClean="0"/>
              <a:t>Allergie </a:t>
            </a:r>
          </a:p>
          <a:p>
            <a:r>
              <a:rPr lang="fr-FR" sz="3200" dirty="0" smtClean="0"/>
              <a:t>Contre indications    </a:t>
            </a:r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Allergies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Aspects </a:t>
            </a:r>
            <a:r>
              <a:rPr lang="fr-FR" dirty="0" smtClean="0"/>
              <a:t>épidémiologiques. </a:t>
            </a:r>
            <a:r>
              <a:rPr lang="fr-FR" dirty="0" err="1" smtClean="0"/>
              <a:t>Ferequence</a:t>
            </a:r>
            <a:r>
              <a:rPr lang="fr-FR" dirty="0" smtClean="0"/>
              <a:t> des cas l’allergie pour chaque classe d’ATB</a:t>
            </a:r>
            <a:endParaRPr lang="fr-FR" dirty="0"/>
          </a:p>
          <a:p>
            <a:endParaRPr lang="fr-FR" dirty="0"/>
          </a:p>
          <a:p>
            <a:r>
              <a:rPr lang="fr-FR" dirty="0"/>
              <a:t>Problématique des réactions allergiques </a:t>
            </a:r>
            <a:r>
              <a:rPr lang="fr-FR" dirty="0" smtClean="0"/>
              <a:t>croisées  ( allergie commune à deux ATB)</a:t>
            </a:r>
            <a:endParaRPr lang="fr-FR" dirty="0"/>
          </a:p>
          <a:p>
            <a:pPr marL="137160" indent="0">
              <a:buNone/>
            </a:pPr>
            <a:endParaRPr lang="fr-FR" dirty="0"/>
          </a:p>
          <a:p>
            <a:r>
              <a:rPr lang="fr-FR" dirty="0"/>
              <a:t>Cas de l’allergie aux </a:t>
            </a:r>
            <a:r>
              <a:rPr lang="fr-FR" dirty="0" smtClean="0"/>
              <a:t>pénicillines  ( voir cours </a:t>
            </a:r>
            <a:r>
              <a:rPr lang="fr-FR" dirty="0" err="1" smtClean="0"/>
              <a:t>bétalactamine</a:t>
            </a:r>
            <a:r>
              <a:rPr lang="fr-FR" dirty="0" smtClean="0"/>
              <a:t>)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01998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Effets secondaires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Nephtrotoxicité</a:t>
            </a:r>
            <a:r>
              <a:rPr lang="fr-FR" dirty="0"/>
              <a:t> </a:t>
            </a:r>
            <a:r>
              <a:rPr lang="fr-FR" dirty="0" smtClean="0"/>
              <a:t>ex aminoside</a:t>
            </a:r>
            <a:endParaRPr lang="fr-FR" dirty="0"/>
          </a:p>
          <a:p>
            <a:r>
              <a:rPr lang="fr-FR" dirty="0" err="1" smtClean="0"/>
              <a:t>Ototoxcité</a:t>
            </a:r>
            <a:r>
              <a:rPr lang="fr-FR" dirty="0" smtClean="0"/>
              <a:t> ex aminoside </a:t>
            </a:r>
            <a:endParaRPr lang="fr-FR" dirty="0"/>
          </a:p>
          <a:p>
            <a:endParaRPr lang="fr-FR" dirty="0"/>
          </a:p>
          <a:p>
            <a:r>
              <a:rPr lang="fr-FR" dirty="0" smtClean="0"/>
              <a:t>Photo </a:t>
            </a:r>
            <a:r>
              <a:rPr lang="fr-FR" dirty="0" err="1" smtClean="0"/>
              <a:t>sensibilitéex</a:t>
            </a:r>
            <a:r>
              <a:rPr lang="fr-FR" dirty="0" smtClean="0"/>
              <a:t> </a:t>
            </a:r>
            <a:r>
              <a:rPr lang="fr-FR" dirty="0" err="1" smtClean="0"/>
              <a:t>tetracyclines</a:t>
            </a:r>
            <a:r>
              <a:rPr lang="fr-FR" dirty="0" smtClean="0"/>
              <a:t> 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24234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Inconvénients 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 </a:t>
            </a:r>
            <a:r>
              <a:rPr lang="fr-FR" sz="3200" dirty="0" smtClean="0"/>
              <a:t>Sélection de souches résistantes </a:t>
            </a:r>
          </a:p>
          <a:p>
            <a:r>
              <a:rPr lang="fr-FR" sz="3200" dirty="0" smtClean="0"/>
              <a:t>Apparition de flore pathogène de substitution :</a:t>
            </a:r>
            <a:r>
              <a:rPr lang="fr-FR" sz="3200" b="1" i="1" dirty="0" smtClean="0"/>
              <a:t> </a:t>
            </a:r>
            <a:r>
              <a:rPr lang="fr-FR" sz="3200" b="1" i="1" dirty="0" err="1" smtClean="0"/>
              <a:t>Clostridium</a:t>
            </a:r>
            <a:r>
              <a:rPr lang="fr-FR" sz="3200" b="1" i="1" dirty="0" smtClean="0"/>
              <a:t> difficile</a:t>
            </a:r>
            <a:endParaRPr lang="fr-FR" sz="3200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G</a:t>
            </a:r>
            <a:r>
              <a:rPr lang="fr-FR" dirty="0" smtClean="0"/>
              <a:t>estion des interactions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 Problématique des interactions et ses conséquences</a:t>
            </a:r>
          </a:p>
          <a:p>
            <a:endParaRPr lang="fr-FR" dirty="0"/>
          </a:p>
          <a:p>
            <a:r>
              <a:rPr lang="fr-FR" dirty="0" smtClean="0"/>
              <a:t>Interactions entre antibiotiques </a:t>
            </a:r>
          </a:p>
          <a:p>
            <a:endParaRPr lang="fr-FR" dirty="0"/>
          </a:p>
          <a:p>
            <a:r>
              <a:rPr lang="fr-FR" dirty="0" smtClean="0"/>
              <a:t>Interaction entre antibiotiques et autres classes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5449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Gestion des interactions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Principalement métabolique </a:t>
            </a:r>
          </a:p>
          <a:p>
            <a:endParaRPr lang="fr-FR" dirty="0"/>
          </a:p>
          <a:p>
            <a:r>
              <a:rPr lang="fr-FR" dirty="0" smtClean="0"/>
              <a:t>Inducteurs et  inhibiteurs enzymatiques :  </a:t>
            </a:r>
          </a:p>
          <a:p>
            <a:endParaRPr lang="fr-FR" dirty="0"/>
          </a:p>
          <a:p>
            <a:r>
              <a:rPr lang="fr-FR" dirty="0" smtClean="0"/>
              <a:t>Rifampicine </a:t>
            </a:r>
          </a:p>
          <a:p>
            <a:endParaRPr lang="fr-FR" dirty="0"/>
          </a:p>
          <a:p>
            <a:r>
              <a:rPr lang="fr-FR" dirty="0" smtClean="0"/>
              <a:t>Macrolides sauf </a:t>
            </a:r>
            <a:r>
              <a:rPr lang="fr-FR" dirty="0" err="1" smtClean="0"/>
              <a:t>spiramycine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36964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Gestion des interactions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 interaction lié à l’effet antibiotique </a:t>
            </a:r>
          </a:p>
          <a:p>
            <a:endParaRPr lang="fr-FR" dirty="0"/>
          </a:p>
          <a:p>
            <a:r>
              <a:rPr lang="fr-FR" dirty="0" smtClean="0"/>
              <a:t>Ex : AVK  avec destruction de la flore bactérienne productrice de vitamine K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6095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Surveillance du traitement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Efficacité </a:t>
            </a:r>
          </a:p>
          <a:p>
            <a:endParaRPr lang="fr-FR" dirty="0"/>
          </a:p>
          <a:p>
            <a:r>
              <a:rPr lang="fr-FR" dirty="0" err="1" smtClean="0"/>
              <a:t>Tolérence</a:t>
            </a:r>
            <a:r>
              <a:rPr lang="fr-FR" dirty="0" smtClean="0"/>
              <a:t>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5639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Efficacité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Clinique : </a:t>
            </a:r>
            <a:r>
              <a:rPr lang="fr-FR" dirty="0" smtClean="0"/>
              <a:t>disparition de la  </a:t>
            </a:r>
            <a:r>
              <a:rPr lang="fr-FR" dirty="0"/>
              <a:t>fièvre, signes </a:t>
            </a:r>
            <a:r>
              <a:rPr lang="fr-FR" dirty="0" smtClean="0"/>
              <a:t>d’infection</a:t>
            </a:r>
            <a:endParaRPr lang="fr-FR" dirty="0"/>
          </a:p>
          <a:p>
            <a:r>
              <a:rPr lang="fr-FR" dirty="0"/>
              <a:t>Disparition des germes </a:t>
            </a:r>
          </a:p>
          <a:p>
            <a:r>
              <a:rPr lang="fr-FR" dirty="0"/>
              <a:t>Normalisation des stigmates biologiques de l’infection </a:t>
            </a:r>
            <a:r>
              <a:rPr lang="fr-FR" dirty="0" smtClean="0"/>
              <a:t>:    </a:t>
            </a:r>
            <a:r>
              <a:rPr lang="fr-FR" dirty="0"/>
              <a:t>-hyperleucocytose</a:t>
            </a:r>
          </a:p>
          <a:p>
            <a:pPr marL="137160" indent="0">
              <a:buNone/>
            </a:pPr>
            <a:r>
              <a:rPr lang="fr-FR" dirty="0"/>
              <a:t>    -</a:t>
            </a:r>
            <a:r>
              <a:rPr lang="fr-FR" dirty="0" smtClean="0"/>
              <a:t>CRP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09376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Tolérance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 effets indésirables</a:t>
            </a:r>
          </a:p>
          <a:p>
            <a:endParaRPr lang="fr-FR" dirty="0"/>
          </a:p>
          <a:p>
            <a:r>
              <a:rPr lang="fr-FR" dirty="0" smtClean="0"/>
              <a:t>Populations </a:t>
            </a:r>
            <a:r>
              <a:rPr lang="fr-FR" dirty="0"/>
              <a:t>à</a:t>
            </a:r>
            <a:r>
              <a:rPr lang="fr-FR" dirty="0" smtClean="0"/>
              <a:t> risque :</a:t>
            </a:r>
          </a:p>
          <a:p>
            <a:endParaRPr lang="fr-FR" dirty="0"/>
          </a:p>
          <a:p>
            <a:r>
              <a:rPr lang="fr-FR" dirty="0" smtClean="0"/>
              <a:t>Enfants </a:t>
            </a:r>
          </a:p>
          <a:p>
            <a:r>
              <a:rPr lang="fr-FR" dirty="0" smtClean="0"/>
              <a:t>Grossesse : ATB tératogènes ex BACTRIM</a:t>
            </a:r>
          </a:p>
          <a:p>
            <a:r>
              <a:rPr lang="fr-FR" dirty="0" smtClean="0"/>
              <a:t>Insuffisants rénaux 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13039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Causes d’échec des ATB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r>
              <a:rPr lang="fr-FR" dirty="0" smtClean="0"/>
              <a:t>Multiples :</a:t>
            </a:r>
          </a:p>
          <a:p>
            <a:r>
              <a:rPr lang="fr-FR" dirty="0" smtClean="0"/>
              <a:t>Mauvais choix  : cinétiques et dynamiques</a:t>
            </a:r>
          </a:p>
          <a:p>
            <a:r>
              <a:rPr lang="fr-FR" dirty="0" smtClean="0"/>
              <a:t>Résistance  surtout acquise par pression de sélection</a:t>
            </a:r>
          </a:p>
          <a:p>
            <a:r>
              <a:rPr lang="fr-FR" dirty="0" smtClean="0"/>
              <a:t>Mauvaise observance 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62936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1989</TotalTime>
  <Words>474</Words>
  <Application>Microsoft Office PowerPoint</Application>
  <PresentationFormat>Affichage à l'écran (4:3)</PresentationFormat>
  <Paragraphs>114</Paragraphs>
  <Slides>22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9" baseType="lpstr">
      <vt:lpstr>Book Antiqua</vt:lpstr>
      <vt:lpstr>Calibri</vt:lpstr>
      <vt:lpstr>Lucida Sans</vt:lpstr>
      <vt:lpstr>Wingdings</vt:lpstr>
      <vt:lpstr>Wingdings 2</vt:lpstr>
      <vt:lpstr>Wingdings 3</vt:lpstr>
      <vt:lpstr>Apex</vt:lpstr>
      <vt:lpstr>antibiothérapie</vt:lpstr>
      <vt:lpstr>Introduction</vt:lpstr>
      <vt:lpstr>Indications des ATB</vt:lpstr>
      <vt:lpstr>Classification des ATB</vt:lpstr>
      <vt:lpstr>Critères de  choix d’un ATB</vt:lpstr>
      <vt:lpstr>Pharmacodynamie  </vt:lpstr>
      <vt:lpstr>Effet post antibiotique  </vt:lpstr>
      <vt:lpstr>Pharmacocinétique</vt:lpstr>
      <vt:lpstr>Pharmacocinétique</vt:lpstr>
      <vt:lpstr>Pharmacocinétique</vt:lpstr>
      <vt:lpstr>Cout</vt:lpstr>
      <vt:lpstr>Tolérance  </vt:lpstr>
      <vt:lpstr>Allergies </vt:lpstr>
      <vt:lpstr>Effets secondaires</vt:lpstr>
      <vt:lpstr>Inconvénients  </vt:lpstr>
      <vt:lpstr> Gestion des interactions</vt:lpstr>
      <vt:lpstr>Gestion des interactions </vt:lpstr>
      <vt:lpstr>Gestion des interactions</vt:lpstr>
      <vt:lpstr>Surveillance du traitement </vt:lpstr>
      <vt:lpstr>Efficacité </vt:lpstr>
      <vt:lpstr>Tolérance </vt:lpstr>
      <vt:lpstr>Causes d’échec des ATB</vt:lpstr>
    </vt:vector>
  </TitlesOfParts>
  <Company>FX® Core Perso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Taha Deroich</dc:creator>
  <cp:lastModifiedBy>DELL</cp:lastModifiedBy>
  <cp:revision>33</cp:revision>
  <dcterms:created xsi:type="dcterms:W3CDTF">2009-05-10T16:58:24Z</dcterms:created>
  <dcterms:modified xsi:type="dcterms:W3CDTF">2025-05-26T10:24:43Z</dcterms:modified>
</cp:coreProperties>
</file>