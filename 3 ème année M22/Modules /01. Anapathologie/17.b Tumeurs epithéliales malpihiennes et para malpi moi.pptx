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302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39" d="100"/>
          <a:sy n="39" d="100"/>
        </p:scale>
        <p:origin x="1244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à coins arrondis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à coins arrondis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re 4"/>
          <p:cNvSpPr>
            <a:spLocks noGrp="1"/>
          </p:cNvSpPr>
          <p:nvPr>
            <p:ph type="ctrTitle" hasCustomPrompt="1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20" name="Sous-titre 19"/>
          <p:cNvSpPr>
            <a:spLocks noGrp="1"/>
          </p:cNvSpPr>
          <p:nvPr>
            <p:ph type="subTitle" idx="1" hasCustomPrompt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830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19" name="Espace réservé de la date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FF49-5A5A-4882-AF94-7AC15C74E787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2657-0ED1-4447-AADD-1D50479188C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FF49-5A5A-4882-AF94-7AC15C74E787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2657-0ED1-4447-AADD-1D50479188C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à coins arrondis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830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FF49-5A5A-4882-AF94-7AC15C74E787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2657-0ED1-4447-AADD-1D50479188C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FF49-5A5A-4882-AF94-7AC15C74E787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2657-0ED1-4447-AADD-1D50479188C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 hasCustomPrompt="1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 hasCustomPrompt="1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FF49-5A5A-4882-AF94-7AC15C74E787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2657-0ED1-4447-AADD-1D50479188C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FF49-5A5A-4882-AF94-7AC15C74E787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2657-0ED1-4447-AADD-1D50479188C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FF49-5A5A-4882-AF94-7AC15C74E787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2657-0ED1-4447-AADD-1D50479188C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 hasCustomPrompt="1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415" marR="18415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 hasCustomPrompt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FF49-5A5A-4882-AF94-7AC15C74E787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2657-0ED1-4447-AADD-1D50479188C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à coins arrondis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Arrondir un rectangle à un seul coin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FF49-5A5A-4882-AF94-7AC15C74E787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2657-0ED1-4447-AADD-1D50479188C9}" type="slidenum">
              <a:rPr lang="fr-FR" smtClean="0"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FF49-5A5A-4882-AF94-7AC15C74E787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2657-0ED1-4447-AADD-1D50479188C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4FF49-5A5A-4882-AF94-7AC15C74E787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022657-0ED1-4447-AADD-1D50479188C9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à coins arrondis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space réservé du titre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25" name="Espace réservé de la date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</a:lstStyle>
          <a:p>
            <a:fld id="{1C74FF49-5A5A-4882-AF94-7AC15C74E787}" type="datetimeFigureOut">
              <a:rPr lang="fr-FR" smtClean="0"/>
              <a:t>20/01/2025</a:t>
            </a:fld>
            <a:endParaRPr lang="fr-FR"/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</a:lstStyle>
          <a:p>
            <a:fld id="{64022657-0ED1-4447-AADD-1D50479188C9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65430" indent="-265430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 panose="05020102010507070707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295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 panose="020B0604030504040204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130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 panose="05020102010507070707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255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 panose="020B0604030504040204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345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53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Verdana" panose="020B0604030504040204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 panose="05020102010507070707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57158" y="1500175"/>
            <a:ext cx="8101042" cy="2100276"/>
          </a:xfrm>
        </p:spPr>
        <p:txBody>
          <a:bodyPr>
            <a:normAutofit fontScale="90000"/>
          </a:bodyPr>
          <a:lstStyle/>
          <a:p>
            <a:r>
              <a:rPr lang="fr-FR" b="1" i="1" u="sng" dirty="0">
                <a:solidFill>
                  <a:srgbClr val="CC0066"/>
                </a:solidFill>
              </a:rPr>
              <a:t>LES TUMEURS EPITHELIALES MALPIGHIENNES ET PARAMALPIGHIENNES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071934" y="5214950"/>
            <a:ext cx="4772036" cy="1066792"/>
          </a:xfrm>
        </p:spPr>
        <p:txBody>
          <a:bodyPr>
            <a:normAutofit/>
          </a:bodyPr>
          <a:lstStyle/>
          <a:p>
            <a:r>
              <a:rPr lang="fr-FR" b="1" u="sng" dirty="0" err="1">
                <a:solidFill>
                  <a:schemeClr val="tx1"/>
                </a:solidFill>
              </a:rPr>
              <a:t>Dr.Mahdjoub</a:t>
            </a:r>
            <a:endParaRPr lang="fr-FR" b="1" u="sng" dirty="0">
              <a:solidFill>
                <a:schemeClr val="tx1"/>
              </a:solidFill>
            </a:endParaRPr>
          </a:p>
          <a:p>
            <a:r>
              <a:rPr lang="fr-FR" b="1" u="sng" dirty="0">
                <a:solidFill>
                  <a:schemeClr val="tx1"/>
                </a:solidFill>
              </a:rPr>
              <a:t>Anatomie pathologique</a:t>
            </a:r>
          </a:p>
          <a:p>
            <a:r>
              <a:rPr lang="fr-FR" b="1" u="sng" dirty="0">
                <a:solidFill>
                  <a:schemeClr val="tx1"/>
                </a:solidFill>
              </a:rPr>
              <a:t>EHS </a:t>
            </a:r>
            <a:r>
              <a:rPr lang="fr-FR" b="1" u="sng" dirty="0" err="1">
                <a:solidFill>
                  <a:schemeClr val="tx1"/>
                </a:solidFill>
              </a:rPr>
              <a:t>Daksi</a:t>
            </a:r>
            <a:endParaRPr lang="fr-FR" b="1" u="sng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183880" cy="1051560"/>
          </a:xfrm>
        </p:spPr>
        <p:txBody>
          <a:bodyPr/>
          <a:lstStyle/>
          <a:p>
            <a:r>
              <a:rPr lang="fr-FR" u="sng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28802"/>
            <a:ext cx="8229600" cy="3643337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sz="2800" b="1" dirty="0">
                <a:solidFill>
                  <a:srgbClr val="C00000"/>
                </a:solidFill>
              </a:rPr>
              <a:t>■</a:t>
            </a:r>
            <a:r>
              <a:rPr lang="en-US" sz="2800" b="1" dirty="0">
                <a:solidFill>
                  <a:srgbClr val="66FF33"/>
                </a:solidFill>
              </a:rPr>
              <a:t> </a:t>
            </a:r>
            <a:r>
              <a:rPr lang="en-US" sz="1000" b="1" dirty="0">
                <a:solidFill>
                  <a:schemeClr val="bg1"/>
                </a:solidFill>
              </a:rPr>
              <a:t> </a:t>
            </a:r>
            <a:r>
              <a:rPr lang="en-US" b="1" dirty="0" err="1"/>
              <a:t>Ce</a:t>
            </a:r>
            <a:r>
              <a:rPr lang="en-US" b="1" dirty="0"/>
              <a:t> </a:t>
            </a:r>
            <a:r>
              <a:rPr lang="en-US" b="1" dirty="0" err="1"/>
              <a:t>sont</a:t>
            </a:r>
            <a:r>
              <a:rPr lang="en-US" b="1" dirty="0"/>
              <a:t> les </a:t>
            </a:r>
            <a:r>
              <a:rPr lang="en-US" b="1" dirty="0" err="1"/>
              <a:t>tumeurs</a:t>
            </a:r>
            <a:r>
              <a:rPr lang="en-US" b="1" dirty="0"/>
              <a:t> les plus </a:t>
            </a:r>
            <a:r>
              <a:rPr lang="en-US" b="1" dirty="0" err="1"/>
              <a:t>fréquentes</a:t>
            </a:r>
            <a:r>
              <a:rPr lang="en-US" b="1" dirty="0"/>
              <a:t>.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r>
              <a:rPr lang="en-US" b="1" dirty="0">
                <a:solidFill>
                  <a:srgbClr val="C00000"/>
                </a:solidFill>
              </a:rPr>
              <a:t>■ </a:t>
            </a:r>
            <a:r>
              <a:rPr lang="en-US" b="1" dirty="0"/>
              <a:t>Les </a:t>
            </a:r>
            <a:r>
              <a:rPr lang="en-US" b="1" dirty="0" err="1"/>
              <a:t>épithéliums</a:t>
            </a:r>
            <a:r>
              <a:rPr lang="en-US" b="1" dirty="0"/>
              <a:t> </a:t>
            </a:r>
            <a:r>
              <a:rPr lang="en-US" b="1" dirty="0" err="1"/>
              <a:t>appartiennent</a:t>
            </a:r>
            <a:r>
              <a:rPr lang="en-US" b="1" dirty="0"/>
              <a:t> </a:t>
            </a:r>
            <a:r>
              <a:rPr lang="en-US" b="1" dirty="0" err="1"/>
              <a:t>soit</a:t>
            </a:r>
            <a:r>
              <a:rPr lang="en-US" b="1" dirty="0"/>
              <a:t> à des </a:t>
            </a:r>
            <a:r>
              <a:rPr lang="en-US" b="1" dirty="0" err="1"/>
              <a:t>revêtements</a:t>
            </a:r>
            <a:r>
              <a:rPr lang="en-US" b="1" dirty="0"/>
              <a:t> </a:t>
            </a:r>
            <a:r>
              <a:rPr lang="en-US" b="1" dirty="0" err="1"/>
              <a:t>malpighiens</a:t>
            </a:r>
            <a:r>
              <a:rPr lang="en-US" b="1" dirty="0"/>
              <a:t> (</a:t>
            </a:r>
            <a:r>
              <a:rPr lang="en-US" b="1" dirty="0" err="1"/>
              <a:t>peau</a:t>
            </a:r>
            <a:r>
              <a:rPr lang="en-US" b="1" dirty="0"/>
              <a:t>, </a:t>
            </a:r>
            <a:r>
              <a:rPr lang="en-US" b="1" dirty="0" err="1"/>
              <a:t>muqueuses</a:t>
            </a:r>
            <a:r>
              <a:rPr lang="en-US" b="1" dirty="0"/>
              <a:t> </a:t>
            </a:r>
            <a:r>
              <a:rPr lang="en-US" b="1" dirty="0" err="1"/>
              <a:t>malpighiennes</a:t>
            </a:r>
            <a:r>
              <a:rPr lang="en-US" b="1" dirty="0"/>
              <a:t>),</a:t>
            </a: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  urothéliaux (</a:t>
            </a:r>
            <a:r>
              <a:rPr lang="en-US" b="1" dirty="0" err="1"/>
              <a:t>voies</a:t>
            </a:r>
            <a:r>
              <a:rPr lang="en-US" b="1" dirty="0"/>
              <a:t> </a:t>
            </a:r>
            <a:r>
              <a:rPr lang="en-US" b="1" dirty="0" err="1"/>
              <a:t>excréto-urinaires</a:t>
            </a:r>
            <a:r>
              <a:rPr lang="en-US" b="1" dirty="0"/>
              <a:t>), </a:t>
            </a:r>
            <a:r>
              <a:rPr lang="en-US" b="1" dirty="0" err="1"/>
              <a:t>glandulaires</a:t>
            </a:r>
            <a:r>
              <a:rPr lang="en-US" b="1" dirty="0"/>
              <a:t> (</a:t>
            </a:r>
            <a:r>
              <a:rPr lang="en-US" b="1" dirty="0" err="1"/>
              <a:t>muqueuses</a:t>
            </a:r>
            <a:r>
              <a:rPr lang="en-US" b="1" dirty="0"/>
              <a:t> </a:t>
            </a:r>
            <a:r>
              <a:rPr lang="en-US" b="1" dirty="0" err="1"/>
              <a:t>glandulaires</a:t>
            </a:r>
            <a:r>
              <a:rPr lang="en-US" b="1" dirty="0"/>
              <a:t>)  </a:t>
            </a:r>
            <a:r>
              <a:rPr lang="en-US" b="1" dirty="0" err="1"/>
              <a:t>ou</a:t>
            </a:r>
            <a:r>
              <a:rPr lang="en-US" b="1" dirty="0"/>
              <a:t> à des </a:t>
            </a:r>
            <a:r>
              <a:rPr lang="en-US" b="1" dirty="0" err="1"/>
              <a:t>glandes</a:t>
            </a:r>
            <a:r>
              <a:rPr lang="en-US" b="1" dirty="0"/>
              <a:t>.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642918"/>
            <a:ext cx="8229600" cy="5483245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n-US" b="1" dirty="0"/>
              <a:t>■ Les </a:t>
            </a:r>
            <a:r>
              <a:rPr lang="en-US" b="1" dirty="0" err="1"/>
              <a:t>tumeurs</a:t>
            </a:r>
            <a:r>
              <a:rPr lang="en-US" b="1" dirty="0"/>
              <a:t> </a:t>
            </a:r>
            <a:r>
              <a:rPr lang="en-US" b="1" dirty="0" err="1"/>
              <a:t>épithéliales</a:t>
            </a:r>
            <a:r>
              <a:rPr lang="en-US" b="1" dirty="0"/>
              <a:t> </a:t>
            </a:r>
            <a:r>
              <a:rPr lang="en-US" b="1" dirty="0" err="1"/>
              <a:t>reproduisent</a:t>
            </a:r>
            <a:r>
              <a:rPr lang="en-US" b="1" dirty="0"/>
              <a:t> </a:t>
            </a:r>
            <a:r>
              <a:rPr lang="en-US" b="1" dirty="0" err="1"/>
              <a:t>ces</a:t>
            </a:r>
            <a:r>
              <a:rPr lang="en-US" b="1" dirty="0"/>
              <a:t> </a:t>
            </a:r>
            <a:r>
              <a:rPr lang="en-US" b="1" dirty="0" err="1"/>
              <a:t>différents</a:t>
            </a:r>
            <a:r>
              <a:rPr lang="en-US" b="1" dirty="0"/>
              <a:t> aspects. 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Un </a:t>
            </a:r>
            <a:r>
              <a:rPr lang="en-US" b="1" dirty="0" err="1"/>
              <a:t>épithélium</a:t>
            </a:r>
            <a:r>
              <a:rPr lang="en-US" b="1" dirty="0"/>
              <a:t> </a:t>
            </a:r>
            <a:r>
              <a:rPr lang="en-US" b="1" dirty="0" err="1"/>
              <a:t>est</a:t>
            </a:r>
            <a:r>
              <a:rPr lang="en-US" b="1" dirty="0"/>
              <a:t> </a:t>
            </a:r>
            <a:r>
              <a:rPr lang="en-US" b="1" dirty="0" err="1"/>
              <a:t>une</a:t>
            </a:r>
            <a:r>
              <a:rPr lang="en-US" b="1" dirty="0"/>
              <a:t> structure </a:t>
            </a:r>
            <a:r>
              <a:rPr lang="en-US" b="1" dirty="0" err="1"/>
              <a:t>spécialisée</a:t>
            </a:r>
            <a:r>
              <a:rPr lang="en-US" b="1" dirty="0"/>
              <a:t> </a:t>
            </a:r>
            <a:r>
              <a:rPr lang="en-US" b="1" dirty="0" err="1"/>
              <a:t>dont</a:t>
            </a:r>
            <a:r>
              <a:rPr lang="en-US" b="1" dirty="0"/>
              <a:t> les cellules </a:t>
            </a:r>
            <a:r>
              <a:rPr lang="en-US" b="1" dirty="0" err="1"/>
              <a:t>sont</a:t>
            </a:r>
            <a:r>
              <a:rPr lang="en-US" b="1" dirty="0"/>
              <a:t> </a:t>
            </a:r>
            <a:r>
              <a:rPr lang="en-US" b="1" dirty="0" err="1"/>
              <a:t>jointives</a:t>
            </a:r>
            <a:r>
              <a:rPr lang="en-US" b="1" dirty="0"/>
              <a:t>. Les </a:t>
            </a:r>
            <a:r>
              <a:rPr lang="en-US" b="1" dirty="0" err="1"/>
              <a:t>tumeurs</a:t>
            </a:r>
            <a:r>
              <a:rPr lang="en-US" b="1" dirty="0"/>
              <a:t> à </a:t>
            </a:r>
            <a:r>
              <a:rPr lang="en-US" b="1" dirty="0" err="1"/>
              <a:t>différenciation</a:t>
            </a:r>
            <a:r>
              <a:rPr lang="en-US" b="1" dirty="0"/>
              <a:t> </a:t>
            </a:r>
            <a:r>
              <a:rPr lang="en-US" b="1" dirty="0" err="1"/>
              <a:t>épithéliale</a:t>
            </a:r>
            <a:r>
              <a:rPr lang="en-US" b="1" dirty="0"/>
              <a:t> </a:t>
            </a:r>
            <a:r>
              <a:rPr lang="en-US" b="1" dirty="0" err="1"/>
              <a:t>forment</a:t>
            </a:r>
            <a:r>
              <a:rPr lang="en-US" b="1" dirty="0"/>
              <a:t> </a:t>
            </a:r>
            <a:r>
              <a:rPr lang="en-US" b="1" dirty="0" err="1"/>
              <a:t>donc</a:t>
            </a:r>
            <a:r>
              <a:rPr lang="en-US" b="1" dirty="0"/>
              <a:t> des structures </a:t>
            </a:r>
            <a:r>
              <a:rPr lang="en-US" b="1" dirty="0" err="1"/>
              <a:t>cohésives</a:t>
            </a:r>
            <a:r>
              <a:rPr lang="en-US" b="1" dirty="0"/>
              <a:t> (</a:t>
            </a:r>
            <a:r>
              <a:rPr lang="en-US" b="1" dirty="0" err="1"/>
              <a:t>glandes</a:t>
            </a:r>
            <a:r>
              <a:rPr lang="en-US" b="1" dirty="0"/>
              <a:t>, </a:t>
            </a:r>
            <a:r>
              <a:rPr lang="en-US" b="1" dirty="0" err="1"/>
              <a:t>travées</a:t>
            </a:r>
            <a:r>
              <a:rPr lang="en-US" b="1" dirty="0"/>
              <a:t>, cordons,…) qui </a:t>
            </a:r>
            <a:r>
              <a:rPr lang="en-US" b="1" dirty="0" err="1"/>
              <a:t>permettent</a:t>
            </a:r>
            <a:r>
              <a:rPr lang="en-US" b="1" dirty="0"/>
              <a:t> de les </a:t>
            </a:r>
            <a:r>
              <a:rPr lang="en-US" b="1" dirty="0" err="1"/>
              <a:t>reconnaître</a:t>
            </a:r>
            <a:r>
              <a:rPr lang="en-US" b="1" dirty="0"/>
              <a:t>. 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■ De </a:t>
            </a:r>
            <a:r>
              <a:rPr lang="en-US" b="1" dirty="0" err="1"/>
              <a:t>rares</a:t>
            </a:r>
            <a:r>
              <a:rPr lang="en-US" b="1" dirty="0"/>
              <a:t> </a:t>
            </a:r>
            <a:r>
              <a:rPr lang="en-US" b="1" dirty="0" err="1"/>
              <a:t>carcinomes</a:t>
            </a:r>
            <a:r>
              <a:rPr lang="en-US" b="1" dirty="0"/>
              <a:t> </a:t>
            </a:r>
            <a:r>
              <a:rPr lang="en-US" b="1" dirty="0" err="1"/>
              <a:t>sont</a:t>
            </a:r>
            <a:r>
              <a:rPr lang="en-US" b="1" dirty="0"/>
              <a:t> </a:t>
            </a:r>
            <a:r>
              <a:rPr lang="en-US" b="1" dirty="0" err="1"/>
              <a:t>formés</a:t>
            </a:r>
            <a:r>
              <a:rPr lang="en-US" b="1" dirty="0"/>
              <a:t> de cellules </a:t>
            </a:r>
            <a:r>
              <a:rPr lang="en-US" b="1" dirty="0" err="1"/>
              <a:t>indépendantes</a:t>
            </a:r>
            <a:r>
              <a:rPr lang="en-US" b="1" dirty="0"/>
              <a:t>.</a:t>
            </a:r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C:\Users\HOMETECH\Pictures\K2iVIqYf1kfMoL0Jj4MiO3Ppsdvy0Kq2OjE7nIOu6FBGVvXD-tUdayHU63l0lxLmykrvwCyqjZJJuGUoymO-3BTG_FxrXJ9TiCLqZrrag5hG5lqZZZ1zihHPWoFwalFsLllRjN6Wmsgy8Nb1IN9xSYEe8GMPJB1C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428604"/>
            <a:ext cx="8715404" cy="60870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title"/>
          </p:nvPr>
        </p:nvSpPr>
        <p:spPr>
          <a:xfrm>
            <a:off x="500034" y="5715016"/>
            <a:ext cx="8143932" cy="5667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2400" b="1" i="1" dirty="0">
                <a:solidFill>
                  <a:schemeClr val="tx1"/>
                </a:solidFill>
              </a:rPr>
              <a:t>Tableau1:  Classification des </a:t>
            </a:r>
            <a:r>
              <a:rPr lang="en-US" sz="2400" b="1" i="1" dirty="0" err="1">
                <a:solidFill>
                  <a:schemeClr val="tx1"/>
                </a:solidFill>
              </a:rPr>
              <a:t>tumeurs</a:t>
            </a:r>
            <a:r>
              <a:rPr lang="en-US" sz="2400" b="1" i="1" dirty="0">
                <a:solidFill>
                  <a:schemeClr val="tx1"/>
                </a:solidFill>
              </a:rPr>
              <a:t> </a:t>
            </a:r>
            <a:r>
              <a:rPr lang="en-US" sz="2400" b="1" i="1" dirty="0" err="1">
                <a:solidFill>
                  <a:schemeClr val="tx1"/>
                </a:solidFill>
              </a:rPr>
              <a:t>épithéliales</a:t>
            </a:r>
            <a:endParaRPr lang="fr-FR" sz="2400" b="1" dirty="0">
              <a:solidFill>
                <a:schemeClr val="tx1"/>
              </a:solidFill>
            </a:endParaRPr>
          </a:p>
        </p:txBody>
      </p:sp>
      <p:graphicFrame>
        <p:nvGraphicFramePr>
          <p:cNvPr id="5" name="Espace réservé pour une image  4"/>
          <p:cNvGraphicFramePr>
            <a:graphicFrameLocks noGrp="1"/>
          </p:cNvGraphicFramePr>
          <p:nvPr>
            <p:ph type="pic" idx="1"/>
          </p:nvPr>
        </p:nvGraphicFramePr>
        <p:xfrm>
          <a:off x="285720" y="500042"/>
          <a:ext cx="8429683" cy="5148272"/>
        </p:xfrm>
        <a:graphic>
          <a:graphicData uri="http://schemas.openxmlformats.org/drawingml/2006/table">
            <a:tbl>
              <a:tblPr/>
              <a:tblGrid>
                <a:gridCol w="1465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7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7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777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00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TUMEURS</a:t>
                      </a:r>
                      <a:endParaRPr lang="fr-FR" sz="200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3795" marR="637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00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MALPIGHIENNES</a:t>
                      </a:r>
                      <a:endParaRPr lang="fr-FR" sz="200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3795" marR="637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00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UROTHELIALES</a:t>
                      </a:r>
                      <a:endParaRPr lang="fr-FR" sz="200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(à cellules </a:t>
                      </a:r>
                      <a:r>
                        <a:rPr lang="fr-FR" sz="2000" b="1" dirty="0" err="1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transitinelles</a:t>
                      </a:r>
                      <a:r>
                        <a:rPr lang="fr-FR" sz="20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 </a:t>
                      </a:r>
                      <a:r>
                        <a:rPr lang="fr-FR" sz="2000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)</a:t>
                      </a:r>
                      <a:endParaRPr lang="fr-FR" sz="2000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3795" marR="637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2000" dirty="0">
                        <a:solidFill>
                          <a:srgbClr val="FFFF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2000" b="1" dirty="0">
                          <a:solidFill>
                            <a:srgbClr val="FFFF00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GLANDULAIRES</a:t>
                      </a:r>
                      <a:endParaRPr lang="fr-FR" sz="2000" dirty="0">
                        <a:solidFill>
                          <a:srgbClr val="FFFF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3795" marR="637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9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Bénignes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3795" marR="637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Papillome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3795" marR="637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3795" marR="637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rgbClr val="FFFF00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Adénome</a:t>
                      </a:r>
                      <a:endParaRPr lang="fr-FR" sz="1800" b="1" dirty="0">
                        <a:solidFill>
                          <a:srgbClr val="FFFF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3795" marR="637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75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Malignes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3795" marR="637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Carcinome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 err="1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Epidermoïde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—   différencié :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     • mature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     • immature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—peu différencié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3795" marR="637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Carcinome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Transitionnel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—  Bas Grade 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chemeClr val="tx1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—  Haut Grade </a:t>
                      </a: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fr-FR" sz="1800" b="1" dirty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3795" marR="637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800" b="1" dirty="0">
                          <a:solidFill>
                            <a:srgbClr val="FFFF00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Adénocarcinome</a:t>
                      </a:r>
                      <a:endParaRPr lang="fr-FR" sz="1800" b="1" dirty="0">
                        <a:solidFill>
                          <a:srgbClr val="FFFF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Times New Roman" panose="02020603050405020304"/>
                        <a:buChar char="—"/>
                      </a:pPr>
                      <a:r>
                        <a:rPr lang="fr-FR" sz="1800" b="1" dirty="0">
                          <a:solidFill>
                            <a:srgbClr val="FFFF00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bien différencié</a:t>
                      </a:r>
                      <a:endParaRPr lang="fr-FR" sz="1800" b="1" dirty="0">
                        <a:solidFill>
                          <a:srgbClr val="FFFF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Times New Roman" panose="02020603050405020304"/>
                        <a:buChar char="—"/>
                      </a:pPr>
                      <a:r>
                        <a:rPr lang="fr-FR" sz="1800" b="1" dirty="0">
                          <a:solidFill>
                            <a:srgbClr val="FFFF00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moyennement      différencié</a:t>
                      </a:r>
                      <a:endParaRPr lang="fr-FR" sz="1800" b="1" dirty="0">
                        <a:solidFill>
                          <a:srgbClr val="FFFF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Times New Roman" panose="02020603050405020304"/>
                        <a:buChar char="—"/>
                      </a:pPr>
                      <a:r>
                        <a:rPr lang="fr-FR" sz="1800" b="1" dirty="0">
                          <a:solidFill>
                            <a:srgbClr val="FFFF00"/>
                          </a:solidFill>
                          <a:latin typeface="Times New Roman" panose="02020603050405020304"/>
                          <a:ea typeface="Calibri" panose="020F0502020204030204"/>
                          <a:cs typeface="Times New Roman" panose="02020603050405020304"/>
                        </a:rPr>
                        <a:t>peu différencié</a:t>
                      </a:r>
                      <a:endParaRPr lang="fr-FR" sz="1800" b="1" dirty="0">
                        <a:solidFill>
                          <a:srgbClr val="FFFF00"/>
                        </a:solidFill>
                        <a:latin typeface="Calibri" panose="020F0502020204030204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3795" marR="6379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500034" y="357166"/>
            <a:ext cx="8183880" cy="105156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sz="3200" b="1" i="1" dirty="0">
                <a:solidFill>
                  <a:srgbClr val="FF0000"/>
                </a:solidFill>
              </a:rPr>
              <a:t>1. </a:t>
            </a:r>
            <a:r>
              <a:rPr lang="en-US" sz="3200" b="1" i="1" u="sng" dirty="0">
                <a:solidFill>
                  <a:srgbClr val="FF0000"/>
                </a:solidFill>
              </a:rPr>
              <a:t>TUMEURS BENIGNES</a:t>
            </a:r>
            <a:r>
              <a:rPr lang="en-US" sz="3200" b="1" i="1" dirty="0">
                <a:solidFill>
                  <a:srgbClr val="FFFF00"/>
                </a:solidFill>
              </a:rPr>
              <a:t/>
            </a:r>
            <a:br>
              <a:rPr lang="en-US" sz="3200" b="1" i="1" dirty="0">
                <a:solidFill>
                  <a:srgbClr val="FFFF00"/>
                </a:solidFill>
              </a:rPr>
            </a:br>
            <a:endParaRPr lang="en-US" sz="3200" b="1" i="1" dirty="0">
              <a:solidFill>
                <a:srgbClr val="FFFF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2285992"/>
            <a:ext cx="8229600" cy="321471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sz="3600" b="1" i="1" u="sng" dirty="0">
                <a:solidFill>
                  <a:schemeClr val="accent6">
                    <a:lumMod val="75000"/>
                  </a:schemeClr>
                </a:solidFill>
              </a:rPr>
              <a:t>1.1 </a:t>
            </a:r>
            <a:r>
              <a:rPr lang="en-US" sz="3600" b="1" i="1" u="sng" dirty="0" err="1">
                <a:solidFill>
                  <a:schemeClr val="accent6">
                    <a:lumMod val="75000"/>
                  </a:schemeClr>
                </a:solidFill>
              </a:rPr>
              <a:t>Tumeurs</a:t>
            </a:r>
            <a:r>
              <a:rPr lang="en-US" sz="3600" b="1" i="1" u="sng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600" b="1" i="1" u="sng" dirty="0" err="1">
                <a:solidFill>
                  <a:schemeClr val="accent6">
                    <a:lumMod val="75000"/>
                  </a:schemeClr>
                </a:solidFill>
              </a:rPr>
              <a:t>bénignes</a:t>
            </a:r>
            <a:r>
              <a:rPr lang="en-US" sz="3600" b="1" i="1" u="sng" dirty="0">
                <a:solidFill>
                  <a:schemeClr val="accent6">
                    <a:lumMod val="75000"/>
                  </a:schemeClr>
                </a:solidFill>
              </a:rPr>
              <a:t> des </a:t>
            </a:r>
            <a:r>
              <a:rPr lang="en-US" sz="3600" b="1" i="1" u="sng" dirty="0" err="1">
                <a:solidFill>
                  <a:schemeClr val="accent6">
                    <a:lumMod val="75000"/>
                  </a:schemeClr>
                </a:solidFill>
              </a:rPr>
              <a:t>revêtements</a:t>
            </a:r>
            <a:r>
              <a:rPr lang="en-US" sz="3600" b="1" i="1" u="sng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600" b="1" i="1" u="sng" dirty="0" err="1">
                <a:solidFill>
                  <a:schemeClr val="accent6">
                    <a:lumMod val="75000"/>
                  </a:schemeClr>
                </a:solidFill>
              </a:rPr>
              <a:t>épithéliaux</a:t>
            </a:r>
            <a:r>
              <a:rPr lang="en-US" sz="3600" b="1" i="1" u="sng" dirty="0">
                <a:solidFill>
                  <a:schemeClr val="accent6">
                    <a:lumMod val="75000"/>
                  </a:schemeClr>
                </a:solidFill>
              </a:rPr>
              <a:t>:</a:t>
            </a:r>
          </a:p>
          <a:p>
            <a:pPr>
              <a:lnSpc>
                <a:spcPct val="80000"/>
              </a:lnSpc>
              <a:buNone/>
            </a:pPr>
            <a:r>
              <a:rPr lang="en-US" sz="3600" b="1" i="1" dirty="0">
                <a:solidFill>
                  <a:schemeClr val="accent6">
                    <a:lumMod val="75000"/>
                  </a:schemeClr>
                </a:solidFill>
              </a:rPr>
              <a:t>     </a:t>
            </a:r>
          </a:p>
          <a:p>
            <a:pPr>
              <a:lnSpc>
                <a:spcPct val="80000"/>
              </a:lnSpc>
              <a:buNone/>
            </a:pPr>
            <a:r>
              <a:rPr lang="en-US" b="1" i="1" dirty="0">
                <a:solidFill>
                  <a:srgbClr val="66FF33"/>
                </a:solidFill>
              </a:rPr>
              <a:t>     </a:t>
            </a:r>
            <a:r>
              <a:rPr lang="en-US" b="1" i="1" dirty="0">
                <a:solidFill>
                  <a:srgbClr val="002060"/>
                </a:solidFill>
              </a:rPr>
              <a:t>►</a:t>
            </a:r>
            <a:r>
              <a:rPr lang="en-US" b="1" i="1" u="sng" dirty="0" err="1">
                <a:solidFill>
                  <a:srgbClr val="002060"/>
                </a:solidFill>
              </a:rPr>
              <a:t>Tumeurs</a:t>
            </a:r>
            <a:r>
              <a:rPr lang="en-US" b="1" i="1" u="sng" dirty="0">
                <a:solidFill>
                  <a:srgbClr val="002060"/>
                </a:solidFill>
              </a:rPr>
              <a:t> </a:t>
            </a:r>
            <a:r>
              <a:rPr lang="en-US" b="1" i="1" u="sng" dirty="0" err="1">
                <a:solidFill>
                  <a:srgbClr val="002060"/>
                </a:solidFill>
              </a:rPr>
              <a:t>bénignes</a:t>
            </a:r>
            <a:r>
              <a:rPr lang="en-US" b="1" i="1" u="sng" dirty="0">
                <a:solidFill>
                  <a:srgbClr val="002060"/>
                </a:solidFill>
              </a:rPr>
              <a:t> des </a:t>
            </a:r>
            <a:r>
              <a:rPr lang="en-US" b="1" i="1" u="sng" dirty="0" err="1">
                <a:solidFill>
                  <a:srgbClr val="002060"/>
                </a:solidFill>
              </a:rPr>
              <a:t>épithéliums</a:t>
            </a:r>
            <a:r>
              <a:rPr lang="en-US" b="1" i="1" u="sng" dirty="0">
                <a:solidFill>
                  <a:srgbClr val="002060"/>
                </a:solidFill>
              </a:rPr>
              <a:t> </a:t>
            </a:r>
            <a:r>
              <a:rPr lang="en-US" b="1" i="1" u="sng" dirty="0" err="1">
                <a:solidFill>
                  <a:srgbClr val="002060"/>
                </a:solidFill>
              </a:rPr>
              <a:t>malpighiens</a:t>
            </a:r>
            <a:endParaRPr lang="en-US" b="1" i="1" u="sng" dirty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buNone/>
            </a:pPr>
            <a:endParaRPr lang="en-US" sz="2800" b="1" i="1" u="sng" dirty="0">
              <a:solidFill>
                <a:srgbClr val="66FF33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sz="2800" b="1" dirty="0">
                <a:solidFill>
                  <a:srgbClr val="66FF33"/>
                </a:solidFill>
              </a:rPr>
              <a:t>   </a:t>
            </a:r>
            <a:r>
              <a:rPr lang="en-US" sz="2800" b="1" dirty="0">
                <a:solidFill>
                  <a:schemeClr val="accent6"/>
                </a:solidFill>
              </a:rPr>
              <a:t>  </a:t>
            </a:r>
            <a:endParaRPr lang="en-US" b="1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500042"/>
            <a:ext cx="8072494" cy="59293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>
                <a:solidFill>
                  <a:schemeClr val="accent6"/>
                </a:solidFill>
              </a:rPr>
              <a:t>  </a:t>
            </a:r>
            <a:r>
              <a:rPr lang="en-US" sz="2800" b="1" dirty="0">
                <a:solidFill>
                  <a:srgbClr val="FF0000"/>
                </a:solidFill>
              </a:rPr>
              <a:t>● </a:t>
            </a:r>
            <a:r>
              <a:rPr lang="en-US" b="1" i="1" dirty="0" err="1">
                <a:solidFill>
                  <a:srgbClr val="FF0000"/>
                </a:solidFill>
              </a:rPr>
              <a:t>cliniquement</a:t>
            </a:r>
            <a:r>
              <a:rPr lang="en-US" b="1" dirty="0"/>
              <a:t>:  </a:t>
            </a:r>
            <a:r>
              <a:rPr lang="en-US" b="1" dirty="0" err="1"/>
              <a:t>lésions</a:t>
            </a:r>
            <a:r>
              <a:rPr lang="en-US" b="1" dirty="0"/>
              <a:t> le plus </a:t>
            </a:r>
            <a:r>
              <a:rPr lang="en-US" b="1" dirty="0" err="1"/>
              <a:t>souvent</a:t>
            </a:r>
            <a:r>
              <a:rPr lang="en-US" b="1" dirty="0"/>
              <a:t> </a:t>
            </a:r>
            <a:r>
              <a:rPr lang="en-US" b="1" dirty="0" err="1"/>
              <a:t>exophytiques</a:t>
            </a:r>
            <a:r>
              <a:rPr lang="en-US" b="1" dirty="0"/>
              <a:t>, </a:t>
            </a:r>
            <a:r>
              <a:rPr lang="en-US" b="1" dirty="0" err="1"/>
              <a:t>faisant</a:t>
            </a:r>
            <a:r>
              <a:rPr lang="en-US" b="1" dirty="0"/>
              <a:t> </a:t>
            </a:r>
            <a:r>
              <a:rPr lang="en-US" b="1" dirty="0" err="1"/>
              <a:t>saillie</a:t>
            </a:r>
            <a:r>
              <a:rPr lang="en-US" b="1" dirty="0"/>
              <a:t> </a:t>
            </a:r>
            <a:r>
              <a:rPr lang="en-US" b="1" dirty="0" err="1"/>
              <a:t>sur</a:t>
            </a:r>
            <a:r>
              <a:rPr lang="en-US" b="1" dirty="0"/>
              <a:t> le plan </a:t>
            </a:r>
            <a:r>
              <a:rPr lang="en-US" b="1" dirty="0" err="1"/>
              <a:t>cutané</a:t>
            </a:r>
            <a:r>
              <a:rPr lang="en-US" b="1" dirty="0"/>
              <a:t> 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muqueux</a:t>
            </a:r>
            <a:r>
              <a:rPr lang="en-US" b="1" dirty="0"/>
              <a:t>, </a:t>
            </a:r>
            <a:r>
              <a:rPr lang="en-US" b="1" dirty="0" err="1"/>
              <a:t>répondant</a:t>
            </a:r>
            <a:r>
              <a:rPr lang="en-US" b="1" dirty="0"/>
              <a:t> au </a:t>
            </a:r>
            <a:r>
              <a:rPr lang="en-US" b="1" dirty="0" err="1"/>
              <a:t>terme</a:t>
            </a:r>
            <a:r>
              <a:rPr lang="en-US" b="1" dirty="0"/>
              <a:t> </a:t>
            </a:r>
            <a:r>
              <a:rPr lang="en-US" b="1" dirty="0" err="1"/>
              <a:t>général</a:t>
            </a:r>
            <a:r>
              <a:rPr lang="en-US" b="1" dirty="0"/>
              <a:t> de </a:t>
            </a:r>
            <a:r>
              <a:rPr lang="en-US" b="1" dirty="0" err="1"/>
              <a:t>papillome</a:t>
            </a:r>
            <a:r>
              <a:rPr lang="en-US" b="1" dirty="0"/>
              <a:t>.</a:t>
            </a:r>
          </a:p>
          <a:p>
            <a:endParaRPr lang="fr-FR" dirty="0"/>
          </a:p>
        </p:txBody>
      </p:sp>
      <p:pic>
        <p:nvPicPr>
          <p:cNvPr id="2051" name="Picture 3" descr="C:\Users\HOMETECH\Pictures\Gross_pathology_of_a_large_squamous_cell_papilloma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3000372"/>
            <a:ext cx="7786742" cy="324848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5357826"/>
            <a:ext cx="8183880" cy="1051560"/>
          </a:xfrm>
        </p:spPr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0"/>
            <a:ext cx="5000628" cy="6858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endParaRPr lang="en-US" b="1" i="1" dirty="0">
              <a:solidFill>
                <a:srgbClr val="66FF33"/>
              </a:solidFill>
            </a:endParaRPr>
          </a:p>
          <a:p>
            <a:pPr>
              <a:buNone/>
            </a:pPr>
            <a:r>
              <a:rPr lang="en-US" sz="2800" b="1" i="1" dirty="0">
                <a:solidFill>
                  <a:schemeClr val="accent6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Microscopiquement</a:t>
            </a:r>
            <a:r>
              <a:rPr lang="en-US" b="1" i="1" dirty="0">
                <a:solidFill>
                  <a:srgbClr val="FF0000"/>
                </a:solidFill>
              </a:rPr>
              <a:t>: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/>
              <a:t>elles</a:t>
            </a:r>
            <a:r>
              <a:rPr lang="en-US" b="1" dirty="0"/>
              <a:t> </a:t>
            </a:r>
            <a:r>
              <a:rPr lang="en-US" b="1" dirty="0" err="1"/>
              <a:t>sont</a:t>
            </a:r>
            <a:r>
              <a:rPr lang="en-US" b="1" dirty="0"/>
              <a:t> </a:t>
            </a:r>
            <a:r>
              <a:rPr lang="en-US" b="1" dirty="0" err="1"/>
              <a:t>fréquemment</a:t>
            </a:r>
            <a:r>
              <a:rPr lang="en-US" b="1" dirty="0"/>
              <a:t> </a:t>
            </a:r>
            <a:r>
              <a:rPr lang="en-US" b="1" dirty="0" err="1"/>
              <a:t>formées</a:t>
            </a:r>
            <a:r>
              <a:rPr lang="en-US" b="1" dirty="0"/>
              <a:t> de </a:t>
            </a:r>
            <a:r>
              <a:rPr lang="en-US" b="1" dirty="0" err="1"/>
              <a:t>papilles</a:t>
            </a:r>
            <a:r>
              <a:rPr lang="en-US" b="1" dirty="0"/>
              <a:t> avec des axes </a:t>
            </a:r>
            <a:r>
              <a:rPr lang="en-US" b="1" dirty="0" err="1"/>
              <a:t>conjonctifs</a:t>
            </a:r>
            <a:r>
              <a:rPr lang="en-US" b="1" dirty="0"/>
              <a:t> </a:t>
            </a:r>
            <a:r>
              <a:rPr lang="en-US" b="1" dirty="0" err="1"/>
              <a:t>sur</a:t>
            </a:r>
            <a:r>
              <a:rPr lang="en-US" b="1" dirty="0"/>
              <a:t> </a:t>
            </a:r>
            <a:r>
              <a:rPr lang="en-US" b="1" dirty="0" err="1"/>
              <a:t>lesquels</a:t>
            </a:r>
            <a:r>
              <a:rPr lang="en-US" b="1" dirty="0"/>
              <a:t> repose un </a:t>
            </a:r>
            <a:r>
              <a:rPr lang="en-US" b="1" dirty="0" err="1"/>
              <a:t>épithélium</a:t>
            </a:r>
            <a:r>
              <a:rPr lang="en-US" b="1" dirty="0"/>
              <a:t> </a:t>
            </a:r>
            <a:r>
              <a:rPr lang="en-US" b="1" dirty="0" err="1"/>
              <a:t>malpighien</a:t>
            </a:r>
            <a:r>
              <a:rPr lang="en-US" b="1" dirty="0"/>
              <a:t> non </a:t>
            </a:r>
            <a:r>
              <a:rPr lang="en-US" b="1" dirty="0" err="1"/>
              <a:t>dysplasique</a:t>
            </a:r>
            <a:r>
              <a:rPr lang="en-US" b="1" dirty="0"/>
              <a:t>, </a:t>
            </a:r>
            <a:r>
              <a:rPr lang="en-US" b="1" dirty="0" err="1"/>
              <a:t>parfois</a:t>
            </a:r>
            <a:r>
              <a:rPr lang="en-US" b="1" dirty="0"/>
              <a:t> </a:t>
            </a:r>
            <a:r>
              <a:rPr lang="en-US" b="1" dirty="0" err="1"/>
              <a:t>kératinisé</a:t>
            </a:r>
            <a:r>
              <a:rPr lang="en-US" b="1" dirty="0"/>
              <a:t>. </a:t>
            </a:r>
            <a:r>
              <a:rPr lang="en-US" b="1" dirty="0" err="1"/>
              <a:t>Ce</a:t>
            </a:r>
            <a:r>
              <a:rPr lang="en-US" b="1" dirty="0"/>
              <a:t> </a:t>
            </a:r>
            <a:r>
              <a:rPr lang="en-US" b="1" dirty="0" err="1"/>
              <a:t>sont</a:t>
            </a:r>
            <a:r>
              <a:rPr lang="en-US" b="1" dirty="0"/>
              <a:t> des </a:t>
            </a:r>
            <a:r>
              <a:rPr lang="en-US" b="1" dirty="0" err="1"/>
              <a:t>papillomes</a:t>
            </a:r>
            <a:r>
              <a:rPr lang="en-US" b="1" dirty="0"/>
              <a:t> </a:t>
            </a:r>
            <a:r>
              <a:rPr lang="en-US" b="1" dirty="0" err="1"/>
              <a:t>malpighiens</a:t>
            </a:r>
            <a:r>
              <a:rPr lang="en-US" b="1" dirty="0"/>
              <a:t>, </a:t>
            </a:r>
            <a:r>
              <a:rPr lang="en-US" b="1" dirty="0" err="1"/>
              <a:t>parfois</a:t>
            </a:r>
            <a:r>
              <a:rPr lang="en-US" b="1" dirty="0"/>
              <a:t> </a:t>
            </a:r>
            <a:r>
              <a:rPr lang="en-US" b="1" dirty="0" err="1"/>
              <a:t>d'origine</a:t>
            </a:r>
            <a:r>
              <a:rPr lang="en-US" b="1" dirty="0"/>
              <a:t> </a:t>
            </a:r>
            <a:r>
              <a:rPr lang="en-US" b="1" dirty="0" err="1"/>
              <a:t>virale</a:t>
            </a:r>
            <a:r>
              <a:rPr lang="en-US" b="1" dirty="0"/>
              <a:t> (</a:t>
            </a:r>
            <a:r>
              <a:rPr lang="en-US" b="1" dirty="0" err="1"/>
              <a:t>verrue</a:t>
            </a:r>
            <a:r>
              <a:rPr lang="en-US" b="1" dirty="0">
                <a:solidFill>
                  <a:schemeClr val="bg1"/>
                </a:solidFill>
              </a:rPr>
              <a:t>).</a:t>
            </a:r>
            <a:endParaRPr lang="fr-FR" dirty="0"/>
          </a:p>
        </p:txBody>
      </p:sp>
      <p:pic>
        <p:nvPicPr>
          <p:cNvPr id="4" name="Picture 2" descr="C:\Users\HOMETECH\Pictures\BJ0Id3VJ-ff9hLz_p0S7PO0w4KOkPi22kdnHyF0DPqkue2IDCdxCN70gt2PPz9wj0n8seYEjBrO0BtxyGGRiXXD8q_v06kIbLO6R05juVqveJ6gOt5CbdYKavO7uoVPVbOmvGkBz_MlRHaSH3i1n7G_JGC5G1VVNYzPiyQ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28" y="500042"/>
            <a:ext cx="3883663" cy="592935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14348" y="642918"/>
            <a:ext cx="7685034" cy="5299436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55455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/>
              <a:t>L’aspect</a:t>
            </a:r>
            <a:r>
              <a:rPr lang="en-US" b="1" dirty="0"/>
              <a:t> </a:t>
            </a:r>
            <a:r>
              <a:rPr lang="en-US" b="1" dirty="0" err="1"/>
              <a:t>cytologique</a:t>
            </a:r>
            <a:r>
              <a:rPr lang="en-US" b="1" dirty="0"/>
              <a:t> </a:t>
            </a:r>
            <a:r>
              <a:rPr lang="en-US" b="1" dirty="0" err="1"/>
              <a:t>est</a:t>
            </a:r>
            <a:r>
              <a:rPr lang="en-US" b="1" dirty="0"/>
              <a:t> normal :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n’y</a:t>
            </a:r>
            <a:r>
              <a:rPr lang="en-US" b="1" dirty="0"/>
              <a:t> a pas </a:t>
            </a:r>
            <a:r>
              <a:rPr lang="en-US" b="1" dirty="0" err="1"/>
              <a:t>d’atypie</a:t>
            </a:r>
            <a:r>
              <a:rPr lang="en-US" b="1" dirty="0"/>
              <a:t> </a:t>
            </a:r>
            <a:r>
              <a:rPr lang="en-US" b="1" dirty="0" err="1"/>
              <a:t>cytonucléaire</a:t>
            </a:r>
            <a:r>
              <a:rPr lang="en-US" b="1" dirty="0"/>
              <a:t>, pas de </a:t>
            </a:r>
            <a:r>
              <a:rPr lang="en-US" b="1" dirty="0" err="1"/>
              <a:t>mitose</a:t>
            </a:r>
            <a:r>
              <a:rPr lang="en-US" b="1" dirty="0"/>
              <a:t> </a:t>
            </a:r>
            <a:r>
              <a:rPr lang="en-US" b="1" dirty="0" err="1"/>
              <a:t>anormale</a:t>
            </a:r>
            <a:r>
              <a:rPr lang="en-US" b="1" dirty="0"/>
              <a:t> et </a:t>
            </a:r>
            <a:r>
              <a:rPr lang="en-US" b="1" dirty="0" err="1"/>
              <a:t>l’ensemble</a:t>
            </a:r>
            <a:r>
              <a:rPr lang="en-US" b="1" dirty="0"/>
              <a:t> </a:t>
            </a:r>
            <a:r>
              <a:rPr lang="en-US" b="1" dirty="0" err="1"/>
              <a:t>est</a:t>
            </a:r>
            <a:r>
              <a:rPr lang="en-US" b="1" dirty="0"/>
              <a:t> </a:t>
            </a:r>
            <a:r>
              <a:rPr lang="en-US" b="1" dirty="0" err="1"/>
              <a:t>limité</a:t>
            </a:r>
            <a:r>
              <a:rPr lang="en-US" b="1" dirty="0"/>
              <a:t> par </a:t>
            </a:r>
            <a:r>
              <a:rPr lang="en-US" b="1" dirty="0" err="1"/>
              <a:t>une</a:t>
            </a:r>
            <a:r>
              <a:rPr lang="en-US" b="1" dirty="0"/>
              <a:t> membrane </a:t>
            </a:r>
            <a:r>
              <a:rPr lang="en-US" b="1" dirty="0" err="1"/>
              <a:t>basale</a:t>
            </a:r>
            <a:r>
              <a:rPr lang="en-US" b="1" dirty="0"/>
              <a:t> </a:t>
            </a:r>
            <a:r>
              <a:rPr lang="en-US" b="1" dirty="0" err="1"/>
              <a:t>intacte</a:t>
            </a:r>
            <a:r>
              <a:rPr lang="en-US" b="1" dirty="0"/>
              <a:t>.</a:t>
            </a:r>
          </a:p>
          <a:p>
            <a:pPr>
              <a:buNone/>
            </a:pPr>
            <a:endParaRPr lang="en-US" b="1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26055"/>
          </a:xfrm>
        </p:spPr>
        <p:txBody>
          <a:bodyPr/>
          <a:lstStyle/>
          <a:p>
            <a:pPr>
              <a:buNone/>
            </a:pPr>
            <a:r>
              <a:rPr lang="en-US" b="1" dirty="0"/>
              <a:t>■ Les </a:t>
            </a:r>
            <a:r>
              <a:rPr lang="en-US" b="1" dirty="0" err="1"/>
              <a:t>tumeurs</a:t>
            </a:r>
            <a:r>
              <a:rPr lang="en-US" b="1" dirty="0"/>
              <a:t> </a:t>
            </a:r>
            <a:r>
              <a:rPr lang="en-US" b="1" dirty="0" err="1"/>
              <a:t>bénignes</a:t>
            </a:r>
            <a:r>
              <a:rPr lang="en-US" b="1" dirty="0"/>
              <a:t> des </a:t>
            </a:r>
            <a:r>
              <a:rPr lang="en-US" b="1" dirty="0" err="1"/>
              <a:t>épithéliums</a:t>
            </a:r>
            <a:r>
              <a:rPr lang="en-US" b="1" dirty="0"/>
              <a:t> </a:t>
            </a:r>
            <a:r>
              <a:rPr lang="en-US" b="1" dirty="0" err="1"/>
              <a:t>malpighiens</a:t>
            </a:r>
            <a:r>
              <a:rPr lang="en-US" b="1" dirty="0"/>
              <a:t> des </a:t>
            </a:r>
            <a:r>
              <a:rPr lang="en-US" b="1" dirty="0" err="1"/>
              <a:t>muqueuses</a:t>
            </a:r>
            <a:r>
              <a:rPr lang="en-US" b="1" dirty="0"/>
              <a:t> </a:t>
            </a:r>
            <a:r>
              <a:rPr lang="en-US" b="1" dirty="0" err="1"/>
              <a:t>répondent</a:t>
            </a:r>
            <a:r>
              <a:rPr lang="en-US" b="1" dirty="0"/>
              <a:t> </a:t>
            </a:r>
            <a:r>
              <a:rPr lang="en-US" b="1" dirty="0" err="1"/>
              <a:t>également</a:t>
            </a:r>
            <a:r>
              <a:rPr lang="en-US" b="1" dirty="0"/>
              <a:t> à la </a:t>
            </a:r>
            <a:r>
              <a:rPr lang="en-US" b="1" dirty="0" err="1"/>
              <a:t>définition</a:t>
            </a:r>
            <a:r>
              <a:rPr lang="en-US" b="1" dirty="0"/>
              <a:t> </a:t>
            </a:r>
            <a:r>
              <a:rPr lang="en-US" b="1" dirty="0" err="1"/>
              <a:t>générale</a:t>
            </a:r>
            <a:r>
              <a:rPr lang="en-US" b="1" dirty="0"/>
              <a:t> de </a:t>
            </a:r>
            <a:r>
              <a:rPr lang="en-US" b="1" dirty="0" err="1"/>
              <a:t>papillomes</a:t>
            </a:r>
            <a:r>
              <a:rPr lang="en-US" b="1" dirty="0"/>
              <a:t>.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■ Le </a:t>
            </a:r>
            <a:r>
              <a:rPr lang="en-US" b="1" dirty="0" err="1"/>
              <a:t>papillome</a:t>
            </a:r>
            <a:r>
              <a:rPr lang="en-US" b="1" dirty="0"/>
              <a:t> des </a:t>
            </a:r>
            <a:r>
              <a:rPr lang="en-US" b="1" dirty="0" err="1"/>
              <a:t>voies</a:t>
            </a:r>
            <a:r>
              <a:rPr lang="en-US" b="1" dirty="0"/>
              <a:t> </a:t>
            </a:r>
            <a:r>
              <a:rPr lang="en-US" b="1" dirty="0" err="1"/>
              <a:t>aériennes</a:t>
            </a:r>
            <a:r>
              <a:rPr lang="en-US" b="1" dirty="0"/>
              <a:t> </a:t>
            </a:r>
            <a:r>
              <a:rPr lang="en-US" b="1" dirty="0" err="1"/>
              <a:t>supérieures</a:t>
            </a:r>
            <a:r>
              <a:rPr lang="en-US" b="1" dirty="0"/>
              <a:t> (</a:t>
            </a:r>
            <a:r>
              <a:rPr lang="en-US" b="1" dirty="0" err="1"/>
              <a:t>oropharynx</a:t>
            </a:r>
            <a:r>
              <a:rPr lang="en-US" b="1" dirty="0"/>
              <a:t>, larynx) </a:t>
            </a:r>
            <a:r>
              <a:rPr lang="en-US" b="1" dirty="0" err="1"/>
              <a:t>est</a:t>
            </a:r>
            <a:r>
              <a:rPr lang="en-US" b="1" dirty="0"/>
              <a:t> </a:t>
            </a:r>
            <a:r>
              <a:rPr lang="en-US" b="1" dirty="0" err="1"/>
              <a:t>une</a:t>
            </a:r>
            <a:r>
              <a:rPr lang="en-US" b="1" dirty="0"/>
              <a:t> </a:t>
            </a:r>
            <a:r>
              <a:rPr lang="en-US" b="1" dirty="0" err="1"/>
              <a:t>lésion</a:t>
            </a:r>
            <a:r>
              <a:rPr lang="en-US" b="1" dirty="0"/>
              <a:t> unique </a:t>
            </a:r>
            <a:r>
              <a:rPr lang="en-US" b="1" dirty="0" err="1"/>
              <a:t>ou</a:t>
            </a:r>
            <a:r>
              <a:rPr lang="en-US" b="1" dirty="0"/>
              <a:t> multiple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428604"/>
            <a:ext cx="8183880" cy="1051560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► </a:t>
            </a:r>
            <a:r>
              <a:rPr lang="en-US" b="1" i="1" u="sng" dirty="0" err="1">
                <a:solidFill>
                  <a:srgbClr val="C00000"/>
                </a:solidFill>
              </a:rPr>
              <a:t>Tumeurs</a:t>
            </a:r>
            <a:r>
              <a:rPr lang="en-US" b="1" i="1" u="sng" dirty="0">
                <a:solidFill>
                  <a:srgbClr val="C00000"/>
                </a:solidFill>
              </a:rPr>
              <a:t> </a:t>
            </a:r>
            <a:r>
              <a:rPr lang="en-US" b="1" i="1" u="sng" dirty="0" err="1">
                <a:solidFill>
                  <a:srgbClr val="C00000"/>
                </a:solidFill>
              </a:rPr>
              <a:t>bénignes</a:t>
            </a:r>
            <a:r>
              <a:rPr lang="en-US" b="1" i="1" u="sng" dirty="0">
                <a:solidFill>
                  <a:srgbClr val="C00000"/>
                </a:solidFill>
              </a:rPr>
              <a:t> des </a:t>
            </a:r>
            <a:r>
              <a:rPr lang="en-US" b="1" i="1" u="sng" dirty="0" err="1">
                <a:solidFill>
                  <a:srgbClr val="C00000"/>
                </a:solidFill>
              </a:rPr>
              <a:t>épithéliums</a:t>
            </a:r>
            <a:r>
              <a:rPr lang="en-US" b="1" i="1" u="sng" dirty="0">
                <a:solidFill>
                  <a:srgbClr val="C00000"/>
                </a:solidFill>
              </a:rPr>
              <a:t> </a:t>
            </a:r>
            <a:r>
              <a:rPr lang="en-US" b="1" i="1" u="sng" dirty="0" err="1">
                <a:solidFill>
                  <a:srgbClr val="C00000"/>
                </a:solidFill>
              </a:rPr>
              <a:t>paramalpighiens</a:t>
            </a: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928802"/>
            <a:ext cx="8183880" cy="4187952"/>
          </a:xfrm>
        </p:spPr>
        <p:txBody>
          <a:bodyPr/>
          <a:lstStyle/>
          <a:p>
            <a:pPr>
              <a:buNone/>
            </a:pPr>
            <a:r>
              <a:rPr lang="en-US" b="1" dirty="0"/>
              <a:t>  Il </a:t>
            </a:r>
            <a:r>
              <a:rPr lang="en-US" b="1" dirty="0" err="1"/>
              <a:t>s’agit</a:t>
            </a:r>
            <a:r>
              <a:rPr lang="en-US" b="1" dirty="0"/>
              <a:t> de </a:t>
            </a:r>
            <a:r>
              <a:rPr lang="en-US" b="1" dirty="0" err="1"/>
              <a:t>tumeurs</a:t>
            </a:r>
            <a:r>
              <a:rPr lang="en-US" b="1" dirty="0"/>
              <a:t> </a:t>
            </a:r>
            <a:r>
              <a:rPr lang="en-US" b="1" dirty="0" err="1"/>
              <a:t>exophytiques</a:t>
            </a:r>
            <a:r>
              <a:rPr lang="en-US" b="1" dirty="0"/>
              <a:t> des </a:t>
            </a:r>
            <a:r>
              <a:rPr lang="en-US" b="1" dirty="0" err="1"/>
              <a:t>voies</a:t>
            </a:r>
            <a:r>
              <a:rPr lang="en-US" b="1" dirty="0"/>
              <a:t> </a:t>
            </a:r>
            <a:r>
              <a:rPr lang="en-US" b="1" dirty="0" err="1"/>
              <a:t>excréto-urinaires</a:t>
            </a:r>
            <a:r>
              <a:rPr lang="en-US" b="1" dirty="0"/>
              <a:t>, </a:t>
            </a:r>
            <a:r>
              <a:rPr lang="en-US" b="1" dirty="0" err="1"/>
              <a:t>siégeant</a:t>
            </a:r>
            <a:r>
              <a:rPr lang="en-US" b="1" dirty="0"/>
              <a:t> </a:t>
            </a:r>
            <a:r>
              <a:rPr lang="en-US" b="1" dirty="0" err="1"/>
              <a:t>surtout</a:t>
            </a:r>
            <a:r>
              <a:rPr lang="en-US" b="1" dirty="0"/>
              <a:t> </a:t>
            </a:r>
            <a:r>
              <a:rPr lang="en-US" b="1" dirty="0" err="1"/>
              <a:t>dans</a:t>
            </a:r>
            <a:r>
              <a:rPr lang="en-US" b="1" dirty="0"/>
              <a:t> la </a:t>
            </a:r>
            <a:r>
              <a:rPr lang="en-US" b="1" dirty="0" err="1"/>
              <a:t>vessie</a:t>
            </a:r>
            <a:r>
              <a:rPr lang="en-US" b="1" dirty="0"/>
              <a:t>.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■ </a:t>
            </a:r>
            <a:r>
              <a:rPr lang="en-US" b="1" dirty="0" err="1"/>
              <a:t>Sont</a:t>
            </a:r>
            <a:r>
              <a:rPr lang="en-US" b="1" dirty="0"/>
              <a:t> </a:t>
            </a:r>
            <a:r>
              <a:rPr lang="en-US" b="1" dirty="0" err="1"/>
              <a:t>souvent</a:t>
            </a:r>
            <a:r>
              <a:rPr lang="en-US" b="1" dirty="0"/>
              <a:t> </a:t>
            </a:r>
            <a:r>
              <a:rPr lang="en-US" b="1" dirty="0" err="1"/>
              <a:t>difficile</a:t>
            </a:r>
            <a:r>
              <a:rPr lang="en-US" b="1" dirty="0"/>
              <a:t> de les </a:t>
            </a:r>
            <a:r>
              <a:rPr lang="en-US" b="1" dirty="0" err="1"/>
              <a:t>distinguer</a:t>
            </a:r>
            <a:r>
              <a:rPr lang="en-US" b="1" dirty="0"/>
              <a:t> des </a:t>
            </a:r>
            <a:r>
              <a:rPr lang="en-US" b="1" dirty="0" err="1"/>
              <a:t>tumeurs</a:t>
            </a:r>
            <a:r>
              <a:rPr lang="en-US" b="1" dirty="0"/>
              <a:t> </a:t>
            </a:r>
            <a:r>
              <a:rPr lang="en-US" b="1" dirty="0" err="1"/>
              <a:t>papillaires</a:t>
            </a:r>
            <a:r>
              <a:rPr lang="en-US" b="1" dirty="0"/>
              <a:t> de bas grade, </a:t>
            </a:r>
            <a:r>
              <a:rPr lang="en-US" b="1" dirty="0" err="1"/>
              <a:t>susceptibles</a:t>
            </a:r>
            <a:r>
              <a:rPr lang="en-US" b="1" dirty="0"/>
              <a:t> de </a:t>
            </a:r>
            <a:r>
              <a:rPr lang="en-US" b="1" dirty="0" err="1"/>
              <a:t>récidiver</a:t>
            </a:r>
            <a:endParaRPr lang="en-US" b="1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57224" y="785794"/>
            <a:ext cx="7512088" cy="5230145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428604"/>
            <a:ext cx="8183880" cy="1051560"/>
          </a:xfrm>
        </p:spPr>
        <p:txBody>
          <a:bodyPr>
            <a:normAutofit fontScale="90000"/>
          </a:bodyPr>
          <a:lstStyle/>
          <a:p>
            <a:r>
              <a:rPr lang="en-US" sz="3600" b="1" i="1" dirty="0">
                <a:solidFill>
                  <a:srgbClr val="C00000"/>
                </a:solidFill>
              </a:rPr>
              <a:t>2. LES TUMEURS MALIGNES: CARCINOMES</a:t>
            </a:r>
            <a:endParaRPr lang="fr-FR" sz="3600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928802"/>
            <a:ext cx="8786842" cy="4187952"/>
          </a:xfrm>
        </p:spPr>
        <p:txBody>
          <a:bodyPr/>
          <a:lstStyle/>
          <a:p>
            <a:pPr>
              <a:buNone/>
            </a:pPr>
            <a:r>
              <a:rPr lang="en-US" sz="3600" b="1" i="1" dirty="0">
                <a:solidFill>
                  <a:srgbClr val="FF0000"/>
                </a:solidFill>
              </a:rPr>
              <a:t>2.1. </a:t>
            </a:r>
            <a:r>
              <a:rPr lang="en-US" sz="3600" b="1" i="1" dirty="0" err="1">
                <a:solidFill>
                  <a:srgbClr val="FF0000"/>
                </a:solidFill>
              </a:rPr>
              <a:t>Définition</a:t>
            </a:r>
            <a:r>
              <a:rPr lang="en-US" sz="3600" b="1" dirty="0">
                <a:solidFill>
                  <a:srgbClr val="FF0000"/>
                </a:solidFill>
              </a:rPr>
              <a:t> </a:t>
            </a:r>
            <a:r>
              <a:rPr lang="en-US" sz="3600" b="1" dirty="0">
                <a:solidFill>
                  <a:srgbClr val="00FFFF"/>
                </a:solidFill>
              </a:rPr>
              <a:t>:</a:t>
            </a:r>
            <a:r>
              <a:rPr lang="en-US" b="1" dirty="0">
                <a:solidFill>
                  <a:schemeClr val="bg1"/>
                </a:solidFill>
              </a:rPr>
              <a:t>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 le </a:t>
            </a:r>
            <a:r>
              <a:rPr lang="en-US" b="1" dirty="0" err="1"/>
              <a:t>terme</a:t>
            </a:r>
            <a:r>
              <a:rPr lang="en-US" b="1" dirty="0"/>
              <a:t> de </a:t>
            </a:r>
            <a:r>
              <a:rPr lang="en-US" b="1" dirty="0" err="1">
                <a:solidFill>
                  <a:srgbClr val="FF0000"/>
                </a:solidFill>
              </a:rPr>
              <a:t>carcinome</a:t>
            </a:r>
            <a:r>
              <a:rPr lang="en-US" b="1" dirty="0"/>
              <a:t> (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>
                <a:solidFill>
                  <a:srgbClr val="FF0000"/>
                </a:solidFill>
              </a:rPr>
              <a:t>épithélioma</a:t>
            </a:r>
            <a:r>
              <a:rPr lang="en-US" b="1" dirty="0"/>
              <a:t>) </a:t>
            </a:r>
            <a:r>
              <a:rPr lang="en-US" b="1" dirty="0" err="1"/>
              <a:t>désigne</a:t>
            </a:r>
            <a:r>
              <a:rPr lang="en-US" b="1" dirty="0"/>
              <a:t> les </a:t>
            </a:r>
            <a:r>
              <a:rPr lang="en-US" b="1" dirty="0" err="1"/>
              <a:t>tumeurs</a:t>
            </a:r>
            <a:r>
              <a:rPr lang="en-US" b="1" dirty="0"/>
              <a:t> </a:t>
            </a:r>
            <a:r>
              <a:rPr lang="en-US" b="1" dirty="0" err="1"/>
              <a:t>malignes</a:t>
            </a:r>
            <a:r>
              <a:rPr lang="en-US" b="1" dirty="0"/>
              <a:t> </a:t>
            </a:r>
            <a:r>
              <a:rPr lang="en-US" b="1" dirty="0" err="1"/>
              <a:t>développées</a:t>
            </a:r>
            <a:r>
              <a:rPr lang="en-US" b="1" dirty="0"/>
              <a:t>  à </a:t>
            </a:r>
            <a:r>
              <a:rPr lang="en-US" b="1" dirty="0" err="1"/>
              <a:t>partir</a:t>
            </a:r>
            <a:r>
              <a:rPr lang="en-US" b="1" dirty="0"/>
              <a:t> de structures </a:t>
            </a:r>
            <a:r>
              <a:rPr lang="en-US" b="1" dirty="0" err="1"/>
              <a:t>épithéliales</a:t>
            </a:r>
            <a:r>
              <a:rPr lang="en-US" b="1" dirty="0"/>
              <a:t> : </a:t>
            </a:r>
            <a:r>
              <a:rPr lang="en-US" b="1" dirty="0" err="1"/>
              <a:t>épithéliums</a:t>
            </a:r>
            <a:r>
              <a:rPr lang="en-US" b="1" dirty="0"/>
              <a:t> de </a:t>
            </a:r>
            <a:r>
              <a:rPr lang="en-US" b="1" dirty="0" err="1"/>
              <a:t>revêtement</a:t>
            </a:r>
            <a:r>
              <a:rPr lang="en-US" b="1" dirty="0"/>
              <a:t> (</a:t>
            </a:r>
            <a:r>
              <a:rPr lang="en-US" b="1" dirty="0" err="1"/>
              <a:t>malpighien</a:t>
            </a:r>
            <a:r>
              <a:rPr lang="en-US" b="1" dirty="0"/>
              <a:t>, </a:t>
            </a:r>
            <a:r>
              <a:rPr lang="en-US" b="1" dirty="0" err="1"/>
              <a:t>cylindrique</a:t>
            </a:r>
            <a:r>
              <a:rPr lang="en-US" b="1" dirty="0"/>
              <a:t>) 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parenchyme</a:t>
            </a:r>
            <a:r>
              <a:rPr lang="en-US" b="1" dirty="0"/>
              <a:t> </a:t>
            </a:r>
            <a:r>
              <a:rPr lang="en-US" b="1" dirty="0" err="1"/>
              <a:t>glandulaires</a:t>
            </a:r>
            <a:r>
              <a:rPr lang="en-US" b="1" dirty="0"/>
              <a:t>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1071546"/>
            <a:ext cx="8115328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i="1" u="sng" dirty="0">
                <a:solidFill>
                  <a:srgbClr val="00FFFF"/>
                </a:solidFill>
              </a:rPr>
              <a:t/>
            </a:r>
            <a:br>
              <a:rPr lang="en-US" sz="4000" b="1" i="1" u="sng" dirty="0">
                <a:solidFill>
                  <a:srgbClr val="00FFFF"/>
                </a:solidFill>
              </a:rPr>
            </a:br>
            <a:r>
              <a:rPr lang="en-US" sz="4000" b="1" i="1" u="sng" dirty="0">
                <a:solidFill>
                  <a:srgbClr val="FF0000"/>
                </a:solidFill>
              </a:rPr>
              <a:t>2.2. </a:t>
            </a:r>
            <a:r>
              <a:rPr lang="en-US" sz="4000" b="1" i="1" u="sng" dirty="0" err="1">
                <a:solidFill>
                  <a:srgbClr val="FF0000"/>
                </a:solidFill>
              </a:rPr>
              <a:t>Carcinomes</a:t>
            </a:r>
            <a:r>
              <a:rPr lang="en-US" sz="4000" b="1" i="1" u="sng" dirty="0">
                <a:solidFill>
                  <a:srgbClr val="FF0000"/>
                </a:solidFill>
              </a:rPr>
              <a:t> des </a:t>
            </a:r>
            <a:r>
              <a:rPr lang="en-US" sz="4000" b="1" i="1" u="sng" dirty="0" err="1">
                <a:solidFill>
                  <a:srgbClr val="FF0000"/>
                </a:solidFill>
              </a:rPr>
              <a:t>revêtements</a:t>
            </a:r>
            <a:r>
              <a:rPr lang="en-US" sz="4000" b="1" i="1" u="sng" dirty="0">
                <a:solidFill>
                  <a:srgbClr val="FF0000"/>
                </a:solidFill>
              </a:rPr>
              <a:t> </a:t>
            </a:r>
            <a:r>
              <a:rPr lang="en-US" sz="4000" b="1" i="1" u="sng" dirty="0" err="1">
                <a:solidFill>
                  <a:srgbClr val="FF0000"/>
                </a:solidFill>
              </a:rPr>
              <a:t>épithéliaux</a:t>
            </a:r>
            <a:r>
              <a:rPr lang="en-US" b="1" i="1" dirty="0">
                <a:solidFill>
                  <a:srgbClr val="00FFFF"/>
                </a:solidFill>
              </a:rPr>
              <a:t/>
            </a:r>
            <a:br>
              <a:rPr lang="en-US" b="1" i="1" dirty="0">
                <a:solidFill>
                  <a:srgbClr val="00FFFF"/>
                </a:solidFill>
              </a:rPr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928802"/>
            <a:ext cx="8183880" cy="41879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i="1" u="sng" dirty="0">
                <a:solidFill>
                  <a:schemeClr val="accent5">
                    <a:lumMod val="75000"/>
                  </a:schemeClr>
                </a:solidFill>
              </a:rPr>
              <a:t>2.2.1. </a:t>
            </a:r>
            <a:r>
              <a:rPr lang="en-US" b="1" i="1" u="sng" dirty="0" err="1">
                <a:solidFill>
                  <a:schemeClr val="accent5">
                    <a:lumMod val="75000"/>
                  </a:schemeClr>
                </a:solidFill>
              </a:rPr>
              <a:t>Carcinomes</a:t>
            </a:r>
            <a:r>
              <a:rPr lang="en-US" b="1" i="1" u="sng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b="1" i="1" u="sng" dirty="0" err="1">
                <a:solidFill>
                  <a:schemeClr val="accent5">
                    <a:lumMod val="75000"/>
                  </a:schemeClr>
                </a:solidFill>
              </a:rPr>
              <a:t>épidermoïdes</a:t>
            </a:r>
            <a:endParaRPr lang="en-US" b="1" i="1" u="sng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buNone/>
            </a:pPr>
            <a:r>
              <a:rPr lang="en-US" b="1" dirty="0"/>
              <a:t>   ● </a:t>
            </a:r>
            <a:r>
              <a:rPr lang="en-US" b="1" dirty="0" err="1"/>
              <a:t>Ces</a:t>
            </a:r>
            <a:r>
              <a:rPr lang="en-US" b="1" dirty="0"/>
              <a:t> </a:t>
            </a:r>
            <a:r>
              <a:rPr lang="en-US" b="1" dirty="0" err="1"/>
              <a:t>tumeurs</a:t>
            </a:r>
            <a:r>
              <a:rPr lang="en-US" b="1" dirty="0"/>
              <a:t> </a:t>
            </a:r>
            <a:r>
              <a:rPr lang="en-US" b="1" dirty="0" err="1"/>
              <a:t>épithéliales</a:t>
            </a:r>
            <a:r>
              <a:rPr lang="en-US" b="1" dirty="0"/>
              <a:t> </a:t>
            </a:r>
            <a:r>
              <a:rPr lang="en-US" b="1" dirty="0" err="1"/>
              <a:t>malignes</a:t>
            </a:r>
            <a:r>
              <a:rPr lang="en-US" b="1" dirty="0"/>
              <a:t> (</a:t>
            </a:r>
            <a:r>
              <a:rPr lang="en-US" b="1" dirty="0" err="1"/>
              <a:t>carcinomes</a:t>
            </a:r>
            <a:r>
              <a:rPr lang="en-US" b="1" dirty="0"/>
              <a:t>) </a:t>
            </a:r>
            <a:r>
              <a:rPr lang="en-US" b="1" dirty="0" err="1"/>
              <a:t>reproduisent</a:t>
            </a:r>
            <a:r>
              <a:rPr lang="en-US" b="1" dirty="0"/>
              <a:t> de </a:t>
            </a:r>
            <a:r>
              <a:rPr lang="en-US" b="1" dirty="0" err="1"/>
              <a:t>façon</a:t>
            </a:r>
            <a:r>
              <a:rPr lang="en-US" b="1" dirty="0"/>
              <a:t> plus 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moins</a:t>
            </a:r>
            <a:r>
              <a:rPr lang="en-US" b="1" dirty="0"/>
              <a:t> </a:t>
            </a:r>
            <a:r>
              <a:rPr lang="en-US" b="1" dirty="0" err="1"/>
              <a:t>élaborée</a:t>
            </a:r>
            <a:r>
              <a:rPr lang="en-US" b="1" dirty="0"/>
              <a:t> la structure d’un </a:t>
            </a:r>
            <a:r>
              <a:rPr lang="en-US" b="1" dirty="0" err="1"/>
              <a:t>épithélium</a:t>
            </a:r>
            <a:r>
              <a:rPr lang="en-US" b="1" dirty="0"/>
              <a:t> </a:t>
            </a:r>
            <a:r>
              <a:rPr lang="en-US" b="1" dirty="0" err="1"/>
              <a:t>malpighien</a:t>
            </a:r>
            <a:r>
              <a:rPr lang="en-US" b="1" dirty="0"/>
              <a:t> et </a:t>
            </a:r>
            <a:r>
              <a:rPr lang="en-US" b="1" dirty="0" err="1"/>
              <a:t>naissent</a:t>
            </a:r>
            <a:r>
              <a:rPr lang="en-US" b="1" dirty="0"/>
              <a:t> le plus </a:t>
            </a:r>
            <a:r>
              <a:rPr lang="en-US" b="1" dirty="0" err="1"/>
              <a:t>souvent</a:t>
            </a:r>
            <a:r>
              <a:rPr lang="en-US" b="1" dirty="0"/>
              <a:t> </a:t>
            </a:r>
            <a:r>
              <a:rPr lang="en-US" b="1" dirty="0" err="1"/>
              <a:t>dans</a:t>
            </a:r>
            <a:r>
              <a:rPr lang="en-US" b="1" dirty="0"/>
              <a:t> un </a:t>
            </a:r>
            <a:r>
              <a:rPr lang="en-US" b="1" dirty="0" err="1"/>
              <a:t>épithélium</a:t>
            </a:r>
            <a:r>
              <a:rPr lang="en-US" b="1" dirty="0"/>
              <a:t> de </a:t>
            </a:r>
            <a:r>
              <a:rPr lang="en-US" b="1" dirty="0" err="1"/>
              <a:t>revêtement</a:t>
            </a:r>
            <a:r>
              <a:rPr lang="en-US" b="1" dirty="0"/>
              <a:t> de </a:t>
            </a:r>
            <a:r>
              <a:rPr lang="en-US" b="1" dirty="0" err="1"/>
              <a:t>ce</a:t>
            </a:r>
            <a:r>
              <a:rPr lang="en-US" b="1" dirty="0"/>
              <a:t> type.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2000240"/>
            <a:ext cx="8183880" cy="4187952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  ●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Exemple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au </a:t>
            </a:r>
            <a:r>
              <a:rPr lang="en-US" b="1" dirty="0" err="1"/>
              <a:t>niveau</a:t>
            </a:r>
            <a:r>
              <a:rPr lang="en-US" b="1" dirty="0"/>
              <a:t> de la </a:t>
            </a:r>
            <a:r>
              <a:rPr lang="en-US" b="1" dirty="0" err="1"/>
              <a:t>peau</a:t>
            </a:r>
            <a:r>
              <a:rPr lang="en-US" b="1" dirty="0"/>
              <a:t>, des </a:t>
            </a:r>
            <a:r>
              <a:rPr lang="en-US" b="1" dirty="0" err="1"/>
              <a:t>muqueuses</a:t>
            </a:r>
            <a:r>
              <a:rPr lang="en-US" b="1" dirty="0"/>
              <a:t> </a:t>
            </a:r>
            <a:r>
              <a:rPr lang="en-US" b="1" dirty="0" err="1"/>
              <a:t>malpighiennes</a:t>
            </a:r>
            <a:r>
              <a:rPr lang="en-US" b="1" dirty="0"/>
              <a:t> du tube </a:t>
            </a:r>
            <a:r>
              <a:rPr lang="en-US" b="1" dirty="0" err="1"/>
              <a:t>digestif</a:t>
            </a:r>
            <a:r>
              <a:rPr lang="en-US" b="1" dirty="0"/>
              <a:t> (</a:t>
            </a:r>
            <a:r>
              <a:rPr lang="en-US" b="1" dirty="0" err="1"/>
              <a:t>cavité</a:t>
            </a:r>
            <a:r>
              <a:rPr lang="en-US" b="1" dirty="0"/>
              <a:t> </a:t>
            </a:r>
            <a:r>
              <a:rPr lang="en-US" b="1" dirty="0" err="1"/>
              <a:t>buccale</a:t>
            </a:r>
            <a:r>
              <a:rPr lang="en-US" b="1" dirty="0"/>
              <a:t>, </a:t>
            </a:r>
            <a:r>
              <a:rPr lang="en-US" b="1" dirty="0" err="1"/>
              <a:t>oesophage</a:t>
            </a:r>
            <a:r>
              <a:rPr lang="en-US" b="1" dirty="0"/>
              <a:t>, canal anal), des </a:t>
            </a:r>
            <a:r>
              <a:rPr lang="en-US" b="1" dirty="0" err="1"/>
              <a:t>muqueuses</a:t>
            </a:r>
            <a:r>
              <a:rPr lang="en-US" b="1" dirty="0"/>
              <a:t> </a:t>
            </a:r>
            <a:r>
              <a:rPr lang="en-US" b="1" dirty="0" err="1"/>
              <a:t>malpighiennes</a:t>
            </a:r>
            <a:r>
              <a:rPr lang="en-US" b="1" dirty="0"/>
              <a:t> de </a:t>
            </a:r>
            <a:r>
              <a:rPr lang="en-US" b="1" dirty="0" err="1"/>
              <a:t>l’appareil</a:t>
            </a:r>
            <a:r>
              <a:rPr lang="en-US" b="1" dirty="0"/>
              <a:t> </a:t>
            </a:r>
            <a:r>
              <a:rPr lang="en-US" b="1" dirty="0" err="1"/>
              <a:t>génital</a:t>
            </a:r>
            <a:r>
              <a:rPr lang="en-US" b="1" dirty="0"/>
              <a:t> </a:t>
            </a:r>
            <a:r>
              <a:rPr lang="en-US" b="1" dirty="0" err="1"/>
              <a:t>féminin</a:t>
            </a:r>
            <a:r>
              <a:rPr lang="en-US" b="1" dirty="0"/>
              <a:t> (</a:t>
            </a:r>
            <a:r>
              <a:rPr lang="en-US" b="1" dirty="0" err="1"/>
              <a:t>exocol</a:t>
            </a:r>
            <a:r>
              <a:rPr lang="en-US" b="1" dirty="0"/>
              <a:t>, </a:t>
            </a:r>
            <a:r>
              <a:rPr lang="en-US" b="1" dirty="0" err="1"/>
              <a:t>vagin</a:t>
            </a:r>
            <a:r>
              <a:rPr lang="en-US" b="1" dirty="0"/>
              <a:t>, </a:t>
            </a:r>
            <a:r>
              <a:rPr lang="en-US" b="1" dirty="0" err="1"/>
              <a:t>vulve</a:t>
            </a:r>
            <a:r>
              <a:rPr lang="en-US" b="1" dirty="0"/>
              <a:t>).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b="1" dirty="0"/>
              <a:t>  Les </a:t>
            </a:r>
            <a:r>
              <a:rPr lang="en-US" b="1" dirty="0" err="1"/>
              <a:t>carcinomes</a:t>
            </a:r>
            <a:r>
              <a:rPr lang="en-US" b="1" dirty="0"/>
              <a:t> </a:t>
            </a:r>
            <a:r>
              <a:rPr lang="en-US" b="1" dirty="0" err="1"/>
              <a:t>épidermoïdes</a:t>
            </a:r>
            <a:r>
              <a:rPr lang="en-US" b="1" dirty="0"/>
              <a:t> </a:t>
            </a:r>
            <a:r>
              <a:rPr lang="en-US" b="1" dirty="0" err="1"/>
              <a:t>peuvent</a:t>
            </a:r>
            <a:r>
              <a:rPr lang="en-US" b="1" dirty="0"/>
              <a:t> </a:t>
            </a:r>
            <a:r>
              <a:rPr lang="en-US" b="1" dirty="0" err="1"/>
              <a:t>également</a:t>
            </a:r>
            <a:r>
              <a:rPr lang="en-US" b="1" dirty="0"/>
              <a:t> se </a:t>
            </a:r>
            <a:r>
              <a:rPr lang="en-US" b="1" dirty="0" err="1"/>
              <a:t>développer</a:t>
            </a:r>
            <a:r>
              <a:rPr lang="en-US" b="1" dirty="0"/>
              <a:t> </a:t>
            </a:r>
            <a:r>
              <a:rPr lang="en-US" b="1" dirty="0" err="1"/>
              <a:t>sur</a:t>
            </a:r>
            <a:r>
              <a:rPr lang="en-US" b="1" dirty="0"/>
              <a:t> des </a:t>
            </a:r>
            <a:r>
              <a:rPr lang="en-US" b="1" dirty="0" err="1"/>
              <a:t>épithéliums</a:t>
            </a:r>
            <a:r>
              <a:rPr lang="en-US" b="1" dirty="0"/>
              <a:t> </a:t>
            </a:r>
            <a:r>
              <a:rPr lang="en-US" b="1" dirty="0" err="1"/>
              <a:t>glandulaires</a:t>
            </a:r>
            <a:r>
              <a:rPr lang="en-US" b="1" dirty="0"/>
              <a:t> et constituent </a:t>
            </a:r>
            <a:r>
              <a:rPr lang="en-US" b="1" dirty="0" err="1"/>
              <a:t>alors</a:t>
            </a:r>
            <a:r>
              <a:rPr lang="en-US" b="1" dirty="0"/>
              <a:t> des </a:t>
            </a:r>
            <a:r>
              <a:rPr lang="en-US" b="1" i="1" dirty="0" err="1"/>
              <a:t>carcinomes</a:t>
            </a:r>
            <a:r>
              <a:rPr lang="en-US" b="1" i="1" dirty="0"/>
              <a:t> </a:t>
            </a:r>
            <a:r>
              <a:rPr lang="en-US" b="1" i="1" dirty="0" err="1"/>
              <a:t>métaplasiques</a:t>
            </a:r>
            <a:endParaRPr lang="en-US" b="1" i="1" dirty="0"/>
          </a:p>
          <a:p>
            <a:pPr>
              <a:lnSpc>
                <a:spcPct val="90000"/>
              </a:lnSpc>
              <a:buNone/>
            </a:pPr>
            <a:endParaRPr lang="en-US" b="1" i="1" dirty="0"/>
          </a:p>
          <a:p>
            <a:pPr>
              <a:lnSpc>
                <a:spcPct val="90000"/>
              </a:lnSpc>
              <a:buNone/>
            </a:pPr>
            <a:r>
              <a:rPr lang="en-US" b="1" dirty="0"/>
              <a:t>● Les </a:t>
            </a:r>
            <a:r>
              <a:rPr lang="en-US" b="1" dirty="0" err="1"/>
              <a:t>tumeurs</a:t>
            </a:r>
            <a:r>
              <a:rPr lang="en-US" b="1" dirty="0"/>
              <a:t> les plus </a:t>
            </a:r>
            <a:r>
              <a:rPr lang="en-US" b="1" dirty="0" err="1"/>
              <a:t>fréquentes</a:t>
            </a:r>
            <a:r>
              <a:rPr lang="en-US" b="1" dirty="0"/>
              <a:t> des </a:t>
            </a:r>
            <a:r>
              <a:rPr lang="en-US" b="1" dirty="0" err="1"/>
              <a:t>bronches</a:t>
            </a:r>
            <a:r>
              <a:rPr lang="en-US" b="1" dirty="0"/>
              <a:t>, du larynx, de </a:t>
            </a:r>
            <a:r>
              <a:rPr lang="en-US" b="1" dirty="0" err="1"/>
              <a:t>l’endocol</a:t>
            </a:r>
            <a:r>
              <a:rPr lang="en-US" b="1" dirty="0"/>
              <a:t> </a:t>
            </a:r>
            <a:r>
              <a:rPr lang="en-US" b="1" dirty="0" err="1"/>
              <a:t>utérin</a:t>
            </a:r>
            <a:r>
              <a:rPr lang="en-US" b="1" dirty="0"/>
              <a:t> </a:t>
            </a:r>
            <a:r>
              <a:rPr lang="en-US" b="1" dirty="0" err="1"/>
              <a:t>sont</a:t>
            </a:r>
            <a:r>
              <a:rPr lang="en-US" b="1" dirty="0"/>
              <a:t> des </a:t>
            </a:r>
            <a:r>
              <a:rPr lang="en-US" b="1" dirty="0" err="1"/>
              <a:t>carcinomes</a:t>
            </a:r>
            <a:r>
              <a:rPr lang="en-US" b="1" dirty="0"/>
              <a:t> </a:t>
            </a:r>
            <a:r>
              <a:rPr lang="en-US" b="1" dirty="0" err="1"/>
              <a:t>épidermoïdes</a:t>
            </a:r>
            <a:r>
              <a:rPr lang="en-US" b="1" dirty="0"/>
              <a:t>. </a:t>
            </a:r>
          </a:p>
          <a:p>
            <a:pPr>
              <a:lnSpc>
                <a:spcPct val="90000"/>
              </a:lnSpc>
              <a:buNone/>
            </a:pPr>
            <a:endParaRPr lang="en-US" b="1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/>
          <a:lstStyle/>
          <a:p>
            <a:r>
              <a:rPr lang="en-US" b="1" dirty="0"/>
              <a:t>● Beaucoup plus </a:t>
            </a:r>
            <a:r>
              <a:rPr lang="en-US" b="1" dirty="0" err="1"/>
              <a:t>rarement</a:t>
            </a:r>
            <a:r>
              <a:rPr lang="en-US" b="1" dirty="0"/>
              <a:t>, on les observe </a:t>
            </a:r>
            <a:r>
              <a:rPr lang="en-US" b="1" dirty="0" err="1"/>
              <a:t>dans</a:t>
            </a:r>
            <a:r>
              <a:rPr lang="en-US" b="1" dirty="0"/>
              <a:t> </a:t>
            </a:r>
            <a:r>
              <a:rPr lang="en-US" b="1" dirty="0" err="1"/>
              <a:t>d’autres</a:t>
            </a:r>
            <a:r>
              <a:rPr lang="en-US" b="1" dirty="0"/>
              <a:t> </a:t>
            </a:r>
            <a:r>
              <a:rPr lang="en-US" b="1" dirty="0" err="1"/>
              <a:t>épithéliums</a:t>
            </a:r>
            <a:r>
              <a:rPr lang="en-US" b="1" dirty="0"/>
              <a:t> </a:t>
            </a:r>
            <a:r>
              <a:rPr lang="en-US" b="1" dirty="0" err="1"/>
              <a:t>glandulaires</a:t>
            </a:r>
            <a:r>
              <a:rPr lang="en-US" b="1" dirty="0"/>
              <a:t> (</a:t>
            </a:r>
            <a:r>
              <a:rPr lang="en-US" b="1" dirty="0" err="1"/>
              <a:t>voies</a:t>
            </a:r>
            <a:r>
              <a:rPr lang="en-US" b="1" dirty="0"/>
              <a:t> </a:t>
            </a:r>
            <a:r>
              <a:rPr lang="en-US" b="1" dirty="0" err="1"/>
              <a:t>biliaires</a:t>
            </a:r>
            <a:r>
              <a:rPr lang="en-US" b="1" dirty="0"/>
              <a:t>, </a:t>
            </a:r>
            <a:r>
              <a:rPr lang="en-US" b="1" dirty="0" err="1"/>
              <a:t>muqueuses</a:t>
            </a:r>
            <a:r>
              <a:rPr lang="en-US" b="1" dirty="0"/>
              <a:t> digestives), </a:t>
            </a:r>
            <a:r>
              <a:rPr lang="en-US" b="1" dirty="0" err="1"/>
              <a:t>voire</a:t>
            </a:r>
            <a:r>
              <a:rPr lang="en-US" b="1" dirty="0"/>
              <a:t> de </a:t>
            </a:r>
            <a:r>
              <a:rPr lang="en-US" b="1" dirty="0" err="1"/>
              <a:t>manière</a:t>
            </a:r>
            <a:r>
              <a:rPr lang="en-US" b="1" dirty="0"/>
              <a:t> </a:t>
            </a:r>
            <a:r>
              <a:rPr lang="en-US" b="1" dirty="0" err="1"/>
              <a:t>exceptionnelle</a:t>
            </a:r>
            <a:r>
              <a:rPr lang="en-US" b="1" dirty="0"/>
              <a:t> </a:t>
            </a:r>
            <a:r>
              <a:rPr lang="en-US" b="1" dirty="0" err="1"/>
              <a:t>dans</a:t>
            </a:r>
            <a:r>
              <a:rPr lang="en-US" b="1" dirty="0"/>
              <a:t> des </a:t>
            </a:r>
            <a:r>
              <a:rPr lang="en-US" b="1" dirty="0" err="1"/>
              <a:t>parenchymes</a:t>
            </a:r>
            <a:r>
              <a:rPr lang="en-US" b="1" dirty="0"/>
              <a:t> </a:t>
            </a:r>
            <a:r>
              <a:rPr lang="en-US" b="1" dirty="0" err="1"/>
              <a:t>glandulaires</a:t>
            </a:r>
            <a:r>
              <a:rPr lang="en-US" b="1" dirty="0"/>
              <a:t> (</a:t>
            </a:r>
            <a:r>
              <a:rPr lang="en-US" b="1" dirty="0" err="1"/>
              <a:t>isolément</a:t>
            </a:r>
            <a:r>
              <a:rPr lang="en-US" b="1" dirty="0"/>
              <a:t> </a:t>
            </a:r>
            <a:r>
              <a:rPr lang="en-US" b="1" dirty="0" err="1"/>
              <a:t>ou</a:t>
            </a:r>
            <a:r>
              <a:rPr lang="en-US" b="1" dirty="0"/>
              <a:t> en association avec un </a:t>
            </a:r>
            <a:r>
              <a:rPr lang="en-US" b="1" dirty="0" err="1"/>
              <a:t>adénocarcinome</a:t>
            </a:r>
            <a:r>
              <a:rPr lang="en-US" b="1" dirty="0"/>
              <a:t>.</a:t>
            </a:r>
            <a:endParaRPr lang="en-US" b="1" i="1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b="1" dirty="0"/>
              <a:t>● Les </a:t>
            </a:r>
            <a:r>
              <a:rPr lang="en-US" b="1" dirty="0" err="1"/>
              <a:t>carcinomes</a:t>
            </a:r>
            <a:r>
              <a:rPr lang="en-US" b="1" dirty="0"/>
              <a:t> </a:t>
            </a:r>
            <a:r>
              <a:rPr lang="en-US" b="1" dirty="0" err="1"/>
              <a:t>épidermoïdes</a:t>
            </a:r>
            <a:r>
              <a:rPr lang="en-US" b="1" dirty="0"/>
              <a:t> </a:t>
            </a:r>
            <a:r>
              <a:rPr lang="en-US" b="1" dirty="0" err="1"/>
              <a:t>ont</a:t>
            </a:r>
            <a:r>
              <a:rPr lang="en-US" b="1" dirty="0"/>
              <a:t> des causes </a:t>
            </a:r>
            <a:r>
              <a:rPr lang="en-US" b="1" dirty="0" err="1"/>
              <a:t>bien</a:t>
            </a:r>
            <a:r>
              <a:rPr lang="en-US" b="1" dirty="0"/>
              <a:t> </a:t>
            </a:r>
            <a:r>
              <a:rPr lang="en-US" b="1" dirty="0" err="1"/>
              <a:t>connues</a:t>
            </a:r>
            <a:r>
              <a:rPr lang="en-US" b="1" dirty="0"/>
              <a:t>, </a:t>
            </a:r>
            <a:r>
              <a:rPr lang="en-US" b="1" dirty="0" err="1"/>
              <a:t>différentes</a:t>
            </a:r>
            <a:r>
              <a:rPr lang="en-US" b="1" dirty="0"/>
              <a:t> </a:t>
            </a:r>
            <a:r>
              <a:rPr lang="en-US" b="1" dirty="0" err="1"/>
              <a:t>selon</a:t>
            </a:r>
            <a:r>
              <a:rPr lang="en-US" b="1" dirty="0"/>
              <a:t> les </a:t>
            </a:r>
            <a:r>
              <a:rPr lang="en-US" b="1" dirty="0" err="1"/>
              <a:t>organes</a:t>
            </a:r>
            <a:r>
              <a:rPr lang="en-US" b="1" dirty="0"/>
              <a:t> :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   </a:t>
            </a:r>
            <a:r>
              <a:rPr lang="en-US" b="1" i="1" dirty="0"/>
              <a:t>►</a:t>
            </a:r>
            <a:r>
              <a:rPr lang="en-US" b="1" dirty="0"/>
              <a:t> </a:t>
            </a:r>
            <a:r>
              <a:rPr lang="en-US" b="1" dirty="0" err="1"/>
              <a:t>Peau</a:t>
            </a:r>
            <a:r>
              <a:rPr lang="en-US" b="1" dirty="0"/>
              <a:t> : exposition aux UV</a:t>
            </a:r>
          </a:p>
          <a:p>
            <a:pPr>
              <a:lnSpc>
                <a:spcPct val="80000"/>
              </a:lnSpc>
              <a:buNone/>
            </a:pPr>
            <a:r>
              <a:rPr lang="en-US" b="1" i="1" dirty="0"/>
              <a:t>     ►</a:t>
            </a:r>
            <a:r>
              <a:rPr lang="en-US" b="1" dirty="0"/>
              <a:t> Col </a:t>
            </a:r>
            <a:r>
              <a:rPr lang="en-US" b="1" dirty="0" err="1"/>
              <a:t>utérin</a:t>
            </a:r>
            <a:r>
              <a:rPr lang="en-US" b="1" dirty="0"/>
              <a:t> : virus </a:t>
            </a:r>
            <a:r>
              <a:rPr lang="en-US" b="1" dirty="0" err="1"/>
              <a:t>oncogènes</a:t>
            </a:r>
            <a:r>
              <a:rPr lang="en-US" b="1" dirty="0"/>
              <a:t>     (</a:t>
            </a:r>
            <a:r>
              <a:rPr lang="en-US" b="1" dirty="0" err="1"/>
              <a:t>papillomavirus</a:t>
            </a:r>
            <a:r>
              <a:rPr lang="en-US" b="1" dirty="0"/>
              <a:t>)</a:t>
            </a:r>
          </a:p>
          <a:p>
            <a:pPr>
              <a:lnSpc>
                <a:spcPct val="80000"/>
              </a:lnSpc>
              <a:buNone/>
            </a:pPr>
            <a:r>
              <a:rPr lang="en-US" b="1" i="1" dirty="0"/>
              <a:t>     ►</a:t>
            </a:r>
            <a:r>
              <a:rPr lang="en-US" b="1" dirty="0"/>
              <a:t> </a:t>
            </a:r>
            <a:r>
              <a:rPr lang="en-US" b="1" dirty="0" err="1"/>
              <a:t>Voies</a:t>
            </a:r>
            <a:r>
              <a:rPr lang="en-US" b="1" dirty="0"/>
              <a:t> </a:t>
            </a:r>
            <a:r>
              <a:rPr lang="en-US" b="1" dirty="0" err="1"/>
              <a:t>aériennes</a:t>
            </a:r>
            <a:r>
              <a:rPr lang="en-US" b="1" dirty="0"/>
              <a:t> : </a:t>
            </a:r>
            <a:r>
              <a:rPr lang="en-US" b="1" dirty="0" err="1"/>
              <a:t>fumée</a:t>
            </a:r>
            <a:r>
              <a:rPr lang="en-US" b="1" dirty="0"/>
              <a:t> du </a:t>
            </a:r>
            <a:r>
              <a:rPr lang="en-US" b="1" dirty="0" err="1"/>
              <a:t>tabac</a:t>
            </a:r>
            <a:endParaRPr lang="en-US" b="1" dirty="0"/>
          </a:p>
          <a:p>
            <a:pPr>
              <a:lnSpc>
                <a:spcPct val="80000"/>
              </a:lnSpc>
              <a:buNone/>
            </a:pPr>
            <a:r>
              <a:rPr lang="en-US" b="1" i="1" dirty="0"/>
              <a:t>     ►</a:t>
            </a:r>
            <a:r>
              <a:rPr lang="en-US" b="1" dirty="0"/>
              <a:t> </a:t>
            </a:r>
            <a:r>
              <a:rPr lang="en-US" b="1" dirty="0" err="1"/>
              <a:t>OEsophage</a:t>
            </a:r>
            <a:r>
              <a:rPr lang="en-US" b="1" dirty="0"/>
              <a:t> : </a:t>
            </a:r>
            <a:r>
              <a:rPr lang="en-US" b="1" dirty="0" err="1"/>
              <a:t>tabac</a:t>
            </a:r>
            <a:r>
              <a:rPr lang="en-US" b="1" dirty="0"/>
              <a:t> et </a:t>
            </a:r>
            <a:r>
              <a:rPr lang="en-US" b="1" dirty="0" err="1"/>
              <a:t>alcool</a:t>
            </a:r>
            <a:r>
              <a:rPr lang="en-US" b="1" dirty="0"/>
              <a:t>.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14356"/>
            <a:ext cx="8229600" cy="5411807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b="1" dirty="0"/>
              <a:t>● Les </a:t>
            </a:r>
            <a:r>
              <a:rPr lang="en-US" b="1" dirty="0" err="1"/>
              <a:t>carcinomes</a:t>
            </a:r>
            <a:r>
              <a:rPr lang="en-US" b="1" dirty="0"/>
              <a:t> </a:t>
            </a:r>
            <a:r>
              <a:rPr lang="en-US" b="1" dirty="0" err="1"/>
              <a:t>épidermoïdes</a:t>
            </a:r>
            <a:r>
              <a:rPr lang="en-US" b="1" dirty="0"/>
              <a:t> </a:t>
            </a:r>
            <a:r>
              <a:rPr lang="en-US" b="1" dirty="0" err="1"/>
              <a:t>invasifs</a:t>
            </a:r>
            <a:r>
              <a:rPr lang="en-US" b="1" dirty="0"/>
              <a:t> </a:t>
            </a:r>
            <a:r>
              <a:rPr lang="en-US" b="1" dirty="0" err="1"/>
              <a:t>sont</a:t>
            </a:r>
            <a:r>
              <a:rPr lang="en-US" b="1" dirty="0"/>
              <a:t> </a:t>
            </a:r>
            <a:r>
              <a:rPr lang="en-US" b="1" dirty="0" err="1"/>
              <a:t>souvent</a:t>
            </a:r>
            <a:r>
              <a:rPr lang="en-US" b="1" dirty="0"/>
              <a:t> </a:t>
            </a:r>
            <a:r>
              <a:rPr lang="en-US" b="1" dirty="0" err="1"/>
              <a:t>précédés</a:t>
            </a:r>
            <a:r>
              <a:rPr lang="en-US" b="1" dirty="0"/>
              <a:t> par des </a:t>
            </a:r>
            <a:r>
              <a:rPr lang="en-US" b="1" dirty="0" err="1"/>
              <a:t>lésions</a:t>
            </a:r>
            <a:r>
              <a:rPr lang="en-US" b="1" dirty="0"/>
              <a:t> non-</a:t>
            </a:r>
            <a:r>
              <a:rPr lang="en-US" b="1" dirty="0" err="1"/>
              <a:t>invasives</a:t>
            </a:r>
            <a:r>
              <a:rPr lang="en-US" b="1" dirty="0"/>
              <a:t>, </a:t>
            </a:r>
            <a:r>
              <a:rPr lang="en-US" b="1" dirty="0" err="1"/>
              <a:t>limitées</a:t>
            </a:r>
            <a:r>
              <a:rPr lang="en-US" b="1" dirty="0"/>
              <a:t> à </a:t>
            </a:r>
            <a:r>
              <a:rPr lang="en-US" b="1" dirty="0" err="1"/>
              <a:t>l'épithélium</a:t>
            </a:r>
            <a:r>
              <a:rPr lang="en-US" b="1" dirty="0"/>
              <a:t>, </a:t>
            </a:r>
            <a:r>
              <a:rPr lang="en-US" b="1" dirty="0" err="1"/>
              <a:t>dont</a:t>
            </a:r>
            <a:r>
              <a:rPr lang="en-US" b="1" dirty="0"/>
              <a:t> le </a:t>
            </a:r>
            <a:r>
              <a:rPr lang="en-US" b="1" dirty="0" err="1"/>
              <a:t>dépistage</a:t>
            </a:r>
            <a:r>
              <a:rPr lang="en-US" b="1" dirty="0"/>
              <a:t> et le </a:t>
            </a:r>
            <a:r>
              <a:rPr lang="en-US" b="1" dirty="0" err="1"/>
              <a:t>traitement</a:t>
            </a:r>
            <a:r>
              <a:rPr lang="en-US" b="1" dirty="0"/>
              <a:t> </a:t>
            </a:r>
            <a:r>
              <a:rPr lang="en-US" b="1" dirty="0" err="1"/>
              <a:t>sont</a:t>
            </a:r>
            <a:r>
              <a:rPr lang="en-US" b="1" dirty="0"/>
              <a:t> à la base de la </a:t>
            </a:r>
            <a:r>
              <a:rPr lang="en-US" b="1" dirty="0" err="1"/>
              <a:t>prévention</a:t>
            </a:r>
            <a:r>
              <a:rPr lang="en-US" b="1" dirty="0"/>
              <a:t> de </a:t>
            </a:r>
            <a:r>
              <a:rPr lang="en-US" b="1" dirty="0" err="1"/>
              <a:t>ces</a:t>
            </a:r>
            <a:r>
              <a:rPr lang="en-US" b="1" dirty="0"/>
              <a:t> cancers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● </a:t>
            </a:r>
            <a:r>
              <a:rPr lang="en-US" b="1" dirty="0" err="1"/>
              <a:t>Ces</a:t>
            </a:r>
            <a:r>
              <a:rPr lang="en-US" b="1" dirty="0"/>
              <a:t> </a:t>
            </a:r>
            <a:r>
              <a:rPr lang="en-US" b="1" dirty="0" err="1"/>
              <a:t>lésions</a:t>
            </a:r>
            <a:r>
              <a:rPr lang="en-US" b="1" dirty="0"/>
              <a:t> non-</a:t>
            </a:r>
            <a:r>
              <a:rPr lang="en-US" b="1" dirty="0" err="1"/>
              <a:t>invasives</a:t>
            </a:r>
            <a:r>
              <a:rPr lang="en-US" b="1" dirty="0"/>
              <a:t> </a:t>
            </a:r>
            <a:r>
              <a:rPr lang="en-US" b="1" dirty="0" err="1"/>
              <a:t>peuvent</a:t>
            </a:r>
            <a:r>
              <a:rPr lang="en-US" b="1" dirty="0"/>
              <a:t> </a:t>
            </a:r>
            <a:r>
              <a:rPr lang="en-US" b="1" dirty="0" err="1"/>
              <a:t>être</a:t>
            </a:r>
            <a:r>
              <a:rPr lang="en-US" b="1" dirty="0"/>
              <a:t> </a:t>
            </a:r>
            <a:r>
              <a:rPr lang="en-US" b="1" dirty="0" err="1"/>
              <a:t>associées</a:t>
            </a:r>
            <a:r>
              <a:rPr lang="en-US" b="1" dirty="0"/>
              <a:t> à des </a:t>
            </a:r>
            <a:r>
              <a:rPr lang="en-US" b="1" dirty="0" err="1"/>
              <a:t>lésions</a:t>
            </a:r>
            <a:r>
              <a:rPr lang="en-US" b="1" dirty="0"/>
              <a:t> </a:t>
            </a:r>
            <a:r>
              <a:rPr lang="en-US" b="1" dirty="0" err="1"/>
              <a:t>invasives</a:t>
            </a:r>
            <a:r>
              <a:rPr lang="en-US" b="1" dirty="0"/>
              <a:t> en un </a:t>
            </a:r>
            <a:r>
              <a:rPr lang="en-US" b="1" dirty="0" err="1"/>
              <a:t>autre</a:t>
            </a:r>
            <a:r>
              <a:rPr lang="en-US" b="1" dirty="0"/>
              <a:t> </a:t>
            </a:r>
            <a:r>
              <a:rPr lang="en-US" b="1" dirty="0" err="1"/>
              <a:t>endroit</a:t>
            </a:r>
            <a:r>
              <a:rPr lang="en-US" b="1" dirty="0"/>
              <a:t> de  </a:t>
            </a:r>
            <a:r>
              <a:rPr lang="en-US" b="1" dirty="0" err="1"/>
              <a:t>l'épithélium</a:t>
            </a:r>
            <a:r>
              <a:rPr lang="en-US" b="1" dirty="0"/>
              <a:t>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0"/>
            <a:ext cx="6586526" cy="928670"/>
          </a:xfrm>
        </p:spPr>
        <p:txBody>
          <a:bodyPr>
            <a:norm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►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i="1" dirty="0">
                <a:solidFill>
                  <a:srgbClr val="FF0000"/>
                </a:solidFill>
              </a:rPr>
              <a:t>Aspects </a:t>
            </a:r>
            <a:r>
              <a:rPr lang="en-US" sz="3200" b="1" i="1" dirty="0" err="1">
                <a:solidFill>
                  <a:srgbClr val="FF0000"/>
                </a:solidFill>
              </a:rPr>
              <a:t>macroscopiques</a:t>
            </a:r>
            <a:endParaRPr lang="fr-FR" sz="3200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071546"/>
            <a:ext cx="8229600" cy="441167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b="1" dirty="0"/>
              <a:t>  </a:t>
            </a:r>
            <a:r>
              <a:rPr lang="en-US" b="1" dirty="0" err="1"/>
              <a:t>Dans</a:t>
            </a:r>
            <a:r>
              <a:rPr lang="en-US" b="1" dirty="0"/>
              <a:t> les </a:t>
            </a:r>
            <a:r>
              <a:rPr lang="en-US" b="1" dirty="0" err="1"/>
              <a:t>formes</a:t>
            </a:r>
            <a:r>
              <a:rPr lang="en-US" b="1" dirty="0"/>
              <a:t> </a:t>
            </a:r>
            <a:r>
              <a:rPr lang="en-US" b="1" dirty="0" err="1"/>
              <a:t>évoluées</a:t>
            </a:r>
            <a:r>
              <a:rPr lang="en-US" b="1" dirty="0"/>
              <a:t>, </a:t>
            </a:r>
            <a:r>
              <a:rPr lang="en-US" b="1" dirty="0" err="1"/>
              <a:t>quelque</a:t>
            </a:r>
            <a:r>
              <a:rPr lang="en-US" b="1" dirty="0"/>
              <a:t> </a:t>
            </a:r>
            <a:r>
              <a:rPr lang="en-US" b="1" dirty="0" err="1"/>
              <a:t>soit</a:t>
            </a:r>
            <a:r>
              <a:rPr lang="en-US" b="1" dirty="0"/>
              <a:t> la </a:t>
            </a:r>
            <a:r>
              <a:rPr lang="en-US" b="1" dirty="0" err="1"/>
              <a:t>localisation</a:t>
            </a:r>
            <a:r>
              <a:rPr lang="en-US" b="1" dirty="0"/>
              <a:t>, on distingue :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r>
              <a:rPr lang="en-US" b="1" i="1" dirty="0"/>
              <a:t>►</a:t>
            </a:r>
            <a:r>
              <a:rPr lang="en-US" b="1" dirty="0"/>
              <a:t> </a:t>
            </a:r>
            <a:r>
              <a:rPr lang="en-US" b="1" i="1" dirty="0"/>
              <a:t>les </a:t>
            </a:r>
            <a:r>
              <a:rPr lang="en-US" b="1" i="1" dirty="0" err="1"/>
              <a:t>tumeurs</a:t>
            </a:r>
            <a:r>
              <a:rPr lang="en-US" b="1" i="1" dirty="0"/>
              <a:t> </a:t>
            </a:r>
            <a:r>
              <a:rPr lang="en-US" b="1" i="1" dirty="0" err="1"/>
              <a:t>végétantes</a:t>
            </a:r>
            <a:r>
              <a:rPr lang="en-US" b="1" dirty="0"/>
              <a:t> (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bourgeonnantes</a:t>
            </a:r>
            <a:r>
              <a:rPr lang="en-US" b="1" dirty="0"/>
              <a:t>) : le massif </a:t>
            </a:r>
            <a:r>
              <a:rPr lang="en-US" b="1" dirty="0" err="1"/>
              <a:t>tumoral</a:t>
            </a:r>
            <a:r>
              <a:rPr lang="en-US" b="1" dirty="0"/>
              <a:t> plus 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moins</a:t>
            </a:r>
            <a:r>
              <a:rPr lang="en-US" b="1" dirty="0"/>
              <a:t> </a:t>
            </a:r>
            <a:r>
              <a:rPr lang="en-US" b="1" dirty="0" err="1"/>
              <a:t>volumineux</a:t>
            </a:r>
            <a:r>
              <a:rPr lang="en-US" b="1" dirty="0"/>
              <a:t> fait </a:t>
            </a:r>
            <a:r>
              <a:rPr lang="en-US" b="1" dirty="0" err="1"/>
              <a:t>saillie</a:t>
            </a:r>
            <a:r>
              <a:rPr lang="en-US" b="1" dirty="0"/>
              <a:t> </a:t>
            </a:r>
            <a:r>
              <a:rPr lang="en-US" b="1" dirty="0" err="1"/>
              <a:t>sur</a:t>
            </a:r>
            <a:r>
              <a:rPr lang="en-US" b="1" dirty="0"/>
              <a:t> le </a:t>
            </a:r>
            <a:r>
              <a:rPr lang="en-US" b="1" dirty="0" err="1"/>
              <a:t>revêtement</a:t>
            </a:r>
            <a:r>
              <a:rPr lang="en-US" b="1" dirty="0"/>
              <a:t> </a:t>
            </a:r>
            <a:r>
              <a:rPr lang="en-US" b="1" dirty="0" err="1"/>
              <a:t>cutané</a:t>
            </a:r>
            <a:r>
              <a:rPr lang="en-US" b="1" dirty="0"/>
              <a:t> 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dans</a:t>
            </a:r>
            <a:r>
              <a:rPr lang="en-US" b="1" dirty="0"/>
              <a:t> la </a:t>
            </a:r>
            <a:r>
              <a:rPr lang="en-US" b="1" dirty="0" err="1"/>
              <a:t>lumière</a:t>
            </a:r>
            <a:r>
              <a:rPr lang="en-US" b="1" dirty="0"/>
              <a:t> d’un </a:t>
            </a:r>
            <a:r>
              <a:rPr lang="en-US" b="1" dirty="0" err="1"/>
              <a:t>organe</a:t>
            </a:r>
            <a:r>
              <a:rPr lang="en-US" b="1" dirty="0"/>
              <a:t>.</a:t>
            </a:r>
          </a:p>
          <a:p>
            <a:endParaRPr lang="fr-FR" dirty="0"/>
          </a:p>
        </p:txBody>
      </p:sp>
      <p:pic>
        <p:nvPicPr>
          <p:cNvPr id="5" name="Picture 2" descr="C:\Users\HOMETECH\Pictures\MDnOA3NqHuDX142mf_sqJmiLAvTV3ZGtf_Tm4YxcZZAcbKxXtXobr41_yeFy3_oWGlSVKs1vvMVUeHQIa4bxZHdcqBWiUyvu3OoaSTq1QJQRX08jmTNYPQQRxgZkB7-fnWLNxRfsH1CZXDrjyuuIftcz2Yfs-N2q4-_C.jpg"/>
          <p:cNvPicPr>
            <a:picLocks noChangeAspect="1" noChangeArrowheads="1"/>
          </p:cNvPicPr>
          <p:nvPr/>
        </p:nvPicPr>
        <p:blipFill>
          <a:blip r:embed="rId2"/>
          <a:srcRect b="68310"/>
          <a:stretch>
            <a:fillRect/>
          </a:stretch>
        </p:blipFill>
        <p:spPr bwMode="auto">
          <a:xfrm>
            <a:off x="5214910" y="3857628"/>
            <a:ext cx="3929090" cy="257176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71480"/>
            <a:ext cx="8658196" cy="628652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b="1" i="1" dirty="0"/>
              <a:t>►</a:t>
            </a:r>
            <a:r>
              <a:rPr lang="en-US" b="1" dirty="0"/>
              <a:t> </a:t>
            </a:r>
            <a:r>
              <a:rPr lang="en-US" b="1" i="1" dirty="0"/>
              <a:t>l</a:t>
            </a:r>
            <a:r>
              <a:rPr lang="en-US" b="1" i="1" u="sng" dirty="0"/>
              <a:t>es </a:t>
            </a:r>
            <a:r>
              <a:rPr lang="en-US" b="1" i="1" u="sng" dirty="0" err="1"/>
              <a:t>tumeurs</a:t>
            </a:r>
            <a:r>
              <a:rPr lang="en-US" b="1" i="1" u="sng" dirty="0"/>
              <a:t> </a:t>
            </a:r>
            <a:r>
              <a:rPr lang="en-US" b="1" i="1" u="sng" dirty="0" err="1"/>
              <a:t>ulcérées</a:t>
            </a:r>
            <a:r>
              <a:rPr lang="en-US" b="1" u="sng" dirty="0"/>
              <a:t> </a:t>
            </a:r>
            <a:r>
              <a:rPr lang="en-US" b="1" dirty="0"/>
              <a:t>: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 </a:t>
            </a:r>
            <a:r>
              <a:rPr lang="en-US" b="1" dirty="0" err="1"/>
              <a:t>l’ulcération</a:t>
            </a:r>
            <a:r>
              <a:rPr lang="en-US" b="1" dirty="0"/>
              <a:t> (</a:t>
            </a:r>
            <a:r>
              <a:rPr lang="en-US" b="1" dirty="0" err="1"/>
              <a:t>perte</a:t>
            </a:r>
            <a:r>
              <a:rPr lang="en-US" b="1" dirty="0"/>
              <a:t> de substance)</a:t>
            </a: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 </a:t>
            </a:r>
            <a:r>
              <a:rPr lang="en-US" b="1" dirty="0" err="1"/>
              <a:t>est</a:t>
            </a:r>
            <a:r>
              <a:rPr lang="en-US" b="1" dirty="0"/>
              <a:t> plus 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moins</a:t>
            </a:r>
            <a:endParaRPr lang="en-US" b="1" dirty="0"/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 </a:t>
            </a:r>
            <a:r>
              <a:rPr lang="en-US" b="1" dirty="0" err="1"/>
              <a:t>profonde</a:t>
            </a:r>
            <a:r>
              <a:rPr lang="en-US" b="1" dirty="0"/>
              <a:t> et large,</a:t>
            </a: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 </a:t>
            </a:r>
            <a:r>
              <a:rPr lang="en-US" b="1" dirty="0" err="1"/>
              <a:t>souvent</a:t>
            </a:r>
            <a:r>
              <a:rPr lang="en-US" b="1" dirty="0"/>
              <a:t> </a:t>
            </a:r>
            <a:r>
              <a:rPr lang="en-US" b="1" dirty="0" err="1"/>
              <a:t>entourée</a:t>
            </a:r>
            <a:r>
              <a:rPr lang="en-US" b="1" dirty="0"/>
              <a:t> par </a:t>
            </a: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 un </a:t>
            </a:r>
            <a:r>
              <a:rPr lang="en-US" b="1" dirty="0" err="1"/>
              <a:t>bourrelet</a:t>
            </a:r>
            <a:r>
              <a:rPr lang="en-US" b="1" dirty="0"/>
              <a:t> </a:t>
            </a:r>
            <a:r>
              <a:rPr lang="en-US" b="1" dirty="0" err="1"/>
              <a:t>tumoral</a:t>
            </a:r>
            <a:r>
              <a:rPr lang="en-US" b="1" dirty="0"/>
              <a:t>. </a:t>
            </a: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 Les </a:t>
            </a:r>
            <a:r>
              <a:rPr lang="en-US" b="1" dirty="0" err="1"/>
              <a:t>formes</a:t>
            </a:r>
            <a:r>
              <a:rPr lang="en-US" b="1" dirty="0"/>
              <a:t> </a:t>
            </a:r>
            <a:r>
              <a:rPr lang="en-US" b="1" dirty="0" err="1"/>
              <a:t>ulcéreuses</a:t>
            </a:r>
            <a:r>
              <a:rPr lang="en-US" b="1" dirty="0"/>
              <a:t> </a:t>
            </a: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 </a:t>
            </a:r>
            <a:r>
              <a:rPr lang="en-US" b="1" dirty="0" err="1"/>
              <a:t>pures</a:t>
            </a:r>
            <a:r>
              <a:rPr lang="en-US" b="1" dirty="0"/>
              <a:t> </a:t>
            </a:r>
            <a:r>
              <a:rPr lang="en-US" b="1" dirty="0" err="1"/>
              <a:t>sont</a:t>
            </a:r>
            <a:r>
              <a:rPr lang="en-US" b="1" dirty="0"/>
              <a:t> </a:t>
            </a:r>
            <a:r>
              <a:rPr lang="en-US" b="1" dirty="0" err="1"/>
              <a:t>rares</a:t>
            </a:r>
            <a:r>
              <a:rPr lang="en-US" b="1" dirty="0"/>
              <a:t>, </a:t>
            </a:r>
            <a:r>
              <a:rPr lang="en-US" b="1" dirty="0" err="1"/>
              <a:t>elles</a:t>
            </a:r>
            <a:r>
              <a:rPr lang="en-US" b="1" dirty="0"/>
              <a:t> </a:t>
            </a: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</a:t>
            </a:r>
            <a:r>
              <a:rPr lang="en-US" b="1" dirty="0" err="1"/>
              <a:t>sont</a:t>
            </a:r>
            <a:r>
              <a:rPr lang="en-US" b="1" dirty="0"/>
              <a:t> le plus </a:t>
            </a:r>
            <a:r>
              <a:rPr lang="en-US" b="1" dirty="0" err="1"/>
              <a:t>souvent</a:t>
            </a:r>
            <a:r>
              <a:rPr lang="en-US" b="1" dirty="0"/>
              <a:t> </a:t>
            </a: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</a:t>
            </a:r>
            <a:r>
              <a:rPr lang="en-US" b="1" dirty="0" err="1"/>
              <a:t>associées</a:t>
            </a:r>
            <a:r>
              <a:rPr lang="en-US" b="1" dirty="0"/>
              <a:t> (</a:t>
            </a:r>
            <a:r>
              <a:rPr lang="en-US" b="1" dirty="0" err="1"/>
              <a:t>tumeurs</a:t>
            </a:r>
            <a:r>
              <a:rPr lang="en-US" b="1" dirty="0"/>
              <a:t> </a:t>
            </a: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</a:t>
            </a:r>
            <a:r>
              <a:rPr lang="en-US" b="1" dirty="0" err="1"/>
              <a:t>ulcéro-végétantes</a:t>
            </a:r>
            <a:r>
              <a:rPr lang="en-US" b="1" dirty="0"/>
              <a:t>, </a:t>
            </a: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</a:t>
            </a:r>
            <a:r>
              <a:rPr lang="en-US" b="1" dirty="0" err="1"/>
              <a:t>ulcéro</a:t>
            </a:r>
            <a:r>
              <a:rPr lang="en-US" b="1" dirty="0"/>
              <a:t>-infiltrantes).</a:t>
            </a: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</a:t>
            </a:r>
          </a:p>
          <a:p>
            <a:endParaRPr lang="fr-FR" dirty="0"/>
          </a:p>
        </p:txBody>
      </p:sp>
      <p:pic>
        <p:nvPicPr>
          <p:cNvPr id="5" name="Picture 2" descr="C:\Users\HOMETECH\Pictures\260px-Basal_cell_carcinoma2.JPG"/>
          <p:cNvPicPr>
            <a:picLocks noChangeAspect="1" noChangeArrowheads="1"/>
          </p:cNvPicPr>
          <p:nvPr/>
        </p:nvPicPr>
        <p:blipFill>
          <a:blip r:embed="rId2"/>
          <a:srcRect l="16226" t="28368"/>
          <a:stretch>
            <a:fillRect/>
          </a:stretch>
        </p:blipFill>
        <p:spPr bwMode="auto">
          <a:xfrm>
            <a:off x="5214942" y="2000240"/>
            <a:ext cx="3370110" cy="384588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571480"/>
            <a:ext cx="4214842" cy="5786478"/>
          </a:xfrm>
        </p:spPr>
        <p:txBody>
          <a:bodyPr/>
          <a:lstStyle/>
          <a:p>
            <a:pPr>
              <a:buNone/>
            </a:pPr>
            <a:r>
              <a:rPr lang="en-US" b="1" i="1" dirty="0"/>
              <a:t>   ►</a:t>
            </a:r>
            <a:r>
              <a:rPr lang="en-US" b="1" dirty="0"/>
              <a:t> </a:t>
            </a:r>
            <a:r>
              <a:rPr lang="en-US" b="1" i="1" u="sng" dirty="0"/>
              <a:t>les </a:t>
            </a:r>
            <a:r>
              <a:rPr lang="en-US" b="1" i="1" u="sng" dirty="0" err="1"/>
              <a:t>tumeurs</a:t>
            </a:r>
            <a:r>
              <a:rPr lang="en-US" b="1" i="1" u="sng" dirty="0"/>
              <a:t> infiltrantes</a:t>
            </a:r>
            <a:r>
              <a:rPr lang="en-US" b="1" u="sng" dirty="0"/>
              <a:t> </a:t>
            </a:r>
            <a:r>
              <a:rPr lang="en-US" b="1" dirty="0"/>
              <a:t>: la </a:t>
            </a:r>
            <a:r>
              <a:rPr lang="en-US" b="1" dirty="0" err="1"/>
              <a:t>tumeur</a:t>
            </a:r>
            <a:r>
              <a:rPr lang="en-US" b="1" dirty="0"/>
              <a:t> </a:t>
            </a:r>
            <a:r>
              <a:rPr lang="en-US" b="1" dirty="0" err="1"/>
              <a:t>envahit</a:t>
            </a:r>
            <a:r>
              <a:rPr lang="en-US" b="1" dirty="0"/>
              <a:t> </a:t>
            </a:r>
            <a:r>
              <a:rPr lang="en-US" b="1" dirty="0" err="1"/>
              <a:t>l’organe</a:t>
            </a:r>
            <a:r>
              <a:rPr lang="en-US" b="1" dirty="0"/>
              <a:t> à </a:t>
            </a:r>
            <a:r>
              <a:rPr lang="en-US" b="1" dirty="0" err="1"/>
              <a:t>partir</a:t>
            </a:r>
            <a:r>
              <a:rPr lang="en-US" b="1" dirty="0"/>
              <a:t> </a:t>
            </a:r>
            <a:r>
              <a:rPr lang="en-US" b="1" dirty="0" err="1"/>
              <a:t>duquel</a:t>
            </a:r>
            <a:r>
              <a:rPr lang="en-US" b="1" dirty="0"/>
              <a:t> </a:t>
            </a:r>
            <a:r>
              <a:rPr lang="en-US" b="1" dirty="0" err="1"/>
              <a:t>elle</a:t>
            </a:r>
            <a:r>
              <a:rPr lang="en-US" b="1" dirty="0"/>
              <a:t> se </a:t>
            </a:r>
            <a:r>
              <a:rPr lang="en-US" b="1" dirty="0" err="1"/>
              <a:t>développe</a:t>
            </a:r>
            <a:r>
              <a:rPr lang="en-US" b="1" dirty="0"/>
              <a:t>, </a:t>
            </a:r>
            <a:r>
              <a:rPr lang="en-US" b="1" dirty="0" err="1"/>
              <a:t>entraînant</a:t>
            </a:r>
            <a:r>
              <a:rPr lang="en-US" b="1" dirty="0"/>
              <a:t> </a:t>
            </a:r>
            <a:r>
              <a:rPr lang="en-US" b="1" dirty="0" err="1"/>
              <a:t>épaississement</a:t>
            </a:r>
            <a:r>
              <a:rPr lang="en-US" b="1" dirty="0"/>
              <a:t>, </a:t>
            </a:r>
            <a:r>
              <a:rPr lang="en-US" b="1" dirty="0" err="1"/>
              <a:t>rigidité</a:t>
            </a:r>
            <a:r>
              <a:rPr lang="en-US" b="1" dirty="0"/>
              <a:t> et </a:t>
            </a:r>
            <a:r>
              <a:rPr lang="en-US" b="1" dirty="0" err="1"/>
              <a:t>sténose</a:t>
            </a:r>
            <a:r>
              <a:rPr lang="en-US" b="1" dirty="0"/>
              <a:t>.</a:t>
            </a:r>
            <a:endParaRPr lang="fr-FR" dirty="0"/>
          </a:p>
        </p:txBody>
      </p:sp>
      <p:sp>
        <p:nvSpPr>
          <p:cNvPr id="41986" name="AutoShape 2" descr="Résultat de recherche d'images pour &quot;image d'une tumeur infiltrant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fr-FR"/>
          </a:p>
        </p:txBody>
      </p:sp>
      <p:pic>
        <p:nvPicPr>
          <p:cNvPr id="41987" name="Picture 3" descr="C:\Users\HOMETECH\Pictures\stades_tumeurs_de_vessi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7686" y="642918"/>
            <a:ext cx="4119567" cy="492922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3403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b="1" i="1" dirty="0">
                <a:solidFill>
                  <a:srgbClr val="66FF33"/>
                </a:solidFill>
              </a:rPr>
              <a:t>  </a:t>
            </a:r>
            <a:r>
              <a:rPr lang="en-US" b="1" i="1" dirty="0">
                <a:solidFill>
                  <a:srgbClr val="C00000"/>
                </a:solidFill>
              </a:rPr>
              <a:t>► Aspects </a:t>
            </a:r>
            <a:r>
              <a:rPr lang="en-US" b="1" i="1" dirty="0" err="1">
                <a:solidFill>
                  <a:srgbClr val="C00000"/>
                </a:solidFill>
              </a:rPr>
              <a:t>histologiques</a:t>
            </a:r>
            <a:r>
              <a:rPr lang="en-US" b="1" i="1" dirty="0">
                <a:solidFill>
                  <a:srgbClr val="C00000"/>
                </a:solidFill>
              </a:rPr>
              <a:t>:</a:t>
            </a:r>
            <a:r>
              <a:rPr lang="en-US" sz="4800" b="1" dirty="0"/>
              <a:t/>
            </a:r>
            <a:br>
              <a:rPr lang="en-US" sz="4800" b="1" dirty="0"/>
            </a:br>
            <a:r>
              <a:rPr lang="en-US" b="1" dirty="0"/>
              <a:t>Les </a:t>
            </a:r>
            <a:r>
              <a:rPr lang="en-US" b="1" dirty="0" err="1"/>
              <a:t>carcinomes</a:t>
            </a:r>
            <a:r>
              <a:rPr lang="en-US" b="1" dirty="0"/>
              <a:t> </a:t>
            </a:r>
            <a:r>
              <a:rPr lang="en-US" b="1" dirty="0" err="1"/>
              <a:t>épidermoïdes</a:t>
            </a:r>
            <a:r>
              <a:rPr lang="en-US" b="1" dirty="0"/>
              <a:t> </a:t>
            </a:r>
            <a:r>
              <a:rPr lang="en-US" b="1" dirty="0" err="1"/>
              <a:t>sont</a:t>
            </a:r>
            <a:r>
              <a:rPr lang="en-US" b="1" dirty="0"/>
              <a:t> des </a:t>
            </a:r>
            <a:r>
              <a:rPr lang="en-US" b="1" dirty="0" err="1"/>
              <a:t>tumeurs</a:t>
            </a:r>
            <a:r>
              <a:rPr lang="en-US" b="1" dirty="0"/>
              <a:t> </a:t>
            </a:r>
            <a:r>
              <a:rPr lang="en-US" b="1" dirty="0" err="1"/>
              <a:t>bien</a:t>
            </a:r>
            <a:r>
              <a:rPr lang="en-US" b="1" dirty="0"/>
              <a:t> 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peu</a:t>
            </a:r>
            <a:r>
              <a:rPr lang="en-US" b="1" dirty="0"/>
              <a:t> </a:t>
            </a:r>
            <a:r>
              <a:rPr lang="en-US" b="1" dirty="0" err="1"/>
              <a:t>différenciés</a:t>
            </a:r>
            <a:r>
              <a:rPr lang="en-US" b="1" dirty="0"/>
              <a:t>. </a:t>
            </a:r>
          </a:p>
          <a:p>
            <a:pPr>
              <a:lnSpc>
                <a:spcPct val="90000"/>
              </a:lnSpc>
              <a:buNone/>
            </a:pPr>
            <a:endParaRPr lang="en-US" b="1" dirty="0"/>
          </a:p>
          <a:p>
            <a:pPr>
              <a:lnSpc>
                <a:spcPct val="90000"/>
              </a:lnSpc>
              <a:buNone/>
            </a:pPr>
            <a:r>
              <a:rPr lang="en-US" b="1" dirty="0"/>
              <a:t> ● La </a:t>
            </a:r>
            <a:r>
              <a:rPr lang="en-US" b="1" dirty="0" err="1"/>
              <a:t>différenciation</a:t>
            </a:r>
            <a:r>
              <a:rPr lang="en-US" b="1" dirty="0"/>
              <a:t> </a:t>
            </a:r>
            <a:r>
              <a:rPr lang="en-US" b="1" dirty="0" err="1"/>
              <a:t>malpighienne</a:t>
            </a:r>
            <a:r>
              <a:rPr lang="en-US" b="1" dirty="0"/>
              <a:t> se </a:t>
            </a:r>
            <a:r>
              <a:rPr lang="en-US" b="1" dirty="0" err="1"/>
              <a:t>manifeste</a:t>
            </a:r>
            <a:r>
              <a:rPr lang="en-US" b="1" dirty="0"/>
              <a:t> par la </a:t>
            </a:r>
            <a:r>
              <a:rPr lang="en-US" b="1" dirty="0" err="1"/>
              <a:t>présence</a:t>
            </a:r>
            <a:r>
              <a:rPr lang="en-US" b="1" dirty="0"/>
              <a:t> de </a:t>
            </a:r>
            <a:r>
              <a:rPr lang="en-US" b="1" i="1" dirty="0" err="1"/>
              <a:t>grandes</a:t>
            </a:r>
            <a:r>
              <a:rPr lang="en-US" b="1" i="1" dirty="0"/>
              <a:t> cellules</a:t>
            </a:r>
            <a:r>
              <a:rPr lang="en-US" b="1" dirty="0"/>
              <a:t> </a:t>
            </a:r>
            <a:r>
              <a:rPr lang="en-US" b="1" i="1" dirty="0" err="1"/>
              <a:t>quadrangulaires</a:t>
            </a:r>
            <a:r>
              <a:rPr lang="en-US" b="1" dirty="0"/>
              <a:t> à </a:t>
            </a:r>
            <a:r>
              <a:rPr lang="en-US" b="1" dirty="0" err="1"/>
              <a:t>limites</a:t>
            </a:r>
            <a:r>
              <a:rPr lang="en-US" b="1" dirty="0"/>
              <a:t> </a:t>
            </a:r>
            <a:r>
              <a:rPr lang="en-US" b="1" dirty="0" err="1"/>
              <a:t>nettes</a:t>
            </a:r>
            <a:r>
              <a:rPr lang="en-US" b="1" dirty="0"/>
              <a:t> </a:t>
            </a:r>
            <a:r>
              <a:rPr lang="en-US" b="1" dirty="0" err="1"/>
              <a:t>étroitement</a:t>
            </a:r>
            <a:r>
              <a:rPr lang="en-US" b="1" dirty="0"/>
              <a:t> </a:t>
            </a:r>
            <a:r>
              <a:rPr lang="en-US" b="1" dirty="0" err="1"/>
              <a:t>unies</a:t>
            </a:r>
            <a:r>
              <a:rPr lang="en-US" b="1" dirty="0"/>
              <a:t> par </a:t>
            </a:r>
            <a:r>
              <a:rPr lang="en-US" b="1" i="1" dirty="0"/>
              <a:t>des </a:t>
            </a:r>
            <a:r>
              <a:rPr lang="en-US" b="1" i="1" dirty="0" err="1"/>
              <a:t>ponts</a:t>
            </a:r>
            <a:r>
              <a:rPr lang="en-US" b="1" dirty="0"/>
              <a:t> </a:t>
            </a:r>
            <a:r>
              <a:rPr lang="en-US" b="1" i="1" dirty="0" err="1"/>
              <a:t>d’union</a:t>
            </a:r>
            <a:r>
              <a:rPr lang="en-US" b="1" dirty="0"/>
              <a:t>. </a:t>
            </a:r>
          </a:p>
          <a:p>
            <a:pPr>
              <a:lnSpc>
                <a:spcPct val="90000"/>
              </a:lnSpc>
              <a:buNone/>
            </a:pPr>
            <a:endParaRPr lang="en-US" b="1" dirty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214422"/>
            <a:ext cx="8229600" cy="4525963"/>
          </a:xfrm>
        </p:spPr>
        <p:txBody>
          <a:bodyPr/>
          <a:lstStyle/>
          <a:p>
            <a:r>
              <a:rPr lang="en-US" b="1" dirty="0"/>
              <a:t>● La </a:t>
            </a:r>
            <a:r>
              <a:rPr lang="en-US" b="1" i="1" dirty="0"/>
              <a:t>maturation</a:t>
            </a:r>
            <a:r>
              <a:rPr lang="en-US" b="1" dirty="0"/>
              <a:t> </a:t>
            </a:r>
            <a:r>
              <a:rPr lang="en-US" b="1" dirty="0" err="1"/>
              <a:t>désigne</a:t>
            </a:r>
            <a:r>
              <a:rPr lang="en-US" b="1" dirty="0"/>
              <a:t> </a:t>
            </a:r>
            <a:r>
              <a:rPr lang="en-US" b="1" dirty="0" err="1"/>
              <a:t>l’élaboration</a:t>
            </a:r>
            <a:r>
              <a:rPr lang="en-US" b="1" dirty="0"/>
              <a:t> par les cellules </a:t>
            </a:r>
            <a:r>
              <a:rPr lang="en-US" b="1" dirty="0" err="1"/>
              <a:t>tumorales</a:t>
            </a:r>
            <a:r>
              <a:rPr lang="en-US" b="1" dirty="0"/>
              <a:t> de </a:t>
            </a:r>
            <a:r>
              <a:rPr lang="en-US" b="1" i="1" dirty="0" err="1"/>
              <a:t>kératine</a:t>
            </a:r>
            <a:r>
              <a:rPr lang="en-US" b="1" dirty="0"/>
              <a:t>, </a:t>
            </a:r>
            <a:r>
              <a:rPr lang="en-US" b="1" dirty="0" err="1"/>
              <a:t>soit</a:t>
            </a:r>
            <a:r>
              <a:rPr lang="en-US" b="1" dirty="0"/>
              <a:t> </a:t>
            </a:r>
            <a:r>
              <a:rPr lang="en-US" b="1" dirty="0" err="1"/>
              <a:t>d’apparence</a:t>
            </a:r>
            <a:r>
              <a:rPr lang="en-US" b="1" dirty="0"/>
              <a:t> </a:t>
            </a:r>
            <a:r>
              <a:rPr lang="en-US" b="1" dirty="0" err="1"/>
              <a:t>normale</a:t>
            </a:r>
            <a:r>
              <a:rPr lang="en-US" b="1" dirty="0"/>
              <a:t> avec </a:t>
            </a:r>
            <a:r>
              <a:rPr lang="en-US" b="1" dirty="0" err="1"/>
              <a:t>disparition</a:t>
            </a:r>
            <a:r>
              <a:rPr lang="en-US" b="1" dirty="0"/>
              <a:t> des </a:t>
            </a:r>
            <a:r>
              <a:rPr lang="en-US" b="1" dirty="0" err="1"/>
              <a:t>noyaux</a:t>
            </a:r>
            <a:r>
              <a:rPr lang="en-US" b="1" dirty="0"/>
              <a:t> (</a:t>
            </a:r>
            <a:r>
              <a:rPr lang="en-US" b="1" dirty="0" err="1"/>
              <a:t>orthokératose</a:t>
            </a:r>
            <a:r>
              <a:rPr lang="en-US" b="1" dirty="0"/>
              <a:t>), </a:t>
            </a:r>
            <a:r>
              <a:rPr lang="en-US" b="1" dirty="0" err="1"/>
              <a:t>soit</a:t>
            </a:r>
            <a:r>
              <a:rPr lang="en-US" b="1" dirty="0"/>
              <a:t> </a:t>
            </a:r>
            <a:r>
              <a:rPr lang="en-US" b="1" dirty="0" err="1"/>
              <a:t>d’aspect</a:t>
            </a:r>
            <a:r>
              <a:rPr lang="en-US" b="1" dirty="0"/>
              <a:t> </a:t>
            </a:r>
            <a:r>
              <a:rPr lang="en-US" b="1" dirty="0" err="1"/>
              <a:t>anormal</a:t>
            </a:r>
            <a:r>
              <a:rPr lang="en-US" b="1" dirty="0"/>
              <a:t> avec persistence de </a:t>
            </a:r>
            <a:r>
              <a:rPr lang="en-US" b="1" dirty="0" err="1"/>
              <a:t>noyaux</a:t>
            </a:r>
            <a:r>
              <a:rPr lang="en-US" b="1" dirty="0"/>
              <a:t> (</a:t>
            </a:r>
            <a:r>
              <a:rPr lang="en-US" b="1" dirty="0" err="1"/>
              <a:t>parakératose</a:t>
            </a:r>
            <a:r>
              <a:rPr lang="en-US" b="1" dirty="0"/>
              <a:t>) 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dans</a:t>
            </a:r>
            <a:r>
              <a:rPr lang="en-US" b="1" dirty="0"/>
              <a:t> des cellules </a:t>
            </a:r>
            <a:r>
              <a:rPr lang="en-US" b="1" dirty="0" err="1"/>
              <a:t>individuelles</a:t>
            </a:r>
            <a:r>
              <a:rPr lang="en-US" b="1" dirty="0"/>
              <a:t>( </a:t>
            </a:r>
            <a:r>
              <a:rPr lang="en-US" b="1" dirty="0" err="1"/>
              <a:t>dyskératose</a:t>
            </a:r>
            <a:r>
              <a:rPr lang="en-US" b="1" dirty="0"/>
              <a:t>)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00034" y="642918"/>
            <a:ext cx="8080534" cy="5572164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357166"/>
            <a:ext cx="8229600" cy="576899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i="1" dirty="0">
                <a:solidFill>
                  <a:srgbClr val="C00000"/>
                </a:solidFill>
              </a:rPr>
              <a:t>► </a:t>
            </a:r>
            <a:r>
              <a:rPr lang="en-US" b="1" i="1" u="sng" dirty="0" err="1">
                <a:solidFill>
                  <a:srgbClr val="C00000"/>
                </a:solidFill>
              </a:rPr>
              <a:t>Cas</a:t>
            </a:r>
            <a:r>
              <a:rPr lang="en-US" b="1" i="1" u="sng" dirty="0">
                <a:solidFill>
                  <a:srgbClr val="C00000"/>
                </a:solidFill>
              </a:rPr>
              <a:t> </a:t>
            </a:r>
            <a:r>
              <a:rPr lang="en-US" b="1" i="1" u="sng" dirty="0" err="1">
                <a:solidFill>
                  <a:srgbClr val="C00000"/>
                </a:solidFill>
              </a:rPr>
              <a:t>particulier</a:t>
            </a:r>
            <a:r>
              <a:rPr lang="en-US" b="1" i="1" u="sng" dirty="0">
                <a:solidFill>
                  <a:srgbClr val="C00000"/>
                </a:solidFill>
              </a:rPr>
              <a:t> des cancers </a:t>
            </a:r>
            <a:r>
              <a:rPr lang="en-US" b="1" i="1" u="sng" dirty="0" err="1">
                <a:solidFill>
                  <a:srgbClr val="C00000"/>
                </a:solidFill>
              </a:rPr>
              <a:t>cutanés</a:t>
            </a:r>
            <a:endParaRPr lang="en-US" b="1" i="1" u="sng" dirty="0">
              <a:solidFill>
                <a:srgbClr val="C00000"/>
              </a:solidFill>
            </a:endParaRPr>
          </a:p>
          <a:p>
            <a:pPr>
              <a:buNone/>
            </a:pPr>
            <a:endParaRPr lang="en-US" b="1" i="1" u="sng" dirty="0">
              <a:solidFill>
                <a:srgbClr val="C00000"/>
              </a:solidFill>
            </a:endParaRP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</a:t>
            </a:r>
            <a:r>
              <a:rPr lang="en-US" b="1" dirty="0" err="1"/>
              <a:t>Fréquents</a:t>
            </a:r>
            <a:r>
              <a:rPr lang="en-US" b="1" dirty="0"/>
              <a:t> chez les </a:t>
            </a:r>
            <a:r>
              <a:rPr lang="en-US" b="1" dirty="0" err="1"/>
              <a:t>sujets</a:t>
            </a:r>
            <a:r>
              <a:rPr lang="en-US" b="1" dirty="0"/>
              <a:t> de race blanche, </a:t>
            </a:r>
            <a:r>
              <a:rPr lang="en-US" b="1" dirty="0" err="1"/>
              <a:t>ils</a:t>
            </a:r>
            <a:r>
              <a:rPr lang="en-US" b="1" dirty="0"/>
              <a:t> </a:t>
            </a:r>
            <a:r>
              <a:rPr lang="en-US" b="1" dirty="0" err="1"/>
              <a:t>surviennent</a:t>
            </a:r>
            <a:r>
              <a:rPr lang="en-US" b="1" dirty="0"/>
              <a:t> </a:t>
            </a:r>
            <a:r>
              <a:rPr lang="en-US" b="1" dirty="0" err="1"/>
              <a:t>essentiellement</a:t>
            </a:r>
            <a:r>
              <a:rPr lang="en-US" b="1" dirty="0"/>
              <a:t> </a:t>
            </a:r>
            <a:r>
              <a:rPr lang="en-US" b="1" dirty="0" err="1"/>
              <a:t>sur</a:t>
            </a:r>
            <a:r>
              <a:rPr lang="en-US" b="1" dirty="0"/>
              <a:t> les </a:t>
            </a:r>
            <a:r>
              <a:rPr lang="en-US" b="1" dirty="0" err="1"/>
              <a:t>régions</a:t>
            </a:r>
            <a:r>
              <a:rPr lang="en-US" b="1" dirty="0"/>
              <a:t> </a:t>
            </a:r>
            <a:r>
              <a:rPr lang="en-US" b="1" dirty="0" err="1"/>
              <a:t>découvertes</a:t>
            </a:r>
            <a:r>
              <a:rPr lang="en-US" b="1" dirty="0"/>
              <a:t> </a:t>
            </a:r>
            <a:r>
              <a:rPr lang="en-US" b="1" dirty="0" err="1"/>
              <a:t>exposées</a:t>
            </a:r>
            <a:r>
              <a:rPr lang="en-US" b="1" dirty="0"/>
              <a:t> aux UV (face, </a:t>
            </a:r>
            <a:r>
              <a:rPr lang="en-US" b="1" dirty="0" err="1"/>
              <a:t>tempes</a:t>
            </a:r>
            <a:r>
              <a:rPr lang="en-US" b="1" dirty="0"/>
              <a:t>, </a:t>
            </a:r>
            <a:r>
              <a:rPr lang="en-US" b="1" dirty="0" err="1"/>
              <a:t>oreilles</a:t>
            </a:r>
            <a:r>
              <a:rPr lang="en-US" b="1" dirty="0"/>
              <a:t>, dos des mains).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● </a:t>
            </a:r>
            <a:r>
              <a:rPr lang="en-US" b="1" dirty="0" err="1"/>
              <a:t>Certaines</a:t>
            </a:r>
            <a:r>
              <a:rPr lang="en-US" b="1" dirty="0"/>
              <a:t> professions </a:t>
            </a:r>
            <a:r>
              <a:rPr lang="en-US" b="1" dirty="0" err="1"/>
              <a:t>sont</a:t>
            </a:r>
            <a:r>
              <a:rPr lang="en-US" b="1" dirty="0"/>
              <a:t> </a:t>
            </a:r>
            <a:r>
              <a:rPr lang="en-US" b="1" dirty="0" err="1"/>
              <a:t>ainsi</a:t>
            </a:r>
            <a:r>
              <a:rPr lang="en-US" b="1" dirty="0"/>
              <a:t> </a:t>
            </a:r>
            <a:r>
              <a:rPr lang="en-US" b="1" dirty="0" err="1"/>
              <a:t>particulièrement</a:t>
            </a:r>
            <a:r>
              <a:rPr lang="en-US" b="1" dirty="0"/>
              <a:t> </a:t>
            </a:r>
            <a:r>
              <a:rPr lang="en-US" b="1" dirty="0" err="1"/>
              <a:t>exposées</a:t>
            </a:r>
            <a:r>
              <a:rPr lang="en-US" b="1" dirty="0"/>
              <a:t> (</a:t>
            </a:r>
            <a:r>
              <a:rPr lang="en-US" b="1" dirty="0" err="1"/>
              <a:t>marins</a:t>
            </a:r>
            <a:r>
              <a:rPr lang="en-US" b="1" dirty="0"/>
              <a:t>, </a:t>
            </a:r>
            <a:r>
              <a:rPr lang="en-US" b="1" dirty="0" err="1"/>
              <a:t>agriculteurs</a:t>
            </a:r>
            <a:r>
              <a:rPr lang="en-US" b="1" dirty="0"/>
              <a:t>).</a:t>
            </a: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</a:t>
            </a:r>
          </a:p>
          <a:p>
            <a:pPr>
              <a:buNone/>
            </a:pPr>
            <a:endParaRPr lang="fr-FR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714488"/>
            <a:ext cx="8183880" cy="4187952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n-US" b="1" dirty="0"/>
              <a:t>● Les cancers </a:t>
            </a:r>
            <a:r>
              <a:rPr lang="en-US" b="1" dirty="0" err="1"/>
              <a:t>cutanés</a:t>
            </a:r>
            <a:r>
              <a:rPr lang="en-US" b="1" dirty="0"/>
              <a:t> </a:t>
            </a:r>
            <a:r>
              <a:rPr lang="en-US" b="1" dirty="0" err="1"/>
              <a:t>surviennent</a:t>
            </a:r>
            <a:r>
              <a:rPr lang="en-US" b="1" dirty="0"/>
              <a:t> </a:t>
            </a:r>
            <a:r>
              <a:rPr lang="en-US" b="1" dirty="0" err="1"/>
              <a:t>parfois</a:t>
            </a:r>
            <a:r>
              <a:rPr lang="en-US" b="1" dirty="0"/>
              <a:t> </a:t>
            </a:r>
            <a:r>
              <a:rPr lang="en-US" b="1" dirty="0" err="1"/>
              <a:t>sur</a:t>
            </a:r>
            <a:r>
              <a:rPr lang="en-US" b="1" dirty="0"/>
              <a:t> des </a:t>
            </a:r>
            <a:r>
              <a:rPr lang="en-US" b="1" dirty="0" err="1"/>
              <a:t>lésions</a:t>
            </a:r>
            <a:r>
              <a:rPr lang="en-US" b="1" dirty="0"/>
              <a:t> </a:t>
            </a:r>
            <a:r>
              <a:rPr lang="en-US" b="1" dirty="0" err="1"/>
              <a:t>préexistantes</a:t>
            </a:r>
            <a:r>
              <a:rPr lang="en-US" b="1" dirty="0"/>
              <a:t> (</a:t>
            </a:r>
            <a:r>
              <a:rPr lang="en-US" b="1" dirty="0" err="1"/>
              <a:t>radiodermites</a:t>
            </a:r>
            <a:r>
              <a:rPr lang="en-US" b="1" dirty="0"/>
              <a:t>, </a:t>
            </a:r>
            <a:r>
              <a:rPr lang="en-US" b="1" dirty="0" err="1"/>
              <a:t>lésions</a:t>
            </a:r>
            <a:r>
              <a:rPr lang="en-US" b="1" dirty="0"/>
              <a:t> </a:t>
            </a:r>
            <a:r>
              <a:rPr lang="en-US" b="1" dirty="0" err="1"/>
              <a:t>inflammatoires</a:t>
            </a:r>
            <a:r>
              <a:rPr lang="en-US" b="1" dirty="0"/>
              <a:t> </a:t>
            </a:r>
            <a:r>
              <a:rPr lang="en-US" b="1" dirty="0" err="1"/>
              <a:t>chroniques</a:t>
            </a:r>
            <a:r>
              <a:rPr lang="en-US" b="1" dirty="0"/>
              <a:t>, </a:t>
            </a:r>
            <a:r>
              <a:rPr lang="en-US" b="1" dirty="0" err="1"/>
              <a:t>xeroderma</a:t>
            </a:r>
            <a:r>
              <a:rPr lang="en-US" b="1" dirty="0"/>
              <a:t> </a:t>
            </a:r>
            <a:r>
              <a:rPr lang="en-US" b="1" dirty="0" err="1"/>
              <a:t>pigmentosum</a:t>
            </a:r>
            <a:r>
              <a:rPr lang="en-US" b="1" dirty="0"/>
              <a:t>…). 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● </a:t>
            </a:r>
            <a:r>
              <a:rPr lang="en-US" b="1" dirty="0" err="1"/>
              <a:t>Leur</a:t>
            </a:r>
            <a:r>
              <a:rPr lang="en-US" b="1" dirty="0"/>
              <a:t> </a:t>
            </a:r>
            <a:r>
              <a:rPr lang="en-US" b="1" dirty="0" err="1"/>
              <a:t>siège</a:t>
            </a:r>
            <a:r>
              <a:rPr lang="en-US" b="1" dirty="0"/>
              <a:t> accessible </a:t>
            </a:r>
            <a:r>
              <a:rPr lang="en-US" b="1" dirty="0" err="1"/>
              <a:t>permet</a:t>
            </a:r>
            <a:r>
              <a:rPr lang="en-US" b="1" dirty="0"/>
              <a:t> le plus </a:t>
            </a:r>
            <a:r>
              <a:rPr lang="en-US" b="1" dirty="0" err="1"/>
              <a:t>souvent</a:t>
            </a:r>
            <a:r>
              <a:rPr lang="en-US" b="1" dirty="0"/>
              <a:t> un </a:t>
            </a:r>
            <a:r>
              <a:rPr lang="en-US" b="1" dirty="0" err="1"/>
              <a:t>dépistage</a:t>
            </a:r>
            <a:r>
              <a:rPr lang="en-US" b="1" dirty="0"/>
              <a:t> </a:t>
            </a:r>
            <a:r>
              <a:rPr lang="en-US" b="1" dirty="0" err="1"/>
              <a:t>précoce</a:t>
            </a:r>
            <a:r>
              <a:rPr lang="en-US" b="1" dirty="0"/>
              <a:t>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14488"/>
            <a:ext cx="8229600" cy="4411675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sz="2800" b="1" dirty="0"/>
              <a:t>● </a:t>
            </a:r>
            <a:r>
              <a:rPr lang="en-US" b="1" dirty="0"/>
              <a:t>Les </a:t>
            </a:r>
            <a:r>
              <a:rPr lang="en-US" b="1" dirty="0" err="1"/>
              <a:t>caractères</a:t>
            </a:r>
            <a:r>
              <a:rPr lang="en-US" b="1" dirty="0"/>
              <a:t> </a:t>
            </a:r>
            <a:r>
              <a:rPr lang="en-US" b="1" dirty="0" err="1"/>
              <a:t>cliniques</a:t>
            </a:r>
            <a:r>
              <a:rPr lang="en-US" b="1" dirty="0"/>
              <a:t>, </a:t>
            </a:r>
            <a:r>
              <a:rPr lang="en-US" b="1" dirty="0" err="1"/>
              <a:t>histologiques</a:t>
            </a:r>
            <a:r>
              <a:rPr lang="en-US" b="1" dirty="0"/>
              <a:t> et </a:t>
            </a:r>
            <a:r>
              <a:rPr lang="en-US" b="1" dirty="0" err="1"/>
              <a:t>évolutifs</a:t>
            </a:r>
            <a:r>
              <a:rPr lang="en-US" b="1" dirty="0"/>
              <a:t> </a:t>
            </a:r>
            <a:r>
              <a:rPr lang="en-US" b="1" dirty="0" err="1"/>
              <a:t>permettent</a:t>
            </a:r>
            <a:r>
              <a:rPr lang="en-US" b="1" dirty="0"/>
              <a:t> de </a:t>
            </a:r>
            <a:r>
              <a:rPr lang="en-US" b="1" dirty="0" err="1"/>
              <a:t>distinguer</a:t>
            </a:r>
            <a:r>
              <a:rPr lang="en-US" b="1" dirty="0"/>
              <a:t> </a:t>
            </a:r>
            <a:r>
              <a:rPr lang="en-US" b="1" dirty="0" err="1"/>
              <a:t>deux</a:t>
            </a:r>
            <a:r>
              <a:rPr lang="en-US" b="1" dirty="0"/>
              <a:t> </a:t>
            </a:r>
            <a:r>
              <a:rPr lang="en-US" b="1" dirty="0" err="1"/>
              <a:t>grands</a:t>
            </a:r>
            <a:r>
              <a:rPr lang="en-US" b="1" dirty="0"/>
              <a:t> </a:t>
            </a:r>
            <a:r>
              <a:rPr lang="en-US" b="1" dirty="0" err="1"/>
              <a:t>groupes</a:t>
            </a:r>
            <a:r>
              <a:rPr lang="en-US" b="1" dirty="0"/>
              <a:t> </a:t>
            </a:r>
            <a:r>
              <a:rPr lang="en-US" b="1" dirty="0" err="1"/>
              <a:t>anatomo-cliniques</a:t>
            </a:r>
            <a:r>
              <a:rPr lang="en-US" b="1" dirty="0"/>
              <a:t> : les </a:t>
            </a:r>
            <a:r>
              <a:rPr lang="en-US" b="1" i="1" dirty="0" err="1"/>
              <a:t>carcinomes</a:t>
            </a:r>
            <a:r>
              <a:rPr lang="en-US" b="1" i="1" dirty="0"/>
              <a:t> </a:t>
            </a:r>
            <a:r>
              <a:rPr lang="en-US" b="1" i="1" dirty="0" err="1"/>
              <a:t>spinocellulaires</a:t>
            </a:r>
            <a:r>
              <a:rPr lang="en-US" b="1" dirty="0"/>
              <a:t> et les </a:t>
            </a:r>
            <a:r>
              <a:rPr lang="en-US" b="1" i="1" dirty="0" err="1"/>
              <a:t>carcinomes</a:t>
            </a:r>
            <a:r>
              <a:rPr lang="en-US" b="1" i="1" dirty="0"/>
              <a:t> </a:t>
            </a:r>
            <a:r>
              <a:rPr lang="en-US" b="1" i="1" dirty="0" err="1"/>
              <a:t>basocellulaires</a:t>
            </a:r>
            <a:endParaRPr lang="en-US" b="1" i="1" dirty="0"/>
          </a:p>
          <a:p>
            <a:pPr>
              <a:lnSpc>
                <a:spcPct val="80000"/>
              </a:lnSpc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357166"/>
            <a:ext cx="5400684" cy="6500834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b="1" i="1" dirty="0"/>
              <a:t>  </a:t>
            </a:r>
            <a:r>
              <a:rPr lang="en-US" b="1" i="1" u="sng" dirty="0" err="1">
                <a:solidFill>
                  <a:srgbClr val="C00000"/>
                </a:solidFill>
              </a:rPr>
              <a:t>Carcinomes</a:t>
            </a:r>
            <a:r>
              <a:rPr lang="en-US" b="1" i="1" u="sng" dirty="0">
                <a:solidFill>
                  <a:srgbClr val="C00000"/>
                </a:solidFill>
              </a:rPr>
              <a:t> </a:t>
            </a:r>
            <a:r>
              <a:rPr lang="en-US" b="1" i="1" u="sng" dirty="0" err="1">
                <a:solidFill>
                  <a:srgbClr val="C00000"/>
                </a:solidFill>
              </a:rPr>
              <a:t>spinocellulaires</a:t>
            </a:r>
            <a:r>
              <a:rPr lang="en-US" b="1" i="1" u="sng" dirty="0">
                <a:solidFill>
                  <a:srgbClr val="C00000"/>
                </a:solidFill>
              </a:rPr>
              <a:t>:</a:t>
            </a:r>
          </a:p>
          <a:p>
            <a:pPr>
              <a:lnSpc>
                <a:spcPct val="80000"/>
              </a:lnSpc>
              <a:buNone/>
            </a:pPr>
            <a:endParaRPr lang="en-US" b="1" i="1" u="sng" dirty="0">
              <a:solidFill>
                <a:srgbClr val="C00000"/>
              </a:solidFill>
            </a:endParaRPr>
          </a:p>
          <a:p>
            <a:pPr>
              <a:lnSpc>
                <a:spcPct val="80000"/>
              </a:lnSpc>
            </a:pPr>
            <a:r>
              <a:rPr lang="en-US" b="1" i="1" dirty="0" err="1"/>
              <a:t>Macroscopiquement</a:t>
            </a:r>
            <a:r>
              <a:rPr lang="en-US" b="1" dirty="0"/>
              <a:t>, la </a:t>
            </a:r>
            <a:r>
              <a:rPr lang="en-US" b="1" dirty="0" err="1"/>
              <a:t>forme</a:t>
            </a:r>
            <a:r>
              <a:rPr lang="en-US" b="1" dirty="0"/>
              <a:t> la plus </a:t>
            </a:r>
            <a:r>
              <a:rPr lang="en-US" b="1" dirty="0" err="1"/>
              <a:t>habituelle</a:t>
            </a:r>
            <a:r>
              <a:rPr lang="en-US" b="1" dirty="0"/>
              <a:t> </a:t>
            </a:r>
            <a:r>
              <a:rPr lang="en-US" b="1" dirty="0" err="1"/>
              <a:t>est</a:t>
            </a:r>
            <a:r>
              <a:rPr lang="en-US" b="1" dirty="0"/>
              <a:t> la </a:t>
            </a:r>
            <a:r>
              <a:rPr lang="en-US" b="1" dirty="0" err="1"/>
              <a:t>forme</a:t>
            </a:r>
            <a:r>
              <a:rPr lang="en-US" b="1" dirty="0"/>
              <a:t> </a:t>
            </a:r>
            <a:r>
              <a:rPr lang="en-US" b="1" dirty="0" err="1"/>
              <a:t>ulcéro-végétante</a:t>
            </a:r>
            <a:r>
              <a:rPr lang="en-US" b="1" dirty="0"/>
              <a:t>.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</a:pPr>
            <a:r>
              <a:rPr lang="en-US" b="1" i="1" dirty="0" err="1"/>
              <a:t>Histologiquemen</a:t>
            </a:r>
            <a:r>
              <a:rPr lang="en-US" b="1" dirty="0" err="1"/>
              <a:t>t</a:t>
            </a:r>
            <a:r>
              <a:rPr lang="en-US" b="1" dirty="0"/>
              <a:t>,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s’agit</a:t>
            </a:r>
            <a:r>
              <a:rPr lang="en-US" b="1" dirty="0"/>
              <a:t> d’un </a:t>
            </a:r>
            <a:r>
              <a:rPr lang="en-US" b="1" dirty="0" err="1"/>
              <a:t>carcinome</a:t>
            </a:r>
            <a:r>
              <a:rPr lang="en-US" b="1" dirty="0"/>
              <a:t> </a:t>
            </a:r>
            <a:r>
              <a:rPr lang="en-US" b="1" dirty="0" err="1"/>
              <a:t>épidermoïde</a:t>
            </a:r>
            <a:r>
              <a:rPr lang="en-US" b="1" dirty="0"/>
              <a:t> </a:t>
            </a:r>
            <a:r>
              <a:rPr lang="en-US" b="1" dirty="0" err="1"/>
              <a:t>bien</a:t>
            </a:r>
            <a:r>
              <a:rPr lang="en-US" b="1" dirty="0"/>
              <a:t> </a:t>
            </a:r>
            <a:r>
              <a:rPr lang="en-US" b="1" dirty="0" err="1"/>
              <a:t>différencié</a:t>
            </a:r>
            <a:r>
              <a:rPr lang="en-US" b="1" dirty="0"/>
              <a:t>, </a:t>
            </a:r>
            <a:r>
              <a:rPr lang="en-US" b="1" dirty="0" err="1"/>
              <a:t>souvent</a:t>
            </a:r>
            <a:r>
              <a:rPr lang="en-US" b="1" dirty="0"/>
              <a:t> mature.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Picture 2" descr="C:\Users\HOMETECH\Pictures\RMS_idPAS_D_ISBN_pu2012-13s_sa05_art05_img001.jpg_i77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6446" y="1071546"/>
            <a:ext cx="3054096" cy="478634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/>
              <a:t>Evolution</a:t>
            </a:r>
            <a:r>
              <a:rPr lang="en-US" b="1" dirty="0"/>
              <a:t> : les </a:t>
            </a:r>
            <a:r>
              <a:rPr lang="en-US" b="1" dirty="0" err="1"/>
              <a:t>carcinomes</a:t>
            </a:r>
            <a:r>
              <a:rPr lang="en-US" b="1" dirty="0"/>
              <a:t> </a:t>
            </a:r>
            <a:r>
              <a:rPr lang="en-US" b="1" dirty="0" err="1"/>
              <a:t>spinocellulaires</a:t>
            </a:r>
            <a:r>
              <a:rPr lang="en-US" b="1" dirty="0"/>
              <a:t> </a:t>
            </a:r>
            <a:r>
              <a:rPr lang="en-US" b="1" dirty="0" err="1"/>
              <a:t>ont</a:t>
            </a:r>
            <a:r>
              <a:rPr lang="en-US" b="1" dirty="0"/>
              <a:t> </a:t>
            </a:r>
            <a:r>
              <a:rPr lang="en-US" b="1" dirty="0" err="1"/>
              <a:t>tendance</a:t>
            </a:r>
            <a:r>
              <a:rPr lang="en-US" b="1" dirty="0"/>
              <a:t> à </a:t>
            </a:r>
            <a:r>
              <a:rPr lang="en-US" b="1" dirty="0" err="1"/>
              <a:t>l’extension</a:t>
            </a:r>
            <a:r>
              <a:rPr lang="en-US" b="1" dirty="0"/>
              <a:t> locale et à </a:t>
            </a:r>
            <a:r>
              <a:rPr lang="en-US" b="1" dirty="0" err="1"/>
              <a:t>l’envahissement</a:t>
            </a:r>
            <a:r>
              <a:rPr lang="en-US" b="1" dirty="0"/>
              <a:t> </a:t>
            </a:r>
            <a:r>
              <a:rPr lang="en-US" b="1" dirty="0" err="1"/>
              <a:t>lymphatique</a:t>
            </a:r>
            <a:r>
              <a:rPr lang="en-US" b="1" dirty="0"/>
              <a:t> avec </a:t>
            </a:r>
            <a:r>
              <a:rPr lang="en-US" b="1" dirty="0" err="1"/>
              <a:t>métastases</a:t>
            </a:r>
            <a:r>
              <a:rPr lang="en-US" b="1" dirty="0"/>
              <a:t> </a:t>
            </a:r>
            <a:r>
              <a:rPr lang="en-US" b="1" dirty="0" err="1"/>
              <a:t>ganglionnaires</a:t>
            </a:r>
            <a:r>
              <a:rPr lang="en-US" b="1" dirty="0"/>
              <a:t>. </a:t>
            </a:r>
          </a:p>
          <a:p>
            <a:endParaRPr lang="en-US" b="1" dirty="0"/>
          </a:p>
          <a:p>
            <a:r>
              <a:rPr lang="en-US" b="1" dirty="0"/>
              <a:t>Les </a:t>
            </a:r>
            <a:r>
              <a:rPr lang="en-US" b="1" dirty="0" err="1"/>
              <a:t>métastases</a:t>
            </a:r>
            <a:r>
              <a:rPr lang="en-US" b="1" dirty="0"/>
              <a:t> </a:t>
            </a:r>
            <a:r>
              <a:rPr lang="en-US" b="1" dirty="0" err="1"/>
              <a:t>viscérales</a:t>
            </a:r>
            <a:r>
              <a:rPr lang="en-US" b="1" dirty="0"/>
              <a:t> </a:t>
            </a:r>
            <a:r>
              <a:rPr lang="en-US" b="1" dirty="0" err="1"/>
              <a:t>sont</a:t>
            </a:r>
            <a:r>
              <a:rPr lang="en-US" b="1" dirty="0"/>
              <a:t> par </a:t>
            </a:r>
            <a:r>
              <a:rPr lang="en-US" b="1" dirty="0" err="1"/>
              <a:t>contre</a:t>
            </a:r>
            <a:r>
              <a:rPr lang="en-US" b="1" dirty="0"/>
              <a:t> </a:t>
            </a:r>
            <a:r>
              <a:rPr lang="en-US" b="1" dirty="0" err="1"/>
              <a:t>exceptionnelles</a:t>
            </a:r>
            <a:r>
              <a:rPr lang="en-US" b="1" dirty="0"/>
              <a:t>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1428736"/>
            <a:ext cx="8229600" cy="439718"/>
          </a:xfrm>
        </p:spPr>
        <p:txBody>
          <a:bodyPr>
            <a:noAutofit/>
          </a:bodyPr>
          <a:lstStyle/>
          <a:p>
            <a:pPr algn="l"/>
            <a:r>
              <a:rPr lang="en-US" sz="3600" b="1" i="1" dirty="0" err="1">
                <a:solidFill>
                  <a:srgbClr val="C00000"/>
                </a:solidFill>
              </a:rPr>
              <a:t>Carcinomes</a:t>
            </a:r>
            <a:r>
              <a:rPr lang="en-US" sz="3600" b="1" i="1" dirty="0">
                <a:solidFill>
                  <a:srgbClr val="C00000"/>
                </a:solidFill>
              </a:rPr>
              <a:t> </a:t>
            </a:r>
            <a:r>
              <a:rPr lang="en-US" sz="3600" b="1" i="1" dirty="0" err="1">
                <a:solidFill>
                  <a:srgbClr val="C00000"/>
                </a:solidFill>
              </a:rPr>
              <a:t>basocellulaires</a:t>
            </a:r>
            <a:r>
              <a:rPr lang="en-US" sz="3600" b="1" i="1" dirty="0">
                <a:solidFill>
                  <a:srgbClr val="C00000"/>
                </a:solidFill>
              </a:rPr>
              <a:t/>
            </a:r>
            <a:br>
              <a:rPr lang="en-US" sz="3600" b="1" i="1" dirty="0">
                <a:solidFill>
                  <a:srgbClr val="C00000"/>
                </a:solidFill>
              </a:rPr>
            </a:br>
            <a:endParaRPr lang="fr-FR" sz="3600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357298"/>
            <a:ext cx="4614866" cy="476886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b="1" i="1" u="sng" dirty="0" err="1">
                <a:solidFill>
                  <a:schemeClr val="accent5">
                    <a:lumMod val="50000"/>
                  </a:schemeClr>
                </a:solidFill>
              </a:rPr>
              <a:t>Macroscopiquement</a:t>
            </a:r>
            <a:r>
              <a:rPr lang="en-US" b="1" i="1" u="sng" dirty="0">
                <a:solidFill>
                  <a:schemeClr val="accent5">
                    <a:lumMod val="50000"/>
                  </a:schemeClr>
                </a:solidFill>
              </a:rPr>
              <a:t>:</a:t>
            </a:r>
            <a:r>
              <a:rPr lang="en-US" b="1" u="sng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b="1" dirty="0"/>
              <a:t>les aspects </a:t>
            </a:r>
            <a:r>
              <a:rPr lang="en-US" b="1" dirty="0" err="1"/>
              <a:t>sont</a:t>
            </a:r>
            <a:r>
              <a:rPr lang="en-US" b="1" dirty="0"/>
              <a:t> </a:t>
            </a:r>
            <a:r>
              <a:rPr lang="en-US" b="1" dirty="0" err="1"/>
              <a:t>variés</a:t>
            </a:r>
            <a:r>
              <a:rPr lang="en-US" b="1" dirty="0"/>
              <a:t> : </a:t>
            </a:r>
            <a:r>
              <a:rPr lang="en-US" b="1" dirty="0" err="1"/>
              <a:t>formes</a:t>
            </a:r>
            <a:r>
              <a:rPr lang="en-US" b="1" dirty="0"/>
              <a:t> </a:t>
            </a:r>
            <a:r>
              <a:rPr lang="en-US" b="1" dirty="0" err="1"/>
              <a:t>ulcérées</a:t>
            </a:r>
            <a:r>
              <a:rPr lang="en-US" b="1" dirty="0"/>
              <a:t> (</a:t>
            </a:r>
            <a:r>
              <a:rPr lang="en-US" b="1" dirty="0" err="1"/>
              <a:t>l’ulcération</a:t>
            </a:r>
            <a:r>
              <a:rPr lang="en-US" b="1" dirty="0"/>
              <a:t> </a:t>
            </a:r>
            <a:r>
              <a:rPr lang="en-US" b="1" dirty="0" err="1"/>
              <a:t>est</a:t>
            </a:r>
            <a:r>
              <a:rPr lang="en-US" b="1" dirty="0"/>
              <a:t> </a:t>
            </a:r>
            <a:r>
              <a:rPr lang="en-US" b="1" dirty="0" err="1"/>
              <a:t>entourée</a:t>
            </a:r>
            <a:r>
              <a:rPr lang="en-US" b="1" dirty="0"/>
              <a:t> de petites </a:t>
            </a:r>
            <a:r>
              <a:rPr lang="en-US" b="1" dirty="0" err="1"/>
              <a:t>élevures</a:t>
            </a:r>
            <a:r>
              <a:rPr lang="en-US" b="1" dirty="0"/>
              <a:t> </a:t>
            </a:r>
            <a:r>
              <a:rPr lang="en-US" b="1" dirty="0" err="1"/>
              <a:t>tumorales</a:t>
            </a:r>
            <a:r>
              <a:rPr lang="en-US" b="1" dirty="0"/>
              <a:t> </a:t>
            </a:r>
            <a:r>
              <a:rPr lang="en-US" b="1" dirty="0" err="1"/>
              <a:t>réalisant</a:t>
            </a:r>
            <a:r>
              <a:rPr lang="en-US" b="1" dirty="0"/>
              <a:t> un aspect « </a:t>
            </a:r>
            <a:r>
              <a:rPr lang="en-US" b="1" dirty="0" err="1"/>
              <a:t>perlé</a:t>
            </a:r>
            <a:r>
              <a:rPr lang="en-US" b="1" dirty="0"/>
              <a:t> »), </a:t>
            </a:r>
            <a:r>
              <a:rPr lang="en-US" b="1" dirty="0" err="1"/>
              <a:t>forme</a:t>
            </a:r>
            <a:r>
              <a:rPr lang="en-US" b="1" dirty="0"/>
              <a:t> </a:t>
            </a:r>
            <a:r>
              <a:rPr lang="en-US" b="1" dirty="0" err="1"/>
              <a:t>cicatricielle</a:t>
            </a:r>
            <a:r>
              <a:rPr lang="en-US" b="1" dirty="0"/>
              <a:t>, </a:t>
            </a:r>
            <a:r>
              <a:rPr lang="en-US" b="1" dirty="0" err="1"/>
              <a:t>forme</a:t>
            </a:r>
            <a:r>
              <a:rPr lang="en-US" b="1" dirty="0"/>
              <a:t> </a:t>
            </a:r>
            <a:r>
              <a:rPr lang="en-US" b="1" dirty="0" err="1"/>
              <a:t>pigmentée</a:t>
            </a:r>
            <a:r>
              <a:rPr lang="en-US" b="1" dirty="0"/>
              <a:t>…</a:t>
            </a:r>
          </a:p>
          <a:p>
            <a:pPr>
              <a:lnSpc>
                <a:spcPct val="90000"/>
              </a:lnSpc>
              <a:buNone/>
            </a:pPr>
            <a:endParaRPr lang="en-US" b="1" dirty="0"/>
          </a:p>
        </p:txBody>
      </p:sp>
      <p:pic>
        <p:nvPicPr>
          <p:cNvPr id="32769" name="Picture 1" descr="C:\Users\HOMETECH\Pictures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1500174"/>
            <a:ext cx="3000396" cy="42862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i="1" u="sng" dirty="0" err="1">
                <a:solidFill>
                  <a:schemeClr val="accent5">
                    <a:lumMod val="50000"/>
                  </a:schemeClr>
                </a:solidFill>
              </a:rPr>
              <a:t>Histopathologie</a:t>
            </a:r>
            <a:r>
              <a:rPr lang="en-US" b="1" i="1" u="sng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b="1" dirty="0"/>
              <a:t>: les cellules </a:t>
            </a:r>
            <a:r>
              <a:rPr lang="en-US" b="1" dirty="0" err="1"/>
              <a:t>tumorales</a:t>
            </a:r>
            <a:r>
              <a:rPr lang="en-US" b="1" dirty="0"/>
              <a:t> qui </a:t>
            </a:r>
            <a:r>
              <a:rPr lang="en-US" b="1" dirty="0" err="1"/>
              <a:t>ressemblent</a:t>
            </a:r>
            <a:r>
              <a:rPr lang="en-US" b="1" dirty="0"/>
              <a:t> </a:t>
            </a:r>
            <a:r>
              <a:rPr lang="en-US" b="1" dirty="0" err="1"/>
              <a:t>toutes</a:t>
            </a:r>
            <a:r>
              <a:rPr lang="en-US" b="1" dirty="0"/>
              <a:t> aux cellules </a:t>
            </a:r>
            <a:r>
              <a:rPr lang="en-US" b="1" dirty="0" err="1"/>
              <a:t>basales</a:t>
            </a:r>
            <a:r>
              <a:rPr lang="en-US" b="1" dirty="0"/>
              <a:t> de </a:t>
            </a:r>
            <a:r>
              <a:rPr lang="en-US" b="1" dirty="0" err="1"/>
              <a:t>l’épiderme</a:t>
            </a:r>
            <a:r>
              <a:rPr lang="en-US" b="1" dirty="0"/>
              <a:t> formant des lobules </a:t>
            </a:r>
            <a:r>
              <a:rPr lang="en-US" b="1" dirty="0" err="1"/>
              <a:t>appendus</a:t>
            </a:r>
            <a:r>
              <a:rPr lang="en-US" b="1" dirty="0"/>
              <a:t> à la face </a:t>
            </a:r>
            <a:r>
              <a:rPr lang="en-US" b="1" dirty="0" err="1"/>
              <a:t>profonde</a:t>
            </a:r>
            <a:r>
              <a:rPr lang="en-US" b="1" dirty="0"/>
              <a:t> de </a:t>
            </a:r>
            <a:r>
              <a:rPr lang="en-US" b="1" dirty="0" err="1"/>
              <a:t>l’épiderme</a:t>
            </a:r>
            <a:r>
              <a:rPr lang="en-US" b="1" dirty="0"/>
              <a:t>. </a:t>
            </a:r>
          </a:p>
          <a:p>
            <a:pPr>
              <a:lnSpc>
                <a:spcPct val="90000"/>
              </a:lnSpc>
            </a:pPr>
            <a:endParaRPr lang="en-US" b="1" dirty="0"/>
          </a:p>
          <a:p>
            <a:pPr>
              <a:lnSpc>
                <a:spcPct val="90000"/>
              </a:lnSpc>
            </a:pPr>
            <a:endParaRPr lang="en-US" b="1" dirty="0"/>
          </a:p>
          <a:p>
            <a:pPr>
              <a:lnSpc>
                <a:spcPct val="90000"/>
              </a:lnSpc>
            </a:pPr>
            <a:r>
              <a:rPr lang="en-US" b="1" dirty="0"/>
              <a:t>En </a:t>
            </a:r>
            <a:r>
              <a:rPr lang="en-US" b="1" dirty="0" err="1"/>
              <a:t>périphérie</a:t>
            </a:r>
            <a:r>
              <a:rPr lang="en-US" b="1" dirty="0"/>
              <a:t>, les cellules </a:t>
            </a:r>
            <a:r>
              <a:rPr lang="en-US" b="1" dirty="0" err="1"/>
              <a:t>adoptent</a:t>
            </a:r>
            <a:r>
              <a:rPr lang="en-US" b="1" dirty="0"/>
              <a:t> </a:t>
            </a:r>
            <a:r>
              <a:rPr lang="en-US" b="1" dirty="0" err="1"/>
              <a:t>une</a:t>
            </a:r>
            <a:r>
              <a:rPr lang="en-US" b="1" dirty="0"/>
              <a:t> disposition </a:t>
            </a:r>
            <a:r>
              <a:rPr lang="en-US" b="1" dirty="0" err="1"/>
              <a:t>palissadique</a:t>
            </a:r>
            <a:r>
              <a:rPr lang="en-US" b="1" dirty="0"/>
              <a:t> </a:t>
            </a:r>
            <a:r>
              <a:rPr lang="en-US" b="1" dirty="0" err="1"/>
              <a:t>caractéristique</a:t>
            </a:r>
            <a:r>
              <a:rPr lang="en-US" b="1" dirty="0"/>
              <a:t>. Il </a:t>
            </a:r>
            <a:r>
              <a:rPr lang="en-US" b="1" dirty="0" err="1"/>
              <a:t>n’y</a:t>
            </a:r>
            <a:r>
              <a:rPr lang="en-US" b="1" dirty="0"/>
              <a:t> a </a:t>
            </a:r>
            <a:r>
              <a:rPr lang="en-US" b="1" dirty="0" err="1"/>
              <a:t>ni</a:t>
            </a:r>
            <a:r>
              <a:rPr lang="en-US" b="1" dirty="0"/>
              <a:t> </a:t>
            </a:r>
            <a:r>
              <a:rPr lang="en-US" b="1" dirty="0" err="1"/>
              <a:t>différenciation</a:t>
            </a:r>
            <a:r>
              <a:rPr lang="en-US" b="1" dirty="0"/>
              <a:t> </a:t>
            </a:r>
            <a:r>
              <a:rPr lang="en-US" b="1" dirty="0" err="1"/>
              <a:t>malpighienne</a:t>
            </a:r>
            <a:r>
              <a:rPr lang="en-US" b="1" dirty="0"/>
              <a:t>, </a:t>
            </a:r>
            <a:r>
              <a:rPr lang="en-US" b="1" dirty="0" err="1"/>
              <a:t>ni</a:t>
            </a:r>
            <a:r>
              <a:rPr lang="en-US" b="1" dirty="0"/>
              <a:t> maturation,</a:t>
            </a:r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1143000"/>
          </a:xfrm>
        </p:spPr>
        <p:txBody>
          <a:bodyPr/>
          <a:lstStyle/>
          <a:p>
            <a:r>
              <a:rPr lang="fr-FR" b="1" u="sng" dirty="0">
                <a:solidFill>
                  <a:schemeClr val="accent2">
                    <a:lumMod val="75000"/>
                  </a:schemeClr>
                </a:solidFill>
              </a:rPr>
              <a:t>Carcinome </a:t>
            </a:r>
            <a:r>
              <a:rPr lang="fr-FR" b="1" u="sng" dirty="0" err="1">
                <a:solidFill>
                  <a:schemeClr val="accent2">
                    <a:lumMod val="75000"/>
                  </a:schemeClr>
                </a:solidFill>
              </a:rPr>
              <a:t>baso</a:t>
            </a:r>
            <a:r>
              <a:rPr lang="fr-FR" b="1" u="sng" dirty="0">
                <a:solidFill>
                  <a:schemeClr val="accent2">
                    <a:lumMod val="75000"/>
                  </a:schemeClr>
                </a:solidFill>
              </a:rPr>
              <a:t> cellulaire</a:t>
            </a:r>
          </a:p>
        </p:txBody>
      </p:sp>
      <p:pic>
        <p:nvPicPr>
          <p:cNvPr id="4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928662" y="1071546"/>
            <a:ext cx="7643834" cy="5440512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1428736"/>
            <a:ext cx="8183880" cy="4187952"/>
          </a:xfrm>
        </p:spPr>
        <p:txBody>
          <a:bodyPr/>
          <a:lstStyle/>
          <a:p>
            <a:r>
              <a:rPr lang="en-US" b="1" i="1" dirty="0">
                <a:solidFill>
                  <a:srgbClr val="C00000"/>
                </a:solidFill>
              </a:rPr>
              <a:t>Evolution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/>
              <a:t>: </a:t>
            </a:r>
            <a:r>
              <a:rPr lang="en-US" b="1" dirty="0" err="1"/>
              <a:t>elle</a:t>
            </a:r>
            <a:r>
              <a:rPr lang="en-US" b="1" dirty="0"/>
              <a:t> </a:t>
            </a:r>
            <a:r>
              <a:rPr lang="en-US" b="1" dirty="0" err="1"/>
              <a:t>est</a:t>
            </a:r>
            <a:r>
              <a:rPr lang="en-US" b="1" dirty="0"/>
              <a:t> </a:t>
            </a:r>
            <a:r>
              <a:rPr lang="en-US" b="1" dirty="0" err="1"/>
              <a:t>toujours</a:t>
            </a:r>
            <a:r>
              <a:rPr lang="en-US" b="1" dirty="0"/>
              <a:t> </a:t>
            </a:r>
            <a:r>
              <a:rPr lang="en-US" b="1" dirty="0" err="1"/>
              <a:t>lente</a:t>
            </a:r>
            <a:r>
              <a:rPr lang="en-US" b="1" dirty="0"/>
              <a:t> et </a:t>
            </a:r>
            <a:r>
              <a:rPr lang="en-US" b="1" dirty="0" err="1"/>
              <a:t>strictement</a:t>
            </a:r>
            <a:r>
              <a:rPr lang="en-US" b="1" dirty="0"/>
              <a:t> locale, sans </a:t>
            </a:r>
            <a:r>
              <a:rPr lang="en-US" b="1" dirty="0" err="1"/>
              <a:t>métastase</a:t>
            </a:r>
            <a:r>
              <a:rPr lang="en-US" b="1" dirty="0"/>
              <a:t>. </a:t>
            </a:r>
            <a:r>
              <a:rPr lang="en-US" b="1" dirty="0" err="1"/>
              <a:t>Toutefois</a:t>
            </a:r>
            <a:r>
              <a:rPr lang="en-US" b="1" dirty="0"/>
              <a:t> </a:t>
            </a:r>
            <a:r>
              <a:rPr lang="en-US" b="1" dirty="0" err="1"/>
              <a:t>une</a:t>
            </a:r>
            <a:r>
              <a:rPr lang="en-US" b="1" dirty="0"/>
              <a:t> </a:t>
            </a:r>
            <a:r>
              <a:rPr lang="en-US" b="1" dirty="0" err="1"/>
              <a:t>forme</a:t>
            </a:r>
            <a:r>
              <a:rPr lang="en-US" b="1" dirty="0"/>
              <a:t> </a:t>
            </a:r>
            <a:r>
              <a:rPr lang="en-US" b="1" dirty="0" err="1"/>
              <a:t>ulcérée</a:t>
            </a:r>
            <a:r>
              <a:rPr lang="en-US" b="1" dirty="0"/>
              <a:t> </a:t>
            </a:r>
            <a:r>
              <a:rPr lang="en-US" b="1" dirty="0" err="1"/>
              <a:t>négligée</a:t>
            </a:r>
            <a:r>
              <a:rPr lang="en-US" b="1" dirty="0"/>
              <a:t> 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incorrectement</a:t>
            </a:r>
            <a:r>
              <a:rPr lang="en-US" b="1" dirty="0"/>
              <a:t> </a:t>
            </a:r>
            <a:r>
              <a:rPr lang="en-US" b="1" dirty="0" err="1"/>
              <a:t>traitée</a:t>
            </a:r>
            <a:r>
              <a:rPr lang="en-US" b="1" dirty="0"/>
              <a:t> </a:t>
            </a:r>
            <a:r>
              <a:rPr lang="en-US" b="1" dirty="0" err="1"/>
              <a:t>peut</a:t>
            </a:r>
            <a:r>
              <a:rPr lang="en-US" b="1" dirty="0"/>
              <a:t> </a:t>
            </a:r>
            <a:r>
              <a:rPr lang="en-US" b="1" dirty="0" err="1"/>
              <a:t>présenter</a:t>
            </a:r>
            <a:r>
              <a:rPr lang="en-US" b="1" dirty="0"/>
              <a:t> </a:t>
            </a:r>
            <a:r>
              <a:rPr lang="en-US" b="1" dirty="0" err="1"/>
              <a:t>une</a:t>
            </a:r>
            <a:r>
              <a:rPr lang="en-US" b="1" dirty="0"/>
              <a:t> </a:t>
            </a:r>
            <a:r>
              <a:rPr lang="en-US" b="1" dirty="0" err="1"/>
              <a:t>évolution</a:t>
            </a:r>
            <a:r>
              <a:rPr lang="en-US" b="1" dirty="0"/>
              <a:t> </a:t>
            </a:r>
            <a:r>
              <a:rPr lang="en-US" b="1" dirty="0" err="1"/>
              <a:t>térébrante</a:t>
            </a:r>
            <a:r>
              <a:rPr lang="en-US" b="1" dirty="0"/>
              <a:t> locale, </a:t>
            </a:r>
            <a:r>
              <a:rPr lang="en-US" b="1" dirty="0" err="1"/>
              <a:t>responsable</a:t>
            </a:r>
            <a:r>
              <a:rPr lang="en-US" b="1" dirty="0"/>
              <a:t> de mutilations </a:t>
            </a:r>
            <a:r>
              <a:rPr lang="en-US" b="1" dirty="0" err="1"/>
              <a:t>importantes</a:t>
            </a:r>
            <a:r>
              <a:rPr lang="en-US" b="1" dirty="0"/>
              <a:t>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85720" y="274638"/>
            <a:ext cx="8858280" cy="1368412"/>
          </a:xfrm>
        </p:spPr>
        <p:txBody>
          <a:bodyPr>
            <a:normAutofit/>
          </a:bodyPr>
          <a:lstStyle/>
          <a:p>
            <a:r>
              <a:rPr lang="en-US" sz="3200" b="1" i="1" dirty="0" err="1">
                <a:solidFill>
                  <a:srgbClr val="C00000"/>
                </a:solidFill>
              </a:rPr>
              <a:t>Carcinome</a:t>
            </a:r>
            <a:r>
              <a:rPr lang="en-US" sz="3200" b="1" i="1" dirty="0">
                <a:solidFill>
                  <a:srgbClr val="C00000"/>
                </a:solidFill>
              </a:rPr>
              <a:t> </a:t>
            </a:r>
            <a:r>
              <a:rPr lang="en-US" sz="3200" b="1" i="1" dirty="0" err="1">
                <a:solidFill>
                  <a:srgbClr val="C00000"/>
                </a:solidFill>
              </a:rPr>
              <a:t>épidermoïde</a:t>
            </a:r>
            <a:r>
              <a:rPr lang="en-US" sz="3200" b="1" i="1" dirty="0">
                <a:solidFill>
                  <a:srgbClr val="C00000"/>
                </a:solidFill>
              </a:rPr>
              <a:t> in situ (</a:t>
            </a:r>
            <a:r>
              <a:rPr lang="en-US" sz="3200" b="1" i="1" dirty="0" err="1">
                <a:solidFill>
                  <a:srgbClr val="C00000"/>
                </a:solidFill>
              </a:rPr>
              <a:t>maladie</a:t>
            </a:r>
            <a:r>
              <a:rPr lang="en-US" sz="3200" b="1" i="1" dirty="0">
                <a:solidFill>
                  <a:srgbClr val="C00000"/>
                </a:solidFill>
              </a:rPr>
              <a:t> de Bowen)</a:t>
            </a:r>
            <a:endParaRPr lang="fr-FR" sz="3200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785926"/>
            <a:ext cx="5786446" cy="4473704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b="1" dirty="0" err="1"/>
              <a:t>Macroscopiquement</a:t>
            </a:r>
            <a:r>
              <a:rPr lang="en-US" b="1" dirty="0"/>
              <a:t>: </a:t>
            </a:r>
          </a:p>
          <a:p>
            <a:pPr>
              <a:lnSpc>
                <a:spcPct val="80000"/>
              </a:lnSpc>
            </a:pPr>
            <a:endParaRPr lang="en-US" b="1" dirty="0"/>
          </a:p>
          <a:p>
            <a:pPr>
              <a:lnSpc>
                <a:spcPct val="80000"/>
              </a:lnSpc>
            </a:pP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s’agit</a:t>
            </a:r>
            <a:r>
              <a:rPr lang="en-US" b="1" dirty="0"/>
              <a:t> de </a:t>
            </a:r>
            <a:r>
              <a:rPr lang="en-US" b="1" dirty="0" err="1"/>
              <a:t>lésions</a:t>
            </a:r>
            <a:r>
              <a:rPr lang="en-US" b="1" dirty="0"/>
              <a:t> </a:t>
            </a:r>
            <a:r>
              <a:rPr lang="en-US" b="1" dirty="0" err="1"/>
              <a:t>bien</a:t>
            </a:r>
            <a:r>
              <a:rPr lang="en-US" b="1" dirty="0"/>
              <a:t> </a:t>
            </a:r>
            <a:r>
              <a:rPr lang="en-US" b="1" dirty="0" err="1"/>
              <a:t>limitées,érythémateuses</a:t>
            </a:r>
            <a:r>
              <a:rPr lang="en-US" b="1" dirty="0"/>
              <a:t>, </a:t>
            </a:r>
            <a:r>
              <a:rPr lang="en-US" b="1" dirty="0" err="1"/>
              <a:t>parfois</a:t>
            </a:r>
            <a:r>
              <a:rPr lang="en-US" b="1" dirty="0"/>
              <a:t> </a:t>
            </a:r>
            <a:r>
              <a:rPr lang="en-US" b="1" dirty="0" err="1"/>
              <a:t>hyperkératosiques</a:t>
            </a:r>
            <a:r>
              <a:rPr lang="en-US" b="1" dirty="0"/>
              <a:t>. </a:t>
            </a:r>
            <a:endParaRPr lang="en-US" b="1"/>
          </a:p>
          <a:p>
            <a:pPr>
              <a:lnSpc>
                <a:spcPct val="80000"/>
              </a:lnSpc>
            </a:pPr>
            <a:r>
              <a:rPr lang="en-US" b="1"/>
              <a:t>Sur </a:t>
            </a:r>
            <a:r>
              <a:rPr lang="en-US" b="1" dirty="0"/>
              <a:t>le </a:t>
            </a:r>
            <a:r>
              <a:rPr lang="en-US" b="1" i="1" dirty="0"/>
              <a:t>versant </a:t>
            </a:r>
            <a:r>
              <a:rPr lang="en-US" b="1" i="1" dirty="0" err="1"/>
              <a:t>muqueux</a:t>
            </a:r>
            <a:r>
              <a:rPr lang="en-US" b="1" dirty="0"/>
              <a:t>, </a:t>
            </a:r>
            <a:r>
              <a:rPr lang="en-US" b="1" dirty="0" err="1"/>
              <a:t>ces</a:t>
            </a:r>
            <a:r>
              <a:rPr lang="en-US" b="1" dirty="0"/>
              <a:t> </a:t>
            </a:r>
            <a:r>
              <a:rPr lang="en-US" b="1" dirty="0" err="1"/>
              <a:t>lésons</a:t>
            </a:r>
            <a:r>
              <a:rPr lang="en-US" b="1" dirty="0"/>
              <a:t> </a:t>
            </a:r>
            <a:r>
              <a:rPr lang="en-US" b="1" dirty="0" err="1"/>
              <a:t>sont</a:t>
            </a:r>
            <a:r>
              <a:rPr lang="en-US" b="1" dirty="0"/>
              <a:t> </a:t>
            </a:r>
            <a:r>
              <a:rPr lang="en-US" b="1" dirty="0" err="1"/>
              <a:t>désignées</a:t>
            </a:r>
            <a:r>
              <a:rPr lang="en-US" b="1" dirty="0"/>
              <a:t> </a:t>
            </a:r>
            <a:r>
              <a:rPr lang="en-US" b="1" dirty="0" err="1"/>
              <a:t>cliniquement</a:t>
            </a:r>
            <a:r>
              <a:rPr lang="en-US" b="1" dirty="0"/>
              <a:t> par le </a:t>
            </a:r>
            <a:r>
              <a:rPr lang="en-US" b="1" dirty="0" err="1"/>
              <a:t>terme</a:t>
            </a:r>
            <a:r>
              <a:rPr lang="en-US" b="1" dirty="0"/>
              <a:t> de </a:t>
            </a:r>
            <a:r>
              <a:rPr lang="en-US" b="1" i="1" dirty="0" err="1"/>
              <a:t>leucoplasie</a:t>
            </a:r>
            <a:r>
              <a:rPr lang="en-US" b="1" dirty="0"/>
              <a:t>.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</p:txBody>
      </p:sp>
      <p:sp>
        <p:nvSpPr>
          <p:cNvPr id="28674" name="AutoShape 2" descr="Résultat de recherche d'images pour &quot;maladie de boxen carcinome in situ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fr-FR"/>
          </a:p>
        </p:txBody>
      </p:sp>
      <p:pic>
        <p:nvPicPr>
          <p:cNvPr id="5" name="Picture 2" descr="C:\Users\HOMETECH\Pictures\bowens-diseas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9322" y="2071678"/>
            <a:ext cx="2857500" cy="37147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626121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b="1" dirty="0"/>
              <a:t>A </a:t>
            </a:r>
            <a:r>
              <a:rPr lang="en-US" b="1" dirty="0" err="1"/>
              <a:t>l’examen</a:t>
            </a:r>
            <a:r>
              <a:rPr lang="en-US" b="1" dirty="0"/>
              <a:t> </a:t>
            </a:r>
            <a:r>
              <a:rPr lang="en-US" b="1" dirty="0" err="1"/>
              <a:t>microscopique</a:t>
            </a:r>
            <a:r>
              <a:rPr lang="en-US" b="1" dirty="0"/>
              <a:t>, on observe des modifications intra-</a:t>
            </a:r>
            <a:r>
              <a:rPr lang="en-US" b="1" dirty="0" err="1"/>
              <a:t>épithéliales</a:t>
            </a:r>
            <a:r>
              <a:rPr lang="en-US" b="1" dirty="0"/>
              <a:t> avec </a:t>
            </a:r>
            <a:r>
              <a:rPr lang="en-US" b="1" dirty="0" err="1"/>
              <a:t>une</a:t>
            </a:r>
            <a:r>
              <a:rPr lang="en-US" b="1" dirty="0"/>
              <a:t> </a:t>
            </a:r>
            <a:r>
              <a:rPr lang="en-US" b="1" dirty="0" err="1"/>
              <a:t>désorganisation</a:t>
            </a:r>
            <a:r>
              <a:rPr lang="en-US" b="1" dirty="0"/>
              <a:t> </a:t>
            </a:r>
            <a:r>
              <a:rPr lang="en-US" b="1" dirty="0" err="1"/>
              <a:t>architecturale</a:t>
            </a:r>
            <a:r>
              <a:rPr lang="en-US" b="1" dirty="0"/>
              <a:t>, des </a:t>
            </a:r>
            <a:r>
              <a:rPr lang="en-US" b="1" dirty="0" err="1"/>
              <a:t>atypies</a:t>
            </a:r>
            <a:r>
              <a:rPr lang="en-US" b="1" dirty="0"/>
              <a:t> </a:t>
            </a:r>
            <a:r>
              <a:rPr lang="en-US" b="1" dirty="0" err="1"/>
              <a:t>cyto-nucléaires</a:t>
            </a:r>
            <a:r>
              <a:rPr lang="en-US" b="1" dirty="0"/>
              <a:t>, </a:t>
            </a:r>
            <a:r>
              <a:rPr lang="en-US" b="1" dirty="0" err="1"/>
              <a:t>une</a:t>
            </a:r>
            <a:r>
              <a:rPr lang="en-US" b="1" dirty="0"/>
              <a:t> </a:t>
            </a:r>
            <a:r>
              <a:rPr lang="en-US" b="1" dirty="0" err="1"/>
              <a:t>hyperplasie</a:t>
            </a:r>
            <a:r>
              <a:rPr lang="en-US" b="1" dirty="0"/>
              <a:t> des cellules </a:t>
            </a:r>
            <a:r>
              <a:rPr lang="en-US" b="1" dirty="0" err="1"/>
              <a:t>basales</a:t>
            </a:r>
            <a:r>
              <a:rPr lang="en-US" b="1" dirty="0"/>
              <a:t> et </a:t>
            </a:r>
            <a:r>
              <a:rPr lang="en-US" b="1" dirty="0" err="1"/>
              <a:t>une</a:t>
            </a:r>
            <a:r>
              <a:rPr lang="en-US" b="1" dirty="0"/>
              <a:t> </a:t>
            </a:r>
            <a:r>
              <a:rPr lang="en-US" b="1" dirty="0" err="1"/>
              <a:t>dyskératose</a:t>
            </a:r>
            <a:r>
              <a:rPr lang="en-US" b="1" dirty="0"/>
              <a:t>.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</a:pPr>
            <a:r>
              <a:rPr lang="en-US" b="1" dirty="0"/>
              <a:t>Evolution : </a:t>
            </a:r>
            <a:r>
              <a:rPr lang="en-US" b="1" dirty="0" err="1"/>
              <a:t>ces</a:t>
            </a:r>
            <a:r>
              <a:rPr lang="en-US" b="1" dirty="0"/>
              <a:t> </a:t>
            </a:r>
            <a:r>
              <a:rPr lang="en-US" b="1" dirty="0" err="1"/>
              <a:t>lésions</a:t>
            </a:r>
            <a:r>
              <a:rPr lang="en-US" b="1" dirty="0"/>
              <a:t> </a:t>
            </a:r>
            <a:r>
              <a:rPr lang="en-US" b="1" dirty="0" err="1"/>
              <a:t>peuvent</a:t>
            </a:r>
            <a:r>
              <a:rPr lang="en-US" b="1" dirty="0"/>
              <a:t> </a:t>
            </a:r>
            <a:r>
              <a:rPr lang="en-US" b="1" dirty="0" err="1"/>
              <a:t>donner</a:t>
            </a:r>
            <a:r>
              <a:rPr lang="en-US" b="1" dirty="0"/>
              <a:t> naissance à des </a:t>
            </a:r>
            <a:r>
              <a:rPr lang="en-US" b="1" dirty="0" err="1"/>
              <a:t>carcinomes</a:t>
            </a:r>
            <a:r>
              <a:rPr lang="en-US" b="1" dirty="0"/>
              <a:t> </a:t>
            </a:r>
            <a:r>
              <a:rPr lang="en-US" b="1" dirty="0" err="1"/>
              <a:t>épidermoïdes</a:t>
            </a:r>
            <a:r>
              <a:rPr lang="en-US" b="1" dirty="0"/>
              <a:t> </a:t>
            </a:r>
            <a:r>
              <a:rPr lang="en-US" b="1" dirty="0" err="1"/>
              <a:t>invasifs</a:t>
            </a:r>
            <a:endParaRPr lang="fr-FR" dirty="0"/>
          </a:p>
          <a:p>
            <a:endParaRPr lang="fr-FR" dirty="0"/>
          </a:p>
        </p:txBody>
      </p:sp>
      <p:pic>
        <p:nvPicPr>
          <p:cNvPr id="4" name="Picture 2" descr="C:\Users\HOMETECH\Pictures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2786058"/>
            <a:ext cx="4857784" cy="200026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71538" y="428604"/>
            <a:ext cx="7469500" cy="1051560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2.2.2. </a:t>
            </a:r>
            <a:r>
              <a:rPr lang="en-US" b="1" i="1" dirty="0" err="1">
                <a:solidFill>
                  <a:srgbClr val="FF0000"/>
                </a:solidFill>
              </a:rPr>
              <a:t>Carcinomes</a:t>
            </a:r>
            <a:r>
              <a:rPr lang="en-US" b="1" i="1" dirty="0">
                <a:solidFill>
                  <a:srgbClr val="FF0000"/>
                </a:solidFill>
              </a:rPr>
              <a:t> </a:t>
            </a:r>
            <a:r>
              <a:rPr lang="en-US" b="1" i="1" dirty="0" err="1">
                <a:solidFill>
                  <a:srgbClr val="FF0000"/>
                </a:solidFill>
              </a:rPr>
              <a:t>paramalpighiens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2143116"/>
            <a:ext cx="8183880" cy="41879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dirty="0"/>
              <a:t>■ </a:t>
            </a:r>
            <a:r>
              <a:rPr lang="en-US" b="1" dirty="0"/>
              <a:t>Les </a:t>
            </a:r>
            <a:r>
              <a:rPr lang="en-US" b="1" dirty="0" err="1"/>
              <a:t>tumeurs</a:t>
            </a:r>
            <a:r>
              <a:rPr lang="en-US" b="1" dirty="0"/>
              <a:t> urothéliales (syn. : </a:t>
            </a:r>
            <a:r>
              <a:rPr lang="en-US" b="1" dirty="0" err="1"/>
              <a:t>paramalpighiennes</a:t>
            </a:r>
            <a:r>
              <a:rPr lang="en-US" b="1" dirty="0"/>
              <a:t>, </a:t>
            </a:r>
            <a:r>
              <a:rPr lang="en-US" b="1" dirty="0" err="1"/>
              <a:t>transitionnelles</a:t>
            </a:r>
            <a:r>
              <a:rPr lang="en-US" b="1" dirty="0"/>
              <a:t>) </a:t>
            </a:r>
            <a:r>
              <a:rPr lang="en-US" b="1" dirty="0" err="1"/>
              <a:t>peuvent</a:t>
            </a:r>
            <a:r>
              <a:rPr lang="en-US" b="1" dirty="0"/>
              <a:t> se </a:t>
            </a:r>
            <a:r>
              <a:rPr lang="en-US" b="1" dirty="0" err="1"/>
              <a:t>développer</a:t>
            </a:r>
            <a:r>
              <a:rPr lang="en-US" b="1" dirty="0"/>
              <a:t> en </a:t>
            </a:r>
            <a:r>
              <a:rPr lang="en-US" b="1" dirty="0" err="1"/>
              <a:t>n’importe</a:t>
            </a:r>
            <a:r>
              <a:rPr lang="en-US" b="1" dirty="0"/>
              <a:t> </a:t>
            </a:r>
            <a:r>
              <a:rPr lang="en-US" b="1" dirty="0" err="1"/>
              <a:t>quel</a:t>
            </a:r>
            <a:r>
              <a:rPr lang="en-US" b="1" dirty="0"/>
              <a:t> point des </a:t>
            </a:r>
            <a:r>
              <a:rPr lang="en-US" b="1" dirty="0" err="1"/>
              <a:t>voies</a:t>
            </a:r>
            <a:r>
              <a:rPr lang="en-US" b="1" dirty="0"/>
              <a:t> </a:t>
            </a:r>
            <a:r>
              <a:rPr lang="en-US" b="1" dirty="0" err="1"/>
              <a:t>excréto-urinaires</a:t>
            </a:r>
            <a:r>
              <a:rPr lang="en-US" b="1" dirty="0"/>
              <a:t>, </a:t>
            </a:r>
            <a:r>
              <a:rPr lang="en-US" b="1" dirty="0" err="1"/>
              <a:t>mais</a:t>
            </a:r>
            <a:r>
              <a:rPr lang="en-US" b="1" dirty="0"/>
              <a:t> </a:t>
            </a:r>
            <a:r>
              <a:rPr lang="en-US" b="1" dirty="0" err="1"/>
              <a:t>sont</a:t>
            </a:r>
            <a:r>
              <a:rPr lang="en-US" b="1" dirty="0"/>
              <a:t> </a:t>
            </a:r>
            <a:r>
              <a:rPr lang="en-US" b="1" dirty="0" err="1"/>
              <a:t>surtout</a:t>
            </a:r>
            <a:r>
              <a:rPr lang="en-US" b="1" dirty="0"/>
              <a:t> </a:t>
            </a:r>
            <a:r>
              <a:rPr lang="en-US" b="1" dirty="0" err="1"/>
              <a:t>fréquentes</a:t>
            </a:r>
            <a:r>
              <a:rPr lang="en-US" b="1" dirty="0"/>
              <a:t> </a:t>
            </a:r>
            <a:r>
              <a:rPr lang="en-US" b="1" dirty="0" err="1"/>
              <a:t>dans</a:t>
            </a:r>
            <a:r>
              <a:rPr lang="en-US" b="1" dirty="0"/>
              <a:t> la </a:t>
            </a:r>
            <a:r>
              <a:rPr lang="en-US" b="1" dirty="0" err="1"/>
              <a:t>vessie</a:t>
            </a:r>
            <a:r>
              <a:rPr lang="en-US" b="1" dirty="0"/>
              <a:t> </a:t>
            </a:r>
            <a:r>
              <a:rPr lang="en-US" b="1" dirty="0" err="1"/>
              <a:t>où</a:t>
            </a:r>
            <a:r>
              <a:rPr lang="en-US" b="1" dirty="0"/>
              <a:t> </a:t>
            </a:r>
            <a:r>
              <a:rPr lang="en-US" b="1" dirty="0" err="1"/>
              <a:t>elles</a:t>
            </a:r>
            <a:r>
              <a:rPr lang="en-US" b="1" dirty="0"/>
              <a:t> </a:t>
            </a:r>
            <a:r>
              <a:rPr lang="en-US" b="1" dirty="0" err="1"/>
              <a:t>représentent</a:t>
            </a:r>
            <a:r>
              <a:rPr lang="en-US" b="1" dirty="0"/>
              <a:t> 90% des </a:t>
            </a:r>
            <a:r>
              <a:rPr lang="en-US" b="1" dirty="0" err="1"/>
              <a:t>tumeurs</a:t>
            </a:r>
            <a:r>
              <a:rPr lang="en-US" b="1" dirty="0"/>
              <a:t>.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714488"/>
            <a:ext cx="8229600" cy="3811583"/>
          </a:xfrm>
        </p:spPr>
        <p:txBody>
          <a:bodyPr/>
          <a:lstStyle/>
          <a:p>
            <a:pPr>
              <a:buNone/>
            </a:pPr>
            <a:r>
              <a:rPr lang="en-US" b="1" dirty="0"/>
              <a:t>   ■ Le </a:t>
            </a:r>
            <a:r>
              <a:rPr lang="en-US" b="1" dirty="0" err="1"/>
              <a:t>facteur</a:t>
            </a:r>
            <a:r>
              <a:rPr lang="en-US" b="1" dirty="0"/>
              <a:t> </a:t>
            </a:r>
            <a:r>
              <a:rPr lang="en-US" b="1" dirty="0" err="1"/>
              <a:t>étiologique</a:t>
            </a:r>
            <a:r>
              <a:rPr lang="en-US" b="1" dirty="0"/>
              <a:t> principal </a:t>
            </a:r>
            <a:r>
              <a:rPr lang="en-US" b="1" dirty="0" err="1"/>
              <a:t>est</a:t>
            </a:r>
            <a:r>
              <a:rPr lang="en-US" b="1" dirty="0"/>
              <a:t> le </a:t>
            </a:r>
            <a:r>
              <a:rPr lang="en-US" b="1" dirty="0" err="1"/>
              <a:t>tabagisme</a:t>
            </a:r>
            <a:r>
              <a:rPr lang="en-US" b="1" dirty="0"/>
              <a:t>. Les </a:t>
            </a:r>
            <a:r>
              <a:rPr lang="en-US" b="1" dirty="0" err="1"/>
              <a:t>carcinomes</a:t>
            </a:r>
            <a:r>
              <a:rPr lang="en-US" b="1" dirty="0"/>
              <a:t> urothéliaux </a:t>
            </a:r>
            <a:r>
              <a:rPr lang="en-US" b="1" dirty="0" err="1"/>
              <a:t>sont</a:t>
            </a:r>
            <a:r>
              <a:rPr lang="en-US" b="1" dirty="0"/>
              <a:t> le plus </a:t>
            </a:r>
            <a:r>
              <a:rPr lang="en-US" b="1" dirty="0" err="1"/>
              <a:t>souvent</a:t>
            </a:r>
            <a:r>
              <a:rPr lang="en-US" b="1" dirty="0"/>
              <a:t> </a:t>
            </a:r>
            <a:r>
              <a:rPr lang="en-US" b="1" dirty="0" err="1"/>
              <a:t>papillaires</a:t>
            </a:r>
            <a:r>
              <a:rPr lang="en-US" b="1" dirty="0"/>
              <a:t>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500042"/>
            <a:ext cx="4329114" cy="59293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■ </a:t>
            </a:r>
            <a:r>
              <a:rPr lang="en-US" b="1" i="1" u="sng" dirty="0" err="1"/>
              <a:t>Macroscopie</a:t>
            </a:r>
            <a:r>
              <a:rPr lang="en-US" b="1" i="1" u="sng" dirty="0"/>
              <a:t>:</a:t>
            </a:r>
            <a:endParaRPr lang="en-US" b="1" u="sng" dirty="0"/>
          </a:p>
          <a:p>
            <a:pPr>
              <a:buNone/>
            </a:pPr>
            <a:r>
              <a:rPr lang="en-US" b="1" dirty="0"/>
              <a:t>    </a:t>
            </a:r>
            <a:r>
              <a:rPr lang="en-US" b="1" dirty="0" err="1"/>
              <a:t>Dans</a:t>
            </a:r>
            <a:r>
              <a:rPr lang="en-US" b="1" dirty="0"/>
              <a:t> 75% des </a:t>
            </a:r>
            <a:r>
              <a:rPr lang="en-US" b="1" dirty="0" err="1"/>
              <a:t>cas</a:t>
            </a:r>
            <a:r>
              <a:rPr lang="en-US" b="1" dirty="0"/>
              <a:t>, </a:t>
            </a:r>
            <a:r>
              <a:rPr lang="en-US" b="1" dirty="0" err="1"/>
              <a:t>il</a:t>
            </a:r>
            <a:r>
              <a:rPr lang="en-US" b="1" dirty="0"/>
              <a:t> </a:t>
            </a:r>
            <a:r>
              <a:rPr lang="en-US" b="1" dirty="0" err="1"/>
              <a:t>s’agit</a:t>
            </a:r>
            <a:r>
              <a:rPr lang="en-US" b="1" dirty="0"/>
              <a:t> de </a:t>
            </a:r>
            <a:r>
              <a:rPr lang="en-US" b="1" dirty="0" err="1"/>
              <a:t>tumeurs</a:t>
            </a:r>
            <a:r>
              <a:rPr lang="en-US" b="1" dirty="0"/>
              <a:t> planes </a:t>
            </a:r>
            <a:r>
              <a:rPr lang="en-US" b="1" dirty="0" err="1"/>
              <a:t>ou</a:t>
            </a:r>
            <a:r>
              <a:rPr lang="en-US" b="1" dirty="0"/>
              <a:t> plus </a:t>
            </a:r>
            <a:r>
              <a:rPr lang="en-US" b="1" dirty="0" err="1"/>
              <a:t>souvent</a:t>
            </a:r>
            <a:r>
              <a:rPr lang="en-US" b="1" dirty="0"/>
              <a:t> </a:t>
            </a:r>
            <a:r>
              <a:rPr lang="en-US" b="1" dirty="0" err="1"/>
              <a:t>papillaires</a:t>
            </a:r>
            <a:r>
              <a:rPr lang="en-US" b="1" dirty="0"/>
              <a:t>, </a:t>
            </a:r>
            <a:r>
              <a:rPr lang="en-US" b="1" dirty="0" err="1"/>
              <a:t>uniques</a:t>
            </a:r>
            <a:r>
              <a:rPr lang="en-US" b="1" dirty="0"/>
              <a:t> </a:t>
            </a:r>
            <a:r>
              <a:rPr lang="en-US" b="1" dirty="0" err="1"/>
              <a:t>ou</a:t>
            </a:r>
            <a:r>
              <a:rPr lang="en-US" b="1" dirty="0"/>
              <a:t> multiples, </a:t>
            </a:r>
            <a:r>
              <a:rPr lang="en-US" b="1" dirty="0" err="1"/>
              <a:t>volontiers</a:t>
            </a:r>
            <a:r>
              <a:rPr lang="en-US" b="1" dirty="0"/>
              <a:t> </a:t>
            </a:r>
            <a:r>
              <a:rPr lang="en-US" b="1" dirty="0" err="1"/>
              <a:t>récidivantes</a:t>
            </a:r>
            <a:r>
              <a:rPr lang="en-US" sz="3600" b="1" dirty="0"/>
              <a:t>.</a:t>
            </a:r>
          </a:p>
          <a:p>
            <a:pPr>
              <a:buNone/>
            </a:pPr>
            <a:endParaRPr lang="fr-FR" dirty="0"/>
          </a:p>
        </p:txBody>
      </p:sp>
      <p:pic>
        <p:nvPicPr>
          <p:cNvPr id="4" name="Picture 2" descr="C:\Users\HOMETECH\Pictures\.jpg"/>
          <p:cNvPicPr>
            <a:picLocks noChangeAspect="1" noChangeArrowheads="1"/>
          </p:cNvPicPr>
          <p:nvPr/>
        </p:nvPicPr>
        <p:blipFill>
          <a:blip r:embed="rId2"/>
          <a:srcRect l="18652" t="12926" r="23349" b="13723"/>
          <a:stretch>
            <a:fillRect/>
          </a:stretch>
        </p:blipFill>
        <p:spPr bwMode="auto">
          <a:xfrm>
            <a:off x="4857752" y="642918"/>
            <a:ext cx="3684872" cy="507209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i="1" u="sng" dirty="0" err="1"/>
              <a:t>Examen</a:t>
            </a:r>
            <a:r>
              <a:rPr lang="en-US" b="1" i="1" u="sng" dirty="0"/>
              <a:t> </a:t>
            </a:r>
            <a:r>
              <a:rPr lang="en-US" b="1" i="1" u="sng" dirty="0" err="1"/>
              <a:t>microscopique</a:t>
            </a:r>
            <a:r>
              <a:rPr lang="en-US" sz="3600" b="1" u="sng" dirty="0"/>
              <a:t> :</a:t>
            </a:r>
          </a:p>
          <a:p>
            <a:pPr>
              <a:buNone/>
            </a:pPr>
            <a:r>
              <a:rPr lang="en-US" b="1" dirty="0"/>
              <a:t>    Les </a:t>
            </a:r>
            <a:r>
              <a:rPr lang="en-US" b="1" dirty="0" err="1"/>
              <a:t>carcinomes</a:t>
            </a:r>
            <a:r>
              <a:rPr lang="en-US" b="1" dirty="0"/>
              <a:t> urothéliaux </a:t>
            </a:r>
            <a:r>
              <a:rPr lang="en-US" b="1" dirty="0" err="1"/>
              <a:t>papillaires</a:t>
            </a:r>
            <a:r>
              <a:rPr lang="en-US" b="1" dirty="0"/>
              <a:t> </a:t>
            </a:r>
            <a:r>
              <a:rPr lang="en-US" b="1" dirty="0" err="1"/>
              <a:t>peuvent</a:t>
            </a:r>
            <a:r>
              <a:rPr lang="en-US" b="1" dirty="0"/>
              <a:t> </a:t>
            </a:r>
            <a:r>
              <a:rPr lang="en-US" b="1" dirty="0" err="1"/>
              <a:t>être</a:t>
            </a:r>
            <a:r>
              <a:rPr lang="en-US" b="1" dirty="0"/>
              <a:t> </a:t>
            </a:r>
            <a:r>
              <a:rPr lang="en-US" b="1" dirty="0" err="1"/>
              <a:t>superficiels</a:t>
            </a:r>
            <a:r>
              <a:rPr lang="en-US" b="1" dirty="0"/>
              <a:t>, </a:t>
            </a:r>
            <a:r>
              <a:rPr lang="en-US" b="1" dirty="0" err="1"/>
              <a:t>restant</a:t>
            </a:r>
            <a:r>
              <a:rPr lang="en-US" b="1" dirty="0"/>
              <a:t> </a:t>
            </a:r>
            <a:r>
              <a:rPr lang="en-US" b="1" dirty="0" err="1"/>
              <a:t>limités</a:t>
            </a:r>
            <a:r>
              <a:rPr lang="en-US" b="1" dirty="0"/>
              <a:t> au plan de la </a:t>
            </a:r>
            <a:r>
              <a:rPr lang="en-US" b="1" dirty="0" err="1"/>
              <a:t>muqueuse</a:t>
            </a:r>
            <a:r>
              <a:rPr lang="en-US" b="1" dirty="0"/>
              <a:t>,  </a:t>
            </a:r>
            <a:r>
              <a:rPr lang="en-US" b="1" dirty="0" err="1"/>
              <a:t>ou</a:t>
            </a:r>
            <a:r>
              <a:rPr lang="en-US" b="1" dirty="0"/>
              <a:t> </a:t>
            </a:r>
            <a:r>
              <a:rPr lang="en-US" b="1" dirty="0" err="1"/>
              <a:t>infiltrants</a:t>
            </a:r>
            <a:r>
              <a:rPr lang="en-US" b="1" dirty="0"/>
              <a:t> </a:t>
            </a:r>
            <a:r>
              <a:rPr lang="en-US" b="1" dirty="0" err="1"/>
              <a:t>quand</a:t>
            </a:r>
            <a:r>
              <a:rPr lang="en-US" b="1" dirty="0"/>
              <a:t> </a:t>
            </a:r>
            <a:r>
              <a:rPr lang="en-US" b="1" dirty="0" err="1"/>
              <a:t>ils</a:t>
            </a:r>
            <a:r>
              <a:rPr lang="en-US" b="1" dirty="0"/>
              <a:t> </a:t>
            </a:r>
            <a:r>
              <a:rPr lang="en-US" b="1" dirty="0" err="1"/>
              <a:t>envahissent</a:t>
            </a:r>
            <a:r>
              <a:rPr lang="en-US" b="1" dirty="0"/>
              <a:t> le </a:t>
            </a:r>
            <a:r>
              <a:rPr lang="en-US" b="1" dirty="0" err="1"/>
              <a:t>chorion</a:t>
            </a:r>
            <a:r>
              <a:rPr lang="en-US" b="1" dirty="0"/>
              <a:t>, </a:t>
            </a:r>
            <a:r>
              <a:rPr lang="en-US" b="1" dirty="0" err="1"/>
              <a:t>puis</a:t>
            </a:r>
            <a:r>
              <a:rPr lang="en-US" b="1" dirty="0"/>
              <a:t> la </a:t>
            </a:r>
            <a:r>
              <a:rPr lang="en-US" b="1" dirty="0" err="1"/>
              <a:t>musculeuse</a:t>
            </a:r>
            <a:endParaRPr lang="en-US" b="1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57224" y="428603"/>
            <a:ext cx="7358114" cy="5628711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19749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</a:pPr>
            <a:r>
              <a:rPr lang="en-US" b="1" dirty="0"/>
              <a:t>●Les </a:t>
            </a:r>
            <a:r>
              <a:rPr lang="en-US" b="1" dirty="0" err="1"/>
              <a:t>carcinomes</a:t>
            </a:r>
            <a:r>
              <a:rPr lang="en-US" b="1" dirty="0"/>
              <a:t> urothéliaux </a:t>
            </a:r>
            <a:r>
              <a:rPr lang="en-US" b="1" dirty="0" err="1"/>
              <a:t>papillaires</a:t>
            </a:r>
            <a:r>
              <a:rPr lang="en-US" b="1" dirty="0"/>
              <a:t> </a:t>
            </a:r>
            <a:r>
              <a:rPr lang="en-US" b="1" dirty="0" err="1"/>
              <a:t>superficiels</a:t>
            </a:r>
            <a:r>
              <a:rPr lang="en-US" b="1" dirty="0"/>
              <a:t> </a:t>
            </a:r>
            <a:r>
              <a:rPr lang="en-US" b="1" dirty="0" err="1"/>
              <a:t>récidivent</a:t>
            </a:r>
            <a:r>
              <a:rPr lang="en-US" b="1" dirty="0"/>
              <a:t>, </a:t>
            </a:r>
            <a:r>
              <a:rPr lang="en-US" b="1" dirty="0" err="1"/>
              <a:t>puis</a:t>
            </a:r>
            <a:r>
              <a:rPr lang="en-US" b="1" dirty="0"/>
              <a:t> </a:t>
            </a:r>
            <a:r>
              <a:rPr lang="en-US" b="1" dirty="0" err="1"/>
              <a:t>deviennent</a:t>
            </a:r>
            <a:r>
              <a:rPr lang="en-US" b="1" dirty="0"/>
              <a:t> </a:t>
            </a:r>
            <a:r>
              <a:rPr lang="en-US" b="1" dirty="0" err="1"/>
              <a:t>infiltrants</a:t>
            </a:r>
            <a:r>
              <a:rPr lang="en-US" b="1" dirty="0"/>
              <a:t>. 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● Les </a:t>
            </a:r>
            <a:r>
              <a:rPr lang="en-US" b="1" dirty="0" err="1"/>
              <a:t>carcinomes</a:t>
            </a:r>
            <a:r>
              <a:rPr lang="en-US" b="1" dirty="0"/>
              <a:t> urothéliaux </a:t>
            </a:r>
            <a:r>
              <a:rPr lang="en-US" b="1" dirty="0" err="1"/>
              <a:t>infiltrants</a:t>
            </a:r>
            <a:r>
              <a:rPr lang="en-US" b="1" dirty="0"/>
              <a:t> </a:t>
            </a:r>
            <a:r>
              <a:rPr lang="en-US" b="1" dirty="0" err="1"/>
              <a:t>conduisent</a:t>
            </a:r>
            <a:r>
              <a:rPr lang="en-US" b="1" dirty="0"/>
              <a:t> à </a:t>
            </a:r>
            <a:r>
              <a:rPr lang="en-US" b="1" dirty="0" err="1"/>
              <a:t>pratiquer</a:t>
            </a:r>
            <a:r>
              <a:rPr lang="en-US" b="1" dirty="0"/>
              <a:t> </a:t>
            </a:r>
            <a:r>
              <a:rPr lang="en-US" b="1" dirty="0" err="1"/>
              <a:t>une</a:t>
            </a:r>
            <a:r>
              <a:rPr lang="en-US" b="1" dirty="0"/>
              <a:t> </a:t>
            </a:r>
            <a:r>
              <a:rPr lang="en-US" b="1" dirty="0" err="1"/>
              <a:t>cystectomie</a:t>
            </a:r>
            <a:r>
              <a:rPr lang="en-US" b="1" dirty="0"/>
              <a:t> pour </a:t>
            </a:r>
            <a:r>
              <a:rPr lang="en-US" b="1" dirty="0" err="1"/>
              <a:t>éviter</a:t>
            </a:r>
            <a:r>
              <a:rPr lang="en-US" b="1" dirty="0"/>
              <a:t> la </a:t>
            </a:r>
            <a:r>
              <a:rPr lang="en-US" b="1" dirty="0" err="1"/>
              <a:t>survenue</a:t>
            </a:r>
            <a:r>
              <a:rPr lang="en-US" b="1" dirty="0"/>
              <a:t> de </a:t>
            </a:r>
            <a:r>
              <a:rPr lang="en-US" b="1" dirty="0" err="1"/>
              <a:t>métastases</a:t>
            </a:r>
            <a:r>
              <a:rPr lang="en-US" b="1" dirty="0"/>
              <a:t>.</a:t>
            </a:r>
          </a:p>
          <a:p>
            <a:pPr>
              <a:lnSpc>
                <a:spcPct val="80000"/>
              </a:lnSpc>
              <a:buNone/>
            </a:pPr>
            <a:endParaRPr lang="en-US" b="1" dirty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857364"/>
            <a:ext cx="8183880" cy="4187952"/>
          </a:xfrm>
        </p:spPr>
        <p:txBody>
          <a:bodyPr/>
          <a:lstStyle/>
          <a:p>
            <a:pPr>
              <a:lnSpc>
                <a:spcPct val="80000"/>
              </a:lnSpc>
              <a:buNone/>
            </a:pPr>
            <a:r>
              <a:rPr lang="en-US" b="1" dirty="0"/>
              <a:t>● Le </a:t>
            </a:r>
            <a:r>
              <a:rPr lang="en-US" b="1" dirty="0" err="1"/>
              <a:t>carcinome</a:t>
            </a:r>
            <a:r>
              <a:rPr lang="en-US" b="1" dirty="0"/>
              <a:t> in situ de la </a:t>
            </a:r>
            <a:r>
              <a:rPr lang="en-US" b="1" dirty="0" err="1"/>
              <a:t>vessie</a:t>
            </a:r>
            <a:r>
              <a:rPr lang="en-US" b="1" dirty="0"/>
              <a:t> </a:t>
            </a:r>
            <a:r>
              <a:rPr lang="en-US" b="1" dirty="0" err="1"/>
              <a:t>est</a:t>
            </a:r>
            <a:r>
              <a:rPr lang="en-US" b="1" dirty="0"/>
              <a:t> </a:t>
            </a:r>
            <a:r>
              <a:rPr lang="en-US" b="1" dirty="0" err="1"/>
              <a:t>une</a:t>
            </a:r>
            <a:r>
              <a:rPr lang="en-US" b="1" dirty="0"/>
              <a:t> </a:t>
            </a:r>
            <a:r>
              <a:rPr lang="en-US" b="1" dirty="0" err="1"/>
              <a:t>lésion</a:t>
            </a:r>
            <a:r>
              <a:rPr lang="en-US" b="1" dirty="0"/>
              <a:t> intra-</a:t>
            </a:r>
            <a:r>
              <a:rPr lang="en-US" b="1" dirty="0" err="1"/>
              <a:t>épithéliale</a:t>
            </a:r>
            <a:r>
              <a:rPr lang="en-US" b="1" dirty="0"/>
              <a:t>, plane, </a:t>
            </a:r>
            <a:r>
              <a:rPr lang="en-US" b="1" dirty="0" err="1"/>
              <a:t>difficile</a:t>
            </a:r>
            <a:r>
              <a:rPr lang="en-US" b="1" dirty="0"/>
              <a:t> à </a:t>
            </a:r>
            <a:r>
              <a:rPr lang="en-US" b="1" dirty="0" err="1"/>
              <a:t>repérer</a:t>
            </a:r>
            <a:r>
              <a:rPr lang="en-US" b="1" dirty="0"/>
              <a:t> en </a:t>
            </a:r>
            <a:r>
              <a:rPr lang="en-US" b="1" dirty="0" err="1"/>
              <a:t>endoscopie</a:t>
            </a:r>
            <a:r>
              <a:rPr lang="en-US" b="1" dirty="0"/>
              <a:t>,</a:t>
            </a:r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</a:t>
            </a:r>
            <a:r>
              <a:rPr lang="en-US" b="1" dirty="0" err="1"/>
              <a:t>détectée</a:t>
            </a:r>
            <a:r>
              <a:rPr lang="en-US" b="1" dirty="0"/>
              <a:t> par le </a:t>
            </a:r>
            <a:r>
              <a:rPr lang="en-US" b="1" dirty="0" err="1"/>
              <a:t>cytodiagnostic</a:t>
            </a:r>
            <a:r>
              <a:rPr lang="en-US" b="1" dirty="0"/>
              <a:t> </a:t>
            </a:r>
            <a:r>
              <a:rPr lang="en-US" b="1" dirty="0" err="1"/>
              <a:t>urinaire</a:t>
            </a:r>
            <a:r>
              <a:rPr lang="en-US" b="1" dirty="0"/>
              <a:t>, </a:t>
            </a:r>
            <a:r>
              <a:rPr lang="en-US" b="1" dirty="0" err="1"/>
              <a:t>associée</a:t>
            </a:r>
            <a:r>
              <a:rPr lang="en-US" b="1" dirty="0"/>
              <a:t> à un </a:t>
            </a:r>
            <a:r>
              <a:rPr lang="en-US" b="1" dirty="0" err="1"/>
              <a:t>risque</a:t>
            </a:r>
            <a:r>
              <a:rPr lang="en-US" b="1" dirty="0"/>
              <a:t> </a:t>
            </a:r>
            <a:r>
              <a:rPr lang="en-US" b="1" dirty="0" err="1"/>
              <a:t>très</a:t>
            </a:r>
            <a:r>
              <a:rPr lang="en-US" b="1" dirty="0"/>
              <a:t> </a:t>
            </a:r>
            <a:r>
              <a:rPr lang="en-US" b="1" dirty="0" err="1"/>
              <a:t>élevé</a:t>
            </a:r>
            <a:r>
              <a:rPr lang="en-US" b="1" dirty="0"/>
              <a:t> </a:t>
            </a:r>
            <a:r>
              <a:rPr lang="en-US" b="1" dirty="0" err="1"/>
              <a:t>d'invasion</a:t>
            </a:r>
            <a:r>
              <a:rPr lang="en-US" b="1" dirty="0"/>
              <a:t>, et de </a:t>
            </a:r>
            <a:r>
              <a:rPr lang="en-US" b="1" dirty="0" err="1"/>
              <a:t>mauvais</a:t>
            </a:r>
            <a:endParaRPr lang="en-US" b="1" dirty="0"/>
          </a:p>
          <a:p>
            <a:pPr>
              <a:lnSpc>
                <a:spcPct val="80000"/>
              </a:lnSpc>
              <a:buNone/>
            </a:pPr>
            <a:r>
              <a:rPr lang="en-US" b="1" dirty="0"/>
              <a:t>  </a:t>
            </a:r>
            <a:r>
              <a:rPr lang="en-US" b="1" dirty="0" err="1"/>
              <a:t>pronostic</a:t>
            </a:r>
            <a:r>
              <a:rPr lang="en-US" b="1" dirty="0"/>
              <a:t>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15074" y="4071942"/>
            <a:ext cx="2471726" cy="2054221"/>
          </a:xfrm>
        </p:spPr>
        <p:txBody>
          <a:bodyPr/>
          <a:lstStyle/>
          <a:p>
            <a:pPr>
              <a:buNone/>
            </a:pPr>
            <a:r>
              <a:rPr lang="fr-FR" sz="4000" b="1" i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fr-FR" sz="4000" b="1" i="1" u="sng" dirty="0">
                <a:solidFill>
                  <a:schemeClr val="accent2">
                    <a:lumMod val="50000"/>
                  </a:schemeClr>
                </a:solidFill>
              </a:rPr>
              <a:t>MERCI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39</TotalTime>
  <Words>1333</Words>
  <Application>Microsoft Office PowerPoint</Application>
  <PresentationFormat>Affichage à l'écran (4:3)</PresentationFormat>
  <Paragraphs>162</Paragraphs>
  <Slides>45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51" baseType="lpstr">
      <vt:lpstr>Calibri</vt:lpstr>
      <vt:lpstr>Times New Roman</vt:lpstr>
      <vt:lpstr>Verdana</vt:lpstr>
      <vt:lpstr>Wingdings</vt:lpstr>
      <vt:lpstr>Wingdings 2</vt:lpstr>
      <vt:lpstr>Aspect</vt:lpstr>
      <vt:lpstr>LES TUMEURS EPITHELIALES MALPIGHIENNES ET PARAMALPIGHIENNES</vt:lpstr>
      <vt:lpstr>INTRODUCTION</vt:lpstr>
      <vt:lpstr>Présentation PowerPoint</vt:lpstr>
      <vt:lpstr>Présentation PowerPoint</vt:lpstr>
      <vt:lpstr>Tableau1:  Classification des tumeurs épithéliales</vt:lpstr>
      <vt:lpstr>1. TUMEURS BENIGNES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► Tumeurs bénignes des épithéliums paramalpighiens</vt:lpstr>
      <vt:lpstr>Présentation PowerPoint</vt:lpstr>
      <vt:lpstr>2. LES TUMEURS MALIGNES: CARCINOMES</vt:lpstr>
      <vt:lpstr> 2.2. Carcinomes des revêtements épithéliaux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► Aspects macroscopiques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Carcinomes basocellulaires </vt:lpstr>
      <vt:lpstr>Présentation PowerPoint</vt:lpstr>
      <vt:lpstr>Carcinome baso cellulaire</vt:lpstr>
      <vt:lpstr>Présentation PowerPoint</vt:lpstr>
      <vt:lpstr>Carcinome épidermoïde in situ (maladie de Bowen)</vt:lpstr>
      <vt:lpstr>Présentation PowerPoint</vt:lpstr>
      <vt:lpstr>2.2.2. Carcinomes paramalpighiens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Ines Anfel</dc:creator>
  <cp:lastModifiedBy>acer aspir 5</cp:lastModifiedBy>
  <cp:revision>57</cp:revision>
  <dcterms:created xsi:type="dcterms:W3CDTF">2021-02-13T12:59:00Z</dcterms:created>
  <dcterms:modified xsi:type="dcterms:W3CDTF">2025-01-20T12:42:34Z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D195CB3A0B56485B9A2FB790F3BD436B_13</vt:lpwstr>
  </property>
  <property fmtid="{D5CDD505-2E9C-101B-9397-08002B2CF9AE}" pid="3" name="KSOProductBuildVer">
    <vt:lpwstr>1036-12.2.0.19805</vt:lpwstr>
  </property>
</Properties>
</file>