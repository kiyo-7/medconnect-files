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5" r:id="rId24"/>
    <p:sldId id="278" r:id="rId25"/>
    <p:sldId id="279" r:id="rId26"/>
    <p:sldId id="284" r:id="rId27"/>
    <p:sldId id="280" r:id="rId28"/>
    <p:sldId id="281" r:id="rId29"/>
    <p:sldId id="285" r:id="rId30"/>
    <p:sldId id="28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136459" y="2404531"/>
            <a:ext cx="7766936" cy="1646302"/>
          </a:xfrm>
        </p:spPr>
        <p:txBody>
          <a:bodyPr/>
          <a:lstStyle/>
          <a:p>
            <a:pPr algn="ctr"/>
            <a:r>
              <a:rPr lang="fr-FR" dirty="0"/>
              <a:t>Sémiologie de</a:t>
            </a:r>
            <a:br>
              <a:rPr lang="fr-FR" dirty="0"/>
            </a:br>
            <a:r>
              <a:rPr lang="fr-FR" dirty="0"/>
              <a:t>l’appareil génital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649323"/>
          </a:xfrm>
        </p:spPr>
        <p:txBody>
          <a:bodyPr>
            <a:normAutofit/>
          </a:bodyPr>
          <a:lstStyle/>
          <a:p>
            <a:pPr algn="ctr"/>
            <a:r>
              <a:rPr lang="fr-FR" sz="1700" dirty="0"/>
              <a:t>Cours de sémiologie</a:t>
            </a:r>
          </a:p>
          <a:p>
            <a:pPr algn="ctr"/>
            <a:r>
              <a:rPr lang="fr-FR" sz="1700" dirty="0"/>
              <a:t>3ème année de </a:t>
            </a:r>
            <a:r>
              <a:rPr lang="fr-FR" sz="1700" dirty="0" smtClean="0"/>
              <a:t>médecine</a:t>
            </a:r>
          </a:p>
          <a:p>
            <a:pPr algn="ctr"/>
            <a:r>
              <a:rPr lang="fr-FR" sz="1700" dirty="0" err="1" smtClean="0"/>
              <a:t>Dr.A.Boudjeriou</a:t>
            </a:r>
            <a:endParaRPr lang="fr-FR" sz="1700" dirty="0" smtClean="0"/>
          </a:p>
          <a:p>
            <a:pPr algn="ctr"/>
            <a:r>
              <a:rPr lang="fr-FR" dirty="0" err="1"/>
              <a:t>b</a:t>
            </a:r>
            <a:r>
              <a:rPr lang="fr-FR" dirty="0" err="1" smtClean="0"/>
              <a:t>oudjeriou.amira@gmail.c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178003" y="33888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fr-FR" dirty="0"/>
              <a:t>Université de Constantine 2025</a:t>
            </a:r>
          </a:p>
          <a:p>
            <a:pPr algn="ctr"/>
            <a:r>
              <a:rPr lang="fr-FR" dirty="0"/>
              <a:t>Faculté de médecine </a:t>
            </a:r>
          </a:p>
        </p:txBody>
      </p:sp>
    </p:spTree>
    <p:extLst>
      <p:ext uri="{BB962C8B-B14F-4D97-AF65-F5344CB8AC3E}">
        <p14:creationId xmlns:p14="http://schemas.microsoft.com/office/powerpoint/2010/main" val="245582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856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Plan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08167"/>
            <a:ext cx="8596668" cy="4533196"/>
          </a:xfrm>
        </p:spPr>
        <p:txBody>
          <a:bodyPr/>
          <a:lstStyle/>
          <a:p>
            <a:r>
              <a:rPr lang="fr-FR" dirty="0"/>
              <a:t>1) Rappel anatomique</a:t>
            </a:r>
          </a:p>
          <a:p>
            <a:r>
              <a:rPr lang="fr-FR" dirty="0"/>
              <a:t>2) Rappel physiologique</a:t>
            </a:r>
          </a:p>
          <a:p>
            <a:r>
              <a:rPr lang="fr-FR" dirty="0"/>
              <a:t>3) Etude sémiologique :       </a:t>
            </a:r>
          </a:p>
          <a:p>
            <a:r>
              <a:rPr lang="fr-FR" dirty="0"/>
              <a:t>A/ interrogatoire</a:t>
            </a:r>
          </a:p>
          <a:p>
            <a:r>
              <a:rPr lang="fr-FR" dirty="0"/>
              <a:t>B) ’examen gynécologique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559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chemeClr val="tx1"/>
                </a:solidFill>
              </a:rPr>
              <a:t/>
            </a:r>
            <a:br>
              <a:rPr lang="fr-FR" dirty="0" smtClean="0">
                <a:solidFill>
                  <a:schemeClr val="tx1"/>
                </a:solidFill>
              </a:rPr>
            </a:br>
            <a:r>
              <a:rPr lang="fr-FR" dirty="0" smtClean="0">
                <a:solidFill>
                  <a:schemeClr val="tx1"/>
                </a:solidFill>
              </a:rPr>
              <a:t>Objectifs </a:t>
            </a:r>
            <a:r>
              <a:rPr lang="fr-FR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 smtClean="0"/>
              <a:t>Connaitre </a:t>
            </a:r>
            <a:r>
              <a:rPr lang="fr-FR" dirty="0"/>
              <a:t>les principaux signes cliniques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Faire </a:t>
            </a:r>
            <a:r>
              <a:rPr lang="fr-FR" dirty="0"/>
              <a:t>un examen clinique minutieux 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Orienter </a:t>
            </a:r>
            <a:r>
              <a:rPr lang="fr-FR" dirty="0"/>
              <a:t>les explorations selon la probabilité clinique </a:t>
            </a:r>
          </a:p>
        </p:txBody>
      </p:sp>
    </p:spTree>
    <p:extLst>
      <p:ext uri="{BB962C8B-B14F-4D97-AF65-F5344CB8AC3E}">
        <p14:creationId xmlns:p14="http://schemas.microsoft.com/office/powerpoint/2010/main" val="115539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1/Rappel </a:t>
            </a:r>
            <a:r>
              <a:rPr lang="fr-FR" dirty="0"/>
              <a:t>anatomique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808" y="1638796"/>
            <a:ext cx="5427023" cy="440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2/Rappel physiologique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413165"/>
            <a:ext cx="8596668" cy="4975760"/>
          </a:xfrm>
        </p:spPr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Puberté</a:t>
            </a:r>
            <a:r>
              <a:rPr lang="fr-FR" dirty="0" smtClean="0">
                <a:solidFill>
                  <a:schemeClr val="accent4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 Premier </a:t>
            </a:r>
            <a:r>
              <a:rPr lang="fr-FR" dirty="0"/>
              <a:t>signe: développement mammaire (10-11ans)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- 1ere menstruation: 2 ans plus tard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Pilosité pubienne et axillaire se complètent en 2 à 3ans</a:t>
            </a:r>
          </a:p>
          <a:p>
            <a:r>
              <a:rPr lang="fr-FR" dirty="0" smtClean="0">
                <a:solidFill>
                  <a:schemeClr val="accent4"/>
                </a:solidFill>
              </a:rPr>
              <a:t>Cycle </a:t>
            </a:r>
            <a:r>
              <a:rPr lang="fr-FR" dirty="0">
                <a:solidFill>
                  <a:schemeClr val="accent4"/>
                </a:solidFill>
              </a:rPr>
              <a:t>menstruel  </a:t>
            </a:r>
            <a:endParaRPr lang="fr-FR" dirty="0" smtClean="0">
              <a:solidFill>
                <a:schemeClr val="accent4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- </a:t>
            </a:r>
            <a:r>
              <a:rPr lang="fr-FR" dirty="0"/>
              <a:t>Un cycle normal est de 28- 30j, se terminant par une menstruation (50 ml) de durée moyenne de 4-6j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Menstruation: élimination de la muqueuse de </a:t>
            </a:r>
            <a:r>
              <a:rPr lang="fr-FR" dirty="0" smtClean="0"/>
              <a:t>l’endomètre  </a:t>
            </a:r>
            <a:r>
              <a:rPr lang="fr-FR" dirty="0"/>
              <a:t>s’accompagnant d’une hémorragie</a:t>
            </a:r>
          </a:p>
          <a:p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21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21279"/>
            <a:ext cx="8514608" cy="399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7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2/Rappel physiologique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208090"/>
            <a:ext cx="8596668" cy="3880773"/>
          </a:xfrm>
        </p:spPr>
        <p:txBody>
          <a:bodyPr/>
          <a:lstStyle/>
          <a:p>
            <a:r>
              <a:rPr lang="fr-FR" dirty="0"/>
              <a:t>Le cycle menstruel comporte 4 </a:t>
            </a:r>
            <a:r>
              <a:rPr lang="fr-FR" dirty="0" smtClean="0"/>
              <a:t>phases: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1- </a:t>
            </a:r>
            <a:r>
              <a:rPr lang="fr-FR" dirty="0"/>
              <a:t>Pré ovulatoire: du 5 -14éme j , ou phase proliférative, elle 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sous la dépendance des œstrogènes.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 </a:t>
            </a:r>
            <a:r>
              <a:rPr lang="fr-FR" dirty="0"/>
              <a:t>Ovulatoire:14-16éme j, elle est favorisée par une </a:t>
            </a:r>
            <a:r>
              <a:rPr lang="fr-FR" dirty="0" smtClean="0"/>
              <a:t>décharge brutale </a:t>
            </a:r>
            <a:r>
              <a:rPr lang="fr-FR" dirty="0"/>
              <a:t>de LH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3- Post ovulatoire:17-28éme j, ou phase sécrétoire, elle est sous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la dépendance des œstrogènes et progestérones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4-Menstruation: 1er - 5éme j</a:t>
            </a:r>
          </a:p>
        </p:txBody>
      </p:sp>
    </p:spTree>
    <p:extLst>
      <p:ext uri="{BB962C8B-B14F-4D97-AF65-F5344CB8AC3E}">
        <p14:creationId xmlns:p14="http://schemas.microsoft.com/office/powerpoint/2010/main" val="196730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2/Rappel physiologique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accent4"/>
                </a:solidFill>
              </a:rPr>
              <a:t>Courbe de température</a:t>
            </a:r>
            <a:r>
              <a:rPr lang="fr-FR" dirty="0" smtClean="0">
                <a:solidFill>
                  <a:schemeClr val="accent4"/>
                </a:solidFill>
              </a:rPr>
              <a:t>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dirty="0" smtClean="0">
                <a:solidFill>
                  <a:schemeClr val="accent4"/>
                </a:solidFill>
              </a:rPr>
              <a:t>- </a:t>
            </a:r>
            <a:r>
              <a:rPr lang="fr-FR" dirty="0" smtClean="0">
                <a:solidFill>
                  <a:schemeClr val="tx1"/>
                </a:solidFill>
              </a:rPr>
              <a:t>L’élévation </a:t>
            </a:r>
            <a:r>
              <a:rPr lang="fr-FR" dirty="0">
                <a:solidFill>
                  <a:schemeClr val="tx1"/>
                </a:solidFill>
              </a:rPr>
              <a:t>de la température( 37,2°c) signale </a:t>
            </a:r>
            <a:r>
              <a:rPr lang="fr-FR" dirty="0" smtClean="0">
                <a:solidFill>
                  <a:schemeClr val="tx1"/>
                </a:solidFill>
              </a:rPr>
              <a:t>La phase ovulatoire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dirty="0">
                <a:solidFill>
                  <a:schemeClr val="tx1"/>
                </a:solidFill>
              </a:rPr>
              <a:t>- Hormones ovariennes: sous la dépendance de stimulines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/>
                </a:solidFill>
              </a:rPr>
              <a:t> Antéhypophysaire </a:t>
            </a:r>
            <a:r>
              <a:rPr lang="fr-FR" dirty="0">
                <a:solidFill>
                  <a:schemeClr val="tx1"/>
                </a:solidFill>
              </a:rPr>
              <a:t>FSH, LH</a:t>
            </a:r>
          </a:p>
        </p:txBody>
      </p:sp>
    </p:spTree>
    <p:extLst>
      <p:ext uri="{BB962C8B-B14F-4D97-AF65-F5344CB8AC3E}">
        <p14:creationId xmlns:p14="http://schemas.microsoft.com/office/powerpoint/2010/main" val="6479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3/Etude sémiologique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211284"/>
            <a:ext cx="9808578" cy="539139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Repose sur l’interrogatoire et l’examen gynécologique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 smtClean="0"/>
              <a:t>A- </a:t>
            </a:r>
            <a:r>
              <a:rPr lang="fr-FR" sz="2400" dirty="0"/>
              <a:t>Interrogatoire:</a:t>
            </a:r>
            <a:endParaRPr lang="fr-FR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u="sng" dirty="0" smtClean="0"/>
              <a:t>Antécédents </a:t>
            </a:r>
            <a:r>
              <a:rPr lang="fr-FR" u="sng" dirty="0"/>
              <a:t>physiologiques </a:t>
            </a:r>
            <a:r>
              <a:rPr lang="fr-FR" u="sng" dirty="0" smtClean="0"/>
              <a:t>:</a:t>
            </a:r>
            <a:r>
              <a:rPr lang="fr-FR" dirty="0" smtClean="0"/>
              <a:t> la vie génitale dés les premières règles jusqu'a la ménopause: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accent1"/>
                </a:solidFill>
              </a:rPr>
              <a:t>     - </a:t>
            </a:r>
            <a:r>
              <a:rPr lang="fr-FR" dirty="0" err="1">
                <a:solidFill>
                  <a:schemeClr val="accent1"/>
                </a:solidFill>
              </a:rPr>
              <a:t>Ménarchie</a:t>
            </a:r>
            <a:r>
              <a:rPr lang="fr-FR" dirty="0"/>
              <a:t>: date des premières règles (10-16ans)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accent1"/>
                </a:solidFill>
              </a:rPr>
              <a:t>     - </a:t>
            </a:r>
            <a:r>
              <a:rPr lang="fr-FR" dirty="0">
                <a:solidFill>
                  <a:schemeClr val="accent1"/>
                </a:solidFill>
              </a:rPr>
              <a:t>Cycle </a:t>
            </a:r>
            <a:r>
              <a:rPr lang="fr-FR" dirty="0" smtClean="0">
                <a:solidFill>
                  <a:schemeClr val="accent1"/>
                </a:solidFill>
              </a:rPr>
              <a:t>menstruel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                . Rythme ( </a:t>
            </a:r>
            <a:r>
              <a:rPr lang="fr-FR" dirty="0"/>
              <a:t>tous les 28-30j)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                . </a:t>
            </a:r>
            <a:r>
              <a:rPr lang="fr-FR" dirty="0"/>
              <a:t>La durée( 3-6j)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                . </a:t>
            </a:r>
            <a:r>
              <a:rPr lang="fr-FR" dirty="0"/>
              <a:t>L’abondance( nombre de garniture/j)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                . </a:t>
            </a:r>
            <a:r>
              <a:rPr lang="fr-FR" dirty="0"/>
              <a:t>La date des dernières règles afin de dépister </a:t>
            </a:r>
            <a:r>
              <a:rPr lang="fr-FR" dirty="0" smtClean="0"/>
              <a:t>un début </a:t>
            </a:r>
            <a:r>
              <a:rPr lang="fr-FR" dirty="0"/>
              <a:t>de grossesse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822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3/Etude sémiologique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74421"/>
            <a:ext cx="8596668" cy="49876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Nombre de grossesses et d’accouchement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Nombre d’enfants vivants et décédés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Rechercher la notion d’avortement et </a:t>
            </a:r>
            <a:r>
              <a:rPr lang="fr-FR" dirty="0" smtClean="0"/>
              <a:t>d’accouchement prématuré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 Notion </a:t>
            </a:r>
            <a:r>
              <a:rPr lang="fr-FR" dirty="0"/>
              <a:t>de </a:t>
            </a:r>
            <a:r>
              <a:rPr lang="fr-FR" dirty="0" smtClean="0"/>
              <a:t>contraception</a:t>
            </a:r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r>
              <a:rPr lang="fr-FR" dirty="0" smtClean="0">
                <a:solidFill>
                  <a:schemeClr val="accent1"/>
                </a:solidFill>
              </a:rPr>
              <a:t>- Ménopause</a:t>
            </a:r>
            <a:r>
              <a:rPr lang="fr-FR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Disparition </a:t>
            </a:r>
            <a:r>
              <a:rPr lang="fr-FR" dirty="0"/>
              <a:t>définitive des règles en rapport avec l’</a:t>
            </a:r>
            <a:r>
              <a:rPr lang="fr-FR" dirty="0" err="1"/>
              <a:t>arrét</a:t>
            </a:r>
            <a:r>
              <a:rPr lang="fr-FR" dirty="0"/>
              <a:t> </a:t>
            </a:r>
            <a:r>
              <a:rPr lang="fr-FR" dirty="0" smtClean="0"/>
              <a:t>de la </a:t>
            </a:r>
            <a:r>
              <a:rPr lang="fr-FR" dirty="0"/>
              <a:t>fonction cyclique des </a:t>
            </a:r>
            <a:r>
              <a:rPr lang="fr-FR" dirty="0" smtClean="0"/>
              <a:t>ovaires.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Age de survenue: 40-50 ans, d’où: - ménopause précoce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                                                   - </a:t>
            </a:r>
            <a:r>
              <a:rPr lang="fr-FR" dirty="0"/>
              <a:t>ménopause tardive </a:t>
            </a:r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850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3/Etude sémiologique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98171"/>
            <a:ext cx="8596668" cy="43431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Antécédents pathologiques</a:t>
            </a:r>
            <a:r>
              <a:rPr lang="fr-FR" dirty="0"/>
              <a:t>:</a:t>
            </a:r>
            <a:endParaRPr lang="fr-FR" dirty="0" smtClean="0"/>
          </a:p>
          <a:p>
            <a:endParaRPr lang="fr-FR" dirty="0"/>
          </a:p>
          <a:p>
            <a:pPr>
              <a:lnSpc>
                <a:spcPct val="150000"/>
              </a:lnSpc>
            </a:pPr>
            <a:r>
              <a:rPr lang="fr-FR" dirty="0" smtClean="0"/>
              <a:t>Hystérectomie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 </a:t>
            </a:r>
            <a:r>
              <a:rPr lang="fr-FR" dirty="0"/>
              <a:t>intervention pour kyste de </a:t>
            </a:r>
            <a:r>
              <a:rPr lang="fr-FR" dirty="0" smtClean="0"/>
              <a:t>l'ovaire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césarienne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des </a:t>
            </a:r>
            <a:r>
              <a:rPr lang="fr-FR" dirty="0"/>
              <a:t>antécédents d'infection génitale, </a:t>
            </a:r>
            <a:endParaRPr lang="fr-FR" dirty="0" smtClean="0"/>
          </a:p>
          <a:p>
            <a:pPr>
              <a:lnSpc>
                <a:spcPct val="150000"/>
              </a:lnSpc>
            </a:pPr>
            <a:r>
              <a:rPr lang="fr-FR" dirty="0" smtClean="0"/>
              <a:t>Tuberculose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néoplasie </a:t>
            </a:r>
            <a:r>
              <a:rPr lang="fr-FR" dirty="0"/>
              <a:t>(cancer du sein ou du col…). </a:t>
            </a:r>
          </a:p>
        </p:txBody>
      </p:sp>
    </p:spTree>
    <p:extLst>
      <p:ext uri="{BB962C8B-B14F-4D97-AF65-F5344CB8AC3E}">
        <p14:creationId xmlns:p14="http://schemas.microsoft.com/office/powerpoint/2010/main" val="70937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3/Etude sémiologique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353787"/>
            <a:ext cx="8596668" cy="46875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 smtClean="0">
                <a:solidFill>
                  <a:srgbClr val="FFC000"/>
                </a:solidFill>
              </a:rPr>
              <a:t>Douleurs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Pelviennes siégeant au niveau de l’hypogastre et des </a:t>
            </a:r>
            <a:r>
              <a:rPr lang="fr-FR" dirty="0" smtClean="0"/>
              <a:t>fosses iliaques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 Association </a:t>
            </a:r>
            <a:r>
              <a:rPr lang="fr-FR" dirty="0"/>
              <a:t>des douleurs lombaires </a:t>
            </a:r>
            <a:r>
              <a:rPr lang="fr-FR" dirty="0" smtClean="0"/>
              <a:t>++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    - </a:t>
            </a:r>
            <a:r>
              <a:rPr lang="fr-FR" dirty="0"/>
              <a:t>Dyspareunie: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/>
              <a:t>Douleurs ressentie au niveau du vagin ou du petit bassin lors </a:t>
            </a:r>
            <a:r>
              <a:rPr lang="fr-FR" dirty="0" smtClean="0"/>
              <a:t>des rapports </a:t>
            </a:r>
            <a:r>
              <a:rPr lang="fr-FR" dirty="0"/>
              <a:t>sexuels, elle peut être fonctionnelle ou révélant </a:t>
            </a:r>
            <a:r>
              <a:rPr lang="fr-FR" dirty="0" smtClean="0"/>
              <a:t>une affection chronique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49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3/Etude sémiologique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55669"/>
            <a:ext cx="10046084" cy="44856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rgbClr val="FFC000"/>
                </a:solidFill>
              </a:rPr>
              <a:t>Pertes </a:t>
            </a:r>
            <a:r>
              <a:rPr lang="fr-FR" sz="2400" dirty="0" smtClean="0">
                <a:solidFill>
                  <a:srgbClr val="FFC000"/>
                </a:solidFill>
              </a:rPr>
              <a:t>vaginales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900" dirty="0"/>
              <a:t>Pertes blanches, fréquentes, mais peuvent prendre </a:t>
            </a:r>
            <a:r>
              <a:rPr lang="fr-FR" sz="1900" dirty="0" smtClean="0"/>
              <a:t>d’autres couleurs</a:t>
            </a:r>
            <a:r>
              <a:rPr lang="fr-FR" sz="19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900" dirty="0"/>
              <a:t>1- </a:t>
            </a:r>
            <a:r>
              <a:rPr lang="fr-FR" sz="1900" b="1" dirty="0"/>
              <a:t>Blanchâtres caillebottées</a:t>
            </a:r>
            <a:r>
              <a:rPr lang="fr-FR" sz="1900" dirty="0"/>
              <a:t>: abondantes, un prurit intense </a:t>
            </a:r>
            <a:r>
              <a:rPr lang="fr-FR" sz="1900" dirty="0" smtClean="0"/>
              <a:t>avec a </a:t>
            </a:r>
            <a:r>
              <a:rPr lang="fr-FR" sz="1900" dirty="0"/>
              <a:t>l’examen une rougeur vulvaire et vaginale, elles sont </a:t>
            </a:r>
            <a:r>
              <a:rPr lang="fr-FR" sz="1900" dirty="0" smtClean="0"/>
              <a:t>en rapport </a:t>
            </a:r>
            <a:r>
              <a:rPr lang="fr-FR" sz="1900" dirty="0"/>
              <a:t>avec une mycose, et se voient dans les états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900" dirty="0"/>
              <a:t>d’immunodépression ( grossesse, diabète, anxiété)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900" b="1" dirty="0"/>
              <a:t>2- Blanc jaunâtres</a:t>
            </a:r>
            <a:r>
              <a:rPr lang="fr-FR" sz="1900" dirty="0"/>
              <a:t>: plus fluide, odorantes, s’accompagnant </a:t>
            </a:r>
            <a:r>
              <a:rPr lang="fr-FR" sz="1900" dirty="0" smtClean="0"/>
              <a:t>de prurit </a:t>
            </a:r>
            <a:r>
              <a:rPr lang="fr-FR" sz="1900" dirty="0"/>
              <a:t>et de brulures vulvaires, elles sont dues au </a:t>
            </a:r>
            <a:r>
              <a:rPr lang="fr-FR" sz="1900" dirty="0" smtClean="0"/>
              <a:t>trichomonas </a:t>
            </a:r>
            <a:r>
              <a:rPr lang="fr-FR" sz="1900" dirty="0" err="1" smtClean="0"/>
              <a:t>vaginalis</a:t>
            </a:r>
            <a:endParaRPr lang="fr-FR" sz="1900" dirty="0"/>
          </a:p>
        </p:txBody>
      </p:sp>
    </p:spTree>
    <p:extLst>
      <p:ext uri="{BB962C8B-B14F-4D97-AF65-F5344CB8AC3E}">
        <p14:creationId xmlns:p14="http://schemas.microsoft.com/office/powerpoint/2010/main" val="1668646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9238562" cy="388077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3- Franchement purulentes</a:t>
            </a:r>
            <a:r>
              <a:rPr lang="fr-FR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Jaunâtres ou verdâtres, pas de prurit, ni sensation de brulure,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une infection est a évoquer au niveau du Col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4- Transparente</a:t>
            </a:r>
            <a:r>
              <a:rPr lang="fr-FR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Visqueuse, filante et sans odeur, ce sont des secrétions </a:t>
            </a:r>
            <a:r>
              <a:rPr lang="fr-FR" dirty="0" smtClean="0"/>
              <a:t>génitales physiologiques </a:t>
            </a:r>
            <a:r>
              <a:rPr lang="fr-FR" dirty="0"/>
              <a:t>qui surviennent 2-3j avant l’ovulation</a:t>
            </a:r>
          </a:p>
        </p:txBody>
      </p:sp>
    </p:spTree>
    <p:extLst>
      <p:ext uri="{BB962C8B-B14F-4D97-AF65-F5344CB8AC3E}">
        <p14:creationId xmlns:p14="http://schemas.microsoft.com/office/powerpoint/2010/main" val="283928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4448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3/Etude sémiologique</a:t>
            </a:r>
            <a:br>
              <a:rPr lang="fr-FR" dirty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2400" dirty="0" smtClean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Hémorragies </a:t>
            </a:r>
            <a:r>
              <a:rPr lang="fr-FR" sz="24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génitales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054430"/>
            <a:ext cx="10046084" cy="44888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Deux types extériorisées et non extériorisées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rgbClr val="FF0000"/>
                </a:solidFill>
              </a:rPr>
              <a:t>- Extériorisées</a:t>
            </a:r>
            <a:r>
              <a:rPr lang="fr-FR" dirty="0"/>
              <a:t>: pertes sanglantes de trois types selon leurs </a:t>
            </a:r>
            <a:r>
              <a:rPr lang="fr-FR" dirty="0" smtClean="0"/>
              <a:t>dates de </a:t>
            </a:r>
            <a:r>
              <a:rPr lang="fr-FR" dirty="0"/>
              <a:t>survenue par rapport aux règles: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1-Ménorragie</a:t>
            </a:r>
            <a:r>
              <a:rPr lang="fr-FR" dirty="0"/>
              <a:t>: règles trop abondantes ou trop </a:t>
            </a:r>
            <a:r>
              <a:rPr lang="fr-FR" dirty="0" smtClean="0"/>
              <a:t>prolongées, recherche </a:t>
            </a:r>
            <a:r>
              <a:rPr lang="fr-FR" dirty="0"/>
              <a:t>systématique d’un fibrome utérin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2-Métrorragie</a:t>
            </a:r>
            <a:r>
              <a:rPr lang="fr-FR" dirty="0"/>
              <a:t>s: pertes sanglantes en dehors des </a:t>
            </a:r>
            <a:r>
              <a:rPr lang="fr-FR" dirty="0" smtClean="0"/>
              <a:t>règles, spontanées </a:t>
            </a:r>
            <a:r>
              <a:rPr lang="fr-FR" dirty="0"/>
              <a:t>ou provoquées, d’aspect variable soit faites </a:t>
            </a:r>
            <a:r>
              <a:rPr lang="fr-FR" dirty="0" smtClean="0"/>
              <a:t>de sang </a:t>
            </a:r>
            <a:r>
              <a:rPr lang="fr-FR" dirty="0"/>
              <a:t>rouge ou de caillots noirâtres, un cancer génital doit </a:t>
            </a:r>
            <a:r>
              <a:rPr lang="fr-FR" dirty="0" smtClean="0"/>
              <a:t>être recherché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3-Ménométrorragies: association des deux types précédents</a:t>
            </a:r>
          </a:p>
        </p:txBody>
      </p:sp>
    </p:spTree>
    <p:extLst>
      <p:ext uri="{BB962C8B-B14F-4D97-AF65-F5344CB8AC3E}">
        <p14:creationId xmlns:p14="http://schemas.microsoft.com/office/powerpoint/2010/main" val="398989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4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3/Etude sémiologique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sz="24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Hémorragies génitales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078183"/>
            <a:ext cx="8596668" cy="396318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FR" dirty="0" smtClean="0">
                <a:solidFill>
                  <a:srgbClr val="FF0000"/>
                </a:solidFill>
              </a:rPr>
              <a:t>Non </a:t>
            </a:r>
            <a:r>
              <a:rPr lang="fr-FR" dirty="0">
                <a:solidFill>
                  <a:srgbClr val="FF0000"/>
                </a:solidFill>
              </a:rPr>
              <a:t>extériorisée</a:t>
            </a:r>
            <a:r>
              <a:rPr lang="fr-FR" b="1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 smtClean="0"/>
              <a:t>- </a:t>
            </a:r>
            <a:r>
              <a:rPr lang="fr-FR" b="1" dirty="0"/>
              <a:t>Rupture de la grossesse extra utérine: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. Urgence </a:t>
            </a:r>
            <a:r>
              <a:rPr lang="fr-FR" b="1" dirty="0" smtClean="0"/>
              <a:t>chirurgicale+++</a:t>
            </a:r>
            <a:endParaRPr lang="fr-FR" b="1" dirty="0"/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. Nidation de l’œuf fécondé en dehors de la cavité utérine (</a:t>
            </a:r>
            <a:r>
              <a:rPr lang="fr-FR" b="1" dirty="0" smtClean="0"/>
              <a:t>au niveau </a:t>
            </a:r>
            <a:r>
              <a:rPr lang="fr-FR" b="1" dirty="0"/>
              <a:t>des trompes)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. Responsable d’une déchirure de cette trompe, et ainsi d’un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 err="1"/>
              <a:t>hémopéritoine</a:t>
            </a:r>
            <a:r>
              <a:rPr lang="fr-FR" b="1" dirty="0"/>
              <a:t> avec tableau clinique d’hémorragie </a:t>
            </a:r>
            <a:r>
              <a:rPr lang="fr-FR" b="1" dirty="0" smtClean="0"/>
              <a:t>interne grave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8585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Interrogatoire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- Retard des règles</a:t>
            </a:r>
          </a:p>
          <a:p>
            <a:pPr marL="0" indent="0">
              <a:buNone/>
            </a:pPr>
            <a:r>
              <a:rPr lang="fr-FR" dirty="0"/>
              <a:t>- Petit saignement noirâtre </a:t>
            </a:r>
          </a:p>
          <a:p>
            <a:pPr marL="0" indent="0">
              <a:buNone/>
            </a:pPr>
            <a:r>
              <a:rPr lang="fr-FR" dirty="0"/>
              <a:t>- Douleurs pelviennes latérales</a:t>
            </a:r>
          </a:p>
          <a:p>
            <a:endParaRPr lang="fr-FR" dirty="0" smtClean="0"/>
          </a:p>
          <a:p>
            <a:r>
              <a:rPr lang="fr-FR" dirty="0" smtClean="0"/>
              <a:t>Examen </a:t>
            </a:r>
            <a:r>
              <a:rPr lang="fr-FR" dirty="0"/>
              <a:t>clinique:</a:t>
            </a:r>
          </a:p>
          <a:p>
            <a:pPr marL="0" indent="0">
              <a:buNone/>
            </a:pPr>
            <a:r>
              <a:rPr lang="fr-FR" dirty="0" smtClean="0"/>
              <a:t>  - </a:t>
            </a:r>
            <a:r>
              <a:rPr lang="fr-FR" dirty="0"/>
              <a:t>Sensibilité </a:t>
            </a:r>
            <a:r>
              <a:rPr lang="fr-FR" dirty="0" smtClean="0"/>
              <a:t>hypogastrique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- </a:t>
            </a:r>
            <a:r>
              <a:rPr lang="fr-FR" dirty="0"/>
              <a:t>Cri de douglas</a:t>
            </a:r>
          </a:p>
          <a:p>
            <a:pPr marL="0" indent="0">
              <a:buNone/>
            </a:pPr>
            <a:r>
              <a:rPr lang="fr-FR" dirty="0" smtClean="0"/>
              <a:t>  - </a:t>
            </a:r>
            <a:r>
              <a:rPr lang="fr-FR" dirty="0"/>
              <a:t>Signes de </a:t>
            </a:r>
            <a:r>
              <a:rPr lang="fr-FR" dirty="0" smtClean="0"/>
              <a:t>grossesse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4730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Troubles de la menstruation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769423"/>
            <a:ext cx="8596668" cy="427193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-</a:t>
            </a:r>
            <a:r>
              <a:rPr lang="fr-FR" dirty="0" smtClean="0"/>
              <a:t>Ménorragies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</a:t>
            </a:r>
            <a:r>
              <a:rPr lang="fr-FR" dirty="0" err="1" smtClean="0"/>
              <a:t>Pollaki-menorrhée</a:t>
            </a:r>
            <a:r>
              <a:rPr lang="fr-FR" dirty="0"/>
              <a:t>: règles trop rapprochées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</a:t>
            </a:r>
            <a:r>
              <a:rPr lang="fr-FR" dirty="0" err="1"/>
              <a:t>Spanio-ménorrhée</a:t>
            </a:r>
            <a:r>
              <a:rPr lang="fr-FR" dirty="0"/>
              <a:t>: règles trop espacées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</a:t>
            </a:r>
            <a:r>
              <a:rPr lang="fr-FR" dirty="0" err="1"/>
              <a:t>Oligo</a:t>
            </a:r>
            <a:r>
              <a:rPr lang="fr-FR" dirty="0"/>
              <a:t>-ménorrhée: règles trop courtes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</a:t>
            </a:r>
            <a:r>
              <a:rPr lang="fr-FR" dirty="0" err="1"/>
              <a:t>Oligospanio</a:t>
            </a:r>
            <a:r>
              <a:rPr lang="fr-FR" dirty="0"/>
              <a:t>-ménorrhée: règles trop courtes et trop espacées</a:t>
            </a:r>
          </a:p>
        </p:txBody>
      </p:sp>
    </p:spTree>
    <p:extLst>
      <p:ext uri="{BB962C8B-B14F-4D97-AF65-F5344CB8AC3E}">
        <p14:creationId xmlns:p14="http://schemas.microsoft.com/office/powerpoint/2010/main" val="1054434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Troubles de la menstruation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422899"/>
          </a:xfrm>
        </p:spPr>
        <p:txBody>
          <a:bodyPr/>
          <a:lstStyle/>
          <a:p>
            <a:r>
              <a:rPr lang="fr-FR" dirty="0"/>
              <a:t>Aménorrhée:</a:t>
            </a:r>
          </a:p>
          <a:p>
            <a:pPr marL="0" indent="0">
              <a:buNone/>
            </a:pPr>
            <a:r>
              <a:rPr lang="fr-FR" dirty="0"/>
              <a:t>Disparition des règles durant la vie génitale active, elle </a:t>
            </a:r>
            <a:r>
              <a:rPr lang="fr-FR" dirty="0" smtClean="0"/>
              <a:t>peut être </a:t>
            </a:r>
            <a:r>
              <a:rPr lang="fr-FR" dirty="0"/>
              <a:t>primaire ou secondaire:</a:t>
            </a:r>
          </a:p>
          <a:p>
            <a:pPr marL="0" indent="0">
              <a:buNone/>
            </a:pPr>
            <a:r>
              <a:rPr lang="fr-FR" dirty="0" smtClean="0"/>
              <a:t>         . </a:t>
            </a:r>
            <a:r>
              <a:rPr lang="fr-FR" dirty="0"/>
              <a:t>Primaire: absence de </a:t>
            </a:r>
            <a:r>
              <a:rPr lang="fr-FR" dirty="0" err="1" smtClean="0"/>
              <a:t>ménarrchie</a:t>
            </a:r>
            <a:endParaRPr lang="fr-FR" dirty="0" smtClean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. </a:t>
            </a:r>
            <a:r>
              <a:rPr lang="fr-FR" dirty="0"/>
              <a:t>Secondaire: a une grossesse ou a des </a:t>
            </a:r>
            <a:r>
              <a:rPr lang="fr-FR" dirty="0" smtClean="0"/>
              <a:t>causes pathologiques </a:t>
            </a:r>
            <a:r>
              <a:rPr lang="fr-FR" dirty="0"/>
              <a:t>( tuberculose, curetage , hystérectomie</a:t>
            </a:r>
            <a:r>
              <a:rPr lang="fr-FR" dirty="0" smtClean="0"/>
              <a:t>).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Dysménorrhées:</a:t>
            </a:r>
          </a:p>
          <a:p>
            <a:pPr marL="0" indent="0">
              <a:buNone/>
            </a:pPr>
            <a:r>
              <a:rPr lang="fr-FR" dirty="0"/>
              <a:t>Douleurs accompagnant les règles mais peuvent les précéder </a:t>
            </a:r>
            <a:r>
              <a:rPr lang="fr-FR" dirty="0" smtClean="0"/>
              <a:t>de quelques </a:t>
            </a:r>
            <a:r>
              <a:rPr lang="fr-FR" dirty="0"/>
              <a:t>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6916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B- Examen gynécologique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330037"/>
            <a:ext cx="8596668" cy="5403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smtClean="0">
                <a:solidFill>
                  <a:srgbClr val="FF0000"/>
                </a:solidFill>
              </a:rPr>
              <a:t>Les </a:t>
            </a:r>
            <a:r>
              <a:rPr lang="fr-FR" sz="2000" dirty="0">
                <a:solidFill>
                  <a:srgbClr val="FF0000"/>
                </a:solidFill>
              </a:rPr>
              <a:t>conditions de l'examen </a:t>
            </a:r>
            <a:r>
              <a:rPr lang="fr-FR" sz="2000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Plusieurs </a:t>
            </a:r>
            <a:r>
              <a:rPr lang="fr-FR" dirty="0"/>
              <a:t>conditions doivent être réunies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Chambre bien éclairée, bien chauffée, bien aérée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Malade a vessie et rectum vidé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Décubitus dorsal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Les cuisses demi fléchis en abduction, jambes fléchis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Table gynécologique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Speculum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Doigtier a deux doigts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Lubrifiant</a:t>
            </a:r>
          </a:p>
          <a:p>
            <a:pPr marL="457200" indent="-457200">
              <a:buAutoNum type="arabicPeriod"/>
            </a:pPr>
            <a:endParaRPr lang="fr-F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2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602" y="1038225"/>
            <a:ext cx="629602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9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16" y="881062"/>
            <a:ext cx="8450159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85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3558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B- Examen gynécologique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223159"/>
            <a:ext cx="8596668" cy="48182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000" dirty="0" smtClean="0">
                <a:solidFill>
                  <a:srgbClr val="FF0000"/>
                </a:solidFill>
              </a:rPr>
              <a:t> </a:t>
            </a:r>
            <a:r>
              <a:rPr lang="fr-FR" sz="2000" dirty="0">
                <a:solidFill>
                  <a:srgbClr val="FF0000"/>
                </a:solidFill>
              </a:rPr>
              <a:t>Conduite de l’examen </a:t>
            </a:r>
            <a:r>
              <a:rPr lang="fr-FR" sz="2000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accent1"/>
                </a:solidFill>
              </a:rPr>
              <a:t>Inspection</a:t>
            </a:r>
            <a:r>
              <a:rPr lang="fr-FR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Appréciation des caractères sexuels secondaires: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. Seins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. Pilosité axillaire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. Pilosité pubienne : triangulaire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. Organes génitaux externes</a:t>
            </a:r>
          </a:p>
          <a:p>
            <a:pPr marL="0" indent="0">
              <a:buNone/>
            </a:pPr>
            <a:endParaRPr lang="fr-F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05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B- Examen gynécologique </a:t>
            </a:r>
            <a:r>
              <a:rPr lang="fr-FR" sz="2400" b="1" dirty="0" smtClean="0">
                <a:solidFill>
                  <a:schemeClr val="tx1"/>
                </a:solidFill>
              </a:rPr>
              <a:t>:</a:t>
            </a:r>
            <a:br>
              <a:rPr lang="fr-FR" sz="2400" b="1" dirty="0" smtClean="0">
                <a:solidFill>
                  <a:schemeClr val="tx1"/>
                </a:solidFill>
              </a:rPr>
            </a:br>
            <a:r>
              <a:rPr lang="fr-FR" sz="2400" b="1" dirty="0">
                <a:solidFill>
                  <a:schemeClr val="tx1"/>
                </a:solidFill>
              </a:rPr>
              <a:t/>
            </a:r>
            <a:br>
              <a:rPr lang="fr-FR" sz="2400" b="1" dirty="0">
                <a:solidFill>
                  <a:schemeClr val="tx1"/>
                </a:solidFill>
              </a:rPr>
            </a:br>
            <a:r>
              <a:rPr lang="fr-FR" sz="2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Conduite de l’examen :</a:t>
            </a:r>
            <a:br>
              <a:rPr lang="fr-FR" sz="2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r>
              <a:rPr lang="fr-FR" sz="2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2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endParaRPr lang="fr-FR" sz="2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accent1"/>
                </a:solidFill>
              </a:rPr>
              <a:t>  Palpation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Recherche de zones sensibles et douloureuses au niveau des fosses</a:t>
            </a:r>
          </a:p>
          <a:p>
            <a:pPr marL="0" indent="0">
              <a:buNone/>
            </a:pPr>
            <a:r>
              <a:rPr lang="fr-FR" dirty="0"/>
              <a:t>iliaques ou de la région sus pubienne qui peut révéler l’existence</a:t>
            </a:r>
          </a:p>
          <a:p>
            <a:pPr marL="0" indent="0">
              <a:buNone/>
            </a:pPr>
            <a:r>
              <a:rPr lang="fr-FR" dirty="0" smtClean="0"/>
              <a:t>d’une </a:t>
            </a:r>
            <a:r>
              <a:rPr lang="fr-FR" dirty="0"/>
              <a:t>tumeur abdomino-pelvienne</a:t>
            </a:r>
          </a:p>
          <a:p>
            <a:endParaRPr lang="fr-FR" dirty="0" smtClean="0"/>
          </a:p>
          <a:p>
            <a:pPr marL="0" indent="0">
              <a:buNone/>
            </a:pPr>
            <a:r>
              <a:rPr lang="fr-FR" dirty="0" smtClean="0">
                <a:solidFill>
                  <a:schemeClr val="accent1"/>
                </a:solidFill>
              </a:rPr>
              <a:t>Percussion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Elle permet de différencier un volumineux kyste de l’ovaire a</a:t>
            </a:r>
          </a:p>
          <a:p>
            <a:pPr marL="0" indent="0">
              <a:buNone/>
            </a:pPr>
            <a:r>
              <a:rPr lang="fr-FR" dirty="0"/>
              <a:t>développement abdominal d’une ascite</a:t>
            </a:r>
          </a:p>
        </p:txBody>
      </p:sp>
    </p:spTree>
    <p:extLst>
      <p:ext uri="{BB962C8B-B14F-4D97-AF65-F5344CB8AC3E}">
        <p14:creationId xmlns:p14="http://schemas.microsoft.com/office/powerpoint/2010/main" val="3368296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200" b="1" dirty="0">
                <a:solidFill>
                  <a:schemeClr val="tx1"/>
                </a:solidFill>
              </a:rPr>
              <a:t>B- Examen gynécologique :</a:t>
            </a:r>
            <a:br>
              <a:rPr lang="fr-FR" sz="2200" b="1" dirty="0">
                <a:solidFill>
                  <a:schemeClr val="tx1"/>
                </a:solidFill>
              </a:rPr>
            </a:br>
            <a:r>
              <a:rPr lang="fr-FR" sz="2200" b="1" dirty="0">
                <a:solidFill>
                  <a:schemeClr val="tx1"/>
                </a:solidFill>
              </a:rPr>
              <a:t/>
            </a:r>
            <a:br>
              <a:rPr lang="fr-FR" sz="2200" b="1" dirty="0">
                <a:solidFill>
                  <a:schemeClr val="tx1"/>
                </a:solidFill>
              </a:rPr>
            </a:br>
            <a:endParaRPr lang="fr-FR" sz="22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446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Examen au speculum</a:t>
            </a:r>
            <a:r>
              <a:rPr lang="fr-FR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fr-FR" dirty="0" smtClean="0"/>
              <a:t>Précède </a:t>
            </a:r>
            <a:r>
              <a:rPr lang="fr-FR" dirty="0"/>
              <a:t>toujours le toucher vaginal</a:t>
            </a:r>
          </a:p>
          <a:p>
            <a:pPr marL="0" indent="0">
              <a:buNone/>
            </a:pPr>
            <a:r>
              <a:rPr lang="fr-FR" dirty="0"/>
              <a:t>- Apprécie l’aspect du col de l’utérus:</a:t>
            </a:r>
          </a:p>
          <a:p>
            <a:pPr marL="0" indent="0">
              <a:buNone/>
            </a:pPr>
            <a:r>
              <a:rPr lang="fr-FR" dirty="0"/>
              <a:t>. Situation central ou déviée latéralement</a:t>
            </a:r>
          </a:p>
          <a:p>
            <a:pPr marL="0" indent="0">
              <a:buNone/>
            </a:pPr>
            <a:r>
              <a:rPr lang="fr-FR" dirty="0"/>
              <a:t>. Forme : </a:t>
            </a:r>
            <a:r>
              <a:rPr lang="fr-FR" dirty="0" smtClean="0"/>
              <a:t> *</a:t>
            </a:r>
            <a:r>
              <a:rPr lang="fr-FR" dirty="0"/>
              <a:t>Conique chez la primipare</a:t>
            </a:r>
          </a:p>
          <a:p>
            <a:pPr marL="0" indent="0">
              <a:buNone/>
            </a:pPr>
            <a:r>
              <a:rPr lang="fr-FR" dirty="0" smtClean="0"/>
              <a:t>                *</a:t>
            </a:r>
            <a:r>
              <a:rPr lang="fr-FR" dirty="0"/>
              <a:t>Cylindrique chez la multipare</a:t>
            </a:r>
          </a:p>
          <a:p>
            <a:pPr marL="0" indent="0">
              <a:buNone/>
            </a:pPr>
            <a:r>
              <a:rPr lang="fr-FR" dirty="0" smtClean="0"/>
              <a:t>                *</a:t>
            </a:r>
            <a:r>
              <a:rPr lang="fr-FR" dirty="0"/>
              <a:t>Atrophique chez la ménopausée</a:t>
            </a:r>
          </a:p>
          <a:p>
            <a:pPr marL="0" indent="0">
              <a:buNone/>
            </a:pPr>
            <a:r>
              <a:rPr lang="fr-FR" dirty="0"/>
              <a:t>. Orifice externe: *Lésion traumatique</a:t>
            </a:r>
            <a:r>
              <a:rPr lang="fr-FR" dirty="0" smtClean="0"/>
              <a:t>, *</a:t>
            </a:r>
            <a:r>
              <a:rPr lang="fr-FR" dirty="0"/>
              <a:t>Erosion , tumeurs </a:t>
            </a:r>
            <a:r>
              <a:rPr lang="fr-FR" dirty="0" err="1"/>
              <a:t>proliférantes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- Permet également d’effectuer des frottis vaginaux, </a:t>
            </a:r>
            <a:r>
              <a:rPr lang="fr-FR" dirty="0" smtClean="0"/>
              <a:t>et colposcopie</a:t>
            </a:r>
            <a:r>
              <a:rPr lang="fr-FR" dirty="0"/>
              <a:t>, biopsie du Col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4303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3" y="1045029"/>
            <a:ext cx="6068291" cy="451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79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131" y="1311564"/>
            <a:ext cx="8845075" cy="20859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508166" y="3455719"/>
            <a:ext cx="238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A:zone rouge ulcérée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465122" y="3426629"/>
            <a:ext cx="404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B: zone rouge de surface irrégulière 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508216" y="3455719"/>
            <a:ext cx="30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C: zone rouge érosive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6007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200" b="1" dirty="0">
                <a:solidFill>
                  <a:schemeClr val="tx1"/>
                </a:solidFill>
              </a:rPr>
              <a:t>B- Examen gynécologique :</a:t>
            </a:r>
            <a:br>
              <a:rPr lang="fr-FR" sz="2200" b="1" dirty="0">
                <a:solidFill>
                  <a:schemeClr val="tx1"/>
                </a:solidFill>
              </a:rPr>
            </a:br>
            <a:r>
              <a:rPr lang="fr-FR" sz="2200" b="1" dirty="0">
                <a:solidFill>
                  <a:schemeClr val="tx1"/>
                </a:solidFill>
              </a:rPr>
              <a:t/>
            </a:r>
            <a:br>
              <a:rPr lang="fr-FR" sz="2200" b="1" dirty="0">
                <a:solidFill>
                  <a:schemeClr val="tx1"/>
                </a:solidFill>
              </a:rPr>
            </a:br>
            <a:endParaRPr lang="fr-FR" sz="22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62545"/>
            <a:ext cx="8596668" cy="4378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Toucher vaginal</a:t>
            </a:r>
            <a:r>
              <a:rPr lang="fr-FR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Se fait avec le doigtier stérile a deux </a:t>
            </a:r>
            <a:r>
              <a:rPr lang="fr-FR" dirty="0" smtClean="0"/>
              <a:t>doigts ( </a:t>
            </a:r>
            <a:r>
              <a:rPr lang="fr-FR" dirty="0"/>
              <a:t>index+ majeur) en utilisant un </a:t>
            </a:r>
            <a:r>
              <a:rPr lang="fr-FR" dirty="0" smtClean="0"/>
              <a:t>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lubrifiant </a:t>
            </a:r>
            <a:r>
              <a:rPr lang="fr-FR" dirty="0"/>
              <a:t>appréciant ainsi </a:t>
            </a:r>
            <a:endParaRPr lang="fr-FR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- Etat </a:t>
            </a:r>
            <a:r>
              <a:rPr lang="fr-FR" dirty="0"/>
              <a:t>du Col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Situation et consistance: normalement souple </a:t>
            </a:r>
            <a:r>
              <a:rPr lang="fr-FR" dirty="0" smtClean="0"/>
              <a:t>, ferme </a:t>
            </a:r>
            <a:r>
              <a:rPr lang="fr-FR" dirty="0"/>
              <a:t>et élastique, mou chez la femme enceinte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- Etat des culs de sac vaginaux: souplesse et vacuité</a:t>
            </a: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5388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1" y="1211282"/>
            <a:ext cx="5450773" cy="45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85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317"/>
          </a:xfrm>
        </p:spPr>
        <p:txBody>
          <a:bodyPr>
            <a:normAutofit fontScale="90000"/>
          </a:bodyPr>
          <a:lstStyle/>
          <a:p>
            <a:r>
              <a:rPr lang="fr-FR" sz="2200" b="1" dirty="0">
                <a:solidFill>
                  <a:schemeClr val="tx1"/>
                </a:solidFill>
              </a:rPr>
              <a:t>B- Examen gynécologique :</a:t>
            </a:r>
            <a:br>
              <a:rPr lang="fr-FR" sz="2200" b="1" dirty="0">
                <a:solidFill>
                  <a:schemeClr val="tx1"/>
                </a:solidFill>
              </a:rPr>
            </a:br>
            <a:r>
              <a:rPr lang="fr-FR" sz="2200" b="1" dirty="0">
                <a:solidFill>
                  <a:schemeClr val="tx1"/>
                </a:solidFill>
              </a:rPr>
              <a:t/>
            </a:r>
            <a:br>
              <a:rPr lang="fr-FR" sz="2200" b="1" dirty="0">
                <a:solidFill>
                  <a:schemeClr val="tx1"/>
                </a:solidFill>
              </a:rPr>
            </a:br>
            <a:endParaRPr lang="fr-FR" sz="22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377539"/>
            <a:ext cx="8596668" cy="4663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TV Combiné au palper abdominal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- Apprécier l’utérus: . Siège</a:t>
            </a:r>
          </a:p>
          <a:p>
            <a:pPr marL="0" indent="0">
              <a:buNone/>
            </a:pPr>
            <a:r>
              <a:rPr lang="fr-FR" dirty="0" smtClean="0"/>
              <a:t>                                . Volume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. </a:t>
            </a:r>
            <a:r>
              <a:rPr lang="fr-FR" dirty="0"/>
              <a:t>consistance et sensibilité</a:t>
            </a:r>
          </a:p>
          <a:p>
            <a:pPr marL="0" indent="0">
              <a:buNone/>
            </a:pPr>
            <a:r>
              <a:rPr lang="fr-FR" dirty="0"/>
              <a:t>- Explorer les annexes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TV+TR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- Appréciation de l’état de la cloison recto vaginale</a:t>
            </a:r>
          </a:p>
          <a:p>
            <a:pPr marL="0" indent="0">
              <a:buNone/>
            </a:pPr>
            <a:r>
              <a:rPr lang="fr-FR" dirty="0" smtClean="0"/>
              <a:t>-Apprécier </a:t>
            </a:r>
            <a:r>
              <a:rPr lang="fr-FR" dirty="0"/>
              <a:t>l’aspect du doigtier: propre , sang ou </a:t>
            </a:r>
            <a:r>
              <a:rPr lang="fr-FR" dirty="0" smtClean="0"/>
              <a:t>leucorrhées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r>
              <a:rPr lang="fr-FR" dirty="0" smtClean="0"/>
              <a:t>**</a:t>
            </a:r>
            <a:r>
              <a:rPr lang="fr-FR" dirty="0"/>
              <a:t>Chez la jeune fille, le toucher rectal remplace le toucher </a:t>
            </a:r>
            <a:r>
              <a:rPr lang="fr-FR" dirty="0" smtClean="0"/>
              <a:t>vaginal.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06218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434</TotalTime>
  <Words>1170</Words>
  <Application>Microsoft Office PowerPoint</Application>
  <PresentationFormat>Grand écran</PresentationFormat>
  <Paragraphs>183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Trebuchet MS</vt:lpstr>
      <vt:lpstr>Wingdings</vt:lpstr>
      <vt:lpstr>Wingdings 3</vt:lpstr>
      <vt:lpstr>Facette</vt:lpstr>
      <vt:lpstr>Sémiologie de l’appareil génital</vt:lpstr>
      <vt:lpstr>Plan :</vt:lpstr>
      <vt:lpstr> Objectifs :</vt:lpstr>
      <vt:lpstr>1/Rappel anatomique </vt:lpstr>
      <vt:lpstr>2/Rappel physiologique </vt:lpstr>
      <vt:lpstr>Présentation PowerPoint</vt:lpstr>
      <vt:lpstr>2/Rappel physiologique </vt:lpstr>
      <vt:lpstr>2/Rappel physiologique </vt:lpstr>
      <vt:lpstr>              3/Etude sémiologique</vt:lpstr>
      <vt:lpstr>3/Etude sémiologique</vt:lpstr>
      <vt:lpstr>3/Etude sémiologique</vt:lpstr>
      <vt:lpstr>3/Etude sémiologique</vt:lpstr>
      <vt:lpstr>3/Etude sémiologique</vt:lpstr>
      <vt:lpstr>Présentation PowerPoint</vt:lpstr>
      <vt:lpstr>3/Etude sémiologique  Hémorragies génitales</vt:lpstr>
      <vt:lpstr>3/Etude sémiologique  Hémorragies génitales</vt:lpstr>
      <vt:lpstr>Présentation PowerPoint</vt:lpstr>
      <vt:lpstr>Troubles de la menstruation</vt:lpstr>
      <vt:lpstr>Troubles de la menstruation</vt:lpstr>
      <vt:lpstr>B- Examen gynécologique :</vt:lpstr>
      <vt:lpstr>Présentation PowerPoint</vt:lpstr>
      <vt:lpstr>Présentation PowerPoint</vt:lpstr>
      <vt:lpstr>B- Examen gynécologique :</vt:lpstr>
      <vt:lpstr>B- Examen gynécologique :  Conduite de l’examen :  </vt:lpstr>
      <vt:lpstr>B- Examen gynécologique :  </vt:lpstr>
      <vt:lpstr>Présentation PowerPoint</vt:lpstr>
      <vt:lpstr>Présentation PowerPoint</vt:lpstr>
      <vt:lpstr>B- Examen gynécologique :  </vt:lpstr>
      <vt:lpstr>Présentation PowerPoint</vt:lpstr>
      <vt:lpstr>B- Examen gynécologique :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Sémiologie de l’appareil génital</dc:title>
  <dc:creator>carinfo</dc:creator>
  <cp:lastModifiedBy>carinfo</cp:lastModifiedBy>
  <cp:revision>24</cp:revision>
  <dcterms:created xsi:type="dcterms:W3CDTF">2025-04-26T14:35:22Z</dcterms:created>
  <dcterms:modified xsi:type="dcterms:W3CDTF">2025-04-26T21:57:56Z</dcterms:modified>
</cp:coreProperties>
</file>