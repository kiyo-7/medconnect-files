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01" r:id="rId2"/>
    <p:sldId id="300" r:id="rId3"/>
    <p:sldId id="299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73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D35CA-707F-40BE-80F1-F860D637CBC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AE3A7-003C-439C-BC8A-1A584B5E464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AE3A7-003C-439C-BC8A-1A584B5E464D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F31D1-7840-47D4-9371-34914BCE3EB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4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E1398-54F0-458A-AE16-4487583FC9FD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Myom%C3%A8tre" TargetMode="External"/><Relationship Id="rId2" Type="http://schemas.openxmlformats.org/officeDocument/2006/relationships/hyperlink" Target="https://fr.wikipedia.org/wiki/Placent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86"/>
            <a:ext cx="903649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               MODULE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     </a:t>
            </a:r>
            <a:r>
              <a:rPr lang="fr-FR" sz="2800" b="1" dirty="0" smtClean="0"/>
              <a:t>LES ANNEXES EMBRYONNAIRES</a:t>
            </a:r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</a:t>
            </a:r>
          </a:p>
          <a:p>
            <a:r>
              <a:rPr lang="fr-FR" sz="2800" b="1" dirty="0"/>
              <a:t>                                                              PR HANNACHI-HECINI A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268760"/>
            <a:ext cx="6408711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67482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     </a:t>
            </a:r>
            <a:r>
              <a:rPr lang="fr-FR" sz="2800" b="1" dirty="0" smtClean="0">
                <a:latin typeface="+mj-lt"/>
              </a:rPr>
              <a:t>LES ANNEXES EMBRYONNAIRES</a:t>
            </a:r>
          </a:p>
          <a:p>
            <a:endParaRPr lang="fr-FR" sz="2800" b="1" dirty="0">
              <a:latin typeface="+mj-lt"/>
            </a:endParaRPr>
          </a:p>
          <a:p>
            <a:r>
              <a:rPr lang="fr-FR" sz="2800" b="1" dirty="0" smtClean="0">
                <a:latin typeface="+mj-lt"/>
              </a:rPr>
              <a:t>Les </a:t>
            </a:r>
            <a:r>
              <a:rPr lang="fr-FR" sz="2800" b="1" dirty="0">
                <a:latin typeface="+mj-lt"/>
              </a:rPr>
              <a:t>annexes </a:t>
            </a:r>
            <a:r>
              <a:rPr lang="fr-FR" sz="2800" b="1" dirty="0" smtClean="0">
                <a:latin typeface="+mj-lt"/>
              </a:rPr>
              <a:t>embryonnaires</a:t>
            </a:r>
            <a:r>
              <a:rPr lang="fr-FR" sz="2800" dirty="0" smtClean="0">
                <a:latin typeface="+mj-lt"/>
              </a:rPr>
              <a:t>: </a:t>
            </a:r>
            <a:r>
              <a:rPr lang="fr-FR" sz="2800" dirty="0">
                <a:latin typeface="+mj-lt"/>
              </a:rPr>
              <a:t>structures </a:t>
            </a:r>
            <a:r>
              <a:rPr lang="fr-FR" sz="2800" dirty="0" smtClean="0">
                <a:latin typeface="+mj-lt"/>
              </a:rPr>
              <a:t>qui </a:t>
            </a:r>
            <a:r>
              <a:rPr lang="fr-FR" sz="2800" dirty="0">
                <a:latin typeface="+mj-lt"/>
              </a:rPr>
              <a:t>assurent les </a:t>
            </a:r>
            <a:r>
              <a:rPr lang="fr-FR" sz="2800" dirty="0" smtClean="0">
                <a:latin typeface="+mj-lt"/>
              </a:rPr>
              <a:t>fonctions</a:t>
            </a:r>
          </a:p>
          <a:p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vitales de respiration, de nutrition et d'excrétion. </a:t>
            </a:r>
            <a:endParaRPr lang="fr-FR" sz="28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 Le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placenta </a:t>
            </a:r>
            <a:r>
              <a:rPr lang="fr-FR" sz="2800" dirty="0">
                <a:latin typeface="+mj-lt"/>
              </a:rPr>
              <a:t>(qui assure les échanges entre la mère et le fœtus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l'amnios </a:t>
            </a:r>
            <a:r>
              <a:rPr lang="fr-FR" sz="2800" dirty="0">
                <a:latin typeface="+mj-lt"/>
              </a:rPr>
              <a:t>(membrane délimitant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la cavité amniotique </a:t>
            </a:r>
            <a:r>
              <a:rPr lang="fr-FR" sz="2800" dirty="0" smtClean="0">
                <a:latin typeface="+mj-lt"/>
              </a:rPr>
              <a:t>dans</a:t>
            </a:r>
          </a:p>
          <a:p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laquelle se trouve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le liquide amniotique </a:t>
            </a:r>
            <a:r>
              <a:rPr lang="fr-FR" sz="2800" dirty="0">
                <a:latin typeface="+mj-lt"/>
              </a:rPr>
              <a:t>et qui tapisse la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paroi </a:t>
            </a:r>
            <a:r>
              <a:rPr lang="fr-FR" sz="2800" dirty="0">
                <a:latin typeface="+mj-lt"/>
              </a:rPr>
              <a:t>interne du placenta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 L'allantoïde</a:t>
            </a:r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(qui participe à la formation du placenta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La vésicule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ombilicale </a:t>
            </a:r>
            <a:r>
              <a:rPr lang="fr-FR" sz="2800" dirty="0">
                <a:latin typeface="+mj-lt"/>
              </a:rPr>
              <a:t>(qui produit les premières cellules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sexuelles </a:t>
            </a:r>
            <a:r>
              <a:rPr lang="fr-FR" sz="2800" dirty="0">
                <a:latin typeface="+mj-lt"/>
              </a:rPr>
              <a:t>et les globules rouges</a:t>
            </a:r>
            <a:r>
              <a:rPr lang="fr-FR" sz="2800" dirty="0" smtClean="0">
                <a:latin typeface="+mj-lt"/>
              </a:rPr>
              <a:t>).</a:t>
            </a:r>
          </a:p>
          <a:p>
            <a:r>
              <a:rPr lang="fr-FR" sz="2800" b="1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Dans l’ordre chronologique, il y a apparition:</a:t>
            </a:r>
          </a:p>
          <a:p>
            <a:r>
              <a:rPr lang="fr-FR" sz="2800" dirty="0">
                <a:latin typeface="+mj-lt"/>
              </a:rPr>
              <a:t>- </a:t>
            </a:r>
            <a:r>
              <a:rPr lang="fr-FR" sz="2800" b="1" dirty="0">
                <a:solidFill>
                  <a:srgbClr val="00B050"/>
                </a:solidFill>
                <a:latin typeface="+mj-lt"/>
              </a:rPr>
              <a:t>de l’amnios et de la vésicule vitelline </a:t>
            </a:r>
            <a:r>
              <a:rPr lang="fr-FR" sz="2800" dirty="0">
                <a:latin typeface="+mj-lt"/>
              </a:rPr>
              <a:t>(8 jours post-fécondation),</a:t>
            </a:r>
          </a:p>
          <a:p>
            <a:r>
              <a:rPr lang="fr-FR" sz="2800" dirty="0">
                <a:latin typeface="+mj-lt"/>
              </a:rPr>
              <a:t>- </a:t>
            </a:r>
            <a:r>
              <a:rPr lang="fr-FR" sz="2800" b="1" dirty="0">
                <a:solidFill>
                  <a:srgbClr val="00B050"/>
                </a:solidFill>
                <a:latin typeface="+mj-lt"/>
              </a:rPr>
              <a:t>du placenta </a:t>
            </a:r>
            <a:r>
              <a:rPr lang="fr-FR" sz="2800" dirty="0">
                <a:latin typeface="+mj-lt"/>
              </a:rPr>
              <a:t>(9 jours = stade lacunaire du </a:t>
            </a:r>
            <a:r>
              <a:rPr lang="fr-FR" sz="2800" dirty="0" err="1">
                <a:latin typeface="+mj-lt"/>
              </a:rPr>
              <a:t>syncytiotrophoblaste</a:t>
            </a:r>
            <a:r>
              <a:rPr lang="fr-FR" sz="2800" dirty="0">
                <a:latin typeface="+mj-lt"/>
              </a:rPr>
              <a:t>)</a:t>
            </a:r>
          </a:p>
          <a:p>
            <a:pPr>
              <a:buFontTx/>
              <a:buChar char="-"/>
            </a:pP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de </a:t>
            </a:r>
            <a:r>
              <a:rPr lang="fr-FR" sz="2800" b="1" dirty="0">
                <a:solidFill>
                  <a:srgbClr val="00B050"/>
                </a:solidFill>
                <a:latin typeface="+mj-lt"/>
              </a:rPr>
              <a:t>l’allantoïde </a:t>
            </a:r>
            <a:r>
              <a:rPr lang="fr-FR" sz="2800" dirty="0">
                <a:latin typeface="+mj-lt"/>
              </a:rPr>
              <a:t>(16 jours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Le cordon ombilical</a:t>
            </a:r>
            <a:endParaRPr lang="fr-FR" sz="2800" b="1" dirty="0">
              <a:solidFill>
                <a:srgbClr val="FF0000"/>
              </a:solidFill>
              <a:latin typeface="+mj-lt"/>
            </a:endParaRP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603448"/>
            <a:ext cx="679461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</a:t>
            </a:r>
          </a:p>
          <a:p>
            <a:endParaRPr lang="fr-FR" sz="2400" b="1" dirty="0"/>
          </a:p>
          <a:p>
            <a:r>
              <a:rPr lang="fr-FR" sz="2400" b="1" dirty="0" smtClean="0">
                <a:solidFill>
                  <a:srgbClr val="0070C0"/>
                </a:solidFill>
              </a:rPr>
              <a:t> Amnios,  liquide amniotique et cavite amniotique</a:t>
            </a:r>
          </a:p>
          <a:p>
            <a:endParaRPr lang="fr-FR" sz="2400" b="1" dirty="0" smtClean="0"/>
          </a:p>
          <a:p>
            <a:r>
              <a:rPr lang="fr-FR" sz="2400" b="1" dirty="0" smtClean="0">
                <a:solidFill>
                  <a:srgbClr val="0070C0"/>
                </a:solidFill>
              </a:rPr>
              <a:t> </a:t>
            </a:r>
            <a:endParaRPr lang="fr-FR" sz="2400" b="1" dirty="0">
              <a:solidFill>
                <a:srgbClr val="0070C0"/>
              </a:solidFill>
            </a:endParaRPr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56063"/>
            <a:ext cx="6480720" cy="4193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0"/>
            <a:ext cx="8496944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0648"/>
            <a:ext cx="864096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-387424"/>
            <a:ext cx="903649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         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Liquide amniotique</a:t>
            </a:r>
            <a:endParaRPr lang="fr-FR" sz="24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Quantité </a:t>
            </a:r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variable</a:t>
            </a: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:</a:t>
            </a:r>
          </a:p>
          <a:p>
            <a:r>
              <a:rPr lang="fr-FR" sz="2800" b="1" dirty="0" smtClean="0">
                <a:latin typeface="+mj-lt"/>
              </a:rPr>
              <a:t>7</a:t>
            </a:r>
            <a:r>
              <a:rPr lang="fr-FR" sz="2800" b="1" baseline="30000" dirty="0" smtClean="0">
                <a:latin typeface="+mj-lt"/>
              </a:rPr>
              <a:t>e</a:t>
            </a:r>
            <a:r>
              <a:rPr lang="fr-FR" sz="2800" b="1" dirty="0" smtClean="0">
                <a:latin typeface="+mj-lt"/>
              </a:rPr>
              <a:t> semaine:  20 ml </a:t>
            </a:r>
          </a:p>
          <a:p>
            <a:r>
              <a:rPr lang="fr-FR" sz="2800" b="1" dirty="0" smtClean="0">
                <a:latin typeface="+mj-lt"/>
              </a:rPr>
              <a:t>25</a:t>
            </a:r>
            <a:r>
              <a:rPr lang="fr-FR" sz="2800" b="1" baseline="30000" dirty="0" smtClean="0">
                <a:latin typeface="+mj-lt"/>
              </a:rPr>
              <a:t>e</a:t>
            </a:r>
            <a:r>
              <a:rPr lang="fr-FR" sz="2800" b="1" dirty="0" smtClean="0">
                <a:latin typeface="+mj-lt"/>
              </a:rPr>
              <a:t> semaine: 600 ml</a:t>
            </a:r>
          </a:p>
          <a:p>
            <a:r>
              <a:rPr lang="fr-FR" sz="2800" b="1" dirty="0" smtClean="0">
                <a:latin typeface="+mj-lt"/>
              </a:rPr>
              <a:t>Entre </a:t>
            </a:r>
            <a:r>
              <a:rPr lang="fr-FR" sz="2800" b="1" dirty="0">
                <a:latin typeface="+mj-lt"/>
              </a:rPr>
              <a:t>la 30</a:t>
            </a:r>
            <a:r>
              <a:rPr lang="fr-FR" sz="2800" b="1" baseline="30000" dirty="0">
                <a:latin typeface="+mj-lt"/>
              </a:rPr>
              <a:t>e</a:t>
            </a:r>
            <a:r>
              <a:rPr lang="fr-FR" sz="2800" b="1" dirty="0">
                <a:latin typeface="+mj-lt"/>
              </a:rPr>
              <a:t> et la </a:t>
            </a:r>
            <a:r>
              <a:rPr lang="fr-FR" sz="2800" b="1" dirty="0" smtClean="0">
                <a:latin typeface="+mj-lt"/>
              </a:rPr>
              <a:t>34</a:t>
            </a:r>
            <a:r>
              <a:rPr lang="fr-FR" sz="2800" b="1" baseline="30000" dirty="0" smtClean="0">
                <a:latin typeface="+mj-lt"/>
              </a:rPr>
              <a:t>e</a:t>
            </a:r>
            <a:r>
              <a:rPr lang="fr-FR" sz="2800" b="1" dirty="0" smtClean="0">
                <a:latin typeface="+mj-lt"/>
              </a:rPr>
              <a:t>semaine : 1 000 ml</a:t>
            </a:r>
          </a:p>
          <a:p>
            <a:r>
              <a:rPr lang="fr-FR" sz="2800" b="1" dirty="0" smtClean="0">
                <a:latin typeface="+mj-lt"/>
              </a:rPr>
              <a:t>A terme: 800 ml</a:t>
            </a:r>
          </a:p>
          <a:p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Composition: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99 </a:t>
            </a:r>
            <a:r>
              <a:rPr lang="fr-FR" sz="2800" dirty="0">
                <a:latin typeface="+mj-lt"/>
              </a:rPr>
              <a:t>% </a:t>
            </a:r>
            <a:r>
              <a:rPr lang="fr-FR" sz="2800" dirty="0" smtClean="0">
                <a:latin typeface="+mj-lt"/>
              </a:rPr>
              <a:t>d'eau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Electrolytes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Glucose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Protéines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Lipides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Cellules </a:t>
            </a:r>
            <a:r>
              <a:rPr lang="fr-FR" sz="2800" dirty="0">
                <a:latin typeface="+mj-lt"/>
              </a:rPr>
              <a:t>de l'amnios </a:t>
            </a:r>
            <a:endParaRPr lang="fr-FR" sz="2800" dirty="0" smtClean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Cellules </a:t>
            </a:r>
            <a:r>
              <a:rPr lang="fr-FR" sz="2800" dirty="0">
                <a:latin typeface="+mj-lt"/>
              </a:rPr>
              <a:t>épidermiques </a:t>
            </a:r>
            <a:r>
              <a:rPr lang="fr-FR" sz="2800" dirty="0" smtClean="0">
                <a:latin typeface="+mj-lt"/>
              </a:rPr>
              <a:t>fœtales</a:t>
            </a:r>
            <a:endParaRPr lang="fr-FR" sz="28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L'embryon, puis le fœtus, flotte librement </a:t>
            </a:r>
            <a:endParaRPr lang="fr-FR" sz="2800" dirty="0" smtClean="0"/>
          </a:p>
          <a:p>
            <a:r>
              <a:rPr lang="fr-FR" sz="2800" dirty="0" smtClean="0"/>
              <a:t>dans </a:t>
            </a:r>
            <a:r>
              <a:rPr lang="fr-FR" sz="2800" dirty="0"/>
              <a:t>le liquide </a:t>
            </a:r>
            <a:r>
              <a:rPr lang="fr-FR" sz="2800" dirty="0" smtClean="0"/>
              <a:t>amniotique qui :</a:t>
            </a:r>
            <a:endParaRPr lang="fr-FR" sz="2800" dirty="0"/>
          </a:p>
          <a:p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srgbClr val="00B0F0"/>
                </a:solidFill>
              </a:rPr>
              <a:t>permet: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croissance externe </a:t>
            </a:r>
            <a:r>
              <a:rPr lang="fr-FR" sz="2800" dirty="0" smtClean="0"/>
              <a:t>symétrique</a:t>
            </a:r>
            <a:endParaRPr lang="fr-FR" sz="2800" dirty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évolution </a:t>
            </a:r>
            <a:r>
              <a:rPr lang="fr-FR" sz="2800" dirty="0"/>
              <a:t>des mouvements du </a:t>
            </a:r>
            <a:r>
              <a:rPr lang="fr-FR" sz="2800" dirty="0" smtClean="0"/>
              <a:t>fœtus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 smtClean="0">
                <a:solidFill>
                  <a:srgbClr val="00B0F0"/>
                </a:solidFill>
              </a:rPr>
              <a:t>favorise: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organisation </a:t>
            </a:r>
            <a:r>
              <a:rPr lang="fr-FR" sz="2800" dirty="0" err="1" smtClean="0"/>
              <a:t>ostéo</a:t>
            </a:r>
            <a:r>
              <a:rPr lang="fr-FR" sz="2800" dirty="0" smtClean="0"/>
              <a:t>-musculaire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organisation articulaire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assure </a:t>
            </a:r>
            <a:r>
              <a:rPr lang="fr-FR" sz="2800" dirty="0">
                <a:solidFill>
                  <a:srgbClr val="00B0F0"/>
                </a:solidFill>
              </a:rPr>
              <a:t>:</a:t>
            </a:r>
            <a:r>
              <a:rPr lang="fr-FR" sz="2800" dirty="0"/>
              <a:t> </a:t>
            </a: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protection </a:t>
            </a:r>
            <a:r>
              <a:rPr lang="fr-FR" sz="2800" dirty="0" smtClean="0"/>
              <a:t>mécanique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régulation thermique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/>
              <a:t>La ponction de liquide </a:t>
            </a:r>
            <a:r>
              <a:rPr lang="fr-FR" sz="2800" dirty="0" smtClean="0"/>
              <a:t>amniotique =  </a:t>
            </a:r>
            <a:r>
              <a:rPr lang="fr-FR" sz="2800" dirty="0" smtClean="0">
                <a:solidFill>
                  <a:srgbClr val="00B0F0"/>
                </a:solidFill>
              </a:rPr>
              <a:t>amniocentèse</a:t>
            </a:r>
            <a:r>
              <a:rPr lang="fr-FR" sz="2800" dirty="0" smtClean="0"/>
              <a:t>,  </a:t>
            </a:r>
            <a:r>
              <a:rPr lang="fr-FR" sz="2800" dirty="0"/>
              <a:t>permet:</a:t>
            </a:r>
          </a:p>
          <a:p>
            <a:pPr lvl="0"/>
            <a:r>
              <a:rPr lang="fr-FR" sz="2800" dirty="0"/>
              <a:t>recueillir les </a:t>
            </a:r>
            <a:r>
              <a:rPr lang="fr-FR" sz="2800" dirty="0" smtClean="0"/>
              <a:t>cellules, cultiver </a:t>
            </a:r>
            <a:r>
              <a:rPr lang="fr-FR" sz="2800" dirty="0"/>
              <a:t>les </a:t>
            </a:r>
            <a:r>
              <a:rPr lang="fr-FR" sz="2800" dirty="0" smtClean="0"/>
              <a:t>cellules, réaliser </a:t>
            </a:r>
            <a:r>
              <a:rPr lang="fr-FR" sz="2800" dirty="0"/>
              <a:t>le </a:t>
            </a:r>
            <a:r>
              <a:rPr lang="fr-FR" sz="2800" dirty="0" smtClean="0"/>
              <a:t>caryotype, </a:t>
            </a:r>
            <a:endParaRPr lang="fr-FR" sz="2800" dirty="0"/>
          </a:p>
          <a:p>
            <a:pPr lvl="0"/>
            <a:r>
              <a:rPr lang="fr-FR" sz="2800" dirty="0"/>
              <a:t>établir le </a:t>
            </a:r>
            <a:r>
              <a:rPr lang="fr-FR" sz="2800" dirty="0" smtClean="0"/>
              <a:t>diagnostic  </a:t>
            </a:r>
            <a:r>
              <a:rPr lang="fr-FR" sz="2800" dirty="0"/>
              <a:t>anténatal d'anomalies chromosomiques.</a:t>
            </a:r>
          </a:p>
          <a:p>
            <a:pPr lvl="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1300" y="-213473"/>
            <a:ext cx="6084168" cy="277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-243408"/>
            <a:ext cx="3131840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139952" y="188640"/>
            <a:ext cx="172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AMNIOCENTESE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708920"/>
            <a:ext cx="5040560" cy="36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67544" y="0"/>
            <a:ext cx="849694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- </a:t>
            </a:r>
            <a:r>
              <a:rPr lang="fr-FR" sz="2800" dirty="0"/>
              <a:t>Au delà de 2 litres: </a:t>
            </a:r>
            <a:r>
              <a:rPr lang="fr-FR" sz="2800" b="1" dirty="0" err="1">
                <a:solidFill>
                  <a:srgbClr val="00B0F0"/>
                </a:solidFill>
              </a:rPr>
              <a:t>polyhydramnios</a:t>
            </a:r>
            <a:endParaRPr lang="fr-FR" sz="2800" dirty="0">
              <a:solidFill>
                <a:srgbClr val="00B0F0"/>
              </a:solidFill>
            </a:endParaRPr>
          </a:p>
          <a:p>
            <a:r>
              <a:rPr lang="fr-FR" sz="2800" dirty="0"/>
              <a:t>- En dessous de 0,5 litre: </a:t>
            </a:r>
            <a:r>
              <a:rPr lang="fr-FR" sz="2800" b="1" dirty="0" err="1">
                <a:solidFill>
                  <a:srgbClr val="00B0F0"/>
                </a:solidFill>
              </a:rPr>
              <a:t>oligohydramnios</a:t>
            </a:r>
            <a:endParaRPr lang="fr-FR" sz="2800" dirty="0">
              <a:solidFill>
                <a:srgbClr val="00B0F0"/>
              </a:solidFill>
            </a:endParaRPr>
          </a:p>
          <a:p>
            <a:r>
              <a:rPr lang="fr-FR" sz="2800" dirty="0"/>
              <a:t> </a:t>
            </a:r>
            <a:endParaRPr lang="fr-FR" sz="2800" dirty="0" smtClean="0"/>
          </a:p>
          <a:p>
            <a:r>
              <a:rPr lang="fr-FR" sz="2800" dirty="0" smtClean="0"/>
              <a:t>P</a:t>
            </a:r>
            <a:r>
              <a:rPr lang="fr-FR" sz="2800" b="1" dirty="0" smtClean="0"/>
              <a:t>olyhydramnios 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augmentation </a:t>
            </a:r>
            <a:r>
              <a:rPr lang="fr-FR" sz="2800" dirty="0" smtClean="0"/>
              <a:t>considérable </a:t>
            </a:r>
            <a:r>
              <a:rPr lang="fr-FR" sz="2800" dirty="0"/>
              <a:t>de la </a:t>
            </a:r>
            <a:r>
              <a:rPr lang="fr-FR" sz="2800" dirty="0" smtClean="0"/>
              <a:t>quantité  </a:t>
            </a:r>
            <a:r>
              <a:rPr lang="fr-FR" sz="2800" dirty="0"/>
              <a:t>de liquide </a:t>
            </a:r>
            <a:r>
              <a:rPr lang="fr-FR" sz="2800" dirty="0" smtClean="0"/>
              <a:t>amniotique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atrésie </a:t>
            </a:r>
            <a:r>
              <a:rPr lang="fr-FR" sz="2800" dirty="0"/>
              <a:t>ou </a:t>
            </a:r>
            <a:r>
              <a:rPr lang="fr-FR" sz="2800" dirty="0" smtClean="0"/>
              <a:t>agénésie </a:t>
            </a:r>
            <a:r>
              <a:rPr lang="fr-FR" sz="2800" dirty="0"/>
              <a:t>de l'œsophage du </a:t>
            </a:r>
            <a:r>
              <a:rPr lang="fr-FR" sz="2800" dirty="0" smtClean="0"/>
              <a:t>fœtus</a:t>
            </a:r>
            <a:endParaRPr lang="fr-FR" sz="2800" dirty="0"/>
          </a:p>
          <a:p>
            <a:endParaRPr lang="fr-FR" sz="2800" b="1" dirty="0" smtClean="0"/>
          </a:p>
          <a:p>
            <a:r>
              <a:rPr lang="fr-FR" sz="2800" b="1" dirty="0" smtClean="0"/>
              <a:t>Oligohydramnios</a:t>
            </a:r>
            <a:r>
              <a:rPr lang="fr-FR" sz="2800" b="1" dirty="0" smtClean="0"/>
              <a:t>:</a:t>
            </a:r>
            <a:r>
              <a:rPr lang="fr-FR" sz="2800" dirty="0" smtClean="0"/>
              <a:t> </a:t>
            </a:r>
            <a:r>
              <a:rPr lang="fr-FR" sz="2800" dirty="0" smtClean="0"/>
              <a:t>  </a:t>
            </a:r>
            <a:r>
              <a:rPr lang="fr-FR" sz="2800" dirty="0"/>
              <a:t>rupture de </a:t>
            </a:r>
            <a:r>
              <a:rPr lang="fr-FR" sz="2800" dirty="0" smtClean="0"/>
              <a:t>l’amnios,  </a:t>
            </a:r>
            <a:r>
              <a:rPr lang="fr-FR" sz="2800" dirty="0"/>
              <a:t>fuite </a:t>
            </a:r>
            <a:r>
              <a:rPr lang="fr-FR" sz="2800" dirty="0" smtClean="0"/>
              <a:t>de liquide</a:t>
            </a:r>
            <a:endParaRPr lang="fr-FR" sz="2800" dirty="0"/>
          </a:p>
          <a:p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188640"/>
            <a:ext cx="71004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Vésicule ombilicale ou vitelline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Décrite  </a:t>
            </a:r>
            <a:r>
              <a:rPr lang="fr-FR" sz="2800" dirty="0"/>
              <a:t>sous le nom de</a:t>
            </a:r>
            <a:r>
              <a:rPr lang="fr-FR" sz="2800" b="1" dirty="0"/>
              <a:t> </a:t>
            </a:r>
            <a:r>
              <a:rPr lang="fr-FR" sz="2800" b="1" dirty="0" smtClean="0"/>
              <a:t>lécithocèle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délimitée </a:t>
            </a:r>
            <a:r>
              <a:rPr lang="fr-FR" sz="2800" dirty="0"/>
              <a:t>par un épithélium </a:t>
            </a:r>
            <a:r>
              <a:rPr lang="fr-FR" sz="2800" dirty="0" smtClean="0"/>
              <a:t> </a:t>
            </a:r>
            <a:r>
              <a:rPr lang="fr-FR" sz="2800" dirty="0"/>
              <a:t>doublé </a:t>
            </a:r>
            <a:r>
              <a:rPr lang="fr-FR" sz="2800" dirty="0" smtClean="0"/>
              <a:t>de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mésenchyme </a:t>
            </a:r>
            <a:r>
              <a:rPr lang="fr-FR" sz="2800" dirty="0" smtClean="0"/>
              <a:t>extra-embryonnaire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/>
              <a:t>   îlots de Wolff </a:t>
            </a:r>
            <a:r>
              <a:rPr lang="fr-FR" sz="2800" dirty="0"/>
              <a:t>et </a:t>
            </a:r>
            <a:r>
              <a:rPr lang="fr-FR" sz="2800" dirty="0" err="1" smtClean="0"/>
              <a:t>Pander</a:t>
            </a:r>
            <a:r>
              <a:rPr lang="fr-FR" sz="2800" dirty="0" smtClean="0"/>
              <a:t> : hématopoïétiques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/>
              <a:t>  ébauches </a:t>
            </a:r>
            <a:r>
              <a:rPr lang="fr-FR" sz="2800" dirty="0"/>
              <a:t>des vaisseaux ombilicaux </a:t>
            </a:r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La </a:t>
            </a:r>
            <a:r>
              <a:rPr lang="fr-FR" sz="2800" dirty="0" smtClean="0"/>
              <a:t>vésicule ombilicale devient</a:t>
            </a:r>
          </a:p>
          <a:p>
            <a:r>
              <a:rPr lang="fr-FR" sz="2800" dirty="0" smtClean="0"/>
              <a:t> - une </a:t>
            </a:r>
            <a:r>
              <a:rPr lang="fr-FR" sz="2800" dirty="0"/>
              <a:t>structure très </a:t>
            </a:r>
            <a:r>
              <a:rPr lang="fr-FR" sz="2800" dirty="0" smtClean="0"/>
              <a:t>réduite</a:t>
            </a:r>
          </a:p>
          <a:p>
            <a:r>
              <a:rPr lang="fr-FR" sz="2800" dirty="0" smtClean="0"/>
              <a:t> - reliée </a:t>
            </a:r>
            <a:r>
              <a:rPr lang="fr-FR" sz="2800" dirty="0"/>
              <a:t>à l'intestin primitif par le canal </a:t>
            </a:r>
            <a:r>
              <a:rPr lang="fr-FR" sz="2800" dirty="0" smtClean="0"/>
              <a:t> </a:t>
            </a:r>
            <a:r>
              <a:rPr lang="fr-FR" sz="2800" dirty="0"/>
              <a:t>vitellin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- Avec </a:t>
            </a:r>
            <a:r>
              <a:rPr lang="fr-FR" sz="2800" dirty="0"/>
              <a:t>ce dernier elle est incluse dans </a:t>
            </a:r>
            <a:r>
              <a:rPr lang="fr-FR" sz="2800" dirty="0" smtClean="0"/>
              <a:t>le cordon</a:t>
            </a:r>
            <a:endParaRPr lang="fr-FR" sz="2800" dirty="0" smtClean="0"/>
          </a:p>
          <a:p>
            <a:r>
              <a:rPr lang="fr-FR" sz="2800" dirty="0" smtClean="0"/>
              <a:t> </a:t>
            </a:r>
            <a:r>
              <a:rPr lang="fr-FR" sz="2800" dirty="0"/>
              <a:t>ombilical </a:t>
            </a:r>
            <a:r>
              <a:rPr lang="fr-FR" sz="2800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4685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26803"/>
            <a:ext cx="9756576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Arial Unicode MS" pitchFamily="34" charset="-128"/>
                <a:cs typeface="Calibri" pitchFamily="34" charset="0"/>
              </a:rPr>
              <a:t>Allantoïde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ea typeface="Arial Unicode MS" pitchFamily="34" charset="-128"/>
                <a:cs typeface="Calibri" pitchFamily="34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Arial Unicode MS" pitchFamily="34" charset="-128"/>
                <a:cs typeface="Calibri" pitchFamily="34" charset="0"/>
              </a:rPr>
              <a:t>                                      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Arial Unicode MS" pitchFamily="34" charset="-128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dérive de l’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entophylle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Arial Unicode MS" pitchFamily="34" charset="-128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doublé par du mésenchyme extra-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emb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Arial Unicode MS" pitchFamily="34" charset="-128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gonocytes primordiaux à l'origine de la lignée germinale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Les vaisseaux iliaques de l'embryon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le dispositif vasculaire 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embryo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-placentaire L'allantoïde est entraînée en position ventrale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la portion postérieure entre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Arial Unicode MS" pitchFamily="34" charset="-128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dans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la constitution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- du sinus urogénital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- de la paroi de la vessie.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780928"/>
            <a:ext cx="4629150" cy="3404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7143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Cordon </a:t>
            </a:r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ombilical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dérive du pédicule </a:t>
            </a:r>
            <a:r>
              <a:rPr lang="fr-FR" sz="2800" dirty="0" smtClean="0">
                <a:latin typeface="+mj-lt"/>
              </a:rPr>
              <a:t>ombilical ,  s'allonge </a:t>
            </a:r>
            <a:r>
              <a:rPr lang="fr-FR" sz="2800" dirty="0" smtClean="0">
                <a:latin typeface="+mj-lt"/>
              </a:rPr>
              <a:t>au fur et à mesure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qu'évolue </a:t>
            </a:r>
            <a:r>
              <a:rPr lang="fr-FR" sz="2800" dirty="0" smtClean="0">
                <a:latin typeface="+mj-lt"/>
              </a:rPr>
              <a:t>la </a:t>
            </a:r>
            <a:r>
              <a:rPr lang="fr-FR" sz="2800" dirty="0" smtClean="0">
                <a:latin typeface="+mj-lt"/>
              </a:rPr>
              <a:t>grossesse,</a:t>
            </a:r>
            <a:endParaRPr lang="fr-FR" sz="2800" dirty="0" smtClean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 mesure 50 à 60 cm de L et 2 cm de </a:t>
            </a:r>
            <a:r>
              <a:rPr lang="fr-FR" sz="2800" dirty="0" smtClean="0">
                <a:latin typeface="+mj-lt"/>
              </a:rPr>
              <a:t>Ø,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  </a:t>
            </a:r>
            <a:r>
              <a:rPr lang="fr-FR" sz="2800" dirty="0" smtClean="0">
                <a:latin typeface="+mj-lt"/>
              </a:rPr>
              <a:t>en coupe transversale: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Amnios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mésenchyme</a:t>
            </a:r>
            <a:r>
              <a:rPr lang="fr-FR" sz="2800" b="1" dirty="0" smtClean="0">
                <a:latin typeface="+mj-lt"/>
              </a:rPr>
              <a:t> </a:t>
            </a:r>
            <a:r>
              <a:rPr lang="fr-FR" sz="2800" dirty="0" smtClean="0">
                <a:latin typeface="+mj-lt"/>
              </a:rPr>
              <a:t>extra-embryonnaire: </a:t>
            </a:r>
            <a:r>
              <a:rPr lang="fr-FR" sz="2800" dirty="0" smtClean="0">
                <a:latin typeface="+mj-lt"/>
              </a:rPr>
              <a:t>gelée de </a:t>
            </a:r>
            <a:r>
              <a:rPr lang="fr-FR" sz="2800" dirty="0" smtClean="0">
                <a:latin typeface="+mj-lt"/>
              </a:rPr>
              <a:t>Wharton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Deux artères allantoïdiennes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Une veine allantoïdienne </a:t>
            </a:r>
          </a:p>
          <a:p>
            <a:r>
              <a:rPr lang="fr-FR" sz="2800" dirty="0" smtClean="0">
                <a:latin typeface="+mj-lt"/>
              </a:rPr>
              <a:t>peut présenter des anomalies de </a:t>
            </a:r>
            <a:r>
              <a:rPr lang="fr-FR" sz="2800" dirty="0" smtClean="0">
                <a:latin typeface="+mj-lt"/>
              </a:rPr>
              <a:t>longueur ou des  anomalies</a:t>
            </a:r>
          </a:p>
          <a:p>
            <a:r>
              <a:rPr lang="fr-FR" sz="2800" dirty="0" smtClean="0">
                <a:latin typeface="+mj-lt"/>
              </a:rPr>
              <a:t> vasculaires</a:t>
            </a:r>
          </a:p>
          <a:p>
            <a:r>
              <a:rPr lang="fr-FR" sz="2800" dirty="0" smtClean="0">
                <a:latin typeface="+mj-lt"/>
              </a:rPr>
              <a:t>Rôles</a:t>
            </a:r>
            <a:endParaRPr lang="fr-FR" sz="28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+mj-lt"/>
              </a:rPr>
              <a:t> véhiculer le sang chargé en CO2  et déchets vers le placenta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par </a:t>
            </a:r>
            <a:r>
              <a:rPr lang="fr-FR" sz="2800" dirty="0">
                <a:latin typeface="+mj-lt"/>
              </a:rPr>
              <a:t>les artères ombilicales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+mj-lt"/>
              </a:rPr>
              <a:t>véhiculer le sang riche en O2 + nutriments vers le fœtus </a:t>
            </a:r>
            <a:r>
              <a:rPr lang="fr-FR" sz="2800" dirty="0" smtClean="0">
                <a:latin typeface="+mj-lt"/>
              </a:rPr>
              <a:t>par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la veine ombilicale. </a:t>
            </a:r>
          </a:p>
          <a:p>
            <a:endParaRPr lang="fr-FR" sz="2800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1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LE PLACENTA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Caractéristiques</a:t>
            </a:r>
          </a:p>
          <a:p>
            <a:r>
              <a:rPr lang="fr-FR" sz="2800" b="1" dirty="0" smtClean="0"/>
              <a:t>Discoïdal</a:t>
            </a:r>
            <a:r>
              <a:rPr lang="fr-FR" sz="2800" dirty="0" smtClean="0"/>
              <a:t> </a:t>
            </a:r>
            <a:r>
              <a:rPr lang="fr-FR" sz="2800" dirty="0"/>
              <a:t>: en forme de </a:t>
            </a:r>
            <a:r>
              <a:rPr lang="fr-FR" sz="2800" dirty="0" smtClean="0"/>
              <a:t>disque</a:t>
            </a:r>
          </a:p>
          <a:p>
            <a:r>
              <a:rPr lang="fr-FR" sz="2800" b="1" dirty="0" smtClean="0"/>
              <a:t>Villeux: </a:t>
            </a:r>
            <a:r>
              <a:rPr lang="fr-FR" sz="2800" dirty="0" smtClean="0"/>
              <a:t>formé de villosités</a:t>
            </a:r>
            <a:endParaRPr lang="fr-FR" sz="2800" b="1" dirty="0" smtClean="0"/>
          </a:p>
          <a:p>
            <a:r>
              <a:rPr lang="fr-FR" sz="2800" b="1" dirty="0" smtClean="0"/>
              <a:t>Pseudo-cotylédoné</a:t>
            </a:r>
            <a:r>
              <a:rPr lang="fr-FR" sz="2800" dirty="0" smtClean="0"/>
              <a:t> </a:t>
            </a:r>
            <a:r>
              <a:rPr lang="fr-FR" sz="2800" dirty="0"/>
              <a:t>: les villosités </a:t>
            </a:r>
            <a:r>
              <a:rPr lang="fr-FR" sz="2800" dirty="0" smtClean="0"/>
              <a:t>placentaires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sont </a:t>
            </a:r>
            <a:r>
              <a:rPr lang="fr-FR" sz="2800" dirty="0" smtClean="0"/>
              <a:t>des cotylédons</a:t>
            </a:r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b="1" dirty="0" smtClean="0"/>
              <a:t>Décidual</a:t>
            </a:r>
            <a:r>
              <a:rPr lang="fr-FR" sz="2800" dirty="0" smtClean="0"/>
              <a:t> </a:t>
            </a:r>
            <a:r>
              <a:rPr lang="fr-FR" sz="2800" dirty="0"/>
              <a:t>: son expulsion entraîne la perte </a:t>
            </a:r>
            <a:r>
              <a:rPr lang="fr-FR" sz="2800" dirty="0" smtClean="0"/>
              <a:t>d'une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partie de la muqueuse </a:t>
            </a:r>
            <a:r>
              <a:rPr lang="fr-FR" sz="2800" dirty="0" smtClean="0"/>
              <a:t>utérine: </a:t>
            </a:r>
            <a:r>
              <a:rPr lang="fr-FR" sz="2800" b="1" dirty="0" smtClean="0"/>
              <a:t>décidues</a:t>
            </a:r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b="1" dirty="0" err="1" smtClean="0"/>
              <a:t>Hémochorial</a:t>
            </a:r>
            <a:r>
              <a:rPr lang="fr-FR" sz="2800" dirty="0" smtClean="0"/>
              <a:t> </a:t>
            </a:r>
            <a:r>
              <a:rPr lang="fr-FR" sz="2800" dirty="0"/>
              <a:t>: le trophoblaste entre </a:t>
            </a:r>
            <a:r>
              <a:rPr lang="fr-FR" sz="2800" dirty="0" smtClean="0"/>
              <a:t>au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contact du sang maternel</a:t>
            </a:r>
          </a:p>
          <a:p>
            <a:r>
              <a:rPr lang="fr-FR" sz="2800" dirty="0" smtClean="0"/>
              <a:t> </a:t>
            </a:r>
            <a:r>
              <a:rPr lang="fr-FR" sz="2800" b="1" dirty="0" err="1" smtClean="0"/>
              <a:t>Chorio</a:t>
            </a:r>
            <a:r>
              <a:rPr lang="fr-FR" sz="2800" b="1" dirty="0" smtClean="0"/>
              <a:t>-allantoïdien</a:t>
            </a:r>
            <a:r>
              <a:rPr lang="fr-FR" sz="2800" dirty="0" smtClean="0"/>
              <a:t> </a:t>
            </a:r>
            <a:r>
              <a:rPr lang="fr-FR" sz="2800" dirty="0"/>
              <a:t>: la circulation </a:t>
            </a:r>
            <a:r>
              <a:rPr lang="fr-FR" sz="2800" dirty="0" smtClean="0"/>
              <a:t>placentaire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(choriale) est reliée à la circulation </a:t>
            </a:r>
            <a:r>
              <a:rPr lang="fr-FR" sz="2800" dirty="0" smtClean="0"/>
              <a:t>fœtale</a:t>
            </a:r>
          </a:p>
          <a:p>
            <a:r>
              <a:rPr lang="fr-FR" sz="2800" dirty="0"/>
              <a:t> </a:t>
            </a:r>
            <a:r>
              <a:rPr lang="fr-FR" sz="2800" dirty="0" smtClean="0"/>
              <a:t>par les vaisseaux allantoïdiens</a:t>
            </a:r>
            <a:endParaRPr lang="fr-FR" sz="28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67526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836712"/>
            <a:ext cx="4032448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052736"/>
            <a:ext cx="4392488" cy="537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187624" y="6165304"/>
            <a:ext cx="7200800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        FACE FŒTALE                                      FACE MATERNELLE     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51520" y="332656"/>
            <a:ext cx="1573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Structure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9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381642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Résultat de recherche d'images pour &quot;le placenta formation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836712"/>
            <a:ext cx="4572000" cy="2636912"/>
          </a:xfrm>
          <a:prstGeom prst="rect">
            <a:avLst/>
          </a:prstGeom>
          <a:noFill/>
        </p:spPr>
      </p:pic>
      <p:pic>
        <p:nvPicPr>
          <p:cNvPr id="5" name="Picture 2" descr="https://upload.wikimedia.org/wikipedia/commons/thumb/f/f1/Placenta.svg/220px-Placenta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3429000"/>
            <a:ext cx="3923928" cy="30243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27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7632848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7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9653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+mj-lt"/>
              </a:rPr>
              <a:t>Syncitiotrophoblaste + </a:t>
            </a:r>
            <a:r>
              <a:rPr lang="fr-FR" sz="2800" dirty="0" smtClean="0">
                <a:latin typeface="+mj-lt"/>
              </a:rPr>
              <a:t>cytotrophoblaste: </a:t>
            </a:r>
            <a:r>
              <a:rPr lang="fr-FR" sz="2800" b="1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villosité primaire</a:t>
            </a:r>
            <a:endParaRPr lang="fr-FR" sz="2800" b="1" baseline="30000" dirty="0" smtClean="0">
              <a:solidFill>
                <a:srgbClr val="00B050"/>
              </a:solidFill>
              <a:latin typeface="+mj-lt"/>
            </a:endParaRPr>
          </a:p>
          <a:p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A partir du 13</a:t>
            </a:r>
            <a:r>
              <a:rPr lang="fr-FR" sz="2800" baseline="30000" dirty="0" smtClean="0">
                <a:solidFill>
                  <a:srgbClr val="FF0000"/>
                </a:solidFill>
                <a:latin typeface="+mj-lt"/>
              </a:rPr>
              <a:t>éme</a:t>
            </a:r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 jour</a:t>
            </a:r>
          </a:p>
          <a:p>
            <a:r>
              <a:rPr lang="fr-FR" sz="2800" dirty="0" smtClean="0">
                <a:latin typeface="+mj-lt"/>
              </a:rPr>
              <a:t>Les colonnes syncitiales ouvrent les </a:t>
            </a:r>
            <a:r>
              <a:rPr lang="fr-FR" sz="2800" dirty="0" smtClean="0">
                <a:latin typeface="+mj-lt"/>
              </a:rPr>
              <a:t>vaisseaux maternels </a:t>
            </a:r>
            <a:r>
              <a:rPr lang="fr-FR" sz="2800" dirty="0" smtClean="0">
                <a:latin typeface="+mj-lt"/>
              </a:rPr>
              <a:t>: </a:t>
            </a:r>
          </a:p>
          <a:p>
            <a:r>
              <a:rPr lang="fr-FR" sz="2800" b="1" dirty="0" smtClean="0">
                <a:solidFill>
                  <a:schemeClr val="tx2"/>
                </a:solidFill>
                <a:latin typeface="+mj-lt"/>
              </a:rPr>
              <a:t>              circulation maternelle placentaire</a:t>
            </a:r>
            <a:r>
              <a:rPr lang="fr-FR" sz="2800" dirty="0" smtClean="0">
                <a:solidFill>
                  <a:schemeClr val="tx2"/>
                </a:solidFill>
                <a:latin typeface="+mj-lt"/>
              </a:rPr>
              <a:t>.</a:t>
            </a:r>
          </a:p>
          <a:p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A la fin de la 3</a:t>
            </a:r>
            <a:r>
              <a:rPr lang="fr-FR" sz="2800" baseline="30000" dirty="0" smtClean="0">
                <a:solidFill>
                  <a:srgbClr val="FF0000"/>
                </a:solidFill>
                <a:latin typeface="+mj-lt"/>
              </a:rPr>
              <a:t>éme</a:t>
            </a:r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 semaine </a:t>
            </a:r>
          </a:p>
          <a:p>
            <a:r>
              <a:rPr lang="fr-FR" sz="2800" dirty="0" smtClean="0">
                <a:latin typeface="+mj-lt"/>
              </a:rPr>
              <a:t>+ mésenchyme de la lame </a:t>
            </a:r>
            <a:r>
              <a:rPr lang="fr-FR" sz="2800" dirty="0" smtClean="0">
                <a:latin typeface="+mj-lt"/>
              </a:rPr>
              <a:t>choriale: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villosité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secondaire</a:t>
            </a:r>
            <a:endParaRPr lang="fr-FR" sz="2800" dirty="0" smtClean="0">
              <a:solidFill>
                <a:srgbClr val="00B050"/>
              </a:solidFill>
              <a:latin typeface="+mj-lt"/>
            </a:endParaRPr>
          </a:p>
          <a:p>
            <a:r>
              <a:rPr lang="fr-FR" sz="2800" dirty="0" smtClean="0">
                <a:latin typeface="+mj-lt"/>
              </a:rPr>
              <a:t>+ </a:t>
            </a:r>
            <a:r>
              <a:rPr lang="fr-FR" sz="2800" dirty="0" smtClean="0">
                <a:latin typeface="+mj-lt"/>
              </a:rPr>
              <a:t>des ébauches </a:t>
            </a:r>
            <a:r>
              <a:rPr lang="fr-FR" sz="2800" dirty="0" smtClean="0">
                <a:latin typeface="+mj-lt"/>
              </a:rPr>
              <a:t>vasculaires:    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villosités tertiaire</a:t>
            </a:r>
          </a:p>
          <a:p>
            <a:endParaRPr lang="fr-FR" sz="3600" b="1" dirty="0"/>
          </a:p>
          <a:p>
            <a:r>
              <a:rPr lang="fr-FR" sz="2800" dirty="0" smtClean="0">
                <a:solidFill>
                  <a:srgbClr val="FF0000"/>
                </a:solidFill>
              </a:rPr>
              <a:t>Au </a:t>
            </a:r>
            <a:r>
              <a:rPr lang="fr-FR" sz="2800" dirty="0">
                <a:solidFill>
                  <a:srgbClr val="FF0000"/>
                </a:solidFill>
              </a:rPr>
              <a:t>21ème  jour</a:t>
            </a:r>
          </a:p>
          <a:p>
            <a:r>
              <a:rPr lang="fr-FR" sz="2800" dirty="0"/>
              <a:t> Anastomose entre le réseau vasculaire intra- villositaire  et les  vaisseaux </a:t>
            </a:r>
            <a:r>
              <a:rPr lang="fr-FR" sz="2800" dirty="0" smtClean="0"/>
              <a:t>ombilico-allantoïdien: </a:t>
            </a:r>
            <a:endParaRPr lang="fr-FR" sz="2800" dirty="0"/>
          </a:p>
          <a:p>
            <a:r>
              <a:rPr lang="fr-FR" sz="2800" dirty="0"/>
              <a:t>              </a:t>
            </a:r>
            <a:r>
              <a:rPr lang="fr-FR" sz="2800" dirty="0">
                <a:solidFill>
                  <a:srgbClr val="002060"/>
                </a:solidFill>
              </a:rPr>
              <a:t>circulation fœtale placentaire</a:t>
            </a:r>
          </a:p>
          <a:p>
            <a:r>
              <a:rPr lang="fr-FR" sz="2800" dirty="0" smtClean="0"/>
              <a:t>                          </a:t>
            </a:r>
            <a:endParaRPr lang="fr-FR" sz="28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0788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551" y="-2154435"/>
            <a:ext cx="9144000" cy="784830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Du 2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ème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au 4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éme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mois :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villosité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arboriforme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=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                 Villosité</a:t>
            </a:r>
            <a:r>
              <a:rPr lang="fr-FR" sz="2800" b="1" dirty="0" smtClean="0">
                <a:solidFill>
                  <a:srgbClr val="0070C0"/>
                </a:solidFill>
                <a:latin typeface="+mj-lt"/>
                <a:ea typeface="Times New Roman" pitchFamily="18" charset="0"/>
                <a:cs typeface="Calibri" pitchFamily="34" charset="0"/>
              </a:rPr>
              <a:t>s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crampons</a:t>
            </a:r>
            <a:r>
              <a:rPr lang="fr-FR" sz="2800" b="1" dirty="0" smtClean="0">
                <a:solidFill>
                  <a:srgbClr val="0070C0"/>
                </a:solidFill>
                <a:latin typeface="+mj-lt"/>
                <a:ea typeface="Times New Roman" pitchFamily="18" charset="0"/>
                <a:cs typeface="Calibri" pitchFamily="34" charset="0"/>
              </a:rPr>
              <a:t>      +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  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illosités flottantes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.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Le sang fœtal dans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l'espace intra – villeux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Le sang maternel dans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chambre inter- villeuse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L'ensemble des villosités =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arbre 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villositaire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• 20 à 30 gros troncs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villositaires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=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cotylédons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>
                <a:tab pos="571500" algn="l"/>
              </a:tabLst>
            </a:pPr>
            <a:r>
              <a:rPr lang="fr-FR" sz="2800" b="1" dirty="0" smtClean="0"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lang="fr-FR" sz="2800" dirty="0" smtClean="0">
                <a:latin typeface="+mj-lt"/>
                <a:ea typeface="Times New Roman" pitchFamily="18" charset="0"/>
                <a:cs typeface="Calibri" pitchFamily="34" charset="0"/>
              </a:rPr>
              <a:t>entre 2 troncs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des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septa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inter-cotylédonaires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r>
              <a:rPr lang="fr-FR" sz="2800" dirty="0"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lang="fr-FR" sz="2800" dirty="0" smtClean="0">
                <a:latin typeface="+mj-lt"/>
                <a:ea typeface="Times New Roman" pitchFamily="18" charset="0"/>
                <a:cs typeface="Calibri" pitchFamily="34" charset="0"/>
              </a:rPr>
              <a:t>                   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= placenta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pseudo cotylédoné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endParaRPr lang="fr-FR" sz="2800" dirty="0">
              <a:latin typeface="+mj-lt"/>
              <a:cs typeface="Calibri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r>
              <a:rPr lang="fr-FR" sz="2800" dirty="0" smtClean="0">
                <a:latin typeface="+mj-lt"/>
                <a:cs typeface="Arial" pitchFamily="34" charset="0"/>
              </a:rPr>
              <a:t>le placenta est constitué:</a:t>
            </a:r>
            <a:endParaRPr lang="fr-FR" sz="2800" dirty="0">
              <a:latin typeface="+mj-lt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endParaRPr lang="fr-FR" sz="2800" dirty="0">
              <a:latin typeface="+mj-lt"/>
              <a:cs typeface="Arial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571500" algn="l"/>
              </a:tabLst>
            </a:pPr>
            <a:r>
              <a:rPr lang="fr-FR" sz="2800" dirty="0">
                <a:latin typeface="+mj-lt"/>
                <a:cs typeface="Arial" pitchFamily="34" charset="0"/>
              </a:rPr>
              <a:t>  </a:t>
            </a:r>
            <a:r>
              <a:rPr lang="fr-FR" sz="2800" dirty="0" smtClean="0">
                <a:latin typeface="+mj-lt"/>
                <a:cs typeface="Arial" pitchFamily="34" charset="0"/>
              </a:rPr>
              <a:t>plaque </a:t>
            </a:r>
            <a:r>
              <a:rPr lang="fr-FR" sz="2800" dirty="0">
                <a:latin typeface="+mj-lt"/>
                <a:cs typeface="Arial" pitchFamily="34" charset="0"/>
              </a:rPr>
              <a:t>basale du coté maternel.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endParaRPr lang="fr-FR" sz="2800" dirty="0">
              <a:latin typeface="+mj-lt"/>
              <a:cs typeface="Arial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571500" algn="l"/>
              </a:tabLst>
            </a:pPr>
            <a:r>
              <a:rPr lang="fr-FR" sz="2800" dirty="0">
                <a:latin typeface="+mj-lt"/>
                <a:cs typeface="Arial" pitchFamily="34" charset="0"/>
              </a:rPr>
              <a:t>  </a:t>
            </a:r>
            <a:r>
              <a:rPr lang="fr-FR" sz="2800" dirty="0" smtClean="0">
                <a:latin typeface="+mj-lt"/>
                <a:cs typeface="Arial" pitchFamily="34" charset="0"/>
              </a:rPr>
              <a:t> </a:t>
            </a:r>
            <a:r>
              <a:rPr lang="fr-FR" sz="2800" dirty="0">
                <a:latin typeface="+mj-lt"/>
                <a:cs typeface="Arial" pitchFamily="34" charset="0"/>
              </a:rPr>
              <a:t>plaque choriale du coté fœtal.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endParaRPr lang="fr-FR" sz="2800" dirty="0">
              <a:latin typeface="+mj-lt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r>
              <a:rPr lang="fr-FR" sz="2800" dirty="0">
                <a:latin typeface="+mj-lt"/>
                <a:cs typeface="Arial" pitchFamily="34" charset="0"/>
              </a:rPr>
              <a:t> entre les deux, la chambre intervilleuse et </a:t>
            </a:r>
            <a:r>
              <a:rPr lang="fr-FR" sz="2800" dirty="0" smtClean="0">
                <a:latin typeface="+mj-lt"/>
                <a:cs typeface="Arial" pitchFamily="34" charset="0"/>
              </a:rPr>
              <a:t>les  </a:t>
            </a:r>
            <a:r>
              <a:rPr lang="fr-FR" sz="2800" dirty="0">
                <a:latin typeface="+mj-lt"/>
                <a:cs typeface="Arial" pitchFamily="34" charset="0"/>
              </a:rPr>
              <a:t>villosités choriales.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3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29000"/>
            <a:ext cx="9144000" cy="446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478802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683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708920"/>
            <a:ext cx="445425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" y="1628800"/>
            <a:ext cx="42839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La plaque basale :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Partie externe du placenta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Au contact de la paroi utérine (8)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formée par : </a:t>
            </a:r>
          </a:p>
          <a:p>
            <a:r>
              <a:rPr lang="fr-FR" sz="2400" dirty="0" smtClean="0"/>
              <a:t> Tissus embryonnaires : </a:t>
            </a:r>
          </a:p>
          <a:p>
            <a:r>
              <a:rPr lang="fr-FR" sz="2400" b="1" dirty="0" err="1" smtClean="0"/>
              <a:t>Cyto</a:t>
            </a:r>
            <a:r>
              <a:rPr lang="fr-FR" sz="2400" b="1" dirty="0" smtClean="0"/>
              <a:t> + </a:t>
            </a:r>
            <a:r>
              <a:rPr lang="fr-FR" sz="2400" b="1" dirty="0" err="1" smtClean="0"/>
              <a:t>syncitio</a:t>
            </a:r>
            <a:r>
              <a:rPr lang="fr-FR" sz="2400" b="1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Des tissus maternels : </a:t>
            </a:r>
          </a:p>
          <a:p>
            <a:r>
              <a:rPr lang="fr-FR" sz="2400" b="1" dirty="0" smtClean="0"/>
              <a:t>caduque basilaire (7) </a:t>
            </a:r>
          </a:p>
          <a:p>
            <a:endParaRPr lang="fr-FR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157192"/>
            <a:ext cx="8676456" cy="149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0"/>
            <a:ext cx="4788024" cy="2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1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82293" cy="7171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Organisation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a-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avilleux</a:t>
            </a:r>
            <a:r>
              <a:rPr lang="fr-FR" sz="2800" b="1" dirty="0" smtClean="0"/>
              <a:t>: </a:t>
            </a:r>
            <a:r>
              <a:rPr lang="fr-FR" sz="2800" dirty="0" smtClean="0"/>
              <a:t>le syncitiotrophoblaste est</a:t>
            </a:r>
          </a:p>
          <a:p>
            <a:r>
              <a:rPr lang="fr-FR" sz="2800" dirty="0" smtClean="0"/>
              <a:t> localisé à l'un des pôles  de</a:t>
            </a:r>
            <a:r>
              <a:rPr lang="fr-FR" sz="2800" b="1" dirty="0" smtClean="0"/>
              <a:t> l</a:t>
            </a:r>
            <a:r>
              <a:rPr lang="fr-FR" sz="2800" dirty="0" smtClean="0"/>
              <a:t>'œuf.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b-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</a:t>
            </a:r>
            <a:r>
              <a:rPr lang="fr-FR" sz="2800" b="1" dirty="0" err="1" smtClean="0">
                <a:solidFill>
                  <a:srgbClr val="00B050"/>
                </a:solidFill>
              </a:rPr>
              <a:t>avilleux</a:t>
            </a:r>
            <a:r>
              <a:rPr lang="fr-FR" sz="2800" b="1" dirty="0" smtClean="0">
                <a:solidFill>
                  <a:srgbClr val="00B050"/>
                </a:solidFill>
              </a:rPr>
              <a:t>, fruste lacunaire</a:t>
            </a:r>
            <a:r>
              <a:rPr lang="fr-FR" sz="2800" b="1" dirty="0" smtClean="0"/>
              <a:t>: </a:t>
            </a:r>
            <a:r>
              <a:rPr lang="fr-FR" sz="2800" dirty="0" smtClean="0"/>
              <a:t>le </a:t>
            </a:r>
            <a:r>
              <a:rPr lang="fr-FR" sz="2800" dirty="0" err="1" smtClean="0"/>
              <a:t>syncitiotropho</a:t>
            </a:r>
            <a:endParaRPr lang="fr-FR" sz="2800" dirty="0" smtClean="0"/>
          </a:p>
          <a:p>
            <a:r>
              <a:rPr lang="fr-FR" sz="2800" dirty="0" smtClean="0"/>
              <a:t>blaste recouvre toute la surface de l'œuf. </a:t>
            </a:r>
          </a:p>
          <a:p>
            <a:endParaRPr lang="fr-FR" sz="2800" dirty="0" smtClean="0"/>
          </a:p>
          <a:p>
            <a:r>
              <a:rPr lang="fr-FR" sz="2800" dirty="0" smtClean="0"/>
              <a:t>c-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</a:t>
            </a:r>
            <a:r>
              <a:rPr lang="fr-FR" sz="2800" b="1" dirty="0" err="1" smtClean="0">
                <a:solidFill>
                  <a:srgbClr val="00B050"/>
                </a:solidFill>
              </a:rPr>
              <a:t>trabéculaire</a:t>
            </a:r>
            <a:r>
              <a:rPr lang="fr-FR" sz="2800" b="1" dirty="0" smtClean="0"/>
              <a:t>: </a:t>
            </a:r>
            <a:r>
              <a:rPr lang="fr-FR" sz="2800" dirty="0" smtClean="0"/>
              <a:t>villosités </a:t>
            </a:r>
            <a:r>
              <a:rPr lang="fr-FR" sz="2800" dirty="0" err="1" smtClean="0"/>
              <a:t>I</a:t>
            </a:r>
            <a:r>
              <a:rPr lang="fr-FR" sz="2800" baseline="30000" dirty="0" err="1" smtClean="0"/>
              <a:t>aires</a:t>
            </a:r>
            <a:r>
              <a:rPr lang="fr-FR" sz="2800" baseline="30000" dirty="0" smtClean="0"/>
              <a:t>.</a:t>
            </a:r>
            <a:endParaRPr lang="fr-FR" sz="2800" dirty="0" smtClean="0"/>
          </a:p>
          <a:p>
            <a:r>
              <a:rPr lang="fr-FR" sz="2800" dirty="0" smtClean="0"/>
              <a:t>d-</a:t>
            </a: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Chorion villeux diffus </a:t>
            </a:r>
            <a:r>
              <a:rPr lang="fr-FR" sz="2800" b="1" dirty="0" smtClean="0"/>
              <a:t>:</a:t>
            </a:r>
            <a:r>
              <a:rPr lang="fr-FR" sz="2800" dirty="0" smtClean="0"/>
              <a:t>villosités </a:t>
            </a:r>
            <a:r>
              <a:rPr lang="fr-FR" sz="2800" dirty="0" err="1" smtClean="0"/>
              <a:t>II</a:t>
            </a:r>
            <a:r>
              <a:rPr lang="fr-FR" sz="2800" baseline="30000" dirty="0" err="1" smtClean="0"/>
              <a:t>aires</a:t>
            </a:r>
            <a:r>
              <a:rPr lang="fr-FR" sz="2800" dirty="0" smtClean="0"/>
              <a:t> et </a:t>
            </a:r>
            <a:r>
              <a:rPr lang="fr-FR" sz="2800" dirty="0" err="1" smtClean="0"/>
              <a:t>III</a:t>
            </a:r>
            <a:r>
              <a:rPr lang="fr-FR" sz="2800" baseline="30000" dirty="0" err="1" smtClean="0"/>
              <a:t>aires</a:t>
            </a:r>
            <a:r>
              <a:rPr lang="fr-FR" sz="2800" baseline="30000" dirty="0" smtClean="0"/>
              <a:t>.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               </a:t>
            </a:r>
            <a:endParaRPr lang="fr-FR" sz="2800" dirty="0" smtClean="0"/>
          </a:p>
          <a:p>
            <a:r>
              <a:rPr lang="fr-FR" sz="2800" dirty="0" smtClean="0"/>
              <a:t>e-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diffus et chorion touffu</a:t>
            </a:r>
            <a:r>
              <a:rPr lang="fr-FR" sz="2800" b="1" dirty="0" smtClean="0"/>
              <a:t>:                                                      </a:t>
            </a:r>
            <a:endParaRPr lang="fr-FR" sz="2800" dirty="0" smtClean="0"/>
          </a:p>
          <a:p>
            <a:r>
              <a:rPr lang="fr-FR" sz="2800" dirty="0" smtClean="0"/>
              <a:t>répartition inégale des villosités </a:t>
            </a:r>
            <a:r>
              <a:rPr lang="fr-FR" sz="2800" dirty="0" err="1" smtClean="0"/>
              <a:t>III</a:t>
            </a:r>
            <a:r>
              <a:rPr lang="fr-FR" sz="2800" baseline="30000" dirty="0" err="1" smtClean="0"/>
              <a:t>aires</a:t>
            </a:r>
            <a:r>
              <a:rPr lang="fr-FR" sz="2800" baseline="30000" dirty="0" smtClean="0"/>
              <a:t>.</a:t>
            </a:r>
          </a:p>
          <a:p>
            <a:r>
              <a:rPr lang="fr-FR" sz="2800" dirty="0" smtClean="0"/>
              <a:t>f- </a:t>
            </a:r>
            <a:r>
              <a:rPr lang="fr-FR" sz="2800" b="1" dirty="0" smtClean="0">
                <a:solidFill>
                  <a:srgbClr val="00B050"/>
                </a:solidFill>
              </a:rPr>
              <a:t>Placenta et chorion lisse</a:t>
            </a:r>
            <a:r>
              <a:rPr lang="fr-FR" sz="2800" b="1" dirty="0" smtClean="0"/>
              <a:t>: </a:t>
            </a:r>
            <a:r>
              <a:rPr lang="fr-FR" sz="2800" dirty="0" smtClean="0"/>
              <a:t>regroupement des</a:t>
            </a:r>
          </a:p>
          <a:p>
            <a:r>
              <a:rPr lang="fr-FR" sz="2800" dirty="0" smtClean="0"/>
              <a:t> villosités sur un coté.</a:t>
            </a:r>
            <a:r>
              <a:rPr lang="fr-FR" sz="2800" b="1" dirty="0" smtClean="0"/>
              <a:t> </a:t>
            </a:r>
          </a:p>
          <a:p>
            <a:r>
              <a:rPr lang="fr-FR" sz="3200" b="1" dirty="0" smtClean="0"/>
              <a:t>                    </a:t>
            </a:r>
            <a:endParaRPr lang="fr-FR" sz="3200" dirty="0" smtClean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2110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s://encrypted-tbn0.gstatic.com/images?q=tbn:ANd9GcTizIzoTC3umQ4T0htJOFcp_A0Pp7C9LKqO1qJOwm_k2XQL43axl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1323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14437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Fonctions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Filtre </a:t>
            </a:r>
            <a:r>
              <a:rPr lang="fr-FR" sz="2800" b="1" dirty="0" smtClean="0"/>
              <a:t>sélectif </a:t>
            </a:r>
            <a:r>
              <a:rPr lang="fr-FR" sz="2800" dirty="0" smtClean="0"/>
              <a:t>: Sélectionne </a:t>
            </a:r>
            <a:r>
              <a:rPr lang="fr-FR" sz="2800" dirty="0" smtClean="0"/>
              <a:t>les molécules selon:</a:t>
            </a:r>
          </a:p>
          <a:p>
            <a:r>
              <a:rPr lang="fr-FR" sz="2800" dirty="0" smtClean="0"/>
              <a:t>- leurs tailles</a:t>
            </a:r>
          </a:p>
          <a:p>
            <a:r>
              <a:rPr lang="fr-FR" sz="2800" dirty="0" smtClean="0"/>
              <a:t>- leurs charges électriques</a:t>
            </a:r>
          </a:p>
          <a:p>
            <a:r>
              <a:rPr lang="fr-FR" sz="2800" dirty="0" smtClean="0"/>
              <a:t>- leurs configurations spatiales.</a:t>
            </a:r>
          </a:p>
          <a:p>
            <a:pPr>
              <a:buFontTx/>
              <a:buChar char="-"/>
            </a:pPr>
            <a:r>
              <a:rPr lang="fr-FR" sz="2800" dirty="0" smtClean="0"/>
              <a:t>Ce filtre est imparfait: bactéries, virus, parasites</a:t>
            </a:r>
          </a:p>
          <a:p>
            <a:pPr>
              <a:buFontTx/>
              <a:buChar char="-"/>
            </a:pPr>
            <a:r>
              <a:rPr lang="fr-FR" sz="2800" dirty="0" smtClean="0"/>
              <a:t>cellules </a:t>
            </a:r>
            <a:r>
              <a:rPr lang="fr-FR" sz="2800" dirty="0" smtClean="0"/>
              <a:t>fœtales</a:t>
            </a:r>
          </a:p>
          <a:p>
            <a:r>
              <a:rPr lang="fr-FR" sz="2800" b="1" dirty="0"/>
              <a:t>Propriétés d'échanges </a:t>
            </a:r>
            <a:r>
              <a:rPr lang="fr-FR" sz="2800" dirty="0"/>
              <a:t>:</a:t>
            </a:r>
          </a:p>
          <a:p>
            <a:r>
              <a:rPr lang="fr-FR" sz="2800" dirty="0"/>
              <a:t>Le placenta extrait du sang transforme distribue et peut </a:t>
            </a:r>
            <a:r>
              <a:rPr lang="fr-FR" sz="2800" dirty="0" smtClean="0"/>
              <a:t>stocker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les matériaux utiles au fœtus, </a:t>
            </a:r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10696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24528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2800" b="1" dirty="0" smtClean="0"/>
              <a:t>Fonction endocrine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 placenta est une volumineuse glande endocrine.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Les hormones sont nécessaires: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maintien de la grossesse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croissance du fœtus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lactation.</a:t>
            </a: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Progestérone </a:t>
            </a:r>
            <a:r>
              <a:rPr lang="fr-FR" sz="2800" dirty="0" smtClean="0"/>
              <a:t>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Maintien au repos du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Œstrogènes </a:t>
            </a:r>
            <a:r>
              <a:rPr lang="fr-FR" sz="2800" dirty="0" smtClean="0"/>
              <a:t>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développement de la glande </a:t>
            </a:r>
            <a:r>
              <a:rPr lang="fr-FR" sz="2800" dirty="0" smtClean="0"/>
              <a:t>mammaire</a:t>
            </a: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Hormone chorionique gonadotrophique (hCG)</a:t>
            </a:r>
          </a:p>
          <a:p>
            <a:pPr lvl="0"/>
            <a:r>
              <a:rPr lang="fr-FR" sz="2800" dirty="0"/>
              <a:t>transformer le CJ cyclique  en CJ gravidique </a:t>
            </a:r>
          </a:p>
          <a:p>
            <a:pPr lvl="0"/>
            <a:r>
              <a:rPr lang="fr-FR" sz="2800" dirty="0"/>
              <a:t>stimuler la synthèse de progestérone.</a:t>
            </a: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Hormone lactogène placentaire (hPL)</a:t>
            </a:r>
          </a:p>
          <a:p>
            <a:pPr lvl="0"/>
            <a:r>
              <a:rPr lang="fr-FR" sz="2800" dirty="0"/>
              <a:t>préparer la glande mammaire à la lactation</a:t>
            </a:r>
          </a:p>
          <a:p>
            <a:pPr lvl="0"/>
            <a:r>
              <a:rPr lang="fr-FR" sz="2800" dirty="0"/>
              <a:t>agit aussi sur la croissance fœtale.</a:t>
            </a:r>
          </a:p>
          <a:p>
            <a:pPr lvl="0"/>
            <a:endParaRPr lang="fr-FR" sz="2800" dirty="0"/>
          </a:p>
          <a:p>
            <a:pPr lvl="0"/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15646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24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685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68560" y="0"/>
            <a:ext cx="9001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187624" y="404664"/>
            <a:ext cx="331236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-468560" y="-11759"/>
            <a:ext cx="1915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Pathologies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22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9143999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5112" y="188640"/>
            <a:ext cx="2569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Placenta </a:t>
            </a:r>
            <a:r>
              <a:rPr lang="fr-FR" sz="2800" b="1" dirty="0" smtClean="0">
                <a:solidFill>
                  <a:srgbClr val="00B0F0"/>
                </a:solidFill>
              </a:rPr>
              <a:t>prævia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99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705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-78769" y="195027"/>
            <a:ext cx="384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Hématome </a:t>
            </a:r>
            <a:r>
              <a:rPr lang="fr-FR" sz="2400" b="1" dirty="0" smtClean="0">
                <a:solidFill>
                  <a:srgbClr val="00B0F0"/>
                </a:solidFill>
              </a:rPr>
              <a:t>rétro-placentaire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060848"/>
            <a:ext cx="3528392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6769" y="1268760"/>
            <a:ext cx="908723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Le </a:t>
            </a:r>
            <a:r>
              <a:rPr lang="fr-FR" sz="2800" b="1" dirty="0" smtClean="0"/>
              <a:t>placenta </a:t>
            </a:r>
            <a:r>
              <a:rPr lang="fr-FR" sz="2800" b="1" dirty="0" err="1" smtClean="0"/>
              <a:t>accreta</a:t>
            </a:r>
            <a:r>
              <a:rPr lang="fr-FR" sz="2800" dirty="0" smtClean="0"/>
              <a:t> est une insertion</a:t>
            </a:r>
          </a:p>
          <a:p>
            <a:r>
              <a:rPr lang="fr-FR" sz="2800" dirty="0" smtClean="0"/>
              <a:t> du </a:t>
            </a:r>
            <a:r>
              <a:rPr lang="fr-FR" sz="2800" dirty="0" smtClean="0">
                <a:hlinkClick r:id="rId2" tooltip="Placenta"/>
              </a:rPr>
              <a:t>placenta</a:t>
            </a:r>
            <a:r>
              <a:rPr lang="fr-FR" sz="2800" dirty="0" smtClean="0"/>
              <a:t> dans le  </a:t>
            </a:r>
            <a:r>
              <a:rPr lang="fr-FR" sz="2800" dirty="0" err="1" smtClean="0">
                <a:hlinkClick r:id="rId3" tooltip="Myomètre"/>
              </a:rPr>
              <a:t>myomètre</a:t>
            </a:r>
            <a:r>
              <a:rPr lang="fr-FR" sz="2800" dirty="0" smtClean="0"/>
              <a:t>. </a:t>
            </a:r>
          </a:p>
          <a:p>
            <a:r>
              <a:rPr lang="fr-FR" sz="2800" dirty="0" smtClean="0"/>
              <a:t>On en distingue trois types selon</a:t>
            </a:r>
          </a:p>
          <a:p>
            <a:r>
              <a:rPr lang="fr-FR" sz="2800" dirty="0" smtClean="0"/>
              <a:t> la profondeur d'insertion</a:t>
            </a:r>
          </a:p>
          <a:p>
            <a:r>
              <a:rPr lang="fr-FR" sz="2800" dirty="0" smtClean="0"/>
              <a:t> des villosités dans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accreta</a:t>
            </a:r>
            <a:r>
              <a:rPr lang="fr-FR" sz="2800" b="1" dirty="0" smtClean="0"/>
              <a:t> </a:t>
            </a:r>
            <a:r>
              <a:rPr lang="fr-FR" sz="2800" dirty="0" smtClean="0"/>
              <a:t>proprement dit :</a:t>
            </a:r>
          </a:p>
          <a:p>
            <a:r>
              <a:rPr lang="fr-FR" sz="2800" dirty="0" smtClean="0"/>
              <a:t> les villosités sont en  contact du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increta</a:t>
            </a:r>
            <a:r>
              <a:rPr lang="fr-FR" sz="2800" dirty="0" smtClean="0"/>
              <a:t> : les villosités envahissent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percreta</a:t>
            </a:r>
            <a:r>
              <a:rPr lang="fr-FR" sz="2800" b="1" dirty="0" smtClean="0"/>
              <a:t> </a:t>
            </a:r>
            <a:r>
              <a:rPr lang="fr-FR" sz="2800" dirty="0" smtClean="0"/>
              <a:t>: les villosités dépassent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envahissant parfois les organes voisins (vessie).</a:t>
            </a:r>
            <a:endParaRPr lang="fr-FR" sz="2800" dirty="0"/>
          </a:p>
        </p:txBody>
      </p:sp>
      <p:sp>
        <p:nvSpPr>
          <p:cNvPr id="5122" name="AutoShape 2" descr="Résultat de recherche d'images pour &quot;placenta accreta&quot;"/>
          <p:cNvSpPr>
            <a:spLocks noChangeAspect="1" noChangeArrowheads="1"/>
          </p:cNvSpPr>
          <p:nvPr/>
        </p:nvSpPr>
        <p:spPr bwMode="auto">
          <a:xfrm>
            <a:off x="155575" y="-1431925"/>
            <a:ext cx="1905000" cy="2990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24" name="AutoShape 4" descr="Résultat de recherche d'images pour &quot;placenta accreta&quot;"/>
          <p:cNvSpPr>
            <a:spLocks noChangeAspect="1" noChangeArrowheads="1"/>
          </p:cNvSpPr>
          <p:nvPr/>
        </p:nvSpPr>
        <p:spPr bwMode="auto">
          <a:xfrm>
            <a:off x="155575" y="-1431925"/>
            <a:ext cx="1905000" cy="2990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Picture 6" descr="Résultat de recherche d'images pour &quot;placenta accreta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1484784"/>
            <a:ext cx="2699792" cy="2232248"/>
          </a:xfrm>
          <a:prstGeom prst="rect">
            <a:avLst/>
          </a:prstGeom>
          <a:noFill/>
        </p:spPr>
      </p:pic>
      <p:sp>
        <p:nvSpPr>
          <p:cNvPr id="6" name="ZoneTexte 5"/>
          <p:cNvSpPr txBox="1"/>
          <p:nvPr/>
        </p:nvSpPr>
        <p:spPr>
          <a:xfrm>
            <a:off x="0" y="76036"/>
            <a:ext cx="2784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Placenta  </a:t>
            </a:r>
            <a:r>
              <a:rPr lang="fr-FR" sz="2800" b="1" i="1" dirty="0" smtClean="0">
                <a:solidFill>
                  <a:srgbClr val="00B0F0"/>
                </a:solidFill>
              </a:rPr>
              <a:t>accreta</a:t>
            </a:r>
            <a:endParaRPr lang="fr-FR" sz="2800" b="1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72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5213</TotalTime>
  <Words>982</Words>
  <Application>Microsoft Office PowerPoint</Application>
  <PresentationFormat>Affichage à l'écran (4:3)</PresentationFormat>
  <Paragraphs>222</Paragraphs>
  <Slides>32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Arial Unicode MS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32</cp:revision>
  <dcterms:created xsi:type="dcterms:W3CDTF">2016-01-16T13:06:24Z</dcterms:created>
  <dcterms:modified xsi:type="dcterms:W3CDTF">2023-12-09T12:44:40Z</dcterms:modified>
</cp:coreProperties>
</file>