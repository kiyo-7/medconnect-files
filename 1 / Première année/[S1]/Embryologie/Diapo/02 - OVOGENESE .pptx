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8"/>
  </p:notesMasterIdLst>
  <p:sldIdLst>
    <p:sldId id="309" r:id="rId2"/>
    <p:sldId id="314" r:id="rId3"/>
    <p:sldId id="287" r:id="rId4"/>
    <p:sldId id="294" r:id="rId5"/>
    <p:sldId id="290" r:id="rId6"/>
    <p:sldId id="292" r:id="rId7"/>
    <p:sldId id="315" r:id="rId8"/>
    <p:sldId id="289" r:id="rId9"/>
    <p:sldId id="313" r:id="rId10"/>
    <p:sldId id="261" r:id="rId11"/>
    <p:sldId id="266" r:id="rId12"/>
    <p:sldId id="268" r:id="rId13"/>
    <p:sldId id="310" r:id="rId14"/>
    <p:sldId id="256" r:id="rId15"/>
    <p:sldId id="257" r:id="rId16"/>
    <p:sldId id="258" r:id="rId17"/>
    <p:sldId id="259" r:id="rId18"/>
    <p:sldId id="260" r:id="rId19"/>
    <p:sldId id="311" r:id="rId20"/>
    <p:sldId id="307" r:id="rId21"/>
    <p:sldId id="304" r:id="rId22"/>
    <p:sldId id="303" r:id="rId23"/>
    <p:sldId id="299" r:id="rId24"/>
    <p:sldId id="300" r:id="rId25"/>
    <p:sldId id="301" r:id="rId26"/>
    <p:sldId id="302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4486" autoAdjust="0"/>
  </p:normalViewPr>
  <p:slideViewPr>
    <p:cSldViewPr>
      <p:cViewPr varScale="1">
        <p:scale>
          <a:sx n="81" d="100"/>
          <a:sy n="81" d="100"/>
        </p:scale>
        <p:origin x="1026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AB3E0-2626-44FB-815F-3E5FE41A397E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50B6D-3C09-4065-88A7-2FF26B39BDA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50B6D-3C09-4065-88A7-2FF26B39BDA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763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55484-901E-4F40-996A-068B2829A5A0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50B6D-3C09-4065-88A7-2FF26B39BDA7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50B6D-3C09-4065-88A7-2FF26B39BDA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95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D3F3C-05AF-4D91-A90F-DDEC0ECFA070}" type="datetimeFigureOut">
              <a:rPr lang="fr-FR" smtClean="0"/>
              <a:pPr/>
              <a:t>15/10/2024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144000" cy="1055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 MODULE  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 smtClean="0"/>
              <a:t>                                          OVOGENESE</a:t>
            </a:r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     PR </a:t>
            </a:r>
            <a:r>
              <a:rPr lang="fr-FR" sz="2800" b="1" smtClean="0"/>
              <a:t>HANNACHI-HECINI A</a:t>
            </a:r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dirty="0" smtClean="0"/>
          </a:p>
          <a:p>
            <a:r>
              <a:rPr lang="fr-FR" sz="3600" dirty="0" smtClean="0"/>
              <a:t> </a:t>
            </a:r>
            <a:endParaRPr lang="fr-FR" sz="36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556793"/>
            <a:ext cx="6480720" cy="396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1440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Définition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C’est la formation des gamètes dans le sexe féminin.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 se déroule dans les ovaires et permet la formation des  gamètes féminins, les ovocytes,  à partir des cellules souches  de la lignée  germinale ou ovogonies.</a:t>
            </a:r>
          </a:p>
          <a:p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92829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19472"/>
            <a:ext cx="9684568" cy="10649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b="1" u="sng" dirty="0" smtClean="0"/>
          </a:p>
          <a:p>
            <a:endParaRPr lang="fr-FR" sz="3600" b="1" u="sng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Rappels sur l’appareil genital feminin</a:t>
            </a:r>
          </a:p>
          <a:p>
            <a:endParaRPr lang="fr-FR" sz="2800" dirty="0" smtClean="0">
              <a:solidFill>
                <a:srgbClr val="002060"/>
              </a:solidFill>
            </a:endParaRPr>
          </a:p>
          <a:p>
            <a:r>
              <a:rPr lang="fr-FR" sz="3600" b="1" u="sng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Organes </a:t>
            </a:r>
            <a:r>
              <a:rPr lang="fr-FR" sz="2800" b="1" dirty="0">
                <a:solidFill>
                  <a:srgbClr val="0070C0"/>
                </a:solidFill>
              </a:rPr>
              <a:t>génitaux </a:t>
            </a:r>
            <a:r>
              <a:rPr lang="fr-FR" sz="2800" b="1" dirty="0" smtClean="0">
                <a:solidFill>
                  <a:srgbClr val="0070C0"/>
                </a:solidFill>
              </a:rPr>
              <a:t>externes</a:t>
            </a:r>
          </a:p>
          <a:p>
            <a:r>
              <a:rPr lang="fr-FR" sz="2800" dirty="0"/>
              <a:t>La partie externe : </a:t>
            </a:r>
            <a:r>
              <a:rPr lang="fr-FR" sz="2800" i="1" dirty="0"/>
              <a:t>la vulve</a:t>
            </a:r>
            <a:endParaRPr lang="fr-FR" sz="2800" dirty="0"/>
          </a:p>
          <a:p>
            <a:pPr>
              <a:buFontTx/>
              <a:buChar char="-"/>
            </a:pPr>
            <a:r>
              <a:rPr lang="fr-FR" sz="2800" dirty="0" smtClean="0"/>
              <a:t> Grandes </a:t>
            </a:r>
            <a:r>
              <a:rPr lang="fr-FR" sz="2800" dirty="0"/>
              <a:t>lèvres </a:t>
            </a: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Petites lèvres</a:t>
            </a:r>
          </a:p>
          <a:p>
            <a:pPr>
              <a:buFontTx/>
              <a:buChar char="-"/>
            </a:pPr>
            <a:r>
              <a:rPr lang="fr-FR" sz="2800" dirty="0" smtClean="0"/>
              <a:t> Hymen</a:t>
            </a:r>
          </a:p>
          <a:p>
            <a:pPr>
              <a:buFontTx/>
              <a:buChar char="-"/>
            </a:pPr>
            <a:r>
              <a:rPr lang="fr-FR" sz="2800" dirty="0" smtClean="0"/>
              <a:t> Clitoris</a:t>
            </a:r>
          </a:p>
          <a:p>
            <a:pPr>
              <a:buFontTx/>
              <a:buChar char="-"/>
            </a:pPr>
            <a:r>
              <a:rPr lang="fr-FR" sz="2800" dirty="0" smtClean="0"/>
              <a:t>Glandes </a:t>
            </a:r>
            <a:r>
              <a:rPr lang="fr-FR" sz="2800" dirty="0"/>
              <a:t>de </a:t>
            </a:r>
            <a:r>
              <a:rPr lang="fr-FR" sz="2800" dirty="0" smtClean="0"/>
              <a:t>Bartholin</a:t>
            </a:r>
          </a:p>
          <a:p>
            <a:pPr>
              <a:buFontTx/>
              <a:buChar char="-"/>
            </a:pPr>
            <a:endParaRPr lang="fr-FR" sz="2800" u="sng" dirty="0" smtClean="0"/>
          </a:p>
          <a:p>
            <a:r>
              <a:rPr lang="fr-FR" sz="2800" b="1" u="sng" dirty="0" smtClean="0">
                <a:solidFill>
                  <a:srgbClr val="0070C0"/>
                </a:solidFill>
              </a:rPr>
              <a:t>Organes génitaux internes</a:t>
            </a:r>
          </a:p>
          <a:p>
            <a:r>
              <a:rPr lang="fr-FR" sz="2800" dirty="0" smtClean="0"/>
              <a:t>-Trompes de Fallope</a:t>
            </a:r>
          </a:p>
          <a:p>
            <a:pPr>
              <a:buFontTx/>
              <a:buChar char="-"/>
            </a:pPr>
            <a:r>
              <a:rPr lang="fr-FR" sz="2800" dirty="0" smtClean="0"/>
              <a:t>Utérus</a:t>
            </a:r>
          </a:p>
          <a:p>
            <a:pPr>
              <a:buFontTx/>
              <a:buChar char="-"/>
            </a:pPr>
            <a:r>
              <a:rPr lang="fr-FR" sz="2800" dirty="0" smtClean="0"/>
              <a:t> Ovaires</a:t>
            </a:r>
          </a:p>
          <a:p>
            <a:pPr>
              <a:buFontTx/>
              <a:buChar char="-"/>
            </a:pPr>
            <a:r>
              <a:rPr lang="fr-FR" sz="2800" dirty="0" smtClean="0"/>
              <a:t> Vagin</a:t>
            </a:r>
          </a:p>
          <a:p>
            <a:pPr>
              <a:buFontTx/>
              <a:buChar char="-"/>
            </a:pPr>
            <a:endParaRPr lang="fr-FR" sz="3200" b="1" u="sng" dirty="0"/>
          </a:p>
          <a:p>
            <a:endParaRPr lang="fr-FR" sz="3200" b="1" u="sng" dirty="0" smtClean="0"/>
          </a:p>
          <a:p>
            <a:endParaRPr lang="fr-FR" sz="3200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6732240" y="1700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37890" name="Picture 2" descr="Résultat de recherche d'images pour &quot;organes genitaux externes femini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9530" y="188640"/>
            <a:ext cx="3074318" cy="3024336"/>
          </a:xfrm>
          <a:prstGeom prst="rect">
            <a:avLst/>
          </a:prstGeom>
          <a:noFill/>
        </p:spPr>
      </p:pic>
      <p:sp>
        <p:nvSpPr>
          <p:cNvPr id="37893" name="AutoShape 5" descr="Résultat de recherche d'images pour &quot;organes genitaux externes feminin&quot;"/>
          <p:cNvSpPr>
            <a:spLocks noChangeAspect="1" noChangeArrowheads="1"/>
          </p:cNvSpPr>
          <p:nvPr/>
        </p:nvSpPr>
        <p:spPr bwMode="auto">
          <a:xfrm>
            <a:off x="3131840" y="26064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7897" name="Picture 9" descr="https://tpefiv.files.wordpress.com/2015/02/appr-f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3069" y="3285487"/>
            <a:ext cx="3650779" cy="3501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627784" y="6309320"/>
            <a:ext cx="48054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Appareil reproducteur féminin </a:t>
            </a:r>
            <a:endParaRPr lang="fr-FR" sz="2800" dirty="0" smtClean="0"/>
          </a:p>
          <a:p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60648"/>
            <a:ext cx="7848872" cy="5832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7625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</a:rPr>
              <a:t>Trompes de Fallope</a:t>
            </a:r>
          </a:p>
          <a:p>
            <a:r>
              <a:rPr lang="fr-FR" sz="2800" dirty="0" smtClean="0"/>
              <a:t>• Pavillon</a:t>
            </a:r>
          </a:p>
          <a:p>
            <a:r>
              <a:rPr lang="fr-FR" sz="2800" dirty="0" smtClean="0"/>
              <a:t>• Ampoule</a:t>
            </a:r>
          </a:p>
          <a:p>
            <a:r>
              <a:rPr lang="fr-FR" sz="2800" dirty="0" smtClean="0"/>
              <a:t>•  Isthme</a:t>
            </a:r>
          </a:p>
          <a:p>
            <a:r>
              <a:rPr lang="fr-FR" sz="2800" dirty="0" smtClean="0"/>
              <a:t>• Portion interstitielle</a:t>
            </a:r>
          </a:p>
          <a:p>
            <a:r>
              <a:rPr lang="fr-FR" sz="3600" dirty="0" smtClean="0">
                <a:latin typeface="+mj-lt"/>
              </a:rPr>
              <a:t> </a:t>
            </a:r>
            <a:endParaRPr lang="fr-FR" sz="3600" dirty="0">
              <a:latin typeface="+mj-lt"/>
            </a:endParaRPr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276872"/>
            <a:ext cx="748883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0" y="0"/>
            <a:ext cx="9144000" cy="741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Times New Roman" pitchFamily="18" charset="0"/>
              </a:rPr>
              <a:t>Utérus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/>
              <a:t>- </a:t>
            </a:r>
            <a:r>
              <a:rPr lang="fr-FR" sz="2800" dirty="0" smtClean="0"/>
              <a:t>Cavité utérine</a:t>
            </a:r>
            <a:endParaRPr lang="fr-FR" sz="2800" dirty="0"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Paroi utérine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/>
              <a:t> Col utérin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Vagin</a:t>
            </a:r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B050"/>
                </a:solidFill>
              </a:rPr>
              <a:t>-  </a:t>
            </a:r>
            <a:r>
              <a:rPr lang="fr-FR" sz="2800" dirty="0"/>
              <a:t>Muqueuse</a:t>
            </a:r>
          </a:p>
          <a:p>
            <a:r>
              <a:rPr lang="fr-FR" sz="2800" dirty="0"/>
              <a:t> </a:t>
            </a:r>
            <a:r>
              <a:rPr lang="fr-FR" sz="2800" dirty="0" smtClean="0"/>
              <a:t>- Musculeuse </a:t>
            </a:r>
            <a:endParaRPr lang="fr-FR" sz="2800" dirty="0"/>
          </a:p>
          <a:p>
            <a:r>
              <a:rPr lang="fr-FR" sz="2800" dirty="0"/>
              <a:t> </a:t>
            </a:r>
            <a:r>
              <a:rPr lang="fr-FR" sz="2800" dirty="0" smtClean="0"/>
              <a:t>- Adventice </a:t>
            </a:r>
            <a:endParaRPr lang="fr-FR" sz="2800" dirty="0"/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Paroi </a:t>
            </a:r>
            <a:r>
              <a:rPr lang="fr-FR" sz="2800" b="1" dirty="0">
                <a:solidFill>
                  <a:srgbClr val="0070C0"/>
                </a:solidFill>
              </a:rPr>
              <a:t>utérine </a:t>
            </a:r>
            <a:r>
              <a:rPr lang="fr-FR" sz="2800" dirty="0"/>
              <a:t>comporte 3 tuniques</a:t>
            </a:r>
            <a:r>
              <a:rPr lang="fr-FR" sz="2800" b="1" dirty="0"/>
              <a:t>:</a:t>
            </a:r>
          </a:p>
          <a:p>
            <a:r>
              <a:rPr lang="fr-FR" sz="2800" b="1" dirty="0"/>
              <a:t>- </a:t>
            </a:r>
            <a:r>
              <a:rPr lang="fr-FR" sz="2800" dirty="0" smtClean="0"/>
              <a:t>Muqueuse </a:t>
            </a:r>
            <a:r>
              <a:rPr lang="fr-FR" sz="2800" dirty="0"/>
              <a:t>(</a:t>
            </a:r>
            <a:r>
              <a:rPr lang="fr-FR" sz="2800" b="1" dirty="0">
                <a:solidFill>
                  <a:srgbClr val="0070C0"/>
                </a:solidFill>
              </a:rPr>
              <a:t>endomètre</a:t>
            </a:r>
            <a:r>
              <a:rPr lang="fr-FR" sz="2800" dirty="0" smtClean="0"/>
              <a:t>).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smtClean="0"/>
              <a:t>Musculeuse </a:t>
            </a:r>
            <a:r>
              <a:rPr lang="fr-FR" sz="2800" dirty="0"/>
              <a:t>(</a:t>
            </a:r>
            <a:r>
              <a:rPr lang="fr-FR" sz="2800" dirty="0" err="1"/>
              <a:t>myomètre</a:t>
            </a:r>
            <a:r>
              <a:rPr lang="fr-FR" sz="2800" dirty="0" smtClean="0"/>
              <a:t>).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smtClean="0"/>
              <a:t>Séreuse</a:t>
            </a:r>
            <a:endParaRPr lang="fr-FR" sz="2800" dirty="0"/>
          </a:p>
          <a:p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  <a:p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cxnSp>
        <p:nvCxnSpPr>
          <p:cNvPr id="7" name="Connecteur en angle 6"/>
          <p:cNvCxnSpPr/>
          <p:nvPr/>
        </p:nvCxnSpPr>
        <p:spPr>
          <a:xfrm rot="16200000" flipH="1">
            <a:off x="2231740" y="1376772"/>
            <a:ext cx="3312368" cy="295232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48680"/>
            <a:ext cx="2664296" cy="4464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08520" y="-603448"/>
            <a:ext cx="367139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>
                <a:solidFill>
                  <a:srgbClr val="0070C0"/>
                </a:solidFill>
              </a:rPr>
              <a:t>Endomètre</a:t>
            </a:r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dirty="0"/>
              <a:t> Couche fonctionnelle</a:t>
            </a:r>
          </a:p>
          <a:p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dirty="0"/>
              <a:t>Couche basale</a:t>
            </a:r>
          </a:p>
          <a:p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404664"/>
            <a:ext cx="3981033" cy="2469094"/>
          </a:xfrm>
          <a:prstGeom prst="rect">
            <a:avLst/>
          </a:prstGeom>
        </p:spPr>
      </p:pic>
      <p:cxnSp>
        <p:nvCxnSpPr>
          <p:cNvPr id="3" name="Connecteur en angle 2"/>
          <p:cNvCxnSpPr/>
          <p:nvPr/>
        </p:nvCxnSpPr>
        <p:spPr>
          <a:xfrm>
            <a:off x="3563888" y="950823"/>
            <a:ext cx="914400" cy="91440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90" y="2762982"/>
            <a:ext cx="9144793" cy="323875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588" y="6043433"/>
            <a:ext cx="345063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0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109368"/>
            <a:ext cx="889248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4000" b="1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</a:rPr>
              <a:t>Ovaires</a:t>
            </a:r>
          </a:p>
          <a:p>
            <a:r>
              <a:rPr lang="fr-FR" sz="2800" dirty="0" smtClean="0">
                <a:latin typeface="+mj-lt"/>
              </a:rPr>
              <a:t>• Albuginée </a:t>
            </a:r>
            <a:r>
              <a:rPr lang="fr-FR" sz="2800" dirty="0">
                <a:latin typeface="+mj-lt"/>
              </a:rPr>
              <a:t>ovarienne</a:t>
            </a:r>
          </a:p>
          <a:p>
            <a:r>
              <a:rPr lang="fr-FR" sz="2800" dirty="0" smtClean="0">
                <a:latin typeface="+mj-lt"/>
              </a:rPr>
              <a:t>• Epithélium </a:t>
            </a:r>
            <a:r>
              <a:rPr lang="fr-FR" sz="2800" dirty="0">
                <a:latin typeface="+mj-lt"/>
              </a:rPr>
              <a:t>ovarien, </a:t>
            </a:r>
            <a:r>
              <a:rPr lang="fr-FR" sz="2800" dirty="0" smtClean="0">
                <a:latin typeface="+mj-lt"/>
              </a:rPr>
              <a:t>cubique</a:t>
            </a:r>
          </a:p>
          <a:p>
            <a:r>
              <a:rPr lang="fr-FR" sz="2800" dirty="0" smtClean="0">
                <a:latin typeface="+mj-lt"/>
              </a:rPr>
              <a:t>• Région </a:t>
            </a:r>
            <a:r>
              <a:rPr lang="fr-FR" sz="2800" dirty="0">
                <a:latin typeface="+mj-lt"/>
              </a:rPr>
              <a:t>corticale </a:t>
            </a:r>
            <a:r>
              <a:rPr lang="fr-FR" sz="2800" dirty="0" smtClean="0">
                <a:latin typeface="+mj-lt"/>
              </a:rPr>
              <a:t>=  </a:t>
            </a:r>
            <a:r>
              <a:rPr lang="fr-FR" sz="2800" dirty="0">
                <a:latin typeface="+mj-lt"/>
              </a:rPr>
              <a:t>follicules </a:t>
            </a:r>
            <a:r>
              <a:rPr lang="fr-FR" sz="2800" dirty="0" smtClean="0">
                <a:latin typeface="+mj-lt"/>
              </a:rPr>
              <a:t>ovariens</a:t>
            </a:r>
            <a:endParaRPr lang="fr-FR" sz="2800" dirty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• Région </a:t>
            </a:r>
            <a:r>
              <a:rPr lang="fr-FR" sz="2800" dirty="0">
                <a:latin typeface="+mj-lt"/>
              </a:rPr>
              <a:t>médullaire </a:t>
            </a:r>
            <a:r>
              <a:rPr lang="fr-FR" sz="2800" dirty="0" smtClean="0">
                <a:latin typeface="+mj-lt"/>
              </a:rPr>
              <a:t>conjonctive et fibreuse,  vascularisée</a:t>
            </a:r>
            <a:endParaRPr lang="fr-FR" sz="2800" b="1" dirty="0" smtClean="0">
              <a:latin typeface="+mj-lt"/>
            </a:endParaRPr>
          </a:p>
          <a:p>
            <a:r>
              <a:rPr lang="fr-FR" sz="4000" dirty="0">
                <a:latin typeface="+mj-lt"/>
              </a:rPr>
              <a:t>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852936"/>
            <a:ext cx="9144000" cy="37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2915816" y="6309320"/>
            <a:ext cx="319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de l’ovaire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026" name="Picture 2" descr="La réproduction humaine: L'ovogenè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92480" cy="6858000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971600" y="5589240"/>
            <a:ext cx="349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Phases de l’ovogenèse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75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                         Ovogenese + folliculogenese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A.  Phases </a:t>
            </a:r>
            <a:r>
              <a:rPr lang="fr-FR" sz="2800" b="1" dirty="0">
                <a:solidFill>
                  <a:srgbClr val="0070C0"/>
                </a:solidFill>
              </a:rPr>
              <a:t>de l’ovogenèse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B0F0"/>
                </a:solidFill>
              </a:rPr>
              <a:t>1. Phase de multiplication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Ovogonies                                Ovogonies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</a:t>
            </a:r>
            <a:r>
              <a:rPr lang="fr-FR" sz="2800" b="1" dirty="0" smtClean="0">
                <a:solidFill>
                  <a:srgbClr val="0070C0"/>
                </a:solidFill>
              </a:rPr>
              <a:t>2n chr                                          2n chr </a:t>
            </a:r>
          </a:p>
          <a:p>
            <a:r>
              <a:rPr lang="fr-FR" sz="2800" b="1" dirty="0" smtClean="0"/>
              <a:t>Ovogonies                                Ovocytes i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B0F0"/>
                </a:solidFill>
              </a:rPr>
              <a:t>2. Phase d’accroissement</a:t>
            </a:r>
          </a:p>
          <a:p>
            <a:r>
              <a:rPr lang="fr-FR" sz="2800" b="1" dirty="0" smtClean="0"/>
              <a:t>             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Ovocytes </a:t>
            </a:r>
            <a:r>
              <a:rPr lang="fr-FR" sz="2800" b="1" dirty="0" smtClean="0"/>
              <a:t>I                                 </a:t>
            </a:r>
            <a:r>
              <a:rPr lang="fr-FR" sz="2800" b="1" dirty="0" smtClean="0"/>
              <a:t>Auxocytes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</a:t>
            </a:r>
            <a:r>
              <a:rPr lang="fr-FR" sz="2800" b="1" dirty="0" smtClean="0">
                <a:solidFill>
                  <a:srgbClr val="0070C0"/>
                </a:solidFill>
              </a:rPr>
              <a:t>2n chr                                         2n chr 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</a:t>
            </a:r>
          </a:p>
          <a:p>
            <a:r>
              <a:rPr lang="fr-FR" sz="3200" b="1" dirty="0" smtClean="0"/>
              <a:t>                                                                  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dirty="0"/>
          </a:p>
        </p:txBody>
      </p:sp>
      <p:sp>
        <p:nvSpPr>
          <p:cNvPr id="3" name="Flèche droite 2"/>
          <p:cNvSpPr/>
          <p:nvPr/>
        </p:nvSpPr>
        <p:spPr>
          <a:xfrm>
            <a:off x="2354604" y="2780928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 droite 4"/>
          <p:cNvSpPr/>
          <p:nvPr/>
        </p:nvSpPr>
        <p:spPr>
          <a:xfrm>
            <a:off x="2354604" y="5346993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360431" y="1647389"/>
            <a:ext cx="3778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chemeClr val="tx2"/>
                </a:solidFill>
              </a:rPr>
              <a:t>    Durant la vie intra-uterine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2354604" y="3625765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47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3. Phase de maturation (méiose)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/>
              <a:t>Ovocyte I                                 Ovocyte I </a:t>
            </a:r>
            <a:r>
              <a:rPr lang="fr-FR" sz="2800" b="1" dirty="0" smtClean="0"/>
              <a:t>bloqué </a:t>
            </a:r>
            <a:r>
              <a:rPr lang="fr-FR" sz="2800" b="1" dirty="0"/>
              <a:t>en prophase I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</a:t>
            </a:r>
            <a:r>
              <a:rPr lang="fr-FR" sz="2800" b="1" dirty="0" smtClean="0">
                <a:solidFill>
                  <a:srgbClr val="0070C0"/>
                </a:solidFill>
              </a:rPr>
              <a:t>2n chr     </a:t>
            </a:r>
            <a:r>
              <a:rPr lang="fr-FR" sz="2400" b="1" dirty="0" smtClean="0">
                <a:solidFill>
                  <a:srgbClr val="0070C0"/>
                </a:solidFill>
              </a:rPr>
              <a:t>Première division méiose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  <a:r>
              <a:rPr lang="fr-FR" sz="2400" b="1" dirty="0" smtClean="0">
                <a:solidFill>
                  <a:srgbClr val="0070C0"/>
                </a:solidFill>
              </a:rPr>
              <a:t>Mitose réductionnelle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2483768" y="1061568"/>
            <a:ext cx="978408" cy="135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1552454" y="2187222"/>
            <a:ext cx="45643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</a:t>
            </a:r>
            <a:r>
              <a:rPr lang="fr-FR" sz="2800" b="1" dirty="0" smtClean="0"/>
              <a:t>Jusqu’à la puberté</a:t>
            </a:r>
          </a:p>
          <a:p>
            <a:r>
              <a:rPr lang="fr-FR" sz="2800" b="1" dirty="0" smtClean="0"/>
              <a:t>   Chaque </a:t>
            </a:r>
            <a:r>
              <a:rPr lang="fr-FR" sz="2800" b="1" dirty="0"/>
              <a:t>cycle (chaque mois)</a:t>
            </a:r>
          </a:p>
          <a:p>
            <a:endParaRPr lang="fr-FR" sz="2800" b="1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134" y="3930923"/>
            <a:ext cx="9364268" cy="37798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26181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Ovocyte II                                                    Ovocyte </a:t>
            </a:r>
            <a:r>
              <a:rPr lang="fr-FR" sz="2800" b="1" dirty="0"/>
              <a:t>II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       bloqué </a:t>
            </a:r>
            <a:r>
              <a:rPr lang="fr-FR" sz="2800" b="1" dirty="0"/>
              <a:t>en</a:t>
            </a:r>
          </a:p>
          <a:p>
            <a:r>
              <a:rPr lang="fr-FR" sz="2800" b="1" dirty="0" smtClean="0"/>
              <a:t>                                                                   métaphase </a:t>
            </a:r>
            <a:r>
              <a:rPr lang="fr-FR" sz="2800" b="1" dirty="0"/>
              <a:t>II</a:t>
            </a:r>
            <a:endParaRPr lang="fr-FR" sz="2800" b="1" dirty="0" smtClean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                                 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5" name="Flèche droite 4"/>
          <p:cNvSpPr/>
          <p:nvPr/>
        </p:nvSpPr>
        <p:spPr>
          <a:xfrm>
            <a:off x="3131840" y="26064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23528" y="4509120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endParaRPr lang="fr-FR" sz="3200" b="1" dirty="0">
              <a:solidFill>
                <a:srgbClr val="00B05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71" y="2637175"/>
            <a:ext cx="9510584" cy="231127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6" y="4840933"/>
            <a:ext cx="8839966" cy="162777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321" y="2776156"/>
            <a:ext cx="1005927" cy="20118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214" y="3366535"/>
            <a:ext cx="1005927" cy="18463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214" y="5140404"/>
            <a:ext cx="1005927" cy="20118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0961" y="1800782"/>
            <a:ext cx="2932430" cy="1444877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961" y="4045537"/>
            <a:ext cx="3664014" cy="75597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 flipH="1">
            <a:off x="1187624" y="580178"/>
            <a:ext cx="7323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            Deuxième </a:t>
            </a:r>
            <a:r>
              <a:rPr lang="fr-FR" sz="2400" b="1" dirty="0">
                <a:solidFill>
                  <a:srgbClr val="0070C0"/>
                </a:solidFill>
              </a:rPr>
              <a:t>division</a:t>
            </a:r>
          </a:p>
          <a:p>
            <a:r>
              <a:rPr lang="fr-FR" sz="2400" b="1" dirty="0">
                <a:solidFill>
                  <a:srgbClr val="0070C0"/>
                </a:solidFill>
              </a:rPr>
              <a:t>                   </a:t>
            </a:r>
            <a:r>
              <a:rPr lang="fr-FR" sz="2400" b="1" dirty="0" smtClean="0">
                <a:solidFill>
                  <a:srgbClr val="0070C0"/>
                </a:solidFill>
              </a:rPr>
              <a:t>de </a:t>
            </a:r>
            <a:r>
              <a:rPr lang="fr-FR" sz="2400" b="1" dirty="0">
                <a:solidFill>
                  <a:srgbClr val="0070C0"/>
                </a:solidFill>
              </a:rPr>
              <a:t>la méiose</a:t>
            </a:r>
          </a:p>
          <a:p>
            <a:r>
              <a:rPr lang="fr-FR" sz="2400" b="1" dirty="0">
                <a:solidFill>
                  <a:srgbClr val="0070C0"/>
                </a:solidFill>
              </a:rPr>
              <a:t>            </a:t>
            </a:r>
            <a:r>
              <a:rPr lang="fr-FR" sz="2400" b="1" dirty="0" smtClean="0">
                <a:solidFill>
                  <a:srgbClr val="0070C0"/>
                </a:solidFill>
              </a:rPr>
              <a:t>Mitose </a:t>
            </a:r>
            <a:r>
              <a:rPr lang="fr-FR" sz="2400" b="1" dirty="0">
                <a:solidFill>
                  <a:srgbClr val="0070C0"/>
                </a:solidFill>
              </a:rPr>
              <a:t>équationnelle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861" y="743857"/>
            <a:ext cx="5750277" cy="455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2754001" y="5733256"/>
            <a:ext cx="3635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Schéma de l’ovogénèse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Follicule primordi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4775"/>
            <a:ext cx="3779912" cy="3276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-15556" y="3618211"/>
            <a:ext cx="4571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Follicule primordial  Ø  50 µm</a:t>
            </a:r>
            <a:endParaRPr lang="fr-FR" sz="28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579604" y="1273012"/>
            <a:ext cx="3816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Ovocyte I</a:t>
            </a:r>
          </a:p>
          <a:p>
            <a:r>
              <a:rPr lang="fr-FR" sz="2800" b="1" dirty="0" smtClean="0"/>
              <a:t> Ø 20 à 30µm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Couche de cellules folliculaires aplaties</a:t>
            </a:r>
            <a:endParaRPr lang="fr-FR" sz="28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4937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B.  E</a:t>
            </a:r>
            <a:r>
              <a:rPr lang="fr-FR" sz="2800" b="1" dirty="0" smtClean="0">
                <a:solidFill>
                  <a:srgbClr val="0070C0"/>
                </a:solidFill>
              </a:rPr>
              <a:t>tapes de la folliculogenèse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3" name="Connecteur droit avec flèche 2"/>
          <p:cNvCxnSpPr/>
          <p:nvPr/>
        </p:nvCxnSpPr>
        <p:spPr>
          <a:xfrm flipH="1">
            <a:off x="2843808" y="1412776"/>
            <a:ext cx="2735796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H="1" flipV="1">
            <a:off x="3188180" y="2763021"/>
            <a:ext cx="2175908" cy="8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570" y="3861048"/>
            <a:ext cx="3858881" cy="279851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9238" y="4408456"/>
            <a:ext cx="8894835" cy="1914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llicule primair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066843"/>
            <a:ext cx="2746922" cy="278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2880" y="3727777"/>
            <a:ext cx="43412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Follicule primaire  Ø 80µ</a:t>
            </a:r>
          </a:p>
          <a:p>
            <a:r>
              <a:rPr lang="fr-FR" sz="2800" b="1" dirty="0" smtClean="0"/>
              <a:t> 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6732240" y="450912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4067944" y="840614"/>
            <a:ext cx="41764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Ovocyte I</a:t>
            </a:r>
          </a:p>
          <a:p>
            <a:r>
              <a:rPr lang="fr-FR" sz="2800" b="1" dirty="0" smtClean="0"/>
              <a:t> Ø 50µ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Couche de cellules folliculaires cubiques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9769" y="-41082"/>
            <a:ext cx="84929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 la puberté, à chaque cycle, le follicule Primordial se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développe (primaire, secondaire,  tertiaire et mur)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/>
          <p:nvPr/>
        </p:nvCxnSpPr>
        <p:spPr>
          <a:xfrm flipH="1">
            <a:off x="2339752" y="1196752"/>
            <a:ext cx="1607410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2987824" y="2456892"/>
            <a:ext cx="781793" cy="252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998" y="3212977"/>
            <a:ext cx="4246483" cy="3469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llicule secondair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564" y="93678"/>
            <a:ext cx="3585803" cy="3358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9642" y="3789040"/>
            <a:ext cx="3117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Follicule secondaire</a:t>
            </a:r>
          </a:p>
          <a:p>
            <a:r>
              <a:rPr lang="fr-FR" sz="2800" b="1" dirty="0" smtClean="0"/>
              <a:t> (préantral Ø 200µ)</a:t>
            </a:r>
          </a:p>
          <a:p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5940152" y="1772816"/>
            <a:ext cx="237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4186609" y="93678"/>
            <a:ext cx="48245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Ovocyte I Ø 80</a:t>
            </a:r>
          </a:p>
          <a:p>
            <a:r>
              <a:rPr lang="fr-FR" sz="2800" b="1" dirty="0" smtClean="0"/>
              <a:t>Membrane ou zone pellucide</a:t>
            </a:r>
          </a:p>
          <a:p>
            <a:r>
              <a:rPr lang="fr-FR" sz="2800" b="1" dirty="0" smtClean="0"/>
              <a:t>Cellules de la </a:t>
            </a:r>
            <a:r>
              <a:rPr lang="fr-FR" sz="2800" b="1" dirty="0" err="1" smtClean="0"/>
              <a:t>Granulosa</a:t>
            </a:r>
            <a:endParaRPr lang="fr-FR" sz="2800" b="1" dirty="0" smtClean="0"/>
          </a:p>
          <a:p>
            <a:r>
              <a:rPr lang="fr-FR" sz="2800" b="1" dirty="0" smtClean="0"/>
              <a:t>Membrane de </a:t>
            </a:r>
            <a:r>
              <a:rPr lang="fr-FR" sz="2800" b="1" dirty="0" err="1" smtClean="0"/>
              <a:t>Slavjansky</a:t>
            </a:r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err="1" smtClean="0"/>
              <a:t>Théque</a:t>
            </a:r>
            <a:endParaRPr lang="fr-FR" sz="28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553" y="3284984"/>
            <a:ext cx="4932723" cy="3404392"/>
          </a:xfrm>
          <a:prstGeom prst="rect">
            <a:avLst/>
          </a:prstGeom>
        </p:spPr>
      </p:pic>
      <p:cxnSp>
        <p:nvCxnSpPr>
          <p:cNvPr id="11" name="Connecteur droit avec flèche 10"/>
          <p:cNvCxnSpPr/>
          <p:nvPr/>
        </p:nvCxnSpPr>
        <p:spPr>
          <a:xfrm flipH="1">
            <a:off x="1988465" y="404664"/>
            <a:ext cx="2044013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2627785" y="836712"/>
            <a:ext cx="1404693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>
            <a:off x="3010471" y="1196752"/>
            <a:ext cx="1176139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>
            <a:off x="3395919" y="1772816"/>
            <a:ext cx="636559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H="1">
            <a:off x="3395919" y="2492896"/>
            <a:ext cx="790691" cy="1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moodle.univ-brest.fr/medecine/public/sites/Serveur_2009/Embryologie/Emb_gen/E_gamet/Dgafot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508" y="0"/>
            <a:ext cx="3924436" cy="278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-21063" y="2636912"/>
            <a:ext cx="3637534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         Follicule tertiaire</a:t>
            </a:r>
          </a:p>
          <a:p>
            <a:r>
              <a:rPr lang="fr-FR" sz="2800" b="1" dirty="0" smtClean="0"/>
              <a:t>      (cavitaire </a:t>
            </a:r>
            <a:r>
              <a:rPr lang="fr-FR" sz="2800" b="1" dirty="0"/>
              <a:t>ou antral</a:t>
            </a:r>
            <a:r>
              <a:rPr lang="fr-FR" sz="2800" b="1" dirty="0" smtClean="0"/>
              <a:t>)</a:t>
            </a:r>
          </a:p>
          <a:p>
            <a:r>
              <a:rPr lang="fr-FR" sz="2800" b="1" dirty="0" smtClean="0"/>
              <a:t>          Ø 10 à 15 mm </a:t>
            </a:r>
          </a:p>
          <a:p>
            <a:r>
              <a:rPr lang="fr-FR" sz="2800" b="1" dirty="0" smtClean="0"/>
              <a:t> </a:t>
            </a:r>
            <a:endParaRPr lang="fr-FR" sz="2800" dirty="0"/>
          </a:p>
          <a:p>
            <a:r>
              <a:rPr lang="fr-FR" sz="2800" b="1" dirty="0"/>
              <a:t> </a:t>
            </a:r>
            <a:endParaRPr lang="fr-FR" sz="2800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143235" y="-28988"/>
            <a:ext cx="48212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sz="2800" b="1" dirty="0" smtClean="0"/>
              <a:t>Ovocyte I Ø 100 µ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Cavités (corps de Call et </a:t>
            </a:r>
            <a:r>
              <a:rPr lang="fr-FR" sz="2800" b="1" dirty="0" err="1" smtClean="0"/>
              <a:t>Exner</a:t>
            </a:r>
            <a:r>
              <a:rPr lang="fr-FR" sz="2800" b="1" dirty="0" smtClean="0"/>
              <a:t>)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1763688" y="548680"/>
            <a:ext cx="2304256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4" idx="1"/>
          </p:cNvCxnSpPr>
          <p:nvPr/>
        </p:nvCxnSpPr>
        <p:spPr>
          <a:xfrm flipH="1">
            <a:off x="2483769" y="943922"/>
            <a:ext cx="1659466" cy="10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514" y="2276872"/>
            <a:ext cx="4731973" cy="3600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llicule De Graa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 flipV="1">
            <a:off x="1592621" y="-918529"/>
            <a:ext cx="2880322" cy="5526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879136" y="3284986"/>
            <a:ext cx="388843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Follicule de DE GRAAF</a:t>
            </a:r>
            <a:endParaRPr lang="fr-FR" sz="2800" dirty="0" smtClean="0"/>
          </a:p>
          <a:p>
            <a:r>
              <a:rPr lang="fr-FR" sz="2800" b="1" dirty="0" smtClean="0"/>
              <a:t>Ø18 ou même 20 mm</a:t>
            </a:r>
          </a:p>
          <a:p>
            <a:r>
              <a:rPr lang="fr-FR" dirty="0" smtClean="0"/>
              <a:t> 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940152" y="0"/>
            <a:ext cx="3923928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Ovocyte II</a:t>
            </a:r>
          </a:p>
          <a:p>
            <a:r>
              <a:rPr lang="fr-FR" sz="2800" b="1" dirty="0" smtClean="0"/>
              <a:t> Ø120 à 150 µm</a:t>
            </a:r>
          </a:p>
          <a:p>
            <a:r>
              <a:rPr lang="fr-FR" sz="2800" b="1" dirty="0" smtClean="0"/>
              <a:t>Zone pellucide</a:t>
            </a:r>
          </a:p>
          <a:p>
            <a:r>
              <a:rPr lang="fr-FR" sz="2800" b="1" dirty="0" smtClean="0"/>
              <a:t>Corona </a:t>
            </a:r>
            <a:r>
              <a:rPr lang="fr-FR" sz="2800" b="1" dirty="0" err="1" smtClean="0"/>
              <a:t>Radiata</a:t>
            </a:r>
            <a:endParaRPr lang="fr-FR" sz="2800" b="1" dirty="0" smtClean="0"/>
          </a:p>
          <a:p>
            <a:r>
              <a:rPr lang="fr-FR" sz="2800" b="1" dirty="0" smtClean="0"/>
              <a:t>Cumulus </a:t>
            </a:r>
            <a:r>
              <a:rPr lang="fr-FR" sz="2800" b="1" dirty="0" err="1" smtClean="0"/>
              <a:t>oophorus</a:t>
            </a:r>
            <a:endParaRPr lang="fr-FR" sz="2800" b="1" dirty="0" smtClean="0"/>
          </a:p>
          <a:p>
            <a:r>
              <a:rPr lang="fr-FR" sz="2800" b="1" dirty="0" err="1" smtClean="0"/>
              <a:t>Granulosa</a:t>
            </a:r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Mb de </a:t>
            </a:r>
            <a:r>
              <a:rPr lang="fr-FR" sz="2800" b="1" dirty="0" err="1" smtClean="0"/>
              <a:t>Slavjansky</a:t>
            </a:r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err="1" smtClean="0"/>
              <a:t>Théque</a:t>
            </a:r>
            <a:r>
              <a:rPr lang="fr-FR" sz="2800" b="1" dirty="0" smtClean="0"/>
              <a:t> interne</a:t>
            </a:r>
          </a:p>
          <a:p>
            <a:r>
              <a:rPr lang="fr-FR" sz="2800" b="1" dirty="0" err="1" smtClean="0"/>
              <a:t>Théque</a:t>
            </a:r>
            <a:r>
              <a:rPr lang="fr-FR" sz="2800" b="1" dirty="0" smtClean="0"/>
              <a:t> externe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5940152" y="3284986"/>
            <a:ext cx="1329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 smtClean="0"/>
              <a:t>Antrum</a:t>
            </a:r>
            <a:endParaRPr lang="fr-FR" sz="2800" b="1" dirty="0"/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3851920" y="260648"/>
            <a:ext cx="2088232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4139952" y="1124744"/>
            <a:ext cx="180020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>
            <a:off x="3419872" y="1484784"/>
            <a:ext cx="2520280" cy="26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4427984" y="1340768"/>
            <a:ext cx="1512168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H="1">
            <a:off x="4283968" y="2348880"/>
            <a:ext cx="1656184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H="1" flipV="1">
            <a:off x="4283968" y="2780928"/>
            <a:ext cx="1512168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 flipH="1" flipV="1">
            <a:off x="3419872" y="2348880"/>
            <a:ext cx="2376264" cy="1179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 flipV="1">
            <a:off x="3563888" y="3024338"/>
            <a:ext cx="2232248" cy="112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H="1" flipV="1">
            <a:off x="2483768" y="3168352"/>
            <a:ext cx="3312368" cy="1457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722" y="4653138"/>
            <a:ext cx="5886598" cy="2160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861" y="743857"/>
            <a:ext cx="5750277" cy="5370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2987824" y="6525344"/>
            <a:ext cx="3635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Schéma de l’ovogénèse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55575" y="115758"/>
            <a:ext cx="9828584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2060"/>
                </a:solidFill>
              </a:rPr>
              <a:t>Caractéristiques  biologiques  de l’ovocyte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De l'ovocyte vers la périphérie, on distingue :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a- L'espace péri-vitellin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b- La zone pellucide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c- La Corona Radiata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/>
              <a:t> </a:t>
            </a:r>
            <a:endParaRPr kumimoji="0" lang="fr-FR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9218" name="AutoShape 2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2" name="AutoShape 6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25" name="Picture 9" descr="C:\Users\dell\Desktop\ind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700808"/>
            <a:ext cx="4788024" cy="51571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8" y="836712"/>
            <a:ext cx="9468544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2800" dirty="0"/>
              <a:t>Ovocyte </a:t>
            </a:r>
            <a:r>
              <a:rPr lang="fr-FR" sz="2800" dirty="0" smtClean="0"/>
              <a:t>secondaire</a:t>
            </a:r>
            <a:r>
              <a:rPr lang="fr-FR" sz="2800" dirty="0"/>
              <a:t>, </a:t>
            </a:r>
            <a:r>
              <a:rPr lang="fr-FR" sz="2800" dirty="0" smtClean="0"/>
              <a:t> bloqué </a:t>
            </a:r>
            <a:r>
              <a:rPr lang="fr-FR" sz="2800" dirty="0"/>
              <a:t>en métaphase II.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200" b="1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/>
              <a:t>Cellule sphérique de 150 µm de diamètre, sans activité de synthèse.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fr-FR" sz="2800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Matériel nucléaire bloqué en métaphase II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En absence de fécondation, l'ovocyte survit  24 h (rarement 48 h).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Fécondabilité de l'ovocyte =  degré de maturation cytoplasmique et nucléaire</a:t>
            </a:r>
            <a:endParaRPr lang="fr-FR" sz="2800" b="1" dirty="0" smtClean="0"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Migration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dans le tractus génital </a:t>
            </a:r>
            <a:r>
              <a:rPr lang="fr-FR" sz="2800" dirty="0" smtClean="0">
                <a:solidFill>
                  <a:srgbClr val="FF0000"/>
                </a:solidFill>
                <a:ea typeface="Times New Roman" pitchFamily="18" charset="0"/>
                <a:cs typeface="Times New Roman" pitchFamily="18" charset="0"/>
              </a:rPr>
              <a:t>passive 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f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acilitée par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- Le courant liquidien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- Les mouvements des cils vibratiles de l'épithélium   tubaire.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8820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Différences entre gametogenèses masculine et feminine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 descr="http://moodle.univ-brest.fr/medecine/public/sites/Serveur_2009/Embryologie/Emb_gen/E_gamet/Dgamet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8064895" cy="496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7784" y="0"/>
            <a:ext cx="2051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a. Cinétique </a:t>
            </a:r>
            <a:endParaRPr lang="fr-FR" sz="2800" dirty="0">
              <a:solidFill>
                <a:srgbClr val="0070C0"/>
              </a:solidFill>
            </a:endParaRPr>
          </a:p>
        </p:txBody>
      </p: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4716016" y="692696"/>
            <a:ext cx="6336704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Phase de prolifération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Vie intra-utérine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entre  3 et 7 mois 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Nombre de gamètes fixé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avant la naissance.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Arrêt de la gamétogenèse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à la ménopause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1417361" flipH="1" flipV="1">
            <a:off x="558722" y="529297"/>
            <a:ext cx="1499592" cy="115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0"/>
            <a:ext cx="114508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1607894"/>
            <a:ext cx="24244986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Les cellules souches</a:t>
            </a:r>
            <a:r>
              <a:rPr kumimoji="0" lang="fr-FR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sont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quiescentes   et indifférenciées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jusqu‘à la puberté.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Gamétogenèse continue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7851" y="127532"/>
            <a:ext cx="38209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b. Résultat </a:t>
            </a:r>
            <a:r>
              <a:rPr lang="fr-FR" sz="2800" b="1" dirty="0">
                <a:solidFill>
                  <a:srgbClr val="0070C0"/>
                </a:solidFill>
              </a:rPr>
              <a:t>de la méiose </a:t>
            </a:r>
            <a:endParaRPr lang="fr-FR" sz="2800" dirty="0">
              <a:solidFill>
                <a:srgbClr val="0070C0"/>
              </a:solidFill>
            </a:endParaRP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539552" y="1317541"/>
            <a:ext cx="91440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01 spermatocyte I                             01 ovocyte 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02 spermatocyte II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04 spermatides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dirty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1417361" flipH="1" flipV="1">
            <a:off x="1469062" y="980509"/>
            <a:ext cx="1499592" cy="115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74" y="743732"/>
            <a:ext cx="1145083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ZoneTexte 7"/>
          <p:cNvSpPr txBox="1"/>
          <p:nvPr/>
        </p:nvSpPr>
        <p:spPr>
          <a:xfrm>
            <a:off x="5220072" y="3730973"/>
            <a:ext cx="307795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01 ovocyte II</a:t>
            </a:r>
          </a:p>
          <a:p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</a:t>
            </a:r>
          </a:p>
          <a:p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01 ovotide </a:t>
            </a:r>
            <a:endParaRPr lang="fr-FR" sz="2800" dirty="0"/>
          </a:p>
        </p:txBody>
      </p:sp>
      <p:cxnSp>
        <p:nvCxnSpPr>
          <p:cNvPr id="10" name="Connecteur droit avec flèche 9"/>
          <p:cNvCxnSpPr/>
          <p:nvPr/>
        </p:nvCxnSpPr>
        <p:spPr>
          <a:xfrm>
            <a:off x="1835696" y="2996952"/>
            <a:ext cx="0" cy="86409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>
            <a:off x="1841163" y="4221088"/>
            <a:ext cx="0" cy="86409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>
            <a:off x="6392082" y="4299199"/>
            <a:ext cx="0" cy="86409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6372200" y="2996952"/>
            <a:ext cx="0" cy="86409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323528" y="-315416"/>
            <a:ext cx="2284359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c. Nombre de gamètes produits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fr-FR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40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100 à 300 millions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spz/éjaculat.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1417361" flipH="1" flipV="1">
            <a:off x="1721091" y="1307217"/>
            <a:ext cx="1499592" cy="115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989881"/>
            <a:ext cx="114508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4644008" y="2780928"/>
            <a:ext cx="4752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350 à 400 ovocytes</a:t>
            </a:r>
          </a:p>
          <a:p>
            <a:pPr marL="800100" lvl="0" indent="-80010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durant toute la période  de vie    génitale active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9512" y="548680"/>
            <a:ext cx="22843593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</a:t>
            </a: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kumimoji="0" lang="fr-FR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4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fr-FR" sz="40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3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lang="fr-FR" sz="3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632" y="-191438"/>
            <a:ext cx="5950283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</a:t>
            </a:r>
            <a:endParaRPr kumimoji="0" lang="fr-F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d. Caractéristiques des gamètes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36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36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36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1417361" flipH="1" flipV="1">
            <a:off x="630730" y="1033353"/>
            <a:ext cx="1499592" cy="115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9829" y="801377"/>
            <a:ext cx="1584176" cy="141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107504" y="2337092"/>
            <a:ext cx="476803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Petite cellule  très différenciée,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isolée,  mobile,  pauvre 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cytoplasme</a:t>
            </a:r>
            <a:endParaRPr lang="fr-FR" sz="2800" dirty="0"/>
          </a:p>
        </p:txBody>
      </p:sp>
      <p:sp>
        <p:nvSpPr>
          <p:cNvPr id="8" name="ZoneTexte 7"/>
          <p:cNvSpPr txBox="1"/>
          <p:nvPr/>
        </p:nvSpPr>
        <p:spPr>
          <a:xfrm>
            <a:off x="5004048" y="2210580"/>
            <a:ext cx="369030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Cellule volumineuse,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riche en cytoplasme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immobile, entourée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d'enveloppes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17867</TotalTime>
  <Words>640</Words>
  <Application>Microsoft Office PowerPoint</Application>
  <PresentationFormat>Affichage à l'écran (4:3)</PresentationFormat>
  <Paragraphs>269</Paragraphs>
  <Slides>26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92</cp:revision>
  <dcterms:created xsi:type="dcterms:W3CDTF">2012-11-10T07:52:45Z</dcterms:created>
  <dcterms:modified xsi:type="dcterms:W3CDTF">2024-10-15T18:41:45Z</dcterms:modified>
</cp:coreProperties>
</file>