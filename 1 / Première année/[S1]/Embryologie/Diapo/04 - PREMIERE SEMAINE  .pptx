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0"/>
  </p:notesMasterIdLst>
  <p:sldIdLst>
    <p:sldId id="257" r:id="rId2"/>
    <p:sldId id="314" r:id="rId3"/>
    <p:sldId id="293" r:id="rId4"/>
    <p:sldId id="258" r:id="rId5"/>
    <p:sldId id="308" r:id="rId6"/>
    <p:sldId id="292" r:id="rId7"/>
    <p:sldId id="296" r:id="rId8"/>
    <p:sldId id="259" r:id="rId9"/>
    <p:sldId id="295" r:id="rId10"/>
    <p:sldId id="260" r:id="rId11"/>
    <p:sldId id="261" r:id="rId12"/>
    <p:sldId id="291" r:id="rId13"/>
    <p:sldId id="286" r:id="rId14"/>
    <p:sldId id="315" r:id="rId15"/>
    <p:sldId id="262" r:id="rId16"/>
    <p:sldId id="287" r:id="rId17"/>
    <p:sldId id="264" r:id="rId18"/>
    <p:sldId id="288" r:id="rId19"/>
    <p:sldId id="316" r:id="rId20"/>
    <p:sldId id="289" r:id="rId21"/>
    <p:sldId id="268" r:id="rId22"/>
    <p:sldId id="269" r:id="rId23"/>
    <p:sldId id="271" r:id="rId24"/>
    <p:sldId id="310" r:id="rId25"/>
    <p:sldId id="273" r:id="rId26"/>
    <p:sldId id="274" r:id="rId27"/>
    <p:sldId id="277" r:id="rId28"/>
    <p:sldId id="290" r:id="rId29"/>
    <p:sldId id="278" r:id="rId30"/>
    <p:sldId id="298" r:id="rId31"/>
    <p:sldId id="299" r:id="rId32"/>
    <p:sldId id="300" r:id="rId33"/>
    <p:sldId id="301" r:id="rId34"/>
    <p:sldId id="302" r:id="rId35"/>
    <p:sldId id="305" r:id="rId36"/>
    <p:sldId id="306" r:id="rId37"/>
    <p:sldId id="311" r:id="rId38"/>
    <p:sldId id="312" r:id="rId3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94C17-715E-4471-BB27-E442A396748E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D394A-C580-481F-934B-891E82625F0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37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38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28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367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91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06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465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4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31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05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36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72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92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8CF62-766C-4CAC-AE9E-7BE9F5263168}" type="datetimeFigureOut">
              <a:rPr lang="fr-FR" smtClean="0"/>
              <a:pPr/>
              <a:t>05/11/2023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3E0D3-1099-4B8C-84F1-5454F4903F3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82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1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7997" y="260648"/>
            <a:ext cx="8886920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            </a:t>
            </a:r>
            <a:r>
              <a:rPr lang="fr-FR" sz="2800" b="1" dirty="0" smtClean="0"/>
              <a:t>MODULE EMBRYOLOGIE GENERALE</a:t>
            </a:r>
          </a:p>
          <a:p>
            <a:r>
              <a:rPr lang="fr-FR" sz="2800" b="1" dirty="0" smtClean="0"/>
              <a:t>                       LA PREMIERE SEMAINE</a:t>
            </a:r>
          </a:p>
          <a:p>
            <a:r>
              <a:rPr lang="fr-FR" sz="2800" b="1" dirty="0" smtClean="0"/>
              <a:t>         DU DEVELOPPEMENT EMBRYONNAIRE</a:t>
            </a:r>
          </a:p>
          <a:p>
            <a:endParaRPr lang="fr-FR" sz="2800" dirty="0" smtClean="0"/>
          </a:p>
          <a:p>
            <a:r>
              <a:rPr lang="fr-FR" sz="2800" dirty="0" smtClean="0"/>
              <a:t>         </a:t>
            </a:r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                                                               </a:t>
            </a:r>
            <a:r>
              <a:rPr lang="fr-FR" sz="2800" b="1" dirty="0" smtClean="0"/>
              <a:t>PR HANNACHI-HECINI A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824"/>
            <a:ext cx="8532440" cy="4392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9487" y="-26487"/>
            <a:ext cx="1020028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La 1</a:t>
            </a:r>
            <a:r>
              <a:rPr lang="fr-FR" sz="3200" baseline="30000" dirty="0" smtClean="0"/>
              <a:t>ème</a:t>
            </a:r>
            <a:r>
              <a:rPr lang="fr-FR" sz="3200" dirty="0" smtClean="0"/>
              <a:t> semaine du développement embryonnaire</a:t>
            </a:r>
          </a:p>
          <a:p>
            <a:r>
              <a:rPr lang="fr-FR" sz="3200" dirty="0" smtClean="0"/>
              <a:t> est marquée par 2 évènements majeurs:</a:t>
            </a:r>
          </a:p>
          <a:p>
            <a:endParaRPr lang="fr-FR" sz="3200" b="1" dirty="0" smtClean="0"/>
          </a:p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2060"/>
                </a:solidFill>
              </a:rPr>
              <a:t>Fécondation</a:t>
            </a:r>
          </a:p>
          <a:p>
            <a:pPr>
              <a:buFontTx/>
              <a:buChar char="-"/>
            </a:pPr>
            <a:endParaRPr lang="fr-FR" sz="3200" b="1" dirty="0" smtClean="0"/>
          </a:p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2060"/>
                </a:solidFill>
              </a:rPr>
              <a:t>Segmentation et Migration tubaire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     </a:t>
            </a:r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r>
              <a:rPr lang="fr-FR" sz="2800" b="1" dirty="0" smtClean="0"/>
              <a:t> 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410432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972600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r>
              <a:rPr lang="fr-FR" sz="2800" dirty="0" smtClean="0"/>
              <a:t>                                 </a:t>
            </a:r>
            <a:r>
              <a:rPr lang="fr-FR" sz="2800" dirty="0" smtClean="0">
                <a:solidFill>
                  <a:srgbClr val="002060"/>
                </a:solidFill>
              </a:rPr>
              <a:t>I. </a:t>
            </a:r>
            <a:r>
              <a:rPr lang="fr-FR" sz="2800" b="1" dirty="0" smtClean="0">
                <a:solidFill>
                  <a:srgbClr val="002060"/>
                </a:solidFill>
              </a:rPr>
              <a:t>LA FECONDATION</a:t>
            </a:r>
          </a:p>
          <a:p>
            <a:r>
              <a:rPr lang="fr-FR" sz="2800" dirty="0" smtClean="0"/>
              <a:t>      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C’est le processus au cours duquel s’unissent les gamètes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mâle et femelle pour former le zygote puis l’embryon. </a:t>
            </a: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Elle s’effectue dans le tiers externe de  la trompe de Fallope.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Elle nécessite la présence au même moment d’un spermatozoïde capable de féconder et d’un ovocyte mature.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La fécondation répond à des conditions chronologiques et topographiques précises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-Période de fécondabilité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- Date d’ovulation </a:t>
            </a:r>
          </a:p>
          <a:p>
            <a:pPr>
              <a:buFontTx/>
              <a:buChar char="-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 Durée de vie des gamètes </a:t>
            </a:r>
          </a:p>
          <a:p>
            <a:pPr>
              <a:buFontTx/>
              <a:buChar char="-"/>
            </a:pPr>
            <a:r>
              <a:rPr lang="fr-FR" sz="2800" dirty="0" smtClean="0">
                <a:latin typeface="Calibri" pitchFamily="34" charset="0"/>
                <a:cs typeface="Calibri" pitchFamily="34" charset="0"/>
              </a:rPr>
              <a:t> Capacitation des </a:t>
            </a:r>
            <a:r>
              <a:rPr lang="fr-FR" sz="2800" dirty="0" err="1" smtClean="0">
                <a:latin typeface="Calibri" pitchFamily="34" charset="0"/>
                <a:cs typeface="Calibri" pitchFamily="34" charset="0"/>
              </a:rPr>
              <a:t>spz</a:t>
            </a:r>
            <a:r>
              <a:rPr lang="fr-FR" sz="2800" dirty="0" smtClean="0">
                <a:latin typeface="Calibri" pitchFamily="34" charset="0"/>
                <a:cs typeface="Calibri" pitchFamily="34" charset="0"/>
              </a:rPr>
              <a:t> dans l’appareil génital féminin </a:t>
            </a:r>
            <a:endParaRPr lang="fr-FR" sz="28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60648"/>
            <a:ext cx="8619154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Trajet des spermatozoides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Rapport sexuel                         </a:t>
            </a:r>
            <a:r>
              <a:rPr lang="fr-FR" sz="2800" dirty="0" smtClean="0"/>
              <a:t>100 à 300 millions de </a:t>
            </a:r>
            <a:r>
              <a:rPr lang="fr-FR" sz="2800" dirty="0" err="1" smtClean="0"/>
              <a:t>spz</a:t>
            </a:r>
            <a:endParaRPr lang="fr-FR" sz="2800" dirty="0" smtClean="0"/>
          </a:p>
          <a:p>
            <a:r>
              <a:rPr lang="fr-FR" sz="2800" dirty="0" smtClean="0"/>
              <a:t>          </a:t>
            </a:r>
            <a:r>
              <a:rPr lang="fr-FR" sz="2800" b="1" dirty="0" smtClean="0"/>
              <a:t>coït</a:t>
            </a:r>
            <a:r>
              <a:rPr lang="fr-FR" sz="2800" dirty="0" smtClean="0"/>
              <a:t>                               déposés dans la cavité vaginale</a:t>
            </a:r>
            <a:endParaRPr lang="fr-FR" sz="2800" b="1" dirty="0" smtClean="0"/>
          </a:p>
          <a:p>
            <a:r>
              <a:rPr lang="fr-FR" sz="2800" b="1" dirty="0" smtClean="0"/>
              <a:t>         </a:t>
            </a:r>
          </a:p>
          <a:p>
            <a:r>
              <a:rPr lang="fr-FR" sz="2800" b="1" dirty="0" smtClean="0"/>
              <a:t>                               Ces </a:t>
            </a:r>
            <a:r>
              <a:rPr lang="fr-FR" sz="2800" b="1" dirty="0" err="1" smtClean="0"/>
              <a:t>spz</a:t>
            </a:r>
            <a:r>
              <a:rPr lang="fr-FR" sz="2800" b="1" dirty="0" smtClean="0"/>
              <a:t> doivent:</a:t>
            </a:r>
          </a:p>
          <a:p>
            <a:pPr>
              <a:buFontTx/>
              <a:buChar char="-"/>
            </a:pPr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 smtClean="0"/>
              <a:t> Remonter le tractus génital jusqu’à l’ ampoule de la</a:t>
            </a:r>
          </a:p>
          <a:p>
            <a:r>
              <a:rPr lang="fr-FR" sz="2800" b="1" dirty="0" smtClean="0"/>
              <a:t> trompe</a:t>
            </a:r>
          </a:p>
          <a:p>
            <a:pPr>
              <a:buFontTx/>
              <a:buChar char="-"/>
            </a:pPr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/>
              <a:t> </a:t>
            </a:r>
            <a:r>
              <a:rPr lang="fr-FR" sz="2800" b="1" dirty="0" smtClean="0"/>
              <a:t>Traverser les enveloppes de l’ovocyte: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corona </a:t>
            </a:r>
            <a:r>
              <a:rPr lang="fr-FR" sz="2800" b="1" dirty="0" err="1" smtClean="0"/>
              <a:t>radiata</a:t>
            </a:r>
            <a:r>
              <a:rPr lang="fr-FR" sz="2800" b="1" dirty="0" smtClean="0"/>
              <a:t>,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membrane pellucide,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membrane plasmique. </a:t>
            </a:r>
          </a:p>
          <a:p>
            <a:pPr>
              <a:buFontTx/>
              <a:buChar char="-"/>
            </a:pPr>
            <a:endParaRPr lang="fr-FR" sz="2800" b="1" dirty="0"/>
          </a:p>
          <a:p>
            <a:r>
              <a:rPr lang="fr-FR" sz="2800" b="1" dirty="0" smtClean="0"/>
              <a:t> </a:t>
            </a:r>
            <a:endParaRPr lang="fr-FR" sz="2800" b="1" dirty="0"/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endParaRPr lang="fr-FR" sz="28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3275856" y="260648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èche droite 5"/>
          <p:cNvSpPr/>
          <p:nvPr/>
        </p:nvSpPr>
        <p:spPr>
          <a:xfrm flipV="1">
            <a:off x="2786652" y="1412776"/>
            <a:ext cx="978408" cy="45719"/>
          </a:xfrm>
          <a:prstGeom prst="rightArrow">
            <a:avLst/>
          </a:prstGeom>
          <a:solidFill>
            <a:srgbClr val="0070C0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756884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endParaRPr lang="fr-FR" sz="2800" b="1" dirty="0"/>
          </a:p>
          <a:p>
            <a:r>
              <a:rPr lang="fr-FR" sz="2800" b="1" dirty="0" smtClean="0"/>
              <a:t> Perte considérable de </a:t>
            </a:r>
            <a:r>
              <a:rPr lang="fr-FR" sz="2800" b="1" dirty="0" err="1" smtClean="0"/>
              <a:t>spz</a:t>
            </a:r>
            <a:r>
              <a:rPr lang="fr-FR" sz="2800" b="1" dirty="0" smtClean="0"/>
              <a:t>: quelques centaines seulement</a:t>
            </a:r>
          </a:p>
          <a:p>
            <a:r>
              <a:rPr lang="fr-FR" sz="2800" b="1" dirty="0" smtClean="0"/>
              <a:t> arrivent au lieu de  fécondation.</a:t>
            </a:r>
          </a:p>
          <a:p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25% sont anormaux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Qualité de la glaire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Un grand nombre est emprisonné dans les glandes</a:t>
            </a:r>
          </a:p>
          <a:p>
            <a:r>
              <a:rPr lang="fr-FR" sz="2800" b="1" dirty="0" smtClean="0"/>
              <a:t> du col utérin.</a:t>
            </a:r>
          </a:p>
          <a:p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La jonction utéro tubaire forme un obstacle…</a:t>
            </a:r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pPr>
              <a:buFont typeface="Wingdings" pitchFamily="2" charset="2"/>
              <a:buChar char="q"/>
            </a:pPr>
            <a:endParaRPr lang="fr-FR" sz="2800" b="1" dirty="0"/>
          </a:p>
          <a:p>
            <a:pPr>
              <a:buFont typeface="Wingdings" pitchFamily="2" charset="2"/>
              <a:buChar char="q"/>
            </a:pPr>
            <a:endParaRPr lang="fr-FR" sz="2800" b="1" dirty="0"/>
          </a:p>
          <a:p>
            <a:pPr>
              <a:buFont typeface="Wingdings" pitchFamily="2" charset="2"/>
              <a:buChar char="q"/>
            </a:pPr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488" y="0"/>
            <a:ext cx="896448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ZoneTexte 1"/>
          <p:cNvSpPr txBox="1"/>
          <p:nvPr/>
        </p:nvSpPr>
        <p:spPr>
          <a:xfrm>
            <a:off x="3347864" y="6401138"/>
            <a:ext cx="3516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Trajet des spermatozoides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0"/>
            <a:ext cx="2828116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6593463" y="4797152"/>
            <a:ext cx="277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 smtClean="0"/>
          </a:p>
          <a:p>
            <a:r>
              <a:rPr lang="fr-FR" b="1" dirty="0" smtClean="0"/>
              <a:t>3 - Crypte d'une glande</a:t>
            </a:r>
          </a:p>
          <a:p>
            <a:r>
              <a:rPr lang="fr-FR" b="1" dirty="0" smtClean="0"/>
              <a:t> du col </a:t>
            </a:r>
          </a:p>
          <a:p>
            <a:r>
              <a:rPr lang="fr-FR" b="1" dirty="0" smtClean="0"/>
              <a:t>4 - Filaments de mucus </a:t>
            </a:r>
          </a:p>
          <a:p>
            <a:r>
              <a:rPr lang="fr-FR" b="1" dirty="0" smtClean="0"/>
              <a:t>5 - Orifice de la</a:t>
            </a:r>
          </a:p>
          <a:p>
            <a:r>
              <a:rPr lang="fr-FR" b="1" dirty="0" smtClean="0"/>
              <a:t> portion vaginale du col </a:t>
            </a:r>
            <a:endParaRPr lang="fr-FR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877" y="0"/>
            <a:ext cx="659258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 smtClean="0"/>
          </a:p>
          <a:p>
            <a:r>
              <a:rPr lang="fr-FR" sz="2800" b="1" dirty="0" smtClean="0"/>
              <a:t>Au moment de 'ovulation,  sous  l'influence de  l'augmentation des  œstrogènes, le mucus  devient  plus liquide et les Spz  peuvent facilement  passer le col. </a:t>
            </a:r>
          </a:p>
          <a:p>
            <a:r>
              <a:rPr lang="fr-FR" sz="2800" b="1" dirty="0" smtClean="0"/>
              <a:t>Le mucus a un pH alcalin au moment de  l'ovulation, ce  qui convient mieux aux spz </a:t>
            </a:r>
          </a:p>
          <a:p>
            <a:r>
              <a:rPr lang="fr-FR" sz="2800" b="1" dirty="0" smtClean="0"/>
              <a:t>par rapport aux  sécrétions   vaginales  acides. 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1201" y="-99392"/>
            <a:ext cx="990059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Transformations des spermatozoides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Dans les voies génitales féminines, Le spz  subit 2 types  de  transformations: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La capacitation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La réaction acrosomiale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La </a:t>
            </a:r>
            <a:r>
              <a:rPr lang="fr-FR" sz="2800" b="1" dirty="0" smtClean="0">
                <a:solidFill>
                  <a:srgbClr val="0070C0"/>
                </a:solidFill>
              </a:rPr>
              <a:t>capacitation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/>
              <a:t>c’est l’ensemble des modifications qui mènent à l'hyperactivité du spz. </a:t>
            </a:r>
          </a:p>
          <a:p>
            <a:r>
              <a:rPr lang="fr-FR" sz="2800" b="1" dirty="0" smtClean="0"/>
              <a:t>- Les modifications ont lieu sur la membrane plasmique des spz :</a:t>
            </a:r>
          </a:p>
          <a:p>
            <a:r>
              <a:rPr lang="fr-FR" sz="2800" b="1" dirty="0" smtClean="0"/>
              <a:t>- il ya un démantèlement du cell coat recouvrant la tête du spz . </a:t>
            </a:r>
          </a:p>
          <a:p>
            <a:r>
              <a:rPr lang="fr-FR" sz="2800" b="1" dirty="0" smtClean="0"/>
              <a:t>- Elle a lieu dans les voies génitales féminines.</a:t>
            </a:r>
          </a:p>
          <a:p>
            <a:r>
              <a:rPr lang="fr-FR" sz="2800" b="1" dirty="0" smtClean="0"/>
              <a:t> - L’élimination du cell-coat est causée par: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  Enzymes (neuraminidase, glucuronidase)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  Glycosaminoglycanes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  Hormones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125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cs typeface="Arial" pitchFamily="34" charset="0"/>
              </a:rPr>
              <a:t>La réaction acrosomiale</a:t>
            </a:r>
          </a:p>
          <a:p>
            <a:r>
              <a:rPr lang="fr-FR" sz="2800" b="1" dirty="0" smtClean="0">
                <a:solidFill>
                  <a:srgbClr val="0070C0"/>
                </a:solidFill>
                <a:cs typeface="Arial" pitchFamily="34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cs typeface="Arial" pitchFamily="34" charset="0"/>
              </a:rPr>
              <a:t> C’</a:t>
            </a:r>
            <a:r>
              <a:rPr lang="fr-FR" sz="2800" dirty="0" smtClean="0">
                <a:cs typeface="Arial" pitchFamily="34" charset="0"/>
              </a:rPr>
              <a:t>est l'ouverture de l'acrosome.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Arial" pitchFamily="34" charset="0"/>
              </a:rPr>
              <a:t> Elle ne peut se faire qu'après la capacitation.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Arial" pitchFamily="34" charset="0"/>
              </a:rPr>
              <a:t> Elle  nécessite la présence de Ca</a:t>
            </a:r>
            <a:r>
              <a:rPr lang="fr-FR" sz="2800" baseline="30000" dirty="0" smtClean="0">
                <a:cs typeface="Arial" pitchFamily="34" charset="0"/>
              </a:rPr>
              <a:t>++</a:t>
            </a:r>
            <a:r>
              <a:rPr lang="fr-FR" sz="2800" dirty="0" smtClean="0"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>
              <a:cs typeface="Arial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Arial" pitchFamily="34" charset="0"/>
              </a:rPr>
              <a:t>C</a:t>
            </a:r>
            <a:r>
              <a:rPr lang="fr-FR" sz="2800" dirty="0" smtClean="0">
                <a:cs typeface="Calibri" pitchFamily="34" charset="0"/>
              </a:rPr>
              <a:t>ette réaction est rapide, elle ne dure que 10  à 15 mn.</a:t>
            </a:r>
          </a:p>
          <a:p>
            <a:r>
              <a:rPr lang="fr-FR" sz="2800" dirty="0" smtClean="0">
                <a:cs typeface="Calibri" pitchFamily="34" charset="0"/>
              </a:rPr>
              <a:t> </a:t>
            </a:r>
            <a:endParaRPr lang="fr-FR" sz="2800" b="1" dirty="0">
              <a:solidFill>
                <a:srgbClr val="FF0000"/>
              </a:solidFill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324544" y="31700"/>
            <a:ext cx="7975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     Phases de la fécondation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-20887" y="554920"/>
            <a:ext cx="89644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Traversée de la Corona Radiata </a:t>
            </a:r>
          </a:p>
          <a:p>
            <a:r>
              <a:rPr lang="fr-FR" sz="2800" b="1" dirty="0" smtClean="0"/>
              <a:t>Le spz traverse librement la corona radiata, la dernière couche nécessite une intervention  Enzymatique :     </a:t>
            </a:r>
            <a:r>
              <a:rPr lang="fr-FR" sz="2800" b="1" dirty="0" smtClean="0">
                <a:solidFill>
                  <a:srgbClr val="00B0F0"/>
                </a:solidFill>
              </a:rPr>
              <a:t>Hyaluronidase</a:t>
            </a:r>
            <a:r>
              <a:rPr lang="fr-FR" sz="2800" b="1" dirty="0" smtClean="0"/>
              <a:t>.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Interaction entre la zone pellucide et le spz</a:t>
            </a:r>
          </a:p>
          <a:p>
            <a:r>
              <a:rPr lang="fr-FR" sz="2800" b="1" dirty="0" smtClean="0"/>
              <a:t>La membrane pellucide :   3 glycoprotéines   </a:t>
            </a:r>
            <a:r>
              <a:rPr lang="fr-FR" sz="2800" b="1" dirty="0" smtClean="0">
                <a:solidFill>
                  <a:srgbClr val="00B0F0"/>
                </a:solidFill>
              </a:rPr>
              <a:t>ZP1, ZP2, ZP3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85" y="3861047"/>
            <a:ext cx="5541744" cy="2923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Seule ZP3 est capable de lier le spz à la zone  pellucide grâce  à des récepteurs membranaires au niveau du  domaine  antérieur de la  membrane plasmique du spz.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Parmi ces récepteurs membranaires:</a:t>
            </a:r>
          </a:p>
          <a:p>
            <a:pPr>
              <a:buFont typeface="Wingdings" pitchFamily="2" charset="2"/>
              <a:buChar char="v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ß 1,4-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galactosyl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tranférase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(Gal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Tase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 Enzyme de l’appareil de Golgi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 présente sur la mb du </a:t>
            </a:r>
            <a:r>
              <a:rPr lang="fr-FR" sz="2800" dirty="0" err="1" smtClean="0">
                <a:latin typeface="Arial" pitchFamily="34" charset="0"/>
                <a:cs typeface="Arial" pitchFamily="34" charset="0"/>
              </a:rPr>
              <a:t>spz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Molécule d’adhérence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Protéine membranaire</a:t>
            </a:r>
          </a:p>
          <a:p>
            <a:pPr>
              <a:buFont typeface="Wingdings" pitchFamily="2" charset="2"/>
              <a:buChar char="q"/>
            </a:pPr>
            <a:r>
              <a:rPr lang="fr-FR" sz="2800" dirty="0" smtClean="0">
                <a:latin typeface="Arial" pitchFamily="34" charset="0"/>
                <a:cs typeface="Arial" pitchFamily="34" charset="0"/>
              </a:rPr>
              <a:t>  Interagit avec ZP3</a:t>
            </a:r>
          </a:p>
          <a:p>
            <a:r>
              <a:rPr lang="fr-FR" sz="2800" dirty="0" smtClean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v"/>
            </a:pPr>
            <a:endParaRPr lang="fr-FR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ixation primaire du spermatozoïde à la zone pellucid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8568952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2301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2060"/>
                </a:solidFill>
              </a:rPr>
              <a:t>Réaction acrosomiale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dirty="0" err="1" smtClean="0"/>
              <a:t>Exocytose</a:t>
            </a:r>
            <a:r>
              <a:rPr lang="fr-FR" sz="3200" dirty="0" smtClean="0"/>
              <a:t> entre membrane externe de l’acrosome et la  membrane plasmique du </a:t>
            </a:r>
            <a:r>
              <a:rPr lang="fr-FR" sz="3200" dirty="0" err="1" smtClean="0"/>
              <a:t>spz</a:t>
            </a:r>
            <a:r>
              <a:rPr lang="fr-FR" sz="32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Libération du contenu enzymatique  de l’acrosome:  une protéase: </a:t>
            </a:r>
            <a:r>
              <a:rPr lang="fr-FR" sz="3200" dirty="0" err="1" smtClean="0">
                <a:solidFill>
                  <a:srgbClr val="FF0000"/>
                </a:solidFill>
              </a:rPr>
              <a:t>Acrosine</a:t>
            </a:r>
            <a:endParaRPr lang="fr-FR" sz="3200" dirty="0" smtClean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Cette réaction est induite par ZP3.</a:t>
            </a:r>
          </a:p>
          <a:p>
            <a:pPr>
              <a:buFont typeface="Wingdings" pitchFamily="2" charset="2"/>
              <a:buChar char="Ø"/>
            </a:pPr>
            <a:r>
              <a:rPr lang="fr-FR" sz="3200" dirty="0" smtClean="0"/>
              <a:t> Fait intervenir:</a:t>
            </a:r>
          </a:p>
          <a:p>
            <a:r>
              <a:rPr lang="fr-FR" sz="3200" dirty="0" smtClean="0"/>
              <a:t>              *  </a:t>
            </a:r>
            <a:r>
              <a:rPr lang="fr-FR" sz="3200" dirty="0" err="1" smtClean="0"/>
              <a:t>Phospholipase</a:t>
            </a:r>
            <a:endParaRPr lang="fr-FR" sz="3200" dirty="0" smtClean="0"/>
          </a:p>
          <a:p>
            <a:r>
              <a:rPr lang="fr-FR" sz="3200" dirty="0" smtClean="0"/>
              <a:t>              *  Protéines</a:t>
            </a:r>
          </a:p>
          <a:p>
            <a:r>
              <a:rPr lang="fr-FR" sz="3200" dirty="0" smtClean="0"/>
              <a:t>               * Flux entrant de Na+ et de Ca+ </a:t>
            </a:r>
          </a:p>
          <a:p>
            <a:endParaRPr lang="fr-FR" sz="3200" dirty="0" smtClean="0"/>
          </a:p>
          <a:p>
            <a:pPr>
              <a:buFont typeface="Wingdings" pitchFamily="2" charset="2"/>
              <a:buChar char="q"/>
            </a:pPr>
            <a:endParaRPr lang="fr-FR" sz="3200" dirty="0" smtClean="0"/>
          </a:p>
          <a:p>
            <a:pPr>
              <a:buFont typeface="Wingdings" pitchFamily="2" charset="2"/>
              <a:buChar char="v"/>
            </a:pPr>
            <a:endParaRPr lang="fr-FR" sz="3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764705"/>
            <a:ext cx="8712967" cy="489654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5877272"/>
            <a:ext cx="3578662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0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http://public.iutenligne.net/fondements_GB/bio/sciences_bio/physio/Dessins/Schemas/Image316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-315416"/>
            <a:ext cx="7596336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3656908" y="5805264"/>
            <a:ext cx="3377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Réaction acrosomiale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8285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Digestion de la mb pellucide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fr-FR" sz="2800" b="1" dirty="0" smtClean="0"/>
              <a:t> L’acrosine               digestion partielle de la mb pellucide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2060"/>
                </a:solidFill>
              </a:rPr>
              <a:t>Détachement du spermatozoide</a:t>
            </a:r>
          </a:p>
          <a:p>
            <a:r>
              <a:rPr lang="fr-FR" sz="2800" b="1" dirty="0" smtClean="0"/>
              <a:t>Le  spz doit se détacher de la mb pellucide pour  pouvoir la franchir.</a:t>
            </a:r>
          </a:p>
          <a:p>
            <a:r>
              <a:rPr lang="fr-FR" sz="2800" b="1" dirty="0" smtClean="0"/>
              <a:t>Une enzyme:  la ßN-acétyl-glycosaminidase  clive les résidus       N-acétylglycosamines donc pas d’interaction entre ZP3  et  </a:t>
            </a:r>
          </a:p>
          <a:p>
            <a:r>
              <a:rPr lang="fr-FR" sz="2800" b="1" dirty="0" smtClean="0"/>
              <a:t>Gal Tase et le spz libre pénètre dans l’espace péri-vitellin: </a:t>
            </a: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1979712" y="1124744"/>
            <a:ext cx="1152128" cy="0"/>
          </a:xfrm>
          <a:prstGeom prst="straightConnector1">
            <a:avLst/>
          </a:prstGeom>
          <a:ln w="5715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11185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2060"/>
                </a:solidFill>
                <a:cs typeface="Arial" pitchFamily="34" charset="0"/>
              </a:rPr>
              <a:t>Fusion des 2 membranes plasmiques </a:t>
            </a:r>
          </a:p>
          <a:p>
            <a:r>
              <a:rPr lang="fr-FR" sz="2800" b="1" dirty="0">
                <a:solidFill>
                  <a:srgbClr val="002060"/>
                </a:solidFill>
                <a:cs typeface="Arial" pitchFamily="34" charset="0"/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  <a:cs typeface="Arial" pitchFamily="34" charset="0"/>
              </a:rPr>
              <a:t>                   (plasmogamie</a:t>
            </a:r>
            <a:r>
              <a:rPr lang="fr-FR" sz="2800" b="1" dirty="0" smtClean="0">
                <a:cs typeface="Arial" pitchFamily="34" charset="0"/>
              </a:rPr>
              <a:t>)</a:t>
            </a:r>
          </a:p>
          <a:p>
            <a:endParaRPr lang="fr-FR" sz="2800" b="1" dirty="0" smtClean="0"/>
          </a:p>
          <a:p>
            <a:pPr>
              <a:buFontTx/>
              <a:buChar char="-"/>
            </a:pPr>
            <a:r>
              <a:rPr lang="fr-FR" sz="2800" b="1" dirty="0" smtClean="0"/>
              <a:t> Les 2 mbs fusionnent et se rompent en un point</a:t>
            </a:r>
          </a:p>
          <a:p>
            <a:pPr>
              <a:buFontTx/>
              <a:buChar char="-"/>
            </a:pPr>
            <a:r>
              <a:rPr lang="fr-FR" sz="2800" b="1" dirty="0" smtClean="0"/>
              <a:t> Passage du contenu du spz dans le cytoplasme de l’ovocyte II.</a:t>
            </a:r>
          </a:p>
          <a:p>
            <a:r>
              <a:rPr lang="fr-FR" sz="2800" b="1" dirty="0" smtClean="0"/>
              <a:t> </a:t>
            </a:r>
          </a:p>
          <a:p>
            <a:r>
              <a:rPr lang="fr-FR" sz="3200" b="1" dirty="0"/>
              <a:t> </a:t>
            </a:r>
            <a:r>
              <a:rPr lang="fr-FR" sz="3200" b="1" dirty="0" smtClean="0"/>
              <a:t>                               </a:t>
            </a:r>
          </a:p>
          <a:p>
            <a:endParaRPr lang="fr-FR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924944"/>
            <a:ext cx="5616624" cy="3689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222533" y="3154075"/>
            <a:ext cx="18394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Mb pellucide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Fusion des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2 </a:t>
            </a:r>
            <a:r>
              <a:rPr lang="fr-FR" sz="2800" b="1" dirty="0" err="1" smtClean="0">
                <a:solidFill>
                  <a:srgbClr val="0070C0"/>
                </a:solidFill>
              </a:rPr>
              <a:t>mbs</a:t>
            </a:r>
            <a:endParaRPr lang="fr-FR" sz="2800" b="1" dirty="0">
              <a:solidFill>
                <a:srgbClr val="0070C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 flipH="1">
            <a:off x="4932040" y="3645024"/>
            <a:ext cx="12904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 flipV="1">
            <a:off x="2987824" y="5373216"/>
            <a:ext cx="3024336" cy="2160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819472"/>
            <a:ext cx="9036496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                       </a:t>
            </a:r>
          </a:p>
          <a:p>
            <a:endParaRPr lang="fr-FR" sz="3200" b="1" dirty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 spz présente à sa surface une molécule:  </a:t>
            </a:r>
            <a:r>
              <a:rPr lang="fr-FR" sz="2800" b="1" dirty="0" smtClean="0">
                <a:solidFill>
                  <a:srgbClr val="0070C0"/>
                </a:solidFill>
              </a:rPr>
              <a:t>Fertiline</a:t>
            </a:r>
          </a:p>
          <a:p>
            <a:r>
              <a:rPr lang="fr-FR" sz="2800" b="1" dirty="0" smtClean="0"/>
              <a:t>Capable de se lier à une autre protéine sur  la membrane plasmique de l’ovocyte:  </a:t>
            </a:r>
            <a:r>
              <a:rPr lang="fr-FR" sz="2800" b="1" dirty="0" smtClean="0">
                <a:solidFill>
                  <a:srgbClr val="0070C0"/>
                </a:solidFill>
              </a:rPr>
              <a:t>Intégrine,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 contrôle du processus de fusion  membranaire se fait</a:t>
            </a:r>
          </a:p>
          <a:p>
            <a:r>
              <a:rPr lang="fr-FR" sz="2800" b="1" dirty="0" smtClean="0"/>
              <a:t>grâce à des co-facteurs  comme:  Le </a:t>
            </a:r>
            <a:r>
              <a:rPr lang="fr-FR" sz="2800" b="1" dirty="0" smtClean="0">
                <a:solidFill>
                  <a:srgbClr val="0070C0"/>
                </a:solidFill>
              </a:rPr>
              <a:t>CD9</a:t>
            </a:r>
          </a:p>
          <a:p>
            <a:r>
              <a:rPr lang="fr-FR" sz="2800" b="1" dirty="0" smtClean="0"/>
              <a:t>         -Appartient à la  famille des tetraspanines</a:t>
            </a:r>
          </a:p>
          <a:p>
            <a:r>
              <a:rPr lang="fr-FR" sz="2800" b="1" dirty="0" smtClean="0"/>
              <a:t>         - Se lie à l’integrine</a:t>
            </a:r>
          </a:p>
          <a:p>
            <a:pPr marL="722313" indent="-722313"/>
            <a:r>
              <a:rPr lang="fr-FR" sz="2800" b="1" dirty="0" smtClean="0"/>
              <a:t>         - Le complexe formé pourrait réagir avec  la fertiline         - Les souris CD9 (-) ne sont pas fertiles</a:t>
            </a:r>
          </a:p>
          <a:p>
            <a:r>
              <a:rPr lang="fr-FR" sz="2800" b="1" dirty="0" smtClean="0"/>
              <a:t>         - Le récepteur du CD9 sur le spz :  molécule de la super famille des Immuno Globulines =  </a:t>
            </a:r>
            <a:r>
              <a:rPr lang="fr-FR" sz="2800" b="1" dirty="0" smtClean="0">
                <a:solidFill>
                  <a:srgbClr val="0070C0"/>
                </a:solidFill>
              </a:rPr>
              <a:t> Izumo 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04664"/>
            <a:ext cx="8568952" cy="51125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06735" y="5373216"/>
            <a:ext cx="3258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/>
              <a:t>Fusion membranaire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72170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Résultat de recherche d'images pour &quot;réaction corticale&quot;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2749642" y="5764009"/>
            <a:ext cx="3319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2060"/>
                </a:solidFill>
              </a:rPr>
              <a:t> Réaction corticale</a:t>
            </a:r>
            <a:endParaRPr lang="fr-FR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12560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Activation de l’œuf</a:t>
            </a:r>
          </a:p>
          <a:p>
            <a:endParaRPr lang="fr-FR" sz="2800" b="1" dirty="0">
              <a:solidFill>
                <a:srgbClr val="002060"/>
              </a:solidFill>
            </a:endParaRP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r>
              <a:rPr lang="fr-FR" sz="2800" b="1" dirty="0" smtClean="0"/>
              <a:t>Spz + ovocyte II                 activation d’une enzyme</a:t>
            </a:r>
          </a:p>
          <a:p>
            <a:r>
              <a:rPr lang="fr-FR" sz="2800" b="1" dirty="0" smtClean="0"/>
              <a:t>   </a:t>
            </a:r>
            <a:r>
              <a:rPr lang="fr-FR" sz="2800" b="1" dirty="0" smtClean="0">
                <a:solidFill>
                  <a:srgbClr val="0070C0"/>
                </a:solidFill>
              </a:rPr>
              <a:t>Fécondation </a:t>
            </a:r>
            <a:r>
              <a:rPr lang="fr-FR" sz="2800" b="1" dirty="0" smtClean="0"/>
              <a:t>                  membranaire: </a:t>
            </a:r>
            <a:r>
              <a:rPr lang="fr-FR" sz="2800" b="1" dirty="0" smtClean="0">
                <a:solidFill>
                  <a:srgbClr val="0070C0"/>
                </a:solidFill>
              </a:rPr>
              <a:t>phospholipase</a:t>
            </a:r>
          </a:p>
          <a:p>
            <a:r>
              <a:rPr lang="fr-FR" sz="2800" b="1" dirty="0" smtClean="0"/>
              <a:t> </a:t>
            </a:r>
          </a:p>
          <a:p>
            <a:r>
              <a:rPr lang="fr-FR" sz="2800" b="1" dirty="0" smtClean="0"/>
              <a:t>                      </a:t>
            </a:r>
          </a:p>
          <a:p>
            <a:r>
              <a:rPr lang="fr-FR" sz="2800" b="1" dirty="0" smtClean="0"/>
              <a:t>                            Phosphatidylinositol P</a:t>
            </a:r>
            <a:r>
              <a:rPr lang="fr-FR" sz="2800" b="1" baseline="-25000" dirty="0" smtClean="0"/>
              <a:t>1</a:t>
            </a:r>
            <a:r>
              <a:rPr lang="fr-FR" sz="2800" b="1" dirty="0" smtClean="0"/>
              <a:t>P</a:t>
            </a:r>
            <a:r>
              <a:rPr lang="fr-FR" sz="2800" b="1" baseline="-25000" dirty="0" smtClean="0"/>
              <a:t>2</a:t>
            </a:r>
            <a:r>
              <a:rPr lang="fr-FR" sz="2800" b="1" dirty="0" smtClean="0"/>
              <a:t>                                                  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               Inositol 1,4,5                          Diacyl Glycerol</a:t>
            </a:r>
          </a:p>
          <a:p>
            <a:r>
              <a:rPr lang="fr-FR" sz="2800" b="1" dirty="0" smtClean="0"/>
              <a:t>                Triphosphate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DAG   </a:t>
            </a:r>
            <a:r>
              <a:rPr lang="fr-FR" sz="2800" b="1" dirty="0" smtClean="0"/>
              <a:t>                                              </a:t>
            </a:r>
          </a:p>
          <a:p>
            <a:r>
              <a:rPr lang="fr-FR" sz="2800" b="1" dirty="0" smtClean="0"/>
              <a:t>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IP</a:t>
            </a:r>
            <a:r>
              <a:rPr lang="fr-FR" sz="2800" b="1" baseline="-25000" dirty="0" smtClean="0">
                <a:solidFill>
                  <a:srgbClr val="0070C0"/>
                </a:solidFill>
              </a:rPr>
              <a:t>3    </a:t>
            </a:r>
          </a:p>
          <a:p>
            <a:endParaRPr lang="fr-FR" sz="3200" b="1" dirty="0" smtClean="0">
              <a:solidFill>
                <a:schemeClr val="bg1"/>
              </a:solidFill>
            </a:endParaRPr>
          </a:p>
          <a:p>
            <a:r>
              <a:rPr lang="fr-FR" sz="3200" b="1" baseline="-25000" dirty="0" smtClean="0">
                <a:solidFill>
                  <a:srgbClr val="FF0000"/>
                </a:solidFill>
              </a:rPr>
              <a:t>                    </a:t>
            </a:r>
          </a:p>
          <a:p>
            <a:r>
              <a:rPr lang="fr-FR" sz="3200" b="1" baseline="-25000" dirty="0" smtClean="0">
                <a:solidFill>
                  <a:schemeClr val="bg1"/>
                </a:solidFill>
              </a:rPr>
              <a:t>                                                                                </a:t>
            </a:r>
          </a:p>
          <a:p>
            <a:r>
              <a:rPr lang="fr-FR" sz="3200" b="1" baseline="-25000" dirty="0" smtClean="0">
                <a:solidFill>
                  <a:schemeClr val="bg1"/>
                </a:solidFill>
              </a:rPr>
              <a:t> </a:t>
            </a:r>
          </a:p>
          <a:p>
            <a:r>
              <a:rPr lang="fr-FR" sz="3200" b="1" dirty="0" smtClean="0">
                <a:solidFill>
                  <a:schemeClr val="bg1"/>
                </a:solidFill>
              </a:rPr>
              <a:t>                                               </a:t>
            </a:r>
          </a:p>
          <a:p>
            <a:r>
              <a:rPr lang="fr-FR" sz="3200" b="1" dirty="0" smtClean="0">
                <a:solidFill>
                  <a:schemeClr val="bg1"/>
                </a:solidFill>
              </a:rPr>
              <a:t>                                                          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3" name="Flèche droite 2"/>
          <p:cNvSpPr/>
          <p:nvPr/>
        </p:nvSpPr>
        <p:spPr>
          <a:xfrm>
            <a:off x="2528318" y="1440060"/>
            <a:ext cx="978408" cy="14401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vers le bas 5"/>
          <p:cNvSpPr/>
          <p:nvPr/>
        </p:nvSpPr>
        <p:spPr>
          <a:xfrm rot="3945605" flipH="1">
            <a:off x="6404114" y="1825411"/>
            <a:ext cx="56008" cy="1527515"/>
          </a:xfrm>
          <a:prstGeom prst="downArrow">
            <a:avLst/>
          </a:prstGeom>
          <a:solidFill>
            <a:srgbClr val="FF0000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1823090" y="3754003"/>
            <a:ext cx="1194432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4840612" y="3754720"/>
            <a:ext cx="1205880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IP3 </a:t>
            </a:r>
            <a:r>
              <a:rPr lang="fr-FR" sz="2800" b="1" dirty="0" smtClean="0"/>
              <a:t>    agit sur le récepteur membranaire du RE</a:t>
            </a:r>
          </a:p>
          <a:p>
            <a:r>
              <a:rPr lang="fr-FR" sz="2800" b="1" dirty="0" smtClean="0"/>
              <a:t>                              Libération des ions Ca++ du RE</a:t>
            </a:r>
            <a:endParaRPr lang="fr-FR" sz="2800" b="1" dirty="0"/>
          </a:p>
        </p:txBody>
      </p:sp>
      <p:sp>
        <p:nvSpPr>
          <p:cNvPr id="5" name="Parenthèses 4"/>
          <p:cNvSpPr/>
          <p:nvPr/>
        </p:nvSpPr>
        <p:spPr>
          <a:xfrm>
            <a:off x="3141025" y="1241166"/>
            <a:ext cx="1440160" cy="914400"/>
          </a:xfrm>
          <a:prstGeom prst="bracketPair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3385949" y="1436756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Ca+2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6943" y="2380785"/>
            <a:ext cx="768832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DAG </a:t>
            </a:r>
            <a:r>
              <a:rPr lang="fr-FR" sz="2800" b="1" dirty="0" smtClean="0"/>
              <a:t>active la protéine C qui stimule la pompe Na+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PH intracellulaire                Activation du zygote</a:t>
            </a:r>
          </a:p>
          <a:p>
            <a:r>
              <a:rPr lang="fr-FR" sz="2800" b="1" dirty="0" smtClean="0"/>
              <a:t>                          Synthèse des protéines</a:t>
            </a:r>
          </a:p>
          <a:p>
            <a:r>
              <a:rPr lang="fr-FR" sz="2800" b="1" dirty="0" smtClean="0"/>
              <a:t>                             Synthèse des lipides</a:t>
            </a:r>
          </a:p>
          <a:p>
            <a:r>
              <a:rPr lang="fr-FR" sz="2800" b="1" dirty="0" smtClean="0"/>
              <a:t>        Reprise de la deuxième division de la méiose</a:t>
            </a:r>
          </a:p>
          <a:p>
            <a:r>
              <a:rPr lang="fr-FR" sz="2800" b="1" dirty="0" smtClean="0"/>
              <a:t>Ovocyte II             Ovotide + 2ème globule polaire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/>
          </a:p>
        </p:txBody>
      </p:sp>
      <p:sp>
        <p:nvSpPr>
          <p:cNvPr id="12" name="Parenthèses 11"/>
          <p:cNvSpPr/>
          <p:nvPr/>
        </p:nvSpPr>
        <p:spPr>
          <a:xfrm>
            <a:off x="3141025" y="2936341"/>
            <a:ext cx="1440160" cy="914400"/>
          </a:xfrm>
          <a:prstGeom prst="bracketPair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3308202" y="3101154"/>
            <a:ext cx="1071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Na+2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827584" y="692696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V="1">
            <a:off x="4851039" y="1268760"/>
            <a:ext cx="1017105" cy="429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V="1">
            <a:off x="4851039" y="3101154"/>
            <a:ext cx="801081" cy="405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915816" y="4149080"/>
            <a:ext cx="470133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1822642" y="609329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884368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Fécondation proprement dite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0070C0"/>
                </a:solidFill>
              </a:rPr>
              <a:t> Organisation des deux pronuclei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</a:t>
            </a:r>
            <a:r>
              <a:rPr lang="fr-FR" sz="2800" b="1" dirty="0" smtClean="0">
                <a:solidFill>
                  <a:srgbClr val="00B0F0"/>
                </a:solidFill>
              </a:rPr>
              <a:t>Pronucleus o        et pronucleus Ø</a:t>
            </a:r>
          </a:p>
          <a:p>
            <a:pPr marL="514350" indent="-514350"/>
            <a:endParaRPr lang="fr-FR" sz="2800" b="1" dirty="0" smtClean="0"/>
          </a:p>
          <a:p>
            <a:pPr marL="514350" indent="-514350">
              <a:buFont typeface="Wingdings" panose="05000000000000000000" pitchFamily="2" charset="2"/>
              <a:buChar char="§"/>
            </a:pP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Migration des deux pronuclei </a:t>
            </a:r>
          </a:p>
          <a:p>
            <a:r>
              <a:rPr lang="fr-FR" sz="2800" b="1" dirty="0" smtClean="0"/>
              <a:t>                au centre sur  le spermaster</a:t>
            </a:r>
          </a:p>
          <a:p>
            <a:r>
              <a:rPr lang="fr-FR" sz="2800" b="1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0070C0"/>
                </a:solidFill>
              </a:rPr>
              <a:t>Accolement des 2 pro-noyaux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       </a:t>
            </a:r>
            <a:r>
              <a:rPr lang="fr-FR" sz="2800" b="1" dirty="0" smtClean="0">
                <a:solidFill>
                  <a:srgbClr val="00B0F0"/>
                </a:solidFill>
              </a:rPr>
              <a:t>Amphimixie ou Caryogamie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Résorbtion de l'enveloppe des  pronucléi</a:t>
            </a:r>
          </a:p>
          <a:p>
            <a:r>
              <a:rPr lang="fr-FR" sz="2800" b="1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/>
              <a:t>Disposition de chromosomes sur le</a:t>
            </a:r>
            <a:r>
              <a:rPr lang="fr-FR" sz="2800" dirty="0" smtClean="0"/>
              <a:t> </a:t>
            </a:r>
            <a:r>
              <a:rPr lang="fr-FR" sz="2800" b="1" dirty="0" smtClean="0"/>
              <a:t>fuseau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chemeClr val="tx2"/>
                </a:solidFill>
              </a:rPr>
              <a:t> </a:t>
            </a:r>
            <a:r>
              <a:rPr lang="fr-FR" sz="2800" b="1" dirty="0" smtClean="0"/>
              <a:t>Première mitose de segmentation 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>
              <a:solidFill>
                <a:srgbClr val="FF0000"/>
              </a:solidFill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563888" y="1700808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V="1">
            <a:off x="2411760" y="836712"/>
            <a:ext cx="576064" cy="288032"/>
          </a:xfrm>
          <a:prstGeom prst="straightConnector1">
            <a:avLst/>
          </a:prstGeom>
          <a:ln w="381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51007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3200" b="1" dirty="0" smtClean="0"/>
              <a:t> </a:t>
            </a:r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b="1" dirty="0">
              <a:solidFill>
                <a:srgbClr val="FF0000"/>
              </a:solidFill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563888" y="1700808"/>
            <a:ext cx="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Migration des pronucléus puis Amphimixi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5760640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6228184" y="1874331"/>
            <a:ext cx="33843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Corona radiata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Mb pellucide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2 globules polaires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Diaster</a:t>
            </a:r>
            <a:endParaRPr lang="fr-FR" sz="2800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 flipV="1">
            <a:off x="5166828" y="1880828"/>
            <a:ext cx="1061356" cy="3240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5364088" y="2996952"/>
            <a:ext cx="864096" cy="5760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H="1" flipV="1">
            <a:off x="5004048" y="2780928"/>
            <a:ext cx="1224136" cy="10081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 flipV="1">
            <a:off x="4644008" y="3140968"/>
            <a:ext cx="1584176" cy="15841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H="1" flipV="1">
            <a:off x="4572000" y="4337720"/>
            <a:ext cx="1656184" cy="4499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692548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Conséquences de la fécondation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Rétablissement de la </a:t>
            </a:r>
            <a:r>
              <a:rPr lang="fr-FR" sz="2800" b="1" dirty="0" smtClean="0">
                <a:solidFill>
                  <a:srgbClr val="0070C0"/>
                </a:solidFill>
              </a:rPr>
              <a:t>diploïdie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b="1" dirty="0" smtClean="0"/>
              <a:t>23 </a:t>
            </a:r>
            <a:r>
              <a:rPr lang="fr-FR" sz="2800" b="1" dirty="0" err="1" smtClean="0"/>
              <a:t>ch</a:t>
            </a:r>
            <a:r>
              <a:rPr lang="fr-FR" sz="2800" b="1" dirty="0" smtClean="0"/>
              <a:t> maternels + 23 </a:t>
            </a:r>
            <a:r>
              <a:rPr lang="fr-FR" sz="2800" b="1" dirty="0" err="1" smtClean="0"/>
              <a:t>ch</a:t>
            </a:r>
            <a:r>
              <a:rPr lang="fr-FR" sz="2800" b="1" dirty="0" smtClean="0"/>
              <a:t> paternels = 46 </a:t>
            </a:r>
            <a:r>
              <a:rPr lang="fr-FR" sz="2800" b="1" dirty="0" err="1" smtClean="0"/>
              <a:t>ch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                             du zygote.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Détermination du </a:t>
            </a:r>
            <a:r>
              <a:rPr lang="fr-FR" sz="2800" b="1" dirty="0" smtClean="0">
                <a:solidFill>
                  <a:srgbClr val="0070C0"/>
                </a:solidFill>
              </a:rPr>
              <a:t>sexe </a:t>
            </a:r>
            <a:r>
              <a:rPr lang="fr-FR" sz="2800" b="1" dirty="0" smtClean="0"/>
              <a:t>génétique du zygote:</a:t>
            </a:r>
          </a:p>
          <a:p>
            <a:r>
              <a:rPr lang="fr-FR" sz="2800" b="1" dirty="0" smtClean="0"/>
              <a:t>  23,X+23,X=46,XX : féminin 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b="1" dirty="0" smtClean="0"/>
              <a:t>  23,X+23,Y=46,XY : masculin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Création d'un </a:t>
            </a:r>
            <a:r>
              <a:rPr lang="fr-FR" sz="2800" b="1" dirty="0" smtClean="0">
                <a:solidFill>
                  <a:srgbClr val="0070C0"/>
                </a:solidFill>
              </a:rPr>
              <a:t>nouvel individu après </a:t>
            </a:r>
          </a:p>
          <a:p>
            <a:r>
              <a:rPr lang="fr-FR" sz="2800" b="1" dirty="0" smtClean="0"/>
              <a:t>brassage des </a:t>
            </a:r>
            <a:r>
              <a:rPr lang="fr-FR" sz="2800" b="1" dirty="0" smtClean="0">
                <a:solidFill>
                  <a:srgbClr val="0070C0"/>
                </a:solidFill>
              </a:rPr>
              <a:t>gènes </a:t>
            </a:r>
            <a:r>
              <a:rPr lang="fr-FR" sz="2800" b="1" dirty="0" smtClean="0"/>
              <a:t>au cours de la méiose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-243408"/>
            <a:ext cx="9217024" cy="710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2" name="AutoShape 4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4" name="AutoShape 6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6" name="AutoShape 8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8" name="AutoShape 10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60" name="AutoShape 1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62" name="Picture 14" descr="http://www.chups.jussieu.fr/polys/embryo/illus/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404664"/>
            <a:ext cx="2381250" cy="2381250"/>
          </a:xfrm>
          <a:prstGeom prst="rect">
            <a:avLst/>
          </a:prstGeom>
          <a:noFill/>
        </p:spPr>
      </p:pic>
      <p:pic>
        <p:nvPicPr>
          <p:cNvPr id="2064" name="Picture 16" descr="http://www.chups.jussieu.fr/polys/embryo/illus/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332656"/>
            <a:ext cx="2381250" cy="2381250"/>
          </a:xfrm>
          <a:prstGeom prst="rect">
            <a:avLst/>
          </a:prstGeom>
          <a:noFill/>
        </p:spPr>
      </p:pic>
      <p:pic>
        <p:nvPicPr>
          <p:cNvPr id="2072" name="Picture 24" descr="http://www.svt.ac-versailles.fr/archives/docpeda/actpeda/lycee/Sitembryo2/embryo_seconde/Activit%E9/Homme/images%20homme/zygotehumainredim-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404664"/>
            <a:ext cx="2857500" cy="24528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http://www.coursmedecine.com/wp-content/uploads/2011/03/4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7632848" cy="5832648"/>
          </a:xfrm>
          <a:prstGeom prst="rect">
            <a:avLst/>
          </a:prstGeom>
          <a:noFill/>
        </p:spPr>
      </p:pic>
      <p:sp>
        <p:nvSpPr>
          <p:cNvPr id="3" name="ZoneTexte 2"/>
          <p:cNvSpPr txBox="1"/>
          <p:nvPr/>
        </p:nvSpPr>
        <p:spPr>
          <a:xfrm>
            <a:off x="-33881" y="-796873"/>
            <a:ext cx="9540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</a:t>
            </a:r>
          </a:p>
          <a:p>
            <a:endParaRPr lang="fr-FR" sz="2800" b="1" dirty="0" smtClean="0"/>
          </a:p>
          <a:p>
            <a:pPr marL="1973263" indent="-1973263"/>
            <a:r>
              <a:rPr lang="fr-FR" sz="2800" b="1" dirty="0" smtClean="0"/>
              <a:t>  II. LA SEGMENTATION ET LA MIGRATION  TUBAIRE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ormation de la Morula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48680"/>
            <a:ext cx="9143999" cy="1913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67544" y="3429000"/>
            <a:ext cx="7115409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Durant la segmentation et la migration tubaire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/>
              <a:t> </a:t>
            </a:r>
            <a:r>
              <a:rPr lang="fr-FR" sz="2800" b="1" dirty="0" smtClean="0"/>
              <a:t>La mb pellucide persiste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L’œuf garde la même taille</a:t>
            </a:r>
          </a:p>
          <a:p>
            <a:pPr lvl="0"/>
            <a:r>
              <a:rPr lang="fr-FR" sz="2800" b="1" dirty="0" smtClean="0">
                <a:solidFill>
                  <a:prstClr val="black"/>
                </a:solidFill>
              </a:rPr>
              <a:t>La </a:t>
            </a:r>
            <a:r>
              <a:rPr lang="fr-FR" sz="2800" b="1" dirty="0">
                <a:solidFill>
                  <a:prstClr val="black"/>
                </a:solidFill>
              </a:rPr>
              <a:t>segmentation chez l’homme: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Totale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Asynchrone</a:t>
            </a:r>
          </a:p>
          <a:p>
            <a:pPr lvl="0">
              <a:buFont typeface="Wingdings" pitchFamily="2" charset="2"/>
              <a:buChar char="q"/>
            </a:pPr>
            <a:r>
              <a:rPr lang="fr-FR" sz="2800" b="1" dirty="0">
                <a:solidFill>
                  <a:prstClr val="black"/>
                </a:solidFill>
              </a:rPr>
              <a:t> Inégale</a:t>
            </a:r>
          </a:p>
          <a:p>
            <a:pPr>
              <a:buFont typeface="Wingdings" pitchFamily="2" charset="2"/>
              <a:buChar char="Ø"/>
            </a:pPr>
            <a:endParaRPr lang="fr-FR" sz="32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2492896"/>
            <a:ext cx="882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   2 </a:t>
            </a:r>
            <a:r>
              <a:rPr lang="fr-FR" sz="2800" b="1" dirty="0" smtClean="0"/>
              <a:t>bla                       4 bla                    8 bla                   Morula</a:t>
            </a:r>
            <a:endParaRPr lang="fr-FR" sz="2800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0"/>
            <a:ext cx="3892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C00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Stade morula    4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jour</a:t>
            </a:r>
            <a:endParaRPr lang="fr-FR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2" name="AutoShape 4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4" name="AutoShape 6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6" name="AutoShape 8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58" name="AutoShape 10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60" name="AutoShape 12" descr="Résultat de recherche d'images pour &quot;FECONDATION PREMIERE SEMAINE EMBRYOLOGIE HUMAIN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62" name="Picture 14" descr="http://www.chups.jussieu.fr/polys/embryo/illus/A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404664"/>
            <a:ext cx="2381250" cy="2381250"/>
          </a:xfrm>
          <a:prstGeom prst="rect">
            <a:avLst/>
          </a:prstGeom>
          <a:noFill/>
        </p:spPr>
      </p:pic>
      <p:pic>
        <p:nvPicPr>
          <p:cNvPr id="2064" name="Picture 16" descr="http://www.chups.jussieu.fr/polys/embryo/illus/A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332656"/>
            <a:ext cx="2381250" cy="2381250"/>
          </a:xfrm>
          <a:prstGeom prst="rect">
            <a:avLst/>
          </a:prstGeom>
          <a:noFill/>
        </p:spPr>
      </p:pic>
      <p:pic>
        <p:nvPicPr>
          <p:cNvPr id="2066" name="Picture 18" descr="http://img.over-blog.com/300x224/1/73/49/95/embryon_coul_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996952"/>
            <a:ext cx="2847975" cy="2133601"/>
          </a:xfrm>
          <a:prstGeom prst="rect">
            <a:avLst/>
          </a:prstGeom>
          <a:noFill/>
        </p:spPr>
      </p:pic>
      <p:pic>
        <p:nvPicPr>
          <p:cNvPr id="2068" name="Picture 20" descr="http://www.astrosurf.com/luxorion/Bio/embryon-3jrs-8cellules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35896" y="2780928"/>
            <a:ext cx="2520279" cy="2304255"/>
          </a:xfrm>
          <a:prstGeom prst="rect">
            <a:avLst/>
          </a:prstGeom>
          <a:noFill/>
        </p:spPr>
      </p:pic>
      <p:pic>
        <p:nvPicPr>
          <p:cNvPr id="2070" name="Picture 22" descr="http://baladesnaturalistes.hautetfort.com/media/01/01/181404564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72200" y="2852936"/>
            <a:ext cx="2088232" cy="1872207"/>
          </a:xfrm>
          <a:prstGeom prst="rect">
            <a:avLst/>
          </a:prstGeom>
          <a:noFill/>
        </p:spPr>
      </p:pic>
      <p:pic>
        <p:nvPicPr>
          <p:cNvPr id="2072" name="Picture 24" descr="http://www.svt.ac-versailles.fr/archives/docpeda/actpeda/lycee/Sitembryo2/embryo_seconde/Activit%E9/Homme/images%20homme/zygotehumainredim-g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1520" y="404664"/>
            <a:ext cx="2857500" cy="24528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8680"/>
            <a:ext cx="9144000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0"/>
            <a:ext cx="4245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C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blastocyste 5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  <a:endParaRPr lang="fr-FR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8544" cy="834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Phénomène de compaction</a:t>
            </a:r>
          </a:p>
          <a:p>
            <a:r>
              <a:rPr lang="fr-FR" sz="2800" dirty="0" smtClean="0"/>
              <a:t>Jusqu’aux stades 32- 64 cellules, les blastomères  sont sphériques, tous visibles, pouvant être séparés  les  uns des autres.</a:t>
            </a:r>
          </a:p>
          <a:p>
            <a:r>
              <a:rPr lang="fr-FR" sz="2800" dirty="0" smtClean="0"/>
              <a:t>A partir de ce stade, les blastomères s’aplatissent, </a:t>
            </a:r>
          </a:p>
          <a:p>
            <a:r>
              <a:rPr lang="fr-FR" sz="2800" dirty="0" smtClean="0"/>
              <a:t>augmentent leurs surfaces de contact avec les cellules</a:t>
            </a:r>
          </a:p>
          <a:p>
            <a:r>
              <a:rPr lang="fr-FR" sz="2800" dirty="0" smtClean="0"/>
              <a:t> voisines = </a:t>
            </a:r>
            <a:r>
              <a:rPr lang="fr-FR" sz="2800" dirty="0" smtClean="0">
                <a:solidFill>
                  <a:srgbClr val="00B0F0"/>
                </a:solidFill>
              </a:rPr>
              <a:t>Compaction</a:t>
            </a:r>
          </a:p>
          <a:p>
            <a:pPr lvl="0"/>
            <a:r>
              <a:rPr lang="fr-FR" sz="2800" dirty="0">
                <a:solidFill>
                  <a:prstClr val="black"/>
                </a:solidFill>
              </a:rPr>
              <a:t>La compaction  est provoquée par une molécule: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Uvomoruline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     L-cam</a:t>
            </a:r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                              E-cadhérine</a:t>
            </a: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Qui </a:t>
            </a:r>
            <a:r>
              <a:rPr lang="fr-FR" sz="2800" dirty="0">
                <a:solidFill>
                  <a:prstClr val="black"/>
                </a:solidFill>
              </a:rPr>
              <a:t>permet l’adhérence </a:t>
            </a:r>
            <a:r>
              <a:rPr lang="fr-FR" sz="2800" dirty="0" smtClean="0">
                <a:solidFill>
                  <a:prstClr val="black"/>
                </a:solidFill>
              </a:rPr>
              <a:t>intercellulaire en </a:t>
            </a:r>
            <a:r>
              <a:rPr lang="fr-FR" sz="2800" dirty="0">
                <a:solidFill>
                  <a:prstClr val="black"/>
                </a:solidFill>
              </a:rPr>
              <a:t>présence de </a:t>
            </a:r>
            <a:r>
              <a:rPr lang="fr-FR" sz="2800" dirty="0" smtClean="0">
                <a:solidFill>
                  <a:prstClr val="black"/>
                </a:solidFill>
              </a:rPr>
              <a:t>calcium,</a:t>
            </a:r>
            <a:endParaRPr lang="fr-FR" sz="2800" dirty="0">
              <a:solidFill>
                <a:prstClr val="black"/>
              </a:solidFill>
            </a:endParaRP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Les blastomères sont </a:t>
            </a:r>
            <a:r>
              <a:rPr lang="fr-FR" sz="2800" b="1" dirty="0">
                <a:solidFill>
                  <a:srgbClr val="00B0F0"/>
                </a:solidFill>
              </a:rPr>
              <a:t>totipotents </a:t>
            </a:r>
            <a:r>
              <a:rPr lang="fr-FR" sz="2800" b="1" dirty="0">
                <a:solidFill>
                  <a:prstClr val="black"/>
                </a:solidFill>
              </a:rPr>
              <a:t>(très large pouvoir de différenciation) .Cela signifie que chacune d’entre elles prise isolément peut reprendre sa division et fournir un embryon complet</a:t>
            </a:r>
          </a:p>
          <a:p>
            <a:endParaRPr lang="fr-FR" sz="2800" dirty="0" smtClean="0">
              <a:solidFill>
                <a:srgbClr val="00B0F0"/>
              </a:solidFill>
            </a:endParaRPr>
          </a:p>
          <a:p>
            <a:r>
              <a:rPr lang="fr-FR" sz="2800" dirty="0" smtClean="0">
                <a:solidFill>
                  <a:schemeClr val="tx2"/>
                </a:solidFill>
              </a:rPr>
              <a:t>       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89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 Eclosion du blastocyste 6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jour  </a:t>
            </a:r>
            <a:endParaRPr lang="fr-FR" sz="2800" b="1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2721" y="999892"/>
            <a:ext cx="5688632" cy="3810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4293096"/>
            <a:ext cx="21240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/>
          <p:nvPr/>
        </p:nvSpPr>
        <p:spPr>
          <a:xfrm>
            <a:off x="6012160" y="476672"/>
            <a:ext cx="39036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                       </a:t>
            </a:r>
          </a:p>
          <a:p>
            <a:endParaRPr lang="fr-FR" sz="3200" b="1" dirty="0" smtClean="0"/>
          </a:p>
          <a:p>
            <a:r>
              <a:rPr lang="fr-FR" sz="2000" b="1" dirty="0" smtClean="0"/>
              <a:t>      BOUTON EMBRYONNAIRE</a:t>
            </a:r>
          </a:p>
          <a:p>
            <a:r>
              <a:rPr lang="fr-FR" sz="2000" b="1" dirty="0" smtClean="0"/>
              <a:t>      TROPHOBLASTE                         </a:t>
            </a:r>
          </a:p>
          <a:p>
            <a:endParaRPr lang="fr-FR" sz="2000" b="1" dirty="0" smtClean="0"/>
          </a:p>
          <a:p>
            <a:r>
              <a:rPr lang="fr-FR" sz="2000" b="1" dirty="0" smtClean="0"/>
              <a:t>       BLASTOCOELE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</p:txBody>
      </p:sp>
      <p:cxnSp>
        <p:nvCxnSpPr>
          <p:cNvPr id="9" name="Connecteur droit avec flèche 8"/>
          <p:cNvCxnSpPr/>
          <p:nvPr/>
        </p:nvCxnSpPr>
        <p:spPr>
          <a:xfrm flipH="1" flipV="1">
            <a:off x="5148064" y="1412776"/>
            <a:ext cx="1152128" cy="216024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5940152" y="2060848"/>
            <a:ext cx="504056" cy="72008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H="1" flipV="1">
            <a:off x="5220072" y="2348880"/>
            <a:ext cx="1152128" cy="216024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/>
          </a:p>
          <a:p>
            <a:r>
              <a:rPr lang="fr-FR" sz="2800" dirty="0" smtClean="0"/>
              <a:t>A-</a:t>
            </a:r>
            <a:r>
              <a:rPr lang="fr-FR" sz="2800" b="1" dirty="0" smtClean="0"/>
              <a:t> </a:t>
            </a:r>
            <a:r>
              <a:rPr lang="fr-FR" sz="2800" dirty="0" smtClean="0"/>
              <a:t>L’afflux du liquide dans la morula est un phénomène  actif grâce à l’activité d’une enzyme:       </a:t>
            </a:r>
            <a:r>
              <a:rPr lang="fr-FR" sz="2800" b="1" dirty="0" smtClean="0">
                <a:solidFill>
                  <a:srgbClr val="00B0F0"/>
                </a:solidFill>
              </a:rPr>
              <a:t>Na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+2</a:t>
            </a:r>
            <a:r>
              <a:rPr lang="fr-FR" sz="2800" b="1" dirty="0" smtClean="0">
                <a:solidFill>
                  <a:srgbClr val="00B0F0"/>
                </a:solidFill>
              </a:rPr>
              <a:t>/k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+2</a:t>
            </a:r>
            <a:r>
              <a:rPr lang="fr-FR" sz="2800" b="1" dirty="0" smtClean="0">
                <a:solidFill>
                  <a:srgbClr val="00B0F0"/>
                </a:solidFill>
              </a:rPr>
              <a:t> ATP ase</a:t>
            </a:r>
          </a:p>
          <a:p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Responsable du mouvement d’ions Na. </a:t>
            </a:r>
          </a:p>
          <a:p>
            <a:r>
              <a:rPr lang="fr-FR" sz="2800" dirty="0" smtClean="0"/>
              <a:t> Ce courant sodique entraine par action osmotique, Un flux liquidien qui augmente la pression  intra-cavitaire.</a:t>
            </a:r>
          </a:p>
          <a:p>
            <a:pPr lvl="0"/>
            <a:endParaRPr lang="fr-FR" sz="2800" b="1" dirty="0" smtClean="0">
              <a:solidFill>
                <a:prstClr val="black"/>
              </a:solidFill>
            </a:endParaRP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B-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prstClr val="black"/>
                </a:solidFill>
              </a:rPr>
              <a:t>Au niveau de la mb pl des cellules du </a:t>
            </a:r>
            <a:r>
              <a:rPr lang="fr-FR" sz="2800" dirty="0" smtClean="0">
                <a:solidFill>
                  <a:prstClr val="black"/>
                </a:solidFill>
              </a:rPr>
              <a:t>trophoblaste Il </a:t>
            </a:r>
            <a:r>
              <a:rPr lang="fr-FR" sz="2800" dirty="0">
                <a:solidFill>
                  <a:prstClr val="black"/>
                </a:solidFill>
              </a:rPr>
              <a:t>ya une </a:t>
            </a:r>
            <a:r>
              <a:rPr lang="fr-FR" sz="2800" b="1" dirty="0">
                <a:solidFill>
                  <a:srgbClr val="00B0F0"/>
                </a:solidFill>
              </a:rPr>
              <a:t>protéase: </a:t>
            </a:r>
            <a:r>
              <a:rPr lang="fr-FR" sz="2800" b="1" dirty="0" smtClean="0">
                <a:solidFill>
                  <a:srgbClr val="00B0F0"/>
                </a:solidFill>
              </a:rPr>
              <a:t>La strypsine  </a:t>
            </a:r>
            <a:r>
              <a:rPr lang="fr-FR" sz="2800" dirty="0" smtClean="0">
                <a:solidFill>
                  <a:prstClr val="black"/>
                </a:solidFill>
              </a:rPr>
              <a:t>qui </a:t>
            </a:r>
            <a:r>
              <a:rPr lang="fr-FR" sz="2800" dirty="0">
                <a:solidFill>
                  <a:prstClr val="black"/>
                </a:solidFill>
              </a:rPr>
              <a:t>produit une déhiscence de la mb pellucide</a:t>
            </a:r>
          </a:p>
          <a:p>
            <a:pPr lvl="0"/>
            <a:r>
              <a:rPr lang="fr-FR" sz="2800" dirty="0" smtClean="0">
                <a:solidFill>
                  <a:prstClr val="black"/>
                </a:solidFill>
              </a:rPr>
              <a:t>                                      </a:t>
            </a:r>
            <a:r>
              <a:rPr lang="fr-FR" sz="2800" dirty="0">
                <a:solidFill>
                  <a:prstClr val="black"/>
                </a:solidFill>
              </a:rPr>
              <a:t>Et donc</a:t>
            </a: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r>
              <a:rPr lang="fr-FR" sz="2800" b="1" dirty="0" smtClean="0">
                <a:solidFill>
                  <a:srgbClr val="00B0F0"/>
                </a:solidFill>
              </a:rPr>
              <a:t>    Flux        </a:t>
            </a:r>
            <a:r>
              <a:rPr lang="fr-FR" sz="2800" b="1" dirty="0">
                <a:solidFill>
                  <a:srgbClr val="00B0F0"/>
                </a:solidFill>
              </a:rPr>
              <a:t>+           Fragilisation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Eclosion </a:t>
            </a:r>
            <a:endParaRPr lang="fr-FR" sz="2800" b="1" dirty="0">
              <a:solidFill>
                <a:srgbClr val="00B0F0"/>
              </a:solidFill>
            </a:endParaRPr>
          </a:p>
          <a:p>
            <a:pPr lvl="0"/>
            <a:r>
              <a:rPr lang="fr-FR" sz="2800" b="1" dirty="0">
                <a:solidFill>
                  <a:srgbClr val="00B0F0"/>
                </a:solidFill>
              </a:rPr>
              <a:t>Sodique      </a:t>
            </a:r>
            <a:r>
              <a:rPr lang="fr-FR" sz="2800" b="1" dirty="0" smtClean="0">
                <a:solidFill>
                  <a:srgbClr val="00B0F0"/>
                </a:solidFill>
              </a:rPr>
              <a:t>      de </a:t>
            </a:r>
            <a:r>
              <a:rPr lang="fr-FR" sz="2800" b="1" dirty="0">
                <a:solidFill>
                  <a:srgbClr val="00B0F0"/>
                </a:solidFill>
              </a:rPr>
              <a:t>la mb pellucide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du </a:t>
            </a:r>
            <a:r>
              <a:rPr lang="fr-FR" sz="2800" b="1" dirty="0">
                <a:solidFill>
                  <a:srgbClr val="00B0F0"/>
                </a:solidFill>
              </a:rPr>
              <a:t>blastocyste  </a:t>
            </a:r>
          </a:p>
          <a:p>
            <a:pPr lvl="0"/>
            <a:r>
              <a:rPr lang="fr-FR" sz="2800" b="1" dirty="0">
                <a:solidFill>
                  <a:srgbClr val="FF0000"/>
                </a:solidFill>
              </a:rPr>
              <a:t> </a:t>
            </a:r>
          </a:p>
          <a:p>
            <a:endParaRPr lang="fr-FR" sz="3200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L’éclosion du </a:t>
            </a:r>
            <a:r>
              <a:rPr lang="fr-FR" sz="2800" b="1" dirty="0" err="1" smtClean="0">
                <a:solidFill>
                  <a:srgbClr val="00B0F0"/>
                </a:solidFill>
              </a:rPr>
              <a:t>blastocyste</a:t>
            </a:r>
            <a:r>
              <a:rPr lang="fr-FR" sz="2800" b="1" dirty="0" smtClean="0">
                <a:solidFill>
                  <a:srgbClr val="00B0F0"/>
                </a:solidFill>
              </a:rPr>
              <a:t> est due à 2 phénomènes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5148064" y="5445224"/>
            <a:ext cx="12241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91395" y="-315416"/>
            <a:ext cx="432862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 Pré implantation 7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jour </a:t>
            </a:r>
          </a:p>
          <a:p>
            <a:endParaRPr lang="fr-FR" dirty="0"/>
          </a:p>
        </p:txBody>
      </p:sp>
      <p:pic>
        <p:nvPicPr>
          <p:cNvPr id="3" name="Image 2" descr="Image associée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700808"/>
            <a:ext cx="3960440" cy="2758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-252536" y="5085184"/>
            <a:ext cx="10729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Trophoblaste = Cytotrophoblaste (</a:t>
            </a:r>
            <a:r>
              <a:rPr lang="fr-FR" sz="2800" b="1" dirty="0" smtClean="0"/>
              <a:t>CT</a:t>
            </a:r>
            <a:r>
              <a:rPr lang="fr-FR" sz="2800" dirty="0" smtClean="0"/>
              <a:t>) +Syncytiotrophoblaste (</a:t>
            </a:r>
            <a:r>
              <a:rPr lang="fr-FR" sz="2800" b="1" dirty="0" smtClean="0"/>
              <a:t>ST)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pic>
        <p:nvPicPr>
          <p:cNvPr id="5" name="Picture 2" descr="http://www.coursmedecine.com/wp-content/uploads/2011/03/4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1700808"/>
            <a:ext cx="3960440" cy="30243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415068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Pré implantation 7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jour </a:t>
            </a: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-252536" y="5085184"/>
            <a:ext cx="9883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                              </a:t>
            </a:r>
            <a:endParaRPr lang="fr-FR" sz="2800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1124744"/>
            <a:ext cx="9974205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Le syncytiotrophoblaste (ST)  provient de la fusion des </a:t>
            </a:r>
          </a:p>
          <a:p>
            <a:pPr lvl="0"/>
            <a:r>
              <a:rPr lang="fr-FR" sz="2800" dirty="0" smtClean="0"/>
              <a:t>cellules externes du trophoblaste.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C’est un tissu très actif qui prolifère  rapidement,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C’est un tissu qui élabore des enzymes protéolytiques et</a:t>
            </a:r>
          </a:p>
          <a:p>
            <a:pPr lvl="0"/>
            <a:r>
              <a:rPr lang="fr-FR" sz="2800" dirty="0" smtClean="0"/>
              <a:t> sécrète des facteurs qui lui permettent d'induire l'</a:t>
            </a:r>
            <a:r>
              <a:rPr lang="fr-FR" sz="2800" dirty="0" err="1" smtClean="0"/>
              <a:t>apoptose</a:t>
            </a:r>
            <a:endParaRPr lang="fr-FR" sz="2800" dirty="0" smtClean="0"/>
          </a:p>
          <a:p>
            <a:pPr lvl="0"/>
            <a:r>
              <a:rPr lang="fr-FR" sz="2800" dirty="0" smtClean="0"/>
              <a:t> des cellules épithéliales de la muqueuse utérine, de </a:t>
            </a:r>
          </a:p>
          <a:p>
            <a:pPr lvl="0"/>
            <a:r>
              <a:rPr lang="fr-FR" sz="2800" dirty="0" smtClean="0"/>
              <a:t>traverser la lame basale et pénétrer dans le stroma sous-jacent</a:t>
            </a:r>
          </a:p>
          <a:p>
            <a:pPr lvl="0"/>
            <a:r>
              <a:rPr lang="fr-FR" sz="2800" dirty="0" smtClean="0"/>
              <a:t> au contact des vaisseaux sanguins utérins.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dirty="0" err="1" smtClean="0"/>
              <a:t>cytotrophoblaste</a:t>
            </a:r>
            <a:r>
              <a:rPr lang="fr-FR" sz="2800" dirty="0" smtClean="0"/>
              <a:t> (CT) est le reste du trophoblaste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Il est toujours constitué de cellules bien individualisées.</a:t>
            </a:r>
          </a:p>
          <a:p>
            <a:pPr lvl="0"/>
            <a:r>
              <a:rPr lang="fr-FR" sz="2800" dirty="0" smtClean="0"/>
              <a:t>qui recouvre le blastocœle et sépare le bouton embryonnaire</a:t>
            </a:r>
          </a:p>
          <a:p>
            <a:pPr lvl="0"/>
            <a:r>
              <a:rPr lang="fr-FR" sz="2800" dirty="0" smtClean="0"/>
              <a:t> du </a:t>
            </a:r>
            <a:r>
              <a:rPr lang="fr-FR" sz="2800" dirty="0" err="1" smtClean="0"/>
              <a:t>syncytiotrophoblaste</a:t>
            </a:r>
            <a:r>
              <a:rPr lang="fr-FR" sz="2800" dirty="0" smtClean="0"/>
              <a:t>.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47790</TotalTime>
  <Words>1421</Words>
  <Application>Microsoft Office PowerPoint</Application>
  <PresentationFormat>Affichage à l'écran (4:3)</PresentationFormat>
  <Paragraphs>310</Paragraphs>
  <Slides>38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85</cp:revision>
  <dcterms:created xsi:type="dcterms:W3CDTF">2014-11-04T19:37:47Z</dcterms:created>
  <dcterms:modified xsi:type="dcterms:W3CDTF">2023-11-07T07:22:41Z</dcterms:modified>
</cp:coreProperties>
</file>