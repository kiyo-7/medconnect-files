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20"/>
  </p:notesMasterIdLst>
  <p:sldIdLst>
    <p:sldId id="257" r:id="rId2"/>
    <p:sldId id="291" r:id="rId3"/>
    <p:sldId id="280" r:id="rId4"/>
    <p:sldId id="283" r:id="rId5"/>
    <p:sldId id="290" r:id="rId6"/>
    <p:sldId id="292" r:id="rId7"/>
    <p:sldId id="297" r:id="rId8"/>
    <p:sldId id="294" r:id="rId9"/>
    <p:sldId id="284" r:id="rId10"/>
    <p:sldId id="274" r:id="rId11"/>
    <p:sldId id="263" r:id="rId12"/>
    <p:sldId id="260" r:id="rId13"/>
    <p:sldId id="265" r:id="rId14"/>
    <p:sldId id="285" r:id="rId15"/>
    <p:sldId id="266" r:id="rId16"/>
    <p:sldId id="286" r:id="rId17"/>
    <p:sldId id="279" r:id="rId18"/>
    <p:sldId id="267" r:id="rId1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690EC-0EF1-48F7-BB5C-A5D0C8DFECEE}" type="datetimeFigureOut">
              <a:rPr lang="fr-FR" smtClean="0"/>
              <a:pPr/>
              <a:t>17/11/2023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DCAA2-6EA3-4BFE-8039-8FDB9E11106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CDCAA2-6EA3-4BFE-8039-8FDB9E111060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7564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17/11/2023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17/11/2023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17/11/2023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17/11/2023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17/11/2023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17/11/2023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17/11/2023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17/11/2023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17/11/2023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17/11/2023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F9DF5-0CE0-4FB3-8D27-7EA8BF0E3B36}" type="datetimeFigureOut">
              <a:rPr lang="fr-FR" smtClean="0"/>
              <a:pPr/>
              <a:t>17/11/2023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F9DF5-0CE0-4FB3-8D27-7EA8BF0E3B36}" type="datetimeFigureOut">
              <a:rPr lang="fr-FR" smtClean="0"/>
              <a:pPr/>
              <a:t>17/11/2023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7F56D-934A-4F00-B6DA-753B7413684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utura-sciences.com/sante/definitions/medecine-nidation-16275/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www.futura-sciences.com/sante/dossiers/medecine-accouchement-naissance-bebe-1294/page/7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futura-sciences.com/sante/definitions/medecine-cavite-abdominale-3110/" TargetMode="External"/><Relationship Id="rId5" Type="http://schemas.openxmlformats.org/officeDocument/2006/relationships/hyperlink" Target="https://www.futura-sciences.com/sante/definitions/biologie-ovaire-4134/" TargetMode="External"/><Relationship Id="rId4" Type="http://schemas.openxmlformats.org/officeDocument/2006/relationships/hyperlink" Target="https://www.futura-sciences.com/sante/definitions/biologie-zygote-289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79512" y="548680"/>
            <a:ext cx="8712968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/>
              <a:t>                  MODULE </a:t>
            </a:r>
            <a:r>
              <a:rPr lang="fr-FR" sz="2800" b="1" dirty="0"/>
              <a:t>EMBRYOLOGIE GENERALE</a:t>
            </a:r>
          </a:p>
          <a:p>
            <a:r>
              <a:rPr lang="fr-FR" sz="2800" b="1" dirty="0"/>
              <a:t>                       </a:t>
            </a:r>
            <a:r>
              <a:rPr lang="fr-FR" sz="2800" b="1" dirty="0" smtClean="0"/>
              <a:t>     LA DEUXIEME </a:t>
            </a:r>
            <a:r>
              <a:rPr lang="fr-FR" sz="2800" b="1" dirty="0"/>
              <a:t>SEMAINE</a:t>
            </a:r>
          </a:p>
          <a:p>
            <a:r>
              <a:rPr lang="fr-FR" sz="2800" b="1" dirty="0"/>
              <a:t>         </a:t>
            </a:r>
            <a:r>
              <a:rPr lang="fr-FR" sz="2800" b="1" dirty="0" smtClean="0"/>
              <a:t>      DU </a:t>
            </a:r>
            <a:r>
              <a:rPr lang="fr-FR" sz="2800" b="1" dirty="0"/>
              <a:t>DEVELOPPEMENT EMBRYONNAIRE</a:t>
            </a:r>
          </a:p>
          <a:p>
            <a:endParaRPr lang="fr-FR" sz="2800" b="1" dirty="0"/>
          </a:p>
          <a:p>
            <a:r>
              <a:rPr lang="fr-FR" sz="2800" b="1" dirty="0"/>
              <a:t>         </a:t>
            </a:r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endParaRPr lang="fr-FR" sz="2800" b="1" dirty="0"/>
          </a:p>
          <a:p>
            <a:r>
              <a:rPr lang="fr-FR" sz="2800" b="1" dirty="0" smtClean="0"/>
              <a:t>                                                            PR </a:t>
            </a:r>
            <a:r>
              <a:rPr lang="fr-FR" sz="2800" b="1" dirty="0"/>
              <a:t>HANNACHI-HECINI A 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060848"/>
            <a:ext cx="6912768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315416"/>
            <a:ext cx="9468544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 smtClean="0"/>
              <a:t>                   </a:t>
            </a:r>
            <a:endParaRPr lang="fr-FR" sz="3600" dirty="0" smtClean="0"/>
          </a:p>
          <a:p>
            <a:r>
              <a:rPr lang="fr-FR" sz="2800" dirty="0" smtClean="0"/>
              <a:t>La 2</a:t>
            </a:r>
            <a:r>
              <a:rPr lang="fr-FR" sz="2800" baseline="30000" dirty="0" smtClean="0"/>
              <a:t>ème</a:t>
            </a:r>
            <a:r>
              <a:rPr lang="fr-FR" sz="2800" dirty="0" smtClean="0"/>
              <a:t> semaine du DE est marquée par 2 </a:t>
            </a:r>
            <a:r>
              <a:rPr lang="fr-FR" sz="2800" dirty="0" smtClean="0"/>
              <a:t> évènements </a:t>
            </a:r>
            <a:r>
              <a:rPr lang="fr-FR" sz="2800" dirty="0" smtClean="0"/>
              <a:t>majeurs: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Implantation</a:t>
            </a:r>
            <a:r>
              <a:rPr lang="fr-FR" sz="2800" dirty="0" smtClean="0"/>
              <a:t>: nidation du blastocyste </a:t>
            </a:r>
            <a:r>
              <a:rPr lang="fr-FR" sz="2800" dirty="0" smtClean="0"/>
              <a:t>dans  </a:t>
            </a:r>
            <a:r>
              <a:rPr lang="fr-FR" sz="2800" dirty="0" smtClean="0"/>
              <a:t>l’endomètre.</a:t>
            </a:r>
          </a:p>
          <a:p>
            <a:endParaRPr lang="fr-FR" sz="2800" dirty="0" smtClean="0"/>
          </a:p>
          <a:p>
            <a:pPr>
              <a:buFont typeface="Wingdings" pitchFamily="2" charset="2"/>
              <a:buChar char="Ø"/>
            </a:pPr>
            <a:r>
              <a:rPr lang="fr-FR" sz="2800" dirty="0" smtClean="0"/>
              <a:t> </a:t>
            </a:r>
            <a:r>
              <a:rPr lang="fr-FR" sz="2800" b="1" dirty="0" smtClean="0">
                <a:solidFill>
                  <a:srgbClr val="FF0000"/>
                </a:solidFill>
              </a:rPr>
              <a:t>Pré-gastrulation:</a:t>
            </a:r>
            <a:r>
              <a:rPr lang="fr-FR" sz="2800" dirty="0" smtClean="0"/>
              <a:t> transformation </a:t>
            </a:r>
            <a:r>
              <a:rPr lang="fr-FR" sz="2800" dirty="0" smtClean="0"/>
              <a:t>du  </a:t>
            </a:r>
            <a:r>
              <a:rPr lang="fr-FR" sz="2800" dirty="0" smtClean="0"/>
              <a:t>blastocyste en un embryon didermique.</a:t>
            </a:r>
          </a:p>
          <a:p>
            <a:endParaRPr lang="fr-F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52181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>
                <a:solidFill>
                  <a:srgbClr val="00B050"/>
                </a:solidFill>
              </a:rPr>
              <a:t> </a:t>
            </a:r>
            <a:r>
              <a:rPr lang="fr-FR" sz="3200" b="1" dirty="0" smtClean="0">
                <a:solidFill>
                  <a:srgbClr val="0070C0"/>
                </a:solidFill>
              </a:rPr>
              <a:t>Zone d’implantation normale</a:t>
            </a:r>
            <a:endParaRPr lang="fr-FR" sz="3200" dirty="0">
              <a:solidFill>
                <a:srgbClr val="0070C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563888" y="908720"/>
            <a:ext cx="5612049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/>
              <a:t>Normalement, la nidation s'effectue</a:t>
            </a:r>
          </a:p>
          <a:p>
            <a:r>
              <a:rPr lang="fr-FR" sz="2400" dirty="0" smtClean="0"/>
              <a:t> au tiers supérieur ou au tiers moyen</a:t>
            </a:r>
          </a:p>
          <a:p>
            <a:r>
              <a:rPr lang="fr-FR" sz="2400" dirty="0" smtClean="0"/>
              <a:t> de la paroi utérine, sur sa face postérieure,</a:t>
            </a:r>
          </a:p>
          <a:p>
            <a:r>
              <a:rPr lang="fr-FR" sz="2400" dirty="0" smtClean="0"/>
              <a:t> au cours de la phase sécrétoire  du cycle</a:t>
            </a:r>
          </a:p>
          <a:p>
            <a:r>
              <a:rPr lang="fr-FR" sz="2400" dirty="0" smtClean="0"/>
              <a:t> menstruel. </a:t>
            </a:r>
          </a:p>
          <a:p>
            <a:r>
              <a:rPr lang="fr-FR" sz="2400" dirty="0" smtClean="0"/>
              <a:t>La </a:t>
            </a:r>
            <a:r>
              <a:rPr lang="fr-FR" sz="2400" dirty="0" smtClean="0">
                <a:hlinkClick r:id="rId2" tooltip="Dossier Accouchement, la naissance de bébé : La grossesse extra-utérine, une anomalie de siège"/>
              </a:rPr>
              <a:t>grossesse extra-utérine</a:t>
            </a:r>
            <a:r>
              <a:rPr lang="fr-FR" sz="2400" dirty="0" smtClean="0"/>
              <a:t> ou </a:t>
            </a:r>
            <a:r>
              <a:rPr lang="fr-FR" sz="2400" dirty="0" smtClean="0">
                <a:hlinkClick r:id="rId3"/>
              </a:rPr>
              <a:t>nidation</a:t>
            </a:r>
            <a:endParaRPr lang="fr-FR" sz="2400" dirty="0" smtClean="0"/>
          </a:p>
          <a:p>
            <a:r>
              <a:rPr lang="fr-FR" sz="2400" dirty="0" smtClean="0"/>
              <a:t> ectopique de l'œuf fécondé est due à un</a:t>
            </a:r>
          </a:p>
          <a:p>
            <a:r>
              <a:rPr lang="fr-FR" sz="2400" dirty="0" smtClean="0"/>
              <a:t> retard de la  migration de l’œuf (problème </a:t>
            </a:r>
          </a:p>
          <a:p>
            <a:r>
              <a:rPr lang="fr-FR" sz="2400" dirty="0" smtClean="0"/>
              <a:t>de  mobilité, problème de perméabilité des</a:t>
            </a:r>
          </a:p>
          <a:p>
            <a:r>
              <a:rPr lang="fr-FR" sz="2400" dirty="0" smtClean="0"/>
              <a:t> organes). </a:t>
            </a:r>
          </a:p>
          <a:p>
            <a:r>
              <a:rPr lang="fr-FR" sz="2400" dirty="0" smtClean="0"/>
              <a:t>Le plus souvent implanté au niveau de la</a:t>
            </a:r>
          </a:p>
          <a:p>
            <a:r>
              <a:rPr lang="fr-FR" sz="2400" dirty="0" smtClean="0"/>
              <a:t> trompe de Fallope, le </a:t>
            </a:r>
            <a:r>
              <a:rPr lang="fr-FR" sz="2400" dirty="0" smtClean="0">
                <a:hlinkClick r:id="rId4"/>
              </a:rPr>
              <a:t>zygote</a:t>
            </a:r>
            <a:r>
              <a:rPr lang="fr-FR" sz="2400" dirty="0" smtClean="0"/>
              <a:t> peut finir sa</a:t>
            </a:r>
          </a:p>
          <a:p>
            <a:r>
              <a:rPr lang="fr-FR" sz="2400" dirty="0" smtClean="0"/>
              <a:t> course sur un </a:t>
            </a:r>
            <a:r>
              <a:rPr lang="fr-FR" sz="2400" dirty="0" smtClean="0">
                <a:hlinkClick r:id="rId5"/>
              </a:rPr>
              <a:t>ovaire</a:t>
            </a:r>
            <a:r>
              <a:rPr lang="fr-FR" sz="2400" dirty="0" smtClean="0"/>
              <a:t>, la </a:t>
            </a:r>
            <a:r>
              <a:rPr lang="fr-FR" sz="2400" dirty="0" smtClean="0">
                <a:hlinkClick r:id="rId6"/>
              </a:rPr>
              <a:t>cavité abdominale</a:t>
            </a:r>
            <a:r>
              <a:rPr lang="fr-FR" sz="2400" dirty="0" smtClean="0"/>
              <a:t> </a:t>
            </a:r>
          </a:p>
          <a:p>
            <a:r>
              <a:rPr lang="fr-FR" sz="2400" dirty="0" smtClean="0"/>
              <a:t>ou directement sur le col utérin.</a:t>
            </a:r>
            <a:endParaRPr lang="fr-FR" sz="24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536" y="1412776"/>
            <a:ext cx="2808312" cy="4320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87424"/>
            <a:ext cx="9144000" cy="726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 smtClean="0"/>
          </a:p>
          <a:p>
            <a:endParaRPr lang="fr-FR" sz="2800" b="1" dirty="0" smtClean="0"/>
          </a:p>
          <a:p>
            <a:endParaRPr lang="fr-FR" sz="2800" b="1" dirty="0" smtClean="0"/>
          </a:p>
          <a:p>
            <a:r>
              <a:rPr lang="fr-FR" sz="2800" b="1" dirty="0" smtClean="0"/>
              <a:t>Les </a:t>
            </a:r>
            <a:r>
              <a:rPr lang="fr-FR" sz="2800" b="1" dirty="0" smtClean="0"/>
              <a:t>cellules du stroma:</a:t>
            </a:r>
          </a:p>
          <a:p>
            <a:pPr>
              <a:buFont typeface="Wingdings" pitchFamily="2" charset="2"/>
              <a:buChar char="§"/>
            </a:pPr>
            <a:r>
              <a:rPr lang="fr-FR" sz="2800" b="1" dirty="0" smtClean="0"/>
              <a:t> </a:t>
            </a:r>
            <a:r>
              <a:rPr lang="fr-FR" sz="2800" dirty="0" smtClean="0"/>
              <a:t>Deviennent plus volumineuses</a:t>
            </a:r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Se chargent en glycogène et en </a:t>
            </a:r>
            <a:r>
              <a:rPr lang="fr-FR" sz="2800" dirty="0" smtClean="0"/>
              <a:t>lipides</a:t>
            </a:r>
            <a:endParaRPr lang="fr-FR" sz="2800" dirty="0" smtClean="0"/>
          </a:p>
          <a:p>
            <a:pPr>
              <a:buFont typeface="Wingdings" pitchFamily="2" charset="2"/>
              <a:buChar char="§"/>
            </a:pPr>
            <a:r>
              <a:rPr lang="fr-FR" sz="2800" dirty="0" smtClean="0"/>
              <a:t> Forment des </a:t>
            </a:r>
            <a:r>
              <a:rPr lang="fr-FR" sz="2800" dirty="0" smtClean="0">
                <a:solidFill>
                  <a:srgbClr val="00B0F0"/>
                </a:solidFill>
              </a:rPr>
              <a:t>cellules déciduales = caduques. </a:t>
            </a:r>
          </a:p>
          <a:p>
            <a:endParaRPr lang="fr-FR" sz="2800" dirty="0" smtClean="0"/>
          </a:p>
          <a:p>
            <a:r>
              <a:rPr lang="fr-FR" sz="2800" dirty="0" smtClean="0"/>
              <a:t>Ce phénomène débute au niveau de la zone d’implantation en contact avec le ST puis se propage sur tout l’endomètre. </a:t>
            </a:r>
            <a:endParaRPr lang="fr-FR" sz="2800" dirty="0" smtClean="0"/>
          </a:p>
          <a:p>
            <a:endParaRPr lang="fr-FR" sz="2800" dirty="0"/>
          </a:p>
          <a:p>
            <a:r>
              <a:rPr lang="fr-FR" sz="2800" dirty="0"/>
              <a:t>Et au 12ème jour, sous l'augmentation de la </a:t>
            </a:r>
            <a:r>
              <a:rPr lang="fr-FR" sz="2800" dirty="0" smtClean="0"/>
              <a:t>progestérone on </a:t>
            </a:r>
            <a:r>
              <a:rPr lang="fr-FR" sz="2800" dirty="0"/>
              <a:t>aura une transformation déciduale du chorion (cellules globuleuse contenant du glycogène et des lipides qui auront un rôle nutritif pour l’œuf).</a:t>
            </a:r>
          </a:p>
          <a:p>
            <a:endParaRPr lang="fr-FR" sz="2800" dirty="0" smtClean="0"/>
          </a:p>
          <a:p>
            <a:endParaRPr lang="fr-FR" sz="2800" b="1" dirty="0" smtClean="0"/>
          </a:p>
        </p:txBody>
      </p:sp>
      <p:sp>
        <p:nvSpPr>
          <p:cNvPr id="3" name="ZoneTexte 2"/>
          <p:cNvSpPr txBox="1"/>
          <p:nvPr/>
        </p:nvSpPr>
        <p:spPr>
          <a:xfrm>
            <a:off x="0" y="0"/>
            <a:ext cx="8532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Reponse de l'endometre a l’implantation</a:t>
            </a:r>
            <a:endParaRPr lang="fr-FR"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Les cellules déciduales = trois caduques (décidues):</a:t>
            </a:r>
          </a:p>
          <a:p>
            <a:r>
              <a:rPr lang="fr-FR" sz="2800" b="1" dirty="0" smtClean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r>
              <a:rPr lang="fr-FR" sz="2800" dirty="0" smtClean="0"/>
              <a:t>➢ </a:t>
            </a:r>
            <a:r>
              <a:rPr lang="fr-FR" sz="2800" b="1" dirty="0" smtClean="0">
                <a:solidFill>
                  <a:srgbClr val="00B0F0"/>
                </a:solidFill>
              </a:rPr>
              <a:t>Caduque basale </a:t>
            </a:r>
            <a:r>
              <a:rPr lang="fr-FR" sz="2800" dirty="0" smtClean="0"/>
              <a:t>/ inter-utéro-placentaire</a:t>
            </a:r>
            <a:r>
              <a:rPr lang="fr-FR" sz="2800" dirty="0" smtClean="0"/>
              <a:t>:</a:t>
            </a:r>
          </a:p>
          <a:p>
            <a:r>
              <a:rPr lang="fr-FR" sz="2800" dirty="0" smtClean="0"/>
              <a:t> </a:t>
            </a:r>
            <a:r>
              <a:rPr lang="fr-FR" sz="2800" dirty="0" smtClean="0"/>
              <a:t>participe à la formation du placenta, interposé entre l'embryon et le myomètre (pole embryonnaire).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➢ </a:t>
            </a:r>
            <a:r>
              <a:rPr lang="fr-FR" sz="2800" b="1" dirty="0" smtClean="0">
                <a:solidFill>
                  <a:srgbClr val="00B0F0"/>
                </a:solidFill>
              </a:rPr>
              <a:t>Caduque ovulaire </a:t>
            </a:r>
            <a:r>
              <a:rPr lang="fr-FR" sz="2800" dirty="0" smtClean="0"/>
              <a:t>ou réfléchie</a:t>
            </a:r>
            <a:r>
              <a:rPr lang="fr-FR" sz="2800" dirty="0" smtClean="0"/>
              <a:t>:</a:t>
            </a:r>
          </a:p>
          <a:p>
            <a:r>
              <a:rPr lang="fr-FR" sz="2800" dirty="0" smtClean="0"/>
              <a:t> </a:t>
            </a:r>
            <a:r>
              <a:rPr lang="fr-FR" sz="2800" dirty="0" smtClean="0"/>
              <a:t>autour de l'embryon et </a:t>
            </a:r>
            <a:r>
              <a:rPr lang="fr-FR" sz="2800" dirty="0" smtClean="0"/>
              <a:t>l'accompagne</a:t>
            </a:r>
          </a:p>
          <a:p>
            <a:r>
              <a:rPr lang="fr-FR" sz="2800" dirty="0" smtClean="0"/>
              <a:t> </a:t>
            </a:r>
            <a:r>
              <a:rPr lang="fr-FR" sz="2800" dirty="0" smtClean="0"/>
              <a:t>lors de la croissance.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➢ </a:t>
            </a:r>
            <a:r>
              <a:rPr lang="fr-FR" sz="2800" b="1" dirty="0" smtClean="0">
                <a:solidFill>
                  <a:srgbClr val="00B0F0"/>
                </a:solidFill>
              </a:rPr>
              <a:t>Caduque pariétale</a:t>
            </a:r>
            <a:r>
              <a:rPr lang="fr-FR" sz="2800" dirty="0" smtClean="0"/>
              <a:t>: </a:t>
            </a:r>
            <a:endParaRPr lang="fr-FR" sz="2800" dirty="0" smtClean="0"/>
          </a:p>
          <a:p>
            <a:r>
              <a:rPr lang="fr-FR" sz="2800" dirty="0" smtClean="0"/>
              <a:t>borde </a:t>
            </a:r>
            <a:r>
              <a:rPr lang="fr-FR" sz="2800" dirty="0" smtClean="0"/>
              <a:t>le reste de la cavité utérine. </a:t>
            </a:r>
            <a:endParaRPr lang="fr-FR" sz="2800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2276873"/>
            <a:ext cx="3905171" cy="45811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260570" y="272837"/>
            <a:ext cx="7528215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 </a:t>
            </a:r>
            <a:r>
              <a:rPr lang="fr-FR" sz="2400" b="1" dirty="0" smtClean="0">
                <a:solidFill>
                  <a:srgbClr val="002060"/>
                </a:solidFill>
              </a:rPr>
              <a:t>Phases de l’implantation</a:t>
            </a:r>
          </a:p>
          <a:p>
            <a:r>
              <a:rPr lang="fr-FR" sz="2400" dirty="0" smtClean="0"/>
              <a:t> </a:t>
            </a:r>
            <a:r>
              <a:rPr lang="fr-FR" sz="2400" dirty="0" smtClean="0"/>
              <a:t>De manière schématique on peut distinguer 3 étapes dans</a:t>
            </a:r>
          </a:p>
          <a:p>
            <a:r>
              <a:rPr lang="fr-FR" sz="2400" dirty="0" smtClean="0"/>
              <a:t> l'implantation:</a:t>
            </a:r>
          </a:p>
          <a:p>
            <a:endParaRPr lang="fr-FR" sz="2400" dirty="0" smtClean="0"/>
          </a:p>
          <a:p>
            <a:endParaRPr lang="fr-FR" sz="2400" dirty="0" smtClean="0"/>
          </a:p>
          <a:p>
            <a:endParaRPr lang="fr-FR" sz="2400" dirty="0" smtClean="0"/>
          </a:p>
          <a:p>
            <a:endParaRPr lang="fr-FR" sz="2400" dirty="0" smtClean="0"/>
          </a:p>
          <a:p>
            <a:endParaRPr lang="fr-FR" sz="2400" dirty="0" smtClean="0"/>
          </a:p>
          <a:p>
            <a:endParaRPr lang="fr-FR" sz="4800" dirty="0" smtClean="0"/>
          </a:p>
          <a:p>
            <a:endParaRPr lang="fr-FR" sz="2400" b="1" dirty="0" smtClean="0"/>
          </a:p>
          <a:p>
            <a:endParaRPr lang="fr-FR" sz="2400" b="1" dirty="0" smtClean="0">
              <a:solidFill>
                <a:srgbClr val="00B05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2977394" y="5733256"/>
            <a:ext cx="2535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Phases de l’implantation</a:t>
            </a:r>
            <a:endParaRPr lang="fr-FR" b="1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844824"/>
            <a:ext cx="6336704" cy="36724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-202177"/>
            <a:ext cx="9988825" cy="686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 </a:t>
            </a:r>
            <a:endParaRPr lang="fr-FR" sz="2400" b="1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Apposition</a:t>
            </a:r>
            <a:endParaRPr lang="fr-FR" sz="2800" dirty="0" smtClean="0">
              <a:solidFill>
                <a:srgbClr val="0070C0"/>
              </a:solidFill>
            </a:endParaRPr>
          </a:p>
          <a:p>
            <a:r>
              <a:rPr lang="fr-FR" sz="2400" dirty="0" smtClean="0"/>
              <a:t> </a:t>
            </a:r>
            <a:r>
              <a:rPr lang="fr-FR" sz="2400" dirty="0" smtClean="0"/>
              <a:t> </a:t>
            </a:r>
            <a:r>
              <a:rPr lang="fr-FR" sz="2800" dirty="0" smtClean="0"/>
              <a:t>la fixation ne peut avoir lieu que si l'utérus est entré dans sa phase</a:t>
            </a:r>
          </a:p>
          <a:p>
            <a:r>
              <a:rPr lang="fr-FR" sz="2800" dirty="0" smtClean="0"/>
              <a:t> sécrétoire. </a:t>
            </a:r>
          </a:p>
          <a:p>
            <a:endParaRPr lang="fr-FR" sz="2800" dirty="0" smtClean="0"/>
          </a:p>
          <a:p>
            <a:r>
              <a:rPr lang="fr-FR" sz="2800" dirty="0" smtClean="0"/>
              <a:t>Elle est caractérisée par l'apparition de microprotusions </a:t>
            </a:r>
            <a:r>
              <a:rPr lang="fr-FR" sz="2800" dirty="0" smtClean="0"/>
              <a:t>au</a:t>
            </a:r>
          </a:p>
          <a:p>
            <a:r>
              <a:rPr lang="fr-FR" sz="2800" dirty="0" smtClean="0"/>
              <a:t>pôle apical  </a:t>
            </a:r>
            <a:r>
              <a:rPr lang="fr-FR" sz="2800" dirty="0" smtClean="0"/>
              <a:t>des cellules épithéliales de l'endomètre </a:t>
            </a:r>
            <a:endParaRPr lang="fr-FR" sz="2800" dirty="0" smtClean="0"/>
          </a:p>
          <a:p>
            <a:r>
              <a:rPr lang="fr-FR" sz="2800" dirty="0" smtClean="0"/>
              <a:t> </a:t>
            </a:r>
            <a:r>
              <a:rPr lang="fr-FR" sz="2800" dirty="0" smtClean="0"/>
              <a:t>(absorption  du fluide utérin, </a:t>
            </a:r>
            <a:r>
              <a:rPr lang="fr-FR" sz="2800" dirty="0" smtClean="0"/>
              <a:t> rapprochant </a:t>
            </a:r>
            <a:r>
              <a:rPr lang="fr-FR" sz="2800" dirty="0" smtClean="0"/>
              <a:t>le blastocyste </a:t>
            </a:r>
            <a:r>
              <a:rPr lang="fr-FR" sz="2800" dirty="0" smtClean="0"/>
              <a:t>de</a:t>
            </a:r>
          </a:p>
          <a:p>
            <a:r>
              <a:rPr lang="fr-FR" sz="2800" dirty="0" smtClean="0"/>
              <a:t> </a:t>
            </a:r>
            <a:r>
              <a:rPr lang="fr-FR" sz="2800" dirty="0" smtClean="0"/>
              <a:t>l'endomètre et l'immobilisant),</a:t>
            </a:r>
          </a:p>
          <a:p>
            <a:endParaRPr lang="fr-FR" sz="2400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Adhésion</a:t>
            </a:r>
            <a:endParaRPr lang="fr-FR" sz="2800" dirty="0"/>
          </a:p>
          <a:p>
            <a:r>
              <a:rPr lang="fr-FR" sz="2800" dirty="0"/>
              <a:t>Les microvillosités  à la surface des cellules </a:t>
            </a:r>
            <a:r>
              <a:rPr lang="fr-FR" sz="2800" dirty="0" smtClean="0"/>
              <a:t>trophoblastiques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les plus </a:t>
            </a:r>
            <a:r>
              <a:rPr lang="fr-FR" sz="2800" dirty="0" smtClean="0"/>
              <a:t> externes </a:t>
            </a:r>
            <a:r>
              <a:rPr lang="fr-FR" sz="2800" dirty="0"/>
              <a:t>établissent avec  celles des cellules </a:t>
            </a:r>
            <a:r>
              <a:rPr lang="fr-FR" sz="2800" dirty="0" smtClean="0"/>
              <a:t>épithéliales</a:t>
            </a:r>
          </a:p>
          <a:p>
            <a:r>
              <a:rPr lang="fr-FR" sz="2800" dirty="0" smtClean="0"/>
              <a:t> </a:t>
            </a:r>
            <a:r>
              <a:rPr lang="fr-FR" sz="2800" dirty="0"/>
              <a:t>utérines un </a:t>
            </a:r>
            <a:r>
              <a:rPr lang="fr-FR" sz="2800" dirty="0" smtClean="0"/>
              <a:t> système </a:t>
            </a:r>
            <a:r>
              <a:rPr lang="fr-FR" sz="2800" dirty="0"/>
              <a:t>d'interpénétration.</a:t>
            </a:r>
          </a:p>
          <a:p>
            <a:r>
              <a:rPr lang="fr-FR" sz="2800" dirty="0"/>
              <a:t> </a:t>
            </a:r>
            <a:r>
              <a:rPr lang="fr-FR" sz="2800" dirty="0" smtClean="0"/>
              <a:t>Il </a:t>
            </a:r>
            <a:r>
              <a:rPr lang="fr-FR" sz="2800" dirty="0"/>
              <a:t>se forme des complexes jonctionnels responsables d'une </a:t>
            </a:r>
            <a:endParaRPr lang="fr-FR" sz="2800" dirty="0" smtClean="0"/>
          </a:p>
          <a:p>
            <a:r>
              <a:rPr lang="fr-FR" sz="2800" dirty="0" smtClean="0"/>
              <a:t>adhésion plus  </a:t>
            </a:r>
            <a:r>
              <a:rPr lang="fr-FR" sz="2800" dirty="0"/>
              <a:t>solide.</a:t>
            </a:r>
            <a:endParaRPr lang="fr-FR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46080" y="476672"/>
            <a:ext cx="9190080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0070C0"/>
                </a:solidFill>
              </a:rPr>
              <a:t>Invasion du trophoblaste et enfouissement</a:t>
            </a:r>
          </a:p>
          <a:p>
            <a:pPr>
              <a:buFont typeface="Wingdings" pitchFamily="2" charset="2"/>
              <a:buChar char="Ø"/>
            </a:pPr>
            <a:endParaRPr lang="fr-FR" sz="2800" dirty="0" smtClean="0">
              <a:solidFill>
                <a:srgbClr val="0070C0"/>
              </a:solidFill>
            </a:endParaRPr>
          </a:p>
          <a:p>
            <a:r>
              <a:rPr lang="fr-FR" sz="2400" dirty="0" smtClean="0"/>
              <a:t>Au fur et à mesure de la progression dans l'endomètre, le ST s'étend à la</a:t>
            </a:r>
          </a:p>
          <a:p>
            <a:r>
              <a:rPr lang="fr-FR" sz="2400" dirty="0" smtClean="0"/>
              <a:t> surface de l'œuf et va entourer complètement le CT. </a:t>
            </a:r>
          </a:p>
          <a:p>
            <a:endParaRPr kumimoji="0" lang="fr-F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708920"/>
            <a:ext cx="5852667" cy="349400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848" y="6381327"/>
            <a:ext cx="2975106" cy="4999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90059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prégastrulation  et    mise en place des annexes</a:t>
            </a:r>
          </a:p>
          <a:p>
            <a:endParaRPr lang="fr-FR" sz="3200" b="1" dirty="0" smtClean="0">
              <a:solidFill>
                <a:srgbClr val="00B050"/>
              </a:solidFill>
            </a:endParaRPr>
          </a:p>
          <a:p>
            <a:endParaRPr lang="fr-FR" sz="3200" b="1" dirty="0" smtClean="0">
              <a:solidFill>
                <a:srgbClr val="00B050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fr-FR" sz="3200" b="1" dirty="0" smtClean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Embryon de 8 jours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B0F0"/>
                </a:solidFill>
              </a:rPr>
              <a:t> Embryon de 10 jours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B0F0"/>
                </a:solidFill>
              </a:rPr>
              <a:t> Embryon de 12 jours</a:t>
            </a:r>
          </a:p>
          <a:p>
            <a:pPr>
              <a:buFont typeface="Wingdings" pitchFamily="2" charset="2"/>
              <a:buChar char="Ø"/>
            </a:pPr>
            <a:r>
              <a:rPr lang="fr-FR" sz="2800" b="1" dirty="0" smtClean="0">
                <a:solidFill>
                  <a:srgbClr val="00B0F0"/>
                </a:solidFill>
              </a:rPr>
              <a:t> Embryon de 15 jours</a:t>
            </a:r>
            <a:endParaRPr lang="fr-FR" sz="2800" b="1" dirty="0">
              <a:solidFill>
                <a:srgbClr val="00B0F0"/>
              </a:solidFill>
            </a:endParaRPr>
          </a:p>
        </p:txBody>
      </p:sp>
      <p:pic>
        <p:nvPicPr>
          <p:cNvPr id="3" name="Image 2" descr="Image associé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952" y="1700808"/>
            <a:ext cx="4608512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7734447" y="3645024"/>
            <a:ext cx="140955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b="1" dirty="0" smtClean="0"/>
              <a:t>ENTOPHYLLE</a:t>
            </a:r>
            <a:endParaRPr lang="fr-FR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7767148" y="3140968"/>
            <a:ext cx="137685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b="1" dirty="0" smtClean="0"/>
              <a:t>ECTOPHYLLE</a:t>
            </a:r>
            <a:endParaRPr lang="fr-FR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7812360" y="4221088"/>
            <a:ext cx="18002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b="1" dirty="0" smtClean="0"/>
              <a:t>BLASTOCOELE</a:t>
            </a:r>
            <a:endParaRPr lang="fr-FR" b="1" dirty="0"/>
          </a:p>
        </p:txBody>
      </p:sp>
      <p:pic>
        <p:nvPicPr>
          <p:cNvPr id="10" name="Image 9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752432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Connecteur droit avec flèche 8"/>
          <p:cNvCxnSpPr/>
          <p:nvPr/>
        </p:nvCxnSpPr>
        <p:spPr>
          <a:xfrm flipH="1">
            <a:off x="4644008" y="3356992"/>
            <a:ext cx="3168352" cy="86409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/>
          <p:nvPr/>
        </p:nvCxnSpPr>
        <p:spPr>
          <a:xfrm flipH="1">
            <a:off x="4572000" y="3933056"/>
            <a:ext cx="3024336" cy="72008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 flipH="1">
            <a:off x="4716016" y="4437112"/>
            <a:ext cx="3096344" cy="100811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/>
          <p:cNvSpPr txBox="1"/>
          <p:nvPr/>
        </p:nvSpPr>
        <p:spPr>
          <a:xfrm>
            <a:off x="7596336" y="2636912"/>
            <a:ext cx="170142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b="1" dirty="0" smtClean="0"/>
              <a:t>AMNIOBLASTES</a:t>
            </a:r>
            <a:endParaRPr lang="fr-FR" b="1" dirty="0"/>
          </a:p>
        </p:txBody>
      </p:sp>
      <p:cxnSp>
        <p:nvCxnSpPr>
          <p:cNvPr id="15" name="Connecteur droit avec flèche 14"/>
          <p:cNvCxnSpPr/>
          <p:nvPr/>
        </p:nvCxnSpPr>
        <p:spPr>
          <a:xfrm flipH="1">
            <a:off x="4427984" y="2924944"/>
            <a:ext cx="3096344" cy="64807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107770" y="433412"/>
            <a:ext cx="1044116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>
                <a:solidFill>
                  <a:srgbClr val="0070C0"/>
                </a:solidFill>
              </a:rPr>
              <a:t>Prégastrulation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   </a:t>
            </a:r>
            <a:r>
              <a:rPr lang="fr-FR" sz="2800" b="1" dirty="0" smtClean="0"/>
              <a:t>Formation du disque </a:t>
            </a:r>
            <a:r>
              <a:rPr lang="fr-FR" sz="2800" b="1" dirty="0" smtClean="0"/>
              <a:t>embryonnaire </a:t>
            </a:r>
            <a:r>
              <a:rPr lang="fr-FR" sz="2800" b="1" dirty="0" smtClean="0"/>
              <a:t>didermique</a:t>
            </a:r>
          </a:p>
          <a:p>
            <a:r>
              <a:rPr lang="fr-FR" sz="2800" b="1" dirty="0" smtClean="0"/>
              <a:t>            </a:t>
            </a:r>
            <a:r>
              <a:rPr lang="fr-FR" sz="2800" b="1" dirty="0" smtClean="0">
                <a:solidFill>
                  <a:srgbClr val="FF0000"/>
                </a:solidFill>
              </a:rPr>
              <a:t> </a:t>
            </a:r>
            <a:r>
              <a:rPr lang="fr-FR" sz="2800" b="1" dirty="0" smtClean="0">
                <a:solidFill>
                  <a:srgbClr val="7030A0"/>
                </a:solidFill>
              </a:rPr>
              <a:t>    </a:t>
            </a:r>
            <a:r>
              <a:rPr lang="fr-FR" sz="2800" b="1" dirty="0" smtClean="0">
                <a:solidFill>
                  <a:srgbClr val="7030A0"/>
                </a:solidFill>
              </a:rPr>
              <a:t>           </a:t>
            </a:r>
            <a:r>
              <a:rPr lang="fr-FR" sz="2800" b="1" dirty="0" smtClean="0">
                <a:solidFill>
                  <a:srgbClr val="7030A0"/>
                </a:solidFill>
              </a:rPr>
              <a:t>            B</a:t>
            </a:r>
            <a:r>
              <a:rPr lang="fr-FR" sz="2800" b="1" dirty="0" smtClean="0">
                <a:solidFill>
                  <a:srgbClr val="7030A0"/>
                </a:solidFill>
              </a:rPr>
              <a:t>outon embryonnaire</a:t>
            </a:r>
          </a:p>
          <a:p>
            <a:endParaRPr lang="fr-FR" sz="2800" b="1" dirty="0" smtClean="0">
              <a:solidFill>
                <a:srgbClr val="FF0000"/>
              </a:solidFill>
            </a:endParaRPr>
          </a:p>
          <a:p>
            <a:r>
              <a:rPr lang="fr-FR" sz="2800" b="1" dirty="0" smtClean="0">
                <a:solidFill>
                  <a:srgbClr val="FF0000"/>
                </a:solidFill>
              </a:rPr>
              <a:t>                           </a:t>
            </a:r>
            <a:r>
              <a:rPr lang="fr-FR" sz="2800" b="1" dirty="0" smtClean="0">
                <a:solidFill>
                  <a:srgbClr val="FF0000"/>
                </a:solidFill>
              </a:rPr>
              <a:t>      </a:t>
            </a:r>
            <a:r>
              <a:rPr lang="fr-FR" sz="2800" b="1" dirty="0" smtClean="0">
                <a:solidFill>
                  <a:srgbClr val="0070C0"/>
                </a:solidFill>
              </a:rPr>
              <a:t>Ectophylle                 Entophylle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                                </a:t>
            </a:r>
            <a:r>
              <a:rPr lang="fr-FR" sz="2800" b="1" dirty="0" smtClean="0"/>
              <a:t>ectoderme                 hypoderme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         </a:t>
            </a:r>
          </a:p>
          <a:p>
            <a:r>
              <a:rPr lang="fr-FR" sz="2800" b="1" dirty="0" smtClean="0">
                <a:solidFill>
                  <a:srgbClr val="FF0000"/>
                </a:solidFill>
              </a:rPr>
              <a:t>                   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Disque embryonnaire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                                                 didermique</a:t>
            </a:r>
          </a:p>
          <a:p>
            <a:endParaRPr lang="fr-FR" sz="2800" b="1" dirty="0">
              <a:solidFill>
                <a:srgbClr val="00B0F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>
                <a:solidFill>
                  <a:srgbClr val="00B0F0"/>
                </a:solidFill>
              </a:rPr>
              <a:t> </a:t>
            </a:r>
            <a:r>
              <a:rPr lang="fr-FR" sz="2800" b="1" dirty="0"/>
              <a:t>Formation de la cavité amniotique </a:t>
            </a:r>
            <a:r>
              <a:rPr lang="fr-FR" sz="2800" b="1" dirty="0">
                <a:solidFill>
                  <a:srgbClr val="00B0F0"/>
                </a:solidFill>
              </a:rPr>
              <a:t>(CA)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     </a:t>
            </a:r>
            <a:r>
              <a:rPr lang="fr-FR" sz="2800" b="1" dirty="0"/>
              <a:t>La cavité amniotique est bordée par</a:t>
            </a:r>
            <a:r>
              <a:rPr lang="fr-FR" sz="2800" b="1" dirty="0" smtClean="0"/>
              <a:t>: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FR" sz="2800" b="1" dirty="0" smtClean="0">
                <a:solidFill>
                  <a:srgbClr val="00B0F0"/>
                </a:solidFill>
              </a:rPr>
              <a:t>  Les </a:t>
            </a:r>
            <a:r>
              <a:rPr lang="fr-FR" sz="2800" b="1" dirty="0">
                <a:solidFill>
                  <a:srgbClr val="00B0F0"/>
                </a:solidFill>
              </a:rPr>
              <a:t>amnioblastes ( Amnios) (toit)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fr-FR" sz="2800" b="1" dirty="0" smtClean="0">
                <a:solidFill>
                  <a:srgbClr val="00B0F0"/>
                </a:solidFill>
              </a:rPr>
              <a:t>  Les </a:t>
            </a:r>
            <a:r>
              <a:rPr lang="fr-FR" sz="2800" b="1" dirty="0">
                <a:solidFill>
                  <a:srgbClr val="00B0F0"/>
                </a:solidFill>
              </a:rPr>
              <a:t>cellules de l’ectophylle (plancher)</a:t>
            </a:r>
          </a:p>
          <a:p>
            <a:endParaRPr lang="fr-FR" sz="2800" b="1" dirty="0" smtClean="0">
              <a:solidFill>
                <a:srgbClr val="00B0F0"/>
              </a:solidFill>
            </a:endParaRPr>
          </a:p>
          <a:p>
            <a:r>
              <a:rPr lang="fr-FR" sz="2800" b="1" dirty="0" smtClean="0">
                <a:solidFill>
                  <a:srgbClr val="00B0F0"/>
                </a:solidFill>
              </a:rPr>
              <a:t>                                                       </a:t>
            </a:r>
            <a:endParaRPr lang="fr-FR" sz="2800" b="1" dirty="0">
              <a:solidFill>
                <a:srgbClr val="00B0F0"/>
              </a:solidFill>
            </a:endParaRPr>
          </a:p>
        </p:txBody>
      </p:sp>
      <p:sp>
        <p:nvSpPr>
          <p:cNvPr id="3" name="Flèche droite 2"/>
          <p:cNvSpPr/>
          <p:nvPr/>
        </p:nvSpPr>
        <p:spPr>
          <a:xfrm rot="2064896">
            <a:off x="5386241" y="1782552"/>
            <a:ext cx="720080" cy="2880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6" name="Flèche droite 5"/>
          <p:cNvSpPr/>
          <p:nvPr/>
        </p:nvSpPr>
        <p:spPr>
          <a:xfrm rot="8184727">
            <a:off x="3545904" y="1812804"/>
            <a:ext cx="720080" cy="2880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7" name="Flèche droite 6"/>
          <p:cNvSpPr/>
          <p:nvPr/>
        </p:nvSpPr>
        <p:spPr>
          <a:xfrm rot="8840880">
            <a:off x="5388667" y="3055889"/>
            <a:ext cx="720080" cy="2880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0" y="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70C0"/>
                </a:solidFill>
              </a:rPr>
              <a:t>Au 8</a:t>
            </a:r>
            <a:r>
              <a:rPr lang="fr-FR" sz="2800" b="1" baseline="30000" dirty="0" smtClean="0">
                <a:solidFill>
                  <a:srgbClr val="0070C0"/>
                </a:solidFill>
              </a:rPr>
              <a:t>ème</a:t>
            </a:r>
            <a:r>
              <a:rPr lang="fr-FR" sz="2800" b="1" dirty="0" smtClean="0">
                <a:solidFill>
                  <a:srgbClr val="0070C0"/>
                </a:solidFill>
              </a:rPr>
              <a:t> jour</a:t>
            </a:r>
            <a:endParaRPr lang="fr-FR" sz="2800" b="1" dirty="0">
              <a:solidFill>
                <a:srgbClr val="0070C0"/>
              </a:solidFill>
            </a:endParaRPr>
          </a:p>
        </p:txBody>
      </p:sp>
      <p:sp>
        <p:nvSpPr>
          <p:cNvPr id="9" name="Flèche droite 8"/>
          <p:cNvSpPr/>
          <p:nvPr/>
        </p:nvSpPr>
        <p:spPr>
          <a:xfrm rot="2073339">
            <a:off x="3726069" y="3048573"/>
            <a:ext cx="720080" cy="28803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8892480" cy="659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ZoneTexte 4"/>
          <p:cNvSpPr txBox="1"/>
          <p:nvPr/>
        </p:nvSpPr>
        <p:spPr>
          <a:xfrm>
            <a:off x="0" y="3212976"/>
            <a:ext cx="154766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0" y="3933056"/>
            <a:ext cx="154766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Au 10</a:t>
            </a:r>
            <a:r>
              <a:rPr lang="fr-FR" sz="2800" b="1" baseline="30000" dirty="0" smtClean="0">
                <a:solidFill>
                  <a:srgbClr val="002060"/>
                </a:solidFill>
              </a:rPr>
              <a:t>ème</a:t>
            </a:r>
            <a:r>
              <a:rPr lang="fr-FR" sz="2800" b="1" dirty="0" smtClean="0">
                <a:solidFill>
                  <a:srgbClr val="002060"/>
                </a:solidFill>
              </a:rPr>
              <a:t>  jour</a:t>
            </a:r>
          </a:p>
          <a:p>
            <a:endParaRPr lang="fr-FR" sz="2800" b="1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 </a:t>
            </a:r>
            <a:r>
              <a:rPr lang="fr-FR" sz="2800" b="1" dirty="0" smtClean="0"/>
              <a:t>Le ST se creuse de lacunes: </a:t>
            </a:r>
            <a:r>
              <a:rPr lang="fr-FR" sz="2800" b="1" dirty="0" smtClean="0">
                <a:solidFill>
                  <a:srgbClr val="00B0F0"/>
                </a:solidFill>
              </a:rPr>
              <a:t>stade </a:t>
            </a:r>
            <a:r>
              <a:rPr lang="fr-FR" sz="2800" b="1" dirty="0" smtClean="0">
                <a:solidFill>
                  <a:srgbClr val="00B0F0"/>
                </a:solidFill>
              </a:rPr>
              <a:t>lacunaire.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 </a:t>
            </a:r>
            <a:r>
              <a:rPr lang="fr-FR" sz="2800" b="1" dirty="0" smtClean="0"/>
              <a:t>L’œuf est entièrement </a:t>
            </a:r>
            <a:r>
              <a:rPr lang="fr-FR" sz="2800" b="1" dirty="0" smtClean="0"/>
              <a:t>enfoui</a:t>
            </a:r>
            <a:r>
              <a:rPr lang="fr-FR" sz="2800" b="1" dirty="0" smtClean="0">
                <a:solidFill>
                  <a:srgbClr val="00B050"/>
                </a:solidFill>
              </a:rPr>
              <a:t>.</a:t>
            </a:r>
            <a:endParaRPr lang="fr-FR" sz="2800" b="1" dirty="0" smtClean="0">
              <a:solidFill>
                <a:srgbClr val="00B05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 </a:t>
            </a:r>
            <a:r>
              <a:rPr lang="fr-FR" sz="2800" b="1" dirty="0" smtClean="0"/>
              <a:t>Le CT se différencie: </a:t>
            </a:r>
            <a:r>
              <a:rPr lang="fr-FR" sz="2800" b="1" dirty="0" smtClean="0">
                <a:solidFill>
                  <a:srgbClr val="00B0F0"/>
                </a:solidFill>
              </a:rPr>
              <a:t>premières villosités </a:t>
            </a:r>
            <a:r>
              <a:rPr lang="fr-FR" sz="2800" b="1" dirty="0" smtClean="0">
                <a:solidFill>
                  <a:srgbClr val="00B0F0"/>
                </a:solidFill>
              </a:rPr>
              <a:t>placentaires.</a:t>
            </a:r>
            <a:endParaRPr lang="fr-FR" sz="2800" b="1" dirty="0" smtClean="0">
              <a:solidFill>
                <a:srgbClr val="00B0F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Apparition </a:t>
            </a:r>
            <a:r>
              <a:rPr lang="fr-FR" sz="2800" b="1" dirty="0" smtClean="0"/>
              <a:t>d’un tissu </a:t>
            </a:r>
            <a:r>
              <a:rPr lang="fr-FR" sz="2800" b="1" dirty="0" smtClean="0"/>
              <a:t>lâche issu du CT:   </a:t>
            </a:r>
          </a:p>
          <a:p>
            <a:r>
              <a:rPr lang="fr-FR" sz="2800" b="1" dirty="0">
                <a:solidFill>
                  <a:srgbClr val="00B050"/>
                </a:solidFill>
              </a:rPr>
              <a:t> </a:t>
            </a:r>
            <a:r>
              <a:rPr lang="fr-FR" sz="2800" b="1" dirty="0" smtClean="0">
                <a:solidFill>
                  <a:srgbClr val="00B050"/>
                </a:solidFill>
              </a:rPr>
              <a:t>                         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Mésenchyme </a:t>
            </a:r>
            <a:r>
              <a:rPr lang="fr-FR" sz="2800" b="1" dirty="0" smtClean="0">
                <a:solidFill>
                  <a:srgbClr val="00B0F0"/>
                </a:solidFill>
              </a:rPr>
              <a:t>primaire</a:t>
            </a:r>
          </a:p>
          <a:p>
            <a:r>
              <a:rPr lang="fr-FR" sz="2800" b="1" dirty="0">
                <a:solidFill>
                  <a:srgbClr val="00B0F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                        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ou </a:t>
            </a:r>
            <a:r>
              <a:rPr lang="fr-FR" sz="2800" b="1" dirty="0" smtClean="0">
                <a:solidFill>
                  <a:srgbClr val="00B0F0"/>
                </a:solidFill>
              </a:rPr>
              <a:t>extra embryonnaire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Formation </a:t>
            </a:r>
            <a:r>
              <a:rPr lang="fr-FR" sz="2800" b="1" dirty="0" smtClean="0"/>
              <a:t>de la </a:t>
            </a:r>
            <a:r>
              <a:rPr lang="fr-FR" sz="2800" b="1" dirty="0" smtClean="0">
                <a:solidFill>
                  <a:srgbClr val="00B0F0"/>
                </a:solidFill>
              </a:rPr>
              <a:t>mb de </a:t>
            </a:r>
            <a:r>
              <a:rPr lang="fr-FR" sz="2800" b="1" dirty="0" smtClean="0">
                <a:solidFill>
                  <a:srgbClr val="00B0F0"/>
                </a:solidFill>
              </a:rPr>
              <a:t>HEUSER</a:t>
            </a:r>
            <a:endParaRPr lang="fr-FR" sz="2800" b="1" dirty="0" smtClean="0">
              <a:solidFill>
                <a:srgbClr val="00B0F0"/>
              </a:solidFill>
            </a:endParaRPr>
          </a:p>
          <a:p>
            <a:r>
              <a:rPr lang="fr-FR" sz="2800" b="1" dirty="0" smtClean="0"/>
              <a:t> </a:t>
            </a:r>
          </a:p>
          <a:p>
            <a:r>
              <a:rPr lang="fr-FR" sz="2800" b="1" dirty="0"/>
              <a:t>délimitant </a:t>
            </a:r>
            <a:r>
              <a:rPr lang="fr-FR" sz="2800" b="1" dirty="0" smtClean="0"/>
              <a:t>avec l’entophylle une </a:t>
            </a:r>
            <a:r>
              <a:rPr lang="fr-FR" sz="2800" b="1" dirty="0" smtClean="0"/>
              <a:t>nouvelle </a:t>
            </a:r>
            <a:r>
              <a:rPr lang="fr-FR" sz="2800" b="1" dirty="0" smtClean="0"/>
              <a:t>cavité:          </a:t>
            </a:r>
            <a:endParaRPr lang="fr-FR" sz="2800" b="1" dirty="0" smtClean="0"/>
          </a:p>
          <a:p>
            <a:r>
              <a:rPr lang="fr-FR" sz="2800" b="1" dirty="0" smtClean="0">
                <a:solidFill>
                  <a:srgbClr val="00B050"/>
                </a:solidFill>
              </a:rPr>
              <a:t>                              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Le </a:t>
            </a:r>
            <a:r>
              <a:rPr lang="fr-FR" sz="2800" b="1" dirty="0" smtClean="0">
                <a:solidFill>
                  <a:srgbClr val="00B0F0"/>
                </a:solidFill>
              </a:rPr>
              <a:t>lécitocoele primaire </a:t>
            </a:r>
            <a:r>
              <a:rPr lang="fr-FR" sz="2800" b="1" dirty="0" smtClean="0">
                <a:solidFill>
                  <a:srgbClr val="00B0F0"/>
                </a:solidFill>
              </a:rPr>
              <a:t>(L I)</a:t>
            </a:r>
            <a:endParaRPr lang="fr-FR" sz="28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0" y="3645024"/>
            <a:ext cx="1259632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856292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Au  12</a:t>
            </a:r>
            <a:r>
              <a:rPr lang="fr-FR" sz="2800" b="1" baseline="30000" dirty="0" smtClean="0">
                <a:solidFill>
                  <a:srgbClr val="002060"/>
                </a:solidFill>
              </a:rPr>
              <a:t>ème</a:t>
            </a:r>
            <a:r>
              <a:rPr lang="fr-FR" sz="2800" b="1" dirty="0" smtClean="0">
                <a:solidFill>
                  <a:srgbClr val="002060"/>
                </a:solidFill>
              </a:rPr>
              <a:t>  jour</a:t>
            </a:r>
          </a:p>
          <a:p>
            <a:endParaRPr lang="fr-FR" sz="2800" b="1" dirty="0" smtClean="0">
              <a:solidFill>
                <a:srgbClr val="00206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 </a:t>
            </a:r>
            <a:r>
              <a:rPr lang="fr-FR" sz="2800" b="1" dirty="0" smtClean="0"/>
              <a:t>L’œuf pénètre encore dans la muqueuse utérine. </a:t>
            </a:r>
          </a:p>
          <a:p>
            <a:endParaRPr lang="fr-FR" sz="2800" b="1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Le </a:t>
            </a:r>
            <a:r>
              <a:rPr lang="fr-FR" sz="2800" b="1" dirty="0" smtClean="0"/>
              <a:t>ST érode les capillaires sanguins maternels: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Le sang maternel coule dans les lacunes.</a:t>
            </a:r>
          </a:p>
          <a:p>
            <a:endParaRPr lang="fr-FR" sz="2800" b="1" dirty="0" smtClean="0">
              <a:solidFill>
                <a:srgbClr val="00B0F0"/>
              </a:solidFill>
            </a:endParaRPr>
          </a:p>
          <a:p>
            <a:r>
              <a:rPr lang="fr-FR" sz="2800" b="1" dirty="0" smtClean="0"/>
              <a:t>C- Les cellules de l’</a:t>
            </a:r>
            <a:r>
              <a:rPr lang="fr-FR" sz="2800" b="1" dirty="0" err="1" smtClean="0"/>
              <a:t>entophylle</a:t>
            </a:r>
            <a:r>
              <a:rPr lang="fr-FR" sz="2800" b="1" dirty="0" smtClean="0"/>
              <a:t> se différencient: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Elles vont remplacer la mb de Heuser qui va disparaitre. </a:t>
            </a:r>
            <a:endParaRPr lang="fr-FR" sz="28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-918864"/>
            <a:ext cx="7092280" cy="7776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5141814" y="1700808"/>
            <a:ext cx="4002186" cy="3211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baseline="30000" dirty="0" smtClean="0"/>
          </a:p>
          <a:p>
            <a:endParaRPr lang="fr-FR" sz="3200" b="1" dirty="0" smtClean="0"/>
          </a:p>
          <a:p>
            <a:endParaRPr lang="fr-FR" sz="3200" b="1" dirty="0" smtClean="0"/>
          </a:p>
          <a:p>
            <a:endParaRPr lang="fr-FR" sz="3200" b="1" baseline="30000" dirty="0" smtClean="0"/>
          </a:p>
        </p:txBody>
      </p:sp>
      <p:sp>
        <p:nvSpPr>
          <p:cNvPr id="4" name="ZoneTexte 3"/>
          <p:cNvSpPr txBox="1"/>
          <p:nvPr/>
        </p:nvSpPr>
        <p:spPr>
          <a:xfrm>
            <a:off x="323528" y="332656"/>
            <a:ext cx="1930337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LAME CHORIALE</a:t>
            </a:r>
          </a:p>
          <a:p>
            <a:r>
              <a:rPr lang="fr-FR" sz="2000" b="1" dirty="0" smtClean="0"/>
              <a:t>MES + CT</a:t>
            </a:r>
            <a:endParaRPr lang="fr-FR" sz="2000" b="1" dirty="0"/>
          </a:p>
        </p:txBody>
      </p:sp>
      <p:sp>
        <p:nvSpPr>
          <p:cNvPr id="5" name="ZoneTexte 4"/>
          <p:cNvSpPr txBox="1"/>
          <p:nvPr/>
        </p:nvSpPr>
        <p:spPr>
          <a:xfrm>
            <a:off x="539552" y="4293096"/>
            <a:ext cx="158306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LÉCITOCÈLE</a:t>
            </a:r>
            <a:r>
              <a:rPr lang="fr-FR" b="1" dirty="0" smtClean="0"/>
              <a:t> II</a:t>
            </a:r>
            <a:endParaRPr lang="fr-FR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5076056" y="188640"/>
            <a:ext cx="2246449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SOMATOPLEURE EE</a:t>
            </a:r>
          </a:p>
          <a:p>
            <a:endParaRPr lang="fr-FR" sz="2000" b="1" dirty="0"/>
          </a:p>
        </p:txBody>
      </p:sp>
      <p:sp>
        <p:nvSpPr>
          <p:cNvPr id="7" name="ZoneTexte 6"/>
          <p:cNvSpPr txBox="1"/>
          <p:nvPr/>
        </p:nvSpPr>
        <p:spPr>
          <a:xfrm>
            <a:off x="5580112" y="1412776"/>
            <a:ext cx="1638975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CHORION</a:t>
            </a:r>
          </a:p>
          <a:p>
            <a:r>
              <a:rPr lang="fr-FR" sz="2000" b="1" dirty="0" smtClean="0"/>
              <a:t>Mes + CT + ST</a:t>
            </a:r>
            <a:endParaRPr lang="fr-FR" sz="2000" b="1" dirty="0"/>
          </a:p>
        </p:txBody>
      </p:sp>
      <p:sp>
        <p:nvSpPr>
          <p:cNvPr id="8" name="ZoneTexte 7"/>
          <p:cNvSpPr txBox="1"/>
          <p:nvPr/>
        </p:nvSpPr>
        <p:spPr>
          <a:xfrm>
            <a:off x="5508104" y="2996952"/>
            <a:ext cx="2615588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PÉDICULE DE FIXATION</a:t>
            </a:r>
          </a:p>
          <a:p>
            <a:endParaRPr lang="fr-FR" sz="2000" b="1" dirty="0"/>
          </a:p>
        </p:txBody>
      </p:sp>
      <p:sp>
        <p:nvSpPr>
          <p:cNvPr id="9" name="ZoneTexte 8"/>
          <p:cNvSpPr txBox="1"/>
          <p:nvPr/>
        </p:nvSpPr>
        <p:spPr>
          <a:xfrm>
            <a:off x="4932040" y="5733256"/>
            <a:ext cx="2629246" cy="707886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sz="2000" b="1" dirty="0" smtClean="0"/>
              <a:t>SPLANCHNOPLEURE EE</a:t>
            </a:r>
          </a:p>
          <a:p>
            <a:endParaRPr lang="fr-FR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0"/>
            <a:ext cx="9036496" cy="790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002060"/>
                </a:solidFill>
              </a:rPr>
              <a:t>Au 15</a:t>
            </a:r>
            <a:r>
              <a:rPr lang="fr-FR" sz="2800" b="1" baseline="30000" dirty="0" smtClean="0">
                <a:solidFill>
                  <a:srgbClr val="002060"/>
                </a:solidFill>
              </a:rPr>
              <a:t>ème</a:t>
            </a:r>
            <a:r>
              <a:rPr lang="fr-FR" sz="2800" b="1" dirty="0" smtClean="0">
                <a:solidFill>
                  <a:srgbClr val="002060"/>
                </a:solidFill>
              </a:rPr>
              <a:t>  jour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 </a:t>
            </a:r>
            <a:r>
              <a:rPr lang="fr-FR" sz="2800" b="1" dirty="0" smtClean="0"/>
              <a:t>L’œuf </a:t>
            </a:r>
            <a:r>
              <a:rPr lang="fr-FR" sz="2800" b="1" dirty="0" smtClean="0"/>
              <a:t>ne cesse de grossir;</a:t>
            </a:r>
            <a:endParaRPr lang="fr-FR" sz="2800" b="1" dirty="0" smtClean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L’entophylle </a:t>
            </a:r>
            <a:r>
              <a:rPr lang="fr-FR" sz="2800" b="1" dirty="0" smtClean="0"/>
              <a:t>remplace la mb de Heuser: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     Lécitocoele </a:t>
            </a:r>
            <a:r>
              <a:rPr lang="fr-FR" sz="2800" b="1" dirty="0" smtClean="0">
                <a:solidFill>
                  <a:srgbClr val="00B0F0"/>
                </a:solidFill>
              </a:rPr>
              <a:t>I (L I)              </a:t>
            </a:r>
            <a:r>
              <a:rPr lang="fr-FR" sz="2800" b="1" dirty="0" smtClean="0">
                <a:solidFill>
                  <a:srgbClr val="00B0F0"/>
                </a:solidFill>
              </a:rPr>
              <a:t>         </a:t>
            </a:r>
            <a:r>
              <a:rPr lang="fr-FR" sz="2800" b="1" dirty="0" smtClean="0">
                <a:solidFill>
                  <a:srgbClr val="00B0F0"/>
                </a:solidFill>
              </a:rPr>
              <a:t>Lécitocoele II (L II)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b="1" dirty="0" smtClean="0"/>
              <a:t>Le </a:t>
            </a:r>
            <a:r>
              <a:rPr lang="fr-FR" sz="2800" b="1" dirty="0" smtClean="0"/>
              <a:t>mésenchyme (Ms) se rompt:</a:t>
            </a:r>
          </a:p>
          <a:p>
            <a:r>
              <a:rPr lang="fr-FR" sz="2800" b="1" dirty="0" smtClean="0"/>
              <a:t>  </a:t>
            </a:r>
            <a:r>
              <a:rPr lang="fr-FR" sz="2800" b="1" dirty="0" smtClean="0">
                <a:solidFill>
                  <a:srgbClr val="00B0F0"/>
                </a:solidFill>
              </a:rPr>
              <a:t>Amnios </a:t>
            </a:r>
            <a:r>
              <a:rPr lang="fr-FR" sz="2800" b="1" dirty="0" smtClean="0">
                <a:solidFill>
                  <a:srgbClr val="00B0F0"/>
                </a:solidFill>
              </a:rPr>
              <a:t>+ Ms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          Somatopleure </a:t>
            </a:r>
            <a:r>
              <a:rPr lang="fr-FR" sz="2800" b="1" dirty="0" smtClean="0">
                <a:solidFill>
                  <a:srgbClr val="00B0F0"/>
                </a:solidFill>
              </a:rPr>
              <a:t>Extra Emb</a:t>
            </a:r>
          </a:p>
          <a:p>
            <a:r>
              <a:rPr lang="fr-FR" sz="2800" b="1" dirty="0">
                <a:solidFill>
                  <a:srgbClr val="00B0F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                       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            (</a:t>
            </a:r>
            <a:r>
              <a:rPr lang="fr-FR" sz="2800" b="1" dirty="0" smtClean="0">
                <a:solidFill>
                  <a:srgbClr val="00B0F0"/>
                </a:solidFill>
              </a:rPr>
              <a:t>lame amniotique)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Entophylle </a:t>
            </a:r>
            <a:r>
              <a:rPr lang="fr-FR" sz="2800" b="1" dirty="0" smtClean="0">
                <a:solidFill>
                  <a:srgbClr val="00B0F0"/>
                </a:solidFill>
              </a:rPr>
              <a:t>+ Ms             </a:t>
            </a:r>
            <a:r>
              <a:rPr lang="fr-FR" sz="2800" b="1" dirty="0" smtClean="0">
                <a:solidFill>
                  <a:srgbClr val="00B0F0"/>
                </a:solidFill>
              </a:rPr>
              <a:t>          Splanchnopleure </a:t>
            </a:r>
            <a:r>
              <a:rPr lang="fr-FR" sz="2800" b="1" dirty="0" smtClean="0">
                <a:solidFill>
                  <a:srgbClr val="00B0F0"/>
                </a:solidFill>
              </a:rPr>
              <a:t>Extra Emb</a:t>
            </a:r>
          </a:p>
          <a:p>
            <a:r>
              <a:rPr lang="fr-FR" sz="2800" b="1" dirty="0">
                <a:solidFill>
                  <a:srgbClr val="00B0F0"/>
                </a:solidFill>
              </a:rPr>
              <a:t> </a:t>
            </a:r>
            <a:r>
              <a:rPr lang="fr-FR" sz="2800" b="1" dirty="0" smtClean="0">
                <a:solidFill>
                  <a:srgbClr val="00B0F0"/>
                </a:solidFill>
              </a:rPr>
              <a:t>                            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         (</a:t>
            </a:r>
            <a:r>
              <a:rPr lang="fr-FR" sz="2800" b="1" dirty="0" smtClean="0">
                <a:solidFill>
                  <a:srgbClr val="00B0F0"/>
                </a:solidFill>
              </a:rPr>
              <a:t>lame ombilicale</a:t>
            </a:r>
            <a:r>
              <a:rPr lang="fr-FR" sz="2800" b="1" dirty="0" smtClean="0">
                <a:solidFill>
                  <a:srgbClr val="00B0F0"/>
                </a:solidFill>
              </a:rPr>
              <a:t>)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         CT </a:t>
            </a:r>
            <a:r>
              <a:rPr lang="fr-FR" sz="2800" b="1" dirty="0">
                <a:solidFill>
                  <a:srgbClr val="00B0F0"/>
                </a:solidFill>
              </a:rPr>
              <a:t>+ Ms      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                       Lame </a:t>
            </a:r>
            <a:r>
              <a:rPr lang="fr-FR" sz="2800" b="1" dirty="0">
                <a:solidFill>
                  <a:srgbClr val="00B0F0"/>
                </a:solidFill>
              </a:rPr>
              <a:t>choriale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      CT </a:t>
            </a:r>
            <a:r>
              <a:rPr lang="fr-FR" sz="2800" b="1" dirty="0">
                <a:solidFill>
                  <a:srgbClr val="00B0F0"/>
                </a:solidFill>
              </a:rPr>
              <a:t>+ ST+ Ms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                           Chorion</a:t>
            </a:r>
            <a:endParaRPr lang="fr-FR" sz="2800" b="1" dirty="0">
              <a:solidFill>
                <a:srgbClr val="00B0F0"/>
              </a:solidFill>
            </a:endParaRPr>
          </a:p>
          <a:p>
            <a:endParaRPr lang="fr-FR" sz="2800" b="1" dirty="0">
              <a:solidFill>
                <a:srgbClr val="00B0F0"/>
              </a:solidFill>
            </a:endParaRPr>
          </a:p>
          <a:p>
            <a:r>
              <a:rPr lang="fr-FR" sz="2800" b="1" dirty="0" smtClean="0">
                <a:solidFill>
                  <a:srgbClr val="00B0F0"/>
                </a:solidFill>
              </a:rPr>
              <a:t>    Ms </a:t>
            </a:r>
            <a:r>
              <a:rPr lang="fr-FR" sz="2800" b="1" dirty="0">
                <a:solidFill>
                  <a:srgbClr val="00B0F0"/>
                </a:solidFill>
              </a:rPr>
              <a:t>qui relie     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                  Pédicule </a:t>
            </a:r>
            <a:r>
              <a:rPr lang="fr-FR" sz="2800" b="1" dirty="0">
                <a:solidFill>
                  <a:srgbClr val="00B0F0"/>
                </a:solidFill>
              </a:rPr>
              <a:t>de fixation</a:t>
            </a:r>
          </a:p>
          <a:p>
            <a:r>
              <a:rPr lang="fr-FR" sz="2800" b="1" dirty="0">
                <a:solidFill>
                  <a:srgbClr val="00B0F0"/>
                </a:solidFill>
              </a:rPr>
              <a:t> l’embryon</a:t>
            </a:r>
          </a:p>
          <a:p>
            <a:r>
              <a:rPr lang="fr-FR" sz="2800" b="1" dirty="0">
                <a:solidFill>
                  <a:srgbClr val="00B0F0"/>
                </a:solidFill>
              </a:rPr>
              <a:t> </a:t>
            </a:r>
          </a:p>
          <a:p>
            <a:r>
              <a:rPr lang="fr-FR" sz="2800" b="1" dirty="0" smtClean="0">
                <a:solidFill>
                  <a:srgbClr val="00B0F0"/>
                </a:solidFill>
              </a:rPr>
              <a:t> Cavité </a:t>
            </a:r>
            <a:r>
              <a:rPr lang="fr-FR" sz="2800" b="1" dirty="0">
                <a:solidFill>
                  <a:srgbClr val="00B0F0"/>
                </a:solidFill>
              </a:rPr>
              <a:t>de l’œuf               </a:t>
            </a:r>
            <a:r>
              <a:rPr lang="fr-FR" sz="2800" b="1" dirty="0" smtClean="0">
                <a:solidFill>
                  <a:srgbClr val="00B0F0"/>
                </a:solidFill>
              </a:rPr>
              <a:t>                    Cœlome </a:t>
            </a:r>
            <a:r>
              <a:rPr lang="fr-FR" sz="2800" b="1" dirty="0">
                <a:solidFill>
                  <a:srgbClr val="00B0F0"/>
                </a:solidFill>
              </a:rPr>
              <a:t>Extra Emb</a:t>
            </a:r>
          </a:p>
          <a:p>
            <a:endParaRPr lang="fr-FR" sz="2800" b="1" dirty="0" smtClean="0">
              <a:solidFill>
                <a:srgbClr val="00B0F0"/>
              </a:solidFill>
            </a:endParaRPr>
          </a:p>
          <a:p>
            <a:endParaRPr lang="fr-FR" sz="3200" b="1" dirty="0">
              <a:solidFill>
                <a:srgbClr val="FF0000"/>
              </a:solidFill>
            </a:endParaRPr>
          </a:p>
        </p:txBody>
      </p:sp>
      <p:sp>
        <p:nvSpPr>
          <p:cNvPr id="3" name="Flèche droite 2"/>
          <p:cNvSpPr/>
          <p:nvPr/>
        </p:nvSpPr>
        <p:spPr>
          <a:xfrm>
            <a:off x="3520747" y="1543060"/>
            <a:ext cx="978408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lèche droite 4"/>
          <p:cNvSpPr/>
          <p:nvPr/>
        </p:nvSpPr>
        <p:spPr>
          <a:xfrm>
            <a:off x="2703240" y="3231522"/>
            <a:ext cx="978408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droite 5"/>
          <p:cNvSpPr/>
          <p:nvPr/>
        </p:nvSpPr>
        <p:spPr>
          <a:xfrm>
            <a:off x="2703240" y="2392414"/>
            <a:ext cx="978408" cy="510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240" y="4075774"/>
            <a:ext cx="1012024" cy="97647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240" y="4584711"/>
            <a:ext cx="1012024" cy="10973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205" y="5373216"/>
            <a:ext cx="1012024" cy="109738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6531799"/>
            <a:ext cx="1012024" cy="1097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35069</TotalTime>
  <Words>681</Words>
  <Application>Microsoft Office PowerPoint</Application>
  <PresentationFormat>Affichage à l'écran (4:3)</PresentationFormat>
  <Paragraphs>167</Paragraphs>
  <Slides>18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Arial</vt:lpstr>
      <vt:lpstr>Calibri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GE</cp:lastModifiedBy>
  <cp:revision>50</cp:revision>
  <dcterms:created xsi:type="dcterms:W3CDTF">2014-11-14T13:52:58Z</dcterms:created>
  <dcterms:modified xsi:type="dcterms:W3CDTF">2023-11-17T21:43:46Z</dcterms:modified>
</cp:coreProperties>
</file>