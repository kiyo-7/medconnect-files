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5" r:id="rId4"/>
    <p:sldId id="276" r:id="rId5"/>
    <p:sldId id="278" r:id="rId6"/>
    <p:sldId id="264" r:id="rId7"/>
    <p:sldId id="265" r:id="rId8"/>
    <p:sldId id="266" r:id="rId9"/>
    <p:sldId id="270" r:id="rId10"/>
    <p:sldId id="288" r:id="rId11"/>
    <p:sldId id="289" r:id="rId12"/>
    <p:sldId id="273" r:id="rId13"/>
    <p:sldId id="279" r:id="rId14"/>
    <p:sldId id="283" r:id="rId15"/>
    <p:sldId id="285" r:id="rId16"/>
    <p:sldId id="272" r:id="rId1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" initials="G" lastIdx="0" clrIdx="0">
    <p:extLst>
      <p:ext uri="{19B8F6BF-5375-455C-9EA6-DF929625EA0E}">
        <p15:presenceInfo xmlns:p15="http://schemas.microsoft.com/office/powerpoint/2012/main" userId="G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01/01/2024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01/01/2024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01/01/2024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01/01/2024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01/01/2024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01/01/2024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01/01/2024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01/01/2024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01/01/2024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01/01/2024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A8D3-A23A-4C03-A069-CFDB43C0B9C8}" type="datetimeFigureOut">
              <a:rPr lang="fr-FR" smtClean="0"/>
              <a:pPr/>
              <a:t>01/01/2024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5A8D3-A23A-4C03-A069-CFDB43C0B9C8}" type="datetimeFigureOut">
              <a:rPr lang="fr-FR" smtClean="0"/>
              <a:pPr/>
              <a:t>01/01/2024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60600-9C11-4070-A809-B04AFA8883C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56641" y="214232"/>
            <a:ext cx="890784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DÉFINITION</a:t>
            </a:r>
          </a:p>
          <a:p>
            <a:pPr marL="514350" indent="-514350"/>
            <a:r>
              <a:rPr lang="fr-FR" sz="2800" dirty="0"/>
              <a:t>On appelle cellules souches, des cellules </a:t>
            </a:r>
            <a:r>
              <a:rPr lang="fr-FR" sz="2800" dirty="0" smtClean="0"/>
              <a:t>indifférenciées</a:t>
            </a:r>
          </a:p>
          <a:p>
            <a:pPr marL="514350" indent="-514350"/>
            <a:r>
              <a:rPr lang="fr-FR" sz="2800" dirty="0" smtClean="0"/>
              <a:t>capables </a:t>
            </a:r>
            <a:r>
              <a:rPr lang="fr-FR" sz="2800" dirty="0"/>
              <a:t>de s'auto-renouveler, de se multiplier à l'infini </a:t>
            </a:r>
            <a:r>
              <a:rPr lang="fr-FR" sz="2800" dirty="0" smtClean="0"/>
              <a:t>et</a:t>
            </a:r>
          </a:p>
          <a:p>
            <a:pPr marL="514350" indent="-514350"/>
            <a:r>
              <a:rPr lang="fr-FR" sz="2800" dirty="0" smtClean="0"/>
              <a:t>de </a:t>
            </a:r>
            <a:r>
              <a:rPr lang="fr-FR" sz="2800" dirty="0"/>
              <a:t>se différencier en des cellules spécialisées. Ces </a:t>
            </a:r>
            <a:r>
              <a:rPr lang="fr-FR" sz="2800" dirty="0" smtClean="0"/>
              <a:t>cellules</a:t>
            </a:r>
          </a:p>
          <a:p>
            <a:pPr marL="514350" indent="-514350"/>
            <a:r>
              <a:rPr lang="fr-FR" sz="2800" dirty="0" smtClean="0"/>
              <a:t>souches </a:t>
            </a:r>
            <a:r>
              <a:rPr lang="fr-FR" sz="2800" dirty="0"/>
              <a:t>sont naturellement présentes chez l'embryon </a:t>
            </a:r>
            <a:r>
              <a:rPr lang="fr-FR" sz="2800" dirty="0" smtClean="0"/>
              <a:t>et</a:t>
            </a:r>
          </a:p>
          <a:p>
            <a:pPr marL="514350" indent="-514350"/>
            <a:r>
              <a:rPr lang="fr-FR" sz="2800" dirty="0" smtClean="0"/>
              <a:t>dans </a:t>
            </a:r>
            <a:r>
              <a:rPr lang="fr-FR" sz="2800" dirty="0"/>
              <a:t>certains organes ou tissus adultes.</a:t>
            </a:r>
            <a:endParaRPr lang="fr-FR" sz="2800" dirty="0" smtClean="0"/>
          </a:p>
          <a:p>
            <a:pPr marL="514350" indent="-514350"/>
            <a:endParaRPr lang="fr-FR" sz="2800" dirty="0" smtClean="0"/>
          </a:p>
        </p:txBody>
      </p:sp>
      <p:sp>
        <p:nvSpPr>
          <p:cNvPr id="3" name="ZoneTexte 2"/>
          <p:cNvSpPr txBox="1"/>
          <p:nvPr/>
        </p:nvSpPr>
        <p:spPr>
          <a:xfrm>
            <a:off x="0" y="-387424"/>
            <a:ext cx="8964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                        </a:t>
            </a:r>
            <a:endParaRPr lang="fr-FR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451905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TYPES DE CELLULES SOUCHES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0" y="620688"/>
            <a:ext cx="9542292" cy="597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 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Les cellules souches totipotentes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Issues des toutes premières divisions de l’œuf fécondé</a:t>
            </a:r>
          </a:p>
          <a:p>
            <a:r>
              <a:rPr lang="fr-FR" sz="2800" dirty="0" smtClean="0"/>
              <a:t> (entre la fécondation et le quatrième jour).</a:t>
            </a:r>
          </a:p>
          <a:p>
            <a:r>
              <a:rPr lang="fr-FR" sz="2800" dirty="0" smtClean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Elles peuvent se différencier en tous types de cellules de </a:t>
            </a:r>
          </a:p>
          <a:p>
            <a:r>
              <a:rPr lang="fr-FR" sz="2800" dirty="0" smtClean="0"/>
              <a:t>l'organisme et en annexes (placenta, cordon ombilical).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Ce sont les seules cellules souches pouvant donner naissance </a:t>
            </a:r>
          </a:p>
          <a:p>
            <a:r>
              <a:rPr lang="fr-FR" sz="2800" dirty="0" smtClean="0"/>
              <a:t>à un embryon complet. 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Les cellules souches embryonnaires concentrent de nombreux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espoirs, mais parce qu’elles soulèvent des questions éthiques,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leur utilisation est strictement encadrée par la loi.</a:t>
            </a:r>
          </a:p>
          <a:p>
            <a:pPr lvl="0">
              <a:buFont typeface="Wingdings" pitchFamily="2" charset="2"/>
              <a:buChar char="Ø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08520" y="-28162"/>
            <a:ext cx="8824082" cy="4678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Les cellules souches pluripotentes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Issues d'un embryon de 5 à 7 jour (stade </a:t>
            </a:r>
            <a:r>
              <a:rPr lang="fr-FR" sz="2800" dirty="0" err="1" smtClean="0"/>
              <a:t>blastocyste</a:t>
            </a:r>
            <a:r>
              <a:rPr lang="fr-FR" sz="2800" dirty="0" smtClean="0"/>
              <a:t> :</a:t>
            </a:r>
          </a:p>
          <a:p>
            <a:r>
              <a:rPr lang="fr-FR" sz="2800" dirty="0" smtClean="0"/>
              <a:t> bouton embryonnaire).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Elles peuvent donner naissance à plus de 200 types de </a:t>
            </a:r>
          </a:p>
          <a:p>
            <a:r>
              <a:rPr lang="fr-FR" sz="2800" dirty="0" smtClean="0"/>
              <a:t>cellules représentatifs de tous les tissus de l'organisme.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Ces cellules sont prélevées et placées en culture où elles </a:t>
            </a:r>
          </a:p>
          <a:p>
            <a:r>
              <a:rPr lang="fr-FR" sz="2800" dirty="0" smtClean="0"/>
              <a:t>vont alors se multiplier et, selon leur milieu se culture, </a:t>
            </a:r>
          </a:p>
          <a:p>
            <a:r>
              <a:rPr lang="fr-FR" sz="2800" dirty="0" smtClean="0"/>
              <a:t>se différencier en tel ou tel type de cellules spécialisées : </a:t>
            </a:r>
          </a:p>
          <a:p>
            <a:r>
              <a:rPr lang="fr-FR" sz="2800" dirty="0" smtClean="0"/>
              <a:t>cellules sanguines, cellules du cerveau, cellules du foie, etc</a:t>
            </a:r>
            <a:r>
              <a:rPr lang="fr-FR" dirty="0" smtClean="0"/>
              <a:t>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116632"/>
            <a:ext cx="9206879" cy="7417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Les cellules souches </a:t>
            </a:r>
            <a:r>
              <a:rPr lang="fr-FR" sz="2800" b="1" dirty="0" err="1" smtClean="0">
                <a:solidFill>
                  <a:srgbClr val="0070C0"/>
                </a:solidFill>
              </a:rPr>
              <a:t>multipotentes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Issues de tissus adultes, elles peuvent donner naissance à </a:t>
            </a:r>
          </a:p>
          <a:p>
            <a:r>
              <a:rPr lang="fr-FR" sz="2800" dirty="0" smtClean="0"/>
              <a:t>plusieurs types cellulaires.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Elles participent chez l’adulte au renouvellement des tissus</a:t>
            </a:r>
          </a:p>
          <a:p>
            <a:r>
              <a:rPr lang="fr-FR" sz="2800" dirty="0" smtClean="0"/>
              <a:t> comme les cellules </a:t>
            </a:r>
            <a:r>
              <a:rPr lang="fr-FR" sz="2800" b="1" dirty="0" smtClean="0">
                <a:solidFill>
                  <a:srgbClr val="00B050"/>
                </a:solidFill>
              </a:rPr>
              <a:t>souches mésenchymateuses (CSM).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>
                <a:solidFill>
                  <a:srgbClr val="0070C0"/>
                </a:solidFill>
              </a:rPr>
              <a:t> </a:t>
            </a:r>
            <a:r>
              <a:rPr lang="fr-FR" sz="2800" dirty="0" smtClean="0"/>
              <a:t>Il s’agit de cellules souches adultes présentes dans tout</a:t>
            </a:r>
          </a:p>
          <a:p>
            <a:r>
              <a:rPr lang="fr-FR" sz="2800" dirty="0" smtClean="0"/>
              <a:t> l’organisme au sein du tissu adipeux, de la moelle osseuse, </a:t>
            </a:r>
          </a:p>
          <a:p>
            <a:r>
              <a:rPr lang="fr-FR" sz="2800" dirty="0" smtClean="0"/>
              <a:t>des tissus de soutien des organes, des os, des cartilages, </a:t>
            </a:r>
          </a:p>
          <a:p>
            <a:r>
              <a:rPr lang="fr-FR" sz="2800" dirty="0" smtClean="0"/>
              <a:t>des muscles et pouvant donner naissance à des cellules</a:t>
            </a:r>
          </a:p>
          <a:p>
            <a:r>
              <a:rPr lang="fr-FR" sz="2800" dirty="0" smtClean="0"/>
              <a:t> cartilagineuses, osseuses, musculaires, etc</a:t>
            </a:r>
            <a:r>
              <a:rPr lang="fr-FR" sz="2800" dirty="0" smtClean="0"/>
              <a:t>.</a:t>
            </a:r>
          </a:p>
          <a:p>
            <a:endParaRPr lang="fr-FR" sz="2800" dirty="0"/>
          </a:p>
          <a:p>
            <a:r>
              <a:rPr lang="fr-FR" sz="2800" b="1" dirty="0">
                <a:solidFill>
                  <a:srgbClr val="0070C0"/>
                </a:solidFill>
              </a:rPr>
              <a:t>Les cellules souches unipotentes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/>
              <a:t> Issues de tissus adultes, elles ne peuvent donner naissance </a:t>
            </a:r>
          </a:p>
          <a:p>
            <a:r>
              <a:rPr lang="fr-FR" sz="2800" dirty="0"/>
              <a:t>qu’à un type de cellule.</a:t>
            </a:r>
          </a:p>
          <a:p>
            <a:endParaRPr lang="fr-F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260648"/>
            <a:ext cx="953915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Les cellules souches pluripotentes induites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Egalement nommées cellules </a:t>
            </a:r>
            <a:r>
              <a:rPr lang="fr-FR" sz="2800" dirty="0" err="1" smtClean="0"/>
              <a:t>Ips</a:t>
            </a:r>
            <a:endParaRPr lang="fr-FR" sz="2800" dirty="0" smtClean="0"/>
          </a:p>
          <a:p>
            <a:r>
              <a:rPr lang="fr-FR" sz="2800" dirty="0" smtClean="0"/>
              <a:t>          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("</a:t>
            </a:r>
            <a:r>
              <a:rPr lang="fr-FR" sz="2800" b="1" dirty="0" err="1" smtClean="0">
                <a:solidFill>
                  <a:srgbClr val="00B0F0"/>
                </a:solidFill>
              </a:rPr>
              <a:t>induced</a:t>
            </a:r>
            <a:r>
              <a:rPr lang="fr-FR" sz="2800" b="1" dirty="0" smtClean="0">
                <a:solidFill>
                  <a:srgbClr val="00B0F0"/>
                </a:solidFill>
              </a:rPr>
              <a:t> pluripotent stem </a:t>
            </a:r>
            <a:r>
              <a:rPr lang="fr-FR" sz="2800" b="1" dirty="0" err="1" smtClean="0">
                <a:solidFill>
                  <a:srgbClr val="00B0F0"/>
                </a:solidFill>
              </a:rPr>
              <a:t>cells</a:t>
            </a:r>
            <a:r>
              <a:rPr lang="fr-FR" sz="2800" b="1" dirty="0" smtClean="0">
                <a:solidFill>
                  <a:srgbClr val="00B0F0"/>
                </a:solidFill>
              </a:rPr>
              <a:t>")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Cellules souches adultes qui ont été reprogrammées </a:t>
            </a:r>
          </a:p>
          <a:p>
            <a:r>
              <a:rPr lang="fr-FR" sz="2800" dirty="0" smtClean="0"/>
              <a:t>génétiquement pour avoir les caractéristiques des cellules </a:t>
            </a:r>
          </a:p>
          <a:p>
            <a:r>
              <a:rPr lang="fr-FR" sz="2800" dirty="0" smtClean="0"/>
              <a:t>souches embryonnaires.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Comme les cellules souches embryonnaires, les cellules IPS </a:t>
            </a:r>
          </a:p>
          <a:p>
            <a:r>
              <a:rPr lang="fr-FR" sz="2800" dirty="0" smtClean="0"/>
              <a:t>ont cette capacité d’auto-</a:t>
            </a:r>
            <a:r>
              <a:rPr lang="fr-FR" sz="2800" dirty="0" err="1" smtClean="0"/>
              <a:t>renouvellemement</a:t>
            </a:r>
            <a:r>
              <a:rPr lang="fr-FR" sz="2800" dirty="0" smtClean="0"/>
              <a:t> et de </a:t>
            </a:r>
            <a:r>
              <a:rPr lang="fr-FR" sz="2800" dirty="0" err="1" smtClean="0"/>
              <a:t>pluripotence</a:t>
            </a:r>
            <a:r>
              <a:rPr lang="fr-FR" sz="2800" dirty="0" smtClean="0"/>
              <a:t>,</a:t>
            </a:r>
          </a:p>
          <a:p>
            <a:r>
              <a:rPr lang="fr-FR" sz="2800" dirty="0" smtClean="0"/>
              <a:t> avec l'avantage d'être faciles d’accès (une simple biopsie suffit)</a:t>
            </a:r>
          </a:p>
          <a:p>
            <a:r>
              <a:rPr lang="fr-FR" sz="2800" dirty="0" smtClean="0"/>
              <a:t> et de ne pas poser problèmes éthiques des cellules souches</a:t>
            </a:r>
          </a:p>
          <a:p>
            <a:r>
              <a:rPr lang="fr-FR" sz="2800" dirty="0" smtClean="0"/>
              <a:t> embryonnaires.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:\Users\dell\Desktop\cellules-souches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748463" cy="6165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1979712" y="64533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539552" y="6211669"/>
            <a:ext cx="767389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alibri" pitchFamily="34" charset="0"/>
              </a:rPr>
              <a:t>Les différents types de cellules souches</a:t>
            </a:r>
            <a:endParaRPr kumimoji="0" lang="fr-F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83239"/>
            <a:ext cx="9029460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PERSPECTIVES THERAPEUTIQUES</a:t>
            </a:r>
            <a:endParaRPr lang="fr-FR" sz="2800" b="1" dirty="0" smtClean="0">
              <a:solidFill>
                <a:srgbClr val="00B050"/>
              </a:solidFill>
            </a:endParaRPr>
          </a:p>
          <a:p>
            <a:pPr marL="514350" indent="-514350"/>
            <a:endParaRPr lang="fr-FR" sz="2800" b="1" dirty="0" smtClean="0">
              <a:solidFill>
                <a:srgbClr val="FF0000"/>
              </a:solidFill>
            </a:endParaRPr>
          </a:p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L'espoir </a:t>
            </a:r>
            <a:r>
              <a:rPr lang="fr-FR" sz="2800" dirty="0"/>
              <a:t>des chercheurs et médecins est de pouvoir </a:t>
            </a:r>
            <a:r>
              <a:rPr lang="fr-FR" sz="2800" dirty="0" smtClean="0"/>
              <a:t>utiliser</a:t>
            </a:r>
          </a:p>
          <a:p>
            <a:pPr marL="514350" indent="-514350"/>
            <a:r>
              <a:rPr lang="fr-FR" sz="2800" dirty="0" smtClean="0"/>
              <a:t>Les cellules souches, ce  </a:t>
            </a:r>
            <a:r>
              <a:rPr lang="fr-FR" sz="2800" dirty="0"/>
              <a:t>potentiel pour réparer ou </a:t>
            </a:r>
            <a:r>
              <a:rPr lang="fr-FR" sz="2800" dirty="0" smtClean="0"/>
              <a:t>remplacer</a:t>
            </a:r>
          </a:p>
          <a:p>
            <a:pPr marL="514350" indent="-514350"/>
            <a:r>
              <a:rPr lang="fr-FR" sz="2800" dirty="0" smtClean="0"/>
              <a:t> </a:t>
            </a:r>
            <a:r>
              <a:rPr lang="fr-FR" sz="2800" dirty="0"/>
              <a:t>des organes abimés </a:t>
            </a:r>
            <a:r>
              <a:rPr lang="fr-FR" sz="2800" dirty="0" smtClean="0"/>
              <a:t>ou  </a:t>
            </a:r>
            <a:r>
              <a:rPr lang="fr-FR" sz="2800" dirty="0"/>
              <a:t>traiter certaines maladies</a:t>
            </a:r>
            <a:r>
              <a:rPr lang="fr-FR" sz="2800" dirty="0" smtClean="0"/>
              <a:t>.</a:t>
            </a:r>
          </a:p>
          <a:p>
            <a:pPr marL="514350" indent="-514350"/>
            <a:r>
              <a:rPr lang="fr-FR" sz="2800" dirty="0" smtClean="0"/>
              <a:t> </a:t>
            </a:r>
          </a:p>
          <a:p>
            <a:pPr marL="514350" indent="-514350"/>
            <a:endParaRPr lang="fr-FR" sz="2800" dirty="0"/>
          </a:p>
        </p:txBody>
      </p:sp>
      <p:sp>
        <p:nvSpPr>
          <p:cNvPr id="4" name="ZoneTexte 3"/>
          <p:cNvSpPr txBox="1"/>
          <p:nvPr/>
        </p:nvSpPr>
        <p:spPr>
          <a:xfrm>
            <a:off x="0" y="1052736"/>
            <a:ext cx="2776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fr-FR" sz="3200" dirty="0" smtClean="0"/>
              <a:t> 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315416"/>
            <a:ext cx="9608721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00B050"/>
                </a:solidFill>
              </a:rPr>
              <a:t>LA </a:t>
            </a:r>
            <a:r>
              <a:rPr lang="fr-FR" sz="2800" b="1" dirty="0" smtClean="0">
                <a:solidFill>
                  <a:srgbClr val="00B050"/>
                </a:solidFill>
              </a:rPr>
              <a:t>THERAPIE CELLULAIRE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pPr marL="514350" indent="-514350">
              <a:buFont typeface="Wingdings" pitchFamily="2" charset="2"/>
              <a:buChar char="Ø"/>
            </a:pPr>
            <a:r>
              <a:rPr lang="fr-FR" sz="2800" dirty="0" smtClean="0"/>
              <a:t>Consiste </a:t>
            </a:r>
            <a:r>
              <a:rPr lang="fr-FR" sz="2800" dirty="0"/>
              <a:t>à </a:t>
            </a:r>
            <a:r>
              <a:rPr lang="fr-FR" sz="2800" b="1" dirty="0">
                <a:solidFill>
                  <a:srgbClr val="FF0000"/>
                </a:solidFill>
              </a:rPr>
              <a:t>greffer</a:t>
            </a:r>
            <a:r>
              <a:rPr lang="fr-FR" sz="2800" dirty="0"/>
              <a:t> des cellules pour </a:t>
            </a:r>
            <a:r>
              <a:rPr lang="fr-FR" sz="2800" b="1" dirty="0">
                <a:solidFill>
                  <a:srgbClr val="FF0000"/>
                </a:solidFill>
              </a:rPr>
              <a:t>réparer</a:t>
            </a:r>
            <a:r>
              <a:rPr lang="fr-FR" sz="2800" dirty="0"/>
              <a:t> ou </a:t>
            </a:r>
            <a:r>
              <a:rPr lang="fr-FR" sz="2800" b="1" dirty="0">
                <a:solidFill>
                  <a:srgbClr val="FF0000"/>
                </a:solidFill>
              </a:rPr>
              <a:t>régénérer</a:t>
            </a:r>
            <a:r>
              <a:rPr lang="fr-FR" sz="2800" dirty="0"/>
              <a:t> </a:t>
            </a:r>
            <a:r>
              <a:rPr lang="fr-FR" sz="2800" dirty="0" smtClean="0"/>
              <a:t>un</a:t>
            </a:r>
          </a:p>
          <a:p>
            <a:pPr marL="514350" indent="-514350"/>
            <a:r>
              <a:rPr lang="fr-FR" sz="2800" dirty="0" smtClean="0"/>
              <a:t> </a:t>
            </a:r>
            <a:r>
              <a:rPr lang="fr-FR" sz="2800" dirty="0"/>
              <a:t>organe ou un tissu </a:t>
            </a:r>
            <a:r>
              <a:rPr lang="fr-FR" sz="2800" dirty="0" smtClean="0"/>
              <a:t>endommagé.</a:t>
            </a:r>
          </a:p>
          <a:p>
            <a:pPr marL="514350" indent="-514350"/>
            <a:endParaRPr lang="fr-FR" sz="2800" dirty="0" smtClean="0"/>
          </a:p>
          <a:p>
            <a:pPr marL="514350" indent="-514350">
              <a:buFont typeface="Wingdings" pitchFamily="2" charset="2"/>
              <a:buChar char="Ø"/>
            </a:pPr>
            <a:r>
              <a:rPr lang="fr-FR" sz="2800" dirty="0" smtClean="0"/>
              <a:t>En cas de maladie, certaines cellules souches peuvent être</a:t>
            </a:r>
          </a:p>
          <a:p>
            <a:r>
              <a:rPr lang="fr-FR" sz="2800" dirty="0" smtClean="0"/>
              <a:t> prélevées, cultivées puis réinjectées afin de restaurer la fonction</a:t>
            </a:r>
          </a:p>
          <a:p>
            <a:r>
              <a:rPr lang="fr-FR" sz="2800" dirty="0" smtClean="0"/>
              <a:t> du tissu ou de l'organe défaillant</a:t>
            </a:r>
            <a:r>
              <a:rPr lang="fr-FR" sz="2800" dirty="0"/>
              <a:t>. Grâce au fort potentiel régénératif des cellules souches, </a:t>
            </a:r>
          </a:p>
          <a:p>
            <a:r>
              <a:rPr lang="fr-FR" sz="2800" dirty="0"/>
              <a:t>cette </a:t>
            </a:r>
            <a:r>
              <a:rPr lang="fr-FR" sz="2800" dirty="0" smtClean="0"/>
              <a:t>approche, très prometteuse, comporte un;</a:t>
            </a:r>
          </a:p>
          <a:p>
            <a:pPr marL="457200" indent="-457200">
              <a:buFontTx/>
              <a:buChar char="-"/>
            </a:pPr>
            <a:r>
              <a:rPr lang="fr-FR" sz="2800" dirty="0" smtClean="0"/>
              <a:t>risque </a:t>
            </a:r>
            <a:r>
              <a:rPr lang="fr-FR" sz="2800" dirty="0"/>
              <a:t>de dégénérescence </a:t>
            </a:r>
            <a:r>
              <a:rPr lang="fr-FR" sz="2800" dirty="0" smtClean="0"/>
              <a:t>cellulaire</a:t>
            </a:r>
          </a:p>
          <a:p>
            <a:pPr marL="457200" indent="-457200">
              <a:buFontTx/>
              <a:buChar char="-"/>
            </a:pPr>
            <a:r>
              <a:rPr lang="fr-FR" sz="2800" dirty="0" smtClean="0"/>
              <a:t>Risque de croissance cellulaire incontrôlée ( tumorale).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:\Users\dell\Desktop\Sans titre2.bmp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0"/>
            <a:ext cx="8964488" cy="6162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655239" y="6211669"/>
            <a:ext cx="544251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THERAPIE CELLULAIRE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22592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</a:t>
            </a:r>
          </a:p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PERSPECTIVES </a:t>
            </a:r>
            <a:r>
              <a:rPr lang="fr-FR" sz="2800" b="1" dirty="0" smtClean="0">
                <a:solidFill>
                  <a:srgbClr val="FF0000"/>
                </a:solidFill>
              </a:rPr>
              <a:t>THERAPEUTIQUES </a:t>
            </a: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LA THERAPIE GÉNIQUE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La thérapie génique constitue l’une des voies privilégiées pour  traiter les maladies génétiques.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 Elle consiste à insérer, dans  les cellules du malade, une version normale d’un gène qui ne  fonctionne pas et cause la maladie.</a:t>
            </a:r>
          </a:p>
          <a:p>
            <a:r>
              <a:rPr lang="fr-FR" sz="2800" dirty="0" smtClean="0"/>
              <a:t>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Le gène fonctionnel permet alors au patient de produire à nouveau la protéine  dont la déficience était la source de la maladie.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747464"/>
            <a:ext cx="9600898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LA </a:t>
            </a:r>
            <a:r>
              <a:rPr lang="fr-FR" sz="2800" b="1" dirty="0" smtClean="0">
                <a:solidFill>
                  <a:srgbClr val="00B050"/>
                </a:solidFill>
              </a:rPr>
              <a:t>THERAPIE GÉNIQUE</a:t>
            </a:r>
          </a:p>
          <a:p>
            <a:r>
              <a:rPr lang="fr-FR" sz="2800" dirty="0" smtClean="0"/>
              <a:t>Pour réussir l’opération, trois conditions doivent être remplies :</a:t>
            </a:r>
          </a:p>
          <a:p>
            <a:pPr lvl="0"/>
            <a:endParaRPr lang="fr-FR" sz="2800" b="1" dirty="0" smtClean="0"/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Connaître le gène responsable de la maladie</a:t>
            </a:r>
            <a:r>
              <a:rPr lang="fr-FR" sz="2800" dirty="0" smtClean="0"/>
              <a:t>,</a:t>
            </a:r>
          </a:p>
          <a:p>
            <a:pPr lvl="0"/>
            <a:r>
              <a:rPr lang="fr-FR" sz="2800" dirty="0" smtClean="0"/>
              <a:t> soit la fonction de ce gène, afin de pouvoir « réparer » la cellule.</a:t>
            </a:r>
          </a:p>
          <a:p>
            <a:pPr lvl="0"/>
            <a:endParaRPr lang="fr-FR" sz="2800" b="1" dirty="0" smtClean="0"/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Permettre au gène d’atteindre et entrer dans la cellule</a:t>
            </a:r>
          </a:p>
          <a:p>
            <a:pPr lvl="0"/>
            <a:r>
              <a:rPr lang="fr-FR" sz="2800" b="1" dirty="0" smtClean="0"/>
              <a:t> </a:t>
            </a:r>
            <a:r>
              <a:rPr lang="fr-FR" sz="2800" dirty="0" smtClean="0"/>
              <a:t>à l’aide d’un « vecteur », le plus souvent un virus que l’on a </a:t>
            </a:r>
          </a:p>
          <a:p>
            <a:pPr lvl="0"/>
            <a:r>
              <a:rPr lang="fr-FR" sz="2800" dirty="0" smtClean="0"/>
              <a:t>rendu inoffensif pour le malade.</a:t>
            </a:r>
          </a:p>
          <a:p>
            <a:pPr lvl="0"/>
            <a:endParaRPr lang="fr-FR" sz="2800" b="1" dirty="0" smtClean="0"/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Associer le gène à un « promoteur »,</a:t>
            </a:r>
            <a:r>
              <a:rPr lang="fr-FR" sz="2800" dirty="0" smtClean="0"/>
              <a:t> une petite séquence</a:t>
            </a:r>
          </a:p>
          <a:p>
            <a:pPr lvl="0"/>
            <a:r>
              <a:rPr lang="fr-FR" sz="2800" dirty="0" smtClean="0"/>
              <a:t> d’ADN qui permet son fonctionnement une fois au sein de la</a:t>
            </a:r>
          </a:p>
          <a:p>
            <a:pPr lvl="0"/>
            <a:r>
              <a:rPr lang="fr-FR" sz="2800" dirty="0" smtClean="0"/>
              <a:t> cellule.</a:t>
            </a:r>
          </a:p>
          <a:p>
            <a:r>
              <a:rPr lang="fr-FR" sz="2800" dirty="0" smtClean="0"/>
              <a:t> </a:t>
            </a: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r>
              <a:rPr lang="fr-FR" sz="2800" dirty="0" smtClean="0"/>
              <a:t> </a:t>
            </a:r>
          </a:p>
          <a:p>
            <a:pPr marL="514350" indent="-514350">
              <a:buFont typeface="Wingdings" pitchFamily="2" charset="2"/>
              <a:buChar char="Ø"/>
            </a:pPr>
            <a:endParaRPr lang="fr-FR" sz="28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:\Users\dell\Desktop\Thérapie+génique+somatique+exvivo+utilisant+des+virus+modifiés+comme+vecteur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"/>
            <a:ext cx="8784976" cy="6185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01487" y="6211669"/>
            <a:ext cx="475001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THERAPIE GENIQUE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28607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APPLICATION DES CELLULES SOUCHES</a:t>
            </a: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Thérapie </a:t>
            </a:r>
            <a:r>
              <a:rPr lang="fr-FR" sz="2800" b="1" dirty="0" smtClean="0">
                <a:solidFill>
                  <a:srgbClr val="00B050"/>
                </a:solidFill>
              </a:rPr>
              <a:t>cellulaire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Greffe </a:t>
            </a:r>
            <a:r>
              <a:rPr lang="fr-FR" sz="2800" dirty="0" smtClean="0"/>
              <a:t>de moelle </a:t>
            </a:r>
            <a:r>
              <a:rPr lang="fr-FR" sz="2800" dirty="0" smtClean="0"/>
              <a:t>osseuse (années 70), </a:t>
            </a:r>
            <a:r>
              <a:rPr lang="fr-FR" sz="2800" dirty="0" smtClean="0"/>
              <a:t>nécessaire </a:t>
            </a:r>
            <a:endParaRPr lang="fr-FR" sz="2800" dirty="0" smtClean="0"/>
          </a:p>
          <a:p>
            <a:pPr lvl="0"/>
            <a:r>
              <a:rPr lang="fr-FR" sz="2800" dirty="0" smtClean="0"/>
              <a:t>dans  </a:t>
            </a:r>
            <a:r>
              <a:rPr lang="fr-FR" sz="2800" dirty="0" smtClean="0"/>
              <a:t>certaines </a:t>
            </a:r>
            <a:r>
              <a:rPr lang="fr-FR" sz="2800" dirty="0" smtClean="0"/>
              <a:t>maladies  </a:t>
            </a:r>
            <a:r>
              <a:rPr lang="fr-FR" sz="2800" dirty="0" smtClean="0"/>
              <a:t>graves du sang comme la </a:t>
            </a:r>
            <a:r>
              <a:rPr lang="fr-FR" sz="2800" dirty="0" smtClean="0"/>
              <a:t>leucémie, </a:t>
            </a:r>
          </a:p>
          <a:p>
            <a:pPr lvl="0"/>
            <a:r>
              <a:rPr lang="fr-FR" sz="2800" dirty="0" smtClean="0"/>
              <a:t>concerne les  </a:t>
            </a:r>
            <a:r>
              <a:rPr lang="fr-FR" sz="2800" dirty="0" smtClean="0"/>
              <a:t>cellules souches dites hématopoïétiques </a:t>
            </a:r>
            <a:r>
              <a:rPr lang="fr-FR" sz="2800" dirty="0" smtClean="0"/>
              <a:t>(</a:t>
            </a:r>
            <a:r>
              <a:rPr lang="fr-FR" sz="2800" dirty="0" smtClean="0"/>
              <a:t>CSH).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La </a:t>
            </a:r>
            <a:r>
              <a:rPr lang="fr-FR" sz="2800" dirty="0"/>
              <a:t>greffe de cellules souches cutanées </a:t>
            </a:r>
            <a:r>
              <a:rPr lang="fr-FR" sz="2800" dirty="0" smtClean="0"/>
              <a:t> (années 80) pour</a:t>
            </a:r>
          </a:p>
          <a:p>
            <a:pPr lvl="0"/>
            <a:r>
              <a:rPr lang="fr-FR" sz="2800" dirty="0" smtClean="0"/>
              <a:t> </a:t>
            </a:r>
            <a:r>
              <a:rPr lang="fr-FR" sz="2800" dirty="0"/>
              <a:t>reconstituer l’épiderme chez </a:t>
            </a:r>
            <a:r>
              <a:rPr lang="fr-FR" sz="2800" dirty="0" smtClean="0"/>
              <a:t>les  </a:t>
            </a:r>
            <a:r>
              <a:rPr lang="fr-FR" sz="2800" dirty="0"/>
              <a:t>grands brûlés.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/>
              <a:t> Les cellules souches de l'œil sont quant à elle utilisées pour</a:t>
            </a:r>
          </a:p>
          <a:p>
            <a:pPr lvl="0"/>
            <a:r>
              <a:rPr lang="fr-FR" sz="2800" dirty="0"/>
              <a:t> réparer certaines lésions de la cornée.</a:t>
            </a:r>
          </a:p>
          <a:p>
            <a:pPr marL="514350" indent="-514350"/>
            <a:r>
              <a:rPr lang="fr-FR" sz="2800" dirty="0"/>
              <a:t>Des travaux de bio ingénierie cellulaire sont actuellement</a:t>
            </a:r>
          </a:p>
          <a:p>
            <a:pPr lvl="0"/>
            <a:r>
              <a:rPr lang="fr-FR" sz="2800" dirty="0"/>
              <a:t> en cours pour tenter de régénérer ou réparer certains tissus,</a:t>
            </a:r>
          </a:p>
          <a:p>
            <a:pPr lvl="0"/>
            <a:r>
              <a:rPr lang="fr-FR" sz="2800" dirty="0"/>
              <a:t> comme le cartilage par exemple, grâce à la greffe de cellules </a:t>
            </a:r>
          </a:p>
          <a:p>
            <a:pPr lvl="0"/>
            <a:r>
              <a:rPr lang="fr-FR" sz="2800" dirty="0"/>
              <a:t>souches </a:t>
            </a:r>
            <a:r>
              <a:rPr lang="fr-FR" sz="2800" dirty="0" smtClean="0"/>
              <a:t>spécifiques pouvant  donner </a:t>
            </a:r>
            <a:r>
              <a:rPr lang="fr-FR" sz="2800" dirty="0"/>
              <a:t>naissance à des cellules 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/>
              <a:t>  cartilagineuses</a:t>
            </a:r>
            <a:r>
              <a:rPr lang="fr-FR" sz="2800" dirty="0" smtClean="0"/>
              <a:t>,   </a:t>
            </a:r>
            <a:r>
              <a:rPr lang="fr-FR" sz="2800" dirty="0"/>
              <a:t>osseuses, </a:t>
            </a:r>
            <a:r>
              <a:rPr lang="fr-FR" sz="2800" dirty="0" smtClean="0"/>
              <a:t>   </a:t>
            </a:r>
            <a:r>
              <a:rPr lang="fr-FR" sz="2800" dirty="0"/>
              <a:t>graisseuses, </a:t>
            </a:r>
            <a:r>
              <a:rPr lang="fr-FR" sz="2800" dirty="0" smtClean="0"/>
              <a:t>   </a:t>
            </a:r>
            <a:r>
              <a:rPr lang="fr-FR" sz="2800" dirty="0"/>
              <a:t>fibres musculaires</a:t>
            </a:r>
          </a:p>
          <a:p>
            <a:endParaRPr lang="fr-F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1880" y="0"/>
            <a:ext cx="9679894" cy="7417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</a:t>
            </a:r>
            <a:r>
              <a:rPr lang="fr-FR" sz="2800" dirty="0" smtClean="0"/>
              <a:t>De </a:t>
            </a:r>
            <a:r>
              <a:rPr lang="fr-FR" sz="2800" dirty="0" smtClean="0"/>
              <a:t>nombreux autres travaux basés sur ces cellules souches</a:t>
            </a:r>
          </a:p>
          <a:p>
            <a:pPr lvl="0"/>
            <a:r>
              <a:rPr lang="fr-FR" sz="2800" dirty="0" smtClean="0"/>
              <a:t>sont actuellement réalisés </a:t>
            </a:r>
            <a:r>
              <a:rPr lang="fr-FR" sz="2800" dirty="0" smtClean="0"/>
              <a:t>en  </a:t>
            </a:r>
            <a:r>
              <a:rPr lang="fr-FR" sz="2800" dirty="0" smtClean="0"/>
              <a:t>rhumatologie, </a:t>
            </a:r>
            <a:r>
              <a:rPr lang="fr-FR" sz="2800" dirty="0" smtClean="0"/>
              <a:t> cardiologie</a:t>
            </a:r>
            <a:r>
              <a:rPr lang="fr-FR" sz="2800" dirty="0" smtClean="0"/>
              <a:t>, </a:t>
            </a:r>
          </a:p>
          <a:p>
            <a:pPr lvl="0"/>
            <a:r>
              <a:rPr lang="fr-FR" sz="2800" dirty="0" smtClean="0"/>
              <a:t>pour certaines myopathies, </a:t>
            </a:r>
            <a:r>
              <a:rPr lang="fr-FR" sz="2800" dirty="0" smtClean="0"/>
              <a:t> le </a:t>
            </a:r>
            <a:r>
              <a:rPr lang="fr-FR" sz="2800" dirty="0" smtClean="0"/>
              <a:t>diabète, etc.</a:t>
            </a:r>
          </a:p>
          <a:p>
            <a:pPr lvl="0"/>
            <a:r>
              <a:rPr lang="fr-FR" sz="2800" dirty="0"/>
              <a:t>La recherche explore de nombreuses  autres approches de</a:t>
            </a:r>
          </a:p>
          <a:p>
            <a:r>
              <a:rPr lang="fr-FR" sz="2800" dirty="0"/>
              <a:t> thérapie cellulaire pour des pathologies variées : </a:t>
            </a:r>
          </a:p>
          <a:p>
            <a:r>
              <a:rPr lang="fr-FR" sz="2800" dirty="0"/>
              <a:t>  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/>
              <a:t> la transplantation dans le pancréas de diabétiques de cellules</a:t>
            </a:r>
          </a:p>
          <a:p>
            <a:pPr lvl="0"/>
            <a:r>
              <a:rPr lang="fr-FR" sz="2800" dirty="0"/>
              <a:t> productrices d’insuline.</a:t>
            </a:r>
          </a:p>
          <a:p>
            <a:pPr lvl="0"/>
            <a:r>
              <a:rPr lang="fr-FR" sz="2800" dirty="0"/>
              <a:t> 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/>
              <a:t> la greffe de cellules souches dans les articulations de personnes</a:t>
            </a:r>
          </a:p>
          <a:p>
            <a:pPr lvl="0"/>
            <a:r>
              <a:rPr lang="fr-FR" sz="2800" dirty="0"/>
              <a:t> atteintes d’arthrose.</a:t>
            </a:r>
          </a:p>
          <a:p>
            <a:pPr lvl="0"/>
            <a:endParaRPr lang="fr-FR" sz="2800" dirty="0"/>
          </a:p>
          <a:p>
            <a:pPr lvl="0">
              <a:buFont typeface="Wingdings" pitchFamily="2" charset="2"/>
              <a:buChar char="§"/>
            </a:pPr>
            <a:r>
              <a:rPr lang="fr-FR" sz="2800" dirty="0"/>
              <a:t> la greffe de cellules souches de muscle pour renforcer les</a:t>
            </a:r>
          </a:p>
          <a:p>
            <a:pPr lvl="0"/>
            <a:r>
              <a:rPr lang="fr-FR" sz="2800" dirty="0"/>
              <a:t> sphincter d’individus souffrant d’incontinence urinaire ou anale.</a:t>
            </a:r>
          </a:p>
          <a:p>
            <a:r>
              <a:rPr lang="fr-FR" sz="2800" dirty="0"/>
              <a:t>Des essais cliniques sont aussi en cours :            </a:t>
            </a:r>
          </a:p>
          <a:p>
            <a:pPr lvl="0">
              <a:buFont typeface="Wingdings" pitchFamily="2" charset="2"/>
              <a:buChar char="Ø"/>
            </a:pPr>
            <a:endParaRPr lang="fr-FR" sz="2800" b="1" dirty="0" smtClean="0">
              <a:solidFill>
                <a:srgbClr val="00B050"/>
              </a:solidFill>
            </a:endParaRPr>
          </a:p>
          <a:p>
            <a:pPr lvl="0"/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108520" y="-171400"/>
            <a:ext cx="9600642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</a:t>
            </a:r>
            <a:endParaRPr lang="fr-FR" sz="2800" b="1" dirty="0" smtClean="0">
              <a:solidFill>
                <a:srgbClr val="00B050"/>
              </a:solidFill>
            </a:endParaRP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le remplacement des neurones manquants dans le cerveau </a:t>
            </a:r>
          </a:p>
          <a:p>
            <a:pPr lvl="0"/>
            <a:r>
              <a:rPr lang="fr-FR" sz="2800" dirty="0" smtClean="0"/>
              <a:t>de malades de Parkinson.</a:t>
            </a:r>
          </a:p>
          <a:p>
            <a:pPr lvl="0"/>
            <a:endParaRPr lang="fr-FR" sz="2800" dirty="0" smtClean="0"/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la réparation de la moelle épinière de personnes paraplégiques</a:t>
            </a:r>
          </a:p>
          <a:p>
            <a:pPr lvl="0"/>
            <a:r>
              <a:rPr lang="fr-FR" sz="2800" dirty="0" smtClean="0"/>
              <a:t> après un accident. </a:t>
            </a:r>
          </a:p>
          <a:p>
            <a:pPr lvl="0"/>
            <a:endParaRPr lang="fr-FR" sz="2800" dirty="0" smtClean="0"/>
          </a:p>
          <a:p>
            <a:r>
              <a:rPr lang="fr-FR" sz="2800" dirty="0" smtClean="0"/>
              <a:t>Certains essais ont déjà été couronnés de succès comme la </a:t>
            </a:r>
          </a:p>
          <a:p>
            <a:r>
              <a:rPr lang="fr-FR" sz="2800" dirty="0" smtClean="0"/>
              <a:t>Réparation du muscle cardiaque lésé après un infarctus. </a:t>
            </a:r>
          </a:p>
          <a:p>
            <a:r>
              <a:rPr lang="fr-FR" sz="2800" dirty="0" smtClean="0"/>
              <a:t>   </a:t>
            </a:r>
          </a:p>
          <a:p>
            <a:pPr lvl="0"/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endParaRPr lang="fr-FR" sz="2800" b="1" dirty="0" smtClean="0">
              <a:solidFill>
                <a:srgbClr val="00B050"/>
              </a:solidFill>
            </a:endParaRPr>
          </a:p>
          <a:p>
            <a:pPr lvl="0"/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7328609" cy="78483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THERAPIE </a:t>
            </a:r>
            <a:r>
              <a:rPr lang="fr-FR" sz="2800" b="1" dirty="0" smtClean="0">
                <a:solidFill>
                  <a:srgbClr val="00B050"/>
                </a:solidFill>
              </a:rPr>
              <a:t>GENIQUE</a:t>
            </a:r>
          </a:p>
          <a:p>
            <a:r>
              <a:rPr lang="fr-FR" sz="2800" b="1" dirty="0" smtClean="0">
                <a:solidFill>
                  <a:schemeClr val="tx2"/>
                </a:solidFill>
              </a:rPr>
              <a:t>Essais </a:t>
            </a:r>
            <a:r>
              <a:rPr lang="fr-FR" sz="2800" b="1" dirty="0">
                <a:solidFill>
                  <a:schemeClr val="tx2"/>
                </a:solidFill>
              </a:rPr>
              <a:t>cliniques ciblant différentes </a:t>
            </a:r>
            <a:r>
              <a:rPr lang="fr-FR" sz="2800" b="1" dirty="0" smtClean="0">
                <a:solidFill>
                  <a:schemeClr val="tx2"/>
                </a:solidFill>
              </a:rPr>
              <a:t>pathologies</a:t>
            </a:r>
            <a:r>
              <a:rPr lang="fr-FR" sz="2800" dirty="0"/>
              <a:t> : 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Maladies </a:t>
            </a:r>
            <a:r>
              <a:rPr lang="fr-FR" sz="2800" dirty="0"/>
              <a:t>génétiques rares du </a:t>
            </a:r>
            <a:r>
              <a:rPr lang="fr-FR" sz="2800" dirty="0" smtClean="0"/>
              <a:t>sang:</a:t>
            </a:r>
          </a:p>
          <a:p>
            <a:pPr lvl="0"/>
            <a:r>
              <a:rPr lang="fr-FR" sz="2800" dirty="0" smtClean="0"/>
              <a:t>          </a:t>
            </a:r>
            <a:r>
              <a:rPr lang="fr-FR" sz="2800" b="1" dirty="0" smtClean="0">
                <a:solidFill>
                  <a:srgbClr val="FF0000"/>
                </a:solidFill>
              </a:rPr>
              <a:t>Immunodéficiences</a:t>
            </a:r>
            <a:r>
              <a:rPr lang="fr-FR" sz="2800" b="1" dirty="0">
                <a:solidFill>
                  <a:srgbClr val="FF0000"/>
                </a:solidFill>
              </a:rPr>
              <a:t>, </a:t>
            </a:r>
            <a:r>
              <a:rPr lang="fr-FR" sz="2800" b="1" dirty="0" smtClean="0">
                <a:solidFill>
                  <a:srgbClr val="FF0000"/>
                </a:solidFill>
              </a:rPr>
              <a:t>β-thalassémie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/>
              <a:t> </a:t>
            </a:r>
            <a:r>
              <a:rPr lang="fr-FR" sz="2800" dirty="0" smtClean="0"/>
              <a:t>Maladies génétiques  </a:t>
            </a:r>
            <a:r>
              <a:rPr lang="fr-FR" sz="2800" dirty="0"/>
              <a:t>du </a:t>
            </a:r>
            <a:r>
              <a:rPr lang="fr-FR" sz="2800" dirty="0" smtClean="0"/>
              <a:t>cerveau:</a:t>
            </a:r>
          </a:p>
          <a:p>
            <a:pPr lvl="0"/>
            <a:r>
              <a:rPr lang="fr-FR" sz="2800" dirty="0" smtClean="0"/>
              <a:t>          </a:t>
            </a:r>
            <a:r>
              <a:rPr lang="fr-FR" sz="2800" b="1" dirty="0" err="1" smtClean="0">
                <a:solidFill>
                  <a:srgbClr val="FF0000"/>
                </a:solidFill>
              </a:rPr>
              <a:t>Adrénoleucodystrophie</a:t>
            </a:r>
            <a:r>
              <a:rPr lang="fr-FR" sz="2800" b="1" dirty="0">
                <a:solidFill>
                  <a:srgbClr val="FF0000"/>
                </a:solidFill>
              </a:rPr>
              <a:t> 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Maladie </a:t>
            </a:r>
            <a:r>
              <a:rPr lang="fr-FR" sz="2800" dirty="0"/>
              <a:t>génétique de la rétine : </a:t>
            </a:r>
            <a:endParaRPr lang="fr-FR" sz="2800" dirty="0" smtClean="0"/>
          </a:p>
          <a:p>
            <a:pPr lvl="0"/>
            <a:r>
              <a:rPr lang="fr-FR" sz="2800" dirty="0" smtClean="0"/>
              <a:t>         </a:t>
            </a:r>
            <a:r>
              <a:rPr lang="fr-FR" sz="2800" b="1" dirty="0" smtClean="0">
                <a:solidFill>
                  <a:srgbClr val="FF0000"/>
                </a:solidFill>
              </a:rPr>
              <a:t>Amaurose </a:t>
            </a:r>
            <a:r>
              <a:rPr lang="fr-FR" sz="2800" b="1" dirty="0">
                <a:solidFill>
                  <a:srgbClr val="FF0000"/>
                </a:solidFill>
              </a:rPr>
              <a:t>congénitale de </a:t>
            </a:r>
            <a:r>
              <a:rPr lang="fr-FR" sz="2800" b="1" dirty="0" err="1" smtClean="0">
                <a:solidFill>
                  <a:srgbClr val="FF0000"/>
                </a:solidFill>
              </a:rPr>
              <a:t>Leber</a:t>
            </a:r>
            <a:endParaRPr lang="fr-FR" sz="2800" b="1" dirty="0">
              <a:solidFill>
                <a:srgbClr val="FF0000"/>
              </a:solidFill>
            </a:endParaRP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Myopathies </a:t>
            </a:r>
            <a:r>
              <a:rPr lang="fr-FR" sz="2800" dirty="0"/>
              <a:t>sévères : </a:t>
            </a:r>
            <a:endParaRPr lang="fr-FR" sz="2800" dirty="0" smtClean="0"/>
          </a:p>
          <a:p>
            <a:pPr lvl="0"/>
            <a:r>
              <a:rPr lang="fr-FR" sz="2800" dirty="0"/>
              <a:t> </a:t>
            </a:r>
            <a:r>
              <a:rPr lang="fr-FR" sz="2800" dirty="0" smtClean="0"/>
              <a:t>         </a:t>
            </a:r>
            <a:r>
              <a:rPr lang="fr-FR" sz="2800" b="1" dirty="0" smtClean="0">
                <a:solidFill>
                  <a:srgbClr val="FF0000"/>
                </a:solidFill>
              </a:rPr>
              <a:t>Myopathie  </a:t>
            </a:r>
            <a:r>
              <a:rPr lang="fr-FR" sz="2800" b="1" dirty="0" err="1" smtClean="0">
                <a:solidFill>
                  <a:srgbClr val="FF0000"/>
                </a:solidFill>
              </a:rPr>
              <a:t>myotibulaire</a:t>
            </a:r>
            <a:endParaRPr lang="fr-FR" sz="2800" b="1" dirty="0">
              <a:solidFill>
                <a:srgbClr val="FF0000"/>
              </a:solidFill>
            </a:endParaRPr>
          </a:p>
          <a:p>
            <a:pPr lvl="0"/>
            <a:r>
              <a:rPr lang="fr-FR" sz="2800" b="1" dirty="0" smtClean="0">
                <a:solidFill>
                  <a:schemeClr val="tx2"/>
                </a:solidFill>
              </a:rPr>
              <a:t>Autres </a:t>
            </a:r>
            <a:r>
              <a:rPr lang="fr-FR" sz="2800" b="1" dirty="0">
                <a:solidFill>
                  <a:schemeClr val="tx2"/>
                </a:solidFill>
              </a:rPr>
              <a:t>essais  </a:t>
            </a:r>
            <a:r>
              <a:rPr lang="fr-FR" sz="2800" b="1" dirty="0" smtClean="0">
                <a:solidFill>
                  <a:schemeClr val="tx2"/>
                </a:solidFill>
              </a:rPr>
              <a:t>en voie:</a:t>
            </a:r>
          </a:p>
          <a:p>
            <a:pPr lvl="0"/>
            <a:r>
              <a:rPr lang="fr-FR" sz="2800" dirty="0" smtClean="0"/>
              <a:t> Déficits immunitaires      Maladies </a:t>
            </a:r>
            <a:r>
              <a:rPr lang="fr-FR" sz="2800" dirty="0"/>
              <a:t>du </a:t>
            </a:r>
            <a:r>
              <a:rPr lang="fr-FR" sz="2800" dirty="0" smtClean="0"/>
              <a:t>sang</a:t>
            </a:r>
          </a:p>
          <a:p>
            <a:pPr lvl="0"/>
            <a:r>
              <a:rPr lang="fr-FR" sz="2800" dirty="0"/>
              <a:t> </a:t>
            </a:r>
            <a:r>
              <a:rPr lang="fr-FR" sz="2800" dirty="0" smtClean="0"/>
              <a:t>Maladies  </a:t>
            </a:r>
            <a:r>
              <a:rPr lang="fr-FR" sz="2800" dirty="0"/>
              <a:t>de la vision, </a:t>
            </a:r>
            <a:r>
              <a:rPr lang="fr-FR" sz="2800" dirty="0" smtClean="0"/>
              <a:t>     Maladies du foie</a:t>
            </a:r>
          </a:p>
          <a:p>
            <a:pPr lvl="0"/>
            <a:r>
              <a:rPr lang="fr-FR" sz="2800" dirty="0" smtClean="0"/>
              <a:t> Maladies neuromusculaires</a:t>
            </a:r>
            <a:endParaRPr lang="fr-FR" sz="2800" dirty="0"/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  <a:p>
            <a:r>
              <a:rPr lang="fr-FR" sz="2800" dirty="0" smtClean="0"/>
              <a:t> 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5930</TotalTime>
  <Words>777</Words>
  <Application>Microsoft Office PowerPoint</Application>
  <PresentationFormat>Affichage à l'écran (4:3)</PresentationFormat>
  <Paragraphs>166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24</cp:revision>
  <dcterms:created xsi:type="dcterms:W3CDTF">2018-12-08T13:19:14Z</dcterms:created>
  <dcterms:modified xsi:type="dcterms:W3CDTF">2024-01-01T13:08:21Z</dcterms:modified>
</cp:coreProperties>
</file>