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3" r:id="rId3"/>
    <p:sldId id="295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1" r:id="rId15"/>
    <p:sldId id="271" r:id="rId16"/>
    <p:sldId id="292" r:id="rId17"/>
    <p:sldId id="275" r:id="rId18"/>
    <p:sldId id="277" r:id="rId19"/>
    <p:sldId id="279" r:id="rId20"/>
    <p:sldId id="278" r:id="rId21"/>
    <p:sldId id="281" r:id="rId22"/>
    <p:sldId id="282" r:id="rId23"/>
    <p:sldId id="283" r:id="rId24"/>
    <p:sldId id="296" r:id="rId25"/>
    <p:sldId id="287" r:id="rId26"/>
    <p:sldId id="288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F17C8-702D-4E6B-97A2-3A6A83F1A7BF}" type="datetimeFigureOut">
              <a:rPr lang="fr-FR" smtClean="0"/>
              <a:pPr/>
              <a:t>04/12/2023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1D536-4772-487D-A3E3-D9B664A1B65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96536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</a:t>
            </a:r>
            <a:r>
              <a:rPr lang="fr-FR" sz="2800" b="1" dirty="0" smtClean="0"/>
              <a:t>MODULE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/>
              <a:t>                            LA </a:t>
            </a:r>
            <a:r>
              <a:rPr lang="fr-FR" sz="2800" b="1" dirty="0" smtClean="0"/>
              <a:t>TROISIEME </a:t>
            </a:r>
            <a:r>
              <a:rPr lang="fr-FR" sz="2800" b="1" dirty="0"/>
              <a:t>SEMAINE</a:t>
            </a:r>
          </a:p>
          <a:p>
            <a:r>
              <a:rPr lang="fr-FR" sz="2800" b="1" dirty="0"/>
              <a:t>               </a:t>
            </a:r>
            <a:r>
              <a:rPr lang="fr-FR" sz="2800" b="1" dirty="0" smtClean="0"/>
              <a:t> DU </a:t>
            </a:r>
            <a:r>
              <a:rPr lang="fr-FR" sz="2800" b="1" dirty="0"/>
              <a:t>DEVELOPPEMENT EMBRYONNAIRE</a:t>
            </a:r>
          </a:p>
          <a:p>
            <a:endParaRPr lang="fr-FR" sz="2800" b="1" dirty="0"/>
          </a:p>
          <a:p>
            <a:r>
              <a:rPr lang="fr-FR" sz="2800" b="1" dirty="0"/>
              <a:t>         </a:t>
            </a:r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                                                   PR HANNACHI-HECINI A </a:t>
            </a:r>
          </a:p>
          <a:p>
            <a:r>
              <a:rPr lang="fr-FR" sz="2800" b="1" dirty="0" smtClean="0"/>
              <a:t>                    </a:t>
            </a:r>
          </a:p>
          <a:p>
            <a:endParaRPr lang="fr-FR" sz="36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988840"/>
            <a:ext cx="6192688" cy="3312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531440"/>
            <a:ext cx="1033264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     </a:t>
            </a:r>
          </a:p>
          <a:p>
            <a:r>
              <a:rPr lang="fr-FR" sz="2800" b="1" dirty="0" smtClean="0"/>
              <a:t>La 3</a:t>
            </a:r>
            <a:r>
              <a:rPr lang="fr-FR" sz="2800" b="1" baseline="30000" dirty="0" smtClean="0"/>
              <a:t>ème </a:t>
            </a:r>
            <a:r>
              <a:rPr lang="fr-FR" sz="2800" b="1" dirty="0" smtClean="0"/>
              <a:t>semaine du développement est marquée</a:t>
            </a:r>
          </a:p>
          <a:p>
            <a:r>
              <a:rPr lang="fr-FR" sz="2800" b="1" dirty="0" smtClean="0"/>
              <a:t> par deux phénomènes:</a:t>
            </a:r>
            <a:endParaRPr lang="fr-FR" sz="2800" dirty="0"/>
          </a:p>
          <a:p>
            <a:r>
              <a:rPr lang="fr-FR" sz="3600" dirty="0"/>
              <a:t> </a:t>
            </a:r>
          </a:p>
          <a:p>
            <a:endParaRPr lang="fr-FR" sz="36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260648"/>
            <a:ext cx="9099081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0070C0"/>
                </a:solidFill>
              </a:rPr>
              <a:t> G</a:t>
            </a:r>
            <a:r>
              <a:rPr lang="fr-FR" sz="2800" b="1" dirty="0" smtClean="0">
                <a:solidFill>
                  <a:srgbClr val="0070C0"/>
                </a:solidFill>
              </a:rPr>
              <a:t>astrulation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Formation des annexes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Debut de neurulation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Debut de métamérisation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2060"/>
                </a:solidFill>
              </a:rPr>
              <a:t>Gastrulation   </a:t>
            </a:r>
            <a:endParaRPr lang="fr-FR" sz="2800" b="1" dirty="0">
              <a:solidFill>
                <a:srgbClr val="002060"/>
              </a:solidFill>
            </a:endParaRPr>
          </a:p>
          <a:p>
            <a:r>
              <a:rPr lang="fr-FR" sz="2800" b="1" dirty="0">
                <a:solidFill>
                  <a:srgbClr val="0070C0"/>
                </a:solidFill>
              </a:rPr>
              <a:t>Formation d’un troisième  feuillet entre ectophylle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et entophylle: mésoblaste.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>
                <a:solidFill>
                  <a:srgbClr val="0070C0"/>
                </a:solidFill>
              </a:rPr>
              <a:t>Disque  embryonnaire                Disque  embryonnaire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       didermique                                    tridermique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   </a:t>
            </a:r>
            <a:r>
              <a:rPr lang="fr-FR" sz="2800" b="1" dirty="0">
                <a:solidFill>
                  <a:srgbClr val="0070C0"/>
                </a:solidFill>
              </a:rPr>
              <a:t>Quelle est l’origine du 3ème feuillet, le mésoblaste?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</a:p>
          <a:p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613" y="4746355"/>
            <a:ext cx="1005927" cy="280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340768"/>
            <a:ext cx="6552728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60649" y="-118247"/>
            <a:ext cx="80398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Au 16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Epaississement de l’ectophylle par différenciation,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Pénétration des cellules de 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entre </a:t>
            </a:r>
          </a:p>
          <a:p>
            <a:r>
              <a:rPr lang="fr-FR" sz="2800" b="1" dirty="0" smtClean="0"/>
              <a:t>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préexistant et l’</a:t>
            </a:r>
            <a:r>
              <a:rPr lang="fr-FR" sz="2800" b="1" dirty="0" err="1" smtClean="0"/>
              <a:t>entophylle</a:t>
            </a:r>
            <a:r>
              <a:rPr lang="fr-FR" sz="2800" b="1" dirty="0" smtClean="0"/>
              <a:t> selon les </a:t>
            </a:r>
          </a:p>
          <a:p>
            <a:r>
              <a:rPr lang="fr-FR" sz="2800" b="1" dirty="0" smtClean="0"/>
              <a:t>mouvements suivants:</a:t>
            </a:r>
            <a:endParaRPr lang="fr-FR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858" y="2579425"/>
            <a:ext cx="3382107" cy="215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necteur droit avec flèche 5"/>
          <p:cNvCxnSpPr/>
          <p:nvPr/>
        </p:nvCxnSpPr>
        <p:spPr>
          <a:xfrm>
            <a:off x="1043608" y="2896200"/>
            <a:ext cx="753303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>
            <a:off x="809506" y="3933056"/>
            <a:ext cx="1152128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èche vers le bas 14"/>
          <p:cNvSpPr/>
          <p:nvPr/>
        </p:nvSpPr>
        <p:spPr>
          <a:xfrm>
            <a:off x="2172135" y="2422661"/>
            <a:ext cx="95609" cy="7200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782465" y="2579425"/>
            <a:ext cx="23583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lain"/>
            </a:pPr>
            <a:r>
              <a:rPr lang="fr-FR" sz="2800" b="1" dirty="0" smtClean="0"/>
              <a:t>             2     </a:t>
            </a:r>
          </a:p>
          <a:p>
            <a:pPr marL="342900" indent="-342900">
              <a:buAutoNum type="arabicPlain"/>
            </a:pPr>
            <a:endParaRPr lang="fr-FR" sz="2800" b="1" dirty="0"/>
          </a:p>
          <a:p>
            <a:pPr marL="342900" indent="-342900"/>
            <a:endParaRPr lang="fr-FR" sz="3600" b="1" dirty="0" smtClean="0"/>
          </a:p>
          <a:p>
            <a:pPr marL="342900" indent="-342900"/>
            <a:r>
              <a:rPr lang="fr-FR" sz="2800" b="1" dirty="0" smtClean="0"/>
              <a:t>3</a:t>
            </a:r>
            <a:endParaRPr lang="fr-FR" sz="2800" dirty="0"/>
          </a:p>
        </p:txBody>
      </p:sp>
      <p:sp>
        <p:nvSpPr>
          <p:cNvPr id="17" name="ZoneTexte 16"/>
          <p:cNvSpPr txBox="1"/>
          <p:nvPr/>
        </p:nvSpPr>
        <p:spPr>
          <a:xfrm>
            <a:off x="745884" y="4142694"/>
            <a:ext cx="24314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1- convergence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2- invagination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3- divergence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950" y="2543451"/>
            <a:ext cx="3596952" cy="37127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315849" cy="49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Cette invagination fera dessiner sur l’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</a:t>
            </a:r>
          </a:p>
          <a:p>
            <a:r>
              <a:rPr lang="fr-FR" sz="2800" b="1" dirty="0" smtClean="0"/>
              <a:t>un sillon de l’extrémité vers le centre.</a:t>
            </a:r>
          </a:p>
          <a:p>
            <a:r>
              <a:rPr lang="fr-FR" sz="2800" b="1" dirty="0" smtClean="0"/>
              <a:t>Ce sillon: </a:t>
            </a:r>
            <a:r>
              <a:rPr lang="fr-FR" sz="2800" b="1" dirty="0" smtClean="0">
                <a:solidFill>
                  <a:srgbClr val="0070C0"/>
                </a:solidFill>
              </a:rPr>
              <a:t>La ligne primitive ou L I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ve</a:t>
            </a: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endParaRPr lang="fr-FR" sz="3200" b="1" baseline="30000" dirty="0">
              <a:solidFill>
                <a:srgbClr val="FF0000"/>
              </a:solidFill>
            </a:endParaRPr>
          </a:p>
          <a:p>
            <a:endParaRPr lang="fr-FR" sz="3200" b="1" baseline="30000" dirty="0" smtClean="0">
              <a:solidFill>
                <a:srgbClr val="FF0000"/>
              </a:solidFill>
            </a:endParaRPr>
          </a:p>
          <a:p>
            <a:r>
              <a:rPr lang="fr-FR" sz="3200" b="1" baseline="30000" dirty="0">
                <a:solidFill>
                  <a:srgbClr val="FF0000"/>
                </a:solidFill>
              </a:rPr>
              <a:t> </a:t>
            </a:r>
            <a:r>
              <a:rPr lang="fr-FR" sz="3200" b="1" baseline="30000" dirty="0" smtClean="0">
                <a:solidFill>
                  <a:srgbClr val="FF0000"/>
                </a:solidFill>
              </a:rPr>
              <a:t>                                                                                       </a:t>
            </a:r>
            <a:endParaRPr lang="fr-FR" sz="3200" b="1" baseline="30000" dirty="0"/>
          </a:p>
        </p:txBody>
      </p:sp>
      <p:pic>
        <p:nvPicPr>
          <p:cNvPr id="3" name="Image 2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958425" y="2218036"/>
            <a:ext cx="4896545" cy="3718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ZoneTexte 3"/>
          <p:cNvSpPr txBox="1"/>
          <p:nvPr/>
        </p:nvSpPr>
        <p:spPr>
          <a:xfrm>
            <a:off x="5796136" y="5013176"/>
            <a:ext cx="24816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Ligne primitive 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6156176" y="342900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 flipV="1">
            <a:off x="3275856" y="4941168"/>
            <a:ext cx="2232248" cy="36004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75319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17ème jour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La ligne primitive se termine par une nodosité: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>
                <a:solidFill>
                  <a:srgbClr val="00B0F0"/>
                </a:solidFill>
              </a:rPr>
              <a:t>Le nœud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r>
              <a:rPr lang="fr-FR" sz="2800" b="1" dirty="0" smtClean="0">
                <a:solidFill>
                  <a:srgbClr val="00B0F0"/>
                </a:solidFill>
              </a:rPr>
              <a:t> = NH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4" name="Image 3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958425" y="2218036"/>
            <a:ext cx="4896545" cy="3718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6" name="Connecteur droit avec flèche 5"/>
          <p:cNvCxnSpPr/>
          <p:nvPr/>
        </p:nvCxnSpPr>
        <p:spPr>
          <a:xfrm flipH="1">
            <a:off x="3419872" y="4149080"/>
            <a:ext cx="2808312" cy="7200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6014617" y="3717032"/>
            <a:ext cx="2762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Nœud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endParaRPr lang="fr-FR" sz="2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820596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Durant la gastrulation il ya deux types de mésoblastes</a:t>
            </a:r>
          </a:p>
          <a:p>
            <a:r>
              <a:rPr lang="fr-FR" sz="2800" b="1" dirty="0" smtClean="0"/>
              <a:t>Qui se forment: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de la ligne primitive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du nœud de </a:t>
            </a:r>
            <a:r>
              <a:rPr lang="fr-FR" sz="2800" b="1" dirty="0" err="1" smtClean="0">
                <a:solidFill>
                  <a:srgbClr val="0070C0"/>
                </a:solidFill>
              </a:rPr>
              <a:t>Hensen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Image 2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-216531" y="2744923"/>
            <a:ext cx="4104458" cy="3168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Organigramme : Terminateur 3"/>
          <p:cNvSpPr/>
          <p:nvPr/>
        </p:nvSpPr>
        <p:spPr>
          <a:xfrm rot="5400000">
            <a:off x="1245522" y="3659134"/>
            <a:ext cx="1218328" cy="181997"/>
          </a:xfrm>
          <a:prstGeom prst="flowChartTermina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3851920" y="2333685"/>
            <a:ext cx="416614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Coté céphalique</a:t>
            </a: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Mésoblaste issu du nœud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de </a:t>
            </a:r>
            <a:r>
              <a:rPr lang="fr-FR" sz="2800" b="1" dirty="0" err="1" smtClean="0">
                <a:solidFill>
                  <a:srgbClr val="00B0F0"/>
                </a:solidFill>
              </a:rPr>
              <a:t>Hensen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Mésoblaste issu de la ligne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primitive</a:t>
            </a:r>
          </a:p>
          <a:p>
            <a:endParaRPr lang="fr-FR" sz="2800" b="1" dirty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Coté caudal </a:t>
            </a:r>
            <a:endParaRPr lang="fr-FR" sz="2800" b="1" dirty="0">
              <a:solidFill>
                <a:srgbClr val="00B0F0"/>
              </a:solidFill>
            </a:endParaRPr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1979712" y="2636912"/>
            <a:ext cx="172819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H="1">
            <a:off x="1979712" y="3717032"/>
            <a:ext cx="172819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H="1" flipV="1">
            <a:off x="2123728" y="4581128"/>
            <a:ext cx="1728192" cy="50405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>
            <a:off x="2123728" y="5157192"/>
            <a:ext cx="1656184" cy="2160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H="1" flipV="1">
            <a:off x="2411760" y="4077072"/>
            <a:ext cx="1368152" cy="100811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 flipV="1">
            <a:off x="1907704" y="5949280"/>
            <a:ext cx="1800200" cy="57606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8353184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  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de la ligne primitive: </a:t>
            </a:r>
          </a:p>
          <a:p>
            <a:r>
              <a:rPr lang="fr-FR" sz="2800" b="1" dirty="0" smtClean="0"/>
              <a:t>Mésoblaste  latéral entre </a:t>
            </a:r>
            <a:r>
              <a:rPr lang="fr-FR" sz="2800" b="1" dirty="0" err="1" smtClean="0"/>
              <a:t>ectophylle</a:t>
            </a:r>
            <a:r>
              <a:rPr lang="fr-FR" sz="2800" b="1" dirty="0" smtClean="0"/>
              <a:t> et </a:t>
            </a:r>
            <a:r>
              <a:rPr lang="fr-FR" sz="2800" b="1" dirty="0" err="1" smtClean="0"/>
              <a:t>entophylle</a:t>
            </a:r>
            <a:endParaRPr lang="fr-FR" sz="2800" b="1" dirty="0" smtClean="0"/>
          </a:p>
          <a:p>
            <a:endParaRPr lang="fr-FR" sz="2800" b="1" dirty="0">
              <a:solidFill>
                <a:srgbClr val="FF0000"/>
              </a:solidFill>
            </a:endParaRPr>
          </a:p>
          <a:p>
            <a:r>
              <a:rPr lang="fr-FR" sz="2800" b="1" dirty="0" smtClean="0"/>
              <a:t>A ce stade:</a:t>
            </a:r>
          </a:p>
          <a:p>
            <a:r>
              <a:rPr lang="fr-FR" sz="2800" b="1" dirty="0" smtClean="0"/>
              <a:t>Ectophylle =  </a:t>
            </a:r>
            <a:r>
              <a:rPr lang="fr-FR" sz="2800" b="1" dirty="0" smtClean="0">
                <a:solidFill>
                  <a:srgbClr val="00B0F0"/>
                </a:solidFill>
              </a:rPr>
              <a:t>ectoblaste</a:t>
            </a:r>
          </a:p>
          <a:p>
            <a:r>
              <a:rPr lang="fr-FR" sz="2800" b="1" dirty="0" err="1" smtClean="0"/>
              <a:t>Entophylle</a:t>
            </a:r>
            <a:r>
              <a:rPr lang="fr-FR" sz="2800" b="1" dirty="0" smtClean="0"/>
              <a:t> = </a:t>
            </a:r>
            <a:r>
              <a:rPr lang="fr-FR" sz="2800" b="1" dirty="0" err="1" smtClean="0">
                <a:solidFill>
                  <a:srgbClr val="00B0F0"/>
                </a:solidFill>
              </a:rPr>
              <a:t>entoblaste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>
                <a:solidFill>
                  <a:srgbClr val="0070C0"/>
                </a:solidFill>
              </a:rPr>
              <a:t>Mésoblaste issu du nœud de Hensen: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   </a:t>
            </a:r>
            <a:r>
              <a:rPr lang="fr-FR" sz="2800" b="1" dirty="0" smtClean="0">
                <a:solidFill>
                  <a:srgbClr val="00B0F0"/>
                </a:solidFill>
              </a:rPr>
              <a:t>Processus </a:t>
            </a:r>
            <a:r>
              <a:rPr lang="fr-FR" sz="2800" b="1" dirty="0" err="1" smtClean="0">
                <a:solidFill>
                  <a:srgbClr val="00B0F0"/>
                </a:solidFill>
              </a:rPr>
              <a:t>cordal</a:t>
            </a:r>
            <a:r>
              <a:rPr lang="fr-FR" sz="2800" b="1" dirty="0" smtClean="0">
                <a:solidFill>
                  <a:srgbClr val="00B0F0"/>
                </a:solidFill>
              </a:rPr>
              <a:t>  (chordal) pour former: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la corde (chorde) =     1</a:t>
            </a:r>
            <a:r>
              <a:rPr lang="fr-FR" sz="2800" b="1" baseline="30000" dirty="0" smtClean="0">
                <a:solidFill>
                  <a:srgbClr val="00B0F0"/>
                </a:solidFill>
              </a:rPr>
              <a:t>er</a:t>
            </a:r>
            <a:r>
              <a:rPr lang="fr-FR" sz="2800" b="1" dirty="0" smtClean="0">
                <a:solidFill>
                  <a:srgbClr val="00B0F0"/>
                </a:solidFill>
              </a:rPr>
              <a:t> axe longitudinal de l’embryon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6995" y="-419"/>
            <a:ext cx="107911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Mise en place de la chorde</a:t>
            </a:r>
          </a:p>
          <a:p>
            <a:r>
              <a:rPr lang="fr-FR" sz="2800" b="1" dirty="0" smtClean="0"/>
              <a:t>Processus chordal:  plusieurs stades</a:t>
            </a:r>
          </a:p>
          <a:p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prolongement céphalique </a:t>
            </a:r>
            <a:r>
              <a:rPr lang="fr-FR" sz="2800" b="1" dirty="0" smtClean="0">
                <a:solidFill>
                  <a:srgbClr val="FF0000"/>
                </a:solidFill>
              </a:rPr>
              <a:t>(18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canal </a:t>
            </a:r>
            <a:r>
              <a:rPr lang="fr-FR" sz="2800" b="1" dirty="0" err="1" smtClean="0"/>
              <a:t>cordal</a:t>
            </a:r>
            <a:r>
              <a:rPr lang="fr-FR" sz="2800" b="1" dirty="0" smtClean="0"/>
              <a:t> 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(19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canal </a:t>
            </a:r>
            <a:r>
              <a:rPr lang="fr-FR" sz="2800" b="1" dirty="0" err="1" smtClean="0"/>
              <a:t>cordal</a:t>
            </a:r>
            <a:r>
              <a:rPr lang="fr-FR" sz="2800" b="1" dirty="0" smtClean="0"/>
              <a:t> fissuré            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(19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Stade gouttière </a:t>
            </a:r>
            <a:r>
              <a:rPr lang="fr-FR" sz="2800" b="1" dirty="0" err="1" smtClean="0"/>
              <a:t>cordale</a:t>
            </a:r>
            <a:r>
              <a:rPr lang="fr-FR" sz="2800" b="1" dirty="0" smtClean="0"/>
              <a:t>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(20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plaque </a:t>
            </a:r>
            <a:r>
              <a:rPr lang="fr-FR" sz="2800" b="1" dirty="0" err="1" smtClean="0"/>
              <a:t>cordale</a:t>
            </a:r>
            <a:r>
              <a:rPr lang="fr-FR" sz="2800" b="1" dirty="0" smtClean="0"/>
              <a:t>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 (21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pPr>
              <a:buFont typeface="Wingdings" pitchFamily="2" charset="2"/>
              <a:buChar char="§"/>
            </a:pPr>
            <a:r>
              <a:rPr lang="fr-FR" sz="2800" b="1" dirty="0"/>
              <a:t> </a:t>
            </a:r>
            <a:r>
              <a:rPr lang="fr-FR" sz="2800" b="1" dirty="0" smtClean="0"/>
              <a:t>Stade corde</a:t>
            </a:r>
            <a:r>
              <a:rPr lang="fr-FR" sz="2800" b="1" dirty="0" smtClean="0">
                <a:solidFill>
                  <a:srgbClr val="FF0000"/>
                </a:solidFill>
              </a:rPr>
              <a:t>                                      (22</a:t>
            </a:r>
            <a:r>
              <a:rPr lang="fr-FR" sz="2800" b="1" baseline="30000" dirty="0" smtClean="0">
                <a:solidFill>
                  <a:srgbClr val="FF0000"/>
                </a:solidFill>
              </a:rPr>
              <a:t>ème</a:t>
            </a:r>
            <a:r>
              <a:rPr lang="fr-FR" sz="2800" b="1" dirty="0" smtClean="0">
                <a:solidFill>
                  <a:srgbClr val="FF0000"/>
                </a:solidFill>
              </a:rPr>
              <a:t> jour)</a:t>
            </a:r>
            <a:endParaRPr lang="fr-FR" sz="2800" b="1" dirty="0" smtClean="0"/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Migration des cellules du mésoblast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347017" y="2613423"/>
            <a:ext cx="4392488" cy="2855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79512" y="27151"/>
            <a:ext cx="76515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Pour connaitre le processus de la mise en place de</a:t>
            </a:r>
          </a:p>
          <a:p>
            <a:r>
              <a:rPr lang="fr-FR" sz="2800" b="1" dirty="0" smtClean="0">
                <a:solidFill>
                  <a:srgbClr val="002060"/>
                </a:solidFill>
              </a:rPr>
              <a:t> la corde:</a:t>
            </a:r>
            <a:endParaRPr lang="fr-FR" sz="2800" b="1" dirty="0">
              <a:solidFill>
                <a:srgbClr val="002060"/>
              </a:solidFill>
            </a:endParaRPr>
          </a:p>
        </p:txBody>
      </p:sp>
      <p:cxnSp>
        <p:nvCxnSpPr>
          <p:cNvPr id="5" name="Connecteur droit avec flèche 4"/>
          <p:cNvCxnSpPr/>
          <p:nvPr/>
        </p:nvCxnSpPr>
        <p:spPr>
          <a:xfrm flipV="1">
            <a:off x="2483768" y="809328"/>
            <a:ext cx="72008" cy="5644008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843808" y="363915"/>
            <a:ext cx="61908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X</a:t>
            </a: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X1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995936" y="1700808"/>
            <a:ext cx="51480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On effectue une coupe</a:t>
            </a:r>
          </a:p>
          <a:p>
            <a:r>
              <a:rPr lang="fr-FR" sz="2800" b="1" dirty="0" smtClean="0"/>
              <a:t>Longitudinale selon l’axe</a:t>
            </a:r>
          </a:p>
          <a:p>
            <a:r>
              <a:rPr lang="fr-FR" sz="2800" b="1" dirty="0" smtClean="0"/>
              <a:t>XX1.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On prend la moitié</a:t>
            </a:r>
          </a:p>
          <a:p>
            <a:r>
              <a:rPr lang="fr-FR" sz="2800" b="1" dirty="0" smtClean="0"/>
              <a:t>droite et on observe dans l’épaisseur.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268760"/>
            <a:ext cx="6696743" cy="3691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67544" y="2564904"/>
            <a:ext cx="7074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X                                                               X1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516216" y="908720"/>
            <a:ext cx="278922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b="1" dirty="0" smtClean="0"/>
          </a:p>
          <a:p>
            <a:r>
              <a:rPr lang="fr-FR" sz="2800" b="1" dirty="0" smtClean="0"/>
              <a:t>Ligne primitive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Ectoblaste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Mésoblaste</a:t>
            </a:r>
          </a:p>
          <a:p>
            <a:endParaRPr lang="fr-FR" sz="2800" b="1" dirty="0"/>
          </a:p>
          <a:p>
            <a:r>
              <a:rPr lang="fr-FR" sz="2800" b="1" dirty="0" smtClean="0"/>
              <a:t>      Prolongement</a:t>
            </a:r>
          </a:p>
          <a:p>
            <a:r>
              <a:rPr lang="fr-FR" sz="2800" b="1" dirty="0" smtClean="0"/>
              <a:t>        céphalique</a:t>
            </a:r>
            <a:endParaRPr lang="fr-FR" sz="28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692696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rgbClr val="FF0000"/>
                </a:solidFill>
              </a:rPr>
              <a:t>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                 </a:t>
            </a:r>
          </a:p>
          <a:p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                  </a:t>
            </a:r>
            <a:r>
              <a:rPr lang="fr-FR" sz="2800" b="1" dirty="0" err="1" smtClean="0"/>
              <a:t>Entoblaste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1968500" indent="-1968500"/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</a:p>
          <a:p>
            <a:pPr marL="1968500" indent="-1968500"/>
            <a:r>
              <a:rPr lang="fr-FR" sz="28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/>
              <a:t>Coupe longitudinale sagittale: Embryon âgé de 18 jours                Stade prolongement céphalique </a:t>
            </a:r>
            <a:endParaRPr lang="fr-FR" sz="2800" b="1" dirty="0"/>
          </a:p>
        </p:txBody>
      </p:sp>
      <p:sp>
        <p:nvSpPr>
          <p:cNvPr id="6" name="Flèche gauche 5"/>
          <p:cNvSpPr/>
          <p:nvPr/>
        </p:nvSpPr>
        <p:spPr>
          <a:xfrm>
            <a:off x="4067944" y="2204864"/>
            <a:ext cx="1440160" cy="28803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467544" y="0"/>
            <a:ext cx="283282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Mb pharyngienne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</p:txBody>
      </p:sp>
      <p:sp>
        <p:nvSpPr>
          <p:cNvPr id="26" name="ZoneTexte 25"/>
          <p:cNvSpPr txBox="1"/>
          <p:nvPr/>
        </p:nvSpPr>
        <p:spPr>
          <a:xfrm>
            <a:off x="827584" y="2420888"/>
            <a:ext cx="182864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       Zone</a:t>
            </a:r>
          </a:p>
          <a:p>
            <a:r>
              <a:rPr lang="fr-FR" sz="2800" b="1" dirty="0" err="1" smtClean="0"/>
              <a:t>cardiogène</a:t>
            </a:r>
            <a:endParaRPr lang="fr-FR" sz="2800" b="1" dirty="0"/>
          </a:p>
        </p:txBody>
      </p:sp>
      <p:cxnSp>
        <p:nvCxnSpPr>
          <p:cNvPr id="27" name="Connecteur droit avec flèche 26"/>
          <p:cNvCxnSpPr/>
          <p:nvPr/>
        </p:nvCxnSpPr>
        <p:spPr>
          <a:xfrm flipH="1" flipV="1">
            <a:off x="1043608" y="3068960"/>
            <a:ext cx="792088" cy="86409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6357967" y="-174595"/>
            <a:ext cx="264944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2800" b="1" dirty="0" smtClean="0"/>
              <a:t>Mb cloacale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Zone	angiogène</a:t>
            </a:r>
            <a:endParaRPr lang="fr-FR" sz="2800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0" y="0"/>
            <a:ext cx="4943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prolongement céphalique</a:t>
            </a:r>
            <a:endParaRPr lang="fr-FR" sz="2800" b="1" dirty="0">
              <a:solidFill>
                <a:srgbClr val="0070C0"/>
              </a:solidFill>
            </a:endParaRPr>
          </a:p>
        </p:txBody>
      </p:sp>
      <p:cxnSp>
        <p:nvCxnSpPr>
          <p:cNvPr id="24" name="Connecteur droit avec flèche 23"/>
          <p:cNvCxnSpPr/>
          <p:nvPr/>
        </p:nvCxnSpPr>
        <p:spPr>
          <a:xfrm>
            <a:off x="2123728" y="1340768"/>
            <a:ext cx="0" cy="136815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>
            <a:off x="5997815" y="322778"/>
            <a:ext cx="590409" cy="269285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/>
          <p:nvPr/>
        </p:nvCxnSpPr>
        <p:spPr>
          <a:xfrm>
            <a:off x="6549015" y="1130062"/>
            <a:ext cx="615273" cy="193889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H="1">
            <a:off x="5148064" y="2492896"/>
            <a:ext cx="1836712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 flipH="1">
            <a:off x="4762977" y="1654926"/>
            <a:ext cx="1692696" cy="5040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 flipH="1" flipV="1">
            <a:off x="4860032" y="3140968"/>
            <a:ext cx="2124744" cy="1440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 flipH="1" flipV="1">
            <a:off x="3635896" y="3717032"/>
            <a:ext cx="2988840" cy="172819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 flipH="1" flipV="1">
            <a:off x="3563888" y="3284984"/>
            <a:ext cx="3456384" cy="93610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769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Le mésoblaste issu du nœud de Hensen s’insinue  vers la  partie céphalique en creusant un petit prolongement</a:t>
            </a:r>
            <a:r>
              <a:rPr lang="fr-FR" sz="2800" b="1" dirty="0" smtClean="0">
                <a:solidFill>
                  <a:schemeClr val="accent2"/>
                </a:solidFill>
              </a:rPr>
              <a:t>: </a:t>
            </a:r>
            <a:r>
              <a:rPr lang="fr-FR" sz="2800" b="1" dirty="0" smtClean="0">
                <a:solidFill>
                  <a:srgbClr val="0070C0"/>
                </a:solidFill>
              </a:rPr>
              <a:t>le prolongement céphalique.</a:t>
            </a:r>
          </a:p>
          <a:p>
            <a:endParaRPr lang="fr-FR" sz="2800" b="1" dirty="0" smtClean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Pour le mésoblaste issu de la ligne primitive, Il ya partout du mésoblaste entre ectoblaste  et </a:t>
            </a:r>
            <a:r>
              <a:rPr lang="fr-FR" sz="2800" b="1" dirty="0" err="1" smtClean="0"/>
              <a:t>entoblaste</a:t>
            </a:r>
            <a:r>
              <a:rPr lang="fr-FR" sz="2800" b="1" dirty="0" smtClean="0"/>
              <a:t> sauf en deux endroits où on ne  trouve pas de mésoblaste: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/>
              <a:t> </a:t>
            </a:r>
            <a:r>
              <a:rPr lang="fr-FR" sz="2800" b="1" dirty="0" smtClean="0"/>
              <a:t>  </a:t>
            </a:r>
            <a:r>
              <a:rPr lang="fr-FR" sz="2800" b="1" dirty="0" smtClean="0">
                <a:solidFill>
                  <a:srgbClr val="00B0F0"/>
                </a:solidFill>
              </a:rPr>
              <a:t>La membrane pharyngienne </a:t>
            </a:r>
            <a:r>
              <a:rPr lang="fr-FR" sz="2800" b="1" dirty="0" smtClean="0">
                <a:solidFill>
                  <a:schemeClr val="accent2"/>
                </a:solidFill>
              </a:rPr>
              <a:t>(</a:t>
            </a:r>
            <a:r>
              <a:rPr lang="fr-FR" sz="2800" b="1" dirty="0" smtClean="0">
                <a:solidFill>
                  <a:srgbClr val="7030A0"/>
                </a:solidFill>
              </a:rPr>
              <a:t>ébauche de la bouche)</a:t>
            </a:r>
          </a:p>
          <a:p>
            <a:pPr>
              <a:buFont typeface="Wingdings" pitchFamily="2" charset="2"/>
              <a:buChar char="q"/>
            </a:pPr>
            <a:r>
              <a:rPr lang="fr-FR" sz="2800" b="1" dirty="0">
                <a:solidFill>
                  <a:schemeClr val="accent2"/>
                </a:solidFill>
              </a:rPr>
              <a:t> </a:t>
            </a:r>
            <a:r>
              <a:rPr lang="fr-FR" sz="2800" b="1" dirty="0" smtClean="0">
                <a:solidFill>
                  <a:schemeClr val="accent2"/>
                </a:solidFill>
              </a:rPr>
              <a:t>  </a:t>
            </a:r>
            <a:r>
              <a:rPr lang="fr-FR" sz="2800" b="1" dirty="0" smtClean="0">
                <a:solidFill>
                  <a:srgbClr val="00B0F0"/>
                </a:solidFill>
              </a:rPr>
              <a:t>La membrane cloacale </a:t>
            </a:r>
            <a:r>
              <a:rPr lang="fr-FR" sz="2800" b="1" dirty="0" smtClean="0">
                <a:solidFill>
                  <a:schemeClr val="accent2"/>
                </a:solidFill>
              </a:rPr>
              <a:t>(</a:t>
            </a:r>
            <a:r>
              <a:rPr lang="fr-FR" sz="2800" b="1" dirty="0" smtClean="0">
                <a:solidFill>
                  <a:srgbClr val="7030A0"/>
                </a:solidFill>
              </a:rPr>
              <a:t>ébauche de l’anus</a:t>
            </a:r>
            <a:r>
              <a:rPr lang="fr-FR" sz="2800" b="1" dirty="0" smtClean="0">
                <a:solidFill>
                  <a:schemeClr val="accent2"/>
                </a:solidFill>
              </a:rPr>
              <a:t>) </a:t>
            </a:r>
            <a:endParaRPr lang="fr-FR" sz="28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6956" y="2564904"/>
            <a:ext cx="97565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endParaRPr lang="fr-FR" sz="3200" b="1" dirty="0" smtClean="0">
              <a:solidFill>
                <a:srgbClr val="FF0000"/>
              </a:solidFill>
            </a:endParaRPr>
          </a:p>
          <a:p>
            <a:pPr marL="2960688" indent="-2960688"/>
            <a:r>
              <a:rPr lang="fr-FR" sz="2800" b="1" dirty="0" smtClean="0"/>
              <a:t>Coupe longitudinale sagittale: Embryon âgé de19 jours            Stade canal chordal</a:t>
            </a:r>
            <a:endParaRPr lang="fr-FR" sz="28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04665"/>
            <a:ext cx="8712968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0" y="0"/>
            <a:ext cx="3186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canal chordal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33004" y="4148695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800" b="1" dirty="0" smtClean="0"/>
          </a:p>
          <a:p>
            <a:r>
              <a:rPr lang="fr-FR" sz="2800" b="1" dirty="0" smtClean="0"/>
              <a:t>Le prolongement céphalique se prolonge constituant</a:t>
            </a:r>
          </a:p>
          <a:p>
            <a:r>
              <a:rPr lang="fr-FR" sz="2800" b="1" dirty="0" smtClean="0"/>
              <a:t> un canal: </a:t>
            </a:r>
            <a:r>
              <a:rPr lang="fr-FR" sz="2800" b="1" dirty="0" smtClean="0">
                <a:solidFill>
                  <a:srgbClr val="00B0F0"/>
                </a:solidFill>
              </a:rPr>
              <a:t>le canal chordal</a:t>
            </a:r>
            <a:r>
              <a:rPr lang="fr-FR" sz="2800" b="1" dirty="0" smtClean="0">
                <a:solidFill>
                  <a:schemeClr val="accent2"/>
                </a:solidFill>
              </a:rPr>
              <a:t>.</a:t>
            </a:r>
            <a:r>
              <a:rPr lang="fr-FR" sz="2800" b="1" dirty="0" smtClean="0"/>
              <a:t> Entre l’extrémité craniale du canal chordal et la membrane pharyngienne, se situe la plaque précordale qui induit le processus chordal.</a:t>
            </a:r>
            <a:endParaRPr lang="fr-FR" sz="2800" b="1" dirty="0" smtClean="0">
              <a:solidFill>
                <a:schemeClr val="accent2"/>
              </a:solidFill>
            </a:endParaRPr>
          </a:p>
          <a:p>
            <a:endParaRPr lang="fr-FR" sz="2800" b="1" dirty="0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7704856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0"/>
            <a:ext cx="3966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canal cordal fissuré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699792" y="1731247"/>
            <a:ext cx="3278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Canal chordal fissuré</a:t>
            </a:r>
            <a:endParaRPr lang="fr-FR" sz="28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46123" y="2254467"/>
            <a:ext cx="308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Plaque </a:t>
            </a:r>
            <a:r>
              <a:rPr lang="fr-FR" sz="2800" b="1" dirty="0" err="1" smtClean="0"/>
              <a:t>préchordale</a:t>
            </a:r>
            <a:endParaRPr lang="fr-FR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-56190" y="2539164"/>
            <a:ext cx="1218902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endParaRPr lang="fr-FR" sz="3200" b="1" dirty="0" smtClean="0">
              <a:solidFill>
                <a:srgbClr val="FF0000"/>
              </a:solidFill>
            </a:endParaRPr>
          </a:p>
          <a:p>
            <a:pPr marL="2960688" indent="-2960688"/>
            <a:r>
              <a:rPr lang="fr-FR" sz="2800" b="1" dirty="0" smtClean="0"/>
              <a:t>           Coupe longitudinale sagittale: Embryon âgé de19 jours            </a:t>
            </a:r>
          </a:p>
          <a:p>
            <a:pPr marL="2960688" indent="-2960688"/>
            <a:r>
              <a:rPr lang="fr-FR" sz="2800" b="1" dirty="0"/>
              <a:t> </a:t>
            </a:r>
            <a:r>
              <a:rPr lang="fr-FR" sz="2800" b="1" dirty="0" smtClean="0"/>
              <a:t>                                  Stade canal </a:t>
            </a:r>
            <a:r>
              <a:rPr lang="fr-FR" sz="2800" b="1" dirty="0"/>
              <a:t>chordal </a:t>
            </a:r>
            <a:r>
              <a:rPr lang="fr-FR" sz="2800" b="1" dirty="0" smtClean="0"/>
              <a:t>fissuré</a:t>
            </a:r>
          </a:p>
          <a:p>
            <a:pPr marL="2960688" indent="-2960688"/>
            <a:endParaRPr lang="fr-FR" sz="2800" b="1" dirty="0"/>
          </a:p>
          <a:p>
            <a:pPr marL="2960688" indent="-2960688"/>
            <a:r>
              <a:rPr lang="fr-FR" sz="2800" b="1" dirty="0" smtClean="0"/>
              <a:t>Des </a:t>
            </a:r>
            <a:r>
              <a:rPr lang="fr-FR" sz="2800" b="1" dirty="0"/>
              <a:t>fissurations apparaissent le long de la ligne  de </a:t>
            </a:r>
            <a:r>
              <a:rPr lang="fr-FR" sz="2800" b="1" dirty="0" smtClean="0"/>
              <a:t>soudure de</a:t>
            </a:r>
          </a:p>
          <a:p>
            <a:pPr marL="2960688" indent="-2960688"/>
            <a:r>
              <a:rPr lang="fr-FR" sz="2800" b="1" dirty="0" smtClean="0"/>
              <a:t> l’entoblaste </a:t>
            </a:r>
            <a:r>
              <a:rPr lang="fr-FR" sz="2800" b="1" dirty="0"/>
              <a:t>et le plancher du  canal cordal: </a:t>
            </a:r>
            <a:r>
              <a:rPr lang="fr-FR" sz="2800" b="1" dirty="0" smtClean="0"/>
              <a:t> </a:t>
            </a:r>
            <a:r>
              <a:rPr lang="fr-FR" sz="2800" b="1" dirty="0"/>
              <a:t>canal cordal fissuré.</a:t>
            </a:r>
          </a:p>
          <a:p>
            <a:pPr marL="2960688" indent="-2960688"/>
            <a:r>
              <a:rPr lang="fr-FR" sz="2800" b="1" dirty="0" smtClean="0"/>
              <a:t> </a:t>
            </a:r>
            <a:r>
              <a:rPr lang="fr-FR" sz="2800" b="1" dirty="0"/>
              <a:t>le plancher du  canal cordal disparait,Il n’en reste que</a:t>
            </a:r>
          </a:p>
          <a:p>
            <a:pPr marL="2960688" indent="-2960688"/>
            <a:r>
              <a:rPr lang="fr-FR" sz="2800" b="1" dirty="0"/>
              <a:t> le toit. </a:t>
            </a:r>
          </a:p>
          <a:p>
            <a:pPr marL="2960688" indent="-2960688"/>
            <a:r>
              <a:rPr lang="fr-FR" sz="2800" b="1" dirty="0" smtClean="0"/>
              <a:t> </a:t>
            </a:r>
            <a:r>
              <a:rPr lang="fr-FR" sz="2800" b="1" dirty="0"/>
              <a:t>La CA communique avec le LII  par un canal: </a:t>
            </a:r>
          </a:p>
          <a:p>
            <a:pPr marL="2960688" indent="-2960688"/>
            <a:r>
              <a:rPr lang="fr-FR" sz="2800" b="1" dirty="0"/>
              <a:t>le canal neurentérique.</a:t>
            </a:r>
          </a:p>
          <a:p>
            <a:pPr marL="2960688" indent="-2960688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556792"/>
            <a:ext cx="61912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3861048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41450" indent="-1441450"/>
            <a:r>
              <a:rPr lang="fr-FR" sz="3200" b="1" dirty="0" smtClean="0">
                <a:solidFill>
                  <a:srgbClr val="FF0000"/>
                </a:solidFill>
              </a:rPr>
              <a:t>     </a:t>
            </a:r>
            <a:r>
              <a:rPr lang="fr-FR" sz="2800" b="1" dirty="0" smtClean="0"/>
              <a:t>Coupe longitudinale sagittale: Embryon âgé de                20 jours stade gouttière chordale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4427984" y="908720"/>
            <a:ext cx="3081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Gouttière  chordale</a:t>
            </a:r>
            <a:endParaRPr lang="fr-FR" sz="2800" b="1" dirty="0"/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3779912" y="1628800"/>
            <a:ext cx="1728192" cy="64807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333190" y="5085184"/>
            <a:ext cx="85592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/>
              <a:t>Le toit du canal étant incurvé, formera une  gouttière:</a:t>
            </a:r>
            <a:r>
              <a:rPr lang="fr-FR" sz="28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gouttière chordale.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38615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gouttière chordale</a:t>
            </a:r>
            <a:endParaRPr lang="fr-FR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3514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Stade plaque chordale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980728"/>
            <a:ext cx="7344816" cy="2719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0" y="4725144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accent2"/>
                </a:solidFill>
              </a:rPr>
              <a:t> </a:t>
            </a:r>
            <a:r>
              <a:rPr lang="fr-FR" sz="2800" b="1" dirty="0" smtClean="0"/>
              <a:t>La gouttière  s’allonge sous forme d’une plaque allongée qui occupe la région médiane  du toit du LII, elle est continue à l’entoblaste</a:t>
            </a:r>
            <a:r>
              <a:rPr lang="fr-FR" sz="2800" b="1" dirty="0" smtClean="0">
                <a:solidFill>
                  <a:schemeClr val="accent2"/>
                </a:solidFill>
              </a:rPr>
              <a:t>:  </a:t>
            </a:r>
            <a:r>
              <a:rPr lang="fr-FR" sz="2800" dirty="0" smtClean="0">
                <a:solidFill>
                  <a:srgbClr val="00B0F0"/>
                </a:solidFill>
              </a:rPr>
              <a:t>plaque chordale </a:t>
            </a:r>
            <a:endParaRPr lang="fr-FR" sz="2800" dirty="0">
              <a:solidFill>
                <a:srgbClr val="00B0F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3212976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4100" indent="-2324100"/>
            <a:r>
              <a:rPr lang="fr-FR" sz="2800" b="1" dirty="0" smtClean="0"/>
              <a:t>Coupe longitudinale sagittale: Embryon âgé de 21 jours:  stade plaque chordale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3356992"/>
            <a:ext cx="440055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2276872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04975" indent="-1704975"/>
            <a:r>
              <a:rPr lang="fr-FR" sz="2800" b="1" dirty="0" smtClean="0">
                <a:solidFill>
                  <a:srgbClr val="FF0000"/>
                </a:solidFill>
              </a:rPr>
              <a:t>Coupe longitudinale sagittale: Embryon âgé de 22 jours:    Stade chorde pleine</a:t>
            </a:r>
            <a:endParaRPr lang="fr-FR" sz="2800" dirty="0"/>
          </a:p>
        </p:txBody>
      </p:sp>
      <p:sp>
        <p:nvSpPr>
          <p:cNvPr id="9" name="ZoneTexte 8"/>
          <p:cNvSpPr txBox="1"/>
          <p:nvPr/>
        </p:nvSpPr>
        <p:spPr>
          <a:xfrm>
            <a:off x="0" y="4653136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accent2"/>
                </a:solidFill>
              </a:rPr>
              <a:t> </a:t>
            </a:r>
            <a:r>
              <a:rPr lang="fr-FR" sz="2400" b="1" dirty="0" smtClean="0"/>
              <a:t>La plaque s’individualise en </a:t>
            </a:r>
            <a:r>
              <a:rPr lang="fr-FR" sz="2400" b="1" dirty="0" smtClean="0">
                <a:solidFill>
                  <a:schemeClr val="accent2"/>
                </a:solidFill>
              </a:rPr>
              <a:t>chorde pleine.</a:t>
            </a:r>
          </a:p>
          <a:p>
            <a:pPr>
              <a:buFont typeface="Wingdings" pitchFamily="2" charset="2"/>
              <a:buChar char="q"/>
            </a:pPr>
            <a:r>
              <a:rPr lang="fr-FR" sz="2400" b="1" dirty="0" smtClean="0"/>
              <a:t>Vers le 22ème jour la plaque chordale se détache  de l’entoblaste et ce dernier rétablit sa continuité.</a:t>
            </a:r>
          </a:p>
          <a:p>
            <a:pPr>
              <a:buFont typeface="Wingdings" pitchFamily="2" charset="2"/>
              <a:buChar char="q"/>
            </a:pPr>
            <a:endParaRPr lang="fr-FR" sz="2400" b="1" dirty="0" smtClean="0"/>
          </a:p>
          <a:p>
            <a:pPr>
              <a:buFont typeface="Wingdings" pitchFamily="2" charset="2"/>
              <a:buChar char="q"/>
            </a:pPr>
            <a:r>
              <a:rPr lang="fr-FR" sz="2400" b="1" dirty="0" smtClean="0"/>
              <a:t> Le toit de la chorde est en contact avec l’ectoblaste  et son plancher est posé sur l’entoblaste.</a:t>
            </a:r>
          </a:p>
          <a:p>
            <a:r>
              <a:rPr lang="fr-FR" sz="2400" b="1" dirty="0" smtClean="0">
                <a:solidFill>
                  <a:schemeClr val="accent2"/>
                </a:solidFill>
              </a:rPr>
              <a:t> </a:t>
            </a:r>
            <a:endParaRPr lang="fr-FR" sz="2400" b="1" dirty="0">
              <a:solidFill>
                <a:schemeClr val="accent2"/>
              </a:solidFill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2657"/>
            <a:ext cx="8640960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Connecteur droit avec flèche 10"/>
          <p:cNvCxnSpPr/>
          <p:nvPr/>
        </p:nvCxnSpPr>
        <p:spPr>
          <a:xfrm>
            <a:off x="3275856" y="764704"/>
            <a:ext cx="0" cy="259228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0" y="0"/>
            <a:ext cx="3228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 Stade chorde pleine</a:t>
            </a:r>
            <a:endParaRPr lang="fr-FR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548680"/>
            <a:ext cx="7632848" cy="59766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36732" cy="10926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/>
            <a:r>
              <a:rPr lang="fr-FR" sz="2800" b="1" dirty="0" smtClean="0">
                <a:solidFill>
                  <a:srgbClr val="0070C0"/>
                </a:solidFill>
              </a:rPr>
              <a:t>Apparition des ébauches vasculaires:</a:t>
            </a:r>
            <a:r>
              <a:rPr lang="fr-FR" sz="2800" dirty="0" smtClean="0">
                <a:solidFill>
                  <a:srgbClr val="0070C0"/>
                </a:solidFill>
              </a:rPr>
              <a:t>17</a:t>
            </a:r>
            <a:r>
              <a:rPr lang="fr-FR" sz="2800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dirty="0" smtClean="0">
                <a:solidFill>
                  <a:srgbClr val="0070C0"/>
                </a:solidFill>
              </a:rPr>
              <a:t>jour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endParaRPr lang="fr-FR" sz="3600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fr-FR" sz="3600" b="1" dirty="0" smtClean="0">
              <a:solidFill>
                <a:srgbClr val="FF0000"/>
              </a:solidFill>
            </a:endParaRPr>
          </a:p>
          <a:p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             </a:t>
            </a:r>
            <a:r>
              <a:rPr lang="fr-FR" sz="2800" b="1" dirty="0" smtClean="0"/>
              <a:t>Zone angiogène</a:t>
            </a:r>
          </a:p>
          <a:p>
            <a:r>
              <a:rPr lang="fr-FR" sz="2800" b="1" dirty="0" smtClean="0"/>
              <a:t>                                                                Ilots de Wolff et Pander</a:t>
            </a:r>
          </a:p>
          <a:p>
            <a:r>
              <a:rPr lang="fr-FR" sz="2800" b="1" dirty="0" smtClean="0"/>
              <a:t>                                            </a:t>
            </a:r>
          </a:p>
          <a:p>
            <a:r>
              <a:rPr lang="fr-FR" sz="2800" b="1" dirty="0" smtClean="0"/>
              <a:t>                                                                     Réseau vasculaire </a:t>
            </a:r>
          </a:p>
          <a:p>
            <a:r>
              <a:rPr lang="fr-FR" sz="2800" b="1" dirty="0" smtClean="0"/>
              <a:t>                                                                  de la   lame choriale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Ilots </a:t>
            </a:r>
            <a:r>
              <a:rPr lang="fr-FR" sz="2800" b="1" dirty="0">
                <a:solidFill>
                  <a:srgbClr val="0070C0"/>
                </a:solidFill>
              </a:rPr>
              <a:t>de Wolff et Pander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Cellules </a:t>
            </a:r>
            <a:r>
              <a:rPr lang="fr-FR" sz="2800" b="1" dirty="0">
                <a:solidFill>
                  <a:srgbClr val="0070C0"/>
                </a:solidFill>
              </a:rPr>
              <a:t>sanguines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Zone </a:t>
            </a:r>
            <a:r>
              <a:rPr lang="fr-FR" sz="2800" b="1" dirty="0">
                <a:solidFill>
                  <a:srgbClr val="0070C0"/>
                </a:solidFill>
              </a:rPr>
              <a:t>angiogène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Circulation  </a:t>
            </a:r>
            <a:r>
              <a:rPr lang="fr-FR" sz="2800" b="1" dirty="0">
                <a:solidFill>
                  <a:srgbClr val="0070C0"/>
                </a:solidFill>
              </a:rPr>
              <a:t>allantoïdienne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                     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 Cordon </a:t>
            </a:r>
            <a:r>
              <a:rPr lang="fr-FR" sz="2800" b="1" dirty="0">
                <a:solidFill>
                  <a:srgbClr val="0070C0"/>
                </a:solidFill>
              </a:rPr>
              <a:t>ombilical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Réseau </a:t>
            </a:r>
            <a:r>
              <a:rPr lang="fr-FR" sz="2800" b="1" dirty="0">
                <a:solidFill>
                  <a:srgbClr val="0070C0"/>
                </a:solidFill>
              </a:rPr>
              <a:t>vasculaire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Réseau vasculaire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de </a:t>
            </a:r>
            <a:r>
              <a:rPr lang="fr-FR" sz="2800" b="1" dirty="0">
                <a:solidFill>
                  <a:srgbClr val="0070C0"/>
                </a:solidFill>
              </a:rPr>
              <a:t>la lame choriale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             du </a:t>
            </a:r>
            <a:r>
              <a:rPr lang="fr-FR" sz="2800" b="1" dirty="0">
                <a:solidFill>
                  <a:srgbClr val="0070C0"/>
                </a:solidFill>
              </a:rPr>
              <a:t>placenta 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endParaRPr lang="fr-FR" sz="3600" b="1" dirty="0" smtClean="0">
              <a:solidFill>
                <a:srgbClr val="FF0000"/>
              </a:solidFill>
            </a:endParaRPr>
          </a:p>
          <a:p>
            <a:endParaRPr lang="fr-FR" sz="3600" b="1" dirty="0">
              <a:solidFill>
                <a:srgbClr val="FF0000"/>
              </a:solidFill>
            </a:endParaRPr>
          </a:p>
          <a:p>
            <a:r>
              <a:rPr lang="fr-FR" sz="3600" b="1" dirty="0" smtClean="0">
                <a:solidFill>
                  <a:srgbClr val="FF0000"/>
                </a:solidFill>
              </a:rPr>
              <a:t>                                          </a:t>
            </a:r>
          </a:p>
          <a:p>
            <a:endParaRPr lang="fr-FR" sz="3600" b="1" dirty="0">
              <a:solidFill>
                <a:srgbClr val="FF0000"/>
              </a:solidFill>
            </a:endParaRPr>
          </a:p>
        </p:txBody>
      </p:sp>
      <p:pic>
        <p:nvPicPr>
          <p:cNvPr id="3" name="Image 2" descr="Localisation des ébauches vasculaires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4080" y="1052736"/>
            <a:ext cx="4562522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Connecteur droit avec flèche 3"/>
          <p:cNvCxnSpPr/>
          <p:nvPr/>
        </p:nvCxnSpPr>
        <p:spPr>
          <a:xfrm flipH="1">
            <a:off x="3779912" y="2132856"/>
            <a:ext cx="190821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2915816" y="2636912"/>
            <a:ext cx="2533744" cy="72008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>
            <a:off x="1763688" y="3356992"/>
            <a:ext cx="3706994" cy="2160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36" y="4586073"/>
            <a:ext cx="755970" cy="13412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037" y="5067692"/>
            <a:ext cx="755970" cy="134124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449" y="5810210"/>
            <a:ext cx="755970" cy="134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6564746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Formation de l’Allantoïde: </a:t>
            </a:r>
            <a:r>
              <a:rPr lang="fr-FR" sz="2800" dirty="0" smtClean="0">
                <a:solidFill>
                  <a:srgbClr val="0070C0"/>
                </a:solidFill>
              </a:rPr>
              <a:t>18</a:t>
            </a:r>
            <a:r>
              <a:rPr lang="fr-FR" sz="2800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dirty="0" smtClean="0">
                <a:solidFill>
                  <a:srgbClr val="0070C0"/>
                </a:solidFill>
              </a:rPr>
              <a:t>  </a:t>
            </a:r>
            <a:r>
              <a:rPr lang="fr-FR" sz="2800" dirty="0">
                <a:solidFill>
                  <a:srgbClr val="0070C0"/>
                </a:solidFill>
              </a:rPr>
              <a:t>jour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r>
              <a:rPr lang="fr-FR" sz="3200" b="1" dirty="0" smtClean="0">
                <a:solidFill>
                  <a:srgbClr val="00B050"/>
                </a:solidFill>
              </a:rPr>
              <a:t>  </a:t>
            </a:r>
            <a:r>
              <a:rPr lang="fr-FR" sz="2800" b="1" dirty="0" smtClean="0"/>
              <a:t>Évagination du toit du LII en doigt de gant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</a:t>
            </a:r>
          </a:p>
          <a:p>
            <a:r>
              <a:rPr lang="fr-FR" sz="2800" b="1" dirty="0" smtClean="0"/>
              <a:t>                          Allantoïde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             </a:t>
            </a:r>
          </a:p>
          <a:p>
            <a:r>
              <a:rPr lang="fr-FR" sz="2800" b="1" dirty="0" smtClean="0"/>
              <a:t> </a:t>
            </a:r>
            <a:r>
              <a:rPr lang="fr-FR" sz="2800" b="1" dirty="0"/>
              <a:t>Cordon </a:t>
            </a:r>
            <a:r>
              <a:rPr lang="fr-FR" sz="2800" b="1" dirty="0" smtClean="0"/>
              <a:t>ombilical       Ébauches </a:t>
            </a:r>
            <a:r>
              <a:rPr lang="fr-FR" sz="2800" b="1" dirty="0"/>
              <a:t>vessie </a:t>
            </a:r>
          </a:p>
          <a:p>
            <a:r>
              <a:rPr lang="fr-FR" sz="2800" b="1" dirty="0"/>
              <a:t>                        </a:t>
            </a:r>
            <a:r>
              <a:rPr lang="fr-FR" sz="2800" b="1" dirty="0" smtClean="0"/>
              <a:t>                      et </a:t>
            </a:r>
            <a:r>
              <a:rPr lang="fr-FR" sz="2800" b="1" dirty="0"/>
              <a:t>urètre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                                   </a:t>
            </a:r>
          </a:p>
          <a:p>
            <a:r>
              <a:rPr lang="fr-FR" sz="2800" b="1" dirty="0" smtClean="0"/>
              <a:t>      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</a:t>
            </a:r>
            <a:endParaRPr lang="fr-FR" sz="2800" b="1" dirty="0"/>
          </a:p>
        </p:txBody>
      </p:sp>
      <p:pic>
        <p:nvPicPr>
          <p:cNvPr id="3" name="Image 2" descr="Apparition de l'allantoïd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2132856"/>
            <a:ext cx="3018852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lèche droite 3"/>
          <p:cNvSpPr/>
          <p:nvPr/>
        </p:nvSpPr>
        <p:spPr>
          <a:xfrm rot="5400000">
            <a:off x="1475656" y="2657041"/>
            <a:ext cx="648072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5400000">
            <a:off x="3530395" y="2657041"/>
            <a:ext cx="648072" cy="72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726300" cy="6678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Apparition des Cellules germinales primitives: </a:t>
            </a:r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2800" dirty="0" smtClean="0"/>
              <a:t>20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jour</a:t>
            </a:r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b="1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pPr>
              <a:buFont typeface="Wingdings" pitchFamily="2" charset="2"/>
              <a:buChar char="Ø"/>
            </a:pPr>
            <a:endParaRPr lang="fr-FR" sz="3200" dirty="0" smtClean="0"/>
          </a:p>
          <a:p>
            <a:pPr>
              <a:buFont typeface="Wingdings" pitchFamily="2" charset="2"/>
              <a:buChar char="Ø"/>
            </a:pPr>
            <a:endParaRPr lang="fr-FR" sz="3200" dirty="0"/>
          </a:p>
          <a:p>
            <a:endParaRPr lang="fr-FR" sz="2800" b="1" dirty="0" smtClean="0"/>
          </a:p>
          <a:p>
            <a:r>
              <a:rPr lang="fr-FR" sz="2800" b="1" dirty="0" smtClean="0"/>
              <a:t>Cellules volumineuses: </a:t>
            </a:r>
            <a:r>
              <a:rPr lang="fr-FR" sz="2800" b="1" dirty="0" smtClean="0">
                <a:solidFill>
                  <a:srgbClr val="00B0F0"/>
                </a:solidFill>
              </a:rPr>
              <a:t>Gonocytes primordiaux</a:t>
            </a:r>
          </a:p>
          <a:p>
            <a:r>
              <a:rPr lang="fr-FR" sz="2800" b="1" dirty="0" smtClean="0"/>
              <a:t>migrent</a:t>
            </a:r>
            <a:r>
              <a:rPr lang="fr-FR" sz="2800" b="1" dirty="0"/>
              <a:t>, à la 5</a:t>
            </a:r>
            <a:r>
              <a:rPr lang="fr-FR" sz="2800" b="1" baseline="30000" dirty="0"/>
              <a:t>e</a:t>
            </a:r>
            <a:r>
              <a:rPr lang="fr-FR" sz="2800" b="1" dirty="0"/>
              <a:t> semaine </a:t>
            </a:r>
            <a:r>
              <a:rPr lang="fr-FR" sz="2800" b="1" dirty="0" smtClean="0"/>
              <a:t>pour coloniser </a:t>
            </a:r>
            <a:r>
              <a:rPr lang="fr-FR" sz="2800" b="1" dirty="0"/>
              <a:t>les </a:t>
            </a:r>
            <a:endParaRPr lang="fr-FR" sz="2800" b="1" dirty="0" smtClean="0"/>
          </a:p>
          <a:p>
            <a:r>
              <a:rPr lang="fr-FR" sz="2800" b="1" dirty="0" smtClean="0"/>
              <a:t>ébauches des gonades: sont à </a:t>
            </a:r>
            <a:r>
              <a:rPr lang="fr-FR" sz="2800" b="1" dirty="0"/>
              <a:t>l'origine </a:t>
            </a:r>
            <a:r>
              <a:rPr lang="fr-FR" sz="2800" b="1" dirty="0" smtClean="0"/>
              <a:t>des gamètes</a:t>
            </a:r>
            <a:endParaRPr lang="fr-FR" sz="2800" b="1" dirty="0"/>
          </a:p>
          <a:p>
            <a:r>
              <a:rPr lang="fr-FR" sz="2800" dirty="0"/>
              <a:t> </a:t>
            </a:r>
          </a:p>
          <a:p>
            <a:r>
              <a:rPr lang="fr-FR" sz="3200" dirty="0" smtClean="0"/>
              <a:t> </a:t>
            </a:r>
            <a:endParaRPr lang="fr-FR" sz="3200" b="1" dirty="0">
              <a:solidFill>
                <a:srgbClr val="FF0000"/>
              </a:solidFill>
            </a:endParaRPr>
          </a:p>
        </p:txBody>
      </p:sp>
      <p:pic>
        <p:nvPicPr>
          <p:cNvPr id="3" name="Image 2" descr="Apparition des gonocytes primordiaux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628800"/>
            <a:ext cx="5328592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79512" y="-963488"/>
            <a:ext cx="99005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                 </a:t>
            </a:r>
            <a:endParaRPr lang="fr-FR" sz="3200" b="1" dirty="0"/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Début de la neurulation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2800" dirty="0" smtClean="0"/>
              <a:t>L’ectoblaste donne deux ensembles cellulaires distincts: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/>
              <a:t>le neurectoblaste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Tube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neural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/>
              <a:t>l'épiblaste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Reste de l'ectoblaste </a:t>
            </a:r>
            <a:r>
              <a:rPr lang="fr-FR" sz="2800" dirty="0" smtClean="0">
                <a:solidFill>
                  <a:srgbClr val="00B0F0"/>
                </a:solidFill>
              </a:rPr>
              <a:t>    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 </a:t>
            </a:r>
            <a:r>
              <a:rPr lang="fr-FR" sz="2800" dirty="0" smtClean="0"/>
              <a:t>Mieux mise en évidence sur coupes  transversales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/>
              <a:t> </a:t>
            </a:r>
            <a:r>
              <a:rPr lang="fr-FR" sz="2800" dirty="0" smtClean="0"/>
              <a:t> Comprend </a:t>
            </a:r>
            <a:r>
              <a:rPr lang="fr-FR" sz="2800" dirty="0"/>
              <a:t>plusieurs stades:</a:t>
            </a:r>
          </a:p>
          <a:p>
            <a:pPr>
              <a:buFont typeface="Wingdings" pitchFamily="2" charset="2"/>
              <a:buChar char="§"/>
            </a:pPr>
            <a:endParaRPr lang="fr-FR" sz="2800" dirty="0" smtClean="0"/>
          </a:p>
          <a:p>
            <a:endParaRPr lang="fr-FR" sz="2800" b="1" dirty="0" smtClean="0"/>
          </a:p>
          <a:p>
            <a:endParaRPr lang="fr-FR" sz="3200" b="1" dirty="0"/>
          </a:p>
        </p:txBody>
      </p:sp>
      <p:cxnSp>
        <p:nvCxnSpPr>
          <p:cNvPr id="4" name="Connecteur droit avec flèche 3"/>
          <p:cNvCxnSpPr/>
          <p:nvPr/>
        </p:nvCxnSpPr>
        <p:spPr>
          <a:xfrm>
            <a:off x="3491572" y="1268760"/>
            <a:ext cx="10801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572" y="1639385"/>
            <a:ext cx="1194920" cy="23166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250199"/>
            <a:ext cx="1800200" cy="259102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855" y="3282206"/>
            <a:ext cx="7128792" cy="334715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19" y="3645362"/>
            <a:ext cx="426929" cy="1800697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2864656" y="3050143"/>
            <a:ext cx="4731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Crêtes neurales     Berges neurales</a:t>
            </a:r>
            <a:endParaRPr lang="fr-FR" sz="2000" b="1" dirty="0"/>
          </a:p>
        </p:txBody>
      </p:sp>
      <p:cxnSp>
        <p:nvCxnSpPr>
          <p:cNvPr id="15" name="Connecteur droit avec flèche 14"/>
          <p:cNvCxnSpPr/>
          <p:nvPr/>
        </p:nvCxnSpPr>
        <p:spPr>
          <a:xfrm flipH="1">
            <a:off x="5129808" y="3229052"/>
            <a:ext cx="635443" cy="6680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768" y="3414072"/>
            <a:ext cx="743776" cy="7803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975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>
                <a:solidFill>
                  <a:srgbClr val="0070C0"/>
                </a:solidFill>
              </a:rPr>
              <a:t>plaque neurale: 18ème jour</a:t>
            </a:r>
          </a:p>
          <a:p>
            <a:r>
              <a:rPr lang="fr-FR" sz="2800" dirty="0" smtClean="0"/>
              <a:t>épaississement du  neurectoblaste sous forme d'une raquette  renflée en avant: </a:t>
            </a:r>
            <a:r>
              <a:rPr lang="fr-FR" sz="2800" b="1" dirty="0" smtClean="0">
                <a:solidFill>
                  <a:srgbClr val="00B050"/>
                </a:solidFill>
              </a:rPr>
              <a:t>Plaque neurale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Stade </a:t>
            </a:r>
            <a:r>
              <a:rPr lang="fr-FR" sz="2800" b="1" dirty="0">
                <a:solidFill>
                  <a:srgbClr val="0070C0"/>
                </a:solidFill>
              </a:rPr>
              <a:t>gouttière neurale: 19ème jour</a:t>
            </a:r>
          </a:p>
          <a:p>
            <a:r>
              <a:rPr lang="fr-FR" sz="3200" b="1" dirty="0"/>
              <a:t> </a:t>
            </a:r>
            <a:r>
              <a:rPr lang="fr-FR" sz="2800" dirty="0"/>
              <a:t>Les bords latéraux de la  plaque neurale  se relèvent transformant la plaque en: gouttière neurale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Stade tube </a:t>
            </a:r>
            <a:r>
              <a:rPr lang="fr-FR" sz="2800" b="1" dirty="0" smtClean="0">
                <a:solidFill>
                  <a:srgbClr val="0070C0"/>
                </a:solidFill>
              </a:rPr>
              <a:t>neural: </a:t>
            </a:r>
            <a:r>
              <a:rPr lang="fr-FR" sz="2800" b="1" dirty="0">
                <a:solidFill>
                  <a:srgbClr val="0070C0"/>
                </a:solidFill>
              </a:rPr>
              <a:t>(début: 21ème jour)</a:t>
            </a:r>
          </a:p>
          <a:p>
            <a:r>
              <a:rPr lang="fr-FR" sz="2800" dirty="0" smtClean="0"/>
              <a:t>les </a:t>
            </a:r>
            <a:r>
              <a:rPr lang="fr-FR" sz="2800" dirty="0"/>
              <a:t>bords de la gouttière  se rejoignent et  fusionnent  par points formant un tube:  tube neural</a:t>
            </a:r>
          </a:p>
          <a:p>
            <a:r>
              <a:rPr lang="fr-FR" sz="2800" dirty="0" smtClean="0"/>
              <a:t>                      </a:t>
            </a:r>
          </a:p>
          <a:p>
            <a:endParaRPr lang="fr-FR" sz="3200" b="1" dirty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                                   </a:t>
            </a: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           C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6632"/>
            <a:ext cx="3528392" cy="367240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92"/>
            <a:ext cx="3534147" cy="400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8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907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Début de la métamerisation  </a:t>
            </a:r>
            <a:r>
              <a:rPr lang="fr-FR" sz="2800" b="1" dirty="0">
                <a:solidFill>
                  <a:srgbClr val="0070C0"/>
                </a:solidFill>
              </a:rPr>
              <a:t>(mésoblaste issu de la ligne </a:t>
            </a:r>
            <a:r>
              <a:rPr lang="fr-FR" sz="2800" b="1" dirty="0" smtClean="0">
                <a:solidFill>
                  <a:srgbClr val="0070C0"/>
                </a:solidFill>
              </a:rPr>
              <a:t>primitive) 19 – 21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  <a:endParaRPr lang="fr-FR" sz="2800" b="1" dirty="0">
              <a:solidFill>
                <a:srgbClr val="0070C0"/>
              </a:solidFill>
            </a:endParaRPr>
          </a:p>
        </p:txBody>
      </p:sp>
      <p:pic>
        <p:nvPicPr>
          <p:cNvPr id="3" name="Image 2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204864"/>
            <a:ext cx="7704856" cy="2519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179512" y="5013176"/>
            <a:ext cx="42627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</a:t>
            </a:r>
            <a:r>
              <a:rPr lang="fr-FR" sz="2800" b="1" dirty="0" smtClean="0">
                <a:solidFill>
                  <a:srgbClr val="00B0F0"/>
                </a:solidFill>
              </a:rPr>
              <a:t>ésoblaste para-axial</a:t>
            </a:r>
          </a:p>
          <a:p>
            <a:pPr>
              <a:buFontTx/>
              <a:buChar char="-"/>
            </a:pPr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intermédiaire</a:t>
            </a:r>
          </a:p>
          <a:p>
            <a:pPr>
              <a:buFontTx/>
              <a:buChar char="-"/>
            </a:pPr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Mésoblaste latéral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99592" y="4725144"/>
            <a:ext cx="18473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pe transversal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539" y="188640"/>
            <a:ext cx="7272808" cy="3888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4005064"/>
            <a:ext cx="970150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Mésoblaste para-axial                 </a:t>
            </a:r>
            <a:r>
              <a:rPr lang="fr-FR" sz="3200" b="1" dirty="0" smtClean="0"/>
              <a:t>Somites</a:t>
            </a:r>
          </a:p>
          <a:p>
            <a:pPr>
              <a:buFontTx/>
              <a:buChar char="-"/>
            </a:pPr>
            <a:r>
              <a:rPr lang="fr-FR" sz="3200" b="1" dirty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Mésoblaste intermédiaire </a:t>
            </a:r>
            <a:r>
              <a:rPr lang="fr-FR" sz="3200" b="1" dirty="0" smtClean="0"/>
              <a:t>          </a:t>
            </a:r>
            <a:r>
              <a:rPr lang="fr-FR" sz="3200" b="1" dirty="0" err="1" smtClean="0"/>
              <a:t>Nephrotomes</a:t>
            </a:r>
            <a:endParaRPr lang="fr-FR" sz="3200" b="1" dirty="0" smtClean="0"/>
          </a:p>
          <a:p>
            <a:r>
              <a:rPr lang="fr-FR" sz="3200" b="1" dirty="0" smtClean="0"/>
              <a:t>                                        </a:t>
            </a:r>
            <a:r>
              <a:rPr lang="fr-FR" sz="3200" b="1" dirty="0" err="1" smtClean="0"/>
              <a:t>Somatopleure</a:t>
            </a:r>
            <a:r>
              <a:rPr lang="fr-FR" sz="3200" b="1" dirty="0" smtClean="0"/>
              <a:t> Intra-</a:t>
            </a:r>
            <a:r>
              <a:rPr lang="fr-FR" sz="3200" b="1" dirty="0" err="1" smtClean="0"/>
              <a:t>Emb</a:t>
            </a:r>
            <a:r>
              <a:rPr lang="fr-FR" sz="3200" b="1" dirty="0" smtClean="0"/>
              <a:t>(</a:t>
            </a:r>
            <a:r>
              <a:rPr lang="fr-FR" sz="3200" b="1" dirty="0" err="1" smtClean="0"/>
              <a:t>SoP</a:t>
            </a:r>
            <a:r>
              <a:rPr lang="fr-FR" sz="3200" b="1" dirty="0" smtClean="0"/>
              <a:t>) </a:t>
            </a:r>
          </a:p>
          <a:p>
            <a:pPr>
              <a:buFontTx/>
              <a:buChar char="-"/>
            </a:pPr>
            <a:r>
              <a:rPr lang="fr-FR" sz="3200" b="1" dirty="0" smtClean="0">
                <a:solidFill>
                  <a:srgbClr val="00B0F0"/>
                </a:solidFill>
              </a:rPr>
              <a:t>Mésoblaste latéral          </a:t>
            </a:r>
            <a:r>
              <a:rPr lang="fr-FR" sz="3200" b="1" dirty="0" smtClean="0">
                <a:solidFill>
                  <a:srgbClr val="0070C0"/>
                </a:solidFill>
              </a:rPr>
              <a:t>Cœlome Intra-Emb (CIE)         </a:t>
            </a:r>
          </a:p>
          <a:p>
            <a:r>
              <a:rPr lang="fr-FR" sz="3200" b="1" dirty="0" smtClean="0"/>
              <a:t>                                       </a:t>
            </a:r>
            <a:r>
              <a:rPr lang="fr-FR" sz="3200" b="1" dirty="0" err="1" smtClean="0"/>
              <a:t>Splanchnopleure</a:t>
            </a:r>
            <a:r>
              <a:rPr lang="fr-FR" sz="3200" b="1" dirty="0" smtClean="0"/>
              <a:t> Intra-</a:t>
            </a:r>
            <a:r>
              <a:rPr lang="fr-FR" sz="3200" b="1" dirty="0" err="1" smtClean="0"/>
              <a:t>Emb</a:t>
            </a:r>
            <a:r>
              <a:rPr lang="fr-FR" sz="3200" b="1" dirty="0" smtClean="0"/>
              <a:t>(</a:t>
            </a:r>
            <a:r>
              <a:rPr lang="fr-FR" sz="3200" b="1" dirty="0" err="1" smtClean="0"/>
              <a:t>SpP</a:t>
            </a:r>
            <a:r>
              <a:rPr lang="fr-FR" sz="3200" b="1" dirty="0" smtClean="0"/>
              <a:t>)</a:t>
            </a:r>
            <a:endParaRPr lang="fr-FR" sz="3200" b="1" dirty="0"/>
          </a:p>
        </p:txBody>
      </p:sp>
      <p:sp>
        <p:nvSpPr>
          <p:cNvPr id="4" name="Flèche droite 3"/>
          <p:cNvSpPr/>
          <p:nvPr/>
        </p:nvSpPr>
        <p:spPr>
          <a:xfrm>
            <a:off x="4788024" y="4725144"/>
            <a:ext cx="69037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 rot="1118812">
            <a:off x="2636640" y="6100025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droite 6"/>
          <p:cNvSpPr/>
          <p:nvPr/>
        </p:nvSpPr>
        <p:spPr>
          <a:xfrm rot="19924451">
            <a:off x="2693412" y="5229707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763688" y="908720"/>
            <a:ext cx="216024" cy="86409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èche droite 12"/>
          <p:cNvSpPr/>
          <p:nvPr/>
        </p:nvSpPr>
        <p:spPr>
          <a:xfrm>
            <a:off x="4283968" y="4221088"/>
            <a:ext cx="978408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1547664" y="2852936"/>
            <a:ext cx="360040" cy="28803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971600" y="2276872"/>
            <a:ext cx="864096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79512" y="1988840"/>
            <a:ext cx="712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CIE</a:t>
            </a:r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22388</TotalTime>
  <Words>999</Words>
  <Application>Microsoft Office PowerPoint</Application>
  <PresentationFormat>Affichage à l'écran (4:3)</PresentationFormat>
  <Paragraphs>285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51</cp:revision>
  <dcterms:created xsi:type="dcterms:W3CDTF">2014-12-02T20:44:30Z</dcterms:created>
  <dcterms:modified xsi:type="dcterms:W3CDTF">2023-12-04T17:05:00Z</dcterms:modified>
</cp:coreProperties>
</file>