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0" r:id="rId1"/>
  </p:sldMasterIdLst>
  <p:notesMasterIdLst>
    <p:notesMasterId r:id="rId40"/>
  </p:notesMasterIdLst>
  <p:sldIdLst>
    <p:sldId id="326" r:id="rId2"/>
    <p:sldId id="343" r:id="rId3"/>
    <p:sldId id="327" r:id="rId4"/>
    <p:sldId id="329" r:id="rId5"/>
    <p:sldId id="328" r:id="rId6"/>
    <p:sldId id="330" r:id="rId7"/>
    <p:sldId id="331" r:id="rId8"/>
    <p:sldId id="332" r:id="rId9"/>
    <p:sldId id="333" r:id="rId10"/>
    <p:sldId id="335" r:id="rId11"/>
    <p:sldId id="270" r:id="rId12"/>
    <p:sldId id="345" r:id="rId13"/>
    <p:sldId id="271" r:id="rId14"/>
    <p:sldId id="272" r:id="rId15"/>
    <p:sldId id="342" r:id="rId16"/>
    <p:sldId id="284" r:id="rId17"/>
    <p:sldId id="340" r:id="rId18"/>
    <p:sldId id="281" r:id="rId19"/>
    <p:sldId id="282" r:id="rId20"/>
    <p:sldId id="319" r:id="rId21"/>
    <p:sldId id="314" r:id="rId22"/>
    <p:sldId id="315" r:id="rId23"/>
    <p:sldId id="316" r:id="rId24"/>
    <p:sldId id="317" r:id="rId25"/>
    <p:sldId id="318" r:id="rId26"/>
    <p:sldId id="337" r:id="rId27"/>
    <p:sldId id="338" r:id="rId28"/>
    <p:sldId id="344" r:id="rId29"/>
    <p:sldId id="320" r:id="rId30"/>
    <p:sldId id="322" r:id="rId31"/>
    <p:sldId id="296" r:id="rId32"/>
    <p:sldId id="297" r:id="rId33"/>
    <p:sldId id="299" r:id="rId34"/>
    <p:sldId id="300" r:id="rId35"/>
    <p:sldId id="298" r:id="rId36"/>
    <p:sldId id="301" r:id="rId37"/>
    <p:sldId id="303" r:id="rId38"/>
    <p:sldId id="305" r:id="rId3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43" autoAdjust="0"/>
  </p:normalViewPr>
  <p:slideViewPr>
    <p:cSldViewPr>
      <p:cViewPr varScale="1">
        <p:scale>
          <a:sx n="81" d="100"/>
          <a:sy n="81" d="100"/>
        </p:scale>
        <p:origin x="102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F6AC8-22A0-4347-AAA0-D2BF06A057F1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B848D-6FC9-4274-A270-6DAE05A5700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010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462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EB848D-6FC9-4274-A270-6DAE05A57004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684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01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205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7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04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471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16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951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01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5307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6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50C34-9AF1-472F-9926-446E8CA8DD28}" type="datetimeFigureOut">
              <a:rPr lang="fr-FR" smtClean="0"/>
              <a:pPr/>
              <a:t>25/09/2024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F667B-4925-4ABE-90D7-9EA37533C9E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77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fr.wikipedia.org/wiki/Gam%C3%A8te" TargetMode="External"/><Relationship Id="rId3" Type="http://schemas.openxmlformats.org/officeDocument/2006/relationships/hyperlink" Target="https://fr.wikipedia.org/wiki/Testicule" TargetMode="External"/><Relationship Id="rId7" Type="http://schemas.openxmlformats.org/officeDocument/2006/relationships/hyperlink" Target="https://fr.wikipedia.org/wiki/Chromosome" TargetMode="External"/><Relationship Id="rId2" Type="http://schemas.openxmlformats.org/officeDocument/2006/relationships/hyperlink" Target="https://fr.wikipedia.org/wiki/Spermatozo%C3%AFde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fr.wikipedia.org/wiki/Diplo%C3%AFde" TargetMode="External"/><Relationship Id="rId5" Type="http://schemas.openxmlformats.org/officeDocument/2006/relationships/hyperlink" Target="https://fr.wikipedia.org/wiki/Cellule_souche" TargetMode="External"/><Relationship Id="rId4" Type="http://schemas.openxmlformats.org/officeDocument/2006/relationships/hyperlink" Target="https://fr.wikipedia.org/wiki/Spermatogonie" TargetMode="External"/><Relationship Id="rId9" Type="http://schemas.openxmlformats.org/officeDocument/2006/relationships/hyperlink" Target="https://fr.wikipedia.org/wiki/Haplo%C3%AFd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Syst%C3%A8me_reproducteur" TargetMode="External"/><Relationship Id="rId2" Type="http://schemas.openxmlformats.org/officeDocument/2006/relationships/hyperlink" Target="https://fr.wikipedia.org/wiki/Canal_de_Wolf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r.wikipedia.org/wiki/Appareil_g%C3%A9nital" TargetMode="External"/><Relationship Id="rId4" Type="http://schemas.openxmlformats.org/officeDocument/2006/relationships/hyperlink" Target="https://fr.wikipedia.org/wiki/Embryon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fr.wikipedia.org/wiki/Testost%C3%A9rone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068" y="-37604"/>
            <a:ext cx="8747396" cy="65556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chemeClr val="bg2"/>
                </a:solidFill>
              </a:rPr>
              <a:t>                 </a:t>
            </a:r>
            <a:r>
              <a:rPr lang="fr-FR" sz="2800" b="1" dirty="0" smtClean="0"/>
              <a:t>MODULE  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 smtClean="0"/>
              <a:t>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SPERMATOGENESE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</a:t>
            </a:r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PR HANNACHI-HECINI A</a:t>
            </a:r>
            <a:endParaRPr lang="fr-FR" sz="2800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857375"/>
            <a:ext cx="3744416" cy="314325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66" y="1836234"/>
            <a:ext cx="4191000" cy="3143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556048" y="2429272"/>
            <a:ext cx="5104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11560" y="0"/>
            <a:ext cx="7772400" cy="252028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-20615" y="382558"/>
            <a:ext cx="7638951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Définition</a:t>
            </a:r>
          </a:p>
          <a:p>
            <a:pPr marL="571500" indent="-571500"/>
            <a:endParaRPr lang="fr-FR" sz="2800" dirty="0" smtClean="0">
              <a:cs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 Processus de production des </a:t>
            </a:r>
            <a:r>
              <a:rPr lang="fr-FR" sz="2800" u="sng" dirty="0" smtClean="0">
                <a:cs typeface="Calibri" panose="020F0502020204030204" pitchFamily="34" charset="0"/>
                <a:hlinkClick r:id="rId2" tooltip="Spermatozoïde"/>
              </a:rPr>
              <a:t>spermatozoïdes</a:t>
            </a:r>
            <a:r>
              <a:rPr lang="fr-FR" sz="2800" u="sng" dirty="0" smtClean="0">
                <a:cs typeface="Calibri" panose="020F0502020204030204" pitchFamily="34" charset="0"/>
              </a:rPr>
              <a:t>,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 Lieu: tubes séminifères des </a:t>
            </a:r>
            <a:r>
              <a:rPr lang="fr-FR" sz="2800" dirty="0" smtClean="0">
                <a:cs typeface="Calibri" panose="020F0502020204030204" pitchFamily="34" charset="0"/>
                <a:hlinkClick r:id="rId3" tooltip="Testicule"/>
              </a:rPr>
              <a:t>testicules</a:t>
            </a:r>
            <a:r>
              <a:rPr lang="fr-FR" sz="2800" dirty="0" smtClean="0">
                <a:cs typeface="Calibri" panose="020F0502020204030204" pitchFamily="34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>
                <a:cs typeface="Calibri" panose="020F0502020204030204" pitchFamily="34" charset="0"/>
              </a:rPr>
              <a:t>  Englobe 4 phases</a:t>
            </a:r>
            <a:r>
              <a:rPr lang="fr-FR" sz="2800" dirty="0" smtClean="0">
                <a:cs typeface="Calibri" panose="020F0502020204030204" pitchFamily="34" charset="0"/>
              </a:rPr>
              <a:t>:  </a:t>
            </a:r>
            <a:r>
              <a:rPr lang="fr-FR" sz="2800" dirty="0" smtClean="0">
                <a:cs typeface="Calibri" panose="020F0502020204030204" pitchFamily="34" charset="0"/>
              </a:rPr>
              <a:t>depuis les </a:t>
            </a:r>
            <a:r>
              <a:rPr lang="fr-FR" sz="2800" dirty="0" smtClean="0">
                <a:cs typeface="Calibri" panose="020F0502020204030204" pitchFamily="34" charset="0"/>
                <a:hlinkClick r:id="rId4" tooltip="Spermatogonie"/>
              </a:rPr>
              <a:t>spermatogonies</a:t>
            </a:r>
            <a:r>
              <a:rPr lang="fr-FR" sz="2800" dirty="0" smtClean="0">
                <a:cs typeface="Calibri" panose="020F0502020204030204" pitchFamily="34" charset="0"/>
              </a:rPr>
              <a:t>, </a:t>
            </a:r>
            <a:endParaRPr lang="fr-FR" sz="2800" dirty="0" smtClean="0">
              <a:cs typeface="Calibri" panose="020F050202020403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5" tooltip="Cellule souche"/>
              </a:rPr>
              <a:t>cellules 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5" tooltip="Cellule souche"/>
              </a:rPr>
              <a:t>souches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 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  <a:hlinkClick r:id="rId6" tooltip="Diploïde"/>
              </a:rPr>
              <a:t>diploïdes</a:t>
            </a:r>
            <a:r>
              <a:rPr lang="fr-FR" sz="2800" dirty="0" smtClean="0">
                <a:solidFill>
                  <a:srgbClr val="FFFFFF"/>
                </a:solidFill>
                <a:cs typeface="Calibri" panose="020F0502020204030204" pitchFamily="34" charset="0"/>
              </a:rPr>
              <a:t> (</a:t>
            </a:r>
            <a:r>
              <a:rPr lang="fr-FR" sz="2800" dirty="0" smtClean="0">
                <a:cs typeface="Calibri" panose="020F0502020204030204" pitchFamily="34" charset="0"/>
              </a:rPr>
              <a:t>(</a:t>
            </a:r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2n </a:t>
            </a:r>
            <a:r>
              <a:rPr lang="fr-FR" sz="2800" b="1" dirty="0" smtClean="0">
                <a:solidFill>
                  <a:srgbClr val="FFFFFF"/>
                </a:solidFill>
                <a:cs typeface="Calibri" panose="020F0502020204030204" pitchFamily="34" charset="0"/>
                <a:hlinkClick r:id="rId7" tooltip="Chromosome"/>
              </a:rPr>
              <a:t>chr</a:t>
            </a:r>
            <a:r>
              <a:rPr lang="fr-FR" sz="2800" dirty="0" smtClean="0">
                <a:cs typeface="Calibri" panose="020F0502020204030204" pitchFamily="34" charset="0"/>
              </a:rPr>
              <a:t>), </a:t>
            </a:r>
            <a:r>
              <a:rPr lang="fr-FR" sz="2800" dirty="0" smtClean="0">
                <a:cs typeface="Calibri" panose="020F0502020204030204" pitchFamily="34" charset="0"/>
              </a:rPr>
              <a:t> Jusqu’aux  </a:t>
            </a:r>
          </a:p>
          <a:p>
            <a:r>
              <a:rPr lang="fr-FR" sz="2800" dirty="0" smtClean="0">
                <a:cs typeface="Calibri" panose="020F0502020204030204" pitchFamily="34" charset="0"/>
                <a:hlinkClick r:id="rId2" tooltip="Spermatozoïde"/>
              </a:rPr>
              <a:t>spermatozoïdes</a:t>
            </a:r>
            <a:r>
              <a:rPr lang="fr-FR" sz="2800" dirty="0" smtClean="0">
                <a:cs typeface="Calibri" panose="020F0502020204030204" pitchFamily="34" charset="0"/>
              </a:rPr>
              <a:t>, </a:t>
            </a:r>
            <a:r>
              <a:rPr lang="fr-FR" sz="2800" dirty="0" smtClean="0">
                <a:cs typeface="Calibri" panose="020F0502020204030204" pitchFamily="34" charset="0"/>
                <a:hlinkClick r:id="rId8" tooltip="Gamète"/>
              </a:rPr>
              <a:t>gamètes</a:t>
            </a:r>
            <a:r>
              <a:rPr lang="fr-FR" sz="2800" dirty="0" smtClean="0">
                <a:cs typeface="Calibri" panose="020F0502020204030204" pitchFamily="34" charset="0"/>
              </a:rPr>
              <a:t> mâles </a:t>
            </a:r>
            <a:r>
              <a:rPr lang="fr-FR" sz="2800" dirty="0" smtClean="0">
                <a:cs typeface="Calibri" panose="020F0502020204030204" pitchFamily="34" charset="0"/>
                <a:hlinkClick r:id="rId9" tooltip="Haploïde"/>
              </a:rPr>
              <a:t>haploïdes</a:t>
            </a:r>
            <a:r>
              <a:rPr lang="fr-FR" sz="2800" dirty="0" smtClean="0">
                <a:cs typeface="Calibri" panose="020F0502020204030204" pitchFamily="34" charset="0"/>
              </a:rPr>
              <a:t> (</a:t>
            </a:r>
            <a:r>
              <a:rPr lang="fr-FR" sz="2800" b="1" dirty="0" smtClean="0">
                <a:solidFill>
                  <a:srgbClr val="0070C0"/>
                </a:solidFill>
                <a:cs typeface="Calibri" panose="020F0502020204030204" pitchFamily="34" charset="0"/>
              </a:rPr>
              <a:t>n chr</a:t>
            </a:r>
            <a:r>
              <a:rPr lang="fr-FR" sz="2800" dirty="0" smtClean="0">
                <a:cs typeface="Calibri" panose="020F0502020204030204" pitchFamily="34" charset="0"/>
              </a:rPr>
              <a:t>).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de multiplicatio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d’accroissement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de maturation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cs typeface="Calibri" panose="020F0502020204030204" pitchFamily="34" charset="0"/>
              </a:rPr>
              <a:t>Phase de différenciation </a:t>
            </a:r>
            <a:endParaRPr lang="fr-FR" sz="2800" dirty="0" smtClean="0">
              <a:cs typeface="Calibri" panose="020F0502020204030204" pitchFamily="34" charset="0"/>
            </a:endParaRPr>
          </a:p>
          <a:p>
            <a:endParaRPr lang="fr-FR" sz="2800" b="1" dirty="0" smtClean="0"/>
          </a:p>
          <a:p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88726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387106" y="6396335"/>
            <a:ext cx="422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Appareil reproducteur masculin</a:t>
            </a:r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Image 7" descr="Anatomie et physiologie de l'appareil génital mascul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8280920" cy="556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79512" y="-893223"/>
            <a:ext cx="9144000" cy="8279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fr-FR" sz="2800" b="1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>
                <a:solidFill>
                  <a:srgbClr val="0070C0"/>
                </a:solidFill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Organes génitaux externes </a:t>
            </a: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Pénis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Scrotum. </a:t>
            </a: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Gonades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    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Testicules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Voies </a:t>
            </a: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génitales 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Epididyme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Conduit déférent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Canal éjaculateur et urètre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itchFamily="18" charset="0"/>
              <a:cs typeface="Calibri" panose="020F0502020204030204" pitchFamily="34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Glandes annexes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: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itchFamily="18" charset="0"/>
                <a:cs typeface="Calibri" panose="020F0502020204030204" pitchFamily="34" charset="0"/>
              </a:rPr>
              <a:t> Vésicules séminales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Prostate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Glandes de Cowper (bulbo-urétrales)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188640"/>
            <a:ext cx="7008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de l’appareil reproducteur masculin</a:t>
            </a:r>
            <a:endParaRPr lang="fr-FR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0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0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0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0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0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0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0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0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61576"/>
            <a:ext cx="8064896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200" dirty="0"/>
          </a:p>
          <a:p>
            <a:r>
              <a:rPr lang="fr-FR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Fonction exocrine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l'émission des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spermatozoïdes.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Fonction endocrine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: la production d'hormones sexuelles mâles (principalement la testostérone).</a:t>
            </a:r>
          </a:p>
          <a:p>
            <a:endParaRPr lang="fr-FR" sz="28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28221"/>
            <a:ext cx="6999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Fonctions de l’appareil reproducteur masculin</a:t>
            </a:r>
            <a:endParaRPr lang="fr-FR" sz="28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8544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Les glandes annexes à l’appareil reproducteur masculin</a:t>
            </a:r>
          </a:p>
          <a:p>
            <a:r>
              <a:rPr lang="fr-FR" sz="2800" b="1" dirty="0" smtClean="0"/>
              <a:t>Vésicules séminales : 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dirty="0" smtClean="0"/>
              <a:t>glandes vésiculeuses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débouchant dans la prostate pour se relier aux canaux déférents.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 produisent un liquide riche en fructose. </a:t>
            </a:r>
          </a:p>
          <a:p>
            <a:r>
              <a:rPr lang="fr-FR" sz="2800" b="1" dirty="0" smtClean="0"/>
              <a:t>Prostate: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Glande exocrine.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Sécrète une partie du liquide séminal et le stocke.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son PH alcalin neutralise l’acidité du liquide séminal.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riche en Zinc, qui a un pouvoir bactéricide;</a:t>
            </a:r>
          </a:p>
          <a:p>
            <a:r>
              <a:rPr lang="fr-FR" sz="2800" b="1" dirty="0" smtClean="0"/>
              <a:t>Glandes de Cowper </a:t>
            </a:r>
            <a:r>
              <a:rPr lang="fr-FR" sz="2800" dirty="0" smtClean="0"/>
              <a:t>: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situées de chaque côté de l'urètre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appelées glandes bulbo-urétrales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Ont un rôle de lubrifiant avant l'éjaculation.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élaborent un fluide alcalin qui neutralise  l’acidité au niveau de l’urètre .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3995936" y="6093296"/>
            <a:ext cx="3828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Structure du testicule</a:t>
            </a:r>
            <a:endParaRPr lang="fr-FR" sz="2800" b="1" dirty="0"/>
          </a:p>
        </p:txBody>
      </p:sp>
      <p:pic>
        <p:nvPicPr>
          <p:cNvPr id="2050" name="Picture 2" descr="Screenshot 2024-09-20 at 21-23-37 Les testicules Société canadienne du canc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748463" cy="623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www.bio-top.net/Schemas/Spermatogenese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76672"/>
            <a:ext cx="8172400" cy="5166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196752"/>
            <a:ext cx="3960439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196752"/>
            <a:ext cx="3843936" cy="439248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 flipH="1">
            <a:off x="2135215" y="5877272"/>
            <a:ext cx="4706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Structure des tubes séminifères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88640"/>
            <a:ext cx="8964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Cellules impliquées dans la spermatogénèse</a:t>
            </a:r>
          </a:p>
          <a:p>
            <a:endParaRPr lang="fr-FR" sz="2800" b="1" dirty="0" smtClean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cellules de la lignée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germinale: le germen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-Spermatogonies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Sg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Spermatocytes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primaires 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 I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Tx/>
              <a:buChar char="-"/>
            </a:pP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Spermatocytes secondaires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(S II)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 Spermatides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Spermatozoïdes </a:t>
            </a:r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Spz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>
              <a:buFontTx/>
              <a:buChar char="-"/>
            </a:pP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Tx/>
              <a:buChar char="-"/>
            </a:pP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Les </a:t>
            </a:r>
            <a:r>
              <a:rPr lang="fr-FR" sz="2800" b="1" dirty="0">
                <a:latin typeface="Calibri" panose="020F0502020204030204" pitchFamily="34" charset="0"/>
                <a:cs typeface="Calibri" panose="020F0502020204030204" pitchFamily="34" charset="0"/>
              </a:rPr>
              <a:t>cellules </a:t>
            </a: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somatiques: le soma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- Cellules de </a:t>
            </a:r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Sertoli</a:t>
            </a:r>
            <a:endParaRPr lang="fr-F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1556792"/>
            <a:ext cx="3672408" cy="5183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http://moodle.univ-brest.fr/medecine/public/sites/Serveur_2009/Embryologie/Emb_gen/E_gamet/Dgamszm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16540"/>
            <a:ext cx="2306603" cy="5588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67544" y="216541"/>
            <a:ext cx="18890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TETE</a:t>
            </a: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COU   COL</a:t>
            </a: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FLAGELLE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180859" y="362002"/>
            <a:ext cx="14327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ACROSOME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3909" y="1169116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INTERMEDIAIRE</a:t>
            </a:r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PRINCIPALE</a:t>
            </a:r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endParaRPr lang="fr-FR" b="1" dirty="0"/>
          </a:p>
          <a:p>
            <a:endParaRPr lang="fr-FR" b="1" dirty="0" smtClean="0"/>
          </a:p>
          <a:p>
            <a:r>
              <a:rPr lang="fr-FR" b="1" dirty="0" smtClean="0"/>
              <a:t>PIECE </a:t>
            </a:r>
            <a:r>
              <a:rPr lang="fr-FR" b="1" dirty="0"/>
              <a:t>TERMINALE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627784" y="5805264"/>
            <a:ext cx="309123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du spermatozoide</a:t>
            </a:r>
            <a:endParaRPr lang="fr-FR" sz="2000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539445" y="2122749"/>
            <a:ext cx="6019326" cy="2497832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>
          <a:xfrm>
            <a:off x="1331640" y="6021288"/>
            <a:ext cx="3820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Structure du </a:t>
            </a:r>
            <a:r>
              <a:rPr lang="fr-FR" sz="2400" b="1" dirty="0" smtClean="0"/>
              <a:t>spermatozoïde</a:t>
            </a:r>
            <a:endParaRPr lang="fr-FR" sz="24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1205697" y="6262343"/>
            <a:ext cx="597666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0225" indent="-1800225"/>
            <a:r>
              <a:rPr lang="fr-FR" sz="3200" b="1" dirty="0" smtClean="0">
                <a:solidFill>
                  <a:srgbClr val="00B050"/>
                </a:solidFill>
              </a:rPr>
              <a:t>          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Ultrastructure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spermatozoide</a:t>
            </a:r>
          </a:p>
          <a:p>
            <a:pPr marL="1800225" indent="-1800225"/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Coupe longitudinale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-171400"/>
            <a:ext cx="7704856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5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http://moodle.univ-brest.fr/medecine/public/sites/Serveur_2009/Embryologie/Emb_gen/E_gamet/Dgamszc1.gif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914" y="0"/>
            <a:ext cx="30963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4982800" y="1369409"/>
            <a:ext cx="43817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Acrosome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Fossette d’implantation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Plaque basale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fr-FR" sz="2000" b="1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Capitellum</a:t>
            </a:r>
            <a:endParaRPr lang="fr-FR" sz="20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Centriole proximal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9 colonnes segmentées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r>
              <a:rPr lang="fr-F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Gaine mitochondriale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Fibres denses</a:t>
            </a:r>
          </a:p>
          <a:p>
            <a:r>
              <a:rPr lang="fr-FR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Complexe filamenteux axial</a:t>
            </a:r>
            <a:endParaRPr lang="fr-FR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205697" y="6262343"/>
            <a:ext cx="597666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00225" indent="-1800225"/>
            <a:r>
              <a:rPr lang="fr-FR" sz="3200" b="1" dirty="0" smtClean="0">
                <a:solidFill>
                  <a:srgbClr val="00B050"/>
                </a:solidFill>
              </a:rPr>
              <a:t>          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Ultrastructure </a:t>
            </a: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spermatozoide</a:t>
            </a:r>
          </a:p>
          <a:p>
            <a:pPr marL="1800225" indent="-1800225"/>
            <a:r>
              <a:rPr lang="fr-FR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          Coupe longitudinale</a:t>
            </a:r>
            <a:endParaRPr lang="fr-FR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Connecteur droit avec flèche 16"/>
          <p:cNvCxnSpPr/>
          <p:nvPr/>
        </p:nvCxnSpPr>
        <p:spPr>
          <a:xfrm flipH="1">
            <a:off x="2437090" y="1977076"/>
            <a:ext cx="2393273" cy="186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 flipH="1">
            <a:off x="2015716" y="2204864"/>
            <a:ext cx="2820032" cy="10457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 flipH="1">
            <a:off x="2123728" y="2816083"/>
            <a:ext cx="3127898" cy="6435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H="1">
            <a:off x="1852620" y="3365377"/>
            <a:ext cx="3525178" cy="298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H="1">
            <a:off x="1852620" y="3650721"/>
            <a:ext cx="3259440" cy="6560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H="1">
            <a:off x="2437090" y="4388088"/>
            <a:ext cx="2545710" cy="5020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 flipH="1">
            <a:off x="2123728" y="5508796"/>
            <a:ext cx="3127898" cy="2120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flipV="1">
            <a:off x="2604648" y="4890164"/>
            <a:ext cx="2615424" cy="12772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 flipH="1">
            <a:off x="1852620" y="5770712"/>
            <a:ext cx="2983128" cy="266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H="1" flipV="1">
            <a:off x="3150999" y="905392"/>
            <a:ext cx="1853049" cy="6801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://moodle.univ-brest.fr/medecine/public/sites/Serveur_2009/Embryologie/Emb_gen/E_gamet/Dgamszp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548680"/>
            <a:ext cx="4010278" cy="47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427984" y="764704"/>
            <a:ext cx="438171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Membrane cytoplasmique</a:t>
            </a:r>
          </a:p>
          <a:p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Gaine mitochondriale</a:t>
            </a:r>
          </a:p>
          <a:p>
            <a:endParaRPr lang="fr-FR" sz="2800" b="1" dirty="0" smtClean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fr-FR" sz="2800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Fibres denses</a:t>
            </a:r>
          </a:p>
          <a:p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Complexe filamenteux axial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(Axonème)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(9 couplets  (doublets) 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périphériques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+ 1 couplet central)</a:t>
            </a:r>
          </a:p>
          <a:p>
            <a:endParaRPr lang="fr-FR" sz="28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2483768" y="5589240"/>
            <a:ext cx="42670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Ultrastructure du spematozoide</a:t>
            </a:r>
          </a:p>
          <a:p>
            <a:r>
              <a:rPr lang="fr-FR" sz="2400" b="1" dirty="0" smtClean="0"/>
              <a:t>         Coupe transversale</a:t>
            </a:r>
          </a:p>
          <a:p>
            <a:r>
              <a:rPr lang="fr-FR" sz="2400" b="1" dirty="0" smtClean="0"/>
              <a:t>         Pièce intermèdiaire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2213225" y="5517232"/>
            <a:ext cx="4241161" cy="120032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cs typeface="Calibri" panose="020F0502020204030204" pitchFamily="34" charset="0"/>
              </a:rPr>
              <a:t>Ultrastructure du spematozoide</a:t>
            </a:r>
          </a:p>
          <a:p>
            <a:r>
              <a:rPr lang="fr-FR" sz="2400" b="1" dirty="0" smtClean="0">
                <a:cs typeface="Calibri" panose="020F0502020204030204" pitchFamily="34" charset="0"/>
              </a:rPr>
              <a:t>         Coupe transversale</a:t>
            </a:r>
          </a:p>
          <a:p>
            <a:r>
              <a:rPr lang="fr-FR" sz="2400" b="1" dirty="0" smtClean="0">
                <a:cs typeface="Calibri" panose="020F0502020204030204" pitchFamily="34" charset="0"/>
              </a:rPr>
              <a:t>           Pièce principale</a:t>
            </a:r>
            <a:endParaRPr lang="fr-FR" sz="2400" b="1" dirty="0">
              <a:cs typeface="Calibri" panose="020F050202020403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789564" y="559569"/>
            <a:ext cx="4381712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Membrane cytoplasmique</a:t>
            </a:r>
          </a:p>
          <a:p>
            <a:endParaRPr lang="fr-FR" sz="2000" b="1" dirty="0" smtClean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Gaine fibreuse</a:t>
            </a:r>
          </a:p>
          <a:p>
            <a:endParaRPr lang="fr-FR" sz="2800" b="1" dirty="0" smtClean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 Fibres denses</a:t>
            </a:r>
          </a:p>
          <a:p>
            <a:endParaRPr lang="fr-FR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Complexe filamenteux axial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(Axonème)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(9 couplets  (doublets) 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périphériques</a:t>
            </a:r>
          </a:p>
          <a:p>
            <a:r>
              <a:rPr lang="fr-FR" sz="28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+1 couplet central)</a:t>
            </a:r>
          </a:p>
          <a:p>
            <a:endParaRPr lang="fr-FR" sz="2800" b="1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453650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05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3378" y="143377"/>
            <a:ext cx="9396536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du spermatozoide     </a:t>
            </a:r>
            <a:r>
              <a:rPr lang="fr-FR" sz="2800" b="1" dirty="0" smtClean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La tête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Noyau + Acrosome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 col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Lame basale + Capitellum + Centriole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Le flagelle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intermédiaire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gaine mitochondriale + fibres denses + axonème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principale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gaine fibreuse + fibres denses + axonème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Pièce terminale</a:t>
            </a:r>
          </a:p>
          <a:p>
            <a:r>
              <a:rPr lang="fr-FR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Mb cytoplasmique + </a:t>
            </a:r>
            <a:r>
              <a:rPr lang="fr-FR" sz="28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axonème</a:t>
            </a:r>
            <a:endParaRPr lang="fr-FR" sz="28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3200" dirty="0" smtClean="0"/>
              <a:t>  </a:t>
            </a:r>
          </a:p>
          <a:p>
            <a:endParaRPr lang="fr-FR" sz="3200" b="1" dirty="0"/>
          </a:p>
        </p:txBody>
      </p:sp>
      <p:sp>
        <p:nvSpPr>
          <p:cNvPr id="19458" name="AutoShape 2" descr="Résultat de recherche d'images pour &quot;SPERMATOGENES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842493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397110" y="6253415"/>
            <a:ext cx="4421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/>
              <a:t>Les phases de la spermatogenèse</a:t>
            </a:r>
            <a:endParaRPr lang="fr-FR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717209"/>
            <a:ext cx="26968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r>
              <a:rPr lang="fr-FR" sz="2800" dirty="0" smtClean="0"/>
              <a:t>Spermatogonie A</a:t>
            </a:r>
            <a:endParaRPr lang="fr-FR" sz="2800" dirty="0"/>
          </a:p>
        </p:txBody>
      </p:sp>
      <p:sp>
        <p:nvSpPr>
          <p:cNvPr id="3" name="ZoneTexte 2"/>
          <p:cNvSpPr txBox="1"/>
          <p:nvPr/>
        </p:nvSpPr>
        <p:spPr>
          <a:xfrm>
            <a:off x="1979712" y="840046"/>
            <a:ext cx="632288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                              </a:t>
            </a:r>
          </a:p>
          <a:p>
            <a:r>
              <a:rPr lang="fr-FR" sz="3200" dirty="0" smtClean="0"/>
              <a:t>                </a:t>
            </a:r>
          </a:p>
          <a:p>
            <a:r>
              <a:rPr lang="fr-FR" sz="3200" dirty="0" smtClean="0"/>
              <a:t>                  </a:t>
            </a:r>
            <a:r>
              <a:rPr lang="fr-FR" sz="2800" dirty="0" smtClean="0"/>
              <a:t>Spermatogonie A1  (Ad : dark) </a:t>
            </a:r>
          </a:p>
          <a:p>
            <a:r>
              <a:rPr lang="fr-FR" sz="2800" dirty="0" smtClean="0"/>
              <a:t>                             </a:t>
            </a:r>
          </a:p>
          <a:p>
            <a:r>
              <a:rPr lang="fr-FR" sz="2800" dirty="0" smtClean="0"/>
              <a:t>                  </a:t>
            </a:r>
          </a:p>
          <a:p>
            <a:r>
              <a:rPr lang="fr-FR" sz="2800" dirty="0" smtClean="0"/>
              <a:t>                   Spermatogonie A2   (Ap : pale)</a:t>
            </a:r>
            <a:endParaRPr lang="fr-FR" sz="2800" dirty="0"/>
          </a:p>
        </p:txBody>
      </p:sp>
      <p:sp>
        <p:nvSpPr>
          <p:cNvPr id="5" name="ZoneTexte 4"/>
          <p:cNvSpPr txBox="1"/>
          <p:nvPr/>
        </p:nvSpPr>
        <p:spPr>
          <a:xfrm>
            <a:off x="0" y="0"/>
            <a:ext cx="45661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Phases de la spermatogenèse</a:t>
            </a:r>
          </a:p>
          <a:p>
            <a:endParaRPr lang="fr-FR" sz="28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1 Phase </a:t>
            </a:r>
            <a:r>
              <a:rPr lang="fr-FR" sz="2800" b="1" dirty="0" smtClean="0">
                <a:solidFill>
                  <a:srgbClr val="0070C0"/>
                </a:solidFill>
              </a:rPr>
              <a:t>de multiplication</a:t>
            </a:r>
            <a:endParaRPr lang="fr-FR" sz="2800" dirty="0">
              <a:solidFill>
                <a:srgbClr val="0070C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3942" y="3976517"/>
            <a:ext cx="8964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1 Spematogonie A2                           2 Spermatogonies B</a:t>
            </a:r>
            <a:endParaRPr lang="fr-FR" sz="2800" dirty="0"/>
          </a:p>
        </p:txBody>
      </p:sp>
      <p:sp>
        <p:nvSpPr>
          <p:cNvPr id="7" name="Flèche gauche 6"/>
          <p:cNvSpPr/>
          <p:nvPr/>
        </p:nvSpPr>
        <p:spPr>
          <a:xfrm rot="10800000">
            <a:off x="3521051" y="4265895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Flèche gauche 9"/>
          <p:cNvSpPr/>
          <p:nvPr/>
        </p:nvSpPr>
        <p:spPr>
          <a:xfrm rot="12761858">
            <a:off x="2834511" y="2954364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96020" y="5111575"/>
            <a:ext cx="30303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1 Spermatogonie B </a:t>
            </a:r>
            <a:endParaRPr lang="fr-FR" sz="2800" dirty="0"/>
          </a:p>
        </p:txBody>
      </p:sp>
      <p:sp>
        <p:nvSpPr>
          <p:cNvPr id="12" name="Flèche gauche 11"/>
          <p:cNvSpPr/>
          <p:nvPr/>
        </p:nvSpPr>
        <p:spPr>
          <a:xfrm rot="10800000">
            <a:off x="3524519" y="5373185"/>
            <a:ext cx="1300059" cy="170312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5139288" y="5196731"/>
            <a:ext cx="2895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/>
              <a:t>2 SpermatocyteS I </a:t>
            </a:r>
            <a:endParaRPr lang="fr-FR" sz="2800" dirty="0"/>
          </a:p>
        </p:txBody>
      </p:sp>
      <p:sp>
        <p:nvSpPr>
          <p:cNvPr id="15" name="Flèche gauche 14"/>
          <p:cNvSpPr/>
          <p:nvPr/>
        </p:nvSpPr>
        <p:spPr>
          <a:xfrm rot="8663255">
            <a:off x="2922593" y="2149777"/>
            <a:ext cx="750595" cy="11391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206084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-963488"/>
            <a:ext cx="7167475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                  </a:t>
            </a:r>
          </a:p>
          <a:p>
            <a:endParaRPr lang="fr-FR" sz="3200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2 Phase </a:t>
            </a:r>
            <a:r>
              <a:rPr lang="fr-FR" sz="2800" b="1" dirty="0" smtClean="0">
                <a:solidFill>
                  <a:srgbClr val="0070C0"/>
                </a:solidFill>
              </a:rPr>
              <a:t>d’accroissement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2 spermatocytes I                                 2 auxocytes</a:t>
            </a:r>
            <a:endParaRPr lang="fr-FR" sz="2800" dirty="0"/>
          </a:p>
        </p:txBody>
      </p:sp>
      <p:sp>
        <p:nvSpPr>
          <p:cNvPr id="4" name="ZoneTexte 3"/>
          <p:cNvSpPr txBox="1"/>
          <p:nvPr/>
        </p:nvSpPr>
        <p:spPr>
          <a:xfrm>
            <a:off x="0" y="1124744"/>
            <a:ext cx="5012783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/>
          </a:p>
          <a:p>
            <a:endParaRPr lang="fr-FR" sz="3200" b="1" dirty="0" smtClean="0"/>
          </a:p>
          <a:p>
            <a:r>
              <a:rPr lang="fr-FR" sz="2800" b="1" dirty="0" smtClean="0">
                <a:solidFill>
                  <a:srgbClr val="0070C0"/>
                </a:solidFill>
              </a:rPr>
              <a:t>3 Phase </a:t>
            </a:r>
            <a:r>
              <a:rPr lang="fr-FR" sz="2800" b="1" dirty="0" smtClean="0">
                <a:solidFill>
                  <a:srgbClr val="0070C0"/>
                </a:solidFill>
              </a:rPr>
              <a:t>de maturation  (méiose)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2424664"/>
            <a:ext cx="26859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dirty="0" smtClean="0"/>
          </a:p>
          <a:p>
            <a:r>
              <a:rPr lang="fr-FR" sz="3200" dirty="0" smtClean="0"/>
              <a:t>1 </a:t>
            </a:r>
            <a:r>
              <a:rPr lang="fr-FR" sz="2800" dirty="0" smtClean="0"/>
              <a:t>Spermatocyte I</a:t>
            </a:r>
            <a:endParaRPr lang="fr-FR" sz="2800" dirty="0"/>
          </a:p>
        </p:txBody>
      </p:sp>
      <p:sp>
        <p:nvSpPr>
          <p:cNvPr id="7" name="ZoneTexte 6"/>
          <p:cNvSpPr txBox="1"/>
          <p:nvPr/>
        </p:nvSpPr>
        <p:spPr>
          <a:xfrm>
            <a:off x="4702303" y="2875291"/>
            <a:ext cx="37503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2 Spermatocytes </a:t>
            </a:r>
            <a:r>
              <a:rPr lang="fr-FR" sz="3200" dirty="0" smtClean="0"/>
              <a:t>II </a:t>
            </a:r>
            <a:r>
              <a:rPr lang="fr-FR" sz="2800" dirty="0" smtClean="0">
                <a:solidFill>
                  <a:srgbClr val="0070C0"/>
                </a:solidFill>
              </a:rPr>
              <a:t>(nch)</a:t>
            </a:r>
          </a:p>
          <a:p>
            <a:endParaRPr lang="fr-FR" sz="3200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2137187" y="3086961"/>
            <a:ext cx="3005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400" b="1" dirty="0" smtClean="0">
                <a:solidFill>
                  <a:srgbClr val="0070C0"/>
                </a:solidFill>
              </a:rPr>
              <a:t>Mitose réductionnelle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1" name="Flèche gauche 10"/>
          <p:cNvSpPr/>
          <p:nvPr/>
        </p:nvSpPr>
        <p:spPr>
          <a:xfrm rot="10800000">
            <a:off x="3054904" y="1082353"/>
            <a:ext cx="1800200" cy="133859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0" y="4077072"/>
            <a:ext cx="2738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1 Spermatocyte II</a:t>
            </a:r>
            <a:endParaRPr lang="fr-FR" sz="2800" dirty="0"/>
          </a:p>
        </p:txBody>
      </p:sp>
      <p:sp>
        <p:nvSpPr>
          <p:cNvPr id="15" name="ZoneTexte 14"/>
          <p:cNvSpPr txBox="1"/>
          <p:nvPr/>
        </p:nvSpPr>
        <p:spPr>
          <a:xfrm>
            <a:off x="3563888" y="3717032"/>
            <a:ext cx="39387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        </a:t>
            </a:r>
          </a:p>
          <a:p>
            <a:r>
              <a:rPr lang="fr-FR" sz="3200" dirty="0" smtClean="0"/>
              <a:t>         </a:t>
            </a:r>
            <a:r>
              <a:rPr lang="fr-FR" sz="2800" dirty="0" smtClean="0"/>
              <a:t>2 Spermatides </a:t>
            </a:r>
            <a:r>
              <a:rPr lang="fr-FR" sz="2800" dirty="0" smtClean="0">
                <a:solidFill>
                  <a:srgbClr val="0070C0"/>
                </a:solidFill>
              </a:rPr>
              <a:t>(nch)</a:t>
            </a:r>
          </a:p>
          <a:p>
            <a:endParaRPr lang="fr-FR" sz="3200" dirty="0" smtClean="0"/>
          </a:p>
          <a:p>
            <a:r>
              <a:rPr lang="fr-FR" sz="3200" dirty="0" smtClean="0"/>
              <a:t>    </a:t>
            </a:r>
            <a:endParaRPr lang="fr-FR" sz="3200" dirty="0"/>
          </a:p>
        </p:txBody>
      </p:sp>
      <p:sp>
        <p:nvSpPr>
          <p:cNvPr id="16" name="Flèche gauche 15"/>
          <p:cNvSpPr/>
          <p:nvPr/>
        </p:nvSpPr>
        <p:spPr>
          <a:xfrm rot="10800000">
            <a:off x="3419872" y="3140968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 gauche 16"/>
          <p:cNvSpPr/>
          <p:nvPr/>
        </p:nvSpPr>
        <p:spPr>
          <a:xfrm rot="10800000">
            <a:off x="3419872" y="4365104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2051720" y="4941168"/>
            <a:ext cx="29215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70C0"/>
                </a:solidFill>
              </a:rPr>
              <a:t>Mitose équationnelle</a:t>
            </a:r>
            <a:endParaRPr lang="fr-FR" sz="2400" b="1" dirty="0">
              <a:solidFill>
                <a:srgbClr val="0070C0"/>
              </a:solidFill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5445224"/>
            <a:ext cx="4063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4 Phase </a:t>
            </a:r>
            <a:r>
              <a:rPr lang="fr-FR" sz="2800" b="1" dirty="0" smtClean="0">
                <a:solidFill>
                  <a:srgbClr val="002060"/>
                </a:solidFill>
              </a:rPr>
              <a:t>de différenciation</a:t>
            </a:r>
            <a:endParaRPr lang="fr-FR" sz="2800" b="1" dirty="0">
              <a:solidFill>
                <a:srgbClr val="00206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899592" y="5886763"/>
            <a:ext cx="6623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1 Spermatide                         1 Spermatozoide</a:t>
            </a:r>
            <a:endParaRPr lang="fr-FR" sz="2800" dirty="0"/>
          </a:p>
        </p:txBody>
      </p:sp>
      <p:sp>
        <p:nvSpPr>
          <p:cNvPr id="21" name="Flèche gauche 20"/>
          <p:cNvSpPr/>
          <p:nvPr/>
        </p:nvSpPr>
        <p:spPr>
          <a:xfrm rot="10800000">
            <a:off x="3347864" y="6093296"/>
            <a:ext cx="708873" cy="20586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2483768" y="6273225"/>
            <a:ext cx="214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chemeClr val="accent1">
                    <a:lumMod val="75000"/>
                  </a:schemeClr>
                </a:solidFill>
              </a:rPr>
              <a:t>Spermiogenèse</a:t>
            </a:r>
            <a:endParaRPr lang="fr-F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820472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254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 smtClean="0">
                <a:solidFill>
                  <a:srgbClr val="002060"/>
                </a:solidFill>
              </a:rPr>
              <a:t> </a:t>
            </a:r>
            <a:r>
              <a:rPr lang="fr-FR" sz="2800" b="1" dirty="0" smtClean="0">
                <a:solidFill>
                  <a:srgbClr val="002060"/>
                </a:solidFill>
              </a:rPr>
              <a:t>La spermiogénèse</a:t>
            </a:r>
          </a:p>
          <a:p>
            <a:endParaRPr lang="fr-FR" sz="3200" b="1" dirty="0" smtClean="0">
              <a:solidFill>
                <a:srgbClr val="FF0000"/>
              </a:solidFill>
            </a:endParaRPr>
          </a:p>
          <a:p>
            <a:r>
              <a:rPr lang="fr-FR" sz="2800" dirty="0" smtClean="0"/>
              <a:t>Comprend </a:t>
            </a:r>
            <a:r>
              <a:rPr lang="fr-FR" sz="2800" dirty="0"/>
              <a:t>5 phénomènes fondamentaux </a:t>
            </a:r>
            <a:r>
              <a:rPr lang="fr-FR" sz="2800" dirty="0" smtClean="0"/>
              <a:t>simultanés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fr-FR" sz="2800" b="1" dirty="0" smtClean="0">
                <a:solidFill>
                  <a:srgbClr val="0070C0"/>
                </a:solidFill>
              </a:rPr>
              <a:t>Formation </a:t>
            </a:r>
            <a:r>
              <a:rPr lang="fr-FR" sz="2800" b="1" dirty="0">
                <a:solidFill>
                  <a:srgbClr val="0070C0"/>
                </a:solidFill>
              </a:rPr>
              <a:t>de l'acrosome à partir du Golgi</a:t>
            </a:r>
            <a:r>
              <a:rPr lang="fr-FR" sz="2800" dirty="0">
                <a:solidFill>
                  <a:srgbClr val="0070C0"/>
                </a:solidFill>
              </a:rPr>
              <a:t> </a:t>
            </a:r>
            <a:r>
              <a:rPr lang="fr-FR" sz="2800" dirty="0">
                <a:solidFill>
                  <a:srgbClr val="FF0000"/>
                </a:solidFill>
              </a:rPr>
              <a:t/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dirty="0" smtClean="0">
                <a:solidFill>
                  <a:srgbClr val="FF0000"/>
                </a:solidFill>
              </a:rPr>
              <a:t> </a:t>
            </a:r>
            <a:endParaRPr lang="fr-FR" sz="2800" dirty="0">
              <a:solidFill>
                <a:srgbClr val="FF000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gamet/Dgamspo1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356992"/>
            <a:ext cx="4104456" cy="3501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368422" y="3573016"/>
            <a:ext cx="329096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Appareil de Golgi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Vésicule acrosomiale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>
            <a:off x="2579613" y="4371529"/>
            <a:ext cx="2592288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gauche 7"/>
          <p:cNvSpPr/>
          <p:nvPr/>
        </p:nvSpPr>
        <p:spPr>
          <a:xfrm rot="21132112">
            <a:off x="3131840" y="4005064"/>
            <a:ext cx="2232248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82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2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</a:rPr>
              <a:t> Formation </a:t>
            </a:r>
            <a:r>
              <a:rPr lang="fr-FR" sz="2800" b="1" dirty="0">
                <a:solidFill>
                  <a:srgbClr val="0070C0"/>
                </a:solidFill>
              </a:rPr>
              <a:t>du flagelle</a:t>
            </a:r>
            <a:r>
              <a:rPr lang="fr-FR" sz="28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3" name="Image 2" descr="http://moodle.univ-brest.fr/medecine/public/sites/Serveur_2009/Embryologie/Emb_gen/E_gamet/Dgamspo2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92696"/>
            <a:ext cx="4680520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364088" y="1412776"/>
            <a:ext cx="294298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F</a:t>
            </a:r>
            <a:r>
              <a:rPr lang="fr-FR" sz="2800" b="1" dirty="0" smtClean="0"/>
              <a:t>lag</a:t>
            </a:r>
            <a:r>
              <a:rPr lang="fr-FR" sz="2800" dirty="0" smtClean="0"/>
              <a:t>e</a:t>
            </a:r>
            <a:r>
              <a:rPr lang="fr-FR" sz="2800" b="1" dirty="0" smtClean="0"/>
              <a:t>ll</a:t>
            </a:r>
            <a:r>
              <a:rPr lang="fr-FR" sz="2800" dirty="0" smtClean="0"/>
              <a:t>e</a:t>
            </a:r>
          </a:p>
          <a:p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C</a:t>
            </a:r>
            <a:r>
              <a:rPr lang="fr-FR" sz="2800" b="1" dirty="0" smtClean="0"/>
              <a:t>entriole distal</a:t>
            </a:r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Centriole proximal</a:t>
            </a:r>
            <a:endParaRPr lang="fr-FR" sz="2800" dirty="0"/>
          </a:p>
        </p:txBody>
      </p:sp>
      <p:sp>
        <p:nvSpPr>
          <p:cNvPr id="5" name="Flèche gauche 4"/>
          <p:cNvSpPr/>
          <p:nvPr/>
        </p:nvSpPr>
        <p:spPr>
          <a:xfrm>
            <a:off x="3347864" y="1556792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gauche 5"/>
          <p:cNvSpPr/>
          <p:nvPr/>
        </p:nvSpPr>
        <p:spPr>
          <a:xfrm>
            <a:off x="2195736" y="3212976"/>
            <a:ext cx="3168352" cy="14401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gauche 6"/>
          <p:cNvSpPr/>
          <p:nvPr/>
        </p:nvSpPr>
        <p:spPr>
          <a:xfrm rot="1703000">
            <a:off x="2051720" y="4221088"/>
            <a:ext cx="3456384" cy="144016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864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3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</a:rPr>
              <a:t> Elongation </a:t>
            </a:r>
            <a:r>
              <a:rPr lang="fr-FR" sz="2800" b="1" dirty="0" smtClean="0">
                <a:solidFill>
                  <a:srgbClr val="0070C0"/>
                </a:solidFill>
              </a:rPr>
              <a:t>nucléaire</a:t>
            </a:r>
            <a:endParaRPr lang="fr-FR" sz="2800" dirty="0">
              <a:solidFill>
                <a:srgbClr val="0070C0"/>
              </a:solidFill>
            </a:endParaRPr>
          </a:p>
        </p:txBody>
      </p:sp>
      <p:pic>
        <p:nvPicPr>
          <p:cNvPr id="3" name="Image 2" descr="http://moodle.univ-brest.fr/medecine/public/sites/Serveur_2009/Embryologie/Emb_gen/E_gamet/Dgamspo3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556792"/>
            <a:ext cx="4248472" cy="4752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5436096" y="4581128"/>
            <a:ext cx="167751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Noyau</a:t>
            </a:r>
          </a:p>
          <a:p>
            <a:endParaRPr lang="fr-FR" sz="2800" b="1" dirty="0" smtClean="0"/>
          </a:p>
          <a:p>
            <a:r>
              <a:rPr lang="fr-FR" sz="2800" b="1" dirty="0" smtClean="0"/>
              <a:t>Acrosome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>
            <a:off x="3491880" y="4869160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gauche 5"/>
          <p:cNvSpPr/>
          <p:nvPr/>
        </p:nvSpPr>
        <p:spPr>
          <a:xfrm>
            <a:off x="3203848" y="5589240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658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4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</a:rPr>
              <a:t> Formation </a:t>
            </a:r>
            <a:r>
              <a:rPr lang="fr-FR" sz="2800" b="1" dirty="0">
                <a:solidFill>
                  <a:srgbClr val="0070C0"/>
                </a:solidFill>
              </a:rPr>
              <a:t>du manchon mitochondrial </a:t>
            </a:r>
          </a:p>
        </p:txBody>
      </p:sp>
      <p:pic>
        <p:nvPicPr>
          <p:cNvPr id="3" name="Image 2" descr="http://moodle.univ-brest.fr/medecine/public/sites/Serveur_2009/Embryologie/Emb_gen/E_gamet/Dgamspo4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412776"/>
            <a:ext cx="4680520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634210" y="2276872"/>
            <a:ext cx="2218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Mitochondrie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 rot="20916326">
            <a:off x="4790203" y="2682821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658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5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</a:rPr>
              <a:t> Elimination </a:t>
            </a:r>
            <a:r>
              <a:rPr lang="fr-FR" sz="2800" b="1" dirty="0">
                <a:solidFill>
                  <a:srgbClr val="0070C0"/>
                </a:solidFill>
              </a:rPr>
              <a:t>du cytoplasme</a:t>
            </a:r>
            <a:r>
              <a:rPr lang="fr-FR" sz="2800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3" name="Image 2" descr="http://moodle.univ-brest.fr/medecine/public/sites/Serveur_2009/Embryologie/Emb_gen/E_gamet/Dgamspo5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124745"/>
            <a:ext cx="3584275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860032" y="1196752"/>
            <a:ext cx="3936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Cytoplasme excédentaire</a:t>
            </a:r>
            <a:endParaRPr lang="fr-FR" sz="2800" b="1" dirty="0"/>
          </a:p>
        </p:txBody>
      </p:sp>
      <p:sp>
        <p:nvSpPr>
          <p:cNvPr id="5" name="Flèche gauche 4"/>
          <p:cNvSpPr/>
          <p:nvPr/>
        </p:nvSpPr>
        <p:spPr>
          <a:xfrm rot="16522839">
            <a:off x="3654568" y="2426733"/>
            <a:ext cx="1944216" cy="216024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0701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Emission des spermatozoïdes</a:t>
            </a:r>
            <a:endParaRPr lang="fr-FR" sz="2800" dirty="0" smtClean="0">
              <a:solidFill>
                <a:srgbClr val="002060"/>
              </a:solidFill>
            </a:endParaRP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Les spermatozoïdes sont produits et formés dans les testicules,</a:t>
            </a:r>
          </a:p>
          <a:p>
            <a:r>
              <a:rPr lang="fr-FR" sz="2800" dirty="0" smtClean="0"/>
              <a:t> puis libérés dans l’épididyme. 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Ils passent d’abord du </a:t>
            </a:r>
            <a:r>
              <a:rPr lang="fr-FR" sz="2800" dirty="0" err="1" smtClean="0"/>
              <a:t>rete</a:t>
            </a:r>
            <a:r>
              <a:rPr lang="fr-FR" sz="2800" dirty="0" smtClean="0"/>
              <a:t> </a:t>
            </a:r>
            <a:r>
              <a:rPr lang="fr-FR" sz="2800" dirty="0" err="1" smtClean="0"/>
              <a:t>testis</a:t>
            </a:r>
            <a:r>
              <a:rPr lang="fr-FR" sz="2800" dirty="0" smtClean="0"/>
              <a:t> vers la tête de l’épididyme,</a:t>
            </a:r>
          </a:p>
          <a:p>
            <a:r>
              <a:rPr lang="fr-FR" sz="2800" dirty="0" smtClean="0"/>
              <a:t> puis dans les cônes efférents qui se poursuivent par le canal </a:t>
            </a:r>
          </a:p>
          <a:p>
            <a:r>
              <a:rPr lang="fr-FR" sz="2800" dirty="0" smtClean="0"/>
              <a:t>de l’épididyme.</a:t>
            </a:r>
          </a:p>
          <a:p>
            <a:endParaRPr lang="fr-FR" sz="2800" dirty="0" smtClean="0"/>
          </a:p>
          <a:p>
            <a:r>
              <a:rPr lang="fr-FR" sz="2800" dirty="0" smtClean="0"/>
              <a:t>Les gamètes sont modifiés tout au long de leur trajet dans les</a:t>
            </a:r>
          </a:p>
          <a:p>
            <a:r>
              <a:rPr lang="fr-FR" sz="2800" dirty="0" smtClean="0"/>
              <a:t> voies génitales.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 acquièrent leur mobilité.</a:t>
            </a:r>
          </a:p>
          <a:p>
            <a:pPr>
              <a:buFontTx/>
              <a:buChar char="-"/>
            </a:pPr>
            <a:r>
              <a:rPr lang="fr-FR" sz="2800" dirty="0" smtClean="0"/>
              <a:t> Dans l’épididyme, les spermatozoïdes subissent la </a:t>
            </a:r>
          </a:p>
          <a:p>
            <a:r>
              <a:rPr lang="fr-FR" sz="2800" b="1" dirty="0" err="1" smtClean="0">
                <a:solidFill>
                  <a:srgbClr val="C00000"/>
                </a:solidFill>
              </a:rPr>
              <a:t>Décapacitation</a:t>
            </a:r>
            <a:r>
              <a:rPr lang="fr-FR" sz="2800" b="1" dirty="0" smtClean="0">
                <a:solidFill>
                  <a:srgbClr val="C00000"/>
                </a:solidFill>
              </a:rPr>
              <a:t>:  </a:t>
            </a:r>
            <a:r>
              <a:rPr lang="fr-FR" sz="2800" dirty="0" smtClean="0"/>
              <a:t>ils  perdent momentanément leur possibilité</a:t>
            </a:r>
          </a:p>
          <a:p>
            <a:r>
              <a:rPr lang="fr-FR" sz="2800" dirty="0" smtClean="0"/>
              <a:t> de féconder.</a:t>
            </a:r>
          </a:p>
          <a:p>
            <a:r>
              <a:rPr lang="fr-FR" sz="2800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332656"/>
            <a:ext cx="9511065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- Dans l’épididyme Les spermatozoïdes sont stockés et  peuvent</a:t>
            </a:r>
          </a:p>
          <a:p>
            <a:r>
              <a:rPr lang="fr-FR" sz="2800" dirty="0" smtClean="0"/>
              <a:t> y survivre jusqu’à trois semaines environ.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 Les spermatozoïdes passent ensuite dans le canal déférent,</a:t>
            </a:r>
          </a:p>
          <a:p>
            <a:r>
              <a:rPr lang="fr-FR" sz="2800" dirty="0" smtClean="0"/>
              <a:t> qui est prolongé par le canal éjaculateur traversant la prostate</a:t>
            </a:r>
          </a:p>
          <a:p>
            <a:r>
              <a:rPr lang="fr-FR" sz="2800" dirty="0" smtClean="0"/>
              <a:t> et qui s’associe aux canaux urinaires.</a:t>
            </a:r>
          </a:p>
          <a:p>
            <a:pPr>
              <a:buFontTx/>
              <a:buChar char="-"/>
            </a:pPr>
            <a:r>
              <a:rPr lang="fr-FR" sz="2800" dirty="0" smtClean="0"/>
              <a:t>Ils prennent ensuite le chemin de l’urètre. </a:t>
            </a:r>
          </a:p>
          <a:p>
            <a:pPr>
              <a:buFontTx/>
              <a:buChar char="-"/>
            </a:pPr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Durant leur trajet, les spermatozoïdes sont mélangés à des</a:t>
            </a:r>
          </a:p>
          <a:p>
            <a:r>
              <a:rPr lang="fr-FR" sz="2800" dirty="0" smtClean="0"/>
              <a:t> liquides produits par les glandes sexuelles (prostate et vésicules</a:t>
            </a:r>
          </a:p>
          <a:p>
            <a:r>
              <a:rPr lang="fr-FR" sz="2800" dirty="0" smtClean="0"/>
              <a:t> séminales); le mélange de ces liquides donne le sperme.</a:t>
            </a:r>
          </a:p>
          <a:p>
            <a:endParaRPr lang="fr-FR" sz="2800" dirty="0" smtClean="0"/>
          </a:p>
          <a:p>
            <a:pPr>
              <a:buFontTx/>
              <a:buChar char="-"/>
            </a:pPr>
            <a:r>
              <a:rPr lang="fr-FR" sz="2800" dirty="0" smtClean="0"/>
              <a:t>On peut détailler la constitution de la phase liquide du sperme</a:t>
            </a:r>
          </a:p>
          <a:p>
            <a:r>
              <a:rPr lang="fr-FR" sz="2800" dirty="0" smtClean="0"/>
              <a:t>5 % de sécrétions </a:t>
            </a:r>
            <a:r>
              <a:rPr lang="fr-FR" sz="2800" dirty="0" err="1" smtClean="0"/>
              <a:t>épididymaires</a:t>
            </a:r>
            <a:r>
              <a:rPr lang="fr-FR" sz="2800" dirty="0" smtClean="0"/>
              <a:t>, 65 % de sécrétions issues </a:t>
            </a:r>
          </a:p>
          <a:p>
            <a:r>
              <a:rPr lang="fr-FR" sz="2800" dirty="0" smtClean="0"/>
              <a:t>des vésicules séminales, 30 % de sécrétions prostatiques </a:t>
            </a:r>
          </a:p>
          <a:p>
            <a:r>
              <a:rPr lang="fr-FR" sz="2800" dirty="0" smtClean="0"/>
              <a:t> </a:t>
            </a:r>
          </a:p>
          <a:p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60648"/>
            <a:ext cx="7620000" cy="590465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22440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116632"/>
            <a:ext cx="9972600" cy="7048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ea typeface="Times New Roman" pitchFamily="18" charset="0"/>
                <a:cs typeface="Times New Roman" pitchFamily="18" charset="0"/>
              </a:rPr>
              <a:t>Proprietes physiologiques des spermatozoides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Arial" pitchFamily="34" charset="0"/>
              </a:rPr>
              <a:t>1</a:t>
            </a:r>
            <a:r>
              <a:rPr lang="fr-FR" sz="2800" dirty="0"/>
              <a:t> .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Arial" pitchFamily="34" charset="0"/>
              </a:rPr>
              <a:t> Mobilité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 - Le déplacement du spermatozoïde se fait selon une sinusoïde, avec une vélocité variable suivant la viscosité du milieu.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- Le mouvement nécessite l'hydrolyse d'ATP.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 L'AMP-cyclique et le Ca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++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Arial" pitchFamily="34" charset="0"/>
              </a:rPr>
              <a:t> sont indispensables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cs typeface="Arial" pitchFamily="34" charset="0"/>
              </a:rPr>
              <a:t>2</a:t>
            </a:r>
            <a:r>
              <a:rPr lang="fr-FR" sz="2800" dirty="0"/>
              <a:t> .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cs typeface="Arial" pitchFamily="34" charset="0"/>
              </a:rPr>
              <a:t> Fécondance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/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- Le spermatozoïde ne devient fécondant qu'après la capacitation qui se caractérise par :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    La perte du manteau de glycoprotéines de la membrane plasmique du spermatozoïde pendant le passage dans les  voies génitales femelles. </a:t>
            </a:r>
            <a:b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</a:b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    Une augmentation de la vélocité.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3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Vitalité</a:t>
            </a:r>
            <a:r>
              <a:rPr lang="fr-FR" sz="2800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Le liquide séminal est un mauvais milieu de survie pour les gamètes.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- Seulement 20% des spermatozoïdes y survivent 24 h à 37°C. </a:t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La survie peut atteindre  2 ou 3 jours dans les voies génitales féminines. </a:t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Après congélation dans l'azote liquide, la vitalité et la fécondance d'une  partie des spermatozoïdes sont sauvegardées.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fr-FR" sz="2800" dirty="0" smtClean="0">
              <a:solidFill>
                <a:srgbClr val="0070C0"/>
              </a:solidFill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4</a:t>
            </a:r>
            <a:r>
              <a:rPr lang="fr-FR" sz="2800" dirty="0"/>
              <a:t> .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Activité </a:t>
            </a:r>
            <a:r>
              <a:rPr lang="fr-FR" sz="2800" b="1" dirty="0" smtClean="0">
                <a:solidFill>
                  <a:srgbClr val="0070C0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métabolique </a:t>
            </a: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/>
            </a:r>
            <a:b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</a:b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Le spermatozoïde n'a pas d'activité nucléaire: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Il n'effectue pas de  synthèse d'ADN, d'ARN, ni de protéines.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r>
              <a:rPr lang="fr-FR" sz="2800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l'activité respiratoire  est importante,  car le mouvement flagellaire exige un important apport d'ATP.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§"/>
            </a:pPr>
            <a:endParaRPr lang="fr-FR" sz="2800" dirty="0" smtClean="0">
              <a:latin typeface="Calibri" pitchFamily="34" charset="0"/>
              <a:ea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215443"/>
            <a:ext cx="8741175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Times New Roman" pitchFamily="18" charset="0"/>
                <a:cs typeface="Calibri" pitchFamily="34" charset="0"/>
              </a:rPr>
              <a:t>Facteurs influencant  la spermatogenese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/>
              <a:t>1</a:t>
            </a:r>
            <a:r>
              <a:rPr lang="fr-FR" sz="2800" dirty="0"/>
              <a:t> .</a:t>
            </a:r>
            <a:r>
              <a:rPr lang="fr-FR" sz="2800" b="1" dirty="0" smtClean="0"/>
              <a:t> Température</a:t>
            </a:r>
            <a:r>
              <a:rPr lang="fr-FR" sz="2800" dirty="0" smtClean="0">
                <a:solidFill>
                  <a:srgbClr val="00B050"/>
                </a:solidFill>
              </a:rPr>
              <a:t>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La spermatogenèse 34 ou 35°C.</a:t>
            </a:r>
          </a:p>
          <a:p>
            <a:r>
              <a:rPr lang="fr-FR" sz="2800" b="1" dirty="0" smtClean="0"/>
              <a:t>2</a:t>
            </a:r>
            <a:r>
              <a:rPr lang="fr-FR" sz="2800" dirty="0"/>
              <a:t> .</a:t>
            </a:r>
            <a:r>
              <a:rPr lang="fr-FR" sz="2800" b="1" dirty="0" smtClean="0"/>
              <a:t> Carences</a:t>
            </a:r>
            <a:r>
              <a:rPr lang="fr-FR" sz="2800" dirty="0" smtClean="0"/>
              <a:t> </a:t>
            </a:r>
            <a:r>
              <a:rPr lang="fr-FR" sz="2800" b="1" dirty="0" smtClean="0"/>
              <a:t>nutritionnelles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Dénutrition protéique + altérations de la spermatogenèse. </a:t>
            </a:r>
          </a:p>
          <a:p>
            <a:r>
              <a:rPr lang="fr-FR" sz="2800" dirty="0" smtClean="0"/>
              <a:t>EX/ Carence en vitamine A= lésions dégénératives des </a:t>
            </a:r>
            <a:r>
              <a:rPr lang="fr-FR" sz="2800" dirty="0" err="1" smtClean="0"/>
              <a:t>spz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      Carence en vitamine E = lésions des spermatides . </a:t>
            </a:r>
          </a:p>
          <a:p>
            <a:r>
              <a:rPr lang="fr-FR" sz="2800" b="1" dirty="0" smtClean="0"/>
              <a:t>3</a:t>
            </a:r>
            <a:r>
              <a:rPr lang="fr-FR" sz="2800" dirty="0"/>
              <a:t> .</a:t>
            </a:r>
            <a:r>
              <a:rPr lang="fr-FR" sz="2800" b="1" dirty="0" smtClean="0"/>
              <a:t> Radiations </a:t>
            </a:r>
            <a:r>
              <a:rPr lang="fr-FR" sz="2800" b="1" dirty="0" smtClean="0"/>
              <a:t>ionisantes</a:t>
            </a:r>
            <a:r>
              <a:rPr lang="fr-FR" sz="2800" dirty="0" smtClean="0"/>
              <a:t> </a:t>
            </a:r>
            <a:br>
              <a:rPr lang="fr-FR" sz="2800" dirty="0" smtClean="0"/>
            </a:br>
            <a:r>
              <a:rPr lang="fr-FR" sz="2800" dirty="0" smtClean="0"/>
              <a:t>Les spermatogonies se multiplient activement et sont très</a:t>
            </a:r>
          </a:p>
          <a:p>
            <a:r>
              <a:rPr lang="fr-FR" sz="2800" dirty="0" smtClean="0"/>
              <a:t> radiosensibles. </a:t>
            </a:r>
            <a:br>
              <a:rPr lang="fr-FR" sz="2800" dirty="0" smtClean="0"/>
            </a:br>
            <a:r>
              <a:rPr lang="fr-FR" sz="2800" b="1" dirty="0"/>
              <a:t>4 . </a:t>
            </a:r>
            <a:r>
              <a:rPr lang="fr-FR" sz="2800" b="1" dirty="0" smtClean="0"/>
              <a:t>Toxiques </a:t>
            </a:r>
            <a:r>
              <a:rPr lang="fr-FR" sz="2800" b="1" dirty="0" smtClean="0"/>
              <a:t>chimiques </a:t>
            </a:r>
            <a:r>
              <a:rPr lang="fr-FR" sz="2800" dirty="0" smtClean="0"/>
              <a:t/>
            </a:r>
            <a:br>
              <a:rPr lang="fr-FR" sz="2800" dirty="0" smtClean="0"/>
            </a:br>
            <a:r>
              <a:rPr lang="fr-FR" sz="2800" dirty="0" smtClean="0"/>
              <a:t>De nombreux corps chimiques peuvent être toxiques:</a:t>
            </a:r>
          </a:p>
          <a:p>
            <a:r>
              <a:rPr lang="fr-FR" sz="2800" dirty="0" smtClean="0"/>
              <a:t>EX:  pesticides, organochlorés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298379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b="1" dirty="0" smtClean="0"/>
              <a:t>5</a:t>
            </a:r>
            <a:r>
              <a:rPr lang="fr-FR" sz="2800" dirty="0"/>
              <a:t> . </a:t>
            </a:r>
            <a:r>
              <a:rPr lang="fr-FR" sz="2800" b="1" dirty="0" smtClean="0"/>
              <a:t>Certains </a:t>
            </a:r>
            <a:r>
              <a:rPr lang="fr-FR" sz="2800" b="1" dirty="0" smtClean="0"/>
              <a:t>médicaments</a:t>
            </a:r>
            <a:r>
              <a:rPr lang="fr-FR" sz="2800" dirty="0" smtClean="0"/>
              <a:t> </a:t>
            </a:r>
            <a:br>
              <a:rPr lang="fr-FR" sz="2800" dirty="0" smtClean="0"/>
            </a:br>
            <a:r>
              <a:rPr lang="fr-FR" sz="2800" dirty="0" smtClean="0"/>
              <a:t> EX: antihypertenseurs, neuroleptiques,  hormones stéroïdes, </a:t>
            </a:r>
          </a:p>
          <a:p>
            <a:r>
              <a:rPr lang="fr-FR" sz="2800" dirty="0" smtClean="0"/>
              <a:t>anti-inflammatoires, chimiothérapie.</a:t>
            </a:r>
          </a:p>
          <a:p>
            <a:r>
              <a:rPr lang="fr-FR" sz="2800" b="1" dirty="0" smtClean="0"/>
              <a:t>6 </a:t>
            </a:r>
            <a:r>
              <a:rPr lang="fr-FR" sz="2800" dirty="0"/>
              <a:t>. </a:t>
            </a:r>
            <a:r>
              <a:rPr lang="fr-FR" sz="2800" b="1" dirty="0" smtClean="0"/>
              <a:t>Autres </a:t>
            </a:r>
            <a:r>
              <a:rPr lang="fr-FR" sz="2800" b="1" dirty="0" smtClean="0"/>
              <a:t>facteurs exogènes:</a:t>
            </a:r>
          </a:p>
          <a:p>
            <a:r>
              <a:rPr lang="fr-FR" sz="2800" dirty="0" smtClean="0"/>
              <a:t>EX:  tabac, alcool, cannabis. </a:t>
            </a:r>
            <a:br>
              <a:rPr lang="fr-FR" sz="2800" dirty="0" smtClean="0"/>
            </a:b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1552" y="685964"/>
            <a:ext cx="7439985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L’hypothalamus secrète 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La 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GnRH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effectLst/>
                <a:ea typeface="Calibri" pitchFamily="34" charset="0"/>
                <a:cs typeface="Calibri" pitchFamily="34" charset="0"/>
              </a:rPr>
              <a:t>agit sur l’hypophyse.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L’hypophyse secrète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FSH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et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LH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Calibri" pitchFamily="34" charset="0"/>
                <a:cs typeface="Calibri" pitchFamily="34" charset="0"/>
              </a:rPr>
              <a:t>La FSH: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 développement des cellules de </a:t>
            </a:r>
            <a:r>
              <a:rPr lang="fr-FR" sz="2800" dirty="0" err="1" smtClean="0">
                <a:ea typeface="Calibri" pitchFamily="34" charset="0"/>
                <a:cs typeface="Calibri" pitchFamily="34" charset="0"/>
              </a:rPr>
              <a:t>Sertoli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d'ABP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Androgen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Binding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Protein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); </a:t>
            </a:r>
            <a:endParaRPr lang="fr-FR" sz="2800" dirty="0" smtClean="0"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ü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sécrétion d'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inhibine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ea typeface="Calibri" pitchFamily="34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Calibri" pitchFamily="34" charset="0"/>
              </a:rPr>
              <a:t> négatif sur</a:t>
            </a:r>
            <a:r>
              <a:rPr lang="fr-FR" sz="2800" dirty="0" smtClean="0"/>
              <a:t>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sécrétion d’</a:t>
            </a:r>
            <a:r>
              <a:rPr lang="fr-FR" sz="2800" b="1" dirty="0" err="1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activine</a:t>
            </a:r>
            <a:r>
              <a:rPr lang="fr-FR" sz="2800" b="1" dirty="0" smtClean="0">
                <a:solidFill>
                  <a:schemeClr val="accent1"/>
                </a:solidFill>
                <a:ea typeface="Calibri" pitchFamily="34" charset="0"/>
                <a:cs typeface="Calibri" pitchFamily="34" charset="0"/>
              </a:rPr>
              <a:t> </a:t>
            </a:r>
            <a:r>
              <a:rPr lang="fr-FR" sz="2800" dirty="0" smtClean="0">
                <a:ea typeface="Calibri" pitchFamily="34" charset="0"/>
                <a:cs typeface="Calibri" pitchFamily="34" charset="0"/>
              </a:rPr>
              <a:t>( exerce un  rétro contrôle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800" dirty="0" smtClean="0"/>
              <a:t>Positif sur la sécrétion de FSH.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chemeClr val="accent1"/>
                </a:solidFill>
              </a:rPr>
              <a:t>sécrétion d’AMH  (</a:t>
            </a:r>
            <a:r>
              <a:rPr lang="fr-FR" sz="2800" dirty="0" smtClean="0"/>
              <a:t>hormone antimüllérienne)</a:t>
            </a: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accent1"/>
              </a:solidFill>
              <a:effectLst/>
              <a:cs typeface="Arial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188640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Contrôle hormonal</a:t>
            </a:r>
            <a:endParaRPr lang="fr-FR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404664"/>
            <a:ext cx="7391382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La LH</a:t>
            </a:r>
            <a:r>
              <a:rPr lang="fr-FR" sz="2800" b="1" dirty="0" smtClean="0">
                <a:solidFill>
                  <a:srgbClr val="C00000"/>
                </a:solidFill>
              </a:rPr>
              <a:t>:</a:t>
            </a:r>
          </a:p>
          <a:p>
            <a:pPr lvl="0">
              <a:buFont typeface="Wingdings" pitchFamily="2" charset="2"/>
              <a:buChar char="ü"/>
            </a:pPr>
            <a:r>
              <a:rPr lang="fr-FR" sz="2800" b="1" dirty="0" smtClean="0">
                <a:solidFill>
                  <a:srgbClr val="C00000"/>
                </a:solidFill>
              </a:rPr>
              <a:t> </a:t>
            </a:r>
            <a:r>
              <a:rPr lang="fr-FR" sz="2800" dirty="0" smtClean="0"/>
              <a:t>assure la multiplication des cellules de </a:t>
            </a:r>
            <a:r>
              <a:rPr lang="fr-FR" sz="2800" dirty="0" err="1" smtClean="0"/>
              <a:t>Leydig</a:t>
            </a:r>
            <a:r>
              <a:rPr lang="fr-FR" sz="2800" dirty="0" smtClean="0"/>
              <a:t>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               </a:t>
            </a:r>
            <a:r>
              <a:rPr lang="fr-FR" sz="2800" b="1" dirty="0" smtClean="0">
                <a:solidFill>
                  <a:schemeClr val="accent1"/>
                </a:solidFill>
              </a:rPr>
              <a:t>sécrétion de testostérone</a:t>
            </a:r>
            <a:r>
              <a:rPr lang="fr-FR" sz="2800" dirty="0" smtClean="0"/>
              <a:t>.</a:t>
            </a:r>
          </a:p>
          <a:p>
            <a:pPr lvl="0">
              <a:buFont typeface="Wingdings" pitchFamily="2" charset="2"/>
              <a:buChar char="ü"/>
            </a:pPr>
            <a:r>
              <a:rPr lang="fr-FR" sz="2800" dirty="0" smtClean="0"/>
              <a:t> testostérone + ABP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      </a:t>
            </a:r>
            <a:r>
              <a:rPr lang="fr-FR" sz="2800" b="1" dirty="0" smtClean="0">
                <a:solidFill>
                  <a:srgbClr val="0070C0"/>
                </a:solidFill>
              </a:rPr>
              <a:t>Développement de l'épithélium  séminal.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       Bon fonctionnement des voies génitales</a:t>
            </a:r>
            <a:r>
              <a:rPr lang="fr-FR" sz="2800" b="1" dirty="0" smtClean="0">
                <a:solidFill>
                  <a:schemeClr val="tx2"/>
                </a:solidFill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896360" y="5973553"/>
            <a:ext cx="3004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Contrôle hormonal</a:t>
            </a:r>
            <a:endParaRPr lang="fr-FR" sz="2800" b="1" dirty="0"/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66784"/>
            <a:ext cx="8676456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6228184" y="3284984"/>
            <a:ext cx="32403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 smtClean="0">
                <a:solidFill>
                  <a:srgbClr val="FF0000"/>
                </a:solidFill>
              </a:rPr>
              <a:t>Androgen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binding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protein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endParaRPr lang="fr-FR" sz="2000" b="1" dirty="0" smtClean="0">
              <a:solidFill>
                <a:srgbClr val="FF0000"/>
              </a:solidFill>
            </a:endParaRPr>
          </a:p>
          <a:p>
            <a:r>
              <a:rPr lang="fr-FR" sz="2000" b="1" dirty="0" err="1" smtClean="0">
                <a:solidFill>
                  <a:srgbClr val="FF0000"/>
                </a:solidFill>
              </a:rPr>
              <a:t>Transforming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r>
              <a:rPr lang="fr-FR" sz="2000" b="1" dirty="0" err="1" smtClean="0">
                <a:solidFill>
                  <a:srgbClr val="FF0000"/>
                </a:solidFill>
              </a:rPr>
              <a:t>growth</a:t>
            </a:r>
            <a:r>
              <a:rPr lang="fr-FR" sz="2000" b="1" dirty="0" smtClean="0">
                <a:solidFill>
                  <a:srgbClr val="FF0000"/>
                </a:solidFill>
              </a:rPr>
              <a:t> factor</a:t>
            </a: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         </a:t>
            </a:r>
            <a:r>
              <a:rPr lang="fr-FR" sz="2000" b="1" dirty="0" err="1" smtClean="0">
                <a:solidFill>
                  <a:srgbClr val="FF0000"/>
                </a:solidFill>
              </a:rPr>
              <a:t>Activine</a:t>
            </a:r>
            <a:endParaRPr lang="fr-FR" sz="2000" b="1" dirty="0" smtClean="0">
              <a:solidFill>
                <a:srgbClr val="FF0000"/>
              </a:solidFill>
            </a:endParaRPr>
          </a:p>
          <a:p>
            <a:pPr marL="452438" indent="-452438"/>
            <a:r>
              <a:rPr lang="fr-FR" sz="2000" b="1" dirty="0" smtClean="0">
                <a:solidFill>
                  <a:srgbClr val="FF0000"/>
                </a:solidFill>
              </a:rPr>
              <a:t>hormone antimüllérienne</a:t>
            </a:r>
          </a:p>
          <a:p>
            <a:pPr marL="452438" indent="-452438"/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-386844"/>
            <a:ext cx="9144000" cy="7109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dirty="0" smtClean="0"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cs typeface="Arial" charset="0"/>
              </a:rPr>
              <a:t>Remarques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cs typeface="Arial" charset="0"/>
              </a:rPr>
              <a:t>canaux de Müller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et 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2" tooltip="Canal de Wolff"/>
              </a:rPr>
              <a:t>canaux de Wolff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,  Constituent les 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3" tooltip="Système reproducteur"/>
              </a:rPr>
              <a:t>voies génitales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doubles de  l'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4" tooltip="Embryon"/>
              </a:rPr>
              <a:t>embryon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lors du stade  indifférencié du développement de  l'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5" tooltip="Appareil génital"/>
              </a:rPr>
              <a:t>appareil génital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La différenciation a lieu à la 8</a:t>
            </a:r>
            <a:r>
              <a:rPr kumimoji="0" lang="fr-FR" sz="2800" i="0" strike="noStrike" cap="none" normalizeH="0" baseline="3000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ème</a:t>
            </a: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 semaine  Embryonnaire.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Selon le sexe de l'embryon, les canaux de Müller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disparaissent ou se transforment.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Lorsque l'embryon est mâle et donc possède  des  testicules, ces derniers vont sécréter deux  hormones : 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la testostérone, par les cellules de Leydig,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fr-FR" sz="280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l’AMH  par les  cellules de Sertoli.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 noChangeArrowheads="1"/>
          </p:cNvSpPr>
          <p:nvPr/>
        </p:nvSpPr>
        <p:spPr bwMode="auto">
          <a:xfrm>
            <a:off x="0" y="476091"/>
            <a:ext cx="9468544" cy="5109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Lorsque l'AMH est sécrétée, les canaux de Müller régréssent.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La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  <a:hlinkClick r:id="rId2" tooltip="Testostérone"/>
              </a:rPr>
              <a:t>testostérone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entraîne le développement des  canaux de Wolff  et donc des voies génitales  mâles.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Lorsque l'embryon est génétiquement une  femelle,  l' AMH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n'est pas sécrétée,  les canaux de Müller demeurent donc,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et se développent en voies génitales femelles.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La testostérone n'étant pas produite, elle ne  permet  alors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charset="0"/>
              </a:rPr>
              <a:t> pas le maintien des canaux de  Wolff qui vont régresser.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pload.wikimedia.org/wikipedia/commons/c/c0/The_uterus_differentiates_from_the_fetal_M%C3%BCllerian_ducts.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0"/>
            <a:ext cx="8568952" cy="6525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52491</TotalTime>
  <Words>1026</Words>
  <Application>Microsoft Office PowerPoint</Application>
  <PresentationFormat>Affichage à l'écran (4:3)</PresentationFormat>
  <Paragraphs>344</Paragraphs>
  <Slides>38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120</cp:revision>
  <dcterms:created xsi:type="dcterms:W3CDTF">2012-10-28T16:06:05Z</dcterms:created>
  <dcterms:modified xsi:type="dcterms:W3CDTF">2024-09-25T09:40:03Z</dcterms:modified>
</cp:coreProperties>
</file>