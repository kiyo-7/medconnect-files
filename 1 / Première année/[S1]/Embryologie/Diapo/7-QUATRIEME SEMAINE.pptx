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56" r:id="rId12"/>
    <p:sldId id="257" r:id="rId13"/>
    <p:sldId id="258" r:id="rId14"/>
    <p:sldId id="261" r:id="rId15"/>
    <p:sldId id="262" r:id="rId16"/>
    <p:sldId id="264" r:id="rId17"/>
    <p:sldId id="268" r:id="rId18"/>
    <p:sldId id="267" r:id="rId19"/>
    <p:sldId id="265" r:id="rId20"/>
    <p:sldId id="266" r:id="rId21"/>
    <p:sldId id="269" r:id="rId22"/>
    <p:sldId id="280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6542" autoAdjust="0"/>
  </p:normalViewPr>
  <p:slideViewPr>
    <p:cSldViewPr>
      <p:cViewPr varScale="1">
        <p:scale>
          <a:sx n="70" d="100"/>
          <a:sy n="70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FD9D7-332C-4161-A424-3DCECBB29A55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917B2-D393-4082-ABE9-69308ADC0E2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17B2-D393-4082-ABE9-69308ADC0E24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DE824D-4A85-4657-8AA9-48A4787C9420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F735B-AF40-45E5-990C-CBAE42DA9E2F}" type="datetimeFigureOut">
              <a:rPr lang="fr-FR" smtClean="0"/>
              <a:pPr/>
              <a:t>08/12/2023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26A1-3955-4C52-A8D8-5FFC57B5C9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tissimo.fr/html/sante/analyses/ana_marqueur04.htm" TargetMode="Externa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doctissimo.fr/html/sante/encyclopedie/sa_937_cancer_larynx.htm" TargetMode="External"/><Relationship Id="rId4" Type="http://schemas.openxmlformats.org/officeDocument/2006/relationships/hyperlink" Target="https://www.doctissimo.fr/html/dossiers/mal-de-gorge/articles/12675-gorge-zone-sensible-infections.ht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188640"/>
            <a:ext cx="903649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             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LA </a:t>
            </a:r>
            <a:r>
              <a:rPr lang="fr-FR" sz="2800" b="1" dirty="0" smtClean="0"/>
              <a:t>QUATRIEME </a:t>
            </a:r>
            <a:r>
              <a:rPr lang="fr-FR" sz="2800" b="1" dirty="0"/>
              <a:t>SEMAINE</a:t>
            </a:r>
          </a:p>
          <a:p>
            <a:r>
              <a:rPr lang="fr-FR" sz="2800" b="1" dirty="0"/>
              <a:t>                DU DEVELOPPEMENT EMBRYONNAIRE</a:t>
            </a:r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    PR </a:t>
            </a:r>
            <a:r>
              <a:rPr lang="fr-FR" sz="2800" b="1" dirty="0"/>
              <a:t>HANNACHI-HECINI A </a:t>
            </a:r>
          </a:p>
          <a:p>
            <a:r>
              <a:rPr lang="fr-FR" sz="2800" b="1" dirty="0"/>
              <a:t>                   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00808"/>
            <a:ext cx="5760640" cy="4176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44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/>
              <a:t>La quatrième semaine est marquée par deux  phénomènes:</a:t>
            </a:r>
          </a:p>
          <a:p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Délimitation </a:t>
            </a:r>
            <a:r>
              <a:rPr lang="fr-FR" sz="2800" b="1" dirty="0" smtClean="0"/>
              <a:t>de l’embryon (plicature transversale et</a:t>
            </a:r>
          </a:p>
          <a:p>
            <a:r>
              <a:rPr lang="fr-FR" sz="2800" b="1" dirty="0" smtClean="0"/>
              <a:t> longitudinale).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- </a:t>
            </a:r>
            <a:r>
              <a:rPr lang="fr-FR" sz="2800" b="1" dirty="0" smtClean="0">
                <a:solidFill>
                  <a:srgbClr val="0070C0"/>
                </a:solidFill>
              </a:rPr>
              <a:t>Evolution </a:t>
            </a:r>
            <a:r>
              <a:rPr lang="fr-FR" sz="2800" b="1" dirty="0" smtClean="0"/>
              <a:t>des  trois feuillets entoblaste, mésoblaste et entoblaste.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5832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r>
              <a:rPr lang="fr-FR" sz="2800" b="1" dirty="0" smtClean="0">
                <a:solidFill>
                  <a:srgbClr val="002060"/>
                </a:solidFill>
              </a:rPr>
              <a:t> Délimitation de l’embryon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Débute à la fin de la 3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semaine et s’étale tout </a:t>
            </a:r>
          </a:p>
          <a:p>
            <a:r>
              <a:rPr lang="fr-FR" sz="2800" dirty="0" smtClean="0"/>
              <a:t>au long de la 4</a:t>
            </a:r>
            <a:r>
              <a:rPr lang="fr-FR" sz="2800" baseline="30000" dirty="0" smtClean="0"/>
              <a:t>ème </a:t>
            </a:r>
            <a:r>
              <a:rPr lang="fr-FR" sz="2800" dirty="0" smtClean="0"/>
              <a:t>semaine.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C'est un </a:t>
            </a:r>
            <a:r>
              <a:rPr lang="fr-FR" sz="2800" b="1" dirty="0" smtClean="0">
                <a:solidFill>
                  <a:srgbClr val="00B0F0"/>
                </a:solidFill>
              </a:rPr>
              <a:t>enroulement ventral </a:t>
            </a:r>
            <a:r>
              <a:rPr lang="fr-FR" sz="2800" dirty="0" smtClean="0"/>
              <a:t>de l'embryon pour </a:t>
            </a:r>
          </a:p>
          <a:p>
            <a:r>
              <a:rPr lang="fr-FR" sz="2800" dirty="0" smtClean="0"/>
              <a:t>s’individualiser de ses annexes.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 peut se décrire sur des coupes  </a:t>
            </a:r>
            <a:r>
              <a:rPr lang="fr-FR" sz="2800" b="1" dirty="0" smtClean="0">
                <a:solidFill>
                  <a:srgbClr val="00B0F0"/>
                </a:solidFill>
              </a:rPr>
              <a:t>transversales </a:t>
            </a:r>
            <a:r>
              <a:rPr lang="fr-FR" sz="2800" dirty="0" smtClean="0">
                <a:solidFill>
                  <a:srgbClr val="00B0F0"/>
                </a:solidFill>
              </a:rPr>
              <a:t>e</a:t>
            </a:r>
            <a:r>
              <a:rPr lang="fr-FR" sz="2800" dirty="0" smtClean="0"/>
              <a:t>t </a:t>
            </a:r>
          </a:p>
          <a:p>
            <a:r>
              <a:rPr lang="fr-FR" sz="2800" dirty="0" smtClean="0"/>
              <a:t>sur des coupes </a:t>
            </a:r>
            <a:r>
              <a:rPr lang="fr-FR" sz="2800" b="1" dirty="0" smtClean="0">
                <a:solidFill>
                  <a:srgbClr val="00B0F0"/>
                </a:solidFill>
              </a:rPr>
              <a:t>longitudinales</a:t>
            </a:r>
            <a:r>
              <a:rPr lang="fr-FR" sz="2800" dirty="0" smtClean="0"/>
              <a:t> médianes. </a:t>
            </a:r>
          </a:p>
          <a:p>
            <a:endParaRPr lang="fr-FR" sz="3200" dirty="0" smtClean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80670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La délimitation en général se traduit par: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Développement très important de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  <a:r>
              <a:rPr lang="fr-FR" sz="2800" dirty="0" smtClean="0"/>
              <a:t>, </a:t>
            </a:r>
          </a:p>
          <a:p>
            <a:r>
              <a:rPr lang="fr-FR" sz="2800" dirty="0" smtClean="0"/>
              <a:t>     entourant  complètement l'embryon.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 est </a:t>
            </a:r>
            <a:r>
              <a:rPr lang="fr-FR" sz="2800" b="1" dirty="0" smtClean="0">
                <a:solidFill>
                  <a:srgbClr val="00B050"/>
                </a:solidFill>
              </a:rPr>
              <a:t>complètement entouré d'ectoblaste</a:t>
            </a:r>
            <a:r>
              <a:rPr lang="fr-FR" sz="2800" dirty="0" smtClean="0"/>
              <a:t>;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L’extrémité </a:t>
            </a:r>
            <a:r>
              <a:rPr lang="fr-FR" sz="2800" dirty="0" err="1" smtClean="0"/>
              <a:t>crâniale</a:t>
            </a:r>
            <a:r>
              <a:rPr lang="fr-FR" sz="2800" dirty="0" smtClean="0"/>
              <a:t> et l’extrémité caudale pliées</a:t>
            </a:r>
          </a:p>
          <a:p>
            <a:r>
              <a:rPr lang="fr-FR" sz="2800" dirty="0" smtClean="0"/>
              <a:t>    Donc </a:t>
            </a:r>
            <a:r>
              <a:rPr lang="fr-FR" sz="2800" b="1" dirty="0" smtClean="0">
                <a:solidFill>
                  <a:srgbClr val="00B050"/>
                </a:solidFill>
              </a:rPr>
              <a:t>retournement complet des </a:t>
            </a:r>
            <a:r>
              <a:rPr lang="fr-FR" sz="2800" b="1" dirty="0" err="1" smtClean="0">
                <a:solidFill>
                  <a:srgbClr val="00B050"/>
                </a:solidFill>
              </a:rPr>
              <a:t>mbs</a:t>
            </a:r>
            <a:r>
              <a:rPr lang="fr-FR" sz="2800" b="1" dirty="0" smtClean="0">
                <a:solidFill>
                  <a:srgbClr val="00B050"/>
                </a:solidFill>
              </a:rPr>
              <a:t> pharyngienne et 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   cloacale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Etranglement du le </a:t>
            </a:r>
            <a:r>
              <a:rPr lang="fr-FR" sz="2800" dirty="0" err="1" smtClean="0"/>
              <a:t>lécitocèle</a:t>
            </a:r>
            <a:r>
              <a:rPr lang="fr-FR" sz="2800" dirty="0" smtClean="0"/>
              <a:t>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</a:t>
            </a:r>
            <a:r>
              <a:rPr lang="fr-FR" sz="2800" dirty="0" smtClean="0"/>
              <a:t> formant: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supérieure: </a:t>
            </a:r>
            <a:r>
              <a:rPr lang="fr-FR" sz="2800" b="1" dirty="0" smtClean="0">
                <a:solidFill>
                  <a:srgbClr val="00B050"/>
                </a:solidFill>
              </a:rPr>
              <a:t>le tube digestif primitif.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inférieure:   </a:t>
            </a:r>
            <a:r>
              <a:rPr lang="fr-FR" sz="2800" b="1" dirty="0" smtClean="0">
                <a:solidFill>
                  <a:srgbClr val="00B050"/>
                </a:solidFill>
              </a:rPr>
              <a:t>la  vésicule vitelline. 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    Partie intermédiaire: </a:t>
            </a:r>
            <a:r>
              <a:rPr lang="fr-FR" sz="2800" b="1" dirty="0" smtClean="0">
                <a:solidFill>
                  <a:srgbClr val="00B050"/>
                </a:solidFill>
              </a:rPr>
              <a:t>le canal vitellin</a:t>
            </a:r>
            <a:r>
              <a:rPr lang="fr-FR" sz="2800" dirty="0" smtClean="0"/>
              <a:t>.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1139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pédicule embryonnaire en position ventrale.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Formation du </a:t>
            </a:r>
            <a:r>
              <a:rPr lang="fr-FR" sz="2800" b="1" dirty="0" smtClean="0">
                <a:solidFill>
                  <a:srgbClr val="00B050"/>
                </a:solidFill>
              </a:rPr>
              <a:t>cordon ombilical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limité par </a:t>
            </a:r>
            <a:r>
              <a:rPr lang="fr-FR" sz="2800" b="1" dirty="0" smtClean="0">
                <a:solidFill>
                  <a:srgbClr val="00B050"/>
                </a:solidFill>
              </a:rPr>
              <a:t>l’amnios</a:t>
            </a:r>
            <a:r>
              <a:rPr lang="fr-FR" sz="2800" dirty="0" smtClean="0"/>
              <a:t> et contient dans </a:t>
            </a:r>
            <a:r>
              <a:rPr lang="fr-FR" sz="2800" b="1" dirty="0" smtClean="0">
                <a:solidFill>
                  <a:srgbClr val="00B050"/>
                </a:solidFill>
              </a:rPr>
              <a:t>le mésenchyme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la vésicule vitelline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/>
              <a:t> l'allantoïde, ainsi que ses vaisseaux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des  </a:t>
            </a:r>
            <a:r>
              <a:rPr lang="fr-FR" sz="2800" b="1" dirty="0" smtClean="0">
                <a:solidFill>
                  <a:srgbClr val="00B050"/>
                </a:solidFill>
              </a:rPr>
              <a:t>gonocytes primordiaux </a:t>
            </a:r>
            <a:r>
              <a:rPr lang="fr-FR" sz="2800" dirty="0" smtClean="0"/>
              <a:t>en position ventrale.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Migration de </a:t>
            </a:r>
            <a:r>
              <a:rPr lang="fr-FR" sz="2800" b="1" dirty="0" smtClean="0">
                <a:solidFill>
                  <a:srgbClr val="00B050"/>
                </a:solidFill>
              </a:rPr>
              <a:t>L'ébauche cardiaque </a:t>
            </a:r>
            <a:r>
              <a:rPr lang="fr-FR" sz="2800" dirty="0" smtClean="0"/>
              <a:t>en position  ventrale vers</a:t>
            </a:r>
          </a:p>
          <a:p>
            <a:r>
              <a:rPr lang="fr-FR" sz="2800" dirty="0" smtClean="0"/>
              <a:t> le 1/3 antérieur.</a:t>
            </a:r>
          </a:p>
          <a:p>
            <a:r>
              <a:rPr lang="fr-FR" sz="2800" dirty="0" smtClean="0"/>
              <a:t>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4211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 </a:t>
            </a:r>
            <a:endParaRPr lang="fr-FR" sz="3200" dirty="0" smtClean="0"/>
          </a:p>
          <a:p>
            <a:r>
              <a:rPr lang="fr-FR" sz="2800" dirty="0" smtClean="0"/>
              <a:t>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L’embryon est 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délimité par,</a:t>
            </a:r>
            <a:r>
              <a:rPr lang="fr-FR" sz="2800" b="1" dirty="0" smtClean="0">
                <a:solidFill>
                  <a:srgbClr val="00B050"/>
                </a:solidFill>
              </a:rPr>
              <a:t> l'ectoblaste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baigne donc dans </a:t>
            </a:r>
            <a:r>
              <a:rPr lang="fr-FR" sz="2800" b="1" dirty="0" smtClean="0">
                <a:solidFill>
                  <a:srgbClr val="00B050"/>
                </a:solidFill>
              </a:rPr>
              <a:t>la cavité amniotique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cœlome externe</a:t>
            </a:r>
            <a:r>
              <a:rPr lang="fr-FR" sz="2800" dirty="0" smtClean="0"/>
              <a:t>, se trouve écrasé entre </a:t>
            </a:r>
            <a:r>
              <a:rPr lang="fr-FR" sz="2800" b="1" dirty="0" smtClean="0">
                <a:solidFill>
                  <a:srgbClr val="00B050"/>
                </a:solidFill>
              </a:rPr>
              <a:t>la lame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 amniotique</a:t>
            </a:r>
            <a:r>
              <a:rPr lang="fr-FR" sz="2800" dirty="0" smtClean="0"/>
              <a:t> et la </a:t>
            </a:r>
            <a:r>
              <a:rPr lang="fr-FR" sz="2800" b="1" dirty="0" smtClean="0">
                <a:solidFill>
                  <a:srgbClr val="00B050"/>
                </a:solidFill>
              </a:rPr>
              <a:t>lame choriale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L’embryon est relié au  chorion (ébauche du placenta), </a:t>
            </a:r>
          </a:p>
          <a:p>
            <a:r>
              <a:rPr lang="fr-FR" sz="2800" dirty="0" smtClean="0"/>
              <a:t>par le cordon ombilical, à travers la cavité amniotique.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- Coupes logngitudinal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887" y="0"/>
            <a:ext cx="8892480" cy="508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39552" y="5445224"/>
            <a:ext cx="8181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LONGITUDINALES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Délimitation dans le sens transversa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11560" y="4005064"/>
            <a:ext cx="84489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DELIMITATION SUR COUPES TRANSVERSALES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Tube digestif primitif             Canal vitellin</a:t>
            </a:r>
          </a:p>
          <a:p>
            <a:r>
              <a:rPr lang="fr-FR" sz="3200" b="1" dirty="0" smtClean="0"/>
              <a:t>                                                                         Vésicule</a:t>
            </a:r>
          </a:p>
          <a:p>
            <a:r>
              <a:rPr lang="fr-FR" sz="3200" b="1" dirty="0" smtClean="0"/>
              <a:t>                                                                      ombilicale</a:t>
            </a:r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7596336" y="3861048"/>
            <a:ext cx="144016" cy="23042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5796136" y="3068960"/>
            <a:ext cx="1944216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4499992" y="2420888"/>
            <a:ext cx="3168352" cy="302433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92342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Le cordon ombilical est formé par: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L'amnios, accolé au mésenchyme du pédicule,</a:t>
            </a:r>
          </a:p>
          <a:p>
            <a:r>
              <a:rPr lang="fr-FR" sz="3200" dirty="0" smtClean="0"/>
              <a:t> limite le cordon ombilical primitif composé: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canal vitellin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vésicule ombilicale 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allantoïde</a:t>
            </a:r>
          </a:p>
          <a:p>
            <a:pPr>
              <a:buFont typeface="Wingdings" pitchFamily="2" charset="2"/>
              <a:buChar char="§"/>
            </a:pPr>
            <a:r>
              <a:rPr lang="fr-FR" sz="3200" b="1" dirty="0" smtClean="0"/>
              <a:t> </a:t>
            </a:r>
            <a:r>
              <a:rPr lang="fr-FR" sz="3200" dirty="0" smtClean="0"/>
              <a:t> mésenchyme du pédicule avec les vaisseaux </a:t>
            </a:r>
          </a:p>
          <a:p>
            <a:r>
              <a:rPr lang="fr-FR" sz="3200" dirty="0" smtClean="0"/>
              <a:t>   de la circulation placentaire</a:t>
            </a:r>
            <a:endParaRPr lang="fr-FR" sz="3200" b="1" dirty="0"/>
          </a:p>
        </p:txBody>
      </p:sp>
      <p:pic>
        <p:nvPicPr>
          <p:cNvPr id="3" name="Image 2" descr="Cordon ombilical primit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548680"/>
            <a:ext cx="46805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slideplayer.fr/3/1315593/slides/slide_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0" y="0"/>
            <a:ext cx="703384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Evolution des feuillets </a:t>
            </a:r>
            <a:endParaRPr lang="fr-FR" sz="2800" b="1" dirty="0">
              <a:solidFill>
                <a:srgbClr val="002060"/>
              </a:solidFill>
            </a:endParaRPr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B0F0"/>
                </a:solidFill>
              </a:rPr>
              <a:t>Evolution de l’ectoblaste: fin de la neurulation</a:t>
            </a:r>
            <a:endParaRPr lang="fr-FR" sz="2800" dirty="0">
              <a:solidFill>
                <a:srgbClr val="00B0F0"/>
              </a:solidFill>
            </a:endParaRPr>
          </a:p>
          <a:p>
            <a:endParaRPr lang="fr-FR" dirty="0"/>
          </a:p>
        </p:txBody>
      </p:sp>
      <p:pic>
        <p:nvPicPr>
          <p:cNvPr id="8" name="Imag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23548"/>
            <a:ext cx="4572000" cy="4801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283968" y="3573016"/>
            <a:ext cx="50405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Arcs branchiaux (4</a:t>
            </a:r>
            <a:r>
              <a:rPr lang="fr-FR" sz="2400" dirty="0" smtClean="0"/>
              <a:t>):</a:t>
            </a:r>
          </a:p>
          <a:p>
            <a:r>
              <a:rPr lang="fr-FR" sz="2400" dirty="0" smtClean="0"/>
              <a:t>- Formations </a:t>
            </a:r>
            <a:r>
              <a:rPr lang="fr-FR" sz="2400" dirty="0" smtClean="0">
                <a:hlinkClick r:id="rId3"/>
              </a:rPr>
              <a:t>embryonnaires</a:t>
            </a:r>
            <a:r>
              <a:rPr lang="fr-FR" sz="2400" dirty="0" smtClean="0"/>
              <a:t> entourant la </a:t>
            </a:r>
            <a:r>
              <a:rPr lang="fr-FR" sz="2400" dirty="0" smtClean="0"/>
              <a:t>cavité  </a:t>
            </a:r>
            <a:r>
              <a:rPr lang="fr-FR" sz="2400" dirty="0" smtClean="0"/>
              <a:t>formée par la bouche et la </a:t>
            </a:r>
            <a:r>
              <a:rPr lang="fr-FR" sz="2400" dirty="0" smtClean="0">
                <a:hlinkClick r:id="rId4"/>
              </a:rPr>
              <a:t>gorge</a:t>
            </a:r>
            <a:r>
              <a:rPr lang="fr-FR" sz="2400" dirty="0" smtClean="0"/>
              <a:t>.</a:t>
            </a:r>
          </a:p>
          <a:p>
            <a:r>
              <a:rPr lang="fr-FR" sz="2400" dirty="0" smtClean="0"/>
              <a:t> </a:t>
            </a:r>
            <a:r>
              <a:rPr lang="fr-FR" sz="2400" dirty="0" smtClean="0"/>
              <a:t>- Ils </a:t>
            </a:r>
            <a:r>
              <a:rPr lang="fr-FR" sz="2400" dirty="0" smtClean="0"/>
              <a:t>donnent naissance aux </a:t>
            </a:r>
            <a:r>
              <a:rPr lang="fr-FR" sz="2400" dirty="0" smtClean="0"/>
              <a:t>différents </a:t>
            </a:r>
            <a:r>
              <a:rPr lang="fr-FR" sz="2400" dirty="0" smtClean="0"/>
              <a:t>organes </a:t>
            </a:r>
            <a:r>
              <a:rPr lang="fr-FR" sz="2400" dirty="0" smtClean="0"/>
              <a:t>et  </a:t>
            </a:r>
            <a:r>
              <a:rPr lang="fr-FR" sz="2400" dirty="0" smtClean="0"/>
              <a:t>tissus formant cette cavité </a:t>
            </a:r>
            <a:r>
              <a:rPr lang="fr-FR" sz="2400" dirty="0" smtClean="0"/>
              <a:t>(</a:t>
            </a:r>
            <a:r>
              <a:rPr lang="fr-FR" sz="2400" dirty="0" smtClean="0"/>
              <a:t>machoires, langue, </a:t>
            </a:r>
            <a:r>
              <a:rPr lang="fr-FR" sz="2400" dirty="0" smtClean="0">
                <a:hlinkClick r:id="rId5"/>
              </a:rPr>
              <a:t>larynx</a:t>
            </a:r>
            <a:r>
              <a:rPr lang="fr-FR" sz="2400" dirty="0" smtClean="0"/>
              <a:t>,…).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856357"/>
            <a:ext cx="2776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 </a:t>
            </a: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8924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Le tube neural en avant présente 3 </a:t>
            </a:r>
            <a:r>
              <a:rPr lang="fr-FR" sz="2800" dirty="0"/>
              <a:t>vésicules</a:t>
            </a:r>
            <a:r>
              <a:rPr lang="fr-FR" sz="2800" dirty="0" smtClean="0"/>
              <a:t>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Le </a:t>
            </a:r>
            <a:r>
              <a:rPr lang="fr-FR" sz="2800" b="1" dirty="0">
                <a:solidFill>
                  <a:srgbClr val="00B0F0"/>
                </a:solidFill>
              </a:rPr>
              <a:t>proencéphale</a:t>
            </a:r>
            <a:r>
              <a:rPr lang="fr-FR" sz="2800" dirty="0"/>
              <a:t>   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télencéphale (hémisphères cérébraux)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diencéphale ( voies optiques, hypothalamus,</a:t>
            </a:r>
          </a:p>
          <a:p>
            <a:r>
              <a:rPr lang="fr-FR" sz="2800" dirty="0"/>
              <a:t> hypophyse)</a:t>
            </a:r>
          </a:p>
          <a:p>
            <a:endParaRPr lang="fr-FR" sz="2800" dirty="0"/>
          </a:p>
          <a:p>
            <a:r>
              <a:rPr lang="fr-FR" sz="2800" dirty="0"/>
              <a:t> </a:t>
            </a:r>
            <a:r>
              <a:rPr lang="fr-FR" sz="2800" b="1" dirty="0">
                <a:solidFill>
                  <a:srgbClr val="00B0F0"/>
                </a:solidFill>
              </a:rPr>
              <a:t>Le mésencéphale </a:t>
            </a:r>
            <a:r>
              <a:rPr lang="fr-FR" sz="2800" dirty="0"/>
              <a:t>: réflexes auditifs et influx visuels</a:t>
            </a:r>
          </a:p>
          <a:p>
            <a:endParaRPr lang="fr-FR" sz="2800" dirty="0"/>
          </a:p>
          <a:p>
            <a:r>
              <a:rPr lang="fr-FR" sz="2800" dirty="0"/>
              <a:t> </a:t>
            </a:r>
            <a:r>
              <a:rPr lang="fr-FR" sz="2800" b="1" dirty="0">
                <a:solidFill>
                  <a:srgbClr val="00B0F0"/>
                </a:solidFill>
              </a:rPr>
              <a:t>Le rhombencéphale</a:t>
            </a:r>
            <a:r>
              <a:rPr lang="fr-FR" sz="2800" dirty="0"/>
              <a:t> :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métencéphale (cervelet)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 myélencéphale  ( bulbe rachidien).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22231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du mésoblaste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Mésoblaste (nœud de Hensen)                 Chorde</a:t>
            </a:r>
          </a:p>
          <a:p>
            <a:r>
              <a:rPr lang="fr-FR" sz="2800" b="1" dirty="0" smtClean="0"/>
              <a:t>                                                          ébauche </a:t>
            </a:r>
            <a:r>
              <a:rPr lang="fr-FR" sz="2800" b="1" dirty="0"/>
              <a:t>du squelette </a:t>
            </a:r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axial </a:t>
            </a:r>
            <a:r>
              <a:rPr lang="fr-FR" sz="2800" b="1" dirty="0"/>
              <a:t>de </a:t>
            </a:r>
            <a:r>
              <a:rPr lang="fr-FR" sz="2800" b="1" dirty="0" smtClean="0"/>
              <a:t>l'embryon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Mésoblaste (ligne primitive): 3 mésoblastes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 Mésoblaste para-axial                    somites</a:t>
            </a:r>
            <a:endParaRPr lang="fr-FR" sz="2800" dirty="0"/>
          </a:p>
        </p:txBody>
      </p:sp>
      <p:sp>
        <p:nvSpPr>
          <p:cNvPr id="3" name="Flèche droite 2"/>
          <p:cNvSpPr/>
          <p:nvPr/>
        </p:nvSpPr>
        <p:spPr>
          <a:xfrm>
            <a:off x="5195228" y="62068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Les somit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73016"/>
            <a:ext cx="298782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lèche droite 4"/>
          <p:cNvSpPr/>
          <p:nvPr/>
        </p:nvSpPr>
        <p:spPr>
          <a:xfrm>
            <a:off x="4225899" y="278092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187946" y="3749457"/>
            <a:ext cx="59560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2800" dirty="0" smtClean="0"/>
              <a:t>- 3 à 4 paires occipitales (transitoires et </a:t>
            </a:r>
          </a:p>
          <a:p>
            <a:pPr lvl="0"/>
            <a:r>
              <a:rPr lang="fr-FR" sz="2800" dirty="0" smtClean="0"/>
              <a:t>                  mal individualisées) </a:t>
            </a:r>
          </a:p>
          <a:p>
            <a:pPr lvl="0"/>
            <a:r>
              <a:rPr lang="fr-FR" sz="2800" dirty="0" smtClean="0"/>
              <a:t>- 8 paires cervicales </a:t>
            </a:r>
          </a:p>
          <a:p>
            <a:pPr lvl="0"/>
            <a:r>
              <a:rPr lang="fr-FR" sz="2800" dirty="0" smtClean="0"/>
              <a:t>- 12 paires dorsales </a:t>
            </a:r>
          </a:p>
          <a:p>
            <a:pPr lvl="0"/>
            <a:r>
              <a:rPr lang="fr-FR" sz="2800" dirty="0" smtClean="0"/>
              <a:t>- 5 paires lombaires </a:t>
            </a:r>
          </a:p>
          <a:p>
            <a:pPr lvl="0"/>
            <a:r>
              <a:rPr lang="fr-FR" sz="2800" dirty="0" smtClean="0"/>
              <a:t>- 5 paires sacrées </a:t>
            </a:r>
          </a:p>
          <a:p>
            <a:r>
              <a:rPr lang="fr-FR" sz="2800" dirty="0" smtClean="0"/>
              <a:t>- 8 à 12 paires coccygiennes.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126374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Somite =  </a:t>
            </a:r>
            <a:r>
              <a:rPr lang="fr-FR" sz="2800" b="1" dirty="0" err="1" smtClean="0">
                <a:solidFill>
                  <a:srgbClr val="00B0F0"/>
                </a:solidFill>
              </a:rPr>
              <a:t>Sclérotome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Dermomyotome</a:t>
            </a:r>
            <a:r>
              <a:rPr lang="fr-FR" sz="2800" b="1" dirty="0" smtClean="0">
                <a:solidFill>
                  <a:srgbClr val="00B0F0"/>
                </a:solidFill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sclérotome =  </a:t>
            </a:r>
            <a:r>
              <a:rPr lang="fr-FR" sz="2800" b="1" dirty="0" smtClean="0"/>
              <a:t>futurs vertébres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Le </a:t>
            </a:r>
            <a:r>
              <a:rPr lang="fr-FR" sz="2800" b="1" dirty="0" err="1" smtClean="0">
                <a:solidFill>
                  <a:srgbClr val="00B0F0"/>
                </a:solidFill>
              </a:rPr>
              <a:t>demomyotome</a:t>
            </a:r>
            <a:r>
              <a:rPr lang="fr-FR" sz="2800" b="1" dirty="0" smtClean="0">
                <a:solidFill>
                  <a:srgbClr val="00B0F0"/>
                </a:solidFill>
              </a:rPr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dermatome</a:t>
            </a:r>
            <a:r>
              <a:rPr lang="fr-FR" sz="2800" b="1" dirty="0" smtClean="0">
                <a:solidFill>
                  <a:srgbClr val="00B0F0"/>
                </a:solidFill>
              </a:rPr>
              <a:t> + </a:t>
            </a:r>
            <a:r>
              <a:rPr lang="fr-FR" sz="2800" b="1" dirty="0" err="1" smtClean="0">
                <a:solidFill>
                  <a:srgbClr val="00B0F0"/>
                </a:solidFill>
              </a:rPr>
              <a:t>myotome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>
              <a:solidFill>
                <a:srgbClr val="00B050"/>
              </a:solidFill>
            </a:endParaRPr>
          </a:p>
          <a:p>
            <a:r>
              <a:rPr lang="fr-FR" sz="2800" b="1" dirty="0" smtClean="0">
                <a:solidFill>
                  <a:srgbClr val="00B050"/>
                </a:solidFill>
              </a:rPr>
              <a:t>Le dermatome</a:t>
            </a:r>
          </a:p>
          <a:p>
            <a:r>
              <a:rPr lang="fr-FR" sz="2800" b="1" dirty="0" smtClean="0"/>
              <a:t>tissu conjonctif de la peau</a:t>
            </a:r>
          </a:p>
          <a:p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err="1" smtClean="0">
                <a:solidFill>
                  <a:srgbClr val="00B050"/>
                </a:solidFill>
              </a:rPr>
              <a:t>myotome</a:t>
            </a:r>
            <a:endParaRPr lang="fr-FR" sz="2800" b="1" dirty="0" smtClean="0"/>
          </a:p>
          <a:p>
            <a:r>
              <a:rPr lang="fr-FR" sz="2800" b="1" dirty="0" smtClean="0"/>
              <a:t> majorité des muscles du corps </a:t>
            </a:r>
          </a:p>
          <a:p>
            <a:r>
              <a:rPr lang="fr-FR" sz="2800" b="1" dirty="0" smtClean="0"/>
              <a:t>                         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813690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43770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intermédiaire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                                                   </a:t>
            </a:r>
            <a:endParaRPr lang="fr-FR" sz="3200" b="1" dirty="0"/>
          </a:p>
        </p:txBody>
      </p:sp>
      <p:pic>
        <p:nvPicPr>
          <p:cNvPr id="3" name="Image 2" descr="http://moodle.univ-brest.fr/medecine/public/sites/Serveur_2009/Embryologie/Emb_gen/E_3-4-s/D4mint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75963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573016"/>
            <a:ext cx="954844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P= </a:t>
            </a:r>
            <a:r>
              <a:rPr lang="fr-FR" sz="2800" b="1" dirty="0" smtClean="0">
                <a:solidFill>
                  <a:srgbClr val="00B0F0"/>
                </a:solidFill>
              </a:rPr>
              <a:t>pronephros</a:t>
            </a:r>
            <a:r>
              <a:rPr lang="fr-FR" sz="2800" b="1" dirty="0" smtClean="0"/>
              <a:t>:  régresse 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Mes= </a:t>
            </a:r>
            <a:r>
              <a:rPr lang="fr-FR" sz="2800" b="1" dirty="0" smtClean="0">
                <a:solidFill>
                  <a:srgbClr val="00B0F0"/>
                </a:solidFill>
              </a:rPr>
              <a:t>mesonephros</a:t>
            </a:r>
            <a:r>
              <a:rPr lang="fr-FR" sz="2800" b="1" dirty="0" smtClean="0"/>
              <a:t>: les voies urinaires et les voies                   </a:t>
            </a:r>
          </a:p>
          <a:p>
            <a:r>
              <a:rPr lang="fr-FR" sz="2800" b="1" dirty="0" smtClean="0"/>
              <a:t>                               génitales mâles. 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Met= </a:t>
            </a:r>
            <a:r>
              <a:rPr lang="fr-FR" sz="2800" b="1" dirty="0" smtClean="0">
                <a:solidFill>
                  <a:srgbClr val="00B0F0"/>
                </a:solidFill>
              </a:rPr>
              <a:t>metanephros: </a:t>
            </a:r>
            <a:r>
              <a:rPr lang="fr-FR" sz="2800" b="1" dirty="0" smtClean="0"/>
              <a:t>ébauche du rein définitif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252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latéral: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7030A0"/>
                </a:solidFill>
              </a:rPr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somatopleure</a:t>
            </a:r>
            <a:r>
              <a:rPr lang="fr-FR" sz="2800" b="1" dirty="0" smtClean="0">
                <a:solidFill>
                  <a:srgbClr val="7030A0"/>
                </a:solidFill>
              </a:rPr>
              <a:t> intra- 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>
                <a:solidFill>
                  <a:srgbClr val="7030A0"/>
                </a:solidFill>
              </a:rPr>
              <a:t>: </a:t>
            </a:r>
          </a:p>
          <a:p>
            <a:r>
              <a:rPr lang="fr-FR" sz="2800" dirty="0" smtClean="0"/>
              <a:t>pariétale, forme </a:t>
            </a:r>
            <a:r>
              <a:rPr lang="fr-FR" sz="2800" dirty="0"/>
              <a:t>avec </a:t>
            </a:r>
            <a:r>
              <a:rPr lang="fr-FR" sz="2800" dirty="0" smtClean="0"/>
              <a:t>l’ectoblaste,les </a:t>
            </a:r>
            <a:r>
              <a:rPr lang="fr-FR" sz="2800" dirty="0"/>
              <a:t>parois </a:t>
            </a:r>
            <a:r>
              <a:rPr lang="fr-FR" sz="2800" dirty="0" smtClean="0"/>
              <a:t>latérales et </a:t>
            </a:r>
            <a:r>
              <a:rPr lang="fr-FR" sz="2800" dirty="0"/>
              <a:t>ventrales de l’embryon.</a:t>
            </a:r>
          </a:p>
          <a:p>
            <a:pPr>
              <a:buFont typeface="Wingdings" pitchFamily="2" charset="2"/>
              <a:buChar char="Ø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>
                <a:solidFill>
                  <a:srgbClr val="7030A0"/>
                </a:solidFill>
              </a:rPr>
              <a:t>La </a:t>
            </a:r>
            <a:r>
              <a:rPr lang="fr-FR" sz="2800" b="1" dirty="0" err="1" smtClean="0">
                <a:solidFill>
                  <a:srgbClr val="7030A0"/>
                </a:solidFill>
              </a:rPr>
              <a:t>splanchnopleure</a:t>
            </a:r>
            <a:r>
              <a:rPr lang="fr-FR" sz="2800" b="1" dirty="0" smtClean="0">
                <a:solidFill>
                  <a:srgbClr val="7030A0"/>
                </a:solidFill>
              </a:rPr>
              <a:t> intra-</a:t>
            </a:r>
            <a:r>
              <a:rPr lang="fr-FR" sz="2800" b="1" dirty="0" err="1" smtClean="0">
                <a:solidFill>
                  <a:srgbClr val="7030A0"/>
                </a:solidFill>
              </a:rPr>
              <a:t>emb</a:t>
            </a:r>
            <a:r>
              <a:rPr lang="fr-FR" sz="2800" b="1" dirty="0" smtClean="0"/>
              <a:t>: </a:t>
            </a:r>
          </a:p>
          <a:p>
            <a:r>
              <a:rPr lang="fr-FR" sz="2800" dirty="0" smtClean="0"/>
              <a:t>viscérale</a:t>
            </a:r>
            <a:r>
              <a:rPr lang="fr-FR" sz="2800" dirty="0"/>
              <a:t>, </a:t>
            </a:r>
            <a:r>
              <a:rPr lang="fr-FR" sz="2800" dirty="0" smtClean="0"/>
              <a:t>entoure les organes, formant avec  </a:t>
            </a:r>
            <a:r>
              <a:rPr lang="fr-FR" sz="2800" dirty="0"/>
              <a:t>l’entoblaste, la paroi du tube </a:t>
            </a:r>
            <a:r>
              <a:rPr lang="fr-FR" sz="2800" dirty="0" smtClean="0"/>
              <a:t>digestif.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Le Cœlome intra-embryonnaire: </a:t>
            </a:r>
            <a:r>
              <a:rPr lang="fr-FR" sz="2800" dirty="0" smtClean="0"/>
              <a:t>cavité pleurale-péricardique-péritonéale</a:t>
            </a:r>
          </a:p>
          <a:p>
            <a:pPr>
              <a:buFont typeface="Wingdings" pitchFamily="2" charset="2"/>
              <a:buChar char="q"/>
            </a:pP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1"/>
            <a:ext cx="3096344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 descr="Délimitation dans le sens transversal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2276872"/>
            <a:ext cx="8676456" cy="403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483335" y="1052736"/>
            <a:ext cx="2755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Somatopleure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139952" y="5877272"/>
            <a:ext cx="2729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/>
              <a:t>Splanchnopleure</a:t>
            </a:r>
            <a:endParaRPr lang="fr-FR" sz="2400" b="1" dirty="0" smtClean="0"/>
          </a:p>
          <a:p>
            <a:r>
              <a:rPr lang="fr-FR" sz="2400" b="1" dirty="0" smtClean="0"/>
              <a:t> intra-embryonnaire</a:t>
            </a:r>
            <a:endParaRPr lang="fr-FR" sz="24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3635896" y="2348880"/>
            <a:ext cx="3790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Cœlome intra-embryonnaire</a:t>
            </a:r>
            <a:endParaRPr lang="fr-FR" sz="24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6372200" y="2708920"/>
            <a:ext cx="1008112" cy="194421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V="1">
            <a:off x="4139952" y="4653136"/>
            <a:ext cx="432048" cy="129614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5508104" y="1484784"/>
            <a:ext cx="2016224" cy="295232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2 Quatrième semaine du développement embryonnaire : Segmentation du mésoblaste dans la région moyenne de l’embryo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4544" y="-603448"/>
            <a:ext cx="9468543" cy="784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 flipV="1">
            <a:off x="755576" y="8104943"/>
            <a:ext cx="7298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 : Vertèbres, I = Disques </a:t>
            </a:r>
            <a:r>
              <a:rPr lang="fr-FR" b="1" dirty="0" err="1"/>
              <a:t>inter-vertébraux</a:t>
            </a:r>
            <a:r>
              <a:rPr lang="fr-FR" b="1" dirty="0"/>
              <a:t>, M = Muscles du dos, D = Derme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864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Evolution de l’entoblaste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3-4-s/D4_ent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208912" cy="3383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41762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pharyngien: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La membrane pharyngienne disparaît au 27ème jour</a:t>
            </a:r>
          </a:p>
          <a:p>
            <a:pPr lvl="0"/>
            <a:r>
              <a:rPr lang="fr-FR" sz="2800" dirty="0" smtClean="0"/>
              <a:t> et permet la communication de l'intestin pharyngien</a:t>
            </a:r>
          </a:p>
          <a:p>
            <a:pPr lvl="0"/>
            <a:r>
              <a:rPr lang="fr-FR" sz="2800" dirty="0" smtClean="0"/>
              <a:t> avec l'extérieur de l'embryon par le </a:t>
            </a:r>
            <a:r>
              <a:rPr lang="fr-FR" sz="2800" dirty="0" err="1" smtClean="0"/>
              <a:t>stomadeum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L'intestin pharyngien forme avec le </a:t>
            </a:r>
            <a:r>
              <a:rPr lang="fr-FR" sz="2800" dirty="0" err="1" smtClean="0"/>
              <a:t>stomodeum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la cavité buccale.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antérieur </a:t>
            </a:r>
            <a:r>
              <a:rPr lang="fr-FR" sz="2800" dirty="0" smtClean="0">
                <a:solidFill>
                  <a:srgbClr val="FF0000"/>
                </a:solidFill>
              </a:rPr>
              <a:t>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l'œsophage, l'estomac  primitif, </a:t>
            </a:r>
            <a:r>
              <a:rPr lang="fr-FR" sz="2800" dirty="0"/>
              <a:t>l'appareil respiratoire. </a:t>
            </a:r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moyen </a:t>
            </a:r>
            <a:r>
              <a:rPr lang="fr-FR" sz="2800" dirty="0" smtClean="0">
                <a:solidFill>
                  <a:srgbClr val="FF0000"/>
                </a:solidFill>
              </a:rPr>
              <a:t>: </a:t>
            </a:r>
          </a:p>
          <a:p>
            <a:pPr lvl="0"/>
            <a:r>
              <a:rPr lang="fr-FR" sz="2800" dirty="0" smtClean="0"/>
              <a:t>pancréas </a:t>
            </a:r>
            <a:r>
              <a:rPr lang="fr-FR" sz="2800" dirty="0"/>
              <a:t>et </a:t>
            </a:r>
            <a:r>
              <a:rPr lang="fr-FR" sz="2800" dirty="0" smtClean="0"/>
              <a:t> foie, anse intestinale primitive 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 (intestin </a:t>
            </a:r>
            <a:r>
              <a:rPr lang="fr-FR" sz="2800" dirty="0"/>
              <a:t>grêle et </a:t>
            </a:r>
            <a:r>
              <a:rPr lang="fr-FR" sz="2800" dirty="0" smtClean="0"/>
              <a:t>moitié </a:t>
            </a:r>
            <a:r>
              <a:rPr lang="fr-FR" sz="2800" dirty="0"/>
              <a:t>du gros </a:t>
            </a:r>
            <a:r>
              <a:rPr lang="fr-FR" sz="2800" dirty="0" smtClean="0"/>
              <a:t>intestin). 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L'intestin </a:t>
            </a:r>
            <a:r>
              <a:rPr lang="fr-FR" sz="2800" b="1" dirty="0">
                <a:solidFill>
                  <a:srgbClr val="0070C0"/>
                </a:solidFill>
              </a:rPr>
              <a:t>primitif postérieur </a:t>
            </a:r>
            <a:r>
              <a:rPr lang="fr-FR" sz="2800" b="1" dirty="0" smtClean="0">
                <a:solidFill>
                  <a:srgbClr val="0070C0"/>
                </a:solidFill>
              </a:rPr>
              <a:t>: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deuxième </a:t>
            </a:r>
            <a:r>
              <a:rPr lang="fr-FR" sz="2800" dirty="0"/>
              <a:t>moitié </a:t>
            </a:r>
            <a:r>
              <a:rPr lang="fr-FR" sz="2800" dirty="0" smtClean="0"/>
              <a:t>du  </a:t>
            </a:r>
            <a:r>
              <a:rPr lang="fr-FR" sz="2800" dirty="0"/>
              <a:t>gros intestin. </a:t>
            </a:r>
            <a:endParaRPr lang="fr-FR" sz="2800" dirty="0" smtClean="0"/>
          </a:p>
          <a:p>
            <a:pPr lvl="0"/>
            <a:r>
              <a:rPr lang="fr-FR" sz="2800" dirty="0" smtClean="0"/>
              <a:t>Son </a:t>
            </a:r>
            <a:r>
              <a:rPr lang="fr-FR" sz="2800" dirty="0"/>
              <a:t>extrémité se jette dans le cloaque, </a:t>
            </a:r>
            <a:r>
              <a:rPr lang="fr-FR" sz="2800" dirty="0" smtClean="0"/>
              <a:t>(</a:t>
            </a:r>
            <a:r>
              <a:rPr lang="fr-FR" sz="2800" dirty="0"/>
              <a:t>sinus </a:t>
            </a:r>
            <a:r>
              <a:rPr lang="fr-FR" sz="2800" dirty="0" smtClean="0"/>
              <a:t>uro-génital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en avant et rectum en arrière).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phoniatriestrasbourg.free.fr/Site_6/Processus_developpementaux_files/vv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208912" cy="60486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2" y="172125"/>
            <a:ext cx="8739515" cy="651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18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3812</TotalTime>
  <Words>456</Words>
  <Application>Microsoft Office PowerPoint</Application>
  <PresentationFormat>Affichage à l'écran (4:3)</PresentationFormat>
  <Paragraphs>179</Paragraphs>
  <Slides>22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38</cp:revision>
  <dcterms:created xsi:type="dcterms:W3CDTF">2014-12-28T17:06:51Z</dcterms:created>
  <dcterms:modified xsi:type="dcterms:W3CDTF">2023-12-09T11:54:38Z</dcterms:modified>
</cp:coreProperties>
</file>