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0" r:id="rId7"/>
    <p:sldId id="277" r:id="rId8"/>
    <p:sldId id="296" r:id="rId9"/>
    <p:sldId id="266" r:id="rId10"/>
    <p:sldId id="297" r:id="rId11"/>
    <p:sldId id="265" r:id="rId12"/>
    <p:sldId id="268" r:id="rId13"/>
    <p:sldId id="267" r:id="rId14"/>
    <p:sldId id="269" r:id="rId15"/>
    <p:sldId id="274" r:id="rId16"/>
    <p:sldId id="279" r:id="rId17"/>
    <p:sldId id="271" r:id="rId18"/>
    <p:sldId id="272" r:id="rId19"/>
    <p:sldId id="281" r:id="rId20"/>
    <p:sldId id="280" r:id="rId21"/>
    <p:sldId id="284" r:id="rId22"/>
    <p:sldId id="282" r:id="rId23"/>
    <p:sldId id="283" r:id="rId24"/>
    <p:sldId id="287" r:id="rId25"/>
    <p:sldId id="288" r:id="rId26"/>
    <p:sldId id="289" r:id="rId27"/>
    <p:sldId id="290" r:id="rId28"/>
    <p:sldId id="291" r:id="rId29"/>
    <p:sldId id="292" r:id="rId30"/>
    <p:sldId id="293" r:id="rId31"/>
    <p:sldId id="294" r:id="rId32"/>
    <p:sldId id="295" r:id="rId33"/>
    <p:sldId id="299" r:id="rId34"/>
    <p:sldId id="300" r:id="rId35"/>
    <p:sldId id="301" r:id="rId36"/>
    <p:sldId id="302" r:id="rId37"/>
    <p:sldId id="303" r:id="rId38"/>
    <p:sldId id="304" r:id="rId39"/>
    <p:sldId id="307" r:id="rId40"/>
    <p:sldId id="306" r:id="rId4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2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79" autoAdjust="0"/>
    <p:restoredTop sz="94660"/>
  </p:normalViewPr>
  <p:slideViewPr>
    <p:cSldViewPr snapToGrid="0">
      <p:cViewPr varScale="1">
        <p:scale>
          <a:sx n="70" d="100"/>
          <a:sy n="70" d="100"/>
        </p:scale>
        <p:origin x="75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7C165568-F7A7-4DE5-B14F-A7AA270EED5F}" type="datetimeFigureOut">
              <a:rPr lang="fr-FR" smtClean="0"/>
              <a:t>09/03/2025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4264333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C165568-F7A7-4DE5-B14F-A7AA270EED5F}" type="datetimeFigureOut">
              <a:rPr lang="fr-FR" smtClean="0"/>
              <a:t>09/03/2025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32740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C165568-F7A7-4DE5-B14F-A7AA270EED5F}" type="datetimeFigureOut">
              <a:rPr lang="fr-FR" smtClean="0"/>
              <a:t>09/03/2025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2213159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7C165568-F7A7-4DE5-B14F-A7AA270EED5F}" type="datetimeFigureOut">
              <a:rPr lang="fr-FR" smtClean="0"/>
              <a:t>09/03/2025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158169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7C165568-F7A7-4DE5-B14F-A7AA270EED5F}" type="datetimeFigureOut">
              <a:rPr lang="fr-FR" smtClean="0"/>
              <a:t>09/03/2025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545101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7C165568-F7A7-4DE5-B14F-A7AA270EED5F}" type="datetimeFigureOut">
              <a:rPr lang="fr-FR" smtClean="0"/>
              <a:t>09/03/2025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2372133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165568-F7A7-4DE5-B14F-A7AA270EED5F}" type="datetimeFigureOut">
              <a:rPr lang="fr-FR" smtClean="0"/>
              <a:t>09/03/2025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3476184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C165568-F7A7-4DE5-B14F-A7AA270EED5F}" type="datetimeFigureOut">
              <a:rPr lang="fr-FR" smtClean="0"/>
              <a:t>09/03/2025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3785320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C165568-F7A7-4DE5-B14F-A7AA270EED5F}" type="datetimeFigureOut">
              <a:rPr lang="fr-FR" smtClean="0"/>
              <a:t>09/03/2025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1012724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C165568-F7A7-4DE5-B14F-A7AA270EED5F}" type="datetimeFigureOut">
              <a:rPr lang="fr-FR" smtClean="0"/>
              <a:t>09/03/2025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1521355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C165568-F7A7-4DE5-B14F-A7AA270EED5F}" type="datetimeFigureOut">
              <a:rPr lang="fr-FR" smtClean="0"/>
              <a:t>09/03/2025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752494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165568-F7A7-4DE5-B14F-A7AA270EED5F}" type="datetimeFigureOut">
              <a:rPr lang="fr-FR" smtClean="0"/>
              <a:t>09/03/2025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6DCD50-0342-43D2-99AD-F1DF70530A3A}" type="slidenum">
              <a:rPr lang="fr-FR" smtClean="0"/>
              <a:t>‹N°›</a:t>
            </a:fld>
            <a:endParaRPr lang="fr-FR"/>
          </a:p>
        </p:txBody>
      </p:sp>
    </p:spTree>
    <p:extLst>
      <p:ext uri="{BB962C8B-B14F-4D97-AF65-F5344CB8AC3E}">
        <p14:creationId xmlns:p14="http://schemas.microsoft.com/office/powerpoint/2010/main" val="3443109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http://images.slideplayer.fr/12/3891671/slides/slide_3.jpg"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http://images.slideplayer.fr/12/3891671/slides/slide_3.jpg"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http://www.facbio.com/content/images/stories/bio/Membrane/FBM_GlucIntestin.jpg" TargetMode="External"/><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097280"/>
            <a:ext cx="12191999" cy="5760718"/>
          </a:xfrm>
          <a:prstGeom prst="rect">
            <a:avLst/>
          </a:prstGeom>
        </p:spPr>
      </p:pic>
      <p:sp>
        <p:nvSpPr>
          <p:cNvPr id="7" name="Rectangle 6"/>
          <p:cNvSpPr/>
          <p:nvPr/>
        </p:nvSpPr>
        <p:spPr>
          <a:xfrm>
            <a:off x="1" y="0"/>
            <a:ext cx="12191998" cy="109728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6600" b="1" dirty="0" smtClean="0">
                <a:solidFill>
                  <a:schemeClr val="tx1"/>
                </a:solidFill>
                <a:latin typeface="Times New Roman" panose="02020603050405020304" pitchFamily="18" charset="0"/>
                <a:cs typeface="Times New Roman" panose="02020603050405020304" pitchFamily="18" charset="0"/>
              </a:rPr>
              <a:t>Le transport </a:t>
            </a:r>
            <a:r>
              <a:rPr lang="fr-FR" sz="7200" b="1" dirty="0" smtClean="0">
                <a:solidFill>
                  <a:schemeClr val="tx1"/>
                </a:solidFill>
                <a:latin typeface="Times New Roman" panose="02020603050405020304" pitchFamily="18" charset="0"/>
                <a:cs typeface="Times New Roman" panose="02020603050405020304" pitchFamily="18" charset="0"/>
              </a:rPr>
              <a:t>membranaire</a:t>
            </a:r>
            <a:endParaRPr lang="fr-FR"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53441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202949" cy="6943617"/>
          </a:xfrm>
          <a:prstGeom prst="rect">
            <a:avLst/>
          </a:prstGeom>
        </p:spPr>
      </p:pic>
      <p:sp>
        <p:nvSpPr>
          <p:cNvPr id="5" name="Rectangle 4"/>
          <p:cNvSpPr/>
          <p:nvPr/>
        </p:nvSpPr>
        <p:spPr>
          <a:xfrm>
            <a:off x="0" y="-28229"/>
            <a:ext cx="4392194"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bg1"/>
                </a:solidFill>
                <a:latin typeface="Times New Roman" panose="02020603050405020304" pitchFamily="18" charset="0"/>
                <a:cs typeface="Times New Roman" panose="02020603050405020304" pitchFamily="18" charset="0"/>
              </a:rPr>
              <a:t>Plan du cours</a:t>
            </a:r>
            <a:endParaRPr lang="fr-FR" sz="4000" b="1"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0" y="703298"/>
            <a:ext cx="3867758"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bg1"/>
                </a:solidFill>
                <a:latin typeface="Times New Roman" panose="02020603050405020304" pitchFamily="18" charset="0"/>
                <a:cs typeface="Times New Roman" panose="02020603050405020304" pitchFamily="18" charset="0"/>
              </a:rPr>
              <a:t>Introduction</a:t>
            </a:r>
            <a:endParaRPr lang="fr-FR" sz="4000" b="1" dirty="0">
              <a:solidFill>
                <a:schemeClr val="bg1"/>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949" y="1415989"/>
            <a:ext cx="5279699"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bg1"/>
                </a:solidFill>
                <a:latin typeface="Times New Roman" panose="02020603050405020304" pitchFamily="18" charset="0"/>
                <a:cs typeface="Times New Roman" panose="02020603050405020304" pitchFamily="18" charset="0"/>
              </a:rPr>
              <a:t>1- Types de transport</a:t>
            </a:r>
            <a:endParaRPr lang="fr-FR" sz="4000" b="1" dirty="0">
              <a:solidFill>
                <a:schemeClr val="bg1"/>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949" y="2337407"/>
            <a:ext cx="6073076"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bg1"/>
                </a:solidFill>
                <a:latin typeface="Times New Roman" panose="02020603050405020304" pitchFamily="18" charset="0"/>
                <a:cs typeface="Times New Roman" panose="02020603050405020304" pitchFamily="18" charset="0"/>
              </a:rPr>
              <a:t>1-1- Transport perméatif</a:t>
            </a:r>
            <a:endParaRPr lang="fr-FR" sz="4000" b="1" dirty="0">
              <a:solidFill>
                <a:schemeClr val="bg1"/>
              </a:solidFill>
              <a:latin typeface="Times New Roman" panose="02020603050405020304" pitchFamily="18" charset="0"/>
              <a:cs typeface="Times New Roman" panose="02020603050405020304" pitchFamily="18" charset="0"/>
            </a:endParaRPr>
          </a:p>
        </p:txBody>
      </p:sp>
      <p:sp>
        <p:nvSpPr>
          <p:cNvPr id="9" name="Rectangle 8"/>
          <p:cNvSpPr/>
          <p:nvPr/>
        </p:nvSpPr>
        <p:spPr>
          <a:xfrm>
            <a:off x="1085178" y="3087007"/>
            <a:ext cx="4526664"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bg1"/>
                </a:solidFill>
                <a:latin typeface="Times New Roman" panose="02020603050405020304" pitchFamily="18" charset="0"/>
                <a:cs typeface="Times New Roman" panose="02020603050405020304" pitchFamily="18" charset="0"/>
              </a:rPr>
              <a:t>A- Transport passif</a:t>
            </a:r>
            <a:endParaRPr lang="fr-FR" sz="4000" b="1" dirty="0">
              <a:solidFill>
                <a:schemeClr val="bg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1126064" y="3776830"/>
            <a:ext cx="4526664"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bg1"/>
                </a:solidFill>
                <a:latin typeface="Times New Roman" panose="02020603050405020304" pitchFamily="18" charset="0"/>
                <a:cs typeface="Times New Roman" panose="02020603050405020304" pitchFamily="18" charset="0"/>
              </a:rPr>
              <a:t>B- Transport actif</a:t>
            </a:r>
            <a:endParaRPr lang="fr-FR" sz="4000" b="1" dirty="0">
              <a:solidFill>
                <a:schemeClr val="bg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2113" y="4620339"/>
            <a:ext cx="6073076"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bg1"/>
                </a:solidFill>
                <a:latin typeface="Times New Roman" panose="02020603050405020304" pitchFamily="18" charset="0"/>
                <a:cs typeface="Times New Roman" panose="02020603050405020304" pitchFamily="18" charset="0"/>
              </a:rPr>
              <a:t>1-2- Transport cytotique</a:t>
            </a:r>
            <a:endParaRPr lang="fr-FR" sz="4000" b="1" dirty="0">
              <a:solidFill>
                <a:schemeClr val="bg1"/>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1478536" y="5281933"/>
            <a:ext cx="3363750"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bg1"/>
                </a:solidFill>
                <a:latin typeface="Times New Roman" panose="02020603050405020304" pitchFamily="18" charset="0"/>
                <a:cs typeface="Times New Roman" panose="02020603050405020304" pitchFamily="18" charset="0"/>
              </a:rPr>
              <a:t>A- Endocytose</a:t>
            </a:r>
            <a:endParaRPr lang="fr-FR" sz="4000" b="1" dirty="0">
              <a:solidFill>
                <a:schemeClr val="bg1"/>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489485" y="5943527"/>
            <a:ext cx="3363750"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bg1"/>
                </a:solidFill>
                <a:latin typeface="Times New Roman" panose="02020603050405020304" pitchFamily="18" charset="0"/>
                <a:cs typeface="Times New Roman" panose="02020603050405020304" pitchFamily="18" charset="0"/>
              </a:rPr>
              <a:t>B- Exocytose</a:t>
            </a:r>
            <a:endParaRPr lang="fr-FR" sz="4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08596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158752" y="0"/>
            <a:ext cx="6033247" cy="6857999"/>
          </a:xfrm>
          <a:prstGeom prst="rect">
            <a:avLst/>
          </a:prstGeom>
          <a:solidFill>
            <a:schemeClr val="bg1"/>
          </a:solidFill>
        </p:spPr>
      </p:pic>
      <p:sp>
        <p:nvSpPr>
          <p:cNvPr id="5" name="Rectangle 4"/>
          <p:cNvSpPr/>
          <p:nvPr/>
        </p:nvSpPr>
        <p:spPr>
          <a:xfrm>
            <a:off x="0" y="-24621"/>
            <a:ext cx="6158753" cy="6986528"/>
          </a:xfrm>
          <a:prstGeom prst="rect">
            <a:avLst/>
          </a:prstGeom>
          <a:solidFill>
            <a:schemeClr val="bg1"/>
          </a:solidFill>
        </p:spPr>
        <p:txBody>
          <a:bodyPr wrap="square">
            <a:spAutoFit/>
          </a:bodyPr>
          <a:lstStyle/>
          <a:p>
            <a:r>
              <a:rPr lang="fr-FR" sz="3200" b="1" u="sng" dirty="0" smtClean="0">
                <a:latin typeface="Times New Roman" panose="02020603050405020304" pitchFamily="18" charset="0"/>
                <a:ea typeface="Calibri" panose="020F0502020204030204" pitchFamily="34" charset="0"/>
              </a:rPr>
              <a:t>INTRODUTION</a:t>
            </a:r>
          </a:p>
          <a:p>
            <a:endParaRPr lang="fr-FR" sz="3200" b="1" dirty="0" smtClean="0">
              <a:latin typeface="Times New Roman" panose="02020603050405020304" pitchFamily="18" charset="0"/>
              <a:ea typeface="Calibri" panose="020F0502020204030204" pitchFamily="34" charset="0"/>
            </a:endParaRPr>
          </a:p>
          <a:p>
            <a:pPr marL="457200" indent="-457200">
              <a:buFont typeface="Wingdings" panose="05000000000000000000" pitchFamily="2" charset="2"/>
              <a:buChar char="Ø"/>
            </a:pPr>
            <a:r>
              <a:rPr lang="fr-FR" sz="3200" b="1" dirty="0" smtClean="0">
                <a:latin typeface="Times New Roman" panose="02020603050405020304" pitchFamily="18" charset="0"/>
                <a:ea typeface="Calibri" panose="020F0502020204030204" pitchFamily="34" charset="0"/>
              </a:rPr>
              <a:t>Pour </a:t>
            </a:r>
            <a:r>
              <a:rPr lang="fr-FR" sz="3200" b="1" dirty="0">
                <a:latin typeface="Times New Roman" panose="02020603050405020304" pitchFamily="18" charset="0"/>
                <a:ea typeface="Calibri" panose="020F0502020204030204" pitchFamily="34" charset="0"/>
              </a:rPr>
              <a:t>survivre et assurer ses différentes fonctions, la cellule doit réaliser des échanges permanents avec le milieu environnant. </a:t>
            </a:r>
            <a:endParaRPr lang="fr-FR" sz="3200" b="1" dirty="0" smtClean="0">
              <a:latin typeface="Times New Roman" panose="02020603050405020304" pitchFamily="18" charset="0"/>
              <a:ea typeface="Calibri" panose="020F0502020204030204" pitchFamily="34" charset="0"/>
            </a:endParaRPr>
          </a:p>
          <a:p>
            <a:endParaRPr lang="fr-FR" sz="3200" b="1" dirty="0">
              <a:latin typeface="Times New Roman" panose="02020603050405020304" pitchFamily="18" charset="0"/>
              <a:ea typeface="Calibri" panose="020F0502020204030204" pitchFamily="34" charset="0"/>
            </a:endParaRPr>
          </a:p>
          <a:p>
            <a:pPr marL="457200" indent="-457200">
              <a:buFont typeface="Wingdings" panose="05000000000000000000" pitchFamily="2" charset="2"/>
              <a:buChar char="Ø"/>
            </a:pPr>
            <a:r>
              <a:rPr lang="fr-FR" sz="3200" b="1" dirty="0" smtClean="0">
                <a:latin typeface="Times New Roman" panose="02020603050405020304" pitchFamily="18" charset="0"/>
                <a:ea typeface="Calibri" panose="020F0502020204030204" pitchFamily="34" charset="0"/>
              </a:rPr>
              <a:t>Ces </a:t>
            </a:r>
            <a:r>
              <a:rPr lang="fr-FR" sz="3200" b="1" dirty="0">
                <a:latin typeface="Times New Roman" panose="02020603050405020304" pitchFamily="18" charset="0"/>
                <a:ea typeface="Calibri" panose="020F0502020204030204" pitchFamily="34" charset="0"/>
              </a:rPr>
              <a:t>échanges </a:t>
            </a:r>
            <a:r>
              <a:rPr lang="fr-FR" sz="3200" b="1" dirty="0" smtClean="0">
                <a:latin typeface="Times New Roman" panose="02020603050405020304" pitchFamily="18" charset="0"/>
                <a:ea typeface="Calibri" panose="020F0502020204030204" pitchFamily="34" charset="0"/>
              </a:rPr>
              <a:t>sont assurés </a:t>
            </a:r>
            <a:r>
              <a:rPr lang="fr-FR" sz="3200" b="1" dirty="0">
                <a:latin typeface="Times New Roman" panose="02020603050405020304" pitchFamily="18" charset="0"/>
                <a:ea typeface="Calibri" panose="020F0502020204030204" pitchFamily="34" charset="0"/>
              </a:rPr>
              <a:t>par le phénomène de </a:t>
            </a:r>
            <a:r>
              <a:rPr lang="fr-FR" sz="3200" b="1" u="sng" dirty="0">
                <a:latin typeface="Times New Roman" panose="02020603050405020304" pitchFamily="18" charset="0"/>
                <a:ea typeface="Calibri" panose="020F0502020204030204" pitchFamily="34" charset="0"/>
              </a:rPr>
              <a:t>transport </a:t>
            </a:r>
            <a:r>
              <a:rPr lang="fr-FR" sz="3200" b="1" u="sng" dirty="0" smtClean="0">
                <a:latin typeface="Times New Roman" panose="02020603050405020304" pitchFamily="18" charset="0"/>
                <a:ea typeface="Calibri" panose="020F0502020204030204" pitchFamily="34" charset="0"/>
              </a:rPr>
              <a:t>membranaire</a:t>
            </a:r>
            <a:endParaRPr lang="fr-FR" sz="3200" b="1" dirty="0" smtClean="0">
              <a:latin typeface="Times New Roman" panose="02020603050405020304" pitchFamily="18" charset="0"/>
              <a:ea typeface="Calibri" panose="020F0502020204030204" pitchFamily="34" charset="0"/>
            </a:endParaRPr>
          </a:p>
          <a:p>
            <a:pPr marL="457200" indent="-457200">
              <a:buFont typeface="Wingdings" panose="05000000000000000000" pitchFamily="2" charset="2"/>
              <a:buChar char="Ø"/>
            </a:pPr>
            <a:endParaRPr lang="fr-FR" sz="3200" b="1" dirty="0">
              <a:latin typeface="Times New Roman" panose="02020603050405020304" pitchFamily="18" charset="0"/>
              <a:ea typeface="Calibri" panose="020F0502020204030204" pitchFamily="34" charset="0"/>
            </a:endParaRPr>
          </a:p>
          <a:p>
            <a:endParaRPr lang="fr-FR" sz="3200" b="1" dirty="0" smtClean="0">
              <a:latin typeface="Times New Roman" panose="02020603050405020304" pitchFamily="18" charset="0"/>
              <a:ea typeface="Calibri" panose="020F0502020204030204" pitchFamily="34" charset="0"/>
            </a:endParaRPr>
          </a:p>
          <a:p>
            <a:r>
              <a:rPr lang="fr-FR" sz="3200" b="1" dirty="0" smtClean="0">
                <a:latin typeface="Times New Roman" panose="02020603050405020304" pitchFamily="18" charset="0"/>
                <a:ea typeface="Calibri" panose="020F0502020204030204" pitchFamily="34" charset="0"/>
              </a:rPr>
              <a:t> </a:t>
            </a:r>
            <a:endParaRPr lang="fr-FR" sz="3200" b="1" dirty="0"/>
          </a:p>
        </p:txBody>
      </p:sp>
    </p:spTree>
    <p:extLst>
      <p:ext uri="{BB962C8B-B14F-4D97-AF65-F5344CB8AC3E}">
        <p14:creationId xmlns:p14="http://schemas.microsoft.com/office/powerpoint/2010/main" val="13697928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680960" y="0"/>
            <a:ext cx="2625634" cy="404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0" y="11100"/>
            <a:ext cx="8148918" cy="830997"/>
          </a:xfrm>
          <a:prstGeom prst="rect">
            <a:avLst/>
          </a:prstGeom>
          <a:solidFill>
            <a:schemeClr val="accent2">
              <a:lumMod val="40000"/>
              <a:lumOff val="60000"/>
            </a:schemeClr>
          </a:solidFill>
        </p:spPr>
        <p:txBody>
          <a:bodyPr wrap="square">
            <a:spAutoFit/>
          </a:bodyPr>
          <a:lstStyle/>
          <a:p>
            <a:pPr algn="just">
              <a:lnSpc>
                <a:spcPct val="150000"/>
              </a:lnSpc>
              <a:spcAft>
                <a:spcPts val="0"/>
              </a:spcAft>
            </a:pPr>
            <a:r>
              <a:rPr lang="fr-FR" sz="3200" b="1" dirty="0" smtClean="0">
                <a:latin typeface="Times New Roman" panose="02020603050405020304" pitchFamily="18" charset="0"/>
                <a:ea typeface="Calibri" panose="020F0502020204030204" pitchFamily="34" charset="0"/>
                <a:cs typeface="Arial" panose="020B0604020202020204" pitchFamily="34" charset="0"/>
              </a:rPr>
              <a:t>L</a:t>
            </a:r>
            <a:r>
              <a:rPr lang="fr-FR" sz="3200" b="1" dirty="0" smtClean="0">
                <a:latin typeface="Times New Roman" panose="02020603050405020304" pitchFamily="18" charset="0"/>
                <a:ea typeface="Calibri" panose="020F0502020204030204" pitchFamily="34" charset="0"/>
                <a:cs typeface="Times New Roman" panose="02020603050405020304" pitchFamily="18" charset="0"/>
              </a:rPr>
              <a:t>’</a:t>
            </a:r>
            <a:r>
              <a:rPr lang="fr-FR" sz="3200" b="1" dirty="0">
                <a:latin typeface="Times New Roman" panose="02020603050405020304" pitchFamily="18" charset="0"/>
                <a:cs typeface="Times New Roman" panose="02020603050405020304" pitchFamily="18" charset="0"/>
              </a:rPr>
              <a:t> intérêt</a:t>
            </a:r>
            <a:r>
              <a:rPr lang="fr-FR" sz="3200" b="1" dirty="0" smtClean="0">
                <a:latin typeface="Times New Roman" panose="02020603050405020304" pitchFamily="18" charset="0"/>
                <a:ea typeface="Calibri" panose="020F0502020204030204" pitchFamily="34" charset="0"/>
                <a:cs typeface="Times New Roman" panose="02020603050405020304" pitchFamily="18" charset="0"/>
              </a:rPr>
              <a:t> </a:t>
            </a:r>
            <a:r>
              <a:rPr lang="fr-FR" sz="3200" b="1" dirty="0">
                <a:latin typeface="Times New Roman" panose="02020603050405020304" pitchFamily="18" charset="0"/>
                <a:ea typeface="Calibri" panose="020F0502020204030204" pitchFamily="34" charset="0"/>
                <a:cs typeface="Arial" panose="020B0604020202020204" pitchFamily="34" charset="0"/>
              </a:rPr>
              <a:t>physiologique du T. membranaire:</a:t>
            </a:r>
          </a:p>
        </p:txBody>
      </p:sp>
      <p:sp>
        <p:nvSpPr>
          <p:cNvPr id="2" name="Rectangle 1"/>
          <p:cNvSpPr/>
          <p:nvPr/>
        </p:nvSpPr>
        <p:spPr>
          <a:xfrm>
            <a:off x="108856" y="1316223"/>
            <a:ext cx="4397829" cy="2554545"/>
          </a:xfrm>
          <a:prstGeom prst="rect">
            <a:avLst/>
          </a:prstGeom>
        </p:spPr>
        <p:txBody>
          <a:bodyPr wrap="square">
            <a:spAutoFit/>
          </a:bodyPr>
          <a:lstStyle/>
          <a:p>
            <a:pPr algn="just"/>
            <a:r>
              <a:rPr lang="fr-FR" sz="3200" b="1" dirty="0">
                <a:solidFill>
                  <a:srgbClr val="000000"/>
                </a:solidFill>
                <a:latin typeface="Times New Roman" panose="02020603050405020304" pitchFamily="18" charset="0"/>
                <a:ea typeface="Calibri" panose="020F0502020204030204" pitchFamily="34" charset="0"/>
                <a:cs typeface="Arial" panose="020B0604020202020204" pitchFamily="34" charset="0"/>
              </a:rPr>
              <a:t>1. Approvisionnement de la cellule en éléments nutritifs </a:t>
            </a:r>
            <a:r>
              <a:rPr lang="fr-FR" sz="3200" b="1" dirty="0" smtClean="0">
                <a:solidFill>
                  <a:srgbClr val="000000"/>
                </a:solidFill>
                <a:latin typeface="Times New Roman" panose="02020603050405020304" pitchFamily="18" charset="0"/>
                <a:ea typeface="Calibri" panose="020F0502020204030204" pitchFamily="34" charset="0"/>
                <a:cs typeface="Arial" panose="020B0604020202020204" pitchFamily="34" charset="0"/>
              </a:rPr>
              <a:t>(nutrition) </a:t>
            </a:r>
            <a:r>
              <a:rPr lang="fr-FR" sz="3200" b="1" dirty="0">
                <a:solidFill>
                  <a:srgbClr val="000000"/>
                </a:solidFill>
                <a:latin typeface="Times New Roman" panose="02020603050405020304" pitchFamily="18" charset="0"/>
                <a:ea typeface="Calibri" panose="020F0502020204030204" pitchFamily="34" charset="0"/>
                <a:cs typeface="Arial" panose="020B0604020202020204" pitchFamily="34" charset="0"/>
              </a:rPr>
              <a:t>et en oxygène (respiration). </a:t>
            </a:r>
            <a:endParaRPr lang="fr-FR" sz="3200" b="1" dirty="0"/>
          </a:p>
        </p:txBody>
      </p:sp>
      <p:pic>
        <p:nvPicPr>
          <p:cNvPr id="1030" name="Picture 6" descr="Diffusion Facilitée Par Une Protéine De Transporteur Spécifique Ou Non  Spécifique. Transport Passif. Illustration de Vecteur - Illustration of  cytoplasme, cellulaire: 2892535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6685" y="882634"/>
            <a:ext cx="7620000" cy="538815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479739" y="1834747"/>
            <a:ext cx="701041"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ysClr val="windowText" lastClr="000000"/>
                </a:solidFill>
              </a:rPr>
              <a:t>O2</a:t>
            </a:r>
            <a:endParaRPr lang="fr-FR" sz="2400" b="1" dirty="0">
              <a:solidFill>
                <a:sysClr val="windowText" lastClr="000000"/>
              </a:solidFill>
            </a:endParaRPr>
          </a:p>
        </p:txBody>
      </p:sp>
      <p:sp>
        <p:nvSpPr>
          <p:cNvPr id="19" name="Rectangle 18"/>
          <p:cNvSpPr/>
          <p:nvPr/>
        </p:nvSpPr>
        <p:spPr>
          <a:xfrm>
            <a:off x="6371412" y="1516016"/>
            <a:ext cx="1750834" cy="5089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ysClr val="windowText" lastClr="000000"/>
                </a:solidFill>
              </a:rPr>
              <a:t>oses</a:t>
            </a:r>
          </a:p>
          <a:p>
            <a:pPr algn="ctr"/>
            <a:r>
              <a:rPr lang="fr-FR" sz="2400" b="1" dirty="0" smtClean="0">
                <a:solidFill>
                  <a:sysClr val="windowText" lastClr="000000"/>
                </a:solidFill>
              </a:rPr>
              <a:t>A. Aminés…</a:t>
            </a:r>
          </a:p>
          <a:p>
            <a:pPr algn="ctr"/>
            <a:endParaRPr lang="fr-FR" sz="2400" b="1" dirty="0">
              <a:solidFill>
                <a:sysClr val="windowText" lastClr="000000"/>
              </a:solidFill>
            </a:endParaRPr>
          </a:p>
        </p:txBody>
      </p:sp>
      <p:sp>
        <p:nvSpPr>
          <p:cNvPr id="20" name="Rectangle 19"/>
          <p:cNvSpPr/>
          <p:nvPr/>
        </p:nvSpPr>
        <p:spPr>
          <a:xfrm>
            <a:off x="9450850" y="1239190"/>
            <a:ext cx="2118486" cy="10990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ctr">
              <a:buAutoNum type="alphaUcPeriod"/>
            </a:pPr>
            <a:endParaRPr lang="fr-FR" sz="2000" b="1" dirty="0">
              <a:solidFill>
                <a:sysClr val="windowText" lastClr="000000"/>
              </a:solidFill>
            </a:endParaRPr>
          </a:p>
        </p:txBody>
      </p:sp>
      <p:sp>
        <p:nvSpPr>
          <p:cNvPr id="21" name="Rectangle 20"/>
          <p:cNvSpPr/>
          <p:nvPr/>
        </p:nvSpPr>
        <p:spPr>
          <a:xfrm>
            <a:off x="10262604" y="2121553"/>
            <a:ext cx="1056938" cy="373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smtClean="0">
                <a:solidFill>
                  <a:sysClr val="windowText" lastClr="000000"/>
                </a:solidFill>
              </a:rPr>
              <a:t>Ions </a:t>
            </a:r>
          </a:p>
          <a:p>
            <a:pPr marL="457200" indent="-457200" algn="ctr">
              <a:buAutoNum type="alphaUcPeriod"/>
            </a:pPr>
            <a:endParaRPr lang="fr-FR" sz="2000" b="1" dirty="0">
              <a:solidFill>
                <a:sysClr val="windowText" lastClr="000000"/>
              </a:solidFill>
            </a:endParaRPr>
          </a:p>
        </p:txBody>
      </p:sp>
      <p:sp>
        <p:nvSpPr>
          <p:cNvPr id="22" name="Rectangle 21"/>
          <p:cNvSpPr/>
          <p:nvPr/>
        </p:nvSpPr>
        <p:spPr>
          <a:xfrm>
            <a:off x="108856" y="4605451"/>
            <a:ext cx="4919014" cy="1077218"/>
          </a:xfrm>
          <a:prstGeom prst="rect">
            <a:avLst/>
          </a:prstGeom>
        </p:spPr>
        <p:txBody>
          <a:bodyPr wrap="square">
            <a:spAutoFit/>
          </a:bodyPr>
          <a:lstStyle/>
          <a:p>
            <a:r>
              <a:rPr lang="fr-FR" sz="3200" b="1" dirty="0" smtClean="0">
                <a:solidFill>
                  <a:srgbClr val="000000"/>
                </a:solidFill>
                <a:latin typeface="Times New Roman" panose="02020603050405020304" pitchFamily="18" charset="0"/>
                <a:ea typeface="Calibri" panose="020F0502020204030204" pitchFamily="34" charset="0"/>
                <a:cs typeface="Arial" panose="020B0604020202020204" pitchFamily="34" charset="0"/>
              </a:rPr>
              <a:t>2. Elimination </a:t>
            </a:r>
            <a:r>
              <a:rPr lang="fr-FR" sz="3200" b="1" dirty="0">
                <a:solidFill>
                  <a:srgbClr val="000000"/>
                </a:solidFill>
                <a:latin typeface="Times New Roman" panose="02020603050405020304" pitchFamily="18" charset="0"/>
                <a:ea typeface="Calibri" panose="020F0502020204030204" pitchFamily="34" charset="0"/>
                <a:cs typeface="Arial" panose="020B0604020202020204" pitchFamily="34" charset="0"/>
              </a:rPr>
              <a:t>des déchets métaboliques (excrétion). </a:t>
            </a:r>
            <a:endParaRPr lang="fr-FR" sz="3200" b="1" dirty="0"/>
          </a:p>
        </p:txBody>
      </p:sp>
      <p:cxnSp>
        <p:nvCxnSpPr>
          <p:cNvPr id="11" name="Straight Arrow Connector 10"/>
          <p:cNvCxnSpPr/>
          <p:nvPr/>
        </p:nvCxnSpPr>
        <p:spPr>
          <a:xfrm flipV="1">
            <a:off x="4884179" y="4389120"/>
            <a:ext cx="1330" cy="99277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856722" y="2748944"/>
            <a:ext cx="1330" cy="99277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4461966" y="2083694"/>
            <a:ext cx="100791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ysClr val="windowText" lastClr="000000"/>
                </a:solidFill>
              </a:rPr>
              <a:t>Urée</a:t>
            </a:r>
          </a:p>
          <a:p>
            <a:pPr algn="ctr"/>
            <a:r>
              <a:rPr lang="fr-FR" sz="2400" b="1" dirty="0" smtClean="0">
                <a:solidFill>
                  <a:sysClr val="windowText" lastClr="000000"/>
                </a:solidFill>
              </a:rPr>
              <a:t>CO2</a:t>
            </a:r>
            <a:endParaRPr lang="fr-FR" sz="2400" b="1" dirty="0">
              <a:solidFill>
                <a:sysClr val="windowText" lastClr="000000"/>
              </a:solidFill>
            </a:endParaRPr>
          </a:p>
        </p:txBody>
      </p:sp>
      <p:cxnSp>
        <p:nvCxnSpPr>
          <p:cNvPr id="15" name="Straight Arrow Connector 14"/>
          <p:cNvCxnSpPr/>
          <p:nvPr/>
        </p:nvCxnSpPr>
        <p:spPr>
          <a:xfrm>
            <a:off x="7138367" y="4389120"/>
            <a:ext cx="7016" cy="99277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8904514" y="2549494"/>
            <a:ext cx="0" cy="1337169"/>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8604315" y="2125986"/>
            <a:ext cx="603050" cy="369332"/>
          </a:xfrm>
          <a:prstGeom prst="rect">
            <a:avLst/>
          </a:prstGeom>
        </p:spPr>
        <p:txBody>
          <a:bodyPr wrap="none">
            <a:spAutoFit/>
          </a:bodyPr>
          <a:lstStyle/>
          <a:p>
            <a:r>
              <a:rPr lang="fr-FR" b="1" dirty="0" smtClean="0">
                <a:solidFill>
                  <a:sysClr val="windowText" lastClr="000000"/>
                </a:solidFill>
              </a:rPr>
              <a:t>H2O</a:t>
            </a:r>
            <a:endParaRPr lang="fr-FR" dirty="0"/>
          </a:p>
        </p:txBody>
      </p:sp>
      <p:sp>
        <p:nvSpPr>
          <p:cNvPr id="17" name="Rectangle 16"/>
          <p:cNvSpPr/>
          <p:nvPr/>
        </p:nvSpPr>
        <p:spPr>
          <a:xfrm>
            <a:off x="9198904" y="2145318"/>
            <a:ext cx="603050" cy="369332"/>
          </a:xfrm>
          <a:prstGeom prst="rect">
            <a:avLst/>
          </a:prstGeom>
        </p:spPr>
        <p:txBody>
          <a:bodyPr wrap="none">
            <a:spAutoFit/>
          </a:bodyPr>
          <a:lstStyle/>
          <a:p>
            <a:r>
              <a:rPr lang="fr-FR" b="1" dirty="0" smtClean="0">
                <a:solidFill>
                  <a:sysClr val="windowText" lastClr="000000"/>
                </a:solidFill>
              </a:rPr>
              <a:t>H2O</a:t>
            </a:r>
            <a:endParaRPr lang="fr-FR" dirty="0"/>
          </a:p>
        </p:txBody>
      </p:sp>
      <p:cxnSp>
        <p:nvCxnSpPr>
          <p:cNvPr id="23" name="Straight Arrow Connector 22"/>
          <p:cNvCxnSpPr/>
          <p:nvPr/>
        </p:nvCxnSpPr>
        <p:spPr>
          <a:xfrm>
            <a:off x="9615413" y="2474827"/>
            <a:ext cx="7016" cy="99277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9632526" y="3612674"/>
            <a:ext cx="0" cy="165165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04906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7369" y="1207857"/>
            <a:ext cx="4907280" cy="1569660"/>
          </a:xfrm>
          <a:prstGeom prst="rect">
            <a:avLst/>
          </a:prstGeom>
        </p:spPr>
        <p:txBody>
          <a:bodyPr wrap="square">
            <a:spAutoFit/>
          </a:bodyPr>
          <a:lstStyle/>
          <a:p>
            <a:r>
              <a:rPr lang="fr-FR" sz="3200" b="1" dirty="0" smtClean="0">
                <a:solidFill>
                  <a:srgbClr val="000000"/>
                </a:solidFill>
                <a:latin typeface="Times New Roman" panose="02020603050405020304" pitchFamily="18" charset="0"/>
                <a:ea typeface="Calibri" panose="020F0502020204030204" pitchFamily="34" charset="0"/>
                <a:cs typeface="Arial" panose="020B0604020202020204" pitchFamily="34" charset="0"/>
              </a:rPr>
              <a:t>3. Communication </a:t>
            </a:r>
            <a:r>
              <a:rPr lang="fr-FR" sz="3200" b="1" dirty="0">
                <a:solidFill>
                  <a:srgbClr val="000000"/>
                </a:solidFill>
                <a:latin typeface="Times New Roman" panose="02020603050405020304" pitchFamily="18" charset="0"/>
                <a:ea typeface="Calibri" panose="020F0502020204030204" pitchFamily="34" charset="0"/>
                <a:cs typeface="Arial" panose="020B0604020202020204" pitchFamily="34" charset="0"/>
              </a:rPr>
              <a:t>intercellulaire (hormones, neurotransmetteurs…). </a:t>
            </a:r>
            <a:endParaRPr lang="fr-FR" sz="3200" b="1" dirty="0"/>
          </a:p>
        </p:txBody>
      </p:sp>
      <p:sp>
        <p:nvSpPr>
          <p:cNvPr id="7" name="Rectangle 6"/>
          <p:cNvSpPr/>
          <p:nvPr/>
        </p:nvSpPr>
        <p:spPr>
          <a:xfrm>
            <a:off x="-1" y="11100"/>
            <a:ext cx="12192001" cy="830997"/>
          </a:xfrm>
          <a:prstGeom prst="rect">
            <a:avLst/>
          </a:prstGeom>
          <a:solidFill>
            <a:schemeClr val="accent2">
              <a:lumMod val="40000"/>
              <a:lumOff val="60000"/>
            </a:schemeClr>
          </a:solidFill>
        </p:spPr>
        <p:txBody>
          <a:bodyPr wrap="square">
            <a:spAutoFit/>
          </a:bodyPr>
          <a:lstStyle/>
          <a:p>
            <a:pPr algn="just">
              <a:lnSpc>
                <a:spcPct val="150000"/>
              </a:lnSpc>
              <a:spcAft>
                <a:spcPts val="0"/>
              </a:spcAft>
            </a:pPr>
            <a:r>
              <a:rPr lang="fr-FR" sz="3200" b="1" dirty="0" smtClean="0">
                <a:latin typeface="Times New Roman" panose="02020603050405020304" pitchFamily="18" charset="0"/>
                <a:ea typeface="Calibri" panose="020F0502020204030204" pitchFamily="34" charset="0"/>
                <a:cs typeface="Arial" panose="020B0604020202020204" pitchFamily="34" charset="0"/>
              </a:rPr>
              <a:t>L</a:t>
            </a:r>
            <a:r>
              <a:rPr lang="fr-FR" sz="3200" b="1" dirty="0" smtClean="0">
                <a:latin typeface="Times New Roman" panose="02020603050405020304" pitchFamily="18" charset="0"/>
                <a:ea typeface="Calibri" panose="020F0502020204030204" pitchFamily="34" charset="0"/>
                <a:cs typeface="Times New Roman" panose="02020603050405020304" pitchFamily="18" charset="0"/>
              </a:rPr>
              <a:t>’</a:t>
            </a:r>
            <a:r>
              <a:rPr lang="fr-FR" sz="3200" b="1" dirty="0">
                <a:latin typeface="Times New Roman" panose="02020603050405020304" pitchFamily="18" charset="0"/>
                <a:cs typeface="Times New Roman" panose="02020603050405020304" pitchFamily="18" charset="0"/>
              </a:rPr>
              <a:t> intérêt</a:t>
            </a:r>
            <a:r>
              <a:rPr lang="fr-FR" sz="3200" b="1" dirty="0" smtClean="0">
                <a:latin typeface="Times New Roman" panose="02020603050405020304" pitchFamily="18" charset="0"/>
                <a:ea typeface="Calibri" panose="020F0502020204030204" pitchFamily="34" charset="0"/>
                <a:cs typeface="Times New Roman" panose="02020603050405020304" pitchFamily="18" charset="0"/>
              </a:rPr>
              <a:t> </a:t>
            </a:r>
            <a:r>
              <a:rPr lang="fr-FR" sz="3200" b="1" dirty="0">
                <a:latin typeface="Times New Roman" panose="02020603050405020304" pitchFamily="18" charset="0"/>
                <a:ea typeface="Calibri" panose="020F0502020204030204" pitchFamily="34" charset="0"/>
                <a:cs typeface="Arial" panose="020B0604020202020204" pitchFamily="34" charset="0"/>
              </a:rPr>
              <a:t>physiologique du T. membranaire:</a:t>
            </a:r>
          </a:p>
        </p:txBody>
      </p:sp>
      <p:pic>
        <p:nvPicPr>
          <p:cNvPr id="8" name="Picture 7"/>
          <p:cNvPicPr>
            <a:picLocks noChangeAspect="1"/>
          </p:cNvPicPr>
          <p:nvPr/>
        </p:nvPicPr>
        <p:blipFill>
          <a:blip r:embed="rId2"/>
          <a:stretch>
            <a:fillRect/>
          </a:stretch>
        </p:blipFill>
        <p:spPr>
          <a:xfrm>
            <a:off x="6180909" y="842098"/>
            <a:ext cx="6011091" cy="3142074"/>
          </a:xfrm>
          <a:prstGeom prst="rect">
            <a:avLst/>
          </a:prstGeom>
        </p:spPr>
      </p:pic>
      <p:sp>
        <p:nvSpPr>
          <p:cNvPr id="10" name="Rectangle 9"/>
          <p:cNvSpPr/>
          <p:nvPr/>
        </p:nvSpPr>
        <p:spPr>
          <a:xfrm>
            <a:off x="462643" y="4193178"/>
            <a:ext cx="5416731" cy="1569660"/>
          </a:xfrm>
          <a:prstGeom prst="rect">
            <a:avLst/>
          </a:prstGeom>
        </p:spPr>
        <p:txBody>
          <a:bodyPr wrap="square">
            <a:spAutoFit/>
          </a:bodyPr>
          <a:lstStyle/>
          <a:p>
            <a:r>
              <a:rPr lang="fr-FR" sz="3200" b="1" dirty="0">
                <a:solidFill>
                  <a:srgbClr val="000000"/>
                </a:solidFill>
                <a:latin typeface="Times New Roman" panose="02020603050405020304" pitchFamily="18" charset="0"/>
                <a:ea typeface="Calibri" panose="020F0502020204030204" pitchFamily="34" charset="0"/>
                <a:cs typeface="Arial" panose="020B0604020202020204" pitchFamily="34" charset="0"/>
              </a:rPr>
              <a:t>4</a:t>
            </a:r>
            <a:r>
              <a:rPr lang="fr-FR" sz="3200" b="1" dirty="0" smtClean="0">
                <a:solidFill>
                  <a:srgbClr val="000000"/>
                </a:solidFill>
                <a:latin typeface="Times New Roman" panose="02020603050405020304" pitchFamily="18" charset="0"/>
                <a:ea typeface="Calibri" panose="020F0502020204030204" pitchFamily="34" charset="0"/>
                <a:cs typeface="Arial" panose="020B0604020202020204" pitchFamily="34" charset="0"/>
              </a:rPr>
              <a:t>. Contrôle du potentiel électrochimique de la membrane</a:t>
            </a:r>
            <a:endParaRPr lang="fr-FR" sz="3200" b="1" dirty="0"/>
          </a:p>
        </p:txBody>
      </p:sp>
      <p:pic>
        <p:nvPicPr>
          <p:cNvPr id="2054" name="Picture 6" descr="Potentiel de repos — Wikipé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0909" y="3491049"/>
            <a:ext cx="6011091" cy="3366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2442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ransport membranaire — Wikipé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25" y="1859280"/>
            <a:ext cx="6257109" cy="5120640"/>
          </a:xfrm>
          <a:prstGeom prst="rect">
            <a:avLst/>
          </a:prstGeom>
          <a:solidFill>
            <a:schemeClr val="bg1"/>
          </a:solidFill>
        </p:spPr>
      </p:pic>
      <p:pic>
        <p:nvPicPr>
          <p:cNvPr id="9" name="Picture 8"/>
          <p:cNvPicPr>
            <a:picLocks noChangeAspect="1"/>
          </p:cNvPicPr>
          <p:nvPr/>
        </p:nvPicPr>
        <p:blipFill>
          <a:blip r:embed="rId3"/>
          <a:stretch>
            <a:fillRect/>
          </a:stretch>
        </p:blipFill>
        <p:spPr>
          <a:xfrm>
            <a:off x="6257108" y="1632857"/>
            <a:ext cx="5934892" cy="5225143"/>
          </a:xfrm>
          <a:prstGeom prst="rect">
            <a:avLst/>
          </a:prstGeom>
        </p:spPr>
      </p:pic>
      <p:sp>
        <p:nvSpPr>
          <p:cNvPr id="10" name="Rectangle 9"/>
          <p:cNvSpPr/>
          <p:nvPr/>
        </p:nvSpPr>
        <p:spPr>
          <a:xfrm>
            <a:off x="7022488" y="912223"/>
            <a:ext cx="4829876"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3600" b="1" dirty="0" smtClean="0">
                <a:solidFill>
                  <a:schemeClr val="tx1"/>
                </a:solidFill>
                <a:latin typeface="Times New Roman" panose="02020603050405020304" pitchFamily="18" charset="0"/>
                <a:cs typeface="Times New Roman" panose="02020603050405020304" pitchFamily="18" charset="0"/>
              </a:rPr>
              <a:t>2.Transport cytotique</a:t>
            </a:r>
            <a:endParaRPr lang="fr-FR" sz="36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39148" y="901466"/>
            <a:ext cx="4829876"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3600" b="1" dirty="0" smtClean="0">
                <a:solidFill>
                  <a:schemeClr val="tx1"/>
                </a:solidFill>
                <a:latin typeface="Times New Roman" panose="02020603050405020304" pitchFamily="18" charset="0"/>
                <a:cs typeface="Times New Roman" panose="02020603050405020304" pitchFamily="18" charset="0"/>
              </a:rPr>
              <a:t>1.Transport perméatif</a:t>
            </a:r>
            <a:endParaRPr lang="fr-FR" sz="3600" b="1" dirty="0">
              <a:solidFill>
                <a:schemeClr val="tx1"/>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8856617" y="1717509"/>
            <a:ext cx="2730138" cy="522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Macromolécules</a:t>
            </a:r>
            <a:endParaRPr lang="fr-FR" sz="2800" b="1" dirty="0">
              <a:solidFill>
                <a:schemeClr val="tx1"/>
              </a:solidFill>
            </a:endParaRPr>
          </a:p>
        </p:txBody>
      </p:sp>
      <p:cxnSp>
        <p:nvCxnSpPr>
          <p:cNvPr id="13" name="Straight Arrow Connector 12"/>
          <p:cNvCxnSpPr/>
          <p:nvPr/>
        </p:nvCxnSpPr>
        <p:spPr>
          <a:xfrm>
            <a:off x="1672046" y="2434046"/>
            <a:ext cx="0" cy="168946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672046" y="5033553"/>
            <a:ext cx="0" cy="105373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463733" y="3631474"/>
            <a:ext cx="15238" cy="192894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021877" y="3278777"/>
            <a:ext cx="8706" cy="95794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384774" y="4419600"/>
            <a:ext cx="0" cy="88827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577850" y="5307874"/>
            <a:ext cx="0" cy="88827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465422" y="5630090"/>
            <a:ext cx="1645920" cy="830997"/>
          </a:xfrm>
          <a:prstGeom prst="rect">
            <a:avLst/>
          </a:prstGeom>
          <a:noFill/>
        </p:spPr>
        <p:txBody>
          <a:bodyPr wrap="square" rtlCol="0">
            <a:spAutoFit/>
          </a:bodyPr>
          <a:lstStyle/>
          <a:p>
            <a:r>
              <a:rPr lang="fr-FR" sz="2400" b="1" dirty="0" smtClean="0"/>
              <a:t>Vésicule de transport </a:t>
            </a:r>
            <a:endParaRPr lang="fr-FR" sz="2400" b="1" dirty="0"/>
          </a:p>
        </p:txBody>
      </p:sp>
      <p:cxnSp>
        <p:nvCxnSpPr>
          <p:cNvPr id="34" name="Straight Arrow Connector 33"/>
          <p:cNvCxnSpPr/>
          <p:nvPr/>
        </p:nvCxnSpPr>
        <p:spPr>
          <a:xfrm>
            <a:off x="8987246" y="5917474"/>
            <a:ext cx="1504406" cy="170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849087" y="37011"/>
            <a:ext cx="10737668" cy="73152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Deux grands types de transport membranaire</a:t>
            </a:r>
            <a:endParaRPr lang="fr-FR" sz="4000" b="1" dirty="0">
              <a:solidFill>
                <a:schemeClr val="tx1"/>
              </a:solidFill>
            </a:endParaRPr>
          </a:p>
        </p:txBody>
      </p:sp>
      <p:sp>
        <p:nvSpPr>
          <p:cNvPr id="21" name="Rectangle 20"/>
          <p:cNvSpPr/>
          <p:nvPr/>
        </p:nvSpPr>
        <p:spPr>
          <a:xfrm>
            <a:off x="-201376" y="1569720"/>
            <a:ext cx="2730138" cy="522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Petites molécules</a:t>
            </a:r>
            <a:endParaRPr lang="fr-FR" sz="2400" b="1" dirty="0">
              <a:solidFill>
                <a:schemeClr val="tx1"/>
              </a:solidFill>
            </a:endParaRPr>
          </a:p>
        </p:txBody>
      </p:sp>
      <p:sp>
        <p:nvSpPr>
          <p:cNvPr id="2" name="Oval 1"/>
          <p:cNvSpPr/>
          <p:nvPr/>
        </p:nvSpPr>
        <p:spPr>
          <a:xfrm>
            <a:off x="-1" y="1524001"/>
            <a:ext cx="2913017" cy="71602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p:cNvSpPr/>
          <p:nvPr/>
        </p:nvSpPr>
        <p:spPr>
          <a:xfrm>
            <a:off x="8849597" y="1648097"/>
            <a:ext cx="2913017" cy="71602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019763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embrane Cellulaire Et Biologie, Concept Biologique, Rendu 3d. Dessin  Numérique Par Ordinateur. Banque D'Images et Photos Libres De Droits. Image  142798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solidFill>
            <a:schemeClr val="bg1"/>
          </a:solidFill>
        </p:spPr>
      </p:pic>
      <p:sp>
        <p:nvSpPr>
          <p:cNvPr id="5" name="Rectangle 4"/>
          <p:cNvSpPr/>
          <p:nvPr/>
        </p:nvSpPr>
        <p:spPr>
          <a:xfrm>
            <a:off x="0" y="1198551"/>
            <a:ext cx="6600611" cy="5509200"/>
          </a:xfrm>
          <a:prstGeom prst="rect">
            <a:avLst/>
          </a:prstGeom>
          <a:solidFill>
            <a:schemeClr val="bg1"/>
          </a:solidFill>
        </p:spPr>
        <p:txBody>
          <a:bodyPr wrap="square">
            <a:spAutoFit/>
          </a:bodyPr>
          <a:lstStyle/>
          <a:p>
            <a:pPr marL="457200" indent="-457200">
              <a:buFont typeface="Wingdings" panose="05000000000000000000" pitchFamily="2" charset="2"/>
              <a:buChar char="q"/>
            </a:pPr>
            <a:r>
              <a:rPr lang="fr-FR" sz="3200" b="1" dirty="0" smtClean="0">
                <a:latin typeface="Times New Roman" panose="02020603050405020304" pitchFamily="18" charset="0"/>
                <a:ea typeface="Calibri" panose="020F0502020204030204" pitchFamily="34" charset="0"/>
              </a:rPr>
              <a:t>Concerne </a:t>
            </a:r>
            <a:r>
              <a:rPr lang="fr-FR" sz="3200" b="1" dirty="0">
                <a:latin typeface="Times New Roman" panose="02020603050405020304" pitchFamily="18" charset="0"/>
                <a:ea typeface="Calibri" panose="020F0502020204030204" pitchFamily="34" charset="0"/>
              </a:rPr>
              <a:t>les ions et les substances de faible poids </a:t>
            </a:r>
            <a:r>
              <a:rPr lang="fr-FR" sz="3200" b="1" dirty="0" smtClean="0">
                <a:latin typeface="Times New Roman" panose="02020603050405020304" pitchFamily="18" charset="0"/>
                <a:ea typeface="Calibri" panose="020F0502020204030204" pitchFamily="34" charset="0"/>
              </a:rPr>
              <a:t>moléculaire </a:t>
            </a:r>
          </a:p>
          <a:p>
            <a:r>
              <a:rPr lang="fr-FR" sz="3200" b="1" dirty="0" smtClean="0">
                <a:latin typeface="Times New Roman" panose="02020603050405020304" pitchFamily="18" charset="0"/>
                <a:ea typeface="Calibri" panose="020F0502020204030204" pitchFamily="34" charset="0"/>
              </a:rPr>
              <a:t>Ex: gaz, H2O, Glucose….</a:t>
            </a:r>
          </a:p>
          <a:p>
            <a:endParaRPr lang="fr-FR" sz="3200" b="1" dirty="0" smtClean="0">
              <a:latin typeface="Times New Roman" panose="02020603050405020304" pitchFamily="18" charset="0"/>
              <a:ea typeface="Calibri" panose="020F0502020204030204" pitchFamily="34" charset="0"/>
            </a:endParaRPr>
          </a:p>
          <a:p>
            <a:pPr marL="457200" indent="-457200">
              <a:buFont typeface="Wingdings" panose="05000000000000000000" pitchFamily="2" charset="2"/>
              <a:buChar char="q"/>
            </a:pPr>
            <a:r>
              <a:rPr lang="fr-FR" sz="3200" b="1" dirty="0" smtClean="0">
                <a:latin typeface="Times New Roman" panose="02020603050405020304" pitchFamily="18" charset="0"/>
                <a:ea typeface="Calibri" panose="020F0502020204030204" pitchFamily="34" charset="0"/>
              </a:rPr>
              <a:t>N’implique </a:t>
            </a:r>
            <a:r>
              <a:rPr lang="fr-FR" sz="3200" b="1" dirty="0">
                <a:latin typeface="Times New Roman" panose="02020603050405020304" pitchFamily="18" charset="0"/>
                <a:ea typeface="Calibri" panose="020F0502020204030204" pitchFamily="34" charset="0"/>
              </a:rPr>
              <a:t>pas des mouvements de la membrane </a:t>
            </a:r>
            <a:r>
              <a:rPr lang="fr-FR" sz="3200" b="1" dirty="0" smtClean="0">
                <a:latin typeface="Times New Roman" panose="02020603050405020304" pitchFamily="18" charset="0"/>
                <a:ea typeface="Calibri" panose="020F0502020204030204" pitchFamily="34" charset="0"/>
              </a:rPr>
              <a:t>plasmique</a:t>
            </a:r>
          </a:p>
          <a:p>
            <a:endParaRPr lang="fr-FR" sz="3200" b="1" dirty="0" smtClean="0">
              <a:latin typeface="Times New Roman" panose="02020603050405020304" pitchFamily="18" charset="0"/>
              <a:ea typeface="Calibri" panose="020F0502020204030204" pitchFamily="34" charset="0"/>
            </a:endParaRPr>
          </a:p>
          <a:p>
            <a:pPr marL="457200" indent="-457200">
              <a:buFont typeface="Wingdings" panose="05000000000000000000" pitchFamily="2" charset="2"/>
              <a:buChar char="q"/>
            </a:pPr>
            <a:r>
              <a:rPr lang="fr-FR" sz="3200" b="1" dirty="0" smtClean="0">
                <a:latin typeface="Times New Roman" panose="02020603050405020304" pitchFamily="18" charset="0"/>
                <a:ea typeface="Calibri" panose="020F0502020204030204" pitchFamily="34" charset="0"/>
              </a:rPr>
              <a:t>Les molécules transportées franchissent la M. Plasmique soit par intervention ou sans intervention de transporteurs</a:t>
            </a:r>
            <a:endParaRPr lang="fr-FR" sz="3200" b="1" dirty="0"/>
          </a:p>
        </p:txBody>
      </p:sp>
      <p:sp>
        <p:nvSpPr>
          <p:cNvPr id="6" name="Rectangle 5"/>
          <p:cNvSpPr/>
          <p:nvPr/>
        </p:nvSpPr>
        <p:spPr>
          <a:xfrm>
            <a:off x="6688542" y="1198551"/>
            <a:ext cx="5415527" cy="4031873"/>
          </a:xfrm>
          <a:prstGeom prst="rect">
            <a:avLst/>
          </a:prstGeom>
          <a:solidFill>
            <a:schemeClr val="bg1"/>
          </a:solidFill>
        </p:spPr>
        <p:txBody>
          <a:bodyPr wrap="square">
            <a:spAutoFit/>
          </a:bodyPr>
          <a:lstStyle/>
          <a:p>
            <a:pPr marL="457200" indent="-457200">
              <a:buFont typeface="Wingdings" panose="05000000000000000000" pitchFamily="2" charset="2"/>
              <a:buChar char="q"/>
            </a:pPr>
            <a:r>
              <a:rPr lang="fr-FR" sz="3200" b="1" dirty="0" smtClean="0">
                <a:latin typeface="Times New Roman" panose="02020603050405020304" pitchFamily="18" charset="0"/>
                <a:ea typeface="Calibri" panose="020F0502020204030204" pitchFamily="34" charset="0"/>
              </a:rPr>
              <a:t>Concerne </a:t>
            </a:r>
            <a:r>
              <a:rPr lang="fr-FR" sz="3200" b="1" dirty="0">
                <a:latin typeface="Times New Roman" panose="02020603050405020304" pitchFamily="18" charset="0"/>
                <a:ea typeface="Calibri" panose="020F0502020204030204" pitchFamily="34" charset="0"/>
              </a:rPr>
              <a:t>les </a:t>
            </a:r>
            <a:r>
              <a:rPr lang="fr-FR" sz="3200" b="1" dirty="0" smtClean="0">
                <a:latin typeface="Times New Roman" panose="02020603050405020304" pitchFamily="18" charset="0"/>
                <a:ea typeface="Calibri" panose="020F0502020204030204" pitchFamily="34" charset="0"/>
              </a:rPr>
              <a:t>macromolécules (PM élevé) Ex: LDL</a:t>
            </a:r>
          </a:p>
          <a:p>
            <a:pPr marL="457200" indent="-457200">
              <a:buFont typeface="Wingdings" panose="05000000000000000000" pitchFamily="2" charset="2"/>
              <a:buChar char="q"/>
            </a:pPr>
            <a:r>
              <a:rPr lang="fr-FR" sz="3200" b="1" dirty="0" smtClean="0">
                <a:latin typeface="Times New Roman" panose="02020603050405020304" pitchFamily="18" charset="0"/>
                <a:ea typeface="Calibri" panose="020F0502020204030204" pitchFamily="34" charset="0"/>
              </a:rPr>
              <a:t>Implique des </a:t>
            </a:r>
            <a:r>
              <a:rPr lang="fr-FR" sz="3200" b="1" dirty="0">
                <a:latin typeface="Times New Roman" panose="02020603050405020304" pitchFamily="18" charset="0"/>
                <a:ea typeface="Calibri" panose="020F0502020204030204" pitchFamily="34" charset="0"/>
              </a:rPr>
              <a:t>mouvements de la membrane </a:t>
            </a:r>
            <a:r>
              <a:rPr lang="fr-FR" sz="3200" b="1" dirty="0" smtClean="0">
                <a:latin typeface="Times New Roman" panose="02020603050405020304" pitchFamily="18" charset="0"/>
                <a:ea typeface="Calibri" panose="020F0502020204030204" pitchFamily="34" charset="0"/>
              </a:rPr>
              <a:t>plasmique</a:t>
            </a:r>
          </a:p>
          <a:p>
            <a:endParaRPr lang="fr-FR" sz="3200" b="1" dirty="0" smtClean="0">
              <a:latin typeface="Times New Roman" panose="02020603050405020304" pitchFamily="18" charset="0"/>
              <a:ea typeface="Calibri" panose="020F0502020204030204" pitchFamily="34" charset="0"/>
            </a:endParaRPr>
          </a:p>
          <a:p>
            <a:pPr marL="457200" indent="-457200">
              <a:buFont typeface="Wingdings" panose="05000000000000000000" pitchFamily="2" charset="2"/>
              <a:buChar char="q"/>
            </a:pPr>
            <a:r>
              <a:rPr lang="fr-FR" sz="3200" b="1" dirty="0" smtClean="0">
                <a:latin typeface="Times New Roman" panose="02020603050405020304" pitchFamily="18" charset="0"/>
                <a:ea typeface="Calibri" panose="020F0502020204030204" pitchFamily="34" charset="0"/>
              </a:rPr>
              <a:t>Intervention de vésicules de transport</a:t>
            </a:r>
            <a:endParaRPr lang="fr-FR" sz="3200" b="1" dirty="0"/>
          </a:p>
        </p:txBody>
      </p:sp>
      <p:sp>
        <p:nvSpPr>
          <p:cNvPr id="7" name="Rectangle 6"/>
          <p:cNvSpPr/>
          <p:nvPr/>
        </p:nvSpPr>
        <p:spPr>
          <a:xfrm>
            <a:off x="234646" y="239074"/>
            <a:ext cx="4829876"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3600" b="1" dirty="0" smtClean="0">
                <a:solidFill>
                  <a:schemeClr val="tx1"/>
                </a:solidFill>
                <a:latin typeface="Times New Roman" panose="02020603050405020304" pitchFamily="18" charset="0"/>
                <a:cs typeface="Times New Roman" panose="02020603050405020304" pitchFamily="18" charset="0"/>
              </a:rPr>
              <a:t>1.Transport perméatif</a:t>
            </a:r>
            <a:endParaRPr lang="fr-FR" sz="3600" b="1"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a:off x="7227627" y="239074"/>
            <a:ext cx="4829876"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3600" b="1" dirty="0" smtClean="0">
                <a:solidFill>
                  <a:schemeClr val="tx1"/>
                </a:solidFill>
                <a:latin typeface="Times New Roman" panose="02020603050405020304" pitchFamily="18" charset="0"/>
                <a:cs typeface="Times New Roman" panose="02020603050405020304" pitchFamily="18" charset="0"/>
              </a:rPr>
              <a:t>2.Transport cytotique</a:t>
            </a:r>
            <a:endParaRPr lang="fr-FR"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68312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embrane Cellulaire Et Biologie, Concept Biologique, Rendu 3d. Dessin  Numérique Par Ordinateur. Banque D'Images et Photos Libres De Droits. Image  142798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2"/>
          </a:xfrm>
          <a:prstGeom prst="rect">
            <a:avLst/>
          </a:prstGeom>
          <a:solidFill>
            <a:schemeClr val="bg1"/>
          </a:solidFill>
        </p:spPr>
      </p:pic>
      <p:sp>
        <p:nvSpPr>
          <p:cNvPr id="5" name="Rectangle 4"/>
          <p:cNvSpPr/>
          <p:nvPr/>
        </p:nvSpPr>
        <p:spPr>
          <a:xfrm>
            <a:off x="2991394" y="152735"/>
            <a:ext cx="6335485"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800" b="1" dirty="0" smtClean="0">
                <a:solidFill>
                  <a:schemeClr val="tx1"/>
                </a:solidFill>
                <a:latin typeface="Times New Roman" panose="02020603050405020304" pitchFamily="18" charset="0"/>
                <a:cs typeface="Times New Roman" panose="02020603050405020304" pitchFamily="18" charset="0"/>
              </a:rPr>
              <a:t>1.Transport perméatif</a:t>
            </a:r>
            <a:endParaRPr lang="fr-FR" sz="48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42452" y="1213136"/>
            <a:ext cx="5443946"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800" b="1" dirty="0" smtClean="0">
                <a:solidFill>
                  <a:schemeClr val="tx1"/>
                </a:solidFill>
                <a:latin typeface="Times New Roman" panose="02020603050405020304" pitchFamily="18" charset="0"/>
                <a:cs typeface="Times New Roman" panose="02020603050405020304" pitchFamily="18" charset="0"/>
              </a:rPr>
              <a:t>1.1.Transport passif</a:t>
            </a:r>
            <a:endParaRPr lang="fr-FR" sz="4800" b="1"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6765959" y="1293441"/>
            <a:ext cx="5361270"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800" b="1" dirty="0" smtClean="0">
                <a:solidFill>
                  <a:schemeClr val="tx1"/>
                </a:solidFill>
                <a:latin typeface="Times New Roman" panose="02020603050405020304" pitchFamily="18" charset="0"/>
                <a:cs typeface="Times New Roman" panose="02020603050405020304" pitchFamily="18" charset="0"/>
              </a:rPr>
              <a:t>1.2.Transport actif</a:t>
            </a:r>
            <a:endParaRPr lang="fr-FR" sz="4800" b="1"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a:off x="747029" y="2065382"/>
            <a:ext cx="4545877"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a. Diffusion simple</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04574" y="2842155"/>
            <a:ext cx="4630785"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tx1"/>
                </a:solidFill>
                <a:latin typeface="Times New Roman" panose="02020603050405020304" pitchFamily="18" charset="0"/>
                <a:cs typeface="Times New Roman" panose="02020603050405020304" pitchFamily="18" charset="0"/>
              </a:rPr>
              <a:t>b. Diffusion facilitée</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7275322" y="2089195"/>
            <a:ext cx="4695951"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a. T. actif primaire</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275322" y="2842155"/>
            <a:ext cx="4695952"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b. T. actif secondaire</a:t>
            </a:r>
            <a:endParaRPr lang="fr-FR" sz="4000" b="1" dirty="0">
              <a:solidFill>
                <a:schemeClr val="tx1"/>
              </a:solidFill>
              <a:latin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a:off x="8100605" y="831118"/>
            <a:ext cx="912766" cy="40985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420836" y="839798"/>
            <a:ext cx="1593633" cy="305627"/>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5577300" y="4465899"/>
            <a:ext cx="1172388" cy="189591"/>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547363" y="5033845"/>
            <a:ext cx="1143539" cy="43129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949441" y="1955035"/>
            <a:ext cx="0" cy="1088611"/>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970756" y="2403167"/>
            <a:ext cx="304566" cy="15033"/>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949441" y="3040146"/>
            <a:ext cx="325881"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71073" y="1897480"/>
            <a:ext cx="0" cy="1275472"/>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271072" y="3172952"/>
            <a:ext cx="539017"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71073" y="2464664"/>
            <a:ext cx="539017"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34288" y="3667694"/>
            <a:ext cx="6030144" cy="3163599"/>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sz="3200" b="1" u="sng" dirty="0" smtClean="0">
              <a:solidFill>
                <a:schemeClr val="tx1"/>
              </a:solidFill>
              <a:latin typeface="Times New Roman" panose="02020603050405020304" pitchFamily="18" charset="0"/>
              <a:cs typeface="Times New Roman" panose="02020603050405020304" pitchFamily="18" charset="0"/>
            </a:endParaRPr>
          </a:p>
          <a:p>
            <a:pPr marL="457200" indent="-457200" algn="ctr">
              <a:buFont typeface="Wingdings" panose="05000000000000000000" pitchFamily="2" charset="2"/>
              <a:buChar char="q"/>
              <a:defRPr/>
            </a:pPr>
            <a:r>
              <a:rPr lang="fr-FR" sz="3200" b="1" u="sng" dirty="0" smtClean="0">
                <a:solidFill>
                  <a:schemeClr val="tx1"/>
                </a:solidFill>
                <a:latin typeface="Times New Roman" panose="02020603050405020304" pitchFamily="18" charset="0"/>
                <a:cs typeface="Times New Roman" panose="02020603050405020304" pitchFamily="18" charset="0"/>
              </a:rPr>
              <a:t>Sans</a:t>
            </a:r>
            <a:r>
              <a:rPr lang="fr-FR" sz="3200" b="1" dirty="0" smtClean="0">
                <a:solidFill>
                  <a:schemeClr val="tx1"/>
                </a:solidFill>
                <a:latin typeface="Times New Roman" panose="02020603050405020304" pitchFamily="18" charset="0"/>
                <a:cs typeface="Times New Roman" panose="02020603050405020304" pitchFamily="18" charset="0"/>
              </a:rPr>
              <a:t> consommation d’énergie</a:t>
            </a:r>
          </a:p>
          <a:p>
            <a:pPr marL="457200" indent="-457200" algn="ctr">
              <a:buFont typeface="Wingdings" panose="05000000000000000000" pitchFamily="2" charset="2"/>
              <a:buChar char="q"/>
              <a:defRPr/>
            </a:pPr>
            <a:r>
              <a:rPr lang="fr-FR" sz="3200" b="1" dirty="0" smtClean="0">
                <a:solidFill>
                  <a:schemeClr val="tx1"/>
                </a:solidFill>
                <a:latin typeface="Times New Roman" panose="02020603050405020304" pitchFamily="18" charset="0"/>
                <a:cs typeface="Times New Roman" panose="02020603050405020304" pitchFamily="18" charset="0"/>
              </a:rPr>
              <a:t>Dans le sens du gradient de [ ]</a:t>
            </a:r>
          </a:p>
          <a:p>
            <a:pPr algn="ctr">
              <a:defRPr/>
            </a:pPr>
            <a:r>
              <a:rPr lang="fr-FR" sz="3200" b="1" dirty="0" smtClean="0">
                <a:solidFill>
                  <a:schemeClr val="tx1"/>
                </a:solidFill>
                <a:latin typeface="Times New Roman" panose="02020603050405020304" pitchFamily="18" charset="0"/>
                <a:cs typeface="Times New Roman" panose="02020603050405020304" pitchFamily="18" charset="0"/>
              </a:rPr>
              <a:t>       ( [+ ]</a:t>
            </a:r>
            <a:r>
              <a:rPr lang="fr-FR" sz="3200" b="1" dirty="0">
                <a:solidFill>
                  <a:schemeClr val="tx1"/>
                </a:solidFill>
                <a:latin typeface="Times New Roman" panose="02020603050405020304" pitchFamily="18" charset="0"/>
                <a:cs typeface="Times New Roman" panose="02020603050405020304" pitchFamily="18" charset="0"/>
              </a:rPr>
              <a:t> </a:t>
            </a:r>
            <a:r>
              <a:rPr lang="fr-FR" sz="3200" b="1" dirty="0" smtClean="0">
                <a:solidFill>
                  <a:schemeClr val="tx1"/>
                </a:solidFill>
                <a:latin typeface="Times New Roman" panose="02020603050405020304" pitchFamily="18" charset="0"/>
                <a:cs typeface="Times New Roman" panose="02020603050405020304" pitchFamily="18" charset="0"/>
              </a:rPr>
              <a:t>              [ -] )</a:t>
            </a:r>
          </a:p>
          <a:p>
            <a:pPr marL="457200" indent="-457200" algn="ctr">
              <a:buFont typeface="Wingdings" panose="05000000000000000000" pitchFamily="2" charset="2"/>
              <a:buChar char="q"/>
              <a:defRPr/>
            </a:pPr>
            <a:r>
              <a:rPr lang="fr-FR" sz="3200" b="1" dirty="0" smtClean="0">
                <a:solidFill>
                  <a:schemeClr val="tx1"/>
                </a:solidFill>
                <a:latin typeface="Times New Roman" panose="02020603050405020304" pitchFamily="18" charset="0"/>
                <a:cs typeface="Times New Roman" panose="02020603050405020304" pitchFamily="18" charset="0"/>
              </a:rPr>
              <a:t>D. Facilitée nécessite des transporteurs membranaires</a:t>
            </a:r>
          </a:p>
          <a:p>
            <a:pPr algn="ctr">
              <a:defRPr/>
            </a:pPr>
            <a:endParaRPr lang="fr-FR" sz="3200" b="1" dirty="0">
              <a:solidFill>
                <a:schemeClr val="tx1"/>
              </a:solidFill>
              <a:latin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a:off x="2721973" y="5296713"/>
            <a:ext cx="149567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6217920" y="3662094"/>
            <a:ext cx="5974080" cy="3169200"/>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algn="ctr">
              <a:buFont typeface="Wingdings" panose="05000000000000000000" pitchFamily="2" charset="2"/>
              <a:buChar char="q"/>
              <a:defRPr/>
            </a:pPr>
            <a:r>
              <a:rPr lang="fr-FR" sz="3200" b="1" dirty="0" smtClean="0">
                <a:solidFill>
                  <a:schemeClr val="tx1"/>
                </a:solidFill>
                <a:latin typeface="Times New Roman" panose="02020603050405020304" pitchFamily="18" charset="0"/>
                <a:cs typeface="Times New Roman" panose="02020603050405020304" pitchFamily="18" charset="0"/>
              </a:rPr>
              <a:t>Consomme de </a:t>
            </a:r>
            <a:r>
              <a:rPr lang="fr-FR" sz="3200" b="1" dirty="0">
                <a:solidFill>
                  <a:schemeClr val="tx1"/>
                </a:solidFill>
                <a:latin typeface="Times New Roman" panose="02020603050405020304" pitchFamily="18" charset="0"/>
                <a:cs typeface="Times New Roman" panose="02020603050405020304" pitchFamily="18" charset="0"/>
              </a:rPr>
              <a:t>l</a:t>
            </a:r>
            <a:r>
              <a:rPr lang="fr-FR" sz="3200" b="1" dirty="0" smtClean="0">
                <a:solidFill>
                  <a:schemeClr val="tx1"/>
                </a:solidFill>
                <a:latin typeface="Times New Roman" panose="02020603050405020304" pitchFamily="18" charset="0"/>
                <a:cs typeface="Times New Roman" panose="02020603050405020304" pitchFamily="18" charset="0"/>
              </a:rPr>
              <a:t>’énergie</a:t>
            </a:r>
          </a:p>
          <a:p>
            <a:pPr marL="457200" indent="-457200" algn="ctr">
              <a:buFont typeface="Wingdings" panose="05000000000000000000" pitchFamily="2" charset="2"/>
              <a:buChar char="q"/>
              <a:defRPr/>
            </a:pPr>
            <a:r>
              <a:rPr lang="fr-FR" sz="3200" b="1" dirty="0" smtClean="0">
                <a:solidFill>
                  <a:schemeClr val="tx1"/>
                </a:solidFill>
                <a:latin typeface="Times New Roman" panose="02020603050405020304" pitchFamily="18" charset="0"/>
                <a:cs typeface="Times New Roman" panose="02020603050405020304" pitchFamily="18" charset="0"/>
              </a:rPr>
              <a:t>Contre le gradient de [ ]</a:t>
            </a:r>
          </a:p>
          <a:p>
            <a:pPr algn="ctr">
              <a:defRPr/>
            </a:pPr>
            <a:r>
              <a:rPr lang="fr-FR" sz="3200" b="1" dirty="0" smtClean="0">
                <a:solidFill>
                  <a:schemeClr val="tx1"/>
                </a:solidFill>
                <a:latin typeface="Times New Roman" panose="02020603050405020304" pitchFamily="18" charset="0"/>
                <a:cs typeface="Times New Roman" panose="02020603050405020304" pitchFamily="18" charset="0"/>
              </a:rPr>
              <a:t>       ( [</a:t>
            </a:r>
            <a:r>
              <a:rPr lang="fr-FR" sz="3200" b="1" dirty="0">
                <a:solidFill>
                  <a:schemeClr val="tx1"/>
                </a:solidFill>
                <a:latin typeface="Times New Roman" panose="02020603050405020304" pitchFamily="18" charset="0"/>
                <a:cs typeface="Times New Roman" panose="02020603050405020304" pitchFamily="18" charset="0"/>
              </a:rPr>
              <a:t>-</a:t>
            </a:r>
            <a:r>
              <a:rPr lang="fr-FR" sz="3200" b="1" dirty="0" smtClean="0">
                <a:solidFill>
                  <a:schemeClr val="tx1"/>
                </a:solidFill>
                <a:latin typeface="Times New Roman" panose="02020603050405020304" pitchFamily="18" charset="0"/>
                <a:cs typeface="Times New Roman" panose="02020603050405020304" pitchFamily="18" charset="0"/>
              </a:rPr>
              <a:t> ]</a:t>
            </a:r>
            <a:r>
              <a:rPr lang="fr-FR" sz="3200" b="1" dirty="0">
                <a:solidFill>
                  <a:schemeClr val="tx1"/>
                </a:solidFill>
                <a:latin typeface="Times New Roman" panose="02020603050405020304" pitchFamily="18" charset="0"/>
                <a:cs typeface="Times New Roman" panose="02020603050405020304" pitchFamily="18" charset="0"/>
              </a:rPr>
              <a:t> </a:t>
            </a:r>
            <a:r>
              <a:rPr lang="fr-FR" sz="3200" b="1" dirty="0" smtClean="0">
                <a:solidFill>
                  <a:schemeClr val="tx1"/>
                </a:solidFill>
                <a:latin typeface="Times New Roman" panose="02020603050405020304" pitchFamily="18" charset="0"/>
                <a:cs typeface="Times New Roman" panose="02020603050405020304" pitchFamily="18" charset="0"/>
              </a:rPr>
              <a:t>              [ </a:t>
            </a:r>
            <a:r>
              <a:rPr lang="fr-FR" sz="3200" b="1" dirty="0">
                <a:solidFill>
                  <a:schemeClr val="tx1"/>
                </a:solidFill>
                <a:latin typeface="Times New Roman" panose="02020603050405020304" pitchFamily="18" charset="0"/>
                <a:cs typeface="Times New Roman" panose="02020603050405020304" pitchFamily="18" charset="0"/>
              </a:rPr>
              <a:t>+</a:t>
            </a:r>
            <a:r>
              <a:rPr lang="fr-FR" sz="3200" b="1" dirty="0" smtClean="0">
                <a:solidFill>
                  <a:schemeClr val="tx1"/>
                </a:solidFill>
                <a:latin typeface="Times New Roman" panose="02020603050405020304" pitchFamily="18" charset="0"/>
                <a:cs typeface="Times New Roman" panose="02020603050405020304" pitchFamily="18" charset="0"/>
              </a:rPr>
              <a:t>] )</a:t>
            </a:r>
          </a:p>
          <a:p>
            <a:pPr marL="457200" indent="-457200" algn="ctr">
              <a:buFont typeface="Wingdings" panose="05000000000000000000" pitchFamily="2" charset="2"/>
              <a:buChar char="q"/>
              <a:defRPr/>
            </a:pPr>
            <a:r>
              <a:rPr lang="fr-FR" sz="3200" b="1" dirty="0" smtClean="0">
                <a:solidFill>
                  <a:schemeClr val="tx1"/>
                </a:solidFill>
                <a:latin typeface="Times New Roman" panose="02020603050405020304" pitchFamily="18" charset="0"/>
                <a:cs typeface="Times New Roman" panose="02020603050405020304" pitchFamily="18" charset="0"/>
              </a:rPr>
              <a:t>Nécessite des transporteurs membranaires</a:t>
            </a:r>
            <a:endParaRPr lang="fr-FR" sz="3200" b="1" dirty="0">
              <a:solidFill>
                <a:schemeClr val="tx1"/>
              </a:solidFill>
              <a:latin typeface="Times New Roman" panose="02020603050405020304" pitchFamily="18" charset="0"/>
              <a:cs typeface="Times New Roman" panose="02020603050405020304" pitchFamily="18" charset="0"/>
            </a:endParaRPr>
          </a:p>
        </p:txBody>
      </p:sp>
      <p:cxnSp>
        <p:nvCxnSpPr>
          <p:cNvPr id="25" name="Straight Arrow Connector 24"/>
          <p:cNvCxnSpPr/>
          <p:nvPr/>
        </p:nvCxnSpPr>
        <p:spPr>
          <a:xfrm>
            <a:off x="8755650" y="5276200"/>
            <a:ext cx="1498693" cy="2051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76687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Transport Passif Et Actif Des Membranes Cellulaires. Diffusion Facilité Le  Transport Des Protéines De Diffusion Avec Atp. Illustration de Vecteur -  Illustration du mouvement, inférieur: 301557587"/>
          <p:cNvPicPr>
            <a:picLocks noChangeAspect="1" noChangeArrowheads="1"/>
          </p:cNvPicPr>
          <p:nvPr/>
        </p:nvPicPr>
        <p:blipFill rotWithShape="1">
          <a:blip r:embed="rId2">
            <a:extLst>
              <a:ext uri="{28A0092B-C50C-407E-A947-70E740481C1C}">
                <a14:useLocalDpi xmlns:a14="http://schemas.microsoft.com/office/drawing/2010/main" val="0"/>
              </a:ext>
            </a:extLst>
          </a:blip>
          <a:srcRect b="8060"/>
          <a:stretch/>
        </p:blipFill>
        <p:spPr bwMode="auto">
          <a:xfrm>
            <a:off x="0" y="235131"/>
            <a:ext cx="12192000" cy="63052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371600" y="235131"/>
            <a:ext cx="4637314" cy="5486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latin typeface="Times New Roman" panose="02020603050405020304" pitchFamily="18" charset="0"/>
                <a:cs typeface="Times New Roman" panose="02020603050405020304" pitchFamily="18" charset="0"/>
              </a:rPr>
              <a:t>Transport passif</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850778" y="235131"/>
            <a:ext cx="3971108" cy="5486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latin typeface="Times New Roman" panose="02020603050405020304" pitchFamily="18" charset="0"/>
                <a:cs typeface="Times New Roman" panose="02020603050405020304" pitchFamily="18" charset="0"/>
              </a:rPr>
              <a:t>Transport actif</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0" y="5364479"/>
            <a:ext cx="2351314" cy="5486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latin typeface="Times New Roman" panose="02020603050405020304" pitchFamily="18" charset="0"/>
                <a:cs typeface="Times New Roman" panose="02020603050405020304" pitchFamily="18" charset="0"/>
              </a:rPr>
              <a:t>Diffusion simple</a:t>
            </a:r>
            <a:endParaRPr lang="fr-FR" sz="24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261359" y="5364479"/>
            <a:ext cx="3635829" cy="5486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latin typeface="Times New Roman" panose="02020603050405020304" pitchFamily="18" charset="0"/>
                <a:cs typeface="Times New Roman" panose="02020603050405020304" pitchFamily="18" charset="0"/>
              </a:rPr>
              <a:t>Diffusion facilitée</a:t>
            </a:r>
            <a:endParaRPr lang="fr-FR" sz="2400" b="1" dirty="0">
              <a:solidFill>
                <a:schemeClr val="tx1"/>
              </a:solidFill>
              <a:latin typeface="Times New Roman" panose="02020603050405020304" pitchFamily="18" charset="0"/>
              <a:cs typeface="Times New Roman" panose="02020603050405020304" pitchFamily="18" charset="0"/>
            </a:endParaRPr>
          </a:p>
        </p:txBody>
      </p:sp>
      <p:sp>
        <p:nvSpPr>
          <p:cNvPr id="5" name="Left Bracket 4"/>
          <p:cNvSpPr/>
          <p:nvPr/>
        </p:nvSpPr>
        <p:spPr>
          <a:xfrm rot="16200000">
            <a:off x="901337" y="4284616"/>
            <a:ext cx="300445" cy="1632857"/>
          </a:xfrm>
          <a:prstGeom prst="leftBracket">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6" name="Rectangle 5"/>
          <p:cNvSpPr/>
          <p:nvPr/>
        </p:nvSpPr>
        <p:spPr>
          <a:xfrm>
            <a:off x="2125932" y="1402471"/>
            <a:ext cx="772969" cy="707886"/>
          </a:xfrm>
          <a:prstGeom prst="rect">
            <a:avLst/>
          </a:prstGeom>
        </p:spPr>
        <p:txBody>
          <a:bodyPr wrap="none">
            <a:spAutoFit/>
          </a:bodyPr>
          <a:lstStyle/>
          <a:p>
            <a:r>
              <a:rPr lang="fr-FR" sz="4000" b="1" dirty="0"/>
              <a:t>[+]</a:t>
            </a:r>
            <a:endParaRPr lang="fr-FR" sz="4000" dirty="0"/>
          </a:p>
        </p:txBody>
      </p:sp>
      <p:sp>
        <p:nvSpPr>
          <p:cNvPr id="7" name="Rectangle 6"/>
          <p:cNvSpPr/>
          <p:nvPr/>
        </p:nvSpPr>
        <p:spPr>
          <a:xfrm>
            <a:off x="2099806" y="4009488"/>
            <a:ext cx="723275" cy="769441"/>
          </a:xfrm>
          <a:prstGeom prst="rect">
            <a:avLst/>
          </a:prstGeom>
        </p:spPr>
        <p:txBody>
          <a:bodyPr wrap="none">
            <a:spAutoFit/>
          </a:bodyPr>
          <a:lstStyle/>
          <a:p>
            <a:r>
              <a:rPr lang="fr-FR" sz="4400" b="1" dirty="0"/>
              <a:t>[-]</a:t>
            </a:r>
          </a:p>
        </p:txBody>
      </p:sp>
      <p:cxnSp>
        <p:nvCxnSpPr>
          <p:cNvPr id="12" name="Straight Arrow Connector 11"/>
          <p:cNvCxnSpPr/>
          <p:nvPr/>
        </p:nvCxnSpPr>
        <p:spPr>
          <a:xfrm>
            <a:off x="2510011" y="2171912"/>
            <a:ext cx="2405" cy="192982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1560630" y="1854926"/>
            <a:ext cx="39187" cy="339634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1193738" y="5190093"/>
            <a:ext cx="772969" cy="707886"/>
          </a:xfrm>
          <a:prstGeom prst="rect">
            <a:avLst/>
          </a:prstGeom>
        </p:spPr>
        <p:txBody>
          <a:bodyPr wrap="none">
            <a:spAutoFit/>
          </a:bodyPr>
          <a:lstStyle/>
          <a:p>
            <a:r>
              <a:rPr lang="fr-FR" sz="4000" b="1" dirty="0"/>
              <a:t>[+]</a:t>
            </a:r>
            <a:endParaRPr lang="fr-FR" sz="4000" dirty="0"/>
          </a:p>
        </p:txBody>
      </p:sp>
      <p:sp>
        <p:nvSpPr>
          <p:cNvPr id="28" name="Rectangle 27"/>
          <p:cNvSpPr/>
          <p:nvPr/>
        </p:nvSpPr>
        <p:spPr>
          <a:xfrm>
            <a:off x="11178118" y="1085485"/>
            <a:ext cx="723275" cy="769441"/>
          </a:xfrm>
          <a:prstGeom prst="rect">
            <a:avLst/>
          </a:prstGeom>
        </p:spPr>
        <p:txBody>
          <a:bodyPr wrap="none">
            <a:spAutoFit/>
          </a:bodyPr>
          <a:lstStyle/>
          <a:p>
            <a:r>
              <a:rPr lang="fr-FR" sz="4400" b="1" dirty="0"/>
              <a:t>[-]</a:t>
            </a:r>
          </a:p>
        </p:txBody>
      </p:sp>
      <p:cxnSp>
        <p:nvCxnSpPr>
          <p:cNvPr id="22" name="Straight Connector 21"/>
          <p:cNvCxnSpPr/>
          <p:nvPr/>
        </p:nvCxnSpPr>
        <p:spPr>
          <a:xfrm>
            <a:off x="7850778" y="0"/>
            <a:ext cx="143690" cy="6257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6620331" y="3536943"/>
            <a:ext cx="1661520" cy="70848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Perméase</a:t>
            </a:r>
            <a:endParaRPr lang="fr-FR" sz="2400" b="1" dirty="0">
              <a:solidFill>
                <a:schemeClr val="tx1"/>
              </a:solidFill>
            </a:endParaRPr>
          </a:p>
        </p:txBody>
      </p:sp>
      <p:sp>
        <p:nvSpPr>
          <p:cNvPr id="33" name="Rectangle 32"/>
          <p:cNvSpPr/>
          <p:nvPr/>
        </p:nvSpPr>
        <p:spPr>
          <a:xfrm>
            <a:off x="4067463" y="3536943"/>
            <a:ext cx="1560709" cy="70848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Canal ionique</a:t>
            </a:r>
            <a:endParaRPr lang="fr-FR" sz="2400" b="1" dirty="0">
              <a:solidFill>
                <a:schemeClr val="tx1"/>
              </a:solidFill>
            </a:endParaRPr>
          </a:p>
        </p:txBody>
      </p:sp>
      <p:sp>
        <p:nvSpPr>
          <p:cNvPr id="32" name="Oval 31"/>
          <p:cNvSpPr/>
          <p:nvPr/>
        </p:nvSpPr>
        <p:spPr>
          <a:xfrm>
            <a:off x="9953897" y="2946483"/>
            <a:ext cx="1606733" cy="8744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Energie</a:t>
            </a:r>
            <a:endParaRPr lang="fr-FR" sz="2400" b="1" dirty="0">
              <a:solidFill>
                <a:schemeClr val="tx1"/>
              </a:solidFill>
            </a:endParaRPr>
          </a:p>
        </p:txBody>
      </p:sp>
      <p:cxnSp>
        <p:nvCxnSpPr>
          <p:cNvPr id="36" name="Straight Arrow Connector 35"/>
          <p:cNvCxnSpPr/>
          <p:nvPr/>
        </p:nvCxnSpPr>
        <p:spPr>
          <a:xfrm flipH="1">
            <a:off x="8281851" y="3174274"/>
            <a:ext cx="444138" cy="3626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40630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Así es la nueva batería de gravedad que podría almacenar energía de por vid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Picture 4"/>
          <p:cNvPicPr>
            <a:picLocks noChangeAspect="1"/>
          </p:cNvPicPr>
          <p:nvPr/>
        </p:nvPicPr>
        <p:blipFill>
          <a:blip r:embed="rId2"/>
          <a:stretch>
            <a:fillRect/>
          </a:stretch>
        </p:blipFill>
        <p:spPr>
          <a:xfrm>
            <a:off x="0" y="27548"/>
            <a:ext cx="12192000" cy="6830452"/>
          </a:xfrm>
          <a:prstGeom prst="rect">
            <a:avLst/>
          </a:prstGeom>
        </p:spPr>
      </p:pic>
      <p:sp>
        <p:nvSpPr>
          <p:cNvPr id="6" name="Rectangle 5"/>
          <p:cNvSpPr/>
          <p:nvPr/>
        </p:nvSpPr>
        <p:spPr>
          <a:xfrm>
            <a:off x="460375" y="5460274"/>
            <a:ext cx="1316174" cy="7315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8" name="Rectangle 7"/>
          <p:cNvSpPr/>
          <p:nvPr/>
        </p:nvSpPr>
        <p:spPr>
          <a:xfrm>
            <a:off x="5437913" y="1811382"/>
            <a:ext cx="1316174" cy="7315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9" name="Rectangle 8"/>
          <p:cNvSpPr/>
          <p:nvPr/>
        </p:nvSpPr>
        <p:spPr>
          <a:xfrm>
            <a:off x="10579736" y="5460274"/>
            <a:ext cx="1316174" cy="7315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Tree>
    <p:extLst>
      <p:ext uri="{BB962C8B-B14F-4D97-AF65-F5344CB8AC3E}">
        <p14:creationId xmlns:p14="http://schemas.microsoft.com/office/powerpoint/2010/main" val="21480248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embrane Cellulaire Et Biologie, Concept Biologique, Rendu 3d. Dessin  Numérique Par Ordinateur. Banque D'Images et Photos Libres De Droits. Image  142798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2" y="0"/>
            <a:ext cx="12192000" cy="6858000"/>
          </a:xfrm>
          <a:prstGeom prst="rect">
            <a:avLst/>
          </a:prstGeom>
          <a:solidFill>
            <a:schemeClr val="bg1"/>
          </a:solidFill>
        </p:spPr>
      </p:pic>
      <p:sp>
        <p:nvSpPr>
          <p:cNvPr id="5" name="Rectangle 4"/>
          <p:cNvSpPr/>
          <p:nvPr/>
        </p:nvSpPr>
        <p:spPr>
          <a:xfrm>
            <a:off x="29551" y="61329"/>
            <a:ext cx="7406640"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800" b="1" dirty="0" smtClean="0">
                <a:solidFill>
                  <a:schemeClr val="tx1"/>
                </a:solidFill>
                <a:latin typeface="Times New Roman" panose="02020603050405020304" pitchFamily="18" charset="0"/>
                <a:cs typeface="Times New Roman" panose="02020603050405020304" pitchFamily="18" charset="0"/>
              </a:rPr>
              <a:t>1.1.Transport passif</a:t>
            </a:r>
            <a:endParaRPr lang="fr-FR" sz="48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31400" y="917582"/>
            <a:ext cx="4545877" cy="661594"/>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A. Diffusion simple</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8" name="AutoShape 2" descr="File:Scheme simple diffusion in cell membrane-de.png - Wikimedia Comm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9" name="Picture 8"/>
          <p:cNvPicPr>
            <a:picLocks noChangeAspect="1"/>
          </p:cNvPicPr>
          <p:nvPr/>
        </p:nvPicPr>
        <p:blipFill>
          <a:blip r:embed="rId3"/>
          <a:stretch>
            <a:fillRect/>
          </a:stretch>
        </p:blipFill>
        <p:spPr>
          <a:xfrm>
            <a:off x="4969298" y="805123"/>
            <a:ext cx="7245834" cy="3893692"/>
          </a:xfrm>
          <a:prstGeom prst="rect">
            <a:avLst/>
          </a:prstGeom>
        </p:spPr>
      </p:pic>
      <p:cxnSp>
        <p:nvCxnSpPr>
          <p:cNvPr id="11" name="Straight Arrow Connector 10"/>
          <p:cNvCxnSpPr/>
          <p:nvPr/>
        </p:nvCxnSpPr>
        <p:spPr>
          <a:xfrm>
            <a:off x="6700562" y="1539501"/>
            <a:ext cx="20782" cy="199668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8844629" y="1550444"/>
            <a:ext cx="10320" cy="203788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0996592" y="1812850"/>
            <a:ext cx="17772" cy="1775477"/>
          </a:xfrm>
          <a:prstGeom prst="straightConnector1">
            <a:avLst/>
          </a:prstGeom>
          <a:ln w="762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6334860" y="872695"/>
            <a:ext cx="772969" cy="707886"/>
          </a:xfrm>
          <a:prstGeom prst="rect">
            <a:avLst/>
          </a:prstGeom>
        </p:spPr>
        <p:txBody>
          <a:bodyPr wrap="none">
            <a:spAutoFit/>
          </a:bodyPr>
          <a:lstStyle/>
          <a:p>
            <a:r>
              <a:rPr lang="fr-FR" sz="4000" b="1" dirty="0"/>
              <a:t>[+]</a:t>
            </a:r>
            <a:endParaRPr lang="fr-FR" sz="4000" dirty="0"/>
          </a:p>
        </p:txBody>
      </p:sp>
      <p:sp>
        <p:nvSpPr>
          <p:cNvPr id="16" name="Rectangle 15"/>
          <p:cNvSpPr/>
          <p:nvPr/>
        </p:nvSpPr>
        <p:spPr>
          <a:xfrm>
            <a:off x="5494492" y="3441883"/>
            <a:ext cx="1634353" cy="707886"/>
          </a:xfrm>
          <a:prstGeom prst="rect">
            <a:avLst/>
          </a:prstGeom>
        </p:spPr>
        <p:txBody>
          <a:bodyPr wrap="square">
            <a:spAutoFit/>
          </a:bodyPr>
          <a:lstStyle/>
          <a:p>
            <a:r>
              <a:rPr lang="fr-FR" sz="3200" b="1" dirty="0" smtClean="0"/>
              <a:t>T0</a:t>
            </a:r>
            <a:r>
              <a:rPr lang="fr-FR" sz="4000" b="1" dirty="0" smtClean="0"/>
              <a:t>    [-]</a:t>
            </a:r>
            <a:endParaRPr lang="fr-FR" sz="4000" b="1" dirty="0"/>
          </a:p>
        </p:txBody>
      </p:sp>
      <p:sp>
        <p:nvSpPr>
          <p:cNvPr id="18" name="Rectangle 17"/>
          <p:cNvSpPr/>
          <p:nvPr/>
        </p:nvSpPr>
        <p:spPr>
          <a:xfrm>
            <a:off x="8573666" y="898494"/>
            <a:ext cx="772969" cy="707886"/>
          </a:xfrm>
          <a:prstGeom prst="rect">
            <a:avLst/>
          </a:prstGeom>
        </p:spPr>
        <p:txBody>
          <a:bodyPr wrap="none">
            <a:spAutoFit/>
          </a:bodyPr>
          <a:lstStyle/>
          <a:p>
            <a:r>
              <a:rPr lang="fr-FR" sz="4000" b="1" dirty="0"/>
              <a:t>[+]</a:t>
            </a:r>
            <a:endParaRPr lang="fr-FR" sz="4000" dirty="0"/>
          </a:p>
        </p:txBody>
      </p:sp>
      <p:sp>
        <p:nvSpPr>
          <p:cNvPr id="19" name="Rectangle 18"/>
          <p:cNvSpPr/>
          <p:nvPr/>
        </p:nvSpPr>
        <p:spPr>
          <a:xfrm>
            <a:off x="7624484" y="3443623"/>
            <a:ext cx="1579759" cy="707886"/>
          </a:xfrm>
          <a:prstGeom prst="rect">
            <a:avLst/>
          </a:prstGeom>
        </p:spPr>
        <p:txBody>
          <a:bodyPr wrap="square">
            <a:spAutoFit/>
          </a:bodyPr>
          <a:lstStyle/>
          <a:p>
            <a:r>
              <a:rPr lang="fr-FR" sz="3200" b="1" dirty="0" smtClean="0"/>
              <a:t>T1</a:t>
            </a:r>
            <a:r>
              <a:rPr lang="fr-FR" sz="4000" b="1" dirty="0" smtClean="0"/>
              <a:t>    [-]</a:t>
            </a:r>
            <a:endParaRPr lang="fr-FR" sz="4000" b="1" dirty="0"/>
          </a:p>
        </p:txBody>
      </p:sp>
      <p:sp>
        <p:nvSpPr>
          <p:cNvPr id="20" name="Rectangle 19"/>
          <p:cNvSpPr/>
          <p:nvPr/>
        </p:nvSpPr>
        <p:spPr>
          <a:xfrm>
            <a:off x="10275483" y="3831170"/>
            <a:ext cx="596638" cy="584775"/>
          </a:xfrm>
          <a:prstGeom prst="rect">
            <a:avLst/>
          </a:prstGeom>
        </p:spPr>
        <p:txBody>
          <a:bodyPr wrap="none">
            <a:spAutoFit/>
          </a:bodyPr>
          <a:lstStyle/>
          <a:p>
            <a:r>
              <a:rPr lang="fr-FR" sz="3200" b="1" dirty="0" smtClean="0"/>
              <a:t>T2</a:t>
            </a:r>
            <a:endParaRPr lang="fr-FR" sz="3200" dirty="0"/>
          </a:p>
        </p:txBody>
      </p:sp>
      <p:sp>
        <p:nvSpPr>
          <p:cNvPr id="21" name="Rectangle 20"/>
          <p:cNvSpPr/>
          <p:nvPr/>
        </p:nvSpPr>
        <p:spPr>
          <a:xfrm>
            <a:off x="4655127" y="4811274"/>
            <a:ext cx="7536873" cy="19588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500" indent="-571500" algn="ctr">
              <a:buFont typeface="Wingdings" panose="05000000000000000000" pitchFamily="2" charset="2"/>
              <a:buChar char="q"/>
            </a:pPr>
            <a:r>
              <a:rPr lang="fr-FR" sz="3600" b="1" dirty="0" smtClean="0">
                <a:solidFill>
                  <a:schemeClr val="tx1"/>
                </a:solidFill>
                <a:latin typeface="Times New Roman" panose="02020603050405020304" pitchFamily="18" charset="0"/>
                <a:cs typeface="Times New Roman" panose="02020603050405020304" pitchFamily="18" charset="0"/>
              </a:rPr>
              <a:t>Dans le sens du gradient</a:t>
            </a:r>
          </a:p>
          <a:p>
            <a:pPr marL="571500" indent="-571500" algn="ctr">
              <a:buFont typeface="Wingdings" panose="05000000000000000000" pitchFamily="2" charset="2"/>
              <a:buChar char="q"/>
            </a:pPr>
            <a:r>
              <a:rPr lang="fr-FR" sz="3600" b="1" dirty="0" smtClean="0">
                <a:solidFill>
                  <a:schemeClr val="tx1"/>
                </a:solidFill>
                <a:latin typeface="Times New Roman" panose="02020603050405020304" pitchFamily="18" charset="0"/>
                <a:cs typeface="Times New Roman" panose="02020603050405020304" pitchFamily="18" charset="0"/>
              </a:rPr>
              <a:t>Sans consommation d’énergie</a:t>
            </a:r>
          </a:p>
          <a:p>
            <a:pPr marL="571500" indent="-571500" algn="ctr">
              <a:buFont typeface="Wingdings" panose="05000000000000000000" pitchFamily="2" charset="2"/>
              <a:buChar char="q"/>
            </a:pPr>
            <a:r>
              <a:rPr lang="fr-FR" sz="3600" b="1" dirty="0" smtClean="0">
                <a:solidFill>
                  <a:schemeClr val="tx1"/>
                </a:solidFill>
                <a:latin typeface="Times New Roman" panose="02020603050405020304" pitchFamily="18" charset="0"/>
                <a:cs typeface="Times New Roman" panose="02020603050405020304" pitchFamily="18" charset="0"/>
              </a:rPr>
              <a:t>Sans transporteurs membranaires</a:t>
            </a:r>
            <a:endParaRPr lang="fr-FR" sz="3600" b="1" dirty="0">
              <a:solidFill>
                <a:schemeClr val="tx1"/>
              </a:solidFill>
              <a:latin typeface="Times New Roman" panose="02020603050405020304" pitchFamily="18" charset="0"/>
              <a:cs typeface="Times New Roman" panose="02020603050405020304" pitchFamily="18" charset="0"/>
            </a:endParaRPr>
          </a:p>
        </p:txBody>
      </p:sp>
      <p:sp>
        <p:nvSpPr>
          <p:cNvPr id="23" name="Oval 22"/>
          <p:cNvSpPr/>
          <p:nvPr/>
        </p:nvSpPr>
        <p:spPr>
          <a:xfrm>
            <a:off x="9843887" y="98642"/>
            <a:ext cx="1620982" cy="107271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1</a:t>
            </a:r>
            <a:endParaRPr lang="fr-FR" sz="4400" b="1" dirty="0">
              <a:solidFill>
                <a:schemeClr val="tx1"/>
              </a:solidFill>
            </a:endParaRPr>
          </a:p>
        </p:txBody>
      </p:sp>
      <p:sp>
        <p:nvSpPr>
          <p:cNvPr id="26" name="Oval 25"/>
          <p:cNvSpPr/>
          <p:nvPr/>
        </p:nvSpPr>
        <p:spPr>
          <a:xfrm>
            <a:off x="-40349" y="1659120"/>
            <a:ext cx="2120122" cy="107271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2</a:t>
            </a:r>
            <a:endParaRPr lang="fr-FR" sz="4400" b="1" dirty="0">
              <a:solidFill>
                <a:schemeClr val="tx1"/>
              </a:solidFill>
            </a:endParaRPr>
          </a:p>
        </p:txBody>
      </p:sp>
      <p:pic>
        <p:nvPicPr>
          <p:cNvPr id="4098" name="Picture 2" descr="Diffusion Revision notes | A-Level Biology CIE | Cogni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51" y="2515373"/>
            <a:ext cx="4756896" cy="4123635"/>
          </a:xfrm>
          <a:prstGeom prst="rect">
            <a:avLst/>
          </a:prstGeom>
          <a:noFill/>
          <a:extLst>
            <a:ext uri="{909E8E84-426E-40DD-AFC4-6F175D3DCCD1}">
              <a14:hiddenFill xmlns:a14="http://schemas.microsoft.com/office/drawing/2010/main">
                <a:solidFill>
                  <a:srgbClr val="FFFFFF"/>
                </a:solidFill>
              </a14:hiddenFill>
            </a:ext>
          </a:extLst>
        </p:spPr>
      </p:pic>
      <p:sp>
        <p:nvSpPr>
          <p:cNvPr id="25" name="Oval 24"/>
          <p:cNvSpPr/>
          <p:nvPr/>
        </p:nvSpPr>
        <p:spPr>
          <a:xfrm>
            <a:off x="4677074" y="4397706"/>
            <a:ext cx="1547524" cy="76661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3</a:t>
            </a:r>
            <a:endParaRPr lang="fr-FR" sz="4400" b="1" dirty="0">
              <a:solidFill>
                <a:schemeClr val="tx1"/>
              </a:solidFill>
            </a:endParaRPr>
          </a:p>
        </p:txBody>
      </p:sp>
      <p:cxnSp>
        <p:nvCxnSpPr>
          <p:cNvPr id="3" name="Straight Arrow Connector 2"/>
          <p:cNvCxnSpPr/>
          <p:nvPr/>
        </p:nvCxnSpPr>
        <p:spPr>
          <a:xfrm>
            <a:off x="2403566" y="2731837"/>
            <a:ext cx="0" cy="166586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403566" y="4811274"/>
            <a:ext cx="0" cy="166586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54515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fficher l'image d'origine"/>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0" y="222070"/>
            <a:ext cx="12192000" cy="6635930"/>
          </a:xfrm>
          <a:prstGeom prst="rect">
            <a:avLst/>
          </a:prstGeom>
          <a:noFill/>
          <a:ln>
            <a:noFill/>
          </a:ln>
        </p:spPr>
      </p:pic>
      <p:sp>
        <p:nvSpPr>
          <p:cNvPr id="2" name="Rectangle 1"/>
          <p:cNvSpPr/>
          <p:nvPr/>
        </p:nvSpPr>
        <p:spPr>
          <a:xfrm>
            <a:off x="0" y="91438"/>
            <a:ext cx="11954691" cy="6531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smtClean="0">
                <a:solidFill>
                  <a:schemeClr val="tx1"/>
                </a:solidFill>
              </a:rPr>
              <a:t>Les facteurs régulant la Diffusion Simple</a:t>
            </a:r>
            <a:endParaRPr lang="fr-FR" sz="5400" b="1" dirty="0">
              <a:solidFill>
                <a:schemeClr val="tx1"/>
              </a:solidFill>
            </a:endParaRPr>
          </a:p>
        </p:txBody>
      </p:sp>
      <p:sp>
        <p:nvSpPr>
          <p:cNvPr id="3" name="Rectangle 2"/>
          <p:cNvSpPr/>
          <p:nvPr/>
        </p:nvSpPr>
        <p:spPr>
          <a:xfrm>
            <a:off x="1332411" y="4010298"/>
            <a:ext cx="2495005" cy="45720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ysClr val="windowText" lastClr="000000"/>
                </a:solidFill>
              </a:rPr>
              <a:t>Molécules  apolaires (hormones stéroïdes)</a:t>
            </a:r>
            <a:endParaRPr lang="fr-FR" b="1" dirty="0">
              <a:solidFill>
                <a:sysClr val="windowText" lastClr="000000"/>
              </a:solidFill>
            </a:endParaRPr>
          </a:p>
        </p:txBody>
      </p:sp>
      <p:cxnSp>
        <p:nvCxnSpPr>
          <p:cNvPr id="8" name="Straight Arrow Connector 7"/>
          <p:cNvCxnSpPr/>
          <p:nvPr/>
        </p:nvCxnSpPr>
        <p:spPr>
          <a:xfrm flipV="1">
            <a:off x="3905794" y="4114800"/>
            <a:ext cx="5930537" cy="130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9039498" y="4585063"/>
            <a:ext cx="3043646" cy="227293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Lorsque la Diffusion Simple n’est pas possible, la molécule nécessite un transporteur membranaire </a:t>
            </a:r>
            <a:endParaRPr lang="fr-FR" sz="2400" b="1" dirty="0">
              <a:solidFill>
                <a:schemeClr val="tx1"/>
              </a:solidFill>
            </a:endParaRPr>
          </a:p>
        </p:txBody>
      </p:sp>
    </p:spTree>
    <p:extLst>
      <p:ext uri="{BB962C8B-B14F-4D97-AF65-F5344CB8AC3E}">
        <p14:creationId xmlns:p14="http://schemas.microsoft.com/office/powerpoint/2010/main" val="36379696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fficher l'image d'origine"/>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5159828" y="0"/>
            <a:ext cx="6921335" cy="6858000"/>
          </a:xfrm>
          <a:prstGeom prst="rect">
            <a:avLst/>
          </a:prstGeom>
          <a:noFill/>
          <a:ln>
            <a:noFill/>
          </a:ln>
        </p:spPr>
      </p:pic>
      <p:sp>
        <p:nvSpPr>
          <p:cNvPr id="7" name="Rectangle 6"/>
          <p:cNvSpPr/>
          <p:nvPr/>
        </p:nvSpPr>
        <p:spPr>
          <a:xfrm>
            <a:off x="4225833" y="3873137"/>
            <a:ext cx="2495005" cy="45720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ysClr val="windowText" lastClr="000000"/>
                </a:solidFill>
              </a:rPr>
              <a:t>Molécules  apolaires (hormones stéroïdes)</a:t>
            </a:r>
            <a:endParaRPr lang="fr-FR" b="1" dirty="0">
              <a:solidFill>
                <a:sysClr val="windowText" lastClr="000000"/>
              </a:solidFill>
            </a:endParaRPr>
          </a:p>
        </p:txBody>
      </p:sp>
      <p:cxnSp>
        <p:nvCxnSpPr>
          <p:cNvPr id="3" name="Straight Arrow Connector 2"/>
          <p:cNvCxnSpPr/>
          <p:nvPr/>
        </p:nvCxnSpPr>
        <p:spPr>
          <a:xfrm flipV="1">
            <a:off x="6766558" y="3971110"/>
            <a:ext cx="3735979" cy="2612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0" y="410666"/>
            <a:ext cx="6152605" cy="757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smtClean="0">
                <a:solidFill>
                  <a:sysClr val="windowText" lastClr="000000"/>
                </a:solidFill>
                <a:latin typeface="Times New Roman" panose="02020603050405020304" pitchFamily="18" charset="0"/>
                <a:cs typeface="Times New Roman" panose="02020603050405020304" pitchFamily="18" charset="0"/>
              </a:rPr>
              <a:t>1) Taille des molécules         Vitesse D.S </a:t>
            </a:r>
            <a:endParaRPr lang="fr-FR" sz="2800" b="1" dirty="0">
              <a:solidFill>
                <a:sysClr val="windowText" lastClr="000000"/>
              </a:solidFill>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a:off x="3422469" y="771261"/>
            <a:ext cx="293915" cy="32657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569427" y="757646"/>
            <a:ext cx="636813" cy="130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721529" y="352291"/>
            <a:ext cx="248194" cy="3396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102411" y="2293314"/>
            <a:ext cx="5891350" cy="75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smtClean="0">
                <a:solidFill>
                  <a:schemeClr val="tx1"/>
                </a:solidFill>
                <a:latin typeface="Times New Roman" panose="02020603050405020304" pitchFamily="18" charset="0"/>
                <a:cs typeface="Times New Roman" panose="02020603050405020304" pitchFamily="18" charset="0"/>
              </a:rPr>
              <a:t>2) La liposolubilité          Vitesse D.S</a:t>
            </a:r>
            <a:endParaRPr lang="fr-FR" sz="2800" b="1" dirty="0">
              <a:solidFill>
                <a:schemeClr val="tx1"/>
              </a:solidFill>
              <a:latin typeface="Times New Roman" panose="02020603050405020304" pitchFamily="18" charset="0"/>
              <a:cs typeface="Times New Roman" panose="02020603050405020304" pitchFamily="18" charset="0"/>
            </a:endParaRPr>
          </a:p>
        </p:txBody>
      </p:sp>
      <p:cxnSp>
        <p:nvCxnSpPr>
          <p:cNvPr id="22" name="Straight Arrow Connector 21"/>
          <p:cNvCxnSpPr/>
          <p:nvPr/>
        </p:nvCxnSpPr>
        <p:spPr>
          <a:xfrm>
            <a:off x="3048086" y="2694648"/>
            <a:ext cx="839289" cy="653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5569385" y="2324153"/>
            <a:ext cx="248194" cy="3396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3033031" y="2258284"/>
            <a:ext cx="248194" cy="3396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17963" y="4598131"/>
            <a:ext cx="6374675" cy="757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smtClean="0">
                <a:solidFill>
                  <a:sysClr val="windowText" lastClr="000000"/>
                </a:solidFill>
                <a:latin typeface="Times New Roman" panose="02020603050405020304" pitchFamily="18" charset="0"/>
                <a:cs typeface="Times New Roman" panose="02020603050405020304" pitchFamily="18" charset="0"/>
              </a:rPr>
              <a:t>3) Molécules chargée           D.S=0 </a:t>
            </a:r>
            <a:endParaRPr lang="fr-FR" sz="2800" b="1" dirty="0">
              <a:solidFill>
                <a:sysClr val="windowText" lastClr="000000"/>
              </a:solidFill>
              <a:latin typeface="Times New Roman" panose="02020603050405020304" pitchFamily="18" charset="0"/>
              <a:cs typeface="Times New Roman" panose="02020603050405020304" pitchFamily="18" charset="0"/>
            </a:endParaRPr>
          </a:p>
        </p:txBody>
      </p:sp>
      <p:cxnSp>
        <p:nvCxnSpPr>
          <p:cNvPr id="36" name="Straight Arrow Connector 35"/>
          <p:cNvCxnSpPr/>
          <p:nvPr/>
        </p:nvCxnSpPr>
        <p:spPr>
          <a:xfrm>
            <a:off x="3349807" y="5012874"/>
            <a:ext cx="856433" cy="32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91440" y="5779704"/>
            <a:ext cx="5969723" cy="892152"/>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smtClean="0">
                <a:solidFill>
                  <a:sysClr val="windowText" lastClr="000000"/>
                </a:solidFill>
                <a:latin typeface="Times New Roman" panose="02020603050405020304" pitchFamily="18" charset="0"/>
                <a:cs typeface="Times New Roman" panose="02020603050405020304" pitchFamily="18" charset="0"/>
              </a:rPr>
              <a:t>4) Présence d’un gradient de  [ ]         </a:t>
            </a:r>
          </a:p>
          <a:p>
            <a:r>
              <a:rPr lang="fr-FR" sz="2800" b="1" dirty="0" smtClean="0">
                <a:solidFill>
                  <a:sysClr val="windowText" lastClr="000000"/>
                </a:solidFill>
                <a:latin typeface="Times New Roman" panose="02020603050405020304" pitchFamily="18" charset="0"/>
                <a:cs typeface="Times New Roman" panose="02020603050405020304" pitchFamily="18" charset="0"/>
              </a:rPr>
              <a:t>Gradient de [ ] = 0                 D.S = 0</a:t>
            </a:r>
            <a:endParaRPr lang="fr-FR" sz="2800" b="1" dirty="0">
              <a:solidFill>
                <a:sysClr val="windowText" lastClr="000000"/>
              </a:solidFill>
              <a:latin typeface="Times New Roman" panose="02020603050405020304" pitchFamily="18" charset="0"/>
              <a:cs typeface="Times New Roman" panose="02020603050405020304" pitchFamily="18" charset="0"/>
            </a:endParaRPr>
          </a:p>
        </p:txBody>
      </p:sp>
      <p:cxnSp>
        <p:nvCxnSpPr>
          <p:cNvPr id="43" name="Straight Arrow Connector 42"/>
          <p:cNvCxnSpPr/>
          <p:nvPr/>
        </p:nvCxnSpPr>
        <p:spPr>
          <a:xfrm flipV="1">
            <a:off x="3076301" y="6505303"/>
            <a:ext cx="1389358" cy="114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626963" y="1213252"/>
            <a:ext cx="378823" cy="34819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a:t>
            </a:r>
          </a:p>
        </p:txBody>
      </p:sp>
      <p:sp>
        <p:nvSpPr>
          <p:cNvPr id="18" name="Oval 17"/>
          <p:cNvSpPr/>
          <p:nvPr/>
        </p:nvSpPr>
        <p:spPr>
          <a:xfrm>
            <a:off x="1192394" y="1058950"/>
            <a:ext cx="696974" cy="59729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B</a:t>
            </a:r>
            <a:endParaRPr lang="fr-FR" dirty="0"/>
          </a:p>
        </p:txBody>
      </p:sp>
      <p:sp>
        <p:nvSpPr>
          <p:cNvPr id="21" name="Oval 20"/>
          <p:cNvSpPr/>
          <p:nvPr/>
        </p:nvSpPr>
        <p:spPr>
          <a:xfrm>
            <a:off x="2312072" y="2955305"/>
            <a:ext cx="488328" cy="4736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B</a:t>
            </a:r>
            <a:endParaRPr lang="fr-FR" dirty="0"/>
          </a:p>
        </p:txBody>
      </p:sp>
      <p:sp>
        <p:nvSpPr>
          <p:cNvPr id="24" name="Oval 23"/>
          <p:cNvSpPr/>
          <p:nvPr/>
        </p:nvSpPr>
        <p:spPr>
          <a:xfrm>
            <a:off x="1770472" y="2967724"/>
            <a:ext cx="488328" cy="4736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a:t>
            </a:r>
            <a:endParaRPr lang="fr-FR" dirty="0"/>
          </a:p>
        </p:txBody>
      </p:sp>
      <p:sp>
        <p:nvSpPr>
          <p:cNvPr id="27" name="Oval 26"/>
          <p:cNvSpPr/>
          <p:nvPr/>
        </p:nvSpPr>
        <p:spPr>
          <a:xfrm>
            <a:off x="2853672" y="2967724"/>
            <a:ext cx="488328" cy="4736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C</a:t>
            </a:r>
            <a:endParaRPr lang="fr-FR" dirty="0"/>
          </a:p>
        </p:txBody>
      </p:sp>
      <p:sp>
        <p:nvSpPr>
          <p:cNvPr id="5" name="Rectangle 4"/>
          <p:cNvSpPr/>
          <p:nvPr/>
        </p:nvSpPr>
        <p:spPr>
          <a:xfrm>
            <a:off x="182880" y="3631478"/>
            <a:ext cx="2573383" cy="555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Liposolubilité :  B &gt; C &gt; A</a:t>
            </a:r>
            <a:endParaRPr lang="fr-FR" b="1" dirty="0"/>
          </a:p>
        </p:txBody>
      </p:sp>
      <p:sp>
        <p:nvSpPr>
          <p:cNvPr id="9" name="Rectangle 8"/>
          <p:cNvSpPr/>
          <p:nvPr/>
        </p:nvSpPr>
        <p:spPr>
          <a:xfrm>
            <a:off x="182880" y="3050095"/>
            <a:ext cx="1490183" cy="45727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Même taille</a:t>
            </a:r>
            <a:endParaRPr lang="fr-FR" b="1" dirty="0"/>
          </a:p>
        </p:txBody>
      </p:sp>
      <p:cxnSp>
        <p:nvCxnSpPr>
          <p:cNvPr id="28" name="Straight Arrow Connector 27"/>
          <p:cNvCxnSpPr/>
          <p:nvPr/>
        </p:nvCxnSpPr>
        <p:spPr>
          <a:xfrm>
            <a:off x="3377026" y="3140766"/>
            <a:ext cx="559846" cy="73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4045761" y="2910564"/>
            <a:ext cx="1765855" cy="555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V.D :  B &gt; C &gt; A</a:t>
            </a:r>
            <a:endParaRPr lang="fr-FR" b="1" dirty="0"/>
          </a:p>
        </p:txBody>
      </p:sp>
      <p:sp>
        <p:nvSpPr>
          <p:cNvPr id="30" name="Rectangle 29"/>
          <p:cNvSpPr/>
          <p:nvPr/>
        </p:nvSpPr>
        <p:spPr>
          <a:xfrm>
            <a:off x="3814354" y="1166763"/>
            <a:ext cx="1997261" cy="555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V. Diffusion :  A &gt; B</a:t>
            </a:r>
            <a:endParaRPr lang="fr-FR" b="1" dirty="0"/>
          </a:p>
        </p:txBody>
      </p:sp>
      <p:cxnSp>
        <p:nvCxnSpPr>
          <p:cNvPr id="31" name="Straight Arrow Connector 30"/>
          <p:cNvCxnSpPr>
            <a:endCxn id="30" idx="1"/>
          </p:cNvCxnSpPr>
          <p:nvPr/>
        </p:nvCxnSpPr>
        <p:spPr>
          <a:xfrm flipV="1">
            <a:off x="1959374" y="1444349"/>
            <a:ext cx="1854980" cy="873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82880" y="1654692"/>
            <a:ext cx="2573383" cy="555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Liposolubilité : A=B</a:t>
            </a:r>
            <a:endParaRPr lang="fr-FR" b="1" dirty="0"/>
          </a:p>
        </p:txBody>
      </p:sp>
    </p:spTree>
    <p:extLst>
      <p:ext uri="{BB962C8B-B14F-4D97-AF65-F5344CB8AC3E}">
        <p14:creationId xmlns:p14="http://schemas.microsoft.com/office/powerpoint/2010/main" val="37126747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8966" y="33040"/>
            <a:ext cx="5324371" cy="661594"/>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a:solidFill>
                  <a:schemeClr val="tx1"/>
                </a:solidFill>
                <a:latin typeface="Times New Roman" panose="02020603050405020304" pitchFamily="18" charset="0"/>
                <a:cs typeface="Times New Roman" panose="02020603050405020304" pitchFamily="18" charset="0"/>
              </a:rPr>
              <a:t>B</a:t>
            </a:r>
            <a:r>
              <a:rPr lang="fr-FR" sz="4000" b="1" dirty="0" smtClean="0">
                <a:solidFill>
                  <a:schemeClr val="tx1"/>
                </a:solidFill>
                <a:latin typeface="Times New Roman" panose="02020603050405020304" pitchFamily="18" charset="0"/>
                <a:cs typeface="Times New Roman" panose="02020603050405020304" pitchFamily="18" charset="0"/>
              </a:rPr>
              <a:t>. Diffusion facilitée</a:t>
            </a:r>
            <a:endParaRPr lang="fr-FR" sz="4000"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2560320" y="687720"/>
            <a:ext cx="9631680" cy="6170280"/>
          </a:xfrm>
          <a:prstGeom prst="rect">
            <a:avLst/>
          </a:prstGeom>
          <a:solidFill>
            <a:schemeClr val="bg2"/>
          </a:solidFill>
        </p:spPr>
      </p:pic>
      <p:sp>
        <p:nvSpPr>
          <p:cNvPr id="8" name="Rectangle 7"/>
          <p:cNvSpPr/>
          <p:nvPr/>
        </p:nvSpPr>
        <p:spPr>
          <a:xfrm>
            <a:off x="4568734" y="1863634"/>
            <a:ext cx="1084217" cy="666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a:t>
            </a:r>
            <a:endParaRPr lang="fr-FR" sz="4000" b="1" dirty="0">
              <a:solidFill>
                <a:schemeClr val="tx1"/>
              </a:solidFill>
            </a:endParaRPr>
          </a:p>
        </p:txBody>
      </p:sp>
      <p:sp>
        <p:nvSpPr>
          <p:cNvPr id="9" name="Rectangle 8"/>
          <p:cNvSpPr/>
          <p:nvPr/>
        </p:nvSpPr>
        <p:spPr>
          <a:xfrm>
            <a:off x="4389120" y="5984966"/>
            <a:ext cx="1084217" cy="6966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a:t>
            </a:r>
            <a:endParaRPr lang="fr-FR" sz="4000" b="1" dirty="0">
              <a:solidFill>
                <a:schemeClr val="tx1"/>
              </a:solidFill>
            </a:endParaRPr>
          </a:p>
        </p:txBody>
      </p:sp>
      <p:cxnSp>
        <p:nvCxnSpPr>
          <p:cNvPr id="11" name="Straight Arrow Connector 10"/>
          <p:cNvCxnSpPr/>
          <p:nvPr/>
        </p:nvCxnSpPr>
        <p:spPr>
          <a:xfrm>
            <a:off x="5110842" y="2364377"/>
            <a:ext cx="0" cy="134137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7206343" y="2529839"/>
            <a:ext cx="1" cy="295656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6664235" y="1796141"/>
            <a:ext cx="1084217" cy="666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a:t>
            </a:r>
            <a:endParaRPr lang="fr-FR" sz="4000" b="1" dirty="0">
              <a:solidFill>
                <a:schemeClr val="tx1"/>
              </a:solidFill>
            </a:endParaRPr>
          </a:p>
        </p:txBody>
      </p:sp>
      <p:sp>
        <p:nvSpPr>
          <p:cNvPr id="16" name="Rectangle 15"/>
          <p:cNvSpPr/>
          <p:nvPr/>
        </p:nvSpPr>
        <p:spPr>
          <a:xfrm>
            <a:off x="6291943" y="5205550"/>
            <a:ext cx="1084217" cy="6966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a:t>
            </a:r>
            <a:endParaRPr lang="fr-FR" sz="4000" b="1" dirty="0">
              <a:solidFill>
                <a:schemeClr val="tx1"/>
              </a:solidFill>
            </a:endParaRPr>
          </a:p>
        </p:txBody>
      </p:sp>
      <p:sp>
        <p:nvSpPr>
          <p:cNvPr id="18" name="Rectangle 17"/>
          <p:cNvSpPr/>
          <p:nvPr/>
        </p:nvSpPr>
        <p:spPr>
          <a:xfrm>
            <a:off x="3370217" y="2037806"/>
            <a:ext cx="1423852" cy="90133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Canal ionique</a:t>
            </a:r>
            <a:endParaRPr lang="fr-FR" sz="2400" b="1" dirty="0">
              <a:solidFill>
                <a:schemeClr val="tx1"/>
              </a:solidFill>
            </a:endParaRPr>
          </a:p>
        </p:txBody>
      </p:sp>
      <p:sp>
        <p:nvSpPr>
          <p:cNvPr id="19" name="Rectangle 18"/>
          <p:cNvSpPr/>
          <p:nvPr/>
        </p:nvSpPr>
        <p:spPr>
          <a:xfrm>
            <a:off x="8360227" y="5068389"/>
            <a:ext cx="1867989" cy="91657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Perméase</a:t>
            </a:r>
            <a:endParaRPr lang="fr-FR" sz="2400" b="1" dirty="0">
              <a:solidFill>
                <a:schemeClr val="tx1"/>
              </a:solidFill>
            </a:endParaRPr>
          </a:p>
        </p:txBody>
      </p:sp>
      <p:sp>
        <p:nvSpPr>
          <p:cNvPr id="12" name="Rectangle 11"/>
          <p:cNvSpPr/>
          <p:nvPr/>
        </p:nvSpPr>
        <p:spPr>
          <a:xfrm>
            <a:off x="-11429" y="687720"/>
            <a:ext cx="2604950" cy="617028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la Diffusion facilitée est réservée généralement aux molécules chargées (ions..) et aux grosses molécules polaires (Glucose…)   </a:t>
            </a:r>
            <a:endParaRPr lang="fr-FR" sz="3200" b="1" dirty="0">
              <a:solidFill>
                <a:schemeClr val="tx1"/>
              </a:solidFill>
            </a:endParaRPr>
          </a:p>
        </p:txBody>
      </p:sp>
      <p:cxnSp>
        <p:nvCxnSpPr>
          <p:cNvPr id="17" name="Straight Arrow Connector 16"/>
          <p:cNvCxnSpPr/>
          <p:nvPr/>
        </p:nvCxnSpPr>
        <p:spPr>
          <a:xfrm>
            <a:off x="5110842" y="5205550"/>
            <a:ext cx="0" cy="98624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9294221" y="2129243"/>
            <a:ext cx="1" cy="157651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11172551" y="4280134"/>
            <a:ext cx="1" cy="157651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6229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 Introduction En biologie cellulaire, la membrane désigne un assemblage  de molécules en un double feuillet séparant la ce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10" y="1136470"/>
            <a:ext cx="3853542" cy="4196758"/>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Schéma de la membrane plasmique d'une cellule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4" name="Rectangle 3"/>
          <p:cNvSpPr/>
          <p:nvPr/>
        </p:nvSpPr>
        <p:spPr>
          <a:xfrm>
            <a:off x="155575" y="137795"/>
            <a:ext cx="9000307" cy="976131"/>
          </a:xfrm>
          <a:prstGeom prst="rect">
            <a:avLst/>
          </a:prstGeom>
          <a:solidFill>
            <a:schemeClr val="accent2">
              <a:lumMod val="20000"/>
              <a:lumOff val="8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latin typeface="Times New Roman" panose="02020603050405020304" pitchFamily="18" charset="0"/>
                <a:cs typeface="Times New Roman" panose="02020603050405020304" pitchFamily="18" charset="0"/>
              </a:rPr>
              <a:t>Les transporteurs membranaires </a:t>
            </a:r>
            <a:endParaRPr lang="fr-FR" sz="3600" b="1" dirty="0">
              <a:solidFill>
                <a:schemeClr val="tx1"/>
              </a:solidFill>
              <a:latin typeface="Times New Roman" panose="02020603050405020304" pitchFamily="18" charset="0"/>
              <a:cs typeface="Times New Roman" panose="02020603050405020304" pitchFamily="18" charset="0"/>
            </a:endParaRPr>
          </a:p>
        </p:txBody>
      </p:sp>
      <p:pic>
        <p:nvPicPr>
          <p:cNvPr id="1032" name="Picture 8" descr="Who discovered fluid mosaic model of plasma membra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7051" y="1136468"/>
            <a:ext cx="8024949" cy="42193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 y="5355770"/>
            <a:ext cx="10039804" cy="14761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q"/>
            </a:pPr>
            <a:r>
              <a:rPr lang="fr-FR" sz="3600" b="1" dirty="0" smtClean="0">
                <a:solidFill>
                  <a:schemeClr val="tx1"/>
                </a:solidFill>
              </a:rPr>
              <a:t>Sont des protéines transmembranaires</a:t>
            </a:r>
          </a:p>
          <a:p>
            <a:pPr marL="285750" indent="-285750" algn="ctr">
              <a:buFont typeface="Wingdings" panose="05000000000000000000" pitchFamily="2" charset="2"/>
              <a:buChar char="q"/>
            </a:pPr>
            <a:r>
              <a:rPr lang="fr-FR" sz="3600" b="1" dirty="0" smtClean="0">
                <a:solidFill>
                  <a:schemeClr val="tx1"/>
                </a:solidFill>
              </a:rPr>
              <a:t>Spécificité vis-à-vis les molécules à transporter</a:t>
            </a:r>
            <a:endParaRPr lang="fr-FR" sz="3600" b="1" dirty="0">
              <a:solidFill>
                <a:schemeClr val="tx1"/>
              </a:solidFill>
            </a:endParaRPr>
          </a:p>
        </p:txBody>
      </p:sp>
    </p:spTree>
    <p:extLst>
      <p:ext uri="{BB962C8B-B14F-4D97-AF65-F5344CB8AC3E}">
        <p14:creationId xmlns:p14="http://schemas.microsoft.com/office/powerpoint/2010/main" val="11302933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ransport Proteins: Definition, Types, Functions, &amp;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10" y="503691"/>
            <a:ext cx="11878490" cy="589597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651760" y="1379223"/>
            <a:ext cx="3077391"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Canal ionique</a:t>
            </a:r>
            <a:endParaRPr lang="fr-FR" sz="2800" b="1" dirty="0">
              <a:solidFill>
                <a:schemeClr val="tx1"/>
              </a:solidFill>
            </a:endParaRPr>
          </a:p>
        </p:txBody>
      </p:sp>
      <p:sp>
        <p:nvSpPr>
          <p:cNvPr id="4" name="Rectangle 3"/>
          <p:cNvSpPr/>
          <p:nvPr/>
        </p:nvSpPr>
        <p:spPr>
          <a:xfrm>
            <a:off x="901337" y="2079172"/>
            <a:ext cx="1621972"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Rectangle 4"/>
          <p:cNvSpPr/>
          <p:nvPr/>
        </p:nvSpPr>
        <p:spPr>
          <a:xfrm>
            <a:off x="7893232" y="1454333"/>
            <a:ext cx="2674619"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Perméase</a:t>
            </a:r>
            <a:endParaRPr lang="fr-FR" sz="2800" b="1" dirty="0">
              <a:solidFill>
                <a:schemeClr val="tx1"/>
              </a:solidFill>
            </a:endParaRPr>
          </a:p>
        </p:txBody>
      </p:sp>
      <p:sp>
        <p:nvSpPr>
          <p:cNvPr id="15" name="Rectangle 14"/>
          <p:cNvSpPr/>
          <p:nvPr/>
        </p:nvSpPr>
        <p:spPr>
          <a:xfrm>
            <a:off x="5512526" y="5780166"/>
            <a:ext cx="6679473" cy="1077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ctr">
              <a:buFont typeface="Wingdings" panose="05000000000000000000" pitchFamily="2" charset="2"/>
              <a:buChar char="q"/>
            </a:pPr>
            <a:r>
              <a:rPr lang="fr-FR" sz="3200" b="1" dirty="0" smtClean="0">
                <a:solidFill>
                  <a:schemeClr val="tx1"/>
                </a:solidFill>
              </a:rPr>
              <a:t>Changement de conformation et passage de la molécule</a:t>
            </a:r>
            <a:endParaRPr lang="fr-FR" sz="3200" b="1" dirty="0">
              <a:solidFill>
                <a:schemeClr val="tx1"/>
              </a:solidFill>
            </a:endParaRPr>
          </a:p>
        </p:txBody>
      </p:sp>
      <p:sp>
        <p:nvSpPr>
          <p:cNvPr id="16" name="Rectangle 15"/>
          <p:cNvSpPr/>
          <p:nvPr/>
        </p:nvSpPr>
        <p:spPr>
          <a:xfrm>
            <a:off x="129543" y="5744245"/>
            <a:ext cx="5474423" cy="10427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ctr">
              <a:buFont typeface="Wingdings" panose="05000000000000000000" pitchFamily="2" charset="2"/>
              <a:buChar char="q"/>
            </a:pPr>
            <a:r>
              <a:rPr lang="fr-FR" sz="3200" b="1" dirty="0" smtClean="0">
                <a:solidFill>
                  <a:schemeClr val="tx1"/>
                </a:solidFill>
              </a:rPr>
              <a:t>Ouverture du canal et passage des ions</a:t>
            </a:r>
            <a:endParaRPr lang="fr-FR" sz="3200" b="1" dirty="0">
              <a:solidFill>
                <a:schemeClr val="tx1"/>
              </a:solidFill>
            </a:endParaRPr>
          </a:p>
        </p:txBody>
      </p:sp>
      <p:sp>
        <p:nvSpPr>
          <p:cNvPr id="3" name="Rectangle 2"/>
          <p:cNvSpPr/>
          <p:nvPr/>
        </p:nvSpPr>
        <p:spPr>
          <a:xfrm>
            <a:off x="6252755" y="1889761"/>
            <a:ext cx="1018903" cy="418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smtClean="0">
                <a:solidFill>
                  <a:schemeClr val="tx1"/>
                </a:solidFill>
              </a:rPr>
              <a:t>molécule</a:t>
            </a:r>
            <a:endParaRPr lang="fr-FR" sz="1600" b="1" dirty="0">
              <a:solidFill>
                <a:schemeClr val="tx1"/>
              </a:solidFill>
            </a:endParaRPr>
          </a:p>
        </p:txBody>
      </p:sp>
      <p:sp>
        <p:nvSpPr>
          <p:cNvPr id="7" name="Rectangle 6"/>
          <p:cNvSpPr/>
          <p:nvPr/>
        </p:nvSpPr>
        <p:spPr>
          <a:xfrm>
            <a:off x="129543" y="325063"/>
            <a:ext cx="11842567" cy="87247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Fonctionnement des transporteurs membranaires</a:t>
            </a:r>
            <a:endParaRPr lang="fr-FR" sz="4400" b="1" dirty="0">
              <a:solidFill>
                <a:schemeClr val="tx1"/>
              </a:solidFill>
            </a:endParaRPr>
          </a:p>
        </p:txBody>
      </p:sp>
    </p:spTree>
    <p:extLst>
      <p:ext uri="{BB962C8B-B14F-4D97-AF65-F5344CB8AC3E}">
        <p14:creationId xmlns:p14="http://schemas.microsoft.com/office/powerpoint/2010/main" val="32451235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38471" y="122310"/>
            <a:ext cx="9156994" cy="707886"/>
          </a:xfrm>
          <a:prstGeom prst="rect">
            <a:avLst/>
          </a:prstGeom>
          <a:solidFill>
            <a:schemeClr val="accent1">
              <a:lumMod val="20000"/>
              <a:lumOff val="80000"/>
            </a:schemeClr>
          </a:solidFill>
        </p:spPr>
        <p:txBody>
          <a:bodyPr wrap="none">
            <a:spAutoFit/>
          </a:bodyPr>
          <a:lstStyle/>
          <a:p>
            <a:r>
              <a:rPr lang="fr-FR" sz="4000" b="1" dirty="0" smtClean="0">
                <a:latin typeface="Times New Roman" panose="02020603050405020304" pitchFamily="18" charset="0"/>
                <a:ea typeface="Times New Roman" panose="02020603050405020304" pitchFamily="18" charset="0"/>
              </a:rPr>
              <a:t>B.1</a:t>
            </a:r>
            <a:r>
              <a:rPr lang="fr-FR" sz="4000" b="1" dirty="0">
                <a:latin typeface="Times New Roman" panose="02020603050405020304" pitchFamily="18" charset="0"/>
                <a:ea typeface="Times New Roman" panose="02020603050405020304" pitchFamily="18" charset="0"/>
              </a:rPr>
              <a:t>. Diffusion facilitée par les perméases </a:t>
            </a:r>
            <a:endParaRPr lang="fr-FR" sz="4000" dirty="0"/>
          </a:p>
        </p:txBody>
      </p:sp>
      <p:sp>
        <p:nvSpPr>
          <p:cNvPr id="3" name="AutoShape 6" descr="Fiche explicative de la leçon: Structure des membranes cellulaires | Nagw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Picture 4"/>
          <p:cNvPicPr>
            <a:picLocks noChangeAspect="1"/>
          </p:cNvPicPr>
          <p:nvPr/>
        </p:nvPicPr>
        <p:blipFill>
          <a:blip r:embed="rId2"/>
          <a:stretch>
            <a:fillRect/>
          </a:stretch>
        </p:blipFill>
        <p:spPr>
          <a:xfrm>
            <a:off x="307974" y="478201"/>
            <a:ext cx="11884026" cy="4924697"/>
          </a:xfrm>
          <a:prstGeom prst="rect">
            <a:avLst/>
          </a:prstGeom>
        </p:spPr>
      </p:pic>
      <p:sp>
        <p:nvSpPr>
          <p:cNvPr id="8" name="AutoShape 8" descr="Simple diffusion and passive transport (article) | Khan Academ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Rectangle 1"/>
          <p:cNvSpPr/>
          <p:nvPr/>
        </p:nvSpPr>
        <p:spPr>
          <a:xfrm>
            <a:off x="1138024" y="4569757"/>
            <a:ext cx="3159655" cy="7294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Site de fixation de la molécule</a:t>
            </a:r>
            <a:endParaRPr lang="fr-FR" sz="2400" b="1" dirty="0">
              <a:solidFill>
                <a:schemeClr val="tx1"/>
              </a:solidFill>
            </a:endParaRPr>
          </a:p>
        </p:txBody>
      </p:sp>
      <p:sp>
        <p:nvSpPr>
          <p:cNvPr id="7" name="Rectangle 6"/>
          <p:cNvSpPr/>
          <p:nvPr/>
        </p:nvSpPr>
        <p:spPr>
          <a:xfrm>
            <a:off x="0" y="896915"/>
            <a:ext cx="2430871" cy="9986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1- Conformation ouverte à l’extérieur</a:t>
            </a:r>
            <a:endParaRPr lang="fr-FR" sz="2400" b="1" dirty="0">
              <a:solidFill>
                <a:schemeClr val="tx1"/>
              </a:solidFill>
            </a:endParaRPr>
          </a:p>
        </p:txBody>
      </p:sp>
      <p:sp>
        <p:nvSpPr>
          <p:cNvPr id="9" name="Rectangle 8"/>
          <p:cNvSpPr/>
          <p:nvPr/>
        </p:nvSpPr>
        <p:spPr>
          <a:xfrm>
            <a:off x="8354997" y="866484"/>
            <a:ext cx="2430871" cy="9986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3- Conformation ouverte à l’intérieur</a:t>
            </a:r>
            <a:endParaRPr lang="fr-FR" sz="2400" b="1" dirty="0">
              <a:solidFill>
                <a:schemeClr val="tx1"/>
              </a:solidFill>
            </a:endParaRPr>
          </a:p>
        </p:txBody>
      </p:sp>
      <p:sp>
        <p:nvSpPr>
          <p:cNvPr id="10" name="Rectangle 9"/>
          <p:cNvSpPr/>
          <p:nvPr/>
        </p:nvSpPr>
        <p:spPr>
          <a:xfrm>
            <a:off x="7140627" y="4730866"/>
            <a:ext cx="4276310" cy="5683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Libération de la molécule </a:t>
            </a:r>
            <a:endParaRPr lang="fr-FR" sz="2400" b="1" dirty="0">
              <a:solidFill>
                <a:schemeClr val="tx1"/>
              </a:solidFill>
            </a:endParaRPr>
          </a:p>
        </p:txBody>
      </p:sp>
      <p:sp>
        <p:nvSpPr>
          <p:cNvPr id="11" name="Rectangle 10"/>
          <p:cNvSpPr/>
          <p:nvPr/>
        </p:nvSpPr>
        <p:spPr>
          <a:xfrm>
            <a:off x="4088674" y="823329"/>
            <a:ext cx="3811790" cy="9086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2- Fixation de la molécule</a:t>
            </a:r>
            <a:endParaRPr lang="fr-FR" sz="2400" b="1" dirty="0">
              <a:solidFill>
                <a:schemeClr val="tx1"/>
              </a:solidFill>
            </a:endParaRPr>
          </a:p>
        </p:txBody>
      </p:sp>
      <p:sp>
        <p:nvSpPr>
          <p:cNvPr id="6" name="Rectangle 5"/>
          <p:cNvSpPr/>
          <p:nvPr/>
        </p:nvSpPr>
        <p:spPr>
          <a:xfrm>
            <a:off x="573586" y="5360809"/>
            <a:ext cx="10907485" cy="1018903"/>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q"/>
            </a:pPr>
            <a:r>
              <a:rPr lang="fr-FR" sz="3600" b="1" dirty="0" smtClean="0">
                <a:solidFill>
                  <a:schemeClr val="tx1"/>
                </a:solidFill>
                <a:latin typeface="Times New Roman" panose="02020603050405020304" pitchFamily="18" charset="0"/>
                <a:cs typeface="Times New Roman" panose="02020603050405020304" pitchFamily="18" charset="0"/>
              </a:rPr>
              <a:t>Mécanisme de fonctionnement des perméases</a:t>
            </a:r>
            <a:endParaRPr lang="fr-FR"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90890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lucose Transporter - an overview | ScienceDirect Top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068" y="1110342"/>
            <a:ext cx="11969932" cy="556477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0" y="0"/>
            <a:ext cx="7733211" cy="100584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latin typeface="Times New Roman" panose="02020603050405020304" pitchFamily="18" charset="0"/>
                <a:cs typeface="Times New Roman" panose="02020603050405020304" pitchFamily="18" charset="0"/>
              </a:rPr>
              <a:t>Exemple: Transport du Glucose </a:t>
            </a:r>
            <a:r>
              <a:rPr lang="fr-FR" sz="3200" b="1" dirty="0">
                <a:solidFill>
                  <a:schemeClr val="tx1"/>
                </a:solidFill>
                <a:latin typeface="Times New Roman" panose="02020603050405020304" pitchFamily="18" charset="0"/>
                <a:cs typeface="Times New Roman" panose="02020603050405020304" pitchFamily="18" charset="0"/>
              </a:rPr>
              <a:t>(</a:t>
            </a:r>
            <a:r>
              <a:rPr lang="fr-FR" sz="3200" b="1" dirty="0" smtClean="0">
                <a:solidFill>
                  <a:schemeClr val="tx1"/>
                </a:solidFill>
                <a:latin typeface="Times New Roman" panose="02020603050405020304" pitchFamily="18" charset="0"/>
                <a:cs typeface="Times New Roman" panose="02020603050405020304" pitchFamily="18" charset="0"/>
              </a:rPr>
              <a:t>GLUT</a:t>
            </a:r>
            <a:r>
              <a:rPr lang="fr-FR" sz="3200" b="1" dirty="0">
                <a:solidFill>
                  <a:schemeClr val="tx1"/>
                </a:solidFill>
                <a:latin typeface="Times New Roman" panose="02020603050405020304" pitchFamily="18" charset="0"/>
                <a:cs typeface="Times New Roman" panose="02020603050405020304" pitchFamily="18" charset="0"/>
              </a:rPr>
              <a:t>)</a:t>
            </a:r>
          </a:p>
        </p:txBody>
      </p:sp>
      <p:sp>
        <p:nvSpPr>
          <p:cNvPr id="3" name="Rectangle 2"/>
          <p:cNvSpPr/>
          <p:nvPr/>
        </p:nvSpPr>
        <p:spPr>
          <a:xfrm>
            <a:off x="222068" y="2312125"/>
            <a:ext cx="1894115" cy="93399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fixation de glucose</a:t>
            </a:r>
            <a:endParaRPr lang="fr-FR" sz="2400" b="1" dirty="0">
              <a:solidFill>
                <a:schemeClr val="tx1"/>
              </a:solidFill>
            </a:endParaRPr>
          </a:p>
        </p:txBody>
      </p:sp>
      <p:sp>
        <p:nvSpPr>
          <p:cNvPr id="6" name="Rectangle 5"/>
          <p:cNvSpPr/>
          <p:nvPr/>
        </p:nvSpPr>
        <p:spPr>
          <a:xfrm>
            <a:off x="5087982" y="1345473"/>
            <a:ext cx="3820887" cy="1084217"/>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Changement de la conformation de la perméase (</a:t>
            </a:r>
            <a:r>
              <a:rPr lang="fr-FR" sz="2400" b="1" dirty="0" err="1" smtClean="0">
                <a:solidFill>
                  <a:schemeClr val="tx1"/>
                </a:solidFill>
              </a:rPr>
              <a:t>GluT</a:t>
            </a:r>
            <a:r>
              <a:rPr lang="fr-FR" sz="2400" b="1" dirty="0">
                <a:solidFill>
                  <a:schemeClr val="tx1"/>
                </a:solidFill>
              </a:rPr>
              <a:t>)</a:t>
            </a:r>
          </a:p>
        </p:txBody>
      </p:sp>
      <p:sp>
        <p:nvSpPr>
          <p:cNvPr id="7" name="Rectangle 6"/>
          <p:cNvSpPr/>
          <p:nvPr/>
        </p:nvSpPr>
        <p:spPr>
          <a:xfrm>
            <a:off x="9840686" y="2241367"/>
            <a:ext cx="2011681" cy="147610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Libération de Glucose vers l’intérieur de la cellule</a:t>
            </a:r>
            <a:endParaRPr lang="fr-FR" sz="2400" b="1" dirty="0">
              <a:solidFill>
                <a:schemeClr val="tx1"/>
              </a:solidFill>
            </a:endParaRPr>
          </a:p>
        </p:txBody>
      </p:sp>
      <p:sp>
        <p:nvSpPr>
          <p:cNvPr id="8" name="Rectangle 7"/>
          <p:cNvSpPr/>
          <p:nvPr/>
        </p:nvSpPr>
        <p:spPr>
          <a:xfrm>
            <a:off x="6683826" y="5834744"/>
            <a:ext cx="3287487" cy="77070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La perméase retourne à sa conformation initiale</a:t>
            </a:r>
            <a:endParaRPr lang="fr-FR" sz="2400" b="1" dirty="0">
              <a:solidFill>
                <a:schemeClr val="tx1"/>
              </a:solidFill>
            </a:endParaRPr>
          </a:p>
        </p:txBody>
      </p:sp>
      <p:sp>
        <p:nvSpPr>
          <p:cNvPr id="9" name="Rectangle 8"/>
          <p:cNvSpPr/>
          <p:nvPr/>
        </p:nvSpPr>
        <p:spPr>
          <a:xfrm>
            <a:off x="4706981" y="4828904"/>
            <a:ext cx="2555967" cy="7707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Milieu interne</a:t>
            </a:r>
            <a:endParaRPr lang="fr-FR" sz="3200" b="1" dirty="0">
              <a:solidFill>
                <a:schemeClr val="tx1"/>
              </a:solidFill>
            </a:endParaRPr>
          </a:p>
        </p:txBody>
      </p:sp>
      <p:sp>
        <p:nvSpPr>
          <p:cNvPr id="10" name="Rectangle 9"/>
          <p:cNvSpPr/>
          <p:nvPr/>
        </p:nvSpPr>
        <p:spPr>
          <a:xfrm>
            <a:off x="8895805" y="749481"/>
            <a:ext cx="2984863" cy="7707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Milieu externe</a:t>
            </a:r>
            <a:endParaRPr lang="fr-FR" sz="3200" b="1" dirty="0">
              <a:solidFill>
                <a:schemeClr val="tx1"/>
              </a:solidFill>
            </a:endParaRPr>
          </a:p>
        </p:txBody>
      </p:sp>
      <p:sp>
        <p:nvSpPr>
          <p:cNvPr id="12" name="Rectangle 11"/>
          <p:cNvSpPr/>
          <p:nvPr/>
        </p:nvSpPr>
        <p:spPr>
          <a:xfrm>
            <a:off x="2116183" y="4589688"/>
            <a:ext cx="2055220" cy="924742"/>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Perméase ouverte à l’extérieur et</a:t>
            </a:r>
          </a:p>
        </p:txBody>
      </p:sp>
      <p:sp>
        <p:nvSpPr>
          <p:cNvPr id="15" name="Oval 14"/>
          <p:cNvSpPr/>
          <p:nvPr/>
        </p:nvSpPr>
        <p:spPr>
          <a:xfrm>
            <a:off x="1828800" y="4647110"/>
            <a:ext cx="574765" cy="470263"/>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1</a:t>
            </a:r>
            <a:endParaRPr lang="fr-FR" b="1" dirty="0">
              <a:solidFill>
                <a:schemeClr val="tx1"/>
              </a:solidFill>
            </a:endParaRPr>
          </a:p>
        </p:txBody>
      </p:sp>
      <p:sp>
        <p:nvSpPr>
          <p:cNvPr id="16" name="Oval 15"/>
          <p:cNvSpPr/>
          <p:nvPr/>
        </p:nvSpPr>
        <p:spPr>
          <a:xfrm>
            <a:off x="200296" y="1810294"/>
            <a:ext cx="574765" cy="470263"/>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2</a:t>
            </a:r>
          </a:p>
        </p:txBody>
      </p:sp>
      <p:sp>
        <p:nvSpPr>
          <p:cNvPr id="17" name="Oval 16"/>
          <p:cNvSpPr/>
          <p:nvPr/>
        </p:nvSpPr>
        <p:spPr>
          <a:xfrm>
            <a:off x="5276306" y="1074420"/>
            <a:ext cx="574765" cy="470263"/>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3</a:t>
            </a:r>
            <a:endParaRPr lang="fr-FR" b="1" dirty="0">
              <a:solidFill>
                <a:schemeClr val="tx1"/>
              </a:solidFill>
            </a:endParaRPr>
          </a:p>
        </p:txBody>
      </p:sp>
      <p:sp>
        <p:nvSpPr>
          <p:cNvPr id="18" name="Oval 17"/>
          <p:cNvSpPr/>
          <p:nvPr/>
        </p:nvSpPr>
        <p:spPr>
          <a:xfrm>
            <a:off x="9858102" y="1750422"/>
            <a:ext cx="574765" cy="470263"/>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4</a:t>
            </a:r>
            <a:endParaRPr lang="fr-FR" b="1" dirty="0">
              <a:solidFill>
                <a:schemeClr val="tx1"/>
              </a:solidFill>
            </a:endParaRPr>
          </a:p>
        </p:txBody>
      </p:sp>
      <p:sp>
        <p:nvSpPr>
          <p:cNvPr id="19" name="Oval 18"/>
          <p:cNvSpPr/>
          <p:nvPr/>
        </p:nvSpPr>
        <p:spPr>
          <a:xfrm>
            <a:off x="7336971" y="5390607"/>
            <a:ext cx="574765" cy="470263"/>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5</a:t>
            </a:r>
            <a:endParaRPr lang="fr-FR" b="1" dirty="0">
              <a:solidFill>
                <a:schemeClr val="tx1"/>
              </a:solidFill>
            </a:endParaRPr>
          </a:p>
        </p:txBody>
      </p:sp>
      <p:sp>
        <p:nvSpPr>
          <p:cNvPr id="31" name="Rectangle 30"/>
          <p:cNvSpPr/>
          <p:nvPr/>
        </p:nvSpPr>
        <p:spPr>
          <a:xfrm>
            <a:off x="19594" y="3910429"/>
            <a:ext cx="1149531" cy="79628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smtClean="0">
                <a:solidFill>
                  <a:schemeClr val="tx1"/>
                </a:solidFill>
                <a:latin typeface="Times New Roman" panose="02020603050405020304" pitchFamily="18" charset="0"/>
                <a:cs typeface="Times New Roman" panose="02020603050405020304" pitchFamily="18" charset="0"/>
              </a:rPr>
              <a:t>Site de fixation de glucose</a:t>
            </a:r>
            <a:endParaRPr lang="fr-FR" sz="1600" b="1" dirty="0">
              <a:solidFill>
                <a:schemeClr val="tx1"/>
              </a:solidFill>
              <a:latin typeface="Times New Roman" panose="02020603050405020304" pitchFamily="18" charset="0"/>
              <a:cs typeface="Times New Roman" panose="02020603050405020304" pitchFamily="18" charset="0"/>
            </a:endParaRPr>
          </a:p>
        </p:txBody>
      </p:sp>
      <p:cxnSp>
        <p:nvCxnSpPr>
          <p:cNvPr id="36" name="Straight Arrow Connector 35"/>
          <p:cNvCxnSpPr/>
          <p:nvPr/>
        </p:nvCxnSpPr>
        <p:spPr>
          <a:xfrm flipH="1">
            <a:off x="9858102" y="3717470"/>
            <a:ext cx="762002" cy="591102"/>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a:off x="6325690" y="2448739"/>
            <a:ext cx="1011281" cy="797382"/>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p:cNvCxnSpPr/>
          <p:nvPr/>
        </p:nvCxnSpPr>
        <p:spPr>
          <a:xfrm>
            <a:off x="2036719" y="2727135"/>
            <a:ext cx="1678577" cy="550554"/>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p:cNvCxnSpPr/>
          <p:nvPr/>
        </p:nvCxnSpPr>
        <p:spPr>
          <a:xfrm>
            <a:off x="329836" y="4749167"/>
            <a:ext cx="936173" cy="1085577"/>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p:cNvCxnSpPr/>
          <p:nvPr/>
        </p:nvCxnSpPr>
        <p:spPr>
          <a:xfrm flipV="1">
            <a:off x="9874429" y="6220098"/>
            <a:ext cx="826226" cy="94152"/>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781183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0079"/>
            <a:ext cx="4906692" cy="5326907"/>
          </a:xfrm>
          <a:prstGeom prst="rect">
            <a:avLst/>
          </a:prstGeom>
          <a:solidFill>
            <a:schemeClr val="accent1">
              <a:lumMod val="20000"/>
              <a:lumOff val="80000"/>
            </a:schemeClr>
          </a:solidFill>
        </p:spPr>
        <p:txBody>
          <a:bodyPr wrap="square">
            <a:spAutoFit/>
          </a:bodyPr>
          <a:lstStyle/>
          <a:p>
            <a:pPr marL="285750" indent="-285750" algn="just">
              <a:lnSpc>
                <a:spcPct val="150000"/>
              </a:lnSpc>
              <a:spcAft>
                <a:spcPts val="800"/>
              </a:spcAft>
              <a:buFont typeface="Wingdings" panose="05000000000000000000" pitchFamily="2" charset="2"/>
              <a:buChar char="q"/>
            </a:pPr>
            <a:r>
              <a:rPr lang="fr-FR" sz="2400" b="1" dirty="0">
                <a:latin typeface="Times New Roman" panose="02020603050405020304" pitchFamily="18" charset="0"/>
                <a:ea typeface="Calibri" panose="020F0502020204030204" pitchFamily="34" charset="0"/>
                <a:cs typeface="Arial" panose="020B0604020202020204" pitchFamily="34" charset="0"/>
              </a:rPr>
              <a:t>La vitesse de diffusion facilitée est plus </a:t>
            </a:r>
            <a:r>
              <a:rPr lang="fr-FR" sz="2400" b="1" dirty="0" smtClean="0">
                <a:latin typeface="Times New Roman" panose="02020603050405020304" pitchFamily="18" charset="0"/>
                <a:ea typeface="Calibri" panose="020F0502020204030204" pitchFamily="34" charset="0"/>
                <a:cs typeface="Arial" panose="020B0604020202020204" pitchFamily="34" charset="0"/>
              </a:rPr>
              <a:t>importante </a:t>
            </a:r>
            <a:r>
              <a:rPr lang="fr-FR" sz="2400" b="1" dirty="0">
                <a:latin typeface="Times New Roman" panose="02020603050405020304" pitchFamily="18" charset="0"/>
                <a:ea typeface="Calibri" panose="020F0502020204030204" pitchFamily="34" charset="0"/>
                <a:cs typeface="Arial" panose="020B0604020202020204" pitchFamily="34" charset="0"/>
              </a:rPr>
              <a:t>que celle de la diffusion simple </a:t>
            </a:r>
            <a:endParaRPr lang="fr-FR" sz="2400" b="1" dirty="0" smtClean="0">
              <a:latin typeface="Times New Roman" panose="02020603050405020304" pitchFamily="18" charset="0"/>
              <a:ea typeface="Calibri" panose="020F0502020204030204" pitchFamily="34" charset="0"/>
              <a:cs typeface="Arial" panose="020B0604020202020204" pitchFamily="34" charset="0"/>
            </a:endParaRPr>
          </a:p>
          <a:p>
            <a:pPr marL="285750" indent="-285750" algn="just">
              <a:lnSpc>
                <a:spcPct val="150000"/>
              </a:lnSpc>
              <a:spcAft>
                <a:spcPts val="800"/>
              </a:spcAft>
              <a:buFont typeface="Wingdings" panose="05000000000000000000" pitchFamily="2" charset="2"/>
              <a:buChar char="q"/>
            </a:pPr>
            <a:r>
              <a:rPr lang="fr-FR" sz="2400" b="1" dirty="0" smtClean="0">
                <a:latin typeface="Times New Roman" panose="02020603050405020304" pitchFamily="18" charset="0"/>
                <a:ea typeface="Calibri" panose="020F0502020204030204" pitchFamily="34" charset="0"/>
                <a:cs typeface="Arial" panose="020B0604020202020204" pitchFamily="34" charset="0"/>
              </a:rPr>
              <a:t>Atteint </a:t>
            </a:r>
            <a:r>
              <a:rPr lang="fr-FR" sz="2400" b="1" dirty="0">
                <a:latin typeface="Times New Roman" panose="02020603050405020304" pitchFamily="18" charset="0"/>
                <a:ea typeface="Calibri" panose="020F0502020204030204" pitchFamily="34" charset="0"/>
                <a:cs typeface="Arial" panose="020B0604020202020204" pitchFamily="34" charset="0"/>
              </a:rPr>
              <a:t>une valeur maximale </a:t>
            </a:r>
            <a:endParaRPr lang="fr-FR" sz="2400" b="1" dirty="0" smtClean="0">
              <a:latin typeface="Times New Roman" panose="02020603050405020304" pitchFamily="18" charset="0"/>
              <a:ea typeface="Calibri" panose="020F0502020204030204" pitchFamily="34" charset="0"/>
              <a:cs typeface="Arial" panose="020B0604020202020204" pitchFamily="34" charset="0"/>
            </a:endParaRPr>
          </a:p>
          <a:p>
            <a:pPr marL="285750" indent="-285750" algn="just">
              <a:lnSpc>
                <a:spcPct val="150000"/>
              </a:lnSpc>
              <a:spcAft>
                <a:spcPts val="800"/>
              </a:spcAft>
              <a:buFont typeface="Wingdings" panose="05000000000000000000" pitchFamily="2" charset="2"/>
              <a:buChar char="q"/>
            </a:pPr>
            <a:r>
              <a:rPr lang="fr-FR" sz="2400" b="1" dirty="0" smtClean="0">
                <a:latin typeface="Times New Roman" panose="02020603050405020304" pitchFamily="18" charset="0"/>
                <a:ea typeface="Calibri" panose="020F0502020204030204" pitchFamily="34" charset="0"/>
                <a:cs typeface="Arial" panose="020B0604020202020204" pitchFamily="34" charset="0"/>
              </a:rPr>
              <a:t>La diffusion facilitée est un transport saturable</a:t>
            </a:r>
          </a:p>
          <a:p>
            <a:pPr marL="285750" indent="-285750" algn="just">
              <a:lnSpc>
                <a:spcPct val="150000"/>
              </a:lnSpc>
              <a:spcAft>
                <a:spcPts val="800"/>
              </a:spcAft>
              <a:buFont typeface="Wingdings" panose="05000000000000000000" pitchFamily="2" charset="2"/>
              <a:buChar char="q"/>
            </a:pPr>
            <a:r>
              <a:rPr lang="fr-FR" sz="2400" b="1" dirty="0" smtClean="0">
                <a:latin typeface="Times New Roman" panose="02020603050405020304" pitchFamily="18" charset="0"/>
                <a:ea typeface="Calibri" panose="020F0502020204030204" pitchFamily="34" charset="0"/>
                <a:cs typeface="Arial" panose="020B0604020202020204" pitchFamily="34" charset="0"/>
              </a:rPr>
              <a:t>Ce </a:t>
            </a:r>
            <a:r>
              <a:rPr lang="fr-FR" sz="2400" b="1" dirty="0">
                <a:latin typeface="Times New Roman" panose="02020603050405020304" pitchFamily="18" charset="0"/>
                <a:ea typeface="Calibri" panose="020F0502020204030204" pitchFamily="34" charset="0"/>
                <a:cs typeface="Arial" panose="020B0604020202020204" pitchFamily="34" charset="0"/>
              </a:rPr>
              <a:t>mode de transport peut être inhibé par des analogues structuraux.</a:t>
            </a:r>
            <a:endParaRPr lang="fr-FR" sz="24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026" name="Picture 2" descr="Transport membranaire | Bio faculté"/>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6692" y="640079"/>
            <a:ext cx="7079477" cy="5326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02883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191" y="161499"/>
            <a:ext cx="10397718" cy="707886"/>
          </a:xfrm>
          <a:prstGeom prst="rect">
            <a:avLst/>
          </a:prstGeom>
          <a:solidFill>
            <a:schemeClr val="accent1">
              <a:lumMod val="20000"/>
              <a:lumOff val="80000"/>
            </a:schemeClr>
          </a:solidFill>
        </p:spPr>
        <p:txBody>
          <a:bodyPr wrap="none">
            <a:spAutoFit/>
          </a:bodyPr>
          <a:lstStyle/>
          <a:p>
            <a:r>
              <a:rPr lang="fr-FR" sz="4000" b="1" dirty="0" smtClean="0">
                <a:latin typeface="Times New Roman" panose="02020603050405020304" pitchFamily="18" charset="0"/>
                <a:ea typeface="Times New Roman" panose="02020603050405020304" pitchFamily="18" charset="0"/>
              </a:rPr>
              <a:t>B.2. </a:t>
            </a:r>
            <a:r>
              <a:rPr lang="fr-FR" sz="4000" b="1" dirty="0">
                <a:latin typeface="Times New Roman" panose="02020603050405020304" pitchFamily="18" charset="0"/>
                <a:ea typeface="Times New Roman" panose="02020603050405020304" pitchFamily="18" charset="0"/>
              </a:rPr>
              <a:t>Diffusion facilitée par les </a:t>
            </a:r>
            <a:r>
              <a:rPr lang="fr-FR" sz="4000" b="1" dirty="0" smtClean="0">
                <a:latin typeface="Times New Roman" panose="02020603050405020304" pitchFamily="18" charset="0"/>
                <a:ea typeface="Times New Roman" panose="02020603050405020304" pitchFamily="18" charset="0"/>
              </a:rPr>
              <a:t>canaux ioniques</a:t>
            </a:r>
            <a:r>
              <a:rPr lang="fr-FR" sz="4000" b="1" dirty="0">
                <a:latin typeface="Times New Roman" panose="02020603050405020304" pitchFamily="18" charset="0"/>
                <a:ea typeface="Times New Roman" panose="02020603050405020304" pitchFamily="18" charset="0"/>
              </a:rPr>
              <a:t> </a:t>
            </a:r>
            <a:endParaRPr lang="fr-FR" sz="4000" dirty="0"/>
          </a:p>
        </p:txBody>
      </p:sp>
      <p:sp>
        <p:nvSpPr>
          <p:cNvPr id="3" name="AutoShape 2" descr="Diagrama De Canales De Sodio PNG - Diagrama De Canales De Sodio Sodio Canal  ilustración transparent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52" name="Picture 4" descr="Voltage-gated ion channel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224" y="869385"/>
            <a:ext cx="5134882" cy="441524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hat are Ion Channels, Membrane Potential | Molecular Devi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106" y="869386"/>
            <a:ext cx="6161588" cy="441524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833817" y="4304211"/>
            <a:ext cx="1240972" cy="418012"/>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Ouvert</a:t>
            </a:r>
            <a:endParaRPr lang="fr-FR" sz="2800" b="1" dirty="0">
              <a:solidFill>
                <a:schemeClr val="tx1"/>
              </a:solidFill>
            </a:endParaRPr>
          </a:p>
        </p:txBody>
      </p:sp>
      <p:sp>
        <p:nvSpPr>
          <p:cNvPr id="7" name="Rectangle 6"/>
          <p:cNvSpPr/>
          <p:nvPr/>
        </p:nvSpPr>
        <p:spPr>
          <a:xfrm>
            <a:off x="3383608" y="4304211"/>
            <a:ext cx="1305957" cy="418011"/>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Fermé</a:t>
            </a:r>
            <a:endParaRPr lang="fr-FR" sz="2800" b="1" dirty="0">
              <a:solidFill>
                <a:schemeClr val="tx1"/>
              </a:solidFill>
            </a:endParaRPr>
          </a:p>
        </p:txBody>
      </p:sp>
      <p:sp>
        <p:nvSpPr>
          <p:cNvPr id="8" name="Rectangle 7"/>
          <p:cNvSpPr/>
          <p:nvPr/>
        </p:nvSpPr>
        <p:spPr>
          <a:xfrm>
            <a:off x="6657033" y="4010297"/>
            <a:ext cx="1240972" cy="4180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Fermé</a:t>
            </a:r>
            <a:endParaRPr lang="fr-FR" b="1" dirty="0">
              <a:solidFill>
                <a:schemeClr val="tx1"/>
              </a:solidFill>
            </a:endParaRPr>
          </a:p>
        </p:txBody>
      </p:sp>
      <p:sp>
        <p:nvSpPr>
          <p:cNvPr id="9" name="Rectangle 8"/>
          <p:cNvSpPr/>
          <p:nvPr/>
        </p:nvSpPr>
        <p:spPr>
          <a:xfrm>
            <a:off x="8996900" y="4153988"/>
            <a:ext cx="1240972" cy="4180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Ouvert</a:t>
            </a:r>
            <a:endParaRPr lang="fr-FR" b="1" dirty="0">
              <a:solidFill>
                <a:schemeClr val="tx1"/>
              </a:solidFill>
            </a:endParaRPr>
          </a:p>
        </p:txBody>
      </p:sp>
      <p:sp>
        <p:nvSpPr>
          <p:cNvPr id="10" name="Rectangle 9"/>
          <p:cNvSpPr/>
          <p:nvPr/>
        </p:nvSpPr>
        <p:spPr>
          <a:xfrm>
            <a:off x="460375" y="1159259"/>
            <a:ext cx="673244" cy="41801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Ions</a:t>
            </a:r>
            <a:endParaRPr lang="fr-FR" b="1" dirty="0">
              <a:solidFill>
                <a:schemeClr val="tx1"/>
              </a:solidFill>
            </a:endParaRPr>
          </a:p>
        </p:txBody>
      </p:sp>
      <p:sp>
        <p:nvSpPr>
          <p:cNvPr id="11" name="Rectangle 10"/>
          <p:cNvSpPr/>
          <p:nvPr/>
        </p:nvSpPr>
        <p:spPr>
          <a:xfrm>
            <a:off x="9377952" y="950253"/>
            <a:ext cx="673244" cy="41801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Ions</a:t>
            </a:r>
            <a:endParaRPr lang="fr-FR" b="1" dirty="0">
              <a:solidFill>
                <a:schemeClr val="tx1"/>
              </a:solidFill>
            </a:endParaRPr>
          </a:p>
        </p:txBody>
      </p:sp>
      <p:sp>
        <p:nvSpPr>
          <p:cNvPr id="5" name="Rectangle 4"/>
          <p:cNvSpPr/>
          <p:nvPr/>
        </p:nvSpPr>
        <p:spPr>
          <a:xfrm>
            <a:off x="307975" y="1828800"/>
            <a:ext cx="645614" cy="431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a:t>
            </a:r>
            <a:endParaRPr lang="fr-FR" sz="2800" b="1" dirty="0">
              <a:solidFill>
                <a:schemeClr val="tx1"/>
              </a:solidFill>
            </a:endParaRPr>
          </a:p>
        </p:txBody>
      </p:sp>
      <p:sp>
        <p:nvSpPr>
          <p:cNvPr id="13" name="Rectangle 12"/>
          <p:cNvSpPr/>
          <p:nvPr/>
        </p:nvSpPr>
        <p:spPr>
          <a:xfrm>
            <a:off x="268292" y="4147457"/>
            <a:ext cx="645614" cy="4934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a:t>
            </a:r>
            <a:endParaRPr lang="fr-FR" sz="3200" b="1" dirty="0">
              <a:solidFill>
                <a:schemeClr val="tx1"/>
              </a:solidFill>
            </a:endParaRPr>
          </a:p>
        </p:txBody>
      </p:sp>
      <p:cxnSp>
        <p:nvCxnSpPr>
          <p:cNvPr id="12" name="Straight Arrow Connector 11"/>
          <p:cNvCxnSpPr>
            <a:stCxn id="5" idx="2"/>
          </p:cNvCxnSpPr>
          <p:nvPr/>
        </p:nvCxnSpPr>
        <p:spPr>
          <a:xfrm>
            <a:off x="630782" y="2259874"/>
            <a:ext cx="0" cy="175042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0" y="5284631"/>
            <a:ext cx="12192000" cy="15276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q"/>
            </a:pPr>
            <a:r>
              <a:rPr lang="fr-FR" sz="3200" b="1" dirty="0" smtClean="0">
                <a:solidFill>
                  <a:schemeClr val="tx1"/>
                </a:solidFill>
              </a:rPr>
              <a:t>Les canaux ioniques sont des protéines transmembranaires</a:t>
            </a:r>
          </a:p>
          <a:p>
            <a:pPr marL="285750" indent="-285750">
              <a:buFont typeface="Wingdings" panose="05000000000000000000" pitchFamily="2" charset="2"/>
              <a:buChar char="q"/>
            </a:pPr>
            <a:r>
              <a:rPr lang="fr-FR" sz="3200" b="1" dirty="0" smtClean="0">
                <a:solidFill>
                  <a:schemeClr val="tx1"/>
                </a:solidFill>
              </a:rPr>
              <a:t>Ils sont hautement spécifiques</a:t>
            </a:r>
          </a:p>
          <a:p>
            <a:pPr marL="285750" indent="-285750">
              <a:buFont typeface="Wingdings" panose="05000000000000000000" pitchFamily="2" charset="2"/>
              <a:buChar char="q"/>
            </a:pPr>
            <a:r>
              <a:rPr lang="fr-FR" sz="3200" b="1" dirty="0" smtClean="0">
                <a:solidFill>
                  <a:schemeClr val="tx1"/>
                </a:solidFill>
              </a:rPr>
              <a:t>Le mouvement des ions dépend de l’ouverture/fermeture du canal</a:t>
            </a:r>
          </a:p>
        </p:txBody>
      </p:sp>
      <p:cxnSp>
        <p:nvCxnSpPr>
          <p:cNvPr id="18" name="Straight Arrow Connector 17"/>
          <p:cNvCxnSpPr/>
          <p:nvPr/>
        </p:nvCxnSpPr>
        <p:spPr>
          <a:xfrm flipV="1">
            <a:off x="7098900" y="2731548"/>
            <a:ext cx="433949" cy="127874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9" idx="0"/>
          </p:cNvCxnSpPr>
          <p:nvPr/>
        </p:nvCxnSpPr>
        <p:spPr>
          <a:xfrm flipV="1">
            <a:off x="9617386" y="2847703"/>
            <a:ext cx="433810" cy="130628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1050988" y="1397726"/>
            <a:ext cx="645614" cy="431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a:t>
            </a:r>
            <a:endParaRPr lang="fr-FR" sz="2800" b="1" dirty="0">
              <a:solidFill>
                <a:schemeClr val="tx1"/>
              </a:solidFill>
            </a:endParaRPr>
          </a:p>
        </p:txBody>
      </p:sp>
      <p:cxnSp>
        <p:nvCxnSpPr>
          <p:cNvPr id="28" name="Straight Arrow Connector 27"/>
          <p:cNvCxnSpPr/>
          <p:nvPr/>
        </p:nvCxnSpPr>
        <p:spPr>
          <a:xfrm flipH="1">
            <a:off x="11373795" y="1828800"/>
            <a:ext cx="25536" cy="232518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11076524" y="4116256"/>
            <a:ext cx="645614" cy="4934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a:t>
            </a:r>
            <a:endParaRPr lang="fr-FR" sz="3200" b="1" dirty="0">
              <a:solidFill>
                <a:schemeClr val="tx1"/>
              </a:solidFill>
            </a:endParaRPr>
          </a:p>
        </p:txBody>
      </p:sp>
    </p:spTree>
    <p:extLst>
      <p:ext uri="{BB962C8B-B14F-4D97-AF65-F5344CB8AC3E}">
        <p14:creationId xmlns:p14="http://schemas.microsoft.com/office/powerpoint/2010/main" val="39771378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oltage-Gated Sodium Channels: Structure, Function, Pharmacology, and  Clinical Indications. | Semantic Schol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4701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1 Modes de transport membranaire [2. Transport membranaire [biologie  cellulai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697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1" name="Image 6" descr="Description : Plusieurs types de stimuli contrôlent l'ouverture et la fermeture des canaux ioniqu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823" y="26125"/>
            <a:ext cx="9527176" cy="6831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0" y="26125"/>
            <a:ext cx="2664823" cy="68318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smtClean="0">
                <a:solidFill>
                  <a:schemeClr val="tx1"/>
                </a:solidFill>
              </a:rPr>
              <a:t>Les différents types de canaux ioniques</a:t>
            </a:r>
            <a:endParaRPr lang="fr-FR" sz="4800" b="1" dirty="0">
              <a:solidFill>
                <a:schemeClr val="tx1"/>
              </a:solidFill>
            </a:endParaRPr>
          </a:p>
        </p:txBody>
      </p:sp>
    </p:spTree>
    <p:extLst>
      <p:ext uri="{BB962C8B-B14F-4D97-AF65-F5344CB8AC3E}">
        <p14:creationId xmlns:p14="http://schemas.microsoft.com/office/powerpoint/2010/main" val="3645245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50222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Le transport des molécules d’eau à travers la membrane plasmique</a:t>
            </a:r>
            <a:endParaRPr lang="fr-FR" sz="4400" b="1" dirty="0">
              <a:solidFill>
                <a:schemeClr val="tx1"/>
              </a:solidFill>
            </a:endParaRPr>
          </a:p>
        </p:txBody>
      </p:sp>
      <p:pic>
        <p:nvPicPr>
          <p:cNvPr id="4098" name="Picture 2" descr="Révision sur l'osmose et la tonicité (leçon) | Khan Academ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649" y="2651760"/>
            <a:ext cx="10555968" cy="395260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1502229"/>
            <a:ext cx="5238205" cy="6531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Phénomène de l’osmose</a:t>
            </a:r>
            <a:endParaRPr lang="fr-FR" sz="3200" b="1" dirty="0">
              <a:solidFill>
                <a:schemeClr val="tx1"/>
              </a:solidFill>
            </a:endParaRPr>
          </a:p>
        </p:txBody>
      </p:sp>
      <p:sp>
        <p:nvSpPr>
          <p:cNvPr id="6" name="Rectangle 5"/>
          <p:cNvSpPr/>
          <p:nvPr/>
        </p:nvSpPr>
        <p:spPr>
          <a:xfrm>
            <a:off x="1175657" y="5917474"/>
            <a:ext cx="940524" cy="55626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T1</a:t>
            </a:r>
            <a:endParaRPr lang="fr-FR" b="1" dirty="0">
              <a:solidFill>
                <a:schemeClr val="tx1"/>
              </a:solidFill>
            </a:endParaRPr>
          </a:p>
        </p:txBody>
      </p:sp>
      <p:sp>
        <p:nvSpPr>
          <p:cNvPr id="9" name="Rectangle 8"/>
          <p:cNvSpPr/>
          <p:nvPr/>
        </p:nvSpPr>
        <p:spPr>
          <a:xfrm>
            <a:off x="9811971" y="5917474"/>
            <a:ext cx="940524" cy="556262"/>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T2</a:t>
            </a:r>
            <a:endParaRPr lang="fr-FR" b="1" dirty="0">
              <a:solidFill>
                <a:schemeClr val="tx1"/>
              </a:solidFill>
            </a:endParaRPr>
          </a:p>
        </p:txBody>
      </p:sp>
      <p:sp>
        <p:nvSpPr>
          <p:cNvPr id="10" name="Rectangle 9"/>
          <p:cNvSpPr/>
          <p:nvPr/>
        </p:nvSpPr>
        <p:spPr>
          <a:xfrm>
            <a:off x="1619794" y="3049089"/>
            <a:ext cx="940524" cy="55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[S]</a:t>
            </a:r>
            <a:endParaRPr lang="fr-FR" b="1" dirty="0">
              <a:solidFill>
                <a:schemeClr val="tx1"/>
              </a:solidFill>
            </a:endParaRPr>
          </a:p>
        </p:txBody>
      </p:sp>
      <p:sp>
        <p:nvSpPr>
          <p:cNvPr id="11" name="Rectangle 10"/>
          <p:cNvSpPr/>
          <p:nvPr/>
        </p:nvSpPr>
        <p:spPr>
          <a:xfrm>
            <a:off x="3593463" y="3049089"/>
            <a:ext cx="940524" cy="55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[S]</a:t>
            </a:r>
            <a:endParaRPr lang="fr-FR" sz="3600" b="1" dirty="0">
              <a:solidFill>
                <a:schemeClr val="tx1"/>
              </a:solidFill>
            </a:endParaRPr>
          </a:p>
        </p:txBody>
      </p:sp>
      <p:sp>
        <p:nvSpPr>
          <p:cNvPr id="12" name="Rectangle 11"/>
          <p:cNvSpPr/>
          <p:nvPr/>
        </p:nvSpPr>
        <p:spPr>
          <a:xfrm>
            <a:off x="7368040" y="3049090"/>
            <a:ext cx="940524" cy="55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[S]</a:t>
            </a:r>
            <a:endParaRPr lang="fr-FR" sz="2400" b="1" dirty="0">
              <a:solidFill>
                <a:schemeClr val="tx1"/>
              </a:solidFill>
            </a:endParaRPr>
          </a:p>
        </p:txBody>
      </p:sp>
      <p:sp>
        <p:nvSpPr>
          <p:cNvPr id="13" name="Rectangle 12"/>
          <p:cNvSpPr/>
          <p:nvPr/>
        </p:nvSpPr>
        <p:spPr>
          <a:xfrm>
            <a:off x="9341709" y="3049089"/>
            <a:ext cx="940524" cy="55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[S]</a:t>
            </a:r>
            <a:endParaRPr lang="fr-FR" sz="2400" b="1" dirty="0">
              <a:solidFill>
                <a:schemeClr val="tx1"/>
              </a:solidFill>
            </a:endParaRPr>
          </a:p>
        </p:txBody>
      </p:sp>
      <p:cxnSp>
        <p:nvCxnSpPr>
          <p:cNvPr id="3" name="Straight Arrow Connector 2"/>
          <p:cNvCxnSpPr/>
          <p:nvPr/>
        </p:nvCxnSpPr>
        <p:spPr>
          <a:xfrm flipV="1">
            <a:off x="2619102" y="3971109"/>
            <a:ext cx="974361" cy="1306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2619102" y="4241075"/>
            <a:ext cx="974361" cy="1306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737360" y="3971109"/>
            <a:ext cx="822958" cy="309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H2O</a:t>
            </a:r>
            <a:endParaRPr lang="fr-FR" b="1" dirty="0">
              <a:solidFill>
                <a:schemeClr val="tx1"/>
              </a:solidFill>
            </a:endParaRPr>
          </a:p>
        </p:txBody>
      </p:sp>
      <p:cxnSp>
        <p:nvCxnSpPr>
          <p:cNvPr id="16" name="Straight Arrow Connector 15"/>
          <p:cNvCxnSpPr/>
          <p:nvPr/>
        </p:nvCxnSpPr>
        <p:spPr>
          <a:xfrm flipV="1">
            <a:off x="8308564" y="4605749"/>
            <a:ext cx="1227322" cy="22313"/>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8510746" y="4247606"/>
            <a:ext cx="822958" cy="309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H2O</a:t>
            </a:r>
            <a:endParaRPr lang="fr-FR" b="1" dirty="0">
              <a:solidFill>
                <a:schemeClr val="tx1"/>
              </a:solidFill>
            </a:endParaRPr>
          </a:p>
        </p:txBody>
      </p:sp>
      <p:sp>
        <p:nvSpPr>
          <p:cNvPr id="18" name="Rectangle 17"/>
          <p:cNvSpPr/>
          <p:nvPr/>
        </p:nvSpPr>
        <p:spPr>
          <a:xfrm>
            <a:off x="1533237" y="2345872"/>
            <a:ext cx="979714" cy="4180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A</a:t>
            </a:r>
            <a:endParaRPr lang="fr-FR" b="1" dirty="0">
              <a:solidFill>
                <a:schemeClr val="tx1"/>
              </a:solidFill>
            </a:endParaRPr>
          </a:p>
        </p:txBody>
      </p:sp>
      <p:sp>
        <p:nvSpPr>
          <p:cNvPr id="21" name="Rectangle 20"/>
          <p:cNvSpPr/>
          <p:nvPr/>
        </p:nvSpPr>
        <p:spPr>
          <a:xfrm>
            <a:off x="3601640" y="2351316"/>
            <a:ext cx="979714" cy="4180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B</a:t>
            </a:r>
            <a:endParaRPr lang="fr-FR" b="1" dirty="0">
              <a:solidFill>
                <a:schemeClr val="tx1"/>
              </a:solidFill>
            </a:endParaRPr>
          </a:p>
        </p:txBody>
      </p:sp>
      <p:sp>
        <p:nvSpPr>
          <p:cNvPr id="22" name="Rectangle 21"/>
          <p:cNvSpPr/>
          <p:nvPr/>
        </p:nvSpPr>
        <p:spPr>
          <a:xfrm>
            <a:off x="7588402" y="2393226"/>
            <a:ext cx="979714" cy="4180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A</a:t>
            </a:r>
            <a:endParaRPr lang="fr-FR" b="1" dirty="0">
              <a:solidFill>
                <a:schemeClr val="tx1"/>
              </a:solidFill>
            </a:endParaRPr>
          </a:p>
        </p:txBody>
      </p:sp>
      <p:sp>
        <p:nvSpPr>
          <p:cNvPr id="23" name="Rectangle 22"/>
          <p:cNvSpPr/>
          <p:nvPr/>
        </p:nvSpPr>
        <p:spPr>
          <a:xfrm>
            <a:off x="9365509" y="2374719"/>
            <a:ext cx="979714" cy="4180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B</a:t>
            </a:r>
            <a:endParaRPr lang="fr-FR" b="1" dirty="0">
              <a:solidFill>
                <a:schemeClr val="tx1"/>
              </a:solidFill>
            </a:endParaRPr>
          </a:p>
        </p:txBody>
      </p:sp>
    </p:spTree>
    <p:extLst>
      <p:ext uri="{BB962C8B-B14F-4D97-AF65-F5344CB8AC3E}">
        <p14:creationId xmlns:p14="http://schemas.microsoft.com/office/powerpoint/2010/main" val="3485020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Life120 Chapter 5 Flashcards | Quizle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26" name="Picture 2" descr="L'osmose et la tonicité (leçon) | Khan Academ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654" y="1254034"/>
            <a:ext cx="10921729" cy="538189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07975" y="287384"/>
            <a:ext cx="8431076" cy="6531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Phénomène de l’osmose dans les cellules</a:t>
            </a:r>
            <a:endParaRPr lang="fr-FR" sz="3200" b="1" dirty="0">
              <a:solidFill>
                <a:schemeClr val="tx1"/>
              </a:solidFill>
            </a:endParaRPr>
          </a:p>
        </p:txBody>
      </p:sp>
    </p:spTree>
    <p:extLst>
      <p:ext uri="{BB962C8B-B14F-4D97-AF65-F5344CB8AC3E}">
        <p14:creationId xmlns:p14="http://schemas.microsoft.com/office/powerpoint/2010/main" val="4051932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4" name="Picture 10" descr="ANAT 113 Chapter 3: Cells and Tissues (Part I) Flashcards | Quizl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8262" y="6530"/>
            <a:ext cx="8673738" cy="670124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866709" y="470262"/>
            <a:ext cx="2682240" cy="61395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Molécules H2O</a:t>
            </a:r>
            <a:endParaRPr lang="fr-FR" sz="2800" b="1" dirty="0">
              <a:solidFill>
                <a:schemeClr val="tx1"/>
              </a:solidFill>
            </a:endParaRPr>
          </a:p>
        </p:txBody>
      </p:sp>
      <p:cxnSp>
        <p:nvCxnSpPr>
          <p:cNvPr id="6" name="Straight Connector 5"/>
          <p:cNvCxnSpPr/>
          <p:nvPr/>
        </p:nvCxnSpPr>
        <p:spPr>
          <a:xfrm>
            <a:off x="7628711" y="1084216"/>
            <a:ext cx="13061" cy="4637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641772" y="1084216"/>
            <a:ext cx="853440" cy="333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6947263" y="6041571"/>
            <a:ext cx="2601686" cy="52251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Aquaporine</a:t>
            </a:r>
            <a:endParaRPr lang="fr-FR" sz="3600" b="1" dirty="0">
              <a:solidFill>
                <a:schemeClr val="tx1"/>
              </a:solidFill>
            </a:endParaRPr>
          </a:p>
        </p:txBody>
      </p:sp>
      <p:sp>
        <p:nvSpPr>
          <p:cNvPr id="18" name="Rectangle 17"/>
          <p:cNvSpPr/>
          <p:nvPr/>
        </p:nvSpPr>
        <p:spPr>
          <a:xfrm>
            <a:off x="7776754" y="4071257"/>
            <a:ext cx="1654629" cy="61395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D. Simple</a:t>
            </a:r>
            <a:endParaRPr lang="fr-FR" sz="2800" b="1" dirty="0">
              <a:solidFill>
                <a:schemeClr val="tx1"/>
              </a:solidFill>
            </a:endParaRPr>
          </a:p>
        </p:txBody>
      </p:sp>
      <p:sp>
        <p:nvSpPr>
          <p:cNvPr id="19" name="Rectangle 18"/>
          <p:cNvSpPr/>
          <p:nvPr/>
        </p:nvSpPr>
        <p:spPr>
          <a:xfrm>
            <a:off x="3936275" y="4482737"/>
            <a:ext cx="1759131" cy="61395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D. facilitée</a:t>
            </a:r>
            <a:endParaRPr lang="fr-FR" sz="2800" b="1" dirty="0">
              <a:solidFill>
                <a:schemeClr val="tx1"/>
              </a:solidFill>
            </a:endParaRPr>
          </a:p>
        </p:txBody>
      </p:sp>
      <p:sp>
        <p:nvSpPr>
          <p:cNvPr id="20" name="Rectangle 19"/>
          <p:cNvSpPr/>
          <p:nvPr/>
        </p:nvSpPr>
        <p:spPr>
          <a:xfrm>
            <a:off x="10232572" y="3357152"/>
            <a:ext cx="1798319" cy="8229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Bicouche lipidique</a:t>
            </a:r>
            <a:endParaRPr lang="fr-FR" sz="2800" b="1" dirty="0">
              <a:solidFill>
                <a:schemeClr val="tx1"/>
              </a:solidFill>
            </a:endParaRPr>
          </a:p>
        </p:txBody>
      </p:sp>
      <p:sp>
        <p:nvSpPr>
          <p:cNvPr id="16" name="Rectangle 15"/>
          <p:cNvSpPr/>
          <p:nvPr/>
        </p:nvSpPr>
        <p:spPr>
          <a:xfrm>
            <a:off x="-1" y="6530"/>
            <a:ext cx="3762103" cy="685147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800" b="1" u="sng" dirty="0" smtClean="0">
                <a:solidFill>
                  <a:schemeClr val="tx1"/>
                </a:solidFill>
              </a:rPr>
              <a:t>L’osmose</a:t>
            </a:r>
            <a:r>
              <a:rPr lang="fr-FR" sz="3800" b="1" dirty="0" smtClean="0">
                <a:solidFill>
                  <a:schemeClr val="tx1"/>
                </a:solidFill>
              </a:rPr>
              <a:t>: C’est le déplacement </a:t>
            </a:r>
            <a:r>
              <a:rPr lang="fr-FR" sz="3800" b="1" dirty="0">
                <a:solidFill>
                  <a:schemeClr val="tx1"/>
                </a:solidFill>
              </a:rPr>
              <a:t>de l'eau du milieu le moins concentré (en soluté) </a:t>
            </a:r>
            <a:r>
              <a:rPr lang="fr-FR" sz="3800" b="1" dirty="0" smtClean="0">
                <a:solidFill>
                  <a:schemeClr val="tx1"/>
                </a:solidFill>
              </a:rPr>
              <a:t>vers </a:t>
            </a:r>
            <a:r>
              <a:rPr lang="fr-FR" sz="3800" b="1" dirty="0">
                <a:solidFill>
                  <a:schemeClr val="tx1"/>
                </a:solidFill>
              </a:rPr>
              <a:t>le milieu le plus concentré (en soluté) </a:t>
            </a:r>
            <a:r>
              <a:rPr lang="fr-FR" sz="3800" b="1" dirty="0" smtClean="0">
                <a:solidFill>
                  <a:schemeClr val="tx1"/>
                </a:solidFill>
              </a:rPr>
              <a:t>, </a:t>
            </a:r>
            <a:r>
              <a:rPr lang="fr-FR" sz="3800" b="1" u="sng" dirty="0" smtClean="0">
                <a:solidFill>
                  <a:schemeClr val="tx1"/>
                </a:solidFill>
              </a:rPr>
              <a:t>à </a:t>
            </a:r>
            <a:r>
              <a:rPr lang="fr-FR" sz="3800" b="1" u="sng" dirty="0">
                <a:solidFill>
                  <a:schemeClr val="tx1"/>
                </a:solidFill>
              </a:rPr>
              <a:t>la </a:t>
            </a:r>
            <a:r>
              <a:rPr lang="fr-FR" sz="3800" b="1" u="sng" dirty="0" smtClean="0">
                <a:solidFill>
                  <a:schemeClr val="tx1"/>
                </a:solidFill>
              </a:rPr>
              <a:t>fois, </a:t>
            </a:r>
            <a:r>
              <a:rPr lang="fr-FR" sz="3800" b="1" u="sng" dirty="0">
                <a:solidFill>
                  <a:schemeClr val="tx1"/>
                </a:solidFill>
              </a:rPr>
              <a:t>par diffusion simple et </a:t>
            </a:r>
            <a:r>
              <a:rPr lang="fr-FR" sz="3800" b="1" u="sng" dirty="0" smtClean="0">
                <a:solidFill>
                  <a:schemeClr val="tx1"/>
                </a:solidFill>
              </a:rPr>
              <a:t>facilitée</a:t>
            </a:r>
            <a:r>
              <a:rPr lang="fr-FR" sz="3800" b="1" dirty="0">
                <a:solidFill>
                  <a:schemeClr val="tx1"/>
                </a:solidFill>
              </a:rPr>
              <a:t>. </a:t>
            </a:r>
          </a:p>
        </p:txBody>
      </p:sp>
    </p:spTree>
    <p:extLst>
      <p:ext uri="{BB962C8B-B14F-4D97-AF65-F5344CB8AC3E}">
        <p14:creationId xmlns:p14="http://schemas.microsoft.com/office/powerpoint/2010/main" val="1159791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ufgabe Aquapor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914399"/>
            <a:ext cx="5715000" cy="578058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ransport Characteristics of Aquaporins | SpringerLin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459" y="635047"/>
            <a:ext cx="6196468" cy="278742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IH 3D - Crystal Structure of Human Aquaporin 4 at 1.8 and its Mechanism of  Conductan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388" y="3422469"/>
            <a:ext cx="5980611" cy="343553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891349" y="104502"/>
            <a:ext cx="5878285" cy="77070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Structure d’une Aquaporine</a:t>
            </a:r>
            <a:endParaRPr lang="fr-FR" sz="3600" b="1" dirty="0">
              <a:solidFill>
                <a:schemeClr val="tx1"/>
              </a:solidFill>
            </a:endParaRPr>
          </a:p>
        </p:txBody>
      </p:sp>
    </p:spTree>
    <p:extLst>
      <p:ext uri="{BB962C8B-B14F-4D97-AF65-F5344CB8AC3E}">
        <p14:creationId xmlns:p14="http://schemas.microsoft.com/office/powerpoint/2010/main" val="1600381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Membrane Cellulaire Et Biologie, Concept Biologique, Rendu 3d. Dessin  Numérique Par Ordinateur. Banque D'Images et Photos Libres De Droits. Image  142798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2" y="0"/>
            <a:ext cx="12192000" cy="6858000"/>
          </a:xfrm>
          <a:prstGeom prst="rect">
            <a:avLst/>
          </a:prstGeom>
          <a:solidFill>
            <a:schemeClr val="bg1"/>
          </a:solidFill>
        </p:spPr>
      </p:pic>
      <p:sp>
        <p:nvSpPr>
          <p:cNvPr id="6" name="Rectangle 5"/>
          <p:cNvSpPr/>
          <p:nvPr/>
        </p:nvSpPr>
        <p:spPr>
          <a:xfrm>
            <a:off x="2041231" y="187642"/>
            <a:ext cx="7406640" cy="1101265"/>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800" b="1" dirty="0" smtClean="0">
                <a:solidFill>
                  <a:schemeClr val="tx1"/>
                </a:solidFill>
                <a:latin typeface="Times New Roman" panose="02020603050405020304" pitchFamily="18" charset="0"/>
                <a:cs typeface="Times New Roman" panose="02020603050405020304" pitchFamily="18" charset="0"/>
              </a:rPr>
              <a:t>1.1.Transport actif</a:t>
            </a:r>
            <a:endParaRPr lang="fr-FR" sz="4800" b="1"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0" y="1476549"/>
            <a:ext cx="7144023" cy="5381451"/>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algn="ctr">
              <a:buFont typeface="Wingdings" panose="05000000000000000000" pitchFamily="2" charset="2"/>
              <a:buChar char="q"/>
              <a:defRPr/>
            </a:pPr>
            <a:r>
              <a:rPr lang="fr-FR" sz="4000" b="1" dirty="0" smtClean="0">
                <a:solidFill>
                  <a:schemeClr val="tx1"/>
                </a:solidFill>
                <a:latin typeface="Times New Roman" panose="02020603050405020304" pitchFamily="18" charset="0"/>
                <a:cs typeface="Times New Roman" panose="02020603050405020304" pitchFamily="18" charset="0"/>
              </a:rPr>
              <a:t>Consomme de l’énergie</a:t>
            </a:r>
          </a:p>
          <a:p>
            <a:pPr algn="ctr">
              <a:defRPr/>
            </a:pPr>
            <a:endParaRPr lang="fr-FR" sz="4000" b="1" dirty="0" smtClean="0">
              <a:solidFill>
                <a:schemeClr val="tx1"/>
              </a:solidFill>
              <a:latin typeface="Times New Roman" panose="02020603050405020304" pitchFamily="18" charset="0"/>
              <a:cs typeface="Times New Roman" panose="02020603050405020304" pitchFamily="18" charset="0"/>
            </a:endParaRPr>
          </a:p>
          <a:p>
            <a:pPr marL="457200" indent="-457200" algn="ctr">
              <a:buFont typeface="Wingdings" panose="05000000000000000000" pitchFamily="2" charset="2"/>
              <a:buChar char="q"/>
              <a:defRPr/>
            </a:pPr>
            <a:r>
              <a:rPr lang="fr-FR" sz="4000" b="1" dirty="0" smtClean="0">
                <a:solidFill>
                  <a:schemeClr val="tx1"/>
                </a:solidFill>
                <a:latin typeface="Times New Roman" panose="02020603050405020304" pitchFamily="18" charset="0"/>
                <a:cs typeface="Times New Roman" panose="02020603050405020304" pitchFamily="18" charset="0"/>
              </a:rPr>
              <a:t>Contre le gradient de [ ]</a:t>
            </a:r>
          </a:p>
          <a:p>
            <a:pPr algn="ctr">
              <a:defRPr/>
            </a:pPr>
            <a:r>
              <a:rPr lang="fr-FR" sz="4000" b="1" dirty="0" smtClean="0">
                <a:solidFill>
                  <a:schemeClr val="tx1"/>
                </a:solidFill>
                <a:latin typeface="Times New Roman" panose="02020603050405020304" pitchFamily="18" charset="0"/>
                <a:cs typeface="Times New Roman" panose="02020603050405020304" pitchFamily="18" charset="0"/>
              </a:rPr>
              <a:t>       ( [</a:t>
            </a:r>
            <a:r>
              <a:rPr lang="fr-FR" sz="4000" b="1" dirty="0">
                <a:solidFill>
                  <a:schemeClr val="tx1"/>
                </a:solidFill>
                <a:latin typeface="Times New Roman" panose="02020603050405020304" pitchFamily="18" charset="0"/>
                <a:cs typeface="Times New Roman" panose="02020603050405020304" pitchFamily="18" charset="0"/>
              </a:rPr>
              <a:t>-</a:t>
            </a:r>
            <a:r>
              <a:rPr lang="fr-FR" sz="4000" b="1" dirty="0" smtClean="0">
                <a:solidFill>
                  <a:schemeClr val="tx1"/>
                </a:solidFill>
                <a:latin typeface="Times New Roman" panose="02020603050405020304" pitchFamily="18" charset="0"/>
                <a:cs typeface="Times New Roman" panose="02020603050405020304" pitchFamily="18" charset="0"/>
              </a:rPr>
              <a:t> ]</a:t>
            </a:r>
            <a:r>
              <a:rPr lang="fr-FR" sz="4000" b="1" dirty="0">
                <a:solidFill>
                  <a:schemeClr val="tx1"/>
                </a:solidFill>
                <a:latin typeface="Times New Roman" panose="02020603050405020304" pitchFamily="18" charset="0"/>
                <a:cs typeface="Times New Roman" panose="02020603050405020304" pitchFamily="18" charset="0"/>
              </a:rPr>
              <a:t> </a:t>
            </a:r>
            <a:r>
              <a:rPr lang="fr-FR" sz="4000" b="1" dirty="0" smtClean="0">
                <a:solidFill>
                  <a:schemeClr val="tx1"/>
                </a:solidFill>
                <a:latin typeface="Times New Roman" panose="02020603050405020304" pitchFamily="18" charset="0"/>
                <a:cs typeface="Times New Roman" panose="02020603050405020304" pitchFamily="18" charset="0"/>
              </a:rPr>
              <a:t>              [ </a:t>
            </a:r>
            <a:r>
              <a:rPr lang="fr-FR" sz="4000" b="1" dirty="0">
                <a:solidFill>
                  <a:schemeClr val="tx1"/>
                </a:solidFill>
                <a:latin typeface="Times New Roman" panose="02020603050405020304" pitchFamily="18" charset="0"/>
                <a:cs typeface="Times New Roman" panose="02020603050405020304" pitchFamily="18" charset="0"/>
              </a:rPr>
              <a:t>+</a:t>
            </a:r>
            <a:r>
              <a:rPr lang="fr-FR" sz="4000" b="1" dirty="0" smtClean="0">
                <a:solidFill>
                  <a:schemeClr val="tx1"/>
                </a:solidFill>
                <a:latin typeface="Times New Roman" panose="02020603050405020304" pitchFamily="18" charset="0"/>
                <a:cs typeface="Times New Roman" panose="02020603050405020304" pitchFamily="18" charset="0"/>
              </a:rPr>
              <a:t>] )</a:t>
            </a:r>
          </a:p>
          <a:p>
            <a:pPr algn="ctr">
              <a:defRPr/>
            </a:pPr>
            <a:endParaRPr lang="fr-FR" sz="4000" b="1" dirty="0" smtClean="0">
              <a:solidFill>
                <a:schemeClr val="tx1"/>
              </a:solidFill>
              <a:latin typeface="Times New Roman" panose="02020603050405020304" pitchFamily="18" charset="0"/>
              <a:cs typeface="Times New Roman" panose="02020603050405020304" pitchFamily="18" charset="0"/>
            </a:endParaRPr>
          </a:p>
          <a:p>
            <a:pPr marL="457200" indent="-457200" algn="ctr">
              <a:buFont typeface="Wingdings" panose="05000000000000000000" pitchFamily="2" charset="2"/>
              <a:buChar char="q"/>
              <a:defRPr/>
            </a:pPr>
            <a:r>
              <a:rPr lang="fr-FR" sz="4000" b="1" dirty="0" smtClean="0">
                <a:solidFill>
                  <a:schemeClr val="tx1"/>
                </a:solidFill>
                <a:latin typeface="Times New Roman" panose="02020603050405020304" pitchFamily="18" charset="0"/>
                <a:cs typeface="Times New Roman" panose="02020603050405020304" pitchFamily="18" charset="0"/>
              </a:rPr>
              <a:t>Nécessite des transporteurs membranaires</a:t>
            </a:r>
            <a:endParaRPr lang="fr-FR" sz="4000" b="1" dirty="0">
              <a:solidFill>
                <a:schemeClr val="tx1"/>
              </a:solidFill>
              <a:latin typeface="Times New Roman" panose="02020603050405020304" pitchFamily="18" charset="0"/>
              <a:cs typeface="Times New Roman" panose="02020603050405020304" pitchFamily="18" charset="0"/>
            </a:endParaRPr>
          </a:p>
        </p:txBody>
      </p:sp>
      <p:cxnSp>
        <p:nvCxnSpPr>
          <p:cNvPr id="9" name="Straight Arrow Connector 8"/>
          <p:cNvCxnSpPr/>
          <p:nvPr/>
        </p:nvCxnSpPr>
        <p:spPr>
          <a:xfrm>
            <a:off x="3135086" y="4206239"/>
            <a:ext cx="17634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8321040" y="2181497"/>
            <a:ext cx="3696789" cy="7837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T. Actif Primaire</a:t>
            </a:r>
            <a:endParaRPr lang="fr-FR" sz="3600" b="1" dirty="0">
              <a:solidFill>
                <a:schemeClr val="tx1"/>
              </a:solidFill>
            </a:endParaRPr>
          </a:p>
        </p:txBody>
      </p:sp>
      <p:sp>
        <p:nvSpPr>
          <p:cNvPr id="10" name="Rectangle 9"/>
          <p:cNvSpPr/>
          <p:nvPr/>
        </p:nvSpPr>
        <p:spPr>
          <a:xfrm>
            <a:off x="8321040" y="3546787"/>
            <a:ext cx="3696789" cy="7837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T. Actif Secondaire</a:t>
            </a:r>
            <a:endParaRPr lang="fr-FR" sz="3600" b="1" dirty="0">
              <a:solidFill>
                <a:schemeClr val="tx1"/>
              </a:solidFill>
            </a:endParaRPr>
          </a:p>
        </p:txBody>
      </p:sp>
      <p:cxnSp>
        <p:nvCxnSpPr>
          <p:cNvPr id="13" name="Straight Connector 12"/>
          <p:cNvCxnSpPr/>
          <p:nvPr/>
        </p:nvCxnSpPr>
        <p:spPr>
          <a:xfrm>
            <a:off x="7641771" y="1288907"/>
            <a:ext cx="65315" cy="274751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707086" y="4036422"/>
            <a:ext cx="61395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707086" y="2555965"/>
            <a:ext cx="613954" cy="1741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6097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embrane Cellulaire Et Biologie, Concept Biologique, Rendu 3d. Dessin  Numérique Par Ordinateur. Banque D'Images et Photos Libres De Droits. Image  142798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solidFill>
            <a:schemeClr val="bg1"/>
          </a:solidFill>
        </p:spPr>
      </p:pic>
      <p:sp>
        <p:nvSpPr>
          <p:cNvPr id="5" name="Rectangle 4"/>
          <p:cNvSpPr/>
          <p:nvPr/>
        </p:nvSpPr>
        <p:spPr>
          <a:xfrm>
            <a:off x="269556" y="300445"/>
            <a:ext cx="3696789" cy="7837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T. Actif Primaire</a:t>
            </a:r>
            <a:endParaRPr lang="fr-FR" sz="3600" b="1" dirty="0">
              <a:solidFill>
                <a:schemeClr val="tx1"/>
              </a:solidFill>
            </a:endParaRPr>
          </a:p>
        </p:txBody>
      </p:sp>
      <p:sp>
        <p:nvSpPr>
          <p:cNvPr id="6" name="Rectangle 5"/>
          <p:cNvSpPr/>
          <p:nvPr/>
        </p:nvSpPr>
        <p:spPr>
          <a:xfrm>
            <a:off x="7397114" y="404945"/>
            <a:ext cx="3696789" cy="7837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T. Actif Secondaire</a:t>
            </a:r>
            <a:endParaRPr lang="fr-FR" sz="3600" b="1" dirty="0">
              <a:solidFill>
                <a:schemeClr val="tx1"/>
              </a:solidFill>
            </a:endParaRPr>
          </a:p>
        </p:txBody>
      </p:sp>
      <p:sp>
        <p:nvSpPr>
          <p:cNvPr id="2" name="Rounded Rectangle 1"/>
          <p:cNvSpPr/>
          <p:nvPr/>
        </p:nvSpPr>
        <p:spPr>
          <a:xfrm>
            <a:off x="0" y="1267095"/>
            <a:ext cx="5721531" cy="448056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q"/>
            </a:pPr>
            <a:r>
              <a:rPr lang="fr-FR" sz="4000" b="1" dirty="0" smtClean="0">
                <a:solidFill>
                  <a:schemeClr val="tx1"/>
                </a:solidFill>
              </a:rPr>
              <a:t>Les transporteurs utilisés sont des </a:t>
            </a:r>
            <a:r>
              <a:rPr lang="fr-FR" sz="4000" b="1" u="sng" dirty="0" smtClean="0">
                <a:solidFill>
                  <a:schemeClr val="tx1"/>
                </a:solidFill>
              </a:rPr>
              <a:t>pompes</a:t>
            </a:r>
            <a:r>
              <a:rPr lang="fr-FR" sz="4000" b="1" dirty="0" smtClean="0">
                <a:solidFill>
                  <a:schemeClr val="tx1"/>
                </a:solidFill>
              </a:rPr>
              <a:t> (</a:t>
            </a:r>
            <a:r>
              <a:rPr lang="fr-FR" sz="4000" b="1" dirty="0" err="1" smtClean="0">
                <a:solidFill>
                  <a:schemeClr val="tx1"/>
                </a:solidFill>
              </a:rPr>
              <a:t>ATPases</a:t>
            </a:r>
            <a:r>
              <a:rPr lang="fr-FR" sz="4000" b="1" dirty="0" smtClean="0">
                <a:solidFill>
                  <a:schemeClr val="tx1"/>
                </a:solidFill>
              </a:rPr>
              <a:t>)</a:t>
            </a:r>
          </a:p>
          <a:p>
            <a:pPr algn="ctr"/>
            <a:endParaRPr lang="fr-FR" sz="4000" b="1" dirty="0" smtClean="0">
              <a:solidFill>
                <a:schemeClr val="tx1"/>
              </a:solidFill>
            </a:endParaRPr>
          </a:p>
          <a:p>
            <a:pPr marL="285750" indent="-285750" algn="ctr">
              <a:buFont typeface="Wingdings" panose="05000000000000000000" pitchFamily="2" charset="2"/>
              <a:buChar char="q"/>
            </a:pPr>
            <a:r>
              <a:rPr lang="fr-FR" sz="4000" b="1" dirty="0" smtClean="0">
                <a:solidFill>
                  <a:schemeClr val="tx1"/>
                </a:solidFill>
              </a:rPr>
              <a:t>Consomme de </a:t>
            </a:r>
            <a:r>
              <a:rPr lang="fr-FR" sz="4000" b="1" dirty="0">
                <a:solidFill>
                  <a:schemeClr val="tx1"/>
                </a:solidFill>
              </a:rPr>
              <a:t>l’énergie sous forme </a:t>
            </a:r>
            <a:r>
              <a:rPr lang="fr-FR" sz="4000" b="1" u="sng" dirty="0">
                <a:solidFill>
                  <a:schemeClr val="tx1"/>
                </a:solidFill>
              </a:rPr>
              <a:t>d’ATP</a:t>
            </a:r>
          </a:p>
        </p:txBody>
      </p:sp>
      <p:sp>
        <p:nvSpPr>
          <p:cNvPr id="9" name="Rounded Rectangle 8"/>
          <p:cNvSpPr/>
          <p:nvPr/>
        </p:nvSpPr>
        <p:spPr>
          <a:xfrm>
            <a:off x="5930538" y="1267096"/>
            <a:ext cx="6261462" cy="448056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q"/>
            </a:pPr>
            <a:r>
              <a:rPr lang="fr-FR" sz="4000" b="1" dirty="0" smtClean="0">
                <a:solidFill>
                  <a:schemeClr val="tx1"/>
                </a:solidFill>
              </a:rPr>
              <a:t>Utilise des co-transporteurs (Symport OU Antiport)</a:t>
            </a:r>
          </a:p>
          <a:p>
            <a:pPr algn="ctr"/>
            <a:endParaRPr lang="fr-FR" sz="4000" b="1" dirty="0" smtClean="0">
              <a:solidFill>
                <a:schemeClr val="tx1"/>
              </a:solidFill>
            </a:endParaRPr>
          </a:p>
          <a:p>
            <a:pPr marL="285750" indent="-285750" algn="ctr">
              <a:buFont typeface="Wingdings" panose="05000000000000000000" pitchFamily="2" charset="2"/>
              <a:buChar char="q"/>
            </a:pPr>
            <a:r>
              <a:rPr lang="fr-FR" sz="4000" b="1" dirty="0" smtClean="0">
                <a:solidFill>
                  <a:schemeClr val="tx1"/>
                </a:solidFill>
              </a:rPr>
              <a:t>Énergie sous forme d’un gradient électrochimique </a:t>
            </a:r>
            <a:endParaRPr lang="fr-FR" sz="4000" b="1" dirty="0">
              <a:solidFill>
                <a:schemeClr val="tx1"/>
              </a:solidFill>
            </a:endParaRPr>
          </a:p>
        </p:txBody>
      </p:sp>
    </p:spTree>
    <p:extLst>
      <p:ext uri="{BB962C8B-B14F-4D97-AF65-F5344CB8AC3E}">
        <p14:creationId xmlns:p14="http://schemas.microsoft.com/office/powerpoint/2010/main" val="4183479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15526" y="0"/>
            <a:ext cx="4772707" cy="574766"/>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T. Actif Primaire</a:t>
            </a:r>
            <a:endParaRPr lang="fr-FR" sz="4400" b="1" dirty="0">
              <a:solidFill>
                <a:schemeClr val="tx1"/>
              </a:solidFill>
            </a:endParaRPr>
          </a:p>
        </p:txBody>
      </p:sp>
      <p:pic>
        <p:nvPicPr>
          <p:cNvPr id="2" name="Picture 1"/>
          <p:cNvPicPr>
            <a:picLocks noChangeAspect="1"/>
          </p:cNvPicPr>
          <p:nvPr/>
        </p:nvPicPr>
        <p:blipFill>
          <a:blip r:embed="rId2"/>
          <a:stretch>
            <a:fillRect/>
          </a:stretch>
        </p:blipFill>
        <p:spPr>
          <a:xfrm>
            <a:off x="-2721" y="574766"/>
            <a:ext cx="12192000" cy="6283234"/>
          </a:xfrm>
          <a:prstGeom prst="rect">
            <a:avLst/>
          </a:prstGeom>
        </p:spPr>
      </p:pic>
      <p:sp>
        <p:nvSpPr>
          <p:cNvPr id="6" name="Rectangle 5"/>
          <p:cNvSpPr/>
          <p:nvPr/>
        </p:nvSpPr>
        <p:spPr>
          <a:xfrm>
            <a:off x="0" y="574766"/>
            <a:ext cx="4219303" cy="444137"/>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600" b="1" dirty="0" smtClean="0">
                <a:solidFill>
                  <a:schemeClr val="tx1"/>
                </a:solidFill>
              </a:rPr>
              <a:t>EX: Pompe Na+/K+</a:t>
            </a:r>
            <a:endParaRPr lang="fr-FR" sz="3600" b="1" dirty="0">
              <a:solidFill>
                <a:schemeClr val="tx1"/>
              </a:solidFill>
            </a:endParaRPr>
          </a:p>
        </p:txBody>
      </p:sp>
      <p:sp>
        <p:nvSpPr>
          <p:cNvPr id="3" name="Rectangle 2"/>
          <p:cNvSpPr/>
          <p:nvPr/>
        </p:nvSpPr>
        <p:spPr>
          <a:xfrm>
            <a:off x="8010797" y="2730137"/>
            <a:ext cx="806632" cy="574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8" name="Rectangle 7"/>
          <p:cNvSpPr/>
          <p:nvPr/>
        </p:nvSpPr>
        <p:spPr>
          <a:xfrm>
            <a:off x="7919357" y="777242"/>
            <a:ext cx="898072" cy="574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cxnSp>
        <p:nvCxnSpPr>
          <p:cNvPr id="9" name="Straight Arrow Connector 8"/>
          <p:cNvCxnSpPr>
            <a:stCxn id="3" idx="0"/>
            <a:endCxn id="8" idx="2"/>
          </p:cNvCxnSpPr>
          <p:nvPr/>
        </p:nvCxnSpPr>
        <p:spPr>
          <a:xfrm flipH="1" flipV="1">
            <a:off x="8368393" y="1352007"/>
            <a:ext cx="45720" cy="137813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3604260" y="3966754"/>
            <a:ext cx="806632" cy="574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19" name="Rectangle 18"/>
          <p:cNvSpPr/>
          <p:nvPr/>
        </p:nvSpPr>
        <p:spPr>
          <a:xfrm>
            <a:off x="3415526" y="6019801"/>
            <a:ext cx="898072" cy="574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cxnSp>
        <p:nvCxnSpPr>
          <p:cNvPr id="20" name="Straight Arrow Connector 19"/>
          <p:cNvCxnSpPr>
            <a:stCxn id="18" idx="2"/>
          </p:cNvCxnSpPr>
          <p:nvPr/>
        </p:nvCxnSpPr>
        <p:spPr>
          <a:xfrm>
            <a:off x="4007576" y="4541519"/>
            <a:ext cx="0" cy="14782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2547258" y="3110047"/>
            <a:ext cx="2455816" cy="443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M. intracellulaire</a:t>
            </a:r>
            <a:endParaRPr lang="fr-FR" sz="2400" b="1" dirty="0">
              <a:solidFill>
                <a:schemeClr val="tx1"/>
              </a:solidFill>
            </a:endParaRPr>
          </a:p>
        </p:txBody>
      </p:sp>
      <p:sp>
        <p:nvSpPr>
          <p:cNvPr id="26" name="Rectangle 25"/>
          <p:cNvSpPr/>
          <p:nvPr/>
        </p:nvSpPr>
        <p:spPr>
          <a:xfrm>
            <a:off x="2394990" y="1117421"/>
            <a:ext cx="2939143" cy="443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Milieu extracellulaire</a:t>
            </a:r>
            <a:endParaRPr lang="fr-FR" sz="2400" b="1" dirty="0">
              <a:solidFill>
                <a:schemeClr val="tx1"/>
              </a:solidFill>
            </a:endParaRPr>
          </a:p>
        </p:txBody>
      </p:sp>
      <p:sp>
        <p:nvSpPr>
          <p:cNvPr id="27" name="Rectangle 26"/>
          <p:cNvSpPr/>
          <p:nvPr/>
        </p:nvSpPr>
        <p:spPr>
          <a:xfrm>
            <a:off x="7140485" y="6151518"/>
            <a:ext cx="2455816" cy="443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M. interne</a:t>
            </a:r>
            <a:endParaRPr lang="fr-FR" sz="2400" b="1" dirty="0">
              <a:solidFill>
                <a:schemeClr val="tx1"/>
              </a:solidFill>
            </a:endParaRPr>
          </a:p>
        </p:txBody>
      </p:sp>
      <p:sp>
        <p:nvSpPr>
          <p:cNvPr id="28" name="Rectangle 27"/>
          <p:cNvSpPr/>
          <p:nvPr/>
        </p:nvSpPr>
        <p:spPr>
          <a:xfrm>
            <a:off x="7080341" y="4108267"/>
            <a:ext cx="2036173" cy="443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M. Externe</a:t>
            </a:r>
            <a:endParaRPr lang="fr-FR" sz="2400" b="1" dirty="0">
              <a:solidFill>
                <a:schemeClr val="tx1"/>
              </a:solidFill>
            </a:endParaRPr>
          </a:p>
        </p:txBody>
      </p:sp>
    </p:spTree>
    <p:extLst>
      <p:ext uri="{BB962C8B-B14F-4D97-AF65-F5344CB8AC3E}">
        <p14:creationId xmlns:p14="http://schemas.microsoft.com/office/powerpoint/2010/main" val="40497370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41652" y="0"/>
            <a:ext cx="4772707" cy="574766"/>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T. Actif secondaire</a:t>
            </a:r>
            <a:endParaRPr lang="fr-FR" sz="4400" b="1" dirty="0">
              <a:solidFill>
                <a:schemeClr val="tx1"/>
              </a:solidFill>
            </a:endParaRPr>
          </a:p>
        </p:txBody>
      </p:sp>
      <p:pic>
        <p:nvPicPr>
          <p:cNvPr id="2050" name="Picture 2" descr="2.1 Modes de transport membranaire [2. Transport membranaire [biologie  cellulai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452" y="757646"/>
            <a:ext cx="10698480" cy="581297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807131" y="6126480"/>
            <a:ext cx="2325189"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ysClr val="windowText" lastClr="000000"/>
                </a:solidFill>
              </a:rPr>
              <a:t>SGLT1</a:t>
            </a:r>
            <a:endParaRPr lang="fr-FR" sz="2800" b="1" dirty="0">
              <a:solidFill>
                <a:sysClr val="windowText" lastClr="000000"/>
              </a:solidFill>
            </a:endParaRPr>
          </a:p>
        </p:txBody>
      </p:sp>
      <p:sp>
        <p:nvSpPr>
          <p:cNvPr id="6" name="Rectangle 5"/>
          <p:cNvSpPr/>
          <p:nvPr/>
        </p:nvSpPr>
        <p:spPr>
          <a:xfrm>
            <a:off x="6766560" y="5146764"/>
            <a:ext cx="953588"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INT</a:t>
            </a:r>
            <a:endParaRPr lang="fr-FR" b="1" dirty="0">
              <a:solidFill>
                <a:schemeClr val="tx1"/>
              </a:solidFill>
            </a:endParaRPr>
          </a:p>
        </p:txBody>
      </p:sp>
      <p:sp>
        <p:nvSpPr>
          <p:cNvPr id="8" name="Rectangle 7"/>
          <p:cNvSpPr/>
          <p:nvPr/>
        </p:nvSpPr>
        <p:spPr>
          <a:xfrm>
            <a:off x="8033658" y="5146764"/>
            <a:ext cx="953588"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INT</a:t>
            </a:r>
            <a:endParaRPr lang="fr-FR" b="1" dirty="0">
              <a:solidFill>
                <a:schemeClr val="tx1"/>
              </a:solidFill>
            </a:endParaRPr>
          </a:p>
        </p:txBody>
      </p:sp>
      <p:sp>
        <p:nvSpPr>
          <p:cNvPr id="9" name="Rectangle 8"/>
          <p:cNvSpPr/>
          <p:nvPr/>
        </p:nvSpPr>
        <p:spPr>
          <a:xfrm>
            <a:off x="6871063" y="3219995"/>
            <a:ext cx="953588"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EXT</a:t>
            </a:r>
            <a:endParaRPr lang="fr-FR" b="1" dirty="0">
              <a:solidFill>
                <a:schemeClr val="tx1"/>
              </a:solidFill>
            </a:endParaRPr>
          </a:p>
        </p:txBody>
      </p:sp>
      <p:sp>
        <p:nvSpPr>
          <p:cNvPr id="10" name="Rectangle 9"/>
          <p:cNvSpPr/>
          <p:nvPr/>
        </p:nvSpPr>
        <p:spPr>
          <a:xfrm>
            <a:off x="8085909" y="3136650"/>
            <a:ext cx="953588"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EXT</a:t>
            </a:r>
            <a:endParaRPr lang="fr-FR" b="1" dirty="0">
              <a:solidFill>
                <a:schemeClr val="tx1"/>
              </a:solidFill>
            </a:endParaRPr>
          </a:p>
        </p:txBody>
      </p:sp>
    </p:spTree>
    <p:extLst>
      <p:ext uri="{BB962C8B-B14F-4D97-AF65-F5344CB8AC3E}">
        <p14:creationId xmlns:p14="http://schemas.microsoft.com/office/powerpoint/2010/main" val="4026800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www.facbio.com/content/images/stories/bio/Membrane/FBM_GlucIntestin.jpg"/>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809897" y="209006"/>
            <a:ext cx="10424160" cy="6335485"/>
          </a:xfrm>
          <a:prstGeom prst="rect">
            <a:avLst/>
          </a:prstGeom>
          <a:noFill/>
          <a:ln>
            <a:noFill/>
          </a:ln>
        </p:spPr>
      </p:pic>
    </p:spTree>
    <p:extLst>
      <p:ext uri="{BB962C8B-B14F-4D97-AF65-F5344CB8AC3E}">
        <p14:creationId xmlns:p14="http://schemas.microsoft.com/office/powerpoint/2010/main" val="14934804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articules LDL Se Liant Aux Récepteurs LDL Sur La Membrane Cellulaire. La  Liaison Des Particules LDL Aux Récepteurs LDL Intervient Dans L'endocytose  Des Particules Par Le Biais De Vésicules Enrobées De Clathr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382500" cy="92868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40526" y="174562"/>
            <a:ext cx="9980023" cy="707886"/>
          </a:xfrm>
          <a:prstGeom prst="rect">
            <a:avLst/>
          </a:prstGeom>
          <a:solidFill>
            <a:schemeClr val="bg1"/>
          </a:solidFill>
        </p:spPr>
        <p:txBody>
          <a:bodyPr wrap="square">
            <a:spAutoFit/>
          </a:bodyPr>
          <a:lstStyle/>
          <a:p>
            <a:pPr algn="ctr">
              <a:spcBef>
                <a:spcPts val="1200"/>
              </a:spcBef>
            </a:pPr>
            <a:r>
              <a:rPr lang="fr-FR" sz="4000" dirty="0">
                <a:latin typeface="Times New Roman" panose="02020603050405020304" pitchFamily="18" charset="0"/>
              </a:rPr>
              <a:t>II. </a:t>
            </a:r>
            <a:r>
              <a:rPr lang="fr-FR" sz="4000" dirty="0" smtClean="0">
                <a:latin typeface="Times New Roman" panose="02020603050405020304" pitchFamily="18" charset="0"/>
              </a:rPr>
              <a:t>   </a:t>
            </a:r>
            <a:r>
              <a:rPr lang="fr-FR" sz="4000" b="1" dirty="0" smtClean="0">
                <a:latin typeface="Times New Roman" panose="02020603050405020304" pitchFamily="18" charset="0"/>
              </a:rPr>
              <a:t>LE </a:t>
            </a:r>
            <a:r>
              <a:rPr lang="fr-FR" sz="4000" b="1" dirty="0">
                <a:latin typeface="Times New Roman" panose="02020603050405020304" pitchFamily="18" charset="0"/>
              </a:rPr>
              <a:t>TRANSPOR CYTOTIQUE </a:t>
            </a:r>
            <a:endParaRPr lang="fr-FR" sz="4000" dirty="0">
              <a:effectLst/>
            </a:endParaRPr>
          </a:p>
        </p:txBody>
      </p:sp>
      <p:sp>
        <p:nvSpPr>
          <p:cNvPr id="5" name="Rectangle 4"/>
          <p:cNvSpPr/>
          <p:nvPr/>
        </p:nvSpPr>
        <p:spPr>
          <a:xfrm>
            <a:off x="444137" y="1521970"/>
            <a:ext cx="5381897"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1. ENDOCYTOSE</a:t>
            </a:r>
            <a:endParaRPr lang="fr-FR" sz="4000" b="1" dirty="0">
              <a:solidFill>
                <a:schemeClr val="tx1"/>
              </a:solidFill>
            </a:endParaRPr>
          </a:p>
        </p:txBody>
      </p:sp>
      <p:sp>
        <p:nvSpPr>
          <p:cNvPr id="7" name="Rectangle 6"/>
          <p:cNvSpPr/>
          <p:nvPr/>
        </p:nvSpPr>
        <p:spPr>
          <a:xfrm>
            <a:off x="300446" y="5061449"/>
            <a:ext cx="5381897"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2. EXOCYTOSE</a:t>
            </a:r>
            <a:endParaRPr lang="fr-FR" sz="4000" b="1" dirty="0">
              <a:solidFill>
                <a:schemeClr val="tx1"/>
              </a:solidFill>
            </a:endParaRPr>
          </a:p>
        </p:txBody>
      </p:sp>
      <p:sp>
        <p:nvSpPr>
          <p:cNvPr id="8" name="Rectangle 7"/>
          <p:cNvSpPr/>
          <p:nvPr/>
        </p:nvSpPr>
        <p:spPr>
          <a:xfrm>
            <a:off x="6531427" y="1166814"/>
            <a:ext cx="4389121"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A</a:t>
            </a:r>
            <a:r>
              <a:rPr lang="fr-FR" sz="4000" b="1" dirty="0" smtClean="0">
                <a:solidFill>
                  <a:schemeClr val="tx1"/>
                </a:solidFill>
              </a:rPr>
              <a:t>. Pinocytose</a:t>
            </a:r>
            <a:endParaRPr lang="fr-FR" sz="4000" b="1" dirty="0">
              <a:solidFill>
                <a:schemeClr val="tx1"/>
              </a:solidFill>
            </a:endParaRPr>
          </a:p>
        </p:txBody>
      </p:sp>
      <p:sp>
        <p:nvSpPr>
          <p:cNvPr id="9" name="Rectangle 8"/>
          <p:cNvSpPr/>
          <p:nvPr/>
        </p:nvSpPr>
        <p:spPr>
          <a:xfrm>
            <a:off x="6485706" y="2223997"/>
            <a:ext cx="5381897" cy="11330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B</a:t>
            </a:r>
            <a:r>
              <a:rPr lang="fr-FR" sz="4000" b="1" dirty="0" smtClean="0">
                <a:solidFill>
                  <a:schemeClr val="tx1"/>
                </a:solidFill>
              </a:rPr>
              <a:t>. Endocytose par des récepteurs</a:t>
            </a:r>
            <a:endParaRPr lang="fr-FR" sz="4000" b="1" dirty="0">
              <a:solidFill>
                <a:schemeClr val="tx1"/>
              </a:solidFill>
            </a:endParaRPr>
          </a:p>
        </p:txBody>
      </p:sp>
      <p:sp>
        <p:nvSpPr>
          <p:cNvPr id="10" name="Rectangle 9"/>
          <p:cNvSpPr/>
          <p:nvPr/>
        </p:nvSpPr>
        <p:spPr>
          <a:xfrm>
            <a:off x="6394264" y="4778157"/>
            <a:ext cx="5473339"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A</a:t>
            </a:r>
            <a:r>
              <a:rPr lang="fr-FR" sz="4000" b="1" dirty="0" smtClean="0">
                <a:solidFill>
                  <a:schemeClr val="tx1"/>
                </a:solidFill>
              </a:rPr>
              <a:t>. Exocytose constitutive</a:t>
            </a:r>
            <a:endParaRPr lang="fr-FR" sz="4000" b="1" dirty="0">
              <a:solidFill>
                <a:schemeClr val="tx1"/>
              </a:solidFill>
            </a:endParaRPr>
          </a:p>
        </p:txBody>
      </p:sp>
      <p:sp>
        <p:nvSpPr>
          <p:cNvPr id="11" name="Rectangle 10"/>
          <p:cNvSpPr/>
          <p:nvPr/>
        </p:nvSpPr>
        <p:spPr>
          <a:xfrm>
            <a:off x="6439984" y="5884180"/>
            <a:ext cx="5473339"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B</a:t>
            </a:r>
            <a:r>
              <a:rPr lang="fr-FR" sz="4000" b="1" dirty="0" smtClean="0">
                <a:solidFill>
                  <a:schemeClr val="tx1"/>
                </a:solidFill>
              </a:rPr>
              <a:t>. Exocytose contrôlée</a:t>
            </a:r>
            <a:endParaRPr lang="fr-FR" sz="4000" b="1" dirty="0">
              <a:solidFill>
                <a:schemeClr val="tx1"/>
              </a:solidFill>
            </a:endParaRPr>
          </a:p>
        </p:txBody>
      </p:sp>
      <p:cxnSp>
        <p:nvCxnSpPr>
          <p:cNvPr id="12" name="Straight Arrow Connector 11"/>
          <p:cNvCxnSpPr/>
          <p:nvPr/>
        </p:nvCxnSpPr>
        <p:spPr>
          <a:xfrm flipV="1">
            <a:off x="5826034" y="1797748"/>
            <a:ext cx="705393" cy="17177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826033" y="2325409"/>
            <a:ext cx="613953" cy="44381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708467" y="5806142"/>
            <a:ext cx="705394" cy="7311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5675809" y="5260914"/>
            <a:ext cx="738052" cy="17963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6570611" y="3462333"/>
            <a:ext cx="4389121"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C. Phagocytose</a:t>
            </a:r>
            <a:endParaRPr lang="fr-FR" sz="4000" b="1" dirty="0">
              <a:solidFill>
                <a:schemeClr val="tx1"/>
              </a:solidFill>
            </a:endParaRPr>
          </a:p>
        </p:txBody>
      </p:sp>
    </p:spTree>
    <p:extLst>
      <p:ext uri="{BB962C8B-B14F-4D97-AF65-F5344CB8AC3E}">
        <p14:creationId xmlns:p14="http://schemas.microsoft.com/office/powerpoint/2010/main" val="3584969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inocytose. Boire des cellules. Dans le : illustration de stock 1450814204  | Shutter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669" y="0"/>
            <a:ext cx="9644743" cy="590441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312919" y="261256"/>
            <a:ext cx="5340531" cy="77070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A.  PINOCYTOSE</a:t>
            </a:r>
            <a:endParaRPr lang="fr-FR" sz="44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457201" y="5303243"/>
            <a:ext cx="11534502" cy="1462516"/>
          </a:xfrm>
          <a:prstGeom prst="rect">
            <a:avLst/>
          </a:prstGeom>
          <a:solidFill>
            <a:schemeClr val="accent2">
              <a:lumMod val="20000"/>
              <a:lumOff val="80000"/>
            </a:schemeClr>
          </a:solidFill>
        </p:spPr>
        <p:txBody>
          <a:bodyPr wrap="square">
            <a:spAutoFit/>
          </a:bodyPr>
          <a:lstStyle/>
          <a:p>
            <a:pPr algn="ctr">
              <a:lnSpc>
                <a:spcPct val="106000"/>
              </a:lnSpc>
              <a:spcAft>
                <a:spcPts val="800"/>
              </a:spcAft>
            </a:pPr>
            <a:r>
              <a:rPr lang="fr-FR" sz="2800" b="1" dirty="0" smtClean="0">
                <a:solidFill>
                  <a:srgbClr val="000000"/>
                </a:solidFill>
                <a:latin typeface="Times New Roman" panose="02020603050405020304" pitchFamily="18" charset="0"/>
                <a:ea typeface="Calibri" panose="020F0502020204030204" pitchFamily="34" charset="0"/>
                <a:cs typeface="Arial" panose="020B0604020202020204" pitchFamily="34" charset="0"/>
              </a:rPr>
              <a:t>Phénomène </a:t>
            </a:r>
            <a:r>
              <a:rPr lang="fr-FR" sz="2800" b="1" dirty="0">
                <a:solidFill>
                  <a:srgbClr val="000000"/>
                </a:solidFill>
                <a:latin typeface="Times New Roman" panose="02020603050405020304" pitchFamily="18" charset="0"/>
                <a:ea typeface="Calibri" panose="020F0502020204030204" pitchFamily="34" charset="0"/>
                <a:cs typeface="Arial" panose="020B0604020202020204" pitchFamily="34" charset="0"/>
              </a:rPr>
              <a:t>de pinocytose ; la membrane s’invagine en ingérant un faible volume du milieu liquidien extracellulaire avec des particules de petites taille.  </a:t>
            </a:r>
            <a:endParaRPr lang="fr-FR" sz="2800" b="1"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777514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2881" y="261256"/>
            <a:ext cx="12009120" cy="836023"/>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B.  ENDOCYTOSE PAR DES RECEPTEURS</a:t>
            </a:r>
            <a:endParaRPr lang="fr-FR" sz="4400" b="1"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82881" y="1219592"/>
            <a:ext cx="11640807" cy="5453599"/>
          </a:xfrm>
          <a:prstGeom prst="rect">
            <a:avLst/>
          </a:prstGeom>
        </p:spPr>
      </p:pic>
      <p:sp>
        <p:nvSpPr>
          <p:cNvPr id="8" name="Rectangle 7"/>
          <p:cNvSpPr/>
          <p:nvPr/>
        </p:nvSpPr>
        <p:spPr>
          <a:xfrm>
            <a:off x="182881" y="1219592"/>
            <a:ext cx="9416360" cy="584775"/>
          </a:xfrm>
          <a:prstGeom prst="rect">
            <a:avLst/>
          </a:prstGeom>
          <a:solidFill>
            <a:schemeClr val="accent2">
              <a:lumMod val="20000"/>
              <a:lumOff val="80000"/>
            </a:schemeClr>
          </a:solidFill>
        </p:spPr>
        <p:txBody>
          <a:bodyPr wrap="none">
            <a:spAutoFit/>
          </a:bodyPr>
          <a:lstStyle/>
          <a:p>
            <a:r>
              <a:rPr lang="fr-FR" sz="3200" b="1" i="1" u="sng" dirty="0">
                <a:latin typeface="Times New Roman" panose="02020603050405020304" pitchFamily="18" charset="0"/>
                <a:ea typeface="Calibri" panose="020F0502020204030204" pitchFamily="34" charset="0"/>
              </a:rPr>
              <a:t>Endocytose par des vésicules recouvertes de Clathrine</a:t>
            </a:r>
            <a:r>
              <a:rPr lang="fr-FR" sz="3200" b="1" i="1" dirty="0">
                <a:latin typeface="Times New Roman" panose="02020603050405020304" pitchFamily="18" charset="0"/>
                <a:ea typeface="Calibri" panose="020F0502020204030204" pitchFamily="34" charset="0"/>
              </a:rPr>
              <a:t> </a:t>
            </a:r>
            <a:endParaRPr lang="fr-FR" sz="3200" dirty="0"/>
          </a:p>
        </p:txBody>
      </p:sp>
    </p:spTree>
    <p:extLst>
      <p:ext uri="{BB962C8B-B14F-4D97-AF65-F5344CB8AC3E}">
        <p14:creationId xmlns:p14="http://schemas.microsoft.com/office/powerpoint/2010/main" val="13062357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1394" t="2903" r="729" b="2289"/>
          <a:stretch/>
        </p:blipFill>
        <p:spPr>
          <a:xfrm>
            <a:off x="450377" y="491319"/>
            <a:ext cx="10522424" cy="3780430"/>
          </a:xfrm>
          <a:prstGeom prst="rect">
            <a:avLst/>
          </a:prstGeom>
        </p:spPr>
      </p:pic>
      <p:sp>
        <p:nvSpPr>
          <p:cNvPr id="8" name="Rectangle 7"/>
          <p:cNvSpPr/>
          <p:nvPr/>
        </p:nvSpPr>
        <p:spPr>
          <a:xfrm>
            <a:off x="579121" y="4761973"/>
            <a:ext cx="10798628" cy="1889620"/>
          </a:xfrm>
          <a:prstGeom prst="rect">
            <a:avLst/>
          </a:prstGeom>
        </p:spPr>
        <p:txBody>
          <a:bodyPr wrap="square">
            <a:spAutoFit/>
          </a:bodyPr>
          <a:lstStyle/>
          <a:p>
            <a:pPr marL="342900" lvl="0" indent="-342900" algn="just">
              <a:lnSpc>
                <a:spcPct val="150000"/>
              </a:lnSpc>
              <a:buFont typeface="+mj-lt"/>
              <a:buAutoNum type="arabicParenBoth"/>
            </a:pPr>
            <a:r>
              <a:rPr lang="fr-FR" sz="2000" b="1" dirty="0">
                <a:latin typeface="Times New Roman" panose="02020603050405020304" pitchFamily="18" charset="0"/>
              </a:rPr>
              <a:t>Structure tripartite d’une molécule de clathrine, formée de trois chaînes lourdes et de trois chaînes légères (</a:t>
            </a:r>
            <a:r>
              <a:rPr lang="fr-FR" sz="2000" b="1" dirty="0" err="1">
                <a:latin typeface="Times New Roman" panose="02020603050405020304" pitchFamily="18" charset="0"/>
              </a:rPr>
              <a:t>triskélion</a:t>
            </a:r>
            <a:r>
              <a:rPr lang="fr-FR" sz="2000" b="1" dirty="0">
                <a:latin typeface="Times New Roman" panose="02020603050405020304" pitchFamily="18" charset="0"/>
              </a:rPr>
              <a:t>). (2) Agencement des </a:t>
            </a:r>
            <a:r>
              <a:rPr lang="fr-FR" sz="2000" b="1" dirty="0" err="1">
                <a:latin typeface="Times New Roman" panose="02020603050405020304" pitchFamily="18" charset="0"/>
              </a:rPr>
              <a:t>triskélions</a:t>
            </a:r>
            <a:r>
              <a:rPr lang="fr-FR" sz="2000" b="1" dirty="0">
                <a:latin typeface="Times New Roman" panose="02020603050405020304" pitchFamily="18" charset="0"/>
              </a:rPr>
              <a:t> de clathrine pour former un réseau hexagonal plan. (3) Organisation d’une cage sphérique formée d’hexagones et de pentagones, comme celles qui englobent les vésicules d’endocytose</a:t>
            </a:r>
            <a:endParaRPr lang="fr-FR" sz="2000" b="1" dirty="0">
              <a:effectLst/>
            </a:endParaRPr>
          </a:p>
        </p:txBody>
      </p:sp>
    </p:spTree>
    <p:extLst>
      <p:ext uri="{BB962C8B-B14F-4D97-AF65-F5344CB8AC3E}">
        <p14:creationId xmlns:p14="http://schemas.microsoft.com/office/powerpoint/2010/main" val="2966397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811486" y="287382"/>
            <a:ext cx="6853645" cy="6466115"/>
          </a:xfrm>
          <a:prstGeom prst="rect">
            <a:avLst/>
          </a:prstGeom>
          <a:ln>
            <a:solidFill>
              <a:schemeClr val="tx1"/>
            </a:solidFill>
          </a:ln>
        </p:spPr>
      </p:pic>
      <p:pic>
        <p:nvPicPr>
          <p:cNvPr id="5" name="Picture 4"/>
          <p:cNvPicPr>
            <a:picLocks noChangeAspect="1"/>
          </p:cNvPicPr>
          <p:nvPr/>
        </p:nvPicPr>
        <p:blipFill>
          <a:blip r:embed="rId3"/>
          <a:stretch>
            <a:fillRect/>
          </a:stretch>
        </p:blipFill>
        <p:spPr>
          <a:xfrm>
            <a:off x="20953" y="2364378"/>
            <a:ext cx="4590235" cy="4493622"/>
          </a:xfrm>
          <a:prstGeom prst="rect">
            <a:avLst/>
          </a:prstGeom>
          <a:ln>
            <a:solidFill>
              <a:schemeClr val="tx1"/>
            </a:solidFill>
          </a:ln>
        </p:spPr>
      </p:pic>
      <p:sp>
        <p:nvSpPr>
          <p:cNvPr id="6" name="Rectangle 5"/>
          <p:cNvSpPr/>
          <p:nvPr/>
        </p:nvSpPr>
        <p:spPr>
          <a:xfrm>
            <a:off x="20953" y="1815738"/>
            <a:ext cx="1894114" cy="5486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Molécule de LDL</a:t>
            </a:r>
            <a:endParaRPr lang="fr-FR" b="1" dirty="0">
              <a:solidFill>
                <a:schemeClr val="tx1"/>
              </a:solidFill>
            </a:endParaRPr>
          </a:p>
        </p:txBody>
      </p:sp>
      <p:sp>
        <p:nvSpPr>
          <p:cNvPr id="7" name="Rectangle 6"/>
          <p:cNvSpPr/>
          <p:nvPr/>
        </p:nvSpPr>
        <p:spPr>
          <a:xfrm>
            <a:off x="246560" y="153910"/>
            <a:ext cx="4364628" cy="1569660"/>
          </a:xfrm>
          <a:prstGeom prst="rect">
            <a:avLst/>
          </a:prstGeom>
          <a:solidFill>
            <a:schemeClr val="accent2">
              <a:lumMod val="20000"/>
              <a:lumOff val="80000"/>
            </a:schemeClr>
          </a:solidFill>
        </p:spPr>
        <p:txBody>
          <a:bodyPr wrap="square">
            <a:spAutoFit/>
          </a:bodyPr>
          <a:lstStyle/>
          <a:p>
            <a:r>
              <a:rPr lang="fr-FR" sz="2400" b="1" dirty="0">
                <a:latin typeface="Times New Roman" panose="02020603050405020304" pitchFamily="18" charset="0"/>
                <a:ea typeface="Calibri" panose="020F0502020204030204" pitchFamily="34" charset="0"/>
              </a:rPr>
              <a:t>Exemple d’endocytose par des récepteurs interposés : Endocytose des molécules de LDL</a:t>
            </a:r>
            <a:endParaRPr lang="fr-FR" sz="2400" dirty="0"/>
          </a:p>
        </p:txBody>
      </p:sp>
    </p:spTree>
    <p:extLst>
      <p:ext uri="{BB962C8B-B14F-4D97-AF65-F5344CB8AC3E}">
        <p14:creationId xmlns:p14="http://schemas.microsoft.com/office/powerpoint/2010/main" val="1280752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artie 2 – Le maintien de l'intégrité de l'organisme – SVT lycée Victor  Louis"/>
          <p:cNvPicPr/>
          <p:nvPr/>
        </p:nvPicPr>
        <p:blipFill>
          <a:blip r:embed="rId2">
            <a:extLst>
              <a:ext uri="{28A0092B-C50C-407E-A947-70E740481C1C}">
                <a14:useLocalDpi xmlns:a14="http://schemas.microsoft.com/office/drawing/2010/main" val="0"/>
              </a:ext>
            </a:extLst>
          </a:blip>
          <a:srcRect/>
          <a:stretch>
            <a:fillRect/>
          </a:stretch>
        </p:blipFill>
        <p:spPr bwMode="auto">
          <a:xfrm>
            <a:off x="574766" y="1340121"/>
            <a:ext cx="10881359" cy="4786359"/>
          </a:xfrm>
          <a:prstGeom prst="rect">
            <a:avLst/>
          </a:prstGeom>
          <a:noFill/>
          <a:ln>
            <a:noFill/>
          </a:ln>
        </p:spPr>
      </p:pic>
      <p:sp>
        <p:nvSpPr>
          <p:cNvPr id="5" name="Rectangle 4"/>
          <p:cNvSpPr/>
          <p:nvPr/>
        </p:nvSpPr>
        <p:spPr>
          <a:xfrm>
            <a:off x="2627810" y="274319"/>
            <a:ext cx="6215744" cy="77070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C.  PHAGOCYTOSE</a:t>
            </a:r>
            <a:endParaRPr lang="fr-FR" sz="4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4689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27810" y="274319"/>
            <a:ext cx="6215744" cy="77070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2. EXOCYTOSE</a:t>
            </a:r>
            <a:endParaRPr lang="fr-FR" sz="4400" b="1"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3866606" y="1371600"/>
            <a:ext cx="8085909" cy="4519748"/>
          </a:xfrm>
          <a:prstGeom prst="rect">
            <a:avLst/>
          </a:prstGeom>
        </p:spPr>
      </p:pic>
      <p:sp>
        <p:nvSpPr>
          <p:cNvPr id="7" name="Rectangle 6"/>
          <p:cNvSpPr/>
          <p:nvPr/>
        </p:nvSpPr>
        <p:spPr>
          <a:xfrm>
            <a:off x="200297" y="1058091"/>
            <a:ext cx="4110446" cy="5632311"/>
          </a:xfrm>
          <a:prstGeom prst="rect">
            <a:avLst/>
          </a:prstGeom>
          <a:solidFill>
            <a:schemeClr val="accent2">
              <a:lumMod val="20000"/>
              <a:lumOff val="80000"/>
            </a:schemeClr>
          </a:solidFill>
        </p:spPr>
        <p:txBody>
          <a:bodyPr wrap="square">
            <a:spAutoFit/>
          </a:bodyPr>
          <a:lstStyle/>
          <a:p>
            <a:pPr algn="ctr"/>
            <a:r>
              <a:rPr lang="fr-FR" sz="3600" b="1" dirty="0">
                <a:latin typeface="Times New Roman" panose="02020603050405020304" pitchFamily="18" charset="0"/>
                <a:ea typeface="Calibri" panose="020F0502020204030204" pitchFamily="34" charset="0"/>
              </a:rPr>
              <a:t>C’est le phénomène inverse de l’endocytose, où la cellule exporte des molécules enfermées dans des vésicules de sécrétion. On distingue deux types d’exocytose </a:t>
            </a:r>
            <a:endParaRPr lang="fr-FR" sz="3600" b="1" dirty="0"/>
          </a:p>
        </p:txBody>
      </p:sp>
    </p:spTree>
    <p:extLst>
      <p:ext uri="{BB962C8B-B14F-4D97-AF65-F5344CB8AC3E}">
        <p14:creationId xmlns:p14="http://schemas.microsoft.com/office/powerpoint/2010/main" val="2096410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Exocytose : définition et exp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7" name="Picture 6"/>
          <p:cNvPicPr>
            <a:picLocks noChangeAspect="1"/>
          </p:cNvPicPr>
          <p:nvPr/>
        </p:nvPicPr>
        <p:blipFill>
          <a:blip r:embed="rId2"/>
          <a:stretch>
            <a:fillRect/>
          </a:stretch>
        </p:blipFill>
        <p:spPr>
          <a:xfrm>
            <a:off x="1214847" y="875211"/>
            <a:ext cx="9261564" cy="5212080"/>
          </a:xfrm>
          <a:prstGeom prst="rect">
            <a:avLst/>
          </a:prstGeom>
        </p:spPr>
      </p:pic>
      <p:sp>
        <p:nvSpPr>
          <p:cNvPr id="8" name="Rectangle 7"/>
          <p:cNvSpPr/>
          <p:nvPr/>
        </p:nvSpPr>
        <p:spPr>
          <a:xfrm>
            <a:off x="8033657" y="1632857"/>
            <a:ext cx="1698172" cy="69233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Exocytose constitutive</a:t>
            </a:r>
            <a:endParaRPr lang="fr-FR" b="1" dirty="0">
              <a:solidFill>
                <a:schemeClr val="tx1"/>
              </a:solidFill>
            </a:endParaRPr>
          </a:p>
        </p:txBody>
      </p:sp>
      <p:sp>
        <p:nvSpPr>
          <p:cNvPr id="10" name="Rectangle 9"/>
          <p:cNvSpPr/>
          <p:nvPr/>
        </p:nvSpPr>
        <p:spPr>
          <a:xfrm>
            <a:off x="8033657" y="4554583"/>
            <a:ext cx="1698172" cy="69233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Exocytose </a:t>
            </a:r>
            <a:r>
              <a:rPr lang="fr-FR" b="1" dirty="0" err="1" smtClean="0">
                <a:solidFill>
                  <a:schemeClr val="tx1"/>
                </a:solidFill>
              </a:rPr>
              <a:t>controlée</a:t>
            </a:r>
            <a:endParaRPr lang="fr-FR" b="1" dirty="0">
              <a:solidFill>
                <a:schemeClr val="tx1"/>
              </a:solidFill>
            </a:endParaRPr>
          </a:p>
        </p:txBody>
      </p:sp>
    </p:spTree>
    <p:extLst>
      <p:ext uri="{BB962C8B-B14F-4D97-AF65-F5344CB8AC3E}">
        <p14:creationId xmlns:p14="http://schemas.microsoft.com/office/powerpoint/2010/main" val="92332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4549</TotalTime>
  <Words>1027</Words>
  <Application>Microsoft Office PowerPoint</Application>
  <PresentationFormat>Grand écran</PresentationFormat>
  <Paragraphs>244</Paragraphs>
  <Slides>40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40</vt:i4>
      </vt:variant>
    </vt:vector>
  </HeadingPairs>
  <TitlesOfParts>
    <vt:vector size="46" baseType="lpstr">
      <vt:lpstr>Arial</vt:lpstr>
      <vt:lpstr>Calibri</vt:lpstr>
      <vt:lpstr>Calibri Light</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Amel</cp:lastModifiedBy>
  <cp:revision>208</cp:revision>
  <dcterms:created xsi:type="dcterms:W3CDTF">2025-02-05T10:05:01Z</dcterms:created>
  <dcterms:modified xsi:type="dcterms:W3CDTF">2025-03-09T16:36:05Z</dcterms:modified>
</cp:coreProperties>
</file>