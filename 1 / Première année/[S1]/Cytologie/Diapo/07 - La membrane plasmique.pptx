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94" r:id="rId3"/>
    <p:sldId id="362" r:id="rId4"/>
    <p:sldId id="293" r:id="rId5"/>
    <p:sldId id="372" r:id="rId6"/>
    <p:sldId id="295" r:id="rId7"/>
    <p:sldId id="382" r:id="rId8"/>
    <p:sldId id="363" r:id="rId9"/>
    <p:sldId id="364" r:id="rId10"/>
    <p:sldId id="379" r:id="rId11"/>
    <p:sldId id="365" r:id="rId12"/>
    <p:sldId id="380" r:id="rId13"/>
    <p:sldId id="373" r:id="rId14"/>
    <p:sldId id="374" r:id="rId15"/>
    <p:sldId id="339" r:id="rId16"/>
    <p:sldId id="340" r:id="rId17"/>
    <p:sldId id="342" r:id="rId18"/>
    <p:sldId id="297" r:id="rId19"/>
    <p:sldId id="299" r:id="rId20"/>
    <p:sldId id="301" r:id="rId21"/>
    <p:sldId id="302" r:id="rId22"/>
    <p:sldId id="377" r:id="rId23"/>
    <p:sldId id="307" r:id="rId24"/>
    <p:sldId id="308" r:id="rId25"/>
    <p:sldId id="309" r:id="rId26"/>
    <p:sldId id="310" r:id="rId27"/>
    <p:sldId id="311" r:id="rId28"/>
    <p:sldId id="312" r:id="rId29"/>
    <p:sldId id="313" r:id="rId30"/>
    <p:sldId id="314" r:id="rId31"/>
    <p:sldId id="321" r:id="rId32"/>
    <p:sldId id="322" r:id="rId33"/>
    <p:sldId id="328" r:id="rId34"/>
    <p:sldId id="381" r:id="rId35"/>
    <p:sldId id="370" r:id="rId36"/>
    <p:sldId id="371" r:id="rId37"/>
    <p:sldId id="275" r:id="rId38"/>
    <p:sldId id="284" r:id="rId3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el biol" initials="ab" lastIdx="1" clrIdx="0">
    <p:extLst>
      <p:ext uri="{19B8F6BF-5375-455C-9EA6-DF929625EA0E}">
        <p15:presenceInfo xmlns:p15="http://schemas.microsoft.com/office/powerpoint/2012/main" userId="efc1e525ee1c169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BE1A5C-C105-4681-832F-02B965E09A50}" type="datetimeFigureOut">
              <a:rPr lang="fr-FR" smtClean="0"/>
              <a:pPr/>
              <a:t>19/02/2025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B788BC-687C-4019-BCDE-6E90BBC4308B}" type="slidenum">
              <a:rPr lang="fr-FR" smtClean="0"/>
              <a:pPr/>
              <a:t>‹N°›</a:t>
            </a:fld>
            <a:endParaRPr lang="fr-FR"/>
          </a:p>
        </p:txBody>
      </p:sp>
    </p:spTree>
    <p:extLst>
      <p:ext uri="{BB962C8B-B14F-4D97-AF65-F5344CB8AC3E}">
        <p14:creationId xmlns:p14="http://schemas.microsoft.com/office/powerpoint/2010/main" val="191593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8245D9E9-0C04-4E05-A809-8026AC4F0CBF}" type="slidenum">
              <a:rPr lang="fr-FR" smtClean="0"/>
              <a:pPr/>
              <a:t>6</a:t>
            </a:fld>
            <a:endParaRPr lang="fr-FR"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3508891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F793DCD-3A83-4B55-A915-9B49EBC0678B}" type="slidenum">
              <a:rPr lang="fr-FR" smtClean="0"/>
              <a:pPr/>
              <a:t>22</a:t>
            </a:fld>
            <a:endParaRPr lang="fr-FR"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2100838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8B0D2E2-32D3-4629-BAB1-C8CD02A5F2CF}" type="slidenum">
              <a:rPr lang="fr-FR" smtClean="0"/>
              <a:pPr/>
              <a:t>24</a:t>
            </a:fld>
            <a:endParaRPr lang="fr-FR"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1810097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FD6DB8B0-69BD-42BE-B97E-2CEA3071BCF1}" type="slidenum">
              <a:rPr lang="fr-FR" smtClean="0"/>
              <a:pPr/>
              <a:t>25</a:t>
            </a:fld>
            <a:endParaRPr lang="fr-FR"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376321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957868B3-787A-4739-93F7-A6FEB01F6F97}" type="slidenum">
              <a:rPr lang="fr-FR" smtClean="0"/>
              <a:pPr/>
              <a:t>26</a:t>
            </a:fld>
            <a:endParaRPr lang="fr-FR"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1679241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6AD7E7D8-DB66-4761-8666-10D61B156628}" type="slidenum">
              <a:rPr lang="fr-FR" smtClean="0"/>
              <a:pPr/>
              <a:t>27</a:t>
            </a:fld>
            <a:endParaRPr lang="fr-FR"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1325867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4AA9B0C0-226E-4604-A878-6E293A8FA7FF}" type="slidenum">
              <a:rPr lang="fr-FR" smtClean="0"/>
              <a:pPr/>
              <a:t>28</a:t>
            </a:fld>
            <a:endParaRPr lang="fr-FR"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3154754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6ABA6EA8-C077-496F-8688-D39428442296}" type="slidenum">
              <a:rPr lang="fr-FR" smtClean="0"/>
              <a:pPr/>
              <a:t>29</a:t>
            </a:fld>
            <a:endParaRPr lang="fr-FR"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1095182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2DCAF88F-DD49-440C-848C-038627E00A80}" type="slidenum">
              <a:rPr lang="fr-FR" smtClean="0"/>
              <a:pPr/>
              <a:t>30</a:t>
            </a:fld>
            <a:endParaRPr lang="fr-FR"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fr-FR" smtClean="0"/>
          </a:p>
        </p:txBody>
      </p:sp>
    </p:spTree>
    <p:extLst>
      <p:ext uri="{BB962C8B-B14F-4D97-AF65-F5344CB8AC3E}">
        <p14:creationId xmlns:p14="http://schemas.microsoft.com/office/powerpoint/2010/main" val="111720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19/02/2025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78_1_">
    <p:bg>
      <p:bgPr>
        <a:solidFill>
          <a:schemeClr val="bg1">
            <a:alpha val="0"/>
          </a:schemeClr>
        </a:solidFill>
        <a:effectLst/>
      </p:bgPr>
    </p:bg>
    <p:spTree>
      <p:nvGrpSpPr>
        <p:cNvPr id="1" name=""/>
        <p:cNvGrpSpPr/>
        <p:nvPr/>
      </p:nvGrpSpPr>
      <p:grpSpPr>
        <a:xfrm>
          <a:off x="0" y="0"/>
          <a:ext cx="0" cy="0"/>
          <a:chOff x="0" y="0"/>
          <a:chExt cx="0" cy="0"/>
        </a:xfrm>
      </p:grpSpPr>
      <p:sp>
        <p:nvSpPr>
          <p:cNvPr id="437" name="Espace réservé du texte 436"/>
          <p:cNvSpPr>
            <a:spLocks noGrp="1"/>
          </p:cNvSpPr>
          <p:nvPr>
            <p:ph type="body" idx="10"/>
          </p:nvPr>
        </p:nvSpPr>
        <p:spPr>
          <a:xfrm>
            <a:off x="1014160" y="5953009"/>
            <a:ext cx="7089348" cy="306464"/>
          </a:xfrm>
          <a:prstGeom prst="rect">
            <a:avLst/>
          </a:prstGeom>
          <a:noFill/>
          <a:ln w="28575" cmpd="sng">
            <a:solidFill>
              <a:srgbClr val="807E4C"/>
            </a:solidFill>
            <a:prstDash val="solid"/>
          </a:ln>
        </p:spPr>
        <p:txBody>
          <a:bodyPr lIns="0" tIns="0" rIns="0" bIns="0"/>
          <a:lstStyle>
            <a:lvl1pPr marL="0" marR="0" indent="0" algn="r">
              <a:lnSpc>
                <a:spcPts val="1928"/>
              </a:lnSpc>
              <a:spcAft>
                <a:spcPts val="0"/>
              </a:spcAft>
              <a:defRPr/>
            </a:lvl1pPr>
          </a:lstStyle>
          <a:p>
            <a:r>
              <a:rPr lang="fr-FR" dirty="0"/>
              <a:t>Expérience démontrant la mobilité des protéines membranaire</a:t>
            </a:r>
          </a:p>
        </p:txBody>
      </p:sp>
      <p:sp>
        <p:nvSpPr>
          <p:cNvPr id="438" name="Espace réservé du texte 437"/>
          <p:cNvSpPr>
            <a:spLocks noGrp="1"/>
          </p:cNvSpPr>
          <p:nvPr>
            <p:ph type="body" idx="10"/>
          </p:nvPr>
        </p:nvSpPr>
        <p:spPr>
          <a:xfrm>
            <a:off x="1019047" y="573180"/>
            <a:ext cx="7072518" cy="1605481"/>
          </a:xfrm>
          <a:prstGeom prst="rect">
            <a:avLst/>
          </a:prstGeom>
          <a:noFill/>
          <a:ln w="0" cmpd="sng">
            <a:noFill/>
            <a:prstDash val="solid"/>
          </a:ln>
        </p:spPr>
        <p:txBody>
          <a:bodyPr lIns="0" tIns="0" rIns="0" bIns="0"/>
          <a:lstStyle>
            <a:lvl1pPr marL="0" marR="0" indent="0" algn="ctr">
              <a:lnSpc>
                <a:spcPct val="95999"/>
              </a:lnSpc>
              <a:spcAft>
                <a:spcPts val="7889"/>
              </a:spcAft>
              <a:defRPr/>
            </a:lvl1pPr>
          </a:lstStyle>
          <a:p>
            <a:r>
              <a:rPr lang="fr-FR" dirty="0"/>
              <a:t>Mobilité des protéines membranaires</a:t>
            </a:r>
          </a:p>
        </p:txBody>
      </p:sp>
      <p:sp>
        <p:nvSpPr>
          <p:cNvPr id="441" name="Espace réservé du texte 440"/>
          <p:cNvSpPr>
            <a:spLocks noGrp="1"/>
          </p:cNvSpPr>
          <p:nvPr>
            <p:ph type="body" idx="10"/>
          </p:nvPr>
        </p:nvSpPr>
        <p:spPr>
          <a:xfrm>
            <a:off x="2509341" y="2339382"/>
            <a:ext cx="1167804" cy="417644"/>
          </a:xfrm>
          <a:prstGeom prst="rect">
            <a:avLst/>
          </a:prstGeom>
          <a:solidFill>
            <a:srgbClr val="FFFFFF"/>
          </a:solidFill>
          <a:ln w="0" cmpd="sng">
            <a:noFill/>
            <a:prstDash val="solid"/>
          </a:ln>
        </p:spPr>
        <p:txBody>
          <a:bodyPr lIns="0" tIns="0" rIns="0" bIns="0"/>
          <a:lstStyle>
            <a:lvl1pPr marL="0" marR="0" indent="0" algn="ctr">
              <a:lnSpc>
                <a:spcPts val="1490"/>
              </a:lnSpc>
              <a:spcBef>
                <a:spcPts val="316"/>
              </a:spcBef>
              <a:spcAft>
                <a:spcPts val="0"/>
              </a:spcAft>
              <a:defRPr/>
            </a:lvl1pPr>
          </a:lstStyle>
          <a:p>
            <a:r>
              <a:rPr lang="fr-FR" dirty="0"/>
              <a:t>Protéines</a:t>
            </a:r>
          </a:p>
          <a:p>
            <a:r>
              <a:rPr lang="fr-FR" dirty="0"/>
              <a:t>membranaires</a:t>
            </a:r>
          </a:p>
        </p:txBody>
      </p:sp>
      <p:sp>
        <p:nvSpPr>
          <p:cNvPr id="442" name="Espace réservé du texte 441"/>
          <p:cNvSpPr>
            <a:spLocks noGrp="1"/>
          </p:cNvSpPr>
          <p:nvPr>
            <p:ph type="body" idx="10"/>
          </p:nvPr>
        </p:nvSpPr>
        <p:spPr>
          <a:xfrm>
            <a:off x="4294436" y="2178660"/>
            <a:ext cx="2647783" cy="309921"/>
          </a:xfrm>
          <a:prstGeom prst="rect">
            <a:avLst/>
          </a:prstGeom>
          <a:solidFill>
            <a:srgbClr val="FFFE00"/>
          </a:solidFill>
          <a:ln w="0" cmpd="sng">
            <a:noFill/>
            <a:prstDash val="solid"/>
          </a:ln>
        </p:spPr>
        <p:txBody>
          <a:bodyPr lIns="0" tIns="60110" rIns="0" bIns="0"/>
          <a:lstStyle>
            <a:lvl1pPr marL="80147" marR="0" indent="0" algn="l">
              <a:lnSpc>
                <a:spcPct val="81599"/>
              </a:lnSpc>
              <a:spcAft>
                <a:spcPts val="473"/>
              </a:spcAft>
              <a:defRPr/>
            </a:lvl1pPr>
          </a:lstStyle>
          <a:p>
            <a:r>
              <a:rPr lang="fr-FR" dirty="0"/>
              <a:t>40 min d'incubation à 37°C</a:t>
            </a:r>
          </a:p>
        </p:txBody>
      </p:sp>
      <p:sp>
        <p:nvSpPr>
          <p:cNvPr id="443" name="Espace réservé du texte 442"/>
          <p:cNvSpPr>
            <a:spLocks noGrp="1"/>
          </p:cNvSpPr>
          <p:nvPr>
            <p:ph type="body" idx="10"/>
          </p:nvPr>
        </p:nvSpPr>
        <p:spPr>
          <a:xfrm>
            <a:off x="6423738" y="4233468"/>
            <a:ext cx="1036962" cy="912480"/>
          </a:xfrm>
          <a:prstGeom prst="rect">
            <a:avLst/>
          </a:prstGeom>
          <a:solidFill>
            <a:srgbClr val="FFFFFF"/>
          </a:solidFill>
          <a:ln w="0" cmpd="sng">
            <a:noFill/>
            <a:prstDash val="solid"/>
          </a:ln>
        </p:spPr>
        <p:txBody>
          <a:bodyPr lIns="0" tIns="0" rIns="0" bIns="0"/>
          <a:lstStyle>
            <a:lvl1pPr marL="0" marR="0" indent="0" algn="ctr">
              <a:lnSpc>
                <a:spcPts val="1402"/>
              </a:lnSpc>
              <a:spcBef>
                <a:spcPts val="473"/>
              </a:spcBef>
              <a:spcAft>
                <a:spcPts val="0"/>
              </a:spcAft>
              <a:defRPr/>
            </a:lvl1pPr>
          </a:lstStyle>
          <a:p>
            <a:r>
              <a:rPr lang="fr-FR" dirty="0" err="1"/>
              <a:t>Proteines</a:t>
            </a:r>
            <a:endParaRPr lang="fr-FR" dirty="0"/>
          </a:p>
          <a:p>
            <a:r>
              <a:rPr lang="fr-FR" dirty="0"/>
              <a:t>entremêlées</a:t>
            </a:r>
          </a:p>
          <a:p>
            <a:r>
              <a:rPr lang="fr-FR" dirty="0"/>
              <a:t>au bout</a:t>
            </a:r>
          </a:p>
          <a:p>
            <a:r>
              <a:rPr lang="fr-FR" dirty="0"/>
              <a:t>d'une heure</a:t>
            </a:r>
          </a:p>
        </p:txBody>
      </p:sp>
      <p:sp>
        <p:nvSpPr>
          <p:cNvPr id="444" name="Espace réservé du texte 443"/>
          <p:cNvSpPr>
            <a:spLocks noGrp="1"/>
          </p:cNvSpPr>
          <p:nvPr>
            <p:ph type="body" idx="10"/>
          </p:nvPr>
        </p:nvSpPr>
        <p:spPr>
          <a:xfrm>
            <a:off x="1805727" y="4244414"/>
            <a:ext cx="829027" cy="666502"/>
          </a:xfrm>
          <a:prstGeom prst="rect">
            <a:avLst/>
          </a:prstGeom>
          <a:solidFill>
            <a:srgbClr val="FFFFFF"/>
          </a:solidFill>
          <a:ln w="0" cmpd="sng">
            <a:noFill/>
            <a:prstDash val="solid"/>
          </a:ln>
        </p:spPr>
        <p:txBody>
          <a:bodyPr lIns="0" tIns="0" rIns="0" bIns="0"/>
          <a:lstStyle>
            <a:lvl1pPr marL="0" marR="0" indent="0" algn="l">
              <a:lnSpc>
                <a:spcPts val="1315"/>
              </a:lnSpc>
              <a:spcBef>
                <a:spcPts val="473"/>
              </a:spcBef>
              <a:spcAft>
                <a:spcPts val="0"/>
              </a:spcAft>
              <a:defRPr/>
            </a:lvl1pPr>
          </a:lstStyle>
          <a:p>
            <a:r>
              <a:rPr lang="fr-FR" dirty="0"/>
              <a:t>Cellule</a:t>
            </a:r>
          </a:p>
          <a:p>
            <a:r>
              <a:rPr lang="fr-FR" dirty="0"/>
              <a:t>de Souris</a:t>
            </a:r>
          </a:p>
          <a:p>
            <a:r>
              <a:rPr lang="fr-FR" dirty="0"/>
              <a:t>commune</a:t>
            </a:r>
          </a:p>
        </p:txBody>
      </p:sp>
      <p:sp>
        <p:nvSpPr>
          <p:cNvPr id="445" name="Espace réservé du texte 444"/>
          <p:cNvSpPr>
            <a:spLocks noGrp="1"/>
          </p:cNvSpPr>
          <p:nvPr>
            <p:ph type="body" idx="10"/>
          </p:nvPr>
        </p:nvSpPr>
        <p:spPr>
          <a:xfrm>
            <a:off x="3221099" y="4628646"/>
            <a:ext cx="807853" cy="425709"/>
          </a:xfrm>
          <a:prstGeom prst="rect">
            <a:avLst/>
          </a:prstGeom>
          <a:solidFill>
            <a:srgbClr val="FFFFFF"/>
          </a:solidFill>
          <a:ln w="0" cmpd="sng">
            <a:noFill/>
            <a:prstDash val="solid"/>
          </a:ln>
        </p:spPr>
        <p:txBody>
          <a:bodyPr lIns="0" tIns="0" rIns="0" bIns="0"/>
          <a:lstStyle>
            <a:lvl1pPr marL="0" marR="0" indent="0" algn="ctr">
              <a:lnSpc>
                <a:spcPts val="1490"/>
              </a:lnSpc>
              <a:spcBef>
                <a:spcPts val="316"/>
              </a:spcBef>
              <a:spcAft>
                <a:spcPts val="0"/>
              </a:spcAft>
              <a:defRPr/>
            </a:lvl1pPr>
          </a:lstStyle>
          <a:p>
            <a:r>
              <a:rPr lang="fr-FR" dirty="0"/>
              <a:t>Cellule</a:t>
            </a:r>
          </a:p>
          <a:p>
            <a:r>
              <a:rPr lang="fr-FR" dirty="0"/>
              <a:t>d'Humain</a:t>
            </a:r>
          </a:p>
        </p:txBody>
      </p:sp>
      <p:sp>
        <p:nvSpPr>
          <p:cNvPr id="446" name="Espace réservé du texte 445"/>
          <p:cNvSpPr>
            <a:spLocks noGrp="1"/>
          </p:cNvSpPr>
          <p:nvPr>
            <p:ph type="body" idx="10"/>
          </p:nvPr>
        </p:nvSpPr>
        <p:spPr>
          <a:xfrm>
            <a:off x="4771656" y="5291692"/>
            <a:ext cx="1237840" cy="661317"/>
          </a:xfrm>
          <a:prstGeom prst="rect">
            <a:avLst/>
          </a:prstGeom>
          <a:noFill/>
          <a:ln w="0" cmpd="sng">
            <a:noFill/>
            <a:prstDash val="solid"/>
          </a:ln>
        </p:spPr>
        <p:txBody>
          <a:bodyPr lIns="0" tIns="0" rIns="0" bIns="0"/>
          <a:lstStyle>
            <a:lvl1pPr marL="0" marR="0" indent="0" algn="l">
              <a:lnSpc>
                <a:spcPct val="95999"/>
              </a:lnSpc>
              <a:spcAft>
                <a:spcPts val="2840"/>
              </a:spcAft>
              <a:defRPr/>
            </a:lvl1pPr>
          </a:lstStyle>
          <a:p>
            <a:r>
              <a:rPr lang="fr-FR" dirty="0"/>
              <a:t>Cellule </a:t>
            </a:r>
            <a:r>
              <a:rPr lang="fr-FR" dirty="0" err="1"/>
              <a:t>nybride</a:t>
            </a:r>
            <a:endParaRPr lang="fr-F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74_1_">
    <p:bg>
      <p:bgPr>
        <a:solidFill>
          <a:schemeClr val="bg1">
            <a:alpha val="0"/>
          </a:schemeClr>
        </a:solidFill>
        <a:effectLst/>
      </p:bgPr>
    </p:bg>
    <p:spTree>
      <p:nvGrpSpPr>
        <p:cNvPr id="1" name=""/>
        <p:cNvGrpSpPr/>
        <p:nvPr/>
      </p:nvGrpSpPr>
      <p:grpSpPr>
        <a:xfrm>
          <a:off x="0" y="0"/>
          <a:ext cx="0" cy="0"/>
          <a:chOff x="0" y="0"/>
          <a:chExt cx="0" cy="0"/>
        </a:xfrm>
      </p:grpSpPr>
      <p:sp>
        <p:nvSpPr>
          <p:cNvPr id="28" name="Espace réservé du texte 27"/>
          <p:cNvSpPr>
            <a:spLocks noGrp="1"/>
          </p:cNvSpPr>
          <p:nvPr>
            <p:ph type="body" idx="10"/>
          </p:nvPr>
        </p:nvSpPr>
        <p:spPr>
          <a:xfrm>
            <a:off x="698728" y="573180"/>
            <a:ext cx="7418896" cy="4798008"/>
          </a:xfrm>
          <a:prstGeom prst="rect">
            <a:avLst/>
          </a:prstGeom>
          <a:noFill/>
          <a:ln w="0" cmpd="sng">
            <a:noFill/>
            <a:prstDash val="solid"/>
          </a:ln>
        </p:spPr>
        <p:txBody>
          <a:bodyPr lIns="0" tIns="0" rIns="0" bIns="0"/>
          <a:lstStyle>
            <a:lvl1pPr marL="440809" marR="0" indent="0" algn="l">
              <a:lnSpc>
                <a:spcPct val="95999"/>
              </a:lnSpc>
              <a:spcBef>
                <a:spcPts val="0"/>
              </a:spcBef>
              <a:spcAft>
                <a:spcPts val="1104"/>
              </a:spcAft>
              <a:buFont typeface="Symbol"/>
              <a:buChar char="·"/>
              <a:defRPr/>
            </a:lvl1pPr>
          </a:lstStyle>
          <a:p>
            <a:r>
              <a:rPr lang="fr-FR" dirty="0"/>
              <a:t>Objectifs du cours</a:t>
            </a:r>
          </a:p>
          <a:p>
            <a:r>
              <a:rPr lang="fr-FR" dirty="0"/>
              <a:t>Décrire la structure et la composition des</a:t>
            </a:r>
          </a:p>
          <a:p>
            <a:r>
              <a:rPr lang="fr-FR" dirty="0"/>
              <a:t>membranes biologiques des eucaryotes</a:t>
            </a:r>
          </a:p>
          <a:p>
            <a:r>
              <a:rPr lang="fr-FR" dirty="0"/>
              <a:t>Décrire la structure et la propriété des</a:t>
            </a:r>
          </a:p>
          <a:p>
            <a:r>
              <a:rPr lang="fr-FR" dirty="0"/>
              <a:t>principaux constituants des membranes</a:t>
            </a:r>
          </a:p>
          <a:p>
            <a:r>
              <a:rPr lang="fr-FR" dirty="0"/>
              <a:t>(Phospholipides, cholestérol, protéines)</a:t>
            </a:r>
          </a:p>
          <a:p>
            <a:r>
              <a:rPr lang="fr-FR" dirty="0"/>
              <a:t>Décrire les principales fonctions</a:t>
            </a:r>
          </a:p>
          <a:p>
            <a:r>
              <a:rPr lang="fr-FR" dirty="0"/>
              <a:t>physiologiques des membranes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8_1_">
    <p:bg>
      <p:bgPr>
        <a:solidFill>
          <a:schemeClr val="bg1">
            <a:alpha val="0"/>
          </a:scheme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76_1_">
    <p:bg>
      <p:bgPr>
        <a:solidFill>
          <a:schemeClr val="bg1">
            <a:alpha val="0"/>
          </a:schemeClr>
        </a:solidFill>
        <a:effectLst/>
      </p:bgPr>
    </p:bg>
    <p:spTree>
      <p:nvGrpSpPr>
        <p:cNvPr id="1" name=""/>
        <p:cNvGrpSpPr/>
        <p:nvPr/>
      </p:nvGrpSpPr>
      <p:grpSpPr>
        <a:xfrm>
          <a:off x="0" y="0"/>
          <a:ext cx="0" cy="0"/>
          <a:chOff x="0" y="0"/>
          <a:chExt cx="0" cy="0"/>
        </a:xfrm>
      </p:grpSpPr>
      <p:sp>
        <p:nvSpPr>
          <p:cNvPr id="82" name="Espace réservé du texte 81"/>
          <p:cNvSpPr>
            <a:spLocks noGrp="1"/>
          </p:cNvSpPr>
          <p:nvPr>
            <p:ph type="body" idx="10"/>
          </p:nvPr>
        </p:nvSpPr>
        <p:spPr>
          <a:xfrm>
            <a:off x="836628" y="308193"/>
            <a:ext cx="7481331" cy="1370448"/>
          </a:xfrm>
          <a:prstGeom prst="rect">
            <a:avLst/>
          </a:prstGeom>
          <a:noFill/>
          <a:ln w="0" cmpd="sng">
            <a:noFill/>
            <a:prstDash val="solid"/>
          </a:ln>
        </p:spPr>
        <p:txBody>
          <a:bodyPr lIns="0" tIns="0" rIns="0" bIns="0"/>
          <a:lstStyle>
            <a:lvl1pPr marL="0" marR="0" indent="0" algn="ctr">
              <a:lnSpc>
                <a:spcPct val="95999"/>
              </a:lnSpc>
              <a:spcBef>
                <a:spcPts val="0"/>
              </a:spcBef>
              <a:spcAft>
                <a:spcPts val="2051"/>
              </a:spcAft>
              <a:defRPr/>
            </a:lvl1pPr>
          </a:lstStyle>
          <a:p>
            <a:r>
              <a:rPr lang="fr-FR" dirty="0"/>
              <a:t>Les lipides membranaires sont des</a:t>
            </a:r>
          </a:p>
          <a:p>
            <a:r>
              <a:rPr lang="fr-FR" dirty="0"/>
              <a:t>molécules </a:t>
            </a:r>
            <a:r>
              <a:rPr lang="fr-FR" dirty="0" err="1"/>
              <a:t>amphipathiques</a:t>
            </a:r>
            <a:endParaRPr lang="fr-FR" dirty="0"/>
          </a:p>
        </p:txBody>
      </p:sp>
      <p:sp>
        <p:nvSpPr>
          <p:cNvPr id="85" name="Espace réservé du texte 84"/>
          <p:cNvSpPr>
            <a:spLocks noGrp="1"/>
          </p:cNvSpPr>
          <p:nvPr>
            <p:ph type="body" idx="10"/>
          </p:nvPr>
        </p:nvSpPr>
        <p:spPr>
          <a:xfrm>
            <a:off x="3028365" y="1678641"/>
            <a:ext cx="2261772" cy="1530593"/>
          </a:xfrm>
          <a:prstGeom prst="rect">
            <a:avLst/>
          </a:prstGeom>
          <a:noFill/>
          <a:ln w="0" cmpd="sng">
            <a:noFill/>
            <a:prstDash val="solid"/>
          </a:ln>
        </p:spPr>
        <p:txBody>
          <a:bodyPr lIns="0" tIns="380699" rIns="0" bIns="0"/>
          <a:lstStyle>
            <a:lvl1pPr marL="0" marR="0" indent="0" algn="l">
              <a:lnSpc>
                <a:spcPct val="95999"/>
              </a:lnSpc>
              <a:spcBef>
                <a:spcPts val="158"/>
              </a:spcBef>
              <a:spcAft>
                <a:spcPts val="9151"/>
              </a:spcAft>
              <a:defRPr/>
            </a:lvl1pPr>
          </a:lstStyle>
          <a:p>
            <a:r>
              <a:rPr lang="fr-FR" dirty="0"/>
              <a:t>Groupement</a:t>
            </a:r>
          </a:p>
          <a:p>
            <a:r>
              <a:rPr lang="fr-FR" dirty="0"/>
              <a:t>phosphate polaire</a:t>
            </a:r>
          </a:p>
          <a:p>
            <a:r>
              <a:rPr lang="fr-FR" dirty="0"/>
              <a:t>hydrophile</a:t>
            </a:r>
          </a:p>
        </p:txBody>
      </p:sp>
      <p:sp>
        <p:nvSpPr>
          <p:cNvPr id="86" name="Espace réservé du texte 85"/>
          <p:cNvSpPr>
            <a:spLocks noGrp="1"/>
          </p:cNvSpPr>
          <p:nvPr>
            <p:ph type="body" idx="10"/>
          </p:nvPr>
        </p:nvSpPr>
        <p:spPr>
          <a:xfrm>
            <a:off x="3028365" y="4407439"/>
            <a:ext cx="2306291" cy="1020203"/>
          </a:xfrm>
          <a:prstGeom prst="rect">
            <a:avLst/>
          </a:prstGeom>
          <a:noFill/>
          <a:ln w="0" cmpd="sng">
            <a:noFill/>
            <a:prstDash val="solid"/>
          </a:ln>
        </p:spPr>
        <p:txBody>
          <a:bodyPr lIns="0" tIns="0" rIns="0" bIns="0"/>
          <a:lstStyle>
            <a:lvl1pPr marL="280515" marR="0" indent="0" algn="l">
              <a:lnSpc>
                <a:spcPct val="80639"/>
              </a:lnSpc>
              <a:spcBef>
                <a:spcPts val="158"/>
              </a:spcBef>
              <a:spcAft>
                <a:spcPts val="316"/>
              </a:spcAft>
              <a:defRPr/>
            </a:lvl1pPr>
          </a:lstStyle>
          <a:p>
            <a:r>
              <a:rPr lang="fr-FR" dirty="0"/>
              <a:t>Acides gras non</a:t>
            </a:r>
          </a:p>
          <a:p>
            <a:r>
              <a:rPr lang="fr-FR" dirty="0"/>
              <a:t>polaires</a:t>
            </a:r>
          </a:p>
          <a:p>
            <a:r>
              <a:rPr lang="fr-FR" dirty="0"/>
              <a:t>hydrophobes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6_1_">
    <p:bg>
      <p:bgPr>
        <a:solidFill>
          <a:schemeClr val="bg1">
            <a:alpha val="0"/>
          </a:schemeClr>
        </a:solidFill>
        <a:effectLst/>
      </p:bgPr>
    </p:bg>
    <p:spTree>
      <p:nvGrpSpPr>
        <p:cNvPr id="1" name=""/>
        <p:cNvGrpSpPr/>
        <p:nvPr/>
      </p:nvGrpSpPr>
      <p:grpSpPr>
        <a:xfrm>
          <a:off x="0" y="0"/>
          <a:ext cx="0" cy="0"/>
          <a:chOff x="0" y="0"/>
          <a:chExt cx="0" cy="0"/>
        </a:xfrm>
      </p:grpSpPr>
      <p:sp>
        <p:nvSpPr>
          <p:cNvPr id="49" name="Espace réservé du texte 48"/>
          <p:cNvSpPr>
            <a:spLocks noGrp="1"/>
          </p:cNvSpPr>
          <p:nvPr>
            <p:ph type="body" idx="10"/>
          </p:nvPr>
        </p:nvSpPr>
        <p:spPr>
          <a:xfrm>
            <a:off x="1944169" y="608896"/>
            <a:ext cx="5316197" cy="995433"/>
          </a:xfrm>
          <a:prstGeom prst="rect">
            <a:avLst/>
          </a:prstGeom>
          <a:noFill/>
          <a:ln w="0" cmpd="sng">
            <a:noFill/>
            <a:prstDash val="solid"/>
          </a:ln>
        </p:spPr>
        <p:txBody>
          <a:bodyPr lIns="0" tIns="0" rIns="0" bIns="0" anchor="t"/>
          <a:lstStyle>
            <a:lvl1pPr marL="0" marR="0" indent="0" algn="ctr">
              <a:lnSpc>
                <a:spcPct val="82559"/>
              </a:lnSpc>
              <a:spcAft>
                <a:spcPts val="4102"/>
              </a:spcAft>
              <a:defRPr/>
            </a:lvl1pPr>
          </a:lstStyle>
          <a:p>
            <a:pPr marL="0" marR="0" indent="0" algn="ctr">
              <a:lnSpc>
                <a:spcPct val="82559"/>
              </a:lnSpc>
              <a:spcAft>
                <a:spcPts val="4680"/>
              </a:spcAft>
            </a:pPr>
            <a:r>
              <a:rPr lang="fr-FR" sz="3200" b="1" spc="0" dirty="0">
                <a:solidFill>
                  <a:srgbClr val="CC6500"/>
                </a:solidFill>
                <a:latin typeface="Arial" panose="22635452340000000000" pitchFamily="2"/>
              </a:rPr>
              <a:t>Structure de base</a:t>
            </a:r>
          </a:p>
        </p:txBody>
      </p:sp>
      <p:sp>
        <p:nvSpPr>
          <p:cNvPr id="50" name="Espace réservé du texte 49"/>
          <p:cNvSpPr>
            <a:spLocks noGrp="1"/>
          </p:cNvSpPr>
          <p:nvPr>
            <p:ph type="body" idx="10"/>
          </p:nvPr>
        </p:nvSpPr>
        <p:spPr>
          <a:xfrm>
            <a:off x="1282359" y="1604329"/>
            <a:ext cx="6732112" cy="1666543"/>
          </a:xfrm>
          <a:prstGeom prst="rect">
            <a:avLst/>
          </a:prstGeom>
          <a:noFill/>
          <a:ln w="0" cmpd="sng">
            <a:noFill/>
            <a:prstDash val="solid"/>
          </a:ln>
        </p:spPr>
        <p:txBody>
          <a:bodyPr lIns="0" tIns="0" rIns="0" bIns="0" anchor="t"/>
          <a:lstStyle>
            <a:lvl1pPr marL="280515" marR="0" indent="0" algn="l">
              <a:lnSpc>
                <a:spcPct val="95999"/>
              </a:lnSpc>
              <a:spcBef>
                <a:spcPts val="0"/>
              </a:spcBef>
              <a:spcAft>
                <a:spcPts val="3786"/>
              </a:spcAft>
              <a:defRPr/>
            </a:lvl1pPr>
          </a:lstStyle>
          <a:p>
            <a:pPr marL="0" marR="0" indent="0" algn="l">
              <a:lnSpc>
                <a:spcPct val="95999"/>
              </a:lnSpc>
              <a:spcAft>
                <a:spcPts val="0"/>
              </a:spcAft>
            </a:pPr>
            <a:r>
              <a:rPr lang="fr-FR" sz="300" b="1" spc="79" dirty="0">
                <a:solidFill>
                  <a:srgbClr val="009A9A"/>
                </a:solidFill>
                <a:latin typeface="Arial" panose="22635452340000000000" pitchFamily="2"/>
              </a:rPr>
              <a:t>➢</a:t>
            </a:r>
            <a:r>
              <a:rPr lang="fr-FR" sz="2500" b="1" spc="79" dirty="0">
                <a:solidFill>
                  <a:srgbClr val="000000"/>
                </a:solidFill>
                <a:latin typeface="Arial" panose="22635452340000000000" pitchFamily="2"/>
              </a:rPr>
              <a:t> Formés par une liaison amide entre un </a:t>
            </a:r>
            <a:r>
              <a:rPr lang="fr-FR" sz="2500" b="1" spc="79" dirty="0" err="1">
                <a:solidFill>
                  <a:srgbClr val="000000"/>
                </a:solidFill>
                <a:latin typeface="Arial" panose="22635452340000000000" pitchFamily="2"/>
              </a:rPr>
              <a:t>amino</a:t>
            </a:r>
            <a:r>
              <a:rPr lang="fr-FR" sz="2500" b="1" spc="79" dirty="0">
                <a:solidFill>
                  <a:srgbClr val="000000"/>
                </a:solidFill>
                <a:latin typeface="Arial" panose="22635452340000000000" pitchFamily="2"/>
              </a:rPr>
              <a:t>-</a:t>
            </a:r>
          </a:p>
          <a:p>
            <a:pPr marL="0" marR="0" indent="0" algn="r">
              <a:lnSpc>
                <a:spcPct val="95999"/>
              </a:lnSpc>
              <a:spcBef>
                <a:spcPts val="0"/>
              </a:spcBef>
              <a:spcAft>
                <a:spcPts val="0"/>
              </a:spcAft>
            </a:pPr>
            <a:r>
              <a:rPr lang="fr-FR" sz="2500" b="1" spc="26" dirty="0">
                <a:solidFill>
                  <a:srgbClr val="000000"/>
                </a:solidFill>
                <a:latin typeface="Arial" panose="22635452340000000000" pitchFamily="2"/>
              </a:rPr>
              <a:t>alcool (</a:t>
            </a:r>
            <a:r>
              <a:rPr lang="fr-FR" sz="2500" b="1" spc="26" dirty="0" err="1">
                <a:solidFill>
                  <a:srgbClr val="000000"/>
                </a:solidFill>
                <a:latin typeface="Arial" panose="22635452340000000000" pitchFamily="2"/>
              </a:rPr>
              <a:t>sphingosine</a:t>
            </a:r>
            <a:r>
              <a:rPr lang="fr-FR" sz="2500" b="1" spc="26" dirty="0">
                <a:solidFill>
                  <a:srgbClr val="000000"/>
                </a:solidFill>
                <a:latin typeface="Arial" panose="22635452340000000000" pitchFamily="2"/>
              </a:rPr>
              <a:t> ou </a:t>
            </a:r>
            <a:r>
              <a:rPr lang="fr-FR" sz="2500" b="1" spc="26" dirty="0" err="1">
                <a:solidFill>
                  <a:srgbClr val="000000"/>
                </a:solidFill>
                <a:latin typeface="Arial" panose="22635452340000000000" pitchFamily="2"/>
              </a:rPr>
              <a:t>sphinganine</a:t>
            </a:r>
            <a:r>
              <a:rPr lang="fr-FR" sz="2500" b="1" spc="26" dirty="0">
                <a:solidFill>
                  <a:srgbClr val="000000"/>
                </a:solidFill>
                <a:latin typeface="Arial" panose="22635452340000000000" pitchFamily="2"/>
              </a:rPr>
              <a:t>) et un acide</a:t>
            </a:r>
          </a:p>
          <a:p>
            <a:pPr marL="320040" marR="0" indent="0" algn="l">
              <a:lnSpc>
                <a:spcPct val="95999"/>
              </a:lnSpc>
              <a:spcBef>
                <a:spcPts val="0"/>
              </a:spcBef>
              <a:spcAft>
                <a:spcPts val="4320"/>
              </a:spcAft>
            </a:pPr>
            <a:r>
              <a:rPr lang="fr-FR" sz="2500" b="1" spc="0" dirty="0">
                <a:solidFill>
                  <a:srgbClr val="000000"/>
                </a:solidFill>
                <a:latin typeface="Arial" panose="22635452340000000000" pitchFamily="2"/>
              </a:rPr>
              <a:t>gras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7_1_">
    <p:bg>
      <p:bgPr>
        <a:solidFill>
          <a:schemeClr val="bg1">
            <a:alpha val="0"/>
          </a:schemeClr>
        </a:solidFill>
        <a:effectLst/>
      </p:bgPr>
    </p:bg>
    <p:spTree>
      <p:nvGrpSpPr>
        <p:cNvPr id="1" name=""/>
        <p:cNvGrpSpPr/>
        <p:nvPr/>
      </p:nvGrpSpPr>
      <p:grpSpPr>
        <a:xfrm>
          <a:off x="0" y="0"/>
          <a:ext cx="0" cy="0"/>
          <a:chOff x="0" y="0"/>
          <a:chExt cx="0" cy="0"/>
        </a:xfrm>
      </p:grpSpPr>
      <p:sp>
        <p:nvSpPr>
          <p:cNvPr id="223" name="Espace réservé du texte 222"/>
          <p:cNvSpPr>
            <a:spLocks noGrp="1"/>
          </p:cNvSpPr>
          <p:nvPr>
            <p:ph type="body" idx="10"/>
          </p:nvPr>
        </p:nvSpPr>
        <p:spPr>
          <a:xfrm>
            <a:off x="38100" y="266065"/>
            <a:ext cx="7836535" cy="573405"/>
          </a:xfrm>
          <a:prstGeom prst="rect">
            <a:avLst/>
          </a:prstGeom>
          <a:noFill/>
          <a:ln w="23495" cmpd="sng">
            <a:solidFill>
              <a:srgbClr val="78E3BD"/>
            </a:solidFill>
            <a:prstDash val="solid"/>
          </a:ln>
        </p:spPr>
        <p:txBody>
          <a:bodyPr lIns="0" tIns="91440" rIns="0" bIns="0" anchor="t"/>
          <a:lstStyle/>
          <a:p>
            <a:pPr marL="2148840" marR="0" indent="0" algn="l">
              <a:lnSpc>
                <a:spcPts val="3400"/>
              </a:lnSpc>
              <a:spcAft>
                <a:spcPts val="0"/>
              </a:spcAft>
            </a:pPr>
            <a:r>
              <a:rPr lang="fr-FR" sz="3200" spc="0">
                <a:solidFill>
                  <a:srgbClr val="000000"/>
                </a:solidFill>
                <a:latin typeface="Calibri" panose="22635452340000000000" pitchFamily="1"/>
              </a:rPr>
              <a:t>Protéines membranaires</a:t>
            </a:r>
          </a:p>
        </p:txBody>
      </p:sp>
      <p:sp>
        <p:nvSpPr>
          <p:cNvPr id="224" name="Espace réservé du texte 223"/>
          <p:cNvSpPr>
            <a:spLocks noGrp="1"/>
          </p:cNvSpPr>
          <p:nvPr>
            <p:ph type="body" idx="10"/>
          </p:nvPr>
        </p:nvSpPr>
        <p:spPr>
          <a:xfrm>
            <a:off x="399415" y="1106170"/>
            <a:ext cx="7848600" cy="1163955"/>
          </a:xfrm>
          <a:prstGeom prst="rect">
            <a:avLst/>
          </a:prstGeom>
          <a:noFill/>
          <a:ln w="0" cmpd="sng">
            <a:noFill/>
            <a:prstDash val="solid"/>
          </a:ln>
        </p:spPr>
        <p:txBody>
          <a:bodyPr lIns="0" tIns="0" rIns="0" bIns="0" anchor="t"/>
          <a:lstStyle/>
          <a:p>
            <a:pPr marL="0" marR="0" indent="0" algn="l">
              <a:lnSpc>
                <a:spcPts val="2700"/>
              </a:lnSpc>
              <a:spcAft>
                <a:spcPts val="0"/>
              </a:spcAft>
            </a:pPr>
            <a:r>
              <a:rPr lang="fr-FR" sz="2400" spc="0">
                <a:solidFill>
                  <a:srgbClr val="000000"/>
                </a:solidFill>
                <a:latin typeface="Arial" panose="22635452340000000000" pitchFamily="2"/>
              </a:rPr>
              <a:t>• </a:t>
            </a:r>
            <a:r>
              <a:rPr lang="fr-FR" sz="2400" spc="0">
                <a:solidFill>
                  <a:srgbClr val="000000"/>
                </a:solidFill>
                <a:latin typeface="Calibri" panose="22635452340000000000" pitchFamily="1"/>
              </a:rPr>
              <a:t>Protéines:</a:t>
            </a:r>
          </a:p>
          <a:p>
            <a:pPr marL="411480" marR="0" indent="0" algn="l">
              <a:lnSpc>
                <a:spcPts val="2600"/>
              </a:lnSpc>
              <a:spcBef>
                <a:spcPts val="720"/>
              </a:spcBef>
              <a:spcAft>
                <a:spcPts val="0"/>
              </a:spcAft>
            </a:pPr>
            <a:r>
              <a:rPr lang="fr-FR" sz="300" spc="90">
                <a:solidFill>
                  <a:srgbClr val="FF0000"/>
                </a:solidFill>
                <a:latin typeface="Arial" panose="22635452340000000000" pitchFamily="2"/>
              </a:rPr>
              <a:t>– </a:t>
            </a:r>
            <a:r>
              <a:rPr lang="fr-FR" sz="2000" spc="90">
                <a:solidFill>
                  <a:srgbClr val="FF0000"/>
                </a:solidFill>
                <a:latin typeface="Calibri" panose="22635452340000000000" pitchFamily="1"/>
              </a:rPr>
              <a:t>Intrinsèque:</a:t>
            </a:r>
          </a:p>
          <a:p>
            <a:pPr marL="868680" marR="0" indent="0" algn="l">
              <a:lnSpc>
                <a:spcPct val="106559"/>
              </a:lnSpc>
              <a:spcBef>
                <a:spcPts val="720"/>
              </a:spcBef>
              <a:spcAft>
                <a:spcPts val="0"/>
              </a:spcAft>
            </a:pPr>
            <a:r>
              <a:rPr lang="fr-FR" sz="300" spc="-10">
                <a:solidFill>
                  <a:srgbClr val="000000"/>
                </a:solidFill>
                <a:latin typeface="Arial" panose="22635452340000000000" pitchFamily="2"/>
              </a:rPr>
              <a:t>– </a:t>
            </a:r>
            <a:r>
              <a:rPr lang="fr-FR" sz="1800" spc="-10">
                <a:solidFill>
                  <a:srgbClr val="000000"/>
                </a:solidFill>
                <a:latin typeface="Calibri" panose="22635452340000000000" pitchFamily="1"/>
              </a:rPr>
              <a:t>Contact direct avec les lipides: intégrée ou transmembranaire (70%)</a:t>
            </a:r>
          </a:p>
        </p:txBody>
      </p:sp>
      <p:sp>
        <p:nvSpPr>
          <p:cNvPr id="225" name="Espace réservé du texte 224"/>
          <p:cNvSpPr>
            <a:spLocks noGrp="1"/>
          </p:cNvSpPr>
          <p:nvPr>
            <p:ph type="body" idx="10"/>
          </p:nvPr>
        </p:nvSpPr>
        <p:spPr>
          <a:xfrm>
            <a:off x="399415" y="2270125"/>
            <a:ext cx="7848600" cy="629920"/>
          </a:xfrm>
          <a:prstGeom prst="rect">
            <a:avLst/>
          </a:prstGeom>
          <a:noFill/>
          <a:ln w="0" cmpd="sng">
            <a:noFill/>
            <a:prstDash val="solid"/>
          </a:ln>
        </p:spPr>
        <p:txBody>
          <a:bodyPr lIns="0" tIns="0" rIns="0" bIns="0" anchor="t"/>
          <a:lstStyle/>
          <a:p>
            <a:pPr marL="1371600" marR="0" indent="0" algn="l">
              <a:lnSpc>
                <a:spcPct val="107519"/>
              </a:lnSpc>
              <a:spcAft>
                <a:spcPts val="0"/>
              </a:spcAft>
            </a:pPr>
            <a:r>
              <a:rPr lang="fr-FR" sz="300" spc="80">
                <a:solidFill>
                  <a:srgbClr val="FF0000"/>
                </a:solidFill>
                <a:latin typeface="Wingdings" panose="22635452340000000000" pitchFamily="2"/>
              </a:rPr>
              <a:t>4</a:t>
            </a:r>
            <a:r>
              <a:rPr lang="fr-FR" sz="3600" spc="80">
                <a:solidFill>
                  <a:srgbClr val="FF0000"/>
                </a:solidFill>
                <a:latin typeface="Calibri" panose="22635452340000000000" pitchFamily="1"/>
              </a:rPr>
              <a:t>Ancrage par un lipide</a:t>
            </a:r>
          </a:p>
        </p:txBody>
      </p:sp>
      <p:sp>
        <p:nvSpPr>
          <p:cNvPr id="226" name="Espace réservé du texte 225"/>
          <p:cNvSpPr>
            <a:spLocks noGrp="1"/>
          </p:cNvSpPr>
          <p:nvPr>
            <p:ph type="body" idx="10"/>
          </p:nvPr>
        </p:nvSpPr>
        <p:spPr>
          <a:xfrm>
            <a:off x="399415" y="2900045"/>
            <a:ext cx="7848600" cy="3351530"/>
          </a:xfrm>
          <a:prstGeom prst="rect">
            <a:avLst/>
          </a:prstGeom>
          <a:noFill/>
          <a:ln w="0" cmpd="sng">
            <a:noFill/>
            <a:prstDash val="solid"/>
          </a:ln>
        </p:spPr>
        <p:txBody>
          <a:bodyPr lIns="0" tIns="0" rIns="0" bIns="0" anchor="t"/>
          <a:lstStyle/>
          <a:p>
            <a:pPr marL="1371600" marR="0" indent="0" algn="l">
              <a:lnSpc>
                <a:spcPts val="2100"/>
              </a:lnSpc>
              <a:spcAft>
                <a:spcPts val="0"/>
              </a:spcAft>
            </a:pPr>
            <a:r>
              <a:rPr lang="fr-FR" sz="300" spc="25">
                <a:solidFill>
                  <a:srgbClr val="FF0000"/>
                </a:solidFill>
                <a:latin typeface="Wingdings" panose="22635452340000000000" pitchFamily="2"/>
              </a:rPr>
              <a:t>4</a:t>
            </a:r>
            <a:r>
              <a:rPr lang="fr-FR" sz="1800" spc="25">
                <a:solidFill>
                  <a:srgbClr val="FF0000"/>
                </a:solidFill>
                <a:latin typeface="Calibri" panose="22635452340000000000" pitchFamily="1"/>
              </a:rPr>
              <a:t>Liaison covalente entre la protéine et un élément lipidique</a:t>
            </a:r>
          </a:p>
          <a:p>
            <a:pPr marL="1371600" marR="0" indent="0" algn="l">
              <a:lnSpc>
                <a:spcPts val="2400"/>
              </a:lnSpc>
              <a:spcBef>
                <a:spcPts val="540"/>
              </a:spcBef>
              <a:spcAft>
                <a:spcPts val="0"/>
              </a:spcAft>
            </a:pPr>
            <a:r>
              <a:rPr lang="fr-FR" sz="300" spc="10">
                <a:solidFill>
                  <a:srgbClr val="000000"/>
                </a:solidFill>
                <a:latin typeface="Wingdings" panose="22635452340000000000" pitchFamily="2"/>
              </a:rPr>
              <a:t>4</a:t>
            </a:r>
            <a:r>
              <a:rPr lang="fr-FR" sz="1800" b="1" spc="10">
                <a:solidFill>
                  <a:srgbClr val="000000"/>
                </a:solidFill>
                <a:latin typeface="Calibri" panose="22635452340000000000" pitchFamily="1"/>
              </a:rPr>
              <a:t>4 modifications les plus courantes:</a:t>
            </a:r>
          </a:p>
          <a:p>
            <a:pPr marL="0" marR="22860" indent="0" algn="r">
              <a:lnSpc>
                <a:spcPts val="2300"/>
              </a:lnSpc>
              <a:spcBef>
                <a:spcPts val="540"/>
              </a:spcBef>
              <a:spcAft>
                <a:spcPts val="0"/>
              </a:spcAft>
            </a:pPr>
            <a:r>
              <a:rPr lang="fr-FR" sz="300" spc="20">
                <a:solidFill>
                  <a:srgbClr val="FF0000"/>
                </a:solidFill>
                <a:latin typeface="Wingdings" panose="22635452340000000000" pitchFamily="2"/>
              </a:rPr>
              <a:t>4</a:t>
            </a:r>
            <a:r>
              <a:rPr lang="fr-FR" sz="1800" b="1" spc="20">
                <a:solidFill>
                  <a:srgbClr val="FF0000"/>
                </a:solidFill>
                <a:latin typeface="Calibri" panose="22635452340000000000" pitchFamily="1"/>
              </a:rPr>
              <a:t>Isoprénylation : farnesyl ou géranylgéranyl,</a:t>
            </a:r>
            <a:r>
              <a:rPr lang="fr-FR" sz="1800" b="1" spc="20">
                <a:solidFill>
                  <a:srgbClr val="000000"/>
                </a:solidFill>
                <a:latin typeface="Calibri" panose="22635452340000000000" pitchFamily="1"/>
              </a:rPr>
              <a:t> liaison thioester,</a:t>
            </a:r>
          </a:p>
          <a:p>
            <a:pPr marL="0" marR="160020" indent="0" algn="r">
              <a:lnSpc>
                <a:spcPts val="2000"/>
              </a:lnSpc>
              <a:spcBef>
                <a:spcPts val="0"/>
              </a:spcBef>
              <a:spcAft>
                <a:spcPts val="0"/>
              </a:spcAft>
            </a:pPr>
            <a:r>
              <a:rPr lang="fr-FR" sz="1800" b="1" spc="-40">
                <a:solidFill>
                  <a:srgbClr val="000000"/>
                </a:solidFill>
                <a:latin typeface="Calibri" panose="22635452340000000000" pitchFamily="1"/>
              </a:rPr>
              <a:t>sur une</a:t>
            </a:r>
            <a:r>
              <a:rPr lang="fr-FR" sz="1800" b="1" spc="-40">
                <a:solidFill>
                  <a:srgbClr val="FF0000"/>
                </a:solidFill>
                <a:latin typeface="Calibri" panose="22635452340000000000" pitchFamily="1"/>
              </a:rPr>
              <a:t> cystéine</a:t>
            </a:r>
            <a:r>
              <a:rPr lang="fr-FR" sz="1800" b="1" spc="-40">
                <a:solidFill>
                  <a:srgbClr val="000000"/>
                </a:solidFill>
                <a:latin typeface="Calibri" panose="22635452340000000000" pitchFamily="1"/>
              </a:rPr>
              <a:t> en position</a:t>
            </a:r>
            <a:r>
              <a:rPr lang="fr-FR" sz="1800" b="1" spc="-40">
                <a:solidFill>
                  <a:srgbClr val="FF0000"/>
                </a:solidFill>
                <a:latin typeface="Calibri" panose="22635452340000000000" pitchFamily="1"/>
              </a:rPr>
              <a:t> C-­‐terminale C-­‐terminale</a:t>
            </a:r>
            <a:r>
              <a:rPr lang="fr-FR" sz="1800" b="1" spc="-40">
                <a:solidFill>
                  <a:srgbClr val="000000"/>
                </a:solidFill>
                <a:latin typeface="Calibri" panose="22635452340000000000" pitchFamily="1"/>
              </a:rPr>
              <a:t> ou proche de cette</a:t>
            </a:r>
          </a:p>
          <a:p>
            <a:pPr marL="2011680" marR="0" indent="0" algn="l">
              <a:lnSpc>
                <a:spcPts val="1900"/>
              </a:lnSpc>
              <a:spcBef>
                <a:spcPts val="0"/>
              </a:spcBef>
              <a:spcAft>
                <a:spcPts val="0"/>
              </a:spcAft>
            </a:pPr>
            <a:r>
              <a:rPr lang="fr-FR" sz="1800" b="1" spc="0">
                <a:solidFill>
                  <a:srgbClr val="000000"/>
                </a:solidFill>
                <a:latin typeface="Calibri" panose="22635452340000000000" pitchFamily="1"/>
              </a:rPr>
              <a:t>extrémité</a:t>
            </a:r>
          </a:p>
          <a:p>
            <a:pPr marL="1828800" marR="0" indent="0" algn="l">
              <a:lnSpc>
                <a:spcPts val="2300"/>
              </a:lnSpc>
              <a:spcBef>
                <a:spcPts val="720"/>
              </a:spcBef>
              <a:spcAft>
                <a:spcPts val="0"/>
              </a:spcAft>
            </a:pPr>
            <a:r>
              <a:rPr lang="fr-FR" sz="300" spc="5">
                <a:solidFill>
                  <a:srgbClr val="FF0000"/>
                </a:solidFill>
                <a:latin typeface="Wingdings" panose="22635452340000000000" pitchFamily="2"/>
              </a:rPr>
              <a:t>4</a:t>
            </a:r>
            <a:r>
              <a:rPr lang="fr-FR" sz="1800" b="1" spc="5">
                <a:solidFill>
                  <a:srgbClr val="FF0000"/>
                </a:solidFill>
                <a:latin typeface="Calibri" panose="22635452340000000000" pitchFamily="1"/>
              </a:rPr>
              <a:t>N-­‐myristoylation: acide myristiqueN-­‐myristoylation: acide myristique</a:t>
            </a:r>
            <a:r>
              <a:rPr lang="fr-FR" sz="1800" b="1" spc="5">
                <a:solidFill>
                  <a:srgbClr val="000000"/>
                </a:solidFill>
                <a:latin typeface="Calibri" panose="22635452340000000000" pitchFamily="1"/>
              </a:rPr>
              <a:t> sur une</a:t>
            </a:r>
            <a:r>
              <a:rPr lang="fr-FR" sz="1800" b="1" spc="5">
                <a:solidFill>
                  <a:srgbClr val="FF0000"/>
                </a:solidFill>
                <a:latin typeface="Calibri" panose="22635452340000000000" pitchFamily="1"/>
              </a:rPr>
              <a:t> glycine</a:t>
            </a:r>
            <a:r>
              <a:rPr lang="fr-FR" sz="1800" b="1" spc="5">
                <a:solidFill>
                  <a:srgbClr val="000000"/>
                </a:solidFill>
                <a:latin typeface="Calibri" panose="22635452340000000000" pitchFamily="1"/>
              </a:rPr>
              <a:t> en</a:t>
            </a:r>
          </a:p>
          <a:p>
            <a:pPr marL="2011680" marR="0" indent="0" algn="l">
              <a:lnSpc>
                <a:spcPts val="2200"/>
              </a:lnSpc>
              <a:spcBef>
                <a:spcPts val="0"/>
              </a:spcBef>
              <a:spcAft>
                <a:spcPts val="0"/>
              </a:spcAft>
            </a:pPr>
            <a:r>
              <a:rPr lang="fr-FR" sz="1800" b="1" spc="-30">
                <a:solidFill>
                  <a:srgbClr val="000000"/>
                </a:solidFill>
                <a:latin typeface="Calibri" panose="22635452340000000000" pitchFamily="1"/>
              </a:rPr>
              <a:t>position</a:t>
            </a:r>
            <a:r>
              <a:rPr lang="fr-FR" sz="1800" b="1" spc="-30">
                <a:solidFill>
                  <a:srgbClr val="FF0000"/>
                </a:solidFill>
                <a:latin typeface="Calibri" panose="22635452340000000000" pitchFamily="1"/>
              </a:rPr>
              <a:t> N-­‐terminale N-­‐terminale</a:t>
            </a:r>
          </a:p>
          <a:p>
            <a:pPr marL="0" marR="274320" indent="0" algn="r">
              <a:lnSpc>
                <a:spcPts val="2300"/>
              </a:lnSpc>
              <a:spcBef>
                <a:spcPts val="540"/>
              </a:spcBef>
              <a:spcAft>
                <a:spcPts val="0"/>
              </a:spcAft>
            </a:pPr>
            <a:r>
              <a:rPr lang="fr-FR" sz="300" spc="20">
                <a:solidFill>
                  <a:srgbClr val="FF0000"/>
                </a:solidFill>
                <a:latin typeface="Wingdings" panose="22635452340000000000" pitchFamily="2"/>
              </a:rPr>
              <a:t>4 </a:t>
            </a:r>
            <a:r>
              <a:rPr lang="fr-FR" sz="1800" b="1" spc="20">
                <a:solidFill>
                  <a:srgbClr val="FF0000"/>
                </a:solidFill>
                <a:latin typeface="Calibri" panose="22635452340000000000" pitchFamily="1"/>
              </a:rPr>
              <a:t>Palmitoylation: acide palmitique</a:t>
            </a:r>
            <a:r>
              <a:rPr lang="fr-FR" sz="1800" b="1" spc="20">
                <a:solidFill>
                  <a:srgbClr val="000000"/>
                </a:solidFill>
                <a:latin typeface="Calibri" panose="22635452340000000000" pitchFamily="1"/>
              </a:rPr>
              <a:t> via une liaison thioester,</a:t>
            </a:r>
          </a:p>
          <a:p>
            <a:pPr marL="2011680" marR="0" indent="0" algn="l">
              <a:lnSpc>
                <a:spcPts val="2200"/>
              </a:lnSpc>
              <a:spcBef>
                <a:spcPts val="0"/>
              </a:spcBef>
              <a:spcAft>
                <a:spcPts val="0"/>
              </a:spcAft>
            </a:pPr>
            <a:r>
              <a:rPr lang="fr-FR" sz="1800" b="1" spc="-40">
                <a:solidFill>
                  <a:srgbClr val="000000"/>
                </a:solidFill>
                <a:latin typeface="Calibri" panose="22635452340000000000" pitchFamily="1"/>
              </a:rPr>
              <a:t>sur une</a:t>
            </a:r>
            <a:r>
              <a:rPr lang="fr-FR" sz="1800" b="1" spc="-40">
                <a:solidFill>
                  <a:srgbClr val="FF0000"/>
                </a:solidFill>
                <a:latin typeface="Calibri" panose="22635452340000000000" pitchFamily="1"/>
              </a:rPr>
              <a:t> cystéine</a:t>
            </a:r>
            <a:r>
              <a:rPr lang="fr-FR" sz="1800" b="1" spc="-40">
                <a:solidFill>
                  <a:srgbClr val="000000"/>
                </a:solidFill>
                <a:latin typeface="Calibri" panose="22635452340000000000" pitchFamily="1"/>
              </a:rPr>
              <a:t> interne ou</a:t>
            </a:r>
            <a:r>
              <a:rPr lang="fr-FR" sz="1800" b="1" spc="-40">
                <a:solidFill>
                  <a:srgbClr val="FF0000"/>
                </a:solidFill>
                <a:latin typeface="Calibri" panose="22635452340000000000" pitchFamily="1"/>
              </a:rPr>
              <a:t> N-­‐terminal N-­‐terminal</a:t>
            </a:r>
          </a:p>
          <a:p>
            <a:pPr marL="0" marR="22860" indent="0" algn="r">
              <a:lnSpc>
                <a:spcPts val="2300"/>
              </a:lnSpc>
              <a:spcBef>
                <a:spcPts val="720"/>
              </a:spcBef>
              <a:spcAft>
                <a:spcPts val="0"/>
              </a:spcAft>
            </a:pPr>
            <a:r>
              <a:rPr lang="fr-FR" sz="300" spc="0">
                <a:solidFill>
                  <a:srgbClr val="FF0000"/>
                </a:solidFill>
                <a:latin typeface="Wingdings" panose="22635452340000000000" pitchFamily="2"/>
              </a:rPr>
              <a:t>4</a:t>
            </a:r>
            <a:r>
              <a:rPr lang="fr-FR" sz="1800" b="1" spc="0">
                <a:solidFill>
                  <a:srgbClr val="FF0000"/>
                </a:solidFill>
                <a:latin typeface="Calibri" panose="22635452340000000000" pitchFamily="1"/>
              </a:rPr>
              <a:t>Glypiation: glycosyl-­‐phosphatidylinositolGlypiation: glycosyl-­‐phosphatidylinositol</a:t>
            </a:r>
            <a:r>
              <a:rPr lang="fr-FR" sz="1800" b="1" spc="0">
                <a:solidFill>
                  <a:srgbClr val="000000"/>
                </a:solidFill>
                <a:latin typeface="Calibri" panose="22635452340000000000" pitchFamily="1"/>
              </a:rPr>
              <a:t> ou</a:t>
            </a:r>
            <a:r>
              <a:rPr lang="fr-FR" sz="1800" b="1" spc="0">
                <a:solidFill>
                  <a:srgbClr val="FF0000"/>
                </a:solidFill>
                <a:latin typeface="Calibri" panose="22635452340000000000" pitchFamily="1"/>
              </a:rPr>
              <a:t> GPI</a:t>
            </a:r>
            <a:r>
              <a:rPr lang="fr-FR" sz="1800" b="1" spc="0">
                <a:solidFill>
                  <a:srgbClr val="000000"/>
                </a:solidFill>
                <a:latin typeface="Calibri" panose="22635452340000000000" pitchFamily="1"/>
              </a:rPr>
              <a:t> ou ancre GPI</a:t>
            </a:r>
          </a:p>
          <a:p>
            <a:pPr marL="2011680" marR="0" indent="0" algn="l">
              <a:lnSpc>
                <a:spcPct val="99839"/>
              </a:lnSpc>
              <a:spcBef>
                <a:spcPts val="0"/>
              </a:spcBef>
              <a:spcAft>
                <a:spcPts val="0"/>
              </a:spcAft>
            </a:pPr>
            <a:r>
              <a:rPr lang="fr-FR" sz="1800" b="1" spc="-50">
                <a:solidFill>
                  <a:srgbClr val="000000"/>
                </a:solidFill>
                <a:latin typeface="Calibri" panose="22635452340000000000" pitchFamily="1"/>
              </a:rPr>
              <a:t>sur un acide aminé en position</a:t>
            </a:r>
            <a:r>
              <a:rPr lang="fr-FR" sz="1800" b="1" spc="-50">
                <a:solidFill>
                  <a:srgbClr val="FF0000"/>
                </a:solidFill>
                <a:latin typeface="Calibri" panose="22635452340000000000" pitchFamily="1"/>
              </a:rPr>
              <a:t> C-­‐terminale C-­‐terminale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49_1_">
    <p:bg>
      <p:bgPr>
        <a:solidFill>
          <a:schemeClr val="bg1">
            <a:alpha val="0"/>
          </a:schemeClr>
        </a:solidFill>
        <a:effectLst/>
      </p:bgPr>
    </p:bg>
    <p:spTree>
      <p:nvGrpSpPr>
        <p:cNvPr id="1" name=""/>
        <p:cNvGrpSpPr/>
        <p:nvPr/>
      </p:nvGrpSpPr>
      <p:grpSpPr>
        <a:xfrm>
          <a:off x="0" y="0"/>
          <a:ext cx="0" cy="0"/>
          <a:chOff x="0" y="0"/>
          <a:chExt cx="0" cy="0"/>
        </a:xfrm>
      </p:grpSpPr>
      <p:sp>
        <p:nvSpPr>
          <p:cNvPr id="281" name="Espace réservé du texte 280"/>
          <p:cNvSpPr>
            <a:spLocks noGrp="1"/>
          </p:cNvSpPr>
          <p:nvPr>
            <p:ph type="body" idx="10"/>
          </p:nvPr>
        </p:nvSpPr>
        <p:spPr>
          <a:xfrm>
            <a:off x="151765" y="266065"/>
            <a:ext cx="7884795" cy="1329055"/>
          </a:xfrm>
          <a:prstGeom prst="rect">
            <a:avLst/>
          </a:prstGeom>
          <a:noFill/>
          <a:ln w="39370" cmpd="sng">
            <a:solidFill>
              <a:srgbClr val="109193"/>
            </a:solidFill>
            <a:prstDash val="solid"/>
          </a:ln>
        </p:spPr>
        <p:txBody>
          <a:bodyPr lIns="0" tIns="91440" rIns="0" bIns="0"/>
          <a:lstStyle/>
          <a:p>
            <a:r>
              <a:rPr lang="fr-FR"/>
              <a:t>Protéines membranaires</a:t>
            </a:r>
          </a:p>
          <a:p>
            <a:r>
              <a:rPr lang="fr-FR"/>
              <a:t>• Protéines membranaires: rôles</a:t>
            </a:r>
          </a:p>
        </p:txBody>
      </p:sp>
      <p:sp>
        <p:nvSpPr>
          <p:cNvPr id="282" name="Espace réservé du texte 281"/>
          <p:cNvSpPr>
            <a:spLocks noGrp="1"/>
          </p:cNvSpPr>
          <p:nvPr>
            <p:ph type="body" idx="10"/>
          </p:nvPr>
        </p:nvSpPr>
        <p:spPr>
          <a:xfrm>
            <a:off x="2321560" y="295275"/>
            <a:ext cx="4020185" cy="573405"/>
          </a:xfrm>
          <a:prstGeom prst="rect">
            <a:avLst/>
          </a:prstGeom>
          <a:noFill/>
          <a:ln w="34925" cmpd="sng">
            <a:solidFill>
              <a:srgbClr val="20E7BD"/>
            </a:solidFill>
            <a:prstDash val="solid"/>
          </a:ln>
        </p:spPr>
        <p:txBody>
          <a:bodyPr lIns="0" tIns="0" rIns="0" bIns="0"/>
          <a:lstStyle/>
          <a:p>
            <a:r>
              <a:rPr lang="fr-FR"/>
              <a:t>Protéines membranaires</a:t>
            </a:r>
          </a:p>
        </p:txBody>
      </p:sp>
      <p:sp>
        <p:nvSpPr>
          <p:cNvPr id="283" name="Espace réservé du texte 282"/>
          <p:cNvSpPr>
            <a:spLocks noGrp="1"/>
          </p:cNvSpPr>
          <p:nvPr>
            <p:ph type="body" idx="10"/>
          </p:nvPr>
        </p:nvSpPr>
        <p:spPr>
          <a:xfrm>
            <a:off x="2321560" y="295275"/>
            <a:ext cx="4020185" cy="573405"/>
          </a:xfrm>
          <a:prstGeom prst="rect">
            <a:avLst/>
          </a:prstGeom>
          <a:noFill/>
          <a:ln w="34925" cmpd="sng">
            <a:solidFill>
              <a:srgbClr val="20E7BD"/>
            </a:solidFill>
            <a:prstDash val="solid"/>
          </a:ln>
        </p:spPr>
        <p:txBody>
          <a:bodyPr lIns="0" tIns="0" rIns="0" bIns="0"/>
          <a:lstStyle/>
          <a:p>
            <a:r>
              <a:rPr lang="fr-FR"/>
              <a:t>Protéines membranaires</a:t>
            </a:r>
          </a:p>
        </p:txBody>
      </p:sp>
      <p:sp>
        <p:nvSpPr>
          <p:cNvPr id="284" name="Espace réservé du texte 283"/>
          <p:cNvSpPr>
            <a:spLocks noGrp="1"/>
          </p:cNvSpPr>
          <p:nvPr>
            <p:ph type="body" idx="10"/>
          </p:nvPr>
        </p:nvSpPr>
        <p:spPr>
          <a:xfrm>
            <a:off x="363220" y="1114425"/>
            <a:ext cx="7848600" cy="1732280"/>
          </a:xfrm>
          <a:prstGeom prst="rect">
            <a:avLst/>
          </a:prstGeom>
          <a:noFill/>
          <a:ln w="0" cmpd="sng">
            <a:noFill/>
            <a:prstDash val="solid"/>
          </a:ln>
        </p:spPr>
        <p:txBody>
          <a:bodyPr lIns="0" tIns="0" rIns="0" bIns="0"/>
          <a:lstStyle/>
          <a:p>
            <a:r>
              <a:rPr lang="fr-FR"/>
              <a:t>Protéines: Extrinsèque, périphérique</a:t>
            </a:r>
          </a:p>
          <a:p>
            <a:r>
              <a:rPr lang="fr-FR"/>
              <a:t>liaisons: forces ioniques (extraction facile: solutions hypersalines</a:t>
            </a:r>
          </a:p>
          <a:p>
            <a:r>
              <a:rPr lang="fr-FR"/>
              <a:t>à force ionique, ex. NaCl, Bicarbonates)</a:t>
            </a:r>
          </a:p>
          <a:p>
            <a:r>
              <a:rPr lang="fr-FR"/>
              <a:t>4 Extrémité hydrophile des PL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81_1_">
    <p:bg>
      <p:bgPr>
        <a:solidFill>
          <a:schemeClr val="bg1">
            <a:alpha val="0"/>
          </a:schemeClr>
        </a:solidFill>
        <a:effectLst/>
      </p:bgPr>
    </p:bg>
    <p:spTree>
      <p:nvGrpSpPr>
        <p:cNvPr id="1" name=""/>
        <p:cNvGrpSpPr/>
        <p:nvPr/>
      </p:nvGrpSpPr>
      <p:grpSpPr>
        <a:xfrm>
          <a:off x="0" y="0"/>
          <a:ext cx="0" cy="0"/>
          <a:chOff x="0" y="0"/>
          <a:chExt cx="0" cy="0"/>
        </a:xfrm>
      </p:grpSpPr>
      <p:sp>
        <p:nvSpPr>
          <p:cNvPr id="399" name="Espace réservé du texte 398"/>
          <p:cNvSpPr>
            <a:spLocks noGrp="1"/>
          </p:cNvSpPr>
          <p:nvPr>
            <p:ph type="body" idx="10"/>
          </p:nvPr>
        </p:nvSpPr>
        <p:spPr>
          <a:xfrm>
            <a:off x="857259" y="308193"/>
            <a:ext cx="7343974" cy="2117022"/>
          </a:xfrm>
          <a:prstGeom prst="rect">
            <a:avLst/>
          </a:prstGeom>
          <a:noFill/>
          <a:ln w="0" cmpd="sng">
            <a:noFill/>
            <a:prstDash val="solid"/>
          </a:ln>
        </p:spPr>
        <p:txBody>
          <a:bodyPr lIns="0" tIns="0" rIns="0" bIns="0"/>
          <a:lstStyle>
            <a:lvl1pPr marL="2324268" marR="0" indent="0" algn="l">
              <a:lnSpc>
                <a:spcPct val="95999"/>
              </a:lnSpc>
              <a:spcBef>
                <a:spcPts val="0"/>
              </a:spcBef>
              <a:spcAft>
                <a:spcPts val="7731"/>
              </a:spcAft>
              <a:defRPr/>
            </a:lvl1pPr>
          </a:lstStyle>
          <a:p>
            <a:r>
              <a:rPr lang="fr-FR" dirty="0"/>
              <a:t>Exemples de 2 protéines intrinsèques</a:t>
            </a:r>
          </a:p>
          <a:p>
            <a:r>
              <a:rPr lang="fr-FR" dirty="0"/>
              <a:t>de l'érythrocyte</a:t>
            </a:r>
          </a:p>
        </p:txBody>
      </p:sp>
      <p:sp>
        <p:nvSpPr>
          <p:cNvPr id="402" name="Espace réservé du texte 401"/>
          <p:cNvSpPr>
            <a:spLocks noGrp="1"/>
          </p:cNvSpPr>
          <p:nvPr>
            <p:ph type="body" idx="10"/>
          </p:nvPr>
        </p:nvSpPr>
        <p:spPr>
          <a:xfrm>
            <a:off x="857258" y="5339505"/>
            <a:ext cx="3028365" cy="798996"/>
          </a:xfrm>
          <a:prstGeom prst="rect">
            <a:avLst/>
          </a:prstGeom>
          <a:noFill/>
          <a:ln w="0" cmpd="sng">
            <a:noFill/>
            <a:prstDash val="solid"/>
          </a:ln>
        </p:spPr>
        <p:txBody>
          <a:bodyPr lIns="0" tIns="0" rIns="0" bIns="0"/>
          <a:lstStyle>
            <a:lvl1pPr marL="0" marR="0" indent="0" algn="ctr">
              <a:lnSpc>
                <a:spcPts val="1665"/>
              </a:lnSpc>
              <a:spcBef>
                <a:spcPts val="0"/>
              </a:spcBef>
              <a:spcAft>
                <a:spcPts val="0"/>
              </a:spcAft>
              <a:defRPr/>
            </a:lvl1pPr>
          </a:lstStyle>
          <a:p>
            <a:r>
              <a:rPr lang="fr-FR" dirty="0"/>
              <a:t>La </a:t>
            </a:r>
            <a:r>
              <a:rPr lang="fr-FR" dirty="0" err="1"/>
              <a:t>glycophorine</a:t>
            </a:r>
            <a:r>
              <a:rPr lang="fr-FR" dirty="0"/>
              <a:t> ne</a:t>
            </a:r>
          </a:p>
          <a:p>
            <a:r>
              <a:rPr lang="fr-FR" dirty="0"/>
              <a:t>comporte qu'une seule</a:t>
            </a:r>
          </a:p>
          <a:p>
            <a:r>
              <a:rPr lang="fr-FR" dirty="0"/>
              <a:t>hélice a transmembranaire</a:t>
            </a:r>
          </a:p>
        </p:txBody>
      </p:sp>
      <p:sp>
        <p:nvSpPr>
          <p:cNvPr id="403" name="Espace réservé du texte 402"/>
          <p:cNvSpPr>
            <a:spLocks noGrp="1"/>
          </p:cNvSpPr>
          <p:nvPr>
            <p:ph type="body" idx="10"/>
          </p:nvPr>
        </p:nvSpPr>
        <p:spPr>
          <a:xfrm>
            <a:off x="4753197" y="2425215"/>
            <a:ext cx="3448036" cy="399210"/>
          </a:xfrm>
          <a:prstGeom prst="rect">
            <a:avLst/>
          </a:prstGeom>
          <a:noFill/>
          <a:ln w="0" cmpd="sng">
            <a:noFill/>
            <a:prstDash val="solid"/>
          </a:ln>
        </p:spPr>
        <p:txBody>
          <a:bodyPr lIns="0" tIns="0" rIns="0" bIns="0"/>
          <a:lstStyle>
            <a:lvl1pPr marL="0" marR="0" indent="0" algn="l">
              <a:lnSpc>
                <a:spcPct val="130559"/>
              </a:lnSpc>
              <a:spcBef>
                <a:spcPts val="0"/>
              </a:spcBef>
              <a:spcAft>
                <a:spcPts val="0"/>
              </a:spcAft>
              <a:defRPr/>
            </a:lvl1pPr>
          </a:lstStyle>
          <a:p>
            <a:r>
              <a:rPr lang="fr-FR" dirty="0"/>
              <a:t>EC4</a:t>
            </a:r>
          </a:p>
          <a:p>
            <a:r>
              <a:rPr lang="fr-FR" dirty="0"/>
              <a:t>EC1 EC2 EC3 \ V</a:t>
            </a:r>
          </a:p>
        </p:txBody>
      </p:sp>
      <p:sp>
        <p:nvSpPr>
          <p:cNvPr id="404" name="Espace réservé du texte 403"/>
          <p:cNvSpPr>
            <a:spLocks noGrp="1"/>
          </p:cNvSpPr>
          <p:nvPr>
            <p:ph type="body" idx="10"/>
          </p:nvPr>
        </p:nvSpPr>
        <p:spPr>
          <a:xfrm>
            <a:off x="6785861" y="2824425"/>
            <a:ext cx="453332" cy="793235"/>
          </a:xfrm>
          <a:prstGeom prst="rect">
            <a:avLst/>
          </a:prstGeom>
          <a:noFill/>
          <a:ln w="0" cmpd="sng">
            <a:noFill/>
            <a:prstDash val="solid"/>
          </a:ln>
        </p:spPr>
        <p:txBody>
          <a:bodyPr lIns="0" tIns="561030" rIns="0" bIns="0"/>
          <a:lstStyle>
            <a:lvl1pPr marL="0" marR="0" indent="0" algn="l">
              <a:lnSpc>
                <a:spcPct val="84479"/>
              </a:lnSpc>
              <a:spcAft>
                <a:spcPts val="473"/>
              </a:spcAft>
              <a:defRPr/>
            </a:lvl1pPr>
          </a:lstStyle>
          <a:p>
            <a:r>
              <a:rPr lang="fr-FR" dirty="0"/>
              <a:t>12 13 14</a:t>
            </a:r>
          </a:p>
        </p:txBody>
      </p:sp>
      <p:sp>
        <p:nvSpPr>
          <p:cNvPr id="405" name="Espace réservé du texte 404"/>
          <p:cNvSpPr>
            <a:spLocks noGrp="1"/>
          </p:cNvSpPr>
          <p:nvPr>
            <p:ph type="body" idx="10"/>
          </p:nvPr>
        </p:nvSpPr>
        <p:spPr>
          <a:xfrm>
            <a:off x="6713111" y="3617660"/>
            <a:ext cx="1488122" cy="72008"/>
          </a:xfrm>
          <a:prstGeom prst="rect">
            <a:avLst/>
          </a:prstGeom>
          <a:noFill/>
          <a:ln w="0" cmpd="sng">
            <a:noFill/>
            <a:prstDash val="solid"/>
          </a:ln>
        </p:spPr>
        <p:txBody>
          <a:bodyPr lIns="0" tIns="0" rIns="0" bIns="0"/>
          <a:lstStyle/>
          <a:p>
            <a:r>
              <a:rPr lang="en-US" dirty="0"/>
              <a:t> </a:t>
            </a:r>
          </a:p>
        </p:txBody>
      </p:sp>
      <p:sp>
        <p:nvSpPr>
          <p:cNvPr id="406" name="Espace réservé du texte 405"/>
          <p:cNvSpPr>
            <a:spLocks noGrp="1"/>
          </p:cNvSpPr>
          <p:nvPr>
            <p:ph type="body" idx="10"/>
          </p:nvPr>
        </p:nvSpPr>
        <p:spPr>
          <a:xfrm>
            <a:off x="5430751" y="3689667"/>
            <a:ext cx="208478" cy="710859"/>
          </a:xfrm>
          <a:prstGeom prst="rect">
            <a:avLst/>
          </a:prstGeom>
          <a:noFill/>
          <a:ln w="0" cmpd="sng">
            <a:noFill/>
            <a:prstDash val="solid"/>
          </a:ln>
        </p:spPr>
        <p:txBody>
          <a:bodyPr lIns="0" tIns="500920" rIns="0" bIns="0"/>
          <a:lstStyle>
            <a:lvl1pPr marL="0" marR="0" indent="0" algn="l">
              <a:lnSpc>
                <a:spcPct val="82559"/>
              </a:lnSpc>
              <a:spcAft>
                <a:spcPts val="158"/>
              </a:spcAft>
              <a:defRPr/>
            </a:lvl1pPr>
          </a:lstStyle>
          <a:p>
            <a:r>
              <a:rPr lang="fr-FR" dirty="0"/>
              <a:t>1C2</a:t>
            </a:r>
          </a:p>
        </p:txBody>
      </p:sp>
      <p:sp>
        <p:nvSpPr>
          <p:cNvPr id="407" name="Espace réservé du texte 406"/>
          <p:cNvSpPr>
            <a:spLocks noGrp="1"/>
          </p:cNvSpPr>
          <p:nvPr>
            <p:ph type="body" idx="10"/>
          </p:nvPr>
        </p:nvSpPr>
        <p:spPr>
          <a:xfrm>
            <a:off x="6728855" y="4400526"/>
            <a:ext cx="208478" cy="668230"/>
          </a:xfrm>
          <a:prstGeom prst="rect">
            <a:avLst/>
          </a:prstGeom>
          <a:noFill/>
          <a:ln w="0" cmpd="sng">
            <a:noFill/>
            <a:prstDash val="solid"/>
          </a:ln>
        </p:spPr>
        <p:txBody>
          <a:bodyPr lIns="0" tIns="20037" rIns="0" bIns="0"/>
          <a:lstStyle>
            <a:lvl1pPr marL="0" marR="0" indent="0" algn="l">
              <a:lnSpc>
                <a:spcPct val="79679"/>
              </a:lnSpc>
              <a:spcAft>
                <a:spcPts val="3471"/>
              </a:spcAft>
              <a:defRPr/>
            </a:lvl1pPr>
          </a:lstStyle>
          <a:p>
            <a:r>
              <a:rPr lang="fr-FR" dirty="0"/>
              <a:t>105</a:t>
            </a:r>
          </a:p>
        </p:txBody>
      </p:sp>
      <p:sp>
        <p:nvSpPr>
          <p:cNvPr id="408" name="Espace réservé du texte 407"/>
          <p:cNvSpPr>
            <a:spLocks noGrp="1"/>
          </p:cNvSpPr>
          <p:nvPr>
            <p:ph type="body" idx="10"/>
          </p:nvPr>
        </p:nvSpPr>
        <p:spPr>
          <a:xfrm>
            <a:off x="4753197" y="5068756"/>
            <a:ext cx="3448036" cy="809941"/>
          </a:xfrm>
          <a:prstGeom prst="rect">
            <a:avLst/>
          </a:prstGeom>
          <a:noFill/>
          <a:ln w="0" cmpd="sng">
            <a:noFill/>
            <a:prstDash val="solid"/>
          </a:ln>
        </p:spPr>
        <p:txBody>
          <a:bodyPr lIns="0" tIns="0" rIns="0" bIns="0"/>
          <a:lstStyle>
            <a:lvl1pPr marL="601104" marR="0" indent="0" algn="l">
              <a:lnSpc>
                <a:spcPts val="1753"/>
              </a:lnSpc>
              <a:spcBef>
                <a:spcPts val="0"/>
              </a:spcBef>
              <a:spcAft>
                <a:spcPts val="0"/>
              </a:spcAft>
              <a:defRPr/>
            </a:lvl1pPr>
          </a:lstStyle>
          <a:p>
            <a:r>
              <a:rPr lang="fr-FR" dirty="0"/>
              <a:t>La protéine de la bande 3</a:t>
            </a:r>
          </a:p>
          <a:p>
            <a:r>
              <a:rPr lang="fr-FR" dirty="0"/>
              <a:t>comporte 14 hélice a</a:t>
            </a:r>
          </a:p>
          <a:p>
            <a:r>
              <a:rPr lang="fr-FR" dirty="0"/>
              <a:t>transmembranaire</a:t>
            </a:r>
          </a:p>
        </p:txBody>
      </p:sp>
      <p:sp>
        <p:nvSpPr>
          <p:cNvPr id="409" name="Espace réservé du texte 408"/>
          <p:cNvSpPr>
            <a:spLocks noGrp="1"/>
          </p:cNvSpPr>
          <p:nvPr>
            <p:ph type="body" idx="10"/>
          </p:nvPr>
        </p:nvSpPr>
        <p:spPr>
          <a:xfrm>
            <a:off x="771478" y="2520265"/>
            <a:ext cx="854544" cy="2594000"/>
          </a:xfrm>
          <a:prstGeom prst="rect">
            <a:avLst/>
          </a:prstGeom>
          <a:noFill/>
          <a:ln w="0" cmpd="sng">
            <a:noFill/>
            <a:prstDash val="solid"/>
          </a:ln>
        </p:spPr>
        <p:txBody>
          <a:bodyPr lIns="0" tIns="260478" rIns="0" bIns="0"/>
          <a:lstStyle>
            <a:lvl1pPr marL="0" marR="0" indent="0" algn="l">
              <a:lnSpc>
                <a:spcPct val="95999"/>
              </a:lnSpc>
              <a:spcAft>
                <a:spcPts val="16250"/>
              </a:spcAft>
              <a:defRPr/>
            </a:lvl1pPr>
          </a:lstStyle>
          <a:p>
            <a:r>
              <a:rPr lang="fr-FR" dirty="0"/>
              <a:t>&amp;</a:t>
            </a:r>
            <a:r>
              <a:rPr lang="fr-FR" dirty="0" err="1"/>
              <a:t>Iycophorin</a:t>
            </a:r>
            <a:endParaRPr lang="fr-FR" dirty="0"/>
          </a:p>
        </p:txBody>
      </p:sp>
      <p:sp>
        <p:nvSpPr>
          <p:cNvPr id="410" name="Espace réservé du texte 409"/>
          <p:cNvSpPr>
            <a:spLocks noGrp="1"/>
          </p:cNvSpPr>
          <p:nvPr>
            <p:ph type="body" idx="10"/>
          </p:nvPr>
        </p:nvSpPr>
        <p:spPr>
          <a:xfrm>
            <a:off x="4753197" y="3417767"/>
            <a:ext cx="634122" cy="957413"/>
          </a:xfrm>
          <a:prstGeom prst="rect">
            <a:avLst/>
          </a:prstGeom>
          <a:noFill/>
          <a:ln w="0" cmpd="sng">
            <a:noFill/>
            <a:prstDash val="solid"/>
          </a:ln>
        </p:spPr>
        <p:txBody>
          <a:bodyPr lIns="0" tIns="0" rIns="0" bIns="0"/>
          <a:lstStyle>
            <a:lvl1pPr marL="80147" marR="0" indent="0" algn="l">
              <a:lnSpc>
                <a:spcPct val="119999"/>
              </a:lnSpc>
              <a:spcBef>
                <a:spcPts val="4418"/>
              </a:spcBef>
              <a:spcAft>
                <a:spcPts val="316"/>
              </a:spcAft>
              <a:defRPr/>
            </a:lvl1pPr>
          </a:lstStyle>
          <a:p>
            <a:r>
              <a:rPr lang="fr-FR" dirty="0"/>
              <a:t>3</a:t>
            </a:r>
          </a:p>
          <a:p>
            <a:r>
              <a:rPr lang="fr-FR" dirty="0"/>
              <a:t>NH2</a:t>
            </a:r>
          </a:p>
        </p:txBody>
      </p:sp>
      <p:sp>
        <p:nvSpPr>
          <p:cNvPr id="411" name="Espace réservé du texte 410"/>
          <p:cNvSpPr>
            <a:spLocks noGrp="1"/>
          </p:cNvSpPr>
          <p:nvPr>
            <p:ph type="body" idx="10"/>
          </p:nvPr>
        </p:nvSpPr>
        <p:spPr>
          <a:xfrm>
            <a:off x="5387318" y="3138378"/>
            <a:ext cx="421300" cy="551290"/>
          </a:xfrm>
          <a:prstGeom prst="rect">
            <a:avLst/>
          </a:prstGeom>
          <a:noFill/>
          <a:ln w="0" cmpd="sng">
            <a:noFill/>
            <a:prstDash val="solid"/>
          </a:ln>
        </p:spPr>
        <p:txBody>
          <a:bodyPr lIns="0" tIns="260478" rIns="0" bIns="0"/>
          <a:lstStyle>
            <a:lvl1pPr marL="0" marR="0" indent="0" algn="ctr">
              <a:lnSpc>
                <a:spcPct val="77759"/>
              </a:lnSpc>
              <a:spcAft>
                <a:spcPts val="789"/>
              </a:spcAft>
              <a:defRPr/>
            </a:lvl1pPr>
          </a:lstStyle>
          <a:p>
            <a:r>
              <a:rPr lang="fr-FR" dirty="0"/>
              <a:t>4 5</a:t>
            </a:r>
          </a:p>
        </p:txBody>
      </p:sp>
      <p:sp>
        <p:nvSpPr>
          <p:cNvPr id="412" name="Espace réservé du texte 411"/>
          <p:cNvSpPr>
            <a:spLocks noGrp="1"/>
          </p:cNvSpPr>
          <p:nvPr>
            <p:ph type="body" idx="10"/>
          </p:nvPr>
        </p:nvSpPr>
        <p:spPr>
          <a:xfrm>
            <a:off x="5808618" y="2875694"/>
            <a:ext cx="904492" cy="1703987"/>
          </a:xfrm>
          <a:prstGeom prst="rect">
            <a:avLst/>
          </a:prstGeom>
          <a:noFill/>
          <a:ln w="0" cmpd="sng">
            <a:noFill/>
            <a:prstDash val="solid"/>
          </a:ln>
        </p:spPr>
        <p:txBody>
          <a:bodyPr lIns="0" tIns="160294" rIns="0" bIns="0"/>
          <a:lstStyle>
            <a:lvl1pPr marL="0" marR="0" indent="0" algn="ctr">
              <a:lnSpc>
                <a:spcPts val="4295"/>
              </a:lnSpc>
              <a:spcAft>
                <a:spcPts val="2367"/>
              </a:spcAft>
              <a:defRPr/>
            </a:lvl1pPr>
          </a:lstStyle>
          <a:p>
            <a:r>
              <a:rPr lang="fr-FR" dirty="0"/>
              <a:t>6 7 8 9 10 11</a:t>
            </a:r>
            <a:r>
              <a:t/>
            </a:r>
            <a:br/>
            <a:r>
              <a:rPr lang="fr-FR" dirty="0"/>
              <a:t>IC3 IC4</a:t>
            </a:r>
          </a:p>
        </p:txBody>
      </p:sp>
      <p:sp>
        <p:nvSpPr>
          <p:cNvPr id="415" name="Espace réservé du texte 414"/>
          <p:cNvSpPr>
            <a:spLocks noGrp="1"/>
          </p:cNvSpPr>
          <p:nvPr>
            <p:ph type="body" idx="10"/>
          </p:nvPr>
        </p:nvSpPr>
        <p:spPr>
          <a:xfrm>
            <a:off x="7810336" y="2875694"/>
            <a:ext cx="390897" cy="690697"/>
          </a:xfrm>
          <a:prstGeom prst="rect">
            <a:avLst/>
          </a:prstGeom>
          <a:noFill/>
          <a:ln w="0" cmpd="sng">
            <a:noFill/>
            <a:prstDash val="solid"/>
          </a:ln>
        </p:spPr>
        <p:txBody>
          <a:bodyPr lIns="0" tIns="80147" rIns="0" bIns="0"/>
          <a:lstStyle>
            <a:lvl1pPr marL="0" marR="0" indent="0" algn="ctr">
              <a:lnSpc>
                <a:spcPct val="191999"/>
              </a:lnSpc>
              <a:spcAft>
                <a:spcPts val="0"/>
              </a:spcAft>
              <a:defRPr/>
            </a:lvl1pPr>
          </a:lstStyle>
          <a:p>
            <a:r>
              <a:rPr lang="fr-FR" dirty="0"/>
              <a:t>out</a:t>
            </a:r>
            <a:r>
              <a:t/>
            </a:r>
            <a:br/>
            <a:r>
              <a:rPr lang="fr-FR" dirty="0" err="1"/>
              <a:t>mem</a:t>
            </a:r>
            <a:endParaRPr lang="fr-FR" dirty="0"/>
          </a:p>
        </p:txBody>
      </p:sp>
    </p:spTree>
    <p:extLst>
      <p:ext uri="{BB962C8B-B14F-4D97-AF65-F5344CB8AC3E}">
        <p14:creationId xmlns:p14="http://schemas.microsoft.com/office/powerpoint/2010/main" val="19979893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9_1_">
    <p:bg>
      <p:bgPr>
        <a:solidFill>
          <a:schemeClr val="bg1">
            <a:alpha val="0"/>
          </a:schemeClr>
        </a:solidFill>
        <a:effectLst/>
      </p:bgPr>
    </p:bg>
    <p:spTree>
      <p:nvGrpSpPr>
        <p:cNvPr id="1" name=""/>
        <p:cNvGrpSpPr/>
        <p:nvPr/>
      </p:nvGrpSpPr>
      <p:grpSpPr>
        <a:xfrm>
          <a:off x="0" y="0"/>
          <a:ext cx="0" cy="0"/>
          <a:chOff x="0" y="0"/>
          <a:chExt cx="0" cy="0"/>
        </a:xfrm>
      </p:grpSpPr>
      <p:sp>
        <p:nvSpPr>
          <p:cNvPr id="449" name="Espace réservé du texte 448"/>
          <p:cNvSpPr>
            <a:spLocks noGrp="1"/>
          </p:cNvSpPr>
          <p:nvPr>
            <p:ph type="body" idx="10"/>
          </p:nvPr>
        </p:nvSpPr>
        <p:spPr>
          <a:xfrm>
            <a:off x="1014160" y="5953009"/>
            <a:ext cx="7089348" cy="306464"/>
          </a:xfrm>
          <a:prstGeom prst="rect">
            <a:avLst/>
          </a:prstGeom>
          <a:noFill/>
          <a:ln w="28575" cmpd="sng">
            <a:solidFill>
              <a:srgbClr val="807E4C"/>
            </a:solidFill>
            <a:prstDash val="solid"/>
          </a:ln>
        </p:spPr>
        <p:txBody>
          <a:bodyPr lIns="0" tIns="0" rIns="0" bIns="0"/>
          <a:lstStyle>
            <a:lvl1pPr marL="0" marR="0" indent="0" algn="r">
              <a:lnSpc>
                <a:spcPts val="1928"/>
              </a:lnSpc>
              <a:spcAft>
                <a:spcPts val="0"/>
              </a:spcAft>
              <a:defRPr/>
            </a:lvl1pPr>
          </a:lstStyle>
          <a:p>
            <a:r>
              <a:rPr lang="fr-FR" dirty="0"/>
              <a:t>Expérience démontrant la mobilité des protéines membranaire</a:t>
            </a:r>
          </a:p>
        </p:txBody>
      </p:sp>
      <p:sp>
        <p:nvSpPr>
          <p:cNvPr id="452" name="Espace réservé du texte 451"/>
          <p:cNvSpPr>
            <a:spLocks noGrp="1"/>
          </p:cNvSpPr>
          <p:nvPr>
            <p:ph type="body" idx="10"/>
          </p:nvPr>
        </p:nvSpPr>
        <p:spPr>
          <a:xfrm>
            <a:off x="1042392" y="573180"/>
            <a:ext cx="7072518" cy="1538658"/>
          </a:xfrm>
          <a:prstGeom prst="rect">
            <a:avLst/>
          </a:prstGeom>
          <a:noFill/>
          <a:ln w="0" cmpd="sng">
            <a:noFill/>
            <a:prstDash val="solid"/>
          </a:ln>
        </p:spPr>
        <p:txBody>
          <a:bodyPr lIns="0" tIns="0" rIns="0" bIns="0"/>
          <a:lstStyle>
            <a:lvl1pPr marL="0" marR="0" indent="0" algn="ctr">
              <a:lnSpc>
                <a:spcPct val="95999"/>
              </a:lnSpc>
              <a:spcAft>
                <a:spcPts val="7415"/>
              </a:spcAft>
              <a:defRPr/>
            </a:lvl1pPr>
          </a:lstStyle>
          <a:p>
            <a:r>
              <a:rPr lang="fr-FR" dirty="0"/>
              <a:t>Les glucides membranaires</a:t>
            </a:r>
          </a:p>
        </p:txBody>
      </p:sp>
      <p:sp>
        <p:nvSpPr>
          <p:cNvPr id="453" name="Espace réservé du texte 452"/>
          <p:cNvSpPr>
            <a:spLocks noGrp="1"/>
          </p:cNvSpPr>
          <p:nvPr>
            <p:ph type="body" idx="10"/>
          </p:nvPr>
        </p:nvSpPr>
        <p:spPr>
          <a:xfrm>
            <a:off x="1140116" y="2111838"/>
            <a:ext cx="7343974" cy="1255812"/>
          </a:xfrm>
          <a:prstGeom prst="rect">
            <a:avLst/>
          </a:prstGeom>
          <a:noFill/>
          <a:ln w="0" cmpd="sng">
            <a:noFill/>
            <a:prstDash val="solid"/>
          </a:ln>
        </p:spPr>
        <p:txBody>
          <a:bodyPr lIns="0" tIns="0" rIns="0" bIns="0"/>
          <a:lstStyle>
            <a:lvl1pPr marL="0" marR="0" indent="360662" algn="l">
              <a:lnSpc>
                <a:spcPct val="95999"/>
              </a:lnSpc>
              <a:spcBef>
                <a:spcPts val="789"/>
              </a:spcBef>
              <a:spcAft>
                <a:spcPts val="1578"/>
              </a:spcAft>
              <a:buFont typeface="Symbol"/>
              <a:buChar char="·"/>
              <a:defRPr/>
            </a:lvl1pPr>
          </a:lstStyle>
          <a:p>
            <a:r>
              <a:rPr lang="fr-FR" dirty="0"/>
              <a:t>Liés aux lipides et aux protéines membranaires</a:t>
            </a:r>
          </a:p>
          <a:p>
            <a:r>
              <a:rPr lang="fr-FR" dirty="0"/>
              <a:t>Exposés à l'extérieur de la cellule</a:t>
            </a:r>
          </a:p>
        </p:txBody>
      </p:sp>
      <p:sp>
        <p:nvSpPr>
          <p:cNvPr id="454" name="Espace réservé du texte 453"/>
          <p:cNvSpPr>
            <a:spLocks noGrp="1"/>
          </p:cNvSpPr>
          <p:nvPr>
            <p:ph type="body" idx="10"/>
          </p:nvPr>
        </p:nvSpPr>
        <p:spPr>
          <a:xfrm>
            <a:off x="4795001" y="5488705"/>
            <a:ext cx="3937200" cy="875036"/>
          </a:xfrm>
          <a:prstGeom prst="rect">
            <a:avLst/>
          </a:prstGeom>
          <a:noFill/>
          <a:ln w="0" cmpd="sng">
            <a:noFill/>
            <a:prstDash val="solid"/>
          </a:ln>
        </p:spPr>
        <p:txBody>
          <a:bodyPr lIns="0" tIns="0" rIns="0" bIns="0"/>
          <a:lstStyle>
            <a:lvl1pPr marL="601104" marR="641177" indent="0" algn="l">
              <a:lnSpc>
                <a:spcPct val="95999"/>
              </a:lnSpc>
              <a:spcBef>
                <a:spcPts val="947"/>
              </a:spcBef>
              <a:spcAft>
                <a:spcPts val="473"/>
              </a:spcAft>
              <a:defRPr/>
            </a:lvl1pPr>
          </a:lstStyle>
          <a:p>
            <a:r>
              <a:rPr lang="fr-FR" dirty="0"/>
              <a:t>200 r-</a:t>
            </a:r>
            <a:r>
              <a:rPr lang="fr-FR" dirty="0" err="1"/>
              <a:t>Irvi</a:t>
            </a:r>
            <a:endParaRPr lang="fr-FR" dirty="0"/>
          </a:p>
          <a:p>
            <a:r>
              <a:rPr lang="fr-FR" dirty="0"/>
              <a:t>Figure 10-44, </a:t>
            </a:r>
            <a:r>
              <a:rPr lang="fr-FR" dirty="0" err="1"/>
              <a:t>McLecular</a:t>
            </a:r>
            <a:r>
              <a:rPr lang="fr-FR" dirty="0"/>
              <a:t> </a:t>
            </a:r>
            <a:r>
              <a:rPr lang="fr-FR" dirty="0" err="1"/>
              <a:t>Siclogy</a:t>
            </a:r>
            <a:r>
              <a:rPr lang="fr-FR" dirty="0"/>
              <a:t> of the </a:t>
            </a:r>
            <a:r>
              <a:rPr lang="fr-FR" dirty="0" err="1"/>
              <a:t>Cell</a:t>
            </a:r>
            <a:r>
              <a:rPr lang="fr-FR" dirty="0"/>
              <a:t>, 4th Edition.</a:t>
            </a:r>
          </a:p>
          <a:p>
            <a:r>
              <a:rPr lang="fr-FR" dirty="0"/>
              <a:t>La </a:t>
            </a:r>
            <a:r>
              <a:rPr lang="fr-FR" dirty="0" err="1"/>
              <a:t>glycocalyx</a:t>
            </a:r>
            <a:r>
              <a:rPr lang="fr-FR" dirty="0"/>
              <a:t> vue en microscopie électronique</a:t>
            </a:r>
          </a:p>
        </p:txBody>
      </p:sp>
      <p:sp>
        <p:nvSpPr>
          <p:cNvPr id="455" name="Espace réservé du texte 454"/>
          <p:cNvSpPr>
            <a:spLocks noGrp="1"/>
          </p:cNvSpPr>
          <p:nvPr>
            <p:ph type="body" idx="10"/>
          </p:nvPr>
        </p:nvSpPr>
        <p:spPr>
          <a:xfrm>
            <a:off x="526625" y="3367650"/>
            <a:ext cx="638465" cy="1866436"/>
          </a:xfrm>
          <a:prstGeom prst="rect">
            <a:avLst/>
          </a:prstGeom>
          <a:noFill/>
          <a:ln w="0" cmpd="sng">
            <a:noFill/>
            <a:prstDash val="solid"/>
          </a:ln>
        </p:spPr>
        <p:txBody>
          <a:bodyPr lIns="0" tIns="1302391" rIns="0" bIns="0"/>
          <a:lstStyle>
            <a:lvl1pPr marL="0" marR="0" indent="0" algn="r">
              <a:lnSpc>
                <a:spcPct val="95999"/>
              </a:lnSpc>
              <a:spcAft>
                <a:spcPts val="2051"/>
              </a:spcAft>
              <a:defRPr/>
            </a:lvl1pPr>
          </a:lstStyle>
          <a:p>
            <a:r>
              <a:rPr lang="fr-FR" dirty="0" err="1"/>
              <a:t>glycolip</a:t>
            </a:r>
            <a:endParaRPr lang="fr-FR" dirty="0"/>
          </a:p>
        </p:txBody>
      </p:sp>
      <p:sp>
        <p:nvSpPr>
          <p:cNvPr id="456" name="Espace réservé du texte 455"/>
          <p:cNvSpPr>
            <a:spLocks noGrp="1"/>
          </p:cNvSpPr>
          <p:nvPr>
            <p:ph type="body" idx="10"/>
          </p:nvPr>
        </p:nvSpPr>
        <p:spPr>
          <a:xfrm>
            <a:off x="526625" y="5234086"/>
            <a:ext cx="1052707" cy="718923"/>
          </a:xfrm>
          <a:prstGeom prst="rect">
            <a:avLst/>
          </a:prstGeom>
          <a:noFill/>
          <a:ln w="0" cmpd="sng">
            <a:noFill/>
            <a:prstDash val="solid"/>
          </a:ln>
        </p:spPr>
        <p:txBody>
          <a:bodyPr lIns="0" tIns="0" rIns="0" bIns="0"/>
          <a:lstStyle>
            <a:lvl1pPr marL="0" marR="0" indent="0" algn="l">
              <a:lnSpc>
                <a:spcPct val="95999"/>
              </a:lnSpc>
              <a:spcAft>
                <a:spcPts val="3471"/>
              </a:spcAft>
              <a:defRPr/>
            </a:lvl1pPr>
          </a:lstStyle>
          <a:p>
            <a:r>
              <a:rPr lang="fr-FR" dirty="0" err="1"/>
              <a:t>glycoprot</a:t>
            </a:r>
            <a:r>
              <a:rPr lang="fr-FR" dirty="0"/>
              <a:t> </a:t>
            </a:r>
            <a:r>
              <a:rPr lang="fr-FR" dirty="0" err="1"/>
              <a:t>éine</a:t>
            </a:r>
            <a:endParaRPr lang="fr-FR" dirty="0"/>
          </a:p>
        </p:txBody>
      </p:sp>
      <p:sp>
        <p:nvSpPr>
          <p:cNvPr id="459" name="Espace réservé du texte 458"/>
          <p:cNvSpPr>
            <a:spLocks noGrp="1"/>
          </p:cNvSpPr>
          <p:nvPr>
            <p:ph type="body" idx="10"/>
          </p:nvPr>
        </p:nvSpPr>
        <p:spPr>
          <a:xfrm>
            <a:off x="5970407" y="3367650"/>
            <a:ext cx="362122" cy="113484"/>
          </a:xfrm>
          <a:prstGeom prst="rect">
            <a:avLst/>
          </a:prstGeom>
          <a:solidFill>
            <a:srgbClr val="FFFFFF"/>
          </a:solidFill>
          <a:ln w="0" cmpd="sng">
            <a:noFill/>
            <a:prstDash val="solid"/>
          </a:ln>
        </p:spPr>
        <p:txBody>
          <a:bodyPr lIns="0" tIns="0" rIns="0" bIns="0"/>
          <a:lstStyle>
            <a:lvl1pPr marL="0" marR="0" indent="0" algn="l">
              <a:lnSpc>
                <a:spcPts val="964"/>
              </a:lnSpc>
              <a:spcAft>
                <a:spcPts val="0"/>
              </a:spcAft>
              <a:defRPr/>
            </a:lvl1pPr>
          </a:lstStyle>
          <a:p>
            <a:r>
              <a:rPr lang="fr-FR" dirty="0"/>
              <a:t>cytosol</a:t>
            </a:r>
          </a:p>
        </p:txBody>
      </p:sp>
    </p:spTree>
    <p:extLst>
      <p:ext uri="{BB962C8B-B14F-4D97-AF65-F5344CB8AC3E}">
        <p14:creationId xmlns:p14="http://schemas.microsoft.com/office/powerpoint/2010/main" val="4589888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46_1_">
    <p:bg>
      <p:bgPr>
        <a:solidFill>
          <a:schemeClr val="bg1">
            <a:alpha val="0"/>
          </a:schemeClr>
        </a:solidFill>
        <a:effectLst/>
      </p:bgPr>
    </p:bg>
    <p:spTree>
      <p:nvGrpSpPr>
        <p:cNvPr id="1" name=""/>
        <p:cNvGrpSpPr/>
        <p:nvPr/>
      </p:nvGrpSpPr>
      <p:grpSpPr>
        <a:xfrm>
          <a:off x="0" y="0"/>
          <a:ext cx="0" cy="0"/>
          <a:chOff x="0" y="0"/>
          <a:chExt cx="0" cy="0"/>
        </a:xfrm>
      </p:grpSpPr>
      <p:sp>
        <p:nvSpPr>
          <p:cNvPr id="129" name="Espace réservé du texte 128"/>
          <p:cNvSpPr>
            <a:spLocks noGrp="1"/>
          </p:cNvSpPr>
          <p:nvPr>
            <p:ph type="body" idx="10"/>
          </p:nvPr>
        </p:nvSpPr>
        <p:spPr>
          <a:xfrm>
            <a:off x="723265" y="266065"/>
            <a:ext cx="7423785" cy="573405"/>
          </a:xfrm>
          <a:prstGeom prst="rect">
            <a:avLst/>
          </a:prstGeom>
          <a:noFill/>
          <a:ln w="19685" cmpd="sng">
            <a:solidFill>
              <a:srgbClr val="40E2BD"/>
            </a:solidFill>
            <a:prstDash val="solid"/>
          </a:ln>
        </p:spPr>
        <p:txBody>
          <a:bodyPr lIns="0" tIns="91440" rIns="0" bIns="0"/>
          <a:lstStyle/>
          <a:p>
            <a:r>
              <a:rPr lang="fr-FR"/>
              <a:t>Protéines membranaires</a:t>
            </a:r>
          </a:p>
        </p:txBody>
      </p:sp>
      <p:sp>
        <p:nvSpPr>
          <p:cNvPr id="130" name="Espace réservé du texte 129"/>
          <p:cNvSpPr>
            <a:spLocks noGrp="1"/>
          </p:cNvSpPr>
          <p:nvPr>
            <p:ph type="body" idx="10"/>
          </p:nvPr>
        </p:nvSpPr>
        <p:spPr>
          <a:xfrm>
            <a:off x="723265" y="266065"/>
            <a:ext cx="7423785" cy="573405"/>
          </a:xfrm>
          <a:prstGeom prst="rect">
            <a:avLst/>
          </a:prstGeom>
          <a:noFill/>
          <a:ln w="19685" cmpd="sng">
            <a:solidFill>
              <a:srgbClr val="40E2BD"/>
            </a:solidFill>
            <a:prstDash val="solid"/>
          </a:ln>
        </p:spPr>
        <p:txBody>
          <a:bodyPr lIns="0" tIns="91440" rIns="0" bIns="0"/>
          <a:lstStyle/>
          <a:p>
            <a:r>
              <a:rPr lang="fr-FR"/>
              <a:t>Protéines membranaires</a:t>
            </a:r>
          </a:p>
        </p:txBody>
      </p:sp>
      <p:sp>
        <p:nvSpPr>
          <p:cNvPr id="131" name="Espace réservé du texte 130"/>
          <p:cNvSpPr>
            <a:spLocks noGrp="1"/>
          </p:cNvSpPr>
          <p:nvPr>
            <p:ph type="body" idx="10"/>
          </p:nvPr>
        </p:nvSpPr>
        <p:spPr>
          <a:xfrm>
            <a:off x="395605" y="1106170"/>
            <a:ext cx="7429500" cy="2258695"/>
          </a:xfrm>
          <a:prstGeom prst="rect">
            <a:avLst/>
          </a:prstGeom>
          <a:noFill/>
          <a:ln w="0" cmpd="sng">
            <a:noFill/>
            <a:prstDash val="solid"/>
          </a:ln>
        </p:spPr>
        <p:txBody>
          <a:bodyPr lIns="0" tIns="0" rIns="0" bIns="0"/>
          <a:lstStyle/>
          <a:p>
            <a:r>
              <a:rPr lang="fr-FR"/>
              <a:t>• Protéines:</a:t>
            </a:r>
          </a:p>
          <a:p>
            <a:r>
              <a:rPr lang="fr-FR"/>
              <a:t>– Intrinsèque:</a:t>
            </a:r>
          </a:p>
          <a:p>
            <a:r>
              <a:rPr lang="fr-FR"/>
              <a:t>– Contact direct avec les lipides: intégrée ou transmembranaire (70%)</a:t>
            </a:r>
          </a:p>
          <a:p>
            <a:r>
              <a:rPr lang="fr-FR"/>
              <a:t>4 Ancrage par la protéine</a:t>
            </a:r>
          </a:p>
          <a:p>
            <a:r>
              <a:rPr lang="fr-FR"/>
              <a:t>Protéines transmembranaires (intrinsèques)</a:t>
            </a:r>
          </a:p>
        </p:txBody>
      </p:sp>
      <p:sp>
        <p:nvSpPr>
          <p:cNvPr id="132" name="Espace réservé du texte 131"/>
          <p:cNvSpPr>
            <a:spLocks noGrp="1"/>
          </p:cNvSpPr>
          <p:nvPr>
            <p:ph type="body" idx="10"/>
          </p:nvPr>
        </p:nvSpPr>
        <p:spPr>
          <a:xfrm>
            <a:off x="395605" y="6122035"/>
            <a:ext cx="7429500" cy="370840"/>
          </a:xfrm>
          <a:prstGeom prst="rect">
            <a:avLst/>
          </a:prstGeom>
          <a:noFill/>
          <a:ln w="0" cmpd="sng">
            <a:noFill/>
            <a:prstDash val="solid"/>
          </a:ln>
        </p:spPr>
        <p:txBody>
          <a:bodyPr lIns="0" tIns="0" rIns="0" bIns="0"/>
          <a:lstStyle/>
          <a:p>
            <a:r>
              <a:rPr lang="fr-FR"/>
              <a:t>Plusieurs passages (hélice</a:t>
            </a:r>
          </a:p>
        </p:txBody>
      </p:sp>
      <p:sp>
        <p:nvSpPr>
          <p:cNvPr id="135" name="Espace réservé du texte 134"/>
          <p:cNvSpPr>
            <a:spLocks noGrp="1"/>
          </p:cNvSpPr>
          <p:nvPr>
            <p:ph type="body" idx="10"/>
          </p:nvPr>
        </p:nvSpPr>
        <p:spPr>
          <a:xfrm>
            <a:off x="6129655" y="3462655"/>
            <a:ext cx="481330" cy="127635"/>
          </a:xfrm>
          <a:prstGeom prst="rect">
            <a:avLst/>
          </a:prstGeom>
          <a:noFill/>
          <a:ln w="0" cmpd="sng">
            <a:noFill/>
            <a:prstDash val="solid"/>
          </a:ln>
        </p:spPr>
        <p:txBody>
          <a:bodyPr lIns="0" tIns="0" rIns="0" bIns="0"/>
          <a:lstStyle/>
          <a:p>
            <a:r>
              <a:rPr lang="fr-FR"/>
              <a:t>Boucle</a:t>
            </a:r>
          </a:p>
        </p:txBody>
      </p:sp>
      <p:sp>
        <p:nvSpPr>
          <p:cNvPr id="136" name="Espace réservé du texte 135"/>
          <p:cNvSpPr>
            <a:spLocks noGrp="1"/>
          </p:cNvSpPr>
          <p:nvPr>
            <p:ph type="body" idx="10"/>
          </p:nvPr>
        </p:nvSpPr>
        <p:spPr>
          <a:xfrm>
            <a:off x="1459865" y="4166870"/>
            <a:ext cx="512445" cy="127635"/>
          </a:xfrm>
          <a:prstGeom prst="rect">
            <a:avLst/>
          </a:prstGeom>
          <a:noFill/>
          <a:ln w="0" cmpd="sng">
            <a:noFill/>
            <a:prstDash val="solid"/>
          </a:ln>
        </p:spPr>
        <p:txBody>
          <a:bodyPr lIns="0" tIns="0" rIns="0" bIns="0"/>
          <a:lstStyle/>
          <a:p>
            <a:r>
              <a:rPr lang="fr-FR"/>
              <a:t>Hélices</a:t>
            </a:r>
          </a:p>
        </p:txBody>
      </p:sp>
      <p:sp>
        <p:nvSpPr>
          <p:cNvPr id="137" name="Espace réservé du texte 136"/>
          <p:cNvSpPr>
            <a:spLocks noGrp="1"/>
          </p:cNvSpPr>
          <p:nvPr>
            <p:ph type="body" idx="10"/>
          </p:nvPr>
        </p:nvSpPr>
        <p:spPr>
          <a:xfrm>
            <a:off x="1371600" y="5736590"/>
            <a:ext cx="1743710" cy="203835"/>
          </a:xfrm>
          <a:prstGeom prst="rect">
            <a:avLst/>
          </a:prstGeom>
          <a:noFill/>
          <a:ln w="0" cmpd="sng">
            <a:noFill/>
            <a:prstDash val="solid"/>
          </a:ln>
        </p:spPr>
        <p:txBody>
          <a:bodyPr lIns="0" tIns="0" rIns="0" bIns="0"/>
          <a:lstStyle/>
          <a:p>
            <a:r>
              <a:rPr lang="fr-FR"/>
              <a:t>Un passage (hélice</a:t>
            </a:r>
          </a:p>
        </p:txBody>
      </p:sp>
      <p:sp>
        <p:nvSpPr>
          <p:cNvPr id="138" name="Espace réservé du texte 137"/>
          <p:cNvSpPr>
            <a:spLocks noGrp="1"/>
          </p:cNvSpPr>
          <p:nvPr>
            <p:ph type="body" idx="10"/>
          </p:nvPr>
        </p:nvSpPr>
        <p:spPr>
          <a:xfrm>
            <a:off x="4206240" y="5727065"/>
            <a:ext cx="511810" cy="128270"/>
          </a:xfrm>
          <a:prstGeom prst="rect">
            <a:avLst/>
          </a:prstGeom>
          <a:noFill/>
          <a:ln w="0" cmpd="sng">
            <a:noFill/>
            <a:prstDash val="solid"/>
          </a:ln>
        </p:spPr>
        <p:txBody>
          <a:bodyPr lIns="0" tIns="0" rIns="0" bIns="0"/>
          <a:lstStyle/>
          <a:p>
            <a:r>
              <a:rPr lang="fr-FR"/>
              <a:t>Hélices</a:t>
            </a:r>
          </a:p>
        </p:txBody>
      </p:sp>
    </p:spTree>
    <p:extLst>
      <p:ext uri="{BB962C8B-B14F-4D97-AF65-F5344CB8AC3E}">
        <p14:creationId xmlns:p14="http://schemas.microsoft.com/office/powerpoint/2010/main" val="1076834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D51DC-AD46-448C-9C09-4D20EA0D5011}" type="datetimeFigureOut">
              <a:rPr lang="fr-FR" smtClean="0"/>
              <a:pPr/>
              <a:t>19/02/2025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BCB550-BEFC-42E7-99EE-BCC6B6A3AB43}"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5" r:id="rId13"/>
    <p:sldLayoutId id="2147483676" r:id="rId14"/>
    <p:sldLayoutId id="2147483678" r:id="rId15"/>
    <p:sldLayoutId id="2147483679" r:id="rId16"/>
    <p:sldLayoutId id="2147483690" r:id="rId17"/>
    <p:sldLayoutId id="2147483692" r:id="rId18"/>
    <p:sldLayoutId id="2147483699" r:id="rId19"/>
    <p:sldLayoutId id="2147483700" r:id="rId20"/>
    <p:sldLayoutId id="2147483701" r:id="rId2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aquaportail.com/pictures1305/spectrine.jpg"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467544" y="116632"/>
            <a:ext cx="8215370" cy="1944216"/>
          </a:xfrm>
          <a:ln w="38100">
            <a:solidFill>
              <a:schemeClr val="tx1"/>
            </a:solidFill>
          </a:ln>
        </p:spPr>
        <p:txBody>
          <a:bodyPr>
            <a:noAutofit/>
          </a:bodyPr>
          <a:lstStyle/>
          <a:p>
            <a:r>
              <a:rPr lang="fr-FR" sz="4400" dirty="0">
                <a:solidFill>
                  <a:schemeClr val="tx1"/>
                </a:solidFill>
                <a:latin typeface="Century Schoolbook" pitchFamily="18" charset="0"/>
              </a:rPr>
              <a:t>L</a:t>
            </a:r>
            <a:r>
              <a:rPr lang="fr-FR" sz="4400" dirty="0" smtClean="0">
                <a:solidFill>
                  <a:schemeClr val="tx1"/>
                </a:solidFill>
                <a:latin typeface="Century Schoolbook" pitchFamily="18" charset="0"/>
              </a:rPr>
              <a:t>a membrane plasmique</a:t>
            </a:r>
          </a:p>
          <a:p>
            <a:r>
              <a:rPr lang="fr-FR" sz="4400" dirty="0" smtClean="0">
                <a:solidFill>
                  <a:schemeClr val="tx1"/>
                </a:solidFill>
                <a:latin typeface="Century Schoolbook" pitchFamily="18" charset="0"/>
              </a:rPr>
              <a:t>Aspect ultra-structural</a:t>
            </a:r>
          </a:p>
          <a:p>
            <a:r>
              <a:rPr lang="fr-FR" sz="1800" dirty="0" smtClean="0">
                <a:solidFill>
                  <a:schemeClr val="tx1"/>
                </a:solidFill>
                <a:latin typeface="Century Schoolbook" pitchFamily="18" charset="0"/>
              </a:rPr>
              <a:t>                                                                                                 </a:t>
            </a:r>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404" y="2348880"/>
            <a:ext cx="7105650" cy="3867150"/>
          </a:xfrm>
          <a:prstGeom prst="rect">
            <a:avLst/>
          </a:prstGeom>
        </p:spPr>
      </p:pic>
      <p:sp>
        <p:nvSpPr>
          <p:cNvPr id="4" name="ZoneTexte 3"/>
          <p:cNvSpPr txBox="1"/>
          <p:nvPr/>
        </p:nvSpPr>
        <p:spPr>
          <a:xfrm>
            <a:off x="6372200" y="6304007"/>
            <a:ext cx="2310714" cy="400110"/>
          </a:xfrm>
          <a:prstGeom prst="rect">
            <a:avLst/>
          </a:prstGeom>
          <a:noFill/>
        </p:spPr>
        <p:txBody>
          <a:bodyPr wrap="square" rtlCol="0">
            <a:spAutoFit/>
          </a:bodyPr>
          <a:lstStyle/>
          <a:p>
            <a:r>
              <a:rPr lang="fr-FR" sz="2000" dirty="0">
                <a:latin typeface="Century Schoolbook" pitchFamily="18" charset="0"/>
              </a:rPr>
              <a:t> </a:t>
            </a:r>
            <a:r>
              <a:rPr lang="fr-FR" dirty="0">
                <a:latin typeface="Century Schoolbook" pitchFamily="18" charset="0"/>
              </a:rPr>
              <a:t>Dr. AOUATI Amel</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Espace réservé du texte 63"/>
          <p:cNvSpPr>
            <a:spLocks noGrp="1"/>
          </p:cNvSpPr>
          <p:nvPr>
            <p:ph type="body" idx="10"/>
          </p:nvPr>
        </p:nvSpPr>
        <p:spPr>
          <a:xfrm>
            <a:off x="966788" y="620687"/>
            <a:ext cx="7481887" cy="720081"/>
          </a:xfrm>
        </p:spPr>
        <p:txBody>
          <a:bodyPr rtlCol="0">
            <a:normAutofit/>
          </a:bodyPr>
          <a:lstStyle/>
          <a:p>
            <a:pPr marL="80147" eaLnBrk="1" fontAlgn="auto" hangingPunct="1">
              <a:spcAft>
                <a:spcPts val="9466"/>
              </a:spcAft>
              <a:buNone/>
              <a:defRPr/>
            </a:pPr>
            <a:r>
              <a:rPr lang="fr-FR" b="1" spc="53" dirty="0" smtClean="0">
                <a:solidFill>
                  <a:srgbClr val="D83804"/>
                </a:solidFill>
                <a:latin typeface="Arial" panose="22635452340000000000" pitchFamily="2"/>
              </a:rPr>
              <a:t>Structure de la membrane plasmique</a:t>
            </a:r>
          </a:p>
        </p:txBody>
      </p:sp>
      <p:sp>
        <p:nvSpPr>
          <p:cNvPr id="2" name="Rectangle 1"/>
          <p:cNvSpPr/>
          <p:nvPr/>
        </p:nvSpPr>
        <p:spPr>
          <a:xfrm>
            <a:off x="180118" y="2564904"/>
            <a:ext cx="3671802" cy="2123787"/>
          </a:xfrm>
          <a:prstGeom prst="rect">
            <a:avLst/>
          </a:prstGeom>
        </p:spPr>
        <p:txBody>
          <a:bodyPr wrap="square">
            <a:spAutoFit/>
          </a:bodyPr>
          <a:lstStyle/>
          <a:p>
            <a:pPr marL="204788" lvl="0" indent="273050" algn="just" fontAlgn="base">
              <a:lnSpc>
                <a:spcPct val="96000"/>
              </a:lnSpc>
              <a:spcBef>
                <a:spcPts val="3425"/>
              </a:spcBef>
              <a:spcAft>
                <a:spcPct val="0"/>
              </a:spcAft>
              <a:buFont typeface="Symbol" pitchFamily="124" charset="2"/>
              <a:buChar char="·"/>
            </a:pPr>
            <a:r>
              <a:rPr lang="fr-FR" dirty="0">
                <a:latin typeface="Arial" panose="020B0604020202020204" pitchFamily="34" charset="0"/>
                <a:cs typeface="Arial" panose="020B0604020202020204" pitchFamily="34" charset="0"/>
              </a:rPr>
              <a:t>L’observation de la membrane plasmique au microscope optique ; fait apparaitre une fine bordure entourant un contenu cellulaire</a:t>
            </a:r>
          </a:p>
          <a:p>
            <a:pPr marL="204788" lvl="0" indent="273050" algn="just" fontAlgn="base">
              <a:lnSpc>
                <a:spcPct val="96000"/>
              </a:lnSpc>
              <a:spcBef>
                <a:spcPts val="3425"/>
              </a:spcBef>
              <a:spcAft>
                <a:spcPct val="0"/>
              </a:spcAft>
              <a:buFont typeface="Symbol" pitchFamily="124" charset="2"/>
              <a:buChar char="·"/>
            </a:pPr>
            <a:r>
              <a:rPr lang="fr-FR" dirty="0">
                <a:solidFill>
                  <a:srgbClr val="000000"/>
                </a:solidFill>
                <a:latin typeface="Arial" charset="0"/>
              </a:rPr>
              <a:t>Épaisseur : 7 à 8 nm</a:t>
            </a:r>
          </a:p>
        </p:txBody>
      </p:sp>
      <p:pic>
        <p:nvPicPr>
          <p:cNvPr id="6" name="Image 5"/>
          <p:cNvPicPr/>
          <p:nvPr/>
        </p:nvPicPr>
        <p:blipFill rotWithShape="1">
          <a:blip r:embed="rId2"/>
          <a:srcRect l="37698" t="21466" r="16004" b="24721"/>
          <a:stretch/>
        </p:blipFill>
        <p:spPr bwMode="auto">
          <a:xfrm>
            <a:off x="4067944" y="1844824"/>
            <a:ext cx="4824535" cy="4608512"/>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7"/>
          <p:cNvGraphicFramePr>
            <a:graphicFrameLocks noGrp="1"/>
          </p:cNvGraphicFramePr>
          <p:nvPr>
            <p:extLst>
              <p:ext uri="{D42A27DB-BD31-4B8C-83A1-F6EECF244321}">
                <p14:modId xmlns:p14="http://schemas.microsoft.com/office/powerpoint/2010/main" val="2143386034"/>
              </p:ext>
            </p:extLst>
          </p:nvPr>
        </p:nvGraphicFramePr>
        <p:xfrm>
          <a:off x="-108520" y="2150894"/>
          <a:ext cx="8753401" cy="2772544"/>
        </p:xfrm>
        <a:graphic>
          <a:graphicData uri="http://schemas.openxmlformats.org/drawingml/2006/table">
            <a:tbl>
              <a:tblPr/>
              <a:tblGrid>
                <a:gridCol w="5407445"/>
                <a:gridCol w="204387"/>
                <a:gridCol w="3141569"/>
              </a:tblGrid>
              <a:tr h="413732">
                <a:tc rowSpan="2">
                  <a:txBody>
                    <a:bodyPr/>
                    <a:lstStyle/>
                    <a:p>
                      <a:pPr marL="204788" marR="0" lvl="0" indent="273050" algn="l" defTabSz="914400" rtl="0" eaLnBrk="1" fontAlgn="base" latinLnBrk="0" hangingPunct="1">
                        <a:lnSpc>
                          <a:spcPct val="96000"/>
                        </a:lnSpc>
                        <a:spcBef>
                          <a:spcPts val="3425"/>
                        </a:spcBef>
                        <a:spcAft>
                          <a:spcPct val="0"/>
                        </a:spcAft>
                        <a:buClrTx/>
                        <a:buSzTx/>
                        <a:buFont typeface="Symbol" pitchFamily="124" charset="2"/>
                        <a:buChar char="·"/>
                        <a:tabLst/>
                      </a:pPr>
                      <a:endParaRPr kumimoji="0" lang="fr-FR" sz="2400" b="1" i="0" u="none" strike="noStrike" cap="none" normalizeH="0" baseline="0" dirty="0" smtClean="0">
                        <a:ln>
                          <a:noFill/>
                        </a:ln>
                        <a:solidFill>
                          <a:srgbClr val="000000"/>
                        </a:solidFill>
                        <a:effectLst/>
                        <a:latin typeface="Arial"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6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Calibri" pitchFamily="34" charset="0"/>
                        </a:rPr>
                        <a:t> </a:t>
                      </a:r>
                    </a:p>
                  </a:txBody>
                  <a:tcPr marL="0" marR="0" marT="0" marB="0" horzOverflow="overflow">
                    <a:lnL>
                      <a:noFill/>
                    </a:lnL>
                    <a:lnR>
                      <a:noFill/>
                    </a:lnR>
                    <a:lnT>
                      <a:noFill/>
                    </a:lnT>
                    <a:lnB>
                      <a:noFill/>
                    </a:lnB>
                    <a:lnTlToBr>
                      <a:noFill/>
                    </a:lnTlToBr>
                    <a:lnBlToTr>
                      <a:noFill/>
                    </a:lnBlToTr>
                    <a:solidFill>
                      <a:srgbClr val="E4E2E2"/>
                    </a:solidFill>
                  </a:tcPr>
                </a:tc>
                <a:tc>
                  <a:txBody>
                    <a:bodyPr/>
                    <a:lstStyle/>
                    <a:p>
                      <a:pPr marL="0" marR="0" lvl="0" indent="0" algn="r" defTabSz="914400" rtl="0" eaLnBrk="1" fontAlgn="base" latinLnBrk="0" hangingPunct="1">
                        <a:lnSpc>
                          <a:spcPct val="96000"/>
                        </a:lnSpc>
                        <a:spcBef>
                          <a:spcPts val="1438"/>
                        </a:spcBef>
                        <a:spcAft>
                          <a:spcPct val="0"/>
                        </a:spcAft>
                        <a:buClrTx/>
                        <a:buSzTx/>
                        <a:buFontTx/>
                        <a:buNone/>
                        <a:tabLst/>
                      </a:pPr>
                      <a:r>
                        <a:rPr kumimoji="0" lang="fr-FR" sz="2000" b="1" i="0" u="none" strike="noStrike" cap="none" normalizeH="0" baseline="0" dirty="0" smtClean="0">
                          <a:ln>
                            <a:noFill/>
                          </a:ln>
                          <a:solidFill>
                            <a:srgbClr val="D83804"/>
                          </a:solidFill>
                          <a:effectLst/>
                          <a:latin typeface="Arial" charset="0"/>
                        </a:rPr>
                        <a:t>Membrane</a:t>
                      </a:r>
                      <a:r>
                        <a:rPr kumimoji="0" lang="fr-FR" sz="2000" b="1" i="0" u="none" strike="noStrike" cap="none" normalizeH="0" baseline="0" dirty="0" smtClean="0">
                          <a:ln>
                            <a:noFill/>
                          </a:ln>
                          <a:solidFill>
                            <a:srgbClr val="C8252D"/>
                          </a:solidFill>
                          <a:effectLst/>
                          <a:latin typeface="Arial" charset="0"/>
                        </a:rPr>
                        <a:t> plasmique</a:t>
                      </a:r>
                    </a:p>
                  </a:txBody>
                  <a:tcPr marL="0" marR="0" marT="0" marB="0" horzOverflow="overflow">
                    <a:lnL>
                      <a:noFill/>
                    </a:lnL>
                    <a:lnR>
                      <a:noFill/>
                    </a:lnR>
                    <a:lnT>
                      <a:noFill/>
                    </a:lnT>
                    <a:lnB>
                      <a:noFill/>
                    </a:lnB>
                    <a:lnTlToBr>
                      <a:noFill/>
                    </a:lnTlToBr>
                    <a:lnBlToTr>
                      <a:noFill/>
                    </a:lnBlToTr>
                    <a:solidFill>
                      <a:srgbClr val="E4E2E2"/>
                    </a:solidFill>
                  </a:tcPr>
                </a:tc>
              </a:tr>
              <a:tr h="2358812">
                <a:tc vMerge="1">
                  <a:txBody>
                    <a:bodyPr/>
                    <a:lstStyle/>
                    <a:p>
                      <a:endParaRPr lang="fr-F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 b="0" i="0" u="none" strike="noStrike" cap="none" normalizeH="0" baseline="0" smtClean="0">
                          <a:ln>
                            <a:noFill/>
                          </a:ln>
                          <a:solidFill>
                            <a:schemeClr val="tx1"/>
                          </a:solidFill>
                          <a:effectLst/>
                          <a:latin typeface="Calibri" pitchFamily="34" charset="0"/>
                        </a:rPr>
                        <a:t> </a:t>
                      </a: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 b="0" i="0" u="none" strike="noStrike" cap="none" normalizeH="0" baseline="0" dirty="0" smtClean="0">
                          <a:ln>
                            <a:noFill/>
                          </a:ln>
                          <a:solidFill>
                            <a:schemeClr val="tx1"/>
                          </a:solidFill>
                          <a:effectLst/>
                          <a:latin typeface="Calibri" pitchFamily="34" charset="0"/>
                        </a:rPr>
                        <a:t> </a:t>
                      </a:r>
                    </a:p>
                  </a:txBody>
                  <a:tcPr marL="0" marR="0" marT="0" marB="0" horzOverflow="overflow">
                    <a:lnL>
                      <a:noFill/>
                    </a:lnL>
                    <a:lnR>
                      <a:noFill/>
                    </a:lnR>
                    <a:lnT>
                      <a:noFill/>
                    </a:lnT>
                    <a:lnB>
                      <a:noFill/>
                    </a:lnB>
                    <a:lnTlToBr>
                      <a:noFill/>
                    </a:lnTlToBr>
                    <a:lnBlToTr>
                      <a:noFill/>
                    </a:lnBlToTr>
                    <a:solidFill>
                      <a:srgbClr val="E4E2E2"/>
                    </a:solidFill>
                  </a:tcPr>
                </a:tc>
              </a:tr>
            </a:tbl>
          </a:graphicData>
        </a:graphic>
      </p:graphicFrame>
      <p:pic>
        <p:nvPicPr>
          <p:cNvPr id="5" name="Image.jpg"/>
          <p:cNvPicPr>
            <a:picLocks noChangeAspect="1" noChangeArrowheads="1"/>
          </p:cNvPicPr>
          <p:nvPr/>
        </p:nvPicPr>
        <p:blipFill>
          <a:blip r:embed="rId2" cstate="print"/>
          <a:srcRect/>
          <a:stretch>
            <a:fillRect/>
          </a:stretch>
        </p:blipFill>
        <p:spPr bwMode="auto">
          <a:xfrm>
            <a:off x="5292080" y="2492896"/>
            <a:ext cx="3352800" cy="3463231"/>
          </a:xfrm>
          <a:prstGeom prst="rect">
            <a:avLst/>
          </a:prstGeom>
          <a:noFill/>
          <a:ln w="9525">
            <a:noFill/>
            <a:miter lim="800000"/>
            <a:headEnd/>
            <a:tailEnd/>
          </a:ln>
        </p:spPr>
      </p:pic>
      <p:sp>
        <p:nvSpPr>
          <p:cNvPr id="6" name="Rectangle 5"/>
          <p:cNvSpPr/>
          <p:nvPr/>
        </p:nvSpPr>
        <p:spPr>
          <a:xfrm>
            <a:off x="0" y="0"/>
            <a:ext cx="5037584" cy="6823215"/>
          </a:xfrm>
          <a:prstGeom prst="rect">
            <a:avLst/>
          </a:prstGeom>
        </p:spPr>
        <p:txBody>
          <a:bodyPr wrap="square">
            <a:spAutoFit/>
          </a:bodyPr>
          <a:lstStyle/>
          <a:p>
            <a:pPr algn="just">
              <a:lnSpc>
                <a:spcPct val="150000"/>
              </a:lnSpc>
              <a:spcAft>
                <a:spcPts val="1000"/>
              </a:spcAft>
            </a:pPr>
            <a:r>
              <a:rPr lang="fr-FR" dirty="0" smtClean="0">
                <a:latin typeface="Arial" panose="020B0604020202020204" pitchFamily="34" charset="0"/>
                <a:ea typeface="Times New Roman" panose="02020603050405020304" pitchFamily="18" charset="0"/>
                <a:cs typeface="Arial" panose="020B0604020202020204" pitchFamily="34" charset="0"/>
              </a:rPr>
              <a:t>Pour étudier </a:t>
            </a:r>
            <a:r>
              <a:rPr lang="fr-FR" dirty="0">
                <a:latin typeface="Arial" panose="020B0604020202020204" pitchFamily="34" charset="0"/>
                <a:ea typeface="Times New Roman" panose="02020603050405020304" pitchFamily="18" charset="0"/>
                <a:cs typeface="Arial" panose="020B0604020202020204" pitchFamily="34" charset="0"/>
              </a:rPr>
              <a:t>l’ultrastructure de la membrane plasmique, deux techniques sont utilisées.</a:t>
            </a:r>
          </a:p>
          <a:p>
            <a:pPr marL="342900" lvl="0" indent="-342900" algn="just">
              <a:lnSpc>
                <a:spcPct val="150000"/>
              </a:lnSpc>
              <a:spcAft>
                <a:spcPts val="0"/>
              </a:spcAft>
              <a:buFont typeface="Arial" panose="020B0604020202020204" pitchFamily="34" charset="0"/>
              <a:buChar char="-"/>
            </a:pPr>
            <a:r>
              <a:rPr lang="fr-FR" b="1" dirty="0">
                <a:latin typeface="Century Schoolbook" panose="02040604050505020304" pitchFamily="18" charset="0"/>
                <a:ea typeface="Calibri" panose="020F0502020204030204" pitchFamily="34" charset="0"/>
                <a:cs typeface="Arial" panose="020B0604020202020204" pitchFamily="34" charset="0"/>
              </a:rPr>
              <a:t>la technique des coupes minces </a:t>
            </a:r>
            <a:r>
              <a:rPr lang="fr-FR" dirty="0">
                <a:latin typeface="Century Schoolbook" panose="02040604050505020304" pitchFamily="18" charset="0"/>
                <a:ea typeface="Calibri" panose="020F0502020204030204" pitchFamily="34" charset="0"/>
                <a:cs typeface="Arial" panose="020B0604020202020204" pitchFamily="34" charset="0"/>
              </a:rPr>
              <a:t>qui après une fixation au </a:t>
            </a:r>
            <a:r>
              <a:rPr lang="fr-FR" dirty="0" err="1">
                <a:latin typeface="Century Schoolbook" panose="02040604050505020304" pitchFamily="18" charset="0"/>
                <a:ea typeface="Calibri" panose="020F0502020204030204" pitchFamily="34" charset="0"/>
                <a:cs typeface="Arial" panose="020B0604020202020204" pitchFamily="34" charset="0"/>
              </a:rPr>
              <a:t>tétroxyde</a:t>
            </a:r>
            <a:r>
              <a:rPr lang="fr-FR" dirty="0">
                <a:latin typeface="Century Schoolbook" panose="02040604050505020304" pitchFamily="18" charset="0"/>
                <a:ea typeface="Calibri" panose="020F0502020204030204" pitchFamily="34" charset="0"/>
                <a:cs typeface="Arial" panose="020B0604020202020204" pitchFamily="34" charset="0"/>
              </a:rPr>
              <a:t> d’osmium fait apparaitre une structure tri lamellaire d’une épaisseur atteignant les 75A° formée de trois feuillets ; deux feuillets sombres séparés par un feuillet clair. Le feuillet dense externe apparait garni d’un mince film glycoprotéique </a:t>
            </a:r>
            <a:endParaRPr lang="fr-FR" dirty="0" smtClean="0">
              <a:latin typeface="Century Schoolbook" panose="020406040505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Arial" panose="020B0604020202020204" pitchFamily="34" charset="0"/>
              <a:buChar char="-"/>
            </a:pPr>
            <a:r>
              <a:rPr lang="fr-FR" b="1" dirty="0" smtClean="0">
                <a:latin typeface="Century Schoolbook" panose="02040604050505020304" pitchFamily="18" charset="0"/>
                <a:ea typeface="Calibri" panose="020F0502020204030204" pitchFamily="34" charset="0"/>
                <a:cs typeface="Arial" panose="020B0604020202020204" pitchFamily="34" charset="0"/>
              </a:rPr>
              <a:t>la </a:t>
            </a:r>
            <a:r>
              <a:rPr lang="fr-FR" b="1" dirty="0">
                <a:latin typeface="Century Schoolbook" panose="02040604050505020304" pitchFamily="18" charset="0"/>
                <a:ea typeface="Calibri" panose="020F0502020204030204" pitchFamily="34" charset="0"/>
                <a:cs typeface="Arial" panose="020B0604020202020204" pitchFamily="34" charset="0"/>
              </a:rPr>
              <a:t>technique des répliques</a:t>
            </a:r>
            <a:r>
              <a:rPr lang="fr-FR" dirty="0">
                <a:latin typeface="Century Schoolbook" panose="02040604050505020304" pitchFamily="18" charset="0"/>
                <a:ea typeface="Calibri" panose="020F0502020204030204" pitchFamily="34" charset="0"/>
                <a:cs typeface="Arial" panose="020B0604020202020204" pitchFamily="34" charset="0"/>
              </a:rPr>
              <a:t> qui après </a:t>
            </a:r>
            <a:r>
              <a:rPr lang="fr-FR" dirty="0" err="1">
                <a:latin typeface="Century Schoolbook" panose="02040604050505020304" pitchFamily="18" charset="0"/>
                <a:ea typeface="Calibri" panose="020F0502020204030204" pitchFamily="34" charset="0"/>
                <a:cs typeface="Arial" panose="020B0604020202020204" pitchFamily="34" charset="0"/>
              </a:rPr>
              <a:t>cryodécapage</a:t>
            </a:r>
            <a:r>
              <a:rPr lang="fr-FR" dirty="0">
                <a:latin typeface="Century Schoolbook" panose="02040604050505020304" pitchFamily="18" charset="0"/>
                <a:ea typeface="Calibri" panose="020F0502020204030204" pitchFamily="34" charset="0"/>
                <a:cs typeface="Arial" panose="020B0604020202020204" pitchFamily="34" charset="0"/>
              </a:rPr>
              <a:t> montre la membrane plasmique fracturé en deux hémi membrane : une hémi membrane externe </a:t>
            </a:r>
            <a:r>
              <a:rPr lang="fr-FR" dirty="0" err="1">
                <a:latin typeface="Century Schoolbook" panose="02040604050505020304" pitchFamily="18" charset="0"/>
                <a:ea typeface="Calibri" panose="020F0502020204030204" pitchFamily="34" charset="0"/>
                <a:cs typeface="Arial" panose="020B0604020202020204" pitchFamily="34" charset="0"/>
              </a:rPr>
              <a:t>exoplasmique</a:t>
            </a:r>
            <a:r>
              <a:rPr lang="fr-FR" dirty="0">
                <a:latin typeface="Century Schoolbook" panose="02040604050505020304" pitchFamily="18" charset="0"/>
                <a:ea typeface="Calibri" panose="020F0502020204030204" pitchFamily="34" charset="0"/>
                <a:cs typeface="Arial" panose="020B0604020202020204" pitchFamily="34" charset="0"/>
              </a:rPr>
              <a:t> et une hémi membrane interne du côté </a:t>
            </a:r>
            <a:r>
              <a:rPr lang="fr-FR" dirty="0" err="1">
                <a:latin typeface="Century Schoolbook" panose="02040604050505020304" pitchFamily="18" charset="0"/>
                <a:ea typeface="Calibri" panose="020F0502020204030204" pitchFamily="34" charset="0"/>
                <a:cs typeface="Arial" panose="020B0604020202020204" pitchFamily="34" charset="0"/>
              </a:rPr>
              <a:t>hyaloplasmique</a:t>
            </a:r>
            <a:r>
              <a:rPr lang="fr-FR" dirty="0">
                <a:latin typeface="Century Schoolbook" panose="02040604050505020304" pitchFamily="18" charset="0"/>
                <a:ea typeface="Calibri" panose="020F0502020204030204" pitchFamily="34" charset="0"/>
                <a:cs typeface="Arial" panose="020B0604020202020204" pitchFamily="34" charset="0"/>
              </a:rPr>
              <a:t>. </a:t>
            </a:r>
            <a:endParaRPr lang="fr-FR"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26639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5388" y="0"/>
            <a:ext cx="9289032" cy="1314719"/>
          </a:xfrm>
          <a:prstGeom prst="rect">
            <a:avLst/>
          </a:prstGeom>
        </p:spPr>
        <p:txBody>
          <a:bodyPr wrap="square">
            <a:spAutoFit/>
          </a:bodyPr>
          <a:lstStyle/>
          <a:p>
            <a:pPr lvl="1" algn="ctr">
              <a:lnSpc>
                <a:spcPct val="150000"/>
              </a:lnSpc>
              <a:spcAft>
                <a:spcPts val="1000"/>
              </a:spcAft>
            </a:pPr>
            <a:r>
              <a:rPr lang="fr-FR" sz="2800" b="1" dirty="0">
                <a:latin typeface="Century Schoolbook" panose="02040604050505020304" pitchFamily="18" charset="0"/>
                <a:ea typeface="Calibri" panose="020F0502020204030204" pitchFamily="34" charset="0"/>
                <a:cs typeface="Arial" panose="020B0604020202020204" pitchFamily="34" charset="0"/>
              </a:rPr>
              <a:t>Les composants chimiques de la membrane plasmique</a:t>
            </a:r>
            <a:endParaRPr lang="fr-FR" sz="28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Rectangle 2"/>
          <p:cNvSpPr/>
          <p:nvPr/>
        </p:nvSpPr>
        <p:spPr>
          <a:xfrm>
            <a:off x="251519" y="1470622"/>
            <a:ext cx="4304617" cy="4981557"/>
          </a:xfrm>
          <a:prstGeom prst="rect">
            <a:avLst/>
          </a:prstGeom>
        </p:spPr>
        <p:txBody>
          <a:bodyPr wrap="square">
            <a:spAutoFit/>
          </a:bodyPr>
          <a:lstStyle/>
          <a:p>
            <a:pPr algn="just">
              <a:lnSpc>
                <a:spcPct val="150000"/>
              </a:lnSpc>
              <a:spcAft>
                <a:spcPts val="1000"/>
              </a:spcAft>
            </a:pPr>
            <a:r>
              <a:rPr lang="fr-FR" sz="1600" dirty="0">
                <a:latin typeface="Century Schoolbook" panose="02040604050505020304" pitchFamily="18" charset="0"/>
                <a:ea typeface="Times New Roman" panose="02020603050405020304" pitchFamily="18" charset="0"/>
                <a:cs typeface="Times New Roman" panose="02020603050405020304" pitchFamily="18" charset="0"/>
              </a:rPr>
              <a:t>La connaissance de la composition chimique globale des membranes est ancienne tandis que celle de son architecture détaillée et du fonctionnement des diverses familles de molécules qui les constituent est relativement récente. </a:t>
            </a:r>
            <a:endParaRPr lang="fr-FR" sz="1600" dirty="0" smtClean="0">
              <a:latin typeface="Century Schoolbook" panose="02040604050505020304" pitchFamily="18" charset="0"/>
              <a:ea typeface="Times New Roman" panose="02020603050405020304" pitchFamily="18" charset="0"/>
              <a:cs typeface="Times New Roman" panose="02020603050405020304" pitchFamily="18" charset="0"/>
            </a:endParaRPr>
          </a:p>
          <a:p>
            <a:pPr algn="just">
              <a:lnSpc>
                <a:spcPct val="150000"/>
              </a:lnSpc>
              <a:spcAft>
                <a:spcPts val="1000"/>
              </a:spcAft>
            </a:pPr>
            <a:r>
              <a:rPr lang="fr-FR" sz="1600" dirty="0" smtClean="0">
                <a:latin typeface="Century Schoolbook" panose="02040604050505020304" pitchFamily="18" charset="0"/>
                <a:ea typeface="Times New Roman" panose="02020603050405020304" pitchFamily="18" charset="0"/>
                <a:cs typeface="Times New Roman" panose="02020603050405020304" pitchFamily="18" charset="0"/>
              </a:rPr>
              <a:t>La </a:t>
            </a:r>
            <a:r>
              <a:rPr lang="fr-FR" sz="1600" dirty="0">
                <a:latin typeface="Century Schoolbook" panose="02040604050505020304" pitchFamily="18" charset="0"/>
                <a:ea typeface="Times New Roman" panose="02020603050405020304" pitchFamily="18" charset="0"/>
                <a:cs typeface="Times New Roman" panose="02020603050405020304" pitchFamily="18" charset="0"/>
              </a:rPr>
              <a:t>mise au point des techniques de fractionnement cellulaire et la puissance de méthodes analytiques telles que l’électrophorèse ont permis, ces dernières années, de se faire une idée très précise de l’organisation fonctionnelle des membranes.</a:t>
            </a:r>
            <a:endParaRPr lang="fr-FR"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5" name="Picture 175"/>
          <p:cNvPicPr>
            <a:picLocks noChangeAspect="1" noChangeArrowheads="1"/>
          </p:cNvPicPr>
          <p:nvPr/>
        </p:nvPicPr>
        <p:blipFill>
          <a:blip r:embed="rId2" cstate="print"/>
          <a:srcRect l="41464" t="19490" r="1579" b="24771"/>
          <a:stretch>
            <a:fillRect/>
          </a:stretch>
        </p:blipFill>
        <p:spPr bwMode="auto">
          <a:xfrm>
            <a:off x="4556137" y="1772816"/>
            <a:ext cx="4336343" cy="38164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44016" y="188640"/>
            <a:ext cx="8820472" cy="5256584"/>
          </a:xfrm>
          <a:prstGeom prst="rect">
            <a:avLst/>
          </a:prstGeom>
        </p:spPr>
      </p:pic>
      <p:sp>
        <p:nvSpPr>
          <p:cNvPr id="3" name="Rectangle 2"/>
          <p:cNvSpPr/>
          <p:nvPr/>
        </p:nvSpPr>
        <p:spPr>
          <a:xfrm>
            <a:off x="449796" y="5301208"/>
            <a:ext cx="8208912" cy="1200329"/>
          </a:xfrm>
          <a:prstGeom prst="rect">
            <a:avLst/>
          </a:prstGeom>
        </p:spPr>
        <p:txBody>
          <a:bodyPr wrap="square">
            <a:spAutoFit/>
          </a:bodyPr>
          <a:lstStyle/>
          <a:p>
            <a:pPr algn="just"/>
            <a:r>
              <a:rPr lang="fr-FR" dirty="0" smtClean="0"/>
              <a:t>Sans oublier le </a:t>
            </a:r>
            <a:r>
              <a:rPr lang="fr-FR" dirty="0" err="1"/>
              <a:t>glycocalyx</a:t>
            </a:r>
            <a:r>
              <a:rPr lang="fr-FR" dirty="0"/>
              <a:t> ou </a:t>
            </a:r>
            <a:r>
              <a:rPr lang="fr-FR" dirty="0" err="1"/>
              <a:t>cell-coat</a:t>
            </a:r>
            <a:r>
              <a:rPr lang="fr-FR" dirty="0"/>
              <a:t>, </a:t>
            </a:r>
            <a:r>
              <a:rPr lang="fr-FR" dirty="0" smtClean="0"/>
              <a:t>est </a:t>
            </a:r>
            <a:r>
              <a:rPr lang="fr-FR" dirty="0"/>
              <a:t>un revêtement d'oligosaccharides portés par les glycoprotéines et glycolipides ainsi que de glycoprotéines </a:t>
            </a:r>
            <a:r>
              <a:rPr lang="fr-FR" dirty="0" smtClean="0"/>
              <a:t>spécifiques. </a:t>
            </a:r>
            <a:r>
              <a:rPr lang="fr-FR" dirty="0"/>
              <a:t>Ce manteau moléculaire joue un rôle dans l'adhésion et l'ancrage de la cellule dans son milieu.</a:t>
            </a:r>
          </a:p>
        </p:txBody>
      </p:sp>
    </p:spTree>
    <p:extLst>
      <p:ext uri="{BB962C8B-B14F-4D97-AF65-F5344CB8AC3E}">
        <p14:creationId xmlns:p14="http://schemas.microsoft.com/office/powerpoint/2010/main" val="650542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050" y="0"/>
            <a:ext cx="9144000" cy="1143000"/>
          </a:xfrm>
          <a:solidFill>
            <a:schemeClr val="bg1"/>
          </a:solidFill>
        </p:spPr>
        <p:txBody>
          <a:bodyPr rtlCol="0">
            <a:normAutofit fontScale="90000"/>
          </a:bodyPr>
          <a:lstStyle/>
          <a:p>
            <a:pPr eaLnBrk="1" fontAlgn="auto" hangingPunct="1">
              <a:spcAft>
                <a:spcPts val="0"/>
              </a:spcAft>
              <a:defRPr/>
            </a:pPr>
            <a:r>
              <a:rPr lang="fr-FR" sz="3600" dirty="0" smtClean="0">
                <a:latin typeface="Arial" charset="0"/>
              </a:rPr>
              <a:t>Les membranes biologiques sont constituées majoritairement de lipides et de protéines</a:t>
            </a:r>
            <a:endParaRPr lang="fr-FR" dirty="0" smtClean="0">
              <a:latin typeface="Arial" charset="0"/>
            </a:endParaRPr>
          </a:p>
        </p:txBody>
      </p:sp>
      <p:sp>
        <p:nvSpPr>
          <p:cNvPr id="21507" name="Text Box 170"/>
          <p:cNvSpPr txBox="1">
            <a:spLocks noChangeArrowheads="1"/>
          </p:cNvSpPr>
          <p:nvPr/>
        </p:nvSpPr>
        <p:spPr bwMode="auto">
          <a:xfrm>
            <a:off x="38100" y="5354065"/>
            <a:ext cx="9105900" cy="646331"/>
          </a:xfrm>
          <a:prstGeom prst="rect">
            <a:avLst/>
          </a:prstGeom>
          <a:noFill/>
          <a:ln w="9525">
            <a:noFill/>
            <a:miter lim="800000"/>
            <a:headEnd/>
            <a:tailEnd/>
          </a:ln>
        </p:spPr>
        <p:txBody>
          <a:bodyPr>
            <a:spAutoFit/>
          </a:bodyPr>
          <a:lstStyle/>
          <a:p>
            <a:pPr>
              <a:buFont typeface="Wingdings" pitchFamily="2" charset="2"/>
              <a:buChar char="Ø"/>
            </a:pPr>
            <a:r>
              <a:rPr lang="fr-FR" sz="1800" i="1" dirty="0" smtClean="0"/>
              <a:t>Les </a:t>
            </a:r>
            <a:r>
              <a:rPr lang="fr-FR" sz="1800" i="1" dirty="0"/>
              <a:t>protéines membranaires constituent 20% de la masse protéique des cellules</a:t>
            </a:r>
          </a:p>
          <a:p>
            <a:pPr>
              <a:buFont typeface="Wingdings" pitchFamily="2" charset="2"/>
              <a:buChar char="Ø"/>
            </a:pPr>
            <a:r>
              <a:rPr lang="fr-FR" sz="1800" i="1" dirty="0"/>
              <a:t>Les protéines membranaires </a:t>
            </a:r>
            <a:r>
              <a:rPr lang="fr-FR" sz="1800" i="1" dirty="0" smtClean="0"/>
              <a:t>constituent </a:t>
            </a:r>
            <a:r>
              <a:rPr lang="fr-FR" sz="1800" dirty="0" smtClean="0"/>
              <a:t>a peu prés </a:t>
            </a:r>
            <a:r>
              <a:rPr lang="fr-FR" sz="1800" i="1" dirty="0" smtClean="0"/>
              <a:t>40</a:t>
            </a:r>
            <a:r>
              <a:rPr lang="fr-FR" sz="1800" i="1" dirty="0"/>
              <a:t>% de la masse  des membranes</a:t>
            </a:r>
          </a:p>
        </p:txBody>
      </p:sp>
      <p:pic>
        <p:nvPicPr>
          <p:cNvPr id="6" name="Image.jpg"/>
          <p:cNvPicPr>
            <a:picLocks noChangeAspect="1" noChangeArrowheads="1"/>
          </p:cNvPicPr>
          <p:nvPr/>
        </p:nvPicPr>
        <p:blipFill>
          <a:blip r:embed="rId3" cstate="print"/>
          <a:srcRect l="13651" t="16296" r="16032" b="29312"/>
          <a:stretch>
            <a:fillRect/>
          </a:stretch>
        </p:blipFill>
        <p:spPr bwMode="auto">
          <a:xfrm>
            <a:off x="755576" y="1143000"/>
            <a:ext cx="7416824" cy="41764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71600" y="1628800"/>
            <a:ext cx="6984776" cy="3384376"/>
          </a:xfrm>
          <a:prstGeom prst="rect">
            <a:avLst/>
          </a:prstGeom>
        </p:spPr>
      </p:pic>
    </p:spTree>
    <p:extLst>
      <p:ext uri="{BB962C8B-B14F-4D97-AF65-F5344CB8AC3E}">
        <p14:creationId xmlns:p14="http://schemas.microsoft.com/office/powerpoint/2010/main" val="2606848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jpg"/>
          <p:cNvPicPr>
            <a:picLocks noChangeAspect="1" noChangeArrowheads="1"/>
          </p:cNvPicPr>
          <p:nvPr/>
        </p:nvPicPr>
        <p:blipFill>
          <a:blip r:embed="rId2" cstate="print"/>
          <a:srcRect t="34386" b="34909"/>
          <a:stretch>
            <a:fillRect/>
          </a:stretch>
        </p:blipFill>
        <p:spPr bwMode="auto">
          <a:xfrm>
            <a:off x="611560" y="404664"/>
            <a:ext cx="7776863" cy="2880320"/>
          </a:xfrm>
          <a:prstGeom prst="rect">
            <a:avLst/>
          </a:prstGeom>
          <a:noFill/>
          <a:ln w="9525">
            <a:noFill/>
            <a:miter lim="800000"/>
            <a:headEnd/>
            <a:tailEnd/>
          </a:ln>
        </p:spPr>
      </p:pic>
      <p:sp>
        <p:nvSpPr>
          <p:cNvPr id="2" name="Rectangle 1"/>
          <p:cNvSpPr/>
          <p:nvPr/>
        </p:nvSpPr>
        <p:spPr>
          <a:xfrm>
            <a:off x="251519" y="3429000"/>
            <a:ext cx="8496944" cy="3139321"/>
          </a:xfrm>
          <a:prstGeom prst="rect">
            <a:avLst/>
          </a:prstGeom>
        </p:spPr>
        <p:txBody>
          <a:bodyPr wrap="square">
            <a:spAutoFit/>
          </a:bodyPr>
          <a:lstStyle/>
          <a:p>
            <a:pPr algn="just"/>
            <a:r>
              <a:rPr lang="fr-FR" dirty="0">
                <a:latin typeface="Century Schoolbook" panose="02040604050505020304" pitchFamily="18" charset="0"/>
              </a:rPr>
              <a:t>La membrane érythrocytaire assure au globule rouge sa forme biconcave, sa plasticité et sa déformabilité. Elle porte également des déterminants de groupes sanguins et représente un modèle idéal pour l'étude de la structure et des fonctions des membranes cellulaires. Les composants glucidiques, lipidiques et protéiques ne se répartissent pas d'une manière équivalente sur les faces externes et internes de la membrane</a:t>
            </a:r>
            <a:r>
              <a:rPr lang="fr-FR" dirty="0" smtClean="0">
                <a:latin typeface="Century Schoolbook" panose="02040604050505020304" pitchFamily="18" charset="0"/>
              </a:rPr>
              <a:t>.</a:t>
            </a:r>
          </a:p>
          <a:p>
            <a:pPr algn="just"/>
            <a:r>
              <a:rPr lang="fr-FR" dirty="0">
                <a:latin typeface="Century Schoolbook" panose="02040604050505020304" pitchFamily="18" charset="0"/>
                <a:ea typeface="Times New Roman" panose="02020603050405020304" pitchFamily="18" charset="0"/>
                <a:cs typeface="Times New Roman" panose="02020603050405020304" pitchFamily="18" charset="0"/>
              </a:rPr>
              <a:t>La membrane plasmique des hématies par exemple est composée de deux principaux constituants distribués selon les proportions suivantes ; 40% de lipides, 52% de protéines sans oublier les glucides qui représentent 8% des constituants membranaires érythrocytaires.</a:t>
            </a:r>
          </a:p>
          <a:p>
            <a:pPr algn="just"/>
            <a:endParaRPr lang="fr-FR" b="1" dirty="0">
              <a:latin typeface="Century Schoolbook" panose="02040604050505020304" pitchFamily="18" charset="0"/>
            </a:endParaRPr>
          </a:p>
        </p:txBody>
      </p:sp>
    </p:spTree>
    <p:extLst>
      <p:ext uri="{BB962C8B-B14F-4D97-AF65-F5344CB8AC3E}">
        <p14:creationId xmlns:p14="http://schemas.microsoft.com/office/powerpoint/2010/main" val="21286001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re 1"/>
          <p:cNvSpPr>
            <a:spLocks noGrp="1"/>
          </p:cNvSpPr>
          <p:nvPr>
            <p:ph type="title"/>
          </p:nvPr>
        </p:nvSpPr>
        <p:spPr/>
        <p:txBody>
          <a:bodyPr/>
          <a:lstStyle/>
          <a:p>
            <a:r>
              <a:rPr lang="fr-FR" smtClean="0"/>
              <a:t>Face intracellulaire de l’érythrocyte</a:t>
            </a:r>
          </a:p>
        </p:txBody>
      </p:sp>
      <p:pic>
        <p:nvPicPr>
          <p:cNvPr id="60419" name="Picture 2" descr="http://monde.ccdmd.qc.ca/media/image1024/55912.jpg"/>
          <p:cNvPicPr>
            <a:picLocks noChangeAspect="1" noChangeArrowheads="1"/>
          </p:cNvPicPr>
          <p:nvPr/>
        </p:nvPicPr>
        <p:blipFill>
          <a:blip r:embed="rId2" cstate="print"/>
          <a:srcRect/>
          <a:stretch>
            <a:fillRect/>
          </a:stretch>
        </p:blipFill>
        <p:spPr bwMode="auto">
          <a:xfrm>
            <a:off x="581025" y="1398588"/>
            <a:ext cx="8316913" cy="4725987"/>
          </a:xfrm>
          <a:prstGeom prst="rect">
            <a:avLst/>
          </a:prstGeom>
          <a:noFill/>
          <a:ln w="9525">
            <a:noFill/>
            <a:miter lim="800000"/>
            <a:headEnd/>
            <a:tailEnd/>
          </a:ln>
        </p:spPr>
      </p:pic>
    </p:spTree>
    <p:extLst>
      <p:ext uri="{BB962C8B-B14F-4D97-AF65-F5344CB8AC3E}">
        <p14:creationId xmlns:p14="http://schemas.microsoft.com/office/powerpoint/2010/main" val="637854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960041" y="76369"/>
            <a:ext cx="695094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panose="020B0604020202020204" pitchFamily="34" charset="0"/>
              </a:rPr>
              <a:t>Localisation de la </a:t>
            </a:r>
            <a:r>
              <a:rPr kumimoji="0" lang="fr-FR" sz="1800" b="1" i="0" u="none" strike="noStrike" cap="none" normalizeH="0" baseline="0" dirty="0" err="1" smtClean="0">
                <a:ln>
                  <a:noFill/>
                </a:ln>
                <a:solidFill>
                  <a:schemeClr val="tx1"/>
                </a:solidFill>
                <a:effectLst/>
                <a:latin typeface="Arial" panose="020B0604020202020204" pitchFamily="34" charset="0"/>
              </a:rPr>
              <a:t>spectrine</a:t>
            </a:r>
            <a:r>
              <a:rPr kumimoji="0" lang="fr-FR" sz="1800" b="1" i="0" u="none" strike="noStrike" cap="none" normalizeH="0" baseline="0" dirty="0" smtClean="0">
                <a:ln>
                  <a:noFill/>
                </a:ln>
                <a:solidFill>
                  <a:schemeClr val="tx1"/>
                </a:solidFill>
                <a:effectLst/>
                <a:latin typeface="Arial" panose="020B0604020202020204" pitchFamily="34" charset="0"/>
              </a:rPr>
              <a:t> dans</a:t>
            </a:r>
            <a:r>
              <a:rPr kumimoji="0" lang="fr-FR" sz="1800" b="1" i="0" u="none" strike="noStrike" cap="none" normalizeH="0" dirty="0" smtClean="0">
                <a:ln>
                  <a:noFill/>
                </a:ln>
                <a:solidFill>
                  <a:schemeClr val="tx1"/>
                </a:solidFill>
                <a:effectLst/>
                <a:latin typeface="Arial" panose="020B0604020202020204" pitchFamily="34" charset="0"/>
              </a:rPr>
              <a:t> la</a:t>
            </a:r>
            <a:r>
              <a:rPr kumimoji="0" lang="fr-FR" sz="1800" b="1" i="0" u="none" strike="noStrike" cap="none" normalizeH="0" baseline="0" dirty="0" smtClean="0">
                <a:ln>
                  <a:noFill/>
                </a:ln>
                <a:solidFill>
                  <a:schemeClr val="tx1"/>
                </a:solidFill>
                <a:effectLst/>
                <a:latin typeface="Arial" panose="020B0604020202020204" pitchFamily="34" charset="0"/>
              </a:rPr>
              <a:t> membrane érythrocytaire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dirty="0" smtClean="0">
                <a:ln>
                  <a:noFill/>
                </a:ln>
                <a:solidFill>
                  <a:schemeClr val="tx1"/>
                </a:solidFill>
                <a:effectLst/>
                <a:latin typeface="Arial" panose="020B0604020202020204" pitchFamily="34" charset="0"/>
              </a:rPr>
              <a:t/>
            </a:r>
            <a:br>
              <a:rPr kumimoji="0" lang="fr-FR" sz="1800" b="0" i="0" u="none" strike="noStrike" cap="none" normalizeH="0" baseline="0" dirty="0" smtClean="0">
                <a:ln>
                  <a:noFill/>
                </a:ln>
                <a:solidFill>
                  <a:schemeClr val="tx1"/>
                </a:solidFill>
                <a:effectLst/>
                <a:latin typeface="Arial" panose="020B0604020202020204" pitchFamily="34" charset="0"/>
              </a:rPr>
            </a:br>
            <a:r>
              <a:rPr kumimoji="0" lang="fr-FR" sz="14400" b="0" i="0" u="none" strike="noStrike" cap="none" normalizeH="0" baseline="0" dirty="0" smtClean="0">
                <a:ln>
                  <a:noFill/>
                </a:ln>
                <a:solidFill>
                  <a:schemeClr val="tx1"/>
                </a:solidFill>
                <a:effectLst/>
                <a:latin typeface="Arial" panose="020B0604020202020204" pitchFamily="34" charset="0"/>
              </a:rPr>
              <a:t> </a:t>
            </a: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pic>
        <p:nvPicPr>
          <p:cNvPr id="1026" name="Picture 2" descr="Spectrine dans une membrane plasmique">
            <a:hlinkClick r:id="rId2" tooltip="Spectrine dans une membrane plasmiqu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652691"/>
            <a:ext cx="3048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83568" y="1786466"/>
            <a:ext cx="8712968" cy="369332"/>
          </a:xfrm>
          <a:prstGeom prst="rect">
            <a:avLst/>
          </a:prstGeom>
        </p:spPr>
        <p:txBody>
          <a:bodyPr wrap="square">
            <a:spAutoFit/>
          </a:bodyPr>
          <a:lstStyle/>
          <a:p>
            <a:r>
              <a:rPr lang="fr-FR" dirty="0"/>
              <a:t>La </a:t>
            </a:r>
            <a:r>
              <a:rPr lang="fr-FR" dirty="0" err="1"/>
              <a:t>spectrine</a:t>
            </a:r>
            <a:r>
              <a:rPr lang="fr-FR" dirty="0"/>
              <a:t> est en vert. </a:t>
            </a:r>
          </a:p>
        </p:txBody>
      </p:sp>
      <p:sp>
        <p:nvSpPr>
          <p:cNvPr id="4" name="Rectangle 3"/>
          <p:cNvSpPr/>
          <p:nvPr/>
        </p:nvSpPr>
        <p:spPr>
          <a:xfrm>
            <a:off x="27296" y="3213917"/>
            <a:ext cx="9036496" cy="923330"/>
          </a:xfrm>
          <a:prstGeom prst="rect">
            <a:avLst/>
          </a:prstGeom>
        </p:spPr>
        <p:txBody>
          <a:bodyPr wrap="square">
            <a:spAutoFit/>
          </a:bodyPr>
          <a:lstStyle/>
          <a:p>
            <a:pPr algn="just"/>
            <a:r>
              <a:rPr lang="fr-FR" dirty="0"/>
              <a:t>La </a:t>
            </a:r>
            <a:r>
              <a:rPr lang="fr-FR" dirty="0" err="1"/>
              <a:t>spectrine</a:t>
            </a:r>
            <a:r>
              <a:rPr lang="fr-FR" dirty="0"/>
              <a:t> est une protéine fibreuse </a:t>
            </a:r>
            <a:r>
              <a:rPr lang="fr-FR" dirty="0" smtClean="0"/>
              <a:t>qui représente 30% des protéines de </a:t>
            </a:r>
            <a:r>
              <a:rPr lang="fr-FR" dirty="0"/>
              <a:t>la membrane des </a:t>
            </a:r>
            <a:r>
              <a:rPr lang="fr-FR" dirty="0" smtClean="0"/>
              <a:t>hématies. </a:t>
            </a:r>
            <a:r>
              <a:rPr lang="fr-FR" dirty="0"/>
              <a:t>Plus globalement, les </a:t>
            </a:r>
            <a:r>
              <a:rPr lang="fr-FR" dirty="0" err="1"/>
              <a:t>spectrines</a:t>
            </a:r>
            <a:r>
              <a:rPr lang="fr-FR" dirty="0"/>
              <a:t> </a:t>
            </a:r>
            <a:r>
              <a:rPr lang="fr-FR" dirty="0" smtClean="0"/>
              <a:t>tapissent </a:t>
            </a:r>
            <a:r>
              <a:rPr lang="fr-FR" dirty="0"/>
              <a:t>la zone latérale intracellulaire de la membrane plasmatique dans des cellules eucaryotes.</a:t>
            </a:r>
          </a:p>
        </p:txBody>
      </p:sp>
      <p:sp>
        <p:nvSpPr>
          <p:cNvPr id="5" name="Rectangle 4"/>
          <p:cNvSpPr/>
          <p:nvPr/>
        </p:nvSpPr>
        <p:spPr>
          <a:xfrm>
            <a:off x="0" y="5218449"/>
            <a:ext cx="9091088" cy="646331"/>
          </a:xfrm>
          <a:prstGeom prst="rect">
            <a:avLst/>
          </a:prstGeom>
        </p:spPr>
        <p:txBody>
          <a:bodyPr wrap="square">
            <a:spAutoFit/>
          </a:bodyPr>
          <a:lstStyle/>
          <a:p>
            <a:r>
              <a:rPr lang="fr-FR" dirty="0"/>
              <a:t>En raison de sa forme, l'érythrocyte est très élastique et peut s'adapter pour traverser les </a:t>
            </a:r>
            <a:r>
              <a:rPr lang="fr-FR" dirty="0" smtClean="0"/>
              <a:t>capillaires sanguins </a:t>
            </a:r>
            <a:r>
              <a:rPr lang="fr-FR" dirty="0"/>
              <a:t>même avec des diamètres inférieurs à celui-ci.</a:t>
            </a:r>
          </a:p>
        </p:txBody>
      </p:sp>
      <p:sp>
        <p:nvSpPr>
          <p:cNvPr id="6" name="Rectangle 5"/>
          <p:cNvSpPr/>
          <p:nvPr/>
        </p:nvSpPr>
        <p:spPr>
          <a:xfrm>
            <a:off x="52912" y="4282204"/>
            <a:ext cx="8911576" cy="646331"/>
          </a:xfrm>
          <a:prstGeom prst="rect">
            <a:avLst/>
          </a:prstGeom>
        </p:spPr>
        <p:txBody>
          <a:bodyPr wrap="square">
            <a:spAutoFit/>
          </a:bodyPr>
          <a:lstStyle/>
          <a:p>
            <a:pPr algn="just"/>
            <a:r>
              <a:rPr lang="fr-FR" dirty="0"/>
              <a:t>Les </a:t>
            </a:r>
            <a:r>
              <a:rPr lang="fr-FR" dirty="0" err="1" smtClean="0"/>
              <a:t>spectrines</a:t>
            </a:r>
            <a:r>
              <a:rPr lang="fr-FR" dirty="0" smtClean="0"/>
              <a:t> sont </a:t>
            </a:r>
            <a:r>
              <a:rPr lang="fr-FR" dirty="0"/>
              <a:t>liées à des filaments d'actine et à la bande </a:t>
            </a:r>
            <a:r>
              <a:rPr lang="fr-FR" dirty="0" smtClean="0"/>
              <a:t>4, </a:t>
            </a:r>
            <a:r>
              <a:rPr lang="fr-FR" dirty="0"/>
              <a:t>l'ensemble </a:t>
            </a:r>
            <a:r>
              <a:rPr lang="fr-FR" dirty="0" smtClean="0"/>
              <a:t>forment </a:t>
            </a:r>
            <a:r>
              <a:rPr lang="fr-FR" dirty="0"/>
              <a:t>un réseau protéique offrant une flexibilité suffisante pour avoir une forme biconcave.</a:t>
            </a:r>
          </a:p>
        </p:txBody>
      </p:sp>
    </p:spTree>
    <p:extLst>
      <p:ext uri="{BB962C8B-B14F-4D97-AF65-F5344CB8AC3E}">
        <p14:creationId xmlns:p14="http://schemas.microsoft.com/office/powerpoint/2010/main" val="2063167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Espace réservé du texte 398"/>
          <p:cNvSpPr>
            <a:spLocks noGrp="1"/>
          </p:cNvSpPr>
          <p:nvPr>
            <p:ph type="body" idx="10"/>
          </p:nvPr>
        </p:nvSpPr>
        <p:spPr>
          <a:xfrm>
            <a:off x="179512" y="322263"/>
            <a:ext cx="9139113" cy="592137"/>
          </a:xfrm>
        </p:spPr>
        <p:txBody>
          <a:bodyPr>
            <a:normAutofit fontScale="92500"/>
          </a:bodyPr>
          <a:lstStyle/>
          <a:p>
            <a:pPr marL="160294">
              <a:spcAft>
                <a:spcPts val="0"/>
              </a:spcAft>
              <a:buFont typeface="Arial" charset="0"/>
              <a:buNone/>
              <a:defRPr/>
            </a:pPr>
            <a:r>
              <a:rPr lang="fr-FR" sz="2800" b="1" spc="35" dirty="0">
                <a:latin typeface="Arial" panose="22635452340000000000" pitchFamily="2"/>
              </a:rPr>
              <a:t>Exemples de 2 protéines </a:t>
            </a:r>
            <a:r>
              <a:rPr lang="fr-FR" sz="2800" b="1" spc="35" dirty="0" smtClean="0">
                <a:latin typeface="Arial" panose="22635452340000000000" pitchFamily="2"/>
              </a:rPr>
              <a:t>intrinsèques </a:t>
            </a:r>
            <a:r>
              <a:rPr lang="fr-FR" sz="2800" b="1" dirty="0" smtClean="0">
                <a:latin typeface="Arial" panose="22635452340000000000" pitchFamily="2"/>
              </a:rPr>
              <a:t>de </a:t>
            </a:r>
            <a:r>
              <a:rPr lang="fr-FR" sz="2800" b="1" dirty="0">
                <a:latin typeface="Arial" panose="22635452340000000000" pitchFamily="2"/>
              </a:rPr>
              <a:t>l'érythrocyte</a:t>
            </a:r>
          </a:p>
        </p:txBody>
      </p:sp>
      <p:pic>
        <p:nvPicPr>
          <p:cNvPr id="61443" name="Image.jpg"/>
          <p:cNvPicPr>
            <a:picLocks noChangeAspect="1" noChangeArrowheads="1"/>
          </p:cNvPicPr>
          <p:nvPr/>
        </p:nvPicPr>
        <p:blipFill>
          <a:blip r:embed="rId2" cstate="print"/>
          <a:srcRect/>
          <a:stretch>
            <a:fillRect/>
          </a:stretch>
        </p:blipFill>
        <p:spPr bwMode="auto">
          <a:xfrm>
            <a:off x="652463" y="1538288"/>
            <a:ext cx="3165475" cy="3279775"/>
          </a:xfrm>
          <a:prstGeom prst="rect">
            <a:avLst/>
          </a:prstGeom>
          <a:noFill/>
          <a:ln w="19050">
            <a:solidFill>
              <a:schemeClr val="tx1"/>
            </a:solidFill>
            <a:miter lim="800000"/>
            <a:headEnd/>
            <a:tailEnd/>
          </a:ln>
        </p:spPr>
      </p:pic>
      <p:sp>
        <p:nvSpPr>
          <p:cNvPr id="402" name="Espace réservé du texte 401"/>
          <p:cNvSpPr>
            <a:spLocks noGrp="1"/>
          </p:cNvSpPr>
          <p:nvPr>
            <p:ph type="body" idx="10"/>
          </p:nvPr>
        </p:nvSpPr>
        <p:spPr>
          <a:xfrm>
            <a:off x="261938" y="5092700"/>
            <a:ext cx="4295775" cy="798513"/>
          </a:xfrm>
        </p:spPr>
        <p:txBody>
          <a:bodyPr>
            <a:normAutofit fontScale="92500"/>
          </a:bodyPr>
          <a:lstStyle/>
          <a:p>
            <a:pPr marL="0">
              <a:lnSpc>
                <a:spcPts val="2104"/>
              </a:lnSpc>
              <a:spcAft>
                <a:spcPts val="0"/>
              </a:spcAft>
              <a:buFont typeface="Arial" charset="0"/>
              <a:buNone/>
              <a:defRPr/>
            </a:pPr>
            <a:r>
              <a:rPr lang="fr-FR" sz="1800" b="1" dirty="0">
                <a:latin typeface="Tahoma" panose="22635452340000000000" pitchFamily="2"/>
              </a:rPr>
              <a:t>La </a:t>
            </a:r>
            <a:r>
              <a:rPr lang="fr-FR" sz="1800" b="1" dirty="0" err="1" smtClean="0">
                <a:latin typeface="Tahoma" panose="22635452340000000000" pitchFamily="2"/>
              </a:rPr>
              <a:t>glycophorine</a:t>
            </a:r>
            <a:r>
              <a:rPr lang="fr-FR" sz="1800" b="1" dirty="0" smtClean="0">
                <a:latin typeface="Tahoma" panose="22635452340000000000" pitchFamily="2"/>
              </a:rPr>
              <a:t> A ne comporte </a:t>
            </a:r>
            <a:r>
              <a:rPr lang="fr-FR" sz="1800" b="1" dirty="0">
                <a:latin typeface="Tahoma" panose="22635452340000000000" pitchFamily="2"/>
              </a:rPr>
              <a:t>qu'une </a:t>
            </a:r>
            <a:r>
              <a:rPr lang="fr-FR" sz="1800" b="1" dirty="0" smtClean="0">
                <a:latin typeface="Tahoma" panose="22635452340000000000" pitchFamily="2"/>
              </a:rPr>
              <a:t>seule </a:t>
            </a:r>
            <a:r>
              <a:rPr lang="fr-FR" sz="1800" b="1" spc="-13" dirty="0" smtClean="0">
                <a:latin typeface="Tahoma" panose="22635452340000000000" pitchFamily="2"/>
              </a:rPr>
              <a:t>hélice </a:t>
            </a:r>
            <a:r>
              <a:rPr lang="fr-FR" sz="1800" b="1" spc="-65" dirty="0" smtClean="0">
                <a:latin typeface="Arial" pitchFamily="34" charset="0"/>
                <a:cs typeface="Arial" pitchFamily="34" charset="0"/>
              </a:rPr>
              <a:t> </a:t>
            </a:r>
            <a:r>
              <a:rPr lang="el-GR" sz="1800" b="1" spc="-65" dirty="0" smtClean="0">
                <a:latin typeface="Arial" pitchFamily="34" charset="0"/>
                <a:cs typeface="Arial" pitchFamily="34" charset="0"/>
              </a:rPr>
              <a:t>α</a:t>
            </a:r>
            <a:r>
              <a:rPr lang="fr-FR" sz="1800" b="1" spc="-13" dirty="0" smtClean="0">
                <a:latin typeface="Tahoma" panose="22635452340000000000" pitchFamily="2"/>
              </a:rPr>
              <a:t> </a:t>
            </a:r>
            <a:r>
              <a:rPr lang="fr-FR" sz="1800" b="1" spc="-13" dirty="0">
                <a:latin typeface="Tahoma" panose="22635452340000000000" pitchFamily="2"/>
              </a:rPr>
              <a:t>transmembranaire</a:t>
            </a:r>
          </a:p>
        </p:txBody>
      </p:sp>
      <p:sp>
        <p:nvSpPr>
          <p:cNvPr id="61445" name="Espace réservé du texte 407"/>
          <p:cNvSpPr>
            <a:spLocks noGrp="1"/>
          </p:cNvSpPr>
          <p:nvPr>
            <p:ph type="body" idx="10"/>
          </p:nvPr>
        </p:nvSpPr>
        <p:spPr>
          <a:xfrm>
            <a:off x="4876800" y="5751513"/>
            <a:ext cx="4151313" cy="809625"/>
          </a:xfrm>
          <a:ln w="9525"/>
        </p:spPr>
        <p:txBody>
          <a:bodyPr/>
          <a:lstStyle/>
          <a:p>
            <a:pPr marL="0">
              <a:lnSpc>
                <a:spcPts val="2188"/>
              </a:lnSpc>
              <a:spcBef>
                <a:spcPct val="0"/>
              </a:spcBef>
              <a:spcAft>
                <a:spcPct val="0"/>
              </a:spcAft>
              <a:buFont typeface="Arial" charset="0"/>
              <a:buNone/>
            </a:pPr>
            <a:r>
              <a:rPr lang="fr-FR" sz="1900" b="1" dirty="0" smtClean="0">
                <a:latin typeface="Arial" charset="0"/>
              </a:rPr>
              <a:t>La protéine de la bande 3 comporte 14 hélice </a:t>
            </a:r>
            <a:r>
              <a:rPr lang="fr-FR" sz="2000" b="1" dirty="0" smtClean="0">
                <a:latin typeface="Arial" charset="0"/>
                <a:cs typeface="Arial" charset="0"/>
              </a:rPr>
              <a:t> </a:t>
            </a:r>
            <a:r>
              <a:rPr lang="el-GR" sz="2000" b="1" dirty="0" smtClean="0">
                <a:latin typeface="Arial" charset="0"/>
                <a:cs typeface="Arial" charset="0"/>
              </a:rPr>
              <a:t>α</a:t>
            </a:r>
            <a:r>
              <a:rPr lang="fr-FR" sz="1900" b="1" dirty="0" smtClean="0">
                <a:latin typeface="Arial" charset="0"/>
              </a:rPr>
              <a:t> transmembranaire</a:t>
            </a:r>
          </a:p>
        </p:txBody>
      </p:sp>
      <p:pic>
        <p:nvPicPr>
          <p:cNvPr id="61446" name="Picture 2" descr="http://www.jle.com/e-docs/00/00/C4/87/texte_alt_fig5.gif"/>
          <p:cNvPicPr>
            <a:picLocks noChangeAspect="1" noChangeArrowheads="1"/>
          </p:cNvPicPr>
          <p:nvPr/>
        </p:nvPicPr>
        <p:blipFill>
          <a:blip r:embed="rId3" cstate="print"/>
          <a:srcRect/>
          <a:stretch>
            <a:fillRect/>
          </a:stretch>
        </p:blipFill>
        <p:spPr bwMode="auto">
          <a:xfrm>
            <a:off x="4849813" y="1887538"/>
            <a:ext cx="3810000" cy="3744912"/>
          </a:xfrm>
          <a:prstGeom prst="rect">
            <a:avLst/>
          </a:prstGeom>
          <a:noFill/>
          <a:ln w="12700">
            <a:solidFill>
              <a:schemeClr val="tx1"/>
            </a:solidFill>
            <a:miter lim="800000"/>
            <a:headEnd/>
            <a:tailEnd/>
          </a:ln>
        </p:spPr>
      </p:pic>
    </p:spTree>
    <p:extLst>
      <p:ext uri="{BB962C8B-B14F-4D97-AF65-F5344CB8AC3E}">
        <p14:creationId xmlns:p14="http://schemas.microsoft.com/office/powerpoint/2010/main" val="2249021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764704"/>
            <a:ext cx="8640960" cy="4801314"/>
          </a:xfrm>
          <a:prstGeom prst="rect">
            <a:avLst/>
          </a:prstGeom>
        </p:spPr>
        <p:txBody>
          <a:bodyPr wrap="square">
            <a:spAutoFit/>
          </a:bodyPr>
          <a:lstStyle/>
          <a:p>
            <a:pPr algn="just"/>
            <a:r>
              <a:rPr lang="fr-FR" b="1" dirty="0"/>
              <a:t>Le</a:t>
            </a:r>
            <a:r>
              <a:rPr lang="fr-FR" dirty="0"/>
              <a:t> </a:t>
            </a:r>
            <a:r>
              <a:rPr lang="fr-FR" b="1" dirty="0"/>
              <a:t>canal anionique de la membrane du globule rouge (bande 3) </a:t>
            </a:r>
            <a:r>
              <a:rPr lang="fr-FR" dirty="0"/>
              <a:t>est une protéine transmembranaire qui représente 25% environ de la masse totale des protéines du globule rouge. Cette molécule traverse </a:t>
            </a:r>
            <a:r>
              <a:rPr lang="fr-FR" dirty="0" smtClean="0"/>
              <a:t>14 fois </a:t>
            </a:r>
            <a:r>
              <a:rPr lang="fr-FR" dirty="0"/>
              <a:t>la </a:t>
            </a:r>
            <a:r>
              <a:rPr lang="fr-FR" dirty="0" smtClean="0"/>
              <a:t>membrane. </a:t>
            </a:r>
            <a:r>
              <a:rPr lang="fr-FR" dirty="0"/>
              <a:t>L'intérêt de cette protéine tient à ses fonctions biologiques, car elle assure le transport </a:t>
            </a:r>
            <a:r>
              <a:rPr lang="fr-FR" dirty="0" smtClean="0"/>
              <a:t>des </a:t>
            </a:r>
            <a:r>
              <a:rPr lang="fr-FR" dirty="0"/>
              <a:t>anions (Cl-, HCO3-) à travers la membrane. Il s'agit d'un rôle clé dans le mécanisme général de transport du CO2 des tissus vers les poumons car il permet l'élimination du HCO3 intracellulaire (</a:t>
            </a:r>
            <a:r>
              <a:rPr lang="fr-FR" dirty="0" err="1"/>
              <a:t>hydration</a:t>
            </a:r>
            <a:r>
              <a:rPr lang="fr-FR" dirty="0"/>
              <a:t> du CO2). </a:t>
            </a:r>
            <a:endParaRPr lang="fr-FR" dirty="0" smtClean="0"/>
          </a:p>
          <a:p>
            <a:pPr algn="just"/>
            <a:r>
              <a:rPr lang="fr-FR" dirty="0"/>
              <a:t>Lorsque le sang </a:t>
            </a:r>
            <a:r>
              <a:rPr lang="fr-FR" dirty="0" smtClean="0"/>
              <a:t>circule dans les tissus, le CO2 se dissous dans le liquide du flux sanguin ( le plasma) et se dissocie comme ceci: H2O+ CO2= HCO3- +</a:t>
            </a:r>
            <a:r>
              <a:rPr lang="fr-FR" sz="1600" dirty="0" smtClean="0"/>
              <a:t>  H</a:t>
            </a:r>
            <a:r>
              <a:rPr lang="fr-FR" sz="1200" dirty="0" smtClean="0"/>
              <a:t>+.</a:t>
            </a:r>
          </a:p>
          <a:p>
            <a:pPr algn="just"/>
            <a:r>
              <a:rPr lang="fr-FR" dirty="0" smtClean="0"/>
              <a:t>Les ions bicarbonate pénètrent dans les hématies en échange des ions de chlorure qui quittent la cellule. Dans le poumon, ou le CO2 est libéré, s’effectue la réaction inverse et les ions de bicarbonate quittent les hématies en échange des ions chlorure. Les </a:t>
            </a:r>
            <a:r>
              <a:rPr lang="fr-FR" dirty="0"/>
              <a:t>ions </a:t>
            </a:r>
            <a:r>
              <a:rPr lang="fr-FR" dirty="0" smtClean="0"/>
              <a:t>HCO3- et cl- passent par un canal situé au centre de chaque dimère de Bande 3. </a:t>
            </a:r>
          </a:p>
          <a:p>
            <a:pPr algn="just"/>
            <a:endParaRPr lang="fr-FR" dirty="0"/>
          </a:p>
          <a:p>
            <a:pPr algn="just"/>
            <a:r>
              <a:rPr lang="fr-FR" b="1" dirty="0" smtClean="0"/>
              <a:t>La</a:t>
            </a:r>
            <a:r>
              <a:rPr lang="fr-FR" dirty="0" smtClean="0"/>
              <a:t> </a:t>
            </a:r>
            <a:r>
              <a:rPr lang="fr-FR" b="1" dirty="0" err="1"/>
              <a:t>glycophorine</a:t>
            </a:r>
            <a:r>
              <a:rPr lang="fr-FR" b="1" dirty="0"/>
              <a:t> A</a:t>
            </a:r>
            <a:r>
              <a:rPr lang="fr-FR" dirty="0"/>
              <a:t> est la </a:t>
            </a:r>
            <a:r>
              <a:rPr lang="fr-FR" dirty="0" smtClean="0"/>
              <a:t>protéine qui possède la plus </a:t>
            </a:r>
            <a:r>
              <a:rPr lang="fr-FR" dirty="0"/>
              <a:t>grande partie de </a:t>
            </a:r>
            <a:r>
              <a:rPr lang="fr-FR" dirty="0" smtClean="0"/>
              <a:t>saccharides </a:t>
            </a:r>
            <a:r>
              <a:rPr lang="fr-FR" dirty="0"/>
              <a:t>(80%) </a:t>
            </a:r>
            <a:r>
              <a:rPr lang="fr-FR" dirty="0" smtClean="0"/>
              <a:t>et de ce fait, la </a:t>
            </a:r>
            <a:r>
              <a:rPr lang="fr-FR" dirty="0"/>
              <a:t>charge électrique négative </a:t>
            </a:r>
            <a:r>
              <a:rPr lang="fr-FR" dirty="0" smtClean="0"/>
              <a:t>du </a:t>
            </a:r>
            <a:r>
              <a:rPr lang="fr-FR" dirty="0"/>
              <a:t>globule </a:t>
            </a:r>
            <a:r>
              <a:rPr lang="fr-FR" dirty="0" smtClean="0"/>
              <a:t>rouge. </a:t>
            </a:r>
            <a:r>
              <a:rPr lang="fr-FR" dirty="0"/>
              <a:t>L'intérêt de cette protéine tient à ses fonctions biologiques, car elle assure </a:t>
            </a:r>
            <a:r>
              <a:rPr lang="fr-FR" dirty="0" smtClean="0"/>
              <a:t>un rôle de répulsion entre les globules rouge à l’int</a:t>
            </a:r>
            <a:r>
              <a:rPr lang="fr-FR" dirty="0"/>
              <a:t>é</a:t>
            </a:r>
            <a:r>
              <a:rPr lang="fr-FR" dirty="0" smtClean="0"/>
              <a:t>rieur des capillaire et veinules.   </a:t>
            </a:r>
            <a:endParaRPr lang="fr-FR" dirty="0">
              <a:effectLst/>
            </a:endParaRPr>
          </a:p>
        </p:txBody>
      </p:sp>
    </p:spTree>
    <p:extLst>
      <p:ext uri="{BB962C8B-B14F-4D97-AF65-F5344CB8AC3E}">
        <p14:creationId xmlns:p14="http://schemas.microsoft.com/office/powerpoint/2010/main" val="1951356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
          <p:cNvPicPr>
            <a:picLocks noChangeAspect="1" noChangeArrowheads="1"/>
          </p:cNvPicPr>
          <p:nvPr/>
        </p:nvPicPr>
        <p:blipFill>
          <a:blip r:embed="rId2" cstate="print"/>
          <a:srcRect l="26477"/>
          <a:stretch>
            <a:fillRect/>
          </a:stretch>
        </p:blipFill>
        <p:spPr bwMode="auto">
          <a:xfrm>
            <a:off x="304800" y="1117600"/>
            <a:ext cx="8709025" cy="5080000"/>
          </a:xfrm>
          <a:prstGeom prst="rect">
            <a:avLst/>
          </a:prstGeom>
          <a:noFill/>
          <a:ln w="9525">
            <a:noFill/>
            <a:miter lim="800000"/>
            <a:headEnd/>
            <a:tailEnd/>
          </a:ln>
        </p:spPr>
      </p:pic>
      <p:sp>
        <p:nvSpPr>
          <p:cNvPr id="53251" name="Rectangle 2"/>
          <p:cNvSpPr>
            <a:spLocks noChangeArrowheads="1"/>
          </p:cNvSpPr>
          <p:nvPr/>
        </p:nvSpPr>
        <p:spPr bwMode="auto">
          <a:xfrm>
            <a:off x="-406400" y="233363"/>
            <a:ext cx="8418513" cy="554037"/>
          </a:xfrm>
          <a:prstGeom prst="rect">
            <a:avLst/>
          </a:prstGeom>
          <a:noFill/>
          <a:ln w="9525">
            <a:noFill/>
            <a:miter lim="800000"/>
            <a:headEnd/>
            <a:tailEnd/>
          </a:ln>
        </p:spPr>
        <p:txBody>
          <a:bodyPr>
            <a:spAutoFit/>
          </a:bodyPr>
          <a:lstStyle/>
          <a:p>
            <a:pPr marL="2147888">
              <a:lnSpc>
                <a:spcPts val="3400"/>
              </a:lnSpc>
            </a:pPr>
            <a:r>
              <a:rPr lang="fr-FR" sz="4000">
                <a:solidFill>
                  <a:srgbClr val="000000"/>
                </a:solidFill>
                <a:latin typeface="Calibri" pitchFamily="34" charset="0"/>
              </a:rPr>
              <a:t>Les Protéines membranaires</a:t>
            </a:r>
          </a:p>
        </p:txBody>
      </p:sp>
    </p:spTree>
    <p:extLst>
      <p:ext uri="{BB962C8B-B14F-4D97-AF65-F5344CB8AC3E}">
        <p14:creationId xmlns:p14="http://schemas.microsoft.com/office/powerpoint/2010/main" val="15890542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Espace réservé du texte 128"/>
          <p:cNvSpPr>
            <a:spLocks noGrp="1"/>
          </p:cNvSpPr>
          <p:nvPr>
            <p:ph type="body" idx="10"/>
          </p:nvPr>
        </p:nvSpPr>
        <p:spPr>
          <a:xfrm>
            <a:off x="157163" y="266700"/>
            <a:ext cx="7423150" cy="573088"/>
          </a:xfrm>
          <a:ln w="9525">
            <a:noFill/>
          </a:ln>
        </p:spPr>
        <p:txBody>
          <a:bodyPr/>
          <a:lstStyle/>
          <a:p>
            <a:pPr marL="2147888" indent="0">
              <a:lnSpc>
                <a:spcPts val="3400"/>
              </a:lnSpc>
              <a:buFont typeface="Arial" charset="0"/>
              <a:buNone/>
            </a:pPr>
            <a:r>
              <a:rPr lang="fr-FR" sz="4000" dirty="0" smtClean="0">
                <a:solidFill>
                  <a:srgbClr val="000000"/>
                </a:solidFill>
              </a:rPr>
              <a:t>Protéines membranaires</a:t>
            </a:r>
          </a:p>
        </p:txBody>
      </p:sp>
      <p:sp>
        <p:nvSpPr>
          <p:cNvPr id="131" name="Espace réservé du texte 130"/>
          <p:cNvSpPr>
            <a:spLocks noGrp="1"/>
          </p:cNvSpPr>
          <p:nvPr>
            <p:ph type="body" idx="10"/>
          </p:nvPr>
        </p:nvSpPr>
        <p:spPr>
          <a:xfrm>
            <a:off x="-315913" y="1106488"/>
            <a:ext cx="8559801" cy="2259012"/>
          </a:xfrm>
          <a:ln w="0">
            <a:noFill/>
          </a:ln>
        </p:spPr>
        <p:txBody>
          <a:bodyPr tIns="0"/>
          <a:lstStyle/>
          <a:p>
            <a:pPr marL="1737360" indent="0">
              <a:lnSpc>
                <a:spcPct val="105599"/>
              </a:lnSpc>
              <a:spcBef>
                <a:spcPts val="900"/>
              </a:spcBef>
              <a:spcAft>
                <a:spcPts val="0"/>
              </a:spcAft>
              <a:buFont typeface="Arial" charset="0"/>
              <a:buNone/>
              <a:defRPr/>
            </a:pPr>
            <a:r>
              <a:rPr lang="fr-FR" sz="2800" b="1" spc="-40" dirty="0" smtClean="0">
                <a:solidFill>
                  <a:srgbClr val="FF0000"/>
                </a:solidFill>
              </a:rPr>
              <a:t>Protéines </a:t>
            </a:r>
            <a:r>
              <a:rPr lang="fr-FR" sz="2800" b="1" spc="-40" dirty="0">
                <a:solidFill>
                  <a:srgbClr val="FF0000"/>
                </a:solidFill>
              </a:rPr>
              <a:t>transmembranaires (intrinsèques)</a:t>
            </a:r>
          </a:p>
        </p:txBody>
      </p:sp>
      <p:sp>
        <p:nvSpPr>
          <p:cNvPr id="132" name="Espace réservé du texte 131"/>
          <p:cNvSpPr>
            <a:spLocks noGrp="1"/>
          </p:cNvSpPr>
          <p:nvPr>
            <p:ph type="body" idx="10"/>
          </p:nvPr>
        </p:nvSpPr>
        <p:spPr>
          <a:xfrm>
            <a:off x="1247775" y="5076825"/>
            <a:ext cx="9739313" cy="371475"/>
          </a:xfrm>
          <a:ln w="0">
            <a:noFill/>
          </a:ln>
        </p:spPr>
        <p:txBody>
          <a:bodyPr tIns="0">
            <a:normAutofit fontScale="25000" lnSpcReduction="20000"/>
          </a:bodyPr>
          <a:lstStyle/>
          <a:p>
            <a:pPr marL="3291840" indent="0">
              <a:lnSpc>
                <a:spcPct val="105599"/>
              </a:lnSpc>
              <a:spcAft>
                <a:spcPts val="360"/>
              </a:spcAft>
              <a:buFont typeface="Arial" charset="0"/>
              <a:buNone/>
              <a:defRPr/>
            </a:pPr>
            <a:r>
              <a:rPr lang="fr-FR" sz="4800" b="1" spc="-40" dirty="0" smtClean="0">
                <a:solidFill>
                  <a:srgbClr val="FF0000"/>
                </a:solidFill>
                <a:latin typeface="Arial" pitchFamily="34" charset="0"/>
                <a:cs typeface="Arial" pitchFamily="34" charset="0"/>
              </a:rPr>
              <a:t>            </a:t>
            </a:r>
            <a:r>
              <a:rPr lang="fr-FR" sz="4800" b="1" spc="-40" dirty="0" err="1" smtClean="0">
                <a:solidFill>
                  <a:srgbClr val="FF0000"/>
                </a:solidFill>
                <a:latin typeface="Arial" pitchFamily="34" charset="0"/>
                <a:cs typeface="Arial" pitchFamily="34" charset="0"/>
              </a:rPr>
              <a:t>polytopique</a:t>
            </a:r>
            <a:endParaRPr lang="fr-FR" sz="4800" b="1" spc="-40" dirty="0" smtClean="0">
              <a:solidFill>
                <a:srgbClr val="FF0000"/>
              </a:solidFill>
              <a:latin typeface="Arial" pitchFamily="34" charset="0"/>
              <a:cs typeface="Arial" pitchFamily="34" charset="0"/>
            </a:endParaRPr>
          </a:p>
          <a:p>
            <a:pPr marL="3291840" indent="0">
              <a:lnSpc>
                <a:spcPct val="105599"/>
              </a:lnSpc>
              <a:spcAft>
                <a:spcPts val="360"/>
              </a:spcAft>
              <a:buFont typeface="Arial" charset="0"/>
              <a:buNone/>
              <a:defRPr/>
            </a:pPr>
            <a:r>
              <a:rPr lang="fr-FR" sz="4800" b="1" spc="-40" dirty="0" smtClean="0">
                <a:solidFill>
                  <a:srgbClr val="FF0000"/>
                </a:solidFill>
                <a:latin typeface="Arial" pitchFamily="34" charset="0"/>
                <a:cs typeface="Arial" pitchFamily="34" charset="0"/>
              </a:rPr>
              <a:t>Plusieurs segments (3hélice </a:t>
            </a:r>
            <a:r>
              <a:rPr lang="el-GR" sz="4800" b="1" spc="-40" dirty="0" smtClean="0">
                <a:solidFill>
                  <a:srgbClr val="FF0000"/>
                </a:solidFill>
                <a:latin typeface="Arial" pitchFamily="34" charset="0"/>
                <a:cs typeface="Arial" pitchFamily="34" charset="0"/>
              </a:rPr>
              <a:t>α</a:t>
            </a:r>
            <a:r>
              <a:rPr lang="fr-FR" sz="4800" b="1" spc="-40" dirty="0" smtClean="0">
                <a:solidFill>
                  <a:srgbClr val="FF0000"/>
                </a:solidFill>
                <a:latin typeface="Arial" pitchFamily="34" charset="0"/>
                <a:cs typeface="Arial" pitchFamily="34" charset="0"/>
              </a:rPr>
              <a:t>)</a:t>
            </a:r>
          </a:p>
          <a:p>
            <a:pPr marL="3291840" indent="0">
              <a:lnSpc>
                <a:spcPct val="105599"/>
              </a:lnSpc>
              <a:spcAft>
                <a:spcPts val="360"/>
              </a:spcAft>
              <a:buFont typeface="Arial" charset="0"/>
              <a:buNone/>
              <a:defRPr/>
            </a:pPr>
            <a:r>
              <a:rPr lang="fr-FR" sz="4800" b="1" spc="-65" dirty="0" smtClean="0">
                <a:solidFill>
                  <a:srgbClr val="FF0000"/>
                </a:solidFill>
                <a:latin typeface="Arial" pitchFamily="34" charset="0"/>
                <a:cs typeface="Arial" pitchFamily="34" charset="0"/>
              </a:rPr>
              <a:t>Un domaine de chaque coté de la membrane</a:t>
            </a:r>
          </a:p>
          <a:p>
            <a:pPr marL="3291840" indent="0">
              <a:lnSpc>
                <a:spcPct val="105599"/>
              </a:lnSpc>
              <a:spcAft>
                <a:spcPts val="360"/>
              </a:spcAft>
              <a:buFont typeface="Arial" charset="0"/>
              <a:buNone/>
              <a:defRPr/>
            </a:pPr>
            <a:endParaRPr lang="fr-FR" sz="1800" b="1" spc="-40" dirty="0" smtClean="0">
              <a:solidFill>
                <a:srgbClr val="FF0000"/>
              </a:solidFill>
              <a:latin typeface="Arial" pitchFamily="34" charset="0"/>
              <a:cs typeface="Arial" pitchFamily="34" charset="0"/>
            </a:endParaRPr>
          </a:p>
          <a:p>
            <a:pPr marL="3291840" indent="0">
              <a:lnSpc>
                <a:spcPct val="105599"/>
              </a:lnSpc>
              <a:spcAft>
                <a:spcPts val="360"/>
              </a:spcAft>
              <a:buFont typeface="Arial" charset="0"/>
              <a:buNone/>
              <a:defRPr/>
            </a:pPr>
            <a:r>
              <a:rPr lang="fr-FR" sz="1800" b="1" spc="-40" dirty="0" smtClean="0">
                <a:solidFill>
                  <a:srgbClr val="FF0000"/>
                </a:solidFill>
                <a:latin typeface="Arial" pitchFamily="34" charset="0"/>
                <a:cs typeface="Arial" pitchFamily="34" charset="0"/>
              </a:rPr>
              <a:t>               </a:t>
            </a:r>
            <a:endParaRPr lang="fr-FR" sz="1800" b="1" spc="-40" dirty="0">
              <a:solidFill>
                <a:srgbClr val="FF0000"/>
              </a:solidFill>
              <a:latin typeface="Arial" pitchFamily="34" charset="0"/>
              <a:cs typeface="Arial" pitchFamily="34" charset="0"/>
            </a:endParaRPr>
          </a:p>
        </p:txBody>
      </p:sp>
      <p:sp>
        <p:nvSpPr>
          <p:cNvPr id="137" name="Espace réservé du texte 136"/>
          <p:cNvSpPr>
            <a:spLocks noGrp="1"/>
          </p:cNvSpPr>
          <p:nvPr>
            <p:ph type="body" idx="10"/>
          </p:nvPr>
        </p:nvSpPr>
        <p:spPr>
          <a:xfrm>
            <a:off x="363538" y="4445000"/>
            <a:ext cx="4695825" cy="1027113"/>
          </a:xfrm>
          <a:ln w="0">
            <a:noFill/>
          </a:ln>
        </p:spPr>
        <p:txBody>
          <a:bodyPr tIns="0">
            <a:normAutofit fontScale="40000" lnSpcReduction="20000"/>
          </a:bodyPr>
          <a:lstStyle/>
          <a:p>
            <a:pPr marL="0" indent="0">
              <a:lnSpc>
                <a:spcPts val="1800"/>
              </a:lnSpc>
              <a:spcAft>
                <a:spcPts val="0"/>
              </a:spcAft>
              <a:buFont typeface="Arial" charset="0"/>
              <a:buNone/>
              <a:defRPr/>
            </a:pPr>
            <a:r>
              <a:rPr lang="fr-FR" sz="2900" b="1" spc="-65" dirty="0" smtClean="0">
                <a:solidFill>
                  <a:srgbClr val="FF0000"/>
                </a:solidFill>
                <a:latin typeface="Arial" pitchFamily="34" charset="0"/>
                <a:cs typeface="Arial" pitchFamily="34" charset="0"/>
              </a:rPr>
              <a:t>                      </a:t>
            </a:r>
            <a:r>
              <a:rPr lang="fr-FR" sz="2900" b="1" spc="-65" dirty="0" err="1" smtClean="0">
                <a:solidFill>
                  <a:srgbClr val="FF0000"/>
                </a:solidFill>
                <a:latin typeface="Arial" pitchFamily="34" charset="0"/>
                <a:cs typeface="Arial" pitchFamily="34" charset="0"/>
              </a:rPr>
              <a:t>monotopique</a:t>
            </a:r>
            <a:endParaRPr lang="fr-FR" sz="2900" b="1" spc="-65" dirty="0" smtClean="0">
              <a:solidFill>
                <a:srgbClr val="FF0000"/>
              </a:solidFill>
              <a:latin typeface="Arial" pitchFamily="34" charset="0"/>
              <a:cs typeface="Arial" pitchFamily="34" charset="0"/>
            </a:endParaRPr>
          </a:p>
          <a:p>
            <a:pPr marL="0" indent="0">
              <a:lnSpc>
                <a:spcPts val="1800"/>
              </a:lnSpc>
              <a:spcAft>
                <a:spcPts val="0"/>
              </a:spcAft>
              <a:buFont typeface="Arial" charset="0"/>
              <a:buNone/>
              <a:defRPr/>
            </a:pPr>
            <a:r>
              <a:rPr lang="fr-FR" sz="2900" b="1" spc="-65" dirty="0" smtClean="0">
                <a:solidFill>
                  <a:srgbClr val="FF0000"/>
                </a:solidFill>
                <a:latin typeface="Arial" pitchFamily="34" charset="0"/>
                <a:cs typeface="Arial" pitchFamily="34" charset="0"/>
              </a:rPr>
              <a:t>Un seul segment (1hélice </a:t>
            </a:r>
            <a:r>
              <a:rPr lang="el-GR" sz="2900" b="1" spc="-65" dirty="0" smtClean="0">
                <a:solidFill>
                  <a:srgbClr val="FF0000"/>
                </a:solidFill>
                <a:latin typeface="Arial" pitchFamily="34" charset="0"/>
                <a:cs typeface="Arial" pitchFamily="34" charset="0"/>
              </a:rPr>
              <a:t>α</a:t>
            </a:r>
            <a:r>
              <a:rPr lang="fr-FR" sz="2900" b="1" spc="-65" dirty="0" smtClean="0">
                <a:solidFill>
                  <a:srgbClr val="FF0000"/>
                </a:solidFill>
                <a:latin typeface="Arial" pitchFamily="34" charset="0"/>
                <a:cs typeface="Arial" pitchFamily="34" charset="0"/>
              </a:rPr>
              <a:t>)</a:t>
            </a:r>
          </a:p>
          <a:p>
            <a:pPr marL="0" indent="0">
              <a:lnSpc>
                <a:spcPts val="1800"/>
              </a:lnSpc>
              <a:spcAft>
                <a:spcPts val="0"/>
              </a:spcAft>
              <a:buFont typeface="Arial" charset="0"/>
              <a:buNone/>
              <a:defRPr/>
            </a:pPr>
            <a:r>
              <a:rPr lang="fr-FR" sz="2900" b="1" spc="-65" dirty="0" smtClean="0">
                <a:solidFill>
                  <a:srgbClr val="FF0000"/>
                </a:solidFill>
                <a:latin typeface="Arial" pitchFamily="34" charset="0"/>
                <a:cs typeface="Arial" pitchFamily="34" charset="0"/>
              </a:rPr>
              <a:t>Un domaine de chaque coté de la membrane       </a:t>
            </a:r>
          </a:p>
          <a:p>
            <a:pPr marL="0" indent="0">
              <a:lnSpc>
                <a:spcPts val="1800"/>
              </a:lnSpc>
              <a:spcAft>
                <a:spcPts val="0"/>
              </a:spcAft>
              <a:buFont typeface="Arial" charset="0"/>
              <a:buNone/>
              <a:defRPr/>
            </a:pPr>
            <a:r>
              <a:rPr lang="fr-FR" sz="1800" b="1" spc="-65" dirty="0" smtClean="0">
                <a:solidFill>
                  <a:srgbClr val="FF0000"/>
                </a:solidFill>
                <a:latin typeface="Arial" pitchFamily="34" charset="0"/>
                <a:cs typeface="Arial" pitchFamily="34" charset="0"/>
              </a:rPr>
              <a:t> </a:t>
            </a:r>
            <a:endParaRPr lang="fr-FR" sz="1800" b="1" spc="-65" dirty="0">
              <a:solidFill>
                <a:srgbClr val="FF0000"/>
              </a:solidFill>
              <a:latin typeface="Arial" pitchFamily="34" charset="0"/>
              <a:cs typeface="Arial" pitchFamily="34" charset="0"/>
            </a:endParaRPr>
          </a:p>
        </p:txBody>
      </p:sp>
      <p:cxnSp>
        <p:nvCxnSpPr>
          <p:cNvPr id="16" name="Connecteur droit avec flèche 15"/>
          <p:cNvCxnSpPr/>
          <p:nvPr/>
        </p:nvCxnSpPr>
        <p:spPr>
          <a:xfrm rot="5400000" flipH="1" flipV="1">
            <a:off x="5196682" y="4629943"/>
            <a:ext cx="609600" cy="2905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Connecteur droit avec flèche 17"/>
          <p:cNvCxnSpPr/>
          <p:nvPr/>
        </p:nvCxnSpPr>
        <p:spPr>
          <a:xfrm rot="5400000" flipH="1" flipV="1">
            <a:off x="5660231" y="4587082"/>
            <a:ext cx="581025" cy="3190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55304" name="Picture 1"/>
          <p:cNvPicPr>
            <a:picLocks noChangeAspect="1" noChangeArrowheads="1"/>
          </p:cNvPicPr>
          <p:nvPr/>
        </p:nvPicPr>
        <p:blipFill>
          <a:blip r:embed="rId2" cstate="print"/>
          <a:srcRect l="43877" t="15459" r="17770" b="7246"/>
          <a:stretch>
            <a:fillRect/>
          </a:stretch>
        </p:blipFill>
        <p:spPr bwMode="auto">
          <a:xfrm>
            <a:off x="2497138" y="2133600"/>
            <a:ext cx="4541837" cy="2322513"/>
          </a:xfrm>
          <a:prstGeom prst="rect">
            <a:avLst/>
          </a:prstGeom>
          <a:noFill/>
          <a:ln w="9525">
            <a:noFill/>
            <a:miter lim="800000"/>
            <a:headEnd/>
            <a:tailEnd/>
          </a:ln>
        </p:spPr>
      </p:pic>
      <p:sp>
        <p:nvSpPr>
          <p:cNvPr id="55305" name="ZoneTexte 11"/>
          <p:cNvSpPr txBox="1">
            <a:spLocks noChangeArrowheads="1"/>
          </p:cNvSpPr>
          <p:nvPr/>
        </p:nvSpPr>
        <p:spPr bwMode="auto">
          <a:xfrm>
            <a:off x="5297488" y="1785938"/>
            <a:ext cx="2728912" cy="368300"/>
          </a:xfrm>
          <a:prstGeom prst="rect">
            <a:avLst/>
          </a:prstGeom>
          <a:noFill/>
          <a:ln w="9525">
            <a:noFill/>
            <a:miter lim="800000"/>
            <a:headEnd/>
            <a:tailEnd/>
          </a:ln>
        </p:spPr>
        <p:txBody>
          <a:bodyPr>
            <a:spAutoFit/>
          </a:bodyPr>
          <a:lstStyle/>
          <a:p>
            <a:r>
              <a:rPr lang="fr-FR" sz="1800"/>
              <a:t>Protéine extrinsèque</a:t>
            </a:r>
          </a:p>
        </p:txBody>
      </p:sp>
      <p:cxnSp>
        <p:nvCxnSpPr>
          <p:cNvPr id="20" name="Connecteur droit avec flèche 19"/>
          <p:cNvCxnSpPr/>
          <p:nvPr/>
        </p:nvCxnSpPr>
        <p:spPr>
          <a:xfrm rot="5400000" flipH="1" flipV="1">
            <a:off x="6139657" y="4579144"/>
            <a:ext cx="588962" cy="355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224432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Espace réservé du texte 224"/>
          <p:cNvSpPr>
            <a:spLocks noGrp="1"/>
          </p:cNvSpPr>
          <p:nvPr>
            <p:ph type="body" idx="10"/>
          </p:nvPr>
        </p:nvSpPr>
        <p:spPr>
          <a:xfrm>
            <a:off x="611560" y="548680"/>
            <a:ext cx="7848600" cy="629920"/>
          </a:xfrm>
          <a:prstGeom prst="rect">
            <a:avLst/>
          </a:prstGeom>
          <a:noFill/>
          <a:ln w="0" cmpd="sng">
            <a:noFill/>
            <a:prstDash val="solid"/>
          </a:ln>
        </p:spPr>
        <p:txBody>
          <a:bodyPr lIns="0" tIns="0" rIns="0" bIns="0" anchor="t"/>
          <a:lstStyle/>
          <a:p>
            <a:pPr marL="1371600" marR="0" indent="0" algn="l">
              <a:lnSpc>
                <a:spcPct val="107519"/>
              </a:lnSpc>
              <a:spcAft>
                <a:spcPts val="0"/>
              </a:spcAft>
              <a:buNone/>
            </a:pPr>
            <a:r>
              <a:rPr lang="fr-FR" sz="3600" spc="80" dirty="0" smtClean="0">
                <a:latin typeface="Calibri" panose="22635452340000000000" pitchFamily="1"/>
              </a:rPr>
              <a:t>Ancrage </a:t>
            </a:r>
            <a:r>
              <a:rPr lang="fr-FR" sz="3600" spc="80" dirty="0">
                <a:latin typeface="Calibri" panose="22635452340000000000" pitchFamily="1"/>
              </a:rPr>
              <a:t>par un lipide</a:t>
            </a:r>
          </a:p>
        </p:txBody>
      </p:sp>
      <p:sp>
        <p:nvSpPr>
          <p:cNvPr id="226" name="Espace réservé du texte 225"/>
          <p:cNvSpPr>
            <a:spLocks noGrp="1"/>
          </p:cNvSpPr>
          <p:nvPr>
            <p:ph type="body" idx="10"/>
          </p:nvPr>
        </p:nvSpPr>
        <p:spPr>
          <a:xfrm>
            <a:off x="-1044624" y="1556792"/>
            <a:ext cx="10188624" cy="3351530"/>
          </a:xfrm>
          <a:prstGeom prst="rect">
            <a:avLst/>
          </a:prstGeom>
          <a:noFill/>
          <a:ln w="0" cmpd="sng">
            <a:noFill/>
            <a:prstDash val="solid"/>
          </a:ln>
        </p:spPr>
        <p:txBody>
          <a:bodyPr lIns="0" tIns="0" rIns="0" bIns="0" anchor="t">
            <a:noAutofit/>
          </a:bodyPr>
          <a:lstStyle/>
          <a:p>
            <a:pPr marL="1371600" marR="0" indent="0" algn="l">
              <a:lnSpc>
                <a:spcPts val="2100"/>
              </a:lnSpc>
              <a:spcAft>
                <a:spcPts val="0"/>
              </a:spcAft>
            </a:pPr>
            <a:r>
              <a:rPr lang="fr-FR" sz="1800" spc="25" dirty="0" smtClean="0">
                <a:latin typeface="Arial" pitchFamily="34" charset="0"/>
                <a:cs typeface="Arial" pitchFamily="34" charset="0"/>
              </a:rPr>
              <a:t>Liaison </a:t>
            </a:r>
            <a:r>
              <a:rPr lang="fr-FR" sz="1800" spc="25" dirty="0">
                <a:latin typeface="Arial" pitchFamily="34" charset="0"/>
                <a:cs typeface="Arial" pitchFamily="34" charset="0"/>
              </a:rPr>
              <a:t>covalente entre la protéine et un élément lipidique</a:t>
            </a:r>
          </a:p>
          <a:p>
            <a:pPr marL="1371600" marR="0" indent="0" algn="l">
              <a:lnSpc>
                <a:spcPts val="2400"/>
              </a:lnSpc>
              <a:spcBef>
                <a:spcPts val="540"/>
              </a:spcBef>
              <a:spcAft>
                <a:spcPts val="0"/>
              </a:spcAft>
            </a:pPr>
            <a:r>
              <a:rPr lang="fr-FR" sz="1800" b="1" spc="10" dirty="0" smtClean="0">
                <a:latin typeface="Arial" pitchFamily="34" charset="0"/>
                <a:cs typeface="Arial" pitchFamily="34" charset="0"/>
              </a:rPr>
              <a:t>4 </a:t>
            </a:r>
            <a:r>
              <a:rPr lang="fr-FR" sz="1800" b="1" spc="10" dirty="0">
                <a:latin typeface="Arial" pitchFamily="34" charset="0"/>
                <a:cs typeface="Arial" pitchFamily="34" charset="0"/>
              </a:rPr>
              <a:t>modifications les plus </a:t>
            </a:r>
            <a:r>
              <a:rPr lang="fr-FR" sz="1800" b="1" spc="10" dirty="0" smtClean="0">
                <a:latin typeface="Arial" pitchFamily="34" charset="0"/>
                <a:cs typeface="Arial" pitchFamily="34" charset="0"/>
              </a:rPr>
              <a:t>courantes:</a:t>
            </a:r>
          </a:p>
          <a:p>
            <a:pPr marL="1371600" marR="0" indent="0" algn="l">
              <a:lnSpc>
                <a:spcPts val="2400"/>
              </a:lnSpc>
              <a:spcBef>
                <a:spcPts val="540"/>
              </a:spcBef>
              <a:spcAft>
                <a:spcPts val="0"/>
              </a:spcAft>
            </a:pPr>
            <a:r>
              <a:rPr lang="fr-FR" sz="1800" b="1" spc="20" dirty="0" err="1" smtClean="0">
                <a:latin typeface="Arial" pitchFamily="34" charset="0"/>
                <a:cs typeface="Arial" pitchFamily="34" charset="0"/>
              </a:rPr>
              <a:t>Isoprénylation</a:t>
            </a:r>
            <a:r>
              <a:rPr lang="fr-FR" sz="1800" b="1" spc="20" dirty="0" smtClean="0">
                <a:latin typeface="Arial" pitchFamily="34" charset="0"/>
                <a:cs typeface="Arial" pitchFamily="34" charset="0"/>
              </a:rPr>
              <a:t> </a:t>
            </a:r>
            <a:r>
              <a:rPr lang="fr-FR" sz="1800" b="1" spc="20" dirty="0">
                <a:latin typeface="Arial" pitchFamily="34" charset="0"/>
                <a:cs typeface="Arial" pitchFamily="34" charset="0"/>
              </a:rPr>
              <a:t>: </a:t>
            </a:r>
            <a:r>
              <a:rPr lang="fr-FR" sz="1800" b="1" spc="20" dirty="0" err="1">
                <a:latin typeface="Arial" pitchFamily="34" charset="0"/>
                <a:cs typeface="Arial" pitchFamily="34" charset="0"/>
              </a:rPr>
              <a:t>farnesyl</a:t>
            </a:r>
            <a:r>
              <a:rPr lang="fr-FR" sz="1800" b="1" spc="20" dirty="0">
                <a:latin typeface="Arial" pitchFamily="34" charset="0"/>
                <a:cs typeface="Arial" pitchFamily="34" charset="0"/>
              </a:rPr>
              <a:t> ou </a:t>
            </a:r>
            <a:r>
              <a:rPr lang="fr-FR" sz="1800" b="1" spc="20" dirty="0" err="1">
                <a:latin typeface="Arial" pitchFamily="34" charset="0"/>
                <a:cs typeface="Arial" pitchFamily="34" charset="0"/>
              </a:rPr>
              <a:t>géranylgéranyl</a:t>
            </a:r>
            <a:r>
              <a:rPr lang="fr-FR" sz="1800" b="1" spc="20" dirty="0">
                <a:latin typeface="Arial" pitchFamily="34" charset="0"/>
                <a:cs typeface="Arial" pitchFamily="34" charset="0"/>
              </a:rPr>
              <a:t>, liaison </a:t>
            </a:r>
            <a:r>
              <a:rPr lang="fr-FR" sz="1800" b="1" spc="20" dirty="0" err="1" smtClean="0">
                <a:latin typeface="Arial" pitchFamily="34" charset="0"/>
                <a:cs typeface="Arial" pitchFamily="34" charset="0"/>
              </a:rPr>
              <a:t>thioester</a:t>
            </a:r>
            <a:r>
              <a:rPr lang="fr-FR" sz="1800" b="1" spc="20" dirty="0" smtClean="0">
                <a:latin typeface="Arial" pitchFamily="34" charset="0"/>
                <a:cs typeface="Arial" pitchFamily="34" charset="0"/>
              </a:rPr>
              <a:t>, </a:t>
            </a:r>
            <a:r>
              <a:rPr lang="fr-FR" sz="1800" b="1" spc="-40" dirty="0" smtClean="0">
                <a:latin typeface="Arial" pitchFamily="34" charset="0"/>
                <a:cs typeface="Arial" pitchFamily="34" charset="0"/>
              </a:rPr>
              <a:t>sur </a:t>
            </a:r>
            <a:r>
              <a:rPr lang="fr-FR" sz="1800" b="1" spc="-40" dirty="0">
                <a:latin typeface="Arial" pitchFamily="34" charset="0"/>
                <a:cs typeface="Arial" pitchFamily="34" charset="0"/>
              </a:rPr>
              <a:t>une cystéine en position </a:t>
            </a:r>
            <a:r>
              <a:rPr lang="fr-FR" sz="1800" b="1" spc="-40" dirty="0" smtClean="0">
                <a:latin typeface="Arial" pitchFamily="34" charset="0"/>
                <a:cs typeface="Arial" pitchFamily="34" charset="0"/>
              </a:rPr>
              <a:t>C-terminale ou </a:t>
            </a:r>
            <a:r>
              <a:rPr lang="fr-FR" sz="1800" b="1" spc="-40" dirty="0">
                <a:latin typeface="Arial" pitchFamily="34" charset="0"/>
                <a:cs typeface="Arial" pitchFamily="34" charset="0"/>
              </a:rPr>
              <a:t>proche de </a:t>
            </a:r>
            <a:r>
              <a:rPr lang="fr-FR" sz="1800" b="1" spc="-40" dirty="0" smtClean="0">
                <a:latin typeface="Arial" pitchFamily="34" charset="0"/>
                <a:cs typeface="Arial" pitchFamily="34" charset="0"/>
              </a:rPr>
              <a:t>cette </a:t>
            </a:r>
            <a:r>
              <a:rPr lang="fr-FR" sz="1800" b="1" spc="0" dirty="0" smtClean="0">
                <a:latin typeface="Arial" pitchFamily="34" charset="0"/>
                <a:cs typeface="Arial" pitchFamily="34" charset="0"/>
              </a:rPr>
              <a:t>extrémité</a:t>
            </a:r>
          </a:p>
          <a:p>
            <a:pPr marL="1371600" marR="0" indent="0" algn="l">
              <a:lnSpc>
                <a:spcPts val="2400"/>
              </a:lnSpc>
              <a:spcBef>
                <a:spcPts val="540"/>
              </a:spcBef>
              <a:spcAft>
                <a:spcPts val="0"/>
              </a:spcAft>
              <a:buNone/>
            </a:pPr>
            <a:endParaRPr lang="fr-FR" sz="1800" b="1" dirty="0">
              <a:latin typeface="Arial" pitchFamily="34" charset="0"/>
              <a:cs typeface="Arial" pitchFamily="34" charset="0"/>
            </a:endParaRPr>
          </a:p>
          <a:p>
            <a:pPr marL="1371600" marR="0" indent="0" algn="l">
              <a:lnSpc>
                <a:spcPts val="2400"/>
              </a:lnSpc>
              <a:spcBef>
                <a:spcPts val="540"/>
              </a:spcBef>
              <a:spcAft>
                <a:spcPts val="0"/>
              </a:spcAft>
            </a:pPr>
            <a:r>
              <a:rPr lang="fr-FR" sz="1800" b="1" spc="5" dirty="0" err="1" smtClean="0">
                <a:latin typeface="Arial" pitchFamily="34" charset="0"/>
                <a:cs typeface="Arial" pitchFamily="34" charset="0"/>
              </a:rPr>
              <a:t>myristoylation</a:t>
            </a:r>
            <a:r>
              <a:rPr lang="fr-FR" sz="1800" b="1" spc="5" dirty="0">
                <a:latin typeface="Arial" pitchFamily="34" charset="0"/>
                <a:cs typeface="Arial" pitchFamily="34" charset="0"/>
              </a:rPr>
              <a:t>: acide </a:t>
            </a:r>
            <a:r>
              <a:rPr lang="fr-FR" sz="1800" b="1" spc="5" dirty="0" err="1" smtClean="0">
                <a:latin typeface="Arial" pitchFamily="34" charset="0"/>
                <a:cs typeface="Arial" pitchFamily="34" charset="0"/>
              </a:rPr>
              <a:t>myristique</a:t>
            </a:r>
            <a:r>
              <a:rPr lang="fr-FR" sz="1800" b="1" spc="5" dirty="0" smtClean="0">
                <a:latin typeface="Arial" pitchFamily="34" charset="0"/>
                <a:cs typeface="Arial" pitchFamily="34" charset="0"/>
              </a:rPr>
              <a:t> N‐</a:t>
            </a:r>
            <a:r>
              <a:rPr lang="fr-FR" sz="1800" b="1" spc="5" dirty="0" err="1" smtClean="0">
                <a:latin typeface="Arial" pitchFamily="34" charset="0"/>
                <a:cs typeface="Arial" pitchFamily="34" charset="0"/>
              </a:rPr>
              <a:t>myristoylation</a:t>
            </a:r>
            <a:r>
              <a:rPr lang="fr-FR" sz="1800" b="1" spc="5" dirty="0">
                <a:latin typeface="Arial" pitchFamily="34" charset="0"/>
                <a:cs typeface="Arial" pitchFamily="34" charset="0"/>
              </a:rPr>
              <a:t>: acide </a:t>
            </a:r>
            <a:r>
              <a:rPr lang="fr-FR" sz="1800" b="1" spc="5" dirty="0" err="1">
                <a:latin typeface="Arial" pitchFamily="34" charset="0"/>
                <a:cs typeface="Arial" pitchFamily="34" charset="0"/>
              </a:rPr>
              <a:t>myristique</a:t>
            </a:r>
            <a:r>
              <a:rPr lang="fr-FR" sz="1800" b="1" spc="5" dirty="0">
                <a:latin typeface="Arial" pitchFamily="34" charset="0"/>
                <a:cs typeface="Arial" pitchFamily="34" charset="0"/>
              </a:rPr>
              <a:t> sur une glycine </a:t>
            </a:r>
            <a:r>
              <a:rPr lang="fr-FR" sz="1800" b="1" spc="5" dirty="0" smtClean="0">
                <a:latin typeface="Arial" pitchFamily="34" charset="0"/>
                <a:cs typeface="Arial" pitchFamily="34" charset="0"/>
              </a:rPr>
              <a:t>en </a:t>
            </a:r>
            <a:r>
              <a:rPr lang="fr-FR" sz="1800" b="1" spc="-30" dirty="0" smtClean="0">
                <a:latin typeface="Arial" pitchFamily="34" charset="0"/>
                <a:cs typeface="Arial" pitchFamily="34" charset="0"/>
              </a:rPr>
              <a:t>position N-terminale.</a:t>
            </a:r>
          </a:p>
          <a:p>
            <a:pPr marL="1371600" marR="0" indent="0" algn="l">
              <a:lnSpc>
                <a:spcPts val="2400"/>
              </a:lnSpc>
              <a:spcBef>
                <a:spcPts val="540"/>
              </a:spcBef>
              <a:spcAft>
                <a:spcPts val="0"/>
              </a:spcAft>
              <a:buNone/>
            </a:pPr>
            <a:endParaRPr lang="fr-FR" sz="1800" b="1" spc="-30" dirty="0" smtClean="0">
              <a:latin typeface="Arial" pitchFamily="34" charset="0"/>
              <a:cs typeface="Arial" pitchFamily="34" charset="0"/>
            </a:endParaRPr>
          </a:p>
          <a:p>
            <a:pPr marL="1371600" marR="0" indent="0" algn="l">
              <a:lnSpc>
                <a:spcPts val="2400"/>
              </a:lnSpc>
              <a:spcBef>
                <a:spcPts val="540"/>
              </a:spcBef>
              <a:spcAft>
                <a:spcPts val="0"/>
              </a:spcAft>
            </a:pPr>
            <a:r>
              <a:rPr lang="fr-FR" sz="1800" b="1" spc="20" dirty="0" err="1" smtClean="0">
                <a:latin typeface="Arial" pitchFamily="34" charset="0"/>
                <a:cs typeface="Arial" pitchFamily="34" charset="0"/>
              </a:rPr>
              <a:t>Palmitoylation</a:t>
            </a:r>
            <a:r>
              <a:rPr lang="fr-FR" sz="1800" b="1" spc="20" dirty="0">
                <a:latin typeface="Arial" pitchFamily="34" charset="0"/>
                <a:cs typeface="Arial" pitchFamily="34" charset="0"/>
              </a:rPr>
              <a:t>: acide palmitique via une liaison </a:t>
            </a:r>
            <a:r>
              <a:rPr lang="fr-FR" sz="1800" b="1" spc="20" dirty="0" err="1" smtClean="0">
                <a:latin typeface="Arial" pitchFamily="34" charset="0"/>
                <a:cs typeface="Arial" pitchFamily="34" charset="0"/>
              </a:rPr>
              <a:t>thioester</a:t>
            </a:r>
            <a:r>
              <a:rPr lang="fr-FR" sz="1800" b="1" spc="20" dirty="0" smtClean="0">
                <a:latin typeface="Arial" pitchFamily="34" charset="0"/>
                <a:cs typeface="Arial" pitchFamily="34" charset="0"/>
              </a:rPr>
              <a:t>, </a:t>
            </a:r>
            <a:r>
              <a:rPr lang="fr-FR" sz="1800" b="1" spc="-40" dirty="0" smtClean="0">
                <a:latin typeface="Arial" pitchFamily="34" charset="0"/>
                <a:cs typeface="Arial" pitchFamily="34" charset="0"/>
              </a:rPr>
              <a:t>sur </a:t>
            </a:r>
            <a:r>
              <a:rPr lang="fr-FR" sz="1800" b="1" spc="-40" dirty="0">
                <a:latin typeface="Arial" pitchFamily="34" charset="0"/>
                <a:cs typeface="Arial" pitchFamily="34" charset="0"/>
              </a:rPr>
              <a:t>une cystéine interne ou C</a:t>
            </a:r>
            <a:r>
              <a:rPr lang="fr-FR" sz="1800" b="1" spc="-40" dirty="0" smtClean="0">
                <a:latin typeface="Arial" pitchFamily="34" charset="0"/>
                <a:cs typeface="Arial" pitchFamily="34" charset="0"/>
              </a:rPr>
              <a:t>-terminal.</a:t>
            </a:r>
          </a:p>
          <a:p>
            <a:pPr marL="1371600" marR="0" indent="0" algn="l">
              <a:lnSpc>
                <a:spcPts val="2400"/>
              </a:lnSpc>
              <a:spcBef>
                <a:spcPts val="540"/>
              </a:spcBef>
              <a:spcAft>
                <a:spcPts val="0"/>
              </a:spcAft>
              <a:buNone/>
            </a:pPr>
            <a:endParaRPr lang="fr-FR" sz="1800" b="1" spc="-40" dirty="0" smtClean="0">
              <a:latin typeface="Arial" pitchFamily="34" charset="0"/>
              <a:cs typeface="Arial" pitchFamily="34" charset="0"/>
            </a:endParaRPr>
          </a:p>
          <a:p>
            <a:pPr marL="1371600" marR="0" indent="0" algn="l">
              <a:lnSpc>
                <a:spcPts val="2400"/>
              </a:lnSpc>
              <a:spcBef>
                <a:spcPts val="540"/>
              </a:spcBef>
              <a:spcAft>
                <a:spcPts val="0"/>
              </a:spcAft>
            </a:pPr>
            <a:r>
              <a:rPr lang="fr-FR" sz="1800" b="1" spc="0" dirty="0" err="1" smtClean="0">
                <a:latin typeface="Arial" pitchFamily="34" charset="0"/>
                <a:cs typeface="Arial" pitchFamily="34" charset="0"/>
              </a:rPr>
              <a:t>Glypiation</a:t>
            </a:r>
            <a:r>
              <a:rPr lang="fr-FR" sz="1800" b="1" spc="0" dirty="0">
                <a:latin typeface="Arial" pitchFamily="34" charset="0"/>
                <a:cs typeface="Arial" pitchFamily="34" charset="0"/>
              </a:rPr>
              <a:t>: </a:t>
            </a:r>
            <a:r>
              <a:rPr lang="fr-FR" sz="1800" b="1" spc="0" dirty="0" err="1" smtClean="0">
                <a:latin typeface="Arial" pitchFamily="34" charset="0"/>
                <a:cs typeface="Arial" pitchFamily="34" charset="0"/>
              </a:rPr>
              <a:t>glycosyl</a:t>
            </a:r>
            <a:r>
              <a:rPr lang="fr-FR" sz="1800" b="1" spc="0" dirty="0" smtClean="0">
                <a:latin typeface="Arial" pitchFamily="34" charset="0"/>
                <a:cs typeface="Arial" pitchFamily="34" charset="0"/>
              </a:rPr>
              <a:t>-</a:t>
            </a:r>
            <a:r>
              <a:rPr lang="fr-FR" sz="1800" b="1" spc="0" dirty="0" err="1" smtClean="0">
                <a:latin typeface="Arial" pitchFamily="34" charset="0"/>
                <a:cs typeface="Arial" pitchFamily="34" charset="0"/>
              </a:rPr>
              <a:t>phosphatidylinositol</a:t>
            </a:r>
            <a:r>
              <a:rPr lang="fr-FR" sz="1800" b="1" spc="0" dirty="0" smtClean="0">
                <a:latin typeface="Arial" pitchFamily="34" charset="0"/>
                <a:cs typeface="Arial" pitchFamily="34" charset="0"/>
              </a:rPr>
              <a:t> ou </a:t>
            </a:r>
            <a:r>
              <a:rPr lang="fr-FR" sz="1800" b="1" spc="0" dirty="0">
                <a:latin typeface="Arial" pitchFamily="34" charset="0"/>
                <a:cs typeface="Arial" pitchFamily="34" charset="0"/>
              </a:rPr>
              <a:t>GPI ou ancre </a:t>
            </a:r>
            <a:r>
              <a:rPr lang="fr-FR" sz="1800" b="1" spc="0" dirty="0" smtClean="0">
                <a:latin typeface="Arial" pitchFamily="34" charset="0"/>
                <a:cs typeface="Arial" pitchFamily="34" charset="0"/>
              </a:rPr>
              <a:t>GPI </a:t>
            </a:r>
            <a:r>
              <a:rPr lang="fr-FR" sz="1800" b="1" spc="-50" dirty="0" smtClean="0">
                <a:latin typeface="Arial" pitchFamily="34" charset="0"/>
                <a:cs typeface="Arial" pitchFamily="34" charset="0"/>
              </a:rPr>
              <a:t>sur </a:t>
            </a:r>
            <a:r>
              <a:rPr lang="fr-FR" sz="1800" b="1" spc="-50" dirty="0">
                <a:latin typeface="Arial" pitchFamily="34" charset="0"/>
                <a:cs typeface="Arial" pitchFamily="34" charset="0"/>
              </a:rPr>
              <a:t>un acide aminé en position </a:t>
            </a:r>
            <a:r>
              <a:rPr lang="fr-FR" sz="1800" b="1" spc="-50" dirty="0" smtClean="0">
                <a:latin typeface="Arial" pitchFamily="34" charset="0"/>
                <a:cs typeface="Arial" pitchFamily="34" charset="0"/>
              </a:rPr>
              <a:t>C-terminale.</a:t>
            </a:r>
            <a:endParaRPr lang="fr-FR" sz="1800" b="1" spc="-5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755576" y="890588"/>
            <a:ext cx="7560840" cy="52747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Espace réservé du texte 283"/>
          <p:cNvSpPr>
            <a:spLocks noGrp="1"/>
          </p:cNvSpPr>
          <p:nvPr>
            <p:ph type="body" idx="10"/>
          </p:nvPr>
        </p:nvSpPr>
        <p:spPr>
          <a:xfrm>
            <a:off x="1335088" y="533400"/>
            <a:ext cx="7848600" cy="1731963"/>
          </a:xfrm>
          <a:ln w="0">
            <a:noFill/>
          </a:ln>
        </p:spPr>
        <p:txBody>
          <a:bodyPr tIns="0"/>
          <a:lstStyle/>
          <a:p>
            <a:pPr marL="0" indent="411480">
              <a:lnSpc>
                <a:spcPct val="95999"/>
              </a:lnSpc>
              <a:spcAft>
                <a:spcPts val="0"/>
              </a:spcAft>
              <a:buFont typeface="Arial" charset="0"/>
              <a:buNone/>
              <a:defRPr/>
            </a:pPr>
            <a:r>
              <a:rPr lang="fr-FR" spc="-30" dirty="0">
                <a:solidFill>
                  <a:srgbClr val="000000"/>
                </a:solidFill>
              </a:rPr>
              <a:t>Protéines:</a:t>
            </a:r>
            <a:r>
              <a:rPr lang="fr-FR" sz="2400" spc="-30" dirty="0">
                <a:solidFill>
                  <a:srgbClr val="FF0000"/>
                </a:solidFill>
              </a:rPr>
              <a:t> Extrinsèque, </a:t>
            </a:r>
            <a:r>
              <a:rPr lang="fr-FR" sz="2400" spc="-30" dirty="0" smtClean="0">
                <a:solidFill>
                  <a:srgbClr val="FF0000"/>
                </a:solidFill>
              </a:rPr>
              <a:t>périphérique</a:t>
            </a:r>
          </a:p>
        </p:txBody>
      </p:sp>
      <p:pic>
        <p:nvPicPr>
          <p:cNvPr id="58371" name="Image.jpg"/>
          <p:cNvPicPr>
            <a:picLocks noChangeAspect="1" noChangeArrowheads="1"/>
          </p:cNvPicPr>
          <p:nvPr/>
        </p:nvPicPr>
        <p:blipFill>
          <a:blip r:embed="rId2" cstate="print"/>
          <a:srcRect/>
          <a:stretch>
            <a:fillRect/>
          </a:stretch>
        </p:blipFill>
        <p:spPr bwMode="auto">
          <a:xfrm>
            <a:off x="479425" y="1700213"/>
            <a:ext cx="4643438" cy="3756025"/>
          </a:xfrm>
          <a:prstGeom prst="rect">
            <a:avLst/>
          </a:prstGeom>
          <a:noFill/>
          <a:ln w="9525">
            <a:noFill/>
            <a:miter lim="800000"/>
            <a:headEnd/>
            <a:tailEnd/>
          </a:ln>
        </p:spPr>
      </p:pic>
      <p:sp>
        <p:nvSpPr>
          <p:cNvPr id="58372" name="ZoneTexte 4"/>
          <p:cNvSpPr txBox="1">
            <a:spLocks noChangeArrowheads="1"/>
          </p:cNvSpPr>
          <p:nvPr/>
        </p:nvSpPr>
        <p:spPr bwMode="auto">
          <a:xfrm>
            <a:off x="5443538" y="3411538"/>
            <a:ext cx="3468687" cy="1200150"/>
          </a:xfrm>
          <a:prstGeom prst="rect">
            <a:avLst/>
          </a:prstGeom>
          <a:noFill/>
          <a:ln w="9525">
            <a:noFill/>
            <a:miter lim="800000"/>
            <a:headEnd/>
            <a:tailEnd/>
          </a:ln>
        </p:spPr>
        <p:txBody>
          <a:bodyPr>
            <a:spAutoFit/>
          </a:bodyPr>
          <a:lstStyle/>
          <a:p>
            <a:pPr algn="just"/>
            <a:r>
              <a:rPr lang="fr-FR" sz="1800"/>
              <a:t>Elles se lient soit aux groupements de tête hydrophile, soit aux portions hydrophiles des protéines  </a:t>
            </a:r>
          </a:p>
        </p:txBody>
      </p:sp>
      <p:sp>
        <p:nvSpPr>
          <p:cNvPr id="6" name="Forme libre 5"/>
          <p:cNvSpPr/>
          <p:nvPr/>
        </p:nvSpPr>
        <p:spPr>
          <a:xfrm>
            <a:off x="2941638" y="4441825"/>
            <a:ext cx="488950" cy="541338"/>
          </a:xfrm>
          <a:custGeom>
            <a:avLst/>
            <a:gdLst>
              <a:gd name="connsiteX0" fmla="*/ 106219 w 488684"/>
              <a:gd name="connsiteY0" fmla="*/ 333829 h 541604"/>
              <a:gd name="connsiteX1" fmla="*/ 48162 w 488684"/>
              <a:gd name="connsiteY1" fmla="*/ 232229 h 541604"/>
              <a:gd name="connsiteX2" fmla="*/ 19133 w 488684"/>
              <a:gd name="connsiteY2" fmla="*/ 130629 h 541604"/>
              <a:gd name="connsiteX3" fmla="*/ 77190 w 488684"/>
              <a:gd name="connsiteY3" fmla="*/ 0 h 541604"/>
              <a:gd name="connsiteX4" fmla="*/ 164276 w 488684"/>
              <a:gd name="connsiteY4" fmla="*/ 14515 h 541604"/>
              <a:gd name="connsiteX5" fmla="*/ 251362 w 488684"/>
              <a:gd name="connsiteY5" fmla="*/ 43543 h 541604"/>
              <a:gd name="connsiteX6" fmla="*/ 265876 w 488684"/>
              <a:gd name="connsiteY6" fmla="*/ 130629 h 541604"/>
              <a:gd name="connsiteX7" fmla="*/ 222333 w 488684"/>
              <a:gd name="connsiteY7" fmla="*/ 145143 h 541604"/>
              <a:gd name="connsiteX8" fmla="*/ 236848 w 488684"/>
              <a:gd name="connsiteY8" fmla="*/ 275772 h 541604"/>
              <a:gd name="connsiteX9" fmla="*/ 280390 w 488684"/>
              <a:gd name="connsiteY9" fmla="*/ 290286 h 541604"/>
              <a:gd name="connsiteX10" fmla="*/ 309419 w 488684"/>
              <a:gd name="connsiteY10" fmla="*/ 246743 h 541604"/>
              <a:gd name="connsiteX11" fmla="*/ 323933 w 488684"/>
              <a:gd name="connsiteY11" fmla="*/ 188686 h 541604"/>
              <a:gd name="connsiteX12" fmla="*/ 440048 w 488684"/>
              <a:gd name="connsiteY12" fmla="*/ 174172 h 541604"/>
              <a:gd name="connsiteX13" fmla="*/ 454562 w 488684"/>
              <a:gd name="connsiteY13" fmla="*/ 319315 h 541604"/>
              <a:gd name="connsiteX14" fmla="*/ 367476 w 488684"/>
              <a:gd name="connsiteY14" fmla="*/ 362858 h 541604"/>
              <a:gd name="connsiteX15" fmla="*/ 280390 w 488684"/>
              <a:gd name="connsiteY15" fmla="*/ 406400 h 541604"/>
              <a:gd name="connsiteX16" fmla="*/ 164276 w 488684"/>
              <a:gd name="connsiteY16" fmla="*/ 420915 h 541604"/>
              <a:gd name="connsiteX17" fmla="*/ 91705 w 488684"/>
              <a:gd name="connsiteY17" fmla="*/ 435429 h 541604"/>
              <a:gd name="connsiteX18" fmla="*/ 164276 w 488684"/>
              <a:gd name="connsiteY18" fmla="*/ 522515 h 541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684" h="541604">
                <a:moveTo>
                  <a:pt x="106219" y="333829"/>
                </a:moveTo>
                <a:cubicBezTo>
                  <a:pt x="77065" y="290098"/>
                  <a:pt x="70260" y="283792"/>
                  <a:pt x="48162" y="232229"/>
                </a:cubicBezTo>
                <a:cubicBezTo>
                  <a:pt x="35670" y="203081"/>
                  <a:pt x="26497" y="160085"/>
                  <a:pt x="19133" y="130629"/>
                </a:cubicBezTo>
                <a:cubicBezTo>
                  <a:pt x="26988" y="67790"/>
                  <a:pt x="0" y="0"/>
                  <a:pt x="77190" y="0"/>
                </a:cubicBezTo>
                <a:cubicBezTo>
                  <a:pt x="106619" y="0"/>
                  <a:pt x="135726" y="7377"/>
                  <a:pt x="164276" y="14515"/>
                </a:cubicBezTo>
                <a:cubicBezTo>
                  <a:pt x="193961" y="21936"/>
                  <a:pt x="251362" y="43543"/>
                  <a:pt x="251362" y="43543"/>
                </a:cubicBezTo>
                <a:cubicBezTo>
                  <a:pt x="270606" y="72409"/>
                  <a:pt x="301931" y="94574"/>
                  <a:pt x="265876" y="130629"/>
                </a:cubicBezTo>
                <a:cubicBezTo>
                  <a:pt x="255058" y="141447"/>
                  <a:pt x="236847" y="140305"/>
                  <a:pt x="222333" y="145143"/>
                </a:cubicBezTo>
                <a:cubicBezTo>
                  <a:pt x="227171" y="188686"/>
                  <a:pt x="220577" y="235095"/>
                  <a:pt x="236848" y="275772"/>
                </a:cubicBezTo>
                <a:cubicBezTo>
                  <a:pt x="242530" y="289977"/>
                  <a:pt x="266185" y="295968"/>
                  <a:pt x="280390" y="290286"/>
                </a:cubicBezTo>
                <a:cubicBezTo>
                  <a:pt x="296586" y="283807"/>
                  <a:pt x="299743" y="261257"/>
                  <a:pt x="309419" y="246743"/>
                </a:cubicBezTo>
                <a:cubicBezTo>
                  <a:pt x="314257" y="227391"/>
                  <a:pt x="312868" y="205284"/>
                  <a:pt x="323933" y="188686"/>
                </a:cubicBezTo>
                <a:cubicBezTo>
                  <a:pt x="356595" y="139693"/>
                  <a:pt x="394788" y="165120"/>
                  <a:pt x="440048" y="174172"/>
                </a:cubicBezTo>
                <a:cubicBezTo>
                  <a:pt x="456691" y="224101"/>
                  <a:pt x="488684" y="268133"/>
                  <a:pt x="454562" y="319315"/>
                </a:cubicBezTo>
                <a:cubicBezTo>
                  <a:pt x="433766" y="350509"/>
                  <a:pt x="396452" y="348370"/>
                  <a:pt x="367476" y="362858"/>
                </a:cubicBezTo>
                <a:cubicBezTo>
                  <a:pt x="314353" y="389419"/>
                  <a:pt x="337719" y="395976"/>
                  <a:pt x="280390" y="406400"/>
                </a:cubicBezTo>
                <a:cubicBezTo>
                  <a:pt x="242013" y="413378"/>
                  <a:pt x="202828" y="414984"/>
                  <a:pt x="164276" y="420915"/>
                </a:cubicBezTo>
                <a:cubicBezTo>
                  <a:pt x="139893" y="424666"/>
                  <a:pt x="115895" y="430591"/>
                  <a:pt x="91705" y="435429"/>
                </a:cubicBezTo>
                <a:cubicBezTo>
                  <a:pt x="109400" y="541604"/>
                  <a:pt x="76790" y="522515"/>
                  <a:pt x="164276" y="522515"/>
                </a:cubicBezTo>
              </a:path>
            </a:pathLst>
          </a:custGeom>
          <a:ln>
            <a:solidFill>
              <a:srgbClr val="0000FF"/>
            </a:solidFill>
          </a:ln>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fr-F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467544" y="1628800"/>
            <a:ext cx="8391848" cy="1957074"/>
          </a:xfrm>
          <a:prstGeom prst="rect">
            <a:avLst/>
          </a:prstGeom>
          <a:noFill/>
          <a:ln w="9525">
            <a:noFill/>
            <a:miter lim="800000"/>
            <a:headEnd/>
            <a:tailEnd/>
          </a:ln>
        </p:spPr>
        <p:txBody>
          <a:bodyPr wrap="square">
            <a:spAutoFit/>
          </a:bodyPr>
          <a:lstStyle/>
          <a:p>
            <a:pPr marL="228600" indent="411163">
              <a:lnSpc>
                <a:spcPct val="96000"/>
              </a:lnSpc>
              <a:buFont typeface="Symbol" pitchFamily="124" charset="2"/>
              <a:buChar char="·"/>
            </a:pPr>
            <a:r>
              <a:rPr lang="fr-FR" sz="1800" b="1" i="1" dirty="0">
                <a:solidFill>
                  <a:srgbClr val="000000"/>
                </a:solidFill>
              </a:rPr>
              <a:t>du grec </a:t>
            </a:r>
            <a:r>
              <a:rPr lang="fr-FR" sz="1800" b="1" i="1" dirty="0" err="1">
                <a:solidFill>
                  <a:srgbClr val="000000"/>
                </a:solidFill>
              </a:rPr>
              <a:t>lipos</a:t>
            </a:r>
            <a:r>
              <a:rPr lang="fr-FR" sz="1800" b="1" i="1" dirty="0">
                <a:solidFill>
                  <a:srgbClr val="000000"/>
                </a:solidFill>
              </a:rPr>
              <a:t> (graisse) </a:t>
            </a:r>
            <a:r>
              <a:rPr lang="fr-FR" sz="1800" b="1" dirty="0">
                <a:solidFill>
                  <a:srgbClr val="000000"/>
                </a:solidFill>
              </a:rPr>
              <a:t>sont caractérisés par une </a:t>
            </a:r>
            <a:r>
              <a:rPr lang="fr-FR" sz="1800" b="1" dirty="0" smtClean="0">
                <a:solidFill>
                  <a:srgbClr val="000000"/>
                </a:solidFill>
              </a:rPr>
              <a:t>propriété physique</a:t>
            </a:r>
            <a:r>
              <a:rPr lang="fr-FR" sz="1800" b="1" dirty="0">
                <a:solidFill>
                  <a:srgbClr val="000000"/>
                </a:solidFill>
              </a:rPr>
              <a:t>,</a:t>
            </a:r>
            <a:r>
              <a:rPr lang="fr-FR" sz="1800" b="1" dirty="0">
                <a:solidFill>
                  <a:srgbClr val="C00000"/>
                </a:solidFill>
              </a:rPr>
              <a:t> insolubilité en milieux aqueux</a:t>
            </a:r>
          </a:p>
          <a:p>
            <a:pPr marL="228600" indent="411163" algn="r">
              <a:lnSpc>
                <a:spcPct val="96000"/>
              </a:lnSpc>
              <a:spcBef>
                <a:spcPts val="725"/>
              </a:spcBef>
            </a:pPr>
            <a:r>
              <a:rPr lang="fr-FR" sz="1800" b="1" dirty="0">
                <a:solidFill>
                  <a:srgbClr val="000000"/>
                </a:solidFill>
              </a:rPr>
              <a:t>— Mais solubles dans les solvants organiques non polaires</a:t>
            </a:r>
            <a:r>
              <a:rPr lang="fr-FR" sz="1800" b="1" i="1" dirty="0">
                <a:solidFill>
                  <a:srgbClr val="5F5F5F"/>
                </a:solidFill>
              </a:rPr>
              <a:t>       (méthanol,</a:t>
            </a:r>
          </a:p>
          <a:p>
            <a:pPr marL="228600" indent="411163">
              <a:lnSpc>
                <a:spcPct val="96000"/>
              </a:lnSpc>
            </a:pPr>
            <a:r>
              <a:rPr lang="fr-FR" sz="1800" b="1" i="1" dirty="0">
                <a:solidFill>
                  <a:srgbClr val="5F5F5F"/>
                </a:solidFill>
              </a:rPr>
              <a:t>chloroforme, cyclohexane, éther éthylique, acétone...)</a:t>
            </a:r>
          </a:p>
          <a:p>
            <a:pPr marL="228600" indent="411163">
              <a:lnSpc>
                <a:spcPct val="96000"/>
              </a:lnSpc>
              <a:spcBef>
                <a:spcPts val="725"/>
              </a:spcBef>
              <a:buFont typeface="Symbol" pitchFamily="124" charset="2"/>
              <a:buChar char="·"/>
            </a:pPr>
            <a:r>
              <a:rPr lang="fr-FR" sz="1800" b="1" dirty="0">
                <a:solidFill>
                  <a:srgbClr val="000000"/>
                </a:solidFill>
              </a:rPr>
              <a:t>Ce sont des molécules organiques (</a:t>
            </a:r>
            <a:r>
              <a:rPr lang="fr-FR" sz="1800" b="1" dirty="0" smtClean="0">
                <a:solidFill>
                  <a:srgbClr val="000000"/>
                </a:solidFill>
              </a:rPr>
              <a:t>C,H</a:t>
            </a:r>
            <a:r>
              <a:rPr lang="fr-FR" b="1" baseline="-25000" dirty="0">
                <a:solidFill>
                  <a:srgbClr val="000000"/>
                </a:solidFill>
              </a:rPr>
              <a:t>,</a:t>
            </a:r>
            <a:r>
              <a:rPr lang="fr-FR" sz="1800" b="1" dirty="0" smtClean="0">
                <a:solidFill>
                  <a:srgbClr val="000000"/>
                </a:solidFill>
              </a:rPr>
              <a:t>O</a:t>
            </a:r>
            <a:r>
              <a:rPr lang="fr-FR" sz="1800" b="1" dirty="0">
                <a:solidFill>
                  <a:srgbClr val="000000"/>
                </a:solidFill>
              </a:rPr>
              <a:t>)</a:t>
            </a:r>
          </a:p>
          <a:p>
            <a:pPr marL="228600" indent="411163">
              <a:lnSpc>
                <a:spcPct val="96000"/>
              </a:lnSpc>
              <a:spcBef>
                <a:spcPts val="725"/>
              </a:spcBef>
              <a:buFont typeface="Symbol" pitchFamily="124" charset="2"/>
              <a:buChar char="·"/>
            </a:pPr>
            <a:r>
              <a:rPr lang="fr-FR" sz="1800" b="1" dirty="0">
                <a:solidFill>
                  <a:srgbClr val="000000"/>
                </a:solidFill>
              </a:rPr>
              <a:t>Ils sont caractérisés par la</a:t>
            </a:r>
            <a:r>
              <a:rPr lang="fr-FR" sz="1800" b="1" dirty="0">
                <a:solidFill>
                  <a:srgbClr val="C00000"/>
                </a:solidFill>
              </a:rPr>
              <a:t> présence dans la molécule </a:t>
            </a:r>
            <a:r>
              <a:rPr lang="fr-FR" sz="1800" b="1" dirty="0" smtClean="0">
                <a:solidFill>
                  <a:srgbClr val="C00000"/>
                </a:solidFill>
              </a:rPr>
              <a:t>d'au moins </a:t>
            </a:r>
            <a:r>
              <a:rPr lang="fr-FR" sz="1800" b="1" dirty="0">
                <a:solidFill>
                  <a:srgbClr val="C00000"/>
                </a:solidFill>
              </a:rPr>
              <a:t>un acide </a:t>
            </a:r>
            <a:r>
              <a:rPr lang="fr-FR" sz="1800" b="1" dirty="0" smtClean="0">
                <a:solidFill>
                  <a:srgbClr val="C00000"/>
                </a:solidFill>
              </a:rPr>
              <a:t>gras</a:t>
            </a:r>
            <a:endParaRPr lang="fr-FR" sz="1800" b="1" dirty="0">
              <a:solidFill>
                <a:srgbClr val="C00000"/>
              </a:solidFill>
            </a:endParaRPr>
          </a:p>
        </p:txBody>
      </p:sp>
      <p:sp>
        <p:nvSpPr>
          <p:cNvPr id="5" name="Rectangle 4"/>
          <p:cNvSpPr/>
          <p:nvPr/>
        </p:nvSpPr>
        <p:spPr>
          <a:xfrm>
            <a:off x="1714500" y="560735"/>
            <a:ext cx="4786313" cy="708025"/>
          </a:xfrm>
          <a:prstGeom prst="rect">
            <a:avLst/>
          </a:prstGeom>
        </p:spPr>
        <p:txBody>
          <a:bodyPr>
            <a:spAutoFit/>
          </a:bodyPr>
          <a:lstStyle/>
          <a:p>
            <a:pPr fontAlgn="auto">
              <a:spcBef>
                <a:spcPts val="0"/>
              </a:spcBef>
              <a:spcAft>
                <a:spcPts val="0"/>
              </a:spcAft>
              <a:defRPr/>
            </a:pPr>
            <a:r>
              <a:rPr lang="fr-FR" sz="4000" b="1" spc="70" dirty="0">
                <a:latin typeface="Arial Narrow" panose="22635452340000000000" pitchFamily="2"/>
              </a:rPr>
              <a:t>LES LIPIDES</a:t>
            </a:r>
            <a:endParaRPr lang="fr-FR" sz="4000" dirty="0">
              <a:latin typeface="+mn-lt"/>
            </a:endParaRPr>
          </a:p>
        </p:txBody>
      </p:sp>
      <p:sp>
        <p:nvSpPr>
          <p:cNvPr id="6" name="Rectangle 5"/>
          <p:cNvSpPr/>
          <p:nvPr/>
        </p:nvSpPr>
        <p:spPr>
          <a:xfrm>
            <a:off x="827584" y="4149080"/>
            <a:ext cx="7500938" cy="2576512"/>
          </a:xfrm>
          <a:prstGeom prst="rect">
            <a:avLst/>
          </a:prstGeom>
        </p:spPr>
        <p:txBody>
          <a:bodyPr>
            <a:spAutoFit/>
          </a:bodyPr>
          <a:lstStyle/>
          <a:p>
            <a:pPr fontAlgn="auto">
              <a:lnSpc>
                <a:spcPct val="95999"/>
              </a:lnSpc>
              <a:spcBef>
                <a:spcPts val="0"/>
              </a:spcBef>
              <a:spcAft>
                <a:spcPts val="0"/>
              </a:spcAft>
              <a:defRPr/>
            </a:pPr>
            <a:r>
              <a:rPr lang="fr-FR" sz="2800" b="1" spc="130" dirty="0">
                <a:solidFill>
                  <a:srgbClr val="C00000"/>
                </a:solidFill>
                <a:latin typeface="Arial Narrow" panose="22635452340000000000" pitchFamily="2"/>
              </a:rPr>
              <a:t>Classification des lipides</a:t>
            </a:r>
          </a:p>
          <a:p>
            <a:pPr fontAlgn="auto">
              <a:lnSpc>
                <a:spcPct val="95999"/>
              </a:lnSpc>
              <a:spcBef>
                <a:spcPts val="1980"/>
              </a:spcBef>
              <a:spcAft>
                <a:spcPts val="0"/>
              </a:spcAft>
              <a:defRPr/>
            </a:pPr>
            <a:r>
              <a:rPr lang="fr-FR" sz="2000" b="1" spc="90" dirty="0">
                <a:solidFill>
                  <a:srgbClr val="269E0A"/>
                </a:solidFill>
                <a:latin typeface="Arial" panose="22635452340000000000" pitchFamily="2"/>
              </a:rPr>
              <a:t>➢ </a:t>
            </a:r>
            <a:r>
              <a:rPr lang="fr-FR" sz="2000" b="1" spc="90" dirty="0">
                <a:latin typeface="Arial" panose="22635452340000000000" pitchFamily="2"/>
              </a:rPr>
              <a:t>Lipides simples</a:t>
            </a:r>
          </a:p>
          <a:p>
            <a:pPr fontAlgn="auto">
              <a:lnSpc>
                <a:spcPct val="95999"/>
              </a:lnSpc>
              <a:spcBef>
                <a:spcPts val="1980"/>
              </a:spcBef>
              <a:spcAft>
                <a:spcPts val="0"/>
              </a:spcAft>
              <a:defRPr/>
            </a:pPr>
            <a:r>
              <a:rPr lang="fr-FR" sz="2000" b="1" spc="90" dirty="0">
                <a:solidFill>
                  <a:srgbClr val="269E0A"/>
                </a:solidFill>
                <a:latin typeface="Arial" panose="22635452340000000000" pitchFamily="2"/>
              </a:rPr>
              <a:t>➢ </a:t>
            </a:r>
            <a:r>
              <a:rPr lang="fr-FR" sz="2000" b="1" spc="80" dirty="0">
                <a:latin typeface="Arial" panose="22635452340000000000" pitchFamily="2"/>
              </a:rPr>
              <a:t>Lipides complexes (</a:t>
            </a:r>
            <a:r>
              <a:rPr lang="fr-FR" sz="2000" b="1" spc="80" dirty="0">
                <a:solidFill>
                  <a:srgbClr val="000000"/>
                </a:solidFill>
                <a:latin typeface="Arial" panose="22635452340000000000" pitchFamily="2"/>
              </a:rPr>
              <a:t>polaires)</a:t>
            </a:r>
          </a:p>
          <a:p>
            <a:pPr fontAlgn="auto">
              <a:lnSpc>
                <a:spcPct val="95999"/>
              </a:lnSpc>
              <a:spcBef>
                <a:spcPts val="1980"/>
              </a:spcBef>
              <a:spcAft>
                <a:spcPts val="0"/>
              </a:spcAft>
              <a:defRPr/>
            </a:pPr>
            <a:endParaRPr lang="fr-FR" sz="2000" b="1" spc="80" dirty="0">
              <a:solidFill>
                <a:srgbClr val="000000"/>
              </a:solidFill>
              <a:latin typeface="Arial" panose="22635452340000000000" pitchFamily="2"/>
            </a:endParaRPr>
          </a:p>
          <a:p>
            <a:pPr marL="91440" fontAlgn="auto">
              <a:lnSpc>
                <a:spcPct val="95999"/>
              </a:lnSpc>
              <a:spcBef>
                <a:spcPts val="0"/>
              </a:spcBef>
              <a:spcAft>
                <a:spcPts val="0"/>
              </a:spcAft>
              <a:defRPr/>
            </a:pPr>
            <a:endParaRPr lang="fr-FR" b="1" spc="90" dirty="0">
              <a:solidFill>
                <a:srgbClr val="C00000"/>
              </a:solidFill>
              <a:latin typeface="Tahoma" panose="22635452340000000000" pitchFamily="2"/>
            </a:endParaRPr>
          </a:p>
        </p:txBody>
      </p:sp>
      <p:sp>
        <p:nvSpPr>
          <p:cNvPr id="7" name="Rectangle 6"/>
          <p:cNvSpPr/>
          <p:nvPr/>
        </p:nvSpPr>
        <p:spPr>
          <a:xfrm>
            <a:off x="500063" y="5500688"/>
            <a:ext cx="2211387" cy="461962"/>
          </a:xfrm>
          <a:prstGeom prst="rect">
            <a:avLst/>
          </a:prstGeom>
        </p:spPr>
        <p:txBody>
          <a:bodyPr wrap="none">
            <a:spAutoFit/>
          </a:bodyPr>
          <a:lstStyle/>
          <a:p>
            <a:pPr fontAlgn="auto">
              <a:spcBef>
                <a:spcPts val="0"/>
              </a:spcBef>
              <a:spcAft>
                <a:spcPts val="0"/>
              </a:spcAft>
              <a:defRPr/>
            </a:pPr>
            <a:r>
              <a:rPr lang="fr-FR" b="1" spc="90" dirty="0">
                <a:solidFill>
                  <a:srgbClr val="269E0A"/>
                </a:solidFill>
                <a:latin typeface="Arial" panose="22635452340000000000" pitchFamily="2"/>
              </a:rPr>
              <a:t>                     </a:t>
            </a:r>
            <a:endParaRPr lang="fr-FR" dirty="0">
              <a:latin typeface="+mn-lt"/>
            </a:endParaRPr>
          </a:p>
        </p:txBody>
      </p:sp>
      <p:sp>
        <p:nvSpPr>
          <p:cNvPr id="8" name="Rectangle 7"/>
          <p:cNvSpPr/>
          <p:nvPr/>
        </p:nvSpPr>
        <p:spPr>
          <a:xfrm>
            <a:off x="827584" y="5965016"/>
            <a:ext cx="3479800" cy="400050"/>
          </a:xfrm>
          <a:prstGeom prst="rect">
            <a:avLst/>
          </a:prstGeom>
        </p:spPr>
        <p:txBody>
          <a:bodyPr wrap="none">
            <a:spAutoFit/>
          </a:bodyPr>
          <a:lstStyle/>
          <a:p>
            <a:pPr fontAlgn="auto">
              <a:spcBef>
                <a:spcPts val="0"/>
              </a:spcBef>
              <a:spcAft>
                <a:spcPts val="0"/>
              </a:spcAft>
              <a:defRPr/>
            </a:pPr>
            <a:r>
              <a:rPr lang="fr-FR" sz="2000" b="1" spc="90" dirty="0">
                <a:solidFill>
                  <a:srgbClr val="269E0A"/>
                </a:solidFill>
                <a:latin typeface="Arial" panose="22635452340000000000" pitchFamily="2"/>
              </a:rPr>
              <a:t>➢</a:t>
            </a:r>
            <a:r>
              <a:rPr lang="fr-FR" sz="2000" b="1" spc="70" dirty="0">
                <a:solidFill>
                  <a:srgbClr val="000000"/>
                </a:solidFill>
                <a:latin typeface="Arial" panose="22635452340000000000" pitchFamily="2"/>
              </a:rPr>
              <a:t> Dérivés du cholestérol</a:t>
            </a:r>
            <a:endParaRPr lang="fr-FR" sz="2000" dirty="0">
              <a:latin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Image.jpg"/>
          <p:cNvPicPr>
            <a:picLocks noChangeAspect="1" noChangeArrowheads="1"/>
          </p:cNvPicPr>
          <p:nvPr/>
        </p:nvPicPr>
        <p:blipFill>
          <a:blip r:embed="rId2" cstate="print"/>
          <a:srcRect/>
          <a:stretch>
            <a:fillRect/>
          </a:stretch>
        </p:blipFill>
        <p:spPr bwMode="auto">
          <a:xfrm>
            <a:off x="5681663" y="2344738"/>
            <a:ext cx="3462337" cy="3959225"/>
          </a:xfrm>
          <a:prstGeom prst="rect">
            <a:avLst/>
          </a:prstGeom>
          <a:noFill/>
          <a:ln w="9525">
            <a:noFill/>
            <a:miter lim="800000"/>
            <a:headEnd/>
            <a:tailEnd/>
          </a:ln>
        </p:spPr>
      </p:pic>
      <p:pic>
        <p:nvPicPr>
          <p:cNvPr id="26627" name="Image.jpg"/>
          <p:cNvPicPr>
            <a:picLocks noChangeAspect="1" noChangeArrowheads="1"/>
          </p:cNvPicPr>
          <p:nvPr/>
        </p:nvPicPr>
        <p:blipFill>
          <a:blip r:embed="rId3" cstate="print"/>
          <a:srcRect/>
          <a:stretch>
            <a:fillRect/>
          </a:stretch>
        </p:blipFill>
        <p:spPr bwMode="auto">
          <a:xfrm>
            <a:off x="752475" y="1677988"/>
            <a:ext cx="2187575" cy="4781550"/>
          </a:xfrm>
          <a:prstGeom prst="rect">
            <a:avLst/>
          </a:prstGeom>
          <a:noFill/>
          <a:ln w="9525">
            <a:noFill/>
            <a:miter lim="800000"/>
            <a:headEnd/>
            <a:tailEnd/>
          </a:ln>
        </p:spPr>
      </p:pic>
      <p:sp>
        <p:nvSpPr>
          <p:cNvPr id="85" name="Espace réservé du texte 84"/>
          <p:cNvSpPr>
            <a:spLocks noGrp="1"/>
          </p:cNvSpPr>
          <p:nvPr>
            <p:ph type="body" idx="10"/>
          </p:nvPr>
        </p:nvSpPr>
        <p:spPr>
          <a:xfrm>
            <a:off x="3040063" y="1687513"/>
            <a:ext cx="2595562" cy="1370012"/>
          </a:xfrm>
        </p:spPr>
        <p:txBody>
          <a:bodyPr tIns="380699" rtlCol="0">
            <a:normAutofit lnSpcReduction="10000"/>
          </a:bodyPr>
          <a:lstStyle/>
          <a:p>
            <a:pPr algn="l" eaLnBrk="1" fontAlgn="auto" hangingPunct="1">
              <a:spcAft>
                <a:spcPts val="0"/>
              </a:spcAft>
              <a:buFont typeface="Arial" charset="0"/>
              <a:buNone/>
              <a:defRPr/>
            </a:pPr>
            <a:r>
              <a:rPr lang="fr-FR" sz="2300" b="1" spc="13" dirty="0" smtClean="0">
                <a:solidFill>
                  <a:srgbClr val="00339A"/>
                </a:solidFill>
                <a:latin typeface="Arial" panose="22635452340000000000" pitchFamily="2"/>
              </a:rPr>
              <a:t>Groupement    </a:t>
            </a:r>
            <a:r>
              <a:rPr lang="fr-FR" sz="2300" b="1" spc="-9" dirty="0" smtClean="0">
                <a:solidFill>
                  <a:srgbClr val="00339A"/>
                </a:solidFill>
                <a:latin typeface="Arial" panose="22635452340000000000" pitchFamily="2"/>
              </a:rPr>
              <a:t>phosphate </a:t>
            </a:r>
            <a:r>
              <a:rPr lang="fr-FR" sz="2300" b="1" spc="-9" dirty="0">
                <a:solidFill>
                  <a:srgbClr val="00339A"/>
                </a:solidFill>
                <a:latin typeface="Arial" panose="22635452340000000000" pitchFamily="2"/>
              </a:rPr>
              <a:t>polaire</a:t>
            </a:r>
          </a:p>
          <a:p>
            <a:pPr algn="l" eaLnBrk="1" fontAlgn="auto" hangingPunct="1">
              <a:spcBef>
                <a:spcPts val="158"/>
              </a:spcBef>
              <a:spcAft>
                <a:spcPts val="9151"/>
              </a:spcAft>
              <a:buFont typeface="Arial" pitchFamily="34" charset="0"/>
              <a:buNone/>
              <a:defRPr/>
            </a:pPr>
            <a:r>
              <a:rPr lang="fr-FR" sz="2300" b="1" spc="-39" dirty="0" smtClean="0">
                <a:solidFill>
                  <a:srgbClr val="00339A"/>
                </a:solidFill>
                <a:latin typeface="Arial" panose="22635452340000000000" pitchFamily="2"/>
              </a:rPr>
              <a:t> hydrophile</a:t>
            </a:r>
            <a:endParaRPr lang="fr-FR" sz="2300" b="1" spc="-39" dirty="0">
              <a:solidFill>
                <a:srgbClr val="00339A"/>
              </a:solidFill>
              <a:latin typeface="Arial" panose="22635452340000000000" pitchFamily="2"/>
            </a:endParaRPr>
          </a:p>
        </p:txBody>
      </p:sp>
      <p:sp>
        <p:nvSpPr>
          <p:cNvPr id="86" name="Espace réservé du texte 85"/>
          <p:cNvSpPr>
            <a:spLocks noGrp="1"/>
          </p:cNvSpPr>
          <p:nvPr>
            <p:ph type="body" idx="10"/>
          </p:nvPr>
        </p:nvSpPr>
        <p:spPr>
          <a:xfrm>
            <a:off x="3379788" y="4106863"/>
            <a:ext cx="2436812" cy="1370012"/>
          </a:xfrm>
        </p:spPr>
        <p:txBody>
          <a:bodyPr rtlCol="0">
            <a:normAutofit/>
          </a:bodyPr>
          <a:lstStyle/>
          <a:p>
            <a:pPr algn="just" eaLnBrk="1" fontAlgn="auto" hangingPunct="1">
              <a:spcAft>
                <a:spcPts val="158"/>
              </a:spcAft>
              <a:buFont typeface="Arial" charset="0"/>
              <a:buNone/>
              <a:defRPr/>
            </a:pPr>
            <a:r>
              <a:rPr lang="fr-FR" sz="2300" b="1" spc="-13" dirty="0" smtClean="0">
                <a:solidFill>
                  <a:srgbClr val="00339A"/>
                </a:solidFill>
                <a:latin typeface="Arial" panose="22635452340000000000" pitchFamily="2"/>
              </a:rPr>
              <a:t>Acides gras non </a:t>
            </a:r>
            <a:r>
              <a:rPr lang="fr-FR" sz="2300" b="1" spc="-35" dirty="0" smtClean="0">
                <a:solidFill>
                  <a:srgbClr val="00339A"/>
                </a:solidFill>
                <a:latin typeface="Arial" panose="22635452340000000000" pitchFamily="2"/>
              </a:rPr>
              <a:t>polaires</a:t>
            </a:r>
          </a:p>
          <a:p>
            <a:pPr algn="just" eaLnBrk="1" fontAlgn="auto" hangingPunct="1">
              <a:spcAft>
                <a:spcPts val="158"/>
              </a:spcAft>
              <a:buFont typeface="Arial" charset="0"/>
              <a:buNone/>
              <a:defRPr/>
            </a:pPr>
            <a:r>
              <a:rPr lang="fr-FR" sz="2300" b="1" spc="-22" dirty="0" smtClean="0">
                <a:solidFill>
                  <a:srgbClr val="00339A"/>
                </a:solidFill>
                <a:latin typeface="Arial" panose="22635452340000000000" pitchFamily="2"/>
              </a:rPr>
              <a:t>hydrophobes</a:t>
            </a:r>
            <a:endParaRPr lang="fr-FR" sz="2300" b="1" spc="-22" dirty="0">
              <a:solidFill>
                <a:srgbClr val="00339A"/>
              </a:solidFill>
              <a:latin typeface="Arial" panose="22635452340000000000" pitchFamily="2"/>
            </a:endParaRPr>
          </a:p>
        </p:txBody>
      </p:sp>
      <p:sp>
        <p:nvSpPr>
          <p:cNvPr id="26630" name="Espace réservé du texte 81"/>
          <p:cNvSpPr>
            <a:spLocks noGrp="1"/>
          </p:cNvSpPr>
          <p:nvPr>
            <p:ph type="body" idx="10"/>
          </p:nvPr>
        </p:nvSpPr>
        <p:spPr>
          <a:xfrm>
            <a:off x="936625" y="203200"/>
            <a:ext cx="7481888" cy="1370013"/>
          </a:xfrm>
          <a:ln w="9525"/>
        </p:spPr>
        <p:txBody>
          <a:bodyPr/>
          <a:lstStyle/>
          <a:p>
            <a:pPr eaLnBrk="1" hangingPunct="1">
              <a:lnSpc>
                <a:spcPct val="96000"/>
              </a:lnSpc>
              <a:spcBef>
                <a:spcPct val="0"/>
              </a:spcBef>
              <a:spcAft>
                <a:spcPct val="0"/>
              </a:spcAft>
              <a:buFont typeface="Arial" charset="0"/>
              <a:buNone/>
            </a:pPr>
            <a:r>
              <a:rPr lang="fr-FR" sz="3500" b="1" smtClean="0">
                <a:solidFill>
                  <a:srgbClr val="D83804"/>
                </a:solidFill>
                <a:latin typeface="Arial" charset="0"/>
              </a:rPr>
              <a:t>Les lipides membranaires sont des</a:t>
            </a:r>
          </a:p>
          <a:p>
            <a:pPr eaLnBrk="1" hangingPunct="1">
              <a:lnSpc>
                <a:spcPct val="96000"/>
              </a:lnSpc>
              <a:spcBef>
                <a:spcPct val="0"/>
              </a:spcBef>
              <a:spcAft>
                <a:spcPts val="2050"/>
              </a:spcAft>
              <a:buFont typeface="Arial" charset="0"/>
              <a:buNone/>
            </a:pPr>
            <a:r>
              <a:rPr lang="fr-FR" sz="3500" b="1" smtClean="0">
                <a:solidFill>
                  <a:srgbClr val="D83804"/>
                </a:solidFill>
                <a:latin typeface="Arial" charset="0"/>
              </a:rPr>
              <a:t>molécules amphipathiques</a:t>
            </a:r>
          </a:p>
        </p:txBody>
      </p:sp>
      <p:cxnSp>
        <p:nvCxnSpPr>
          <p:cNvPr id="26631" name="Connecteur droit 86"/>
          <p:cNvCxnSpPr>
            <a:cxnSpLocks noChangeShapeType="1"/>
          </p:cNvCxnSpPr>
          <p:nvPr/>
        </p:nvCxnSpPr>
        <p:spPr bwMode="auto">
          <a:xfrm>
            <a:off x="2940050" y="4741863"/>
            <a:ext cx="276225" cy="0"/>
          </a:xfrm>
          <a:prstGeom prst="line">
            <a:avLst/>
          </a:prstGeom>
          <a:noFill/>
          <a:ln w="45720">
            <a:solidFill>
              <a:srgbClr val="CC3300"/>
            </a:solidFill>
            <a:round/>
            <a:headEnd/>
            <a:tailEnd/>
          </a:ln>
        </p:spPr>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85750" y="173038"/>
            <a:ext cx="8643938" cy="5357812"/>
          </a:xfrm>
          <a:prstGeom prst="rect">
            <a:avLst/>
          </a:prstGeom>
        </p:spPr>
        <p:txBody>
          <a:bodyPr>
            <a:spAutoFit/>
          </a:bodyPr>
          <a:lstStyle/>
          <a:p>
            <a:pPr marL="1965960" fontAlgn="auto">
              <a:lnSpc>
                <a:spcPct val="95999"/>
              </a:lnSpc>
              <a:spcBef>
                <a:spcPts val="0"/>
              </a:spcBef>
              <a:spcAft>
                <a:spcPts val="0"/>
              </a:spcAft>
              <a:defRPr/>
            </a:pPr>
            <a:r>
              <a:rPr lang="fr-FR" b="1" dirty="0">
                <a:solidFill>
                  <a:srgbClr val="D83804"/>
                </a:solidFill>
                <a:latin typeface="Arial" panose="22635452340000000000" pitchFamily="2"/>
              </a:rPr>
              <a:t> </a:t>
            </a:r>
            <a:r>
              <a:rPr lang="fr-FR" sz="3200" b="1" dirty="0">
                <a:solidFill>
                  <a:srgbClr val="D83804"/>
                </a:solidFill>
                <a:latin typeface="Arial" panose="22635452340000000000" pitchFamily="2"/>
              </a:rPr>
              <a:t>Les acides gras</a:t>
            </a:r>
          </a:p>
          <a:p>
            <a:pPr marL="45720" indent="457200" fontAlgn="auto">
              <a:spcBef>
                <a:spcPts val="4320"/>
              </a:spcBef>
              <a:spcAft>
                <a:spcPts val="0"/>
              </a:spcAft>
              <a:buFont typeface="Symbol"/>
              <a:buChar char="·"/>
              <a:defRPr/>
            </a:pPr>
            <a:r>
              <a:rPr lang="fr-FR" b="1" spc="100" dirty="0">
                <a:solidFill>
                  <a:srgbClr val="000000"/>
                </a:solidFill>
                <a:latin typeface="Arial" pitchFamily="34" charset="0"/>
                <a:cs typeface="Arial" pitchFamily="34" charset="0"/>
              </a:rPr>
              <a:t>Chaînes hydrocarbonées de longueur et de degrés </a:t>
            </a:r>
            <a:r>
              <a:rPr lang="fr-FR" b="1" spc="30" dirty="0">
                <a:solidFill>
                  <a:srgbClr val="000000"/>
                </a:solidFill>
                <a:latin typeface="Arial" pitchFamily="34" charset="0"/>
                <a:cs typeface="Arial" pitchFamily="34" charset="0"/>
              </a:rPr>
              <a:t>d'</a:t>
            </a:r>
            <a:r>
              <a:rPr lang="fr-FR" b="1" spc="30" dirty="0" err="1">
                <a:solidFill>
                  <a:srgbClr val="000000"/>
                </a:solidFill>
                <a:latin typeface="Arial" pitchFamily="34" charset="0"/>
                <a:cs typeface="Arial" pitchFamily="34" charset="0"/>
              </a:rPr>
              <a:t>insaturation</a:t>
            </a:r>
            <a:r>
              <a:rPr lang="fr-FR" b="1" spc="30" dirty="0">
                <a:solidFill>
                  <a:srgbClr val="000000"/>
                </a:solidFill>
                <a:latin typeface="Arial" pitchFamily="34" charset="0"/>
                <a:cs typeface="Arial" pitchFamily="34" charset="0"/>
              </a:rPr>
              <a:t> variables comportant un groupement </a:t>
            </a:r>
            <a:r>
              <a:rPr lang="fr-FR" b="1" spc="10" dirty="0">
                <a:solidFill>
                  <a:srgbClr val="000000"/>
                </a:solidFill>
                <a:latin typeface="Arial" pitchFamily="34" charset="0"/>
                <a:cs typeface="Arial" pitchFamily="34" charset="0"/>
              </a:rPr>
              <a:t>carboxylique</a:t>
            </a:r>
            <a:r>
              <a:rPr lang="fr-FR" b="1" spc="10" dirty="0">
                <a:solidFill>
                  <a:srgbClr val="C00000"/>
                </a:solidFill>
                <a:latin typeface="Arial" pitchFamily="34" charset="0"/>
                <a:cs typeface="Arial" pitchFamily="34" charset="0"/>
              </a:rPr>
              <a:t> -COOH</a:t>
            </a:r>
            <a:r>
              <a:rPr lang="fr-FR" b="1" spc="10" dirty="0">
                <a:solidFill>
                  <a:srgbClr val="000000"/>
                </a:solidFill>
                <a:latin typeface="Arial" pitchFamily="34" charset="0"/>
                <a:cs typeface="Arial" pitchFamily="34" charset="0"/>
              </a:rPr>
              <a:t> à une extrémité.</a:t>
            </a:r>
          </a:p>
          <a:p>
            <a:pPr marL="45720" indent="457200" fontAlgn="auto">
              <a:spcBef>
                <a:spcPts val="4320"/>
              </a:spcBef>
              <a:spcAft>
                <a:spcPts val="0"/>
              </a:spcAft>
              <a:buFont typeface="Symbol"/>
              <a:buChar char="·"/>
              <a:defRPr/>
            </a:pPr>
            <a:r>
              <a:rPr lang="fr-FR" b="1" spc="10" dirty="0">
                <a:solidFill>
                  <a:srgbClr val="000000"/>
                </a:solidFill>
                <a:latin typeface="Arial" pitchFamily="34" charset="0"/>
                <a:cs typeface="Arial" pitchFamily="34" charset="0"/>
              </a:rPr>
              <a:t>Les deux extrémités d’une molécule d’acide gras ont des propriétés différentes :                                                                                                                                               	- La chaine glucidique est hydrophobe                                                                	- Le groupement carboxyle est hydrophile</a:t>
            </a:r>
          </a:p>
          <a:p>
            <a:pPr marL="45720" indent="457200" fontAlgn="auto">
              <a:lnSpc>
                <a:spcPct val="150000"/>
              </a:lnSpc>
              <a:spcBef>
                <a:spcPts val="4320"/>
              </a:spcBef>
              <a:spcAft>
                <a:spcPts val="0"/>
              </a:spcAft>
              <a:defRPr/>
            </a:pPr>
            <a:endParaRPr lang="fr-FR" b="1" spc="10" dirty="0">
              <a:solidFill>
                <a:srgbClr val="000000"/>
              </a:solidFill>
              <a:latin typeface="Arial" pitchFamily="34" charset="0"/>
              <a:cs typeface="Arial" pitchFamily="34" charset="0"/>
            </a:endParaRPr>
          </a:p>
        </p:txBody>
      </p:sp>
      <p:pic>
        <p:nvPicPr>
          <p:cNvPr id="28675" name="Picture 2" descr="http://fr.cdn.v5.futura-sciences.com/builds/images/thumbs/7/7a4d7fa7d1_acgras2_03.gif"/>
          <p:cNvPicPr>
            <a:picLocks noChangeAspect="1" noChangeArrowheads="1"/>
          </p:cNvPicPr>
          <p:nvPr/>
        </p:nvPicPr>
        <p:blipFill>
          <a:blip r:embed="rId2" cstate="print"/>
          <a:srcRect/>
          <a:stretch>
            <a:fillRect/>
          </a:stretch>
        </p:blipFill>
        <p:spPr bwMode="auto">
          <a:xfrm>
            <a:off x="642938" y="4897438"/>
            <a:ext cx="7858125" cy="1857375"/>
          </a:xfrm>
          <a:prstGeom prst="rect">
            <a:avLst/>
          </a:prstGeom>
          <a:noFill/>
          <a:ln w="9525">
            <a:noFill/>
            <a:miter lim="800000"/>
            <a:headEnd/>
            <a:tailEnd/>
          </a:ln>
        </p:spPr>
      </p:pic>
      <p:sp>
        <p:nvSpPr>
          <p:cNvPr id="28676" name="ZoneTexte 3"/>
          <p:cNvSpPr txBox="1">
            <a:spLocks noChangeArrowheads="1"/>
          </p:cNvSpPr>
          <p:nvPr/>
        </p:nvSpPr>
        <p:spPr bwMode="auto">
          <a:xfrm>
            <a:off x="7480300" y="4232275"/>
            <a:ext cx="1730375" cy="831850"/>
          </a:xfrm>
          <a:prstGeom prst="rect">
            <a:avLst/>
          </a:prstGeom>
          <a:noFill/>
          <a:ln w="9525">
            <a:noFill/>
            <a:miter lim="800000"/>
            <a:headEnd/>
            <a:tailEnd/>
          </a:ln>
        </p:spPr>
        <p:txBody>
          <a:bodyPr>
            <a:spAutoFit/>
          </a:bodyPr>
          <a:lstStyle/>
          <a:p>
            <a:pPr algn="ctr"/>
            <a:r>
              <a:rPr lang="fr-FR"/>
              <a:t>Région Hydrophile</a:t>
            </a:r>
          </a:p>
        </p:txBody>
      </p:sp>
      <p:sp>
        <p:nvSpPr>
          <p:cNvPr id="28677" name="Rectangle 4"/>
          <p:cNvSpPr>
            <a:spLocks noChangeArrowheads="1"/>
          </p:cNvSpPr>
          <p:nvPr/>
        </p:nvSpPr>
        <p:spPr bwMode="auto">
          <a:xfrm>
            <a:off x="0" y="4483100"/>
            <a:ext cx="1949450" cy="831850"/>
          </a:xfrm>
          <a:prstGeom prst="rect">
            <a:avLst/>
          </a:prstGeom>
          <a:noFill/>
          <a:ln w="9525">
            <a:noFill/>
            <a:miter lim="800000"/>
            <a:headEnd/>
            <a:tailEnd/>
          </a:ln>
        </p:spPr>
        <p:txBody>
          <a:bodyPr>
            <a:spAutoFit/>
          </a:bodyPr>
          <a:lstStyle/>
          <a:p>
            <a:pPr algn="ctr"/>
            <a:r>
              <a:rPr lang="fr-FR"/>
              <a:t>Région Hydrophobe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www.chups.jussieu.fr/polys/biochimie/STbioch/ST_27_PICT.gif"/>
          <p:cNvPicPr>
            <a:picLocks noChangeAspect="1" noChangeArrowheads="1"/>
          </p:cNvPicPr>
          <p:nvPr/>
        </p:nvPicPr>
        <p:blipFill>
          <a:blip r:embed="rId2" cstate="print"/>
          <a:srcRect t="21428" b="25000"/>
          <a:stretch>
            <a:fillRect/>
          </a:stretch>
        </p:blipFill>
        <p:spPr bwMode="auto">
          <a:xfrm>
            <a:off x="1285875" y="357188"/>
            <a:ext cx="6572250" cy="1127596"/>
          </a:xfrm>
          <a:prstGeom prst="rect">
            <a:avLst/>
          </a:prstGeom>
          <a:noFill/>
          <a:ln w="9525">
            <a:noFill/>
            <a:miter lim="800000"/>
            <a:headEnd/>
            <a:tailEnd/>
          </a:ln>
        </p:spPr>
      </p:pic>
      <p:sp>
        <p:nvSpPr>
          <p:cNvPr id="29699" name="AutoShape 8"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fr-FR">
              <a:latin typeface="Calibri" pitchFamily="34" charset="0"/>
            </a:endParaRPr>
          </a:p>
        </p:txBody>
      </p:sp>
      <p:sp>
        <p:nvSpPr>
          <p:cNvPr id="29700" name="AutoShape 10"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fr-FR">
              <a:latin typeface="Calibri" pitchFamily="34" charset="0"/>
            </a:endParaRPr>
          </a:p>
        </p:txBody>
      </p:sp>
      <p:sp>
        <p:nvSpPr>
          <p:cNvPr id="29701" name="AutoShape 14"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fr-FR">
              <a:latin typeface="Calibri" pitchFamily="34" charset="0"/>
            </a:endParaRPr>
          </a:p>
        </p:txBody>
      </p:sp>
      <p:pic>
        <p:nvPicPr>
          <p:cNvPr id="29702" name="Picture 18" descr="http://www.chups.jussieu.fr/polys/biochimie/STbioch/ST_29_PICT.gif"/>
          <p:cNvPicPr>
            <a:picLocks noChangeAspect="1" noChangeArrowheads="1"/>
          </p:cNvPicPr>
          <p:nvPr/>
        </p:nvPicPr>
        <p:blipFill>
          <a:blip r:embed="rId3" cstate="print"/>
          <a:srcRect b="25000"/>
          <a:stretch>
            <a:fillRect/>
          </a:stretch>
        </p:blipFill>
        <p:spPr bwMode="auto">
          <a:xfrm>
            <a:off x="1285875" y="1484784"/>
            <a:ext cx="6572250" cy="1229038"/>
          </a:xfrm>
          <a:prstGeom prst="rect">
            <a:avLst/>
          </a:prstGeom>
          <a:noFill/>
          <a:ln w="9525">
            <a:noFill/>
            <a:miter lim="800000"/>
            <a:headEnd/>
            <a:tailEnd/>
          </a:ln>
        </p:spPr>
      </p:pic>
      <p:pic>
        <p:nvPicPr>
          <p:cNvPr id="29703" name="Picture 20" descr="https://encrypted-tbn3.gstatic.com/images?q=tbn:ANd9GcT4NxsXWTLzwN6HmFm4GjAdslR_LNF4I1e3F02sZSnfa3PELe_CGQ"/>
          <p:cNvPicPr>
            <a:picLocks noChangeAspect="1" noChangeArrowheads="1"/>
          </p:cNvPicPr>
          <p:nvPr/>
        </p:nvPicPr>
        <p:blipFill>
          <a:blip r:embed="rId4" cstate="print"/>
          <a:srcRect/>
          <a:stretch>
            <a:fillRect/>
          </a:stretch>
        </p:blipFill>
        <p:spPr bwMode="auto">
          <a:xfrm>
            <a:off x="155575" y="2727630"/>
            <a:ext cx="3888432" cy="3667506"/>
          </a:xfrm>
          <a:prstGeom prst="rect">
            <a:avLst/>
          </a:prstGeom>
          <a:noFill/>
          <a:ln w="9525">
            <a:noFill/>
            <a:miter lim="800000"/>
            <a:headEnd/>
            <a:tailEnd/>
          </a:ln>
        </p:spPr>
      </p:pic>
      <p:pic>
        <p:nvPicPr>
          <p:cNvPr id="8" name="Picture 5" descr="http://fr.cdn.v5.futura-sciences.com/builds/images/thumbs/c/c1d7987b4c_15218_AcidesGrasCis_Trans.jpg"/>
          <p:cNvPicPr>
            <a:picLocks noChangeAspect="1" noChangeArrowheads="1"/>
          </p:cNvPicPr>
          <p:nvPr/>
        </p:nvPicPr>
        <p:blipFill>
          <a:blip r:embed="rId5" cstate="print"/>
          <a:srcRect/>
          <a:stretch>
            <a:fillRect/>
          </a:stretch>
        </p:blipFill>
        <p:spPr bwMode="auto">
          <a:xfrm>
            <a:off x="4572000" y="2728184"/>
            <a:ext cx="4143375" cy="1857375"/>
          </a:xfrm>
          <a:prstGeom prst="rect">
            <a:avLst/>
          </a:prstGeom>
          <a:noFill/>
          <a:ln w="9525">
            <a:noFill/>
            <a:miter lim="800000"/>
            <a:headEnd/>
            <a:tailEnd/>
          </a:ln>
        </p:spPr>
      </p:pic>
      <p:pic>
        <p:nvPicPr>
          <p:cNvPr id="9" name="Picture 2"/>
          <p:cNvPicPr>
            <a:picLocks noChangeAspect="1" noChangeArrowheads="1"/>
          </p:cNvPicPr>
          <p:nvPr/>
        </p:nvPicPr>
        <p:blipFill>
          <a:blip r:embed="rId6" cstate="print"/>
          <a:srcRect/>
          <a:stretch>
            <a:fillRect/>
          </a:stretch>
        </p:blipFill>
        <p:spPr bwMode="auto">
          <a:xfrm>
            <a:off x="3990231" y="4602445"/>
            <a:ext cx="5153769" cy="22445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11"/>
          <p:cNvSpPr>
            <a:spLocks noChangeArrowheads="1"/>
          </p:cNvSpPr>
          <p:nvPr/>
        </p:nvSpPr>
        <p:spPr bwMode="auto">
          <a:xfrm>
            <a:off x="2844800" y="1879600"/>
            <a:ext cx="5041900" cy="3279775"/>
          </a:xfrm>
          <a:prstGeom prst="rect">
            <a:avLst/>
          </a:prstGeom>
          <a:solidFill>
            <a:schemeClr val="bg1"/>
          </a:solidFill>
          <a:ln w="9525">
            <a:solidFill>
              <a:schemeClr val="bg1"/>
            </a:solidFill>
            <a:miter lim="800000"/>
            <a:headEnd/>
            <a:tailEnd/>
          </a:ln>
        </p:spPr>
        <p:txBody>
          <a:bodyPr wrap="none" anchor="ctr"/>
          <a:lstStyle/>
          <a:p>
            <a:endParaRPr lang="fr-FR"/>
          </a:p>
        </p:txBody>
      </p:sp>
      <p:grpSp>
        <p:nvGrpSpPr>
          <p:cNvPr id="2" name="Group 5"/>
          <p:cNvGrpSpPr>
            <a:grpSpLocks/>
          </p:cNvGrpSpPr>
          <p:nvPr/>
        </p:nvGrpSpPr>
        <p:grpSpPr bwMode="auto">
          <a:xfrm>
            <a:off x="1403648" y="3279353"/>
            <a:ext cx="2122488" cy="3101975"/>
            <a:chOff x="1672" y="1288"/>
            <a:chExt cx="1204" cy="1812"/>
          </a:xfrm>
        </p:grpSpPr>
        <p:sp>
          <p:nvSpPr>
            <p:cNvPr id="45064" name="Text Box 6"/>
            <p:cNvSpPr txBox="1">
              <a:spLocks noChangeArrowheads="1"/>
            </p:cNvSpPr>
            <p:nvPr/>
          </p:nvSpPr>
          <p:spPr bwMode="auto">
            <a:xfrm>
              <a:off x="1672" y="1288"/>
              <a:ext cx="284" cy="192"/>
            </a:xfrm>
            <a:prstGeom prst="rect">
              <a:avLst/>
            </a:prstGeom>
            <a:noFill/>
            <a:ln w="9525">
              <a:noFill/>
              <a:miter lim="800000"/>
              <a:headEnd/>
              <a:tailEnd/>
            </a:ln>
          </p:spPr>
          <p:txBody>
            <a:bodyPr wrap="none">
              <a:spAutoFit/>
            </a:bodyPr>
            <a:lstStyle/>
            <a:p>
              <a:r>
                <a:rPr lang="fr-FR" sz="1400" dirty="0">
                  <a:solidFill>
                    <a:srgbClr val="FF0000"/>
                  </a:solidFill>
                </a:rPr>
                <a:t>HO</a:t>
              </a:r>
              <a:endParaRPr lang="fr-FR" sz="2000" dirty="0">
                <a:solidFill>
                  <a:srgbClr val="FF0000"/>
                </a:solidFill>
              </a:endParaRPr>
            </a:p>
          </p:txBody>
        </p:sp>
        <p:pic>
          <p:nvPicPr>
            <p:cNvPr id="45065" name="Picture 7"/>
            <p:cNvPicPr>
              <a:picLocks noChangeAspect="1" noChangeArrowheads="1"/>
            </p:cNvPicPr>
            <p:nvPr/>
          </p:nvPicPr>
          <p:blipFill>
            <a:blip r:embed="rId3" cstate="print"/>
            <a:srcRect/>
            <a:stretch>
              <a:fillRect/>
            </a:stretch>
          </p:blipFill>
          <p:spPr bwMode="auto">
            <a:xfrm>
              <a:off x="1812" y="1444"/>
              <a:ext cx="1064" cy="1656"/>
            </a:xfrm>
            <a:prstGeom prst="rect">
              <a:avLst/>
            </a:prstGeom>
            <a:noFill/>
            <a:ln w="9525">
              <a:noFill/>
              <a:miter lim="800000"/>
              <a:headEnd/>
              <a:tailEnd/>
            </a:ln>
          </p:spPr>
        </p:pic>
        <p:sp>
          <p:nvSpPr>
            <p:cNvPr id="45066" name="Line 8"/>
            <p:cNvSpPr>
              <a:spLocks noChangeShapeType="1"/>
            </p:cNvSpPr>
            <p:nvPr/>
          </p:nvSpPr>
          <p:spPr bwMode="auto">
            <a:xfrm flipH="1" flipV="1">
              <a:off x="1888" y="1432"/>
              <a:ext cx="48" cy="64"/>
            </a:xfrm>
            <a:prstGeom prst="line">
              <a:avLst/>
            </a:prstGeom>
            <a:noFill/>
            <a:ln w="9525">
              <a:solidFill>
                <a:schemeClr val="tx1"/>
              </a:solidFill>
              <a:round/>
              <a:headEnd/>
              <a:tailEnd/>
            </a:ln>
          </p:spPr>
          <p:txBody>
            <a:bodyPr wrap="none" anchor="ctr"/>
            <a:lstStyle/>
            <a:p>
              <a:endParaRPr lang="fr-FR"/>
            </a:p>
          </p:txBody>
        </p:sp>
      </p:grpSp>
      <p:sp>
        <p:nvSpPr>
          <p:cNvPr id="45063" name="Rectangle 66"/>
          <p:cNvSpPr>
            <a:spLocks noChangeArrowheads="1"/>
          </p:cNvSpPr>
          <p:nvPr/>
        </p:nvSpPr>
        <p:spPr bwMode="auto">
          <a:xfrm>
            <a:off x="4466635" y="1746060"/>
            <a:ext cx="4572000" cy="3139321"/>
          </a:xfrm>
          <a:prstGeom prst="rect">
            <a:avLst/>
          </a:prstGeom>
          <a:noFill/>
          <a:ln w="9525">
            <a:noFill/>
            <a:miter lim="800000"/>
            <a:headEnd/>
            <a:tailEnd/>
          </a:ln>
        </p:spPr>
        <p:txBody>
          <a:bodyPr>
            <a:spAutoFit/>
          </a:bodyPr>
          <a:lstStyle/>
          <a:p>
            <a:pPr algn="just"/>
            <a:r>
              <a:rPr lang="fr-FR" dirty="0"/>
              <a:t>Le cholestérol est composé d’un noyau stérol hydrophobe, d’une queue </a:t>
            </a:r>
            <a:r>
              <a:rPr lang="fr-FR" dirty="0" smtClean="0"/>
              <a:t>hydrophobe (Radical Alkyle) </a:t>
            </a:r>
            <a:r>
              <a:rPr lang="fr-FR" dirty="0"/>
              <a:t>et d’une fonction alcool hydrophile. </a:t>
            </a:r>
            <a:endParaRPr lang="fr-FR" dirty="0">
              <a:latin typeface="Arial" pitchFamily="34" charset="0"/>
              <a:cs typeface="Arial" pitchFamily="34" charset="0"/>
            </a:endParaRPr>
          </a:p>
          <a:p>
            <a:pPr algn="just"/>
            <a:r>
              <a:rPr lang="fr-FR" dirty="0" smtClean="0"/>
              <a:t>Dans </a:t>
            </a:r>
            <a:r>
              <a:rPr lang="fr-FR" dirty="0"/>
              <a:t>la double couche lipidique des membranes cellulaires, les molécules de cholestérol sont orientées de façon à ce que la tête polaire du groupe OH, tournée vers la surface, entre en contact avec le milieu extérieur ou cytoplasmique aqueux, alors que le noyaux et la chaîne carbonée sont au contraire situés en </a:t>
            </a:r>
            <a:r>
              <a:rPr lang="fr-FR" dirty="0" smtClean="0"/>
              <a:t>profondeur. </a:t>
            </a:r>
            <a:endParaRPr lang="fr-FR" dirty="0"/>
          </a:p>
        </p:txBody>
      </p:sp>
      <p:sp>
        <p:nvSpPr>
          <p:cNvPr id="12" name="Rectangle 11"/>
          <p:cNvSpPr/>
          <p:nvPr/>
        </p:nvSpPr>
        <p:spPr>
          <a:xfrm>
            <a:off x="447397" y="185200"/>
            <a:ext cx="2395849" cy="461665"/>
          </a:xfrm>
          <a:prstGeom prst="rect">
            <a:avLst/>
          </a:prstGeom>
        </p:spPr>
        <p:txBody>
          <a:bodyPr wrap="none">
            <a:spAutoFit/>
          </a:bodyPr>
          <a:lstStyle/>
          <a:p>
            <a:pPr fontAlgn="auto">
              <a:spcBef>
                <a:spcPts val="0"/>
              </a:spcBef>
              <a:spcAft>
                <a:spcPts val="0"/>
              </a:spcAft>
              <a:defRPr/>
            </a:pPr>
            <a:r>
              <a:rPr lang="fr-FR" sz="2400" b="1" spc="70" dirty="0">
                <a:solidFill>
                  <a:srgbClr val="000000"/>
                </a:solidFill>
                <a:latin typeface="Arial" panose="22635452340000000000" pitchFamily="2"/>
              </a:rPr>
              <a:t>Le cholestérol</a:t>
            </a:r>
            <a:endParaRPr lang="fr-FR" sz="2400" dirty="0">
              <a:latin typeface="+mn-lt"/>
            </a:endParaRPr>
          </a:p>
        </p:txBody>
      </p:sp>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263" y="724091"/>
            <a:ext cx="3810000" cy="2179330"/>
          </a:xfrm>
          <a:prstGeom prst="rect">
            <a:avLst/>
          </a:prstGeom>
        </p:spPr>
      </p:pic>
    </p:spTree>
    <p:extLst>
      <p:ext uri="{BB962C8B-B14F-4D97-AF65-F5344CB8AC3E}">
        <p14:creationId xmlns:p14="http://schemas.microsoft.com/office/powerpoint/2010/main" val="23263277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Image.jpg"/>
          <p:cNvPicPr>
            <a:picLocks noChangeAspect="1" noChangeArrowheads="1"/>
          </p:cNvPicPr>
          <p:nvPr/>
        </p:nvPicPr>
        <p:blipFill>
          <a:blip r:embed="rId2" cstate="print"/>
          <a:srcRect/>
          <a:stretch>
            <a:fillRect/>
          </a:stretch>
        </p:blipFill>
        <p:spPr bwMode="auto">
          <a:xfrm>
            <a:off x="1043608" y="1484784"/>
            <a:ext cx="6786563" cy="2643188"/>
          </a:xfrm>
          <a:prstGeom prst="rect">
            <a:avLst/>
          </a:prstGeom>
          <a:noFill/>
          <a:ln w="9525">
            <a:noFill/>
            <a:miter lim="800000"/>
            <a:headEnd/>
            <a:tailEnd/>
          </a:ln>
        </p:spPr>
      </p:pic>
      <p:sp>
        <p:nvSpPr>
          <p:cNvPr id="4" name="Espace réservé du texte 50"/>
          <p:cNvSpPr txBox="1">
            <a:spLocks/>
          </p:cNvSpPr>
          <p:nvPr/>
        </p:nvSpPr>
        <p:spPr>
          <a:xfrm>
            <a:off x="214313" y="4286250"/>
            <a:ext cx="8786812" cy="2714625"/>
          </a:xfrm>
          <a:prstGeom prst="rect">
            <a:avLst/>
          </a:prstGeom>
          <a:noFill/>
          <a:ln w="0" cmpd="sng">
            <a:noFill/>
            <a:prstDash val="solid"/>
          </a:ln>
        </p:spPr>
        <p:txBody>
          <a:bodyPr lIns="0" tIns="0" rIns="0" bIns="0"/>
          <a:lstStyle/>
          <a:p>
            <a:pPr algn="just" fontAlgn="auto">
              <a:lnSpc>
                <a:spcPct val="95999"/>
              </a:lnSpc>
              <a:spcBef>
                <a:spcPts val="0"/>
              </a:spcBef>
              <a:spcAft>
                <a:spcPts val="0"/>
              </a:spcAft>
              <a:defRPr/>
            </a:pPr>
            <a:r>
              <a:rPr lang="fr-FR" sz="2000" spc="-20" dirty="0">
                <a:solidFill>
                  <a:srgbClr val="000000"/>
                </a:solidFill>
                <a:latin typeface="Arial" pitchFamily="34" charset="0"/>
                <a:cs typeface="Arial" pitchFamily="34" charset="0"/>
              </a:rPr>
              <a:t>Si deux des liaisons possibles sur le glycérol </a:t>
            </a:r>
            <a:r>
              <a:rPr lang="fr-FR" sz="2000" spc="-10" dirty="0">
                <a:solidFill>
                  <a:srgbClr val="000000"/>
                </a:solidFill>
                <a:latin typeface="Arial" pitchFamily="34" charset="0"/>
                <a:cs typeface="Arial" pitchFamily="34" charset="0"/>
              </a:rPr>
              <a:t>sont occupées par des acides gras et la </a:t>
            </a:r>
            <a:r>
              <a:rPr lang="fr-FR" sz="2000" spc="-15" dirty="0">
                <a:solidFill>
                  <a:srgbClr val="000000"/>
                </a:solidFill>
                <a:latin typeface="Arial" pitchFamily="34" charset="0"/>
                <a:cs typeface="Arial" pitchFamily="34" charset="0"/>
              </a:rPr>
              <a:t>troisième par un groupement phosphaté, on </a:t>
            </a:r>
            <a:r>
              <a:rPr lang="fr-FR" sz="2000" dirty="0">
                <a:solidFill>
                  <a:srgbClr val="000000"/>
                </a:solidFill>
                <a:latin typeface="Arial" pitchFamily="34" charset="0"/>
                <a:cs typeface="Arial" pitchFamily="34" charset="0"/>
              </a:rPr>
              <a:t>parle alors de </a:t>
            </a:r>
            <a:r>
              <a:rPr lang="fr-FR" sz="2000" b="1" dirty="0">
                <a:solidFill>
                  <a:srgbClr val="000000"/>
                </a:solidFill>
                <a:latin typeface="Arial" pitchFamily="34" charset="0"/>
                <a:cs typeface="Arial" pitchFamily="34" charset="0"/>
              </a:rPr>
              <a:t>phospholipide ou </a:t>
            </a:r>
            <a:r>
              <a:rPr lang="fr-FR" sz="2000" b="1" dirty="0" err="1">
                <a:solidFill>
                  <a:srgbClr val="000000"/>
                </a:solidFill>
                <a:latin typeface="Arial" pitchFamily="34" charset="0"/>
                <a:cs typeface="Arial" pitchFamily="34" charset="0"/>
              </a:rPr>
              <a:t>phosphoglycéride</a:t>
            </a:r>
            <a:r>
              <a:rPr lang="fr-FR" sz="2000" dirty="0">
                <a:solidFill>
                  <a:srgbClr val="000000"/>
                </a:solidFill>
                <a:latin typeface="Arial" pitchFamily="34" charset="0"/>
                <a:cs typeface="Arial" pitchFamily="34" charset="0"/>
              </a:rPr>
              <a:t>. Le glycérol et le </a:t>
            </a:r>
            <a:r>
              <a:rPr lang="fr-FR" sz="2000" spc="-20" dirty="0">
                <a:solidFill>
                  <a:srgbClr val="000000"/>
                </a:solidFill>
                <a:latin typeface="Arial" pitchFamily="34" charset="0"/>
                <a:cs typeface="Arial" pitchFamily="34" charset="0"/>
              </a:rPr>
              <a:t>groupement phosphate sont hydrophiles et </a:t>
            </a:r>
            <a:r>
              <a:rPr lang="fr-FR" sz="2000" spc="-60" dirty="0">
                <a:solidFill>
                  <a:srgbClr val="000000"/>
                </a:solidFill>
                <a:latin typeface="Arial" pitchFamily="34" charset="0"/>
                <a:cs typeface="Arial" pitchFamily="34" charset="0"/>
              </a:rPr>
              <a:t>forment une </a:t>
            </a:r>
            <a:r>
              <a:rPr lang="fr-FR" sz="2000" b="1" spc="-60" dirty="0">
                <a:solidFill>
                  <a:srgbClr val="000000"/>
                </a:solidFill>
                <a:latin typeface="Arial" pitchFamily="34" charset="0"/>
                <a:cs typeface="Arial" pitchFamily="34" charset="0"/>
              </a:rPr>
              <a:t>tête polaire « attirée par l’eau »,</a:t>
            </a:r>
            <a:r>
              <a:rPr lang="fr-FR" sz="2000" dirty="0">
                <a:solidFill>
                  <a:srgbClr val="000000"/>
                </a:solidFill>
                <a:latin typeface="Arial" pitchFamily="34" charset="0"/>
                <a:cs typeface="Arial" pitchFamily="34" charset="0"/>
              </a:rPr>
              <a:t>alors que les chaînes d’acides gras sont </a:t>
            </a:r>
            <a:r>
              <a:rPr lang="fr-FR" sz="2000" spc="-30" dirty="0">
                <a:solidFill>
                  <a:srgbClr val="000000"/>
                </a:solidFill>
                <a:latin typeface="Arial" pitchFamily="34" charset="0"/>
                <a:cs typeface="Arial" pitchFamily="34" charset="0"/>
              </a:rPr>
              <a:t>hydrophobes et forment </a:t>
            </a:r>
            <a:r>
              <a:rPr lang="fr-FR" sz="2000" b="1" spc="-30" dirty="0">
                <a:solidFill>
                  <a:srgbClr val="000000"/>
                </a:solidFill>
                <a:latin typeface="Arial" pitchFamily="34" charset="0"/>
                <a:cs typeface="Arial" pitchFamily="34" charset="0"/>
              </a:rPr>
              <a:t>une queue apolaire qui « fuit » l’eau</a:t>
            </a:r>
            <a:r>
              <a:rPr lang="fr-FR" sz="2000" spc="-30" dirty="0">
                <a:solidFill>
                  <a:srgbClr val="000000"/>
                </a:solidFill>
                <a:latin typeface="Arial" pitchFamily="34" charset="0"/>
                <a:cs typeface="Arial" pitchFamily="34" charset="0"/>
              </a:rPr>
              <a:t>. D’où la représentation </a:t>
            </a:r>
            <a:r>
              <a:rPr lang="fr-FR" sz="2000" spc="-45" dirty="0">
                <a:solidFill>
                  <a:srgbClr val="000000"/>
                </a:solidFill>
                <a:latin typeface="Arial" pitchFamily="34" charset="0"/>
                <a:cs typeface="Arial" pitchFamily="34" charset="0"/>
              </a:rPr>
              <a:t>symbolique d’un phospholipide représentée ci- </a:t>
            </a:r>
            <a:r>
              <a:rPr lang="fr-FR" sz="2000" dirty="0">
                <a:solidFill>
                  <a:srgbClr val="000000"/>
                </a:solidFill>
                <a:latin typeface="Arial" pitchFamily="34" charset="0"/>
                <a:cs typeface="Arial" pitchFamily="34" charset="0"/>
              </a:rPr>
              <a:t>contre.</a:t>
            </a:r>
          </a:p>
        </p:txBody>
      </p:sp>
      <p:sp>
        <p:nvSpPr>
          <p:cNvPr id="5" name="Rectangle 4"/>
          <p:cNvSpPr/>
          <p:nvPr/>
        </p:nvSpPr>
        <p:spPr>
          <a:xfrm>
            <a:off x="827584" y="476672"/>
            <a:ext cx="4943020" cy="523220"/>
          </a:xfrm>
          <a:prstGeom prst="rect">
            <a:avLst/>
          </a:prstGeom>
        </p:spPr>
        <p:txBody>
          <a:bodyPr wrap="none">
            <a:spAutoFit/>
          </a:bodyPr>
          <a:lstStyle/>
          <a:p>
            <a:r>
              <a:rPr lang="fr-FR" sz="2800" b="1" spc="80" dirty="0" smtClean="0">
                <a:latin typeface="Arial" panose="22635452340000000000" pitchFamily="2"/>
              </a:rPr>
              <a:t>LES LIPIDES COMPLEXES</a:t>
            </a:r>
            <a:endParaRPr lang="fr-FR"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457200"/>
            <a:ext cx="9144000" cy="762000"/>
          </a:xfrm>
          <a:solidFill>
            <a:schemeClr val="bg1"/>
          </a:solidFill>
        </p:spPr>
        <p:txBody>
          <a:bodyPr/>
          <a:lstStyle/>
          <a:p>
            <a:pPr eaLnBrk="1" hangingPunct="1"/>
            <a:r>
              <a:rPr lang="fr-FR" sz="3600" b="1" smtClean="0">
                <a:latin typeface="Arial" charset="0"/>
              </a:rPr>
              <a:t>Les phospholipides</a:t>
            </a:r>
            <a:endParaRPr lang="fr-FR" smtClean="0">
              <a:latin typeface="Arial" charset="0"/>
            </a:endParaRPr>
          </a:p>
        </p:txBody>
      </p:sp>
      <p:sp>
        <p:nvSpPr>
          <p:cNvPr id="35843" name="Text Box 12"/>
          <p:cNvSpPr txBox="1">
            <a:spLocks noChangeArrowheads="1"/>
          </p:cNvSpPr>
          <p:nvPr/>
        </p:nvSpPr>
        <p:spPr bwMode="auto">
          <a:xfrm>
            <a:off x="457200" y="1295400"/>
            <a:ext cx="3954463" cy="396875"/>
          </a:xfrm>
          <a:prstGeom prst="rect">
            <a:avLst/>
          </a:prstGeom>
          <a:noFill/>
          <a:ln w="9525">
            <a:noFill/>
            <a:miter lim="800000"/>
            <a:headEnd/>
            <a:tailEnd/>
          </a:ln>
        </p:spPr>
        <p:txBody>
          <a:bodyPr wrap="none">
            <a:spAutoFit/>
          </a:bodyPr>
          <a:lstStyle/>
          <a:p>
            <a:r>
              <a:rPr lang="fr-FR" sz="2000" i="1"/>
              <a:t>exemple des phosphoglycérides </a:t>
            </a:r>
            <a:r>
              <a:rPr lang="fr-FR" sz="2000"/>
              <a:t> </a:t>
            </a:r>
          </a:p>
        </p:txBody>
      </p:sp>
      <p:pic>
        <p:nvPicPr>
          <p:cNvPr id="35844" name="Picture 36"/>
          <p:cNvPicPr>
            <a:picLocks noChangeAspect="1" noChangeArrowheads="1"/>
          </p:cNvPicPr>
          <p:nvPr/>
        </p:nvPicPr>
        <p:blipFill>
          <a:blip r:embed="rId3" cstate="print"/>
          <a:srcRect/>
          <a:stretch>
            <a:fillRect/>
          </a:stretch>
        </p:blipFill>
        <p:spPr bwMode="auto">
          <a:xfrm>
            <a:off x="2551113" y="4259263"/>
            <a:ext cx="4598987" cy="2173287"/>
          </a:xfrm>
          <a:prstGeom prst="rect">
            <a:avLst/>
          </a:prstGeom>
          <a:noFill/>
          <a:ln w="9525">
            <a:noFill/>
            <a:miter lim="800000"/>
            <a:headEnd/>
            <a:tailEnd/>
          </a:ln>
        </p:spPr>
      </p:pic>
      <p:sp>
        <p:nvSpPr>
          <p:cNvPr id="35845" name="Text Box 46"/>
          <p:cNvSpPr txBox="1">
            <a:spLocks noChangeArrowheads="1"/>
          </p:cNvSpPr>
          <p:nvPr/>
        </p:nvSpPr>
        <p:spPr bwMode="auto">
          <a:xfrm>
            <a:off x="4254500" y="2184400"/>
            <a:ext cx="323850" cy="1803400"/>
          </a:xfrm>
          <a:prstGeom prst="rect">
            <a:avLst/>
          </a:prstGeom>
          <a:solidFill>
            <a:schemeClr val="bg1"/>
          </a:solidFill>
          <a:ln w="9525">
            <a:solidFill>
              <a:schemeClr val="tx1"/>
            </a:solidFill>
            <a:miter lim="800000"/>
            <a:headEnd/>
            <a:tailEnd/>
          </a:ln>
        </p:spPr>
        <p:txBody>
          <a:bodyPr>
            <a:spAutoFit/>
          </a:bodyPr>
          <a:lstStyle/>
          <a:p>
            <a:pPr algn="ctr"/>
            <a:r>
              <a:rPr lang="fr-FR" sz="1400" b="1"/>
              <a:t>GLYCEROL</a:t>
            </a:r>
          </a:p>
        </p:txBody>
      </p:sp>
      <p:sp>
        <p:nvSpPr>
          <p:cNvPr id="35846" name="Text Box 47"/>
          <p:cNvSpPr txBox="1">
            <a:spLocks noChangeArrowheads="1"/>
          </p:cNvSpPr>
          <p:nvPr/>
        </p:nvSpPr>
        <p:spPr bwMode="auto">
          <a:xfrm>
            <a:off x="4953000" y="2184400"/>
            <a:ext cx="1536700" cy="346075"/>
          </a:xfrm>
          <a:prstGeom prst="rect">
            <a:avLst/>
          </a:prstGeom>
          <a:solidFill>
            <a:srgbClr val="91F3A1"/>
          </a:solidFill>
          <a:ln w="9525">
            <a:solidFill>
              <a:srgbClr val="009900"/>
            </a:solidFill>
            <a:miter lim="800000"/>
            <a:headEnd/>
            <a:tailEnd/>
          </a:ln>
        </p:spPr>
        <p:txBody>
          <a:bodyPr>
            <a:spAutoFit/>
          </a:bodyPr>
          <a:lstStyle/>
          <a:p>
            <a:pPr>
              <a:spcBef>
                <a:spcPct val="50000"/>
              </a:spcBef>
            </a:pPr>
            <a:r>
              <a:rPr lang="fr-FR" sz="1600" b="1">
                <a:solidFill>
                  <a:srgbClr val="009900"/>
                </a:solidFill>
              </a:rPr>
              <a:t>ACIDE GRAS</a:t>
            </a:r>
            <a:endParaRPr lang="fr-FR"/>
          </a:p>
        </p:txBody>
      </p:sp>
      <p:sp>
        <p:nvSpPr>
          <p:cNvPr id="35847" name="Text Box 48"/>
          <p:cNvSpPr txBox="1">
            <a:spLocks noChangeArrowheads="1"/>
          </p:cNvSpPr>
          <p:nvPr/>
        </p:nvSpPr>
        <p:spPr bwMode="auto">
          <a:xfrm>
            <a:off x="4953000" y="2913063"/>
            <a:ext cx="1536700" cy="346075"/>
          </a:xfrm>
          <a:prstGeom prst="rect">
            <a:avLst/>
          </a:prstGeom>
          <a:solidFill>
            <a:srgbClr val="91F3A1"/>
          </a:solidFill>
          <a:ln w="9525">
            <a:solidFill>
              <a:srgbClr val="009900"/>
            </a:solidFill>
            <a:miter lim="800000"/>
            <a:headEnd/>
            <a:tailEnd/>
          </a:ln>
        </p:spPr>
        <p:txBody>
          <a:bodyPr>
            <a:spAutoFit/>
          </a:bodyPr>
          <a:lstStyle/>
          <a:p>
            <a:pPr>
              <a:spcBef>
                <a:spcPct val="50000"/>
              </a:spcBef>
            </a:pPr>
            <a:r>
              <a:rPr lang="fr-FR" sz="1600" b="1">
                <a:solidFill>
                  <a:srgbClr val="009900"/>
                </a:solidFill>
              </a:rPr>
              <a:t>ACIDE GRAS</a:t>
            </a:r>
            <a:endParaRPr lang="fr-FR"/>
          </a:p>
        </p:txBody>
      </p:sp>
      <p:sp>
        <p:nvSpPr>
          <p:cNvPr id="35848" name="Text Box 49"/>
          <p:cNvSpPr txBox="1">
            <a:spLocks noChangeArrowheads="1"/>
          </p:cNvSpPr>
          <p:nvPr/>
        </p:nvSpPr>
        <p:spPr bwMode="auto">
          <a:xfrm>
            <a:off x="2578100" y="3673475"/>
            <a:ext cx="1300163" cy="314325"/>
          </a:xfrm>
          <a:prstGeom prst="rect">
            <a:avLst/>
          </a:prstGeom>
          <a:solidFill>
            <a:srgbClr val="FFCDCD"/>
          </a:solidFill>
          <a:ln w="9525">
            <a:solidFill>
              <a:srgbClr val="FF0000"/>
            </a:solidFill>
            <a:miter lim="800000"/>
            <a:headEnd/>
            <a:tailEnd/>
          </a:ln>
        </p:spPr>
        <p:txBody>
          <a:bodyPr wrap="none">
            <a:spAutoFit/>
          </a:bodyPr>
          <a:lstStyle/>
          <a:p>
            <a:r>
              <a:rPr lang="fr-FR" sz="1400" b="1">
                <a:solidFill>
                  <a:srgbClr val="FF0000"/>
                </a:solidFill>
              </a:rPr>
              <a:t>PHOSPHATE</a:t>
            </a:r>
            <a:endParaRPr lang="fr-FR">
              <a:solidFill>
                <a:srgbClr val="FF0000"/>
              </a:solidFill>
            </a:endParaRPr>
          </a:p>
        </p:txBody>
      </p:sp>
      <p:sp>
        <p:nvSpPr>
          <p:cNvPr id="35849" name="Text Box 50"/>
          <p:cNvSpPr txBox="1">
            <a:spLocks noChangeArrowheads="1"/>
          </p:cNvSpPr>
          <p:nvPr/>
        </p:nvSpPr>
        <p:spPr bwMode="auto">
          <a:xfrm>
            <a:off x="1270000" y="3673475"/>
            <a:ext cx="944563" cy="314325"/>
          </a:xfrm>
          <a:prstGeom prst="rect">
            <a:avLst/>
          </a:prstGeom>
          <a:solidFill>
            <a:srgbClr val="66CCFF"/>
          </a:solidFill>
          <a:ln w="9525">
            <a:solidFill>
              <a:srgbClr val="0000FF"/>
            </a:solidFill>
            <a:miter lim="800000"/>
            <a:headEnd/>
            <a:tailEnd/>
          </a:ln>
        </p:spPr>
        <p:txBody>
          <a:bodyPr wrap="none">
            <a:spAutoFit/>
          </a:bodyPr>
          <a:lstStyle/>
          <a:p>
            <a:r>
              <a:rPr lang="fr-FR" sz="1400" b="1">
                <a:solidFill>
                  <a:srgbClr val="0000FF"/>
                </a:solidFill>
              </a:rPr>
              <a:t>ALCOOL</a:t>
            </a:r>
            <a:endParaRPr lang="fr-FR"/>
          </a:p>
        </p:txBody>
      </p:sp>
      <p:sp>
        <p:nvSpPr>
          <p:cNvPr id="35850" name="Line 51"/>
          <p:cNvSpPr>
            <a:spLocks noChangeShapeType="1"/>
          </p:cNvSpPr>
          <p:nvPr/>
        </p:nvSpPr>
        <p:spPr bwMode="auto">
          <a:xfrm>
            <a:off x="2222500" y="3835400"/>
            <a:ext cx="342900" cy="0"/>
          </a:xfrm>
          <a:prstGeom prst="line">
            <a:avLst/>
          </a:prstGeom>
          <a:noFill/>
          <a:ln w="28575">
            <a:solidFill>
              <a:srgbClr val="0000FF"/>
            </a:solidFill>
            <a:round/>
            <a:headEnd/>
            <a:tailEnd/>
          </a:ln>
        </p:spPr>
        <p:txBody>
          <a:bodyPr wrap="none" anchor="ctr"/>
          <a:lstStyle/>
          <a:p>
            <a:endParaRPr lang="fr-FR"/>
          </a:p>
        </p:txBody>
      </p:sp>
      <p:sp>
        <p:nvSpPr>
          <p:cNvPr id="35851" name="Line 52"/>
          <p:cNvSpPr>
            <a:spLocks noChangeShapeType="1"/>
          </p:cNvSpPr>
          <p:nvPr/>
        </p:nvSpPr>
        <p:spPr bwMode="auto">
          <a:xfrm>
            <a:off x="3898900" y="3835400"/>
            <a:ext cx="342900" cy="0"/>
          </a:xfrm>
          <a:prstGeom prst="line">
            <a:avLst/>
          </a:prstGeom>
          <a:noFill/>
          <a:ln w="28575">
            <a:solidFill>
              <a:schemeClr val="tx1"/>
            </a:solidFill>
            <a:round/>
            <a:headEnd/>
            <a:tailEnd/>
          </a:ln>
        </p:spPr>
        <p:txBody>
          <a:bodyPr wrap="none" anchor="ctr"/>
          <a:lstStyle/>
          <a:p>
            <a:endParaRPr lang="fr-FR"/>
          </a:p>
        </p:txBody>
      </p:sp>
      <p:sp>
        <p:nvSpPr>
          <p:cNvPr id="35852" name="Line 53"/>
          <p:cNvSpPr>
            <a:spLocks noChangeShapeType="1"/>
          </p:cNvSpPr>
          <p:nvPr/>
        </p:nvSpPr>
        <p:spPr bwMode="auto">
          <a:xfrm>
            <a:off x="4610100" y="3086100"/>
            <a:ext cx="342900" cy="0"/>
          </a:xfrm>
          <a:prstGeom prst="line">
            <a:avLst/>
          </a:prstGeom>
          <a:noFill/>
          <a:ln w="28575">
            <a:solidFill>
              <a:srgbClr val="009900"/>
            </a:solidFill>
            <a:round/>
            <a:headEnd/>
            <a:tailEnd/>
          </a:ln>
        </p:spPr>
        <p:txBody>
          <a:bodyPr wrap="none" anchor="ctr"/>
          <a:lstStyle/>
          <a:p>
            <a:endParaRPr lang="fr-FR"/>
          </a:p>
        </p:txBody>
      </p:sp>
      <p:sp>
        <p:nvSpPr>
          <p:cNvPr id="35853" name="Line 54"/>
          <p:cNvSpPr>
            <a:spLocks noChangeShapeType="1"/>
          </p:cNvSpPr>
          <p:nvPr/>
        </p:nvSpPr>
        <p:spPr bwMode="auto">
          <a:xfrm>
            <a:off x="4584700" y="2374900"/>
            <a:ext cx="342900" cy="0"/>
          </a:xfrm>
          <a:prstGeom prst="line">
            <a:avLst/>
          </a:prstGeom>
          <a:noFill/>
          <a:ln w="28575">
            <a:solidFill>
              <a:srgbClr val="009900"/>
            </a:solidFill>
            <a:round/>
            <a:headEnd/>
            <a:tailEnd/>
          </a:ln>
        </p:spPr>
        <p:txBody>
          <a:bodyPr wrap="none" anchor="ctr"/>
          <a:lstStyle/>
          <a:p>
            <a:endParaRPr lang="fr-F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457200"/>
            <a:ext cx="9144000" cy="762000"/>
          </a:xfrm>
          <a:solidFill>
            <a:schemeClr val="bg1"/>
          </a:solidFill>
        </p:spPr>
        <p:txBody>
          <a:bodyPr/>
          <a:lstStyle/>
          <a:p>
            <a:pPr eaLnBrk="1" hangingPunct="1"/>
            <a:r>
              <a:rPr lang="fr-FR" sz="3600" b="1" smtClean="0">
                <a:latin typeface="Arial" charset="0"/>
              </a:rPr>
              <a:t>… sont constitués d’un glycérol,</a:t>
            </a:r>
            <a:endParaRPr lang="fr-FR" smtClean="0">
              <a:latin typeface="Arial" charset="0"/>
            </a:endParaRPr>
          </a:p>
        </p:txBody>
      </p:sp>
      <p:sp>
        <p:nvSpPr>
          <p:cNvPr id="36867" name="AutoShape 54"/>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6868" name="Text Box 55"/>
          <p:cNvSpPr txBox="1">
            <a:spLocks noChangeArrowheads="1"/>
          </p:cNvSpPr>
          <p:nvPr/>
        </p:nvSpPr>
        <p:spPr bwMode="auto">
          <a:xfrm>
            <a:off x="4000500" y="4610100"/>
            <a:ext cx="796925" cy="304800"/>
          </a:xfrm>
          <a:prstGeom prst="rect">
            <a:avLst/>
          </a:prstGeom>
          <a:noFill/>
          <a:ln w="9525">
            <a:noFill/>
            <a:miter lim="800000"/>
            <a:headEnd/>
            <a:tailEnd/>
          </a:ln>
        </p:spPr>
        <p:txBody>
          <a:bodyPr wrap="none">
            <a:spAutoFit/>
          </a:bodyPr>
          <a:lstStyle/>
          <a:p>
            <a:r>
              <a:rPr lang="fr-FR" sz="1400"/>
              <a:t>glycérol</a:t>
            </a:r>
            <a:endParaRPr lang="fr-FR">
              <a:solidFill>
                <a:srgbClr val="FF0000"/>
              </a:solidFill>
            </a:endParaRPr>
          </a:p>
        </p:txBody>
      </p:sp>
      <p:sp>
        <p:nvSpPr>
          <p:cNvPr id="36869" name="Rectangle 63"/>
          <p:cNvSpPr>
            <a:spLocks noChangeArrowheads="1"/>
          </p:cNvSpPr>
          <p:nvPr/>
        </p:nvSpPr>
        <p:spPr bwMode="auto">
          <a:xfrm>
            <a:off x="3649663" y="2133600"/>
            <a:ext cx="14732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6870" name="Text Box 66"/>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6871" name="Text Box 67"/>
          <p:cNvSpPr txBox="1">
            <a:spLocks noChangeArrowheads="1"/>
          </p:cNvSpPr>
          <p:nvPr/>
        </p:nvSpPr>
        <p:spPr bwMode="auto">
          <a:xfrm>
            <a:off x="4665663" y="2927350"/>
            <a:ext cx="488950" cy="336550"/>
          </a:xfrm>
          <a:prstGeom prst="rect">
            <a:avLst/>
          </a:prstGeom>
          <a:noFill/>
          <a:ln w="9525">
            <a:noFill/>
            <a:miter lim="800000"/>
            <a:headEnd/>
            <a:tailEnd/>
          </a:ln>
        </p:spPr>
        <p:txBody>
          <a:bodyPr wrap="none">
            <a:spAutoFit/>
          </a:bodyPr>
          <a:lstStyle/>
          <a:p>
            <a:r>
              <a:rPr lang="fr-FR" sz="1600" b="1"/>
              <a:t>OH</a:t>
            </a:r>
          </a:p>
        </p:txBody>
      </p:sp>
      <p:sp>
        <p:nvSpPr>
          <p:cNvPr id="36872" name="Text Box 68"/>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6873" name="Text Box 69"/>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6874" name="Text Box 70"/>
          <p:cNvSpPr txBox="1">
            <a:spLocks noChangeArrowheads="1"/>
          </p:cNvSpPr>
          <p:nvPr/>
        </p:nvSpPr>
        <p:spPr bwMode="auto">
          <a:xfrm>
            <a:off x="4646613" y="2301875"/>
            <a:ext cx="488950" cy="336550"/>
          </a:xfrm>
          <a:prstGeom prst="rect">
            <a:avLst/>
          </a:prstGeom>
          <a:noFill/>
          <a:ln w="9525">
            <a:noFill/>
            <a:miter lim="800000"/>
            <a:headEnd/>
            <a:tailEnd/>
          </a:ln>
        </p:spPr>
        <p:txBody>
          <a:bodyPr wrap="none">
            <a:spAutoFit/>
          </a:bodyPr>
          <a:lstStyle/>
          <a:p>
            <a:r>
              <a:rPr lang="fr-FR" sz="1600" b="1"/>
              <a:t>OH</a:t>
            </a:r>
          </a:p>
        </p:txBody>
      </p:sp>
      <p:sp>
        <p:nvSpPr>
          <p:cNvPr id="36875" name="Line 72"/>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6876" name="Line 73"/>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6877" name="Text Box 106"/>
          <p:cNvSpPr txBox="1">
            <a:spLocks noChangeArrowheads="1"/>
          </p:cNvSpPr>
          <p:nvPr/>
        </p:nvSpPr>
        <p:spPr bwMode="auto">
          <a:xfrm>
            <a:off x="3617913" y="3570288"/>
            <a:ext cx="488950" cy="336550"/>
          </a:xfrm>
          <a:prstGeom prst="rect">
            <a:avLst/>
          </a:prstGeom>
          <a:noFill/>
          <a:ln w="9525">
            <a:noFill/>
            <a:miter lim="800000"/>
            <a:headEnd/>
            <a:tailEnd/>
          </a:ln>
        </p:spPr>
        <p:txBody>
          <a:bodyPr wrap="none">
            <a:spAutoFit/>
          </a:bodyPr>
          <a:lstStyle/>
          <a:p>
            <a:r>
              <a:rPr lang="fr-FR" sz="1600" b="1"/>
              <a:t>HO</a:t>
            </a:r>
            <a:endParaRPr lang="fr-FR" sz="1600" b="1">
              <a:solidFill>
                <a:srgbClr val="009900"/>
              </a:solidFill>
            </a:endParaRPr>
          </a:p>
        </p:txBody>
      </p:sp>
      <p:sp>
        <p:nvSpPr>
          <p:cNvPr id="36878" name="Line 114"/>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6879" name="Line 119"/>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36880" name="Line 120"/>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457200"/>
            <a:ext cx="9144000" cy="762000"/>
          </a:xfrm>
          <a:solidFill>
            <a:schemeClr val="bg1"/>
          </a:solidFill>
        </p:spPr>
        <p:txBody>
          <a:bodyPr/>
          <a:lstStyle/>
          <a:p>
            <a:pPr eaLnBrk="1" hangingPunct="1"/>
            <a:r>
              <a:rPr lang="fr-FR" sz="3600" b="1" smtClean="0">
                <a:latin typeface="Arial" charset="0"/>
              </a:rPr>
              <a:t>… de deux acides gras,</a:t>
            </a:r>
            <a:endParaRPr lang="fr-FR" smtClean="0">
              <a:latin typeface="Arial" charset="0"/>
            </a:endParaRPr>
          </a:p>
        </p:txBody>
      </p:sp>
      <p:sp>
        <p:nvSpPr>
          <p:cNvPr id="37891" name="AutoShape 16"/>
          <p:cNvSpPr>
            <a:spLocks/>
          </p:cNvSpPr>
          <p:nvPr/>
        </p:nvSpPr>
        <p:spPr bwMode="auto">
          <a:xfrm rot="16200000" flipV="1">
            <a:off x="6997700" y="2628900"/>
            <a:ext cx="177800" cy="3733800"/>
          </a:xfrm>
          <a:prstGeom prst="leftBrace">
            <a:avLst>
              <a:gd name="adj1" fmla="val 61153"/>
              <a:gd name="adj2" fmla="val 50000"/>
            </a:avLst>
          </a:prstGeom>
          <a:noFill/>
          <a:ln w="9525">
            <a:solidFill>
              <a:srgbClr val="009900"/>
            </a:solidFill>
            <a:round/>
            <a:headEnd/>
            <a:tailEnd/>
          </a:ln>
        </p:spPr>
        <p:txBody>
          <a:bodyPr wrap="none" anchor="ctr"/>
          <a:lstStyle/>
          <a:p>
            <a:endParaRPr lang="fr-FR"/>
          </a:p>
        </p:txBody>
      </p:sp>
      <p:sp>
        <p:nvSpPr>
          <p:cNvPr id="37892" name="AutoShape 17"/>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7893" name="Text Box 18"/>
          <p:cNvSpPr txBox="1">
            <a:spLocks noChangeArrowheads="1"/>
          </p:cNvSpPr>
          <p:nvPr/>
        </p:nvSpPr>
        <p:spPr bwMode="auto">
          <a:xfrm>
            <a:off x="4000500" y="4610100"/>
            <a:ext cx="796925" cy="304800"/>
          </a:xfrm>
          <a:prstGeom prst="rect">
            <a:avLst/>
          </a:prstGeom>
          <a:noFill/>
          <a:ln w="9525">
            <a:noFill/>
            <a:miter lim="800000"/>
            <a:headEnd/>
            <a:tailEnd/>
          </a:ln>
        </p:spPr>
        <p:txBody>
          <a:bodyPr wrap="none">
            <a:spAutoFit/>
          </a:bodyPr>
          <a:lstStyle/>
          <a:p>
            <a:r>
              <a:rPr lang="fr-FR" sz="1400"/>
              <a:t>glycérol</a:t>
            </a:r>
            <a:endParaRPr lang="fr-FR">
              <a:solidFill>
                <a:srgbClr val="FF0000"/>
              </a:solidFill>
            </a:endParaRPr>
          </a:p>
        </p:txBody>
      </p:sp>
      <p:sp>
        <p:nvSpPr>
          <p:cNvPr id="37894" name="Text Box 19"/>
          <p:cNvSpPr txBox="1">
            <a:spLocks noChangeArrowheads="1"/>
          </p:cNvSpPr>
          <p:nvPr/>
        </p:nvSpPr>
        <p:spPr bwMode="auto">
          <a:xfrm>
            <a:off x="6554788" y="4610100"/>
            <a:ext cx="1093787" cy="304800"/>
          </a:xfrm>
          <a:prstGeom prst="rect">
            <a:avLst/>
          </a:prstGeom>
          <a:noFill/>
          <a:ln w="9525">
            <a:noFill/>
            <a:miter lim="800000"/>
            <a:headEnd/>
            <a:tailEnd/>
          </a:ln>
        </p:spPr>
        <p:txBody>
          <a:bodyPr wrap="none">
            <a:spAutoFit/>
          </a:bodyPr>
          <a:lstStyle/>
          <a:p>
            <a:r>
              <a:rPr lang="fr-FR" sz="1400">
                <a:solidFill>
                  <a:srgbClr val="009900"/>
                </a:solidFill>
              </a:rPr>
              <a:t>acides gras</a:t>
            </a:r>
            <a:endParaRPr lang="fr-FR"/>
          </a:p>
        </p:txBody>
      </p:sp>
      <p:sp>
        <p:nvSpPr>
          <p:cNvPr id="37895" name="Rectangle 24"/>
          <p:cNvSpPr>
            <a:spLocks noChangeArrowheads="1"/>
          </p:cNvSpPr>
          <p:nvPr/>
        </p:nvSpPr>
        <p:spPr bwMode="auto">
          <a:xfrm>
            <a:off x="5135563" y="2844800"/>
            <a:ext cx="3835400" cy="9017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7896" name="Rectangle 25"/>
          <p:cNvSpPr>
            <a:spLocks noChangeArrowheads="1"/>
          </p:cNvSpPr>
          <p:nvPr/>
        </p:nvSpPr>
        <p:spPr bwMode="auto">
          <a:xfrm>
            <a:off x="5135563" y="1828800"/>
            <a:ext cx="1981200" cy="8382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7897" name="Rectangle 26"/>
          <p:cNvSpPr>
            <a:spLocks noChangeArrowheads="1"/>
          </p:cNvSpPr>
          <p:nvPr/>
        </p:nvSpPr>
        <p:spPr bwMode="auto">
          <a:xfrm>
            <a:off x="3687763" y="2133600"/>
            <a:ext cx="13716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7898" name="Text Box 29"/>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7899" name="Text Box 30"/>
          <p:cNvSpPr txBox="1">
            <a:spLocks noChangeArrowheads="1"/>
          </p:cNvSpPr>
          <p:nvPr/>
        </p:nvSpPr>
        <p:spPr bwMode="auto">
          <a:xfrm>
            <a:off x="4665663" y="2927350"/>
            <a:ext cx="342900" cy="336550"/>
          </a:xfrm>
          <a:prstGeom prst="rect">
            <a:avLst/>
          </a:prstGeom>
          <a:noFill/>
          <a:ln w="9525">
            <a:noFill/>
            <a:miter lim="800000"/>
            <a:headEnd/>
            <a:tailEnd/>
          </a:ln>
        </p:spPr>
        <p:txBody>
          <a:bodyPr wrap="none">
            <a:spAutoFit/>
          </a:bodyPr>
          <a:lstStyle/>
          <a:p>
            <a:r>
              <a:rPr lang="fr-FR" sz="1600" b="1"/>
              <a:t>O</a:t>
            </a:r>
          </a:p>
        </p:txBody>
      </p:sp>
      <p:sp>
        <p:nvSpPr>
          <p:cNvPr id="37900" name="Text Box 31"/>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7901" name="Text Box 32"/>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7902" name="Text Box 33"/>
          <p:cNvSpPr txBox="1">
            <a:spLocks noChangeArrowheads="1"/>
          </p:cNvSpPr>
          <p:nvPr/>
        </p:nvSpPr>
        <p:spPr bwMode="auto">
          <a:xfrm>
            <a:off x="4646613" y="2301875"/>
            <a:ext cx="342900" cy="336550"/>
          </a:xfrm>
          <a:prstGeom prst="rect">
            <a:avLst/>
          </a:prstGeom>
          <a:noFill/>
          <a:ln w="9525">
            <a:noFill/>
            <a:miter lim="800000"/>
            <a:headEnd/>
            <a:tailEnd/>
          </a:ln>
        </p:spPr>
        <p:txBody>
          <a:bodyPr wrap="none">
            <a:spAutoFit/>
          </a:bodyPr>
          <a:lstStyle/>
          <a:p>
            <a:r>
              <a:rPr lang="fr-FR" sz="1600" b="1"/>
              <a:t>O</a:t>
            </a:r>
          </a:p>
        </p:txBody>
      </p:sp>
      <p:sp>
        <p:nvSpPr>
          <p:cNvPr id="37903" name="Line 35"/>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7904" name="Line 36"/>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7905" name="Text Box 40"/>
          <p:cNvSpPr txBox="1">
            <a:spLocks noChangeArrowheads="1"/>
          </p:cNvSpPr>
          <p:nvPr/>
        </p:nvSpPr>
        <p:spPr bwMode="auto">
          <a:xfrm>
            <a:off x="6583363" y="2289175"/>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7906" name="Text Box 41"/>
          <p:cNvSpPr txBox="1">
            <a:spLocks noChangeArrowheads="1"/>
          </p:cNvSpPr>
          <p:nvPr/>
        </p:nvSpPr>
        <p:spPr bwMode="auto">
          <a:xfrm>
            <a:off x="8399463" y="2927350"/>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7907" name="Text Box 42"/>
          <p:cNvSpPr txBox="1">
            <a:spLocks noChangeArrowheads="1"/>
          </p:cNvSpPr>
          <p:nvPr/>
        </p:nvSpPr>
        <p:spPr bwMode="auto">
          <a:xfrm>
            <a:off x="5630863" y="2289175"/>
            <a:ext cx="8461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14</a:t>
            </a:r>
          </a:p>
        </p:txBody>
      </p:sp>
      <p:sp>
        <p:nvSpPr>
          <p:cNvPr id="37908" name="Text Box 43"/>
          <p:cNvSpPr txBox="1">
            <a:spLocks noChangeArrowheads="1"/>
          </p:cNvSpPr>
          <p:nvPr/>
        </p:nvSpPr>
        <p:spPr bwMode="auto">
          <a:xfrm>
            <a:off x="65071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7909" name="Text Box 44"/>
          <p:cNvSpPr txBox="1">
            <a:spLocks noChangeArrowheads="1"/>
          </p:cNvSpPr>
          <p:nvPr/>
        </p:nvSpPr>
        <p:spPr bwMode="auto">
          <a:xfrm>
            <a:off x="7497763" y="29273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7910" name="Text Box 45"/>
          <p:cNvSpPr txBox="1">
            <a:spLocks noChangeArrowheads="1"/>
          </p:cNvSpPr>
          <p:nvPr/>
        </p:nvSpPr>
        <p:spPr bwMode="auto">
          <a:xfrm>
            <a:off x="5643563" y="29146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7911" name="Text Box 46"/>
          <p:cNvSpPr txBox="1">
            <a:spLocks noChangeArrowheads="1"/>
          </p:cNvSpPr>
          <p:nvPr/>
        </p:nvSpPr>
        <p:spPr bwMode="auto">
          <a:xfrm>
            <a:off x="70405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7912" name="Text Box 51"/>
          <p:cNvSpPr txBox="1">
            <a:spLocks noChangeArrowheads="1"/>
          </p:cNvSpPr>
          <p:nvPr/>
        </p:nvSpPr>
        <p:spPr bwMode="auto">
          <a:xfrm>
            <a:off x="5186363" y="29273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7913" name="Text Box 52"/>
          <p:cNvSpPr txBox="1">
            <a:spLocks noChangeArrowheads="1"/>
          </p:cNvSpPr>
          <p:nvPr/>
        </p:nvSpPr>
        <p:spPr bwMode="auto">
          <a:xfrm>
            <a:off x="5199063" y="34067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7914" name="Line 55"/>
          <p:cNvSpPr>
            <a:spLocks noChangeShapeType="1"/>
          </p:cNvSpPr>
          <p:nvPr/>
        </p:nvSpPr>
        <p:spPr bwMode="auto">
          <a:xfrm>
            <a:off x="4945063" y="3095625"/>
            <a:ext cx="263525" cy="0"/>
          </a:xfrm>
          <a:prstGeom prst="line">
            <a:avLst/>
          </a:prstGeom>
          <a:noFill/>
          <a:ln w="19050">
            <a:solidFill>
              <a:schemeClr val="tx1"/>
            </a:solidFill>
            <a:round/>
            <a:headEnd/>
            <a:tailEnd/>
          </a:ln>
        </p:spPr>
        <p:txBody>
          <a:bodyPr wrap="none" anchor="ctr"/>
          <a:lstStyle/>
          <a:p>
            <a:endParaRPr lang="fr-FR"/>
          </a:p>
        </p:txBody>
      </p:sp>
      <p:grpSp>
        <p:nvGrpSpPr>
          <p:cNvPr id="2" name="Group 56"/>
          <p:cNvGrpSpPr>
            <a:grpSpLocks/>
          </p:cNvGrpSpPr>
          <p:nvPr/>
        </p:nvGrpSpPr>
        <p:grpSpPr bwMode="auto">
          <a:xfrm>
            <a:off x="6786563" y="3063875"/>
            <a:ext cx="263525" cy="63500"/>
            <a:chOff x="4504" y="1928"/>
            <a:chExt cx="166" cy="40"/>
          </a:xfrm>
        </p:grpSpPr>
        <p:sp>
          <p:nvSpPr>
            <p:cNvPr id="37937" name="Line 57"/>
            <p:cNvSpPr>
              <a:spLocks noChangeShapeType="1"/>
            </p:cNvSpPr>
            <p:nvPr/>
          </p:nvSpPr>
          <p:spPr bwMode="auto">
            <a:xfrm>
              <a:off x="4504" y="1928"/>
              <a:ext cx="166" cy="0"/>
            </a:xfrm>
            <a:prstGeom prst="line">
              <a:avLst/>
            </a:prstGeom>
            <a:noFill/>
            <a:ln w="19050">
              <a:solidFill>
                <a:srgbClr val="009900"/>
              </a:solidFill>
              <a:round/>
              <a:headEnd/>
              <a:tailEnd/>
            </a:ln>
          </p:spPr>
          <p:txBody>
            <a:bodyPr wrap="none" anchor="ctr"/>
            <a:lstStyle/>
            <a:p>
              <a:endParaRPr lang="fr-FR"/>
            </a:p>
          </p:txBody>
        </p:sp>
        <p:sp>
          <p:nvSpPr>
            <p:cNvPr id="37938" name="Line 58"/>
            <p:cNvSpPr>
              <a:spLocks noChangeShapeType="1"/>
            </p:cNvSpPr>
            <p:nvPr/>
          </p:nvSpPr>
          <p:spPr bwMode="auto">
            <a:xfrm>
              <a:off x="4504" y="1968"/>
              <a:ext cx="166" cy="0"/>
            </a:xfrm>
            <a:prstGeom prst="line">
              <a:avLst/>
            </a:prstGeom>
            <a:noFill/>
            <a:ln w="19050">
              <a:solidFill>
                <a:srgbClr val="009900"/>
              </a:solidFill>
              <a:round/>
              <a:headEnd/>
              <a:tailEnd/>
            </a:ln>
          </p:spPr>
          <p:txBody>
            <a:bodyPr wrap="none" anchor="ctr"/>
            <a:lstStyle/>
            <a:p>
              <a:endParaRPr lang="fr-FR"/>
            </a:p>
          </p:txBody>
        </p:sp>
      </p:grpSp>
      <p:sp>
        <p:nvSpPr>
          <p:cNvPr id="37916" name="Text Box 59"/>
          <p:cNvSpPr txBox="1">
            <a:spLocks noChangeArrowheads="1"/>
          </p:cNvSpPr>
          <p:nvPr/>
        </p:nvSpPr>
        <p:spPr bwMode="auto">
          <a:xfrm>
            <a:off x="5199063" y="23050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7917" name="Text Box 60"/>
          <p:cNvSpPr txBox="1">
            <a:spLocks noChangeArrowheads="1"/>
          </p:cNvSpPr>
          <p:nvPr/>
        </p:nvSpPr>
        <p:spPr bwMode="auto">
          <a:xfrm>
            <a:off x="5199063" y="17811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7918" name="Line 61"/>
          <p:cNvSpPr>
            <a:spLocks noChangeShapeType="1"/>
          </p:cNvSpPr>
          <p:nvPr/>
        </p:nvSpPr>
        <p:spPr bwMode="auto">
          <a:xfrm>
            <a:off x="4957763" y="2473325"/>
            <a:ext cx="263525" cy="0"/>
          </a:xfrm>
          <a:prstGeom prst="line">
            <a:avLst/>
          </a:prstGeom>
          <a:noFill/>
          <a:ln w="19050">
            <a:solidFill>
              <a:schemeClr val="tx1"/>
            </a:solidFill>
            <a:round/>
            <a:headEnd/>
            <a:tailEnd/>
          </a:ln>
        </p:spPr>
        <p:txBody>
          <a:bodyPr wrap="none" anchor="ctr"/>
          <a:lstStyle/>
          <a:p>
            <a:endParaRPr lang="fr-FR"/>
          </a:p>
        </p:txBody>
      </p:sp>
      <p:grpSp>
        <p:nvGrpSpPr>
          <p:cNvPr id="3" name="Group 62"/>
          <p:cNvGrpSpPr>
            <a:grpSpLocks/>
          </p:cNvGrpSpPr>
          <p:nvPr/>
        </p:nvGrpSpPr>
        <p:grpSpPr bwMode="auto">
          <a:xfrm>
            <a:off x="5326063" y="3219450"/>
            <a:ext cx="74612" cy="234950"/>
            <a:chOff x="3496" y="2156"/>
            <a:chExt cx="40" cy="204"/>
          </a:xfrm>
        </p:grpSpPr>
        <p:sp>
          <p:nvSpPr>
            <p:cNvPr id="37935" name="Line 63"/>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7936" name="Line 64"/>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grpSp>
        <p:nvGrpSpPr>
          <p:cNvPr id="4" name="Group 65"/>
          <p:cNvGrpSpPr>
            <a:grpSpLocks/>
          </p:cNvGrpSpPr>
          <p:nvPr/>
        </p:nvGrpSpPr>
        <p:grpSpPr bwMode="auto">
          <a:xfrm>
            <a:off x="5326063" y="2089150"/>
            <a:ext cx="74612" cy="260350"/>
            <a:chOff x="3496" y="2156"/>
            <a:chExt cx="40" cy="204"/>
          </a:xfrm>
        </p:grpSpPr>
        <p:sp>
          <p:nvSpPr>
            <p:cNvPr id="37933" name="Line 66"/>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7934" name="Line 67"/>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sp>
        <p:nvSpPr>
          <p:cNvPr id="37921" name="Text Box 69"/>
          <p:cNvSpPr txBox="1">
            <a:spLocks noChangeArrowheads="1"/>
          </p:cNvSpPr>
          <p:nvPr/>
        </p:nvSpPr>
        <p:spPr bwMode="auto">
          <a:xfrm>
            <a:off x="3617913" y="3570288"/>
            <a:ext cx="488950" cy="336550"/>
          </a:xfrm>
          <a:prstGeom prst="rect">
            <a:avLst/>
          </a:prstGeom>
          <a:noFill/>
          <a:ln w="9525">
            <a:noFill/>
            <a:miter lim="800000"/>
            <a:headEnd/>
            <a:tailEnd/>
          </a:ln>
        </p:spPr>
        <p:txBody>
          <a:bodyPr wrap="none">
            <a:spAutoFit/>
          </a:bodyPr>
          <a:lstStyle/>
          <a:p>
            <a:r>
              <a:rPr lang="fr-FR" sz="1600" b="1"/>
              <a:t>HO</a:t>
            </a:r>
            <a:endParaRPr lang="fr-FR" sz="1600" b="1">
              <a:solidFill>
                <a:srgbClr val="009900"/>
              </a:solidFill>
            </a:endParaRPr>
          </a:p>
        </p:txBody>
      </p:sp>
      <p:sp>
        <p:nvSpPr>
          <p:cNvPr id="37922" name="Line 70"/>
          <p:cNvSpPr>
            <a:spLocks noChangeShapeType="1"/>
          </p:cNvSpPr>
          <p:nvPr/>
        </p:nvSpPr>
        <p:spPr bwMode="auto">
          <a:xfrm>
            <a:off x="5453063" y="3095625"/>
            <a:ext cx="225425" cy="0"/>
          </a:xfrm>
          <a:prstGeom prst="line">
            <a:avLst/>
          </a:prstGeom>
          <a:noFill/>
          <a:ln w="19050">
            <a:solidFill>
              <a:srgbClr val="009900"/>
            </a:solidFill>
            <a:round/>
            <a:headEnd/>
            <a:tailEnd/>
          </a:ln>
        </p:spPr>
        <p:txBody>
          <a:bodyPr wrap="none" anchor="ctr"/>
          <a:lstStyle/>
          <a:p>
            <a:endParaRPr lang="fr-FR"/>
          </a:p>
        </p:txBody>
      </p:sp>
      <p:sp>
        <p:nvSpPr>
          <p:cNvPr id="37923" name="Line 71"/>
          <p:cNvSpPr>
            <a:spLocks noChangeShapeType="1"/>
          </p:cNvSpPr>
          <p:nvPr/>
        </p:nvSpPr>
        <p:spPr bwMode="auto">
          <a:xfrm>
            <a:off x="6329363" y="3095625"/>
            <a:ext cx="225425" cy="0"/>
          </a:xfrm>
          <a:prstGeom prst="line">
            <a:avLst/>
          </a:prstGeom>
          <a:noFill/>
          <a:ln w="19050">
            <a:solidFill>
              <a:srgbClr val="009900"/>
            </a:solidFill>
            <a:round/>
            <a:headEnd/>
            <a:tailEnd/>
          </a:ln>
        </p:spPr>
        <p:txBody>
          <a:bodyPr wrap="none" anchor="ctr"/>
          <a:lstStyle/>
          <a:p>
            <a:endParaRPr lang="fr-FR"/>
          </a:p>
        </p:txBody>
      </p:sp>
      <p:sp>
        <p:nvSpPr>
          <p:cNvPr id="37924" name="Line 72"/>
          <p:cNvSpPr>
            <a:spLocks noChangeShapeType="1"/>
          </p:cNvSpPr>
          <p:nvPr/>
        </p:nvSpPr>
        <p:spPr bwMode="auto">
          <a:xfrm>
            <a:off x="5453063" y="2473325"/>
            <a:ext cx="225425" cy="0"/>
          </a:xfrm>
          <a:prstGeom prst="line">
            <a:avLst/>
          </a:prstGeom>
          <a:noFill/>
          <a:ln w="19050">
            <a:solidFill>
              <a:srgbClr val="009900"/>
            </a:solidFill>
            <a:round/>
            <a:headEnd/>
            <a:tailEnd/>
          </a:ln>
        </p:spPr>
        <p:txBody>
          <a:bodyPr wrap="none" anchor="ctr"/>
          <a:lstStyle/>
          <a:p>
            <a:endParaRPr lang="fr-FR"/>
          </a:p>
        </p:txBody>
      </p:sp>
      <p:sp>
        <p:nvSpPr>
          <p:cNvPr id="37925" name="Line 73"/>
          <p:cNvSpPr>
            <a:spLocks noChangeShapeType="1"/>
          </p:cNvSpPr>
          <p:nvPr/>
        </p:nvSpPr>
        <p:spPr bwMode="auto">
          <a:xfrm>
            <a:off x="6392863" y="2460625"/>
            <a:ext cx="225425" cy="0"/>
          </a:xfrm>
          <a:prstGeom prst="line">
            <a:avLst/>
          </a:prstGeom>
          <a:noFill/>
          <a:ln w="19050">
            <a:solidFill>
              <a:srgbClr val="009900"/>
            </a:solidFill>
            <a:round/>
            <a:headEnd/>
            <a:tailEnd/>
          </a:ln>
        </p:spPr>
        <p:txBody>
          <a:bodyPr wrap="none" anchor="ctr"/>
          <a:lstStyle/>
          <a:p>
            <a:endParaRPr lang="fr-FR"/>
          </a:p>
        </p:txBody>
      </p:sp>
      <p:sp>
        <p:nvSpPr>
          <p:cNvPr id="37926" name="Line 74"/>
          <p:cNvSpPr>
            <a:spLocks noChangeShapeType="1"/>
          </p:cNvSpPr>
          <p:nvPr/>
        </p:nvSpPr>
        <p:spPr bwMode="auto">
          <a:xfrm>
            <a:off x="7319963" y="3095625"/>
            <a:ext cx="225425" cy="0"/>
          </a:xfrm>
          <a:prstGeom prst="line">
            <a:avLst/>
          </a:prstGeom>
          <a:noFill/>
          <a:ln w="19050">
            <a:solidFill>
              <a:srgbClr val="009900"/>
            </a:solidFill>
            <a:round/>
            <a:headEnd/>
            <a:tailEnd/>
          </a:ln>
        </p:spPr>
        <p:txBody>
          <a:bodyPr wrap="none" anchor="ctr"/>
          <a:lstStyle/>
          <a:p>
            <a:endParaRPr lang="fr-FR"/>
          </a:p>
        </p:txBody>
      </p:sp>
      <p:sp>
        <p:nvSpPr>
          <p:cNvPr id="37927" name="Line 75"/>
          <p:cNvSpPr>
            <a:spLocks noChangeShapeType="1"/>
          </p:cNvSpPr>
          <p:nvPr/>
        </p:nvSpPr>
        <p:spPr bwMode="auto">
          <a:xfrm>
            <a:off x="8196263" y="3082925"/>
            <a:ext cx="225425" cy="0"/>
          </a:xfrm>
          <a:prstGeom prst="line">
            <a:avLst/>
          </a:prstGeom>
          <a:noFill/>
          <a:ln w="19050">
            <a:solidFill>
              <a:srgbClr val="009900"/>
            </a:solidFill>
            <a:round/>
            <a:headEnd/>
            <a:tailEnd/>
          </a:ln>
        </p:spPr>
        <p:txBody>
          <a:bodyPr wrap="none" anchor="ctr"/>
          <a:lstStyle/>
          <a:p>
            <a:endParaRPr lang="fr-FR"/>
          </a:p>
        </p:txBody>
      </p:sp>
      <p:sp>
        <p:nvSpPr>
          <p:cNvPr id="37928" name="Line 77"/>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7929" name="Line 82"/>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37930" name="Line 83"/>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sp>
        <p:nvSpPr>
          <p:cNvPr id="37931" name="Text Box 90"/>
          <p:cNvSpPr txBox="1">
            <a:spLocks noChangeArrowheads="1"/>
          </p:cNvSpPr>
          <p:nvPr/>
        </p:nvSpPr>
        <p:spPr bwMode="auto">
          <a:xfrm>
            <a:off x="7213600" y="1828800"/>
            <a:ext cx="904875" cy="304800"/>
          </a:xfrm>
          <a:prstGeom prst="rect">
            <a:avLst/>
          </a:prstGeom>
          <a:noFill/>
          <a:ln w="9525">
            <a:noFill/>
            <a:miter lim="800000"/>
            <a:headEnd/>
            <a:tailEnd/>
          </a:ln>
        </p:spPr>
        <p:txBody>
          <a:bodyPr wrap="none">
            <a:spAutoFit/>
          </a:bodyPr>
          <a:lstStyle/>
          <a:p>
            <a:r>
              <a:rPr lang="fr-FR" sz="1400">
                <a:solidFill>
                  <a:srgbClr val="009900"/>
                </a:solidFill>
              </a:rPr>
              <a:t>palmitate</a:t>
            </a:r>
            <a:endParaRPr lang="fr-FR">
              <a:solidFill>
                <a:srgbClr val="009900"/>
              </a:solidFill>
            </a:endParaRPr>
          </a:p>
        </p:txBody>
      </p:sp>
      <p:sp>
        <p:nvSpPr>
          <p:cNvPr id="37932" name="Text Box 91"/>
          <p:cNvSpPr txBox="1">
            <a:spLocks noChangeArrowheads="1"/>
          </p:cNvSpPr>
          <p:nvPr/>
        </p:nvSpPr>
        <p:spPr bwMode="auto">
          <a:xfrm>
            <a:off x="7302500" y="3759200"/>
            <a:ext cx="668338" cy="304800"/>
          </a:xfrm>
          <a:prstGeom prst="rect">
            <a:avLst/>
          </a:prstGeom>
          <a:noFill/>
          <a:ln w="9525">
            <a:noFill/>
            <a:miter lim="800000"/>
            <a:headEnd/>
            <a:tailEnd/>
          </a:ln>
        </p:spPr>
        <p:txBody>
          <a:bodyPr wrap="none">
            <a:spAutoFit/>
          </a:bodyPr>
          <a:lstStyle/>
          <a:p>
            <a:r>
              <a:rPr lang="fr-FR" sz="1400">
                <a:solidFill>
                  <a:srgbClr val="009900"/>
                </a:solidFill>
              </a:rPr>
              <a:t>oleate</a:t>
            </a:r>
            <a:endParaRPr lang="fr-FR">
              <a:solidFill>
                <a:srgbClr val="0099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0" y="457200"/>
            <a:ext cx="9144000" cy="762000"/>
          </a:xfrm>
          <a:solidFill>
            <a:schemeClr val="bg1"/>
          </a:solidFill>
        </p:spPr>
        <p:txBody>
          <a:bodyPr/>
          <a:lstStyle/>
          <a:p>
            <a:pPr eaLnBrk="1" hangingPunct="1"/>
            <a:r>
              <a:rPr lang="fr-FR" sz="3600" b="1" smtClean="0">
                <a:latin typeface="Arial" charset="0"/>
              </a:rPr>
              <a:t>… d’un phosphate</a:t>
            </a:r>
            <a:endParaRPr lang="fr-FR" smtClean="0">
              <a:latin typeface="Arial" charset="0"/>
            </a:endParaRPr>
          </a:p>
        </p:txBody>
      </p:sp>
      <p:sp>
        <p:nvSpPr>
          <p:cNvPr id="38915" name="AutoShape 27"/>
          <p:cNvSpPr>
            <a:spLocks/>
          </p:cNvSpPr>
          <p:nvPr/>
        </p:nvSpPr>
        <p:spPr bwMode="auto">
          <a:xfrm rot="16200000" flipV="1">
            <a:off x="6997700" y="2628900"/>
            <a:ext cx="177800" cy="3733800"/>
          </a:xfrm>
          <a:prstGeom prst="leftBrace">
            <a:avLst>
              <a:gd name="adj1" fmla="val 61153"/>
              <a:gd name="adj2" fmla="val 50000"/>
            </a:avLst>
          </a:prstGeom>
          <a:noFill/>
          <a:ln w="9525">
            <a:solidFill>
              <a:srgbClr val="009900"/>
            </a:solidFill>
            <a:round/>
            <a:headEnd/>
            <a:tailEnd/>
          </a:ln>
        </p:spPr>
        <p:txBody>
          <a:bodyPr wrap="none" anchor="ctr"/>
          <a:lstStyle/>
          <a:p>
            <a:endParaRPr lang="fr-FR"/>
          </a:p>
        </p:txBody>
      </p:sp>
      <p:sp>
        <p:nvSpPr>
          <p:cNvPr id="38916" name="AutoShape 28"/>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8917" name="Text Box 29"/>
          <p:cNvSpPr txBox="1">
            <a:spLocks noChangeArrowheads="1"/>
          </p:cNvSpPr>
          <p:nvPr/>
        </p:nvSpPr>
        <p:spPr bwMode="auto">
          <a:xfrm>
            <a:off x="4000500" y="4610100"/>
            <a:ext cx="796925" cy="304800"/>
          </a:xfrm>
          <a:prstGeom prst="rect">
            <a:avLst/>
          </a:prstGeom>
          <a:noFill/>
          <a:ln w="9525">
            <a:noFill/>
            <a:miter lim="800000"/>
            <a:headEnd/>
            <a:tailEnd/>
          </a:ln>
        </p:spPr>
        <p:txBody>
          <a:bodyPr wrap="none">
            <a:spAutoFit/>
          </a:bodyPr>
          <a:lstStyle/>
          <a:p>
            <a:r>
              <a:rPr lang="fr-FR" sz="1400"/>
              <a:t>glycérol</a:t>
            </a:r>
            <a:endParaRPr lang="fr-FR">
              <a:solidFill>
                <a:srgbClr val="FF0000"/>
              </a:solidFill>
            </a:endParaRPr>
          </a:p>
        </p:txBody>
      </p:sp>
      <p:sp>
        <p:nvSpPr>
          <p:cNvPr id="38918" name="Text Box 30"/>
          <p:cNvSpPr txBox="1">
            <a:spLocks noChangeArrowheads="1"/>
          </p:cNvSpPr>
          <p:nvPr/>
        </p:nvSpPr>
        <p:spPr bwMode="auto">
          <a:xfrm>
            <a:off x="6554788" y="4610100"/>
            <a:ext cx="1093787" cy="304800"/>
          </a:xfrm>
          <a:prstGeom prst="rect">
            <a:avLst/>
          </a:prstGeom>
          <a:noFill/>
          <a:ln w="9525">
            <a:noFill/>
            <a:miter lim="800000"/>
            <a:headEnd/>
            <a:tailEnd/>
          </a:ln>
        </p:spPr>
        <p:txBody>
          <a:bodyPr wrap="none">
            <a:spAutoFit/>
          </a:bodyPr>
          <a:lstStyle/>
          <a:p>
            <a:r>
              <a:rPr lang="fr-FR" sz="1400">
                <a:solidFill>
                  <a:srgbClr val="009900"/>
                </a:solidFill>
              </a:rPr>
              <a:t>acides gras</a:t>
            </a:r>
            <a:endParaRPr lang="fr-FR"/>
          </a:p>
        </p:txBody>
      </p:sp>
      <p:sp>
        <p:nvSpPr>
          <p:cNvPr id="38919" name="AutoShape 32"/>
          <p:cNvSpPr>
            <a:spLocks/>
          </p:cNvSpPr>
          <p:nvPr/>
        </p:nvSpPr>
        <p:spPr bwMode="auto">
          <a:xfrm rot="16200000" flipV="1">
            <a:off x="3035300" y="4038600"/>
            <a:ext cx="228600" cy="965200"/>
          </a:xfrm>
          <a:prstGeom prst="leftBrace">
            <a:avLst>
              <a:gd name="adj1" fmla="val 51019"/>
              <a:gd name="adj2" fmla="val 50000"/>
            </a:avLst>
          </a:prstGeom>
          <a:noFill/>
          <a:ln w="9525">
            <a:solidFill>
              <a:srgbClr val="FF0000"/>
            </a:solidFill>
            <a:round/>
            <a:headEnd/>
            <a:tailEnd/>
          </a:ln>
        </p:spPr>
        <p:txBody>
          <a:bodyPr wrap="none" anchor="ctr"/>
          <a:lstStyle/>
          <a:p>
            <a:endParaRPr lang="fr-FR"/>
          </a:p>
        </p:txBody>
      </p:sp>
      <p:sp>
        <p:nvSpPr>
          <p:cNvPr id="38920" name="Text Box 33"/>
          <p:cNvSpPr txBox="1">
            <a:spLocks noChangeArrowheads="1"/>
          </p:cNvSpPr>
          <p:nvPr/>
        </p:nvSpPr>
        <p:spPr bwMode="auto">
          <a:xfrm>
            <a:off x="2667000" y="4610100"/>
            <a:ext cx="1014413" cy="304800"/>
          </a:xfrm>
          <a:prstGeom prst="rect">
            <a:avLst/>
          </a:prstGeom>
          <a:noFill/>
          <a:ln w="9525">
            <a:noFill/>
            <a:miter lim="800000"/>
            <a:headEnd/>
            <a:tailEnd/>
          </a:ln>
        </p:spPr>
        <p:txBody>
          <a:bodyPr wrap="none">
            <a:spAutoFit/>
          </a:bodyPr>
          <a:lstStyle/>
          <a:p>
            <a:r>
              <a:rPr lang="fr-FR" sz="1400">
                <a:solidFill>
                  <a:srgbClr val="FF0000"/>
                </a:solidFill>
              </a:rPr>
              <a:t>phosphate</a:t>
            </a:r>
            <a:endParaRPr lang="fr-FR">
              <a:solidFill>
                <a:srgbClr val="FF0000"/>
              </a:solidFill>
            </a:endParaRPr>
          </a:p>
        </p:txBody>
      </p:sp>
      <p:sp>
        <p:nvSpPr>
          <p:cNvPr id="38921" name="Rectangle 35"/>
          <p:cNvSpPr>
            <a:spLocks noChangeArrowheads="1"/>
          </p:cNvSpPr>
          <p:nvPr/>
        </p:nvSpPr>
        <p:spPr bwMode="auto">
          <a:xfrm>
            <a:off x="5135563" y="2844800"/>
            <a:ext cx="3835400" cy="9017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8922" name="Rectangle 36"/>
          <p:cNvSpPr>
            <a:spLocks noChangeArrowheads="1"/>
          </p:cNvSpPr>
          <p:nvPr/>
        </p:nvSpPr>
        <p:spPr bwMode="auto">
          <a:xfrm>
            <a:off x="5135563" y="1828800"/>
            <a:ext cx="1981200" cy="8382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8923" name="Rectangle 37"/>
          <p:cNvSpPr>
            <a:spLocks noChangeArrowheads="1"/>
          </p:cNvSpPr>
          <p:nvPr/>
        </p:nvSpPr>
        <p:spPr bwMode="auto">
          <a:xfrm>
            <a:off x="3713163" y="2133600"/>
            <a:ext cx="13462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8924" name="Rectangle 39"/>
          <p:cNvSpPr>
            <a:spLocks noChangeArrowheads="1"/>
          </p:cNvSpPr>
          <p:nvPr/>
        </p:nvSpPr>
        <p:spPr bwMode="auto">
          <a:xfrm>
            <a:off x="2659063" y="3187700"/>
            <a:ext cx="965200" cy="1104900"/>
          </a:xfrm>
          <a:prstGeom prst="rect">
            <a:avLst/>
          </a:prstGeom>
          <a:solidFill>
            <a:schemeClr val="bg1"/>
          </a:solidFill>
          <a:ln w="9525">
            <a:solidFill>
              <a:srgbClr val="FF0000"/>
            </a:solidFill>
            <a:miter lim="800000"/>
            <a:headEnd/>
            <a:tailEnd/>
          </a:ln>
        </p:spPr>
        <p:txBody>
          <a:bodyPr wrap="none" anchor="ctr"/>
          <a:lstStyle/>
          <a:p>
            <a:endParaRPr lang="fr-FR"/>
          </a:p>
        </p:txBody>
      </p:sp>
      <p:sp>
        <p:nvSpPr>
          <p:cNvPr id="38925" name="Text Box 40"/>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8926" name="Text Box 41"/>
          <p:cNvSpPr txBox="1">
            <a:spLocks noChangeArrowheads="1"/>
          </p:cNvSpPr>
          <p:nvPr/>
        </p:nvSpPr>
        <p:spPr bwMode="auto">
          <a:xfrm>
            <a:off x="4665663" y="2927350"/>
            <a:ext cx="342900" cy="336550"/>
          </a:xfrm>
          <a:prstGeom prst="rect">
            <a:avLst/>
          </a:prstGeom>
          <a:noFill/>
          <a:ln w="9525">
            <a:noFill/>
            <a:miter lim="800000"/>
            <a:headEnd/>
            <a:tailEnd/>
          </a:ln>
        </p:spPr>
        <p:txBody>
          <a:bodyPr wrap="none">
            <a:spAutoFit/>
          </a:bodyPr>
          <a:lstStyle/>
          <a:p>
            <a:r>
              <a:rPr lang="fr-FR" sz="1600" b="1"/>
              <a:t>O</a:t>
            </a:r>
          </a:p>
        </p:txBody>
      </p:sp>
      <p:sp>
        <p:nvSpPr>
          <p:cNvPr id="38927" name="Text Box 42"/>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8928" name="Text Box 43"/>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8929" name="Text Box 44"/>
          <p:cNvSpPr txBox="1">
            <a:spLocks noChangeArrowheads="1"/>
          </p:cNvSpPr>
          <p:nvPr/>
        </p:nvSpPr>
        <p:spPr bwMode="auto">
          <a:xfrm>
            <a:off x="4646613" y="2301875"/>
            <a:ext cx="342900" cy="336550"/>
          </a:xfrm>
          <a:prstGeom prst="rect">
            <a:avLst/>
          </a:prstGeom>
          <a:noFill/>
          <a:ln w="9525">
            <a:noFill/>
            <a:miter lim="800000"/>
            <a:headEnd/>
            <a:tailEnd/>
          </a:ln>
        </p:spPr>
        <p:txBody>
          <a:bodyPr wrap="none">
            <a:spAutoFit/>
          </a:bodyPr>
          <a:lstStyle/>
          <a:p>
            <a:r>
              <a:rPr lang="fr-FR" sz="1600" b="1"/>
              <a:t>O</a:t>
            </a:r>
          </a:p>
        </p:txBody>
      </p:sp>
      <p:sp>
        <p:nvSpPr>
          <p:cNvPr id="38930" name="Text Box 45"/>
          <p:cNvSpPr txBox="1">
            <a:spLocks noChangeArrowheads="1"/>
          </p:cNvSpPr>
          <p:nvPr/>
        </p:nvSpPr>
        <p:spPr bwMode="auto">
          <a:xfrm>
            <a:off x="3211513" y="4013200"/>
            <a:ext cx="388937" cy="336550"/>
          </a:xfrm>
          <a:prstGeom prst="rect">
            <a:avLst/>
          </a:prstGeom>
          <a:noFill/>
          <a:ln w="9525">
            <a:noFill/>
            <a:miter lim="800000"/>
            <a:headEnd/>
            <a:tailEnd/>
          </a:ln>
        </p:spPr>
        <p:txBody>
          <a:bodyPr wrap="none">
            <a:spAutoFit/>
          </a:bodyPr>
          <a:lstStyle/>
          <a:p>
            <a:r>
              <a:rPr lang="fr-FR" sz="1600" b="1">
                <a:solidFill>
                  <a:srgbClr val="FF0000"/>
                </a:solidFill>
              </a:rPr>
              <a:t>O</a:t>
            </a:r>
            <a:r>
              <a:rPr lang="fr-FR" sz="1600" b="1" baseline="30000">
                <a:solidFill>
                  <a:srgbClr val="FF0000"/>
                </a:solidFill>
              </a:rPr>
              <a:t>-</a:t>
            </a:r>
            <a:endParaRPr lang="fr-FR" sz="1600" b="1">
              <a:solidFill>
                <a:srgbClr val="009900"/>
              </a:solidFill>
            </a:endParaRPr>
          </a:p>
        </p:txBody>
      </p:sp>
      <p:sp>
        <p:nvSpPr>
          <p:cNvPr id="38931" name="Line 46"/>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8932" name="Line 47"/>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8933" name="Text Box 51"/>
          <p:cNvSpPr txBox="1">
            <a:spLocks noChangeArrowheads="1"/>
          </p:cNvSpPr>
          <p:nvPr/>
        </p:nvSpPr>
        <p:spPr bwMode="auto">
          <a:xfrm>
            <a:off x="6583363" y="2289175"/>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8934" name="Text Box 52"/>
          <p:cNvSpPr txBox="1">
            <a:spLocks noChangeArrowheads="1"/>
          </p:cNvSpPr>
          <p:nvPr/>
        </p:nvSpPr>
        <p:spPr bwMode="auto">
          <a:xfrm>
            <a:off x="8399463" y="2927350"/>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8935" name="Text Box 53"/>
          <p:cNvSpPr txBox="1">
            <a:spLocks noChangeArrowheads="1"/>
          </p:cNvSpPr>
          <p:nvPr/>
        </p:nvSpPr>
        <p:spPr bwMode="auto">
          <a:xfrm>
            <a:off x="5630863" y="2289175"/>
            <a:ext cx="8461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14</a:t>
            </a:r>
          </a:p>
        </p:txBody>
      </p:sp>
      <p:sp>
        <p:nvSpPr>
          <p:cNvPr id="38936" name="Text Box 54"/>
          <p:cNvSpPr txBox="1">
            <a:spLocks noChangeArrowheads="1"/>
          </p:cNvSpPr>
          <p:nvPr/>
        </p:nvSpPr>
        <p:spPr bwMode="auto">
          <a:xfrm>
            <a:off x="65071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8937" name="Text Box 55"/>
          <p:cNvSpPr txBox="1">
            <a:spLocks noChangeArrowheads="1"/>
          </p:cNvSpPr>
          <p:nvPr/>
        </p:nvSpPr>
        <p:spPr bwMode="auto">
          <a:xfrm>
            <a:off x="7497763" y="29273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8938" name="Text Box 56"/>
          <p:cNvSpPr txBox="1">
            <a:spLocks noChangeArrowheads="1"/>
          </p:cNvSpPr>
          <p:nvPr/>
        </p:nvSpPr>
        <p:spPr bwMode="auto">
          <a:xfrm>
            <a:off x="5643563" y="29146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8939" name="Text Box 57"/>
          <p:cNvSpPr txBox="1">
            <a:spLocks noChangeArrowheads="1"/>
          </p:cNvSpPr>
          <p:nvPr/>
        </p:nvSpPr>
        <p:spPr bwMode="auto">
          <a:xfrm>
            <a:off x="70405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8940" name="Text Box 58"/>
          <p:cNvSpPr txBox="1">
            <a:spLocks noChangeArrowheads="1"/>
          </p:cNvSpPr>
          <p:nvPr/>
        </p:nvSpPr>
        <p:spPr bwMode="auto">
          <a:xfrm>
            <a:off x="3211513" y="3149600"/>
            <a:ext cx="342900" cy="336550"/>
          </a:xfrm>
          <a:prstGeom prst="rect">
            <a:avLst/>
          </a:prstGeom>
          <a:noFill/>
          <a:ln w="9525">
            <a:noFill/>
            <a:miter lim="800000"/>
            <a:headEnd/>
            <a:tailEnd/>
          </a:ln>
        </p:spPr>
        <p:txBody>
          <a:bodyPr wrap="none">
            <a:spAutoFit/>
          </a:bodyPr>
          <a:lstStyle/>
          <a:p>
            <a:r>
              <a:rPr lang="fr-FR" sz="1600" b="1">
                <a:solidFill>
                  <a:srgbClr val="FF0000"/>
                </a:solidFill>
              </a:rPr>
              <a:t>O</a:t>
            </a:r>
            <a:endParaRPr lang="fr-FR" sz="1600" b="1">
              <a:solidFill>
                <a:srgbClr val="009900"/>
              </a:solidFill>
            </a:endParaRPr>
          </a:p>
        </p:txBody>
      </p:sp>
      <p:sp>
        <p:nvSpPr>
          <p:cNvPr id="38941" name="Text Box 59"/>
          <p:cNvSpPr txBox="1">
            <a:spLocks noChangeArrowheads="1"/>
          </p:cNvSpPr>
          <p:nvPr/>
        </p:nvSpPr>
        <p:spPr bwMode="auto">
          <a:xfrm>
            <a:off x="2601913" y="3570288"/>
            <a:ext cx="488950" cy="336550"/>
          </a:xfrm>
          <a:prstGeom prst="rect">
            <a:avLst/>
          </a:prstGeom>
          <a:noFill/>
          <a:ln w="9525">
            <a:noFill/>
            <a:miter lim="800000"/>
            <a:headEnd/>
            <a:tailEnd/>
          </a:ln>
        </p:spPr>
        <p:txBody>
          <a:bodyPr wrap="none">
            <a:spAutoFit/>
          </a:bodyPr>
          <a:lstStyle/>
          <a:p>
            <a:r>
              <a:rPr lang="fr-FR" sz="1600" b="1">
                <a:solidFill>
                  <a:srgbClr val="FF0000"/>
                </a:solidFill>
              </a:rPr>
              <a:t>HO</a:t>
            </a:r>
            <a:endParaRPr lang="fr-FR" sz="1600" b="1">
              <a:solidFill>
                <a:srgbClr val="009900"/>
              </a:solidFill>
            </a:endParaRPr>
          </a:p>
        </p:txBody>
      </p:sp>
      <p:sp>
        <p:nvSpPr>
          <p:cNvPr id="38942" name="Text Box 60"/>
          <p:cNvSpPr txBox="1">
            <a:spLocks noChangeArrowheads="1"/>
          </p:cNvSpPr>
          <p:nvPr/>
        </p:nvSpPr>
        <p:spPr bwMode="auto">
          <a:xfrm>
            <a:off x="3224213" y="3570288"/>
            <a:ext cx="319087" cy="336550"/>
          </a:xfrm>
          <a:prstGeom prst="rect">
            <a:avLst/>
          </a:prstGeom>
          <a:noFill/>
          <a:ln w="9525">
            <a:noFill/>
            <a:miter lim="800000"/>
            <a:headEnd/>
            <a:tailEnd/>
          </a:ln>
        </p:spPr>
        <p:txBody>
          <a:bodyPr wrap="none">
            <a:spAutoFit/>
          </a:bodyPr>
          <a:lstStyle/>
          <a:p>
            <a:r>
              <a:rPr lang="fr-FR" sz="1600" b="1">
                <a:solidFill>
                  <a:srgbClr val="FF0000"/>
                </a:solidFill>
              </a:rPr>
              <a:t>P</a:t>
            </a:r>
            <a:endParaRPr lang="fr-FR" sz="1600" b="1">
              <a:solidFill>
                <a:srgbClr val="009900"/>
              </a:solidFill>
            </a:endParaRPr>
          </a:p>
        </p:txBody>
      </p:sp>
      <p:sp>
        <p:nvSpPr>
          <p:cNvPr id="38943" name="Text Box 62"/>
          <p:cNvSpPr txBox="1">
            <a:spLocks noChangeArrowheads="1"/>
          </p:cNvSpPr>
          <p:nvPr/>
        </p:nvSpPr>
        <p:spPr bwMode="auto">
          <a:xfrm>
            <a:off x="5186363" y="29273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8944" name="Text Box 63"/>
          <p:cNvSpPr txBox="1">
            <a:spLocks noChangeArrowheads="1"/>
          </p:cNvSpPr>
          <p:nvPr/>
        </p:nvSpPr>
        <p:spPr bwMode="auto">
          <a:xfrm>
            <a:off x="5199063" y="34067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8945" name="Line 66"/>
          <p:cNvSpPr>
            <a:spLocks noChangeShapeType="1"/>
          </p:cNvSpPr>
          <p:nvPr/>
        </p:nvSpPr>
        <p:spPr bwMode="auto">
          <a:xfrm>
            <a:off x="4945063" y="3095625"/>
            <a:ext cx="263525" cy="0"/>
          </a:xfrm>
          <a:prstGeom prst="line">
            <a:avLst/>
          </a:prstGeom>
          <a:noFill/>
          <a:ln w="19050">
            <a:solidFill>
              <a:schemeClr val="tx1"/>
            </a:solidFill>
            <a:round/>
            <a:headEnd/>
            <a:tailEnd/>
          </a:ln>
        </p:spPr>
        <p:txBody>
          <a:bodyPr wrap="none" anchor="ctr"/>
          <a:lstStyle/>
          <a:p>
            <a:endParaRPr lang="fr-FR"/>
          </a:p>
        </p:txBody>
      </p:sp>
      <p:grpSp>
        <p:nvGrpSpPr>
          <p:cNvPr id="2" name="Group 67"/>
          <p:cNvGrpSpPr>
            <a:grpSpLocks/>
          </p:cNvGrpSpPr>
          <p:nvPr/>
        </p:nvGrpSpPr>
        <p:grpSpPr bwMode="auto">
          <a:xfrm>
            <a:off x="6786563" y="3063875"/>
            <a:ext cx="263525" cy="63500"/>
            <a:chOff x="4504" y="1928"/>
            <a:chExt cx="166" cy="40"/>
          </a:xfrm>
        </p:grpSpPr>
        <p:sp>
          <p:nvSpPr>
            <p:cNvPr id="38974" name="Line 68"/>
            <p:cNvSpPr>
              <a:spLocks noChangeShapeType="1"/>
            </p:cNvSpPr>
            <p:nvPr/>
          </p:nvSpPr>
          <p:spPr bwMode="auto">
            <a:xfrm>
              <a:off x="4504" y="1928"/>
              <a:ext cx="166" cy="0"/>
            </a:xfrm>
            <a:prstGeom prst="line">
              <a:avLst/>
            </a:prstGeom>
            <a:noFill/>
            <a:ln w="19050">
              <a:solidFill>
                <a:srgbClr val="009900"/>
              </a:solidFill>
              <a:round/>
              <a:headEnd/>
              <a:tailEnd/>
            </a:ln>
          </p:spPr>
          <p:txBody>
            <a:bodyPr wrap="none" anchor="ctr"/>
            <a:lstStyle/>
            <a:p>
              <a:endParaRPr lang="fr-FR"/>
            </a:p>
          </p:txBody>
        </p:sp>
        <p:sp>
          <p:nvSpPr>
            <p:cNvPr id="38975" name="Line 69"/>
            <p:cNvSpPr>
              <a:spLocks noChangeShapeType="1"/>
            </p:cNvSpPr>
            <p:nvPr/>
          </p:nvSpPr>
          <p:spPr bwMode="auto">
            <a:xfrm>
              <a:off x="4504" y="1968"/>
              <a:ext cx="166" cy="0"/>
            </a:xfrm>
            <a:prstGeom prst="line">
              <a:avLst/>
            </a:prstGeom>
            <a:noFill/>
            <a:ln w="19050">
              <a:solidFill>
                <a:srgbClr val="009900"/>
              </a:solidFill>
              <a:round/>
              <a:headEnd/>
              <a:tailEnd/>
            </a:ln>
          </p:spPr>
          <p:txBody>
            <a:bodyPr wrap="none" anchor="ctr"/>
            <a:lstStyle/>
            <a:p>
              <a:endParaRPr lang="fr-FR"/>
            </a:p>
          </p:txBody>
        </p:sp>
      </p:grpSp>
      <p:sp>
        <p:nvSpPr>
          <p:cNvPr id="38947" name="Text Box 70"/>
          <p:cNvSpPr txBox="1">
            <a:spLocks noChangeArrowheads="1"/>
          </p:cNvSpPr>
          <p:nvPr/>
        </p:nvSpPr>
        <p:spPr bwMode="auto">
          <a:xfrm>
            <a:off x="5199063" y="23050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8948" name="Text Box 71"/>
          <p:cNvSpPr txBox="1">
            <a:spLocks noChangeArrowheads="1"/>
          </p:cNvSpPr>
          <p:nvPr/>
        </p:nvSpPr>
        <p:spPr bwMode="auto">
          <a:xfrm>
            <a:off x="5199063" y="17811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8949" name="Line 72"/>
          <p:cNvSpPr>
            <a:spLocks noChangeShapeType="1"/>
          </p:cNvSpPr>
          <p:nvPr/>
        </p:nvSpPr>
        <p:spPr bwMode="auto">
          <a:xfrm>
            <a:off x="4957763" y="2473325"/>
            <a:ext cx="263525" cy="0"/>
          </a:xfrm>
          <a:prstGeom prst="line">
            <a:avLst/>
          </a:prstGeom>
          <a:noFill/>
          <a:ln w="19050">
            <a:solidFill>
              <a:schemeClr val="tx1"/>
            </a:solidFill>
            <a:round/>
            <a:headEnd/>
            <a:tailEnd/>
          </a:ln>
        </p:spPr>
        <p:txBody>
          <a:bodyPr wrap="none" anchor="ctr"/>
          <a:lstStyle/>
          <a:p>
            <a:endParaRPr lang="fr-FR"/>
          </a:p>
        </p:txBody>
      </p:sp>
      <p:grpSp>
        <p:nvGrpSpPr>
          <p:cNvPr id="3" name="Group 73"/>
          <p:cNvGrpSpPr>
            <a:grpSpLocks/>
          </p:cNvGrpSpPr>
          <p:nvPr/>
        </p:nvGrpSpPr>
        <p:grpSpPr bwMode="auto">
          <a:xfrm>
            <a:off x="5326063" y="3219450"/>
            <a:ext cx="74612" cy="234950"/>
            <a:chOff x="3496" y="2156"/>
            <a:chExt cx="40" cy="204"/>
          </a:xfrm>
        </p:grpSpPr>
        <p:sp>
          <p:nvSpPr>
            <p:cNvPr id="38972" name="Line 74"/>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8973" name="Line 75"/>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grpSp>
        <p:nvGrpSpPr>
          <p:cNvPr id="4" name="Group 76"/>
          <p:cNvGrpSpPr>
            <a:grpSpLocks/>
          </p:cNvGrpSpPr>
          <p:nvPr/>
        </p:nvGrpSpPr>
        <p:grpSpPr bwMode="auto">
          <a:xfrm>
            <a:off x="5326063" y="2089150"/>
            <a:ext cx="74612" cy="260350"/>
            <a:chOff x="3496" y="2156"/>
            <a:chExt cx="40" cy="204"/>
          </a:xfrm>
        </p:grpSpPr>
        <p:sp>
          <p:nvSpPr>
            <p:cNvPr id="38970" name="Line 77"/>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8971" name="Line 78"/>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sp>
        <p:nvSpPr>
          <p:cNvPr id="38952" name="Line 79"/>
          <p:cNvSpPr>
            <a:spLocks noChangeShapeType="1"/>
          </p:cNvSpPr>
          <p:nvPr/>
        </p:nvSpPr>
        <p:spPr bwMode="auto">
          <a:xfrm>
            <a:off x="3535363" y="3738563"/>
            <a:ext cx="263525" cy="0"/>
          </a:xfrm>
          <a:prstGeom prst="line">
            <a:avLst/>
          </a:prstGeom>
          <a:noFill/>
          <a:ln w="19050">
            <a:solidFill>
              <a:schemeClr val="tx1"/>
            </a:solidFill>
            <a:round/>
            <a:headEnd/>
            <a:tailEnd/>
          </a:ln>
        </p:spPr>
        <p:txBody>
          <a:bodyPr wrap="none" anchor="ctr"/>
          <a:lstStyle/>
          <a:p>
            <a:endParaRPr lang="fr-FR"/>
          </a:p>
        </p:txBody>
      </p:sp>
      <p:sp>
        <p:nvSpPr>
          <p:cNvPr id="38953" name="Text Box 80"/>
          <p:cNvSpPr txBox="1">
            <a:spLocks noChangeArrowheads="1"/>
          </p:cNvSpPr>
          <p:nvPr/>
        </p:nvSpPr>
        <p:spPr bwMode="auto">
          <a:xfrm>
            <a:off x="3744913" y="3570288"/>
            <a:ext cx="342900" cy="336550"/>
          </a:xfrm>
          <a:prstGeom prst="rect">
            <a:avLst/>
          </a:prstGeom>
          <a:noFill/>
          <a:ln w="9525">
            <a:noFill/>
            <a:miter lim="800000"/>
            <a:headEnd/>
            <a:tailEnd/>
          </a:ln>
        </p:spPr>
        <p:txBody>
          <a:bodyPr wrap="none">
            <a:spAutoFit/>
          </a:bodyPr>
          <a:lstStyle/>
          <a:p>
            <a:r>
              <a:rPr lang="fr-FR" sz="1600" b="1"/>
              <a:t>O</a:t>
            </a:r>
            <a:endParaRPr lang="fr-FR" sz="1600" b="1">
              <a:solidFill>
                <a:srgbClr val="009900"/>
              </a:solidFill>
            </a:endParaRPr>
          </a:p>
        </p:txBody>
      </p:sp>
      <p:sp>
        <p:nvSpPr>
          <p:cNvPr id="38954" name="Line 81"/>
          <p:cNvSpPr>
            <a:spLocks noChangeShapeType="1"/>
          </p:cNvSpPr>
          <p:nvPr/>
        </p:nvSpPr>
        <p:spPr bwMode="auto">
          <a:xfrm>
            <a:off x="5453063" y="3095625"/>
            <a:ext cx="225425" cy="0"/>
          </a:xfrm>
          <a:prstGeom prst="line">
            <a:avLst/>
          </a:prstGeom>
          <a:noFill/>
          <a:ln w="19050">
            <a:solidFill>
              <a:srgbClr val="009900"/>
            </a:solidFill>
            <a:round/>
            <a:headEnd/>
            <a:tailEnd/>
          </a:ln>
        </p:spPr>
        <p:txBody>
          <a:bodyPr wrap="none" anchor="ctr"/>
          <a:lstStyle/>
          <a:p>
            <a:endParaRPr lang="fr-FR"/>
          </a:p>
        </p:txBody>
      </p:sp>
      <p:sp>
        <p:nvSpPr>
          <p:cNvPr id="38955" name="Line 82"/>
          <p:cNvSpPr>
            <a:spLocks noChangeShapeType="1"/>
          </p:cNvSpPr>
          <p:nvPr/>
        </p:nvSpPr>
        <p:spPr bwMode="auto">
          <a:xfrm>
            <a:off x="6329363" y="3095625"/>
            <a:ext cx="225425" cy="0"/>
          </a:xfrm>
          <a:prstGeom prst="line">
            <a:avLst/>
          </a:prstGeom>
          <a:noFill/>
          <a:ln w="19050">
            <a:solidFill>
              <a:srgbClr val="009900"/>
            </a:solidFill>
            <a:round/>
            <a:headEnd/>
            <a:tailEnd/>
          </a:ln>
        </p:spPr>
        <p:txBody>
          <a:bodyPr wrap="none" anchor="ctr"/>
          <a:lstStyle/>
          <a:p>
            <a:endParaRPr lang="fr-FR"/>
          </a:p>
        </p:txBody>
      </p:sp>
      <p:sp>
        <p:nvSpPr>
          <p:cNvPr id="38956" name="Line 83"/>
          <p:cNvSpPr>
            <a:spLocks noChangeShapeType="1"/>
          </p:cNvSpPr>
          <p:nvPr/>
        </p:nvSpPr>
        <p:spPr bwMode="auto">
          <a:xfrm>
            <a:off x="5453063" y="2473325"/>
            <a:ext cx="225425" cy="0"/>
          </a:xfrm>
          <a:prstGeom prst="line">
            <a:avLst/>
          </a:prstGeom>
          <a:noFill/>
          <a:ln w="19050">
            <a:solidFill>
              <a:srgbClr val="009900"/>
            </a:solidFill>
            <a:round/>
            <a:headEnd/>
            <a:tailEnd/>
          </a:ln>
        </p:spPr>
        <p:txBody>
          <a:bodyPr wrap="none" anchor="ctr"/>
          <a:lstStyle/>
          <a:p>
            <a:endParaRPr lang="fr-FR"/>
          </a:p>
        </p:txBody>
      </p:sp>
      <p:sp>
        <p:nvSpPr>
          <p:cNvPr id="38957" name="Line 84"/>
          <p:cNvSpPr>
            <a:spLocks noChangeShapeType="1"/>
          </p:cNvSpPr>
          <p:nvPr/>
        </p:nvSpPr>
        <p:spPr bwMode="auto">
          <a:xfrm>
            <a:off x="6392863" y="2460625"/>
            <a:ext cx="225425" cy="0"/>
          </a:xfrm>
          <a:prstGeom prst="line">
            <a:avLst/>
          </a:prstGeom>
          <a:noFill/>
          <a:ln w="19050">
            <a:solidFill>
              <a:srgbClr val="009900"/>
            </a:solidFill>
            <a:round/>
            <a:headEnd/>
            <a:tailEnd/>
          </a:ln>
        </p:spPr>
        <p:txBody>
          <a:bodyPr wrap="none" anchor="ctr"/>
          <a:lstStyle/>
          <a:p>
            <a:endParaRPr lang="fr-FR"/>
          </a:p>
        </p:txBody>
      </p:sp>
      <p:sp>
        <p:nvSpPr>
          <p:cNvPr id="38958" name="Line 85"/>
          <p:cNvSpPr>
            <a:spLocks noChangeShapeType="1"/>
          </p:cNvSpPr>
          <p:nvPr/>
        </p:nvSpPr>
        <p:spPr bwMode="auto">
          <a:xfrm>
            <a:off x="7319963" y="3095625"/>
            <a:ext cx="225425" cy="0"/>
          </a:xfrm>
          <a:prstGeom prst="line">
            <a:avLst/>
          </a:prstGeom>
          <a:noFill/>
          <a:ln w="19050">
            <a:solidFill>
              <a:srgbClr val="009900"/>
            </a:solidFill>
            <a:round/>
            <a:headEnd/>
            <a:tailEnd/>
          </a:ln>
        </p:spPr>
        <p:txBody>
          <a:bodyPr wrap="none" anchor="ctr"/>
          <a:lstStyle/>
          <a:p>
            <a:endParaRPr lang="fr-FR"/>
          </a:p>
        </p:txBody>
      </p:sp>
      <p:sp>
        <p:nvSpPr>
          <p:cNvPr id="38959" name="Line 86"/>
          <p:cNvSpPr>
            <a:spLocks noChangeShapeType="1"/>
          </p:cNvSpPr>
          <p:nvPr/>
        </p:nvSpPr>
        <p:spPr bwMode="auto">
          <a:xfrm>
            <a:off x="8196263" y="3082925"/>
            <a:ext cx="225425" cy="0"/>
          </a:xfrm>
          <a:prstGeom prst="line">
            <a:avLst/>
          </a:prstGeom>
          <a:noFill/>
          <a:ln w="19050">
            <a:solidFill>
              <a:srgbClr val="009900"/>
            </a:solidFill>
            <a:round/>
            <a:headEnd/>
            <a:tailEnd/>
          </a:ln>
        </p:spPr>
        <p:txBody>
          <a:bodyPr wrap="none" anchor="ctr"/>
          <a:lstStyle/>
          <a:p>
            <a:endParaRPr lang="fr-FR"/>
          </a:p>
        </p:txBody>
      </p:sp>
      <p:sp>
        <p:nvSpPr>
          <p:cNvPr id="38960" name="Line 87"/>
          <p:cNvSpPr>
            <a:spLocks noChangeShapeType="1"/>
          </p:cNvSpPr>
          <p:nvPr/>
        </p:nvSpPr>
        <p:spPr bwMode="auto">
          <a:xfrm>
            <a:off x="3040063" y="3738563"/>
            <a:ext cx="225425" cy="0"/>
          </a:xfrm>
          <a:prstGeom prst="line">
            <a:avLst/>
          </a:prstGeom>
          <a:noFill/>
          <a:ln w="19050">
            <a:solidFill>
              <a:srgbClr val="FF0000"/>
            </a:solidFill>
            <a:round/>
            <a:headEnd/>
            <a:tailEnd/>
          </a:ln>
        </p:spPr>
        <p:txBody>
          <a:bodyPr wrap="none" anchor="ctr"/>
          <a:lstStyle/>
          <a:p>
            <a:endParaRPr lang="fr-FR"/>
          </a:p>
        </p:txBody>
      </p:sp>
      <p:sp>
        <p:nvSpPr>
          <p:cNvPr id="38961" name="Line 88"/>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8962" name="Line 93"/>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38963" name="Line 94"/>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grpSp>
        <p:nvGrpSpPr>
          <p:cNvPr id="5" name="Group 95"/>
          <p:cNvGrpSpPr>
            <a:grpSpLocks/>
          </p:cNvGrpSpPr>
          <p:nvPr/>
        </p:nvGrpSpPr>
        <p:grpSpPr bwMode="auto">
          <a:xfrm>
            <a:off x="3344863" y="3422650"/>
            <a:ext cx="74612" cy="196850"/>
            <a:chOff x="3496" y="2156"/>
            <a:chExt cx="40" cy="204"/>
          </a:xfrm>
        </p:grpSpPr>
        <p:sp>
          <p:nvSpPr>
            <p:cNvPr id="38968" name="Line 96"/>
            <p:cNvSpPr>
              <a:spLocks noChangeShapeType="1"/>
            </p:cNvSpPr>
            <p:nvPr/>
          </p:nvSpPr>
          <p:spPr bwMode="auto">
            <a:xfrm>
              <a:off x="3496" y="2156"/>
              <a:ext cx="0" cy="204"/>
            </a:xfrm>
            <a:prstGeom prst="line">
              <a:avLst/>
            </a:prstGeom>
            <a:noFill/>
            <a:ln w="19050">
              <a:solidFill>
                <a:srgbClr val="FF0000"/>
              </a:solidFill>
              <a:round/>
              <a:headEnd/>
              <a:tailEnd/>
            </a:ln>
          </p:spPr>
          <p:txBody>
            <a:bodyPr wrap="none" anchor="ctr"/>
            <a:lstStyle/>
            <a:p>
              <a:endParaRPr lang="fr-FR"/>
            </a:p>
          </p:txBody>
        </p:sp>
        <p:sp>
          <p:nvSpPr>
            <p:cNvPr id="38969" name="Line 97"/>
            <p:cNvSpPr>
              <a:spLocks noChangeShapeType="1"/>
            </p:cNvSpPr>
            <p:nvPr/>
          </p:nvSpPr>
          <p:spPr bwMode="auto">
            <a:xfrm>
              <a:off x="3536" y="2156"/>
              <a:ext cx="0" cy="204"/>
            </a:xfrm>
            <a:prstGeom prst="line">
              <a:avLst/>
            </a:prstGeom>
            <a:noFill/>
            <a:ln w="19050">
              <a:solidFill>
                <a:srgbClr val="FF0000"/>
              </a:solidFill>
              <a:round/>
              <a:headEnd/>
              <a:tailEnd/>
            </a:ln>
          </p:spPr>
          <p:txBody>
            <a:bodyPr wrap="none" anchor="ctr"/>
            <a:lstStyle/>
            <a:p>
              <a:endParaRPr lang="fr-FR"/>
            </a:p>
          </p:txBody>
        </p:sp>
      </p:grpSp>
      <p:sp>
        <p:nvSpPr>
          <p:cNvPr id="38965" name="Line 98"/>
          <p:cNvSpPr>
            <a:spLocks noChangeShapeType="1"/>
          </p:cNvSpPr>
          <p:nvPr/>
        </p:nvSpPr>
        <p:spPr bwMode="auto">
          <a:xfrm flipH="1">
            <a:off x="3382963" y="3816350"/>
            <a:ext cx="0" cy="247650"/>
          </a:xfrm>
          <a:prstGeom prst="line">
            <a:avLst/>
          </a:prstGeom>
          <a:noFill/>
          <a:ln w="19050">
            <a:solidFill>
              <a:srgbClr val="FF0000"/>
            </a:solidFill>
            <a:round/>
            <a:headEnd/>
            <a:tailEnd/>
          </a:ln>
        </p:spPr>
        <p:txBody>
          <a:bodyPr wrap="none" anchor="ctr"/>
          <a:lstStyle/>
          <a:p>
            <a:endParaRPr lang="fr-FR"/>
          </a:p>
        </p:txBody>
      </p:sp>
      <p:sp>
        <p:nvSpPr>
          <p:cNvPr id="38966" name="Text Box 101"/>
          <p:cNvSpPr txBox="1">
            <a:spLocks noChangeArrowheads="1"/>
          </p:cNvSpPr>
          <p:nvPr/>
        </p:nvSpPr>
        <p:spPr bwMode="auto">
          <a:xfrm>
            <a:off x="7213600" y="1828800"/>
            <a:ext cx="904875" cy="304800"/>
          </a:xfrm>
          <a:prstGeom prst="rect">
            <a:avLst/>
          </a:prstGeom>
          <a:noFill/>
          <a:ln w="9525">
            <a:noFill/>
            <a:miter lim="800000"/>
            <a:headEnd/>
            <a:tailEnd/>
          </a:ln>
        </p:spPr>
        <p:txBody>
          <a:bodyPr wrap="none">
            <a:spAutoFit/>
          </a:bodyPr>
          <a:lstStyle/>
          <a:p>
            <a:r>
              <a:rPr lang="fr-FR" sz="1400">
                <a:solidFill>
                  <a:srgbClr val="009900"/>
                </a:solidFill>
              </a:rPr>
              <a:t>palmitate</a:t>
            </a:r>
            <a:endParaRPr lang="fr-FR">
              <a:solidFill>
                <a:srgbClr val="009900"/>
              </a:solidFill>
            </a:endParaRPr>
          </a:p>
        </p:txBody>
      </p:sp>
      <p:sp>
        <p:nvSpPr>
          <p:cNvPr id="38967" name="Text Box 102"/>
          <p:cNvSpPr txBox="1">
            <a:spLocks noChangeArrowheads="1"/>
          </p:cNvSpPr>
          <p:nvPr/>
        </p:nvSpPr>
        <p:spPr bwMode="auto">
          <a:xfrm>
            <a:off x="7302500" y="3759200"/>
            <a:ext cx="668338" cy="304800"/>
          </a:xfrm>
          <a:prstGeom prst="rect">
            <a:avLst/>
          </a:prstGeom>
          <a:noFill/>
          <a:ln w="9525">
            <a:noFill/>
            <a:miter lim="800000"/>
            <a:headEnd/>
            <a:tailEnd/>
          </a:ln>
        </p:spPr>
        <p:txBody>
          <a:bodyPr wrap="none">
            <a:spAutoFit/>
          </a:bodyPr>
          <a:lstStyle/>
          <a:p>
            <a:r>
              <a:rPr lang="fr-FR" sz="1400">
                <a:solidFill>
                  <a:srgbClr val="009900"/>
                </a:solidFill>
              </a:rPr>
              <a:t>oleate</a:t>
            </a:r>
            <a:endParaRPr lang="fr-FR">
              <a:solidFill>
                <a:srgbClr val="0099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469900"/>
            <a:ext cx="9144000" cy="762000"/>
          </a:xfrm>
          <a:solidFill>
            <a:schemeClr val="bg1"/>
          </a:solidFill>
        </p:spPr>
        <p:txBody>
          <a:bodyPr/>
          <a:lstStyle/>
          <a:p>
            <a:pPr eaLnBrk="1" hangingPunct="1"/>
            <a:r>
              <a:rPr lang="fr-FR" sz="3600" b="1" smtClean="0">
                <a:latin typeface="Arial" charset="0"/>
              </a:rPr>
              <a:t>…et d’un alcool</a:t>
            </a:r>
            <a:endParaRPr lang="fr-FR" smtClean="0">
              <a:latin typeface="Arial" charset="0"/>
            </a:endParaRPr>
          </a:p>
        </p:txBody>
      </p:sp>
      <p:sp>
        <p:nvSpPr>
          <p:cNvPr id="39939" name="AutoShape 6"/>
          <p:cNvSpPr>
            <a:spLocks/>
          </p:cNvSpPr>
          <p:nvPr/>
        </p:nvSpPr>
        <p:spPr bwMode="auto">
          <a:xfrm rot="16200000" flipV="1">
            <a:off x="6997700" y="2628900"/>
            <a:ext cx="177800" cy="3733800"/>
          </a:xfrm>
          <a:prstGeom prst="leftBrace">
            <a:avLst>
              <a:gd name="adj1" fmla="val 61153"/>
              <a:gd name="adj2" fmla="val 50000"/>
            </a:avLst>
          </a:prstGeom>
          <a:noFill/>
          <a:ln w="9525">
            <a:solidFill>
              <a:srgbClr val="009900"/>
            </a:solidFill>
            <a:round/>
            <a:headEnd/>
            <a:tailEnd/>
          </a:ln>
        </p:spPr>
        <p:txBody>
          <a:bodyPr wrap="none" anchor="ctr"/>
          <a:lstStyle/>
          <a:p>
            <a:endParaRPr lang="fr-FR"/>
          </a:p>
        </p:txBody>
      </p:sp>
      <p:sp>
        <p:nvSpPr>
          <p:cNvPr id="39940" name="AutoShape 7"/>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9941" name="Text Box 8"/>
          <p:cNvSpPr txBox="1">
            <a:spLocks noChangeArrowheads="1"/>
          </p:cNvSpPr>
          <p:nvPr/>
        </p:nvSpPr>
        <p:spPr bwMode="auto">
          <a:xfrm>
            <a:off x="4000500" y="4610100"/>
            <a:ext cx="796925" cy="304800"/>
          </a:xfrm>
          <a:prstGeom prst="rect">
            <a:avLst/>
          </a:prstGeom>
          <a:noFill/>
          <a:ln w="9525">
            <a:noFill/>
            <a:miter lim="800000"/>
            <a:headEnd/>
            <a:tailEnd/>
          </a:ln>
        </p:spPr>
        <p:txBody>
          <a:bodyPr wrap="none">
            <a:spAutoFit/>
          </a:bodyPr>
          <a:lstStyle/>
          <a:p>
            <a:r>
              <a:rPr lang="fr-FR" sz="1400"/>
              <a:t>glycérol</a:t>
            </a:r>
            <a:endParaRPr lang="fr-FR">
              <a:solidFill>
                <a:srgbClr val="FF0000"/>
              </a:solidFill>
            </a:endParaRPr>
          </a:p>
        </p:txBody>
      </p:sp>
      <p:sp>
        <p:nvSpPr>
          <p:cNvPr id="39942" name="Text Box 9"/>
          <p:cNvSpPr txBox="1">
            <a:spLocks noChangeArrowheads="1"/>
          </p:cNvSpPr>
          <p:nvPr/>
        </p:nvSpPr>
        <p:spPr bwMode="auto">
          <a:xfrm>
            <a:off x="6554788" y="4610100"/>
            <a:ext cx="1093787" cy="304800"/>
          </a:xfrm>
          <a:prstGeom prst="rect">
            <a:avLst/>
          </a:prstGeom>
          <a:noFill/>
          <a:ln w="9525">
            <a:noFill/>
            <a:miter lim="800000"/>
            <a:headEnd/>
            <a:tailEnd/>
          </a:ln>
        </p:spPr>
        <p:txBody>
          <a:bodyPr wrap="none">
            <a:spAutoFit/>
          </a:bodyPr>
          <a:lstStyle/>
          <a:p>
            <a:r>
              <a:rPr lang="fr-FR" sz="1400">
                <a:solidFill>
                  <a:srgbClr val="009900"/>
                </a:solidFill>
              </a:rPr>
              <a:t>acides gras</a:t>
            </a:r>
            <a:endParaRPr lang="fr-FR"/>
          </a:p>
        </p:txBody>
      </p:sp>
      <p:sp>
        <p:nvSpPr>
          <p:cNvPr id="39943" name="AutoShape 10"/>
          <p:cNvSpPr>
            <a:spLocks/>
          </p:cNvSpPr>
          <p:nvPr/>
        </p:nvSpPr>
        <p:spPr bwMode="auto">
          <a:xfrm rot="16200000" flipV="1">
            <a:off x="1270000" y="3327400"/>
            <a:ext cx="203200" cy="2362200"/>
          </a:xfrm>
          <a:prstGeom prst="leftBrace">
            <a:avLst>
              <a:gd name="adj1" fmla="val 73786"/>
              <a:gd name="adj2" fmla="val 50000"/>
            </a:avLst>
          </a:prstGeom>
          <a:noFill/>
          <a:ln w="9525">
            <a:solidFill>
              <a:srgbClr val="0000FF"/>
            </a:solidFill>
            <a:round/>
            <a:headEnd/>
            <a:tailEnd/>
          </a:ln>
        </p:spPr>
        <p:txBody>
          <a:bodyPr wrap="none" anchor="ctr"/>
          <a:lstStyle/>
          <a:p>
            <a:endParaRPr lang="fr-FR"/>
          </a:p>
        </p:txBody>
      </p:sp>
      <p:sp>
        <p:nvSpPr>
          <p:cNvPr id="39944" name="AutoShape 11"/>
          <p:cNvSpPr>
            <a:spLocks/>
          </p:cNvSpPr>
          <p:nvPr/>
        </p:nvSpPr>
        <p:spPr bwMode="auto">
          <a:xfrm rot="16200000" flipV="1">
            <a:off x="3035300" y="4038600"/>
            <a:ext cx="228600" cy="965200"/>
          </a:xfrm>
          <a:prstGeom prst="leftBrace">
            <a:avLst>
              <a:gd name="adj1" fmla="val 51019"/>
              <a:gd name="adj2" fmla="val 50000"/>
            </a:avLst>
          </a:prstGeom>
          <a:noFill/>
          <a:ln w="9525">
            <a:solidFill>
              <a:srgbClr val="FF0000"/>
            </a:solidFill>
            <a:round/>
            <a:headEnd/>
            <a:tailEnd/>
          </a:ln>
        </p:spPr>
        <p:txBody>
          <a:bodyPr wrap="none" anchor="ctr"/>
          <a:lstStyle/>
          <a:p>
            <a:endParaRPr lang="fr-FR"/>
          </a:p>
        </p:txBody>
      </p:sp>
      <p:sp>
        <p:nvSpPr>
          <p:cNvPr id="39945" name="Text Box 12"/>
          <p:cNvSpPr txBox="1">
            <a:spLocks noChangeArrowheads="1"/>
          </p:cNvSpPr>
          <p:nvPr/>
        </p:nvSpPr>
        <p:spPr bwMode="auto">
          <a:xfrm>
            <a:off x="2667000" y="4610100"/>
            <a:ext cx="1014413" cy="304800"/>
          </a:xfrm>
          <a:prstGeom prst="rect">
            <a:avLst/>
          </a:prstGeom>
          <a:noFill/>
          <a:ln w="9525">
            <a:noFill/>
            <a:miter lim="800000"/>
            <a:headEnd/>
            <a:tailEnd/>
          </a:ln>
        </p:spPr>
        <p:txBody>
          <a:bodyPr wrap="none">
            <a:spAutoFit/>
          </a:bodyPr>
          <a:lstStyle/>
          <a:p>
            <a:r>
              <a:rPr lang="fr-FR" sz="1400">
                <a:solidFill>
                  <a:srgbClr val="FF0000"/>
                </a:solidFill>
              </a:rPr>
              <a:t>phosphate</a:t>
            </a:r>
            <a:endParaRPr lang="fr-FR">
              <a:solidFill>
                <a:srgbClr val="FF0000"/>
              </a:solidFill>
            </a:endParaRPr>
          </a:p>
        </p:txBody>
      </p:sp>
      <p:sp>
        <p:nvSpPr>
          <p:cNvPr id="39946" name="Text Box 13"/>
          <p:cNvSpPr txBox="1">
            <a:spLocks noChangeArrowheads="1"/>
          </p:cNvSpPr>
          <p:nvPr/>
        </p:nvSpPr>
        <p:spPr bwMode="auto">
          <a:xfrm>
            <a:off x="1066800" y="4610100"/>
            <a:ext cx="649288" cy="304800"/>
          </a:xfrm>
          <a:prstGeom prst="rect">
            <a:avLst/>
          </a:prstGeom>
          <a:noFill/>
          <a:ln w="9525">
            <a:noFill/>
            <a:miter lim="800000"/>
            <a:headEnd/>
            <a:tailEnd/>
          </a:ln>
        </p:spPr>
        <p:txBody>
          <a:bodyPr wrap="none">
            <a:spAutoFit/>
          </a:bodyPr>
          <a:lstStyle/>
          <a:p>
            <a:r>
              <a:rPr lang="fr-FR" sz="1400">
                <a:solidFill>
                  <a:srgbClr val="0000FF"/>
                </a:solidFill>
              </a:rPr>
              <a:t>alcool</a:t>
            </a:r>
            <a:endParaRPr lang="fr-FR">
              <a:solidFill>
                <a:srgbClr val="FF0000"/>
              </a:solidFill>
            </a:endParaRPr>
          </a:p>
        </p:txBody>
      </p:sp>
      <p:sp>
        <p:nvSpPr>
          <p:cNvPr id="39947" name="Rectangle 14"/>
          <p:cNvSpPr>
            <a:spLocks noChangeArrowheads="1"/>
          </p:cNvSpPr>
          <p:nvPr/>
        </p:nvSpPr>
        <p:spPr bwMode="auto">
          <a:xfrm>
            <a:off x="5135563" y="2844800"/>
            <a:ext cx="3835400" cy="9017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9948" name="Rectangle 15"/>
          <p:cNvSpPr>
            <a:spLocks noChangeArrowheads="1"/>
          </p:cNvSpPr>
          <p:nvPr/>
        </p:nvSpPr>
        <p:spPr bwMode="auto">
          <a:xfrm>
            <a:off x="5135563" y="1828800"/>
            <a:ext cx="1981200" cy="8382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9949" name="Rectangle 16"/>
          <p:cNvSpPr>
            <a:spLocks noChangeArrowheads="1"/>
          </p:cNvSpPr>
          <p:nvPr/>
        </p:nvSpPr>
        <p:spPr bwMode="auto">
          <a:xfrm>
            <a:off x="3713163" y="2133600"/>
            <a:ext cx="13462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9950" name="Rectangle 17"/>
          <p:cNvSpPr>
            <a:spLocks noChangeArrowheads="1"/>
          </p:cNvSpPr>
          <p:nvPr/>
        </p:nvSpPr>
        <p:spPr bwMode="auto">
          <a:xfrm>
            <a:off x="182563" y="3187700"/>
            <a:ext cx="2374900" cy="1104900"/>
          </a:xfrm>
          <a:prstGeom prst="rect">
            <a:avLst/>
          </a:prstGeom>
          <a:solidFill>
            <a:schemeClr val="bg1"/>
          </a:solidFill>
          <a:ln w="9525">
            <a:solidFill>
              <a:srgbClr val="0000FF"/>
            </a:solidFill>
            <a:miter lim="800000"/>
            <a:headEnd/>
            <a:tailEnd/>
          </a:ln>
        </p:spPr>
        <p:txBody>
          <a:bodyPr wrap="none" anchor="ctr"/>
          <a:lstStyle/>
          <a:p>
            <a:endParaRPr lang="fr-FR"/>
          </a:p>
        </p:txBody>
      </p:sp>
      <p:sp>
        <p:nvSpPr>
          <p:cNvPr id="39951" name="Rectangle 18"/>
          <p:cNvSpPr>
            <a:spLocks noChangeArrowheads="1"/>
          </p:cNvSpPr>
          <p:nvPr/>
        </p:nvSpPr>
        <p:spPr bwMode="auto">
          <a:xfrm>
            <a:off x="2659063" y="3187700"/>
            <a:ext cx="965200" cy="1104900"/>
          </a:xfrm>
          <a:prstGeom prst="rect">
            <a:avLst/>
          </a:prstGeom>
          <a:solidFill>
            <a:schemeClr val="bg1"/>
          </a:solidFill>
          <a:ln w="9525">
            <a:solidFill>
              <a:srgbClr val="FF0000"/>
            </a:solidFill>
            <a:miter lim="800000"/>
            <a:headEnd/>
            <a:tailEnd/>
          </a:ln>
        </p:spPr>
        <p:txBody>
          <a:bodyPr wrap="none" anchor="ctr"/>
          <a:lstStyle/>
          <a:p>
            <a:endParaRPr lang="fr-FR"/>
          </a:p>
        </p:txBody>
      </p:sp>
      <p:sp>
        <p:nvSpPr>
          <p:cNvPr id="39952" name="Text Box 19"/>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9953" name="Text Box 20"/>
          <p:cNvSpPr txBox="1">
            <a:spLocks noChangeArrowheads="1"/>
          </p:cNvSpPr>
          <p:nvPr/>
        </p:nvSpPr>
        <p:spPr bwMode="auto">
          <a:xfrm>
            <a:off x="4665663" y="2927350"/>
            <a:ext cx="342900" cy="336550"/>
          </a:xfrm>
          <a:prstGeom prst="rect">
            <a:avLst/>
          </a:prstGeom>
          <a:noFill/>
          <a:ln w="9525">
            <a:noFill/>
            <a:miter lim="800000"/>
            <a:headEnd/>
            <a:tailEnd/>
          </a:ln>
        </p:spPr>
        <p:txBody>
          <a:bodyPr wrap="none">
            <a:spAutoFit/>
          </a:bodyPr>
          <a:lstStyle/>
          <a:p>
            <a:r>
              <a:rPr lang="fr-FR" sz="1600" b="1"/>
              <a:t>O</a:t>
            </a:r>
          </a:p>
        </p:txBody>
      </p:sp>
      <p:sp>
        <p:nvSpPr>
          <p:cNvPr id="39954" name="Text Box 21"/>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9955" name="Text Box 22"/>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9956" name="Text Box 26"/>
          <p:cNvSpPr txBox="1">
            <a:spLocks noChangeArrowheads="1"/>
          </p:cNvSpPr>
          <p:nvPr/>
        </p:nvSpPr>
        <p:spPr bwMode="auto">
          <a:xfrm>
            <a:off x="4646613" y="2301875"/>
            <a:ext cx="342900" cy="336550"/>
          </a:xfrm>
          <a:prstGeom prst="rect">
            <a:avLst/>
          </a:prstGeom>
          <a:noFill/>
          <a:ln w="9525">
            <a:noFill/>
            <a:miter lim="800000"/>
            <a:headEnd/>
            <a:tailEnd/>
          </a:ln>
        </p:spPr>
        <p:txBody>
          <a:bodyPr wrap="none">
            <a:spAutoFit/>
          </a:bodyPr>
          <a:lstStyle/>
          <a:p>
            <a:r>
              <a:rPr lang="fr-FR" sz="1600" b="1"/>
              <a:t>O</a:t>
            </a:r>
          </a:p>
        </p:txBody>
      </p:sp>
      <p:sp>
        <p:nvSpPr>
          <p:cNvPr id="39957" name="Text Box 29"/>
          <p:cNvSpPr txBox="1">
            <a:spLocks noChangeArrowheads="1"/>
          </p:cNvSpPr>
          <p:nvPr/>
        </p:nvSpPr>
        <p:spPr bwMode="auto">
          <a:xfrm>
            <a:off x="3211513" y="4013200"/>
            <a:ext cx="388937" cy="336550"/>
          </a:xfrm>
          <a:prstGeom prst="rect">
            <a:avLst/>
          </a:prstGeom>
          <a:noFill/>
          <a:ln w="9525">
            <a:noFill/>
            <a:miter lim="800000"/>
            <a:headEnd/>
            <a:tailEnd/>
          </a:ln>
        </p:spPr>
        <p:txBody>
          <a:bodyPr wrap="none">
            <a:spAutoFit/>
          </a:bodyPr>
          <a:lstStyle/>
          <a:p>
            <a:r>
              <a:rPr lang="fr-FR" sz="1600" b="1">
                <a:solidFill>
                  <a:srgbClr val="FF0000"/>
                </a:solidFill>
              </a:rPr>
              <a:t>O</a:t>
            </a:r>
            <a:r>
              <a:rPr lang="fr-FR" sz="1600" b="1" baseline="30000">
                <a:solidFill>
                  <a:srgbClr val="FF0000"/>
                </a:solidFill>
              </a:rPr>
              <a:t>-</a:t>
            </a:r>
            <a:endParaRPr lang="fr-FR" sz="1600" b="1">
              <a:solidFill>
                <a:srgbClr val="009900"/>
              </a:solidFill>
            </a:endParaRPr>
          </a:p>
        </p:txBody>
      </p:sp>
      <p:sp>
        <p:nvSpPr>
          <p:cNvPr id="39958" name="Line 30"/>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9959" name="Line 31"/>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9960" name="Text Box 33"/>
          <p:cNvSpPr txBox="1">
            <a:spLocks noChangeArrowheads="1"/>
          </p:cNvSpPr>
          <p:nvPr/>
        </p:nvSpPr>
        <p:spPr bwMode="auto">
          <a:xfrm>
            <a:off x="2074863" y="3570288"/>
            <a:ext cx="566737" cy="336550"/>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39961" name="Text Box 34"/>
          <p:cNvSpPr txBox="1">
            <a:spLocks noChangeArrowheads="1"/>
          </p:cNvSpPr>
          <p:nvPr/>
        </p:nvSpPr>
        <p:spPr bwMode="auto">
          <a:xfrm>
            <a:off x="1439863" y="3570288"/>
            <a:ext cx="566737" cy="336550"/>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39962" name="Text Box 36"/>
          <p:cNvSpPr txBox="1">
            <a:spLocks noChangeArrowheads="1"/>
          </p:cNvSpPr>
          <p:nvPr/>
        </p:nvSpPr>
        <p:spPr bwMode="auto">
          <a:xfrm>
            <a:off x="220663" y="3570288"/>
            <a:ext cx="566737" cy="336550"/>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39963" name="Text Box 38"/>
          <p:cNvSpPr txBox="1">
            <a:spLocks noChangeArrowheads="1"/>
          </p:cNvSpPr>
          <p:nvPr/>
        </p:nvSpPr>
        <p:spPr bwMode="auto">
          <a:xfrm>
            <a:off x="6583363" y="2289175"/>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9964" name="Text Box 39"/>
          <p:cNvSpPr txBox="1">
            <a:spLocks noChangeArrowheads="1"/>
          </p:cNvSpPr>
          <p:nvPr/>
        </p:nvSpPr>
        <p:spPr bwMode="auto">
          <a:xfrm>
            <a:off x="8399463" y="2927350"/>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9965" name="Text Box 40"/>
          <p:cNvSpPr txBox="1">
            <a:spLocks noChangeArrowheads="1"/>
          </p:cNvSpPr>
          <p:nvPr/>
        </p:nvSpPr>
        <p:spPr bwMode="auto">
          <a:xfrm>
            <a:off x="5630863" y="2289175"/>
            <a:ext cx="8461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14</a:t>
            </a:r>
          </a:p>
        </p:txBody>
      </p:sp>
      <p:sp>
        <p:nvSpPr>
          <p:cNvPr id="39966" name="Text Box 41"/>
          <p:cNvSpPr txBox="1">
            <a:spLocks noChangeArrowheads="1"/>
          </p:cNvSpPr>
          <p:nvPr/>
        </p:nvSpPr>
        <p:spPr bwMode="auto">
          <a:xfrm>
            <a:off x="65071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9967" name="Text Box 42"/>
          <p:cNvSpPr txBox="1">
            <a:spLocks noChangeArrowheads="1"/>
          </p:cNvSpPr>
          <p:nvPr/>
        </p:nvSpPr>
        <p:spPr bwMode="auto">
          <a:xfrm>
            <a:off x="7497763" y="29273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9968" name="Text Box 43"/>
          <p:cNvSpPr txBox="1">
            <a:spLocks noChangeArrowheads="1"/>
          </p:cNvSpPr>
          <p:nvPr/>
        </p:nvSpPr>
        <p:spPr bwMode="auto">
          <a:xfrm>
            <a:off x="5643563" y="29146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9969" name="Text Box 44"/>
          <p:cNvSpPr txBox="1">
            <a:spLocks noChangeArrowheads="1"/>
          </p:cNvSpPr>
          <p:nvPr/>
        </p:nvSpPr>
        <p:spPr bwMode="auto">
          <a:xfrm>
            <a:off x="70405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9970" name="Text Box 45"/>
          <p:cNvSpPr txBox="1">
            <a:spLocks noChangeArrowheads="1"/>
          </p:cNvSpPr>
          <p:nvPr/>
        </p:nvSpPr>
        <p:spPr bwMode="auto">
          <a:xfrm>
            <a:off x="3211513" y="3149600"/>
            <a:ext cx="342900" cy="336550"/>
          </a:xfrm>
          <a:prstGeom prst="rect">
            <a:avLst/>
          </a:prstGeom>
          <a:noFill/>
          <a:ln w="9525">
            <a:noFill/>
            <a:miter lim="800000"/>
            <a:headEnd/>
            <a:tailEnd/>
          </a:ln>
        </p:spPr>
        <p:txBody>
          <a:bodyPr wrap="none">
            <a:spAutoFit/>
          </a:bodyPr>
          <a:lstStyle/>
          <a:p>
            <a:r>
              <a:rPr lang="fr-FR" sz="1600" b="1">
                <a:solidFill>
                  <a:srgbClr val="FF0000"/>
                </a:solidFill>
              </a:rPr>
              <a:t>O</a:t>
            </a:r>
            <a:endParaRPr lang="fr-FR" sz="1600" b="1">
              <a:solidFill>
                <a:srgbClr val="009900"/>
              </a:solidFill>
            </a:endParaRPr>
          </a:p>
        </p:txBody>
      </p:sp>
      <p:sp>
        <p:nvSpPr>
          <p:cNvPr id="39971" name="Text Box 46"/>
          <p:cNvSpPr txBox="1">
            <a:spLocks noChangeArrowheads="1"/>
          </p:cNvSpPr>
          <p:nvPr/>
        </p:nvSpPr>
        <p:spPr bwMode="auto">
          <a:xfrm>
            <a:off x="2741613" y="3570288"/>
            <a:ext cx="342900" cy="336550"/>
          </a:xfrm>
          <a:prstGeom prst="rect">
            <a:avLst/>
          </a:prstGeom>
          <a:noFill/>
          <a:ln w="9525">
            <a:noFill/>
            <a:miter lim="800000"/>
            <a:headEnd/>
            <a:tailEnd/>
          </a:ln>
        </p:spPr>
        <p:txBody>
          <a:bodyPr wrap="none">
            <a:spAutoFit/>
          </a:bodyPr>
          <a:lstStyle/>
          <a:p>
            <a:r>
              <a:rPr lang="fr-FR" sz="1600" b="1">
                <a:solidFill>
                  <a:srgbClr val="FF0000"/>
                </a:solidFill>
              </a:rPr>
              <a:t>O</a:t>
            </a:r>
            <a:endParaRPr lang="fr-FR" sz="1600" b="1">
              <a:solidFill>
                <a:srgbClr val="009900"/>
              </a:solidFill>
            </a:endParaRPr>
          </a:p>
        </p:txBody>
      </p:sp>
      <p:sp>
        <p:nvSpPr>
          <p:cNvPr id="39972" name="Text Box 47"/>
          <p:cNvSpPr txBox="1">
            <a:spLocks noChangeArrowheads="1"/>
          </p:cNvSpPr>
          <p:nvPr/>
        </p:nvSpPr>
        <p:spPr bwMode="auto">
          <a:xfrm>
            <a:off x="3224213" y="3570288"/>
            <a:ext cx="319087" cy="336550"/>
          </a:xfrm>
          <a:prstGeom prst="rect">
            <a:avLst/>
          </a:prstGeom>
          <a:noFill/>
          <a:ln w="9525">
            <a:noFill/>
            <a:miter lim="800000"/>
            <a:headEnd/>
            <a:tailEnd/>
          </a:ln>
        </p:spPr>
        <p:txBody>
          <a:bodyPr wrap="none">
            <a:spAutoFit/>
          </a:bodyPr>
          <a:lstStyle/>
          <a:p>
            <a:r>
              <a:rPr lang="fr-FR" sz="1600" b="1">
                <a:solidFill>
                  <a:srgbClr val="FF0000"/>
                </a:solidFill>
              </a:rPr>
              <a:t>P</a:t>
            </a:r>
            <a:endParaRPr lang="fr-FR" sz="1600" b="1">
              <a:solidFill>
                <a:srgbClr val="009900"/>
              </a:solidFill>
            </a:endParaRPr>
          </a:p>
        </p:txBody>
      </p:sp>
      <p:sp>
        <p:nvSpPr>
          <p:cNvPr id="39973" name="Text Box 48"/>
          <p:cNvSpPr txBox="1">
            <a:spLocks noChangeArrowheads="1"/>
          </p:cNvSpPr>
          <p:nvPr/>
        </p:nvSpPr>
        <p:spPr bwMode="auto">
          <a:xfrm>
            <a:off x="912813" y="3570288"/>
            <a:ext cx="412750" cy="336550"/>
          </a:xfrm>
          <a:prstGeom prst="rect">
            <a:avLst/>
          </a:prstGeom>
          <a:noFill/>
          <a:ln w="9525">
            <a:noFill/>
            <a:miter lim="800000"/>
            <a:headEnd/>
            <a:tailEnd/>
          </a:ln>
        </p:spPr>
        <p:txBody>
          <a:bodyPr wrap="none">
            <a:spAutoFit/>
          </a:bodyPr>
          <a:lstStyle/>
          <a:p>
            <a:r>
              <a:rPr lang="fr-FR" sz="1600" b="1">
                <a:solidFill>
                  <a:srgbClr val="0000FF"/>
                </a:solidFill>
              </a:rPr>
              <a:t>N</a:t>
            </a:r>
            <a:r>
              <a:rPr lang="fr-FR" sz="1600" b="1" baseline="30000">
                <a:solidFill>
                  <a:srgbClr val="0000FF"/>
                </a:solidFill>
              </a:rPr>
              <a:t>+</a:t>
            </a:r>
            <a:endParaRPr lang="fr-FR" sz="1600" b="1">
              <a:solidFill>
                <a:srgbClr val="0000FF"/>
              </a:solidFill>
            </a:endParaRPr>
          </a:p>
        </p:txBody>
      </p:sp>
      <p:sp>
        <p:nvSpPr>
          <p:cNvPr id="39974" name="Text Box 49"/>
          <p:cNvSpPr txBox="1">
            <a:spLocks noChangeArrowheads="1"/>
          </p:cNvSpPr>
          <p:nvPr/>
        </p:nvSpPr>
        <p:spPr bwMode="auto">
          <a:xfrm>
            <a:off x="5186363" y="29273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9975" name="Text Box 50"/>
          <p:cNvSpPr txBox="1">
            <a:spLocks noChangeArrowheads="1"/>
          </p:cNvSpPr>
          <p:nvPr/>
        </p:nvSpPr>
        <p:spPr bwMode="auto">
          <a:xfrm>
            <a:off x="5199063" y="34067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9976" name="Text Box 51"/>
          <p:cNvSpPr txBox="1">
            <a:spLocks noChangeArrowheads="1"/>
          </p:cNvSpPr>
          <p:nvPr/>
        </p:nvSpPr>
        <p:spPr bwMode="auto">
          <a:xfrm>
            <a:off x="360363" y="3940175"/>
            <a:ext cx="566737" cy="336550"/>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39977" name="Text Box 52"/>
          <p:cNvSpPr txBox="1">
            <a:spLocks noChangeArrowheads="1"/>
          </p:cNvSpPr>
          <p:nvPr/>
        </p:nvSpPr>
        <p:spPr bwMode="auto">
          <a:xfrm>
            <a:off x="347663" y="3152775"/>
            <a:ext cx="566737" cy="336550"/>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39978" name="Line 53"/>
          <p:cNvSpPr>
            <a:spLocks noChangeShapeType="1"/>
          </p:cNvSpPr>
          <p:nvPr/>
        </p:nvSpPr>
        <p:spPr bwMode="auto">
          <a:xfrm>
            <a:off x="4945063" y="3095625"/>
            <a:ext cx="263525" cy="0"/>
          </a:xfrm>
          <a:prstGeom prst="line">
            <a:avLst/>
          </a:prstGeom>
          <a:noFill/>
          <a:ln w="19050">
            <a:solidFill>
              <a:schemeClr val="tx1"/>
            </a:solidFill>
            <a:round/>
            <a:headEnd/>
            <a:tailEnd/>
          </a:ln>
        </p:spPr>
        <p:txBody>
          <a:bodyPr wrap="none" anchor="ctr"/>
          <a:lstStyle/>
          <a:p>
            <a:endParaRPr lang="fr-FR"/>
          </a:p>
        </p:txBody>
      </p:sp>
      <p:grpSp>
        <p:nvGrpSpPr>
          <p:cNvPr id="2" name="Group 60"/>
          <p:cNvGrpSpPr>
            <a:grpSpLocks/>
          </p:cNvGrpSpPr>
          <p:nvPr/>
        </p:nvGrpSpPr>
        <p:grpSpPr bwMode="auto">
          <a:xfrm>
            <a:off x="6786563" y="3063875"/>
            <a:ext cx="263525" cy="63500"/>
            <a:chOff x="4504" y="1928"/>
            <a:chExt cx="166" cy="40"/>
          </a:xfrm>
        </p:grpSpPr>
        <p:sp>
          <p:nvSpPr>
            <p:cNvPr id="40014" name="Line 58"/>
            <p:cNvSpPr>
              <a:spLocks noChangeShapeType="1"/>
            </p:cNvSpPr>
            <p:nvPr/>
          </p:nvSpPr>
          <p:spPr bwMode="auto">
            <a:xfrm>
              <a:off x="4504" y="1928"/>
              <a:ext cx="166" cy="0"/>
            </a:xfrm>
            <a:prstGeom prst="line">
              <a:avLst/>
            </a:prstGeom>
            <a:noFill/>
            <a:ln w="19050">
              <a:solidFill>
                <a:srgbClr val="009900"/>
              </a:solidFill>
              <a:round/>
              <a:headEnd/>
              <a:tailEnd/>
            </a:ln>
          </p:spPr>
          <p:txBody>
            <a:bodyPr wrap="none" anchor="ctr"/>
            <a:lstStyle/>
            <a:p>
              <a:endParaRPr lang="fr-FR"/>
            </a:p>
          </p:txBody>
        </p:sp>
        <p:sp>
          <p:nvSpPr>
            <p:cNvPr id="40015" name="Line 59"/>
            <p:cNvSpPr>
              <a:spLocks noChangeShapeType="1"/>
            </p:cNvSpPr>
            <p:nvPr/>
          </p:nvSpPr>
          <p:spPr bwMode="auto">
            <a:xfrm>
              <a:off x="4504" y="1968"/>
              <a:ext cx="166" cy="0"/>
            </a:xfrm>
            <a:prstGeom prst="line">
              <a:avLst/>
            </a:prstGeom>
            <a:noFill/>
            <a:ln w="19050">
              <a:solidFill>
                <a:srgbClr val="009900"/>
              </a:solidFill>
              <a:round/>
              <a:headEnd/>
              <a:tailEnd/>
            </a:ln>
          </p:spPr>
          <p:txBody>
            <a:bodyPr wrap="none" anchor="ctr"/>
            <a:lstStyle/>
            <a:p>
              <a:endParaRPr lang="fr-FR"/>
            </a:p>
          </p:txBody>
        </p:sp>
      </p:grpSp>
      <p:sp>
        <p:nvSpPr>
          <p:cNvPr id="39980" name="Text Box 61"/>
          <p:cNvSpPr txBox="1">
            <a:spLocks noChangeArrowheads="1"/>
          </p:cNvSpPr>
          <p:nvPr/>
        </p:nvSpPr>
        <p:spPr bwMode="auto">
          <a:xfrm>
            <a:off x="5199063" y="23050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9981" name="Text Box 62"/>
          <p:cNvSpPr txBox="1">
            <a:spLocks noChangeArrowheads="1"/>
          </p:cNvSpPr>
          <p:nvPr/>
        </p:nvSpPr>
        <p:spPr bwMode="auto">
          <a:xfrm>
            <a:off x="5199063" y="17811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9982" name="Line 63"/>
          <p:cNvSpPr>
            <a:spLocks noChangeShapeType="1"/>
          </p:cNvSpPr>
          <p:nvPr/>
        </p:nvSpPr>
        <p:spPr bwMode="auto">
          <a:xfrm>
            <a:off x="4957763" y="2473325"/>
            <a:ext cx="263525" cy="0"/>
          </a:xfrm>
          <a:prstGeom prst="line">
            <a:avLst/>
          </a:prstGeom>
          <a:noFill/>
          <a:ln w="19050">
            <a:solidFill>
              <a:schemeClr val="tx1"/>
            </a:solidFill>
            <a:round/>
            <a:headEnd/>
            <a:tailEnd/>
          </a:ln>
        </p:spPr>
        <p:txBody>
          <a:bodyPr wrap="none" anchor="ctr"/>
          <a:lstStyle/>
          <a:p>
            <a:endParaRPr lang="fr-FR"/>
          </a:p>
        </p:txBody>
      </p:sp>
      <p:grpSp>
        <p:nvGrpSpPr>
          <p:cNvPr id="3" name="Group 68"/>
          <p:cNvGrpSpPr>
            <a:grpSpLocks/>
          </p:cNvGrpSpPr>
          <p:nvPr/>
        </p:nvGrpSpPr>
        <p:grpSpPr bwMode="auto">
          <a:xfrm>
            <a:off x="5326063" y="3219450"/>
            <a:ext cx="74612" cy="234950"/>
            <a:chOff x="3496" y="2156"/>
            <a:chExt cx="40" cy="204"/>
          </a:xfrm>
        </p:grpSpPr>
        <p:sp>
          <p:nvSpPr>
            <p:cNvPr id="40012" name="Line 66"/>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40013" name="Line 67"/>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grpSp>
        <p:nvGrpSpPr>
          <p:cNvPr id="4" name="Group 69"/>
          <p:cNvGrpSpPr>
            <a:grpSpLocks/>
          </p:cNvGrpSpPr>
          <p:nvPr/>
        </p:nvGrpSpPr>
        <p:grpSpPr bwMode="auto">
          <a:xfrm>
            <a:off x="5326063" y="2089150"/>
            <a:ext cx="74612" cy="260350"/>
            <a:chOff x="3496" y="2156"/>
            <a:chExt cx="40" cy="204"/>
          </a:xfrm>
        </p:grpSpPr>
        <p:sp>
          <p:nvSpPr>
            <p:cNvPr id="40010" name="Line 70"/>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40011" name="Line 71"/>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sp>
        <p:nvSpPr>
          <p:cNvPr id="39985" name="Line 72"/>
          <p:cNvSpPr>
            <a:spLocks noChangeShapeType="1"/>
          </p:cNvSpPr>
          <p:nvPr/>
        </p:nvSpPr>
        <p:spPr bwMode="auto">
          <a:xfrm>
            <a:off x="3535363" y="3738563"/>
            <a:ext cx="263525" cy="0"/>
          </a:xfrm>
          <a:prstGeom prst="line">
            <a:avLst/>
          </a:prstGeom>
          <a:noFill/>
          <a:ln w="19050">
            <a:solidFill>
              <a:schemeClr val="tx1"/>
            </a:solidFill>
            <a:round/>
            <a:headEnd/>
            <a:tailEnd/>
          </a:ln>
        </p:spPr>
        <p:txBody>
          <a:bodyPr wrap="none" anchor="ctr"/>
          <a:lstStyle/>
          <a:p>
            <a:endParaRPr lang="fr-FR"/>
          </a:p>
        </p:txBody>
      </p:sp>
      <p:sp>
        <p:nvSpPr>
          <p:cNvPr id="39986" name="Text Box 79"/>
          <p:cNvSpPr txBox="1">
            <a:spLocks noChangeArrowheads="1"/>
          </p:cNvSpPr>
          <p:nvPr/>
        </p:nvSpPr>
        <p:spPr bwMode="auto">
          <a:xfrm>
            <a:off x="3744913" y="3570288"/>
            <a:ext cx="342900" cy="336550"/>
          </a:xfrm>
          <a:prstGeom prst="rect">
            <a:avLst/>
          </a:prstGeom>
          <a:noFill/>
          <a:ln w="9525">
            <a:noFill/>
            <a:miter lim="800000"/>
            <a:headEnd/>
            <a:tailEnd/>
          </a:ln>
        </p:spPr>
        <p:txBody>
          <a:bodyPr wrap="none">
            <a:spAutoFit/>
          </a:bodyPr>
          <a:lstStyle/>
          <a:p>
            <a:r>
              <a:rPr lang="fr-FR" sz="1600" b="1"/>
              <a:t>O</a:t>
            </a:r>
            <a:endParaRPr lang="fr-FR" sz="1600" b="1">
              <a:solidFill>
                <a:srgbClr val="009900"/>
              </a:solidFill>
            </a:endParaRPr>
          </a:p>
        </p:txBody>
      </p:sp>
      <p:sp>
        <p:nvSpPr>
          <p:cNvPr id="39987" name="Line 81"/>
          <p:cNvSpPr>
            <a:spLocks noChangeShapeType="1"/>
          </p:cNvSpPr>
          <p:nvPr/>
        </p:nvSpPr>
        <p:spPr bwMode="auto">
          <a:xfrm>
            <a:off x="5453063" y="3095625"/>
            <a:ext cx="225425" cy="0"/>
          </a:xfrm>
          <a:prstGeom prst="line">
            <a:avLst/>
          </a:prstGeom>
          <a:noFill/>
          <a:ln w="19050">
            <a:solidFill>
              <a:srgbClr val="009900"/>
            </a:solidFill>
            <a:round/>
            <a:headEnd/>
            <a:tailEnd/>
          </a:ln>
        </p:spPr>
        <p:txBody>
          <a:bodyPr wrap="none" anchor="ctr"/>
          <a:lstStyle/>
          <a:p>
            <a:endParaRPr lang="fr-FR"/>
          </a:p>
        </p:txBody>
      </p:sp>
      <p:sp>
        <p:nvSpPr>
          <p:cNvPr id="39988" name="Line 82"/>
          <p:cNvSpPr>
            <a:spLocks noChangeShapeType="1"/>
          </p:cNvSpPr>
          <p:nvPr/>
        </p:nvSpPr>
        <p:spPr bwMode="auto">
          <a:xfrm>
            <a:off x="6329363" y="3095625"/>
            <a:ext cx="225425" cy="0"/>
          </a:xfrm>
          <a:prstGeom prst="line">
            <a:avLst/>
          </a:prstGeom>
          <a:noFill/>
          <a:ln w="19050">
            <a:solidFill>
              <a:srgbClr val="009900"/>
            </a:solidFill>
            <a:round/>
            <a:headEnd/>
            <a:tailEnd/>
          </a:ln>
        </p:spPr>
        <p:txBody>
          <a:bodyPr wrap="none" anchor="ctr"/>
          <a:lstStyle/>
          <a:p>
            <a:endParaRPr lang="fr-FR"/>
          </a:p>
        </p:txBody>
      </p:sp>
      <p:sp>
        <p:nvSpPr>
          <p:cNvPr id="39989" name="Line 83"/>
          <p:cNvSpPr>
            <a:spLocks noChangeShapeType="1"/>
          </p:cNvSpPr>
          <p:nvPr/>
        </p:nvSpPr>
        <p:spPr bwMode="auto">
          <a:xfrm>
            <a:off x="5453063" y="2473325"/>
            <a:ext cx="225425" cy="0"/>
          </a:xfrm>
          <a:prstGeom prst="line">
            <a:avLst/>
          </a:prstGeom>
          <a:noFill/>
          <a:ln w="19050">
            <a:solidFill>
              <a:srgbClr val="009900"/>
            </a:solidFill>
            <a:round/>
            <a:headEnd/>
            <a:tailEnd/>
          </a:ln>
        </p:spPr>
        <p:txBody>
          <a:bodyPr wrap="none" anchor="ctr"/>
          <a:lstStyle/>
          <a:p>
            <a:endParaRPr lang="fr-FR"/>
          </a:p>
        </p:txBody>
      </p:sp>
      <p:sp>
        <p:nvSpPr>
          <p:cNvPr id="39990" name="Line 84"/>
          <p:cNvSpPr>
            <a:spLocks noChangeShapeType="1"/>
          </p:cNvSpPr>
          <p:nvPr/>
        </p:nvSpPr>
        <p:spPr bwMode="auto">
          <a:xfrm>
            <a:off x="6392863" y="2460625"/>
            <a:ext cx="225425" cy="0"/>
          </a:xfrm>
          <a:prstGeom prst="line">
            <a:avLst/>
          </a:prstGeom>
          <a:noFill/>
          <a:ln w="19050">
            <a:solidFill>
              <a:srgbClr val="009900"/>
            </a:solidFill>
            <a:round/>
            <a:headEnd/>
            <a:tailEnd/>
          </a:ln>
        </p:spPr>
        <p:txBody>
          <a:bodyPr wrap="none" anchor="ctr"/>
          <a:lstStyle/>
          <a:p>
            <a:endParaRPr lang="fr-FR"/>
          </a:p>
        </p:txBody>
      </p:sp>
      <p:sp>
        <p:nvSpPr>
          <p:cNvPr id="39991" name="Line 85"/>
          <p:cNvSpPr>
            <a:spLocks noChangeShapeType="1"/>
          </p:cNvSpPr>
          <p:nvPr/>
        </p:nvSpPr>
        <p:spPr bwMode="auto">
          <a:xfrm>
            <a:off x="7319963" y="3095625"/>
            <a:ext cx="225425" cy="0"/>
          </a:xfrm>
          <a:prstGeom prst="line">
            <a:avLst/>
          </a:prstGeom>
          <a:noFill/>
          <a:ln w="19050">
            <a:solidFill>
              <a:srgbClr val="009900"/>
            </a:solidFill>
            <a:round/>
            <a:headEnd/>
            <a:tailEnd/>
          </a:ln>
        </p:spPr>
        <p:txBody>
          <a:bodyPr wrap="none" anchor="ctr"/>
          <a:lstStyle/>
          <a:p>
            <a:endParaRPr lang="fr-FR"/>
          </a:p>
        </p:txBody>
      </p:sp>
      <p:sp>
        <p:nvSpPr>
          <p:cNvPr id="39992" name="Line 86"/>
          <p:cNvSpPr>
            <a:spLocks noChangeShapeType="1"/>
          </p:cNvSpPr>
          <p:nvPr/>
        </p:nvSpPr>
        <p:spPr bwMode="auto">
          <a:xfrm>
            <a:off x="8196263" y="3082925"/>
            <a:ext cx="225425" cy="0"/>
          </a:xfrm>
          <a:prstGeom prst="line">
            <a:avLst/>
          </a:prstGeom>
          <a:noFill/>
          <a:ln w="19050">
            <a:solidFill>
              <a:srgbClr val="009900"/>
            </a:solidFill>
            <a:round/>
            <a:headEnd/>
            <a:tailEnd/>
          </a:ln>
        </p:spPr>
        <p:txBody>
          <a:bodyPr wrap="none" anchor="ctr"/>
          <a:lstStyle/>
          <a:p>
            <a:endParaRPr lang="fr-FR"/>
          </a:p>
        </p:txBody>
      </p:sp>
      <p:sp>
        <p:nvSpPr>
          <p:cNvPr id="39993" name="Line 87"/>
          <p:cNvSpPr>
            <a:spLocks noChangeShapeType="1"/>
          </p:cNvSpPr>
          <p:nvPr/>
        </p:nvSpPr>
        <p:spPr bwMode="auto">
          <a:xfrm>
            <a:off x="3040063" y="3738563"/>
            <a:ext cx="225425" cy="0"/>
          </a:xfrm>
          <a:prstGeom prst="line">
            <a:avLst/>
          </a:prstGeom>
          <a:noFill/>
          <a:ln w="19050">
            <a:solidFill>
              <a:srgbClr val="FF0000"/>
            </a:solidFill>
            <a:round/>
            <a:headEnd/>
            <a:tailEnd/>
          </a:ln>
        </p:spPr>
        <p:txBody>
          <a:bodyPr wrap="none" anchor="ctr"/>
          <a:lstStyle/>
          <a:p>
            <a:endParaRPr lang="fr-FR"/>
          </a:p>
        </p:txBody>
      </p:sp>
      <p:sp>
        <p:nvSpPr>
          <p:cNvPr id="39994" name="Line 88"/>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9995" name="Line 89"/>
          <p:cNvSpPr>
            <a:spLocks noChangeShapeType="1"/>
          </p:cNvSpPr>
          <p:nvPr/>
        </p:nvSpPr>
        <p:spPr bwMode="auto">
          <a:xfrm>
            <a:off x="2544763" y="3738563"/>
            <a:ext cx="225425" cy="0"/>
          </a:xfrm>
          <a:prstGeom prst="line">
            <a:avLst/>
          </a:prstGeom>
          <a:noFill/>
          <a:ln w="19050">
            <a:solidFill>
              <a:srgbClr val="0000FF"/>
            </a:solidFill>
            <a:round/>
            <a:headEnd/>
            <a:tailEnd/>
          </a:ln>
        </p:spPr>
        <p:txBody>
          <a:bodyPr wrap="none" anchor="ctr"/>
          <a:lstStyle/>
          <a:p>
            <a:endParaRPr lang="fr-FR"/>
          </a:p>
        </p:txBody>
      </p:sp>
      <p:sp>
        <p:nvSpPr>
          <p:cNvPr id="39996" name="Line 90"/>
          <p:cNvSpPr>
            <a:spLocks noChangeShapeType="1"/>
          </p:cNvSpPr>
          <p:nvPr/>
        </p:nvSpPr>
        <p:spPr bwMode="auto">
          <a:xfrm>
            <a:off x="1897063" y="3738563"/>
            <a:ext cx="225425" cy="0"/>
          </a:xfrm>
          <a:prstGeom prst="line">
            <a:avLst/>
          </a:prstGeom>
          <a:noFill/>
          <a:ln w="19050">
            <a:solidFill>
              <a:srgbClr val="0000FF"/>
            </a:solidFill>
            <a:round/>
            <a:headEnd/>
            <a:tailEnd/>
          </a:ln>
        </p:spPr>
        <p:txBody>
          <a:bodyPr wrap="none" anchor="ctr"/>
          <a:lstStyle/>
          <a:p>
            <a:endParaRPr lang="fr-FR"/>
          </a:p>
        </p:txBody>
      </p:sp>
      <p:sp>
        <p:nvSpPr>
          <p:cNvPr id="39997" name="Line 91"/>
          <p:cNvSpPr>
            <a:spLocks noChangeShapeType="1"/>
          </p:cNvSpPr>
          <p:nvPr/>
        </p:nvSpPr>
        <p:spPr bwMode="auto">
          <a:xfrm>
            <a:off x="1274763" y="3738563"/>
            <a:ext cx="225425" cy="0"/>
          </a:xfrm>
          <a:prstGeom prst="line">
            <a:avLst/>
          </a:prstGeom>
          <a:noFill/>
          <a:ln w="19050">
            <a:solidFill>
              <a:srgbClr val="0000FF"/>
            </a:solidFill>
            <a:round/>
            <a:headEnd/>
            <a:tailEnd/>
          </a:ln>
        </p:spPr>
        <p:txBody>
          <a:bodyPr wrap="none" anchor="ctr"/>
          <a:lstStyle/>
          <a:p>
            <a:endParaRPr lang="fr-FR"/>
          </a:p>
        </p:txBody>
      </p:sp>
      <p:sp>
        <p:nvSpPr>
          <p:cNvPr id="39998" name="Line 92"/>
          <p:cNvSpPr>
            <a:spLocks noChangeShapeType="1"/>
          </p:cNvSpPr>
          <p:nvPr/>
        </p:nvSpPr>
        <p:spPr bwMode="auto">
          <a:xfrm>
            <a:off x="703263" y="3738563"/>
            <a:ext cx="225425" cy="0"/>
          </a:xfrm>
          <a:prstGeom prst="line">
            <a:avLst/>
          </a:prstGeom>
          <a:noFill/>
          <a:ln w="19050">
            <a:solidFill>
              <a:srgbClr val="0000FF"/>
            </a:solidFill>
            <a:round/>
            <a:headEnd/>
            <a:tailEnd/>
          </a:ln>
        </p:spPr>
        <p:txBody>
          <a:bodyPr wrap="none" anchor="ctr"/>
          <a:lstStyle/>
          <a:p>
            <a:endParaRPr lang="fr-FR"/>
          </a:p>
        </p:txBody>
      </p:sp>
      <p:sp>
        <p:nvSpPr>
          <p:cNvPr id="39999" name="Line 93"/>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40000" name="Line 94"/>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grpSp>
        <p:nvGrpSpPr>
          <p:cNvPr id="5" name="Group 95"/>
          <p:cNvGrpSpPr>
            <a:grpSpLocks/>
          </p:cNvGrpSpPr>
          <p:nvPr/>
        </p:nvGrpSpPr>
        <p:grpSpPr bwMode="auto">
          <a:xfrm>
            <a:off x="3344863" y="3422650"/>
            <a:ext cx="74612" cy="196850"/>
            <a:chOff x="3496" y="2156"/>
            <a:chExt cx="40" cy="204"/>
          </a:xfrm>
        </p:grpSpPr>
        <p:sp>
          <p:nvSpPr>
            <p:cNvPr id="40008" name="Line 96"/>
            <p:cNvSpPr>
              <a:spLocks noChangeShapeType="1"/>
            </p:cNvSpPr>
            <p:nvPr/>
          </p:nvSpPr>
          <p:spPr bwMode="auto">
            <a:xfrm>
              <a:off x="3496" y="2156"/>
              <a:ext cx="0" cy="204"/>
            </a:xfrm>
            <a:prstGeom prst="line">
              <a:avLst/>
            </a:prstGeom>
            <a:noFill/>
            <a:ln w="19050">
              <a:solidFill>
                <a:srgbClr val="FF0000"/>
              </a:solidFill>
              <a:round/>
              <a:headEnd/>
              <a:tailEnd/>
            </a:ln>
          </p:spPr>
          <p:txBody>
            <a:bodyPr wrap="none" anchor="ctr"/>
            <a:lstStyle/>
            <a:p>
              <a:endParaRPr lang="fr-FR"/>
            </a:p>
          </p:txBody>
        </p:sp>
        <p:sp>
          <p:nvSpPr>
            <p:cNvPr id="40009" name="Line 97"/>
            <p:cNvSpPr>
              <a:spLocks noChangeShapeType="1"/>
            </p:cNvSpPr>
            <p:nvPr/>
          </p:nvSpPr>
          <p:spPr bwMode="auto">
            <a:xfrm>
              <a:off x="3536" y="2156"/>
              <a:ext cx="0" cy="204"/>
            </a:xfrm>
            <a:prstGeom prst="line">
              <a:avLst/>
            </a:prstGeom>
            <a:noFill/>
            <a:ln w="19050">
              <a:solidFill>
                <a:srgbClr val="FF0000"/>
              </a:solidFill>
              <a:round/>
              <a:headEnd/>
              <a:tailEnd/>
            </a:ln>
          </p:spPr>
          <p:txBody>
            <a:bodyPr wrap="none" anchor="ctr"/>
            <a:lstStyle/>
            <a:p>
              <a:endParaRPr lang="fr-FR"/>
            </a:p>
          </p:txBody>
        </p:sp>
      </p:grpSp>
      <p:sp>
        <p:nvSpPr>
          <p:cNvPr id="40002" name="Line 101"/>
          <p:cNvSpPr>
            <a:spLocks noChangeShapeType="1"/>
          </p:cNvSpPr>
          <p:nvPr/>
        </p:nvSpPr>
        <p:spPr bwMode="auto">
          <a:xfrm flipH="1">
            <a:off x="3382963" y="3816350"/>
            <a:ext cx="0" cy="247650"/>
          </a:xfrm>
          <a:prstGeom prst="line">
            <a:avLst/>
          </a:prstGeom>
          <a:noFill/>
          <a:ln w="19050">
            <a:solidFill>
              <a:srgbClr val="FF0000"/>
            </a:solidFill>
            <a:round/>
            <a:headEnd/>
            <a:tailEnd/>
          </a:ln>
        </p:spPr>
        <p:txBody>
          <a:bodyPr wrap="none" anchor="ctr"/>
          <a:lstStyle/>
          <a:p>
            <a:endParaRPr lang="fr-FR"/>
          </a:p>
        </p:txBody>
      </p:sp>
      <p:sp>
        <p:nvSpPr>
          <p:cNvPr id="40003" name="Line 102"/>
          <p:cNvSpPr>
            <a:spLocks noChangeShapeType="1"/>
          </p:cNvSpPr>
          <p:nvPr/>
        </p:nvSpPr>
        <p:spPr bwMode="auto">
          <a:xfrm rot="-3459153">
            <a:off x="817562" y="3929063"/>
            <a:ext cx="225425" cy="0"/>
          </a:xfrm>
          <a:prstGeom prst="line">
            <a:avLst/>
          </a:prstGeom>
          <a:noFill/>
          <a:ln w="19050">
            <a:solidFill>
              <a:srgbClr val="0000FF"/>
            </a:solidFill>
            <a:round/>
            <a:headEnd/>
            <a:tailEnd/>
          </a:ln>
        </p:spPr>
        <p:txBody>
          <a:bodyPr wrap="none" anchor="ctr"/>
          <a:lstStyle/>
          <a:p>
            <a:endParaRPr lang="fr-FR"/>
          </a:p>
        </p:txBody>
      </p:sp>
      <p:sp>
        <p:nvSpPr>
          <p:cNvPr id="40004" name="Line 104"/>
          <p:cNvSpPr>
            <a:spLocks noChangeShapeType="1"/>
          </p:cNvSpPr>
          <p:nvPr/>
        </p:nvSpPr>
        <p:spPr bwMode="auto">
          <a:xfrm rot="3459153" flipV="1">
            <a:off x="792162" y="3497263"/>
            <a:ext cx="225425" cy="0"/>
          </a:xfrm>
          <a:prstGeom prst="line">
            <a:avLst/>
          </a:prstGeom>
          <a:noFill/>
          <a:ln w="19050">
            <a:solidFill>
              <a:srgbClr val="0000FF"/>
            </a:solidFill>
            <a:round/>
            <a:headEnd/>
            <a:tailEnd/>
          </a:ln>
        </p:spPr>
        <p:txBody>
          <a:bodyPr wrap="none" anchor="ctr"/>
          <a:lstStyle/>
          <a:p>
            <a:endParaRPr lang="fr-FR"/>
          </a:p>
        </p:txBody>
      </p:sp>
      <p:sp>
        <p:nvSpPr>
          <p:cNvPr id="40005" name="Text Box 105"/>
          <p:cNvSpPr txBox="1">
            <a:spLocks noChangeArrowheads="1"/>
          </p:cNvSpPr>
          <p:nvPr/>
        </p:nvSpPr>
        <p:spPr bwMode="auto">
          <a:xfrm>
            <a:off x="7213600" y="1828800"/>
            <a:ext cx="904875" cy="304800"/>
          </a:xfrm>
          <a:prstGeom prst="rect">
            <a:avLst/>
          </a:prstGeom>
          <a:noFill/>
          <a:ln w="9525">
            <a:noFill/>
            <a:miter lim="800000"/>
            <a:headEnd/>
            <a:tailEnd/>
          </a:ln>
        </p:spPr>
        <p:txBody>
          <a:bodyPr wrap="none">
            <a:spAutoFit/>
          </a:bodyPr>
          <a:lstStyle/>
          <a:p>
            <a:r>
              <a:rPr lang="fr-FR" sz="1400">
                <a:solidFill>
                  <a:srgbClr val="009900"/>
                </a:solidFill>
              </a:rPr>
              <a:t>palmitate</a:t>
            </a:r>
            <a:endParaRPr lang="fr-FR">
              <a:solidFill>
                <a:srgbClr val="009900"/>
              </a:solidFill>
            </a:endParaRPr>
          </a:p>
        </p:txBody>
      </p:sp>
      <p:sp>
        <p:nvSpPr>
          <p:cNvPr id="40006" name="Text Box 106"/>
          <p:cNvSpPr txBox="1">
            <a:spLocks noChangeArrowheads="1"/>
          </p:cNvSpPr>
          <p:nvPr/>
        </p:nvSpPr>
        <p:spPr bwMode="auto">
          <a:xfrm>
            <a:off x="7302500" y="3759200"/>
            <a:ext cx="668338" cy="304800"/>
          </a:xfrm>
          <a:prstGeom prst="rect">
            <a:avLst/>
          </a:prstGeom>
          <a:noFill/>
          <a:ln w="9525">
            <a:noFill/>
            <a:miter lim="800000"/>
            <a:headEnd/>
            <a:tailEnd/>
          </a:ln>
        </p:spPr>
        <p:txBody>
          <a:bodyPr wrap="none">
            <a:spAutoFit/>
          </a:bodyPr>
          <a:lstStyle/>
          <a:p>
            <a:r>
              <a:rPr lang="fr-FR" sz="1400">
                <a:solidFill>
                  <a:srgbClr val="009900"/>
                </a:solidFill>
              </a:rPr>
              <a:t>oleate</a:t>
            </a:r>
            <a:endParaRPr lang="fr-FR">
              <a:solidFill>
                <a:srgbClr val="009900"/>
              </a:solidFill>
            </a:endParaRPr>
          </a:p>
        </p:txBody>
      </p:sp>
      <p:sp>
        <p:nvSpPr>
          <p:cNvPr id="40007" name="Text Box 108"/>
          <p:cNvSpPr txBox="1">
            <a:spLocks noChangeArrowheads="1"/>
          </p:cNvSpPr>
          <p:nvPr/>
        </p:nvSpPr>
        <p:spPr bwMode="auto">
          <a:xfrm>
            <a:off x="2981325" y="5548313"/>
            <a:ext cx="2955925" cy="396875"/>
          </a:xfrm>
          <a:prstGeom prst="rect">
            <a:avLst/>
          </a:prstGeom>
          <a:noFill/>
          <a:ln w="9525">
            <a:noFill/>
            <a:miter lim="800000"/>
            <a:headEnd/>
            <a:tailEnd/>
          </a:ln>
        </p:spPr>
        <p:txBody>
          <a:bodyPr wrap="none">
            <a:spAutoFit/>
          </a:bodyPr>
          <a:lstStyle/>
          <a:p>
            <a:pPr>
              <a:buFont typeface="Wingdings" pitchFamily="2" charset="2"/>
              <a:buChar char="Ø"/>
            </a:pPr>
            <a:r>
              <a:rPr lang="fr-FR" sz="2000" i="1"/>
              <a:t> la phosphatidylcholine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
          <p:cNvSpPr>
            <a:spLocks noChangeArrowheads="1"/>
          </p:cNvSpPr>
          <p:nvPr/>
        </p:nvSpPr>
        <p:spPr bwMode="auto">
          <a:xfrm>
            <a:off x="1485900" y="4356100"/>
            <a:ext cx="6261100" cy="2298700"/>
          </a:xfrm>
          <a:prstGeom prst="rect">
            <a:avLst/>
          </a:prstGeom>
          <a:solidFill>
            <a:schemeClr val="bg1"/>
          </a:solidFill>
          <a:ln w="9525">
            <a:solidFill>
              <a:schemeClr val="bg1"/>
            </a:solidFill>
            <a:miter lim="800000"/>
            <a:headEnd/>
            <a:tailEnd/>
          </a:ln>
        </p:spPr>
        <p:txBody>
          <a:bodyPr wrap="none" anchor="ctr"/>
          <a:lstStyle/>
          <a:p>
            <a:endParaRPr lang="fr-FR"/>
          </a:p>
        </p:txBody>
      </p:sp>
      <p:sp>
        <p:nvSpPr>
          <p:cNvPr id="12291" name="Rectangle 2"/>
          <p:cNvSpPr>
            <a:spLocks noGrp="1" noChangeArrowheads="1"/>
          </p:cNvSpPr>
          <p:nvPr>
            <p:ph type="title"/>
          </p:nvPr>
        </p:nvSpPr>
        <p:spPr>
          <a:xfrm>
            <a:off x="0" y="342900"/>
            <a:ext cx="9144000" cy="914400"/>
          </a:xfrm>
          <a:solidFill>
            <a:schemeClr val="bg1"/>
          </a:solidFill>
        </p:spPr>
        <p:txBody>
          <a:bodyPr rtlCol="0">
            <a:normAutofit fontScale="90000"/>
          </a:bodyPr>
          <a:lstStyle/>
          <a:p>
            <a:pPr eaLnBrk="1" fontAlgn="auto" hangingPunct="1">
              <a:spcAft>
                <a:spcPts val="0"/>
              </a:spcAft>
              <a:defRPr/>
            </a:pPr>
            <a:r>
              <a:rPr lang="fr-FR" sz="2400" b="1" smtClean="0">
                <a:latin typeface="Arial" charset="0"/>
              </a:rPr>
              <a:t>La diversité des phospholipides résulte de l’association de têtes polaires différentes...</a:t>
            </a:r>
            <a:r>
              <a:rPr lang="fr-FR" b="1" smtClean="0">
                <a:latin typeface="Arial" charset="0"/>
              </a:rPr>
              <a:t> </a:t>
            </a:r>
            <a:endParaRPr lang="fr-FR" smtClean="0">
              <a:latin typeface="Arial" charset="0"/>
            </a:endParaRPr>
          </a:p>
        </p:txBody>
      </p:sp>
      <p:sp>
        <p:nvSpPr>
          <p:cNvPr id="40964" name="Text Box 6"/>
          <p:cNvSpPr txBox="1">
            <a:spLocks noChangeArrowheads="1"/>
          </p:cNvSpPr>
          <p:nvPr/>
        </p:nvSpPr>
        <p:spPr bwMode="auto">
          <a:xfrm>
            <a:off x="2709336" y="3752610"/>
            <a:ext cx="747713" cy="304800"/>
          </a:xfrm>
          <a:prstGeom prst="rect">
            <a:avLst/>
          </a:prstGeom>
          <a:noFill/>
          <a:ln w="9525">
            <a:noFill/>
            <a:miter lim="800000"/>
            <a:headEnd/>
            <a:tailEnd/>
          </a:ln>
        </p:spPr>
        <p:txBody>
          <a:bodyPr wrap="none">
            <a:spAutoFit/>
          </a:bodyPr>
          <a:lstStyle/>
          <a:p>
            <a:r>
              <a:rPr lang="fr-FR" sz="1400" dirty="0">
                <a:solidFill>
                  <a:srgbClr val="0000FF"/>
                </a:solidFill>
              </a:rPr>
              <a:t>choline</a:t>
            </a:r>
            <a:endParaRPr lang="fr-FR" dirty="0">
              <a:solidFill>
                <a:srgbClr val="FF0000"/>
              </a:solidFill>
            </a:endParaRPr>
          </a:p>
        </p:txBody>
      </p:sp>
      <p:grpSp>
        <p:nvGrpSpPr>
          <p:cNvPr id="2" name="Group 90"/>
          <p:cNvGrpSpPr>
            <a:grpSpLocks/>
          </p:cNvGrpSpPr>
          <p:nvPr/>
        </p:nvGrpSpPr>
        <p:grpSpPr bwMode="auto">
          <a:xfrm>
            <a:off x="1429811" y="2846266"/>
            <a:ext cx="3009900" cy="1123950"/>
            <a:chOff x="251" y="2130"/>
            <a:chExt cx="1896" cy="708"/>
          </a:xfrm>
        </p:grpSpPr>
        <p:sp>
          <p:nvSpPr>
            <p:cNvPr id="41035" name="Text Box 8"/>
            <p:cNvSpPr txBox="1">
              <a:spLocks noChangeArrowheads="1"/>
            </p:cNvSpPr>
            <p:nvPr/>
          </p:nvSpPr>
          <p:spPr bwMode="auto">
            <a:xfrm>
              <a:off x="1419" y="2393"/>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36" name="Text Box 9"/>
            <p:cNvSpPr txBox="1">
              <a:spLocks noChangeArrowheads="1"/>
            </p:cNvSpPr>
            <p:nvPr/>
          </p:nvSpPr>
          <p:spPr bwMode="auto">
            <a:xfrm>
              <a:off x="1019" y="2393"/>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37" name="Text Box 10"/>
            <p:cNvSpPr txBox="1">
              <a:spLocks noChangeArrowheads="1"/>
            </p:cNvSpPr>
            <p:nvPr/>
          </p:nvSpPr>
          <p:spPr bwMode="auto">
            <a:xfrm>
              <a:off x="251" y="2393"/>
              <a:ext cx="357" cy="212"/>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41038" name="Text Box 11"/>
            <p:cNvSpPr txBox="1">
              <a:spLocks noChangeArrowheads="1"/>
            </p:cNvSpPr>
            <p:nvPr/>
          </p:nvSpPr>
          <p:spPr bwMode="auto">
            <a:xfrm>
              <a:off x="1839" y="2393"/>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a:solidFill>
                  <a:srgbClr val="009900"/>
                </a:solidFill>
              </a:endParaRPr>
            </a:p>
          </p:txBody>
        </p:sp>
        <p:sp>
          <p:nvSpPr>
            <p:cNvPr id="41039" name="Text Box 12"/>
            <p:cNvSpPr txBox="1">
              <a:spLocks noChangeArrowheads="1"/>
            </p:cNvSpPr>
            <p:nvPr/>
          </p:nvSpPr>
          <p:spPr bwMode="auto">
            <a:xfrm>
              <a:off x="687" y="2393"/>
              <a:ext cx="260" cy="212"/>
            </a:xfrm>
            <a:prstGeom prst="rect">
              <a:avLst/>
            </a:prstGeom>
            <a:noFill/>
            <a:ln w="9525">
              <a:noFill/>
              <a:miter lim="800000"/>
              <a:headEnd/>
              <a:tailEnd/>
            </a:ln>
          </p:spPr>
          <p:txBody>
            <a:bodyPr wrap="none">
              <a:spAutoFit/>
            </a:bodyPr>
            <a:lstStyle/>
            <a:p>
              <a:r>
                <a:rPr lang="fr-FR" sz="1600" b="1">
                  <a:solidFill>
                    <a:srgbClr val="0000FF"/>
                  </a:solidFill>
                </a:rPr>
                <a:t>N</a:t>
              </a:r>
              <a:r>
                <a:rPr lang="fr-FR" sz="1600" b="1" baseline="30000">
                  <a:solidFill>
                    <a:srgbClr val="0000FF"/>
                  </a:solidFill>
                </a:rPr>
                <a:t>+</a:t>
              </a:r>
              <a:endParaRPr lang="fr-FR" sz="1600" b="1">
                <a:solidFill>
                  <a:srgbClr val="0000FF"/>
                </a:solidFill>
              </a:endParaRPr>
            </a:p>
          </p:txBody>
        </p:sp>
        <p:sp>
          <p:nvSpPr>
            <p:cNvPr id="41040" name="Text Box 13"/>
            <p:cNvSpPr txBox="1">
              <a:spLocks noChangeArrowheads="1"/>
            </p:cNvSpPr>
            <p:nvPr/>
          </p:nvSpPr>
          <p:spPr bwMode="auto">
            <a:xfrm>
              <a:off x="339" y="2626"/>
              <a:ext cx="357" cy="212"/>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41041" name="Text Box 14"/>
            <p:cNvSpPr txBox="1">
              <a:spLocks noChangeArrowheads="1"/>
            </p:cNvSpPr>
            <p:nvPr/>
          </p:nvSpPr>
          <p:spPr bwMode="auto">
            <a:xfrm>
              <a:off x="331" y="2130"/>
              <a:ext cx="357" cy="212"/>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41042" name="Line 15"/>
            <p:cNvSpPr>
              <a:spLocks noChangeShapeType="1"/>
            </p:cNvSpPr>
            <p:nvPr/>
          </p:nvSpPr>
          <p:spPr bwMode="auto">
            <a:xfrm>
              <a:off x="1715" y="2499"/>
              <a:ext cx="142" cy="0"/>
            </a:xfrm>
            <a:prstGeom prst="line">
              <a:avLst/>
            </a:prstGeom>
            <a:noFill/>
            <a:ln w="19050">
              <a:solidFill>
                <a:srgbClr val="0000FF"/>
              </a:solidFill>
              <a:round/>
              <a:headEnd/>
              <a:tailEnd/>
            </a:ln>
          </p:spPr>
          <p:txBody>
            <a:bodyPr wrap="none" anchor="ctr"/>
            <a:lstStyle/>
            <a:p>
              <a:endParaRPr lang="fr-FR"/>
            </a:p>
          </p:txBody>
        </p:sp>
        <p:sp>
          <p:nvSpPr>
            <p:cNvPr id="41043" name="Line 16"/>
            <p:cNvSpPr>
              <a:spLocks noChangeShapeType="1"/>
            </p:cNvSpPr>
            <p:nvPr/>
          </p:nvSpPr>
          <p:spPr bwMode="auto">
            <a:xfrm>
              <a:off x="1307" y="2499"/>
              <a:ext cx="142" cy="0"/>
            </a:xfrm>
            <a:prstGeom prst="line">
              <a:avLst/>
            </a:prstGeom>
            <a:noFill/>
            <a:ln w="19050">
              <a:solidFill>
                <a:srgbClr val="0000FF"/>
              </a:solidFill>
              <a:round/>
              <a:headEnd/>
              <a:tailEnd/>
            </a:ln>
          </p:spPr>
          <p:txBody>
            <a:bodyPr wrap="none" anchor="ctr"/>
            <a:lstStyle/>
            <a:p>
              <a:endParaRPr lang="fr-FR"/>
            </a:p>
          </p:txBody>
        </p:sp>
        <p:sp>
          <p:nvSpPr>
            <p:cNvPr id="41044" name="Line 17"/>
            <p:cNvSpPr>
              <a:spLocks noChangeShapeType="1"/>
            </p:cNvSpPr>
            <p:nvPr/>
          </p:nvSpPr>
          <p:spPr bwMode="auto">
            <a:xfrm>
              <a:off x="915" y="2499"/>
              <a:ext cx="142" cy="0"/>
            </a:xfrm>
            <a:prstGeom prst="line">
              <a:avLst/>
            </a:prstGeom>
            <a:noFill/>
            <a:ln w="19050">
              <a:solidFill>
                <a:srgbClr val="0000FF"/>
              </a:solidFill>
              <a:round/>
              <a:headEnd/>
              <a:tailEnd/>
            </a:ln>
          </p:spPr>
          <p:txBody>
            <a:bodyPr wrap="none" anchor="ctr"/>
            <a:lstStyle/>
            <a:p>
              <a:endParaRPr lang="fr-FR"/>
            </a:p>
          </p:txBody>
        </p:sp>
        <p:sp>
          <p:nvSpPr>
            <p:cNvPr id="41045" name="Line 18"/>
            <p:cNvSpPr>
              <a:spLocks noChangeShapeType="1"/>
            </p:cNvSpPr>
            <p:nvPr/>
          </p:nvSpPr>
          <p:spPr bwMode="auto">
            <a:xfrm>
              <a:off x="555" y="2499"/>
              <a:ext cx="142" cy="0"/>
            </a:xfrm>
            <a:prstGeom prst="line">
              <a:avLst/>
            </a:prstGeom>
            <a:noFill/>
            <a:ln w="19050">
              <a:solidFill>
                <a:srgbClr val="0000FF"/>
              </a:solidFill>
              <a:round/>
              <a:headEnd/>
              <a:tailEnd/>
            </a:ln>
          </p:spPr>
          <p:txBody>
            <a:bodyPr wrap="none" anchor="ctr"/>
            <a:lstStyle/>
            <a:p>
              <a:endParaRPr lang="fr-FR"/>
            </a:p>
          </p:txBody>
        </p:sp>
        <p:sp>
          <p:nvSpPr>
            <p:cNvPr id="41046" name="Line 19"/>
            <p:cNvSpPr>
              <a:spLocks noChangeShapeType="1"/>
            </p:cNvSpPr>
            <p:nvPr/>
          </p:nvSpPr>
          <p:spPr bwMode="auto">
            <a:xfrm rot="-3459153">
              <a:off x="627" y="2619"/>
              <a:ext cx="142" cy="0"/>
            </a:xfrm>
            <a:prstGeom prst="line">
              <a:avLst/>
            </a:prstGeom>
            <a:noFill/>
            <a:ln w="19050">
              <a:solidFill>
                <a:srgbClr val="0000FF"/>
              </a:solidFill>
              <a:round/>
              <a:headEnd/>
              <a:tailEnd/>
            </a:ln>
          </p:spPr>
          <p:txBody>
            <a:bodyPr wrap="none" anchor="ctr"/>
            <a:lstStyle/>
            <a:p>
              <a:endParaRPr lang="fr-FR"/>
            </a:p>
          </p:txBody>
        </p:sp>
        <p:sp>
          <p:nvSpPr>
            <p:cNvPr id="41047" name="Line 20"/>
            <p:cNvSpPr>
              <a:spLocks noChangeShapeType="1"/>
            </p:cNvSpPr>
            <p:nvPr/>
          </p:nvSpPr>
          <p:spPr bwMode="auto">
            <a:xfrm rot="3459153" flipV="1">
              <a:off x="611" y="2347"/>
              <a:ext cx="142" cy="0"/>
            </a:xfrm>
            <a:prstGeom prst="line">
              <a:avLst/>
            </a:prstGeom>
            <a:noFill/>
            <a:ln w="19050">
              <a:solidFill>
                <a:srgbClr val="0000FF"/>
              </a:solidFill>
              <a:round/>
              <a:headEnd/>
              <a:tailEnd/>
            </a:ln>
          </p:spPr>
          <p:txBody>
            <a:bodyPr wrap="none" anchor="ctr"/>
            <a:lstStyle/>
            <a:p>
              <a:endParaRPr lang="fr-FR"/>
            </a:p>
          </p:txBody>
        </p:sp>
      </p:grpSp>
      <p:sp>
        <p:nvSpPr>
          <p:cNvPr id="40966" name="Text Box 21"/>
          <p:cNvSpPr txBox="1">
            <a:spLocks noChangeArrowheads="1"/>
          </p:cNvSpPr>
          <p:nvPr/>
        </p:nvSpPr>
        <p:spPr bwMode="auto">
          <a:xfrm>
            <a:off x="1301224" y="1993901"/>
            <a:ext cx="1201611" cy="307777"/>
          </a:xfrm>
          <a:prstGeom prst="rect">
            <a:avLst/>
          </a:prstGeom>
          <a:noFill/>
          <a:ln w="9525">
            <a:noFill/>
            <a:miter lim="800000"/>
            <a:headEnd/>
            <a:tailEnd/>
          </a:ln>
        </p:spPr>
        <p:txBody>
          <a:bodyPr wrap="none">
            <a:spAutoFit/>
          </a:bodyPr>
          <a:lstStyle/>
          <a:p>
            <a:r>
              <a:rPr lang="fr-FR" sz="1400" dirty="0">
                <a:solidFill>
                  <a:srgbClr val="0000FF"/>
                </a:solidFill>
              </a:rPr>
              <a:t>é</a:t>
            </a:r>
            <a:r>
              <a:rPr lang="fr-FR" sz="1400" dirty="0" smtClean="0">
                <a:solidFill>
                  <a:srgbClr val="0000FF"/>
                </a:solidFill>
              </a:rPr>
              <a:t>thanolamine</a:t>
            </a:r>
            <a:endParaRPr lang="fr-FR" dirty="0">
              <a:solidFill>
                <a:srgbClr val="FF0000"/>
              </a:solidFill>
            </a:endParaRPr>
          </a:p>
        </p:txBody>
      </p:sp>
      <p:grpSp>
        <p:nvGrpSpPr>
          <p:cNvPr id="3" name="Group 89"/>
          <p:cNvGrpSpPr>
            <a:grpSpLocks/>
          </p:cNvGrpSpPr>
          <p:nvPr/>
        </p:nvGrpSpPr>
        <p:grpSpPr bwMode="auto">
          <a:xfrm>
            <a:off x="736074" y="1555751"/>
            <a:ext cx="2520950" cy="336550"/>
            <a:chOff x="503" y="1513"/>
            <a:chExt cx="1588" cy="212"/>
          </a:xfrm>
        </p:grpSpPr>
        <p:sp>
          <p:nvSpPr>
            <p:cNvPr id="41028" name="Text Box 22"/>
            <p:cNvSpPr txBox="1">
              <a:spLocks noChangeArrowheads="1"/>
            </p:cNvSpPr>
            <p:nvPr/>
          </p:nvSpPr>
          <p:spPr bwMode="auto">
            <a:xfrm>
              <a:off x="1363" y="1513"/>
              <a:ext cx="357" cy="212"/>
            </a:xfrm>
            <a:prstGeom prst="rect">
              <a:avLst/>
            </a:prstGeom>
            <a:noFill/>
            <a:ln w="9525">
              <a:noFill/>
              <a:miter lim="800000"/>
              <a:headEnd/>
              <a:tailEnd/>
            </a:ln>
          </p:spPr>
          <p:txBody>
            <a:bodyPr>
              <a:spAutoFit/>
            </a:bodyPr>
            <a:lstStyle/>
            <a:p>
              <a:r>
                <a:rPr lang="fr-FR" sz="1600" b="1" dirty="0">
                  <a:solidFill>
                    <a:srgbClr val="0000FF"/>
                  </a:solidFill>
                </a:rPr>
                <a:t>CH</a:t>
              </a:r>
              <a:r>
                <a:rPr lang="fr-FR" sz="1600" b="1" baseline="-25000" dirty="0">
                  <a:solidFill>
                    <a:srgbClr val="0000FF"/>
                  </a:solidFill>
                </a:rPr>
                <a:t>2</a:t>
              </a:r>
            </a:p>
          </p:txBody>
        </p:sp>
        <p:sp>
          <p:nvSpPr>
            <p:cNvPr id="41029" name="Text Box 23"/>
            <p:cNvSpPr txBox="1">
              <a:spLocks noChangeArrowheads="1"/>
            </p:cNvSpPr>
            <p:nvPr/>
          </p:nvSpPr>
          <p:spPr bwMode="auto">
            <a:xfrm>
              <a:off x="963" y="1513"/>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30" name="Text Box 25"/>
            <p:cNvSpPr txBox="1">
              <a:spLocks noChangeArrowheads="1"/>
            </p:cNvSpPr>
            <p:nvPr/>
          </p:nvSpPr>
          <p:spPr bwMode="auto">
            <a:xfrm>
              <a:off x="1783" y="1513"/>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a:solidFill>
                  <a:srgbClr val="009900"/>
                </a:solidFill>
              </a:endParaRPr>
            </a:p>
          </p:txBody>
        </p:sp>
        <p:sp>
          <p:nvSpPr>
            <p:cNvPr id="41031" name="Text Box 26"/>
            <p:cNvSpPr txBox="1">
              <a:spLocks noChangeArrowheads="1"/>
            </p:cNvSpPr>
            <p:nvPr/>
          </p:nvSpPr>
          <p:spPr bwMode="auto">
            <a:xfrm>
              <a:off x="503" y="1513"/>
              <a:ext cx="401" cy="212"/>
            </a:xfrm>
            <a:prstGeom prst="rect">
              <a:avLst/>
            </a:prstGeom>
            <a:noFill/>
            <a:ln w="9525">
              <a:noFill/>
              <a:miter lim="800000"/>
              <a:headEnd/>
              <a:tailEnd/>
            </a:ln>
          </p:spPr>
          <p:txBody>
            <a:bodyPr wrap="none">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N</a:t>
              </a:r>
              <a:r>
                <a:rPr lang="fr-FR" sz="1600" b="1" baseline="30000">
                  <a:solidFill>
                    <a:srgbClr val="0000FF"/>
                  </a:solidFill>
                </a:rPr>
                <a:t>+</a:t>
              </a:r>
            </a:p>
          </p:txBody>
        </p:sp>
        <p:sp>
          <p:nvSpPr>
            <p:cNvPr id="41032" name="Line 29"/>
            <p:cNvSpPr>
              <a:spLocks noChangeShapeType="1"/>
            </p:cNvSpPr>
            <p:nvPr/>
          </p:nvSpPr>
          <p:spPr bwMode="auto">
            <a:xfrm>
              <a:off x="1659" y="1619"/>
              <a:ext cx="142" cy="0"/>
            </a:xfrm>
            <a:prstGeom prst="line">
              <a:avLst/>
            </a:prstGeom>
            <a:noFill/>
            <a:ln w="19050">
              <a:solidFill>
                <a:srgbClr val="0000FF"/>
              </a:solidFill>
              <a:round/>
              <a:headEnd/>
              <a:tailEnd/>
            </a:ln>
          </p:spPr>
          <p:txBody>
            <a:bodyPr wrap="none" anchor="ctr"/>
            <a:lstStyle/>
            <a:p>
              <a:endParaRPr lang="fr-FR"/>
            </a:p>
          </p:txBody>
        </p:sp>
        <p:sp>
          <p:nvSpPr>
            <p:cNvPr id="41033" name="Line 30"/>
            <p:cNvSpPr>
              <a:spLocks noChangeShapeType="1"/>
            </p:cNvSpPr>
            <p:nvPr/>
          </p:nvSpPr>
          <p:spPr bwMode="auto">
            <a:xfrm>
              <a:off x="1251" y="1619"/>
              <a:ext cx="142" cy="0"/>
            </a:xfrm>
            <a:prstGeom prst="line">
              <a:avLst/>
            </a:prstGeom>
            <a:noFill/>
            <a:ln w="19050">
              <a:solidFill>
                <a:srgbClr val="0000FF"/>
              </a:solidFill>
              <a:round/>
              <a:headEnd/>
              <a:tailEnd/>
            </a:ln>
          </p:spPr>
          <p:txBody>
            <a:bodyPr wrap="none" anchor="ctr"/>
            <a:lstStyle/>
            <a:p>
              <a:endParaRPr lang="fr-FR"/>
            </a:p>
          </p:txBody>
        </p:sp>
        <p:sp>
          <p:nvSpPr>
            <p:cNvPr id="41034" name="Line 31"/>
            <p:cNvSpPr>
              <a:spLocks noChangeShapeType="1"/>
            </p:cNvSpPr>
            <p:nvPr/>
          </p:nvSpPr>
          <p:spPr bwMode="auto">
            <a:xfrm>
              <a:off x="859" y="1619"/>
              <a:ext cx="142" cy="0"/>
            </a:xfrm>
            <a:prstGeom prst="line">
              <a:avLst/>
            </a:prstGeom>
            <a:noFill/>
            <a:ln w="19050">
              <a:solidFill>
                <a:srgbClr val="0000FF"/>
              </a:solidFill>
              <a:round/>
              <a:headEnd/>
              <a:tailEnd/>
            </a:ln>
          </p:spPr>
          <p:txBody>
            <a:bodyPr wrap="none" anchor="ctr"/>
            <a:lstStyle/>
            <a:p>
              <a:endParaRPr lang="fr-FR"/>
            </a:p>
          </p:txBody>
        </p:sp>
      </p:grpSp>
      <p:sp>
        <p:nvSpPr>
          <p:cNvPr id="40968" name="Text Box 35"/>
          <p:cNvSpPr txBox="1">
            <a:spLocks noChangeArrowheads="1"/>
          </p:cNvSpPr>
          <p:nvPr/>
        </p:nvSpPr>
        <p:spPr bwMode="auto">
          <a:xfrm>
            <a:off x="4710113" y="2374900"/>
            <a:ext cx="668337" cy="304800"/>
          </a:xfrm>
          <a:prstGeom prst="rect">
            <a:avLst/>
          </a:prstGeom>
          <a:noFill/>
          <a:ln w="9525">
            <a:noFill/>
            <a:miter lim="800000"/>
            <a:headEnd/>
            <a:tailEnd/>
          </a:ln>
        </p:spPr>
        <p:txBody>
          <a:bodyPr wrap="none">
            <a:spAutoFit/>
          </a:bodyPr>
          <a:lstStyle/>
          <a:p>
            <a:r>
              <a:rPr lang="fr-FR" sz="1400">
                <a:solidFill>
                  <a:srgbClr val="0000FF"/>
                </a:solidFill>
              </a:rPr>
              <a:t>serine</a:t>
            </a:r>
            <a:endParaRPr lang="fr-FR">
              <a:solidFill>
                <a:srgbClr val="FF0000"/>
              </a:solidFill>
            </a:endParaRPr>
          </a:p>
        </p:txBody>
      </p:sp>
      <p:grpSp>
        <p:nvGrpSpPr>
          <p:cNvPr id="4" name="Group 104"/>
          <p:cNvGrpSpPr>
            <a:grpSpLocks/>
          </p:cNvGrpSpPr>
          <p:nvPr/>
        </p:nvGrpSpPr>
        <p:grpSpPr bwMode="auto">
          <a:xfrm>
            <a:off x="3833813" y="1423988"/>
            <a:ext cx="2419350" cy="1000125"/>
            <a:chOff x="2415" y="897"/>
            <a:chExt cx="1524" cy="630"/>
          </a:xfrm>
        </p:grpSpPr>
        <p:sp>
          <p:nvSpPr>
            <p:cNvPr id="41019" name="Text Box 36"/>
            <p:cNvSpPr txBox="1">
              <a:spLocks noChangeArrowheads="1"/>
            </p:cNvSpPr>
            <p:nvPr/>
          </p:nvSpPr>
          <p:spPr bwMode="auto">
            <a:xfrm>
              <a:off x="2915" y="1161"/>
              <a:ext cx="213" cy="366"/>
            </a:xfrm>
            <a:prstGeom prst="rect">
              <a:avLst/>
            </a:prstGeom>
            <a:noFill/>
            <a:ln w="9525">
              <a:noFill/>
              <a:miter lim="800000"/>
              <a:headEnd/>
              <a:tailEnd/>
            </a:ln>
          </p:spPr>
          <p:txBody>
            <a:bodyPr>
              <a:spAutoFit/>
            </a:bodyPr>
            <a:lstStyle/>
            <a:p>
              <a:r>
                <a:rPr lang="fr-FR" sz="1600" b="1">
                  <a:solidFill>
                    <a:srgbClr val="0000FF"/>
                  </a:solidFill>
                </a:rPr>
                <a:t>CH</a:t>
              </a:r>
              <a:endParaRPr lang="fr-FR" sz="1600" b="1" baseline="-25000">
                <a:solidFill>
                  <a:srgbClr val="0000FF"/>
                </a:solidFill>
              </a:endParaRPr>
            </a:p>
          </p:txBody>
        </p:sp>
        <p:sp>
          <p:nvSpPr>
            <p:cNvPr id="41020" name="Text Box 37"/>
            <p:cNvSpPr txBox="1">
              <a:spLocks noChangeArrowheads="1"/>
            </p:cNvSpPr>
            <p:nvPr/>
          </p:nvSpPr>
          <p:spPr bwMode="auto">
            <a:xfrm>
              <a:off x="3195" y="1161"/>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21" name="Text Box 38"/>
            <p:cNvSpPr txBox="1">
              <a:spLocks noChangeArrowheads="1"/>
            </p:cNvSpPr>
            <p:nvPr/>
          </p:nvSpPr>
          <p:spPr bwMode="auto">
            <a:xfrm>
              <a:off x="3631" y="1161"/>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a:solidFill>
                  <a:srgbClr val="009900"/>
                </a:solidFill>
              </a:endParaRPr>
            </a:p>
          </p:txBody>
        </p:sp>
        <p:sp>
          <p:nvSpPr>
            <p:cNvPr id="41022" name="Text Box 39"/>
            <p:cNvSpPr txBox="1">
              <a:spLocks noChangeArrowheads="1"/>
            </p:cNvSpPr>
            <p:nvPr/>
          </p:nvSpPr>
          <p:spPr bwMode="auto">
            <a:xfrm>
              <a:off x="2415" y="1161"/>
              <a:ext cx="437" cy="212"/>
            </a:xfrm>
            <a:prstGeom prst="rect">
              <a:avLst/>
            </a:prstGeom>
            <a:noFill/>
            <a:ln w="9525">
              <a:noFill/>
              <a:miter lim="800000"/>
              <a:headEnd/>
              <a:tailEnd/>
            </a:ln>
          </p:spPr>
          <p:txBody>
            <a:bodyPr wrap="none">
              <a:spAutoFit/>
            </a:bodyPr>
            <a:lstStyle/>
            <a:p>
              <a:r>
                <a:rPr lang="fr-FR" sz="1600" b="1" baseline="30000">
                  <a:solidFill>
                    <a:srgbClr val="0000FF"/>
                  </a:solidFill>
                </a:rPr>
                <a:t>-</a:t>
              </a:r>
              <a:r>
                <a:rPr lang="fr-FR" sz="1600" b="1">
                  <a:solidFill>
                    <a:srgbClr val="0000FF"/>
                  </a:solidFill>
                </a:rPr>
                <a:t>OOC</a:t>
              </a:r>
              <a:endParaRPr lang="fr-FR" sz="1600" b="1" baseline="30000">
                <a:solidFill>
                  <a:srgbClr val="0000FF"/>
                </a:solidFill>
              </a:endParaRPr>
            </a:p>
          </p:txBody>
        </p:sp>
        <p:sp>
          <p:nvSpPr>
            <p:cNvPr id="41023" name="Line 40"/>
            <p:cNvSpPr>
              <a:spLocks noChangeShapeType="1"/>
            </p:cNvSpPr>
            <p:nvPr/>
          </p:nvSpPr>
          <p:spPr bwMode="auto">
            <a:xfrm>
              <a:off x="3507" y="1267"/>
              <a:ext cx="142" cy="0"/>
            </a:xfrm>
            <a:prstGeom prst="line">
              <a:avLst/>
            </a:prstGeom>
            <a:noFill/>
            <a:ln w="19050">
              <a:solidFill>
                <a:srgbClr val="0000FF"/>
              </a:solidFill>
              <a:round/>
              <a:headEnd/>
              <a:tailEnd/>
            </a:ln>
          </p:spPr>
          <p:txBody>
            <a:bodyPr wrap="none" anchor="ctr"/>
            <a:lstStyle/>
            <a:p>
              <a:endParaRPr lang="fr-FR"/>
            </a:p>
          </p:txBody>
        </p:sp>
        <p:sp>
          <p:nvSpPr>
            <p:cNvPr id="41024" name="Line 41"/>
            <p:cNvSpPr>
              <a:spLocks noChangeShapeType="1"/>
            </p:cNvSpPr>
            <p:nvPr/>
          </p:nvSpPr>
          <p:spPr bwMode="auto">
            <a:xfrm>
              <a:off x="3099" y="1267"/>
              <a:ext cx="142" cy="0"/>
            </a:xfrm>
            <a:prstGeom prst="line">
              <a:avLst/>
            </a:prstGeom>
            <a:noFill/>
            <a:ln w="19050">
              <a:solidFill>
                <a:srgbClr val="0000FF"/>
              </a:solidFill>
              <a:round/>
              <a:headEnd/>
              <a:tailEnd/>
            </a:ln>
          </p:spPr>
          <p:txBody>
            <a:bodyPr wrap="none" anchor="ctr"/>
            <a:lstStyle/>
            <a:p>
              <a:endParaRPr lang="fr-FR"/>
            </a:p>
          </p:txBody>
        </p:sp>
        <p:sp>
          <p:nvSpPr>
            <p:cNvPr id="41025" name="Line 42"/>
            <p:cNvSpPr>
              <a:spLocks noChangeShapeType="1"/>
            </p:cNvSpPr>
            <p:nvPr/>
          </p:nvSpPr>
          <p:spPr bwMode="auto">
            <a:xfrm>
              <a:off x="2811" y="1267"/>
              <a:ext cx="142" cy="0"/>
            </a:xfrm>
            <a:prstGeom prst="line">
              <a:avLst/>
            </a:prstGeom>
            <a:noFill/>
            <a:ln w="19050">
              <a:solidFill>
                <a:srgbClr val="0000FF"/>
              </a:solidFill>
              <a:round/>
              <a:headEnd/>
              <a:tailEnd/>
            </a:ln>
          </p:spPr>
          <p:txBody>
            <a:bodyPr wrap="none" anchor="ctr"/>
            <a:lstStyle/>
            <a:p>
              <a:endParaRPr lang="fr-FR"/>
            </a:p>
          </p:txBody>
        </p:sp>
        <p:sp>
          <p:nvSpPr>
            <p:cNvPr id="41026" name="Text Box 43"/>
            <p:cNvSpPr txBox="1">
              <a:spLocks noChangeArrowheads="1"/>
            </p:cNvSpPr>
            <p:nvPr/>
          </p:nvSpPr>
          <p:spPr bwMode="auto">
            <a:xfrm>
              <a:off x="2911" y="897"/>
              <a:ext cx="401" cy="212"/>
            </a:xfrm>
            <a:prstGeom prst="rect">
              <a:avLst/>
            </a:prstGeom>
            <a:noFill/>
            <a:ln w="9525">
              <a:noFill/>
              <a:miter lim="800000"/>
              <a:headEnd/>
              <a:tailEnd/>
            </a:ln>
          </p:spPr>
          <p:txBody>
            <a:bodyPr wrap="none">
              <a:spAutoFit/>
            </a:bodyPr>
            <a:lstStyle/>
            <a:p>
              <a:r>
                <a:rPr lang="fr-FR" sz="1600" b="1">
                  <a:solidFill>
                    <a:srgbClr val="0000FF"/>
                  </a:solidFill>
                </a:rPr>
                <a:t>NH</a:t>
              </a:r>
              <a:r>
                <a:rPr lang="fr-FR" sz="1600" b="1" baseline="-25000">
                  <a:solidFill>
                    <a:srgbClr val="0000FF"/>
                  </a:solidFill>
                </a:rPr>
                <a:t>3</a:t>
              </a:r>
              <a:r>
                <a:rPr lang="fr-FR" sz="1600" b="1" baseline="30000">
                  <a:solidFill>
                    <a:srgbClr val="0000FF"/>
                  </a:solidFill>
                </a:rPr>
                <a:t>+</a:t>
              </a:r>
            </a:p>
          </p:txBody>
        </p:sp>
        <p:sp>
          <p:nvSpPr>
            <p:cNvPr id="41027" name="Line 44"/>
            <p:cNvSpPr>
              <a:spLocks noChangeShapeType="1"/>
            </p:cNvSpPr>
            <p:nvPr/>
          </p:nvSpPr>
          <p:spPr bwMode="auto">
            <a:xfrm>
              <a:off x="3019" y="1068"/>
              <a:ext cx="0" cy="124"/>
            </a:xfrm>
            <a:prstGeom prst="line">
              <a:avLst/>
            </a:prstGeom>
            <a:noFill/>
            <a:ln w="19050">
              <a:solidFill>
                <a:srgbClr val="0000FF"/>
              </a:solidFill>
              <a:round/>
              <a:headEnd/>
              <a:tailEnd/>
            </a:ln>
          </p:spPr>
          <p:txBody>
            <a:bodyPr wrap="none" anchor="ctr"/>
            <a:lstStyle/>
            <a:p>
              <a:endParaRPr lang="fr-FR"/>
            </a:p>
          </p:txBody>
        </p:sp>
      </p:grpSp>
      <p:grpSp>
        <p:nvGrpSpPr>
          <p:cNvPr id="6" name="Group 93"/>
          <p:cNvGrpSpPr>
            <a:grpSpLocks/>
          </p:cNvGrpSpPr>
          <p:nvPr/>
        </p:nvGrpSpPr>
        <p:grpSpPr bwMode="auto">
          <a:xfrm>
            <a:off x="6030118" y="2211266"/>
            <a:ext cx="1963737" cy="1847850"/>
            <a:chOff x="4371" y="1521"/>
            <a:chExt cx="1237" cy="1164"/>
          </a:xfrm>
        </p:grpSpPr>
        <p:sp>
          <p:nvSpPr>
            <p:cNvPr id="40984" name="Line 58"/>
            <p:cNvSpPr>
              <a:spLocks noChangeShapeType="1"/>
            </p:cNvSpPr>
            <p:nvPr/>
          </p:nvSpPr>
          <p:spPr bwMode="auto">
            <a:xfrm>
              <a:off x="4821" y="2377"/>
              <a:ext cx="309" cy="0"/>
            </a:xfrm>
            <a:prstGeom prst="line">
              <a:avLst/>
            </a:prstGeom>
            <a:noFill/>
            <a:ln w="28575">
              <a:solidFill>
                <a:srgbClr val="0000FF"/>
              </a:solidFill>
              <a:round/>
              <a:headEnd/>
              <a:tailEnd/>
            </a:ln>
          </p:spPr>
          <p:txBody>
            <a:bodyPr wrap="none" anchor="ctr"/>
            <a:lstStyle/>
            <a:p>
              <a:endParaRPr lang="fr-FR"/>
            </a:p>
          </p:txBody>
        </p:sp>
        <p:sp>
          <p:nvSpPr>
            <p:cNvPr id="40985" name="Line 59"/>
            <p:cNvSpPr>
              <a:spLocks noChangeShapeType="1"/>
            </p:cNvSpPr>
            <p:nvPr/>
          </p:nvSpPr>
          <p:spPr bwMode="auto">
            <a:xfrm>
              <a:off x="4821" y="1837"/>
              <a:ext cx="309" cy="0"/>
            </a:xfrm>
            <a:prstGeom prst="line">
              <a:avLst/>
            </a:prstGeom>
            <a:noFill/>
            <a:ln w="28575">
              <a:solidFill>
                <a:srgbClr val="0000FF"/>
              </a:solidFill>
              <a:round/>
              <a:headEnd/>
              <a:tailEnd/>
            </a:ln>
          </p:spPr>
          <p:txBody>
            <a:bodyPr wrap="none" anchor="ctr"/>
            <a:lstStyle/>
            <a:p>
              <a:endParaRPr lang="fr-FR"/>
            </a:p>
          </p:txBody>
        </p:sp>
        <p:sp>
          <p:nvSpPr>
            <p:cNvPr id="40986" name="Line 60"/>
            <p:cNvSpPr>
              <a:spLocks noChangeShapeType="1"/>
            </p:cNvSpPr>
            <p:nvPr/>
          </p:nvSpPr>
          <p:spPr bwMode="auto">
            <a:xfrm rot="-2734724">
              <a:off x="4508" y="1973"/>
              <a:ext cx="371" cy="0"/>
            </a:xfrm>
            <a:prstGeom prst="line">
              <a:avLst/>
            </a:prstGeom>
            <a:noFill/>
            <a:ln w="28575">
              <a:solidFill>
                <a:srgbClr val="0000FF"/>
              </a:solidFill>
              <a:round/>
              <a:headEnd/>
              <a:tailEnd/>
            </a:ln>
          </p:spPr>
          <p:txBody>
            <a:bodyPr wrap="none" anchor="ctr"/>
            <a:lstStyle/>
            <a:p>
              <a:endParaRPr lang="fr-FR"/>
            </a:p>
          </p:txBody>
        </p:sp>
        <p:sp>
          <p:nvSpPr>
            <p:cNvPr id="40987" name="Line 61"/>
            <p:cNvSpPr>
              <a:spLocks noChangeShapeType="1"/>
            </p:cNvSpPr>
            <p:nvPr/>
          </p:nvSpPr>
          <p:spPr bwMode="auto">
            <a:xfrm rot="2734724" flipV="1">
              <a:off x="4508" y="2248"/>
              <a:ext cx="371" cy="0"/>
            </a:xfrm>
            <a:prstGeom prst="line">
              <a:avLst/>
            </a:prstGeom>
            <a:noFill/>
            <a:ln w="28575">
              <a:solidFill>
                <a:srgbClr val="0000FF"/>
              </a:solidFill>
              <a:round/>
              <a:headEnd/>
              <a:tailEnd/>
            </a:ln>
          </p:spPr>
          <p:txBody>
            <a:bodyPr wrap="none" anchor="ctr"/>
            <a:lstStyle/>
            <a:p>
              <a:endParaRPr lang="fr-FR"/>
            </a:p>
          </p:txBody>
        </p:sp>
        <p:sp>
          <p:nvSpPr>
            <p:cNvPr id="40988" name="Line 62"/>
            <p:cNvSpPr>
              <a:spLocks noChangeShapeType="1"/>
            </p:cNvSpPr>
            <p:nvPr/>
          </p:nvSpPr>
          <p:spPr bwMode="auto">
            <a:xfrm rot="2734724" flipH="1">
              <a:off x="5079" y="1973"/>
              <a:ext cx="371" cy="0"/>
            </a:xfrm>
            <a:prstGeom prst="line">
              <a:avLst/>
            </a:prstGeom>
            <a:noFill/>
            <a:ln w="28575">
              <a:solidFill>
                <a:srgbClr val="0000FF"/>
              </a:solidFill>
              <a:round/>
              <a:headEnd/>
              <a:tailEnd/>
            </a:ln>
          </p:spPr>
          <p:txBody>
            <a:bodyPr wrap="none" anchor="ctr"/>
            <a:lstStyle/>
            <a:p>
              <a:endParaRPr lang="fr-FR"/>
            </a:p>
          </p:txBody>
        </p:sp>
        <p:sp>
          <p:nvSpPr>
            <p:cNvPr id="40989" name="Line 63"/>
            <p:cNvSpPr>
              <a:spLocks noChangeShapeType="1"/>
            </p:cNvSpPr>
            <p:nvPr/>
          </p:nvSpPr>
          <p:spPr bwMode="auto">
            <a:xfrm rot="-2734724" flipH="1" flipV="1">
              <a:off x="5087" y="2248"/>
              <a:ext cx="371" cy="0"/>
            </a:xfrm>
            <a:prstGeom prst="line">
              <a:avLst/>
            </a:prstGeom>
            <a:noFill/>
            <a:ln w="28575">
              <a:solidFill>
                <a:srgbClr val="0000FF"/>
              </a:solidFill>
              <a:round/>
              <a:headEnd/>
              <a:tailEnd/>
            </a:ln>
          </p:spPr>
          <p:txBody>
            <a:bodyPr wrap="none" anchor="ctr"/>
            <a:lstStyle/>
            <a:p>
              <a:endParaRPr lang="fr-FR"/>
            </a:p>
          </p:txBody>
        </p:sp>
        <p:sp>
          <p:nvSpPr>
            <p:cNvPr id="40990" name="Line 64"/>
            <p:cNvSpPr>
              <a:spLocks noChangeShapeType="1"/>
            </p:cNvSpPr>
            <p:nvPr/>
          </p:nvSpPr>
          <p:spPr bwMode="auto">
            <a:xfrm flipH="1">
              <a:off x="4831" y="2232"/>
              <a:ext cx="0" cy="269"/>
            </a:xfrm>
            <a:prstGeom prst="line">
              <a:avLst/>
            </a:prstGeom>
            <a:noFill/>
            <a:ln w="19050">
              <a:solidFill>
                <a:srgbClr val="0000FF"/>
              </a:solidFill>
              <a:round/>
              <a:headEnd/>
              <a:tailEnd/>
            </a:ln>
          </p:spPr>
          <p:txBody>
            <a:bodyPr wrap="none" anchor="ctr"/>
            <a:lstStyle/>
            <a:p>
              <a:endParaRPr lang="fr-FR"/>
            </a:p>
          </p:txBody>
        </p:sp>
        <p:sp>
          <p:nvSpPr>
            <p:cNvPr id="40991" name="Text Box 70"/>
            <p:cNvSpPr txBox="1">
              <a:spLocks noChangeArrowheads="1"/>
            </p:cNvSpPr>
            <p:nvPr/>
          </p:nvSpPr>
          <p:spPr bwMode="auto">
            <a:xfrm>
              <a:off x="4727" y="2057"/>
              <a:ext cx="308" cy="212"/>
            </a:xfrm>
            <a:prstGeom prst="rect">
              <a:avLst/>
            </a:prstGeom>
            <a:noFill/>
            <a:ln w="9525">
              <a:noFill/>
              <a:miter lim="800000"/>
              <a:headEnd/>
              <a:tailEnd/>
            </a:ln>
          </p:spPr>
          <p:txBody>
            <a:bodyPr wrap="none">
              <a:spAutoFit/>
            </a:bodyPr>
            <a:lstStyle/>
            <a:p>
              <a:r>
                <a:rPr lang="fr-FR" sz="1600" b="1" dirty="0">
                  <a:solidFill>
                    <a:srgbClr val="0000FF"/>
                  </a:solidFill>
                </a:rPr>
                <a:t>OH</a:t>
              </a:r>
              <a:endParaRPr lang="fr-FR" sz="1600" b="1" baseline="30000" dirty="0">
                <a:solidFill>
                  <a:srgbClr val="0000FF"/>
                </a:solidFill>
              </a:endParaRPr>
            </a:p>
          </p:txBody>
        </p:sp>
        <p:sp>
          <p:nvSpPr>
            <p:cNvPr id="40992" name="Line 72"/>
            <p:cNvSpPr>
              <a:spLocks noChangeShapeType="1"/>
            </p:cNvSpPr>
            <p:nvPr/>
          </p:nvSpPr>
          <p:spPr bwMode="auto">
            <a:xfrm flipH="1">
              <a:off x="5135" y="2232"/>
              <a:ext cx="0" cy="269"/>
            </a:xfrm>
            <a:prstGeom prst="line">
              <a:avLst/>
            </a:prstGeom>
            <a:noFill/>
            <a:ln w="19050">
              <a:solidFill>
                <a:srgbClr val="0000FF"/>
              </a:solidFill>
              <a:round/>
              <a:headEnd/>
              <a:tailEnd/>
            </a:ln>
          </p:spPr>
          <p:txBody>
            <a:bodyPr wrap="none" anchor="ctr"/>
            <a:lstStyle/>
            <a:p>
              <a:endParaRPr lang="fr-FR"/>
            </a:p>
          </p:txBody>
        </p:sp>
        <p:sp>
          <p:nvSpPr>
            <p:cNvPr id="40993" name="Line 73"/>
            <p:cNvSpPr>
              <a:spLocks noChangeShapeType="1"/>
            </p:cNvSpPr>
            <p:nvPr/>
          </p:nvSpPr>
          <p:spPr bwMode="auto">
            <a:xfrm flipH="1">
              <a:off x="5399" y="1960"/>
              <a:ext cx="0" cy="269"/>
            </a:xfrm>
            <a:prstGeom prst="line">
              <a:avLst/>
            </a:prstGeom>
            <a:noFill/>
            <a:ln w="19050">
              <a:solidFill>
                <a:srgbClr val="0000FF"/>
              </a:solidFill>
              <a:round/>
              <a:headEnd/>
              <a:tailEnd/>
            </a:ln>
          </p:spPr>
          <p:txBody>
            <a:bodyPr wrap="none" anchor="ctr"/>
            <a:lstStyle/>
            <a:p>
              <a:endParaRPr lang="fr-FR"/>
            </a:p>
          </p:txBody>
        </p:sp>
        <p:sp>
          <p:nvSpPr>
            <p:cNvPr id="40994" name="Line 74"/>
            <p:cNvSpPr>
              <a:spLocks noChangeShapeType="1"/>
            </p:cNvSpPr>
            <p:nvPr/>
          </p:nvSpPr>
          <p:spPr bwMode="auto">
            <a:xfrm flipH="1">
              <a:off x="5143" y="1680"/>
              <a:ext cx="0" cy="269"/>
            </a:xfrm>
            <a:prstGeom prst="line">
              <a:avLst/>
            </a:prstGeom>
            <a:noFill/>
            <a:ln w="19050">
              <a:solidFill>
                <a:srgbClr val="0000FF"/>
              </a:solidFill>
              <a:round/>
              <a:headEnd/>
              <a:tailEnd/>
            </a:ln>
          </p:spPr>
          <p:txBody>
            <a:bodyPr wrap="none" anchor="ctr"/>
            <a:lstStyle/>
            <a:p>
              <a:endParaRPr lang="fr-FR"/>
            </a:p>
          </p:txBody>
        </p:sp>
        <p:sp>
          <p:nvSpPr>
            <p:cNvPr id="40995" name="Line 75"/>
            <p:cNvSpPr>
              <a:spLocks noChangeShapeType="1"/>
            </p:cNvSpPr>
            <p:nvPr/>
          </p:nvSpPr>
          <p:spPr bwMode="auto">
            <a:xfrm flipH="1">
              <a:off x="4823" y="1680"/>
              <a:ext cx="0" cy="269"/>
            </a:xfrm>
            <a:prstGeom prst="line">
              <a:avLst/>
            </a:prstGeom>
            <a:noFill/>
            <a:ln w="19050">
              <a:solidFill>
                <a:srgbClr val="0000FF"/>
              </a:solidFill>
              <a:round/>
              <a:headEnd/>
              <a:tailEnd/>
            </a:ln>
          </p:spPr>
          <p:txBody>
            <a:bodyPr wrap="none" anchor="ctr"/>
            <a:lstStyle/>
            <a:p>
              <a:endParaRPr lang="fr-FR"/>
            </a:p>
          </p:txBody>
        </p:sp>
        <p:sp>
          <p:nvSpPr>
            <p:cNvPr id="40996" name="Line 76"/>
            <p:cNvSpPr>
              <a:spLocks noChangeShapeType="1"/>
            </p:cNvSpPr>
            <p:nvPr/>
          </p:nvSpPr>
          <p:spPr bwMode="auto">
            <a:xfrm flipH="1">
              <a:off x="4567" y="1960"/>
              <a:ext cx="0" cy="269"/>
            </a:xfrm>
            <a:prstGeom prst="line">
              <a:avLst/>
            </a:prstGeom>
            <a:noFill/>
            <a:ln w="19050">
              <a:solidFill>
                <a:srgbClr val="0000FF"/>
              </a:solidFill>
              <a:round/>
              <a:headEnd/>
              <a:tailEnd/>
            </a:ln>
          </p:spPr>
          <p:txBody>
            <a:bodyPr wrap="none" anchor="ctr"/>
            <a:lstStyle/>
            <a:p>
              <a:endParaRPr lang="fr-FR"/>
            </a:p>
          </p:txBody>
        </p:sp>
        <p:sp>
          <p:nvSpPr>
            <p:cNvPr id="40997" name="Text Box 77"/>
            <p:cNvSpPr txBox="1">
              <a:spLocks noChangeArrowheads="1"/>
            </p:cNvSpPr>
            <p:nvPr/>
          </p:nvSpPr>
          <p:spPr bwMode="auto">
            <a:xfrm>
              <a:off x="5031" y="2473"/>
              <a:ext cx="308" cy="212"/>
            </a:xfrm>
            <a:prstGeom prst="rect">
              <a:avLst/>
            </a:prstGeom>
            <a:noFill/>
            <a:ln w="9525">
              <a:noFill/>
              <a:miter lim="800000"/>
              <a:headEnd/>
              <a:tailEnd/>
            </a:ln>
          </p:spPr>
          <p:txBody>
            <a:bodyPr wrap="none">
              <a:spAutoFit/>
            </a:bodyPr>
            <a:lstStyle/>
            <a:p>
              <a:r>
                <a:rPr lang="fr-FR" sz="1600" b="1">
                  <a:solidFill>
                    <a:srgbClr val="0000FF"/>
                  </a:solidFill>
                </a:rPr>
                <a:t>OH</a:t>
              </a:r>
              <a:endParaRPr lang="fr-FR" sz="1600" b="1" baseline="30000">
                <a:solidFill>
                  <a:srgbClr val="0000FF"/>
                </a:solidFill>
              </a:endParaRPr>
            </a:p>
          </p:txBody>
        </p:sp>
        <p:sp>
          <p:nvSpPr>
            <p:cNvPr id="40998" name="Text Box 78"/>
            <p:cNvSpPr txBox="1">
              <a:spLocks noChangeArrowheads="1"/>
            </p:cNvSpPr>
            <p:nvPr/>
          </p:nvSpPr>
          <p:spPr bwMode="auto">
            <a:xfrm>
              <a:off x="5300" y="1777"/>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baseline="30000">
                <a:solidFill>
                  <a:srgbClr val="FF0000"/>
                </a:solidFill>
              </a:endParaRPr>
            </a:p>
          </p:txBody>
        </p:sp>
        <p:sp>
          <p:nvSpPr>
            <p:cNvPr id="40999" name="Text Box 79"/>
            <p:cNvSpPr txBox="1">
              <a:spLocks noChangeArrowheads="1"/>
            </p:cNvSpPr>
            <p:nvPr/>
          </p:nvSpPr>
          <p:spPr bwMode="auto">
            <a:xfrm>
              <a:off x="5041" y="1521"/>
              <a:ext cx="308" cy="212"/>
            </a:xfrm>
            <a:prstGeom prst="rect">
              <a:avLst/>
            </a:prstGeom>
            <a:noFill/>
            <a:ln w="9525">
              <a:noFill/>
              <a:miter lim="800000"/>
              <a:headEnd/>
              <a:tailEnd/>
            </a:ln>
          </p:spPr>
          <p:txBody>
            <a:bodyPr wrap="none">
              <a:spAutoFit/>
            </a:bodyPr>
            <a:lstStyle/>
            <a:p>
              <a:r>
                <a:rPr lang="fr-FR" sz="1600" b="1">
                  <a:solidFill>
                    <a:srgbClr val="0000FF"/>
                  </a:solidFill>
                </a:rPr>
                <a:t>OH</a:t>
              </a:r>
              <a:endParaRPr lang="fr-FR" sz="1600" b="1" baseline="30000">
                <a:solidFill>
                  <a:srgbClr val="0000FF"/>
                </a:solidFill>
              </a:endParaRPr>
            </a:p>
          </p:txBody>
        </p:sp>
        <p:sp>
          <p:nvSpPr>
            <p:cNvPr id="41000" name="Text Box 80"/>
            <p:cNvSpPr txBox="1">
              <a:spLocks noChangeArrowheads="1"/>
            </p:cNvSpPr>
            <p:nvPr/>
          </p:nvSpPr>
          <p:spPr bwMode="auto">
            <a:xfrm>
              <a:off x="4718" y="1521"/>
              <a:ext cx="308" cy="212"/>
            </a:xfrm>
            <a:prstGeom prst="rect">
              <a:avLst/>
            </a:prstGeom>
            <a:noFill/>
            <a:ln w="9525">
              <a:noFill/>
              <a:miter lim="800000"/>
              <a:headEnd/>
              <a:tailEnd/>
            </a:ln>
          </p:spPr>
          <p:txBody>
            <a:bodyPr wrap="none">
              <a:spAutoFit/>
            </a:bodyPr>
            <a:lstStyle/>
            <a:p>
              <a:r>
                <a:rPr lang="fr-FR" sz="1600" b="1">
                  <a:solidFill>
                    <a:srgbClr val="0000FF"/>
                  </a:solidFill>
                </a:rPr>
                <a:t>OH</a:t>
              </a:r>
              <a:endParaRPr lang="fr-FR" sz="1600" b="1" baseline="30000">
                <a:solidFill>
                  <a:srgbClr val="0000FF"/>
                </a:solidFill>
              </a:endParaRPr>
            </a:p>
          </p:txBody>
        </p:sp>
        <p:sp>
          <p:nvSpPr>
            <p:cNvPr id="41001" name="Text Box 81"/>
            <p:cNvSpPr txBox="1">
              <a:spLocks noChangeArrowheads="1"/>
            </p:cNvSpPr>
            <p:nvPr/>
          </p:nvSpPr>
          <p:spPr bwMode="auto">
            <a:xfrm>
              <a:off x="4371" y="2201"/>
              <a:ext cx="308" cy="212"/>
            </a:xfrm>
            <a:prstGeom prst="rect">
              <a:avLst/>
            </a:prstGeom>
            <a:noFill/>
            <a:ln w="9525">
              <a:noFill/>
              <a:miter lim="800000"/>
              <a:headEnd/>
              <a:tailEnd/>
            </a:ln>
          </p:spPr>
          <p:txBody>
            <a:bodyPr wrap="none">
              <a:spAutoFit/>
            </a:bodyPr>
            <a:lstStyle/>
            <a:p>
              <a:r>
                <a:rPr lang="fr-FR" sz="1600" b="1">
                  <a:solidFill>
                    <a:srgbClr val="0000FF"/>
                  </a:solidFill>
                </a:rPr>
                <a:t>HO</a:t>
              </a:r>
              <a:endParaRPr lang="fr-FR" sz="1600" b="1" baseline="30000">
                <a:solidFill>
                  <a:srgbClr val="0000FF"/>
                </a:solidFill>
              </a:endParaRPr>
            </a:p>
          </p:txBody>
        </p:sp>
        <p:sp>
          <p:nvSpPr>
            <p:cNvPr id="41002" name="Text Box 82"/>
            <p:cNvSpPr txBox="1">
              <a:spLocks noChangeArrowheads="1"/>
            </p:cNvSpPr>
            <p:nvPr/>
          </p:nvSpPr>
          <p:spPr bwMode="auto">
            <a:xfrm>
              <a:off x="4727" y="2473"/>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3" name="Text Box 83"/>
            <p:cNvSpPr txBox="1">
              <a:spLocks noChangeArrowheads="1"/>
            </p:cNvSpPr>
            <p:nvPr/>
          </p:nvSpPr>
          <p:spPr bwMode="auto">
            <a:xfrm>
              <a:off x="5023" y="2057"/>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4" name="Text Box 84"/>
            <p:cNvSpPr txBox="1">
              <a:spLocks noChangeArrowheads="1"/>
            </p:cNvSpPr>
            <p:nvPr/>
          </p:nvSpPr>
          <p:spPr bwMode="auto">
            <a:xfrm>
              <a:off x="5039" y="1921"/>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5" name="Text Box 85"/>
            <p:cNvSpPr txBox="1">
              <a:spLocks noChangeArrowheads="1"/>
            </p:cNvSpPr>
            <p:nvPr/>
          </p:nvSpPr>
          <p:spPr bwMode="auto">
            <a:xfrm>
              <a:off x="4719" y="1913"/>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6" name="Text Box 86"/>
            <p:cNvSpPr txBox="1">
              <a:spLocks noChangeArrowheads="1"/>
            </p:cNvSpPr>
            <p:nvPr/>
          </p:nvSpPr>
          <p:spPr bwMode="auto">
            <a:xfrm>
              <a:off x="4463" y="1785"/>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7" name="Text Box 87"/>
            <p:cNvSpPr txBox="1">
              <a:spLocks noChangeArrowheads="1"/>
            </p:cNvSpPr>
            <p:nvPr/>
          </p:nvSpPr>
          <p:spPr bwMode="auto">
            <a:xfrm>
              <a:off x="5303" y="2201"/>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grpSp>
      <p:sp>
        <p:nvSpPr>
          <p:cNvPr id="40973" name="Text Box 88"/>
          <p:cNvSpPr txBox="1">
            <a:spLocks noChangeArrowheads="1"/>
          </p:cNvSpPr>
          <p:nvPr/>
        </p:nvSpPr>
        <p:spPr bwMode="auto">
          <a:xfrm>
            <a:off x="7437438" y="3924300"/>
            <a:ext cx="738187" cy="304800"/>
          </a:xfrm>
          <a:prstGeom prst="rect">
            <a:avLst/>
          </a:prstGeom>
          <a:noFill/>
          <a:ln w="9525">
            <a:noFill/>
            <a:miter lim="800000"/>
            <a:headEnd/>
            <a:tailEnd/>
          </a:ln>
        </p:spPr>
        <p:txBody>
          <a:bodyPr wrap="none">
            <a:spAutoFit/>
          </a:bodyPr>
          <a:lstStyle/>
          <a:p>
            <a:r>
              <a:rPr lang="fr-FR" sz="1400">
                <a:solidFill>
                  <a:srgbClr val="0000FF"/>
                </a:solidFill>
              </a:rPr>
              <a:t>inositol</a:t>
            </a:r>
            <a:endParaRPr lang="fr-FR">
              <a:solidFill>
                <a:srgbClr val="FF0000"/>
              </a:solidFill>
            </a:endParaRPr>
          </a:p>
        </p:txBody>
      </p:sp>
      <p:sp>
        <p:nvSpPr>
          <p:cNvPr id="40974" name="Rectangle 103"/>
          <p:cNvSpPr>
            <a:spLocks noChangeArrowheads="1"/>
          </p:cNvSpPr>
          <p:nvPr/>
        </p:nvSpPr>
        <p:spPr bwMode="auto">
          <a:xfrm>
            <a:off x="1485900" y="4889500"/>
            <a:ext cx="6261100" cy="876300"/>
          </a:xfrm>
          <a:prstGeom prst="rect">
            <a:avLst/>
          </a:prstGeom>
          <a:solidFill>
            <a:srgbClr val="99CCFF"/>
          </a:solidFill>
          <a:ln w="9525">
            <a:solidFill>
              <a:srgbClr val="99CCFF"/>
            </a:solidFill>
            <a:miter lim="800000"/>
            <a:headEnd/>
            <a:tailEnd/>
          </a:ln>
        </p:spPr>
        <p:txBody>
          <a:bodyPr wrap="none" anchor="ctr"/>
          <a:lstStyle/>
          <a:p>
            <a:endParaRPr lang="fr-FR"/>
          </a:p>
        </p:txBody>
      </p:sp>
      <p:grpSp>
        <p:nvGrpSpPr>
          <p:cNvPr id="7" name="Group 101"/>
          <p:cNvGrpSpPr>
            <a:grpSpLocks/>
          </p:cNvGrpSpPr>
          <p:nvPr/>
        </p:nvGrpSpPr>
        <p:grpSpPr bwMode="auto">
          <a:xfrm>
            <a:off x="1549400" y="4340225"/>
            <a:ext cx="6224588" cy="2108200"/>
            <a:chOff x="968" y="2838"/>
            <a:chExt cx="3921" cy="1328"/>
          </a:xfrm>
        </p:grpSpPr>
        <p:sp>
          <p:nvSpPr>
            <p:cNvPr id="40977" name="Text Box 94"/>
            <p:cNvSpPr txBox="1">
              <a:spLocks noChangeArrowheads="1"/>
            </p:cNvSpPr>
            <p:nvPr/>
          </p:nvSpPr>
          <p:spPr bwMode="auto">
            <a:xfrm>
              <a:off x="968" y="3158"/>
              <a:ext cx="1439" cy="1008"/>
            </a:xfrm>
            <a:prstGeom prst="rect">
              <a:avLst/>
            </a:prstGeom>
            <a:noFill/>
            <a:ln w="9525">
              <a:noFill/>
              <a:miter lim="800000"/>
              <a:headEnd/>
              <a:tailEnd/>
            </a:ln>
          </p:spPr>
          <p:txBody>
            <a:bodyPr wrap="none">
              <a:spAutoFit/>
            </a:bodyPr>
            <a:lstStyle/>
            <a:p>
              <a:r>
                <a:rPr lang="fr-FR" sz="1400" i="1" dirty="0" err="1"/>
                <a:t>Phosphatidylethanolamine</a:t>
              </a:r>
              <a:endParaRPr lang="fr-FR" sz="1400" i="1" dirty="0"/>
            </a:p>
            <a:p>
              <a:r>
                <a:rPr lang="fr-FR" sz="1400" i="1" dirty="0" err="1"/>
                <a:t>Phosphatidylserine</a:t>
              </a:r>
              <a:endParaRPr lang="fr-FR" sz="1400" i="1" dirty="0"/>
            </a:p>
            <a:p>
              <a:r>
                <a:rPr lang="fr-FR" sz="1400" i="1" dirty="0" err="1"/>
                <a:t>Phosphatidylcholine</a:t>
              </a:r>
              <a:endParaRPr lang="fr-FR" sz="1400" i="1" dirty="0"/>
            </a:p>
            <a:p>
              <a:r>
                <a:rPr lang="fr-FR" sz="1400" i="1" dirty="0" err="1"/>
                <a:t>Phosphatidylinositol</a:t>
              </a:r>
              <a:endParaRPr lang="fr-FR" sz="1400" i="1" dirty="0"/>
            </a:p>
            <a:p>
              <a:r>
                <a:rPr lang="fr-FR" sz="1400" i="1" dirty="0" err="1"/>
                <a:t>Sphingomyéline</a:t>
              </a:r>
              <a:endParaRPr lang="fr-FR" sz="1400" i="1" dirty="0"/>
            </a:p>
            <a:p>
              <a:r>
                <a:rPr lang="fr-FR" sz="1400" i="1" dirty="0"/>
                <a:t>Glycolipides</a:t>
              </a:r>
            </a:p>
            <a:p>
              <a:r>
                <a:rPr lang="fr-FR" sz="1400" i="1" dirty="0" err="1"/>
                <a:t>Cholesterol</a:t>
              </a:r>
              <a:endParaRPr lang="fr-FR" sz="1400" i="1" dirty="0"/>
            </a:p>
          </p:txBody>
        </p:sp>
        <p:sp>
          <p:nvSpPr>
            <p:cNvPr id="40978" name="Rectangle 95"/>
            <p:cNvSpPr>
              <a:spLocks noChangeArrowheads="1"/>
            </p:cNvSpPr>
            <p:nvPr/>
          </p:nvSpPr>
          <p:spPr bwMode="auto">
            <a:xfrm>
              <a:off x="3992" y="2838"/>
              <a:ext cx="897" cy="326"/>
            </a:xfrm>
            <a:prstGeom prst="rect">
              <a:avLst/>
            </a:prstGeom>
            <a:noFill/>
            <a:ln w="9525">
              <a:noFill/>
              <a:miter lim="800000"/>
              <a:headEnd/>
              <a:tailEnd/>
            </a:ln>
          </p:spPr>
          <p:txBody>
            <a:bodyPr>
              <a:spAutoFit/>
            </a:bodyPr>
            <a:lstStyle/>
            <a:p>
              <a:pPr algn="ctr"/>
              <a:r>
                <a:rPr lang="fr-FR" sz="1400" i="1"/>
                <a:t>Réticulum endoplasmique</a:t>
              </a:r>
            </a:p>
          </p:txBody>
        </p:sp>
        <p:sp>
          <p:nvSpPr>
            <p:cNvPr id="40979" name="Rectangle 96"/>
            <p:cNvSpPr>
              <a:spLocks noChangeArrowheads="1"/>
            </p:cNvSpPr>
            <p:nvPr/>
          </p:nvSpPr>
          <p:spPr bwMode="auto">
            <a:xfrm>
              <a:off x="2440" y="2838"/>
              <a:ext cx="677" cy="326"/>
            </a:xfrm>
            <a:prstGeom prst="rect">
              <a:avLst/>
            </a:prstGeom>
            <a:noFill/>
            <a:ln w="9525">
              <a:noFill/>
              <a:miter lim="800000"/>
              <a:headEnd/>
              <a:tailEnd/>
            </a:ln>
          </p:spPr>
          <p:txBody>
            <a:bodyPr>
              <a:spAutoFit/>
            </a:bodyPr>
            <a:lstStyle/>
            <a:p>
              <a:pPr algn="ctr"/>
              <a:r>
                <a:rPr lang="fr-FR" sz="1400" i="1"/>
                <a:t>Membrane plasmique</a:t>
              </a:r>
            </a:p>
          </p:txBody>
        </p:sp>
        <p:sp>
          <p:nvSpPr>
            <p:cNvPr id="40980" name="Rectangle 97"/>
            <p:cNvSpPr>
              <a:spLocks noChangeArrowheads="1"/>
            </p:cNvSpPr>
            <p:nvPr/>
          </p:nvSpPr>
          <p:spPr bwMode="auto">
            <a:xfrm>
              <a:off x="3217" y="2905"/>
              <a:ext cx="757" cy="192"/>
            </a:xfrm>
            <a:prstGeom prst="rect">
              <a:avLst/>
            </a:prstGeom>
            <a:noFill/>
            <a:ln w="9525">
              <a:noFill/>
              <a:miter lim="800000"/>
              <a:headEnd/>
              <a:tailEnd/>
            </a:ln>
          </p:spPr>
          <p:txBody>
            <a:bodyPr wrap="none">
              <a:spAutoFit/>
            </a:bodyPr>
            <a:lstStyle/>
            <a:p>
              <a:r>
                <a:rPr lang="fr-FR" sz="1400" i="1"/>
                <a:t>Mitochondrie</a:t>
              </a:r>
            </a:p>
          </p:txBody>
        </p:sp>
        <p:sp>
          <p:nvSpPr>
            <p:cNvPr id="40981" name="Text Box 98"/>
            <p:cNvSpPr txBox="1">
              <a:spLocks noChangeArrowheads="1"/>
            </p:cNvSpPr>
            <p:nvPr/>
          </p:nvSpPr>
          <p:spPr bwMode="auto">
            <a:xfrm>
              <a:off x="2645" y="3158"/>
              <a:ext cx="276" cy="1008"/>
            </a:xfrm>
            <a:prstGeom prst="rect">
              <a:avLst/>
            </a:prstGeom>
            <a:noFill/>
            <a:ln w="9525">
              <a:noFill/>
              <a:miter lim="800000"/>
              <a:headEnd/>
              <a:tailEnd/>
            </a:ln>
          </p:spPr>
          <p:txBody>
            <a:bodyPr wrap="none">
              <a:spAutoFit/>
            </a:bodyPr>
            <a:lstStyle/>
            <a:p>
              <a:pPr algn="ctr"/>
              <a:r>
                <a:rPr lang="fr-FR" sz="1400" i="1"/>
                <a:t>7</a:t>
              </a:r>
            </a:p>
            <a:p>
              <a:pPr algn="ctr"/>
              <a:r>
                <a:rPr lang="fr-FR" sz="1400" i="1"/>
                <a:t>4</a:t>
              </a:r>
            </a:p>
            <a:p>
              <a:pPr algn="ctr"/>
              <a:r>
                <a:rPr lang="fr-FR" sz="1400" i="1"/>
                <a:t>24</a:t>
              </a:r>
            </a:p>
            <a:p>
              <a:pPr algn="ctr"/>
              <a:r>
                <a:rPr lang="fr-FR" sz="1400" i="1"/>
                <a:t>&lt; 1</a:t>
              </a:r>
            </a:p>
            <a:p>
              <a:pPr algn="ctr"/>
              <a:r>
                <a:rPr lang="fr-FR" sz="1400" i="1"/>
                <a:t>19</a:t>
              </a:r>
            </a:p>
            <a:p>
              <a:pPr algn="ctr"/>
              <a:r>
                <a:rPr lang="fr-FR" sz="1400" i="1"/>
                <a:t>7</a:t>
              </a:r>
            </a:p>
            <a:p>
              <a:pPr algn="ctr"/>
              <a:r>
                <a:rPr lang="fr-FR" sz="1400" i="1"/>
                <a:t>17</a:t>
              </a:r>
            </a:p>
          </p:txBody>
        </p:sp>
        <p:sp>
          <p:nvSpPr>
            <p:cNvPr id="40982" name="Text Box 99"/>
            <p:cNvSpPr txBox="1">
              <a:spLocks noChangeArrowheads="1"/>
            </p:cNvSpPr>
            <p:nvPr/>
          </p:nvSpPr>
          <p:spPr bwMode="auto">
            <a:xfrm>
              <a:off x="3475" y="3158"/>
              <a:ext cx="242" cy="1008"/>
            </a:xfrm>
            <a:prstGeom prst="rect">
              <a:avLst/>
            </a:prstGeom>
            <a:noFill/>
            <a:ln w="9525">
              <a:noFill/>
              <a:miter lim="800000"/>
              <a:headEnd/>
              <a:tailEnd/>
            </a:ln>
          </p:spPr>
          <p:txBody>
            <a:bodyPr wrap="none">
              <a:spAutoFit/>
            </a:bodyPr>
            <a:lstStyle/>
            <a:p>
              <a:pPr algn="ctr"/>
              <a:r>
                <a:rPr lang="fr-FR" sz="1400" i="1"/>
                <a:t>35</a:t>
              </a:r>
            </a:p>
            <a:p>
              <a:pPr algn="ctr"/>
              <a:r>
                <a:rPr lang="fr-FR" sz="1400" i="1"/>
                <a:t>2</a:t>
              </a:r>
            </a:p>
            <a:p>
              <a:pPr algn="ctr"/>
              <a:r>
                <a:rPr lang="fr-FR" sz="1400" i="1"/>
                <a:t>39</a:t>
              </a:r>
            </a:p>
            <a:p>
              <a:pPr algn="ctr"/>
              <a:r>
                <a:rPr lang="fr-FR" sz="1400" i="1"/>
                <a:t>0</a:t>
              </a:r>
            </a:p>
            <a:p>
              <a:pPr algn="ctr"/>
              <a:r>
                <a:rPr lang="fr-FR" sz="1400" i="1"/>
                <a:t>0</a:t>
              </a:r>
            </a:p>
            <a:p>
              <a:pPr algn="ctr"/>
              <a:r>
                <a:rPr lang="fr-FR" sz="1400" i="1"/>
                <a:t>0</a:t>
              </a:r>
            </a:p>
            <a:p>
              <a:pPr algn="ctr"/>
              <a:r>
                <a:rPr lang="fr-FR" sz="1400" i="1"/>
                <a:t>3</a:t>
              </a:r>
            </a:p>
          </p:txBody>
        </p:sp>
        <p:sp>
          <p:nvSpPr>
            <p:cNvPr id="40983" name="Text Box 100"/>
            <p:cNvSpPr txBox="1">
              <a:spLocks noChangeArrowheads="1"/>
            </p:cNvSpPr>
            <p:nvPr/>
          </p:nvSpPr>
          <p:spPr bwMode="auto">
            <a:xfrm>
              <a:off x="4288" y="3158"/>
              <a:ext cx="242" cy="1008"/>
            </a:xfrm>
            <a:prstGeom prst="rect">
              <a:avLst/>
            </a:prstGeom>
            <a:noFill/>
            <a:ln w="9525">
              <a:noFill/>
              <a:miter lim="800000"/>
              <a:headEnd/>
              <a:tailEnd/>
            </a:ln>
          </p:spPr>
          <p:txBody>
            <a:bodyPr wrap="none">
              <a:spAutoFit/>
            </a:bodyPr>
            <a:lstStyle/>
            <a:p>
              <a:pPr algn="ctr"/>
              <a:r>
                <a:rPr lang="fr-FR" sz="1400" i="1"/>
                <a:t>17</a:t>
              </a:r>
            </a:p>
            <a:p>
              <a:pPr algn="ctr"/>
              <a:r>
                <a:rPr lang="fr-FR" sz="1400" i="1"/>
                <a:t>5</a:t>
              </a:r>
            </a:p>
            <a:p>
              <a:pPr algn="ctr"/>
              <a:r>
                <a:rPr lang="fr-FR" sz="1400" i="1"/>
                <a:t>40</a:t>
              </a:r>
            </a:p>
            <a:p>
              <a:pPr algn="ctr"/>
              <a:r>
                <a:rPr lang="fr-FR" sz="1400" i="1"/>
                <a:t>0</a:t>
              </a:r>
            </a:p>
            <a:p>
              <a:pPr algn="ctr"/>
              <a:r>
                <a:rPr lang="fr-FR" sz="1400" i="1"/>
                <a:t>5</a:t>
              </a:r>
            </a:p>
            <a:p>
              <a:pPr algn="ctr"/>
              <a:r>
                <a:rPr lang="fr-FR" sz="1400" i="1"/>
                <a:t>0</a:t>
              </a:r>
            </a:p>
            <a:p>
              <a:pPr algn="ctr"/>
              <a:r>
                <a:rPr lang="fr-FR" sz="1400" i="1"/>
                <a:t>6</a:t>
              </a:r>
            </a:p>
          </p:txBody>
        </p:sp>
      </p:grpSp>
      <p:sp>
        <p:nvSpPr>
          <p:cNvPr id="40976" name="Text Box 105"/>
          <p:cNvSpPr txBox="1">
            <a:spLocks noChangeArrowheads="1"/>
          </p:cNvSpPr>
          <p:nvPr/>
        </p:nvSpPr>
        <p:spPr bwMode="auto">
          <a:xfrm>
            <a:off x="1949450" y="4457700"/>
            <a:ext cx="1439863" cy="304800"/>
          </a:xfrm>
          <a:prstGeom prst="rect">
            <a:avLst/>
          </a:prstGeom>
          <a:noFill/>
          <a:ln w="9525">
            <a:noFill/>
            <a:miter lim="800000"/>
            <a:headEnd/>
            <a:tailEnd/>
          </a:ln>
        </p:spPr>
        <p:txBody>
          <a:bodyPr wrap="none">
            <a:spAutoFit/>
          </a:bodyPr>
          <a:lstStyle/>
          <a:p>
            <a:r>
              <a:rPr lang="fr-FR" sz="1400">
                <a:solidFill>
                  <a:srgbClr val="FF0FCF"/>
                </a:solidFill>
              </a:rPr>
              <a:t>proportion en %</a:t>
            </a:r>
            <a:endParaRPr lang="fr-FR">
              <a:solidFill>
                <a:srgbClr val="FF0FCF"/>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8846" y="-24526"/>
            <a:ext cx="9144000" cy="711200"/>
          </a:xfrm>
          <a:solidFill>
            <a:schemeClr val="bg1"/>
          </a:solidFill>
        </p:spPr>
        <p:txBody>
          <a:bodyPr rtlCol="0">
            <a:normAutofit fontScale="90000"/>
          </a:bodyPr>
          <a:lstStyle/>
          <a:p>
            <a:pPr eaLnBrk="1" fontAlgn="auto" hangingPunct="1">
              <a:spcAft>
                <a:spcPts val="0"/>
              </a:spcAft>
              <a:defRPr/>
            </a:pPr>
            <a:r>
              <a:rPr lang="fr-FR" sz="2400" b="1" dirty="0" smtClean="0">
                <a:latin typeface="Arial" charset="0"/>
              </a:rPr>
              <a:t>La distribution des lipides est asymétrique</a:t>
            </a:r>
            <a:r>
              <a:rPr lang="fr-FR" b="1" dirty="0" smtClean="0">
                <a:latin typeface="Arial" charset="0"/>
              </a:rPr>
              <a:t> </a:t>
            </a:r>
            <a:endParaRPr lang="fr-FR" dirty="0" smtClean="0">
              <a:latin typeface="Arial" charset="0"/>
            </a:endParaRPr>
          </a:p>
        </p:txBody>
      </p:sp>
      <p:pic>
        <p:nvPicPr>
          <p:cNvPr id="41987" name="Picture 3"/>
          <p:cNvPicPr>
            <a:picLocks noChangeAspect="1" noChangeArrowheads="1"/>
          </p:cNvPicPr>
          <p:nvPr/>
        </p:nvPicPr>
        <p:blipFill>
          <a:blip r:embed="rId3" cstate="print"/>
          <a:srcRect l="9195" t="23473" r="10124" b="24771"/>
          <a:stretch>
            <a:fillRect/>
          </a:stretch>
        </p:blipFill>
        <p:spPr bwMode="auto">
          <a:xfrm>
            <a:off x="2260921" y="785727"/>
            <a:ext cx="5768975" cy="2647950"/>
          </a:xfrm>
          <a:prstGeom prst="rect">
            <a:avLst/>
          </a:prstGeom>
          <a:noFill/>
          <a:ln w="9525">
            <a:noFill/>
            <a:miter lim="800000"/>
            <a:headEnd/>
            <a:tailEnd/>
          </a:ln>
        </p:spPr>
      </p:pic>
      <p:sp>
        <p:nvSpPr>
          <p:cNvPr id="41988" name="Text Box 4"/>
          <p:cNvSpPr txBox="1">
            <a:spLocks noChangeArrowheads="1"/>
          </p:cNvSpPr>
          <p:nvPr/>
        </p:nvSpPr>
        <p:spPr bwMode="auto">
          <a:xfrm>
            <a:off x="282351" y="785727"/>
            <a:ext cx="4139467" cy="400110"/>
          </a:xfrm>
          <a:prstGeom prst="rect">
            <a:avLst/>
          </a:prstGeom>
          <a:noFill/>
          <a:ln w="9525">
            <a:noFill/>
            <a:miter lim="800000"/>
            <a:headEnd/>
            <a:tailEnd/>
          </a:ln>
        </p:spPr>
        <p:txBody>
          <a:bodyPr wrap="none">
            <a:spAutoFit/>
          </a:bodyPr>
          <a:lstStyle/>
          <a:p>
            <a:r>
              <a:rPr lang="fr-FR" sz="2000" b="1" i="1" dirty="0"/>
              <a:t>exemple de la membrane plasmique </a:t>
            </a:r>
            <a:r>
              <a:rPr lang="fr-FR" sz="2000" b="1" dirty="0"/>
              <a:t> </a:t>
            </a:r>
          </a:p>
        </p:txBody>
      </p:sp>
      <p:sp>
        <p:nvSpPr>
          <p:cNvPr id="41989" name="Text Box 5"/>
          <p:cNvSpPr txBox="1">
            <a:spLocks noChangeArrowheads="1"/>
          </p:cNvSpPr>
          <p:nvPr/>
        </p:nvSpPr>
        <p:spPr bwMode="auto">
          <a:xfrm>
            <a:off x="604898" y="3697288"/>
            <a:ext cx="2770188" cy="1069975"/>
          </a:xfrm>
          <a:prstGeom prst="rect">
            <a:avLst/>
          </a:prstGeom>
          <a:noFill/>
          <a:ln w="9525">
            <a:noFill/>
            <a:miter lim="800000"/>
            <a:headEnd/>
            <a:tailEnd/>
          </a:ln>
        </p:spPr>
        <p:txBody>
          <a:bodyPr wrap="none">
            <a:spAutoFit/>
          </a:bodyPr>
          <a:lstStyle/>
          <a:p>
            <a:r>
              <a:rPr lang="fr-FR" sz="1600" b="1" i="1" dirty="0" err="1">
                <a:solidFill>
                  <a:srgbClr val="009900"/>
                </a:solidFill>
              </a:rPr>
              <a:t>Phosphatidylserine</a:t>
            </a:r>
            <a:endParaRPr lang="fr-FR" sz="1600" b="1" i="1" dirty="0">
              <a:solidFill>
                <a:srgbClr val="009900"/>
              </a:solidFill>
            </a:endParaRPr>
          </a:p>
          <a:p>
            <a:r>
              <a:rPr lang="fr-FR" sz="1600" b="1" i="1" dirty="0" err="1"/>
              <a:t>Phosphatidylethanolamine</a:t>
            </a:r>
            <a:endParaRPr lang="fr-FR" sz="1600" b="1" i="1" dirty="0"/>
          </a:p>
          <a:p>
            <a:r>
              <a:rPr lang="fr-FR" sz="1600" b="1" i="1" dirty="0" err="1"/>
              <a:t>Phosphatidylcholine</a:t>
            </a:r>
            <a:endParaRPr lang="fr-FR" sz="1600" b="1" i="1" dirty="0"/>
          </a:p>
          <a:p>
            <a:r>
              <a:rPr lang="fr-FR" sz="1600" b="1" i="1" dirty="0">
                <a:solidFill>
                  <a:srgbClr val="0000FF"/>
                </a:solidFill>
              </a:rPr>
              <a:t>Glycolipides</a:t>
            </a:r>
          </a:p>
        </p:txBody>
      </p:sp>
      <p:sp>
        <p:nvSpPr>
          <p:cNvPr id="41990" name="Rectangle 6"/>
          <p:cNvSpPr>
            <a:spLocks noChangeArrowheads="1"/>
          </p:cNvSpPr>
          <p:nvPr/>
        </p:nvSpPr>
        <p:spPr bwMode="auto">
          <a:xfrm>
            <a:off x="3935734" y="3360738"/>
            <a:ext cx="2419350" cy="336550"/>
          </a:xfrm>
          <a:prstGeom prst="rect">
            <a:avLst/>
          </a:prstGeom>
          <a:noFill/>
          <a:ln w="9525">
            <a:noFill/>
            <a:miter lim="800000"/>
            <a:headEnd/>
            <a:tailEnd/>
          </a:ln>
        </p:spPr>
        <p:txBody>
          <a:bodyPr wrap="none">
            <a:spAutoFit/>
          </a:bodyPr>
          <a:lstStyle/>
          <a:p>
            <a:r>
              <a:rPr lang="fr-FR" sz="1600" b="1" i="1" dirty="0"/>
              <a:t>extérieur	         intérieur</a:t>
            </a:r>
          </a:p>
        </p:txBody>
      </p:sp>
      <p:sp>
        <p:nvSpPr>
          <p:cNvPr id="41991" name="Text Box 7"/>
          <p:cNvSpPr txBox="1">
            <a:spLocks noChangeArrowheads="1"/>
          </p:cNvSpPr>
          <p:nvPr/>
        </p:nvSpPr>
        <p:spPr bwMode="auto">
          <a:xfrm>
            <a:off x="4169156" y="3690045"/>
            <a:ext cx="497251" cy="1077218"/>
          </a:xfrm>
          <a:prstGeom prst="rect">
            <a:avLst/>
          </a:prstGeom>
          <a:noFill/>
          <a:ln w="9525">
            <a:noFill/>
            <a:miter lim="800000"/>
            <a:headEnd/>
            <a:tailEnd/>
          </a:ln>
        </p:spPr>
        <p:txBody>
          <a:bodyPr wrap="none">
            <a:spAutoFit/>
          </a:bodyPr>
          <a:lstStyle/>
          <a:p>
            <a:pPr algn="ctr"/>
            <a:r>
              <a:rPr lang="fr-FR" sz="1600" b="1" i="1" dirty="0" smtClean="0">
                <a:solidFill>
                  <a:srgbClr val="009900"/>
                </a:solidFill>
              </a:rPr>
              <a:t>10</a:t>
            </a:r>
            <a:endParaRPr lang="fr-FR" sz="1600" b="1" i="1" dirty="0">
              <a:solidFill>
                <a:srgbClr val="009900"/>
              </a:solidFill>
            </a:endParaRPr>
          </a:p>
          <a:p>
            <a:pPr algn="ctr"/>
            <a:r>
              <a:rPr lang="fr-FR" sz="1600" b="1" i="1" dirty="0"/>
              <a:t>10</a:t>
            </a:r>
          </a:p>
          <a:p>
            <a:pPr algn="ctr"/>
            <a:r>
              <a:rPr lang="fr-FR" sz="1600" b="1" i="1" dirty="0"/>
              <a:t>90</a:t>
            </a:r>
          </a:p>
          <a:p>
            <a:pPr algn="ctr"/>
            <a:r>
              <a:rPr lang="fr-FR" sz="1600" b="1" i="1" dirty="0">
                <a:solidFill>
                  <a:srgbClr val="0000FF"/>
                </a:solidFill>
              </a:rPr>
              <a:t>100</a:t>
            </a:r>
          </a:p>
        </p:txBody>
      </p:sp>
      <p:sp>
        <p:nvSpPr>
          <p:cNvPr id="41992" name="Text Box 8"/>
          <p:cNvSpPr txBox="1">
            <a:spLocks noChangeArrowheads="1"/>
          </p:cNvSpPr>
          <p:nvPr/>
        </p:nvSpPr>
        <p:spPr bwMode="auto">
          <a:xfrm>
            <a:off x="5394648" y="3690045"/>
            <a:ext cx="393056" cy="1077218"/>
          </a:xfrm>
          <a:prstGeom prst="rect">
            <a:avLst/>
          </a:prstGeom>
          <a:noFill/>
          <a:ln w="9525">
            <a:noFill/>
            <a:miter lim="800000"/>
            <a:headEnd/>
            <a:tailEnd/>
          </a:ln>
        </p:spPr>
        <p:txBody>
          <a:bodyPr wrap="none">
            <a:spAutoFit/>
          </a:bodyPr>
          <a:lstStyle/>
          <a:p>
            <a:pPr algn="ctr"/>
            <a:r>
              <a:rPr lang="fr-FR" sz="1600" b="1" i="1" dirty="0" smtClean="0">
                <a:solidFill>
                  <a:srgbClr val="009900"/>
                </a:solidFill>
              </a:rPr>
              <a:t>90</a:t>
            </a:r>
            <a:endParaRPr lang="fr-FR" sz="1600" b="1" i="1" dirty="0">
              <a:solidFill>
                <a:srgbClr val="009900"/>
              </a:solidFill>
            </a:endParaRPr>
          </a:p>
          <a:p>
            <a:pPr algn="ctr"/>
            <a:r>
              <a:rPr lang="fr-FR" sz="1600" b="1" i="1" dirty="0"/>
              <a:t>90</a:t>
            </a:r>
          </a:p>
          <a:p>
            <a:pPr algn="ctr"/>
            <a:r>
              <a:rPr lang="fr-FR" sz="1600" b="1" i="1" dirty="0"/>
              <a:t>10</a:t>
            </a:r>
          </a:p>
          <a:p>
            <a:pPr algn="ctr"/>
            <a:r>
              <a:rPr lang="fr-FR" sz="1600" b="1" i="1" dirty="0">
                <a:solidFill>
                  <a:srgbClr val="0000FF"/>
                </a:solidFill>
              </a:rPr>
              <a:t>0</a:t>
            </a:r>
          </a:p>
        </p:txBody>
      </p:sp>
      <p:sp>
        <p:nvSpPr>
          <p:cNvPr id="2" name="Rectangle 1"/>
          <p:cNvSpPr/>
          <p:nvPr/>
        </p:nvSpPr>
        <p:spPr>
          <a:xfrm>
            <a:off x="250106" y="5071970"/>
            <a:ext cx="8496944" cy="1477328"/>
          </a:xfrm>
          <a:prstGeom prst="rect">
            <a:avLst/>
          </a:prstGeom>
        </p:spPr>
        <p:txBody>
          <a:bodyPr wrap="square">
            <a:spAutoFit/>
          </a:bodyPr>
          <a:lstStyle/>
          <a:p>
            <a:r>
              <a:rPr lang="fr-FR" dirty="0"/>
              <a:t>L</a:t>
            </a:r>
            <a:r>
              <a:rPr lang="fr-FR" dirty="0" smtClean="0"/>
              <a:t>es </a:t>
            </a:r>
            <a:r>
              <a:rPr lang="fr-FR" dirty="0" err="1"/>
              <a:t>flippases</a:t>
            </a:r>
            <a:r>
              <a:rPr lang="fr-FR" dirty="0"/>
              <a:t> déplacent principalement la </a:t>
            </a:r>
            <a:r>
              <a:rPr lang="fr-FR" dirty="0" err="1"/>
              <a:t>phosphatidylsérine</a:t>
            </a:r>
            <a:r>
              <a:rPr lang="fr-FR" dirty="0"/>
              <a:t> et la </a:t>
            </a:r>
            <a:r>
              <a:rPr lang="fr-FR" dirty="0" err="1"/>
              <a:t>phosphatidyléthanolamine</a:t>
            </a:r>
            <a:r>
              <a:rPr lang="fr-FR" dirty="0"/>
              <a:t> depuis le feuillet extracellulaire vers le feuillet </a:t>
            </a:r>
            <a:r>
              <a:rPr lang="fr-FR" dirty="0" err="1"/>
              <a:t>cytosolique</a:t>
            </a:r>
            <a:r>
              <a:rPr lang="fr-FR" dirty="0"/>
              <a:t> de la membrane </a:t>
            </a:r>
            <a:r>
              <a:rPr lang="fr-FR" dirty="0" smtClean="0"/>
              <a:t>plasmique.</a:t>
            </a:r>
          </a:p>
          <a:p>
            <a:r>
              <a:rPr lang="fr-FR" dirty="0"/>
              <a:t>L</a:t>
            </a:r>
            <a:r>
              <a:rPr lang="fr-FR" dirty="0" smtClean="0"/>
              <a:t>es </a:t>
            </a:r>
            <a:r>
              <a:rPr lang="fr-FR" dirty="0" err="1"/>
              <a:t>floppases</a:t>
            </a:r>
            <a:r>
              <a:rPr lang="fr-FR" dirty="0"/>
              <a:t> déplacent le </a:t>
            </a:r>
            <a:r>
              <a:rPr lang="fr-FR" dirty="0" smtClean="0"/>
              <a:t>cholestérol </a:t>
            </a:r>
            <a:r>
              <a:rPr lang="fr-FR" dirty="0"/>
              <a:t>et la </a:t>
            </a:r>
            <a:r>
              <a:rPr lang="fr-FR" dirty="0" err="1"/>
              <a:t>phosphatidylcholine</a:t>
            </a:r>
            <a:r>
              <a:rPr lang="fr-FR" dirty="0"/>
              <a:t> du feuillet </a:t>
            </a:r>
            <a:r>
              <a:rPr lang="fr-FR" dirty="0" err="1"/>
              <a:t>cytosolique</a:t>
            </a:r>
            <a:r>
              <a:rPr lang="fr-FR" dirty="0"/>
              <a:t> vers le feuillet </a:t>
            </a:r>
            <a:r>
              <a:rPr lang="fr-FR" dirty="0" smtClean="0"/>
              <a:t>extracellulaire.</a:t>
            </a:r>
            <a:endParaRPr lang="fr-F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Espace réservé du texte 48"/>
          <p:cNvSpPr>
            <a:spLocks noGrp="1"/>
          </p:cNvSpPr>
          <p:nvPr>
            <p:ph type="body" idx="10"/>
          </p:nvPr>
        </p:nvSpPr>
        <p:spPr>
          <a:xfrm>
            <a:off x="1944169" y="608896"/>
            <a:ext cx="5316197" cy="995433"/>
          </a:xfrm>
          <a:prstGeom prst="rect">
            <a:avLst/>
          </a:prstGeom>
          <a:noFill/>
          <a:ln w="0" cmpd="sng">
            <a:noFill/>
            <a:prstDash val="solid"/>
          </a:ln>
        </p:spPr>
        <p:txBody>
          <a:bodyPr lIns="0" tIns="0" rIns="0" bIns="0" anchor="t">
            <a:normAutofit/>
          </a:bodyPr>
          <a:lstStyle/>
          <a:p>
            <a:pPr>
              <a:buNone/>
            </a:pPr>
            <a:r>
              <a:rPr lang="fr-FR" sz="3000" b="1" spc="60" dirty="0" smtClean="0">
                <a:latin typeface="Arial" pitchFamily="34" charset="0"/>
                <a:cs typeface="Arial" pitchFamily="34" charset="0"/>
              </a:rPr>
              <a:t>Les  </a:t>
            </a:r>
            <a:r>
              <a:rPr lang="fr-FR" sz="3000" b="1" spc="60" dirty="0" err="1" smtClean="0">
                <a:latin typeface="Arial" pitchFamily="34" charset="0"/>
                <a:cs typeface="Arial" pitchFamily="34" charset="0"/>
              </a:rPr>
              <a:t>sphingolipides</a:t>
            </a:r>
            <a:endParaRPr lang="fr-FR" sz="3000" b="1" spc="60" dirty="0" smtClean="0">
              <a:latin typeface="Arial" pitchFamily="34" charset="0"/>
              <a:cs typeface="Arial" pitchFamily="34" charset="0"/>
            </a:endParaRPr>
          </a:p>
          <a:p>
            <a:pPr>
              <a:buNone/>
            </a:pPr>
            <a:endParaRPr lang="fr-FR" b="1" dirty="0">
              <a:latin typeface="Arial" panose="22635452340000000000" pitchFamily="2"/>
            </a:endParaRPr>
          </a:p>
        </p:txBody>
      </p:sp>
      <p:graphicFrame>
        <p:nvGraphicFramePr>
          <p:cNvPr id="53" name="table 53"/>
          <p:cNvGraphicFramePr>
            <a:graphicFrameLocks noGrp="1"/>
          </p:cNvGraphicFramePr>
          <p:nvPr>
            <p:extLst>
              <p:ext uri="{D42A27DB-BD31-4B8C-83A1-F6EECF244321}">
                <p14:modId xmlns:p14="http://schemas.microsoft.com/office/powerpoint/2010/main" val="2717548005"/>
              </p:ext>
            </p:extLst>
          </p:nvPr>
        </p:nvGraphicFramePr>
        <p:xfrm>
          <a:off x="652194" y="5731361"/>
          <a:ext cx="6255435" cy="1993745"/>
        </p:xfrm>
        <a:graphic>
          <a:graphicData uri="http://schemas.openxmlformats.org/drawingml/2006/table">
            <a:tbl>
              <a:tblPr/>
              <a:tblGrid>
                <a:gridCol w="457132"/>
                <a:gridCol w="5798303"/>
              </a:tblGrid>
              <a:tr h="1993745">
                <a:tc>
                  <a:txBody>
                    <a:bodyPr/>
                    <a:lstStyle/>
                    <a:p>
                      <a:pPr marL="0" marR="6350" indent="0" algn="r">
                        <a:lnSpc>
                          <a:spcPct val="95999"/>
                        </a:lnSpc>
                        <a:spcBef>
                          <a:spcPts val="10260"/>
                        </a:spcBef>
                        <a:spcAft>
                          <a:spcPts val="0"/>
                        </a:spcAft>
                      </a:pPr>
                      <a:r>
                        <a:rPr lang="fr-FR" sz="2000" b="1" spc="0" dirty="0">
                          <a:solidFill>
                            <a:srgbClr val="000000"/>
                          </a:solidFill>
                          <a:latin typeface="Tahoma" panose="22635452340000000000" pitchFamily="2"/>
                        </a:rPr>
                        <a:t>HO</a:t>
                      </a:r>
                    </a:p>
                  </a:txBody>
                  <a:tcPr marL="0" marR="0" marT="0" marB="0">
                    <a:lnL w="0" cmpd="sng">
                      <a:noFill/>
                      <a:prstDash val="solid"/>
                    </a:lnL>
                    <a:lnR w="0" cmpd="sng">
                      <a:noFill/>
                      <a:prstDash val="solid"/>
                    </a:lnR>
                    <a:lnT w="0" cmpd="sng">
                      <a:noFill/>
                      <a:prstDash val="solid"/>
                    </a:lnT>
                    <a:lnB w="0" cmpd="sng">
                      <a:noFill/>
                      <a:prstDash val="solid"/>
                    </a:lnB>
                  </a:tcPr>
                </a:tc>
                <a:tc>
                  <a:txBody>
                    <a:bodyPr/>
                    <a:lstStyle/>
                    <a:p>
                      <a:pPr algn="l"/>
                      <a:r>
                        <a:rPr lang="en-US" sz="100" dirty="0"/>
                        <a:t> </a:t>
                      </a:r>
                    </a:p>
                  </a:txBody>
                  <a:tcPr marL="0" marR="0" marT="0" marB="0">
                    <a:lnL w="0" cmpd="sng">
                      <a:noFill/>
                      <a:prstDash val="solid"/>
                    </a:lnL>
                    <a:lnR w="0" cmpd="sng">
                      <a:noFill/>
                      <a:prstDash val="solid"/>
                    </a:lnR>
                    <a:lnT w="0" cmpd="sng">
                      <a:noFill/>
                      <a:prstDash val="solid"/>
                    </a:lnT>
                    <a:lnB w="0" cmpd="sng">
                      <a:noFill/>
                      <a:prstDash val="solid"/>
                    </a:lnB>
                  </a:tcPr>
                </a:tc>
              </a:tr>
            </a:tbl>
          </a:graphicData>
        </a:graphic>
      </p:graphicFrame>
      <p:pic>
        <p:nvPicPr>
          <p:cNvPr id="54" name="Image.jpg"/>
          <p:cNvPicPr/>
          <p:nvPr/>
        </p:nvPicPr>
        <p:blipFill>
          <a:blip r:embed="rId2" cstate="print"/>
          <a:stretch>
            <a:fillRect/>
          </a:stretch>
        </p:blipFill>
        <p:spPr>
          <a:xfrm>
            <a:off x="1259632" y="5003378"/>
            <a:ext cx="5400599" cy="1424457"/>
          </a:xfrm>
          <a:prstGeom prst="rect">
            <a:avLst/>
          </a:prstGeom>
        </p:spPr>
      </p:pic>
      <p:sp>
        <p:nvSpPr>
          <p:cNvPr id="2" name="Rectangle 1"/>
          <p:cNvSpPr>
            <a:spLocks noChangeArrowheads="1"/>
          </p:cNvSpPr>
          <p:nvPr/>
        </p:nvSpPr>
        <p:spPr bwMode="auto">
          <a:xfrm>
            <a:off x="588075" y="1382197"/>
            <a:ext cx="802838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dirty="0" smtClean="0">
                <a:ln>
                  <a:noFill/>
                </a:ln>
                <a:solidFill>
                  <a:schemeClr val="tx1"/>
                </a:solidFill>
                <a:effectLst/>
                <a:latin typeface="Arial" panose="020B0604020202020204" pitchFamily="34" charset="0"/>
              </a:rPr>
              <a:t>Ce sont des amides de la </a:t>
            </a:r>
            <a:r>
              <a:rPr kumimoji="0" lang="fr-FR" sz="1800" b="0" i="0" u="none" strike="noStrike" cap="none" normalizeH="0" baseline="0" dirty="0" err="1" smtClean="0">
                <a:ln>
                  <a:noFill/>
                </a:ln>
                <a:solidFill>
                  <a:schemeClr val="tx1"/>
                </a:solidFill>
                <a:effectLst/>
                <a:latin typeface="Arial" panose="020B0604020202020204" pitchFamily="34" charset="0"/>
              </a:rPr>
              <a:t>sphingosine</a:t>
            </a:r>
            <a:r>
              <a:rPr kumimoji="0" lang="fr-FR" sz="1800" b="0" i="0" u="none" strike="noStrike" cap="none" normalizeH="0" baseline="0" dirty="0" smtClean="0">
                <a:ln>
                  <a:noFill/>
                </a:ln>
                <a:solidFill>
                  <a:schemeClr val="tx1"/>
                </a:solidFill>
                <a:effectLst/>
                <a:latin typeface="Arial" panose="020B0604020202020204" pitchFamily="34" charset="0"/>
              </a:rPr>
              <a:t> qui se forment par liaison du carboxyle de l’AG sur le -NH</a:t>
            </a:r>
            <a:r>
              <a:rPr kumimoji="0" lang="fr-FR" sz="1800" b="0" i="0" u="none" strike="noStrike" cap="none" normalizeH="0" baseline="-30000" dirty="0" smtClean="0">
                <a:ln>
                  <a:noFill/>
                </a:ln>
                <a:solidFill>
                  <a:schemeClr val="tx1"/>
                </a:solidFill>
                <a:effectLst/>
                <a:latin typeface="Arial" panose="020B0604020202020204" pitchFamily="34" charset="0"/>
              </a:rPr>
              <a:t>2</a:t>
            </a:r>
            <a:r>
              <a:rPr kumimoji="0" lang="fr-FR" sz="1800" b="0" i="0" u="none" strike="noStrike" cap="none" normalizeH="0" baseline="0" dirty="0" smtClean="0">
                <a:ln>
                  <a:noFill/>
                </a:ln>
                <a:solidFill>
                  <a:schemeClr val="tx1"/>
                </a:solidFill>
                <a:effectLst/>
                <a:latin typeface="Arial" panose="020B0604020202020204" pitchFamily="34" charset="0"/>
              </a:rPr>
              <a:t> de la </a:t>
            </a:r>
            <a:r>
              <a:rPr kumimoji="0" lang="fr-FR" sz="1800" b="0" i="0" u="none" strike="noStrike" cap="none" normalizeH="0" baseline="0" dirty="0" err="1" smtClean="0">
                <a:ln>
                  <a:noFill/>
                </a:ln>
                <a:solidFill>
                  <a:schemeClr val="tx1"/>
                </a:solidFill>
                <a:effectLst/>
                <a:latin typeface="Arial" panose="020B0604020202020204" pitchFamily="34" charset="0"/>
              </a:rPr>
              <a:t>sphingosine</a:t>
            </a:r>
            <a:r>
              <a:rPr kumimoji="0" lang="fr-FR"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dirty="0" smtClean="0">
                <a:ln>
                  <a:noFill/>
                </a:ln>
                <a:solidFill>
                  <a:schemeClr val="tx1"/>
                </a:solidFill>
                <a:effectLst/>
                <a:latin typeface="Arial" panose="020B0604020202020204" pitchFamily="34" charset="0"/>
              </a:rPr>
              <a:t> </a:t>
            </a:r>
            <a:endParaRPr kumimoji="0" lang="fr-FR" sz="11500" b="0" i="0" u="none" strike="noStrike" cap="none" normalizeH="0" baseline="0" dirty="0" smtClean="0">
              <a:ln>
                <a:noFill/>
              </a:ln>
              <a:solidFill>
                <a:schemeClr val="tx1"/>
              </a:solidFill>
              <a:effectLst/>
              <a:latin typeface="Arial" panose="020B0604020202020204" pitchFamily="34" charset="0"/>
            </a:endParaRPr>
          </a:p>
        </p:txBody>
      </p:sp>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t="38377"/>
          <a:stretch/>
        </p:blipFill>
        <p:spPr>
          <a:xfrm>
            <a:off x="3203848" y="2721345"/>
            <a:ext cx="5600485" cy="186621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996952"/>
            <a:ext cx="7488832" cy="1728192"/>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260648"/>
            <a:ext cx="6696744" cy="2543175"/>
          </a:xfrm>
          <a:prstGeom prst="rect">
            <a:avLst/>
          </a:prstGeom>
        </p:spPr>
      </p:pic>
      <p:sp>
        <p:nvSpPr>
          <p:cNvPr id="6" name="Rectangle 5"/>
          <p:cNvSpPr/>
          <p:nvPr/>
        </p:nvSpPr>
        <p:spPr>
          <a:xfrm>
            <a:off x="467544" y="5085184"/>
            <a:ext cx="7992888" cy="1477328"/>
          </a:xfrm>
          <a:prstGeom prst="rect">
            <a:avLst/>
          </a:prstGeom>
        </p:spPr>
        <p:txBody>
          <a:bodyPr wrap="square">
            <a:spAutoFit/>
          </a:bodyPr>
          <a:lstStyle/>
          <a:p>
            <a:pPr algn="ctr"/>
            <a:r>
              <a:rPr lang="fr-FR" dirty="0"/>
              <a:t>Les </a:t>
            </a:r>
            <a:r>
              <a:rPr lang="fr-FR" dirty="0" err="1"/>
              <a:t>sphingomyélines</a:t>
            </a:r>
            <a:r>
              <a:rPr lang="fr-FR" dirty="0"/>
              <a:t> sont des phospholipides membranaires, présentes dans toutes les membranes mais surtout dans le système nerveux (</a:t>
            </a:r>
            <a:r>
              <a:rPr lang="fr-FR" dirty="0" err="1"/>
              <a:t>gaînes</a:t>
            </a:r>
            <a:r>
              <a:rPr lang="fr-FR" dirty="0"/>
              <a:t> de myéline). Elles sont constituées </a:t>
            </a:r>
            <a:r>
              <a:rPr lang="fr-FR" dirty="0" smtClean="0"/>
              <a:t>d’une </a:t>
            </a:r>
            <a:r>
              <a:rPr lang="fr-FR" dirty="0" err="1" smtClean="0"/>
              <a:t>sphingosine</a:t>
            </a:r>
            <a:r>
              <a:rPr lang="fr-FR" dirty="0" smtClean="0"/>
              <a:t> , d’un </a:t>
            </a:r>
            <a:r>
              <a:rPr lang="fr-FR" dirty="0"/>
              <a:t>acide gras </a:t>
            </a:r>
            <a:r>
              <a:rPr lang="fr-FR" dirty="0" err="1"/>
              <a:t>amidifiant</a:t>
            </a:r>
            <a:r>
              <a:rPr lang="fr-FR" dirty="0"/>
              <a:t> la fonction amine et d’un phosphate estérifiant la fonction alcool primaire et lui même estérifié par un alcool aminé (choline).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2" name="Picture 4" descr="Image glycolip.gif"/>
          <p:cNvPicPr>
            <a:picLocks noChangeAspect="1" noChangeArrowheads="1"/>
          </p:cNvPicPr>
          <p:nvPr/>
        </p:nvPicPr>
        <p:blipFill>
          <a:blip r:embed="rId2" cstate="print"/>
          <a:srcRect/>
          <a:stretch>
            <a:fillRect/>
          </a:stretch>
        </p:blipFill>
        <p:spPr bwMode="auto">
          <a:xfrm>
            <a:off x="4972050" y="978174"/>
            <a:ext cx="4171950" cy="2628900"/>
          </a:xfrm>
          <a:prstGeom prst="rect">
            <a:avLst/>
          </a:prstGeom>
          <a:noFill/>
        </p:spPr>
      </p:pic>
      <p:graphicFrame>
        <p:nvGraphicFramePr>
          <p:cNvPr id="7" name="Tableau 6"/>
          <p:cNvGraphicFramePr>
            <a:graphicFrameLocks noGrp="1"/>
          </p:cNvGraphicFramePr>
          <p:nvPr>
            <p:extLst>
              <p:ext uri="{D42A27DB-BD31-4B8C-83A1-F6EECF244321}">
                <p14:modId xmlns:p14="http://schemas.microsoft.com/office/powerpoint/2010/main" val="3404939513"/>
              </p:ext>
            </p:extLst>
          </p:nvPr>
        </p:nvGraphicFramePr>
        <p:xfrm>
          <a:off x="-825857" y="1115501"/>
          <a:ext cx="5626608" cy="365760"/>
        </p:xfrm>
        <a:graphic>
          <a:graphicData uri="http://schemas.openxmlformats.org/drawingml/2006/table">
            <a:tbl>
              <a:tblPr/>
              <a:tblGrid>
                <a:gridCol w="937956"/>
                <a:gridCol w="4688652"/>
              </a:tblGrid>
              <a:tr h="0">
                <a:tc>
                  <a:txBody>
                    <a:bodyPr/>
                    <a:lstStyle/>
                    <a:p>
                      <a:r>
                        <a:rPr lang="fr-FR" dirty="0"/>
                        <a:t> </a:t>
                      </a:r>
                    </a:p>
                  </a:txBody>
                  <a:tcPr>
                    <a:lnL>
                      <a:noFill/>
                    </a:lnL>
                    <a:lnR>
                      <a:noFill/>
                    </a:lnR>
                    <a:lnT>
                      <a:noFill/>
                    </a:lnT>
                    <a:lnB>
                      <a:noFill/>
                    </a:lnB>
                  </a:tcPr>
                </a:tc>
                <a:tc>
                  <a:txBody>
                    <a:bodyPr/>
                    <a:lstStyle/>
                    <a:p>
                      <a:r>
                        <a:rPr lang="fr-FR" dirty="0" smtClean="0"/>
                        <a:t>          </a:t>
                      </a:r>
                      <a:r>
                        <a:rPr lang="fr-FR" dirty="0" err="1" smtClean="0"/>
                        <a:t>Sphingosine</a:t>
                      </a:r>
                      <a:r>
                        <a:rPr lang="fr-FR" dirty="0" smtClean="0"/>
                        <a:t> </a:t>
                      </a:r>
                      <a:r>
                        <a:rPr lang="fr-FR" dirty="0"/>
                        <a:t>+ AG + </a:t>
                      </a:r>
                      <a:r>
                        <a:rPr lang="el-GR" dirty="0"/>
                        <a:t>β</a:t>
                      </a:r>
                      <a:r>
                        <a:rPr lang="fr-FR" dirty="0"/>
                        <a:t>D Galactose</a:t>
                      </a:r>
                    </a:p>
                  </a:txBody>
                  <a:tcPr>
                    <a:lnL>
                      <a:noFill/>
                    </a:lnL>
                    <a:lnR>
                      <a:noFill/>
                    </a:lnR>
                    <a:lnT>
                      <a:noFill/>
                    </a:lnT>
                    <a:lnB>
                      <a:noFill/>
                    </a:lnB>
                  </a:tcPr>
                </a:tc>
              </a:tr>
            </a:tbl>
          </a:graphicData>
        </a:graphic>
      </p:graphicFrame>
      <p:sp>
        <p:nvSpPr>
          <p:cNvPr id="114693" name="Rectangle 5"/>
          <p:cNvSpPr>
            <a:spLocks noChangeArrowheads="1"/>
          </p:cNvSpPr>
          <p:nvPr/>
        </p:nvSpPr>
        <p:spPr bwMode="auto">
          <a:xfrm>
            <a:off x="171663" y="-93880"/>
            <a:ext cx="3041217" cy="160043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800" b="1" i="0" u="none" strike="noStrike" cap="none" normalizeH="0" baseline="0" dirty="0" smtClean="0">
                <a:ln>
                  <a:noFill/>
                </a:ln>
                <a:solidFill>
                  <a:schemeClr val="tx1"/>
                </a:solidFill>
                <a:effectLst/>
                <a:latin typeface="Arial" charset="0"/>
                <a:cs typeface="Arial" charset="0"/>
              </a:rPr>
              <a:t>Les Glycolipides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AutoNum type="alphaUcPeriod"/>
              <a:tabLst/>
            </a:pPr>
            <a:r>
              <a:rPr kumimoji="0" lang="fr-FR" b="1" i="0" u="none" strike="noStrike" cap="none" normalizeH="0" baseline="0" dirty="0" smtClean="0">
                <a:ln>
                  <a:noFill/>
                </a:ln>
                <a:solidFill>
                  <a:schemeClr val="tx1"/>
                </a:solidFill>
                <a:effectLst/>
                <a:latin typeface="Arial" charset="0"/>
                <a:cs typeface="Arial" charset="0"/>
              </a:rPr>
              <a:t> </a:t>
            </a:r>
            <a:r>
              <a:rPr kumimoji="0" lang="fr-FR" b="1" i="0" u="none" strike="noStrike" cap="none" normalizeH="0" baseline="0" dirty="0" err="1" smtClean="0">
                <a:ln>
                  <a:noFill/>
                </a:ln>
                <a:solidFill>
                  <a:schemeClr val="tx1"/>
                </a:solidFill>
                <a:effectLst/>
                <a:latin typeface="Arial" charset="0"/>
                <a:cs typeface="Arial" charset="0"/>
              </a:rPr>
              <a:t>Cérébrogalactosides</a:t>
            </a:r>
            <a:r>
              <a:rPr kumimoji="0" lang="fr-FR" b="0" i="0" u="none" strike="noStrike" cap="none" normalizeH="0" baseline="0" dirty="0" smtClean="0">
                <a:ln>
                  <a:noFill/>
                </a:ln>
                <a:solidFill>
                  <a:schemeClr val="tx1"/>
                </a:solidFill>
                <a:effectLst/>
                <a:latin typeface="Arial" charset="0"/>
                <a:cs typeface="Arial" charset="0"/>
              </a:rPr>
              <a:t/>
            </a:r>
            <a:br>
              <a:rPr kumimoji="0" lang="fr-FR" b="0" i="0" u="none" strike="noStrike" cap="none" normalizeH="0" baseline="0" dirty="0" smtClean="0">
                <a:ln>
                  <a:noFill/>
                </a:ln>
                <a:solidFill>
                  <a:schemeClr val="tx1"/>
                </a:solidFill>
                <a:effectLst/>
                <a:latin typeface="Arial" charset="0"/>
                <a:cs typeface="Arial" charset="0"/>
              </a:rPr>
            </a:br>
            <a:r>
              <a:rPr kumimoji="0" lang="fr-FR" sz="1600" b="0" i="0" u="none" strike="noStrike" cap="none" normalizeH="0" baseline="0" dirty="0" smtClean="0">
                <a:ln>
                  <a:noFill/>
                </a:ln>
                <a:solidFill>
                  <a:schemeClr val="tx1"/>
                </a:solidFill>
                <a:effectLst/>
                <a:latin typeface="Arial" charset="0"/>
                <a:cs typeface="Arial" charset="0"/>
              </a:rPr>
              <a:t>Ils sont constitués de :</a:t>
            </a:r>
            <a:endParaRPr kumimoji="0" lang="fr-FR"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charset="0"/>
              <a:cs typeface="Arial" charset="0"/>
            </a:endParaRPr>
          </a:p>
        </p:txBody>
      </p:sp>
      <p:sp>
        <p:nvSpPr>
          <p:cNvPr id="9" name="Rectangle 8"/>
          <p:cNvSpPr/>
          <p:nvPr/>
        </p:nvSpPr>
        <p:spPr>
          <a:xfrm>
            <a:off x="226174" y="1436869"/>
            <a:ext cx="4392488" cy="584775"/>
          </a:xfrm>
          <a:prstGeom prst="rect">
            <a:avLst/>
          </a:prstGeom>
        </p:spPr>
        <p:txBody>
          <a:bodyPr wrap="square">
            <a:spAutoFit/>
          </a:bodyPr>
          <a:lstStyle/>
          <a:p>
            <a:r>
              <a:rPr lang="fr-FR" sz="1600" dirty="0" smtClean="0">
                <a:latin typeface="Arial" pitchFamily="34" charset="0"/>
                <a:cs typeface="Arial" pitchFamily="34" charset="0"/>
              </a:rPr>
              <a:t>Le galactose est uni à l’alcool primaire de la </a:t>
            </a:r>
            <a:r>
              <a:rPr lang="fr-FR" sz="1600" dirty="0" err="1" smtClean="0">
                <a:latin typeface="Arial" pitchFamily="34" charset="0"/>
                <a:cs typeface="Arial" pitchFamily="34" charset="0"/>
              </a:rPr>
              <a:t>sphingosine</a:t>
            </a:r>
            <a:r>
              <a:rPr lang="fr-FR" sz="1600" dirty="0" smtClean="0">
                <a:latin typeface="Arial" pitchFamily="34" charset="0"/>
                <a:cs typeface="Arial" pitchFamily="34" charset="0"/>
              </a:rPr>
              <a:t> par une liaison β osidique</a:t>
            </a:r>
            <a:endParaRPr lang="fr-FR" sz="1600" dirty="0">
              <a:latin typeface="Arial" pitchFamily="34" charset="0"/>
              <a:cs typeface="Arial" pitchFamily="34" charset="0"/>
            </a:endParaRPr>
          </a:p>
        </p:txBody>
      </p:sp>
      <p:sp>
        <p:nvSpPr>
          <p:cNvPr id="114694" name="Rectangle 6"/>
          <p:cNvSpPr>
            <a:spLocks noChangeArrowheads="1"/>
          </p:cNvSpPr>
          <p:nvPr/>
        </p:nvSpPr>
        <p:spPr bwMode="auto">
          <a:xfrm>
            <a:off x="159713" y="1818142"/>
            <a:ext cx="3840731" cy="141577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charset="0"/>
                <a:cs typeface="Arial" charset="0"/>
              </a:rPr>
              <a:t>B.  Les </a:t>
            </a:r>
            <a:r>
              <a:rPr kumimoji="0" lang="fr-FR" sz="1800" b="1" i="0" u="none" strike="noStrike" cap="none" normalizeH="0" baseline="0" dirty="0" err="1" smtClean="0">
                <a:ln>
                  <a:noFill/>
                </a:ln>
                <a:solidFill>
                  <a:schemeClr val="tx1"/>
                </a:solidFill>
                <a:effectLst/>
                <a:latin typeface="Arial" charset="0"/>
                <a:cs typeface="Arial" charset="0"/>
              </a:rPr>
              <a:t>Cérébroglucides</a:t>
            </a:r>
            <a:r>
              <a:rPr kumimoji="0" lang="fr-FR" sz="1800" b="0" i="0" u="none" strike="noStrike" cap="none" normalizeH="0" baseline="0" dirty="0" smtClean="0">
                <a:ln>
                  <a:noFill/>
                </a:ln>
                <a:solidFill>
                  <a:schemeClr val="tx1"/>
                </a:solidFill>
                <a:effectLst/>
                <a:latin typeface="Arial" charset="0"/>
                <a:cs typeface="Arial" charset="0"/>
              </a:rPr>
              <a:t/>
            </a:r>
            <a:br>
              <a:rPr kumimoji="0" lang="fr-FR" sz="1800" b="0" i="0" u="none" strike="noStrike" cap="none" normalizeH="0" baseline="0" dirty="0" smtClean="0">
                <a:ln>
                  <a:noFill/>
                </a:ln>
                <a:solidFill>
                  <a:schemeClr val="tx1"/>
                </a:solidFill>
                <a:effectLst/>
                <a:latin typeface="Arial" charset="0"/>
                <a:cs typeface="Arial" charset="0"/>
              </a:rPr>
            </a:br>
            <a:r>
              <a:rPr kumimoji="0" lang="fr-FR" sz="1600" b="0" i="0" u="none" strike="noStrike" cap="none" normalizeH="0" baseline="0" dirty="0" smtClean="0">
                <a:ln>
                  <a:noFill/>
                </a:ln>
                <a:solidFill>
                  <a:schemeClr val="tx1"/>
                </a:solidFill>
                <a:effectLst/>
                <a:latin typeface="Arial" charset="0"/>
                <a:cs typeface="Arial" charset="0"/>
              </a:rPr>
              <a:t>Ils sont constitués de :</a:t>
            </a:r>
          </a:p>
          <a:p>
            <a:pPr lvl="0" fontAlgn="base">
              <a:spcBef>
                <a:spcPct val="0"/>
              </a:spcBef>
              <a:spcAft>
                <a:spcPct val="0"/>
              </a:spcAft>
            </a:pPr>
            <a:r>
              <a:rPr lang="fr-FR" dirty="0" smtClean="0"/>
              <a:t>            </a:t>
            </a:r>
            <a:r>
              <a:rPr lang="fr-FR" dirty="0" err="1" smtClean="0"/>
              <a:t>Sphingosine</a:t>
            </a:r>
            <a:r>
              <a:rPr lang="fr-FR" dirty="0" smtClean="0"/>
              <a:t> + AG + </a:t>
            </a:r>
            <a:r>
              <a:rPr lang="el-GR" dirty="0" smtClean="0"/>
              <a:t>β</a:t>
            </a:r>
            <a:r>
              <a:rPr lang="fr-FR" dirty="0" smtClean="0"/>
              <a:t>D Glucose  </a:t>
            </a:r>
          </a:p>
          <a:p>
            <a:pPr lvl="0" fontAlgn="base">
              <a:spcBef>
                <a:spcPct val="0"/>
              </a:spcBef>
              <a:spcAft>
                <a:spcPct val="0"/>
              </a:spcAft>
            </a:pPr>
            <a:r>
              <a:rPr kumimoji="0" lang="fr-FR" sz="1600" b="0" i="0" u="none" strike="noStrike" cap="none" normalizeH="0" baseline="0" dirty="0" smtClean="0">
                <a:ln>
                  <a:noFill/>
                </a:ln>
                <a:solidFill>
                  <a:schemeClr val="tx1"/>
                </a:solidFill>
                <a:effectLst/>
                <a:latin typeface="Arial" charset="0"/>
                <a:cs typeface="Arial" charset="0"/>
              </a:rPr>
              <a:t>La liaison est β osidique. </a:t>
            </a:r>
          </a:p>
        </p:txBody>
      </p:sp>
      <p:sp>
        <p:nvSpPr>
          <p:cNvPr id="114696" name="Rectangle 8"/>
          <p:cNvSpPr>
            <a:spLocks noChangeArrowheads="1"/>
          </p:cNvSpPr>
          <p:nvPr/>
        </p:nvSpPr>
        <p:spPr bwMode="auto">
          <a:xfrm>
            <a:off x="199745" y="3164200"/>
            <a:ext cx="7936616" cy="23698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charset="0"/>
                <a:cs typeface="Arial" charset="0"/>
              </a:rPr>
              <a:t>C.  Les </a:t>
            </a:r>
            <a:r>
              <a:rPr kumimoji="0" lang="fr-FR" sz="1800" b="1" i="0" u="none" strike="noStrike" cap="none" normalizeH="0" baseline="0" dirty="0" err="1" smtClean="0">
                <a:ln>
                  <a:noFill/>
                </a:ln>
                <a:solidFill>
                  <a:schemeClr val="tx1"/>
                </a:solidFill>
                <a:effectLst/>
                <a:latin typeface="Arial" charset="0"/>
                <a:cs typeface="Arial" charset="0"/>
              </a:rPr>
              <a:t>Gangliosides</a:t>
            </a:r>
            <a:r>
              <a:rPr kumimoji="0" lang="fr-FR" sz="1800" b="0" i="0" u="none" strike="noStrike" cap="none" normalizeH="0" baseline="0" dirty="0" smtClean="0">
                <a:ln>
                  <a:noFill/>
                </a:ln>
                <a:solidFill>
                  <a:schemeClr val="tx1"/>
                </a:solidFill>
                <a:effectLst/>
                <a:latin typeface="Arial" charset="0"/>
                <a:cs typeface="Arial" charset="0"/>
              </a:rPr>
              <a:t/>
            </a:r>
            <a:br>
              <a:rPr kumimoji="0" lang="fr-FR" sz="1800" b="0" i="0" u="none" strike="noStrike" cap="none" normalizeH="0" baseline="0" dirty="0" smtClean="0">
                <a:ln>
                  <a:noFill/>
                </a:ln>
                <a:solidFill>
                  <a:schemeClr val="tx1"/>
                </a:solidFill>
                <a:effectLst/>
                <a:latin typeface="Arial" charset="0"/>
                <a:cs typeface="Arial" charset="0"/>
              </a:rPr>
            </a:br>
            <a:r>
              <a:rPr kumimoji="0" lang="fr-FR" sz="1600" b="0" i="0" u="none" strike="noStrike" cap="none" normalizeH="0" baseline="0" dirty="0" smtClean="0">
                <a:ln>
                  <a:noFill/>
                </a:ln>
                <a:solidFill>
                  <a:schemeClr val="tx1"/>
                </a:solidFill>
                <a:effectLst/>
                <a:latin typeface="Arial" charset="0"/>
                <a:cs typeface="Arial" charset="0"/>
              </a:rPr>
              <a:t>Ils sont constitués de :</a:t>
            </a:r>
          </a:p>
          <a:p>
            <a:pPr lvl="0" fontAlgn="base">
              <a:spcBef>
                <a:spcPct val="0"/>
              </a:spcBef>
              <a:spcAft>
                <a:spcPct val="0"/>
              </a:spcAft>
            </a:pPr>
            <a:r>
              <a:rPr lang="fr-FR" sz="1600" dirty="0" smtClean="0">
                <a:latin typeface="Arial" charset="0"/>
                <a:cs typeface="Arial" charset="0"/>
              </a:rPr>
              <a:t>         </a:t>
            </a:r>
            <a:r>
              <a:rPr lang="fr-FR" sz="1600" dirty="0" smtClean="0"/>
              <a:t>  </a:t>
            </a:r>
            <a:r>
              <a:rPr lang="fr-FR" dirty="0" err="1" smtClean="0"/>
              <a:t>Sphingosine</a:t>
            </a:r>
            <a:r>
              <a:rPr lang="fr-FR" dirty="0" smtClean="0"/>
              <a:t> + AG + chaîne de plusieurs oses et dérivés d’oses</a:t>
            </a:r>
            <a:r>
              <a:rPr kumimoji="0" lang="fr-FR" sz="1600" b="0" i="0" u="none" strike="noStrike" cap="none" normalizeH="0" baseline="0" dirty="0" smtClean="0">
                <a:ln>
                  <a:noFill/>
                </a:ln>
                <a:solidFill>
                  <a:schemeClr val="tx1"/>
                </a:solidFill>
                <a:effectLst/>
                <a:latin typeface="Arial" charset="0"/>
                <a:cs typeface="Arial" charset="0"/>
              </a:rPr>
              <a:t/>
            </a:r>
            <a:br>
              <a:rPr kumimoji="0" lang="fr-FR" sz="1600" b="0" i="0" u="none" strike="noStrike" cap="none" normalizeH="0" baseline="0" dirty="0" smtClean="0">
                <a:ln>
                  <a:noFill/>
                </a:ln>
                <a:solidFill>
                  <a:schemeClr val="tx1"/>
                </a:solidFill>
                <a:effectLst/>
                <a:latin typeface="Arial" charset="0"/>
                <a:cs typeface="Arial" charset="0"/>
              </a:rPr>
            </a:br>
            <a:endParaRPr kumimoji="0" lang="fr-FR" sz="1600" b="0" i="0" u="none" strike="noStrike" cap="none" normalizeH="0" baseline="0" dirty="0" smtClean="0">
              <a:ln>
                <a:noFill/>
              </a:ln>
              <a:solidFill>
                <a:schemeClr val="tx1"/>
              </a:solidFill>
              <a:effectLst/>
              <a:latin typeface="Arial" charset="0"/>
              <a:cs typeface="Arial" charset="0"/>
            </a:endParaRPr>
          </a:p>
          <a:p>
            <a:pPr lvl="0" fontAlgn="base">
              <a:spcBef>
                <a:spcPct val="0"/>
              </a:spcBef>
              <a:spcAft>
                <a:spcPct val="0"/>
              </a:spcAft>
            </a:pPr>
            <a:r>
              <a:rPr kumimoji="0" lang="fr-FR" sz="1600" b="0" i="0" u="none" strike="noStrike" cap="none" normalizeH="0" baseline="0" dirty="0" smtClean="0">
                <a:ln>
                  <a:noFill/>
                </a:ln>
                <a:solidFill>
                  <a:schemeClr val="tx1"/>
                </a:solidFill>
                <a:effectLst/>
                <a:latin typeface="Arial" charset="0"/>
                <a:cs typeface="Arial" charset="0"/>
              </a:rPr>
              <a:t>Ils sont abondants dans les ganglions d’où leur nom.</a:t>
            </a:r>
            <a:br>
              <a:rPr kumimoji="0" lang="fr-FR" sz="1600" b="0" i="0" u="none" strike="noStrike" cap="none" normalizeH="0" baseline="0" dirty="0" smtClean="0">
                <a:ln>
                  <a:noFill/>
                </a:ln>
                <a:solidFill>
                  <a:schemeClr val="tx1"/>
                </a:solidFill>
                <a:effectLst/>
                <a:latin typeface="Arial" charset="0"/>
                <a:cs typeface="Arial" charset="0"/>
              </a:rPr>
            </a:br>
            <a:endParaRPr kumimoji="0" lang="fr-FR" sz="1600" b="0" i="0" u="none" strike="noStrike" cap="none" normalizeH="0" baseline="0" dirty="0" smtClean="0">
              <a:ln>
                <a:noFill/>
              </a:ln>
              <a:solidFill>
                <a:schemeClr val="tx1"/>
              </a:solidFill>
              <a:effectLst/>
              <a:latin typeface="Arial" charset="0"/>
              <a:cs typeface="Arial" charset="0"/>
            </a:endParaRPr>
          </a:p>
          <a:p>
            <a:pPr lvl="0" fontAlgn="base">
              <a:spcBef>
                <a:spcPct val="0"/>
              </a:spcBef>
              <a:spcAft>
                <a:spcPct val="0"/>
              </a:spcAft>
            </a:pPr>
            <a:r>
              <a:rPr kumimoji="0" lang="fr-FR" sz="1600" b="0" i="0" u="none" strike="noStrike" cap="none" normalizeH="0" baseline="0" dirty="0" smtClean="0">
                <a:ln>
                  <a:noFill/>
                </a:ln>
                <a:solidFill>
                  <a:schemeClr val="tx1"/>
                </a:solidFill>
                <a:effectLst/>
                <a:latin typeface="Arial" charset="0"/>
                <a:cs typeface="Arial" charset="0"/>
              </a:rPr>
              <a:t>Ces </a:t>
            </a:r>
            <a:r>
              <a:rPr kumimoji="0" lang="fr-FR" sz="1600" b="0" i="0" u="none" strike="noStrike" cap="none" normalizeH="0" baseline="0" dirty="0" err="1" smtClean="0">
                <a:ln>
                  <a:noFill/>
                </a:ln>
                <a:solidFill>
                  <a:schemeClr val="tx1"/>
                </a:solidFill>
                <a:effectLst/>
                <a:latin typeface="Arial" charset="0"/>
                <a:cs typeface="Arial" charset="0"/>
              </a:rPr>
              <a:t>oligosides</a:t>
            </a:r>
            <a:r>
              <a:rPr kumimoji="0" lang="fr-FR" sz="1600" b="0" i="0" u="none" strike="noStrike" cap="none" normalizeH="0" baseline="0" dirty="0" smtClean="0">
                <a:ln>
                  <a:noFill/>
                </a:ln>
                <a:solidFill>
                  <a:schemeClr val="tx1"/>
                </a:solidFill>
                <a:effectLst/>
                <a:latin typeface="Arial" charset="0"/>
                <a:cs typeface="Arial" charset="0"/>
              </a:rPr>
              <a:t> sont présents sur la face externe de la membrane plasmique. Ils sont spécifiques, donc reconnus par des protéines (toxines bactériennes, </a:t>
            </a:r>
            <a:r>
              <a:rPr kumimoji="0" lang="fr-FR" sz="1600" b="0" i="0" u="none" strike="noStrike" cap="none" normalizeH="0" baseline="0" dirty="0" err="1" smtClean="0">
                <a:ln>
                  <a:noFill/>
                </a:ln>
                <a:solidFill>
                  <a:schemeClr val="tx1"/>
                </a:solidFill>
                <a:effectLst/>
                <a:latin typeface="Arial" charset="0"/>
                <a:cs typeface="Arial" charset="0"/>
              </a:rPr>
              <a:t>lectines</a:t>
            </a:r>
            <a:r>
              <a:rPr kumimoji="0" lang="fr-FR" sz="1600" b="0" i="0" u="none" strike="noStrike" cap="none" normalizeH="0" baseline="0" dirty="0" smtClean="0">
                <a:ln>
                  <a:noFill/>
                </a:ln>
                <a:solidFill>
                  <a:schemeClr val="tx1"/>
                </a:solidFill>
                <a:effectLst/>
                <a:latin typeface="Arial" charset="0"/>
                <a:cs typeface="Arial" charset="0"/>
              </a:rPr>
              <a:t>).</a:t>
            </a:r>
            <a:br>
              <a:rPr kumimoji="0" lang="fr-FR" sz="1600" b="0" i="0" u="none" strike="noStrike" cap="none" normalizeH="0" baseline="0" dirty="0" smtClean="0">
                <a:ln>
                  <a:noFill/>
                </a:ln>
                <a:solidFill>
                  <a:schemeClr val="tx1"/>
                </a:solidFill>
                <a:effectLst/>
                <a:latin typeface="Arial" charset="0"/>
                <a:cs typeface="Arial" charset="0"/>
              </a:rPr>
            </a:br>
            <a:r>
              <a:rPr kumimoji="0" lang="fr-FR" sz="1600" b="0" i="0" u="none" strike="noStrike" cap="none" normalizeH="0" baseline="0" dirty="0" smtClean="0">
                <a:ln>
                  <a:noFill/>
                </a:ln>
                <a:solidFill>
                  <a:schemeClr val="tx1"/>
                </a:solidFill>
                <a:effectLst/>
                <a:latin typeface="Arial" charset="0"/>
                <a:cs typeface="Arial" charset="0"/>
              </a:rPr>
              <a:t>Exemple : antigènes des groupes sanguins </a:t>
            </a:r>
          </a:p>
        </p:txBody>
      </p:sp>
      <p:sp>
        <p:nvSpPr>
          <p:cNvPr id="2" name="Rectangle 1"/>
          <p:cNvSpPr/>
          <p:nvPr/>
        </p:nvSpPr>
        <p:spPr>
          <a:xfrm>
            <a:off x="380980" y="5800014"/>
            <a:ext cx="8496944" cy="923330"/>
          </a:xfrm>
          <a:prstGeom prst="rect">
            <a:avLst/>
          </a:prstGeom>
          <a:ln w="19050">
            <a:solidFill>
              <a:schemeClr val="tx1"/>
            </a:solidFill>
          </a:ln>
        </p:spPr>
        <p:txBody>
          <a:bodyPr wrap="square">
            <a:spAutoFit/>
          </a:bodyPr>
          <a:lstStyle/>
          <a:p>
            <a:r>
              <a:rPr lang="fr-FR" dirty="0">
                <a:latin typeface="Arial" panose="020B0604020202020204" pitchFamily="34" charset="0"/>
              </a:rPr>
              <a:t>Les antigènes A, B et H sont des oligosaccharides portés par </a:t>
            </a:r>
            <a:r>
              <a:rPr lang="fr-FR" dirty="0" smtClean="0">
                <a:latin typeface="Arial" panose="020B0604020202020204" pitchFamily="34" charset="0"/>
              </a:rPr>
              <a:t>les </a:t>
            </a:r>
            <a:r>
              <a:rPr lang="fr-FR" dirty="0">
                <a:latin typeface="Arial" panose="020B0604020202020204" pitchFamily="34" charset="0"/>
              </a:rPr>
              <a:t>glycolipides membranaires des hématies, des cellules épithéliales et endothéliales. Nous notons également leur présence dans le plasma, la salive ou le lait.</a:t>
            </a:r>
            <a:endParaRPr lang="fr-F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528" y="-35709"/>
            <a:ext cx="8352927" cy="6237312"/>
          </a:xfrm>
          <a:prstGeom prst="rect">
            <a:avLst/>
          </a:prstGeom>
        </p:spPr>
      </p:pic>
      <p:sp>
        <p:nvSpPr>
          <p:cNvPr id="3" name="Rectangle 2"/>
          <p:cNvSpPr/>
          <p:nvPr/>
        </p:nvSpPr>
        <p:spPr>
          <a:xfrm>
            <a:off x="251520" y="6119336"/>
            <a:ext cx="9036496" cy="738664"/>
          </a:xfrm>
          <a:prstGeom prst="rect">
            <a:avLst/>
          </a:prstGeom>
        </p:spPr>
        <p:txBody>
          <a:bodyPr wrap="square">
            <a:spAutoFit/>
          </a:bodyPr>
          <a:lstStyle/>
          <a:p>
            <a:r>
              <a:rPr lang="fr-FR" sz="1400" dirty="0"/>
              <a:t>Les lipides membranaires forment des bicouches lipidiques</a:t>
            </a:r>
          </a:p>
          <a:p>
            <a:r>
              <a:rPr lang="fr-FR" sz="1400" dirty="0"/>
              <a:t>(A) Trois exemples de lipides membranaires. (B) Auto-organisation de lipides membranaires en bicouche. (C) Dénomination des feuillets (</a:t>
            </a:r>
            <a:r>
              <a:rPr lang="fr-FR" sz="1400" dirty="0" err="1"/>
              <a:t>hémimembranes</a:t>
            </a:r>
            <a:r>
              <a:rPr lang="fr-FR" sz="1400" dirty="0"/>
              <a:t>) de la membrane plasmique et de membranes d’organites ou vésicules.</a:t>
            </a:r>
          </a:p>
        </p:txBody>
      </p:sp>
    </p:spTree>
    <p:extLst>
      <p:ext uri="{BB962C8B-B14F-4D97-AF65-F5344CB8AC3E}">
        <p14:creationId xmlns:p14="http://schemas.microsoft.com/office/powerpoint/2010/main" val="34319331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620688"/>
            <a:ext cx="8064896" cy="4894738"/>
          </a:xfrm>
          <a:prstGeom prst="rect">
            <a:avLst/>
          </a:prstGeom>
        </p:spPr>
        <p:txBody>
          <a:bodyPr wrap="square">
            <a:spAutoFit/>
          </a:bodyPr>
          <a:lstStyle/>
          <a:p>
            <a:pPr lvl="1">
              <a:lnSpc>
                <a:spcPct val="150000"/>
              </a:lnSpc>
              <a:spcAft>
                <a:spcPts val="1000"/>
              </a:spcAft>
            </a:pPr>
            <a:r>
              <a:rPr lang="fr-FR" sz="1400" b="1" dirty="0">
                <a:latin typeface="Arial" panose="020B0604020202020204" pitchFamily="34" charset="0"/>
                <a:ea typeface="Calibri" panose="020F0502020204030204" pitchFamily="34" charset="0"/>
                <a:cs typeface="Arial" panose="020B0604020202020204" pitchFamily="34" charset="0"/>
              </a:rPr>
              <a:t>Propriétés des composants chimiques de la membrane plasmique</a:t>
            </a:r>
            <a:endParaRPr lang="fr-FR" sz="1400" dirty="0">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Les constituants chimiques de la membrane plasmique sont doués de propriétés différentes jouant ainsi des rôles bien différents au sein de la bicouche.</a:t>
            </a: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Les lipides membranaires agissent sur la fluidité de la membrane qui dépendra de l’</a:t>
            </a:r>
            <a:r>
              <a:rPr lang="fr-FR" sz="1400" dirty="0" err="1">
                <a:latin typeface="Arial" panose="020B0604020202020204" pitchFamily="34" charset="0"/>
                <a:ea typeface="Times New Roman" panose="02020603050405020304" pitchFamily="18" charset="0"/>
                <a:cs typeface="Arial" panose="020B0604020202020204" pitchFamily="34" charset="0"/>
              </a:rPr>
              <a:t>insaturation</a:t>
            </a:r>
            <a:r>
              <a:rPr lang="fr-FR" sz="1400" dirty="0">
                <a:latin typeface="Arial" panose="020B0604020202020204" pitchFamily="34" charset="0"/>
                <a:ea typeface="Times New Roman" panose="02020603050405020304" pitchFamily="18" charset="0"/>
                <a:cs typeface="Arial" panose="020B0604020202020204" pitchFamily="34" charset="0"/>
              </a:rPr>
              <a:t> des phospholipides qui la composent, ainsi l’</a:t>
            </a:r>
            <a:r>
              <a:rPr lang="fr-FR" sz="1400" dirty="0" err="1">
                <a:latin typeface="Arial" panose="020B0604020202020204" pitchFamily="34" charset="0"/>
                <a:ea typeface="Times New Roman" panose="02020603050405020304" pitchFamily="18" charset="0"/>
                <a:cs typeface="Arial" panose="020B0604020202020204" pitchFamily="34" charset="0"/>
              </a:rPr>
              <a:t>insaturation</a:t>
            </a:r>
            <a:r>
              <a:rPr lang="fr-FR" sz="1400" dirty="0">
                <a:latin typeface="Arial" panose="020B0604020202020204" pitchFamily="34" charset="0"/>
                <a:ea typeface="Times New Roman" panose="02020603050405020304" pitchFamily="18" charset="0"/>
                <a:cs typeface="Arial" panose="020B0604020202020204" pitchFamily="34" charset="0"/>
              </a:rPr>
              <a:t> des chaines hydrocarbonées augmente la fluidité de la membrane, mais aussi une baisse de la température provoque la synthèse de lipides membranaires insaturés, entrainant une augmentation de la fluidité de la membrane.     </a:t>
            </a: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Le cholestérol renforce la solidité de la membrane car en se plaçant entre les molécules de phospholipides, il immobilise les chaines hydrocarbonées voisines rendant la membrane plus rigide.</a:t>
            </a: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Les protéines membranaires ont des rôles bien spécifiques au sein de la double couche phospholipidique, ils peuvent être des récepteurs, des transporteurs, des catalyseurs enzymatiques, des messagers intracellulaires ou des molécules d’adhérences. </a:t>
            </a: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Les glucides participent à la charge négative de la membrane par la présence de l’acide sialique.    </a:t>
            </a:r>
            <a:endParaRPr lang="fr-FR" sz="14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1250103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0"/>
            <a:ext cx="8568952" cy="4031873"/>
          </a:xfrm>
          <a:prstGeom prst="rect">
            <a:avLst/>
          </a:prstGeom>
        </p:spPr>
        <p:txBody>
          <a:bodyPr wrap="square">
            <a:spAutoFit/>
          </a:bodyPr>
          <a:lstStyle/>
          <a:p>
            <a:pPr lvl="2" algn="just">
              <a:lnSpc>
                <a:spcPct val="150000"/>
              </a:lnSpc>
              <a:spcAft>
                <a:spcPts val="1000"/>
              </a:spcAft>
            </a:pPr>
            <a:r>
              <a:rPr lang="fr-FR" sz="1400" b="1" dirty="0">
                <a:latin typeface="Arial" panose="020B0604020202020204" pitchFamily="34" charset="0"/>
                <a:ea typeface="Calibri" panose="020F0502020204030204" pitchFamily="34" charset="0"/>
                <a:cs typeface="Arial" panose="020B0604020202020204" pitchFamily="34" charset="0"/>
              </a:rPr>
              <a:t>Déplacement des lipides et protéines membranaires</a:t>
            </a:r>
            <a:endParaRPr lang="fr-FR" sz="1400" dirty="0">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Un phospholipide peut se déplacer latéralement dans un même feuillet avec une grande facilité. On a estimé qu’un phospholipide peut diffuser d’une extrémité à l’autre d’une bactérie en une ou deux secondes. De tous les déplacements possible d’un phospholipide, la culbute ou « flip-flop »vers l’autre face de la membrane est le plus limité, car pour ce déplacement transversal, le groupement hydrophile du lipide devrait traverser la couche hydrophobe interne de la membrane. En effet les cellules possèdent des enzymes, appelées </a:t>
            </a:r>
            <a:r>
              <a:rPr lang="fr-FR" sz="1400" i="1" dirty="0" err="1">
                <a:latin typeface="Arial" panose="020B0604020202020204" pitchFamily="34" charset="0"/>
                <a:ea typeface="Times New Roman" panose="02020603050405020304" pitchFamily="18" charset="0"/>
                <a:cs typeface="Arial" panose="020B0604020202020204" pitchFamily="34" charset="0"/>
              </a:rPr>
              <a:t>flippase</a:t>
            </a:r>
            <a:r>
              <a:rPr lang="fr-FR" sz="1400" dirty="0">
                <a:latin typeface="Arial" panose="020B0604020202020204" pitchFamily="34" charset="0"/>
                <a:ea typeface="Times New Roman" panose="02020603050405020304" pitchFamily="18" charset="0"/>
                <a:cs typeface="Arial" panose="020B0604020202020204" pitchFamily="34" charset="0"/>
              </a:rPr>
              <a:t>, qui déplacent activement certains phospholipides d’un feuillet vers l’autre. Ces enzymes peuvent jouer un rôle dans l’établissement de l’asymétrie des lipides. </a:t>
            </a:r>
          </a:p>
          <a:p>
            <a:pPr algn="just">
              <a:lnSpc>
                <a:spcPct val="150000"/>
              </a:lnSpc>
              <a:spcAft>
                <a:spcPts val="1000"/>
              </a:spcAft>
            </a:pPr>
            <a:r>
              <a:rPr lang="fr-FR" sz="1400" dirty="0">
                <a:latin typeface="Arial" panose="020B0604020202020204" pitchFamily="34" charset="0"/>
                <a:ea typeface="Times New Roman" panose="02020603050405020304" pitchFamily="18" charset="0"/>
                <a:cs typeface="Arial" panose="020B0604020202020204" pitchFamily="34" charset="0"/>
              </a:rPr>
              <a:t>Les protéines membranaires aussi sont douées de mouvements lents de diffusion latérale à travers la bicouche.</a:t>
            </a:r>
          </a:p>
          <a:p>
            <a:pPr algn="just">
              <a:lnSpc>
                <a:spcPct val="150000"/>
              </a:lnSpc>
              <a:spcAft>
                <a:spcPts val="1000"/>
              </a:spcAft>
            </a:pPr>
            <a:endParaRPr lang="fr-FR" sz="1400" dirty="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3" name="Image 2" descr="Résultat de recherche d'images pour &quot;le modele de singer et nicholson&quo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2991" y="4315092"/>
            <a:ext cx="4010025" cy="2426276"/>
          </a:xfrm>
          <a:prstGeom prst="rect">
            <a:avLst/>
          </a:prstGeom>
          <a:noFill/>
          <a:ln w="19050" cmpd="sng">
            <a:solidFill>
              <a:srgbClr val="000000"/>
            </a:solidFill>
            <a:miter lim="800000"/>
            <a:headEnd/>
            <a:tailEnd/>
          </a:ln>
          <a:effectLst/>
        </p:spPr>
      </p:pic>
    </p:spTree>
    <p:extLst>
      <p:ext uri="{BB962C8B-B14F-4D97-AF65-F5344CB8AC3E}">
        <p14:creationId xmlns:p14="http://schemas.microsoft.com/office/powerpoint/2010/main" val="40754710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Espace réservé du texte 437"/>
          <p:cNvSpPr>
            <a:spLocks noGrp="1"/>
          </p:cNvSpPr>
          <p:nvPr>
            <p:ph type="body" idx="10"/>
          </p:nvPr>
        </p:nvSpPr>
        <p:spPr>
          <a:xfrm>
            <a:off x="430969" y="340191"/>
            <a:ext cx="8321675" cy="1604962"/>
          </a:xfrm>
          <a:ln w="0">
            <a:noFill/>
          </a:ln>
        </p:spPr>
        <p:txBody>
          <a:bodyPr rtlCol="0">
            <a:normAutofit/>
          </a:bodyPr>
          <a:lstStyle/>
          <a:p>
            <a:pPr algn="l" eaLnBrk="1" fontAlgn="auto" hangingPunct="1">
              <a:lnSpc>
                <a:spcPct val="95999"/>
              </a:lnSpc>
              <a:spcAft>
                <a:spcPts val="7889"/>
              </a:spcAft>
              <a:buFont typeface="Arial" pitchFamily="34" charset="0"/>
              <a:buNone/>
              <a:defRPr/>
            </a:pPr>
            <a:r>
              <a:rPr lang="fr-FR" sz="3500" b="1" spc="35" dirty="0">
                <a:solidFill>
                  <a:srgbClr val="D83804"/>
                </a:solidFill>
                <a:latin typeface="Arial" panose="22635452340000000000" pitchFamily="2"/>
              </a:rPr>
              <a:t>Mobilité </a:t>
            </a:r>
            <a:r>
              <a:rPr lang="fr-FR" sz="3500" b="1" spc="35" dirty="0" smtClean="0">
                <a:solidFill>
                  <a:srgbClr val="D83804"/>
                </a:solidFill>
                <a:latin typeface="Arial" panose="22635452340000000000" pitchFamily="2"/>
              </a:rPr>
              <a:t>des protéines membranaires</a:t>
            </a:r>
            <a:endParaRPr lang="fr-FR" sz="3500" b="1" spc="35" dirty="0">
              <a:solidFill>
                <a:srgbClr val="D83804"/>
              </a:solidFill>
              <a:latin typeface="Arial" panose="22635452340000000000" pitchFamily="2"/>
            </a:endParaRPr>
          </a:p>
        </p:txBody>
      </p:sp>
      <p:pic>
        <p:nvPicPr>
          <p:cNvPr id="52227" name="Image.jpg"/>
          <p:cNvPicPr>
            <a:picLocks noChangeAspect="1" noChangeArrowheads="1"/>
          </p:cNvPicPr>
          <p:nvPr/>
        </p:nvPicPr>
        <p:blipFill>
          <a:blip r:embed="rId2" cstate="print"/>
          <a:srcRect/>
          <a:stretch>
            <a:fillRect/>
          </a:stretch>
        </p:blipFill>
        <p:spPr bwMode="auto">
          <a:xfrm>
            <a:off x="1331640" y="1142672"/>
            <a:ext cx="5942012" cy="3041650"/>
          </a:xfrm>
          <a:prstGeom prst="rect">
            <a:avLst/>
          </a:prstGeom>
          <a:noFill/>
          <a:ln w="9525">
            <a:noFill/>
            <a:miter lim="800000"/>
            <a:headEnd/>
            <a:tailEnd/>
          </a:ln>
        </p:spPr>
      </p:pic>
      <p:sp>
        <p:nvSpPr>
          <p:cNvPr id="437" name="Espace réservé du texte 436"/>
          <p:cNvSpPr>
            <a:spLocks noGrp="1"/>
          </p:cNvSpPr>
          <p:nvPr>
            <p:ph type="body" idx="10"/>
          </p:nvPr>
        </p:nvSpPr>
        <p:spPr>
          <a:xfrm>
            <a:off x="1098549" y="6165304"/>
            <a:ext cx="7089775" cy="306388"/>
          </a:xfrm>
        </p:spPr>
        <p:txBody>
          <a:bodyPr rtlCol="0">
            <a:normAutofit fontScale="92500"/>
          </a:bodyPr>
          <a:lstStyle/>
          <a:p>
            <a:pPr eaLnBrk="1" fontAlgn="auto" hangingPunct="1">
              <a:buFont typeface="Arial" pitchFamily="34" charset="0"/>
              <a:buNone/>
              <a:defRPr/>
            </a:pPr>
            <a:r>
              <a:rPr lang="fr-FR" sz="1800" b="1" spc="-4" dirty="0">
                <a:solidFill>
                  <a:srgbClr val="000000"/>
                </a:solidFill>
                <a:latin typeface="Tahoma" panose="22635452340000000000" pitchFamily="2"/>
              </a:rPr>
              <a:t>Expérience démontrant la mobilité des protéines membranaire</a:t>
            </a:r>
          </a:p>
        </p:txBody>
      </p:sp>
      <p:sp>
        <p:nvSpPr>
          <p:cNvPr id="7" name="Rectangle 6"/>
          <p:cNvSpPr/>
          <p:nvPr/>
        </p:nvSpPr>
        <p:spPr>
          <a:xfrm>
            <a:off x="379339" y="4762123"/>
            <a:ext cx="8424936" cy="923330"/>
          </a:xfrm>
          <a:prstGeom prst="rect">
            <a:avLst/>
          </a:prstGeom>
        </p:spPr>
        <p:txBody>
          <a:bodyPr wrap="square">
            <a:spAutoFit/>
          </a:bodyPr>
          <a:lstStyle/>
          <a:p>
            <a:pPr algn="just"/>
            <a:r>
              <a:rPr lang="fr-FR" dirty="0"/>
              <a:t>En 1970, </a:t>
            </a:r>
            <a:r>
              <a:rPr lang="fr-FR" dirty="0" err="1"/>
              <a:t>Frye</a:t>
            </a:r>
            <a:r>
              <a:rPr lang="fr-FR" dirty="0"/>
              <a:t> et </a:t>
            </a:r>
            <a:r>
              <a:rPr lang="fr-FR" dirty="0" err="1"/>
              <a:t>Edidin</a:t>
            </a:r>
            <a:r>
              <a:rPr lang="fr-FR" dirty="0"/>
              <a:t> ont pu créer des hybrides cellulaires ou </a:t>
            </a:r>
            <a:r>
              <a:rPr lang="fr-FR" dirty="0" err="1"/>
              <a:t>hétérocaryons</a:t>
            </a:r>
            <a:r>
              <a:rPr lang="fr-FR" dirty="0"/>
              <a:t> en fusionnant une cellule humaine avec une cellule de souris pour étudier la mobilité des protéines.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625" y="214290"/>
            <a:ext cx="8501063" cy="6252417"/>
          </a:xfrm>
          <a:prstGeom prst="rect">
            <a:avLst/>
          </a:prstGeom>
        </p:spPr>
        <p:txBody>
          <a:bodyPr>
            <a:spAutoFit/>
          </a:bodyPr>
          <a:lstStyle/>
          <a:p>
            <a:pPr algn="ctr">
              <a:lnSpc>
                <a:spcPct val="95999"/>
              </a:lnSpc>
              <a:spcAft>
                <a:spcPts val="0"/>
              </a:spcAft>
              <a:defRPr/>
            </a:pPr>
            <a:r>
              <a:rPr lang="fr-FR" sz="3200" b="1" dirty="0"/>
              <a:t>Les Glucides</a:t>
            </a:r>
          </a:p>
          <a:p>
            <a:pPr algn="ctr">
              <a:lnSpc>
                <a:spcPct val="95999"/>
              </a:lnSpc>
              <a:spcAft>
                <a:spcPts val="0"/>
              </a:spcAft>
              <a:defRPr/>
            </a:pPr>
            <a:r>
              <a:rPr lang="fr-FR" sz="3200" b="1" dirty="0">
                <a:latin typeface="Arial" panose="22635452340000000000" pitchFamily="2"/>
              </a:rPr>
              <a:t>« </a:t>
            </a:r>
            <a:r>
              <a:rPr lang="fr-FR" sz="3200" b="1" dirty="0" err="1">
                <a:latin typeface="Arial" panose="22635452340000000000" pitchFamily="2"/>
              </a:rPr>
              <a:t>Carbohydrates</a:t>
            </a:r>
            <a:r>
              <a:rPr lang="fr-FR" sz="3200" b="1" dirty="0">
                <a:latin typeface="Arial" panose="22635452340000000000" pitchFamily="2"/>
              </a:rPr>
              <a:t> ou saccharides </a:t>
            </a:r>
            <a:r>
              <a:rPr lang="fr-FR" sz="3200" b="1" dirty="0" smtClean="0">
                <a:latin typeface="Arial" panose="22635452340000000000" pitchFamily="2"/>
              </a:rPr>
              <a:t>»</a:t>
            </a:r>
          </a:p>
          <a:p>
            <a:pPr algn="ctr">
              <a:lnSpc>
                <a:spcPct val="95999"/>
              </a:lnSpc>
              <a:spcAft>
                <a:spcPts val="0"/>
              </a:spcAft>
              <a:defRPr/>
            </a:pPr>
            <a:endParaRPr lang="fr-FR" sz="3200" b="1" dirty="0" smtClean="0">
              <a:latin typeface="Arial" panose="22635452340000000000" pitchFamily="2"/>
            </a:endParaRPr>
          </a:p>
          <a:p>
            <a:pPr indent="182880">
              <a:lnSpc>
                <a:spcPct val="75839"/>
              </a:lnSpc>
              <a:spcBef>
                <a:spcPts val="900"/>
              </a:spcBef>
              <a:spcAft>
                <a:spcPts val="0"/>
              </a:spcAft>
              <a:buFont typeface="Symbol"/>
              <a:buChar char="·"/>
              <a:defRPr/>
            </a:pPr>
            <a:r>
              <a:rPr lang="fr-FR" sz="2000" b="1" spc="90" dirty="0" smtClean="0">
                <a:solidFill>
                  <a:srgbClr val="000000"/>
                </a:solidFill>
                <a:latin typeface="Arial" panose="22635452340000000000" pitchFamily="2"/>
              </a:rPr>
              <a:t>Unité </a:t>
            </a:r>
            <a:r>
              <a:rPr lang="fr-FR" sz="2000" b="1" spc="90" dirty="0">
                <a:solidFill>
                  <a:srgbClr val="000000"/>
                </a:solidFill>
                <a:latin typeface="Arial" panose="22635452340000000000" pitchFamily="2"/>
              </a:rPr>
              <a:t>de base : les monosaccharides</a:t>
            </a:r>
          </a:p>
          <a:p>
            <a:pPr indent="182880">
              <a:lnSpc>
                <a:spcPct val="95999"/>
              </a:lnSpc>
              <a:spcBef>
                <a:spcPts val="720"/>
              </a:spcBef>
              <a:spcAft>
                <a:spcPts val="0"/>
              </a:spcAft>
              <a:buFont typeface="Symbol"/>
              <a:buChar char="·"/>
              <a:defRPr/>
            </a:pPr>
            <a:r>
              <a:rPr lang="fr-FR" sz="2000" b="1" spc="60" dirty="0">
                <a:solidFill>
                  <a:srgbClr val="000000"/>
                </a:solidFill>
                <a:latin typeface="Arial" panose="22635452340000000000" pitchFamily="2"/>
              </a:rPr>
              <a:t>Dégradation métabolique : source d'énergie (ex: glycolyse</a:t>
            </a:r>
            <a:r>
              <a:rPr lang="fr-FR" sz="2000" b="1" spc="60" dirty="0" smtClean="0">
                <a:solidFill>
                  <a:srgbClr val="000000"/>
                </a:solidFill>
                <a:latin typeface="Arial" panose="22635452340000000000" pitchFamily="2"/>
              </a:rPr>
              <a:t>)</a:t>
            </a:r>
          </a:p>
          <a:p>
            <a:pPr indent="182880">
              <a:lnSpc>
                <a:spcPct val="95999"/>
              </a:lnSpc>
              <a:spcBef>
                <a:spcPts val="720"/>
              </a:spcBef>
              <a:spcAft>
                <a:spcPts val="0"/>
              </a:spcAft>
              <a:defRPr/>
            </a:pPr>
            <a:endParaRPr lang="fr-FR" sz="2000" b="1" spc="60" dirty="0">
              <a:solidFill>
                <a:srgbClr val="000000"/>
              </a:solidFill>
              <a:latin typeface="Arial" panose="22635452340000000000" pitchFamily="2"/>
            </a:endParaRPr>
          </a:p>
          <a:p>
            <a:pPr indent="182880">
              <a:lnSpc>
                <a:spcPct val="95999"/>
              </a:lnSpc>
              <a:spcBef>
                <a:spcPts val="540"/>
              </a:spcBef>
              <a:spcAft>
                <a:spcPts val="0"/>
              </a:spcAft>
              <a:buFont typeface="Symbol"/>
              <a:buChar char="·"/>
              <a:defRPr/>
            </a:pPr>
            <a:r>
              <a:rPr lang="fr-FR" sz="2000" b="1" spc="145" dirty="0">
                <a:solidFill>
                  <a:srgbClr val="000000"/>
                </a:solidFill>
                <a:latin typeface="Arial" panose="22635452340000000000" pitchFamily="2"/>
              </a:rPr>
              <a:t>Monosaccharides : </a:t>
            </a:r>
            <a:r>
              <a:rPr lang="fr-FR" sz="2000" b="1" spc="145" dirty="0" smtClean="0">
                <a:solidFill>
                  <a:srgbClr val="000000"/>
                </a:solidFill>
                <a:latin typeface="Arial" panose="22635452340000000000" pitchFamily="2"/>
              </a:rPr>
              <a:t>Comme le glucose, fructose…ces des composant  d’acides </a:t>
            </a:r>
            <a:r>
              <a:rPr lang="fr-FR" sz="2000" b="1" spc="145" dirty="0">
                <a:solidFill>
                  <a:srgbClr val="000000"/>
                </a:solidFill>
                <a:latin typeface="Arial" panose="22635452340000000000" pitchFamily="2"/>
              </a:rPr>
              <a:t>nucléiques et de certains lipides </a:t>
            </a:r>
            <a:r>
              <a:rPr lang="fr-FR" sz="2000" b="1" dirty="0" smtClean="0">
                <a:solidFill>
                  <a:srgbClr val="000000"/>
                </a:solidFill>
                <a:latin typeface="Arial" panose="22635452340000000000" pitchFamily="2"/>
              </a:rPr>
              <a:t>complexes</a:t>
            </a:r>
          </a:p>
          <a:p>
            <a:pPr indent="182880">
              <a:lnSpc>
                <a:spcPct val="95999"/>
              </a:lnSpc>
              <a:spcBef>
                <a:spcPts val="540"/>
              </a:spcBef>
              <a:spcAft>
                <a:spcPts val="0"/>
              </a:spcAft>
              <a:buFont typeface="Symbol"/>
              <a:buChar char="·"/>
              <a:defRPr/>
            </a:pPr>
            <a:endParaRPr lang="fr-FR" sz="2000" b="1" dirty="0">
              <a:solidFill>
                <a:srgbClr val="000000"/>
              </a:solidFill>
              <a:latin typeface="Arial" panose="22635452340000000000" pitchFamily="2"/>
            </a:endParaRPr>
          </a:p>
          <a:p>
            <a:pPr indent="182880">
              <a:lnSpc>
                <a:spcPct val="95999"/>
              </a:lnSpc>
              <a:spcBef>
                <a:spcPts val="720"/>
              </a:spcBef>
              <a:spcAft>
                <a:spcPts val="0"/>
              </a:spcAft>
              <a:buFont typeface="Symbol"/>
              <a:buChar char="·"/>
              <a:defRPr/>
            </a:pPr>
            <a:r>
              <a:rPr lang="fr-FR" sz="2000" b="1" spc="55" dirty="0">
                <a:solidFill>
                  <a:srgbClr val="000000"/>
                </a:solidFill>
                <a:latin typeface="Arial" panose="22635452340000000000" pitchFamily="2"/>
              </a:rPr>
              <a:t>Oligosaccharides : quelques monosaccharides liés de manière covalente; souvent </a:t>
            </a:r>
            <a:r>
              <a:rPr lang="fr-FR" sz="2000" b="1" spc="60" dirty="0">
                <a:solidFill>
                  <a:srgbClr val="000000"/>
                </a:solidFill>
                <a:latin typeface="Arial" panose="22635452340000000000" pitchFamily="2"/>
              </a:rPr>
              <a:t>associés aux protéines (glycoprotéines) ou au lipides (glycolipides</a:t>
            </a:r>
            <a:r>
              <a:rPr lang="fr-FR" sz="2000" b="1" spc="60" dirty="0" smtClean="0">
                <a:solidFill>
                  <a:srgbClr val="000000"/>
                </a:solidFill>
                <a:latin typeface="Arial" panose="22635452340000000000" pitchFamily="2"/>
              </a:rPr>
              <a:t>)</a:t>
            </a:r>
          </a:p>
          <a:p>
            <a:pPr indent="182880">
              <a:lnSpc>
                <a:spcPct val="95999"/>
              </a:lnSpc>
              <a:spcBef>
                <a:spcPts val="720"/>
              </a:spcBef>
              <a:spcAft>
                <a:spcPts val="0"/>
              </a:spcAft>
              <a:buFont typeface="Symbol"/>
              <a:buChar char="·"/>
              <a:defRPr/>
            </a:pPr>
            <a:endParaRPr lang="fr-FR" sz="2000" b="1" spc="60" dirty="0">
              <a:solidFill>
                <a:srgbClr val="000000"/>
              </a:solidFill>
              <a:latin typeface="Arial" panose="22635452340000000000" pitchFamily="2"/>
            </a:endParaRPr>
          </a:p>
          <a:p>
            <a:pPr indent="182880">
              <a:lnSpc>
                <a:spcPct val="95999"/>
              </a:lnSpc>
              <a:spcBef>
                <a:spcPts val="540"/>
              </a:spcBef>
              <a:spcAft>
                <a:spcPts val="0"/>
              </a:spcAft>
              <a:buFont typeface="Symbol"/>
              <a:buChar char="·"/>
              <a:defRPr/>
            </a:pPr>
            <a:r>
              <a:rPr lang="fr-FR" sz="2000" b="1" spc="55" dirty="0">
                <a:solidFill>
                  <a:srgbClr val="000000"/>
                </a:solidFill>
                <a:latin typeface="Arial" panose="22635452340000000000" pitchFamily="2"/>
              </a:rPr>
              <a:t>Polysaccharides : beaucoup de monosaccharides liés de manière covalente, </a:t>
            </a:r>
            <a:r>
              <a:rPr lang="fr-FR" sz="2000" b="1" spc="70" dirty="0">
                <a:solidFill>
                  <a:srgbClr val="000000"/>
                </a:solidFill>
                <a:latin typeface="Arial" panose="22635452340000000000" pitchFamily="2"/>
              </a:rPr>
              <a:t>rôles structural (cellulose) ou de stockage (amidon, glycogène)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13520</TotalTime>
  <Words>1901</Words>
  <Application>Microsoft Office PowerPoint</Application>
  <PresentationFormat>Affichage à l'écran (4:3)</PresentationFormat>
  <Paragraphs>327</Paragraphs>
  <Slides>38</Slides>
  <Notes>9</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38</vt:i4>
      </vt:variant>
    </vt:vector>
  </HeadingPairs>
  <TitlesOfParts>
    <vt:vector size="47" baseType="lpstr">
      <vt:lpstr>Arial</vt:lpstr>
      <vt:lpstr>Arial Narrow</vt:lpstr>
      <vt:lpstr>Calibri</vt:lpstr>
      <vt:lpstr>Century Schoolbook</vt:lpstr>
      <vt:lpstr>Symbol</vt:lpstr>
      <vt:lpstr>Tahoma</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Les membranes biologiques sont constituées majoritairement de lipides et de protéines</vt:lpstr>
      <vt:lpstr>Présentation PowerPoint</vt:lpstr>
      <vt:lpstr>Présentation PowerPoint</vt:lpstr>
      <vt:lpstr>Face intracellulaire de l’érythrocyte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phospholipides</vt:lpstr>
      <vt:lpstr>… sont constitués d’un glycérol,</vt:lpstr>
      <vt:lpstr>… de deux acides gras,</vt:lpstr>
      <vt:lpstr>… d’un phosphate</vt:lpstr>
      <vt:lpstr>…et d’un alcool</vt:lpstr>
      <vt:lpstr>La diversité des phospholipides résulte de l’association de têtes polaires différentes... </vt:lpstr>
      <vt:lpstr>La distribution des lipides est asymétrique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user</dc:creator>
  <cp:lastModifiedBy>Amel</cp:lastModifiedBy>
  <cp:revision>156</cp:revision>
  <dcterms:created xsi:type="dcterms:W3CDTF">2015-12-07T21:11:39Z</dcterms:created>
  <dcterms:modified xsi:type="dcterms:W3CDTF">2025-02-19T19:20:02Z</dcterms:modified>
</cp:coreProperties>
</file>