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87" r:id="rId3"/>
    <p:sldId id="288" r:id="rId4"/>
    <p:sldId id="289" r:id="rId5"/>
    <p:sldId id="290" r:id="rId6"/>
    <p:sldId id="266" r:id="rId7"/>
    <p:sldId id="261" r:id="rId8"/>
    <p:sldId id="270" r:id="rId9"/>
    <p:sldId id="267" r:id="rId10"/>
    <p:sldId id="272" r:id="rId11"/>
    <p:sldId id="291" r:id="rId12"/>
    <p:sldId id="274" r:id="rId13"/>
    <p:sldId id="275" r:id="rId14"/>
    <p:sldId id="256" r:id="rId15"/>
    <p:sldId id="276" r:id="rId16"/>
    <p:sldId id="284" r:id="rId17"/>
    <p:sldId id="277" r:id="rId18"/>
    <p:sldId id="285" r:id="rId19"/>
    <p:sldId id="278" r:id="rId20"/>
    <p:sldId id="279" r:id="rId21"/>
    <p:sldId id="281" r:id="rId22"/>
    <p:sldId id="263" r:id="rId23"/>
    <p:sldId id="282" r:id="rId24"/>
    <p:sldId id="292" r:id="rId25"/>
    <p:sldId id="293" r:id="rId26"/>
    <p:sldId id="283" r:id="rId27"/>
    <p:sldId id="257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4" d="100"/>
          <a:sy n="74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201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45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68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53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5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555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16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08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842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42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7521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70A92-B3A2-4429-A556-48AA6987B421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90F70-D636-4054-9FEB-4EB7B1C366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49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28.gif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gi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re 1"/>
          <p:cNvSpPr>
            <a:spLocks noGrp="1"/>
          </p:cNvSpPr>
          <p:nvPr>
            <p:ph type="ctrTitle"/>
          </p:nvPr>
        </p:nvSpPr>
        <p:spPr>
          <a:xfrm>
            <a:off x="2135189" y="282310"/>
            <a:ext cx="7772400" cy="910873"/>
          </a:xfrm>
        </p:spPr>
        <p:txBody>
          <a:bodyPr>
            <a:normAutofit/>
          </a:bodyPr>
          <a:lstStyle/>
          <a:p>
            <a:pPr eaLnBrk="1" hangingPunct="1"/>
            <a:r>
              <a:rPr lang="fr-FR" altLang="fr-FR" sz="3600" b="1" dirty="0" smtClean="0">
                <a:latin typeface="Century Schoolbook" panose="02040604050505020304" pitchFamily="18" charset="0"/>
              </a:rPr>
              <a:t>GENRALITES SUR LES </a:t>
            </a:r>
            <a:r>
              <a:rPr lang="fr-FR" altLang="fr-FR" sz="3600" b="1" dirty="0">
                <a:latin typeface="Century Schoolbook" panose="02040604050505020304" pitchFamily="18" charset="0"/>
              </a:rPr>
              <a:t>VIRUS</a:t>
            </a:r>
          </a:p>
        </p:txBody>
      </p:sp>
      <p:sp>
        <p:nvSpPr>
          <p:cNvPr id="2051" name="AutoShape 2" descr="Résultat de recherche d'images pour &quot;le virus du HIV&quot;"/>
          <p:cNvSpPr>
            <a:spLocks noChangeAspect="1" noChangeArrowheads="1"/>
          </p:cNvSpPr>
          <p:nvPr/>
        </p:nvSpPr>
        <p:spPr bwMode="auto">
          <a:xfrm>
            <a:off x="1679575" y="-1608138"/>
            <a:ext cx="4991100" cy="33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sp>
        <p:nvSpPr>
          <p:cNvPr id="2052" name="AutoShape 4" descr="Résultat de recherche d'images pour &quot;le virus du HIV&quot;"/>
          <p:cNvSpPr>
            <a:spLocks noChangeAspect="1" noChangeArrowheads="1"/>
          </p:cNvSpPr>
          <p:nvPr/>
        </p:nvSpPr>
        <p:spPr bwMode="auto">
          <a:xfrm>
            <a:off x="1679575" y="-1608138"/>
            <a:ext cx="4991100" cy="3362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1800"/>
          </a:p>
        </p:txBody>
      </p:sp>
      <p:pic>
        <p:nvPicPr>
          <p:cNvPr id="2053" name="Picture 6" descr="http://infos-sante.net/wp-content/uploads/2014/11/HIV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267" y="1543051"/>
            <a:ext cx="4784197" cy="4575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2" descr="Résultat de recherche d'images pour &quot;Les virus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464" y="1543051"/>
            <a:ext cx="4766203" cy="436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60638" y="6264559"/>
            <a:ext cx="1974551" cy="407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ysClr val="windowText" lastClr="000000"/>
                </a:solidFill>
              </a:rPr>
              <a:t>Dr Belmouhoub</a:t>
            </a:r>
            <a:endParaRPr lang="fr-FR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53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4" y="1"/>
            <a:ext cx="11943806" cy="68579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95106" y="53620"/>
            <a:ext cx="4402183" cy="76944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4400" b="1" dirty="0" smtClean="0">
                <a:solidFill>
                  <a:schemeClr val="bg1"/>
                </a:solidFill>
              </a:rPr>
              <a:t>Plan du cours: </a:t>
            </a:r>
            <a:endParaRPr lang="fr-FR" sz="44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6171" y="1123758"/>
            <a:ext cx="4402183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chemeClr val="bg1"/>
                </a:solidFill>
              </a:rPr>
              <a:t>1- Histoire des virus 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6171" y="2118228"/>
            <a:ext cx="4402183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chemeClr val="bg1"/>
                </a:solidFill>
              </a:rPr>
              <a:t>2- Définition des virus 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6171" y="3003700"/>
            <a:ext cx="8556172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chemeClr val="bg1"/>
                </a:solidFill>
              </a:rPr>
              <a:t>3- Comparaison entre les virus et les bactéries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6171" y="3814570"/>
            <a:ext cx="7173687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chemeClr val="bg1"/>
                </a:solidFill>
              </a:rPr>
              <a:t>4- Organisation et structure des virus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6171" y="4828311"/>
            <a:ext cx="4717870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chemeClr val="bg1"/>
                </a:solidFill>
              </a:rPr>
              <a:t>5- Classification des virus </a:t>
            </a:r>
            <a:endParaRPr lang="fr-FR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94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54" y="0"/>
            <a:ext cx="12040246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1754" y="988279"/>
            <a:ext cx="8783240" cy="61247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Les maladies virales sont connues depuis des </a:t>
            </a:r>
            <a:r>
              <a:rPr lang="fr-FR" sz="2800" dirty="0" smtClean="0"/>
              <a:t>millénaires</a:t>
            </a:r>
            <a:r>
              <a:rPr lang="fr-FR" sz="2800" dirty="0"/>
              <a:t> </a:t>
            </a:r>
            <a:r>
              <a:rPr lang="fr-FR" sz="2800" dirty="0" smtClean="0"/>
              <a:t>(exemple: la rage)</a:t>
            </a:r>
          </a:p>
          <a:p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Une stèle égyptienne nous montre un </a:t>
            </a:r>
            <a:r>
              <a:rPr lang="fr-FR" sz="2800" dirty="0" smtClean="0"/>
              <a:t>pharaon </a:t>
            </a:r>
            <a:r>
              <a:rPr lang="fr-FR" sz="2800" dirty="0"/>
              <a:t>qui </a:t>
            </a:r>
            <a:r>
              <a:rPr lang="fr-FR" sz="2800" dirty="0" smtClean="0"/>
              <a:t>boitait</a:t>
            </a:r>
            <a:r>
              <a:rPr lang="fr-FR" sz="2800" dirty="0"/>
              <a:t>, vraisemblablement touché par la poliomyélite</a:t>
            </a:r>
            <a:r>
              <a:rPr lang="fr-FR" sz="2800" dirty="0" smtClean="0"/>
              <a:t>.</a:t>
            </a:r>
          </a:p>
          <a:p>
            <a:endParaRPr lang="fr-FR" sz="2800" dirty="0"/>
          </a:p>
          <a:p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1798:  Edward. </a:t>
            </a:r>
            <a:r>
              <a:rPr lang="fr-FR" sz="2800" dirty="0"/>
              <a:t>Jenner : vaccination contre la </a:t>
            </a:r>
            <a:r>
              <a:rPr lang="fr-FR" sz="2800" dirty="0" smtClean="0"/>
              <a:t>variole</a:t>
            </a:r>
          </a:p>
          <a:p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/>
              <a:t>1885 L. Pasteur : vaccination contre la </a:t>
            </a:r>
            <a:r>
              <a:rPr lang="fr-FR" sz="2800" dirty="0" smtClean="0"/>
              <a:t>rage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1892   D</a:t>
            </a:r>
            <a:r>
              <a:rPr lang="fr-FR" sz="2800" dirty="0"/>
              <a:t>. </a:t>
            </a:r>
            <a:r>
              <a:rPr lang="fr-FR" sz="2800" dirty="0" err="1"/>
              <a:t>Ivanovsky</a:t>
            </a:r>
            <a:r>
              <a:rPr lang="fr-FR" sz="2800" dirty="0"/>
              <a:t> : expériences indiquant un agent </a:t>
            </a:r>
            <a:r>
              <a:rPr lang="fr-FR" sz="2800" dirty="0" err="1"/>
              <a:t>ultrafiltrable</a:t>
            </a:r>
            <a:r>
              <a:rPr lang="fr-FR" sz="2800" dirty="0"/>
              <a:t> dans la mosaïque du tabac</a:t>
            </a:r>
            <a:endParaRPr lang="fr-FR" sz="2800" dirty="0" smtClean="0"/>
          </a:p>
          <a:p>
            <a:endParaRPr lang="fr-FR" sz="2800" dirty="0" smtClean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0"/>
            <a:ext cx="3505199" cy="369461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789920" y="0"/>
            <a:ext cx="1227909" cy="3694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339634" y="0"/>
            <a:ext cx="6492240" cy="988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chemeClr val="tx1"/>
                </a:solidFill>
              </a:rPr>
              <a:t>Histoire des virus et des maladies virales</a:t>
            </a:r>
            <a:endParaRPr lang="fr-FR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82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8" y="-297"/>
            <a:ext cx="12040644" cy="68585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37" y="181957"/>
            <a:ext cx="12108463" cy="649408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fr-FR" sz="32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200" dirty="0"/>
              <a:t>1898 </a:t>
            </a:r>
            <a:r>
              <a:rPr lang="fr-FR" sz="3200" dirty="0" smtClean="0"/>
              <a:t> M</a:t>
            </a:r>
            <a:r>
              <a:rPr lang="fr-FR" sz="3200" dirty="0"/>
              <a:t>. </a:t>
            </a:r>
            <a:r>
              <a:rPr lang="fr-FR" sz="3200" dirty="0" err="1"/>
              <a:t>Beijerinck</a:t>
            </a:r>
            <a:r>
              <a:rPr lang="fr-FR" sz="3200" dirty="0"/>
              <a:t> : </a:t>
            </a:r>
            <a:r>
              <a:rPr lang="fr-FR" sz="3200" dirty="0" smtClean="0"/>
              <a:t>Confirmation </a:t>
            </a:r>
            <a:r>
              <a:rPr lang="fr-FR" sz="3200" dirty="0"/>
              <a:t>et interprétation de l’agent </a:t>
            </a:r>
            <a:r>
              <a:rPr lang="fr-FR" sz="3200" dirty="0" err="1"/>
              <a:t>ultrafiltrable</a:t>
            </a:r>
            <a:r>
              <a:rPr lang="fr-FR" sz="3200" dirty="0"/>
              <a:t> : </a:t>
            </a:r>
            <a:r>
              <a:rPr lang="fr-FR" sz="3200" dirty="0" err="1"/>
              <a:t>contagium</a:t>
            </a:r>
            <a:r>
              <a:rPr lang="fr-FR" sz="3200" dirty="0"/>
              <a:t> </a:t>
            </a:r>
            <a:r>
              <a:rPr lang="fr-FR" sz="3200" dirty="0" err="1"/>
              <a:t>vivum</a:t>
            </a:r>
            <a:r>
              <a:rPr lang="fr-FR" sz="3200" dirty="0"/>
              <a:t> </a:t>
            </a:r>
            <a:r>
              <a:rPr lang="fr-FR" sz="3200" dirty="0" err="1" smtClean="0"/>
              <a:t>fluidum</a:t>
            </a:r>
            <a:endParaRPr lang="fr-FR" sz="3200" dirty="0" smtClean="0"/>
          </a:p>
          <a:p>
            <a:endParaRPr lang="fr-FR" sz="32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200" dirty="0" smtClean="0"/>
              <a:t>1915 </a:t>
            </a:r>
            <a:r>
              <a:rPr lang="fr-FR" sz="3200" dirty="0"/>
              <a:t>Frederick </a:t>
            </a:r>
            <a:r>
              <a:rPr lang="fr-FR" sz="3200" dirty="0" err="1"/>
              <a:t>Twort</a:t>
            </a:r>
            <a:r>
              <a:rPr lang="fr-FR" sz="3200" dirty="0"/>
              <a:t> : </a:t>
            </a:r>
            <a:r>
              <a:rPr lang="fr-FR" sz="3200" dirty="0" smtClean="0"/>
              <a:t>Découverte </a:t>
            </a:r>
            <a:r>
              <a:rPr lang="fr-FR" sz="3200" dirty="0"/>
              <a:t>des virus des </a:t>
            </a:r>
            <a:r>
              <a:rPr lang="fr-FR" sz="3200" dirty="0" smtClean="0"/>
              <a:t>bactéries (</a:t>
            </a:r>
            <a:r>
              <a:rPr lang="fr-FR" sz="3200" dirty="0"/>
              <a:t>bactériophage)</a:t>
            </a:r>
          </a:p>
          <a:p>
            <a:endParaRPr lang="fr-FR" sz="32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200" dirty="0"/>
              <a:t>1935 W.M. Stanley : </a:t>
            </a:r>
            <a:r>
              <a:rPr lang="fr-FR" sz="3200" dirty="0" smtClean="0"/>
              <a:t>Cristallisation </a:t>
            </a:r>
            <a:r>
              <a:rPr lang="fr-FR" sz="3200" dirty="0"/>
              <a:t>du virus de la mosaïque du </a:t>
            </a:r>
            <a:r>
              <a:rPr lang="fr-FR" sz="3200" dirty="0" smtClean="0"/>
              <a:t>tabac</a:t>
            </a:r>
            <a:endParaRPr lang="fr-FR" sz="32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32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200" dirty="0"/>
              <a:t>1939 </a:t>
            </a:r>
            <a:r>
              <a:rPr lang="fr-FR" sz="3200" dirty="0" smtClean="0"/>
              <a:t>Invention </a:t>
            </a:r>
            <a:r>
              <a:rPr lang="fr-FR" sz="3200" dirty="0"/>
              <a:t>du microscope électronique et visualisation directe de virus (mosaïque du tabac) par G. </a:t>
            </a:r>
            <a:r>
              <a:rPr lang="fr-FR" sz="3200" dirty="0" err="1"/>
              <a:t>Kausche</a:t>
            </a:r>
            <a:r>
              <a:rPr lang="fr-FR" sz="3200" dirty="0"/>
              <a:t>, P. </a:t>
            </a:r>
            <a:r>
              <a:rPr lang="fr-FR" sz="3200" dirty="0" err="1"/>
              <a:t>Ankuch</a:t>
            </a:r>
            <a:r>
              <a:rPr lang="fr-FR" sz="3200" dirty="0"/>
              <a:t>, H. Ruska</a:t>
            </a:r>
            <a:endParaRPr lang="fr-FR" sz="3200" dirty="0" smtClean="0"/>
          </a:p>
          <a:p>
            <a:endParaRPr lang="fr-FR" sz="32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94959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4"/>
            <a:ext cx="12040644" cy="68585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5131" y="0"/>
            <a:ext cx="6453052" cy="10450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chemeClr val="tx1"/>
                </a:solidFill>
              </a:rPr>
              <a:t>Généralités et définitions</a:t>
            </a:r>
            <a:endParaRPr lang="fr-FR" sz="36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9452" y="1250489"/>
            <a:ext cx="7759338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3200" b="1" dirty="0" smtClean="0">
                <a:latin typeface="Poppins"/>
              </a:rPr>
              <a:t>Les virus sont-ils vivants </a:t>
            </a:r>
            <a:r>
              <a:rPr lang="fr-FR" sz="3200" b="1" dirty="0">
                <a:latin typeface="Poppins"/>
              </a:rPr>
              <a:t>ou inertes ?</a:t>
            </a:r>
            <a:endParaRPr lang="fr-FR" sz="3200" b="1" i="0" dirty="0">
              <a:effectLst/>
              <a:latin typeface="Poppi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64" y="2285058"/>
            <a:ext cx="8258425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800" b="1" dirty="0">
                <a:latin typeface="Poppins"/>
              </a:rPr>
              <a:t>Dépourvus de </a:t>
            </a:r>
            <a:r>
              <a:rPr lang="fr-FR" sz="2800" b="1" dirty="0" smtClean="0">
                <a:latin typeface="Poppins"/>
              </a:rPr>
              <a:t>métabolisme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2800" b="1" dirty="0">
              <a:latin typeface="Poppin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800" b="1" dirty="0" smtClean="0">
                <a:latin typeface="Poppins"/>
              </a:rPr>
              <a:t>Aucun échange avec le milieu externe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3200" b="1" dirty="0">
              <a:latin typeface="Poppin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3200" b="1" dirty="0" smtClean="0"/>
              <a:t>Mais ils peuvent se multiplier à l’intérieur de cellules vivantes !!!!!!!</a:t>
            </a:r>
            <a:endParaRPr lang="fr-FR" sz="32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358" y="10460"/>
            <a:ext cx="385762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4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726312" y="56447"/>
            <a:ext cx="3281208" cy="72248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fr-FR" b="1" dirty="0" smtClean="0">
                <a:solidFill>
                  <a:schemeClr val="tx1"/>
                </a:solidFill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Taille:  de 20 </a:t>
            </a:r>
            <a:r>
              <a:rPr lang="fr-FR" altLang="fr-FR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à 300 </a:t>
            </a:r>
            <a:r>
              <a:rPr lang="fr-FR" altLang="fr-FR" b="1" dirty="0" smtClean="0">
                <a:solidFill>
                  <a:schemeClr val="tx1"/>
                </a:solidFill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nm,</a:t>
            </a:r>
          </a:p>
          <a:p>
            <a:pPr algn="ctr"/>
            <a:endParaRPr lang="fr-FR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1" y="1045029"/>
            <a:ext cx="12100560" cy="58129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5131" y="0"/>
            <a:ext cx="6453052" cy="10450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chemeClr val="tx1"/>
                </a:solidFill>
              </a:rPr>
              <a:t>Généralités et définitions</a:t>
            </a:r>
            <a:endParaRPr lang="fr-FR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88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82880"/>
            <a:ext cx="4493623" cy="731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chemeClr val="tx1"/>
                </a:solidFill>
              </a:rPr>
              <a:t>La taille des virus</a:t>
            </a:r>
            <a:endParaRPr lang="fr-FR" sz="3600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399"/>
            <a:ext cx="12057017" cy="570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2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722492"/>
            <a:ext cx="10340621" cy="5949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2" y="0"/>
            <a:ext cx="4505334" cy="7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6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35467" y="0"/>
            <a:ext cx="6242756" cy="11887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Différences entre les bactéries et les virus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22612"/>
              </p:ext>
            </p:extLst>
          </p:nvPr>
        </p:nvGraphicFramePr>
        <p:xfrm>
          <a:off x="135467" y="1188721"/>
          <a:ext cx="12056532" cy="57527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12699">
                  <a:extLst>
                    <a:ext uri="{9D8B030D-6E8A-4147-A177-3AD203B41FA5}">
                      <a16:colId xmlns:a16="http://schemas.microsoft.com/office/drawing/2014/main" xmlns="" val="694526362"/>
                    </a:ext>
                  </a:extLst>
                </a:gridCol>
                <a:gridCol w="3413830">
                  <a:extLst>
                    <a:ext uri="{9D8B030D-6E8A-4147-A177-3AD203B41FA5}">
                      <a16:colId xmlns:a16="http://schemas.microsoft.com/office/drawing/2014/main" xmlns="" val="3444328328"/>
                    </a:ext>
                  </a:extLst>
                </a:gridCol>
                <a:gridCol w="5230003">
                  <a:extLst>
                    <a:ext uri="{9D8B030D-6E8A-4147-A177-3AD203B41FA5}">
                      <a16:colId xmlns:a16="http://schemas.microsoft.com/office/drawing/2014/main" xmlns="" val="462239397"/>
                    </a:ext>
                  </a:extLst>
                </a:gridCol>
              </a:tblGrid>
              <a:tr h="6106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           Bactérie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               Virus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27546620"/>
                  </a:ext>
                </a:extLst>
              </a:tr>
              <a:tr h="6106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Taille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           0.1 – 10 um  </a:t>
                      </a:r>
                      <a:endParaRPr lang="fr-F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     </a:t>
                      </a:r>
                      <a:r>
                        <a:rPr lang="en-US" sz="2000" b="1" dirty="0" smtClean="0">
                          <a:effectLst/>
                        </a:rPr>
                        <a:t>                        </a:t>
                      </a:r>
                      <a:r>
                        <a:rPr lang="en-US" sz="2000" b="1" dirty="0">
                          <a:effectLst/>
                        </a:rPr>
                        <a:t>20-300nm</a:t>
                      </a:r>
                      <a:endParaRPr lang="fr-F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950958874"/>
                  </a:ext>
                </a:extLst>
              </a:tr>
              <a:tr h="6106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Métabolisme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+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-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169325185"/>
                  </a:ext>
                </a:extLst>
              </a:tr>
              <a:tr h="6106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Type cellulaire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       Procaryote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Structure non cellulaire           (Acaryote)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577453209"/>
                  </a:ext>
                </a:extLst>
              </a:tr>
              <a:tr h="6106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Acides nucléiques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 ADN   et    ARN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     ADN   ou     ARN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560571323"/>
                  </a:ext>
                </a:extLst>
              </a:tr>
              <a:tr h="122139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Reproduction 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   Division cellulaire 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fr-FR" sz="2000" b="1">
                          <a:effectLst/>
                        </a:rPr>
                        <a:t>    Replication du génome à l’interieur de la cellule hote (parasite intracellulaire obligatoire)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908071098"/>
                  </a:ext>
                </a:extLst>
              </a:tr>
              <a:tr h="6106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Croissance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+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-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380204781"/>
                  </a:ext>
                </a:extLst>
              </a:tr>
              <a:tr h="61069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Observation microscopique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Visible sous microscope optique  </a:t>
                      </a:r>
                      <a:endParaRPr lang="fr-F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  M. </a:t>
                      </a:r>
                      <a:r>
                        <a:rPr lang="en-US" sz="2000" b="1" dirty="0" err="1">
                          <a:effectLst/>
                        </a:rPr>
                        <a:t>éléctronique</a:t>
                      </a:r>
                      <a:r>
                        <a:rPr lang="en-US" sz="2000" b="1" dirty="0">
                          <a:effectLst/>
                        </a:rPr>
                        <a:t> </a:t>
                      </a:r>
                      <a:r>
                        <a:rPr lang="en-US" sz="2000" b="1" dirty="0" err="1">
                          <a:effectLst/>
                        </a:rPr>
                        <a:t>seulement</a:t>
                      </a:r>
                      <a:endParaRPr lang="fr-F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490716227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222" y="0"/>
            <a:ext cx="5813777" cy="118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41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0" y="0"/>
            <a:ext cx="9072562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xtLst/>
        </p:spPr>
        <p:txBody>
          <a:bodyPr anchor="ctr">
            <a:spAutoFit/>
          </a:bodyPr>
          <a:lstStyle>
            <a:lvl1pPr indent="449263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49263" algn="r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49263" algn="r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49263" algn="r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49263" algn="r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 et structure des virus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000" b="1" dirty="0">
              <a:solidFill>
                <a:srgbClr val="FF0000"/>
              </a:solidFill>
              <a:latin typeface="Century Schoolbook" panose="020406040505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Toute particule virale est constituée d'au </a:t>
            </a:r>
            <a:r>
              <a:rPr lang="fr-FR" altLang="fr-FR" sz="1800" dirty="0" smtClean="0"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moins: A) </a:t>
            </a:r>
            <a:r>
              <a:rPr lang="fr-FR" altLang="fr-FR" sz="1800" b="1" u="sng" dirty="0"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deux éléments constants</a:t>
            </a:r>
            <a:r>
              <a:rPr lang="fr-FR" altLang="fr-FR" sz="1800" b="1" dirty="0"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FR" altLang="fr-FR" sz="1800" dirty="0">
              <a:latin typeface="Century Schoolbook" panose="020406040505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u="sng" dirty="0" smtClean="0"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le </a:t>
            </a:r>
            <a:r>
              <a:rPr lang="fr-FR" altLang="fr-FR" sz="1800" b="1" u="sng" dirty="0"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génome </a:t>
            </a:r>
            <a:r>
              <a:rPr lang="fr-FR" altLang="fr-FR" sz="1800" dirty="0"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r-FR" altLang="fr-FR" sz="1800" dirty="0" smtClean="0"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fr-FR" altLang="fr-FR" sz="1800" dirty="0">
                <a:latin typeface="Century Schoolbook" panose="020406040505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ADN ou     ARN) </a:t>
            </a:r>
            <a:endParaRPr lang="fr-FR" altLang="fr-FR" sz="1800" b="1" dirty="0">
              <a:latin typeface="Century Schoolbook" panose="02040604050505020304" pitchFamily="18" charset="0"/>
              <a:ea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u="sng" dirty="0" smtClean="0">
                <a:latin typeface="Century Schoolbook" panose="02040604050505020304" pitchFamily="18" charset="0"/>
                <a:ea typeface="Calibri" panose="020F0502020204030204" pitchFamily="34" charset="0"/>
              </a:rPr>
              <a:t>B) la </a:t>
            </a:r>
            <a:r>
              <a:rPr lang="fr-FR" altLang="fr-FR" sz="1800" b="1" u="sng" dirty="0">
                <a:latin typeface="Century Schoolbook" panose="02040604050505020304" pitchFamily="18" charset="0"/>
                <a:ea typeface="Calibri" panose="020F0502020204030204" pitchFamily="34" charset="0"/>
              </a:rPr>
              <a:t>capside </a:t>
            </a:r>
            <a:r>
              <a:rPr lang="fr-FR" altLang="fr-FR" sz="1800" dirty="0" smtClean="0">
                <a:latin typeface="Century Schoolbook" panose="02040604050505020304" pitchFamily="18" charset="0"/>
                <a:ea typeface="Calibri" panose="020F0502020204030204" pitchFamily="34" charset="0"/>
              </a:rPr>
              <a:t>: nature protéique</a:t>
            </a:r>
            <a:endParaRPr lang="fr-FR" altLang="fr-FR" sz="1800" dirty="0">
              <a:latin typeface="Century Schoolbook" panose="02040604050505020304" pitchFamily="18" charset="0"/>
              <a:ea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Century Schoolbook" panose="02040604050505020304" pitchFamily="18" charset="0"/>
                <a:ea typeface="Calibri" panose="020F0502020204030204" pitchFamily="34" charset="0"/>
              </a:rPr>
              <a:t>L’ensemble acide nucléique + capside = Une Nucléocapside</a:t>
            </a:r>
          </a:p>
          <a:p>
            <a:pPr>
              <a:spcBef>
                <a:spcPct val="0"/>
              </a:spcBef>
              <a:buFontTx/>
              <a:buNone/>
            </a:pPr>
            <a:endParaRPr lang="fr-FR" altLang="fr-FR" sz="1800" b="1" dirty="0">
              <a:latin typeface="Century Schoolbook" panose="02040604050505020304" pitchFamily="18" charset="0"/>
              <a:ea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1800" b="1" dirty="0">
                <a:latin typeface="Century Schoolbook" panose="02040604050505020304" pitchFamily="18" charset="0"/>
                <a:ea typeface="Calibri" panose="020F0502020204030204" pitchFamily="34" charset="0"/>
              </a:rPr>
              <a:t>C</a:t>
            </a:r>
            <a:r>
              <a:rPr lang="fr-FR" altLang="fr-FR" sz="1800" b="1" dirty="0" smtClean="0">
                <a:latin typeface="Century Schoolbook" panose="02040604050505020304" pitchFamily="18" charset="0"/>
                <a:ea typeface="Calibri" panose="020F0502020204030204" pitchFamily="34" charset="0"/>
              </a:rPr>
              <a:t>) Un</a:t>
            </a:r>
            <a:r>
              <a:rPr lang="fr-FR" altLang="fr-FR" sz="1800" dirty="0" smtClean="0">
                <a:latin typeface="Century Schoolbook" panose="02040604050505020304" pitchFamily="18" charset="0"/>
                <a:ea typeface="Calibri" panose="020F0502020204030204" pitchFamily="34" charset="0"/>
              </a:rPr>
              <a:t> </a:t>
            </a:r>
            <a:r>
              <a:rPr lang="fr-FR" altLang="fr-FR" sz="1800" b="1" dirty="0">
                <a:latin typeface="Century Schoolbook" panose="02040604050505020304" pitchFamily="18" charset="0"/>
                <a:ea typeface="Calibri" panose="020F0502020204030204" pitchFamily="34" charset="0"/>
              </a:rPr>
              <a:t>élément inconstant</a:t>
            </a:r>
            <a:r>
              <a:rPr lang="fr-FR" altLang="fr-FR" sz="1800" dirty="0">
                <a:latin typeface="Century Schoolbook" panose="02040604050505020304" pitchFamily="18" charset="0"/>
                <a:ea typeface="Calibri" panose="020F0502020204030204" pitchFamily="34" charset="0"/>
              </a:rPr>
              <a:t> :</a:t>
            </a:r>
            <a:r>
              <a:rPr lang="fr-FR" altLang="fr-FR" sz="1800" b="1" u="sng" dirty="0">
                <a:latin typeface="Century Schoolbook" panose="02040604050505020304" pitchFamily="18" charset="0"/>
                <a:ea typeface="Calibri" panose="020F0502020204030204" pitchFamily="34" charset="0"/>
              </a:rPr>
              <a:t> </a:t>
            </a:r>
            <a:r>
              <a:rPr lang="fr-FR" altLang="fr-FR" sz="1800" b="1" u="sng" dirty="0" smtClean="0">
                <a:latin typeface="Century Schoolbook" panose="02040604050505020304" pitchFamily="18" charset="0"/>
                <a:ea typeface="Calibri" panose="020F0502020204030204" pitchFamily="34" charset="0"/>
              </a:rPr>
              <a:t>Enveloppe (parfois avec une matrice)</a:t>
            </a:r>
            <a:endParaRPr lang="fr-FR" altLang="fr-FR" sz="1800" dirty="0">
              <a:latin typeface="Century Schoolbook" panose="02040604050505020304" pitchFamily="18" charset="0"/>
              <a:ea typeface="Calibri" panose="020F0502020204030204" pitchFamily="34" charset="0"/>
            </a:endParaRPr>
          </a:p>
        </p:txBody>
      </p:sp>
      <p:pic>
        <p:nvPicPr>
          <p:cNvPr id="3074" name="Picture 2" descr="Th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10" y="3375378"/>
            <a:ext cx="5147733" cy="31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243" y="2965269"/>
            <a:ext cx="6096000" cy="375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6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8" y="-298"/>
            <a:ext cx="12040644" cy="68582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8" y="0"/>
            <a:ext cx="1134125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69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Résultat de recherche d'images pour &quot;monocaténaire segmenté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36" r="48141"/>
          <a:stretch>
            <a:fillRect/>
          </a:stretch>
        </p:blipFill>
        <p:spPr bwMode="auto">
          <a:xfrm>
            <a:off x="4143023" y="293273"/>
            <a:ext cx="5779910" cy="3483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3" descr="Résultat de recherche d'images pour &quot;monocaténaire segmenté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59" t="23560"/>
          <a:stretch>
            <a:fillRect/>
          </a:stretch>
        </p:blipFill>
        <p:spPr bwMode="auto">
          <a:xfrm>
            <a:off x="4143023" y="3599215"/>
            <a:ext cx="5779910" cy="3478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Rectangle 2"/>
          <p:cNvSpPr>
            <a:spLocks noChangeArrowheads="1"/>
          </p:cNvSpPr>
          <p:nvPr/>
        </p:nvSpPr>
        <p:spPr bwMode="auto">
          <a:xfrm>
            <a:off x="1906513" y="4983942"/>
            <a:ext cx="223651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x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fr-FR" altLang="fr-FR" sz="2000" b="1" dirty="0" smtClean="0">
                <a:latin typeface="Century Schoolbook" panose="02040604050505020304" pitchFamily="18" charset="0"/>
                <a:cs typeface="Times New Roman" panose="02020603050405020304" pitchFamily="18" charset="0"/>
              </a:rPr>
              <a:t>B/ De </a:t>
            </a:r>
            <a:r>
              <a:rPr lang="fr-FR" altLang="fr-FR" sz="2000" b="1" dirty="0">
                <a:latin typeface="Century Schoolbook" panose="02040604050505020304" pitchFamily="18" charset="0"/>
                <a:cs typeface="Times New Roman" panose="02020603050405020304" pitchFamily="18" charset="0"/>
              </a:rPr>
              <a:t>type ARN</a:t>
            </a:r>
          </a:p>
        </p:txBody>
      </p:sp>
      <p:sp>
        <p:nvSpPr>
          <p:cNvPr id="2" name="Rectangle 1"/>
          <p:cNvSpPr/>
          <p:nvPr/>
        </p:nvSpPr>
        <p:spPr>
          <a:xfrm>
            <a:off x="203905" y="54859"/>
            <a:ext cx="2833511" cy="553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</a:rPr>
              <a:t>1/ Le génome</a:t>
            </a:r>
            <a:endParaRPr lang="fr-FR" sz="32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94358" y="1189867"/>
            <a:ext cx="2201334" cy="5286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A/ De type ADN</a:t>
            </a: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922933" y="462844"/>
            <a:ext cx="2269067" cy="4628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Parvovirus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753600" y="1371599"/>
            <a:ext cx="2438401" cy="4628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 de l’herpès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53599" y="2790910"/>
            <a:ext cx="2438401" cy="4628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 de l’hépatite B</a:t>
            </a: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838266" y="3613297"/>
            <a:ext cx="2438401" cy="4628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 de l’hépatite A, SARS COV-2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838266" y="4597475"/>
            <a:ext cx="2438401" cy="4628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 grippaux</a:t>
            </a: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833415" y="5581653"/>
            <a:ext cx="2438401" cy="4628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Rotavirus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3905" y="1992742"/>
            <a:ext cx="3875124" cy="2687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Sa taille varie entre : 5 à 280 </a:t>
            </a:r>
            <a:r>
              <a:rPr lang="fr-FR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Kbases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 génome viral code ainsi pour 3 à plus de 100 protéines différentes (structurales et non structurales) selon les virus.</a:t>
            </a:r>
            <a:endParaRPr lang="fr-FR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27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8311" y="372533"/>
            <a:ext cx="2596445" cy="6434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2/ La capside </a:t>
            </a:r>
            <a:endParaRPr lang="fr-FR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8933" y="1288323"/>
            <a:ext cx="105099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polymérisée a base de sous unités protéiques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‘capsomères’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(du grec : capsa= boîte)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8933" y="2173709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Rôle :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1/ Protection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génome. </a:t>
            </a:r>
          </a:p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2/ Porte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structures antigéniques et le site d’attachement au récepteur cellulaire (virus nu).</a:t>
            </a:r>
          </a:p>
        </p:txBody>
      </p:sp>
      <p:pic>
        <p:nvPicPr>
          <p:cNvPr id="4098" name="Picture 2" descr="Les vir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0603" y="1941688"/>
            <a:ext cx="3808285" cy="330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Biologie cellulaire infection bacterie virus Enseignement et recherche  Biochimie Universite Angers Emmanuel Jaspard biochimej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110" y="3963196"/>
            <a:ext cx="4876800" cy="256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388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ructure virale | Votre espace ST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74" y="1423851"/>
            <a:ext cx="11325497" cy="422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535289" y="383822"/>
            <a:ext cx="5644444" cy="9256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différentes formes de capside</a:t>
            </a:r>
            <a:endParaRPr lang="fr-FR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2756" y="5836356"/>
            <a:ext cx="2043288" cy="5531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Forme hélicoïdales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76911" y="5729112"/>
            <a:ext cx="2318999" cy="5531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Forme icosaédriques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65202" y="5729112"/>
            <a:ext cx="2256041" cy="5531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Forme complexe (hybride)</a:t>
            </a:r>
            <a:endParaRPr lang="fr-F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22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8" name="Picture 8" descr="The major capsid proteins fiber, penton, and hexon are the principle... | 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73" y="1087948"/>
            <a:ext cx="4707605" cy="329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620888" y="237067"/>
            <a:ext cx="3804355" cy="6999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A/Capside icosaédrique</a:t>
            </a:r>
            <a:endParaRPr lang="fr-F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34" name="Picture 14" descr="Détection des virus par microscopie électronique : passé, présent et futur  - PDF Free Downloa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659" y="787155"/>
            <a:ext cx="2654394" cy="285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734" y="891904"/>
            <a:ext cx="4637313" cy="28109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32394" y="895036"/>
            <a:ext cx="1580607" cy="479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Pentamère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38515" y="732100"/>
            <a:ext cx="1580607" cy="479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Hexamère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9122" y="237067"/>
            <a:ext cx="1589747" cy="3499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>
                <a:solidFill>
                  <a:schemeClr val="tx1"/>
                </a:solidFill>
              </a:rPr>
              <a:t>Capsomères</a:t>
            </a:r>
            <a:endParaRPr lang="fr-FR" b="1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7080069" y="617620"/>
            <a:ext cx="555170" cy="2774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095284" y="602321"/>
            <a:ext cx="288148" cy="3696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318422" y="3265804"/>
            <a:ext cx="1263410" cy="966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err="1" smtClean="0">
                <a:solidFill>
                  <a:schemeClr val="tx1"/>
                </a:solidFill>
              </a:rPr>
              <a:t>Rotavirus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91901" y="4104829"/>
            <a:ext cx="1456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/>
              <a:t>Adénovirus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3944" y="4846462"/>
            <a:ext cx="90423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capside </a:t>
            </a:r>
            <a:r>
              <a:rPr lang="fr-FR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icosaédrique est </a:t>
            </a:r>
            <a:r>
              <a:rPr lang="fr-FR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constitué de triangles équilatéraux comportant 20 faces, 30 arêtes et 12 sommets. </a:t>
            </a:r>
            <a:endParaRPr lang="fr-FR" sz="2400" b="1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3999" y="4231238"/>
            <a:ext cx="2840504" cy="214312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520659" y="6043908"/>
            <a:ext cx="1187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Icosaèdre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7632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" y="47625"/>
            <a:ext cx="11769635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22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TRUCTURE ET DEFINITION DES VIR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095624"/>
            <a:ext cx="4876800" cy="376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315200" y="6107289"/>
            <a:ext cx="4876800" cy="750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148" name="Picture 4" descr="Structure Taxonomie virale L 3 Professeur Moussa Faf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55" y="2444926"/>
            <a:ext cx="6019445" cy="433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Différence entre capside et enveloppe / Science | La différence entre des  objets et des termes similaire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676" y="157337"/>
            <a:ext cx="5472035" cy="286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Les virus : Organisation et reproduc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22" y="609602"/>
            <a:ext cx="4278489" cy="2777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93510" y="157337"/>
            <a:ext cx="3081868" cy="452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B/Capside hélicoïdale 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54" name="Picture 10" descr="UCLOUVAIN FDP Virologi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957" y="2389276"/>
            <a:ext cx="2995309" cy="205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167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2083143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040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3509" y="157337"/>
            <a:ext cx="4267202" cy="4522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B/Capside de forme complexe 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UCLOUVAIN FDP Virologi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929" y="1373364"/>
            <a:ext cx="4235803" cy="4185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163733" y="5723467"/>
            <a:ext cx="2280356" cy="5870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Bactériophage T4</a:t>
            </a: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4" name="Picture 6" descr="Bactériophages, virus des bactéries - Virus et maladies virales - RECHERCHE  - Institut Paste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533" y="2167467"/>
            <a:ext cx="3747911" cy="300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83644" y="5328356"/>
            <a:ext cx="3070578" cy="4854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Image en ME</a:t>
            </a:r>
            <a:endParaRPr lang="fr-F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3799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8933" y="0"/>
            <a:ext cx="3194755" cy="8918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3/ Enveloppe virale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Résultat de recherche d'images pour &quot;virus nu et enveloppé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688" y="835379"/>
            <a:ext cx="8015112" cy="5836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354666" y="829733"/>
            <a:ext cx="10634133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altLang="fr-FR" sz="2400" dirty="0">
                <a:latin typeface="Century Schoolbook" panose="02040604050505020304" pitchFamily="18" charset="0"/>
                <a:cs typeface="Times New Roman" panose="02020603050405020304" pitchFamily="18" charset="0"/>
              </a:rPr>
              <a:t>C'est une structure </a:t>
            </a:r>
            <a:r>
              <a:rPr lang="fr-FR" altLang="fr-FR" sz="2400" dirty="0" err="1">
                <a:latin typeface="Century Schoolbook" panose="02040604050505020304" pitchFamily="18" charset="0"/>
                <a:cs typeface="Times New Roman" panose="02020603050405020304" pitchFamily="18" charset="0"/>
              </a:rPr>
              <a:t>glucido</a:t>
            </a:r>
            <a:r>
              <a:rPr lang="fr-FR" altLang="fr-FR" sz="2400" dirty="0">
                <a:latin typeface="Century Schoolbook" panose="02040604050505020304" pitchFamily="18" charset="0"/>
                <a:cs typeface="Times New Roman" panose="02020603050405020304" pitchFamily="18" charset="0"/>
              </a:rPr>
              <a:t>-</a:t>
            </a:r>
            <a:r>
              <a:rPr lang="fr-FR" altLang="fr-FR" sz="2400" dirty="0" err="1">
                <a:latin typeface="Century Schoolbook" panose="02040604050505020304" pitchFamily="18" charset="0"/>
                <a:cs typeface="Times New Roman" panose="02020603050405020304" pitchFamily="18" charset="0"/>
              </a:rPr>
              <a:t>lipido</a:t>
            </a:r>
            <a:r>
              <a:rPr lang="fr-FR" altLang="fr-FR" sz="2400" dirty="0">
                <a:latin typeface="Century Schoolbook" panose="02040604050505020304" pitchFamily="18" charset="0"/>
                <a:cs typeface="Times New Roman" panose="02020603050405020304" pitchFamily="18" charset="0"/>
              </a:rPr>
              <a:t>-protéique qui entoure la capside virale, pour les virus </a:t>
            </a:r>
            <a:r>
              <a:rPr lang="fr-FR" altLang="fr-FR" sz="2400" dirty="0" smtClean="0">
                <a:latin typeface="Century Schoolbook" panose="02040604050505020304" pitchFamily="18" charset="0"/>
                <a:cs typeface="Times New Roman" panose="02020603050405020304" pitchFamily="18" charset="0"/>
              </a:rPr>
              <a:t>enveloppés, elle porte des spicules (GP)</a:t>
            </a:r>
            <a:endParaRPr lang="fr-FR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56" y="1880231"/>
            <a:ext cx="45339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28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tructure virale | Votre espace ST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89" y="1546577"/>
            <a:ext cx="10938933" cy="4617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879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0" name="Picture 8" descr="Equine Herpes Virus (EHV-1 – neurological form) – Valencia (ESP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6" y="601858"/>
            <a:ext cx="2619553" cy="193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Grippe - Vikidia, l&amp;#39;encyclopédie des 8-13 a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6" y="3781250"/>
            <a:ext cx="2392429" cy="204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UCLOUVAIN FDP Virologi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628" y="3613064"/>
            <a:ext cx="2142195" cy="208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Manifestations oculaires de la maladie à virus Ebola : les leçons de la  dernière épidémie - ScienceDirec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628" y="601857"/>
            <a:ext cx="2172998" cy="21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La protéine de SARS-CoV-2 Neucleocapside (n) est fortement glycosylé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984" y="3048001"/>
            <a:ext cx="4714512" cy="3218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0" name="Picture 18" descr="I-Le virus du Sid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2578" y="248355"/>
            <a:ext cx="3498567" cy="2525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016000" y="2773892"/>
            <a:ext cx="1512711" cy="2741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herpès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35778" y="2773891"/>
            <a:ext cx="1512711" cy="2741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Ebola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00051" y="2773891"/>
            <a:ext cx="1512711" cy="2741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VIH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16000" y="6129214"/>
            <a:ext cx="1512711" cy="2741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Influenza</a:t>
            </a:r>
            <a:endParaRPr lang="fr-FR" sz="2000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00051" y="6234925"/>
            <a:ext cx="1512711" cy="27410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solidFill>
                  <a:schemeClr val="tx1"/>
                </a:solidFill>
              </a:rPr>
              <a:t>SARS-CoV-2</a:t>
            </a:r>
            <a:endParaRPr lang="fr-FR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07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5131" y="0"/>
            <a:ext cx="5786846" cy="10842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</a:rPr>
              <a:t>Origine de l’enveloppe virale</a:t>
            </a:r>
            <a:endParaRPr lang="fr-FR" sz="3200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0" y="1084217"/>
            <a:ext cx="10463349" cy="4362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39" y="5577322"/>
            <a:ext cx="101106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Libération des virus enveloppés par bourgeonnement à partir de la membrane </a:t>
            </a:r>
            <a:r>
              <a:rPr lang="fr-FR" sz="24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cytoplasmique,  </a:t>
            </a:r>
            <a:r>
              <a:rPr lang="fr-FR" sz="2400" b="1" dirty="0" smtClean="0"/>
              <a:t>Exemple</a:t>
            </a:r>
            <a:r>
              <a:rPr lang="fr-FR" sz="2400" b="1" dirty="0"/>
              <a:t> : Virus du SIDA (VIH). Virus de la rougeole. </a:t>
            </a:r>
            <a:endParaRPr lang="fr-FR" sz="2400" dirty="0"/>
          </a:p>
          <a:p>
            <a:pPr algn="ctr"/>
            <a:endParaRPr lang="fr-FR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1580606" y="3213464"/>
            <a:ext cx="1397725" cy="509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tx1"/>
                </a:solidFill>
              </a:rPr>
              <a:t>nucléocapside</a:t>
            </a:r>
            <a:endParaRPr lang="fr-FR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431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714" y="1854924"/>
            <a:ext cx="9039497" cy="387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558835" y="229645"/>
            <a:ext cx="8826136" cy="941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Libération des virus enveloppés par bourgeonnement à partir de l’enveloppe nucléaire.</a:t>
            </a:r>
            <a:endParaRPr lang="fr-F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89754" y="6048744"/>
            <a:ext cx="2961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Exemple : Virus de l'herpès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1972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ex differences in SARS-CoV-2 infection rates and the potential link to  prostate cancer | Communications Biolog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35" y="901337"/>
            <a:ext cx="11194868" cy="574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415144" y="0"/>
            <a:ext cx="8826136" cy="9417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Libération des virus enveloppés par bourgeonnement à partir </a:t>
            </a:r>
            <a:r>
              <a:rPr lang="fr-FR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 </a:t>
            </a:r>
            <a:r>
              <a:rPr lang="fr-FR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ERGiC</a:t>
            </a:r>
            <a:r>
              <a:rPr lang="fr-FR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(exemple; </a:t>
            </a:r>
            <a:r>
              <a:rPr lang="fr-FR" sz="2400" b="1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SARS CoV2)</a:t>
            </a:r>
            <a:endParaRPr lang="fr-FR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75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44" y="1253067"/>
            <a:ext cx="10284178" cy="47639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5067" y="225778"/>
            <a:ext cx="3826933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tx1"/>
                </a:solidFill>
              </a:rPr>
              <a:t>Classification des virus</a:t>
            </a:r>
            <a:endParaRPr lang="fr-F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212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Biologie cellulaire infection bacterie virus Enseignement et recherche  Biochimie Universite Angers Emmanuel Jaspard biochimej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4" y="1345318"/>
            <a:ext cx="9575448" cy="426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60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563</Words>
  <Application>Microsoft Office PowerPoint</Application>
  <PresentationFormat>Grand écran</PresentationFormat>
  <Paragraphs>116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 Light</vt:lpstr>
      <vt:lpstr>Century Schoolbook</vt:lpstr>
      <vt:lpstr>Poppins</vt:lpstr>
      <vt:lpstr>Symbol</vt:lpstr>
      <vt:lpstr>Times New Roman</vt:lpstr>
      <vt:lpstr>Wingdings</vt:lpstr>
      <vt:lpstr>Office Theme</vt:lpstr>
      <vt:lpstr>GENRALITES SUR LES VIRUS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Amel</cp:lastModifiedBy>
  <cp:revision>78</cp:revision>
  <dcterms:created xsi:type="dcterms:W3CDTF">2021-10-26T16:27:32Z</dcterms:created>
  <dcterms:modified xsi:type="dcterms:W3CDTF">2025-01-28T08:26:37Z</dcterms:modified>
</cp:coreProperties>
</file>