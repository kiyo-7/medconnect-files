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33" roundtripDataSignature="AMtx7mhw+zr50byyIS1dWFEfwfU7sF90T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3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customschemas.google.com/relationships/presentationmetadata" Target="metadata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" name="Google Shape;330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9" name="Google Shape;339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" name="Google Shape;347;p2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5" name="Google Shape;355;p2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4" name="Google Shape;364;p2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1" name="Google Shape;371;p2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6" name="Google Shape;376;p2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1" name="Google Shape;381;p2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6" name="Google Shape;386;p2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9"/>
          <p:cNvSpPr txBox="1"/>
          <p:nvPr>
            <p:ph type="ctrTitle"/>
          </p:nvPr>
        </p:nvSpPr>
        <p:spPr>
          <a:xfrm>
            <a:off x="6576484" y="4437064"/>
            <a:ext cx="4993216" cy="1150937"/>
          </a:xfrm>
          <a:prstGeom prst="rect">
            <a:avLst/>
          </a:prstGeom>
          <a:noFill/>
          <a:ln>
            <a:noFill/>
          </a:ln>
          <a:effectLst>
            <a:outerShdw rotWithShape="0" algn="ctr" dir="2700000" dist="17961">
              <a:schemeClr val="lt2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FFFFFF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9"/>
          <p:cNvSpPr txBox="1"/>
          <p:nvPr>
            <p:ph idx="1" type="subTitle"/>
          </p:nvPr>
        </p:nvSpPr>
        <p:spPr>
          <a:xfrm>
            <a:off x="6576484" y="5624514"/>
            <a:ext cx="4993216" cy="503237"/>
          </a:xfrm>
          <a:prstGeom prst="rect">
            <a:avLst/>
          </a:prstGeom>
          <a:noFill/>
          <a:ln>
            <a:noFill/>
          </a:ln>
          <a:effectLst>
            <a:outerShdw rotWithShape="0" algn="ctr" dir="2700000" dist="17961">
              <a:schemeClr val="lt2"/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Georgia"/>
              <a:buNone/>
              <a:defRPr>
                <a:solidFill>
                  <a:srgbClr val="FFFFFF"/>
                </a:solidFill>
              </a:defRPr>
            </a:lvl1pPr>
            <a:lvl2pPr lvl="1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2pPr>
            <a:lvl3pPr lvl="2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lvl="3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4pPr>
            <a:lvl5pPr lvl="4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»"/>
              <a:defRPr/>
            </a:lvl5pPr>
            <a:lvl6pPr lvl="5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»"/>
              <a:defRPr/>
            </a:lvl6pPr>
            <a:lvl7pPr lvl="6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»"/>
              <a:defRPr/>
            </a:lvl7pPr>
            <a:lvl8pPr lvl="7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»"/>
              <a:defRPr/>
            </a:lvl8pPr>
            <a:lvl9pPr lvl="8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»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0"/>
          <p:cNvSpPr txBox="1"/>
          <p:nvPr>
            <p:ph type="title"/>
          </p:nvPr>
        </p:nvSpPr>
        <p:spPr>
          <a:xfrm>
            <a:off x="624418" y="260350"/>
            <a:ext cx="10943167" cy="115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30"/>
          <p:cNvSpPr txBox="1"/>
          <p:nvPr>
            <p:ph idx="1" type="body"/>
          </p:nvPr>
        </p:nvSpPr>
        <p:spPr>
          <a:xfrm>
            <a:off x="624418" y="2276476"/>
            <a:ext cx="10943167" cy="38893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»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»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»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17" name="Google Shape;17;p30"/>
          <p:cNvSpPr txBox="1"/>
          <p:nvPr>
            <p:ph idx="10" type="dt"/>
          </p:nvPr>
        </p:nvSpPr>
        <p:spPr>
          <a:xfrm>
            <a:off x="609600" y="6453189"/>
            <a:ext cx="2844800" cy="339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30"/>
          <p:cNvSpPr txBox="1"/>
          <p:nvPr>
            <p:ph idx="11" type="ftr"/>
          </p:nvPr>
        </p:nvSpPr>
        <p:spPr>
          <a:xfrm>
            <a:off x="4165600" y="6453189"/>
            <a:ext cx="3860800" cy="339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0"/>
          <p:cNvSpPr txBox="1"/>
          <p:nvPr>
            <p:ph idx="12" type="sldNum"/>
          </p:nvPr>
        </p:nvSpPr>
        <p:spPr>
          <a:xfrm>
            <a:off x="8737600" y="6453189"/>
            <a:ext cx="2844800" cy="339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indent="0" lvl="1" mar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indent="0" lvl="2" mar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indent="0" lvl="3" mar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indent="0" lvl="4" mar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indent="0" lvl="5" mar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indent="0" lvl="6" mar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indent="0" lvl="7" mar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indent="0" lvl="8" mar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31"/>
          <p:cNvSpPr txBox="1"/>
          <p:nvPr>
            <p:ph type="title"/>
          </p:nvPr>
        </p:nvSpPr>
        <p:spPr>
          <a:xfrm>
            <a:off x="624418" y="260350"/>
            <a:ext cx="10943167" cy="115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1"/>
          <p:cNvSpPr txBox="1"/>
          <p:nvPr>
            <p:ph idx="10" type="dt"/>
          </p:nvPr>
        </p:nvSpPr>
        <p:spPr>
          <a:xfrm>
            <a:off x="609600" y="6453189"/>
            <a:ext cx="2844800" cy="339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1"/>
          <p:cNvSpPr txBox="1"/>
          <p:nvPr>
            <p:ph idx="11" type="ftr"/>
          </p:nvPr>
        </p:nvSpPr>
        <p:spPr>
          <a:xfrm>
            <a:off x="4165600" y="6453189"/>
            <a:ext cx="3860800" cy="339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1"/>
          <p:cNvSpPr txBox="1"/>
          <p:nvPr>
            <p:ph idx="12" type="sldNum"/>
          </p:nvPr>
        </p:nvSpPr>
        <p:spPr>
          <a:xfrm>
            <a:off x="8737600" y="6453189"/>
            <a:ext cx="2844800" cy="339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indent="0" lvl="1" mar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indent="0" lvl="2" mar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indent="0" lvl="3" mar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indent="0" lvl="4" mar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indent="0" lvl="5" mar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indent="0" lvl="6" mar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indent="0" lvl="7" mar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indent="0" lvl="8" mar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32"/>
          <p:cNvSpPr txBox="1"/>
          <p:nvPr>
            <p:ph idx="10" type="dt"/>
          </p:nvPr>
        </p:nvSpPr>
        <p:spPr>
          <a:xfrm>
            <a:off x="609600" y="6453189"/>
            <a:ext cx="2844800" cy="339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32"/>
          <p:cNvSpPr txBox="1"/>
          <p:nvPr>
            <p:ph idx="11" type="ftr"/>
          </p:nvPr>
        </p:nvSpPr>
        <p:spPr>
          <a:xfrm>
            <a:off x="4165600" y="6453189"/>
            <a:ext cx="3860800" cy="339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32"/>
          <p:cNvSpPr txBox="1"/>
          <p:nvPr>
            <p:ph idx="12" type="sldNum"/>
          </p:nvPr>
        </p:nvSpPr>
        <p:spPr>
          <a:xfrm>
            <a:off x="8737600" y="6453189"/>
            <a:ext cx="2844800" cy="339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sz="100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indent="0" lvl="1" marL="0" algn="r">
              <a:spcBef>
                <a:spcPts val="0"/>
              </a:spcBef>
              <a:buNone/>
              <a:defRPr b="0" sz="100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indent="0" lvl="2" marL="0" algn="r">
              <a:spcBef>
                <a:spcPts val="0"/>
              </a:spcBef>
              <a:buNone/>
              <a:defRPr b="0" sz="100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indent="0" lvl="3" marL="0" algn="r">
              <a:spcBef>
                <a:spcPts val="0"/>
              </a:spcBef>
              <a:buNone/>
              <a:defRPr b="0" sz="100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indent="0" lvl="4" marL="0" algn="r">
              <a:spcBef>
                <a:spcPts val="0"/>
              </a:spcBef>
              <a:buNone/>
              <a:defRPr b="0" sz="100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indent="0" lvl="5" marL="0" algn="r">
              <a:spcBef>
                <a:spcPts val="0"/>
              </a:spcBef>
              <a:buNone/>
              <a:defRPr b="0" sz="100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indent="0" lvl="6" marL="0" algn="r">
              <a:spcBef>
                <a:spcPts val="0"/>
              </a:spcBef>
              <a:buNone/>
              <a:defRPr b="0" sz="100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indent="0" lvl="7" marL="0" algn="r">
              <a:spcBef>
                <a:spcPts val="0"/>
              </a:spcBef>
              <a:buNone/>
              <a:defRPr b="0" sz="100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indent="0" lvl="8" marL="0" algn="r">
              <a:spcBef>
                <a:spcPts val="0"/>
              </a:spcBef>
              <a:buNone/>
              <a:defRPr b="0" sz="100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35"/>
          <p:cNvSpPr txBox="1"/>
          <p:nvPr>
            <p:ph type="title"/>
          </p:nvPr>
        </p:nvSpPr>
        <p:spPr>
          <a:xfrm>
            <a:off x="963084" y="4406901"/>
            <a:ext cx="103632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40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35"/>
          <p:cNvSpPr txBox="1"/>
          <p:nvPr>
            <p:ph idx="1" type="body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Georgia"/>
              <a:buNone/>
              <a:defRPr sz="2000"/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Georgia"/>
              <a:buNone/>
              <a:defRPr sz="1800"/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Georgia"/>
              <a:buNone/>
              <a:defRPr sz="1600"/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Georgia"/>
              <a:buNone/>
              <a:defRPr sz="1400"/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Georgia"/>
              <a:buNone/>
              <a:defRPr sz="1400"/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Georgia"/>
              <a:buNone/>
              <a:defRPr sz="1400"/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Georgia"/>
              <a:buNone/>
              <a:defRPr sz="1400"/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Georgia"/>
              <a:buNone/>
              <a:defRPr sz="1400"/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Georgia"/>
              <a:buNone/>
              <a:defRPr sz="1400"/>
            </a:lvl9pPr>
          </a:lstStyle>
          <a:p/>
        </p:txBody>
      </p:sp>
      <p:sp>
        <p:nvSpPr>
          <p:cNvPr id="32" name="Google Shape;32;p35"/>
          <p:cNvSpPr txBox="1"/>
          <p:nvPr>
            <p:ph idx="10" type="dt"/>
          </p:nvPr>
        </p:nvSpPr>
        <p:spPr>
          <a:xfrm>
            <a:off x="609600" y="6453189"/>
            <a:ext cx="2844800" cy="339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35"/>
          <p:cNvSpPr txBox="1"/>
          <p:nvPr>
            <p:ph idx="11" type="ftr"/>
          </p:nvPr>
        </p:nvSpPr>
        <p:spPr>
          <a:xfrm>
            <a:off x="4165600" y="6453189"/>
            <a:ext cx="3860800" cy="339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35"/>
          <p:cNvSpPr txBox="1"/>
          <p:nvPr>
            <p:ph idx="12" type="sldNum"/>
          </p:nvPr>
        </p:nvSpPr>
        <p:spPr>
          <a:xfrm>
            <a:off x="8737600" y="6453189"/>
            <a:ext cx="2844800" cy="339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sz="100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indent="0" lvl="1" marL="0" algn="r">
              <a:spcBef>
                <a:spcPts val="0"/>
              </a:spcBef>
              <a:buNone/>
              <a:defRPr b="0" sz="100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indent="0" lvl="2" marL="0" algn="r">
              <a:spcBef>
                <a:spcPts val="0"/>
              </a:spcBef>
              <a:buNone/>
              <a:defRPr b="0" sz="100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indent="0" lvl="3" marL="0" algn="r">
              <a:spcBef>
                <a:spcPts val="0"/>
              </a:spcBef>
              <a:buNone/>
              <a:defRPr b="0" sz="100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indent="0" lvl="4" marL="0" algn="r">
              <a:spcBef>
                <a:spcPts val="0"/>
              </a:spcBef>
              <a:buNone/>
              <a:defRPr b="0" sz="100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indent="0" lvl="5" marL="0" algn="r">
              <a:spcBef>
                <a:spcPts val="0"/>
              </a:spcBef>
              <a:buNone/>
              <a:defRPr b="0" sz="100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indent="0" lvl="6" marL="0" algn="r">
              <a:spcBef>
                <a:spcPts val="0"/>
              </a:spcBef>
              <a:buNone/>
              <a:defRPr b="0" sz="100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indent="0" lvl="7" marL="0" algn="r">
              <a:spcBef>
                <a:spcPts val="0"/>
              </a:spcBef>
              <a:buNone/>
              <a:defRPr b="0" sz="100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indent="0" lvl="8" marL="0" algn="r">
              <a:spcBef>
                <a:spcPts val="0"/>
              </a:spcBef>
              <a:buNone/>
              <a:defRPr b="0" sz="100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46"/>
          <p:cNvSpPr txBox="1"/>
          <p:nvPr>
            <p:ph type="title"/>
          </p:nvPr>
        </p:nvSpPr>
        <p:spPr>
          <a:xfrm>
            <a:off x="624418" y="260350"/>
            <a:ext cx="10943167" cy="115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46"/>
          <p:cNvSpPr txBox="1"/>
          <p:nvPr>
            <p:ph idx="1" type="body"/>
          </p:nvPr>
        </p:nvSpPr>
        <p:spPr>
          <a:xfrm>
            <a:off x="624418" y="2276476"/>
            <a:ext cx="5369983" cy="38893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eorgia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eorgia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Georgia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Georgia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Georgia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Georgia"/>
              <a:buChar char="»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Georgia"/>
              <a:buChar char="»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Georgia"/>
              <a:buChar char="»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Georgia"/>
              <a:buChar char="»"/>
              <a:defRPr sz="1800"/>
            </a:lvl9pPr>
          </a:lstStyle>
          <a:p/>
        </p:txBody>
      </p:sp>
      <p:sp>
        <p:nvSpPr>
          <p:cNvPr id="38" name="Google Shape;38;p46"/>
          <p:cNvSpPr txBox="1"/>
          <p:nvPr>
            <p:ph idx="2" type="body"/>
          </p:nvPr>
        </p:nvSpPr>
        <p:spPr>
          <a:xfrm>
            <a:off x="6197600" y="2276476"/>
            <a:ext cx="5369984" cy="38893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eorgia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eorgia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Georgia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Georgia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Georgia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Georgia"/>
              <a:buChar char="»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Georgia"/>
              <a:buChar char="»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Georgia"/>
              <a:buChar char="»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Georgia"/>
              <a:buChar char="»"/>
              <a:defRPr sz="1800"/>
            </a:lvl9pPr>
          </a:lstStyle>
          <a:p/>
        </p:txBody>
      </p:sp>
      <p:sp>
        <p:nvSpPr>
          <p:cNvPr id="39" name="Google Shape;39;p46"/>
          <p:cNvSpPr txBox="1"/>
          <p:nvPr>
            <p:ph idx="10" type="dt"/>
          </p:nvPr>
        </p:nvSpPr>
        <p:spPr>
          <a:xfrm>
            <a:off x="609600" y="6453189"/>
            <a:ext cx="2844800" cy="339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46"/>
          <p:cNvSpPr txBox="1"/>
          <p:nvPr>
            <p:ph idx="11" type="ftr"/>
          </p:nvPr>
        </p:nvSpPr>
        <p:spPr>
          <a:xfrm>
            <a:off x="4165600" y="6453189"/>
            <a:ext cx="3860800" cy="339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46"/>
          <p:cNvSpPr txBox="1"/>
          <p:nvPr>
            <p:ph idx="12" type="sldNum"/>
          </p:nvPr>
        </p:nvSpPr>
        <p:spPr>
          <a:xfrm>
            <a:off x="8737600" y="6453189"/>
            <a:ext cx="2844800" cy="339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sz="100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indent="0" lvl="1" marL="0" algn="r">
              <a:spcBef>
                <a:spcPts val="0"/>
              </a:spcBef>
              <a:buNone/>
              <a:defRPr b="0" sz="100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indent="0" lvl="2" marL="0" algn="r">
              <a:spcBef>
                <a:spcPts val="0"/>
              </a:spcBef>
              <a:buNone/>
              <a:defRPr b="0" sz="100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indent="0" lvl="3" marL="0" algn="r">
              <a:spcBef>
                <a:spcPts val="0"/>
              </a:spcBef>
              <a:buNone/>
              <a:defRPr b="0" sz="100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indent="0" lvl="4" marL="0" algn="r">
              <a:spcBef>
                <a:spcPts val="0"/>
              </a:spcBef>
              <a:buNone/>
              <a:defRPr b="0" sz="100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indent="0" lvl="5" marL="0" algn="r">
              <a:spcBef>
                <a:spcPts val="0"/>
              </a:spcBef>
              <a:buNone/>
              <a:defRPr b="0" sz="100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indent="0" lvl="6" marL="0" algn="r">
              <a:spcBef>
                <a:spcPts val="0"/>
              </a:spcBef>
              <a:buNone/>
              <a:defRPr b="0" sz="100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indent="0" lvl="7" marL="0" algn="r">
              <a:spcBef>
                <a:spcPts val="0"/>
              </a:spcBef>
              <a:buNone/>
              <a:defRPr b="0" sz="100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indent="0" lvl="8" marL="0" algn="r">
              <a:spcBef>
                <a:spcPts val="0"/>
              </a:spcBef>
              <a:buNone/>
              <a:defRPr b="0" sz="100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47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47"/>
          <p:cNvSpPr txBox="1"/>
          <p:nvPr>
            <p:ph idx="1" type="body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eorgia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Georgia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Georgia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Georgia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Georgia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Georgia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Georgia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Georgia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Georgia"/>
              <a:buNone/>
              <a:defRPr b="1" sz="1600"/>
            </a:lvl9pPr>
          </a:lstStyle>
          <a:p/>
        </p:txBody>
      </p:sp>
      <p:sp>
        <p:nvSpPr>
          <p:cNvPr id="45" name="Google Shape;45;p47"/>
          <p:cNvSpPr txBox="1"/>
          <p:nvPr>
            <p:ph idx="2" type="body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eorgia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Georgia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Georgia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Georgia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Georgia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Georgia"/>
              <a:buChar char="»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Georgia"/>
              <a:buChar char="»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Georgia"/>
              <a:buChar char="»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Georgia"/>
              <a:buChar char="»"/>
              <a:defRPr sz="1600"/>
            </a:lvl9pPr>
          </a:lstStyle>
          <a:p/>
        </p:txBody>
      </p:sp>
      <p:sp>
        <p:nvSpPr>
          <p:cNvPr id="46" name="Google Shape;46;p47"/>
          <p:cNvSpPr txBox="1"/>
          <p:nvPr>
            <p:ph idx="3" type="body"/>
          </p:nvPr>
        </p:nvSpPr>
        <p:spPr>
          <a:xfrm>
            <a:off x="6193368" y="1535113"/>
            <a:ext cx="5389033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eorgia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Georgia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Georgia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Georgia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Georgia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Georgia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Georgia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Georgia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Georgia"/>
              <a:buNone/>
              <a:defRPr b="1" sz="1600"/>
            </a:lvl9pPr>
          </a:lstStyle>
          <a:p/>
        </p:txBody>
      </p:sp>
      <p:sp>
        <p:nvSpPr>
          <p:cNvPr id="47" name="Google Shape;47;p47"/>
          <p:cNvSpPr txBox="1"/>
          <p:nvPr>
            <p:ph idx="4" type="body"/>
          </p:nvPr>
        </p:nvSpPr>
        <p:spPr>
          <a:xfrm>
            <a:off x="6193368" y="2174875"/>
            <a:ext cx="5389033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eorgia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Georgia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Georgia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Georgia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Georgia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Georgia"/>
              <a:buChar char="»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Georgia"/>
              <a:buChar char="»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Georgia"/>
              <a:buChar char="»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Georgia"/>
              <a:buChar char="»"/>
              <a:defRPr sz="1600"/>
            </a:lvl9pPr>
          </a:lstStyle>
          <a:p/>
        </p:txBody>
      </p:sp>
      <p:sp>
        <p:nvSpPr>
          <p:cNvPr id="48" name="Google Shape;48;p47"/>
          <p:cNvSpPr txBox="1"/>
          <p:nvPr>
            <p:ph idx="10" type="dt"/>
          </p:nvPr>
        </p:nvSpPr>
        <p:spPr>
          <a:xfrm>
            <a:off x="609600" y="6453189"/>
            <a:ext cx="2844800" cy="339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47"/>
          <p:cNvSpPr txBox="1"/>
          <p:nvPr>
            <p:ph idx="11" type="ftr"/>
          </p:nvPr>
        </p:nvSpPr>
        <p:spPr>
          <a:xfrm>
            <a:off x="4165600" y="6453189"/>
            <a:ext cx="3860800" cy="339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47"/>
          <p:cNvSpPr txBox="1"/>
          <p:nvPr>
            <p:ph idx="12" type="sldNum"/>
          </p:nvPr>
        </p:nvSpPr>
        <p:spPr>
          <a:xfrm>
            <a:off x="8737600" y="6453189"/>
            <a:ext cx="2844800" cy="339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sz="100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indent="0" lvl="1" marL="0" algn="r">
              <a:spcBef>
                <a:spcPts val="0"/>
              </a:spcBef>
              <a:buNone/>
              <a:defRPr b="0" sz="100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indent="0" lvl="2" marL="0" algn="r">
              <a:spcBef>
                <a:spcPts val="0"/>
              </a:spcBef>
              <a:buNone/>
              <a:defRPr b="0" sz="100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indent="0" lvl="3" marL="0" algn="r">
              <a:spcBef>
                <a:spcPts val="0"/>
              </a:spcBef>
              <a:buNone/>
              <a:defRPr b="0" sz="100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indent="0" lvl="4" marL="0" algn="r">
              <a:spcBef>
                <a:spcPts val="0"/>
              </a:spcBef>
              <a:buNone/>
              <a:defRPr b="0" sz="100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indent="0" lvl="5" marL="0" algn="r">
              <a:spcBef>
                <a:spcPts val="0"/>
              </a:spcBef>
              <a:buNone/>
              <a:defRPr b="0" sz="100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indent="0" lvl="6" marL="0" algn="r">
              <a:spcBef>
                <a:spcPts val="0"/>
              </a:spcBef>
              <a:buNone/>
              <a:defRPr b="0" sz="100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indent="0" lvl="7" marL="0" algn="r">
              <a:spcBef>
                <a:spcPts val="0"/>
              </a:spcBef>
              <a:buNone/>
              <a:defRPr b="0" sz="100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indent="0" lvl="8" marL="0" algn="r">
              <a:spcBef>
                <a:spcPts val="0"/>
              </a:spcBef>
              <a:buNone/>
              <a:defRPr b="0" sz="100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48"/>
          <p:cNvSpPr txBox="1"/>
          <p:nvPr>
            <p:ph type="title"/>
          </p:nvPr>
        </p:nvSpPr>
        <p:spPr>
          <a:xfrm>
            <a:off x="609601" y="273050"/>
            <a:ext cx="4011084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48"/>
          <p:cNvSpPr txBox="1"/>
          <p:nvPr>
            <p:ph idx="1" type="body"/>
          </p:nvPr>
        </p:nvSpPr>
        <p:spPr>
          <a:xfrm>
            <a:off x="4766733" y="273051"/>
            <a:ext cx="6815667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eorgia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eorgia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eorgia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Georgia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Georgia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Georgia"/>
              <a:buChar char="»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Georgia"/>
              <a:buChar char="»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Georgia"/>
              <a:buChar char="»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Georgia"/>
              <a:buChar char="»"/>
              <a:defRPr sz="2000"/>
            </a:lvl9pPr>
          </a:lstStyle>
          <a:p/>
        </p:txBody>
      </p:sp>
      <p:sp>
        <p:nvSpPr>
          <p:cNvPr id="54" name="Google Shape;54;p48"/>
          <p:cNvSpPr txBox="1"/>
          <p:nvPr>
            <p:ph idx="2" type="body"/>
          </p:nvPr>
        </p:nvSpPr>
        <p:spPr>
          <a:xfrm>
            <a:off x="609601" y="1435101"/>
            <a:ext cx="4011084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Georgia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Georgia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Georgia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lt1"/>
              </a:buClr>
              <a:buSzPts val="900"/>
              <a:buFont typeface="Georgia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lt1"/>
              </a:buClr>
              <a:buSzPts val="900"/>
              <a:buFont typeface="Georgia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lt1"/>
              </a:buClr>
              <a:buSzPts val="900"/>
              <a:buFont typeface="Georgia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lt1"/>
              </a:buClr>
              <a:buSzPts val="900"/>
              <a:buFont typeface="Georgia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lt1"/>
              </a:buClr>
              <a:buSzPts val="900"/>
              <a:buFont typeface="Georgia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lt1"/>
              </a:buClr>
              <a:buSzPts val="900"/>
              <a:buFont typeface="Georgia"/>
              <a:buNone/>
              <a:defRPr sz="900"/>
            </a:lvl9pPr>
          </a:lstStyle>
          <a:p/>
        </p:txBody>
      </p:sp>
      <p:sp>
        <p:nvSpPr>
          <p:cNvPr id="55" name="Google Shape;55;p48"/>
          <p:cNvSpPr txBox="1"/>
          <p:nvPr>
            <p:ph idx="10" type="dt"/>
          </p:nvPr>
        </p:nvSpPr>
        <p:spPr>
          <a:xfrm>
            <a:off x="609600" y="6453189"/>
            <a:ext cx="2844800" cy="339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48"/>
          <p:cNvSpPr txBox="1"/>
          <p:nvPr>
            <p:ph idx="11" type="ftr"/>
          </p:nvPr>
        </p:nvSpPr>
        <p:spPr>
          <a:xfrm>
            <a:off x="4165600" y="6453189"/>
            <a:ext cx="3860800" cy="339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48"/>
          <p:cNvSpPr txBox="1"/>
          <p:nvPr>
            <p:ph idx="12" type="sldNum"/>
          </p:nvPr>
        </p:nvSpPr>
        <p:spPr>
          <a:xfrm>
            <a:off x="8737600" y="6453189"/>
            <a:ext cx="2844800" cy="339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sz="100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indent="0" lvl="1" marL="0" algn="r">
              <a:spcBef>
                <a:spcPts val="0"/>
              </a:spcBef>
              <a:buNone/>
              <a:defRPr b="0" sz="100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indent="0" lvl="2" marL="0" algn="r">
              <a:spcBef>
                <a:spcPts val="0"/>
              </a:spcBef>
              <a:buNone/>
              <a:defRPr b="0" sz="100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indent="0" lvl="3" marL="0" algn="r">
              <a:spcBef>
                <a:spcPts val="0"/>
              </a:spcBef>
              <a:buNone/>
              <a:defRPr b="0" sz="100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indent="0" lvl="4" marL="0" algn="r">
              <a:spcBef>
                <a:spcPts val="0"/>
              </a:spcBef>
              <a:buNone/>
              <a:defRPr b="0" sz="100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indent="0" lvl="5" marL="0" algn="r">
              <a:spcBef>
                <a:spcPts val="0"/>
              </a:spcBef>
              <a:buNone/>
              <a:defRPr b="0" sz="100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indent="0" lvl="6" marL="0" algn="r">
              <a:spcBef>
                <a:spcPts val="0"/>
              </a:spcBef>
              <a:buNone/>
              <a:defRPr b="0" sz="100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indent="0" lvl="7" marL="0" algn="r">
              <a:spcBef>
                <a:spcPts val="0"/>
              </a:spcBef>
              <a:buNone/>
              <a:defRPr b="0" sz="100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indent="0" lvl="8" marL="0" algn="r">
              <a:spcBef>
                <a:spcPts val="0"/>
              </a:spcBef>
              <a:buNone/>
              <a:defRPr b="0" sz="100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49"/>
          <p:cNvSpPr txBox="1"/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49"/>
          <p:cNvSpPr/>
          <p:nvPr>
            <p:ph idx="2" type="pic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1" name="Google Shape;61;p49"/>
          <p:cNvSpPr txBox="1"/>
          <p:nvPr>
            <p:ph idx="1" type="body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Georgia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Georgia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Georgia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lt1"/>
              </a:buClr>
              <a:buSzPts val="900"/>
              <a:buFont typeface="Georgia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lt1"/>
              </a:buClr>
              <a:buSzPts val="900"/>
              <a:buFont typeface="Georgia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lt1"/>
              </a:buClr>
              <a:buSzPts val="900"/>
              <a:buFont typeface="Georgia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lt1"/>
              </a:buClr>
              <a:buSzPts val="900"/>
              <a:buFont typeface="Georgia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lt1"/>
              </a:buClr>
              <a:buSzPts val="900"/>
              <a:buFont typeface="Georgia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lt1"/>
              </a:buClr>
              <a:buSzPts val="900"/>
              <a:buFont typeface="Georgia"/>
              <a:buNone/>
              <a:defRPr sz="900"/>
            </a:lvl9pPr>
          </a:lstStyle>
          <a:p/>
        </p:txBody>
      </p:sp>
      <p:sp>
        <p:nvSpPr>
          <p:cNvPr id="62" name="Google Shape;62;p49"/>
          <p:cNvSpPr txBox="1"/>
          <p:nvPr>
            <p:ph idx="10" type="dt"/>
          </p:nvPr>
        </p:nvSpPr>
        <p:spPr>
          <a:xfrm>
            <a:off x="609600" y="6453189"/>
            <a:ext cx="2844800" cy="339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49"/>
          <p:cNvSpPr txBox="1"/>
          <p:nvPr>
            <p:ph idx="11" type="ftr"/>
          </p:nvPr>
        </p:nvSpPr>
        <p:spPr>
          <a:xfrm>
            <a:off x="4165600" y="6453189"/>
            <a:ext cx="3860800" cy="339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49"/>
          <p:cNvSpPr txBox="1"/>
          <p:nvPr>
            <p:ph idx="12" type="sldNum"/>
          </p:nvPr>
        </p:nvSpPr>
        <p:spPr>
          <a:xfrm>
            <a:off x="8737600" y="6453189"/>
            <a:ext cx="2844800" cy="339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sz="100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indent="0" lvl="1" marL="0" algn="r">
              <a:spcBef>
                <a:spcPts val="0"/>
              </a:spcBef>
              <a:buNone/>
              <a:defRPr b="0" sz="100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indent="0" lvl="2" marL="0" algn="r">
              <a:spcBef>
                <a:spcPts val="0"/>
              </a:spcBef>
              <a:buNone/>
              <a:defRPr b="0" sz="100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indent="0" lvl="3" marL="0" algn="r">
              <a:spcBef>
                <a:spcPts val="0"/>
              </a:spcBef>
              <a:buNone/>
              <a:defRPr b="0" sz="100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indent="0" lvl="4" marL="0" algn="r">
              <a:spcBef>
                <a:spcPts val="0"/>
              </a:spcBef>
              <a:buNone/>
              <a:defRPr b="0" sz="100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indent="0" lvl="5" marL="0" algn="r">
              <a:spcBef>
                <a:spcPts val="0"/>
              </a:spcBef>
              <a:buNone/>
              <a:defRPr b="0" sz="100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indent="0" lvl="6" marL="0" algn="r">
              <a:spcBef>
                <a:spcPts val="0"/>
              </a:spcBef>
              <a:buNone/>
              <a:defRPr b="0" sz="100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indent="0" lvl="7" marL="0" algn="r">
              <a:spcBef>
                <a:spcPts val="0"/>
              </a:spcBef>
              <a:buNone/>
              <a:defRPr b="0" sz="100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indent="0" lvl="8" marL="0" algn="r">
              <a:spcBef>
                <a:spcPts val="0"/>
              </a:spcBef>
              <a:buNone/>
              <a:defRPr b="0" sz="100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50"/>
          <p:cNvSpPr txBox="1"/>
          <p:nvPr>
            <p:ph type="title"/>
          </p:nvPr>
        </p:nvSpPr>
        <p:spPr>
          <a:xfrm>
            <a:off x="624418" y="260350"/>
            <a:ext cx="10943167" cy="115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50"/>
          <p:cNvSpPr txBox="1"/>
          <p:nvPr>
            <p:ph idx="1" type="body"/>
          </p:nvPr>
        </p:nvSpPr>
        <p:spPr>
          <a:xfrm rot="5400000">
            <a:off x="4151314" y="-1250420"/>
            <a:ext cx="3889375" cy="1094316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»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»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»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68" name="Google Shape;68;p50"/>
          <p:cNvSpPr txBox="1"/>
          <p:nvPr>
            <p:ph idx="10" type="dt"/>
          </p:nvPr>
        </p:nvSpPr>
        <p:spPr>
          <a:xfrm>
            <a:off x="609600" y="6453189"/>
            <a:ext cx="2844800" cy="339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50"/>
          <p:cNvSpPr txBox="1"/>
          <p:nvPr>
            <p:ph idx="11" type="ftr"/>
          </p:nvPr>
        </p:nvSpPr>
        <p:spPr>
          <a:xfrm>
            <a:off x="4165600" y="6453189"/>
            <a:ext cx="3860800" cy="339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50"/>
          <p:cNvSpPr txBox="1"/>
          <p:nvPr>
            <p:ph idx="12" type="sldNum"/>
          </p:nvPr>
        </p:nvSpPr>
        <p:spPr>
          <a:xfrm>
            <a:off x="8737600" y="6453189"/>
            <a:ext cx="2844800" cy="339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sz="100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indent="0" lvl="1" marL="0" algn="r">
              <a:spcBef>
                <a:spcPts val="0"/>
              </a:spcBef>
              <a:buNone/>
              <a:defRPr b="0" sz="100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indent="0" lvl="2" marL="0" algn="r">
              <a:spcBef>
                <a:spcPts val="0"/>
              </a:spcBef>
              <a:buNone/>
              <a:defRPr b="0" sz="100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indent="0" lvl="3" marL="0" algn="r">
              <a:spcBef>
                <a:spcPts val="0"/>
              </a:spcBef>
              <a:buNone/>
              <a:defRPr b="0" sz="100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indent="0" lvl="4" marL="0" algn="r">
              <a:spcBef>
                <a:spcPts val="0"/>
              </a:spcBef>
              <a:buNone/>
              <a:defRPr b="0" sz="100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indent="0" lvl="5" marL="0" algn="r">
              <a:spcBef>
                <a:spcPts val="0"/>
              </a:spcBef>
              <a:buNone/>
              <a:defRPr b="0" sz="100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indent="0" lvl="6" marL="0" algn="r">
              <a:spcBef>
                <a:spcPts val="0"/>
              </a:spcBef>
              <a:buNone/>
              <a:defRPr b="0" sz="100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indent="0" lvl="7" marL="0" algn="r">
              <a:spcBef>
                <a:spcPts val="0"/>
              </a:spcBef>
              <a:buNone/>
              <a:defRPr b="0" sz="100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indent="0" lvl="8" marL="0" algn="r">
              <a:spcBef>
                <a:spcPts val="0"/>
              </a:spcBef>
              <a:buNone/>
              <a:defRPr b="0" sz="100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51"/>
          <p:cNvSpPr txBox="1"/>
          <p:nvPr>
            <p:ph type="title"/>
          </p:nvPr>
        </p:nvSpPr>
        <p:spPr>
          <a:xfrm rot="5400000">
            <a:off x="7247467" y="1845734"/>
            <a:ext cx="5905500" cy="27347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51"/>
          <p:cNvSpPr txBox="1"/>
          <p:nvPr>
            <p:ph idx="1" type="body"/>
          </p:nvPr>
        </p:nvSpPr>
        <p:spPr>
          <a:xfrm rot="5400000">
            <a:off x="1674285" y="-789517"/>
            <a:ext cx="5905500" cy="800523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»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»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»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74" name="Google Shape;74;p51"/>
          <p:cNvSpPr txBox="1"/>
          <p:nvPr>
            <p:ph idx="10" type="dt"/>
          </p:nvPr>
        </p:nvSpPr>
        <p:spPr>
          <a:xfrm>
            <a:off x="609600" y="6453189"/>
            <a:ext cx="2844800" cy="339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51"/>
          <p:cNvSpPr txBox="1"/>
          <p:nvPr>
            <p:ph idx="11" type="ftr"/>
          </p:nvPr>
        </p:nvSpPr>
        <p:spPr>
          <a:xfrm>
            <a:off x="4165600" y="6453189"/>
            <a:ext cx="3860800" cy="339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51"/>
          <p:cNvSpPr txBox="1"/>
          <p:nvPr>
            <p:ph idx="12" type="sldNum"/>
          </p:nvPr>
        </p:nvSpPr>
        <p:spPr>
          <a:xfrm>
            <a:off x="8737600" y="6453189"/>
            <a:ext cx="2844800" cy="339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sz="100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indent="0" lvl="1" marL="0" algn="r">
              <a:spcBef>
                <a:spcPts val="0"/>
              </a:spcBef>
              <a:buNone/>
              <a:defRPr b="0" sz="100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indent="0" lvl="2" marL="0" algn="r">
              <a:spcBef>
                <a:spcPts val="0"/>
              </a:spcBef>
              <a:buNone/>
              <a:defRPr b="0" sz="100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indent="0" lvl="3" marL="0" algn="r">
              <a:spcBef>
                <a:spcPts val="0"/>
              </a:spcBef>
              <a:buNone/>
              <a:defRPr b="0" sz="100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indent="0" lvl="4" marL="0" algn="r">
              <a:spcBef>
                <a:spcPts val="0"/>
              </a:spcBef>
              <a:buNone/>
              <a:defRPr b="0" sz="100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indent="0" lvl="5" marL="0" algn="r">
              <a:spcBef>
                <a:spcPts val="0"/>
              </a:spcBef>
              <a:buNone/>
              <a:defRPr b="0" sz="100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indent="0" lvl="6" marL="0" algn="r">
              <a:spcBef>
                <a:spcPts val="0"/>
              </a:spcBef>
              <a:buNone/>
              <a:defRPr b="0" sz="100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indent="0" lvl="7" marL="0" algn="r">
              <a:spcBef>
                <a:spcPts val="0"/>
              </a:spcBef>
              <a:buNone/>
              <a:defRPr b="0" sz="100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indent="0" lvl="8" marL="0" algn="r">
              <a:spcBef>
                <a:spcPts val="0"/>
              </a:spcBef>
              <a:buNone/>
              <a:defRPr b="0" sz="100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3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3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3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36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36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90" name="Google Shape;90;p3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3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3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3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37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6" name="Google Shape;96;p3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3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3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38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p38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02" name="Google Shape;102;p3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3" name="Google Shape;103;p3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p3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3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7" name="Google Shape;107;p39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8" name="Google Shape;108;p39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9" name="Google Shape;109;p3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" name="Google Shape;110;p3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1" name="Google Shape;111;p3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40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4" name="Google Shape;114;p40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15" name="Google Shape;115;p40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6" name="Google Shape;116;p40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17" name="Google Shape;117;p40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8" name="Google Shape;118;p4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9" name="Google Shape;119;p4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0" name="Google Shape;120;p4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4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3" name="Google Shape;123;p4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4" name="Google Shape;124;p4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5" name="Google Shape;125;p4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42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8" name="Google Shape;128;p42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129" name="Google Shape;129;p42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130" name="Google Shape;130;p4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1" name="Google Shape;131;p4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2" name="Google Shape;132;p4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43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5" name="Google Shape;135;p43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136" name="Google Shape;136;p43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137" name="Google Shape;137;p4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8" name="Google Shape;138;p4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9" name="Google Shape;139;p4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4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2" name="Google Shape;142;p44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3" name="Google Shape;143;p4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4" name="Google Shape;144;p4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5" name="Google Shape;145;p4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45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8" name="Google Shape;148;p45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9" name="Google Shape;149;p4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0" name="Google Shape;150;p4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1" name="Google Shape;151;p4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3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0.jp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2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8"/>
          <p:cNvSpPr txBox="1"/>
          <p:nvPr>
            <p:ph type="title"/>
          </p:nvPr>
        </p:nvSpPr>
        <p:spPr>
          <a:xfrm>
            <a:off x="624418" y="260350"/>
            <a:ext cx="10943167" cy="115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/>
        </p:txBody>
      </p:sp>
      <p:sp>
        <p:nvSpPr>
          <p:cNvPr id="7" name="Google Shape;7;p28"/>
          <p:cNvSpPr txBox="1"/>
          <p:nvPr>
            <p:ph idx="1" type="body"/>
          </p:nvPr>
        </p:nvSpPr>
        <p:spPr>
          <a:xfrm>
            <a:off x="624418" y="2276476"/>
            <a:ext cx="10943167" cy="38893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55600" lvl="0" marL="457200" marR="0" rtl="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Georgia"/>
              <a:buChar char="•"/>
              <a:defRPr b="0" i="0" sz="2000" u="none" cap="none" strike="noStrik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indent="-355600" lvl="1" marL="914400" marR="0" rtl="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Georgia"/>
              <a:buChar char="–"/>
              <a:defRPr b="0" i="0" sz="2000" u="none" cap="none" strike="noStrik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indent="-355600" lvl="2" marL="1371600" marR="0" rtl="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Georgia"/>
              <a:buChar char="•"/>
              <a:defRPr b="0" i="0" sz="2000" u="none" cap="none" strike="noStrik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Georgia"/>
              <a:buChar char="–"/>
              <a:defRPr b="0" i="0" sz="2000" u="none" cap="none" strike="noStrik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Georgia"/>
              <a:buChar char="»"/>
              <a:defRPr b="0" i="0" sz="2000" u="none" cap="none" strike="noStrik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Georgia"/>
              <a:buChar char="»"/>
              <a:defRPr b="0" i="0" sz="2000" u="none" cap="none" strike="noStrik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Georgia"/>
              <a:buChar char="»"/>
              <a:defRPr b="0" i="0" sz="2000" u="none" cap="none" strike="noStrik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Georgia"/>
              <a:buChar char="»"/>
              <a:defRPr b="0" i="0" sz="2000" u="none" cap="none" strike="noStrik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Georgia"/>
              <a:buChar char="»"/>
              <a:defRPr b="0" i="0" sz="2000" u="none" cap="none" strike="noStrik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/>
        </p:txBody>
      </p:sp>
      <p:sp>
        <p:nvSpPr>
          <p:cNvPr id="8" name="Google Shape;8;p28"/>
          <p:cNvSpPr txBox="1"/>
          <p:nvPr>
            <p:ph idx="10" type="dt"/>
          </p:nvPr>
        </p:nvSpPr>
        <p:spPr>
          <a:xfrm>
            <a:off x="609600" y="6453189"/>
            <a:ext cx="2844800" cy="339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00" u="none" cap="none" strike="noStrik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/>
        </p:txBody>
      </p:sp>
      <p:sp>
        <p:nvSpPr>
          <p:cNvPr id="9" name="Google Shape;9;p28"/>
          <p:cNvSpPr txBox="1"/>
          <p:nvPr>
            <p:ph idx="11" type="ftr"/>
          </p:nvPr>
        </p:nvSpPr>
        <p:spPr>
          <a:xfrm>
            <a:off x="4165600" y="6453189"/>
            <a:ext cx="3860800" cy="339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00" u="none" cap="none" strike="noStrik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/>
        </p:txBody>
      </p:sp>
      <p:sp>
        <p:nvSpPr>
          <p:cNvPr id="10" name="Google Shape;10;p28"/>
          <p:cNvSpPr txBox="1"/>
          <p:nvPr>
            <p:ph idx="12" type="sldNum"/>
          </p:nvPr>
        </p:nvSpPr>
        <p:spPr>
          <a:xfrm>
            <a:off x="8737600" y="6453189"/>
            <a:ext cx="2844800" cy="339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3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9" name="Google Shape;79;p3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0" name="Google Shape;80;p3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1" name="Google Shape;81;p3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2" name="Google Shape;82;p3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7.png"/><Relationship Id="rId4" Type="http://schemas.openxmlformats.org/officeDocument/2006/relationships/image" Target="../media/image2.png"/><Relationship Id="rId5" Type="http://schemas.openxmlformats.org/officeDocument/2006/relationships/image" Target="../media/image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Relationship Id="rId4" Type="http://schemas.openxmlformats.org/officeDocument/2006/relationships/image" Target="../media/image2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1.png"/><Relationship Id="rId4" Type="http://schemas.openxmlformats.org/officeDocument/2006/relationships/image" Target="../media/image5.png"/><Relationship Id="rId5" Type="http://schemas.openxmlformats.org/officeDocument/2006/relationships/image" Target="../media/image4.png"/><Relationship Id="rId6" Type="http://schemas.openxmlformats.org/officeDocument/2006/relationships/image" Target="../media/image12.png"/><Relationship Id="rId7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3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5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9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4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6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8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1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0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"/>
          <p:cNvSpPr txBox="1"/>
          <p:nvPr>
            <p:ph type="ctrTitle"/>
          </p:nvPr>
        </p:nvSpPr>
        <p:spPr>
          <a:xfrm>
            <a:off x="3277772" y="140677"/>
            <a:ext cx="8539090" cy="3460652"/>
          </a:xfrm>
          <a:prstGeom prst="rect">
            <a:avLst/>
          </a:prstGeom>
          <a:noFill/>
          <a:ln>
            <a:noFill/>
          </a:ln>
          <a:effectLst>
            <a:outerShdw rotWithShape="0" algn="ctr" dir="2700000" dist="17961">
              <a:schemeClr val="lt2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5400">
                <a:solidFill>
                  <a:schemeClr val="lt1"/>
                </a:solidFill>
              </a:rPr>
              <a:t>LA   MULTIPLICATION  </a:t>
            </a:r>
            <a:br>
              <a:rPr lang="fr-FR" sz="5400">
                <a:solidFill>
                  <a:schemeClr val="lt1"/>
                </a:solidFill>
              </a:rPr>
            </a:br>
            <a:r>
              <a:rPr lang="fr-FR" sz="5400">
                <a:solidFill>
                  <a:schemeClr val="lt1"/>
                </a:solidFill>
              </a:rPr>
              <a:t>VIRALE</a:t>
            </a:r>
            <a:endParaRPr sz="5400">
              <a:solidFill>
                <a:schemeClr val="lt1"/>
              </a:solidFill>
            </a:endParaRPr>
          </a:p>
        </p:txBody>
      </p:sp>
      <p:sp>
        <p:nvSpPr>
          <p:cNvPr id="157" name="Google Shape;157;p1"/>
          <p:cNvSpPr/>
          <p:nvPr/>
        </p:nvSpPr>
        <p:spPr>
          <a:xfrm>
            <a:off x="0" y="6450037"/>
            <a:ext cx="1998618" cy="407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b="1" i="0" lang="fr-FR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Dr Belmouhoub 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"/>
          <p:cNvSpPr txBox="1"/>
          <p:nvPr>
            <p:ph idx="12" type="sldNum"/>
          </p:nvPr>
        </p:nvSpPr>
        <p:spPr>
          <a:xfrm>
            <a:off x="8737600" y="6453189"/>
            <a:ext cx="2844800" cy="339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  <p:sp>
        <p:nvSpPr>
          <p:cNvPr id="163" name="Google Shape;163;p2"/>
          <p:cNvSpPr/>
          <p:nvPr/>
        </p:nvSpPr>
        <p:spPr>
          <a:xfrm>
            <a:off x="496389" y="300446"/>
            <a:ext cx="5381897" cy="862148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b="1" i="0" lang="fr-FR" sz="4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Plan du cours</a:t>
            </a:r>
            <a:endParaRPr b="1" i="0" sz="4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2"/>
          <p:cNvSpPr/>
          <p:nvPr/>
        </p:nvSpPr>
        <p:spPr>
          <a:xfrm>
            <a:off x="496387" y="1300896"/>
            <a:ext cx="5264333" cy="697721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</a:pPr>
            <a:r>
              <a:rPr b="1" i="0" lang="fr-FR" sz="3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1- Introduction</a:t>
            </a:r>
            <a:endParaRPr/>
          </a:p>
        </p:txBody>
      </p:sp>
      <p:sp>
        <p:nvSpPr>
          <p:cNvPr id="165" name="Google Shape;165;p2"/>
          <p:cNvSpPr/>
          <p:nvPr/>
        </p:nvSpPr>
        <p:spPr>
          <a:xfrm>
            <a:off x="437604" y="2118395"/>
            <a:ext cx="7334796" cy="794622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</a:pPr>
            <a:r>
              <a:rPr b="1" i="0" lang="fr-FR" sz="3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2- Etapes de multiplication virale</a:t>
            </a:r>
            <a:endParaRPr/>
          </a:p>
        </p:txBody>
      </p:sp>
      <p:sp>
        <p:nvSpPr>
          <p:cNvPr id="166" name="Google Shape;166;p2"/>
          <p:cNvSpPr/>
          <p:nvPr/>
        </p:nvSpPr>
        <p:spPr>
          <a:xfrm>
            <a:off x="437604" y="2991430"/>
            <a:ext cx="5381897" cy="718421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</a:pPr>
            <a:r>
              <a:rPr b="1" i="0" lang="fr-FR" sz="3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A- Etapes précoces</a:t>
            </a:r>
            <a:endParaRPr b="1" i="0" sz="32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2"/>
          <p:cNvSpPr/>
          <p:nvPr/>
        </p:nvSpPr>
        <p:spPr>
          <a:xfrm>
            <a:off x="437604" y="3814497"/>
            <a:ext cx="8373293" cy="679126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</a:pPr>
            <a:r>
              <a:rPr b="1" i="0" lang="fr-FR" sz="3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B- Réplication et synthèse des protéines</a:t>
            </a:r>
            <a:endParaRPr b="1" i="0" sz="32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2"/>
          <p:cNvSpPr/>
          <p:nvPr/>
        </p:nvSpPr>
        <p:spPr>
          <a:xfrm>
            <a:off x="437604" y="4611331"/>
            <a:ext cx="8373293" cy="862148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</a:pPr>
            <a:r>
              <a:rPr b="1" i="0" lang="fr-FR" sz="3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C- Etapes tardives</a:t>
            </a:r>
            <a:endParaRPr/>
          </a:p>
        </p:txBody>
      </p:sp>
      <p:pic>
        <p:nvPicPr>
          <p:cNvPr id="169" name="Google Shape;169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4834" y="6376141"/>
            <a:ext cx="2048434" cy="49381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3"/>
          <p:cNvSpPr txBox="1"/>
          <p:nvPr>
            <p:ph idx="11" type="ftr"/>
          </p:nvPr>
        </p:nvSpPr>
        <p:spPr>
          <a:xfrm>
            <a:off x="4165600" y="6453189"/>
            <a:ext cx="3860800" cy="339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Georgia"/>
              <a:buNone/>
            </a:pPr>
            <a:r>
              <a:rPr b="0" i="0" lang="fr-FR" sz="10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Designed by PoweredTemplate.com</a:t>
            </a:r>
            <a:endParaRPr b="0" i="0" sz="1000" u="none" cap="none" strike="noStrike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75" name="Google Shape;175;p3"/>
          <p:cNvSpPr txBox="1"/>
          <p:nvPr>
            <p:ph idx="12" type="sldNum"/>
          </p:nvPr>
        </p:nvSpPr>
        <p:spPr>
          <a:xfrm>
            <a:off x="8737600" y="6453189"/>
            <a:ext cx="2844800" cy="339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Georgia"/>
              <a:buNone/>
            </a:pPr>
            <a:fld id="{00000000-1234-1234-1234-123412341234}" type="slidenum">
              <a:rPr b="0" i="0" lang="fr-FR" sz="10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‹#›</a:t>
            </a:fld>
            <a:endParaRPr b="0" i="0" sz="1000" u="none" cap="none" strike="noStrike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cxnSp>
        <p:nvCxnSpPr>
          <p:cNvPr id="176" name="Google Shape;176;p3"/>
          <p:cNvCxnSpPr/>
          <p:nvPr/>
        </p:nvCxnSpPr>
        <p:spPr>
          <a:xfrm>
            <a:off x="10114671" y="5627077"/>
            <a:ext cx="829994" cy="0"/>
          </a:xfrm>
          <a:prstGeom prst="straightConnector1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77" name="Google Shape;177;p3"/>
          <p:cNvSpPr/>
          <p:nvPr/>
        </p:nvSpPr>
        <p:spPr>
          <a:xfrm>
            <a:off x="288387" y="1358538"/>
            <a:ext cx="11428996" cy="50167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Noto Sans Symbols"/>
              <a:buChar char="▪"/>
            </a:pPr>
            <a:r>
              <a:rPr b="0" i="0" lang="fr-FR" sz="4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Pour pouvoir se multiplier les virus doivent infecter des cellules vivantes (parasitisme intracellulaire obligatoire)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Noto Sans Symbols"/>
              <a:buChar char="▪"/>
            </a:pPr>
            <a:r>
              <a:rPr lang="fr-FR" sz="400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La multiplication virale est un phénomène complexe au cours duquel le virus va détourner la machinerie cellulaire à son profit.</a:t>
            </a:r>
            <a:endParaRPr sz="4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032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oto Sans Symbols"/>
              <a:buNone/>
            </a:pPr>
            <a:r>
              <a:t/>
            </a:r>
            <a:endParaRPr sz="4000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78" name="Google Shape;178;p3"/>
          <p:cNvSpPr/>
          <p:nvPr/>
        </p:nvSpPr>
        <p:spPr>
          <a:xfrm>
            <a:off x="2412273" y="241908"/>
            <a:ext cx="5007429" cy="718456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b="1" lang="fr-FR" sz="4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Introduction </a:t>
            </a:r>
            <a:endParaRPr b="1" i="0" sz="4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4"/>
          <p:cNvSpPr txBox="1"/>
          <p:nvPr>
            <p:ph idx="11" type="ftr"/>
          </p:nvPr>
        </p:nvSpPr>
        <p:spPr>
          <a:xfrm>
            <a:off x="4165600" y="6453189"/>
            <a:ext cx="3860800" cy="339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-FR"/>
              <a:t>Designed by PoweredTemplate.com</a:t>
            </a:r>
            <a:endParaRPr/>
          </a:p>
        </p:txBody>
      </p:sp>
      <p:sp>
        <p:nvSpPr>
          <p:cNvPr id="184" name="Google Shape;184;p4"/>
          <p:cNvSpPr txBox="1"/>
          <p:nvPr>
            <p:ph idx="12" type="sldNum"/>
          </p:nvPr>
        </p:nvSpPr>
        <p:spPr>
          <a:xfrm>
            <a:off x="8737600" y="6453189"/>
            <a:ext cx="2844800" cy="339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  <p:sp>
        <p:nvSpPr>
          <p:cNvPr id="185" name="Google Shape;185;p4"/>
          <p:cNvSpPr/>
          <p:nvPr/>
        </p:nvSpPr>
        <p:spPr>
          <a:xfrm>
            <a:off x="3117669" y="176876"/>
            <a:ext cx="4354286" cy="770708"/>
          </a:xfrm>
          <a:prstGeom prst="rect">
            <a:avLst/>
          </a:prstGeom>
          <a:solidFill>
            <a:srgbClr val="595959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b="1" i="0" lang="fr-FR" sz="4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Introduction</a:t>
            </a:r>
            <a:endParaRPr/>
          </a:p>
        </p:txBody>
      </p:sp>
      <p:sp>
        <p:nvSpPr>
          <p:cNvPr id="186" name="Google Shape;186;p4"/>
          <p:cNvSpPr/>
          <p:nvPr/>
        </p:nvSpPr>
        <p:spPr>
          <a:xfrm>
            <a:off x="701039" y="1160603"/>
            <a:ext cx="10990217" cy="45243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Noto Sans Symbols"/>
              <a:buChar char="▪"/>
            </a:pPr>
            <a:r>
              <a:rPr lang="fr-FR" sz="36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Connaître les étapes de multiplication virale est un Objectif Majeur pour le développement de molécules antivirales.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Noto Sans Symbols"/>
              <a:buChar char="▪"/>
            </a:pPr>
            <a:r>
              <a:rPr lang="fr-FR" sz="360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Le temps du cycle viral peut varier d’un virus à l’autre en fonction de la taille du génome et de la complexité du cycle viral : 4 à 8 heures pour le poliovirus plus de 40 heures pour les Herpes virus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5"/>
          <p:cNvSpPr txBox="1"/>
          <p:nvPr>
            <p:ph idx="11" type="ftr"/>
          </p:nvPr>
        </p:nvSpPr>
        <p:spPr>
          <a:xfrm>
            <a:off x="4165600" y="6453189"/>
            <a:ext cx="3860800" cy="339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-FR"/>
              <a:t>Designed by PoweredTemplate.com</a:t>
            </a:r>
            <a:endParaRPr/>
          </a:p>
        </p:txBody>
      </p:sp>
      <p:sp>
        <p:nvSpPr>
          <p:cNvPr id="192" name="Google Shape;192;p5"/>
          <p:cNvSpPr txBox="1"/>
          <p:nvPr>
            <p:ph idx="12" type="sldNum"/>
          </p:nvPr>
        </p:nvSpPr>
        <p:spPr>
          <a:xfrm>
            <a:off x="8737600" y="6453189"/>
            <a:ext cx="2844800" cy="339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  <p:sp>
        <p:nvSpPr>
          <p:cNvPr id="193" name="Google Shape;193;p5"/>
          <p:cNvSpPr/>
          <p:nvPr/>
        </p:nvSpPr>
        <p:spPr>
          <a:xfrm>
            <a:off x="313509" y="1113851"/>
            <a:ext cx="11756571" cy="550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Char char="•"/>
            </a:pPr>
            <a:r>
              <a:rPr lang="fr-FR" sz="320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Les cellules hôtes peuvent être : </a:t>
            </a:r>
            <a:endParaRPr sz="3200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Char char="•"/>
            </a:pPr>
            <a:r>
              <a:rPr lang="fr-FR" sz="320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✓ </a:t>
            </a:r>
            <a:r>
              <a:rPr lang="fr-FR" sz="3200" u="sng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Résistantes</a:t>
            </a:r>
            <a:r>
              <a:rPr lang="fr-FR" sz="320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 =&gt; Cellule dépourvue de récepteurs nécessaires à la fixation du virus ou d’un facteur nécessaire pour l’expression d’un gène viral =&gt; pas d’infection. </a:t>
            </a:r>
            <a:endParaRPr sz="3200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2540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sz="3200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Char char="•"/>
            </a:pPr>
            <a:r>
              <a:rPr lang="fr-FR" sz="320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✓ </a:t>
            </a:r>
            <a:r>
              <a:rPr lang="fr-FR" sz="3200" u="sng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Permissives</a:t>
            </a:r>
            <a:r>
              <a:rPr lang="fr-FR" sz="320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=&gt; Cycle complet =&gt; production de nouveaux virus = cycle productif =&gt; Infection productive</a:t>
            </a:r>
            <a:endParaRPr/>
          </a:p>
          <a:p>
            <a:pPr indent="-2540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sz="3200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Char char="•"/>
            </a:pPr>
            <a:r>
              <a:rPr lang="fr-FR" sz="320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✓ Non permissives =&gt; expression de qq gènes viraux seulement sans aboutir à un cycle de multiplication complet = infection abortive.</a:t>
            </a:r>
            <a:endParaRPr/>
          </a:p>
        </p:txBody>
      </p:sp>
      <p:sp>
        <p:nvSpPr>
          <p:cNvPr id="194" name="Google Shape;194;p5"/>
          <p:cNvSpPr/>
          <p:nvPr/>
        </p:nvSpPr>
        <p:spPr>
          <a:xfrm>
            <a:off x="2565400" y="418811"/>
            <a:ext cx="3926840" cy="678469"/>
          </a:xfrm>
          <a:prstGeom prst="rect">
            <a:avLst/>
          </a:prstGeom>
          <a:solidFill>
            <a:srgbClr val="595959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b="1" i="0" lang="fr-FR" sz="4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Introduction 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6"/>
          <p:cNvSpPr txBox="1"/>
          <p:nvPr>
            <p:ph idx="10" type="dt"/>
          </p:nvPr>
        </p:nvSpPr>
        <p:spPr>
          <a:xfrm>
            <a:off x="609600" y="6453189"/>
            <a:ext cx="2844800" cy="339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/>
              <a:t>1/28/2025</a:t>
            </a:r>
            <a:endParaRPr/>
          </a:p>
        </p:txBody>
      </p:sp>
      <p:sp>
        <p:nvSpPr>
          <p:cNvPr id="200" name="Google Shape;200;p6"/>
          <p:cNvSpPr txBox="1"/>
          <p:nvPr>
            <p:ph idx="11" type="ftr"/>
          </p:nvPr>
        </p:nvSpPr>
        <p:spPr>
          <a:xfrm>
            <a:off x="4165600" y="6453189"/>
            <a:ext cx="3860800" cy="339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-FR"/>
              <a:t>Designed by PoweredTemplate.com</a:t>
            </a:r>
            <a:endParaRPr/>
          </a:p>
        </p:txBody>
      </p:sp>
      <p:sp>
        <p:nvSpPr>
          <p:cNvPr id="201" name="Google Shape;201;p6"/>
          <p:cNvSpPr txBox="1"/>
          <p:nvPr>
            <p:ph idx="12" type="sldNum"/>
          </p:nvPr>
        </p:nvSpPr>
        <p:spPr>
          <a:xfrm>
            <a:off x="8737600" y="6453189"/>
            <a:ext cx="2844800" cy="339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  <p:pic>
        <p:nvPicPr>
          <p:cNvPr id="202" name="Google Shape;202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877900"/>
            <a:ext cx="9731829" cy="59800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03" name="Google Shape;203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8265" y="1029703"/>
            <a:ext cx="2395936" cy="749873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6"/>
          <p:cNvSpPr/>
          <p:nvPr/>
        </p:nvSpPr>
        <p:spPr>
          <a:xfrm>
            <a:off x="9764622" y="877900"/>
            <a:ext cx="2448560" cy="786795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/>
              <a:buNone/>
            </a:pPr>
            <a:r>
              <a:rPr b="1" i="0" lang="fr-FR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1- Attachement (fixation)</a:t>
            </a:r>
            <a:r>
              <a:rPr b="1" i="0" lang="fr-FR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1" i="0" sz="20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6"/>
          <p:cNvSpPr/>
          <p:nvPr/>
        </p:nvSpPr>
        <p:spPr>
          <a:xfrm>
            <a:off x="9731829" y="1779576"/>
            <a:ext cx="2448560" cy="754618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/>
              <a:buNone/>
            </a:pPr>
            <a:r>
              <a:rPr b="1" i="0" lang="fr-FR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2- Pénétration (entrée) </a:t>
            </a:r>
            <a:endParaRPr/>
          </a:p>
        </p:txBody>
      </p:sp>
      <p:sp>
        <p:nvSpPr>
          <p:cNvPr id="206" name="Google Shape;206;p6"/>
          <p:cNvSpPr/>
          <p:nvPr/>
        </p:nvSpPr>
        <p:spPr>
          <a:xfrm>
            <a:off x="9764622" y="2721657"/>
            <a:ext cx="2448560" cy="554348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</a:pPr>
            <a:r>
              <a:rPr b="1" i="0" lang="fr-FR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    3- Décapsidation</a:t>
            </a:r>
            <a:r>
              <a:rPr b="1" i="0" lang="fr-FR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1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6"/>
          <p:cNvSpPr/>
          <p:nvPr/>
        </p:nvSpPr>
        <p:spPr>
          <a:xfrm>
            <a:off x="9764622" y="3463468"/>
            <a:ext cx="2448560" cy="559892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</a:pPr>
            <a:r>
              <a:rPr b="1" lang="fr-FR" sz="18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    4- Réplication </a:t>
            </a:r>
            <a:endParaRPr b="1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6"/>
          <p:cNvSpPr/>
          <p:nvPr/>
        </p:nvSpPr>
        <p:spPr>
          <a:xfrm>
            <a:off x="9731829" y="4107587"/>
            <a:ext cx="2448559" cy="734292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</a:pPr>
            <a:r>
              <a:rPr b="1" i="0" lang="fr-FR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5- Encapsidation (assemblage)</a:t>
            </a:r>
            <a:endParaRPr/>
          </a:p>
        </p:txBody>
      </p:sp>
      <p:sp>
        <p:nvSpPr>
          <p:cNvPr id="209" name="Google Shape;209;p6"/>
          <p:cNvSpPr/>
          <p:nvPr/>
        </p:nvSpPr>
        <p:spPr>
          <a:xfrm>
            <a:off x="9726748" y="5057275"/>
            <a:ext cx="2453640" cy="712887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</a:pPr>
            <a:r>
              <a:rPr b="1" lang="fr-FR" sz="18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6- Libération (sortie)</a:t>
            </a:r>
            <a:endParaRPr b="1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6"/>
          <p:cNvSpPr/>
          <p:nvPr/>
        </p:nvSpPr>
        <p:spPr>
          <a:xfrm>
            <a:off x="342911" y="130628"/>
            <a:ext cx="9235441" cy="627017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</a:pPr>
            <a:r>
              <a:rPr b="1" i="0" lang="fr-FR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2- Les étapes</a:t>
            </a:r>
            <a:r>
              <a:rPr b="1" i="0" lang="fr-FR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de multiplication  virale (cycle viral)</a:t>
            </a:r>
            <a:endParaRPr b="1" i="0" sz="2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1" name="Google Shape;211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071783" y="3182090"/>
            <a:ext cx="2048434" cy="49381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7"/>
          <p:cNvSpPr txBox="1"/>
          <p:nvPr>
            <p:ph idx="12" type="sldNum"/>
          </p:nvPr>
        </p:nvSpPr>
        <p:spPr>
          <a:xfrm>
            <a:off x="8737600" y="6453189"/>
            <a:ext cx="2844800" cy="339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  <p:sp>
        <p:nvSpPr>
          <p:cNvPr id="217" name="Google Shape;217;p7"/>
          <p:cNvSpPr/>
          <p:nvPr/>
        </p:nvSpPr>
        <p:spPr>
          <a:xfrm>
            <a:off x="822960" y="1345474"/>
            <a:ext cx="2631440" cy="862149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eorgia"/>
              <a:buNone/>
            </a:pPr>
            <a:r>
              <a:t/>
            </a:r>
            <a:endParaRPr b="1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</a:pPr>
            <a:r>
              <a:rPr b="1" lang="fr-FR" sz="18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  Etapes précoces</a:t>
            </a:r>
            <a:endParaRPr b="1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p7"/>
          <p:cNvSpPr/>
          <p:nvPr/>
        </p:nvSpPr>
        <p:spPr>
          <a:xfrm>
            <a:off x="4165600" y="1345472"/>
            <a:ext cx="2631440" cy="862149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eorgia"/>
              <a:buNone/>
            </a:pPr>
            <a:r>
              <a:t/>
            </a:r>
            <a:endParaRPr b="1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</a:pPr>
            <a:r>
              <a:rPr b="1" lang="fr-FR" sz="18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     Réplication </a:t>
            </a:r>
            <a:endParaRPr b="1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" name="Google Shape;219;p7"/>
          <p:cNvSpPr/>
          <p:nvPr/>
        </p:nvSpPr>
        <p:spPr>
          <a:xfrm>
            <a:off x="8511176" y="1358531"/>
            <a:ext cx="2631440" cy="862149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eorgia"/>
              <a:buNone/>
            </a:pPr>
            <a:r>
              <a:t/>
            </a:r>
            <a:endParaRPr b="1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</a:pPr>
            <a:r>
              <a:rPr b="1" lang="fr-FR" sz="18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   </a:t>
            </a:r>
            <a:r>
              <a:rPr b="1" i="0" lang="fr-FR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Etapes tardives</a:t>
            </a:r>
            <a:endParaRPr/>
          </a:p>
        </p:txBody>
      </p:sp>
      <p:sp>
        <p:nvSpPr>
          <p:cNvPr id="220" name="Google Shape;220;p7"/>
          <p:cNvSpPr/>
          <p:nvPr/>
        </p:nvSpPr>
        <p:spPr>
          <a:xfrm>
            <a:off x="1877423" y="2299059"/>
            <a:ext cx="339634" cy="128016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eorgia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p7"/>
          <p:cNvSpPr/>
          <p:nvPr/>
        </p:nvSpPr>
        <p:spPr>
          <a:xfrm>
            <a:off x="5128623" y="2299060"/>
            <a:ext cx="352697" cy="1175657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eorgia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7"/>
          <p:cNvSpPr/>
          <p:nvPr/>
        </p:nvSpPr>
        <p:spPr>
          <a:xfrm>
            <a:off x="9617890" y="2243200"/>
            <a:ext cx="418012" cy="1175657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eorgia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7"/>
          <p:cNvSpPr/>
          <p:nvPr/>
        </p:nvSpPr>
        <p:spPr>
          <a:xfrm>
            <a:off x="1005840" y="3762103"/>
            <a:ext cx="2448560" cy="786795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/>
              <a:buNone/>
            </a:pPr>
            <a:r>
              <a:rPr b="1" i="0" lang="fr-FR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1- Attachement (fixation)</a:t>
            </a:r>
            <a:r>
              <a:rPr b="1" i="0" lang="fr-FR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1" i="0" sz="20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p7"/>
          <p:cNvSpPr/>
          <p:nvPr/>
        </p:nvSpPr>
        <p:spPr>
          <a:xfrm>
            <a:off x="992777" y="4731782"/>
            <a:ext cx="2448560" cy="754618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/>
              <a:buNone/>
            </a:pPr>
            <a:r>
              <a:rPr b="1" i="0" lang="fr-FR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2- Pénétration (entrée) </a:t>
            </a:r>
            <a:endParaRPr/>
          </a:p>
        </p:txBody>
      </p:sp>
      <p:sp>
        <p:nvSpPr>
          <p:cNvPr id="225" name="Google Shape;225;p7"/>
          <p:cNvSpPr/>
          <p:nvPr/>
        </p:nvSpPr>
        <p:spPr>
          <a:xfrm>
            <a:off x="1005840" y="5669280"/>
            <a:ext cx="2448560" cy="554348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</a:pPr>
            <a:r>
              <a:rPr b="1" i="0" lang="fr-FR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    3- Décapsidation</a:t>
            </a:r>
            <a:r>
              <a:rPr b="1" i="0" lang="fr-FR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1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p7"/>
          <p:cNvSpPr/>
          <p:nvPr/>
        </p:nvSpPr>
        <p:spPr>
          <a:xfrm>
            <a:off x="3848463" y="3746909"/>
            <a:ext cx="3265714" cy="524645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</a:pPr>
            <a:r>
              <a:rPr b="1" i="0" lang="fr-FR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Multiplication</a:t>
            </a:r>
            <a:r>
              <a:rPr b="1" i="0" lang="fr-FR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du génome</a:t>
            </a:r>
            <a:endParaRPr b="1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" name="Google Shape;227;p7"/>
          <p:cNvSpPr/>
          <p:nvPr/>
        </p:nvSpPr>
        <p:spPr>
          <a:xfrm>
            <a:off x="3984171" y="4548898"/>
            <a:ext cx="3130006" cy="637057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</a:pPr>
            <a:r>
              <a:rPr b="1" i="0" lang="fr-FR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Synthèse</a:t>
            </a:r>
            <a:r>
              <a:rPr b="1" lang="fr-FR" sz="18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des protéines virales</a:t>
            </a:r>
            <a:endParaRPr b="1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p7"/>
          <p:cNvSpPr/>
          <p:nvPr/>
        </p:nvSpPr>
        <p:spPr>
          <a:xfrm>
            <a:off x="8262983" y="3490631"/>
            <a:ext cx="3252651" cy="64008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</a:pPr>
            <a:r>
              <a:rPr b="1" i="0" lang="fr-FR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Encapsidation (maturation)</a:t>
            </a:r>
            <a:r>
              <a:rPr b="1" i="0" lang="fr-FR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1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229;p7"/>
          <p:cNvSpPr/>
          <p:nvPr/>
        </p:nvSpPr>
        <p:spPr>
          <a:xfrm>
            <a:off x="8809082" y="4223652"/>
            <a:ext cx="2453640" cy="712887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</a:pPr>
            <a:r>
              <a:rPr b="1" lang="fr-FR" sz="18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Libération (sortie)</a:t>
            </a:r>
            <a:endParaRPr b="1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4" name="Google Shape;234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3508" y="581296"/>
            <a:ext cx="6156785" cy="586522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Résultat de recherche d'images pour &quot;attachement des virus enveloppé&quot;" id="235" name="Google Shape;235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41513" y="581296"/>
            <a:ext cx="5822351" cy="5865222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pic>
      <p:sp>
        <p:nvSpPr>
          <p:cNvPr id="236" name="Google Shape;236;p8"/>
          <p:cNvSpPr/>
          <p:nvPr/>
        </p:nvSpPr>
        <p:spPr>
          <a:xfrm>
            <a:off x="313508" y="117566"/>
            <a:ext cx="4036423" cy="705394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Arial"/>
              <a:buNone/>
            </a:pPr>
            <a:r>
              <a:rPr b="1" i="0" lang="fr-FR" sz="4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1-Attachement</a:t>
            </a:r>
            <a:endParaRPr/>
          </a:p>
        </p:txBody>
      </p:sp>
      <p:sp>
        <p:nvSpPr>
          <p:cNvPr id="237" name="Google Shape;237;p8"/>
          <p:cNvSpPr/>
          <p:nvPr/>
        </p:nvSpPr>
        <p:spPr>
          <a:xfrm>
            <a:off x="4349932" y="692331"/>
            <a:ext cx="1881052" cy="404949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fr-F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Nucléocapside</a:t>
            </a:r>
            <a:endParaRPr/>
          </a:p>
        </p:txBody>
      </p:sp>
      <p:sp>
        <p:nvSpPr>
          <p:cNvPr id="238" name="Google Shape;238;p8"/>
          <p:cNvSpPr/>
          <p:nvPr/>
        </p:nvSpPr>
        <p:spPr>
          <a:xfrm>
            <a:off x="313508" y="5839096"/>
            <a:ext cx="2429691" cy="607421"/>
          </a:xfrm>
          <a:prstGeom prst="rect">
            <a:avLst/>
          </a:prstGeom>
          <a:solidFill>
            <a:srgbClr val="DBDBD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</a:pPr>
            <a:r>
              <a:rPr b="1" i="0" lang="fr-FR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Virus</a:t>
            </a:r>
            <a:r>
              <a:rPr b="1" i="0" lang="fr-FR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enveloppé</a:t>
            </a:r>
            <a:endParaRPr b="1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" name="Google Shape;239;p8"/>
          <p:cNvSpPr/>
          <p:nvPr/>
        </p:nvSpPr>
        <p:spPr>
          <a:xfrm>
            <a:off x="6470293" y="5839097"/>
            <a:ext cx="1887079" cy="607421"/>
          </a:xfrm>
          <a:prstGeom prst="rect">
            <a:avLst/>
          </a:prstGeom>
          <a:solidFill>
            <a:srgbClr val="DBDBD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</a:pPr>
            <a:r>
              <a:rPr b="1" i="0" lang="fr-FR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Virus</a:t>
            </a:r>
            <a:r>
              <a:rPr b="1" i="0" lang="fr-FR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nu</a:t>
            </a:r>
            <a:endParaRPr b="1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9"/>
          <p:cNvSpPr txBox="1"/>
          <p:nvPr>
            <p:ph idx="10" type="dt"/>
          </p:nvPr>
        </p:nvSpPr>
        <p:spPr>
          <a:xfrm>
            <a:off x="609600" y="6453189"/>
            <a:ext cx="2844800" cy="339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/>
              <a:t>1/28/2025</a:t>
            </a:r>
            <a:endParaRPr/>
          </a:p>
        </p:txBody>
      </p:sp>
      <p:sp>
        <p:nvSpPr>
          <p:cNvPr id="245" name="Google Shape;245;p9"/>
          <p:cNvSpPr txBox="1"/>
          <p:nvPr>
            <p:ph idx="11" type="ftr"/>
          </p:nvPr>
        </p:nvSpPr>
        <p:spPr>
          <a:xfrm>
            <a:off x="4165600" y="6453189"/>
            <a:ext cx="3860800" cy="339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-FR"/>
              <a:t>Designed by PoweredTemplate.com</a:t>
            </a:r>
            <a:endParaRPr/>
          </a:p>
        </p:txBody>
      </p:sp>
      <p:sp>
        <p:nvSpPr>
          <p:cNvPr id="246" name="Google Shape;246;p9"/>
          <p:cNvSpPr txBox="1"/>
          <p:nvPr>
            <p:ph idx="12" type="sldNum"/>
          </p:nvPr>
        </p:nvSpPr>
        <p:spPr>
          <a:xfrm>
            <a:off x="8737600" y="6453189"/>
            <a:ext cx="2844800" cy="339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  <p:pic>
        <p:nvPicPr>
          <p:cNvPr id="247" name="Google Shape;247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26400" y="3361011"/>
            <a:ext cx="4022360" cy="326204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8" name="Google Shape;248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21394" y="134233"/>
            <a:ext cx="3859802" cy="3157538"/>
          </a:xfrm>
          <a:prstGeom prst="rect">
            <a:avLst/>
          </a:prstGeom>
          <a:solidFill>
            <a:schemeClr val="lt1"/>
          </a:solidFill>
          <a:ln>
            <a:noFill/>
          </a:ln>
        </p:spPr>
      </p:pic>
      <p:pic>
        <p:nvPicPr>
          <p:cNvPr id="249" name="Google Shape;249;p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737600" y="181042"/>
            <a:ext cx="3311161" cy="304051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0" name="Google Shape;250;p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165600" y="3357245"/>
            <a:ext cx="3836670" cy="3265805"/>
          </a:xfrm>
          <a:prstGeom prst="rect">
            <a:avLst/>
          </a:prstGeom>
          <a:noFill/>
          <a:ln>
            <a:noFill/>
          </a:ln>
        </p:spPr>
      </p:pic>
      <p:sp>
        <p:nvSpPr>
          <p:cNvPr id="251" name="Google Shape;251;p9"/>
          <p:cNvSpPr/>
          <p:nvPr/>
        </p:nvSpPr>
        <p:spPr>
          <a:xfrm>
            <a:off x="143239" y="287383"/>
            <a:ext cx="4350384" cy="1881051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</a:pPr>
            <a:r>
              <a:rPr b="1" i="0" lang="fr-FR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Affinité de structure entre les molécules</a:t>
            </a:r>
            <a:r>
              <a:rPr b="1" i="0" lang="fr-FR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virales et les récepteurs cellulaires</a:t>
            </a:r>
            <a:endParaRPr b="1" i="0" sz="2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52" name="Google Shape;252;p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8033" y="2790168"/>
            <a:ext cx="4073437" cy="38328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1"/>
        </a:solidFill>
      </p:bgPr>
    </p:bg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7" name="Google Shape;257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561704"/>
            <a:ext cx="12192000" cy="6296296"/>
          </a:xfrm>
          <a:prstGeom prst="rect">
            <a:avLst/>
          </a:prstGeom>
          <a:noFill/>
          <a:ln>
            <a:noFill/>
          </a:ln>
        </p:spPr>
      </p:pic>
      <p:sp>
        <p:nvSpPr>
          <p:cNvPr id="258" name="Google Shape;258;p10"/>
          <p:cNvSpPr/>
          <p:nvPr/>
        </p:nvSpPr>
        <p:spPr>
          <a:xfrm>
            <a:off x="0" y="0"/>
            <a:ext cx="5760720" cy="809897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4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2- Pénétration (entrée) </a:t>
            </a:r>
            <a:endParaRPr b="1" sz="4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10"/>
          <p:cNvSpPr/>
          <p:nvPr/>
        </p:nvSpPr>
        <p:spPr>
          <a:xfrm>
            <a:off x="8869680" y="1097280"/>
            <a:ext cx="3069772" cy="2062103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A- Modalités d’entrée des virus nus (non-enveloppés).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4" name="Google Shape;264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870318"/>
            <a:ext cx="11247120" cy="5987682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11"/>
          <p:cNvSpPr/>
          <p:nvPr/>
        </p:nvSpPr>
        <p:spPr>
          <a:xfrm>
            <a:off x="104503" y="0"/>
            <a:ext cx="6609806" cy="870318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B-</a:t>
            </a:r>
            <a:r>
              <a:rPr b="1" lang="fr-FR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Modalités d’entrée des virus enveloppés</a:t>
            </a:r>
            <a:r>
              <a:rPr lang="fr-FR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11"/>
          <p:cNvSpPr/>
          <p:nvPr/>
        </p:nvSpPr>
        <p:spPr>
          <a:xfrm>
            <a:off x="104503" y="1881052"/>
            <a:ext cx="1319349" cy="744583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VIH (virus du sida)</a:t>
            </a:r>
            <a:endParaRPr b="1"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11"/>
          <p:cNvSpPr/>
          <p:nvPr/>
        </p:nvSpPr>
        <p:spPr>
          <a:xfrm>
            <a:off x="0" y="4519749"/>
            <a:ext cx="1319349" cy="992777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SARS COV-2</a:t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2"/>
          <p:cNvSpPr/>
          <p:nvPr/>
        </p:nvSpPr>
        <p:spPr>
          <a:xfrm>
            <a:off x="0" y="1368310"/>
            <a:ext cx="12192000" cy="50167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571500" lvl="0" marL="5715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oto Sans Symbols"/>
              <a:buChar char="▪"/>
            </a:pPr>
            <a:r>
              <a:rPr lang="fr-FR" sz="4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C’est la dégradation de la capside virale</a:t>
            </a:r>
            <a:endParaRPr/>
          </a:p>
          <a:p>
            <a:pPr indent="-571500" lvl="0" marL="5715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oto Sans Symbols"/>
              <a:buChar char="▪"/>
            </a:pPr>
            <a:r>
              <a:rPr lang="fr-FR" sz="4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 général cette étape se fait à l’aide de décapsidases cellulaires à l’exception de certains virus qui possèdent leur propres décapsidases.</a:t>
            </a:r>
            <a:endParaRPr/>
          </a:p>
          <a:p>
            <a:pPr indent="-571500" lvl="0" marL="5715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oto Sans Symbols"/>
              <a:buChar char="▪"/>
            </a:pPr>
            <a:r>
              <a:rPr lang="fr-FR" sz="4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 décapsidation peut s'effectuer dans le cytoplasme ou au niveau des pores nucléaires (Virus à ADN)</a:t>
            </a:r>
            <a:endParaRPr sz="4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571500" lvl="0" marL="5715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oto Sans Symbols"/>
              <a:buChar char="▪"/>
            </a:pPr>
            <a:r>
              <a:rPr lang="fr-FR" sz="4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Elle est soit complète (c'est le cas pour la majorité des virus) ou partielle (chez certaines espèces).</a:t>
            </a:r>
            <a:endParaRPr/>
          </a:p>
        </p:txBody>
      </p:sp>
      <p:sp>
        <p:nvSpPr>
          <p:cNvPr id="273" name="Google Shape;273;p12"/>
          <p:cNvSpPr/>
          <p:nvPr/>
        </p:nvSpPr>
        <p:spPr>
          <a:xfrm>
            <a:off x="209006" y="143691"/>
            <a:ext cx="4101737" cy="1110343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4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3- Décapsidation</a:t>
            </a:r>
            <a:endParaRPr b="1" sz="4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3"/>
          <p:cNvSpPr/>
          <p:nvPr/>
        </p:nvSpPr>
        <p:spPr>
          <a:xfrm>
            <a:off x="248194" y="143691"/>
            <a:ext cx="7511143" cy="796835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4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4- Réplication et synthèse</a:t>
            </a:r>
            <a:endParaRPr b="1" sz="4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13"/>
          <p:cNvSpPr/>
          <p:nvPr/>
        </p:nvSpPr>
        <p:spPr>
          <a:xfrm>
            <a:off x="248193" y="1120281"/>
            <a:ext cx="11730447" cy="45243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Noto Sans Symbols"/>
              <a:buChar char="▪"/>
            </a:pPr>
            <a:r>
              <a:rPr lang="fr-FR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Le mode de réplication est en fonction de la nature du génome viral (Virus à ADN, Virus à ARN (ARN+, ARN-, rétrovirus.)</a:t>
            </a:r>
            <a:endParaRPr sz="3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Noto Sans Symbols"/>
              <a:buNone/>
            </a:pPr>
            <a:r>
              <a:t/>
            </a:r>
            <a:endParaRPr sz="3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Noto Sans Symbols"/>
              <a:buChar char="▪"/>
            </a:pPr>
            <a:r>
              <a:rPr lang="fr-FR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C’est la production de nouvelles copies du génome viral</a:t>
            </a:r>
            <a:endParaRPr/>
          </a:p>
          <a:p>
            <a:pPr indent="-2286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Noto Sans Symbols"/>
              <a:buNone/>
            </a:pPr>
            <a:r>
              <a:t/>
            </a:r>
            <a:endParaRPr sz="3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Noto Sans Symbols"/>
              <a:buNone/>
            </a:pPr>
            <a:r>
              <a:t/>
            </a:r>
            <a:endParaRPr sz="3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14"/>
          <p:cNvSpPr/>
          <p:nvPr/>
        </p:nvSpPr>
        <p:spPr>
          <a:xfrm>
            <a:off x="104503" y="754749"/>
            <a:ext cx="12087497" cy="649408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3200">
                <a:solidFill>
                  <a:schemeClr val="dk2"/>
                </a:solidFill>
                <a:latin typeface="Georgia"/>
                <a:ea typeface="Georgia"/>
                <a:cs typeface="Georgia"/>
                <a:sym typeface="Georgia"/>
              </a:rPr>
              <a:t> </a:t>
            </a:r>
            <a:r>
              <a:rPr b="1" lang="fr-FR" sz="3200" u="sng">
                <a:solidFill>
                  <a:schemeClr val="dk2"/>
                </a:solidFill>
                <a:latin typeface="Georgia"/>
                <a:ea typeface="Georgia"/>
                <a:cs typeface="Georgia"/>
                <a:sym typeface="Georgia"/>
              </a:rPr>
              <a:t>A- Réplication et Transcription des virus à ADN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2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Noto Sans Symbols"/>
              <a:buChar char="▪"/>
            </a:pPr>
            <a:r>
              <a:rPr lang="fr-FR" sz="3200">
                <a:solidFill>
                  <a:schemeClr val="dk2"/>
                </a:solidFill>
                <a:latin typeface="Georgia"/>
                <a:ea typeface="Georgia"/>
                <a:cs typeface="Georgia"/>
                <a:sym typeface="Georgia"/>
              </a:rPr>
              <a:t>Localisation nucléaire, le génome viral doit être transporté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3200">
                <a:solidFill>
                  <a:schemeClr val="dk2"/>
                </a:solidFill>
                <a:latin typeface="Georgia"/>
                <a:ea typeface="Georgia"/>
                <a:cs typeface="Georgia"/>
                <a:sym typeface="Georgia"/>
              </a:rPr>
              <a:t>dans le noyau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3200">
                <a:solidFill>
                  <a:schemeClr val="dk2"/>
                </a:solidFill>
                <a:latin typeface="Georgia"/>
                <a:ea typeface="Georgia"/>
                <a:cs typeface="Georgia"/>
                <a:sym typeface="Georgia"/>
              </a:rPr>
              <a:t>• Transcription assurée par des enzymes cellulaires (ARN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3200">
                <a:solidFill>
                  <a:schemeClr val="dk2"/>
                </a:solidFill>
                <a:latin typeface="Georgia"/>
                <a:ea typeface="Georgia"/>
                <a:cs typeface="Georgia"/>
                <a:sym typeface="Georgia"/>
              </a:rPr>
              <a:t>polymérase)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3200">
                <a:solidFill>
                  <a:schemeClr val="dk2"/>
                </a:solidFill>
                <a:latin typeface="Georgia"/>
                <a:ea typeface="Georgia"/>
                <a:cs typeface="Georgia"/>
                <a:sym typeface="Georgia"/>
              </a:rPr>
              <a:t>• Expression séquentielle des gènes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3200">
                <a:solidFill>
                  <a:schemeClr val="dk2"/>
                </a:solidFill>
                <a:latin typeface="Georgia"/>
                <a:ea typeface="Georgia"/>
                <a:cs typeface="Georgia"/>
                <a:sym typeface="Georgia"/>
              </a:rPr>
              <a:t>– Très précoces           protéines de régulation (virales)</a:t>
            </a:r>
            <a:endParaRPr sz="3200">
              <a:solidFill>
                <a:schemeClr val="dk2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3200">
                <a:solidFill>
                  <a:schemeClr val="dk2"/>
                </a:solidFill>
                <a:latin typeface="Georgia"/>
                <a:ea typeface="Georgia"/>
                <a:cs typeface="Georgia"/>
                <a:sym typeface="Georgia"/>
              </a:rPr>
              <a:t>– Précoces           protéines de réplication (ADN et ARN polymérase virale)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3200">
                <a:solidFill>
                  <a:schemeClr val="dk2"/>
                </a:solidFill>
                <a:latin typeface="Georgia"/>
                <a:ea typeface="Georgia"/>
                <a:cs typeface="Georgia"/>
                <a:sym typeface="Georgia"/>
              </a:rPr>
              <a:t>– Tardifs                       protéines de structure (protéines de capside et les GP de l’enveloppe)</a:t>
            </a:r>
            <a:endParaRPr sz="3200">
              <a:solidFill>
                <a:schemeClr val="dk2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2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cxnSp>
        <p:nvCxnSpPr>
          <p:cNvPr id="285" name="Google Shape;285;p14"/>
          <p:cNvCxnSpPr/>
          <p:nvPr/>
        </p:nvCxnSpPr>
        <p:spPr>
          <a:xfrm flipH="1" rot="10800000">
            <a:off x="3069774" y="4467498"/>
            <a:ext cx="927462" cy="13063"/>
          </a:xfrm>
          <a:prstGeom prst="straightConnector1">
            <a:avLst/>
          </a:prstGeom>
          <a:solidFill>
            <a:schemeClr val="accent1"/>
          </a:solidFill>
          <a:ln cap="flat" cmpd="sng" w="571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86" name="Google Shape;286;p14"/>
          <p:cNvCxnSpPr/>
          <p:nvPr/>
        </p:nvCxnSpPr>
        <p:spPr>
          <a:xfrm>
            <a:off x="2168434" y="5055326"/>
            <a:ext cx="1058091" cy="0"/>
          </a:xfrm>
          <a:prstGeom prst="straightConnector1">
            <a:avLst/>
          </a:prstGeom>
          <a:solidFill>
            <a:schemeClr val="accent1"/>
          </a:solidFill>
          <a:ln cap="flat" cmpd="sng" w="571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87" name="Google Shape;287;p14"/>
          <p:cNvCxnSpPr/>
          <p:nvPr/>
        </p:nvCxnSpPr>
        <p:spPr>
          <a:xfrm>
            <a:off x="1933305" y="5969726"/>
            <a:ext cx="2063931" cy="0"/>
          </a:xfrm>
          <a:prstGeom prst="straightConnector1">
            <a:avLst/>
          </a:prstGeom>
          <a:solidFill>
            <a:schemeClr val="accent1"/>
          </a:solidFill>
          <a:ln cap="flat" cmpd="sng" w="571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2" name="Google Shape;292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5212" y="1071154"/>
            <a:ext cx="10175966" cy="5225143"/>
          </a:xfrm>
          <a:prstGeom prst="rect">
            <a:avLst/>
          </a:prstGeom>
          <a:noFill/>
          <a:ln>
            <a:noFill/>
          </a:ln>
        </p:spPr>
      </p:pic>
      <p:sp>
        <p:nvSpPr>
          <p:cNvPr id="293" name="Google Shape;293;p15"/>
          <p:cNvSpPr/>
          <p:nvPr/>
        </p:nvSpPr>
        <p:spPr>
          <a:xfrm>
            <a:off x="1141472" y="403163"/>
            <a:ext cx="8428911" cy="52322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2800" u="sng">
                <a:solidFill>
                  <a:schemeClr val="dk2"/>
                </a:solidFill>
                <a:latin typeface="Georgia"/>
                <a:ea typeface="Georgia"/>
                <a:cs typeface="Georgia"/>
                <a:sym typeface="Georgia"/>
              </a:rPr>
              <a:t>Réplication et Transcription des virus à ADN</a:t>
            </a:r>
            <a:endParaRPr sz="2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94" name="Google Shape;294;p15"/>
          <p:cNvSpPr/>
          <p:nvPr/>
        </p:nvSpPr>
        <p:spPr>
          <a:xfrm>
            <a:off x="9451813" y="2461545"/>
            <a:ext cx="1620799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400">
                <a:solidFill>
                  <a:schemeClr val="dk2"/>
                </a:solidFill>
                <a:latin typeface="Georgia"/>
                <a:ea typeface="Georgia"/>
                <a:cs typeface="Georgia"/>
                <a:sym typeface="Georgia"/>
              </a:rPr>
              <a:t>protéines de régulation </a:t>
            </a:r>
            <a:endParaRPr b="1" sz="1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95" name="Google Shape;295;p15"/>
          <p:cNvSpPr/>
          <p:nvPr/>
        </p:nvSpPr>
        <p:spPr>
          <a:xfrm>
            <a:off x="7810585" y="2353823"/>
            <a:ext cx="1641228" cy="7386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400">
                <a:solidFill>
                  <a:schemeClr val="dk2"/>
                </a:solidFill>
                <a:latin typeface="Georgia"/>
                <a:ea typeface="Georgia"/>
                <a:cs typeface="Georgia"/>
                <a:sym typeface="Georgia"/>
              </a:rPr>
              <a:t>ADN polymérase  virale</a:t>
            </a:r>
            <a:endParaRPr b="1" sz="1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96" name="Google Shape;296;p15"/>
          <p:cNvSpPr/>
          <p:nvPr/>
        </p:nvSpPr>
        <p:spPr>
          <a:xfrm>
            <a:off x="5682342" y="3357153"/>
            <a:ext cx="2468880" cy="6531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</a:pPr>
            <a:r>
              <a:rPr b="1" lang="fr-FR" sz="14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ARN polymérase virale</a:t>
            </a:r>
            <a:endParaRPr b="1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16"/>
          <p:cNvSpPr txBox="1"/>
          <p:nvPr>
            <p:ph idx="10" type="dt"/>
          </p:nvPr>
        </p:nvSpPr>
        <p:spPr>
          <a:xfrm>
            <a:off x="609600" y="6453189"/>
            <a:ext cx="2844800" cy="339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/>
              <a:t>1/28/2025</a:t>
            </a:r>
            <a:endParaRPr/>
          </a:p>
        </p:txBody>
      </p:sp>
      <p:sp>
        <p:nvSpPr>
          <p:cNvPr id="302" name="Google Shape;302;p16"/>
          <p:cNvSpPr txBox="1"/>
          <p:nvPr>
            <p:ph idx="11" type="ftr"/>
          </p:nvPr>
        </p:nvSpPr>
        <p:spPr>
          <a:xfrm>
            <a:off x="4165600" y="6453189"/>
            <a:ext cx="3860800" cy="339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-FR"/>
              <a:t>Designed by PoweredTemplate.com</a:t>
            </a:r>
            <a:endParaRPr/>
          </a:p>
        </p:txBody>
      </p:sp>
      <p:sp>
        <p:nvSpPr>
          <p:cNvPr id="303" name="Google Shape;303;p16"/>
          <p:cNvSpPr txBox="1"/>
          <p:nvPr>
            <p:ph idx="12" type="sldNum"/>
          </p:nvPr>
        </p:nvSpPr>
        <p:spPr>
          <a:xfrm>
            <a:off x="8737600" y="6453189"/>
            <a:ext cx="2844800" cy="339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  <p:sp>
        <p:nvSpPr>
          <p:cNvPr id="304" name="Google Shape;304;p16"/>
          <p:cNvSpPr/>
          <p:nvPr/>
        </p:nvSpPr>
        <p:spPr>
          <a:xfrm>
            <a:off x="156109" y="161500"/>
            <a:ext cx="10169772" cy="584775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3200">
                <a:solidFill>
                  <a:schemeClr val="dk2"/>
                </a:solidFill>
                <a:latin typeface="Georgia"/>
                <a:ea typeface="Georgia"/>
                <a:cs typeface="Georgia"/>
                <a:sym typeface="Georgia"/>
              </a:rPr>
              <a:t> B-Réplication et Transcription des virus à ARN</a:t>
            </a:r>
            <a:endParaRPr/>
          </a:p>
        </p:txBody>
      </p:sp>
      <p:sp>
        <p:nvSpPr>
          <p:cNvPr id="305" name="Google Shape;305;p16"/>
          <p:cNvSpPr/>
          <p:nvPr/>
        </p:nvSpPr>
        <p:spPr>
          <a:xfrm>
            <a:off x="406399" y="1143728"/>
            <a:ext cx="11176001" cy="452431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3600">
                <a:solidFill>
                  <a:schemeClr val="dk2"/>
                </a:solidFill>
                <a:latin typeface="Georgia"/>
                <a:ea typeface="Georgia"/>
                <a:cs typeface="Georgia"/>
                <a:sym typeface="Georgia"/>
              </a:rPr>
              <a:t>3 stratégies à distinguer selon le type d’ARN: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dk2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571500" lvl="0" marL="57150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Noto Sans Symbols"/>
              <a:buChar char="⮚"/>
            </a:pPr>
            <a:r>
              <a:rPr lang="fr-FR" sz="3600">
                <a:solidFill>
                  <a:schemeClr val="dk2"/>
                </a:solidFill>
                <a:latin typeface="Georgia"/>
                <a:ea typeface="Georgia"/>
                <a:cs typeface="Georgia"/>
                <a:sym typeface="Georgia"/>
              </a:rPr>
              <a:t>"Virus à ARN + (à polarité positive)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dk2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571500" lvl="0" marL="57150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Noto Sans Symbols"/>
              <a:buChar char="⮚"/>
            </a:pPr>
            <a:r>
              <a:rPr lang="fr-FR" sz="3600">
                <a:solidFill>
                  <a:schemeClr val="dk2"/>
                </a:solidFill>
                <a:latin typeface="Georgia"/>
                <a:ea typeface="Georgia"/>
                <a:cs typeface="Georgia"/>
                <a:sym typeface="Georgia"/>
              </a:rPr>
              <a:t>"Virus à ARN –  (à polarité négative)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3600">
                <a:solidFill>
                  <a:schemeClr val="dk2"/>
                </a:solidFill>
                <a:latin typeface="Georgia"/>
                <a:ea typeface="Georgia"/>
                <a:cs typeface="Georgia"/>
                <a:sym typeface="Georgia"/>
              </a:rPr>
              <a:t> </a:t>
            </a:r>
            <a:endParaRPr sz="3600">
              <a:solidFill>
                <a:schemeClr val="dk2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571500" lvl="0" marL="57150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Noto Sans Symbols"/>
              <a:buChar char="⮚"/>
            </a:pPr>
            <a:r>
              <a:rPr lang="fr-FR" sz="3600">
                <a:solidFill>
                  <a:schemeClr val="dk2"/>
                </a:solidFill>
                <a:latin typeface="Georgia"/>
                <a:ea typeface="Georgia"/>
                <a:cs typeface="Georgia"/>
                <a:sym typeface="Georgia"/>
              </a:rPr>
              <a:t>" Rétrovirus  (avec une transcriptase inverse) = ADN Polymérase ARN dépendante</a:t>
            </a:r>
            <a:endParaRPr sz="3600">
              <a:solidFill>
                <a:schemeClr val="dk2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17"/>
          <p:cNvSpPr txBox="1"/>
          <p:nvPr>
            <p:ph idx="10" type="dt"/>
          </p:nvPr>
        </p:nvSpPr>
        <p:spPr>
          <a:xfrm>
            <a:off x="609600" y="6453189"/>
            <a:ext cx="2844800" cy="339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/>
              <a:t>1/28/2025</a:t>
            </a:r>
            <a:endParaRPr/>
          </a:p>
        </p:txBody>
      </p:sp>
      <p:sp>
        <p:nvSpPr>
          <p:cNvPr id="311" name="Google Shape;311;p17"/>
          <p:cNvSpPr txBox="1"/>
          <p:nvPr>
            <p:ph idx="11" type="ftr"/>
          </p:nvPr>
        </p:nvSpPr>
        <p:spPr>
          <a:xfrm>
            <a:off x="4165600" y="6453189"/>
            <a:ext cx="3860800" cy="339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-FR"/>
              <a:t>Designed by PoweredTemplate.com</a:t>
            </a:r>
            <a:endParaRPr/>
          </a:p>
        </p:txBody>
      </p:sp>
      <p:sp>
        <p:nvSpPr>
          <p:cNvPr id="312" name="Google Shape;312;p17"/>
          <p:cNvSpPr txBox="1"/>
          <p:nvPr>
            <p:ph idx="12" type="sldNum"/>
          </p:nvPr>
        </p:nvSpPr>
        <p:spPr>
          <a:xfrm>
            <a:off x="8737600" y="6453189"/>
            <a:ext cx="2844800" cy="339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  <p:sp>
        <p:nvSpPr>
          <p:cNvPr id="313" name="Google Shape;313;p17"/>
          <p:cNvSpPr/>
          <p:nvPr/>
        </p:nvSpPr>
        <p:spPr>
          <a:xfrm>
            <a:off x="609600" y="1270027"/>
            <a:ext cx="11234371" cy="255454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3200">
                <a:solidFill>
                  <a:schemeClr val="dk2"/>
                </a:solidFill>
                <a:latin typeface="Georgia"/>
                <a:ea typeface="Georgia"/>
                <a:cs typeface="Georgia"/>
                <a:sym typeface="Georgia"/>
              </a:rPr>
              <a:t>– Directement messager (traduit directement dans la cellule)</a:t>
            </a:r>
            <a:endParaRPr sz="3200">
              <a:solidFill>
                <a:schemeClr val="dk2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3200">
                <a:solidFill>
                  <a:schemeClr val="dk2"/>
                </a:solidFill>
                <a:latin typeface="Georgia"/>
                <a:ea typeface="Georgia"/>
                <a:cs typeface="Georgia"/>
                <a:sym typeface="Georgia"/>
              </a:rPr>
              <a:t>– Génome infectieux par lui même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3200">
                <a:solidFill>
                  <a:schemeClr val="dk2"/>
                </a:solidFill>
                <a:latin typeface="Georgia"/>
                <a:ea typeface="Georgia"/>
                <a:cs typeface="Georgia"/>
                <a:sym typeface="Georgia"/>
              </a:rPr>
              <a:t>– Le gène de l’ARN pol. ARN dép. est traduit sur les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3200">
                <a:solidFill>
                  <a:schemeClr val="dk2"/>
                </a:solidFill>
                <a:latin typeface="Georgia"/>
                <a:ea typeface="Georgia"/>
                <a:cs typeface="Georgia"/>
                <a:sym typeface="Georgia"/>
              </a:rPr>
              <a:t>ribosomes cellulaires dés l’entrée du virus (pour réaliser la réplication du génome viral)</a:t>
            </a:r>
            <a:endParaRPr/>
          </a:p>
        </p:txBody>
      </p:sp>
      <p:sp>
        <p:nvSpPr>
          <p:cNvPr id="314" name="Google Shape;314;p17"/>
          <p:cNvSpPr/>
          <p:nvPr/>
        </p:nvSpPr>
        <p:spPr>
          <a:xfrm>
            <a:off x="809584" y="488071"/>
            <a:ext cx="5625258" cy="707886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4000">
                <a:solidFill>
                  <a:schemeClr val="dk2"/>
                </a:solidFill>
                <a:latin typeface="Georgia"/>
                <a:ea typeface="Georgia"/>
                <a:cs typeface="Georgia"/>
                <a:sym typeface="Georgia"/>
              </a:rPr>
              <a:t>-1- Les virus à ARN +</a:t>
            </a:r>
            <a:endParaRPr/>
          </a:p>
        </p:txBody>
      </p:sp>
      <p:pic>
        <p:nvPicPr>
          <p:cNvPr id="315" name="Google Shape;315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9599" y="3882693"/>
            <a:ext cx="11234371" cy="2698101"/>
          </a:xfrm>
          <a:prstGeom prst="rect">
            <a:avLst/>
          </a:prstGeom>
          <a:noFill/>
          <a:ln>
            <a:noFill/>
          </a:ln>
        </p:spPr>
      </p:pic>
      <p:sp>
        <p:nvSpPr>
          <p:cNvPr id="316" name="Google Shape;316;p17"/>
          <p:cNvSpPr/>
          <p:nvPr/>
        </p:nvSpPr>
        <p:spPr>
          <a:xfrm>
            <a:off x="10811378" y="3882693"/>
            <a:ext cx="1380622" cy="1747397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</a:pPr>
            <a:r>
              <a:rPr b="1" i="0" lang="fr-FR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Enzymes virales et protéine de structure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</a:pPr>
            <a:r>
              <a:rPr b="1" lang="fr-FR" sz="18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virale</a:t>
            </a:r>
            <a:endParaRPr b="1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18"/>
          <p:cNvSpPr txBox="1"/>
          <p:nvPr>
            <p:ph idx="10" type="dt"/>
          </p:nvPr>
        </p:nvSpPr>
        <p:spPr>
          <a:xfrm>
            <a:off x="609600" y="6453189"/>
            <a:ext cx="2844800" cy="339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/>
              <a:t>1/28/2025</a:t>
            </a:r>
            <a:endParaRPr/>
          </a:p>
        </p:txBody>
      </p:sp>
      <p:sp>
        <p:nvSpPr>
          <p:cNvPr id="322" name="Google Shape;322;p18"/>
          <p:cNvSpPr txBox="1"/>
          <p:nvPr>
            <p:ph idx="11" type="ftr"/>
          </p:nvPr>
        </p:nvSpPr>
        <p:spPr>
          <a:xfrm>
            <a:off x="4165600" y="6453189"/>
            <a:ext cx="3860800" cy="339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-FR"/>
              <a:t>Designed by PoweredTemplate.com</a:t>
            </a:r>
            <a:endParaRPr/>
          </a:p>
        </p:txBody>
      </p:sp>
      <p:sp>
        <p:nvSpPr>
          <p:cNvPr id="323" name="Google Shape;323;p18"/>
          <p:cNvSpPr txBox="1"/>
          <p:nvPr>
            <p:ph idx="12" type="sldNum"/>
          </p:nvPr>
        </p:nvSpPr>
        <p:spPr>
          <a:xfrm>
            <a:off x="8737600" y="6453189"/>
            <a:ext cx="2844800" cy="339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  <p:sp>
        <p:nvSpPr>
          <p:cNvPr id="324" name="Google Shape;324;p18"/>
          <p:cNvSpPr/>
          <p:nvPr/>
        </p:nvSpPr>
        <p:spPr>
          <a:xfrm>
            <a:off x="143010" y="141788"/>
            <a:ext cx="4280339" cy="646331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3600">
                <a:solidFill>
                  <a:schemeClr val="dk2"/>
                </a:solidFill>
                <a:latin typeface="Georgia"/>
                <a:ea typeface="Georgia"/>
                <a:cs typeface="Georgia"/>
                <a:sym typeface="Georgia"/>
              </a:rPr>
              <a:t> 2-Les virus à ARN -</a:t>
            </a:r>
            <a:endParaRPr/>
          </a:p>
        </p:txBody>
      </p:sp>
      <p:sp>
        <p:nvSpPr>
          <p:cNvPr id="325" name="Google Shape;325;p18"/>
          <p:cNvSpPr/>
          <p:nvPr/>
        </p:nvSpPr>
        <p:spPr>
          <a:xfrm>
            <a:off x="143010" y="1003773"/>
            <a:ext cx="11682569" cy="1754326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Noto Sans Symbols"/>
              <a:buChar char="⮚"/>
            </a:pPr>
            <a:r>
              <a:rPr lang="fr-FR" sz="3600">
                <a:solidFill>
                  <a:schemeClr val="dk2"/>
                </a:solidFill>
                <a:latin typeface="Georgia"/>
                <a:ea typeface="Georgia"/>
                <a:cs typeface="Georgia"/>
                <a:sym typeface="Georgia"/>
              </a:rPr>
              <a:t>Génome non infectieux par lui même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Noto Sans Symbols"/>
              <a:buChar char="⮚"/>
            </a:pPr>
            <a:r>
              <a:rPr lang="fr-FR" sz="3600">
                <a:solidFill>
                  <a:schemeClr val="dk2"/>
                </a:solidFill>
                <a:latin typeface="Georgia"/>
                <a:ea typeface="Georgia"/>
                <a:cs typeface="Georgia"/>
                <a:sym typeface="Georgia"/>
              </a:rPr>
              <a:t>Le virus doit apporter les enzymes nécessaires à sa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3600">
                <a:solidFill>
                  <a:schemeClr val="dk2"/>
                </a:solidFill>
                <a:latin typeface="Georgia"/>
                <a:ea typeface="Georgia"/>
                <a:cs typeface="Georgia"/>
                <a:sym typeface="Georgia"/>
              </a:rPr>
              <a:t>Réplication  (une ARN polymérase ARN dépendante)</a:t>
            </a:r>
            <a:endParaRPr sz="3600">
              <a:solidFill>
                <a:schemeClr val="dk2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pic>
        <p:nvPicPr>
          <p:cNvPr id="326" name="Google Shape;326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3010" y="2758099"/>
            <a:ext cx="12048990" cy="4022232"/>
          </a:xfrm>
          <a:prstGeom prst="rect">
            <a:avLst/>
          </a:prstGeom>
          <a:noFill/>
          <a:ln>
            <a:noFill/>
          </a:ln>
        </p:spPr>
      </p:pic>
      <p:sp>
        <p:nvSpPr>
          <p:cNvPr id="327" name="Google Shape;327;p18"/>
          <p:cNvSpPr/>
          <p:nvPr/>
        </p:nvSpPr>
        <p:spPr>
          <a:xfrm>
            <a:off x="10763794" y="3519647"/>
            <a:ext cx="1428206" cy="992778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</a:pPr>
            <a:r>
              <a:rPr b="1" lang="fr-FR" sz="14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Protéines de structure et enzymes virales</a:t>
            </a:r>
            <a:endParaRPr b="1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19"/>
          <p:cNvSpPr txBox="1"/>
          <p:nvPr>
            <p:ph idx="10" type="dt"/>
          </p:nvPr>
        </p:nvSpPr>
        <p:spPr>
          <a:xfrm>
            <a:off x="609600" y="6453189"/>
            <a:ext cx="2844800" cy="339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/>
              <a:t>1/28/2025</a:t>
            </a:r>
            <a:endParaRPr/>
          </a:p>
        </p:txBody>
      </p:sp>
      <p:sp>
        <p:nvSpPr>
          <p:cNvPr id="333" name="Google Shape;333;p19"/>
          <p:cNvSpPr txBox="1"/>
          <p:nvPr>
            <p:ph idx="11" type="ftr"/>
          </p:nvPr>
        </p:nvSpPr>
        <p:spPr>
          <a:xfrm>
            <a:off x="4165600" y="6453189"/>
            <a:ext cx="3860800" cy="339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-FR"/>
              <a:t>Designed by PoweredTemplate.com</a:t>
            </a:r>
            <a:endParaRPr/>
          </a:p>
        </p:txBody>
      </p:sp>
      <p:sp>
        <p:nvSpPr>
          <p:cNvPr id="334" name="Google Shape;334;p19"/>
          <p:cNvSpPr txBox="1"/>
          <p:nvPr>
            <p:ph idx="12" type="sldNum"/>
          </p:nvPr>
        </p:nvSpPr>
        <p:spPr>
          <a:xfrm>
            <a:off x="8737600" y="6453189"/>
            <a:ext cx="2844800" cy="339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  <p:sp>
        <p:nvSpPr>
          <p:cNvPr id="335" name="Google Shape;335;p19"/>
          <p:cNvSpPr/>
          <p:nvPr/>
        </p:nvSpPr>
        <p:spPr>
          <a:xfrm>
            <a:off x="114510" y="96185"/>
            <a:ext cx="7494359" cy="58477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3200">
                <a:solidFill>
                  <a:schemeClr val="dk2"/>
                </a:solidFill>
                <a:latin typeface="Georgia"/>
                <a:ea typeface="Georgia"/>
                <a:cs typeface="Georgia"/>
                <a:sym typeface="Georgia"/>
              </a:rPr>
              <a:t> 3- Les rétrovirus (exemple le VIH)</a:t>
            </a:r>
            <a:endParaRPr/>
          </a:p>
        </p:txBody>
      </p:sp>
      <p:sp>
        <p:nvSpPr>
          <p:cNvPr id="336" name="Google Shape;336;p19"/>
          <p:cNvSpPr/>
          <p:nvPr/>
        </p:nvSpPr>
        <p:spPr>
          <a:xfrm>
            <a:off x="21770" y="887662"/>
            <a:ext cx="12170229" cy="5509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Noto Sans Symbols"/>
              <a:buChar char="⮚"/>
            </a:pPr>
            <a:r>
              <a:rPr lang="fr-FR" sz="3200">
                <a:solidFill>
                  <a:schemeClr val="dk2"/>
                </a:solidFill>
                <a:latin typeface="Georgia"/>
                <a:ea typeface="Georgia"/>
                <a:cs typeface="Georgia"/>
                <a:sym typeface="Georgia"/>
              </a:rPr>
              <a:t>Les rétrovirus sont caractérisés par une activité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3200">
                <a:solidFill>
                  <a:schemeClr val="dk2"/>
                </a:solidFill>
                <a:latin typeface="Georgia"/>
                <a:ea typeface="Georgia"/>
                <a:cs typeface="Georgia"/>
                <a:sym typeface="Georgia"/>
              </a:rPr>
              <a:t>enzymatique particulière et unique dans le monde vivant: </a:t>
            </a:r>
            <a:r>
              <a:rPr b="1" lang="fr-FR" sz="3200">
                <a:solidFill>
                  <a:schemeClr val="dk2"/>
                </a:solidFill>
                <a:latin typeface="Georgia"/>
                <a:ea typeface="Georgia"/>
                <a:cs typeface="Georgia"/>
                <a:sym typeface="Georgia"/>
              </a:rPr>
              <a:t>La transcriptase inverse </a:t>
            </a:r>
            <a:r>
              <a:rPr lang="fr-FR" sz="3200">
                <a:solidFill>
                  <a:schemeClr val="dk2"/>
                </a:solidFill>
                <a:latin typeface="Georgia"/>
                <a:ea typeface="Georgia"/>
                <a:cs typeface="Georgia"/>
                <a:sym typeface="Georgia"/>
              </a:rPr>
              <a:t>(ou rétro-transcriptase) ou encore reverse transcriptase = RT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2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Noto Sans Symbols"/>
              <a:buChar char="⮚"/>
            </a:pPr>
            <a:r>
              <a:rPr lang="fr-FR" sz="3200">
                <a:solidFill>
                  <a:schemeClr val="dk2"/>
                </a:solidFill>
                <a:latin typeface="Georgia"/>
                <a:ea typeface="Georgia"/>
                <a:cs typeface="Georgia"/>
                <a:sym typeface="Georgia"/>
              </a:rPr>
              <a:t>Transcriptase inverse = </a:t>
            </a:r>
            <a:r>
              <a:rPr b="1" lang="fr-FR" sz="3200">
                <a:solidFill>
                  <a:schemeClr val="dk2"/>
                </a:solidFill>
                <a:latin typeface="Georgia"/>
                <a:ea typeface="Georgia"/>
                <a:cs typeface="Georgia"/>
                <a:sym typeface="Georgia"/>
              </a:rPr>
              <a:t>ADN polymérase ARN dépendante</a:t>
            </a:r>
            <a:endParaRPr/>
          </a:p>
          <a:p>
            <a:pPr indent="-2540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None/>
            </a:pPr>
            <a:r>
              <a:t/>
            </a:r>
            <a:endParaRPr b="1" sz="3200">
              <a:solidFill>
                <a:schemeClr val="dk2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Noto Sans Symbols"/>
              <a:buChar char="⮚"/>
            </a:pPr>
            <a:r>
              <a:rPr lang="fr-FR" sz="3200">
                <a:solidFill>
                  <a:schemeClr val="dk2"/>
                </a:solidFill>
                <a:latin typeface="Georgia"/>
                <a:ea typeface="Georgia"/>
                <a:cs typeface="Georgia"/>
                <a:sym typeface="Georgia"/>
              </a:rPr>
              <a:t>L’enzyme transforme l’ARN génomique viral en ADN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3200">
                <a:solidFill>
                  <a:schemeClr val="dk2"/>
                </a:solidFill>
                <a:latin typeface="Georgia"/>
                <a:ea typeface="Georgia"/>
                <a:cs typeface="Georgia"/>
                <a:sym typeface="Georgia"/>
              </a:rPr>
              <a:t>complémentaire (ADNc) puis en ADN double brin qui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3200">
                <a:solidFill>
                  <a:schemeClr val="dk2"/>
                </a:solidFill>
                <a:latin typeface="Georgia"/>
                <a:ea typeface="Georgia"/>
                <a:cs typeface="Georgia"/>
                <a:sym typeface="Georgia"/>
              </a:rPr>
              <a:t>forme l’ADN proviral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2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20"/>
          <p:cNvSpPr txBox="1"/>
          <p:nvPr>
            <p:ph idx="10" type="dt"/>
          </p:nvPr>
        </p:nvSpPr>
        <p:spPr>
          <a:xfrm>
            <a:off x="609600" y="6453189"/>
            <a:ext cx="2844800" cy="339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/>
              <a:t>1/28/2025</a:t>
            </a:r>
            <a:endParaRPr/>
          </a:p>
        </p:txBody>
      </p:sp>
      <p:sp>
        <p:nvSpPr>
          <p:cNvPr id="342" name="Google Shape;342;p20"/>
          <p:cNvSpPr txBox="1"/>
          <p:nvPr>
            <p:ph idx="11" type="ftr"/>
          </p:nvPr>
        </p:nvSpPr>
        <p:spPr>
          <a:xfrm>
            <a:off x="4165600" y="6453189"/>
            <a:ext cx="3860800" cy="339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-FR"/>
              <a:t>Designed by PoweredTemplate.com</a:t>
            </a:r>
            <a:endParaRPr/>
          </a:p>
        </p:txBody>
      </p:sp>
      <p:sp>
        <p:nvSpPr>
          <p:cNvPr id="343" name="Google Shape;343;p20"/>
          <p:cNvSpPr txBox="1"/>
          <p:nvPr>
            <p:ph idx="12" type="sldNum"/>
          </p:nvPr>
        </p:nvSpPr>
        <p:spPr>
          <a:xfrm>
            <a:off x="8737600" y="6453189"/>
            <a:ext cx="2844800" cy="339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  <p:sp>
        <p:nvSpPr>
          <p:cNvPr id="344" name="Google Shape;344;p20"/>
          <p:cNvSpPr/>
          <p:nvPr/>
        </p:nvSpPr>
        <p:spPr>
          <a:xfrm>
            <a:off x="0" y="798901"/>
            <a:ext cx="12192000" cy="5016758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57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Noto Sans Symbols"/>
              <a:buChar char="⮚"/>
            </a:pPr>
            <a:r>
              <a:rPr lang="fr-FR" sz="3200">
                <a:solidFill>
                  <a:schemeClr val="dk2"/>
                </a:solidFill>
                <a:latin typeface="Georgia"/>
                <a:ea typeface="Georgia"/>
                <a:cs typeface="Georgia"/>
                <a:sym typeface="Georgia"/>
              </a:rPr>
              <a:t>L’ADN proviral double brin obtenu après rétrot-ranscription est alors intégré dans le génome de la  cellule par une enzyme virale appelée ‘ Intégrase’</a:t>
            </a:r>
            <a:endParaRPr/>
          </a:p>
          <a:p>
            <a:pPr indent="-2540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None/>
            </a:pPr>
            <a:r>
              <a:t/>
            </a:r>
            <a:endParaRPr sz="3200">
              <a:solidFill>
                <a:schemeClr val="dk2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457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Noto Sans Symbols"/>
              <a:buChar char="⮚"/>
            </a:pPr>
            <a:r>
              <a:rPr lang="fr-FR" sz="3200">
                <a:solidFill>
                  <a:schemeClr val="dk2"/>
                </a:solidFill>
                <a:latin typeface="Georgia"/>
                <a:ea typeface="Georgia"/>
                <a:cs typeface="Georgia"/>
                <a:sym typeface="Georgia"/>
              </a:rPr>
              <a:t>Le génome proviral sert ensuite de matrice pour la transcription et la réplication de nouveaux virus à partir d’enzymes cellulaires (ARN pol. ADN dép.)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21"/>
          <p:cNvSpPr txBox="1"/>
          <p:nvPr>
            <p:ph idx="10" type="dt"/>
          </p:nvPr>
        </p:nvSpPr>
        <p:spPr>
          <a:xfrm>
            <a:off x="609600" y="6453189"/>
            <a:ext cx="2844800" cy="339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/>
              <a:t>1/28/2025</a:t>
            </a:r>
            <a:endParaRPr/>
          </a:p>
        </p:txBody>
      </p:sp>
      <p:sp>
        <p:nvSpPr>
          <p:cNvPr id="350" name="Google Shape;350;p21"/>
          <p:cNvSpPr txBox="1"/>
          <p:nvPr>
            <p:ph idx="11" type="ftr"/>
          </p:nvPr>
        </p:nvSpPr>
        <p:spPr>
          <a:xfrm>
            <a:off x="4165600" y="6453189"/>
            <a:ext cx="3860800" cy="339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-FR"/>
              <a:t>Designed by PoweredTemplate.com</a:t>
            </a:r>
            <a:endParaRPr/>
          </a:p>
        </p:txBody>
      </p:sp>
      <p:sp>
        <p:nvSpPr>
          <p:cNvPr id="351" name="Google Shape;351;p21"/>
          <p:cNvSpPr txBox="1"/>
          <p:nvPr>
            <p:ph idx="12" type="sldNum"/>
          </p:nvPr>
        </p:nvSpPr>
        <p:spPr>
          <a:xfrm>
            <a:off x="8737600" y="6453189"/>
            <a:ext cx="2844800" cy="339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  <p:pic>
        <p:nvPicPr>
          <p:cNvPr id="352" name="Google Shape;352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80264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22"/>
          <p:cNvSpPr txBox="1"/>
          <p:nvPr>
            <p:ph idx="10" type="dt"/>
          </p:nvPr>
        </p:nvSpPr>
        <p:spPr>
          <a:xfrm>
            <a:off x="609600" y="6453189"/>
            <a:ext cx="2844800" cy="339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/>
              <a:t>1/28/2025</a:t>
            </a:r>
            <a:endParaRPr/>
          </a:p>
        </p:txBody>
      </p:sp>
      <p:sp>
        <p:nvSpPr>
          <p:cNvPr id="358" name="Google Shape;358;p22"/>
          <p:cNvSpPr txBox="1"/>
          <p:nvPr>
            <p:ph idx="11" type="ftr"/>
          </p:nvPr>
        </p:nvSpPr>
        <p:spPr>
          <a:xfrm>
            <a:off x="4165600" y="6453189"/>
            <a:ext cx="3860800" cy="339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-FR"/>
              <a:t>Designed by PoweredTemplate.com</a:t>
            </a:r>
            <a:endParaRPr/>
          </a:p>
        </p:txBody>
      </p:sp>
      <p:sp>
        <p:nvSpPr>
          <p:cNvPr id="359" name="Google Shape;359;p22"/>
          <p:cNvSpPr txBox="1"/>
          <p:nvPr>
            <p:ph idx="12" type="sldNum"/>
          </p:nvPr>
        </p:nvSpPr>
        <p:spPr>
          <a:xfrm>
            <a:off x="8737600" y="6453189"/>
            <a:ext cx="2844800" cy="339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  <p:sp>
        <p:nvSpPr>
          <p:cNvPr id="360" name="Google Shape;360;p22"/>
          <p:cNvSpPr/>
          <p:nvPr/>
        </p:nvSpPr>
        <p:spPr>
          <a:xfrm>
            <a:off x="156753" y="117566"/>
            <a:ext cx="6570618" cy="836023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Arial"/>
              <a:buNone/>
            </a:pPr>
            <a:r>
              <a:rPr b="1" i="0" lang="fr-FR" sz="3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5- Assemblage (Encapsidation )</a:t>
            </a:r>
            <a:endParaRPr/>
          </a:p>
        </p:txBody>
      </p:sp>
      <p:sp>
        <p:nvSpPr>
          <p:cNvPr id="361" name="Google Shape;361;p22"/>
          <p:cNvSpPr/>
          <p:nvPr/>
        </p:nvSpPr>
        <p:spPr>
          <a:xfrm>
            <a:off x="203200" y="1216747"/>
            <a:ext cx="11501120" cy="5078313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Noto Sans Symbols"/>
              <a:buChar char="▪"/>
            </a:pPr>
            <a:r>
              <a:rPr lang="fr-FR" sz="3600">
                <a:solidFill>
                  <a:schemeClr val="dk2"/>
                </a:solidFill>
                <a:latin typeface="Georgia"/>
                <a:ea typeface="Georgia"/>
                <a:cs typeface="Georgia"/>
                <a:sym typeface="Georgia"/>
              </a:rPr>
              <a:t>L’autoformation de la capside est guidée par des protéines chaperonnes cellulaires</a:t>
            </a:r>
            <a:endParaRPr/>
          </a:p>
          <a:p>
            <a:pPr indent="-2286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Noto Sans Symbols"/>
              <a:buNone/>
            </a:pPr>
            <a:r>
              <a:t/>
            </a:r>
            <a:endParaRPr sz="3600">
              <a:solidFill>
                <a:schemeClr val="dk2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Noto Sans Symbols"/>
              <a:buChar char="▪"/>
            </a:pPr>
            <a:r>
              <a:rPr lang="fr-FR" sz="3600">
                <a:solidFill>
                  <a:schemeClr val="dk2"/>
                </a:solidFill>
                <a:latin typeface="Georgia"/>
                <a:ea typeface="Georgia"/>
                <a:cs typeface="Georgia"/>
                <a:sym typeface="Georgia"/>
              </a:rPr>
              <a:t>Accumulation de particules virales et lyse cellulaire pour les virus nus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dk2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Noto Sans Symbols"/>
              <a:buChar char="▪"/>
            </a:pPr>
            <a:r>
              <a:rPr lang="fr-FR" sz="3600">
                <a:solidFill>
                  <a:schemeClr val="dk2"/>
                </a:solidFill>
                <a:latin typeface="Georgia"/>
                <a:ea typeface="Georgia"/>
                <a:cs typeface="Georgia"/>
                <a:sym typeface="Georgia"/>
              </a:rPr>
              <a:t>Intégration des GP d’enveloppe dans la membrane cytoplasmique et bourgeonnement pour les virus enveloppés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6" name="Google Shape;366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6720" y="660662"/>
            <a:ext cx="10162902" cy="5113122"/>
          </a:xfrm>
          <a:prstGeom prst="rect">
            <a:avLst/>
          </a:prstGeom>
          <a:noFill/>
          <a:ln>
            <a:noFill/>
          </a:ln>
        </p:spPr>
      </p:pic>
      <p:sp>
        <p:nvSpPr>
          <p:cNvPr id="367" name="Google Shape;367;p23"/>
          <p:cNvSpPr/>
          <p:nvPr/>
        </p:nvSpPr>
        <p:spPr>
          <a:xfrm>
            <a:off x="231111" y="80350"/>
            <a:ext cx="3914854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6. Libération des virus</a:t>
            </a:r>
            <a:endParaRPr b="1"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23"/>
          <p:cNvSpPr/>
          <p:nvPr/>
        </p:nvSpPr>
        <p:spPr>
          <a:xfrm>
            <a:off x="618307" y="5877042"/>
            <a:ext cx="9427029" cy="9541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 libération des virion se fait par bourgeonnement ou exocytose à partir de la m. plasmique. Exemple : virus du sida.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3" name="Google Shape;373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65178" y="457200"/>
            <a:ext cx="10461643" cy="51543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8" name="Google Shape;378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7646" y="836023"/>
            <a:ext cx="9858930" cy="453472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3" name="Google Shape;383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9387" y="554487"/>
            <a:ext cx="11193226" cy="57490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ésultat de recherche d'images pour &quot;cell lysis by virus&quot;" id="388" name="Google Shape;388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4950" y="627018"/>
            <a:ext cx="10515600" cy="5394959"/>
          </a:xfrm>
          <a:prstGeom prst="rect">
            <a:avLst/>
          </a:prstGeom>
          <a:noFill/>
          <a:ln>
            <a:noFill/>
          </a:ln>
        </p:spPr>
      </p:pic>
      <p:sp>
        <p:nvSpPr>
          <p:cNvPr id="389" name="Google Shape;389;p27"/>
          <p:cNvSpPr/>
          <p:nvPr/>
        </p:nvSpPr>
        <p:spPr>
          <a:xfrm>
            <a:off x="1750423" y="6230982"/>
            <a:ext cx="9286196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Lyse cellulaire et libération des virus nus. Exemple : Rotavirus</a:t>
            </a:r>
            <a:endParaRPr b="1"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27"/>
          <p:cNvSpPr/>
          <p:nvPr/>
        </p:nvSpPr>
        <p:spPr>
          <a:xfrm>
            <a:off x="404950" y="587829"/>
            <a:ext cx="10631669" cy="509451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27"/>
          <p:cNvSpPr/>
          <p:nvPr/>
        </p:nvSpPr>
        <p:spPr>
          <a:xfrm>
            <a:off x="809897" y="1567543"/>
            <a:ext cx="1463040" cy="627017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27"/>
          <p:cNvSpPr/>
          <p:nvPr/>
        </p:nvSpPr>
        <p:spPr>
          <a:xfrm>
            <a:off x="8373291" y="1567543"/>
            <a:ext cx="1371600" cy="73152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Libération des virus</a:t>
            </a:r>
            <a:endParaRPr b="1"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27"/>
          <p:cNvSpPr/>
          <p:nvPr/>
        </p:nvSpPr>
        <p:spPr>
          <a:xfrm>
            <a:off x="7276012" y="4075611"/>
            <a:ext cx="1685109" cy="692332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Lyse cellulaire</a:t>
            </a:r>
            <a:endParaRPr b="1"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template">
  <a:themeElements>
    <a:clrScheme name="template 4">
      <a:dk1>
        <a:srgbClr val="4D4D4D"/>
      </a:dk1>
      <a:lt1>
        <a:srgbClr val="FFFFFF"/>
      </a:lt1>
      <a:dk2>
        <a:srgbClr val="000000"/>
      </a:dk2>
      <a:lt2>
        <a:srgbClr val="9B6902"/>
      </a:lt2>
      <a:accent1>
        <a:srgbClr val="C75E00"/>
      </a:accent1>
      <a:accent2>
        <a:srgbClr val="FED416"/>
      </a:accent2>
      <a:accent3>
        <a:srgbClr val="FFFFFF"/>
      </a:accent3>
      <a:accent4>
        <a:srgbClr val="404040"/>
      </a:accent4>
      <a:accent5>
        <a:srgbClr val="E0B6AA"/>
      </a:accent5>
      <a:accent6>
        <a:srgbClr val="E6C013"/>
      </a:accent6>
      <a:hlink>
        <a:srgbClr val="EE6600"/>
      </a:hlink>
      <a:folHlink>
        <a:srgbClr val="EAEAE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2024-10-23T09:46:46Z</dcterms:created>
  <dc:creator>pc</dc:creator>
</cp:coreProperties>
</file>